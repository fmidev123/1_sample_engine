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notesSlides/notesSlide25.xml" ContentType="application/vnd.openxmlformats-officedocument.presentationml.notesSlide+xml"/>
  <Override PartName="/ppt/charts/chart5.xml" ContentType="application/vnd.openxmlformats-officedocument.drawingml.chart+xml"/>
  <Override PartName="/ppt/charts/chart6.xml" ContentType="application/vnd.openxmlformats-officedocument.drawingml.chart+xml"/>
  <Override PartName="/ppt/notesSlides/notesSlide26.xml" ContentType="application/vnd.openxmlformats-officedocument.presentationml.notesSlide+xml"/>
  <Override PartName="/ppt/charts/chart7.xml" ContentType="application/vnd.openxmlformats-officedocument.drawingml.chart+xml"/>
  <Override PartName="/ppt/charts/chart8.xml" ContentType="application/vnd.openxmlformats-officedocument.drawingml.chart+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charts/chart9.xml" ContentType="application/vnd.openxmlformats-officedocument.drawingml.chart+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charts/chart10.xml" ContentType="application/vnd.openxmlformats-officedocument.drawingml.chart+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charts/chart11.xml" ContentType="application/vnd.openxmlformats-officedocument.drawingml.chart+xml"/>
  <Override PartName="/ppt/notesSlides/notesSlide34.xml" ContentType="application/vnd.openxmlformats-officedocument.presentationml.notesSlide+xml"/>
  <Override PartName="/ppt/charts/chart12.xml" ContentType="application/vnd.openxmlformats-officedocument.drawingml.chart+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rts/chart13.xml" ContentType="application/vnd.openxmlformats-officedocument.drawingml.chart+xml"/>
  <Override PartName="/ppt/charts/chart14.xml" ContentType="application/vnd.openxmlformats-officedocument.drawingml.chart+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charts/chart15.xml" ContentType="application/vnd.openxmlformats-officedocument.drawingml.chart+xml"/>
  <Override PartName="/ppt/charts/chart16.xml" ContentType="application/vnd.openxmlformats-officedocument.drawingml.chart+xml"/>
  <Override PartName="/ppt/notesSlides/notesSlide41.xml" ContentType="application/vnd.openxmlformats-officedocument.presentationml.notesSlide+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charts/chart20.xml" ContentType="application/vnd.openxmlformats-officedocument.drawingml.chart+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charts/chart21.xml" ContentType="application/vnd.openxmlformats-officedocument.drawingml.chart+xml"/>
  <Override PartName="/ppt/charts/chart22.xml" ContentType="application/vnd.openxmlformats-officedocument.drawingml.chart+xml"/>
  <Override PartName="/ppt/notesSlides/notesSlide49.xml" ContentType="application/vnd.openxmlformats-officedocument.presentationml.notesSlide+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charts/chart26.xml" ContentType="application/vnd.openxmlformats-officedocument.drawingml.chart+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charts/chart27.xml" ContentType="application/vnd.openxmlformats-officedocument.drawingml.chart+xml"/>
  <Override PartName="/ppt/charts/chart28.xml" ContentType="application/vnd.openxmlformats-officedocument.drawingml.chart+xml"/>
  <Override PartName="/ppt/notesSlides/notesSlide57.xml" ContentType="application/vnd.openxmlformats-officedocument.presentationml.notesSlide+xml"/>
  <Override PartName="/ppt/charts/chart29.xml" ContentType="application/vnd.openxmlformats-officedocument.drawingml.chart+xml"/>
  <Override PartName="/ppt/charts/chart30.xml" ContentType="application/vnd.openxmlformats-officedocument.drawingml.chart+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charts/chart31.xml" ContentType="application/vnd.openxmlformats-officedocument.drawingml.chart+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charts/chart32.xml" ContentType="application/vnd.openxmlformats-officedocument.drawingml.chart+xml"/>
  <Override PartName="/ppt/charts/chart33.xml" ContentType="application/vnd.openxmlformats-officedocument.drawingml.chart+xml"/>
  <Override PartName="/ppt/notesSlides/notesSlide65.xml" ContentType="application/vnd.openxmlformats-officedocument.presentationml.notesSlide+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charts/chart38.xml" ContentType="application/vnd.openxmlformats-officedocument.drawingml.chart+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rts/chart39.xml" ContentType="application/vnd.openxmlformats-officedocument.drawingml.chart+xml"/>
  <Override PartName="/ppt/charts/chart40.xml" ContentType="application/vnd.openxmlformats-officedocument.drawingml.chart+xml"/>
  <Override PartName="/ppt/notesSlides/notesSlide73.xml" ContentType="application/vnd.openxmlformats-officedocument.presentationml.notesSlide+xml"/>
  <Override PartName="/ppt/charts/chart41.xml" ContentType="application/vnd.openxmlformats-officedocument.drawingml.chart+xml"/>
  <Override PartName="/ppt/charts/chart42.xml" ContentType="application/vnd.openxmlformats-officedocument.drawingml.chart+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charts/chart43.xml" ContentType="application/vnd.openxmlformats-officedocument.drawingml.chart+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charts/chart44.xml" ContentType="application/vnd.openxmlformats-officedocument.drawingml.chart+xml"/>
  <Override PartName="/ppt/charts/chart45.xml" ContentType="application/vnd.openxmlformats-officedocument.drawingml.chart+xml"/>
  <Override PartName="/ppt/notesSlides/notesSlide82.xml" ContentType="application/vnd.openxmlformats-officedocument.presentationml.notesSlide+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notesSlides/notesSlide83.xml" ContentType="application/vnd.openxmlformats-officedocument.presentationml.notesSlide+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charts/chart53.xml" ContentType="application/vnd.openxmlformats-officedocument.drawingml.chart+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charts/chart54.xml" ContentType="application/vnd.openxmlformats-officedocument.drawingml.chart+xml"/>
  <Override PartName="/ppt/charts/chart55.xml" ContentType="application/vnd.openxmlformats-officedocument.drawingml.chart+xml"/>
  <Override PartName="/ppt/notesSlides/notesSlide91.xml" ContentType="application/vnd.openxmlformats-officedocument.presentationml.notesSlide+xml"/>
  <Override PartName="/ppt/charts/chart56.xml" ContentType="application/vnd.openxmlformats-officedocument.drawingml.chart+xml"/>
  <Override PartName="/ppt/charts/chart57.xml" ContentType="application/vnd.openxmlformats-officedocument.drawingml.chart+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charts/chart58.xml" ContentType="application/vnd.openxmlformats-officedocument.drawingml.chart+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charts/chart59.xml" ContentType="application/vnd.openxmlformats-officedocument.drawingml.chart+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charts/chart60.xml" ContentType="application/vnd.openxmlformats-officedocument.drawingml.chart+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charts/chart61.xml" ContentType="application/vnd.openxmlformats-officedocument.drawingml.chart+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charts/chart62.xml" ContentType="application/vnd.openxmlformats-officedocument.drawingml.chart+xml"/>
  <Override PartName="/ppt/charts/chart63.xml" ContentType="application/vnd.openxmlformats-officedocument.drawingml.chart+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charts/chart64.xml" ContentType="application/vnd.openxmlformats-officedocument.drawingml.chart+xml"/>
  <Override PartName="/ppt/charts/chart65.xml" ContentType="application/vnd.openxmlformats-officedocument.drawingml.chart+xml"/>
  <Override PartName="/ppt/notesSlides/notesSlide110.xml" ContentType="application/vnd.openxmlformats-officedocument.presentationml.notesSlide+xml"/>
  <Override PartName="/ppt/charts/chart66.xml" ContentType="application/vnd.openxmlformats-officedocument.drawingml.chart+xml"/>
  <Override PartName="/ppt/charts/chart67.xml" ContentType="application/vnd.openxmlformats-officedocument.drawingml.chart+xml"/>
  <Override PartName="/ppt/notesSlides/notesSlide111.xml" ContentType="application/vnd.openxmlformats-officedocument.presentationml.notesSlide+xml"/>
  <Override PartName="/ppt/charts/chart68.xml" ContentType="application/vnd.openxmlformats-officedocument.drawingml.chart+xml"/>
  <Override PartName="/ppt/charts/chart69.xml" ContentType="application/vnd.openxmlformats-officedocument.drawingml.chart+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charts/chart70.xml" ContentType="application/vnd.openxmlformats-officedocument.drawingml.chart+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charts/chart71.xml" ContentType="application/vnd.openxmlformats-officedocument.drawingml.chart+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charts/chart72.xml" ContentType="application/vnd.openxmlformats-officedocument.drawingml.chart+xml"/>
  <Override PartName="/ppt/notesSlides/notesSlide118.xml" ContentType="application/vnd.openxmlformats-officedocument.presentationml.notesSlide+xml"/>
  <Override PartName="/ppt/charts/chart73.xml" ContentType="application/vnd.openxmlformats-officedocument.drawingml.chart+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charts/chart74.xml" ContentType="application/vnd.openxmlformats-officedocument.drawingml.chart+xml"/>
  <Override PartName="/ppt/charts/chart75.xml" ContentType="application/vnd.openxmlformats-officedocument.drawingml.chart+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charts/chart76.xml" ContentType="application/vnd.openxmlformats-officedocument.drawingml.chart+xml"/>
  <Override PartName="/ppt/charts/chart77.xml" ContentType="application/vnd.openxmlformats-officedocument.drawingml.chart+xml"/>
  <Override PartName="/ppt/notesSlides/notesSlide125.xml" ContentType="application/vnd.openxmlformats-officedocument.presentationml.notesSlide+xml"/>
  <Override PartName="/ppt/charts/chart78.xml" ContentType="application/vnd.openxmlformats-officedocument.drawingml.chart+xml"/>
  <Override PartName="/ppt/charts/chart79.xml" ContentType="application/vnd.openxmlformats-officedocument.drawingml.chart+xml"/>
  <Override PartName="/ppt/charts/chart80.xml" ContentType="application/vnd.openxmlformats-officedocument.drawingml.chart+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charts/chart81.xml" ContentType="application/vnd.openxmlformats-officedocument.drawingml.chart+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charts/chart82.xml" ContentType="application/vnd.openxmlformats-officedocument.drawingml.chart+xml"/>
  <Override PartName="/ppt/charts/chart83.xml" ContentType="application/vnd.openxmlformats-officedocument.drawingml.chart+xml"/>
  <Override PartName="/ppt/notesSlides/notesSlide133.xml" ContentType="application/vnd.openxmlformats-officedocument.presentationml.notesSlide+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charts/chart87.xml" ContentType="application/vnd.openxmlformats-officedocument.drawingml.chart+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charts/chart88.xml" ContentType="application/vnd.openxmlformats-officedocument.drawingml.chart+xml"/>
  <Override PartName="/ppt/charts/chart89.xml" ContentType="application/vnd.openxmlformats-officedocument.drawingml.chart+xml"/>
  <Override PartName="/ppt/notesSlides/notesSlide141.xml" ContentType="application/vnd.openxmlformats-officedocument.presentationml.notesSlide+xml"/>
  <Override PartName="/ppt/charts/chart90.xml" ContentType="application/vnd.openxmlformats-officedocument.drawingml.chart+xml"/>
  <Override PartName="/ppt/charts/chart91.xml" ContentType="application/vnd.openxmlformats-officedocument.drawingml.chart+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charts/chart92.xml" ContentType="application/vnd.openxmlformats-officedocument.drawingml.chart+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charts/chart93.xml" ContentType="application/vnd.openxmlformats-officedocument.drawingml.chart+xml"/>
  <Override PartName="/ppt/charts/chart94.xml" ContentType="application/vnd.openxmlformats-officedocument.drawingml.chart+xml"/>
  <Override PartName="/ppt/notesSlides/notesSlide149.xml" ContentType="application/vnd.openxmlformats-officedocument.presentationml.notesSlide+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charts/chart99.xml" ContentType="application/vnd.openxmlformats-officedocument.drawingml.chart+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charts/chart100.xml" ContentType="application/vnd.openxmlformats-officedocument.drawingml.chart+xml"/>
  <Override PartName="/ppt/charts/chart101.xml" ContentType="application/vnd.openxmlformats-officedocument.drawingml.chart+xml"/>
  <Override PartName="/ppt/notesSlides/notesSlide157.xml" ContentType="application/vnd.openxmlformats-officedocument.presentationml.notesSlide+xml"/>
  <Override PartName="/ppt/charts/chart102.xml" ContentType="application/vnd.openxmlformats-officedocument.drawingml.chart+xml"/>
  <Override PartName="/ppt/charts/chart103.xml" ContentType="application/vnd.openxmlformats-officedocument.drawingml.chart+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charts/chart104.xml" ContentType="application/vnd.openxmlformats-officedocument.drawingml.chart+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charts/chart105.xml" ContentType="application/vnd.openxmlformats-officedocument.drawingml.chart+xml"/>
  <Override PartName="/ppt/charts/chart106.xml" ContentType="application/vnd.openxmlformats-officedocument.drawingml.chart+xml"/>
  <Override PartName="/ppt/notesSlides/notesSlide166.xml" ContentType="application/vnd.openxmlformats-officedocument.presentationml.notesSlide+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0.xml" ContentType="application/vnd.openxmlformats-officedocument.drawingml.chart+xml"/>
  <Override PartName="/ppt/notesSlides/notesSlide167.xml" ContentType="application/vnd.openxmlformats-officedocument.presentationml.notesSlide+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charts/chart114.xml" ContentType="application/vnd.openxmlformats-officedocument.drawingml.chart+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charts/chart115.xml" ContentType="application/vnd.openxmlformats-officedocument.drawingml.chart+xml"/>
  <Override PartName="/ppt/charts/chart116.xml" ContentType="application/vnd.openxmlformats-officedocument.drawingml.chart+xml"/>
  <Override PartName="/ppt/notesSlides/notesSlide175.xml" ContentType="application/vnd.openxmlformats-officedocument.presentationml.notesSlide+xml"/>
  <Override PartName="/ppt/charts/chart117.xml" ContentType="application/vnd.openxmlformats-officedocument.drawingml.chart+xml"/>
  <Override PartName="/ppt/charts/chart118.xml" ContentType="application/vnd.openxmlformats-officedocument.drawingml.chart+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charts/chart119.xml" ContentType="application/vnd.openxmlformats-officedocument.drawingml.chart+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charts/chart120.xml" ContentType="application/vnd.openxmlformats-officedocument.drawingml.chart+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charts/chart121.xml" ContentType="application/vnd.openxmlformats-officedocument.drawingml.chart+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charts/chart122.xml" ContentType="application/vnd.openxmlformats-officedocument.drawingml.chart+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notesSlides/notesSlide192.xml" ContentType="application/vnd.openxmlformats-officedocument.presentationml.notesSlide+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0.xml" ContentType="application/vnd.openxmlformats-officedocument.drawingml.chart+xml"/>
  <Override PartName="/ppt/notesSlides/notesSlide193.xml" ContentType="application/vnd.openxmlformats-officedocument.presentationml.notesSlide+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charts/chart138.xml" ContentType="application/vnd.openxmlformats-officedocument.drawingml.chart+xml"/>
  <Override PartName="/ppt/charts/chart139.xml" ContentType="application/vnd.openxmlformats-officedocument.drawingml.chart+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charts/chart140.xml" ContentType="application/vnd.openxmlformats-officedocument.drawingml.chart+xml"/>
  <Override PartName="/ppt/charts/chart141.xml" ContentType="application/vnd.openxmlformats-officedocument.drawingml.chart+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charts/chart142.xml" ContentType="application/vnd.openxmlformats-officedocument.drawingml.chart+xml"/>
  <Override PartName="/ppt/charts/chart143.xml" ContentType="application/vnd.openxmlformats-officedocument.drawingml.chart+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charts/chart144.xml" ContentType="application/vnd.openxmlformats-officedocument.drawingml.chart+xml"/>
  <Override PartName="/ppt/charts/chart145.xml" ContentType="application/vnd.openxmlformats-officedocument.drawingml.chart+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charts/chart146.xml" ContentType="application/vnd.openxmlformats-officedocument.drawingml.chart+xml"/>
  <Override PartName="/ppt/charts/chart147.xml" ContentType="application/vnd.openxmlformats-officedocument.drawingml.chart+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charts/chart148.xml" ContentType="application/vnd.openxmlformats-officedocument.drawingml.chart+xml"/>
  <Override PartName="/ppt/charts/chart149.xml" ContentType="application/vnd.openxmlformats-officedocument.drawingml.chart+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charts/chart150.xml" ContentType="application/vnd.openxmlformats-officedocument.drawingml.chart+xml"/>
  <Override PartName="/ppt/charts/chart151.xml" ContentType="application/vnd.openxmlformats-officedocument.drawingml.chart+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charts/chart152.xml" ContentType="application/vnd.openxmlformats-officedocument.drawingml.chart+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charts/chart153.xml" ContentType="application/vnd.openxmlformats-officedocument.drawingml.chart+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charts/chart154.xml" ContentType="application/vnd.openxmlformats-officedocument.drawingml.chart+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charts/chart155.xml" ContentType="application/vnd.openxmlformats-officedocument.drawingml.chart+xml"/>
  <Override PartName="/ppt/charts/chart156.xml" ContentType="application/vnd.openxmlformats-officedocument.drawingml.chart+xml"/>
  <Override PartName="/ppt/notesSlides/notesSlide229.xml" ContentType="application/vnd.openxmlformats-officedocument.presentationml.notesSlide+xml"/>
  <Override PartName="/ppt/charts/chart157.xml" ContentType="application/vnd.openxmlformats-officedocument.drawingml.chart+xml"/>
  <Override PartName="/ppt/notesSlides/notesSlide230.xml" ContentType="application/vnd.openxmlformats-officedocument.presentationml.notesSlide+xml"/>
  <Override PartName="/ppt/charts/chart158.xml" ContentType="application/vnd.openxmlformats-officedocument.drawingml.chart+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charts/chart159.xml" ContentType="application/vnd.openxmlformats-officedocument.drawingml.chart+xml"/>
  <Override PartName="/ppt/notesSlides/notesSlide266.xml" ContentType="application/vnd.openxmlformats-officedocument.presentationml.notesSlide+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notesSlides/notesSlide267.xml" ContentType="application/vnd.openxmlformats-officedocument.presentationml.notesSlide+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notesSlides/notesSlide270.xml" ContentType="application/vnd.openxmlformats-officedocument.presentationml.notesSlide+xml"/>
  <Override PartName="/ppt/charts/chart169.xml" ContentType="application/vnd.openxmlformats-officedocument.drawingml.chart+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notesSlides/notesSlide275.xml" ContentType="application/vnd.openxmlformats-officedocument.presentationml.notesSlide+xml"/>
  <Override PartName="/ppt/charts/chart173.xml" ContentType="application/vnd.openxmlformats-officedocument.drawingml.chart+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notesSlides/notesSlide280.xml" ContentType="application/vnd.openxmlformats-officedocument.presentationml.notesSlide+xml"/>
  <Override PartName="/ppt/charts/chart177.xml" ContentType="application/vnd.openxmlformats-officedocument.drawingml.chart+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338"/>
  </p:notesMasterIdLst>
  <p:sldIdLst>
    <p:sldId id="256" r:id="rId2"/>
    <p:sldId id="257" r:id="rId3"/>
    <p:sldId id="258" r:id="rId4"/>
    <p:sldId id="259" r:id="rId5"/>
    <p:sldId id="260" r:id="rId6"/>
    <p:sldId id="261" r:id="rId7"/>
    <p:sldId id="262" r:id="rId8"/>
    <p:sldId id="263" r:id="rId9"/>
    <p:sldId id="264" r:id="rId10"/>
    <p:sldId id="582" r:id="rId11"/>
    <p:sldId id="575" r:id="rId12"/>
    <p:sldId id="576" r:id="rId13"/>
    <p:sldId id="577" r:id="rId14"/>
    <p:sldId id="578" r:id="rId15"/>
    <p:sldId id="579" r:id="rId16"/>
    <p:sldId id="580" r:id="rId17"/>
    <p:sldId id="581" r:id="rId18"/>
    <p:sldId id="591" r:id="rId19"/>
    <p:sldId id="583" r:id="rId20"/>
    <p:sldId id="584" r:id="rId21"/>
    <p:sldId id="585" r:id="rId22"/>
    <p:sldId id="586" r:id="rId23"/>
    <p:sldId id="587" r:id="rId24"/>
    <p:sldId id="588" r:id="rId25"/>
    <p:sldId id="589" r:id="rId26"/>
    <p:sldId id="590" r:id="rId27"/>
    <p:sldId id="265" r:id="rId28"/>
    <p:sldId id="266" r:id="rId29"/>
    <p:sldId id="267" r:id="rId30"/>
    <p:sldId id="268" r:id="rId31"/>
    <p:sldId id="269" r:id="rId32"/>
    <p:sldId id="270" r:id="rId33"/>
    <p:sldId id="271" r:id="rId34"/>
    <p:sldId id="272" r:id="rId35"/>
    <p:sldId id="273" r:id="rId36"/>
    <p:sldId id="274" r:id="rId37"/>
    <p:sldId id="275" r:id="rId38"/>
    <p:sldId id="276" r:id="rId39"/>
    <p:sldId id="277" r:id="rId40"/>
    <p:sldId id="278" r:id="rId41"/>
    <p:sldId id="279" r:id="rId42"/>
    <p:sldId id="280" r:id="rId43"/>
    <p:sldId id="281" r:id="rId44"/>
    <p:sldId id="282" r:id="rId45"/>
    <p:sldId id="283" r:id="rId46"/>
    <p:sldId id="284" r:id="rId47"/>
    <p:sldId id="285" r:id="rId48"/>
    <p:sldId id="286" r:id="rId49"/>
    <p:sldId id="287" r:id="rId50"/>
    <p:sldId id="288" r:id="rId51"/>
    <p:sldId id="289" r:id="rId52"/>
    <p:sldId id="290" r:id="rId53"/>
    <p:sldId id="291" r:id="rId54"/>
    <p:sldId id="292" r:id="rId55"/>
    <p:sldId id="293" r:id="rId56"/>
    <p:sldId id="294" r:id="rId57"/>
    <p:sldId id="295" r:id="rId58"/>
    <p:sldId id="296" r:id="rId59"/>
    <p:sldId id="297" r:id="rId60"/>
    <p:sldId id="298" r:id="rId61"/>
    <p:sldId id="299" r:id="rId62"/>
    <p:sldId id="300" r:id="rId63"/>
    <p:sldId id="301" r:id="rId64"/>
    <p:sldId id="302" r:id="rId65"/>
    <p:sldId id="303" r:id="rId66"/>
    <p:sldId id="304" r:id="rId67"/>
    <p:sldId id="305" r:id="rId68"/>
    <p:sldId id="306" r:id="rId69"/>
    <p:sldId id="307" r:id="rId70"/>
    <p:sldId id="308" r:id="rId71"/>
    <p:sldId id="309" r:id="rId72"/>
    <p:sldId id="310" r:id="rId73"/>
    <p:sldId id="311" r:id="rId74"/>
    <p:sldId id="312" r:id="rId75"/>
    <p:sldId id="313" r:id="rId76"/>
    <p:sldId id="314" r:id="rId77"/>
    <p:sldId id="315" r:id="rId78"/>
    <p:sldId id="316" r:id="rId79"/>
    <p:sldId id="317" r:id="rId80"/>
    <p:sldId id="318" r:id="rId81"/>
    <p:sldId id="319" r:id="rId82"/>
    <p:sldId id="320" r:id="rId83"/>
    <p:sldId id="321" r:id="rId84"/>
    <p:sldId id="322" r:id="rId85"/>
    <p:sldId id="323" r:id="rId86"/>
    <p:sldId id="324" r:id="rId87"/>
    <p:sldId id="325" r:id="rId88"/>
    <p:sldId id="326" r:id="rId89"/>
    <p:sldId id="327" r:id="rId90"/>
    <p:sldId id="328" r:id="rId91"/>
    <p:sldId id="329" r:id="rId92"/>
    <p:sldId id="330" r:id="rId93"/>
    <p:sldId id="331" r:id="rId94"/>
    <p:sldId id="332" r:id="rId95"/>
    <p:sldId id="333" r:id="rId96"/>
    <p:sldId id="334" r:id="rId97"/>
    <p:sldId id="335" r:id="rId98"/>
    <p:sldId id="336" r:id="rId99"/>
    <p:sldId id="337" r:id="rId100"/>
    <p:sldId id="338" r:id="rId101"/>
    <p:sldId id="339" r:id="rId102"/>
    <p:sldId id="340" r:id="rId103"/>
    <p:sldId id="341" r:id="rId104"/>
    <p:sldId id="342" r:id="rId105"/>
    <p:sldId id="343" r:id="rId106"/>
    <p:sldId id="344" r:id="rId107"/>
    <p:sldId id="345" r:id="rId108"/>
    <p:sldId id="346" r:id="rId109"/>
    <p:sldId id="347" r:id="rId110"/>
    <p:sldId id="348" r:id="rId111"/>
    <p:sldId id="349" r:id="rId112"/>
    <p:sldId id="350" r:id="rId113"/>
    <p:sldId id="351" r:id="rId114"/>
    <p:sldId id="352" r:id="rId115"/>
    <p:sldId id="353" r:id="rId116"/>
    <p:sldId id="354" r:id="rId117"/>
    <p:sldId id="355" r:id="rId118"/>
    <p:sldId id="356" r:id="rId119"/>
    <p:sldId id="357" r:id="rId120"/>
    <p:sldId id="358" r:id="rId121"/>
    <p:sldId id="359" r:id="rId122"/>
    <p:sldId id="360" r:id="rId123"/>
    <p:sldId id="361" r:id="rId124"/>
    <p:sldId id="362" r:id="rId125"/>
    <p:sldId id="363" r:id="rId126"/>
    <p:sldId id="364" r:id="rId127"/>
    <p:sldId id="365" r:id="rId128"/>
    <p:sldId id="366" r:id="rId129"/>
    <p:sldId id="367" r:id="rId130"/>
    <p:sldId id="368" r:id="rId131"/>
    <p:sldId id="369" r:id="rId132"/>
    <p:sldId id="370" r:id="rId133"/>
    <p:sldId id="371" r:id="rId134"/>
    <p:sldId id="372" r:id="rId135"/>
    <p:sldId id="373" r:id="rId136"/>
    <p:sldId id="374" r:id="rId137"/>
    <p:sldId id="375" r:id="rId138"/>
    <p:sldId id="376" r:id="rId139"/>
    <p:sldId id="377" r:id="rId140"/>
    <p:sldId id="378" r:id="rId141"/>
    <p:sldId id="379" r:id="rId142"/>
    <p:sldId id="380" r:id="rId143"/>
    <p:sldId id="381" r:id="rId144"/>
    <p:sldId id="382" r:id="rId145"/>
    <p:sldId id="383" r:id="rId146"/>
    <p:sldId id="384" r:id="rId147"/>
    <p:sldId id="385" r:id="rId148"/>
    <p:sldId id="386" r:id="rId149"/>
    <p:sldId id="387" r:id="rId150"/>
    <p:sldId id="388" r:id="rId151"/>
    <p:sldId id="389" r:id="rId152"/>
    <p:sldId id="390" r:id="rId153"/>
    <p:sldId id="391" r:id="rId154"/>
    <p:sldId id="392" r:id="rId155"/>
    <p:sldId id="393" r:id="rId156"/>
    <p:sldId id="394" r:id="rId157"/>
    <p:sldId id="395" r:id="rId158"/>
    <p:sldId id="396" r:id="rId159"/>
    <p:sldId id="397" r:id="rId160"/>
    <p:sldId id="398" r:id="rId161"/>
    <p:sldId id="399" r:id="rId162"/>
    <p:sldId id="400" r:id="rId163"/>
    <p:sldId id="401" r:id="rId164"/>
    <p:sldId id="402" r:id="rId165"/>
    <p:sldId id="403" r:id="rId166"/>
    <p:sldId id="404" r:id="rId167"/>
    <p:sldId id="405" r:id="rId168"/>
    <p:sldId id="406" r:id="rId169"/>
    <p:sldId id="407" r:id="rId170"/>
    <p:sldId id="408" r:id="rId171"/>
    <p:sldId id="409" r:id="rId172"/>
    <p:sldId id="410" r:id="rId173"/>
    <p:sldId id="411" r:id="rId174"/>
    <p:sldId id="412" r:id="rId175"/>
    <p:sldId id="413" r:id="rId176"/>
    <p:sldId id="414" r:id="rId177"/>
    <p:sldId id="415" r:id="rId178"/>
    <p:sldId id="416" r:id="rId179"/>
    <p:sldId id="417" r:id="rId180"/>
    <p:sldId id="418" r:id="rId181"/>
    <p:sldId id="419" r:id="rId182"/>
    <p:sldId id="420" r:id="rId183"/>
    <p:sldId id="421" r:id="rId184"/>
    <p:sldId id="422" r:id="rId185"/>
    <p:sldId id="423" r:id="rId186"/>
    <p:sldId id="424" r:id="rId187"/>
    <p:sldId id="425" r:id="rId188"/>
    <p:sldId id="426" r:id="rId189"/>
    <p:sldId id="427" r:id="rId190"/>
    <p:sldId id="428" r:id="rId191"/>
    <p:sldId id="429" r:id="rId192"/>
    <p:sldId id="430" r:id="rId193"/>
    <p:sldId id="431" r:id="rId194"/>
    <p:sldId id="432" r:id="rId195"/>
    <p:sldId id="433" r:id="rId196"/>
    <p:sldId id="434" r:id="rId197"/>
    <p:sldId id="435" r:id="rId198"/>
    <p:sldId id="436" r:id="rId199"/>
    <p:sldId id="437" r:id="rId200"/>
    <p:sldId id="438" r:id="rId201"/>
    <p:sldId id="439" r:id="rId202"/>
    <p:sldId id="440" r:id="rId203"/>
    <p:sldId id="441" r:id="rId204"/>
    <p:sldId id="442" r:id="rId205"/>
    <p:sldId id="443" r:id="rId206"/>
    <p:sldId id="444" r:id="rId207"/>
    <p:sldId id="445" r:id="rId208"/>
    <p:sldId id="446" r:id="rId209"/>
    <p:sldId id="447" r:id="rId210"/>
    <p:sldId id="448" r:id="rId211"/>
    <p:sldId id="449" r:id="rId212"/>
    <p:sldId id="450" r:id="rId213"/>
    <p:sldId id="451" r:id="rId214"/>
    <p:sldId id="452" r:id="rId215"/>
    <p:sldId id="453" r:id="rId216"/>
    <p:sldId id="454" r:id="rId217"/>
    <p:sldId id="455" r:id="rId218"/>
    <p:sldId id="456" r:id="rId219"/>
    <p:sldId id="457" r:id="rId220"/>
    <p:sldId id="458" r:id="rId221"/>
    <p:sldId id="459" r:id="rId222"/>
    <p:sldId id="460" r:id="rId223"/>
    <p:sldId id="461" r:id="rId224"/>
    <p:sldId id="462" r:id="rId225"/>
    <p:sldId id="463" r:id="rId226"/>
    <p:sldId id="464" r:id="rId227"/>
    <p:sldId id="465" r:id="rId228"/>
    <p:sldId id="466" r:id="rId229"/>
    <p:sldId id="467" r:id="rId230"/>
    <p:sldId id="468" r:id="rId231"/>
    <p:sldId id="469" r:id="rId232"/>
    <p:sldId id="470" r:id="rId233"/>
    <p:sldId id="471" r:id="rId234"/>
    <p:sldId id="472" r:id="rId235"/>
    <p:sldId id="473" r:id="rId236"/>
    <p:sldId id="474" r:id="rId237"/>
    <p:sldId id="475" r:id="rId238"/>
    <p:sldId id="476" r:id="rId239"/>
    <p:sldId id="477" r:id="rId240"/>
    <p:sldId id="478" r:id="rId241"/>
    <p:sldId id="479" r:id="rId242"/>
    <p:sldId id="480" r:id="rId243"/>
    <p:sldId id="481" r:id="rId244"/>
    <p:sldId id="482" r:id="rId245"/>
    <p:sldId id="483" r:id="rId246"/>
    <p:sldId id="484" r:id="rId247"/>
    <p:sldId id="485" r:id="rId248"/>
    <p:sldId id="486" r:id="rId249"/>
    <p:sldId id="487" r:id="rId250"/>
    <p:sldId id="488" r:id="rId251"/>
    <p:sldId id="489" r:id="rId252"/>
    <p:sldId id="490" r:id="rId253"/>
    <p:sldId id="491" r:id="rId254"/>
    <p:sldId id="492" r:id="rId255"/>
    <p:sldId id="493" r:id="rId256"/>
    <p:sldId id="494" r:id="rId257"/>
    <p:sldId id="495" r:id="rId258"/>
    <p:sldId id="496" r:id="rId259"/>
    <p:sldId id="497" r:id="rId260"/>
    <p:sldId id="498" r:id="rId261"/>
    <p:sldId id="499" r:id="rId262"/>
    <p:sldId id="500" r:id="rId263"/>
    <p:sldId id="501" r:id="rId264"/>
    <p:sldId id="502" r:id="rId265"/>
    <p:sldId id="503" r:id="rId266"/>
    <p:sldId id="504" r:id="rId267"/>
    <p:sldId id="505" r:id="rId268"/>
    <p:sldId id="506" r:id="rId269"/>
    <p:sldId id="507" r:id="rId270"/>
    <p:sldId id="508" r:id="rId271"/>
    <p:sldId id="509" r:id="rId272"/>
    <p:sldId id="510" r:id="rId273"/>
    <p:sldId id="511" r:id="rId274"/>
    <p:sldId id="512" r:id="rId275"/>
    <p:sldId id="513" r:id="rId276"/>
    <p:sldId id="514" r:id="rId277"/>
    <p:sldId id="515" r:id="rId278"/>
    <p:sldId id="516" r:id="rId279"/>
    <p:sldId id="517" r:id="rId280"/>
    <p:sldId id="518" r:id="rId281"/>
    <p:sldId id="519" r:id="rId282"/>
    <p:sldId id="520" r:id="rId283"/>
    <p:sldId id="521" r:id="rId284"/>
    <p:sldId id="522" r:id="rId285"/>
    <p:sldId id="523" r:id="rId286"/>
    <p:sldId id="524" r:id="rId287"/>
    <p:sldId id="525" r:id="rId288"/>
    <p:sldId id="526" r:id="rId289"/>
    <p:sldId id="527" r:id="rId290"/>
    <p:sldId id="528" r:id="rId291"/>
    <p:sldId id="529" r:id="rId292"/>
    <p:sldId id="530" r:id="rId293"/>
    <p:sldId id="531" r:id="rId294"/>
    <p:sldId id="532" r:id="rId295"/>
    <p:sldId id="533" r:id="rId296"/>
    <p:sldId id="534" r:id="rId297"/>
    <p:sldId id="535" r:id="rId298"/>
    <p:sldId id="536" r:id="rId299"/>
    <p:sldId id="537" r:id="rId300"/>
    <p:sldId id="538" r:id="rId301"/>
    <p:sldId id="539" r:id="rId302"/>
    <p:sldId id="540" r:id="rId303"/>
    <p:sldId id="541" r:id="rId304"/>
    <p:sldId id="542" r:id="rId305"/>
    <p:sldId id="543" r:id="rId306"/>
    <p:sldId id="544" r:id="rId307"/>
    <p:sldId id="545" r:id="rId308"/>
    <p:sldId id="546" r:id="rId309"/>
    <p:sldId id="547" r:id="rId310"/>
    <p:sldId id="548" r:id="rId311"/>
    <p:sldId id="549" r:id="rId312"/>
    <p:sldId id="550" r:id="rId313"/>
    <p:sldId id="551" r:id="rId314"/>
    <p:sldId id="552" r:id="rId315"/>
    <p:sldId id="553" r:id="rId316"/>
    <p:sldId id="554" r:id="rId317"/>
    <p:sldId id="555" r:id="rId318"/>
    <p:sldId id="556" r:id="rId319"/>
    <p:sldId id="557" r:id="rId320"/>
    <p:sldId id="558" r:id="rId321"/>
    <p:sldId id="559" r:id="rId322"/>
    <p:sldId id="560" r:id="rId323"/>
    <p:sldId id="561" r:id="rId324"/>
    <p:sldId id="562" r:id="rId325"/>
    <p:sldId id="563" r:id="rId326"/>
    <p:sldId id="564" r:id="rId327"/>
    <p:sldId id="565" r:id="rId328"/>
    <p:sldId id="566" r:id="rId329"/>
    <p:sldId id="567" r:id="rId330"/>
    <p:sldId id="568" r:id="rId331"/>
    <p:sldId id="569" r:id="rId332"/>
    <p:sldId id="570" r:id="rId333"/>
    <p:sldId id="571" r:id="rId334"/>
    <p:sldId id="572" r:id="rId335"/>
    <p:sldId id="573" r:id="rId336"/>
    <p:sldId id="574" r:id="rId337"/>
  </p:sldIdLst>
  <p:sldSz cx="12192000"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78" d="100"/>
          <a:sy n="78" d="100"/>
        </p:scale>
        <p:origin x="850" y="6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338" Type="http://schemas.openxmlformats.org/officeDocument/2006/relationships/notesMaster" Target="notesMasters/notesMaster1.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presProps" Target="presProps.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viewProps" Target="viewProps.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theme" Target="theme/theme1.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tableStyles" Target="tableStyles.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162" Type="http://schemas.openxmlformats.org/officeDocument/2006/relationships/slide" Target="slides/slide161.xml"/><Relationship Id="rId218" Type="http://schemas.openxmlformats.org/officeDocument/2006/relationships/slide" Target="slides/slide217.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173" Type="http://schemas.openxmlformats.org/officeDocument/2006/relationships/slide" Target="slides/slide172.xml"/><Relationship Id="rId229" Type="http://schemas.openxmlformats.org/officeDocument/2006/relationships/slide" Target="slides/slide228.xml"/></Relationships>
</file>

<file path=ppt/charts/_rels/chart1.xml.rels><?xml version="1.0" encoding="UTF-8" standalone="yes"?>
<Relationships xmlns="http://schemas.openxmlformats.org/package/2006/relationships"><Relationship Id="rId1" Type="http://schemas.openxmlformats.org/officeDocument/2006/relationships/image" Target="../media/image3.png"/></Relationships>
</file>

<file path=ppt/charts/_rels/chart3.xml.rels><?xml version="1.0" encoding="UTF-8" standalone="yes"?>
<Relationships xmlns="http://schemas.openxmlformats.org/package/2006/relationships"><Relationship Id="rId1" Type="http://schemas.openxmlformats.org/officeDocument/2006/relationships/image" Target="../media/image3.png"/></Relationships>
</file>

<file path=ppt/charts/_rels/chart5.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6.png"/><Relationship Id="rId7" Type="http://schemas.openxmlformats.org/officeDocument/2006/relationships/image" Target="../media/image10.png"/><Relationship Id="rId2" Type="http://schemas.openxmlformats.org/officeDocument/2006/relationships/image" Target="../media/image5.png"/><Relationship Id="rId1" Type="http://schemas.openxmlformats.org/officeDocument/2006/relationships/image" Target="../media/image4.png"/><Relationship Id="rId6" Type="http://schemas.openxmlformats.org/officeDocument/2006/relationships/image" Target="../media/image9.png"/><Relationship Id="rId5" Type="http://schemas.openxmlformats.org/officeDocument/2006/relationships/image" Target="../media/image8.png"/><Relationship Id="rId10" Type="http://schemas.openxmlformats.org/officeDocument/2006/relationships/image" Target="../media/image13.png"/><Relationship Id="rId4" Type="http://schemas.openxmlformats.org/officeDocument/2006/relationships/image" Target="../media/image7.png"/><Relationship Id="rId9" Type="http://schemas.openxmlformats.org/officeDocument/2006/relationships/image" Target="../media/image12.png"/></Relationships>
</file>

<file path=ppt/charts/_rels/chart6.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6.png"/><Relationship Id="rId18" Type="http://schemas.openxmlformats.org/officeDocument/2006/relationships/image" Target="../media/image31.png"/><Relationship Id="rId3" Type="http://schemas.openxmlformats.org/officeDocument/2006/relationships/image" Target="../media/image16.png"/><Relationship Id="rId21" Type="http://schemas.openxmlformats.org/officeDocument/2006/relationships/image" Target="../media/image34.png"/><Relationship Id="rId7" Type="http://schemas.openxmlformats.org/officeDocument/2006/relationships/image" Target="../media/image20.png"/><Relationship Id="rId12" Type="http://schemas.openxmlformats.org/officeDocument/2006/relationships/image" Target="../media/image25.png"/><Relationship Id="rId17" Type="http://schemas.openxmlformats.org/officeDocument/2006/relationships/image" Target="../media/image30.png"/><Relationship Id="rId2" Type="http://schemas.openxmlformats.org/officeDocument/2006/relationships/image" Target="../media/image15.png"/><Relationship Id="rId16" Type="http://schemas.openxmlformats.org/officeDocument/2006/relationships/image" Target="../media/image29.png"/><Relationship Id="rId20" Type="http://schemas.openxmlformats.org/officeDocument/2006/relationships/image" Target="../media/image33.png"/><Relationship Id="rId1" Type="http://schemas.openxmlformats.org/officeDocument/2006/relationships/image" Target="../media/image14.png"/><Relationship Id="rId6" Type="http://schemas.openxmlformats.org/officeDocument/2006/relationships/image" Target="../media/image19.png"/><Relationship Id="rId11" Type="http://schemas.openxmlformats.org/officeDocument/2006/relationships/image" Target="../media/image24.png"/><Relationship Id="rId5" Type="http://schemas.openxmlformats.org/officeDocument/2006/relationships/image" Target="../media/image18.png"/><Relationship Id="rId15" Type="http://schemas.openxmlformats.org/officeDocument/2006/relationships/image" Target="../media/image28.png"/><Relationship Id="rId10" Type="http://schemas.openxmlformats.org/officeDocument/2006/relationships/image" Target="../media/image23.png"/><Relationship Id="rId19" Type="http://schemas.openxmlformats.org/officeDocument/2006/relationships/image" Target="../media/image32.png"/><Relationship Id="rId4" Type="http://schemas.openxmlformats.org/officeDocument/2006/relationships/image" Target="../media/image17.png"/><Relationship Id="rId9" Type="http://schemas.openxmlformats.org/officeDocument/2006/relationships/image" Target="../media/image22.png"/><Relationship Id="rId14" Type="http://schemas.openxmlformats.org/officeDocument/2006/relationships/image" Target="../media/image27.png"/><Relationship Id="rId22" Type="http://schemas.openxmlformats.org/officeDocument/2006/relationships/image" Target="../media/image35.png"/></Relationships>
</file>

<file path=ppt/charts/_rels/chart7.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image" Target="../media/image38.png"/><Relationship Id="rId7" Type="http://schemas.openxmlformats.org/officeDocument/2006/relationships/image" Target="../media/image42.png"/><Relationship Id="rId2" Type="http://schemas.openxmlformats.org/officeDocument/2006/relationships/image" Target="../media/image37.png"/><Relationship Id="rId1" Type="http://schemas.openxmlformats.org/officeDocument/2006/relationships/image" Target="../media/image36.png"/><Relationship Id="rId6" Type="http://schemas.openxmlformats.org/officeDocument/2006/relationships/image" Target="../media/image41.png"/><Relationship Id="rId5" Type="http://schemas.openxmlformats.org/officeDocument/2006/relationships/image" Target="../media/image40.png"/><Relationship Id="rId10" Type="http://schemas.openxmlformats.org/officeDocument/2006/relationships/image" Target="../media/image45.png"/><Relationship Id="rId4" Type="http://schemas.openxmlformats.org/officeDocument/2006/relationships/image" Target="../media/image39.png"/><Relationship Id="rId9" Type="http://schemas.openxmlformats.org/officeDocument/2006/relationships/image" Target="../media/image44.png"/></Relationships>
</file>

<file path=ppt/charts/_rels/chart8.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image" Target="../media/image46.png"/><Relationship Id="rId6" Type="http://schemas.openxmlformats.org/officeDocument/2006/relationships/image" Target="../media/image51.png"/><Relationship Id="rId5" Type="http://schemas.openxmlformats.org/officeDocument/2006/relationships/image" Target="../media/image50.png"/><Relationship Id="rId10" Type="http://schemas.openxmlformats.org/officeDocument/2006/relationships/image" Target="../media/image55.png"/><Relationship Id="rId4" Type="http://schemas.openxmlformats.org/officeDocument/2006/relationships/image" Target="../media/image49.png"/><Relationship Id="rId9" Type="http://schemas.openxmlformats.org/officeDocument/2006/relationships/image" Target="../media/image54.png"/></Relationships>
</file>

<file path=ppt/charts/_rels/chart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png"/><Relationship Id="rId1" Type="http://schemas.openxmlformats.org/officeDocument/2006/relationships/image" Target="../media/image56.png"/></Relationships>
</file>

<file path=ppt/charts/_rels/chart11.xml.rels><?xml version="1.0" encoding="UTF-8" standalone="yes"?>
<Relationships xmlns="http://schemas.openxmlformats.org/package/2006/relationships"><Relationship Id="rId8" Type="http://schemas.openxmlformats.org/officeDocument/2006/relationships/image" Target="../media/image84.png"/><Relationship Id="rId3" Type="http://schemas.openxmlformats.org/officeDocument/2006/relationships/image" Target="../media/image79.png"/><Relationship Id="rId7" Type="http://schemas.openxmlformats.org/officeDocument/2006/relationships/image" Target="../media/image83.png"/><Relationship Id="rId2" Type="http://schemas.openxmlformats.org/officeDocument/2006/relationships/image" Target="../media/image78.png"/><Relationship Id="rId1" Type="http://schemas.openxmlformats.org/officeDocument/2006/relationships/image" Target="../media/image77.png"/><Relationship Id="rId6" Type="http://schemas.openxmlformats.org/officeDocument/2006/relationships/image" Target="../media/image82.png"/><Relationship Id="rId5" Type="http://schemas.openxmlformats.org/officeDocument/2006/relationships/image" Target="../media/image81.png"/><Relationship Id="rId10" Type="http://schemas.openxmlformats.org/officeDocument/2006/relationships/image" Target="../media/image86.png"/><Relationship Id="rId4" Type="http://schemas.openxmlformats.org/officeDocument/2006/relationships/image" Target="../media/image80.png"/><Relationship Id="rId9" Type="http://schemas.openxmlformats.org/officeDocument/2006/relationships/image" Target="../media/image85.png"/></Relationships>
</file>

<file path=ppt/charts/_rels/chart12.xml.rels><?xml version="1.0" encoding="UTF-8" standalone="yes"?>
<Relationships xmlns="http://schemas.openxmlformats.org/package/2006/relationships"><Relationship Id="rId8" Type="http://schemas.openxmlformats.org/officeDocument/2006/relationships/image" Target="../media/image94.png"/><Relationship Id="rId3" Type="http://schemas.openxmlformats.org/officeDocument/2006/relationships/image" Target="../media/image90.png"/><Relationship Id="rId7" Type="http://schemas.openxmlformats.org/officeDocument/2006/relationships/image" Target="../media/image82.png"/><Relationship Id="rId2" Type="http://schemas.openxmlformats.org/officeDocument/2006/relationships/image" Target="../media/image89.png"/><Relationship Id="rId1" Type="http://schemas.openxmlformats.org/officeDocument/2006/relationships/image" Target="../media/image88.png"/><Relationship Id="rId6" Type="http://schemas.openxmlformats.org/officeDocument/2006/relationships/image" Target="../media/image93.png"/><Relationship Id="rId11" Type="http://schemas.openxmlformats.org/officeDocument/2006/relationships/image" Target="../media/image95.png"/><Relationship Id="rId5" Type="http://schemas.openxmlformats.org/officeDocument/2006/relationships/image" Target="../media/image92.png"/><Relationship Id="rId10" Type="http://schemas.openxmlformats.org/officeDocument/2006/relationships/image" Target="../media/image51.png"/><Relationship Id="rId4" Type="http://schemas.openxmlformats.org/officeDocument/2006/relationships/image" Target="../media/image91.png"/><Relationship Id="rId9" Type="http://schemas.openxmlformats.org/officeDocument/2006/relationships/image" Target="../media/image85.png"/></Relationships>
</file>

<file path=ppt/charts/_rels/chart13.xml.rels><?xml version="1.0" encoding="UTF-8" standalone="yes"?>
<Relationships xmlns="http://schemas.openxmlformats.org/package/2006/relationships"><Relationship Id="rId1" Type="http://schemas.openxmlformats.org/officeDocument/2006/relationships/image" Target="../media/image3.png"/></Relationships>
</file>

<file path=ppt/charts/_rels/chart14.xml.rels><?xml version="1.0" encoding="UTF-8" standalone="yes"?>
<Relationships xmlns="http://schemas.openxmlformats.org/package/2006/relationships"><Relationship Id="rId1" Type="http://schemas.openxmlformats.org/officeDocument/2006/relationships/image" Target="../media/image3.png"/></Relationships>
</file>

<file path=ppt/charts/_rels/chart15.xml.rels><?xml version="1.0" encoding="UTF-8" standalone="yes"?>
<Relationships xmlns="http://schemas.openxmlformats.org/package/2006/relationships"><Relationship Id="rId8" Type="http://schemas.openxmlformats.org/officeDocument/2006/relationships/image" Target="../media/image113.png"/><Relationship Id="rId13" Type="http://schemas.openxmlformats.org/officeDocument/2006/relationships/image" Target="../media/image118.png"/><Relationship Id="rId18" Type="http://schemas.openxmlformats.org/officeDocument/2006/relationships/image" Target="../media/image123.png"/><Relationship Id="rId3" Type="http://schemas.openxmlformats.org/officeDocument/2006/relationships/image" Target="../media/image108.png"/><Relationship Id="rId7" Type="http://schemas.openxmlformats.org/officeDocument/2006/relationships/image" Target="../media/image112.png"/><Relationship Id="rId12" Type="http://schemas.openxmlformats.org/officeDocument/2006/relationships/image" Target="../media/image117.png"/><Relationship Id="rId17" Type="http://schemas.openxmlformats.org/officeDocument/2006/relationships/image" Target="../media/image122.png"/><Relationship Id="rId2" Type="http://schemas.openxmlformats.org/officeDocument/2006/relationships/image" Target="../media/image107.png"/><Relationship Id="rId16" Type="http://schemas.openxmlformats.org/officeDocument/2006/relationships/image" Target="../media/image121.png"/><Relationship Id="rId1" Type="http://schemas.openxmlformats.org/officeDocument/2006/relationships/image" Target="../media/image106.png"/><Relationship Id="rId6" Type="http://schemas.openxmlformats.org/officeDocument/2006/relationships/image" Target="../media/image111.png"/><Relationship Id="rId11" Type="http://schemas.openxmlformats.org/officeDocument/2006/relationships/image" Target="../media/image116.png"/><Relationship Id="rId5" Type="http://schemas.openxmlformats.org/officeDocument/2006/relationships/image" Target="../media/image110.png"/><Relationship Id="rId15" Type="http://schemas.openxmlformats.org/officeDocument/2006/relationships/image" Target="../media/image120.png"/><Relationship Id="rId10" Type="http://schemas.openxmlformats.org/officeDocument/2006/relationships/image" Target="../media/image115.png"/><Relationship Id="rId4" Type="http://schemas.openxmlformats.org/officeDocument/2006/relationships/image" Target="../media/image109.png"/><Relationship Id="rId9" Type="http://schemas.openxmlformats.org/officeDocument/2006/relationships/image" Target="../media/image114.png"/><Relationship Id="rId14" Type="http://schemas.openxmlformats.org/officeDocument/2006/relationships/image" Target="../media/image119.png"/></Relationships>
</file>

<file path=ppt/charts/_rels/chart20.xml.rels><?xml version="1.0" encoding="UTF-8" standalone="yes"?>
<Relationships xmlns="http://schemas.openxmlformats.org/package/2006/relationships"><Relationship Id="rId8" Type="http://schemas.openxmlformats.org/officeDocument/2006/relationships/image" Target="../media/image131.png"/><Relationship Id="rId3" Type="http://schemas.openxmlformats.org/officeDocument/2006/relationships/image" Target="../media/image126.png"/><Relationship Id="rId7" Type="http://schemas.openxmlformats.org/officeDocument/2006/relationships/image" Target="../media/image130.png"/><Relationship Id="rId2" Type="http://schemas.openxmlformats.org/officeDocument/2006/relationships/image" Target="../media/image125.png"/><Relationship Id="rId1" Type="http://schemas.openxmlformats.org/officeDocument/2006/relationships/image" Target="../media/image124.png"/><Relationship Id="rId6" Type="http://schemas.openxmlformats.org/officeDocument/2006/relationships/image" Target="../media/image129.png"/><Relationship Id="rId5" Type="http://schemas.openxmlformats.org/officeDocument/2006/relationships/image" Target="../media/image128.png"/><Relationship Id="rId4" Type="http://schemas.openxmlformats.org/officeDocument/2006/relationships/image" Target="../media/image127.png"/><Relationship Id="rId9" Type="http://schemas.openxmlformats.org/officeDocument/2006/relationships/image" Target="../media/image132.png"/></Relationships>
</file>

<file path=ppt/charts/_rels/chart21.xml.rels><?xml version="1.0" encoding="UTF-8" standalone="yes"?>
<Relationships xmlns="http://schemas.openxmlformats.org/package/2006/relationships"><Relationship Id="rId8" Type="http://schemas.openxmlformats.org/officeDocument/2006/relationships/image" Target="../media/image147.png"/><Relationship Id="rId13" Type="http://schemas.openxmlformats.org/officeDocument/2006/relationships/image" Target="../media/image152.png"/><Relationship Id="rId3" Type="http://schemas.openxmlformats.org/officeDocument/2006/relationships/image" Target="../media/image142.png"/><Relationship Id="rId7" Type="http://schemas.openxmlformats.org/officeDocument/2006/relationships/image" Target="../media/image146.png"/><Relationship Id="rId12" Type="http://schemas.openxmlformats.org/officeDocument/2006/relationships/image" Target="../media/image151.png"/><Relationship Id="rId17" Type="http://schemas.openxmlformats.org/officeDocument/2006/relationships/image" Target="../media/image156.png"/><Relationship Id="rId2" Type="http://schemas.openxmlformats.org/officeDocument/2006/relationships/image" Target="../media/image141.png"/><Relationship Id="rId16" Type="http://schemas.openxmlformats.org/officeDocument/2006/relationships/image" Target="../media/image155.png"/><Relationship Id="rId1" Type="http://schemas.openxmlformats.org/officeDocument/2006/relationships/image" Target="../media/image81.png"/><Relationship Id="rId6" Type="http://schemas.openxmlformats.org/officeDocument/2006/relationships/image" Target="../media/image145.png"/><Relationship Id="rId11" Type="http://schemas.openxmlformats.org/officeDocument/2006/relationships/image" Target="../media/image150.png"/><Relationship Id="rId5" Type="http://schemas.openxmlformats.org/officeDocument/2006/relationships/image" Target="../media/image144.png"/><Relationship Id="rId15" Type="http://schemas.openxmlformats.org/officeDocument/2006/relationships/image" Target="../media/image154.png"/><Relationship Id="rId10" Type="http://schemas.openxmlformats.org/officeDocument/2006/relationships/image" Target="../media/image149.png"/><Relationship Id="rId4" Type="http://schemas.openxmlformats.org/officeDocument/2006/relationships/image" Target="../media/image143.png"/><Relationship Id="rId9" Type="http://schemas.openxmlformats.org/officeDocument/2006/relationships/image" Target="../media/image148.png"/><Relationship Id="rId14" Type="http://schemas.openxmlformats.org/officeDocument/2006/relationships/image" Target="../media/image153.png"/></Relationships>
</file>

<file path=ppt/charts/_rels/chart26.xml.rels><?xml version="1.0" encoding="UTF-8" standalone="yes"?>
<Relationships xmlns="http://schemas.openxmlformats.org/package/2006/relationships"><Relationship Id="rId8" Type="http://schemas.openxmlformats.org/officeDocument/2006/relationships/image" Target="../media/image164.png"/><Relationship Id="rId3" Type="http://schemas.openxmlformats.org/officeDocument/2006/relationships/image" Target="../media/image159.png"/><Relationship Id="rId7" Type="http://schemas.openxmlformats.org/officeDocument/2006/relationships/image" Target="../media/image163.png"/><Relationship Id="rId2" Type="http://schemas.openxmlformats.org/officeDocument/2006/relationships/image" Target="../media/image158.png"/><Relationship Id="rId1" Type="http://schemas.openxmlformats.org/officeDocument/2006/relationships/image" Target="../media/image157.png"/><Relationship Id="rId6" Type="http://schemas.openxmlformats.org/officeDocument/2006/relationships/image" Target="../media/image162.png"/><Relationship Id="rId5" Type="http://schemas.openxmlformats.org/officeDocument/2006/relationships/image" Target="../media/image161.png"/><Relationship Id="rId4" Type="http://schemas.openxmlformats.org/officeDocument/2006/relationships/image" Target="../media/image160.png"/><Relationship Id="rId9" Type="http://schemas.openxmlformats.org/officeDocument/2006/relationships/image" Target="../media/image110.png"/></Relationships>
</file>

<file path=ppt/charts/_rels/chart27.xml.rels><?xml version="1.0" encoding="UTF-8" standalone="yes"?>
<Relationships xmlns="http://schemas.openxmlformats.org/package/2006/relationships"><Relationship Id="rId8" Type="http://schemas.openxmlformats.org/officeDocument/2006/relationships/image" Target="../media/image177.png"/><Relationship Id="rId3" Type="http://schemas.openxmlformats.org/officeDocument/2006/relationships/image" Target="../media/image172.png"/><Relationship Id="rId7" Type="http://schemas.openxmlformats.org/officeDocument/2006/relationships/image" Target="../media/image176.png"/><Relationship Id="rId2" Type="http://schemas.openxmlformats.org/officeDocument/2006/relationships/image" Target="../media/image171.png"/><Relationship Id="rId1" Type="http://schemas.openxmlformats.org/officeDocument/2006/relationships/image" Target="../media/image170.png"/><Relationship Id="rId6" Type="http://schemas.openxmlformats.org/officeDocument/2006/relationships/image" Target="../media/image175.png"/><Relationship Id="rId5" Type="http://schemas.openxmlformats.org/officeDocument/2006/relationships/image" Target="../media/image174.png"/><Relationship Id="rId10" Type="http://schemas.openxmlformats.org/officeDocument/2006/relationships/image" Target="../media/image179.png"/><Relationship Id="rId4" Type="http://schemas.openxmlformats.org/officeDocument/2006/relationships/image" Target="../media/image173.png"/><Relationship Id="rId9" Type="http://schemas.openxmlformats.org/officeDocument/2006/relationships/image" Target="../media/image178.png"/></Relationships>
</file>

<file path=ppt/charts/_rels/chart31.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png"/><Relationship Id="rId1" Type="http://schemas.openxmlformats.org/officeDocument/2006/relationships/image" Target="../media/image180.png"/><Relationship Id="rId6" Type="http://schemas.openxmlformats.org/officeDocument/2006/relationships/image" Target="../media/image185.png"/><Relationship Id="rId5" Type="http://schemas.openxmlformats.org/officeDocument/2006/relationships/image" Target="../media/image184.png"/><Relationship Id="rId4" Type="http://schemas.openxmlformats.org/officeDocument/2006/relationships/image" Target="../media/image183.png"/></Relationships>
</file>

<file path=ppt/charts/_rels/chart32.xml.rels><?xml version="1.0" encoding="UTF-8" standalone="yes"?>
<Relationships xmlns="http://schemas.openxmlformats.org/package/2006/relationships"><Relationship Id="rId8" Type="http://schemas.openxmlformats.org/officeDocument/2006/relationships/image" Target="../media/image162.png"/><Relationship Id="rId13" Type="http://schemas.openxmlformats.org/officeDocument/2006/relationships/image" Target="../media/image206.png"/><Relationship Id="rId18" Type="http://schemas.openxmlformats.org/officeDocument/2006/relationships/image" Target="../media/image209.png"/><Relationship Id="rId3" Type="http://schemas.openxmlformats.org/officeDocument/2006/relationships/image" Target="../media/image198.png"/><Relationship Id="rId21" Type="http://schemas.openxmlformats.org/officeDocument/2006/relationships/image" Target="../media/image212.png"/><Relationship Id="rId7" Type="http://schemas.openxmlformats.org/officeDocument/2006/relationships/image" Target="../media/image202.png"/><Relationship Id="rId12" Type="http://schemas.openxmlformats.org/officeDocument/2006/relationships/image" Target="../media/image109.png"/><Relationship Id="rId17" Type="http://schemas.openxmlformats.org/officeDocument/2006/relationships/image" Target="../media/image208.png"/><Relationship Id="rId2" Type="http://schemas.openxmlformats.org/officeDocument/2006/relationships/image" Target="../media/image197.png"/><Relationship Id="rId16" Type="http://schemas.openxmlformats.org/officeDocument/2006/relationships/image" Target="../media/image207.png"/><Relationship Id="rId20" Type="http://schemas.openxmlformats.org/officeDocument/2006/relationships/image" Target="../media/image211.png"/><Relationship Id="rId1" Type="http://schemas.openxmlformats.org/officeDocument/2006/relationships/image" Target="../media/image196.png"/><Relationship Id="rId6" Type="http://schemas.openxmlformats.org/officeDocument/2006/relationships/image" Target="../media/image201.png"/><Relationship Id="rId11" Type="http://schemas.openxmlformats.org/officeDocument/2006/relationships/image" Target="../media/image205.png"/><Relationship Id="rId5" Type="http://schemas.openxmlformats.org/officeDocument/2006/relationships/image" Target="../media/image200.png"/><Relationship Id="rId15" Type="http://schemas.openxmlformats.org/officeDocument/2006/relationships/image" Target="../media/image106.png"/><Relationship Id="rId10" Type="http://schemas.openxmlformats.org/officeDocument/2006/relationships/image" Target="../media/image204.png"/><Relationship Id="rId19" Type="http://schemas.openxmlformats.org/officeDocument/2006/relationships/image" Target="../media/image210.png"/><Relationship Id="rId4" Type="http://schemas.openxmlformats.org/officeDocument/2006/relationships/image" Target="../media/image199.png"/><Relationship Id="rId9" Type="http://schemas.openxmlformats.org/officeDocument/2006/relationships/image" Target="../media/image203.png"/><Relationship Id="rId14" Type="http://schemas.openxmlformats.org/officeDocument/2006/relationships/image" Target="../media/image141.png"/><Relationship Id="rId22" Type="http://schemas.openxmlformats.org/officeDocument/2006/relationships/image" Target="../media/image213.png"/></Relationships>
</file>

<file path=ppt/charts/_rels/chart38.xml.rels><?xml version="1.0" encoding="UTF-8" standalone="yes"?>
<Relationships xmlns="http://schemas.openxmlformats.org/package/2006/relationships"><Relationship Id="rId8" Type="http://schemas.openxmlformats.org/officeDocument/2006/relationships/image" Target="../media/image221.png"/><Relationship Id="rId3" Type="http://schemas.openxmlformats.org/officeDocument/2006/relationships/image" Target="../media/image216.png"/><Relationship Id="rId7" Type="http://schemas.openxmlformats.org/officeDocument/2006/relationships/image" Target="../media/image220.png"/><Relationship Id="rId12" Type="http://schemas.openxmlformats.org/officeDocument/2006/relationships/image" Target="../media/image212.png"/><Relationship Id="rId2" Type="http://schemas.openxmlformats.org/officeDocument/2006/relationships/image" Target="../media/image215.png"/><Relationship Id="rId1" Type="http://schemas.openxmlformats.org/officeDocument/2006/relationships/image" Target="../media/image214.png"/><Relationship Id="rId6" Type="http://schemas.openxmlformats.org/officeDocument/2006/relationships/image" Target="../media/image219.png"/><Relationship Id="rId11" Type="http://schemas.openxmlformats.org/officeDocument/2006/relationships/image" Target="../media/image224.png"/><Relationship Id="rId5" Type="http://schemas.openxmlformats.org/officeDocument/2006/relationships/image" Target="../media/image218.png"/><Relationship Id="rId10" Type="http://schemas.openxmlformats.org/officeDocument/2006/relationships/image" Target="../media/image223.png"/><Relationship Id="rId4" Type="http://schemas.openxmlformats.org/officeDocument/2006/relationships/image" Target="../media/image217.png"/><Relationship Id="rId9" Type="http://schemas.openxmlformats.org/officeDocument/2006/relationships/image" Target="../media/image222.png"/></Relationships>
</file>

<file path=ppt/charts/_rels/chart39.xml.rels><?xml version="1.0" encoding="UTF-8" standalone="yes"?>
<Relationships xmlns="http://schemas.openxmlformats.org/package/2006/relationships"><Relationship Id="rId8" Type="http://schemas.openxmlformats.org/officeDocument/2006/relationships/image" Target="../media/image235.png"/><Relationship Id="rId3" Type="http://schemas.openxmlformats.org/officeDocument/2006/relationships/image" Target="../media/image231.png"/><Relationship Id="rId7" Type="http://schemas.openxmlformats.org/officeDocument/2006/relationships/image" Target="../media/image234.png"/><Relationship Id="rId12" Type="http://schemas.openxmlformats.org/officeDocument/2006/relationships/image" Target="../media/image239.png"/><Relationship Id="rId2" Type="http://schemas.openxmlformats.org/officeDocument/2006/relationships/image" Target="../media/image230.png"/><Relationship Id="rId1" Type="http://schemas.openxmlformats.org/officeDocument/2006/relationships/image" Target="../media/image161.png"/><Relationship Id="rId6" Type="http://schemas.openxmlformats.org/officeDocument/2006/relationships/image" Target="../media/image233.png"/><Relationship Id="rId11" Type="http://schemas.openxmlformats.org/officeDocument/2006/relationships/image" Target="../media/image238.png"/><Relationship Id="rId5" Type="http://schemas.openxmlformats.org/officeDocument/2006/relationships/image" Target="../media/image232.png"/><Relationship Id="rId10" Type="http://schemas.openxmlformats.org/officeDocument/2006/relationships/image" Target="../media/image237.png"/><Relationship Id="rId4" Type="http://schemas.openxmlformats.org/officeDocument/2006/relationships/image" Target="../media/image202.png"/><Relationship Id="rId9" Type="http://schemas.openxmlformats.org/officeDocument/2006/relationships/image" Target="../media/image236.png"/></Relationships>
</file>

<file path=ppt/charts/_rels/chart43.xml.rels><?xml version="1.0" encoding="UTF-8" standalone="yes"?>
<Relationships xmlns="http://schemas.openxmlformats.org/package/2006/relationships"><Relationship Id="rId3" Type="http://schemas.openxmlformats.org/officeDocument/2006/relationships/image" Target="../media/image242.png"/><Relationship Id="rId2" Type="http://schemas.openxmlformats.org/officeDocument/2006/relationships/image" Target="../media/image241.png"/><Relationship Id="rId1" Type="http://schemas.openxmlformats.org/officeDocument/2006/relationships/image" Target="../media/image240.png"/><Relationship Id="rId6" Type="http://schemas.openxmlformats.org/officeDocument/2006/relationships/image" Target="../media/image244.png"/><Relationship Id="rId5" Type="http://schemas.openxmlformats.org/officeDocument/2006/relationships/image" Target="../media/image243.png"/><Relationship Id="rId4" Type="http://schemas.openxmlformats.org/officeDocument/2006/relationships/image" Target="../media/image205.png"/></Relationships>
</file>

<file path=ppt/charts/_rels/chart44.xml.rels><?xml version="1.0" encoding="UTF-8" standalone="yes"?>
<Relationships xmlns="http://schemas.openxmlformats.org/package/2006/relationships"><Relationship Id="rId13" Type="http://schemas.openxmlformats.org/officeDocument/2006/relationships/image" Target="../media/image272.png"/><Relationship Id="rId18" Type="http://schemas.openxmlformats.org/officeDocument/2006/relationships/image" Target="../media/image220.png"/><Relationship Id="rId26" Type="http://schemas.openxmlformats.org/officeDocument/2006/relationships/image" Target="../media/image132.png"/><Relationship Id="rId21" Type="http://schemas.openxmlformats.org/officeDocument/2006/relationships/image" Target="../media/image178.png"/><Relationship Id="rId34" Type="http://schemas.openxmlformats.org/officeDocument/2006/relationships/image" Target="../media/image283.png"/><Relationship Id="rId7" Type="http://schemas.openxmlformats.org/officeDocument/2006/relationships/image" Target="../media/image268.png"/><Relationship Id="rId12" Type="http://schemas.openxmlformats.org/officeDocument/2006/relationships/image" Target="../media/image208.png"/><Relationship Id="rId17" Type="http://schemas.openxmlformats.org/officeDocument/2006/relationships/image" Target="../media/image276.png"/><Relationship Id="rId25" Type="http://schemas.openxmlformats.org/officeDocument/2006/relationships/image" Target="../media/image83.png"/><Relationship Id="rId33" Type="http://schemas.openxmlformats.org/officeDocument/2006/relationships/image" Target="../media/image282.png"/><Relationship Id="rId2" Type="http://schemas.openxmlformats.org/officeDocument/2006/relationships/image" Target="../media/image265.png"/><Relationship Id="rId16" Type="http://schemas.openxmlformats.org/officeDocument/2006/relationships/image" Target="../media/image275.png"/><Relationship Id="rId20" Type="http://schemas.openxmlformats.org/officeDocument/2006/relationships/image" Target="../media/image130.png"/><Relationship Id="rId29" Type="http://schemas.openxmlformats.org/officeDocument/2006/relationships/image" Target="../media/image278.png"/><Relationship Id="rId1" Type="http://schemas.openxmlformats.org/officeDocument/2006/relationships/image" Target="../media/image184.png"/><Relationship Id="rId6" Type="http://schemas.openxmlformats.org/officeDocument/2006/relationships/image" Target="../media/image164.png"/><Relationship Id="rId11" Type="http://schemas.openxmlformats.org/officeDocument/2006/relationships/image" Target="../media/image213.png"/><Relationship Id="rId24" Type="http://schemas.openxmlformats.org/officeDocument/2006/relationships/image" Target="../media/image92.png"/><Relationship Id="rId32" Type="http://schemas.openxmlformats.org/officeDocument/2006/relationships/image" Target="../media/image281.png"/><Relationship Id="rId37" Type="http://schemas.openxmlformats.org/officeDocument/2006/relationships/image" Target="../media/image207.png"/><Relationship Id="rId5" Type="http://schemas.openxmlformats.org/officeDocument/2006/relationships/image" Target="../media/image267.png"/><Relationship Id="rId15" Type="http://schemas.openxmlformats.org/officeDocument/2006/relationships/image" Target="../media/image274.png"/><Relationship Id="rId23" Type="http://schemas.openxmlformats.org/officeDocument/2006/relationships/image" Target="../media/image107.png"/><Relationship Id="rId28" Type="http://schemas.openxmlformats.org/officeDocument/2006/relationships/image" Target="../media/image222.png"/><Relationship Id="rId36" Type="http://schemas.openxmlformats.org/officeDocument/2006/relationships/image" Target="../media/image284.png"/><Relationship Id="rId10" Type="http://schemas.openxmlformats.org/officeDocument/2006/relationships/image" Target="../media/image271.png"/><Relationship Id="rId19" Type="http://schemas.openxmlformats.org/officeDocument/2006/relationships/image" Target="../media/image277.png"/><Relationship Id="rId31" Type="http://schemas.openxmlformats.org/officeDocument/2006/relationships/image" Target="../media/image280.png"/><Relationship Id="rId4" Type="http://schemas.openxmlformats.org/officeDocument/2006/relationships/image" Target="../media/image144.png"/><Relationship Id="rId9" Type="http://schemas.openxmlformats.org/officeDocument/2006/relationships/image" Target="../media/image270.png"/><Relationship Id="rId14" Type="http://schemas.openxmlformats.org/officeDocument/2006/relationships/image" Target="../media/image273.png"/><Relationship Id="rId22" Type="http://schemas.openxmlformats.org/officeDocument/2006/relationships/image" Target="../media/image110.png"/><Relationship Id="rId27" Type="http://schemas.openxmlformats.org/officeDocument/2006/relationships/image" Target="../media/image108.png"/><Relationship Id="rId30" Type="http://schemas.openxmlformats.org/officeDocument/2006/relationships/image" Target="../media/image279.png"/><Relationship Id="rId35" Type="http://schemas.openxmlformats.org/officeDocument/2006/relationships/image" Target="../media/image55.png"/><Relationship Id="rId8" Type="http://schemas.openxmlformats.org/officeDocument/2006/relationships/image" Target="../media/image269.png"/><Relationship Id="rId3" Type="http://schemas.openxmlformats.org/officeDocument/2006/relationships/image" Target="../media/image266.png"/></Relationships>
</file>

<file path=ppt/charts/_rels/chart53.xml.rels><?xml version="1.0" encoding="UTF-8" standalone="yes"?>
<Relationships xmlns="http://schemas.openxmlformats.org/package/2006/relationships"><Relationship Id="rId8" Type="http://schemas.openxmlformats.org/officeDocument/2006/relationships/image" Target="../media/image288.png"/><Relationship Id="rId13" Type="http://schemas.openxmlformats.org/officeDocument/2006/relationships/image" Target="../media/image207.png"/><Relationship Id="rId18" Type="http://schemas.openxmlformats.org/officeDocument/2006/relationships/image" Target="../media/image213.png"/><Relationship Id="rId3" Type="http://schemas.openxmlformats.org/officeDocument/2006/relationships/image" Target="../media/image287.png"/><Relationship Id="rId21" Type="http://schemas.openxmlformats.org/officeDocument/2006/relationships/image" Target="../media/image275.png"/><Relationship Id="rId7" Type="http://schemas.openxmlformats.org/officeDocument/2006/relationships/image" Target="../media/image176.png"/><Relationship Id="rId12" Type="http://schemas.openxmlformats.org/officeDocument/2006/relationships/image" Target="../media/image291.png"/><Relationship Id="rId17" Type="http://schemas.openxmlformats.org/officeDocument/2006/relationships/image" Target="../media/image294.png"/><Relationship Id="rId2" Type="http://schemas.openxmlformats.org/officeDocument/2006/relationships/image" Target="../media/image286.png"/><Relationship Id="rId16" Type="http://schemas.openxmlformats.org/officeDocument/2006/relationships/image" Target="../media/image293.png"/><Relationship Id="rId20" Type="http://schemas.openxmlformats.org/officeDocument/2006/relationships/image" Target="../media/image295.png"/><Relationship Id="rId1" Type="http://schemas.openxmlformats.org/officeDocument/2006/relationships/image" Target="../media/image285.png"/><Relationship Id="rId6" Type="http://schemas.openxmlformats.org/officeDocument/2006/relationships/image" Target="../media/image282.png"/><Relationship Id="rId11" Type="http://schemas.openxmlformats.org/officeDocument/2006/relationships/image" Target="../media/image83.png"/><Relationship Id="rId5" Type="http://schemas.openxmlformats.org/officeDocument/2006/relationships/image" Target="../media/image222.png"/><Relationship Id="rId15" Type="http://schemas.openxmlformats.org/officeDocument/2006/relationships/image" Target="../media/image292.png"/><Relationship Id="rId10" Type="http://schemas.openxmlformats.org/officeDocument/2006/relationships/image" Target="../media/image290.png"/><Relationship Id="rId19" Type="http://schemas.openxmlformats.org/officeDocument/2006/relationships/image" Target="../media/image46.png"/><Relationship Id="rId4" Type="http://schemas.openxmlformats.org/officeDocument/2006/relationships/image" Target="../media/image269.png"/><Relationship Id="rId9" Type="http://schemas.openxmlformats.org/officeDocument/2006/relationships/image" Target="../media/image289.png"/><Relationship Id="rId14" Type="http://schemas.openxmlformats.org/officeDocument/2006/relationships/image" Target="../media/image131.png"/></Relationships>
</file>

<file path=ppt/charts/_rels/chart54.xml.rels><?xml version="1.0" encoding="UTF-8" standalone="yes"?>
<Relationships xmlns="http://schemas.openxmlformats.org/package/2006/relationships"><Relationship Id="rId8" Type="http://schemas.openxmlformats.org/officeDocument/2006/relationships/image" Target="../media/image307.png"/><Relationship Id="rId3" Type="http://schemas.openxmlformats.org/officeDocument/2006/relationships/image" Target="../media/image302.png"/><Relationship Id="rId7" Type="http://schemas.openxmlformats.org/officeDocument/2006/relationships/image" Target="../media/image306.png"/><Relationship Id="rId12" Type="http://schemas.openxmlformats.org/officeDocument/2006/relationships/image" Target="../media/image310.png"/><Relationship Id="rId2" Type="http://schemas.openxmlformats.org/officeDocument/2006/relationships/image" Target="../media/image301.png"/><Relationship Id="rId1" Type="http://schemas.openxmlformats.org/officeDocument/2006/relationships/image" Target="../media/image300.png"/><Relationship Id="rId6" Type="http://schemas.openxmlformats.org/officeDocument/2006/relationships/image" Target="../media/image305.png"/><Relationship Id="rId11" Type="http://schemas.openxmlformats.org/officeDocument/2006/relationships/image" Target="../media/image128.png"/><Relationship Id="rId5" Type="http://schemas.openxmlformats.org/officeDocument/2006/relationships/image" Target="../media/image304.png"/><Relationship Id="rId10" Type="http://schemas.openxmlformats.org/officeDocument/2006/relationships/image" Target="../media/image309.png"/><Relationship Id="rId4" Type="http://schemas.openxmlformats.org/officeDocument/2006/relationships/image" Target="../media/image303.png"/><Relationship Id="rId9" Type="http://schemas.openxmlformats.org/officeDocument/2006/relationships/image" Target="../media/image308.png"/></Relationships>
</file>

<file path=ppt/charts/_rels/chart58.xml.rels><?xml version="1.0" encoding="UTF-8" standalone="yes"?>
<Relationships xmlns="http://schemas.openxmlformats.org/package/2006/relationships"><Relationship Id="rId3" Type="http://schemas.openxmlformats.org/officeDocument/2006/relationships/image" Target="../media/image313.png"/><Relationship Id="rId2" Type="http://schemas.openxmlformats.org/officeDocument/2006/relationships/image" Target="../media/image312.png"/><Relationship Id="rId1" Type="http://schemas.openxmlformats.org/officeDocument/2006/relationships/image" Target="../media/image311.png"/><Relationship Id="rId6" Type="http://schemas.openxmlformats.org/officeDocument/2006/relationships/image" Target="../media/image316.png"/><Relationship Id="rId5" Type="http://schemas.openxmlformats.org/officeDocument/2006/relationships/image" Target="../media/image315.png"/><Relationship Id="rId4" Type="http://schemas.openxmlformats.org/officeDocument/2006/relationships/image" Target="../media/image314.png"/></Relationships>
</file>

<file path=ppt/charts/_rels/chart62.xml.rels><?xml version="1.0" encoding="UTF-8" standalone="yes"?>
<Relationships xmlns="http://schemas.openxmlformats.org/package/2006/relationships"><Relationship Id="rId1" Type="http://schemas.openxmlformats.org/officeDocument/2006/relationships/image" Target="../media/image3.png"/></Relationships>
</file>

<file path=ppt/charts/_rels/chart64.xml.rels><?xml version="1.0" encoding="UTF-8" standalone="yes"?>
<Relationships xmlns="http://schemas.openxmlformats.org/package/2006/relationships"><Relationship Id="rId1" Type="http://schemas.openxmlformats.org/officeDocument/2006/relationships/image" Target="../media/image3.png"/></Relationships>
</file>

<file path=ppt/charts/_rels/chart66.xml.rels><?xml version="1.0" encoding="UTF-8" standalone="yes"?>
<Relationships xmlns="http://schemas.openxmlformats.org/package/2006/relationships"><Relationship Id="rId8" Type="http://schemas.openxmlformats.org/officeDocument/2006/relationships/image" Target="../media/image324.png"/><Relationship Id="rId3" Type="http://schemas.openxmlformats.org/officeDocument/2006/relationships/image" Target="../media/image319.png"/><Relationship Id="rId7" Type="http://schemas.openxmlformats.org/officeDocument/2006/relationships/image" Target="../media/image323.png"/><Relationship Id="rId2" Type="http://schemas.openxmlformats.org/officeDocument/2006/relationships/image" Target="../media/image318.png"/><Relationship Id="rId1" Type="http://schemas.openxmlformats.org/officeDocument/2006/relationships/image" Target="../media/image317.png"/><Relationship Id="rId6" Type="http://schemas.openxmlformats.org/officeDocument/2006/relationships/image" Target="../media/image322.png"/><Relationship Id="rId5" Type="http://schemas.openxmlformats.org/officeDocument/2006/relationships/image" Target="../media/image321.png"/><Relationship Id="rId10" Type="http://schemas.openxmlformats.org/officeDocument/2006/relationships/image" Target="../media/image326.png"/><Relationship Id="rId4" Type="http://schemas.openxmlformats.org/officeDocument/2006/relationships/image" Target="../media/image320.png"/><Relationship Id="rId9" Type="http://schemas.openxmlformats.org/officeDocument/2006/relationships/image" Target="../media/image325.png"/></Relationships>
</file>

<file path=ppt/charts/_rels/chart67.xml.rels><?xml version="1.0" encoding="UTF-8" standalone="yes"?>
<Relationships xmlns="http://schemas.openxmlformats.org/package/2006/relationships"><Relationship Id="rId8" Type="http://schemas.openxmlformats.org/officeDocument/2006/relationships/image" Target="../media/image334.png"/><Relationship Id="rId13" Type="http://schemas.openxmlformats.org/officeDocument/2006/relationships/image" Target="../media/image339.png"/><Relationship Id="rId18" Type="http://schemas.openxmlformats.org/officeDocument/2006/relationships/image" Target="../media/image344.png"/><Relationship Id="rId3" Type="http://schemas.openxmlformats.org/officeDocument/2006/relationships/image" Target="../media/image329.png"/><Relationship Id="rId21" Type="http://schemas.openxmlformats.org/officeDocument/2006/relationships/image" Target="../media/image347.png"/><Relationship Id="rId7" Type="http://schemas.openxmlformats.org/officeDocument/2006/relationships/image" Target="../media/image333.png"/><Relationship Id="rId12" Type="http://schemas.openxmlformats.org/officeDocument/2006/relationships/image" Target="../media/image338.png"/><Relationship Id="rId17" Type="http://schemas.openxmlformats.org/officeDocument/2006/relationships/image" Target="../media/image343.png"/><Relationship Id="rId2" Type="http://schemas.openxmlformats.org/officeDocument/2006/relationships/image" Target="../media/image328.png"/><Relationship Id="rId16" Type="http://schemas.openxmlformats.org/officeDocument/2006/relationships/image" Target="../media/image342.png"/><Relationship Id="rId20" Type="http://schemas.openxmlformats.org/officeDocument/2006/relationships/image" Target="../media/image346.png"/><Relationship Id="rId1" Type="http://schemas.openxmlformats.org/officeDocument/2006/relationships/image" Target="../media/image327.png"/><Relationship Id="rId6" Type="http://schemas.openxmlformats.org/officeDocument/2006/relationships/image" Target="../media/image332.png"/><Relationship Id="rId11" Type="http://schemas.openxmlformats.org/officeDocument/2006/relationships/image" Target="../media/image337.png"/><Relationship Id="rId5" Type="http://schemas.openxmlformats.org/officeDocument/2006/relationships/image" Target="../media/image331.png"/><Relationship Id="rId15" Type="http://schemas.openxmlformats.org/officeDocument/2006/relationships/image" Target="../media/image341.png"/><Relationship Id="rId10" Type="http://schemas.openxmlformats.org/officeDocument/2006/relationships/image" Target="../media/image336.png"/><Relationship Id="rId19" Type="http://schemas.openxmlformats.org/officeDocument/2006/relationships/image" Target="../media/image345.png"/><Relationship Id="rId4" Type="http://schemas.openxmlformats.org/officeDocument/2006/relationships/image" Target="../media/image330.png"/><Relationship Id="rId9" Type="http://schemas.openxmlformats.org/officeDocument/2006/relationships/image" Target="../media/image335.png"/><Relationship Id="rId14" Type="http://schemas.openxmlformats.org/officeDocument/2006/relationships/image" Target="../media/image340.png"/><Relationship Id="rId22" Type="http://schemas.openxmlformats.org/officeDocument/2006/relationships/image" Target="../media/image348.png"/></Relationships>
</file>

<file path=ppt/charts/_rels/chart68.xml.rels><?xml version="1.0" encoding="UTF-8" standalone="yes"?>
<Relationships xmlns="http://schemas.openxmlformats.org/package/2006/relationships"><Relationship Id="rId2" Type="http://schemas.openxmlformats.org/officeDocument/2006/relationships/image" Target="../media/image350.png"/><Relationship Id="rId1" Type="http://schemas.openxmlformats.org/officeDocument/2006/relationships/image" Target="../media/image349.png"/></Relationships>
</file>

<file path=ppt/charts/_rels/chart69.xml.rels><?xml version="1.0" encoding="UTF-8" standalone="yes"?>
<Relationships xmlns="http://schemas.openxmlformats.org/package/2006/relationships"><Relationship Id="rId2" Type="http://schemas.openxmlformats.org/officeDocument/2006/relationships/image" Target="../media/image303.png"/><Relationship Id="rId1" Type="http://schemas.openxmlformats.org/officeDocument/2006/relationships/image" Target="../media/image309.png"/></Relationships>
</file>

<file path=ppt/charts/_rels/chart70.xml.rels><?xml version="1.0" encoding="UTF-8" standalone="yes"?>
<Relationships xmlns="http://schemas.openxmlformats.org/package/2006/relationships"><Relationship Id="rId3" Type="http://schemas.openxmlformats.org/officeDocument/2006/relationships/image" Target="../media/image353.png"/><Relationship Id="rId2" Type="http://schemas.openxmlformats.org/officeDocument/2006/relationships/image" Target="../media/image352.png"/><Relationship Id="rId1" Type="http://schemas.openxmlformats.org/officeDocument/2006/relationships/image" Target="../media/image351.png"/></Relationships>
</file>

<file path=ppt/charts/_rels/chart72.xml.rels><?xml version="1.0" encoding="UTF-8" standalone="yes"?>
<Relationships xmlns="http://schemas.openxmlformats.org/package/2006/relationships"><Relationship Id="rId3" Type="http://schemas.openxmlformats.org/officeDocument/2006/relationships/image" Target="../media/image356.png"/><Relationship Id="rId2" Type="http://schemas.openxmlformats.org/officeDocument/2006/relationships/image" Target="../media/image355.png"/><Relationship Id="rId1" Type="http://schemas.openxmlformats.org/officeDocument/2006/relationships/image" Target="../media/image354.png"/><Relationship Id="rId4" Type="http://schemas.openxmlformats.org/officeDocument/2006/relationships/image" Target="../media/image357.png"/></Relationships>
</file>

<file path=ppt/charts/_rels/chart73.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358.png"/><Relationship Id="rId1" Type="http://schemas.openxmlformats.org/officeDocument/2006/relationships/image" Target="../media/image304.png"/><Relationship Id="rId4" Type="http://schemas.openxmlformats.org/officeDocument/2006/relationships/image" Target="../media/image359.png"/></Relationships>
</file>

<file path=ppt/charts/_rels/chart74.xml.rels><?xml version="1.0" encoding="UTF-8" standalone="yes"?>
<Relationships xmlns="http://schemas.openxmlformats.org/package/2006/relationships"><Relationship Id="rId8" Type="http://schemas.openxmlformats.org/officeDocument/2006/relationships/image" Target="../media/image367.png"/><Relationship Id="rId13" Type="http://schemas.openxmlformats.org/officeDocument/2006/relationships/image" Target="../media/image372.png"/><Relationship Id="rId18" Type="http://schemas.openxmlformats.org/officeDocument/2006/relationships/image" Target="../media/image377.png"/><Relationship Id="rId26" Type="http://schemas.openxmlformats.org/officeDocument/2006/relationships/image" Target="../media/image385.png"/><Relationship Id="rId3" Type="http://schemas.openxmlformats.org/officeDocument/2006/relationships/image" Target="../media/image362.png"/><Relationship Id="rId21" Type="http://schemas.openxmlformats.org/officeDocument/2006/relationships/image" Target="../media/image380.png"/><Relationship Id="rId7" Type="http://schemas.openxmlformats.org/officeDocument/2006/relationships/image" Target="../media/image366.png"/><Relationship Id="rId12" Type="http://schemas.openxmlformats.org/officeDocument/2006/relationships/image" Target="../media/image371.png"/><Relationship Id="rId17" Type="http://schemas.openxmlformats.org/officeDocument/2006/relationships/image" Target="../media/image376.png"/><Relationship Id="rId25" Type="http://schemas.openxmlformats.org/officeDocument/2006/relationships/image" Target="../media/image384.png"/><Relationship Id="rId2" Type="http://schemas.openxmlformats.org/officeDocument/2006/relationships/image" Target="../media/image361.png"/><Relationship Id="rId16" Type="http://schemas.openxmlformats.org/officeDocument/2006/relationships/image" Target="../media/image375.png"/><Relationship Id="rId20" Type="http://schemas.openxmlformats.org/officeDocument/2006/relationships/image" Target="../media/image379.png"/><Relationship Id="rId29" Type="http://schemas.openxmlformats.org/officeDocument/2006/relationships/image" Target="../media/image388.png"/><Relationship Id="rId1" Type="http://schemas.openxmlformats.org/officeDocument/2006/relationships/image" Target="../media/image360.png"/><Relationship Id="rId6" Type="http://schemas.openxmlformats.org/officeDocument/2006/relationships/image" Target="../media/image365.png"/><Relationship Id="rId11" Type="http://schemas.openxmlformats.org/officeDocument/2006/relationships/image" Target="../media/image370.png"/><Relationship Id="rId24" Type="http://schemas.openxmlformats.org/officeDocument/2006/relationships/image" Target="../media/image383.png"/><Relationship Id="rId32" Type="http://schemas.openxmlformats.org/officeDocument/2006/relationships/image" Target="../media/image391.png"/><Relationship Id="rId5" Type="http://schemas.openxmlformats.org/officeDocument/2006/relationships/image" Target="../media/image364.png"/><Relationship Id="rId15" Type="http://schemas.openxmlformats.org/officeDocument/2006/relationships/image" Target="../media/image374.png"/><Relationship Id="rId23" Type="http://schemas.openxmlformats.org/officeDocument/2006/relationships/image" Target="../media/image382.png"/><Relationship Id="rId28" Type="http://schemas.openxmlformats.org/officeDocument/2006/relationships/image" Target="../media/image387.png"/><Relationship Id="rId10" Type="http://schemas.openxmlformats.org/officeDocument/2006/relationships/image" Target="../media/image369.png"/><Relationship Id="rId19" Type="http://schemas.openxmlformats.org/officeDocument/2006/relationships/image" Target="../media/image378.png"/><Relationship Id="rId31" Type="http://schemas.openxmlformats.org/officeDocument/2006/relationships/image" Target="../media/image390.png"/><Relationship Id="rId4" Type="http://schemas.openxmlformats.org/officeDocument/2006/relationships/image" Target="../media/image363.png"/><Relationship Id="rId9" Type="http://schemas.openxmlformats.org/officeDocument/2006/relationships/image" Target="../media/image368.png"/><Relationship Id="rId14" Type="http://schemas.openxmlformats.org/officeDocument/2006/relationships/image" Target="../media/image373.png"/><Relationship Id="rId22" Type="http://schemas.openxmlformats.org/officeDocument/2006/relationships/image" Target="../media/image381.png"/><Relationship Id="rId27" Type="http://schemas.openxmlformats.org/officeDocument/2006/relationships/image" Target="../media/image386.png"/><Relationship Id="rId30" Type="http://schemas.openxmlformats.org/officeDocument/2006/relationships/image" Target="../media/image389.png"/></Relationships>
</file>

<file path=ppt/charts/_rels/chart75.xml.rels><?xml version="1.0" encoding="UTF-8" standalone="yes"?>
<Relationships xmlns="http://schemas.openxmlformats.org/package/2006/relationships"><Relationship Id="rId8" Type="http://schemas.openxmlformats.org/officeDocument/2006/relationships/image" Target="../media/image399.png"/><Relationship Id="rId13" Type="http://schemas.openxmlformats.org/officeDocument/2006/relationships/image" Target="../media/image404.png"/><Relationship Id="rId18" Type="http://schemas.openxmlformats.org/officeDocument/2006/relationships/image" Target="../media/image409.png"/><Relationship Id="rId26" Type="http://schemas.openxmlformats.org/officeDocument/2006/relationships/image" Target="../media/image417.png"/><Relationship Id="rId3" Type="http://schemas.openxmlformats.org/officeDocument/2006/relationships/image" Target="../media/image394.png"/><Relationship Id="rId21" Type="http://schemas.openxmlformats.org/officeDocument/2006/relationships/image" Target="../media/image412.png"/><Relationship Id="rId7" Type="http://schemas.openxmlformats.org/officeDocument/2006/relationships/image" Target="../media/image398.png"/><Relationship Id="rId12" Type="http://schemas.openxmlformats.org/officeDocument/2006/relationships/image" Target="../media/image403.png"/><Relationship Id="rId17" Type="http://schemas.openxmlformats.org/officeDocument/2006/relationships/image" Target="../media/image408.png"/><Relationship Id="rId25" Type="http://schemas.openxmlformats.org/officeDocument/2006/relationships/image" Target="../media/image416.png"/><Relationship Id="rId2" Type="http://schemas.openxmlformats.org/officeDocument/2006/relationships/image" Target="../media/image393.png"/><Relationship Id="rId16" Type="http://schemas.openxmlformats.org/officeDocument/2006/relationships/image" Target="../media/image407.png"/><Relationship Id="rId20" Type="http://schemas.openxmlformats.org/officeDocument/2006/relationships/image" Target="../media/image411.png"/><Relationship Id="rId29" Type="http://schemas.openxmlformats.org/officeDocument/2006/relationships/image" Target="../media/image420.png"/><Relationship Id="rId1" Type="http://schemas.openxmlformats.org/officeDocument/2006/relationships/image" Target="../media/image392.png"/><Relationship Id="rId6" Type="http://schemas.openxmlformats.org/officeDocument/2006/relationships/image" Target="../media/image397.png"/><Relationship Id="rId11" Type="http://schemas.openxmlformats.org/officeDocument/2006/relationships/image" Target="../media/image402.png"/><Relationship Id="rId24" Type="http://schemas.openxmlformats.org/officeDocument/2006/relationships/image" Target="../media/image415.png"/><Relationship Id="rId32" Type="http://schemas.openxmlformats.org/officeDocument/2006/relationships/image" Target="../media/image423.png"/><Relationship Id="rId5" Type="http://schemas.openxmlformats.org/officeDocument/2006/relationships/image" Target="../media/image396.png"/><Relationship Id="rId15" Type="http://schemas.openxmlformats.org/officeDocument/2006/relationships/image" Target="../media/image406.png"/><Relationship Id="rId23" Type="http://schemas.openxmlformats.org/officeDocument/2006/relationships/image" Target="../media/image414.png"/><Relationship Id="rId28" Type="http://schemas.openxmlformats.org/officeDocument/2006/relationships/image" Target="../media/image419.png"/><Relationship Id="rId10" Type="http://schemas.openxmlformats.org/officeDocument/2006/relationships/image" Target="../media/image401.png"/><Relationship Id="rId19" Type="http://schemas.openxmlformats.org/officeDocument/2006/relationships/image" Target="../media/image410.png"/><Relationship Id="rId31" Type="http://schemas.openxmlformats.org/officeDocument/2006/relationships/image" Target="../media/image422.png"/><Relationship Id="rId4" Type="http://schemas.openxmlformats.org/officeDocument/2006/relationships/image" Target="../media/image395.png"/><Relationship Id="rId9" Type="http://schemas.openxmlformats.org/officeDocument/2006/relationships/image" Target="../media/image400.png"/><Relationship Id="rId14" Type="http://schemas.openxmlformats.org/officeDocument/2006/relationships/image" Target="../media/image405.png"/><Relationship Id="rId22" Type="http://schemas.openxmlformats.org/officeDocument/2006/relationships/image" Target="../media/image413.png"/><Relationship Id="rId27" Type="http://schemas.openxmlformats.org/officeDocument/2006/relationships/image" Target="../media/image418.png"/><Relationship Id="rId30" Type="http://schemas.openxmlformats.org/officeDocument/2006/relationships/image" Target="../media/image421.png"/></Relationships>
</file>

<file path=ppt/charts/_rels/chart76.xml.rels><?xml version="1.0" encoding="UTF-8" standalone="yes"?>
<Relationships xmlns="http://schemas.openxmlformats.org/package/2006/relationships"><Relationship Id="rId3" Type="http://schemas.openxmlformats.org/officeDocument/2006/relationships/image" Target="../media/image430.png"/><Relationship Id="rId2" Type="http://schemas.openxmlformats.org/officeDocument/2006/relationships/image" Target="../media/image429.png"/><Relationship Id="rId1" Type="http://schemas.openxmlformats.org/officeDocument/2006/relationships/image" Target="../media/image428.png"/><Relationship Id="rId6" Type="http://schemas.openxmlformats.org/officeDocument/2006/relationships/image" Target="../media/image433.png"/><Relationship Id="rId5" Type="http://schemas.openxmlformats.org/officeDocument/2006/relationships/image" Target="../media/image432.png"/><Relationship Id="rId4" Type="http://schemas.openxmlformats.org/officeDocument/2006/relationships/image" Target="../media/image431.png"/></Relationships>
</file>

<file path=ppt/charts/_rels/chart81.xml.rels><?xml version="1.0" encoding="UTF-8" standalone="yes"?>
<Relationships xmlns="http://schemas.openxmlformats.org/package/2006/relationships"><Relationship Id="rId8" Type="http://schemas.openxmlformats.org/officeDocument/2006/relationships/image" Target="../media/image429.png"/><Relationship Id="rId3" Type="http://schemas.openxmlformats.org/officeDocument/2006/relationships/image" Target="../media/image123.png"/><Relationship Id="rId7" Type="http://schemas.openxmlformats.org/officeDocument/2006/relationships/image" Target="../media/image143.png"/><Relationship Id="rId2" Type="http://schemas.openxmlformats.org/officeDocument/2006/relationships/image" Target="../media/image435.png"/><Relationship Id="rId1" Type="http://schemas.openxmlformats.org/officeDocument/2006/relationships/image" Target="../media/image434.png"/><Relationship Id="rId6" Type="http://schemas.openxmlformats.org/officeDocument/2006/relationships/image" Target="../media/image117.png"/><Relationship Id="rId5" Type="http://schemas.openxmlformats.org/officeDocument/2006/relationships/image" Target="../media/image314.png"/><Relationship Id="rId4" Type="http://schemas.openxmlformats.org/officeDocument/2006/relationships/image" Target="../media/image436.png"/><Relationship Id="rId9" Type="http://schemas.openxmlformats.org/officeDocument/2006/relationships/image" Target="../media/image111.png"/></Relationships>
</file>

<file path=ppt/charts/_rels/chart82.xml.rels><?xml version="1.0" encoding="UTF-8" standalone="yes"?>
<Relationships xmlns="http://schemas.openxmlformats.org/package/2006/relationships"><Relationship Id="rId3" Type="http://schemas.openxmlformats.org/officeDocument/2006/relationships/image" Target="../media/image444.png"/><Relationship Id="rId2" Type="http://schemas.openxmlformats.org/officeDocument/2006/relationships/image" Target="../media/image184.png"/><Relationship Id="rId1" Type="http://schemas.openxmlformats.org/officeDocument/2006/relationships/image" Target="../media/image130.png"/><Relationship Id="rId6" Type="http://schemas.openxmlformats.org/officeDocument/2006/relationships/image" Target="../media/image156.png"/><Relationship Id="rId5" Type="http://schemas.openxmlformats.org/officeDocument/2006/relationships/image" Target="../media/image145.png"/><Relationship Id="rId4" Type="http://schemas.openxmlformats.org/officeDocument/2006/relationships/image" Target="../media/image445.png"/></Relationships>
</file>

<file path=ppt/charts/_rels/chart87.xml.rels><?xml version="1.0" encoding="UTF-8" standalone="yes"?>
<Relationships xmlns="http://schemas.openxmlformats.org/package/2006/relationships"><Relationship Id="rId8" Type="http://schemas.openxmlformats.org/officeDocument/2006/relationships/image" Target="../media/image449.png"/><Relationship Id="rId3" Type="http://schemas.openxmlformats.org/officeDocument/2006/relationships/image" Target="../media/image150.png"/><Relationship Id="rId7" Type="http://schemas.openxmlformats.org/officeDocument/2006/relationships/image" Target="../media/image281.png"/><Relationship Id="rId2" Type="http://schemas.openxmlformats.org/officeDocument/2006/relationships/image" Target="../media/image447.png"/><Relationship Id="rId1" Type="http://schemas.openxmlformats.org/officeDocument/2006/relationships/image" Target="../media/image446.png"/><Relationship Id="rId6" Type="http://schemas.openxmlformats.org/officeDocument/2006/relationships/image" Target="../media/image156.png"/><Relationship Id="rId5" Type="http://schemas.openxmlformats.org/officeDocument/2006/relationships/image" Target="../media/image199.png"/><Relationship Id="rId4" Type="http://schemas.openxmlformats.org/officeDocument/2006/relationships/image" Target="../media/image448.png"/><Relationship Id="rId9" Type="http://schemas.openxmlformats.org/officeDocument/2006/relationships/image" Target="../media/image144.png"/></Relationships>
</file>

<file path=ppt/charts/_rels/chart88.xml.rels><?xml version="1.0" encoding="UTF-8" standalone="yes"?>
<Relationships xmlns="http://schemas.openxmlformats.org/package/2006/relationships"><Relationship Id="rId3" Type="http://schemas.openxmlformats.org/officeDocument/2006/relationships/image" Target="../media/image221.png"/><Relationship Id="rId2" Type="http://schemas.openxmlformats.org/officeDocument/2006/relationships/image" Target="../media/image454.png"/><Relationship Id="rId1" Type="http://schemas.openxmlformats.org/officeDocument/2006/relationships/image" Target="../media/image453.png"/><Relationship Id="rId4" Type="http://schemas.openxmlformats.org/officeDocument/2006/relationships/image" Target="../media/image455.png"/></Relationships>
</file>

<file path=ppt/charts/_rels/chart92.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image" Target="../media/image457.png"/><Relationship Id="rId1" Type="http://schemas.openxmlformats.org/officeDocument/2006/relationships/image" Target="../media/image456.png"/><Relationship Id="rId6" Type="http://schemas.openxmlformats.org/officeDocument/2006/relationships/image" Target="../media/image179.png"/><Relationship Id="rId5" Type="http://schemas.openxmlformats.org/officeDocument/2006/relationships/image" Target="../media/image458.png"/><Relationship Id="rId4" Type="http://schemas.openxmlformats.org/officeDocument/2006/relationships/image" Target="../media/image449.png"/></Relationships>
</file>

<file path=ppt/charts/_rels/chart93.xml.rels><?xml version="1.0" encoding="UTF-8" standalone="yes"?>
<Relationships xmlns="http://schemas.openxmlformats.org/package/2006/relationships"><Relationship Id="rId8" Type="http://schemas.openxmlformats.org/officeDocument/2006/relationships/image" Target="../media/image213.png"/><Relationship Id="rId3" Type="http://schemas.openxmlformats.org/officeDocument/2006/relationships/image" Target="../media/image314.png"/><Relationship Id="rId7" Type="http://schemas.openxmlformats.org/officeDocument/2006/relationships/image" Target="../media/image224.png"/><Relationship Id="rId2" Type="http://schemas.openxmlformats.org/officeDocument/2006/relationships/image" Target="../media/image469.png"/><Relationship Id="rId1" Type="http://schemas.openxmlformats.org/officeDocument/2006/relationships/image" Target="../media/image158.png"/><Relationship Id="rId6" Type="http://schemas.openxmlformats.org/officeDocument/2006/relationships/image" Target="../media/image470.png"/><Relationship Id="rId5" Type="http://schemas.openxmlformats.org/officeDocument/2006/relationships/image" Target="../media/image110.png"/><Relationship Id="rId4" Type="http://schemas.openxmlformats.org/officeDocument/2006/relationships/image" Target="../media/image436.png"/></Relationships>
</file>

<file path=ppt/charts/_rels/chart99.xml.rels><?xml version="1.0" encoding="UTF-8" standalone="yes"?>
<Relationships xmlns="http://schemas.openxmlformats.org/package/2006/relationships"><Relationship Id="rId8" Type="http://schemas.openxmlformats.org/officeDocument/2006/relationships/image" Target="../media/image144.png"/><Relationship Id="rId3" Type="http://schemas.openxmlformats.org/officeDocument/2006/relationships/image" Target="../media/image200.png"/><Relationship Id="rId7" Type="http://schemas.openxmlformats.org/officeDocument/2006/relationships/image" Target="../media/image184.png"/><Relationship Id="rId12" Type="http://schemas.openxmlformats.org/officeDocument/2006/relationships/image" Target="../media/image213.png"/><Relationship Id="rId2" Type="http://schemas.openxmlformats.org/officeDocument/2006/relationships/image" Target="../media/image231.png"/><Relationship Id="rId1" Type="http://schemas.openxmlformats.org/officeDocument/2006/relationships/image" Target="../media/image145.png"/><Relationship Id="rId6" Type="http://schemas.openxmlformats.org/officeDocument/2006/relationships/image" Target="../media/image205.png"/><Relationship Id="rId11" Type="http://schemas.openxmlformats.org/officeDocument/2006/relationships/image" Target="../media/image474.png"/><Relationship Id="rId5" Type="http://schemas.openxmlformats.org/officeDocument/2006/relationships/image" Target="../media/image472.png"/><Relationship Id="rId10" Type="http://schemas.openxmlformats.org/officeDocument/2006/relationships/image" Target="../media/image473.png"/><Relationship Id="rId4" Type="http://schemas.openxmlformats.org/officeDocument/2006/relationships/image" Target="../media/image471.png"/><Relationship Id="rId9" Type="http://schemas.openxmlformats.org/officeDocument/2006/relationships/image" Target="../media/image207.png"/></Relationships>
</file>

<file path=ppt/charts/_rels/chart100.xml.rels><?xml version="1.0" encoding="UTF-8" standalone="yes"?>
<Relationships xmlns="http://schemas.openxmlformats.org/package/2006/relationships"><Relationship Id="rId3" Type="http://schemas.openxmlformats.org/officeDocument/2006/relationships/image" Target="../media/image481.png"/><Relationship Id="rId2" Type="http://schemas.openxmlformats.org/officeDocument/2006/relationships/image" Target="../media/image446.png"/><Relationship Id="rId1" Type="http://schemas.openxmlformats.org/officeDocument/2006/relationships/image" Target="../media/image480.png"/><Relationship Id="rId4" Type="http://schemas.openxmlformats.org/officeDocument/2006/relationships/image" Target="../media/image482.png"/></Relationships>
</file>

<file path=ppt/charts/_rels/chart104.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image" Target="../media/image483.png"/><Relationship Id="rId1" Type="http://schemas.openxmlformats.org/officeDocument/2006/relationships/image" Target="../media/image240.png"/><Relationship Id="rId6" Type="http://schemas.openxmlformats.org/officeDocument/2006/relationships/image" Target="../media/image233.png"/><Relationship Id="rId5" Type="http://schemas.openxmlformats.org/officeDocument/2006/relationships/image" Target="../media/image146.png"/><Relationship Id="rId4" Type="http://schemas.openxmlformats.org/officeDocument/2006/relationships/image" Target="../media/image205.png"/></Relationships>
</file>

<file path=ppt/charts/_rels/chart105.xml.rels><?xml version="1.0" encoding="UTF-8" standalone="yes"?>
<Relationships xmlns="http://schemas.openxmlformats.org/package/2006/relationships"><Relationship Id="rId8" Type="http://schemas.openxmlformats.org/officeDocument/2006/relationships/image" Target="../media/image207.png"/><Relationship Id="rId13" Type="http://schemas.openxmlformats.org/officeDocument/2006/relationships/image" Target="../media/image183.png"/><Relationship Id="rId3" Type="http://schemas.openxmlformats.org/officeDocument/2006/relationships/image" Target="../media/image503.png"/><Relationship Id="rId7" Type="http://schemas.openxmlformats.org/officeDocument/2006/relationships/image" Target="../media/image506.png"/><Relationship Id="rId12" Type="http://schemas.openxmlformats.org/officeDocument/2006/relationships/image" Target="../media/image509.png"/><Relationship Id="rId2" Type="http://schemas.openxmlformats.org/officeDocument/2006/relationships/image" Target="../media/image502.png"/><Relationship Id="rId1" Type="http://schemas.openxmlformats.org/officeDocument/2006/relationships/image" Target="../media/image501.png"/><Relationship Id="rId6" Type="http://schemas.openxmlformats.org/officeDocument/2006/relationships/image" Target="../media/image274.png"/><Relationship Id="rId11" Type="http://schemas.openxmlformats.org/officeDocument/2006/relationships/image" Target="../media/image508.png"/><Relationship Id="rId5" Type="http://schemas.openxmlformats.org/officeDocument/2006/relationships/image" Target="../media/image505.png"/><Relationship Id="rId10" Type="http://schemas.openxmlformats.org/officeDocument/2006/relationships/image" Target="../media/image55.png"/><Relationship Id="rId4" Type="http://schemas.openxmlformats.org/officeDocument/2006/relationships/image" Target="../media/image504.png"/><Relationship Id="rId9" Type="http://schemas.openxmlformats.org/officeDocument/2006/relationships/image" Target="../media/image507.png"/><Relationship Id="rId14" Type="http://schemas.openxmlformats.org/officeDocument/2006/relationships/image" Target="../media/image294.png"/></Relationships>
</file>

<file path=ppt/charts/_rels/chart114.xml.rels><?xml version="1.0" encoding="UTF-8" standalone="yes"?>
<Relationships xmlns="http://schemas.openxmlformats.org/package/2006/relationships"><Relationship Id="rId8" Type="http://schemas.openxmlformats.org/officeDocument/2006/relationships/image" Target="../media/image511.png"/><Relationship Id="rId13" Type="http://schemas.openxmlformats.org/officeDocument/2006/relationships/image" Target="../media/image221.png"/><Relationship Id="rId18" Type="http://schemas.openxmlformats.org/officeDocument/2006/relationships/image" Target="../media/image208.png"/><Relationship Id="rId3" Type="http://schemas.openxmlformats.org/officeDocument/2006/relationships/image" Target="../media/image281.png"/><Relationship Id="rId21" Type="http://schemas.openxmlformats.org/officeDocument/2006/relationships/image" Target="../media/image276.png"/><Relationship Id="rId7" Type="http://schemas.openxmlformats.org/officeDocument/2006/relationships/image" Target="../media/image288.png"/><Relationship Id="rId12" Type="http://schemas.openxmlformats.org/officeDocument/2006/relationships/image" Target="../media/image107.png"/><Relationship Id="rId17" Type="http://schemas.openxmlformats.org/officeDocument/2006/relationships/image" Target="../media/image93.png"/><Relationship Id="rId2" Type="http://schemas.openxmlformats.org/officeDocument/2006/relationships/image" Target="../media/image176.png"/><Relationship Id="rId16" Type="http://schemas.openxmlformats.org/officeDocument/2006/relationships/image" Target="../media/image54.png"/><Relationship Id="rId20" Type="http://schemas.openxmlformats.org/officeDocument/2006/relationships/image" Target="../media/image47.png"/><Relationship Id="rId1" Type="http://schemas.openxmlformats.org/officeDocument/2006/relationships/image" Target="../media/image510.png"/><Relationship Id="rId6" Type="http://schemas.openxmlformats.org/officeDocument/2006/relationships/image" Target="../media/image164.png"/><Relationship Id="rId11" Type="http://schemas.openxmlformats.org/officeDocument/2006/relationships/image" Target="../media/image513.png"/><Relationship Id="rId5" Type="http://schemas.openxmlformats.org/officeDocument/2006/relationships/image" Target="../media/image131.png"/><Relationship Id="rId15" Type="http://schemas.openxmlformats.org/officeDocument/2006/relationships/image" Target="../media/image222.png"/><Relationship Id="rId10" Type="http://schemas.openxmlformats.org/officeDocument/2006/relationships/image" Target="../media/image512.png"/><Relationship Id="rId19" Type="http://schemas.openxmlformats.org/officeDocument/2006/relationships/image" Target="../media/image514.png"/><Relationship Id="rId4" Type="http://schemas.openxmlformats.org/officeDocument/2006/relationships/image" Target="../media/image292.png"/><Relationship Id="rId9" Type="http://schemas.openxmlformats.org/officeDocument/2006/relationships/image" Target="../media/image207.png"/><Relationship Id="rId14" Type="http://schemas.openxmlformats.org/officeDocument/2006/relationships/image" Target="../media/image291.png"/></Relationships>
</file>

<file path=ppt/charts/_rels/chart115.xml.rels><?xml version="1.0" encoding="UTF-8" standalone="yes"?>
<Relationships xmlns="http://schemas.openxmlformats.org/package/2006/relationships"><Relationship Id="rId3" Type="http://schemas.openxmlformats.org/officeDocument/2006/relationships/image" Target="../media/image521.png"/><Relationship Id="rId2" Type="http://schemas.openxmlformats.org/officeDocument/2006/relationships/image" Target="../media/image300.png"/><Relationship Id="rId1" Type="http://schemas.openxmlformats.org/officeDocument/2006/relationships/image" Target="../media/image520.png"/><Relationship Id="rId4" Type="http://schemas.openxmlformats.org/officeDocument/2006/relationships/image" Target="../media/image306.png"/></Relationships>
</file>

<file path=ppt/charts/_rels/chart119.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image" Target="../media/image523.png"/><Relationship Id="rId1" Type="http://schemas.openxmlformats.org/officeDocument/2006/relationships/image" Target="../media/image522.png"/><Relationship Id="rId6" Type="http://schemas.openxmlformats.org/officeDocument/2006/relationships/image" Target="../media/image310.png"/><Relationship Id="rId5" Type="http://schemas.openxmlformats.org/officeDocument/2006/relationships/image" Target="../media/image127.png"/><Relationship Id="rId4" Type="http://schemas.openxmlformats.org/officeDocument/2006/relationships/image" Target="../media/image88.png"/></Relationships>
</file>

<file path=ppt/charts/_rels/chart159.xml.rels><?xml version="1.0" encoding="UTF-8" standalone="yes"?>
<Relationships xmlns="http://schemas.openxmlformats.org/package/2006/relationships"><Relationship Id="rId8" Type="http://schemas.openxmlformats.org/officeDocument/2006/relationships/image" Target="../media/image527.png"/><Relationship Id="rId3" Type="http://schemas.openxmlformats.org/officeDocument/2006/relationships/image" Target="../media/image53.png"/><Relationship Id="rId7" Type="http://schemas.openxmlformats.org/officeDocument/2006/relationships/image" Target="../media/image47.png"/><Relationship Id="rId2" Type="http://schemas.openxmlformats.org/officeDocument/2006/relationships/image" Target="../media/image106.png"/><Relationship Id="rId1" Type="http://schemas.openxmlformats.org/officeDocument/2006/relationships/image" Target="../media/image107.png"/><Relationship Id="rId6" Type="http://schemas.openxmlformats.org/officeDocument/2006/relationships/image" Target="../media/image526.png"/><Relationship Id="rId5" Type="http://schemas.openxmlformats.org/officeDocument/2006/relationships/image" Target="../media/image525.png"/><Relationship Id="rId10" Type="http://schemas.openxmlformats.org/officeDocument/2006/relationships/image" Target="../media/image529.png"/><Relationship Id="rId4" Type="http://schemas.openxmlformats.org/officeDocument/2006/relationships/image" Target="../media/image524.png"/><Relationship Id="rId9" Type="http://schemas.openxmlformats.org/officeDocument/2006/relationships/image" Target="../media/image528.png"/></Relationships>
</file>

<file path=ppt/charts/_rels/chart160.xml.rels><?xml version="1.0" encoding="UTF-8" standalone="yes"?>
<Relationships xmlns="http://schemas.openxmlformats.org/package/2006/relationships"><Relationship Id="rId8" Type="http://schemas.openxmlformats.org/officeDocument/2006/relationships/image" Target="../media/image534.png"/><Relationship Id="rId3" Type="http://schemas.openxmlformats.org/officeDocument/2006/relationships/image" Target="../media/image513.png"/><Relationship Id="rId7" Type="http://schemas.openxmlformats.org/officeDocument/2006/relationships/image" Target="../media/image49.png"/><Relationship Id="rId2" Type="http://schemas.openxmlformats.org/officeDocument/2006/relationships/image" Target="../media/image531.png"/><Relationship Id="rId1" Type="http://schemas.openxmlformats.org/officeDocument/2006/relationships/image" Target="../media/image530.png"/><Relationship Id="rId6" Type="http://schemas.openxmlformats.org/officeDocument/2006/relationships/image" Target="../media/image533.png"/><Relationship Id="rId11" Type="http://schemas.openxmlformats.org/officeDocument/2006/relationships/image" Target="../media/image536.png"/><Relationship Id="rId5" Type="http://schemas.openxmlformats.org/officeDocument/2006/relationships/image" Target="../media/image532.png"/><Relationship Id="rId10" Type="http://schemas.openxmlformats.org/officeDocument/2006/relationships/image" Target="../media/image535.png"/><Relationship Id="rId4" Type="http://schemas.openxmlformats.org/officeDocument/2006/relationships/image" Target="../media/image271.png"/><Relationship Id="rId9" Type="http://schemas.openxmlformats.org/officeDocument/2006/relationships/image" Target="../media/image48.png"/></Relationships>
</file>

<file path=ppt/charts/_rels/chart161.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109.png"/><Relationship Id="rId7" Type="http://schemas.openxmlformats.org/officeDocument/2006/relationships/image" Target="../media/image538.png"/><Relationship Id="rId2" Type="http://schemas.openxmlformats.org/officeDocument/2006/relationships/image" Target="../media/image106.png"/><Relationship Id="rId1" Type="http://schemas.openxmlformats.org/officeDocument/2006/relationships/image" Target="../media/image474.png"/><Relationship Id="rId6" Type="http://schemas.openxmlformats.org/officeDocument/2006/relationships/image" Target="../media/image275.png"/><Relationship Id="rId5" Type="http://schemas.openxmlformats.org/officeDocument/2006/relationships/image" Target="../media/image95.png"/><Relationship Id="rId10" Type="http://schemas.openxmlformats.org/officeDocument/2006/relationships/image" Target="../media/image539.png"/><Relationship Id="rId4" Type="http://schemas.openxmlformats.org/officeDocument/2006/relationships/image" Target="../media/image537.png"/><Relationship Id="rId9" Type="http://schemas.openxmlformats.org/officeDocument/2006/relationships/image" Target="../media/image514.png"/></Relationships>
</file>

<file path=ppt/charts/_rels/chart162.xml.rels><?xml version="1.0" encoding="UTF-8" standalone="yes"?>
<Relationships xmlns="http://schemas.openxmlformats.org/package/2006/relationships"><Relationship Id="rId8" Type="http://schemas.openxmlformats.org/officeDocument/2006/relationships/image" Target="../media/image544.png"/><Relationship Id="rId3" Type="http://schemas.openxmlformats.org/officeDocument/2006/relationships/image" Target="../media/image540.png"/><Relationship Id="rId7" Type="http://schemas.openxmlformats.org/officeDocument/2006/relationships/image" Target="../media/image543.png"/><Relationship Id="rId2" Type="http://schemas.openxmlformats.org/officeDocument/2006/relationships/image" Target="../media/image207.png"/><Relationship Id="rId1" Type="http://schemas.openxmlformats.org/officeDocument/2006/relationships/image" Target="../media/image283.png"/><Relationship Id="rId6" Type="http://schemas.openxmlformats.org/officeDocument/2006/relationships/image" Target="../media/image542.png"/><Relationship Id="rId11" Type="http://schemas.openxmlformats.org/officeDocument/2006/relationships/image" Target="../media/image285.png"/><Relationship Id="rId5" Type="http://schemas.openxmlformats.org/officeDocument/2006/relationships/image" Target="../media/image541.png"/><Relationship Id="rId10" Type="http://schemas.openxmlformats.org/officeDocument/2006/relationships/image" Target="../media/image545.png"/><Relationship Id="rId4" Type="http://schemas.openxmlformats.org/officeDocument/2006/relationships/image" Target="../media/image94.png"/><Relationship Id="rId9" Type="http://schemas.openxmlformats.org/officeDocument/2006/relationships/image" Target="../media/image534.png"/></Relationships>
</file>

<file path=ppt/charts/_rels/chart163.xml.rels><?xml version="1.0" encoding="UTF-8" standalone="yes"?>
<Relationships xmlns="http://schemas.openxmlformats.org/package/2006/relationships"><Relationship Id="rId8" Type="http://schemas.openxmlformats.org/officeDocument/2006/relationships/image" Target="../media/image549.png"/><Relationship Id="rId3" Type="http://schemas.openxmlformats.org/officeDocument/2006/relationships/image" Target="../media/image546.png"/><Relationship Id="rId7" Type="http://schemas.openxmlformats.org/officeDocument/2006/relationships/image" Target="../media/image548.png"/><Relationship Id="rId2" Type="http://schemas.openxmlformats.org/officeDocument/2006/relationships/image" Target="../media/image473.png"/><Relationship Id="rId1" Type="http://schemas.openxmlformats.org/officeDocument/2006/relationships/image" Target="../media/image289.png"/><Relationship Id="rId6" Type="http://schemas.openxmlformats.org/officeDocument/2006/relationships/image" Target="../media/image95.png"/><Relationship Id="rId5" Type="http://schemas.openxmlformats.org/officeDocument/2006/relationships/image" Target="../media/image94.png"/><Relationship Id="rId10" Type="http://schemas.openxmlformats.org/officeDocument/2006/relationships/image" Target="../media/image116.png"/><Relationship Id="rId4" Type="http://schemas.openxmlformats.org/officeDocument/2006/relationships/image" Target="../media/image547.png"/><Relationship Id="rId9" Type="http://schemas.openxmlformats.org/officeDocument/2006/relationships/image" Target="../media/image514.png"/></Relationships>
</file>

<file path=ppt/charts/_rels/chart164.xml.rels><?xml version="1.0" encoding="UTF-8" standalone="yes"?>
<Relationships xmlns="http://schemas.openxmlformats.org/package/2006/relationships"><Relationship Id="rId8" Type="http://schemas.openxmlformats.org/officeDocument/2006/relationships/image" Target="../media/image535.png"/><Relationship Id="rId3" Type="http://schemas.openxmlformats.org/officeDocument/2006/relationships/image" Target="../media/image271.png"/><Relationship Id="rId7" Type="http://schemas.openxmlformats.org/officeDocument/2006/relationships/image" Target="../media/image505.png"/><Relationship Id="rId2" Type="http://schemas.openxmlformats.org/officeDocument/2006/relationships/image" Target="../media/image507.png"/><Relationship Id="rId1" Type="http://schemas.openxmlformats.org/officeDocument/2006/relationships/image" Target="../media/image130.png"/><Relationship Id="rId6" Type="http://schemas.openxmlformats.org/officeDocument/2006/relationships/image" Target="../media/image551.png"/><Relationship Id="rId5" Type="http://schemas.openxmlformats.org/officeDocument/2006/relationships/image" Target="../media/image550.png"/><Relationship Id="rId4" Type="http://schemas.openxmlformats.org/officeDocument/2006/relationships/image" Target="../media/image290.png"/><Relationship Id="rId9" Type="http://schemas.openxmlformats.org/officeDocument/2006/relationships/image" Target="../media/image552.png"/></Relationships>
</file>

<file path=ppt/charts/_rels/chart165.xml.rels><?xml version="1.0" encoding="UTF-8" standalone="yes"?>
<Relationships xmlns="http://schemas.openxmlformats.org/package/2006/relationships"><Relationship Id="rId8" Type="http://schemas.openxmlformats.org/officeDocument/2006/relationships/image" Target="../media/image544.png"/><Relationship Id="rId3" Type="http://schemas.openxmlformats.org/officeDocument/2006/relationships/image" Target="../media/image206.png"/><Relationship Id="rId7" Type="http://schemas.openxmlformats.org/officeDocument/2006/relationships/image" Target="../media/image557.png"/><Relationship Id="rId2" Type="http://schemas.openxmlformats.org/officeDocument/2006/relationships/image" Target="../media/image554.png"/><Relationship Id="rId1" Type="http://schemas.openxmlformats.org/officeDocument/2006/relationships/image" Target="../media/image553.png"/><Relationship Id="rId6" Type="http://schemas.openxmlformats.org/officeDocument/2006/relationships/image" Target="../media/image556.png"/><Relationship Id="rId11" Type="http://schemas.openxmlformats.org/officeDocument/2006/relationships/image" Target="../media/image559.png"/><Relationship Id="rId5" Type="http://schemas.openxmlformats.org/officeDocument/2006/relationships/image" Target="../media/image51.png"/><Relationship Id="rId10" Type="http://schemas.openxmlformats.org/officeDocument/2006/relationships/image" Target="../media/image528.png"/><Relationship Id="rId4" Type="http://schemas.openxmlformats.org/officeDocument/2006/relationships/image" Target="../media/image555.png"/><Relationship Id="rId9" Type="http://schemas.openxmlformats.org/officeDocument/2006/relationships/image" Target="../media/image558.png"/></Relationships>
</file>

<file path=ppt/charts/_rels/chart166.xml.rels><?xml version="1.0" encoding="UTF-8" standalone="yes"?>
<Relationships xmlns="http://schemas.openxmlformats.org/package/2006/relationships"><Relationship Id="rId3" Type="http://schemas.openxmlformats.org/officeDocument/2006/relationships/image" Target="../media/image562.png"/><Relationship Id="rId2" Type="http://schemas.openxmlformats.org/officeDocument/2006/relationships/image" Target="../media/image561.png"/><Relationship Id="rId1" Type="http://schemas.openxmlformats.org/officeDocument/2006/relationships/image" Target="../media/image560.png"/><Relationship Id="rId4" Type="http://schemas.openxmlformats.org/officeDocument/2006/relationships/image" Target="../media/image563.png"/></Relationships>
</file>

<file path=ppt/charts/_rels/chart167.xml.rels><?xml version="1.0" encoding="UTF-8" standalone="yes"?>
<Relationships xmlns="http://schemas.openxmlformats.org/package/2006/relationships"><Relationship Id="rId3" Type="http://schemas.openxmlformats.org/officeDocument/2006/relationships/image" Target="../media/image566.png"/><Relationship Id="rId2" Type="http://schemas.openxmlformats.org/officeDocument/2006/relationships/image" Target="../media/image565.png"/><Relationship Id="rId1" Type="http://schemas.openxmlformats.org/officeDocument/2006/relationships/image" Target="../media/image564.png"/><Relationship Id="rId5" Type="http://schemas.openxmlformats.org/officeDocument/2006/relationships/image" Target="../media/image568.png"/><Relationship Id="rId4" Type="http://schemas.openxmlformats.org/officeDocument/2006/relationships/image" Target="../media/image567.png"/></Relationships>
</file>

<file path=ppt/charts/_rels/chart168.xml.rels><?xml version="1.0" encoding="UTF-8" standalone="yes"?>
<Relationships xmlns="http://schemas.openxmlformats.org/package/2006/relationships"><Relationship Id="rId3" Type="http://schemas.openxmlformats.org/officeDocument/2006/relationships/image" Target="../media/image570.png"/><Relationship Id="rId2" Type="http://schemas.openxmlformats.org/officeDocument/2006/relationships/image" Target="../media/image569.png"/><Relationship Id="rId1" Type="http://schemas.openxmlformats.org/officeDocument/2006/relationships/image" Target="../media/image492.png"/></Relationships>
</file>

<file path=ppt/charts/_rels/chart169.xml.rels><?xml version="1.0" encoding="UTF-8" standalone="yes"?>
<Relationships xmlns="http://schemas.openxmlformats.org/package/2006/relationships"><Relationship Id="rId8" Type="http://schemas.openxmlformats.org/officeDocument/2006/relationships/image" Target="../media/image566.png"/><Relationship Id="rId3" Type="http://schemas.openxmlformats.org/officeDocument/2006/relationships/image" Target="../media/image573.png"/><Relationship Id="rId7" Type="http://schemas.openxmlformats.org/officeDocument/2006/relationships/image" Target="../media/image565.png"/><Relationship Id="rId2" Type="http://schemas.openxmlformats.org/officeDocument/2006/relationships/image" Target="../media/image572.png"/><Relationship Id="rId1" Type="http://schemas.openxmlformats.org/officeDocument/2006/relationships/image" Target="../media/image571.png"/><Relationship Id="rId6" Type="http://schemas.openxmlformats.org/officeDocument/2006/relationships/image" Target="../media/image564.png"/><Relationship Id="rId5" Type="http://schemas.openxmlformats.org/officeDocument/2006/relationships/image" Target="../media/image575.png"/><Relationship Id="rId10" Type="http://schemas.openxmlformats.org/officeDocument/2006/relationships/image" Target="../media/image568.png"/><Relationship Id="rId4" Type="http://schemas.openxmlformats.org/officeDocument/2006/relationships/image" Target="../media/image574.png"/><Relationship Id="rId9" Type="http://schemas.openxmlformats.org/officeDocument/2006/relationships/image" Target="../media/image567.png"/></Relationships>
</file>

<file path=ppt/charts/_rels/chart170.xml.rels><?xml version="1.0" encoding="UTF-8" standalone="yes"?>
<Relationships xmlns="http://schemas.openxmlformats.org/package/2006/relationships"><Relationship Id="rId3" Type="http://schemas.openxmlformats.org/officeDocument/2006/relationships/image" Target="../media/image578.png"/><Relationship Id="rId2" Type="http://schemas.openxmlformats.org/officeDocument/2006/relationships/image" Target="../media/image577.png"/><Relationship Id="rId1" Type="http://schemas.openxmlformats.org/officeDocument/2006/relationships/image" Target="../media/image576.png"/><Relationship Id="rId4" Type="http://schemas.openxmlformats.org/officeDocument/2006/relationships/image" Target="../media/image579.png"/></Relationships>
</file>

<file path=ppt/charts/_rels/chart171.xml.rels><?xml version="1.0" encoding="UTF-8" standalone="yes"?>
<Relationships xmlns="http://schemas.openxmlformats.org/package/2006/relationships"><Relationship Id="rId3" Type="http://schemas.openxmlformats.org/officeDocument/2006/relationships/image" Target="../media/image582.png"/><Relationship Id="rId2" Type="http://schemas.openxmlformats.org/officeDocument/2006/relationships/image" Target="../media/image581.png"/><Relationship Id="rId1" Type="http://schemas.openxmlformats.org/officeDocument/2006/relationships/image" Target="../media/image580.png"/><Relationship Id="rId5" Type="http://schemas.openxmlformats.org/officeDocument/2006/relationships/image" Target="../media/image584.png"/><Relationship Id="rId4" Type="http://schemas.openxmlformats.org/officeDocument/2006/relationships/image" Target="../media/image583.png"/></Relationships>
</file>

<file path=ppt/charts/_rels/chart172.xml.rels><?xml version="1.0" encoding="UTF-8" standalone="yes"?>
<Relationships xmlns="http://schemas.openxmlformats.org/package/2006/relationships"><Relationship Id="rId3" Type="http://schemas.openxmlformats.org/officeDocument/2006/relationships/image" Target="../media/image587.png"/><Relationship Id="rId2" Type="http://schemas.openxmlformats.org/officeDocument/2006/relationships/image" Target="../media/image586.png"/><Relationship Id="rId1" Type="http://schemas.openxmlformats.org/officeDocument/2006/relationships/image" Target="../media/image585.png"/></Relationships>
</file>

<file path=ppt/charts/_rels/chart173.xml.rels><?xml version="1.0" encoding="UTF-8" standalone="yes"?>
<Relationships xmlns="http://schemas.openxmlformats.org/package/2006/relationships"><Relationship Id="rId8" Type="http://schemas.openxmlformats.org/officeDocument/2006/relationships/image" Target="../media/image582.png"/><Relationship Id="rId3" Type="http://schemas.openxmlformats.org/officeDocument/2006/relationships/image" Target="../media/image590.png"/><Relationship Id="rId7" Type="http://schemas.openxmlformats.org/officeDocument/2006/relationships/image" Target="../media/image581.png"/><Relationship Id="rId2" Type="http://schemas.openxmlformats.org/officeDocument/2006/relationships/image" Target="../media/image589.png"/><Relationship Id="rId1" Type="http://schemas.openxmlformats.org/officeDocument/2006/relationships/image" Target="../media/image588.png"/><Relationship Id="rId6" Type="http://schemas.openxmlformats.org/officeDocument/2006/relationships/image" Target="../media/image580.png"/><Relationship Id="rId5" Type="http://schemas.openxmlformats.org/officeDocument/2006/relationships/image" Target="../media/image592.png"/><Relationship Id="rId10" Type="http://schemas.openxmlformats.org/officeDocument/2006/relationships/image" Target="../media/image584.png"/><Relationship Id="rId4" Type="http://schemas.openxmlformats.org/officeDocument/2006/relationships/image" Target="../media/image591.png"/><Relationship Id="rId9" Type="http://schemas.openxmlformats.org/officeDocument/2006/relationships/image" Target="../media/image583.png"/></Relationships>
</file>

<file path=ppt/charts/_rels/chart174.xml.rels><?xml version="1.0" encoding="UTF-8" standalone="yes"?>
<Relationships xmlns="http://schemas.openxmlformats.org/package/2006/relationships"><Relationship Id="rId3" Type="http://schemas.openxmlformats.org/officeDocument/2006/relationships/image" Target="../media/image595.png"/><Relationship Id="rId2" Type="http://schemas.openxmlformats.org/officeDocument/2006/relationships/image" Target="../media/image594.png"/><Relationship Id="rId1" Type="http://schemas.openxmlformats.org/officeDocument/2006/relationships/image" Target="../media/image593.png"/><Relationship Id="rId4" Type="http://schemas.openxmlformats.org/officeDocument/2006/relationships/image" Target="../media/image596.png"/></Relationships>
</file>

<file path=ppt/charts/_rels/chart175.xml.rels><?xml version="1.0" encoding="UTF-8" standalone="yes"?>
<Relationships xmlns="http://schemas.openxmlformats.org/package/2006/relationships"><Relationship Id="rId3" Type="http://schemas.openxmlformats.org/officeDocument/2006/relationships/image" Target="../media/image599.png"/><Relationship Id="rId2" Type="http://schemas.openxmlformats.org/officeDocument/2006/relationships/image" Target="../media/image598.png"/><Relationship Id="rId1" Type="http://schemas.openxmlformats.org/officeDocument/2006/relationships/image" Target="../media/image597.png"/><Relationship Id="rId5" Type="http://schemas.openxmlformats.org/officeDocument/2006/relationships/image" Target="../media/image601.png"/><Relationship Id="rId4" Type="http://schemas.openxmlformats.org/officeDocument/2006/relationships/image" Target="../media/image600.png"/></Relationships>
</file>

<file path=ppt/charts/_rels/chart176.xml.rels><?xml version="1.0" encoding="UTF-8" standalone="yes"?>
<Relationships xmlns="http://schemas.openxmlformats.org/package/2006/relationships"><Relationship Id="rId3" Type="http://schemas.openxmlformats.org/officeDocument/2006/relationships/image" Target="../media/image604.png"/><Relationship Id="rId2" Type="http://schemas.openxmlformats.org/officeDocument/2006/relationships/image" Target="../media/image603.png"/><Relationship Id="rId1" Type="http://schemas.openxmlformats.org/officeDocument/2006/relationships/image" Target="../media/image602.png"/></Relationships>
</file>

<file path=ppt/charts/_rels/chart177.xml.rels><?xml version="1.0" encoding="UTF-8" standalone="yes"?>
<Relationships xmlns="http://schemas.openxmlformats.org/package/2006/relationships"><Relationship Id="rId8" Type="http://schemas.openxmlformats.org/officeDocument/2006/relationships/image" Target="../media/image599.png"/><Relationship Id="rId3" Type="http://schemas.openxmlformats.org/officeDocument/2006/relationships/image" Target="../media/image607.png"/><Relationship Id="rId7" Type="http://schemas.openxmlformats.org/officeDocument/2006/relationships/image" Target="../media/image598.png"/><Relationship Id="rId2" Type="http://schemas.openxmlformats.org/officeDocument/2006/relationships/image" Target="../media/image606.png"/><Relationship Id="rId1" Type="http://schemas.openxmlformats.org/officeDocument/2006/relationships/image" Target="../media/image605.png"/><Relationship Id="rId6" Type="http://schemas.openxmlformats.org/officeDocument/2006/relationships/image" Target="../media/image597.png"/><Relationship Id="rId5" Type="http://schemas.openxmlformats.org/officeDocument/2006/relationships/image" Target="../media/image609.png"/><Relationship Id="rId10" Type="http://schemas.openxmlformats.org/officeDocument/2006/relationships/image" Target="../media/image601.png"/><Relationship Id="rId4" Type="http://schemas.openxmlformats.org/officeDocument/2006/relationships/image" Target="../media/image608.png"/><Relationship Id="rId9" Type="http://schemas.openxmlformats.org/officeDocument/2006/relationships/image" Target="../media/image600.png"/></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003E58"/>
            </a:solidFill>
            <a:ln>
              <a:noFill/>
            </a:ln>
          </c:spPr>
          <c:invertIfNegative val="1"/>
          <c:dLbls>
            <c:dLbl>
              <c:idx val="0"/>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183-468D-94EF-BD819DC0FB0B}"/>
                </c:ext>
              </c:extLst>
            </c:dLbl>
            <c:dLbl>
              <c:idx val="1"/>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183-468D-94EF-BD819DC0FB0B}"/>
                </c:ext>
              </c:extLst>
            </c:dLbl>
            <c:dLbl>
              <c:idx val="2"/>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183-468D-94EF-BD819DC0FB0B}"/>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2021–2026</c:v>
              </c:pt>
              <c:pt idx="1">
                <c:v>2026–2036</c:v>
              </c:pt>
              <c:pt idx="2">
                <c:v>2021–2036</c:v>
              </c:pt>
            </c:strLit>
          </c:cat>
          <c:val>
            <c:numLit>
              <c:formatCode>General</c:formatCode>
              <c:ptCount val="3"/>
              <c:pt idx="0">
                <c:v>3.2878013144811868</c:v>
              </c:pt>
              <c:pt idx="1">
                <c:v>4.1573703875693813</c:v>
              </c:pt>
              <c:pt idx="2">
                <c:v>3.8667036352828088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D183-468D-94EF-BD819DC0FB0B}"/>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5.4877289115915833"/>
          <c:min val="0"/>
        </c:scaling>
        <c:delete val="0"/>
        <c:axPos val="l"/>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5"/>
              <c:pt idx="0">
                <c:v>2021</c:v>
              </c:pt>
              <c:pt idx="1">
                <c:v>2021–2026</c:v>
              </c:pt>
              <c:pt idx="2">
                <c:v>2026</c:v>
              </c:pt>
              <c:pt idx="3">
                <c:v>2026–2036</c:v>
              </c:pt>
              <c:pt idx="4">
                <c:v>2036</c:v>
              </c:pt>
            </c:strLit>
          </c:cat>
          <c:val>
            <c:numLit>
              <c:formatCode>General</c:formatCode>
              <c:ptCount val="5"/>
              <c:pt idx="0">
                <c:v>0</c:v>
              </c:pt>
              <c:pt idx="1">
                <c:v>2847777.1040000003</c:v>
              </c:pt>
              <c:pt idx="2">
                <c:v>0</c:v>
              </c:pt>
              <c:pt idx="3">
                <c:v>3347735.6529999999</c:v>
              </c:pt>
              <c:pt idx="4">
                <c:v>0</c:v>
              </c:pt>
            </c:numLit>
          </c:val>
          <c:extLst>
            <c:ext xmlns:c16="http://schemas.microsoft.com/office/drawing/2014/chart" uri="{C3380CC4-5D6E-409C-BE32-E72D297353CC}">
              <c16:uniqueId val="{00000000-9870-4D9D-9FA4-8FFF7A3C0EC6}"/>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9870-4D9D-9FA4-8FFF7A3C0EC6}"/>
              </c:ext>
            </c:extLst>
          </c:dPt>
          <c:dPt>
            <c:idx val="1"/>
            <c:invertIfNegative val="1"/>
            <c:bubble3D val="0"/>
            <c:spPr>
              <a:solidFill>
                <a:srgbClr val="008189"/>
              </a:solidFill>
            </c:spPr>
            <c:extLst>
              <c:ext xmlns:c16="http://schemas.microsoft.com/office/drawing/2014/chart" uri="{C3380CC4-5D6E-409C-BE32-E72D297353CC}">
                <c16:uniqueId val="{00000004-9870-4D9D-9FA4-8FFF7A3C0EC6}"/>
              </c:ext>
            </c:extLst>
          </c:dPt>
          <c:dPt>
            <c:idx val="2"/>
            <c:invertIfNegative val="1"/>
            <c:bubble3D val="0"/>
            <c:spPr>
              <a:solidFill>
                <a:srgbClr val="0E72AE"/>
              </a:solidFill>
            </c:spPr>
            <c:extLst>
              <c:ext xmlns:c16="http://schemas.microsoft.com/office/drawing/2014/chart" uri="{C3380CC4-5D6E-409C-BE32-E72D297353CC}">
                <c16:uniqueId val="{00000006-9870-4D9D-9FA4-8FFF7A3C0EC6}"/>
              </c:ext>
            </c:extLst>
          </c:dPt>
          <c:dPt>
            <c:idx val="3"/>
            <c:invertIfNegative val="1"/>
            <c:bubble3D val="0"/>
            <c:spPr>
              <a:solidFill>
                <a:srgbClr val="008189"/>
              </a:solidFill>
            </c:spPr>
            <c:extLst>
              <c:ext xmlns:c16="http://schemas.microsoft.com/office/drawing/2014/chart" uri="{C3380CC4-5D6E-409C-BE32-E72D297353CC}">
                <c16:uniqueId val="{00000008-9870-4D9D-9FA4-8FFF7A3C0EC6}"/>
              </c:ext>
            </c:extLst>
          </c:dPt>
          <c:dPt>
            <c:idx val="4"/>
            <c:invertIfNegative val="1"/>
            <c:bubble3D val="0"/>
            <c:spPr>
              <a:solidFill>
                <a:srgbClr val="0E72AE"/>
              </a:solidFill>
            </c:spPr>
            <c:extLst>
              <c:ext xmlns:c16="http://schemas.microsoft.com/office/drawing/2014/chart" uri="{C3380CC4-5D6E-409C-BE32-E72D297353CC}">
                <c16:uniqueId val="{0000000A-9870-4D9D-9FA4-8FFF7A3C0EC6}"/>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870-4D9D-9FA4-8FFF7A3C0EC6}"/>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870-4D9D-9FA4-8FFF7A3C0EC6}"/>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870-4D9D-9FA4-8FFF7A3C0EC6}"/>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870-4D9D-9FA4-8FFF7A3C0EC6}"/>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9870-4D9D-9FA4-8FFF7A3C0EC6}"/>
                </c:ext>
              </c:extLst>
            </c:dLbl>
            <c:numFmt formatCode="#,##0.0,,&quot;M&quot;"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2021</c:v>
              </c:pt>
              <c:pt idx="1">
                <c:v>2021–2026</c:v>
              </c:pt>
              <c:pt idx="2">
                <c:v>2026</c:v>
              </c:pt>
              <c:pt idx="3">
                <c:v>2026–2036</c:v>
              </c:pt>
              <c:pt idx="4">
                <c:v>2036</c:v>
              </c:pt>
            </c:strLit>
          </c:cat>
          <c:val>
            <c:numLit>
              <c:formatCode>General</c:formatCode>
              <c:ptCount val="5"/>
              <c:pt idx="0">
                <c:v>2847777.1040000003</c:v>
              </c:pt>
              <c:pt idx="1">
                <c:v>499958.54899999965</c:v>
              </c:pt>
              <c:pt idx="2">
                <c:v>3347735.6529999999</c:v>
              </c:pt>
              <c:pt idx="3">
                <c:v>1683228.5460000001</c:v>
              </c:pt>
              <c:pt idx="4">
                <c:v>5030964.199</c:v>
              </c:pt>
            </c:numLit>
          </c:val>
          <c:extLst>
            <c:ext xmlns:c16="http://schemas.microsoft.com/office/drawing/2014/chart" uri="{C3380CC4-5D6E-409C-BE32-E72D297353CC}">
              <c16:uniqueId val="{0000000B-9870-4D9D-9FA4-8FFF7A3C0EC6}"/>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quot;M&quot;"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003E58"/>
            </a:solidFill>
            <a:ln>
              <a:noFill/>
            </a:ln>
          </c:spPr>
          <c:invertIfNegative val="1"/>
          <c:dLbls>
            <c:dLbl>
              <c:idx val="0"/>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92C-4554-A6D9-3DE56000B348}"/>
                </c:ext>
              </c:extLst>
            </c:dLbl>
            <c:dLbl>
              <c:idx val="1"/>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92C-4554-A6D9-3DE56000B348}"/>
                </c:ext>
              </c:extLst>
            </c:dLbl>
            <c:dLbl>
              <c:idx val="2"/>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92C-4554-A6D9-3DE56000B348}"/>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2021–2026</c:v>
              </c:pt>
              <c:pt idx="1">
                <c:v>2026–2036</c:v>
              </c:pt>
              <c:pt idx="2">
                <c:v>2021–2036</c:v>
              </c:pt>
            </c:strLit>
          </c:cat>
          <c:val>
            <c:numLit>
              <c:formatCode>General</c:formatCode>
              <c:ptCount val="3"/>
              <c:pt idx="0">
                <c:v>4.0732498069043332</c:v>
              </c:pt>
              <c:pt idx="1">
                <c:v>4.9506836640836882</c:v>
              </c:pt>
              <c:pt idx="2">
                <c:v>4.6573868232367754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092C-4554-A6D9-3DE56000B348}"/>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6.5349024365904684"/>
          <c:min val="0"/>
        </c:scaling>
        <c:delete val="0"/>
        <c:axPos val="l"/>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5"/>
              <c:pt idx="0">
                <c:v>2021</c:v>
              </c:pt>
              <c:pt idx="1">
                <c:v>2021–2026</c:v>
              </c:pt>
              <c:pt idx="2">
                <c:v>2026</c:v>
              </c:pt>
              <c:pt idx="3">
                <c:v>2026–2036</c:v>
              </c:pt>
              <c:pt idx="4">
                <c:v>2036</c:v>
              </c:pt>
            </c:strLit>
          </c:cat>
          <c:val>
            <c:numLit>
              <c:formatCode>General</c:formatCode>
              <c:ptCount val="5"/>
              <c:pt idx="0">
                <c:v>0</c:v>
              </c:pt>
              <c:pt idx="1">
                <c:v>2620.9229999999998</c:v>
              </c:pt>
              <c:pt idx="2">
                <c:v>0</c:v>
              </c:pt>
              <c:pt idx="3">
                <c:v>3199.9989999999998</c:v>
              </c:pt>
              <c:pt idx="4">
                <c:v>0</c:v>
              </c:pt>
            </c:numLit>
          </c:val>
          <c:extLst>
            <c:ext xmlns:c16="http://schemas.microsoft.com/office/drawing/2014/chart" uri="{C3380CC4-5D6E-409C-BE32-E72D297353CC}">
              <c16:uniqueId val="{00000000-9EFA-4B53-9106-DDD0E826D936}"/>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9EFA-4B53-9106-DDD0E826D936}"/>
              </c:ext>
            </c:extLst>
          </c:dPt>
          <c:dPt>
            <c:idx val="1"/>
            <c:invertIfNegative val="1"/>
            <c:bubble3D val="0"/>
            <c:spPr>
              <a:solidFill>
                <a:srgbClr val="008189"/>
              </a:solidFill>
            </c:spPr>
            <c:extLst>
              <c:ext xmlns:c16="http://schemas.microsoft.com/office/drawing/2014/chart" uri="{C3380CC4-5D6E-409C-BE32-E72D297353CC}">
                <c16:uniqueId val="{00000004-9EFA-4B53-9106-DDD0E826D936}"/>
              </c:ext>
            </c:extLst>
          </c:dPt>
          <c:dPt>
            <c:idx val="2"/>
            <c:invertIfNegative val="1"/>
            <c:bubble3D val="0"/>
            <c:spPr>
              <a:solidFill>
                <a:srgbClr val="0E72AE"/>
              </a:solidFill>
            </c:spPr>
            <c:extLst>
              <c:ext xmlns:c16="http://schemas.microsoft.com/office/drawing/2014/chart" uri="{C3380CC4-5D6E-409C-BE32-E72D297353CC}">
                <c16:uniqueId val="{00000006-9EFA-4B53-9106-DDD0E826D936}"/>
              </c:ext>
            </c:extLst>
          </c:dPt>
          <c:dPt>
            <c:idx val="3"/>
            <c:invertIfNegative val="1"/>
            <c:bubble3D val="0"/>
            <c:spPr>
              <a:solidFill>
                <a:srgbClr val="008189"/>
              </a:solidFill>
            </c:spPr>
            <c:extLst>
              <c:ext xmlns:c16="http://schemas.microsoft.com/office/drawing/2014/chart" uri="{C3380CC4-5D6E-409C-BE32-E72D297353CC}">
                <c16:uniqueId val="{00000008-9EFA-4B53-9106-DDD0E826D936}"/>
              </c:ext>
            </c:extLst>
          </c:dPt>
          <c:dPt>
            <c:idx val="4"/>
            <c:invertIfNegative val="1"/>
            <c:bubble3D val="0"/>
            <c:spPr>
              <a:solidFill>
                <a:srgbClr val="0E72AE"/>
              </a:solidFill>
            </c:spPr>
            <c:extLst>
              <c:ext xmlns:c16="http://schemas.microsoft.com/office/drawing/2014/chart" uri="{C3380CC4-5D6E-409C-BE32-E72D297353CC}">
                <c16:uniqueId val="{0000000A-9EFA-4B53-9106-DDD0E826D936}"/>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EFA-4B53-9106-DDD0E826D936}"/>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EFA-4B53-9106-DDD0E826D936}"/>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EFA-4B53-9106-DDD0E826D936}"/>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EFA-4B53-9106-DDD0E826D936}"/>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9EFA-4B53-9106-DDD0E826D936}"/>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2021</c:v>
              </c:pt>
              <c:pt idx="1">
                <c:v>2021–2026</c:v>
              </c:pt>
              <c:pt idx="2">
                <c:v>2026</c:v>
              </c:pt>
              <c:pt idx="3">
                <c:v>2026–2036</c:v>
              </c:pt>
              <c:pt idx="4">
                <c:v>2036</c:v>
              </c:pt>
            </c:strLit>
          </c:cat>
          <c:val>
            <c:numLit>
              <c:formatCode>General</c:formatCode>
              <c:ptCount val="5"/>
              <c:pt idx="0">
                <c:v>2620.9229999999998</c:v>
              </c:pt>
              <c:pt idx="1">
                <c:v>579.07600000000002</c:v>
              </c:pt>
              <c:pt idx="2">
                <c:v>3199.9989999999998</c:v>
              </c:pt>
              <c:pt idx="3">
                <c:v>1988.0320000000002</c:v>
              </c:pt>
              <c:pt idx="4">
                <c:v>5188.0309999999999</c:v>
              </c:pt>
            </c:numLit>
          </c:val>
          <c:extLst>
            <c:ext xmlns:c16="http://schemas.microsoft.com/office/drawing/2014/chart" uri="{C3380CC4-5D6E-409C-BE32-E72D297353CC}">
              <c16:uniqueId val="{0000000B-9EFA-4B53-9106-DDD0E826D936}"/>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Value (US$ Mn)</c:v>
          </c:tx>
          <c:spPr>
            <a:solidFill>
              <a:srgbClr val="69B1E0"/>
            </a:solidFill>
            <a:ln>
              <a:noFill/>
            </a:ln>
          </c:spPr>
          <c:invertIfNegative val="1"/>
          <c:dLbls>
            <c:dLbl>
              <c:idx val="0"/>
              <c:numFmt formatCode="&quot;MMMMMMM&quot;;&quot;MMMMMMM&quot;;&quot;MM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EA8-4097-977B-6AAC88BC1279}"/>
                </c:ext>
              </c:extLst>
            </c:dLbl>
            <c:dLbl>
              <c:idx val="1"/>
              <c:numFmt formatCode="&quot;MMMMMMM&quot;;&quot;MMMMMMM&quot;;&quot;MM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EA8-4097-977B-6AAC88BC1279}"/>
                </c:ext>
              </c:extLst>
            </c:dLbl>
            <c:dLbl>
              <c:idx val="2"/>
              <c:numFmt formatCode="&quot;MMMMMMM&quot;;&quot;MMMMMMM&quot;;&quot;MM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EA8-4097-977B-6AAC88BC1279}"/>
                </c:ext>
              </c:extLst>
            </c:dLbl>
            <c:dLbl>
              <c:idx val="3"/>
              <c:numFmt formatCode="&quot;MMMMMMM&quot;;&quot;MMMMMMM&quot;;&quot;MM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EA8-4097-977B-6AAC88BC1279}"/>
                </c:ext>
              </c:extLst>
            </c:dLbl>
            <c:dLbl>
              <c:idx val="4"/>
              <c:numFmt formatCode="&quot;MMMMMMM&quot;;&quot;MMMMMMM&quot;;&quot;MM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EA8-4097-977B-6AAC88BC1279}"/>
                </c:ext>
              </c:extLst>
            </c:dLbl>
            <c:numFmt formatCode="#,##0" sourceLinked="0"/>
            <c:spPr>
              <a:noFill/>
              <a:ln>
                <a:noFill/>
              </a:ln>
              <a:effectLst/>
            </c:spPr>
            <c:txPr>
              <a:bodyPr rot="0" vert="horz"/>
              <a:lstStyle/>
              <a:p>
                <a:pPr>
                  <a:defRPr sz="1100">
                    <a:solidFill>
                      <a:srgbClr val="6C7A89"/>
                    </a:solidFill>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2021</c:v>
              </c:pt>
              <c:pt idx="1">
                <c:v>2022</c:v>
              </c:pt>
              <c:pt idx="2">
                <c:v>2023</c:v>
              </c:pt>
              <c:pt idx="3">
                <c:v>2024</c:v>
              </c:pt>
              <c:pt idx="4">
                <c:v>2025</c:v>
              </c:pt>
            </c:strLit>
          </c:cat>
          <c:val>
            <c:numLit>
              <c:formatCode>General</c:formatCode>
              <c:ptCount val="5"/>
              <c:pt idx="0">
                <c:v>2620.9229999999998</c:v>
              </c:pt>
              <c:pt idx="1">
                <c:v>2727.1459999999997</c:v>
              </c:pt>
              <c:pt idx="2">
                <c:v>2837.9549999999999</c:v>
              </c:pt>
              <c:pt idx="3">
                <c:v>2953.5519999999997</c:v>
              </c:pt>
              <c:pt idx="4">
                <c:v>3074.154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FEA8-4097-977B-6AAC88BC1279}"/>
            </c:ext>
          </c:extLst>
        </c:ser>
        <c:dLbls>
          <c:showLegendKey val="0"/>
          <c:showVal val="0"/>
          <c:showCatName val="0"/>
          <c:showSerName val="0"/>
          <c:showPercent val="0"/>
          <c:showBubbleSize val="0"/>
        </c:dLbls>
        <c:gapWidth val="50"/>
        <c:axId val="-2068027336"/>
        <c:axId val="-2113994440"/>
      </c:barChart>
      <c:barChart>
        <c:barDir val="col"/>
        <c:grouping val="clustered"/>
        <c:varyColors val="0"/>
        <c:ser>
          <c:idx val="1"/>
          <c:order val="1"/>
          <c:tx>
            <c:v>Volume (MT)</c:v>
          </c:tx>
          <c:spPr>
            <a:solidFill>
              <a:srgbClr val="C55A11"/>
            </a:solidFill>
            <a:ln>
              <a:noFill/>
            </a:ln>
          </c:spPr>
          <c:invertIfNegative val="1"/>
          <c:dLbls>
            <c:dLbl>
              <c:idx val="0"/>
              <c:numFmt formatCode="&quot;MMMMMMMMMMM&quot;;&quot;MMMMMMMMMMM&quot;;&quot;MMMMMMM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EA8-4097-977B-6AAC88BC1279}"/>
                </c:ext>
              </c:extLst>
            </c:dLbl>
            <c:dLbl>
              <c:idx val="1"/>
              <c:numFmt formatCode="&quot;MMMMMMMMMMM&quot;;&quot;MMMMMMMMMMM&quot;;&quot;MMMMMMM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EA8-4097-977B-6AAC88BC1279}"/>
                </c:ext>
              </c:extLst>
            </c:dLbl>
            <c:dLbl>
              <c:idx val="2"/>
              <c:numFmt formatCode="&quot;MMMMMMMMMMM&quot;;&quot;MMMMMMMMMMM&quot;;&quot;MMMMMMM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EA8-4097-977B-6AAC88BC1279}"/>
                </c:ext>
              </c:extLst>
            </c:dLbl>
            <c:dLbl>
              <c:idx val="3"/>
              <c:numFmt formatCode="&quot;MMMMMMMMMMM&quot;;&quot;MMMMMMMMMMM&quot;;&quot;MMMMMMM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EA8-4097-977B-6AAC88BC1279}"/>
                </c:ext>
              </c:extLst>
            </c:dLbl>
            <c:dLbl>
              <c:idx val="4"/>
              <c:numFmt formatCode="&quot;MMMMMMMMMMM&quot;;&quot;MMMMMMMMMMM&quot;;&quot;MMMMMM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EA8-4097-977B-6AAC88BC1279}"/>
                </c:ext>
              </c:extLst>
            </c:dLbl>
            <c:numFmt formatCode="#,##0.0,,&quot;M&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2021</c:v>
              </c:pt>
              <c:pt idx="1">
                <c:v>2022</c:v>
              </c:pt>
              <c:pt idx="2">
                <c:v>2023</c:v>
              </c:pt>
              <c:pt idx="3">
                <c:v>2024</c:v>
              </c:pt>
              <c:pt idx="4">
                <c:v>2025</c:v>
              </c:pt>
            </c:strLit>
          </c:cat>
          <c:val>
            <c:numLit>
              <c:formatCode>General</c:formatCode>
              <c:ptCount val="5"/>
              <c:pt idx="0">
                <c:v>2847777.1040000003</c:v>
              </c:pt>
              <c:pt idx="1">
                <c:v>2940848.1949999998</c:v>
              </c:pt>
              <c:pt idx="2">
                <c:v>3037247.4890000001</c:v>
              </c:pt>
              <c:pt idx="3">
                <c:v>3137104.3720000004</c:v>
              </c:pt>
              <c:pt idx="4">
                <c:v>3240553.6230000001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FEA8-4097-977B-6AAC88BC1279}"/>
            </c:ext>
          </c:extLst>
        </c:ser>
        <c:dLbls>
          <c:showLegendKey val="0"/>
          <c:showVal val="0"/>
          <c:showCatName val="0"/>
          <c:showSerName val="0"/>
          <c:showPercent val="0"/>
          <c:showBubbleSize val="0"/>
        </c:dLbls>
        <c:gapWidth val="219"/>
        <c:axId val="90210001"/>
        <c:axId val="90210002"/>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max val="3628"/>
          <c:min val="0"/>
        </c:scaling>
        <c:delete val="0"/>
        <c:axPos val="l"/>
        <c:numFmt formatCode="#,##0" sourceLinked="0"/>
        <c:majorTickMark val="none"/>
        <c:minorTickMark val="none"/>
        <c:tickLblPos val="none"/>
        <c:spPr>
          <a:ln>
            <a:noFill/>
          </a:ln>
        </c:spPr>
        <c:txPr>
          <a:bodyPr/>
          <a:lstStyle/>
          <a:p>
            <a:pPr>
              <a:defRPr sz="1100"/>
            </a:pPr>
            <a:endParaRPr lang="en-US"/>
          </a:p>
        </c:txPr>
        <c:crossAx val="-2068027336"/>
        <c:crosses val="autoZero"/>
        <c:crossBetween val="between"/>
      </c:valAx>
      <c:catAx>
        <c:axId val="90210001"/>
        <c:scaling>
          <c:orientation val="minMax"/>
        </c:scaling>
        <c:delete val="1"/>
        <c:axPos val="b"/>
        <c:numFmt formatCode="General" sourceLinked="1"/>
        <c:majorTickMark val="cross"/>
        <c:minorTickMark val="cross"/>
        <c:tickLblPos val="nextTo"/>
        <c:crossAx val="90210002"/>
        <c:crosses val="autoZero"/>
        <c:auto val="1"/>
        <c:lblAlgn val="ctr"/>
        <c:lblOffset val="100"/>
        <c:noMultiLvlLbl val="1"/>
      </c:catAx>
      <c:valAx>
        <c:axId val="90210002"/>
        <c:scaling>
          <c:orientation val="minMax"/>
          <c:max val="4478955"/>
          <c:min val="0"/>
        </c:scaling>
        <c:delete val="0"/>
        <c:axPos val="r"/>
        <c:numFmt formatCode="#,##0,,&quot;M&quot;" sourceLinked="0"/>
        <c:majorTickMark val="none"/>
        <c:minorTickMark val="none"/>
        <c:tickLblPos val="none"/>
        <c:spPr>
          <a:ln>
            <a:noFill/>
          </a:ln>
        </c:spPr>
        <c:crossAx val="90210001"/>
        <c:crosses val="max"/>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Value (US$ Mn)</c:v>
          </c:tx>
          <c:spPr>
            <a:solidFill>
              <a:srgbClr val="69B1E0"/>
            </a:solidFill>
            <a:ln>
              <a:noFill/>
            </a:ln>
          </c:spPr>
          <c:invertIfNegative val="1"/>
          <c:dLbls>
            <c:dLbl>
              <c:idx val="0"/>
              <c:numFmt formatCode="&quot;MMMMMMM&quot;;&quot;MMMMMMM&quot;;&quot;MM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F39-4F00-9902-277F94E476C9}"/>
                </c:ext>
              </c:extLst>
            </c:dLbl>
            <c:dLbl>
              <c:idx val="1"/>
              <c:numFmt formatCode="&quot;MMMMMMM&quot;;&quot;MMMMMMM&quot;;&quot;MM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F39-4F00-9902-277F94E476C9}"/>
                </c:ext>
              </c:extLst>
            </c:dLbl>
            <c:dLbl>
              <c:idx val="2"/>
              <c:numFmt formatCode="&quot;MMMMMMM&quot;;&quot;MMMMMMM&quot;;&quot;MM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F39-4F00-9902-277F94E476C9}"/>
                </c:ext>
              </c:extLst>
            </c:dLbl>
            <c:dLbl>
              <c:idx val="3"/>
              <c:numFmt formatCode="&quot;MMMMMMM&quot;;&quot;MMMMMMM&quot;;&quot;MM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F39-4F00-9902-277F94E476C9}"/>
                </c:ext>
              </c:extLst>
            </c:dLbl>
            <c:dLbl>
              <c:idx val="4"/>
              <c:numFmt formatCode="&quot;MMMMMMM&quot;;&quot;MMMMMMM&quot;;&quot;MM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F39-4F00-9902-277F94E476C9}"/>
                </c:ext>
              </c:extLst>
            </c:dLbl>
            <c:dLbl>
              <c:idx val="5"/>
              <c:numFmt formatCode="&quot;MMMMMMM&quot;;&quot;MMMMMMM&quot;;&quot;MMM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F39-4F00-9902-277F94E476C9}"/>
                </c:ext>
              </c:extLst>
            </c:dLbl>
            <c:dLbl>
              <c:idx val="6"/>
              <c:numFmt formatCode="&quot;MMMMMMM&quot;;&quot;MMMMMMM&quot;;&quot;MMM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F39-4F00-9902-277F94E476C9}"/>
                </c:ext>
              </c:extLst>
            </c:dLbl>
            <c:dLbl>
              <c:idx val="7"/>
              <c:numFmt formatCode="&quot;MMMMMMM&quot;;&quot;MMMMMMM&quot;;&quot;MMM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F39-4F00-9902-277F94E476C9}"/>
                </c:ext>
              </c:extLst>
            </c:dLbl>
            <c:dLbl>
              <c:idx val="8"/>
              <c:numFmt formatCode="&quot;MMMMMMM&quot;;&quot;MMMMMMM&quot;;&quot;MMM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F39-4F00-9902-277F94E476C9}"/>
                </c:ext>
              </c:extLst>
            </c:dLbl>
            <c:dLbl>
              <c:idx val="9"/>
              <c:numFmt formatCode="&quot;MMMMMMM&quot;;&quot;MMMMMMM&quot;;&quot;MM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F39-4F00-9902-277F94E476C9}"/>
                </c:ext>
              </c:extLst>
            </c:dLbl>
            <c:dLbl>
              <c:idx val="10"/>
              <c:numFmt formatCode="&quot;MMMMMMM&quot;;&quot;MMMMMMM&quot;;&quot;MMM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F39-4F00-9902-277F94E476C9}"/>
                </c:ext>
              </c:extLst>
            </c:dLbl>
            <c:numFmt formatCode="#,##0" sourceLinked="0"/>
            <c:spPr>
              <a:noFill/>
              <a:ln>
                <a:noFill/>
              </a:ln>
              <a:effectLst/>
            </c:spPr>
            <c:txPr>
              <a:bodyPr rot="0" vert="horz"/>
              <a:lstStyle/>
              <a:p>
                <a:pPr>
                  <a:defRPr sz="1100">
                    <a:solidFill>
                      <a:srgbClr val="6C7A89"/>
                    </a:solidFill>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3199.9989999999998</c:v>
              </c:pt>
              <c:pt idx="1">
                <c:v>3356.9250000000002</c:v>
              </c:pt>
              <c:pt idx="2">
                <c:v>3521.893</c:v>
              </c:pt>
              <c:pt idx="3">
                <c:v>3695.328</c:v>
              </c:pt>
              <c:pt idx="4">
                <c:v>3877.6860000000001</c:v>
              </c:pt>
              <c:pt idx="5">
                <c:v>4069.45</c:v>
              </c:pt>
              <c:pt idx="6">
                <c:v>4271.1229999999996</c:v>
              </c:pt>
              <c:pt idx="7">
                <c:v>4483.2359999999999</c:v>
              </c:pt>
              <c:pt idx="8">
                <c:v>4706.3580000000002</c:v>
              </c:pt>
              <c:pt idx="9">
                <c:v>4941.0820000000003</c:v>
              </c:pt>
              <c:pt idx="10">
                <c:v>5188.0309999999999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CF39-4F00-9902-277F94E476C9}"/>
            </c:ext>
          </c:extLst>
        </c:ser>
        <c:dLbls>
          <c:showLegendKey val="0"/>
          <c:showVal val="0"/>
          <c:showCatName val="0"/>
          <c:showSerName val="0"/>
          <c:showPercent val="0"/>
          <c:showBubbleSize val="0"/>
        </c:dLbls>
        <c:gapWidth val="50"/>
        <c:axId val="-2068027336"/>
        <c:axId val="-2113994440"/>
      </c:barChart>
      <c:barChart>
        <c:barDir val="col"/>
        <c:grouping val="clustered"/>
        <c:varyColors val="0"/>
        <c:ser>
          <c:idx val="1"/>
          <c:order val="1"/>
          <c:tx>
            <c:v>Volume (MT)</c:v>
          </c:tx>
          <c:spPr>
            <a:solidFill>
              <a:srgbClr val="C55A11"/>
            </a:solidFill>
            <a:ln>
              <a:noFill/>
            </a:ln>
          </c:spPr>
          <c:invertIfNegative val="1"/>
          <c:dLbls>
            <c:dLbl>
              <c:idx val="0"/>
              <c:numFmt formatCode="&quot;MMMMMMMMMMM&quot;;&quot;MMMMMMMMMMM&quot;;&quot;MMMMMMM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F39-4F00-9902-277F94E476C9}"/>
                </c:ext>
              </c:extLst>
            </c:dLbl>
            <c:dLbl>
              <c:idx val="1"/>
              <c:numFmt formatCode="&quot;MMMMMMMMMMM&quot;;&quot;MMMMMMMMMMM&quot;;&quot;MMMMMMM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CF39-4F00-9902-277F94E476C9}"/>
                </c:ext>
              </c:extLst>
            </c:dLbl>
            <c:dLbl>
              <c:idx val="2"/>
              <c:numFmt formatCode="&quot;MMMMMMMMMMM&quot;;&quot;MMMMMMMMMMM&quot;;&quot;MMMMMMM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F39-4F00-9902-277F94E476C9}"/>
                </c:ext>
              </c:extLst>
            </c:dLbl>
            <c:dLbl>
              <c:idx val="3"/>
              <c:numFmt formatCode="&quot;MMMMMMMMMMM&quot;;&quot;MMMMMMMMMMM&quot;;&quot;MMMMMMMM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CF39-4F00-9902-277F94E476C9}"/>
                </c:ext>
              </c:extLst>
            </c:dLbl>
            <c:dLbl>
              <c:idx val="4"/>
              <c:numFmt formatCode="&quot;MMMMMMMMMMM&quot;;&quot;MMMMMMMMMMM&quot;;&quot;MMMMMMMM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CF39-4F00-9902-277F94E476C9}"/>
                </c:ext>
              </c:extLst>
            </c:dLbl>
            <c:dLbl>
              <c:idx val="5"/>
              <c:numFmt formatCode="&quot;MMMMMMMMMMM&quot;;&quot;MMMMMMMMMMM&quot;;&quot;MMMMMMMM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CF39-4F00-9902-277F94E476C9}"/>
                </c:ext>
              </c:extLst>
            </c:dLbl>
            <c:dLbl>
              <c:idx val="6"/>
              <c:numFmt formatCode="&quot;MMMMMMMMMMM&quot;;&quot;MMMMMMMMMMM&quot;;&quot;MMMMMMMM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CF39-4F00-9902-277F94E476C9}"/>
                </c:ext>
              </c:extLst>
            </c:dLbl>
            <c:dLbl>
              <c:idx val="7"/>
              <c:numFmt formatCode="&quot;MMMMMMMMMMM&quot;;&quot;MMMMMMMMMMM&quot;;&quot;MMMMMMMMMMM&quot;" sourceLinked="0"/>
              <c:spPr>
                <a:blipFill>
                  <a:blip xmlns:r="http://schemas.openxmlformats.org/officeDocument/2006/relationships"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CF39-4F00-9902-277F94E476C9}"/>
                </c:ext>
              </c:extLst>
            </c:dLbl>
            <c:dLbl>
              <c:idx val="8"/>
              <c:numFmt formatCode="&quot;MMMMMMMMMMM&quot;;&quot;MMMMMMMMMMM&quot;;&quot;MMMMMMMMMMM&quot;" sourceLinked="0"/>
              <c:spPr>
                <a:blipFill>
                  <a:blip xmlns:r="http://schemas.openxmlformats.org/officeDocument/2006/relationships"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CF39-4F00-9902-277F94E476C9}"/>
                </c:ext>
              </c:extLst>
            </c:dLbl>
            <c:dLbl>
              <c:idx val="9"/>
              <c:numFmt formatCode="&quot;MMMMMMMMMMM&quot;;&quot;MMMMMMMMMMM&quot;;&quot;MMMMMMMMMMM&quot;" sourceLinked="0"/>
              <c:spPr>
                <a:blipFill>
                  <a:blip xmlns:r="http://schemas.openxmlformats.org/officeDocument/2006/relationships"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CF39-4F00-9902-277F94E476C9}"/>
                </c:ext>
              </c:extLst>
            </c:dLbl>
            <c:dLbl>
              <c:idx val="10"/>
              <c:numFmt formatCode="&quot;MMMMMMMMMMM&quot;;&quot;MMMMMMMMMMM&quot;;&quot;MMMMMMMMMMM&quot;" sourceLinked="0"/>
              <c:spPr>
                <a:blipFill>
                  <a:blip xmlns:r="http://schemas.openxmlformats.org/officeDocument/2006/relationships"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CF39-4F00-9902-277F94E476C9}"/>
                </c:ext>
              </c:extLst>
            </c:dLbl>
            <c:numFmt formatCode="#,##0.0,,&quot;M&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3347735.6529999999</c:v>
              </c:pt>
              <c:pt idx="1">
                <c:v>3485392.46</c:v>
              </c:pt>
              <c:pt idx="2">
                <c:v>3629056.6540000001</c:v>
              </c:pt>
              <c:pt idx="3">
                <c:v>3779005.852</c:v>
              </c:pt>
              <c:pt idx="4">
                <c:v>3935531.1529999999</c:v>
              </c:pt>
              <c:pt idx="5">
                <c:v>4098937.852</c:v>
              </c:pt>
              <c:pt idx="6">
                <c:v>4269546.1459999997</c:v>
              </c:pt>
              <c:pt idx="7">
                <c:v>4447691.8810000001</c:v>
              </c:pt>
              <c:pt idx="8">
                <c:v>4633727.3650000002</c:v>
              </c:pt>
              <c:pt idx="9">
                <c:v>4828022.2070000004</c:v>
              </c:pt>
              <c:pt idx="10">
                <c:v>5030964.199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CF39-4F00-9902-277F94E476C9}"/>
            </c:ext>
          </c:extLst>
        </c:ser>
        <c:dLbls>
          <c:showLegendKey val="0"/>
          <c:showVal val="0"/>
          <c:showCatName val="0"/>
          <c:showSerName val="0"/>
          <c:showPercent val="0"/>
          <c:showBubbleSize val="0"/>
        </c:dLbls>
        <c:gapWidth val="219"/>
        <c:axId val="90210001"/>
        <c:axId val="90210002"/>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max val="6122"/>
          <c:min val="0"/>
        </c:scaling>
        <c:delete val="0"/>
        <c:axPos val="l"/>
        <c:numFmt formatCode="#,##0" sourceLinked="0"/>
        <c:majorTickMark val="none"/>
        <c:minorTickMark val="none"/>
        <c:tickLblPos val="none"/>
        <c:spPr>
          <a:ln>
            <a:noFill/>
          </a:ln>
        </c:spPr>
        <c:txPr>
          <a:bodyPr/>
          <a:lstStyle/>
          <a:p>
            <a:pPr>
              <a:defRPr sz="1100"/>
            </a:pPr>
            <a:endParaRPr lang="en-US"/>
          </a:p>
        </c:txPr>
        <c:crossAx val="-2068027336"/>
        <c:crosses val="autoZero"/>
        <c:crossBetween val="between"/>
      </c:valAx>
      <c:catAx>
        <c:axId val="90210001"/>
        <c:scaling>
          <c:orientation val="minMax"/>
        </c:scaling>
        <c:delete val="1"/>
        <c:axPos val="b"/>
        <c:numFmt formatCode="General" sourceLinked="1"/>
        <c:majorTickMark val="cross"/>
        <c:minorTickMark val="cross"/>
        <c:tickLblPos val="nextTo"/>
        <c:crossAx val="90210002"/>
        <c:crosses val="autoZero"/>
        <c:auto val="1"/>
        <c:lblAlgn val="ctr"/>
        <c:lblOffset val="100"/>
        <c:noMultiLvlLbl val="1"/>
      </c:catAx>
      <c:valAx>
        <c:axId val="90210002"/>
        <c:scaling>
          <c:orientation val="minMax"/>
          <c:max val="7277852"/>
          <c:min val="0"/>
        </c:scaling>
        <c:delete val="0"/>
        <c:axPos val="r"/>
        <c:numFmt formatCode="#,##0,,&quot;M&quot;" sourceLinked="0"/>
        <c:majorTickMark val="none"/>
        <c:minorTickMark val="none"/>
        <c:tickLblPos val="none"/>
        <c:spPr>
          <a:ln>
            <a:noFill/>
          </a:ln>
        </c:spPr>
        <c:crossAx val="90210001"/>
        <c:crosses val="max"/>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Index</c:v>
          </c:tx>
          <c:spPr>
            <a:solidFill>
              <a:srgbClr val="0E72AE"/>
            </a:solidFill>
            <a:ln>
              <a:noFill/>
            </a:ln>
          </c:spPr>
          <c:invertIfNegative val="1"/>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E26-4DC3-AF66-89CFA90AFE33}"/>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E26-4DC3-AF66-89CFA90AFE33}"/>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E26-4DC3-AF66-89CFA90AFE33}"/>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E26-4DC3-AF66-89CFA90AFE33}"/>
                </c:ext>
              </c:extLst>
            </c:dLbl>
            <c:dLbl>
              <c:idx val="4"/>
              <c:numFmt formatCode="&quot;MMMMM&quot;;&quot;MMMMM&quot;;&quot;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E26-4DC3-AF66-89CFA90AFE33}"/>
                </c:ext>
              </c:extLst>
            </c:dLbl>
            <c:dLbl>
              <c:idx val="5"/>
              <c:numFmt formatCode="&quot;MMMMM&quot;;&quot;MMMMM&quot;;&quot;M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E26-4DC3-AF66-89CFA90AFE33}"/>
                </c:ext>
              </c:extLst>
            </c:dLbl>
            <c:dLbl>
              <c:idx val="6"/>
              <c:numFmt formatCode="&quot;MMMMM&quot;;&quot;MMMMM&quot;;&quot;M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E26-4DC3-AF66-89CFA90AFE33}"/>
                </c:ext>
              </c:extLst>
            </c:dLbl>
            <c:dLbl>
              <c:idx val="7"/>
              <c:numFmt formatCode="&quot;MMMMM&quot;;&quot;MMMMM&quot;;&quot;M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E26-4DC3-AF66-89CFA90AFE33}"/>
                </c:ext>
              </c:extLst>
            </c:dLbl>
            <c:dLbl>
              <c:idx val="8"/>
              <c:numFmt formatCode="&quot;MMMMM&quot;;&quot;MMMMM&quot;;&quot;M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E26-4DC3-AF66-89CFA90AFE33}"/>
                </c:ext>
              </c:extLst>
            </c:dLbl>
            <c:dLbl>
              <c:idx val="9"/>
              <c:numFmt formatCode="&quot;MMMMM&quot;;&quot;MMMMM&quot;;&quot;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E26-4DC3-AF66-89CFA90AFE33}"/>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0"/>
              <c:pt idx="0">
                <c:v>China</c:v>
              </c:pt>
              <c:pt idx="1">
                <c:v>Malaysia</c:v>
              </c:pt>
              <c:pt idx="2">
                <c:v>Spain</c:v>
              </c:pt>
              <c:pt idx="3">
                <c:v>Thailand</c:v>
              </c:pt>
              <c:pt idx="4">
                <c:v>Brazil</c:v>
              </c:pt>
              <c:pt idx="5">
                <c:v>France</c:v>
              </c:pt>
              <c:pt idx="6">
                <c:v>Netherlands</c:v>
              </c:pt>
              <c:pt idx="7">
                <c:v>Germany</c:v>
              </c:pt>
              <c:pt idx="8">
                <c:v>Saudi Arabia</c:v>
              </c:pt>
              <c:pt idx="9">
                <c:v>India</c:v>
              </c:pt>
            </c:strLit>
          </c:cat>
          <c:val>
            <c:numLit>
              <c:formatCode>General</c:formatCode>
              <c:ptCount val="10"/>
              <c:pt idx="0">
                <c:v>102.49633747709512</c:v>
              </c:pt>
              <c:pt idx="1">
                <c:v>106.8853370956522</c:v>
              </c:pt>
              <c:pt idx="2">
                <c:v>115.41155246845342</c:v>
              </c:pt>
              <c:pt idx="3">
                <c:v>119.07722618527362</c:v>
              </c:pt>
              <c:pt idx="4">
                <c:v>119.6093856923525</c:v>
              </c:pt>
              <c:pt idx="5">
                <c:v>124.05964944576138</c:v>
              </c:pt>
              <c:pt idx="6">
                <c:v>128.81806047549412</c:v>
              </c:pt>
              <c:pt idx="7">
                <c:v>132.19971737444752</c:v>
              </c:pt>
              <c:pt idx="8">
                <c:v>132.58333186188432</c:v>
              </c:pt>
              <c:pt idx="9">
                <c:v>136.61363527117697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A-DE26-4DC3-AF66-89CFA90AFE33}"/>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b"/>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Index</c:v>
          </c:tx>
          <c:spPr>
            <a:solidFill>
              <a:srgbClr val="0E72AE"/>
            </a:solidFill>
            <a:ln>
              <a:noFill/>
            </a:ln>
          </c:spPr>
          <c:invertIfNegative val="1"/>
          <c:dLbls>
            <c:dLbl>
              <c:idx val="0"/>
              <c:numFmt formatCode="&quot;MMM&quot;;&quot;MMM&quot;;&quot;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637-468F-8B38-A6F0AA6DD7D1}"/>
                </c:ext>
              </c:extLst>
            </c:dLbl>
            <c:dLbl>
              <c:idx val="1"/>
              <c:numFmt formatCode="&quot;MMM&quot;;&quot;MMM&quot;;&quot;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637-468F-8B38-A6F0AA6DD7D1}"/>
                </c:ext>
              </c:extLst>
            </c:dLbl>
            <c:dLbl>
              <c:idx val="2"/>
              <c:numFmt formatCode="&quot;MMM&quot;;&quot;MMM&quot;;&quot;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637-468F-8B38-A6F0AA6DD7D1}"/>
                </c:ext>
              </c:extLst>
            </c:dLbl>
            <c:dLbl>
              <c:idx val="3"/>
              <c:numFmt formatCode="&quot;MMM&quot;;&quot;MMM&quot;;&quot;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637-468F-8B38-A6F0AA6DD7D1}"/>
                </c:ext>
              </c:extLst>
            </c:dLbl>
            <c:dLbl>
              <c:idx val="4"/>
              <c:numFmt formatCode="&quot;MMM&quot;;&quot;MMM&quot;;&quot;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637-468F-8B38-A6F0AA6DD7D1}"/>
                </c:ext>
              </c:extLst>
            </c:dLbl>
            <c:dLbl>
              <c:idx val="5"/>
              <c:numFmt formatCode="&quot;MMM&quot;;&quot;MMM&quot;;&quot;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637-468F-8B38-A6F0AA6DD7D1}"/>
                </c:ext>
              </c:extLst>
            </c:dLbl>
            <c:dLbl>
              <c:idx val="6"/>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637-468F-8B38-A6F0AA6DD7D1}"/>
                </c:ext>
              </c:extLst>
            </c:dLbl>
            <c:dLbl>
              <c:idx val="7"/>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637-468F-8B38-A6F0AA6DD7D1}"/>
                </c:ext>
              </c:extLst>
            </c:dLbl>
            <c:dLbl>
              <c:idx val="8"/>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637-468F-8B38-A6F0AA6DD7D1}"/>
                </c:ext>
              </c:extLst>
            </c:dLbl>
            <c:dLbl>
              <c:idx val="9"/>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637-468F-8B38-A6F0AA6DD7D1}"/>
                </c:ext>
              </c:extLst>
            </c:dLbl>
            <c:numFmt formatCode="0.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0"/>
              <c:pt idx="0">
                <c:v>Turkey</c:v>
              </c:pt>
              <c:pt idx="1">
                <c:v>Japan</c:v>
              </c:pt>
              <c:pt idx="2">
                <c:v>U.K.</c:v>
              </c:pt>
              <c:pt idx="3">
                <c:v>France</c:v>
              </c:pt>
              <c:pt idx="4">
                <c:v>Brazil</c:v>
              </c:pt>
              <c:pt idx="5">
                <c:v>India</c:v>
              </c:pt>
              <c:pt idx="6">
                <c:v>China</c:v>
              </c:pt>
              <c:pt idx="7">
                <c:v>Canada</c:v>
              </c:pt>
              <c:pt idx="8">
                <c:v>Germany</c:v>
              </c:pt>
              <c:pt idx="9">
                <c:v>U.S.</c:v>
              </c:pt>
            </c:strLit>
          </c:cat>
          <c:val>
            <c:numLit>
              <c:formatCode>General</c:formatCode>
              <c:ptCount val="10"/>
              <c:pt idx="0">
                <c:v>2.7967356662267013</c:v>
              </c:pt>
              <c:pt idx="1">
                <c:v>3.0759565238386495</c:v>
              </c:pt>
              <c:pt idx="2">
                <c:v>3.4006997875285694</c:v>
              </c:pt>
              <c:pt idx="3">
                <c:v>3.7572332839712832</c:v>
              </c:pt>
              <c:pt idx="4">
                <c:v>5.4273774265202963</c:v>
              </c:pt>
              <c:pt idx="5">
                <c:v>7.0328847825387095</c:v>
              </c:pt>
              <c:pt idx="6">
                <c:v>7.7317668930882375</c:v>
              </c:pt>
              <c:pt idx="7">
                <c:v>9.2504547210507688</c:v>
              </c:pt>
              <c:pt idx="8">
                <c:v>14.434224398802428</c:v>
              </c:pt>
              <c:pt idx="9">
                <c:v>16.684288784083961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A-2637-468F-8B38-A6F0AA6DD7D1}"/>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b"/>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6E0E-4A9B-BA0C-DCE20B4C5880}"/>
              </c:ext>
            </c:extLst>
          </c:dPt>
          <c:dPt>
            <c:idx val="1"/>
            <c:bubble3D val="0"/>
            <c:spPr>
              <a:solidFill>
                <a:srgbClr val="9E7E0A"/>
              </a:solidFill>
            </c:spPr>
            <c:extLst>
              <c:ext xmlns:c16="http://schemas.microsoft.com/office/drawing/2014/chart" uri="{C3380CC4-5D6E-409C-BE32-E72D297353CC}">
                <c16:uniqueId val="{00000003-6E0E-4A9B-BA0C-DCE20B4C5880}"/>
              </c:ext>
            </c:extLst>
          </c:dPt>
          <c:dPt>
            <c:idx val="2"/>
            <c:bubble3D val="0"/>
            <c:spPr>
              <a:solidFill>
                <a:srgbClr val="008189"/>
              </a:solidFill>
            </c:spPr>
            <c:extLst>
              <c:ext xmlns:c16="http://schemas.microsoft.com/office/drawing/2014/chart" uri="{C3380CC4-5D6E-409C-BE32-E72D297353CC}">
                <c16:uniqueId val="{00000005-6E0E-4A9B-BA0C-DCE20B4C5880}"/>
              </c:ext>
            </c:extLst>
          </c:dPt>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E0E-4A9B-BA0C-DCE20B4C5880}"/>
                </c:ext>
              </c:extLst>
            </c:dLbl>
            <c:dLbl>
              <c:idx val="1"/>
              <c:numFmt formatCode="&quot;MMMMMMM&quot;;&quot;MMMMMMM&quot;;&quot;MM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E0E-4A9B-BA0C-DCE20B4C5880}"/>
                </c:ext>
              </c:extLst>
            </c:dLbl>
            <c:dLbl>
              <c:idx val="2"/>
              <c:numFmt formatCode="&quot;MMMMMMM&quot;;&quot;MMMMMMM&quot;;&quot;MM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E0E-4A9B-BA0C-DCE20B4C588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3"/>
              <c:pt idx="0">
                <c:v>Slotted (Interlocking Grid) Partitions</c:v>
              </c:pt>
              <c:pt idx="1">
                <c:v>Die-Cut &amp; Folded Partitions (H-dividers, tube/cell inserts)</c:v>
              </c:pt>
              <c:pt idx="2">
                <c:v>Flat Dividers &amp; Layer Pads</c:v>
              </c:pt>
            </c:strLit>
          </c:cat>
          <c:val>
            <c:numLit>
              <c:formatCode>General</c:formatCode>
              <c:ptCount val="3"/>
              <c:pt idx="0">
                <c:v>755.10599999999999</c:v>
              </c:pt>
              <c:pt idx="1">
                <c:v>1408.182</c:v>
              </c:pt>
              <c:pt idx="2">
                <c:v>3024.7429999999999</c:v>
              </c:pt>
            </c:numLit>
          </c:val>
          <c:extLst>
            <c:ext xmlns:c16="http://schemas.microsoft.com/office/drawing/2014/chart" uri="{C3380CC4-5D6E-409C-BE32-E72D297353CC}">
              <c16:uniqueId val="{00000006-6E0E-4A9B-BA0C-DCE20B4C5880}"/>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lineChart>
        <c:grouping val="standard"/>
        <c:varyColors val="0"/>
        <c:ser>
          <c:idx val="0"/>
          <c:order val="0"/>
          <c:tx>
            <c:v>Optimistic Scenario</c:v>
          </c:tx>
          <c:spPr>
            <a:ln w="28575">
              <a:solidFill>
                <a:srgbClr val="2E5F8A"/>
              </a:solidFill>
            </a:ln>
          </c:spPr>
          <c:marker>
            <c:symbol val="circle"/>
            <c:size val="6"/>
            <c:spPr>
              <a:solidFill>
                <a:srgbClr val="2E5F8A"/>
              </a:solidFill>
              <a:ln>
                <a:solidFill>
                  <a:srgbClr val="2E5F8A"/>
                </a:solidFill>
              </a:ln>
            </c:spPr>
          </c:marker>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5.5341755311889326E-2</c:v>
              </c:pt>
              <c:pt idx="1">
                <c:v>5.6381075574426939E-2</c:v>
              </c:pt>
              <c:pt idx="2">
                <c:v>5.7475580983647967E-2</c:v>
              </c:pt>
              <c:pt idx="3">
                <c:v>5.7990642352693147E-2</c:v>
              </c:pt>
              <c:pt idx="4">
                <c:v>5.9572616557617655E-2</c:v>
              </c:pt>
              <c:pt idx="5">
                <c:v>6.1085609329187898E-2</c:v>
              </c:pt>
              <c:pt idx="6">
                <c:v>6.2598602100758141E-2</c:v>
              </c:pt>
              <c:pt idx="7">
                <c:v>6.3711502558873631E-2</c:v>
              </c:pt>
              <c:pt idx="8">
                <c:v>6.4369125556850967E-2</c:v>
              </c:pt>
              <c:pt idx="9">
                <c:v>6.5468229728295607E-2</c:v>
              </c:pt>
              <c:pt idx="10">
                <c:v>6.6029278719576978E-2</c:v>
              </c:pt>
            </c:numLit>
          </c:val>
          <c:smooth val="0"/>
          <c:extLst>
            <c:ext xmlns:c16="http://schemas.microsoft.com/office/drawing/2014/chart" uri="{C3380CC4-5D6E-409C-BE32-E72D297353CC}">
              <c16:uniqueId val="{00000000-DD82-4B75-A39C-949DF4CC1914}"/>
            </c:ext>
          </c:extLst>
        </c:ser>
        <c:ser>
          <c:idx val="1"/>
          <c:order val="1"/>
          <c:tx>
            <c:v>Likely Scenario</c:v>
          </c:tx>
          <c:spPr>
            <a:ln w="28575">
              <a:solidFill>
                <a:srgbClr val="8B1A1A"/>
              </a:solidFill>
            </a:ln>
          </c:spPr>
          <c:marker>
            <c:symbol val="circle"/>
            <c:size val="6"/>
            <c:spPr>
              <a:solidFill>
                <a:srgbClr val="8B1A1A"/>
              </a:solidFill>
              <a:ln>
                <a:solidFill>
                  <a:srgbClr val="8B1A1A"/>
                </a:solidFill>
              </a:ln>
            </c:spPr>
          </c:marker>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4.6405451256385552E-2</c:v>
              </c:pt>
              <c:pt idx="1">
                <c:v>4.8577785607194383E-2</c:v>
              </c:pt>
              <c:pt idx="2">
                <c:v>5.0473493111832801E-2</c:v>
              </c:pt>
              <c:pt idx="3">
                <c:v>5.2100709854011704E-2</c:v>
              </c:pt>
              <c:pt idx="4">
                <c:v>5.237733670018211E-2</c:v>
              </c:pt>
              <c:pt idx="5">
                <c:v>5.1832219091552188E-2</c:v>
              </c:pt>
              <c:pt idx="6">
                <c:v>5.0205002349373286E-2</c:v>
              </c:pt>
              <c:pt idx="7">
                <c:v>4.8309294844734868E-2</c:v>
              </c:pt>
              <c:pt idx="8">
                <c:v>4.7031929702124428E-2</c:v>
              </c:pt>
              <c:pt idx="9">
                <c:v>4.5543026383030726E-2</c:v>
              </c:pt>
              <c:pt idx="10">
                <c:v>4.3159153855738638E-2</c:v>
              </c:pt>
            </c:numLit>
          </c:val>
          <c:smooth val="0"/>
          <c:extLst>
            <c:ext xmlns:c16="http://schemas.microsoft.com/office/drawing/2014/chart" uri="{C3380CC4-5D6E-409C-BE32-E72D297353CC}">
              <c16:uniqueId val="{00000001-DD82-4B75-A39C-949DF4CC1914}"/>
            </c:ext>
          </c:extLst>
        </c:ser>
        <c:ser>
          <c:idx val="2"/>
          <c:order val="2"/>
          <c:tx>
            <c:v>Conservative Scenario</c:v>
          </c:tx>
          <c:spPr>
            <a:ln w="28575">
              <a:solidFill>
                <a:srgbClr val="A08000"/>
              </a:solidFill>
            </a:ln>
          </c:spPr>
          <c:marker>
            <c:symbol val="circle"/>
            <c:size val="6"/>
            <c:spPr>
              <a:solidFill>
                <a:srgbClr val="A08000"/>
              </a:solidFill>
              <a:ln>
                <a:solidFill>
                  <a:srgbClr val="A08000"/>
                </a:solidFill>
              </a:ln>
            </c:spPr>
          </c:marker>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3.1432343199088046E-2</c:v>
              </c:pt>
              <c:pt idx="1">
                <c:v>3.5691293637181182E-2</c:v>
              </c:pt>
              <c:pt idx="2">
                <c:v>3.9495178138053408E-2</c:v>
              </c:pt>
              <c:pt idx="3">
                <c:v>4.2120558545097123E-2</c:v>
              </c:pt>
              <c:pt idx="4">
                <c:v>4.1805512896251874E-2</c:v>
              </c:pt>
              <c:pt idx="5">
                <c:v>4.0236118830707969E-2</c:v>
              </c:pt>
              <c:pt idx="6">
                <c:v>3.783243721359239E-2</c:v>
              </c:pt>
              <c:pt idx="7">
                <c:v>3.5259564414689554E-2</c:v>
              </c:pt>
              <c:pt idx="8">
                <c:v>3.3585155132863892E-2</c:v>
              </c:pt>
              <c:pt idx="9">
                <c:v>3.3130089195642982E-2</c:v>
              </c:pt>
              <c:pt idx="10">
                <c:v>3.1473182449864287E-2</c:v>
              </c:pt>
            </c:numLit>
          </c:val>
          <c:smooth val="0"/>
          <c:extLst>
            <c:ext xmlns:c16="http://schemas.microsoft.com/office/drawing/2014/chart" uri="{C3380CC4-5D6E-409C-BE32-E72D297353CC}">
              <c16:uniqueId val="{00000002-DD82-4B75-A39C-949DF4CC1914}"/>
            </c:ext>
          </c:extLst>
        </c:ser>
        <c:dLbls>
          <c:showLegendKey val="0"/>
          <c:showVal val="0"/>
          <c:showCatName val="0"/>
          <c:showSerName val="0"/>
          <c:showPercent val="0"/>
          <c:showBubbleSize val="0"/>
        </c:dLbls>
        <c:marker val="1"/>
        <c:smooth val="0"/>
        <c:axId val="2118791784"/>
        <c:axId val="2140495176"/>
      </c:lineChart>
      <c:catAx>
        <c:axId val="2118791784"/>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40495176"/>
        <c:crosses val="autoZero"/>
        <c:auto val="1"/>
        <c:lblAlgn val="ctr"/>
        <c:lblOffset val="100"/>
        <c:tickLblSkip val="1"/>
        <c:tickMarkSkip val="1"/>
        <c:noMultiLvlLbl val="0"/>
      </c:catAx>
      <c:valAx>
        <c:axId val="2140495176"/>
        <c:scaling>
          <c:orientation val="minMax"/>
          <c:min val="0"/>
        </c:scaling>
        <c:delete val="0"/>
        <c:axPos val="l"/>
        <c:numFmt formatCode="0.00%" sourceLinked="0"/>
        <c:majorTickMark val="out"/>
        <c:minorTickMark val="none"/>
        <c:tickLblPos val="nextTo"/>
        <c:spPr>
          <a:ln>
            <a:solidFill>
              <a:srgbClr val="C6D5E1"/>
            </a:solidFill>
          </a:ln>
        </c:spPr>
        <c:txPr>
          <a:bodyPr/>
          <a:lstStyle/>
          <a:p>
            <a:pPr>
              <a:defRPr sz="1100"/>
            </a:pPr>
            <a:endParaRPr lang="en-US"/>
          </a:p>
        </c:txPr>
        <c:crossAx val="2118791784"/>
        <c:crosses val="autoZero"/>
        <c:crossBetween val="between"/>
      </c:valAx>
    </c:plotArea>
    <c:legend>
      <c:legendPos val="b"/>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North America</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6D2-4CF8-BDD7-D53376E6B137}"/>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6D2-4CF8-BDD7-D53376E6B13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35.530938051637136</c:v>
              </c:pt>
              <c:pt idx="1">
                <c:v>32.733023489360754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F6D2-4CF8-BDD7-D53376E6B137}"/>
            </c:ext>
          </c:extLst>
        </c:ser>
        <c:ser>
          <c:idx val="1"/>
          <c:order val="1"/>
          <c:tx>
            <c:v>Europe</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6D2-4CF8-BDD7-D53376E6B137}"/>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6D2-4CF8-BDD7-D53376E6B13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25.037400197619487</c:v>
              </c:pt>
              <c:pt idx="1">
                <c:v>26.62694563134179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F6D2-4CF8-BDD7-D53376E6B137}"/>
            </c:ext>
          </c:extLst>
        </c:ser>
        <c:ser>
          <c:idx val="2"/>
          <c:order val="2"/>
          <c:tx>
            <c:v>East Asia</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6D2-4CF8-BDD7-D53376E6B137}"/>
                </c:ext>
              </c:extLst>
            </c:dLbl>
            <c:dLbl>
              <c:idx val="1"/>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6D2-4CF8-BDD7-D53376E6B13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12.939092446317474</c:v>
              </c:pt>
              <c:pt idx="1">
                <c:v>12.836023144993961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8-F6D2-4CF8-BDD7-D53376E6B137}"/>
            </c:ext>
          </c:extLst>
        </c:ser>
        <c:ser>
          <c:idx val="3"/>
          <c:order val="3"/>
          <c:tx>
            <c:v>South Asia &amp; Pacific</c:v>
          </c:tx>
          <c:spPr>
            <a:solidFill>
              <a:srgbClr val="40315E"/>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6D2-4CF8-BDD7-D53376E6B137}"/>
                </c:ext>
              </c:extLst>
            </c:dLbl>
            <c:dLbl>
              <c:idx val="1"/>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6D2-4CF8-BDD7-D53376E6B13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11.827238290012023</c:v>
              </c:pt>
              <c:pt idx="1">
                <c:v>12.832260884073129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F6D2-4CF8-BDD7-D53376E6B137}"/>
            </c:ext>
          </c:extLst>
        </c:ser>
        <c:ser>
          <c:idx val="4"/>
          <c:order val="4"/>
          <c:tx>
            <c:v>Latin America</c:v>
          </c:tx>
          <c:spPr>
            <a:solidFill>
              <a:srgbClr val="A35313"/>
            </a:solidFill>
            <a:ln>
              <a:noFill/>
            </a:ln>
          </c:spPr>
          <c:invertIfNegative val="1"/>
          <c:dLbls>
            <c:dLbl>
              <c:idx val="0"/>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6D2-4CF8-BDD7-D53376E6B137}"/>
                </c:ext>
              </c:extLst>
            </c:dLbl>
            <c:dLbl>
              <c:idx val="1"/>
              <c:numFmt formatCode="&quot;MMM&quot;;&quot;MMM&quot;;&quot;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F6D2-4CF8-BDD7-D53376E6B13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7.9484999886877263</c:v>
              </c:pt>
              <c:pt idx="1">
                <c:v>8.283301063498584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F6D2-4CF8-BDD7-D53376E6B137}"/>
            </c:ext>
          </c:extLst>
        </c:ser>
        <c:ser>
          <c:idx val="5"/>
          <c:order val="5"/>
          <c:tx>
            <c:v>Middle East &amp; Africa</c:v>
          </c:tx>
          <c:spPr>
            <a:solidFill>
              <a:srgbClr val="808080"/>
            </a:solidFill>
            <a:ln>
              <a:noFill/>
            </a:ln>
          </c:spPr>
          <c:invertIfNegative val="1"/>
          <c:dLbls>
            <c:dLbl>
              <c:idx val="0"/>
              <c:numFmt formatCode="&quot;MMM&quot;;&quot;MMM&quot;;&quot;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F6D2-4CF8-BDD7-D53376E6B137}"/>
                </c:ext>
              </c:extLst>
            </c:dLbl>
            <c:dLbl>
              <c:idx val="1"/>
              <c:numFmt formatCode="&quot;MMM&quot;;&quot;MMM&quot;;&quot;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F6D2-4CF8-BDD7-D53376E6B13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6.7168310257261528</c:v>
              </c:pt>
              <c:pt idx="1">
                <c:v>6.6884457867317852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1-F6D2-4CF8-BDD7-D53376E6B13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North America</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FC8-48FB-9E59-E7B1EE0B4087}"/>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FC8-48FB-9E59-E7B1EE0B408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33.000010312503228</c:v>
              </c:pt>
              <c:pt idx="1">
                <c:v>30.292629323147835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8FC8-48FB-9E59-E7B1EE0B4087}"/>
            </c:ext>
          </c:extLst>
        </c:ser>
        <c:ser>
          <c:idx val="1"/>
          <c:order val="1"/>
          <c:tx>
            <c:v>Europe</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FC8-48FB-9E59-E7B1EE0B4087}"/>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FC8-48FB-9E59-E7B1EE0B408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27.000039687512405</c:v>
              </c:pt>
              <c:pt idx="1">
                <c:v>28.59765101634898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8FC8-48FB-9E59-E7B1EE0B4087}"/>
            </c:ext>
          </c:extLst>
        </c:ser>
        <c:ser>
          <c:idx val="2"/>
          <c:order val="2"/>
          <c:tx>
            <c:v>South Asia &amp; Pacific</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FC8-48FB-9E59-E7B1EE0B4087}"/>
                </c:ext>
              </c:extLst>
            </c:dLbl>
            <c:dLbl>
              <c:idx val="1"/>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FC8-48FB-9E59-E7B1EE0B408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11.999909999971877</c:v>
              </c:pt>
              <c:pt idx="1">
                <c:v>13.041884290976672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8-8FC8-48FB-9E59-E7B1EE0B4087}"/>
            </c:ext>
          </c:extLst>
        </c:ser>
        <c:ser>
          <c:idx val="3"/>
          <c:order val="3"/>
          <c:tx>
            <c:v>East Asia</c:v>
          </c:tx>
          <c:spPr>
            <a:solidFill>
              <a:srgbClr val="40315E"/>
            </a:solidFill>
            <a:ln>
              <a:noFill/>
            </a:ln>
          </c:spPr>
          <c:invertIfNegative val="1"/>
          <c:dLbls>
            <c:dLbl>
              <c:idx val="0"/>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FC8-48FB-9E59-E7B1EE0B4087}"/>
                </c:ext>
              </c:extLst>
            </c:dLbl>
            <c:dLbl>
              <c:idx val="1"/>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FC8-48FB-9E59-E7B1EE0B408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12.999972812491507</c:v>
              </c:pt>
              <c:pt idx="1">
                <c:v>12.808732253141894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8FC8-48FB-9E59-E7B1EE0B4087}"/>
            </c:ext>
          </c:extLst>
        </c:ser>
        <c:ser>
          <c:idx val="4"/>
          <c:order val="4"/>
          <c:tx>
            <c:v>Latin America</c:v>
          </c:tx>
          <c:spPr>
            <a:solidFill>
              <a:srgbClr val="A35313"/>
            </a:solidFill>
            <a:ln>
              <a:noFill/>
            </a:ln>
          </c:spPr>
          <c:invertIfNegative val="1"/>
          <c:dLbls>
            <c:dLbl>
              <c:idx val="0"/>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FC8-48FB-9E59-E7B1EE0B4087}"/>
                </c:ext>
              </c:extLst>
            </c:dLbl>
            <c:dLbl>
              <c:idx val="1"/>
              <c:numFmt formatCode="&quot;MMM&quot;;&quot;MMM&quot;;&quot;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8FC8-48FB-9E59-E7B1EE0B408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8.0000025000007824</c:v>
              </c:pt>
              <c:pt idx="1">
                <c:v>8.3208446518534682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8FC8-48FB-9E59-E7B1EE0B4087}"/>
            </c:ext>
          </c:extLst>
        </c:ser>
        <c:ser>
          <c:idx val="5"/>
          <c:order val="5"/>
          <c:tx>
            <c:v>Middle East &amp; Africa</c:v>
          </c:tx>
          <c:spPr>
            <a:solidFill>
              <a:srgbClr val="808080"/>
            </a:solidFill>
            <a:ln>
              <a:noFill/>
            </a:ln>
          </c:spPr>
          <c:invertIfNegative val="1"/>
          <c:dLbls>
            <c:dLbl>
              <c:idx val="0"/>
              <c:numFmt formatCode="&quot;MMM&quot;;&quot;MMM&quot;;&quot;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8FC8-48FB-9E59-E7B1EE0B4087}"/>
                </c:ext>
              </c:extLst>
            </c:dLbl>
            <c:dLbl>
              <c:idx val="1"/>
              <c:numFmt formatCode="&quot;MMM&quot;;&quot;MMM&quot;;&quot;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8FC8-48FB-9E59-E7B1EE0B408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7.0000646875202159</c:v>
              </c:pt>
              <c:pt idx="1">
                <c:v>6.938258464531148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1-8FC8-48FB-9E59-E7B1EE0B408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North America</c:v>
          </c:tx>
          <c:spPr>
            <a:solidFill>
              <a:srgbClr val="3D85C6"/>
            </a:solidFill>
            <a:ln>
              <a:noFill/>
            </a:ln>
          </c:spPr>
          <c:invertIfNegative val="1"/>
          <c:dLbls>
            <c:dLbl>
              <c:idx val="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CDF-4DEC-A1EB-7F16DDF6C106}"/>
                </c:ext>
              </c:extLst>
            </c:dLbl>
            <c:dLbl>
              <c:idx val="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CDF-4DEC-A1EB-7F16DDF6C106}"/>
                </c:ext>
              </c:extLst>
            </c:dLbl>
            <c:dLbl>
              <c:idx val="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CDF-4DEC-A1EB-7F16DDF6C106}"/>
                </c:ext>
              </c:extLst>
            </c:dLbl>
            <c:dLbl>
              <c:idx val="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CDF-4DEC-A1EB-7F16DDF6C106}"/>
                </c:ext>
              </c:extLst>
            </c:dLbl>
            <c:dLbl>
              <c:idx val="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CDF-4DEC-A1EB-7F16DDF6C106}"/>
                </c:ext>
              </c:extLst>
            </c:dLbl>
            <c:dLbl>
              <c:idx val="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CDF-4DEC-A1EB-7F16DDF6C106}"/>
                </c:ext>
              </c:extLst>
            </c:dLbl>
            <c:dLbl>
              <c:idx val="6"/>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CDF-4DEC-A1EB-7F16DDF6C106}"/>
                </c:ext>
              </c:extLst>
            </c:dLbl>
            <c:dLbl>
              <c:idx val="7"/>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CDF-4DEC-A1EB-7F16DDF6C106}"/>
                </c:ext>
              </c:extLst>
            </c:dLbl>
            <c:dLbl>
              <c:idx val="8"/>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CDF-4DEC-A1EB-7F16DDF6C106}"/>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CDF-4DEC-A1EB-7F16DDF6C106}"/>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9CDF-4DEC-A1EB-7F16DDF6C106}"/>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9CDF-4DEC-A1EB-7F16DDF6C106}"/>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9CDF-4DEC-A1EB-7F16DDF6C106}"/>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9CDF-4DEC-A1EB-7F16DDF6C106}"/>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9CDF-4DEC-A1EB-7F16DDF6C106}"/>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9CDF-4DEC-A1EB-7F16DDF6C1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1051093.469</c:v>
              </c:pt>
              <c:pt idx="1">
                <c:v>1077398.077</c:v>
              </c:pt>
              <c:pt idx="2">
                <c:v>1104371.6780000001</c:v>
              </c:pt>
              <c:pt idx="3">
                <c:v>1132031.5889999999</c:v>
              </c:pt>
              <c:pt idx="4">
                <c:v>1160395.577</c:v>
              </c:pt>
              <c:pt idx="5">
                <c:v>1189481.8810000001</c:v>
              </c:pt>
              <c:pt idx="6">
                <c:v>1228758.9280000001</c:v>
              </c:pt>
              <c:pt idx="7">
                <c:v>1269345.2180000001</c:v>
              </c:pt>
              <c:pt idx="8">
                <c:v>1311284.8319999999</c:v>
              </c:pt>
              <c:pt idx="9">
                <c:v>1354623.3540000001</c:v>
              </c:pt>
              <c:pt idx="10">
                <c:v>1399407.923</c:v>
              </c:pt>
              <c:pt idx="11">
                <c:v>1445687.277</c:v>
              </c:pt>
              <c:pt idx="12">
                <c:v>1493511.818</c:v>
              </c:pt>
              <c:pt idx="13">
                <c:v>1542933.665</c:v>
              </c:pt>
              <c:pt idx="14">
                <c:v>1594006.7120000001</c:v>
              </c:pt>
              <c:pt idx="15">
                <c:v>1646786.693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0-9CDF-4DEC-A1EB-7F16DDF6C106}"/>
            </c:ext>
          </c:extLst>
        </c:ser>
        <c:ser>
          <c:idx val="1"/>
          <c:order val="1"/>
          <c:tx>
            <c:v>Europe</c:v>
          </c:tx>
          <c:spPr>
            <a:solidFill>
              <a:srgbClr val="9E7E0A"/>
            </a:solidFill>
            <a:ln>
              <a:noFill/>
            </a:ln>
          </c:spPr>
          <c:invertIfNegative val="1"/>
          <c:dLbls>
            <c:dLbl>
              <c:idx val="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9CDF-4DEC-A1EB-7F16DDF6C106}"/>
                </c:ext>
              </c:extLst>
            </c:dLbl>
            <c:dLbl>
              <c:idx val="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9CDF-4DEC-A1EB-7F16DDF6C106}"/>
                </c:ext>
              </c:extLst>
            </c:dLbl>
            <c:dLbl>
              <c:idx val="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9CDF-4DEC-A1EB-7F16DDF6C106}"/>
                </c:ext>
              </c:extLst>
            </c:dLbl>
            <c:dLbl>
              <c:idx val="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9CDF-4DEC-A1EB-7F16DDF6C106}"/>
                </c:ext>
              </c:extLst>
            </c:dLbl>
            <c:dLbl>
              <c:idx val="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9CDF-4DEC-A1EB-7F16DDF6C106}"/>
                </c:ext>
              </c:extLst>
            </c:dLbl>
            <c:dLbl>
              <c:idx val="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9CDF-4DEC-A1EB-7F16DDF6C106}"/>
                </c:ext>
              </c:extLst>
            </c:dLbl>
            <c:dLbl>
              <c:idx val="6"/>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9CDF-4DEC-A1EB-7F16DDF6C106}"/>
                </c:ext>
              </c:extLst>
            </c:dLbl>
            <c:dLbl>
              <c:idx val="7"/>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9CDF-4DEC-A1EB-7F16DDF6C106}"/>
                </c:ext>
              </c:extLst>
            </c:dLbl>
            <c:dLbl>
              <c:idx val="8"/>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9CDF-4DEC-A1EB-7F16DDF6C106}"/>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9CDF-4DEC-A1EB-7F16DDF6C106}"/>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9CDF-4DEC-A1EB-7F16DDF6C106}"/>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9CDF-4DEC-A1EB-7F16DDF6C106}"/>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D-9CDF-4DEC-A1EB-7F16DDF6C106}"/>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9CDF-4DEC-A1EB-7F16DDF6C106}"/>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F-9CDF-4DEC-A1EB-7F16DDF6C106}"/>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0-9CDF-4DEC-A1EB-7F16DDF6C1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691868.277</c:v>
              </c:pt>
              <c:pt idx="1">
                <c:v>718750.16500000004</c:v>
              </c:pt>
              <c:pt idx="2">
                <c:v>746770.60800000001</c:v>
              </c:pt>
              <c:pt idx="3">
                <c:v>775980.67700000003</c:v>
              </c:pt>
              <c:pt idx="4">
                <c:v>806433.82200000004</c:v>
              </c:pt>
              <c:pt idx="5">
                <c:v>838185.973</c:v>
              </c:pt>
              <c:pt idx="6">
                <c:v>877954.54599999997</c:v>
              </c:pt>
              <c:pt idx="7">
                <c:v>919720.89199999999</c:v>
              </c:pt>
              <c:pt idx="8">
                <c:v>963589.64399999997</c:v>
              </c:pt>
              <c:pt idx="9">
                <c:v>1009671.056</c:v>
              </c:pt>
              <c:pt idx="10">
                <c:v>1058081.3400000001</c:v>
              </c:pt>
              <c:pt idx="11">
                <c:v>1108942.977</c:v>
              </c:pt>
              <c:pt idx="12">
                <c:v>1162385.064</c:v>
              </c:pt>
              <c:pt idx="13">
                <c:v>1218543.686</c:v>
              </c:pt>
              <c:pt idx="14">
                <c:v>1277562.2919999999</c:v>
              </c:pt>
              <c:pt idx="15">
                <c:v>1339592.102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21-9CDF-4DEC-A1EB-7F16DDF6C106}"/>
            </c:ext>
          </c:extLst>
        </c:ser>
        <c:ser>
          <c:idx val="2"/>
          <c:order val="2"/>
          <c:tx>
            <c:v>East Asia</c:v>
          </c:tx>
          <c:spPr>
            <a:solidFill>
              <a:srgbClr val="008189"/>
            </a:solidFill>
            <a:ln>
              <a:noFill/>
            </a:ln>
          </c:spPr>
          <c:invertIfNegative val="1"/>
          <c:dLbls>
            <c:dLbl>
              <c:idx val="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2-9CDF-4DEC-A1EB-7F16DDF6C106}"/>
                </c:ext>
              </c:extLst>
            </c:dLbl>
            <c:dLbl>
              <c:idx val="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3-9CDF-4DEC-A1EB-7F16DDF6C106}"/>
                </c:ext>
              </c:extLst>
            </c:dLbl>
            <c:dLbl>
              <c:idx val="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4-9CDF-4DEC-A1EB-7F16DDF6C106}"/>
                </c:ext>
              </c:extLst>
            </c:dLbl>
            <c:dLbl>
              <c:idx val="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5-9CDF-4DEC-A1EB-7F16DDF6C106}"/>
                </c:ext>
              </c:extLst>
            </c:dLbl>
            <c:dLbl>
              <c:idx val="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6-9CDF-4DEC-A1EB-7F16DDF6C106}"/>
                </c:ext>
              </c:extLst>
            </c:dLbl>
            <c:dLbl>
              <c:idx val="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7-9CDF-4DEC-A1EB-7F16DDF6C106}"/>
                </c:ext>
              </c:extLst>
            </c:dLbl>
            <c:dLbl>
              <c:idx val="6"/>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9CDF-4DEC-A1EB-7F16DDF6C106}"/>
                </c:ext>
              </c:extLst>
            </c:dLbl>
            <c:dLbl>
              <c:idx val="7"/>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9CDF-4DEC-A1EB-7F16DDF6C106}"/>
                </c:ext>
              </c:extLst>
            </c:dLbl>
            <c:dLbl>
              <c:idx val="8"/>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9CDF-4DEC-A1EB-7F16DDF6C106}"/>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B-9CDF-4DEC-A1EB-7F16DDF6C106}"/>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C-9CDF-4DEC-A1EB-7F16DDF6C106}"/>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D-9CDF-4DEC-A1EB-7F16DDF6C106}"/>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E-9CDF-4DEC-A1EB-7F16DDF6C106}"/>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F-9CDF-4DEC-A1EB-7F16DDF6C106}"/>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0-9CDF-4DEC-A1EB-7F16DDF6C106}"/>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1-9CDF-4DEC-A1EB-7F16DDF6C1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368784.41899999999</c:v>
              </c:pt>
              <c:pt idx="1">
                <c:v>380836.56099999999</c:v>
              </c:pt>
              <c:pt idx="2">
                <c:v>393287.304</c:v>
              </c:pt>
              <c:pt idx="3">
                <c:v>406149.96799999999</c:v>
              </c:pt>
              <c:pt idx="4">
                <c:v>419438.32500000001</c:v>
              </c:pt>
              <c:pt idx="5">
                <c:v>433166.61099999998</c:v>
              </c:pt>
              <c:pt idx="6">
                <c:v>450790.78499999997</c:v>
              </c:pt>
              <c:pt idx="7">
                <c:v>469137.50199999998</c:v>
              </c:pt>
              <c:pt idx="8">
                <c:v>488236.59299999999</c:v>
              </c:pt>
              <c:pt idx="9">
                <c:v>508119.11900000001</c:v>
              </c:pt>
              <c:pt idx="10">
                <c:v>528817.43799999997</c:v>
              </c:pt>
              <c:pt idx="11">
                <c:v>550365.25100000005</c:v>
              </c:pt>
              <c:pt idx="12">
                <c:v>572797.66</c:v>
              </c:pt>
              <c:pt idx="13">
                <c:v>596151.22499999998</c:v>
              </c:pt>
              <c:pt idx="14">
                <c:v>620464.02599999995</c:v>
              </c:pt>
              <c:pt idx="15">
                <c:v>645775.72900000005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32-9CDF-4DEC-A1EB-7F16DDF6C106}"/>
            </c:ext>
          </c:extLst>
        </c:ser>
        <c:ser>
          <c:idx val="3"/>
          <c:order val="3"/>
          <c:tx>
            <c:v>South Asia &amp; Pacific</c:v>
          </c:tx>
          <c:spPr>
            <a:solidFill>
              <a:srgbClr val="40315E"/>
            </a:solidFill>
            <a:ln>
              <a:noFill/>
            </a:ln>
          </c:spPr>
          <c:invertIfNegative val="1"/>
          <c:dLbls>
            <c:dLbl>
              <c:idx val="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3-9CDF-4DEC-A1EB-7F16DDF6C106}"/>
                </c:ext>
              </c:extLst>
            </c:dLbl>
            <c:dLbl>
              <c:idx val="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4-9CDF-4DEC-A1EB-7F16DDF6C106}"/>
                </c:ext>
              </c:extLst>
            </c:dLbl>
            <c:dLbl>
              <c:idx val="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5-9CDF-4DEC-A1EB-7F16DDF6C106}"/>
                </c:ext>
              </c:extLst>
            </c:dLbl>
            <c:dLbl>
              <c:idx val="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6-9CDF-4DEC-A1EB-7F16DDF6C106}"/>
                </c:ext>
              </c:extLst>
            </c:dLbl>
            <c:dLbl>
              <c:idx val="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7-9CDF-4DEC-A1EB-7F16DDF6C106}"/>
                </c:ext>
              </c:extLst>
            </c:dLbl>
            <c:dLbl>
              <c:idx val="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8-9CDF-4DEC-A1EB-7F16DDF6C106}"/>
                </c:ext>
              </c:extLst>
            </c:dLbl>
            <c:dLbl>
              <c:idx val="6"/>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9-9CDF-4DEC-A1EB-7F16DDF6C106}"/>
                </c:ext>
              </c:extLst>
            </c:dLbl>
            <c:dLbl>
              <c:idx val="7"/>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A-9CDF-4DEC-A1EB-7F16DDF6C106}"/>
                </c:ext>
              </c:extLst>
            </c:dLbl>
            <c:dLbl>
              <c:idx val="8"/>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B-9CDF-4DEC-A1EB-7F16DDF6C106}"/>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C-9CDF-4DEC-A1EB-7F16DDF6C106}"/>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D-9CDF-4DEC-A1EB-7F16DDF6C106}"/>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E-9CDF-4DEC-A1EB-7F16DDF6C106}"/>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F-9CDF-4DEC-A1EB-7F16DDF6C106}"/>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0-9CDF-4DEC-A1EB-7F16DDF6C106}"/>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1-9CDF-4DEC-A1EB-7F16DDF6C106}"/>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2-9CDF-4DEC-A1EB-7F16DDF6C1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323313.038</c:v>
              </c:pt>
              <c:pt idx="1">
                <c:v>336615.185</c:v>
              </c:pt>
              <c:pt idx="2">
                <c:v>350501.90100000001</c:v>
              </c:pt>
              <c:pt idx="3">
                <c:v>365000.06699999998</c:v>
              </c:pt>
              <c:pt idx="4">
                <c:v>380137.82799999998</c:v>
              </c:pt>
              <c:pt idx="5">
                <c:v>395944.67300000001</c:v>
              </c:pt>
              <c:pt idx="6">
                <c:v>415597.03</c:v>
              </c:pt>
              <c:pt idx="7">
                <c:v>436268.98300000001</c:v>
              </c:pt>
              <c:pt idx="8">
                <c:v>458015.20299999998</c:v>
              </c:pt>
              <c:pt idx="9">
                <c:v>480893.37300000002</c:v>
              </c:pt>
              <c:pt idx="10">
                <c:v>504964.34600000002</c:v>
              </c:pt>
              <c:pt idx="11">
                <c:v>530292.32700000005</c:v>
              </c:pt>
              <c:pt idx="12">
                <c:v>556945.054</c:v>
              </c:pt>
              <c:pt idx="13">
                <c:v>584994.00399999996</c:v>
              </c:pt>
              <c:pt idx="14">
                <c:v>614514.60499999998</c:v>
              </c:pt>
              <c:pt idx="15">
                <c:v>645586.451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43-9CDF-4DEC-A1EB-7F16DDF6C106}"/>
            </c:ext>
          </c:extLst>
        </c:ser>
        <c:ser>
          <c:idx val="4"/>
          <c:order val="4"/>
          <c:tx>
            <c:v>Latin America</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4-9CDF-4DEC-A1EB-7F16DDF6C106}"/>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5-9CDF-4DEC-A1EB-7F16DDF6C106}"/>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6-9CDF-4DEC-A1EB-7F16DDF6C106}"/>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7-9CDF-4DEC-A1EB-7F16DDF6C106}"/>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8-9CDF-4DEC-A1EB-7F16DDF6C106}"/>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9-9CDF-4DEC-A1EB-7F16DDF6C106}"/>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A-9CDF-4DEC-A1EB-7F16DDF6C106}"/>
                </c:ext>
              </c:extLst>
            </c:dLbl>
            <c:dLbl>
              <c:idx val="7"/>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B-9CDF-4DEC-A1EB-7F16DDF6C106}"/>
                </c:ext>
              </c:extLst>
            </c:dLbl>
            <c:dLbl>
              <c:idx val="8"/>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C-9CDF-4DEC-A1EB-7F16DDF6C106}"/>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D-9CDF-4DEC-A1EB-7F16DDF6C106}"/>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E-9CDF-4DEC-A1EB-7F16DDF6C106}"/>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F-9CDF-4DEC-A1EB-7F16DDF6C106}"/>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0-9CDF-4DEC-A1EB-7F16DDF6C106}"/>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1-9CDF-4DEC-A1EB-7F16DDF6C106}"/>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2-9CDF-4DEC-A1EB-7F16DDF6C106}"/>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3-9CDF-4DEC-A1EB-7F16DDF6C1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221263.10399999999</c:v>
              </c:pt>
              <c:pt idx="1">
                <c:v>229559.353</c:v>
              </c:pt>
              <c:pt idx="2">
                <c:v>238177.53099999999</c:v>
              </c:pt>
              <c:pt idx="3">
                <c:v>247130.48499999999</c:v>
              </c:pt>
              <c:pt idx="4">
                <c:v>256431.59099999999</c:v>
              </c:pt>
              <c:pt idx="5">
                <c:v>266094.76799999998</c:v>
              </c:pt>
              <c:pt idx="6">
                <c:v>278248.46500000003</c:v>
              </c:pt>
              <c:pt idx="7">
                <c:v>290970.11599999998</c:v>
              </c:pt>
              <c:pt idx="8">
                <c:v>304286.78700000001</c:v>
              </c:pt>
              <c:pt idx="9">
                <c:v>318226.85600000003</c:v>
              </c:pt>
              <c:pt idx="10">
                <c:v>332820.076</c:v>
              </c:pt>
              <c:pt idx="11">
                <c:v>348097.64500000002</c:v>
              </c:pt>
              <c:pt idx="12">
                <c:v>364092.27399999998</c:v>
              </c:pt>
              <c:pt idx="13">
                <c:v>380838.25799999997</c:v>
              </c:pt>
              <c:pt idx="14">
                <c:v>398371.56599999999</c:v>
              </c:pt>
              <c:pt idx="15">
                <c:v>416729.91100000002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54-9CDF-4DEC-A1EB-7F16DDF6C106}"/>
            </c:ext>
          </c:extLst>
        </c:ser>
        <c:ser>
          <c:idx val="5"/>
          <c:order val="5"/>
          <c:tx>
            <c:v>Middle East &amp; Africa</c:v>
          </c:tx>
          <c:spPr>
            <a:solidFill>
              <a:srgbClr val="808080"/>
            </a:solidFill>
            <a:ln>
              <a:noFill/>
            </a:ln>
          </c:spPr>
          <c:invertIfNegative val="1"/>
          <c:dLbls>
            <c:dLbl>
              <c:idx val="0"/>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5-9CDF-4DEC-A1EB-7F16DDF6C106}"/>
                </c:ext>
              </c:extLst>
            </c:dLbl>
            <c:dLbl>
              <c:idx val="1"/>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6-9CDF-4DEC-A1EB-7F16DDF6C106}"/>
                </c:ext>
              </c:extLst>
            </c:dLbl>
            <c:dLbl>
              <c:idx val="2"/>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7-9CDF-4DEC-A1EB-7F16DDF6C106}"/>
                </c:ext>
              </c:extLst>
            </c:dLbl>
            <c:dLbl>
              <c:idx val="3"/>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8-9CDF-4DEC-A1EB-7F16DDF6C106}"/>
                </c:ext>
              </c:extLst>
            </c:dLbl>
            <c:dLbl>
              <c:idx val="4"/>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9-9CDF-4DEC-A1EB-7F16DDF6C106}"/>
                </c:ext>
              </c:extLst>
            </c:dLbl>
            <c:dLbl>
              <c:idx val="5"/>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A-9CDF-4DEC-A1EB-7F16DDF6C106}"/>
                </c:ext>
              </c:extLst>
            </c:dLbl>
            <c:dLbl>
              <c:idx val="6"/>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B-9CDF-4DEC-A1EB-7F16DDF6C106}"/>
                </c:ext>
              </c:extLst>
            </c:dLbl>
            <c:dLbl>
              <c:idx val="7"/>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C-9CDF-4DEC-A1EB-7F16DDF6C106}"/>
                </c:ext>
              </c:extLst>
            </c:dLbl>
            <c:dLbl>
              <c:idx val="8"/>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D-9CDF-4DEC-A1EB-7F16DDF6C106}"/>
                </c:ext>
              </c:extLst>
            </c:dLbl>
            <c:dLbl>
              <c:idx val="9"/>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E-9CDF-4DEC-A1EB-7F16DDF6C106}"/>
                </c:ext>
              </c:extLst>
            </c:dLbl>
            <c:dLbl>
              <c:idx val="10"/>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F-9CDF-4DEC-A1EB-7F16DDF6C106}"/>
                </c:ext>
              </c:extLst>
            </c:dLbl>
            <c:dLbl>
              <c:idx val="11"/>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0-9CDF-4DEC-A1EB-7F16DDF6C106}"/>
                </c:ext>
              </c:extLst>
            </c:dLbl>
            <c:dLbl>
              <c:idx val="12"/>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1-9CDF-4DEC-A1EB-7F16DDF6C106}"/>
                </c:ext>
              </c:extLst>
            </c:dLbl>
            <c:dLbl>
              <c:idx val="13"/>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2-9CDF-4DEC-A1EB-7F16DDF6C106}"/>
                </c:ext>
              </c:extLst>
            </c:dLbl>
            <c:dLbl>
              <c:idx val="14"/>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3-9CDF-4DEC-A1EB-7F16DDF6C106}"/>
                </c:ext>
              </c:extLst>
            </c:dLbl>
            <c:dLbl>
              <c:idx val="15"/>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4-9CDF-4DEC-A1EB-7F16DDF6C1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191454.79699999999</c:v>
              </c:pt>
              <c:pt idx="1">
                <c:v>197688.85399999999</c:v>
              </c:pt>
              <c:pt idx="2">
                <c:v>204138.467</c:v>
              </c:pt>
              <c:pt idx="3">
                <c:v>210811.58600000001</c:v>
              </c:pt>
              <c:pt idx="4">
                <c:v>217716.48000000001</c:v>
              </c:pt>
              <c:pt idx="5">
                <c:v>224861.747</c:v>
              </c:pt>
              <c:pt idx="6">
                <c:v>234042.70600000001</c:v>
              </c:pt>
              <c:pt idx="7">
                <c:v>243613.943</c:v>
              </c:pt>
              <c:pt idx="8">
                <c:v>253592.79300000001</c:v>
              </c:pt>
              <c:pt idx="9">
                <c:v>263997.39500000002</c:v>
              </c:pt>
              <c:pt idx="10">
                <c:v>274846.72899999999</c:v>
              </c:pt>
              <c:pt idx="11">
                <c:v>286160.66899999999</c:v>
              </c:pt>
              <c:pt idx="12">
                <c:v>297960.011</c:v>
              </c:pt>
              <c:pt idx="13">
                <c:v>310266.527</c:v>
              </c:pt>
              <c:pt idx="14">
                <c:v>323103.00599999999</c:v>
              </c:pt>
              <c:pt idx="15">
                <c:v>336493.31300000002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65-9CDF-4DEC-A1EB-7F16DDF6C106}"/>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quot;M&quot;"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North America</c:v>
          </c:tx>
          <c:spPr>
            <a:solidFill>
              <a:srgbClr val="3D85C6"/>
            </a:solidFill>
            <a:ln>
              <a:noFill/>
            </a:ln>
          </c:spPr>
          <c:invertIfNegative val="1"/>
          <c:dLbls>
            <c:dLbl>
              <c:idx val="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15C-469A-ADFB-181FB915B240}"/>
                </c:ext>
              </c:extLst>
            </c:dLbl>
            <c:dLbl>
              <c:idx val="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15C-469A-ADFB-181FB915B240}"/>
                </c:ext>
              </c:extLst>
            </c:dLbl>
            <c:dLbl>
              <c:idx val="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15C-469A-ADFB-181FB915B240}"/>
                </c:ext>
              </c:extLst>
            </c:dLbl>
            <c:dLbl>
              <c:idx val="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15C-469A-ADFB-181FB915B240}"/>
                </c:ext>
              </c:extLst>
            </c:dLbl>
            <c:dLbl>
              <c:idx val="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15C-469A-ADFB-181FB915B240}"/>
                </c:ext>
              </c:extLst>
            </c:dLbl>
            <c:dLbl>
              <c:idx val="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15C-469A-ADFB-181FB915B240}"/>
                </c:ext>
              </c:extLst>
            </c:dLbl>
            <c:dLbl>
              <c:idx val="6"/>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15C-469A-ADFB-181FB915B240}"/>
                </c:ext>
              </c:extLst>
            </c:dLbl>
            <c:dLbl>
              <c:idx val="7"/>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15C-469A-ADFB-181FB915B240}"/>
                </c:ext>
              </c:extLst>
            </c:dLbl>
            <c:dLbl>
              <c:idx val="8"/>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15C-469A-ADFB-181FB915B240}"/>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15C-469A-ADFB-181FB915B240}"/>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15C-469A-ADFB-181FB915B240}"/>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15C-469A-ADFB-181FB915B240}"/>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15C-469A-ADFB-181FB915B240}"/>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15C-469A-ADFB-181FB915B240}"/>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15C-469A-ADFB-181FB915B240}"/>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B15C-469A-ADFB-181FB915B2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900.029</c:v>
              </c:pt>
              <c:pt idx="1">
                <c:v>929.24199999999996</c:v>
              </c:pt>
              <c:pt idx="2">
                <c:v>959.41399999999999</c:v>
              </c:pt>
              <c:pt idx="3">
                <c:v>990.57500000000005</c:v>
              </c:pt>
              <c:pt idx="4">
                <c:v>1022.759</c:v>
              </c:pt>
              <c:pt idx="5">
                <c:v>1056</c:v>
              </c:pt>
              <c:pt idx="6">
                <c:v>1098.7809999999999</c:v>
              </c:pt>
              <c:pt idx="7">
                <c:v>1143.307</c:v>
              </c:pt>
              <c:pt idx="8">
                <c:v>1189.6489999999999</c:v>
              </c:pt>
              <c:pt idx="9">
                <c:v>1237.8820000000001</c:v>
              </c:pt>
              <c:pt idx="10">
                <c:v>1288.086</c:v>
              </c:pt>
              <c:pt idx="11">
                <c:v>1340.3389999999999</c:v>
              </c:pt>
              <c:pt idx="12">
                <c:v>1394.7260000000001</c:v>
              </c:pt>
              <c:pt idx="13">
                <c:v>1451.336</c:v>
              </c:pt>
              <c:pt idx="14">
                <c:v>1510.26</c:v>
              </c:pt>
              <c:pt idx="15">
                <c:v>1571.5909999999999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0-B15C-469A-ADFB-181FB915B240}"/>
            </c:ext>
          </c:extLst>
        </c:ser>
        <c:ser>
          <c:idx val="1"/>
          <c:order val="1"/>
          <c:tx>
            <c:v>Europe</c:v>
          </c:tx>
          <c:spPr>
            <a:solidFill>
              <a:srgbClr val="9E7E0A"/>
            </a:solidFill>
            <a:ln>
              <a:noFill/>
            </a:ln>
          </c:spPr>
          <c:invertIfNegative val="1"/>
          <c:dLbls>
            <c:dLbl>
              <c:idx val="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B15C-469A-ADFB-181FB915B240}"/>
                </c:ext>
              </c:extLst>
            </c:dLbl>
            <c:dLbl>
              <c:idx val="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B15C-469A-ADFB-181FB915B240}"/>
                </c:ext>
              </c:extLst>
            </c:dLbl>
            <c:dLbl>
              <c:idx val="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B15C-469A-ADFB-181FB915B240}"/>
                </c:ext>
              </c:extLst>
            </c:dLbl>
            <c:dLbl>
              <c:idx val="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B15C-469A-ADFB-181FB915B240}"/>
                </c:ext>
              </c:extLst>
            </c:dLbl>
            <c:dLbl>
              <c:idx val="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B15C-469A-ADFB-181FB915B240}"/>
                </c:ext>
              </c:extLst>
            </c:dLbl>
            <c:dLbl>
              <c:idx val="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B15C-469A-ADFB-181FB915B240}"/>
                </c:ext>
              </c:extLst>
            </c:dLbl>
            <c:dLbl>
              <c:idx val="6"/>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B15C-469A-ADFB-181FB915B240}"/>
                </c:ext>
              </c:extLst>
            </c:dLbl>
            <c:dLbl>
              <c:idx val="7"/>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B15C-469A-ADFB-181FB915B240}"/>
                </c:ext>
              </c:extLst>
            </c:dLbl>
            <c:dLbl>
              <c:idx val="8"/>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B15C-469A-ADFB-181FB915B240}"/>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B15C-469A-ADFB-181FB915B240}"/>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B15C-469A-ADFB-181FB915B240}"/>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B15C-469A-ADFB-181FB915B240}"/>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D-B15C-469A-ADFB-181FB915B240}"/>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B15C-469A-ADFB-181FB915B240}"/>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F-B15C-469A-ADFB-181FB915B240}"/>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0-B15C-469A-ADFB-181FB915B2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687.995</c:v>
              </c:pt>
              <c:pt idx="1">
                <c:v>719.88400000000001</c:v>
              </c:pt>
              <c:pt idx="2">
                <c:v>753.34699999999998</c:v>
              </c:pt>
              <c:pt idx="3">
                <c:v>788.46299999999997</c:v>
              </c:pt>
              <c:pt idx="4">
                <c:v>825.31500000000005</c:v>
              </c:pt>
              <c:pt idx="5">
                <c:v>864.00099999999998</c:v>
              </c:pt>
              <c:pt idx="6">
                <c:v>911.52</c:v>
              </c:pt>
              <c:pt idx="7">
                <c:v>961.76800000000003</c:v>
              </c:pt>
              <c:pt idx="8">
                <c:v>1014.907</c:v>
              </c:pt>
              <c:pt idx="9">
                <c:v>1071.1079999999999</c:v>
              </c:pt>
              <c:pt idx="10">
                <c:v>1130.5530000000001</c:v>
              </c:pt>
              <c:pt idx="11">
                <c:v>1193.4380000000001</c:v>
              </c:pt>
              <c:pt idx="12">
                <c:v>1259.9659999999999</c:v>
              </c:pt>
              <c:pt idx="13">
                <c:v>1330.356</c:v>
              </c:pt>
              <c:pt idx="14">
                <c:v>1404.8389999999999</c:v>
              </c:pt>
              <c:pt idx="15">
                <c:v>1483.655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21-B15C-469A-ADFB-181FB915B240}"/>
            </c:ext>
          </c:extLst>
        </c:ser>
        <c:ser>
          <c:idx val="2"/>
          <c:order val="2"/>
          <c:tx>
            <c:v>East Asia</c:v>
          </c:tx>
          <c:spPr>
            <a:solidFill>
              <a:srgbClr val="008189"/>
            </a:solidFill>
            <a:ln>
              <a:noFill/>
            </a:ln>
          </c:spPr>
          <c:invertIfNegative val="1"/>
          <c:dLbls>
            <c:dLbl>
              <c:idx val="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2-B15C-469A-ADFB-181FB915B240}"/>
                </c:ext>
              </c:extLst>
            </c:dLbl>
            <c:dLbl>
              <c:idx val="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3-B15C-469A-ADFB-181FB915B240}"/>
                </c:ext>
              </c:extLst>
            </c:dLbl>
            <c:dLbl>
              <c:idx val="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4-B15C-469A-ADFB-181FB915B240}"/>
                </c:ext>
              </c:extLst>
            </c:dLbl>
            <c:dLbl>
              <c:idx val="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5-B15C-469A-ADFB-181FB915B240}"/>
                </c:ext>
              </c:extLst>
            </c:dLbl>
            <c:dLbl>
              <c:idx val="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6-B15C-469A-ADFB-181FB915B240}"/>
                </c:ext>
              </c:extLst>
            </c:dLbl>
            <c:dLbl>
              <c:idx val="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7-B15C-469A-ADFB-181FB915B240}"/>
                </c:ext>
              </c:extLst>
            </c:dLbl>
            <c:dLbl>
              <c:idx val="6"/>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B15C-469A-ADFB-181FB915B240}"/>
                </c:ext>
              </c:extLst>
            </c:dLbl>
            <c:dLbl>
              <c:idx val="7"/>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B15C-469A-ADFB-181FB915B240}"/>
                </c:ext>
              </c:extLst>
            </c:dLbl>
            <c:dLbl>
              <c:idx val="8"/>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B15C-469A-ADFB-181FB915B240}"/>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B-B15C-469A-ADFB-181FB915B240}"/>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C-B15C-469A-ADFB-181FB915B240}"/>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D-B15C-469A-ADFB-181FB915B240}"/>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E-B15C-469A-ADFB-181FB915B240}"/>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F-B15C-469A-ADFB-181FB915B240}"/>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0-B15C-469A-ADFB-181FB915B240}"/>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1-B15C-469A-ADFB-181FB915B2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342.15699999999998</c:v>
              </c:pt>
              <c:pt idx="1">
                <c:v>355.78500000000003</c:v>
              </c:pt>
              <c:pt idx="2">
                <c:v>369.96100000000001</c:v>
              </c:pt>
              <c:pt idx="3">
                <c:v>384.70699999999999</c:v>
              </c:pt>
              <c:pt idx="4">
                <c:v>400.04599999999999</c:v>
              </c:pt>
              <c:pt idx="5">
                <c:v>415.99900000000002</c:v>
              </c:pt>
              <c:pt idx="6">
                <c:v>435.92500000000001</c:v>
              </c:pt>
              <c:pt idx="7">
                <c:v>456.80799999999999</c:v>
              </c:pt>
              <c:pt idx="8">
                <c:v>478.7</c:v>
              </c:pt>
              <c:pt idx="9">
                <c:v>501.64600000000002</c:v>
              </c:pt>
              <c:pt idx="10">
                <c:v>525.697</c:v>
              </c:pt>
              <c:pt idx="11">
                <c:v>550.90899999999999</c:v>
              </c:pt>
              <c:pt idx="12">
                <c:v>577.33799999999997</c:v>
              </c:pt>
              <c:pt idx="13">
                <c:v>605.04</c:v>
              </c:pt>
              <c:pt idx="14">
                <c:v>634.08000000000004</c:v>
              </c:pt>
              <c:pt idx="15">
                <c:v>664.52099999999996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32-B15C-469A-ADFB-181FB915B240}"/>
            </c:ext>
          </c:extLst>
        </c:ser>
        <c:ser>
          <c:idx val="3"/>
          <c:order val="3"/>
          <c:tx>
            <c:v>South Asia &amp; Pacific</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3-B15C-469A-ADFB-181FB915B240}"/>
                </c:ext>
              </c:extLst>
            </c:dLbl>
            <c:dLbl>
              <c:idx val="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4-B15C-469A-ADFB-181FB915B240}"/>
                </c:ext>
              </c:extLst>
            </c:dLbl>
            <c:dLbl>
              <c:idx val="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5-B15C-469A-ADFB-181FB915B240}"/>
                </c:ext>
              </c:extLst>
            </c:dLbl>
            <c:dLbl>
              <c:idx val="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6-B15C-469A-ADFB-181FB915B240}"/>
                </c:ext>
              </c:extLst>
            </c:dLbl>
            <c:dLbl>
              <c:idx val="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7-B15C-469A-ADFB-181FB915B240}"/>
                </c:ext>
              </c:extLst>
            </c:dLbl>
            <c:dLbl>
              <c:idx val="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8-B15C-469A-ADFB-181FB915B240}"/>
                </c:ext>
              </c:extLst>
            </c:dLbl>
            <c:dLbl>
              <c:idx val="6"/>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9-B15C-469A-ADFB-181FB915B240}"/>
                </c:ext>
              </c:extLst>
            </c:dLbl>
            <c:dLbl>
              <c:idx val="7"/>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A-B15C-469A-ADFB-181FB915B240}"/>
                </c:ext>
              </c:extLst>
            </c:dLbl>
            <c:dLbl>
              <c:idx val="8"/>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B-B15C-469A-ADFB-181FB915B240}"/>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C-B15C-469A-ADFB-181FB915B240}"/>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D-B15C-469A-ADFB-181FB915B240}"/>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E-B15C-469A-ADFB-181FB915B240}"/>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F-B15C-469A-ADFB-181FB915B240}"/>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0-B15C-469A-ADFB-181FB915B240}"/>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1-B15C-469A-ADFB-181FB915B240}"/>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2-B15C-469A-ADFB-181FB915B2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301.553</c:v>
              </c:pt>
              <c:pt idx="1">
                <c:v>316.42500000000001</c:v>
              </c:pt>
              <c:pt idx="2">
                <c:v>332.06299999999999</c:v>
              </c:pt>
              <c:pt idx="3">
                <c:v>348.51</c:v>
              </c:pt>
              <c:pt idx="4">
                <c:v>365.80599999999998</c:v>
              </c:pt>
              <c:pt idx="5">
                <c:v>383.99700000000001</c:v>
              </c:pt>
              <c:pt idx="6">
                <c:v>406.209</c:v>
              </c:pt>
              <c:pt idx="7">
                <c:v>429.74599999999998</c:v>
              </c:pt>
              <c:pt idx="8">
                <c:v>454.68700000000001</c:v>
              </c:pt>
              <c:pt idx="9">
                <c:v>481.12</c:v>
              </c:pt>
              <c:pt idx="10">
                <c:v>509.13900000000001</c:v>
              </c:pt>
              <c:pt idx="11">
                <c:v>538.84</c:v>
              </c:pt>
              <c:pt idx="12">
                <c:v>570.32399999999996</c:v>
              </c:pt>
              <c:pt idx="13">
                <c:v>603.70399999999995</c:v>
              </c:pt>
              <c:pt idx="14">
                <c:v>639.09299999999996</c:v>
              </c:pt>
              <c:pt idx="15">
                <c:v>676.61699999999996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43-B15C-469A-ADFB-181FB915B240}"/>
            </c:ext>
          </c:extLst>
        </c:ser>
        <c:ser>
          <c:idx val="4"/>
          <c:order val="4"/>
          <c:tx>
            <c:v>Latin America</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4-B15C-469A-ADFB-181FB915B240}"/>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5-B15C-469A-ADFB-181FB915B240}"/>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6-B15C-469A-ADFB-181FB915B240}"/>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7-B15C-469A-ADFB-181FB915B240}"/>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8-B15C-469A-ADFB-181FB915B240}"/>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9-B15C-469A-ADFB-181FB915B240}"/>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A-B15C-469A-ADFB-181FB915B240}"/>
                </c:ext>
              </c:extLst>
            </c:dLbl>
            <c:dLbl>
              <c:idx val="7"/>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B-B15C-469A-ADFB-181FB915B240}"/>
                </c:ext>
              </c:extLst>
            </c:dLbl>
            <c:dLbl>
              <c:idx val="8"/>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C-B15C-469A-ADFB-181FB915B240}"/>
                </c:ext>
              </c:extLst>
            </c:dLbl>
            <c:dLbl>
              <c:idx val="9"/>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D-B15C-469A-ADFB-181FB915B240}"/>
                </c:ext>
              </c:extLst>
            </c:dLbl>
            <c:dLbl>
              <c:idx val="10"/>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E-B15C-469A-ADFB-181FB915B240}"/>
                </c:ext>
              </c:extLst>
            </c:dLbl>
            <c:dLbl>
              <c:idx val="11"/>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4F-B15C-469A-ADFB-181FB915B240}"/>
                </c:ext>
              </c:extLst>
            </c:dLbl>
            <c:dLbl>
              <c:idx val="12"/>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0-B15C-469A-ADFB-181FB915B240}"/>
                </c:ext>
              </c:extLst>
            </c:dLbl>
            <c:dLbl>
              <c:idx val="13"/>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1-B15C-469A-ADFB-181FB915B240}"/>
                </c:ext>
              </c:extLst>
            </c:dLbl>
            <c:dLbl>
              <c:idx val="14"/>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2-B15C-469A-ADFB-181FB915B240}"/>
                </c:ext>
              </c:extLst>
            </c:dLbl>
            <c:dLbl>
              <c:idx val="15"/>
              <c:numFmt formatCode="&quot;&quot;" sourceLinked="0"/>
              <c:spPr/>
              <c:txPr>
                <a:bodyPr/>
                <a:lstStyle/>
                <a:p>
                  <a:pPr>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3-B15C-469A-ADFB-181FB915B2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205.12899999999999</c:v>
              </c:pt>
              <c:pt idx="1">
                <c:v>214.40299999999999</c:v>
              </c:pt>
              <c:pt idx="2">
                <c:v>224.10599999999999</c:v>
              </c:pt>
              <c:pt idx="3">
                <c:v>234.26</c:v>
              </c:pt>
              <c:pt idx="4">
                <c:v>244.88300000000001</c:v>
              </c:pt>
              <c:pt idx="5">
                <c:v>256</c:v>
              </c:pt>
              <c:pt idx="6">
                <c:v>269.68099999999998</c:v>
              </c:pt>
              <c:pt idx="7">
                <c:v>284.10500000000002</c:v>
              </c:pt>
              <c:pt idx="8">
                <c:v>299.31299999999999</c:v>
              </c:pt>
              <c:pt idx="9">
                <c:v>315.34899999999999</c:v>
              </c:pt>
              <c:pt idx="10">
                <c:v>332.25900000000001</c:v>
              </c:pt>
              <c:pt idx="11">
                <c:v>350.09</c:v>
              </c:pt>
              <c:pt idx="12">
                <c:v>368.892</c:v>
              </c:pt>
              <c:pt idx="13">
                <c:v>388.721</c:v>
              </c:pt>
              <c:pt idx="14">
                <c:v>409.63299999999998</c:v>
              </c:pt>
              <c:pt idx="15">
                <c:v>431.68799999999999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54-B15C-469A-ADFB-181FB915B240}"/>
            </c:ext>
          </c:extLst>
        </c:ser>
        <c:ser>
          <c:idx val="5"/>
          <c:order val="5"/>
          <c:tx>
            <c:v>Middle East &amp; Africa</c:v>
          </c:tx>
          <c:spPr>
            <a:solidFill>
              <a:srgbClr val="808080"/>
            </a:solidFill>
            <a:ln>
              <a:noFill/>
            </a:ln>
          </c:spPr>
          <c:invertIfNegative val="1"/>
          <c:dLbls>
            <c:dLbl>
              <c:idx val="0"/>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5-B15C-469A-ADFB-181FB915B240}"/>
                </c:ext>
              </c:extLst>
            </c:dLbl>
            <c:dLbl>
              <c:idx val="1"/>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6-B15C-469A-ADFB-181FB915B240}"/>
                </c:ext>
              </c:extLst>
            </c:dLbl>
            <c:dLbl>
              <c:idx val="2"/>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7-B15C-469A-ADFB-181FB915B240}"/>
                </c:ext>
              </c:extLst>
            </c:dLbl>
            <c:dLbl>
              <c:idx val="3"/>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8-B15C-469A-ADFB-181FB915B240}"/>
                </c:ext>
              </c:extLst>
            </c:dLbl>
            <c:dLbl>
              <c:idx val="4"/>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9-B15C-469A-ADFB-181FB915B240}"/>
                </c:ext>
              </c:extLst>
            </c:dLbl>
            <c:dLbl>
              <c:idx val="5"/>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A-B15C-469A-ADFB-181FB915B240}"/>
                </c:ext>
              </c:extLst>
            </c:dLbl>
            <c:dLbl>
              <c:idx val="6"/>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B-B15C-469A-ADFB-181FB915B240}"/>
                </c:ext>
              </c:extLst>
            </c:dLbl>
            <c:dLbl>
              <c:idx val="7"/>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C-B15C-469A-ADFB-181FB915B240}"/>
                </c:ext>
              </c:extLst>
            </c:dLbl>
            <c:dLbl>
              <c:idx val="8"/>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D-B15C-469A-ADFB-181FB915B240}"/>
                </c:ext>
              </c:extLst>
            </c:dLbl>
            <c:dLbl>
              <c:idx val="9"/>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E-B15C-469A-ADFB-181FB915B240}"/>
                </c:ext>
              </c:extLst>
            </c:dLbl>
            <c:dLbl>
              <c:idx val="10"/>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5F-B15C-469A-ADFB-181FB915B240}"/>
                </c:ext>
              </c:extLst>
            </c:dLbl>
            <c:dLbl>
              <c:idx val="11"/>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0-B15C-469A-ADFB-181FB915B240}"/>
                </c:ext>
              </c:extLst>
            </c:dLbl>
            <c:dLbl>
              <c:idx val="12"/>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1-B15C-469A-ADFB-181FB915B240}"/>
                </c:ext>
              </c:extLst>
            </c:dLbl>
            <c:dLbl>
              <c:idx val="13"/>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2-B15C-469A-ADFB-181FB915B240}"/>
                </c:ext>
              </c:extLst>
            </c:dLbl>
            <c:dLbl>
              <c:idx val="14"/>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3-B15C-469A-ADFB-181FB915B240}"/>
                </c:ext>
              </c:extLst>
            </c:dLbl>
            <c:dLbl>
              <c:idx val="15"/>
              <c:layout>
                <c:manualLayout>
                  <c:x val="0"/>
                  <c:y val="-8.3000000000000004E-2"/>
                </c:manualLayout>
              </c:layout>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64-B15C-469A-ADFB-181FB915B24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184.06</c:v>
              </c:pt>
              <c:pt idx="1">
                <c:v>191.40700000000001</c:v>
              </c:pt>
              <c:pt idx="2">
                <c:v>199.06399999999999</c:v>
              </c:pt>
              <c:pt idx="3">
                <c:v>207.03700000000001</c:v>
              </c:pt>
              <c:pt idx="4">
                <c:v>215.345</c:v>
              </c:pt>
              <c:pt idx="5">
                <c:v>224.00200000000001</c:v>
              </c:pt>
              <c:pt idx="6">
                <c:v>234.809</c:v>
              </c:pt>
              <c:pt idx="7">
                <c:v>246.15899999999999</c:v>
              </c:pt>
              <c:pt idx="8">
                <c:v>258.072</c:v>
              </c:pt>
              <c:pt idx="9">
                <c:v>270.58100000000002</c:v>
              </c:pt>
              <c:pt idx="10">
                <c:v>283.71600000000001</c:v>
              </c:pt>
              <c:pt idx="11">
                <c:v>297.50700000000001</c:v>
              </c:pt>
              <c:pt idx="12">
                <c:v>311.99</c:v>
              </c:pt>
              <c:pt idx="13">
                <c:v>327.20100000000002</c:v>
              </c:pt>
              <c:pt idx="14">
                <c:v>343.17700000000002</c:v>
              </c:pt>
              <c:pt idx="15">
                <c:v>359.959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65-B15C-469A-ADFB-181FB915B240}"/>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Slotted (Interlocking Grid) Partitions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C41-4E2A-9E72-FA40025C77D3}"/>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C41-4E2A-9E72-FA40025C77D3}"/>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C41-4E2A-9E72-FA40025C77D3}"/>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C41-4E2A-9E72-FA40025C77D3}"/>
                </c:ext>
              </c:extLst>
            </c:dLbl>
            <c:dLbl>
              <c:idx val="4"/>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C41-4E2A-9E72-FA40025C77D3}"/>
                </c:ext>
              </c:extLst>
            </c:dLbl>
            <c:dLbl>
              <c:idx val="5"/>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C41-4E2A-9E72-FA40025C77D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13.495148058528889</c:v>
              </c:pt>
              <c:pt idx="1">
                <c:v>15.385417245788627</c:v>
              </c:pt>
              <c:pt idx="2">
                <c:v>13.336222632542841</c:v>
              </c:pt>
              <c:pt idx="3">
                <c:v>13.712927697648745</c:v>
              </c:pt>
              <c:pt idx="4">
                <c:v>15.864065433001606</c:v>
              </c:pt>
              <c:pt idx="5">
                <c:v>14.210949286423757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6-6C41-4E2A-9E72-FA40025C77D3}"/>
            </c:ext>
          </c:extLst>
        </c:ser>
        <c:ser>
          <c:idx val="1"/>
          <c:order val="1"/>
          <c:tx>
            <c:v>Die-Cut &amp; Folded Partitions (H-dividers, tube/cell inserts)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C41-4E2A-9E72-FA40025C77D3}"/>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C41-4E2A-9E72-FA40025C77D3}"/>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C41-4E2A-9E72-FA40025C77D3}"/>
                </c:ext>
              </c:extLst>
            </c:dLbl>
            <c:dLbl>
              <c:idx val="3"/>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C41-4E2A-9E72-FA40025C77D3}"/>
                </c:ext>
              </c:extLst>
            </c:dLbl>
            <c:dLbl>
              <c:idx val="4"/>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C41-4E2A-9E72-FA40025C77D3}"/>
                </c:ext>
              </c:extLst>
            </c:dLbl>
            <c:dLbl>
              <c:idx val="5"/>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C41-4E2A-9E72-FA40025C77D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25.144530349289777</c:v>
              </c:pt>
              <c:pt idx="1">
                <c:v>24.575619428846764</c:v>
              </c:pt>
              <c:pt idx="2">
                <c:v>29.182523953343843</c:v>
              </c:pt>
              <c:pt idx="3">
                <c:v>25.759920309421723</c:v>
              </c:pt>
              <c:pt idx="4">
                <c:v>26.808590946008337</c:v>
              </c:pt>
              <c:pt idx="5">
                <c:v>28.354387369232835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D-6C41-4E2A-9E72-FA40025C77D3}"/>
            </c:ext>
          </c:extLst>
        </c:ser>
        <c:ser>
          <c:idx val="2"/>
          <c:order val="2"/>
          <c:tx>
            <c:v>Flat Dividers &amp; Layer Pads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C41-4E2A-9E72-FA40025C77D3}"/>
                </c:ext>
              </c:extLst>
            </c:dLbl>
            <c:dLbl>
              <c:idx val="1"/>
              <c:numFmt formatCode="&quot;MMMM&quot;;&quot;MMMM&quot;;&quot;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6C41-4E2A-9E72-FA40025C77D3}"/>
                </c:ext>
              </c:extLst>
            </c:dLbl>
            <c:dLbl>
              <c:idx val="2"/>
              <c:numFmt formatCode="&quot;MMMM&quot;;&quot;MMMM&quot;;&quot;M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6C41-4E2A-9E72-FA40025C77D3}"/>
                </c:ext>
              </c:extLst>
            </c:dLbl>
            <c:dLbl>
              <c:idx val="3"/>
              <c:numFmt formatCode="&quot;MMMM&quot;;&quot;MMMM&quot;;&quot;M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6C41-4E2A-9E72-FA40025C77D3}"/>
                </c:ext>
              </c:extLst>
            </c:dLbl>
            <c:dLbl>
              <c:idx val="4"/>
              <c:numFmt formatCode="&quot;MMMM&quot;;&quot;MMMM&quot;;&quot;M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6C41-4E2A-9E72-FA40025C77D3}"/>
                </c:ext>
              </c:extLst>
            </c:dLbl>
            <c:dLbl>
              <c:idx val="5"/>
              <c:numFmt formatCode="&quot;MMMM&quot;;&quot;MMMM&quot;;&quot;M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6C41-4E2A-9E72-FA40025C77D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61.360321592181336</c:v>
              </c:pt>
              <c:pt idx="1">
                <c:v>60.038963325364612</c:v>
              </c:pt>
              <c:pt idx="2">
                <c:v>57.481253414113333</c:v>
              </c:pt>
              <c:pt idx="3">
                <c:v>60.527151992929532</c:v>
              </c:pt>
              <c:pt idx="4">
                <c:v>57.327343620990057</c:v>
              </c:pt>
              <c:pt idx="5">
                <c:v>57.43466334434342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4-6C41-4E2A-9E72-FA40025C77D3}"/>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Slotted (Interlocking Grid) Partitions</c:v>
          </c:tx>
          <c:spPr>
            <a:solidFill>
              <a:srgbClr val="3D85C6"/>
            </a:solidFill>
          </c:spPr>
          <c:invertIfNegative val="0"/>
          <c:xVal>
            <c:numLit>
              <c:formatCode>General</c:formatCode>
              <c:ptCount val="1"/>
              <c:pt idx="0">
                <c:v>90.829979358248565</c:v>
              </c:pt>
            </c:numLit>
          </c:xVal>
          <c:yVal>
            <c:numLit>
              <c:formatCode>General</c:formatCode>
              <c:ptCount val="1"/>
              <c:pt idx="0">
                <c:v>45.598795499623598</c:v>
              </c:pt>
            </c:numLit>
          </c:yVal>
          <c:bubbleSize>
            <c:numLit>
              <c:formatCode>General</c:formatCode>
              <c:ptCount val="1"/>
              <c:pt idx="0">
                <c:v>755.10599999999999</c:v>
              </c:pt>
            </c:numLit>
          </c:bubbleSize>
          <c:bubble3D val="0"/>
          <c:extLst>
            <c:ext xmlns:c16="http://schemas.microsoft.com/office/drawing/2014/chart" uri="{C3380CC4-5D6E-409C-BE32-E72D297353CC}">
              <c16:uniqueId val="{00000000-3CB7-4E8B-9C04-7000691DAD48}"/>
            </c:ext>
          </c:extLst>
        </c:ser>
        <c:ser>
          <c:idx val="1"/>
          <c:order val="1"/>
          <c:tx>
            <c:v>Die-Cut &amp; Folded Partitions (H-dividers, tube/cell inserts)</c:v>
          </c:tx>
          <c:spPr>
            <a:solidFill>
              <a:srgbClr val="9E7E0A"/>
            </a:solidFill>
          </c:spPr>
          <c:invertIfNegative val="0"/>
          <c:xVal>
            <c:numLit>
              <c:formatCode>General</c:formatCode>
              <c:ptCount val="1"/>
              <c:pt idx="0">
                <c:v>71.429323326440596</c:v>
              </c:pt>
            </c:numLit>
          </c:xVal>
          <c:yVal>
            <c:numLit>
              <c:formatCode>General</c:formatCode>
              <c:ptCount val="1"/>
              <c:pt idx="0">
                <c:v>93.262341644481779</c:v>
              </c:pt>
            </c:numLit>
          </c:yVal>
          <c:bubbleSize>
            <c:numLit>
              <c:formatCode>General</c:formatCode>
              <c:ptCount val="1"/>
              <c:pt idx="0">
                <c:v>1408.182</c:v>
              </c:pt>
            </c:numLit>
          </c:bubbleSize>
          <c:bubble3D val="0"/>
          <c:extLst>
            <c:ext xmlns:c16="http://schemas.microsoft.com/office/drawing/2014/chart" uri="{C3380CC4-5D6E-409C-BE32-E72D297353CC}">
              <c16:uniqueId val="{00000001-3CB7-4E8B-9C04-7000691DAD48}"/>
            </c:ext>
          </c:extLst>
        </c:ser>
        <c:ser>
          <c:idx val="2"/>
          <c:order val="2"/>
          <c:tx>
            <c:v>Flat Dividers &amp; Layer Pads</c:v>
          </c:tx>
          <c:spPr>
            <a:solidFill>
              <a:srgbClr val="008189"/>
            </a:solidFill>
          </c:spPr>
          <c:invertIfNegative val="0"/>
          <c:xVal>
            <c:numLit>
              <c:formatCode>General</c:formatCode>
              <c:ptCount val="1"/>
              <c:pt idx="0">
                <c:v>117.45224259836175</c:v>
              </c:pt>
            </c:numLit>
          </c:xVal>
          <c:yVal>
            <c:numLit>
              <c:formatCode>General</c:formatCode>
              <c:ptCount val="1"/>
              <c:pt idx="0">
                <c:v>161.13886285589467</c:v>
              </c:pt>
            </c:numLit>
          </c:yVal>
          <c:bubbleSize>
            <c:numLit>
              <c:formatCode>General</c:formatCode>
              <c:ptCount val="1"/>
              <c:pt idx="0">
                <c:v>3024.7429999999999</c:v>
              </c:pt>
            </c:numLit>
          </c:bubbleSize>
          <c:bubble3D val="0"/>
          <c:extLst>
            <c:ext xmlns:c16="http://schemas.microsoft.com/office/drawing/2014/chart" uri="{C3380CC4-5D6E-409C-BE32-E72D297353CC}">
              <c16:uniqueId val="{00000002-3CB7-4E8B-9C04-7000691DAD48}"/>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
          <c:min val="55"/>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200"/>
          <c:min val="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486.387</c:v>
              </c:pt>
              <c:pt idx="2">
                <c:v>530.08199999999999</c:v>
              </c:pt>
              <c:pt idx="3">
                <c:v>578.29600000000005</c:v>
              </c:pt>
              <c:pt idx="4">
                <c:v>631.50199999999995</c:v>
              </c:pt>
              <c:pt idx="5">
                <c:v>690.23900000000003</c:v>
              </c:pt>
              <c:pt idx="6">
                <c:v>0</c:v>
              </c:pt>
            </c:numLit>
          </c:val>
          <c:extLst>
            <c:ext xmlns:c16="http://schemas.microsoft.com/office/drawing/2014/chart" uri="{C3380CC4-5D6E-409C-BE32-E72D297353CC}">
              <c16:uniqueId val="{00000000-487C-4C94-9BE8-FB21F6FB96F8}"/>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487C-4C94-9BE8-FB21F6FB96F8}"/>
              </c:ext>
            </c:extLst>
          </c:dPt>
          <c:dPt>
            <c:idx val="1"/>
            <c:invertIfNegative val="1"/>
            <c:bubble3D val="0"/>
            <c:spPr>
              <a:solidFill>
                <a:srgbClr val="008189"/>
              </a:solidFill>
            </c:spPr>
            <c:extLst>
              <c:ext xmlns:c16="http://schemas.microsoft.com/office/drawing/2014/chart" uri="{C3380CC4-5D6E-409C-BE32-E72D297353CC}">
                <c16:uniqueId val="{00000004-487C-4C94-9BE8-FB21F6FB96F8}"/>
              </c:ext>
            </c:extLst>
          </c:dPt>
          <c:dPt>
            <c:idx val="2"/>
            <c:invertIfNegative val="1"/>
            <c:bubble3D val="0"/>
            <c:spPr>
              <a:solidFill>
                <a:srgbClr val="008189"/>
              </a:solidFill>
            </c:spPr>
            <c:extLst>
              <c:ext xmlns:c16="http://schemas.microsoft.com/office/drawing/2014/chart" uri="{C3380CC4-5D6E-409C-BE32-E72D297353CC}">
                <c16:uniqueId val="{00000006-487C-4C94-9BE8-FB21F6FB96F8}"/>
              </c:ext>
            </c:extLst>
          </c:dPt>
          <c:dPt>
            <c:idx val="3"/>
            <c:invertIfNegative val="1"/>
            <c:bubble3D val="0"/>
            <c:spPr>
              <a:solidFill>
                <a:srgbClr val="008189"/>
              </a:solidFill>
            </c:spPr>
            <c:extLst>
              <c:ext xmlns:c16="http://schemas.microsoft.com/office/drawing/2014/chart" uri="{C3380CC4-5D6E-409C-BE32-E72D297353CC}">
                <c16:uniqueId val="{00000008-487C-4C94-9BE8-FB21F6FB96F8}"/>
              </c:ext>
            </c:extLst>
          </c:dPt>
          <c:dPt>
            <c:idx val="4"/>
            <c:invertIfNegative val="1"/>
            <c:bubble3D val="0"/>
            <c:spPr>
              <a:solidFill>
                <a:srgbClr val="008189"/>
              </a:solidFill>
            </c:spPr>
            <c:extLst>
              <c:ext xmlns:c16="http://schemas.microsoft.com/office/drawing/2014/chart" uri="{C3380CC4-5D6E-409C-BE32-E72D297353CC}">
                <c16:uniqueId val="{0000000A-487C-4C94-9BE8-FB21F6FB96F8}"/>
              </c:ext>
            </c:extLst>
          </c:dPt>
          <c:dPt>
            <c:idx val="5"/>
            <c:invertIfNegative val="1"/>
            <c:bubble3D val="0"/>
            <c:spPr>
              <a:solidFill>
                <a:srgbClr val="008189"/>
              </a:solidFill>
            </c:spPr>
            <c:extLst>
              <c:ext xmlns:c16="http://schemas.microsoft.com/office/drawing/2014/chart" uri="{C3380CC4-5D6E-409C-BE32-E72D297353CC}">
                <c16:uniqueId val="{0000000C-487C-4C94-9BE8-FB21F6FB96F8}"/>
              </c:ext>
            </c:extLst>
          </c:dPt>
          <c:dPt>
            <c:idx val="6"/>
            <c:invertIfNegative val="1"/>
            <c:bubble3D val="0"/>
            <c:spPr>
              <a:solidFill>
                <a:srgbClr val="0E72AE"/>
              </a:solidFill>
            </c:spPr>
            <c:extLst>
              <c:ext xmlns:c16="http://schemas.microsoft.com/office/drawing/2014/chart" uri="{C3380CC4-5D6E-409C-BE32-E72D297353CC}">
                <c16:uniqueId val="{0000000E-487C-4C94-9BE8-FB21F6FB96F8}"/>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87C-4C94-9BE8-FB21F6FB96F8}"/>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87C-4C94-9BE8-FB21F6FB96F8}"/>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87C-4C94-9BE8-FB21F6FB96F8}"/>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487C-4C94-9BE8-FB21F6FB96F8}"/>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487C-4C94-9BE8-FB21F6FB96F8}"/>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487C-4C94-9BE8-FB21F6FB96F8}"/>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487C-4C94-9BE8-FB21F6FB96F8}"/>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486.387</c:v>
              </c:pt>
              <c:pt idx="1">
                <c:v>43.694999999999993</c:v>
              </c:pt>
              <c:pt idx="2">
                <c:v>48.214000000000055</c:v>
              </c:pt>
              <c:pt idx="3">
                <c:v>53.205999999999904</c:v>
              </c:pt>
              <c:pt idx="4">
                <c:v>58.73700000000008</c:v>
              </c:pt>
              <c:pt idx="5">
                <c:v>64.866999999999962</c:v>
              </c:pt>
              <c:pt idx="6">
                <c:v>755.10599999999999</c:v>
              </c:pt>
            </c:numLit>
          </c:val>
          <c:extLst>
            <c:ext xmlns:c16="http://schemas.microsoft.com/office/drawing/2014/chart" uri="{C3380CC4-5D6E-409C-BE32-E72D297353CC}">
              <c16:uniqueId val="{0000000F-487C-4C94-9BE8-FB21F6FB96F8}"/>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994.798</c:v>
              </c:pt>
              <c:pt idx="2">
                <c:v>1063.0229999999999</c:v>
              </c:pt>
              <c:pt idx="3">
                <c:v>1137.836</c:v>
              </c:pt>
              <c:pt idx="4">
                <c:v>1219.838</c:v>
              </c:pt>
              <c:pt idx="5">
                <c:v>1309.6980000000001</c:v>
              </c:pt>
              <c:pt idx="6">
                <c:v>0</c:v>
              </c:pt>
            </c:numLit>
          </c:val>
          <c:extLst>
            <c:ext xmlns:c16="http://schemas.microsoft.com/office/drawing/2014/chart" uri="{C3380CC4-5D6E-409C-BE32-E72D297353CC}">
              <c16:uniqueId val="{00000000-BA4E-4B48-8249-1A6256CAF1F9}"/>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BA4E-4B48-8249-1A6256CAF1F9}"/>
              </c:ext>
            </c:extLst>
          </c:dPt>
          <c:dPt>
            <c:idx val="1"/>
            <c:invertIfNegative val="1"/>
            <c:bubble3D val="0"/>
            <c:spPr>
              <a:solidFill>
                <a:srgbClr val="008189"/>
              </a:solidFill>
            </c:spPr>
            <c:extLst>
              <c:ext xmlns:c16="http://schemas.microsoft.com/office/drawing/2014/chart" uri="{C3380CC4-5D6E-409C-BE32-E72D297353CC}">
                <c16:uniqueId val="{00000004-BA4E-4B48-8249-1A6256CAF1F9}"/>
              </c:ext>
            </c:extLst>
          </c:dPt>
          <c:dPt>
            <c:idx val="2"/>
            <c:invertIfNegative val="1"/>
            <c:bubble3D val="0"/>
            <c:spPr>
              <a:solidFill>
                <a:srgbClr val="008189"/>
              </a:solidFill>
            </c:spPr>
            <c:extLst>
              <c:ext xmlns:c16="http://schemas.microsoft.com/office/drawing/2014/chart" uri="{C3380CC4-5D6E-409C-BE32-E72D297353CC}">
                <c16:uniqueId val="{00000006-BA4E-4B48-8249-1A6256CAF1F9}"/>
              </c:ext>
            </c:extLst>
          </c:dPt>
          <c:dPt>
            <c:idx val="3"/>
            <c:invertIfNegative val="1"/>
            <c:bubble3D val="0"/>
            <c:spPr>
              <a:solidFill>
                <a:srgbClr val="008189"/>
              </a:solidFill>
            </c:spPr>
            <c:extLst>
              <c:ext xmlns:c16="http://schemas.microsoft.com/office/drawing/2014/chart" uri="{C3380CC4-5D6E-409C-BE32-E72D297353CC}">
                <c16:uniqueId val="{00000008-BA4E-4B48-8249-1A6256CAF1F9}"/>
              </c:ext>
            </c:extLst>
          </c:dPt>
          <c:dPt>
            <c:idx val="4"/>
            <c:invertIfNegative val="1"/>
            <c:bubble3D val="0"/>
            <c:spPr>
              <a:solidFill>
                <a:srgbClr val="008189"/>
              </a:solidFill>
            </c:spPr>
            <c:extLst>
              <c:ext xmlns:c16="http://schemas.microsoft.com/office/drawing/2014/chart" uri="{C3380CC4-5D6E-409C-BE32-E72D297353CC}">
                <c16:uniqueId val="{0000000A-BA4E-4B48-8249-1A6256CAF1F9}"/>
              </c:ext>
            </c:extLst>
          </c:dPt>
          <c:dPt>
            <c:idx val="5"/>
            <c:invertIfNegative val="1"/>
            <c:bubble3D val="0"/>
            <c:spPr>
              <a:solidFill>
                <a:srgbClr val="008189"/>
              </a:solidFill>
            </c:spPr>
            <c:extLst>
              <c:ext xmlns:c16="http://schemas.microsoft.com/office/drawing/2014/chart" uri="{C3380CC4-5D6E-409C-BE32-E72D297353CC}">
                <c16:uniqueId val="{0000000C-BA4E-4B48-8249-1A6256CAF1F9}"/>
              </c:ext>
            </c:extLst>
          </c:dPt>
          <c:dPt>
            <c:idx val="6"/>
            <c:invertIfNegative val="1"/>
            <c:bubble3D val="0"/>
            <c:spPr>
              <a:solidFill>
                <a:srgbClr val="0E72AE"/>
              </a:solidFill>
            </c:spPr>
            <c:extLst>
              <c:ext xmlns:c16="http://schemas.microsoft.com/office/drawing/2014/chart" uri="{C3380CC4-5D6E-409C-BE32-E72D297353CC}">
                <c16:uniqueId val="{0000000E-BA4E-4B48-8249-1A6256CAF1F9}"/>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A4E-4B48-8249-1A6256CAF1F9}"/>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A4E-4B48-8249-1A6256CAF1F9}"/>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A4E-4B48-8249-1A6256CAF1F9}"/>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A4E-4B48-8249-1A6256CAF1F9}"/>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A4E-4B48-8249-1A6256CAF1F9}"/>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A4E-4B48-8249-1A6256CAF1F9}"/>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A4E-4B48-8249-1A6256CAF1F9}"/>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994.798</c:v>
              </c:pt>
              <c:pt idx="1">
                <c:v>68.224999999999909</c:v>
              </c:pt>
              <c:pt idx="2">
                <c:v>74.813000000000102</c:v>
              </c:pt>
              <c:pt idx="3">
                <c:v>82.001999999999953</c:v>
              </c:pt>
              <c:pt idx="4">
                <c:v>89.860000000000127</c:v>
              </c:pt>
              <c:pt idx="5">
                <c:v>98.483999999999924</c:v>
              </c:pt>
              <c:pt idx="6">
                <c:v>1408.182</c:v>
              </c:pt>
            </c:numLit>
          </c:val>
          <c:extLst>
            <c:ext xmlns:c16="http://schemas.microsoft.com/office/drawing/2014/chart" uri="{C3380CC4-5D6E-409C-BE32-E72D297353CC}">
              <c16:uniqueId val="{0000000F-BA4E-4B48-8249-1A6256CAF1F9}"/>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1718.8140000000001</c:v>
              </c:pt>
              <c:pt idx="2">
                <c:v>1928.788</c:v>
              </c:pt>
              <c:pt idx="3">
                <c:v>2161.5540000000001</c:v>
              </c:pt>
              <c:pt idx="4">
                <c:v>2419.7829999999999</c:v>
              </c:pt>
              <c:pt idx="5">
                <c:v>2706.4209999999998</c:v>
              </c:pt>
              <c:pt idx="6">
                <c:v>0</c:v>
              </c:pt>
            </c:numLit>
          </c:val>
          <c:extLst>
            <c:ext xmlns:c16="http://schemas.microsoft.com/office/drawing/2014/chart" uri="{C3380CC4-5D6E-409C-BE32-E72D297353CC}">
              <c16:uniqueId val="{00000000-CC7A-4264-8135-A805606F166E}"/>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CC7A-4264-8135-A805606F166E}"/>
              </c:ext>
            </c:extLst>
          </c:dPt>
          <c:dPt>
            <c:idx val="1"/>
            <c:invertIfNegative val="1"/>
            <c:bubble3D val="0"/>
            <c:spPr>
              <a:solidFill>
                <a:srgbClr val="008189"/>
              </a:solidFill>
            </c:spPr>
            <c:extLst>
              <c:ext xmlns:c16="http://schemas.microsoft.com/office/drawing/2014/chart" uri="{C3380CC4-5D6E-409C-BE32-E72D297353CC}">
                <c16:uniqueId val="{00000004-CC7A-4264-8135-A805606F166E}"/>
              </c:ext>
            </c:extLst>
          </c:dPt>
          <c:dPt>
            <c:idx val="2"/>
            <c:invertIfNegative val="1"/>
            <c:bubble3D val="0"/>
            <c:spPr>
              <a:solidFill>
                <a:srgbClr val="008189"/>
              </a:solidFill>
            </c:spPr>
            <c:extLst>
              <c:ext xmlns:c16="http://schemas.microsoft.com/office/drawing/2014/chart" uri="{C3380CC4-5D6E-409C-BE32-E72D297353CC}">
                <c16:uniqueId val="{00000006-CC7A-4264-8135-A805606F166E}"/>
              </c:ext>
            </c:extLst>
          </c:dPt>
          <c:dPt>
            <c:idx val="3"/>
            <c:invertIfNegative val="1"/>
            <c:bubble3D val="0"/>
            <c:spPr>
              <a:solidFill>
                <a:srgbClr val="008189"/>
              </a:solidFill>
            </c:spPr>
            <c:extLst>
              <c:ext xmlns:c16="http://schemas.microsoft.com/office/drawing/2014/chart" uri="{C3380CC4-5D6E-409C-BE32-E72D297353CC}">
                <c16:uniqueId val="{00000008-CC7A-4264-8135-A805606F166E}"/>
              </c:ext>
            </c:extLst>
          </c:dPt>
          <c:dPt>
            <c:idx val="4"/>
            <c:invertIfNegative val="1"/>
            <c:bubble3D val="0"/>
            <c:spPr>
              <a:solidFill>
                <a:srgbClr val="008189"/>
              </a:solidFill>
            </c:spPr>
            <c:extLst>
              <c:ext xmlns:c16="http://schemas.microsoft.com/office/drawing/2014/chart" uri="{C3380CC4-5D6E-409C-BE32-E72D297353CC}">
                <c16:uniqueId val="{0000000A-CC7A-4264-8135-A805606F166E}"/>
              </c:ext>
            </c:extLst>
          </c:dPt>
          <c:dPt>
            <c:idx val="5"/>
            <c:invertIfNegative val="1"/>
            <c:bubble3D val="0"/>
            <c:spPr>
              <a:solidFill>
                <a:srgbClr val="008189"/>
              </a:solidFill>
            </c:spPr>
            <c:extLst>
              <c:ext xmlns:c16="http://schemas.microsoft.com/office/drawing/2014/chart" uri="{C3380CC4-5D6E-409C-BE32-E72D297353CC}">
                <c16:uniqueId val="{0000000C-CC7A-4264-8135-A805606F166E}"/>
              </c:ext>
            </c:extLst>
          </c:dPt>
          <c:dPt>
            <c:idx val="6"/>
            <c:invertIfNegative val="1"/>
            <c:bubble3D val="0"/>
            <c:spPr>
              <a:solidFill>
                <a:srgbClr val="0E72AE"/>
              </a:solidFill>
            </c:spPr>
            <c:extLst>
              <c:ext xmlns:c16="http://schemas.microsoft.com/office/drawing/2014/chart" uri="{C3380CC4-5D6E-409C-BE32-E72D297353CC}">
                <c16:uniqueId val="{0000000E-CC7A-4264-8135-A805606F166E}"/>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C7A-4264-8135-A805606F166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C7A-4264-8135-A805606F166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C7A-4264-8135-A805606F166E}"/>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C7A-4264-8135-A805606F166E}"/>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C7A-4264-8135-A805606F166E}"/>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C7A-4264-8135-A805606F166E}"/>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C7A-4264-8135-A805606F166E}"/>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1718.8140000000001</c:v>
              </c:pt>
              <c:pt idx="1">
                <c:v>209.97399999999993</c:v>
              </c:pt>
              <c:pt idx="2">
                <c:v>232.76600000000008</c:v>
              </c:pt>
              <c:pt idx="3">
                <c:v>258.22899999999981</c:v>
              </c:pt>
              <c:pt idx="4">
                <c:v>286.63799999999992</c:v>
              </c:pt>
              <c:pt idx="5">
                <c:v>318.32200000000012</c:v>
              </c:pt>
              <c:pt idx="6">
                <c:v>3024.7429999999999</c:v>
              </c:pt>
            </c:numLit>
          </c:val>
          <c:extLst>
            <c:ext xmlns:c16="http://schemas.microsoft.com/office/drawing/2014/chart" uri="{C3380CC4-5D6E-409C-BE32-E72D297353CC}">
              <c16:uniqueId val="{0000000F-CC7A-4264-8135-A805606F166E}"/>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Flat Dividers &amp; Layer Pads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D0D-419D-9DFC-454DBA6C2782}"/>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D0D-419D-9DFC-454DBA6C2782}"/>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D0D-419D-9DFC-454DBA6C278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50.691989043554507</c:v>
              </c:pt>
              <c:pt idx="1">
                <c:v>53.71295428529821</c:v>
              </c:pt>
              <c:pt idx="2">
                <c:v>58.302330884298883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3D0D-419D-9DFC-454DBA6C2782}"/>
            </c:ext>
          </c:extLst>
        </c:ser>
        <c:ser>
          <c:idx val="1"/>
          <c:order val="1"/>
          <c:tx>
            <c:v>Die-Cut &amp; Folded Partitions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D0D-419D-9DFC-454DBA6C2782}"/>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D0D-419D-9DFC-454DBA6C2782}"/>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D0D-419D-9DFC-454DBA6C278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33.680577414903077</c:v>
              </c:pt>
              <c:pt idx="1">
                <c:v>31.08744721482725</c:v>
              </c:pt>
              <c:pt idx="2">
                <c:v>27.142898722077796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3D0D-419D-9DFC-454DBA6C2782}"/>
            </c:ext>
          </c:extLst>
        </c:ser>
        <c:ser>
          <c:idx val="2"/>
          <c:order val="2"/>
          <c:tx>
            <c:v>Slotted (Interlocking Grid) Partitions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D0D-419D-9DFC-454DBA6C2782}"/>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D0D-419D-9DFC-454DBA6C2782}"/>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D0D-419D-9DFC-454DBA6C278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15.627433541542429</c:v>
              </c:pt>
              <c:pt idx="1">
                <c:v>15.199598499874531</c:v>
              </c:pt>
              <c:pt idx="2">
                <c:v>14.554770393623324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3D0D-419D-9DFC-454DBA6C2782}"/>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Single Wall</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0DA-459C-9163-2AD2CB7798FE}"/>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0DA-459C-9163-2AD2CB7798FE}"/>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0DA-459C-9163-2AD2CB7798FE}"/>
                </c:ext>
              </c:extLst>
            </c:dLbl>
            <c:dLbl>
              <c:idx val="3"/>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0DA-459C-9163-2AD2CB7798FE}"/>
                </c:ext>
              </c:extLst>
            </c:dLbl>
            <c:dLbl>
              <c:idx val="4"/>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0DA-459C-9163-2AD2CB7798FE}"/>
                </c:ext>
              </c:extLst>
            </c:dLbl>
            <c:dLbl>
              <c:idx val="5"/>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0DA-459C-9163-2AD2CB7798F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12.920915993210338</c:v>
              </c:pt>
              <c:pt idx="1">
                <c:v>16.821176405181522</c:v>
              </c:pt>
              <c:pt idx="2">
                <c:v>13.20981579212696</c:v>
              </c:pt>
              <c:pt idx="3">
                <c:v>16.750835406145576</c:v>
              </c:pt>
              <c:pt idx="4">
                <c:v>15.291290765036347</c:v>
              </c:pt>
              <c:pt idx="5">
                <c:v>17.827793618059662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6-60DA-459C-9163-2AD2CB7798FE}"/>
            </c:ext>
          </c:extLst>
        </c:ser>
        <c:ser>
          <c:idx val="1"/>
          <c:order val="1"/>
          <c:tx>
            <c:v>Double Wall</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0DA-459C-9163-2AD2CB7798FE}"/>
                </c:ext>
              </c:extLst>
            </c:dLbl>
            <c:dLbl>
              <c:idx val="1"/>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0DA-459C-9163-2AD2CB7798FE}"/>
                </c:ext>
              </c:extLst>
            </c:dLbl>
            <c:dLbl>
              <c:idx val="2"/>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0DA-459C-9163-2AD2CB7798FE}"/>
                </c:ext>
              </c:extLst>
            </c:dLbl>
            <c:dLbl>
              <c:idx val="3"/>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0DA-459C-9163-2AD2CB7798FE}"/>
                </c:ext>
              </c:extLst>
            </c:dLbl>
            <c:dLbl>
              <c:idx val="4"/>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0DA-459C-9163-2AD2CB7798FE}"/>
                </c:ext>
              </c:extLst>
            </c:dLbl>
            <c:dLbl>
              <c:idx val="5"/>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0DA-459C-9163-2AD2CB7798F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39.343369661544784</c:v>
              </c:pt>
              <c:pt idx="1">
                <c:v>36.622977706121091</c:v>
              </c:pt>
              <c:pt idx="2">
                <c:v>43.82269333851</c:v>
              </c:pt>
              <c:pt idx="3">
                <c:v>37.290815926883312</c:v>
              </c:pt>
              <c:pt idx="4">
                <c:v>43.402408241808239</c:v>
              </c:pt>
              <c:pt idx="5">
                <c:v>42.816356163912879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D-60DA-459C-9163-2AD2CB7798FE}"/>
            </c:ext>
          </c:extLst>
        </c:ser>
        <c:ser>
          <c:idx val="2"/>
          <c:order val="2"/>
          <c:tx>
            <c:v>Triple Wall</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0DA-459C-9163-2AD2CB7798FE}"/>
                </c:ext>
              </c:extLst>
            </c:dLbl>
            <c:dLbl>
              <c:idx val="1"/>
              <c:numFmt formatCode="&quot;MMMM&quot;;&quot;MMMM&quot;;&quot;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60DA-459C-9163-2AD2CB7798FE}"/>
                </c:ext>
              </c:extLst>
            </c:dLbl>
            <c:dLbl>
              <c:idx val="2"/>
              <c:numFmt formatCode="&quot;MMMM&quot;;&quot;MMMM&quot;;&quot;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60DA-459C-9163-2AD2CB7798FE}"/>
                </c:ext>
              </c:extLst>
            </c:dLbl>
            <c:dLbl>
              <c:idx val="3"/>
              <c:numFmt formatCode="&quot;MMMM&quot;;&quot;MMMM&quot;;&quot;M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60DA-459C-9163-2AD2CB7798FE}"/>
                </c:ext>
              </c:extLst>
            </c:dLbl>
            <c:dLbl>
              <c:idx val="4"/>
              <c:numFmt formatCode="&quot;MMMM&quot;;&quot;MMMM&quot;;&quot;M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60DA-459C-9163-2AD2CB7798FE}"/>
                </c:ext>
              </c:extLst>
            </c:dLbl>
            <c:dLbl>
              <c:idx val="5"/>
              <c:numFmt formatCode="&quot;MMMM&quot;;&quot;MMMM&quot;;&quot;M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60DA-459C-9163-2AD2CB7798F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47.73571434524488</c:v>
              </c:pt>
              <c:pt idx="1">
                <c:v>46.555845888697398</c:v>
              </c:pt>
              <c:pt idx="2">
                <c:v>42.967490869363054</c:v>
              </c:pt>
              <c:pt idx="3">
                <c:v>45.958348666971119</c:v>
              </c:pt>
              <c:pt idx="4">
                <c:v>41.306300993155418</c:v>
              </c:pt>
              <c:pt idx="5">
                <c:v>39.355850218027463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4-60DA-459C-9163-2AD2CB7798FE}"/>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Single Wall</c:v>
          </c:tx>
          <c:spPr>
            <a:solidFill>
              <a:srgbClr val="3D85C6"/>
            </a:solidFill>
          </c:spPr>
          <c:invertIfNegative val="0"/>
          <c:xVal>
            <c:numLit>
              <c:formatCode>General</c:formatCode>
              <c:ptCount val="1"/>
              <c:pt idx="0">
                <c:v>71.901582187099081</c:v>
              </c:pt>
            </c:numLit>
          </c:xVal>
          <c:yVal>
            <c:numLit>
              <c:formatCode>General</c:formatCode>
              <c:ptCount val="1"/>
              <c:pt idx="0">
                <c:v>54.667329583540514</c:v>
              </c:pt>
            </c:numLit>
          </c:yVal>
          <c:bubbleSize>
            <c:numLit>
              <c:formatCode>General</c:formatCode>
              <c:ptCount val="1"/>
              <c:pt idx="0">
                <c:v>827.29600000000005</c:v>
              </c:pt>
            </c:numLit>
          </c:bubbleSize>
          <c:bubble3D val="0"/>
          <c:extLst>
            <c:ext xmlns:c16="http://schemas.microsoft.com/office/drawing/2014/chart" uri="{C3380CC4-5D6E-409C-BE32-E72D297353CC}">
              <c16:uniqueId val="{00000000-3D4E-401C-9F82-08FFBA3D734F}"/>
            </c:ext>
          </c:extLst>
        </c:ser>
        <c:ser>
          <c:idx val="1"/>
          <c:order val="1"/>
          <c:tx>
            <c:v>Double Wall</c:v>
          </c:tx>
          <c:spPr>
            <a:solidFill>
              <a:srgbClr val="9E7E0A"/>
            </a:solidFill>
          </c:spPr>
          <c:invertIfNegative val="0"/>
          <c:xVal>
            <c:numLit>
              <c:formatCode>General</c:formatCode>
              <c:ptCount val="1"/>
              <c:pt idx="0">
                <c:v>103.31458063776505</c:v>
              </c:pt>
            </c:numLit>
          </c:xVal>
          <c:yVal>
            <c:numLit>
              <c:formatCode>General</c:formatCode>
              <c:ptCount val="1"/>
              <c:pt idx="0">
                <c:v>122.97144467857647</c:v>
              </c:pt>
            </c:numLit>
          </c:yVal>
          <c:bubbleSize>
            <c:numLit>
              <c:formatCode>General</c:formatCode>
              <c:ptCount val="1"/>
              <c:pt idx="0">
                <c:v>2160.0839999999998</c:v>
              </c:pt>
            </c:numLit>
          </c:bubbleSize>
          <c:bubble3D val="0"/>
          <c:extLst>
            <c:ext xmlns:c16="http://schemas.microsoft.com/office/drawing/2014/chart" uri="{C3380CC4-5D6E-409C-BE32-E72D297353CC}">
              <c16:uniqueId val="{00000001-3D4E-401C-9F82-08FFBA3D734F}"/>
            </c:ext>
          </c:extLst>
        </c:ser>
        <c:ser>
          <c:idx val="2"/>
          <c:order val="2"/>
          <c:tx>
            <c:v>Triple Wall</c:v>
          </c:tx>
          <c:spPr>
            <a:solidFill>
              <a:srgbClr val="008189"/>
            </a:solidFill>
          </c:spPr>
          <c:invertIfNegative val="0"/>
          <c:xVal>
            <c:numLit>
              <c:formatCode>General</c:formatCode>
              <c:ptCount val="1"/>
              <c:pt idx="0">
                <c:v>108.32724208759414</c:v>
              </c:pt>
            </c:numLit>
          </c:xVal>
          <c:yVal>
            <c:numLit>
              <c:formatCode>General</c:formatCode>
              <c:ptCount val="1"/>
              <c:pt idx="0">
                <c:v>122.36122573788305</c:v>
              </c:pt>
            </c:numLit>
          </c:yVal>
          <c:bubbleSize>
            <c:numLit>
              <c:formatCode>General</c:formatCode>
              <c:ptCount val="1"/>
              <c:pt idx="0">
                <c:v>2200.6509999999998</c:v>
              </c:pt>
            </c:numLit>
          </c:bubbleSize>
          <c:bubble3D val="0"/>
          <c:extLst>
            <c:ext xmlns:c16="http://schemas.microsoft.com/office/drawing/2014/chart" uri="{C3380CC4-5D6E-409C-BE32-E72D297353CC}">
              <c16:uniqueId val="{00000002-3D4E-401C-9F82-08FFBA3D734F}"/>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
          <c:min val="60"/>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150"/>
          <c:min val="25"/>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583.11800000000005</c:v>
              </c:pt>
              <c:pt idx="2">
                <c:v>624.52300000000002</c:v>
              </c:pt>
              <c:pt idx="3">
                <c:v>669.33</c:v>
              </c:pt>
              <c:pt idx="4">
                <c:v>717.83799999999997</c:v>
              </c:pt>
              <c:pt idx="5">
                <c:v>770.36699999999996</c:v>
              </c:pt>
              <c:pt idx="6">
                <c:v>0</c:v>
              </c:pt>
            </c:numLit>
          </c:val>
          <c:extLst>
            <c:ext xmlns:c16="http://schemas.microsoft.com/office/drawing/2014/chart" uri="{C3380CC4-5D6E-409C-BE32-E72D297353CC}">
              <c16:uniqueId val="{00000000-670E-46FA-A188-0C0333478D9D}"/>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670E-46FA-A188-0C0333478D9D}"/>
              </c:ext>
            </c:extLst>
          </c:dPt>
          <c:dPt>
            <c:idx val="1"/>
            <c:invertIfNegative val="1"/>
            <c:bubble3D val="0"/>
            <c:spPr>
              <a:solidFill>
                <a:srgbClr val="008189"/>
              </a:solidFill>
            </c:spPr>
            <c:extLst>
              <c:ext xmlns:c16="http://schemas.microsoft.com/office/drawing/2014/chart" uri="{C3380CC4-5D6E-409C-BE32-E72D297353CC}">
                <c16:uniqueId val="{00000004-670E-46FA-A188-0C0333478D9D}"/>
              </c:ext>
            </c:extLst>
          </c:dPt>
          <c:dPt>
            <c:idx val="2"/>
            <c:invertIfNegative val="1"/>
            <c:bubble3D val="0"/>
            <c:spPr>
              <a:solidFill>
                <a:srgbClr val="008189"/>
              </a:solidFill>
            </c:spPr>
            <c:extLst>
              <c:ext xmlns:c16="http://schemas.microsoft.com/office/drawing/2014/chart" uri="{C3380CC4-5D6E-409C-BE32-E72D297353CC}">
                <c16:uniqueId val="{00000006-670E-46FA-A188-0C0333478D9D}"/>
              </c:ext>
            </c:extLst>
          </c:dPt>
          <c:dPt>
            <c:idx val="3"/>
            <c:invertIfNegative val="1"/>
            <c:bubble3D val="0"/>
            <c:spPr>
              <a:solidFill>
                <a:srgbClr val="008189"/>
              </a:solidFill>
            </c:spPr>
            <c:extLst>
              <c:ext xmlns:c16="http://schemas.microsoft.com/office/drawing/2014/chart" uri="{C3380CC4-5D6E-409C-BE32-E72D297353CC}">
                <c16:uniqueId val="{00000008-670E-46FA-A188-0C0333478D9D}"/>
              </c:ext>
            </c:extLst>
          </c:dPt>
          <c:dPt>
            <c:idx val="4"/>
            <c:invertIfNegative val="1"/>
            <c:bubble3D val="0"/>
            <c:spPr>
              <a:solidFill>
                <a:srgbClr val="008189"/>
              </a:solidFill>
            </c:spPr>
            <c:extLst>
              <c:ext xmlns:c16="http://schemas.microsoft.com/office/drawing/2014/chart" uri="{C3380CC4-5D6E-409C-BE32-E72D297353CC}">
                <c16:uniqueId val="{0000000A-670E-46FA-A188-0C0333478D9D}"/>
              </c:ext>
            </c:extLst>
          </c:dPt>
          <c:dPt>
            <c:idx val="5"/>
            <c:invertIfNegative val="1"/>
            <c:bubble3D val="0"/>
            <c:spPr>
              <a:solidFill>
                <a:srgbClr val="008189"/>
              </a:solidFill>
            </c:spPr>
            <c:extLst>
              <c:ext xmlns:c16="http://schemas.microsoft.com/office/drawing/2014/chart" uri="{C3380CC4-5D6E-409C-BE32-E72D297353CC}">
                <c16:uniqueId val="{0000000C-670E-46FA-A188-0C0333478D9D}"/>
              </c:ext>
            </c:extLst>
          </c:dPt>
          <c:dPt>
            <c:idx val="6"/>
            <c:invertIfNegative val="1"/>
            <c:bubble3D val="0"/>
            <c:spPr>
              <a:solidFill>
                <a:srgbClr val="0E72AE"/>
              </a:solidFill>
            </c:spPr>
            <c:extLst>
              <c:ext xmlns:c16="http://schemas.microsoft.com/office/drawing/2014/chart" uri="{C3380CC4-5D6E-409C-BE32-E72D297353CC}">
                <c16:uniqueId val="{0000000E-670E-46FA-A188-0C0333478D9D}"/>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70E-46FA-A188-0C0333478D9D}"/>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70E-46FA-A188-0C0333478D9D}"/>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70E-46FA-A188-0C0333478D9D}"/>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70E-46FA-A188-0C0333478D9D}"/>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70E-46FA-A188-0C0333478D9D}"/>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70E-46FA-A188-0C0333478D9D}"/>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70E-46FA-A188-0C0333478D9D}"/>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583.11800000000005</c:v>
              </c:pt>
              <c:pt idx="1">
                <c:v>41.404999999999973</c:v>
              </c:pt>
              <c:pt idx="2">
                <c:v>44.807000000000016</c:v>
              </c:pt>
              <c:pt idx="3">
                <c:v>48.507999999999925</c:v>
              </c:pt>
              <c:pt idx="4">
                <c:v>52.528999999999996</c:v>
              </c:pt>
              <c:pt idx="5">
                <c:v>56.929000000000087</c:v>
              </c:pt>
              <c:pt idx="6">
                <c:v>827.29600000000005</c:v>
              </c:pt>
            </c:numLit>
          </c:val>
          <c:extLst>
            <c:ext xmlns:c16="http://schemas.microsoft.com/office/drawing/2014/chart" uri="{C3380CC4-5D6E-409C-BE32-E72D297353CC}">
              <c16:uniqueId val="{0000000F-670E-46FA-A188-0C0333478D9D}"/>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1311.6949999999999</c:v>
              </c:pt>
              <c:pt idx="2">
                <c:v>1448.566</c:v>
              </c:pt>
              <c:pt idx="3">
                <c:v>1600.1089999999999</c:v>
              </c:pt>
              <c:pt idx="4">
                <c:v>1767.961</c:v>
              </c:pt>
              <c:pt idx="5">
                <c:v>1953.942</c:v>
              </c:pt>
              <c:pt idx="6">
                <c:v>0</c:v>
              </c:pt>
            </c:numLit>
          </c:val>
          <c:extLst>
            <c:ext xmlns:c16="http://schemas.microsoft.com/office/drawing/2014/chart" uri="{C3380CC4-5D6E-409C-BE32-E72D297353CC}">
              <c16:uniqueId val="{00000000-DC79-4F4B-B2F3-F392FA14495C}"/>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DC79-4F4B-B2F3-F392FA14495C}"/>
              </c:ext>
            </c:extLst>
          </c:dPt>
          <c:dPt>
            <c:idx val="1"/>
            <c:invertIfNegative val="1"/>
            <c:bubble3D val="0"/>
            <c:spPr>
              <a:solidFill>
                <a:srgbClr val="008189"/>
              </a:solidFill>
            </c:spPr>
            <c:extLst>
              <c:ext xmlns:c16="http://schemas.microsoft.com/office/drawing/2014/chart" uri="{C3380CC4-5D6E-409C-BE32-E72D297353CC}">
                <c16:uniqueId val="{00000004-DC79-4F4B-B2F3-F392FA14495C}"/>
              </c:ext>
            </c:extLst>
          </c:dPt>
          <c:dPt>
            <c:idx val="2"/>
            <c:invertIfNegative val="1"/>
            <c:bubble3D val="0"/>
            <c:spPr>
              <a:solidFill>
                <a:srgbClr val="008189"/>
              </a:solidFill>
            </c:spPr>
            <c:extLst>
              <c:ext xmlns:c16="http://schemas.microsoft.com/office/drawing/2014/chart" uri="{C3380CC4-5D6E-409C-BE32-E72D297353CC}">
                <c16:uniqueId val="{00000006-DC79-4F4B-B2F3-F392FA14495C}"/>
              </c:ext>
            </c:extLst>
          </c:dPt>
          <c:dPt>
            <c:idx val="3"/>
            <c:invertIfNegative val="1"/>
            <c:bubble3D val="0"/>
            <c:spPr>
              <a:solidFill>
                <a:srgbClr val="008189"/>
              </a:solidFill>
            </c:spPr>
            <c:extLst>
              <c:ext xmlns:c16="http://schemas.microsoft.com/office/drawing/2014/chart" uri="{C3380CC4-5D6E-409C-BE32-E72D297353CC}">
                <c16:uniqueId val="{00000008-DC79-4F4B-B2F3-F392FA14495C}"/>
              </c:ext>
            </c:extLst>
          </c:dPt>
          <c:dPt>
            <c:idx val="4"/>
            <c:invertIfNegative val="1"/>
            <c:bubble3D val="0"/>
            <c:spPr>
              <a:solidFill>
                <a:srgbClr val="008189"/>
              </a:solidFill>
            </c:spPr>
            <c:extLst>
              <c:ext xmlns:c16="http://schemas.microsoft.com/office/drawing/2014/chart" uri="{C3380CC4-5D6E-409C-BE32-E72D297353CC}">
                <c16:uniqueId val="{0000000A-DC79-4F4B-B2F3-F392FA14495C}"/>
              </c:ext>
            </c:extLst>
          </c:dPt>
          <c:dPt>
            <c:idx val="5"/>
            <c:invertIfNegative val="1"/>
            <c:bubble3D val="0"/>
            <c:spPr>
              <a:solidFill>
                <a:srgbClr val="008189"/>
              </a:solidFill>
            </c:spPr>
            <c:extLst>
              <c:ext xmlns:c16="http://schemas.microsoft.com/office/drawing/2014/chart" uri="{C3380CC4-5D6E-409C-BE32-E72D297353CC}">
                <c16:uniqueId val="{0000000C-DC79-4F4B-B2F3-F392FA14495C}"/>
              </c:ext>
            </c:extLst>
          </c:dPt>
          <c:dPt>
            <c:idx val="6"/>
            <c:invertIfNegative val="1"/>
            <c:bubble3D val="0"/>
            <c:spPr>
              <a:solidFill>
                <a:srgbClr val="0E72AE"/>
              </a:solidFill>
            </c:spPr>
            <c:extLst>
              <c:ext xmlns:c16="http://schemas.microsoft.com/office/drawing/2014/chart" uri="{C3380CC4-5D6E-409C-BE32-E72D297353CC}">
                <c16:uniqueId val="{0000000E-DC79-4F4B-B2F3-F392FA14495C}"/>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C79-4F4B-B2F3-F392FA14495C}"/>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C79-4F4B-B2F3-F392FA14495C}"/>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C79-4F4B-B2F3-F392FA14495C}"/>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C79-4F4B-B2F3-F392FA14495C}"/>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DC79-4F4B-B2F3-F392FA14495C}"/>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C79-4F4B-B2F3-F392FA14495C}"/>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DC79-4F4B-B2F3-F392FA14495C}"/>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1311.6949999999999</c:v>
              </c:pt>
              <c:pt idx="1">
                <c:v>136.87100000000009</c:v>
              </c:pt>
              <c:pt idx="2">
                <c:v>151.54299999999989</c:v>
              </c:pt>
              <c:pt idx="3">
                <c:v>167.85200000000009</c:v>
              </c:pt>
              <c:pt idx="4">
                <c:v>185.98099999999999</c:v>
              </c:pt>
              <c:pt idx="5">
                <c:v>206.14199999999983</c:v>
              </c:pt>
              <c:pt idx="6">
                <c:v>2160.0839999999998</c:v>
              </c:pt>
            </c:numLit>
          </c:val>
          <c:extLst>
            <c:ext xmlns:c16="http://schemas.microsoft.com/office/drawing/2014/chart" uri="{C3380CC4-5D6E-409C-BE32-E72D297353CC}">
              <c16:uniqueId val="{0000000F-DC79-4F4B-B2F3-F392FA14495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1305.1859999999999</c:v>
              </c:pt>
              <c:pt idx="2">
                <c:v>1448.8040000000001</c:v>
              </c:pt>
              <c:pt idx="3">
                <c:v>1608.2470000000001</c:v>
              </c:pt>
              <c:pt idx="4">
                <c:v>1785.3240000000001</c:v>
              </c:pt>
              <c:pt idx="5">
                <c:v>1982.049</c:v>
              </c:pt>
              <c:pt idx="6">
                <c:v>0</c:v>
              </c:pt>
            </c:numLit>
          </c:val>
          <c:extLst>
            <c:ext xmlns:c16="http://schemas.microsoft.com/office/drawing/2014/chart" uri="{C3380CC4-5D6E-409C-BE32-E72D297353CC}">
              <c16:uniqueId val="{00000000-30F9-406A-8EB6-98882B98CE69}"/>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30F9-406A-8EB6-98882B98CE69}"/>
              </c:ext>
            </c:extLst>
          </c:dPt>
          <c:dPt>
            <c:idx val="1"/>
            <c:invertIfNegative val="1"/>
            <c:bubble3D val="0"/>
            <c:spPr>
              <a:solidFill>
                <a:srgbClr val="008189"/>
              </a:solidFill>
            </c:spPr>
            <c:extLst>
              <c:ext xmlns:c16="http://schemas.microsoft.com/office/drawing/2014/chart" uri="{C3380CC4-5D6E-409C-BE32-E72D297353CC}">
                <c16:uniqueId val="{00000004-30F9-406A-8EB6-98882B98CE69}"/>
              </c:ext>
            </c:extLst>
          </c:dPt>
          <c:dPt>
            <c:idx val="2"/>
            <c:invertIfNegative val="1"/>
            <c:bubble3D val="0"/>
            <c:spPr>
              <a:solidFill>
                <a:srgbClr val="008189"/>
              </a:solidFill>
            </c:spPr>
            <c:extLst>
              <c:ext xmlns:c16="http://schemas.microsoft.com/office/drawing/2014/chart" uri="{C3380CC4-5D6E-409C-BE32-E72D297353CC}">
                <c16:uniqueId val="{00000006-30F9-406A-8EB6-98882B98CE69}"/>
              </c:ext>
            </c:extLst>
          </c:dPt>
          <c:dPt>
            <c:idx val="3"/>
            <c:invertIfNegative val="1"/>
            <c:bubble3D val="0"/>
            <c:spPr>
              <a:solidFill>
                <a:srgbClr val="008189"/>
              </a:solidFill>
            </c:spPr>
            <c:extLst>
              <c:ext xmlns:c16="http://schemas.microsoft.com/office/drawing/2014/chart" uri="{C3380CC4-5D6E-409C-BE32-E72D297353CC}">
                <c16:uniqueId val="{00000008-30F9-406A-8EB6-98882B98CE69}"/>
              </c:ext>
            </c:extLst>
          </c:dPt>
          <c:dPt>
            <c:idx val="4"/>
            <c:invertIfNegative val="1"/>
            <c:bubble3D val="0"/>
            <c:spPr>
              <a:solidFill>
                <a:srgbClr val="008189"/>
              </a:solidFill>
            </c:spPr>
            <c:extLst>
              <c:ext xmlns:c16="http://schemas.microsoft.com/office/drawing/2014/chart" uri="{C3380CC4-5D6E-409C-BE32-E72D297353CC}">
                <c16:uniqueId val="{0000000A-30F9-406A-8EB6-98882B98CE69}"/>
              </c:ext>
            </c:extLst>
          </c:dPt>
          <c:dPt>
            <c:idx val="5"/>
            <c:invertIfNegative val="1"/>
            <c:bubble3D val="0"/>
            <c:spPr>
              <a:solidFill>
                <a:srgbClr val="008189"/>
              </a:solidFill>
            </c:spPr>
            <c:extLst>
              <c:ext xmlns:c16="http://schemas.microsoft.com/office/drawing/2014/chart" uri="{C3380CC4-5D6E-409C-BE32-E72D297353CC}">
                <c16:uniqueId val="{0000000C-30F9-406A-8EB6-98882B98CE69}"/>
              </c:ext>
            </c:extLst>
          </c:dPt>
          <c:dPt>
            <c:idx val="6"/>
            <c:invertIfNegative val="1"/>
            <c:bubble3D val="0"/>
            <c:spPr>
              <a:solidFill>
                <a:srgbClr val="0E72AE"/>
              </a:solidFill>
            </c:spPr>
            <c:extLst>
              <c:ext xmlns:c16="http://schemas.microsoft.com/office/drawing/2014/chart" uri="{C3380CC4-5D6E-409C-BE32-E72D297353CC}">
                <c16:uniqueId val="{0000000E-30F9-406A-8EB6-98882B98CE69}"/>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0F9-406A-8EB6-98882B98CE69}"/>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0F9-406A-8EB6-98882B98CE69}"/>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0F9-406A-8EB6-98882B98CE69}"/>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0F9-406A-8EB6-98882B98CE69}"/>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0F9-406A-8EB6-98882B98CE69}"/>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0F9-406A-8EB6-98882B98CE69}"/>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0F9-406A-8EB6-98882B98CE69}"/>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1305.1859999999999</c:v>
              </c:pt>
              <c:pt idx="1">
                <c:v>143.61800000000017</c:v>
              </c:pt>
              <c:pt idx="2">
                <c:v>159.44299999999998</c:v>
              </c:pt>
              <c:pt idx="3">
                <c:v>177.077</c:v>
              </c:pt>
              <c:pt idx="4">
                <c:v>196.72499999999991</c:v>
              </c:pt>
              <c:pt idx="5">
                <c:v>218.60199999999986</c:v>
              </c:pt>
              <c:pt idx="6">
                <c:v>2200.6509999999998</c:v>
              </c:pt>
            </c:numLit>
          </c:val>
          <c:extLst>
            <c:ext xmlns:c16="http://schemas.microsoft.com/office/drawing/2014/chart" uri="{C3380CC4-5D6E-409C-BE32-E72D297353CC}">
              <c16:uniqueId val="{0000000F-30F9-406A-8EB6-98882B98CE69}"/>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Triple Wall</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DC9-4217-B4F7-7BDE4B8ADCFF}"/>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DC9-4217-B4F7-7BDE4B8ADCFF}"/>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DC9-4217-B4F7-7BDE4B8ADCF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39.852220000358649</c:v>
              </c:pt>
              <c:pt idx="1">
                <c:v>40.787075245961013</c:v>
              </c:pt>
              <c:pt idx="2">
                <c:v>42.417845999763685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1DC9-4217-B4F7-7BDE4B8ADCFF}"/>
            </c:ext>
          </c:extLst>
        </c:ser>
        <c:ser>
          <c:idx val="1"/>
          <c:order val="1"/>
          <c:tx>
            <c:v>Double Wall</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DC9-4217-B4F7-7BDE4B8ADCFF}"/>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DC9-4217-B4F7-7BDE4B8ADCFF}"/>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DC9-4217-B4F7-7BDE4B8ADCF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40.613516688586429</c:v>
              </c:pt>
              <c:pt idx="1">
                <c:v>40.990481559525485</c:v>
              </c:pt>
              <c:pt idx="2">
                <c:v>41.635911581869884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1DC9-4217-B4F7-7BDE4B8ADCFF}"/>
            </c:ext>
          </c:extLst>
        </c:ser>
        <c:ser>
          <c:idx val="2"/>
          <c:order val="2"/>
          <c:tx>
            <c:v>Single Wall</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DC9-4217-B4F7-7BDE4B8ADCFF}"/>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DC9-4217-B4F7-7BDE4B8ADCFF}"/>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DC9-4217-B4F7-7BDE4B8ADCF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19.534263311054918</c:v>
              </c:pt>
              <c:pt idx="1">
                <c:v>18.222443194513502</c:v>
              </c:pt>
              <c:pt idx="2">
                <c:v>15.946242418366429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1DC9-4217-B4F7-7BDE4B8ADCFF}"/>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Virgin Kraft Fibre-based</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D62-4806-AA29-37CD6184B0F8}"/>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D62-4806-AA29-37CD6184B0F8}"/>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D62-4806-AA29-37CD6184B0F8}"/>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D62-4806-AA29-37CD6184B0F8}"/>
                </c:ext>
              </c:extLst>
            </c:dLbl>
            <c:dLbl>
              <c:idx val="4"/>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D62-4806-AA29-37CD6184B0F8}"/>
                </c:ext>
              </c:extLst>
            </c:dLbl>
            <c:dLbl>
              <c:idx val="5"/>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D62-4806-AA29-37CD6184B0F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81.585680591400688</c:v>
              </c:pt>
              <c:pt idx="1">
                <c:v>77.922249402346139</c:v>
              </c:pt>
              <c:pt idx="2">
                <c:v>79.85360884005172</c:v>
              </c:pt>
              <c:pt idx="3">
                <c:v>82.586603647262777</c:v>
              </c:pt>
              <c:pt idx="4">
                <c:v>82.598986961254468</c:v>
              </c:pt>
              <c:pt idx="5">
                <c:v>79.131466138454599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6-7D62-4806-AA29-37CD6184B0F8}"/>
            </c:ext>
          </c:extLst>
        </c:ser>
        <c:ser>
          <c:idx val="1"/>
          <c:order val="1"/>
          <c:tx>
            <c:v>Recycled Fibre-based (testliner/recycled medium)</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7D62-4806-AA29-37CD6184B0F8}"/>
                </c:ext>
              </c:extLst>
            </c:dLbl>
            <c:dLbl>
              <c:idx val="1"/>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D62-4806-AA29-37CD6184B0F8}"/>
                </c:ext>
              </c:extLst>
            </c:dLbl>
            <c:dLbl>
              <c:idx val="2"/>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D62-4806-AA29-37CD6184B0F8}"/>
                </c:ext>
              </c:extLst>
            </c:dLbl>
            <c:dLbl>
              <c:idx val="3"/>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D62-4806-AA29-37CD6184B0F8}"/>
                </c:ext>
              </c:extLst>
            </c:dLbl>
            <c:dLbl>
              <c:idx val="4"/>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7D62-4806-AA29-37CD6184B0F8}"/>
                </c:ext>
              </c:extLst>
            </c:dLbl>
            <c:dLbl>
              <c:idx val="5"/>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D62-4806-AA29-37CD6184B0F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18.414319408599315</c:v>
              </c:pt>
              <c:pt idx="1">
                <c:v>22.077750597653861</c:v>
              </c:pt>
              <c:pt idx="2">
                <c:v>20.146391159948294</c:v>
              </c:pt>
              <c:pt idx="3">
                <c:v>17.413396352737223</c:v>
              </c:pt>
              <c:pt idx="4">
                <c:v>17.401013038745532</c:v>
              </c:pt>
              <c:pt idx="5">
                <c:v>20.868533861545401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D-7D62-4806-AA29-37CD6184B0F8}"/>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Virgin Kraft Fibre-based</c:v>
          </c:tx>
          <c:spPr>
            <a:solidFill>
              <a:srgbClr val="3D85C6"/>
            </a:solidFill>
          </c:spPr>
          <c:invertIfNegative val="0"/>
          <c:xVal>
            <c:numLit>
              <c:formatCode>General</c:formatCode>
              <c:ptCount val="1"/>
              <c:pt idx="0">
                <c:v>98.965532230225534</c:v>
              </c:pt>
            </c:numLit>
          </c:xVal>
          <c:yVal>
            <c:numLit>
              <c:formatCode>General</c:formatCode>
              <c:ptCount val="1"/>
              <c:pt idx="0">
                <c:v>162.26180070681272</c:v>
              </c:pt>
            </c:numLit>
          </c:yVal>
          <c:bubbleSize>
            <c:numLit>
              <c:formatCode>General</c:formatCode>
              <c:ptCount val="1"/>
              <c:pt idx="0">
                <c:v>4188.6019999999999</c:v>
              </c:pt>
            </c:numLit>
          </c:bubbleSize>
          <c:bubble3D val="0"/>
          <c:extLst>
            <c:ext xmlns:c16="http://schemas.microsoft.com/office/drawing/2014/chart" uri="{C3380CC4-5D6E-409C-BE32-E72D297353CC}">
              <c16:uniqueId val="{00000000-A13C-4968-A9CD-3441E6D1AD62}"/>
            </c:ext>
          </c:extLst>
        </c:ser>
        <c:ser>
          <c:idx val="1"/>
          <c:order val="1"/>
          <c:tx>
            <c:v>Recycled Fibre-based (testliner/recycled medium)</c:v>
          </c:tx>
          <c:spPr>
            <a:solidFill>
              <a:srgbClr val="9E7E0A"/>
            </a:solidFill>
          </c:spPr>
          <c:invertIfNegative val="0"/>
          <c:xVal>
            <c:numLit>
              <c:formatCode>General</c:formatCode>
              <c:ptCount val="1"/>
              <c:pt idx="0">
                <c:v>104.39685083440354</c:v>
              </c:pt>
            </c:numLit>
          </c:xVal>
          <c:yVal>
            <c:numLit>
              <c:formatCode>General</c:formatCode>
              <c:ptCount val="1"/>
              <c:pt idx="0">
                <c:v>37.738199293187279</c:v>
              </c:pt>
            </c:numLit>
          </c:yVal>
          <c:bubbleSize>
            <c:numLit>
              <c:formatCode>General</c:formatCode>
              <c:ptCount val="1"/>
              <c:pt idx="0">
                <c:v>999.42899999999997</c:v>
              </c:pt>
            </c:numLit>
          </c:bubbleSize>
          <c:bubble3D val="0"/>
          <c:extLst>
            <c:ext xmlns:c16="http://schemas.microsoft.com/office/drawing/2014/chart" uri="{C3380CC4-5D6E-409C-BE32-E72D297353CC}">
              <c16:uniqueId val="{00000001-A13C-4968-A9CD-3441E6D1AD62}"/>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
          <c:min val="90"/>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200"/>
          <c:min val="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2596.1880000000001</c:v>
              </c:pt>
              <c:pt idx="2">
                <c:v>2855.2069999999999</c:v>
              </c:pt>
              <c:pt idx="3">
                <c:v>3140.998</c:v>
              </c:pt>
              <c:pt idx="4">
                <c:v>3456.3910000000001</c:v>
              </c:pt>
              <c:pt idx="5">
                <c:v>3804.4560000000001</c:v>
              </c:pt>
              <c:pt idx="6">
                <c:v>0</c:v>
              </c:pt>
            </c:numLit>
          </c:val>
          <c:extLst>
            <c:ext xmlns:c16="http://schemas.microsoft.com/office/drawing/2014/chart" uri="{C3380CC4-5D6E-409C-BE32-E72D297353CC}">
              <c16:uniqueId val="{00000000-97DC-40F9-AE60-EE59B0E789C3}"/>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97DC-40F9-AE60-EE59B0E789C3}"/>
              </c:ext>
            </c:extLst>
          </c:dPt>
          <c:dPt>
            <c:idx val="1"/>
            <c:invertIfNegative val="1"/>
            <c:bubble3D val="0"/>
            <c:spPr>
              <a:solidFill>
                <a:srgbClr val="008189"/>
              </a:solidFill>
            </c:spPr>
            <c:extLst>
              <c:ext xmlns:c16="http://schemas.microsoft.com/office/drawing/2014/chart" uri="{C3380CC4-5D6E-409C-BE32-E72D297353CC}">
                <c16:uniqueId val="{00000004-97DC-40F9-AE60-EE59B0E789C3}"/>
              </c:ext>
            </c:extLst>
          </c:dPt>
          <c:dPt>
            <c:idx val="2"/>
            <c:invertIfNegative val="1"/>
            <c:bubble3D val="0"/>
            <c:spPr>
              <a:solidFill>
                <a:srgbClr val="008189"/>
              </a:solidFill>
            </c:spPr>
            <c:extLst>
              <c:ext xmlns:c16="http://schemas.microsoft.com/office/drawing/2014/chart" uri="{C3380CC4-5D6E-409C-BE32-E72D297353CC}">
                <c16:uniqueId val="{00000006-97DC-40F9-AE60-EE59B0E789C3}"/>
              </c:ext>
            </c:extLst>
          </c:dPt>
          <c:dPt>
            <c:idx val="3"/>
            <c:invertIfNegative val="1"/>
            <c:bubble3D val="0"/>
            <c:spPr>
              <a:solidFill>
                <a:srgbClr val="008189"/>
              </a:solidFill>
            </c:spPr>
            <c:extLst>
              <c:ext xmlns:c16="http://schemas.microsoft.com/office/drawing/2014/chart" uri="{C3380CC4-5D6E-409C-BE32-E72D297353CC}">
                <c16:uniqueId val="{00000008-97DC-40F9-AE60-EE59B0E789C3}"/>
              </c:ext>
            </c:extLst>
          </c:dPt>
          <c:dPt>
            <c:idx val="4"/>
            <c:invertIfNegative val="1"/>
            <c:bubble3D val="0"/>
            <c:spPr>
              <a:solidFill>
                <a:srgbClr val="008189"/>
              </a:solidFill>
            </c:spPr>
            <c:extLst>
              <c:ext xmlns:c16="http://schemas.microsoft.com/office/drawing/2014/chart" uri="{C3380CC4-5D6E-409C-BE32-E72D297353CC}">
                <c16:uniqueId val="{0000000A-97DC-40F9-AE60-EE59B0E789C3}"/>
              </c:ext>
            </c:extLst>
          </c:dPt>
          <c:dPt>
            <c:idx val="5"/>
            <c:invertIfNegative val="1"/>
            <c:bubble3D val="0"/>
            <c:spPr>
              <a:solidFill>
                <a:srgbClr val="008189"/>
              </a:solidFill>
            </c:spPr>
            <c:extLst>
              <c:ext xmlns:c16="http://schemas.microsoft.com/office/drawing/2014/chart" uri="{C3380CC4-5D6E-409C-BE32-E72D297353CC}">
                <c16:uniqueId val="{0000000C-97DC-40F9-AE60-EE59B0E789C3}"/>
              </c:ext>
            </c:extLst>
          </c:dPt>
          <c:dPt>
            <c:idx val="6"/>
            <c:invertIfNegative val="1"/>
            <c:bubble3D val="0"/>
            <c:spPr>
              <a:solidFill>
                <a:srgbClr val="0E72AE"/>
              </a:solidFill>
            </c:spPr>
            <c:extLst>
              <c:ext xmlns:c16="http://schemas.microsoft.com/office/drawing/2014/chart" uri="{C3380CC4-5D6E-409C-BE32-E72D297353CC}">
                <c16:uniqueId val="{0000000E-97DC-40F9-AE60-EE59B0E789C3}"/>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7DC-40F9-AE60-EE59B0E789C3}"/>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7DC-40F9-AE60-EE59B0E789C3}"/>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7DC-40F9-AE60-EE59B0E789C3}"/>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7DC-40F9-AE60-EE59B0E789C3}"/>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97DC-40F9-AE60-EE59B0E789C3}"/>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97DC-40F9-AE60-EE59B0E789C3}"/>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97DC-40F9-AE60-EE59B0E789C3}"/>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2596.1880000000001</c:v>
              </c:pt>
              <c:pt idx="1">
                <c:v>259.01899999999978</c:v>
              </c:pt>
              <c:pt idx="2">
                <c:v>285.79100000000017</c:v>
              </c:pt>
              <c:pt idx="3">
                <c:v>315.39300000000003</c:v>
              </c:pt>
              <c:pt idx="4">
                <c:v>348.06500000000005</c:v>
              </c:pt>
              <c:pt idx="5">
                <c:v>384.14599999999973</c:v>
              </c:pt>
              <c:pt idx="6">
                <c:v>4188.6019999999999</c:v>
              </c:pt>
            </c:numLit>
          </c:val>
          <c:extLst>
            <c:ext xmlns:c16="http://schemas.microsoft.com/office/drawing/2014/chart" uri="{C3380CC4-5D6E-409C-BE32-E72D297353CC}">
              <c16:uniqueId val="{0000000F-97DC-40F9-AE60-EE59B0E789C3}"/>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603.81100000000004</c:v>
              </c:pt>
              <c:pt idx="2">
                <c:v>666.68600000000004</c:v>
              </c:pt>
              <c:pt idx="3">
                <c:v>736.68799999999999</c:v>
              </c:pt>
              <c:pt idx="4">
                <c:v>814.73199999999997</c:v>
              </c:pt>
              <c:pt idx="5">
                <c:v>901.90200000000004</c:v>
              </c:pt>
              <c:pt idx="6">
                <c:v>0</c:v>
              </c:pt>
            </c:numLit>
          </c:val>
          <c:extLst>
            <c:ext xmlns:c16="http://schemas.microsoft.com/office/drawing/2014/chart" uri="{C3380CC4-5D6E-409C-BE32-E72D297353CC}">
              <c16:uniqueId val="{00000000-2AE9-453D-B672-629356498A10}"/>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2AE9-453D-B672-629356498A10}"/>
              </c:ext>
            </c:extLst>
          </c:dPt>
          <c:dPt>
            <c:idx val="1"/>
            <c:invertIfNegative val="1"/>
            <c:bubble3D val="0"/>
            <c:spPr>
              <a:solidFill>
                <a:srgbClr val="008189"/>
              </a:solidFill>
            </c:spPr>
            <c:extLst>
              <c:ext xmlns:c16="http://schemas.microsoft.com/office/drawing/2014/chart" uri="{C3380CC4-5D6E-409C-BE32-E72D297353CC}">
                <c16:uniqueId val="{00000004-2AE9-453D-B672-629356498A10}"/>
              </c:ext>
            </c:extLst>
          </c:dPt>
          <c:dPt>
            <c:idx val="2"/>
            <c:invertIfNegative val="1"/>
            <c:bubble3D val="0"/>
            <c:spPr>
              <a:solidFill>
                <a:srgbClr val="008189"/>
              </a:solidFill>
            </c:spPr>
            <c:extLst>
              <c:ext xmlns:c16="http://schemas.microsoft.com/office/drawing/2014/chart" uri="{C3380CC4-5D6E-409C-BE32-E72D297353CC}">
                <c16:uniqueId val="{00000006-2AE9-453D-B672-629356498A10}"/>
              </c:ext>
            </c:extLst>
          </c:dPt>
          <c:dPt>
            <c:idx val="3"/>
            <c:invertIfNegative val="1"/>
            <c:bubble3D val="0"/>
            <c:spPr>
              <a:solidFill>
                <a:srgbClr val="008189"/>
              </a:solidFill>
            </c:spPr>
            <c:extLst>
              <c:ext xmlns:c16="http://schemas.microsoft.com/office/drawing/2014/chart" uri="{C3380CC4-5D6E-409C-BE32-E72D297353CC}">
                <c16:uniqueId val="{00000008-2AE9-453D-B672-629356498A10}"/>
              </c:ext>
            </c:extLst>
          </c:dPt>
          <c:dPt>
            <c:idx val="4"/>
            <c:invertIfNegative val="1"/>
            <c:bubble3D val="0"/>
            <c:spPr>
              <a:solidFill>
                <a:srgbClr val="008189"/>
              </a:solidFill>
            </c:spPr>
            <c:extLst>
              <c:ext xmlns:c16="http://schemas.microsoft.com/office/drawing/2014/chart" uri="{C3380CC4-5D6E-409C-BE32-E72D297353CC}">
                <c16:uniqueId val="{0000000A-2AE9-453D-B672-629356498A10}"/>
              </c:ext>
            </c:extLst>
          </c:dPt>
          <c:dPt>
            <c:idx val="5"/>
            <c:invertIfNegative val="1"/>
            <c:bubble3D val="0"/>
            <c:spPr>
              <a:solidFill>
                <a:srgbClr val="008189"/>
              </a:solidFill>
            </c:spPr>
            <c:extLst>
              <c:ext xmlns:c16="http://schemas.microsoft.com/office/drawing/2014/chart" uri="{C3380CC4-5D6E-409C-BE32-E72D297353CC}">
                <c16:uniqueId val="{0000000C-2AE9-453D-B672-629356498A10}"/>
              </c:ext>
            </c:extLst>
          </c:dPt>
          <c:dPt>
            <c:idx val="6"/>
            <c:invertIfNegative val="1"/>
            <c:bubble3D val="0"/>
            <c:spPr>
              <a:solidFill>
                <a:srgbClr val="0E72AE"/>
              </a:solidFill>
            </c:spPr>
            <c:extLst>
              <c:ext xmlns:c16="http://schemas.microsoft.com/office/drawing/2014/chart" uri="{C3380CC4-5D6E-409C-BE32-E72D297353CC}">
                <c16:uniqueId val="{0000000E-2AE9-453D-B672-629356498A10}"/>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AE9-453D-B672-629356498A10}"/>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AE9-453D-B672-629356498A10}"/>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AE9-453D-B672-629356498A10}"/>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AE9-453D-B672-629356498A10}"/>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AE9-453D-B672-629356498A10}"/>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AE9-453D-B672-629356498A10}"/>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AE9-453D-B672-629356498A10}"/>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603.81100000000004</c:v>
              </c:pt>
              <c:pt idx="1">
                <c:v>62.875</c:v>
              </c:pt>
              <c:pt idx="2">
                <c:v>70.001999999999953</c:v>
              </c:pt>
              <c:pt idx="3">
                <c:v>78.043999999999983</c:v>
              </c:pt>
              <c:pt idx="4">
                <c:v>87.170000000000073</c:v>
              </c:pt>
              <c:pt idx="5">
                <c:v>97.52699999999993</c:v>
              </c:pt>
              <c:pt idx="6">
                <c:v>999.42899999999997</c:v>
              </c:pt>
            </c:numLit>
          </c:val>
          <c:extLst>
            <c:ext xmlns:c16="http://schemas.microsoft.com/office/drawing/2014/chart" uri="{C3380CC4-5D6E-409C-BE32-E72D297353CC}">
              <c16:uniqueId val="{0000000F-2AE9-453D-B672-629356498A10}"/>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Virgin Kraft Fibre-based</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2DF-40A2-BBAD-81AC9BEF927F}"/>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2DF-40A2-BBAD-81AC9BEF927F}"/>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2DF-40A2-BBAD-81AC9BEF927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81.255000623826035</c:v>
              </c:pt>
              <c:pt idx="1">
                <c:v>81.130900353406361</c:v>
              </c:pt>
              <c:pt idx="2">
                <c:v>80.735870699307682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42DF-40A2-BBAD-81AC9BEF927F}"/>
            </c:ext>
          </c:extLst>
        </c:ser>
        <c:ser>
          <c:idx val="1"/>
          <c:order val="1"/>
          <c:tx>
            <c:v>Recycled Fibre-based</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2DF-40A2-BBAD-81AC9BEF927F}"/>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2DF-40A2-BBAD-81AC9BEF927F}"/>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2DF-40A2-BBAD-81AC9BEF927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18.744999376173968</c:v>
              </c:pt>
              <c:pt idx="1">
                <c:v>18.869099646593639</c:v>
              </c:pt>
              <c:pt idx="2">
                <c:v>19.264129300692304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42DF-40A2-BBAD-81AC9BEF927F}"/>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Up to 4 Cells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9BE-4667-937F-8BA7364FA059}"/>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9BE-4667-937F-8BA7364FA059}"/>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9BE-4667-937F-8BA7364FA059}"/>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9BE-4667-937F-8BA7364FA059}"/>
                </c:ext>
              </c:extLst>
            </c:dLbl>
            <c:dLbl>
              <c:idx val="4"/>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9BE-4667-937F-8BA7364FA059}"/>
                </c:ext>
              </c:extLst>
            </c:dLbl>
            <c:dLbl>
              <c:idx val="5"/>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9BE-4667-937F-8BA7364FA05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36.017157509605255</c:v>
              </c:pt>
              <c:pt idx="1">
                <c:v>36.453874094253258</c:v>
              </c:pt>
              <c:pt idx="2">
                <c:v>31.455740300156048</c:v>
              </c:pt>
              <c:pt idx="3">
                <c:v>37.772329101988269</c:v>
              </c:pt>
              <c:pt idx="4">
                <c:v>37.81215983500207</c:v>
              </c:pt>
              <c:pt idx="5">
                <c:v>39.040628255061272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6-29BE-4667-937F-8BA7364FA059}"/>
            </c:ext>
          </c:extLst>
        </c:ser>
        <c:ser>
          <c:idx val="1"/>
          <c:order val="1"/>
          <c:tx>
            <c:v>6 to 12 Cells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9BE-4667-937F-8BA7364FA059}"/>
                </c:ext>
              </c:extLst>
            </c:dLbl>
            <c:dLbl>
              <c:idx val="1"/>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9BE-4667-937F-8BA7364FA059}"/>
                </c:ext>
              </c:extLst>
            </c:dLbl>
            <c:dLbl>
              <c:idx val="2"/>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9BE-4667-937F-8BA7364FA059}"/>
                </c:ext>
              </c:extLst>
            </c:dLbl>
            <c:dLbl>
              <c:idx val="3"/>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9BE-4667-937F-8BA7364FA059}"/>
                </c:ext>
              </c:extLst>
            </c:dLbl>
            <c:dLbl>
              <c:idx val="4"/>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9BE-4667-937F-8BA7364FA059}"/>
                </c:ext>
              </c:extLst>
            </c:dLbl>
            <c:dLbl>
              <c:idx val="5"/>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9BE-4667-937F-8BA7364FA05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40.337371756227789</c:v>
              </c:pt>
              <c:pt idx="1">
                <c:v>41.173949704416152</c:v>
              </c:pt>
              <c:pt idx="2">
                <c:v>41.562569128740847</c:v>
              </c:pt>
              <c:pt idx="3">
                <c:v>40.014808968737114</c:v>
              </c:pt>
              <c:pt idx="4">
                <c:v>38.339910558721542</c:v>
              </c:pt>
              <c:pt idx="5">
                <c:v>34.033727604701227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D-29BE-4667-937F-8BA7364FA059}"/>
            </c:ext>
          </c:extLst>
        </c:ser>
        <c:ser>
          <c:idx val="2"/>
          <c:order val="2"/>
          <c:tx>
            <c:v>13 to 24 Cells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9BE-4667-937F-8BA7364FA059}"/>
                </c:ext>
              </c:extLst>
            </c:dLbl>
            <c:dLbl>
              <c:idx val="1"/>
              <c:numFmt formatCode="&quot;MMMM&quot;;&quot;MMMM&quot;;&quot;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9BE-4667-937F-8BA7364FA059}"/>
                </c:ext>
              </c:extLst>
            </c:dLbl>
            <c:dLbl>
              <c:idx val="2"/>
              <c:numFmt formatCode="&quot;MMMM&quot;;&quot;MMMM&quot;;&quot;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29BE-4667-937F-8BA7364FA059}"/>
                </c:ext>
              </c:extLst>
            </c:dLbl>
            <c:dLbl>
              <c:idx val="3"/>
              <c:numFmt formatCode="&quot;MMMM&quot;;&quot;MMMM&quot;;&quot;M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29BE-4667-937F-8BA7364FA059}"/>
                </c:ext>
              </c:extLst>
            </c:dLbl>
            <c:dLbl>
              <c:idx val="4"/>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29BE-4667-937F-8BA7364FA059}"/>
                </c:ext>
              </c:extLst>
            </c:dLbl>
            <c:dLbl>
              <c:idx val="5"/>
              <c:numFmt formatCode="&quot;MMMM&quot;;&quot;MMMM&quot;;&quot;M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29BE-4667-937F-8BA7364FA05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13.749899294086267</c:v>
              </c:pt>
              <c:pt idx="1">
                <c:v>13.567669242601138</c:v>
              </c:pt>
              <c:pt idx="2">
                <c:v>16.817677695663491</c:v>
              </c:pt>
              <c:pt idx="3">
                <c:v>13.478230668162341</c:v>
              </c:pt>
              <c:pt idx="4">
                <c:v>13.736212259588655</c:v>
              </c:pt>
              <c:pt idx="5">
                <c:v>15.75269901647439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4-29BE-4667-937F-8BA7364FA059}"/>
            </c:ext>
          </c:extLst>
        </c:ser>
        <c:ser>
          <c:idx val="3"/>
          <c:order val="3"/>
          <c:tx>
            <c:v>Above 24 Cells</c:v>
          </c:tx>
          <c:spPr>
            <a:solidFill>
              <a:srgbClr val="40315E"/>
            </a:solidFill>
            <a:ln>
              <a:noFill/>
            </a:ln>
          </c:spPr>
          <c:invertIfNegative val="1"/>
          <c:dLbls>
            <c:dLbl>
              <c:idx val="0"/>
              <c:numFmt formatCode="&quot;MMM&quot;;&quot;MMM&quot;;&quot;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29BE-4667-937F-8BA7364FA059}"/>
                </c:ext>
              </c:extLst>
            </c:dLbl>
            <c:dLbl>
              <c:idx val="1"/>
              <c:numFmt formatCode="&quot;MMM&quot;;&quot;MMM&quot;;&quot;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29BE-4667-937F-8BA7364FA059}"/>
                </c:ext>
              </c:extLst>
            </c:dLbl>
            <c:dLbl>
              <c:idx val="2"/>
              <c:numFmt formatCode="&quot;MMMM&quot;;&quot;MMMM&quot;;&quot;MMMM&quot;" sourceLinked="0"/>
              <c:spPr>
                <a:blipFill>
                  <a:blip xmlns:r="http://schemas.openxmlformats.org/officeDocument/2006/relationships"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29BE-4667-937F-8BA7364FA059}"/>
                </c:ext>
              </c:extLst>
            </c:dLbl>
            <c:dLbl>
              <c:idx val="3"/>
              <c:numFmt formatCode="&quot;MMM&quot;;&quot;MMM&quot;;&quot;MMM&quot;" sourceLinked="0"/>
              <c:spPr>
                <a:blipFill>
                  <a:blip xmlns:r="http://schemas.openxmlformats.org/officeDocument/2006/relationships"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29BE-4667-937F-8BA7364FA059}"/>
                </c:ext>
              </c:extLst>
            </c:dLbl>
            <c:dLbl>
              <c:idx val="4"/>
              <c:numFmt formatCode="&quot;MMMM&quot;;&quot;MMMM&quot;;&quot;MMMM&quot;" sourceLinked="0"/>
              <c:spPr>
                <a:blipFill>
                  <a:blip xmlns:r="http://schemas.openxmlformats.org/officeDocument/2006/relationships"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29BE-4667-937F-8BA7364FA059}"/>
                </c:ext>
              </c:extLst>
            </c:dLbl>
            <c:dLbl>
              <c:idx val="5"/>
              <c:numFmt formatCode="&quot;MMMM&quot;;&quot;MMMM&quot;;&quot;MMMM&quot;" sourceLinked="0"/>
              <c:spPr>
                <a:blipFill>
                  <a:blip xmlns:r="http://schemas.openxmlformats.org/officeDocument/2006/relationships"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29BE-4667-937F-8BA7364FA05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9.8955714400806727</c:v>
              </c:pt>
              <c:pt idx="1">
                <c:v>8.8045069587294531</c:v>
              </c:pt>
              <c:pt idx="2">
                <c:v>10.164012875439601</c:v>
              </c:pt>
              <c:pt idx="3">
                <c:v>8.7346312611122681</c:v>
              </c:pt>
              <c:pt idx="4">
                <c:v>10.111717346687742</c:v>
              </c:pt>
              <c:pt idx="5">
                <c:v>11.172945123763117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29BE-4667-937F-8BA7364FA059}"/>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Up to 4 Cells</c:v>
          </c:tx>
          <c:spPr>
            <a:solidFill>
              <a:srgbClr val="3D85C6"/>
            </a:solidFill>
          </c:spPr>
          <c:invertIfNegative val="0"/>
          <c:xVal>
            <c:numLit>
              <c:formatCode>General</c:formatCode>
              <c:ptCount val="1"/>
              <c:pt idx="0">
                <c:v>98.158506640521438</c:v>
              </c:pt>
            </c:numLit>
          </c:xVal>
          <c:yVal>
            <c:numLit>
              <c:formatCode>General</c:formatCode>
              <c:ptCount val="1"/>
              <c:pt idx="0">
                <c:v>149.80567181427244</c:v>
              </c:pt>
            </c:numLit>
          </c:yVal>
          <c:bubbleSize>
            <c:numLit>
              <c:formatCode>General</c:formatCode>
              <c:ptCount val="1"/>
              <c:pt idx="0">
                <c:v>1926.1790000000001</c:v>
              </c:pt>
            </c:numLit>
          </c:bubbleSize>
          <c:bubble3D val="0"/>
          <c:extLst>
            <c:ext xmlns:c16="http://schemas.microsoft.com/office/drawing/2014/chart" uri="{C3380CC4-5D6E-409C-BE32-E72D297353CC}">
              <c16:uniqueId val="{00000000-9307-49B2-BE2A-4F5715A01C67}"/>
            </c:ext>
          </c:extLst>
        </c:ser>
        <c:ser>
          <c:idx val="1"/>
          <c:order val="1"/>
          <c:tx>
            <c:v>6 to 12 Cells</c:v>
          </c:tx>
          <c:spPr>
            <a:solidFill>
              <a:srgbClr val="9E7E0A"/>
            </a:solidFill>
          </c:spPr>
          <c:invertIfNegative val="0"/>
          <c:xVal>
            <c:numLit>
              <c:formatCode>General</c:formatCode>
              <c:ptCount val="1"/>
              <c:pt idx="0">
                <c:v>120.25622216563023</c:v>
              </c:pt>
            </c:numLit>
          </c:xVal>
          <c:yVal>
            <c:numLit>
              <c:formatCode>General</c:formatCode>
              <c:ptCount val="1"/>
              <c:pt idx="0">
                <c:v>138.36054323766979</c:v>
              </c:pt>
            </c:numLit>
          </c:yVal>
          <c:bubbleSize>
            <c:numLit>
              <c:formatCode>General</c:formatCode>
              <c:ptCount val="1"/>
              <c:pt idx="0">
                <c:v>1973.5830000000001</c:v>
              </c:pt>
            </c:numLit>
          </c:bubbleSize>
          <c:bubble3D val="0"/>
          <c:extLst>
            <c:ext xmlns:c16="http://schemas.microsoft.com/office/drawing/2014/chart" uri="{C3380CC4-5D6E-409C-BE32-E72D297353CC}">
              <c16:uniqueId val="{00000001-9307-49B2-BE2A-4F5715A01C67}"/>
            </c:ext>
          </c:extLst>
        </c:ser>
        <c:ser>
          <c:idx val="2"/>
          <c:order val="2"/>
          <c:tx>
            <c:v>13 to 24 Cells</c:v>
          </c:tx>
          <c:spPr>
            <a:solidFill>
              <a:srgbClr val="008189"/>
            </a:solidFill>
          </c:spPr>
          <c:invertIfNegative val="0"/>
          <c:xVal>
            <c:numLit>
              <c:formatCode>General</c:formatCode>
              <c:ptCount val="1"/>
              <c:pt idx="0">
                <c:v>70.895325175131902</c:v>
              </c:pt>
            </c:numLit>
          </c:xVal>
          <c:yVal>
            <c:numLit>
              <c:formatCode>General</c:formatCode>
              <c:ptCount val="1"/>
              <c:pt idx="0">
                <c:v>67.494521092037857</c:v>
              </c:pt>
            </c:numLit>
          </c:yVal>
          <c:bubbleSize>
            <c:numLit>
              <c:formatCode>General</c:formatCode>
              <c:ptCount val="1"/>
              <c:pt idx="0">
                <c:v>762.38300000000004</c:v>
              </c:pt>
            </c:numLit>
          </c:bubbleSize>
          <c:bubble3D val="0"/>
          <c:extLst>
            <c:ext xmlns:c16="http://schemas.microsoft.com/office/drawing/2014/chart" uri="{C3380CC4-5D6E-409C-BE32-E72D297353CC}">
              <c16:uniqueId val="{00000002-9307-49B2-BE2A-4F5715A01C67}"/>
            </c:ext>
          </c:extLst>
        </c:ser>
        <c:ser>
          <c:idx val="3"/>
          <c:order val="3"/>
          <c:tx>
            <c:v>Above 24 Cells</c:v>
          </c:tx>
          <c:spPr>
            <a:solidFill>
              <a:srgbClr val="40315E"/>
            </a:solidFill>
          </c:spPr>
          <c:invertIfNegative val="0"/>
          <c:xVal>
            <c:numLit>
              <c:formatCode>General</c:formatCode>
              <c:ptCount val="1"/>
              <c:pt idx="0">
                <c:v>81.12581438625898</c:v>
              </c:pt>
            </c:numLit>
          </c:xVal>
          <c:yVal>
            <c:numLit>
              <c:formatCode>General</c:formatCode>
              <c:ptCount val="1"/>
              <c:pt idx="0">
                <c:v>44.339263856019954</c:v>
              </c:pt>
            </c:numLit>
          </c:yVal>
          <c:bubbleSize>
            <c:numLit>
              <c:formatCode>General</c:formatCode>
              <c:ptCount val="1"/>
              <c:pt idx="0">
                <c:v>525.88599999999997</c:v>
              </c:pt>
            </c:numLit>
          </c:bubbleSize>
          <c:bubble3D val="0"/>
          <c:extLst>
            <c:ext xmlns:c16="http://schemas.microsoft.com/office/drawing/2014/chart" uri="{C3380CC4-5D6E-409C-BE32-E72D297353CC}">
              <c16:uniqueId val="{00000003-9307-49B2-BE2A-4F5715A01C67}"/>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
          <c:min val="55"/>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200"/>
          <c:min val="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1198.4449999999999</c:v>
              </c:pt>
              <c:pt idx="2">
                <c:v>1316.675</c:v>
              </c:pt>
              <c:pt idx="3">
                <c:v>1447.152</c:v>
              </c:pt>
              <c:pt idx="4">
                <c:v>1591.211</c:v>
              </c:pt>
              <c:pt idx="5">
                <c:v>1750.337</c:v>
              </c:pt>
              <c:pt idx="6">
                <c:v>0</c:v>
              </c:pt>
            </c:numLit>
          </c:val>
          <c:extLst>
            <c:ext xmlns:c16="http://schemas.microsoft.com/office/drawing/2014/chart" uri="{C3380CC4-5D6E-409C-BE32-E72D297353CC}">
              <c16:uniqueId val="{00000000-0BB6-4132-B73F-5608D9087239}"/>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0BB6-4132-B73F-5608D9087239}"/>
              </c:ext>
            </c:extLst>
          </c:dPt>
          <c:dPt>
            <c:idx val="1"/>
            <c:invertIfNegative val="1"/>
            <c:bubble3D val="0"/>
            <c:spPr>
              <a:solidFill>
                <a:srgbClr val="008189"/>
              </a:solidFill>
            </c:spPr>
            <c:extLst>
              <c:ext xmlns:c16="http://schemas.microsoft.com/office/drawing/2014/chart" uri="{C3380CC4-5D6E-409C-BE32-E72D297353CC}">
                <c16:uniqueId val="{00000004-0BB6-4132-B73F-5608D9087239}"/>
              </c:ext>
            </c:extLst>
          </c:dPt>
          <c:dPt>
            <c:idx val="2"/>
            <c:invertIfNegative val="1"/>
            <c:bubble3D val="0"/>
            <c:spPr>
              <a:solidFill>
                <a:srgbClr val="008189"/>
              </a:solidFill>
            </c:spPr>
            <c:extLst>
              <c:ext xmlns:c16="http://schemas.microsoft.com/office/drawing/2014/chart" uri="{C3380CC4-5D6E-409C-BE32-E72D297353CC}">
                <c16:uniqueId val="{00000006-0BB6-4132-B73F-5608D9087239}"/>
              </c:ext>
            </c:extLst>
          </c:dPt>
          <c:dPt>
            <c:idx val="3"/>
            <c:invertIfNegative val="1"/>
            <c:bubble3D val="0"/>
            <c:spPr>
              <a:solidFill>
                <a:srgbClr val="008189"/>
              </a:solidFill>
            </c:spPr>
            <c:extLst>
              <c:ext xmlns:c16="http://schemas.microsoft.com/office/drawing/2014/chart" uri="{C3380CC4-5D6E-409C-BE32-E72D297353CC}">
                <c16:uniqueId val="{00000008-0BB6-4132-B73F-5608D9087239}"/>
              </c:ext>
            </c:extLst>
          </c:dPt>
          <c:dPt>
            <c:idx val="4"/>
            <c:invertIfNegative val="1"/>
            <c:bubble3D val="0"/>
            <c:spPr>
              <a:solidFill>
                <a:srgbClr val="008189"/>
              </a:solidFill>
            </c:spPr>
            <c:extLst>
              <c:ext xmlns:c16="http://schemas.microsoft.com/office/drawing/2014/chart" uri="{C3380CC4-5D6E-409C-BE32-E72D297353CC}">
                <c16:uniqueId val="{0000000A-0BB6-4132-B73F-5608D9087239}"/>
              </c:ext>
            </c:extLst>
          </c:dPt>
          <c:dPt>
            <c:idx val="5"/>
            <c:invertIfNegative val="1"/>
            <c:bubble3D val="0"/>
            <c:spPr>
              <a:solidFill>
                <a:srgbClr val="008189"/>
              </a:solidFill>
            </c:spPr>
            <c:extLst>
              <c:ext xmlns:c16="http://schemas.microsoft.com/office/drawing/2014/chart" uri="{C3380CC4-5D6E-409C-BE32-E72D297353CC}">
                <c16:uniqueId val="{0000000C-0BB6-4132-B73F-5608D9087239}"/>
              </c:ext>
            </c:extLst>
          </c:dPt>
          <c:dPt>
            <c:idx val="6"/>
            <c:invertIfNegative val="1"/>
            <c:bubble3D val="0"/>
            <c:spPr>
              <a:solidFill>
                <a:srgbClr val="0E72AE"/>
              </a:solidFill>
            </c:spPr>
            <c:extLst>
              <c:ext xmlns:c16="http://schemas.microsoft.com/office/drawing/2014/chart" uri="{C3380CC4-5D6E-409C-BE32-E72D297353CC}">
                <c16:uniqueId val="{0000000E-0BB6-4132-B73F-5608D9087239}"/>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BB6-4132-B73F-5608D9087239}"/>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BB6-4132-B73F-5608D9087239}"/>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BB6-4132-B73F-5608D9087239}"/>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BB6-4132-B73F-5608D9087239}"/>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0BB6-4132-B73F-5608D9087239}"/>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0BB6-4132-B73F-5608D9087239}"/>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0BB6-4132-B73F-5608D9087239}"/>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1198.4449999999999</c:v>
              </c:pt>
              <c:pt idx="1">
                <c:v>118.23000000000002</c:v>
              </c:pt>
              <c:pt idx="2">
                <c:v>130.47700000000009</c:v>
              </c:pt>
              <c:pt idx="3">
                <c:v>144.05899999999997</c:v>
              </c:pt>
              <c:pt idx="4">
                <c:v>159.12599999999998</c:v>
              </c:pt>
              <c:pt idx="5">
                <c:v>175.8420000000001</c:v>
              </c:pt>
              <c:pt idx="6">
                <c:v>1926.1790000000001</c:v>
              </c:pt>
            </c:numLit>
          </c:val>
          <c:extLst>
            <c:ext xmlns:c16="http://schemas.microsoft.com/office/drawing/2014/chart" uri="{C3380CC4-5D6E-409C-BE32-E72D297353CC}">
              <c16:uniqueId val="{0000000F-0BB6-4132-B73F-5608D9087239}"/>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1106.884</c:v>
              </c:pt>
              <c:pt idx="2">
                <c:v>1243.1859999999999</c:v>
              </c:pt>
              <c:pt idx="3">
                <c:v>1395.896</c:v>
              </c:pt>
              <c:pt idx="4">
                <c:v>1567</c:v>
              </c:pt>
              <c:pt idx="5">
                <c:v>1758.731</c:v>
              </c:pt>
              <c:pt idx="6">
                <c:v>0</c:v>
              </c:pt>
            </c:numLit>
          </c:val>
          <c:extLst>
            <c:ext xmlns:c16="http://schemas.microsoft.com/office/drawing/2014/chart" uri="{C3380CC4-5D6E-409C-BE32-E72D297353CC}">
              <c16:uniqueId val="{00000000-BBCB-40E1-B3A7-B4B22E2F2E8A}"/>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BBCB-40E1-B3A7-B4B22E2F2E8A}"/>
              </c:ext>
            </c:extLst>
          </c:dPt>
          <c:dPt>
            <c:idx val="1"/>
            <c:invertIfNegative val="1"/>
            <c:bubble3D val="0"/>
            <c:spPr>
              <a:solidFill>
                <a:srgbClr val="008189"/>
              </a:solidFill>
            </c:spPr>
            <c:extLst>
              <c:ext xmlns:c16="http://schemas.microsoft.com/office/drawing/2014/chart" uri="{C3380CC4-5D6E-409C-BE32-E72D297353CC}">
                <c16:uniqueId val="{00000004-BBCB-40E1-B3A7-B4B22E2F2E8A}"/>
              </c:ext>
            </c:extLst>
          </c:dPt>
          <c:dPt>
            <c:idx val="2"/>
            <c:invertIfNegative val="1"/>
            <c:bubble3D val="0"/>
            <c:spPr>
              <a:solidFill>
                <a:srgbClr val="008189"/>
              </a:solidFill>
            </c:spPr>
            <c:extLst>
              <c:ext xmlns:c16="http://schemas.microsoft.com/office/drawing/2014/chart" uri="{C3380CC4-5D6E-409C-BE32-E72D297353CC}">
                <c16:uniqueId val="{00000006-BBCB-40E1-B3A7-B4B22E2F2E8A}"/>
              </c:ext>
            </c:extLst>
          </c:dPt>
          <c:dPt>
            <c:idx val="3"/>
            <c:invertIfNegative val="1"/>
            <c:bubble3D val="0"/>
            <c:spPr>
              <a:solidFill>
                <a:srgbClr val="008189"/>
              </a:solidFill>
            </c:spPr>
            <c:extLst>
              <c:ext xmlns:c16="http://schemas.microsoft.com/office/drawing/2014/chart" uri="{C3380CC4-5D6E-409C-BE32-E72D297353CC}">
                <c16:uniqueId val="{00000008-BBCB-40E1-B3A7-B4B22E2F2E8A}"/>
              </c:ext>
            </c:extLst>
          </c:dPt>
          <c:dPt>
            <c:idx val="4"/>
            <c:invertIfNegative val="1"/>
            <c:bubble3D val="0"/>
            <c:spPr>
              <a:solidFill>
                <a:srgbClr val="008189"/>
              </a:solidFill>
            </c:spPr>
            <c:extLst>
              <c:ext xmlns:c16="http://schemas.microsoft.com/office/drawing/2014/chart" uri="{C3380CC4-5D6E-409C-BE32-E72D297353CC}">
                <c16:uniqueId val="{0000000A-BBCB-40E1-B3A7-B4B22E2F2E8A}"/>
              </c:ext>
            </c:extLst>
          </c:dPt>
          <c:dPt>
            <c:idx val="5"/>
            <c:invertIfNegative val="1"/>
            <c:bubble3D val="0"/>
            <c:spPr>
              <a:solidFill>
                <a:srgbClr val="008189"/>
              </a:solidFill>
            </c:spPr>
            <c:extLst>
              <c:ext xmlns:c16="http://schemas.microsoft.com/office/drawing/2014/chart" uri="{C3380CC4-5D6E-409C-BE32-E72D297353CC}">
                <c16:uniqueId val="{0000000C-BBCB-40E1-B3A7-B4B22E2F2E8A}"/>
              </c:ext>
            </c:extLst>
          </c:dPt>
          <c:dPt>
            <c:idx val="6"/>
            <c:invertIfNegative val="1"/>
            <c:bubble3D val="0"/>
            <c:spPr>
              <a:solidFill>
                <a:srgbClr val="0E72AE"/>
              </a:solidFill>
            </c:spPr>
            <c:extLst>
              <c:ext xmlns:c16="http://schemas.microsoft.com/office/drawing/2014/chart" uri="{C3380CC4-5D6E-409C-BE32-E72D297353CC}">
                <c16:uniqueId val="{0000000E-BBCB-40E1-B3A7-B4B22E2F2E8A}"/>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BCB-40E1-B3A7-B4B22E2F2E8A}"/>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BCB-40E1-B3A7-B4B22E2F2E8A}"/>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BCB-40E1-B3A7-B4B22E2F2E8A}"/>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BCB-40E1-B3A7-B4B22E2F2E8A}"/>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BCB-40E1-B3A7-B4B22E2F2E8A}"/>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BCB-40E1-B3A7-B4B22E2F2E8A}"/>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BCB-40E1-B3A7-B4B22E2F2E8A}"/>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1106.884</c:v>
              </c:pt>
              <c:pt idx="1">
                <c:v>136.30199999999991</c:v>
              </c:pt>
              <c:pt idx="2">
                <c:v>152.71000000000004</c:v>
              </c:pt>
              <c:pt idx="3">
                <c:v>171.10400000000004</c:v>
              </c:pt>
              <c:pt idx="4">
                <c:v>191.73099999999999</c:v>
              </c:pt>
              <c:pt idx="5">
                <c:v>214.85200000000009</c:v>
              </c:pt>
              <c:pt idx="6">
                <c:v>1973.5830000000001</c:v>
              </c:pt>
            </c:numLit>
          </c:val>
          <c:extLst>
            <c:ext xmlns:c16="http://schemas.microsoft.com/office/drawing/2014/chart" uri="{C3380CC4-5D6E-409C-BE32-E72D297353CC}">
              <c16:uniqueId val="{0000000F-BBCB-40E1-B3A7-B4B22E2F2E8A}"/>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539.95600000000002</c:v>
              </c:pt>
              <c:pt idx="2">
                <c:v>578.49400000000003</c:v>
              </c:pt>
              <c:pt idx="3">
                <c:v>619.80399999999997</c:v>
              </c:pt>
              <c:pt idx="4">
                <c:v>664.09</c:v>
              </c:pt>
              <c:pt idx="5">
                <c:v>711.53800000000001</c:v>
              </c:pt>
              <c:pt idx="6">
                <c:v>0</c:v>
              </c:pt>
            </c:numLit>
          </c:val>
          <c:extLst>
            <c:ext xmlns:c16="http://schemas.microsoft.com/office/drawing/2014/chart" uri="{C3380CC4-5D6E-409C-BE32-E72D297353CC}">
              <c16:uniqueId val="{00000000-AFC0-410B-A99F-D86D2687D763}"/>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AFC0-410B-A99F-D86D2687D763}"/>
              </c:ext>
            </c:extLst>
          </c:dPt>
          <c:dPt>
            <c:idx val="1"/>
            <c:invertIfNegative val="1"/>
            <c:bubble3D val="0"/>
            <c:spPr>
              <a:solidFill>
                <a:srgbClr val="008189"/>
              </a:solidFill>
            </c:spPr>
            <c:extLst>
              <c:ext xmlns:c16="http://schemas.microsoft.com/office/drawing/2014/chart" uri="{C3380CC4-5D6E-409C-BE32-E72D297353CC}">
                <c16:uniqueId val="{00000004-AFC0-410B-A99F-D86D2687D763}"/>
              </c:ext>
            </c:extLst>
          </c:dPt>
          <c:dPt>
            <c:idx val="2"/>
            <c:invertIfNegative val="1"/>
            <c:bubble3D val="0"/>
            <c:spPr>
              <a:solidFill>
                <a:srgbClr val="008189"/>
              </a:solidFill>
            </c:spPr>
            <c:extLst>
              <c:ext xmlns:c16="http://schemas.microsoft.com/office/drawing/2014/chart" uri="{C3380CC4-5D6E-409C-BE32-E72D297353CC}">
                <c16:uniqueId val="{00000006-AFC0-410B-A99F-D86D2687D763}"/>
              </c:ext>
            </c:extLst>
          </c:dPt>
          <c:dPt>
            <c:idx val="3"/>
            <c:invertIfNegative val="1"/>
            <c:bubble3D val="0"/>
            <c:spPr>
              <a:solidFill>
                <a:srgbClr val="008189"/>
              </a:solidFill>
            </c:spPr>
            <c:extLst>
              <c:ext xmlns:c16="http://schemas.microsoft.com/office/drawing/2014/chart" uri="{C3380CC4-5D6E-409C-BE32-E72D297353CC}">
                <c16:uniqueId val="{00000008-AFC0-410B-A99F-D86D2687D763}"/>
              </c:ext>
            </c:extLst>
          </c:dPt>
          <c:dPt>
            <c:idx val="4"/>
            <c:invertIfNegative val="1"/>
            <c:bubble3D val="0"/>
            <c:spPr>
              <a:solidFill>
                <a:srgbClr val="008189"/>
              </a:solidFill>
            </c:spPr>
            <c:extLst>
              <c:ext xmlns:c16="http://schemas.microsoft.com/office/drawing/2014/chart" uri="{C3380CC4-5D6E-409C-BE32-E72D297353CC}">
                <c16:uniqueId val="{0000000A-AFC0-410B-A99F-D86D2687D763}"/>
              </c:ext>
            </c:extLst>
          </c:dPt>
          <c:dPt>
            <c:idx val="5"/>
            <c:invertIfNegative val="1"/>
            <c:bubble3D val="0"/>
            <c:spPr>
              <a:solidFill>
                <a:srgbClr val="008189"/>
              </a:solidFill>
            </c:spPr>
            <c:extLst>
              <c:ext xmlns:c16="http://schemas.microsoft.com/office/drawing/2014/chart" uri="{C3380CC4-5D6E-409C-BE32-E72D297353CC}">
                <c16:uniqueId val="{0000000C-AFC0-410B-A99F-D86D2687D763}"/>
              </c:ext>
            </c:extLst>
          </c:dPt>
          <c:dPt>
            <c:idx val="6"/>
            <c:invertIfNegative val="1"/>
            <c:bubble3D val="0"/>
            <c:spPr>
              <a:solidFill>
                <a:srgbClr val="0E72AE"/>
              </a:solidFill>
            </c:spPr>
            <c:extLst>
              <c:ext xmlns:c16="http://schemas.microsoft.com/office/drawing/2014/chart" uri="{C3380CC4-5D6E-409C-BE32-E72D297353CC}">
                <c16:uniqueId val="{0000000E-AFC0-410B-A99F-D86D2687D763}"/>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FC0-410B-A99F-D86D2687D763}"/>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FC0-410B-A99F-D86D2687D763}"/>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FC0-410B-A99F-D86D2687D763}"/>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FC0-410B-A99F-D86D2687D763}"/>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FC0-410B-A99F-D86D2687D763}"/>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AFC0-410B-A99F-D86D2687D763}"/>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AFC0-410B-A99F-D86D2687D763}"/>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539.95600000000002</c:v>
              </c:pt>
              <c:pt idx="1">
                <c:v>38.538000000000011</c:v>
              </c:pt>
              <c:pt idx="2">
                <c:v>41.309999999999945</c:v>
              </c:pt>
              <c:pt idx="3">
                <c:v>44.286000000000058</c:v>
              </c:pt>
              <c:pt idx="4">
                <c:v>47.447999999999979</c:v>
              </c:pt>
              <c:pt idx="5">
                <c:v>50.845000000000027</c:v>
              </c:pt>
              <c:pt idx="6">
                <c:v>762.38300000000004</c:v>
              </c:pt>
            </c:numLit>
          </c:val>
          <c:extLst>
            <c:ext xmlns:c16="http://schemas.microsoft.com/office/drawing/2014/chart" uri="{C3380CC4-5D6E-409C-BE32-E72D297353CC}">
              <c16:uniqueId val="{0000000F-AFC0-410B-A99F-D86D2687D763}"/>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354.714</c:v>
              </c:pt>
              <c:pt idx="2">
                <c:v>383.53800000000001</c:v>
              </c:pt>
              <c:pt idx="3">
                <c:v>414.834</c:v>
              </c:pt>
              <c:pt idx="4">
                <c:v>448.822</c:v>
              </c:pt>
              <c:pt idx="5">
                <c:v>485.75200000000001</c:v>
              </c:pt>
              <c:pt idx="6">
                <c:v>0</c:v>
              </c:pt>
            </c:numLit>
          </c:val>
          <c:extLst>
            <c:ext xmlns:c16="http://schemas.microsoft.com/office/drawing/2014/chart" uri="{C3380CC4-5D6E-409C-BE32-E72D297353CC}">
              <c16:uniqueId val="{00000000-82D0-4A7B-8F42-C86EA64D6A3E}"/>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82D0-4A7B-8F42-C86EA64D6A3E}"/>
              </c:ext>
            </c:extLst>
          </c:dPt>
          <c:dPt>
            <c:idx val="1"/>
            <c:invertIfNegative val="1"/>
            <c:bubble3D val="0"/>
            <c:spPr>
              <a:solidFill>
                <a:srgbClr val="008189"/>
              </a:solidFill>
            </c:spPr>
            <c:extLst>
              <c:ext xmlns:c16="http://schemas.microsoft.com/office/drawing/2014/chart" uri="{C3380CC4-5D6E-409C-BE32-E72D297353CC}">
                <c16:uniqueId val="{00000004-82D0-4A7B-8F42-C86EA64D6A3E}"/>
              </c:ext>
            </c:extLst>
          </c:dPt>
          <c:dPt>
            <c:idx val="2"/>
            <c:invertIfNegative val="1"/>
            <c:bubble3D val="0"/>
            <c:spPr>
              <a:solidFill>
                <a:srgbClr val="008189"/>
              </a:solidFill>
            </c:spPr>
            <c:extLst>
              <c:ext xmlns:c16="http://schemas.microsoft.com/office/drawing/2014/chart" uri="{C3380CC4-5D6E-409C-BE32-E72D297353CC}">
                <c16:uniqueId val="{00000006-82D0-4A7B-8F42-C86EA64D6A3E}"/>
              </c:ext>
            </c:extLst>
          </c:dPt>
          <c:dPt>
            <c:idx val="3"/>
            <c:invertIfNegative val="1"/>
            <c:bubble3D val="0"/>
            <c:spPr>
              <a:solidFill>
                <a:srgbClr val="008189"/>
              </a:solidFill>
            </c:spPr>
            <c:extLst>
              <c:ext xmlns:c16="http://schemas.microsoft.com/office/drawing/2014/chart" uri="{C3380CC4-5D6E-409C-BE32-E72D297353CC}">
                <c16:uniqueId val="{00000008-82D0-4A7B-8F42-C86EA64D6A3E}"/>
              </c:ext>
            </c:extLst>
          </c:dPt>
          <c:dPt>
            <c:idx val="4"/>
            <c:invertIfNegative val="1"/>
            <c:bubble3D val="0"/>
            <c:spPr>
              <a:solidFill>
                <a:srgbClr val="008189"/>
              </a:solidFill>
            </c:spPr>
            <c:extLst>
              <c:ext xmlns:c16="http://schemas.microsoft.com/office/drawing/2014/chart" uri="{C3380CC4-5D6E-409C-BE32-E72D297353CC}">
                <c16:uniqueId val="{0000000A-82D0-4A7B-8F42-C86EA64D6A3E}"/>
              </c:ext>
            </c:extLst>
          </c:dPt>
          <c:dPt>
            <c:idx val="5"/>
            <c:invertIfNegative val="1"/>
            <c:bubble3D val="0"/>
            <c:spPr>
              <a:solidFill>
                <a:srgbClr val="008189"/>
              </a:solidFill>
            </c:spPr>
            <c:extLst>
              <c:ext xmlns:c16="http://schemas.microsoft.com/office/drawing/2014/chart" uri="{C3380CC4-5D6E-409C-BE32-E72D297353CC}">
                <c16:uniqueId val="{0000000C-82D0-4A7B-8F42-C86EA64D6A3E}"/>
              </c:ext>
            </c:extLst>
          </c:dPt>
          <c:dPt>
            <c:idx val="6"/>
            <c:invertIfNegative val="1"/>
            <c:bubble3D val="0"/>
            <c:spPr>
              <a:solidFill>
                <a:srgbClr val="0E72AE"/>
              </a:solidFill>
            </c:spPr>
            <c:extLst>
              <c:ext xmlns:c16="http://schemas.microsoft.com/office/drawing/2014/chart" uri="{C3380CC4-5D6E-409C-BE32-E72D297353CC}">
                <c16:uniqueId val="{0000000E-82D0-4A7B-8F42-C86EA64D6A3E}"/>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2D0-4A7B-8F42-C86EA64D6A3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2D0-4A7B-8F42-C86EA64D6A3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2D0-4A7B-8F42-C86EA64D6A3E}"/>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2D0-4A7B-8F42-C86EA64D6A3E}"/>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2D0-4A7B-8F42-C86EA64D6A3E}"/>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2D0-4A7B-8F42-C86EA64D6A3E}"/>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82D0-4A7B-8F42-C86EA64D6A3E}"/>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354.714</c:v>
              </c:pt>
              <c:pt idx="1">
                <c:v>28.824000000000012</c:v>
              </c:pt>
              <c:pt idx="2">
                <c:v>31.295999999999992</c:v>
              </c:pt>
              <c:pt idx="3">
                <c:v>33.988</c:v>
              </c:pt>
              <c:pt idx="4">
                <c:v>36.930000000000007</c:v>
              </c:pt>
              <c:pt idx="5">
                <c:v>40.133999999999958</c:v>
              </c:pt>
              <c:pt idx="6">
                <c:v>525.88599999999997</c:v>
              </c:pt>
            </c:numLit>
          </c:val>
          <c:extLst>
            <c:ext xmlns:c16="http://schemas.microsoft.com/office/drawing/2014/chart" uri="{C3380CC4-5D6E-409C-BE32-E72D297353CC}">
              <c16:uniqueId val="{0000000F-82D0-4A7B-8F42-C86EA64D6A3E}"/>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6 to 12 Cells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968-4C6D-B2CE-4CE702F9E2FD}"/>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968-4C6D-B2CE-4CE702F9E2FD}"/>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968-4C6D-B2CE-4CE702F9E2FD}"/>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32.776392133610948</c:v>
              </c:pt>
              <c:pt idx="1">
                <c:v>34.590135809417447</c:v>
              </c:pt>
              <c:pt idx="2">
                <c:v>38.041079554073598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7968-4C6D-B2CE-4CE702F9E2FD}"/>
            </c:ext>
          </c:extLst>
        </c:ser>
        <c:ser>
          <c:idx val="1"/>
          <c:order val="1"/>
          <c:tx>
            <c:v>Up to 4 Cells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968-4C6D-B2CE-4CE702F9E2FD}"/>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968-4C6D-B2CE-4CE702F9E2FD}"/>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968-4C6D-B2CE-4CE702F9E2FD}"/>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37.619342498806724</c:v>
              </c:pt>
              <c:pt idx="1">
                <c:v>37.451417953568111</c:v>
              </c:pt>
              <c:pt idx="2">
                <c:v>37.127361035429438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7968-4C6D-B2CE-4CE702F9E2FD}"/>
            </c:ext>
          </c:extLst>
        </c:ser>
        <c:ser>
          <c:idx val="2"/>
          <c:order val="2"/>
          <c:tx>
            <c:v>13 to 24 Cells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968-4C6D-B2CE-4CE702F9E2FD}"/>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968-4C6D-B2CE-4CE702F9E2FD}"/>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968-4C6D-B2CE-4CE702F9E2FD}"/>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18.021323022461935</c:v>
              </c:pt>
              <c:pt idx="1">
                <c:v>16.873630273009464</c:v>
              </c:pt>
              <c:pt idx="2">
                <c:v>14.695035553951008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7968-4C6D-B2CE-4CE702F9E2FD}"/>
            </c:ext>
          </c:extLst>
        </c:ser>
        <c:ser>
          <c:idx val="3"/>
          <c:order val="3"/>
          <c:tx>
            <c:v>Above 24 Cells</c:v>
          </c:tx>
          <c:spPr>
            <a:solidFill>
              <a:srgbClr val="40315E"/>
            </a:solidFill>
            <a:ln>
              <a:noFill/>
            </a:ln>
          </c:spPr>
          <c:invertIfNegative val="1"/>
          <c:dLbls>
            <c:dLbl>
              <c:idx val="0"/>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968-4C6D-B2CE-4CE702F9E2FD}"/>
                </c:ext>
              </c:extLst>
            </c:dLbl>
            <c:dLbl>
              <c:idx val="1"/>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7968-4C6D-B2CE-4CE702F9E2FD}"/>
                </c:ext>
              </c:extLst>
            </c:dLbl>
            <c:dLbl>
              <c:idx val="2"/>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7968-4C6D-B2CE-4CE702F9E2FD}"/>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11.582942345120403</c:v>
              </c:pt>
              <c:pt idx="1">
                <c:v>11.084815964004989</c:v>
              </c:pt>
              <c:pt idx="2">
                <c:v>10.13652385654596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7968-4C6D-B2CE-4CE702F9E2FD}"/>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Standard / Stock Sizes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EAF-4799-A22C-09D4A7514B77}"/>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EAF-4799-A22C-09D4A7514B77}"/>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EAF-4799-A22C-09D4A7514B77}"/>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EAF-4799-A22C-09D4A7514B77}"/>
                </c:ext>
              </c:extLst>
            </c:dLbl>
            <c:dLbl>
              <c:idx val="4"/>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EAF-4799-A22C-09D4A7514B77}"/>
                </c:ext>
              </c:extLst>
            </c:dLbl>
            <c:dLbl>
              <c:idx val="5"/>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EAF-4799-A22C-09D4A7514B7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40.951330568203602</c:v>
              </c:pt>
              <c:pt idx="1">
                <c:v>39.679583402827966</c:v>
              </c:pt>
              <c:pt idx="2">
                <c:v>39.181004061572175</c:v>
              </c:pt>
              <c:pt idx="3">
                <c:v>41.197309556218656</c:v>
              </c:pt>
              <c:pt idx="4">
                <c:v>44.668538170935967</c:v>
              </c:pt>
              <c:pt idx="5">
                <c:v>42.216963573856049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6-2EAF-4799-A22C-09D4A7514B77}"/>
            </c:ext>
          </c:extLst>
        </c:ser>
        <c:ser>
          <c:idx val="1"/>
          <c:order val="1"/>
          <c:tx>
            <c:v>Custom-Engineered</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EAF-4799-A22C-09D4A7514B77}"/>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EAF-4799-A22C-09D4A7514B77}"/>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EAF-4799-A22C-09D4A7514B77}"/>
                </c:ext>
              </c:extLst>
            </c:dLbl>
            <c:dLbl>
              <c:idx val="3"/>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EAF-4799-A22C-09D4A7514B77}"/>
                </c:ext>
              </c:extLst>
            </c:dLbl>
            <c:dLbl>
              <c:idx val="4"/>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EAF-4799-A22C-09D4A7514B77}"/>
                </c:ext>
              </c:extLst>
            </c:dLbl>
            <c:dLbl>
              <c:idx val="5"/>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EAF-4799-A22C-09D4A7514B7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59.048669431796405</c:v>
              </c:pt>
              <c:pt idx="1">
                <c:v>60.320416597172034</c:v>
              </c:pt>
              <c:pt idx="2">
                <c:v>60.818995938427832</c:v>
              </c:pt>
              <c:pt idx="3">
                <c:v>58.802690443781344</c:v>
              </c:pt>
              <c:pt idx="4">
                <c:v>55.331461829064033</c:v>
              </c:pt>
              <c:pt idx="5">
                <c:v>57.783036426143966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D-2EAF-4799-A22C-09D4A7514B7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Standard / Stock Sizes</c:v>
          </c:tx>
          <c:spPr>
            <a:solidFill>
              <a:srgbClr val="3D85C6"/>
            </a:solidFill>
          </c:spPr>
          <c:invertIfNegative val="0"/>
          <c:xVal>
            <c:numLit>
              <c:formatCode>General</c:formatCode>
              <c:ptCount val="1"/>
              <c:pt idx="0">
                <c:v>129.51753528242958</c:v>
              </c:pt>
            </c:numLit>
          </c:xVal>
          <c:yVal>
            <c:numLit>
              <c:formatCode>General</c:formatCode>
              <c:ptCount val="1"/>
              <c:pt idx="0">
                <c:v>73.321335412917321</c:v>
              </c:pt>
            </c:numLit>
          </c:yVal>
          <c:bubbleSize>
            <c:numLit>
              <c:formatCode>General</c:formatCode>
              <c:ptCount val="1"/>
              <c:pt idx="0">
                <c:v>2184.0189999999998</c:v>
              </c:pt>
            </c:numLit>
          </c:bubbleSize>
          <c:bubble3D val="0"/>
          <c:extLst>
            <c:ext xmlns:c16="http://schemas.microsoft.com/office/drawing/2014/chart" uri="{C3380CC4-5D6E-409C-BE32-E72D297353CC}">
              <c16:uniqueId val="{00000000-2CC0-4D1A-9D17-92C901303F3C}"/>
            </c:ext>
          </c:extLst>
        </c:ser>
        <c:ser>
          <c:idx val="1"/>
          <c:order val="1"/>
          <c:tx>
            <c:v>Custom-Engineered</c:v>
          </c:tx>
          <c:spPr>
            <a:solidFill>
              <a:srgbClr val="9E7E0A"/>
            </a:solidFill>
          </c:spPr>
          <c:invertIfNegative val="0"/>
          <c:xVal>
            <c:numLit>
              <c:formatCode>General</c:formatCode>
              <c:ptCount val="1"/>
              <c:pt idx="0">
                <c:v>81.060533624070374</c:v>
              </c:pt>
            </c:numLit>
          </c:xVal>
          <c:yVal>
            <c:numLit>
              <c:formatCode>General</c:formatCode>
              <c:ptCount val="1"/>
              <c:pt idx="0">
                <c:v>126.67866458708268</c:v>
              </c:pt>
            </c:numLit>
          </c:yVal>
          <c:bubbleSize>
            <c:numLit>
              <c:formatCode>General</c:formatCode>
              <c:ptCount val="1"/>
              <c:pt idx="0">
                <c:v>3004.0120000000002</c:v>
              </c:pt>
            </c:numLit>
          </c:bubbleSize>
          <c:bubble3D val="0"/>
          <c:extLst>
            <c:ext xmlns:c16="http://schemas.microsoft.com/office/drawing/2014/chart" uri="{C3380CC4-5D6E-409C-BE32-E72D297353CC}">
              <c16:uniqueId val="{00000001-2CC0-4D1A-9D17-92C901303F3C}"/>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5"/>
          <c:min val="65"/>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150"/>
          <c:min val="5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1173.1410000000001</c:v>
              </c:pt>
              <c:pt idx="2">
                <c:v>1328.713</c:v>
              </c:pt>
              <c:pt idx="3">
                <c:v>1504.6990000000001</c:v>
              </c:pt>
              <c:pt idx="4">
                <c:v>1703.8019999999999</c:v>
              </c:pt>
              <c:pt idx="5">
                <c:v>1929.079</c:v>
              </c:pt>
              <c:pt idx="6">
                <c:v>0</c:v>
              </c:pt>
            </c:numLit>
          </c:val>
          <c:extLst>
            <c:ext xmlns:c16="http://schemas.microsoft.com/office/drawing/2014/chart" uri="{C3380CC4-5D6E-409C-BE32-E72D297353CC}">
              <c16:uniqueId val="{00000000-F1D6-47C9-82F2-0FD62C1E6DAD}"/>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F1D6-47C9-82F2-0FD62C1E6DAD}"/>
              </c:ext>
            </c:extLst>
          </c:dPt>
          <c:dPt>
            <c:idx val="1"/>
            <c:invertIfNegative val="1"/>
            <c:bubble3D val="0"/>
            <c:spPr>
              <a:solidFill>
                <a:srgbClr val="008189"/>
              </a:solidFill>
            </c:spPr>
            <c:extLst>
              <c:ext xmlns:c16="http://schemas.microsoft.com/office/drawing/2014/chart" uri="{C3380CC4-5D6E-409C-BE32-E72D297353CC}">
                <c16:uniqueId val="{00000004-F1D6-47C9-82F2-0FD62C1E6DAD}"/>
              </c:ext>
            </c:extLst>
          </c:dPt>
          <c:dPt>
            <c:idx val="2"/>
            <c:invertIfNegative val="1"/>
            <c:bubble3D val="0"/>
            <c:spPr>
              <a:solidFill>
                <a:srgbClr val="008189"/>
              </a:solidFill>
            </c:spPr>
            <c:extLst>
              <c:ext xmlns:c16="http://schemas.microsoft.com/office/drawing/2014/chart" uri="{C3380CC4-5D6E-409C-BE32-E72D297353CC}">
                <c16:uniqueId val="{00000006-F1D6-47C9-82F2-0FD62C1E6DAD}"/>
              </c:ext>
            </c:extLst>
          </c:dPt>
          <c:dPt>
            <c:idx val="3"/>
            <c:invertIfNegative val="1"/>
            <c:bubble3D val="0"/>
            <c:spPr>
              <a:solidFill>
                <a:srgbClr val="008189"/>
              </a:solidFill>
            </c:spPr>
            <c:extLst>
              <c:ext xmlns:c16="http://schemas.microsoft.com/office/drawing/2014/chart" uri="{C3380CC4-5D6E-409C-BE32-E72D297353CC}">
                <c16:uniqueId val="{00000008-F1D6-47C9-82F2-0FD62C1E6DAD}"/>
              </c:ext>
            </c:extLst>
          </c:dPt>
          <c:dPt>
            <c:idx val="4"/>
            <c:invertIfNegative val="1"/>
            <c:bubble3D val="0"/>
            <c:spPr>
              <a:solidFill>
                <a:srgbClr val="008189"/>
              </a:solidFill>
            </c:spPr>
            <c:extLst>
              <c:ext xmlns:c16="http://schemas.microsoft.com/office/drawing/2014/chart" uri="{C3380CC4-5D6E-409C-BE32-E72D297353CC}">
                <c16:uniqueId val="{0000000A-F1D6-47C9-82F2-0FD62C1E6DAD}"/>
              </c:ext>
            </c:extLst>
          </c:dPt>
          <c:dPt>
            <c:idx val="5"/>
            <c:invertIfNegative val="1"/>
            <c:bubble3D val="0"/>
            <c:spPr>
              <a:solidFill>
                <a:srgbClr val="008189"/>
              </a:solidFill>
            </c:spPr>
            <c:extLst>
              <c:ext xmlns:c16="http://schemas.microsoft.com/office/drawing/2014/chart" uri="{C3380CC4-5D6E-409C-BE32-E72D297353CC}">
                <c16:uniqueId val="{0000000C-F1D6-47C9-82F2-0FD62C1E6DAD}"/>
              </c:ext>
            </c:extLst>
          </c:dPt>
          <c:dPt>
            <c:idx val="6"/>
            <c:invertIfNegative val="1"/>
            <c:bubble3D val="0"/>
            <c:spPr>
              <a:solidFill>
                <a:srgbClr val="0E72AE"/>
              </a:solidFill>
            </c:spPr>
            <c:extLst>
              <c:ext xmlns:c16="http://schemas.microsoft.com/office/drawing/2014/chart" uri="{C3380CC4-5D6E-409C-BE32-E72D297353CC}">
                <c16:uniqueId val="{0000000E-F1D6-47C9-82F2-0FD62C1E6DAD}"/>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1D6-47C9-82F2-0FD62C1E6DAD}"/>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1D6-47C9-82F2-0FD62C1E6DAD}"/>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1D6-47C9-82F2-0FD62C1E6DAD}"/>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1D6-47C9-82F2-0FD62C1E6DAD}"/>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1D6-47C9-82F2-0FD62C1E6DAD}"/>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1D6-47C9-82F2-0FD62C1E6DAD}"/>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1D6-47C9-82F2-0FD62C1E6DAD}"/>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1173.1410000000001</c:v>
              </c:pt>
              <c:pt idx="1">
                <c:v>155.57199999999989</c:v>
              </c:pt>
              <c:pt idx="2">
                <c:v>175.9860000000001</c:v>
              </c:pt>
              <c:pt idx="3">
                <c:v>199.10299999999984</c:v>
              </c:pt>
              <c:pt idx="4">
                <c:v>225.27700000000004</c:v>
              </c:pt>
              <c:pt idx="5">
                <c:v>254.93999999999983</c:v>
              </c:pt>
              <c:pt idx="6">
                <c:v>2184.0189999999998</c:v>
              </c:pt>
            </c:numLit>
          </c:val>
          <c:extLst>
            <c:ext xmlns:c16="http://schemas.microsoft.com/office/drawing/2014/chart" uri="{C3380CC4-5D6E-409C-BE32-E72D297353CC}">
              <c16:uniqueId val="{0000000F-F1D6-47C9-82F2-0FD62C1E6DAD}"/>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2026.8579999999999</c:v>
              </c:pt>
              <c:pt idx="2">
                <c:v>2193.1799999999998</c:v>
              </c:pt>
              <c:pt idx="3">
                <c:v>2372.9870000000001</c:v>
              </c:pt>
              <c:pt idx="4">
                <c:v>2567.3209999999999</c:v>
              </c:pt>
              <c:pt idx="5">
                <c:v>2777.279</c:v>
              </c:pt>
              <c:pt idx="6">
                <c:v>0</c:v>
              </c:pt>
            </c:numLit>
          </c:val>
          <c:extLst>
            <c:ext xmlns:c16="http://schemas.microsoft.com/office/drawing/2014/chart" uri="{C3380CC4-5D6E-409C-BE32-E72D297353CC}">
              <c16:uniqueId val="{00000000-AEE2-4B57-A823-3FD99218F157}"/>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AEE2-4B57-A823-3FD99218F157}"/>
              </c:ext>
            </c:extLst>
          </c:dPt>
          <c:dPt>
            <c:idx val="1"/>
            <c:invertIfNegative val="1"/>
            <c:bubble3D val="0"/>
            <c:spPr>
              <a:solidFill>
                <a:srgbClr val="008189"/>
              </a:solidFill>
            </c:spPr>
            <c:extLst>
              <c:ext xmlns:c16="http://schemas.microsoft.com/office/drawing/2014/chart" uri="{C3380CC4-5D6E-409C-BE32-E72D297353CC}">
                <c16:uniqueId val="{00000004-AEE2-4B57-A823-3FD99218F157}"/>
              </c:ext>
            </c:extLst>
          </c:dPt>
          <c:dPt>
            <c:idx val="2"/>
            <c:invertIfNegative val="1"/>
            <c:bubble3D val="0"/>
            <c:spPr>
              <a:solidFill>
                <a:srgbClr val="008189"/>
              </a:solidFill>
            </c:spPr>
            <c:extLst>
              <c:ext xmlns:c16="http://schemas.microsoft.com/office/drawing/2014/chart" uri="{C3380CC4-5D6E-409C-BE32-E72D297353CC}">
                <c16:uniqueId val="{00000006-AEE2-4B57-A823-3FD99218F157}"/>
              </c:ext>
            </c:extLst>
          </c:dPt>
          <c:dPt>
            <c:idx val="3"/>
            <c:invertIfNegative val="1"/>
            <c:bubble3D val="0"/>
            <c:spPr>
              <a:solidFill>
                <a:srgbClr val="008189"/>
              </a:solidFill>
            </c:spPr>
            <c:extLst>
              <c:ext xmlns:c16="http://schemas.microsoft.com/office/drawing/2014/chart" uri="{C3380CC4-5D6E-409C-BE32-E72D297353CC}">
                <c16:uniqueId val="{00000008-AEE2-4B57-A823-3FD99218F157}"/>
              </c:ext>
            </c:extLst>
          </c:dPt>
          <c:dPt>
            <c:idx val="4"/>
            <c:invertIfNegative val="1"/>
            <c:bubble3D val="0"/>
            <c:spPr>
              <a:solidFill>
                <a:srgbClr val="008189"/>
              </a:solidFill>
            </c:spPr>
            <c:extLst>
              <c:ext xmlns:c16="http://schemas.microsoft.com/office/drawing/2014/chart" uri="{C3380CC4-5D6E-409C-BE32-E72D297353CC}">
                <c16:uniqueId val="{0000000A-AEE2-4B57-A823-3FD99218F157}"/>
              </c:ext>
            </c:extLst>
          </c:dPt>
          <c:dPt>
            <c:idx val="5"/>
            <c:invertIfNegative val="1"/>
            <c:bubble3D val="0"/>
            <c:spPr>
              <a:solidFill>
                <a:srgbClr val="008189"/>
              </a:solidFill>
            </c:spPr>
            <c:extLst>
              <c:ext xmlns:c16="http://schemas.microsoft.com/office/drawing/2014/chart" uri="{C3380CC4-5D6E-409C-BE32-E72D297353CC}">
                <c16:uniqueId val="{0000000C-AEE2-4B57-A823-3FD99218F157}"/>
              </c:ext>
            </c:extLst>
          </c:dPt>
          <c:dPt>
            <c:idx val="6"/>
            <c:invertIfNegative val="1"/>
            <c:bubble3D val="0"/>
            <c:spPr>
              <a:solidFill>
                <a:srgbClr val="0E72AE"/>
              </a:solidFill>
            </c:spPr>
            <c:extLst>
              <c:ext xmlns:c16="http://schemas.microsoft.com/office/drawing/2014/chart" uri="{C3380CC4-5D6E-409C-BE32-E72D297353CC}">
                <c16:uniqueId val="{0000000E-AEE2-4B57-A823-3FD99218F157}"/>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EE2-4B57-A823-3FD99218F15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EE2-4B57-A823-3FD99218F15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EE2-4B57-A823-3FD99218F157}"/>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EE2-4B57-A823-3FD99218F157}"/>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EE2-4B57-A823-3FD99218F157}"/>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AEE2-4B57-A823-3FD99218F157}"/>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AEE2-4B57-A823-3FD99218F157}"/>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2026.8579999999999</c:v>
              </c:pt>
              <c:pt idx="1">
                <c:v>166.32199999999989</c:v>
              </c:pt>
              <c:pt idx="2">
                <c:v>179.80700000000024</c:v>
              </c:pt>
              <c:pt idx="3">
                <c:v>194.33399999999983</c:v>
              </c:pt>
              <c:pt idx="4">
                <c:v>209.95800000000008</c:v>
              </c:pt>
              <c:pt idx="5">
                <c:v>226.73300000000017</c:v>
              </c:pt>
              <c:pt idx="6">
                <c:v>3004.0120000000002</c:v>
              </c:pt>
            </c:numLit>
          </c:val>
          <c:extLst>
            <c:ext xmlns:c16="http://schemas.microsoft.com/office/drawing/2014/chart" uri="{C3380CC4-5D6E-409C-BE32-E72D297353CC}">
              <c16:uniqueId val="{0000000F-AEE2-4B57-A823-3FD99218F15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Custom-Engineered</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205-4A29-BDA0-460B02BD1212}"/>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205-4A29-BDA0-460B02BD1212}"/>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205-4A29-BDA0-460B02BD121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65.963174042121807</c:v>
              </c:pt>
              <c:pt idx="1">
                <c:v>63.339332293541339</c:v>
              </c:pt>
              <c:pt idx="2">
                <c:v>57.902738052259139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C205-4A29-BDA0-460B02BD1212}"/>
            </c:ext>
          </c:extLst>
        </c:ser>
        <c:ser>
          <c:idx val="1"/>
          <c:order val="1"/>
          <c:tx>
            <c:v>Standard / Stock Sizes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205-4A29-BDA0-460B02BD1212}"/>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205-4A29-BDA0-460B02BD1212}"/>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205-4A29-BDA0-460B02BD121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34.0368259578782</c:v>
              </c:pt>
              <c:pt idx="1">
                <c:v>36.660667706458661</c:v>
              </c:pt>
              <c:pt idx="2">
                <c:v>42.097261947740868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C205-4A29-BDA0-460B02BD1212}"/>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Food &amp; Beverage</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49F-4F03-B170-E4B7CCF91B76}"/>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49F-4F03-B170-E4B7CCF91B76}"/>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49F-4F03-B170-E4B7CCF91B76}"/>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49F-4F03-B170-E4B7CCF91B76}"/>
                </c:ext>
              </c:extLst>
            </c:dLbl>
            <c:dLbl>
              <c:idx val="4"/>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49F-4F03-B170-E4B7CCF91B76}"/>
                </c:ext>
              </c:extLst>
            </c:dLbl>
            <c:dLbl>
              <c:idx val="5"/>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49F-4F03-B170-E4B7CCF91B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18.889373511983308</c:v>
              </c:pt>
              <c:pt idx="1">
                <c:v>16.440577454087212</c:v>
              </c:pt>
              <c:pt idx="2">
                <c:v>15.067093440237404</c:v>
              </c:pt>
              <c:pt idx="3">
                <c:v>17.765737485165165</c:v>
              </c:pt>
              <c:pt idx="4">
                <c:v>18.26145566186209</c:v>
              </c:pt>
              <c:pt idx="5">
                <c:v>18.203782027257727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6-249F-4F03-B170-E4B7CCF91B76}"/>
            </c:ext>
          </c:extLst>
        </c:ser>
        <c:ser>
          <c:idx val="1"/>
          <c:order val="1"/>
          <c:tx>
            <c:v>Pharmaceuticals &amp; Healthcare</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49F-4F03-B170-E4B7CCF91B76}"/>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49F-4F03-B170-E4B7CCF91B76}"/>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49F-4F03-B170-E4B7CCF91B76}"/>
                </c:ext>
              </c:extLst>
            </c:dLbl>
            <c:dLbl>
              <c:idx val="3"/>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49F-4F03-B170-E4B7CCF91B76}"/>
                </c:ext>
              </c:extLst>
            </c:dLbl>
            <c:dLbl>
              <c:idx val="4"/>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49F-4F03-B170-E4B7CCF91B76}"/>
                </c:ext>
              </c:extLst>
            </c:dLbl>
            <c:dLbl>
              <c:idx val="5"/>
              <c:numFmt formatCode="&quot;MMM&quot;;&quot;MMM&quot;;&quot;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49F-4F03-B170-E4B7CCF91B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10.902074958536945</c:v>
              </c:pt>
              <c:pt idx="1">
                <c:v>13.416170938270234</c:v>
              </c:pt>
              <c:pt idx="2">
                <c:v>12.254390756650281</c:v>
              </c:pt>
              <c:pt idx="3">
                <c:v>11.488035328701466</c:v>
              </c:pt>
              <c:pt idx="4">
                <c:v>11.236978947261996</c:v>
              </c:pt>
              <c:pt idx="5">
                <c:v>9.9179112122683328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D-249F-4F03-B170-E4B7CCF91B76}"/>
            </c:ext>
          </c:extLst>
        </c:ser>
        <c:ser>
          <c:idx val="2"/>
          <c:order val="2"/>
          <c:tx>
            <c:v>Personal Care &amp; Cosmetics</c:v>
          </c:tx>
          <c:spPr>
            <a:solidFill>
              <a:srgbClr val="008189"/>
            </a:solidFill>
            <a:ln>
              <a:noFill/>
            </a:ln>
          </c:spPr>
          <c:invertIfNegative val="1"/>
          <c:dLbls>
            <c:dLbl>
              <c:idx val="0"/>
              <c:numFmt formatCode="&quot;MMM&quot;;&quot;MMM&quot;;&quot;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49F-4F03-B170-E4B7CCF91B76}"/>
                </c:ext>
              </c:extLst>
            </c:dLbl>
            <c:dLbl>
              <c:idx val="1"/>
              <c:numFmt formatCode="&quot;MMM&quot;;&quot;MMM&quot;;&quot;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49F-4F03-B170-E4B7CCF91B76}"/>
                </c:ext>
              </c:extLst>
            </c:dLbl>
            <c:dLbl>
              <c:idx val="2"/>
              <c:numFmt formatCode="&quot;MMM&quot;;&quot;MMM&quot;;&quot;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249F-4F03-B170-E4B7CCF91B76}"/>
                </c:ext>
              </c:extLst>
            </c:dLbl>
            <c:dLbl>
              <c:idx val="3"/>
              <c:numFmt formatCode="&quot;MMM&quot;;&quot;MMM&quot;;&quot;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249F-4F03-B170-E4B7CCF91B76}"/>
                </c:ext>
              </c:extLst>
            </c:dLbl>
            <c:dLbl>
              <c:idx val="4"/>
              <c:numFmt formatCode="&quot;MMM&quot;;&quot;MMM&quot;;&quot;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249F-4F03-B170-E4B7CCF91B76}"/>
                </c:ext>
              </c:extLst>
            </c:dLbl>
            <c:dLbl>
              <c:idx val="5"/>
              <c:numFmt formatCode="&quot;MMM&quot;;&quot;MMM&quot;;&quot;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249F-4F03-B170-E4B7CCF91B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4.6266380337760689</c:v>
              </c:pt>
              <c:pt idx="1">
                <c:v>4.6135171698078246</c:v>
              </c:pt>
              <c:pt idx="2">
                <c:v>5.2749273536878443</c:v>
              </c:pt>
              <c:pt idx="3">
                <c:v>4.2869156406061331</c:v>
              </c:pt>
              <c:pt idx="4">
                <c:v>4.4628973716935532</c:v>
              </c:pt>
              <c:pt idx="5">
                <c:v>4.1688327306532038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4-249F-4F03-B170-E4B7CCF91B76}"/>
            </c:ext>
          </c:extLst>
        </c:ser>
        <c:ser>
          <c:idx val="3"/>
          <c:order val="3"/>
          <c:tx>
            <c:v>Electronics &amp; Electrical</c:v>
          </c:tx>
          <c:spPr>
            <a:solidFill>
              <a:srgbClr val="40315E"/>
            </a:solidFill>
            <a:ln>
              <a:noFill/>
            </a:ln>
          </c:spPr>
          <c:invertIfNegative val="1"/>
          <c:dLbls>
            <c:dLbl>
              <c:idx val="0"/>
              <c:numFmt formatCode="&quot;MMMM&quot;;&quot;MMMM&quot;;&quot;M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249F-4F03-B170-E4B7CCF91B76}"/>
                </c:ext>
              </c:extLst>
            </c:dLbl>
            <c:dLbl>
              <c:idx val="1"/>
              <c:numFmt formatCode="&quot;MMMM&quot;;&quot;MMMM&quot;;&quot;MMMM&quot;" sourceLinked="0"/>
              <c:spPr>
                <a:blipFill>
                  <a:blip xmlns:r="http://schemas.openxmlformats.org/officeDocument/2006/relationships"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249F-4F03-B170-E4B7CCF91B76}"/>
                </c:ext>
              </c:extLst>
            </c:dLbl>
            <c:dLbl>
              <c:idx val="2"/>
              <c:numFmt formatCode="&quot;MMMM&quot;;&quot;MMMM&quot;;&quot;MMMM&quot;" sourceLinked="0"/>
              <c:spPr>
                <a:blipFill>
                  <a:blip xmlns:r="http://schemas.openxmlformats.org/officeDocument/2006/relationships"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249F-4F03-B170-E4B7CCF91B76}"/>
                </c:ext>
              </c:extLst>
            </c:dLbl>
            <c:dLbl>
              <c:idx val="3"/>
              <c:numFmt formatCode="&quot;MMMM&quot;;&quot;MMMM&quot;;&quot;MMMM&quot;" sourceLinked="0"/>
              <c:spPr>
                <a:blipFill>
                  <a:blip xmlns:r="http://schemas.openxmlformats.org/officeDocument/2006/relationships"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249F-4F03-B170-E4B7CCF91B76}"/>
                </c:ext>
              </c:extLst>
            </c:dLbl>
            <c:dLbl>
              <c:idx val="4"/>
              <c:numFmt formatCode="&quot;MMMM&quot;;&quot;MMMM&quot;;&quot;MMMM&quot;" sourceLinked="0"/>
              <c:spPr>
                <a:blipFill>
                  <a:blip xmlns:r="http://schemas.openxmlformats.org/officeDocument/2006/relationships"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249F-4F03-B170-E4B7CCF91B76}"/>
                </c:ext>
              </c:extLst>
            </c:dLbl>
            <c:dLbl>
              <c:idx val="5"/>
              <c:numFmt formatCode="&quot;MMMM&quot;;&quot;MMMM&quot;;&quot;MMMM&quot;" sourceLinked="0"/>
              <c:spPr>
                <a:blipFill>
                  <a:blip xmlns:r="http://schemas.openxmlformats.org/officeDocument/2006/relationships"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249F-4F03-B170-E4B7CCF91B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17.967601865768046</c:v>
              </c:pt>
              <c:pt idx="1">
                <c:v>16.987731880432165</c:v>
              </c:pt>
              <c:pt idx="2">
                <c:v>15.560230602193158</c:v>
              </c:pt>
              <c:pt idx="3">
                <c:v>17.440590466985011</c:v>
              </c:pt>
              <c:pt idx="4">
                <c:v>15.947777616764004</c:v>
              </c:pt>
              <c:pt idx="5">
                <c:v>15.440594913053079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249F-4F03-B170-E4B7CCF91B76}"/>
            </c:ext>
          </c:extLst>
        </c:ser>
        <c:ser>
          <c:idx val="4"/>
          <c:order val="4"/>
          <c:tx>
            <c:v>Automotive &amp; Industrial Components</c:v>
          </c:tx>
          <c:spPr>
            <a:solidFill>
              <a:srgbClr val="A35313"/>
            </a:solidFill>
            <a:ln>
              <a:noFill/>
            </a:ln>
          </c:spPr>
          <c:invertIfNegative val="1"/>
          <c:dLbls>
            <c:dLbl>
              <c:idx val="0"/>
              <c:numFmt formatCode="&quot;MMMM&quot;;&quot;MMMM&quot;;&quot;MMMM&quot;" sourceLinked="0"/>
              <c:spPr>
                <a:blipFill>
                  <a:blip xmlns:r="http://schemas.openxmlformats.org/officeDocument/2006/relationships"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249F-4F03-B170-E4B7CCF91B76}"/>
                </c:ext>
              </c:extLst>
            </c:dLbl>
            <c:dLbl>
              <c:idx val="1"/>
              <c:numFmt formatCode="&quot;MMMM&quot;;&quot;MMMM&quot;;&quot;MMMM&quot;" sourceLinked="0"/>
              <c:spPr>
                <a:blipFill>
                  <a:blip xmlns:r="http://schemas.openxmlformats.org/officeDocument/2006/relationships"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D-249F-4F03-B170-E4B7CCF91B76}"/>
                </c:ext>
              </c:extLst>
            </c:dLbl>
            <c:dLbl>
              <c:idx val="2"/>
              <c:numFmt formatCode="&quot;MMMM&quot;;&quot;MMMM&quot;;&quot;MMMM&quot;" sourceLinked="0"/>
              <c:spPr>
                <a:blipFill>
                  <a:blip xmlns:r="http://schemas.openxmlformats.org/officeDocument/2006/relationships"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249F-4F03-B170-E4B7CCF91B76}"/>
                </c:ext>
              </c:extLst>
            </c:dLbl>
            <c:dLbl>
              <c:idx val="3"/>
              <c:numFmt formatCode="&quot;MMMM&quot;;&quot;MMMM&quot;;&quot;MMMM&quot;" sourceLinked="0"/>
              <c:spPr>
                <a:blipFill>
                  <a:blip xmlns:r="http://schemas.openxmlformats.org/officeDocument/2006/relationships"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F-249F-4F03-B170-E4B7CCF91B76}"/>
                </c:ext>
              </c:extLst>
            </c:dLbl>
            <c:dLbl>
              <c:idx val="4"/>
              <c:numFmt formatCode="&quot;MMMM&quot;;&quot;MMMM&quot;;&quot;MMMM&quot;" sourceLinked="0"/>
              <c:spPr>
                <a:blipFill>
                  <a:blip xmlns:r="http://schemas.openxmlformats.org/officeDocument/2006/relationships"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0-249F-4F03-B170-E4B7CCF91B76}"/>
                </c:ext>
              </c:extLst>
            </c:dLbl>
            <c:dLbl>
              <c:idx val="5"/>
              <c:numFmt formatCode="&quot;MMMM&quot;;&quot;MMMM&quot;;&quot;MMMM&quot;" sourceLinked="0"/>
              <c:spPr>
                <a:blipFill>
                  <a:blip xmlns:r="http://schemas.openxmlformats.org/officeDocument/2006/relationships"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1-249F-4F03-B170-E4B7CCF91B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12.013034817854255</c:v>
              </c:pt>
              <c:pt idx="1">
                <c:v>11.831693259946999</c:v>
              </c:pt>
              <c:pt idx="2">
                <c:v>14.58464066598347</c:v>
              </c:pt>
              <c:pt idx="3">
                <c:v>14.554910680636162</c:v>
              </c:pt>
              <c:pt idx="4">
                <c:v>13.308147783682864</c:v>
              </c:pt>
              <c:pt idx="5">
                <c:v>14.674683171384922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22-249F-4F03-B170-E4B7CCF91B76}"/>
            </c:ext>
          </c:extLst>
        </c:ser>
        <c:ser>
          <c:idx val="5"/>
          <c:order val="5"/>
          <c:tx>
            <c:v>Glassware, Ceramics &amp; Home Goods</c:v>
          </c:tx>
          <c:spPr>
            <a:solidFill>
              <a:srgbClr val="808080"/>
            </a:solidFill>
            <a:ln>
              <a:noFill/>
            </a:ln>
          </c:spPr>
          <c:invertIfNegative val="1"/>
          <c:dLbls>
            <c:dLbl>
              <c:idx val="0"/>
              <c:numFmt formatCode="&quot;MMMM&quot;;&quot;MMMM&quot;;&quot;MMMM&quot;" sourceLinked="0"/>
              <c:spPr>
                <a:blipFill>
                  <a:blip xmlns:r="http://schemas.openxmlformats.org/officeDocument/2006/relationships"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3-249F-4F03-B170-E4B7CCF91B76}"/>
                </c:ext>
              </c:extLst>
            </c:dLbl>
            <c:dLbl>
              <c:idx val="1"/>
              <c:numFmt formatCode="&quot;MMMM&quot;;&quot;MMMM&quot;;&quot;MMMM&quot;" sourceLinked="0"/>
              <c:spPr>
                <a:blipFill>
                  <a:blip xmlns:r="http://schemas.openxmlformats.org/officeDocument/2006/relationships"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4-249F-4F03-B170-E4B7CCF91B76}"/>
                </c:ext>
              </c:extLst>
            </c:dLbl>
            <c:dLbl>
              <c:idx val="2"/>
              <c:numFmt formatCode="&quot;MMMM&quot;;&quot;MMMM&quot;;&quot;MMMM&quot;" sourceLinked="0"/>
              <c:spPr>
                <a:blipFill>
                  <a:blip xmlns:r="http://schemas.openxmlformats.org/officeDocument/2006/relationships"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5-249F-4F03-B170-E4B7CCF91B76}"/>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6-249F-4F03-B170-E4B7CCF91B76}"/>
                </c:ext>
              </c:extLst>
            </c:dLbl>
            <c:dLbl>
              <c:idx val="4"/>
              <c:numFmt formatCode="&quot;MMMM&quot;;&quot;MMMM&quot;;&quot;M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7-249F-4F03-B170-E4B7CCF91B76}"/>
                </c:ext>
              </c:extLst>
            </c:dLbl>
            <c:dLbl>
              <c:idx val="5"/>
              <c:numFmt formatCode="&quot;MMMM&quot;;&quot;MMMM&quot;;&quot;MMMM&quot;" sourceLinked="0"/>
              <c:spPr>
                <a:blipFill>
                  <a:blip xmlns:r="http://schemas.openxmlformats.org/officeDocument/2006/relationships" r:embed="rId3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249F-4F03-B170-E4B7CCF91B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17.879536280520835</c:v>
              </c:pt>
              <c:pt idx="1">
                <c:v>19.727673690257781</c:v>
              </c:pt>
              <c:pt idx="2">
                <c:v>20.614096469487048</c:v>
              </c:pt>
              <c:pt idx="3">
                <c:v>17.810962479512042</c:v>
              </c:pt>
              <c:pt idx="4">
                <c:v>18.011060522830437</c:v>
              </c:pt>
              <c:pt idx="5">
                <c:v>21.745479580883323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29-249F-4F03-B170-E4B7CCF91B76}"/>
            </c:ext>
          </c:extLst>
        </c:ser>
        <c:ser>
          <c:idx val="6"/>
          <c:order val="6"/>
          <c:tx>
            <c:v>Others</c:v>
          </c:tx>
          <c:spPr>
            <a:solidFill>
              <a:srgbClr val="0E72AE"/>
            </a:solidFill>
            <a:ln>
              <a:noFill/>
            </a:ln>
          </c:spPr>
          <c:invertIfNegative val="1"/>
          <c:dLbls>
            <c:dLbl>
              <c:idx val="0"/>
              <c:numFmt formatCode="&quot;MMMM&quot;;&quot;MMMM&quot;;&quot;MMMM&quot;" sourceLinked="0"/>
              <c:spPr>
                <a:blipFill>
                  <a:blip xmlns:r="http://schemas.openxmlformats.org/officeDocument/2006/relationships"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249F-4F03-B170-E4B7CCF91B76}"/>
                </c:ext>
              </c:extLst>
            </c:dLbl>
            <c:dLbl>
              <c:idx val="1"/>
              <c:numFmt formatCode="&quot;MMMM&quot;;&quot;MMMM&quot;;&quot;MMMM&quot;" sourceLinked="0"/>
              <c:spPr>
                <a:blipFill>
                  <a:blip xmlns:r="http://schemas.openxmlformats.org/officeDocument/2006/relationships"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B-249F-4F03-B170-E4B7CCF91B76}"/>
                </c:ext>
              </c:extLst>
            </c:dLbl>
            <c:dLbl>
              <c:idx val="2"/>
              <c:numFmt formatCode="&quot;MMMM&quot;;&quot;MMMM&quot;;&quot;MMMM&quot;" sourceLinked="0"/>
              <c:spPr>
                <a:blipFill>
                  <a:blip xmlns:r="http://schemas.openxmlformats.org/officeDocument/2006/relationships" r:embed="rId3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C-249F-4F03-B170-E4B7CCF91B76}"/>
                </c:ext>
              </c:extLst>
            </c:dLbl>
            <c:dLbl>
              <c:idx val="3"/>
              <c:numFmt formatCode="&quot;MMMM&quot;;&quot;MMMM&quot;;&quot;MMMM&quot;" sourceLinked="0"/>
              <c:spPr>
                <a:blipFill>
                  <a:blip xmlns:r="http://schemas.openxmlformats.org/officeDocument/2006/relationships"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D-249F-4F03-B170-E4B7CCF91B76}"/>
                </c:ext>
              </c:extLst>
            </c:dLbl>
            <c:dLbl>
              <c:idx val="4"/>
              <c:numFmt formatCode="&quot;MMMM&quot;;&quot;MMMM&quot;;&quot;MMMM&quot;" sourceLinked="0"/>
              <c:spPr>
                <a:blipFill>
                  <a:blip xmlns:r="http://schemas.openxmlformats.org/officeDocument/2006/relationships"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E-249F-4F03-B170-E4B7CCF91B76}"/>
                </c:ext>
              </c:extLst>
            </c:dLbl>
            <c:dLbl>
              <c:idx val="5"/>
              <c:numFmt formatCode="&quot;MMMM&quot;;&quot;MMMM&quot;;&quot;MMMM&quot;" sourceLinked="0"/>
              <c:spPr>
                <a:blipFill>
                  <a:blip xmlns:r="http://schemas.openxmlformats.org/officeDocument/2006/relationships" r:embed="rId3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F-249F-4F03-B170-E4B7CCF91B7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17.721740531560538</c:v>
              </c:pt>
              <c:pt idx="1">
                <c:v>16.982635607197789</c:v>
              </c:pt>
              <c:pt idx="2">
                <c:v>16.644620711760801</c:v>
              </c:pt>
              <c:pt idx="3">
                <c:v>16.652847918394009</c:v>
              </c:pt>
              <c:pt idx="4">
                <c:v>18.771682095905042</c:v>
              </c:pt>
              <c:pt idx="5">
                <c:v>15.848716364499415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30-249F-4F03-B170-E4B7CCF91B76}"/>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Food &amp; Beverage</c:v>
          </c:tx>
          <c:spPr>
            <a:solidFill>
              <a:srgbClr val="3D85C6"/>
            </a:solidFill>
          </c:spPr>
          <c:invertIfNegative val="0"/>
          <c:xVal>
            <c:numLit>
              <c:formatCode>General</c:formatCode>
              <c:ptCount val="1"/>
              <c:pt idx="0">
                <c:v>138.86031588383526</c:v>
              </c:pt>
            </c:numLit>
          </c:xVal>
          <c:yVal>
            <c:numLit>
              <c:formatCode>General</c:formatCode>
              <c:ptCount val="1"/>
              <c:pt idx="0">
                <c:v>103.09887596839874</c:v>
              </c:pt>
            </c:numLit>
          </c:yVal>
          <c:bubbleSize>
            <c:numLit>
              <c:formatCode>General</c:formatCode>
              <c:ptCount val="1"/>
              <c:pt idx="0">
                <c:v>916.322</c:v>
              </c:pt>
            </c:numLit>
          </c:bubbleSize>
          <c:bubble3D val="0"/>
          <c:extLst>
            <c:ext xmlns:c16="http://schemas.microsoft.com/office/drawing/2014/chart" uri="{C3380CC4-5D6E-409C-BE32-E72D297353CC}">
              <c16:uniqueId val="{00000000-79D2-4A64-89E1-9DE2F973C407}"/>
            </c:ext>
          </c:extLst>
        </c:ser>
        <c:ser>
          <c:idx val="1"/>
          <c:order val="1"/>
          <c:tx>
            <c:v>Pharmaceuticals &amp; Healthcare</c:v>
          </c:tx>
          <c:spPr>
            <a:solidFill>
              <a:srgbClr val="9E7E0A"/>
            </a:solidFill>
          </c:spPr>
          <c:invertIfNegative val="0"/>
          <c:xVal>
            <c:numLit>
              <c:formatCode>General</c:formatCode>
              <c:ptCount val="1"/>
              <c:pt idx="0">
                <c:v>45.406165537874649</c:v>
              </c:pt>
            </c:numLit>
          </c:xVal>
          <c:yVal>
            <c:numLit>
              <c:formatCode>General</c:formatCode>
              <c:ptCount val="1"/>
              <c:pt idx="0">
                <c:v>101.39437543574232</c:v>
              </c:pt>
            </c:numLit>
          </c:yVal>
          <c:bubbleSize>
            <c:numLit>
              <c:formatCode>General</c:formatCode>
              <c:ptCount val="1"/>
              <c:pt idx="0">
                <c:v>578.90899999999999</c:v>
              </c:pt>
            </c:numLit>
          </c:bubbleSize>
          <c:bubble3D val="0"/>
          <c:extLst>
            <c:ext xmlns:c16="http://schemas.microsoft.com/office/drawing/2014/chart" uri="{C3380CC4-5D6E-409C-BE32-E72D297353CC}">
              <c16:uniqueId val="{00000001-79D2-4A64-89E1-9DE2F973C407}"/>
            </c:ext>
          </c:extLst>
        </c:ser>
        <c:ser>
          <c:idx val="2"/>
          <c:order val="2"/>
          <c:tx>
            <c:v>Personal Care &amp; Cosmetics</c:v>
          </c:tx>
          <c:spPr>
            <a:solidFill>
              <a:srgbClr val="008189"/>
            </a:solidFill>
          </c:spPr>
          <c:invertIfNegative val="0"/>
          <c:xVal>
            <c:numLit>
              <c:formatCode>General</c:formatCode>
              <c:ptCount val="1"/>
              <c:pt idx="0">
                <c:v>163.67959482098348</c:v>
              </c:pt>
            </c:numLit>
          </c:xVal>
          <c:yVal>
            <c:numLit>
              <c:formatCode>General</c:formatCode>
              <c:ptCount val="1"/>
              <c:pt idx="0">
                <c:v>23.319632287385094</c:v>
              </c:pt>
            </c:numLit>
          </c:yVal>
          <c:bubbleSize>
            <c:numLit>
              <c:formatCode>General</c:formatCode>
              <c:ptCount val="1"/>
              <c:pt idx="0">
                <c:v>232.36</c:v>
              </c:pt>
            </c:numLit>
          </c:bubbleSize>
          <c:bubble3D val="0"/>
          <c:extLst>
            <c:ext xmlns:c16="http://schemas.microsoft.com/office/drawing/2014/chart" uri="{C3380CC4-5D6E-409C-BE32-E72D297353CC}">
              <c16:uniqueId val="{00000002-79D2-4A64-89E1-9DE2F973C407}"/>
            </c:ext>
          </c:extLst>
        </c:ser>
        <c:ser>
          <c:idx val="3"/>
          <c:order val="3"/>
          <c:tx>
            <c:v>Electronics &amp; Electrical</c:v>
          </c:tx>
          <c:spPr>
            <a:solidFill>
              <a:srgbClr val="40315E"/>
            </a:solidFill>
          </c:spPr>
          <c:invertIfNegative val="0"/>
          <c:xVal>
            <c:numLit>
              <c:formatCode>General</c:formatCode>
              <c:ptCount val="1"/>
              <c:pt idx="0">
                <c:v>168.60758647333029</c:v>
              </c:pt>
            </c:numLit>
          </c:xVal>
          <c:yVal>
            <c:numLit>
              <c:formatCode>General</c:formatCode>
              <c:ptCount val="1"/>
              <c:pt idx="0">
                <c:v>82.294650717078369</c:v>
              </c:pt>
            </c:numLit>
          </c:yVal>
          <c:bubbleSize>
            <c:numLit>
              <c:formatCode>General</c:formatCode>
              <c:ptCount val="1"/>
              <c:pt idx="0">
                <c:v>838.69</c:v>
              </c:pt>
            </c:numLit>
          </c:bubbleSize>
          <c:bubble3D val="0"/>
          <c:extLst>
            <c:ext xmlns:c16="http://schemas.microsoft.com/office/drawing/2014/chart" uri="{C3380CC4-5D6E-409C-BE32-E72D297353CC}">
              <c16:uniqueId val="{00000003-79D2-4A64-89E1-9DE2F973C407}"/>
            </c:ext>
          </c:extLst>
        </c:ser>
        <c:ser>
          <c:idx val="4"/>
          <c:order val="4"/>
          <c:tx>
            <c:v>Automotive &amp; Industrial Components</c:v>
          </c:tx>
          <c:spPr>
            <a:solidFill>
              <a:srgbClr val="A35313"/>
            </a:solidFill>
          </c:spPr>
          <c:invertIfNegative val="0"/>
          <c:xVal>
            <c:numLit>
              <c:formatCode>General</c:formatCode>
              <c:ptCount val="1"/>
              <c:pt idx="0">
                <c:v>80.268352988868656</c:v>
              </c:pt>
            </c:numLit>
          </c:xVal>
          <c:yVal>
            <c:numLit>
              <c:formatCode>General</c:formatCode>
              <c:ptCount val="1"/>
              <c:pt idx="0">
                <c:v>106.34206448189516</c:v>
              </c:pt>
            </c:numLit>
          </c:yVal>
          <c:bubbleSize>
            <c:numLit>
              <c:formatCode>General</c:formatCode>
              <c:ptCount val="1"/>
              <c:pt idx="0">
                <c:v>717.79</c:v>
              </c:pt>
            </c:numLit>
          </c:bubbleSize>
          <c:bubble3D val="0"/>
          <c:extLst>
            <c:ext xmlns:c16="http://schemas.microsoft.com/office/drawing/2014/chart" uri="{C3380CC4-5D6E-409C-BE32-E72D297353CC}">
              <c16:uniqueId val="{00000004-79D2-4A64-89E1-9DE2F973C407}"/>
            </c:ext>
          </c:extLst>
        </c:ser>
        <c:ser>
          <c:idx val="5"/>
          <c:order val="5"/>
          <c:tx>
            <c:v>Glassware, Ceramics &amp; Home Goods</c:v>
          </c:tx>
          <c:spPr>
            <a:solidFill>
              <a:srgbClr val="808080"/>
            </a:solidFill>
          </c:spPr>
          <c:invertIfNegative val="0"/>
          <c:xVal>
            <c:numLit>
              <c:formatCode>General</c:formatCode>
              <c:ptCount val="1"/>
              <c:pt idx="0">
                <c:v>95.584236733932102</c:v>
              </c:pt>
            </c:numLit>
          </c:xVal>
          <c:yVal>
            <c:numLit>
              <c:formatCode>General</c:formatCode>
              <c:ptCount val="1"/>
              <c:pt idx="0">
                <c:v>139.97182499119535</c:v>
              </c:pt>
            </c:numLit>
          </c:yVal>
          <c:bubbleSize>
            <c:numLit>
              <c:formatCode>General</c:formatCode>
              <c:ptCount val="1"/>
              <c:pt idx="0">
                <c:v>1015.99</c:v>
              </c:pt>
            </c:numLit>
          </c:bubbleSize>
          <c:bubble3D val="0"/>
          <c:extLst>
            <c:ext xmlns:c16="http://schemas.microsoft.com/office/drawing/2014/chart" uri="{C3380CC4-5D6E-409C-BE32-E72D297353CC}">
              <c16:uniqueId val="{00000005-79D2-4A64-89E1-9DE2F973C407}"/>
            </c:ext>
          </c:extLst>
        </c:ser>
        <c:ser>
          <c:idx val="6"/>
          <c:order val="6"/>
          <c:tx>
            <c:v>Others</c:v>
          </c:tx>
          <c:spPr>
            <a:solidFill>
              <a:srgbClr val="0E72AE"/>
            </a:solidFill>
          </c:spPr>
          <c:invertIfNegative val="0"/>
          <c:xVal>
            <c:numLit>
              <c:formatCode>General</c:formatCode>
              <c:ptCount val="1"/>
              <c:pt idx="0">
                <c:v>61.980040622741875</c:v>
              </c:pt>
            </c:numLit>
          </c:xVal>
          <c:yVal>
            <c:numLit>
              <c:formatCode>General</c:formatCode>
              <c:ptCount val="1"/>
              <c:pt idx="0">
                <c:v>143.57857611830508</c:v>
              </c:pt>
            </c:numLit>
          </c:yVal>
          <c:bubbleSize>
            <c:numLit>
              <c:formatCode>General</c:formatCode>
              <c:ptCount val="1"/>
              <c:pt idx="0">
                <c:v>887.97</c:v>
              </c:pt>
            </c:numLit>
          </c:bubbleSize>
          <c:bubble3D val="0"/>
          <c:extLst>
            <c:ext xmlns:c16="http://schemas.microsoft.com/office/drawing/2014/chart" uri="{C3380CC4-5D6E-409C-BE32-E72D297353CC}">
              <c16:uniqueId val="{00000006-79D2-4A64-89E1-9DE2F973C407}"/>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00"/>
          <c:min val="10"/>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175"/>
          <c:min val="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471.30900000000003</c:v>
              </c:pt>
              <c:pt idx="2">
                <c:v>538.41700000000003</c:v>
              </c:pt>
              <c:pt idx="3">
                <c:v>615.00900000000001</c:v>
              </c:pt>
              <c:pt idx="4">
                <c:v>702.45</c:v>
              </c:pt>
              <c:pt idx="5">
                <c:v>802.29100000000005</c:v>
              </c:pt>
              <c:pt idx="6">
                <c:v>0</c:v>
              </c:pt>
            </c:numLit>
          </c:val>
          <c:extLst>
            <c:ext xmlns:c16="http://schemas.microsoft.com/office/drawing/2014/chart" uri="{C3380CC4-5D6E-409C-BE32-E72D297353CC}">
              <c16:uniqueId val="{00000000-9895-44CE-945A-5C22E7BFD1CE}"/>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9895-44CE-945A-5C22E7BFD1CE}"/>
              </c:ext>
            </c:extLst>
          </c:dPt>
          <c:dPt>
            <c:idx val="1"/>
            <c:invertIfNegative val="1"/>
            <c:bubble3D val="0"/>
            <c:spPr>
              <a:solidFill>
                <a:srgbClr val="008189"/>
              </a:solidFill>
            </c:spPr>
            <c:extLst>
              <c:ext xmlns:c16="http://schemas.microsoft.com/office/drawing/2014/chart" uri="{C3380CC4-5D6E-409C-BE32-E72D297353CC}">
                <c16:uniqueId val="{00000004-9895-44CE-945A-5C22E7BFD1CE}"/>
              </c:ext>
            </c:extLst>
          </c:dPt>
          <c:dPt>
            <c:idx val="2"/>
            <c:invertIfNegative val="1"/>
            <c:bubble3D val="0"/>
            <c:spPr>
              <a:solidFill>
                <a:srgbClr val="008189"/>
              </a:solidFill>
            </c:spPr>
            <c:extLst>
              <c:ext xmlns:c16="http://schemas.microsoft.com/office/drawing/2014/chart" uri="{C3380CC4-5D6E-409C-BE32-E72D297353CC}">
                <c16:uniqueId val="{00000006-9895-44CE-945A-5C22E7BFD1CE}"/>
              </c:ext>
            </c:extLst>
          </c:dPt>
          <c:dPt>
            <c:idx val="3"/>
            <c:invertIfNegative val="1"/>
            <c:bubble3D val="0"/>
            <c:spPr>
              <a:solidFill>
                <a:srgbClr val="008189"/>
              </a:solidFill>
            </c:spPr>
            <c:extLst>
              <c:ext xmlns:c16="http://schemas.microsoft.com/office/drawing/2014/chart" uri="{C3380CC4-5D6E-409C-BE32-E72D297353CC}">
                <c16:uniqueId val="{00000008-9895-44CE-945A-5C22E7BFD1CE}"/>
              </c:ext>
            </c:extLst>
          </c:dPt>
          <c:dPt>
            <c:idx val="4"/>
            <c:invertIfNegative val="1"/>
            <c:bubble3D val="0"/>
            <c:spPr>
              <a:solidFill>
                <a:srgbClr val="008189"/>
              </a:solidFill>
            </c:spPr>
            <c:extLst>
              <c:ext xmlns:c16="http://schemas.microsoft.com/office/drawing/2014/chart" uri="{C3380CC4-5D6E-409C-BE32-E72D297353CC}">
                <c16:uniqueId val="{0000000A-9895-44CE-945A-5C22E7BFD1CE}"/>
              </c:ext>
            </c:extLst>
          </c:dPt>
          <c:dPt>
            <c:idx val="5"/>
            <c:invertIfNegative val="1"/>
            <c:bubble3D val="0"/>
            <c:spPr>
              <a:solidFill>
                <a:srgbClr val="008189"/>
              </a:solidFill>
            </c:spPr>
            <c:extLst>
              <c:ext xmlns:c16="http://schemas.microsoft.com/office/drawing/2014/chart" uri="{C3380CC4-5D6E-409C-BE32-E72D297353CC}">
                <c16:uniqueId val="{0000000C-9895-44CE-945A-5C22E7BFD1CE}"/>
              </c:ext>
            </c:extLst>
          </c:dPt>
          <c:dPt>
            <c:idx val="6"/>
            <c:invertIfNegative val="1"/>
            <c:bubble3D val="0"/>
            <c:spPr>
              <a:solidFill>
                <a:srgbClr val="0E72AE"/>
              </a:solidFill>
            </c:spPr>
            <c:extLst>
              <c:ext xmlns:c16="http://schemas.microsoft.com/office/drawing/2014/chart" uri="{C3380CC4-5D6E-409C-BE32-E72D297353CC}">
                <c16:uniqueId val="{0000000E-9895-44CE-945A-5C22E7BFD1CE}"/>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895-44CE-945A-5C22E7BFD1C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895-44CE-945A-5C22E7BFD1C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895-44CE-945A-5C22E7BFD1CE}"/>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895-44CE-945A-5C22E7BFD1CE}"/>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9895-44CE-945A-5C22E7BFD1CE}"/>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9895-44CE-945A-5C22E7BFD1CE}"/>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9895-44CE-945A-5C22E7BFD1CE}"/>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471.30900000000003</c:v>
              </c:pt>
              <c:pt idx="1">
                <c:v>67.108000000000004</c:v>
              </c:pt>
              <c:pt idx="2">
                <c:v>76.591999999999985</c:v>
              </c:pt>
              <c:pt idx="3">
                <c:v>87.441000000000031</c:v>
              </c:pt>
              <c:pt idx="4">
                <c:v>99.841000000000008</c:v>
              </c:pt>
              <c:pt idx="5">
                <c:v>114.03099999999995</c:v>
              </c:pt>
              <c:pt idx="6">
                <c:v>916.322</c:v>
              </c:pt>
            </c:numLit>
          </c:val>
          <c:extLst>
            <c:ext xmlns:c16="http://schemas.microsoft.com/office/drawing/2014/chart" uri="{C3380CC4-5D6E-409C-BE32-E72D297353CC}">
              <c16:uniqueId val="{0000000F-9895-44CE-945A-5C22E7BFD1CE}"/>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463.517</c:v>
              </c:pt>
              <c:pt idx="2">
                <c:v>487.93599999999998</c:v>
              </c:pt>
              <c:pt idx="3">
                <c:v>512.13699999999994</c:v>
              </c:pt>
              <c:pt idx="4">
                <c:v>535.71600000000001</c:v>
              </c:pt>
              <c:pt idx="5">
                <c:v>558.18200000000002</c:v>
              </c:pt>
              <c:pt idx="6">
                <c:v>0</c:v>
              </c:pt>
            </c:numLit>
          </c:val>
          <c:extLst>
            <c:ext xmlns:c16="http://schemas.microsoft.com/office/drawing/2014/chart" uri="{C3380CC4-5D6E-409C-BE32-E72D297353CC}">
              <c16:uniqueId val="{00000000-34C2-4EB5-B17E-E2F123B6B5C3}"/>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34C2-4EB5-B17E-E2F123B6B5C3}"/>
              </c:ext>
            </c:extLst>
          </c:dPt>
          <c:dPt>
            <c:idx val="1"/>
            <c:invertIfNegative val="1"/>
            <c:bubble3D val="0"/>
            <c:spPr>
              <a:solidFill>
                <a:srgbClr val="008189"/>
              </a:solidFill>
            </c:spPr>
            <c:extLst>
              <c:ext xmlns:c16="http://schemas.microsoft.com/office/drawing/2014/chart" uri="{C3380CC4-5D6E-409C-BE32-E72D297353CC}">
                <c16:uniqueId val="{00000004-34C2-4EB5-B17E-E2F123B6B5C3}"/>
              </c:ext>
            </c:extLst>
          </c:dPt>
          <c:dPt>
            <c:idx val="2"/>
            <c:invertIfNegative val="1"/>
            <c:bubble3D val="0"/>
            <c:spPr>
              <a:solidFill>
                <a:srgbClr val="008189"/>
              </a:solidFill>
            </c:spPr>
            <c:extLst>
              <c:ext xmlns:c16="http://schemas.microsoft.com/office/drawing/2014/chart" uri="{C3380CC4-5D6E-409C-BE32-E72D297353CC}">
                <c16:uniqueId val="{00000006-34C2-4EB5-B17E-E2F123B6B5C3}"/>
              </c:ext>
            </c:extLst>
          </c:dPt>
          <c:dPt>
            <c:idx val="3"/>
            <c:invertIfNegative val="1"/>
            <c:bubble3D val="0"/>
            <c:spPr>
              <a:solidFill>
                <a:srgbClr val="008189"/>
              </a:solidFill>
            </c:spPr>
            <c:extLst>
              <c:ext xmlns:c16="http://schemas.microsoft.com/office/drawing/2014/chart" uri="{C3380CC4-5D6E-409C-BE32-E72D297353CC}">
                <c16:uniqueId val="{00000008-34C2-4EB5-B17E-E2F123B6B5C3}"/>
              </c:ext>
            </c:extLst>
          </c:dPt>
          <c:dPt>
            <c:idx val="4"/>
            <c:invertIfNegative val="1"/>
            <c:bubble3D val="0"/>
            <c:spPr>
              <a:solidFill>
                <a:srgbClr val="008189"/>
              </a:solidFill>
            </c:spPr>
            <c:extLst>
              <c:ext xmlns:c16="http://schemas.microsoft.com/office/drawing/2014/chart" uri="{C3380CC4-5D6E-409C-BE32-E72D297353CC}">
                <c16:uniqueId val="{0000000A-34C2-4EB5-B17E-E2F123B6B5C3}"/>
              </c:ext>
            </c:extLst>
          </c:dPt>
          <c:dPt>
            <c:idx val="5"/>
            <c:invertIfNegative val="1"/>
            <c:bubble3D val="0"/>
            <c:spPr>
              <a:solidFill>
                <a:srgbClr val="008189"/>
              </a:solidFill>
            </c:spPr>
            <c:extLst>
              <c:ext xmlns:c16="http://schemas.microsoft.com/office/drawing/2014/chart" uri="{C3380CC4-5D6E-409C-BE32-E72D297353CC}">
                <c16:uniqueId val="{0000000C-34C2-4EB5-B17E-E2F123B6B5C3}"/>
              </c:ext>
            </c:extLst>
          </c:dPt>
          <c:dPt>
            <c:idx val="6"/>
            <c:invertIfNegative val="1"/>
            <c:bubble3D val="0"/>
            <c:spPr>
              <a:solidFill>
                <a:srgbClr val="0E72AE"/>
              </a:solidFill>
            </c:spPr>
            <c:extLst>
              <c:ext xmlns:c16="http://schemas.microsoft.com/office/drawing/2014/chart" uri="{C3380CC4-5D6E-409C-BE32-E72D297353CC}">
                <c16:uniqueId val="{0000000E-34C2-4EB5-B17E-E2F123B6B5C3}"/>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4C2-4EB5-B17E-E2F123B6B5C3}"/>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4C2-4EB5-B17E-E2F123B6B5C3}"/>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4C2-4EB5-B17E-E2F123B6B5C3}"/>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4C2-4EB5-B17E-E2F123B6B5C3}"/>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4C2-4EB5-B17E-E2F123B6B5C3}"/>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4C2-4EB5-B17E-E2F123B6B5C3}"/>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4C2-4EB5-B17E-E2F123B6B5C3}"/>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463.517</c:v>
              </c:pt>
              <c:pt idx="1">
                <c:v>24.418999999999983</c:v>
              </c:pt>
              <c:pt idx="2">
                <c:v>24.200999999999965</c:v>
              </c:pt>
              <c:pt idx="3">
                <c:v>23.579000000000065</c:v>
              </c:pt>
              <c:pt idx="4">
                <c:v>22.466000000000008</c:v>
              </c:pt>
              <c:pt idx="5">
                <c:v>20.726999999999975</c:v>
              </c:pt>
              <c:pt idx="6">
                <c:v>578.90899999999999</c:v>
              </c:pt>
            </c:numLit>
          </c:val>
          <c:extLst>
            <c:ext xmlns:c16="http://schemas.microsoft.com/office/drawing/2014/chart" uri="{C3380CC4-5D6E-409C-BE32-E72D297353CC}">
              <c16:uniqueId val="{0000000F-34C2-4EB5-B17E-E2F123B6B5C3}"/>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106.604</c:v>
              </c:pt>
              <c:pt idx="2">
                <c:v>125.05</c:v>
              </c:pt>
              <c:pt idx="3">
                <c:v>146.37</c:v>
              </c:pt>
              <c:pt idx="4">
                <c:v>171.02099999999999</c:v>
              </c:pt>
              <c:pt idx="5">
                <c:v>199.48699999999999</c:v>
              </c:pt>
              <c:pt idx="6">
                <c:v>0</c:v>
              </c:pt>
            </c:numLit>
          </c:val>
          <c:extLst>
            <c:ext xmlns:c16="http://schemas.microsoft.com/office/drawing/2014/chart" uri="{C3380CC4-5D6E-409C-BE32-E72D297353CC}">
              <c16:uniqueId val="{00000000-E71D-46CB-89A1-AC089D740796}"/>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E71D-46CB-89A1-AC089D740796}"/>
              </c:ext>
            </c:extLst>
          </c:dPt>
          <c:dPt>
            <c:idx val="1"/>
            <c:invertIfNegative val="1"/>
            <c:bubble3D val="0"/>
            <c:spPr>
              <a:solidFill>
                <a:srgbClr val="008189"/>
              </a:solidFill>
            </c:spPr>
            <c:extLst>
              <c:ext xmlns:c16="http://schemas.microsoft.com/office/drawing/2014/chart" uri="{C3380CC4-5D6E-409C-BE32-E72D297353CC}">
                <c16:uniqueId val="{00000004-E71D-46CB-89A1-AC089D740796}"/>
              </c:ext>
            </c:extLst>
          </c:dPt>
          <c:dPt>
            <c:idx val="2"/>
            <c:invertIfNegative val="1"/>
            <c:bubble3D val="0"/>
            <c:spPr>
              <a:solidFill>
                <a:srgbClr val="008189"/>
              </a:solidFill>
            </c:spPr>
            <c:extLst>
              <c:ext xmlns:c16="http://schemas.microsoft.com/office/drawing/2014/chart" uri="{C3380CC4-5D6E-409C-BE32-E72D297353CC}">
                <c16:uniqueId val="{00000006-E71D-46CB-89A1-AC089D740796}"/>
              </c:ext>
            </c:extLst>
          </c:dPt>
          <c:dPt>
            <c:idx val="3"/>
            <c:invertIfNegative val="1"/>
            <c:bubble3D val="0"/>
            <c:spPr>
              <a:solidFill>
                <a:srgbClr val="008189"/>
              </a:solidFill>
            </c:spPr>
            <c:extLst>
              <c:ext xmlns:c16="http://schemas.microsoft.com/office/drawing/2014/chart" uri="{C3380CC4-5D6E-409C-BE32-E72D297353CC}">
                <c16:uniqueId val="{00000008-E71D-46CB-89A1-AC089D740796}"/>
              </c:ext>
            </c:extLst>
          </c:dPt>
          <c:dPt>
            <c:idx val="4"/>
            <c:invertIfNegative val="1"/>
            <c:bubble3D val="0"/>
            <c:spPr>
              <a:solidFill>
                <a:srgbClr val="008189"/>
              </a:solidFill>
            </c:spPr>
            <c:extLst>
              <c:ext xmlns:c16="http://schemas.microsoft.com/office/drawing/2014/chart" uri="{C3380CC4-5D6E-409C-BE32-E72D297353CC}">
                <c16:uniqueId val="{0000000A-E71D-46CB-89A1-AC089D740796}"/>
              </c:ext>
            </c:extLst>
          </c:dPt>
          <c:dPt>
            <c:idx val="5"/>
            <c:invertIfNegative val="1"/>
            <c:bubble3D val="0"/>
            <c:spPr>
              <a:solidFill>
                <a:srgbClr val="008189"/>
              </a:solidFill>
            </c:spPr>
            <c:extLst>
              <c:ext xmlns:c16="http://schemas.microsoft.com/office/drawing/2014/chart" uri="{C3380CC4-5D6E-409C-BE32-E72D297353CC}">
                <c16:uniqueId val="{0000000C-E71D-46CB-89A1-AC089D740796}"/>
              </c:ext>
            </c:extLst>
          </c:dPt>
          <c:dPt>
            <c:idx val="6"/>
            <c:invertIfNegative val="1"/>
            <c:bubble3D val="0"/>
            <c:spPr>
              <a:solidFill>
                <a:srgbClr val="0E72AE"/>
              </a:solidFill>
            </c:spPr>
            <c:extLst>
              <c:ext xmlns:c16="http://schemas.microsoft.com/office/drawing/2014/chart" uri="{C3380CC4-5D6E-409C-BE32-E72D297353CC}">
                <c16:uniqueId val="{0000000E-E71D-46CB-89A1-AC089D740796}"/>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71D-46CB-89A1-AC089D740796}"/>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71D-46CB-89A1-AC089D740796}"/>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71D-46CB-89A1-AC089D740796}"/>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71D-46CB-89A1-AC089D740796}"/>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71D-46CB-89A1-AC089D740796}"/>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71D-46CB-89A1-AC089D740796}"/>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71D-46CB-89A1-AC089D740796}"/>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106.604</c:v>
              </c:pt>
              <c:pt idx="1">
                <c:v>18.445999999999998</c:v>
              </c:pt>
              <c:pt idx="2">
                <c:v>21.320000000000007</c:v>
              </c:pt>
              <c:pt idx="3">
                <c:v>24.650999999999982</c:v>
              </c:pt>
              <c:pt idx="4">
                <c:v>28.466000000000008</c:v>
              </c:pt>
              <c:pt idx="5">
                <c:v>32.873000000000019</c:v>
              </c:pt>
              <c:pt idx="6">
                <c:v>232.36</c:v>
              </c:pt>
            </c:numLit>
          </c:val>
          <c:extLst>
            <c:ext xmlns:c16="http://schemas.microsoft.com/office/drawing/2014/chart" uri="{C3380CC4-5D6E-409C-BE32-E72D297353CC}">
              <c16:uniqueId val="{0000000F-E71D-46CB-89A1-AC089D740796}"/>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376.20400000000001</c:v>
              </c:pt>
              <c:pt idx="2">
                <c:v>443.67899999999997</c:v>
              </c:pt>
              <c:pt idx="3">
                <c:v>521.87900000000002</c:v>
              </c:pt>
              <c:pt idx="4">
                <c:v>612.46199999999999</c:v>
              </c:pt>
              <c:pt idx="5">
                <c:v>717.33</c:v>
              </c:pt>
              <c:pt idx="6">
                <c:v>0</c:v>
              </c:pt>
            </c:numLit>
          </c:val>
          <c:extLst>
            <c:ext xmlns:c16="http://schemas.microsoft.com/office/drawing/2014/chart" uri="{C3380CC4-5D6E-409C-BE32-E72D297353CC}">
              <c16:uniqueId val="{00000000-A44A-412C-94D7-799806DBC053}"/>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A44A-412C-94D7-799806DBC053}"/>
              </c:ext>
            </c:extLst>
          </c:dPt>
          <c:dPt>
            <c:idx val="1"/>
            <c:invertIfNegative val="1"/>
            <c:bubble3D val="0"/>
            <c:spPr>
              <a:solidFill>
                <a:srgbClr val="008189"/>
              </a:solidFill>
            </c:spPr>
            <c:extLst>
              <c:ext xmlns:c16="http://schemas.microsoft.com/office/drawing/2014/chart" uri="{C3380CC4-5D6E-409C-BE32-E72D297353CC}">
                <c16:uniqueId val="{00000004-A44A-412C-94D7-799806DBC053}"/>
              </c:ext>
            </c:extLst>
          </c:dPt>
          <c:dPt>
            <c:idx val="2"/>
            <c:invertIfNegative val="1"/>
            <c:bubble3D val="0"/>
            <c:spPr>
              <a:solidFill>
                <a:srgbClr val="008189"/>
              </a:solidFill>
            </c:spPr>
            <c:extLst>
              <c:ext xmlns:c16="http://schemas.microsoft.com/office/drawing/2014/chart" uri="{C3380CC4-5D6E-409C-BE32-E72D297353CC}">
                <c16:uniqueId val="{00000006-A44A-412C-94D7-799806DBC053}"/>
              </c:ext>
            </c:extLst>
          </c:dPt>
          <c:dPt>
            <c:idx val="3"/>
            <c:invertIfNegative val="1"/>
            <c:bubble3D val="0"/>
            <c:spPr>
              <a:solidFill>
                <a:srgbClr val="008189"/>
              </a:solidFill>
            </c:spPr>
            <c:extLst>
              <c:ext xmlns:c16="http://schemas.microsoft.com/office/drawing/2014/chart" uri="{C3380CC4-5D6E-409C-BE32-E72D297353CC}">
                <c16:uniqueId val="{00000008-A44A-412C-94D7-799806DBC053}"/>
              </c:ext>
            </c:extLst>
          </c:dPt>
          <c:dPt>
            <c:idx val="4"/>
            <c:invertIfNegative val="1"/>
            <c:bubble3D val="0"/>
            <c:spPr>
              <a:solidFill>
                <a:srgbClr val="008189"/>
              </a:solidFill>
            </c:spPr>
            <c:extLst>
              <c:ext xmlns:c16="http://schemas.microsoft.com/office/drawing/2014/chart" uri="{C3380CC4-5D6E-409C-BE32-E72D297353CC}">
                <c16:uniqueId val="{0000000A-A44A-412C-94D7-799806DBC053}"/>
              </c:ext>
            </c:extLst>
          </c:dPt>
          <c:dPt>
            <c:idx val="5"/>
            <c:invertIfNegative val="1"/>
            <c:bubble3D val="0"/>
            <c:spPr>
              <a:solidFill>
                <a:srgbClr val="008189"/>
              </a:solidFill>
            </c:spPr>
            <c:extLst>
              <c:ext xmlns:c16="http://schemas.microsoft.com/office/drawing/2014/chart" uri="{C3380CC4-5D6E-409C-BE32-E72D297353CC}">
                <c16:uniqueId val="{0000000C-A44A-412C-94D7-799806DBC053}"/>
              </c:ext>
            </c:extLst>
          </c:dPt>
          <c:dPt>
            <c:idx val="6"/>
            <c:invertIfNegative val="1"/>
            <c:bubble3D val="0"/>
            <c:spPr>
              <a:solidFill>
                <a:srgbClr val="0E72AE"/>
              </a:solidFill>
            </c:spPr>
            <c:extLst>
              <c:ext xmlns:c16="http://schemas.microsoft.com/office/drawing/2014/chart" uri="{C3380CC4-5D6E-409C-BE32-E72D297353CC}">
                <c16:uniqueId val="{0000000E-A44A-412C-94D7-799806DBC053}"/>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44A-412C-94D7-799806DBC053}"/>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44A-412C-94D7-799806DBC053}"/>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44A-412C-94D7-799806DBC053}"/>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44A-412C-94D7-799806DBC053}"/>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44A-412C-94D7-799806DBC053}"/>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A44A-412C-94D7-799806DBC053}"/>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A44A-412C-94D7-799806DBC053}"/>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376.20400000000001</c:v>
              </c:pt>
              <c:pt idx="1">
                <c:v>67.474999999999966</c:v>
              </c:pt>
              <c:pt idx="2">
                <c:v>78.200000000000045</c:v>
              </c:pt>
              <c:pt idx="3">
                <c:v>90.58299999999997</c:v>
              </c:pt>
              <c:pt idx="4">
                <c:v>104.86800000000005</c:v>
              </c:pt>
              <c:pt idx="5">
                <c:v>121.36000000000001</c:v>
              </c:pt>
              <c:pt idx="6">
                <c:v>838.69</c:v>
              </c:pt>
            </c:numLit>
          </c:val>
          <c:extLst>
            <c:ext xmlns:c16="http://schemas.microsoft.com/office/drawing/2014/chart" uri="{C3380CC4-5D6E-409C-BE32-E72D297353CC}">
              <c16:uniqueId val="{0000000F-A44A-412C-94D7-799806DBC053}"/>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486.13499999999999</c:v>
              </c:pt>
              <c:pt idx="2">
                <c:v>525.81100000000004</c:v>
              </c:pt>
              <c:pt idx="3">
                <c:v>568.59699999999998</c:v>
              </c:pt>
              <c:pt idx="4">
                <c:v>614.71400000000006</c:v>
              </c:pt>
              <c:pt idx="5">
                <c:v>664.37300000000005</c:v>
              </c:pt>
              <c:pt idx="6">
                <c:v>0</c:v>
              </c:pt>
            </c:numLit>
          </c:val>
          <c:extLst>
            <c:ext xmlns:c16="http://schemas.microsoft.com/office/drawing/2014/chart" uri="{C3380CC4-5D6E-409C-BE32-E72D297353CC}">
              <c16:uniqueId val="{00000000-1285-4DA1-BCD2-C4EC0B72665C}"/>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1285-4DA1-BCD2-C4EC0B72665C}"/>
              </c:ext>
            </c:extLst>
          </c:dPt>
          <c:dPt>
            <c:idx val="1"/>
            <c:invertIfNegative val="1"/>
            <c:bubble3D val="0"/>
            <c:spPr>
              <a:solidFill>
                <a:srgbClr val="008189"/>
              </a:solidFill>
            </c:spPr>
            <c:extLst>
              <c:ext xmlns:c16="http://schemas.microsoft.com/office/drawing/2014/chart" uri="{C3380CC4-5D6E-409C-BE32-E72D297353CC}">
                <c16:uniqueId val="{00000004-1285-4DA1-BCD2-C4EC0B72665C}"/>
              </c:ext>
            </c:extLst>
          </c:dPt>
          <c:dPt>
            <c:idx val="2"/>
            <c:invertIfNegative val="1"/>
            <c:bubble3D val="0"/>
            <c:spPr>
              <a:solidFill>
                <a:srgbClr val="008189"/>
              </a:solidFill>
            </c:spPr>
            <c:extLst>
              <c:ext xmlns:c16="http://schemas.microsoft.com/office/drawing/2014/chart" uri="{C3380CC4-5D6E-409C-BE32-E72D297353CC}">
                <c16:uniqueId val="{00000006-1285-4DA1-BCD2-C4EC0B72665C}"/>
              </c:ext>
            </c:extLst>
          </c:dPt>
          <c:dPt>
            <c:idx val="3"/>
            <c:invertIfNegative val="1"/>
            <c:bubble3D val="0"/>
            <c:spPr>
              <a:solidFill>
                <a:srgbClr val="008189"/>
              </a:solidFill>
            </c:spPr>
            <c:extLst>
              <c:ext xmlns:c16="http://schemas.microsoft.com/office/drawing/2014/chart" uri="{C3380CC4-5D6E-409C-BE32-E72D297353CC}">
                <c16:uniqueId val="{00000008-1285-4DA1-BCD2-C4EC0B72665C}"/>
              </c:ext>
            </c:extLst>
          </c:dPt>
          <c:dPt>
            <c:idx val="4"/>
            <c:invertIfNegative val="1"/>
            <c:bubble3D val="0"/>
            <c:spPr>
              <a:solidFill>
                <a:srgbClr val="008189"/>
              </a:solidFill>
            </c:spPr>
            <c:extLst>
              <c:ext xmlns:c16="http://schemas.microsoft.com/office/drawing/2014/chart" uri="{C3380CC4-5D6E-409C-BE32-E72D297353CC}">
                <c16:uniqueId val="{0000000A-1285-4DA1-BCD2-C4EC0B72665C}"/>
              </c:ext>
            </c:extLst>
          </c:dPt>
          <c:dPt>
            <c:idx val="5"/>
            <c:invertIfNegative val="1"/>
            <c:bubble3D val="0"/>
            <c:spPr>
              <a:solidFill>
                <a:srgbClr val="008189"/>
              </a:solidFill>
            </c:spPr>
            <c:extLst>
              <c:ext xmlns:c16="http://schemas.microsoft.com/office/drawing/2014/chart" uri="{C3380CC4-5D6E-409C-BE32-E72D297353CC}">
                <c16:uniqueId val="{0000000C-1285-4DA1-BCD2-C4EC0B72665C}"/>
              </c:ext>
            </c:extLst>
          </c:dPt>
          <c:dPt>
            <c:idx val="6"/>
            <c:invertIfNegative val="1"/>
            <c:bubble3D val="0"/>
            <c:spPr>
              <a:solidFill>
                <a:srgbClr val="0E72AE"/>
              </a:solidFill>
            </c:spPr>
            <c:extLst>
              <c:ext xmlns:c16="http://schemas.microsoft.com/office/drawing/2014/chart" uri="{C3380CC4-5D6E-409C-BE32-E72D297353CC}">
                <c16:uniqueId val="{0000000E-1285-4DA1-BCD2-C4EC0B72665C}"/>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285-4DA1-BCD2-C4EC0B72665C}"/>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285-4DA1-BCD2-C4EC0B72665C}"/>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285-4DA1-BCD2-C4EC0B72665C}"/>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285-4DA1-BCD2-C4EC0B72665C}"/>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285-4DA1-BCD2-C4EC0B72665C}"/>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285-4DA1-BCD2-C4EC0B72665C}"/>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1285-4DA1-BCD2-C4EC0B72665C}"/>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486.13499999999999</c:v>
              </c:pt>
              <c:pt idx="1">
                <c:v>39.676000000000045</c:v>
              </c:pt>
              <c:pt idx="2">
                <c:v>42.785999999999945</c:v>
              </c:pt>
              <c:pt idx="3">
                <c:v>46.117000000000075</c:v>
              </c:pt>
              <c:pt idx="4">
                <c:v>49.658999999999992</c:v>
              </c:pt>
              <c:pt idx="5">
                <c:v>53.416999999999916</c:v>
              </c:pt>
              <c:pt idx="6">
                <c:v>717.79</c:v>
              </c:pt>
            </c:numLit>
          </c:val>
          <c:extLst>
            <c:ext xmlns:c16="http://schemas.microsoft.com/office/drawing/2014/chart" uri="{C3380CC4-5D6E-409C-BE32-E72D297353CC}">
              <c16:uniqueId val="{0000000F-1285-4DA1-BCD2-C4EC0B72665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639.87099999999998</c:v>
              </c:pt>
              <c:pt idx="2">
                <c:v>701.38699999999994</c:v>
              </c:pt>
              <c:pt idx="3">
                <c:v>769.07</c:v>
              </c:pt>
              <c:pt idx="4">
                <c:v>843.56899999999996</c:v>
              </c:pt>
              <c:pt idx="5">
                <c:v>925.61300000000006</c:v>
              </c:pt>
              <c:pt idx="6">
                <c:v>0</c:v>
              </c:pt>
            </c:numLit>
          </c:val>
          <c:extLst>
            <c:ext xmlns:c16="http://schemas.microsoft.com/office/drawing/2014/chart" uri="{C3380CC4-5D6E-409C-BE32-E72D297353CC}">
              <c16:uniqueId val="{00000000-E555-4BEC-858E-68BF85715442}"/>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E555-4BEC-858E-68BF85715442}"/>
              </c:ext>
            </c:extLst>
          </c:dPt>
          <c:dPt>
            <c:idx val="1"/>
            <c:invertIfNegative val="1"/>
            <c:bubble3D val="0"/>
            <c:spPr>
              <a:solidFill>
                <a:srgbClr val="008189"/>
              </a:solidFill>
            </c:spPr>
            <c:extLst>
              <c:ext xmlns:c16="http://schemas.microsoft.com/office/drawing/2014/chart" uri="{C3380CC4-5D6E-409C-BE32-E72D297353CC}">
                <c16:uniqueId val="{00000004-E555-4BEC-858E-68BF85715442}"/>
              </c:ext>
            </c:extLst>
          </c:dPt>
          <c:dPt>
            <c:idx val="2"/>
            <c:invertIfNegative val="1"/>
            <c:bubble3D val="0"/>
            <c:spPr>
              <a:solidFill>
                <a:srgbClr val="008189"/>
              </a:solidFill>
            </c:spPr>
            <c:extLst>
              <c:ext xmlns:c16="http://schemas.microsoft.com/office/drawing/2014/chart" uri="{C3380CC4-5D6E-409C-BE32-E72D297353CC}">
                <c16:uniqueId val="{00000006-E555-4BEC-858E-68BF85715442}"/>
              </c:ext>
            </c:extLst>
          </c:dPt>
          <c:dPt>
            <c:idx val="3"/>
            <c:invertIfNegative val="1"/>
            <c:bubble3D val="0"/>
            <c:spPr>
              <a:solidFill>
                <a:srgbClr val="008189"/>
              </a:solidFill>
            </c:spPr>
            <c:extLst>
              <c:ext xmlns:c16="http://schemas.microsoft.com/office/drawing/2014/chart" uri="{C3380CC4-5D6E-409C-BE32-E72D297353CC}">
                <c16:uniqueId val="{00000008-E555-4BEC-858E-68BF85715442}"/>
              </c:ext>
            </c:extLst>
          </c:dPt>
          <c:dPt>
            <c:idx val="4"/>
            <c:invertIfNegative val="1"/>
            <c:bubble3D val="0"/>
            <c:spPr>
              <a:solidFill>
                <a:srgbClr val="008189"/>
              </a:solidFill>
            </c:spPr>
            <c:extLst>
              <c:ext xmlns:c16="http://schemas.microsoft.com/office/drawing/2014/chart" uri="{C3380CC4-5D6E-409C-BE32-E72D297353CC}">
                <c16:uniqueId val="{0000000A-E555-4BEC-858E-68BF85715442}"/>
              </c:ext>
            </c:extLst>
          </c:dPt>
          <c:dPt>
            <c:idx val="5"/>
            <c:invertIfNegative val="1"/>
            <c:bubble3D val="0"/>
            <c:spPr>
              <a:solidFill>
                <a:srgbClr val="008189"/>
              </a:solidFill>
            </c:spPr>
            <c:extLst>
              <c:ext xmlns:c16="http://schemas.microsoft.com/office/drawing/2014/chart" uri="{C3380CC4-5D6E-409C-BE32-E72D297353CC}">
                <c16:uniqueId val="{0000000C-E555-4BEC-858E-68BF85715442}"/>
              </c:ext>
            </c:extLst>
          </c:dPt>
          <c:dPt>
            <c:idx val="6"/>
            <c:invertIfNegative val="1"/>
            <c:bubble3D val="0"/>
            <c:spPr>
              <a:solidFill>
                <a:srgbClr val="0E72AE"/>
              </a:solidFill>
            </c:spPr>
            <c:extLst>
              <c:ext xmlns:c16="http://schemas.microsoft.com/office/drawing/2014/chart" uri="{C3380CC4-5D6E-409C-BE32-E72D297353CC}">
                <c16:uniqueId val="{0000000E-E555-4BEC-858E-68BF85715442}"/>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555-4BEC-858E-68BF8571544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555-4BEC-858E-68BF8571544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555-4BEC-858E-68BF85715442}"/>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555-4BEC-858E-68BF85715442}"/>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555-4BEC-858E-68BF85715442}"/>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555-4BEC-858E-68BF85715442}"/>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555-4BEC-858E-68BF85715442}"/>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639.87099999999998</c:v>
              </c:pt>
              <c:pt idx="1">
                <c:v>61.515999999999963</c:v>
              </c:pt>
              <c:pt idx="2">
                <c:v>67.683000000000106</c:v>
              </c:pt>
              <c:pt idx="3">
                <c:v>74.49899999999991</c:v>
              </c:pt>
              <c:pt idx="4">
                <c:v>82.044000000000096</c:v>
              </c:pt>
              <c:pt idx="5">
                <c:v>90.376999999999953</c:v>
              </c:pt>
              <c:pt idx="6">
                <c:v>1015.99</c:v>
              </c:pt>
            </c:numLit>
          </c:val>
          <c:extLst>
            <c:ext xmlns:c16="http://schemas.microsoft.com/office/drawing/2014/chart" uri="{C3380CC4-5D6E-409C-BE32-E72D297353CC}">
              <c16:uniqueId val="{0000000F-E555-4BEC-858E-68BF85715442}"/>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656.35900000000004</c:v>
              </c:pt>
              <c:pt idx="2">
                <c:v>699.61300000000006</c:v>
              </c:pt>
              <c:pt idx="3">
                <c:v>744.62400000000002</c:v>
              </c:pt>
              <c:pt idx="4">
                <c:v>791.19100000000003</c:v>
              </c:pt>
              <c:pt idx="5">
                <c:v>839.08199999999999</c:v>
              </c:pt>
              <c:pt idx="6">
                <c:v>0</c:v>
              </c:pt>
            </c:numLit>
          </c:val>
          <c:extLst>
            <c:ext xmlns:c16="http://schemas.microsoft.com/office/drawing/2014/chart" uri="{C3380CC4-5D6E-409C-BE32-E72D297353CC}">
              <c16:uniqueId val="{00000000-1480-45B1-B283-EFF5A4EC4B1B}"/>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1480-45B1-B283-EFF5A4EC4B1B}"/>
              </c:ext>
            </c:extLst>
          </c:dPt>
          <c:dPt>
            <c:idx val="1"/>
            <c:invertIfNegative val="1"/>
            <c:bubble3D val="0"/>
            <c:spPr>
              <a:solidFill>
                <a:srgbClr val="008189"/>
              </a:solidFill>
            </c:spPr>
            <c:extLst>
              <c:ext xmlns:c16="http://schemas.microsoft.com/office/drawing/2014/chart" uri="{C3380CC4-5D6E-409C-BE32-E72D297353CC}">
                <c16:uniqueId val="{00000004-1480-45B1-B283-EFF5A4EC4B1B}"/>
              </c:ext>
            </c:extLst>
          </c:dPt>
          <c:dPt>
            <c:idx val="2"/>
            <c:invertIfNegative val="1"/>
            <c:bubble3D val="0"/>
            <c:spPr>
              <a:solidFill>
                <a:srgbClr val="008189"/>
              </a:solidFill>
            </c:spPr>
            <c:extLst>
              <c:ext xmlns:c16="http://schemas.microsoft.com/office/drawing/2014/chart" uri="{C3380CC4-5D6E-409C-BE32-E72D297353CC}">
                <c16:uniqueId val="{00000006-1480-45B1-B283-EFF5A4EC4B1B}"/>
              </c:ext>
            </c:extLst>
          </c:dPt>
          <c:dPt>
            <c:idx val="3"/>
            <c:invertIfNegative val="1"/>
            <c:bubble3D val="0"/>
            <c:spPr>
              <a:solidFill>
                <a:srgbClr val="008189"/>
              </a:solidFill>
            </c:spPr>
            <c:extLst>
              <c:ext xmlns:c16="http://schemas.microsoft.com/office/drawing/2014/chart" uri="{C3380CC4-5D6E-409C-BE32-E72D297353CC}">
                <c16:uniqueId val="{00000008-1480-45B1-B283-EFF5A4EC4B1B}"/>
              </c:ext>
            </c:extLst>
          </c:dPt>
          <c:dPt>
            <c:idx val="4"/>
            <c:invertIfNegative val="1"/>
            <c:bubble3D val="0"/>
            <c:spPr>
              <a:solidFill>
                <a:srgbClr val="008189"/>
              </a:solidFill>
            </c:spPr>
            <c:extLst>
              <c:ext xmlns:c16="http://schemas.microsoft.com/office/drawing/2014/chart" uri="{C3380CC4-5D6E-409C-BE32-E72D297353CC}">
                <c16:uniqueId val="{0000000A-1480-45B1-B283-EFF5A4EC4B1B}"/>
              </c:ext>
            </c:extLst>
          </c:dPt>
          <c:dPt>
            <c:idx val="5"/>
            <c:invertIfNegative val="1"/>
            <c:bubble3D val="0"/>
            <c:spPr>
              <a:solidFill>
                <a:srgbClr val="008189"/>
              </a:solidFill>
            </c:spPr>
            <c:extLst>
              <c:ext xmlns:c16="http://schemas.microsoft.com/office/drawing/2014/chart" uri="{C3380CC4-5D6E-409C-BE32-E72D297353CC}">
                <c16:uniqueId val="{0000000C-1480-45B1-B283-EFF5A4EC4B1B}"/>
              </c:ext>
            </c:extLst>
          </c:dPt>
          <c:dPt>
            <c:idx val="6"/>
            <c:invertIfNegative val="1"/>
            <c:bubble3D val="0"/>
            <c:spPr>
              <a:solidFill>
                <a:srgbClr val="0E72AE"/>
              </a:solidFill>
            </c:spPr>
            <c:extLst>
              <c:ext xmlns:c16="http://schemas.microsoft.com/office/drawing/2014/chart" uri="{C3380CC4-5D6E-409C-BE32-E72D297353CC}">
                <c16:uniqueId val="{0000000E-1480-45B1-B283-EFF5A4EC4B1B}"/>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480-45B1-B283-EFF5A4EC4B1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480-45B1-B283-EFF5A4EC4B1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480-45B1-B283-EFF5A4EC4B1B}"/>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480-45B1-B283-EFF5A4EC4B1B}"/>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480-45B1-B283-EFF5A4EC4B1B}"/>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480-45B1-B283-EFF5A4EC4B1B}"/>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1480-45B1-B283-EFF5A4EC4B1B}"/>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656.35900000000004</c:v>
              </c:pt>
              <c:pt idx="1">
                <c:v>43.254000000000019</c:v>
              </c:pt>
              <c:pt idx="2">
                <c:v>45.010999999999967</c:v>
              </c:pt>
              <c:pt idx="3">
                <c:v>46.567000000000007</c:v>
              </c:pt>
              <c:pt idx="4">
                <c:v>47.890999999999963</c:v>
              </c:pt>
              <c:pt idx="5">
                <c:v>48.888000000000034</c:v>
              </c:pt>
              <c:pt idx="6">
                <c:v>887.97</c:v>
              </c:pt>
            </c:numLit>
          </c:val>
          <c:extLst>
            <c:ext xmlns:c16="http://schemas.microsoft.com/office/drawing/2014/chart" uri="{C3380CC4-5D6E-409C-BE32-E72D297353CC}">
              <c16:uniqueId val="{0000000F-1480-45B1-B283-EFF5A4EC4B1B}"/>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Glassware, Ceramics &amp; Home Goods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D9D-405C-8234-6596FAA5CCC6}"/>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D9D-405C-8234-6596FAA5CCC6}"/>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D9D-405C-8234-6596FAA5CCC6}"/>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20.195824142868751</c:v>
              </c:pt>
              <c:pt idx="1">
                <c:v>19.995974998742184</c:v>
              </c:pt>
              <c:pt idx="2">
                <c:v>19.583344818101512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4D9D-405C-8234-6596FAA5CCC6}"/>
            </c:ext>
          </c:extLst>
        </c:ser>
        <c:ser>
          <c:idx val="1"/>
          <c:order val="1"/>
          <c:tx>
            <c:v>Food &amp; Beverage</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D9D-405C-8234-6596FAA5CCC6}"/>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D9D-405C-8234-6596FAA5CCC6}"/>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D9D-405C-8234-6596FAA5CCC6}"/>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13.384559561650608</c:v>
              </c:pt>
              <c:pt idx="1">
                <c:v>14.728410852628389</c:v>
              </c:pt>
              <c:pt idx="2">
                <c:v>17.662230622754567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4D9D-405C-8234-6596FAA5CCC6}"/>
            </c:ext>
          </c:extLst>
        </c:ser>
        <c:ser>
          <c:idx val="2"/>
          <c:order val="2"/>
          <c:tx>
            <c:v>Others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4D9D-405C-8234-6596FAA5CCC6}"/>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D9D-405C-8234-6596FAA5CCC6}"/>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4D9D-405C-8234-6596FAA5CCC6}"/>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22.061464606171185</c:v>
              </c:pt>
              <c:pt idx="1">
                <c:v>20.511225159757863</c:v>
              </c:pt>
              <c:pt idx="2">
                <c:v>17.115741983808501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4D9D-405C-8234-6596FAA5CCC6}"/>
            </c:ext>
          </c:extLst>
        </c:ser>
        <c:ser>
          <c:idx val="3"/>
          <c:order val="3"/>
          <c:tx>
            <c:v>Electronics &amp; Electrical</c:v>
          </c:tx>
          <c:spPr>
            <a:solidFill>
              <a:srgbClr val="40315E"/>
            </a:solidFill>
            <a:ln>
              <a:noFill/>
            </a:ln>
          </c:spPr>
          <c:invertIfNegative val="1"/>
          <c:dLbls>
            <c:dLbl>
              <c:idx val="0"/>
              <c:numFmt formatCode="&quot;MMM&quot;;&quot;MMM&quot;;&quot;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4D9D-405C-8234-6596FAA5CCC6}"/>
                </c:ext>
              </c:extLst>
            </c:dLbl>
            <c:dLbl>
              <c:idx val="1"/>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4D9D-405C-8234-6596FAA5CCC6}"/>
                </c:ext>
              </c:extLst>
            </c:dLbl>
            <c:dLbl>
              <c:idx val="2"/>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4D9D-405C-8234-6596FAA5CCC6}"/>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9.734356942191738</c:v>
              </c:pt>
              <c:pt idx="1">
                <c:v>11.756378673868335</c:v>
              </c:pt>
              <c:pt idx="2">
                <c:v>16.165863311148296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4D9D-405C-8234-6596FAA5CCC6}"/>
            </c:ext>
          </c:extLst>
        </c:ser>
        <c:ser>
          <c:idx val="4"/>
          <c:order val="4"/>
          <c:tx>
            <c:v>Automotive &amp; Industrial Components</c:v>
          </c:tx>
          <c:spPr>
            <a:solidFill>
              <a:srgbClr val="A35313"/>
            </a:solidFill>
            <a:ln>
              <a:noFill/>
            </a:ln>
          </c:spPr>
          <c:invertIfNegative val="1"/>
          <c:dLbls>
            <c:dLbl>
              <c:idx val="0"/>
              <c:numFmt formatCode="&quot;MMMM&quot;;&quot;MMMM&quot;;&quot;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4D9D-405C-8234-6596FAA5CCC6}"/>
                </c:ext>
              </c:extLst>
            </c:dLbl>
            <c:dLbl>
              <c:idx val="1"/>
              <c:numFmt formatCode="&quot;MMMM&quot;;&quot;MMMM&quot;;&quot;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4D9D-405C-8234-6596FAA5CCC6}"/>
                </c:ext>
              </c:extLst>
            </c:dLbl>
            <c:dLbl>
              <c:idx val="2"/>
              <c:numFmt formatCode="&quot;MMMM&quot;;&quot;MMMM&quot;;&quot;M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4D9D-405C-8234-6596FAA5CCC6}"/>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15.828736670249372</c:v>
              </c:pt>
              <c:pt idx="1">
                <c:v>15.191723497413593</c:v>
              </c:pt>
              <c:pt idx="2">
                <c:v>13.835499440924698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4D9D-405C-8234-6596FAA5CCC6}"/>
            </c:ext>
          </c:extLst>
        </c:ser>
        <c:ser>
          <c:idx val="5"/>
          <c:order val="5"/>
          <c:tx>
            <c:v>Pharmaceuticals &amp; Healthcare</c:v>
          </c:tx>
          <c:spPr>
            <a:solidFill>
              <a:srgbClr val="808080"/>
            </a:solidFill>
            <a:ln>
              <a:noFill/>
            </a:ln>
          </c:spPr>
          <c:invertIfNegative val="1"/>
          <c:dLbls>
            <c:dLbl>
              <c:idx val="0"/>
              <c:numFmt formatCode="&quot;MMMM&quot;;&quot;MMMM&quot;;&quot;M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4D9D-405C-8234-6596FAA5CCC6}"/>
                </c:ext>
              </c:extLst>
            </c:dLbl>
            <c:dLbl>
              <c:idx val="1"/>
              <c:numFmt formatCode="&quot;MMMM&quot;;&quot;MMMM&quot;;&quot;M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4D9D-405C-8234-6596FAA5CCC6}"/>
                </c:ext>
              </c:extLst>
            </c:dLbl>
            <c:dLbl>
              <c:idx val="2"/>
              <c:numFmt formatCode="&quot;MMMM&quot;;&quot;MMMM&quot;;&quot;M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4D9D-405C-8234-6596FAA5CCC6}"/>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15.991465602003569</c:v>
              </c:pt>
              <c:pt idx="1">
                <c:v>14.484910776534615</c:v>
              </c:pt>
              <c:pt idx="2">
                <c:v>11.158549361019624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4D9D-405C-8234-6596FAA5CCC6}"/>
            </c:ext>
          </c:extLst>
        </c:ser>
        <c:ser>
          <c:idx val="6"/>
          <c:order val="6"/>
          <c:tx>
            <c:v>Personal Care &amp; Cosmetics</c:v>
          </c:tx>
          <c:spPr>
            <a:solidFill>
              <a:srgbClr val="0E72AE"/>
            </a:solidFill>
            <a:ln>
              <a:noFill/>
            </a:ln>
          </c:spPr>
          <c:invertIfNegative val="1"/>
          <c:dLbls>
            <c:dLbl>
              <c:idx val="0"/>
              <c:numFmt formatCode="&quot;MMM&quot;;&quot;MMM&quot;;&quot;MMM&quot;" sourceLinked="0"/>
              <c:spPr>
                <a:blipFill>
                  <a:blip xmlns:r="http://schemas.openxmlformats.org/officeDocument/2006/relationships"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4D9D-405C-8234-6596FAA5CCC6}"/>
                </c:ext>
              </c:extLst>
            </c:dLbl>
            <c:dLbl>
              <c:idx val="1"/>
              <c:numFmt formatCode="&quot;MMM&quot;;&quot;MMM&quot;;&quot;MMM&quot;" sourceLinked="0"/>
              <c:spPr>
                <a:blipFill>
                  <a:blip xmlns:r="http://schemas.openxmlformats.org/officeDocument/2006/relationships"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4D9D-405C-8234-6596FAA5CCC6}"/>
                </c:ext>
              </c:extLst>
            </c:dLbl>
            <c:dLbl>
              <c:idx val="2"/>
              <c:numFmt formatCode="&quot;MMM&quot;;&quot;MMM&quot;;&quot;MMM&quot;" sourceLinked="0"/>
              <c:spPr>
                <a:blipFill>
                  <a:blip xmlns:r="http://schemas.openxmlformats.org/officeDocument/2006/relationships"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4D9D-405C-8234-6596FAA5CCC6}"/>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2.8035924748647707</c:v>
              </c:pt>
              <c:pt idx="1">
                <c:v>3.3313760410550128</c:v>
              </c:pt>
              <c:pt idx="2">
                <c:v>4.4787704622428048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4D9D-405C-8234-6596FAA5CCC6}"/>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Direct (to brand owners/OEMs)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EDB-4FA2-AA1C-637A6AD1A066}"/>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EDB-4FA2-AA1C-637A6AD1A066}"/>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EDB-4FA2-AA1C-637A6AD1A066}"/>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EDB-4FA2-AA1C-637A6AD1A066}"/>
                </c:ext>
              </c:extLst>
            </c:dLbl>
            <c:dLbl>
              <c:idx val="4"/>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EDB-4FA2-AA1C-637A6AD1A066}"/>
                </c:ext>
              </c:extLst>
            </c:dLbl>
            <c:dLbl>
              <c:idx val="5"/>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EDB-4FA2-AA1C-637A6AD1A06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66.090582538566892</c:v>
              </c:pt>
              <c:pt idx="1">
                <c:v>60.893284038472238</c:v>
              </c:pt>
              <c:pt idx="2">
                <c:v>64.203689574896799</c:v>
              </c:pt>
              <c:pt idx="3">
                <c:v>64.33418019352159</c:v>
              </c:pt>
              <c:pt idx="4">
                <c:v>68.878209556803967</c:v>
              </c:pt>
              <c:pt idx="5">
                <c:v>64.831053372028734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6-7EDB-4FA2-AA1C-637A6AD1A066}"/>
            </c:ext>
          </c:extLst>
        </c:ser>
        <c:ser>
          <c:idx val="1"/>
          <c:order val="1"/>
          <c:tx>
            <c:v>Indirect (distributors and packaging merchants)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7EDB-4FA2-AA1C-637A6AD1A066}"/>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EDB-4FA2-AA1C-637A6AD1A066}"/>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EDB-4FA2-AA1C-637A6AD1A066}"/>
                </c:ext>
              </c:extLst>
            </c:dLbl>
            <c:dLbl>
              <c:idx val="3"/>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EDB-4FA2-AA1C-637A6AD1A066}"/>
                </c:ext>
              </c:extLst>
            </c:dLbl>
            <c:dLbl>
              <c:idx val="4"/>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7EDB-4FA2-AA1C-637A6AD1A066}"/>
                </c:ext>
              </c:extLst>
            </c:dLbl>
            <c:dLbl>
              <c:idx val="5"/>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EDB-4FA2-AA1C-637A6AD1A06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6"/>
              <c:pt idx="0">
                <c:v>Middle East &amp; Africa</c:v>
              </c:pt>
              <c:pt idx="1">
                <c:v>Latin America</c:v>
              </c:pt>
              <c:pt idx="2">
                <c:v>East Asia</c:v>
              </c:pt>
              <c:pt idx="3">
                <c:v>South Asia &amp; Pacific</c:v>
              </c:pt>
              <c:pt idx="4">
                <c:v>Europe</c:v>
              </c:pt>
              <c:pt idx="5">
                <c:v>North America</c:v>
              </c:pt>
            </c:strLit>
          </c:cat>
          <c:val>
            <c:numLit>
              <c:formatCode>General</c:formatCode>
              <c:ptCount val="6"/>
              <c:pt idx="0">
                <c:v>33.909417461433108</c:v>
              </c:pt>
              <c:pt idx="1">
                <c:v>39.106715961527769</c:v>
              </c:pt>
              <c:pt idx="2">
                <c:v>35.796310425103194</c:v>
              </c:pt>
              <c:pt idx="3">
                <c:v>35.66581980647841</c:v>
              </c:pt>
              <c:pt idx="4">
                <c:v>31.12179044319603</c:v>
              </c:pt>
              <c:pt idx="5">
                <c:v>35.168946627971273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D-7EDB-4FA2-AA1C-637A6AD1A066}"/>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Direct (to brand owners/OEMs)</c:v>
          </c:tx>
          <c:spPr>
            <a:solidFill>
              <a:srgbClr val="3D85C6"/>
            </a:solidFill>
          </c:spPr>
          <c:invertIfNegative val="0"/>
          <c:xVal>
            <c:numLit>
              <c:formatCode>General</c:formatCode>
              <c:ptCount val="1"/>
              <c:pt idx="0">
                <c:v>95.765434787231371</c:v>
              </c:pt>
            </c:numLit>
          </c:xVal>
          <c:yVal>
            <c:numLit>
              <c:formatCode>General</c:formatCode>
              <c:ptCount val="1"/>
              <c:pt idx="0">
                <c:v>133.85591682997401</c:v>
              </c:pt>
            </c:numLit>
          </c:yVal>
          <c:bubbleSize>
            <c:numLit>
              <c:formatCode>General</c:formatCode>
              <c:ptCount val="1"/>
              <c:pt idx="0">
                <c:v>3403.5050000000001</c:v>
              </c:pt>
            </c:numLit>
          </c:bubbleSize>
          <c:bubble3D val="0"/>
          <c:extLst>
            <c:ext xmlns:c16="http://schemas.microsoft.com/office/drawing/2014/chart" uri="{C3380CC4-5D6E-409C-BE32-E72D297353CC}">
              <c16:uniqueId val="{00000000-A726-422D-9843-044B9B442C24}"/>
            </c:ext>
          </c:extLst>
        </c:ser>
        <c:ser>
          <c:idx val="1"/>
          <c:order val="1"/>
          <c:tx>
            <c:v>Indirect (distributors and packaging merchants)</c:v>
          </c:tx>
          <c:spPr>
            <a:solidFill>
              <a:srgbClr val="9E7E0A"/>
            </a:solidFill>
          </c:spPr>
          <c:invertIfNegative val="0"/>
          <c:xVal>
            <c:numLit>
              <c:formatCode>General</c:formatCode>
              <c:ptCount val="1"/>
              <c:pt idx="0">
                <c:v>108.34354364399449</c:v>
              </c:pt>
            </c:numLit>
          </c:xVal>
          <c:yVal>
            <c:numLit>
              <c:formatCode>General</c:formatCode>
              <c:ptCount val="1"/>
              <c:pt idx="0">
                <c:v>66.144083170026008</c:v>
              </c:pt>
            </c:numLit>
          </c:yVal>
          <c:bubbleSize>
            <c:numLit>
              <c:formatCode>General</c:formatCode>
              <c:ptCount val="1"/>
              <c:pt idx="0">
                <c:v>1784.5260000000001</c:v>
              </c:pt>
            </c:numLit>
          </c:bubbleSize>
          <c:bubble3D val="0"/>
          <c:extLst>
            <c:ext xmlns:c16="http://schemas.microsoft.com/office/drawing/2014/chart" uri="{C3380CC4-5D6E-409C-BE32-E72D297353CC}">
              <c16:uniqueId val="{00000001-A726-422D-9843-044B9B442C24}"/>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
          <c:min val="90"/>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175"/>
          <c:min val="25"/>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2141.694</c:v>
              </c:pt>
              <c:pt idx="2">
                <c:v>2347.3629999999998</c:v>
              </c:pt>
              <c:pt idx="3">
                <c:v>2573.9899999999998</c:v>
              </c:pt>
              <c:pt idx="4">
                <c:v>2823.8409999999999</c:v>
              </c:pt>
              <c:pt idx="5">
                <c:v>3099.4140000000002</c:v>
              </c:pt>
              <c:pt idx="6">
                <c:v>0</c:v>
              </c:pt>
            </c:numLit>
          </c:val>
          <c:extLst>
            <c:ext xmlns:c16="http://schemas.microsoft.com/office/drawing/2014/chart" uri="{C3380CC4-5D6E-409C-BE32-E72D297353CC}">
              <c16:uniqueId val="{00000000-305B-498D-9578-BEAD871291F7}"/>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305B-498D-9578-BEAD871291F7}"/>
              </c:ext>
            </c:extLst>
          </c:dPt>
          <c:dPt>
            <c:idx val="1"/>
            <c:invertIfNegative val="1"/>
            <c:bubble3D val="0"/>
            <c:spPr>
              <a:solidFill>
                <a:srgbClr val="008189"/>
              </a:solidFill>
            </c:spPr>
            <c:extLst>
              <c:ext xmlns:c16="http://schemas.microsoft.com/office/drawing/2014/chart" uri="{C3380CC4-5D6E-409C-BE32-E72D297353CC}">
                <c16:uniqueId val="{00000004-305B-498D-9578-BEAD871291F7}"/>
              </c:ext>
            </c:extLst>
          </c:dPt>
          <c:dPt>
            <c:idx val="2"/>
            <c:invertIfNegative val="1"/>
            <c:bubble3D val="0"/>
            <c:spPr>
              <a:solidFill>
                <a:srgbClr val="008189"/>
              </a:solidFill>
            </c:spPr>
            <c:extLst>
              <c:ext xmlns:c16="http://schemas.microsoft.com/office/drawing/2014/chart" uri="{C3380CC4-5D6E-409C-BE32-E72D297353CC}">
                <c16:uniqueId val="{00000006-305B-498D-9578-BEAD871291F7}"/>
              </c:ext>
            </c:extLst>
          </c:dPt>
          <c:dPt>
            <c:idx val="3"/>
            <c:invertIfNegative val="1"/>
            <c:bubble3D val="0"/>
            <c:spPr>
              <a:solidFill>
                <a:srgbClr val="008189"/>
              </a:solidFill>
            </c:spPr>
            <c:extLst>
              <c:ext xmlns:c16="http://schemas.microsoft.com/office/drawing/2014/chart" uri="{C3380CC4-5D6E-409C-BE32-E72D297353CC}">
                <c16:uniqueId val="{00000008-305B-498D-9578-BEAD871291F7}"/>
              </c:ext>
            </c:extLst>
          </c:dPt>
          <c:dPt>
            <c:idx val="4"/>
            <c:invertIfNegative val="1"/>
            <c:bubble3D val="0"/>
            <c:spPr>
              <a:solidFill>
                <a:srgbClr val="008189"/>
              </a:solidFill>
            </c:spPr>
            <c:extLst>
              <c:ext xmlns:c16="http://schemas.microsoft.com/office/drawing/2014/chart" uri="{C3380CC4-5D6E-409C-BE32-E72D297353CC}">
                <c16:uniqueId val="{0000000A-305B-498D-9578-BEAD871291F7}"/>
              </c:ext>
            </c:extLst>
          </c:dPt>
          <c:dPt>
            <c:idx val="5"/>
            <c:invertIfNegative val="1"/>
            <c:bubble3D val="0"/>
            <c:spPr>
              <a:solidFill>
                <a:srgbClr val="008189"/>
              </a:solidFill>
            </c:spPr>
            <c:extLst>
              <c:ext xmlns:c16="http://schemas.microsoft.com/office/drawing/2014/chart" uri="{C3380CC4-5D6E-409C-BE32-E72D297353CC}">
                <c16:uniqueId val="{0000000C-305B-498D-9578-BEAD871291F7}"/>
              </c:ext>
            </c:extLst>
          </c:dPt>
          <c:dPt>
            <c:idx val="6"/>
            <c:invertIfNegative val="1"/>
            <c:bubble3D val="0"/>
            <c:spPr>
              <a:solidFill>
                <a:srgbClr val="0E72AE"/>
              </a:solidFill>
            </c:spPr>
            <c:extLst>
              <c:ext xmlns:c16="http://schemas.microsoft.com/office/drawing/2014/chart" uri="{C3380CC4-5D6E-409C-BE32-E72D297353CC}">
                <c16:uniqueId val="{0000000E-305B-498D-9578-BEAD871291F7}"/>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05B-498D-9578-BEAD871291F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05B-498D-9578-BEAD871291F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05B-498D-9578-BEAD871291F7}"/>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05B-498D-9578-BEAD871291F7}"/>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05B-498D-9578-BEAD871291F7}"/>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05B-498D-9578-BEAD871291F7}"/>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05B-498D-9578-BEAD871291F7}"/>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2141.694</c:v>
              </c:pt>
              <c:pt idx="1">
                <c:v>205.66899999999987</c:v>
              </c:pt>
              <c:pt idx="2">
                <c:v>226.62699999999995</c:v>
              </c:pt>
              <c:pt idx="3">
                <c:v>249.85100000000011</c:v>
              </c:pt>
              <c:pt idx="4">
                <c:v>275.57300000000032</c:v>
              </c:pt>
              <c:pt idx="5">
                <c:v>304.09099999999989</c:v>
              </c:pt>
              <c:pt idx="6">
                <c:v>3403.5050000000001</c:v>
              </c:pt>
            </c:numLit>
          </c:val>
          <c:extLst>
            <c:ext xmlns:c16="http://schemas.microsoft.com/office/drawing/2014/chart" uri="{C3380CC4-5D6E-409C-BE32-E72D297353CC}">
              <c16:uniqueId val="{0000000F-305B-498D-9578-BEAD871291F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1058.3050000000001</c:v>
              </c:pt>
              <c:pt idx="2">
                <c:v>1174.53</c:v>
              </c:pt>
              <c:pt idx="3">
                <c:v>1303.6959999999999</c:v>
              </c:pt>
              <c:pt idx="4">
                <c:v>1447.2819999999999</c:v>
              </c:pt>
              <c:pt idx="5">
                <c:v>1606.944</c:v>
              </c:pt>
              <c:pt idx="6">
                <c:v>0</c:v>
              </c:pt>
            </c:numLit>
          </c:val>
          <c:extLst>
            <c:ext xmlns:c16="http://schemas.microsoft.com/office/drawing/2014/chart" uri="{C3380CC4-5D6E-409C-BE32-E72D297353CC}">
              <c16:uniqueId val="{00000000-F845-4D9E-9217-2494D3685659}"/>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F845-4D9E-9217-2494D3685659}"/>
              </c:ext>
            </c:extLst>
          </c:dPt>
          <c:dPt>
            <c:idx val="1"/>
            <c:invertIfNegative val="1"/>
            <c:bubble3D val="0"/>
            <c:spPr>
              <a:solidFill>
                <a:srgbClr val="008189"/>
              </a:solidFill>
            </c:spPr>
            <c:extLst>
              <c:ext xmlns:c16="http://schemas.microsoft.com/office/drawing/2014/chart" uri="{C3380CC4-5D6E-409C-BE32-E72D297353CC}">
                <c16:uniqueId val="{00000004-F845-4D9E-9217-2494D3685659}"/>
              </c:ext>
            </c:extLst>
          </c:dPt>
          <c:dPt>
            <c:idx val="2"/>
            <c:invertIfNegative val="1"/>
            <c:bubble3D val="0"/>
            <c:spPr>
              <a:solidFill>
                <a:srgbClr val="008189"/>
              </a:solidFill>
            </c:spPr>
            <c:extLst>
              <c:ext xmlns:c16="http://schemas.microsoft.com/office/drawing/2014/chart" uri="{C3380CC4-5D6E-409C-BE32-E72D297353CC}">
                <c16:uniqueId val="{00000006-F845-4D9E-9217-2494D3685659}"/>
              </c:ext>
            </c:extLst>
          </c:dPt>
          <c:dPt>
            <c:idx val="3"/>
            <c:invertIfNegative val="1"/>
            <c:bubble3D val="0"/>
            <c:spPr>
              <a:solidFill>
                <a:srgbClr val="008189"/>
              </a:solidFill>
            </c:spPr>
            <c:extLst>
              <c:ext xmlns:c16="http://schemas.microsoft.com/office/drawing/2014/chart" uri="{C3380CC4-5D6E-409C-BE32-E72D297353CC}">
                <c16:uniqueId val="{00000008-F845-4D9E-9217-2494D3685659}"/>
              </c:ext>
            </c:extLst>
          </c:dPt>
          <c:dPt>
            <c:idx val="4"/>
            <c:invertIfNegative val="1"/>
            <c:bubble3D val="0"/>
            <c:spPr>
              <a:solidFill>
                <a:srgbClr val="008189"/>
              </a:solidFill>
            </c:spPr>
            <c:extLst>
              <c:ext xmlns:c16="http://schemas.microsoft.com/office/drawing/2014/chart" uri="{C3380CC4-5D6E-409C-BE32-E72D297353CC}">
                <c16:uniqueId val="{0000000A-F845-4D9E-9217-2494D3685659}"/>
              </c:ext>
            </c:extLst>
          </c:dPt>
          <c:dPt>
            <c:idx val="5"/>
            <c:invertIfNegative val="1"/>
            <c:bubble3D val="0"/>
            <c:spPr>
              <a:solidFill>
                <a:srgbClr val="008189"/>
              </a:solidFill>
            </c:spPr>
            <c:extLst>
              <c:ext xmlns:c16="http://schemas.microsoft.com/office/drawing/2014/chart" uri="{C3380CC4-5D6E-409C-BE32-E72D297353CC}">
                <c16:uniqueId val="{0000000C-F845-4D9E-9217-2494D3685659}"/>
              </c:ext>
            </c:extLst>
          </c:dPt>
          <c:dPt>
            <c:idx val="6"/>
            <c:invertIfNegative val="1"/>
            <c:bubble3D val="0"/>
            <c:spPr>
              <a:solidFill>
                <a:srgbClr val="0E72AE"/>
              </a:solidFill>
            </c:spPr>
            <c:extLst>
              <c:ext xmlns:c16="http://schemas.microsoft.com/office/drawing/2014/chart" uri="{C3380CC4-5D6E-409C-BE32-E72D297353CC}">
                <c16:uniqueId val="{0000000E-F845-4D9E-9217-2494D3685659}"/>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845-4D9E-9217-2494D3685659}"/>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845-4D9E-9217-2494D3685659}"/>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845-4D9E-9217-2494D3685659}"/>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845-4D9E-9217-2494D3685659}"/>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845-4D9E-9217-2494D3685659}"/>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845-4D9E-9217-2494D3685659}"/>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845-4D9E-9217-2494D3685659}"/>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1058.3050000000001</c:v>
              </c:pt>
              <c:pt idx="1">
                <c:v>116.22499999999991</c:v>
              </c:pt>
              <c:pt idx="2">
                <c:v>129.16599999999994</c:v>
              </c:pt>
              <c:pt idx="3">
                <c:v>143.58600000000001</c:v>
              </c:pt>
              <c:pt idx="4">
                <c:v>159.66200000000003</c:v>
              </c:pt>
              <c:pt idx="5">
                <c:v>177.58200000000011</c:v>
              </c:pt>
              <c:pt idx="6">
                <c:v>1784.5260000000001</c:v>
              </c:pt>
            </c:numLit>
          </c:val>
          <c:extLst>
            <c:ext xmlns:c16="http://schemas.microsoft.com/office/drawing/2014/chart" uri="{C3380CC4-5D6E-409C-BE32-E72D297353CC}">
              <c16:uniqueId val="{0000000F-F845-4D9E-9217-2494D3685659}"/>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Direct</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86E-46E5-B914-9C177E4DD2F2}"/>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86E-46E5-B914-9C177E4DD2F2}"/>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86E-46E5-B914-9C177E4DD2F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67.650251457215646</c:v>
              </c:pt>
              <c:pt idx="1">
                <c:v>66.927958414987003</c:v>
              </c:pt>
              <c:pt idx="2">
                <c:v>65.603019719812778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486E-46E5-B914-9C177E4DD2F2}"/>
            </c:ext>
          </c:extLst>
        </c:ser>
        <c:ser>
          <c:idx val="1"/>
          <c:order val="1"/>
          <c:tx>
            <c:v>Indirect</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86E-46E5-B914-9C177E4DD2F2}"/>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86E-46E5-B914-9C177E4DD2F2}"/>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86E-46E5-B914-9C177E4DD2F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32.349748542784354</c:v>
              </c:pt>
              <c:pt idx="1">
                <c:v>33.072041585013004</c:v>
              </c:pt>
              <c:pt idx="2">
                <c:v>34.396980280187222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486E-46E5-B914-9C177E4DD2F2}"/>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Others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EEF-4716-A791-6D0D5027CA9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EEF-4716-A791-6D0D5027CA9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EEF-4716-A791-6D0D5027CA9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21.752288843519793</c:v>
              </c:pt>
              <c:pt idx="1">
                <c:v>20.575690713255362</c:v>
              </c:pt>
              <c:pt idx="2">
                <c:v>20.122316971072479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1EEF-4716-A791-6D0D5027CA9B}"/>
            </c:ext>
          </c:extLst>
        </c:ser>
        <c:ser>
          <c:idx val="1"/>
          <c:order val="1"/>
          <c:tx>
            <c:v>Glassware, Ceramics &amp; Home Goods</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EEF-4716-A791-6D0D5027CA9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EEF-4716-A791-6D0D5027CA9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EEF-4716-A791-6D0D5027CA9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21.48685906727442</c:v>
              </c:pt>
              <c:pt idx="1">
                <c:v>19.216831439327304</c:v>
              </c:pt>
              <c:pt idx="2">
                <c:v>20.025447794495385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1EEF-4716-A791-6D0D5027CA9B}"/>
            </c:ext>
          </c:extLst>
        </c:ser>
        <c:ser>
          <c:idx val="2"/>
          <c:order val="2"/>
          <c:tx>
            <c:v>Automotive &amp; Industrial Components</c:v>
          </c:tx>
          <c:spPr>
            <a:solidFill>
              <a:srgbClr val="008189"/>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EEF-4716-A791-6D0D5027CA9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EEF-4716-A791-6D0D5027CA9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EEF-4716-A791-6D0D5027CA9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14.883599482710055</c:v>
              </c:pt>
              <c:pt idx="1">
                <c:v>15.239670086097275</c:v>
              </c:pt>
              <c:pt idx="2">
                <c:v>15.251339150914031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1EEF-4716-A791-6D0D5027CA9B}"/>
            </c:ext>
          </c:extLst>
        </c:ser>
        <c:ser>
          <c:idx val="3"/>
          <c:order val="3"/>
          <c:tx>
            <c:v>Food &amp; Beverage</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EEF-4716-A791-6D0D5027CA9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1EEF-4716-A791-6D0D5027CA9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1EEF-4716-A791-6D0D5027CA9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13.684745086670738</c:v>
              </c:pt>
              <c:pt idx="1">
                <c:v>15.409351581465716</c:v>
              </c:pt>
              <c:pt idx="2">
                <c:v>14.629514670880429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1EEF-4716-A791-6D0D5027CA9B}"/>
            </c:ext>
          </c:extLst>
        </c:ser>
        <c:ser>
          <c:idx val="4"/>
          <c:order val="4"/>
          <c:tx>
            <c:v>Pharmaceuticals &amp; Healthcare</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1EEF-4716-A791-6D0D5027CA9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1EEF-4716-A791-6D0D5027CA9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1EEF-4716-A791-6D0D5027CA9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13.37367208011826</c:v>
              </c:pt>
              <c:pt idx="1">
                <c:v>14.817878880785681</c:v>
              </c:pt>
              <c:pt idx="2">
                <c:v>14.606708234112729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1EEF-4716-A791-6D0D5027CA9B}"/>
            </c:ext>
          </c:extLst>
        </c:ser>
        <c:ser>
          <c:idx val="5"/>
          <c:order val="5"/>
          <c:tx>
            <c:v>Electronics &amp; Electrical</c:v>
          </c:tx>
          <c:spPr>
            <a:solidFill>
              <a:srgbClr val="808080"/>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1EEF-4716-A791-6D0D5027CA9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1EEF-4716-A791-6D0D5027CA9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1EEF-4716-A791-6D0D5027CA9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11.788700627697215</c:v>
              </c:pt>
              <c:pt idx="1">
                <c:v>11.415302496469158</c:v>
              </c:pt>
              <c:pt idx="2">
                <c:v>11.944638538340122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1EEF-4716-A791-6D0D5027CA9B}"/>
            </c:ext>
          </c:extLst>
        </c:ser>
        <c:ser>
          <c:idx val="6"/>
          <c:order val="6"/>
          <c:tx>
            <c:v>Personal Care &amp; Cosmetics</c:v>
          </c:tx>
          <c:spPr>
            <a:solidFill>
              <a:srgbClr val="0E72A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1EEF-4716-A791-6D0D5027CA9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1EEF-4716-A791-6D0D5027CA9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1EEF-4716-A791-6D0D5027CA9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3.0301348120095146</c:v>
              </c:pt>
              <c:pt idx="1">
                <c:v>3.3252748025995045</c:v>
              </c:pt>
              <c:pt idx="2">
                <c:v>3.4200346401848249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1EEF-4716-A791-6D0D5027CA9B}"/>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Glassware, Ceramics &amp; Home Goods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5CB-44AB-B8AD-8F5648B46E9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5CB-44AB-B8AD-8F5648B46E9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5CB-44AB-B8AD-8F5648B46E9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20.273459070314619</c:v>
              </c:pt>
              <c:pt idx="1">
                <c:v>19.30800669975886</c:v>
              </c:pt>
              <c:pt idx="2">
                <c:v>20.562861442183042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75CB-44AB-B8AD-8F5648B46E97}"/>
            </c:ext>
          </c:extLst>
        </c:ser>
        <c:ser>
          <c:idx val="1"/>
          <c:order val="1"/>
          <c:tx>
            <c:v>Others</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5CB-44AB-B8AD-8F5648B46E9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5CB-44AB-B8AD-8F5648B46E9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5CB-44AB-B8AD-8F5648B46E9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19.61493478208677</c:v>
              </c:pt>
              <c:pt idx="1">
                <c:v>20.962590980026512</c:v>
              </c:pt>
              <c:pt idx="2">
                <c:v>20.457895720769727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75CB-44AB-B8AD-8F5648B46E97}"/>
            </c:ext>
          </c:extLst>
        </c:ser>
        <c:ser>
          <c:idx val="2"/>
          <c:order val="2"/>
          <c:tx>
            <c:v>Pharmaceuticals &amp; Healthcare</c:v>
          </c:tx>
          <c:spPr>
            <a:solidFill>
              <a:srgbClr val="008189"/>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5CB-44AB-B8AD-8F5648B46E9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5CB-44AB-B8AD-8F5648B46E9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5CB-44AB-B8AD-8F5648B46E9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14.035827837056397</c:v>
              </c:pt>
              <c:pt idx="1">
                <c:v>14.075135188295395</c:v>
              </c:pt>
              <c:pt idx="2">
                <c:v>15.09759513571991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75CB-44AB-B8AD-8F5648B46E97}"/>
            </c:ext>
          </c:extLst>
        </c:ser>
        <c:ser>
          <c:idx val="3"/>
          <c:order val="3"/>
          <c:tx>
            <c:v>Food &amp; Beverage</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5CB-44AB-B8AD-8F5648B46E9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75CB-44AB-B8AD-8F5648B46E9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75CB-44AB-B8AD-8F5648B46E9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15.885355037196334</c:v>
              </c:pt>
              <c:pt idx="1">
                <c:v>14.423693421230183</c:v>
              </c:pt>
              <c:pt idx="2">
                <c:v>14.517678679240079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75CB-44AB-B8AD-8F5648B46E97}"/>
            </c:ext>
          </c:extLst>
        </c:ser>
        <c:ser>
          <c:idx val="4"/>
          <c:order val="4"/>
          <c:tx>
            <c:v>Automotive &amp; Industrial Components</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75CB-44AB-B8AD-8F5648B46E9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75CB-44AB-B8AD-8F5648B46E9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75CB-44AB-B8AD-8F5648B46E9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14.540181985930905</c:v>
              </c:pt>
              <c:pt idx="1">
                <c:v>16.293572638026237</c:v>
              </c:pt>
              <c:pt idx="2">
                <c:v>14.375247090840551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75CB-44AB-B8AD-8F5648B46E97}"/>
            </c:ext>
          </c:extLst>
        </c:ser>
        <c:ser>
          <c:idx val="5"/>
          <c:order val="5"/>
          <c:tx>
            <c:v>Electronics &amp; Electrical</c:v>
          </c:tx>
          <c:spPr>
            <a:solidFill>
              <a:srgbClr val="808080"/>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75CB-44AB-B8AD-8F5648B46E9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75CB-44AB-B8AD-8F5648B46E9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75CB-44AB-B8AD-8F5648B46E9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12.349902764773066</c:v>
              </c:pt>
              <c:pt idx="1">
                <c:v>11.565165218279638</c:v>
              </c:pt>
              <c:pt idx="2">
                <c:v>11.683910670340211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75CB-44AB-B8AD-8F5648B46E97}"/>
            </c:ext>
          </c:extLst>
        </c:ser>
        <c:ser>
          <c:idx val="6"/>
          <c:order val="6"/>
          <c:tx>
            <c:v>Personal Care &amp; Cosmetics</c:v>
          </c:tx>
          <c:spPr>
            <a:solidFill>
              <a:srgbClr val="0E72A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75CB-44AB-B8AD-8F5648B46E9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75CB-44AB-B8AD-8F5648B46E9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75CB-44AB-B8AD-8F5648B46E9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3.3003385226419177</c:v>
              </c:pt>
              <c:pt idx="1">
                <c:v>3.3718358543831659</c:v>
              </c:pt>
              <c:pt idx="2">
                <c:v>3.3048112609064746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75CB-44AB-B8AD-8F5648B46E9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Others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C93-49AF-86B4-E215B107E631}"/>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C93-49AF-86B4-E215B107E631}"/>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C93-49AF-86B4-E215B107E631}"/>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C93-49AF-86B4-E215B107E63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19.701598146273817</c:v>
              </c:pt>
              <c:pt idx="1">
                <c:v>20.766291140041016</c:v>
              </c:pt>
              <c:pt idx="2">
                <c:v>20.598018335031018</c:v>
              </c:pt>
              <c:pt idx="3">
                <c:v>22.32004916720232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4-1C93-49AF-86B4-E215B107E631}"/>
            </c:ext>
          </c:extLst>
        </c:ser>
        <c:ser>
          <c:idx val="1"/>
          <c:order val="1"/>
          <c:tx>
            <c:v>Glassware, Ceramics &amp; Home Goods</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C93-49AF-86B4-E215B107E631}"/>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C93-49AF-86B4-E215B107E631}"/>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C93-49AF-86B4-E215B107E631}"/>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C93-49AF-86B4-E215B107E63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20.37663617452862</c:v>
              </c:pt>
              <c:pt idx="1">
                <c:v>19.838647020029089</c:v>
              </c:pt>
              <c:pt idx="2">
                <c:v>19.921289008241502</c:v>
              </c:pt>
              <c:pt idx="3">
                <c:v>19.314760309888694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9-1C93-49AF-86B4-E215B107E631}"/>
            </c:ext>
          </c:extLst>
        </c:ser>
        <c:ser>
          <c:idx val="2"/>
          <c:order val="2"/>
          <c:tx>
            <c:v>Food &amp; Beverage</c:v>
          </c:tx>
          <c:spPr>
            <a:solidFill>
              <a:srgbClr val="008189"/>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C93-49AF-86B4-E215B107E631}"/>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C93-49AF-86B4-E215B107E631}"/>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C93-49AF-86B4-E215B107E631}"/>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1C93-49AF-86B4-E215B107E63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14.698222956132541</c:v>
              </c:pt>
              <c:pt idx="1">
                <c:v>15.236292675875651</c:v>
              </c:pt>
              <c:pt idx="2">
                <c:v>13.644041114918048</c:v>
              </c:pt>
              <c:pt idx="3">
                <c:v>14.896196307949072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1C93-49AF-86B4-E215B107E631}"/>
            </c:ext>
          </c:extLst>
        </c:ser>
        <c:ser>
          <c:idx val="3"/>
          <c:order val="3"/>
          <c:tx>
            <c:v>Automotive &amp; Industrial Components</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1C93-49AF-86B4-E215B107E631}"/>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1C93-49AF-86B4-E215B107E631}"/>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1C93-49AF-86B4-E215B107E631}"/>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1C93-49AF-86B4-E215B107E63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15.466798392258005</c:v>
              </c:pt>
              <c:pt idx="1">
                <c:v>15.07710793303761</c:v>
              </c:pt>
              <c:pt idx="2">
                <c:v>15.553291971478838</c:v>
              </c:pt>
              <c:pt idx="3">
                <c:v>14.070728599298576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1C93-49AF-86B4-E215B107E631}"/>
            </c:ext>
          </c:extLst>
        </c:ser>
        <c:ser>
          <c:idx val="4"/>
          <c:order val="4"/>
          <c:tx>
            <c:v>Pharmaceuticals &amp; Healthcare</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1C93-49AF-86B4-E215B107E631}"/>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1C93-49AF-86B4-E215B107E631}"/>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1C93-49AF-86B4-E215B107E631}"/>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1C93-49AF-86B4-E215B107E63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14.839154875752117</c:v>
              </c:pt>
              <c:pt idx="1">
                <c:v>14.340810740001263</c:v>
              </c:pt>
              <c:pt idx="2">
                <c:v>14.50152791925178</c:v>
              </c:pt>
              <c:pt idx="3">
                <c:v>13.710150320827271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8-1C93-49AF-86B4-E215B107E631}"/>
            </c:ext>
          </c:extLst>
        </c:ser>
        <c:ser>
          <c:idx val="5"/>
          <c:order val="5"/>
          <c:tx>
            <c:v>Electronics &amp; Electrical</c:v>
          </c:tx>
          <c:spPr>
            <a:solidFill>
              <a:srgbClr val="808080"/>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1C93-49AF-86B4-E215B107E631}"/>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1C93-49AF-86B4-E215B107E631}"/>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1C93-49AF-86B4-E215B107E631}"/>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1C93-49AF-86B4-E215B107E63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11.726219928891544</c:v>
              </c:pt>
              <c:pt idx="1">
                <c:v>11.296515462241054</c:v>
              </c:pt>
              <c:pt idx="2">
                <c:v>12.206500601907583</c:v>
              </c:pt>
              <c:pt idx="3">
                <c:v>12.607271333040135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D-1C93-49AF-86B4-E215B107E631}"/>
            </c:ext>
          </c:extLst>
        </c:ser>
        <c:ser>
          <c:idx val="6"/>
          <c:order val="6"/>
          <c:tx>
            <c:v>Personal Care &amp; Cosmetics</c:v>
          </c:tx>
          <c:spPr>
            <a:solidFill>
              <a:srgbClr val="0E72A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1C93-49AF-86B4-E215B107E631}"/>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F-1C93-49AF-86B4-E215B107E631}"/>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0-1C93-49AF-86B4-E215B107E631}"/>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1-1C93-49AF-86B4-E215B107E63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3.1913695261633559</c:v>
              </c:pt>
              <c:pt idx="1">
                <c:v>3.4443350287743133</c:v>
              </c:pt>
              <c:pt idx="2">
                <c:v>3.5753310491712194</c:v>
              </c:pt>
              <c:pt idx="3">
                <c:v>3.0808439617939261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22-1C93-49AF-86B4-E215B107E631}"/>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003E58"/>
            </a:solidFill>
            <a:ln>
              <a:noFill/>
            </a:ln>
          </c:spPr>
          <c:invertIfNegative val="1"/>
          <c:dLbls>
            <c:dLbl>
              <c:idx val="0"/>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8CD-418F-8AC7-A02AA50B105A}"/>
                </c:ext>
              </c:extLst>
            </c:dLbl>
            <c:dLbl>
              <c:idx val="1"/>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8CD-418F-8AC7-A02AA50B105A}"/>
                </c:ext>
              </c:extLst>
            </c:dLbl>
            <c:dLbl>
              <c:idx val="2"/>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8CD-418F-8AC7-A02AA50B105A}"/>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2021–2026</c:v>
              </c:pt>
              <c:pt idx="1">
                <c:v>2026–2036</c:v>
              </c:pt>
              <c:pt idx="2">
                <c:v>2021–2036</c:v>
              </c:pt>
            </c:strLit>
          </c:cat>
          <c:val>
            <c:numLit>
              <c:formatCode>General</c:formatCode>
              <c:ptCount val="3"/>
              <c:pt idx="0">
                <c:v>2.5045866476737677</c:v>
              </c:pt>
              <c:pt idx="1">
                <c:v>3.3065722665454933</c:v>
              </c:pt>
              <c:pt idx="2">
                <c:v>3.0385489563184098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98CD-418F-8AC7-A02AA50B105A}"/>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4.3646753918400512"/>
          <c:min val="0"/>
        </c:scaling>
        <c:delete val="0"/>
        <c:axPos val="l"/>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5"/>
              <c:pt idx="0">
                <c:v>2021</c:v>
              </c:pt>
              <c:pt idx="1">
                <c:v>2021–2026</c:v>
              </c:pt>
              <c:pt idx="2">
                <c:v>2026</c:v>
              </c:pt>
              <c:pt idx="3">
                <c:v>2026–2036</c:v>
              </c:pt>
              <c:pt idx="4">
                <c:v>2036</c:v>
              </c:pt>
            </c:strLit>
          </c:cat>
          <c:val>
            <c:numLit>
              <c:formatCode>General</c:formatCode>
              <c:ptCount val="5"/>
              <c:pt idx="0">
                <c:v>0</c:v>
              </c:pt>
              <c:pt idx="1">
                <c:v>1051093.469</c:v>
              </c:pt>
              <c:pt idx="2">
                <c:v>0</c:v>
              </c:pt>
              <c:pt idx="3">
                <c:v>1189481.8810000001</c:v>
              </c:pt>
              <c:pt idx="4">
                <c:v>0</c:v>
              </c:pt>
            </c:numLit>
          </c:val>
          <c:extLst>
            <c:ext xmlns:c16="http://schemas.microsoft.com/office/drawing/2014/chart" uri="{C3380CC4-5D6E-409C-BE32-E72D297353CC}">
              <c16:uniqueId val="{00000000-294B-43A5-8616-9BBD682D0B85}"/>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294B-43A5-8616-9BBD682D0B85}"/>
              </c:ext>
            </c:extLst>
          </c:dPt>
          <c:dPt>
            <c:idx val="1"/>
            <c:invertIfNegative val="1"/>
            <c:bubble3D val="0"/>
            <c:spPr>
              <a:solidFill>
                <a:srgbClr val="008189"/>
              </a:solidFill>
            </c:spPr>
            <c:extLst>
              <c:ext xmlns:c16="http://schemas.microsoft.com/office/drawing/2014/chart" uri="{C3380CC4-5D6E-409C-BE32-E72D297353CC}">
                <c16:uniqueId val="{00000004-294B-43A5-8616-9BBD682D0B85}"/>
              </c:ext>
            </c:extLst>
          </c:dPt>
          <c:dPt>
            <c:idx val="2"/>
            <c:invertIfNegative val="1"/>
            <c:bubble3D val="0"/>
            <c:spPr>
              <a:solidFill>
                <a:srgbClr val="0E72AE"/>
              </a:solidFill>
            </c:spPr>
            <c:extLst>
              <c:ext xmlns:c16="http://schemas.microsoft.com/office/drawing/2014/chart" uri="{C3380CC4-5D6E-409C-BE32-E72D297353CC}">
                <c16:uniqueId val="{00000006-294B-43A5-8616-9BBD682D0B85}"/>
              </c:ext>
            </c:extLst>
          </c:dPt>
          <c:dPt>
            <c:idx val="3"/>
            <c:invertIfNegative val="1"/>
            <c:bubble3D val="0"/>
            <c:spPr>
              <a:solidFill>
                <a:srgbClr val="008189"/>
              </a:solidFill>
            </c:spPr>
            <c:extLst>
              <c:ext xmlns:c16="http://schemas.microsoft.com/office/drawing/2014/chart" uri="{C3380CC4-5D6E-409C-BE32-E72D297353CC}">
                <c16:uniqueId val="{00000008-294B-43A5-8616-9BBD682D0B85}"/>
              </c:ext>
            </c:extLst>
          </c:dPt>
          <c:dPt>
            <c:idx val="4"/>
            <c:invertIfNegative val="1"/>
            <c:bubble3D val="0"/>
            <c:spPr>
              <a:solidFill>
                <a:srgbClr val="0E72AE"/>
              </a:solidFill>
            </c:spPr>
            <c:extLst>
              <c:ext xmlns:c16="http://schemas.microsoft.com/office/drawing/2014/chart" uri="{C3380CC4-5D6E-409C-BE32-E72D297353CC}">
                <c16:uniqueId val="{0000000A-294B-43A5-8616-9BBD682D0B85}"/>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94B-43A5-8616-9BBD682D0B85}"/>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94B-43A5-8616-9BBD682D0B85}"/>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94B-43A5-8616-9BBD682D0B85}"/>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94B-43A5-8616-9BBD682D0B85}"/>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94B-43A5-8616-9BBD682D0B85}"/>
                </c:ext>
              </c:extLst>
            </c:dLbl>
            <c:numFmt formatCode="#,##0.0,,&quot;M&quot;"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2021</c:v>
              </c:pt>
              <c:pt idx="1">
                <c:v>2021–2026</c:v>
              </c:pt>
              <c:pt idx="2">
                <c:v>2026</c:v>
              </c:pt>
              <c:pt idx="3">
                <c:v>2026–2036</c:v>
              </c:pt>
              <c:pt idx="4">
                <c:v>2036</c:v>
              </c:pt>
            </c:strLit>
          </c:cat>
          <c:val>
            <c:numLit>
              <c:formatCode>General</c:formatCode>
              <c:ptCount val="5"/>
              <c:pt idx="0">
                <c:v>1051093.469</c:v>
              </c:pt>
              <c:pt idx="1">
                <c:v>138388.41200000001</c:v>
              </c:pt>
              <c:pt idx="2">
                <c:v>1189481.8810000001</c:v>
              </c:pt>
              <c:pt idx="3">
                <c:v>457304.81199999992</c:v>
              </c:pt>
              <c:pt idx="4">
                <c:v>1646786.693</c:v>
              </c:pt>
            </c:numLit>
          </c:val>
          <c:extLst>
            <c:ext xmlns:c16="http://schemas.microsoft.com/office/drawing/2014/chart" uri="{C3380CC4-5D6E-409C-BE32-E72D297353CC}">
              <c16:uniqueId val="{0000000B-294B-43A5-8616-9BBD682D0B85}"/>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quot;M&quot;"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003E58"/>
            </a:solidFill>
            <a:ln>
              <a:noFill/>
            </a:ln>
          </c:spPr>
          <c:invertIfNegative val="1"/>
          <c:dLbls>
            <c:dLbl>
              <c:idx val="0"/>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2A9-4D52-86AF-DBFF046453D3}"/>
                </c:ext>
              </c:extLst>
            </c:dLbl>
            <c:dLbl>
              <c:idx val="1"/>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2A9-4D52-86AF-DBFF046453D3}"/>
                </c:ext>
              </c:extLst>
            </c:dLbl>
            <c:dLbl>
              <c:idx val="2"/>
              <c:numFmt formatCode="&quot;M&quot;;&quot;M&quot;;&quot;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2A9-4D52-86AF-DBFF046453D3}"/>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2021–2026</c:v>
              </c:pt>
              <c:pt idx="1">
                <c:v>2026–2036</c:v>
              </c:pt>
              <c:pt idx="2">
                <c:v>2021–2036</c:v>
              </c:pt>
            </c:strLit>
          </c:cat>
          <c:val>
            <c:numLit>
              <c:formatCode>General</c:formatCode>
              <c:ptCount val="3"/>
              <c:pt idx="0">
                <c:v>3.2479608320905573</c:v>
              </c:pt>
              <c:pt idx="1">
                <c:v>4.0561040458567676</c:v>
              </c:pt>
              <c:pt idx="2">
                <c:v>3.7860225746378484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A2A9-4D52-86AF-DBFF046453D3}"/>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5.3540573405309333"/>
          <c:min val="0"/>
        </c:scaling>
        <c:delete val="0"/>
        <c:axPos val="l"/>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5"/>
              <c:pt idx="0">
                <c:v>2021</c:v>
              </c:pt>
              <c:pt idx="1">
                <c:v>2021–2026</c:v>
              </c:pt>
              <c:pt idx="2">
                <c:v>2026</c:v>
              </c:pt>
              <c:pt idx="3">
                <c:v>2026–2036</c:v>
              </c:pt>
              <c:pt idx="4">
                <c:v>2036</c:v>
              </c:pt>
            </c:strLit>
          </c:cat>
          <c:val>
            <c:numLit>
              <c:formatCode>General</c:formatCode>
              <c:ptCount val="5"/>
              <c:pt idx="0">
                <c:v>0</c:v>
              </c:pt>
              <c:pt idx="1">
                <c:v>900.029</c:v>
              </c:pt>
              <c:pt idx="2">
                <c:v>0</c:v>
              </c:pt>
              <c:pt idx="3">
                <c:v>1056</c:v>
              </c:pt>
              <c:pt idx="4">
                <c:v>0</c:v>
              </c:pt>
            </c:numLit>
          </c:val>
          <c:extLst>
            <c:ext xmlns:c16="http://schemas.microsoft.com/office/drawing/2014/chart" uri="{C3380CC4-5D6E-409C-BE32-E72D297353CC}">
              <c16:uniqueId val="{00000000-BF73-469E-B713-00CF708E719C}"/>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BF73-469E-B713-00CF708E719C}"/>
              </c:ext>
            </c:extLst>
          </c:dPt>
          <c:dPt>
            <c:idx val="1"/>
            <c:invertIfNegative val="1"/>
            <c:bubble3D val="0"/>
            <c:spPr>
              <a:solidFill>
                <a:srgbClr val="008189"/>
              </a:solidFill>
            </c:spPr>
            <c:extLst>
              <c:ext xmlns:c16="http://schemas.microsoft.com/office/drawing/2014/chart" uri="{C3380CC4-5D6E-409C-BE32-E72D297353CC}">
                <c16:uniqueId val="{00000004-BF73-469E-B713-00CF708E719C}"/>
              </c:ext>
            </c:extLst>
          </c:dPt>
          <c:dPt>
            <c:idx val="2"/>
            <c:invertIfNegative val="1"/>
            <c:bubble3D val="0"/>
            <c:spPr>
              <a:solidFill>
                <a:srgbClr val="0E72AE"/>
              </a:solidFill>
            </c:spPr>
            <c:extLst>
              <c:ext xmlns:c16="http://schemas.microsoft.com/office/drawing/2014/chart" uri="{C3380CC4-5D6E-409C-BE32-E72D297353CC}">
                <c16:uniqueId val="{00000006-BF73-469E-B713-00CF708E719C}"/>
              </c:ext>
            </c:extLst>
          </c:dPt>
          <c:dPt>
            <c:idx val="3"/>
            <c:invertIfNegative val="1"/>
            <c:bubble3D val="0"/>
            <c:spPr>
              <a:solidFill>
                <a:srgbClr val="008189"/>
              </a:solidFill>
            </c:spPr>
            <c:extLst>
              <c:ext xmlns:c16="http://schemas.microsoft.com/office/drawing/2014/chart" uri="{C3380CC4-5D6E-409C-BE32-E72D297353CC}">
                <c16:uniqueId val="{00000008-BF73-469E-B713-00CF708E719C}"/>
              </c:ext>
            </c:extLst>
          </c:dPt>
          <c:dPt>
            <c:idx val="4"/>
            <c:invertIfNegative val="1"/>
            <c:bubble3D val="0"/>
            <c:spPr>
              <a:solidFill>
                <a:srgbClr val="0E72AE"/>
              </a:solidFill>
            </c:spPr>
            <c:extLst>
              <c:ext xmlns:c16="http://schemas.microsoft.com/office/drawing/2014/chart" uri="{C3380CC4-5D6E-409C-BE32-E72D297353CC}">
                <c16:uniqueId val="{0000000A-BF73-469E-B713-00CF708E719C}"/>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F73-469E-B713-00CF708E719C}"/>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F73-469E-B713-00CF708E719C}"/>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F73-469E-B713-00CF708E719C}"/>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F73-469E-B713-00CF708E719C}"/>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F73-469E-B713-00CF708E719C}"/>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2021</c:v>
              </c:pt>
              <c:pt idx="1">
                <c:v>2021–2026</c:v>
              </c:pt>
              <c:pt idx="2">
                <c:v>2026</c:v>
              </c:pt>
              <c:pt idx="3">
                <c:v>2026–2036</c:v>
              </c:pt>
              <c:pt idx="4">
                <c:v>2036</c:v>
              </c:pt>
            </c:strLit>
          </c:cat>
          <c:val>
            <c:numLit>
              <c:formatCode>General</c:formatCode>
              <c:ptCount val="5"/>
              <c:pt idx="0">
                <c:v>900.029</c:v>
              </c:pt>
              <c:pt idx="1">
                <c:v>155.971</c:v>
              </c:pt>
              <c:pt idx="2">
                <c:v>1056</c:v>
              </c:pt>
              <c:pt idx="3">
                <c:v>515.59099999999989</c:v>
              </c:pt>
              <c:pt idx="4">
                <c:v>1571.5909999999999</c:v>
              </c:pt>
            </c:numLit>
          </c:val>
          <c:extLst>
            <c:ext xmlns:c16="http://schemas.microsoft.com/office/drawing/2014/chart" uri="{C3380CC4-5D6E-409C-BE32-E72D297353CC}">
              <c16:uniqueId val="{0000000B-BF73-469E-B713-00CF708E719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Value (US$ Mn)</c:v>
          </c:tx>
          <c:spPr>
            <a:solidFill>
              <a:srgbClr val="69B1E0"/>
            </a:solidFill>
            <a:ln>
              <a:noFill/>
            </a:ln>
          </c:spPr>
          <c:invertIfNegative val="1"/>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62B-4FE8-A9CA-AD6154FE7273}"/>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62B-4FE8-A9CA-AD6154FE7273}"/>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62B-4FE8-A9CA-AD6154FE7273}"/>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62B-4FE8-A9CA-AD6154FE7273}"/>
                </c:ext>
              </c:extLst>
            </c:dLbl>
            <c:dLbl>
              <c:idx val="4"/>
              <c:numFmt formatCode="&quot;MMMMMMM&quot;;&quot;MMMMMMM&quot;;&quot;MM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62B-4FE8-A9CA-AD6154FE7273}"/>
                </c:ext>
              </c:extLst>
            </c:dLbl>
            <c:numFmt formatCode="#,##0" sourceLinked="0"/>
            <c:spPr>
              <a:noFill/>
              <a:ln>
                <a:noFill/>
              </a:ln>
              <a:effectLst/>
            </c:spPr>
            <c:txPr>
              <a:bodyPr rot="0" vert="horz"/>
              <a:lstStyle/>
              <a:p>
                <a:pPr>
                  <a:defRPr sz="1100">
                    <a:solidFill>
                      <a:srgbClr val="6C7A89"/>
                    </a:solidFill>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2021</c:v>
              </c:pt>
              <c:pt idx="1">
                <c:v>2022</c:v>
              </c:pt>
              <c:pt idx="2">
                <c:v>2023</c:v>
              </c:pt>
              <c:pt idx="3">
                <c:v>2024</c:v>
              </c:pt>
              <c:pt idx="4">
                <c:v>2025</c:v>
              </c:pt>
            </c:strLit>
          </c:cat>
          <c:val>
            <c:numLit>
              <c:formatCode>General</c:formatCode>
              <c:ptCount val="5"/>
              <c:pt idx="0">
                <c:v>900.029</c:v>
              </c:pt>
              <c:pt idx="1">
                <c:v>929.24199999999996</c:v>
              </c:pt>
              <c:pt idx="2">
                <c:v>959.41399999999999</c:v>
              </c:pt>
              <c:pt idx="3">
                <c:v>990.57500000000005</c:v>
              </c:pt>
              <c:pt idx="4">
                <c:v>1022.759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662B-4FE8-A9CA-AD6154FE7273}"/>
            </c:ext>
          </c:extLst>
        </c:ser>
        <c:dLbls>
          <c:showLegendKey val="0"/>
          <c:showVal val="0"/>
          <c:showCatName val="0"/>
          <c:showSerName val="0"/>
          <c:showPercent val="0"/>
          <c:showBubbleSize val="0"/>
        </c:dLbls>
        <c:gapWidth val="50"/>
        <c:axId val="-2068027336"/>
        <c:axId val="-2113994440"/>
      </c:barChart>
      <c:barChart>
        <c:barDir val="col"/>
        <c:grouping val="clustered"/>
        <c:varyColors val="0"/>
        <c:ser>
          <c:idx val="1"/>
          <c:order val="1"/>
          <c:tx>
            <c:v>Volume (MT)</c:v>
          </c:tx>
          <c:spPr>
            <a:solidFill>
              <a:srgbClr val="C55A11"/>
            </a:solidFill>
            <a:ln>
              <a:noFill/>
            </a:ln>
          </c:spPr>
          <c:invertIfNegative val="1"/>
          <c:dLbls>
            <c:dLbl>
              <c:idx val="0"/>
              <c:numFmt formatCode="&quot;MMMMMMMMMMM&quot;;&quot;MMMMMMMMMMM&quot;;&quot;MMMMMMM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62B-4FE8-A9CA-AD6154FE7273}"/>
                </c:ext>
              </c:extLst>
            </c:dLbl>
            <c:dLbl>
              <c:idx val="1"/>
              <c:numFmt formatCode="&quot;MMMMMMMMMMM&quot;;&quot;MMMMMMMMMMM&quot;;&quot;MMMMMMM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62B-4FE8-A9CA-AD6154FE7273}"/>
                </c:ext>
              </c:extLst>
            </c:dLbl>
            <c:dLbl>
              <c:idx val="2"/>
              <c:numFmt formatCode="&quot;MMMMMMMMMMM&quot;;&quot;MMMMMMMMMMM&quot;;&quot;MMMMMMM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62B-4FE8-A9CA-AD6154FE7273}"/>
                </c:ext>
              </c:extLst>
            </c:dLbl>
            <c:dLbl>
              <c:idx val="3"/>
              <c:numFmt formatCode="&quot;MMMMMMMMMMM&quot;;&quot;MMMMMMMMMMM&quot;;&quot;MMMMMMM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62B-4FE8-A9CA-AD6154FE7273}"/>
                </c:ext>
              </c:extLst>
            </c:dLbl>
            <c:dLbl>
              <c:idx val="4"/>
              <c:numFmt formatCode="&quot;MMMMMMMMMMM&quot;;&quot;MMMMMMMMMMM&quot;;&quot;MMMMMM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62B-4FE8-A9CA-AD6154FE7273}"/>
                </c:ext>
              </c:extLst>
            </c:dLbl>
            <c:numFmt formatCode="#,##0.0,,&quot;M&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2021</c:v>
              </c:pt>
              <c:pt idx="1">
                <c:v>2022</c:v>
              </c:pt>
              <c:pt idx="2">
                <c:v>2023</c:v>
              </c:pt>
              <c:pt idx="3">
                <c:v>2024</c:v>
              </c:pt>
              <c:pt idx="4">
                <c:v>2025</c:v>
              </c:pt>
            </c:strLit>
          </c:cat>
          <c:val>
            <c:numLit>
              <c:formatCode>General</c:formatCode>
              <c:ptCount val="5"/>
              <c:pt idx="0">
                <c:v>1051093.469</c:v>
              </c:pt>
              <c:pt idx="1">
                <c:v>1077398.077</c:v>
              </c:pt>
              <c:pt idx="2">
                <c:v>1104371.6779999998</c:v>
              </c:pt>
              <c:pt idx="3">
                <c:v>1132031.5890000002</c:v>
              </c:pt>
              <c:pt idx="4">
                <c:v>1160395.577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662B-4FE8-A9CA-AD6154FE7273}"/>
            </c:ext>
          </c:extLst>
        </c:ser>
        <c:dLbls>
          <c:showLegendKey val="0"/>
          <c:showVal val="0"/>
          <c:showCatName val="0"/>
          <c:showSerName val="0"/>
          <c:showPercent val="0"/>
          <c:showBubbleSize val="0"/>
        </c:dLbls>
        <c:gapWidth val="219"/>
        <c:axId val="90210001"/>
        <c:axId val="90210002"/>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max val="1207"/>
          <c:min val="0"/>
        </c:scaling>
        <c:delete val="0"/>
        <c:axPos val="l"/>
        <c:numFmt formatCode="#,##0" sourceLinked="0"/>
        <c:majorTickMark val="none"/>
        <c:minorTickMark val="none"/>
        <c:tickLblPos val="none"/>
        <c:spPr>
          <a:ln>
            <a:noFill/>
          </a:ln>
        </c:spPr>
        <c:txPr>
          <a:bodyPr/>
          <a:lstStyle/>
          <a:p>
            <a:pPr>
              <a:defRPr sz="1100"/>
            </a:pPr>
            <a:endParaRPr lang="en-US"/>
          </a:p>
        </c:txPr>
        <c:crossAx val="-2068027336"/>
        <c:crosses val="autoZero"/>
        <c:crossBetween val="between"/>
      </c:valAx>
      <c:catAx>
        <c:axId val="90210001"/>
        <c:scaling>
          <c:orientation val="minMax"/>
        </c:scaling>
        <c:delete val="1"/>
        <c:axPos val="b"/>
        <c:numFmt formatCode="General" sourceLinked="1"/>
        <c:majorTickMark val="cross"/>
        <c:minorTickMark val="cross"/>
        <c:tickLblPos val="nextTo"/>
        <c:crossAx val="90210002"/>
        <c:crosses val="autoZero"/>
        <c:auto val="1"/>
        <c:lblAlgn val="ctr"/>
        <c:lblOffset val="100"/>
        <c:noMultiLvlLbl val="1"/>
      </c:catAx>
      <c:valAx>
        <c:axId val="90210002"/>
        <c:scaling>
          <c:orientation val="minMax"/>
          <c:max val="1601613"/>
          <c:min val="0"/>
        </c:scaling>
        <c:delete val="0"/>
        <c:axPos val="r"/>
        <c:numFmt formatCode="#,##0,,&quot;M&quot;" sourceLinked="0"/>
        <c:majorTickMark val="none"/>
        <c:minorTickMark val="none"/>
        <c:tickLblPos val="none"/>
        <c:spPr>
          <a:ln>
            <a:noFill/>
          </a:ln>
        </c:spPr>
        <c:crossAx val="90210001"/>
        <c:crosses val="max"/>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Value (US$ Mn)</c:v>
          </c:tx>
          <c:spPr>
            <a:solidFill>
              <a:srgbClr val="69B1E0"/>
            </a:solidFill>
            <a:ln>
              <a:noFill/>
            </a:ln>
          </c:spPr>
          <c:invertIfNegative val="1"/>
          <c:dLbls>
            <c:dLbl>
              <c:idx val="0"/>
              <c:numFmt formatCode="&quot;MMMMMMM&quot;;&quot;MMMMMMM&quot;;&quot;MM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1A4-4FC5-973E-3CA761716772}"/>
                </c:ext>
              </c:extLst>
            </c:dLbl>
            <c:dLbl>
              <c:idx val="1"/>
              <c:numFmt formatCode="&quot;MMMMMMM&quot;;&quot;MMMMMMM&quot;;&quot;MM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1A4-4FC5-973E-3CA761716772}"/>
                </c:ext>
              </c:extLst>
            </c:dLbl>
            <c:dLbl>
              <c:idx val="2"/>
              <c:numFmt formatCode="&quot;MMMMMMM&quot;;&quot;MMMMMMM&quot;;&quot;MM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1A4-4FC5-973E-3CA761716772}"/>
                </c:ext>
              </c:extLst>
            </c:dLbl>
            <c:dLbl>
              <c:idx val="3"/>
              <c:numFmt formatCode="&quot;MMMMMMM&quot;;&quot;MMMMMMM&quot;;&quot;MM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1A4-4FC5-973E-3CA761716772}"/>
                </c:ext>
              </c:extLst>
            </c:dLbl>
            <c:dLbl>
              <c:idx val="4"/>
              <c:numFmt formatCode="&quot;MMMMMMM&quot;;&quot;MMMMMMM&quot;;&quot;MM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1A4-4FC5-973E-3CA761716772}"/>
                </c:ext>
              </c:extLst>
            </c:dLbl>
            <c:dLbl>
              <c:idx val="5"/>
              <c:numFmt formatCode="&quot;MMMMMMM&quot;;&quot;MMMMMMM&quot;;&quot;MMM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1A4-4FC5-973E-3CA761716772}"/>
                </c:ext>
              </c:extLst>
            </c:dLbl>
            <c:dLbl>
              <c:idx val="6"/>
              <c:numFmt formatCode="&quot;MMMMMMM&quot;;&quot;MMMMMMM&quot;;&quot;MMM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1A4-4FC5-973E-3CA761716772}"/>
                </c:ext>
              </c:extLst>
            </c:dLbl>
            <c:dLbl>
              <c:idx val="7"/>
              <c:numFmt formatCode="&quot;MMMMMMM&quot;;&quot;MMMMMMM&quot;;&quot;MMM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1A4-4FC5-973E-3CA761716772}"/>
                </c:ext>
              </c:extLst>
            </c:dLbl>
            <c:dLbl>
              <c:idx val="8"/>
              <c:numFmt formatCode="&quot;MMMMMMM&quot;;&quot;MMMMMMM&quot;;&quot;MMM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41A4-4FC5-973E-3CA761716772}"/>
                </c:ext>
              </c:extLst>
            </c:dLbl>
            <c:dLbl>
              <c:idx val="9"/>
              <c:numFmt formatCode="&quot;MMMMMMM&quot;;&quot;MMMMMMM&quot;;&quot;MM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1A4-4FC5-973E-3CA761716772}"/>
                </c:ext>
              </c:extLst>
            </c:dLbl>
            <c:dLbl>
              <c:idx val="10"/>
              <c:numFmt formatCode="&quot;MMMMMMM&quot;;&quot;MMMMMMM&quot;;&quot;MMM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41A4-4FC5-973E-3CA761716772}"/>
                </c:ext>
              </c:extLst>
            </c:dLbl>
            <c:numFmt formatCode="#,##0" sourceLinked="0"/>
            <c:spPr>
              <a:noFill/>
              <a:ln>
                <a:noFill/>
              </a:ln>
              <a:effectLst/>
            </c:spPr>
            <c:txPr>
              <a:bodyPr rot="0" vert="horz"/>
              <a:lstStyle/>
              <a:p>
                <a:pPr>
                  <a:defRPr sz="1100">
                    <a:solidFill>
                      <a:srgbClr val="6C7A89"/>
                    </a:solidFill>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1056</c:v>
              </c:pt>
              <c:pt idx="1">
                <c:v>1098.7809999999999</c:v>
              </c:pt>
              <c:pt idx="2">
                <c:v>1143.307</c:v>
              </c:pt>
              <c:pt idx="3">
                <c:v>1189.6489999999999</c:v>
              </c:pt>
              <c:pt idx="4">
                <c:v>1237.8820000000001</c:v>
              </c:pt>
              <c:pt idx="5">
                <c:v>1288.086</c:v>
              </c:pt>
              <c:pt idx="6">
                <c:v>1340.3389999999999</c:v>
              </c:pt>
              <c:pt idx="7">
                <c:v>1394.7260000000001</c:v>
              </c:pt>
              <c:pt idx="8">
                <c:v>1451.3359999999998</c:v>
              </c:pt>
              <c:pt idx="9">
                <c:v>1510.26</c:v>
              </c:pt>
              <c:pt idx="10">
                <c:v>1571.5909999999999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41A4-4FC5-973E-3CA761716772}"/>
            </c:ext>
          </c:extLst>
        </c:ser>
        <c:dLbls>
          <c:showLegendKey val="0"/>
          <c:showVal val="0"/>
          <c:showCatName val="0"/>
          <c:showSerName val="0"/>
          <c:showPercent val="0"/>
          <c:showBubbleSize val="0"/>
        </c:dLbls>
        <c:gapWidth val="50"/>
        <c:axId val="-2068027336"/>
        <c:axId val="-2113994440"/>
      </c:barChart>
      <c:barChart>
        <c:barDir val="col"/>
        <c:grouping val="clustered"/>
        <c:varyColors val="0"/>
        <c:ser>
          <c:idx val="1"/>
          <c:order val="1"/>
          <c:tx>
            <c:v>Volume (MT)</c:v>
          </c:tx>
          <c:spPr>
            <a:solidFill>
              <a:srgbClr val="C55A11"/>
            </a:solidFill>
            <a:ln>
              <a:noFill/>
            </a:ln>
          </c:spPr>
          <c:invertIfNegative val="1"/>
          <c:dLbls>
            <c:dLbl>
              <c:idx val="0"/>
              <c:numFmt formatCode="&quot;MMMMMMMMMMM&quot;;&quot;MMMMMMMMMMM&quot;;&quot;MMMMMMM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41A4-4FC5-973E-3CA761716772}"/>
                </c:ext>
              </c:extLst>
            </c:dLbl>
            <c:dLbl>
              <c:idx val="1"/>
              <c:numFmt formatCode="&quot;MMMMMMMMMMM&quot;;&quot;MMMMMMMMMMM&quot;;&quot;MMMMMMM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41A4-4FC5-973E-3CA761716772}"/>
                </c:ext>
              </c:extLst>
            </c:dLbl>
            <c:dLbl>
              <c:idx val="2"/>
              <c:numFmt formatCode="&quot;MMMMMMMMMMM&quot;;&quot;MMMMMMMMMMM&quot;;&quot;MMMMMMM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41A4-4FC5-973E-3CA761716772}"/>
                </c:ext>
              </c:extLst>
            </c:dLbl>
            <c:dLbl>
              <c:idx val="3"/>
              <c:numFmt formatCode="&quot;MMMMMMMMMMM&quot;;&quot;MMMMMMMMMMM&quot;;&quot;MMMMMMMM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41A4-4FC5-973E-3CA761716772}"/>
                </c:ext>
              </c:extLst>
            </c:dLbl>
            <c:dLbl>
              <c:idx val="4"/>
              <c:numFmt formatCode="&quot;MMMMMMMMMMM&quot;;&quot;MMMMMMMMMMM&quot;;&quot;MMMMMMMM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41A4-4FC5-973E-3CA761716772}"/>
                </c:ext>
              </c:extLst>
            </c:dLbl>
            <c:dLbl>
              <c:idx val="5"/>
              <c:numFmt formatCode="&quot;MMMMMMMMMMM&quot;;&quot;MMMMMMMMMMM&quot;;&quot;MMMMMMMM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41A4-4FC5-973E-3CA761716772}"/>
                </c:ext>
              </c:extLst>
            </c:dLbl>
            <c:dLbl>
              <c:idx val="6"/>
              <c:numFmt formatCode="&quot;MMMMMMMMMMM&quot;;&quot;MMMMMMMMMMM&quot;;&quot;MMMMMMMM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41A4-4FC5-973E-3CA761716772}"/>
                </c:ext>
              </c:extLst>
            </c:dLbl>
            <c:dLbl>
              <c:idx val="7"/>
              <c:numFmt formatCode="&quot;MMMMMMMMMMM&quot;;&quot;MMMMMMMMMMM&quot;;&quot;MMMMMMMMMMM&quot;" sourceLinked="0"/>
              <c:spPr>
                <a:blipFill>
                  <a:blip xmlns:r="http://schemas.openxmlformats.org/officeDocument/2006/relationships"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41A4-4FC5-973E-3CA761716772}"/>
                </c:ext>
              </c:extLst>
            </c:dLbl>
            <c:dLbl>
              <c:idx val="8"/>
              <c:numFmt formatCode="&quot;MMMMMMMMMMM&quot;;&quot;MMMMMMMMMMM&quot;;&quot;MMMMMMMMMMM&quot;" sourceLinked="0"/>
              <c:spPr>
                <a:blipFill>
                  <a:blip xmlns:r="http://schemas.openxmlformats.org/officeDocument/2006/relationships"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41A4-4FC5-973E-3CA761716772}"/>
                </c:ext>
              </c:extLst>
            </c:dLbl>
            <c:dLbl>
              <c:idx val="9"/>
              <c:numFmt formatCode="&quot;MMMMMMMMMMM&quot;;&quot;MMMMMMMMMMM&quot;;&quot;MMMMMMMMMMM&quot;" sourceLinked="0"/>
              <c:spPr>
                <a:blipFill>
                  <a:blip xmlns:r="http://schemas.openxmlformats.org/officeDocument/2006/relationships"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41A4-4FC5-973E-3CA761716772}"/>
                </c:ext>
              </c:extLst>
            </c:dLbl>
            <c:dLbl>
              <c:idx val="10"/>
              <c:numFmt formatCode="&quot;MMMMMMMMMMM&quot;;&quot;MMMMMMMMMMM&quot;;&quot;MMMMMMMMMMM&quot;" sourceLinked="0"/>
              <c:spPr>
                <a:blipFill>
                  <a:blip xmlns:r="http://schemas.openxmlformats.org/officeDocument/2006/relationships"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41A4-4FC5-973E-3CA761716772}"/>
                </c:ext>
              </c:extLst>
            </c:dLbl>
            <c:numFmt formatCode="#,##0.0,,&quot;M&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1189481.8810000001</c:v>
              </c:pt>
              <c:pt idx="1">
                <c:v>1228758.9280000001</c:v>
              </c:pt>
              <c:pt idx="2">
                <c:v>1269345.2179999999</c:v>
              </c:pt>
              <c:pt idx="3">
                <c:v>1311284.8319999999</c:v>
              </c:pt>
              <c:pt idx="4">
                <c:v>1354623.3540000001</c:v>
              </c:pt>
              <c:pt idx="5">
                <c:v>1399407.923</c:v>
              </c:pt>
              <c:pt idx="6">
                <c:v>1445687.277</c:v>
              </c:pt>
              <c:pt idx="7">
                <c:v>1493511.818</c:v>
              </c:pt>
              <c:pt idx="8">
                <c:v>1542933.665</c:v>
              </c:pt>
              <c:pt idx="9">
                <c:v>1594006.7120000001</c:v>
              </c:pt>
              <c:pt idx="10">
                <c:v>1646786.693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41A4-4FC5-973E-3CA761716772}"/>
            </c:ext>
          </c:extLst>
        </c:ser>
        <c:dLbls>
          <c:showLegendKey val="0"/>
          <c:showVal val="0"/>
          <c:showCatName val="0"/>
          <c:showSerName val="0"/>
          <c:showPercent val="0"/>
          <c:showBubbleSize val="0"/>
        </c:dLbls>
        <c:gapWidth val="219"/>
        <c:axId val="90210001"/>
        <c:axId val="90210002"/>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max val="1854"/>
          <c:min val="0"/>
        </c:scaling>
        <c:delete val="0"/>
        <c:axPos val="l"/>
        <c:numFmt formatCode="#,##0" sourceLinked="0"/>
        <c:majorTickMark val="none"/>
        <c:minorTickMark val="none"/>
        <c:tickLblPos val="none"/>
        <c:spPr>
          <a:ln>
            <a:noFill/>
          </a:ln>
        </c:spPr>
        <c:txPr>
          <a:bodyPr/>
          <a:lstStyle/>
          <a:p>
            <a:pPr>
              <a:defRPr sz="1100"/>
            </a:pPr>
            <a:endParaRPr lang="en-US"/>
          </a:p>
        </c:txPr>
        <c:crossAx val="-2068027336"/>
        <c:crosses val="autoZero"/>
        <c:crossBetween val="between"/>
      </c:valAx>
      <c:catAx>
        <c:axId val="90210001"/>
        <c:scaling>
          <c:orientation val="minMax"/>
        </c:scaling>
        <c:delete val="1"/>
        <c:axPos val="b"/>
        <c:numFmt formatCode="General" sourceLinked="1"/>
        <c:majorTickMark val="cross"/>
        <c:minorTickMark val="cross"/>
        <c:tickLblPos val="nextTo"/>
        <c:crossAx val="90210002"/>
        <c:crosses val="autoZero"/>
        <c:auto val="1"/>
        <c:lblAlgn val="ctr"/>
        <c:lblOffset val="100"/>
        <c:noMultiLvlLbl val="1"/>
      </c:catAx>
      <c:valAx>
        <c:axId val="90210002"/>
        <c:scaling>
          <c:orientation val="minMax"/>
          <c:max val="2373738"/>
          <c:min val="0"/>
        </c:scaling>
        <c:delete val="0"/>
        <c:axPos val="r"/>
        <c:numFmt formatCode="#,##0,,&quot;M&quot;" sourceLinked="0"/>
        <c:majorTickMark val="none"/>
        <c:minorTickMark val="none"/>
        <c:tickLblPos val="none"/>
        <c:spPr>
          <a:ln>
            <a:noFill/>
          </a:ln>
        </c:spPr>
        <c:crossAx val="90210001"/>
        <c:crosses val="max"/>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Index</c:v>
          </c:tx>
          <c:spPr>
            <a:solidFill>
              <a:srgbClr val="0E72AE"/>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D5A-4870-8D9D-516D36845F80}"/>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D5A-4870-8D9D-516D36845F80}"/>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U.S.</c:v>
              </c:pt>
              <c:pt idx="1">
                <c:v>Canada</c:v>
              </c:pt>
            </c:strLit>
          </c:cat>
          <c:val>
            <c:numLit>
              <c:formatCode>General</c:formatCode>
              <c:ptCount val="2"/>
              <c:pt idx="0">
                <c:v>94.32279335622718</c:v>
              </c:pt>
              <c:pt idx="1">
                <c:v>112.20897834060899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FD5A-4870-8D9D-516D36845F80}"/>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b"/>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Index</c:v>
          </c:tx>
          <c:spPr>
            <a:solidFill>
              <a:srgbClr val="0E72AE"/>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6D4-48FF-9938-C68C50C29250}"/>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6D4-48FF-9938-C68C50C29250}"/>
                </c:ext>
              </c:extLst>
            </c:dLbl>
            <c:numFmt formatCode="0.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35.668194363361671</c:v>
              </c:pt>
              <c:pt idx="1">
                <c:v>64.331805636638379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86D4-48FF-9938-C68C50C29250}"/>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b"/>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11A7-4938-B70B-C456BD39C074}"/>
              </c:ext>
            </c:extLst>
          </c:dPt>
          <c:dPt>
            <c:idx val="1"/>
            <c:bubble3D val="0"/>
            <c:spPr>
              <a:solidFill>
                <a:srgbClr val="9E7E0A"/>
              </a:solidFill>
            </c:spPr>
            <c:extLst>
              <c:ext xmlns:c16="http://schemas.microsoft.com/office/drawing/2014/chart" uri="{C3380CC4-5D6E-409C-BE32-E72D297353CC}">
                <c16:uniqueId val="{00000003-11A7-4938-B70B-C456BD39C074}"/>
              </c:ext>
            </c:extLst>
          </c:dPt>
          <c:dPt>
            <c:idx val="2"/>
            <c:bubble3D val="0"/>
            <c:spPr>
              <a:solidFill>
                <a:srgbClr val="008189"/>
              </a:solidFill>
            </c:spPr>
            <c:extLst>
              <c:ext xmlns:c16="http://schemas.microsoft.com/office/drawing/2014/chart" uri="{C3380CC4-5D6E-409C-BE32-E72D297353CC}">
                <c16:uniqueId val="{00000005-11A7-4938-B70B-C456BD39C074}"/>
              </c:ext>
            </c:extLst>
          </c:dPt>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1A7-4938-B70B-C456BD39C074}"/>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A7-4938-B70B-C456BD39C074}"/>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1A7-4938-B70B-C456BD39C07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3"/>
              <c:pt idx="0">
                <c:v>Slotted (Interlocking Grid) Partitions</c:v>
              </c:pt>
              <c:pt idx="1">
                <c:v>Die-Cut &amp; Folded Partitions (H-dividers, tube/cell inserts)</c:v>
              </c:pt>
              <c:pt idx="2">
                <c:v>Flat Dividers &amp; Layer Pads</c:v>
              </c:pt>
            </c:strLit>
          </c:cat>
          <c:val>
            <c:numLit>
              <c:formatCode>General</c:formatCode>
              <c:ptCount val="3"/>
              <c:pt idx="0">
                <c:v>223.33799999999999</c:v>
              </c:pt>
              <c:pt idx="1">
                <c:v>445.61500000000001</c:v>
              </c:pt>
              <c:pt idx="2">
                <c:v>902.63800000000003</c:v>
              </c:pt>
            </c:numLit>
          </c:val>
          <c:extLst>
            <c:ext xmlns:c16="http://schemas.microsoft.com/office/drawing/2014/chart" uri="{C3380CC4-5D6E-409C-BE32-E72D297353CC}">
              <c16:uniqueId val="{00000006-11A7-4938-B70B-C456BD39C074}"/>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lineChart>
        <c:grouping val="standard"/>
        <c:varyColors val="0"/>
        <c:ser>
          <c:idx val="0"/>
          <c:order val="0"/>
          <c:tx>
            <c:v>Optimistic Scenario</c:v>
          </c:tx>
          <c:spPr>
            <a:ln w="28575">
              <a:solidFill>
                <a:srgbClr val="2E5F8A"/>
              </a:solidFill>
            </a:ln>
          </c:spPr>
          <c:marker>
            <c:symbol val="circle"/>
            <c:size val="6"/>
            <c:spPr>
              <a:solidFill>
                <a:srgbClr val="2E5F8A"/>
              </a:solidFill>
              <a:ln>
                <a:solidFill>
                  <a:srgbClr val="2E5F8A"/>
                </a:solidFill>
              </a:ln>
            </c:spPr>
          </c:marker>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4.5592221995453749E-2</c:v>
              </c:pt>
              <c:pt idx="1">
                <c:v>4.9081587762929091E-2</c:v>
              </c:pt>
              <c:pt idx="2">
                <c:v>5.2198117188126246E-2</c:v>
              </c:pt>
              <c:pt idx="3">
                <c:v>5.4349096085885021E-2</c:v>
              </c:pt>
              <c:pt idx="4">
                <c:v>5.4090978618153963E-2</c:v>
              </c:pt>
              <c:pt idx="5">
                <c:v>5.2805171232604836E-2</c:v>
              </c:pt>
              <c:pt idx="6">
                <c:v>5.0835830552879026E-2</c:v>
              </c:pt>
              <c:pt idx="7">
                <c:v>4.8727871233075426E-2</c:v>
              </c:pt>
              <c:pt idx="8">
                <c:v>4.7356024691615942E-2</c:v>
              </c:pt>
              <c:pt idx="9">
                <c:v>4.6983188349337755E-2</c:v>
              </c:pt>
              <c:pt idx="10">
                <c:v>4.562568166719666E-2</c:v>
              </c:pt>
            </c:numLit>
          </c:val>
          <c:smooth val="0"/>
          <c:extLst>
            <c:ext xmlns:c16="http://schemas.microsoft.com/office/drawing/2014/chart" uri="{C3380CC4-5D6E-409C-BE32-E72D297353CC}">
              <c16:uniqueId val="{00000000-AD8C-498E-AF70-179704AB04CA}"/>
            </c:ext>
          </c:extLst>
        </c:ser>
        <c:ser>
          <c:idx val="1"/>
          <c:order val="1"/>
          <c:tx>
            <c:v>Likely Scenario</c:v>
          </c:tx>
          <c:spPr>
            <a:ln w="28575">
              <a:solidFill>
                <a:srgbClr val="8B1A1A"/>
              </a:solidFill>
            </a:ln>
          </c:spPr>
          <c:marker>
            <c:symbol val="circle"/>
            <c:size val="6"/>
            <c:spPr>
              <a:solidFill>
                <a:srgbClr val="8B1A1A"/>
              </a:solidFill>
              <a:ln>
                <a:solidFill>
                  <a:srgbClr val="8B1A1A"/>
                </a:solidFill>
              </a:ln>
            </c:spPr>
          </c:marker>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4.2730020878527869E-2</c:v>
              </c:pt>
              <c:pt idx="1">
                <c:v>4.1160020878527867E-2</c:v>
              </c:pt>
              <c:pt idx="2">
                <c:v>3.9810020878527877E-2</c:v>
              </c:pt>
              <c:pt idx="3">
                <c:v>3.879002087852787E-2</c:v>
              </c:pt>
              <c:pt idx="4">
                <c:v>3.8730020878527872E-2</c:v>
              </c:pt>
              <c:pt idx="5">
                <c:v>3.8900020878527869E-2</c:v>
              </c:pt>
              <c:pt idx="6">
                <c:v>3.947002087852787E-2</c:v>
              </c:pt>
              <c:pt idx="7">
                <c:v>4.015002087852787E-2</c:v>
              </c:pt>
              <c:pt idx="8">
                <c:v>4.0040020878527871E-2</c:v>
              </c:pt>
              <c:pt idx="9">
                <c:v>3.9410020878527872E-2</c:v>
              </c:pt>
              <c:pt idx="10">
                <c:v>3.8900020878527869E-2</c:v>
              </c:pt>
            </c:numLit>
          </c:val>
          <c:smooth val="0"/>
          <c:extLst>
            <c:ext xmlns:c16="http://schemas.microsoft.com/office/drawing/2014/chart" uri="{C3380CC4-5D6E-409C-BE32-E72D297353CC}">
              <c16:uniqueId val="{00000001-AD8C-498E-AF70-179704AB04CA}"/>
            </c:ext>
          </c:extLst>
        </c:ser>
        <c:ser>
          <c:idx val="2"/>
          <c:order val="2"/>
          <c:tx>
            <c:v>Conservative Scenario</c:v>
          </c:tx>
          <c:spPr>
            <a:ln w="28575">
              <a:solidFill>
                <a:srgbClr val="A08000"/>
              </a:solidFill>
            </a:ln>
          </c:spPr>
          <c:marker>
            <c:symbol val="circle"/>
            <c:size val="6"/>
            <c:spPr>
              <a:solidFill>
                <a:srgbClr val="A08000"/>
              </a:solidFill>
              <a:ln>
                <a:solidFill>
                  <a:srgbClr val="A08000"/>
                </a:solidFill>
              </a:ln>
            </c:spPr>
          </c:marker>
          <c:cat>
            <c:strLit>
              <c:ptCount val="11"/>
              <c:pt idx="0">
                <c:v>2026</c:v>
              </c:pt>
              <c:pt idx="1">
                <c:v>2027</c:v>
              </c:pt>
              <c:pt idx="2">
                <c:v>2028</c:v>
              </c:pt>
              <c:pt idx="3">
                <c:v>2029</c:v>
              </c:pt>
              <c:pt idx="4">
                <c:v>2030</c:v>
              </c:pt>
              <c:pt idx="5">
                <c:v>2031</c:v>
              </c:pt>
              <c:pt idx="6">
                <c:v>2032</c:v>
              </c:pt>
              <c:pt idx="7">
                <c:v>2033</c:v>
              </c:pt>
              <c:pt idx="8">
                <c:v>2034</c:v>
              </c:pt>
              <c:pt idx="9">
                <c:v>2035</c:v>
              </c:pt>
              <c:pt idx="10">
                <c:v>2036</c:v>
              </c:pt>
            </c:strLit>
          </c:cat>
          <c:val>
            <c:numLit>
              <c:formatCode>General</c:formatCode>
              <c:ptCount val="11"/>
              <c:pt idx="0">
                <c:v>2.5968034121936365E-2</c:v>
              </c:pt>
              <c:pt idx="1">
                <c:v>2.7488034121936365E-2</c:v>
              </c:pt>
              <c:pt idx="2">
                <c:v>3.0838034121936364E-2</c:v>
              </c:pt>
              <c:pt idx="3">
                <c:v>3.3888034121936368E-2</c:v>
              </c:pt>
              <c:pt idx="4">
                <c:v>3.3218034121936364E-2</c:v>
              </c:pt>
              <c:pt idx="5">
                <c:v>3.0698034121936363E-2</c:v>
              </c:pt>
              <c:pt idx="6">
                <c:v>2.9248034121936363E-2</c:v>
              </c:pt>
              <c:pt idx="7">
                <c:v>3.1128034121936363E-2</c:v>
              </c:pt>
              <c:pt idx="8">
                <c:v>3.0558034121936369E-2</c:v>
              </c:pt>
              <c:pt idx="9">
                <c:v>2.8868034121936365E-2</c:v>
              </c:pt>
              <c:pt idx="10">
                <c:v>2.6698034121936366E-2</c:v>
              </c:pt>
            </c:numLit>
          </c:val>
          <c:smooth val="0"/>
          <c:extLst>
            <c:ext xmlns:c16="http://schemas.microsoft.com/office/drawing/2014/chart" uri="{C3380CC4-5D6E-409C-BE32-E72D297353CC}">
              <c16:uniqueId val="{00000002-AD8C-498E-AF70-179704AB04CA}"/>
            </c:ext>
          </c:extLst>
        </c:ser>
        <c:dLbls>
          <c:showLegendKey val="0"/>
          <c:showVal val="0"/>
          <c:showCatName val="0"/>
          <c:showSerName val="0"/>
          <c:showPercent val="0"/>
          <c:showBubbleSize val="0"/>
        </c:dLbls>
        <c:marker val="1"/>
        <c:smooth val="0"/>
        <c:axId val="2118791784"/>
        <c:axId val="2140495176"/>
      </c:lineChart>
      <c:catAx>
        <c:axId val="2118791784"/>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40495176"/>
        <c:crosses val="autoZero"/>
        <c:auto val="1"/>
        <c:lblAlgn val="ctr"/>
        <c:lblOffset val="100"/>
        <c:tickLblSkip val="1"/>
        <c:tickMarkSkip val="1"/>
        <c:noMultiLvlLbl val="0"/>
      </c:catAx>
      <c:valAx>
        <c:axId val="2140495176"/>
        <c:scaling>
          <c:orientation val="minMax"/>
          <c:min val="0"/>
        </c:scaling>
        <c:delete val="0"/>
        <c:axPos val="l"/>
        <c:numFmt formatCode="0.00%" sourceLinked="0"/>
        <c:majorTickMark val="out"/>
        <c:minorTickMark val="none"/>
        <c:tickLblPos val="nextTo"/>
        <c:spPr>
          <a:ln>
            <a:solidFill>
              <a:srgbClr val="C6D5E1"/>
            </a:solidFill>
          </a:ln>
        </c:spPr>
        <c:txPr>
          <a:bodyPr/>
          <a:lstStyle/>
          <a:p>
            <a:pPr>
              <a:defRPr sz="1100"/>
            </a:pPr>
            <a:endParaRPr lang="en-US"/>
          </a:p>
        </c:txPr>
        <c:crossAx val="2118791784"/>
        <c:crosses val="autoZero"/>
        <c:crossBetween val="between"/>
      </c:valAx>
    </c:plotArea>
    <c:legend>
      <c:legendPos val="b"/>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U.S.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316-426E-A733-9FEB8A0A8627}"/>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316-426E-A733-9FEB8A0A862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72.527362104475799</c:v>
              </c:pt>
              <c:pt idx="1">
                <c:v>71.118395356137356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F316-426E-A733-9FEB8A0A8627}"/>
            </c:ext>
          </c:extLst>
        </c:ser>
        <c:ser>
          <c:idx val="1"/>
          <c:order val="1"/>
          <c:tx>
            <c:v>Canada</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316-426E-A733-9FEB8A0A8627}"/>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316-426E-A733-9FEB8A0A862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27.472637895524194</c:v>
              </c:pt>
              <c:pt idx="1">
                <c:v>28.881604643862641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F316-426E-A733-9FEB8A0A862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U.S.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46B-45BE-BCAD-A23A6337AFD7}"/>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46B-45BE-BCAD-A23A6337AFD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68.935795454545456</c:v>
              </c:pt>
              <c:pt idx="1">
                <c:v>67.425367032516732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546B-45BE-BCAD-A23A6337AFD7}"/>
            </c:ext>
          </c:extLst>
        </c:ser>
        <c:ser>
          <c:idx val="1"/>
          <c:order val="1"/>
          <c:tx>
            <c:v>Canada</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46B-45BE-BCAD-A23A6337AFD7}"/>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46B-45BE-BCAD-A23A6337AFD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2026</c:v>
              </c:pt>
              <c:pt idx="1">
                <c:v>2036</c:v>
              </c:pt>
            </c:strLit>
          </c:cat>
          <c:val>
            <c:numLit>
              <c:formatCode>General</c:formatCode>
              <c:ptCount val="2"/>
              <c:pt idx="0">
                <c:v>31.064204545454547</c:v>
              </c:pt>
              <c:pt idx="1">
                <c:v>32.574632967483268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546B-45BE-BCAD-A23A6337AFD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U.S.</c:v>
          </c:tx>
          <c:spPr>
            <a:solidFill>
              <a:srgbClr val="3D85C6"/>
            </a:solidFill>
            <a:ln>
              <a:noFill/>
            </a:ln>
          </c:spPr>
          <c:invertIfNegative val="1"/>
          <c:dLbls>
            <c:dLbl>
              <c:idx val="0"/>
              <c:numFmt formatCode="&quot;MMMMMMMMM&quot;;&quot;MMMMMMMMM&quot;;&quot;MMMM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76A-4022-B06E-47F8BAAA8A77}"/>
                </c:ext>
              </c:extLst>
            </c:dLbl>
            <c:dLbl>
              <c:idx val="1"/>
              <c:numFmt formatCode="&quot;MMMMMMMMM&quot;;&quot;MMMMMMMMM&quot;;&quot;MMMM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76A-4022-B06E-47F8BAAA8A77}"/>
                </c:ext>
              </c:extLst>
            </c:dLbl>
            <c:dLbl>
              <c:idx val="2"/>
              <c:numFmt formatCode="&quot;MMMMMMMMM&quot;;&quot;MMMMMMMMM&quot;;&quot;MMMM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76A-4022-B06E-47F8BAAA8A77}"/>
                </c:ext>
              </c:extLst>
            </c:dLbl>
            <c:dLbl>
              <c:idx val="3"/>
              <c:numFmt formatCode="&quot;MMMMMMMMM&quot;;&quot;MMMMMMMMM&quot;;&quot;MMMM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76A-4022-B06E-47F8BAAA8A77}"/>
                </c:ext>
              </c:extLst>
            </c:dLbl>
            <c:dLbl>
              <c:idx val="4"/>
              <c:numFmt formatCode="&quot;MMMMMMMMM&quot;;&quot;MMMMMMMMM&quot;;&quot;MMMM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76A-4022-B06E-47F8BAAA8A77}"/>
                </c:ext>
              </c:extLst>
            </c:dLbl>
            <c:dLbl>
              <c:idx val="5"/>
              <c:numFmt formatCode="&quot;MMMMMMMMM&quot;;&quot;MMMMMMMMM&quot;;&quot;MMMMM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76A-4022-B06E-47F8BAAA8A77}"/>
                </c:ext>
              </c:extLst>
            </c:dLbl>
            <c:dLbl>
              <c:idx val="6"/>
              <c:numFmt formatCode="&quot;MMMMMMMMM&quot;;&quot;MMMMMMMMM&quot;;&quot;MMMMM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76A-4022-B06E-47F8BAAA8A77}"/>
                </c:ext>
              </c:extLst>
            </c:dLbl>
            <c:dLbl>
              <c:idx val="7"/>
              <c:numFmt formatCode="&quot;MMMMMMMMM&quot;;&quot;MMMMMMMMM&quot;;&quot;MMMMM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76A-4022-B06E-47F8BAAA8A77}"/>
                </c:ext>
              </c:extLst>
            </c:dLbl>
            <c:dLbl>
              <c:idx val="8"/>
              <c:numFmt formatCode="&quot;MMMMMMMMM&quot;;&quot;MMMMMMMMM&quot;;&quot;MMMMM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76A-4022-B06E-47F8BAAA8A77}"/>
                </c:ext>
              </c:extLst>
            </c:dLbl>
            <c:dLbl>
              <c:idx val="9"/>
              <c:numFmt formatCode="&quot;MMMMMMMMM&quot;;&quot;MMMMMMMMM&quot;;&quot;MMMM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76A-4022-B06E-47F8BAAA8A77}"/>
                </c:ext>
              </c:extLst>
            </c:dLbl>
            <c:dLbl>
              <c:idx val="10"/>
              <c:numFmt formatCode="&quot;MMMMMMMMMMM&quot;;&quot;MMMMMMMMMMM&quot;;&quot;MMMMMMM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976A-4022-B06E-47F8BAAA8A77}"/>
                </c:ext>
              </c:extLst>
            </c:dLbl>
            <c:dLbl>
              <c:idx val="11"/>
              <c:numFmt formatCode="&quot;MMMMMMMMMMM&quot;;&quot;MMMMMMMMMMM&quot;;&quot;MMMMMMM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976A-4022-B06E-47F8BAAA8A77}"/>
                </c:ext>
              </c:extLst>
            </c:dLbl>
            <c:dLbl>
              <c:idx val="12"/>
              <c:numFmt formatCode="&quot;MMMMMMMMMMM&quot;;&quot;MMMMMMMMMMM&quot;;&quot;MMMMMMM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976A-4022-B06E-47F8BAAA8A77}"/>
                </c:ext>
              </c:extLst>
            </c:dLbl>
            <c:dLbl>
              <c:idx val="13"/>
              <c:numFmt formatCode="&quot;MMMMMMMMMMM&quot;;&quot;MMMMMMMMMMM&quot;;&quot;MMMMMMM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976A-4022-B06E-47F8BAAA8A77}"/>
                </c:ext>
              </c:extLst>
            </c:dLbl>
            <c:dLbl>
              <c:idx val="14"/>
              <c:numFmt formatCode="&quot;MMMMMMMMMMM&quot;;&quot;MMMMMMMMMMM&quot;;&quot;MMMMMMMM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976A-4022-B06E-47F8BAAA8A77}"/>
                </c:ext>
              </c:extLst>
            </c:dLbl>
            <c:dLbl>
              <c:idx val="15"/>
              <c:numFmt formatCode="&quot;MMMMMMMMMMM&quot;;&quot;MMMMMMMMMMM&quot;;&quot;MMMMMMMM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976A-4022-B06E-47F8BAAA8A77}"/>
                </c:ext>
              </c:extLst>
            </c:dLbl>
            <c:numFmt formatCode="#,##0.0,,&quot;M&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769620.04</c:v>
              </c:pt>
              <c:pt idx="1">
                <c:v>787395.69700000004</c:v>
              </c:pt>
              <c:pt idx="2">
                <c:v>805581.91099999996</c:v>
              </c:pt>
              <c:pt idx="3">
                <c:v>824188.16700000002</c:v>
              </c:pt>
              <c:pt idx="4">
                <c:v>843224.16500000004</c:v>
              </c:pt>
              <c:pt idx="5">
                <c:v>862699.83100000001</c:v>
              </c:pt>
              <c:pt idx="6">
                <c:v>889478.94299999997</c:v>
              </c:pt>
              <c:pt idx="7">
                <c:v>917089.30799999996</c:v>
              </c:pt>
              <c:pt idx="8">
                <c:v>945556.72699999996</c:v>
              </c:pt>
              <c:pt idx="9">
                <c:v>974907.804</c:v>
              </c:pt>
              <c:pt idx="10">
                <c:v>1005169.971</c:v>
              </c:pt>
              <c:pt idx="11">
                <c:v>1036371.5060000001</c:v>
              </c:pt>
              <c:pt idx="12">
                <c:v>1068541.571</c:v>
              </c:pt>
              <c:pt idx="13">
                <c:v>1101710.2279999999</c:v>
              </c:pt>
              <c:pt idx="14">
                <c:v>1135908.4750000001</c:v>
              </c:pt>
              <c:pt idx="15">
                <c:v>1171168.2709999999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0-976A-4022-B06E-47F8BAAA8A77}"/>
            </c:ext>
          </c:extLst>
        </c:ser>
        <c:ser>
          <c:idx val="1"/>
          <c:order val="1"/>
          <c:tx>
            <c:v>Canada</c:v>
          </c:tx>
          <c:spPr>
            <a:solidFill>
              <a:srgbClr val="9E7E0A"/>
            </a:solidFill>
            <a:ln>
              <a:noFill/>
            </a:ln>
          </c:spPr>
          <c:invertIfNegative val="1"/>
          <c:dLbls>
            <c:dLbl>
              <c:idx val="0"/>
              <c:numFmt formatCode="&quot;MMMMMMMMM&quot;;&quot;MMMMMMMMM&quot;;&quot;MMMMMM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976A-4022-B06E-47F8BAAA8A77}"/>
                </c:ext>
              </c:extLst>
            </c:dLbl>
            <c:dLbl>
              <c:idx val="1"/>
              <c:numFmt formatCode="&quot;MMMMMMMMM&quot;;&quot;MMMMMMMMM&quot;;&quot;MMMMMM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976A-4022-B06E-47F8BAAA8A77}"/>
                </c:ext>
              </c:extLst>
            </c:dLbl>
            <c:dLbl>
              <c:idx val="2"/>
              <c:numFmt formatCode="&quot;MMMMMMMMM&quot;;&quot;MMMMMMMMM&quot;;&quot;MMMMMMMMM&quot;" sourceLinked="0"/>
              <c:spPr>
                <a:blipFill>
                  <a:blip xmlns:r="http://schemas.openxmlformats.org/officeDocument/2006/relationships"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976A-4022-B06E-47F8BAAA8A77}"/>
                </c:ext>
              </c:extLst>
            </c:dLbl>
            <c:dLbl>
              <c:idx val="3"/>
              <c:numFmt formatCode="&quot;MMMMMMMMM&quot;;&quot;MMMMMMMMM&quot;;&quot;MMMMMMMMM&quot;" sourceLinked="0"/>
              <c:spPr>
                <a:blipFill>
                  <a:blip xmlns:r="http://schemas.openxmlformats.org/officeDocument/2006/relationships"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976A-4022-B06E-47F8BAAA8A77}"/>
                </c:ext>
              </c:extLst>
            </c:dLbl>
            <c:dLbl>
              <c:idx val="4"/>
              <c:numFmt formatCode="&quot;MMMMMMMMM&quot;;&quot;MMMMMMMMM&quot;;&quot;MMMMMMMMM&quot;" sourceLinked="0"/>
              <c:spPr>
                <a:blipFill>
                  <a:blip xmlns:r="http://schemas.openxmlformats.org/officeDocument/2006/relationships"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976A-4022-B06E-47F8BAAA8A77}"/>
                </c:ext>
              </c:extLst>
            </c:dLbl>
            <c:dLbl>
              <c:idx val="5"/>
              <c:numFmt formatCode="&quot;MMMMMMMMM&quot;;&quot;MMMMMMMMM&quot;;&quot;MMMMMMMMM&quot;" sourceLinked="0"/>
              <c:spPr>
                <a:blipFill>
                  <a:blip xmlns:r="http://schemas.openxmlformats.org/officeDocument/2006/relationships"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976A-4022-B06E-47F8BAAA8A77}"/>
                </c:ext>
              </c:extLst>
            </c:dLbl>
            <c:dLbl>
              <c:idx val="6"/>
              <c:numFmt formatCode="&quot;MMMMMMMMM&quot;;&quot;MMMMMMMMM&quot;;&quot;MMMMMMMMM&quot;" sourceLinked="0"/>
              <c:spPr>
                <a:blipFill>
                  <a:blip xmlns:r="http://schemas.openxmlformats.org/officeDocument/2006/relationships"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976A-4022-B06E-47F8BAAA8A77}"/>
                </c:ext>
              </c:extLst>
            </c:dLbl>
            <c:dLbl>
              <c:idx val="7"/>
              <c:numFmt formatCode="&quot;MMMMMMMMM&quot;;&quot;MMMMMMMMM&quot;;&quot;MMMMMMMMM&quot;" sourceLinked="0"/>
              <c:spPr>
                <a:blipFill>
                  <a:blip xmlns:r="http://schemas.openxmlformats.org/officeDocument/2006/relationships"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976A-4022-B06E-47F8BAAA8A77}"/>
                </c:ext>
              </c:extLst>
            </c:dLbl>
            <c:dLbl>
              <c:idx val="8"/>
              <c:numFmt formatCode="&quot;MMMMMMMMM&quot;;&quot;MMMMMMMMM&quot;;&quot;MMMMMMMMM&quot;" sourceLinked="0"/>
              <c:spPr>
                <a:blipFill>
                  <a:blip xmlns:r="http://schemas.openxmlformats.org/officeDocument/2006/relationships"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976A-4022-B06E-47F8BAAA8A77}"/>
                </c:ext>
              </c:extLst>
            </c:dLbl>
            <c:dLbl>
              <c:idx val="9"/>
              <c:numFmt formatCode="&quot;MMMMMMMMM&quot;;&quot;MMMMMMMMM&quot;;&quot;MMMMMMMMM&quot;" sourceLinked="0"/>
              <c:spPr>
                <a:blipFill>
                  <a:blip xmlns:r="http://schemas.openxmlformats.org/officeDocument/2006/relationships"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976A-4022-B06E-47F8BAAA8A77}"/>
                </c:ext>
              </c:extLst>
            </c:dLbl>
            <c:dLbl>
              <c:idx val="10"/>
              <c:numFmt formatCode="&quot;MMMMMMMMM&quot;;&quot;MMMMMMMMM&quot;;&quot;MMMMMMMMM&quot;" sourceLinked="0"/>
              <c:spPr>
                <a:blipFill>
                  <a:blip xmlns:r="http://schemas.openxmlformats.org/officeDocument/2006/relationships"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976A-4022-B06E-47F8BAAA8A77}"/>
                </c:ext>
              </c:extLst>
            </c:dLbl>
            <c:dLbl>
              <c:idx val="11"/>
              <c:numFmt formatCode="&quot;MMMMMMMMM&quot;;&quot;MMMMMMMMM&quot;;&quot;MMMMMMMMM&quot;" sourceLinked="0"/>
              <c:spPr>
                <a:blipFill>
                  <a:blip xmlns:r="http://schemas.openxmlformats.org/officeDocument/2006/relationships"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976A-4022-B06E-47F8BAAA8A77}"/>
                </c:ext>
              </c:extLst>
            </c:dLbl>
            <c:dLbl>
              <c:idx val="12"/>
              <c:numFmt formatCode="&quot;MMMMMMMMM&quot;;&quot;MMMMMMMMM&quot;;&quot;MMMMMMMMM&quot;" sourceLinked="0"/>
              <c:spPr>
                <a:blipFill>
                  <a:blip xmlns:r="http://schemas.openxmlformats.org/officeDocument/2006/relationships"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D-976A-4022-B06E-47F8BAAA8A77}"/>
                </c:ext>
              </c:extLst>
            </c:dLbl>
            <c:dLbl>
              <c:idx val="13"/>
              <c:numFmt formatCode="&quot;MMMMMMMMM&quot;;&quot;MMMMMMMMM&quot;;&quot;MMMMMMMMM&quot;" sourceLinked="0"/>
              <c:spPr>
                <a:blipFill>
                  <a:blip xmlns:r="http://schemas.openxmlformats.org/officeDocument/2006/relationships"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976A-4022-B06E-47F8BAAA8A77}"/>
                </c:ext>
              </c:extLst>
            </c:dLbl>
            <c:dLbl>
              <c:idx val="14"/>
              <c:numFmt formatCode="&quot;MMMMMMMMM&quot;;&quot;MMMMMMMMM&quot;;&quot;MMMMMMMMM&quot;" sourceLinked="0"/>
              <c:spPr>
                <a:blipFill>
                  <a:blip xmlns:r="http://schemas.openxmlformats.org/officeDocument/2006/relationships"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F-976A-4022-B06E-47F8BAAA8A77}"/>
                </c:ext>
              </c:extLst>
            </c:dLbl>
            <c:dLbl>
              <c:idx val="15"/>
              <c:numFmt formatCode="&quot;MMMMMMMMM&quot;;&quot;MMMMMMMMM&quot;;&quot;MMMMMMMMM&quot;" sourceLinked="0"/>
              <c:spPr>
                <a:blipFill>
                  <a:blip xmlns:r="http://schemas.openxmlformats.org/officeDocument/2006/relationships"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0-976A-4022-B06E-47F8BAAA8A77}"/>
                </c:ext>
              </c:extLst>
            </c:dLbl>
            <c:numFmt formatCode="#,##0.0,,&quot;M&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281473.429</c:v>
              </c:pt>
              <c:pt idx="1">
                <c:v>290002.38</c:v>
              </c:pt>
              <c:pt idx="2">
                <c:v>298789.76699999999</c:v>
              </c:pt>
              <c:pt idx="3">
                <c:v>307843.42200000002</c:v>
              </c:pt>
              <c:pt idx="4">
                <c:v>317171.41200000001</c:v>
              </c:pt>
              <c:pt idx="5">
                <c:v>326782.05</c:v>
              </c:pt>
              <c:pt idx="6">
                <c:v>339279.98499999999</c:v>
              </c:pt>
              <c:pt idx="7">
                <c:v>352255.91</c:v>
              </c:pt>
              <c:pt idx="8">
                <c:v>365728.10499999998</c:v>
              </c:pt>
              <c:pt idx="9">
                <c:v>379715.55</c:v>
              </c:pt>
              <c:pt idx="10">
                <c:v>394237.95199999999</c:v>
              </c:pt>
              <c:pt idx="11">
                <c:v>409315.77100000001</c:v>
              </c:pt>
              <c:pt idx="12">
                <c:v>424970.24699999997</c:v>
              </c:pt>
              <c:pt idx="13">
                <c:v>441223.43699999998</c:v>
              </c:pt>
              <c:pt idx="14">
                <c:v>458098.23700000002</c:v>
              </c:pt>
              <c:pt idx="15">
                <c:v>475618.42200000002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21-976A-4022-B06E-47F8BAAA8A7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quot;M&quot;"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U.S.</c:v>
          </c:tx>
          <c:spPr>
            <a:solidFill>
              <a:srgbClr val="3D85C6"/>
            </a:solidFill>
            <a:ln>
              <a:noFill/>
            </a:ln>
          </c:spPr>
          <c:invertIfNegative val="1"/>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605-4BB7-96AD-83714625101C}"/>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605-4BB7-96AD-83714625101C}"/>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605-4BB7-96AD-83714625101C}"/>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605-4BB7-96AD-83714625101C}"/>
                </c:ext>
              </c:extLst>
            </c:dLbl>
            <c:dLbl>
              <c:idx val="4"/>
              <c:numFmt formatCode="&quot;MMMMM&quot;;&quot;MMMMM&quot;;&quot;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605-4BB7-96AD-83714625101C}"/>
                </c:ext>
              </c:extLst>
            </c:dLbl>
            <c:dLbl>
              <c:idx val="5"/>
              <c:numFmt formatCode="&quot;MMMMM&quot;;&quot;MMMMM&quot;;&quot;M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605-4BB7-96AD-83714625101C}"/>
                </c:ext>
              </c:extLst>
            </c:dLbl>
            <c:dLbl>
              <c:idx val="6"/>
              <c:numFmt formatCode="&quot;MMMMM&quot;;&quot;MMMMM&quot;;&quot;M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605-4BB7-96AD-83714625101C}"/>
                </c:ext>
              </c:extLst>
            </c:dLbl>
            <c:dLbl>
              <c:idx val="7"/>
              <c:numFmt formatCode="&quot;MMMMM&quot;;&quot;MMMMM&quot;;&quot;M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605-4BB7-96AD-83714625101C}"/>
                </c:ext>
              </c:extLst>
            </c:dLbl>
            <c:dLbl>
              <c:idx val="8"/>
              <c:numFmt formatCode="&quot;MMMMM&quot;;&quot;MMMMM&quot;;&quot;M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605-4BB7-96AD-83714625101C}"/>
                </c:ext>
              </c:extLst>
            </c:dLbl>
            <c:dLbl>
              <c:idx val="9"/>
              <c:numFmt formatCode="&quot;MMMMM&quot;;&quot;MMMMM&quot;;&quot;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605-4BB7-96AD-83714625101C}"/>
                </c:ext>
              </c:extLst>
            </c:dLbl>
            <c:dLbl>
              <c:idx val="10"/>
              <c:numFmt formatCode="&quot;MMMMM&quot;;&quot;MMMMM&quot;;&quot;M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605-4BB7-96AD-83714625101C}"/>
                </c:ext>
              </c:extLst>
            </c:dLbl>
            <c:dLbl>
              <c:idx val="11"/>
              <c:numFmt formatCode="&quot;MMMMM&quot;;&quot;MMMMM&quot;;&quot;M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605-4BB7-96AD-83714625101C}"/>
                </c:ext>
              </c:extLst>
            </c:dLbl>
            <c:dLbl>
              <c:idx val="12"/>
              <c:numFmt formatCode="&quot;MMMMM&quot;;&quot;MMMMM&quot;;&quot;M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605-4BB7-96AD-83714625101C}"/>
                </c:ext>
              </c:extLst>
            </c:dLbl>
            <c:dLbl>
              <c:idx val="13"/>
              <c:numFmt formatCode="&quot;MMMMM&quot;;&quot;MMMMM&quot;;&quot;M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605-4BB7-96AD-83714625101C}"/>
                </c:ext>
              </c:extLst>
            </c:dLbl>
            <c:dLbl>
              <c:idx val="14"/>
              <c:numFmt formatCode="&quot;MMMMMMM&quot;;&quot;MMMMMMM&quot;;&quot;MMMM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605-4BB7-96AD-83714625101C}"/>
                </c:ext>
              </c:extLst>
            </c:dLbl>
            <c:dLbl>
              <c:idx val="15"/>
              <c:numFmt formatCode="&quot;MMMMMMM&quot;;&quot;MMMMMMM&quot;;&quot;MMMM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3605-4BB7-96AD-83714625101C}"/>
                </c:ext>
              </c:extLst>
            </c:dLbl>
            <c:numFmt formatCode="#,##0"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627.15899999999999</c:v>
              </c:pt>
              <c:pt idx="1">
                <c:v>646.13599999999997</c:v>
              </c:pt>
              <c:pt idx="2">
                <c:v>665.68700000000001</c:v>
              </c:pt>
              <c:pt idx="3">
                <c:v>685.83</c:v>
              </c:pt>
              <c:pt idx="4">
                <c:v>706.58199999999999</c:v>
              </c:pt>
              <c:pt idx="5">
                <c:v>727.96199999999999</c:v>
              </c:pt>
              <c:pt idx="6">
                <c:v>755.81299999999999</c:v>
              </c:pt>
              <c:pt idx="7">
                <c:v>784.72900000000004</c:v>
              </c:pt>
              <c:pt idx="8">
                <c:v>814.75099999999998</c:v>
              </c:pt>
              <c:pt idx="9">
                <c:v>845.92200000000003</c:v>
              </c:pt>
              <c:pt idx="10">
                <c:v>878.28599999999994</c:v>
              </c:pt>
              <c:pt idx="11">
                <c:v>911.88800000000003</c:v>
              </c:pt>
              <c:pt idx="12">
                <c:v>946.77499999999998</c:v>
              </c:pt>
              <c:pt idx="13">
                <c:v>982.99699999999996</c:v>
              </c:pt>
              <c:pt idx="14">
                <c:v>1020.605</c:v>
              </c:pt>
              <c:pt idx="15">
                <c:v>1059.6510000000001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0-3605-4BB7-96AD-83714625101C}"/>
            </c:ext>
          </c:extLst>
        </c:ser>
        <c:ser>
          <c:idx val="1"/>
          <c:order val="1"/>
          <c:tx>
            <c:v>Canada</c:v>
          </c:tx>
          <c:spPr>
            <a:solidFill>
              <a:srgbClr val="9E7E0A"/>
            </a:solidFill>
            <a:ln>
              <a:noFill/>
            </a:ln>
          </c:spPr>
          <c:invertIfNegative val="1"/>
          <c:dLbls>
            <c:dLbl>
              <c:idx val="0"/>
              <c:numFmt formatCode="&quot;MMMMM&quot;;&quot;MMMMM&quot;;&quot;MM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3605-4BB7-96AD-83714625101C}"/>
                </c:ext>
              </c:extLst>
            </c:dLbl>
            <c:dLbl>
              <c:idx val="1"/>
              <c:numFmt formatCode="&quot;MMMMM&quot;;&quot;MMMMM&quot;;&quot;MM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3605-4BB7-96AD-83714625101C}"/>
                </c:ext>
              </c:extLst>
            </c:dLbl>
            <c:dLbl>
              <c:idx val="2"/>
              <c:numFmt formatCode="&quot;MMMMM&quot;;&quot;MMMMM&quot;;&quot;MMMMM&quot;" sourceLinked="0"/>
              <c:spPr>
                <a:blipFill>
                  <a:blip xmlns:r="http://schemas.openxmlformats.org/officeDocument/2006/relationships"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3605-4BB7-96AD-83714625101C}"/>
                </c:ext>
              </c:extLst>
            </c:dLbl>
            <c:dLbl>
              <c:idx val="3"/>
              <c:numFmt formatCode="&quot;MMMMM&quot;;&quot;MMMMM&quot;;&quot;MMMMM&quot;" sourceLinked="0"/>
              <c:spPr>
                <a:blipFill>
                  <a:blip xmlns:r="http://schemas.openxmlformats.org/officeDocument/2006/relationships"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3605-4BB7-96AD-83714625101C}"/>
                </c:ext>
              </c:extLst>
            </c:dLbl>
            <c:dLbl>
              <c:idx val="4"/>
              <c:numFmt formatCode="&quot;MMMMM&quot;;&quot;MMMMM&quot;;&quot;MMMMM&quot;" sourceLinked="0"/>
              <c:spPr>
                <a:blipFill>
                  <a:blip xmlns:r="http://schemas.openxmlformats.org/officeDocument/2006/relationships"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3605-4BB7-96AD-83714625101C}"/>
                </c:ext>
              </c:extLst>
            </c:dLbl>
            <c:dLbl>
              <c:idx val="5"/>
              <c:numFmt formatCode="&quot;MMMMM&quot;;&quot;MMMMM&quot;;&quot;MMMMM&quot;" sourceLinked="0"/>
              <c:spPr>
                <a:blipFill>
                  <a:blip xmlns:r="http://schemas.openxmlformats.org/officeDocument/2006/relationships"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3605-4BB7-96AD-83714625101C}"/>
                </c:ext>
              </c:extLst>
            </c:dLbl>
            <c:dLbl>
              <c:idx val="6"/>
              <c:numFmt formatCode="&quot;MMMMM&quot;;&quot;MMMMM&quot;;&quot;MMMMM&quot;" sourceLinked="0"/>
              <c:spPr>
                <a:blipFill>
                  <a:blip xmlns:r="http://schemas.openxmlformats.org/officeDocument/2006/relationships"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3605-4BB7-96AD-83714625101C}"/>
                </c:ext>
              </c:extLst>
            </c:dLbl>
            <c:dLbl>
              <c:idx val="7"/>
              <c:numFmt formatCode="&quot;MMMMM&quot;;&quot;MMMMM&quot;;&quot;MMMMM&quot;" sourceLinked="0"/>
              <c:spPr>
                <a:blipFill>
                  <a:blip xmlns:r="http://schemas.openxmlformats.org/officeDocument/2006/relationships"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3605-4BB7-96AD-83714625101C}"/>
                </c:ext>
              </c:extLst>
            </c:dLbl>
            <c:dLbl>
              <c:idx val="8"/>
              <c:numFmt formatCode="&quot;MMMMM&quot;;&quot;MMMMM&quot;;&quot;MMMMM&quot;" sourceLinked="0"/>
              <c:spPr>
                <a:blipFill>
                  <a:blip xmlns:r="http://schemas.openxmlformats.org/officeDocument/2006/relationships"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3605-4BB7-96AD-83714625101C}"/>
                </c:ext>
              </c:extLst>
            </c:dLbl>
            <c:dLbl>
              <c:idx val="9"/>
              <c:numFmt formatCode="&quot;MMMMM&quot;;&quot;MMMMM&quot;;&quot;MMMMM&quot;" sourceLinked="0"/>
              <c:spPr>
                <a:blipFill>
                  <a:blip xmlns:r="http://schemas.openxmlformats.org/officeDocument/2006/relationships"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3605-4BB7-96AD-83714625101C}"/>
                </c:ext>
              </c:extLst>
            </c:dLbl>
            <c:dLbl>
              <c:idx val="10"/>
              <c:numFmt formatCode="&quot;MMMMM&quot;;&quot;MMMMM&quot;;&quot;MMMMM&quot;" sourceLinked="0"/>
              <c:spPr>
                <a:blipFill>
                  <a:blip xmlns:r="http://schemas.openxmlformats.org/officeDocument/2006/relationships"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3605-4BB7-96AD-83714625101C}"/>
                </c:ext>
              </c:extLst>
            </c:dLbl>
            <c:dLbl>
              <c:idx val="11"/>
              <c:numFmt formatCode="&quot;MMMMM&quot;;&quot;MMMMM&quot;;&quot;MMMMM&quot;" sourceLinked="0"/>
              <c:spPr>
                <a:blipFill>
                  <a:blip xmlns:r="http://schemas.openxmlformats.org/officeDocument/2006/relationships"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3605-4BB7-96AD-83714625101C}"/>
                </c:ext>
              </c:extLst>
            </c:dLbl>
            <c:dLbl>
              <c:idx val="12"/>
              <c:numFmt formatCode="&quot;MMMMM&quot;;&quot;MMMMM&quot;;&quot;MMMMM&quot;" sourceLinked="0"/>
              <c:spPr>
                <a:blipFill>
                  <a:blip xmlns:r="http://schemas.openxmlformats.org/officeDocument/2006/relationships"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D-3605-4BB7-96AD-83714625101C}"/>
                </c:ext>
              </c:extLst>
            </c:dLbl>
            <c:dLbl>
              <c:idx val="13"/>
              <c:numFmt formatCode="&quot;MMMMM&quot;;&quot;MMMMM&quot;;&quot;MMMMM&quot;" sourceLinked="0"/>
              <c:spPr>
                <a:blipFill>
                  <a:blip xmlns:r="http://schemas.openxmlformats.org/officeDocument/2006/relationships"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3605-4BB7-96AD-83714625101C}"/>
                </c:ext>
              </c:extLst>
            </c:dLbl>
            <c:dLbl>
              <c:idx val="14"/>
              <c:numFmt formatCode="&quot;MMMMM&quot;;&quot;MMMMM&quot;;&quot;MMMMM&quot;" sourceLinked="0"/>
              <c:spPr>
                <a:blipFill>
                  <a:blip xmlns:r="http://schemas.openxmlformats.org/officeDocument/2006/relationships"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F-3605-4BB7-96AD-83714625101C}"/>
                </c:ext>
              </c:extLst>
            </c:dLbl>
            <c:dLbl>
              <c:idx val="15"/>
              <c:numFmt formatCode="&quot;MMMMM&quot;;&quot;MMMMM&quot;;&quot;MMMMM&quot;" sourceLinked="0"/>
              <c:spPr>
                <a:blipFill>
                  <a:blip xmlns:r="http://schemas.openxmlformats.org/officeDocument/2006/relationships"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0-3605-4BB7-96AD-83714625101C}"/>
                </c:ext>
              </c:extLst>
            </c:dLbl>
            <c:numFmt formatCode="#,##0"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272.87</c:v>
              </c:pt>
              <c:pt idx="1">
                <c:v>283.10599999999999</c:v>
              </c:pt>
              <c:pt idx="2">
                <c:v>293.72699999999998</c:v>
              </c:pt>
              <c:pt idx="3">
                <c:v>304.745</c:v>
              </c:pt>
              <c:pt idx="4">
                <c:v>316.17700000000002</c:v>
              </c:pt>
              <c:pt idx="5">
                <c:v>328.03800000000001</c:v>
              </c:pt>
              <c:pt idx="6">
                <c:v>342.96800000000002</c:v>
              </c:pt>
              <c:pt idx="7">
                <c:v>358.57799999999997</c:v>
              </c:pt>
              <c:pt idx="8">
                <c:v>374.89800000000002</c:v>
              </c:pt>
              <c:pt idx="9">
                <c:v>391.96</c:v>
              </c:pt>
              <c:pt idx="10">
                <c:v>409.8</c:v>
              </c:pt>
              <c:pt idx="11">
                <c:v>428.45100000000002</c:v>
              </c:pt>
              <c:pt idx="12">
                <c:v>447.95100000000002</c:v>
              </c:pt>
              <c:pt idx="13">
                <c:v>468.339</c:v>
              </c:pt>
              <c:pt idx="14">
                <c:v>489.65499999999997</c:v>
              </c:pt>
              <c:pt idx="15">
                <c:v>511.94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21-3605-4BB7-96AD-83714625101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Slotted (Interlocking Grid) Partitions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8DF-44A2-BBCB-A7A747EB6CBC}"/>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8DF-44A2-BBCB-A7A747EB6CB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12.721412665546744</c:v>
              </c:pt>
              <c:pt idx="1">
                <c:v>14.930576199144809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B8DF-44A2-BBCB-A7A747EB6CBC}"/>
            </c:ext>
          </c:extLst>
        </c:ser>
        <c:ser>
          <c:idx val="1"/>
          <c:order val="1"/>
          <c:tx>
            <c:v>Die-Cut &amp; Folded Partitions (H-dividers, tube/cell inserts)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8DF-44A2-BBCB-A7A747EB6CBC}"/>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8DF-44A2-BBCB-A7A747EB6CB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27.964409891784193</c:v>
              </c:pt>
              <c:pt idx="1">
                <c:v>28.542793806640109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B8DF-44A2-BBCB-A7A747EB6CBC}"/>
            </c:ext>
          </c:extLst>
        </c:ser>
        <c:ser>
          <c:idx val="2"/>
          <c:order val="2"/>
          <c:tx>
            <c:v>Flat Dividers &amp; Layer Pads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8DF-44A2-BBCB-A7A747EB6CBC}"/>
                </c:ext>
              </c:extLst>
            </c:dLbl>
            <c:dLbl>
              <c:idx val="1"/>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8DF-44A2-BBCB-A7A747EB6CB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59.314177442669056</c:v>
              </c:pt>
              <c:pt idx="1">
                <c:v>56.526629994215071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8-B8DF-44A2-BBCB-A7A747EB6CB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Slotted (Interlocking Grid) Partitions</c:v>
          </c:tx>
          <c:spPr>
            <a:solidFill>
              <a:srgbClr val="3D85C6"/>
            </a:solidFill>
          </c:spPr>
          <c:invertIfNegative val="0"/>
          <c:xVal>
            <c:numLit>
              <c:formatCode>General</c:formatCode>
              <c:ptCount val="1"/>
              <c:pt idx="0">
                <c:v>88.62462500692962</c:v>
              </c:pt>
            </c:numLit>
          </c:xVal>
          <c:yVal>
            <c:numLit>
              <c:formatCode>General</c:formatCode>
              <c:ptCount val="1"/>
              <c:pt idx="0">
                <c:v>44.570170454545462</c:v>
              </c:pt>
            </c:numLit>
          </c:yVal>
          <c:bubbleSize>
            <c:numLit>
              <c:formatCode>General</c:formatCode>
              <c:ptCount val="1"/>
              <c:pt idx="0">
                <c:v>223.33799999999999</c:v>
              </c:pt>
            </c:numLit>
          </c:bubbleSize>
          <c:bubble3D val="0"/>
          <c:extLst>
            <c:ext xmlns:c16="http://schemas.microsoft.com/office/drawing/2014/chart" uri="{C3380CC4-5D6E-409C-BE32-E72D297353CC}">
              <c16:uniqueId val="{00000000-0D03-487A-8803-9B26B167C044}"/>
            </c:ext>
          </c:extLst>
        </c:ser>
        <c:ser>
          <c:idx val="1"/>
          <c:order val="1"/>
          <c:tx>
            <c:v>Die-Cut &amp; Folded Partitions (H-dividers, tube/cell inserts)</c:v>
          </c:tx>
          <c:spPr>
            <a:solidFill>
              <a:srgbClr val="9E7E0A"/>
            </a:solidFill>
          </c:spPr>
          <c:invertIfNegative val="0"/>
          <c:xVal>
            <c:numLit>
              <c:formatCode>General</c:formatCode>
              <c:ptCount val="1"/>
              <c:pt idx="0">
                <c:v>66.908939961121789</c:v>
              </c:pt>
            </c:numLit>
          </c:xVal>
          <c:yVal>
            <c:numLit>
              <c:formatCode>General</c:formatCode>
              <c:ptCount val="1"/>
              <c:pt idx="0">
                <c:v>96.855681818181822</c:v>
              </c:pt>
            </c:numLit>
          </c:yVal>
          <c:bubbleSize>
            <c:numLit>
              <c:formatCode>General</c:formatCode>
              <c:ptCount val="1"/>
              <c:pt idx="0">
                <c:v>445.61500000000001</c:v>
              </c:pt>
            </c:numLit>
          </c:bubbleSize>
          <c:bubble3D val="0"/>
          <c:extLst>
            <c:ext xmlns:c16="http://schemas.microsoft.com/office/drawing/2014/chart" uri="{C3380CC4-5D6E-409C-BE32-E72D297353CC}">
              <c16:uniqueId val="{00000001-0D03-487A-8803-9B26B167C044}"/>
            </c:ext>
          </c:extLst>
        </c:ser>
        <c:ser>
          <c:idx val="2"/>
          <c:order val="2"/>
          <c:tx>
            <c:v>Flat Dividers &amp; Layer Pads</c:v>
          </c:tx>
          <c:spPr>
            <a:solidFill>
              <a:srgbClr val="008189"/>
            </a:solidFill>
          </c:spPr>
          <c:invertIfNegative val="0"/>
          <c:xVal>
            <c:numLit>
              <c:formatCode>General</c:formatCode>
              <c:ptCount val="1"/>
              <c:pt idx="0">
                <c:v>121.39142868790019</c:v>
              </c:pt>
            </c:numLit>
          </c:xVal>
          <c:yVal>
            <c:numLit>
              <c:formatCode>General</c:formatCode>
              <c:ptCount val="1"/>
              <c:pt idx="0">
                <c:v>158.57414772727273</c:v>
              </c:pt>
            </c:numLit>
          </c:yVal>
          <c:bubbleSize>
            <c:numLit>
              <c:formatCode>General</c:formatCode>
              <c:ptCount val="1"/>
              <c:pt idx="0">
                <c:v>902.63800000000003</c:v>
              </c:pt>
            </c:numLit>
          </c:bubbleSize>
          <c:bubble3D val="0"/>
          <c:extLst>
            <c:ext xmlns:c16="http://schemas.microsoft.com/office/drawing/2014/chart" uri="{C3380CC4-5D6E-409C-BE32-E72D297353CC}">
              <c16:uniqueId val="{00000002-0D03-487A-8803-9B26B167C044}"/>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
          <c:min val="50"/>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200"/>
          <c:min val="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156.887</c:v>
              </c:pt>
              <c:pt idx="2">
                <c:v>168.172</c:v>
              </c:pt>
              <c:pt idx="3">
                <c:v>180.38499999999999</c:v>
              </c:pt>
              <c:pt idx="4">
                <c:v>193.596</c:v>
              </c:pt>
              <c:pt idx="5">
                <c:v>207.88499999999999</c:v>
              </c:pt>
              <c:pt idx="6">
                <c:v>0</c:v>
              </c:pt>
            </c:numLit>
          </c:val>
          <c:extLst>
            <c:ext xmlns:c16="http://schemas.microsoft.com/office/drawing/2014/chart" uri="{C3380CC4-5D6E-409C-BE32-E72D297353CC}">
              <c16:uniqueId val="{00000000-7D02-4B24-98BD-72E6E30ED9AD}"/>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7D02-4B24-98BD-72E6E30ED9AD}"/>
              </c:ext>
            </c:extLst>
          </c:dPt>
          <c:dPt>
            <c:idx val="1"/>
            <c:invertIfNegative val="1"/>
            <c:bubble3D val="0"/>
            <c:spPr>
              <a:solidFill>
                <a:srgbClr val="008189"/>
              </a:solidFill>
            </c:spPr>
            <c:extLst>
              <c:ext xmlns:c16="http://schemas.microsoft.com/office/drawing/2014/chart" uri="{C3380CC4-5D6E-409C-BE32-E72D297353CC}">
                <c16:uniqueId val="{00000004-7D02-4B24-98BD-72E6E30ED9AD}"/>
              </c:ext>
            </c:extLst>
          </c:dPt>
          <c:dPt>
            <c:idx val="2"/>
            <c:invertIfNegative val="1"/>
            <c:bubble3D val="0"/>
            <c:spPr>
              <a:solidFill>
                <a:srgbClr val="008189"/>
              </a:solidFill>
            </c:spPr>
            <c:extLst>
              <c:ext xmlns:c16="http://schemas.microsoft.com/office/drawing/2014/chart" uri="{C3380CC4-5D6E-409C-BE32-E72D297353CC}">
                <c16:uniqueId val="{00000006-7D02-4B24-98BD-72E6E30ED9AD}"/>
              </c:ext>
            </c:extLst>
          </c:dPt>
          <c:dPt>
            <c:idx val="3"/>
            <c:invertIfNegative val="1"/>
            <c:bubble3D val="0"/>
            <c:spPr>
              <a:solidFill>
                <a:srgbClr val="008189"/>
              </a:solidFill>
            </c:spPr>
            <c:extLst>
              <c:ext xmlns:c16="http://schemas.microsoft.com/office/drawing/2014/chart" uri="{C3380CC4-5D6E-409C-BE32-E72D297353CC}">
                <c16:uniqueId val="{00000008-7D02-4B24-98BD-72E6E30ED9AD}"/>
              </c:ext>
            </c:extLst>
          </c:dPt>
          <c:dPt>
            <c:idx val="4"/>
            <c:invertIfNegative val="1"/>
            <c:bubble3D val="0"/>
            <c:spPr>
              <a:solidFill>
                <a:srgbClr val="008189"/>
              </a:solidFill>
            </c:spPr>
            <c:extLst>
              <c:ext xmlns:c16="http://schemas.microsoft.com/office/drawing/2014/chart" uri="{C3380CC4-5D6E-409C-BE32-E72D297353CC}">
                <c16:uniqueId val="{0000000A-7D02-4B24-98BD-72E6E30ED9AD}"/>
              </c:ext>
            </c:extLst>
          </c:dPt>
          <c:dPt>
            <c:idx val="5"/>
            <c:invertIfNegative val="1"/>
            <c:bubble3D val="0"/>
            <c:spPr>
              <a:solidFill>
                <a:srgbClr val="008189"/>
              </a:solidFill>
            </c:spPr>
            <c:extLst>
              <c:ext xmlns:c16="http://schemas.microsoft.com/office/drawing/2014/chart" uri="{C3380CC4-5D6E-409C-BE32-E72D297353CC}">
                <c16:uniqueId val="{0000000C-7D02-4B24-98BD-72E6E30ED9AD}"/>
              </c:ext>
            </c:extLst>
          </c:dPt>
          <c:dPt>
            <c:idx val="6"/>
            <c:invertIfNegative val="1"/>
            <c:bubble3D val="0"/>
            <c:spPr>
              <a:solidFill>
                <a:srgbClr val="0E72AE"/>
              </a:solidFill>
            </c:spPr>
            <c:extLst>
              <c:ext xmlns:c16="http://schemas.microsoft.com/office/drawing/2014/chart" uri="{C3380CC4-5D6E-409C-BE32-E72D297353CC}">
                <c16:uniqueId val="{0000000E-7D02-4B24-98BD-72E6E30ED9AD}"/>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D02-4B24-98BD-72E6E30ED9AD}"/>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D02-4B24-98BD-72E6E30ED9AD}"/>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D02-4B24-98BD-72E6E30ED9AD}"/>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D02-4B24-98BD-72E6E30ED9AD}"/>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D02-4B24-98BD-72E6E30ED9AD}"/>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D02-4B24-98BD-72E6E30ED9AD}"/>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7D02-4B24-98BD-72E6E30ED9AD}"/>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156.887</c:v>
              </c:pt>
              <c:pt idx="1">
                <c:v>11.284999999999997</c:v>
              </c:pt>
              <c:pt idx="2">
                <c:v>12.212999999999994</c:v>
              </c:pt>
              <c:pt idx="3">
                <c:v>13.211000000000013</c:v>
              </c:pt>
              <c:pt idx="4">
                <c:v>14.288999999999987</c:v>
              </c:pt>
              <c:pt idx="5">
                <c:v>15.453000000000003</c:v>
              </c:pt>
              <c:pt idx="6">
                <c:v>223.33799999999999</c:v>
              </c:pt>
            </c:numLit>
          </c:val>
          <c:extLst>
            <c:ext xmlns:c16="http://schemas.microsoft.com/office/drawing/2014/chart" uri="{C3380CC4-5D6E-409C-BE32-E72D297353CC}">
              <c16:uniqueId val="{0000000F-7D02-4B24-98BD-72E6E30ED9AD}"/>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340.93200000000002</c:v>
              </c:pt>
              <c:pt idx="2">
                <c:v>358.79899999999998</c:v>
              </c:pt>
              <c:pt idx="3">
                <c:v>378.10300000000001</c:v>
              </c:pt>
              <c:pt idx="4">
                <c:v>398.93900000000002</c:v>
              </c:pt>
              <c:pt idx="5">
                <c:v>421.40600000000001</c:v>
              </c:pt>
              <c:pt idx="6">
                <c:v>0</c:v>
              </c:pt>
            </c:numLit>
          </c:val>
          <c:extLst>
            <c:ext xmlns:c16="http://schemas.microsoft.com/office/drawing/2014/chart" uri="{C3380CC4-5D6E-409C-BE32-E72D297353CC}">
              <c16:uniqueId val="{00000000-2C97-47DC-82F7-445B7516E745}"/>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2C97-47DC-82F7-445B7516E745}"/>
              </c:ext>
            </c:extLst>
          </c:dPt>
          <c:dPt>
            <c:idx val="1"/>
            <c:invertIfNegative val="1"/>
            <c:bubble3D val="0"/>
            <c:spPr>
              <a:solidFill>
                <a:srgbClr val="008189"/>
              </a:solidFill>
            </c:spPr>
            <c:extLst>
              <c:ext xmlns:c16="http://schemas.microsoft.com/office/drawing/2014/chart" uri="{C3380CC4-5D6E-409C-BE32-E72D297353CC}">
                <c16:uniqueId val="{00000004-2C97-47DC-82F7-445B7516E745}"/>
              </c:ext>
            </c:extLst>
          </c:dPt>
          <c:dPt>
            <c:idx val="2"/>
            <c:invertIfNegative val="1"/>
            <c:bubble3D val="0"/>
            <c:spPr>
              <a:solidFill>
                <a:srgbClr val="008189"/>
              </a:solidFill>
            </c:spPr>
            <c:extLst>
              <c:ext xmlns:c16="http://schemas.microsoft.com/office/drawing/2014/chart" uri="{C3380CC4-5D6E-409C-BE32-E72D297353CC}">
                <c16:uniqueId val="{00000006-2C97-47DC-82F7-445B7516E745}"/>
              </c:ext>
            </c:extLst>
          </c:dPt>
          <c:dPt>
            <c:idx val="3"/>
            <c:invertIfNegative val="1"/>
            <c:bubble3D val="0"/>
            <c:spPr>
              <a:solidFill>
                <a:srgbClr val="008189"/>
              </a:solidFill>
            </c:spPr>
            <c:extLst>
              <c:ext xmlns:c16="http://schemas.microsoft.com/office/drawing/2014/chart" uri="{C3380CC4-5D6E-409C-BE32-E72D297353CC}">
                <c16:uniqueId val="{00000008-2C97-47DC-82F7-445B7516E745}"/>
              </c:ext>
            </c:extLst>
          </c:dPt>
          <c:dPt>
            <c:idx val="4"/>
            <c:invertIfNegative val="1"/>
            <c:bubble3D val="0"/>
            <c:spPr>
              <a:solidFill>
                <a:srgbClr val="008189"/>
              </a:solidFill>
            </c:spPr>
            <c:extLst>
              <c:ext xmlns:c16="http://schemas.microsoft.com/office/drawing/2014/chart" uri="{C3380CC4-5D6E-409C-BE32-E72D297353CC}">
                <c16:uniqueId val="{0000000A-2C97-47DC-82F7-445B7516E745}"/>
              </c:ext>
            </c:extLst>
          </c:dPt>
          <c:dPt>
            <c:idx val="5"/>
            <c:invertIfNegative val="1"/>
            <c:bubble3D val="0"/>
            <c:spPr>
              <a:solidFill>
                <a:srgbClr val="008189"/>
              </a:solidFill>
            </c:spPr>
            <c:extLst>
              <c:ext xmlns:c16="http://schemas.microsoft.com/office/drawing/2014/chart" uri="{C3380CC4-5D6E-409C-BE32-E72D297353CC}">
                <c16:uniqueId val="{0000000C-2C97-47DC-82F7-445B7516E745}"/>
              </c:ext>
            </c:extLst>
          </c:dPt>
          <c:dPt>
            <c:idx val="6"/>
            <c:invertIfNegative val="1"/>
            <c:bubble3D val="0"/>
            <c:spPr>
              <a:solidFill>
                <a:srgbClr val="0E72AE"/>
              </a:solidFill>
            </c:spPr>
            <c:extLst>
              <c:ext xmlns:c16="http://schemas.microsoft.com/office/drawing/2014/chart" uri="{C3380CC4-5D6E-409C-BE32-E72D297353CC}">
                <c16:uniqueId val="{0000000E-2C97-47DC-82F7-445B7516E745}"/>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C97-47DC-82F7-445B7516E745}"/>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C97-47DC-82F7-445B7516E745}"/>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C97-47DC-82F7-445B7516E745}"/>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C97-47DC-82F7-445B7516E745}"/>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C97-47DC-82F7-445B7516E745}"/>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C97-47DC-82F7-445B7516E745}"/>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C97-47DC-82F7-445B7516E745}"/>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340.93200000000002</c:v>
              </c:pt>
              <c:pt idx="1">
                <c:v>17.866999999999962</c:v>
              </c:pt>
              <c:pt idx="2">
                <c:v>19.30400000000003</c:v>
              </c:pt>
              <c:pt idx="3">
                <c:v>20.836000000000013</c:v>
              </c:pt>
              <c:pt idx="4">
                <c:v>22.466999999999985</c:v>
              </c:pt>
              <c:pt idx="5">
                <c:v>24.209000000000003</c:v>
              </c:pt>
              <c:pt idx="6">
                <c:v>445.61500000000001</c:v>
              </c:pt>
            </c:numLit>
          </c:val>
          <c:extLst>
            <c:ext xmlns:c16="http://schemas.microsoft.com/office/drawing/2014/chart" uri="{C3380CC4-5D6E-409C-BE32-E72D297353CC}">
              <c16:uniqueId val="{0000000F-2C97-47DC-82F7-445B7516E745}"/>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558.18100000000004</c:v>
              </c:pt>
              <c:pt idx="2">
                <c:v>616.33600000000001</c:v>
              </c:pt>
              <c:pt idx="3">
                <c:v>679.39400000000001</c:v>
              </c:pt>
              <c:pt idx="4">
                <c:v>747.80399999999997</c:v>
              </c:pt>
              <c:pt idx="5">
                <c:v>822.04499999999996</c:v>
              </c:pt>
              <c:pt idx="6">
                <c:v>0</c:v>
              </c:pt>
            </c:numLit>
          </c:val>
          <c:extLst>
            <c:ext xmlns:c16="http://schemas.microsoft.com/office/drawing/2014/chart" uri="{C3380CC4-5D6E-409C-BE32-E72D297353CC}">
              <c16:uniqueId val="{00000000-CB0B-4095-9D2E-7EBDC65D7B6C}"/>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CB0B-4095-9D2E-7EBDC65D7B6C}"/>
              </c:ext>
            </c:extLst>
          </c:dPt>
          <c:dPt>
            <c:idx val="1"/>
            <c:invertIfNegative val="1"/>
            <c:bubble3D val="0"/>
            <c:spPr>
              <a:solidFill>
                <a:srgbClr val="008189"/>
              </a:solidFill>
            </c:spPr>
            <c:extLst>
              <c:ext xmlns:c16="http://schemas.microsoft.com/office/drawing/2014/chart" uri="{C3380CC4-5D6E-409C-BE32-E72D297353CC}">
                <c16:uniqueId val="{00000004-CB0B-4095-9D2E-7EBDC65D7B6C}"/>
              </c:ext>
            </c:extLst>
          </c:dPt>
          <c:dPt>
            <c:idx val="2"/>
            <c:invertIfNegative val="1"/>
            <c:bubble3D val="0"/>
            <c:spPr>
              <a:solidFill>
                <a:srgbClr val="008189"/>
              </a:solidFill>
            </c:spPr>
            <c:extLst>
              <c:ext xmlns:c16="http://schemas.microsoft.com/office/drawing/2014/chart" uri="{C3380CC4-5D6E-409C-BE32-E72D297353CC}">
                <c16:uniqueId val="{00000006-CB0B-4095-9D2E-7EBDC65D7B6C}"/>
              </c:ext>
            </c:extLst>
          </c:dPt>
          <c:dPt>
            <c:idx val="3"/>
            <c:invertIfNegative val="1"/>
            <c:bubble3D val="0"/>
            <c:spPr>
              <a:solidFill>
                <a:srgbClr val="008189"/>
              </a:solidFill>
            </c:spPr>
            <c:extLst>
              <c:ext xmlns:c16="http://schemas.microsoft.com/office/drawing/2014/chart" uri="{C3380CC4-5D6E-409C-BE32-E72D297353CC}">
                <c16:uniqueId val="{00000008-CB0B-4095-9D2E-7EBDC65D7B6C}"/>
              </c:ext>
            </c:extLst>
          </c:dPt>
          <c:dPt>
            <c:idx val="4"/>
            <c:invertIfNegative val="1"/>
            <c:bubble3D val="0"/>
            <c:spPr>
              <a:solidFill>
                <a:srgbClr val="008189"/>
              </a:solidFill>
            </c:spPr>
            <c:extLst>
              <c:ext xmlns:c16="http://schemas.microsoft.com/office/drawing/2014/chart" uri="{C3380CC4-5D6E-409C-BE32-E72D297353CC}">
                <c16:uniqueId val="{0000000A-CB0B-4095-9D2E-7EBDC65D7B6C}"/>
              </c:ext>
            </c:extLst>
          </c:dPt>
          <c:dPt>
            <c:idx val="5"/>
            <c:invertIfNegative val="1"/>
            <c:bubble3D val="0"/>
            <c:spPr>
              <a:solidFill>
                <a:srgbClr val="008189"/>
              </a:solidFill>
            </c:spPr>
            <c:extLst>
              <c:ext xmlns:c16="http://schemas.microsoft.com/office/drawing/2014/chart" uri="{C3380CC4-5D6E-409C-BE32-E72D297353CC}">
                <c16:uniqueId val="{0000000C-CB0B-4095-9D2E-7EBDC65D7B6C}"/>
              </c:ext>
            </c:extLst>
          </c:dPt>
          <c:dPt>
            <c:idx val="6"/>
            <c:invertIfNegative val="1"/>
            <c:bubble3D val="0"/>
            <c:spPr>
              <a:solidFill>
                <a:srgbClr val="0E72AE"/>
              </a:solidFill>
            </c:spPr>
            <c:extLst>
              <c:ext xmlns:c16="http://schemas.microsoft.com/office/drawing/2014/chart" uri="{C3380CC4-5D6E-409C-BE32-E72D297353CC}">
                <c16:uniqueId val="{0000000E-CB0B-4095-9D2E-7EBDC65D7B6C}"/>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B0B-4095-9D2E-7EBDC65D7B6C}"/>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B0B-4095-9D2E-7EBDC65D7B6C}"/>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B0B-4095-9D2E-7EBDC65D7B6C}"/>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B0B-4095-9D2E-7EBDC65D7B6C}"/>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B0B-4095-9D2E-7EBDC65D7B6C}"/>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B0B-4095-9D2E-7EBDC65D7B6C}"/>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B0B-4095-9D2E-7EBDC65D7B6C}"/>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558.18100000000004</c:v>
              </c:pt>
              <c:pt idx="1">
                <c:v>58.154999999999973</c:v>
              </c:pt>
              <c:pt idx="2">
                <c:v>63.057999999999993</c:v>
              </c:pt>
              <c:pt idx="3">
                <c:v>68.409999999999968</c:v>
              </c:pt>
              <c:pt idx="4">
                <c:v>74.240999999999985</c:v>
              </c:pt>
              <c:pt idx="5">
                <c:v>80.593000000000075</c:v>
              </c:pt>
              <c:pt idx="6">
                <c:v>902.63800000000003</c:v>
              </c:pt>
            </c:numLit>
          </c:val>
          <c:extLst>
            <c:ext xmlns:c16="http://schemas.microsoft.com/office/drawing/2014/chart" uri="{C3380CC4-5D6E-409C-BE32-E72D297353CC}">
              <c16:uniqueId val="{0000000F-CB0B-4095-9D2E-7EBDC65D7B6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Flat Dividers &amp; Layer Pads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E37-46DF-896E-E17E94DDC2B3}"/>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E37-46DF-896E-E17E94DDC2B3}"/>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E37-46DF-896E-E17E94DDC2B3}"/>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49.843838365208235</c:v>
              </c:pt>
              <c:pt idx="1">
                <c:v>52.858049242424244</c:v>
              </c:pt>
              <c:pt idx="2">
                <c:v>57.434663344343406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BE37-46DF-896E-E17E94DDC2B3}"/>
            </c:ext>
          </c:extLst>
        </c:ser>
        <c:ser>
          <c:idx val="1"/>
          <c:order val="1"/>
          <c:tx>
            <c:v>Die-Cut &amp; Folded Partitions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E37-46DF-896E-E17E94DDC2B3}"/>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E37-46DF-896E-E17E94DDC2B3}"/>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E37-46DF-896E-E17E94DDC2B3}"/>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34.878209479916755</c:v>
              </c:pt>
              <c:pt idx="1">
                <c:v>32.285227272727276</c:v>
              </c:pt>
              <c:pt idx="2">
                <c:v>28.354387369232832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BE37-46DF-896E-E17E94DDC2B3}"/>
            </c:ext>
          </c:extLst>
        </c:ser>
        <c:ser>
          <c:idx val="2"/>
          <c:order val="2"/>
          <c:tx>
            <c:v>Slotted (Interlocking Grid) Partitions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E37-46DF-896E-E17E94DDC2B3}"/>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E37-46DF-896E-E17E94DDC2B3}"/>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E37-46DF-896E-E17E94DDC2B3}"/>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15.27795215487501</c:v>
              </c:pt>
              <c:pt idx="1">
                <c:v>14.856723484848485</c:v>
              </c:pt>
              <c:pt idx="2">
                <c:v>14.210949286423757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BE37-46DF-896E-E17E94DDC2B3}"/>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Single Wall</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536-4075-8692-E3F0625EFC18}"/>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536-4075-8692-E3F0625EFC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15.596358948314256</c:v>
              </c:pt>
              <c:pt idx="1">
                <c:v>18.905847302555276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F536-4075-8692-E3F0625EFC18}"/>
            </c:ext>
          </c:extLst>
        </c:ser>
        <c:ser>
          <c:idx val="1"/>
          <c:order val="1"/>
          <c:tx>
            <c:v>Double Wall</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536-4075-8692-E3F0625EFC18}"/>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536-4075-8692-E3F0625EFC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45.109973825057629</c:v>
              </c:pt>
              <c:pt idx="1">
                <c:v>41.70826054993578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F536-4075-8692-E3F0625EFC18}"/>
            </c:ext>
          </c:extLst>
        </c:ser>
        <c:ser>
          <c:idx val="2"/>
          <c:order val="2"/>
          <c:tx>
            <c:v>Triple Wall</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536-4075-8692-E3F0625EFC18}"/>
                </c:ext>
              </c:extLst>
            </c:dLbl>
            <c:dLbl>
              <c:idx val="1"/>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536-4075-8692-E3F0625EFC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39.293667226628124</c:v>
              </c:pt>
              <c:pt idx="1">
                <c:v>39.385892147508947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8-F536-4075-8692-E3F0625EFC18}"/>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Single Wall</c:v>
          </c:tx>
          <c:spPr>
            <a:solidFill>
              <a:srgbClr val="3D85C6"/>
            </a:solidFill>
          </c:spPr>
          <c:invertIfNegative val="0"/>
          <c:xVal>
            <c:numLit>
              <c:formatCode>General</c:formatCode>
              <c:ptCount val="1"/>
              <c:pt idx="0">
                <c:v>67.088177762787652</c:v>
              </c:pt>
            </c:numLit>
          </c:xVal>
          <c:yVal>
            <c:numLit>
              <c:formatCode>General</c:formatCode>
              <c:ptCount val="1"/>
              <c:pt idx="0">
                <c:v>60.85482954545455</c:v>
              </c:pt>
            </c:numLit>
          </c:yVal>
          <c:bubbleSize>
            <c:numLit>
              <c:formatCode>General</c:formatCode>
              <c:ptCount val="1"/>
              <c:pt idx="0">
                <c:v>280.18</c:v>
              </c:pt>
            </c:numLit>
          </c:bubbleSize>
          <c:bubble3D val="0"/>
          <c:extLst>
            <c:ext xmlns:c16="http://schemas.microsoft.com/office/drawing/2014/chart" uri="{C3380CC4-5D6E-409C-BE32-E72D297353CC}">
              <c16:uniqueId val="{00000000-8C48-4D7F-9B58-A08AEF8F1FF9}"/>
            </c:ext>
          </c:extLst>
        </c:ser>
        <c:ser>
          <c:idx val="1"/>
          <c:order val="1"/>
          <c:tx>
            <c:v>Double Wall</c:v>
          </c:tx>
          <c:spPr>
            <a:solidFill>
              <a:srgbClr val="9E7E0A"/>
            </a:solidFill>
          </c:spPr>
          <c:invertIfNegative val="0"/>
          <c:xVal>
            <c:numLit>
              <c:formatCode>General</c:formatCode>
              <c:ptCount val="1"/>
              <c:pt idx="0">
                <c:v>105.32498186646227</c:v>
              </c:pt>
            </c:numLit>
          </c:xVal>
          <c:yVal>
            <c:numLit>
              <c:formatCode>General</c:formatCode>
              <c:ptCount val="1"/>
              <c:pt idx="0">
                <c:v>125.81306818181821</c:v>
              </c:pt>
            </c:numLit>
          </c:yVal>
          <c:bubbleSize>
            <c:numLit>
              <c:formatCode>General</c:formatCode>
              <c:ptCount val="1"/>
              <c:pt idx="0">
                <c:v>672.89800000000002</c:v>
              </c:pt>
            </c:numLit>
          </c:bubbleSize>
          <c:bubble3D val="0"/>
          <c:extLst>
            <c:ext xmlns:c16="http://schemas.microsoft.com/office/drawing/2014/chart" uri="{C3380CC4-5D6E-409C-BE32-E72D297353CC}">
              <c16:uniqueId val="{00000001-8C48-4D7F-9B58-A08AEF8F1FF9}"/>
            </c:ext>
          </c:extLst>
        </c:ser>
        <c:ser>
          <c:idx val="2"/>
          <c:order val="2"/>
          <c:tx>
            <c:v>Triple Wall</c:v>
          </c:tx>
          <c:spPr>
            <a:solidFill>
              <a:srgbClr val="008189"/>
            </a:solidFill>
          </c:spPr>
          <c:invertIfNegative val="0"/>
          <c:xVal>
            <c:numLit>
              <c:formatCode>General</c:formatCode>
              <c:ptCount val="1"/>
              <c:pt idx="0">
                <c:v>110.52293032503218</c:v>
              </c:pt>
            </c:numLit>
          </c:xVal>
          <c:yVal>
            <c:numLit>
              <c:formatCode>General</c:formatCode>
              <c:ptCount val="1"/>
              <c:pt idx="0">
                <c:v>113.33210227272727</c:v>
              </c:pt>
            </c:numLit>
          </c:yVal>
          <c:bubbleSize>
            <c:numLit>
              <c:formatCode>General</c:formatCode>
              <c:ptCount val="1"/>
              <c:pt idx="0">
                <c:v>618.51300000000003</c:v>
              </c:pt>
            </c:numLit>
          </c:bubbleSize>
          <c:bubble3D val="0"/>
          <c:extLst>
            <c:ext xmlns:c16="http://schemas.microsoft.com/office/drawing/2014/chart" uri="{C3380CC4-5D6E-409C-BE32-E72D297353CC}">
              <c16:uniqueId val="{00000002-8C48-4D7F-9B58-A08AEF8F1FF9}"/>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
          <c:min val="55"/>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175"/>
          <c:min val="25"/>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214.209</c:v>
              </c:pt>
              <c:pt idx="2">
                <c:v>225.892</c:v>
              </c:pt>
              <c:pt idx="3">
                <c:v>238.285</c:v>
              </c:pt>
              <c:pt idx="4">
                <c:v>251.43299999999999</c:v>
              </c:pt>
              <c:pt idx="5">
                <c:v>265.38</c:v>
              </c:pt>
              <c:pt idx="6">
                <c:v>0</c:v>
              </c:pt>
            </c:numLit>
          </c:val>
          <c:extLst>
            <c:ext xmlns:c16="http://schemas.microsoft.com/office/drawing/2014/chart" uri="{C3380CC4-5D6E-409C-BE32-E72D297353CC}">
              <c16:uniqueId val="{00000000-66F4-466A-9B55-79891B98B3D7}"/>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66F4-466A-9B55-79891B98B3D7}"/>
              </c:ext>
            </c:extLst>
          </c:dPt>
          <c:dPt>
            <c:idx val="1"/>
            <c:invertIfNegative val="1"/>
            <c:bubble3D val="0"/>
            <c:spPr>
              <a:solidFill>
                <a:srgbClr val="008189"/>
              </a:solidFill>
            </c:spPr>
            <c:extLst>
              <c:ext xmlns:c16="http://schemas.microsoft.com/office/drawing/2014/chart" uri="{C3380CC4-5D6E-409C-BE32-E72D297353CC}">
                <c16:uniqueId val="{00000004-66F4-466A-9B55-79891B98B3D7}"/>
              </c:ext>
            </c:extLst>
          </c:dPt>
          <c:dPt>
            <c:idx val="2"/>
            <c:invertIfNegative val="1"/>
            <c:bubble3D val="0"/>
            <c:spPr>
              <a:solidFill>
                <a:srgbClr val="008189"/>
              </a:solidFill>
            </c:spPr>
            <c:extLst>
              <c:ext xmlns:c16="http://schemas.microsoft.com/office/drawing/2014/chart" uri="{C3380CC4-5D6E-409C-BE32-E72D297353CC}">
                <c16:uniqueId val="{00000006-66F4-466A-9B55-79891B98B3D7}"/>
              </c:ext>
            </c:extLst>
          </c:dPt>
          <c:dPt>
            <c:idx val="3"/>
            <c:invertIfNegative val="1"/>
            <c:bubble3D val="0"/>
            <c:spPr>
              <a:solidFill>
                <a:srgbClr val="008189"/>
              </a:solidFill>
            </c:spPr>
            <c:extLst>
              <c:ext xmlns:c16="http://schemas.microsoft.com/office/drawing/2014/chart" uri="{C3380CC4-5D6E-409C-BE32-E72D297353CC}">
                <c16:uniqueId val="{00000008-66F4-466A-9B55-79891B98B3D7}"/>
              </c:ext>
            </c:extLst>
          </c:dPt>
          <c:dPt>
            <c:idx val="4"/>
            <c:invertIfNegative val="1"/>
            <c:bubble3D val="0"/>
            <c:spPr>
              <a:solidFill>
                <a:srgbClr val="008189"/>
              </a:solidFill>
            </c:spPr>
            <c:extLst>
              <c:ext xmlns:c16="http://schemas.microsoft.com/office/drawing/2014/chart" uri="{C3380CC4-5D6E-409C-BE32-E72D297353CC}">
                <c16:uniqueId val="{0000000A-66F4-466A-9B55-79891B98B3D7}"/>
              </c:ext>
            </c:extLst>
          </c:dPt>
          <c:dPt>
            <c:idx val="5"/>
            <c:invertIfNegative val="1"/>
            <c:bubble3D val="0"/>
            <c:spPr>
              <a:solidFill>
                <a:srgbClr val="008189"/>
              </a:solidFill>
            </c:spPr>
            <c:extLst>
              <c:ext xmlns:c16="http://schemas.microsoft.com/office/drawing/2014/chart" uri="{C3380CC4-5D6E-409C-BE32-E72D297353CC}">
                <c16:uniqueId val="{0000000C-66F4-466A-9B55-79891B98B3D7}"/>
              </c:ext>
            </c:extLst>
          </c:dPt>
          <c:dPt>
            <c:idx val="6"/>
            <c:invertIfNegative val="1"/>
            <c:bubble3D val="0"/>
            <c:spPr>
              <a:solidFill>
                <a:srgbClr val="0E72AE"/>
              </a:solidFill>
            </c:spPr>
            <c:extLst>
              <c:ext xmlns:c16="http://schemas.microsoft.com/office/drawing/2014/chart" uri="{C3380CC4-5D6E-409C-BE32-E72D297353CC}">
                <c16:uniqueId val="{0000000E-66F4-466A-9B55-79891B98B3D7}"/>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6F4-466A-9B55-79891B98B3D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6F4-466A-9B55-79891B98B3D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6F4-466A-9B55-79891B98B3D7}"/>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6F4-466A-9B55-79891B98B3D7}"/>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6F4-466A-9B55-79891B98B3D7}"/>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6F4-466A-9B55-79891B98B3D7}"/>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6F4-466A-9B55-79891B98B3D7}"/>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214.209</c:v>
              </c:pt>
              <c:pt idx="1">
                <c:v>11.682999999999993</c:v>
              </c:pt>
              <c:pt idx="2">
                <c:v>12.393000000000001</c:v>
              </c:pt>
              <c:pt idx="3">
                <c:v>13.147999999999996</c:v>
              </c:pt>
              <c:pt idx="4">
                <c:v>13.947000000000003</c:v>
              </c:pt>
              <c:pt idx="5">
                <c:v>14.800000000000011</c:v>
              </c:pt>
              <c:pt idx="6">
                <c:v>280.18</c:v>
              </c:pt>
            </c:numLit>
          </c:val>
          <c:extLst>
            <c:ext xmlns:c16="http://schemas.microsoft.com/office/drawing/2014/chart" uri="{C3380CC4-5D6E-409C-BE32-E72D297353CC}">
              <c16:uniqueId val="{0000000F-66F4-466A-9B55-79891B98B3D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442.86200000000002</c:v>
              </c:pt>
              <c:pt idx="2">
                <c:v>481.62599999999998</c:v>
              </c:pt>
              <c:pt idx="3">
                <c:v>523.71400000000006</c:v>
              </c:pt>
              <c:pt idx="4">
                <c:v>569.41200000000003</c:v>
              </c:pt>
              <c:pt idx="5">
                <c:v>619.029</c:v>
              </c:pt>
              <c:pt idx="6">
                <c:v>0</c:v>
              </c:pt>
            </c:numLit>
          </c:val>
          <c:extLst>
            <c:ext xmlns:c16="http://schemas.microsoft.com/office/drawing/2014/chart" uri="{C3380CC4-5D6E-409C-BE32-E72D297353CC}">
              <c16:uniqueId val="{00000000-E11B-4B54-A9A1-D969B8C01687}"/>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E11B-4B54-A9A1-D969B8C01687}"/>
              </c:ext>
            </c:extLst>
          </c:dPt>
          <c:dPt>
            <c:idx val="1"/>
            <c:invertIfNegative val="1"/>
            <c:bubble3D val="0"/>
            <c:spPr>
              <a:solidFill>
                <a:srgbClr val="008189"/>
              </a:solidFill>
            </c:spPr>
            <c:extLst>
              <c:ext xmlns:c16="http://schemas.microsoft.com/office/drawing/2014/chart" uri="{C3380CC4-5D6E-409C-BE32-E72D297353CC}">
                <c16:uniqueId val="{00000004-E11B-4B54-A9A1-D969B8C01687}"/>
              </c:ext>
            </c:extLst>
          </c:dPt>
          <c:dPt>
            <c:idx val="2"/>
            <c:invertIfNegative val="1"/>
            <c:bubble3D val="0"/>
            <c:spPr>
              <a:solidFill>
                <a:srgbClr val="008189"/>
              </a:solidFill>
            </c:spPr>
            <c:extLst>
              <c:ext xmlns:c16="http://schemas.microsoft.com/office/drawing/2014/chart" uri="{C3380CC4-5D6E-409C-BE32-E72D297353CC}">
                <c16:uniqueId val="{00000006-E11B-4B54-A9A1-D969B8C01687}"/>
              </c:ext>
            </c:extLst>
          </c:dPt>
          <c:dPt>
            <c:idx val="3"/>
            <c:invertIfNegative val="1"/>
            <c:bubble3D val="0"/>
            <c:spPr>
              <a:solidFill>
                <a:srgbClr val="008189"/>
              </a:solidFill>
            </c:spPr>
            <c:extLst>
              <c:ext xmlns:c16="http://schemas.microsoft.com/office/drawing/2014/chart" uri="{C3380CC4-5D6E-409C-BE32-E72D297353CC}">
                <c16:uniqueId val="{00000008-E11B-4B54-A9A1-D969B8C01687}"/>
              </c:ext>
            </c:extLst>
          </c:dPt>
          <c:dPt>
            <c:idx val="4"/>
            <c:invertIfNegative val="1"/>
            <c:bubble3D val="0"/>
            <c:spPr>
              <a:solidFill>
                <a:srgbClr val="008189"/>
              </a:solidFill>
            </c:spPr>
            <c:extLst>
              <c:ext xmlns:c16="http://schemas.microsoft.com/office/drawing/2014/chart" uri="{C3380CC4-5D6E-409C-BE32-E72D297353CC}">
                <c16:uniqueId val="{0000000A-E11B-4B54-A9A1-D969B8C01687}"/>
              </c:ext>
            </c:extLst>
          </c:dPt>
          <c:dPt>
            <c:idx val="5"/>
            <c:invertIfNegative val="1"/>
            <c:bubble3D val="0"/>
            <c:spPr>
              <a:solidFill>
                <a:srgbClr val="008189"/>
              </a:solidFill>
            </c:spPr>
            <c:extLst>
              <c:ext xmlns:c16="http://schemas.microsoft.com/office/drawing/2014/chart" uri="{C3380CC4-5D6E-409C-BE32-E72D297353CC}">
                <c16:uniqueId val="{0000000C-E11B-4B54-A9A1-D969B8C01687}"/>
              </c:ext>
            </c:extLst>
          </c:dPt>
          <c:dPt>
            <c:idx val="6"/>
            <c:invertIfNegative val="1"/>
            <c:bubble3D val="0"/>
            <c:spPr>
              <a:solidFill>
                <a:srgbClr val="0E72AE"/>
              </a:solidFill>
            </c:spPr>
            <c:extLst>
              <c:ext xmlns:c16="http://schemas.microsoft.com/office/drawing/2014/chart" uri="{C3380CC4-5D6E-409C-BE32-E72D297353CC}">
                <c16:uniqueId val="{0000000E-E11B-4B54-A9A1-D969B8C01687}"/>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11B-4B54-A9A1-D969B8C0168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11B-4B54-A9A1-D969B8C0168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11B-4B54-A9A1-D969B8C01687}"/>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11B-4B54-A9A1-D969B8C01687}"/>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11B-4B54-A9A1-D969B8C01687}"/>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11B-4B54-A9A1-D969B8C01687}"/>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11B-4B54-A9A1-D969B8C01687}"/>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442.86200000000002</c:v>
              </c:pt>
              <c:pt idx="1">
                <c:v>38.763999999999953</c:v>
              </c:pt>
              <c:pt idx="2">
                <c:v>42.088000000000079</c:v>
              </c:pt>
              <c:pt idx="3">
                <c:v>45.697999999999979</c:v>
              </c:pt>
              <c:pt idx="4">
                <c:v>49.616999999999962</c:v>
              </c:pt>
              <c:pt idx="5">
                <c:v>53.869000000000028</c:v>
              </c:pt>
              <c:pt idx="6">
                <c:v>672.89800000000002</c:v>
              </c:pt>
            </c:numLit>
          </c:val>
          <c:extLst>
            <c:ext xmlns:c16="http://schemas.microsoft.com/office/drawing/2014/chart" uri="{C3380CC4-5D6E-409C-BE32-E72D297353CC}">
              <c16:uniqueId val="{0000000F-E11B-4B54-A9A1-D969B8C0168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398.92899999999997</c:v>
              </c:pt>
              <c:pt idx="2">
                <c:v>435.78899999999999</c:v>
              </c:pt>
              <c:pt idx="3">
                <c:v>475.88299999999998</c:v>
              </c:pt>
              <c:pt idx="4">
                <c:v>519.49400000000003</c:v>
              </c:pt>
              <c:pt idx="5">
                <c:v>566.92700000000002</c:v>
              </c:pt>
              <c:pt idx="6">
                <c:v>0</c:v>
              </c:pt>
            </c:numLit>
          </c:val>
          <c:extLst>
            <c:ext xmlns:c16="http://schemas.microsoft.com/office/drawing/2014/chart" uri="{C3380CC4-5D6E-409C-BE32-E72D297353CC}">
              <c16:uniqueId val="{00000000-2D73-46B1-B034-F7F6E9B08482}"/>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2D73-46B1-B034-F7F6E9B08482}"/>
              </c:ext>
            </c:extLst>
          </c:dPt>
          <c:dPt>
            <c:idx val="1"/>
            <c:invertIfNegative val="1"/>
            <c:bubble3D val="0"/>
            <c:spPr>
              <a:solidFill>
                <a:srgbClr val="008189"/>
              </a:solidFill>
            </c:spPr>
            <c:extLst>
              <c:ext xmlns:c16="http://schemas.microsoft.com/office/drawing/2014/chart" uri="{C3380CC4-5D6E-409C-BE32-E72D297353CC}">
                <c16:uniqueId val="{00000004-2D73-46B1-B034-F7F6E9B08482}"/>
              </c:ext>
            </c:extLst>
          </c:dPt>
          <c:dPt>
            <c:idx val="2"/>
            <c:invertIfNegative val="1"/>
            <c:bubble3D val="0"/>
            <c:spPr>
              <a:solidFill>
                <a:srgbClr val="008189"/>
              </a:solidFill>
            </c:spPr>
            <c:extLst>
              <c:ext xmlns:c16="http://schemas.microsoft.com/office/drawing/2014/chart" uri="{C3380CC4-5D6E-409C-BE32-E72D297353CC}">
                <c16:uniqueId val="{00000006-2D73-46B1-B034-F7F6E9B08482}"/>
              </c:ext>
            </c:extLst>
          </c:dPt>
          <c:dPt>
            <c:idx val="3"/>
            <c:invertIfNegative val="1"/>
            <c:bubble3D val="0"/>
            <c:spPr>
              <a:solidFill>
                <a:srgbClr val="008189"/>
              </a:solidFill>
            </c:spPr>
            <c:extLst>
              <c:ext xmlns:c16="http://schemas.microsoft.com/office/drawing/2014/chart" uri="{C3380CC4-5D6E-409C-BE32-E72D297353CC}">
                <c16:uniqueId val="{00000008-2D73-46B1-B034-F7F6E9B08482}"/>
              </c:ext>
            </c:extLst>
          </c:dPt>
          <c:dPt>
            <c:idx val="4"/>
            <c:invertIfNegative val="1"/>
            <c:bubble3D val="0"/>
            <c:spPr>
              <a:solidFill>
                <a:srgbClr val="008189"/>
              </a:solidFill>
            </c:spPr>
            <c:extLst>
              <c:ext xmlns:c16="http://schemas.microsoft.com/office/drawing/2014/chart" uri="{C3380CC4-5D6E-409C-BE32-E72D297353CC}">
                <c16:uniqueId val="{0000000A-2D73-46B1-B034-F7F6E9B08482}"/>
              </c:ext>
            </c:extLst>
          </c:dPt>
          <c:dPt>
            <c:idx val="5"/>
            <c:invertIfNegative val="1"/>
            <c:bubble3D val="0"/>
            <c:spPr>
              <a:solidFill>
                <a:srgbClr val="008189"/>
              </a:solidFill>
            </c:spPr>
            <c:extLst>
              <c:ext xmlns:c16="http://schemas.microsoft.com/office/drawing/2014/chart" uri="{C3380CC4-5D6E-409C-BE32-E72D297353CC}">
                <c16:uniqueId val="{0000000C-2D73-46B1-B034-F7F6E9B08482}"/>
              </c:ext>
            </c:extLst>
          </c:dPt>
          <c:dPt>
            <c:idx val="6"/>
            <c:invertIfNegative val="1"/>
            <c:bubble3D val="0"/>
            <c:spPr>
              <a:solidFill>
                <a:srgbClr val="0E72AE"/>
              </a:solidFill>
            </c:spPr>
            <c:extLst>
              <c:ext xmlns:c16="http://schemas.microsoft.com/office/drawing/2014/chart" uri="{C3380CC4-5D6E-409C-BE32-E72D297353CC}">
                <c16:uniqueId val="{0000000E-2D73-46B1-B034-F7F6E9B08482}"/>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D73-46B1-B034-F7F6E9B0848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D73-46B1-B034-F7F6E9B0848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D73-46B1-B034-F7F6E9B08482}"/>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D73-46B1-B034-F7F6E9B08482}"/>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D73-46B1-B034-F7F6E9B08482}"/>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D73-46B1-B034-F7F6E9B08482}"/>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D73-46B1-B034-F7F6E9B08482}"/>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398.92899999999997</c:v>
              </c:pt>
              <c:pt idx="1">
                <c:v>36.860000000000014</c:v>
              </c:pt>
              <c:pt idx="2">
                <c:v>40.093999999999994</c:v>
              </c:pt>
              <c:pt idx="3">
                <c:v>43.611000000000047</c:v>
              </c:pt>
              <c:pt idx="4">
                <c:v>47.432999999999993</c:v>
              </c:pt>
              <c:pt idx="5">
                <c:v>51.586000000000013</c:v>
              </c:pt>
              <c:pt idx="6">
                <c:v>618.51300000000003</c:v>
              </c:pt>
            </c:numLit>
          </c:val>
          <c:extLst>
            <c:ext xmlns:c16="http://schemas.microsoft.com/office/drawing/2014/chart" uri="{C3380CC4-5D6E-409C-BE32-E72D297353CC}">
              <c16:uniqueId val="{0000000F-2D73-46B1-B034-F7F6E9B08482}"/>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Double Wall</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2EA-4C58-9CD8-E92AEBE50F8F}"/>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2EA-4C58-9CD8-E92AEBE50F8F}"/>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2EA-4C58-9CD8-E92AEBE50F8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41.43677592610905</c:v>
              </c:pt>
              <c:pt idx="1">
                <c:v>41.937689393939401</c:v>
              </c:pt>
              <c:pt idx="2">
                <c:v>42.816356163912872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E2EA-4C58-9CD8-E92AEBE50F8F}"/>
            </c:ext>
          </c:extLst>
        </c:ser>
        <c:ser>
          <c:idx val="1"/>
          <c:order val="1"/>
          <c:tx>
            <c:v>Triple Wall</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2EA-4C58-9CD8-E92AEBE50F8F}"/>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2EA-4C58-9CD8-E92AEBE50F8F}"/>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2EA-4C58-9CD8-E92AEBE50F8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36.87058972544218</c:v>
              </c:pt>
              <c:pt idx="1">
                <c:v>37.777367424242421</c:v>
              </c:pt>
              <c:pt idx="2">
                <c:v>39.355850218027463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E2EA-4C58-9CD8-E92AEBE50F8F}"/>
            </c:ext>
          </c:extLst>
        </c:ser>
        <c:ser>
          <c:idx val="2"/>
          <c:order val="2"/>
          <c:tx>
            <c:v>Single Wall</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2EA-4C58-9CD8-E92AEBE50F8F}"/>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E2EA-4C58-9CD8-E92AEBE50F8F}"/>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2EA-4C58-9CD8-E92AEBE50F8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21.692634348448774</c:v>
              </c:pt>
              <c:pt idx="1">
                <c:v>20.284943181818182</c:v>
              </c:pt>
              <c:pt idx="2">
                <c:v>17.827793618059658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E2EA-4C58-9CD8-E92AEBE50F8F}"/>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Virgin Kraft Fibre-based</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A94-458E-AEC8-794796F411F4}"/>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A94-458E-AEC8-794796F411F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83.065788959643712</c:v>
              </c:pt>
              <c:pt idx="1">
                <c:v>77.230710866124781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BA94-458E-AEC8-794796F411F4}"/>
            </c:ext>
          </c:extLst>
        </c:ser>
        <c:ser>
          <c:idx val="1"/>
          <c:order val="1"/>
          <c:tx>
            <c:v>Recycled Fibre-based (testliner/recycled medium)</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A94-458E-AEC8-794796F411F4}"/>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A94-458E-AEC8-794796F411F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16.934211040356292</c:v>
              </c:pt>
              <c:pt idx="1">
                <c:v>22.769289133875208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BA94-458E-AEC8-794796F411F4}"/>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Virgin Kraft Fibre-based</c:v>
          </c:tx>
          <c:spPr>
            <a:solidFill>
              <a:srgbClr val="3D85C6"/>
            </a:solidFill>
          </c:spPr>
          <c:invertIfNegative val="0"/>
          <c:xVal>
            <c:numLit>
              <c:formatCode>General</c:formatCode>
              <c:ptCount val="1"/>
              <c:pt idx="0">
                <c:v>98.637900851030963</c:v>
              </c:pt>
            </c:numLit>
          </c:xVal>
          <c:yVal>
            <c:numLit>
              <c:formatCode>General</c:formatCode>
              <c:ptCount val="1"/>
              <c:pt idx="0">
                <c:v>159.10568181818181</c:v>
              </c:pt>
            </c:numLit>
          </c:yVal>
          <c:bubbleSize>
            <c:numLit>
              <c:formatCode>General</c:formatCode>
              <c:ptCount val="1"/>
              <c:pt idx="0">
                <c:v>1243.623</c:v>
              </c:pt>
            </c:numLit>
          </c:bubbleSize>
          <c:bubble3D val="0"/>
          <c:extLst>
            <c:ext xmlns:c16="http://schemas.microsoft.com/office/drawing/2014/chart" uri="{C3380CC4-5D6E-409C-BE32-E72D297353CC}">
              <c16:uniqueId val="{00000000-94B4-43CB-9381-913B5E121B4D}"/>
            </c:ext>
          </c:extLst>
        </c:ser>
        <c:ser>
          <c:idx val="1"/>
          <c:order val="1"/>
          <c:tx>
            <c:v>Recycled Fibre-based (testliner/recycled medium)</c:v>
          </c:tx>
          <c:spPr>
            <a:solidFill>
              <a:srgbClr val="9E7E0A"/>
            </a:solidFill>
          </c:spPr>
          <c:invertIfNegative val="0"/>
          <c:xVal>
            <c:numLit>
              <c:formatCode>General</c:formatCode>
              <c:ptCount val="1"/>
              <c:pt idx="0">
                <c:v>105.23841667783678</c:v>
              </c:pt>
            </c:numLit>
          </c:xVal>
          <c:yVal>
            <c:numLit>
              <c:formatCode>General</c:formatCode>
              <c:ptCount val="1"/>
              <c:pt idx="0">
                <c:v>40.894318181818178</c:v>
              </c:pt>
            </c:numLit>
          </c:yVal>
          <c:bubbleSize>
            <c:numLit>
              <c:formatCode>General</c:formatCode>
              <c:ptCount val="1"/>
              <c:pt idx="0">
                <c:v>327.96800000000002</c:v>
              </c:pt>
            </c:numLit>
          </c:bubbleSize>
          <c:bubble3D val="0"/>
          <c:extLst>
            <c:ext xmlns:c16="http://schemas.microsoft.com/office/drawing/2014/chart" uri="{C3380CC4-5D6E-409C-BE32-E72D297353CC}">
              <c16:uniqueId val="{00000001-94B4-43CB-9381-913B5E121B4D}"/>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
          <c:min val="90"/>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200"/>
          <c:min val="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840.07799999999997</c:v>
              </c:pt>
              <c:pt idx="2">
                <c:v>908.79700000000003</c:v>
              </c:pt>
              <c:pt idx="3">
                <c:v>983.07</c:v>
              </c:pt>
              <c:pt idx="4">
                <c:v>1063.3309999999999</c:v>
              </c:pt>
              <c:pt idx="5">
                <c:v>1150.0239999999999</c:v>
              </c:pt>
              <c:pt idx="6">
                <c:v>0</c:v>
              </c:pt>
            </c:numLit>
          </c:val>
          <c:extLst>
            <c:ext xmlns:c16="http://schemas.microsoft.com/office/drawing/2014/chart" uri="{C3380CC4-5D6E-409C-BE32-E72D297353CC}">
              <c16:uniqueId val="{00000000-34E6-40A9-B819-69CD7B9631A3}"/>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34E6-40A9-B819-69CD7B9631A3}"/>
              </c:ext>
            </c:extLst>
          </c:dPt>
          <c:dPt>
            <c:idx val="1"/>
            <c:invertIfNegative val="1"/>
            <c:bubble3D val="0"/>
            <c:spPr>
              <a:solidFill>
                <a:srgbClr val="008189"/>
              </a:solidFill>
            </c:spPr>
            <c:extLst>
              <c:ext xmlns:c16="http://schemas.microsoft.com/office/drawing/2014/chart" uri="{C3380CC4-5D6E-409C-BE32-E72D297353CC}">
                <c16:uniqueId val="{00000004-34E6-40A9-B819-69CD7B9631A3}"/>
              </c:ext>
            </c:extLst>
          </c:dPt>
          <c:dPt>
            <c:idx val="2"/>
            <c:invertIfNegative val="1"/>
            <c:bubble3D val="0"/>
            <c:spPr>
              <a:solidFill>
                <a:srgbClr val="008189"/>
              </a:solidFill>
            </c:spPr>
            <c:extLst>
              <c:ext xmlns:c16="http://schemas.microsoft.com/office/drawing/2014/chart" uri="{C3380CC4-5D6E-409C-BE32-E72D297353CC}">
                <c16:uniqueId val="{00000006-34E6-40A9-B819-69CD7B9631A3}"/>
              </c:ext>
            </c:extLst>
          </c:dPt>
          <c:dPt>
            <c:idx val="3"/>
            <c:invertIfNegative val="1"/>
            <c:bubble3D val="0"/>
            <c:spPr>
              <a:solidFill>
                <a:srgbClr val="008189"/>
              </a:solidFill>
            </c:spPr>
            <c:extLst>
              <c:ext xmlns:c16="http://schemas.microsoft.com/office/drawing/2014/chart" uri="{C3380CC4-5D6E-409C-BE32-E72D297353CC}">
                <c16:uniqueId val="{00000008-34E6-40A9-B819-69CD7B9631A3}"/>
              </c:ext>
            </c:extLst>
          </c:dPt>
          <c:dPt>
            <c:idx val="4"/>
            <c:invertIfNegative val="1"/>
            <c:bubble3D val="0"/>
            <c:spPr>
              <a:solidFill>
                <a:srgbClr val="008189"/>
              </a:solidFill>
            </c:spPr>
            <c:extLst>
              <c:ext xmlns:c16="http://schemas.microsoft.com/office/drawing/2014/chart" uri="{C3380CC4-5D6E-409C-BE32-E72D297353CC}">
                <c16:uniqueId val="{0000000A-34E6-40A9-B819-69CD7B9631A3}"/>
              </c:ext>
            </c:extLst>
          </c:dPt>
          <c:dPt>
            <c:idx val="5"/>
            <c:invertIfNegative val="1"/>
            <c:bubble3D val="0"/>
            <c:spPr>
              <a:solidFill>
                <a:srgbClr val="008189"/>
              </a:solidFill>
            </c:spPr>
            <c:extLst>
              <c:ext xmlns:c16="http://schemas.microsoft.com/office/drawing/2014/chart" uri="{C3380CC4-5D6E-409C-BE32-E72D297353CC}">
                <c16:uniqueId val="{0000000C-34E6-40A9-B819-69CD7B9631A3}"/>
              </c:ext>
            </c:extLst>
          </c:dPt>
          <c:dPt>
            <c:idx val="6"/>
            <c:invertIfNegative val="1"/>
            <c:bubble3D val="0"/>
            <c:spPr>
              <a:solidFill>
                <a:srgbClr val="0E72AE"/>
              </a:solidFill>
            </c:spPr>
            <c:extLst>
              <c:ext xmlns:c16="http://schemas.microsoft.com/office/drawing/2014/chart" uri="{C3380CC4-5D6E-409C-BE32-E72D297353CC}">
                <c16:uniqueId val="{0000000E-34E6-40A9-B819-69CD7B9631A3}"/>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4E6-40A9-B819-69CD7B9631A3}"/>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4E6-40A9-B819-69CD7B9631A3}"/>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4E6-40A9-B819-69CD7B9631A3}"/>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4E6-40A9-B819-69CD7B9631A3}"/>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4E6-40A9-B819-69CD7B9631A3}"/>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4E6-40A9-B819-69CD7B9631A3}"/>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4E6-40A9-B819-69CD7B9631A3}"/>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840.07799999999997</c:v>
              </c:pt>
              <c:pt idx="1">
                <c:v>68.719000000000051</c:v>
              </c:pt>
              <c:pt idx="2">
                <c:v>74.273000000000025</c:v>
              </c:pt>
              <c:pt idx="3">
                <c:v>80.260999999999854</c:v>
              </c:pt>
              <c:pt idx="4">
                <c:v>86.692999999999984</c:v>
              </c:pt>
              <c:pt idx="5">
                <c:v>93.59900000000016</c:v>
              </c:pt>
              <c:pt idx="6">
                <c:v>1243.623</c:v>
              </c:pt>
            </c:numLit>
          </c:val>
          <c:extLst>
            <c:ext xmlns:c16="http://schemas.microsoft.com/office/drawing/2014/chart" uri="{C3380CC4-5D6E-409C-BE32-E72D297353CC}">
              <c16:uniqueId val="{0000000F-34E6-40A9-B819-69CD7B9631A3}"/>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215.922</c:v>
              </c:pt>
              <c:pt idx="2">
                <c:v>234.51</c:v>
              </c:pt>
              <c:pt idx="3">
                <c:v>254.81200000000001</c:v>
              </c:pt>
              <c:pt idx="4">
                <c:v>277.00799999999998</c:v>
              </c:pt>
              <c:pt idx="5">
                <c:v>301.31200000000001</c:v>
              </c:pt>
              <c:pt idx="6">
                <c:v>0</c:v>
              </c:pt>
            </c:numLit>
          </c:val>
          <c:extLst>
            <c:ext xmlns:c16="http://schemas.microsoft.com/office/drawing/2014/chart" uri="{C3380CC4-5D6E-409C-BE32-E72D297353CC}">
              <c16:uniqueId val="{00000000-EE83-44DC-BBA6-F9E5D636327B}"/>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EE83-44DC-BBA6-F9E5D636327B}"/>
              </c:ext>
            </c:extLst>
          </c:dPt>
          <c:dPt>
            <c:idx val="1"/>
            <c:invertIfNegative val="1"/>
            <c:bubble3D val="0"/>
            <c:spPr>
              <a:solidFill>
                <a:srgbClr val="008189"/>
              </a:solidFill>
            </c:spPr>
            <c:extLst>
              <c:ext xmlns:c16="http://schemas.microsoft.com/office/drawing/2014/chart" uri="{C3380CC4-5D6E-409C-BE32-E72D297353CC}">
                <c16:uniqueId val="{00000004-EE83-44DC-BBA6-F9E5D636327B}"/>
              </c:ext>
            </c:extLst>
          </c:dPt>
          <c:dPt>
            <c:idx val="2"/>
            <c:invertIfNegative val="1"/>
            <c:bubble3D val="0"/>
            <c:spPr>
              <a:solidFill>
                <a:srgbClr val="008189"/>
              </a:solidFill>
            </c:spPr>
            <c:extLst>
              <c:ext xmlns:c16="http://schemas.microsoft.com/office/drawing/2014/chart" uri="{C3380CC4-5D6E-409C-BE32-E72D297353CC}">
                <c16:uniqueId val="{00000006-EE83-44DC-BBA6-F9E5D636327B}"/>
              </c:ext>
            </c:extLst>
          </c:dPt>
          <c:dPt>
            <c:idx val="3"/>
            <c:invertIfNegative val="1"/>
            <c:bubble3D val="0"/>
            <c:spPr>
              <a:solidFill>
                <a:srgbClr val="008189"/>
              </a:solidFill>
            </c:spPr>
            <c:extLst>
              <c:ext xmlns:c16="http://schemas.microsoft.com/office/drawing/2014/chart" uri="{C3380CC4-5D6E-409C-BE32-E72D297353CC}">
                <c16:uniqueId val="{00000008-EE83-44DC-BBA6-F9E5D636327B}"/>
              </c:ext>
            </c:extLst>
          </c:dPt>
          <c:dPt>
            <c:idx val="4"/>
            <c:invertIfNegative val="1"/>
            <c:bubble3D val="0"/>
            <c:spPr>
              <a:solidFill>
                <a:srgbClr val="008189"/>
              </a:solidFill>
            </c:spPr>
            <c:extLst>
              <c:ext xmlns:c16="http://schemas.microsoft.com/office/drawing/2014/chart" uri="{C3380CC4-5D6E-409C-BE32-E72D297353CC}">
                <c16:uniqueId val="{0000000A-EE83-44DC-BBA6-F9E5D636327B}"/>
              </c:ext>
            </c:extLst>
          </c:dPt>
          <c:dPt>
            <c:idx val="5"/>
            <c:invertIfNegative val="1"/>
            <c:bubble3D val="0"/>
            <c:spPr>
              <a:solidFill>
                <a:srgbClr val="008189"/>
              </a:solidFill>
            </c:spPr>
            <c:extLst>
              <c:ext xmlns:c16="http://schemas.microsoft.com/office/drawing/2014/chart" uri="{C3380CC4-5D6E-409C-BE32-E72D297353CC}">
                <c16:uniqueId val="{0000000C-EE83-44DC-BBA6-F9E5D636327B}"/>
              </c:ext>
            </c:extLst>
          </c:dPt>
          <c:dPt>
            <c:idx val="6"/>
            <c:invertIfNegative val="1"/>
            <c:bubble3D val="0"/>
            <c:spPr>
              <a:solidFill>
                <a:srgbClr val="0E72AE"/>
              </a:solidFill>
            </c:spPr>
            <c:extLst>
              <c:ext xmlns:c16="http://schemas.microsoft.com/office/drawing/2014/chart" uri="{C3380CC4-5D6E-409C-BE32-E72D297353CC}">
                <c16:uniqueId val="{0000000E-EE83-44DC-BBA6-F9E5D636327B}"/>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E83-44DC-BBA6-F9E5D636327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E83-44DC-BBA6-F9E5D636327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E83-44DC-BBA6-F9E5D636327B}"/>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E83-44DC-BBA6-F9E5D636327B}"/>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E83-44DC-BBA6-F9E5D636327B}"/>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E83-44DC-BBA6-F9E5D636327B}"/>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E83-44DC-BBA6-F9E5D636327B}"/>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215.922</c:v>
              </c:pt>
              <c:pt idx="1">
                <c:v>18.587999999999994</c:v>
              </c:pt>
              <c:pt idx="2">
                <c:v>20.302000000000021</c:v>
              </c:pt>
              <c:pt idx="3">
                <c:v>22.19599999999997</c:v>
              </c:pt>
              <c:pt idx="4">
                <c:v>24.30400000000003</c:v>
              </c:pt>
              <c:pt idx="5">
                <c:v>26.656000000000006</c:v>
              </c:pt>
              <c:pt idx="6">
                <c:v>327.96800000000002</c:v>
              </c:pt>
            </c:numLit>
          </c:val>
          <c:extLst>
            <c:ext xmlns:c16="http://schemas.microsoft.com/office/drawing/2014/chart" uri="{C3380CC4-5D6E-409C-BE32-E72D297353CC}">
              <c16:uniqueId val="{0000000F-EE83-44DC-BBA6-F9E5D636327B}"/>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Virgin Kraft Fibre-based</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855-41CC-BAB0-A3E1AF71548F}"/>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855-41CC-BAB0-A3E1AF71548F}"/>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855-41CC-BAB0-A3E1AF71548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79.684432390511859</c:v>
              </c:pt>
              <c:pt idx="1">
                <c:v>79.552840909090904</c:v>
              </c:pt>
              <c:pt idx="2">
                <c:v>79.131466138454599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D855-41CC-BAB0-A3E1AF71548F}"/>
            </c:ext>
          </c:extLst>
        </c:ser>
        <c:ser>
          <c:idx val="1"/>
          <c:order val="1"/>
          <c:tx>
            <c:v>Recycled Fibre-based</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855-41CC-BAB0-A3E1AF71548F}"/>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855-41CC-BAB0-A3E1AF71548F}"/>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855-41CC-BAB0-A3E1AF71548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20.315567609488138</c:v>
              </c:pt>
              <c:pt idx="1">
                <c:v>20.447159090909089</c:v>
              </c:pt>
              <c:pt idx="2">
                <c:v>20.868533861545401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D855-41CC-BAB0-A3E1AF71548F}"/>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Up to 4 Cells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EBE-4A45-90E4-D3C5C3EE5F8F}"/>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EBE-4A45-90E4-D3C5C3EE5F8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40.765324061413445</c:v>
              </c:pt>
              <c:pt idx="1">
                <c:v>38.207390923992897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1EBE-4A45-90E4-D3C5C3EE5F8F}"/>
            </c:ext>
          </c:extLst>
        </c:ser>
        <c:ser>
          <c:idx val="1"/>
          <c:order val="1"/>
          <c:tx>
            <c:v>6 to 12 Cells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EBE-4A45-90E4-D3C5C3EE5F8F}"/>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EBE-4A45-90E4-D3C5C3EE5F8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32.27233660194554</c:v>
              </c:pt>
              <c:pt idx="1">
                <c:v>34.88469316784488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1EBE-4A45-90E4-D3C5C3EE5F8F}"/>
            </c:ext>
          </c:extLst>
        </c:ser>
        <c:ser>
          <c:idx val="2"/>
          <c:order val="2"/>
          <c:tx>
            <c:v>13 to 24 Cells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EBE-4A45-90E4-D3C5C3EE5F8F}"/>
                </c:ext>
              </c:extLst>
            </c:dLbl>
            <c:dLbl>
              <c:idx val="1"/>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EBE-4A45-90E4-D3C5C3EE5F8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15.891120053131225</c:v>
              </c:pt>
              <c:pt idx="1">
                <c:v>15.685824861204301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8-1EBE-4A45-90E4-D3C5C3EE5F8F}"/>
            </c:ext>
          </c:extLst>
        </c:ser>
        <c:ser>
          <c:idx val="3"/>
          <c:order val="3"/>
          <c:tx>
            <c:v>Above 24 Cells</c:v>
          </c:tx>
          <c:spPr>
            <a:solidFill>
              <a:srgbClr val="40315E"/>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EBE-4A45-90E4-D3C5C3EE5F8F}"/>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EBE-4A45-90E4-D3C5C3EE5F8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11.071219283509786</c:v>
              </c:pt>
              <c:pt idx="1">
                <c:v>11.222091046957914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1EBE-4A45-90E4-D3C5C3EE5F8F}"/>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Up to 4 Cells</c:v>
          </c:tx>
          <c:spPr>
            <a:solidFill>
              <a:srgbClr val="3D85C6"/>
            </a:solidFill>
          </c:spPr>
          <c:invertIfNegative val="0"/>
          <c:xVal>
            <c:numLit>
              <c:formatCode>General</c:formatCode>
              <c:ptCount val="1"/>
              <c:pt idx="0">
                <c:v>99.097613618858517</c:v>
              </c:pt>
            </c:numLit>
          </c:xVal>
          <c:yVal>
            <c:numLit>
              <c:formatCode>General</c:formatCode>
              <c:ptCount val="1"/>
              <c:pt idx="0">
                <c:v>156.71287878787879</c:v>
              </c:pt>
            </c:numLit>
          </c:yVal>
          <c:bubbleSize>
            <c:numLit>
              <c:formatCode>General</c:formatCode>
              <c:ptCount val="1"/>
              <c:pt idx="0">
                <c:v>613.55899999999997</c:v>
              </c:pt>
            </c:numLit>
          </c:bubbleSize>
          <c:bubble3D val="0"/>
          <c:extLst>
            <c:ext xmlns:c16="http://schemas.microsoft.com/office/drawing/2014/chart" uri="{C3380CC4-5D6E-409C-BE32-E72D297353CC}">
              <c16:uniqueId val="{00000000-A455-4F7D-A0ED-D0B8C798BE72}"/>
            </c:ext>
          </c:extLst>
        </c:ser>
        <c:ser>
          <c:idx val="1"/>
          <c:order val="1"/>
          <c:tx>
            <c:v>6 to 12 Cells</c:v>
          </c:tx>
          <c:spPr>
            <a:solidFill>
              <a:srgbClr val="9E7E0A"/>
            </a:solidFill>
          </c:spPr>
          <c:invertIfNegative val="0"/>
          <c:xVal>
            <c:numLit>
              <c:formatCode>General</c:formatCode>
              <c:ptCount val="1"/>
              <c:pt idx="0">
                <c:v>124.93351162694807</c:v>
              </c:pt>
            </c:numLit>
          </c:xVal>
          <c:yVal>
            <c:numLit>
              <c:formatCode>General</c:formatCode>
              <c:ptCount val="1"/>
              <c:pt idx="0">
                <c:v>123.58446969696972</c:v>
              </c:pt>
            </c:numLit>
          </c:yVal>
          <c:bubbleSize>
            <c:numLit>
              <c:formatCode>General</c:formatCode>
              <c:ptCount val="1"/>
              <c:pt idx="0">
                <c:v>534.87099999999998</c:v>
              </c:pt>
            </c:numLit>
          </c:bubbleSize>
          <c:bubble3D val="0"/>
          <c:extLst>
            <c:ext xmlns:c16="http://schemas.microsoft.com/office/drawing/2014/chart" uri="{C3380CC4-5D6E-409C-BE32-E72D297353CC}">
              <c16:uniqueId val="{00000001-A455-4F7D-A0ED-D0B8C798BE72}"/>
            </c:ext>
          </c:extLst>
        </c:ser>
        <c:ser>
          <c:idx val="2"/>
          <c:order val="2"/>
          <c:tx>
            <c:v>13 to 24 Cells</c:v>
          </c:tx>
          <c:spPr>
            <a:solidFill>
              <a:srgbClr val="008189"/>
            </a:solidFill>
          </c:spPr>
          <c:invertIfNegative val="0"/>
          <c:xVal>
            <c:numLit>
              <c:formatCode>General</c:formatCode>
              <c:ptCount val="1"/>
              <c:pt idx="0">
                <c:v>68.353111481231196</c:v>
              </c:pt>
            </c:numLit>
          </c:xVal>
          <c:yVal>
            <c:numLit>
              <c:formatCode>General</c:formatCode>
              <c:ptCount val="1"/>
              <c:pt idx="0">
                <c:v>71.338257575757595</c:v>
              </c:pt>
            </c:numLit>
          </c:yVal>
          <c:bubbleSize>
            <c:numLit>
              <c:formatCode>General</c:formatCode>
              <c:ptCount val="1"/>
              <c:pt idx="0">
                <c:v>247.56800000000001</c:v>
              </c:pt>
            </c:numLit>
          </c:bubbleSize>
          <c:bubble3D val="0"/>
          <c:extLst>
            <c:ext xmlns:c16="http://schemas.microsoft.com/office/drawing/2014/chart" uri="{C3380CC4-5D6E-409C-BE32-E72D297353CC}">
              <c16:uniqueId val="{00000002-A455-4F7D-A0ED-D0B8C798BE72}"/>
            </c:ext>
          </c:extLst>
        </c:ser>
        <c:ser>
          <c:idx val="3"/>
          <c:order val="3"/>
          <c:tx>
            <c:v>Above 24 Cells</c:v>
          </c:tx>
          <c:spPr>
            <a:solidFill>
              <a:srgbClr val="40315E"/>
            </a:solidFill>
          </c:spPr>
          <c:invertIfNegative val="0"/>
          <c:xVal>
            <c:numLit>
              <c:formatCode>General</c:formatCode>
              <c:ptCount val="1"/>
              <c:pt idx="0">
                <c:v>79.8195726157671</c:v>
              </c:pt>
            </c:numLit>
          </c:xVal>
          <c:yVal>
            <c:numLit>
              <c:formatCode>General</c:formatCode>
              <c:ptCount val="1"/>
              <c:pt idx="0">
                <c:v>48.364393939393949</c:v>
              </c:pt>
            </c:numLit>
          </c:yVal>
          <c:bubbleSize>
            <c:numLit>
              <c:formatCode>General</c:formatCode>
              <c:ptCount val="1"/>
              <c:pt idx="0">
                <c:v>175.59299999999999</c:v>
              </c:pt>
            </c:numLit>
          </c:bubbleSize>
          <c:bubble3D val="0"/>
          <c:extLst>
            <c:ext xmlns:c16="http://schemas.microsoft.com/office/drawing/2014/chart" uri="{C3380CC4-5D6E-409C-BE32-E72D297353CC}">
              <c16:uniqueId val="{00000003-A455-4F7D-A0ED-D0B8C798BE72}"/>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
          <c:min val="50"/>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200"/>
          <c:min val="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413.72199999999998</c:v>
              </c:pt>
              <c:pt idx="2">
                <c:v>447.601</c:v>
              </c:pt>
              <c:pt idx="3">
                <c:v>484.27800000000002</c:v>
              </c:pt>
              <c:pt idx="4">
                <c:v>523.99199999999996</c:v>
              </c:pt>
              <c:pt idx="5">
                <c:v>566.99400000000003</c:v>
              </c:pt>
              <c:pt idx="6">
                <c:v>0</c:v>
              </c:pt>
            </c:numLit>
          </c:val>
          <c:extLst>
            <c:ext xmlns:c16="http://schemas.microsoft.com/office/drawing/2014/chart" uri="{C3380CC4-5D6E-409C-BE32-E72D297353CC}">
              <c16:uniqueId val="{00000000-4DDE-498D-BA1A-FCD01EB4257C}"/>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4DDE-498D-BA1A-FCD01EB4257C}"/>
              </c:ext>
            </c:extLst>
          </c:dPt>
          <c:dPt>
            <c:idx val="1"/>
            <c:invertIfNegative val="1"/>
            <c:bubble3D val="0"/>
            <c:spPr>
              <a:solidFill>
                <a:srgbClr val="008189"/>
              </a:solidFill>
            </c:spPr>
            <c:extLst>
              <c:ext xmlns:c16="http://schemas.microsoft.com/office/drawing/2014/chart" uri="{C3380CC4-5D6E-409C-BE32-E72D297353CC}">
                <c16:uniqueId val="{00000004-4DDE-498D-BA1A-FCD01EB4257C}"/>
              </c:ext>
            </c:extLst>
          </c:dPt>
          <c:dPt>
            <c:idx val="2"/>
            <c:invertIfNegative val="1"/>
            <c:bubble3D val="0"/>
            <c:spPr>
              <a:solidFill>
                <a:srgbClr val="008189"/>
              </a:solidFill>
            </c:spPr>
            <c:extLst>
              <c:ext xmlns:c16="http://schemas.microsoft.com/office/drawing/2014/chart" uri="{C3380CC4-5D6E-409C-BE32-E72D297353CC}">
                <c16:uniqueId val="{00000006-4DDE-498D-BA1A-FCD01EB4257C}"/>
              </c:ext>
            </c:extLst>
          </c:dPt>
          <c:dPt>
            <c:idx val="3"/>
            <c:invertIfNegative val="1"/>
            <c:bubble3D val="0"/>
            <c:spPr>
              <a:solidFill>
                <a:srgbClr val="008189"/>
              </a:solidFill>
            </c:spPr>
            <c:extLst>
              <c:ext xmlns:c16="http://schemas.microsoft.com/office/drawing/2014/chart" uri="{C3380CC4-5D6E-409C-BE32-E72D297353CC}">
                <c16:uniqueId val="{00000008-4DDE-498D-BA1A-FCD01EB4257C}"/>
              </c:ext>
            </c:extLst>
          </c:dPt>
          <c:dPt>
            <c:idx val="4"/>
            <c:invertIfNegative val="1"/>
            <c:bubble3D val="0"/>
            <c:spPr>
              <a:solidFill>
                <a:srgbClr val="008189"/>
              </a:solidFill>
            </c:spPr>
            <c:extLst>
              <c:ext xmlns:c16="http://schemas.microsoft.com/office/drawing/2014/chart" uri="{C3380CC4-5D6E-409C-BE32-E72D297353CC}">
                <c16:uniqueId val="{0000000A-4DDE-498D-BA1A-FCD01EB4257C}"/>
              </c:ext>
            </c:extLst>
          </c:dPt>
          <c:dPt>
            <c:idx val="5"/>
            <c:invertIfNegative val="1"/>
            <c:bubble3D val="0"/>
            <c:spPr>
              <a:solidFill>
                <a:srgbClr val="008189"/>
              </a:solidFill>
            </c:spPr>
            <c:extLst>
              <c:ext xmlns:c16="http://schemas.microsoft.com/office/drawing/2014/chart" uri="{C3380CC4-5D6E-409C-BE32-E72D297353CC}">
                <c16:uniqueId val="{0000000C-4DDE-498D-BA1A-FCD01EB4257C}"/>
              </c:ext>
            </c:extLst>
          </c:dPt>
          <c:dPt>
            <c:idx val="6"/>
            <c:invertIfNegative val="1"/>
            <c:bubble3D val="0"/>
            <c:spPr>
              <a:solidFill>
                <a:srgbClr val="0E72AE"/>
              </a:solidFill>
            </c:spPr>
            <c:extLst>
              <c:ext xmlns:c16="http://schemas.microsoft.com/office/drawing/2014/chart" uri="{C3380CC4-5D6E-409C-BE32-E72D297353CC}">
                <c16:uniqueId val="{0000000E-4DDE-498D-BA1A-FCD01EB4257C}"/>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DDE-498D-BA1A-FCD01EB4257C}"/>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DDE-498D-BA1A-FCD01EB4257C}"/>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DDE-498D-BA1A-FCD01EB4257C}"/>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4DDE-498D-BA1A-FCD01EB4257C}"/>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4DDE-498D-BA1A-FCD01EB4257C}"/>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4DDE-498D-BA1A-FCD01EB4257C}"/>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4DDE-498D-BA1A-FCD01EB4257C}"/>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413.72199999999998</c:v>
              </c:pt>
              <c:pt idx="1">
                <c:v>33.879000000000019</c:v>
              </c:pt>
              <c:pt idx="2">
                <c:v>36.677000000000021</c:v>
              </c:pt>
              <c:pt idx="3">
                <c:v>39.713999999999942</c:v>
              </c:pt>
              <c:pt idx="4">
                <c:v>43.002000000000066</c:v>
              </c:pt>
              <c:pt idx="5">
                <c:v>46.564999999999941</c:v>
              </c:pt>
              <c:pt idx="6">
                <c:v>613.55899999999997</c:v>
              </c:pt>
            </c:numLit>
          </c:val>
          <c:extLst>
            <c:ext xmlns:c16="http://schemas.microsoft.com/office/drawing/2014/chart" uri="{C3380CC4-5D6E-409C-BE32-E72D297353CC}">
              <c16:uniqueId val="{0000000F-4DDE-498D-BA1A-FCD01EB4257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326.26299999999998</c:v>
              </c:pt>
              <c:pt idx="2">
                <c:v>360.58199999999999</c:v>
              </c:pt>
              <c:pt idx="3">
                <c:v>398.26900000000001</c:v>
              </c:pt>
              <c:pt idx="4">
                <c:v>439.642</c:v>
              </c:pt>
              <c:pt idx="5">
                <c:v>485.04899999999998</c:v>
              </c:pt>
              <c:pt idx="6">
                <c:v>0</c:v>
              </c:pt>
            </c:numLit>
          </c:val>
          <c:extLst>
            <c:ext xmlns:c16="http://schemas.microsoft.com/office/drawing/2014/chart" uri="{C3380CC4-5D6E-409C-BE32-E72D297353CC}">
              <c16:uniqueId val="{00000000-5070-4824-BA63-00D9DBF954CA}"/>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5070-4824-BA63-00D9DBF954CA}"/>
              </c:ext>
            </c:extLst>
          </c:dPt>
          <c:dPt>
            <c:idx val="1"/>
            <c:invertIfNegative val="1"/>
            <c:bubble3D val="0"/>
            <c:spPr>
              <a:solidFill>
                <a:srgbClr val="008189"/>
              </a:solidFill>
            </c:spPr>
            <c:extLst>
              <c:ext xmlns:c16="http://schemas.microsoft.com/office/drawing/2014/chart" uri="{C3380CC4-5D6E-409C-BE32-E72D297353CC}">
                <c16:uniqueId val="{00000004-5070-4824-BA63-00D9DBF954CA}"/>
              </c:ext>
            </c:extLst>
          </c:dPt>
          <c:dPt>
            <c:idx val="2"/>
            <c:invertIfNegative val="1"/>
            <c:bubble3D val="0"/>
            <c:spPr>
              <a:solidFill>
                <a:srgbClr val="008189"/>
              </a:solidFill>
            </c:spPr>
            <c:extLst>
              <c:ext xmlns:c16="http://schemas.microsoft.com/office/drawing/2014/chart" uri="{C3380CC4-5D6E-409C-BE32-E72D297353CC}">
                <c16:uniqueId val="{00000006-5070-4824-BA63-00D9DBF954CA}"/>
              </c:ext>
            </c:extLst>
          </c:dPt>
          <c:dPt>
            <c:idx val="3"/>
            <c:invertIfNegative val="1"/>
            <c:bubble3D val="0"/>
            <c:spPr>
              <a:solidFill>
                <a:srgbClr val="008189"/>
              </a:solidFill>
            </c:spPr>
            <c:extLst>
              <c:ext xmlns:c16="http://schemas.microsoft.com/office/drawing/2014/chart" uri="{C3380CC4-5D6E-409C-BE32-E72D297353CC}">
                <c16:uniqueId val="{00000008-5070-4824-BA63-00D9DBF954CA}"/>
              </c:ext>
            </c:extLst>
          </c:dPt>
          <c:dPt>
            <c:idx val="4"/>
            <c:invertIfNegative val="1"/>
            <c:bubble3D val="0"/>
            <c:spPr>
              <a:solidFill>
                <a:srgbClr val="008189"/>
              </a:solidFill>
            </c:spPr>
            <c:extLst>
              <c:ext xmlns:c16="http://schemas.microsoft.com/office/drawing/2014/chart" uri="{C3380CC4-5D6E-409C-BE32-E72D297353CC}">
                <c16:uniqueId val="{0000000A-5070-4824-BA63-00D9DBF954CA}"/>
              </c:ext>
            </c:extLst>
          </c:dPt>
          <c:dPt>
            <c:idx val="5"/>
            <c:invertIfNegative val="1"/>
            <c:bubble3D val="0"/>
            <c:spPr>
              <a:solidFill>
                <a:srgbClr val="008189"/>
              </a:solidFill>
            </c:spPr>
            <c:extLst>
              <c:ext xmlns:c16="http://schemas.microsoft.com/office/drawing/2014/chart" uri="{C3380CC4-5D6E-409C-BE32-E72D297353CC}">
                <c16:uniqueId val="{0000000C-5070-4824-BA63-00D9DBF954CA}"/>
              </c:ext>
            </c:extLst>
          </c:dPt>
          <c:dPt>
            <c:idx val="6"/>
            <c:invertIfNegative val="1"/>
            <c:bubble3D val="0"/>
            <c:spPr>
              <a:solidFill>
                <a:srgbClr val="0E72AE"/>
              </a:solidFill>
            </c:spPr>
            <c:extLst>
              <c:ext xmlns:c16="http://schemas.microsoft.com/office/drawing/2014/chart" uri="{C3380CC4-5D6E-409C-BE32-E72D297353CC}">
                <c16:uniqueId val="{0000000E-5070-4824-BA63-00D9DBF954CA}"/>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070-4824-BA63-00D9DBF954CA}"/>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070-4824-BA63-00D9DBF954CA}"/>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070-4824-BA63-00D9DBF954CA}"/>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070-4824-BA63-00D9DBF954CA}"/>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5070-4824-BA63-00D9DBF954CA}"/>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5070-4824-BA63-00D9DBF954CA}"/>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5070-4824-BA63-00D9DBF954CA}"/>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326.26299999999998</c:v>
              </c:pt>
              <c:pt idx="1">
                <c:v>34.319000000000017</c:v>
              </c:pt>
              <c:pt idx="2">
                <c:v>37.687000000000012</c:v>
              </c:pt>
              <c:pt idx="3">
                <c:v>41.37299999999999</c:v>
              </c:pt>
              <c:pt idx="4">
                <c:v>45.406999999999982</c:v>
              </c:pt>
              <c:pt idx="5">
                <c:v>49.822000000000003</c:v>
              </c:pt>
              <c:pt idx="6">
                <c:v>534.87099999999998</c:v>
              </c:pt>
            </c:numLit>
          </c:val>
          <c:extLst>
            <c:ext xmlns:c16="http://schemas.microsoft.com/office/drawing/2014/chart" uri="{C3380CC4-5D6E-409C-BE32-E72D297353CC}">
              <c16:uniqueId val="{0000000F-5070-4824-BA63-00D9DBF954CA}"/>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188.333</c:v>
              </c:pt>
              <c:pt idx="2">
                <c:v>199.03399999999999</c:v>
              </c:pt>
              <c:pt idx="3">
                <c:v>210.286</c:v>
              </c:pt>
              <c:pt idx="4">
                <c:v>222.11199999999999</c:v>
              </c:pt>
              <c:pt idx="5">
                <c:v>234.53200000000001</c:v>
              </c:pt>
              <c:pt idx="6">
                <c:v>0</c:v>
              </c:pt>
            </c:numLit>
          </c:val>
          <c:extLst>
            <c:ext xmlns:c16="http://schemas.microsoft.com/office/drawing/2014/chart" uri="{C3380CC4-5D6E-409C-BE32-E72D297353CC}">
              <c16:uniqueId val="{00000000-C5A6-4E44-B1DA-38E1D9425DA6}"/>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C5A6-4E44-B1DA-38E1D9425DA6}"/>
              </c:ext>
            </c:extLst>
          </c:dPt>
          <c:dPt>
            <c:idx val="1"/>
            <c:invertIfNegative val="1"/>
            <c:bubble3D val="0"/>
            <c:spPr>
              <a:solidFill>
                <a:srgbClr val="008189"/>
              </a:solidFill>
            </c:spPr>
            <c:extLst>
              <c:ext xmlns:c16="http://schemas.microsoft.com/office/drawing/2014/chart" uri="{C3380CC4-5D6E-409C-BE32-E72D297353CC}">
                <c16:uniqueId val="{00000004-C5A6-4E44-B1DA-38E1D9425DA6}"/>
              </c:ext>
            </c:extLst>
          </c:dPt>
          <c:dPt>
            <c:idx val="2"/>
            <c:invertIfNegative val="1"/>
            <c:bubble3D val="0"/>
            <c:spPr>
              <a:solidFill>
                <a:srgbClr val="008189"/>
              </a:solidFill>
            </c:spPr>
            <c:extLst>
              <c:ext xmlns:c16="http://schemas.microsoft.com/office/drawing/2014/chart" uri="{C3380CC4-5D6E-409C-BE32-E72D297353CC}">
                <c16:uniqueId val="{00000006-C5A6-4E44-B1DA-38E1D9425DA6}"/>
              </c:ext>
            </c:extLst>
          </c:dPt>
          <c:dPt>
            <c:idx val="3"/>
            <c:invertIfNegative val="1"/>
            <c:bubble3D val="0"/>
            <c:spPr>
              <a:solidFill>
                <a:srgbClr val="008189"/>
              </a:solidFill>
            </c:spPr>
            <c:extLst>
              <c:ext xmlns:c16="http://schemas.microsoft.com/office/drawing/2014/chart" uri="{C3380CC4-5D6E-409C-BE32-E72D297353CC}">
                <c16:uniqueId val="{00000008-C5A6-4E44-B1DA-38E1D9425DA6}"/>
              </c:ext>
            </c:extLst>
          </c:dPt>
          <c:dPt>
            <c:idx val="4"/>
            <c:invertIfNegative val="1"/>
            <c:bubble3D val="0"/>
            <c:spPr>
              <a:solidFill>
                <a:srgbClr val="008189"/>
              </a:solidFill>
            </c:spPr>
            <c:extLst>
              <c:ext xmlns:c16="http://schemas.microsoft.com/office/drawing/2014/chart" uri="{C3380CC4-5D6E-409C-BE32-E72D297353CC}">
                <c16:uniqueId val="{0000000A-C5A6-4E44-B1DA-38E1D9425DA6}"/>
              </c:ext>
            </c:extLst>
          </c:dPt>
          <c:dPt>
            <c:idx val="5"/>
            <c:invertIfNegative val="1"/>
            <c:bubble3D val="0"/>
            <c:spPr>
              <a:solidFill>
                <a:srgbClr val="008189"/>
              </a:solidFill>
            </c:spPr>
            <c:extLst>
              <c:ext xmlns:c16="http://schemas.microsoft.com/office/drawing/2014/chart" uri="{C3380CC4-5D6E-409C-BE32-E72D297353CC}">
                <c16:uniqueId val="{0000000C-C5A6-4E44-B1DA-38E1D9425DA6}"/>
              </c:ext>
            </c:extLst>
          </c:dPt>
          <c:dPt>
            <c:idx val="6"/>
            <c:invertIfNegative val="1"/>
            <c:bubble3D val="0"/>
            <c:spPr>
              <a:solidFill>
                <a:srgbClr val="0E72AE"/>
              </a:solidFill>
            </c:spPr>
            <c:extLst>
              <c:ext xmlns:c16="http://schemas.microsoft.com/office/drawing/2014/chart" uri="{C3380CC4-5D6E-409C-BE32-E72D297353CC}">
                <c16:uniqueId val="{0000000E-C5A6-4E44-B1DA-38E1D9425DA6}"/>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5A6-4E44-B1DA-38E1D9425DA6}"/>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5A6-4E44-B1DA-38E1D9425DA6}"/>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5A6-4E44-B1DA-38E1D9425DA6}"/>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5A6-4E44-B1DA-38E1D9425DA6}"/>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5A6-4E44-B1DA-38E1D9425DA6}"/>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5A6-4E44-B1DA-38E1D9425DA6}"/>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5A6-4E44-B1DA-38E1D9425DA6}"/>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188.333</c:v>
              </c:pt>
              <c:pt idx="1">
                <c:v>10.700999999999993</c:v>
              </c:pt>
              <c:pt idx="2">
                <c:v>11.25200000000001</c:v>
              </c:pt>
              <c:pt idx="3">
                <c:v>11.825999999999993</c:v>
              </c:pt>
              <c:pt idx="4">
                <c:v>12.420000000000016</c:v>
              </c:pt>
              <c:pt idx="5">
                <c:v>13.036000000000001</c:v>
              </c:pt>
              <c:pt idx="6">
                <c:v>247.56800000000001</c:v>
              </c:pt>
            </c:numLit>
          </c:val>
          <c:extLst>
            <c:ext xmlns:c16="http://schemas.microsoft.com/office/drawing/2014/chart" uri="{C3380CC4-5D6E-409C-BE32-E72D297353CC}">
              <c16:uniqueId val="{0000000F-C5A6-4E44-B1DA-38E1D9425DA6}"/>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127.682</c:v>
              </c:pt>
              <c:pt idx="2">
                <c:v>136.09</c:v>
              </c:pt>
              <c:pt idx="3">
                <c:v>145.04900000000001</c:v>
              </c:pt>
              <c:pt idx="4">
                <c:v>154.59299999999999</c:v>
              </c:pt>
              <c:pt idx="5">
                <c:v>164.761</c:v>
              </c:pt>
              <c:pt idx="6">
                <c:v>0</c:v>
              </c:pt>
            </c:numLit>
          </c:val>
          <c:extLst>
            <c:ext xmlns:c16="http://schemas.microsoft.com/office/drawing/2014/chart" uri="{C3380CC4-5D6E-409C-BE32-E72D297353CC}">
              <c16:uniqueId val="{00000000-62C4-4B24-BA5C-80BC271ECDB3}"/>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62C4-4B24-BA5C-80BC271ECDB3}"/>
              </c:ext>
            </c:extLst>
          </c:dPt>
          <c:dPt>
            <c:idx val="1"/>
            <c:invertIfNegative val="1"/>
            <c:bubble3D val="0"/>
            <c:spPr>
              <a:solidFill>
                <a:srgbClr val="008189"/>
              </a:solidFill>
            </c:spPr>
            <c:extLst>
              <c:ext xmlns:c16="http://schemas.microsoft.com/office/drawing/2014/chart" uri="{C3380CC4-5D6E-409C-BE32-E72D297353CC}">
                <c16:uniqueId val="{00000004-62C4-4B24-BA5C-80BC271ECDB3}"/>
              </c:ext>
            </c:extLst>
          </c:dPt>
          <c:dPt>
            <c:idx val="2"/>
            <c:invertIfNegative val="1"/>
            <c:bubble3D val="0"/>
            <c:spPr>
              <a:solidFill>
                <a:srgbClr val="008189"/>
              </a:solidFill>
            </c:spPr>
            <c:extLst>
              <c:ext xmlns:c16="http://schemas.microsoft.com/office/drawing/2014/chart" uri="{C3380CC4-5D6E-409C-BE32-E72D297353CC}">
                <c16:uniqueId val="{00000006-62C4-4B24-BA5C-80BC271ECDB3}"/>
              </c:ext>
            </c:extLst>
          </c:dPt>
          <c:dPt>
            <c:idx val="3"/>
            <c:invertIfNegative val="1"/>
            <c:bubble3D val="0"/>
            <c:spPr>
              <a:solidFill>
                <a:srgbClr val="008189"/>
              </a:solidFill>
            </c:spPr>
            <c:extLst>
              <c:ext xmlns:c16="http://schemas.microsoft.com/office/drawing/2014/chart" uri="{C3380CC4-5D6E-409C-BE32-E72D297353CC}">
                <c16:uniqueId val="{00000008-62C4-4B24-BA5C-80BC271ECDB3}"/>
              </c:ext>
            </c:extLst>
          </c:dPt>
          <c:dPt>
            <c:idx val="4"/>
            <c:invertIfNegative val="1"/>
            <c:bubble3D val="0"/>
            <c:spPr>
              <a:solidFill>
                <a:srgbClr val="008189"/>
              </a:solidFill>
            </c:spPr>
            <c:extLst>
              <c:ext xmlns:c16="http://schemas.microsoft.com/office/drawing/2014/chart" uri="{C3380CC4-5D6E-409C-BE32-E72D297353CC}">
                <c16:uniqueId val="{0000000A-62C4-4B24-BA5C-80BC271ECDB3}"/>
              </c:ext>
            </c:extLst>
          </c:dPt>
          <c:dPt>
            <c:idx val="5"/>
            <c:invertIfNegative val="1"/>
            <c:bubble3D val="0"/>
            <c:spPr>
              <a:solidFill>
                <a:srgbClr val="008189"/>
              </a:solidFill>
            </c:spPr>
            <c:extLst>
              <c:ext xmlns:c16="http://schemas.microsoft.com/office/drawing/2014/chart" uri="{C3380CC4-5D6E-409C-BE32-E72D297353CC}">
                <c16:uniqueId val="{0000000C-62C4-4B24-BA5C-80BC271ECDB3}"/>
              </c:ext>
            </c:extLst>
          </c:dPt>
          <c:dPt>
            <c:idx val="6"/>
            <c:invertIfNegative val="1"/>
            <c:bubble3D val="0"/>
            <c:spPr>
              <a:solidFill>
                <a:srgbClr val="0E72AE"/>
              </a:solidFill>
            </c:spPr>
            <c:extLst>
              <c:ext xmlns:c16="http://schemas.microsoft.com/office/drawing/2014/chart" uri="{C3380CC4-5D6E-409C-BE32-E72D297353CC}">
                <c16:uniqueId val="{0000000E-62C4-4B24-BA5C-80BC271ECDB3}"/>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2C4-4B24-BA5C-80BC271ECDB3}"/>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2C4-4B24-BA5C-80BC271ECDB3}"/>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2C4-4B24-BA5C-80BC271ECDB3}"/>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2C4-4B24-BA5C-80BC271ECDB3}"/>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2C4-4B24-BA5C-80BC271ECDB3}"/>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2C4-4B24-BA5C-80BC271ECDB3}"/>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2C4-4B24-BA5C-80BC271ECDB3}"/>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127.682</c:v>
              </c:pt>
              <c:pt idx="1">
                <c:v>8.4080000000000013</c:v>
              </c:pt>
              <c:pt idx="2">
                <c:v>8.9590000000000032</c:v>
              </c:pt>
              <c:pt idx="3">
                <c:v>9.5439999999999827</c:v>
              </c:pt>
              <c:pt idx="4">
                <c:v>10.168000000000006</c:v>
              </c:pt>
              <c:pt idx="5">
                <c:v>10.831999999999994</c:v>
              </c:pt>
              <c:pt idx="6">
                <c:v>175.59299999999999</c:v>
              </c:pt>
            </c:numLit>
          </c:val>
          <c:extLst>
            <c:ext xmlns:c16="http://schemas.microsoft.com/office/drawing/2014/chart" uri="{C3380CC4-5D6E-409C-BE32-E72D297353CC}">
              <c16:uniqueId val="{0000000F-62C4-4B24-BA5C-80BC271ECDB3}"/>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Up to 4 Cells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AC1-4621-BEB7-2E74E1860A91}"/>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AC1-4621-BEB7-2E74E1860A91}"/>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AC1-4621-BEB7-2E74E1860A9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39.252068544458005</c:v>
              </c:pt>
              <c:pt idx="1">
                <c:v>39.178219696969698</c:v>
              </c:pt>
              <c:pt idx="2">
                <c:v>39.040628255061272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DAC1-4621-BEB7-2E74E1860A91}"/>
            </c:ext>
          </c:extLst>
        </c:ser>
        <c:ser>
          <c:idx val="1"/>
          <c:order val="1"/>
          <c:tx>
            <c:v>6 to 12 Cells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AC1-4621-BEB7-2E74E1860A91}"/>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AC1-4621-BEB7-2E74E1860A91}"/>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AC1-4621-BEB7-2E74E1860A9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29.255946197289202</c:v>
              </c:pt>
              <c:pt idx="1">
                <c:v>30.896117424242419</c:v>
              </c:pt>
              <c:pt idx="2">
                <c:v>34.033727604701227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DAC1-4621-BEB7-2E74E1860A91}"/>
            </c:ext>
          </c:extLst>
        </c:ser>
        <c:ser>
          <c:idx val="2"/>
          <c:order val="2"/>
          <c:tx>
            <c:v>13 to 24 Cells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AC1-4621-BEB7-2E74E1860A91}"/>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AC1-4621-BEB7-2E74E1860A91}"/>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DAC1-4621-BEB7-2E74E1860A9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18.921279203225673</c:v>
              </c:pt>
              <c:pt idx="1">
                <c:v>17.834564393939395</c:v>
              </c:pt>
              <c:pt idx="2">
                <c:v>15.75269901647439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DAC1-4621-BEB7-2E74E1860A91}"/>
            </c:ext>
          </c:extLst>
        </c:ser>
        <c:ser>
          <c:idx val="3"/>
          <c:order val="3"/>
          <c:tx>
            <c:v>Above 24 Cells</c:v>
          </c:tx>
          <c:spPr>
            <a:solidFill>
              <a:srgbClr val="40315E"/>
            </a:solidFill>
            <a:ln>
              <a:noFill/>
            </a:ln>
          </c:spPr>
          <c:invertIfNegative val="1"/>
          <c:dLbls>
            <c:dLbl>
              <c:idx val="0"/>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AC1-4621-BEB7-2E74E1860A91}"/>
                </c:ext>
              </c:extLst>
            </c:dLbl>
            <c:dLbl>
              <c:idx val="1"/>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DAC1-4621-BEB7-2E74E1860A91}"/>
                </c:ext>
              </c:extLst>
            </c:dLbl>
            <c:dLbl>
              <c:idx val="2"/>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DAC1-4621-BEB7-2E74E1860A91}"/>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12.570706055027117</c:v>
              </c:pt>
              <c:pt idx="1">
                <c:v>12.091098484848485</c:v>
              </c:pt>
              <c:pt idx="2">
                <c:v>11.172945123763117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DAC1-4621-BEB7-2E74E1860A91}"/>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Standard / Stock Sizes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5EC-4640-B33B-1A05EC58BD7A}"/>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5EC-4640-B33B-1A05EC58BD7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43.996366761729895</c:v>
              </c:pt>
              <c:pt idx="1">
                <c:v>41.357295939889639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55EC-4640-B33B-1A05EC58BD7A}"/>
            </c:ext>
          </c:extLst>
        </c:ser>
        <c:ser>
          <c:idx val="1"/>
          <c:order val="1"/>
          <c:tx>
            <c:v>Custom-Engineered</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5EC-4640-B33B-1A05EC58BD7A}"/>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5EC-4640-B33B-1A05EC58BD7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56.003633238270112</c:v>
              </c:pt>
              <c:pt idx="1">
                <c:v>58.642704060110354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55EC-4640-B33B-1A05EC58BD7A}"/>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Standard / Stock Sizes</c:v>
          </c:tx>
          <c:spPr>
            <a:solidFill>
              <a:srgbClr val="3D85C6"/>
            </a:solidFill>
          </c:spPr>
          <c:invertIfNegative val="0"/>
          <c:xVal>
            <c:numLit>
              <c:formatCode>General</c:formatCode>
              <c:ptCount val="1"/>
              <c:pt idx="0">
                <c:v>136.58473328661771</c:v>
              </c:pt>
            </c:numLit>
          </c:xVal>
          <c:yVal>
            <c:numLit>
              <c:formatCode>General</c:formatCode>
              <c:ptCount val="1"/>
              <c:pt idx="0">
                <c:v>73.285984848484844</c:v>
              </c:pt>
            </c:numLit>
          </c:yVal>
          <c:bubbleSize>
            <c:numLit>
              <c:formatCode>General</c:formatCode>
              <c:ptCount val="1"/>
              <c:pt idx="0">
                <c:v>663.47799999999995</c:v>
              </c:pt>
            </c:numLit>
          </c:bubbleSize>
          <c:bubble3D val="0"/>
          <c:extLst>
            <c:ext xmlns:c16="http://schemas.microsoft.com/office/drawing/2014/chart" uri="{C3380CC4-5D6E-409C-BE32-E72D297353CC}">
              <c16:uniqueId val="{00000000-379F-4217-9F4D-E3399D1E1462}"/>
            </c:ext>
          </c:extLst>
        </c:ser>
        <c:ser>
          <c:idx val="1"/>
          <c:order val="1"/>
          <c:tx>
            <c:v>Custom-Engineered</c:v>
          </c:tx>
          <c:spPr>
            <a:solidFill>
              <a:srgbClr val="9E7E0A"/>
            </a:solidFill>
          </c:spPr>
          <c:invertIfNegative val="0"/>
          <c:xVal>
            <c:numLit>
              <c:formatCode>General</c:formatCode>
              <c:ptCount val="1"/>
              <c:pt idx="0">
                <c:v>76.483426025849582</c:v>
              </c:pt>
            </c:numLit>
          </c:xVal>
          <c:yVal>
            <c:numLit>
              <c:formatCode>General</c:formatCode>
              <c:ptCount val="1"/>
              <c:pt idx="0">
                <c:v>126.71401515151514</c:v>
              </c:pt>
            </c:numLit>
          </c:yVal>
          <c:bubbleSize>
            <c:numLit>
              <c:formatCode>General</c:formatCode>
              <c:ptCount val="1"/>
              <c:pt idx="0">
                <c:v>908.11300000000006</c:v>
              </c:pt>
            </c:numLit>
          </c:bubbleSize>
          <c:bubble3D val="0"/>
          <c:extLst>
            <c:ext xmlns:c16="http://schemas.microsoft.com/office/drawing/2014/chart" uri="{C3380CC4-5D6E-409C-BE32-E72D297353CC}">
              <c16:uniqueId val="{00000001-379F-4217-9F4D-E3399D1E1462}"/>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
          <c:min val="60"/>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150"/>
          <c:min val="5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386.95</c:v>
              </c:pt>
              <c:pt idx="2">
                <c:v>431.43900000000002</c:v>
              </c:pt>
              <c:pt idx="3">
                <c:v>480.79199999999997</c:v>
              </c:pt>
              <c:pt idx="4">
                <c:v>535.52700000000004</c:v>
              </c:pt>
              <c:pt idx="5">
                <c:v>596.21199999999999</c:v>
              </c:pt>
              <c:pt idx="6">
                <c:v>0</c:v>
              </c:pt>
            </c:numLit>
          </c:val>
          <c:extLst>
            <c:ext xmlns:c16="http://schemas.microsoft.com/office/drawing/2014/chart" uri="{C3380CC4-5D6E-409C-BE32-E72D297353CC}">
              <c16:uniqueId val="{00000000-6D22-4A61-B19E-ADD72C69BF24}"/>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6D22-4A61-B19E-ADD72C69BF24}"/>
              </c:ext>
            </c:extLst>
          </c:dPt>
          <c:dPt>
            <c:idx val="1"/>
            <c:invertIfNegative val="1"/>
            <c:bubble3D val="0"/>
            <c:spPr>
              <a:solidFill>
                <a:srgbClr val="008189"/>
              </a:solidFill>
            </c:spPr>
            <c:extLst>
              <c:ext xmlns:c16="http://schemas.microsoft.com/office/drawing/2014/chart" uri="{C3380CC4-5D6E-409C-BE32-E72D297353CC}">
                <c16:uniqueId val="{00000004-6D22-4A61-B19E-ADD72C69BF24}"/>
              </c:ext>
            </c:extLst>
          </c:dPt>
          <c:dPt>
            <c:idx val="2"/>
            <c:invertIfNegative val="1"/>
            <c:bubble3D val="0"/>
            <c:spPr>
              <a:solidFill>
                <a:srgbClr val="008189"/>
              </a:solidFill>
            </c:spPr>
            <c:extLst>
              <c:ext xmlns:c16="http://schemas.microsoft.com/office/drawing/2014/chart" uri="{C3380CC4-5D6E-409C-BE32-E72D297353CC}">
                <c16:uniqueId val="{00000006-6D22-4A61-B19E-ADD72C69BF24}"/>
              </c:ext>
            </c:extLst>
          </c:dPt>
          <c:dPt>
            <c:idx val="3"/>
            <c:invertIfNegative val="1"/>
            <c:bubble3D val="0"/>
            <c:spPr>
              <a:solidFill>
                <a:srgbClr val="008189"/>
              </a:solidFill>
            </c:spPr>
            <c:extLst>
              <c:ext xmlns:c16="http://schemas.microsoft.com/office/drawing/2014/chart" uri="{C3380CC4-5D6E-409C-BE32-E72D297353CC}">
                <c16:uniqueId val="{00000008-6D22-4A61-B19E-ADD72C69BF24}"/>
              </c:ext>
            </c:extLst>
          </c:dPt>
          <c:dPt>
            <c:idx val="4"/>
            <c:invertIfNegative val="1"/>
            <c:bubble3D val="0"/>
            <c:spPr>
              <a:solidFill>
                <a:srgbClr val="008189"/>
              </a:solidFill>
            </c:spPr>
            <c:extLst>
              <c:ext xmlns:c16="http://schemas.microsoft.com/office/drawing/2014/chart" uri="{C3380CC4-5D6E-409C-BE32-E72D297353CC}">
                <c16:uniqueId val="{0000000A-6D22-4A61-B19E-ADD72C69BF24}"/>
              </c:ext>
            </c:extLst>
          </c:dPt>
          <c:dPt>
            <c:idx val="5"/>
            <c:invertIfNegative val="1"/>
            <c:bubble3D val="0"/>
            <c:spPr>
              <a:solidFill>
                <a:srgbClr val="008189"/>
              </a:solidFill>
            </c:spPr>
            <c:extLst>
              <c:ext xmlns:c16="http://schemas.microsoft.com/office/drawing/2014/chart" uri="{C3380CC4-5D6E-409C-BE32-E72D297353CC}">
                <c16:uniqueId val="{0000000C-6D22-4A61-B19E-ADD72C69BF24}"/>
              </c:ext>
            </c:extLst>
          </c:dPt>
          <c:dPt>
            <c:idx val="6"/>
            <c:invertIfNegative val="1"/>
            <c:bubble3D val="0"/>
            <c:spPr>
              <a:solidFill>
                <a:srgbClr val="0E72AE"/>
              </a:solidFill>
            </c:spPr>
            <c:extLst>
              <c:ext xmlns:c16="http://schemas.microsoft.com/office/drawing/2014/chart" uri="{C3380CC4-5D6E-409C-BE32-E72D297353CC}">
                <c16:uniqueId val="{0000000E-6D22-4A61-B19E-ADD72C69BF24}"/>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D22-4A61-B19E-ADD72C69BF2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D22-4A61-B19E-ADD72C69BF2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D22-4A61-B19E-ADD72C69BF24}"/>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D22-4A61-B19E-ADD72C69BF24}"/>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D22-4A61-B19E-ADD72C69BF24}"/>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D22-4A61-B19E-ADD72C69BF24}"/>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D22-4A61-B19E-ADD72C69BF24}"/>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386.95</c:v>
              </c:pt>
              <c:pt idx="1">
                <c:v>44.489000000000033</c:v>
              </c:pt>
              <c:pt idx="2">
                <c:v>49.352999999999952</c:v>
              </c:pt>
              <c:pt idx="3">
                <c:v>54.73500000000007</c:v>
              </c:pt>
              <c:pt idx="4">
                <c:v>60.684999999999945</c:v>
              </c:pt>
              <c:pt idx="5">
                <c:v>67.265999999999963</c:v>
              </c:pt>
              <c:pt idx="6">
                <c:v>663.47799999999995</c:v>
              </c:pt>
            </c:numLit>
          </c:val>
          <c:extLst>
            <c:ext xmlns:c16="http://schemas.microsoft.com/office/drawing/2014/chart" uri="{C3380CC4-5D6E-409C-BE32-E72D297353CC}">
              <c16:uniqueId val="{0000000F-6D22-4A61-B19E-ADD72C69BF24}"/>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669.05</c:v>
              </c:pt>
              <c:pt idx="2">
                <c:v>711.86800000000005</c:v>
              </c:pt>
              <c:pt idx="3">
                <c:v>757.09</c:v>
              </c:pt>
              <c:pt idx="4">
                <c:v>804.81200000000001</c:v>
              </c:pt>
              <c:pt idx="5">
                <c:v>855.12400000000002</c:v>
              </c:pt>
              <c:pt idx="6">
                <c:v>0</c:v>
              </c:pt>
            </c:numLit>
          </c:val>
          <c:extLst>
            <c:ext xmlns:c16="http://schemas.microsoft.com/office/drawing/2014/chart" uri="{C3380CC4-5D6E-409C-BE32-E72D297353CC}">
              <c16:uniqueId val="{00000000-0CF0-4007-9E5C-D60FE01A4794}"/>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0CF0-4007-9E5C-D60FE01A4794}"/>
              </c:ext>
            </c:extLst>
          </c:dPt>
          <c:dPt>
            <c:idx val="1"/>
            <c:invertIfNegative val="1"/>
            <c:bubble3D val="0"/>
            <c:spPr>
              <a:solidFill>
                <a:srgbClr val="008189"/>
              </a:solidFill>
            </c:spPr>
            <c:extLst>
              <c:ext xmlns:c16="http://schemas.microsoft.com/office/drawing/2014/chart" uri="{C3380CC4-5D6E-409C-BE32-E72D297353CC}">
                <c16:uniqueId val="{00000004-0CF0-4007-9E5C-D60FE01A4794}"/>
              </c:ext>
            </c:extLst>
          </c:dPt>
          <c:dPt>
            <c:idx val="2"/>
            <c:invertIfNegative val="1"/>
            <c:bubble3D val="0"/>
            <c:spPr>
              <a:solidFill>
                <a:srgbClr val="008189"/>
              </a:solidFill>
            </c:spPr>
            <c:extLst>
              <c:ext xmlns:c16="http://schemas.microsoft.com/office/drawing/2014/chart" uri="{C3380CC4-5D6E-409C-BE32-E72D297353CC}">
                <c16:uniqueId val="{00000006-0CF0-4007-9E5C-D60FE01A4794}"/>
              </c:ext>
            </c:extLst>
          </c:dPt>
          <c:dPt>
            <c:idx val="3"/>
            <c:invertIfNegative val="1"/>
            <c:bubble3D val="0"/>
            <c:spPr>
              <a:solidFill>
                <a:srgbClr val="008189"/>
              </a:solidFill>
            </c:spPr>
            <c:extLst>
              <c:ext xmlns:c16="http://schemas.microsoft.com/office/drawing/2014/chart" uri="{C3380CC4-5D6E-409C-BE32-E72D297353CC}">
                <c16:uniqueId val="{00000008-0CF0-4007-9E5C-D60FE01A4794}"/>
              </c:ext>
            </c:extLst>
          </c:dPt>
          <c:dPt>
            <c:idx val="4"/>
            <c:invertIfNegative val="1"/>
            <c:bubble3D val="0"/>
            <c:spPr>
              <a:solidFill>
                <a:srgbClr val="008189"/>
              </a:solidFill>
            </c:spPr>
            <c:extLst>
              <c:ext xmlns:c16="http://schemas.microsoft.com/office/drawing/2014/chart" uri="{C3380CC4-5D6E-409C-BE32-E72D297353CC}">
                <c16:uniqueId val="{0000000A-0CF0-4007-9E5C-D60FE01A4794}"/>
              </c:ext>
            </c:extLst>
          </c:dPt>
          <c:dPt>
            <c:idx val="5"/>
            <c:invertIfNegative val="1"/>
            <c:bubble3D val="0"/>
            <c:spPr>
              <a:solidFill>
                <a:srgbClr val="008189"/>
              </a:solidFill>
            </c:spPr>
            <c:extLst>
              <c:ext xmlns:c16="http://schemas.microsoft.com/office/drawing/2014/chart" uri="{C3380CC4-5D6E-409C-BE32-E72D297353CC}">
                <c16:uniqueId val="{0000000C-0CF0-4007-9E5C-D60FE01A4794}"/>
              </c:ext>
            </c:extLst>
          </c:dPt>
          <c:dPt>
            <c:idx val="6"/>
            <c:invertIfNegative val="1"/>
            <c:bubble3D val="0"/>
            <c:spPr>
              <a:solidFill>
                <a:srgbClr val="0E72AE"/>
              </a:solidFill>
            </c:spPr>
            <c:extLst>
              <c:ext xmlns:c16="http://schemas.microsoft.com/office/drawing/2014/chart" uri="{C3380CC4-5D6E-409C-BE32-E72D297353CC}">
                <c16:uniqueId val="{0000000E-0CF0-4007-9E5C-D60FE01A4794}"/>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CF0-4007-9E5C-D60FE01A479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CF0-4007-9E5C-D60FE01A479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CF0-4007-9E5C-D60FE01A4794}"/>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CF0-4007-9E5C-D60FE01A4794}"/>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0CF0-4007-9E5C-D60FE01A4794}"/>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0CF0-4007-9E5C-D60FE01A4794}"/>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0CF0-4007-9E5C-D60FE01A4794}"/>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669.05</c:v>
              </c:pt>
              <c:pt idx="1">
                <c:v>42.818000000000097</c:v>
              </c:pt>
              <c:pt idx="2">
                <c:v>45.22199999999998</c:v>
              </c:pt>
              <c:pt idx="3">
                <c:v>47.72199999999998</c:v>
              </c:pt>
              <c:pt idx="4">
                <c:v>50.312000000000012</c:v>
              </c:pt>
              <c:pt idx="5">
                <c:v>52.989000000000033</c:v>
              </c:pt>
              <c:pt idx="6">
                <c:v>908.11300000000006</c:v>
              </c:pt>
            </c:numLit>
          </c:val>
          <c:extLst>
            <c:ext xmlns:c16="http://schemas.microsoft.com/office/drawing/2014/chart" uri="{C3380CC4-5D6E-409C-BE32-E72D297353CC}">
              <c16:uniqueId val="{0000000F-0CF0-4007-9E5C-D60FE01A4794}"/>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Custom-Engineered</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1F5-43A7-9405-79D8219D40B0}"/>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1F5-43A7-9405-79D8219D40B0}"/>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1F5-43A7-9405-79D8219D40B0}"/>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66.043983027213557</c:v>
              </c:pt>
              <c:pt idx="1">
                <c:v>63.357007575757571</c:v>
              </c:pt>
              <c:pt idx="2">
                <c:v>57.783036426143966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91F5-43A7-9405-79D8219D40B0}"/>
            </c:ext>
          </c:extLst>
        </c:ser>
        <c:ser>
          <c:idx val="1"/>
          <c:order val="1"/>
          <c:tx>
            <c:v>Standard / Stock Sizes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1F5-43A7-9405-79D8219D40B0}"/>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1F5-43A7-9405-79D8219D40B0}"/>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1F5-43A7-9405-79D8219D40B0}"/>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33.956016972786429</c:v>
              </c:pt>
              <c:pt idx="1">
                <c:v>36.642992424242422</c:v>
              </c:pt>
              <c:pt idx="2">
                <c:v>42.216963573856049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91F5-43A7-9405-79D8219D40B0}"/>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Food &amp; Beverage</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E70-48DC-AAFE-686108E6440C}"/>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E70-48DC-AAFE-686108E6440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19.437824745087315</c:v>
              </c:pt>
              <c:pt idx="1">
                <c:v>17.607589668673931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CE70-48DC-AAFE-686108E6440C}"/>
            </c:ext>
          </c:extLst>
        </c:ser>
        <c:ser>
          <c:idx val="1"/>
          <c:order val="1"/>
          <c:tx>
            <c:v>Pharmaceuticals &amp; Healthcare</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E70-48DC-AAFE-686108E6440C}"/>
                </c:ext>
              </c:extLst>
            </c:dLbl>
            <c:dLbl>
              <c:idx val="1"/>
              <c:numFmt formatCode="&quot;MMM&quot;;&quot;MMM&quot;;&quot;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E70-48DC-AAFE-686108E6440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10.579755440090635</c:v>
              </c:pt>
              <c:pt idx="1">
                <c:v>9.598160148954701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CE70-48DC-AAFE-686108E6440C}"/>
            </c:ext>
          </c:extLst>
        </c:ser>
        <c:ser>
          <c:idx val="2"/>
          <c:order val="2"/>
          <c:tx>
            <c:v>Personal Care &amp; Cosmetics</c:v>
          </c:tx>
          <c:spPr>
            <a:solidFill>
              <a:srgbClr val="008189"/>
            </a:solidFill>
            <a:ln>
              <a:noFill/>
            </a:ln>
          </c:spPr>
          <c:invertIfNegative val="1"/>
          <c:dLbls>
            <c:dLbl>
              <c:idx val="0"/>
              <c:numFmt formatCode="&quot;MMM&quot;;&quot;MMM&quot;;&quot;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E70-48DC-AAFE-686108E6440C}"/>
                </c:ext>
              </c:extLst>
            </c:dLbl>
            <c:dLbl>
              <c:idx val="1"/>
              <c:numFmt formatCode="&quot;MMM&quot;;&quot;MMM&quot;;&quot;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E70-48DC-AAFE-686108E6440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3.9260460210180876</c:v>
              </c:pt>
              <c:pt idx="1">
                <c:v>4.2861281686140051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8-CE70-48DC-AAFE-686108E6440C}"/>
            </c:ext>
          </c:extLst>
        </c:ser>
        <c:ser>
          <c:idx val="3"/>
          <c:order val="3"/>
          <c:tx>
            <c:v>Electronics &amp; Electrical</c:v>
          </c:tx>
          <c:spPr>
            <a:solidFill>
              <a:srgbClr val="40315E"/>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E70-48DC-AAFE-686108E6440C}"/>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E70-48DC-AAFE-686108E6440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14.77712231902176</c:v>
              </c:pt>
              <c:pt idx="1">
                <c:v>15.761132674814633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CE70-48DC-AAFE-686108E6440C}"/>
            </c:ext>
          </c:extLst>
        </c:ser>
        <c:ser>
          <c:idx val="4"/>
          <c:order val="4"/>
          <c:tx>
            <c:v>Automotive &amp; Industrial Components</c:v>
          </c:tx>
          <c:spPr>
            <a:solidFill>
              <a:srgbClr val="A35313"/>
            </a:solidFill>
            <a:ln>
              <a:noFill/>
            </a:ln>
          </c:spPr>
          <c:invertIfNegative val="1"/>
          <c:dLbls>
            <c:dLbl>
              <c:idx val="0"/>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E70-48DC-AAFE-686108E6440C}"/>
                </c:ext>
              </c:extLst>
            </c:dLbl>
            <c:dLbl>
              <c:idx val="1"/>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CE70-48DC-AAFE-686108E6440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10.544595069734733</c:v>
              </c:pt>
              <c:pt idx="1">
                <c:v>16.670016826294695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CE70-48DC-AAFE-686108E6440C}"/>
            </c:ext>
          </c:extLst>
        </c:ser>
        <c:ser>
          <c:idx val="5"/>
          <c:order val="5"/>
          <c:tx>
            <c:v>Glassware, Ceramics &amp; Home Goods</c:v>
          </c:tx>
          <c:spPr>
            <a:solidFill>
              <a:srgbClr val="808080"/>
            </a:solidFill>
            <a:ln>
              <a:noFill/>
            </a:ln>
          </c:spPr>
          <c:invertIfNegative val="1"/>
          <c:dLbls>
            <c:dLbl>
              <c:idx val="0"/>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CE70-48DC-AAFE-686108E6440C}"/>
                </c:ext>
              </c:extLst>
            </c:dLbl>
            <c:dLbl>
              <c:idx val="1"/>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CE70-48DC-AAFE-686108E6440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22.036176114388404</c:v>
              </c:pt>
              <c:pt idx="1">
                <c:v>21.605037885115003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1-CE70-48DC-AAFE-686108E6440C}"/>
            </c:ext>
          </c:extLst>
        </c:ser>
        <c:ser>
          <c:idx val="6"/>
          <c:order val="6"/>
          <c:tx>
            <c:v>Others</c:v>
          </c:tx>
          <c:spPr>
            <a:solidFill>
              <a:srgbClr val="0E72AE"/>
            </a:solidFill>
            <a:ln>
              <a:noFill/>
            </a:ln>
          </c:spPr>
          <c:invertIfNegative val="1"/>
          <c:dLbls>
            <c:dLbl>
              <c:idx val="0"/>
              <c:numFmt formatCode="&quot;MMMM&quot;;&quot;MMMM&quot;;&quot;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CE70-48DC-AAFE-686108E6440C}"/>
                </c:ext>
              </c:extLst>
            </c:dLbl>
            <c:dLbl>
              <c:idx val="1"/>
              <c:numFmt formatCode="&quot;MMMM&quot;;&quot;MMMM&quot;;&quot;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CE70-48DC-AAFE-686108E6440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18.698480290659059</c:v>
              </c:pt>
              <c:pt idx="1">
                <c:v>14.471934627533026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4-CE70-48DC-AAFE-686108E6440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Food &amp; Beverage</c:v>
          </c:tx>
          <c:spPr>
            <a:solidFill>
              <a:srgbClr val="3D85C6"/>
            </a:solidFill>
          </c:spPr>
          <c:invertIfNegative val="0"/>
          <c:xVal>
            <c:numLit>
              <c:formatCode>General</c:formatCode>
              <c:ptCount val="1"/>
              <c:pt idx="0">
                <c:v>146.80334695584114</c:v>
              </c:pt>
            </c:numLit>
          </c:xVal>
          <c:yVal>
            <c:numLit>
              <c:formatCode>General</c:formatCode>
              <c:ptCount val="1"/>
              <c:pt idx="0">
                <c:v>106.35094696969698</c:v>
              </c:pt>
            </c:numLit>
          </c:yVal>
          <c:bubbleSize>
            <c:numLit>
              <c:formatCode>General</c:formatCode>
              <c:ptCount val="1"/>
              <c:pt idx="0">
                <c:v>286.089</c:v>
              </c:pt>
            </c:numLit>
          </c:bubbleSize>
          <c:bubble3D val="0"/>
          <c:extLst>
            <c:ext xmlns:c16="http://schemas.microsoft.com/office/drawing/2014/chart" uri="{C3380CC4-5D6E-409C-BE32-E72D297353CC}">
              <c16:uniqueId val="{00000000-C08A-4E1A-8A77-C976C5B6004C}"/>
            </c:ext>
          </c:extLst>
        </c:ser>
        <c:ser>
          <c:idx val="1"/>
          <c:order val="1"/>
          <c:tx>
            <c:v>Pharmaceuticals &amp; Healthcare</c:v>
          </c:tx>
          <c:spPr>
            <a:solidFill>
              <a:srgbClr val="9E7E0A"/>
            </a:solidFill>
          </c:spPr>
          <c:invertIfNegative val="0"/>
          <c:xVal>
            <c:numLit>
              <c:formatCode>General</c:formatCode>
              <c:ptCount val="1"/>
              <c:pt idx="0">
                <c:v>31.257959114354627</c:v>
              </c:pt>
            </c:numLit>
          </c:xVal>
          <c:yVal>
            <c:numLit>
              <c:formatCode>General</c:formatCode>
              <c:ptCount val="1"/>
              <c:pt idx="0">
                <c:v>91.091477272727289</c:v>
              </c:pt>
            </c:numLit>
          </c:yVal>
          <c:bubbleSize>
            <c:numLit>
              <c:formatCode>General</c:formatCode>
              <c:ptCount val="1"/>
              <c:pt idx="0">
                <c:v>155.869</c:v>
              </c:pt>
            </c:numLit>
          </c:bubbleSize>
          <c:bubble3D val="0"/>
          <c:extLst>
            <c:ext xmlns:c16="http://schemas.microsoft.com/office/drawing/2014/chart" uri="{C3380CC4-5D6E-409C-BE32-E72D297353CC}">
              <c16:uniqueId val="{00000001-C08A-4E1A-8A77-C976C5B6004C}"/>
            </c:ext>
          </c:extLst>
        </c:ser>
        <c:ser>
          <c:idx val="2"/>
          <c:order val="2"/>
          <c:tx>
            <c:v>Personal Care &amp; Cosmetics</c:v>
          </c:tx>
          <c:spPr>
            <a:solidFill>
              <a:srgbClr val="008189"/>
            </a:solidFill>
          </c:spPr>
          <c:invertIfNegative val="0"/>
          <c:xVal>
            <c:numLit>
              <c:formatCode>General</c:formatCode>
              <c:ptCount val="1"/>
              <c:pt idx="0">
                <c:v>176.2791427871523</c:v>
              </c:pt>
            </c:numLit>
          </c:xVal>
          <c:yVal>
            <c:numLit>
              <c:formatCode>General</c:formatCode>
              <c:ptCount val="1"/>
              <c:pt idx="0">
                <c:v>21.770265151515154</c:v>
              </c:pt>
            </c:numLit>
          </c:yVal>
          <c:bubbleSize>
            <c:numLit>
              <c:formatCode>General</c:formatCode>
              <c:ptCount val="1"/>
              <c:pt idx="0">
                <c:v>65.516999999999996</c:v>
              </c:pt>
            </c:numLit>
          </c:bubbleSize>
          <c:bubble3D val="0"/>
          <c:extLst>
            <c:ext xmlns:c16="http://schemas.microsoft.com/office/drawing/2014/chart" uri="{C3380CC4-5D6E-409C-BE32-E72D297353CC}">
              <c16:uniqueId val="{00000002-C08A-4E1A-8A77-C976C5B6004C}"/>
            </c:ext>
          </c:extLst>
        </c:ser>
        <c:ser>
          <c:idx val="3"/>
          <c:order val="3"/>
          <c:tx>
            <c:v>Electronics &amp; Electrical</c:v>
          </c:tx>
          <c:spPr>
            <a:solidFill>
              <a:srgbClr val="40315E"/>
            </a:solidFill>
          </c:spPr>
          <c:invertIfNegative val="0"/>
          <c:xVal>
            <c:numLit>
              <c:formatCode>General</c:formatCode>
              <c:ptCount val="1"/>
              <c:pt idx="0">
                <c:v>181.76353683065437</c:v>
              </c:pt>
            </c:numLit>
          </c:xVal>
          <c:yVal>
            <c:numLit>
              <c:formatCode>General</c:formatCode>
              <c:ptCount val="1"/>
              <c:pt idx="0">
                <c:v>78.978030303030309</c:v>
              </c:pt>
            </c:numLit>
          </c:yVal>
          <c:bubbleSize>
            <c:numLit>
              <c:formatCode>General</c:formatCode>
              <c:ptCount val="1"/>
              <c:pt idx="0">
                <c:v>242.66300000000001</c:v>
              </c:pt>
            </c:numLit>
          </c:bubbleSize>
          <c:bubble3D val="0"/>
          <c:extLst>
            <c:ext xmlns:c16="http://schemas.microsoft.com/office/drawing/2014/chart" uri="{C3380CC4-5D6E-409C-BE32-E72D297353CC}">
              <c16:uniqueId val="{00000003-C08A-4E1A-8A77-C976C5B6004C}"/>
            </c:ext>
          </c:extLst>
        </c:ser>
        <c:ser>
          <c:idx val="4"/>
          <c:order val="4"/>
          <c:tx>
            <c:v>Automotive &amp; Industrial Components</c:v>
          </c:tx>
          <c:spPr>
            <a:solidFill>
              <a:srgbClr val="A35313"/>
            </a:solidFill>
          </c:spPr>
          <c:invertIfNegative val="0"/>
          <c:xVal>
            <c:numLit>
              <c:formatCode>General</c:formatCode>
              <c:ptCount val="1"/>
              <c:pt idx="0">
                <c:v>74.729506099687001</c:v>
              </c:pt>
            </c:numLit>
          </c:xVal>
          <c:yVal>
            <c:numLit>
              <c:formatCode>General</c:formatCode>
              <c:ptCount val="1"/>
              <c:pt idx="0">
                <c:v>113.41193181818183</c:v>
              </c:pt>
            </c:numLit>
          </c:yVal>
          <c:bubbleSize>
            <c:numLit>
              <c:formatCode>General</c:formatCode>
              <c:ptCount val="1"/>
              <c:pt idx="0">
                <c:v>230.626</c:v>
              </c:pt>
            </c:numLit>
          </c:bubbleSize>
          <c:bubble3D val="0"/>
          <c:extLst>
            <c:ext xmlns:c16="http://schemas.microsoft.com/office/drawing/2014/chart" uri="{C3380CC4-5D6E-409C-BE32-E72D297353CC}">
              <c16:uniqueId val="{00000004-C08A-4E1A-8A77-C976C5B6004C}"/>
            </c:ext>
          </c:extLst>
        </c:ser>
        <c:ser>
          <c:idx val="5"/>
          <c:order val="5"/>
          <c:tx>
            <c:v>Glassware, Ceramics &amp; Home Goods</c:v>
          </c:tx>
          <c:spPr>
            <a:solidFill>
              <a:srgbClr val="808080"/>
            </a:solidFill>
          </c:spPr>
          <c:invertIfNegative val="0"/>
          <c:xVal>
            <c:numLit>
              <c:formatCode>General</c:formatCode>
              <c:ptCount val="1"/>
              <c:pt idx="0">
                <c:v>95.467539038611278</c:v>
              </c:pt>
            </c:numLit>
          </c:xVal>
          <c:yVal>
            <c:numLit>
              <c:formatCode>General</c:formatCode>
              <c:ptCount val="1"/>
              <c:pt idx="0">
                <c:v>154.93399621212123</c:v>
              </c:pt>
            </c:numLit>
          </c:yVal>
          <c:bubbleSize>
            <c:numLit>
              <c:formatCode>General</c:formatCode>
              <c:ptCount val="1"/>
              <c:pt idx="0">
                <c:v>341.75</c:v>
              </c:pt>
            </c:numLit>
          </c:bubbleSize>
          <c:bubble3D val="0"/>
          <c:extLst>
            <c:ext xmlns:c16="http://schemas.microsoft.com/office/drawing/2014/chart" uri="{C3380CC4-5D6E-409C-BE32-E72D297353CC}">
              <c16:uniqueId val="{00000005-C08A-4E1A-8A77-C976C5B6004C}"/>
            </c:ext>
          </c:extLst>
        </c:ser>
        <c:ser>
          <c:idx val="6"/>
          <c:order val="6"/>
          <c:tx>
            <c:v>Others</c:v>
          </c:tx>
          <c:spPr>
            <a:solidFill>
              <a:srgbClr val="0E72AE"/>
            </a:solidFill>
          </c:spPr>
          <c:invertIfNegative val="0"/>
          <c:xVal>
            <c:numLit>
              <c:formatCode>General</c:formatCode>
              <c:ptCount val="1"/>
              <c:pt idx="0">
                <c:v>53.019292791871642</c:v>
              </c:pt>
            </c:numLit>
          </c:xVal>
          <c:yVal>
            <c:numLit>
              <c:formatCode>General</c:formatCode>
              <c:ptCount val="1"/>
              <c:pt idx="0">
                <c:v>133.46335227272726</c:v>
              </c:pt>
            </c:numLit>
          </c:yVal>
          <c:bubbleSize>
            <c:numLit>
              <c:formatCode>General</c:formatCode>
              <c:ptCount val="1"/>
              <c:pt idx="0">
                <c:v>249.077</c:v>
              </c:pt>
            </c:numLit>
          </c:bubbleSize>
          <c:bubble3D val="0"/>
          <c:extLst>
            <c:ext xmlns:c16="http://schemas.microsoft.com/office/drawing/2014/chart" uri="{C3380CC4-5D6E-409C-BE32-E72D297353CC}">
              <c16:uniqueId val="{00000006-C08A-4E1A-8A77-C976C5B6004C}"/>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20"/>
          <c:min val="-10"/>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200"/>
          <c:min val="0"/>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160.43799999999999</c:v>
              </c:pt>
              <c:pt idx="2">
                <c:v>180.285</c:v>
              </c:pt>
              <c:pt idx="3">
                <c:v>202.48099999999999</c:v>
              </c:pt>
              <c:pt idx="4">
                <c:v>227.30600000000001</c:v>
              </c:pt>
              <c:pt idx="5">
                <c:v>255.06100000000001</c:v>
              </c:pt>
              <c:pt idx="6">
                <c:v>0</c:v>
              </c:pt>
            </c:numLit>
          </c:val>
          <c:extLst>
            <c:ext xmlns:c16="http://schemas.microsoft.com/office/drawing/2014/chart" uri="{C3380CC4-5D6E-409C-BE32-E72D297353CC}">
              <c16:uniqueId val="{00000000-73B5-488F-9165-AF6B519FFDD1}"/>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73B5-488F-9165-AF6B519FFDD1}"/>
              </c:ext>
            </c:extLst>
          </c:dPt>
          <c:dPt>
            <c:idx val="1"/>
            <c:invertIfNegative val="1"/>
            <c:bubble3D val="0"/>
            <c:spPr>
              <a:solidFill>
                <a:srgbClr val="008189"/>
              </a:solidFill>
            </c:spPr>
            <c:extLst>
              <c:ext xmlns:c16="http://schemas.microsoft.com/office/drawing/2014/chart" uri="{C3380CC4-5D6E-409C-BE32-E72D297353CC}">
                <c16:uniqueId val="{00000004-73B5-488F-9165-AF6B519FFDD1}"/>
              </c:ext>
            </c:extLst>
          </c:dPt>
          <c:dPt>
            <c:idx val="2"/>
            <c:invertIfNegative val="1"/>
            <c:bubble3D val="0"/>
            <c:spPr>
              <a:solidFill>
                <a:srgbClr val="008189"/>
              </a:solidFill>
            </c:spPr>
            <c:extLst>
              <c:ext xmlns:c16="http://schemas.microsoft.com/office/drawing/2014/chart" uri="{C3380CC4-5D6E-409C-BE32-E72D297353CC}">
                <c16:uniqueId val="{00000006-73B5-488F-9165-AF6B519FFDD1}"/>
              </c:ext>
            </c:extLst>
          </c:dPt>
          <c:dPt>
            <c:idx val="3"/>
            <c:invertIfNegative val="1"/>
            <c:bubble3D val="0"/>
            <c:spPr>
              <a:solidFill>
                <a:srgbClr val="008189"/>
              </a:solidFill>
            </c:spPr>
            <c:extLst>
              <c:ext xmlns:c16="http://schemas.microsoft.com/office/drawing/2014/chart" uri="{C3380CC4-5D6E-409C-BE32-E72D297353CC}">
                <c16:uniqueId val="{00000008-73B5-488F-9165-AF6B519FFDD1}"/>
              </c:ext>
            </c:extLst>
          </c:dPt>
          <c:dPt>
            <c:idx val="4"/>
            <c:invertIfNegative val="1"/>
            <c:bubble3D val="0"/>
            <c:spPr>
              <a:solidFill>
                <a:srgbClr val="008189"/>
              </a:solidFill>
            </c:spPr>
            <c:extLst>
              <c:ext xmlns:c16="http://schemas.microsoft.com/office/drawing/2014/chart" uri="{C3380CC4-5D6E-409C-BE32-E72D297353CC}">
                <c16:uniqueId val="{0000000A-73B5-488F-9165-AF6B519FFDD1}"/>
              </c:ext>
            </c:extLst>
          </c:dPt>
          <c:dPt>
            <c:idx val="5"/>
            <c:invertIfNegative val="1"/>
            <c:bubble3D val="0"/>
            <c:spPr>
              <a:solidFill>
                <a:srgbClr val="008189"/>
              </a:solidFill>
            </c:spPr>
            <c:extLst>
              <c:ext xmlns:c16="http://schemas.microsoft.com/office/drawing/2014/chart" uri="{C3380CC4-5D6E-409C-BE32-E72D297353CC}">
                <c16:uniqueId val="{0000000C-73B5-488F-9165-AF6B519FFDD1}"/>
              </c:ext>
            </c:extLst>
          </c:dPt>
          <c:dPt>
            <c:idx val="6"/>
            <c:invertIfNegative val="1"/>
            <c:bubble3D val="0"/>
            <c:spPr>
              <a:solidFill>
                <a:srgbClr val="0E72AE"/>
              </a:solidFill>
            </c:spPr>
            <c:extLst>
              <c:ext xmlns:c16="http://schemas.microsoft.com/office/drawing/2014/chart" uri="{C3380CC4-5D6E-409C-BE32-E72D297353CC}">
                <c16:uniqueId val="{0000000E-73B5-488F-9165-AF6B519FFDD1}"/>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3B5-488F-9165-AF6B519FFDD1}"/>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3B5-488F-9165-AF6B519FFDD1}"/>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3B5-488F-9165-AF6B519FFDD1}"/>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3B5-488F-9165-AF6B519FFDD1}"/>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3B5-488F-9165-AF6B519FFDD1}"/>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3B5-488F-9165-AF6B519FFDD1}"/>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73B5-488F-9165-AF6B519FFDD1}"/>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160.43799999999999</c:v>
              </c:pt>
              <c:pt idx="1">
                <c:v>19.847000000000008</c:v>
              </c:pt>
              <c:pt idx="2">
                <c:v>22.195999999999998</c:v>
              </c:pt>
              <c:pt idx="3">
                <c:v>24.825000000000017</c:v>
              </c:pt>
              <c:pt idx="4">
                <c:v>27.754999999999995</c:v>
              </c:pt>
              <c:pt idx="5">
                <c:v>31.027999999999992</c:v>
              </c:pt>
              <c:pt idx="6">
                <c:v>286.089</c:v>
              </c:pt>
            </c:numLit>
          </c:val>
          <c:extLst>
            <c:ext xmlns:c16="http://schemas.microsoft.com/office/drawing/2014/chart" uri="{C3380CC4-5D6E-409C-BE32-E72D297353CC}">
              <c16:uniqueId val="{0000000F-73B5-488F-9165-AF6B519FFDD1}"/>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137.41800000000001</c:v>
              </c:pt>
              <c:pt idx="2">
                <c:v>142.011</c:v>
              </c:pt>
              <c:pt idx="3">
                <c:v>146.268</c:v>
              </c:pt>
              <c:pt idx="4">
                <c:v>150.084</c:v>
              </c:pt>
              <c:pt idx="5">
                <c:v>153.333</c:v>
              </c:pt>
              <c:pt idx="6">
                <c:v>0</c:v>
              </c:pt>
            </c:numLit>
          </c:val>
          <c:extLst>
            <c:ext xmlns:c16="http://schemas.microsoft.com/office/drawing/2014/chart" uri="{C3380CC4-5D6E-409C-BE32-E72D297353CC}">
              <c16:uniqueId val="{00000000-AA17-42BD-8B69-E9C55269F9C0}"/>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AA17-42BD-8B69-E9C55269F9C0}"/>
              </c:ext>
            </c:extLst>
          </c:dPt>
          <c:dPt>
            <c:idx val="1"/>
            <c:invertIfNegative val="1"/>
            <c:bubble3D val="0"/>
            <c:spPr>
              <a:solidFill>
                <a:srgbClr val="008189"/>
              </a:solidFill>
            </c:spPr>
            <c:extLst>
              <c:ext xmlns:c16="http://schemas.microsoft.com/office/drawing/2014/chart" uri="{C3380CC4-5D6E-409C-BE32-E72D297353CC}">
                <c16:uniqueId val="{00000004-AA17-42BD-8B69-E9C55269F9C0}"/>
              </c:ext>
            </c:extLst>
          </c:dPt>
          <c:dPt>
            <c:idx val="2"/>
            <c:invertIfNegative val="1"/>
            <c:bubble3D val="0"/>
            <c:spPr>
              <a:solidFill>
                <a:srgbClr val="008189"/>
              </a:solidFill>
            </c:spPr>
            <c:extLst>
              <c:ext xmlns:c16="http://schemas.microsoft.com/office/drawing/2014/chart" uri="{C3380CC4-5D6E-409C-BE32-E72D297353CC}">
                <c16:uniqueId val="{00000006-AA17-42BD-8B69-E9C55269F9C0}"/>
              </c:ext>
            </c:extLst>
          </c:dPt>
          <c:dPt>
            <c:idx val="3"/>
            <c:invertIfNegative val="1"/>
            <c:bubble3D val="0"/>
            <c:spPr>
              <a:solidFill>
                <a:srgbClr val="008189"/>
              </a:solidFill>
            </c:spPr>
            <c:extLst>
              <c:ext xmlns:c16="http://schemas.microsoft.com/office/drawing/2014/chart" uri="{C3380CC4-5D6E-409C-BE32-E72D297353CC}">
                <c16:uniqueId val="{00000008-AA17-42BD-8B69-E9C55269F9C0}"/>
              </c:ext>
            </c:extLst>
          </c:dPt>
          <c:dPt>
            <c:idx val="4"/>
            <c:invertIfNegative val="1"/>
            <c:bubble3D val="0"/>
            <c:spPr>
              <a:solidFill>
                <a:srgbClr val="008189"/>
              </a:solidFill>
            </c:spPr>
            <c:extLst>
              <c:ext xmlns:c16="http://schemas.microsoft.com/office/drawing/2014/chart" uri="{C3380CC4-5D6E-409C-BE32-E72D297353CC}">
                <c16:uniqueId val="{0000000A-AA17-42BD-8B69-E9C55269F9C0}"/>
              </c:ext>
            </c:extLst>
          </c:dPt>
          <c:dPt>
            <c:idx val="5"/>
            <c:invertIfNegative val="1"/>
            <c:bubble3D val="0"/>
            <c:spPr>
              <a:solidFill>
                <a:srgbClr val="008189"/>
              </a:solidFill>
            </c:spPr>
            <c:extLst>
              <c:ext xmlns:c16="http://schemas.microsoft.com/office/drawing/2014/chart" uri="{C3380CC4-5D6E-409C-BE32-E72D297353CC}">
                <c16:uniqueId val="{0000000C-AA17-42BD-8B69-E9C55269F9C0}"/>
              </c:ext>
            </c:extLst>
          </c:dPt>
          <c:dPt>
            <c:idx val="6"/>
            <c:invertIfNegative val="1"/>
            <c:bubble3D val="0"/>
            <c:spPr>
              <a:solidFill>
                <a:srgbClr val="0E72AE"/>
              </a:solidFill>
            </c:spPr>
            <c:extLst>
              <c:ext xmlns:c16="http://schemas.microsoft.com/office/drawing/2014/chart" uri="{C3380CC4-5D6E-409C-BE32-E72D297353CC}">
                <c16:uniqueId val="{0000000E-AA17-42BD-8B69-E9C55269F9C0}"/>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A17-42BD-8B69-E9C55269F9C0}"/>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A17-42BD-8B69-E9C55269F9C0}"/>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A17-42BD-8B69-E9C55269F9C0}"/>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A17-42BD-8B69-E9C55269F9C0}"/>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A17-42BD-8B69-E9C55269F9C0}"/>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AA17-42BD-8B69-E9C55269F9C0}"/>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AA17-42BD-8B69-E9C55269F9C0}"/>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137.41800000000001</c:v>
              </c:pt>
              <c:pt idx="1">
                <c:v>4.5929999999999893</c:v>
              </c:pt>
              <c:pt idx="2">
                <c:v>4.257000000000005</c:v>
              </c:pt>
              <c:pt idx="3">
                <c:v>3.8160000000000025</c:v>
              </c:pt>
              <c:pt idx="4">
                <c:v>3.2489999999999952</c:v>
              </c:pt>
              <c:pt idx="5">
                <c:v>2.5360000000000014</c:v>
              </c:pt>
              <c:pt idx="6">
                <c:v>155.869</c:v>
              </c:pt>
            </c:numLit>
          </c:val>
          <c:extLst>
            <c:ext xmlns:c16="http://schemas.microsoft.com/office/drawing/2014/chart" uri="{C3380CC4-5D6E-409C-BE32-E72D297353CC}">
              <c16:uniqueId val="{0000000F-AA17-42BD-8B69-E9C55269F9C0}"/>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32.841999999999999</c:v>
              </c:pt>
              <c:pt idx="2">
                <c:v>37.878</c:v>
              </c:pt>
              <c:pt idx="3">
                <c:v>43.575000000000003</c:v>
              </c:pt>
              <c:pt idx="4">
                <c:v>50.017000000000003</c:v>
              </c:pt>
              <c:pt idx="5">
                <c:v>57.296999999999997</c:v>
              </c:pt>
              <c:pt idx="6">
                <c:v>0</c:v>
              </c:pt>
            </c:numLit>
          </c:val>
          <c:extLst>
            <c:ext xmlns:c16="http://schemas.microsoft.com/office/drawing/2014/chart" uri="{C3380CC4-5D6E-409C-BE32-E72D297353CC}">
              <c16:uniqueId val="{00000000-C57F-4C6A-A1BF-4DAA983620AE}"/>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C57F-4C6A-A1BF-4DAA983620AE}"/>
              </c:ext>
            </c:extLst>
          </c:dPt>
          <c:dPt>
            <c:idx val="1"/>
            <c:invertIfNegative val="1"/>
            <c:bubble3D val="0"/>
            <c:spPr>
              <a:solidFill>
                <a:srgbClr val="008189"/>
              </a:solidFill>
            </c:spPr>
            <c:extLst>
              <c:ext xmlns:c16="http://schemas.microsoft.com/office/drawing/2014/chart" uri="{C3380CC4-5D6E-409C-BE32-E72D297353CC}">
                <c16:uniqueId val="{00000004-C57F-4C6A-A1BF-4DAA983620AE}"/>
              </c:ext>
            </c:extLst>
          </c:dPt>
          <c:dPt>
            <c:idx val="2"/>
            <c:invertIfNegative val="1"/>
            <c:bubble3D val="0"/>
            <c:spPr>
              <a:solidFill>
                <a:srgbClr val="008189"/>
              </a:solidFill>
            </c:spPr>
            <c:extLst>
              <c:ext xmlns:c16="http://schemas.microsoft.com/office/drawing/2014/chart" uri="{C3380CC4-5D6E-409C-BE32-E72D297353CC}">
                <c16:uniqueId val="{00000006-C57F-4C6A-A1BF-4DAA983620AE}"/>
              </c:ext>
            </c:extLst>
          </c:dPt>
          <c:dPt>
            <c:idx val="3"/>
            <c:invertIfNegative val="1"/>
            <c:bubble3D val="0"/>
            <c:spPr>
              <a:solidFill>
                <a:srgbClr val="008189"/>
              </a:solidFill>
            </c:spPr>
            <c:extLst>
              <c:ext xmlns:c16="http://schemas.microsoft.com/office/drawing/2014/chart" uri="{C3380CC4-5D6E-409C-BE32-E72D297353CC}">
                <c16:uniqueId val="{00000008-C57F-4C6A-A1BF-4DAA983620AE}"/>
              </c:ext>
            </c:extLst>
          </c:dPt>
          <c:dPt>
            <c:idx val="4"/>
            <c:invertIfNegative val="1"/>
            <c:bubble3D val="0"/>
            <c:spPr>
              <a:solidFill>
                <a:srgbClr val="008189"/>
              </a:solidFill>
            </c:spPr>
            <c:extLst>
              <c:ext xmlns:c16="http://schemas.microsoft.com/office/drawing/2014/chart" uri="{C3380CC4-5D6E-409C-BE32-E72D297353CC}">
                <c16:uniqueId val="{0000000A-C57F-4C6A-A1BF-4DAA983620AE}"/>
              </c:ext>
            </c:extLst>
          </c:dPt>
          <c:dPt>
            <c:idx val="5"/>
            <c:invertIfNegative val="1"/>
            <c:bubble3D val="0"/>
            <c:spPr>
              <a:solidFill>
                <a:srgbClr val="008189"/>
              </a:solidFill>
            </c:spPr>
            <c:extLst>
              <c:ext xmlns:c16="http://schemas.microsoft.com/office/drawing/2014/chart" uri="{C3380CC4-5D6E-409C-BE32-E72D297353CC}">
                <c16:uniqueId val="{0000000C-C57F-4C6A-A1BF-4DAA983620AE}"/>
              </c:ext>
            </c:extLst>
          </c:dPt>
          <c:dPt>
            <c:idx val="6"/>
            <c:invertIfNegative val="1"/>
            <c:bubble3D val="0"/>
            <c:spPr>
              <a:solidFill>
                <a:srgbClr val="0E72AE"/>
              </a:solidFill>
            </c:spPr>
            <c:extLst>
              <c:ext xmlns:c16="http://schemas.microsoft.com/office/drawing/2014/chart" uri="{C3380CC4-5D6E-409C-BE32-E72D297353CC}">
                <c16:uniqueId val="{0000000E-C57F-4C6A-A1BF-4DAA983620AE}"/>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57F-4C6A-A1BF-4DAA983620A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57F-4C6A-A1BF-4DAA983620A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57F-4C6A-A1BF-4DAA983620AE}"/>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57F-4C6A-A1BF-4DAA983620AE}"/>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57F-4C6A-A1BF-4DAA983620AE}"/>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57F-4C6A-A1BF-4DAA983620AE}"/>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57F-4C6A-A1BF-4DAA983620AE}"/>
                </c:ext>
              </c:extLst>
            </c:dLbl>
            <c:numFmt formatCode="0.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32.841999999999999</c:v>
              </c:pt>
              <c:pt idx="1">
                <c:v>5.0360000000000014</c:v>
              </c:pt>
              <c:pt idx="2">
                <c:v>5.6970000000000027</c:v>
              </c:pt>
              <c:pt idx="3">
                <c:v>6.4420000000000002</c:v>
              </c:pt>
              <c:pt idx="4">
                <c:v>7.279999999999994</c:v>
              </c:pt>
              <c:pt idx="5">
                <c:v>8.2199999999999989</c:v>
              </c:pt>
              <c:pt idx="6">
                <c:v>65.516999999999996</c:v>
              </c:pt>
            </c:numLit>
          </c:val>
          <c:extLst>
            <c:ext xmlns:c16="http://schemas.microsoft.com/office/drawing/2014/chart" uri="{C3380CC4-5D6E-409C-BE32-E72D297353CC}">
              <c16:uniqueId val="{0000000F-C57F-4C6A-A1BF-4DAA983620AE}"/>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119.14400000000001</c:v>
              </c:pt>
              <c:pt idx="2">
                <c:v>138.10300000000001</c:v>
              </c:pt>
              <c:pt idx="3">
                <c:v>159.59700000000001</c:v>
              </c:pt>
              <c:pt idx="4">
                <c:v>183.946</c:v>
              </c:pt>
              <c:pt idx="5">
                <c:v>211.501</c:v>
              </c:pt>
              <c:pt idx="6">
                <c:v>0</c:v>
              </c:pt>
            </c:numLit>
          </c:val>
          <c:extLst>
            <c:ext xmlns:c16="http://schemas.microsoft.com/office/drawing/2014/chart" uri="{C3380CC4-5D6E-409C-BE32-E72D297353CC}">
              <c16:uniqueId val="{00000000-F5FD-4E41-95BD-E593EFD6502B}"/>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F5FD-4E41-95BD-E593EFD6502B}"/>
              </c:ext>
            </c:extLst>
          </c:dPt>
          <c:dPt>
            <c:idx val="1"/>
            <c:invertIfNegative val="1"/>
            <c:bubble3D val="0"/>
            <c:spPr>
              <a:solidFill>
                <a:srgbClr val="008189"/>
              </a:solidFill>
            </c:spPr>
            <c:extLst>
              <c:ext xmlns:c16="http://schemas.microsoft.com/office/drawing/2014/chart" uri="{C3380CC4-5D6E-409C-BE32-E72D297353CC}">
                <c16:uniqueId val="{00000004-F5FD-4E41-95BD-E593EFD6502B}"/>
              </c:ext>
            </c:extLst>
          </c:dPt>
          <c:dPt>
            <c:idx val="2"/>
            <c:invertIfNegative val="1"/>
            <c:bubble3D val="0"/>
            <c:spPr>
              <a:solidFill>
                <a:srgbClr val="008189"/>
              </a:solidFill>
            </c:spPr>
            <c:extLst>
              <c:ext xmlns:c16="http://schemas.microsoft.com/office/drawing/2014/chart" uri="{C3380CC4-5D6E-409C-BE32-E72D297353CC}">
                <c16:uniqueId val="{00000006-F5FD-4E41-95BD-E593EFD6502B}"/>
              </c:ext>
            </c:extLst>
          </c:dPt>
          <c:dPt>
            <c:idx val="3"/>
            <c:invertIfNegative val="1"/>
            <c:bubble3D val="0"/>
            <c:spPr>
              <a:solidFill>
                <a:srgbClr val="008189"/>
              </a:solidFill>
            </c:spPr>
            <c:extLst>
              <c:ext xmlns:c16="http://schemas.microsoft.com/office/drawing/2014/chart" uri="{C3380CC4-5D6E-409C-BE32-E72D297353CC}">
                <c16:uniqueId val="{00000008-F5FD-4E41-95BD-E593EFD6502B}"/>
              </c:ext>
            </c:extLst>
          </c:dPt>
          <c:dPt>
            <c:idx val="4"/>
            <c:invertIfNegative val="1"/>
            <c:bubble3D val="0"/>
            <c:spPr>
              <a:solidFill>
                <a:srgbClr val="008189"/>
              </a:solidFill>
            </c:spPr>
            <c:extLst>
              <c:ext xmlns:c16="http://schemas.microsoft.com/office/drawing/2014/chart" uri="{C3380CC4-5D6E-409C-BE32-E72D297353CC}">
                <c16:uniqueId val="{0000000A-F5FD-4E41-95BD-E593EFD6502B}"/>
              </c:ext>
            </c:extLst>
          </c:dPt>
          <c:dPt>
            <c:idx val="5"/>
            <c:invertIfNegative val="1"/>
            <c:bubble3D val="0"/>
            <c:spPr>
              <a:solidFill>
                <a:srgbClr val="008189"/>
              </a:solidFill>
            </c:spPr>
            <c:extLst>
              <c:ext xmlns:c16="http://schemas.microsoft.com/office/drawing/2014/chart" uri="{C3380CC4-5D6E-409C-BE32-E72D297353CC}">
                <c16:uniqueId val="{0000000C-F5FD-4E41-95BD-E593EFD6502B}"/>
              </c:ext>
            </c:extLst>
          </c:dPt>
          <c:dPt>
            <c:idx val="6"/>
            <c:invertIfNegative val="1"/>
            <c:bubble3D val="0"/>
            <c:spPr>
              <a:solidFill>
                <a:srgbClr val="0E72AE"/>
              </a:solidFill>
            </c:spPr>
            <c:extLst>
              <c:ext xmlns:c16="http://schemas.microsoft.com/office/drawing/2014/chart" uri="{C3380CC4-5D6E-409C-BE32-E72D297353CC}">
                <c16:uniqueId val="{0000000E-F5FD-4E41-95BD-E593EFD6502B}"/>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5FD-4E41-95BD-E593EFD6502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5FD-4E41-95BD-E593EFD6502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5FD-4E41-95BD-E593EFD6502B}"/>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5FD-4E41-95BD-E593EFD6502B}"/>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5FD-4E41-95BD-E593EFD6502B}"/>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5FD-4E41-95BD-E593EFD6502B}"/>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5FD-4E41-95BD-E593EFD6502B}"/>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119.14400000000001</c:v>
              </c:pt>
              <c:pt idx="1">
                <c:v>18.959000000000003</c:v>
              </c:pt>
              <c:pt idx="2">
                <c:v>21.494</c:v>
              </c:pt>
              <c:pt idx="3">
                <c:v>24.34899999999999</c:v>
              </c:pt>
              <c:pt idx="4">
                <c:v>27.555000000000007</c:v>
              </c:pt>
              <c:pt idx="5">
                <c:v>31.162000000000006</c:v>
              </c:pt>
              <c:pt idx="6">
                <c:v>242.66300000000001</c:v>
              </c:pt>
            </c:numLit>
          </c:val>
          <c:extLst>
            <c:ext xmlns:c16="http://schemas.microsoft.com/office/drawing/2014/chart" uri="{C3380CC4-5D6E-409C-BE32-E72D297353CC}">
              <c16:uniqueId val="{0000000F-F5FD-4E41-95BD-E593EFD6502B}"/>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171.09</c:v>
              </c:pt>
              <c:pt idx="2">
                <c:v>181.86500000000001</c:v>
              </c:pt>
              <c:pt idx="3">
                <c:v>193.197</c:v>
              </c:pt>
              <c:pt idx="4">
                <c:v>205.096</c:v>
              </c:pt>
              <c:pt idx="5">
                <c:v>217.571</c:v>
              </c:pt>
              <c:pt idx="6">
                <c:v>0</c:v>
              </c:pt>
            </c:numLit>
          </c:val>
          <c:extLst>
            <c:ext xmlns:c16="http://schemas.microsoft.com/office/drawing/2014/chart" uri="{C3380CC4-5D6E-409C-BE32-E72D297353CC}">
              <c16:uniqueId val="{00000000-D566-4902-BA8C-B69929F7626E}"/>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D566-4902-BA8C-B69929F7626E}"/>
              </c:ext>
            </c:extLst>
          </c:dPt>
          <c:dPt>
            <c:idx val="1"/>
            <c:invertIfNegative val="1"/>
            <c:bubble3D val="0"/>
            <c:spPr>
              <a:solidFill>
                <a:srgbClr val="008189"/>
              </a:solidFill>
            </c:spPr>
            <c:extLst>
              <c:ext xmlns:c16="http://schemas.microsoft.com/office/drawing/2014/chart" uri="{C3380CC4-5D6E-409C-BE32-E72D297353CC}">
                <c16:uniqueId val="{00000004-D566-4902-BA8C-B69929F7626E}"/>
              </c:ext>
            </c:extLst>
          </c:dPt>
          <c:dPt>
            <c:idx val="2"/>
            <c:invertIfNegative val="1"/>
            <c:bubble3D val="0"/>
            <c:spPr>
              <a:solidFill>
                <a:srgbClr val="008189"/>
              </a:solidFill>
            </c:spPr>
            <c:extLst>
              <c:ext xmlns:c16="http://schemas.microsoft.com/office/drawing/2014/chart" uri="{C3380CC4-5D6E-409C-BE32-E72D297353CC}">
                <c16:uniqueId val="{00000006-D566-4902-BA8C-B69929F7626E}"/>
              </c:ext>
            </c:extLst>
          </c:dPt>
          <c:dPt>
            <c:idx val="3"/>
            <c:invertIfNegative val="1"/>
            <c:bubble3D val="0"/>
            <c:spPr>
              <a:solidFill>
                <a:srgbClr val="008189"/>
              </a:solidFill>
            </c:spPr>
            <c:extLst>
              <c:ext xmlns:c16="http://schemas.microsoft.com/office/drawing/2014/chart" uri="{C3380CC4-5D6E-409C-BE32-E72D297353CC}">
                <c16:uniqueId val="{00000008-D566-4902-BA8C-B69929F7626E}"/>
              </c:ext>
            </c:extLst>
          </c:dPt>
          <c:dPt>
            <c:idx val="4"/>
            <c:invertIfNegative val="1"/>
            <c:bubble3D val="0"/>
            <c:spPr>
              <a:solidFill>
                <a:srgbClr val="008189"/>
              </a:solidFill>
            </c:spPr>
            <c:extLst>
              <c:ext xmlns:c16="http://schemas.microsoft.com/office/drawing/2014/chart" uri="{C3380CC4-5D6E-409C-BE32-E72D297353CC}">
                <c16:uniqueId val="{0000000A-D566-4902-BA8C-B69929F7626E}"/>
              </c:ext>
            </c:extLst>
          </c:dPt>
          <c:dPt>
            <c:idx val="5"/>
            <c:invertIfNegative val="1"/>
            <c:bubble3D val="0"/>
            <c:spPr>
              <a:solidFill>
                <a:srgbClr val="008189"/>
              </a:solidFill>
            </c:spPr>
            <c:extLst>
              <c:ext xmlns:c16="http://schemas.microsoft.com/office/drawing/2014/chart" uri="{C3380CC4-5D6E-409C-BE32-E72D297353CC}">
                <c16:uniqueId val="{0000000C-D566-4902-BA8C-B69929F7626E}"/>
              </c:ext>
            </c:extLst>
          </c:dPt>
          <c:dPt>
            <c:idx val="6"/>
            <c:invertIfNegative val="1"/>
            <c:bubble3D val="0"/>
            <c:spPr>
              <a:solidFill>
                <a:srgbClr val="0E72AE"/>
              </a:solidFill>
            </c:spPr>
            <c:extLst>
              <c:ext xmlns:c16="http://schemas.microsoft.com/office/drawing/2014/chart" uri="{C3380CC4-5D6E-409C-BE32-E72D297353CC}">
                <c16:uniqueId val="{0000000E-D566-4902-BA8C-B69929F7626E}"/>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566-4902-BA8C-B69929F7626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566-4902-BA8C-B69929F7626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566-4902-BA8C-B69929F7626E}"/>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566-4902-BA8C-B69929F7626E}"/>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D566-4902-BA8C-B69929F7626E}"/>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566-4902-BA8C-B69929F7626E}"/>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D566-4902-BA8C-B69929F7626E}"/>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171.09</c:v>
              </c:pt>
              <c:pt idx="1">
                <c:v>10.775000000000006</c:v>
              </c:pt>
              <c:pt idx="2">
                <c:v>11.331999999999994</c:v>
              </c:pt>
              <c:pt idx="3">
                <c:v>11.899000000000001</c:v>
              </c:pt>
              <c:pt idx="4">
                <c:v>12.474999999999994</c:v>
              </c:pt>
              <c:pt idx="5">
                <c:v>13.055000000000007</c:v>
              </c:pt>
              <c:pt idx="6">
                <c:v>230.626</c:v>
              </c:pt>
            </c:numLit>
          </c:val>
          <c:extLst>
            <c:ext xmlns:c16="http://schemas.microsoft.com/office/drawing/2014/chart" uri="{C3380CC4-5D6E-409C-BE32-E72D297353CC}">
              <c16:uniqueId val="{0000000F-D566-4902-BA8C-B69929F7626E}"/>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233.72900000000001</c:v>
              </c:pt>
              <c:pt idx="2">
                <c:v>252.19800000000001</c:v>
              </c:pt>
              <c:pt idx="3">
                <c:v>272.12099999999998</c:v>
              </c:pt>
              <c:pt idx="4">
                <c:v>293.60199999999998</c:v>
              </c:pt>
              <c:pt idx="5">
                <c:v>316.76900000000001</c:v>
              </c:pt>
              <c:pt idx="6">
                <c:v>0</c:v>
              </c:pt>
            </c:numLit>
          </c:val>
          <c:extLst>
            <c:ext xmlns:c16="http://schemas.microsoft.com/office/drawing/2014/chart" uri="{C3380CC4-5D6E-409C-BE32-E72D297353CC}">
              <c16:uniqueId val="{00000000-5301-4FF8-8AF2-9D9766E57BC2}"/>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5301-4FF8-8AF2-9D9766E57BC2}"/>
              </c:ext>
            </c:extLst>
          </c:dPt>
          <c:dPt>
            <c:idx val="1"/>
            <c:invertIfNegative val="1"/>
            <c:bubble3D val="0"/>
            <c:spPr>
              <a:solidFill>
                <a:srgbClr val="008189"/>
              </a:solidFill>
            </c:spPr>
            <c:extLst>
              <c:ext xmlns:c16="http://schemas.microsoft.com/office/drawing/2014/chart" uri="{C3380CC4-5D6E-409C-BE32-E72D297353CC}">
                <c16:uniqueId val="{00000004-5301-4FF8-8AF2-9D9766E57BC2}"/>
              </c:ext>
            </c:extLst>
          </c:dPt>
          <c:dPt>
            <c:idx val="2"/>
            <c:invertIfNegative val="1"/>
            <c:bubble3D val="0"/>
            <c:spPr>
              <a:solidFill>
                <a:srgbClr val="008189"/>
              </a:solidFill>
            </c:spPr>
            <c:extLst>
              <c:ext xmlns:c16="http://schemas.microsoft.com/office/drawing/2014/chart" uri="{C3380CC4-5D6E-409C-BE32-E72D297353CC}">
                <c16:uniqueId val="{00000006-5301-4FF8-8AF2-9D9766E57BC2}"/>
              </c:ext>
            </c:extLst>
          </c:dPt>
          <c:dPt>
            <c:idx val="3"/>
            <c:invertIfNegative val="1"/>
            <c:bubble3D val="0"/>
            <c:spPr>
              <a:solidFill>
                <a:srgbClr val="008189"/>
              </a:solidFill>
            </c:spPr>
            <c:extLst>
              <c:ext xmlns:c16="http://schemas.microsoft.com/office/drawing/2014/chart" uri="{C3380CC4-5D6E-409C-BE32-E72D297353CC}">
                <c16:uniqueId val="{00000008-5301-4FF8-8AF2-9D9766E57BC2}"/>
              </c:ext>
            </c:extLst>
          </c:dPt>
          <c:dPt>
            <c:idx val="4"/>
            <c:invertIfNegative val="1"/>
            <c:bubble3D val="0"/>
            <c:spPr>
              <a:solidFill>
                <a:srgbClr val="008189"/>
              </a:solidFill>
            </c:spPr>
            <c:extLst>
              <c:ext xmlns:c16="http://schemas.microsoft.com/office/drawing/2014/chart" uri="{C3380CC4-5D6E-409C-BE32-E72D297353CC}">
                <c16:uniqueId val="{0000000A-5301-4FF8-8AF2-9D9766E57BC2}"/>
              </c:ext>
            </c:extLst>
          </c:dPt>
          <c:dPt>
            <c:idx val="5"/>
            <c:invertIfNegative val="1"/>
            <c:bubble3D val="0"/>
            <c:spPr>
              <a:solidFill>
                <a:srgbClr val="008189"/>
              </a:solidFill>
            </c:spPr>
            <c:extLst>
              <c:ext xmlns:c16="http://schemas.microsoft.com/office/drawing/2014/chart" uri="{C3380CC4-5D6E-409C-BE32-E72D297353CC}">
                <c16:uniqueId val="{0000000C-5301-4FF8-8AF2-9D9766E57BC2}"/>
              </c:ext>
            </c:extLst>
          </c:dPt>
          <c:dPt>
            <c:idx val="6"/>
            <c:invertIfNegative val="1"/>
            <c:bubble3D val="0"/>
            <c:spPr>
              <a:solidFill>
                <a:srgbClr val="0E72AE"/>
              </a:solidFill>
            </c:spPr>
            <c:extLst>
              <c:ext xmlns:c16="http://schemas.microsoft.com/office/drawing/2014/chart" uri="{C3380CC4-5D6E-409C-BE32-E72D297353CC}">
                <c16:uniqueId val="{0000000E-5301-4FF8-8AF2-9D9766E57BC2}"/>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301-4FF8-8AF2-9D9766E57BC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301-4FF8-8AF2-9D9766E57BC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301-4FF8-8AF2-9D9766E57BC2}"/>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301-4FF8-8AF2-9D9766E57BC2}"/>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5301-4FF8-8AF2-9D9766E57BC2}"/>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5301-4FF8-8AF2-9D9766E57BC2}"/>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5301-4FF8-8AF2-9D9766E57BC2}"/>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233.72900000000001</c:v>
              </c:pt>
              <c:pt idx="1">
                <c:v>18.468999999999994</c:v>
              </c:pt>
              <c:pt idx="2">
                <c:v>19.922999999999973</c:v>
              </c:pt>
              <c:pt idx="3">
                <c:v>21.480999999999995</c:v>
              </c:pt>
              <c:pt idx="4">
                <c:v>23.16700000000003</c:v>
              </c:pt>
              <c:pt idx="5">
                <c:v>24.980999999999995</c:v>
              </c:pt>
              <c:pt idx="6">
                <c:v>341.75</c:v>
              </c:pt>
            </c:numLit>
          </c:val>
          <c:extLst>
            <c:ext xmlns:c16="http://schemas.microsoft.com/office/drawing/2014/chart" uri="{C3380CC4-5D6E-409C-BE32-E72D297353CC}">
              <c16:uniqueId val="{0000000F-5301-4FF8-8AF2-9D9766E57BC2}"/>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201.339</c:v>
              </c:pt>
              <c:pt idx="2">
                <c:v>210.96700000000001</c:v>
              </c:pt>
              <c:pt idx="3">
                <c:v>220.643</c:v>
              </c:pt>
              <c:pt idx="4">
                <c:v>230.28800000000001</c:v>
              </c:pt>
              <c:pt idx="5">
                <c:v>239.804</c:v>
              </c:pt>
              <c:pt idx="6">
                <c:v>0</c:v>
              </c:pt>
            </c:numLit>
          </c:val>
          <c:extLst>
            <c:ext xmlns:c16="http://schemas.microsoft.com/office/drawing/2014/chart" uri="{C3380CC4-5D6E-409C-BE32-E72D297353CC}">
              <c16:uniqueId val="{00000000-8E6D-4E10-A1E5-49AA20DE42D8}"/>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8E6D-4E10-A1E5-49AA20DE42D8}"/>
              </c:ext>
            </c:extLst>
          </c:dPt>
          <c:dPt>
            <c:idx val="1"/>
            <c:invertIfNegative val="1"/>
            <c:bubble3D val="0"/>
            <c:spPr>
              <a:solidFill>
                <a:srgbClr val="008189"/>
              </a:solidFill>
            </c:spPr>
            <c:extLst>
              <c:ext xmlns:c16="http://schemas.microsoft.com/office/drawing/2014/chart" uri="{C3380CC4-5D6E-409C-BE32-E72D297353CC}">
                <c16:uniqueId val="{00000004-8E6D-4E10-A1E5-49AA20DE42D8}"/>
              </c:ext>
            </c:extLst>
          </c:dPt>
          <c:dPt>
            <c:idx val="2"/>
            <c:invertIfNegative val="1"/>
            <c:bubble3D val="0"/>
            <c:spPr>
              <a:solidFill>
                <a:srgbClr val="008189"/>
              </a:solidFill>
            </c:spPr>
            <c:extLst>
              <c:ext xmlns:c16="http://schemas.microsoft.com/office/drawing/2014/chart" uri="{C3380CC4-5D6E-409C-BE32-E72D297353CC}">
                <c16:uniqueId val="{00000006-8E6D-4E10-A1E5-49AA20DE42D8}"/>
              </c:ext>
            </c:extLst>
          </c:dPt>
          <c:dPt>
            <c:idx val="3"/>
            <c:invertIfNegative val="1"/>
            <c:bubble3D val="0"/>
            <c:spPr>
              <a:solidFill>
                <a:srgbClr val="008189"/>
              </a:solidFill>
            </c:spPr>
            <c:extLst>
              <c:ext xmlns:c16="http://schemas.microsoft.com/office/drawing/2014/chart" uri="{C3380CC4-5D6E-409C-BE32-E72D297353CC}">
                <c16:uniqueId val="{00000008-8E6D-4E10-A1E5-49AA20DE42D8}"/>
              </c:ext>
            </c:extLst>
          </c:dPt>
          <c:dPt>
            <c:idx val="4"/>
            <c:invertIfNegative val="1"/>
            <c:bubble3D val="0"/>
            <c:spPr>
              <a:solidFill>
                <a:srgbClr val="008189"/>
              </a:solidFill>
            </c:spPr>
            <c:extLst>
              <c:ext xmlns:c16="http://schemas.microsoft.com/office/drawing/2014/chart" uri="{C3380CC4-5D6E-409C-BE32-E72D297353CC}">
                <c16:uniqueId val="{0000000A-8E6D-4E10-A1E5-49AA20DE42D8}"/>
              </c:ext>
            </c:extLst>
          </c:dPt>
          <c:dPt>
            <c:idx val="5"/>
            <c:invertIfNegative val="1"/>
            <c:bubble3D val="0"/>
            <c:spPr>
              <a:solidFill>
                <a:srgbClr val="008189"/>
              </a:solidFill>
            </c:spPr>
            <c:extLst>
              <c:ext xmlns:c16="http://schemas.microsoft.com/office/drawing/2014/chart" uri="{C3380CC4-5D6E-409C-BE32-E72D297353CC}">
                <c16:uniqueId val="{0000000C-8E6D-4E10-A1E5-49AA20DE42D8}"/>
              </c:ext>
            </c:extLst>
          </c:dPt>
          <c:dPt>
            <c:idx val="6"/>
            <c:invertIfNegative val="1"/>
            <c:bubble3D val="0"/>
            <c:spPr>
              <a:solidFill>
                <a:srgbClr val="0E72AE"/>
              </a:solidFill>
            </c:spPr>
            <c:extLst>
              <c:ext xmlns:c16="http://schemas.microsoft.com/office/drawing/2014/chart" uri="{C3380CC4-5D6E-409C-BE32-E72D297353CC}">
                <c16:uniqueId val="{0000000E-8E6D-4E10-A1E5-49AA20DE42D8}"/>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E6D-4E10-A1E5-49AA20DE42D8}"/>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E6D-4E10-A1E5-49AA20DE42D8}"/>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E6D-4E10-A1E5-49AA20DE42D8}"/>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E6D-4E10-A1E5-49AA20DE42D8}"/>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E6D-4E10-A1E5-49AA20DE42D8}"/>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E6D-4E10-A1E5-49AA20DE42D8}"/>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8E6D-4E10-A1E5-49AA20DE42D8}"/>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201.339</c:v>
              </c:pt>
              <c:pt idx="1">
                <c:v>9.6280000000000143</c:v>
              </c:pt>
              <c:pt idx="2">
                <c:v>9.6759999999999877</c:v>
              </c:pt>
              <c:pt idx="3">
                <c:v>9.6450000000000102</c:v>
              </c:pt>
              <c:pt idx="4">
                <c:v>9.5159999999999911</c:v>
              </c:pt>
              <c:pt idx="5">
                <c:v>9.2729999999999961</c:v>
              </c:pt>
              <c:pt idx="6">
                <c:v>249.077</c:v>
              </c:pt>
            </c:numLit>
          </c:val>
          <c:extLst>
            <c:ext xmlns:c16="http://schemas.microsoft.com/office/drawing/2014/chart" uri="{C3380CC4-5D6E-409C-BE32-E72D297353CC}">
              <c16:uniqueId val="{0000000F-8E6D-4E10-A1E5-49AA20DE42D8}"/>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Glassware, Ceramics &amp; Home Goods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6AA-4632-AFB3-DC9D1FD7C0DB}"/>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6AA-4632-AFB3-DC9D1FD7C0DB}"/>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6AA-4632-AFB3-DC9D1FD7C0D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22.313836554155476</c:v>
              </c:pt>
              <c:pt idx="1">
                <c:v>22.133428030303033</c:v>
              </c:pt>
              <c:pt idx="2">
                <c:v>21.745479580883323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26AA-4632-AFB3-DC9D1FD7C0DB}"/>
            </c:ext>
          </c:extLst>
        </c:ser>
        <c:ser>
          <c:idx val="1"/>
          <c:order val="1"/>
          <c:tx>
            <c:v>Food &amp; Beverage</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6AA-4632-AFB3-DC9D1FD7C0DB}"/>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6AA-4632-AFB3-DC9D1FD7C0DB}"/>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6AA-4632-AFB3-DC9D1FD7C0D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13.807221767298611</c:v>
              </c:pt>
              <c:pt idx="1">
                <c:v>15.192992424242425</c:v>
              </c:pt>
              <c:pt idx="2">
                <c:v>18.203782027257727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26AA-4632-AFB3-DC9D1FD7C0DB}"/>
            </c:ext>
          </c:extLst>
        </c:ser>
        <c:ser>
          <c:idx val="2"/>
          <c:order val="2"/>
          <c:tx>
            <c:v>Others</c:v>
          </c:tx>
          <c:spPr>
            <a:solidFill>
              <a:srgbClr val="008189"/>
            </a:solidFill>
            <a:ln>
              <a:noFill/>
            </a:ln>
          </c:spPr>
          <c:invertIfNegative val="1"/>
          <c:dLbls>
            <c:dLbl>
              <c:idx val="0"/>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6AA-4632-AFB3-DC9D1FD7C0DB}"/>
                </c:ext>
              </c:extLst>
            </c:dLbl>
            <c:dLbl>
              <c:idx val="1"/>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6AA-4632-AFB3-DC9D1FD7C0DB}"/>
                </c:ext>
              </c:extLst>
            </c:dLbl>
            <c:dLbl>
              <c:idx val="2"/>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6AA-4632-AFB3-DC9D1FD7C0D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20.540338144659785</c:v>
              </c:pt>
              <c:pt idx="1">
                <c:v>19.066193181818182</c:v>
              </c:pt>
              <c:pt idx="2">
                <c:v>15.848716364499415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26AA-4632-AFB3-DC9D1FD7C0DB}"/>
            </c:ext>
          </c:extLst>
        </c:ser>
        <c:ser>
          <c:idx val="3"/>
          <c:order val="3"/>
          <c:tx>
            <c:v>Electronics &amp; Electrical</c:v>
          </c:tx>
          <c:spPr>
            <a:solidFill>
              <a:srgbClr val="40315E"/>
            </a:solidFill>
            <a:ln>
              <a:noFill/>
            </a:ln>
          </c:spPr>
          <c:invertIfNegative val="1"/>
          <c:dLbls>
            <c:dLbl>
              <c:idx val="0"/>
              <c:numFmt formatCode="&quot;MMM&quot;;&quot;MMM&quot;;&quot;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6AA-4632-AFB3-DC9D1FD7C0DB}"/>
                </c:ext>
              </c:extLst>
            </c:dLbl>
            <c:dLbl>
              <c:idx val="1"/>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6AA-4632-AFB3-DC9D1FD7C0DB}"/>
                </c:ext>
              </c:extLst>
            </c:dLbl>
            <c:dLbl>
              <c:idx val="2"/>
              <c:numFmt formatCode="&quot;MMMM&quot;;&quot;MMMM&quot;;&quot;MMMM&quot;" sourceLinked="0"/>
              <c:spPr>
                <a:blipFill>
                  <a:blip xmlns:r="http://schemas.openxmlformats.org/officeDocument/2006/relationships"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6AA-4632-AFB3-DC9D1FD7C0D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9.3615872377445619</c:v>
              </c:pt>
              <c:pt idx="1">
                <c:v>11.282575757575758</c:v>
              </c:pt>
              <c:pt idx="2">
                <c:v>15.440594913053079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26AA-4632-AFB3-DC9D1FD7C0DB}"/>
            </c:ext>
          </c:extLst>
        </c:ser>
        <c:ser>
          <c:idx val="4"/>
          <c:order val="4"/>
          <c:tx>
            <c:v>Automotive &amp; Industrial Components</c:v>
          </c:tx>
          <c:spPr>
            <a:solidFill>
              <a:srgbClr val="A35313"/>
            </a:solidFill>
            <a:ln>
              <a:noFill/>
            </a:ln>
          </c:spPr>
          <c:invertIfNegative val="1"/>
          <c:dLbls>
            <c:dLbl>
              <c:idx val="0"/>
              <c:numFmt formatCode="&quot;MMMM&quot;;&quot;MMMM&quot;;&quot;MMMM&quot;" sourceLinked="0"/>
              <c:spPr>
                <a:blipFill>
                  <a:blip xmlns:r="http://schemas.openxmlformats.org/officeDocument/2006/relationships"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26AA-4632-AFB3-DC9D1FD7C0DB}"/>
                </c:ext>
              </c:extLst>
            </c:dLbl>
            <c:dLbl>
              <c:idx val="1"/>
              <c:numFmt formatCode="&quot;MMMM&quot;;&quot;MMMM&quot;;&quot;MMMM&quot;" sourceLinked="0"/>
              <c:spPr>
                <a:blipFill>
                  <a:blip xmlns:r="http://schemas.openxmlformats.org/officeDocument/2006/relationships"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26AA-4632-AFB3-DC9D1FD7C0DB}"/>
                </c:ext>
              </c:extLst>
            </c:dLbl>
            <c:dLbl>
              <c:idx val="2"/>
              <c:numFmt formatCode="&quot;MMMM&quot;;&quot;MMMM&quot;;&quot;MMMM&quot;" sourceLinked="0"/>
              <c:spPr>
                <a:blipFill>
                  <a:blip xmlns:r="http://schemas.openxmlformats.org/officeDocument/2006/relationships"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26AA-4632-AFB3-DC9D1FD7C0D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16.917677097071319</c:v>
              </c:pt>
              <c:pt idx="1">
                <c:v>16.201704545454547</c:v>
              </c:pt>
              <c:pt idx="2">
                <c:v>14.674683171384922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26AA-4632-AFB3-DC9D1FD7C0DB}"/>
            </c:ext>
          </c:extLst>
        </c:ser>
        <c:ser>
          <c:idx val="5"/>
          <c:order val="5"/>
          <c:tx>
            <c:v>Pharmaceuticals &amp; Healthcare</c:v>
          </c:tx>
          <c:spPr>
            <a:solidFill>
              <a:srgbClr val="808080"/>
            </a:solidFill>
            <a:ln>
              <a:noFill/>
            </a:ln>
          </c:spPr>
          <c:invertIfNegative val="1"/>
          <c:dLbls>
            <c:dLbl>
              <c:idx val="0"/>
              <c:numFmt formatCode="&quot;MMMM&quot;;&quot;MMMM&quot;;&quot;MMMM&quot;" sourceLinked="0"/>
              <c:spPr>
                <a:blipFill>
                  <a:blip xmlns:r="http://schemas.openxmlformats.org/officeDocument/2006/relationships"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26AA-4632-AFB3-DC9D1FD7C0DB}"/>
                </c:ext>
              </c:extLst>
            </c:dLbl>
            <c:dLbl>
              <c:idx val="1"/>
              <c:numFmt formatCode="&quot;MMMM&quot;;&quot;MMMM&quot;;&quot;MMMM&quot;" sourceLinked="0"/>
              <c:spPr>
                <a:blipFill>
                  <a:blip xmlns:r="http://schemas.openxmlformats.org/officeDocument/2006/relationships"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26AA-4632-AFB3-DC9D1FD7C0DB}"/>
                </c:ext>
              </c:extLst>
            </c:dLbl>
            <c:dLbl>
              <c:idx val="2"/>
              <c:numFmt formatCode="&quot;MMM&quot;;&quot;MMM&quot;;&quot;MMM&quot;" sourceLinked="0"/>
              <c:spPr>
                <a:blipFill>
                  <a:blip xmlns:r="http://schemas.openxmlformats.org/officeDocument/2006/relationships"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26AA-4632-AFB3-DC9D1FD7C0D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14.438645865855435</c:v>
              </c:pt>
              <c:pt idx="1">
                <c:v>13.013068181818182</c:v>
              </c:pt>
              <c:pt idx="2">
                <c:v>9.9179112122683328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26AA-4632-AFB3-DC9D1FD7C0DB}"/>
            </c:ext>
          </c:extLst>
        </c:ser>
        <c:ser>
          <c:idx val="6"/>
          <c:order val="6"/>
          <c:tx>
            <c:v>Personal Care &amp; Cosmetics</c:v>
          </c:tx>
          <c:spPr>
            <a:solidFill>
              <a:srgbClr val="0E72AE"/>
            </a:solidFill>
            <a:ln>
              <a:noFill/>
            </a:ln>
          </c:spPr>
          <c:invertIfNegative val="1"/>
          <c:dLbls>
            <c:dLbl>
              <c:idx val="0"/>
              <c:numFmt formatCode="&quot;MMM&quot;;&quot;MMM&quot;;&quot;MMM&quot;" sourceLinked="0"/>
              <c:spPr>
                <a:blipFill>
                  <a:blip xmlns:r="http://schemas.openxmlformats.org/officeDocument/2006/relationships"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26AA-4632-AFB3-DC9D1FD7C0DB}"/>
                </c:ext>
              </c:extLst>
            </c:dLbl>
            <c:dLbl>
              <c:idx val="1"/>
              <c:numFmt formatCode="&quot;MMM&quot;;&quot;MMM&quot;;&quot;MMM&quot;" sourceLinked="0"/>
              <c:spPr>
                <a:blipFill>
                  <a:blip xmlns:r="http://schemas.openxmlformats.org/officeDocument/2006/relationships"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26AA-4632-AFB3-DC9D1FD7C0DB}"/>
                </c:ext>
              </c:extLst>
            </c:dLbl>
            <c:dLbl>
              <c:idx val="2"/>
              <c:numFmt formatCode="&quot;MMM&quot;;&quot;MMM&quot;;&quot;MMM&quot;" sourceLinked="0"/>
              <c:spPr>
                <a:blipFill>
                  <a:blip xmlns:r="http://schemas.openxmlformats.org/officeDocument/2006/relationships"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26AA-4632-AFB3-DC9D1FD7C0DB}"/>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2.6206933332148186</c:v>
              </c:pt>
              <c:pt idx="1">
                <c:v>3.1100378787878786</c:v>
              </c:pt>
              <c:pt idx="2">
                <c:v>4.1688327306532038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26AA-4632-AFB3-DC9D1FD7C0DB}"/>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Direct (to brand owners/OEMs)</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1E9-4FA6-B682-C36143ED8C3E}"/>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1E9-4FA6-B682-C36143ED8C3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62.254756416767584</c:v>
              </c:pt>
              <c:pt idx="1">
                <c:v>66.075717382421189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F1E9-4FA6-B682-C36143ED8C3E}"/>
            </c:ext>
          </c:extLst>
        </c:ser>
        <c:ser>
          <c:idx val="1"/>
          <c:order val="1"/>
          <c:tx>
            <c:v>Indirect (distributors and packaging merchants)</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1E9-4FA6-B682-C36143ED8C3E}"/>
                </c:ext>
              </c:extLst>
            </c:dLbl>
            <c:dLbl>
              <c:idx val="1"/>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1E9-4FA6-B682-C36143ED8C3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cat>
            <c:strLit>
              <c:ptCount val="2"/>
              <c:pt idx="0">
                <c:v>Canada</c:v>
              </c:pt>
              <c:pt idx="1">
                <c:v>U.S.</c:v>
              </c:pt>
            </c:strLit>
          </c:cat>
          <c:val>
            <c:numLit>
              <c:formatCode>General</c:formatCode>
              <c:ptCount val="2"/>
              <c:pt idx="0">
                <c:v>37.745243583232416</c:v>
              </c:pt>
              <c:pt idx="1">
                <c:v>33.924282617578804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F1E9-4FA6-B682-C36143ED8C3E}"/>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1"/>
  <c:style val="2"/>
  <c:chart>
    <c:autoTitleDeleted val="1"/>
    <c:plotArea>
      <c:layout/>
      <c:bubbleChart>
        <c:varyColors val="0"/>
        <c:ser>
          <c:idx val="0"/>
          <c:order val="0"/>
          <c:tx>
            <c:v>Direct (to brand owners/OEMs)</c:v>
          </c:tx>
          <c:spPr>
            <a:solidFill>
              <a:srgbClr val="3D85C6"/>
            </a:solidFill>
          </c:spPr>
          <c:invertIfNegative val="0"/>
          <c:xVal>
            <c:numLit>
              <c:formatCode>General</c:formatCode>
              <c:ptCount val="1"/>
              <c:pt idx="0">
                <c:v>94.393873982892146</c:v>
              </c:pt>
            </c:numLit>
          </c:xVal>
          <c:yVal>
            <c:numLit>
              <c:formatCode>General</c:formatCode>
              <c:ptCount val="1"/>
              <c:pt idx="0">
                <c:v>132.52992424242424</c:v>
              </c:pt>
            </c:numLit>
          </c:yVal>
          <c:bubbleSize>
            <c:numLit>
              <c:formatCode>General</c:formatCode>
              <c:ptCount val="1"/>
              <c:pt idx="0">
                <c:v>1018.879</c:v>
              </c:pt>
            </c:numLit>
          </c:bubbleSize>
          <c:bubble3D val="0"/>
          <c:extLst>
            <c:ext xmlns:c16="http://schemas.microsoft.com/office/drawing/2014/chart" uri="{C3380CC4-5D6E-409C-BE32-E72D297353CC}">
              <c16:uniqueId val="{00000000-981B-4F0D-8573-0B4BA4BEF768}"/>
            </c:ext>
          </c:extLst>
        </c:ser>
        <c:ser>
          <c:idx val="1"/>
          <c:order val="1"/>
          <c:tx>
            <c:v>Indirect (distributors and packaging merchants)</c:v>
          </c:tx>
          <c:spPr>
            <a:solidFill>
              <a:srgbClr val="9E7E0A"/>
            </a:solidFill>
          </c:spPr>
          <c:invertIfNegative val="0"/>
          <c:xVal>
            <c:numLit>
              <c:formatCode>General</c:formatCode>
              <c:ptCount val="1"/>
              <c:pt idx="0">
                <c:v>110.70120230489657</c:v>
              </c:pt>
            </c:numLit>
          </c:xVal>
          <c:yVal>
            <c:numLit>
              <c:formatCode>General</c:formatCode>
              <c:ptCount val="1"/>
              <c:pt idx="0">
                <c:v>67.470075757575771</c:v>
              </c:pt>
            </c:numLit>
          </c:yVal>
          <c:bubbleSize>
            <c:numLit>
              <c:formatCode>General</c:formatCode>
              <c:ptCount val="1"/>
              <c:pt idx="0">
                <c:v>552.71199999999999</c:v>
              </c:pt>
            </c:numLit>
          </c:bubbleSize>
          <c:bubble3D val="0"/>
          <c:extLst>
            <c:ext xmlns:c16="http://schemas.microsoft.com/office/drawing/2014/chart" uri="{C3380CC4-5D6E-409C-BE32-E72D297353CC}">
              <c16:uniqueId val="{00000001-981B-4F0D-8573-0B4BA4BEF768}"/>
            </c:ext>
          </c:extLst>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
          <c:min val="85"/>
        </c:scaling>
        <c:delete val="0"/>
        <c:axPos val="b"/>
        <c:title>
          <c:tx>
            <c:rich>
              <a:bodyPr/>
              <a:lstStyle/>
              <a:p>
                <a:r>
                  <a:rPr sz="1100" b="0">
                    <a:solidFill>
                      <a:srgbClr val="6C7A89"/>
                    </a:solidFill>
                    <a:latin typeface="Calibri"/>
                  </a:rPr>
                  <a:t>CAGR Index (100 = segment average growth)</a:t>
                </a:r>
              </a:p>
            </c:rich>
          </c:tx>
          <c:overlay val="0"/>
        </c:title>
        <c:numFmt formatCode="General" sourceLinked="1"/>
        <c:majorTickMark val="out"/>
        <c:minorTickMark val="none"/>
        <c:tickLblPos val="nextTo"/>
        <c:spPr>
          <a:ln>
            <a:solidFill>
              <a:srgbClr val="C6D5E1"/>
            </a:solidFill>
          </a:ln>
        </c:spPr>
        <c:txPr>
          <a:bodyPr/>
          <a:lstStyle/>
          <a:p>
            <a:pPr>
              <a:defRPr sz="1100"/>
            </a:pPr>
            <a:endParaRPr lang="en-US"/>
          </a:p>
        </c:txPr>
        <c:crossAx val="-2115723560"/>
        <c:crosses val="autoZero"/>
        <c:crossBetween val="midCat"/>
      </c:valAx>
      <c:valAx>
        <c:axId val="-2115723560"/>
        <c:scaling>
          <c:orientation val="minMax"/>
          <c:max val="175"/>
          <c:min val="25"/>
        </c:scaling>
        <c:delete val="0"/>
        <c:axPos val="l"/>
        <c:title>
          <c:tx>
            <c:rich>
              <a:bodyPr/>
              <a:lstStyle/>
              <a:p>
                <a:r>
                  <a:rPr sz="1100" b="0">
                    <a:solidFill>
                      <a:srgbClr val="6C7A89"/>
                    </a:solidFill>
                    <a:latin typeface="Calibri"/>
                  </a:rPr>
                  <a:t>Market Share Index (100 = equal share)</a:t>
                </a:r>
              </a:p>
            </c:rich>
          </c:tx>
          <c:overlay val="0"/>
        </c:title>
        <c:numFmt formatCode="General" sourceLinked="1"/>
        <c:majorTickMark val="out"/>
        <c:minorTickMark val="none"/>
        <c:tickLblPos val="none"/>
        <c:spPr>
          <a:ln>
            <a:solidFill>
              <a:srgbClr val="C6D5E1"/>
            </a:solidFill>
          </a:ln>
        </c:spPr>
        <c:txPr>
          <a:bodyPr/>
          <a:lstStyle/>
          <a:p>
            <a:pPr>
              <a:defRPr sz="1100"/>
            </a:pPr>
            <a:endParaRPr lang="en-US"/>
          </a:p>
        </c:txPr>
        <c:crossAx val="-2115720072"/>
        <c:crosses val="autoZero"/>
        <c:crossBetween val="midCat"/>
      </c:valAx>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699.75800000000004</c:v>
              </c:pt>
              <c:pt idx="2">
                <c:v>754.20699999999999</c:v>
              </c:pt>
              <c:pt idx="3">
                <c:v>812.97900000000004</c:v>
              </c:pt>
              <c:pt idx="4">
                <c:v>876.42600000000004</c:v>
              </c:pt>
              <c:pt idx="5">
                <c:v>944.923</c:v>
              </c:pt>
              <c:pt idx="6">
                <c:v>0</c:v>
              </c:pt>
            </c:numLit>
          </c:val>
          <c:extLst>
            <c:ext xmlns:c16="http://schemas.microsoft.com/office/drawing/2014/chart" uri="{C3380CC4-5D6E-409C-BE32-E72D297353CC}">
              <c16:uniqueId val="{00000000-38B2-430A-919C-8B0824B53A84}"/>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38B2-430A-919C-8B0824B53A84}"/>
              </c:ext>
            </c:extLst>
          </c:dPt>
          <c:dPt>
            <c:idx val="1"/>
            <c:invertIfNegative val="1"/>
            <c:bubble3D val="0"/>
            <c:spPr>
              <a:solidFill>
                <a:srgbClr val="008189"/>
              </a:solidFill>
            </c:spPr>
            <c:extLst>
              <c:ext xmlns:c16="http://schemas.microsoft.com/office/drawing/2014/chart" uri="{C3380CC4-5D6E-409C-BE32-E72D297353CC}">
                <c16:uniqueId val="{00000004-38B2-430A-919C-8B0824B53A84}"/>
              </c:ext>
            </c:extLst>
          </c:dPt>
          <c:dPt>
            <c:idx val="2"/>
            <c:invertIfNegative val="1"/>
            <c:bubble3D val="0"/>
            <c:spPr>
              <a:solidFill>
                <a:srgbClr val="008189"/>
              </a:solidFill>
            </c:spPr>
            <c:extLst>
              <c:ext xmlns:c16="http://schemas.microsoft.com/office/drawing/2014/chart" uri="{C3380CC4-5D6E-409C-BE32-E72D297353CC}">
                <c16:uniqueId val="{00000006-38B2-430A-919C-8B0824B53A84}"/>
              </c:ext>
            </c:extLst>
          </c:dPt>
          <c:dPt>
            <c:idx val="3"/>
            <c:invertIfNegative val="1"/>
            <c:bubble3D val="0"/>
            <c:spPr>
              <a:solidFill>
                <a:srgbClr val="008189"/>
              </a:solidFill>
            </c:spPr>
            <c:extLst>
              <c:ext xmlns:c16="http://schemas.microsoft.com/office/drawing/2014/chart" uri="{C3380CC4-5D6E-409C-BE32-E72D297353CC}">
                <c16:uniqueId val="{00000008-38B2-430A-919C-8B0824B53A84}"/>
              </c:ext>
            </c:extLst>
          </c:dPt>
          <c:dPt>
            <c:idx val="4"/>
            <c:invertIfNegative val="1"/>
            <c:bubble3D val="0"/>
            <c:spPr>
              <a:solidFill>
                <a:srgbClr val="008189"/>
              </a:solidFill>
            </c:spPr>
            <c:extLst>
              <c:ext xmlns:c16="http://schemas.microsoft.com/office/drawing/2014/chart" uri="{C3380CC4-5D6E-409C-BE32-E72D297353CC}">
                <c16:uniqueId val="{0000000A-38B2-430A-919C-8B0824B53A84}"/>
              </c:ext>
            </c:extLst>
          </c:dPt>
          <c:dPt>
            <c:idx val="5"/>
            <c:invertIfNegative val="1"/>
            <c:bubble3D val="0"/>
            <c:spPr>
              <a:solidFill>
                <a:srgbClr val="008189"/>
              </a:solidFill>
            </c:spPr>
            <c:extLst>
              <c:ext xmlns:c16="http://schemas.microsoft.com/office/drawing/2014/chart" uri="{C3380CC4-5D6E-409C-BE32-E72D297353CC}">
                <c16:uniqueId val="{0000000C-38B2-430A-919C-8B0824B53A84}"/>
              </c:ext>
            </c:extLst>
          </c:dPt>
          <c:dPt>
            <c:idx val="6"/>
            <c:invertIfNegative val="1"/>
            <c:bubble3D val="0"/>
            <c:spPr>
              <a:solidFill>
                <a:srgbClr val="0E72AE"/>
              </a:solidFill>
            </c:spPr>
            <c:extLst>
              <c:ext xmlns:c16="http://schemas.microsoft.com/office/drawing/2014/chart" uri="{C3380CC4-5D6E-409C-BE32-E72D297353CC}">
                <c16:uniqueId val="{0000000E-38B2-430A-919C-8B0824B53A84}"/>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8B2-430A-919C-8B0824B53A8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8B2-430A-919C-8B0824B53A8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8B2-430A-919C-8B0824B53A84}"/>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8B2-430A-919C-8B0824B53A84}"/>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8B2-430A-919C-8B0824B53A84}"/>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8B2-430A-919C-8B0824B53A84}"/>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8B2-430A-919C-8B0824B53A84}"/>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699.75800000000004</c:v>
              </c:pt>
              <c:pt idx="1">
                <c:v>54.448999999999955</c:v>
              </c:pt>
              <c:pt idx="2">
                <c:v>58.772000000000048</c:v>
              </c:pt>
              <c:pt idx="3">
                <c:v>63.447000000000003</c:v>
              </c:pt>
              <c:pt idx="4">
                <c:v>68.496999999999957</c:v>
              </c:pt>
              <c:pt idx="5">
                <c:v>73.956000000000017</c:v>
              </c:pt>
              <c:pt idx="6">
                <c:v>1018.879</c:v>
              </c:pt>
            </c:numLit>
          </c:val>
          <c:extLst>
            <c:ext xmlns:c16="http://schemas.microsoft.com/office/drawing/2014/chart" uri="{C3380CC4-5D6E-409C-BE32-E72D297353CC}">
              <c16:uniqueId val="{0000000F-38B2-430A-919C-8B0824B53A84}"/>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7"/>
              <c:pt idx="0">
                <c:v>2026</c:v>
              </c:pt>
              <c:pt idx="1">
                <c:v>2028</c:v>
              </c:pt>
              <c:pt idx="2">
                <c:v>2030</c:v>
              </c:pt>
              <c:pt idx="3">
                <c:v>2032</c:v>
              </c:pt>
              <c:pt idx="4">
                <c:v>2034</c:v>
              </c:pt>
              <c:pt idx="5">
                <c:v>2036</c:v>
              </c:pt>
              <c:pt idx="6">
                <c:v>2036 Total</c:v>
              </c:pt>
            </c:strLit>
          </c:cat>
          <c:val>
            <c:numLit>
              <c:formatCode>General</c:formatCode>
              <c:ptCount val="7"/>
              <c:pt idx="0">
                <c:v>0</c:v>
              </c:pt>
              <c:pt idx="1">
                <c:v>356.24200000000002</c:v>
              </c:pt>
              <c:pt idx="2">
                <c:v>389.1</c:v>
              </c:pt>
              <c:pt idx="3">
                <c:v>424.90300000000002</c:v>
              </c:pt>
              <c:pt idx="4">
                <c:v>463.91300000000001</c:v>
              </c:pt>
              <c:pt idx="5">
                <c:v>506.41300000000001</c:v>
              </c:pt>
              <c:pt idx="6">
                <c:v>0</c:v>
              </c:pt>
            </c:numLit>
          </c:val>
          <c:extLst>
            <c:ext xmlns:c16="http://schemas.microsoft.com/office/drawing/2014/chart" uri="{C3380CC4-5D6E-409C-BE32-E72D297353CC}">
              <c16:uniqueId val="{00000000-40DC-42D3-ACD0-75F256711C9B}"/>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40DC-42D3-ACD0-75F256711C9B}"/>
              </c:ext>
            </c:extLst>
          </c:dPt>
          <c:dPt>
            <c:idx val="1"/>
            <c:invertIfNegative val="1"/>
            <c:bubble3D val="0"/>
            <c:spPr>
              <a:solidFill>
                <a:srgbClr val="008189"/>
              </a:solidFill>
            </c:spPr>
            <c:extLst>
              <c:ext xmlns:c16="http://schemas.microsoft.com/office/drawing/2014/chart" uri="{C3380CC4-5D6E-409C-BE32-E72D297353CC}">
                <c16:uniqueId val="{00000004-40DC-42D3-ACD0-75F256711C9B}"/>
              </c:ext>
            </c:extLst>
          </c:dPt>
          <c:dPt>
            <c:idx val="2"/>
            <c:invertIfNegative val="1"/>
            <c:bubble3D val="0"/>
            <c:spPr>
              <a:solidFill>
                <a:srgbClr val="008189"/>
              </a:solidFill>
            </c:spPr>
            <c:extLst>
              <c:ext xmlns:c16="http://schemas.microsoft.com/office/drawing/2014/chart" uri="{C3380CC4-5D6E-409C-BE32-E72D297353CC}">
                <c16:uniqueId val="{00000006-40DC-42D3-ACD0-75F256711C9B}"/>
              </c:ext>
            </c:extLst>
          </c:dPt>
          <c:dPt>
            <c:idx val="3"/>
            <c:invertIfNegative val="1"/>
            <c:bubble3D val="0"/>
            <c:spPr>
              <a:solidFill>
                <a:srgbClr val="008189"/>
              </a:solidFill>
            </c:spPr>
            <c:extLst>
              <c:ext xmlns:c16="http://schemas.microsoft.com/office/drawing/2014/chart" uri="{C3380CC4-5D6E-409C-BE32-E72D297353CC}">
                <c16:uniqueId val="{00000008-40DC-42D3-ACD0-75F256711C9B}"/>
              </c:ext>
            </c:extLst>
          </c:dPt>
          <c:dPt>
            <c:idx val="4"/>
            <c:invertIfNegative val="1"/>
            <c:bubble3D val="0"/>
            <c:spPr>
              <a:solidFill>
                <a:srgbClr val="008189"/>
              </a:solidFill>
            </c:spPr>
            <c:extLst>
              <c:ext xmlns:c16="http://schemas.microsoft.com/office/drawing/2014/chart" uri="{C3380CC4-5D6E-409C-BE32-E72D297353CC}">
                <c16:uniqueId val="{0000000A-40DC-42D3-ACD0-75F256711C9B}"/>
              </c:ext>
            </c:extLst>
          </c:dPt>
          <c:dPt>
            <c:idx val="5"/>
            <c:invertIfNegative val="1"/>
            <c:bubble3D val="0"/>
            <c:spPr>
              <a:solidFill>
                <a:srgbClr val="008189"/>
              </a:solidFill>
            </c:spPr>
            <c:extLst>
              <c:ext xmlns:c16="http://schemas.microsoft.com/office/drawing/2014/chart" uri="{C3380CC4-5D6E-409C-BE32-E72D297353CC}">
                <c16:uniqueId val="{0000000C-40DC-42D3-ACD0-75F256711C9B}"/>
              </c:ext>
            </c:extLst>
          </c:dPt>
          <c:dPt>
            <c:idx val="6"/>
            <c:invertIfNegative val="1"/>
            <c:bubble3D val="0"/>
            <c:spPr>
              <a:solidFill>
                <a:srgbClr val="0E72AE"/>
              </a:solidFill>
            </c:spPr>
            <c:extLst>
              <c:ext xmlns:c16="http://schemas.microsoft.com/office/drawing/2014/chart" uri="{C3380CC4-5D6E-409C-BE32-E72D297353CC}">
                <c16:uniqueId val="{0000000E-40DC-42D3-ACD0-75F256711C9B}"/>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0DC-42D3-ACD0-75F256711C9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0DC-42D3-ACD0-75F256711C9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0DC-42D3-ACD0-75F256711C9B}"/>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40DC-42D3-ACD0-75F256711C9B}"/>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40DC-42D3-ACD0-75F256711C9B}"/>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40DC-42D3-ACD0-75F256711C9B}"/>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40DC-42D3-ACD0-75F256711C9B}"/>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2026</c:v>
              </c:pt>
              <c:pt idx="1">
                <c:v>2028</c:v>
              </c:pt>
              <c:pt idx="2">
                <c:v>2030</c:v>
              </c:pt>
              <c:pt idx="3">
                <c:v>2032</c:v>
              </c:pt>
              <c:pt idx="4">
                <c:v>2034</c:v>
              </c:pt>
              <c:pt idx="5">
                <c:v>2036</c:v>
              </c:pt>
              <c:pt idx="6">
                <c:v>2036 Total</c:v>
              </c:pt>
            </c:strLit>
          </c:cat>
          <c:val>
            <c:numLit>
              <c:formatCode>General</c:formatCode>
              <c:ptCount val="7"/>
              <c:pt idx="0">
                <c:v>356.24200000000002</c:v>
              </c:pt>
              <c:pt idx="1">
                <c:v>32.858000000000004</c:v>
              </c:pt>
              <c:pt idx="2">
                <c:v>35.802999999999997</c:v>
              </c:pt>
              <c:pt idx="3">
                <c:v>39.009999999999991</c:v>
              </c:pt>
              <c:pt idx="4">
                <c:v>42.5</c:v>
              </c:pt>
              <c:pt idx="5">
                <c:v>46.298999999999978</c:v>
              </c:pt>
              <c:pt idx="6">
                <c:v>552.71199999999999</c:v>
              </c:pt>
            </c:numLit>
          </c:val>
          <c:extLst>
            <c:ext xmlns:c16="http://schemas.microsoft.com/office/drawing/2014/chart" uri="{C3380CC4-5D6E-409C-BE32-E72D297353CC}">
              <c16:uniqueId val="{0000000F-40DC-42D3-ACD0-75F256711C9B}"/>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Direct</c:v>
          </c:tx>
          <c:spPr>
            <a:solidFill>
              <a:srgbClr val="3D85C6"/>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8E5-4E7D-B58D-EE7C7B47693C}"/>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8E5-4E7D-B58D-EE7C7B47693C}"/>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8E5-4E7D-B58D-EE7C7B47693C}"/>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67.03606217133003</c:v>
              </c:pt>
              <c:pt idx="1">
                <c:v>66.264962121212122</c:v>
              </c:pt>
              <c:pt idx="2">
                <c:v>64.831053372028734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A8E5-4E7D-B58D-EE7C7B47693C}"/>
            </c:ext>
          </c:extLst>
        </c:ser>
        <c:ser>
          <c:idx val="1"/>
          <c:order val="1"/>
          <c:tx>
            <c:v>Indirect</c:v>
          </c:tx>
          <c:spPr>
            <a:solidFill>
              <a:srgbClr val="9E7E0A"/>
            </a:solidFill>
            <a:ln>
              <a:noFill/>
            </a:ln>
          </c:spPr>
          <c:invertIfNegative val="1"/>
          <c:dLbls>
            <c:dLbl>
              <c:idx val="0"/>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8E5-4E7D-B58D-EE7C7B47693C}"/>
                </c:ext>
              </c:extLst>
            </c:dLbl>
            <c:dLbl>
              <c:idx val="1"/>
              <c:numFmt formatCode="&quot;MMMM&quot;;&quot;MMMM&quot;;&quot;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8E5-4E7D-B58D-EE7C7B47693C}"/>
                </c:ext>
              </c:extLst>
            </c:dLbl>
            <c:dLbl>
              <c:idx val="2"/>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8E5-4E7D-B58D-EE7C7B47693C}"/>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2021</c:v>
              </c:pt>
              <c:pt idx="1">
                <c:v>2026</c:v>
              </c:pt>
              <c:pt idx="2">
                <c:v>2036</c:v>
              </c:pt>
            </c:strLit>
          </c:cat>
          <c:val>
            <c:numLit>
              <c:formatCode>General</c:formatCode>
              <c:ptCount val="3"/>
              <c:pt idx="0">
                <c:v>32.963937828669962</c:v>
              </c:pt>
              <c:pt idx="1">
                <c:v>33.735037878787885</c:v>
              </c:pt>
              <c:pt idx="2">
                <c:v>35.168946627971273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A8E5-4E7D-B58D-EE7C7B47693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Glassware, Ceramics &amp; Home Goods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700-4474-9604-BD27D313F1F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700-4474-9604-BD27D313F1F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700-4474-9604-BD27D313F1F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25.204765213178909</c:v>
              </c:pt>
              <c:pt idx="1">
                <c:v>20.150059249351777</c:v>
              </c:pt>
              <c:pt idx="2">
                <c:v>22.481775624752544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0700-4474-9604-BD27D313F1F7}"/>
            </c:ext>
          </c:extLst>
        </c:ser>
        <c:ser>
          <c:idx val="1"/>
          <c:order val="1"/>
          <c:tx>
            <c:v>Others</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700-4474-9604-BD27D313F1F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700-4474-9604-BD27D313F1F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700-4474-9604-BD27D313F1F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21.43772269212873</c:v>
              </c:pt>
              <c:pt idx="1">
                <c:v>20.482676897445824</c:v>
              </c:pt>
              <c:pt idx="2">
                <c:v>17.534455669397559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0700-4474-9604-BD27D313F1F7}"/>
            </c:ext>
          </c:extLst>
        </c:ser>
        <c:ser>
          <c:idx val="2"/>
          <c:order val="2"/>
          <c:tx>
            <c:v>Automotive &amp; Industrial Components</c:v>
          </c:tx>
          <c:spPr>
            <a:solidFill>
              <a:srgbClr val="008189"/>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700-4474-9604-BD27D313F1F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700-4474-9604-BD27D313F1F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0700-4474-9604-BD27D313F1F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16.392690280265416</c:v>
              </c:pt>
              <c:pt idx="1">
                <c:v>15.308331280137978</c:v>
              </c:pt>
              <c:pt idx="2">
                <c:v>16.693509811333598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0700-4474-9604-BD27D313F1F7}"/>
            </c:ext>
          </c:extLst>
        </c:ser>
        <c:ser>
          <c:idx val="3"/>
          <c:order val="3"/>
          <c:tx>
            <c:v>Food &amp; Beverage</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0700-4474-9604-BD27D313F1F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0700-4474-9604-BD27D313F1F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0700-4474-9604-BD27D313F1F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12.2444816970176</c:v>
              </c:pt>
              <c:pt idx="1">
                <c:v>15.428003238182395</c:v>
              </c:pt>
              <c:pt idx="2">
                <c:v>15.878182883329957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0700-4474-9604-BD27D313F1F7}"/>
            </c:ext>
          </c:extLst>
        </c:ser>
        <c:ser>
          <c:idx val="4"/>
          <c:order val="4"/>
          <c:tx>
            <c:v>Pharmaceuticals &amp; Healthcare</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0700-4474-9604-BD27D313F1F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0700-4474-9604-BD27D313F1F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0700-4474-9604-BD27D313F1F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11.081861467170638</c:v>
              </c:pt>
              <c:pt idx="1">
                <c:v>14.341862893480226</c:v>
              </c:pt>
              <c:pt idx="2">
                <c:v>12.744253208188741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0700-4474-9604-BD27D313F1F7}"/>
            </c:ext>
          </c:extLst>
        </c:ser>
        <c:ser>
          <c:idx val="5"/>
          <c:order val="5"/>
          <c:tx>
            <c:v>Electronics &amp; Electrical</c:v>
          </c:tx>
          <c:spPr>
            <a:solidFill>
              <a:srgbClr val="808080"/>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0700-4474-9604-BD27D313F1F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0700-4474-9604-BD27D313F1F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0700-4474-9604-BD27D313F1F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10.869606787050552</c:v>
              </c:pt>
              <c:pt idx="1">
                <c:v>11.2444710382129</c:v>
              </c:pt>
              <c:pt idx="2">
                <c:v>11.421922279690637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0700-4474-9604-BD27D313F1F7}"/>
            </c:ext>
          </c:extLst>
        </c:ser>
        <c:ser>
          <c:idx val="6"/>
          <c:order val="6"/>
          <c:tx>
            <c:v>Personal Care &amp; Cosmetics</c:v>
          </c:tx>
          <c:spPr>
            <a:solidFill>
              <a:srgbClr val="0E72A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0700-4474-9604-BD27D313F1F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0700-4474-9604-BD27D313F1F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0700-4474-9604-BD27D313F1F7}"/>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2.7688718631881546</c:v>
              </c:pt>
              <c:pt idx="1">
                <c:v>3.044595403188906</c:v>
              </c:pt>
              <c:pt idx="2">
                <c:v>3.2459005233069558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0700-4474-9604-BD27D313F1F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Glassware, Ceramics &amp; Home Goods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C69-413A-97A5-5CB84113B5F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C69-413A-97A5-5CB84113B5F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C69-413A-97A5-5CB84113B5FE}"/>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24.088865651157036</c:v>
              </c:pt>
              <c:pt idx="1">
                <c:v>19.367024867847928</c:v>
              </c:pt>
              <c:pt idx="2">
                <c:v>24.154484017166002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7C69-413A-97A5-5CB84113B5FE}"/>
            </c:ext>
          </c:extLst>
        </c:ser>
        <c:ser>
          <c:idx val="1"/>
          <c:order val="1"/>
          <c:tx>
            <c:v>Others</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C69-413A-97A5-5CB84113B5F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C69-413A-97A5-5CB84113B5F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C69-413A-97A5-5CB84113B5FE}"/>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15.969301296385337</c:v>
              </c:pt>
              <c:pt idx="1">
                <c:v>20.449531568596015</c:v>
              </c:pt>
              <c:pt idx="2">
                <c:v>19.193438414952073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7C69-413A-97A5-5CB84113B5FE}"/>
            </c:ext>
          </c:extLst>
        </c:ser>
        <c:ser>
          <c:idx val="2"/>
          <c:order val="2"/>
          <c:tx>
            <c:v>Automotive &amp; Industrial Components</c:v>
          </c:tx>
          <c:spPr>
            <a:solidFill>
              <a:srgbClr val="008189"/>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C69-413A-97A5-5CB84113B5F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C69-413A-97A5-5CB84113B5F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C69-413A-97A5-5CB84113B5FE}"/>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14.329796322317714</c:v>
              </c:pt>
              <c:pt idx="1">
                <c:v>18.394936560229961</c:v>
              </c:pt>
              <c:pt idx="2">
                <c:v>14.77183852725304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7C69-413A-97A5-5CB84113B5FE}"/>
            </c:ext>
          </c:extLst>
        </c:ser>
        <c:ser>
          <c:idx val="3"/>
          <c:order val="3"/>
          <c:tx>
            <c:v>Food &amp; Beverage</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C69-413A-97A5-5CB84113B5F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7C69-413A-97A5-5CB84113B5F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7C69-413A-97A5-5CB84113B5FE}"/>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16.848807951038928</c:v>
              </c:pt>
              <c:pt idx="1">
                <c:v>15.155771223928049</c:v>
              </c:pt>
              <c:pt idx="2">
                <c:v>14.344944451129027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7C69-413A-97A5-5CB84113B5FE}"/>
            </c:ext>
          </c:extLst>
        </c:ser>
        <c:ser>
          <c:idx val="4"/>
          <c:order val="4"/>
          <c:tx>
            <c:v>Pharmaceuticals &amp; Healthcare</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7C69-413A-97A5-5CB84113B5F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7C69-413A-97A5-5CB84113B5F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7C69-413A-97A5-5CB84113B5FE}"/>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13.208938850012371</c:v>
              </c:pt>
              <c:pt idx="1">
                <c:v>11.972605399888453</c:v>
              </c:pt>
              <c:pt idx="2">
                <c:v>14.06318934745117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7C69-413A-97A5-5CB84113B5FE}"/>
            </c:ext>
          </c:extLst>
        </c:ser>
        <c:ser>
          <c:idx val="5"/>
          <c:order val="5"/>
          <c:tx>
            <c:v>Electronics &amp; Electrical</c:v>
          </c:tx>
          <c:spPr>
            <a:solidFill>
              <a:srgbClr val="808080"/>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7C69-413A-97A5-5CB84113B5F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7C69-413A-97A5-5CB84113B5F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7C69-413A-97A5-5CB84113B5FE}"/>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12.633804986672018</c:v>
              </c:pt>
              <c:pt idx="1">
                <c:v>11.489383802141077</c:v>
              </c:pt>
              <c:pt idx="2">
                <c:v>10.327678177515743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7C69-413A-97A5-5CB84113B5FE}"/>
            </c:ext>
          </c:extLst>
        </c:ser>
        <c:ser>
          <c:idx val="6"/>
          <c:order val="6"/>
          <c:tx>
            <c:v>Personal Care &amp; Cosmetics</c:v>
          </c:tx>
          <c:spPr>
            <a:solidFill>
              <a:srgbClr val="0E72A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7C69-413A-97A5-5CB84113B5F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7C69-413A-97A5-5CB84113B5F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7C69-413A-97A5-5CB84113B5FE}"/>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2.9204849424165893</c:v>
              </c:pt>
              <c:pt idx="1">
                <c:v>3.1707465773685195</c:v>
              </c:pt>
              <c:pt idx="2">
                <c:v>3.1444270645329486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7C69-413A-97A5-5CB84113B5FE}"/>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Others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0C9-4E51-9E1A-C307D50A97B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0C9-4E51-9E1A-C307D50A97B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0C9-4E51-9E1A-C307D50A97B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0C9-4E51-9E1A-C307D50A97B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17.362457278488659</c:v>
              </c:pt>
              <c:pt idx="1">
                <c:v>19.736346054232655</c:v>
              </c:pt>
              <c:pt idx="2">
                <c:v>19.108378333890862</c:v>
              </c:pt>
              <c:pt idx="3">
                <c:v>22.812142666938172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4-80C9-4E51-9E1A-C307D50A97BF}"/>
            </c:ext>
          </c:extLst>
        </c:ser>
        <c:ser>
          <c:idx val="1"/>
          <c:order val="1"/>
          <c:tx>
            <c:v>Glassware, Ceramics &amp; Home Goods</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0C9-4E51-9E1A-C307D50A97B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0C9-4E51-9E1A-C307D50A97B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0C9-4E51-9E1A-C307D50A97B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0C9-4E51-9E1A-C307D50A97B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23.433141741152355</c:v>
              </c:pt>
              <c:pt idx="1">
                <c:v>21.909146358283706</c:v>
              </c:pt>
              <c:pt idx="2">
                <c:v>20.293525760496149</c:v>
              </c:pt>
              <c:pt idx="3">
                <c:v>21.211290549960054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9-80C9-4E51-9E1A-C307D50A97BF}"/>
            </c:ext>
          </c:extLst>
        </c:ser>
        <c:ser>
          <c:idx val="2"/>
          <c:order val="2"/>
          <c:tx>
            <c:v>Food &amp; Beverage</c:v>
          </c:tx>
          <c:spPr>
            <a:solidFill>
              <a:srgbClr val="008189"/>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0C9-4E51-9E1A-C307D50A97B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80C9-4E51-9E1A-C307D50A97B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0C9-4E51-9E1A-C307D50A97B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80C9-4E51-9E1A-C307D50A97B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15.430260607261811</c:v>
              </c:pt>
              <c:pt idx="1">
                <c:v>16.058615648208033</c:v>
              </c:pt>
              <c:pt idx="2">
                <c:v>13.360519510861193</c:v>
              </c:pt>
              <c:pt idx="3">
                <c:v>14.915179900064221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80C9-4E51-9E1A-C307D50A97BF}"/>
            </c:ext>
          </c:extLst>
        </c:ser>
        <c:ser>
          <c:idx val="3"/>
          <c:order val="3"/>
          <c:tx>
            <c:v>Automotive &amp; Industrial Components</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80C9-4E51-9E1A-C307D50A97B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80C9-4E51-9E1A-C307D50A97B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80C9-4E51-9E1A-C307D50A97B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80C9-4E51-9E1A-C307D50A97B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17.117367533101618</c:v>
              </c:pt>
              <c:pt idx="1">
                <c:v>15.454498085888293</c:v>
              </c:pt>
              <c:pt idx="2">
                <c:v>17.096495000823015</c:v>
              </c:pt>
              <c:pt idx="3">
                <c:v>13.82340502185116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80C9-4E51-9E1A-C307D50A97BF}"/>
            </c:ext>
          </c:extLst>
        </c:ser>
        <c:ser>
          <c:idx val="4"/>
          <c:order val="4"/>
          <c:tx>
            <c:v>Electronics &amp; Electrical</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80C9-4E51-9E1A-C307D50A97B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80C9-4E51-9E1A-C307D50A97B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80C9-4E51-9E1A-C307D50A97B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80C9-4E51-9E1A-C307D50A97B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11.258659112552753</c:v>
              </c:pt>
              <c:pt idx="1">
                <c:v>10.64393231186075</c:v>
              </c:pt>
              <c:pt idx="2">
                <c:v>11.737313559637021</c:v>
              </c:pt>
              <c:pt idx="3">
                <c:v>12.322018765370217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8-80C9-4E51-9E1A-C307D50A97BF}"/>
            </c:ext>
          </c:extLst>
        </c:ser>
        <c:ser>
          <c:idx val="5"/>
          <c:order val="5"/>
          <c:tx>
            <c:v>Pharmaceuticals &amp; Healthcare</c:v>
          </c:tx>
          <c:spPr>
            <a:solidFill>
              <a:srgbClr val="808080"/>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80C9-4E51-9E1A-C307D50A97B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80C9-4E51-9E1A-C307D50A97B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80C9-4E51-9E1A-C307D50A97B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80C9-4E51-9E1A-C307D50A97B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12.501510661645632</c:v>
              </c:pt>
              <c:pt idx="1">
                <c:v>12.978872742987976</c:v>
              </c:pt>
              <c:pt idx="2">
                <c:v>14.77664325044735</c:v>
              </c:pt>
              <c:pt idx="3">
                <c:v>12.155981265957614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D-80C9-4E51-9E1A-C307D50A97BF}"/>
            </c:ext>
          </c:extLst>
        </c:ser>
        <c:ser>
          <c:idx val="6"/>
          <c:order val="6"/>
          <c:tx>
            <c:v>Personal Care &amp; Cosmetics</c:v>
          </c:tx>
          <c:spPr>
            <a:solidFill>
              <a:srgbClr val="0E72A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80C9-4E51-9E1A-C307D50A97B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F-80C9-4E51-9E1A-C307D50A97B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0-80C9-4E51-9E1A-C307D50A97B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1-80C9-4E51-9E1A-C307D50A97B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2.8966030657971702</c:v>
              </c:pt>
              <c:pt idx="1">
                <c:v>3.2185887985385935</c:v>
              </c:pt>
              <c:pt idx="2">
                <c:v>3.6271245838444015</c:v>
              </c:pt>
              <c:pt idx="3">
                <c:v>2.7599818298585546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22-80C9-4E51-9E1A-C307D50A97BF}"/>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Volume (MT)</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4FB-4BCB-93A4-B02A1053DE33}"/>
                </c:ext>
              </c:extLst>
            </c:dLbl>
            <c:dLbl>
              <c:idx val="1"/>
              <c:delete val="1"/>
              <c:extLst>
                <c:ext xmlns:c15="http://schemas.microsoft.com/office/drawing/2012/chart" uri="{CE6537A1-D6FC-4f65-9D91-7224C49458BB}"/>
                <c:ext xmlns:c16="http://schemas.microsoft.com/office/drawing/2014/chart" uri="{C3380CC4-5D6E-409C-BE32-E72D297353CC}">
                  <c16:uniqueId val="{00000001-24FB-4BCB-93A4-B02A1053DE33}"/>
                </c:ext>
              </c:extLst>
            </c:dLbl>
            <c:dLbl>
              <c:idx val="2"/>
              <c:delete val="1"/>
              <c:extLst>
                <c:ext xmlns:c15="http://schemas.microsoft.com/office/drawing/2012/chart" uri="{CE6537A1-D6FC-4f65-9D91-7224C49458BB}"/>
                <c:ext xmlns:c16="http://schemas.microsoft.com/office/drawing/2014/chart" uri="{C3380CC4-5D6E-409C-BE32-E72D297353CC}">
                  <c16:uniqueId val="{00000002-24FB-4BCB-93A4-B02A1053DE33}"/>
                </c:ext>
              </c:extLst>
            </c:dLbl>
            <c:dLbl>
              <c:idx val="3"/>
              <c:delete val="1"/>
              <c:extLst>
                <c:ext xmlns:c15="http://schemas.microsoft.com/office/drawing/2012/chart" uri="{CE6537A1-D6FC-4f65-9D91-7224C49458BB}"/>
                <c:ext xmlns:c16="http://schemas.microsoft.com/office/drawing/2014/chart" uri="{C3380CC4-5D6E-409C-BE32-E72D297353CC}">
                  <c16:uniqueId val="{00000003-24FB-4BCB-93A4-B02A1053DE33}"/>
                </c:ext>
              </c:extLst>
            </c:dLbl>
            <c:dLbl>
              <c:idx val="4"/>
              <c:delete val="1"/>
              <c:extLst>
                <c:ext xmlns:c15="http://schemas.microsoft.com/office/drawing/2012/chart" uri="{CE6537A1-D6FC-4f65-9D91-7224C49458BB}"/>
                <c:ext xmlns:c16="http://schemas.microsoft.com/office/drawing/2014/chart" uri="{C3380CC4-5D6E-409C-BE32-E72D297353CC}">
                  <c16:uniqueId val="{00000004-24FB-4BCB-93A4-B02A1053DE33}"/>
                </c:ext>
              </c:extLst>
            </c:dLbl>
            <c:dLbl>
              <c:idx val="5"/>
              <c:delete val="1"/>
              <c:extLst>
                <c:ext xmlns:c15="http://schemas.microsoft.com/office/drawing/2012/chart" uri="{CE6537A1-D6FC-4f65-9D91-7224C49458BB}"/>
                <c:ext xmlns:c16="http://schemas.microsoft.com/office/drawing/2014/chart" uri="{C3380CC4-5D6E-409C-BE32-E72D297353CC}">
                  <c16:uniqueId val="{00000005-24FB-4BCB-93A4-B02A1053DE33}"/>
                </c:ext>
              </c:extLst>
            </c:dLbl>
            <c:dLbl>
              <c:idx val="6"/>
              <c:delete val="1"/>
              <c:extLst>
                <c:ext xmlns:c15="http://schemas.microsoft.com/office/drawing/2012/chart" uri="{CE6537A1-D6FC-4f65-9D91-7224C49458BB}"/>
                <c:ext xmlns:c16="http://schemas.microsoft.com/office/drawing/2014/chart" uri="{C3380CC4-5D6E-409C-BE32-E72D297353CC}">
                  <c16:uniqueId val="{00000006-24FB-4BCB-93A4-B02A1053DE33}"/>
                </c:ext>
              </c:extLst>
            </c:dLbl>
            <c:dLbl>
              <c:idx val="7"/>
              <c:delete val="1"/>
              <c:extLst>
                <c:ext xmlns:c15="http://schemas.microsoft.com/office/drawing/2012/chart" uri="{CE6537A1-D6FC-4f65-9D91-7224C49458BB}"/>
                <c:ext xmlns:c16="http://schemas.microsoft.com/office/drawing/2014/chart" uri="{C3380CC4-5D6E-409C-BE32-E72D297353CC}">
                  <c16:uniqueId val="{00000007-24FB-4BCB-93A4-B02A1053DE33}"/>
                </c:ext>
              </c:extLst>
            </c:dLbl>
            <c:dLbl>
              <c:idx val="8"/>
              <c:delete val="1"/>
              <c:extLst>
                <c:ext xmlns:c15="http://schemas.microsoft.com/office/drawing/2012/chart" uri="{CE6537A1-D6FC-4f65-9D91-7224C49458BB}"/>
                <c:ext xmlns:c16="http://schemas.microsoft.com/office/drawing/2014/chart" uri="{C3380CC4-5D6E-409C-BE32-E72D297353CC}">
                  <c16:uniqueId val="{00000008-24FB-4BCB-93A4-B02A1053DE33}"/>
                </c:ext>
              </c:extLst>
            </c:dLbl>
            <c:dLbl>
              <c:idx val="9"/>
              <c:delete val="1"/>
              <c:extLst>
                <c:ext xmlns:c15="http://schemas.microsoft.com/office/drawing/2012/chart" uri="{CE6537A1-D6FC-4f65-9D91-7224C49458BB}"/>
                <c:ext xmlns:c16="http://schemas.microsoft.com/office/drawing/2014/chart" uri="{C3380CC4-5D6E-409C-BE32-E72D297353CC}">
                  <c16:uniqueId val="{00000009-24FB-4BCB-93A4-B02A1053DE33}"/>
                </c:ext>
              </c:extLst>
            </c:dLbl>
            <c:dLbl>
              <c:idx val="10"/>
              <c:delete val="1"/>
              <c:extLst>
                <c:ext xmlns:c15="http://schemas.microsoft.com/office/drawing/2012/chart" uri="{CE6537A1-D6FC-4f65-9D91-7224C49458BB}"/>
                <c:ext xmlns:c16="http://schemas.microsoft.com/office/drawing/2014/chart" uri="{C3380CC4-5D6E-409C-BE32-E72D297353CC}">
                  <c16:uniqueId val="{0000000A-24FB-4BCB-93A4-B02A1053DE33}"/>
                </c:ext>
              </c:extLst>
            </c:dLbl>
            <c:dLbl>
              <c:idx val="11"/>
              <c:delete val="1"/>
              <c:extLst>
                <c:ext xmlns:c15="http://schemas.microsoft.com/office/drawing/2012/chart" uri="{CE6537A1-D6FC-4f65-9D91-7224C49458BB}"/>
                <c:ext xmlns:c16="http://schemas.microsoft.com/office/drawing/2014/chart" uri="{C3380CC4-5D6E-409C-BE32-E72D297353CC}">
                  <c16:uniqueId val="{0000000B-24FB-4BCB-93A4-B02A1053DE33}"/>
                </c:ext>
              </c:extLst>
            </c:dLbl>
            <c:dLbl>
              <c:idx val="12"/>
              <c:delete val="1"/>
              <c:extLst>
                <c:ext xmlns:c15="http://schemas.microsoft.com/office/drawing/2012/chart" uri="{CE6537A1-D6FC-4f65-9D91-7224C49458BB}"/>
                <c:ext xmlns:c16="http://schemas.microsoft.com/office/drawing/2014/chart" uri="{C3380CC4-5D6E-409C-BE32-E72D297353CC}">
                  <c16:uniqueId val="{0000000C-24FB-4BCB-93A4-B02A1053DE33}"/>
                </c:ext>
              </c:extLst>
            </c:dLbl>
            <c:dLbl>
              <c:idx val="13"/>
              <c:delete val="1"/>
              <c:extLst>
                <c:ext xmlns:c15="http://schemas.microsoft.com/office/drawing/2012/chart" uri="{CE6537A1-D6FC-4f65-9D91-7224C49458BB}"/>
                <c:ext xmlns:c16="http://schemas.microsoft.com/office/drawing/2014/chart" uri="{C3380CC4-5D6E-409C-BE32-E72D297353CC}">
                  <c16:uniqueId val="{0000000D-24FB-4BCB-93A4-B02A1053DE33}"/>
                </c:ext>
              </c:extLst>
            </c:dLbl>
            <c:dLbl>
              <c:idx val="14"/>
              <c:delete val="1"/>
              <c:extLst>
                <c:ext xmlns:c15="http://schemas.microsoft.com/office/drawing/2012/chart" uri="{CE6537A1-D6FC-4f65-9D91-7224C49458BB}"/>
                <c:ext xmlns:c16="http://schemas.microsoft.com/office/drawing/2014/chart" uri="{C3380CC4-5D6E-409C-BE32-E72D297353CC}">
                  <c16:uniqueId val="{0000000E-24FB-4BCB-93A4-B02A1053DE33}"/>
                </c:ext>
              </c:extLst>
            </c:dLbl>
            <c:dLbl>
              <c:idx val="1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4FB-4BCB-93A4-B02A1053DE33}"/>
                </c:ext>
              </c:extLst>
            </c:dLbl>
            <c:numFmt formatCode="#,##0.0,,&quot;M&quot;" sourceLinked="0"/>
            <c:spPr>
              <a:noFill/>
              <a:ln>
                <a:noFill/>
              </a:ln>
              <a:effectLst/>
            </c:spPr>
            <c:txPr>
              <a:bodyPr rot="0" vert="horz"/>
              <a:lstStyle/>
              <a:p>
                <a:pPr>
                  <a:defRPr sz="1100">
                    <a:solidFill>
                      <a:srgbClr val="6C7A89"/>
                    </a:solidFill>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769620.04</c:v>
              </c:pt>
              <c:pt idx="1">
                <c:v>787395.69700000004</c:v>
              </c:pt>
              <c:pt idx="2">
                <c:v>805581.91100000008</c:v>
              </c:pt>
              <c:pt idx="3">
                <c:v>824188.16700000013</c:v>
              </c:pt>
              <c:pt idx="4">
                <c:v>843224.16500000004</c:v>
              </c:pt>
              <c:pt idx="5">
                <c:v>862699.83100000001</c:v>
              </c:pt>
              <c:pt idx="6">
                <c:v>889478.94299999997</c:v>
              </c:pt>
              <c:pt idx="7">
                <c:v>917089.30799999996</c:v>
              </c:pt>
              <c:pt idx="8">
                <c:v>945556.72699999996</c:v>
              </c:pt>
              <c:pt idx="9">
                <c:v>974907.804</c:v>
              </c:pt>
              <c:pt idx="10">
                <c:v>1005169.971</c:v>
              </c:pt>
              <c:pt idx="11">
                <c:v>1036371.5060000001</c:v>
              </c:pt>
              <c:pt idx="12">
                <c:v>1068541.571</c:v>
              </c:pt>
              <c:pt idx="13">
                <c:v>1101710.2280000001</c:v>
              </c:pt>
              <c:pt idx="14">
                <c:v>1135908.4750000001</c:v>
              </c:pt>
              <c:pt idx="15">
                <c:v>1171168.2709999999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0-24FB-4BCB-93A4-B02A1053DE33}"/>
            </c:ext>
          </c:extLst>
        </c:ser>
        <c:dLbls>
          <c:showLegendKey val="0"/>
          <c:showVal val="0"/>
          <c:showCatName val="0"/>
          <c:showSerName val="0"/>
          <c:showPercent val="0"/>
          <c:showBubbleSize val="0"/>
        </c:dLbls>
        <c:gapWidth val="4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CAGR</c:v>
          </c:tx>
          <c:spPr>
            <a:solidFill>
              <a:srgbClr val="3D85C6"/>
            </a:solidFill>
            <a:ln>
              <a:noFill/>
            </a:ln>
          </c:spPr>
          <c:invertIfNegative val="1"/>
          <c:dPt>
            <c:idx val="0"/>
            <c:invertIfNegative val="1"/>
            <c:bubble3D val="0"/>
            <c:spPr>
              <a:solidFill>
                <a:srgbClr val="008189"/>
              </a:solidFill>
            </c:spPr>
            <c:extLst>
              <c:ext xmlns:c16="http://schemas.microsoft.com/office/drawing/2014/chart" uri="{C3380CC4-5D6E-409C-BE32-E72D297353CC}">
                <c16:uniqueId val="{00000001-2881-43DB-89BC-8C97A5638112}"/>
              </c:ext>
            </c:extLst>
          </c:dPt>
          <c:dPt>
            <c:idx val="1"/>
            <c:invertIfNegative val="1"/>
            <c:bubble3D val="0"/>
            <c:spPr>
              <a:solidFill>
                <a:srgbClr val="9E7E0A"/>
              </a:solidFill>
            </c:spPr>
            <c:extLst>
              <c:ext xmlns:c16="http://schemas.microsoft.com/office/drawing/2014/chart" uri="{C3380CC4-5D6E-409C-BE32-E72D297353CC}">
                <c16:uniqueId val="{00000003-2881-43DB-89BC-8C97A5638112}"/>
              </c:ext>
            </c:extLst>
          </c:dPt>
          <c:dPt>
            <c:idx val="2"/>
            <c:invertIfNegative val="1"/>
            <c:bubble3D val="0"/>
            <c:spPr>
              <a:solidFill>
                <a:srgbClr val="3D85C6"/>
              </a:solidFill>
            </c:spPr>
            <c:extLst>
              <c:ext xmlns:c16="http://schemas.microsoft.com/office/drawing/2014/chart" uri="{C3380CC4-5D6E-409C-BE32-E72D297353CC}">
                <c16:uniqueId val="{00000005-2881-43DB-89BC-8C97A5638112}"/>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881-43DB-89BC-8C97A563811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881-43DB-89BC-8C97A563811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881-43DB-89BC-8C97A5638112}"/>
                </c:ext>
              </c:extLst>
            </c:dLbl>
            <c:numFmt formatCode="0.0%" sourceLinked="0"/>
            <c:spPr>
              <a:noFill/>
              <a:ln>
                <a:noFill/>
              </a:ln>
              <a:effectLst/>
            </c:spPr>
            <c:txPr>
              <a:bodyPr rot="0" vert="horz"/>
              <a:lstStyle/>
              <a:p>
                <a:pPr>
                  <a:defRPr sz="1100">
                    <a:solidFill>
                      <a:srgbClr val="2E2E2E"/>
                    </a:solidFill>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Global</c:v>
              </c:pt>
              <c:pt idx="1">
                <c:v>North America</c:v>
              </c:pt>
              <c:pt idx="2">
                <c:v>U.S.</c:v>
              </c:pt>
            </c:strLit>
          </c:cat>
          <c:val>
            <c:numLit>
              <c:formatCode>General</c:formatCode>
              <c:ptCount val="3"/>
              <c:pt idx="0">
                <c:v>4.1573703875693813E-2</c:v>
              </c:pt>
              <c:pt idx="1">
                <c:v>3.3065722665454933E-2</c:v>
              </c:pt>
              <c:pt idx="2">
                <c:v>3.1041054339179919E-2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6-2881-43DB-89BC-8C97A5638112}"/>
            </c:ext>
          </c:extLst>
        </c:ser>
        <c:dLbls>
          <c:showLegendKey val="0"/>
          <c:showVal val="0"/>
          <c:showCatName val="0"/>
          <c:showSerName val="0"/>
          <c:showPercent val="0"/>
          <c:showBubbleSize val="0"/>
        </c:dLbls>
        <c:gapWidth val="6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5.6124500232186653E-2"/>
          <c:min val="0"/>
        </c:scaling>
        <c:delete val="1"/>
        <c:axPos val="b"/>
        <c:numFmt formatCode="General" sourceLinked="1"/>
        <c:majorTickMark val="out"/>
        <c:minorTickMark val="none"/>
        <c:tickLblPos val="none"/>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Lit>
          </c:cat>
          <c:val>
            <c:numLit>
              <c:formatCode>General</c:formatCode>
              <c:ptCount val="12"/>
              <c:pt idx="0">
                <c:v>0</c:v>
              </c:pt>
              <c:pt idx="1">
                <c:v>862699.83100000001</c:v>
              </c:pt>
              <c:pt idx="2">
                <c:v>889478.94299999997</c:v>
              </c:pt>
              <c:pt idx="3">
                <c:v>917089.30799999996</c:v>
              </c:pt>
              <c:pt idx="4">
                <c:v>945556.72699999996</c:v>
              </c:pt>
              <c:pt idx="5">
                <c:v>974907.804</c:v>
              </c:pt>
              <c:pt idx="6">
                <c:v>1005169.971</c:v>
              </c:pt>
              <c:pt idx="7">
                <c:v>1036371.5060000001</c:v>
              </c:pt>
              <c:pt idx="8">
                <c:v>1068541.571</c:v>
              </c:pt>
              <c:pt idx="9">
                <c:v>1101710.2280000001</c:v>
              </c:pt>
              <c:pt idx="10">
                <c:v>1135908.4750000001</c:v>
              </c:pt>
              <c:pt idx="11">
                <c:v>0</c:v>
              </c:pt>
            </c:numLit>
          </c:val>
          <c:extLst>
            <c:ext xmlns:c16="http://schemas.microsoft.com/office/drawing/2014/chart" uri="{C3380CC4-5D6E-409C-BE32-E72D297353CC}">
              <c16:uniqueId val="{00000000-2F71-4064-B1A6-AD77A0BE7089}"/>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2F71-4064-B1A6-AD77A0BE7089}"/>
              </c:ext>
            </c:extLst>
          </c:dPt>
          <c:dPt>
            <c:idx val="1"/>
            <c:invertIfNegative val="1"/>
            <c:bubble3D val="0"/>
            <c:spPr>
              <a:solidFill>
                <a:srgbClr val="008189"/>
              </a:solidFill>
            </c:spPr>
            <c:extLst>
              <c:ext xmlns:c16="http://schemas.microsoft.com/office/drawing/2014/chart" uri="{C3380CC4-5D6E-409C-BE32-E72D297353CC}">
                <c16:uniqueId val="{00000004-2F71-4064-B1A6-AD77A0BE7089}"/>
              </c:ext>
            </c:extLst>
          </c:dPt>
          <c:dPt>
            <c:idx val="2"/>
            <c:invertIfNegative val="1"/>
            <c:bubble3D val="0"/>
            <c:spPr>
              <a:solidFill>
                <a:srgbClr val="008189"/>
              </a:solidFill>
            </c:spPr>
            <c:extLst>
              <c:ext xmlns:c16="http://schemas.microsoft.com/office/drawing/2014/chart" uri="{C3380CC4-5D6E-409C-BE32-E72D297353CC}">
                <c16:uniqueId val="{00000006-2F71-4064-B1A6-AD77A0BE7089}"/>
              </c:ext>
            </c:extLst>
          </c:dPt>
          <c:dPt>
            <c:idx val="3"/>
            <c:invertIfNegative val="1"/>
            <c:bubble3D val="0"/>
            <c:spPr>
              <a:solidFill>
                <a:srgbClr val="008189"/>
              </a:solidFill>
            </c:spPr>
            <c:extLst>
              <c:ext xmlns:c16="http://schemas.microsoft.com/office/drawing/2014/chart" uri="{C3380CC4-5D6E-409C-BE32-E72D297353CC}">
                <c16:uniqueId val="{00000008-2F71-4064-B1A6-AD77A0BE7089}"/>
              </c:ext>
            </c:extLst>
          </c:dPt>
          <c:dPt>
            <c:idx val="4"/>
            <c:invertIfNegative val="1"/>
            <c:bubble3D val="0"/>
            <c:spPr>
              <a:solidFill>
                <a:srgbClr val="008189"/>
              </a:solidFill>
            </c:spPr>
            <c:extLst>
              <c:ext xmlns:c16="http://schemas.microsoft.com/office/drawing/2014/chart" uri="{C3380CC4-5D6E-409C-BE32-E72D297353CC}">
                <c16:uniqueId val="{0000000A-2F71-4064-B1A6-AD77A0BE7089}"/>
              </c:ext>
            </c:extLst>
          </c:dPt>
          <c:dPt>
            <c:idx val="5"/>
            <c:invertIfNegative val="1"/>
            <c:bubble3D val="0"/>
            <c:spPr>
              <a:solidFill>
                <a:srgbClr val="008189"/>
              </a:solidFill>
            </c:spPr>
            <c:extLst>
              <c:ext xmlns:c16="http://schemas.microsoft.com/office/drawing/2014/chart" uri="{C3380CC4-5D6E-409C-BE32-E72D297353CC}">
                <c16:uniqueId val="{0000000C-2F71-4064-B1A6-AD77A0BE7089}"/>
              </c:ext>
            </c:extLst>
          </c:dPt>
          <c:dPt>
            <c:idx val="6"/>
            <c:invertIfNegative val="1"/>
            <c:bubble3D val="0"/>
            <c:spPr>
              <a:solidFill>
                <a:srgbClr val="008189"/>
              </a:solidFill>
            </c:spPr>
            <c:extLst>
              <c:ext xmlns:c16="http://schemas.microsoft.com/office/drawing/2014/chart" uri="{C3380CC4-5D6E-409C-BE32-E72D297353CC}">
                <c16:uniqueId val="{0000000E-2F71-4064-B1A6-AD77A0BE7089}"/>
              </c:ext>
            </c:extLst>
          </c:dPt>
          <c:dPt>
            <c:idx val="7"/>
            <c:invertIfNegative val="1"/>
            <c:bubble3D val="0"/>
            <c:spPr>
              <a:solidFill>
                <a:srgbClr val="008189"/>
              </a:solidFill>
            </c:spPr>
            <c:extLst>
              <c:ext xmlns:c16="http://schemas.microsoft.com/office/drawing/2014/chart" uri="{C3380CC4-5D6E-409C-BE32-E72D297353CC}">
                <c16:uniqueId val="{00000010-2F71-4064-B1A6-AD77A0BE7089}"/>
              </c:ext>
            </c:extLst>
          </c:dPt>
          <c:dPt>
            <c:idx val="8"/>
            <c:invertIfNegative val="1"/>
            <c:bubble3D val="0"/>
            <c:spPr>
              <a:solidFill>
                <a:srgbClr val="008189"/>
              </a:solidFill>
            </c:spPr>
            <c:extLst>
              <c:ext xmlns:c16="http://schemas.microsoft.com/office/drawing/2014/chart" uri="{C3380CC4-5D6E-409C-BE32-E72D297353CC}">
                <c16:uniqueId val="{00000012-2F71-4064-B1A6-AD77A0BE7089}"/>
              </c:ext>
            </c:extLst>
          </c:dPt>
          <c:dPt>
            <c:idx val="9"/>
            <c:invertIfNegative val="1"/>
            <c:bubble3D val="0"/>
            <c:spPr>
              <a:solidFill>
                <a:srgbClr val="008189"/>
              </a:solidFill>
            </c:spPr>
            <c:extLst>
              <c:ext xmlns:c16="http://schemas.microsoft.com/office/drawing/2014/chart" uri="{C3380CC4-5D6E-409C-BE32-E72D297353CC}">
                <c16:uniqueId val="{00000014-2F71-4064-B1A6-AD77A0BE7089}"/>
              </c:ext>
            </c:extLst>
          </c:dPt>
          <c:dPt>
            <c:idx val="10"/>
            <c:invertIfNegative val="1"/>
            <c:bubble3D val="0"/>
            <c:spPr>
              <a:solidFill>
                <a:srgbClr val="008189"/>
              </a:solidFill>
            </c:spPr>
            <c:extLst>
              <c:ext xmlns:c16="http://schemas.microsoft.com/office/drawing/2014/chart" uri="{C3380CC4-5D6E-409C-BE32-E72D297353CC}">
                <c16:uniqueId val="{00000016-2F71-4064-B1A6-AD77A0BE7089}"/>
              </c:ext>
            </c:extLst>
          </c:dPt>
          <c:dPt>
            <c:idx val="11"/>
            <c:invertIfNegative val="1"/>
            <c:bubble3D val="0"/>
            <c:spPr>
              <a:solidFill>
                <a:srgbClr val="0E72AE"/>
              </a:solidFill>
            </c:spPr>
            <c:extLst>
              <c:ext xmlns:c16="http://schemas.microsoft.com/office/drawing/2014/chart" uri="{C3380CC4-5D6E-409C-BE32-E72D297353CC}">
                <c16:uniqueId val="{00000018-2F71-4064-B1A6-AD77A0BE7089}"/>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F71-4064-B1A6-AD77A0BE7089}"/>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F71-4064-B1A6-AD77A0BE7089}"/>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2F71-4064-B1A6-AD77A0BE7089}"/>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F71-4064-B1A6-AD77A0BE7089}"/>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F71-4064-B1A6-AD77A0BE7089}"/>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F71-4064-B1A6-AD77A0BE7089}"/>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F71-4064-B1A6-AD77A0BE7089}"/>
                </c:ext>
              </c:extLst>
            </c:dLbl>
            <c:dLbl>
              <c:idx val="7"/>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2F71-4064-B1A6-AD77A0BE7089}"/>
                </c:ext>
              </c:extLst>
            </c:dLbl>
            <c:dLbl>
              <c:idx val="8"/>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2F71-4064-B1A6-AD77A0BE7089}"/>
                </c:ext>
              </c:extLst>
            </c:dLbl>
            <c:dLbl>
              <c:idx val="9"/>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2F71-4064-B1A6-AD77A0BE7089}"/>
                </c:ext>
              </c:extLst>
            </c:dLbl>
            <c:dLbl>
              <c:idx val="1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2F71-4064-B1A6-AD77A0BE7089}"/>
                </c:ext>
              </c:extLst>
            </c:dLbl>
            <c:dLbl>
              <c:idx val="1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2F71-4064-B1A6-AD77A0BE7089}"/>
                </c:ext>
              </c:extLst>
            </c:dLbl>
            <c:numFmt formatCode="#,##0.0,,&quot;M&quot;"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Lit>
          </c:cat>
          <c:val>
            <c:numLit>
              <c:formatCode>General</c:formatCode>
              <c:ptCount val="12"/>
              <c:pt idx="0">
                <c:v>862699.83100000001</c:v>
              </c:pt>
              <c:pt idx="1">
                <c:v>26779.111999999965</c:v>
              </c:pt>
              <c:pt idx="2">
                <c:v>27610.364999999991</c:v>
              </c:pt>
              <c:pt idx="3">
                <c:v>28467.418999999994</c:v>
              </c:pt>
              <c:pt idx="4">
                <c:v>29351.077000000048</c:v>
              </c:pt>
              <c:pt idx="5">
                <c:v>30262.167000000016</c:v>
              </c:pt>
              <c:pt idx="6">
                <c:v>31201.535000000033</c:v>
              </c:pt>
              <c:pt idx="7">
                <c:v>32170.064999999944</c:v>
              </c:pt>
              <c:pt idx="8">
                <c:v>33168.657000000123</c:v>
              </c:pt>
              <c:pt idx="9">
                <c:v>34198.246999999974</c:v>
              </c:pt>
              <c:pt idx="10">
                <c:v>35259.795999999857</c:v>
              </c:pt>
              <c:pt idx="11">
                <c:v>1171168.2709999999</c:v>
              </c:pt>
            </c:numLit>
          </c:val>
          <c:extLst>
            <c:ext xmlns:c16="http://schemas.microsoft.com/office/drawing/2014/chart" uri="{C3380CC4-5D6E-409C-BE32-E72D297353CC}">
              <c16:uniqueId val="{00000019-2F71-4064-B1A6-AD77A0BE7089}"/>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quot;M&quot;"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U.S.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127-4C2C-A9AB-3300D8F3B5C9}"/>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127-4C2C-A9AB-3300D8F3B5C9}"/>
                </c:ext>
              </c:extLst>
            </c:dLbl>
            <c:numFmt formatCode="0.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Share of North America</c:v>
              </c:pt>
              <c:pt idx="1">
                <c:v>Share of Global</c:v>
              </c:pt>
            </c:strLit>
          </c:cat>
          <c:val>
            <c:numLit>
              <c:formatCode>General</c:formatCode>
              <c:ptCount val="2"/>
              <c:pt idx="0">
                <c:v>72.527362104475799</c:v>
              </c:pt>
              <c:pt idx="1">
                <c:v>25.769652099827852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F127-4C2C-A9AB-3300D8F3B5C9}"/>
            </c:ext>
          </c:extLst>
        </c:ser>
        <c:ser>
          <c:idx val="1"/>
          <c:order val="1"/>
          <c:tx>
            <c:v>Rest of the market</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127-4C2C-A9AB-3300D8F3B5C9}"/>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127-4C2C-A9AB-3300D8F3B5C9}"/>
                </c:ext>
              </c:extLst>
            </c:dLbl>
            <c:numFmt formatCode="0.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Share of North America</c:v>
              </c:pt>
              <c:pt idx="1">
                <c:v>Share of Global</c:v>
              </c:pt>
            </c:strLit>
          </c:cat>
          <c:val>
            <c:numLit>
              <c:formatCode>General</c:formatCode>
              <c:ptCount val="2"/>
              <c:pt idx="0">
                <c:v>27.472637895524201</c:v>
              </c:pt>
              <c:pt idx="1">
                <c:v>74.230347900172148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F127-4C2C-A9AB-3300D8F3B5C9}"/>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Value (US$ Mn)</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B8E-41AC-B526-4C86F66150C6}"/>
                </c:ext>
              </c:extLst>
            </c:dLbl>
            <c:dLbl>
              <c:idx val="1"/>
              <c:delete val="1"/>
              <c:extLst>
                <c:ext xmlns:c15="http://schemas.microsoft.com/office/drawing/2012/chart" uri="{CE6537A1-D6FC-4f65-9D91-7224C49458BB}"/>
                <c:ext xmlns:c16="http://schemas.microsoft.com/office/drawing/2014/chart" uri="{C3380CC4-5D6E-409C-BE32-E72D297353CC}">
                  <c16:uniqueId val="{00000001-CB8E-41AC-B526-4C86F66150C6}"/>
                </c:ext>
              </c:extLst>
            </c:dLbl>
            <c:dLbl>
              <c:idx val="2"/>
              <c:delete val="1"/>
              <c:extLst>
                <c:ext xmlns:c15="http://schemas.microsoft.com/office/drawing/2012/chart" uri="{CE6537A1-D6FC-4f65-9D91-7224C49458BB}"/>
                <c:ext xmlns:c16="http://schemas.microsoft.com/office/drawing/2014/chart" uri="{C3380CC4-5D6E-409C-BE32-E72D297353CC}">
                  <c16:uniqueId val="{00000002-CB8E-41AC-B526-4C86F66150C6}"/>
                </c:ext>
              </c:extLst>
            </c:dLbl>
            <c:dLbl>
              <c:idx val="3"/>
              <c:delete val="1"/>
              <c:extLst>
                <c:ext xmlns:c15="http://schemas.microsoft.com/office/drawing/2012/chart" uri="{CE6537A1-D6FC-4f65-9D91-7224C49458BB}"/>
                <c:ext xmlns:c16="http://schemas.microsoft.com/office/drawing/2014/chart" uri="{C3380CC4-5D6E-409C-BE32-E72D297353CC}">
                  <c16:uniqueId val="{00000003-CB8E-41AC-B526-4C86F66150C6}"/>
                </c:ext>
              </c:extLst>
            </c:dLbl>
            <c:dLbl>
              <c:idx val="4"/>
              <c:delete val="1"/>
              <c:extLst>
                <c:ext xmlns:c15="http://schemas.microsoft.com/office/drawing/2012/chart" uri="{CE6537A1-D6FC-4f65-9D91-7224C49458BB}"/>
                <c:ext xmlns:c16="http://schemas.microsoft.com/office/drawing/2014/chart" uri="{C3380CC4-5D6E-409C-BE32-E72D297353CC}">
                  <c16:uniqueId val="{00000004-CB8E-41AC-B526-4C86F66150C6}"/>
                </c:ext>
              </c:extLst>
            </c:dLbl>
            <c:dLbl>
              <c:idx val="5"/>
              <c:delete val="1"/>
              <c:extLst>
                <c:ext xmlns:c15="http://schemas.microsoft.com/office/drawing/2012/chart" uri="{CE6537A1-D6FC-4f65-9D91-7224C49458BB}"/>
                <c:ext xmlns:c16="http://schemas.microsoft.com/office/drawing/2014/chart" uri="{C3380CC4-5D6E-409C-BE32-E72D297353CC}">
                  <c16:uniqueId val="{00000005-CB8E-41AC-B526-4C86F66150C6}"/>
                </c:ext>
              </c:extLst>
            </c:dLbl>
            <c:dLbl>
              <c:idx val="6"/>
              <c:delete val="1"/>
              <c:extLst>
                <c:ext xmlns:c15="http://schemas.microsoft.com/office/drawing/2012/chart" uri="{CE6537A1-D6FC-4f65-9D91-7224C49458BB}"/>
                <c:ext xmlns:c16="http://schemas.microsoft.com/office/drawing/2014/chart" uri="{C3380CC4-5D6E-409C-BE32-E72D297353CC}">
                  <c16:uniqueId val="{00000006-CB8E-41AC-B526-4C86F66150C6}"/>
                </c:ext>
              </c:extLst>
            </c:dLbl>
            <c:dLbl>
              <c:idx val="7"/>
              <c:delete val="1"/>
              <c:extLst>
                <c:ext xmlns:c15="http://schemas.microsoft.com/office/drawing/2012/chart" uri="{CE6537A1-D6FC-4f65-9D91-7224C49458BB}"/>
                <c:ext xmlns:c16="http://schemas.microsoft.com/office/drawing/2014/chart" uri="{C3380CC4-5D6E-409C-BE32-E72D297353CC}">
                  <c16:uniqueId val="{00000007-CB8E-41AC-B526-4C86F66150C6}"/>
                </c:ext>
              </c:extLst>
            </c:dLbl>
            <c:dLbl>
              <c:idx val="8"/>
              <c:delete val="1"/>
              <c:extLst>
                <c:ext xmlns:c15="http://schemas.microsoft.com/office/drawing/2012/chart" uri="{CE6537A1-D6FC-4f65-9D91-7224C49458BB}"/>
                <c:ext xmlns:c16="http://schemas.microsoft.com/office/drawing/2014/chart" uri="{C3380CC4-5D6E-409C-BE32-E72D297353CC}">
                  <c16:uniqueId val="{00000008-CB8E-41AC-B526-4C86F66150C6}"/>
                </c:ext>
              </c:extLst>
            </c:dLbl>
            <c:dLbl>
              <c:idx val="9"/>
              <c:delete val="1"/>
              <c:extLst>
                <c:ext xmlns:c15="http://schemas.microsoft.com/office/drawing/2012/chart" uri="{CE6537A1-D6FC-4f65-9D91-7224C49458BB}"/>
                <c:ext xmlns:c16="http://schemas.microsoft.com/office/drawing/2014/chart" uri="{C3380CC4-5D6E-409C-BE32-E72D297353CC}">
                  <c16:uniqueId val="{00000009-CB8E-41AC-B526-4C86F66150C6}"/>
                </c:ext>
              </c:extLst>
            </c:dLbl>
            <c:dLbl>
              <c:idx val="10"/>
              <c:delete val="1"/>
              <c:extLst>
                <c:ext xmlns:c15="http://schemas.microsoft.com/office/drawing/2012/chart" uri="{CE6537A1-D6FC-4f65-9D91-7224C49458BB}"/>
                <c:ext xmlns:c16="http://schemas.microsoft.com/office/drawing/2014/chart" uri="{C3380CC4-5D6E-409C-BE32-E72D297353CC}">
                  <c16:uniqueId val="{0000000A-CB8E-41AC-B526-4C86F66150C6}"/>
                </c:ext>
              </c:extLst>
            </c:dLbl>
            <c:dLbl>
              <c:idx val="11"/>
              <c:delete val="1"/>
              <c:extLst>
                <c:ext xmlns:c15="http://schemas.microsoft.com/office/drawing/2012/chart" uri="{CE6537A1-D6FC-4f65-9D91-7224C49458BB}"/>
                <c:ext xmlns:c16="http://schemas.microsoft.com/office/drawing/2014/chart" uri="{C3380CC4-5D6E-409C-BE32-E72D297353CC}">
                  <c16:uniqueId val="{0000000B-CB8E-41AC-B526-4C86F66150C6}"/>
                </c:ext>
              </c:extLst>
            </c:dLbl>
            <c:dLbl>
              <c:idx val="12"/>
              <c:delete val="1"/>
              <c:extLst>
                <c:ext xmlns:c15="http://schemas.microsoft.com/office/drawing/2012/chart" uri="{CE6537A1-D6FC-4f65-9D91-7224C49458BB}"/>
                <c:ext xmlns:c16="http://schemas.microsoft.com/office/drawing/2014/chart" uri="{C3380CC4-5D6E-409C-BE32-E72D297353CC}">
                  <c16:uniqueId val="{0000000C-CB8E-41AC-B526-4C86F66150C6}"/>
                </c:ext>
              </c:extLst>
            </c:dLbl>
            <c:dLbl>
              <c:idx val="13"/>
              <c:delete val="1"/>
              <c:extLst>
                <c:ext xmlns:c15="http://schemas.microsoft.com/office/drawing/2012/chart" uri="{CE6537A1-D6FC-4f65-9D91-7224C49458BB}"/>
                <c:ext xmlns:c16="http://schemas.microsoft.com/office/drawing/2014/chart" uri="{C3380CC4-5D6E-409C-BE32-E72D297353CC}">
                  <c16:uniqueId val="{0000000D-CB8E-41AC-B526-4C86F66150C6}"/>
                </c:ext>
              </c:extLst>
            </c:dLbl>
            <c:dLbl>
              <c:idx val="14"/>
              <c:delete val="1"/>
              <c:extLst>
                <c:ext xmlns:c15="http://schemas.microsoft.com/office/drawing/2012/chart" uri="{CE6537A1-D6FC-4f65-9D91-7224C49458BB}"/>
                <c:ext xmlns:c16="http://schemas.microsoft.com/office/drawing/2014/chart" uri="{C3380CC4-5D6E-409C-BE32-E72D297353CC}">
                  <c16:uniqueId val="{0000000E-CB8E-41AC-B526-4C86F66150C6}"/>
                </c:ext>
              </c:extLst>
            </c:dLbl>
            <c:dLbl>
              <c:idx val="1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CB8E-41AC-B526-4C86F66150C6}"/>
                </c:ext>
              </c:extLst>
            </c:dLbl>
            <c:numFmt formatCode="#,##0" sourceLinked="0"/>
            <c:spPr>
              <a:noFill/>
              <a:ln>
                <a:noFill/>
              </a:ln>
              <a:effectLst/>
            </c:spPr>
            <c:txPr>
              <a:bodyPr rot="0" vert="horz"/>
              <a:lstStyle/>
              <a:p>
                <a:pPr>
                  <a:defRPr sz="1100">
                    <a:solidFill>
                      <a:srgbClr val="6C7A89"/>
                    </a:solidFill>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627.15899999999999</c:v>
              </c:pt>
              <c:pt idx="1">
                <c:v>646.13599999999997</c:v>
              </c:pt>
              <c:pt idx="2">
                <c:v>665.68700000000001</c:v>
              </c:pt>
              <c:pt idx="3">
                <c:v>685.82999999999993</c:v>
              </c:pt>
              <c:pt idx="4">
                <c:v>706.58199999999999</c:v>
              </c:pt>
              <c:pt idx="5">
                <c:v>727.96199999999999</c:v>
              </c:pt>
              <c:pt idx="6">
                <c:v>755.81299999999999</c:v>
              </c:pt>
              <c:pt idx="7">
                <c:v>784.72900000000004</c:v>
              </c:pt>
              <c:pt idx="8">
                <c:v>814.75099999999998</c:v>
              </c:pt>
              <c:pt idx="9">
                <c:v>845.92200000000003</c:v>
              </c:pt>
              <c:pt idx="10">
                <c:v>878.28600000000006</c:v>
              </c:pt>
              <c:pt idx="11">
                <c:v>911.88799999999992</c:v>
              </c:pt>
              <c:pt idx="12">
                <c:v>946.77499999999998</c:v>
              </c:pt>
              <c:pt idx="13">
                <c:v>982.99699999999996</c:v>
              </c:pt>
              <c:pt idx="14">
                <c:v>1020.605</c:v>
              </c:pt>
              <c:pt idx="15">
                <c:v>1059.6510000000001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0-CB8E-41AC-B526-4C86F66150C6}"/>
            </c:ext>
          </c:extLst>
        </c:ser>
        <c:dLbls>
          <c:showLegendKey val="0"/>
          <c:showVal val="0"/>
          <c:showCatName val="0"/>
          <c:showSerName val="0"/>
          <c:showPercent val="0"/>
          <c:showBubbleSize val="0"/>
        </c:dLbls>
        <c:gapWidth val="4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CAGR</c:v>
          </c:tx>
          <c:spPr>
            <a:solidFill>
              <a:srgbClr val="3D85C6"/>
            </a:solidFill>
            <a:ln>
              <a:noFill/>
            </a:ln>
          </c:spPr>
          <c:invertIfNegative val="1"/>
          <c:dPt>
            <c:idx val="0"/>
            <c:invertIfNegative val="1"/>
            <c:bubble3D val="0"/>
            <c:spPr>
              <a:solidFill>
                <a:srgbClr val="008189"/>
              </a:solidFill>
            </c:spPr>
            <c:extLst>
              <c:ext xmlns:c16="http://schemas.microsoft.com/office/drawing/2014/chart" uri="{C3380CC4-5D6E-409C-BE32-E72D297353CC}">
                <c16:uniqueId val="{00000001-E55E-43B2-8D97-06EA26364776}"/>
              </c:ext>
            </c:extLst>
          </c:dPt>
          <c:dPt>
            <c:idx val="1"/>
            <c:invertIfNegative val="1"/>
            <c:bubble3D val="0"/>
            <c:spPr>
              <a:solidFill>
                <a:srgbClr val="9E7E0A"/>
              </a:solidFill>
            </c:spPr>
            <c:extLst>
              <c:ext xmlns:c16="http://schemas.microsoft.com/office/drawing/2014/chart" uri="{C3380CC4-5D6E-409C-BE32-E72D297353CC}">
                <c16:uniqueId val="{00000003-E55E-43B2-8D97-06EA26364776}"/>
              </c:ext>
            </c:extLst>
          </c:dPt>
          <c:dPt>
            <c:idx val="2"/>
            <c:invertIfNegative val="1"/>
            <c:bubble3D val="0"/>
            <c:spPr>
              <a:solidFill>
                <a:srgbClr val="3D85C6"/>
              </a:solidFill>
            </c:spPr>
            <c:extLst>
              <c:ext xmlns:c16="http://schemas.microsoft.com/office/drawing/2014/chart" uri="{C3380CC4-5D6E-409C-BE32-E72D297353CC}">
                <c16:uniqueId val="{00000005-E55E-43B2-8D97-06EA26364776}"/>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55E-43B2-8D97-06EA26364776}"/>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55E-43B2-8D97-06EA26364776}"/>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55E-43B2-8D97-06EA26364776}"/>
                </c:ext>
              </c:extLst>
            </c:dLbl>
            <c:numFmt formatCode="0.0%" sourceLinked="0"/>
            <c:spPr>
              <a:noFill/>
              <a:ln>
                <a:noFill/>
              </a:ln>
              <a:effectLst/>
            </c:spPr>
            <c:txPr>
              <a:bodyPr rot="0" vert="horz"/>
              <a:lstStyle/>
              <a:p>
                <a:pPr>
                  <a:defRPr sz="1100">
                    <a:solidFill>
                      <a:srgbClr val="2E2E2E"/>
                    </a:solidFill>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Global</c:v>
              </c:pt>
              <c:pt idx="1">
                <c:v>North America</c:v>
              </c:pt>
              <c:pt idx="2">
                <c:v>U.S.</c:v>
              </c:pt>
            </c:strLit>
          </c:cat>
          <c:val>
            <c:numLit>
              <c:formatCode>General</c:formatCode>
              <c:ptCount val="3"/>
              <c:pt idx="0">
                <c:v>4.9506836640836882E-2</c:v>
              </c:pt>
              <c:pt idx="1">
                <c:v>4.0561040458567676E-2</c:v>
              </c:pt>
              <c:pt idx="2">
                <c:v>3.8258306374870488E-2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6-E55E-43B2-8D97-06EA26364776}"/>
            </c:ext>
          </c:extLst>
        </c:ser>
        <c:dLbls>
          <c:showLegendKey val="0"/>
          <c:showVal val="0"/>
          <c:showCatName val="0"/>
          <c:showSerName val="0"/>
          <c:showPercent val="0"/>
          <c:showBubbleSize val="0"/>
        </c:dLbls>
        <c:gapWidth val="6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6.6834229465129791E-2"/>
          <c:min val="0"/>
        </c:scaling>
        <c:delete val="1"/>
        <c:axPos val="b"/>
        <c:numFmt formatCode="General" sourceLinked="1"/>
        <c:majorTickMark val="out"/>
        <c:minorTickMark val="none"/>
        <c:tickLblPos val="none"/>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Lit>
          </c:cat>
          <c:val>
            <c:numLit>
              <c:formatCode>General</c:formatCode>
              <c:ptCount val="12"/>
              <c:pt idx="0">
                <c:v>0</c:v>
              </c:pt>
              <c:pt idx="1">
                <c:v>727.96199999999999</c:v>
              </c:pt>
              <c:pt idx="2">
                <c:v>755.81299999999999</c:v>
              </c:pt>
              <c:pt idx="3">
                <c:v>784.72900000000004</c:v>
              </c:pt>
              <c:pt idx="4">
                <c:v>814.75099999999998</c:v>
              </c:pt>
              <c:pt idx="5">
                <c:v>845.92200000000003</c:v>
              </c:pt>
              <c:pt idx="6">
                <c:v>878.28600000000006</c:v>
              </c:pt>
              <c:pt idx="7">
                <c:v>911.88799999999992</c:v>
              </c:pt>
              <c:pt idx="8">
                <c:v>946.77499999999998</c:v>
              </c:pt>
              <c:pt idx="9">
                <c:v>982.99699999999996</c:v>
              </c:pt>
              <c:pt idx="10">
                <c:v>1020.605</c:v>
              </c:pt>
              <c:pt idx="11">
                <c:v>0</c:v>
              </c:pt>
            </c:numLit>
          </c:val>
          <c:extLst>
            <c:ext xmlns:c16="http://schemas.microsoft.com/office/drawing/2014/chart" uri="{C3380CC4-5D6E-409C-BE32-E72D297353CC}">
              <c16:uniqueId val="{00000000-D760-426C-818D-7CC3EBEB8A37}"/>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D760-426C-818D-7CC3EBEB8A37}"/>
              </c:ext>
            </c:extLst>
          </c:dPt>
          <c:dPt>
            <c:idx val="1"/>
            <c:invertIfNegative val="1"/>
            <c:bubble3D val="0"/>
            <c:spPr>
              <a:solidFill>
                <a:srgbClr val="008189"/>
              </a:solidFill>
            </c:spPr>
            <c:extLst>
              <c:ext xmlns:c16="http://schemas.microsoft.com/office/drawing/2014/chart" uri="{C3380CC4-5D6E-409C-BE32-E72D297353CC}">
                <c16:uniqueId val="{00000004-D760-426C-818D-7CC3EBEB8A37}"/>
              </c:ext>
            </c:extLst>
          </c:dPt>
          <c:dPt>
            <c:idx val="2"/>
            <c:invertIfNegative val="1"/>
            <c:bubble3D val="0"/>
            <c:spPr>
              <a:solidFill>
                <a:srgbClr val="008189"/>
              </a:solidFill>
            </c:spPr>
            <c:extLst>
              <c:ext xmlns:c16="http://schemas.microsoft.com/office/drawing/2014/chart" uri="{C3380CC4-5D6E-409C-BE32-E72D297353CC}">
                <c16:uniqueId val="{00000006-D760-426C-818D-7CC3EBEB8A37}"/>
              </c:ext>
            </c:extLst>
          </c:dPt>
          <c:dPt>
            <c:idx val="3"/>
            <c:invertIfNegative val="1"/>
            <c:bubble3D val="0"/>
            <c:spPr>
              <a:solidFill>
                <a:srgbClr val="008189"/>
              </a:solidFill>
            </c:spPr>
            <c:extLst>
              <c:ext xmlns:c16="http://schemas.microsoft.com/office/drawing/2014/chart" uri="{C3380CC4-5D6E-409C-BE32-E72D297353CC}">
                <c16:uniqueId val="{00000008-D760-426C-818D-7CC3EBEB8A37}"/>
              </c:ext>
            </c:extLst>
          </c:dPt>
          <c:dPt>
            <c:idx val="4"/>
            <c:invertIfNegative val="1"/>
            <c:bubble3D val="0"/>
            <c:spPr>
              <a:solidFill>
                <a:srgbClr val="008189"/>
              </a:solidFill>
            </c:spPr>
            <c:extLst>
              <c:ext xmlns:c16="http://schemas.microsoft.com/office/drawing/2014/chart" uri="{C3380CC4-5D6E-409C-BE32-E72D297353CC}">
                <c16:uniqueId val="{0000000A-D760-426C-818D-7CC3EBEB8A37}"/>
              </c:ext>
            </c:extLst>
          </c:dPt>
          <c:dPt>
            <c:idx val="5"/>
            <c:invertIfNegative val="1"/>
            <c:bubble3D val="0"/>
            <c:spPr>
              <a:solidFill>
                <a:srgbClr val="008189"/>
              </a:solidFill>
            </c:spPr>
            <c:extLst>
              <c:ext xmlns:c16="http://schemas.microsoft.com/office/drawing/2014/chart" uri="{C3380CC4-5D6E-409C-BE32-E72D297353CC}">
                <c16:uniqueId val="{0000000C-D760-426C-818D-7CC3EBEB8A37}"/>
              </c:ext>
            </c:extLst>
          </c:dPt>
          <c:dPt>
            <c:idx val="6"/>
            <c:invertIfNegative val="1"/>
            <c:bubble3D val="0"/>
            <c:spPr>
              <a:solidFill>
                <a:srgbClr val="008189"/>
              </a:solidFill>
            </c:spPr>
            <c:extLst>
              <c:ext xmlns:c16="http://schemas.microsoft.com/office/drawing/2014/chart" uri="{C3380CC4-5D6E-409C-BE32-E72D297353CC}">
                <c16:uniqueId val="{0000000E-D760-426C-818D-7CC3EBEB8A37}"/>
              </c:ext>
            </c:extLst>
          </c:dPt>
          <c:dPt>
            <c:idx val="7"/>
            <c:invertIfNegative val="1"/>
            <c:bubble3D val="0"/>
            <c:spPr>
              <a:solidFill>
                <a:srgbClr val="008189"/>
              </a:solidFill>
            </c:spPr>
            <c:extLst>
              <c:ext xmlns:c16="http://schemas.microsoft.com/office/drawing/2014/chart" uri="{C3380CC4-5D6E-409C-BE32-E72D297353CC}">
                <c16:uniqueId val="{00000010-D760-426C-818D-7CC3EBEB8A37}"/>
              </c:ext>
            </c:extLst>
          </c:dPt>
          <c:dPt>
            <c:idx val="8"/>
            <c:invertIfNegative val="1"/>
            <c:bubble3D val="0"/>
            <c:spPr>
              <a:solidFill>
                <a:srgbClr val="008189"/>
              </a:solidFill>
            </c:spPr>
            <c:extLst>
              <c:ext xmlns:c16="http://schemas.microsoft.com/office/drawing/2014/chart" uri="{C3380CC4-5D6E-409C-BE32-E72D297353CC}">
                <c16:uniqueId val="{00000012-D760-426C-818D-7CC3EBEB8A37}"/>
              </c:ext>
            </c:extLst>
          </c:dPt>
          <c:dPt>
            <c:idx val="9"/>
            <c:invertIfNegative val="1"/>
            <c:bubble3D val="0"/>
            <c:spPr>
              <a:solidFill>
                <a:srgbClr val="008189"/>
              </a:solidFill>
            </c:spPr>
            <c:extLst>
              <c:ext xmlns:c16="http://schemas.microsoft.com/office/drawing/2014/chart" uri="{C3380CC4-5D6E-409C-BE32-E72D297353CC}">
                <c16:uniqueId val="{00000014-D760-426C-818D-7CC3EBEB8A37}"/>
              </c:ext>
            </c:extLst>
          </c:dPt>
          <c:dPt>
            <c:idx val="10"/>
            <c:invertIfNegative val="1"/>
            <c:bubble3D val="0"/>
            <c:spPr>
              <a:solidFill>
                <a:srgbClr val="008189"/>
              </a:solidFill>
            </c:spPr>
            <c:extLst>
              <c:ext xmlns:c16="http://schemas.microsoft.com/office/drawing/2014/chart" uri="{C3380CC4-5D6E-409C-BE32-E72D297353CC}">
                <c16:uniqueId val="{00000016-D760-426C-818D-7CC3EBEB8A37}"/>
              </c:ext>
            </c:extLst>
          </c:dPt>
          <c:dPt>
            <c:idx val="11"/>
            <c:invertIfNegative val="1"/>
            <c:bubble3D val="0"/>
            <c:spPr>
              <a:solidFill>
                <a:srgbClr val="0E72AE"/>
              </a:solidFill>
            </c:spPr>
            <c:extLst>
              <c:ext xmlns:c16="http://schemas.microsoft.com/office/drawing/2014/chart" uri="{C3380CC4-5D6E-409C-BE32-E72D297353CC}">
                <c16:uniqueId val="{00000018-D760-426C-818D-7CC3EBEB8A37}"/>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760-426C-818D-7CC3EBEB8A3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760-426C-818D-7CC3EBEB8A3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760-426C-818D-7CC3EBEB8A37}"/>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760-426C-818D-7CC3EBEB8A37}"/>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D760-426C-818D-7CC3EBEB8A37}"/>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760-426C-818D-7CC3EBEB8A37}"/>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D760-426C-818D-7CC3EBEB8A37}"/>
                </c:ext>
              </c:extLst>
            </c:dLbl>
            <c:dLbl>
              <c:idx val="7"/>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D760-426C-818D-7CC3EBEB8A37}"/>
                </c:ext>
              </c:extLst>
            </c:dLbl>
            <c:dLbl>
              <c:idx val="8"/>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D760-426C-818D-7CC3EBEB8A37}"/>
                </c:ext>
              </c:extLst>
            </c:dLbl>
            <c:dLbl>
              <c:idx val="9"/>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D760-426C-818D-7CC3EBEB8A37}"/>
                </c:ext>
              </c:extLst>
            </c:dLbl>
            <c:dLbl>
              <c:idx val="1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D760-426C-818D-7CC3EBEB8A37}"/>
                </c:ext>
              </c:extLst>
            </c:dLbl>
            <c:dLbl>
              <c:idx val="1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D760-426C-818D-7CC3EBEB8A37}"/>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Lit>
          </c:cat>
          <c:val>
            <c:numLit>
              <c:formatCode>General</c:formatCode>
              <c:ptCount val="12"/>
              <c:pt idx="0">
                <c:v>727.96199999999999</c:v>
              </c:pt>
              <c:pt idx="1">
                <c:v>27.850999999999999</c:v>
              </c:pt>
              <c:pt idx="2">
                <c:v>28.916000000000054</c:v>
              </c:pt>
              <c:pt idx="3">
                <c:v>30.021999999999935</c:v>
              </c:pt>
              <c:pt idx="4">
                <c:v>31.171000000000049</c:v>
              </c:pt>
              <c:pt idx="5">
                <c:v>32.364000000000033</c:v>
              </c:pt>
              <c:pt idx="6">
                <c:v>33.601999999999862</c:v>
              </c:pt>
              <c:pt idx="7">
                <c:v>34.887000000000057</c:v>
              </c:pt>
              <c:pt idx="8">
                <c:v>36.22199999999998</c:v>
              </c:pt>
              <c:pt idx="9">
                <c:v>37.608000000000061</c:v>
              </c:pt>
              <c:pt idx="10">
                <c:v>39.046000000000049</c:v>
              </c:pt>
              <c:pt idx="11">
                <c:v>1059.6510000000001</c:v>
              </c:pt>
            </c:numLit>
          </c:val>
          <c:extLst>
            <c:ext xmlns:c16="http://schemas.microsoft.com/office/drawing/2014/chart" uri="{C3380CC4-5D6E-409C-BE32-E72D297353CC}">
              <c16:uniqueId val="{00000019-D760-426C-818D-7CC3EBEB8A37}"/>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stacked"/>
        <c:varyColors val="0"/>
        <c:ser>
          <c:idx val="0"/>
          <c:order val="0"/>
          <c:tx>
            <c:v>U.S.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93C-4220-AF43-477F9104730A}"/>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93C-4220-AF43-477F9104730A}"/>
                </c:ext>
              </c:extLst>
            </c:dLbl>
            <c:numFmt formatCode="0.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Share of North America</c:v>
              </c:pt>
              <c:pt idx="1">
                <c:v>Share of Global</c:v>
              </c:pt>
            </c:strLit>
          </c:cat>
          <c:val>
            <c:numLit>
              <c:formatCode>General</c:formatCode>
              <c:ptCount val="2"/>
              <c:pt idx="0">
                <c:v>68.935795454545456</c:v>
              </c:pt>
              <c:pt idx="1">
                <c:v>22.74881960900613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2-593C-4220-AF43-477F9104730A}"/>
            </c:ext>
          </c:extLst>
        </c:ser>
        <c:ser>
          <c:idx val="1"/>
          <c:order val="1"/>
          <c:tx>
            <c:v>Rest of the market</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93C-4220-AF43-477F9104730A}"/>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93C-4220-AF43-477F9104730A}"/>
                </c:ext>
              </c:extLst>
            </c:dLbl>
            <c:numFmt formatCode="0.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2"/>
              <c:pt idx="0">
                <c:v>Share of North America</c:v>
              </c:pt>
              <c:pt idx="1">
                <c:v>Share of Global</c:v>
              </c:pt>
            </c:strLit>
          </c:cat>
          <c:val>
            <c:numLit>
              <c:formatCode>General</c:formatCode>
              <c:ptCount val="2"/>
              <c:pt idx="0">
                <c:v>31.064204545454544</c:v>
              </c:pt>
              <c:pt idx="1">
                <c:v>77.251180390993866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593C-4220-AF43-477F9104730A}"/>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100"/>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Series</c:v>
          </c:tx>
          <c:spPr>
            <a:solidFill>
              <a:srgbClr val="3D85C6"/>
            </a:solidFill>
            <a:ln>
              <a:noFill/>
            </a:ln>
          </c:spPr>
          <c:invertIfNegative val="1"/>
          <c:dPt>
            <c:idx val="0"/>
            <c:invertIfNegative val="1"/>
            <c:bubble3D val="0"/>
            <c:spPr>
              <a:solidFill>
                <a:srgbClr val="FFFFFF"/>
              </a:solidFill>
            </c:spPr>
            <c:extLst>
              <c:ext xmlns:c16="http://schemas.microsoft.com/office/drawing/2014/chart" uri="{C3380CC4-5D6E-409C-BE32-E72D297353CC}">
                <c16:uniqueId val="{00000001-F917-4AE4-A41C-8F5447FBA330}"/>
              </c:ext>
            </c:extLst>
          </c:dPt>
          <c:dPt>
            <c:idx val="1"/>
            <c:invertIfNegative val="1"/>
            <c:bubble3D val="0"/>
            <c:spPr>
              <a:solidFill>
                <a:srgbClr val="FFFFFF"/>
              </a:solidFill>
            </c:spPr>
            <c:extLst>
              <c:ext xmlns:c16="http://schemas.microsoft.com/office/drawing/2014/chart" uri="{C3380CC4-5D6E-409C-BE32-E72D297353CC}">
                <c16:uniqueId val="{00000003-F917-4AE4-A41C-8F5447FBA330}"/>
              </c:ext>
            </c:extLst>
          </c:dPt>
          <c:dPt>
            <c:idx val="2"/>
            <c:invertIfNegative val="1"/>
            <c:bubble3D val="0"/>
            <c:spPr>
              <a:solidFill>
                <a:srgbClr val="FFFFFF"/>
              </a:solidFill>
            </c:spPr>
            <c:extLst>
              <c:ext xmlns:c16="http://schemas.microsoft.com/office/drawing/2014/chart" uri="{C3380CC4-5D6E-409C-BE32-E72D297353CC}">
                <c16:uniqueId val="{00000005-F917-4AE4-A41C-8F5447FBA330}"/>
              </c:ext>
            </c:extLst>
          </c:dPt>
          <c:dPt>
            <c:idx val="3"/>
            <c:invertIfNegative val="1"/>
            <c:bubble3D val="0"/>
            <c:spPr>
              <a:solidFill>
                <a:srgbClr val="FFFFFF"/>
              </a:solidFill>
            </c:spPr>
            <c:extLst>
              <c:ext xmlns:c16="http://schemas.microsoft.com/office/drawing/2014/chart" uri="{C3380CC4-5D6E-409C-BE32-E72D297353CC}">
                <c16:uniqueId val="{00000007-F917-4AE4-A41C-8F5447FBA330}"/>
              </c:ext>
            </c:extLst>
          </c:dPt>
          <c:dPt>
            <c:idx val="4"/>
            <c:invertIfNegative val="1"/>
            <c:bubble3D val="0"/>
            <c:spPr>
              <a:solidFill>
                <a:srgbClr val="9EC6DE"/>
              </a:solidFill>
            </c:spPr>
            <c:extLst>
              <c:ext xmlns:c16="http://schemas.microsoft.com/office/drawing/2014/chart" uri="{C3380CC4-5D6E-409C-BE32-E72D297353CC}">
                <c16:uniqueId val="{00000009-F917-4AE4-A41C-8F5447FBA330}"/>
              </c:ext>
            </c:extLst>
          </c:dPt>
          <c:dPt>
            <c:idx val="5"/>
            <c:invertIfNegative val="1"/>
            <c:bubble3D val="0"/>
            <c:spPr>
              <a:solidFill>
                <a:srgbClr val="569CC6"/>
              </a:solidFill>
            </c:spPr>
            <c:extLst>
              <c:ext xmlns:c16="http://schemas.microsoft.com/office/drawing/2014/chart" uri="{C3380CC4-5D6E-409C-BE32-E72D297353CC}">
                <c16:uniqueId val="{0000000B-F917-4AE4-A41C-8F5447FBA330}"/>
              </c:ext>
            </c:extLst>
          </c:dPt>
          <c:dPt>
            <c:idx val="6"/>
            <c:invertIfNegative val="1"/>
            <c:bubble3D val="0"/>
            <c:spPr>
              <a:solidFill>
                <a:srgbClr val="0E72AE"/>
              </a:solidFill>
            </c:spPr>
            <c:extLst>
              <c:ext xmlns:c16="http://schemas.microsoft.com/office/drawing/2014/chart" uri="{C3380CC4-5D6E-409C-BE32-E72D297353CC}">
                <c16:uniqueId val="{0000000D-F917-4AE4-A41C-8F5447FBA330}"/>
              </c:ext>
            </c:extLst>
          </c:dPt>
          <c:dLbls>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917-4AE4-A41C-8F5447FBA330}"/>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917-4AE4-A41C-8F5447FBA330}"/>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F917-4AE4-A41C-8F5447FBA330}"/>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 </c:v>
              </c:pt>
              <c:pt idx="1">
                <c:v>  </c:v>
              </c:pt>
              <c:pt idx="2">
                <c:v>   </c:v>
              </c:pt>
              <c:pt idx="3">
                <c:v>    </c:v>
              </c:pt>
              <c:pt idx="4">
                <c:v>Slotted (Interlocking…</c:v>
              </c:pt>
              <c:pt idx="5">
                <c:v>Die-Cut &amp; Folded Part…</c:v>
              </c:pt>
              <c:pt idx="6">
                <c:v>Flat Dividers &amp; Layer…</c:v>
              </c:pt>
            </c:strLit>
          </c:cat>
          <c:val>
            <c:numLit>
              <c:formatCode>General</c:formatCode>
              <c:ptCount val="7"/>
              <c:pt idx="4">
                <c:v>113.23699999999999</c:v>
              </c:pt>
              <c:pt idx="5">
                <c:v>236.226</c:v>
              </c:pt>
              <c:pt idx="6">
                <c:v>378.49900000000002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F917-4AE4-A41C-8F5447FBA330}"/>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none"/>
        <c:minorTickMark val="none"/>
        <c:tickLblPos val="nextTo"/>
        <c:spPr>
          <a:ln>
            <a:no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507.18866000000008"/>
          <c:min val="0"/>
        </c:scaling>
        <c:delete val="0"/>
        <c:axPos val="b"/>
        <c:numFmt formatCode="General" sourceLinked="1"/>
        <c:majorTickMark val="none"/>
        <c:minorTickMark val="none"/>
        <c:tickLblPos val="none"/>
        <c:spPr>
          <a:ln>
            <a:no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Series</c:v>
          </c:tx>
          <c:spPr>
            <a:solidFill>
              <a:srgbClr val="3D85C6"/>
            </a:solidFill>
            <a:ln>
              <a:noFill/>
            </a:ln>
          </c:spPr>
          <c:invertIfNegative val="1"/>
          <c:dPt>
            <c:idx val="0"/>
            <c:invertIfNegative val="1"/>
            <c:bubble3D val="0"/>
            <c:spPr>
              <a:solidFill>
                <a:srgbClr val="FFFFFF"/>
              </a:solidFill>
            </c:spPr>
            <c:extLst>
              <c:ext xmlns:c16="http://schemas.microsoft.com/office/drawing/2014/chart" uri="{C3380CC4-5D6E-409C-BE32-E72D297353CC}">
                <c16:uniqueId val="{00000001-2226-4119-8B25-8B27E8A43199}"/>
              </c:ext>
            </c:extLst>
          </c:dPt>
          <c:dPt>
            <c:idx val="1"/>
            <c:invertIfNegative val="1"/>
            <c:bubble3D val="0"/>
            <c:spPr>
              <a:solidFill>
                <a:srgbClr val="FFFFFF"/>
              </a:solidFill>
            </c:spPr>
            <c:extLst>
              <c:ext xmlns:c16="http://schemas.microsoft.com/office/drawing/2014/chart" uri="{C3380CC4-5D6E-409C-BE32-E72D297353CC}">
                <c16:uniqueId val="{00000003-2226-4119-8B25-8B27E8A43199}"/>
              </c:ext>
            </c:extLst>
          </c:dPt>
          <c:dPt>
            <c:idx val="2"/>
            <c:invertIfNegative val="1"/>
            <c:bubble3D val="0"/>
            <c:spPr>
              <a:solidFill>
                <a:srgbClr val="FFFFFF"/>
              </a:solidFill>
            </c:spPr>
            <c:extLst>
              <c:ext xmlns:c16="http://schemas.microsoft.com/office/drawing/2014/chart" uri="{C3380CC4-5D6E-409C-BE32-E72D297353CC}">
                <c16:uniqueId val="{00000005-2226-4119-8B25-8B27E8A43199}"/>
              </c:ext>
            </c:extLst>
          </c:dPt>
          <c:dPt>
            <c:idx val="3"/>
            <c:invertIfNegative val="1"/>
            <c:bubble3D val="0"/>
            <c:spPr>
              <a:solidFill>
                <a:srgbClr val="FFFFFF"/>
              </a:solidFill>
            </c:spPr>
            <c:extLst>
              <c:ext xmlns:c16="http://schemas.microsoft.com/office/drawing/2014/chart" uri="{C3380CC4-5D6E-409C-BE32-E72D297353CC}">
                <c16:uniqueId val="{00000007-2226-4119-8B25-8B27E8A43199}"/>
              </c:ext>
            </c:extLst>
          </c:dPt>
          <c:dPt>
            <c:idx val="4"/>
            <c:invertIfNegative val="1"/>
            <c:bubble3D val="0"/>
            <c:spPr>
              <a:solidFill>
                <a:srgbClr val="9DABB6"/>
              </a:solidFill>
            </c:spPr>
            <c:extLst>
              <c:ext xmlns:c16="http://schemas.microsoft.com/office/drawing/2014/chart" uri="{C3380CC4-5D6E-409C-BE32-E72D297353CC}">
                <c16:uniqueId val="{00000009-2226-4119-8B25-8B27E8A43199}"/>
              </c:ext>
            </c:extLst>
          </c:dPt>
          <c:dPt>
            <c:idx val="5"/>
            <c:invertIfNegative val="1"/>
            <c:bubble3D val="0"/>
            <c:spPr>
              <a:solidFill>
                <a:srgbClr val="546C80"/>
              </a:solidFill>
            </c:spPr>
            <c:extLst>
              <c:ext xmlns:c16="http://schemas.microsoft.com/office/drawing/2014/chart" uri="{C3380CC4-5D6E-409C-BE32-E72D297353CC}">
                <c16:uniqueId val="{0000000B-2226-4119-8B25-8B27E8A43199}"/>
              </c:ext>
            </c:extLst>
          </c:dPt>
          <c:dPt>
            <c:idx val="6"/>
            <c:invertIfNegative val="1"/>
            <c:bubble3D val="0"/>
            <c:spPr>
              <a:solidFill>
                <a:srgbClr val="0B2E4A"/>
              </a:solidFill>
            </c:spPr>
            <c:extLst>
              <c:ext xmlns:c16="http://schemas.microsoft.com/office/drawing/2014/chart" uri="{C3380CC4-5D6E-409C-BE32-E72D297353CC}">
                <c16:uniqueId val="{0000000D-2226-4119-8B25-8B27E8A43199}"/>
              </c:ext>
            </c:extLst>
          </c:dPt>
          <c:dLbls>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226-4119-8B25-8B27E8A43199}"/>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226-4119-8B25-8B27E8A43199}"/>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226-4119-8B25-8B27E8A43199}"/>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 </c:v>
              </c:pt>
              <c:pt idx="1">
                <c:v>  </c:v>
              </c:pt>
              <c:pt idx="2">
                <c:v>   </c:v>
              </c:pt>
              <c:pt idx="3">
                <c:v>    </c:v>
              </c:pt>
              <c:pt idx="4">
                <c:v>Single Wall</c:v>
              </c:pt>
              <c:pt idx="5">
                <c:v>Triple Wall</c:v>
              </c:pt>
              <c:pt idx="6">
                <c:v>Double Wall</c:v>
              </c:pt>
            </c:strLit>
          </c:cat>
          <c:val>
            <c:numLit>
              <c:formatCode>General</c:formatCode>
              <c:ptCount val="7"/>
              <c:pt idx="4">
                <c:v>155.94300000000001</c:v>
              </c:pt>
              <c:pt idx="5">
                <c:v>274.77</c:v>
              </c:pt>
              <c:pt idx="6">
                <c:v>297.24900000000002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2226-4119-8B25-8B27E8A43199}"/>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none"/>
        <c:minorTickMark val="none"/>
        <c:tickLblPos val="nextTo"/>
        <c:spPr>
          <a:ln>
            <a:no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398.31366000000003"/>
          <c:min val="0"/>
        </c:scaling>
        <c:delete val="0"/>
        <c:axPos val="b"/>
        <c:numFmt formatCode="General" sourceLinked="1"/>
        <c:majorTickMark val="none"/>
        <c:minorTickMark val="none"/>
        <c:tickLblPos val="none"/>
        <c:spPr>
          <a:ln>
            <a:no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Series</c:v>
          </c:tx>
          <c:spPr>
            <a:solidFill>
              <a:srgbClr val="3D85C6"/>
            </a:solidFill>
            <a:ln>
              <a:noFill/>
            </a:ln>
          </c:spPr>
          <c:invertIfNegative val="1"/>
          <c:dPt>
            <c:idx val="0"/>
            <c:invertIfNegative val="1"/>
            <c:bubble3D val="0"/>
            <c:spPr>
              <a:solidFill>
                <a:srgbClr val="FFFFFF"/>
              </a:solidFill>
            </c:spPr>
            <c:extLst>
              <c:ext xmlns:c16="http://schemas.microsoft.com/office/drawing/2014/chart" uri="{C3380CC4-5D6E-409C-BE32-E72D297353CC}">
                <c16:uniqueId val="{00000001-25D3-4BD7-A294-0E1893E0314A}"/>
              </c:ext>
            </c:extLst>
          </c:dPt>
          <c:dPt>
            <c:idx val="1"/>
            <c:invertIfNegative val="1"/>
            <c:bubble3D val="0"/>
            <c:spPr>
              <a:solidFill>
                <a:srgbClr val="FFFFFF"/>
              </a:solidFill>
            </c:spPr>
            <c:extLst>
              <c:ext xmlns:c16="http://schemas.microsoft.com/office/drawing/2014/chart" uri="{C3380CC4-5D6E-409C-BE32-E72D297353CC}">
                <c16:uniqueId val="{00000003-25D3-4BD7-A294-0E1893E0314A}"/>
              </c:ext>
            </c:extLst>
          </c:dPt>
          <c:dPt>
            <c:idx val="2"/>
            <c:invertIfNegative val="1"/>
            <c:bubble3D val="0"/>
            <c:spPr>
              <a:solidFill>
                <a:srgbClr val="FFFFFF"/>
              </a:solidFill>
            </c:spPr>
            <c:extLst>
              <c:ext xmlns:c16="http://schemas.microsoft.com/office/drawing/2014/chart" uri="{C3380CC4-5D6E-409C-BE32-E72D297353CC}">
                <c16:uniqueId val="{00000005-25D3-4BD7-A294-0E1893E0314A}"/>
              </c:ext>
            </c:extLst>
          </c:dPt>
          <c:dPt>
            <c:idx val="3"/>
            <c:invertIfNegative val="1"/>
            <c:bubble3D val="0"/>
            <c:spPr>
              <a:solidFill>
                <a:srgbClr val="FFFFFF"/>
              </a:solidFill>
            </c:spPr>
            <c:extLst>
              <c:ext xmlns:c16="http://schemas.microsoft.com/office/drawing/2014/chart" uri="{C3380CC4-5D6E-409C-BE32-E72D297353CC}">
                <c16:uniqueId val="{00000007-25D3-4BD7-A294-0E1893E0314A}"/>
              </c:ext>
            </c:extLst>
          </c:dPt>
          <c:dPt>
            <c:idx val="4"/>
            <c:invertIfNegative val="1"/>
            <c:bubble3D val="0"/>
            <c:spPr>
              <a:solidFill>
                <a:srgbClr val="FFFFFF"/>
              </a:solidFill>
            </c:spPr>
            <c:extLst>
              <c:ext xmlns:c16="http://schemas.microsoft.com/office/drawing/2014/chart" uri="{C3380CC4-5D6E-409C-BE32-E72D297353CC}">
                <c16:uniqueId val="{00000009-25D3-4BD7-A294-0E1893E0314A}"/>
              </c:ext>
            </c:extLst>
          </c:dPt>
          <c:dPt>
            <c:idx val="5"/>
            <c:invertIfNegative val="1"/>
            <c:bubble3D val="0"/>
            <c:spPr>
              <a:solidFill>
                <a:srgbClr val="C5B1E6"/>
              </a:solidFill>
            </c:spPr>
            <c:extLst>
              <c:ext xmlns:c16="http://schemas.microsoft.com/office/drawing/2014/chart" uri="{C3380CC4-5D6E-409C-BE32-E72D297353CC}">
                <c16:uniqueId val="{0000000B-25D3-4BD7-A294-0E1893E0314A}"/>
              </c:ext>
            </c:extLst>
          </c:dPt>
          <c:dPt>
            <c:idx val="6"/>
            <c:invertIfNegative val="1"/>
            <c:bubble3D val="0"/>
            <c:spPr>
              <a:solidFill>
                <a:srgbClr val="6F3CC2"/>
              </a:solidFill>
            </c:spPr>
            <c:extLst>
              <c:ext xmlns:c16="http://schemas.microsoft.com/office/drawing/2014/chart" uri="{C3380CC4-5D6E-409C-BE32-E72D297353CC}">
                <c16:uniqueId val="{0000000D-25D3-4BD7-A294-0E1893E0314A}"/>
              </c:ext>
            </c:extLst>
          </c:dPt>
          <c:dLbls>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5D3-4BD7-A294-0E1893E0314A}"/>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5D3-4BD7-A294-0E1893E0314A}"/>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 </c:v>
              </c:pt>
              <c:pt idx="1">
                <c:v>  </c:v>
              </c:pt>
              <c:pt idx="2">
                <c:v>   </c:v>
              </c:pt>
              <c:pt idx="3">
                <c:v>    </c:v>
              </c:pt>
              <c:pt idx="4">
                <c:v>     </c:v>
              </c:pt>
              <c:pt idx="5">
                <c:v>Recycled Fibre-based</c:v>
              </c:pt>
              <c:pt idx="6">
                <c:v>Virgin Kraft Fibre-ba…</c:v>
              </c:pt>
            </c:strLit>
          </c:cat>
          <c:val>
            <c:numLit>
              <c:formatCode>General</c:formatCode>
              <c:ptCount val="7"/>
              <c:pt idx="5">
                <c:v>161.79499999999999</c:v>
              </c:pt>
              <c:pt idx="6">
                <c:v>566.16700000000003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25D3-4BD7-A294-0E1893E0314A}"/>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none"/>
        <c:minorTickMark val="none"/>
        <c:tickLblPos val="nextTo"/>
        <c:spPr>
          <a:ln>
            <a:no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758.66378000000009"/>
          <c:min val="0"/>
        </c:scaling>
        <c:delete val="0"/>
        <c:axPos val="b"/>
        <c:numFmt formatCode="General" sourceLinked="1"/>
        <c:majorTickMark val="none"/>
        <c:minorTickMark val="none"/>
        <c:tickLblPos val="none"/>
        <c:spPr>
          <a:ln>
            <a:no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Series</c:v>
          </c:tx>
          <c:spPr>
            <a:solidFill>
              <a:srgbClr val="3D85C6"/>
            </a:solidFill>
            <a:ln>
              <a:noFill/>
            </a:ln>
          </c:spPr>
          <c:invertIfNegative val="1"/>
          <c:dPt>
            <c:idx val="0"/>
            <c:invertIfNegative val="1"/>
            <c:bubble3D val="0"/>
            <c:spPr>
              <a:solidFill>
                <a:srgbClr val="FFFFFF"/>
              </a:solidFill>
            </c:spPr>
            <c:extLst>
              <c:ext xmlns:c16="http://schemas.microsoft.com/office/drawing/2014/chart" uri="{C3380CC4-5D6E-409C-BE32-E72D297353CC}">
                <c16:uniqueId val="{00000001-FAAA-4828-8ABA-6FD9E96CDBBC}"/>
              </c:ext>
            </c:extLst>
          </c:dPt>
          <c:dPt>
            <c:idx val="1"/>
            <c:invertIfNegative val="1"/>
            <c:bubble3D val="0"/>
            <c:spPr>
              <a:solidFill>
                <a:srgbClr val="FFFFFF"/>
              </a:solidFill>
            </c:spPr>
            <c:extLst>
              <c:ext xmlns:c16="http://schemas.microsoft.com/office/drawing/2014/chart" uri="{C3380CC4-5D6E-409C-BE32-E72D297353CC}">
                <c16:uniqueId val="{00000003-FAAA-4828-8ABA-6FD9E96CDBBC}"/>
              </c:ext>
            </c:extLst>
          </c:dPt>
          <c:dPt>
            <c:idx val="2"/>
            <c:invertIfNegative val="1"/>
            <c:bubble3D val="0"/>
            <c:spPr>
              <a:solidFill>
                <a:srgbClr val="FFFFFF"/>
              </a:solidFill>
            </c:spPr>
            <c:extLst>
              <c:ext xmlns:c16="http://schemas.microsoft.com/office/drawing/2014/chart" uri="{C3380CC4-5D6E-409C-BE32-E72D297353CC}">
                <c16:uniqueId val="{00000005-FAAA-4828-8ABA-6FD9E96CDBBC}"/>
              </c:ext>
            </c:extLst>
          </c:dPt>
          <c:dPt>
            <c:idx val="3"/>
            <c:invertIfNegative val="1"/>
            <c:bubble3D val="0"/>
            <c:spPr>
              <a:solidFill>
                <a:srgbClr val="DABAA0"/>
              </a:solidFill>
            </c:spPr>
            <c:extLst>
              <c:ext xmlns:c16="http://schemas.microsoft.com/office/drawing/2014/chart" uri="{C3380CC4-5D6E-409C-BE32-E72D297353CC}">
                <c16:uniqueId val="{00000007-FAAA-4828-8ABA-6FD9E96CDBBC}"/>
              </c:ext>
            </c:extLst>
          </c:dPt>
          <c:dPt>
            <c:idx val="4"/>
            <c:invertIfNegative val="1"/>
            <c:bubble3D val="0"/>
            <c:spPr>
              <a:solidFill>
                <a:srgbClr val="C79771"/>
              </a:solidFill>
            </c:spPr>
            <c:extLst>
              <c:ext xmlns:c16="http://schemas.microsoft.com/office/drawing/2014/chart" uri="{C3380CC4-5D6E-409C-BE32-E72D297353CC}">
                <c16:uniqueId val="{00000009-FAAA-4828-8ABA-6FD9E96CDBBC}"/>
              </c:ext>
            </c:extLst>
          </c:dPt>
          <c:dPt>
            <c:idx val="5"/>
            <c:invertIfNegative val="1"/>
            <c:bubble3D val="0"/>
            <c:spPr>
              <a:solidFill>
                <a:srgbClr val="B57542"/>
              </a:solidFill>
            </c:spPr>
            <c:extLst>
              <c:ext xmlns:c16="http://schemas.microsoft.com/office/drawing/2014/chart" uri="{C3380CC4-5D6E-409C-BE32-E72D297353CC}">
                <c16:uniqueId val="{0000000B-FAAA-4828-8ABA-6FD9E96CDBBC}"/>
              </c:ext>
            </c:extLst>
          </c:dPt>
          <c:dPt>
            <c:idx val="6"/>
            <c:invertIfNegative val="1"/>
            <c:bubble3D val="0"/>
            <c:spPr>
              <a:solidFill>
                <a:srgbClr val="A35313"/>
              </a:solidFill>
            </c:spPr>
            <c:extLst>
              <c:ext xmlns:c16="http://schemas.microsoft.com/office/drawing/2014/chart" uri="{C3380CC4-5D6E-409C-BE32-E72D297353CC}">
                <c16:uniqueId val="{0000000D-FAAA-4828-8ABA-6FD9E96CDBBC}"/>
              </c:ext>
            </c:extLst>
          </c:dPt>
          <c:dLbls>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AAA-4828-8ABA-6FD9E96CDBBC}"/>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AAA-4828-8ABA-6FD9E96CDBBC}"/>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AAA-4828-8ABA-6FD9E96CDBBC}"/>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FAAA-4828-8ABA-6FD9E96CDBBC}"/>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 </c:v>
              </c:pt>
              <c:pt idx="1">
                <c:v>  </c:v>
              </c:pt>
              <c:pt idx="2">
                <c:v>   </c:v>
              </c:pt>
              <c:pt idx="3">
                <c:v>Above 24 Cells</c:v>
              </c:pt>
              <c:pt idx="4">
                <c:v>13 to 24 Cells</c:v>
              </c:pt>
              <c:pt idx="5">
                <c:v>6 to 12 Cells</c:v>
              </c:pt>
              <c:pt idx="6">
                <c:v>Up to 4 Cells</c:v>
              </c:pt>
            </c:strLit>
          </c:cat>
          <c:val>
            <c:numLit>
              <c:formatCode>General</c:formatCode>
              <c:ptCount val="7"/>
              <c:pt idx="3">
                <c:v>88.460999999999999</c:v>
              </c:pt>
              <c:pt idx="4">
                <c:v>129.41300000000001</c:v>
              </c:pt>
              <c:pt idx="5">
                <c:v>230.45099999999999</c:v>
              </c:pt>
              <c:pt idx="6">
                <c:v>279.637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FAAA-4828-8ABA-6FD9E96CDBBC}"/>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none"/>
        <c:minorTickMark val="none"/>
        <c:tickLblPos val="nextTo"/>
        <c:spPr>
          <a:ln>
            <a:no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374.71358000000004"/>
          <c:min val="0"/>
        </c:scaling>
        <c:delete val="0"/>
        <c:axPos val="b"/>
        <c:numFmt formatCode="General" sourceLinked="1"/>
        <c:majorTickMark val="none"/>
        <c:minorTickMark val="none"/>
        <c:tickLblPos val="none"/>
        <c:spPr>
          <a:ln>
            <a:no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Series</c:v>
          </c:tx>
          <c:spPr>
            <a:solidFill>
              <a:srgbClr val="3D85C6"/>
            </a:solidFill>
            <a:ln>
              <a:noFill/>
            </a:ln>
          </c:spPr>
          <c:invertIfNegative val="1"/>
          <c:dPt>
            <c:idx val="0"/>
            <c:invertIfNegative val="1"/>
            <c:bubble3D val="0"/>
            <c:spPr>
              <a:solidFill>
                <a:srgbClr val="FFFFFF"/>
              </a:solidFill>
            </c:spPr>
            <c:extLst>
              <c:ext xmlns:c16="http://schemas.microsoft.com/office/drawing/2014/chart" uri="{C3380CC4-5D6E-409C-BE32-E72D297353CC}">
                <c16:uniqueId val="{00000001-2C0A-44E1-BC47-40F9432B451C}"/>
              </c:ext>
            </c:extLst>
          </c:dPt>
          <c:dPt>
            <c:idx val="1"/>
            <c:invertIfNegative val="1"/>
            <c:bubble3D val="0"/>
            <c:spPr>
              <a:solidFill>
                <a:srgbClr val="FFFFFF"/>
              </a:solidFill>
            </c:spPr>
            <c:extLst>
              <c:ext xmlns:c16="http://schemas.microsoft.com/office/drawing/2014/chart" uri="{C3380CC4-5D6E-409C-BE32-E72D297353CC}">
                <c16:uniqueId val="{00000003-2C0A-44E1-BC47-40F9432B451C}"/>
              </c:ext>
            </c:extLst>
          </c:dPt>
          <c:dPt>
            <c:idx val="2"/>
            <c:invertIfNegative val="1"/>
            <c:bubble3D val="0"/>
            <c:spPr>
              <a:solidFill>
                <a:srgbClr val="FFFFFF"/>
              </a:solidFill>
            </c:spPr>
            <c:extLst>
              <c:ext xmlns:c16="http://schemas.microsoft.com/office/drawing/2014/chart" uri="{C3380CC4-5D6E-409C-BE32-E72D297353CC}">
                <c16:uniqueId val="{00000005-2C0A-44E1-BC47-40F9432B451C}"/>
              </c:ext>
            </c:extLst>
          </c:dPt>
          <c:dPt>
            <c:idx val="3"/>
            <c:invertIfNegative val="1"/>
            <c:bubble3D val="0"/>
            <c:spPr>
              <a:solidFill>
                <a:srgbClr val="FFFFFF"/>
              </a:solidFill>
            </c:spPr>
            <c:extLst>
              <c:ext xmlns:c16="http://schemas.microsoft.com/office/drawing/2014/chart" uri="{C3380CC4-5D6E-409C-BE32-E72D297353CC}">
                <c16:uniqueId val="{00000007-2C0A-44E1-BC47-40F9432B451C}"/>
              </c:ext>
            </c:extLst>
          </c:dPt>
          <c:dPt>
            <c:idx val="4"/>
            <c:invertIfNegative val="1"/>
            <c:bubble3D val="0"/>
            <c:spPr>
              <a:solidFill>
                <a:srgbClr val="FFFFFF"/>
              </a:solidFill>
            </c:spPr>
            <c:extLst>
              <c:ext xmlns:c16="http://schemas.microsoft.com/office/drawing/2014/chart" uri="{C3380CC4-5D6E-409C-BE32-E72D297353CC}">
                <c16:uniqueId val="{00000009-2C0A-44E1-BC47-40F9432B451C}"/>
              </c:ext>
            </c:extLst>
          </c:dPt>
          <c:dPt>
            <c:idx val="5"/>
            <c:invertIfNegative val="1"/>
            <c:bubble3D val="0"/>
            <c:spPr>
              <a:solidFill>
                <a:srgbClr val="DCC599"/>
              </a:solidFill>
            </c:spPr>
            <c:extLst>
              <c:ext xmlns:c16="http://schemas.microsoft.com/office/drawing/2014/chart" uri="{C3380CC4-5D6E-409C-BE32-E72D297353CC}">
                <c16:uniqueId val="{0000000B-2C0A-44E1-BC47-40F9432B451C}"/>
              </c:ext>
            </c:extLst>
          </c:dPt>
          <c:dPt>
            <c:idx val="6"/>
            <c:invertIfNegative val="1"/>
            <c:bubble3D val="0"/>
            <c:spPr>
              <a:solidFill>
                <a:srgbClr val="A86F00"/>
              </a:solidFill>
            </c:spPr>
            <c:extLst>
              <c:ext xmlns:c16="http://schemas.microsoft.com/office/drawing/2014/chart" uri="{C3380CC4-5D6E-409C-BE32-E72D297353CC}">
                <c16:uniqueId val="{0000000D-2C0A-44E1-BC47-40F9432B451C}"/>
              </c:ext>
            </c:extLst>
          </c:dPt>
          <c:dLbls>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C0A-44E1-BC47-40F9432B451C}"/>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C0A-44E1-BC47-40F9432B451C}"/>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 </c:v>
              </c:pt>
              <c:pt idx="1">
                <c:v>  </c:v>
              </c:pt>
              <c:pt idx="2">
                <c:v>   </c:v>
              </c:pt>
              <c:pt idx="3">
                <c:v>    </c:v>
              </c:pt>
              <c:pt idx="4">
                <c:v>     </c:v>
              </c:pt>
              <c:pt idx="5">
                <c:v>Standard / Stock Sizes</c:v>
              </c:pt>
              <c:pt idx="6">
                <c:v>Custom-Engineered</c:v>
              </c:pt>
            </c:strLit>
          </c:cat>
          <c:val>
            <c:numLit>
              <c:formatCode>General</c:formatCode>
              <c:ptCount val="7"/>
              <c:pt idx="5">
                <c:v>261.053</c:v>
              </c:pt>
              <c:pt idx="6">
                <c:v>466.90899999999999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2C0A-44E1-BC47-40F9432B451C}"/>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none"/>
        <c:minorTickMark val="none"/>
        <c:tickLblPos val="nextTo"/>
        <c:spPr>
          <a:ln>
            <a:no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625.65805999999998"/>
          <c:min val="0"/>
        </c:scaling>
        <c:delete val="0"/>
        <c:axPos val="b"/>
        <c:numFmt formatCode="General" sourceLinked="1"/>
        <c:majorTickMark val="none"/>
        <c:minorTickMark val="none"/>
        <c:tickLblPos val="none"/>
        <c:spPr>
          <a:ln>
            <a:no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Series</c:v>
          </c:tx>
          <c:spPr>
            <a:solidFill>
              <a:srgbClr val="3D85C6"/>
            </a:solidFill>
            <a:ln>
              <a:noFill/>
            </a:ln>
          </c:spPr>
          <c:invertIfNegative val="1"/>
          <c:dPt>
            <c:idx val="0"/>
            <c:invertIfNegative val="1"/>
            <c:bubble3D val="0"/>
            <c:spPr>
              <a:solidFill>
                <a:srgbClr val="E59999"/>
              </a:solidFill>
            </c:spPr>
            <c:extLst>
              <c:ext xmlns:c16="http://schemas.microsoft.com/office/drawing/2014/chart" uri="{C3380CC4-5D6E-409C-BE32-E72D297353CC}">
                <c16:uniqueId val="{00000001-A1C1-4271-866E-711C7466D117}"/>
              </c:ext>
            </c:extLst>
          </c:dPt>
          <c:dPt>
            <c:idx val="1"/>
            <c:invertIfNegative val="1"/>
            <c:bubble3D val="0"/>
            <c:spPr>
              <a:solidFill>
                <a:srgbClr val="DF7F7F"/>
              </a:solidFill>
            </c:spPr>
            <c:extLst>
              <c:ext xmlns:c16="http://schemas.microsoft.com/office/drawing/2014/chart" uri="{C3380CC4-5D6E-409C-BE32-E72D297353CC}">
                <c16:uniqueId val="{00000003-A1C1-4271-866E-711C7466D117}"/>
              </c:ext>
            </c:extLst>
          </c:dPt>
          <c:dPt>
            <c:idx val="2"/>
            <c:invertIfNegative val="1"/>
            <c:bubble3D val="0"/>
            <c:spPr>
              <a:solidFill>
                <a:srgbClr val="D96565"/>
              </a:solidFill>
            </c:spPr>
            <c:extLst>
              <c:ext xmlns:c16="http://schemas.microsoft.com/office/drawing/2014/chart" uri="{C3380CC4-5D6E-409C-BE32-E72D297353CC}">
                <c16:uniqueId val="{00000005-A1C1-4271-866E-711C7466D117}"/>
              </c:ext>
            </c:extLst>
          </c:dPt>
          <c:dPt>
            <c:idx val="3"/>
            <c:invertIfNegative val="1"/>
            <c:bubble3D val="0"/>
            <c:spPr>
              <a:solidFill>
                <a:srgbClr val="D24C4C"/>
              </a:solidFill>
            </c:spPr>
            <c:extLst>
              <c:ext xmlns:c16="http://schemas.microsoft.com/office/drawing/2014/chart" uri="{C3380CC4-5D6E-409C-BE32-E72D297353CC}">
                <c16:uniqueId val="{00000007-A1C1-4271-866E-711C7466D117}"/>
              </c:ext>
            </c:extLst>
          </c:dPt>
          <c:dPt>
            <c:idx val="4"/>
            <c:invertIfNegative val="1"/>
            <c:bubble3D val="0"/>
            <c:spPr>
              <a:solidFill>
                <a:srgbClr val="CC3232"/>
              </a:solidFill>
            </c:spPr>
            <c:extLst>
              <c:ext xmlns:c16="http://schemas.microsoft.com/office/drawing/2014/chart" uri="{C3380CC4-5D6E-409C-BE32-E72D297353CC}">
                <c16:uniqueId val="{00000009-A1C1-4271-866E-711C7466D117}"/>
              </c:ext>
            </c:extLst>
          </c:dPt>
          <c:dPt>
            <c:idx val="5"/>
            <c:invertIfNegative val="1"/>
            <c:bubble3D val="0"/>
            <c:spPr>
              <a:solidFill>
                <a:srgbClr val="C61919"/>
              </a:solidFill>
            </c:spPr>
            <c:extLst>
              <c:ext xmlns:c16="http://schemas.microsoft.com/office/drawing/2014/chart" uri="{C3380CC4-5D6E-409C-BE32-E72D297353CC}">
                <c16:uniqueId val="{0000000B-A1C1-4271-866E-711C7466D117}"/>
              </c:ext>
            </c:extLst>
          </c:dPt>
          <c:dPt>
            <c:idx val="6"/>
            <c:invertIfNegative val="1"/>
            <c:bubble3D val="0"/>
            <c:spPr>
              <a:solidFill>
                <a:srgbClr val="C00000"/>
              </a:solidFill>
            </c:spPr>
            <c:extLst>
              <c:ext xmlns:c16="http://schemas.microsoft.com/office/drawing/2014/chart" uri="{C3380CC4-5D6E-409C-BE32-E72D297353CC}">
                <c16:uniqueId val="{0000000D-A1C1-4271-866E-711C7466D117}"/>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1C1-4271-866E-711C7466D117}"/>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1C1-4271-866E-711C7466D117}"/>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1C1-4271-866E-711C7466D117}"/>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1C1-4271-866E-711C7466D117}"/>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1C1-4271-866E-711C7466D117}"/>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A1C1-4271-866E-711C7466D117}"/>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A1C1-4271-866E-711C7466D117}"/>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Personal Care &amp; Cosme…</c:v>
              </c:pt>
              <c:pt idx="1">
                <c:v>Electronics &amp; Electri…</c:v>
              </c:pt>
              <c:pt idx="2">
                <c:v>Pharmaceuticals &amp; Hea…</c:v>
              </c:pt>
              <c:pt idx="3">
                <c:v>Food &amp; Beverage</c:v>
              </c:pt>
              <c:pt idx="4">
                <c:v>Others</c:v>
              </c:pt>
              <c:pt idx="5">
                <c:v>Automotive &amp; Industri…</c:v>
              </c:pt>
              <c:pt idx="6">
                <c:v>Glassware, Ceramics &amp;…</c:v>
              </c:pt>
            </c:strLit>
          </c:cat>
          <c:val>
            <c:numLit>
              <c:formatCode>General</c:formatCode>
              <c:ptCount val="7"/>
              <c:pt idx="0">
                <c:v>23.292000000000002</c:v>
              </c:pt>
              <c:pt idx="1">
                <c:v>83.921999999999997</c:v>
              </c:pt>
              <c:pt idx="2">
                <c:v>92.015000000000001</c:v>
              </c:pt>
              <c:pt idx="3">
                <c:v>107.375</c:v>
              </c:pt>
              <c:pt idx="4">
                <c:v>127.559</c:v>
              </c:pt>
              <c:pt idx="5">
                <c:v>133.33500000000001</c:v>
              </c:pt>
              <c:pt idx="6">
                <c:v>160.464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A1C1-4271-866E-711C7466D117}"/>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none"/>
        <c:minorTickMark val="none"/>
        <c:tickLblPos val="nextTo"/>
        <c:spPr>
          <a:ln>
            <a:no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215.02176"/>
          <c:min val="0"/>
        </c:scaling>
        <c:delete val="0"/>
        <c:axPos val="b"/>
        <c:numFmt formatCode="General" sourceLinked="1"/>
        <c:majorTickMark val="none"/>
        <c:minorTickMark val="none"/>
        <c:tickLblPos val="none"/>
        <c:spPr>
          <a:ln>
            <a:no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Series</c:v>
          </c:tx>
          <c:spPr>
            <a:solidFill>
              <a:srgbClr val="3D85C6"/>
            </a:solidFill>
            <a:ln>
              <a:noFill/>
            </a:ln>
          </c:spPr>
          <c:invertIfNegative val="1"/>
          <c:dPt>
            <c:idx val="0"/>
            <c:invertIfNegative val="1"/>
            <c:bubble3D val="0"/>
            <c:spPr>
              <a:solidFill>
                <a:srgbClr val="FFFFFF"/>
              </a:solidFill>
            </c:spPr>
            <c:extLst>
              <c:ext xmlns:c16="http://schemas.microsoft.com/office/drawing/2014/chart" uri="{C3380CC4-5D6E-409C-BE32-E72D297353CC}">
                <c16:uniqueId val="{00000001-3CAD-4CE3-87CC-1044F81FB636}"/>
              </c:ext>
            </c:extLst>
          </c:dPt>
          <c:dPt>
            <c:idx val="1"/>
            <c:invertIfNegative val="1"/>
            <c:bubble3D val="0"/>
            <c:spPr>
              <a:solidFill>
                <a:srgbClr val="FFFFFF"/>
              </a:solidFill>
            </c:spPr>
            <c:extLst>
              <c:ext xmlns:c16="http://schemas.microsoft.com/office/drawing/2014/chart" uri="{C3380CC4-5D6E-409C-BE32-E72D297353CC}">
                <c16:uniqueId val="{00000003-3CAD-4CE3-87CC-1044F81FB636}"/>
              </c:ext>
            </c:extLst>
          </c:dPt>
          <c:dPt>
            <c:idx val="2"/>
            <c:invertIfNegative val="1"/>
            <c:bubble3D val="0"/>
            <c:spPr>
              <a:solidFill>
                <a:srgbClr val="FFFFFF"/>
              </a:solidFill>
            </c:spPr>
            <c:extLst>
              <c:ext xmlns:c16="http://schemas.microsoft.com/office/drawing/2014/chart" uri="{C3380CC4-5D6E-409C-BE32-E72D297353CC}">
                <c16:uniqueId val="{00000005-3CAD-4CE3-87CC-1044F81FB636}"/>
              </c:ext>
            </c:extLst>
          </c:dPt>
          <c:dPt>
            <c:idx val="3"/>
            <c:invertIfNegative val="1"/>
            <c:bubble3D val="0"/>
            <c:spPr>
              <a:solidFill>
                <a:srgbClr val="FFFFFF"/>
              </a:solidFill>
            </c:spPr>
            <c:extLst>
              <c:ext xmlns:c16="http://schemas.microsoft.com/office/drawing/2014/chart" uri="{C3380CC4-5D6E-409C-BE32-E72D297353CC}">
                <c16:uniqueId val="{00000007-3CAD-4CE3-87CC-1044F81FB636}"/>
              </c:ext>
            </c:extLst>
          </c:dPt>
          <c:dPt>
            <c:idx val="4"/>
            <c:invertIfNegative val="1"/>
            <c:bubble3D val="0"/>
            <c:spPr>
              <a:solidFill>
                <a:srgbClr val="FFFFFF"/>
              </a:solidFill>
            </c:spPr>
            <c:extLst>
              <c:ext xmlns:c16="http://schemas.microsoft.com/office/drawing/2014/chart" uri="{C3380CC4-5D6E-409C-BE32-E72D297353CC}">
                <c16:uniqueId val="{00000009-3CAD-4CE3-87CC-1044F81FB636}"/>
              </c:ext>
            </c:extLst>
          </c:dPt>
          <c:dPt>
            <c:idx val="5"/>
            <c:invertIfNegative val="1"/>
            <c:bubble3D val="0"/>
            <c:spPr>
              <a:solidFill>
                <a:srgbClr val="C4C9CF"/>
              </a:solidFill>
            </c:spPr>
            <c:extLst>
              <c:ext xmlns:c16="http://schemas.microsoft.com/office/drawing/2014/chart" uri="{C3380CC4-5D6E-409C-BE32-E72D297353CC}">
                <c16:uniqueId val="{0000000B-3CAD-4CE3-87CC-1044F81FB636}"/>
              </c:ext>
            </c:extLst>
          </c:dPt>
          <c:dPt>
            <c:idx val="6"/>
            <c:invertIfNegative val="1"/>
            <c:bubble3D val="0"/>
            <c:spPr>
              <a:solidFill>
                <a:srgbClr val="6C7A89"/>
              </a:solidFill>
            </c:spPr>
            <c:extLst>
              <c:ext xmlns:c16="http://schemas.microsoft.com/office/drawing/2014/chart" uri="{C3380CC4-5D6E-409C-BE32-E72D297353CC}">
                <c16:uniqueId val="{0000000D-3CAD-4CE3-87CC-1044F81FB636}"/>
              </c:ext>
            </c:extLst>
          </c:dPt>
          <c:dLbls>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CAD-4CE3-87CC-1044F81FB636}"/>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CAD-4CE3-87CC-1044F81FB636}"/>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7"/>
              <c:pt idx="0">
                <c:v> </c:v>
              </c:pt>
              <c:pt idx="1">
                <c:v>  </c:v>
              </c:pt>
              <c:pt idx="2">
                <c:v>   </c:v>
              </c:pt>
              <c:pt idx="3">
                <c:v>    </c:v>
              </c:pt>
              <c:pt idx="4">
                <c:v>     </c:v>
              </c:pt>
              <c:pt idx="5">
                <c:v>Indirect</c:v>
              </c:pt>
              <c:pt idx="6">
                <c:v>Direct</c:v>
              </c:pt>
            </c:strLit>
          </c:cat>
          <c:val>
            <c:numLit>
              <c:formatCode>General</c:formatCode>
              <c:ptCount val="7"/>
              <c:pt idx="5">
                <c:v>237.09299999999999</c:v>
              </c:pt>
              <c:pt idx="6">
                <c:v>490.86900000000003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3CAD-4CE3-87CC-1044F81FB636}"/>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none"/>
        <c:minorTickMark val="none"/>
        <c:tickLblPos val="nextTo"/>
        <c:spPr>
          <a:ln>
            <a:no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657.7644600000001"/>
          <c:min val="0"/>
        </c:scaling>
        <c:delete val="0"/>
        <c:axPos val="b"/>
        <c:numFmt formatCode="General" sourceLinked="1"/>
        <c:majorTickMark val="none"/>
        <c:minorTickMark val="none"/>
        <c:tickLblPos val="none"/>
        <c:spPr>
          <a:ln>
            <a:no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5"/>
              <c:pt idx="0">
                <c:v>2026</c:v>
              </c:pt>
              <c:pt idx="1">
                <c:v>Slotted (Interlocking Grid) Partitions</c:v>
              </c:pt>
              <c:pt idx="2">
                <c:v>Die-Cut &amp; Folded Partitions (H-dividers, tube/cell inserts)</c:v>
              </c:pt>
              <c:pt idx="3">
                <c:v>Flat Dividers &amp; Layer Pads</c:v>
              </c:pt>
              <c:pt idx="4">
                <c:v>2036 Total</c:v>
              </c:pt>
            </c:strLit>
          </c:cat>
          <c:val>
            <c:numLit>
              <c:formatCode>General</c:formatCode>
              <c:ptCount val="5"/>
              <c:pt idx="0">
                <c:v>0</c:v>
              </c:pt>
              <c:pt idx="1">
                <c:v>727.96199999999999</c:v>
              </c:pt>
              <c:pt idx="2">
                <c:v>772.93700000000001</c:v>
              </c:pt>
              <c:pt idx="3">
                <c:v>839.16499999999996</c:v>
              </c:pt>
              <c:pt idx="4">
                <c:v>0</c:v>
              </c:pt>
            </c:numLit>
          </c:val>
          <c:extLst>
            <c:ext xmlns:c16="http://schemas.microsoft.com/office/drawing/2014/chart" uri="{C3380CC4-5D6E-409C-BE32-E72D297353CC}">
              <c16:uniqueId val="{00000000-7E53-4E14-9D64-FACB32A7D8C1}"/>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7E53-4E14-9D64-FACB32A7D8C1}"/>
              </c:ext>
            </c:extLst>
          </c:dPt>
          <c:dPt>
            <c:idx val="1"/>
            <c:invertIfNegative val="1"/>
            <c:bubble3D val="0"/>
            <c:spPr>
              <a:solidFill>
                <a:srgbClr val="008189"/>
              </a:solidFill>
            </c:spPr>
            <c:extLst>
              <c:ext xmlns:c16="http://schemas.microsoft.com/office/drawing/2014/chart" uri="{C3380CC4-5D6E-409C-BE32-E72D297353CC}">
                <c16:uniqueId val="{00000004-7E53-4E14-9D64-FACB32A7D8C1}"/>
              </c:ext>
            </c:extLst>
          </c:dPt>
          <c:dPt>
            <c:idx val="2"/>
            <c:invertIfNegative val="1"/>
            <c:bubble3D val="0"/>
            <c:spPr>
              <a:solidFill>
                <a:srgbClr val="008189"/>
              </a:solidFill>
            </c:spPr>
            <c:extLst>
              <c:ext xmlns:c16="http://schemas.microsoft.com/office/drawing/2014/chart" uri="{C3380CC4-5D6E-409C-BE32-E72D297353CC}">
                <c16:uniqueId val="{00000006-7E53-4E14-9D64-FACB32A7D8C1}"/>
              </c:ext>
            </c:extLst>
          </c:dPt>
          <c:dPt>
            <c:idx val="3"/>
            <c:invertIfNegative val="1"/>
            <c:bubble3D val="0"/>
            <c:spPr>
              <a:solidFill>
                <a:srgbClr val="008189"/>
              </a:solidFill>
            </c:spPr>
            <c:extLst>
              <c:ext xmlns:c16="http://schemas.microsoft.com/office/drawing/2014/chart" uri="{C3380CC4-5D6E-409C-BE32-E72D297353CC}">
                <c16:uniqueId val="{00000008-7E53-4E14-9D64-FACB32A7D8C1}"/>
              </c:ext>
            </c:extLst>
          </c:dPt>
          <c:dPt>
            <c:idx val="4"/>
            <c:invertIfNegative val="1"/>
            <c:bubble3D val="0"/>
            <c:spPr>
              <a:solidFill>
                <a:srgbClr val="0E72AE"/>
              </a:solidFill>
            </c:spPr>
            <c:extLst>
              <c:ext xmlns:c16="http://schemas.microsoft.com/office/drawing/2014/chart" uri="{C3380CC4-5D6E-409C-BE32-E72D297353CC}">
                <c16:uniqueId val="{0000000A-7E53-4E14-9D64-FACB32A7D8C1}"/>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E53-4E14-9D64-FACB32A7D8C1}"/>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E53-4E14-9D64-FACB32A7D8C1}"/>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E53-4E14-9D64-FACB32A7D8C1}"/>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E53-4E14-9D64-FACB32A7D8C1}"/>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E53-4E14-9D64-FACB32A7D8C1}"/>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2026</c:v>
              </c:pt>
              <c:pt idx="1">
                <c:v>Slotted (Interlocking Grid) Partitions</c:v>
              </c:pt>
              <c:pt idx="2">
                <c:v>Die-Cut &amp; Folded Partitions (H-dividers, tube/cell inserts)</c:v>
              </c:pt>
              <c:pt idx="3">
                <c:v>Flat Dividers &amp; Layer Pads</c:v>
              </c:pt>
              <c:pt idx="4">
                <c:v>2036 Total</c:v>
              </c:pt>
            </c:strLit>
          </c:cat>
          <c:val>
            <c:numLit>
              <c:formatCode>General</c:formatCode>
              <c:ptCount val="5"/>
              <c:pt idx="0">
                <c:v>727.96199999999999</c:v>
              </c:pt>
              <c:pt idx="1">
                <c:v>44.974999999999994</c:v>
              </c:pt>
              <c:pt idx="2">
                <c:v>66.228000000000009</c:v>
              </c:pt>
              <c:pt idx="3">
                <c:v>220.48599999999999</c:v>
              </c:pt>
              <c:pt idx="4">
                <c:v>1059.6510000000001</c:v>
              </c:pt>
            </c:numLit>
          </c:val>
          <c:extLst>
            <c:ext xmlns:c16="http://schemas.microsoft.com/office/drawing/2014/chart" uri="{C3380CC4-5D6E-409C-BE32-E72D297353CC}">
              <c16:uniqueId val="{0000000B-7E53-4E14-9D64-FACB32A7D8C1}"/>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4"/>
              <c:pt idx="0">
                <c:v>Slotted (Interlocking Grid) Partitions</c:v>
              </c:pt>
              <c:pt idx="1">
                <c:v>Die-Cut &amp; Folded Partitions (H-dividers, tube/cell inserts)</c:v>
              </c:pt>
              <c:pt idx="2">
                <c:v>Flat Dividers &amp; Layer Pads</c:v>
              </c:pt>
              <c:pt idx="3">
                <c:v>Total Absolute $ Opportunity</c:v>
              </c:pt>
            </c:strLit>
          </c:cat>
          <c:val>
            <c:numLit>
              <c:formatCode>General</c:formatCode>
              <c:ptCount val="4"/>
              <c:pt idx="0">
                <c:v>0</c:v>
              </c:pt>
              <c:pt idx="1">
                <c:v>44.974999999999994</c:v>
              </c:pt>
              <c:pt idx="2">
                <c:v>111.203</c:v>
              </c:pt>
              <c:pt idx="3">
                <c:v>0</c:v>
              </c:pt>
            </c:numLit>
          </c:val>
          <c:extLst>
            <c:ext xmlns:c16="http://schemas.microsoft.com/office/drawing/2014/chart" uri="{C3380CC4-5D6E-409C-BE32-E72D297353CC}">
              <c16:uniqueId val="{00000000-8438-4CFB-8638-E9EC2AC0ADC2}"/>
            </c:ext>
          </c:extLst>
        </c:ser>
        <c:ser>
          <c:idx val="1"/>
          <c:order val="1"/>
          <c:tx>
            <c:v>value</c:v>
          </c:tx>
          <c:invertIfNegative val="1"/>
          <c:dPt>
            <c:idx val="0"/>
            <c:invertIfNegative val="1"/>
            <c:bubble3D val="0"/>
            <c:spPr>
              <a:solidFill>
                <a:srgbClr val="008189"/>
              </a:solidFill>
            </c:spPr>
            <c:extLst>
              <c:ext xmlns:c16="http://schemas.microsoft.com/office/drawing/2014/chart" uri="{C3380CC4-5D6E-409C-BE32-E72D297353CC}">
                <c16:uniqueId val="{00000002-8438-4CFB-8638-E9EC2AC0ADC2}"/>
              </c:ext>
            </c:extLst>
          </c:dPt>
          <c:dPt>
            <c:idx val="1"/>
            <c:invertIfNegative val="1"/>
            <c:bubble3D val="0"/>
            <c:spPr>
              <a:solidFill>
                <a:srgbClr val="008189"/>
              </a:solidFill>
            </c:spPr>
            <c:extLst>
              <c:ext xmlns:c16="http://schemas.microsoft.com/office/drawing/2014/chart" uri="{C3380CC4-5D6E-409C-BE32-E72D297353CC}">
                <c16:uniqueId val="{00000004-8438-4CFB-8638-E9EC2AC0ADC2}"/>
              </c:ext>
            </c:extLst>
          </c:dPt>
          <c:dPt>
            <c:idx val="2"/>
            <c:invertIfNegative val="1"/>
            <c:bubble3D val="0"/>
            <c:spPr>
              <a:solidFill>
                <a:srgbClr val="008189"/>
              </a:solidFill>
            </c:spPr>
            <c:extLst>
              <c:ext xmlns:c16="http://schemas.microsoft.com/office/drawing/2014/chart" uri="{C3380CC4-5D6E-409C-BE32-E72D297353CC}">
                <c16:uniqueId val="{00000006-8438-4CFB-8638-E9EC2AC0ADC2}"/>
              </c:ext>
            </c:extLst>
          </c:dPt>
          <c:dPt>
            <c:idx val="3"/>
            <c:invertIfNegative val="1"/>
            <c:bubble3D val="0"/>
            <c:spPr>
              <a:solidFill>
                <a:srgbClr val="0E72AE"/>
              </a:solidFill>
            </c:spPr>
            <c:extLst>
              <c:ext xmlns:c16="http://schemas.microsoft.com/office/drawing/2014/chart" uri="{C3380CC4-5D6E-409C-BE32-E72D297353CC}">
                <c16:uniqueId val="{00000008-8438-4CFB-8638-E9EC2AC0ADC2}"/>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438-4CFB-8638-E9EC2AC0ADC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438-4CFB-8638-E9EC2AC0ADC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438-4CFB-8638-E9EC2AC0ADC2}"/>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438-4CFB-8638-E9EC2AC0ADC2}"/>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Slotted (Interlocking Grid) Partitions</c:v>
              </c:pt>
              <c:pt idx="1">
                <c:v>Die-Cut &amp; Folded Partitions (H-dividers, tube/cell inserts)</c:v>
              </c:pt>
              <c:pt idx="2">
                <c:v>Flat Dividers &amp; Layer Pads</c:v>
              </c:pt>
              <c:pt idx="3">
                <c:v>Total Absolute $ Opportunity</c:v>
              </c:pt>
            </c:strLit>
          </c:cat>
          <c:val>
            <c:numLit>
              <c:formatCode>General</c:formatCode>
              <c:ptCount val="4"/>
              <c:pt idx="0">
                <c:v>44.974999999999994</c:v>
              </c:pt>
              <c:pt idx="1">
                <c:v>66.228000000000009</c:v>
              </c:pt>
              <c:pt idx="2">
                <c:v>220.48599999999999</c:v>
              </c:pt>
              <c:pt idx="3">
                <c:v>331.68899999999996</c:v>
              </c:pt>
            </c:numLit>
          </c:val>
          <c:extLst>
            <c:ext xmlns:c16="http://schemas.microsoft.com/office/drawing/2014/chart" uri="{C3380CC4-5D6E-409C-BE32-E72D297353CC}">
              <c16:uniqueId val="{00000009-8438-4CFB-8638-E9EC2AC0ADC2}"/>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5"/>
              <c:pt idx="0">
                <c:v>2026</c:v>
              </c:pt>
              <c:pt idx="1">
                <c:v>Single Wall</c:v>
              </c:pt>
              <c:pt idx="2">
                <c:v>Double Wall</c:v>
              </c:pt>
              <c:pt idx="3">
                <c:v>Triple Wall</c:v>
              </c:pt>
              <c:pt idx="4">
                <c:v>2036 Total</c:v>
              </c:pt>
            </c:strLit>
          </c:cat>
          <c:val>
            <c:numLit>
              <c:formatCode>General</c:formatCode>
              <c:ptCount val="5"/>
              <c:pt idx="0">
                <c:v>0</c:v>
              </c:pt>
              <c:pt idx="1">
                <c:v>727.96199999999999</c:v>
              </c:pt>
              <c:pt idx="2">
                <c:v>772.35500000000002</c:v>
              </c:pt>
              <c:pt idx="3">
                <c:v>917.06799999999998</c:v>
              </c:pt>
              <c:pt idx="4">
                <c:v>0</c:v>
              </c:pt>
            </c:numLit>
          </c:val>
          <c:extLst>
            <c:ext xmlns:c16="http://schemas.microsoft.com/office/drawing/2014/chart" uri="{C3380CC4-5D6E-409C-BE32-E72D297353CC}">
              <c16:uniqueId val="{00000000-52C6-48B5-A472-B254EADB794B}"/>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52C6-48B5-A472-B254EADB794B}"/>
              </c:ext>
            </c:extLst>
          </c:dPt>
          <c:dPt>
            <c:idx val="1"/>
            <c:invertIfNegative val="1"/>
            <c:bubble3D val="0"/>
            <c:spPr>
              <a:solidFill>
                <a:srgbClr val="008189"/>
              </a:solidFill>
            </c:spPr>
            <c:extLst>
              <c:ext xmlns:c16="http://schemas.microsoft.com/office/drawing/2014/chart" uri="{C3380CC4-5D6E-409C-BE32-E72D297353CC}">
                <c16:uniqueId val="{00000004-52C6-48B5-A472-B254EADB794B}"/>
              </c:ext>
            </c:extLst>
          </c:dPt>
          <c:dPt>
            <c:idx val="2"/>
            <c:invertIfNegative val="1"/>
            <c:bubble3D val="0"/>
            <c:spPr>
              <a:solidFill>
                <a:srgbClr val="008189"/>
              </a:solidFill>
            </c:spPr>
            <c:extLst>
              <c:ext xmlns:c16="http://schemas.microsoft.com/office/drawing/2014/chart" uri="{C3380CC4-5D6E-409C-BE32-E72D297353CC}">
                <c16:uniqueId val="{00000006-52C6-48B5-A472-B254EADB794B}"/>
              </c:ext>
            </c:extLst>
          </c:dPt>
          <c:dPt>
            <c:idx val="3"/>
            <c:invertIfNegative val="1"/>
            <c:bubble3D val="0"/>
            <c:spPr>
              <a:solidFill>
                <a:srgbClr val="008189"/>
              </a:solidFill>
            </c:spPr>
            <c:extLst>
              <c:ext xmlns:c16="http://schemas.microsoft.com/office/drawing/2014/chart" uri="{C3380CC4-5D6E-409C-BE32-E72D297353CC}">
                <c16:uniqueId val="{00000008-52C6-48B5-A472-B254EADB794B}"/>
              </c:ext>
            </c:extLst>
          </c:dPt>
          <c:dPt>
            <c:idx val="4"/>
            <c:invertIfNegative val="1"/>
            <c:bubble3D val="0"/>
            <c:spPr>
              <a:solidFill>
                <a:srgbClr val="0E72AE"/>
              </a:solidFill>
            </c:spPr>
            <c:extLst>
              <c:ext xmlns:c16="http://schemas.microsoft.com/office/drawing/2014/chart" uri="{C3380CC4-5D6E-409C-BE32-E72D297353CC}">
                <c16:uniqueId val="{0000000A-52C6-48B5-A472-B254EADB794B}"/>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2C6-48B5-A472-B254EADB794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2C6-48B5-A472-B254EADB794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2C6-48B5-A472-B254EADB794B}"/>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2C6-48B5-A472-B254EADB794B}"/>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52C6-48B5-A472-B254EADB794B}"/>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2026</c:v>
              </c:pt>
              <c:pt idx="1">
                <c:v>Single Wall</c:v>
              </c:pt>
              <c:pt idx="2">
                <c:v>Double Wall</c:v>
              </c:pt>
              <c:pt idx="3">
                <c:v>Triple Wall</c:v>
              </c:pt>
              <c:pt idx="4">
                <c:v>2036 Total</c:v>
              </c:pt>
            </c:strLit>
          </c:cat>
          <c:val>
            <c:numLit>
              <c:formatCode>General</c:formatCode>
              <c:ptCount val="5"/>
              <c:pt idx="0">
                <c:v>727.96199999999999</c:v>
              </c:pt>
              <c:pt idx="1">
                <c:v>44.393000000000001</c:v>
              </c:pt>
              <c:pt idx="2">
                <c:v>144.71299999999997</c:v>
              </c:pt>
              <c:pt idx="3">
                <c:v>142.58300000000003</c:v>
              </c:pt>
              <c:pt idx="4">
                <c:v>1059.6510000000001</c:v>
              </c:pt>
            </c:numLit>
          </c:val>
          <c:extLst>
            <c:ext xmlns:c16="http://schemas.microsoft.com/office/drawing/2014/chart" uri="{C3380CC4-5D6E-409C-BE32-E72D297353CC}">
              <c16:uniqueId val="{0000000B-52C6-48B5-A472-B254EADB794B}"/>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4"/>
              <c:pt idx="0">
                <c:v>Single Wall</c:v>
              </c:pt>
              <c:pt idx="1">
                <c:v>Double Wall</c:v>
              </c:pt>
              <c:pt idx="2">
                <c:v>Triple Wall</c:v>
              </c:pt>
              <c:pt idx="3">
                <c:v>Total Absolute $ Opportunity</c:v>
              </c:pt>
            </c:strLit>
          </c:cat>
          <c:val>
            <c:numLit>
              <c:formatCode>General</c:formatCode>
              <c:ptCount val="4"/>
              <c:pt idx="0">
                <c:v>0</c:v>
              </c:pt>
              <c:pt idx="1">
                <c:v>44.393000000000001</c:v>
              </c:pt>
              <c:pt idx="2">
                <c:v>189.10599999999997</c:v>
              </c:pt>
              <c:pt idx="3">
                <c:v>0</c:v>
              </c:pt>
            </c:numLit>
          </c:val>
          <c:extLst>
            <c:ext xmlns:c16="http://schemas.microsoft.com/office/drawing/2014/chart" uri="{C3380CC4-5D6E-409C-BE32-E72D297353CC}">
              <c16:uniqueId val="{00000000-CEC9-4DA7-8455-84AEF7830A1F}"/>
            </c:ext>
          </c:extLst>
        </c:ser>
        <c:ser>
          <c:idx val="1"/>
          <c:order val="1"/>
          <c:tx>
            <c:v>value</c:v>
          </c:tx>
          <c:invertIfNegative val="1"/>
          <c:dPt>
            <c:idx val="0"/>
            <c:invertIfNegative val="1"/>
            <c:bubble3D val="0"/>
            <c:spPr>
              <a:solidFill>
                <a:srgbClr val="008189"/>
              </a:solidFill>
            </c:spPr>
            <c:extLst>
              <c:ext xmlns:c16="http://schemas.microsoft.com/office/drawing/2014/chart" uri="{C3380CC4-5D6E-409C-BE32-E72D297353CC}">
                <c16:uniqueId val="{00000002-CEC9-4DA7-8455-84AEF7830A1F}"/>
              </c:ext>
            </c:extLst>
          </c:dPt>
          <c:dPt>
            <c:idx val="1"/>
            <c:invertIfNegative val="1"/>
            <c:bubble3D val="0"/>
            <c:spPr>
              <a:solidFill>
                <a:srgbClr val="008189"/>
              </a:solidFill>
            </c:spPr>
            <c:extLst>
              <c:ext xmlns:c16="http://schemas.microsoft.com/office/drawing/2014/chart" uri="{C3380CC4-5D6E-409C-BE32-E72D297353CC}">
                <c16:uniqueId val="{00000004-CEC9-4DA7-8455-84AEF7830A1F}"/>
              </c:ext>
            </c:extLst>
          </c:dPt>
          <c:dPt>
            <c:idx val="2"/>
            <c:invertIfNegative val="1"/>
            <c:bubble3D val="0"/>
            <c:spPr>
              <a:solidFill>
                <a:srgbClr val="008189"/>
              </a:solidFill>
            </c:spPr>
            <c:extLst>
              <c:ext xmlns:c16="http://schemas.microsoft.com/office/drawing/2014/chart" uri="{C3380CC4-5D6E-409C-BE32-E72D297353CC}">
                <c16:uniqueId val="{00000006-CEC9-4DA7-8455-84AEF7830A1F}"/>
              </c:ext>
            </c:extLst>
          </c:dPt>
          <c:dPt>
            <c:idx val="3"/>
            <c:invertIfNegative val="1"/>
            <c:bubble3D val="0"/>
            <c:spPr>
              <a:solidFill>
                <a:srgbClr val="0E72AE"/>
              </a:solidFill>
            </c:spPr>
            <c:extLst>
              <c:ext xmlns:c16="http://schemas.microsoft.com/office/drawing/2014/chart" uri="{C3380CC4-5D6E-409C-BE32-E72D297353CC}">
                <c16:uniqueId val="{00000008-CEC9-4DA7-8455-84AEF7830A1F}"/>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EC9-4DA7-8455-84AEF7830A1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EC9-4DA7-8455-84AEF7830A1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EC9-4DA7-8455-84AEF7830A1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EC9-4DA7-8455-84AEF7830A1F}"/>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Single Wall</c:v>
              </c:pt>
              <c:pt idx="1">
                <c:v>Double Wall</c:v>
              </c:pt>
              <c:pt idx="2">
                <c:v>Triple Wall</c:v>
              </c:pt>
              <c:pt idx="3">
                <c:v>Total Absolute $ Opportunity</c:v>
              </c:pt>
            </c:strLit>
          </c:cat>
          <c:val>
            <c:numLit>
              <c:formatCode>General</c:formatCode>
              <c:ptCount val="4"/>
              <c:pt idx="0">
                <c:v>44.393000000000001</c:v>
              </c:pt>
              <c:pt idx="1">
                <c:v>144.71299999999997</c:v>
              </c:pt>
              <c:pt idx="2">
                <c:v>142.58300000000003</c:v>
              </c:pt>
              <c:pt idx="3">
                <c:v>331.68899999999996</c:v>
              </c:pt>
            </c:numLit>
          </c:val>
          <c:extLst>
            <c:ext xmlns:c16="http://schemas.microsoft.com/office/drawing/2014/chart" uri="{C3380CC4-5D6E-409C-BE32-E72D297353CC}">
              <c16:uniqueId val="{00000009-CEC9-4DA7-8455-84AEF7830A1F}"/>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4"/>
              <c:pt idx="0">
                <c:v>2026</c:v>
              </c:pt>
              <c:pt idx="1">
                <c:v>Virgin Kraft Fibre-based</c:v>
              </c:pt>
              <c:pt idx="2">
                <c:v>Recycled Fibre-based (testliner/recycled medium)</c:v>
              </c:pt>
              <c:pt idx="3">
                <c:v>2036 Total</c:v>
              </c:pt>
            </c:strLit>
          </c:cat>
          <c:val>
            <c:numLit>
              <c:formatCode>General</c:formatCode>
              <c:ptCount val="4"/>
              <c:pt idx="0">
                <c:v>0</c:v>
              </c:pt>
              <c:pt idx="1">
                <c:v>727.96199999999999</c:v>
              </c:pt>
              <c:pt idx="2">
                <c:v>980.17099999999994</c:v>
              </c:pt>
              <c:pt idx="3">
                <c:v>0</c:v>
              </c:pt>
            </c:numLit>
          </c:val>
          <c:extLst>
            <c:ext xmlns:c16="http://schemas.microsoft.com/office/drawing/2014/chart" uri="{C3380CC4-5D6E-409C-BE32-E72D297353CC}">
              <c16:uniqueId val="{00000000-B7EE-4954-9F51-6ED307E6F583}"/>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B7EE-4954-9F51-6ED307E6F583}"/>
              </c:ext>
            </c:extLst>
          </c:dPt>
          <c:dPt>
            <c:idx val="1"/>
            <c:invertIfNegative val="1"/>
            <c:bubble3D val="0"/>
            <c:spPr>
              <a:solidFill>
                <a:srgbClr val="008189"/>
              </a:solidFill>
            </c:spPr>
            <c:extLst>
              <c:ext xmlns:c16="http://schemas.microsoft.com/office/drawing/2014/chart" uri="{C3380CC4-5D6E-409C-BE32-E72D297353CC}">
                <c16:uniqueId val="{00000004-B7EE-4954-9F51-6ED307E6F583}"/>
              </c:ext>
            </c:extLst>
          </c:dPt>
          <c:dPt>
            <c:idx val="2"/>
            <c:invertIfNegative val="1"/>
            <c:bubble3D val="0"/>
            <c:spPr>
              <a:solidFill>
                <a:srgbClr val="008189"/>
              </a:solidFill>
            </c:spPr>
            <c:extLst>
              <c:ext xmlns:c16="http://schemas.microsoft.com/office/drawing/2014/chart" uri="{C3380CC4-5D6E-409C-BE32-E72D297353CC}">
                <c16:uniqueId val="{00000006-B7EE-4954-9F51-6ED307E6F583}"/>
              </c:ext>
            </c:extLst>
          </c:dPt>
          <c:dPt>
            <c:idx val="3"/>
            <c:invertIfNegative val="1"/>
            <c:bubble3D val="0"/>
            <c:spPr>
              <a:solidFill>
                <a:srgbClr val="0E72AE"/>
              </a:solidFill>
            </c:spPr>
            <c:extLst>
              <c:ext xmlns:c16="http://schemas.microsoft.com/office/drawing/2014/chart" uri="{C3380CC4-5D6E-409C-BE32-E72D297353CC}">
                <c16:uniqueId val="{00000008-B7EE-4954-9F51-6ED307E6F583}"/>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7EE-4954-9F51-6ED307E6F583}"/>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7EE-4954-9F51-6ED307E6F583}"/>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7EE-4954-9F51-6ED307E6F583}"/>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7EE-4954-9F51-6ED307E6F583}"/>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2026</c:v>
              </c:pt>
              <c:pt idx="1">
                <c:v>Virgin Kraft Fibre-based</c:v>
              </c:pt>
              <c:pt idx="2">
                <c:v>Recycled Fibre-based (testliner/recycled medium)</c:v>
              </c:pt>
              <c:pt idx="3">
                <c:v>2036 Total</c:v>
              </c:pt>
            </c:strLit>
          </c:cat>
          <c:val>
            <c:numLit>
              <c:formatCode>General</c:formatCode>
              <c:ptCount val="4"/>
              <c:pt idx="0">
                <c:v>727.96199999999999</c:v>
              </c:pt>
              <c:pt idx="1">
                <c:v>252.20899999999995</c:v>
              </c:pt>
              <c:pt idx="2">
                <c:v>79.480000000000018</c:v>
              </c:pt>
              <c:pt idx="3">
                <c:v>1059.6510000000001</c:v>
              </c:pt>
            </c:numLit>
          </c:val>
          <c:extLst>
            <c:ext xmlns:c16="http://schemas.microsoft.com/office/drawing/2014/chart" uri="{C3380CC4-5D6E-409C-BE32-E72D297353CC}">
              <c16:uniqueId val="{00000009-B7EE-4954-9F51-6ED307E6F583}"/>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3"/>
              <c:pt idx="0">
                <c:v>Virgin Kraft Fibre-based</c:v>
              </c:pt>
              <c:pt idx="1">
                <c:v>Recycled Fibre-based (testliner/recycled medium)</c:v>
              </c:pt>
              <c:pt idx="2">
                <c:v>Total Absolute $ Opportunity</c:v>
              </c:pt>
            </c:strLit>
          </c:cat>
          <c:val>
            <c:numLit>
              <c:formatCode>General</c:formatCode>
              <c:ptCount val="3"/>
              <c:pt idx="0">
                <c:v>0</c:v>
              </c:pt>
              <c:pt idx="1">
                <c:v>252.20899999999995</c:v>
              </c:pt>
              <c:pt idx="2">
                <c:v>0</c:v>
              </c:pt>
            </c:numLit>
          </c:val>
          <c:extLst>
            <c:ext xmlns:c16="http://schemas.microsoft.com/office/drawing/2014/chart" uri="{C3380CC4-5D6E-409C-BE32-E72D297353CC}">
              <c16:uniqueId val="{00000000-85CB-4860-86A6-29D4506E0876}"/>
            </c:ext>
          </c:extLst>
        </c:ser>
        <c:ser>
          <c:idx val="1"/>
          <c:order val="1"/>
          <c:tx>
            <c:v>value</c:v>
          </c:tx>
          <c:invertIfNegative val="1"/>
          <c:dPt>
            <c:idx val="0"/>
            <c:invertIfNegative val="1"/>
            <c:bubble3D val="0"/>
            <c:spPr>
              <a:solidFill>
                <a:srgbClr val="008189"/>
              </a:solidFill>
            </c:spPr>
            <c:extLst>
              <c:ext xmlns:c16="http://schemas.microsoft.com/office/drawing/2014/chart" uri="{C3380CC4-5D6E-409C-BE32-E72D297353CC}">
                <c16:uniqueId val="{00000002-85CB-4860-86A6-29D4506E0876}"/>
              </c:ext>
            </c:extLst>
          </c:dPt>
          <c:dPt>
            <c:idx val="1"/>
            <c:invertIfNegative val="1"/>
            <c:bubble3D val="0"/>
            <c:spPr>
              <a:solidFill>
                <a:srgbClr val="008189"/>
              </a:solidFill>
            </c:spPr>
            <c:extLst>
              <c:ext xmlns:c16="http://schemas.microsoft.com/office/drawing/2014/chart" uri="{C3380CC4-5D6E-409C-BE32-E72D297353CC}">
                <c16:uniqueId val="{00000004-85CB-4860-86A6-29D4506E0876}"/>
              </c:ext>
            </c:extLst>
          </c:dPt>
          <c:dPt>
            <c:idx val="2"/>
            <c:invertIfNegative val="1"/>
            <c:bubble3D val="0"/>
            <c:spPr>
              <a:solidFill>
                <a:srgbClr val="0E72AE"/>
              </a:solidFill>
            </c:spPr>
            <c:extLst>
              <c:ext xmlns:c16="http://schemas.microsoft.com/office/drawing/2014/chart" uri="{C3380CC4-5D6E-409C-BE32-E72D297353CC}">
                <c16:uniqueId val="{00000006-85CB-4860-86A6-29D4506E0876}"/>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5CB-4860-86A6-29D4506E0876}"/>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5CB-4860-86A6-29D4506E0876}"/>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5CB-4860-86A6-29D4506E0876}"/>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Virgin Kraft Fibre-based</c:v>
              </c:pt>
              <c:pt idx="1">
                <c:v>Recycled Fibre-based (testliner/recycled medium)</c:v>
              </c:pt>
              <c:pt idx="2">
                <c:v>Total Absolute $ Opportunity</c:v>
              </c:pt>
            </c:strLit>
          </c:cat>
          <c:val>
            <c:numLit>
              <c:formatCode>General</c:formatCode>
              <c:ptCount val="3"/>
              <c:pt idx="0">
                <c:v>252.20899999999995</c:v>
              </c:pt>
              <c:pt idx="1">
                <c:v>79.480000000000018</c:v>
              </c:pt>
              <c:pt idx="2">
                <c:v>331.68899999999996</c:v>
              </c:pt>
            </c:numLit>
          </c:val>
          <c:extLst>
            <c:ext xmlns:c16="http://schemas.microsoft.com/office/drawing/2014/chart" uri="{C3380CC4-5D6E-409C-BE32-E72D297353CC}">
              <c16:uniqueId val="{00000007-85CB-4860-86A6-29D4506E0876}"/>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6"/>
              <c:pt idx="0">
                <c:v>2026</c:v>
              </c:pt>
              <c:pt idx="1">
                <c:v>Up to 4 Cells</c:v>
              </c:pt>
              <c:pt idx="2">
                <c:v>6 to 12 Cells</c:v>
              </c:pt>
              <c:pt idx="3">
                <c:v>13 to 24 Cells</c:v>
              </c:pt>
              <c:pt idx="4">
                <c:v>Above 24 Cells</c:v>
              </c:pt>
              <c:pt idx="5">
                <c:v>2036 Total</c:v>
              </c:pt>
            </c:strLit>
          </c:cat>
          <c:val>
            <c:numLit>
              <c:formatCode>General</c:formatCode>
              <c:ptCount val="6"/>
              <c:pt idx="0">
                <c:v>0</c:v>
              </c:pt>
              <c:pt idx="1">
                <c:v>727.96199999999999</c:v>
              </c:pt>
              <c:pt idx="2">
                <c:v>853.19</c:v>
              </c:pt>
              <c:pt idx="3">
                <c:v>992.3950000000001</c:v>
              </c:pt>
              <c:pt idx="4">
                <c:v>1029.1970000000001</c:v>
              </c:pt>
              <c:pt idx="5">
                <c:v>0</c:v>
              </c:pt>
            </c:numLit>
          </c:val>
          <c:extLst>
            <c:ext xmlns:c16="http://schemas.microsoft.com/office/drawing/2014/chart" uri="{C3380CC4-5D6E-409C-BE32-E72D297353CC}">
              <c16:uniqueId val="{00000000-19B3-4EFC-AADA-A3E588C1A2DD}"/>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19B3-4EFC-AADA-A3E588C1A2DD}"/>
              </c:ext>
            </c:extLst>
          </c:dPt>
          <c:dPt>
            <c:idx val="1"/>
            <c:invertIfNegative val="1"/>
            <c:bubble3D val="0"/>
            <c:spPr>
              <a:solidFill>
                <a:srgbClr val="008189"/>
              </a:solidFill>
            </c:spPr>
            <c:extLst>
              <c:ext xmlns:c16="http://schemas.microsoft.com/office/drawing/2014/chart" uri="{C3380CC4-5D6E-409C-BE32-E72D297353CC}">
                <c16:uniqueId val="{00000004-19B3-4EFC-AADA-A3E588C1A2DD}"/>
              </c:ext>
            </c:extLst>
          </c:dPt>
          <c:dPt>
            <c:idx val="2"/>
            <c:invertIfNegative val="1"/>
            <c:bubble3D val="0"/>
            <c:spPr>
              <a:solidFill>
                <a:srgbClr val="008189"/>
              </a:solidFill>
            </c:spPr>
            <c:extLst>
              <c:ext xmlns:c16="http://schemas.microsoft.com/office/drawing/2014/chart" uri="{C3380CC4-5D6E-409C-BE32-E72D297353CC}">
                <c16:uniqueId val="{00000006-19B3-4EFC-AADA-A3E588C1A2DD}"/>
              </c:ext>
            </c:extLst>
          </c:dPt>
          <c:dPt>
            <c:idx val="3"/>
            <c:invertIfNegative val="1"/>
            <c:bubble3D val="0"/>
            <c:spPr>
              <a:solidFill>
                <a:srgbClr val="008189"/>
              </a:solidFill>
            </c:spPr>
            <c:extLst>
              <c:ext xmlns:c16="http://schemas.microsoft.com/office/drawing/2014/chart" uri="{C3380CC4-5D6E-409C-BE32-E72D297353CC}">
                <c16:uniqueId val="{00000008-19B3-4EFC-AADA-A3E588C1A2DD}"/>
              </c:ext>
            </c:extLst>
          </c:dPt>
          <c:dPt>
            <c:idx val="4"/>
            <c:invertIfNegative val="1"/>
            <c:bubble3D val="0"/>
            <c:spPr>
              <a:solidFill>
                <a:srgbClr val="008189"/>
              </a:solidFill>
            </c:spPr>
            <c:extLst>
              <c:ext xmlns:c16="http://schemas.microsoft.com/office/drawing/2014/chart" uri="{C3380CC4-5D6E-409C-BE32-E72D297353CC}">
                <c16:uniqueId val="{0000000A-19B3-4EFC-AADA-A3E588C1A2DD}"/>
              </c:ext>
            </c:extLst>
          </c:dPt>
          <c:dPt>
            <c:idx val="5"/>
            <c:invertIfNegative val="1"/>
            <c:bubble3D val="0"/>
            <c:spPr>
              <a:solidFill>
                <a:srgbClr val="0E72AE"/>
              </a:solidFill>
            </c:spPr>
            <c:extLst>
              <c:ext xmlns:c16="http://schemas.microsoft.com/office/drawing/2014/chart" uri="{C3380CC4-5D6E-409C-BE32-E72D297353CC}">
                <c16:uniqueId val="{0000000C-19B3-4EFC-AADA-A3E588C1A2DD}"/>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9B3-4EFC-AADA-A3E588C1A2DD}"/>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9B3-4EFC-AADA-A3E588C1A2DD}"/>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9B3-4EFC-AADA-A3E588C1A2DD}"/>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9B3-4EFC-AADA-A3E588C1A2DD}"/>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9B3-4EFC-AADA-A3E588C1A2DD}"/>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19B3-4EFC-AADA-A3E588C1A2DD}"/>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6"/>
              <c:pt idx="0">
                <c:v>2026</c:v>
              </c:pt>
              <c:pt idx="1">
                <c:v>Up to 4 Cells</c:v>
              </c:pt>
              <c:pt idx="2">
                <c:v>6 to 12 Cells</c:v>
              </c:pt>
              <c:pt idx="3">
                <c:v>13 to 24 Cells</c:v>
              </c:pt>
              <c:pt idx="4">
                <c:v>Above 24 Cells</c:v>
              </c:pt>
              <c:pt idx="5">
                <c:v>2036 Total</c:v>
              </c:pt>
            </c:strLit>
          </c:cat>
          <c:val>
            <c:numLit>
              <c:formatCode>General</c:formatCode>
              <c:ptCount val="6"/>
              <c:pt idx="0">
                <c:v>727.96199999999999</c:v>
              </c:pt>
              <c:pt idx="1">
                <c:v>125.22800000000001</c:v>
              </c:pt>
              <c:pt idx="2">
                <c:v>139.20500000000001</c:v>
              </c:pt>
              <c:pt idx="3">
                <c:v>36.801999999999992</c:v>
              </c:pt>
              <c:pt idx="4">
                <c:v>30.454000000000008</c:v>
              </c:pt>
              <c:pt idx="5">
                <c:v>1059.6510000000001</c:v>
              </c:pt>
            </c:numLit>
          </c:val>
          <c:extLst>
            <c:ext xmlns:c16="http://schemas.microsoft.com/office/drawing/2014/chart" uri="{C3380CC4-5D6E-409C-BE32-E72D297353CC}">
              <c16:uniqueId val="{0000000D-19B3-4EFC-AADA-A3E588C1A2DD}"/>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5"/>
              <c:pt idx="0">
                <c:v>Up to 4 Cells</c:v>
              </c:pt>
              <c:pt idx="1">
                <c:v>6 to 12 Cells</c:v>
              </c:pt>
              <c:pt idx="2">
                <c:v>13 to 24 Cells</c:v>
              </c:pt>
              <c:pt idx="3">
                <c:v>Above 24 Cells</c:v>
              </c:pt>
              <c:pt idx="4">
                <c:v>Total Absolute $ Opportunity</c:v>
              </c:pt>
            </c:strLit>
          </c:cat>
          <c:val>
            <c:numLit>
              <c:formatCode>General</c:formatCode>
              <c:ptCount val="5"/>
              <c:pt idx="0">
                <c:v>0</c:v>
              </c:pt>
              <c:pt idx="1">
                <c:v>125.22800000000001</c:v>
              </c:pt>
              <c:pt idx="2">
                <c:v>264.43299999999999</c:v>
              </c:pt>
              <c:pt idx="3">
                <c:v>301.23500000000001</c:v>
              </c:pt>
              <c:pt idx="4">
                <c:v>0</c:v>
              </c:pt>
            </c:numLit>
          </c:val>
          <c:extLst>
            <c:ext xmlns:c16="http://schemas.microsoft.com/office/drawing/2014/chart" uri="{C3380CC4-5D6E-409C-BE32-E72D297353CC}">
              <c16:uniqueId val="{00000000-0717-4037-AF5E-186BA1750DEC}"/>
            </c:ext>
          </c:extLst>
        </c:ser>
        <c:ser>
          <c:idx val="1"/>
          <c:order val="1"/>
          <c:tx>
            <c:v>value</c:v>
          </c:tx>
          <c:invertIfNegative val="1"/>
          <c:dPt>
            <c:idx val="0"/>
            <c:invertIfNegative val="1"/>
            <c:bubble3D val="0"/>
            <c:spPr>
              <a:solidFill>
                <a:srgbClr val="008189"/>
              </a:solidFill>
            </c:spPr>
            <c:extLst>
              <c:ext xmlns:c16="http://schemas.microsoft.com/office/drawing/2014/chart" uri="{C3380CC4-5D6E-409C-BE32-E72D297353CC}">
                <c16:uniqueId val="{00000002-0717-4037-AF5E-186BA1750DEC}"/>
              </c:ext>
            </c:extLst>
          </c:dPt>
          <c:dPt>
            <c:idx val="1"/>
            <c:invertIfNegative val="1"/>
            <c:bubble3D val="0"/>
            <c:spPr>
              <a:solidFill>
                <a:srgbClr val="008189"/>
              </a:solidFill>
            </c:spPr>
            <c:extLst>
              <c:ext xmlns:c16="http://schemas.microsoft.com/office/drawing/2014/chart" uri="{C3380CC4-5D6E-409C-BE32-E72D297353CC}">
                <c16:uniqueId val="{00000004-0717-4037-AF5E-186BA1750DEC}"/>
              </c:ext>
            </c:extLst>
          </c:dPt>
          <c:dPt>
            <c:idx val="2"/>
            <c:invertIfNegative val="1"/>
            <c:bubble3D val="0"/>
            <c:spPr>
              <a:solidFill>
                <a:srgbClr val="008189"/>
              </a:solidFill>
            </c:spPr>
            <c:extLst>
              <c:ext xmlns:c16="http://schemas.microsoft.com/office/drawing/2014/chart" uri="{C3380CC4-5D6E-409C-BE32-E72D297353CC}">
                <c16:uniqueId val="{00000006-0717-4037-AF5E-186BA1750DEC}"/>
              </c:ext>
            </c:extLst>
          </c:dPt>
          <c:dPt>
            <c:idx val="3"/>
            <c:invertIfNegative val="1"/>
            <c:bubble3D val="0"/>
            <c:spPr>
              <a:solidFill>
                <a:srgbClr val="008189"/>
              </a:solidFill>
            </c:spPr>
            <c:extLst>
              <c:ext xmlns:c16="http://schemas.microsoft.com/office/drawing/2014/chart" uri="{C3380CC4-5D6E-409C-BE32-E72D297353CC}">
                <c16:uniqueId val="{00000008-0717-4037-AF5E-186BA1750DEC}"/>
              </c:ext>
            </c:extLst>
          </c:dPt>
          <c:dPt>
            <c:idx val="4"/>
            <c:invertIfNegative val="1"/>
            <c:bubble3D val="0"/>
            <c:spPr>
              <a:solidFill>
                <a:srgbClr val="0E72AE"/>
              </a:solidFill>
            </c:spPr>
            <c:extLst>
              <c:ext xmlns:c16="http://schemas.microsoft.com/office/drawing/2014/chart" uri="{C3380CC4-5D6E-409C-BE32-E72D297353CC}">
                <c16:uniqueId val="{0000000A-0717-4037-AF5E-186BA1750DEC}"/>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717-4037-AF5E-186BA1750DEC}"/>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717-4037-AF5E-186BA1750DEC}"/>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717-4037-AF5E-186BA1750DEC}"/>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717-4037-AF5E-186BA1750DEC}"/>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0717-4037-AF5E-186BA1750DEC}"/>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Up to 4 Cells</c:v>
              </c:pt>
              <c:pt idx="1">
                <c:v>6 to 12 Cells</c:v>
              </c:pt>
              <c:pt idx="2">
                <c:v>13 to 24 Cells</c:v>
              </c:pt>
              <c:pt idx="3">
                <c:v>Above 24 Cells</c:v>
              </c:pt>
              <c:pt idx="4">
                <c:v>Total Absolute $ Opportunity</c:v>
              </c:pt>
            </c:strLit>
          </c:cat>
          <c:val>
            <c:numLit>
              <c:formatCode>General</c:formatCode>
              <c:ptCount val="5"/>
              <c:pt idx="0">
                <c:v>125.22800000000001</c:v>
              </c:pt>
              <c:pt idx="1">
                <c:v>139.20500000000001</c:v>
              </c:pt>
              <c:pt idx="2">
                <c:v>36.801999999999992</c:v>
              </c:pt>
              <c:pt idx="3">
                <c:v>30.454000000000008</c:v>
              </c:pt>
              <c:pt idx="4">
                <c:v>331.68900000000002</c:v>
              </c:pt>
            </c:numLit>
          </c:val>
          <c:extLst>
            <c:ext xmlns:c16="http://schemas.microsoft.com/office/drawing/2014/chart" uri="{C3380CC4-5D6E-409C-BE32-E72D297353CC}">
              <c16:uniqueId val="{0000000B-0717-4037-AF5E-186BA1750DE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4"/>
              <c:pt idx="0">
                <c:v>2026</c:v>
              </c:pt>
              <c:pt idx="1">
                <c:v>Standard / Stock Sizes</c:v>
              </c:pt>
              <c:pt idx="2">
                <c:v>Custom-Engineered</c:v>
              </c:pt>
              <c:pt idx="3">
                <c:v>2036 Total</c:v>
              </c:pt>
            </c:strLit>
          </c:cat>
          <c:val>
            <c:numLit>
              <c:formatCode>General</c:formatCode>
              <c:ptCount val="4"/>
              <c:pt idx="0">
                <c:v>0</c:v>
              </c:pt>
              <c:pt idx="1">
                <c:v>727.96199999999999</c:v>
              </c:pt>
              <c:pt idx="2">
                <c:v>905.15200000000004</c:v>
              </c:pt>
              <c:pt idx="3">
                <c:v>0</c:v>
              </c:pt>
            </c:numLit>
          </c:val>
          <c:extLst>
            <c:ext xmlns:c16="http://schemas.microsoft.com/office/drawing/2014/chart" uri="{C3380CC4-5D6E-409C-BE32-E72D297353CC}">
              <c16:uniqueId val="{00000000-C9F8-4512-8083-A08112AB24A2}"/>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C9F8-4512-8083-A08112AB24A2}"/>
              </c:ext>
            </c:extLst>
          </c:dPt>
          <c:dPt>
            <c:idx val="1"/>
            <c:invertIfNegative val="1"/>
            <c:bubble3D val="0"/>
            <c:spPr>
              <a:solidFill>
                <a:srgbClr val="008189"/>
              </a:solidFill>
            </c:spPr>
            <c:extLst>
              <c:ext xmlns:c16="http://schemas.microsoft.com/office/drawing/2014/chart" uri="{C3380CC4-5D6E-409C-BE32-E72D297353CC}">
                <c16:uniqueId val="{00000004-C9F8-4512-8083-A08112AB24A2}"/>
              </c:ext>
            </c:extLst>
          </c:dPt>
          <c:dPt>
            <c:idx val="2"/>
            <c:invertIfNegative val="1"/>
            <c:bubble3D val="0"/>
            <c:spPr>
              <a:solidFill>
                <a:srgbClr val="008189"/>
              </a:solidFill>
            </c:spPr>
            <c:extLst>
              <c:ext xmlns:c16="http://schemas.microsoft.com/office/drawing/2014/chart" uri="{C3380CC4-5D6E-409C-BE32-E72D297353CC}">
                <c16:uniqueId val="{00000006-C9F8-4512-8083-A08112AB24A2}"/>
              </c:ext>
            </c:extLst>
          </c:dPt>
          <c:dPt>
            <c:idx val="3"/>
            <c:invertIfNegative val="1"/>
            <c:bubble3D val="0"/>
            <c:spPr>
              <a:solidFill>
                <a:srgbClr val="0E72AE"/>
              </a:solidFill>
            </c:spPr>
            <c:extLst>
              <c:ext xmlns:c16="http://schemas.microsoft.com/office/drawing/2014/chart" uri="{C3380CC4-5D6E-409C-BE32-E72D297353CC}">
                <c16:uniqueId val="{00000008-C9F8-4512-8083-A08112AB24A2}"/>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9F8-4512-8083-A08112AB24A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9F8-4512-8083-A08112AB24A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9F8-4512-8083-A08112AB24A2}"/>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9F8-4512-8083-A08112AB24A2}"/>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2026</c:v>
              </c:pt>
              <c:pt idx="1">
                <c:v>Standard / Stock Sizes</c:v>
              </c:pt>
              <c:pt idx="2">
                <c:v>Custom-Engineered</c:v>
              </c:pt>
              <c:pt idx="3">
                <c:v>2036 Total</c:v>
              </c:pt>
            </c:strLit>
          </c:cat>
          <c:val>
            <c:numLit>
              <c:formatCode>General</c:formatCode>
              <c:ptCount val="4"/>
              <c:pt idx="0">
                <c:v>727.96199999999999</c:v>
              </c:pt>
              <c:pt idx="1">
                <c:v>177.19</c:v>
              </c:pt>
              <c:pt idx="2">
                <c:v>154.49900000000002</c:v>
              </c:pt>
              <c:pt idx="3">
                <c:v>1059.6510000000001</c:v>
              </c:pt>
            </c:numLit>
          </c:val>
          <c:extLst>
            <c:ext xmlns:c16="http://schemas.microsoft.com/office/drawing/2014/chart" uri="{C3380CC4-5D6E-409C-BE32-E72D297353CC}">
              <c16:uniqueId val="{00000009-C9F8-4512-8083-A08112AB24A2}"/>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3"/>
              <c:pt idx="0">
                <c:v>Standard / Stock Sizes</c:v>
              </c:pt>
              <c:pt idx="1">
                <c:v>Custom-Engineered</c:v>
              </c:pt>
              <c:pt idx="2">
                <c:v>Total Absolute $ Opportunity</c:v>
              </c:pt>
            </c:strLit>
          </c:cat>
          <c:val>
            <c:numLit>
              <c:formatCode>General</c:formatCode>
              <c:ptCount val="3"/>
              <c:pt idx="0">
                <c:v>0</c:v>
              </c:pt>
              <c:pt idx="1">
                <c:v>177.19</c:v>
              </c:pt>
              <c:pt idx="2">
                <c:v>0</c:v>
              </c:pt>
            </c:numLit>
          </c:val>
          <c:extLst>
            <c:ext xmlns:c16="http://schemas.microsoft.com/office/drawing/2014/chart" uri="{C3380CC4-5D6E-409C-BE32-E72D297353CC}">
              <c16:uniqueId val="{00000000-5B92-4EB7-8D85-9637EA9B4F44}"/>
            </c:ext>
          </c:extLst>
        </c:ser>
        <c:ser>
          <c:idx val="1"/>
          <c:order val="1"/>
          <c:tx>
            <c:v>value</c:v>
          </c:tx>
          <c:invertIfNegative val="1"/>
          <c:dPt>
            <c:idx val="0"/>
            <c:invertIfNegative val="1"/>
            <c:bubble3D val="0"/>
            <c:spPr>
              <a:solidFill>
                <a:srgbClr val="008189"/>
              </a:solidFill>
            </c:spPr>
            <c:extLst>
              <c:ext xmlns:c16="http://schemas.microsoft.com/office/drawing/2014/chart" uri="{C3380CC4-5D6E-409C-BE32-E72D297353CC}">
                <c16:uniqueId val="{00000002-5B92-4EB7-8D85-9637EA9B4F44}"/>
              </c:ext>
            </c:extLst>
          </c:dPt>
          <c:dPt>
            <c:idx val="1"/>
            <c:invertIfNegative val="1"/>
            <c:bubble3D val="0"/>
            <c:spPr>
              <a:solidFill>
                <a:srgbClr val="008189"/>
              </a:solidFill>
            </c:spPr>
            <c:extLst>
              <c:ext xmlns:c16="http://schemas.microsoft.com/office/drawing/2014/chart" uri="{C3380CC4-5D6E-409C-BE32-E72D297353CC}">
                <c16:uniqueId val="{00000004-5B92-4EB7-8D85-9637EA9B4F44}"/>
              </c:ext>
            </c:extLst>
          </c:dPt>
          <c:dPt>
            <c:idx val="2"/>
            <c:invertIfNegative val="1"/>
            <c:bubble3D val="0"/>
            <c:spPr>
              <a:solidFill>
                <a:srgbClr val="0E72AE"/>
              </a:solidFill>
            </c:spPr>
            <c:extLst>
              <c:ext xmlns:c16="http://schemas.microsoft.com/office/drawing/2014/chart" uri="{C3380CC4-5D6E-409C-BE32-E72D297353CC}">
                <c16:uniqueId val="{00000006-5B92-4EB7-8D85-9637EA9B4F44}"/>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B92-4EB7-8D85-9637EA9B4F4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B92-4EB7-8D85-9637EA9B4F4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B92-4EB7-8D85-9637EA9B4F44}"/>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Standard / Stock Sizes</c:v>
              </c:pt>
              <c:pt idx="1">
                <c:v>Custom-Engineered</c:v>
              </c:pt>
              <c:pt idx="2">
                <c:v>Total Absolute $ Opportunity</c:v>
              </c:pt>
            </c:strLit>
          </c:cat>
          <c:val>
            <c:numLit>
              <c:formatCode>General</c:formatCode>
              <c:ptCount val="3"/>
              <c:pt idx="0">
                <c:v>177.19</c:v>
              </c:pt>
              <c:pt idx="1">
                <c:v>154.49900000000002</c:v>
              </c:pt>
              <c:pt idx="2">
                <c:v>331.68900000000002</c:v>
              </c:pt>
            </c:numLit>
          </c:val>
          <c:extLst>
            <c:ext xmlns:c16="http://schemas.microsoft.com/office/drawing/2014/chart" uri="{C3380CC4-5D6E-409C-BE32-E72D297353CC}">
              <c16:uniqueId val="{00000007-5B92-4EB7-8D85-9637EA9B4F44}"/>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9"/>
              <c:pt idx="0">
                <c:v>2026</c:v>
              </c:pt>
              <c:pt idx="1">
                <c:v>Food &amp; Beverage</c:v>
              </c:pt>
              <c:pt idx="2">
                <c:v>Pharmaceuticals &amp; Healthcare</c:v>
              </c:pt>
              <c:pt idx="3">
                <c:v>Personal Care &amp; Cosmetics</c:v>
              </c:pt>
              <c:pt idx="4">
                <c:v>Electronics &amp; Electrical</c:v>
              </c:pt>
              <c:pt idx="5">
                <c:v>Automotive &amp; Industrial Components</c:v>
              </c:pt>
              <c:pt idx="6">
                <c:v>Glassware, Ceramics &amp; Home Goods</c:v>
              </c:pt>
              <c:pt idx="7">
                <c:v>Others</c:v>
              </c:pt>
              <c:pt idx="8">
                <c:v>2036 Total</c:v>
              </c:pt>
            </c:strLit>
          </c:cat>
          <c:val>
            <c:numLit>
              <c:formatCode>General</c:formatCode>
              <c:ptCount val="9"/>
              <c:pt idx="0">
                <c:v>0</c:v>
              </c:pt>
              <c:pt idx="1">
                <c:v>727.96199999999999</c:v>
              </c:pt>
              <c:pt idx="2">
                <c:v>807.16599999999994</c:v>
              </c:pt>
              <c:pt idx="3">
                <c:v>816.85799999999995</c:v>
              </c:pt>
              <c:pt idx="4">
                <c:v>838.98399999999992</c:v>
              </c:pt>
              <c:pt idx="5">
                <c:v>922.07499999999993</c:v>
              </c:pt>
              <c:pt idx="6">
                <c:v>965.3839999999999</c:v>
              </c:pt>
              <c:pt idx="7">
                <c:v>1033.8579999999999</c:v>
              </c:pt>
              <c:pt idx="8">
                <c:v>0</c:v>
              </c:pt>
            </c:numLit>
          </c:val>
          <c:extLst>
            <c:ext xmlns:c16="http://schemas.microsoft.com/office/drawing/2014/chart" uri="{C3380CC4-5D6E-409C-BE32-E72D297353CC}">
              <c16:uniqueId val="{00000000-CC1D-4967-BC12-CF8486BE3BAB}"/>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CC1D-4967-BC12-CF8486BE3BAB}"/>
              </c:ext>
            </c:extLst>
          </c:dPt>
          <c:dPt>
            <c:idx val="1"/>
            <c:invertIfNegative val="1"/>
            <c:bubble3D val="0"/>
            <c:spPr>
              <a:solidFill>
                <a:srgbClr val="008189"/>
              </a:solidFill>
            </c:spPr>
            <c:extLst>
              <c:ext xmlns:c16="http://schemas.microsoft.com/office/drawing/2014/chart" uri="{C3380CC4-5D6E-409C-BE32-E72D297353CC}">
                <c16:uniqueId val="{00000004-CC1D-4967-BC12-CF8486BE3BAB}"/>
              </c:ext>
            </c:extLst>
          </c:dPt>
          <c:dPt>
            <c:idx val="2"/>
            <c:invertIfNegative val="1"/>
            <c:bubble3D val="0"/>
            <c:spPr>
              <a:solidFill>
                <a:srgbClr val="008189"/>
              </a:solidFill>
            </c:spPr>
            <c:extLst>
              <c:ext xmlns:c16="http://schemas.microsoft.com/office/drawing/2014/chart" uri="{C3380CC4-5D6E-409C-BE32-E72D297353CC}">
                <c16:uniqueId val="{00000006-CC1D-4967-BC12-CF8486BE3BAB}"/>
              </c:ext>
            </c:extLst>
          </c:dPt>
          <c:dPt>
            <c:idx val="3"/>
            <c:invertIfNegative val="1"/>
            <c:bubble3D val="0"/>
            <c:spPr>
              <a:solidFill>
                <a:srgbClr val="008189"/>
              </a:solidFill>
            </c:spPr>
            <c:extLst>
              <c:ext xmlns:c16="http://schemas.microsoft.com/office/drawing/2014/chart" uri="{C3380CC4-5D6E-409C-BE32-E72D297353CC}">
                <c16:uniqueId val="{00000008-CC1D-4967-BC12-CF8486BE3BAB}"/>
              </c:ext>
            </c:extLst>
          </c:dPt>
          <c:dPt>
            <c:idx val="4"/>
            <c:invertIfNegative val="1"/>
            <c:bubble3D val="0"/>
            <c:spPr>
              <a:solidFill>
                <a:srgbClr val="008189"/>
              </a:solidFill>
            </c:spPr>
            <c:extLst>
              <c:ext xmlns:c16="http://schemas.microsoft.com/office/drawing/2014/chart" uri="{C3380CC4-5D6E-409C-BE32-E72D297353CC}">
                <c16:uniqueId val="{0000000A-CC1D-4967-BC12-CF8486BE3BAB}"/>
              </c:ext>
            </c:extLst>
          </c:dPt>
          <c:dPt>
            <c:idx val="5"/>
            <c:invertIfNegative val="1"/>
            <c:bubble3D val="0"/>
            <c:spPr>
              <a:solidFill>
                <a:srgbClr val="008189"/>
              </a:solidFill>
            </c:spPr>
            <c:extLst>
              <c:ext xmlns:c16="http://schemas.microsoft.com/office/drawing/2014/chart" uri="{C3380CC4-5D6E-409C-BE32-E72D297353CC}">
                <c16:uniqueId val="{0000000C-CC1D-4967-BC12-CF8486BE3BAB}"/>
              </c:ext>
            </c:extLst>
          </c:dPt>
          <c:dPt>
            <c:idx val="6"/>
            <c:invertIfNegative val="1"/>
            <c:bubble3D val="0"/>
            <c:spPr>
              <a:solidFill>
                <a:srgbClr val="008189"/>
              </a:solidFill>
            </c:spPr>
            <c:extLst>
              <c:ext xmlns:c16="http://schemas.microsoft.com/office/drawing/2014/chart" uri="{C3380CC4-5D6E-409C-BE32-E72D297353CC}">
                <c16:uniqueId val="{0000000E-CC1D-4967-BC12-CF8486BE3BAB}"/>
              </c:ext>
            </c:extLst>
          </c:dPt>
          <c:dPt>
            <c:idx val="7"/>
            <c:invertIfNegative val="1"/>
            <c:bubble3D val="0"/>
            <c:spPr>
              <a:solidFill>
                <a:srgbClr val="008189"/>
              </a:solidFill>
            </c:spPr>
            <c:extLst>
              <c:ext xmlns:c16="http://schemas.microsoft.com/office/drawing/2014/chart" uri="{C3380CC4-5D6E-409C-BE32-E72D297353CC}">
                <c16:uniqueId val="{00000010-CC1D-4967-BC12-CF8486BE3BAB}"/>
              </c:ext>
            </c:extLst>
          </c:dPt>
          <c:dPt>
            <c:idx val="8"/>
            <c:invertIfNegative val="1"/>
            <c:bubble3D val="0"/>
            <c:spPr>
              <a:solidFill>
                <a:srgbClr val="0E72AE"/>
              </a:solidFill>
            </c:spPr>
            <c:extLst>
              <c:ext xmlns:c16="http://schemas.microsoft.com/office/drawing/2014/chart" uri="{C3380CC4-5D6E-409C-BE32-E72D297353CC}">
                <c16:uniqueId val="{00000012-CC1D-4967-BC12-CF8486BE3BAB}"/>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C1D-4967-BC12-CF8486BE3BAB}"/>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C1D-4967-BC12-CF8486BE3BAB}"/>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C1D-4967-BC12-CF8486BE3BAB}"/>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C1D-4967-BC12-CF8486BE3BAB}"/>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C1D-4967-BC12-CF8486BE3BAB}"/>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C1D-4967-BC12-CF8486BE3BAB}"/>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C1D-4967-BC12-CF8486BE3BAB}"/>
                </c:ext>
              </c:extLst>
            </c:dLbl>
            <c:dLbl>
              <c:idx val="7"/>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CC1D-4967-BC12-CF8486BE3BAB}"/>
                </c:ext>
              </c:extLst>
            </c:dLbl>
            <c:dLbl>
              <c:idx val="8"/>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CC1D-4967-BC12-CF8486BE3BAB}"/>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9"/>
              <c:pt idx="0">
                <c:v>2026</c:v>
              </c:pt>
              <c:pt idx="1">
                <c:v>Food &amp; Beverage</c:v>
              </c:pt>
              <c:pt idx="2">
                <c:v>Pharmaceuticals &amp; Healthcare</c:v>
              </c:pt>
              <c:pt idx="3">
                <c:v>Personal Care &amp; Cosmetics</c:v>
              </c:pt>
              <c:pt idx="4">
                <c:v>Electronics &amp; Electrical</c:v>
              </c:pt>
              <c:pt idx="5">
                <c:v>Automotive &amp; Industrial Components</c:v>
              </c:pt>
              <c:pt idx="6">
                <c:v>Glassware, Ceramics &amp; Home Goods</c:v>
              </c:pt>
              <c:pt idx="7">
                <c:v>Others</c:v>
              </c:pt>
              <c:pt idx="8">
                <c:v>2036 Total</c:v>
              </c:pt>
            </c:strLit>
          </c:cat>
          <c:val>
            <c:numLit>
              <c:formatCode>General</c:formatCode>
              <c:ptCount val="9"/>
              <c:pt idx="0">
                <c:v>727.96199999999999</c:v>
              </c:pt>
              <c:pt idx="1">
                <c:v>79.204000000000008</c:v>
              </c:pt>
              <c:pt idx="2">
                <c:v>9.6919999999999931</c:v>
              </c:pt>
              <c:pt idx="3">
                <c:v>22.125999999999998</c:v>
              </c:pt>
              <c:pt idx="4">
                <c:v>83.091000000000008</c:v>
              </c:pt>
              <c:pt idx="5">
                <c:v>43.308999999999997</c:v>
              </c:pt>
              <c:pt idx="6">
                <c:v>68.47399999999999</c:v>
              </c:pt>
              <c:pt idx="7">
                <c:v>25.793000000000006</c:v>
              </c:pt>
              <c:pt idx="8">
                <c:v>1059.6510000000001</c:v>
              </c:pt>
            </c:numLit>
          </c:val>
          <c:extLst>
            <c:ext xmlns:c16="http://schemas.microsoft.com/office/drawing/2014/chart" uri="{C3380CC4-5D6E-409C-BE32-E72D297353CC}">
              <c16:uniqueId val="{00000013-CC1D-4967-BC12-CF8486BE3BAB}"/>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8"/>
              <c:pt idx="0">
                <c:v>Food &amp; Beverage</c:v>
              </c:pt>
              <c:pt idx="1">
                <c:v>Pharmaceuticals &amp; Healthcare</c:v>
              </c:pt>
              <c:pt idx="2">
                <c:v>Personal Care &amp; Cosmetics</c:v>
              </c:pt>
              <c:pt idx="3">
                <c:v>Electronics &amp; Electrical</c:v>
              </c:pt>
              <c:pt idx="4">
                <c:v>Automotive &amp; Industrial Components</c:v>
              </c:pt>
              <c:pt idx="5">
                <c:v>Glassware, Ceramics &amp; Home Goods</c:v>
              </c:pt>
              <c:pt idx="6">
                <c:v>Others</c:v>
              </c:pt>
              <c:pt idx="7">
                <c:v>Total Absolute $ Opportunity</c:v>
              </c:pt>
            </c:strLit>
          </c:cat>
          <c:val>
            <c:numLit>
              <c:formatCode>General</c:formatCode>
              <c:ptCount val="8"/>
              <c:pt idx="0">
                <c:v>0</c:v>
              </c:pt>
              <c:pt idx="1">
                <c:v>79.204000000000008</c:v>
              </c:pt>
              <c:pt idx="2">
                <c:v>88.896000000000001</c:v>
              </c:pt>
              <c:pt idx="3">
                <c:v>111.02199999999999</c:v>
              </c:pt>
              <c:pt idx="4">
                <c:v>194.113</c:v>
              </c:pt>
              <c:pt idx="5">
                <c:v>237.422</c:v>
              </c:pt>
              <c:pt idx="6">
                <c:v>305.89599999999996</c:v>
              </c:pt>
              <c:pt idx="7">
                <c:v>0</c:v>
              </c:pt>
            </c:numLit>
          </c:val>
          <c:extLst>
            <c:ext xmlns:c16="http://schemas.microsoft.com/office/drawing/2014/chart" uri="{C3380CC4-5D6E-409C-BE32-E72D297353CC}">
              <c16:uniqueId val="{00000000-FD80-4293-A5AE-A53E2C582865}"/>
            </c:ext>
          </c:extLst>
        </c:ser>
        <c:ser>
          <c:idx val="1"/>
          <c:order val="1"/>
          <c:tx>
            <c:v>value</c:v>
          </c:tx>
          <c:invertIfNegative val="1"/>
          <c:dPt>
            <c:idx val="0"/>
            <c:invertIfNegative val="1"/>
            <c:bubble3D val="0"/>
            <c:spPr>
              <a:solidFill>
                <a:srgbClr val="008189"/>
              </a:solidFill>
            </c:spPr>
            <c:extLst>
              <c:ext xmlns:c16="http://schemas.microsoft.com/office/drawing/2014/chart" uri="{C3380CC4-5D6E-409C-BE32-E72D297353CC}">
                <c16:uniqueId val="{00000002-FD80-4293-A5AE-A53E2C582865}"/>
              </c:ext>
            </c:extLst>
          </c:dPt>
          <c:dPt>
            <c:idx val="1"/>
            <c:invertIfNegative val="1"/>
            <c:bubble3D val="0"/>
            <c:spPr>
              <a:solidFill>
                <a:srgbClr val="008189"/>
              </a:solidFill>
            </c:spPr>
            <c:extLst>
              <c:ext xmlns:c16="http://schemas.microsoft.com/office/drawing/2014/chart" uri="{C3380CC4-5D6E-409C-BE32-E72D297353CC}">
                <c16:uniqueId val="{00000004-FD80-4293-A5AE-A53E2C582865}"/>
              </c:ext>
            </c:extLst>
          </c:dPt>
          <c:dPt>
            <c:idx val="2"/>
            <c:invertIfNegative val="1"/>
            <c:bubble3D val="0"/>
            <c:spPr>
              <a:solidFill>
                <a:srgbClr val="008189"/>
              </a:solidFill>
            </c:spPr>
            <c:extLst>
              <c:ext xmlns:c16="http://schemas.microsoft.com/office/drawing/2014/chart" uri="{C3380CC4-5D6E-409C-BE32-E72D297353CC}">
                <c16:uniqueId val="{00000006-FD80-4293-A5AE-A53E2C582865}"/>
              </c:ext>
            </c:extLst>
          </c:dPt>
          <c:dPt>
            <c:idx val="3"/>
            <c:invertIfNegative val="1"/>
            <c:bubble3D val="0"/>
            <c:spPr>
              <a:solidFill>
                <a:srgbClr val="008189"/>
              </a:solidFill>
            </c:spPr>
            <c:extLst>
              <c:ext xmlns:c16="http://schemas.microsoft.com/office/drawing/2014/chart" uri="{C3380CC4-5D6E-409C-BE32-E72D297353CC}">
                <c16:uniqueId val="{00000008-FD80-4293-A5AE-A53E2C582865}"/>
              </c:ext>
            </c:extLst>
          </c:dPt>
          <c:dPt>
            <c:idx val="4"/>
            <c:invertIfNegative val="1"/>
            <c:bubble3D val="0"/>
            <c:spPr>
              <a:solidFill>
                <a:srgbClr val="008189"/>
              </a:solidFill>
            </c:spPr>
            <c:extLst>
              <c:ext xmlns:c16="http://schemas.microsoft.com/office/drawing/2014/chart" uri="{C3380CC4-5D6E-409C-BE32-E72D297353CC}">
                <c16:uniqueId val="{0000000A-FD80-4293-A5AE-A53E2C582865}"/>
              </c:ext>
            </c:extLst>
          </c:dPt>
          <c:dPt>
            <c:idx val="5"/>
            <c:invertIfNegative val="1"/>
            <c:bubble3D val="0"/>
            <c:spPr>
              <a:solidFill>
                <a:srgbClr val="008189"/>
              </a:solidFill>
            </c:spPr>
            <c:extLst>
              <c:ext xmlns:c16="http://schemas.microsoft.com/office/drawing/2014/chart" uri="{C3380CC4-5D6E-409C-BE32-E72D297353CC}">
                <c16:uniqueId val="{0000000C-FD80-4293-A5AE-A53E2C582865}"/>
              </c:ext>
            </c:extLst>
          </c:dPt>
          <c:dPt>
            <c:idx val="6"/>
            <c:invertIfNegative val="1"/>
            <c:bubble3D val="0"/>
            <c:spPr>
              <a:solidFill>
                <a:srgbClr val="008189"/>
              </a:solidFill>
            </c:spPr>
            <c:extLst>
              <c:ext xmlns:c16="http://schemas.microsoft.com/office/drawing/2014/chart" uri="{C3380CC4-5D6E-409C-BE32-E72D297353CC}">
                <c16:uniqueId val="{0000000E-FD80-4293-A5AE-A53E2C582865}"/>
              </c:ext>
            </c:extLst>
          </c:dPt>
          <c:dPt>
            <c:idx val="7"/>
            <c:invertIfNegative val="1"/>
            <c:bubble3D val="0"/>
            <c:spPr>
              <a:solidFill>
                <a:srgbClr val="0E72AE"/>
              </a:solidFill>
            </c:spPr>
            <c:extLst>
              <c:ext xmlns:c16="http://schemas.microsoft.com/office/drawing/2014/chart" uri="{C3380CC4-5D6E-409C-BE32-E72D297353CC}">
                <c16:uniqueId val="{00000010-FD80-4293-A5AE-A53E2C582865}"/>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D80-4293-A5AE-A53E2C582865}"/>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D80-4293-A5AE-A53E2C582865}"/>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D80-4293-A5AE-A53E2C582865}"/>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D80-4293-A5AE-A53E2C582865}"/>
                </c:ext>
              </c:extLst>
            </c:dLbl>
            <c:dLbl>
              <c:idx val="4"/>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D80-4293-A5AE-A53E2C582865}"/>
                </c:ext>
              </c:extLst>
            </c:dLbl>
            <c:dLbl>
              <c:idx val="5"/>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D80-4293-A5AE-A53E2C582865}"/>
                </c:ext>
              </c:extLst>
            </c:dLbl>
            <c:dLbl>
              <c:idx val="6"/>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D80-4293-A5AE-A53E2C582865}"/>
                </c:ext>
              </c:extLst>
            </c:dLbl>
            <c:dLbl>
              <c:idx val="7"/>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FD80-4293-A5AE-A53E2C582865}"/>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8"/>
              <c:pt idx="0">
                <c:v>Food &amp; Beverage</c:v>
              </c:pt>
              <c:pt idx="1">
                <c:v>Pharmaceuticals &amp; Healthcare</c:v>
              </c:pt>
              <c:pt idx="2">
                <c:v>Personal Care &amp; Cosmetics</c:v>
              </c:pt>
              <c:pt idx="3">
                <c:v>Electronics &amp; Electrical</c:v>
              </c:pt>
              <c:pt idx="4">
                <c:v>Automotive &amp; Industrial Components</c:v>
              </c:pt>
              <c:pt idx="5">
                <c:v>Glassware, Ceramics &amp; Home Goods</c:v>
              </c:pt>
              <c:pt idx="6">
                <c:v>Others</c:v>
              </c:pt>
              <c:pt idx="7">
                <c:v>Total Absolute $ Opportunity</c:v>
              </c:pt>
            </c:strLit>
          </c:cat>
          <c:val>
            <c:numLit>
              <c:formatCode>General</c:formatCode>
              <c:ptCount val="8"/>
              <c:pt idx="0">
                <c:v>79.204000000000008</c:v>
              </c:pt>
              <c:pt idx="1">
                <c:v>9.6919999999999931</c:v>
              </c:pt>
              <c:pt idx="2">
                <c:v>22.125999999999998</c:v>
              </c:pt>
              <c:pt idx="3">
                <c:v>83.091000000000008</c:v>
              </c:pt>
              <c:pt idx="4">
                <c:v>43.308999999999997</c:v>
              </c:pt>
              <c:pt idx="5">
                <c:v>68.47399999999999</c:v>
              </c:pt>
              <c:pt idx="6">
                <c:v>25.793000000000006</c:v>
              </c:pt>
              <c:pt idx="7">
                <c:v>331.68899999999996</c:v>
              </c:pt>
            </c:numLit>
          </c:val>
          <c:extLst>
            <c:ext xmlns:c16="http://schemas.microsoft.com/office/drawing/2014/chart" uri="{C3380CC4-5D6E-409C-BE32-E72D297353CC}">
              <c16:uniqueId val="{00000011-FD80-4293-A5AE-A53E2C582865}"/>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4"/>
              <c:pt idx="0">
                <c:v>2026</c:v>
              </c:pt>
              <c:pt idx="1">
                <c:v>Direct (to brand owners/OEMs)</c:v>
              </c:pt>
              <c:pt idx="2">
                <c:v>Indirect (distributors and packaging merchants)</c:v>
              </c:pt>
              <c:pt idx="3">
                <c:v>2036 Total</c:v>
              </c:pt>
            </c:strLit>
          </c:cat>
          <c:val>
            <c:numLit>
              <c:formatCode>General</c:formatCode>
              <c:ptCount val="4"/>
              <c:pt idx="0">
                <c:v>0</c:v>
              </c:pt>
              <c:pt idx="1">
                <c:v>727.96199999999999</c:v>
              </c:pt>
              <c:pt idx="2">
                <c:v>937.26499999999999</c:v>
              </c:pt>
              <c:pt idx="3">
                <c:v>0</c:v>
              </c:pt>
            </c:numLit>
          </c:val>
          <c:extLst>
            <c:ext xmlns:c16="http://schemas.microsoft.com/office/drawing/2014/chart" uri="{C3380CC4-5D6E-409C-BE32-E72D297353CC}">
              <c16:uniqueId val="{00000000-DE8D-4B1F-9A98-50E1F7D6730E}"/>
            </c:ext>
          </c:extLst>
        </c:ser>
        <c:ser>
          <c:idx val="1"/>
          <c:order val="1"/>
          <c:tx>
            <c:v>value</c:v>
          </c:tx>
          <c:invertIfNegative val="1"/>
          <c:dPt>
            <c:idx val="0"/>
            <c:invertIfNegative val="1"/>
            <c:bubble3D val="0"/>
            <c:spPr>
              <a:solidFill>
                <a:srgbClr val="0E72AE"/>
              </a:solidFill>
            </c:spPr>
            <c:extLst>
              <c:ext xmlns:c16="http://schemas.microsoft.com/office/drawing/2014/chart" uri="{C3380CC4-5D6E-409C-BE32-E72D297353CC}">
                <c16:uniqueId val="{00000002-DE8D-4B1F-9A98-50E1F7D6730E}"/>
              </c:ext>
            </c:extLst>
          </c:dPt>
          <c:dPt>
            <c:idx val="1"/>
            <c:invertIfNegative val="1"/>
            <c:bubble3D val="0"/>
            <c:spPr>
              <a:solidFill>
                <a:srgbClr val="008189"/>
              </a:solidFill>
            </c:spPr>
            <c:extLst>
              <c:ext xmlns:c16="http://schemas.microsoft.com/office/drawing/2014/chart" uri="{C3380CC4-5D6E-409C-BE32-E72D297353CC}">
                <c16:uniqueId val="{00000004-DE8D-4B1F-9A98-50E1F7D6730E}"/>
              </c:ext>
            </c:extLst>
          </c:dPt>
          <c:dPt>
            <c:idx val="2"/>
            <c:invertIfNegative val="1"/>
            <c:bubble3D val="0"/>
            <c:spPr>
              <a:solidFill>
                <a:srgbClr val="008189"/>
              </a:solidFill>
            </c:spPr>
            <c:extLst>
              <c:ext xmlns:c16="http://schemas.microsoft.com/office/drawing/2014/chart" uri="{C3380CC4-5D6E-409C-BE32-E72D297353CC}">
                <c16:uniqueId val="{00000006-DE8D-4B1F-9A98-50E1F7D6730E}"/>
              </c:ext>
            </c:extLst>
          </c:dPt>
          <c:dPt>
            <c:idx val="3"/>
            <c:invertIfNegative val="1"/>
            <c:bubble3D val="0"/>
            <c:spPr>
              <a:solidFill>
                <a:srgbClr val="0E72AE"/>
              </a:solidFill>
            </c:spPr>
            <c:extLst>
              <c:ext xmlns:c16="http://schemas.microsoft.com/office/drawing/2014/chart" uri="{C3380CC4-5D6E-409C-BE32-E72D297353CC}">
                <c16:uniqueId val="{00000008-DE8D-4B1F-9A98-50E1F7D6730E}"/>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E8D-4B1F-9A98-50E1F7D6730E}"/>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E8D-4B1F-9A98-50E1F7D6730E}"/>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E8D-4B1F-9A98-50E1F7D6730E}"/>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E8D-4B1F-9A98-50E1F7D6730E}"/>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2026</c:v>
              </c:pt>
              <c:pt idx="1">
                <c:v>Direct (to brand owners/OEMs)</c:v>
              </c:pt>
              <c:pt idx="2">
                <c:v>Indirect (distributors and packaging merchants)</c:v>
              </c:pt>
              <c:pt idx="3">
                <c:v>2036 Total</c:v>
              </c:pt>
            </c:strLit>
          </c:cat>
          <c:val>
            <c:numLit>
              <c:formatCode>General</c:formatCode>
              <c:ptCount val="4"/>
              <c:pt idx="0">
                <c:v>727.96199999999999</c:v>
              </c:pt>
              <c:pt idx="1">
                <c:v>209.303</c:v>
              </c:pt>
              <c:pt idx="2">
                <c:v>122.386</c:v>
              </c:pt>
              <c:pt idx="3">
                <c:v>1059.6510000000001</c:v>
              </c:pt>
            </c:numLit>
          </c:val>
          <c:extLst>
            <c:ext xmlns:c16="http://schemas.microsoft.com/office/drawing/2014/chart" uri="{C3380CC4-5D6E-409C-BE32-E72D297353CC}">
              <c16:uniqueId val="{00000009-DE8D-4B1F-9A98-50E1F7D6730E}"/>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0" sourceLinked="0"/>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stacked"/>
        <c:varyColors val="0"/>
        <c:ser>
          <c:idx val="0"/>
          <c:order val="0"/>
          <c:tx>
            <c:v>base</c:v>
          </c:tx>
          <c:spPr>
            <a:noFill/>
            <a:ln>
              <a:noFill/>
            </a:ln>
          </c:spPr>
          <c:invertIfNegative val="1"/>
          <c:cat>
            <c:strLit>
              <c:ptCount val="3"/>
              <c:pt idx="0">
                <c:v>Direct (to brand owners/OEMs)</c:v>
              </c:pt>
              <c:pt idx="1">
                <c:v>Indirect (distributors and packaging merchants)</c:v>
              </c:pt>
              <c:pt idx="2">
                <c:v>Total Absolute $ Opportunity</c:v>
              </c:pt>
            </c:strLit>
          </c:cat>
          <c:val>
            <c:numLit>
              <c:formatCode>General</c:formatCode>
              <c:ptCount val="3"/>
              <c:pt idx="0">
                <c:v>0</c:v>
              </c:pt>
              <c:pt idx="1">
                <c:v>209.303</c:v>
              </c:pt>
              <c:pt idx="2">
                <c:v>0</c:v>
              </c:pt>
            </c:numLit>
          </c:val>
          <c:extLst>
            <c:ext xmlns:c16="http://schemas.microsoft.com/office/drawing/2014/chart" uri="{C3380CC4-5D6E-409C-BE32-E72D297353CC}">
              <c16:uniqueId val="{00000000-8067-4824-B047-29D0BD9B8D3C}"/>
            </c:ext>
          </c:extLst>
        </c:ser>
        <c:ser>
          <c:idx val="1"/>
          <c:order val="1"/>
          <c:tx>
            <c:v>value</c:v>
          </c:tx>
          <c:invertIfNegative val="1"/>
          <c:dPt>
            <c:idx val="0"/>
            <c:invertIfNegative val="1"/>
            <c:bubble3D val="0"/>
            <c:spPr>
              <a:solidFill>
                <a:srgbClr val="008189"/>
              </a:solidFill>
            </c:spPr>
            <c:extLst>
              <c:ext xmlns:c16="http://schemas.microsoft.com/office/drawing/2014/chart" uri="{C3380CC4-5D6E-409C-BE32-E72D297353CC}">
                <c16:uniqueId val="{00000002-8067-4824-B047-29D0BD9B8D3C}"/>
              </c:ext>
            </c:extLst>
          </c:dPt>
          <c:dPt>
            <c:idx val="1"/>
            <c:invertIfNegative val="1"/>
            <c:bubble3D val="0"/>
            <c:spPr>
              <a:solidFill>
                <a:srgbClr val="008189"/>
              </a:solidFill>
            </c:spPr>
            <c:extLst>
              <c:ext xmlns:c16="http://schemas.microsoft.com/office/drawing/2014/chart" uri="{C3380CC4-5D6E-409C-BE32-E72D297353CC}">
                <c16:uniqueId val="{00000004-8067-4824-B047-29D0BD9B8D3C}"/>
              </c:ext>
            </c:extLst>
          </c:dPt>
          <c:dPt>
            <c:idx val="2"/>
            <c:invertIfNegative val="1"/>
            <c:bubble3D val="0"/>
            <c:spPr>
              <a:solidFill>
                <a:srgbClr val="0E72AE"/>
              </a:solidFill>
            </c:spPr>
            <c:extLst>
              <c:ext xmlns:c16="http://schemas.microsoft.com/office/drawing/2014/chart" uri="{C3380CC4-5D6E-409C-BE32-E72D297353CC}">
                <c16:uniqueId val="{00000006-8067-4824-B047-29D0BD9B8D3C}"/>
              </c:ext>
            </c:extLst>
          </c:dPt>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067-4824-B047-29D0BD9B8D3C}"/>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067-4824-B047-29D0BD9B8D3C}"/>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067-4824-B047-29D0BD9B8D3C}"/>
                </c:ext>
              </c:extLst>
            </c:dLbl>
            <c:numFmt formatCode="#,##0" sourceLinked="0"/>
            <c:spPr>
              <a:noFill/>
              <a:ln>
                <a:noFill/>
              </a:ln>
              <a:effectLst/>
            </c:spPr>
            <c:txPr>
              <a:bodyPr/>
              <a:lstStyle/>
              <a:p>
                <a:pPr>
                  <a:defRPr sz="1100">
                    <a:latin typeface="Calibri"/>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Direct (to brand owners/OEMs)</c:v>
              </c:pt>
              <c:pt idx="1">
                <c:v>Indirect (distributors and packaging merchants)</c:v>
              </c:pt>
              <c:pt idx="2">
                <c:v>Total Absolute $ Opportunity</c:v>
              </c:pt>
            </c:strLit>
          </c:cat>
          <c:val>
            <c:numLit>
              <c:formatCode>General</c:formatCode>
              <c:ptCount val="3"/>
              <c:pt idx="0">
                <c:v>209.303</c:v>
              </c:pt>
              <c:pt idx="1">
                <c:v>122.386</c:v>
              </c:pt>
              <c:pt idx="2">
                <c:v>331.68899999999996</c:v>
              </c:pt>
            </c:numLit>
          </c:val>
          <c:extLst>
            <c:ext xmlns:c16="http://schemas.microsoft.com/office/drawing/2014/chart" uri="{C3380CC4-5D6E-409C-BE32-E72D297353CC}">
              <c16:uniqueId val="{00000007-8067-4824-B047-29D0BD9B8D3C}"/>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noMultiLvlLbl val="0"/>
      </c:catAx>
      <c:valAx>
        <c:axId val="-2113994440"/>
        <c:scaling>
          <c:orientation val="minMax"/>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Glassware, Ceramics &amp; Home Goods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8A3-4CBA-B1E9-EB37199E184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A3-4CBA-B1E9-EB37199E184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8A3-4CBA-B1E9-EB37199E184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25.984669186477799</c:v>
              </c:pt>
              <c:pt idx="1">
                <c:v>20.610771041290967</c:v>
              </c:pt>
              <c:pt idx="2">
                <c:v>21.757727873183619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88A3-4CBA-B1E9-EB37199E1842}"/>
            </c:ext>
          </c:extLst>
        </c:ser>
        <c:ser>
          <c:idx val="1"/>
          <c:order val="1"/>
          <c:tx>
            <c:v>Automotive &amp; Industrial Components</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8A3-4CBA-B1E9-EB37199E184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8A3-4CBA-B1E9-EB37199E184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8A3-4CBA-B1E9-EB37199E184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18.032251227524814</c:v>
              </c:pt>
              <c:pt idx="1">
                <c:v>15.866162065141006</c:v>
              </c:pt>
              <c:pt idx="2">
                <c:v>19.930250990752974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88A3-4CBA-B1E9-EB37199E1842}"/>
            </c:ext>
          </c:extLst>
        </c:ser>
        <c:ser>
          <c:idx val="2"/>
          <c:order val="2"/>
          <c:tx>
            <c:v>Others</c:v>
          </c:tx>
          <c:spPr>
            <a:solidFill>
              <a:srgbClr val="008189"/>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8A3-4CBA-B1E9-EB37199E184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8A3-4CBA-B1E9-EB37199E184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8A3-4CBA-B1E9-EB37199E184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21.115193048147233</c:v>
              </c:pt>
              <c:pt idx="1">
                <c:v>18.14872198657218</c:v>
              </c:pt>
              <c:pt idx="2">
                <c:v>16.057331571994716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88A3-4CBA-B1E9-EB37199E1842}"/>
            </c:ext>
          </c:extLst>
        </c:ser>
        <c:ser>
          <c:idx val="3"/>
          <c:order val="3"/>
          <c:tx>
            <c:v>Food &amp; Beverage</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8A3-4CBA-B1E9-EB37199E184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88A3-4CBA-B1E9-EB37199E184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88A3-4CBA-B1E9-EB37199E184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11.769225334699211</c:v>
              </c:pt>
              <c:pt idx="1">
                <c:v>16.193391074648851</c:v>
              </c:pt>
              <c:pt idx="2">
                <c:v>14.741083223249671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88A3-4CBA-B1E9-EB37199E1842}"/>
            </c:ext>
          </c:extLst>
        </c:ser>
        <c:ser>
          <c:idx val="4"/>
          <c:order val="4"/>
          <c:tx>
            <c:v>Pharmaceuticals &amp; Healthcare</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88A3-4CBA-B1E9-EB37199E184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88A3-4CBA-B1E9-EB37199E184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88A3-4CBA-B1E9-EB37199E184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9.809601186901693</c:v>
              </c:pt>
              <c:pt idx="1">
                <c:v>14.630904303505964</c:v>
              </c:pt>
              <c:pt idx="2">
                <c:v>12.244121532364598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88A3-4CBA-B1E9-EB37199E1842}"/>
            </c:ext>
          </c:extLst>
        </c:ser>
        <c:ser>
          <c:idx val="5"/>
          <c:order val="5"/>
          <c:tx>
            <c:v>Electronics &amp; Electrical</c:v>
          </c:tx>
          <c:spPr>
            <a:solidFill>
              <a:srgbClr val="808080"/>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88A3-4CBA-B1E9-EB37199E184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88A3-4CBA-B1E9-EB37199E184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88A3-4CBA-B1E9-EB37199E184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10.389805362252288</c:v>
              </c:pt>
              <c:pt idx="1">
                <c:v>11.60202517927747</c:v>
              </c:pt>
              <c:pt idx="2">
                <c:v>11.822985468956407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88A3-4CBA-B1E9-EB37199E1842}"/>
            </c:ext>
          </c:extLst>
        </c:ser>
        <c:ser>
          <c:idx val="6"/>
          <c:order val="6"/>
          <c:tx>
            <c:v>Personal Care &amp; Cosmetics</c:v>
          </c:tx>
          <c:spPr>
            <a:solidFill>
              <a:srgbClr val="0E72A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88A3-4CBA-B1E9-EB37199E1842}"/>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88A3-4CBA-B1E9-EB37199E1842}"/>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88A3-4CBA-B1E9-EB37199E1842}"/>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Slotted Partitions</c:v>
              </c:pt>
              <c:pt idx="1">
                <c:v>Die-Cut &amp; Folded Partitions</c:v>
              </c:pt>
              <c:pt idx="2">
                <c:v>Flat Dividers &amp; Layer Pads</c:v>
              </c:pt>
            </c:strLit>
          </c:cat>
          <c:val>
            <c:numLit>
              <c:formatCode>General</c:formatCode>
              <c:ptCount val="3"/>
              <c:pt idx="0">
                <c:v>2.8992546539969619</c:v>
              </c:pt>
              <c:pt idx="1">
                <c:v>2.9480243495635534</c:v>
              </c:pt>
              <c:pt idx="2">
                <c:v>3.4464993394980188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88A3-4CBA-B1E9-EB37199E1842}"/>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Glassware, Ceramics &amp; Home Goods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416-4EED-A046-A9FA9C5DF8A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416-4EED-A046-A9FA9C5DF8A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416-4EED-A046-A9FA9C5DF8A4}"/>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22.264901086921672</c:v>
              </c:pt>
              <c:pt idx="1">
                <c:v>19.759594681881794</c:v>
              </c:pt>
              <c:pt idx="2">
                <c:v>24.387030560216033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3-8416-4EED-A046-A9FA9C5DF8A4}"/>
            </c:ext>
          </c:extLst>
        </c:ser>
        <c:ser>
          <c:idx val="1"/>
          <c:order val="1"/>
          <c:tx>
            <c:v>Others</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416-4EED-A046-A9FA9C5DF8A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416-4EED-A046-A9FA9C5DF8A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416-4EED-A046-A9FA9C5DF8A4}"/>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15.29770111257174</c:v>
              </c:pt>
              <c:pt idx="1">
                <c:v>18.146127139627517</c:v>
              </c:pt>
              <c:pt idx="2">
                <c:v>18.11121341927219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7-8416-4EED-A046-A9FA9C5DF8A4}"/>
            </c:ext>
          </c:extLst>
        </c:ser>
        <c:ser>
          <c:idx val="2"/>
          <c:order val="2"/>
          <c:tx>
            <c:v>Automotive &amp; Industrial Components</c:v>
          </c:tx>
          <c:spPr>
            <a:solidFill>
              <a:srgbClr val="008189"/>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416-4EED-A046-A9FA9C5DF8A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416-4EED-A046-A9FA9C5DF8A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416-4EED-A046-A9FA9C5DF8A4}"/>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15.733111032735902</c:v>
              </c:pt>
              <c:pt idx="1">
                <c:v>21.326636344062873</c:v>
              </c:pt>
              <c:pt idx="2">
                <c:v>16.525517798587174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8416-4EED-A046-A9FA9C5DF8A4}"/>
            </c:ext>
          </c:extLst>
        </c:ser>
        <c:ser>
          <c:idx val="3"/>
          <c:order val="3"/>
          <c:tx>
            <c:v>Food &amp; Beverage</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416-4EED-A046-A9FA9C5DF8A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8416-4EED-A046-A9FA9C5DF8A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8416-4EED-A046-A9FA9C5DF8A4}"/>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18.350700567507776</c:v>
              </c:pt>
              <c:pt idx="1">
                <c:v>13.751143826030789</c:v>
              </c:pt>
              <c:pt idx="2">
                <c:v>13.787217626442578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F-8416-4EED-A046-A9FA9C5DF8A4}"/>
            </c:ext>
          </c:extLst>
        </c:ser>
        <c:ser>
          <c:idx val="4"/>
          <c:order val="4"/>
          <c:tx>
            <c:v>Pharmaceuticals &amp; Healthcare</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8416-4EED-A046-A9FA9C5DF8A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8416-4EED-A046-A9FA9C5DF8A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8416-4EED-A046-A9FA9C5DF8A4}"/>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12.291513033441277</c:v>
              </c:pt>
              <c:pt idx="1">
                <c:v>11.807312412530951</c:v>
              </c:pt>
              <c:pt idx="2">
                <c:v>13.738813330470323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8416-4EED-A046-A9FA9C5DF8A4}"/>
            </c:ext>
          </c:extLst>
        </c:ser>
        <c:ser>
          <c:idx val="5"/>
          <c:order val="5"/>
          <c:tx>
            <c:v>Electronics &amp; Electrical</c:v>
          </c:tx>
          <c:spPr>
            <a:solidFill>
              <a:srgbClr val="808080"/>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8416-4EED-A046-A9FA9C5DF8A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8416-4EED-A046-A9FA9C5DF8A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8416-4EED-A046-A9FA9C5DF8A4}"/>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13.253390618487288</c:v>
              </c:pt>
              <c:pt idx="1">
                <c:v>12.024639358380881</c:v>
              </c:pt>
              <c:pt idx="2">
                <c:v>10.012410424756796</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7-8416-4EED-A046-A9FA9C5DF8A4}"/>
            </c:ext>
          </c:extLst>
        </c:ser>
        <c:ser>
          <c:idx val="6"/>
          <c:order val="6"/>
          <c:tx>
            <c:v>Personal Care &amp; Cosmetics</c:v>
          </c:tx>
          <c:spPr>
            <a:solidFill>
              <a:srgbClr val="0E72A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8416-4EED-A046-A9FA9C5DF8A4}"/>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8416-4EED-A046-A9FA9C5DF8A4}"/>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8416-4EED-A046-A9FA9C5DF8A4}"/>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3"/>
              <c:pt idx="0">
                <c:v>Single Wall</c:v>
              </c:pt>
              <c:pt idx="1">
                <c:v>Double Wall</c:v>
              </c:pt>
              <c:pt idx="2">
                <c:v>Triple Wall</c:v>
              </c:pt>
            </c:strLit>
          </c:cat>
          <c:val>
            <c:numLit>
              <c:formatCode>General</c:formatCode>
              <c:ptCount val="3"/>
              <c:pt idx="0">
                <c:v>2.8086825483343487</c:v>
              </c:pt>
              <c:pt idx="1">
                <c:v>3.1845462374851974</c:v>
              </c:pt>
              <c:pt idx="2">
                <c:v>3.4377968402549053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B-8416-4EED-A046-A9FA9C5DF8A4}"/>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percentStacked"/>
        <c:varyColors val="0"/>
        <c:ser>
          <c:idx val="0"/>
          <c:order val="0"/>
          <c:tx>
            <c:v>Glassware, Ceramics &amp; Home Goods</c:v>
          </c:tx>
          <c:spPr>
            <a:solidFill>
              <a:srgbClr val="3D85C6"/>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D44-4969-AD44-C111316C553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D44-4969-AD44-C111316C553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D44-4969-AD44-C111316C553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D44-4969-AD44-C111316C553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22.590911854212038</c:v>
              </c:pt>
              <c:pt idx="1">
                <c:v>21.985246257322629</c:v>
              </c:pt>
              <c:pt idx="2">
                <c:v>20.687576790226487</c:v>
              </c:pt>
              <c:pt idx="3">
                <c:v>22.445795934977731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4-8D44-4969-AD44-C111316C553F}"/>
            </c:ext>
          </c:extLst>
        </c:ser>
        <c:ser>
          <c:idx val="1"/>
          <c:order val="1"/>
          <c:tx>
            <c:v>Others</c:v>
          </c:tx>
          <c:spPr>
            <a:solidFill>
              <a:srgbClr val="9E7E0A"/>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D44-4969-AD44-C111316C553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D44-4969-AD44-C111316C553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D44-4969-AD44-C111316C553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D44-4969-AD44-C111316C553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15.238575449061109</c:v>
              </c:pt>
              <c:pt idx="1">
                <c:v>17.702321544803645</c:v>
              </c:pt>
              <c:pt idx="2">
                <c:v>18.822202131194413</c:v>
              </c:pt>
              <c:pt idx="3">
                <c:v>22.374578915240441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9-8D44-4969-AD44-C111316C553F}"/>
            </c:ext>
          </c:extLst>
        </c:ser>
        <c:ser>
          <c:idx val="2"/>
          <c:order val="2"/>
          <c:tx>
            <c:v>Automotive &amp; Industrial Components</c:v>
          </c:tx>
          <c:spPr>
            <a:solidFill>
              <a:srgbClr val="008189"/>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D44-4969-AD44-C111316C553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8D44-4969-AD44-C111316C553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D44-4969-AD44-C111316C553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8D44-4969-AD44-C111316C553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20.059433769967708</c:v>
              </c:pt>
              <c:pt idx="1">
                <c:v>16.748969407680626</c:v>
              </c:pt>
              <c:pt idx="2">
                <c:v>19.42493296551298</c:v>
              </c:pt>
              <c:pt idx="3">
                <c:v>15.266442088128237</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E-8D44-4969-AD44-C111316C553F}"/>
            </c:ext>
          </c:extLst>
        </c:ser>
        <c:ser>
          <c:idx val="3"/>
          <c:order val="3"/>
          <c:tx>
            <c:v>Food &amp; Beverage</c:v>
          </c:tx>
          <c:spPr>
            <a:solidFill>
              <a:srgbClr val="40315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8D44-4969-AD44-C111316C553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8D44-4969-AD44-C111316C553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8D44-4969-AD44-C111316C553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8D44-4969-AD44-C111316C553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15.77212048390961</c:v>
              </c:pt>
              <c:pt idx="1">
                <c:v>14.962464742894339</c:v>
              </c:pt>
              <c:pt idx="2">
                <c:v>12.501255689238164</c:v>
              </c:pt>
              <c:pt idx="3">
                <c:v>14.254708236304852</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3-8D44-4969-AD44-C111316C553F}"/>
            </c:ext>
          </c:extLst>
        </c:ser>
        <c:ser>
          <c:idx val="4"/>
          <c:order val="4"/>
          <c:tx>
            <c:v>Electronics &amp; Electrical</c:v>
          </c:tx>
          <c:spPr>
            <a:solidFill>
              <a:srgbClr val="A35313"/>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8D44-4969-AD44-C111316C553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8D44-4969-AD44-C111316C553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8D44-4969-AD44-C111316C553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8D44-4969-AD44-C111316C553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11.493389691709668</c:v>
              </c:pt>
              <c:pt idx="1">
                <c:v>11.160772401822522</c:v>
              </c:pt>
              <c:pt idx="2">
                <c:v>11.462704097796941</c:v>
              </c:pt>
              <c:pt idx="3">
                <c:v>12.693585946508104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8-8D44-4969-AD44-C111316C553F}"/>
            </c:ext>
          </c:extLst>
        </c:ser>
        <c:ser>
          <c:idx val="5"/>
          <c:order val="5"/>
          <c:tx>
            <c:v>Pharmaceuticals &amp; Healthcare</c:v>
          </c:tx>
          <c:spPr>
            <a:solidFill>
              <a:srgbClr val="808080"/>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8D44-4969-AD44-C111316C553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8D44-4969-AD44-C111316C553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8D44-4969-AD44-C111316C553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8D44-4969-AD44-C111316C553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11.994392770679339</c:v>
              </c:pt>
              <c:pt idx="1">
                <c:v>14.049034497721848</c:v>
              </c:pt>
              <c:pt idx="2">
                <c:v>13.25466923213637</c:v>
              </c:pt>
              <c:pt idx="3">
                <c:v>10.110555944925505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1D-8D44-4969-AD44-C111316C553F}"/>
            </c:ext>
          </c:extLst>
        </c:ser>
        <c:ser>
          <c:idx val="6"/>
          <c:order val="6"/>
          <c:tx>
            <c:v>Personal Care &amp; Cosmetics</c:v>
          </c:tx>
          <c:spPr>
            <a:solidFill>
              <a:srgbClr val="0E72AE"/>
            </a:solidFill>
            <a:ln>
              <a:noFill/>
            </a:ln>
          </c:spPr>
          <c:invertIfNegative val="1"/>
          <c:dLbls>
            <c:dLbl>
              <c:idx val="0"/>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E-8D44-4969-AD44-C111316C553F}"/>
                </c:ext>
              </c:extLst>
            </c:dLbl>
            <c:dLbl>
              <c:idx val="1"/>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F-8D44-4969-AD44-C111316C553F}"/>
                </c:ext>
              </c:extLst>
            </c:dLbl>
            <c:dLbl>
              <c:idx val="2"/>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0-8D44-4969-AD44-C111316C553F}"/>
                </c:ext>
              </c:extLst>
            </c:dLbl>
            <c:dLbl>
              <c:idx val="3"/>
              <c:numFmt formatCode="&quot;&quot;" sourceLinked="0"/>
              <c:spPr/>
              <c:txPr>
                <a:bodyPr/>
                <a:lstStyle/>
                <a:p>
                  <a:pPr>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1-8D44-4969-AD44-C111316C553F}"/>
                </c:ext>
              </c:extLst>
            </c:dLbl>
            <c:numFmt formatCode="0&quot;%&quot;" sourceLinked="0"/>
            <c:spPr>
              <a:noFill/>
              <a:ln>
                <a:noFill/>
              </a:ln>
              <a:effectLst/>
            </c:spPr>
            <c:txPr>
              <a:bodyPr rot="0" vert="horz"/>
              <a:lstStyle/>
              <a:p>
                <a:pPr>
                  <a:defRPr sz="1100">
                    <a:solidFill>
                      <a:srgbClr val="FFFFFF"/>
                    </a:solidFill>
                    <a:latin typeface="Calibri"/>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Up to 4 Cells</c:v>
              </c:pt>
              <c:pt idx="1">
                <c:v>6 to 12 Cells</c:v>
              </c:pt>
              <c:pt idx="2">
                <c:v>13 to 24 Cells</c:v>
              </c:pt>
              <c:pt idx="3">
                <c:v>Above 24 Cells</c:v>
              </c:pt>
            </c:strLit>
          </c:cat>
          <c:val>
            <c:numLit>
              <c:formatCode>General</c:formatCode>
              <c:ptCount val="4"/>
              <c:pt idx="0">
                <c:v>2.8511759804605221</c:v>
              </c:pt>
              <c:pt idx="1">
                <c:v>3.3911911477543937</c:v>
              </c:pt>
              <c:pt idx="2">
                <c:v>3.8466590938946457</c:v>
              </c:pt>
              <c:pt idx="3">
                <c:v>2.8543329339151273</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22-8D44-4969-AD44-C111316C553F}"/>
            </c:ext>
          </c:extLst>
        </c:ser>
        <c:dLbls>
          <c:showLegendKey val="0"/>
          <c:showVal val="0"/>
          <c:showCatName val="0"/>
          <c:showSerName val="0"/>
          <c:showPercent val="0"/>
          <c:showBubbleSize val="0"/>
        </c:dLbls>
        <c:gapWidth val="5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scaling>
        <c:delete val="0"/>
        <c:axPos val="l"/>
        <c:numFmt formatCode="0%"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0"/>
    <c:plotArea>
      <c:layout/>
      <c:lineChart>
        <c:grouping val="standard"/>
        <c:varyColors val="0"/>
        <c:ser>
          <c:idx val="0"/>
          <c:order val="0"/>
          <c:tx>
            <c:v>Die-Cut &amp; Folded Partitions (H-dividers, tube/cell inserts)</c:v>
          </c:tx>
          <c:spPr>
            <a:ln w="25400">
              <a:solidFill>
                <a:srgbClr val="C55A11"/>
              </a:solidFill>
            </a:ln>
          </c:spPr>
          <c:marker>
            <c:symbol val="none"/>
          </c:marker>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1011</c:v>
              </c:pt>
              <c:pt idx="1">
                <c:v>1021</c:v>
              </c:pt>
              <c:pt idx="2">
                <c:v>1030</c:v>
              </c:pt>
              <c:pt idx="3">
                <c:v>1037</c:v>
              </c:pt>
              <c:pt idx="4">
                <c:v>1045</c:v>
              </c:pt>
              <c:pt idx="5">
                <c:v>1052</c:v>
              </c:pt>
              <c:pt idx="6">
                <c:v>1059</c:v>
              </c:pt>
              <c:pt idx="7">
                <c:v>1068</c:v>
              </c:pt>
              <c:pt idx="8">
                <c:v>1077</c:v>
              </c:pt>
              <c:pt idx="9">
                <c:v>1086</c:v>
              </c:pt>
              <c:pt idx="10">
                <c:v>1095</c:v>
              </c:pt>
              <c:pt idx="11">
                <c:v>1104</c:v>
              </c:pt>
              <c:pt idx="12">
                <c:v>1113</c:v>
              </c:pt>
              <c:pt idx="13">
                <c:v>1122</c:v>
              </c:pt>
              <c:pt idx="14">
                <c:v>1131</c:v>
              </c:pt>
              <c:pt idx="15">
                <c:v>1139</c:v>
              </c:pt>
            </c:numLit>
          </c:val>
          <c:smooth val="0"/>
          <c:extLst>
            <c:ext xmlns:c16="http://schemas.microsoft.com/office/drawing/2014/chart" uri="{C3380CC4-5D6E-409C-BE32-E72D297353CC}">
              <c16:uniqueId val="{00000000-CDFA-4306-9101-3F13E00037AA}"/>
            </c:ext>
          </c:extLst>
        </c:ser>
        <c:ser>
          <c:idx val="1"/>
          <c:order val="1"/>
          <c:tx>
            <c:v>Flat Dividers &amp; Layer Pads</c:v>
          </c:tx>
          <c:spPr>
            <a:ln w="25400">
              <a:solidFill>
                <a:srgbClr val="0B2E4A"/>
              </a:solidFill>
            </a:ln>
          </c:spPr>
          <c:marker>
            <c:symbol val="none"/>
          </c:marker>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907</c:v>
              </c:pt>
              <c:pt idx="1">
                <c:v>916</c:v>
              </c:pt>
              <c:pt idx="2">
                <c:v>923</c:v>
              </c:pt>
              <c:pt idx="3">
                <c:v>930</c:v>
              </c:pt>
              <c:pt idx="4">
                <c:v>938</c:v>
              </c:pt>
              <c:pt idx="5">
                <c:v>944</c:v>
              </c:pt>
              <c:pt idx="6">
                <c:v>955</c:v>
              </c:pt>
              <c:pt idx="7">
                <c:v>966</c:v>
              </c:pt>
              <c:pt idx="8">
                <c:v>976</c:v>
              </c:pt>
              <c:pt idx="9">
                <c:v>986</c:v>
              </c:pt>
              <c:pt idx="10">
                <c:v>995</c:v>
              </c:pt>
              <c:pt idx="11">
                <c:v>1002</c:v>
              </c:pt>
              <c:pt idx="12">
                <c:v>1007</c:v>
              </c:pt>
              <c:pt idx="13">
                <c:v>1013</c:v>
              </c:pt>
              <c:pt idx="14">
                <c:v>1018</c:v>
              </c:pt>
              <c:pt idx="15">
                <c:v>1022</c:v>
              </c:pt>
            </c:numLit>
          </c:val>
          <c:smooth val="0"/>
          <c:extLst>
            <c:ext xmlns:c16="http://schemas.microsoft.com/office/drawing/2014/chart" uri="{C3380CC4-5D6E-409C-BE32-E72D297353CC}">
              <c16:uniqueId val="{00000001-CDFA-4306-9101-3F13E00037AA}"/>
            </c:ext>
          </c:extLst>
        </c:ser>
        <c:ser>
          <c:idx val="2"/>
          <c:order val="2"/>
          <c:tx>
            <c:v>Slotted (Interlocking Grid) Partitions</c:v>
          </c:tx>
          <c:spPr>
            <a:ln w="25400">
              <a:solidFill>
                <a:srgbClr val="7030A0"/>
              </a:solidFill>
            </a:ln>
          </c:spPr>
          <c:marker>
            <c:symbol val="none"/>
          </c:marker>
          <c:cat>
            <c:strLit>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Lit>
          </c:cat>
          <c:val>
            <c:numLit>
              <c:formatCode>General</c:formatCode>
              <c:ptCount val="16"/>
              <c:pt idx="0">
                <c:v>802</c:v>
              </c:pt>
              <c:pt idx="1">
                <c:v>806</c:v>
              </c:pt>
              <c:pt idx="2">
                <c:v>811</c:v>
              </c:pt>
              <c:pt idx="3">
                <c:v>818</c:v>
              </c:pt>
              <c:pt idx="4">
                <c:v>826</c:v>
              </c:pt>
              <c:pt idx="5">
                <c:v>835</c:v>
              </c:pt>
              <c:pt idx="6">
                <c:v>846</c:v>
              </c:pt>
              <c:pt idx="7">
                <c:v>856</c:v>
              </c:pt>
              <c:pt idx="8">
                <c:v>865</c:v>
              </c:pt>
              <c:pt idx="9">
                <c:v>873</c:v>
              </c:pt>
              <c:pt idx="10">
                <c:v>880</c:v>
              </c:pt>
              <c:pt idx="11">
                <c:v>886</c:v>
              </c:pt>
              <c:pt idx="12">
                <c:v>891</c:v>
              </c:pt>
              <c:pt idx="13">
                <c:v>896</c:v>
              </c:pt>
              <c:pt idx="14">
                <c:v>901</c:v>
              </c:pt>
              <c:pt idx="15">
                <c:v>904</c:v>
              </c:pt>
            </c:numLit>
          </c:val>
          <c:smooth val="0"/>
          <c:extLst>
            <c:ext xmlns:c16="http://schemas.microsoft.com/office/drawing/2014/chart" uri="{C3380CC4-5D6E-409C-BE32-E72D297353CC}">
              <c16:uniqueId val="{00000002-CDFA-4306-9101-3F13E00037AA}"/>
            </c:ext>
          </c:extLst>
        </c:ser>
        <c:dLbls>
          <c:showLegendKey val="0"/>
          <c:showVal val="0"/>
          <c:showCatName val="0"/>
          <c:showSerName val="0"/>
          <c:showPercent val="0"/>
          <c:showBubbleSize val="0"/>
        </c:dLbls>
        <c:smooth val="0"/>
        <c:axId val="2118791784"/>
        <c:axId val="2140495176"/>
      </c:lineChart>
      <c:catAx>
        <c:axId val="2118791784"/>
        <c:scaling>
          <c:orientation val="minMax"/>
        </c:scaling>
        <c:delete val="0"/>
        <c:axPos val="b"/>
        <c:numFmt formatCode="General" sourceLinked="0"/>
        <c:majorTickMark val="out"/>
        <c:minorTickMark val="none"/>
        <c:tickLblPos val="low"/>
        <c:spPr>
          <a:ln>
            <a:solidFill>
              <a:srgbClr val="D9DEE4"/>
            </a:solidFill>
          </a:ln>
        </c:spPr>
        <c:txPr>
          <a:bodyPr/>
          <a:lstStyle/>
          <a:p>
            <a:pPr>
              <a:defRPr sz="900">
                <a:solidFill>
                  <a:srgbClr val="59636E"/>
                </a:solidFill>
                <a:latin typeface="Calibri"/>
              </a:defRPr>
            </a:pPr>
            <a:endParaRPr lang="en-US"/>
          </a:p>
        </c:txPr>
        <c:crossAx val="2140495176"/>
        <c:crosses val="autoZero"/>
        <c:auto val="1"/>
        <c:lblAlgn val="ctr"/>
        <c:lblOffset val="100"/>
        <c:noMultiLvlLbl val="0"/>
      </c:catAx>
      <c:valAx>
        <c:axId val="2140495176"/>
        <c:scaling>
          <c:orientation val="minMax"/>
          <c:max val="1500"/>
          <c:min val="5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endParaRPr lang="en-US"/>
          </a:p>
        </c:txPr>
        <c:crossAx val="2118791784"/>
        <c:crosses val="autoZero"/>
        <c:crossBetween val="between"/>
        <c:majorUnit val="500"/>
      </c:valAx>
    </c:plotArea>
    <c:legend>
      <c:legendPos val="b"/>
      <c:overlay val="0"/>
      <c:txPr>
        <a:bodyPr/>
        <a:lstStyle/>
        <a:p>
          <a:pPr>
            <a:defRPr sz="900">
              <a:latin typeface="Calibri"/>
            </a:defRPr>
          </a:pPr>
          <a:endParaRPr lang="en-US"/>
        </a:p>
      </c:txPr>
    </c:legend>
    <c:plotVisOnly val="1"/>
    <c:dispBlanksAs val="gap"/>
    <c:showDLblsOverMax val="0"/>
  </c:chart>
  <c:txPr>
    <a:bodyPr/>
    <a:lstStyle/>
    <a:p>
      <a:pPr>
        <a:defRPr sz="1800"/>
      </a:pPr>
      <a:endParaRPr lang="en-US"/>
    </a:p>
  </c:txPr>
</c:chartSpace>
</file>

<file path=ppt/charts/chart1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1"/>
        <c:ser>
          <c:idx val="0"/>
          <c:order val="0"/>
          <c:tx>
            <c:v>Index</c:v>
          </c:tx>
          <c:invertIfNegative val="1"/>
          <c:dPt>
            <c:idx val="0"/>
            <c:invertIfNegative val="1"/>
            <c:bubble3D val="0"/>
            <c:spPr>
              <a:solidFill>
                <a:srgbClr val="5B7DB1"/>
              </a:solidFill>
            </c:spPr>
            <c:extLst>
              <c:ext xmlns:c16="http://schemas.microsoft.com/office/drawing/2014/chart" uri="{C3380CC4-5D6E-409C-BE32-E72D297353CC}">
                <c16:uniqueId val="{00000001-6F0A-49B3-9C48-06768EBCE669}"/>
              </c:ext>
            </c:extLst>
          </c:dPt>
          <c:dPt>
            <c:idx val="1"/>
            <c:invertIfNegative val="1"/>
            <c:bubble3D val="0"/>
            <c:spPr>
              <a:solidFill>
                <a:srgbClr val="5B7DB1"/>
              </a:solidFill>
            </c:spPr>
            <c:extLst>
              <c:ext xmlns:c16="http://schemas.microsoft.com/office/drawing/2014/chart" uri="{C3380CC4-5D6E-409C-BE32-E72D297353CC}">
                <c16:uniqueId val="{00000003-6F0A-49B3-9C48-06768EBCE669}"/>
              </c:ext>
            </c:extLst>
          </c:dPt>
          <c:dPt>
            <c:idx val="2"/>
            <c:invertIfNegative val="1"/>
            <c:bubble3D val="0"/>
            <c:spPr>
              <a:solidFill>
                <a:srgbClr val="C55A11"/>
              </a:solidFill>
            </c:spPr>
            <c:extLst>
              <c:ext xmlns:c16="http://schemas.microsoft.com/office/drawing/2014/chart" uri="{C3380CC4-5D6E-409C-BE32-E72D297353CC}">
                <c16:uniqueId val="{00000005-6F0A-49B3-9C48-06768EBCE669}"/>
              </c:ext>
            </c:extLst>
          </c:dPt>
          <c:cat>
            <c:strLit>
              <c:ptCount val="3"/>
              <c:pt idx="0">
                <c:v>Slotted (Interlocking Grid) Partitions</c:v>
              </c:pt>
              <c:pt idx="1">
                <c:v>Flat Dividers &amp; Layer Pads</c:v>
              </c:pt>
              <c:pt idx="2">
                <c:v>Die-Cut &amp; Folded Partitions (H-dividers, tube/cell inserts)</c:v>
              </c:pt>
            </c:strLit>
          </c:cat>
          <c:val>
            <c:numLit>
              <c:formatCode>General</c:formatCode>
              <c:ptCount val="3"/>
              <c:pt idx="0">
                <c:v>87.4</c:v>
              </c:pt>
              <c:pt idx="1">
                <c:v>98.8</c:v>
              </c:pt>
              <c:pt idx="2">
                <c:v>110.1</c:v>
              </c:pt>
            </c:numLit>
          </c:val>
          <c:extLst>
            <c:ext xmlns:c16="http://schemas.microsoft.com/office/drawing/2014/chart" uri="{C3380CC4-5D6E-409C-BE32-E72D297353CC}">
              <c16:uniqueId val="{00000006-6F0A-49B3-9C48-06768EBCE669}"/>
            </c:ext>
          </c:extLst>
        </c:ser>
        <c:dLbls>
          <c:showLegendKey val="0"/>
          <c:showVal val="0"/>
          <c:showCatName val="0"/>
          <c:showSerName val="0"/>
          <c:showPercent val="0"/>
          <c:showBubbleSize val="0"/>
        </c:dLbls>
        <c:gapWidth val="45"/>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D9DEE4"/>
            </a:solidFill>
          </a:ln>
        </c:spPr>
        <c:txPr>
          <a:bodyPr/>
          <a:lstStyle/>
          <a:p>
            <a:pPr>
              <a:defRPr sz="850">
                <a:solidFill>
                  <a:srgbClr val="1F1F1F"/>
                </a:solidFill>
                <a:latin typeface="Calibri"/>
              </a:defRPr>
            </a:pPr>
            <a:endParaRPr lang="en-US"/>
          </a:p>
        </c:txPr>
        <c:crossAx val="-2113994440"/>
        <c:crosses val="autoZero"/>
        <c:auto val="1"/>
        <c:lblAlgn val="ctr"/>
        <c:lblOffset val="100"/>
        <c:tickLblSkip val="1"/>
        <c:noMultiLvlLbl val="0"/>
      </c:catAx>
      <c:valAx>
        <c:axId val="-2113994440"/>
        <c:scaling>
          <c:orientation val="minMax"/>
          <c:max val="112"/>
          <c:min val="84"/>
        </c:scaling>
        <c:delete val="1"/>
        <c:axPos val="b"/>
        <c:numFmt formatCode="General" sourceLinked="1"/>
        <c:majorTickMark val="out"/>
        <c:minorTickMark val="none"/>
        <c:tickLblPos val="none"/>
        <c:crossAx val="-2068027336"/>
        <c:crosses val="autoZero"/>
        <c:crossBetween val="between"/>
      </c:valAx>
    </c:plotArea>
    <c:plotVisOnly val="1"/>
    <c:dispBlanksAs val="gap"/>
    <c:showDLblsOverMax val="1"/>
  </c:chart>
  <c:txPr>
    <a:bodyPr/>
    <a:lstStyle/>
    <a:p>
      <a:pPr>
        <a:defRPr sz="1800"/>
      </a:pPr>
      <a:endParaRPr lang="en-US"/>
    </a:p>
  </c:txPr>
</c:chartSpace>
</file>

<file path=ppt/charts/chart1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0"/>
    <c:plotArea>
      <c:layout/>
      <c:barChart>
        <c:barDir val="bar"/>
        <c:grouping val="stacked"/>
        <c:varyColors val="1"/>
        <c:ser>
          <c:idx val="0"/>
          <c:order val="0"/>
          <c:tx>
            <c:v>Base</c:v>
          </c:tx>
          <c:spPr>
            <a:noFill/>
          </c:spPr>
          <c:invertIfNegative val="1"/>
          <c:cat>
            <c:strLit>
              <c:ptCount val="3"/>
              <c:pt idx="0">
                <c:v>Slotted (Interlocking Grid) Partitions</c:v>
              </c:pt>
              <c:pt idx="1">
                <c:v>Flat Dividers &amp; Layer Pads</c:v>
              </c:pt>
              <c:pt idx="2">
                <c:v>Die-Cut &amp; Folded Partitions (H-dividers, tube/cell inserts)</c:v>
              </c:pt>
            </c:strLit>
          </c:cat>
          <c:val>
            <c:numLit>
              <c:formatCode>General</c:formatCode>
              <c:ptCount val="3"/>
              <c:pt idx="0">
                <c:v>607</c:v>
              </c:pt>
              <c:pt idx="1">
                <c:v>687</c:v>
              </c:pt>
              <c:pt idx="2">
                <c:v>768</c:v>
              </c:pt>
            </c:numLit>
          </c:val>
          <c:extLst>
            <c:ext xmlns:c16="http://schemas.microsoft.com/office/drawing/2014/chart" uri="{C3380CC4-5D6E-409C-BE32-E72D297353CC}">
              <c16:uniqueId val="{00000000-4B3B-4C56-B54E-4A054131489D}"/>
            </c:ext>
          </c:extLst>
        </c:ser>
        <c:ser>
          <c:idx val="1"/>
          <c:order val="1"/>
          <c:tx>
            <c:v>Range</c:v>
          </c:tx>
          <c:spPr>
            <a:solidFill>
              <a:srgbClr val="008189"/>
            </a:solidFill>
          </c:spPr>
          <c:invertIfNegative val="1"/>
          <c:cat>
            <c:strLit>
              <c:ptCount val="3"/>
              <c:pt idx="0">
                <c:v>Slotted (Interlocking Grid) Partitions</c:v>
              </c:pt>
              <c:pt idx="1">
                <c:v>Flat Dividers &amp; Layer Pads</c:v>
              </c:pt>
              <c:pt idx="2">
                <c:v>Die-Cut &amp; Folded Partitions (H-dividers, tube/cell inserts)</c:v>
              </c:pt>
            </c:strLit>
          </c:cat>
          <c:val>
            <c:numLit>
              <c:formatCode>General</c:formatCode>
              <c:ptCount val="3"/>
              <c:pt idx="0">
                <c:v>350</c:v>
              </c:pt>
              <c:pt idx="1">
                <c:v>393</c:v>
              </c:pt>
              <c:pt idx="2">
                <c:v>454</c:v>
              </c:pt>
            </c:numLit>
          </c:val>
          <c:extLst>
            <c:ext xmlns:c14="http://schemas.microsoft.com/office/drawing/2007/8/2/chart" uri="{6F2FDCE9-48DA-4B69-8628-5D25D57E5C99}">
              <c14:invertSolidFillFmt>
                <c14:spPr xmlns:c14="http://schemas.microsoft.com/office/drawing/2007/8/2/chart">
                  <a:solidFill>
                    <a:srgbClr val="FFFFFF"/>
                  </a:solidFill>
                </c14:spPr>
              </c14:invertSolidFillFmt>
            </c:ext>
            <c:ext xmlns:c16="http://schemas.microsoft.com/office/drawing/2014/chart" uri="{C3380CC4-5D6E-409C-BE32-E72D297353CC}">
              <c16:uniqueId val="{00000001-4B3B-4C56-B54E-4A054131489D}"/>
            </c:ext>
          </c:extLst>
        </c:ser>
        <c:dLbls>
          <c:showLegendKey val="0"/>
          <c:showVal val="0"/>
          <c:showCatName val="0"/>
          <c:showSerName val="0"/>
          <c:showPercent val="0"/>
          <c:showBubbleSize val="0"/>
        </c:dLbls>
        <c:gapWidth val="55"/>
        <c:overlap val="10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D9DEE4"/>
            </a:solidFill>
          </a:ln>
        </c:spPr>
        <c:txPr>
          <a:bodyPr/>
          <a:lstStyle/>
          <a:p>
            <a:pPr>
              <a:defRPr sz="850">
                <a:solidFill>
                  <a:srgbClr val="1F1F1F"/>
                </a:solidFill>
                <a:latin typeface="Calibri"/>
              </a:defRPr>
            </a:pPr>
            <a:endParaRPr lang="en-US"/>
          </a:p>
        </c:txPr>
        <c:crossAx val="-2113994440"/>
        <c:crosses val="autoZero"/>
        <c:auto val="1"/>
        <c:lblAlgn val="ctr"/>
        <c:lblOffset val="100"/>
        <c:tickLblSkip val="1"/>
        <c:noMultiLvlLbl val="0"/>
      </c:catAx>
      <c:valAx>
        <c:axId val="-2113994440"/>
        <c:scaling>
          <c:orientation val="minMax"/>
          <c:max val="2000"/>
          <c:min val="0"/>
        </c:scaling>
        <c:delete val="0"/>
        <c:axPos val="b"/>
        <c:majorGridlines>
          <c:spPr>
            <a:ln>
              <a:solidFill>
                <a:srgbClr val="D9DEE4"/>
              </a:solidFill>
            </a:ln>
          </c:spPr>
        </c:majorGridlines>
        <c:numFmt formatCode="#,##0" sourceLinked="0"/>
        <c:majorTickMark val="out"/>
        <c:minorTickMark val="none"/>
        <c:tickLblPos val="none"/>
        <c:spPr>
          <a:ln>
            <a:noFill/>
          </a:ln>
        </c:spPr>
        <c:txPr>
          <a:bodyPr/>
          <a:lstStyle/>
          <a:p>
            <a:pPr>
              <a:defRPr sz="800">
                <a:solidFill>
                  <a:srgbClr val="59636E"/>
                </a:solidFill>
                <a:latin typeface="Calibri"/>
              </a:defRPr>
            </a:pPr>
            <a:endParaRPr lang="en-US"/>
          </a:p>
        </c:txPr>
        <c:crossAx val="-2068027336"/>
        <c:crosses val="autoZero"/>
        <c:crossBetween val="between"/>
        <c:majorUnit val="2000"/>
      </c:valAx>
    </c:plotArea>
    <c:plotVisOnly val="1"/>
    <c:dispBlanksAs val="gap"/>
    <c:showDLblsOverMax val="1"/>
  </c:chart>
  <c:txPr>
    <a:bodyPr/>
    <a:lstStyle/>
    <a:p>
      <a:pPr>
        <a:defRPr sz="1800"/>
      </a:pPr>
      <a:endParaRPr lang="en-US"/>
    </a:p>
  </c:txPr>
</c:chartSpace>
</file>

<file path=ppt/charts/chart1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0"/>
    <c:plotArea>
      <c:layout/>
      <c:barChart>
        <c:barDir val="col"/>
        <c:grouping val="stacked"/>
        <c:varyColors val="1"/>
        <c:ser>
          <c:idx val="0"/>
          <c:order val="0"/>
          <c:tx>
            <c:v>Base</c:v>
          </c:tx>
          <c:spPr>
            <a:noFill/>
          </c:spPr>
          <c:invertIfNegative val="1"/>
          <c:cat>
            <c:strLit>
              <c:ptCount val="6"/>
              <c:pt idx="0">
                <c:v>Europe</c:v>
              </c:pt>
              <c:pt idx="1">
                <c:v>Middle East &amp; Africa</c:v>
              </c:pt>
              <c:pt idx="2">
                <c:v>South Asia &amp; Pacific</c:v>
              </c:pt>
              <c:pt idx="3">
                <c:v>Latin America</c:v>
              </c:pt>
              <c:pt idx="4">
                <c:v>East Asia</c:v>
              </c:pt>
              <c:pt idx="5">
                <c:v>North America</c:v>
              </c:pt>
            </c:strLit>
          </c:cat>
          <c:val>
            <c:numLit>
              <c:formatCode>General</c:formatCode>
              <c:ptCount val="6"/>
              <c:pt idx="0">
                <c:v>94.5</c:v>
              </c:pt>
              <c:pt idx="1">
                <c:v>91.4</c:v>
              </c:pt>
              <c:pt idx="2">
                <c:v>88.6</c:v>
              </c:pt>
              <c:pt idx="3">
                <c:v>88.6</c:v>
              </c:pt>
              <c:pt idx="4">
                <c:v>87.5</c:v>
              </c:pt>
              <c:pt idx="5">
                <c:v>80.400000000000006</c:v>
              </c:pt>
            </c:numLit>
          </c:val>
          <c:extLst>
            <c:ext xmlns:c16="http://schemas.microsoft.com/office/drawing/2014/chart" uri="{C3380CC4-5D6E-409C-BE32-E72D297353CC}">
              <c16:uniqueId val="{00000000-DE75-4AD8-B8F6-B042C8A1D1B3}"/>
            </c:ext>
          </c:extLst>
        </c:ser>
        <c:ser>
          <c:idx val="1"/>
          <c:order val="1"/>
          <c:tx>
            <c:v>Range</c:v>
          </c:tx>
          <c:spPr>
            <a:solidFill>
              <a:srgbClr val="008189"/>
            </a:solidFill>
          </c:spPr>
          <c:invertIfNegative val="1"/>
          <c:dPt>
            <c:idx val="5"/>
            <c:invertIfNegative val="1"/>
            <c:bubble3D val="0"/>
            <c:spPr>
              <a:solidFill>
                <a:srgbClr val="5B7DB1"/>
              </a:solidFill>
            </c:spPr>
            <c:extLst>
              <c:ext xmlns:c16="http://schemas.microsoft.com/office/drawing/2014/chart" uri="{C3380CC4-5D6E-409C-BE32-E72D297353CC}">
                <c16:uniqueId val="{00000002-DE75-4AD8-B8F6-B042C8A1D1B3}"/>
              </c:ext>
            </c:extLst>
          </c:dPt>
          <c:cat>
            <c:strLit>
              <c:ptCount val="6"/>
              <c:pt idx="0">
                <c:v>Europe</c:v>
              </c:pt>
              <c:pt idx="1">
                <c:v>Middle East &amp; Africa</c:v>
              </c:pt>
              <c:pt idx="2">
                <c:v>South Asia &amp; Pacific</c:v>
              </c:pt>
              <c:pt idx="3">
                <c:v>Latin America</c:v>
              </c:pt>
              <c:pt idx="4">
                <c:v>East Asia</c:v>
              </c:pt>
              <c:pt idx="5">
                <c:v>North America</c:v>
              </c:pt>
            </c:strLit>
          </c:cat>
          <c:val>
            <c:numLit>
              <c:formatCode>General</c:formatCode>
              <c:ptCount val="6"/>
              <c:pt idx="0">
                <c:v>24.6</c:v>
              </c:pt>
              <c:pt idx="1">
                <c:v>23.5</c:v>
              </c:pt>
              <c:pt idx="2">
                <c:v>24.2</c:v>
              </c:pt>
              <c:pt idx="3">
                <c:v>21.7</c:v>
              </c:pt>
              <c:pt idx="4">
                <c:v>22.8</c:v>
              </c:pt>
              <c:pt idx="5">
                <c:v>21.9</c:v>
              </c:pt>
            </c:numLit>
          </c:val>
          <c:extLst>
            <c:ext xmlns:c14="http://schemas.microsoft.com/office/drawing/2007/8/2/chart" uri="{6F2FDCE9-48DA-4B69-8628-5D25D57E5C99}">
              <c14:invertSolidFillFmt>
                <c14:spPr xmlns:c14="http://schemas.microsoft.com/office/drawing/2007/8/2/chart">
                  <a:solidFill>
                    <a:srgbClr val="FFFFFF"/>
                  </a:solidFill>
                </c14:spPr>
              </c14:invertSolidFillFmt>
            </c:ext>
            <c:ext xmlns:c16="http://schemas.microsoft.com/office/drawing/2014/chart" uri="{C3380CC4-5D6E-409C-BE32-E72D297353CC}">
              <c16:uniqueId val="{00000003-DE75-4AD8-B8F6-B042C8A1D1B3}"/>
            </c:ext>
          </c:extLst>
        </c:ser>
        <c:dLbls>
          <c:showLegendKey val="0"/>
          <c:showVal val="0"/>
          <c:showCatName val="0"/>
          <c:showSerName val="0"/>
          <c:showPercent val="0"/>
          <c:showBubbleSize val="0"/>
        </c:dLbls>
        <c:gapWidth val="40"/>
        <c:overlap val="10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D9DEE4"/>
            </a:solidFill>
          </a:ln>
        </c:spPr>
        <c:txPr>
          <a:bodyPr/>
          <a:lstStyle/>
          <a:p>
            <a:pPr>
              <a:defRPr sz="850">
                <a:solidFill>
                  <a:srgbClr val="1F1F1F"/>
                </a:solidFill>
                <a:latin typeface="Calibri"/>
              </a:defRPr>
            </a:pPr>
            <a:endParaRPr lang="en-US"/>
          </a:p>
        </c:txPr>
        <c:crossAx val="-2113994440"/>
        <c:crosses val="autoZero"/>
        <c:auto val="1"/>
        <c:lblAlgn val="ctr"/>
        <c:lblOffset val="100"/>
        <c:tickLblSkip val="1"/>
        <c:noMultiLvlLbl val="0"/>
      </c:catAx>
      <c:valAx>
        <c:axId val="-2113994440"/>
        <c:scaling>
          <c:orientation val="minMax"/>
          <c:max val="120"/>
          <c:min val="8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850">
                <a:solidFill>
                  <a:srgbClr val="59636E"/>
                </a:solidFill>
                <a:latin typeface="Calibri"/>
              </a:defRPr>
            </a:pPr>
            <a:endParaRPr lang="en-US"/>
          </a:p>
        </c:txPr>
        <c:crossAx val="-2068027336"/>
        <c:crosses val="autoZero"/>
        <c:crossBetween val="between"/>
        <c:majorUnit val="5"/>
      </c:valAx>
    </c:plotArea>
    <c:plotVisOnly val="1"/>
    <c:dispBlanksAs val="gap"/>
    <c:showDLblsOverMax val="1"/>
  </c:chart>
  <c:txPr>
    <a:bodyPr/>
    <a:lstStyle/>
    <a:p>
      <a:pPr>
        <a:defRPr sz="1800"/>
      </a:pPr>
      <a:endParaRPr lang="en-US"/>
    </a:p>
  </c:txPr>
</c:chartSpace>
</file>

<file path=ppt/charts/chart1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D3D9-4E31-8A2A-7C3554E289C9}"/>
              </c:ext>
            </c:extLst>
          </c:dPt>
          <c:dPt>
            <c:idx val="1"/>
            <c:bubble3D val="0"/>
            <c:spPr>
              <a:solidFill>
                <a:srgbClr val="9E7E0A"/>
              </a:solidFill>
            </c:spPr>
            <c:extLst>
              <c:ext xmlns:c16="http://schemas.microsoft.com/office/drawing/2014/chart" uri="{C3380CC4-5D6E-409C-BE32-E72D297353CC}">
                <c16:uniqueId val="{00000003-D3D9-4E31-8A2A-7C3554E289C9}"/>
              </c:ext>
            </c:extLst>
          </c:dPt>
          <c:dPt>
            <c:idx val="2"/>
            <c:bubble3D val="0"/>
            <c:spPr>
              <a:solidFill>
                <a:srgbClr val="008189"/>
              </a:solidFill>
            </c:spPr>
            <c:extLst>
              <c:ext xmlns:c16="http://schemas.microsoft.com/office/drawing/2014/chart" uri="{C3380CC4-5D6E-409C-BE32-E72D297353CC}">
                <c16:uniqueId val="{00000005-D3D9-4E31-8A2A-7C3554E289C9}"/>
              </c:ext>
            </c:extLst>
          </c:dPt>
          <c:dPt>
            <c:idx val="3"/>
            <c:bubble3D val="0"/>
            <c:spPr>
              <a:solidFill>
                <a:srgbClr val="40315E"/>
              </a:solidFill>
            </c:spPr>
            <c:extLst>
              <c:ext xmlns:c16="http://schemas.microsoft.com/office/drawing/2014/chart" uri="{C3380CC4-5D6E-409C-BE32-E72D297353CC}">
                <c16:uniqueId val="{00000007-D3D9-4E31-8A2A-7C3554E289C9}"/>
              </c:ext>
            </c:extLst>
          </c:dPt>
          <c:dPt>
            <c:idx val="4"/>
            <c:bubble3D val="0"/>
            <c:spPr>
              <a:solidFill>
                <a:srgbClr val="A35313"/>
              </a:solidFill>
            </c:spPr>
            <c:extLst>
              <c:ext xmlns:c16="http://schemas.microsoft.com/office/drawing/2014/chart" uri="{C3380CC4-5D6E-409C-BE32-E72D297353CC}">
                <c16:uniqueId val="{00000009-D3D9-4E31-8A2A-7C3554E289C9}"/>
              </c:ext>
            </c:extLst>
          </c:dPt>
          <c:dPt>
            <c:idx val="5"/>
            <c:bubble3D val="0"/>
            <c:spPr>
              <a:solidFill>
                <a:srgbClr val="808080"/>
              </a:solidFill>
            </c:spPr>
            <c:extLst>
              <c:ext xmlns:c16="http://schemas.microsoft.com/office/drawing/2014/chart" uri="{C3380CC4-5D6E-409C-BE32-E72D297353CC}">
                <c16:uniqueId val="{0000000B-D3D9-4E31-8A2A-7C3554E289C9}"/>
              </c:ext>
            </c:extLst>
          </c:dPt>
          <c:dPt>
            <c:idx val="6"/>
            <c:bubble3D val="0"/>
            <c:spPr>
              <a:solidFill>
                <a:srgbClr val="0E72AE"/>
              </a:solidFill>
            </c:spPr>
            <c:extLst>
              <c:ext xmlns:c16="http://schemas.microsoft.com/office/drawing/2014/chart" uri="{C3380CC4-5D6E-409C-BE32-E72D297353CC}">
                <c16:uniqueId val="{0000000D-D3D9-4E31-8A2A-7C3554E289C9}"/>
              </c:ext>
            </c:extLst>
          </c:dPt>
          <c:dPt>
            <c:idx val="7"/>
            <c:bubble3D val="0"/>
            <c:spPr>
              <a:solidFill>
                <a:srgbClr val="A86F00"/>
              </a:solidFill>
            </c:spPr>
            <c:extLst>
              <c:ext xmlns:c16="http://schemas.microsoft.com/office/drawing/2014/chart" uri="{C3380CC4-5D6E-409C-BE32-E72D297353CC}">
                <c16:uniqueId val="{0000000F-D3D9-4E31-8A2A-7C3554E289C9}"/>
              </c:ext>
            </c:extLst>
          </c:dPt>
          <c:dPt>
            <c:idx val="8"/>
            <c:bubble3D val="0"/>
            <c:spPr>
              <a:solidFill>
                <a:srgbClr val="0B2E4A"/>
              </a:solidFill>
            </c:spPr>
            <c:extLst>
              <c:ext xmlns:c16="http://schemas.microsoft.com/office/drawing/2014/chart" uri="{C3380CC4-5D6E-409C-BE32-E72D297353CC}">
                <c16:uniqueId val="{00000011-D3D9-4E31-8A2A-7C3554E289C9}"/>
              </c:ext>
            </c:extLst>
          </c:dPt>
          <c:dPt>
            <c:idx val="9"/>
            <c:bubble3D val="0"/>
            <c:spPr>
              <a:solidFill>
                <a:srgbClr val="6C7A89"/>
              </a:solidFill>
            </c:spPr>
            <c:extLst>
              <c:ext xmlns:c16="http://schemas.microsoft.com/office/drawing/2014/chart" uri="{C3380CC4-5D6E-409C-BE32-E72D297353CC}">
                <c16:uniqueId val="{00000013-D3D9-4E31-8A2A-7C3554E289C9}"/>
              </c:ext>
            </c:extLst>
          </c:dPt>
          <c:dPt>
            <c:idx val="10"/>
            <c:bubble3D val="0"/>
            <c:spPr>
              <a:solidFill>
                <a:srgbClr val="B9B3AC"/>
              </a:solidFill>
            </c:spPr>
            <c:extLst>
              <c:ext xmlns:c16="http://schemas.microsoft.com/office/drawing/2014/chart" uri="{C3380CC4-5D6E-409C-BE32-E72D297353CC}">
                <c16:uniqueId val="{00000015-D3D9-4E31-8A2A-7C3554E289C9}"/>
              </c:ext>
            </c:extLst>
          </c:dPt>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3D9-4E31-8A2A-7C3554E289C9}"/>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3D9-4E31-8A2A-7C3554E289C9}"/>
                </c:ext>
              </c:extLst>
            </c:dLbl>
            <c:dLbl>
              <c:idx val="2"/>
              <c:numFmt formatCode="&quot;MMM&quot;;&quot;MMM&quot;;&quot;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3D9-4E31-8A2A-7C3554E289C9}"/>
                </c:ext>
              </c:extLst>
            </c:dLbl>
            <c:dLbl>
              <c:idx val="3"/>
              <c:numFmt formatCode="&quot;MMM&quot;;&quot;MMM&quot;;&quot;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3D9-4E31-8A2A-7C3554E289C9}"/>
                </c:ext>
              </c:extLst>
            </c:dLbl>
            <c:dLbl>
              <c:idx val="4"/>
              <c:numFmt formatCode="&quot;MMM&quot;;&quot;MMM&quot;;&quot;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3D9-4E31-8A2A-7C3554E289C9}"/>
                </c:ext>
              </c:extLst>
            </c:dLbl>
            <c:dLbl>
              <c:idx val="5"/>
              <c:numFmt formatCode="&quot;MMM&quot;;&quot;MMM&quot;;&quot;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D3D9-4E31-8A2A-7C3554E289C9}"/>
                </c:ext>
              </c:extLst>
            </c:dLbl>
            <c:dLbl>
              <c:idx val="6"/>
              <c:numFmt formatCode="&quot;MMM&quot;;&quot;MMM&quot;;&quot;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D3D9-4E31-8A2A-7C3554E289C9}"/>
                </c:ext>
              </c:extLst>
            </c:dLbl>
            <c:dLbl>
              <c:idx val="7"/>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D3D9-4E31-8A2A-7C3554E289C9}"/>
                </c:ext>
              </c:extLst>
            </c:dLbl>
            <c:dLbl>
              <c:idx val="8"/>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D3D9-4E31-8A2A-7C3554E289C9}"/>
                </c:ext>
              </c:extLst>
            </c:dLbl>
            <c:dLbl>
              <c:idx val="9"/>
              <c:numFmt formatCode="&quot;MMM&quot;;&quot;MMM&quot;;&quot;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D3D9-4E31-8A2A-7C3554E289C9}"/>
                </c:ext>
              </c:extLst>
            </c:dLbl>
            <c:dLbl>
              <c:idx val="10"/>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D3D9-4E31-8A2A-7C3554E289C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Lit>
          </c:cat>
          <c:val>
            <c:numLit>
              <c:formatCode>General</c:formatCode>
              <c:ptCount val="11"/>
              <c:pt idx="0">
                <c:v>15.401240790072531</c:v>
              </c:pt>
              <c:pt idx="1">
                <c:v>13.483170759180721</c:v>
              </c:pt>
              <c:pt idx="2">
                <c:v>9.2993528836453887</c:v>
              </c:pt>
              <c:pt idx="3">
                <c:v>6.532876475193234</c:v>
              </c:pt>
              <c:pt idx="4">
                <c:v>6.4733198297118948</c:v>
              </c:pt>
              <c:pt idx="5">
                <c:v>6.4332446808721819</c:v>
              </c:pt>
              <c:pt idx="6">
                <c:v>5.1503700280767655</c:v>
              </c:pt>
              <c:pt idx="7">
                <c:v>3.1015192989370006</c:v>
              </c:pt>
              <c:pt idx="8">
                <c:v>2.1645981368190892</c:v>
              </c:pt>
              <c:pt idx="9">
                <c:v>2.136096181068746</c:v>
              </c:pt>
              <c:pt idx="10">
                <c:v>29.824210936422443</c:v>
              </c:pt>
            </c:numLit>
          </c:val>
          <c:extLst>
            <c:ext xmlns:c16="http://schemas.microsoft.com/office/drawing/2014/chart" uri="{C3380CC4-5D6E-409C-BE32-E72D297353CC}">
              <c16:uniqueId val="{00000016-D3D9-4E31-8A2A-7C3554E289C9}"/>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9A82-4EE1-A612-08A6CA64D481}"/>
              </c:ext>
            </c:extLst>
          </c:dPt>
          <c:dPt>
            <c:idx val="1"/>
            <c:bubble3D val="0"/>
            <c:spPr>
              <a:solidFill>
                <a:srgbClr val="9E7E0A"/>
              </a:solidFill>
            </c:spPr>
            <c:extLst>
              <c:ext xmlns:c16="http://schemas.microsoft.com/office/drawing/2014/chart" uri="{C3380CC4-5D6E-409C-BE32-E72D297353CC}">
                <c16:uniqueId val="{00000003-9A82-4EE1-A612-08A6CA64D481}"/>
              </c:ext>
            </c:extLst>
          </c:dPt>
          <c:dPt>
            <c:idx val="2"/>
            <c:bubble3D val="0"/>
            <c:spPr>
              <a:solidFill>
                <a:srgbClr val="008189"/>
              </a:solidFill>
            </c:spPr>
            <c:extLst>
              <c:ext xmlns:c16="http://schemas.microsoft.com/office/drawing/2014/chart" uri="{C3380CC4-5D6E-409C-BE32-E72D297353CC}">
                <c16:uniqueId val="{00000005-9A82-4EE1-A612-08A6CA64D481}"/>
              </c:ext>
            </c:extLst>
          </c:dPt>
          <c:dPt>
            <c:idx val="3"/>
            <c:bubble3D val="0"/>
            <c:spPr>
              <a:solidFill>
                <a:srgbClr val="40315E"/>
              </a:solidFill>
            </c:spPr>
            <c:extLst>
              <c:ext xmlns:c16="http://schemas.microsoft.com/office/drawing/2014/chart" uri="{C3380CC4-5D6E-409C-BE32-E72D297353CC}">
                <c16:uniqueId val="{00000007-9A82-4EE1-A612-08A6CA64D481}"/>
              </c:ext>
            </c:extLst>
          </c:dPt>
          <c:dPt>
            <c:idx val="4"/>
            <c:bubble3D val="0"/>
            <c:spPr>
              <a:solidFill>
                <a:srgbClr val="A35313"/>
              </a:solidFill>
            </c:spPr>
            <c:extLst>
              <c:ext xmlns:c16="http://schemas.microsoft.com/office/drawing/2014/chart" uri="{C3380CC4-5D6E-409C-BE32-E72D297353CC}">
                <c16:uniqueId val="{00000009-9A82-4EE1-A612-08A6CA64D481}"/>
              </c:ext>
            </c:extLst>
          </c:dPt>
          <c:dPt>
            <c:idx val="5"/>
            <c:bubble3D val="0"/>
            <c:spPr>
              <a:solidFill>
                <a:srgbClr val="808080"/>
              </a:solidFill>
            </c:spPr>
            <c:extLst>
              <c:ext xmlns:c16="http://schemas.microsoft.com/office/drawing/2014/chart" uri="{C3380CC4-5D6E-409C-BE32-E72D297353CC}">
                <c16:uniqueId val="{0000000B-9A82-4EE1-A612-08A6CA64D481}"/>
              </c:ext>
            </c:extLst>
          </c:dPt>
          <c:dPt>
            <c:idx val="6"/>
            <c:bubble3D val="0"/>
            <c:spPr>
              <a:solidFill>
                <a:srgbClr val="0E72AE"/>
              </a:solidFill>
            </c:spPr>
            <c:extLst>
              <c:ext xmlns:c16="http://schemas.microsoft.com/office/drawing/2014/chart" uri="{C3380CC4-5D6E-409C-BE32-E72D297353CC}">
                <c16:uniqueId val="{0000000D-9A82-4EE1-A612-08A6CA64D481}"/>
              </c:ext>
            </c:extLst>
          </c:dPt>
          <c:dPt>
            <c:idx val="7"/>
            <c:bubble3D val="0"/>
            <c:spPr>
              <a:solidFill>
                <a:srgbClr val="A86F00"/>
              </a:solidFill>
            </c:spPr>
            <c:extLst>
              <c:ext xmlns:c16="http://schemas.microsoft.com/office/drawing/2014/chart" uri="{C3380CC4-5D6E-409C-BE32-E72D297353CC}">
                <c16:uniqueId val="{0000000F-9A82-4EE1-A612-08A6CA64D481}"/>
              </c:ext>
            </c:extLst>
          </c:dPt>
          <c:dPt>
            <c:idx val="8"/>
            <c:bubble3D val="0"/>
            <c:spPr>
              <a:solidFill>
                <a:srgbClr val="0B2E4A"/>
              </a:solidFill>
            </c:spPr>
            <c:extLst>
              <c:ext xmlns:c16="http://schemas.microsoft.com/office/drawing/2014/chart" uri="{C3380CC4-5D6E-409C-BE32-E72D297353CC}">
                <c16:uniqueId val="{00000011-9A82-4EE1-A612-08A6CA64D481}"/>
              </c:ext>
            </c:extLst>
          </c:dPt>
          <c:dPt>
            <c:idx val="9"/>
            <c:bubble3D val="0"/>
            <c:spPr>
              <a:solidFill>
                <a:srgbClr val="6C7A89"/>
              </a:solidFill>
            </c:spPr>
            <c:extLst>
              <c:ext xmlns:c16="http://schemas.microsoft.com/office/drawing/2014/chart" uri="{C3380CC4-5D6E-409C-BE32-E72D297353CC}">
                <c16:uniqueId val="{00000013-9A82-4EE1-A612-08A6CA64D481}"/>
              </c:ext>
            </c:extLst>
          </c:dPt>
          <c:dPt>
            <c:idx val="10"/>
            <c:bubble3D val="0"/>
            <c:spPr>
              <a:solidFill>
                <a:srgbClr val="B9B3AC"/>
              </a:solidFill>
            </c:spPr>
            <c:extLst>
              <c:ext xmlns:c16="http://schemas.microsoft.com/office/drawing/2014/chart" uri="{C3380CC4-5D6E-409C-BE32-E72D297353CC}">
                <c16:uniqueId val="{00000015-9A82-4EE1-A612-08A6CA64D481}"/>
              </c:ext>
            </c:extLst>
          </c:dPt>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A82-4EE1-A612-08A6CA64D481}"/>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A82-4EE1-A612-08A6CA64D481}"/>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A82-4EE1-A612-08A6CA64D481}"/>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A82-4EE1-A612-08A6CA64D481}"/>
                </c:ext>
              </c:extLst>
            </c:dLbl>
            <c:dLbl>
              <c:idx val="4"/>
              <c:numFmt formatCode="&quot;MMM&quot;;&quot;MMM&quot;;&quot;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A82-4EE1-A612-08A6CA64D481}"/>
                </c:ext>
              </c:extLst>
            </c:dLbl>
            <c:dLbl>
              <c:idx val="5"/>
              <c:numFmt formatCode="&quot;MMM&quot;;&quot;MMM&quot;;&quot;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9A82-4EE1-A612-08A6CA64D481}"/>
                </c:ext>
              </c:extLst>
            </c:dLbl>
            <c:dLbl>
              <c:idx val="6"/>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9A82-4EE1-A612-08A6CA64D481}"/>
                </c:ext>
              </c:extLst>
            </c:dLbl>
            <c:dLbl>
              <c:idx val="7"/>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9A82-4EE1-A612-08A6CA64D481}"/>
                </c:ext>
              </c:extLst>
            </c:dLbl>
            <c:dLbl>
              <c:idx val="8"/>
              <c:numFmt formatCode="&quot;MMM&quot;;&quot;MMM&quot;;&quot;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9A82-4EE1-A612-08A6CA64D481}"/>
                </c:ext>
              </c:extLst>
            </c:dLbl>
            <c:dLbl>
              <c:idx val="9"/>
              <c:numFmt formatCode="&quot;MMM&quot;;&quot;MMM&quot;;&quot;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9A82-4EE1-A612-08A6CA64D481}"/>
                </c:ext>
              </c:extLst>
            </c:dLbl>
            <c:dLbl>
              <c:idx val="10"/>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9A82-4EE1-A612-08A6CA64D48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Lit>
          </c:cat>
          <c:val>
            <c:numLit>
              <c:formatCode>General</c:formatCode>
              <c:ptCount val="11"/>
              <c:pt idx="0">
                <c:v>11.693602256562977</c:v>
              </c:pt>
              <c:pt idx="1">
                <c:v>9.9890701454987205</c:v>
              </c:pt>
              <c:pt idx="2">
                <c:v>11.264513875278551</c:v>
              </c:pt>
              <c:pt idx="3">
                <c:v>11.542462021743303</c:v>
              </c:pt>
              <c:pt idx="4">
                <c:v>9.1707126254733691</c:v>
              </c:pt>
              <c:pt idx="5">
                <c:v>5.6937156548427303</c:v>
              </c:pt>
              <c:pt idx="6">
                <c:v>3.7515880157620747</c:v>
              </c:pt>
              <c:pt idx="7">
                <c:v>3.2400766712412858</c:v>
              </c:pt>
              <c:pt idx="8">
                <c:v>3.3901784262482124</c:v>
              </c:pt>
              <c:pt idx="9">
                <c:v>3.0300946920704144</c:v>
              </c:pt>
              <c:pt idx="10">
                <c:v>27.23398561527836</c:v>
              </c:pt>
            </c:numLit>
          </c:val>
          <c:extLst>
            <c:ext xmlns:c16="http://schemas.microsoft.com/office/drawing/2014/chart" uri="{C3380CC4-5D6E-409C-BE32-E72D297353CC}">
              <c16:uniqueId val="{00000016-9A82-4EE1-A612-08A6CA64D481}"/>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48F4-4531-A4D2-E58A78BB5E9F}"/>
              </c:ext>
            </c:extLst>
          </c:dPt>
          <c:dPt>
            <c:idx val="1"/>
            <c:bubble3D val="0"/>
            <c:spPr>
              <a:solidFill>
                <a:srgbClr val="9E7E0A"/>
              </a:solidFill>
            </c:spPr>
            <c:extLst>
              <c:ext xmlns:c16="http://schemas.microsoft.com/office/drawing/2014/chart" uri="{C3380CC4-5D6E-409C-BE32-E72D297353CC}">
                <c16:uniqueId val="{00000003-48F4-4531-A4D2-E58A78BB5E9F}"/>
              </c:ext>
            </c:extLst>
          </c:dPt>
          <c:dPt>
            <c:idx val="2"/>
            <c:bubble3D val="0"/>
            <c:spPr>
              <a:solidFill>
                <a:srgbClr val="008189"/>
              </a:solidFill>
            </c:spPr>
            <c:extLst>
              <c:ext xmlns:c16="http://schemas.microsoft.com/office/drawing/2014/chart" uri="{C3380CC4-5D6E-409C-BE32-E72D297353CC}">
                <c16:uniqueId val="{00000005-48F4-4531-A4D2-E58A78BB5E9F}"/>
              </c:ext>
            </c:extLst>
          </c:dPt>
          <c:dPt>
            <c:idx val="3"/>
            <c:bubble3D val="0"/>
            <c:spPr>
              <a:solidFill>
                <a:srgbClr val="40315E"/>
              </a:solidFill>
            </c:spPr>
            <c:extLst>
              <c:ext xmlns:c16="http://schemas.microsoft.com/office/drawing/2014/chart" uri="{C3380CC4-5D6E-409C-BE32-E72D297353CC}">
                <c16:uniqueId val="{00000007-48F4-4531-A4D2-E58A78BB5E9F}"/>
              </c:ext>
            </c:extLst>
          </c:dPt>
          <c:dPt>
            <c:idx val="4"/>
            <c:bubble3D val="0"/>
            <c:spPr>
              <a:solidFill>
                <a:srgbClr val="A35313"/>
              </a:solidFill>
            </c:spPr>
            <c:extLst>
              <c:ext xmlns:c16="http://schemas.microsoft.com/office/drawing/2014/chart" uri="{C3380CC4-5D6E-409C-BE32-E72D297353CC}">
                <c16:uniqueId val="{00000009-48F4-4531-A4D2-E58A78BB5E9F}"/>
              </c:ext>
            </c:extLst>
          </c:dPt>
          <c:dPt>
            <c:idx val="5"/>
            <c:bubble3D val="0"/>
            <c:spPr>
              <a:solidFill>
                <a:srgbClr val="808080"/>
              </a:solidFill>
            </c:spPr>
            <c:extLst>
              <c:ext xmlns:c16="http://schemas.microsoft.com/office/drawing/2014/chart" uri="{C3380CC4-5D6E-409C-BE32-E72D297353CC}">
                <c16:uniqueId val="{0000000B-48F4-4531-A4D2-E58A78BB5E9F}"/>
              </c:ext>
            </c:extLst>
          </c:dPt>
          <c:dPt>
            <c:idx val="6"/>
            <c:bubble3D val="0"/>
            <c:spPr>
              <a:solidFill>
                <a:srgbClr val="0E72AE"/>
              </a:solidFill>
            </c:spPr>
            <c:extLst>
              <c:ext xmlns:c16="http://schemas.microsoft.com/office/drawing/2014/chart" uri="{C3380CC4-5D6E-409C-BE32-E72D297353CC}">
                <c16:uniqueId val="{0000000D-48F4-4531-A4D2-E58A78BB5E9F}"/>
              </c:ext>
            </c:extLst>
          </c:dPt>
          <c:dPt>
            <c:idx val="7"/>
            <c:bubble3D val="0"/>
            <c:spPr>
              <a:solidFill>
                <a:srgbClr val="A86F00"/>
              </a:solidFill>
            </c:spPr>
            <c:extLst>
              <c:ext xmlns:c16="http://schemas.microsoft.com/office/drawing/2014/chart" uri="{C3380CC4-5D6E-409C-BE32-E72D297353CC}">
                <c16:uniqueId val="{0000000F-48F4-4531-A4D2-E58A78BB5E9F}"/>
              </c:ext>
            </c:extLst>
          </c:dPt>
          <c:dPt>
            <c:idx val="8"/>
            <c:bubble3D val="0"/>
            <c:spPr>
              <a:solidFill>
                <a:srgbClr val="0B2E4A"/>
              </a:solidFill>
            </c:spPr>
            <c:extLst>
              <c:ext xmlns:c16="http://schemas.microsoft.com/office/drawing/2014/chart" uri="{C3380CC4-5D6E-409C-BE32-E72D297353CC}">
                <c16:uniqueId val="{00000011-48F4-4531-A4D2-E58A78BB5E9F}"/>
              </c:ext>
            </c:extLst>
          </c:dPt>
          <c:dPt>
            <c:idx val="9"/>
            <c:bubble3D val="0"/>
            <c:spPr>
              <a:solidFill>
                <a:srgbClr val="6C7A89"/>
              </a:solidFill>
            </c:spPr>
            <c:extLst>
              <c:ext xmlns:c16="http://schemas.microsoft.com/office/drawing/2014/chart" uri="{C3380CC4-5D6E-409C-BE32-E72D297353CC}">
                <c16:uniqueId val="{00000013-48F4-4531-A4D2-E58A78BB5E9F}"/>
              </c:ext>
            </c:extLst>
          </c:dPt>
          <c:dPt>
            <c:idx val="10"/>
            <c:bubble3D val="0"/>
            <c:spPr>
              <a:solidFill>
                <a:srgbClr val="B9B3AC"/>
              </a:solidFill>
            </c:spPr>
            <c:extLst>
              <c:ext xmlns:c16="http://schemas.microsoft.com/office/drawing/2014/chart" uri="{C3380CC4-5D6E-409C-BE32-E72D297353CC}">
                <c16:uniqueId val="{00000015-48F4-4531-A4D2-E58A78BB5E9F}"/>
              </c:ext>
            </c:extLst>
          </c:dPt>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8F4-4531-A4D2-E58A78BB5E9F}"/>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8F4-4531-A4D2-E58A78BB5E9F}"/>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8F4-4531-A4D2-E58A78BB5E9F}"/>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8F4-4531-A4D2-E58A78BB5E9F}"/>
                </c:ext>
              </c:extLst>
            </c:dLbl>
            <c:dLbl>
              <c:idx val="4"/>
              <c:numFmt formatCode="&quot;MMM&quot;;&quot;MMM&quot;;&quot;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8F4-4531-A4D2-E58A78BB5E9F}"/>
                </c:ext>
              </c:extLst>
            </c:dLbl>
            <c:dLbl>
              <c:idx val="5"/>
              <c:numFmt formatCode="&quot;MMM&quot;;&quot;MMM&quot;;&quot;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48F4-4531-A4D2-E58A78BB5E9F}"/>
                </c:ext>
              </c:extLst>
            </c:dLbl>
            <c:dLbl>
              <c:idx val="6"/>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48F4-4531-A4D2-E58A78BB5E9F}"/>
                </c:ext>
              </c:extLst>
            </c:dLbl>
            <c:dLbl>
              <c:idx val="7"/>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48F4-4531-A4D2-E58A78BB5E9F}"/>
                </c:ext>
              </c:extLst>
            </c:dLbl>
            <c:dLbl>
              <c:idx val="8"/>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48F4-4531-A4D2-E58A78BB5E9F}"/>
                </c:ext>
              </c:extLst>
            </c:dLbl>
            <c:dLbl>
              <c:idx val="9"/>
              <c:numFmt formatCode="&quot;MMM&quot;;&quot;MMM&quot;;&quot;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48F4-4531-A4D2-E58A78BB5E9F}"/>
                </c:ext>
              </c:extLst>
            </c:dLbl>
            <c:dLbl>
              <c:idx val="10"/>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48F4-4531-A4D2-E58A78BB5E9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Lit>
          </c:cat>
          <c:val>
            <c:numLit>
              <c:formatCode>General</c:formatCode>
              <c:ptCount val="11"/>
              <c:pt idx="0">
                <c:v>12.127056022733685</c:v>
              </c:pt>
              <c:pt idx="1">
                <c:v>13.515963661294228</c:v>
              </c:pt>
              <c:pt idx="2">
                <c:v>13.672509787055716</c:v>
              </c:pt>
              <c:pt idx="3">
                <c:v>10.747277583816313</c:v>
              </c:pt>
              <c:pt idx="4">
                <c:v>6.8538199238753492</c:v>
              </c:pt>
              <c:pt idx="5">
                <c:v>4.5275404515176012</c:v>
              </c:pt>
              <c:pt idx="6">
                <c:v>4.3515045192946022</c:v>
              </c:pt>
              <c:pt idx="7">
                <c:v>4.386878793633664</c:v>
              </c:pt>
              <c:pt idx="8">
                <c:v>3.8343075690671227</c:v>
              </c:pt>
              <c:pt idx="9">
                <c:v>2.614124464284719</c:v>
              </c:pt>
              <c:pt idx="10">
                <c:v>23.369017223427004</c:v>
              </c:pt>
            </c:numLit>
          </c:val>
          <c:extLst>
            <c:ext xmlns:c16="http://schemas.microsoft.com/office/drawing/2014/chart" uri="{C3380CC4-5D6E-409C-BE32-E72D297353CC}">
              <c16:uniqueId val="{00000016-48F4-4531-A4D2-E58A78BB5E9F}"/>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053C-403B-879C-1A095FC3312B}"/>
              </c:ext>
            </c:extLst>
          </c:dPt>
          <c:dPt>
            <c:idx val="1"/>
            <c:bubble3D val="0"/>
            <c:spPr>
              <a:solidFill>
                <a:srgbClr val="9E7E0A"/>
              </a:solidFill>
            </c:spPr>
            <c:extLst>
              <c:ext xmlns:c16="http://schemas.microsoft.com/office/drawing/2014/chart" uri="{C3380CC4-5D6E-409C-BE32-E72D297353CC}">
                <c16:uniqueId val="{00000003-053C-403B-879C-1A095FC3312B}"/>
              </c:ext>
            </c:extLst>
          </c:dPt>
          <c:dPt>
            <c:idx val="2"/>
            <c:bubble3D val="0"/>
            <c:spPr>
              <a:solidFill>
                <a:srgbClr val="008189"/>
              </a:solidFill>
            </c:spPr>
            <c:extLst>
              <c:ext xmlns:c16="http://schemas.microsoft.com/office/drawing/2014/chart" uri="{C3380CC4-5D6E-409C-BE32-E72D297353CC}">
                <c16:uniqueId val="{00000005-053C-403B-879C-1A095FC3312B}"/>
              </c:ext>
            </c:extLst>
          </c:dPt>
          <c:dPt>
            <c:idx val="3"/>
            <c:bubble3D val="0"/>
            <c:spPr>
              <a:solidFill>
                <a:srgbClr val="40315E"/>
              </a:solidFill>
            </c:spPr>
            <c:extLst>
              <c:ext xmlns:c16="http://schemas.microsoft.com/office/drawing/2014/chart" uri="{C3380CC4-5D6E-409C-BE32-E72D297353CC}">
                <c16:uniqueId val="{00000007-053C-403B-879C-1A095FC3312B}"/>
              </c:ext>
            </c:extLst>
          </c:dPt>
          <c:dPt>
            <c:idx val="4"/>
            <c:bubble3D val="0"/>
            <c:spPr>
              <a:solidFill>
                <a:srgbClr val="A35313"/>
              </a:solidFill>
            </c:spPr>
            <c:extLst>
              <c:ext xmlns:c16="http://schemas.microsoft.com/office/drawing/2014/chart" uri="{C3380CC4-5D6E-409C-BE32-E72D297353CC}">
                <c16:uniqueId val="{00000009-053C-403B-879C-1A095FC3312B}"/>
              </c:ext>
            </c:extLst>
          </c:dPt>
          <c:dPt>
            <c:idx val="5"/>
            <c:bubble3D val="0"/>
            <c:spPr>
              <a:solidFill>
                <a:srgbClr val="808080"/>
              </a:solidFill>
            </c:spPr>
            <c:extLst>
              <c:ext xmlns:c16="http://schemas.microsoft.com/office/drawing/2014/chart" uri="{C3380CC4-5D6E-409C-BE32-E72D297353CC}">
                <c16:uniqueId val="{0000000B-053C-403B-879C-1A095FC3312B}"/>
              </c:ext>
            </c:extLst>
          </c:dPt>
          <c:dPt>
            <c:idx val="6"/>
            <c:bubble3D val="0"/>
            <c:spPr>
              <a:solidFill>
                <a:srgbClr val="0E72AE"/>
              </a:solidFill>
            </c:spPr>
            <c:extLst>
              <c:ext xmlns:c16="http://schemas.microsoft.com/office/drawing/2014/chart" uri="{C3380CC4-5D6E-409C-BE32-E72D297353CC}">
                <c16:uniqueId val="{0000000D-053C-403B-879C-1A095FC3312B}"/>
              </c:ext>
            </c:extLst>
          </c:dPt>
          <c:dPt>
            <c:idx val="7"/>
            <c:bubble3D val="0"/>
            <c:spPr>
              <a:solidFill>
                <a:srgbClr val="A86F00"/>
              </a:solidFill>
            </c:spPr>
            <c:extLst>
              <c:ext xmlns:c16="http://schemas.microsoft.com/office/drawing/2014/chart" uri="{C3380CC4-5D6E-409C-BE32-E72D297353CC}">
                <c16:uniqueId val="{0000000F-053C-403B-879C-1A095FC3312B}"/>
              </c:ext>
            </c:extLst>
          </c:dPt>
          <c:dPt>
            <c:idx val="8"/>
            <c:bubble3D val="0"/>
            <c:spPr>
              <a:solidFill>
                <a:srgbClr val="0B2E4A"/>
              </a:solidFill>
            </c:spPr>
            <c:extLst>
              <c:ext xmlns:c16="http://schemas.microsoft.com/office/drawing/2014/chart" uri="{C3380CC4-5D6E-409C-BE32-E72D297353CC}">
                <c16:uniqueId val="{00000011-053C-403B-879C-1A095FC3312B}"/>
              </c:ext>
            </c:extLst>
          </c:dPt>
          <c:dPt>
            <c:idx val="9"/>
            <c:bubble3D val="0"/>
            <c:spPr>
              <a:solidFill>
                <a:srgbClr val="6C7A89"/>
              </a:solidFill>
            </c:spPr>
            <c:extLst>
              <c:ext xmlns:c16="http://schemas.microsoft.com/office/drawing/2014/chart" uri="{C3380CC4-5D6E-409C-BE32-E72D297353CC}">
                <c16:uniqueId val="{00000013-053C-403B-879C-1A095FC3312B}"/>
              </c:ext>
            </c:extLst>
          </c:dPt>
          <c:dPt>
            <c:idx val="10"/>
            <c:bubble3D val="0"/>
            <c:spPr>
              <a:solidFill>
                <a:srgbClr val="B9B3AC"/>
              </a:solidFill>
            </c:spPr>
            <c:extLst>
              <c:ext xmlns:c16="http://schemas.microsoft.com/office/drawing/2014/chart" uri="{C3380CC4-5D6E-409C-BE32-E72D297353CC}">
                <c16:uniqueId val="{00000015-053C-403B-879C-1A095FC3312B}"/>
              </c:ext>
            </c:extLst>
          </c:dPt>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53C-403B-879C-1A095FC3312B}"/>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53C-403B-879C-1A095FC3312B}"/>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53C-403B-879C-1A095FC3312B}"/>
                </c:ext>
              </c:extLst>
            </c:dLbl>
            <c:dLbl>
              <c:idx val="3"/>
              <c:numFmt formatCode="&quot;MMM&quot;;&quot;MMM&quot;;&quot;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53C-403B-879C-1A095FC3312B}"/>
                </c:ext>
              </c:extLst>
            </c:dLbl>
            <c:dLbl>
              <c:idx val="4"/>
              <c:numFmt formatCode="&quot;MMM&quot;;&quot;MMM&quot;;&quot;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53C-403B-879C-1A095FC3312B}"/>
                </c:ext>
              </c:extLst>
            </c:dLbl>
            <c:dLbl>
              <c:idx val="5"/>
              <c:numFmt formatCode="&quot;MMM&quot;;&quot;MMM&quot;;&quot;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053C-403B-879C-1A095FC3312B}"/>
                </c:ext>
              </c:extLst>
            </c:dLbl>
            <c:dLbl>
              <c:idx val="6"/>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053C-403B-879C-1A095FC3312B}"/>
                </c:ext>
              </c:extLst>
            </c:dLbl>
            <c:dLbl>
              <c:idx val="7"/>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053C-403B-879C-1A095FC3312B}"/>
                </c:ext>
              </c:extLst>
            </c:dLbl>
            <c:dLbl>
              <c:idx val="8"/>
              <c:numFmt formatCode="&quot;MMM&quot;;&quot;MMM&quot;;&quot;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053C-403B-879C-1A095FC3312B}"/>
                </c:ext>
              </c:extLst>
            </c:dLbl>
            <c:dLbl>
              <c:idx val="9"/>
              <c:numFmt formatCode="&quot;MMM&quot;;&quot;MMM&quot;;&quot;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053C-403B-879C-1A095FC3312B}"/>
                </c:ext>
              </c:extLst>
            </c:dLbl>
            <c:dLbl>
              <c:idx val="10"/>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053C-403B-879C-1A095FC3312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Lit>
          </c:cat>
          <c:val>
            <c:numLit>
              <c:formatCode>General</c:formatCode>
              <c:ptCount val="11"/>
              <c:pt idx="0">
                <c:v>16.616982878130067</c:v>
              </c:pt>
              <c:pt idx="1">
                <c:v>15.838373751146182</c:v>
              </c:pt>
              <c:pt idx="2">
                <c:v>12.226323321243273</c:v>
              </c:pt>
              <c:pt idx="3">
                <c:v>7.9560187929511281</c:v>
              </c:pt>
              <c:pt idx="4">
                <c:v>5.814138033935409</c:v>
              </c:pt>
              <c:pt idx="5">
                <c:v>5.6187624351137169</c:v>
              </c:pt>
              <c:pt idx="6">
                <c:v>5.8512590381909524</c:v>
              </c:pt>
              <c:pt idx="7">
                <c:v>4.7673503513720474</c:v>
              </c:pt>
              <c:pt idx="8">
                <c:v>3.1905899020099833</c:v>
              </c:pt>
              <c:pt idx="9">
                <c:v>1.9266097914653117</c:v>
              </c:pt>
              <c:pt idx="10">
                <c:v>20.193591704441936</c:v>
              </c:pt>
            </c:numLit>
          </c:val>
          <c:extLst>
            <c:ext xmlns:c16="http://schemas.microsoft.com/office/drawing/2014/chart" uri="{C3380CC4-5D6E-409C-BE32-E72D297353CC}">
              <c16:uniqueId val="{00000016-053C-403B-879C-1A095FC3312B}"/>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1376-4766-B8A4-225A6D2A6433}"/>
              </c:ext>
            </c:extLst>
          </c:dPt>
          <c:dPt>
            <c:idx val="1"/>
            <c:bubble3D val="0"/>
            <c:spPr>
              <a:solidFill>
                <a:srgbClr val="9E7E0A"/>
              </a:solidFill>
            </c:spPr>
            <c:extLst>
              <c:ext xmlns:c16="http://schemas.microsoft.com/office/drawing/2014/chart" uri="{C3380CC4-5D6E-409C-BE32-E72D297353CC}">
                <c16:uniqueId val="{00000003-1376-4766-B8A4-225A6D2A6433}"/>
              </c:ext>
            </c:extLst>
          </c:dPt>
          <c:dPt>
            <c:idx val="2"/>
            <c:bubble3D val="0"/>
            <c:spPr>
              <a:solidFill>
                <a:srgbClr val="008189"/>
              </a:solidFill>
            </c:spPr>
            <c:extLst>
              <c:ext xmlns:c16="http://schemas.microsoft.com/office/drawing/2014/chart" uri="{C3380CC4-5D6E-409C-BE32-E72D297353CC}">
                <c16:uniqueId val="{00000005-1376-4766-B8A4-225A6D2A6433}"/>
              </c:ext>
            </c:extLst>
          </c:dPt>
          <c:dPt>
            <c:idx val="3"/>
            <c:bubble3D val="0"/>
            <c:spPr>
              <a:solidFill>
                <a:srgbClr val="40315E"/>
              </a:solidFill>
            </c:spPr>
            <c:extLst>
              <c:ext xmlns:c16="http://schemas.microsoft.com/office/drawing/2014/chart" uri="{C3380CC4-5D6E-409C-BE32-E72D297353CC}">
                <c16:uniqueId val="{00000007-1376-4766-B8A4-225A6D2A6433}"/>
              </c:ext>
            </c:extLst>
          </c:dPt>
          <c:dPt>
            <c:idx val="4"/>
            <c:bubble3D val="0"/>
            <c:spPr>
              <a:solidFill>
                <a:srgbClr val="A35313"/>
              </a:solidFill>
            </c:spPr>
            <c:extLst>
              <c:ext xmlns:c16="http://schemas.microsoft.com/office/drawing/2014/chart" uri="{C3380CC4-5D6E-409C-BE32-E72D297353CC}">
                <c16:uniqueId val="{00000009-1376-4766-B8A4-225A6D2A6433}"/>
              </c:ext>
            </c:extLst>
          </c:dPt>
          <c:dPt>
            <c:idx val="5"/>
            <c:bubble3D val="0"/>
            <c:spPr>
              <a:solidFill>
                <a:srgbClr val="808080"/>
              </a:solidFill>
            </c:spPr>
            <c:extLst>
              <c:ext xmlns:c16="http://schemas.microsoft.com/office/drawing/2014/chart" uri="{C3380CC4-5D6E-409C-BE32-E72D297353CC}">
                <c16:uniqueId val="{0000000B-1376-4766-B8A4-225A6D2A6433}"/>
              </c:ext>
            </c:extLst>
          </c:dPt>
          <c:dPt>
            <c:idx val="6"/>
            <c:bubble3D val="0"/>
            <c:spPr>
              <a:solidFill>
                <a:srgbClr val="0E72AE"/>
              </a:solidFill>
            </c:spPr>
            <c:extLst>
              <c:ext xmlns:c16="http://schemas.microsoft.com/office/drawing/2014/chart" uri="{C3380CC4-5D6E-409C-BE32-E72D297353CC}">
                <c16:uniqueId val="{0000000D-1376-4766-B8A4-225A6D2A6433}"/>
              </c:ext>
            </c:extLst>
          </c:dPt>
          <c:dPt>
            <c:idx val="7"/>
            <c:bubble3D val="0"/>
            <c:spPr>
              <a:solidFill>
                <a:srgbClr val="A86F00"/>
              </a:solidFill>
            </c:spPr>
            <c:extLst>
              <c:ext xmlns:c16="http://schemas.microsoft.com/office/drawing/2014/chart" uri="{C3380CC4-5D6E-409C-BE32-E72D297353CC}">
                <c16:uniqueId val="{0000000F-1376-4766-B8A4-225A6D2A6433}"/>
              </c:ext>
            </c:extLst>
          </c:dPt>
          <c:dPt>
            <c:idx val="8"/>
            <c:bubble3D val="0"/>
            <c:spPr>
              <a:solidFill>
                <a:srgbClr val="0B2E4A"/>
              </a:solidFill>
            </c:spPr>
            <c:extLst>
              <c:ext xmlns:c16="http://schemas.microsoft.com/office/drawing/2014/chart" uri="{C3380CC4-5D6E-409C-BE32-E72D297353CC}">
                <c16:uniqueId val="{00000011-1376-4766-B8A4-225A6D2A6433}"/>
              </c:ext>
            </c:extLst>
          </c:dPt>
          <c:dPt>
            <c:idx val="9"/>
            <c:bubble3D val="0"/>
            <c:spPr>
              <a:solidFill>
                <a:srgbClr val="6C7A89"/>
              </a:solidFill>
            </c:spPr>
            <c:extLst>
              <c:ext xmlns:c16="http://schemas.microsoft.com/office/drawing/2014/chart" uri="{C3380CC4-5D6E-409C-BE32-E72D297353CC}">
                <c16:uniqueId val="{00000013-1376-4766-B8A4-225A6D2A6433}"/>
              </c:ext>
            </c:extLst>
          </c:dPt>
          <c:dPt>
            <c:idx val="10"/>
            <c:bubble3D val="0"/>
            <c:spPr>
              <a:solidFill>
                <a:srgbClr val="B9B3AC"/>
              </a:solidFill>
            </c:spPr>
            <c:extLst>
              <c:ext xmlns:c16="http://schemas.microsoft.com/office/drawing/2014/chart" uri="{C3380CC4-5D6E-409C-BE32-E72D297353CC}">
                <c16:uniqueId val="{00000015-1376-4766-B8A4-225A6D2A6433}"/>
              </c:ext>
            </c:extLst>
          </c:dPt>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376-4766-B8A4-225A6D2A6433}"/>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376-4766-B8A4-225A6D2A6433}"/>
                </c:ext>
              </c:extLst>
            </c:dLbl>
            <c:dLbl>
              <c:idx val="2"/>
              <c:numFmt formatCode="&quot;MMM&quot;;&quot;MMM&quot;;&quot;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376-4766-B8A4-225A6D2A6433}"/>
                </c:ext>
              </c:extLst>
            </c:dLbl>
            <c:dLbl>
              <c:idx val="3"/>
              <c:numFmt formatCode="&quot;MMM&quot;;&quot;MMM&quot;;&quot;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376-4766-B8A4-225A6D2A6433}"/>
                </c:ext>
              </c:extLst>
            </c:dLbl>
            <c:dLbl>
              <c:idx val="4"/>
              <c:numFmt formatCode="&quot;MMM&quot;;&quot;MMM&quot;;&quot;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376-4766-B8A4-225A6D2A6433}"/>
                </c:ext>
              </c:extLst>
            </c:dLbl>
            <c:dLbl>
              <c:idx val="5"/>
              <c:numFmt formatCode="&quot;MMM&quot;;&quot;MMM&quot;;&quot;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376-4766-B8A4-225A6D2A6433}"/>
                </c:ext>
              </c:extLst>
            </c:dLbl>
            <c:dLbl>
              <c:idx val="6"/>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1376-4766-B8A4-225A6D2A6433}"/>
                </c:ext>
              </c:extLst>
            </c:dLbl>
            <c:dLbl>
              <c:idx val="7"/>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1376-4766-B8A4-225A6D2A6433}"/>
                </c:ext>
              </c:extLst>
            </c:dLbl>
            <c:dLbl>
              <c:idx val="8"/>
              <c:numFmt formatCode="&quot;MMM&quot;;&quot;MMM&quot;;&quot;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1376-4766-B8A4-225A6D2A6433}"/>
                </c:ext>
              </c:extLst>
            </c:dLbl>
            <c:dLbl>
              <c:idx val="9"/>
              <c:numFmt formatCode="&quot;MMM&quot;;&quot;MMM&quot;;&quot;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1376-4766-B8A4-225A6D2A6433}"/>
                </c:ext>
              </c:extLst>
            </c:dLbl>
            <c:dLbl>
              <c:idx val="10"/>
              <c:numFmt formatCode="&quot;MMMM&quot;;&quot;MMMM&quot;;&quot;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1376-4766-B8A4-225A6D2A643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Lit>
          </c:cat>
          <c:val>
            <c:numLit>
              <c:formatCode>General</c:formatCode>
              <c:ptCount val="11"/>
              <c:pt idx="0">
                <c:v>17.074931814674855</c:v>
              </c:pt>
              <c:pt idx="1">
                <c:v>12.550885260107192</c:v>
              </c:pt>
              <c:pt idx="2">
                <c:v>8.3800435626977183</c:v>
              </c:pt>
              <c:pt idx="3">
                <c:v>7.4449520148603341</c:v>
              </c:pt>
              <c:pt idx="4">
                <c:v>8.0466070830549192</c:v>
              </c:pt>
              <c:pt idx="5">
                <c:v>6.9192142292565153</c:v>
              </c:pt>
              <c:pt idx="6">
                <c:v>4.6910711746823317</c:v>
              </c:pt>
              <c:pt idx="7">
                <c:v>2.8651087985998398</c:v>
              </c:pt>
              <c:pt idx="8">
                <c:v>2.5603699333355889</c:v>
              </c:pt>
              <c:pt idx="9">
                <c:v>2.6169804142295043</c:v>
              </c:pt>
              <c:pt idx="10">
                <c:v>26.849835714501204</c:v>
              </c:pt>
            </c:numLit>
          </c:val>
          <c:extLst>
            <c:ext xmlns:c16="http://schemas.microsoft.com/office/drawing/2014/chart" uri="{C3380CC4-5D6E-409C-BE32-E72D297353CC}">
              <c16:uniqueId val="{00000016-1376-4766-B8A4-225A6D2A6433}"/>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2536-436C-B222-8F73CD39EC95}"/>
              </c:ext>
            </c:extLst>
          </c:dPt>
          <c:dPt>
            <c:idx val="1"/>
            <c:bubble3D val="0"/>
            <c:spPr>
              <a:solidFill>
                <a:srgbClr val="9E7E0A"/>
              </a:solidFill>
            </c:spPr>
            <c:extLst>
              <c:ext xmlns:c16="http://schemas.microsoft.com/office/drawing/2014/chart" uri="{C3380CC4-5D6E-409C-BE32-E72D297353CC}">
                <c16:uniqueId val="{00000003-2536-436C-B222-8F73CD39EC95}"/>
              </c:ext>
            </c:extLst>
          </c:dPt>
          <c:dPt>
            <c:idx val="2"/>
            <c:bubble3D val="0"/>
            <c:spPr>
              <a:solidFill>
                <a:srgbClr val="008189"/>
              </a:solidFill>
            </c:spPr>
            <c:extLst>
              <c:ext xmlns:c16="http://schemas.microsoft.com/office/drawing/2014/chart" uri="{C3380CC4-5D6E-409C-BE32-E72D297353CC}">
                <c16:uniqueId val="{00000005-2536-436C-B222-8F73CD39EC95}"/>
              </c:ext>
            </c:extLst>
          </c:dPt>
          <c:dPt>
            <c:idx val="3"/>
            <c:bubble3D val="0"/>
            <c:spPr>
              <a:solidFill>
                <a:srgbClr val="40315E"/>
              </a:solidFill>
            </c:spPr>
            <c:extLst>
              <c:ext xmlns:c16="http://schemas.microsoft.com/office/drawing/2014/chart" uri="{C3380CC4-5D6E-409C-BE32-E72D297353CC}">
                <c16:uniqueId val="{00000007-2536-436C-B222-8F73CD39EC95}"/>
              </c:ext>
            </c:extLst>
          </c:dPt>
          <c:dPt>
            <c:idx val="4"/>
            <c:bubble3D val="0"/>
            <c:spPr>
              <a:solidFill>
                <a:srgbClr val="A35313"/>
              </a:solidFill>
            </c:spPr>
            <c:extLst>
              <c:ext xmlns:c16="http://schemas.microsoft.com/office/drawing/2014/chart" uri="{C3380CC4-5D6E-409C-BE32-E72D297353CC}">
                <c16:uniqueId val="{00000009-2536-436C-B222-8F73CD39EC95}"/>
              </c:ext>
            </c:extLst>
          </c:dPt>
          <c:dPt>
            <c:idx val="5"/>
            <c:bubble3D val="0"/>
            <c:spPr>
              <a:solidFill>
                <a:srgbClr val="808080"/>
              </a:solidFill>
            </c:spPr>
            <c:extLst>
              <c:ext xmlns:c16="http://schemas.microsoft.com/office/drawing/2014/chart" uri="{C3380CC4-5D6E-409C-BE32-E72D297353CC}">
                <c16:uniqueId val="{0000000B-2536-436C-B222-8F73CD39EC95}"/>
              </c:ext>
            </c:extLst>
          </c:dPt>
          <c:dPt>
            <c:idx val="6"/>
            <c:bubble3D val="0"/>
            <c:spPr>
              <a:solidFill>
                <a:srgbClr val="0E72AE"/>
              </a:solidFill>
            </c:spPr>
            <c:extLst>
              <c:ext xmlns:c16="http://schemas.microsoft.com/office/drawing/2014/chart" uri="{C3380CC4-5D6E-409C-BE32-E72D297353CC}">
                <c16:uniqueId val="{0000000D-2536-436C-B222-8F73CD39EC95}"/>
              </c:ext>
            </c:extLst>
          </c:dPt>
          <c:dPt>
            <c:idx val="7"/>
            <c:bubble3D val="0"/>
            <c:spPr>
              <a:solidFill>
                <a:srgbClr val="A86F00"/>
              </a:solidFill>
            </c:spPr>
            <c:extLst>
              <c:ext xmlns:c16="http://schemas.microsoft.com/office/drawing/2014/chart" uri="{C3380CC4-5D6E-409C-BE32-E72D297353CC}">
                <c16:uniqueId val="{0000000F-2536-436C-B222-8F73CD39EC95}"/>
              </c:ext>
            </c:extLst>
          </c:dPt>
          <c:dPt>
            <c:idx val="8"/>
            <c:bubble3D val="0"/>
            <c:spPr>
              <a:solidFill>
                <a:srgbClr val="0B2E4A"/>
              </a:solidFill>
            </c:spPr>
            <c:extLst>
              <c:ext xmlns:c16="http://schemas.microsoft.com/office/drawing/2014/chart" uri="{C3380CC4-5D6E-409C-BE32-E72D297353CC}">
                <c16:uniqueId val="{00000011-2536-436C-B222-8F73CD39EC95}"/>
              </c:ext>
            </c:extLst>
          </c:dPt>
          <c:dPt>
            <c:idx val="9"/>
            <c:bubble3D val="0"/>
            <c:spPr>
              <a:solidFill>
                <a:srgbClr val="6C7A89"/>
              </a:solidFill>
            </c:spPr>
            <c:extLst>
              <c:ext xmlns:c16="http://schemas.microsoft.com/office/drawing/2014/chart" uri="{C3380CC4-5D6E-409C-BE32-E72D297353CC}">
                <c16:uniqueId val="{00000013-2536-436C-B222-8F73CD39EC95}"/>
              </c:ext>
            </c:extLst>
          </c:dPt>
          <c:dPt>
            <c:idx val="10"/>
            <c:bubble3D val="0"/>
            <c:spPr>
              <a:solidFill>
                <a:srgbClr val="B9B3AC"/>
              </a:solidFill>
            </c:spPr>
            <c:extLst>
              <c:ext xmlns:c16="http://schemas.microsoft.com/office/drawing/2014/chart" uri="{C3380CC4-5D6E-409C-BE32-E72D297353CC}">
                <c16:uniqueId val="{00000015-2536-436C-B222-8F73CD39EC95}"/>
              </c:ext>
            </c:extLst>
          </c:dPt>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536-436C-B222-8F73CD39EC95}"/>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536-436C-B222-8F73CD39EC95}"/>
                </c:ext>
              </c:extLst>
            </c:dLbl>
            <c:dLbl>
              <c:idx val="2"/>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536-436C-B222-8F73CD39EC95}"/>
                </c:ext>
              </c:extLst>
            </c:dLbl>
            <c:dLbl>
              <c:idx val="3"/>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536-436C-B222-8F73CD39EC95}"/>
                </c:ext>
              </c:extLst>
            </c:dLbl>
            <c:dLbl>
              <c:idx val="4"/>
              <c:numFmt formatCode="&quot;MMM&quot;;&quot;MMM&quot;;&quot;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536-436C-B222-8F73CD39EC95}"/>
                </c:ext>
              </c:extLst>
            </c:dLbl>
            <c:dLbl>
              <c:idx val="5"/>
              <c:numFmt formatCode="&quot;MMM&quot;;&quot;MMM&quot;;&quot;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536-436C-B222-8F73CD39EC95}"/>
                </c:ext>
              </c:extLst>
            </c:dLbl>
            <c:dLbl>
              <c:idx val="6"/>
              <c:numFmt formatCode="&quot;MMM&quot;;&quot;MMM&quot;;&quot;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536-436C-B222-8F73CD39EC95}"/>
                </c:ext>
              </c:extLst>
            </c:dLbl>
            <c:dLbl>
              <c:idx val="7"/>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536-436C-B222-8F73CD39EC95}"/>
                </c:ext>
              </c:extLst>
            </c:dLbl>
            <c:dLbl>
              <c:idx val="8"/>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2536-436C-B222-8F73CD39EC95}"/>
                </c:ext>
              </c:extLst>
            </c:dLbl>
            <c:dLbl>
              <c:idx val="9"/>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2536-436C-B222-8F73CD39EC95}"/>
                </c:ext>
              </c:extLst>
            </c:dLbl>
            <c:dLbl>
              <c:idx val="10"/>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2536-436C-B222-8F73CD39EC9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Lit>
          </c:cat>
          <c:val>
            <c:numLit>
              <c:formatCode>General</c:formatCode>
              <c:ptCount val="11"/>
              <c:pt idx="0">
                <c:v>15.570454803610694</c:v>
              </c:pt>
              <c:pt idx="1">
                <c:v>10.546713911504883</c:v>
              </c:pt>
              <c:pt idx="2">
                <c:v>10.489494550876001</c:v>
              </c:pt>
              <c:pt idx="3">
                <c:v>11.523850319189417</c:v>
              </c:pt>
              <c:pt idx="4">
                <c:v>9.7162745270376938</c:v>
              </c:pt>
              <c:pt idx="5">
                <c:v>6.0418478249623186</c:v>
              </c:pt>
              <c:pt idx="6">
                <c:v>4.100995695833606</c:v>
              </c:pt>
              <c:pt idx="7">
                <c:v>3.8524851858046234</c:v>
              </c:pt>
              <c:pt idx="8">
                <c:v>3.8897938119963751</c:v>
              </c:pt>
              <c:pt idx="9">
                <c:v>2.9792010725276863</c:v>
              </c:pt>
              <c:pt idx="10">
                <c:v>21.288888296656708</c:v>
              </c:pt>
            </c:numLit>
          </c:val>
          <c:extLst>
            <c:ext xmlns:c16="http://schemas.microsoft.com/office/drawing/2014/chart" uri="{C3380CC4-5D6E-409C-BE32-E72D297353CC}">
              <c16:uniqueId val="{00000016-2536-436C-B222-8F73CD39EC95}"/>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515B-4591-9AEE-FBBDE8C60754}"/>
              </c:ext>
            </c:extLst>
          </c:dPt>
          <c:dPt>
            <c:idx val="1"/>
            <c:bubble3D val="0"/>
            <c:spPr>
              <a:solidFill>
                <a:srgbClr val="9E7E0A"/>
              </a:solidFill>
            </c:spPr>
            <c:extLst>
              <c:ext xmlns:c16="http://schemas.microsoft.com/office/drawing/2014/chart" uri="{C3380CC4-5D6E-409C-BE32-E72D297353CC}">
                <c16:uniqueId val="{00000003-515B-4591-9AEE-FBBDE8C60754}"/>
              </c:ext>
            </c:extLst>
          </c:dPt>
          <c:dPt>
            <c:idx val="2"/>
            <c:bubble3D val="0"/>
            <c:spPr>
              <a:solidFill>
                <a:srgbClr val="008189"/>
              </a:solidFill>
            </c:spPr>
            <c:extLst>
              <c:ext xmlns:c16="http://schemas.microsoft.com/office/drawing/2014/chart" uri="{C3380CC4-5D6E-409C-BE32-E72D297353CC}">
                <c16:uniqueId val="{00000005-515B-4591-9AEE-FBBDE8C60754}"/>
              </c:ext>
            </c:extLst>
          </c:dPt>
          <c:dPt>
            <c:idx val="3"/>
            <c:bubble3D val="0"/>
            <c:spPr>
              <a:solidFill>
                <a:srgbClr val="40315E"/>
              </a:solidFill>
            </c:spPr>
            <c:extLst>
              <c:ext xmlns:c16="http://schemas.microsoft.com/office/drawing/2014/chart" uri="{C3380CC4-5D6E-409C-BE32-E72D297353CC}">
                <c16:uniqueId val="{00000007-515B-4591-9AEE-FBBDE8C60754}"/>
              </c:ext>
            </c:extLst>
          </c:dPt>
          <c:dPt>
            <c:idx val="4"/>
            <c:bubble3D val="0"/>
            <c:spPr>
              <a:solidFill>
                <a:srgbClr val="A35313"/>
              </a:solidFill>
            </c:spPr>
            <c:extLst>
              <c:ext xmlns:c16="http://schemas.microsoft.com/office/drawing/2014/chart" uri="{C3380CC4-5D6E-409C-BE32-E72D297353CC}">
                <c16:uniqueId val="{00000009-515B-4591-9AEE-FBBDE8C60754}"/>
              </c:ext>
            </c:extLst>
          </c:dPt>
          <c:dPt>
            <c:idx val="5"/>
            <c:bubble3D val="0"/>
            <c:spPr>
              <a:solidFill>
                <a:srgbClr val="808080"/>
              </a:solidFill>
            </c:spPr>
            <c:extLst>
              <c:ext xmlns:c16="http://schemas.microsoft.com/office/drawing/2014/chart" uri="{C3380CC4-5D6E-409C-BE32-E72D297353CC}">
                <c16:uniqueId val="{0000000B-515B-4591-9AEE-FBBDE8C60754}"/>
              </c:ext>
            </c:extLst>
          </c:dPt>
          <c:dPt>
            <c:idx val="6"/>
            <c:bubble3D val="0"/>
            <c:spPr>
              <a:solidFill>
                <a:srgbClr val="0E72AE"/>
              </a:solidFill>
            </c:spPr>
            <c:extLst>
              <c:ext xmlns:c16="http://schemas.microsoft.com/office/drawing/2014/chart" uri="{C3380CC4-5D6E-409C-BE32-E72D297353CC}">
                <c16:uniqueId val="{0000000D-515B-4591-9AEE-FBBDE8C60754}"/>
              </c:ext>
            </c:extLst>
          </c:dPt>
          <c:dPt>
            <c:idx val="7"/>
            <c:bubble3D val="0"/>
            <c:spPr>
              <a:solidFill>
                <a:srgbClr val="A86F00"/>
              </a:solidFill>
            </c:spPr>
            <c:extLst>
              <c:ext xmlns:c16="http://schemas.microsoft.com/office/drawing/2014/chart" uri="{C3380CC4-5D6E-409C-BE32-E72D297353CC}">
                <c16:uniqueId val="{0000000F-515B-4591-9AEE-FBBDE8C60754}"/>
              </c:ext>
            </c:extLst>
          </c:dPt>
          <c:dPt>
            <c:idx val="8"/>
            <c:bubble3D val="0"/>
            <c:spPr>
              <a:solidFill>
                <a:srgbClr val="0B2E4A"/>
              </a:solidFill>
            </c:spPr>
            <c:extLst>
              <c:ext xmlns:c16="http://schemas.microsoft.com/office/drawing/2014/chart" uri="{C3380CC4-5D6E-409C-BE32-E72D297353CC}">
                <c16:uniqueId val="{00000011-515B-4591-9AEE-FBBDE8C60754}"/>
              </c:ext>
            </c:extLst>
          </c:dPt>
          <c:dPt>
            <c:idx val="9"/>
            <c:bubble3D val="0"/>
            <c:spPr>
              <a:solidFill>
                <a:srgbClr val="6C7A89"/>
              </a:solidFill>
            </c:spPr>
            <c:extLst>
              <c:ext xmlns:c16="http://schemas.microsoft.com/office/drawing/2014/chart" uri="{C3380CC4-5D6E-409C-BE32-E72D297353CC}">
                <c16:uniqueId val="{00000013-515B-4591-9AEE-FBBDE8C60754}"/>
              </c:ext>
            </c:extLst>
          </c:dPt>
          <c:dPt>
            <c:idx val="10"/>
            <c:bubble3D val="0"/>
            <c:spPr>
              <a:solidFill>
                <a:srgbClr val="B9B3AC"/>
              </a:solidFill>
            </c:spPr>
            <c:extLst>
              <c:ext xmlns:c16="http://schemas.microsoft.com/office/drawing/2014/chart" uri="{C3380CC4-5D6E-409C-BE32-E72D297353CC}">
                <c16:uniqueId val="{00000015-515B-4591-9AEE-FBBDE8C60754}"/>
              </c:ext>
            </c:extLst>
          </c:dPt>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15B-4591-9AEE-FBBDE8C60754}"/>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15B-4591-9AEE-FBBDE8C60754}"/>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15B-4591-9AEE-FBBDE8C60754}"/>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15B-4591-9AEE-FBBDE8C60754}"/>
                </c:ext>
              </c:extLst>
            </c:dLbl>
            <c:dLbl>
              <c:idx val="4"/>
              <c:numFmt formatCode="&quot;MMM&quot;;&quot;MMM&quot;;&quot;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15B-4591-9AEE-FBBDE8C60754}"/>
                </c:ext>
              </c:extLst>
            </c:dLbl>
            <c:dLbl>
              <c:idx val="5"/>
              <c:numFmt formatCode="&quot;MMM&quot;;&quot;MMM&quot;;&quot;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515B-4591-9AEE-FBBDE8C60754}"/>
                </c:ext>
              </c:extLst>
            </c:dLbl>
            <c:dLbl>
              <c:idx val="6"/>
              <c:numFmt formatCode="&quot;MMM&quot;;&quot;MMM&quot;;&quot;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15B-4591-9AEE-FBBDE8C60754}"/>
                </c:ext>
              </c:extLst>
            </c:dLbl>
            <c:dLbl>
              <c:idx val="7"/>
              <c:numFmt formatCode="&quot;MMM&quot;;&quot;MMM&quot;;&quot;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515B-4591-9AEE-FBBDE8C60754}"/>
                </c:ext>
              </c:extLst>
            </c:dLbl>
            <c:dLbl>
              <c:idx val="8"/>
              <c:numFmt formatCode="&quot;MMM&quot;;&quot;MMM&quot;;&quot;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515B-4591-9AEE-FBBDE8C60754}"/>
                </c:ext>
              </c:extLst>
            </c:dLbl>
            <c:dLbl>
              <c:idx val="9"/>
              <c:numFmt formatCode="&quot;MMM&quot;;&quot;MMM&quot;;&quot;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515B-4591-9AEE-FBBDE8C60754}"/>
                </c:ext>
              </c:extLst>
            </c:dLbl>
            <c:dLbl>
              <c:idx val="10"/>
              <c:numFmt formatCode="&quot;MMMM&quot;;&quot;MMMM&quot;;&quot;MMMM&quot;" sourceLinked="0"/>
              <c:spPr>
                <a:blipFill>
                  <a:blip xmlns:r="http://schemas.openxmlformats.org/officeDocument/2006/relationships"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515B-4591-9AEE-FBBDE8C6075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11"/>
              <c:pt idx="0">
                <c:v>Multicell Packaging Inc.</c:v>
              </c:pt>
              <c:pt idx="1">
                <c:v>Company</c:v>
              </c:pt>
              <c:pt idx="2">
                <c:v>Great American Paper Inc.</c:v>
              </c:pt>
              <c:pt idx="3">
                <c:v>Interpack Inc.</c:v>
              </c:pt>
              <c:pt idx="4">
                <c:v>Caps Cases Ltd.</c:v>
              </c:pt>
              <c:pt idx="5">
                <c:v>M &amp; M Box &amp; Partitions Co.</c:v>
              </c:pt>
              <c:pt idx="6">
                <c:v>Martin Partitions</c:v>
              </c:pt>
              <c:pt idx="7">
                <c:v>Buckeye Corrugated Inc.</c:v>
              </c:pt>
              <c:pt idx="8">
                <c:v>Cactus Corrugated Containers Inc.</c:v>
              </c:pt>
              <c:pt idx="9">
                <c:v>Jarrett Industries Inc.</c:v>
              </c:pt>
              <c:pt idx="10">
                <c:v>Others</c:v>
              </c:pt>
            </c:strLit>
          </c:cat>
          <c:val>
            <c:numLit>
              <c:formatCode>General</c:formatCode>
              <c:ptCount val="11"/>
              <c:pt idx="0">
                <c:v>11.931858870012501</c:v>
              </c:pt>
              <c:pt idx="1">
                <c:v>12.495250983383206</c:v>
              </c:pt>
              <c:pt idx="2">
                <c:v>13.557011133261542</c:v>
              </c:pt>
              <c:pt idx="3">
                <c:v>11.024479649083794</c:v>
              </c:pt>
              <c:pt idx="4">
                <c:v>6.9750367204591708</c:v>
              </c:pt>
              <c:pt idx="5">
                <c:v>4.9188502111278041</c:v>
              </c:pt>
              <c:pt idx="6">
                <c:v>5.1312524069432781</c:v>
              </c:pt>
              <c:pt idx="7">
                <c:v>4.8088392584615409</c:v>
              </c:pt>
              <c:pt idx="8">
                <c:v>3.5084788144252483</c:v>
              </c:pt>
              <c:pt idx="9">
                <c:v>2.1002460595454111</c:v>
              </c:pt>
              <c:pt idx="10">
                <c:v>23.5486958932965</c:v>
              </c:pt>
            </c:numLit>
          </c:val>
          <c:extLst>
            <c:ext xmlns:c16="http://schemas.microsoft.com/office/drawing/2014/chart" uri="{C3380CC4-5D6E-409C-BE32-E72D297353CC}">
              <c16:uniqueId val="{00000016-515B-4591-9AEE-FBBDE8C60754}"/>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1668A8"/>
            </a:solidFill>
            <a:ln>
              <a:noFill/>
            </a:ln>
          </c:spPr>
          <c:invertIfNegative val="1"/>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9CC-4031-A14A-EE85EAF8EDDD}"/>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9CC-4031-A14A-EE85EAF8EDDD}"/>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9CC-4031-A14A-EE85EAF8EDDD}"/>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9CC-4031-A14A-EE85EAF8EDDD}"/>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Food &amp; Beverage</c:v>
              </c:pt>
              <c:pt idx="1">
                <c:v>Pharmaceuticals &amp; Healthcare</c:v>
              </c:pt>
              <c:pt idx="2">
                <c:v>Personal Care &amp; Cosmetics</c:v>
              </c:pt>
              <c:pt idx="3">
                <c:v>Electronics &amp; Electrical</c:v>
              </c:pt>
            </c:strLit>
          </c:cat>
          <c:val>
            <c:numLit>
              <c:formatCode>General</c:formatCode>
              <c:ptCount val="4"/>
              <c:pt idx="0">
                <c:v>223.22295869635388</c:v>
              </c:pt>
              <c:pt idx="1">
                <c:v>124.18684322983123</c:v>
              </c:pt>
              <c:pt idx="2">
                <c:v>156.31588312231577</c:v>
              </c:pt>
              <c:pt idx="3">
                <c:v>295.29546152510699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4-99CC-4031-A14A-EE85EAF8EDDD}"/>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389.79000921314122"/>
          <c:min val="0"/>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0E3A5F"/>
            </a:solidFill>
            <a:ln>
              <a:noFill/>
            </a:ln>
          </c:spPr>
          <c:invertIfNegative val="1"/>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9F7-4EC3-AF93-37D2C7666E05}"/>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9F7-4EC3-AF93-37D2C7666E05}"/>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9F7-4EC3-AF93-37D2C7666E05}"/>
                </c:ext>
              </c:extLst>
            </c:dLbl>
            <c:dLbl>
              <c:idx val="3"/>
              <c:numFmt formatCode="&quot;MMMM&quot;;&quot;MMMM&quot;;&quot;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9F7-4EC3-AF93-37D2C7666E05}"/>
                </c:ext>
              </c:extLst>
            </c:dLbl>
            <c:dLbl>
              <c:idx val="4"/>
              <c:numFmt formatCode="&quot;MMMMM&quot;;&quot;MMMMM&quot;;&quot;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9F7-4EC3-AF93-37D2C7666E05}"/>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North America</c:v>
              </c:pt>
              <c:pt idx="1">
                <c:v>Europe</c:v>
              </c:pt>
              <c:pt idx="2">
                <c:v>South Asia &amp; Pacific</c:v>
              </c:pt>
              <c:pt idx="3">
                <c:v>East Asia</c:v>
              </c:pt>
              <c:pt idx="4">
                <c:v>Rest of the World</c:v>
              </c:pt>
            </c:strLit>
          </c:cat>
          <c:val>
            <c:numLit>
              <c:formatCode>General</c:formatCode>
              <c:ptCount val="5"/>
              <c:pt idx="0">
                <c:v>265.2600859720078</c:v>
              </c:pt>
              <c:pt idx="1">
                <c:v>161.46322373410425</c:v>
              </c:pt>
              <c:pt idx="2">
                <c:v>87.072435810211346</c:v>
              </c:pt>
              <c:pt idx="3">
                <c:v>98.385187406113332</c:v>
              </c:pt>
              <c:pt idx="4">
                <c:v>186.84021365117124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19F7-4EC3-AF93-37D2C7666E05}"/>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350.14331348305029"/>
          <c:min val="0"/>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8830-4A17-BE0E-5D8E3C4839B9}"/>
              </c:ext>
            </c:extLst>
          </c:dPt>
          <c:dPt>
            <c:idx val="1"/>
            <c:bubble3D val="0"/>
            <c:spPr>
              <a:solidFill>
                <a:srgbClr val="9E7E0A"/>
              </a:solidFill>
            </c:spPr>
            <c:extLst>
              <c:ext xmlns:c16="http://schemas.microsoft.com/office/drawing/2014/chart" uri="{C3380CC4-5D6E-409C-BE32-E72D297353CC}">
                <c16:uniqueId val="{00000003-8830-4A17-BE0E-5D8E3C4839B9}"/>
              </c:ext>
            </c:extLst>
          </c:dPt>
          <c:dPt>
            <c:idx val="2"/>
            <c:bubble3D val="0"/>
            <c:spPr>
              <a:solidFill>
                <a:srgbClr val="008189"/>
              </a:solidFill>
            </c:spPr>
            <c:extLst>
              <c:ext xmlns:c16="http://schemas.microsoft.com/office/drawing/2014/chart" uri="{C3380CC4-5D6E-409C-BE32-E72D297353CC}">
                <c16:uniqueId val="{00000005-8830-4A17-BE0E-5D8E3C4839B9}"/>
              </c:ext>
            </c:extLst>
          </c:dPt>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30-4A17-BE0E-5D8E3C4839B9}"/>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830-4A17-BE0E-5D8E3C4839B9}"/>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830-4A17-BE0E-5D8E3C4839B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3"/>
              <c:pt idx="0">
                <c:v>Flat Dividers &amp; Layer Pads</c:v>
              </c:pt>
              <c:pt idx="1">
                <c:v>Die-Cut &amp; Folded Partitions (H-dividers, tube/cell inserts)</c:v>
              </c:pt>
              <c:pt idx="2">
                <c:v>Slotted (Interlocking Grid) Partitions</c:v>
              </c:pt>
            </c:strLit>
          </c:cat>
          <c:val>
            <c:numLit>
              <c:formatCode>General</c:formatCode>
              <c:ptCount val="3"/>
              <c:pt idx="0">
                <c:v>160.36336201859277</c:v>
              </c:pt>
              <c:pt idx="1">
                <c:v>222.94234330946327</c:v>
              </c:pt>
              <c:pt idx="2">
                <c:v>415.71544124555174</c:v>
              </c:pt>
            </c:numLit>
          </c:val>
          <c:extLst>
            <c:ext xmlns:c16="http://schemas.microsoft.com/office/drawing/2014/chart" uri="{C3380CC4-5D6E-409C-BE32-E72D297353CC}">
              <c16:uniqueId val="{00000006-8830-4A17-BE0E-5D8E3C4839B9}"/>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SAM</c:v>
          </c:tx>
          <c:spPr>
            <a:solidFill>
              <a:srgbClr val="69B1E0"/>
            </a:solidFill>
            <a:ln>
              <a:noFill/>
            </a:ln>
          </c:spPr>
          <c:invertIfNegative val="1"/>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E68-4DB9-8852-7B123CA19AED}"/>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E68-4DB9-8852-7B123CA19AED}"/>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E68-4DB9-8852-7B123CA19AED}"/>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E68-4DB9-8852-7B123CA19AED}"/>
                </c:ext>
              </c:extLst>
            </c:dLbl>
            <c:dLbl>
              <c:idx val="4"/>
              <c:numFmt formatCode="&quot;MMMMM&quot;;&quot;MMMMM&quot;;&quot;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E68-4DB9-8852-7B123CA19AED}"/>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North America</c:v>
              </c:pt>
              <c:pt idx="1">
                <c:v>Europe</c:v>
              </c:pt>
              <c:pt idx="2">
                <c:v>South Asia &amp; Pacific</c:v>
              </c:pt>
              <c:pt idx="3">
                <c:v>East Asia</c:v>
              </c:pt>
              <c:pt idx="4">
                <c:v>Rest of the World</c:v>
              </c:pt>
            </c:strLit>
          </c:cat>
          <c:val>
            <c:numLit>
              <c:formatCode>General</c:formatCode>
              <c:ptCount val="5"/>
              <c:pt idx="0">
                <c:v>809.33283599999993</c:v>
              </c:pt>
              <c:pt idx="1">
                <c:v>727.51109631205634</c:v>
              </c:pt>
              <c:pt idx="2">
                <c:v>531.67784660201755</c:v>
              </c:pt>
              <c:pt idx="3">
                <c:v>340.62290831747544</c:v>
              </c:pt>
              <c:pt idx="4">
                <c:v>270.23764331401611</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CE68-4DB9-8852-7B123CA19AED}"/>
            </c:ext>
          </c:extLst>
        </c:ser>
        <c:ser>
          <c:idx val="1"/>
          <c:order val="1"/>
          <c:tx>
            <c:v>SOM</c:v>
          </c:tx>
          <c:spPr>
            <a:solidFill>
              <a:srgbClr val="0E72AE"/>
            </a:solidFill>
            <a:ln>
              <a:noFill/>
            </a:ln>
          </c:spPr>
          <c:invertIfNegative val="1"/>
          <c:dLbls>
            <c:dLbl>
              <c:idx val="0"/>
              <c:numFmt formatCode="&quot;MMMMM&quot;;&quot;MMMMM&quot;;&quot;M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E68-4DB9-8852-7B123CA19AED}"/>
                </c:ext>
              </c:extLst>
            </c:dLbl>
            <c:dLbl>
              <c:idx val="1"/>
              <c:numFmt formatCode="&quot;MMMMM&quot;;&quot;MMMMM&quot;;&quot;M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E68-4DB9-8852-7B123CA19AED}"/>
                </c:ext>
              </c:extLst>
            </c:dLbl>
            <c:dLbl>
              <c:idx val="2"/>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E68-4DB9-8852-7B123CA19AED}"/>
                </c:ext>
              </c:extLst>
            </c:dLbl>
            <c:dLbl>
              <c:idx val="3"/>
              <c:numFmt formatCode="&quot;MMMM&quot;;&quot;MMMM&quot;;&quot;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E68-4DB9-8852-7B123CA19AED}"/>
                </c:ext>
              </c:extLst>
            </c:dLbl>
            <c:dLbl>
              <c:idx val="4"/>
              <c:numFmt formatCode="&quot;MMMMM&quot;;&quot;MMMMM&quot;;&quot;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E68-4DB9-8852-7B123CA19AED}"/>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North America</c:v>
              </c:pt>
              <c:pt idx="1">
                <c:v>Europe</c:v>
              </c:pt>
              <c:pt idx="2">
                <c:v>South Asia &amp; Pacific</c:v>
              </c:pt>
              <c:pt idx="3">
                <c:v>East Asia</c:v>
              </c:pt>
              <c:pt idx="4">
                <c:v>Rest of the World</c:v>
              </c:pt>
            </c:strLit>
          </c:cat>
          <c:val>
            <c:numLit>
              <c:formatCode>General</c:formatCode>
              <c:ptCount val="5"/>
              <c:pt idx="0">
                <c:v>265.2600859720078</c:v>
              </c:pt>
              <c:pt idx="1">
                <c:v>161.46322373410425</c:v>
              </c:pt>
              <c:pt idx="2">
                <c:v>87.072435810211346</c:v>
              </c:pt>
              <c:pt idx="3">
                <c:v>98.385187406113332</c:v>
              </c:pt>
              <c:pt idx="4">
                <c:v>186.84021365117124</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CE68-4DB9-8852-7B123CA19AED}"/>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1035.9460300799999"/>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1668A8"/>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522-40C8-B044-CBFD56E6DE36}"/>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522-40C8-B044-CBFD56E6DE36}"/>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522-40C8-B044-CBFD56E6DE36}"/>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522-40C8-B044-CBFD56E6DE36}"/>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Food &amp; Beverage</c:v>
              </c:pt>
              <c:pt idx="1">
                <c:v>Pharmaceuticals &amp; Healthcare</c:v>
              </c:pt>
              <c:pt idx="2">
                <c:v>Personal Care &amp; Cosmetics</c:v>
              </c:pt>
              <c:pt idx="3">
                <c:v>Electronics &amp; Electrical</c:v>
              </c:pt>
            </c:strLit>
          </c:cat>
          <c:val>
            <c:numLit>
              <c:formatCode>General</c:formatCode>
              <c:ptCount val="4"/>
              <c:pt idx="0">
                <c:v>80.596767515129883</c:v>
              </c:pt>
              <c:pt idx="1">
                <c:v>112.0482383682365</c:v>
              </c:pt>
              <c:pt idx="2">
                <c:v>208.93376360264085</c:v>
              </c:pt>
              <c:pt idx="3">
                <c:v>297.93230928322379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4-9522-40C8-B044-CBFD56E6DE36}"/>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393.27064825385543"/>
          <c:min val="0"/>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0E3A5F"/>
            </a:solidFill>
            <a:ln>
              <a:noFill/>
            </a:ln>
          </c:spPr>
          <c:invertIfNegative val="1"/>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401-494A-B10D-9944F0C87380}"/>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401-494A-B10D-9944F0C87380}"/>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401-494A-B10D-9944F0C87380}"/>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401-494A-B10D-9944F0C87380}"/>
                </c:ext>
              </c:extLst>
            </c:dLbl>
            <c:dLbl>
              <c:idx val="4"/>
              <c:numFmt formatCode="&quot;MMMMM&quot;;&quot;MMMMM&quot;;&quot;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401-494A-B10D-9944F0C87380}"/>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North America</c:v>
              </c:pt>
              <c:pt idx="1">
                <c:v>Europe</c:v>
              </c:pt>
              <c:pt idx="2">
                <c:v>South Asia &amp; Pacific</c:v>
              </c:pt>
              <c:pt idx="3">
                <c:v>East Asia</c:v>
              </c:pt>
              <c:pt idx="4">
                <c:v>Rest of the World</c:v>
              </c:pt>
            </c:strLit>
          </c:cat>
          <c:val>
            <c:numLit>
              <c:formatCode>General</c:formatCode>
              <c:ptCount val="5"/>
              <c:pt idx="0">
                <c:v>126.43786014713284</c:v>
              </c:pt>
              <c:pt idx="1">
                <c:v>70.341862719266004</c:v>
              </c:pt>
              <c:pt idx="2">
                <c:v>88.540380812172046</c:v>
              </c:pt>
              <c:pt idx="3">
                <c:v>167.2611387486478</c:v>
              </c:pt>
              <c:pt idx="4">
                <c:v>246.92983634201235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3401-494A-B10D-9944F0C87380}"/>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325.9473839714563"/>
          <c:min val="0"/>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2B28-4BE0-B28B-B0200528EA90}"/>
              </c:ext>
            </c:extLst>
          </c:dPt>
          <c:dPt>
            <c:idx val="1"/>
            <c:bubble3D val="0"/>
            <c:spPr>
              <a:solidFill>
                <a:srgbClr val="9E7E0A"/>
              </a:solidFill>
            </c:spPr>
            <c:extLst>
              <c:ext xmlns:c16="http://schemas.microsoft.com/office/drawing/2014/chart" uri="{C3380CC4-5D6E-409C-BE32-E72D297353CC}">
                <c16:uniqueId val="{00000003-2B28-4BE0-B28B-B0200528EA90}"/>
              </c:ext>
            </c:extLst>
          </c:dPt>
          <c:dPt>
            <c:idx val="2"/>
            <c:bubble3D val="0"/>
            <c:spPr>
              <a:solidFill>
                <a:srgbClr val="008189"/>
              </a:solidFill>
            </c:spPr>
            <c:extLst>
              <c:ext xmlns:c16="http://schemas.microsoft.com/office/drawing/2014/chart" uri="{C3380CC4-5D6E-409C-BE32-E72D297353CC}">
                <c16:uniqueId val="{00000005-2B28-4BE0-B28B-B0200528EA90}"/>
              </c:ext>
            </c:extLst>
          </c:dPt>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B28-4BE0-B28B-B0200528EA90}"/>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B28-4BE0-B28B-B0200528EA90}"/>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B28-4BE0-B28B-B0200528EA9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3"/>
              <c:pt idx="0">
                <c:v>Flat Dividers &amp; Layer Pads</c:v>
              </c:pt>
              <c:pt idx="1">
                <c:v>Die-Cut &amp; Folded Partitions (H-dividers, tube/cell inserts)</c:v>
              </c:pt>
              <c:pt idx="2">
                <c:v>Slotted (Interlocking Grid) Partitions</c:v>
              </c:pt>
            </c:strLit>
          </c:cat>
          <c:val>
            <c:numLit>
              <c:formatCode>General</c:formatCode>
              <c:ptCount val="3"/>
              <c:pt idx="0">
                <c:v>130.78074306702709</c:v>
              </c:pt>
              <c:pt idx="1">
                <c:v>239.24444007476825</c:v>
              </c:pt>
              <c:pt idx="2">
                <c:v>329.48589562743581</c:v>
              </c:pt>
            </c:numLit>
          </c:val>
          <c:extLst>
            <c:ext xmlns:c16="http://schemas.microsoft.com/office/drawing/2014/chart" uri="{C3380CC4-5D6E-409C-BE32-E72D297353CC}">
              <c16:uniqueId val="{00000006-2B28-4BE0-B28B-B0200528EA90}"/>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SAM</c:v>
          </c:tx>
          <c:spPr>
            <a:solidFill>
              <a:srgbClr val="69B1E0"/>
            </a:solidFill>
            <a:ln>
              <a:noFill/>
            </a:ln>
          </c:spPr>
          <c:invertIfNegative val="1"/>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A60-457F-BE0E-F60D4C14005D}"/>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A60-457F-BE0E-F60D4C14005D}"/>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A60-457F-BE0E-F60D4C14005D}"/>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A60-457F-BE0E-F60D4C14005D}"/>
                </c:ext>
              </c:extLst>
            </c:dLbl>
            <c:dLbl>
              <c:idx val="4"/>
              <c:numFmt formatCode="&quot;MMMMM&quot;;&quot;MMMMM&quot;;&quot;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A60-457F-BE0E-F60D4C14005D}"/>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North America</c:v>
              </c:pt>
              <c:pt idx="1">
                <c:v>Europe</c:v>
              </c:pt>
              <c:pt idx="2">
                <c:v>South Asia &amp; Pacific</c:v>
              </c:pt>
              <c:pt idx="3">
                <c:v>East Asia</c:v>
              </c:pt>
              <c:pt idx="4">
                <c:v>Rest of the World</c:v>
              </c:pt>
            </c:strLit>
          </c:cat>
          <c:val>
            <c:numLit>
              <c:formatCode>General</c:formatCode>
              <c:ptCount val="5"/>
              <c:pt idx="0">
                <c:v>856.02511500000003</c:v>
              </c:pt>
              <c:pt idx="1">
                <c:v>769.4828903300596</c:v>
              </c:pt>
              <c:pt idx="2">
                <c:v>562.3515685213647</c:v>
              </c:pt>
              <c:pt idx="3">
                <c:v>360.27422995117593</c:v>
              </c:pt>
              <c:pt idx="4">
                <c:v>285.82827658213239</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5A60-457F-BE0E-F60D4C14005D}"/>
            </c:ext>
          </c:extLst>
        </c:ser>
        <c:ser>
          <c:idx val="1"/>
          <c:order val="1"/>
          <c:tx>
            <c:v>SOM</c:v>
          </c:tx>
          <c:spPr>
            <a:solidFill>
              <a:srgbClr val="0E72AE"/>
            </a:solidFill>
            <a:ln>
              <a:noFill/>
            </a:ln>
          </c:spPr>
          <c:invertIfNegative val="1"/>
          <c:dLbls>
            <c:dLbl>
              <c:idx val="0"/>
              <c:numFmt formatCode="&quot;MMMMM&quot;;&quot;MMMMM&quot;;&quot;M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A60-457F-BE0E-F60D4C14005D}"/>
                </c:ext>
              </c:extLst>
            </c:dLbl>
            <c:dLbl>
              <c:idx val="1"/>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A60-457F-BE0E-F60D4C14005D}"/>
                </c:ext>
              </c:extLst>
            </c:dLbl>
            <c:dLbl>
              <c:idx val="2"/>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A60-457F-BE0E-F60D4C14005D}"/>
                </c:ext>
              </c:extLst>
            </c:dLbl>
            <c:dLbl>
              <c:idx val="3"/>
              <c:numFmt formatCode="&quot;MMMMM&quot;;&quot;MMMMM&quot;;&quot;M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A60-457F-BE0E-F60D4C14005D}"/>
                </c:ext>
              </c:extLst>
            </c:dLbl>
            <c:dLbl>
              <c:idx val="4"/>
              <c:numFmt formatCode="&quot;MMMMM&quot;;&quot;MMMMM&quot;;&quot;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5A60-457F-BE0E-F60D4C14005D}"/>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North America</c:v>
              </c:pt>
              <c:pt idx="1">
                <c:v>Europe</c:v>
              </c:pt>
              <c:pt idx="2">
                <c:v>South Asia &amp; Pacific</c:v>
              </c:pt>
              <c:pt idx="3">
                <c:v>East Asia</c:v>
              </c:pt>
              <c:pt idx="4">
                <c:v>Rest of the World</c:v>
              </c:pt>
            </c:strLit>
          </c:cat>
          <c:val>
            <c:numLit>
              <c:formatCode>General</c:formatCode>
              <c:ptCount val="5"/>
              <c:pt idx="0">
                <c:v>126.43786014713284</c:v>
              </c:pt>
              <c:pt idx="1">
                <c:v>70.341862719266004</c:v>
              </c:pt>
              <c:pt idx="2">
                <c:v>88.540380812172046</c:v>
              </c:pt>
              <c:pt idx="3">
                <c:v>167.2611387486478</c:v>
              </c:pt>
              <c:pt idx="4">
                <c:v>246.92983634201235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5A60-457F-BE0E-F60D4C14005D}"/>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1095.7121472000001"/>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charts/chart1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1668A8"/>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400-4F83-82A7-46E17DEB7BC1}"/>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400-4F83-82A7-46E17DEB7BC1}"/>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400-4F83-82A7-46E17DEB7BC1}"/>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400-4F83-82A7-46E17DEB7BC1}"/>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4"/>
              <c:pt idx="0">
                <c:v>Food &amp; Beverage</c:v>
              </c:pt>
              <c:pt idx="1">
                <c:v>Pharmaceuticals &amp; Healthcare</c:v>
              </c:pt>
              <c:pt idx="2">
                <c:v>Personal Care &amp; Cosmetics</c:v>
              </c:pt>
              <c:pt idx="3">
                <c:v>Electronics &amp; Electrical</c:v>
              </c:pt>
            </c:strLit>
          </c:cat>
          <c:val>
            <c:numLit>
              <c:formatCode>General</c:formatCode>
              <c:ptCount val="4"/>
              <c:pt idx="0">
                <c:v>61.096331648529002</c:v>
              </c:pt>
              <c:pt idx="1">
                <c:v>111.76689559244402</c:v>
              </c:pt>
              <c:pt idx="2">
                <c:v>153.92464579016277</c:v>
              </c:pt>
              <c:pt idx="3">
                <c:v>155.66543737178088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4-F400-4F83-82A7-46E17DEB7BC1}"/>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205.47837733075079"/>
          <c:min val="0"/>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col"/>
        <c:grouping val="clustered"/>
        <c:varyColors val="0"/>
        <c:ser>
          <c:idx val="0"/>
          <c:order val="0"/>
          <c:tx>
            <c:v>S1</c:v>
          </c:tx>
          <c:spPr>
            <a:solidFill>
              <a:srgbClr val="0E3A5F"/>
            </a:solidFill>
            <a:ln>
              <a:noFill/>
            </a:ln>
          </c:spPr>
          <c:invertIfNegative val="1"/>
          <c:dLbls>
            <c:dLbl>
              <c:idx val="0"/>
              <c:numFmt formatCode="&quot;MMMM&quot;;&quot;MMMM&quot;;&quot;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BE7-4E6C-B9CC-49AF216998DB}"/>
                </c:ext>
              </c:extLst>
            </c:dLbl>
            <c:dLbl>
              <c:idx val="1"/>
              <c:numFmt formatCode="&quot;MMMM&quot;;&quot;MMMM&quot;;&quot;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BE7-4E6C-B9CC-49AF216998DB}"/>
                </c:ext>
              </c:extLst>
            </c:dLbl>
            <c:dLbl>
              <c:idx val="2"/>
              <c:numFmt formatCode="&quot;MMMM&quot;;&quot;MMMM&quot;;&quot;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BE7-4E6C-B9CC-49AF216998DB}"/>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BE7-4E6C-B9CC-49AF216998DB}"/>
                </c:ext>
              </c:extLst>
            </c:dLbl>
            <c:dLbl>
              <c:idx val="4"/>
              <c:numFmt formatCode="&quot;MMMMM&quot;;&quot;MMMMM&quot;;&quot;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BE7-4E6C-B9CC-49AF216998DB}"/>
                </c:ext>
              </c:extLst>
            </c:dLbl>
            <c:numFmt formatCode="#,##0"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North America</c:v>
              </c:pt>
              <c:pt idx="1">
                <c:v>Europe</c:v>
              </c:pt>
              <c:pt idx="2">
                <c:v>South Asia &amp; Pacific</c:v>
              </c:pt>
              <c:pt idx="3">
                <c:v>East Asia</c:v>
              </c:pt>
              <c:pt idx="4">
                <c:v>Rest of the World</c:v>
              </c:pt>
            </c:strLit>
          </c:cat>
          <c:val>
            <c:numLit>
              <c:formatCode>General</c:formatCode>
              <c:ptCount val="5"/>
              <c:pt idx="0">
                <c:v>38.45339813727719</c:v>
              </c:pt>
              <c:pt idx="1">
                <c:v>53.459160378181465</c:v>
              </c:pt>
              <c:pt idx="2">
                <c:v>99.684062324508147</c:v>
              </c:pt>
              <c:pt idx="3">
                <c:v>142.14601974794527</c:v>
              </c:pt>
              <c:pt idx="4">
                <c:v>148.71066981500465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0BE7-4E6C-B9CC-49AF216998DB}"/>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196.29808415580615"/>
          <c:min val="0"/>
        </c:scaling>
        <c:delete val="0"/>
        <c:axPos val="l"/>
        <c:numFmt formatCode="General" sourceLinked="1"/>
        <c:majorTickMark val="out"/>
        <c:minorTickMark val="none"/>
        <c:tickLblPos val="none"/>
        <c:spPr>
          <a:ln>
            <a:solidFill>
              <a:srgbClr val="C6D5E1"/>
            </a:solidFill>
          </a:ln>
        </c:spPr>
        <c:txPr>
          <a:bodyPr/>
          <a:lstStyle/>
          <a:p>
            <a:pPr>
              <a:defRPr sz="1100"/>
            </a:pPr>
            <a:endParaRPr lang="en-US"/>
          </a:p>
        </c:txPr>
        <c:crossAx val="-2068027336"/>
        <c:crosses val="autoZero"/>
        <c:crossBetween val="between"/>
      </c:valAx>
    </c:plotArea>
    <c:plotVisOnly val="1"/>
    <c:dispBlanksAs val="gap"/>
    <c:showDLblsOverMax val="1"/>
  </c:chart>
  <c:txPr>
    <a:bodyPr/>
    <a:lstStyle/>
    <a:p>
      <a:pPr>
        <a:defRPr sz="1100">
          <a:latin typeface="Calibri"/>
        </a:defRPr>
      </a:pPr>
      <a:endParaRPr lang="en-US"/>
    </a:p>
  </c:txPr>
</c:chartSpace>
</file>

<file path=ppt/charts/chart1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c:style val="2"/>
  <c:chart>
    <c:autoTitleDeleted val="1"/>
    <c:plotArea>
      <c:layout>
        <c:manualLayout>
          <c:layoutTarget val="inner"/>
          <c:xMode val="edge"/>
          <c:yMode val="edge"/>
          <c:x val="0.01"/>
          <c:y val="0.04"/>
          <c:w val="0.68"/>
          <c:h val="0.92"/>
        </c:manualLayout>
      </c:layout>
      <c:doughnutChart>
        <c:varyColors val="0"/>
        <c:ser>
          <c:idx val="0"/>
          <c:order val="0"/>
          <c:tx>
            <c:v>Share</c:v>
          </c:tx>
          <c:dPt>
            <c:idx val="0"/>
            <c:bubble3D val="0"/>
            <c:spPr>
              <a:solidFill>
                <a:srgbClr val="3D85C6"/>
              </a:solidFill>
            </c:spPr>
            <c:extLst>
              <c:ext xmlns:c16="http://schemas.microsoft.com/office/drawing/2014/chart" uri="{C3380CC4-5D6E-409C-BE32-E72D297353CC}">
                <c16:uniqueId val="{00000001-9368-44DE-A363-DBC7F60FBC20}"/>
              </c:ext>
            </c:extLst>
          </c:dPt>
          <c:dPt>
            <c:idx val="1"/>
            <c:bubble3D val="0"/>
            <c:spPr>
              <a:solidFill>
                <a:srgbClr val="9E7E0A"/>
              </a:solidFill>
            </c:spPr>
            <c:extLst>
              <c:ext xmlns:c16="http://schemas.microsoft.com/office/drawing/2014/chart" uri="{C3380CC4-5D6E-409C-BE32-E72D297353CC}">
                <c16:uniqueId val="{00000003-9368-44DE-A363-DBC7F60FBC20}"/>
              </c:ext>
            </c:extLst>
          </c:dPt>
          <c:dPt>
            <c:idx val="2"/>
            <c:bubble3D val="0"/>
            <c:spPr>
              <a:solidFill>
                <a:srgbClr val="008189"/>
              </a:solidFill>
            </c:spPr>
            <c:extLst>
              <c:ext xmlns:c16="http://schemas.microsoft.com/office/drawing/2014/chart" uri="{C3380CC4-5D6E-409C-BE32-E72D297353CC}">
                <c16:uniqueId val="{00000005-9368-44DE-A363-DBC7F60FBC20}"/>
              </c:ext>
            </c:extLst>
          </c:dPt>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368-44DE-A363-DBC7F60FBC20}"/>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368-44DE-A363-DBC7F60FBC20}"/>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368-44DE-A363-DBC7F60FBC2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cat>
            <c:strLit>
              <c:ptCount val="3"/>
              <c:pt idx="0">
                <c:v>Flat Dividers &amp; Layer Pads</c:v>
              </c:pt>
              <c:pt idx="1">
                <c:v>Die-Cut &amp; Folded Partitions (H-dividers, tube/cell inserts)</c:v>
              </c:pt>
              <c:pt idx="2">
                <c:v>Slotted (Interlocking Grid) Partitions</c:v>
              </c:pt>
            </c:strLit>
          </c:cat>
          <c:val>
            <c:numLit>
              <c:formatCode>General</c:formatCode>
              <c:ptCount val="3"/>
              <c:pt idx="0">
                <c:v>132.89139849597123</c:v>
              </c:pt>
              <c:pt idx="1">
                <c:v>176.75971389127355</c:v>
              </c:pt>
              <c:pt idx="2">
                <c:v>172.80219801567199</c:v>
              </c:pt>
            </c:numLit>
          </c:val>
          <c:extLst>
            <c:ext xmlns:c16="http://schemas.microsoft.com/office/drawing/2014/chart" uri="{C3380CC4-5D6E-409C-BE32-E72D297353CC}">
              <c16:uniqueId val="{00000006-9368-44DE-A363-DBC7F60FBC20}"/>
            </c:ext>
          </c:extLst>
        </c:ser>
        <c:dLbls>
          <c:showLegendKey val="0"/>
          <c:showVal val="0"/>
          <c:showCatName val="0"/>
          <c:showSerName val="0"/>
          <c:showPercent val="0"/>
          <c:showBubbleSize val="0"/>
          <c:showLeaderLines val="1"/>
        </c:dLbls>
        <c:firstSliceAng val="0"/>
        <c:holeSize val="50"/>
      </c:doughnutChart>
    </c:plotArea>
    <c:legend>
      <c:legendPos val="r"/>
      <c:overlay val="0"/>
      <c:txPr>
        <a:bodyPr/>
        <a:lstStyle/>
        <a:p>
          <a:pPr>
            <a:defRPr sz="1100"/>
          </a:pPr>
          <a:endParaRPr lang="en-US"/>
        </a:p>
      </c:txPr>
    </c:legend>
    <c:plotVisOnly val="1"/>
    <c:dispBlanksAs val="gap"/>
    <c:showDLblsOverMax val="0"/>
  </c:chart>
  <c:txPr>
    <a:bodyPr/>
    <a:lstStyle/>
    <a:p>
      <a:pPr>
        <a:defRPr sz="1100">
          <a:latin typeface="Calibri"/>
        </a:defRPr>
      </a:pPr>
      <a:endParaRPr lang="en-US"/>
    </a:p>
  </c:txPr>
</c:chartSpace>
</file>

<file path=ppt/charts/chart1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c:style val="2"/>
  <c:chart>
    <c:autoTitleDeleted val="1"/>
    <c:plotArea>
      <c:layout/>
      <c:barChart>
        <c:barDir val="bar"/>
        <c:grouping val="clustered"/>
        <c:varyColors val="0"/>
        <c:ser>
          <c:idx val="0"/>
          <c:order val="0"/>
          <c:tx>
            <c:v>SAM</c:v>
          </c:tx>
          <c:spPr>
            <a:solidFill>
              <a:srgbClr val="69B1E0"/>
            </a:solidFill>
            <a:ln>
              <a:noFill/>
            </a:ln>
          </c:spPr>
          <c:invertIfNegative val="1"/>
          <c:dLbls>
            <c:dLbl>
              <c:idx val="0"/>
              <c:numFmt formatCode="&quot;MMMMM&quot;;&quot;MMMMM&quot;;&quot;MMMMM&quot;" sourceLinked="0"/>
              <c:spPr>
                <a:blipFill>
                  <a:blip xmlns:r="http://schemas.openxmlformats.org/officeDocument/2006/relationships" r:embed="rId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BE5-441E-9DFD-2C4BB8BA762D}"/>
                </c:ext>
              </c:extLst>
            </c:dLbl>
            <c:dLbl>
              <c:idx val="1"/>
              <c:numFmt formatCode="&quot;MMMMM&quot;;&quot;MMMMM&quot;;&quot;MMMMM&quot;" sourceLinked="0"/>
              <c:spPr>
                <a:blipFill>
                  <a:blip xmlns:r="http://schemas.openxmlformats.org/officeDocument/2006/relationships"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BE5-441E-9DFD-2C4BB8BA762D}"/>
                </c:ext>
              </c:extLst>
            </c:dLbl>
            <c:dLbl>
              <c:idx val="2"/>
              <c:numFmt formatCode="&quot;MMMMM&quot;;&quot;MMMMM&quot;;&quot;MMMMM&quot;" sourceLinked="0"/>
              <c:spPr>
                <a:blipFill>
                  <a:blip xmlns:r="http://schemas.openxmlformats.org/officeDocument/2006/relationships"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BE5-441E-9DFD-2C4BB8BA762D}"/>
                </c:ext>
              </c:extLst>
            </c:dLbl>
            <c:dLbl>
              <c:idx val="3"/>
              <c:numFmt formatCode="&quot;MMMMM&quot;;&quot;MMMMM&quot;;&quot;MMMMM&quot;" sourceLinked="0"/>
              <c:spPr>
                <a:blipFill>
                  <a:blip xmlns:r="http://schemas.openxmlformats.org/officeDocument/2006/relationships"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BE5-441E-9DFD-2C4BB8BA762D}"/>
                </c:ext>
              </c:extLst>
            </c:dLbl>
            <c:dLbl>
              <c:idx val="4"/>
              <c:numFmt formatCode="&quot;MMMMM&quot;;&quot;MMMMM&quot;;&quot;MMMMM&quot;" sourceLinked="0"/>
              <c:spPr>
                <a:blipFill>
                  <a:blip xmlns:r="http://schemas.openxmlformats.org/officeDocument/2006/relationships"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BE5-441E-9DFD-2C4BB8BA762D}"/>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North America</c:v>
              </c:pt>
              <c:pt idx="1">
                <c:v>Europe</c:v>
              </c:pt>
              <c:pt idx="2">
                <c:v>South Asia &amp; Pacific</c:v>
              </c:pt>
              <c:pt idx="3">
                <c:v>East Asia</c:v>
              </c:pt>
              <c:pt idx="4">
                <c:v>Rest of the World</c:v>
              </c:pt>
            </c:strLit>
          </c:cat>
          <c:val>
            <c:numLit>
              <c:formatCode>General</c:formatCode>
              <c:ptCount val="5"/>
              <c:pt idx="0">
                <c:v>902.71739400000001</c:v>
              </c:pt>
              <c:pt idx="1">
                <c:v>811.45468434806298</c:v>
              </c:pt>
              <c:pt idx="2">
                <c:v>593.02529044071196</c:v>
              </c:pt>
              <c:pt idx="3">
                <c:v>379.92555158487647</c:v>
              </c:pt>
              <c:pt idx="4">
                <c:v>301.41890985024878</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5-7BE5-441E-9DFD-2C4BB8BA762D}"/>
            </c:ext>
          </c:extLst>
        </c:ser>
        <c:ser>
          <c:idx val="1"/>
          <c:order val="1"/>
          <c:tx>
            <c:v>SOM</c:v>
          </c:tx>
          <c:spPr>
            <a:solidFill>
              <a:srgbClr val="0E72AE"/>
            </a:solidFill>
            <a:ln>
              <a:noFill/>
            </a:ln>
          </c:spPr>
          <c:invertIfNegative val="1"/>
          <c:dLbls>
            <c:dLbl>
              <c:idx val="0"/>
              <c:numFmt formatCode="&quot;MMMM&quot;;&quot;MMMM&quot;;&quot;MMMM&quot;" sourceLinked="0"/>
              <c:spPr>
                <a:blipFill>
                  <a:blip xmlns:r="http://schemas.openxmlformats.org/officeDocument/2006/relationships"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BE5-441E-9DFD-2C4BB8BA762D}"/>
                </c:ext>
              </c:extLst>
            </c:dLbl>
            <c:dLbl>
              <c:idx val="1"/>
              <c:numFmt formatCode="&quot;MMMM&quot;;&quot;MMMM&quot;;&quot;MMMM&quot;" sourceLinked="0"/>
              <c:spPr>
                <a:blipFill>
                  <a:blip xmlns:r="http://schemas.openxmlformats.org/officeDocument/2006/relationships"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7BE5-441E-9DFD-2C4BB8BA762D}"/>
                </c:ext>
              </c:extLst>
            </c:dLbl>
            <c:dLbl>
              <c:idx val="2"/>
              <c:numFmt formatCode="&quot;MMMM&quot;;&quot;MMMM&quot;;&quot;MMMM&quot;" sourceLinked="0"/>
              <c:spPr>
                <a:blipFill>
                  <a:blip xmlns:r="http://schemas.openxmlformats.org/officeDocument/2006/relationships"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BE5-441E-9DFD-2C4BB8BA762D}"/>
                </c:ext>
              </c:extLst>
            </c:dLbl>
            <c:dLbl>
              <c:idx val="3"/>
              <c:numFmt formatCode="&quot;MMMMM&quot;;&quot;MMMMM&quot;;&quot;MMMMM&quot;" sourceLinked="0"/>
              <c:spPr>
                <a:blipFill>
                  <a:blip xmlns:r="http://schemas.openxmlformats.org/officeDocument/2006/relationships"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BE5-441E-9DFD-2C4BB8BA762D}"/>
                </c:ext>
              </c:extLst>
            </c:dLbl>
            <c:dLbl>
              <c:idx val="4"/>
              <c:numFmt formatCode="&quot;MMMMM&quot;;&quot;MMMMM&quot;;&quot;MMMMM&quot;" sourceLinked="0"/>
              <c:spPr>
                <a:blipFill>
                  <a:blip xmlns:r="http://schemas.openxmlformats.org/officeDocument/2006/relationships"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BE5-441E-9DFD-2C4BB8BA762D}"/>
                </c:ext>
              </c:extLst>
            </c:dLbl>
            <c:numFmt formatCode="0.0&quot;%&quot;" sourceLinked="0"/>
            <c:spPr>
              <a:noFill/>
              <a:ln>
                <a:noFill/>
              </a:ln>
              <a:effectLst/>
            </c:spPr>
            <c:txPr>
              <a:bodyPr rot="0" vert="horz"/>
              <a:lstStyle/>
              <a:p>
                <a:pPr>
                  <a:defRPr sz="1100">
                    <a:latin typeface="Calibri"/>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Lit>
              <c:ptCount val="5"/>
              <c:pt idx="0">
                <c:v>North America</c:v>
              </c:pt>
              <c:pt idx="1">
                <c:v>Europe</c:v>
              </c:pt>
              <c:pt idx="2">
                <c:v>South Asia &amp; Pacific</c:v>
              </c:pt>
              <c:pt idx="3">
                <c:v>East Asia</c:v>
              </c:pt>
              <c:pt idx="4">
                <c:v>Rest of the World</c:v>
              </c:pt>
            </c:strLit>
          </c:cat>
          <c:val>
            <c:numLit>
              <c:formatCode>General</c:formatCode>
              <c:ptCount val="5"/>
              <c:pt idx="0">
                <c:v>38.45339813727719</c:v>
              </c:pt>
              <c:pt idx="1">
                <c:v>53.459160378181465</c:v>
              </c:pt>
              <c:pt idx="2">
                <c:v>99.684062324508147</c:v>
              </c:pt>
              <c:pt idx="3">
                <c:v>142.14601974794527</c:v>
              </c:pt>
              <c:pt idx="4">
                <c:v>148.71066981500465</c:v>
              </c:pt>
            </c:numLit>
          </c:val>
          <c:extLst>
            <c:ext xmlns:c14="http://schemas.microsoft.com/office/drawing/2007/8/2/chart" uri="{6F2FDCE9-48DA-4B69-8628-5D25D57E5C99}">
              <c14:invertSolidFillFmt>
                <c14:spPr xmlns:c14="http://schemas.microsoft.com/office/drawing/2007/8/2/chart">
                  <a:solidFill>
                    <a:srgbClr val="FFFFFF"/>
                  </a:solidFill>
                  <a:ln>
                    <a:noFill/>
                  </a:ln>
                </c14:spPr>
              </c14:invertSolidFillFmt>
            </c:ext>
            <c:ext xmlns:c16="http://schemas.microsoft.com/office/drawing/2014/chart" uri="{C3380CC4-5D6E-409C-BE32-E72D297353CC}">
              <c16:uniqueId val="{0000000B-7BE5-441E-9DFD-2C4BB8BA762D}"/>
            </c:ext>
          </c:extLst>
        </c:ser>
        <c:dLbls>
          <c:dLblPos val="outEnd"/>
          <c:showLegendKey val="0"/>
          <c:showVal val="1"/>
          <c:showCatName val="0"/>
          <c:showSerName val="0"/>
          <c:showPercent val="0"/>
          <c:showBubbleSize val="0"/>
        </c:dLbls>
        <c:gapWidth val="50"/>
        <c:axId val="-2068027336"/>
        <c:axId val="-2113994440"/>
      </c:barChart>
      <c:catAx>
        <c:axId val="-2068027336"/>
        <c:scaling>
          <c:orientation val="minMax"/>
        </c:scaling>
        <c:delete val="0"/>
        <c:axPos val="l"/>
        <c:numFmt formatCode="General" sourceLinked="0"/>
        <c:majorTickMark val="out"/>
        <c:minorTickMark val="none"/>
        <c:tickLblPos val="nextTo"/>
        <c:spPr>
          <a:ln>
            <a:solidFill>
              <a:srgbClr val="C6D5E1"/>
            </a:solidFill>
          </a:ln>
        </c:spPr>
        <c:txPr>
          <a:bodyPr/>
          <a:lstStyle/>
          <a:p>
            <a:pPr>
              <a:defRPr sz="1100"/>
            </a:pPr>
            <a:endParaRPr lang="en-US"/>
          </a:p>
        </c:txPr>
        <c:crossAx val="-2113994440"/>
        <c:crosses val="autoZero"/>
        <c:auto val="1"/>
        <c:lblAlgn val="ctr"/>
        <c:lblOffset val="100"/>
        <c:tickLblSkip val="1"/>
        <c:tickMarkSkip val="1"/>
        <c:noMultiLvlLbl val="0"/>
      </c:catAx>
      <c:valAx>
        <c:axId val="-2113994440"/>
        <c:scaling>
          <c:orientation val="minMax"/>
          <c:max val="1155.4782643200001"/>
          <c:min val="0"/>
        </c:scaling>
        <c:delete val="0"/>
        <c:axPos val="b"/>
        <c:numFmt formatCode="0&quot;%&quot;" sourceLinked="0"/>
        <c:majorTickMark val="out"/>
        <c:minorTickMark val="none"/>
        <c:tickLblPos val="nextTo"/>
        <c:spPr>
          <a:ln>
            <a:solidFill>
              <a:srgbClr val="C6D5E1"/>
            </a:solidFill>
          </a:ln>
        </c:spPr>
        <c:txPr>
          <a:bodyPr/>
          <a:lstStyle/>
          <a:p>
            <a:pPr>
              <a:defRPr sz="1100"/>
            </a:pPr>
            <a:endParaRPr lang="en-US"/>
          </a:p>
        </c:txPr>
        <c:crossAx val="-2068027336"/>
        <c:crosses val="autoZero"/>
        <c:crossBetween val="between"/>
      </c:valAx>
    </c:plotArea>
    <c:legend>
      <c:legendPos val="b"/>
      <c:overlay val="0"/>
      <c:txPr>
        <a:bodyPr/>
        <a:lstStyle/>
        <a:p>
          <a:pPr>
            <a:defRPr sz="1100"/>
          </a:pPr>
          <a:endParaRPr lang="en-US"/>
        </a:p>
      </c:txPr>
    </c:legend>
    <c:plotVisOnly val="1"/>
    <c:dispBlanksAs val="gap"/>
    <c:showDLblsOverMax val="1"/>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A4CC681-E219-4B9B-9BDE-CB59B2FD4BB7}" type="datetimeFigureOut">
              <a:rPr lang="en-IN" smtClean="0"/>
              <a:t>12-10-2026</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355529B-E21D-4CC5-BB5D-7DF88C7DCE76}" type="slidenum">
              <a:rPr lang="en-IN" smtClean="0"/>
              <a:t>‹#›</a:t>
            </a:fld>
            <a:endParaRPr lang="en-IN"/>
          </a:p>
        </p:txBody>
      </p:sp>
    </p:spTree>
    <p:extLst>
      <p:ext uri="{BB962C8B-B14F-4D97-AF65-F5344CB8AC3E}">
        <p14:creationId xmlns:p14="http://schemas.microsoft.com/office/powerpoint/2010/main" val="305272864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Signals Market Signals</a:t>
            </a:r>
          </a:p>
        </p:txBody>
      </p:sp>
      <p:sp>
        <p:nvSpPr>
          <p:cNvPr id="4" name="Slide Number Placeholder 3"/>
          <p:cNvSpPr>
            <a:spLocks noGrp="1"/>
          </p:cNvSpPr>
          <p:nvPr>
            <p:ph type="sldNum" sz="quarter" idx="5"/>
          </p:nvPr>
        </p:nvSpPr>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Market Overview (section breaker)</a:t>
            </a:r>
          </a:p>
        </p:txBody>
      </p:sp>
      <p:sp>
        <p:nvSpPr>
          <p:cNvPr id="4" name="Slide Number Placeholder 3"/>
          <p:cNvSpPr>
            <a:spLocks noGrp="1"/>
          </p:cNvSpPr>
          <p:nvPr>
            <p:ph type="sldNum" sz="quarter" idx="5"/>
          </p:nvPr>
        </p:nvSpPr>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Taxonomy Geographic Coverage</a:t>
            </a:r>
          </a:p>
        </p:txBody>
      </p:sp>
      <p:sp>
        <p:nvSpPr>
          <p:cNvPr id="4" name="Slide Number Placeholder 3"/>
          <p:cNvSpPr>
            <a:spLocks noGrp="1"/>
          </p:cNvSpPr>
          <p:nvPr>
            <p:ph type="sldNum" sz="quarter" idx="5"/>
          </p:nvPr>
        </p:nvSpPr>
        <p:spPr/>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Taxonomy Market Segments</a:t>
            </a:r>
          </a:p>
        </p:txBody>
      </p:sp>
      <p:sp>
        <p:nvSpPr>
          <p:cNvPr id="4" name="Slide Number Placeholder 3"/>
          <p:cNvSpPr>
            <a:spLocks noGrp="1"/>
          </p:cNvSpPr>
          <p:nvPr>
            <p:ph type="sldNum" sz="quarter" idx="5"/>
          </p:nvPr>
        </p:nvSpPr>
        <p:spPr/>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Taxonomy Company Coverage</a:t>
            </a:r>
          </a:p>
        </p:txBody>
      </p:sp>
      <p:sp>
        <p:nvSpPr>
          <p:cNvPr id="4" name="Slide Number Placeholder 3"/>
          <p:cNvSpPr>
            <a:spLocks noGrp="1"/>
          </p:cNvSpPr>
          <p:nvPr>
            <p:ph type="sldNum" sz="quarter" idx="5"/>
          </p:nvPr>
        </p:nvSpPr>
        <p:spPr/>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Table of Contents  (1/7)</a:t>
            </a:r>
          </a:p>
        </p:txBody>
      </p:sp>
      <p:sp>
        <p:nvSpPr>
          <p:cNvPr id="4" name="Slide Number Placeholder 3"/>
          <p:cNvSpPr>
            <a:spLocks noGrp="1"/>
          </p:cNvSpPr>
          <p:nvPr>
            <p:ph type="sldNum" sz="quarter" idx="5"/>
          </p:nvPr>
        </p:nvSpPr>
        <p:spPr/>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Table of Contents  (2/7)</a:t>
            </a:r>
          </a:p>
        </p:txBody>
      </p:sp>
      <p:sp>
        <p:nvSpPr>
          <p:cNvPr id="4" name="Slide Number Placeholder 3"/>
          <p:cNvSpPr>
            <a:spLocks noGrp="1"/>
          </p:cNvSpPr>
          <p:nvPr>
            <p:ph type="sldNum" sz="quarter" idx="5"/>
          </p:nvPr>
        </p:nvSpPr>
        <p:spPr/>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Table of Contents  (3/7)</a:t>
            </a:r>
          </a:p>
        </p:txBody>
      </p:sp>
      <p:sp>
        <p:nvSpPr>
          <p:cNvPr id="4" name="Slide Number Placeholder 3"/>
          <p:cNvSpPr>
            <a:spLocks noGrp="1"/>
          </p:cNvSpPr>
          <p:nvPr>
            <p:ph type="sldNum" sz="quarter" idx="5"/>
          </p:nvPr>
        </p:nvSpPr>
        <p:spPr/>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Table of Contents  (4/7)</a:t>
            </a:r>
          </a:p>
        </p:txBody>
      </p:sp>
      <p:sp>
        <p:nvSpPr>
          <p:cNvPr id="4" name="Slide Number Placeholder 3"/>
          <p:cNvSpPr>
            <a:spLocks noGrp="1"/>
          </p:cNvSpPr>
          <p:nvPr>
            <p:ph type="sldNum" sz="quarter" idx="5"/>
          </p:nvPr>
        </p:nvSpPr>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Table of Contents  (5/7)</a:t>
            </a:r>
          </a:p>
        </p:txBody>
      </p:sp>
      <p:sp>
        <p:nvSpPr>
          <p:cNvPr id="4" name="Slide Number Placeholder 3"/>
          <p:cNvSpPr>
            <a:spLocks noGrp="1"/>
          </p:cNvSpPr>
          <p:nvPr>
            <p:ph type="sldNum" sz="quarter" idx="5"/>
          </p:nvPr>
        </p:nvSpPr>
        <p:spPr/>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Table of Contents  (6/7)</a:t>
            </a:r>
          </a:p>
        </p:txBody>
      </p:sp>
      <p:sp>
        <p:nvSpPr>
          <p:cNvPr id="4" name="Slide Number Placeholder 3"/>
          <p:cNvSpPr>
            <a:spLocks noGrp="1"/>
          </p:cNvSpPr>
          <p:nvPr>
            <p:ph type="sldNum" sz="quarter" idx="5"/>
          </p:nvPr>
        </p:nvSpPr>
        <p:spPr/>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Table of Contents  (7/7)</a:t>
            </a:r>
          </a:p>
        </p:txBody>
      </p:sp>
      <p:sp>
        <p:nvSpPr>
          <p:cNvPr id="4" name="Slide Number Placeholder 3"/>
          <p:cNvSpPr>
            <a:spLocks noGrp="1"/>
          </p:cNvSpPr>
          <p:nvPr>
            <p:ph type="sldNum" sz="quarter" idx="5"/>
          </p:nvPr>
        </p:nvSpPr>
        <p:spPr/>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List of Figures  (1/4)</a:t>
            </a:r>
          </a:p>
        </p:txBody>
      </p:sp>
      <p:sp>
        <p:nvSpPr>
          <p:cNvPr id="4" name="Slide Number Placeholder 3"/>
          <p:cNvSpPr>
            <a:spLocks noGrp="1"/>
          </p:cNvSpPr>
          <p:nvPr>
            <p:ph type="sldNum" sz="quarter" idx="5"/>
          </p:nvPr>
        </p:nvSpPr>
        <p:spPr/>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List of Figures  (2/4)</a:t>
            </a:r>
          </a:p>
        </p:txBody>
      </p:sp>
      <p:sp>
        <p:nvSpPr>
          <p:cNvPr id="4" name="Slide Number Placeholder 3"/>
          <p:cNvSpPr>
            <a:spLocks noGrp="1"/>
          </p:cNvSpPr>
          <p:nvPr>
            <p:ph type="sldNum" sz="quarter" idx="5"/>
          </p:nvPr>
        </p:nvSpPr>
        <p:spPr/>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List of Figures  (3/4)</a:t>
            </a:r>
          </a:p>
        </p:txBody>
      </p:sp>
      <p:sp>
        <p:nvSpPr>
          <p:cNvPr id="4" name="Slide Number Placeholder 3"/>
          <p:cNvSpPr>
            <a:spLocks noGrp="1"/>
          </p:cNvSpPr>
          <p:nvPr>
            <p:ph type="sldNum" sz="quarter" idx="5"/>
          </p:nvPr>
        </p:nvSpPr>
        <p:spPr/>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List of Figures  (4/4)</a:t>
            </a:r>
          </a:p>
        </p:txBody>
      </p:sp>
      <p:sp>
        <p:nvSpPr>
          <p:cNvPr id="4" name="Slide Number Placeholder 3"/>
          <p:cNvSpPr>
            <a:spLocks noGrp="1"/>
          </p:cNvSpPr>
          <p:nvPr>
            <p:ph type="sldNum" sz="quarter" idx="5"/>
          </p:nvPr>
        </p:nvSpPr>
        <p:spPr/>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List of Tables  (1/4)</a:t>
            </a:r>
          </a:p>
        </p:txBody>
      </p:sp>
      <p:sp>
        <p:nvSpPr>
          <p:cNvPr id="4" name="Slide Number Placeholder 3"/>
          <p:cNvSpPr>
            <a:spLocks noGrp="1"/>
          </p:cNvSpPr>
          <p:nvPr>
            <p:ph type="sldNum" sz="quarter" idx="5"/>
          </p:nvPr>
        </p:nvSpPr>
        <p:spPr/>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List of Tables  (2/4)</a:t>
            </a:r>
          </a:p>
        </p:txBody>
      </p:sp>
      <p:sp>
        <p:nvSpPr>
          <p:cNvPr id="4" name="Slide Number Placeholder 3"/>
          <p:cNvSpPr>
            <a:spLocks noGrp="1"/>
          </p:cNvSpPr>
          <p:nvPr>
            <p:ph type="sldNum" sz="quarter" idx="5"/>
          </p:nvPr>
        </p:nvSpPr>
        <p:spPr/>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List of Tables  (3/4)</a:t>
            </a:r>
          </a:p>
        </p:txBody>
      </p:sp>
      <p:sp>
        <p:nvSpPr>
          <p:cNvPr id="4" name="Slide Number Placeholder 3"/>
          <p:cNvSpPr>
            <a:spLocks noGrp="1"/>
          </p:cNvSpPr>
          <p:nvPr>
            <p:ph type="sldNum" sz="quarter" idx="5"/>
          </p:nvPr>
        </p:nvSpPr>
        <p:spPr/>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List of Tables  (4/4)</a:t>
            </a:r>
          </a:p>
        </p:txBody>
      </p:sp>
      <p:sp>
        <p:nvSpPr>
          <p:cNvPr id="4" name="Slide Number Placeholder 3"/>
          <p:cNvSpPr>
            <a:spLocks noGrp="1"/>
          </p:cNvSpPr>
          <p:nvPr>
            <p:ph type="sldNum" sz="quarter" idx="5"/>
          </p:nvPr>
        </p:nvSpPr>
        <p:spPr/>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Global Market Outlook (section breaker)</a:t>
            </a:r>
          </a:p>
        </p:txBody>
      </p:sp>
      <p:sp>
        <p:nvSpPr>
          <p:cNvPr id="4" name="Slide Number Placeholder 3"/>
          <p:cNvSpPr>
            <a:spLocks noGrp="1"/>
          </p:cNvSpPr>
          <p:nvPr>
            <p:ph type="sldNum" sz="quarter" idx="5"/>
          </p:nvPr>
        </p:nvSpPr>
        <p:spPr/>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Volume Market Summary</a:t>
            </a:r>
          </a:p>
        </p:txBody>
      </p:sp>
      <p:sp>
        <p:nvSpPr>
          <p:cNvPr id="4" name="Slide Number Placeholder 3"/>
          <p:cNvSpPr>
            <a:spLocks noGrp="1"/>
          </p:cNvSpPr>
          <p:nvPr>
            <p:ph type="sldNum" sz="quarter" idx="5"/>
          </p:nvPr>
        </p:nvSpPr>
        <p:spPr/>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Pricing &amp; Price Index</a:t>
            </a:r>
          </a:p>
        </p:txBody>
      </p:sp>
      <p:sp>
        <p:nvSpPr>
          <p:cNvPr id="4" name="Slide Number Placeholder 3"/>
          <p:cNvSpPr>
            <a:spLocks noGrp="1"/>
          </p:cNvSpPr>
          <p:nvPr>
            <p:ph type="sldNum" sz="quarter" idx="5"/>
          </p:nvPr>
        </p:nvSpPr>
        <p:spPr/>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Value Market Summary</a:t>
            </a:r>
          </a:p>
        </p:txBody>
      </p:sp>
      <p:sp>
        <p:nvSpPr>
          <p:cNvPr id="4" name="Slide Number Placeholder 3"/>
          <p:cNvSpPr>
            <a:spLocks noGrp="1"/>
          </p:cNvSpPr>
          <p:nvPr>
            <p:ph type="sldNum" sz="quarter" idx="5"/>
          </p:nvPr>
        </p:nvSpPr>
        <p:spPr/>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Market Volume &amp;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Country Outlook  (1/2)</a:t>
            </a:r>
          </a:p>
        </p:txBody>
      </p:sp>
      <p:sp>
        <p:nvSpPr>
          <p:cNvPr id="4" name="Slide Number Placeholder 3"/>
          <p:cNvSpPr>
            <a:spLocks noGrp="1"/>
          </p:cNvSpPr>
          <p:nvPr>
            <p:ph type="sldNum" sz="quarter" idx="5"/>
          </p:nvPr>
        </p:nvSpPr>
        <p:spPr/>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Country Outlook  (2/2)</a:t>
            </a:r>
          </a:p>
        </p:txBody>
      </p:sp>
      <p:sp>
        <p:nvSpPr>
          <p:cNvPr id="4" name="Slide Number Placeholder 3"/>
          <p:cNvSpPr>
            <a:spLocks noGrp="1"/>
          </p:cNvSpPr>
          <p:nvPr>
            <p:ph type="sldNum" sz="quarter" idx="5"/>
          </p:nvPr>
        </p:nvSpPr>
        <p:spPr/>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Market Overview (1/4)</a:t>
            </a:r>
          </a:p>
        </p:txBody>
      </p:sp>
      <p:sp>
        <p:nvSpPr>
          <p:cNvPr id="4" name="Slide Number Placeholder 3"/>
          <p:cNvSpPr>
            <a:spLocks noGrp="1"/>
          </p:cNvSpPr>
          <p:nvPr>
            <p:ph type="sldNum" sz="quarter" idx="5"/>
          </p:nvPr>
        </p:nvSpPr>
        <p:spPr/>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Supply Side Trends</a:t>
            </a:r>
          </a:p>
        </p:txBody>
      </p:sp>
      <p:sp>
        <p:nvSpPr>
          <p:cNvPr id="4" name="Slide Number Placeholder 3"/>
          <p:cNvSpPr>
            <a:spLocks noGrp="1"/>
          </p:cNvSpPr>
          <p:nvPr>
            <p:ph type="sldNum" sz="quarter" idx="5"/>
          </p:nvPr>
        </p:nvSpPr>
        <p:spPr/>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Analysis and Recommendation</a:t>
            </a:r>
          </a:p>
        </p:txBody>
      </p:sp>
      <p:sp>
        <p:nvSpPr>
          <p:cNvPr id="4" name="Slide Number Placeholder 3"/>
          <p:cNvSpPr>
            <a:spLocks noGrp="1"/>
          </p:cNvSpPr>
          <p:nvPr>
            <p:ph type="sldNum" sz="quarter" idx="5"/>
          </p:nvPr>
        </p:nvSpPr>
        <p:spPr/>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Global Overview Scenario Outlook (4/4)</a:t>
            </a:r>
          </a:p>
        </p:txBody>
      </p:sp>
      <p:sp>
        <p:nvSpPr>
          <p:cNvPr id="4" name="Slide Number Placeholder 3"/>
          <p:cNvSpPr>
            <a:spLocks noGrp="1"/>
          </p:cNvSpPr>
          <p:nvPr>
            <p:ph type="sldNum" sz="quarter" idx="5"/>
          </p:nvPr>
        </p:nvSpPr>
        <p:spPr/>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Region Global Corrugated Partition – Regional Outlook</a:t>
            </a:r>
          </a:p>
        </p:txBody>
      </p:sp>
      <p:sp>
        <p:nvSpPr>
          <p:cNvPr id="4" name="Slide Number Placeholder 3"/>
          <p:cNvSpPr>
            <a:spLocks noGrp="1"/>
          </p:cNvSpPr>
          <p:nvPr>
            <p:ph type="sldNum" sz="quarter" idx="5"/>
          </p:nvPr>
        </p:nvSpPr>
        <p:spPr/>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Region Market Analysis By Region (1/2)</a:t>
            </a:r>
          </a:p>
        </p:txBody>
      </p:sp>
      <p:sp>
        <p:nvSpPr>
          <p:cNvPr id="4" name="Slide Number Placeholder 3"/>
          <p:cNvSpPr>
            <a:spLocks noGrp="1"/>
          </p:cNvSpPr>
          <p:nvPr>
            <p:ph type="sldNum" sz="quarter" idx="5"/>
          </p:nvPr>
        </p:nvSpPr>
        <p:spPr/>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Region Market Analysis By Region (2/2)</a:t>
            </a:r>
          </a:p>
        </p:txBody>
      </p:sp>
      <p:sp>
        <p:nvSpPr>
          <p:cNvPr id="4" name="Slide Number Placeholder 3"/>
          <p:cNvSpPr>
            <a:spLocks noGrp="1"/>
          </p:cNvSpPr>
          <p:nvPr>
            <p:ph type="sldNum" sz="quarter" idx="5"/>
          </p:nvPr>
        </p:nvSpPr>
        <p:spPr/>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Region Volume Share Analysis By Region</a:t>
            </a:r>
          </a:p>
        </p:txBody>
      </p:sp>
      <p:sp>
        <p:nvSpPr>
          <p:cNvPr id="4" name="Slide Number Placeholder 3"/>
          <p:cNvSpPr>
            <a:spLocks noGrp="1"/>
          </p:cNvSpPr>
          <p:nvPr>
            <p:ph type="sldNum" sz="quarter" idx="5"/>
          </p:nvPr>
        </p:nvSpPr>
        <p:spPr/>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Region Value Share Analysis By Region</a:t>
            </a:r>
          </a:p>
        </p:txBody>
      </p:sp>
      <p:sp>
        <p:nvSpPr>
          <p:cNvPr id="4" name="Slide Number Placeholder 3"/>
          <p:cNvSpPr>
            <a:spLocks noGrp="1"/>
          </p:cNvSpPr>
          <p:nvPr>
            <p:ph type="sldNum" sz="quarter" idx="5"/>
          </p:nvPr>
        </p:nvSpPr>
        <p:spPr/>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Region Market Trends By Region</a:t>
            </a:r>
          </a:p>
        </p:txBody>
      </p:sp>
      <p:sp>
        <p:nvSpPr>
          <p:cNvPr id="4" name="Slide Number Placeholder 3"/>
          <p:cNvSpPr>
            <a:spLocks noGrp="1"/>
          </p:cNvSpPr>
          <p:nvPr>
            <p:ph type="sldNum" sz="quarter" idx="5"/>
          </p:nvPr>
        </p:nvSpPr>
        <p:spPr/>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Region Top Countries</a:t>
            </a:r>
          </a:p>
        </p:txBody>
      </p:sp>
      <p:sp>
        <p:nvSpPr>
          <p:cNvPr id="4" name="Slide Number Placeholder 3"/>
          <p:cNvSpPr>
            <a:spLocks noGrp="1"/>
          </p:cNvSpPr>
          <p:nvPr>
            <p:ph type="sldNum" sz="quarter" idx="5"/>
          </p:nvPr>
        </p:nvSpPr>
        <p:spPr/>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By Partition Type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By Board Construction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By Material Source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By Cell Configuration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By Customization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By End Use Segment Outlook  (1/2)</a:t>
            </a:r>
          </a:p>
        </p:txBody>
      </p:sp>
      <p:sp>
        <p:nvSpPr>
          <p:cNvPr id="4" name="Slide Number Placeholder 3"/>
          <p:cNvSpPr>
            <a:spLocks noGrp="1"/>
          </p:cNvSpPr>
          <p:nvPr>
            <p:ph type="sldNum" sz="quarter" idx="5"/>
          </p:nvPr>
        </p:nvSpPr>
        <p:spPr/>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By End Use Segment Outlook  (2/2)</a:t>
            </a:r>
          </a:p>
        </p:txBody>
      </p:sp>
      <p:sp>
        <p:nvSpPr>
          <p:cNvPr id="4" name="Slide Number Placeholder 3"/>
          <p:cNvSpPr>
            <a:spLocks noGrp="1"/>
          </p:cNvSpPr>
          <p:nvPr>
            <p:ph type="sldNum" sz="quarter" idx="5"/>
          </p:nvPr>
        </p:nvSpPr>
        <p:spPr/>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Absolute $ Analysis  (1/2)</a:t>
            </a:r>
          </a:p>
        </p:txBody>
      </p:sp>
      <p:sp>
        <p:nvSpPr>
          <p:cNvPr id="4" name="Slide Number Placeholder 3"/>
          <p:cNvSpPr>
            <a:spLocks noGrp="1"/>
          </p:cNvSpPr>
          <p:nvPr>
            <p:ph type="sldNum" sz="quarter" idx="5"/>
          </p:nvPr>
        </p:nvSpPr>
        <p:spPr/>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Absolute $ Analysis  (2/2)</a:t>
            </a:r>
          </a:p>
        </p:txBody>
      </p:sp>
      <p:sp>
        <p:nvSpPr>
          <p:cNvPr id="4" name="Slide Number Placeholder 3"/>
          <p:cNvSpPr>
            <a:spLocks noGrp="1"/>
          </p:cNvSpPr>
          <p:nvPr>
            <p:ph type="sldNum" sz="quarter" idx="5"/>
          </p:nvPr>
        </p:nvSpPr>
        <p:spPr/>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By Sales Channel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 End Use Market Snapshot</a:t>
            </a:r>
          </a:p>
        </p:txBody>
      </p:sp>
      <p:sp>
        <p:nvSpPr>
          <p:cNvPr id="4" name="Slide Number Placeholder 3"/>
          <p:cNvSpPr>
            <a:spLocks noGrp="1"/>
          </p:cNvSpPr>
          <p:nvPr>
            <p:ph type="sldNum" sz="quarter" idx="5"/>
          </p:nvPr>
        </p:nvSpPr>
        <p:spPr/>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 End Use Market Share Analysis</a:t>
            </a:r>
          </a:p>
        </p:txBody>
      </p:sp>
      <p:sp>
        <p:nvSpPr>
          <p:cNvPr id="4" name="Slide Number Placeholder 3"/>
          <p:cNvSpPr>
            <a:spLocks noGrp="1"/>
          </p:cNvSpPr>
          <p:nvPr>
            <p:ph type="sldNum" sz="quarter" idx="5"/>
          </p:nvPr>
        </p:nvSpPr>
        <p:spPr/>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 End Use Absolute $ Opportunity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 End Use Market Snapshot</a:t>
            </a:r>
          </a:p>
        </p:txBody>
      </p:sp>
      <p:sp>
        <p:nvSpPr>
          <p:cNvPr id="4" name="Slide Number Placeholder 3"/>
          <p:cNvSpPr>
            <a:spLocks noGrp="1"/>
          </p:cNvSpPr>
          <p:nvPr>
            <p:ph type="sldNum" sz="quarter" idx="5"/>
          </p:nvPr>
        </p:nvSpPr>
        <p:spPr/>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 End Use Market Share Analysis</a:t>
            </a:r>
          </a:p>
        </p:txBody>
      </p:sp>
      <p:sp>
        <p:nvSpPr>
          <p:cNvPr id="4" name="Slide Number Placeholder 3"/>
          <p:cNvSpPr>
            <a:spLocks noGrp="1"/>
          </p:cNvSpPr>
          <p:nvPr>
            <p:ph type="sldNum" sz="quarter" idx="5"/>
          </p:nvPr>
        </p:nvSpPr>
        <p:spPr/>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 End Use Absolute $ Opportunity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 End Use Market Snapshot</a:t>
            </a:r>
          </a:p>
        </p:txBody>
      </p:sp>
      <p:sp>
        <p:nvSpPr>
          <p:cNvPr id="4" name="Slide Number Placeholder 3"/>
          <p:cNvSpPr>
            <a:spLocks noGrp="1"/>
          </p:cNvSpPr>
          <p:nvPr>
            <p:ph type="sldNum" sz="quarter" idx="5"/>
          </p:nvPr>
        </p:nvSpPr>
        <p:spPr/>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 End Use Market Share Analysis</a:t>
            </a:r>
          </a:p>
        </p:txBody>
      </p:sp>
      <p:sp>
        <p:nvSpPr>
          <p:cNvPr id="4" name="Slide Number Placeholder 3"/>
          <p:cNvSpPr>
            <a:spLocks noGrp="1"/>
          </p:cNvSpPr>
          <p:nvPr>
            <p:ph type="sldNum" sz="quarter" idx="5"/>
          </p:nvPr>
        </p:nvSpPr>
        <p:spPr/>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 End Use Absolute $ Opportunity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North America Market Outlook (section breaker)</a:t>
            </a:r>
          </a:p>
        </p:txBody>
      </p:sp>
      <p:sp>
        <p:nvSpPr>
          <p:cNvPr id="4" name="Slide Number Placeholder 3"/>
          <p:cNvSpPr>
            <a:spLocks noGrp="1"/>
          </p:cNvSpPr>
          <p:nvPr>
            <p:ph type="sldNum" sz="quarter" idx="5"/>
          </p:nvPr>
        </p:nvSpPr>
        <p:spPr/>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North America Overview Volume Market Summary</a:t>
            </a:r>
          </a:p>
        </p:txBody>
      </p:sp>
      <p:sp>
        <p:nvSpPr>
          <p:cNvPr id="4" name="Slide Number Placeholder 3"/>
          <p:cNvSpPr>
            <a:spLocks noGrp="1"/>
          </p:cNvSpPr>
          <p:nvPr>
            <p:ph type="sldNum" sz="quarter" idx="5"/>
          </p:nvPr>
        </p:nvSpPr>
        <p:spPr/>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North America Overview Pricing &amp; Price Index</a:t>
            </a:r>
          </a:p>
        </p:txBody>
      </p:sp>
      <p:sp>
        <p:nvSpPr>
          <p:cNvPr id="4" name="Slide Number Placeholder 3"/>
          <p:cNvSpPr>
            <a:spLocks noGrp="1"/>
          </p:cNvSpPr>
          <p:nvPr>
            <p:ph type="sldNum" sz="quarter" idx="5"/>
          </p:nvPr>
        </p:nvSpPr>
        <p:spPr/>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North America Overview Value Market Summary</a:t>
            </a:r>
          </a:p>
        </p:txBody>
      </p:sp>
      <p:sp>
        <p:nvSpPr>
          <p:cNvPr id="4" name="Slide Number Placeholder 3"/>
          <p:cNvSpPr>
            <a:spLocks noGrp="1"/>
          </p:cNvSpPr>
          <p:nvPr>
            <p:ph type="sldNum" sz="quarter" idx="5"/>
          </p:nvPr>
        </p:nvSpPr>
        <p:spPr/>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North America Overview Market Volume &amp;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North America Overview Country Outlook</a:t>
            </a:r>
          </a:p>
        </p:txBody>
      </p:sp>
      <p:sp>
        <p:nvSpPr>
          <p:cNvPr id="4" name="Slide Number Placeholder 3"/>
          <p:cNvSpPr>
            <a:spLocks noGrp="1"/>
          </p:cNvSpPr>
          <p:nvPr>
            <p:ph type="sldNum" sz="quarter" idx="5"/>
          </p:nvPr>
        </p:nvSpPr>
        <p:spPr/>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North America Overview Market Overview (1/4)</a:t>
            </a:r>
          </a:p>
        </p:txBody>
      </p:sp>
      <p:sp>
        <p:nvSpPr>
          <p:cNvPr id="4" name="Slide Number Placeholder 3"/>
          <p:cNvSpPr>
            <a:spLocks noGrp="1"/>
          </p:cNvSpPr>
          <p:nvPr>
            <p:ph type="sldNum" sz="quarter" idx="5"/>
          </p:nvPr>
        </p:nvSpPr>
        <p:spPr/>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North America Overview Supply Side Trends</a:t>
            </a:r>
          </a:p>
        </p:txBody>
      </p:sp>
      <p:sp>
        <p:nvSpPr>
          <p:cNvPr id="4" name="Slide Number Placeholder 3"/>
          <p:cNvSpPr>
            <a:spLocks noGrp="1"/>
          </p:cNvSpPr>
          <p:nvPr>
            <p:ph type="sldNum" sz="quarter" idx="5"/>
          </p:nvPr>
        </p:nvSpPr>
        <p:spPr/>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North America Overview Analysis and Recommendation</a:t>
            </a:r>
          </a:p>
        </p:txBody>
      </p:sp>
      <p:sp>
        <p:nvSpPr>
          <p:cNvPr id="4" name="Slide Number Placeholder 3"/>
          <p:cNvSpPr>
            <a:spLocks noGrp="1"/>
          </p:cNvSpPr>
          <p:nvPr>
            <p:ph type="sldNum" sz="quarter" idx="5"/>
          </p:nvPr>
        </p:nvSpPr>
        <p:spPr/>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North America Overview Scenario Outlook (4/4)</a:t>
            </a:r>
          </a:p>
        </p:txBody>
      </p:sp>
      <p:sp>
        <p:nvSpPr>
          <p:cNvPr id="4" name="Slide Number Placeholder 3"/>
          <p:cNvSpPr>
            <a:spLocks noGrp="1"/>
          </p:cNvSpPr>
          <p:nvPr>
            <p:ph type="sldNum" sz="quarter" idx="5"/>
          </p:nvPr>
        </p:nvSpPr>
        <p:spPr/>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Country North America Corrugated Partition – Country Outlook</a:t>
            </a:r>
          </a:p>
        </p:txBody>
      </p:sp>
      <p:sp>
        <p:nvSpPr>
          <p:cNvPr id="4" name="Slide Number Placeholder 3"/>
          <p:cNvSpPr>
            <a:spLocks noGrp="1"/>
          </p:cNvSpPr>
          <p:nvPr>
            <p:ph type="sldNum" sz="quarter" idx="5"/>
          </p:nvPr>
        </p:nvSpPr>
        <p:spPr/>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Country Market Analysis By Country (1/2)</a:t>
            </a:r>
          </a:p>
        </p:txBody>
      </p:sp>
      <p:sp>
        <p:nvSpPr>
          <p:cNvPr id="4" name="Slide Number Placeholder 3"/>
          <p:cNvSpPr>
            <a:spLocks noGrp="1"/>
          </p:cNvSpPr>
          <p:nvPr>
            <p:ph type="sldNum" sz="quarter" idx="5"/>
          </p:nvPr>
        </p:nvSpPr>
        <p:spPr/>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Country Market Analysis By Country (2/2)</a:t>
            </a:r>
          </a:p>
        </p:txBody>
      </p:sp>
      <p:sp>
        <p:nvSpPr>
          <p:cNvPr id="4" name="Slide Number Placeholder 3"/>
          <p:cNvSpPr>
            <a:spLocks noGrp="1"/>
          </p:cNvSpPr>
          <p:nvPr>
            <p:ph type="sldNum" sz="quarter" idx="5"/>
          </p:nvPr>
        </p:nvSpPr>
        <p:spPr/>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Country Volume Share Analysis By Country</a:t>
            </a:r>
          </a:p>
        </p:txBody>
      </p:sp>
      <p:sp>
        <p:nvSpPr>
          <p:cNvPr id="4" name="Slide Number Placeholder 3"/>
          <p:cNvSpPr>
            <a:spLocks noGrp="1"/>
          </p:cNvSpPr>
          <p:nvPr>
            <p:ph type="sldNum" sz="quarter" idx="5"/>
          </p:nvPr>
        </p:nvSpPr>
        <p:spPr/>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Country Value Share Analysis By Country</a:t>
            </a:r>
          </a:p>
        </p:txBody>
      </p:sp>
      <p:sp>
        <p:nvSpPr>
          <p:cNvPr id="4" name="Slide Number Placeholder 3"/>
          <p:cNvSpPr>
            <a:spLocks noGrp="1"/>
          </p:cNvSpPr>
          <p:nvPr>
            <p:ph type="sldNum" sz="quarter" idx="5"/>
          </p:nvPr>
        </p:nvSpPr>
        <p:spPr/>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Country Market Trends By Country</a:t>
            </a:r>
          </a:p>
        </p:txBody>
      </p:sp>
      <p:sp>
        <p:nvSpPr>
          <p:cNvPr id="4" name="Slide Number Placeholder 3"/>
          <p:cNvSpPr>
            <a:spLocks noGrp="1"/>
          </p:cNvSpPr>
          <p:nvPr>
            <p:ph type="sldNum" sz="quarter" idx="5"/>
          </p:nvPr>
        </p:nvSpPr>
        <p:spPr/>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By Country Top Countries</a:t>
            </a:r>
          </a:p>
        </p:txBody>
      </p:sp>
      <p:sp>
        <p:nvSpPr>
          <p:cNvPr id="4" name="Slide Number Placeholder 3"/>
          <p:cNvSpPr>
            <a:spLocks noGrp="1"/>
          </p:cNvSpPr>
          <p:nvPr>
            <p:ph type="sldNum" sz="quarter" idx="5"/>
          </p:nvPr>
        </p:nvSpPr>
        <p:spPr/>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By Partition Type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By Board Construction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By Material Source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Material Source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By Cell Configuration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By Customization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Customization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By End Use Segment Outlook  (1/2)</a:t>
            </a:r>
          </a:p>
        </p:txBody>
      </p:sp>
      <p:sp>
        <p:nvSpPr>
          <p:cNvPr id="4" name="Slide Number Placeholder 3"/>
          <p:cNvSpPr>
            <a:spLocks noGrp="1"/>
          </p:cNvSpPr>
          <p:nvPr>
            <p:ph type="sldNum" sz="quarter" idx="5"/>
          </p:nvPr>
        </p:nvSpPr>
        <p:spPr/>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By End Use Segment Outlook  (2/2)</a:t>
            </a:r>
          </a:p>
        </p:txBody>
      </p:sp>
      <p:sp>
        <p:nvSpPr>
          <p:cNvPr id="4" name="Slide Number Placeholder 3"/>
          <p:cNvSpPr>
            <a:spLocks noGrp="1"/>
          </p:cNvSpPr>
          <p:nvPr>
            <p:ph type="sldNum" sz="quarter" idx="5"/>
          </p:nvPr>
        </p:nvSpPr>
        <p:spPr/>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Absolute $ Analysis  (1/2)</a:t>
            </a:r>
          </a:p>
        </p:txBody>
      </p:sp>
      <p:sp>
        <p:nvSpPr>
          <p:cNvPr id="4" name="Slide Number Placeholder 3"/>
          <p:cNvSpPr>
            <a:spLocks noGrp="1"/>
          </p:cNvSpPr>
          <p:nvPr>
            <p:ph type="sldNum" sz="quarter" idx="5"/>
          </p:nvPr>
        </p:nvSpPr>
        <p:spPr/>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Absolute $ Analysis  (2/2)</a:t>
            </a:r>
          </a:p>
        </p:txBody>
      </p:sp>
      <p:sp>
        <p:nvSpPr>
          <p:cNvPr id="4" name="Slide Number Placeholder 3"/>
          <p:cNvSpPr>
            <a:spLocks noGrp="1"/>
          </p:cNvSpPr>
          <p:nvPr>
            <p:ph type="sldNum" sz="quarter" idx="5"/>
          </p:nvPr>
        </p:nvSpPr>
        <p:spPr/>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End Use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By Sales Channel Segment Outlook</a:t>
            </a:r>
          </a:p>
        </p:txBody>
      </p:sp>
      <p:sp>
        <p:nvSpPr>
          <p:cNvPr id="4" name="Slide Number Placeholder 3"/>
          <p:cNvSpPr>
            <a:spLocks noGrp="1"/>
          </p:cNvSpPr>
          <p:nvPr>
            <p:ph type="sldNum" sz="quarter" idx="5"/>
          </p:nvPr>
        </p:nvSpPr>
        <p:spPr/>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Market Structure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Absolute $ Analysis</a:t>
            </a:r>
          </a:p>
        </p:txBody>
      </p:sp>
      <p:sp>
        <p:nvSpPr>
          <p:cNvPr id="4" name="Slide Number Placeholder 3"/>
          <p:cNvSpPr>
            <a:spLocks noGrp="1"/>
          </p:cNvSpPr>
          <p:nvPr>
            <p:ph type="sldNum" sz="quarter" idx="5"/>
          </p:nvPr>
        </p:nvSpPr>
        <p:spPr/>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Market Volume Analysis</a:t>
            </a:r>
          </a:p>
        </p:txBody>
      </p:sp>
      <p:sp>
        <p:nvSpPr>
          <p:cNvPr id="4" name="Slide Number Placeholder 3"/>
          <p:cNvSpPr>
            <a:spLocks noGrp="1"/>
          </p:cNvSpPr>
          <p:nvPr>
            <p:ph type="sldNum" sz="quarter" idx="5"/>
          </p:nvPr>
        </p:nvSpPr>
        <p:spPr/>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Market Value Analysis</a:t>
            </a:r>
          </a:p>
        </p:txBody>
      </p:sp>
      <p:sp>
        <p:nvSpPr>
          <p:cNvPr id="4" name="Slide Number Placeholder 3"/>
          <p:cNvSpPr>
            <a:spLocks noGrp="1"/>
          </p:cNvSpPr>
          <p:nvPr>
            <p:ph type="sldNum" sz="quarter" idx="5"/>
          </p:nvPr>
        </p:nvSpPr>
        <p:spPr/>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Value &amp; Share Shift</a:t>
            </a:r>
          </a:p>
        </p:txBody>
      </p:sp>
      <p:sp>
        <p:nvSpPr>
          <p:cNvPr id="4" name="Slide Number Placeholder 3"/>
          <p:cNvSpPr>
            <a:spLocks noGrp="1"/>
          </p:cNvSpPr>
          <p:nvPr>
            <p:ph type="sldNum" sz="quarter" idx="5"/>
          </p:nvPr>
        </p:nvSpPr>
        <p:spPr/>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YoY Analysis Volume</a:t>
            </a:r>
          </a:p>
        </p:txBody>
      </p:sp>
      <p:sp>
        <p:nvSpPr>
          <p:cNvPr id="4" name="Slide Number Placeholder 3"/>
          <p:cNvSpPr>
            <a:spLocks noGrp="1"/>
          </p:cNvSpPr>
          <p:nvPr>
            <p:ph type="sldNum" sz="quarter" idx="5"/>
          </p:nvPr>
        </p:nvSpPr>
        <p:spPr/>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Sales Channel YoY Analysis Value</a:t>
            </a:r>
          </a:p>
        </p:txBody>
      </p:sp>
      <p:sp>
        <p:nvSpPr>
          <p:cNvPr id="4" name="Slide Number Placeholder 3"/>
          <p:cNvSpPr>
            <a:spLocks noGrp="1"/>
          </p:cNvSpPr>
          <p:nvPr>
            <p:ph type="sldNum" sz="quarter" idx="5"/>
          </p:nvPr>
        </p:nvSpPr>
        <p:spPr/>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 End Use Market Snapshot</a:t>
            </a:r>
          </a:p>
        </p:txBody>
      </p:sp>
      <p:sp>
        <p:nvSpPr>
          <p:cNvPr id="4" name="Slide Number Placeholder 3"/>
          <p:cNvSpPr>
            <a:spLocks noGrp="1"/>
          </p:cNvSpPr>
          <p:nvPr>
            <p:ph type="sldNum" sz="quarter" idx="5"/>
          </p:nvPr>
        </p:nvSpPr>
        <p:spPr/>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 End Use Market Share Analysis</a:t>
            </a:r>
          </a:p>
        </p:txBody>
      </p:sp>
      <p:sp>
        <p:nvSpPr>
          <p:cNvPr id="4" name="Slide Number Placeholder 3"/>
          <p:cNvSpPr>
            <a:spLocks noGrp="1"/>
          </p:cNvSpPr>
          <p:nvPr>
            <p:ph type="sldNum" sz="quarter" idx="5"/>
          </p:nvPr>
        </p:nvSpPr>
        <p:spPr/>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 End Use Absolute $ Opportunity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 End Use Market Snapshot</a:t>
            </a:r>
          </a:p>
        </p:txBody>
      </p:sp>
      <p:sp>
        <p:nvSpPr>
          <p:cNvPr id="4" name="Slide Number Placeholder 3"/>
          <p:cNvSpPr>
            <a:spLocks noGrp="1"/>
          </p:cNvSpPr>
          <p:nvPr>
            <p:ph type="sldNum" sz="quarter" idx="5"/>
          </p:nvPr>
        </p:nvSpPr>
        <p:spPr/>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 End Use Market Share Analysis</a:t>
            </a:r>
          </a:p>
        </p:txBody>
      </p:sp>
      <p:sp>
        <p:nvSpPr>
          <p:cNvPr id="4" name="Slide Number Placeholder 3"/>
          <p:cNvSpPr>
            <a:spLocks noGrp="1"/>
          </p:cNvSpPr>
          <p:nvPr>
            <p:ph type="sldNum" sz="quarter" idx="5"/>
          </p:nvPr>
        </p:nvSpPr>
        <p:spPr/>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 End Use Absolute $ Opportunity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 End Use Market Snapshot</a:t>
            </a:r>
          </a:p>
        </p:txBody>
      </p:sp>
      <p:sp>
        <p:nvSpPr>
          <p:cNvPr id="4" name="Slide Number Placeholder 3"/>
          <p:cNvSpPr>
            <a:spLocks noGrp="1"/>
          </p:cNvSpPr>
          <p:nvPr>
            <p:ph type="sldNum" sz="quarter" idx="5"/>
          </p:nvPr>
        </p:nvSpPr>
        <p:spPr/>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 End Use Market Share Analysis</a:t>
            </a:r>
          </a:p>
        </p:txBody>
      </p:sp>
      <p:sp>
        <p:nvSpPr>
          <p:cNvPr id="4" name="Slide Number Placeholder 3"/>
          <p:cNvSpPr>
            <a:spLocks noGrp="1"/>
          </p:cNvSpPr>
          <p:nvPr>
            <p:ph type="sldNum" sz="quarter" idx="5"/>
          </p:nvPr>
        </p:nvSpPr>
        <p:spPr/>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 End Use Absolute $ Opportunity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Country Market Outlook (section breaker)</a:t>
            </a:r>
          </a:p>
        </p:txBody>
      </p:sp>
      <p:sp>
        <p:nvSpPr>
          <p:cNvPr id="4" name="Slide Number Placeholder 3"/>
          <p:cNvSpPr>
            <a:spLocks noGrp="1"/>
          </p:cNvSpPr>
          <p:nvPr>
            <p:ph type="sldNum" sz="quarter" idx="5"/>
          </p:nvPr>
        </p:nvSpPr>
        <p:spPr/>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Overview Volume Overview</a:t>
            </a:r>
          </a:p>
        </p:txBody>
      </p:sp>
      <p:sp>
        <p:nvSpPr>
          <p:cNvPr id="4" name="Slide Number Placeholder 3"/>
          <p:cNvSpPr>
            <a:spLocks noGrp="1"/>
          </p:cNvSpPr>
          <p:nvPr>
            <p:ph type="sldNum" sz="quarter" idx="5"/>
          </p:nvPr>
        </p:nvSpPr>
        <p:spPr/>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Overview Value Overview</a:t>
            </a:r>
          </a:p>
        </p:txBody>
      </p:sp>
      <p:sp>
        <p:nvSpPr>
          <p:cNvPr id="4" name="Slide Number Placeholder 3"/>
          <p:cNvSpPr>
            <a:spLocks noGrp="1"/>
          </p:cNvSpPr>
          <p:nvPr>
            <p:ph type="sldNum" sz="quarter" idx="5"/>
          </p:nvPr>
        </p:nvSpPr>
        <p:spPr/>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Overview Key Segments (Value)  (1/2)</a:t>
            </a:r>
          </a:p>
        </p:txBody>
      </p:sp>
      <p:sp>
        <p:nvSpPr>
          <p:cNvPr id="4" name="Slide Number Placeholder 3"/>
          <p:cNvSpPr>
            <a:spLocks noGrp="1"/>
          </p:cNvSpPr>
          <p:nvPr>
            <p:ph type="sldNum" sz="quarter" idx="5"/>
          </p:nvPr>
        </p:nvSpPr>
        <p:spPr/>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Overview Key Segments (Value)  (2/2)</a:t>
            </a:r>
          </a:p>
        </p:txBody>
      </p:sp>
      <p:sp>
        <p:nvSpPr>
          <p:cNvPr id="4" name="Slide Number Placeholder 3"/>
          <p:cNvSpPr>
            <a:spLocks noGrp="1"/>
          </p:cNvSpPr>
          <p:nvPr>
            <p:ph type="sldNum" sz="quarter" idx="5"/>
          </p:nvPr>
        </p:nvSpPr>
        <p:spPr/>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Partition Type Segmental</a:t>
            </a:r>
          </a:p>
        </p:txBody>
      </p:sp>
      <p:sp>
        <p:nvSpPr>
          <p:cNvPr id="4" name="Slide Number Placeholder 3"/>
          <p:cNvSpPr>
            <a:spLocks noGrp="1"/>
          </p:cNvSpPr>
          <p:nvPr>
            <p:ph type="sldNum" sz="quarter" idx="5"/>
          </p:nvPr>
        </p:nvSpPr>
        <p:spPr/>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Partition Type Table (Volume &amp; Value)</a:t>
            </a:r>
          </a:p>
        </p:txBody>
      </p:sp>
      <p:sp>
        <p:nvSpPr>
          <p:cNvPr id="4" name="Slide Number Placeholder 3"/>
          <p:cNvSpPr>
            <a:spLocks noGrp="1"/>
          </p:cNvSpPr>
          <p:nvPr>
            <p:ph type="sldNum" sz="quarter" idx="5"/>
          </p:nvPr>
        </p:nvSpPr>
        <p:spPr/>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Partition Type YoY</a:t>
            </a:r>
          </a:p>
        </p:txBody>
      </p:sp>
      <p:sp>
        <p:nvSpPr>
          <p:cNvPr id="4" name="Slide Number Placeholder 3"/>
          <p:cNvSpPr>
            <a:spLocks noGrp="1"/>
          </p:cNvSpPr>
          <p:nvPr>
            <p:ph type="sldNum" sz="quarter" idx="5"/>
          </p:nvPr>
        </p:nvSpPr>
        <p:spPr/>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Board Construction Segmental</a:t>
            </a:r>
          </a:p>
        </p:txBody>
      </p:sp>
      <p:sp>
        <p:nvSpPr>
          <p:cNvPr id="4" name="Slide Number Placeholder 3"/>
          <p:cNvSpPr>
            <a:spLocks noGrp="1"/>
          </p:cNvSpPr>
          <p:nvPr>
            <p:ph type="sldNum" sz="quarter" idx="5"/>
          </p:nvPr>
        </p:nvSpPr>
        <p:spPr/>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Board Construction Table (Volume &amp; Value)</a:t>
            </a:r>
          </a:p>
        </p:txBody>
      </p:sp>
      <p:sp>
        <p:nvSpPr>
          <p:cNvPr id="4" name="Slide Number Placeholder 3"/>
          <p:cNvSpPr>
            <a:spLocks noGrp="1"/>
          </p:cNvSpPr>
          <p:nvPr>
            <p:ph type="sldNum" sz="quarter" idx="5"/>
          </p:nvPr>
        </p:nvSpPr>
        <p:spPr/>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Board Construction YoY</a:t>
            </a:r>
          </a:p>
        </p:txBody>
      </p:sp>
      <p:sp>
        <p:nvSpPr>
          <p:cNvPr id="4" name="Slide Number Placeholder 3"/>
          <p:cNvSpPr>
            <a:spLocks noGrp="1"/>
          </p:cNvSpPr>
          <p:nvPr>
            <p:ph type="sldNum" sz="quarter" idx="5"/>
          </p:nvPr>
        </p:nvSpPr>
        <p:spPr/>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Material Source Segmental</a:t>
            </a:r>
          </a:p>
        </p:txBody>
      </p:sp>
      <p:sp>
        <p:nvSpPr>
          <p:cNvPr id="4" name="Slide Number Placeholder 3"/>
          <p:cNvSpPr>
            <a:spLocks noGrp="1"/>
          </p:cNvSpPr>
          <p:nvPr>
            <p:ph type="sldNum" sz="quarter" idx="5"/>
          </p:nvPr>
        </p:nvSpPr>
        <p:spPr/>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Material Source Table (Volume &amp; Value)</a:t>
            </a:r>
          </a:p>
        </p:txBody>
      </p:sp>
      <p:sp>
        <p:nvSpPr>
          <p:cNvPr id="4" name="Slide Number Placeholder 3"/>
          <p:cNvSpPr>
            <a:spLocks noGrp="1"/>
          </p:cNvSpPr>
          <p:nvPr>
            <p:ph type="sldNum" sz="quarter" idx="5"/>
          </p:nvPr>
        </p:nvSpPr>
        <p:spPr/>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Material Source YoY</a:t>
            </a:r>
          </a:p>
        </p:txBody>
      </p:sp>
      <p:sp>
        <p:nvSpPr>
          <p:cNvPr id="4" name="Slide Number Placeholder 3"/>
          <p:cNvSpPr>
            <a:spLocks noGrp="1"/>
          </p:cNvSpPr>
          <p:nvPr>
            <p:ph type="sldNum" sz="quarter" idx="5"/>
          </p:nvPr>
        </p:nvSpPr>
        <p:spPr/>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Cell Configuration Segmental</a:t>
            </a:r>
          </a:p>
        </p:txBody>
      </p:sp>
      <p:sp>
        <p:nvSpPr>
          <p:cNvPr id="4" name="Slide Number Placeholder 3"/>
          <p:cNvSpPr>
            <a:spLocks noGrp="1"/>
          </p:cNvSpPr>
          <p:nvPr>
            <p:ph type="sldNum" sz="quarter" idx="5"/>
          </p:nvPr>
        </p:nvSpPr>
        <p:spPr/>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Cell Configuration Table (Volume &amp; Value)</a:t>
            </a:r>
          </a:p>
        </p:txBody>
      </p:sp>
      <p:sp>
        <p:nvSpPr>
          <p:cNvPr id="4" name="Slide Number Placeholder 3"/>
          <p:cNvSpPr>
            <a:spLocks noGrp="1"/>
          </p:cNvSpPr>
          <p:nvPr>
            <p:ph type="sldNum" sz="quarter" idx="5"/>
          </p:nvPr>
        </p:nvSpPr>
        <p:spPr/>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Cell Configuration YoY</a:t>
            </a:r>
          </a:p>
        </p:txBody>
      </p:sp>
      <p:sp>
        <p:nvSpPr>
          <p:cNvPr id="4" name="Slide Number Placeholder 3"/>
          <p:cNvSpPr>
            <a:spLocks noGrp="1"/>
          </p:cNvSpPr>
          <p:nvPr>
            <p:ph type="sldNum" sz="quarter" idx="5"/>
          </p:nvPr>
        </p:nvSpPr>
        <p:spPr/>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Customization Segmental</a:t>
            </a:r>
          </a:p>
        </p:txBody>
      </p:sp>
      <p:sp>
        <p:nvSpPr>
          <p:cNvPr id="4" name="Slide Number Placeholder 3"/>
          <p:cNvSpPr>
            <a:spLocks noGrp="1"/>
          </p:cNvSpPr>
          <p:nvPr>
            <p:ph type="sldNum" sz="quarter" idx="5"/>
          </p:nvPr>
        </p:nvSpPr>
        <p:spPr/>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Customization Table (Volume &amp; Value)</a:t>
            </a:r>
          </a:p>
        </p:txBody>
      </p:sp>
      <p:sp>
        <p:nvSpPr>
          <p:cNvPr id="4" name="Slide Number Placeholder 3"/>
          <p:cNvSpPr>
            <a:spLocks noGrp="1"/>
          </p:cNvSpPr>
          <p:nvPr>
            <p:ph type="sldNum" sz="quarter" idx="5"/>
          </p:nvPr>
        </p:nvSpPr>
        <p:spPr/>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Customization YoY</a:t>
            </a:r>
          </a:p>
        </p:txBody>
      </p:sp>
      <p:sp>
        <p:nvSpPr>
          <p:cNvPr id="4" name="Slide Number Placeholder 3"/>
          <p:cNvSpPr>
            <a:spLocks noGrp="1"/>
          </p:cNvSpPr>
          <p:nvPr>
            <p:ph type="sldNum" sz="quarter" idx="5"/>
          </p:nvPr>
        </p:nvSpPr>
        <p:spPr/>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End Use Segmental</a:t>
            </a:r>
          </a:p>
        </p:txBody>
      </p:sp>
      <p:sp>
        <p:nvSpPr>
          <p:cNvPr id="4" name="Slide Number Placeholder 3"/>
          <p:cNvSpPr>
            <a:spLocks noGrp="1"/>
          </p:cNvSpPr>
          <p:nvPr>
            <p:ph type="sldNum" sz="quarter" idx="5"/>
          </p:nvPr>
        </p:nvSpPr>
        <p:spPr/>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End Use Table (Volume &amp; Value)  (1/2)</a:t>
            </a:r>
          </a:p>
        </p:txBody>
      </p:sp>
      <p:sp>
        <p:nvSpPr>
          <p:cNvPr id="4" name="Slide Number Placeholder 3"/>
          <p:cNvSpPr>
            <a:spLocks noGrp="1"/>
          </p:cNvSpPr>
          <p:nvPr>
            <p:ph type="sldNum" sz="quarter" idx="5"/>
          </p:nvPr>
        </p:nvSpPr>
        <p:spPr/>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End Use Table (Volume &amp; Value)  (2/2)</a:t>
            </a:r>
          </a:p>
        </p:txBody>
      </p:sp>
      <p:sp>
        <p:nvSpPr>
          <p:cNvPr id="4" name="Slide Number Placeholder 3"/>
          <p:cNvSpPr>
            <a:spLocks noGrp="1"/>
          </p:cNvSpPr>
          <p:nvPr>
            <p:ph type="sldNum" sz="quarter" idx="5"/>
          </p:nvPr>
        </p:nvSpPr>
        <p:spPr/>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End Use YoY</a:t>
            </a:r>
          </a:p>
        </p:txBody>
      </p:sp>
      <p:sp>
        <p:nvSpPr>
          <p:cNvPr id="4" name="Slide Number Placeholder 3"/>
          <p:cNvSpPr>
            <a:spLocks noGrp="1"/>
          </p:cNvSpPr>
          <p:nvPr>
            <p:ph type="sldNum" sz="quarter" idx="5"/>
          </p:nvPr>
        </p:nvSpPr>
        <p:spPr/>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Sales Channel Segmental</a:t>
            </a:r>
          </a:p>
        </p:txBody>
      </p:sp>
      <p:sp>
        <p:nvSpPr>
          <p:cNvPr id="4" name="Slide Number Placeholder 3"/>
          <p:cNvSpPr>
            <a:spLocks noGrp="1"/>
          </p:cNvSpPr>
          <p:nvPr>
            <p:ph type="sldNum" sz="quarter" idx="5"/>
          </p:nvPr>
        </p:nvSpPr>
        <p:spPr/>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Sales Channel Table (Volume &amp; Value)</a:t>
            </a:r>
          </a:p>
        </p:txBody>
      </p:sp>
      <p:sp>
        <p:nvSpPr>
          <p:cNvPr id="4" name="Slide Number Placeholder 3"/>
          <p:cNvSpPr>
            <a:spLocks noGrp="1"/>
          </p:cNvSpPr>
          <p:nvPr>
            <p:ph type="sldNum" sz="quarter" idx="5"/>
          </p:nvPr>
        </p:nvSpPr>
        <p:spPr/>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Country Sales Channel YoY</a:t>
            </a:r>
          </a:p>
        </p:txBody>
      </p:sp>
      <p:sp>
        <p:nvSpPr>
          <p:cNvPr id="4" name="Slide Number Placeholder 3"/>
          <p:cNvSpPr>
            <a:spLocks noGrp="1"/>
          </p:cNvSpPr>
          <p:nvPr>
            <p:ph type="sldNum" sz="quarter" idx="5"/>
          </p:nvPr>
        </p:nvSpPr>
        <p:spPr/>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 End Use Market Snapshot</a:t>
            </a:r>
          </a:p>
        </p:txBody>
      </p:sp>
      <p:sp>
        <p:nvSpPr>
          <p:cNvPr id="4" name="Slide Number Placeholder 3"/>
          <p:cNvSpPr>
            <a:spLocks noGrp="1"/>
          </p:cNvSpPr>
          <p:nvPr>
            <p:ph type="sldNum" sz="quarter" idx="5"/>
          </p:nvPr>
        </p:nvSpPr>
        <p:spPr/>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 End Use Market Share Analysis</a:t>
            </a:r>
          </a:p>
        </p:txBody>
      </p:sp>
      <p:sp>
        <p:nvSpPr>
          <p:cNvPr id="4" name="Slide Number Placeholder 3"/>
          <p:cNvSpPr>
            <a:spLocks noGrp="1"/>
          </p:cNvSpPr>
          <p:nvPr>
            <p:ph type="sldNum" sz="quarter" idx="5"/>
          </p:nvPr>
        </p:nvSpPr>
        <p:spPr/>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Partition Type × End Use Absolute $ Opportunity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 End Use Market Snapshot</a:t>
            </a:r>
          </a:p>
        </p:txBody>
      </p:sp>
      <p:sp>
        <p:nvSpPr>
          <p:cNvPr id="4" name="Slide Number Placeholder 3"/>
          <p:cNvSpPr>
            <a:spLocks noGrp="1"/>
          </p:cNvSpPr>
          <p:nvPr>
            <p:ph type="sldNum" sz="quarter" idx="5"/>
          </p:nvPr>
        </p:nvSpPr>
        <p:spPr/>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 End Use Market Share Analysis</a:t>
            </a:r>
          </a:p>
        </p:txBody>
      </p:sp>
      <p:sp>
        <p:nvSpPr>
          <p:cNvPr id="4" name="Slide Number Placeholder 3"/>
          <p:cNvSpPr>
            <a:spLocks noGrp="1"/>
          </p:cNvSpPr>
          <p:nvPr>
            <p:ph type="sldNum" sz="quarter" idx="5"/>
          </p:nvPr>
        </p:nvSpPr>
        <p:spPr/>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Board Construction × End Use Absolute $ Opportunity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 End Use Market Snapshot</a:t>
            </a:r>
          </a:p>
        </p:txBody>
      </p:sp>
      <p:sp>
        <p:nvSpPr>
          <p:cNvPr id="4" name="Slide Number Placeholder 3"/>
          <p:cNvSpPr>
            <a:spLocks noGrp="1"/>
          </p:cNvSpPr>
          <p:nvPr>
            <p:ph type="sldNum" sz="quarter" idx="5"/>
          </p:nvPr>
        </p:nvSpPr>
        <p:spPr/>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 End Use Market Share Analysis</a:t>
            </a:r>
          </a:p>
        </p:txBody>
      </p:sp>
      <p:sp>
        <p:nvSpPr>
          <p:cNvPr id="4" name="Slide Number Placeholder 3"/>
          <p:cNvSpPr>
            <a:spLocks noGrp="1"/>
          </p:cNvSpPr>
          <p:nvPr>
            <p:ph type="sldNum" sz="quarter" idx="5"/>
          </p:nvPr>
        </p:nvSpPr>
        <p:spPr/>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Cell Configuration × End Use Absolute $ Opportunity &amp; Attractiveness</a:t>
            </a:r>
          </a:p>
        </p:txBody>
      </p:sp>
      <p:sp>
        <p:nvSpPr>
          <p:cNvPr id="4" name="Slide Number Placeholder 3"/>
          <p:cNvSpPr>
            <a:spLocks noGrp="1"/>
          </p:cNvSpPr>
          <p:nvPr>
            <p:ph type="sldNum" sz="quarter" idx="5"/>
          </p:nvPr>
        </p:nvSpPr>
        <p:spPr/>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Pricing Assessment (section breaker)</a:t>
            </a:r>
          </a:p>
        </p:txBody>
      </p:sp>
      <p:sp>
        <p:nvSpPr>
          <p:cNvPr id="4" name="Slide Number Placeholder 3"/>
          <p:cNvSpPr>
            <a:spLocks noGrp="1"/>
          </p:cNvSpPr>
          <p:nvPr>
            <p:ph type="sldNum" sz="quarter" idx="5"/>
          </p:nvPr>
        </p:nvSpPr>
        <p:spPr/>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Product Pricing &amp; Regional Price Index Trends</a:t>
            </a:r>
          </a:p>
        </p:txBody>
      </p:sp>
      <p:sp>
        <p:nvSpPr>
          <p:cNvPr id="4" name="Slide Number Placeholder 3"/>
          <p:cNvSpPr>
            <a:spLocks noGrp="1"/>
          </p:cNvSpPr>
          <p:nvPr>
            <p:ph type="sldNum" sz="quarter" idx="5"/>
          </p:nvPr>
        </p:nvSpPr>
        <p:spPr/>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Global Pricing Assessment</a:t>
            </a:r>
          </a:p>
        </p:txBody>
      </p:sp>
      <p:sp>
        <p:nvSpPr>
          <p:cNvPr id="4" name="Slide Number Placeholder 3"/>
          <p:cNvSpPr>
            <a:spLocks noGrp="1"/>
          </p:cNvSpPr>
          <p:nvPr>
            <p:ph type="sldNum" sz="quarter" idx="5"/>
          </p:nvPr>
        </p:nvSpPr>
        <p:spPr/>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Global Pricing Assessment</a:t>
            </a:r>
          </a:p>
        </p:txBody>
      </p:sp>
      <p:sp>
        <p:nvSpPr>
          <p:cNvPr id="4" name="Slide Number Placeholder 3"/>
          <p:cNvSpPr>
            <a:spLocks noGrp="1"/>
          </p:cNvSpPr>
          <p:nvPr>
            <p:ph type="sldNum" sz="quarter" idx="5"/>
          </p:nvPr>
        </p:nvSpPr>
        <p:spPr/>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Global Pricing Assessment</a:t>
            </a:r>
          </a:p>
        </p:txBody>
      </p:sp>
      <p:sp>
        <p:nvSpPr>
          <p:cNvPr id="4" name="Slide Number Placeholder 3"/>
          <p:cNvSpPr>
            <a:spLocks noGrp="1"/>
          </p:cNvSpPr>
          <p:nvPr>
            <p:ph type="sldNum" sz="quarter" idx="5"/>
          </p:nvPr>
        </p:nvSpPr>
        <p:spPr/>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Price Positioning &amp; Key Findings</a:t>
            </a:r>
          </a:p>
        </p:txBody>
      </p:sp>
      <p:sp>
        <p:nvSpPr>
          <p:cNvPr id="4" name="Slide Number Placeholder 3"/>
          <p:cNvSpPr>
            <a:spLocks noGrp="1"/>
          </p:cNvSpPr>
          <p:nvPr>
            <p:ph type="sldNum" sz="quarter" idx="5"/>
          </p:nvPr>
        </p:nvSpPr>
        <p:spPr/>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Key Pricing Drivers</a:t>
            </a:r>
          </a:p>
        </p:txBody>
      </p:sp>
      <p:sp>
        <p:nvSpPr>
          <p:cNvPr id="4" name="Slide Number Placeholder 3"/>
          <p:cNvSpPr>
            <a:spLocks noGrp="1"/>
          </p:cNvSpPr>
          <p:nvPr>
            <p:ph type="sldNum" sz="quarter" idx="5"/>
          </p:nvPr>
        </p:nvSpPr>
        <p:spPr/>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Factors Impacting Pricing</a:t>
            </a:r>
          </a:p>
        </p:txBody>
      </p:sp>
      <p:sp>
        <p:nvSpPr>
          <p:cNvPr id="4" name="Slide Number Placeholder 3"/>
          <p:cNvSpPr>
            <a:spLocks noGrp="1"/>
          </p:cNvSpPr>
          <p:nvPr>
            <p:ph type="sldNum" sz="quarter" idx="5"/>
          </p:nvPr>
        </p:nvSpPr>
        <p:spPr/>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Regional Price Assessment</a:t>
            </a:r>
          </a:p>
        </p:txBody>
      </p:sp>
      <p:sp>
        <p:nvSpPr>
          <p:cNvPr id="4" name="Slide Number Placeholder 3"/>
          <p:cNvSpPr>
            <a:spLocks noGrp="1"/>
          </p:cNvSpPr>
          <p:nvPr>
            <p:ph type="sldNum" sz="quarter" idx="5"/>
          </p:nvPr>
        </p:nvSpPr>
        <p:spPr/>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Global Pricing Benchmarking</a:t>
            </a:r>
          </a:p>
        </p:txBody>
      </p:sp>
      <p:sp>
        <p:nvSpPr>
          <p:cNvPr id="4" name="Slide Number Placeholder 3"/>
          <p:cNvSpPr>
            <a:spLocks noGrp="1"/>
          </p:cNvSpPr>
          <p:nvPr>
            <p:ph type="sldNum" sz="quarter" idx="5"/>
          </p:nvPr>
        </p:nvSpPr>
        <p:spPr/>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Price Forecast &amp; Dynamics</a:t>
            </a:r>
          </a:p>
        </p:txBody>
      </p:sp>
      <p:sp>
        <p:nvSpPr>
          <p:cNvPr id="4" name="Slide Number Placeholder 3"/>
          <p:cNvSpPr>
            <a:spLocks noGrp="1"/>
          </p:cNvSpPr>
          <p:nvPr>
            <p:ph type="sldNum" sz="quarter" idx="5"/>
          </p:nvPr>
        </p:nvSpPr>
        <p:spPr/>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Pricing Competitor Pricing Strategies</a:t>
            </a:r>
          </a:p>
        </p:txBody>
      </p:sp>
      <p:sp>
        <p:nvSpPr>
          <p:cNvPr id="4" name="Slide Number Placeholder 3"/>
          <p:cNvSpPr>
            <a:spLocks noGrp="1"/>
          </p:cNvSpPr>
          <p:nvPr>
            <p:ph type="sldNum" sz="quarter" idx="5"/>
          </p:nvPr>
        </p:nvSpPr>
        <p:spPr/>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Supply Chain Analysis (section breaker)</a:t>
            </a:r>
          </a:p>
        </p:txBody>
      </p:sp>
      <p:sp>
        <p:nvSpPr>
          <p:cNvPr id="4" name="Slide Number Placeholder 3"/>
          <p:cNvSpPr>
            <a:spLocks noGrp="1"/>
          </p:cNvSpPr>
          <p:nvPr>
            <p:ph type="sldNum" sz="quarter" idx="5"/>
          </p:nvPr>
        </p:nvSpPr>
        <p:spPr/>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Supply Chain Analysis Value Chain &amp; Stakeholder Mapping</a:t>
            </a:r>
          </a:p>
        </p:txBody>
      </p:sp>
      <p:sp>
        <p:nvSpPr>
          <p:cNvPr id="4" name="Slide Number Placeholder 3"/>
          <p:cNvSpPr>
            <a:spLocks noGrp="1"/>
          </p:cNvSpPr>
          <p:nvPr>
            <p:ph type="sldNum" sz="quarter" idx="5"/>
          </p:nvPr>
        </p:nvSpPr>
        <p:spPr/>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Supply Chain Analysis Operating Margin Analysis</a:t>
            </a:r>
          </a:p>
        </p:txBody>
      </p:sp>
      <p:sp>
        <p:nvSpPr>
          <p:cNvPr id="4" name="Slide Number Placeholder 3"/>
          <p:cNvSpPr>
            <a:spLocks noGrp="1"/>
          </p:cNvSpPr>
          <p:nvPr>
            <p:ph type="sldNum" sz="quarter" idx="5"/>
          </p:nvPr>
        </p:nvSpPr>
        <p:spPr/>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Supply Chain Analysis Buyers Assessment</a:t>
            </a:r>
          </a:p>
        </p:txBody>
      </p:sp>
      <p:sp>
        <p:nvSpPr>
          <p:cNvPr id="4" name="Slide Number Placeholder 3"/>
          <p:cNvSpPr>
            <a:spLocks noGrp="1"/>
          </p:cNvSpPr>
          <p:nvPr>
            <p:ph type="sldNum" sz="quarter" idx="5"/>
          </p:nvPr>
        </p:nvSpPr>
        <p:spPr/>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Market Dynamics (section breaker)</a:t>
            </a:r>
          </a:p>
        </p:txBody>
      </p:sp>
      <p:sp>
        <p:nvSpPr>
          <p:cNvPr id="4" name="Slide Number Placeholder 3"/>
          <p:cNvSpPr>
            <a:spLocks noGrp="1"/>
          </p:cNvSpPr>
          <p:nvPr>
            <p:ph type="sldNum" sz="quarter" idx="5"/>
          </p:nvPr>
        </p:nvSpPr>
        <p:spPr/>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Dynamics Market Dynamics &amp; Forces Market Dynamics by Geography</a:t>
            </a:r>
          </a:p>
        </p:txBody>
      </p:sp>
      <p:sp>
        <p:nvSpPr>
          <p:cNvPr id="4" name="Slide Number Placeholder 3"/>
          <p:cNvSpPr>
            <a:spLocks noGrp="1"/>
          </p:cNvSpPr>
          <p:nvPr>
            <p:ph type="sldNum" sz="quarter" idx="5"/>
          </p:nvPr>
        </p:nvSpPr>
        <p:spPr/>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Dynamics Market Dynamics &amp; Forces Driving Factors Supply Side (1/2)</a:t>
            </a:r>
          </a:p>
        </p:txBody>
      </p:sp>
      <p:sp>
        <p:nvSpPr>
          <p:cNvPr id="4" name="Slide Number Placeholder 3"/>
          <p:cNvSpPr>
            <a:spLocks noGrp="1"/>
          </p:cNvSpPr>
          <p:nvPr>
            <p:ph type="sldNum" sz="quarter" idx="5"/>
          </p:nvPr>
        </p:nvSpPr>
        <p:spPr/>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Dynamics Market Dynamics &amp; Forces Driving Factors Demand Side (2/2)</a:t>
            </a:r>
          </a:p>
        </p:txBody>
      </p:sp>
      <p:sp>
        <p:nvSpPr>
          <p:cNvPr id="4" name="Slide Number Placeholder 3"/>
          <p:cNvSpPr>
            <a:spLocks noGrp="1"/>
          </p:cNvSpPr>
          <p:nvPr>
            <p:ph type="sldNum" sz="quarter" idx="5"/>
          </p:nvPr>
        </p:nvSpPr>
        <p:spPr/>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Dynamics Market Dynamics &amp; Forces Market Restraints</a:t>
            </a:r>
          </a:p>
        </p:txBody>
      </p:sp>
      <p:sp>
        <p:nvSpPr>
          <p:cNvPr id="4" name="Slide Number Placeholder 3"/>
          <p:cNvSpPr>
            <a:spLocks noGrp="1"/>
          </p:cNvSpPr>
          <p:nvPr>
            <p:ph type="sldNum" sz="quarter" idx="5"/>
          </p:nvPr>
        </p:nvSpPr>
        <p:spPr/>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Dynamics Market Dynamics &amp; Forces Market Opportunities</a:t>
            </a:r>
          </a:p>
        </p:txBody>
      </p:sp>
      <p:sp>
        <p:nvSpPr>
          <p:cNvPr id="4" name="Slide Number Placeholder 3"/>
          <p:cNvSpPr>
            <a:spLocks noGrp="1"/>
          </p:cNvSpPr>
          <p:nvPr>
            <p:ph type="sldNum" sz="quarter" idx="5"/>
          </p:nvPr>
        </p:nvSpPr>
        <p:spPr/>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Dynamics Market Dynamics &amp; Forces Recent Developments &amp; Milestones</a:t>
            </a:r>
          </a:p>
        </p:txBody>
      </p:sp>
      <p:sp>
        <p:nvSpPr>
          <p:cNvPr id="4" name="Slide Number Placeholder 3"/>
          <p:cNvSpPr>
            <a:spLocks noGrp="1"/>
          </p:cNvSpPr>
          <p:nvPr>
            <p:ph type="sldNum" sz="quarter" idx="5"/>
          </p:nvPr>
        </p:nvSpPr>
        <p:spPr/>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Market Dynamics Market Dynamics &amp; Forces Five Forces Analysis</a:t>
            </a:r>
          </a:p>
        </p:txBody>
      </p:sp>
      <p:sp>
        <p:nvSpPr>
          <p:cNvPr id="4" name="Slide Number Placeholder 3"/>
          <p:cNvSpPr>
            <a:spLocks noGrp="1"/>
          </p:cNvSpPr>
          <p:nvPr>
            <p:ph type="sldNum" sz="quarter" idx="5"/>
          </p:nvPr>
        </p:nvSpPr>
        <p:spPr/>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Competition Assessment (section breaker)</a:t>
            </a:r>
          </a:p>
        </p:txBody>
      </p:sp>
      <p:sp>
        <p:nvSpPr>
          <p:cNvPr id="4" name="Slide Number Placeholder 3"/>
          <p:cNvSpPr>
            <a:spLocks noGrp="1"/>
          </p:cNvSpPr>
          <p:nvPr>
            <p:ph type="sldNum" sz="quarter" idx="5"/>
          </p:nvPr>
        </p:nvSpPr>
        <p:spPr/>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Competitive Landscape at a Glance</a:t>
            </a:r>
          </a:p>
        </p:txBody>
      </p:sp>
      <p:sp>
        <p:nvSpPr>
          <p:cNvPr id="4" name="Slide Number Placeholder 3"/>
          <p:cNvSpPr>
            <a:spLocks noGrp="1"/>
          </p:cNvSpPr>
          <p:nvPr>
            <p:ph type="sldNum" sz="quarter" idx="5"/>
          </p:nvPr>
        </p:nvSpPr>
        <p:spPr/>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Segment Leadership Map</a:t>
            </a:r>
          </a:p>
        </p:txBody>
      </p:sp>
      <p:sp>
        <p:nvSpPr>
          <p:cNvPr id="4" name="Slide Number Placeholder 3"/>
          <p:cNvSpPr>
            <a:spLocks noGrp="1"/>
          </p:cNvSpPr>
          <p:nvPr>
            <p:ph type="sldNum" sz="quarter" idx="5"/>
          </p:nvPr>
        </p:nvSpPr>
        <p:spPr/>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Value Chain Positioning</a:t>
            </a:r>
          </a:p>
        </p:txBody>
      </p:sp>
      <p:sp>
        <p:nvSpPr>
          <p:cNvPr id="4" name="Slide Number Placeholder 3"/>
          <p:cNvSpPr>
            <a:spLocks noGrp="1"/>
          </p:cNvSpPr>
          <p:nvPr>
            <p:ph type="sldNum" sz="quarter" idx="5"/>
          </p:nvPr>
        </p:nvSpPr>
        <p:spPr/>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Player Landscape</a:t>
            </a:r>
          </a:p>
        </p:txBody>
      </p:sp>
      <p:sp>
        <p:nvSpPr>
          <p:cNvPr id="4" name="Slide Number Placeholder 3"/>
          <p:cNvSpPr>
            <a:spLocks noGrp="1"/>
          </p:cNvSpPr>
          <p:nvPr>
            <p:ph type="sldNum" sz="quarter" idx="5"/>
          </p:nvPr>
        </p:nvSpPr>
        <p:spPr/>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Corporate Scorecard</a:t>
            </a:r>
          </a:p>
        </p:txBody>
      </p:sp>
      <p:sp>
        <p:nvSpPr>
          <p:cNvPr id="4" name="Slide Number Placeholder 3"/>
          <p:cNvSpPr>
            <a:spLocks noGrp="1"/>
          </p:cNvSpPr>
          <p:nvPr>
            <p:ph type="sldNum" sz="quarter" idx="5"/>
          </p:nvPr>
        </p:nvSpPr>
        <p:spPr/>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Offering Scorecard</a:t>
            </a:r>
          </a:p>
        </p:txBody>
      </p:sp>
      <p:sp>
        <p:nvSpPr>
          <p:cNvPr id="4" name="Slide Number Placeholder 3"/>
          <p:cNvSpPr>
            <a:spLocks noGrp="1"/>
          </p:cNvSpPr>
          <p:nvPr>
            <p:ph type="sldNum" sz="quarter" idx="5"/>
          </p:nvPr>
        </p:nvSpPr>
        <p:spPr/>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Execution Scorecard</a:t>
            </a:r>
          </a:p>
        </p:txBody>
      </p:sp>
      <p:sp>
        <p:nvSpPr>
          <p:cNvPr id="4" name="Slide Number Placeholder 3"/>
          <p:cNvSpPr>
            <a:spLocks noGrp="1"/>
          </p:cNvSpPr>
          <p:nvPr>
            <p:ph type="sldNum" sz="quarter" idx="5"/>
          </p:nvPr>
        </p:nvSpPr>
        <p:spPr/>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Success Factors</a:t>
            </a:r>
          </a:p>
        </p:txBody>
      </p:sp>
      <p:sp>
        <p:nvSpPr>
          <p:cNvPr id="4" name="Slide Number Placeholder 3"/>
          <p:cNvSpPr>
            <a:spLocks noGrp="1"/>
          </p:cNvSpPr>
          <p:nvPr>
            <p:ph type="sldNum" sz="quarter" idx="5"/>
          </p:nvPr>
        </p:nvSpPr>
        <p:spPr/>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Strategic Activity Tracker</a:t>
            </a:r>
          </a:p>
        </p:txBody>
      </p:sp>
      <p:sp>
        <p:nvSpPr>
          <p:cNvPr id="4" name="Slide Number Placeholder 3"/>
          <p:cNvSpPr>
            <a:spLocks noGrp="1"/>
          </p:cNvSpPr>
          <p:nvPr>
            <p:ph type="sldNum" sz="quarter" idx="5"/>
          </p:nvPr>
        </p:nvSpPr>
        <p:spPr/>
      </p:sp>
    </p:spTree>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Strategic Activity by Function</a:t>
            </a:r>
          </a:p>
        </p:txBody>
      </p:sp>
      <p:sp>
        <p:nvSpPr>
          <p:cNvPr id="4" name="Slide Number Placeholder 3"/>
          <p:cNvSpPr>
            <a:spLocks noGrp="1"/>
          </p:cNvSpPr>
          <p:nvPr>
            <p:ph type="sldNum" sz="quarter" idx="5"/>
          </p:nvPr>
        </p:nvSpPr>
        <p:spPr/>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Industry Structure Landscape  (1/2)</a:t>
            </a:r>
          </a:p>
        </p:txBody>
      </p:sp>
      <p:sp>
        <p:nvSpPr>
          <p:cNvPr id="4" name="Slide Number Placeholder 3"/>
          <p:cNvSpPr>
            <a:spLocks noGrp="1"/>
          </p:cNvSpPr>
          <p:nvPr>
            <p:ph type="sldNum" sz="quarter" idx="5"/>
          </p:nvPr>
        </p:nvSpPr>
        <p:spPr/>
      </p:sp>
    </p:spTree>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Industry Structure Landscape  (2/2)</a:t>
            </a:r>
          </a:p>
        </p:txBody>
      </p:sp>
      <p:sp>
        <p:nvSpPr>
          <p:cNvPr id="4" name="Slide Number Placeholder 3"/>
          <p:cNvSpPr>
            <a:spLocks noGrp="1"/>
          </p:cNvSpPr>
          <p:nvPr>
            <p:ph type="sldNum" sz="quarter" idx="5"/>
          </p:nvPr>
        </p:nvSpPr>
        <p:spPr/>
      </p:sp>
    </p:spTree>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Competitive Landscape Competitive Dashboard</a:t>
            </a:r>
          </a:p>
        </p:txBody>
      </p:sp>
      <p:sp>
        <p:nvSpPr>
          <p:cNvPr id="4" name="Slide Number Placeholder 3"/>
          <p:cNvSpPr>
            <a:spLocks noGrp="1"/>
          </p:cNvSpPr>
          <p:nvPr>
            <p:ph type="sldNum" sz="quarter" idx="5"/>
          </p:nvPr>
        </p:nvSpPr>
        <p:spPr/>
      </p:sp>
    </p:spTree>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Market Share by Leading Players Advice for Vendors &amp; Suppliers</a:t>
            </a:r>
          </a:p>
        </p:txBody>
      </p:sp>
      <p:sp>
        <p:nvSpPr>
          <p:cNvPr id="4" name="Slide Number Placeholder 3"/>
          <p:cNvSpPr>
            <a:spLocks noGrp="1"/>
          </p:cNvSpPr>
          <p:nvPr>
            <p:ph type="sldNum" sz="quarter" idx="5"/>
          </p:nvPr>
        </p:nvSpPr>
        <p:spPr/>
      </p:sp>
    </p:spTree>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Market Share by Leading Players Company Value Share</a:t>
            </a:r>
          </a:p>
        </p:txBody>
      </p:sp>
      <p:sp>
        <p:nvSpPr>
          <p:cNvPr id="4" name="Slide Number Placeholder 3"/>
          <p:cNvSpPr>
            <a:spLocks noGrp="1"/>
          </p:cNvSpPr>
          <p:nvPr>
            <p:ph type="sldNum" sz="quarter" idx="5"/>
          </p:nvPr>
        </p:nvSpPr>
        <p:spPr/>
      </p:sp>
    </p:spTree>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Market Share by Leading Players Company Share by Product Type</a:t>
            </a:r>
          </a:p>
        </p:txBody>
      </p:sp>
      <p:sp>
        <p:nvSpPr>
          <p:cNvPr id="4" name="Slide Number Placeholder 3"/>
          <p:cNvSpPr>
            <a:spLocks noGrp="1"/>
          </p:cNvSpPr>
          <p:nvPr>
            <p:ph type="sldNum" sz="quarter" idx="5"/>
          </p:nvPr>
        </p:nvSpPr>
        <p:spPr/>
      </p:sp>
    </p:spTree>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Market Share by Leading Players Company Share by Region</a:t>
            </a:r>
          </a:p>
        </p:txBody>
      </p:sp>
      <p:sp>
        <p:nvSpPr>
          <p:cNvPr id="4" name="Slide Number Placeholder 3"/>
          <p:cNvSpPr>
            <a:spLocks noGrp="1"/>
          </p:cNvSpPr>
          <p:nvPr>
            <p:ph type="sldNum" sz="quarter" idx="5"/>
          </p:nvPr>
        </p:nvSpPr>
        <p:spPr/>
      </p:sp>
    </p:spTree>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Market Share by Leading Players Who Shaped Growth</a:t>
            </a:r>
          </a:p>
        </p:txBody>
      </p:sp>
      <p:sp>
        <p:nvSpPr>
          <p:cNvPr id="4" name="Slide Number Placeholder 3"/>
          <p:cNvSpPr>
            <a:spLocks noGrp="1"/>
          </p:cNvSpPr>
          <p:nvPr>
            <p:ph type="sldNum" sz="quarter" idx="5"/>
          </p:nvPr>
        </p:nvSpPr>
        <p:spPr/>
      </p:sp>
    </p:spTree>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Multicell Packaging Inc. Snapshot</a:t>
            </a:r>
          </a:p>
        </p:txBody>
      </p:sp>
      <p:sp>
        <p:nvSpPr>
          <p:cNvPr id="4" name="Slide Number Placeholder 3"/>
          <p:cNvSpPr>
            <a:spLocks noGrp="1"/>
          </p:cNvSpPr>
          <p:nvPr>
            <p:ph type="sldNum" sz="quarter" idx="5"/>
          </p:nvPr>
        </p:nvSpPr>
        <p:spPr/>
      </p:sp>
    </p:spTree>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Multicell Packaging Inc. Penetration &amp; Win</a:t>
            </a:r>
          </a:p>
        </p:txBody>
      </p:sp>
      <p:sp>
        <p:nvSpPr>
          <p:cNvPr id="4" name="Slide Number Placeholder 3"/>
          <p:cNvSpPr>
            <a:spLocks noGrp="1"/>
          </p:cNvSpPr>
          <p:nvPr>
            <p:ph type="sldNum" sz="quarter" idx="5"/>
          </p:nvPr>
        </p:nvSpPr>
        <p:spPr/>
      </p:sp>
    </p:spTree>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Multicell Packaging Inc. SWOT Analysis</a:t>
            </a:r>
          </a:p>
        </p:txBody>
      </p:sp>
      <p:sp>
        <p:nvSpPr>
          <p:cNvPr id="4" name="Slide Number Placeholder 3"/>
          <p:cNvSpPr>
            <a:spLocks noGrp="1"/>
          </p:cNvSpPr>
          <p:nvPr>
            <p:ph type="sldNum" sz="quarter" idx="5"/>
          </p:nvPr>
        </p:nvSpPr>
        <p:spPr/>
      </p:sp>
    </p:spTree>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Multicell Packaging Inc. Key Financials</a:t>
            </a:r>
          </a:p>
        </p:txBody>
      </p:sp>
      <p:sp>
        <p:nvSpPr>
          <p:cNvPr id="4" name="Slide Number Placeholder 3"/>
          <p:cNvSpPr>
            <a:spLocks noGrp="1"/>
          </p:cNvSpPr>
          <p:nvPr>
            <p:ph type="sldNum" sz="quarter" idx="5"/>
          </p:nvPr>
        </p:nvSpPr>
        <p:spPr/>
      </p:sp>
    </p:spTree>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Multicell Packaging Inc. Strategy Analysis</a:t>
            </a:r>
          </a:p>
        </p:txBody>
      </p:sp>
      <p:sp>
        <p:nvSpPr>
          <p:cNvPr id="4" name="Slide Number Placeholder 3"/>
          <p:cNvSpPr>
            <a:spLocks noGrp="1"/>
          </p:cNvSpPr>
          <p:nvPr>
            <p:ph type="sldNum" sz="quarter" idx="5"/>
          </p:nvPr>
        </p:nvSpPr>
        <p:spPr/>
      </p:sp>
    </p:spTree>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Company Snapshot</a:t>
            </a:r>
          </a:p>
        </p:txBody>
      </p:sp>
      <p:sp>
        <p:nvSpPr>
          <p:cNvPr id="4" name="Slide Number Placeholder 3"/>
          <p:cNvSpPr>
            <a:spLocks noGrp="1"/>
          </p:cNvSpPr>
          <p:nvPr>
            <p:ph type="sldNum" sz="quarter" idx="5"/>
          </p:nvPr>
        </p:nvSpPr>
        <p:spPr/>
      </p:sp>
    </p:spTree>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Company Penetration &amp; Win</a:t>
            </a:r>
          </a:p>
        </p:txBody>
      </p:sp>
      <p:sp>
        <p:nvSpPr>
          <p:cNvPr id="4" name="Slide Number Placeholder 3"/>
          <p:cNvSpPr>
            <a:spLocks noGrp="1"/>
          </p:cNvSpPr>
          <p:nvPr>
            <p:ph type="sldNum" sz="quarter" idx="5"/>
          </p:nvPr>
        </p:nvSpPr>
        <p:spPr/>
      </p:sp>
    </p:spTree>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Company SWOT Analysis</a:t>
            </a:r>
          </a:p>
        </p:txBody>
      </p:sp>
      <p:sp>
        <p:nvSpPr>
          <p:cNvPr id="4" name="Slide Number Placeholder 3"/>
          <p:cNvSpPr>
            <a:spLocks noGrp="1"/>
          </p:cNvSpPr>
          <p:nvPr>
            <p:ph type="sldNum" sz="quarter" idx="5"/>
          </p:nvPr>
        </p:nvSpPr>
        <p:spPr/>
      </p:sp>
    </p:spTree>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Company Key Financials</a:t>
            </a:r>
          </a:p>
        </p:txBody>
      </p:sp>
      <p:sp>
        <p:nvSpPr>
          <p:cNvPr id="4" name="Slide Number Placeholder 3"/>
          <p:cNvSpPr>
            <a:spLocks noGrp="1"/>
          </p:cNvSpPr>
          <p:nvPr>
            <p:ph type="sldNum" sz="quarter" idx="5"/>
          </p:nvPr>
        </p:nvSpPr>
        <p:spPr/>
      </p:sp>
    </p:spTree>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Company Strategy Analysis</a:t>
            </a:r>
          </a:p>
        </p:txBody>
      </p:sp>
      <p:sp>
        <p:nvSpPr>
          <p:cNvPr id="4" name="Slide Number Placeholder 3"/>
          <p:cNvSpPr>
            <a:spLocks noGrp="1"/>
          </p:cNvSpPr>
          <p:nvPr>
            <p:ph type="sldNum" sz="quarter" idx="5"/>
          </p:nvPr>
        </p:nvSpPr>
        <p:spPr/>
      </p:sp>
    </p:spTree>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Great American Paper Inc. Snapshot</a:t>
            </a:r>
          </a:p>
        </p:txBody>
      </p:sp>
      <p:sp>
        <p:nvSpPr>
          <p:cNvPr id="4" name="Slide Number Placeholder 3"/>
          <p:cNvSpPr>
            <a:spLocks noGrp="1"/>
          </p:cNvSpPr>
          <p:nvPr>
            <p:ph type="sldNum" sz="quarter" idx="5"/>
          </p:nvPr>
        </p:nvSpPr>
        <p:spPr/>
      </p:sp>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Great American Paper Inc. Penetration &amp; Win</a:t>
            </a:r>
          </a:p>
        </p:txBody>
      </p:sp>
      <p:sp>
        <p:nvSpPr>
          <p:cNvPr id="4" name="Slide Number Placeholder 3"/>
          <p:cNvSpPr>
            <a:spLocks noGrp="1"/>
          </p:cNvSpPr>
          <p:nvPr>
            <p:ph type="sldNum" sz="quarter" idx="5"/>
          </p:nvPr>
        </p:nvSpPr>
        <p:spPr/>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Great American Paper Inc. SWOT Analysis</a:t>
            </a:r>
          </a:p>
        </p:txBody>
      </p:sp>
      <p:sp>
        <p:nvSpPr>
          <p:cNvPr id="4" name="Slide Number Placeholder 3"/>
          <p:cNvSpPr>
            <a:spLocks noGrp="1"/>
          </p:cNvSpPr>
          <p:nvPr>
            <p:ph type="sldNum" sz="quarter" idx="5"/>
          </p:nvPr>
        </p:nvSpPr>
        <p:spPr/>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Great American Paper Inc. Key Financials</a:t>
            </a:r>
          </a:p>
        </p:txBody>
      </p:sp>
      <p:sp>
        <p:nvSpPr>
          <p:cNvPr id="4" name="Slide Number Placeholder 3"/>
          <p:cNvSpPr>
            <a:spLocks noGrp="1"/>
          </p:cNvSpPr>
          <p:nvPr>
            <p:ph type="sldNum" sz="quarter" idx="5"/>
          </p:nvPr>
        </p:nvSpPr>
        <p:spPr/>
      </p:sp>
    </p:spTree>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Notes Placeholder 2"/>
          <p:cNvSpPr>
            <a:spLocks noGrp="1"/>
          </p:cNvSpPr>
          <p:nvPr>
            <p:ph type="body" sz="quarter" idx="3"/>
          </p:nvPr>
        </p:nvSpPr>
        <p:spPr/>
        <p:txBody>
          <a:bodyPr/>
          <a:lstStyle/>
          <a:p>
            <a:r>
              <a:t>Corrugated Partition Market Competitor Company Profiles &amp; Strategic Benchmarking Great American Paper Inc. Strategy Analysis</a:t>
            </a:r>
          </a:p>
        </p:txBody>
      </p:sp>
      <p:sp>
        <p:nvSpPr>
          <p:cNvPr id="4" name="Slide Number Placeholder 3"/>
          <p:cNvSpPr>
            <a:spLocks noGrp="1"/>
          </p:cNvSpPr>
          <p:nvPr>
            <p:ph type="sldNum" sz="quarter" idx="5"/>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5BCAD085-E8A6-8845-BD4E-CB4CCA059FC4}" type="datetimeFigureOut">
              <a:rPr lang="en-US" smtClean="0"/>
              <a:t>10/12/2026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10/12/2026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10/12/2026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5BCAD085-E8A6-8845-BD4E-CB4CCA059FC4}" type="datetimeFigureOut">
              <a:rPr lang="en-US" smtClean="0"/>
              <a:t>10/12/2026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5BCAD085-E8A6-8845-BD4E-CB4CCA059FC4}" type="datetimeFigureOut">
              <a:rPr lang="en-US" smtClean="0"/>
              <a:t>10/12/2026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BCAD085-E8A6-8845-BD4E-CB4CCA059FC4}" type="datetimeFigureOut">
              <a:rPr lang="en-US" smtClean="0"/>
              <a:t>10/12/2026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10/12/2026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10/12/2026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10/12/2026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10/12/2026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10/12/2026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10/12/2026</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8" Type="http://schemas.openxmlformats.org/officeDocument/2006/relationships/slide" Target="slide27.xml"/><Relationship Id="rId13" Type="http://schemas.openxmlformats.org/officeDocument/2006/relationships/slide" Target="slide126.xml"/><Relationship Id="rId18" Type="http://schemas.openxmlformats.org/officeDocument/2006/relationships/slide" Target="slide224.xml"/><Relationship Id="rId26" Type="http://schemas.openxmlformats.org/officeDocument/2006/relationships/slide" Target="slide292.xml"/><Relationship Id="rId3" Type="http://schemas.openxmlformats.org/officeDocument/2006/relationships/slide" Target="slide3.xml"/><Relationship Id="rId21" Type="http://schemas.openxmlformats.org/officeDocument/2006/relationships/slide" Target="slide260.xml"/><Relationship Id="rId7" Type="http://schemas.openxmlformats.org/officeDocument/2006/relationships/slide" Target="slide18.xml"/><Relationship Id="rId12" Type="http://schemas.openxmlformats.org/officeDocument/2006/relationships/slide" Target="slide113.xml"/><Relationship Id="rId17" Type="http://schemas.openxmlformats.org/officeDocument/2006/relationships/slide" Target="slide211.xml"/><Relationship Id="rId25" Type="http://schemas.openxmlformats.org/officeDocument/2006/relationships/slide" Target="slide291.xml"/><Relationship Id="rId2" Type="http://schemas.openxmlformats.org/officeDocument/2006/relationships/image" Target="../media/image1.png"/><Relationship Id="rId16" Type="http://schemas.openxmlformats.org/officeDocument/2006/relationships/slide" Target="slide145.xml"/><Relationship Id="rId20" Type="http://schemas.openxmlformats.org/officeDocument/2006/relationships/slide" Target="slide230.xml"/><Relationship Id="rId29" Type="http://schemas.openxmlformats.org/officeDocument/2006/relationships/slide" Target="slide315.xml"/><Relationship Id="rId1" Type="http://schemas.openxmlformats.org/officeDocument/2006/relationships/slideLayout" Target="../slideLayouts/slideLayout7.xml"/><Relationship Id="rId6" Type="http://schemas.openxmlformats.org/officeDocument/2006/relationships/slide" Target="slide10.xml"/><Relationship Id="rId11" Type="http://schemas.openxmlformats.org/officeDocument/2006/relationships/slide" Target="slide47.xml"/><Relationship Id="rId24" Type="http://schemas.openxmlformats.org/officeDocument/2006/relationships/slide" Target="slide287.xml"/><Relationship Id="rId5" Type="http://schemas.openxmlformats.org/officeDocument/2006/relationships/slide" Target="slide6.xml"/><Relationship Id="rId15" Type="http://schemas.openxmlformats.org/officeDocument/2006/relationships/slide" Target="slide137.xml"/><Relationship Id="rId23" Type="http://schemas.openxmlformats.org/officeDocument/2006/relationships/slide" Target="slide274.xml"/><Relationship Id="rId28" Type="http://schemas.openxmlformats.org/officeDocument/2006/relationships/slide" Target="slide301.xml"/><Relationship Id="rId10" Type="http://schemas.openxmlformats.org/officeDocument/2006/relationships/slide" Target="slide39.xml"/><Relationship Id="rId19" Type="http://schemas.openxmlformats.org/officeDocument/2006/relationships/slide" Target="slide225.xml"/><Relationship Id="rId4" Type="http://schemas.openxmlformats.org/officeDocument/2006/relationships/slide" Target="slide5.xml"/><Relationship Id="rId9" Type="http://schemas.openxmlformats.org/officeDocument/2006/relationships/slide" Target="slide28.xml"/><Relationship Id="rId14" Type="http://schemas.openxmlformats.org/officeDocument/2006/relationships/slide" Target="slide127.xml"/><Relationship Id="rId22" Type="http://schemas.openxmlformats.org/officeDocument/2006/relationships/slide" Target="slide273.xml"/><Relationship Id="rId27" Type="http://schemas.openxmlformats.org/officeDocument/2006/relationships/slide" Target="slide300.xml"/><Relationship Id="rId30" Type="http://schemas.openxmlformats.org/officeDocument/2006/relationships/slide" Target="slide321.xml"/></Relationships>
</file>

<file path=ppt/slides/_rels/slide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2.xml"/><Relationship Id="rId4" Type="http://schemas.openxmlformats.org/officeDocument/2006/relationships/chart" Target="../charts/chart1.xml"/></Relationships>
</file>

<file path=ppt/slides/_rels/slide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4.xml"/><Relationship Id="rId4" Type="http://schemas.openxmlformats.org/officeDocument/2006/relationships/chart" Target="../charts/chart3.xml"/></Relationships>
</file>

<file path=ppt/slides/_rels/slide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6.xml"/><Relationship Id="rId4" Type="http://schemas.openxmlformats.org/officeDocument/2006/relationships/chart" Target="../charts/chart5.xml"/></Relationships>
</file>

<file path=ppt/slides/_rels/slide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8.xml"/><Relationship Id="rId4" Type="http://schemas.openxmlformats.org/officeDocument/2006/relationships/chart" Target="../charts/chart7.xml"/></Relationships>
</file>

<file path=ppt/slides/_rels/slide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9.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9.xml"/></Relationships>
</file>

<file path=ppt/slides/_rels/slide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1.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0.xml"/></Relationships>
</file>

<file path=ppt/slides/_rels/slide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8" Type="http://schemas.openxmlformats.org/officeDocument/2006/relationships/image" Target="../media/image63.png"/><Relationship Id="rId13" Type="http://schemas.openxmlformats.org/officeDocument/2006/relationships/image" Target="../media/image68.png"/><Relationship Id="rId18" Type="http://schemas.openxmlformats.org/officeDocument/2006/relationships/image" Target="../media/image73.png"/><Relationship Id="rId3" Type="http://schemas.openxmlformats.org/officeDocument/2006/relationships/image" Target="../media/image1.png"/><Relationship Id="rId21" Type="http://schemas.openxmlformats.org/officeDocument/2006/relationships/image" Target="../media/image76.png"/><Relationship Id="rId7" Type="http://schemas.openxmlformats.org/officeDocument/2006/relationships/image" Target="../media/image62.png"/><Relationship Id="rId12" Type="http://schemas.openxmlformats.org/officeDocument/2006/relationships/image" Target="../media/image67.png"/><Relationship Id="rId17" Type="http://schemas.openxmlformats.org/officeDocument/2006/relationships/image" Target="../media/image72.png"/><Relationship Id="rId2" Type="http://schemas.openxmlformats.org/officeDocument/2006/relationships/notesSlide" Target="../notesSlides/notesSlide32.xml"/><Relationship Id="rId16" Type="http://schemas.openxmlformats.org/officeDocument/2006/relationships/image" Target="../media/image71.png"/><Relationship Id="rId20" Type="http://schemas.openxmlformats.org/officeDocument/2006/relationships/image" Target="../media/image75.png"/><Relationship Id="rId1" Type="http://schemas.openxmlformats.org/officeDocument/2006/relationships/slideLayout" Target="../slideLayouts/slideLayout7.xml"/><Relationship Id="rId6" Type="http://schemas.openxmlformats.org/officeDocument/2006/relationships/image" Target="../media/image61.png"/><Relationship Id="rId11" Type="http://schemas.openxmlformats.org/officeDocument/2006/relationships/image" Target="../media/image66.png"/><Relationship Id="rId5" Type="http://schemas.openxmlformats.org/officeDocument/2006/relationships/image" Target="../media/image60.png"/><Relationship Id="rId15" Type="http://schemas.openxmlformats.org/officeDocument/2006/relationships/image" Target="../media/image70.png"/><Relationship Id="rId10" Type="http://schemas.openxmlformats.org/officeDocument/2006/relationships/image" Target="../media/image65.png"/><Relationship Id="rId19" Type="http://schemas.openxmlformats.org/officeDocument/2006/relationships/image" Target="../media/image74.png"/><Relationship Id="rId4" Type="http://schemas.openxmlformats.org/officeDocument/2006/relationships/image" Target="../media/image59.png"/><Relationship Id="rId9" Type="http://schemas.openxmlformats.org/officeDocument/2006/relationships/image" Target="../media/image64.png"/><Relationship Id="rId14" Type="http://schemas.openxmlformats.org/officeDocument/2006/relationships/image" Target="../media/image69.png"/><Relationship Id="rId22" Type="http://schemas.openxmlformats.org/officeDocument/2006/relationships/image" Target="../media/image2.png"/></Relationships>
</file>

<file path=ppt/slides/_rels/slide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3.xml"/><Relationship Id="rId1" Type="http://schemas.openxmlformats.org/officeDocument/2006/relationships/slideLayout" Target="../slideLayouts/slideLayout7.xml"/><Relationship Id="rId6" Type="http://schemas.openxmlformats.org/officeDocument/2006/relationships/image" Target="../media/image87.png"/><Relationship Id="rId5" Type="http://schemas.openxmlformats.org/officeDocument/2006/relationships/image" Target="../media/image2.png"/><Relationship Id="rId4" Type="http://schemas.openxmlformats.org/officeDocument/2006/relationships/chart" Target="../charts/chart11.xml"/></Relationships>
</file>

<file path=ppt/slides/_rels/slide42.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image" Target="../media/image1.png"/><Relationship Id="rId7" Type="http://schemas.openxmlformats.org/officeDocument/2006/relationships/image" Target="../media/image97.png"/><Relationship Id="rId2" Type="http://schemas.openxmlformats.org/officeDocument/2006/relationships/notesSlide" Target="../notesSlides/notesSlide34.xml"/><Relationship Id="rId1" Type="http://schemas.openxmlformats.org/officeDocument/2006/relationships/slideLayout" Target="../slideLayouts/slideLayout7.xml"/><Relationship Id="rId6" Type="http://schemas.openxmlformats.org/officeDocument/2006/relationships/image" Target="../media/image96.png"/><Relationship Id="rId5" Type="http://schemas.openxmlformats.org/officeDocument/2006/relationships/image" Target="../media/image2.png"/><Relationship Id="rId4" Type="http://schemas.openxmlformats.org/officeDocument/2006/relationships/chart" Target="../charts/chart12.xml"/></Relationships>
</file>

<file path=ppt/slides/_rels/slide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7.xml"/><Relationship Id="rId1" Type="http://schemas.openxmlformats.org/officeDocument/2006/relationships/slideLayout" Target="../slideLayouts/slideLayout7.xml"/><Relationship Id="rId5" Type="http://schemas.openxmlformats.org/officeDocument/2006/relationships/chart" Target="../charts/chart14.xml"/><Relationship Id="rId4" Type="http://schemas.openxmlformats.org/officeDocument/2006/relationships/chart" Target="../charts/chart13.xml"/></Relationships>
</file>

<file path=ppt/slides/_rels/slide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8" Type="http://schemas.openxmlformats.org/officeDocument/2006/relationships/image" Target="../media/image102.png"/><Relationship Id="rId13"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image" Target="../media/image101.png"/><Relationship Id="rId12" Type="http://schemas.openxmlformats.org/officeDocument/2006/relationships/image" Target="../media/image105.png"/><Relationship Id="rId2" Type="http://schemas.openxmlformats.org/officeDocument/2006/relationships/notesSlide" Target="../notesSlides/notesSlide39.xml"/><Relationship Id="rId1" Type="http://schemas.openxmlformats.org/officeDocument/2006/relationships/slideLayout" Target="../slideLayouts/slideLayout7.xml"/><Relationship Id="rId6" Type="http://schemas.openxmlformats.org/officeDocument/2006/relationships/image" Target="../media/image70.png"/><Relationship Id="rId11" Type="http://schemas.openxmlformats.org/officeDocument/2006/relationships/image" Target="../media/image56.png"/><Relationship Id="rId5" Type="http://schemas.openxmlformats.org/officeDocument/2006/relationships/image" Target="../media/image100.png"/><Relationship Id="rId10" Type="http://schemas.openxmlformats.org/officeDocument/2006/relationships/image" Target="../media/image104.png"/><Relationship Id="rId4" Type="http://schemas.openxmlformats.org/officeDocument/2006/relationships/image" Target="../media/image99.png"/><Relationship Id="rId9" Type="http://schemas.openxmlformats.org/officeDocument/2006/relationships/image" Target="../media/image103.png"/></Relationships>
</file>

<file path=ppt/slides/_rels/slide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0.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6.xml"/><Relationship Id="rId4" Type="http://schemas.openxmlformats.org/officeDocument/2006/relationships/chart" Target="../charts/chart15.xml"/></Relationships>
</file>

<file path=ppt/slides/_rels/slide51.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41.xml"/><Relationship Id="rId1" Type="http://schemas.openxmlformats.org/officeDocument/2006/relationships/slideLayout" Target="../slideLayouts/slideLayout7.xml"/><Relationship Id="rId6" Type="http://schemas.openxmlformats.org/officeDocument/2006/relationships/chart" Target="../charts/chart19.xml"/><Relationship Id="rId5" Type="http://schemas.openxmlformats.org/officeDocument/2006/relationships/chart" Target="../charts/chart18.xml"/><Relationship Id="rId4" Type="http://schemas.openxmlformats.org/officeDocument/2006/relationships/chart" Target="../charts/chart17.xml"/></Relationships>
</file>

<file path=ppt/slides/_rels/slide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4.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20.xml"/></Relationships>
</file>

<file path=ppt/slides/_rels/slide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8" Type="http://schemas.openxmlformats.org/officeDocument/2006/relationships/image" Target="../media/image137.png"/><Relationship Id="rId13"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image" Target="../media/image136.png"/><Relationship Id="rId12" Type="http://schemas.openxmlformats.org/officeDocument/2006/relationships/image" Target="../media/image140.png"/><Relationship Id="rId2" Type="http://schemas.openxmlformats.org/officeDocument/2006/relationships/notesSlide" Target="../notesSlides/notesSlide47.xml"/><Relationship Id="rId1" Type="http://schemas.openxmlformats.org/officeDocument/2006/relationships/slideLayout" Target="../slideLayouts/slideLayout7.xml"/><Relationship Id="rId6" Type="http://schemas.openxmlformats.org/officeDocument/2006/relationships/image" Target="../media/image135.png"/><Relationship Id="rId11" Type="http://schemas.openxmlformats.org/officeDocument/2006/relationships/image" Target="../media/image139.png"/><Relationship Id="rId5" Type="http://schemas.openxmlformats.org/officeDocument/2006/relationships/image" Target="../media/image134.png"/><Relationship Id="rId10" Type="http://schemas.openxmlformats.org/officeDocument/2006/relationships/image" Target="../media/image138.png"/><Relationship Id="rId4" Type="http://schemas.openxmlformats.org/officeDocument/2006/relationships/image" Target="../media/image133.png"/><Relationship Id="rId9" Type="http://schemas.openxmlformats.org/officeDocument/2006/relationships/image" Target="../media/image73.png"/></Relationships>
</file>

<file path=ppt/slides/_rels/slide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8.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22.xml"/><Relationship Id="rId4" Type="http://schemas.openxmlformats.org/officeDocument/2006/relationships/chart" Target="../charts/chart21.xml"/></Relationships>
</file>

<file path=ppt/slides/_rels/slide60.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49.xml"/><Relationship Id="rId1" Type="http://schemas.openxmlformats.org/officeDocument/2006/relationships/slideLayout" Target="../slideLayouts/slideLayout7.xml"/><Relationship Id="rId6" Type="http://schemas.openxmlformats.org/officeDocument/2006/relationships/chart" Target="../charts/chart25.xml"/><Relationship Id="rId5" Type="http://schemas.openxmlformats.org/officeDocument/2006/relationships/chart" Target="../charts/chart24.xml"/><Relationship Id="rId4" Type="http://schemas.openxmlformats.org/officeDocument/2006/relationships/chart" Target="../charts/chart23.xml"/></Relationships>
</file>

<file path=ppt/slides/_rels/slide6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2.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26.xml"/></Relationships>
</file>

<file path=ppt/slides/_rels/slide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6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8" Type="http://schemas.openxmlformats.org/officeDocument/2006/relationships/image" Target="../media/image168.png"/><Relationship Id="rId3" Type="http://schemas.openxmlformats.org/officeDocument/2006/relationships/image" Target="../media/image1.png"/><Relationship Id="rId7" Type="http://schemas.openxmlformats.org/officeDocument/2006/relationships/image" Target="../media/image167.png"/><Relationship Id="rId2" Type="http://schemas.openxmlformats.org/officeDocument/2006/relationships/notesSlide" Target="../notesSlides/notesSlide55.xml"/><Relationship Id="rId1" Type="http://schemas.openxmlformats.org/officeDocument/2006/relationships/slideLayout" Target="../slideLayouts/slideLayout7.xml"/><Relationship Id="rId6" Type="http://schemas.openxmlformats.org/officeDocument/2006/relationships/image" Target="../media/image76.png"/><Relationship Id="rId5" Type="http://schemas.openxmlformats.org/officeDocument/2006/relationships/image" Target="../media/image166.png"/><Relationship Id="rId10" Type="http://schemas.openxmlformats.org/officeDocument/2006/relationships/image" Target="../media/image2.png"/><Relationship Id="rId4" Type="http://schemas.openxmlformats.org/officeDocument/2006/relationships/image" Target="../media/image165.png"/><Relationship Id="rId9" Type="http://schemas.openxmlformats.org/officeDocument/2006/relationships/image" Target="../media/image169.png"/></Relationships>
</file>

<file path=ppt/slides/_rels/slide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6.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28.xml"/><Relationship Id="rId4" Type="http://schemas.openxmlformats.org/officeDocument/2006/relationships/chart" Target="../charts/chart27.xml"/></Relationships>
</file>

<file path=ppt/slides/_rels/slide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7.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30.xml"/><Relationship Id="rId4" Type="http://schemas.openxmlformats.org/officeDocument/2006/relationships/chart" Target="../charts/chart29.xml"/></Relationships>
</file>

<file path=ppt/slides/_rels/slide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0.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31.xml"/></Relationships>
</file>

<file path=ppt/slides/_rels/slide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7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8" Type="http://schemas.openxmlformats.org/officeDocument/2006/relationships/image" Target="../media/image189.png"/><Relationship Id="rId13" Type="http://schemas.openxmlformats.org/officeDocument/2006/relationships/image" Target="../media/image193.png"/><Relationship Id="rId3" Type="http://schemas.openxmlformats.org/officeDocument/2006/relationships/image" Target="../media/image1.png"/><Relationship Id="rId7" Type="http://schemas.openxmlformats.org/officeDocument/2006/relationships/image" Target="../media/image188.png"/><Relationship Id="rId12" Type="http://schemas.openxmlformats.org/officeDocument/2006/relationships/image" Target="../media/image103.png"/><Relationship Id="rId2" Type="http://schemas.openxmlformats.org/officeDocument/2006/relationships/notesSlide" Target="../notesSlides/notesSlide63.xml"/><Relationship Id="rId16" Type="http://schemas.openxmlformats.org/officeDocument/2006/relationships/image" Target="../media/image2.png"/><Relationship Id="rId1" Type="http://schemas.openxmlformats.org/officeDocument/2006/relationships/slideLayout" Target="../slideLayouts/slideLayout7.xml"/><Relationship Id="rId6" Type="http://schemas.openxmlformats.org/officeDocument/2006/relationships/image" Target="../media/image76.png"/><Relationship Id="rId11" Type="http://schemas.openxmlformats.org/officeDocument/2006/relationships/image" Target="../media/image192.png"/><Relationship Id="rId5" Type="http://schemas.openxmlformats.org/officeDocument/2006/relationships/image" Target="../media/image187.png"/><Relationship Id="rId15" Type="http://schemas.openxmlformats.org/officeDocument/2006/relationships/image" Target="../media/image195.png"/><Relationship Id="rId10" Type="http://schemas.openxmlformats.org/officeDocument/2006/relationships/image" Target="../media/image191.png"/><Relationship Id="rId4" Type="http://schemas.openxmlformats.org/officeDocument/2006/relationships/image" Target="../media/image186.png"/><Relationship Id="rId9" Type="http://schemas.openxmlformats.org/officeDocument/2006/relationships/image" Target="../media/image190.png"/><Relationship Id="rId14" Type="http://schemas.openxmlformats.org/officeDocument/2006/relationships/image" Target="../media/image194.png"/></Relationships>
</file>

<file path=ppt/slides/_rels/slide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4.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33.xml"/><Relationship Id="rId4" Type="http://schemas.openxmlformats.org/officeDocument/2006/relationships/chart" Target="../charts/chart32.xml"/></Relationships>
</file>

<file path=ppt/slides/_rels/slide78.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chart" Target="../charts/chart37.xml"/><Relationship Id="rId2" Type="http://schemas.openxmlformats.org/officeDocument/2006/relationships/notesSlide" Target="../notesSlides/notesSlide65.xml"/><Relationship Id="rId1" Type="http://schemas.openxmlformats.org/officeDocument/2006/relationships/slideLayout" Target="../slideLayouts/slideLayout7.xml"/><Relationship Id="rId6" Type="http://schemas.openxmlformats.org/officeDocument/2006/relationships/chart" Target="../charts/chart36.xml"/><Relationship Id="rId5" Type="http://schemas.openxmlformats.org/officeDocument/2006/relationships/chart" Target="../charts/chart35.xml"/><Relationship Id="rId4" Type="http://schemas.openxmlformats.org/officeDocument/2006/relationships/chart" Target="../charts/chart34.xml"/></Relationships>
</file>

<file path=ppt/slides/_rels/slide7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8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8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8.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38.xml"/></Relationships>
</file>

<file path=ppt/slides/_rels/slide8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8" Type="http://schemas.openxmlformats.org/officeDocument/2006/relationships/image" Target="../media/image228.png"/><Relationship Id="rId3" Type="http://schemas.openxmlformats.org/officeDocument/2006/relationships/image" Target="../media/image1.png"/><Relationship Id="rId7" Type="http://schemas.openxmlformats.org/officeDocument/2006/relationships/image" Target="../media/image227.png"/><Relationship Id="rId2" Type="http://schemas.openxmlformats.org/officeDocument/2006/relationships/notesSlide" Target="../notesSlides/notesSlide71.xml"/><Relationship Id="rId1" Type="http://schemas.openxmlformats.org/officeDocument/2006/relationships/slideLayout" Target="../slideLayouts/slideLayout7.xml"/><Relationship Id="rId6" Type="http://schemas.openxmlformats.org/officeDocument/2006/relationships/image" Target="../media/image195.png"/><Relationship Id="rId5" Type="http://schemas.openxmlformats.org/officeDocument/2006/relationships/image" Target="../media/image226.png"/><Relationship Id="rId10" Type="http://schemas.openxmlformats.org/officeDocument/2006/relationships/image" Target="../media/image2.png"/><Relationship Id="rId4" Type="http://schemas.openxmlformats.org/officeDocument/2006/relationships/image" Target="../media/image225.png"/><Relationship Id="rId9" Type="http://schemas.openxmlformats.org/officeDocument/2006/relationships/image" Target="../media/image229.png"/></Relationships>
</file>

<file path=ppt/slides/_rels/slide8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2.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40.xml"/><Relationship Id="rId4" Type="http://schemas.openxmlformats.org/officeDocument/2006/relationships/chart" Target="../charts/chart39.xml"/></Relationships>
</file>

<file path=ppt/slides/_rels/slide8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3.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42.xml"/><Relationship Id="rId4" Type="http://schemas.openxmlformats.org/officeDocument/2006/relationships/chart" Target="../charts/chart41.xml"/></Relationships>
</file>

<file path=ppt/slides/_rels/slide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6.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43.xml"/></Relationships>
</file>

<file path=ppt/slides/_rels/slide9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9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8" Type="http://schemas.openxmlformats.org/officeDocument/2006/relationships/image" Target="../media/image249.png"/><Relationship Id="rId13" Type="http://schemas.openxmlformats.org/officeDocument/2006/relationships/image" Target="../media/image253.png"/><Relationship Id="rId3" Type="http://schemas.openxmlformats.org/officeDocument/2006/relationships/image" Target="../media/image1.png"/><Relationship Id="rId7" Type="http://schemas.openxmlformats.org/officeDocument/2006/relationships/image" Target="../media/image248.png"/><Relationship Id="rId12" Type="http://schemas.openxmlformats.org/officeDocument/2006/relationships/image" Target="../media/image195.png"/><Relationship Id="rId2" Type="http://schemas.openxmlformats.org/officeDocument/2006/relationships/notesSlide" Target="../notesSlides/notesSlide79.xml"/><Relationship Id="rId16" Type="http://schemas.openxmlformats.org/officeDocument/2006/relationships/image" Target="../media/image2.png"/><Relationship Id="rId1" Type="http://schemas.openxmlformats.org/officeDocument/2006/relationships/slideLayout" Target="../slideLayouts/slideLayout7.xml"/><Relationship Id="rId6" Type="http://schemas.openxmlformats.org/officeDocument/2006/relationships/image" Target="../media/image247.png"/><Relationship Id="rId11" Type="http://schemas.openxmlformats.org/officeDocument/2006/relationships/image" Target="../media/image252.png"/><Relationship Id="rId5" Type="http://schemas.openxmlformats.org/officeDocument/2006/relationships/image" Target="../media/image246.png"/><Relationship Id="rId15" Type="http://schemas.openxmlformats.org/officeDocument/2006/relationships/image" Target="../media/image255.png"/><Relationship Id="rId10" Type="http://schemas.openxmlformats.org/officeDocument/2006/relationships/image" Target="../media/image251.png"/><Relationship Id="rId4" Type="http://schemas.openxmlformats.org/officeDocument/2006/relationships/image" Target="../media/image245.png"/><Relationship Id="rId9" Type="http://schemas.openxmlformats.org/officeDocument/2006/relationships/image" Target="../media/image250.png"/><Relationship Id="rId14" Type="http://schemas.openxmlformats.org/officeDocument/2006/relationships/image" Target="../media/image254.png"/></Relationships>
</file>

<file path=ppt/slides/_rels/slide95.xml.rels><?xml version="1.0" encoding="UTF-8" standalone="yes"?>
<Relationships xmlns="http://schemas.openxmlformats.org/package/2006/relationships"><Relationship Id="rId8" Type="http://schemas.openxmlformats.org/officeDocument/2006/relationships/image" Target="../media/image260.png"/><Relationship Id="rId13"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image" Target="../media/image259.png"/><Relationship Id="rId12" Type="http://schemas.openxmlformats.org/officeDocument/2006/relationships/image" Target="../media/image264.png"/><Relationship Id="rId2" Type="http://schemas.openxmlformats.org/officeDocument/2006/relationships/notesSlide" Target="../notesSlides/notesSlide80.xml"/><Relationship Id="rId1" Type="http://schemas.openxmlformats.org/officeDocument/2006/relationships/slideLayout" Target="../slideLayouts/slideLayout7.xml"/><Relationship Id="rId6" Type="http://schemas.openxmlformats.org/officeDocument/2006/relationships/image" Target="../media/image258.png"/><Relationship Id="rId11" Type="http://schemas.openxmlformats.org/officeDocument/2006/relationships/image" Target="../media/image263.png"/><Relationship Id="rId5" Type="http://schemas.openxmlformats.org/officeDocument/2006/relationships/image" Target="../media/image257.png"/><Relationship Id="rId10" Type="http://schemas.openxmlformats.org/officeDocument/2006/relationships/image" Target="../media/image262.png"/><Relationship Id="rId4" Type="http://schemas.openxmlformats.org/officeDocument/2006/relationships/image" Target="../media/image256.png"/><Relationship Id="rId9" Type="http://schemas.openxmlformats.org/officeDocument/2006/relationships/image" Target="../media/image261.png"/></Relationships>
</file>

<file path=ppt/slides/_rels/slide9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1.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45.xml"/><Relationship Id="rId4" Type="http://schemas.openxmlformats.org/officeDocument/2006/relationships/chart" Target="../charts/chart44.xml"/></Relationships>
</file>

<file path=ppt/slides/_rels/slide97.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chart" Target="../charts/chart49.xml"/><Relationship Id="rId2" Type="http://schemas.openxmlformats.org/officeDocument/2006/relationships/notesSlide" Target="../notesSlides/notesSlide82.xml"/><Relationship Id="rId1" Type="http://schemas.openxmlformats.org/officeDocument/2006/relationships/slideLayout" Target="../slideLayouts/slideLayout7.xml"/><Relationship Id="rId6" Type="http://schemas.openxmlformats.org/officeDocument/2006/relationships/chart" Target="../charts/chart48.xml"/><Relationship Id="rId5" Type="http://schemas.openxmlformats.org/officeDocument/2006/relationships/chart" Target="../charts/chart47.xml"/><Relationship Id="rId4" Type="http://schemas.openxmlformats.org/officeDocument/2006/relationships/chart" Target="../charts/chart46.xml"/></Relationships>
</file>

<file path=ppt/slides/_rels/slide98.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83.xml"/><Relationship Id="rId1" Type="http://schemas.openxmlformats.org/officeDocument/2006/relationships/slideLayout" Target="../slideLayouts/slideLayout7.xml"/><Relationship Id="rId6" Type="http://schemas.openxmlformats.org/officeDocument/2006/relationships/chart" Target="../charts/chart52.xml"/><Relationship Id="rId5" Type="http://schemas.openxmlformats.org/officeDocument/2006/relationships/chart" Target="../charts/chart51.xml"/><Relationship Id="rId4" Type="http://schemas.openxmlformats.org/officeDocument/2006/relationships/chart" Target="../charts/chart50.xml"/></Relationships>
</file>

<file path=ppt/slides/_rels/slide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0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6.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53.xml"/></Relationships>
</file>

<file path=ppt/slides/_rels/slide10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0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8" Type="http://schemas.openxmlformats.org/officeDocument/2006/relationships/image" Target="../media/image299.png"/><Relationship Id="rId3" Type="http://schemas.openxmlformats.org/officeDocument/2006/relationships/image" Target="../media/image1.png"/><Relationship Id="rId7" Type="http://schemas.openxmlformats.org/officeDocument/2006/relationships/image" Target="../media/image298.png"/><Relationship Id="rId2" Type="http://schemas.openxmlformats.org/officeDocument/2006/relationships/notesSlide" Target="../notesSlides/notesSlide89.xml"/><Relationship Id="rId1" Type="http://schemas.openxmlformats.org/officeDocument/2006/relationships/slideLayout" Target="../slideLayouts/slideLayout7.xml"/><Relationship Id="rId6" Type="http://schemas.openxmlformats.org/officeDocument/2006/relationships/image" Target="../media/image250.png"/><Relationship Id="rId5" Type="http://schemas.openxmlformats.org/officeDocument/2006/relationships/image" Target="../media/image297.png"/><Relationship Id="rId10" Type="http://schemas.openxmlformats.org/officeDocument/2006/relationships/image" Target="../media/image2.png"/><Relationship Id="rId4" Type="http://schemas.openxmlformats.org/officeDocument/2006/relationships/image" Target="../media/image296.png"/><Relationship Id="rId9" Type="http://schemas.openxmlformats.org/officeDocument/2006/relationships/image" Target="../media/image73.png"/></Relationships>
</file>

<file path=ppt/slides/_rels/slide10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0.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55.xml"/><Relationship Id="rId4" Type="http://schemas.openxmlformats.org/officeDocument/2006/relationships/chart" Target="../charts/chart54.xml"/></Relationships>
</file>

<file path=ppt/slides/_rels/slide10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1.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57.xml"/><Relationship Id="rId4" Type="http://schemas.openxmlformats.org/officeDocument/2006/relationships/chart" Target="../charts/chart56.xml"/></Relationships>
</file>

<file path=ppt/slides/_rels/slide1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0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4.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58.xml"/></Relationships>
</file>

<file path=ppt/slides/_rels/slide1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8.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59.xml"/></Relationships>
</file>

<file path=ppt/slides/_rels/slide1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1.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60.xml"/></Relationships>
</file>

<file path=ppt/slides/_rels/slide1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4.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61.xml"/></Relationships>
</file>

<file path=ppt/slides/_rels/slide1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6.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7.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63.xml"/><Relationship Id="rId4" Type="http://schemas.openxmlformats.org/officeDocument/2006/relationships/chart" Target="../charts/chart62.xml"/></Relationships>
</file>

<file path=ppt/slides/_rels/slide1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9.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65.xml"/><Relationship Id="rId4" Type="http://schemas.openxmlformats.org/officeDocument/2006/relationships/chart" Target="../charts/chart64.xml"/></Relationships>
</file>

<file path=ppt/slides/_rels/slide1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0.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67.xml"/><Relationship Id="rId4" Type="http://schemas.openxmlformats.org/officeDocument/2006/relationships/chart" Target="../charts/chart66.xml"/></Relationships>
</file>

<file path=ppt/slides/_rels/slide1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1.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69.xml"/><Relationship Id="rId4" Type="http://schemas.openxmlformats.org/officeDocument/2006/relationships/chart" Target="../charts/chart68.xml"/></Relationships>
</file>

<file path=ppt/slides/_rels/slide1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3.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70.xml"/></Relationships>
</file>

<file path=ppt/slides/_rels/slide1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5.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71.xml"/></Relationships>
</file>

<file path=ppt/slides/_rels/slide1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7.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72.xml"/></Relationships>
</file>

<file path=ppt/slides/_rels/slide14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8.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73.xml"/></Relationships>
</file>

<file path=ppt/slides/_rels/slide1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1.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75.xml"/><Relationship Id="rId4" Type="http://schemas.openxmlformats.org/officeDocument/2006/relationships/chart" Target="../charts/chart74.xml"/></Relationships>
</file>

<file path=ppt/slides/_rels/slide1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8" Type="http://schemas.openxmlformats.org/officeDocument/2006/relationships/image" Target="../media/image352.png"/><Relationship Id="rId13"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image" Target="../media/image425.png"/><Relationship Id="rId12" Type="http://schemas.openxmlformats.org/officeDocument/2006/relationships/image" Target="../media/image140.png"/><Relationship Id="rId2" Type="http://schemas.openxmlformats.org/officeDocument/2006/relationships/notesSlide" Target="../notesSlides/notesSlide123.xml"/><Relationship Id="rId1" Type="http://schemas.openxmlformats.org/officeDocument/2006/relationships/slideLayout" Target="../slideLayouts/slideLayout7.xml"/><Relationship Id="rId6" Type="http://schemas.openxmlformats.org/officeDocument/2006/relationships/image" Target="../media/image76.png"/><Relationship Id="rId11" Type="http://schemas.openxmlformats.org/officeDocument/2006/relationships/image" Target="../media/image351.png"/><Relationship Id="rId5" Type="http://schemas.openxmlformats.org/officeDocument/2006/relationships/image" Target="../media/image353.png"/><Relationship Id="rId10" Type="http://schemas.openxmlformats.org/officeDocument/2006/relationships/image" Target="../media/image427.png"/><Relationship Id="rId4" Type="http://schemas.openxmlformats.org/officeDocument/2006/relationships/image" Target="../media/image424.png"/><Relationship Id="rId9" Type="http://schemas.openxmlformats.org/officeDocument/2006/relationships/image" Target="../media/image426.png"/></Relationships>
</file>

<file path=ppt/slides/_rels/slide1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4.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77.xml"/><Relationship Id="rId4" Type="http://schemas.openxmlformats.org/officeDocument/2006/relationships/chart" Target="../charts/chart76.xml"/></Relationships>
</file>

<file path=ppt/slides/_rels/slide149.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125.xml"/><Relationship Id="rId1" Type="http://schemas.openxmlformats.org/officeDocument/2006/relationships/slideLayout" Target="../slideLayouts/slideLayout7.xml"/><Relationship Id="rId6" Type="http://schemas.openxmlformats.org/officeDocument/2006/relationships/chart" Target="../charts/chart80.xml"/><Relationship Id="rId5" Type="http://schemas.openxmlformats.org/officeDocument/2006/relationships/chart" Target="../charts/chart79.xml"/><Relationship Id="rId4" Type="http://schemas.openxmlformats.org/officeDocument/2006/relationships/chart" Target="../charts/chart78.xml"/></Relationships>
</file>

<file path=ppt/slides/_rels/slide1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8.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81.xml"/></Relationships>
</file>

<file path=ppt/slides/_rels/slide1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8" Type="http://schemas.openxmlformats.org/officeDocument/2006/relationships/image" Target="../media/image441.png"/><Relationship Id="rId13"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image" Target="../media/image440.png"/><Relationship Id="rId12" Type="http://schemas.openxmlformats.org/officeDocument/2006/relationships/image" Target="../media/image426.png"/><Relationship Id="rId2" Type="http://schemas.openxmlformats.org/officeDocument/2006/relationships/notesSlide" Target="../notesSlides/notesSlide131.xml"/><Relationship Id="rId1" Type="http://schemas.openxmlformats.org/officeDocument/2006/relationships/slideLayout" Target="../slideLayouts/slideLayout7.xml"/><Relationship Id="rId6" Type="http://schemas.openxmlformats.org/officeDocument/2006/relationships/image" Target="../media/image439.png"/><Relationship Id="rId11" Type="http://schemas.openxmlformats.org/officeDocument/2006/relationships/image" Target="../media/image443.png"/><Relationship Id="rId5" Type="http://schemas.openxmlformats.org/officeDocument/2006/relationships/image" Target="../media/image438.png"/><Relationship Id="rId10" Type="http://schemas.openxmlformats.org/officeDocument/2006/relationships/image" Target="../media/image442.png"/><Relationship Id="rId4" Type="http://schemas.openxmlformats.org/officeDocument/2006/relationships/image" Target="../media/image437.png"/><Relationship Id="rId9" Type="http://schemas.openxmlformats.org/officeDocument/2006/relationships/image" Target="../media/image105.png"/></Relationships>
</file>

<file path=ppt/slides/_rels/slide1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2.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83.xml"/><Relationship Id="rId4" Type="http://schemas.openxmlformats.org/officeDocument/2006/relationships/chart" Target="../charts/chart82.xml"/></Relationships>
</file>

<file path=ppt/slides/_rels/slide158.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133.xml"/><Relationship Id="rId1" Type="http://schemas.openxmlformats.org/officeDocument/2006/relationships/slideLayout" Target="../slideLayouts/slideLayout7.xml"/><Relationship Id="rId6" Type="http://schemas.openxmlformats.org/officeDocument/2006/relationships/chart" Target="../charts/chart86.xml"/><Relationship Id="rId5" Type="http://schemas.openxmlformats.org/officeDocument/2006/relationships/chart" Target="../charts/chart85.xml"/><Relationship Id="rId4" Type="http://schemas.openxmlformats.org/officeDocument/2006/relationships/chart" Target="../charts/chart84.xml"/></Relationships>
</file>

<file path=ppt/slides/_rels/slide1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6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6.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87.xml"/></Relationships>
</file>

<file path=ppt/slides/_rels/slide1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6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8" Type="http://schemas.openxmlformats.org/officeDocument/2006/relationships/image" Target="../media/image413.png"/><Relationship Id="rId3" Type="http://schemas.openxmlformats.org/officeDocument/2006/relationships/image" Target="../media/image1.png"/><Relationship Id="rId7" Type="http://schemas.openxmlformats.org/officeDocument/2006/relationships/image" Target="../media/image452.png"/><Relationship Id="rId2" Type="http://schemas.openxmlformats.org/officeDocument/2006/relationships/notesSlide" Target="../notesSlides/notesSlide139.xml"/><Relationship Id="rId1" Type="http://schemas.openxmlformats.org/officeDocument/2006/relationships/slideLayout" Target="../slideLayouts/slideLayout7.xml"/><Relationship Id="rId6" Type="http://schemas.openxmlformats.org/officeDocument/2006/relationships/image" Target="../media/image195.png"/><Relationship Id="rId5" Type="http://schemas.openxmlformats.org/officeDocument/2006/relationships/image" Target="../media/image451.png"/><Relationship Id="rId10" Type="http://schemas.openxmlformats.org/officeDocument/2006/relationships/image" Target="../media/image2.png"/><Relationship Id="rId4" Type="http://schemas.openxmlformats.org/officeDocument/2006/relationships/image" Target="../media/image450.png"/><Relationship Id="rId9" Type="http://schemas.openxmlformats.org/officeDocument/2006/relationships/image" Target="../media/image439.png"/></Relationships>
</file>

<file path=ppt/slides/_rels/slide16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0.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89.xml"/><Relationship Id="rId4" Type="http://schemas.openxmlformats.org/officeDocument/2006/relationships/chart" Target="../charts/chart88.xml"/></Relationships>
</file>

<file path=ppt/slides/_rels/slide16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1.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91.xml"/><Relationship Id="rId4" Type="http://schemas.openxmlformats.org/officeDocument/2006/relationships/chart" Target="../charts/chart90.xml"/></Relationships>
</file>

<file path=ppt/slides/_rels/slide1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4.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92.xml"/></Relationships>
</file>

<file path=ppt/slides/_rels/slide1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8" Type="http://schemas.openxmlformats.org/officeDocument/2006/relationships/image" Target="../media/image462.png"/><Relationship Id="rId13" Type="http://schemas.openxmlformats.org/officeDocument/2006/relationships/image" Target="../media/image466.png"/><Relationship Id="rId3" Type="http://schemas.openxmlformats.org/officeDocument/2006/relationships/image" Target="../media/image1.png"/><Relationship Id="rId7" Type="http://schemas.openxmlformats.org/officeDocument/2006/relationships/image" Target="../media/image461.png"/><Relationship Id="rId12" Type="http://schemas.openxmlformats.org/officeDocument/2006/relationships/image" Target="../media/image465.png"/><Relationship Id="rId2" Type="http://schemas.openxmlformats.org/officeDocument/2006/relationships/notesSlide" Target="../notesSlides/notesSlide147.xml"/><Relationship Id="rId16" Type="http://schemas.openxmlformats.org/officeDocument/2006/relationships/image" Target="../media/image2.png"/><Relationship Id="rId1" Type="http://schemas.openxmlformats.org/officeDocument/2006/relationships/slideLayout" Target="../slideLayouts/slideLayout7.xml"/><Relationship Id="rId6" Type="http://schemas.openxmlformats.org/officeDocument/2006/relationships/image" Target="../media/image195.png"/><Relationship Id="rId11" Type="http://schemas.openxmlformats.org/officeDocument/2006/relationships/image" Target="../media/image464.png"/><Relationship Id="rId5" Type="http://schemas.openxmlformats.org/officeDocument/2006/relationships/image" Target="../media/image460.png"/><Relationship Id="rId15" Type="http://schemas.openxmlformats.org/officeDocument/2006/relationships/image" Target="../media/image468.png"/><Relationship Id="rId10" Type="http://schemas.openxmlformats.org/officeDocument/2006/relationships/image" Target="../media/image463.png"/><Relationship Id="rId4" Type="http://schemas.openxmlformats.org/officeDocument/2006/relationships/image" Target="../media/image459.png"/><Relationship Id="rId9" Type="http://schemas.openxmlformats.org/officeDocument/2006/relationships/image" Target="../media/image135.png"/><Relationship Id="rId14" Type="http://schemas.openxmlformats.org/officeDocument/2006/relationships/image" Target="../media/image467.png"/></Relationships>
</file>

<file path=ppt/slides/_rels/slide1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8.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94.xml"/><Relationship Id="rId4" Type="http://schemas.openxmlformats.org/officeDocument/2006/relationships/chart" Target="../charts/chart93.xml"/></Relationships>
</file>

<file path=ppt/slides/_rels/slide176.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chart" Target="../charts/chart98.xml"/><Relationship Id="rId2" Type="http://schemas.openxmlformats.org/officeDocument/2006/relationships/notesSlide" Target="../notesSlides/notesSlide149.xml"/><Relationship Id="rId1" Type="http://schemas.openxmlformats.org/officeDocument/2006/relationships/slideLayout" Target="../slideLayouts/slideLayout7.xml"/><Relationship Id="rId6" Type="http://schemas.openxmlformats.org/officeDocument/2006/relationships/chart" Target="../charts/chart97.xml"/><Relationship Id="rId5" Type="http://schemas.openxmlformats.org/officeDocument/2006/relationships/chart" Target="../charts/chart96.xml"/><Relationship Id="rId4" Type="http://schemas.openxmlformats.org/officeDocument/2006/relationships/chart" Target="../charts/chart95.xml"/></Relationships>
</file>

<file path=ppt/slides/_rels/slide1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7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7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2.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99.xml"/></Relationships>
</file>

<file path=ppt/slides/_rels/slide18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8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8" Type="http://schemas.openxmlformats.org/officeDocument/2006/relationships/image" Target="../media/image478.png"/><Relationship Id="rId3" Type="http://schemas.openxmlformats.org/officeDocument/2006/relationships/image" Target="../media/image1.png"/><Relationship Id="rId7" Type="http://schemas.openxmlformats.org/officeDocument/2006/relationships/image" Target="../media/image477.png"/><Relationship Id="rId2" Type="http://schemas.openxmlformats.org/officeDocument/2006/relationships/notesSlide" Target="../notesSlides/notesSlide155.xml"/><Relationship Id="rId1" Type="http://schemas.openxmlformats.org/officeDocument/2006/relationships/slideLayout" Target="../slideLayouts/slideLayout7.xml"/><Relationship Id="rId6" Type="http://schemas.openxmlformats.org/officeDocument/2006/relationships/image" Target="../media/image247.png"/><Relationship Id="rId5" Type="http://schemas.openxmlformats.org/officeDocument/2006/relationships/image" Target="../media/image476.png"/><Relationship Id="rId10" Type="http://schemas.openxmlformats.org/officeDocument/2006/relationships/image" Target="../media/image2.png"/><Relationship Id="rId4" Type="http://schemas.openxmlformats.org/officeDocument/2006/relationships/image" Target="../media/image475.png"/><Relationship Id="rId9" Type="http://schemas.openxmlformats.org/officeDocument/2006/relationships/image" Target="../media/image479.png"/></Relationships>
</file>

<file path=ppt/slides/_rels/slide1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6.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01.xml"/><Relationship Id="rId4" Type="http://schemas.openxmlformats.org/officeDocument/2006/relationships/chart" Target="../charts/chart100.xml"/></Relationships>
</file>

<file path=ppt/slides/_rels/slide18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7.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03.xml"/><Relationship Id="rId4" Type="http://schemas.openxmlformats.org/officeDocument/2006/relationships/chart" Target="../charts/chart102.xml"/></Relationships>
</file>

<file path=ppt/slides/_rels/slide18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8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0.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04.xml"/></Relationships>
</file>

<file path=ppt/slides/_rels/slide1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8" Type="http://schemas.openxmlformats.org/officeDocument/2006/relationships/image" Target="../media/image488.png"/><Relationship Id="rId13" Type="http://schemas.openxmlformats.org/officeDocument/2006/relationships/image" Target="../media/image492.png"/><Relationship Id="rId3" Type="http://schemas.openxmlformats.org/officeDocument/2006/relationships/image" Target="../media/image1.png"/><Relationship Id="rId7" Type="http://schemas.openxmlformats.org/officeDocument/2006/relationships/image" Target="../media/image487.png"/><Relationship Id="rId12" Type="http://schemas.openxmlformats.org/officeDocument/2006/relationships/image" Target="../media/image491.png"/><Relationship Id="rId2" Type="http://schemas.openxmlformats.org/officeDocument/2006/relationships/notesSlide" Target="../notesSlides/notesSlide163.xml"/><Relationship Id="rId16" Type="http://schemas.openxmlformats.org/officeDocument/2006/relationships/image" Target="../media/image2.png"/><Relationship Id="rId1" Type="http://schemas.openxmlformats.org/officeDocument/2006/relationships/slideLayout" Target="../slideLayouts/slideLayout7.xml"/><Relationship Id="rId6" Type="http://schemas.openxmlformats.org/officeDocument/2006/relationships/image" Target="../media/image486.png"/><Relationship Id="rId11" Type="http://schemas.openxmlformats.org/officeDocument/2006/relationships/image" Target="../media/image490.png"/><Relationship Id="rId5" Type="http://schemas.openxmlformats.org/officeDocument/2006/relationships/image" Target="../media/image485.png"/><Relationship Id="rId15" Type="http://schemas.openxmlformats.org/officeDocument/2006/relationships/image" Target="../media/image190.png"/><Relationship Id="rId10" Type="http://schemas.openxmlformats.org/officeDocument/2006/relationships/image" Target="../media/image489.png"/><Relationship Id="rId4" Type="http://schemas.openxmlformats.org/officeDocument/2006/relationships/image" Target="../media/image484.png"/><Relationship Id="rId9" Type="http://schemas.openxmlformats.org/officeDocument/2006/relationships/image" Target="../media/image258.png"/><Relationship Id="rId14" Type="http://schemas.openxmlformats.org/officeDocument/2006/relationships/image" Target="../media/image493.png"/></Relationships>
</file>

<file path=ppt/slides/_rels/slide193.xml.rels><?xml version="1.0" encoding="UTF-8" standalone="yes"?>
<Relationships xmlns="http://schemas.openxmlformats.org/package/2006/relationships"><Relationship Id="rId8" Type="http://schemas.openxmlformats.org/officeDocument/2006/relationships/image" Target="../media/image497.png"/><Relationship Id="rId13"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image" Target="../media/image39.png"/><Relationship Id="rId12" Type="http://schemas.openxmlformats.org/officeDocument/2006/relationships/image" Target="../media/image500.png"/><Relationship Id="rId2" Type="http://schemas.openxmlformats.org/officeDocument/2006/relationships/notesSlide" Target="../notesSlides/notesSlide164.xml"/><Relationship Id="rId1" Type="http://schemas.openxmlformats.org/officeDocument/2006/relationships/slideLayout" Target="../slideLayouts/slideLayout7.xml"/><Relationship Id="rId6" Type="http://schemas.openxmlformats.org/officeDocument/2006/relationships/image" Target="../media/image496.png"/><Relationship Id="rId11" Type="http://schemas.openxmlformats.org/officeDocument/2006/relationships/image" Target="../media/image499.png"/><Relationship Id="rId5" Type="http://schemas.openxmlformats.org/officeDocument/2006/relationships/image" Target="../media/image495.png"/><Relationship Id="rId10" Type="http://schemas.openxmlformats.org/officeDocument/2006/relationships/image" Target="../media/image214.png"/><Relationship Id="rId4" Type="http://schemas.openxmlformats.org/officeDocument/2006/relationships/image" Target="../media/image494.png"/><Relationship Id="rId9" Type="http://schemas.openxmlformats.org/officeDocument/2006/relationships/image" Target="../media/image498.png"/></Relationships>
</file>

<file path=ppt/slides/_rels/slide19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5.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06.xml"/><Relationship Id="rId4" Type="http://schemas.openxmlformats.org/officeDocument/2006/relationships/chart" Target="../charts/chart105.xml"/></Relationships>
</file>

<file path=ppt/slides/_rels/slide195.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chart" Target="../charts/chart110.xml"/><Relationship Id="rId2" Type="http://schemas.openxmlformats.org/officeDocument/2006/relationships/notesSlide" Target="../notesSlides/notesSlide166.xml"/><Relationship Id="rId1" Type="http://schemas.openxmlformats.org/officeDocument/2006/relationships/slideLayout" Target="../slideLayouts/slideLayout7.xml"/><Relationship Id="rId6" Type="http://schemas.openxmlformats.org/officeDocument/2006/relationships/chart" Target="../charts/chart109.xml"/><Relationship Id="rId5" Type="http://schemas.openxmlformats.org/officeDocument/2006/relationships/chart" Target="../charts/chart108.xml"/><Relationship Id="rId4" Type="http://schemas.openxmlformats.org/officeDocument/2006/relationships/chart" Target="../charts/chart107.xml"/></Relationships>
</file>

<file path=ppt/slides/_rels/slide196.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167.xml"/><Relationship Id="rId1" Type="http://schemas.openxmlformats.org/officeDocument/2006/relationships/slideLayout" Target="../slideLayouts/slideLayout7.xml"/><Relationship Id="rId6" Type="http://schemas.openxmlformats.org/officeDocument/2006/relationships/chart" Target="../charts/chart113.xml"/><Relationship Id="rId5" Type="http://schemas.openxmlformats.org/officeDocument/2006/relationships/chart" Target="../charts/chart112.xml"/><Relationship Id="rId4" Type="http://schemas.openxmlformats.org/officeDocument/2006/relationships/chart" Target="../charts/chart111.xml"/></Relationships>
</file>

<file path=ppt/slides/_rels/slide19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9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1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0.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14.xml"/></Relationships>
</file>

<file path=ppt/slides/_rels/slide20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0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0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8" Type="http://schemas.openxmlformats.org/officeDocument/2006/relationships/image" Target="../media/image519.png"/><Relationship Id="rId3" Type="http://schemas.openxmlformats.org/officeDocument/2006/relationships/image" Target="../media/image1.png"/><Relationship Id="rId7" Type="http://schemas.openxmlformats.org/officeDocument/2006/relationships/image" Target="../media/image518.png"/><Relationship Id="rId2" Type="http://schemas.openxmlformats.org/officeDocument/2006/relationships/notesSlide" Target="../notesSlides/notesSlide173.xml"/><Relationship Id="rId1" Type="http://schemas.openxmlformats.org/officeDocument/2006/relationships/slideLayout" Target="../slideLayouts/slideLayout7.xml"/><Relationship Id="rId6" Type="http://schemas.openxmlformats.org/officeDocument/2006/relationships/image" Target="../media/image517.png"/><Relationship Id="rId5" Type="http://schemas.openxmlformats.org/officeDocument/2006/relationships/image" Target="../media/image516.png"/><Relationship Id="rId10" Type="http://schemas.openxmlformats.org/officeDocument/2006/relationships/image" Target="../media/image2.png"/><Relationship Id="rId4" Type="http://schemas.openxmlformats.org/officeDocument/2006/relationships/image" Target="../media/image515.png"/><Relationship Id="rId9" Type="http://schemas.openxmlformats.org/officeDocument/2006/relationships/image" Target="../media/image105.png"/></Relationships>
</file>

<file path=ppt/slides/_rels/slide20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4.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16.xml"/><Relationship Id="rId4" Type="http://schemas.openxmlformats.org/officeDocument/2006/relationships/chart" Target="../charts/chart115.xml"/></Relationships>
</file>

<file path=ppt/slides/_rels/slide20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5.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18.xml"/><Relationship Id="rId4" Type="http://schemas.openxmlformats.org/officeDocument/2006/relationships/chart" Target="../charts/chart117.xml"/></Relationships>
</file>

<file path=ppt/slides/_rels/slide20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0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8.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19.xml"/></Relationships>
</file>

<file path=ppt/slides/_rels/slide20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2.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20.xml"/></Relationships>
</file>

<file path=ppt/slides/_rels/slide2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5.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21.xml"/></Relationships>
</file>

<file path=ppt/slides/_rels/slide2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8.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22.xml"/></Relationships>
</file>

<file path=ppt/slides/_rels/slide2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0.xml"/><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chart" Target="../charts/chart126.xml"/><Relationship Id="rId2" Type="http://schemas.openxmlformats.org/officeDocument/2006/relationships/notesSlide" Target="../notesSlides/notesSlide191.xml"/><Relationship Id="rId1" Type="http://schemas.openxmlformats.org/officeDocument/2006/relationships/slideLayout" Target="../slideLayouts/slideLayout7.xml"/><Relationship Id="rId6" Type="http://schemas.openxmlformats.org/officeDocument/2006/relationships/chart" Target="../charts/chart125.xml"/><Relationship Id="rId5" Type="http://schemas.openxmlformats.org/officeDocument/2006/relationships/chart" Target="../charts/chart124.xml"/><Relationship Id="rId4" Type="http://schemas.openxmlformats.org/officeDocument/2006/relationships/chart" Target="../charts/chart123.xml"/></Relationships>
</file>

<file path=ppt/slides/_rels/slide227.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1.png"/><Relationship Id="rId7" Type="http://schemas.openxmlformats.org/officeDocument/2006/relationships/chart" Target="../charts/chart130.xml"/><Relationship Id="rId2" Type="http://schemas.openxmlformats.org/officeDocument/2006/relationships/notesSlide" Target="../notesSlides/notesSlide192.xml"/><Relationship Id="rId1" Type="http://schemas.openxmlformats.org/officeDocument/2006/relationships/slideLayout" Target="../slideLayouts/slideLayout7.xml"/><Relationship Id="rId6" Type="http://schemas.openxmlformats.org/officeDocument/2006/relationships/chart" Target="../charts/chart129.xml"/><Relationship Id="rId5" Type="http://schemas.openxmlformats.org/officeDocument/2006/relationships/chart" Target="../charts/chart128.xml"/><Relationship Id="rId4" Type="http://schemas.openxmlformats.org/officeDocument/2006/relationships/chart" Target="../charts/chart127.xml"/></Relationships>
</file>

<file path=ppt/slides/_rels/slide228.xml.rels><?xml version="1.0" encoding="UTF-8" standalone="yes"?>
<Relationships xmlns="http://schemas.openxmlformats.org/package/2006/relationships"><Relationship Id="rId8" Type="http://schemas.openxmlformats.org/officeDocument/2006/relationships/chart" Target="../charts/chart135.xml"/><Relationship Id="rId3" Type="http://schemas.openxmlformats.org/officeDocument/2006/relationships/image" Target="../media/image1.png"/><Relationship Id="rId7" Type="http://schemas.openxmlformats.org/officeDocument/2006/relationships/chart" Target="../charts/chart134.xml"/><Relationship Id="rId2" Type="http://schemas.openxmlformats.org/officeDocument/2006/relationships/notesSlide" Target="../notesSlides/notesSlide193.xml"/><Relationship Id="rId1" Type="http://schemas.openxmlformats.org/officeDocument/2006/relationships/slideLayout" Target="../slideLayouts/slideLayout7.xml"/><Relationship Id="rId6" Type="http://schemas.openxmlformats.org/officeDocument/2006/relationships/chart" Target="../charts/chart133.xml"/><Relationship Id="rId11" Type="http://schemas.openxmlformats.org/officeDocument/2006/relationships/image" Target="../media/image2.png"/><Relationship Id="rId5" Type="http://schemas.openxmlformats.org/officeDocument/2006/relationships/chart" Target="../charts/chart132.xml"/><Relationship Id="rId10" Type="http://schemas.openxmlformats.org/officeDocument/2006/relationships/chart" Target="../charts/chart137.xml"/><Relationship Id="rId4" Type="http://schemas.openxmlformats.org/officeDocument/2006/relationships/chart" Target="../charts/chart131.xml"/><Relationship Id="rId9" Type="http://schemas.openxmlformats.org/officeDocument/2006/relationships/chart" Target="../charts/chart136.xml"/></Relationships>
</file>

<file path=ppt/slides/_rels/slide2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5.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39.xml"/><Relationship Id="rId4" Type="http://schemas.openxmlformats.org/officeDocument/2006/relationships/chart" Target="../charts/chart138.xml"/></Relationships>
</file>

<file path=ppt/slides/_rels/slide2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8.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41.xml"/><Relationship Id="rId4" Type="http://schemas.openxmlformats.org/officeDocument/2006/relationships/chart" Target="../charts/chart140.xml"/></Relationships>
</file>

<file path=ppt/slides/_rels/slide2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1.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43.xml"/><Relationship Id="rId4" Type="http://schemas.openxmlformats.org/officeDocument/2006/relationships/chart" Target="../charts/chart142.xml"/></Relationships>
</file>

<file path=ppt/slides/_rels/slide2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4.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45.xml"/><Relationship Id="rId4" Type="http://schemas.openxmlformats.org/officeDocument/2006/relationships/chart" Target="../charts/chart144.xml"/></Relationships>
</file>

<file path=ppt/slides/_rels/slide2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7.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47.xml"/><Relationship Id="rId4" Type="http://schemas.openxmlformats.org/officeDocument/2006/relationships/chart" Target="../charts/chart146.xml"/></Relationships>
</file>

<file path=ppt/slides/_rels/slide2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0.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49.xml"/><Relationship Id="rId4" Type="http://schemas.openxmlformats.org/officeDocument/2006/relationships/chart" Target="../charts/chart148.xml"/></Relationships>
</file>

<file path=ppt/slides/_rels/slide2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4.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51.xml"/><Relationship Id="rId4" Type="http://schemas.openxmlformats.org/officeDocument/2006/relationships/chart" Target="../charts/chart150.xml"/></Relationships>
</file>

<file path=ppt/slides/_rels/slide25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8.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52.xml"/></Relationships>
</file>

<file path=ppt/slides/_rels/slide2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6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1.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53.xml"/></Relationships>
</file>

<file path=ppt/slides/_rels/slide2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4.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54.xml"/></Relationships>
</file>

<file path=ppt/slides/_rels/slide2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6.xml"/><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7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8.xml"/><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chart" Target="../charts/chart156.xml"/><Relationship Id="rId4" Type="http://schemas.openxmlformats.org/officeDocument/2006/relationships/chart" Target="../charts/chart155.xml"/></Relationships>
</file>

<file path=ppt/slides/_rels/slide2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9.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57.xml"/></Relationships>
</file>

<file path=ppt/slides/_rels/slide27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0.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58.xml"/></Relationships>
</file>

<file path=ppt/slides/_rels/slide27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8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8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8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8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8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8.xml"/><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0.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9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2.xml"/><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9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9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9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9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9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2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0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0.xml"/><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0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0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0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0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5.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0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0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9.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0.xml"/><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4.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5.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59.xml"/></Relationships>
</file>

<file path=ppt/slides/_rels/slide318.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266.xml"/><Relationship Id="rId1" Type="http://schemas.openxmlformats.org/officeDocument/2006/relationships/slideLayout" Target="../slideLayouts/slideLayout7.xml"/><Relationship Id="rId6" Type="http://schemas.openxmlformats.org/officeDocument/2006/relationships/chart" Target="../charts/chart162.xml"/><Relationship Id="rId5" Type="http://schemas.openxmlformats.org/officeDocument/2006/relationships/chart" Target="../charts/chart161.xml"/><Relationship Id="rId4" Type="http://schemas.openxmlformats.org/officeDocument/2006/relationships/chart" Target="../charts/chart160.xml"/></Relationships>
</file>

<file path=ppt/slides/_rels/slide319.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267.xml"/><Relationship Id="rId1" Type="http://schemas.openxmlformats.org/officeDocument/2006/relationships/slideLayout" Target="../slideLayouts/slideLayout7.xml"/><Relationship Id="rId6" Type="http://schemas.openxmlformats.org/officeDocument/2006/relationships/chart" Target="../charts/chart165.xml"/><Relationship Id="rId5" Type="http://schemas.openxmlformats.org/officeDocument/2006/relationships/chart" Target="../charts/chart164.xml"/><Relationship Id="rId4" Type="http://schemas.openxmlformats.org/officeDocument/2006/relationships/chart" Target="../charts/chart163.xml"/></Relationships>
</file>

<file path=ppt/slides/_rels/slide3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269.xml"/><Relationship Id="rId1" Type="http://schemas.openxmlformats.org/officeDocument/2006/relationships/slideLayout" Target="../slideLayouts/slideLayout7.xml"/><Relationship Id="rId6" Type="http://schemas.openxmlformats.org/officeDocument/2006/relationships/chart" Target="../charts/chart168.xml"/><Relationship Id="rId5" Type="http://schemas.openxmlformats.org/officeDocument/2006/relationships/chart" Target="../charts/chart167.xml"/><Relationship Id="rId4" Type="http://schemas.openxmlformats.org/officeDocument/2006/relationships/chart" Target="../charts/chart166.xml"/></Relationships>
</file>

<file path=ppt/slides/_rels/slide3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0.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69.xml"/></Relationships>
</file>

<file path=ppt/slides/_rels/slide3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3.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27.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274.xml"/><Relationship Id="rId1" Type="http://schemas.openxmlformats.org/officeDocument/2006/relationships/slideLayout" Target="../slideLayouts/slideLayout7.xml"/><Relationship Id="rId6" Type="http://schemas.openxmlformats.org/officeDocument/2006/relationships/chart" Target="../charts/chart172.xml"/><Relationship Id="rId5" Type="http://schemas.openxmlformats.org/officeDocument/2006/relationships/chart" Target="../charts/chart171.xml"/><Relationship Id="rId4" Type="http://schemas.openxmlformats.org/officeDocument/2006/relationships/chart" Target="../charts/chart170.xml"/></Relationships>
</file>

<file path=ppt/slides/_rels/slide3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5.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73.xml"/></Relationships>
</file>

<file path=ppt/slides/_rels/slide3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6.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7.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8.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32.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png"/><Relationship Id="rId2" Type="http://schemas.openxmlformats.org/officeDocument/2006/relationships/notesSlide" Target="../notesSlides/notesSlide279.xml"/><Relationship Id="rId1" Type="http://schemas.openxmlformats.org/officeDocument/2006/relationships/slideLayout" Target="../slideLayouts/slideLayout7.xml"/><Relationship Id="rId6" Type="http://schemas.openxmlformats.org/officeDocument/2006/relationships/chart" Target="../charts/chart176.xml"/><Relationship Id="rId5" Type="http://schemas.openxmlformats.org/officeDocument/2006/relationships/chart" Target="../charts/chart175.xml"/><Relationship Id="rId4" Type="http://schemas.openxmlformats.org/officeDocument/2006/relationships/chart" Target="../charts/chart174.xml"/></Relationships>
</file>

<file path=ppt/slides/_rels/slide3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80.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hart" Target="../charts/chart177.xml"/></Relationships>
</file>

<file path=ppt/slides/_rels/slide3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81.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82.xml"/><Relationship Id="rId1" Type="http://schemas.openxmlformats.org/officeDocument/2006/relationships/slideLayout" Target="../slideLayouts/slideLayout7.xml"/><Relationship Id="rId4" Type="http://schemas.openxmlformats.org/officeDocument/2006/relationships/image" Target="../media/image2.png"/></Relationships>
</file>

<file path=ppt/slides/_rels/slide3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83.xml"/><Relationship Id="rId1" Type="http://schemas.openxmlformats.org/officeDocument/2006/relationships/slideLayout" Target="../slideLayouts/slideLayout7.xml"/><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tIns="9525" rIns="28575" bIns="9525" anchor="ctr">
            <a:spAutoFit/>
          </a:bodyPr>
          <a:lstStyle/>
          <a:p>
            <a:pPr algn="l"/>
            <a:r>
              <a:rPr sz="3400" b="1">
                <a:solidFill>
                  <a:srgbClr val="0B2E4A"/>
                </a:solidFill>
                <a:latin typeface="Calibri"/>
              </a:rPr>
              <a:t>Global Corrugated Partition Market</a:t>
            </a:r>
          </a:p>
        </p:txBody>
      </p:sp>
      <p:sp>
        <p:nvSpPr>
          <p:cNvPr id="17" name="TextBox 16"/>
          <p:cNvSpPr txBox="1"/>
          <p:nvPr/>
        </p:nvSpPr>
        <p:spPr>
          <a:xfrm>
            <a:off x="1162050" y="4686300"/>
            <a:ext cx="9334500" cy="857250"/>
          </a:xfrm>
          <a:prstGeom prst="rect">
            <a:avLst/>
          </a:prstGeom>
          <a:noFill/>
        </p:spPr>
        <p:txBody>
          <a:bodyPr wrap="square" lIns="28575" tIns="9525" rIns="28575" bIns="9525">
            <a:spAutoFit/>
          </a:bodyPr>
          <a:lstStyle/>
          <a:p>
            <a:pPr algn="l"/>
            <a:r>
              <a:rPr sz="1600" b="0">
                <a:solidFill>
                  <a:srgbClr val="6C7A89"/>
                </a:solidFill>
                <a:latin typeface="Calibri"/>
              </a:rPr>
              <a:t>Value (US$ Mn) and Volume (MT) Analysis and Forecast, 2021–2036</a:t>
            </a:r>
          </a:p>
          <a:p>
            <a:pPr algn="l"/>
            <a:r>
              <a:rPr sz="1100" b="0">
                <a:solidFill>
                  <a:srgbClr val="8FCBE6"/>
                </a:solidFill>
                <a:latin typeface="Calibri"/>
              </a:rPr>
              <a:t>Region focus: Global   ·   Country focus: U.S.   ·   Generated 08 Oct 2026   ·   Source: FMI Analysis, 2026</a:t>
            </a: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r:id="rId3" action="ppaction://hlinksldjump"/>
          </p:cNvPr>
          <p:cNvSpPr/>
          <p:nvPr/>
        </p:nvSpPr>
        <p:spPr>
          <a:xfrm>
            <a:off x="314325" y="113503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 Market Signals</a:t>
            </a:r>
          </a:p>
        </p:txBody>
      </p:sp>
      <p:sp>
        <p:nvSpPr>
          <p:cNvPr id="11" name="Rounded Rectangle 10">
            <a:hlinkClick r:id="rId4" action="ppaction://hlinksldjump"/>
          </p:cNvPr>
          <p:cNvSpPr/>
          <p:nvPr/>
        </p:nvSpPr>
        <p:spPr>
          <a:xfrm>
            <a:off x="142875" y="149402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300" b="1">
                <a:solidFill>
                  <a:srgbClr val="0B2E4A"/>
                </a:solidFill>
                <a:latin typeface="Calibri"/>
              </a:rPr>
              <a:t>Market Overview</a:t>
            </a:r>
          </a:p>
        </p:txBody>
      </p:sp>
      <p:sp>
        <p:nvSpPr>
          <p:cNvPr id="12" name="Rounded Rectangle 11">
            <a:hlinkClick r:id="rId5" action="ppaction://hlinksldjump"/>
          </p:cNvPr>
          <p:cNvSpPr/>
          <p:nvPr/>
        </p:nvSpPr>
        <p:spPr>
          <a:xfrm>
            <a:off x="314325" y="1868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2. Market Taxonomy</a:t>
            </a:r>
          </a:p>
        </p:txBody>
      </p:sp>
      <p:sp>
        <p:nvSpPr>
          <p:cNvPr id="13" name="Rounded Rectangle 12">
            <a:hlinkClick r:id="rId6" action="ppaction://hlinksldjump"/>
          </p:cNvPr>
          <p:cNvSpPr/>
          <p:nvPr/>
        </p:nvSpPr>
        <p:spPr>
          <a:xfrm>
            <a:off x="314325" y="222721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3. Table of Contents</a:t>
            </a:r>
          </a:p>
        </p:txBody>
      </p:sp>
      <p:sp>
        <p:nvSpPr>
          <p:cNvPr id="14" name="Rounded Rectangle 13">
            <a:hlinkClick r:id="rId7" action="ppaction://hlinksldjump"/>
          </p:cNvPr>
          <p:cNvSpPr/>
          <p:nvPr/>
        </p:nvSpPr>
        <p:spPr>
          <a:xfrm>
            <a:off x="314325" y="258620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4. List of Figures, List of Tables</a:t>
            </a:r>
          </a:p>
        </p:txBody>
      </p:sp>
      <p:sp>
        <p:nvSpPr>
          <p:cNvPr id="15" name="Rounded Rectangle 14">
            <a:hlinkClick r:id="rId8" action="ppaction://hlinksldjump"/>
          </p:cNvPr>
          <p:cNvSpPr/>
          <p:nvPr/>
        </p:nvSpPr>
        <p:spPr>
          <a:xfrm>
            <a:off x="142875" y="294519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300" b="1">
                <a:solidFill>
                  <a:srgbClr val="0B2E4A"/>
                </a:solidFill>
                <a:latin typeface="Calibri"/>
              </a:rPr>
              <a:t>Global Market Outlook</a:t>
            </a:r>
          </a:p>
        </p:txBody>
      </p:sp>
      <p:sp>
        <p:nvSpPr>
          <p:cNvPr id="16" name="Rounded Rectangle 15">
            <a:hlinkClick r:id="rId9" action="ppaction://hlinksldjump"/>
          </p:cNvPr>
          <p:cNvSpPr/>
          <p:nvPr/>
        </p:nvSpPr>
        <p:spPr>
          <a:xfrm>
            <a:off x="314325" y="331939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5. Corrugated Partition Market Global Overview</a:t>
            </a:r>
          </a:p>
        </p:txBody>
      </p:sp>
      <p:sp>
        <p:nvSpPr>
          <p:cNvPr id="17" name="Rounded Rectangle 16">
            <a:hlinkClick r:id="rId10" action="ppaction://hlinksldjump"/>
          </p:cNvPr>
          <p:cNvSpPr/>
          <p:nvPr/>
        </p:nvSpPr>
        <p:spPr>
          <a:xfrm>
            <a:off x="314325" y="367838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6. Global Market Analysis By Region</a:t>
            </a:r>
          </a:p>
        </p:txBody>
      </p:sp>
      <p:sp>
        <p:nvSpPr>
          <p:cNvPr id="18" name="Rounded Rectangle 17">
            <a:hlinkClick r:id="rId11" action="ppaction://hlinksldjump"/>
          </p:cNvPr>
          <p:cNvSpPr/>
          <p:nvPr/>
        </p:nvSpPr>
        <p:spPr>
          <a:xfrm>
            <a:off x="314325" y="403737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7. Global Market Analysis By Segments</a:t>
            </a:r>
          </a:p>
        </p:txBody>
      </p:sp>
      <p:sp>
        <p:nvSpPr>
          <p:cNvPr id="19" name="Rounded Rectangle 18">
            <a:hlinkClick r:id="rId12" action="ppaction://hlinksldjump"/>
          </p:cNvPr>
          <p:cNvSpPr/>
          <p:nvPr/>
        </p:nvSpPr>
        <p:spPr>
          <a:xfrm>
            <a:off x="314325" y="439636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8. Cross-sectional Assessment</a:t>
            </a:r>
          </a:p>
        </p:txBody>
      </p:sp>
      <p:sp>
        <p:nvSpPr>
          <p:cNvPr id="20" name="Rounded Rectangle 19">
            <a:hlinkClick r:id="rId13" action="ppaction://hlinksldjump"/>
          </p:cNvPr>
          <p:cNvSpPr/>
          <p:nvPr/>
        </p:nvSpPr>
        <p:spPr>
          <a:xfrm>
            <a:off x="142875" y="4755354"/>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300" b="1">
                <a:solidFill>
                  <a:srgbClr val="0B2E4A"/>
                </a:solidFill>
                <a:latin typeface="Calibri"/>
              </a:rPr>
              <a:t>North America Market Outlook</a:t>
            </a:r>
          </a:p>
        </p:txBody>
      </p:sp>
      <p:sp>
        <p:nvSpPr>
          <p:cNvPr id="21" name="Rounded Rectangle 20">
            <a:hlinkClick r:id="rId14" action="ppaction://hlinksldjump"/>
          </p:cNvPr>
          <p:cNvSpPr/>
          <p:nvPr/>
        </p:nvSpPr>
        <p:spPr>
          <a:xfrm>
            <a:off x="314325" y="51295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9. North America Overview</a:t>
            </a:r>
          </a:p>
        </p:txBody>
      </p:sp>
      <p:sp>
        <p:nvSpPr>
          <p:cNvPr id="22" name="Rounded Rectangle 21">
            <a:hlinkClick r:id="rId15" action="ppaction://hlinksldjump"/>
          </p:cNvPr>
          <p:cNvSpPr/>
          <p:nvPr/>
        </p:nvSpPr>
        <p:spPr>
          <a:xfrm>
            <a:off x="314325" y="548854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10. North America Market Analysis By Country</a:t>
            </a:r>
          </a:p>
        </p:txBody>
      </p:sp>
      <p:sp>
        <p:nvSpPr>
          <p:cNvPr id="23" name="Rounded Rectangle 22">
            <a:hlinkClick r:id="rId16" action="ppaction://hlinksldjump"/>
          </p:cNvPr>
          <p:cNvSpPr/>
          <p:nvPr/>
        </p:nvSpPr>
        <p:spPr>
          <a:xfrm>
            <a:off x="314325" y="584753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11. North America Market Analysis By Segments</a:t>
            </a:r>
          </a:p>
        </p:txBody>
      </p:sp>
      <p:sp>
        <p:nvSpPr>
          <p:cNvPr id="24" name="Rounded Rectangle 23">
            <a:hlinkClick r:id="rId17" action="ppaction://hlinksldjump"/>
          </p:cNvPr>
          <p:cNvSpPr/>
          <p:nvPr/>
        </p:nvSpPr>
        <p:spPr>
          <a:xfrm>
            <a:off x="31432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12. Cross-sectional Assessment</a:t>
            </a:r>
          </a:p>
        </p:txBody>
      </p:sp>
      <p:sp>
        <p:nvSpPr>
          <p:cNvPr id="25" name="Rounded Rectangle 24">
            <a:hlinkClick r:id="rId18" action="ppaction://hlinksldjump"/>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300" b="1">
                <a:solidFill>
                  <a:srgbClr val="0B2E4A"/>
                </a:solidFill>
                <a:latin typeface="Calibri"/>
              </a:rPr>
              <a:t>Country Market Outlook</a:t>
            </a:r>
          </a:p>
        </p:txBody>
      </p:sp>
      <p:sp>
        <p:nvSpPr>
          <p:cNvPr id="26" name="Rounded Rectangle 25">
            <a:hlinkClick r:id="rId19" action="ppaction://hlinksldjump"/>
          </p:cNvPr>
          <p:cNvSpPr/>
          <p:nvPr/>
        </p:nvSpPr>
        <p:spPr>
          <a:xfrm>
            <a:off x="6391275" y="1567802"/>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13. Corrugated Partition Market Overview (Volume &amp; Value)</a:t>
            </a:r>
          </a:p>
        </p:txBody>
      </p:sp>
      <p:sp>
        <p:nvSpPr>
          <p:cNvPr id="27" name="Rounded Rectangle 26">
            <a:hlinkClick r:id="rId20" action="ppaction://hlinksldjump"/>
          </p:cNvPr>
          <p:cNvSpPr/>
          <p:nvPr/>
        </p:nvSpPr>
        <p:spPr>
          <a:xfrm>
            <a:off x="6391275" y="19853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14. Segment Overview (Volume &amp; Value)</a:t>
            </a:r>
          </a:p>
        </p:txBody>
      </p:sp>
      <p:sp>
        <p:nvSpPr>
          <p:cNvPr id="28" name="Rounded Rectangle 27">
            <a:hlinkClick r:id="rId21" action="ppaction://hlinksldjump"/>
          </p:cNvPr>
          <p:cNvSpPr/>
          <p:nvPr/>
        </p:nvSpPr>
        <p:spPr>
          <a:xfrm>
            <a:off x="6391275" y="240290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15. Cross-sectional Assessment</a:t>
            </a:r>
          </a:p>
        </p:txBody>
      </p:sp>
      <p:sp>
        <p:nvSpPr>
          <p:cNvPr id="29" name="Rounded Rectangle 28">
            <a:hlinkClick r:id="rId22" action="ppaction://hlinksldjump"/>
          </p:cNvPr>
          <p:cNvSpPr/>
          <p:nvPr/>
        </p:nvSpPr>
        <p:spPr>
          <a:xfrm>
            <a:off x="6219825" y="282046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300" b="1">
                <a:solidFill>
                  <a:srgbClr val="0B2E4A"/>
                </a:solidFill>
                <a:latin typeface="Calibri"/>
              </a:rPr>
              <a:t>Pricing Assessment</a:t>
            </a:r>
          </a:p>
        </p:txBody>
      </p:sp>
      <p:sp>
        <p:nvSpPr>
          <p:cNvPr id="30" name="Rounded Rectangle 29">
            <a:hlinkClick r:id="rId23" action="ppaction://hlinksldjump"/>
          </p:cNvPr>
          <p:cNvSpPr/>
          <p:nvPr/>
        </p:nvSpPr>
        <p:spPr>
          <a:xfrm>
            <a:off x="6391275" y="3253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16. Corrugated Partition Market Pricing Analysis</a:t>
            </a:r>
          </a:p>
        </p:txBody>
      </p:sp>
      <p:sp>
        <p:nvSpPr>
          <p:cNvPr id="31" name="Rounded Rectangle 30">
            <a:hlinkClick r:id="rId24" action="ppaction://hlinksldjump"/>
          </p:cNvPr>
          <p:cNvSpPr/>
          <p:nvPr/>
        </p:nvSpPr>
        <p:spPr>
          <a:xfrm>
            <a:off x="6391275" y="367077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17. Supply Chain Analysis</a:t>
            </a:r>
          </a:p>
        </p:txBody>
      </p:sp>
      <p:sp>
        <p:nvSpPr>
          <p:cNvPr id="32" name="Rounded Rectangle 31">
            <a:hlinkClick r:id="rId25" action="ppaction://hlinksldjump"/>
          </p:cNvPr>
          <p:cNvSpPr/>
          <p:nvPr/>
        </p:nvSpPr>
        <p:spPr>
          <a:xfrm>
            <a:off x="6219825" y="4088333"/>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300" b="1">
                <a:solidFill>
                  <a:srgbClr val="0B2E4A"/>
                </a:solidFill>
                <a:latin typeface="Calibri"/>
              </a:rPr>
              <a:t>Market Dynamics</a:t>
            </a:r>
          </a:p>
        </p:txBody>
      </p:sp>
      <p:sp>
        <p:nvSpPr>
          <p:cNvPr id="33" name="Rounded Rectangle 32">
            <a:hlinkClick r:id="rId26" action="ppaction://hlinksldjump"/>
          </p:cNvPr>
          <p:cNvSpPr/>
          <p:nvPr/>
        </p:nvSpPr>
        <p:spPr>
          <a:xfrm>
            <a:off x="6391275" y="452109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18. Market Dynamics &amp; Forces</a:t>
            </a:r>
          </a:p>
        </p:txBody>
      </p:sp>
      <p:sp>
        <p:nvSpPr>
          <p:cNvPr id="34" name="Rounded Rectangle 33">
            <a:hlinkClick r:id="rId27" action="ppaction://hlinksldjump"/>
          </p:cNvPr>
          <p:cNvSpPr/>
          <p:nvPr/>
        </p:nvSpPr>
        <p:spPr>
          <a:xfrm>
            <a:off x="6219825" y="493865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300" b="1">
                <a:solidFill>
                  <a:srgbClr val="0B2E4A"/>
                </a:solidFill>
                <a:latin typeface="Calibri"/>
              </a:rPr>
              <a:t>Competition Assessment</a:t>
            </a:r>
          </a:p>
        </p:txBody>
      </p:sp>
      <p:sp>
        <p:nvSpPr>
          <p:cNvPr id="35" name="Rounded Rectangle 34">
            <a:hlinkClick r:id="rId28" action="ppaction://hlinksldjump"/>
          </p:cNvPr>
          <p:cNvSpPr/>
          <p:nvPr/>
        </p:nvSpPr>
        <p:spPr>
          <a:xfrm>
            <a:off x="6391275" y="537141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19. Competitive Landscape</a:t>
            </a:r>
          </a:p>
        </p:txBody>
      </p:sp>
      <p:sp>
        <p:nvSpPr>
          <p:cNvPr id="36" name="Rounded Rectangle 35">
            <a:hlinkClick r:id="rId29" action="ppaction://hlinksldjump"/>
          </p:cNvPr>
          <p:cNvSpPr/>
          <p:nvPr/>
        </p:nvSpPr>
        <p:spPr>
          <a:xfrm>
            <a:off x="6391275" y="578896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20. Market Share by Leading Players</a:t>
            </a:r>
          </a:p>
        </p:txBody>
      </p:sp>
      <p:sp>
        <p:nvSpPr>
          <p:cNvPr id="37" name="Rounded Rectangle 36">
            <a:hlinkClick r:id="rId30" action="ppaction://hlinksldjump"/>
          </p:cNvPr>
          <p:cNvSpPr/>
          <p:nvPr/>
        </p:nvSpPr>
        <p:spPr>
          <a:xfrm>
            <a:off x="639127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200" b="0">
                <a:solidFill>
                  <a:srgbClr val="0B2E4A"/>
                </a:solidFill>
                <a:latin typeface="Calibri"/>
              </a:rPr>
              <a:t>21. Company Profiles &amp; Strategic Benchmarking</a:t>
            </a:r>
          </a:p>
        </p:txBody>
      </p:sp>
      <p:sp>
        <p:nvSpPr>
          <p:cNvPr id="38" name="TextBox 3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489325"/>
            <a:ext cx="8572500" cy="514350"/>
          </a:xfrm>
          <a:prstGeom prst="rect">
            <a:avLst/>
          </a:prstGeom>
          <a:noFill/>
        </p:spPr>
        <p:txBody>
          <a:bodyPr wrap="square" lIns="0" tIns="0" r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Signals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Market Signals Reshaping Corrugated Partition Demand</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Signals reshaping Corrugated Partition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extLst>
                    <a:ext uri="{9D8B030D-6E8A-4147-A177-3AD203B41FA5}">
                      <a16:colId xmlns:a16="http://schemas.microsoft.com/office/drawing/2014/main" val="20000"/>
                    </a:ext>
                  </a:extLst>
                </a:gridCol>
                <a:gridCol w="5000625">
                  <a:extLst>
                    <a:ext uri="{9D8B030D-6E8A-4147-A177-3AD203B41FA5}">
                      <a16:colId xmlns:a16="http://schemas.microsoft.com/office/drawing/2014/main" val="20001"/>
                    </a:ext>
                  </a:extLst>
                </a:gridCol>
                <a:gridCol w="3333750">
                  <a:extLst>
                    <a:ext uri="{9D8B030D-6E8A-4147-A177-3AD203B41FA5}">
                      <a16:colId xmlns:a16="http://schemas.microsoft.com/office/drawing/2014/main" val="20002"/>
                    </a:ext>
                  </a:extLst>
                </a:gridCol>
              </a:tblGrid>
              <a:tr h="346820">
                <a:tc>
                  <a:txBody>
                    <a:bodyPr/>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a:lstStyle/>
                    <a:p>
                      <a:pPr algn="l"/>
                      <a:r>
                        <a:rPr sz="1100" b="1">
                          <a:solidFill>
                            <a:srgbClr val="0B2E4A"/>
                          </a:solidFill>
                          <a:latin typeface="Calibri"/>
                        </a:rPr>
                        <a:t>WHAT WE'RE OBSERVING</a:t>
                      </a:r>
                    </a:p>
                  </a:txBody>
                  <a:tcPr marL="70000" marR="70000" marT="45000" marB="45000" anchor="ctr">
                    <a:solidFill>
                      <a:srgbClr val="EAF1F8"/>
                    </a:solidFill>
                  </a:tcPr>
                </a:tc>
                <a:tc>
                  <a:txBody>
                    <a:bodyPr/>
                    <a:lstStyle/>
                    <a:p>
                      <a:pPr algn="l"/>
                      <a:r>
                        <a:rPr sz="1100" b="1">
                          <a:solidFill>
                            <a:srgbClr val="0B2E4A"/>
                          </a:solidFill>
                          <a:latin typeface="Calibri"/>
                        </a:rPr>
                        <a:t>SELECT DATA POINTS</a:t>
                      </a:r>
                    </a:p>
                  </a:txBody>
                  <a:tcPr marL="70000" marR="70000" marT="45000" marB="45000" anchor="ctr">
                    <a:solidFill>
                      <a:srgbClr val="EAF1F8"/>
                    </a:solidFill>
                  </a:tcPr>
                </a:tc>
                <a:extLst>
                  <a:ext uri="{0D108BD9-81ED-4DB2-BD59-A6C34878D82A}">
                    <a16:rowId xmlns:a16="http://schemas.microsoft.com/office/drawing/2014/main" val="10000"/>
                  </a:ext>
                </a:extLst>
              </a:tr>
              <a:tr h="1040461">
                <a:tc>
                  <a:txBody>
                    <a:bodyPr/>
                    <a:lstStyle/>
                    <a:p>
                      <a:pPr algn="l"/>
                      <a:r>
                        <a:rPr sz="1100" b="1">
                          <a:solidFill>
                            <a:srgbClr val="0B2E4A"/>
                          </a:solidFill>
                          <a:latin typeface="Calibri"/>
                        </a:rPr>
                        <a:t>How fast is Corrugated Partition demand set to grow through 2036?</a:t>
                      </a:r>
                    </a:p>
                  </a:txBody>
                  <a:tcPr marL="70000" marR="70000" marT="45000" marB="45000" anchor="ctr">
                    <a:solidFill>
                      <a:srgbClr val="FFFFFF"/>
                    </a:solidFill>
                  </a:tcPr>
                </a:tc>
                <a:tc>
                  <a:txBody>
                    <a:bodyPr/>
                    <a:lstStyle/>
                    <a:p>
                      <a:pPr algn="l"/>
                      <a:endParaRPr/>
                    </a:p>
                  </a:txBody>
                  <a:tcPr marL="70000" marR="70000" marT="45000" marB="45000" anchor="ctr">
                    <a:solidFill>
                      <a:srgbClr val="FFFFFF"/>
                    </a:solidFill>
                  </a:tcPr>
                </a:tc>
                <a:tc>
                  <a:txBody>
                    <a:bodyPr/>
                    <a:lstStyle/>
                    <a:p>
                      <a:pPr algn="l"/>
                      <a:r>
                        <a:rPr sz="1100"/>
                        <a:t> </a:t>
                      </a:r>
                    </a:p>
                  </a:txBody>
                  <a:tcPr marL="70000" marR="70000" marT="45000" marB="45000" anchor="ctr">
                    <a:solidFill>
                      <a:srgbClr val="FFFFFF"/>
                    </a:solidFill>
                  </a:tcPr>
                </a:tc>
                <a:extLst>
                  <a:ext uri="{0D108BD9-81ED-4DB2-BD59-A6C34878D82A}">
                    <a16:rowId xmlns:a16="http://schemas.microsoft.com/office/drawing/2014/main" val="10001"/>
                  </a:ext>
                </a:extLst>
              </a:tr>
              <a:tr h="1040461">
                <a:tc>
                  <a:txBody>
                    <a:bodyPr/>
                    <a:lstStyle/>
                    <a:p>
                      <a:pPr algn="l"/>
                      <a:r>
                        <a:rPr sz="1100" b="1">
                          <a:solidFill>
                            <a:srgbClr val="0B2E4A"/>
                          </a:solidFill>
                          <a:latin typeface="Calibri"/>
                        </a:rPr>
                        <a:t>Which partition type categories are buyers prioritising?</a:t>
                      </a:r>
                    </a:p>
                  </a:txBody>
                  <a:tcPr marL="70000" marR="70000" marT="45000" marB="45000" anchor="ctr">
                    <a:solidFill>
                      <a:srgbClr val="F6F9FC"/>
                    </a:solidFill>
                  </a:tcPr>
                </a:tc>
                <a:tc>
                  <a:txBody>
                    <a:bodyPr/>
                    <a:lstStyle/>
                    <a:p>
                      <a:pPr algn="l"/>
                      <a:endParaRPr/>
                    </a:p>
                  </a:txBody>
                  <a:tcPr marL="70000" marR="70000" marT="45000" marB="45000" anchor="ctr">
                    <a:solidFill>
                      <a:srgbClr val="F6F9FC"/>
                    </a:solidFill>
                  </a:tcPr>
                </a:tc>
                <a:tc>
                  <a:txBody>
                    <a:bodyPr/>
                    <a:lstStyle/>
                    <a:p>
                      <a:pPr algn="l"/>
                      <a:endParaRPr/>
                    </a:p>
                  </a:txBody>
                  <a:tcPr marL="70000" marR="70000" marT="45000" marB="45000" anchor="ctr">
                    <a:solidFill>
                      <a:srgbClr val="F6F9FC"/>
                    </a:solidFill>
                  </a:tcPr>
                </a:tc>
                <a:extLst>
                  <a:ext uri="{0D108BD9-81ED-4DB2-BD59-A6C34878D82A}">
                    <a16:rowId xmlns:a16="http://schemas.microsoft.com/office/drawing/2014/main" val="10002"/>
                  </a:ext>
                </a:extLst>
              </a:tr>
              <a:tr h="1040461">
                <a:tc>
                  <a:txBody>
                    <a:bodyPr/>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a:lstStyle/>
                    <a:p>
                      <a:pPr algn="l"/>
                      <a:endParaRPr/>
                    </a:p>
                  </a:txBody>
                  <a:tcPr marL="70000" marR="70000" marT="45000" marB="45000" anchor="ctr">
                    <a:solidFill>
                      <a:srgbClr val="FFFFFF"/>
                    </a:solidFill>
                  </a:tcPr>
                </a:tc>
                <a:tc>
                  <a:txBody>
                    <a:bodyPr/>
                    <a:lstStyle/>
                    <a:p>
                      <a:pPr algn="l"/>
                      <a:endParaRPr/>
                    </a:p>
                  </a:txBody>
                  <a:tcPr marL="70000" marR="70000" marT="45000" marB="45000" anchor="ctr">
                    <a:solidFill>
                      <a:srgbClr val="FFFFFF"/>
                    </a:solidFill>
                  </a:tcPr>
                </a:tc>
                <a:extLst>
                  <a:ext uri="{0D108BD9-81ED-4DB2-BD59-A6C34878D82A}">
                    <a16:rowId xmlns:a16="http://schemas.microsoft.com/office/drawing/2014/main" val="10003"/>
                  </a:ext>
                </a:extLst>
              </a:tr>
              <a:tr h="1040461">
                <a:tc>
                  <a:txBody>
                    <a:bodyPr/>
                    <a:lstStyle/>
                    <a:p>
                      <a:pPr algn="l"/>
                      <a:r>
                        <a:rPr sz="1100" b="1">
                          <a:solidFill>
                            <a:srgbClr val="0B2E4A"/>
                          </a:solidFill>
                          <a:latin typeface="Calibri"/>
                        </a:rPr>
                        <a:t>Which regions will drive the next wave of Corrugated Partition demand?</a:t>
                      </a:r>
                    </a:p>
                  </a:txBody>
                  <a:tcPr marL="70000" marR="70000" marT="45000" marB="45000" anchor="ctr">
                    <a:solidFill>
                      <a:srgbClr val="F6F9FC"/>
                    </a:solidFill>
                  </a:tcPr>
                </a:tc>
                <a:tc>
                  <a:txBody>
                    <a:bodyPr/>
                    <a:lstStyle/>
                    <a:p>
                      <a:pPr algn="l"/>
                      <a:endParaRPr/>
                    </a:p>
                  </a:txBody>
                  <a:tcPr marL="70000" marR="70000" marT="45000" marB="45000" anchor="ctr">
                    <a:solidFill>
                      <a:srgbClr val="F6F9FC"/>
                    </a:solidFill>
                  </a:tcPr>
                </a:tc>
                <a:tc>
                  <a:txBody>
                    <a:bodyPr/>
                    <a:lstStyle/>
                    <a:p>
                      <a:pPr algn="l"/>
                      <a:endParaRPr/>
                    </a:p>
                  </a:txBody>
                  <a:tcPr marL="70000" marR="70000" marT="45000" marB="45000" anchor="ctr">
                    <a:solidFill>
                      <a:srgbClr val="F6F9FC"/>
                    </a:solidFill>
                  </a:tcPr>
                </a:tc>
                <a:extLst>
                  <a:ext uri="{0D108BD9-81ED-4DB2-BD59-A6C34878D82A}">
                    <a16:rowId xmlns:a16="http://schemas.microsoft.com/office/drawing/2014/main" val="10004"/>
                  </a:ext>
                </a:extLst>
              </a:tr>
              <a:tr h="1040461">
                <a:tc>
                  <a:txBody>
                    <a:bodyPr/>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a:lstStyle/>
                    <a:p>
                      <a:pPr algn="l"/>
                      <a:endParaRPr/>
                    </a:p>
                  </a:txBody>
                  <a:tcPr marL="70000" marR="70000" marT="45000" marB="45000" anchor="ctr">
                    <a:solidFill>
                      <a:srgbClr val="FFFFFF"/>
                    </a:solidFill>
                  </a:tcPr>
                </a:tc>
                <a:tc>
                  <a:txBody>
                    <a:bodyPr/>
                    <a:lstStyle/>
                    <a:p>
                      <a:pPr algn="l"/>
                      <a:endParaRPr/>
                    </a:p>
                  </a:txBody>
                  <a:tcPr marL="70000" marR="70000" marT="45000" marB="45000" anchor="ctr">
                    <a:solidFill>
                      <a:srgbClr val="FFFFFF"/>
                    </a:solidFill>
                  </a:tcPr>
                </a:tc>
                <a:extLst>
                  <a:ext uri="{0D108BD9-81ED-4DB2-BD59-A6C34878D82A}">
                    <a16:rowId xmlns:a16="http://schemas.microsoft.com/office/drawing/2014/main" val="10005"/>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1689844" cy="186689"/>
          </a:xfrm>
          <a:prstGeom prst="rect">
            <a:avLst/>
          </a:prstGeom>
          <a:noFill/>
        </p:spPr>
        <p:txBody>
          <a:bodyPr wrap="none" lIns="0" tIns="0" rIns="0" bIns="0">
            <a:spAutoFit/>
          </a:bodyPr>
          <a:lstStyle/>
          <a:p>
            <a:r>
              <a:rPr sz="1100" b="0">
                <a:solidFill>
                  <a:srgbClr val="2E2E2E"/>
                </a:solidFill>
                <a:latin typeface="Calibri"/>
              </a:rPr>
              <a:t>Global demand expands at a</a:t>
            </a:r>
          </a:p>
        </p:txBody>
      </p:sp>
      <p:pic>
        <p:nvPicPr>
          <p:cNvPr id="13" name="Picture 12" descr="lock.png"/>
          <p:cNvPicPr>
            <a:picLocks noChangeAspect="1"/>
          </p:cNvPicPr>
          <p:nvPr/>
        </p:nvPicPr>
        <p:blipFill>
          <a:blip r:embed="rId4"/>
          <a:stretch>
            <a:fillRect/>
          </a:stretch>
        </p:blipFill>
        <p:spPr>
          <a:xfrm>
            <a:off x="5422645" y="1751653"/>
            <a:ext cx="128699" cy="187198"/>
          </a:xfrm>
          <a:prstGeom prst="rect">
            <a:avLst/>
          </a:prstGeom>
        </p:spPr>
      </p:pic>
      <p:sp>
        <p:nvSpPr>
          <p:cNvPr id="14" name="TextBox 13"/>
          <p:cNvSpPr txBox="1"/>
          <p:nvPr/>
        </p:nvSpPr>
        <p:spPr>
          <a:xfrm>
            <a:off x="5590141" y="1761432"/>
            <a:ext cx="2708109" cy="186689"/>
          </a:xfrm>
          <a:prstGeom prst="rect">
            <a:avLst/>
          </a:prstGeom>
          <a:noFill/>
        </p:spPr>
        <p:txBody>
          <a:bodyPr wrap="none" lIns="0" tIns="0" rIns="0" bIns="0">
            <a:spAutoFit/>
          </a:bodyPr>
          <a:lstStyle/>
          <a:p>
            <a:r>
              <a:rPr sz="1100" b="0">
                <a:solidFill>
                  <a:srgbClr val="2E2E2E"/>
                </a:solidFill>
                <a:latin typeface="Calibri"/>
              </a:rPr>
              <a:t>forecast CAGR (2026–2036), accelerating from</a:t>
            </a:r>
          </a:p>
        </p:txBody>
      </p:sp>
      <p:pic>
        <p:nvPicPr>
          <p:cNvPr id="15" name="Picture 14" descr="lock.png"/>
          <p:cNvPicPr>
            <a:picLocks noChangeAspect="1"/>
          </p:cNvPicPr>
          <p:nvPr/>
        </p:nvPicPr>
        <p:blipFill>
          <a:blip r:embed="rId4"/>
          <a:stretch>
            <a:fillRect/>
          </a:stretch>
        </p:blipFill>
        <p:spPr>
          <a:xfrm>
            <a:off x="8246302" y="1751653"/>
            <a:ext cx="128699" cy="187198"/>
          </a:xfrm>
          <a:prstGeom prst="rect">
            <a:avLst/>
          </a:prstGeom>
        </p:spPr>
      </p:pic>
      <p:sp>
        <p:nvSpPr>
          <p:cNvPr id="16" name="TextBox 15"/>
          <p:cNvSpPr txBox="1"/>
          <p:nvPr/>
        </p:nvSpPr>
        <p:spPr>
          <a:xfrm>
            <a:off x="3784750" y="1929072"/>
            <a:ext cx="1137865" cy="186689"/>
          </a:xfrm>
          <a:prstGeom prst="rect">
            <a:avLst/>
          </a:prstGeom>
          <a:noFill/>
        </p:spPr>
        <p:txBody>
          <a:bodyPr wrap="none" lIns="0" tIns="0" rIns="0" bIns="0">
            <a:spAutoFit/>
          </a:bodyPr>
          <a:lstStyle/>
          <a:p>
            <a:r>
              <a:rPr sz="1100" b="0">
                <a:solidFill>
                  <a:srgbClr val="2E2E2E"/>
                </a:solidFill>
                <a:latin typeface="Calibri"/>
              </a:rPr>
              <a:t>across 2021–2025.</a:t>
            </a:r>
          </a:p>
        </p:txBody>
      </p:sp>
      <p:pic>
        <p:nvPicPr>
          <p:cNvPr id="17" name="Picture 16" descr="lock.png"/>
          <p:cNvPicPr>
            <a:picLocks noChangeAspect="1"/>
          </p:cNvPicPr>
          <p:nvPr/>
        </p:nvPicPr>
        <p:blipFill>
          <a:blip r:embed="rId4"/>
          <a:stretch>
            <a:fillRect/>
          </a:stretch>
        </p:blipFill>
        <p:spPr>
          <a:xfrm>
            <a:off x="10214228" y="1689042"/>
            <a:ext cx="330041" cy="480060"/>
          </a:xfrm>
          <a:prstGeom prst="rect">
            <a:avLst/>
          </a:prstGeom>
        </p:spPr>
      </p:pic>
      <p:sp>
        <p:nvSpPr>
          <p:cNvPr id="18" name="TextBox 17"/>
          <p:cNvSpPr txBox="1"/>
          <p:nvPr/>
        </p:nvSpPr>
        <p:spPr>
          <a:xfrm>
            <a:off x="3784750" y="2801893"/>
            <a:ext cx="2881932" cy="186689"/>
          </a:xfrm>
          <a:prstGeom prst="rect">
            <a:avLst/>
          </a:prstGeom>
          <a:noFill/>
        </p:spPr>
        <p:txBody>
          <a:bodyPr wrap="none" lIns="0" tIns="0" rIns="0" bIns="0">
            <a:spAutoFit/>
          </a:bodyPr>
          <a:lstStyle/>
          <a:p>
            <a:r>
              <a:rPr sz="1100" b="0">
                <a:solidFill>
                  <a:srgbClr val="2E2E2E"/>
                </a:solidFill>
                <a:latin typeface="Calibri"/>
              </a:rPr>
              <a:t>Flat Dividers &amp; Layer Pads leads Partition Type, at</a:t>
            </a:r>
          </a:p>
        </p:txBody>
      </p:sp>
      <p:pic>
        <p:nvPicPr>
          <p:cNvPr id="19" name="Picture 18" descr="lock.png"/>
          <p:cNvPicPr>
            <a:picLocks noChangeAspect="1"/>
          </p:cNvPicPr>
          <p:nvPr/>
        </p:nvPicPr>
        <p:blipFill>
          <a:blip r:embed="rId4"/>
          <a:stretch>
            <a:fillRect/>
          </a:stretch>
        </p:blipFill>
        <p:spPr>
          <a:xfrm>
            <a:off x="6614734" y="2792114"/>
            <a:ext cx="128699" cy="187198"/>
          </a:xfrm>
          <a:prstGeom prst="rect">
            <a:avLst/>
          </a:prstGeom>
        </p:spPr>
      </p:pic>
      <p:sp>
        <p:nvSpPr>
          <p:cNvPr id="20" name="TextBox 19"/>
          <p:cNvSpPr txBox="1"/>
          <p:nvPr/>
        </p:nvSpPr>
        <p:spPr>
          <a:xfrm>
            <a:off x="6782230" y="2801893"/>
            <a:ext cx="1751508" cy="186689"/>
          </a:xfrm>
          <a:prstGeom prst="rect">
            <a:avLst/>
          </a:prstGeom>
          <a:noFill/>
        </p:spPr>
        <p:txBody>
          <a:bodyPr wrap="none" lIns="0" tIns="0" rIns="0" bIns="0">
            <a:spAutoFit/>
          </a:bodyPr>
          <a:lstStyle/>
          <a:p>
            <a:r>
              <a:rPr sz="1100" b="0">
                <a:solidFill>
                  <a:srgbClr val="2E2E2E"/>
                </a:solidFill>
                <a:latin typeface="Calibri"/>
              </a:rPr>
              <a:t>of 2036 value, within a mix of</a:t>
            </a:r>
          </a:p>
        </p:txBody>
      </p:sp>
      <p:sp>
        <p:nvSpPr>
          <p:cNvPr id="21" name="TextBox 20"/>
          <p:cNvSpPr txBox="1"/>
          <p:nvPr/>
        </p:nvSpPr>
        <p:spPr>
          <a:xfrm>
            <a:off x="3784750" y="2969533"/>
            <a:ext cx="1261194" cy="186689"/>
          </a:xfrm>
          <a:prstGeom prst="rect">
            <a:avLst/>
          </a:prstGeom>
          <a:noFill/>
        </p:spPr>
        <p:txBody>
          <a:bodyPr wrap="none" lIns="0" tIns="0" rIns="0" bIns="0">
            <a:spAutoFit/>
          </a:bodyPr>
          <a:lstStyle/>
          <a:p>
            <a:r>
              <a:rPr sz="1100" b="0">
                <a:solidFill>
                  <a:srgbClr val="2E2E2E"/>
                </a:solidFill>
                <a:latin typeface="Calibri"/>
              </a:rPr>
              <a:t>3 tracked categories.</a:t>
            </a:r>
          </a:p>
        </p:txBody>
      </p:sp>
      <p:sp>
        <p:nvSpPr>
          <p:cNvPr id="22" name="TextBox 21"/>
          <p:cNvSpPr txBox="1"/>
          <p:nvPr/>
        </p:nvSpPr>
        <p:spPr>
          <a:xfrm>
            <a:off x="8785375" y="2885713"/>
            <a:ext cx="1946597" cy="186689"/>
          </a:xfrm>
          <a:prstGeom prst="rect">
            <a:avLst/>
          </a:prstGeom>
          <a:noFill/>
        </p:spPr>
        <p:txBody>
          <a:bodyPr wrap="none" lIns="0" tIns="0" rIns="0" bIns="0">
            <a:spAutoFit/>
          </a:bodyPr>
          <a:lstStyle/>
          <a:p>
            <a:r>
              <a:rPr sz="1100" b="0">
                <a:solidFill>
                  <a:srgbClr val="2E2E2E"/>
                </a:solidFill>
                <a:latin typeface="Calibri"/>
              </a:rPr>
              <a:t>Lead: Flat Dividers &amp; Layer Pads ·</a:t>
            </a:r>
          </a:p>
        </p:txBody>
      </p:sp>
      <p:pic>
        <p:nvPicPr>
          <p:cNvPr id="23" name="Picture 22" descr="lock.png"/>
          <p:cNvPicPr>
            <a:picLocks noChangeAspect="1"/>
          </p:cNvPicPr>
          <p:nvPr/>
        </p:nvPicPr>
        <p:blipFill>
          <a:blip r:embed="rId4"/>
          <a:stretch>
            <a:fillRect/>
          </a:stretch>
        </p:blipFill>
        <p:spPr>
          <a:xfrm>
            <a:off x="10680024" y="2875934"/>
            <a:ext cx="128699" cy="187198"/>
          </a:xfrm>
          <a:prstGeom prst="rect">
            <a:avLst/>
          </a:prstGeom>
        </p:spPr>
      </p:pic>
      <p:sp>
        <p:nvSpPr>
          <p:cNvPr id="24" name="TextBox 23"/>
          <p:cNvSpPr txBox="1"/>
          <p:nvPr/>
        </p:nvSpPr>
        <p:spPr>
          <a:xfrm>
            <a:off x="10847519" y="2885713"/>
            <a:ext cx="789433" cy="186689"/>
          </a:xfrm>
          <a:prstGeom prst="rect">
            <a:avLst/>
          </a:prstGeom>
          <a:noFill/>
        </p:spPr>
        <p:txBody>
          <a:bodyPr wrap="none" lIns="0" tIns="0" rIns="0" bIns="0">
            <a:spAutoFit/>
          </a:bodyPr>
          <a:lstStyle/>
          <a:p>
            <a:r>
              <a:rPr sz="1100" b="0">
                <a:solidFill>
                  <a:srgbClr val="2E2E2E"/>
                </a:solidFill>
                <a:latin typeface="Calibri"/>
              </a:rPr>
              <a:t>share (2036)</a:t>
            </a:r>
          </a:p>
        </p:txBody>
      </p:sp>
      <p:sp>
        <p:nvSpPr>
          <p:cNvPr id="25" name="TextBox 24"/>
          <p:cNvSpPr txBox="1"/>
          <p:nvPr/>
        </p:nvSpPr>
        <p:spPr>
          <a:xfrm>
            <a:off x="3784750" y="3842354"/>
            <a:ext cx="3810719" cy="186689"/>
          </a:xfrm>
          <a:prstGeom prst="rect">
            <a:avLst/>
          </a:prstGeom>
          <a:noFill/>
        </p:spPr>
        <p:txBody>
          <a:bodyPr wrap="none" lIns="0" tIns="0" rIns="0" bIns="0">
            <a:spAutoFit/>
          </a:bodyPr>
          <a:lstStyle/>
          <a:p>
            <a:r>
              <a:rPr sz="1100" b="0">
                <a:solidFill>
                  <a:srgbClr val="2E2E2E"/>
                </a:solidFill>
                <a:latin typeface="Calibri"/>
              </a:rPr>
              <a:t>Electronics &amp; Electrical is the fastest-growing part of End Use, at a</a:t>
            </a:r>
          </a:p>
        </p:txBody>
      </p:sp>
      <p:pic>
        <p:nvPicPr>
          <p:cNvPr id="26" name="Picture 25" descr="lock.png"/>
          <p:cNvPicPr>
            <a:picLocks noChangeAspect="1"/>
          </p:cNvPicPr>
          <p:nvPr/>
        </p:nvPicPr>
        <p:blipFill>
          <a:blip r:embed="rId4"/>
          <a:stretch>
            <a:fillRect/>
          </a:stretch>
        </p:blipFill>
        <p:spPr>
          <a:xfrm>
            <a:off x="7543520" y="3832575"/>
            <a:ext cx="128699" cy="187198"/>
          </a:xfrm>
          <a:prstGeom prst="rect">
            <a:avLst/>
          </a:prstGeom>
        </p:spPr>
      </p:pic>
      <p:sp>
        <p:nvSpPr>
          <p:cNvPr id="27" name="TextBox 26"/>
          <p:cNvSpPr txBox="1"/>
          <p:nvPr/>
        </p:nvSpPr>
        <p:spPr>
          <a:xfrm>
            <a:off x="7711016" y="3842354"/>
            <a:ext cx="889280" cy="186689"/>
          </a:xfrm>
          <a:prstGeom prst="rect">
            <a:avLst/>
          </a:prstGeom>
          <a:noFill/>
        </p:spPr>
        <p:txBody>
          <a:bodyPr wrap="none" lIns="0" tIns="0" rIns="0" bIns="0">
            <a:spAutoFit/>
          </a:bodyPr>
          <a:lstStyle/>
          <a:p>
            <a:r>
              <a:rPr sz="1100" b="0">
                <a:solidFill>
                  <a:srgbClr val="2E2E2E"/>
                </a:solidFill>
                <a:latin typeface="Calibri"/>
              </a:rPr>
              <a:t>forecast CAGR</a:t>
            </a:r>
          </a:p>
        </p:txBody>
      </p:sp>
      <p:sp>
        <p:nvSpPr>
          <p:cNvPr id="28" name="TextBox 27"/>
          <p:cNvSpPr txBox="1"/>
          <p:nvPr/>
        </p:nvSpPr>
        <p:spPr>
          <a:xfrm>
            <a:off x="3784750" y="4009994"/>
            <a:ext cx="1692299" cy="186689"/>
          </a:xfrm>
          <a:prstGeom prst="rect">
            <a:avLst/>
          </a:prstGeom>
          <a:noFill/>
        </p:spPr>
        <p:txBody>
          <a:bodyPr wrap="none" lIns="0" tIns="0" rIns="0" bIns="0">
            <a:spAutoFit/>
          </a:bodyPr>
          <a:lstStyle/>
          <a:p>
            <a:r>
              <a:rPr sz="1100" b="0">
                <a:solidFill>
                  <a:srgbClr val="2E2E2E"/>
                </a:solidFill>
                <a:latin typeface="Calibri"/>
              </a:rPr>
              <a:t>outpacing the wider market.</a:t>
            </a:r>
          </a:p>
        </p:txBody>
      </p:sp>
      <p:sp>
        <p:nvSpPr>
          <p:cNvPr id="29" name="TextBox 28"/>
          <p:cNvSpPr txBox="1"/>
          <p:nvPr/>
        </p:nvSpPr>
        <p:spPr>
          <a:xfrm>
            <a:off x="8785375" y="3926174"/>
            <a:ext cx="1907520" cy="186689"/>
          </a:xfrm>
          <a:prstGeom prst="rect">
            <a:avLst/>
          </a:prstGeom>
          <a:noFill/>
        </p:spPr>
        <p:txBody>
          <a:bodyPr wrap="none" lIns="0" tIns="0" rIns="0" bIns="0">
            <a:spAutoFit/>
          </a:bodyPr>
          <a:lstStyle/>
          <a:p>
            <a:r>
              <a:rPr sz="1100" b="0">
                <a:solidFill>
                  <a:srgbClr val="2E2E2E"/>
                </a:solidFill>
                <a:latin typeface="Calibri"/>
              </a:rPr>
              <a:t>Fastest: Electronics &amp; Electrical ·</a:t>
            </a:r>
          </a:p>
        </p:txBody>
      </p:sp>
      <p:pic>
        <p:nvPicPr>
          <p:cNvPr id="30" name="Picture 29" descr="lock.png"/>
          <p:cNvPicPr>
            <a:picLocks noChangeAspect="1"/>
          </p:cNvPicPr>
          <p:nvPr/>
        </p:nvPicPr>
        <p:blipFill>
          <a:blip r:embed="rId4"/>
          <a:stretch>
            <a:fillRect/>
          </a:stretch>
        </p:blipFill>
        <p:spPr>
          <a:xfrm>
            <a:off x="10640946" y="3916395"/>
            <a:ext cx="128699" cy="187198"/>
          </a:xfrm>
          <a:prstGeom prst="rect">
            <a:avLst/>
          </a:prstGeom>
        </p:spPr>
      </p:pic>
      <p:sp>
        <p:nvSpPr>
          <p:cNvPr id="31" name="TextBox 30"/>
          <p:cNvSpPr txBox="1"/>
          <p:nvPr/>
        </p:nvSpPr>
        <p:spPr>
          <a:xfrm>
            <a:off x="10808442" y="3926174"/>
            <a:ext cx="502377" cy="186689"/>
          </a:xfrm>
          <a:prstGeom prst="rect">
            <a:avLst/>
          </a:prstGeom>
          <a:noFill/>
        </p:spPr>
        <p:txBody>
          <a:bodyPr wrap="none" lIns="0" tIns="0" rIns="0" bIns="0">
            <a:spAutoFit/>
          </a:bodyPr>
          <a:lstStyle/>
          <a:p>
            <a:r>
              <a:rPr sz="1100" b="0">
                <a:solidFill>
                  <a:srgbClr val="2E2E2E"/>
                </a:solidFill>
                <a:latin typeface="Calibri"/>
              </a:rPr>
              <a:t>F-CAGR</a:t>
            </a:r>
          </a:p>
        </p:txBody>
      </p:sp>
      <p:sp>
        <p:nvSpPr>
          <p:cNvPr id="32" name="TextBox 31"/>
          <p:cNvSpPr txBox="1"/>
          <p:nvPr/>
        </p:nvSpPr>
        <p:spPr>
          <a:xfrm>
            <a:off x="3784750" y="4882815"/>
            <a:ext cx="2673474" cy="186689"/>
          </a:xfrm>
          <a:prstGeom prst="rect">
            <a:avLst/>
          </a:prstGeom>
          <a:noFill/>
        </p:spPr>
        <p:txBody>
          <a:bodyPr wrap="none" lIns="0" tIns="0" rIns="0" bIns="0">
            <a:spAutoFit/>
          </a:bodyPr>
          <a:lstStyle/>
          <a:p>
            <a:r>
              <a:rPr sz="1100" b="0">
                <a:solidFill>
                  <a:srgbClr val="2E2E2E"/>
                </a:solidFill>
                <a:latin typeface="Calibri"/>
              </a:rPr>
              <a:t>North America is the largest regional market (</a:t>
            </a:r>
          </a:p>
        </p:txBody>
      </p:sp>
      <p:pic>
        <p:nvPicPr>
          <p:cNvPr id="33" name="Picture 32" descr="lock.png"/>
          <p:cNvPicPr>
            <a:picLocks noChangeAspect="1"/>
          </p:cNvPicPr>
          <p:nvPr/>
        </p:nvPicPr>
        <p:blipFill>
          <a:blip r:embed="rId4"/>
          <a:stretch>
            <a:fillRect/>
          </a:stretch>
        </p:blipFill>
        <p:spPr>
          <a:xfrm>
            <a:off x="6406275" y="4873036"/>
            <a:ext cx="128699" cy="187198"/>
          </a:xfrm>
          <a:prstGeom prst="rect">
            <a:avLst/>
          </a:prstGeom>
        </p:spPr>
      </p:pic>
      <p:sp>
        <p:nvSpPr>
          <p:cNvPr id="34" name="TextBox 33"/>
          <p:cNvSpPr txBox="1"/>
          <p:nvPr/>
        </p:nvSpPr>
        <p:spPr>
          <a:xfrm>
            <a:off x="6573771" y="4882815"/>
            <a:ext cx="2016720" cy="186689"/>
          </a:xfrm>
          <a:prstGeom prst="rect">
            <a:avLst/>
          </a:prstGeom>
          <a:noFill/>
        </p:spPr>
        <p:txBody>
          <a:bodyPr wrap="none" lIns="0" tIns="0" rIns="0" bIns="0">
            <a:spAutoFit/>
          </a:bodyPr>
          <a:lstStyle/>
          <a:p>
            <a:r>
              <a:rPr sz="1100" b="0">
                <a:solidFill>
                  <a:srgbClr val="2E2E2E"/>
                </a:solidFill>
                <a:latin typeface="Calibri"/>
              </a:rPr>
              <a:t>of 2036 value), while South Asia &amp;</a:t>
            </a:r>
          </a:p>
        </p:txBody>
      </p:sp>
      <p:sp>
        <p:nvSpPr>
          <p:cNvPr id="35" name="TextBox 34"/>
          <p:cNvSpPr txBox="1"/>
          <p:nvPr/>
        </p:nvSpPr>
        <p:spPr>
          <a:xfrm>
            <a:off x="3784750" y="5050455"/>
            <a:ext cx="1374154" cy="186689"/>
          </a:xfrm>
          <a:prstGeom prst="rect">
            <a:avLst/>
          </a:prstGeom>
          <a:noFill/>
        </p:spPr>
        <p:txBody>
          <a:bodyPr wrap="none" lIns="0" tIns="0" rIns="0" bIns="0">
            <a:spAutoFit/>
          </a:bodyPr>
          <a:lstStyle/>
          <a:p>
            <a:r>
              <a:rPr sz="1100" b="0">
                <a:solidFill>
                  <a:srgbClr val="2E2E2E"/>
                </a:solidFill>
                <a:latin typeface="Calibri"/>
              </a:rPr>
              <a:t>Pacific grows fastest at</a:t>
            </a:r>
          </a:p>
        </p:txBody>
      </p:sp>
      <p:pic>
        <p:nvPicPr>
          <p:cNvPr id="36" name="Picture 35" descr="lock.png"/>
          <p:cNvPicPr>
            <a:picLocks noChangeAspect="1"/>
          </p:cNvPicPr>
          <p:nvPr/>
        </p:nvPicPr>
        <p:blipFill>
          <a:blip r:embed="rId4"/>
          <a:stretch>
            <a:fillRect/>
          </a:stretch>
        </p:blipFill>
        <p:spPr>
          <a:xfrm>
            <a:off x="5106956" y="5040676"/>
            <a:ext cx="128699" cy="187198"/>
          </a:xfrm>
          <a:prstGeom prst="rect">
            <a:avLst/>
          </a:prstGeom>
        </p:spPr>
      </p:pic>
      <p:sp>
        <p:nvSpPr>
          <p:cNvPr id="37" name="TextBox 36"/>
          <p:cNvSpPr txBox="1"/>
          <p:nvPr/>
        </p:nvSpPr>
        <p:spPr>
          <a:xfrm>
            <a:off x="5274452" y="5050455"/>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38" name="TextBox 37"/>
          <p:cNvSpPr txBox="1"/>
          <p:nvPr/>
        </p:nvSpPr>
        <p:spPr>
          <a:xfrm>
            <a:off x="8785375" y="4882815"/>
            <a:ext cx="1464195" cy="186689"/>
          </a:xfrm>
          <a:prstGeom prst="rect">
            <a:avLst/>
          </a:prstGeom>
          <a:noFill/>
        </p:spPr>
        <p:txBody>
          <a:bodyPr wrap="none" lIns="0" tIns="0" rIns="0" bIns="0">
            <a:spAutoFit/>
          </a:bodyPr>
          <a:lstStyle/>
          <a:p>
            <a:r>
              <a:rPr sz="1100" b="0">
                <a:solidFill>
                  <a:srgbClr val="2E2E2E"/>
                </a:solidFill>
                <a:latin typeface="Calibri"/>
              </a:rPr>
              <a:t>Largest: North America (</a:t>
            </a:r>
          </a:p>
        </p:txBody>
      </p:sp>
      <p:pic>
        <p:nvPicPr>
          <p:cNvPr id="39" name="Picture 38" descr="lock.png"/>
          <p:cNvPicPr>
            <a:picLocks noChangeAspect="1"/>
          </p:cNvPicPr>
          <p:nvPr/>
        </p:nvPicPr>
        <p:blipFill>
          <a:blip r:embed="rId4"/>
          <a:stretch>
            <a:fillRect/>
          </a:stretch>
        </p:blipFill>
        <p:spPr>
          <a:xfrm>
            <a:off x="10197622" y="4873036"/>
            <a:ext cx="128699" cy="187198"/>
          </a:xfrm>
          <a:prstGeom prst="rect">
            <a:avLst/>
          </a:prstGeom>
        </p:spPr>
      </p:pic>
      <p:sp>
        <p:nvSpPr>
          <p:cNvPr id="40" name="TextBox 39"/>
          <p:cNvSpPr txBox="1"/>
          <p:nvPr/>
        </p:nvSpPr>
        <p:spPr>
          <a:xfrm>
            <a:off x="10365118" y="4882815"/>
            <a:ext cx="1413931" cy="186689"/>
          </a:xfrm>
          <a:prstGeom prst="rect">
            <a:avLst/>
          </a:prstGeom>
          <a:noFill/>
        </p:spPr>
        <p:txBody>
          <a:bodyPr wrap="none" lIns="0" tIns="0" rIns="0" bIns="0">
            <a:spAutoFit/>
          </a:bodyPr>
          <a:lstStyle/>
          <a:p>
            <a:r>
              <a:rPr sz="1100" b="0">
                <a:solidFill>
                  <a:srgbClr val="2E2E2E"/>
                </a:solidFill>
                <a:latin typeface="Calibri"/>
              </a:rPr>
              <a:t>) · Fastest: South Asia &amp;</a:t>
            </a:r>
          </a:p>
        </p:txBody>
      </p:sp>
      <p:sp>
        <p:nvSpPr>
          <p:cNvPr id="41" name="TextBox 40"/>
          <p:cNvSpPr txBox="1"/>
          <p:nvPr/>
        </p:nvSpPr>
        <p:spPr>
          <a:xfrm>
            <a:off x="8785375" y="5050455"/>
            <a:ext cx="514672" cy="186689"/>
          </a:xfrm>
          <a:prstGeom prst="rect">
            <a:avLst/>
          </a:prstGeom>
          <a:noFill/>
        </p:spPr>
        <p:txBody>
          <a:bodyPr wrap="none" lIns="0" tIns="0" rIns="0" bIns="0">
            <a:spAutoFit/>
          </a:bodyPr>
          <a:lstStyle/>
          <a:p>
            <a:r>
              <a:rPr sz="1100" b="0">
                <a:solidFill>
                  <a:srgbClr val="2E2E2E"/>
                </a:solidFill>
                <a:latin typeface="Calibri"/>
              </a:rPr>
              <a:t>Pacific (</a:t>
            </a:r>
          </a:p>
        </p:txBody>
      </p:sp>
      <p:pic>
        <p:nvPicPr>
          <p:cNvPr id="42" name="Picture 41" descr="lock.png"/>
          <p:cNvPicPr>
            <a:picLocks noChangeAspect="1"/>
          </p:cNvPicPr>
          <p:nvPr/>
        </p:nvPicPr>
        <p:blipFill>
          <a:blip r:embed="rId4"/>
          <a:stretch>
            <a:fillRect/>
          </a:stretch>
        </p:blipFill>
        <p:spPr>
          <a:xfrm>
            <a:off x="9248099" y="5040676"/>
            <a:ext cx="128699" cy="187198"/>
          </a:xfrm>
          <a:prstGeom prst="rect">
            <a:avLst/>
          </a:prstGeom>
        </p:spPr>
      </p:pic>
      <p:sp>
        <p:nvSpPr>
          <p:cNvPr id="43" name="TextBox 42"/>
          <p:cNvSpPr txBox="1"/>
          <p:nvPr/>
        </p:nvSpPr>
        <p:spPr>
          <a:xfrm>
            <a:off x="9415594" y="5050455"/>
            <a:ext cx="118491" cy="186689"/>
          </a:xfrm>
          <a:prstGeom prst="rect">
            <a:avLst/>
          </a:prstGeom>
          <a:noFill/>
        </p:spPr>
        <p:txBody>
          <a:bodyPr wrap="none" lIns="0" tIns="0" rIns="0" bIns="0">
            <a:spAutoFit/>
          </a:bodyPr>
          <a:lstStyle/>
          <a:p>
            <a:r>
              <a:rPr sz="1100" b="0">
                <a:solidFill>
                  <a:srgbClr val="2E2E2E"/>
                </a:solidFill>
                <a:latin typeface="Calibri"/>
              </a:rPr>
              <a:t>)</a:t>
            </a:r>
          </a:p>
        </p:txBody>
      </p:sp>
      <p:sp>
        <p:nvSpPr>
          <p:cNvPr id="44" name="TextBox 43"/>
          <p:cNvSpPr txBox="1"/>
          <p:nvPr/>
        </p:nvSpPr>
        <p:spPr>
          <a:xfrm>
            <a:off x="3784750" y="5923276"/>
            <a:ext cx="945777" cy="186689"/>
          </a:xfrm>
          <a:prstGeom prst="rect">
            <a:avLst/>
          </a:prstGeom>
          <a:noFill/>
        </p:spPr>
        <p:txBody>
          <a:bodyPr wrap="none" lIns="0" tIns="0" rIns="0" bIns="0">
            <a:spAutoFit/>
          </a:bodyPr>
          <a:lstStyle/>
          <a:p>
            <a:r>
              <a:rPr sz="1100" b="0">
                <a:solidFill>
                  <a:srgbClr val="2E2E2E"/>
                </a:solidFill>
                <a:latin typeface="Calibri"/>
              </a:rPr>
              <a:t>An incremental</a:t>
            </a:r>
          </a:p>
        </p:txBody>
      </p:sp>
      <p:pic>
        <p:nvPicPr>
          <p:cNvPr id="45" name="Picture 44" descr="lock.png"/>
          <p:cNvPicPr>
            <a:picLocks noChangeAspect="1"/>
          </p:cNvPicPr>
          <p:nvPr/>
        </p:nvPicPr>
        <p:blipFill>
          <a:blip r:embed="rId4"/>
          <a:stretch>
            <a:fillRect/>
          </a:stretch>
        </p:blipFill>
        <p:spPr>
          <a:xfrm>
            <a:off x="4678579" y="5913497"/>
            <a:ext cx="128699" cy="187198"/>
          </a:xfrm>
          <a:prstGeom prst="rect">
            <a:avLst/>
          </a:prstGeom>
        </p:spPr>
      </p:pic>
      <p:sp>
        <p:nvSpPr>
          <p:cNvPr id="46" name="TextBox 45"/>
          <p:cNvSpPr txBox="1"/>
          <p:nvPr/>
        </p:nvSpPr>
        <p:spPr>
          <a:xfrm>
            <a:off x="4846075" y="5923276"/>
            <a:ext cx="3125043" cy="186689"/>
          </a:xfrm>
          <a:prstGeom prst="rect">
            <a:avLst/>
          </a:prstGeom>
          <a:noFill/>
        </p:spPr>
        <p:txBody>
          <a:bodyPr wrap="none" lIns="0" tIns="0" rIns="0" bIns="0">
            <a:spAutoFit/>
          </a:bodyPr>
          <a:lstStyle/>
          <a:p>
            <a:r>
              <a:rPr sz="1100" b="0">
                <a:solidFill>
                  <a:srgbClr val="2E2E2E"/>
                </a:solidFill>
                <a:latin typeface="Calibri"/>
              </a:rPr>
              <a:t>US$ Mn of demand is added between 2026 and 2036,</a:t>
            </a:r>
          </a:p>
        </p:txBody>
      </p:sp>
      <p:sp>
        <p:nvSpPr>
          <p:cNvPr id="47" name="TextBox 46"/>
          <p:cNvSpPr txBox="1"/>
          <p:nvPr/>
        </p:nvSpPr>
        <p:spPr>
          <a:xfrm>
            <a:off x="3784750" y="6090916"/>
            <a:ext cx="3324497" cy="186689"/>
          </a:xfrm>
          <a:prstGeom prst="rect">
            <a:avLst/>
          </a:prstGeom>
          <a:noFill/>
        </p:spPr>
        <p:txBody>
          <a:bodyPr wrap="none" lIns="0" tIns="0" rIns="0" bIns="0">
            <a:spAutoFit/>
          </a:bodyPr>
          <a:lstStyle/>
          <a:p>
            <a:r>
              <a:rPr sz="1100" b="0">
                <a:solidFill>
                  <a:srgbClr val="2E2E2E"/>
                </a:solidFill>
                <a:latin typeface="Calibri"/>
              </a:rPr>
              <a:t>front-loaded in the leading categories and regions above.</a:t>
            </a:r>
          </a:p>
        </p:txBody>
      </p:sp>
      <p:sp>
        <p:nvSpPr>
          <p:cNvPr id="48" name="TextBox 47"/>
          <p:cNvSpPr txBox="1"/>
          <p:nvPr/>
        </p:nvSpPr>
        <p:spPr>
          <a:xfrm>
            <a:off x="8785375" y="6007096"/>
            <a:ext cx="857919" cy="186689"/>
          </a:xfrm>
          <a:prstGeom prst="rect">
            <a:avLst/>
          </a:prstGeom>
          <a:noFill/>
        </p:spPr>
        <p:txBody>
          <a:bodyPr wrap="none" lIns="0" tIns="0" rIns="0" bIns="0">
            <a:spAutoFit/>
          </a:bodyPr>
          <a:lstStyle/>
          <a:p>
            <a:r>
              <a:rPr sz="1100" b="0">
                <a:solidFill>
                  <a:srgbClr val="2E2E2E"/>
                </a:solidFill>
                <a:latin typeface="Calibri"/>
              </a:rPr>
              <a:t>$ opportunity</a:t>
            </a:r>
          </a:p>
        </p:txBody>
      </p:sp>
      <p:pic>
        <p:nvPicPr>
          <p:cNvPr id="49" name="Picture 48" descr="lock.png"/>
          <p:cNvPicPr>
            <a:picLocks noChangeAspect="1"/>
          </p:cNvPicPr>
          <p:nvPr/>
        </p:nvPicPr>
        <p:blipFill>
          <a:blip r:embed="rId4"/>
          <a:stretch>
            <a:fillRect/>
          </a:stretch>
        </p:blipFill>
        <p:spPr>
          <a:xfrm>
            <a:off x="9591346" y="5997317"/>
            <a:ext cx="128699" cy="187198"/>
          </a:xfrm>
          <a:prstGeom prst="rect">
            <a:avLst/>
          </a:prstGeom>
        </p:spPr>
      </p:pic>
      <p:sp>
        <p:nvSpPr>
          <p:cNvPr id="50" name="TextBox 49"/>
          <p:cNvSpPr txBox="1"/>
          <p:nvPr/>
        </p:nvSpPr>
        <p:spPr>
          <a:xfrm>
            <a:off x="9758842" y="6007096"/>
            <a:ext cx="1345778" cy="186689"/>
          </a:xfrm>
          <a:prstGeom prst="rect">
            <a:avLst/>
          </a:prstGeom>
          <a:noFill/>
        </p:spPr>
        <p:txBody>
          <a:bodyPr wrap="none" lIns="0" tIns="0" rIns="0" bIns="0">
            <a:spAutoFit/>
          </a:bodyPr>
          <a:lstStyle/>
          <a:p>
            <a:r>
              <a:rPr sz="1100" b="0">
                <a:solidFill>
                  <a:srgbClr val="2E2E2E"/>
                </a:solidFill>
                <a:latin typeface="Calibri"/>
              </a:rPr>
              <a:t>US$ Mn (2026–2036) ·</a:t>
            </a:r>
          </a:p>
        </p:txBody>
      </p:sp>
      <p:pic>
        <p:nvPicPr>
          <p:cNvPr id="51" name="Picture 50" descr="lock.png"/>
          <p:cNvPicPr>
            <a:picLocks noChangeAspect="1"/>
          </p:cNvPicPr>
          <p:nvPr/>
        </p:nvPicPr>
        <p:blipFill>
          <a:blip r:embed="rId4"/>
          <a:stretch>
            <a:fillRect/>
          </a:stretch>
        </p:blipFill>
        <p:spPr>
          <a:xfrm>
            <a:off x="11052672" y="5997317"/>
            <a:ext cx="128699" cy="187198"/>
          </a:xfrm>
          <a:prstGeom prst="rect">
            <a:avLst/>
          </a:prstGeom>
        </p:spPr>
      </p:pic>
      <p:sp>
        <p:nvSpPr>
          <p:cNvPr id="52" name="TextBox 51"/>
          <p:cNvSpPr txBox="1"/>
          <p:nvPr/>
        </p:nvSpPr>
        <p:spPr>
          <a:xfrm>
            <a:off x="11220167" y="6007096"/>
            <a:ext cx="528315" cy="186689"/>
          </a:xfrm>
          <a:prstGeom prst="rect">
            <a:avLst/>
          </a:prstGeom>
          <a:noFill/>
        </p:spPr>
        <p:txBody>
          <a:bodyPr wrap="none" lIns="0" tIns="0" r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0A2A63"/>
        </a:solidFill>
        <a:effectLst/>
      </p:bgPr>
    </p:bg>
    <p:spTree>
      <p:nvGrpSpPr>
        <p:cNvPr id="1" name=""/>
        <p:cNvGrpSpPr/>
        <p:nvPr/>
      </p:nvGrpSpPr>
      <p:grpSpPr>
        <a:xfrm>
          <a:off x="0" y="0"/>
          <a:ext cx="0" cy="0"/>
          <a:chOff x="0" y="0"/>
          <a:chExt cx="0" cy="0"/>
        </a:xfrm>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ang="195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fmi_logo_template.png"/>
          <p:cNvPicPr>
            <a:picLocks noChangeAspect="1"/>
          </p:cNvPicPr>
          <p:nvPr/>
        </p:nvPicPr>
        <p:blipFill>
          <a:blip r:embed="rId3"/>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305175"/>
            <a:ext cx="7239000" cy="514350"/>
          </a:xfrm>
          <a:prstGeom prst="rect">
            <a:avLst/>
          </a:prstGeom>
          <a:noFill/>
        </p:spPr>
        <p:txBody>
          <a:bodyPr wrap="square" lIns="0" tIns="0" r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FFD447"/>
                </a:solidFill>
                <a:latin typeface="Calibri"/>
              </a:rPr>
              <a:t>➤	Market Taxonomy</a:t>
            </a:r>
          </a:p>
          <a:p>
            <a:pPr marL="342900" indent="-323850">
              <a:lnSpc>
                <a:spcPct val="100000"/>
              </a:lnSpc>
              <a:spcAft>
                <a:spcPts val="800"/>
              </a:spcAft>
            </a:pPr>
            <a:r>
              <a:rPr sz="2000" b="0">
                <a:solidFill>
                  <a:srgbClr val="FFD447"/>
                </a:solidFill>
                <a:latin typeface="Calibri"/>
              </a:rPr>
              <a:t>➤	Table of Contents</a:t>
            </a:r>
          </a:p>
          <a:p>
            <a:pPr marL="342900" indent="-323850">
              <a:lnSpc>
                <a:spcPct val="100000"/>
              </a:lnSpc>
              <a:spcAft>
                <a:spcPts val="800"/>
              </a:spcAft>
            </a:pPr>
            <a:r>
              <a:rPr sz="2000" b="0">
                <a:solidFill>
                  <a:srgbClr val="FFD447"/>
                </a:solidFill>
                <a:latin typeface="Calibri"/>
              </a:rPr>
              <a:t>➤	List of Figures, List of Tables</a:t>
            </a:r>
          </a:p>
        </p:txBody>
      </p:sp>
      <p:sp>
        <p:nvSpPr>
          <p:cNvPr id="8" name="TextBox 7"/>
          <p:cNvSpPr txBox="1"/>
          <p:nvPr/>
        </p:nvSpPr>
        <p:spPr>
          <a:xfrm>
            <a:off x="4000500" y="6734175"/>
            <a:ext cx="8020050" cy="123825"/>
          </a:xfrm>
          <a:prstGeom prst="rect">
            <a:avLst/>
          </a:prstGeom>
          <a:noFill/>
        </p:spPr>
        <p:txBody>
          <a:bodyPr wrap="square" lIns="28575" tIns="9525" rIns="2857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Geographic Coverage</a:t>
            </a:r>
          </a:p>
          <a:p>
            <a:pPr marL="342900" indent="-323850">
              <a:lnSpc>
                <a:spcPct val="100000"/>
              </a:lnSpc>
              <a:spcAft>
                <a:spcPts val="800"/>
              </a:spcAft>
            </a:pPr>
            <a:r>
              <a:rPr sz="2000" b="0">
                <a:solidFill>
                  <a:srgbClr val="000000"/>
                </a:solidFill>
                <a:latin typeface="Calibri"/>
              </a:rPr>
              <a:t>➤	Market Segments</a:t>
            </a:r>
          </a:p>
          <a:p>
            <a:pPr marL="342900" indent="-323850">
              <a:lnSpc>
                <a:spcPct val="100000"/>
              </a:lnSpc>
              <a:spcAft>
                <a:spcPts val="800"/>
              </a:spcAft>
            </a:pPr>
            <a:r>
              <a:rPr sz="2000" b="0">
                <a:solidFill>
                  <a:srgbClr val="000000"/>
                </a:solidFill>
                <a:latin typeface="Calibri"/>
              </a:rPr>
              <a:t>➤	Company Coverage</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445350"/>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627887"/>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56795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2933026"/>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298100"/>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66317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028248"/>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39332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767523"/>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325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497671"/>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6274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2781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1315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18735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9163050" y="556155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116330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6" name="Rounded Rectangle 55"/>
          <p:cNvSpPr/>
          <p:nvPr/>
        </p:nvSpPr>
        <p:spPr>
          <a:xfrm>
            <a:off x="4667250" y="1080276"/>
            <a:ext cx="2857500" cy="365074"/>
          </a:xfrm>
          <a:prstGeom prst="roundRect">
            <a:avLst>
              <a:gd name="adj" fmla="val 17500"/>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500" b="1">
                <a:solidFill>
                  <a:srgbClr val="FFFFFF"/>
                </a:solidFill>
                <a:latin typeface="Calibri"/>
              </a:rPr>
              <a:t>Corrugated Partition Market</a:t>
            </a:r>
          </a:p>
        </p:txBody>
      </p:sp>
      <p:sp>
        <p:nvSpPr>
          <p:cNvPr id="57" name="Rounded Rectangle 56"/>
          <p:cNvSpPr/>
          <p:nvPr/>
        </p:nvSpPr>
        <p:spPr>
          <a:xfrm>
            <a:off x="1428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North America</a:t>
            </a:r>
          </a:p>
        </p:txBody>
      </p:sp>
      <p:sp>
        <p:nvSpPr>
          <p:cNvPr id="58" name="Rounded Rectangle 57"/>
          <p:cNvSpPr/>
          <p:nvPr/>
        </p:nvSpPr>
        <p:spPr>
          <a:xfrm>
            <a:off x="2762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U.S.</a:t>
            </a:r>
          </a:p>
        </p:txBody>
      </p:sp>
      <p:sp>
        <p:nvSpPr>
          <p:cNvPr id="59" name="Rounded Rectangle 58"/>
          <p:cNvSpPr/>
          <p:nvPr/>
        </p:nvSpPr>
        <p:spPr>
          <a:xfrm>
            <a:off x="27622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Canada</a:t>
            </a:r>
          </a:p>
        </p:txBody>
      </p:sp>
      <p:sp>
        <p:nvSpPr>
          <p:cNvPr id="60" name="Rounded Rectangle 59"/>
          <p:cNvSpPr/>
          <p:nvPr/>
        </p:nvSpPr>
        <p:spPr>
          <a:xfrm>
            <a:off x="214312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Latin America</a:t>
            </a:r>
          </a:p>
        </p:txBody>
      </p:sp>
      <p:sp>
        <p:nvSpPr>
          <p:cNvPr id="61" name="Rounded Rectangle 60"/>
          <p:cNvSpPr/>
          <p:nvPr/>
        </p:nvSpPr>
        <p:spPr>
          <a:xfrm>
            <a:off x="227647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Brazil</a:t>
            </a:r>
          </a:p>
        </p:txBody>
      </p:sp>
      <p:sp>
        <p:nvSpPr>
          <p:cNvPr id="62" name="Rounded Rectangle 61"/>
          <p:cNvSpPr/>
          <p:nvPr/>
        </p:nvSpPr>
        <p:spPr>
          <a:xfrm>
            <a:off x="227647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Mexico</a:t>
            </a:r>
          </a:p>
        </p:txBody>
      </p:sp>
      <p:sp>
        <p:nvSpPr>
          <p:cNvPr id="63" name="Rounded Rectangle 62"/>
          <p:cNvSpPr/>
          <p:nvPr/>
        </p:nvSpPr>
        <p:spPr>
          <a:xfrm>
            <a:off x="2276475"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Colombia</a:t>
            </a:r>
          </a:p>
        </p:txBody>
      </p:sp>
      <p:sp>
        <p:nvSpPr>
          <p:cNvPr id="64" name="Rounded Rectangle 63"/>
          <p:cNvSpPr/>
          <p:nvPr/>
        </p:nvSpPr>
        <p:spPr>
          <a:xfrm>
            <a:off x="2276475"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Rest of Latin America</a:t>
            </a:r>
          </a:p>
        </p:txBody>
      </p:sp>
      <p:sp>
        <p:nvSpPr>
          <p:cNvPr id="65" name="Rounded Rectangle 64"/>
          <p:cNvSpPr/>
          <p:nvPr/>
        </p:nvSpPr>
        <p:spPr>
          <a:xfrm>
            <a:off x="41433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Europe</a:t>
            </a:r>
          </a:p>
        </p:txBody>
      </p:sp>
      <p:sp>
        <p:nvSpPr>
          <p:cNvPr id="66" name="Rounded Rectangle 65"/>
          <p:cNvSpPr/>
          <p:nvPr/>
        </p:nvSpPr>
        <p:spPr>
          <a:xfrm>
            <a:off x="42767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Germany</a:t>
            </a:r>
          </a:p>
        </p:txBody>
      </p:sp>
      <p:sp>
        <p:nvSpPr>
          <p:cNvPr id="67" name="Rounded Rectangle 66"/>
          <p:cNvSpPr/>
          <p:nvPr/>
        </p:nvSpPr>
        <p:spPr>
          <a:xfrm>
            <a:off x="4276725" y="263184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U.K.</a:t>
            </a:r>
          </a:p>
        </p:txBody>
      </p:sp>
      <p:sp>
        <p:nvSpPr>
          <p:cNvPr id="68" name="Rounded Rectangle 67"/>
          <p:cNvSpPr/>
          <p:nvPr/>
        </p:nvSpPr>
        <p:spPr>
          <a:xfrm>
            <a:off x="4276725" y="2996914"/>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France</a:t>
            </a:r>
          </a:p>
        </p:txBody>
      </p:sp>
      <p:sp>
        <p:nvSpPr>
          <p:cNvPr id="69" name="Rounded Rectangle 68"/>
          <p:cNvSpPr/>
          <p:nvPr/>
        </p:nvSpPr>
        <p:spPr>
          <a:xfrm>
            <a:off x="4276725" y="336198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Italy</a:t>
            </a:r>
          </a:p>
        </p:txBody>
      </p:sp>
      <p:sp>
        <p:nvSpPr>
          <p:cNvPr id="70" name="Rounded Rectangle 69"/>
          <p:cNvSpPr/>
          <p:nvPr/>
        </p:nvSpPr>
        <p:spPr>
          <a:xfrm>
            <a:off x="4276725" y="372706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Spain</a:t>
            </a:r>
          </a:p>
        </p:txBody>
      </p:sp>
      <p:sp>
        <p:nvSpPr>
          <p:cNvPr id="71" name="Rounded Rectangle 70"/>
          <p:cNvSpPr/>
          <p:nvPr/>
        </p:nvSpPr>
        <p:spPr>
          <a:xfrm>
            <a:off x="4276725" y="409213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Belgium</a:t>
            </a:r>
          </a:p>
        </p:txBody>
      </p:sp>
      <p:sp>
        <p:nvSpPr>
          <p:cNvPr id="72" name="Rounded Rectangle 71"/>
          <p:cNvSpPr/>
          <p:nvPr/>
        </p:nvSpPr>
        <p:spPr>
          <a:xfrm>
            <a:off x="4276725" y="446633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Netherlands</a:t>
            </a:r>
          </a:p>
        </p:txBody>
      </p:sp>
      <p:sp>
        <p:nvSpPr>
          <p:cNvPr id="73" name="Rounded Rectangle 72"/>
          <p:cNvSpPr/>
          <p:nvPr/>
        </p:nvSpPr>
        <p:spPr>
          <a:xfrm>
            <a:off x="4276725" y="483141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Nordic</a:t>
            </a:r>
          </a:p>
        </p:txBody>
      </p:sp>
      <p:sp>
        <p:nvSpPr>
          <p:cNvPr id="74" name="Rounded Rectangle 73"/>
          <p:cNvSpPr/>
          <p:nvPr/>
        </p:nvSpPr>
        <p:spPr>
          <a:xfrm>
            <a:off x="4276725" y="5196485"/>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Switzerland</a:t>
            </a:r>
          </a:p>
        </p:txBody>
      </p:sp>
      <p:sp>
        <p:nvSpPr>
          <p:cNvPr id="75" name="Rounded Rectangle 74"/>
          <p:cNvSpPr/>
          <p:nvPr/>
        </p:nvSpPr>
        <p:spPr>
          <a:xfrm>
            <a:off x="4276725" y="556155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Russia</a:t>
            </a:r>
          </a:p>
        </p:txBody>
      </p:sp>
      <p:sp>
        <p:nvSpPr>
          <p:cNvPr id="76" name="Rounded Rectangle 75"/>
          <p:cNvSpPr/>
          <p:nvPr/>
        </p:nvSpPr>
        <p:spPr>
          <a:xfrm>
            <a:off x="4276725" y="592663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Poland</a:t>
            </a:r>
          </a:p>
        </p:txBody>
      </p:sp>
      <p:sp>
        <p:nvSpPr>
          <p:cNvPr id="77" name="Rounded Rectangle 76"/>
          <p:cNvSpPr/>
          <p:nvPr/>
        </p:nvSpPr>
        <p:spPr>
          <a:xfrm>
            <a:off x="4276725" y="629170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Rest of Europe</a:t>
            </a:r>
          </a:p>
        </p:txBody>
      </p:sp>
      <p:sp>
        <p:nvSpPr>
          <p:cNvPr id="78" name="Rounded Rectangle 77"/>
          <p:cNvSpPr/>
          <p:nvPr/>
        </p:nvSpPr>
        <p:spPr>
          <a:xfrm>
            <a:off x="61531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East Asia</a:t>
            </a:r>
          </a:p>
        </p:txBody>
      </p:sp>
      <p:sp>
        <p:nvSpPr>
          <p:cNvPr id="79" name="Rounded Rectangle 78"/>
          <p:cNvSpPr/>
          <p:nvPr/>
        </p:nvSpPr>
        <p:spPr>
          <a:xfrm>
            <a:off x="62865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China</a:t>
            </a:r>
          </a:p>
        </p:txBody>
      </p:sp>
      <p:sp>
        <p:nvSpPr>
          <p:cNvPr id="80" name="Rounded Rectangle 79"/>
          <p:cNvSpPr/>
          <p:nvPr/>
        </p:nvSpPr>
        <p:spPr>
          <a:xfrm>
            <a:off x="62865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Japan</a:t>
            </a:r>
          </a:p>
        </p:txBody>
      </p:sp>
      <p:sp>
        <p:nvSpPr>
          <p:cNvPr id="81" name="Rounded Rectangle 80"/>
          <p:cNvSpPr/>
          <p:nvPr/>
        </p:nvSpPr>
        <p:spPr>
          <a:xfrm>
            <a:off x="62865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South Korea</a:t>
            </a:r>
          </a:p>
        </p:txBody>
      </p:sp>
      <p:sp>
        <p:nvSpPr>
          <p:cNvPr id="82" name="Rounded Rectangle 81"/>
          <p:cNvSpPr/>
          <p:nvPr/>
        </p:nvSpPr>
        <p:spPr>
          <a:xfrm>
            <a:off x="815340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South Asia &amp; Pacific</a:t>
            </a:r>
          </a:p>
        </p:txBody>
      </p:sp>
      <p:sp>
        <p:nvSpPr>
          <p:cNvPr id="83" name="Rounded Rectangle 82"/>
          <p:cNvSpPr/>
          <p:nvPr/>
        </p:nvSpPr>
        <p:spPr>
          <a:xfrm>
            <a:off x="828675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India</a:t>
            </a:r>
          </a:p>
        </p:txBody>
      </p:sp>
      <p:sp>
        <p:nvSpPr>
          <p:cNvPr id="84" name="Rounded Rectangle 83"/>
          <p:cNvSpPr/>
          <p:nvPr/>
        </p:nvSpPr>
        <p:spPr>
          <a:xfrm>
            <a:off x="828675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Thailand</a:t>
            </a:r>
          </a:p>
        </p:txBody>
      </p:sp>
      <p:sp>
        <p:nvSpPr>
          <p:cNvPr id="85" name="Rounded Rectangle 84"/>
          <p:cNvSpPr/>
          <p:nvPr/>
        </p:nvSpPr>
        <p:spPr>
          <a:xfrm>
            <a:off x="828675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Malaysia</a:t>
            </a:r>
          </a:p>
        </p:txBody>
      </p:sp>
      <p:sp>
        <p:nvSpPr>
          <p:cNvPr id="86" name="Rounded Rectangle 85"/>
          <p:cNvSpPr/>
          <p:nvPr/>
        </p:nvSpPr>
        <p:spPr>
          <a:xfrm>
            <a:off x="828675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Indonesia</a:t>
            </a:r>
          </a:p>
        </p:txBody>
      </p:sp>
      <p:sp>
        <p:nvSpPr>
          <p:cNvPr id="87" name="Rounded Rectangle 86"/>
          <p:cNvSpPr/>
          <p:nvPr/>
        </p:nvSpPr>
        <p:spPr>
          <a:xfrm>
            <a:off x="828675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Singapore</a:t>
            </a:r>
          </a:p>
        </p:txBody>
      </p:sp>
      <p:sp>
        <p:nvSpPr>
          <p:cNvPr id="88" name="Rounded Rectangle 87"/>
          <p:cNvSpPr/>
          <p:nvPr/>
        </p:nvSpPr>
        <p:spPr>
          <a:xfrm>
            <a:off x="828675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Philippines</a:t>
            </a:r>
          </a:p>
        </p:txBody>
      </p:sp>
      <p:sp>
        <p:nvSpPr>
          <p:cNvPr id="89" name="Rounded Rectangle 88"/>
          <p:cNvSpPr/>
          <p:nvPr/>
        </p:nvSpPr>
        <p:spPr>
          <a:xfrm>
            <a:off x="828675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Australia</a:t>
            </a:r>
          </a:p>
        </p:txBody>
      </p:sp>
      <p:sp>
        <p:nvSpPr>
          <p:cNvPr id="90" name="Rounded Rectangle 89"/>
          <p:cNvSpPr/>
          <p:nvPr/>
        </p:nvSpPr>
        <p:spPr>
          <a:xfrm>
            <a:off x="8286750" y="488617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New Zealand</a:t>
            </a:r>
          </a:p>
        </p:txBody>
      </p:sp>
      <p:sp>
        <p:nvSpPr>
          <p:cNvPr id="91" name="Rounded Rectangle 90"/>
          <p:cNvSpPr/>
          <p:nvPr/>
        </p:nvSpPr>
        <p:spPr>
          <a:xfrm>
            <a:off x="8286750" y="52603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Vietnam</a:t>
            </a:r>
          </a:p>
        </p:txBody>
      </p:sp>
      <p:sp>
        <p:nvSpPr>
          <p:cNvPr id="92" name="Rounded Rectangle 91"/>
          <p:cNvSpPr/>
          <p:nvPr/>
        </p:nvSpPr>
        <p:spPr>
          <a:xfrm>
            <a:off x="8286750" y="56345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Rest of South Asia</a:t>
            </a:r>
          </a:p>
        </p:txBody>
      </p:sp>
      <p:sp>
        <p:nvSpPr>
          <p:cNvPr id="93" name="Rounded Rectangle 92"/>
          <p:cNvSpPr/>
          <p:nvPr/>
        </p:nvSpPr>
        <p:spPr>
          <a:xfrm>
            <a:off x="101536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Middle East &amp; Africa</a:t>
            </a:r>
          </a:p>
        </p:txBody>
      </p:sp>
      <p:sp>
        <p:nvSpPr>
          <p:cNvPr id="94" name="Rounded Rectangle 93"/>
          <p:cNvSpPr/>
          <p:nvPr/>
        </p:nvSpPr>
        <p:spPr>
          <a:xfrm>
            <a:off x="102870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Turkey</a:t>
            </a:r>
          </a:p>
        </p:txBody>
      </p:sp>
      <p:sp>
        <p:nvSpPr>
          <p:cNvPr id="95" name="Rounded Rectangle 94"/>
          <p:cNvSpPr/>
          <p:nvPr/>
        </p:nvSpPr>
        <p:spPr>
          <a:xfrm>
            <a:off x="102870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UAE</a:t>
            </a:r>
          </a:p>
        </p:txBody>
      </p:sp>
      <p:sp>
        <p:nvSpPr>
          <p:cNvPr id="96" name="Rounded Rectangle 95"/>
          <p:cNvSpPr/>
          <p:nvPr/>
        </p:nvSpPr>
        <p:spPr>
          <a:xfrm>
            <a:off x="102870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Saudi Arabia</a:t>
            </a:r>
          </a:p>
        </p:txBody>
      </p:sp>
      <p:sp>
        <p:nvSpPr>
          <p:cNvPr id="97" name="Rounded Rectangle 96"/>
          <p:cNvSpPr/>
          <p:nvPr/>
        </p:nvSpPr>
        <p:spPr>
          <a:xfrm>
            <a:off x="1028700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Israel</a:t>
            </a:r>
          </a:p>
        </p:txBody>
      </p:sp>
      <p:sp>
        <p:nvSpPr>
          <p:cNvPr id="98" name="Rounded Rectangle 97"/>
          <p:cNvSpPr/>
          <p:nvPr/>
        </p:nvSpPr>
        <p:spPr>
          <a:xfrm>
            <a:off x="1028700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Other GCC Countries</a:t>
            </a:r>
          </a:p>
        </p:txBody>
      </p:sp>
      <p:sp>
        <p:nvSpPr>
          <p:cNvPr id="99" name="Rounded Rectangle 98"/>
          <p:cNvSpPr/>
          <p:nvPr/>
        </p:nvSpPr>
        <p:spPr>
          <a:xfrm>
            <a:off x="1028700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North Africa</a:t>
            </a:r>
          </a:p>
        </p:txBody>
      </p:sp>
      <p:sp>
        <p:nvSpPr>
          <p:cNvPr id="100" name="Rounded Rectangle 99"/>
          <p:cNvSpPr/>
          <p:nvPr/>
        </p:nvSpPr>
        <p:spPr>
          <a:xfrm>
            <a:off x="1028700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l"/>
            <a:r>
              <a:rPr sz="1100" b="0">
                <a:solidFill>
                  <a:srgbClr val="0B2E4A"/>
                </a:solidFill>
                <a:latin typeface="Calibri"/>
              </a:rPr>
              <a:t>South Africa</a:t>
            </a:r>
          </a:p>
        </p:txBody>
      </p:sp>
      <p:sp>
        <p:nvSpPr>
          <p:cNvPr id="101" name="TextBox 10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Segmentation framework of the study: 7 axes and the sub-segments sized under each</a:t>
            </a:r>
          </a:p>
        </p:txBody>
      </p:sp>
      <p:sp>
        <p:nvSpPr>
          <p:cNvPr id="10" name="Rectangle 9"/>
          <p:cNvSpPr/>
          <p:nvPr/>
        </p:nvSpPr>
        <p:spPr>
          <a:xfrm>
            <a:off x="1428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19075" y="1028700"/>
            <a:ext cx="2724150" cy="228600"/>
          </a:xfrm>
          <a:prstGeom prst="rect">
            <a:avLst/>
          </a:prstGeom>
          <a:noFill/>
        </p:spPr>
        <p:txBody>
          <a:bodyPr wrap="square" lIns="28575" tIns="9525" rIns="28575" bIns="9525" anchor="ctr">
            <a:spAutoFit/>
          </a:bodyPr>
          <a:lstStyle/>
          <a:p>
            <a:pPr algn="l"/>
            <a:r>
              <a:rPr sz="1100" b="1">
                <a:solidFill>
                  <a:srgbClr val="FFFFFF"/>
                </a:solidFill>
                <a:latin typeface="Calibri"/>
              </a:rPr>
              <a:t>By Partition Type</a:t>
            </a:r>
          </a:p>
        </p:txBody>
      </p:sp>
      <p:sp>
        <p:nvSpPr>
          <p:cNvPr id="13" name="TextBox 12"/>
          <p:cNvSpPr txBox="1"/>
          <p:nvPr/>
        </p:nvSpPr>
        <p:spPr>
          <a:xfrm>
            <a:off x="200025" y="125730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Slotted (Interlocking Grid) Partitions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00025" y="143446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17" name="TextBox 16"/>
          <p:cNvSpPr txBox="1"/>
          <p:nvPr/>
        </p:nvSpPr>
        <p:spPr>
          <a:xfrm>
            <a:off x="390525" y="1434465"/>
            <a:ext cx="2590800" cy="354330"/>
          </a:xfrm>
          <a:prstGeom prst="rect">
            <a:avLst/>
          </a:prstGeom>
          <a:noFill/>
        </p:spPr>
        <p:txBody>
          <a:bodyPr wrap="square" lIns="28575" tIns="9525" rIns="28575" bIns="9525" anchor="t">
            <a:spAutoFit/>
          </a:bodyPr>
          <a:lstStyle/>
          <a:p>
            <a:pPr algn="l">
              <a:lnSpc>
                <a:spcPct val="100000"/>
              </a:lnSpc>
            </a:pPr>
            <a:r>
              <a:rPr sz="1100" b="0">
                <a:solidFill>
                  <a:srgbClr val="2E2E2E"/>
                </a:solidFill>
                <a:latin typeface="Calibri"/>
              </a:rPr>
              <a:t>Die-Cut &amp; Folded Partitions (H-dividers, tube/cell inserts)</a:t>
            </a:r>
          </a:p>
        </p:txBody>
      </p:sp>
      <p:cxnSp>
        <p:nvCxnSpPr>
          <p:cNvPr id="18" name="Connector 17"/>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200025" y="178879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20" name="TextBox 19"/>
          <p:cNvSpPr txBox="1"/>
          <p:nvPr/>
        </p:nvSpPr>
        <p:spPr>
          <a:xfrm>
            <a:off x="390525" y="1788795"/>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Flat Dividers &amp; Layer Pads</a:t>
            </a:r>
          </a:p>
        </p:txBody>
      </p:sp>
      <p:sp>
        <p:nvSpPr>
          <p:cNvPr id="21" name="Rectangle 20"/>
          <p:cNvSpPr/>
          <p:nvPr/>
        </p:nvSpPr>
        <p:spPr>
          <a:xfrm>
            <a:off x="142875" y="208026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Rectangle 21"/>
          <p:cNvSpPr/>
          <p:nvPr/>
        </p:nvSpPr>
        <p:spPr>
          <a:xfrm>
            <a:off x="1428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219075" y="2080260"/>
            <a:ext cx="2724150" cy="228600"/>
          </a:xfrm>
          <a:prstGeom prst="rect">
            <a:avLst/>
          </a:prstGeom>
          <a:noFill/>
        </p:spPr>
        <p:txBody>
          <a:bodyPr wrap="square" lIns="28575" tIns="9525" rIns="28575" bIns="9525" anchor="ctr">
            <a:spAutoFit/>
          </a:bodyPr>
          <a:lstStyle/>
          <a:p>
            <a:pPr algn="l"/>
            <a:r>
              <a:rPr sz="1100" b="1">
                <a:solidFill>
                  <a:srgbClr val="FFFFFF"/>
                </a:solidFill>
                <a:latin typeface="Calibri"/>
              </a:rPr>
              <a:t>By Sales Channel</a:t>
            </a:r>
          </a:p>
        </p:txBody>
      </p:sp>
      <p:sp>
        <p:nvSpPr>
          <p:cNvPr id="24" name="TextBox 23"/>
          <p:cNvSpPr txBox="1"/>
          <p:nvPr/>
        </p:nvSpPr>
        <p:spPr>
          <a:xfrm>
            <a:off x="200025" y="230886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25" name="TextBox 24"/>
          <p:cNvSpPr txBox="1"/>
          <p:nvPr/>
        </p:nvSpPr>
        <p:spPr>
          <a:xfrm>
            <a:off x="390525" y="230886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Direct (to brand owners/OEMs)</a:t>
            </a:r>
          </a:p>
        </p:txBody>
      </p:sp>
      <p:cxnSp>
        <p:nvCxnSpPr>
          <p:cNvPr id="26" name="Connector 25"/>
          <p:cNvCxnSpPr/>
          <p:nvPr/>
        </p:nvCxnSpPr>
        <p:spPr>
          <a:xfrm>
            <a:off x="1524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200025" y="248602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28" name="TextBox 27"/>
          <p:cNvSpPr txBox="1"/>
          <p:nvPr/>
        </p:nvSpPr>
        <p:spPr>
          <a:xfrm>
            <a:off x="390525" y="2486025"/>
            <a:ext cx="2590800" cy="354330"/>
          </a:xfrm>
          <a:prstGeom prst="rect">
            <a:avLst/>
          </a:prstGeom>
          <a:noFill/>
        </p:spPr>
        <p:txBody>
          <a:bodyPr wrap="square" lIns="28575" tIns="9525" rIns="28575" bIns="9525" anchor="t">
            <a:spAutoFit/>
          </a:bodyPr>
          <a:lstStyle/>
          <a:p>
            <a:pPr algn="l">
              <a:lnSpc>
                <a:spcPct val="100000"/>
              </a:lnSpc>
            </a:pPr>
            <a:r>
              <a:rPr sz="1100" b="0">
                <a:solidFill>
                  <a:srgbClr val="2E2E2E"/>
                </a:solidFill>
                <a:latin typeface="Calibri"/>
              </a:rPr>
              <a:t>Indirect (distributors and packaging merchants)</a:t>
            </a:r>
          </a:p>
        </p:txBody>
      </p:sp>
      <p:sp>
        <p:nvSpPr>
          <p:cNvPr id="29" name="Rectangle 28"/>
          <p:cNvSpPr/>
          <p:nvPr/>
        </p:nvSpPr>
        <p:spPr>
          <a:xfrm>
            <a:off x="3152775" y="102870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3228975" y="1028700"/>
            <a:ext cx="2724150" cy="228600"/>
          </a:xfrm>
          <a:prstGeom prst="rect">
            <a:avLst/>
          </a:prstGeom>
          <a:noFill/>
        </p:spPr>
        <p:txBody>
          <a:bodyPr wrap="square" lIns="28575" tIns="9525" rIns="28575" bIns="9525" anchor="ctr">
            <a:spAutoFit/>
          </a:bodyPr>
          <a:lstStyle/>
          <a:p>
            <a:pPr algn="l"/>
            <a:r>
              <a:rPr sz="1100" b="1">
                <a:solidFill>
                  <a:srgbClr val="FFFFFF"/>
                </a:solidFill>
                <a:latin typeface="Calibri"/>
              </a:rPr>
              <a:t>By Board Construction</a:t>
            </a:r>
          </a:p>
        </p:txBody>
      </p:sp>
      <p:sp>
        <p:nvSpPr>
          <p:cNvPr id="32" name="TextBox 31"/>
          <p:cNvSpPr txBox="1"/>
          <p:nvPr/>
        </p:nvSpPr>
        <p:spPr>
          <a:xfrm>
            <a:off x="3209925" y="125730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33" name="TextBox 32"/>
          <p:cNvSpPr txBox="1"/>
          <p:nvPr/>
        </p:nvSpPr>
        <p:spPr>
          <a:xfrm>
            <a:off x="3400425" y="125730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Single Wall</a:t>
            </a:r>
          </a:p>
        </p:txBody>
      </p:sp>
      <p:cxnSp>
        <p:nvCxnSpPr>
          <p:cNvPr id="34" name="Connector 33"/>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209925" y="143446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36" name="TextBox 35"/>
          <p:cNvSpPr txBox="1"/>
          <p:nvPr/>
        </p:nvSpPr>
        <p:spPr>
          <a:xfrm>
            <a:off x="3400425" y="1434465"/>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Double Wall</a:t>
            </a:r>
          </a:p>
        </p:txBody>
      </p:sp>
      <p:cxnSp>
        <p:nvCxnSpPr>
          <p:cNvPr id="37" name="Connector 36"/>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3209925" y="161163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39" name="TextBox 38"/>
          <p:cNvSpPr txBox="1"/>
          <p:nvPr/>
        </p:nvSpPr>
        <p:spPr>
          <a:xfrm>
            <a:off x="3400425" y="161163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Triple Wall</a:t>
            </a:r>
          </a:p>
        </p:txBody>
      </p:sp>
      <p:sp>
        <p:nvSpPr>
          <p:cNvPr id="40" name="Rectangle 39"/>
          <p:cNvSpPr/>
          <p:nvPr/>
        </p:nvSpPr>
        <p:spPr>
          <a:xfrm>
            <a:off x="3152775" y="1903095"/>
            <a:ext cx="2876550" cy="58293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3152775" y="19030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3228975" y="1903095"/>
            <a:ext cx="2724150" cy="228600"/>
          </a:xfrm>
          <a:prstGeom prst="rect">
            <a:avLst/>
          </a:prstGeom>
          <a:noFill/>
        </p:spPr>
        <p:txBody>
          <a:bodyPr wrap="square" lIns="28575" tIns="9525" rIns="28575" bIns="9525" anchor="ctr">
            <a:spAutoFit/>
          </a:bodyPr>
          <a:lstStyle/>
          <a:p>
            <a:pPr algn="l"/>
            <a:r>
              <a:rPr sz="1100" b="1">
                <a:solidFill>
                  <a:srgbClr val="FFFFFF"/>
                </a:solidFill>
                <a:latin typeface="Calibri"/>
              </a:rPr>
              <a:t>By Customization</a:t>
            </a:r>
          </a:p>
        </p:txBody>
      </p:sp>
      <p:sp>
        <p:nvSpPr>
          <p:cNvPr id="43" name="TextBox 42"/>
          <p:cNvSpPr txBox="1"/>
          <p:nvPr/>
        </p:nvSpPr>
        <p:spPr>
          <a:xfrm>
            <a:off x="3209925" y="213169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44" name="TextBox 43"/>
          <p:cNvSpPr txBox="1"/>
          <p:nvPr/>
        </p:nvSpPr>
        <p:spPr>
          <a:xfrm>
            <a:off x="3400425" y="2131695"/>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Standard / Stock Sizes</a:t>
            </a:r>
          </a:p>
        </p:txBody>
      </p:sp>
      <p:cxnSp>
        <p:nvCxnSpPr>
          <p:cNvPr id="45" name="Connector 44"/>
          <p:cNvCxnSpPr/>
          <p:nvPr/>
        </p:nvCxnSpPr>
        <p:spPr>
          <a:xfrm>
            <a:off x="31623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209925" y="230886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47" name="TextBox 46"/>
          <p:cNvSpPr txBox="1"/>
          <p:nvPr/>
        </p:nvSpPr>
        <p:spPr>
          <a:xfrm>
            <a:off x="3400425" y="230886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Custom-Engineered</a:t>
            </a:r>
          </a:p>
        </p:txBody>
      </p:sp>
      <p:sp>
        <p:nvSpPr>
          <p:cNvPr id="48" name="Rectangle 47"/>
          <p:cNvSpPr/>
          <p:nvPr/>
        </p:nvSpPr>
        <p:spPr>
          <a:xfrm>
            <a:off x="6162675" y="102870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6238875" y="1028700"/>
            <a:ext cx="2724150" cy="228600"/>
          </a:xfrm>
          <a:prstGeom prst="rect">
            <a:avLst/>
          </a:prstGeom>
          <a:noFill/>
        </p:spPr>
        <p:txBody>
          <a:bodyPr wrap="square" lIns="28575" tIns="9525" rIns="28575" bIns="9525" anchor="ctr">
            <a:spAutoFit/>
          </a:bodyPr>
          <a:lstStyle/>
          <a:p>
            <a:pPr algn="l"/>
            <a:r>
              <a:rPr sz="1100" b="1">
                <a:solidFill>
                  <a:srgbClr val="FFFFFF"/>
                </a:solidFill>
                <a:latin typeface="Calibri"/>
              </a:rPr>
              <a:t>By Material Source</a:t>
            </a:r>
          </a:p>
        </p:txBody>
      </p:sp>
      <p:sp>
        <p:nvSpPr>
          <p:cNvPr id="51" name="TextBox 50"/>
          <p:cNvSpPr txBox="1"/>
          <p:nvPr/>
        </p:nvSpPr>
        <p:spPr>
          <a:xfrm>
            <a:off x="6219825" y="125730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52" name="TextBox 51"/>
          <p:cNvSpPr txBox="1"/>
          <p:nvPr/>
        </p:nvSpPr>
        <p:spPr>
          <a:xfrm>
            <a:off x="6410325" y="125730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Virgin Kraft Fibre-based</a:t>
            </a:r>
          </a:p>
        </p:txBody>
      </p:sp>
      <p:cxnSp>
        <p:nvCxnSpPr>
          <p:cNvPr id="53" name="Connector 52"/>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6219825" y="143446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55" name="TextBox 54"/>
          <p:cNvSpPr txBox="1"/>
          <p:nvPr/>
        </p:nvSpPr>
        <p:spPr>
          <a:xfrm>
            <a:off x="6410325" y="1434465"/>
            <a:ext cx="2590800" cy="354330"/>
          </a:xfrm>
          <a:prstGeom prst="rect">
            <a:avLst/>
          </a:prstGeom>
          <a:noFill/>
        </p:spPr>
        <p:txBody>
          <a:bodyPr wrap="square" lIns="28575" tIns="9525" rIns="28575" bIns="9525" anchor="t">
            <a:spAutoFit/>
          </a:bodyPr>
          <a:lstStyle/>
          <a:p>
            <a:pPr algn="l">
              <a:lnSpc>
                <a:spcPct val="100000"/>
              </a:lnSpc>
            </a:pPr>
            <a:r>
              <a:rPr sz="1100" b="0">
                <a:solidFill>
                  <a:srgbClr val="2E2E2E"/>
                </a:solidFill>
                <a:latin typeface="Calibri"/>
              </a:rPr>
              <a:t>Recycled Fibre-based (testliner/recycled medium)</a:t>
            </a:r>
          </a:p>
        </p:txBody>
      </p:sp>
      <p:sp>
        <p:nvSpPr>
          <p:cNvPr id="56" name="Rectangle 55"/>
          <p:cNvSpPr/>
          <p:nvPr/>
        </p:nvSpPr>
        <p:spPr>
          <a:xfrm>
            <a:off x="6162675" y="1903095"/>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6162675" y="19030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TextBox 57"/>
          <p:cNvSpPr txBox="1"/>
          <p:nvPr/>
        </p:nvSpPr>
        <p:spPr>
          <a:xfrm>
            <a:off x="6238875" y="1903095"/>
            <a:ext cx="2724150" cy="228600"/>
          </a:xfrm>
          <a:prstGeom prst="rect">
            <a:avLst/>
          </a:prstGeom>
          <a:noFill/>
        </p:spPr>
        <p:txBody>
          <a:bodyPr wrap="square" lIns="28575" tIns="9525" rIns="28575" bIns="9525" anchor="ctr">
            <a:spAutoFit/>
          </a:bodyPr>
          <a:lstStyle/>
          <a:p>
            <a:pPr algn="l"/>
            <a:r>
              <a:rPr sz="1100" b="1">
                <a:solidFill>
                  <a:srgbClr val="FFFFFF"/>
                </a:solidFill>
                <a:latin typeface="Calibri"/>
              </a:rPr>
              <a:t>By End Use</a:t>
            </a:r>
          </a:p>
        </p:txBody>
      </p:sp>
      <p:sp>
        <p:nvSpPr>
          <p:cNvPr id="59" name="TextBox 58"/>
          <p:cNvSpPr txBox="1"/>
          <p:nvPr/>
        </p:nvSpPr>
        <p:spPr>
          <a:xfrm>
            <a:off x="6219825" y="213169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60" name="TextBox 59"/>
          <p:cNvSpPr txBox="1"/>
          <p:nvPr/>
        </p:nvSpPr>
        <p:spPr>
          <a:xfrm>
            <a:off x="6410325" y="2131695"/>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Food &amp; Beverage</a:t>
            </a:r>
          </a:p>
        </p:txBody>
      </p:sp>
      <p:cxnSp>
        <p:nvCxnSpPr>
          <p:cNvPr id="61" name="Connector 60"/>
          <p:cNvCxnSpPr/>
          <p:nvPr/>
        </p:nvCxnSpPr>
        <p:spPr>
          <a:xfrm>
            <a:off x="61722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6219825" y="230886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63" name="TextBox 62"/>
          <p:cNvSpPr txBox="1"/>
          <p:nvPr/>
        </p:nvSpPr>
        <p:spPr>
          <a:xfrm>
            <a:off x="6410325" y="230886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Pharmaceuticals &amp; Healthcare</a:t>
            </a:r>
          </a:p>
        </p:txBody>
      </p:sp>
      <p:cxnSp>
        <p:nvCxnSpPr>
          <p:cNvPr id="64" name="Connector 63"/>
          <p:cNvCxnSpPr/>
          <p:nvPr/>
        </p:nvCxnSpPr>
        <p:spPr>
          <a:xfrm>
            <a:off x="61722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6219825" y="248602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66" name="TextBox 65"/>
          <p:cNvSpPr txBox="1"/>
          <p:nvPr/>
        </p:nvSpPr>
        <p:spPr>
          <a:xfrm>
            <a:off x="6410325" y="2486025"/>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Personal Care &amp; Cosmetics</a:t>
            </a:r>
          </a:p>
        </p:txBody>
      </p:sp>
      <p:cxnSp>
        <p:nvCxnSpPr>
          <p:cNvPr id="67" name="Connector 66"/>
          <p:cNvCxnSpPr/>
          <p:nvPr/>
        </p:nvCxnSpPr>
        <p:spPr>
          <a:xfrm>
            <a:off x="61722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6219825" y="266319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69" name="TextBox 68"/>
          <p:cNvSpPr txBox="1"/>
          <p:nvPr/>
        </p:nvSpPr>
        <p:spPr>
          <a:xfrm>
            <a:off x="6410325" y="266319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Electronics &amp; Electrical</a:t>
            </a:r>
          </a:p>
        </p:txBody>
      </p:sp>
      <p:cxnSp>
        <p:nvCxnSpPr>
          <p:cNvPr id="70" name="Connector 69"/>
          <p:cNvCxnSpPr/>
          <p:nvPr/>
        </p:nvCxnSpPr>
        <p:spPr>
          <a:xfrm>
            <a:off x="61722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6219825" y="284035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72" name="TextBox 71"/>
          <p:cNvSpPr txBox="1"/>
          <p:nvPr/>
        </p:nvSpPr>
        <p:spPr>
          <a:xfrm>
            <a:off x="6410325" y="2840355"/>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Automotive &amp; Industrial Components</a:t>
            </a:r>
          </a:p>
        </p:txBody>
      </p:sp>
      <p:cxnSp>
        <p:nvCxnSpPr>
          <p:cNvPr id="73" name="Connector 72"/>
          <p:cNvCxnSpPr/>
          <p:nvPr/>
        </p:nvCxnSpPr>
        <p:spPr>
          <a:xfrm>
            <a:off x="61722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219825" y="301752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75" name="TextBox 74"/>
          <p:cNvSpPr txBox="1"/>
          <p:nvPr/>
        </p:nvSpPr>
        <p:spPr>
          <a:xfrm>
            <a:off x="6410325" y="301752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Glassware, Ceramics &amp; Home Goods</a:t>
            </a:r>
          </a:p>
        </p:txBody>
      </p:sp>
      <p:cxnSp>
        <p:nvCxnSpPr>
          <p:cNvPr id="76" name="Connector 75"/>
          <p:cNvCxnSpPr/>
          <p:nvPr/>
        </p:nvCxnSpPr>
        <p:spPr>
          <a:xfrm>
            <a:off x="61722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7" name="TextBox 76"/>
          <p:cNvSpPr txBox="1"/>
          <p:nvPr/>
        </p:nvSpPr>
        <p:spPr>
          <a:xfrm>
            <a:off x="6219825" y="319468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78" name="TextBox 77"/>
          <p:cNvSpPr txBox="1"/>
          <p:nvPr/>
        </p:nvSpPr>
        <p:spPr>
          <a:xfrm>
            <a:off x="6410325" y="3194685"/>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Others</a:t>
            </a:r>
          </a:p>
        </p:txBody>
      </p:sp>
      <p:sp>
        <p:nvSpPr>
          <p:cNvPr id="79" name="Rectangle 78"/>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TextBox 80"/>
          <p:cNvSpPr txBox="1"/>
          <p:nvPr/>
        </p:nvSpPr>
        <p:spPr>
          <a:xfrm>
            <a:off x="9248775" y="1028700"/>
            <a:ext cx="2724150" cy="228600"/>
          </a:xfrm>
          <a:prstGeom prst="rect">
            <a:avLst/>
          </a:prstGeom>
          <a:noFill/>
        </p:spPr>
        <p:txBody>
          <a:bodyPr wrap="square" lIns="28575" tIns="9525" rIns="28575" bIns="9525" anchor="ctr">
            <a:spAutoFit/>
          </a:bodyPr>
          <a:lstStyle/>
          <a:p>
            <a:pPr algn="l"/>
            <a:r>
              <a:rPr sz="1100" b="1">
                <a:solidFill>
                  <a:srgbClr val="FFFFFF"/>
                </a:solidFill>
                <a:latin typeface="Calibri"/>
              </a:rPr>
              <a:t>By Cell Configuration</a:t>
            </a:r>
          </a:p>
        </p:txBody>
      </p:sp>
      <p:sp>
        <p:nvSpPr>
          <p:cNvPr id="82" name="TextBox 81"/>
          <p:cNvSpPr txBox="1"/>
          <p:nvPr/>
        </p:nvSpPr>
        <p:spPr>
          <a:xfrm>
            <a:off x="9229725" y="125730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83" name="TextBox 82"/>
          <p:cNvSpPr txBox="1"/>
          <p:nvPr/>
        </p:nvSpPr>
        <p:spPr>
          <a:xfrm>
            <a:off x="9420225" y="125730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Up to 4 Cells</a:t>
            </a:r>
          </a:p>
        </p:txBody>
      </p:sp>
      <p:cxnSp>
        <p:nvCxnSpPr>
          <p:cNvPr id="84" name="Connector 83"/>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9229725" y="143446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86" name="TextBox 85"/>
          <p:cNvSpPr txBox="1"/>
          <p:nvPr/>
        </p:nvSpPr>
        <p:spPr>
          <a:xfrm>
            <a:off x="9420225" y="1434465"/>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6 to 12 Cells</a:t>
            </a:r>
          </a:p>
        </p:txBody>
      </p:sp>
      <p:cxnSp>
        <p:nvCxnSpPr>
          <p:cNvPr id="87" name="Connector 86"/>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9229725" y="1611630"/>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89" name="TextBox 88"/>
          <p:cNvSpPr txBox="1"/>
          <p:nvPr/>
        </p:nvSpPr>
        <p:spPr>
          <a:xfrm>
            <a:off x="9420225" y="1611630"/>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13 to 24 Cells</a:t>
            </a:r>
          </a:p>
        </p:txBody>
      </p:sp>
      <p:cxnSp>
        <p:nvCxnSpPr>
          <p:cNvPr id="90" name="Connector 89"/>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9229725" y="1788795"/>
            <a:ext cx="190500" cy="177165"/>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92" name="TextBox 91"/>
          <p:cNvSpPr txBox="1"/>
          <p:nvPr/>
        </p:nvSpPr>
        <p:spPr>
          <a:xfrm>
            <a:off x="9420225" y="1788795"/>
            <a:ext cx="2590800" cy="177165"/>
          </a:xfrm>
          <a:prstGeom prst="rect">
            <a:avLst/>
          </a:prstGeom>
          <a:noFill/>
        </p:spPr>
        <p:txBody>
          <a:bodyPr wrap="square" lIns="28575" tIns="9525" rIns="28575" bIns="9525" anchor="ctr">
            <a:spAutoFit/>
          </a:bodyPr>
          <a:lstStyle/>
          <a:p>
            <a:pPr algn="l"/>
            <a:r>
              <a:rPr sz="1100" b="0">
                <a:solidFill>
                  <a:srgbClr val="2E2E2E"/>
                </a:solidFill>
                <a:latin typeface="Calibri"/>
              </a:rPr>
              <a:t>Above 24 Cells</a:t>
            </a:r>
          </a:p>
        </p:txBody>
      </p:sp>
      <p:sp>
        <p:nvSpPr>
          <p:cNvPr id="93" name="TextBox 9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Company Coverage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tIns="9525" rIns="28575" bIns="9525" anchor="ctr">
            <a:spAutoFit/>
          </a:bodyPr>
          <a:lstStyle/>
          <a:p>
            <a:pPr algn="l"/>
            <a:r>
              <a:rPr sz="1100" b="0">
                <a:solidFill>
                  <a:srgbClr val="6C7A89"/>
                </a:solidFill>
                <a:latin typeface="Calibri"/>
              </a:rPr>
              <a:t>Companies covered in this study of the Corrugated Partition Market profiled and benchmarked in the Competition Assessment section.</a:t>
            </a:r>
          </a:p>
        </p:txBody>
      </p:sp>
      <p:sp>
        <p:nvSpPr>
          <p:cNvPr id="11" name="Rectangle 10"/>
          <p:cNvSpPr/>
          <p:nvPr/>
        </p:nvSpPr>
        <p:spPr>
          <a:xfrm>
            <a:off x="142875"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Rectangle 11"/>
          <p:cNvSpPr/>
          <p:nvPr/>
        </p:nvSpPr>
        <p:spPr>
          <a:xfrm>
            <a:off x="142875"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142875" y="1618760"/>
            <a:ext cx="5857875" cy="164283"/>
          </a:xfrm>
          <a:prstGeom prst="rect">
            <a:avLst/>
          </a:prstGeom>
          <a:noFill/>
        </p:spPr>
        <p:txBody>
          <a:bodyPr wrap="square" lIns="28575" tIns="9525" rIns="2857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1828677"/>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15" name="TextBox 14"/>
          <p:cNvSpPr txBox="1"/>
          <p:nvPr/>
        </p:nvSpPr>
        <p:spPr>
          <a:xfrm>
            <a:off x="581025" y="1828677"/>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Multicell Packaging Inc.</a:t>
            </a:r>
          </a:p>
        </p:txBody>
      </p:sp>
      <p:sp>
        <p:nvSpPr>
          <p:cNvPr id="16" name="Rectangle 15"/>
          <p:cNvSpPr/>
          <p:nvPr/>
        </p:nvSpPr>
        <p:spPr>
          <a:xfrm>
            <a:off x="152400" y="2102483"/>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7" name="Connector 16"/>
          <p:cNvCxnSpPr/>
          <p:nvPr/>
        </p:nvCxnSpPr>
        <p:spPr>
          <a:xfrm>
            <a:off x="152400" y="210248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2102483"/>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19" name="TextBox 18"/>
          <p:cNvSpPr txBox="1"/>
          <p:nvPr/>
        </p:nvSpPr>
        <p:spPr>
          <a:xfrm>
            <a:off x="581025" y="2102483"/>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Company</a:t>
            </a:r>
          </a:p>
        </p:txBody>
      </p:sp>
      <p:cxnSp>
        <p:nvCxnSpPr>
          <p:cNvPr id="20" name="Connector 19"/>
          <p:cNvCxnSpPr/>
          <p:nvPr/>
        </p:nvCxnSpPr>
        <p:spPr>
          <a:xfrm>
            <a:off x="152400" y="237628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2376288"/>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22" name="TextBox 21"/>
          <p:cNvSpPr txBox="1"/>
          <p:nvPr/>
        </p:nvSpPr>
        <p:spPr>
          <a:xfrm>
            <a:off x="581025" y="2376288"/>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Great American Paper Inc.</a:t>
            </a:r>
          </a:p>
        </p:txBody>
      </p:sp>
      <p:sp>
        <p:nvSpPr>
          <p:cNvPr id="23" name="Rectangle 22"/>
          <p:cNvSpPr/>
          <p:nvPr/>
        </p:nvSpPr>
        <p:spPr>
          <a:xfrm>
            <a:off x="152400" y="2650094"/>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4" name="Connector 23"/>
          <p:cNvCxnSpPr/>
          <p:nvPr/>
        </p:nvCxnSpPr>
        <p:spPr>
          <a:xfrm>
            <a:off x="152400" y="265009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2650094"/>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26" name="TextBox 25"/>
          <p:cNvSpPr txBox="1"/>
          <p:nvPr/>
        </p:nvSpPr>
        <p:spPr>
          <a:xfrm>
            <a:off x="581025" y="2650094"/>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Interpack Inc.</a:t>
            </a:r>
          </a:p>
        </p:txBody>
      </p:sp>
      <p:cxnSp>
        <p:nvCxnSpPr>
          <p:cNvPr id="27" name="Connector 26"/>
          <p:cNvCxnSpPr/>
          <p:nvPr/>
        </p:nvCxnSpPr>
        <p:spPr>
          <a:xfrm>
            <a:off x="152400" y="292389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33375" y="2923899"/>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29" name="TextBox 28"/>
          <p:cNvSpPr txBox="1"/>
          <p:nvPr/>
        </p:nvSpPr>
        <p:spPr>
          <a:xfrm>
            <a:off x="581025" y="2923899"/>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Caps Cases Ltd.</a:t>
            </a:r>
          </a:p>
        </p:txBody>
      </p:sp>
      <p:sp>
        <p:nvSpPr>
          <p:cNvPr id="30" name="Rectangle 29"/>
          <p:cNvSpPr/>
          <p:nvPr/>
        </p:nvSpPr>
        <p:spPr>
          <a:xfrm>
            <a:off x="152400" y="3197705"/>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1" name="Connector 30"/>
          <p:cNvCxnSpPr/>
          <p:nvPr/>
        </p:nvCxnSpPr>
        <p:spPr>
          <a:xfrm>
            <a:off x="152400" y="319770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333375" y="3197705"/>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33" name="TextBox 32"/>
          <p:cNvSpPr txBox="1"/>
          <p:nvPr/>
        </p:nvSpPr>
        <p:spPr>
          <a:xfrm>
            <a:off x="581025" y="3197705"/>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M &amp; M Box &amp; Partitions Co.</a:t>
            </a:r>
          </a:p>
        </p:txBody>
      </p:sp>
      <p:cxnSp>
        <p:nvCxnSpPr>
          <p:cNvPr id="34" name="Connector 33"/>
          <p:cNvCxnSpPr/>
          <p:nvPr/>
        </p:nvCxnSpPr>
        <p:spPr>
          <a:xfrm>
            <a:off x="152400" y="34715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33375" y="3471510"/>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36" name="TextBox 35"/>
          <p:cNvSpPr txBox="1"/>
          <p:nvPr/>
        </p:nvSpPr>
        <p:spPr>
          <a:xfrm>
            <a:off x="581025" y="3471510"/>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Martin Partitions</a:t>
            </a:r>
          </a:p>
        </p:txBody>
      </p:sp>
      <p:sp>
        <p:nvSpPr>
          <p:cNvPr id="37" name="Rectangle 36"/>
          <p:cNvSpPr/>
          <p:nvPr/>
        </p:nvSpPr>
        <p:spPr>
          <a:xfrm>
            <a:off x="152400" y="3745316"/>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8" name="Connector 37"/>
          <p:cNvCxnSpPr/>
          <p:nvPr/>
        </p:nvCxnSpPr>
        <p:spPr>
          <a:xfrm>
            <a:off x="152400" y="374531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33375" y="3745316"/>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40" name="TextBox 39"/>
          <p:cNvSpPr txBox="1"/>
          <p:nvPr/>
        </p:nvSpPr>
        <p:spPr>
          <a:xfrm>
            <a:off x="581025" y="3745316"/>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Buckeye Corrugated Inc.</a:t>
            </a:r>
          </a:p>
        </p:txBody>
      </p:sp>
      <p:cxnSp>
        <p:nvCxnSpPr>
          <p:cNvPr id="41" name="Connector 40"/>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33375" y="4019121"/>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43" name="TextBox 42"/>
          <p:cNvSpPr txBox="1"/>
          <p:nvPr/>
        </p:nvSpPr>
        <p:spPr>
          <a:xfrm>
            <a:off x="581025" y="4019121"/>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Cactus Corrugated Containers Inc.</a:t>
            </a:r>
          </a:p>
        </p:txBody>
      </p:sp>
      <p:sp>
        <p:nvSpPr>
          <p:cNvPr id="44" name="Rectangle 43"/>
          <p:cNvSpPr/>
          <p:nvPr/>
        </p:nvSpPr>
        <p:spPr>
          <a:xfrm>
            <a:off x="152400" y="4292927"/>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5" name="Connector 44"/>
          <p:cNvCxnSpPr/>
          <p:nvPr/>
        </p:nvCxnSpPr>
        <p:spPr>
          <a:xfrm>
            <a:off x="152400" y="429292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33375" y="4292927"/>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47" name="TextBox 46"/>
          <p:cNvSpPr txBox="1"/>
          <p:nvPr/>
        </p:nvSpPr>
        <p:spPr>
          <a:xfrm>
            <a:off x="581025" y="4292927"/>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Jarrett Industries Inc.</a:t>
            </a:r>
          </a:p>
        </p:txBody>
      </p:sp>
      <p:cxnSp>
        <p:nvCxnSpPr>
          <p:cNvPr id="48" name="Connector 47"/>
          <p:cNvCxnSpPr/>
          <p:nvPr/>
        </p:nvCxnSpPr>
        <p:spPr>
          <a:xfrm>
            <a:off x="152400" y="45667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33375" y="4566732"/>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50" name="TextBox 49"/>
          <p:cNvSpPr txBox="1"/>
          <p:nvPr/>
        </p:nvSpPr>
        <p:spPr>
          <a:xfrm>
            <a:off x="581025" y="4566732"/>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Imperial Paper Company</a:t>
            </a:r>
          </a:p>
        </p:txBody>
      </p:sp>
      <p:sp>
        <p:nvSpPr>
          <p:cNvPr id="51" name="Rectangle 50"/>
          <p:cNvSpPr/>
          <p:nvPr/>
        </p:nvSpPr>
        <p:spPr>
          <a:xfrm>
            <a:off x="152400" y="4840538"/>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52" name="Connector 51"/>
          <p:cNvCxnSpPr/>
          <p:nvPr/>
        </p:nvCxnSpPr>
        <p:spPr>
          <a:xfrm>
            <a:off x="152400" y="484053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3375" y="4840538"/>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54" name="TextBox 53"/>
          <p:cNvSpPr txBox="1"/>
          <p:nvPr/>
        </p:nvSpPr>
        <p:spPr>
          <a:xfrm>
            <a:off x="581025" y="4840538"/>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Unipaq Inc.</a:t>
            </a:r>
          </a:p>
        </p:txBody>
      </p:sp>
      <p:cxnSp>
        <p:nvCxnSpPr>
          <p:cNvPr id="55" name="Connector 54"/>
          <p:cNvCxnSpPr/>
          <p:nvPr/>
        </p:nvCxnSpPr>
        <p:spPr>
          <a:xfrm>
            <a:off x="152400" y="511434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33375" y="5114343"/>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57" name="TextBox 56"/>
          <p:cNvSpPr txBox="1"/>
          <p:nvPr/>
        </p:nvSpPr>
        <p:spPr>
          <a:xfrm>
            <a:off x="581025" y="5114343"/>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Fibre Tec Packaging</a:t>
            </a:r>
          </a:p>
        </p:txBody>
      </p:sp>
      <p:sp>
        <p:nvSpPr>
          <p:cNvPr id="58" name="Rectangle 57"/>
          <p:cNvSpPr/>
          <p:nvPr/>
        </p:nvSpPr>
        <p:spPr>
          <a:xfrm>
            <a:off x="152400" y="5388149"/>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59" name="Connector 58"/>
          <p:cNvCxnSpPr/>
          <p:nvPr/>
        </p:nvCxnSpPr>
        <p:spPr>
          <a:xfrm>
            <a:off x="152400" y="538814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3375" y="5388149"/>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61" name="TextBox 60"/>
          <p:cNvSpPr txBox="1"/>
          <p:nvPr/>
        </p:nvSpPr>
        <p:spPr>
          <a:xfrm>
            <a:off x="581025" y="5388149"/>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Packnet Ltd.</a:t>
            </a:r>
          </a:p>
        </p:txBody>
      </p:sp>
      <p:cxnSp>
        <p:nvCxnSpPr>
          <p:cNvPr id="62" name="Connector 61"/>
          <p:cNvCxnSpPr/>
          <p:nvPr/>
        </p:nvCxnSpPr>
        <p:spPr>
          <a:xfrm>
            <a:off x="152400" y="566195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3375" y="5661954"/>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64" name="TextBox 63"/>
          <p:cNvSpPr txBox="1"/>
          <p:nvPr/>
        </p:nvSpPr>
        <p:spPr>
          <a:xfrm>
            <a:off x="581025" y="5661954"/>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Action Wood 360</a:t>
            </a:r>
          </a:p>
        </p:txBody>
      </p:sp>
      <p:sp>
        <p:nvSpPr>
          <p:cNvPr id="65" name="Rectangle 64"/>
          <p:cNvSpPr/>
          <p:nvPr/>
        </p:nvSpPr>
        <p:spPr>
          <a:xfrm>
            <a:off x="152400" y="5935759"/>
            <a:ext cx="5838825" cy="26467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66" name="Connector 65"/>
          <p:cNvCxnSpPr/>
          <p:nvPr/>
        </p:nvCxnSpPr>
        <p:spPr>
          <a:xfrm>
            <a:off x="152400" y="593575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33375" y="5935759"/>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68" name="TextBox 67"/>
          <p:cNvSpPr txBox="1"/>
          <p:nvPr/>
        </p:nvSpPr>
        <p:spPr>
          <a:xfrm>
            <a:off x="581025" y="5935759"/>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Pacific Southwest Container</a:t>
            </a:r>
          </a:p>
        </p:txBody>
      </p:sp>
      <p:sp>
        <p:nvSpPr>
          <p:cNvPr id="69" name="Rectangle 68"/>
          <p:cNvSpPr/>
          <p:nvPr/>
        </p:nvSpPr>
        <p:spPr>
          <a:xfrm>
            <a:off x="6191250"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6191250"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6191250" y="1618760"/>
            <a:ext cx="5857875" cy="164283"/>
          </a:xfrm>
          <a:prstGeom prst="rect">
            <a:avLst/>
          </a:prstGeom>
          <a:noFill/>
        </p:spPr>
        <p:txBody>
          <a:bodyPr wrap="square" lIns="28575" tIns="9525" rIns="28575" bIns="9525" anchor="ctr">
            <a:spAutoFit/>
          </a:bodyPr>
          <a:lstStyle/>
          <a:p>
            <a:pPr algn="ctr"/>
            <a:r>
              <a:rPr sz="1100" b="1">
                <a:solidFill>
                  <a:srgbClr val="FFFFFF"/>
                </a:solidFill>
                <a:latin typeface="Calibri"/>
              </a:rPr>
              <a:t>List Companies</a:t>
            </a:r>
          </a:p>
        </p:txBody>
      </p:sp>
      <p:sp>
        <p:nvSpPr>
          <p:cNvPr id="72" name="TextBox 71"/>
          <p:cNvSpPr txBox="1"/>
          <p:nvPr/>
        </p:nvSpPr>
        <p:spPr>
          <a:xfrm>
            <a:off x="6381750" y="1828677"/>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73" name="TextBox 72"/>
          <p:cNvSpPr txBox="1"/>
          <p:nvPr/>
        </p:nvSpPr>
        <p:spPr>
          <a:xfrm>
            <a:off x="6629400" y="1828677"/>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Colorado Industrial Packaging</a:t>
            </a:r>
          </a:p>
        </p:txBody>
      </p:sp>
      <p:sp>
        <p:nvSpPr>
          <p:cNvPr id="74" name="Rectangle 73"/>
          <p:cNvSpPr/>
          <p:nvPr/>
        </p:nvSpPr>
        <p:spPr>
          <a:xfrm>
            <a:off x="6200775" y="2102483"/>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75" name="Connector 74"/>
          <p:cNvCxnSpPr/>
          <p:nvPr/>
        </p:nvCxnSpPr>
        <p:spPr>
          <a:xfrm>
            <a:off x="6200775" y="210248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6381750" y="2102483"/>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77" name="TextBox 76"/>
          <p:cNvSpPr txBox="1"/>
          <p:nvPr/>
        </p:nvSpPr>
        <p:spPr>
          <a:xfrm>
            <a:off x="6629400" y="2102483"/>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Riverside Paper Co.</a:t>
            </a:r>
          </a:p>
        </p:txBody>
      </p:sp>
      <p:cxnSp>
        <p:nvCxnSpPr>
          <p:cNvPr id="78" name="Connector 77"/>
          <p:cNvCxnSpPr/>
          <p:nvPr/>
        </p:nvCxnSpPr>
        <p:spPr>
          <a:xfrm>
            <a:off x="6200775" y="237628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81750" y="2376288"/>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80" name="TextBox 79"/>
          <p:cNvSpPr txBox="1"/>
          <p:nvPr/>
        </p:nvSpPr>
        <p:spPr>
          <a:xfrm>
            <a:off x="6629400" y="2376288"/>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Industrie-Kartonagen Maier GmbH</a:t>
            </a:r>
          </a:p>
        </p:txBody>
      </p:sp>
      <p:sp>
        <p:nvSpPr>
          <p:cNvPr id="81" name="Rectangle 80"/>
          <p:cNvSpPr/>
          <p:nvPr/>
        </p:nvSpPr>
        <p:spPr>
          <a:xfrm>
            <a:off x="6200775" y="2650094"/>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82" name="Connector 81"/>
          <p:cNvCxnSpPr/>
          <p:nvPr/>
        </p:nvCxnSpPr>
        <p:spPr>
          <a:xfrm>
            <a:off x="6200775" y="265009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6381750" y="2650094"/>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84" name="TextBox 83"/>
          <p:cNvSpPr txBox="1"/>
          <p:nvPr/>
        </p:nvSpPr>
        <p:spPr>
          <a:xfrm>
            <a:off x="6629400" y="2650094"/>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ITB Packaging LLC</a:t>
            </a:r>
          </a:p>
        </p:txBody>
      </p:sp>
      <p:cxnSp>
        <p:nvCxnSpPr>
          <p:cNvPr id="85" name="Connector 84"/>
          <p:cNvCxnSpPr/>
          <p:nvPr/>
        </p:nvCxnSpPr>
        <p:spPr>
          <a:xfrm>
            <a:off x="6200775" y="292389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6381750" y="2923899"/>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87" name="TextBox 86"/>
          <p:cNvSpPr txBox="1"/>
          <p:nvPr/>
        </p:nvSpPr>
        <p:spPr>
          <a:xfrm>
            <a:off x="6629400" y="2923899"/>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Packform USA LLC</a:t>
            </a:r>
          </a:p>
        </p:txBody>
      </p:sp>
      <p:sp>
        <p:nvSpPr>
          <p:cNvPr id="88" name="Rectangle 87"/>
          <p:cNvSpPr/>
          <p:nvPr/>
        </p:nvSpPr>
        <p:spPr>
          <a:xfrm>
            <a:off x="6200775" y="3197705"/>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89" name="Connector 88"/>
          <p:cNvCxnSpPr/>
          <p:nvPr/>
        </p:nvCxnSpPr>
        <p:spPr>
          <a:xfrm>
            <a:off x="6200775" y="319770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6381750" y="3197705"/>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91" name="TextBox 90"/>
          <p:cNvSpPr txBox="1"/>
          <p:nvPr/>
        </p:nvSpPr>
        <p:spPr>
          <a:xfrm>
            <a:off x="6629400" y="3197705"/>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Dong Hai Ben Tre JSC (DOHACO)</a:t>
            </a:r>
          </a:p>
        </p:txBody>
      </p:sp>
      <p:cxnSp>
        <p:nvCxnSpPr>
          <p:cNvPr id="92" name="Connector 91"/>
          <p:cNvCxnSpPr/>
          <p:nvPr/>
        </p:nvCxnSpPr>
        <p:spPr>
          <a:xfrm>
            <a:off x="6200775" y="34715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6381750" y="3471510"/>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94" name="TextBox 93"/>
          <p:cNvSpPr txBox="1"/>
          <p:nvPr/>
        </p:nvSpPr>
        <p:spPr>
          <a:xfrm>
            <a:off x="6629400" y="3471510"/>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Sunrise Printing &amp; Packaging Co., Ltd.</a:t>
            </a:r>
          </a:p>
        </p:txBody>
      </p:sp>
      <p:sp>
        <p:nvSpPr>
          <p:cNvPr id="95" name="Rectangle 94"/>
          <p:cNvSpPr/>
          <p:nvPr/>
        </p:nvSpPr>
        <p:spPr>
          <a:xfrm>
            <a:off x="6200775" y="3745316"/>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6" name="Connector 95"/>
          <p:cNvCxnSpPr/>
          <p:nvPr/>
        </p:nvCxnSpPr>
        <p:spPr>
          <a:xfrm>
            <a:off x="6200775" y="374531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381750" y="3745316"/>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98" name="TextBox 97"/>
          <p:cNvSpPr txBox="1"/>
          <p:nvPr/>
        </p:nvSpPr>
        <p:spPr>
          <a:xfrm>
            <a:off x="6629400" y="3745316"/>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Minh Dung Company Limited</a:t>
            </a:r>
          </a:p>
        </p:txBody>
      </p:sp>
      <p:cxnSp>
        <p:nvCxnSpPr>
          <p:cNvPr id="99" name="Connector 98"/>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381750" y="4019121"/>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101" name="TextBox 100"/>
          <p:cNvSpPr txBox="1"/>
          <p:nvPr/>
        </p:nvSpPr>
        <p:spPr>
          <a:xfrm>
            <a:off x="6629400" y="4019121"/>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Trung Tin Phat Packaging JSC</a:t>
            </a:r>
          </a:p>
        </p:txBody>
      </p:sp>
      <p:sp>
        <p:nvSpPr>
          <p:cNvPr id="102" name="Rectangle 101"/>
          <p:cNvSpPr/>
          <p:nvPr/>
        </p:nvSpPr>
        <p:spPr>
          <a:xfrm>
            <a:off x="6200775" y="4292927"/>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3" name="Connector 102"/>
          <p:cNvCxnSpPr/>
          <p:nvPr/>
        </p:nvCxnSpPr>
        <p:spPr>
          <a:xfrm>
            <a:off x="6200775" y="429292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381750" y="4292927"/>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105" name="TextBox 104"/>
          <p:cNvSpPr txBox="1"/>
          <p:nvPr/>
        </p:nvSpPr>
        <p:spPr>
          <a:xfrm>
            <a:off x="6629400" y="4292927"/>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Global Packaging JSC (Bao Bi Toan Cau)</a:t>
            </a:r>
          </a:p>
        </p:txBody>
      </p:sp>
      <p:cxnSp>
        <p:nvCxnSpPr>
          <p:cNvPr id="106" name="Connector 105"/>
          <p:cNvCxnSpPr/>
          <p:nvPr/>
        </p:nvCxnSpPr>
        <p:spPr>
          <a:xfrm>
            <a:off x="6200775" y="45667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6381750" y="4566732"/>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108" name="TextBox 107"/>
          <p:cNvSpPr txBox="1"/>
          <p:nvPr/>
        </p:nvSpPr>
        <p:spPr>
          <a:xfrm>
            <a:off x="6629400" y="4566732"/>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Thai Kobashi Co., Ltd.</a:t>
            </a:r>
          </a:p>
        </p:txBody>
      </p:sp>
      <p:sp>
        <p:nvSpPr>
          <p:cNvPr id="109" name="Rectangle 108"/>
          <p:cNvSpPr/>
          <p:nvPr/>
        </p:nvSpPr>
        <p:spPr>
          <a:xfrm>
            <a:off x="6200775" y="4840538"/>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0" name="Connector 109"/>
          <p:cNvCxnSpPr/>
          <p:nvPr/>
        </p:nvCxnSpPr>
        <p:spPr>
          <a:xfrm>
            <a:off x="6200775" y="484053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6381750" y="4840538"/>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112" name="TextBox 111"/>
          <p:cNvSpPr txBox="1"/>
          <p:nvPr/>
        </p:nvSpPr>
        <p:spPr>
          <a:xfrm>
            <a:off x="6629400" y="4840538"/>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Kaizen Packaging Co., Ltd.</a:t>
            </a:r>
          </a:p>
        </p:txBody>
      </p:sp>
      <p:cxnSp>
        <p:nvCxnSpPr>
          <p:cNvPr id="113" name="Connector 112"/>
          <p:cNvCxnSpPr/>
          <p:nvPr/>
        </p:nvCxnSpPr>
        <p:spPr>
          <a:xfrm>
            <a:off x="6200775" y="511434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6381750" y="5114343"/>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115" name="TextBox 114"/>
          <p:cNvSpPr txBox="1"/>
          <p:nvPr/>
        </p:nvSpPr>
        <p:spPr>
          <a:xfrm>
            <a:off x="6629400" y="5114343"/>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Shoon Teet Paper Boxes Manufacturer Sdn. Bhd.</a:t>
            </a:r>
          </a:p>
        </p:txBody>
      </p:sp>
      <p:sp>
        <p:nvSpPr>
          <p:cNvPr id="116" name="Rectangle 115"/>
          <p:cNvSpPr/>
          <p:nvPr/>
        </p:nvSpPr>
        <p:spPr>
          <a:xfrm>
            <a:off x="6200775" y="5388149"/>
            <a:ext cx="5838825" cy="273805"/>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7" name="Connector 116"/>
          <p:cNvCxnSpPr/>
          <p:nvPr/>
        </p:nvCxnSpPr>
        <p:spPr>
          <a:xfrm>
            <a:off x="6200775" y="538814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8" name="TextBox 117"/>
          <p:cNvSpPr txBox="1"/>
          <p:nvPr/>
        </p:nvSpPr>
        <p:spPr>
          <a:xfrm>
            <a:off x="6381750" y="5388149"/>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119" name="TextBox 118"/>
          <p:cNvSpPr txBox="1"/>
          <p:nvPr/>
        </p:nvSpPr>
        <p:spPr>
          <a:xfrm>
            <a:off x="6629400" y="5388149"/>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MD Pack Industries Sdn. Bhd.</a:t>
            </a:r>
          </a:p>
        </p:txBody>
      </p:sp>
      <p:cxnSp>
        <p:nvCxnSpPr>
          <p:cNvPr id="120" name="Connector 119"/>
          <p:cNvCxnSpPr/>
          <p:nvPr/>
        </p:nvCxnSpPr>
        <p:spPr>
          <a:xfrm>
            <a:off x="6200775" y="566195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1" name="TextBox 120"/>
          <p:cNvSpPr txBox="1"/>
          <p:nvPr/>
        </p:nvSpPr>
        <p:spPr>
          <a:xfrm>
            <a:off x="6381750" y="5661954"/>
            <a:ext cx="190500" cy="273805"/>
          </a:xfrm>
          <a:prstGeom prst="rect">
            <a:avLst/>
          </a:prstGeom>
          <a:noFill/>
        </p:spPr>
        <p:txBody>
          <a:bodyPr wrap="none" lIns="0" tIns="0" rIns="0" bIns="0" anchor="ctr">
            <a:spAutoFit/>
          </a:bodyPr>
          <a:lstStyle/>
          <a:p>
            <a:pPr algn="l"/>
            <a:r>
              <a:rPr sz="1100" b="0">
                <a:solidFill>
                  <a:srgbClr val="6C7A89"/>
                </a:solidFill>
                <a:latin typeface="Calibri"/>
              </a:rPr>
              <a:t>❑</a:t>
            </a:r>
          </a:p>
        </p:txBody>
      </p:sp>
      <p:sp>
        <p:nvSpPr>
          <p:cNvPr id="122" name="TextBox 121"/>
          <p:cNvSpPr txBox="1"/>
          <p:nvPr/>
        </p:nvSpPr>
        <p:spPr>
          <a:xfrm>
            <a:off x="6629400" y="5661954"/>
            <a:ext cx="5324475" cy="273805"/>
          </a:xfrm>
          <a:prstGeom prst="rect">
            <a:avLst/>
          </a:prstGeom>
          <a:noFill/>
        </p:spPr>
        <p:txBody>
          <a:bodyPr wrap="square" lIns="28575" tIns="9525" rIns="28575" bIns="9525" anchor="ctr">
            <a:spAutoFit/>
          </a:bodyPr>
          <a:lstStyle/>
          <a:p>
            <a:pPr algn="l"/>
            <a:r>
              <a:rPr sz="1100" b="0">
                <a:solidFill>
                  <a:srgbClr val="2E2E2E"/>
                </a:solidFill>
                <a:latin typeface="Calibri"/>
              </a:rPr>
              <a:t>PT SuryaTITIA Makmur</a:t>
            </a:r>
          </a:p>
        </p:txBody>
      </p:sp>
      <p:sp>
        <p:nvSpPr>
          <p:cNvPr id="123" name="Rectangle 122"/>
          <p:cNvSpPr/>
          <p:nvPr/>
        </p:nvSpPr>
        <p:spPr>
          <a:xfrm>
            <a:off x="6200775" y="5935759"/>
            <a:ext cx="5838825" cy="26467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24" name="Connector 123"/>
          <p:cNvCxnSpPr/>
          <p:nvPr/>
        </p:nvCxnSpPr>
        <p:spPr>
          <a:xfrm>
            <a:off x="6200775" y="593575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142875" y="6337341"/>
            <a:ext cx="11906250" cy="182537"/>
          </a:xfrm>
          <a:prstGeom prst="rect">
            <a:avLst/>
          </a:prstGeom>
          <a:noFill/>
        </p:spPr>
        <p:txBody>
          <a:bodyPr wrap="square" lIns="28575" tIns="9525" rIns="28575" bIns="9525" anchor="ctr">
            <a:spAutoFit/>
          </a:bodyPr>
          <a:lstStyle/>
          <a:p>
            <a:pPr algn="l"/>
            <a:r>
              <a:rPr sz="1100" b="1">
                <a:solidFill>
                  <a:srgbClr val="B06A2C"/>
                </a:solidFill>
                <a:latin typeface="Calibri"/>
              </a:rPr>
              <a:t>Note: the list of companies is indicative and can be customised on request.</a:t>
            </a:r>
          </a:p>
        </p:txBody>
      </p:sp>
      <p:sp>
        <p:nvSpPr>
          <p:cNvPr id="126" name="TextBox 125"/>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489325"/>
            <a:ext cx="8572500" cy="514350"/>
          </a:xfrm>
          <a:prstGeom prst="rect">
            <a:avLst/>
          </a:prstGeom>
          <a:noFill/>
        </p:spPr>
        <p:txBody>
          <a:bodyPr wrap="square" lIns="0" tIns="0" r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Table of Contents (1/7)</a:t>
            </a:r>
          </a:p>
        </p:txBody>
      </p:sp>
      <p:graphicFrame>
        <p:nvGraphicFramePr>
          <p:cNvPr id="9" name="FMI Contents Table"/>
          <p:cNvGraphicFramePr>
            <a:graphicFrameLocks noGrp="1"/>
          </p:cNvGraphicFramePr>
          <p:nvPr/>
        </p:nvGraphicFramePr>
        <p:xfrm>
          <a:off x="142875" y="981075"/>
          <a:ext cx="5876925" cy="531495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extLst>
                  <a:ext uri="{0D108BD9-81ED-4DB2-BD59-A6C34878D82A}">
                    <a16:rowId xmlns:a16="http://schemas.microsoft.com/office/drawing/2014/main" val="10000"/>
                  </a:ext>
                </a:extLst>
              </a:tr>
              <a:tr h="175260">
                <a:tc>
                  <a:txBody>
                    <a:bodyPr/>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extLst>
                  <a:ext uri="{0D108BD9-81ED-4DB2-BD59-A6C34878D82A}">
                    <a16:rowId xmlns:a16="http://schemas.microsoft.com/office/drawing/2014/main" val="10001"/>
                  </a:ext>
                </a:extLst>
              </a:tr>
              <a:tr h="175260">
                <a:tc>
                  <a:txBody>
                    <a:bodyPr/>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extLst>
                  <a:ext uri="{0D108BD9-81ED-4DB2-BD59-A6C34878D82A}">
                    <a16:rowId xmlns:a16="http://schemas.microsoft.com/office/drawing/2014/main" val="10002"/>
                  </a:ext>
                </a:extLst>
              </a:tr>
              <a:tr h="175260">
                <a:tc>
                  <a:txBody>
                    <a:bodyPr/>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Supply Trends</a:t>
                      </a:r>
                      <a:endParaRPr sz="1100"/>
                    </a:p>
                  </a:txBody>
                  <a:tcPr marL="685800" marR="9525" marT="9525" marB="0" anchor="ctr"/>
                </a:tc>
                <a:extLst>
                  <a:ext uri="{0D108BD9-81ED-4DB2-BD59-A6C34878D82A}">
                    <a16:rowId xmlns:a16="http://schemas.microsoft.com/office/drawing/2014/main" val="10003"/>
                  </a:ext>
                </a:extLst>
              </a:tr>
              <a:tr h="175260">
                <a:tc>
                  <a:txBody>
                    <a:bodyPr/>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extLst>
                  <a:ext uri="{0D108BD9-81ED-4DB2-BD59-A6C34878D82A}">
                    <a16:rowId xmlns:a16="http://schemas.microsoft.com/office/drawing/2014/main" val="10004"/>
                  </a:ext>
                </a:extLst>
              </a:tr>
              <a:tr h="175260">
                <a:tc>
                  <a:txBody>
                    <a:bodyPr/>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extLst>
                  <a:ext uri="{0D108BD9-81ED-4DB2-BD59-A6C34878D82A}">
                    <a16:rowId xmlns:a16="http://schemas.microsoft.com/office/drawing/2014/main" val="10005"/>
                  </a:ext>
                </a:extLst>
              </a:tr>
              <a:tr h="175260">
                <a:tc>
                  <a:txBody>
                    <a:bodyPr/>
                    <a:lstStyle/>
                    <a:p>
                      <a:pPr algn="l"/>
                      <a:r>
                        <a:rPr sz="1100" b="1" i="0">
                          <a:solidFill>
                            <a:srgbClr val="000000"/>
                          </a:solidFill>
                          <a:latin typeface="Calibri"/>
                        </a:rPr>
                        <a:t>1.</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extLst>
                  <a:ext uri="{0D108BD9-81ED-4DB2-BD59-A6C34878D82A}">
                    <a16:rowId xmlns:a16="http://schemas.microsoft.com/office/drawing/2014/main" val="10006"/>
                  </a:ext>
                </a:extLst>
              </a:tr>
              <a:tr h="175260">
                <a:tc>
                  <a:txBody>
                    <a:bodyPr/>
                    <a:lstStyle/>
                    <a:p>
                      <a:pPr algn="l"/>
                      <a:r>
                        <a:rPr sz="1100" b="0" i="0">
                          <a:solidFill>
                            <a:srgbClr val="0070C0"/>
                          </a:solidFill>
                          <a:latin typeface="Calibri"/>
                        </a:rPr>
                        <a:t>1.1.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extLst>
                  <a:ext uri="{0D108BD9-81ED-4DB2-BD59-A6C34878D82A}">
                    <a16:rowId xmlns:a16="http://schemas.microsoft.com/office/drawing/2014/main" val="10007"/>
                  </a:ext>
                </a:extLst>
              </a:tr>
              <a:tr h="175260">
                <a:tc>
                  <a:txBody>
                    <a:bodyPr/>
                    <a:lstStyle/>
                    <a:p>
                      <a:pPr algn="l"/>
                      <a:r>
                        <a:rPr sz="1100" b="0" i="0">
                          <a:solidFill>
                            <a:srgbClr val="0070C0"/>
                          </a:solidFill>
                          <a:latin typeface="Calibri"/>
                        </a:rPr>
                        <a:t>1.2.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extLst>
                  <a:ext uri="{0D108BD9-81ED-4DB2-BD59-A6C34878D82A}">
                    <a16:rowId xmlns:a16="http://schemas.microsoft.com/office/drawing/2014/main" val="10008"/>
                  </a:ext>
                </a:extLst>
              </a:tr>
              <a:tr h="175260">
                <a:tc>
                  <a:txBody>
                    <a:bodyPr/>
                    <a:lstStyle/>
                    <a:p>
                      <a:pPr algn="l"/>
                      <a:r>
                        <a:rPr sz="1100" b="1" i="0">
                          <a:solidFill>
                            <a:srgbClr val="000000"/>
                          </a:solidFill>
                          <a:latin typeface="Calibri"/>
                        </a:rPr>
                        <a:t>Section 1: Global Market Outlook</a:t>
                      </a:r>
                      <a:endParaRPr sz="1100"/>
                    </a:p>
                  </a:txBody>
                  <a:tcPr marL="9525" marR="9525" marT="9525" marB="0" anchor="ctr"/>
                </a:tc>
                <a:extLst>
                  <a:ext uri="{0D108BD9-81ED-4DB2-BD59-A6C34878D82A}">
                    <a16:rowId xmlns:a16="http://schemas.microsoft.com/office/drawing/2014/main" val="10009"/>
                  </a:ext>
                </a:extLst>
              </a:tr>
              <a:tr h="175260">
                <a:tc>
                  <a:txBody>
                    <a:bodyPr/>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Global Market Size (Value &amp; Volume) 2021–2036</a:t>
                      </a:r>
                      <a:endParaRPr sz="1100"/>
                    </a:p>
                  </a:txBody>
                  <a:tcPr marL="171450" marR="9525" marT="9525" marB="0" anchor="ctr"/>
                </a:tc>
                <a:extLst>
                  <a:ext uri="{0D108BD9-81ED-4DB2-BD59-A6C34878D82A}">
                    <a16:rowId xmlns:a16="http://schemas.microsoft.com/office/drawing/2014/main" val="10010"/>
                  </a:ext>
                </a:extLst>
              </a:tr>
              <a:tr h="175260">
                <a:tc>
                  <a:txBody>
                    <a:bodyPr/>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11"/>
                  </a:ext>
                </a:extLst>
              </a:tr>
              <a:tr h="175260">
                <a:tc>
                  <a:txBody>
                    <a:bodyPr/>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12"/>
                  </a:ext>
                </a:extLst>
              </a:tr>
              <a:tr h="175260">
                <a:tc>
                  <a:txBody>
                    <a:bodyPr/>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13"/>
                  </a:ext>
                </a:extLst>
              </a:tr>
              <a:tr h="175260">
                <a:tc>
                  <a:txBody>
                    <a:bodyPr/>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extLst>
                  <a:ext uri="{0D108BD9-81ED-4DB2-BD59-A6C34878D82A}">
                    <a16:rowId xmlns:a16="http://schemas.microsoft.com/office/drawing/2014/main" val="10014"/>
                  </a:ext>
                </a:extLst>
              </a:tr>
              <a:tr h="175260">
                <a:tc>
                  <a:txBody>
                    <a:bodyPr/>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Partition Type</a:t>
                      </a:r>
                      <a:endParaRPr sz="1100"/>
                    </a:p>
                  </a:txBody>
                  <a:tcPr marL="171450" marR="9525" marT="9525" marB="0" anchor="ctr"/>
                </a:tc>
                <a:extLst>
                  <a:ext uri="{0D108BD9-81ED-4DB2-BD59-A6C34878D82A}">
                    <a16:rowId xmlns:a16="http://schemas.microsoft.com/office/drawing/2014/main" val="10015"/>
                  </a:ext>
                </a:extLst>
              </a:tr>
              <a:tr h="175260">
                <a:tc>
                  <a:txBody>
                    <a:bodyPr/>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extLst>
                  <a:ext uri="{0D108BD9-81ED-4DB2-BD59-A6C34878D82A}">
                    <a16:rowId xmlns:a16="http://schemas.microsoft.com/office/drawing/2014/main" val="10016"/>
                  </a:ext>
                </a:extLst>
              </a:tr>
              <a:tr h="175260">
                <a:tc>
                  <a:txBody>
                    <a:bodyPr/>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17"/>
                  </a:ext>
                </a:extLst>
              </a:tr>
              <a:tr h="175260">
                <a:tc>
                  <a:txBody>
                    <a:bodyPr/>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19"/>
                  </a:ext>
                </a:extLst>
              </a:tr>
              <a:tr h="175260">
                <a:tc>
                  <a:txBody>
                    <a:bodyPr/>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extLst>
                  <a:ext uri="{0D108BD9-81ED-4DB2-BD59-A6C34878D82A}">
                    <a16:rowId xmlns:a16="http://schemas.microsoft.com/office/drawing/2014/main" val="10020"/>
                  </a:ext>
                </a:extLst>
              </a:tr>
              <a:tr h="175260">
                <a:tc>
                  <a:txBody>
                    <a:bodyPr/>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Slotted (Interlocking Grid) Partitions</a:t>
                      </a:r>
                      <a:endParaRPr sz="1100"/>
                    </a:p>
                  </a:txBody>
                  <a:tcPr marL="771525" marR="9525" marT="9525" marB="0" anchor="ctr"/>
                </a:tc>
                <a:extLst>
                  <a:ext uri="{0D108BD9-81ED-4DB2-BD59-A6C34878D82A}">
                    <a16:rowId xmlns:a16="http://schemas.microsoft.com/office/drawing/2014/main" val="10021"/>
                  </a:ext>
                </a:extLst>
              </a:tr>
              <a:tr h="175260">
                <a:tc>
                  <a:txBody>
                    <a:bodyPr/>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Die-Cut &amp; Folded Partitions (H-dividers, tube/cell inserts)</a:t>
                      </a:r>
                      <a:endParaRPr sz="1100"/>
                    </a:p>
                  </a:txBody>
                  <a:tcPr marL="771525" marR="9525" marT="9525" marB="0" anchor="ctr"/>
                </a:tc>
                <a:extLst>
                  <a:ext uri="{0D108BD9-81ED-4DB2-BD59-A6C34878D82A}">
                    <a16:rowId xmlns:a16="http://schemas.microsoft.com/office/drawing/2014/main" val="10022"/>
                  </a:ext>
                </a:extLst>
              </a:tr>
              <a:tr h="175260">
                <a:tc>
                  <a:txBody>
                    <a:bodyPr/>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Flat Dividers &amp; Layer Pads</a:t>
                      </a:r>
                      <a:endParaRPr sz="1100"/>
                    </a:p>
                  </a:txBody>
                  <a:tcPr marL="771525" marR="9525" marT="9525" marB="0" anchor="ctr"/>
                </a:tc>
                <a:extLst>
                  <a:ext uri="{0D108BD9-81ED-4DB2-BD59-A6C34878D82A}">
                    <a16:rowId xmlns:a16="http://schemas.microsoft.com/office/drawing/2014/main" val="10023"/>
                  </a:ext>
                </a:extLst>
              </a:tr>
              <a:tr h="175260">
                <a:tc>
                  <a:txBody>
                    <a:bodyPr/>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Board Construction</a:t>
                      </a:r>
                      <a:endParaRPr sz="1100"/>
                    </a:p>
                  </a:txBody>
                  <a:tcPr marL="171450" marR="9525" marT="9525" marB="0" anchor="ctr"/>
                </a:tc>
                <a:extLst>
                  <a:ext uri="{0D108BD9-81ED-4DB2-BD59-A6C34878D82A}">
                    <a16:rowId xmlns:a16="http://schemas.microsoft.com/office/drawing/2014/main" val="10024"/>
                  </a:ext>
                </a:extLst>
              </a:tr>
              <a:tr h="175260">
                <a:tc>
                  <a:txBody>
                    <a:bodyPr/>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extLst>
                  <a:ext uri="{0D108BD9-81ED-4DB2-BD59-A6C34878D82A}">
                    <a16:rowId xmlns:a16="http://schemas.microsoft.com/office/drawing/2014/main" val="10025"/>
                  </a:ext>
                </a:extLst>
              </a:tr>
              <a:tr h="175260">
                <a:tc>
                  <a:txBody>
                    <a:bodyPr/>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26"/>
                  </a:ext>
                </a:extLst>
              </a:tr>
              <a:tr h="175260">
                <a:tc>
                  <a:txBody>
                    <a:bodyPr/>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27"/>
                  </a:ext>
                </a:extLst>
              </a:tr>
              <a:tr h="175260">
                <a:tc>
                  <a:txBody>
                    <a:bodyPr/>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28"/>
                  </a:ext>
                </a:extLst>
              </a:tr>
              <a:tr h="175260">
                <a:tc>
                  <a:txBody>
                    <a:bodyPr/>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extLst>
                  <a:ext uri="{0D108BD9-81ED-4DB2-BD59-A6C34878D82A}">
                    <a16:rowId xmlns:a16="http://schemas.microsoft.com/office/drawing/2014/main" val="10029"/>
                  </a:ext>
                </a:extLst>
              </a:tr>
            </a:tbl>
          </a:graphicData>
        </a:graphic>
      </p:graphicFrame>
      <p:graphicFrame>
        <p:nvGraphicFramePr>
          <p:cNvPr id="10" name="FMI Contents Table"/>
          <p:cNvGraphicFramePr>
            <a:graphicFrameLocks noGrp="1"/>
          </p:cNvGraphicFramePr>
          <p:nvPr/>
        </p:nvGraphicFramePr>
        <p:xfrm>
          <a:off x="6172200" y="981075"/>
          <a:ext cx="5876925" cy="531495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Single Wall</a:t>
                      </a:r>
                      <a:endParaRPr sz="1100"/>
                    </a:p>
                  </a:txBody>
                  <a:tcPr marL="771525" marR="9525" marT="9525" marB="0" anchor="ctr"/>
                </a:tc>
                <a:extLst>
                  <a:ext uri="{0D108BD9-81ED-4DB2-BD59-A6C34878D82A}">
                    <a16:rowId xmlns:a16="http://schemas.microsoft.com/office/drawing/2014/main" val="10000"/>
                  </a:ext>
                </a:extLst>
              </a:tr>
              <a:tr h="175260">
                <a:tc>
                  <a:txBody>
                    <a:bodyPr/>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Double Wall</a:t>
                      </a:r>
                      <a:endParaRPr sz="1100"/>
                    </a:p>
                  </a:txBody>
                  <a:tcPr marL="771525" marR="9525" marT="9525" marB="0" anchor="ctr"/>
                </a:tc>
                <a:extLst>
                  <a:ext uri="{0D108BD9-81ED-4DB2-BD59-A6C34878D82A}">
                    <a16:rowId xmlns:a16="http://schemas.microsoft.com/office/drawing/2014/main" val="10001"/>
                  </a:ext>
                </a:extLst>
              </a:tr>
              <a:tr h="175260">
                <a:tc>
                  <a:txBody>
                    <a:bodyPr/>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Triple Wall</a:t>
                      </a:r>
                      <a:endParaRPr sz="1100"/>
                    </a:p>
                  </a:txBody>
                  <a:tcPr marL="771525" marR="9525" marT="9525" marB="0" anchor="ctr"/>
                </a:tc>
                <a:extLst>
                  <a:ext uri="{0D108BD9-81ED-4DB2-BD59-A6C34878D82A}">
                    <a16:rowId xmlns:a16="http://schemas.microsoft.com/office/drawing/2014/main" val="10002"/>
                  </a:ext>
                </a:extLst>
              </a:tr>
              <a:tr h="175260">
                <a:tc>
                  <a:txBody>
                    <a:bodyPr/>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Material Source</a:t>
                      </a:r>
                      <a:endParaRPr sz="1100"/>
                    </a:p>
                  </a:txBody>
                  <a:tcPr marL="171450" marR="9525" marT="9525" marB="0" anchor="ctr"/>
                </a:tc>
                <a:extLst>
                  <a:ext uri="{0D108BD9-81ED-4DB2-BD59-A6C34878D82A}">
                    <a16:rowId xmlns:a16="http://schemas.microsoft.com/office/drawing/2014/main" val="10003"/>
                  </a:ext>
                </a:extLst>
              </a:tr>
              <a:tr h="175260">
                <a:tc>
                  <a:txBody>
                    <a:bodyPr/>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extLst>
                  <a:ext uri="{0D108BD9-81ED-4DB2-BD59-A6C34878D82A}">
                    <a16:rowId xmlns:a16="http://schemas.microsoft.com/office/drawing/2014/main" val="10004"/>
                  </a:ext>
                </a:extLst>
              </a:tr>
              <a:tr h="175260">
                <a:tc>
                  <a:txBody>
                    <a:bodyPr/>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05"/>
                  </a:ext>
                </a:extLst>
              </a:tr>
              <a:tr h="175260">
                <a:tc>
                  <a:txBody>
                    <a:bodyPr/>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06"/>
                  </a:ext>
                </a:extLst>
              </a:tr>
              <a:tr h="175260">
                <a:tc>
                  <a:txBody>
                    <a:bodyPr/>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07"/>
                  </a:ext>
                </a:extLst>
              </a:tr>
              <a:tr h="175260">
                <a:tc>
                  <a:txBody>
                    <a:bodyPr/>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extLst>
                  <a:ext uri="{0D108BD9-81ED-4DB2-BD59-A6C34878D82A}">
                    <a16:rowId xmlns:a16="http://schemas.microsoft.com/office/drawing/2014/main" val="10008"/>
                  </a:ext>
                </a:extLst>
              </a:tr>
              <a:tr h="175260">
                <a:tc>
                  <a:txBody>
                    <a:bodyPr/>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Virgin Kraft Fibre-based</a:t>
                      </a:r>
                      <a:endParaRPr sz="1100"/>
                    </a:p>
                  </a:txBody>
                  <a:tcPr marL="771525" marR="9525" marT="9525" marB="0" anchor="ctr"/>
                </a:tc>
                <a:extLst>
                  <a:ext uri="{0D108BD9-81ED-4DB2-BD59-A6C34878D82A}">
                    <a16:rowId xmlns:a16="http://schemas.microsoft.com/office/drawing/2014/main" val="10009"/>
                  </a:ext>
                </a:extLst>
              </a:tr>
              <a:tr h="175260">
                <a:tc>
                  <a:txBody>
                    <a:bodyPr/>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Recycled Fibre-based (testliner/recycled medium)</a:t>
                      </a:r>
                      <a:endParaRPr sz="1100"/>
                    </a:p>
                  </a:txBody>
                  <a:tcPr marL="771525" marR="9525" marT="9525" marB="0" anchor="ctr"/>
                </a:tc>
                <a:extLst>
                  <a:ext uri="{0D108BD9-81ED-4DB2-BD59-A6C34878D82A}">
                    <a16:rowId xmlns:a16="http://schemas.microsoft.com/office/drawing/2014/main" val="10010"/>
                  </a:ext>
                </a:extLst>
              </a:tr>
              <a:tr h="175260">
                <a:tc>
                  <a:txBody>
                    <a:bodyPr/>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Cell Configuration</a:t>
                      </a:r>
                      <a:endParaRPr sz="1100"/>
                    </a:p>
                  </a:txBody>
                  <a:tcPr marL="171450" marR="9525" marT="9525" marB="0" anchor="ctr"/>
                </a:tc>
                <a:extLst>
                  <a:ext uri="{0D108BD9-81ED-4DB2-BD59-A6C34878D82A}">
                    <a16:rowId xmlns:a16="http://schemas.microsoft.com/office/drawing/2014/main" val="10011"/>
                  </a:ext>
                </a:extLst>
              </a:tr>
              <a:tr h="175260">
                <a:tc>
                  <a:txBody>
                    <a:bodyPr/>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extLst>
                  <a:ext uri="{0D108BD9-81ED-4DB2-BD59-A6C34878D82A}">
                    <a16:rowId xmlns:a16="http://schemas.microsoft.com/office/drawing/2014/main" val="10012"/>
                  </a:ext>
                </a:extLst>
              </a:tr>
              <a:tr h="175260">
                <a:tc>
                  <a:txBody>
                    <a:bodyPr/>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13"/>
                  </a:ext>
                </a:extLst>
              </a:tr>
              <a:tr h="175260">
                <a:tc>
                  <a:txBody>
                    <a:bodyPr/>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14"/>
                  </a:ext>
                </a:extLst>
              </a:tr>
              <a:tr h="175260">
                <a:tc>
                  <a:txBody>
                    <a:bodyPr/>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15"/>
                  </a:ext>
                </a:extLst>
              </a:tr>
              <a:tr h="175260">
                <a:tc>
                  <a:txBody>
                    <a:bodyPr/>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extLst>
                  <a:ext uri="{0D108BD9-81ED-4DB2-BD59-A6C34878D82A}">
                    <a16:rowId xmlns:a16="http://schemas.microsoft.com/office/drawing/2014/main" val="10016"/>
                  </a:ext>
                </a:extLst>
              </a:tr>
              <a:tr h="175260">
                <a:tc>
                  <a:txBody>
                    <a:bodyPr/>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Up to 4 Cells</a:t>
                      </a:r>
                      <a:endParaRPr sz="1100"/>
                    </a:p>
                  </a:txBody>
                  <a:tcPr marL="771525" marR="9525" marT="9525" marB="0" anchor="ctr"/>
                </a:tc>
                <a:extLst>
                  <a:ext uri="{0D108BD9-81ED-4DB2-BD59-A6C34878D82A}">
                    <a16:rowId xmlns:a16="http://schemas.microsoft.com/office/drawing/2014/main" val="10017"/>
                  </a:ext>
                </a:extLst>
              </a:tr>
              <a:tr h="175260">
                <a:tc>
                  <a:txBody>
                    <a:bodyPr/>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6 to 12 Cells</a:t>
                      </a:r>
                      <a:endParaRPr sz="1100"/>
                    </a:p>
                  </a:txBody>
                  <a:tcPr marL="7715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13 to 24 Cells</a:t>
                      </a:r>
                      <a:endParaRPr sz="1100"/>
                    </a:p>
                  </a:txBody>
                  <a:tcPr marL="771525" marR="9525" marT="9525" marB="0" anchor="ctr"/>
                </a:tc>
                <a:extLst>
                  <a:ext uri="{0D108BD9-81ED-4DB2-BD59-A6C34878D82A}">
                    <a16:rowId xmlns:a16="http://schemas.microsoft.com/office/drawing/2014/main" val="10019"/>
                  </a:ext>
                </a:extLst>
              </a:tr>
              <a:tr h="175260">
                <a:tc>
                  <a:txBody>
                    <a:bodyPr/>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Above 24 Cells</a:t>
                      </a:r>
                      <a:endParaRPr sz="1100"/>
                    </a:p>
                  </a:txBody>
                  <a:tcPr marL="771525" marR="9525" marT="9525" marB="0" anchor="ctr"/>
                </a:tc>
                <a:extLst>
                  <a:ext uri="{0D108BD9-81ED-4DB2-BD59-A6C34878D82A}">
                    <a16:rowId xmlns:a16="http://schemas.microsoft.com/office/drawing/2014/main" val="10020"/>
                  </a:ext>
                </a:extLst>
              </a:tr>
              <a:tr h="175260">
                <a:tc>
                  <a:txBody>
                    <a:bodyPr/>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Global Market (Value- Volume) Analysis 2021–2036, By Customization</a:t>
                      </a:r>
                      <a:endParaRPr sz="1100"/>
                    </a:p>
                  </a:txBody>
                  <a:tcPr marL="171450" marR="9525" marT="9525" marB="0" anchor="ctr"/>
                </a:tc>
                <a:extLst>
                  <a:ext uri="{0D108BD9-81ED-4DB2-BD59-A6C34878D82A}">
                    <a16:rowId xmlns:a16="http://schemas.microsoft.com/office/drawing/2014/main" val="10021"/>
                  </a:ext>
                </a:extLst>
              </a:tr>
              <a:tr h="175260">
                <a:tc>
                  <a:txBody>
                    <a:bodyPr/>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extLst>
                  <a:ext uri="{0D108BD9-81ED-4DB2-BD59-A6C34878D82A}">
                    <a16:rowId xmlns:a16="http://schemas.microsoft.com/office/drawing/2014/main" val="10022"/>
                  </a:ext>
                </a:extLst>
              </a:tr>
              <a:tr h="175260">
                <a:tc>
                  <a:txBody>
                    <a:bodyPr/>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23"/>
                  </a:ext>
                </a:extLst>
              </a:tr>
              <a:tr h="175260">
                <a:tc>
                  <a:txBody>
                    <a:bodyPr/>
                    <a:lstStyle/>
                    <a:p>
                      <a:pPr algn="l"/>
                      <a:r>
                        <a:rPr sz="1100" b="0" i="0">
                          <a:solidFill>
                            <a:srgbClr val="0070C0"/>
                          </a:solidFill>
                          <a:latin typeface="Calibri"/>
                        </a:rPr>
                        <a:t>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24"/>
                  </a:ext>
                </a:extLst>
              </a:tr>
              <a:tr h="175260">
                <a:tc>
                  <a:txBody>
                    <a:bodyPr/>
                    <a:lstStyle/>
                    <a:p>
                      <a:pPr algn="l"/>
                      <a:r>
                        <a:rPr sz="1100" b="0" i="0">
                          <a:solidFill>
                            <a:srgbClr val="0070C0"/>
                          </a:solidFill>
                          <a:latin typeface="Calibri"/>
                        </a:rPr>
                        <a:t>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25"/>
                  </a:ext>
                </a:extLst>
              </a:tr>
              <a:tr h="175260">
                <a:tc>
                  <a:txBody>
                    <a:bodyPr/>
                    <a:lstStyle/>
                    <a:p>
                      <a:pPr algn="l"/>
                      <a:r>
                        <a:rPr sz="1100" b="0" i="0">
                          <a:solidFill>
                            <a:srgbClr val="0070C0"/>
                          </a:solidFill>
                          <a:latin typeface="Calibri"/>
                        </a:rPr>
                        <a:t>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extLst>
                  <a:ext uri="{0D108BD9-81ED-4DB2-BD59-A6C34878D82A}">
                    <a16:rowId xmlns:a16="http://schemas.microsoft.com/office/drawing/2014/main" val="10026"/>
                  </a:ext>
                </a:extLst>
              </a:tr>
              <a:tr h="175260">
                <a:tc>
                  <a:txBody>
                    <a:bodyPr/>
                    <a:lstStyle/>
                    <a:p>
                      <a:pPr algn="l"/>
                      <a:r>
                        <a:rPr sz="1100" b="0" i="0">
                          <a:solidFill>
                            <a:srgbClr val="000000"/>
                          </a:solidFill>
                          <a:latin typeface="Calibri"/>
                        </a:rPr>
                        <a:t>7.5.1.</a:t>
                      </a:r>
                      <a:r>
                        <a:rPr sz="700" b="0" i="0">
                          <a:solidFill>
                            <a:srgbClr val="000000"/>
                          </a:solidFill>
                          <a:latin typeface="Times New Roman"/>
                        </a:rPr>
                        <a:t>   </a:t>
                      </a:r>
                      <a:r>
                        <a:rPr sz="1100" b="0" i="0">
                          <a:solidFill>
                            <a:srgbClr val="000000"/>
                          </a:solidFill>
                          <a:latin typeface="Calibri"/>
                        </a:rPr>
                        <a:t>Standard / Stock Sizes</a:t>
                      </a:r>
                      <a:endParaRPr sz="1100"/>
                    </a:p>
                  </a:txBody>
                  <a:tcPr marL="771525" marR="9525" marT="9525" marB="0" anchor="ctr"/>
                </a:tc>
                <a:extLst>
                  <a:ext uri="{0D108BD9-81ED-4DB2-BD59-A6C34878D82A}">
                    <a16:rowId xmlns:a16="http://schemas.microsoft.com/office/drawing/2014/main" val="10027"/>
                  </a:ext>
                </a:extLst>
              </a:tr>
              <a:tr h="175260">
                <a:tc>
                  <a:txBody>
                    <a:bodyPr/>
                    <a:lstStyle/>
                    <a:p>
                      <a:pPr algn="l"/>
                      <a:r>
                        <a:rPr sz="1100" b="0" i="0">
                          <a:solidFill>
                            <a:srgbClr val="000000"/>
                          </a:solidFill>
                          <a:latin typeface="Calibri"/>
                        </a:rPr>
                        <a:t>7.5.2.</a:t>
                      </a:r>
                      <a:r>
                        <a:rPr sz="700" b="0" i="0">
                          <a:solidFill>
                            <a:srgbClr val="000000"/>
                          </a:solidFill>
                          <a:latin typeface="Times New Roman"/>
                        </a:rPr>
                        <a:t>   </a:t>
                      </a:r>
                      <a:r>
                        <a:rPr sz="1100" b="0" i="0">
                          <a:solidFill>
                            <a:srgbClr val="000000"/>
                          </a:solidFill>
                          <a:latin typeface="Calibri"/>
                        </a:rPr>
                        <a:t>Custom-Engineered</a:t>
                      </a:r>
                      <a:endParaRPr sz="1100"/>
                    </a:p>
                  </a:txBody>
                  <a:tcPr marL="771525" marR="9525" marT="9525" marB="0" anchor="ctr"/>
                </a:tc>
                <a:extLst>
                  <a:ext uri="{0D108BD9-81ED-4DB2-BD59-A6C34878D82A}">
                    <a16:rowId xmlns:a16="http://schemas.microsoft.com/office/drawing/2014/main" val="10028"/>
                  </a:ext>
                </a:extLst>
              </a:tr>
              <a:tr h="175260">
                <a:tc>
                  <a:txBody>
                    <a:bodyPr/>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Global Market (Value- Volume) Analysis 2021–2036, By End Use</a:t>
                      </a:r>
                      <a:endParaRPr sz="1100"/>
                    </a:p>
                  </a:txBody>
                  <a:tcPr marL="171450" marR="9525" marT="9525" marB="0" anchor="ctr"/>
                </a:tc>
                <a:extLst>
                  <a:ext uri="{0D108BD9-81ED-4DB2-BD59-A6C34878D82A}">
                    <a16:rowId xmlns:a16="http://schemas.microsoft.com/office/drawing/2014/main" val="10029"/>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Table of Contents (2/7)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extLst>
                  <a:ext uri="{0D108BD9-81ED-4DB2-BD59-A6C34878D82A}">
                    <a16:rowId xmlns:a16="http://schemas.microsoft.com/office/drawing/2014/main" val="10000"/>
                  </a:ext>
                </a:extLst>
              </a:tr>
              <a:tr h="175260">
                <a:tc>
                  <a:txBody>
                    <a:bodyPr/>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01"/>
                  </a:ext>
                </a:extLst>
              </a:tr>
              <a:tr h="175260">
                <a:tc>
                  <a:txBody>
                    <a:bodyPr/>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02"/>
                  </a:ext>
                </a:extLst>
              </a:tr>
              <a:tr h="175260">
                <a:tc>
                  <a:txBody>
                    <a:bodyPr/>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03"/>
                  </a:ext>
                </a:extLst>
              </a:tr>
              <a:tr h="175260">
                <a:tc>
                  <a:txBody>
                    <a:bodyPr/>
                    <a:lstStyle/>
                    <a:p>
                      <a:pPr algn="l"/>
                      <a:r>
                        <a:rPr sz="1100" b="0" i="0">
                          <a:solidFill>
                            <a:srgbClr val="0070C0"/>
                          </a:solidFill>
                          <a:latin typeface="Calibri"/>
                        </a:rPr>
                        <a:t>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extLst>
                  <a:ext uri="{0D108BD9-81ED-4DB2-BD59-A6C34878D82A}">
                    <a16:rowId xmlns:a16="http://schemas.microsoft.com/office/drawing/2014/main" val="10004"/>
                  </a:ext>
                </a:extLst>
              </a:tr>
              <a:tr h="175260">
                <a:tc>
                  <a:txBody>
                    <a:bodyPr/>
                    <a:lstStyle/>
                    <a:p>
                      <a:pPr algn="l"/>
                      <a:r>
                        <a:rPr sz="1100" b="0" i="0">
                          <a:solidFill>
                            <a:srgbClr val="000000"/>
                          </a:solidFill>
                          <a:latin typeface="Calibri"/>
                        </a:rPr>
                        <a:t>8.5.1.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extLst>
                  <a:ext uri="{0D108BD9-81ED-4DB2-BD59-A6C34878D82A}">
                    <a16:rowId xmlns:a16="http://schemas.microsoft.com/office/drawing/2014/main" val="10005"/>
                  </a:ext>
                </a:extLst>
              </a:tr>
              <a:tr h="175260">
                <a:tc>
                  <a:txBody>
                    <a:bodyPr/>
                    <a:lstStyle/>
                    <a:p>
                      <a:pPr algn="l"/>
                      <a:r>
                        <a:rPr sz="1100" b="0" i="0">
                          <a:solidFill>
                            <a:srgbClr val="000000"/>
                          </a:solidFill>
                          <a:latin typeface="Calibri"/>
                        </a:rPr>
                        <a:t>8.5.2.</a:t>
                      </a:r>
                      <a:r>
                        <a:rPr sz="700" b="0" i="0">
                          <a:solidFill>
                            <a:srgbClr val="000000"/>
                          </a:solidFill>
                          <a:latin typeface="Times New Roman"/>
                        </a:rPr>
                        <a:t>   </a:t>
                      </a:r>
                      <a:r>
                        <a:rPr sz="1100" b="0" i="0">
                          <a:solidFill>
                            <a:srgbClr val="000000"/>
                          </a:solidFill>
                          <a:latin typeface="Calibri"/>
                        </a:rPr>
                        <a:t>Pharmaceuticals &amp; Healthcare</a:t>
                      </a:r>
                      <a:endParaRPr sz="1100"/>
                    </a:p>
                  </a:txBody>
                  <a:tcPr marL="771525" marR="9525" marT="9525" marB="0" anchor="ctr"/>
                </a:tc>
                <a:extLst>
                  <a:ext uri="{0D108BD9-81ED-4DB2-BD59-A6C34878D82A}">
                    <a16:rowId xmlns:a16="http://schemas.microsoft.com/office/drawing/2014/main" val="10006"/>
                  </a:ext>
                </a:extLst>
              </a:tr>
              <a:tr h="175260">
                <a:tc>
                  <a:txBody>
                    <a:bodyPr/>
                    <a:lstStyle/>
                    <a:p>
                      <a:pPr algn="l"/>
                      <a:r>
                        <a:rPr sz="1100" b="0" i="0">
                          <a:solidFill>
                            <a:srgbClr val="000000"/>
                          </a:solidFill>
                          <a:latin typeface="Calibri"/>
                        </a:rPr>
                        <a:t>8.5.3.</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extLst>
                  <a:ext uri="{0D108BD9-81ED-4DB2-BD59-A6C34878D82A}">
                    <a16:rowId xmlns:a16="http://schemas.microsoft.com/office/drawing/2014/main" val="10007"/>
                  </a:ext>
                </a:extLst>
              </a:tr>
              <a:tr h="175260">
                <a:tc>
                  <a:txBody>
                    <a:bodyPr/>
                    <a:lstStyle/>
                    <a:p>
                      <a:pPr algn="l"/>
                      <a:r>
                        <a:rPr sz="1100" b="0" i="0">
                          <a:solidFill>
                            <a:srgbClr val="000000"/>
                          </a:solidFill>
                          <a:latin typeface="Calibri"/>
                        </a:rPr>
                        <a:t>8.5.4.</a:t>
                      </a:r>
                      <a:r>
                        <a:rPr sz="700" b="0" i="0">
                          <a:solidFill>
                            <a:srgbClr val="000000"/>
                          </a:solidFill>
                          <a:latin typeface="Times New Roman"/>
                        </a:rPr>
                        <a:t>   </a:t>
                      </a:r>
                      <a:r>
                        <a:rPr sz="1100" b="0" i="0">
                          <a:solidFill>
                            <a:srgbClr val="000000"/>
                          </a:solidFill>
                          <a:latin typeface="Calibri"/>
                        </a:rPr>
                        <a:t>Electronics &amp; Electrical</a:t>
                      </a:r>
                      <a:endParaRPr sz="1100"/>
                    </a:p>
                  </a:txBody>
                  <a:tcPr marL="771525" marR="9525" marT="9525" marB="0" anchor="ctr"/>
                </a:tc>
                <a:extLst>
                  <a:ext uri="{0D108BD9-81ED-4DB2-BD59-A6C34878D82A}">
                    <a16:rowId xmlns:a16="http://schemas.microsoft.com/office/drawing/2014/main" val="10008"/>
                  </a:ext>
                </a:extLst>
              </a:tr>
              <a:tr h="175260">
                <a:tc>
                  <a:txBody>
                    <a:bodyPr/>
                    <a:lstStyle/>
                    <a:p>
                      <a:pPr algn="l"/>
                      <a:r>
                        <a:rPr sz="1100" b="0" i="0">
                          <a:solidFill>
                            <a:srgbClr val="000000"/>
                          </a:solidFill>
                          <a:latin typeface="Calibri"/>
                        </a:rPr>
                        <a:t>8.5.5.</a:t>
                      </a:r>
                      <a:r>
                        <a:rPr sz="700" b="0" i="0">
                          <a:solidFill>
                            <a:srgbClr val="000000"/>
                          </a:solidFill>
                          <a:latin typeface="Times New Roman"/>
                        </a:rPr>
                        <a:t>   </a:t>
                      </a:r>
                      <a:r>
                        <a:rPr sz="1100" b="0" i="0">
                          <a:solidFill>
                            <a:srgbClr val="000000"/>
                          </a:solidFill>
                          <a:latin typeface="Calibri"/>
                        </a:rPr>
                        <a:t>Automotive &amp; Industrial Components</a:t>
                      </a:r>
                      <a:endParaRPr sz="1100"/>
                    </a:p>
                  </a:txBody>
                  <a:tcPr marL="771525" marR="9525" marT="9525" marB="0" anchor="ctr"/>
                </a:tc>
                <a:extLst>
                  <a:ext uri="{0D108BD9-81ED-4DB2-BD59-A6C34878D82A}">
                    <a16:rowId xmlns:a16="http://schemas.microsoft.com/office/drawing/2014/main" val="10009"/>
                  </a:ext>
                </a:extLst>
              </a:tr>
              <a:tr h="175260">
                <a:tc>
                  <a:txBody>
                    <a:bodyPr/>
                    <a:lstStyle/>
                    <a:p>
                      <a:pPr algn="l"/>
                      <a:r>
                        <a:rPr sz="1100" b="0" i="0">
                          <a:solidFill>
                            <a:srgbClr val="000000"/>
                          </a:solidFill>
                          <a:latin typeface="Calibri"/>
                        </a:rPr>
                        <a:t>8.5.6.</a:t>
                      </a:r>
                      <a:r>
                        <a:rPr sz="700" b="0" i="0">
                          <a:solidFill>
                            <a:srgbClr val="000000"/>
                          </a:solidFill>
                          <a:latin typeface="Times New Roman"/>
                        </a:rPr>
                        <a:t>   </a:t>
                      </a:r>
                      <a:r>
                        <a:rPr sz="1100" b="0" i="0">
                          <a:solidFill>
                            <a:srgbClr val="000000"/>
                          </a:solidFill>
                          <a:latin typeface="Calibri"/>
                        </a:rPr>
                        <a:t>Glassware, Ceramics &amp; Home Goods</a:t>
                      </a:r>
                      <a:endParaRPr sz="1100"/>
                    </a:p>
                  </a:txBody>
                  <a:tcPr marL="771525" marR="9525" marT="9525" marB="0" anchor="ctr"/>
                </a:tc>
                <a:extLst>
                  <a:ext uri="{0D108BD9-81ED-4DB2-BD59-A6C34878D82A}">
                    <a16:rowId xmlns:a16="http://schemas.microsoft.com/office/drawing/2014/main" val="10010"/>
                  </a:ext>
                </a:extLst>
              </a:tr>
              <a:tr h="175260">
                <a:tc>
                  <a:txBody>
                    <a:bodyPr/>
                    <a:lstStyle/>
                    <a:p>
                      <a:pPr algn="l"/>
                      <a:r>
                        <a:rPr sz="1100" b="0" i="0">
                          <a:solidFill>
                            <a:srgbClr val="000000"/>
                          </a:solidFill>
                          <a:latin typeface="Calibri"/>
                        </a:rPr>
                        <a:t>8.5.7.</a:t>
                      </a:r>
                      <a:r>
                        <a:rPr sz="700" b="0" i="0">
                          <a:solidFill>
                            <a:srgbClr val="000000"/>
                          </a:solidFill>
                          <a:latin typeface="Times New Roman"/>
                        </a:rPr>
                        <a:t>   </a:t>
                      </a:r>
                      <a:r>
                        <a:rPr sz="1100" b="0" i="0">
                          <a:solidFill>
                            <a:srgbClr val="000000"/>
                          </a:solidFill>
                          <a:latin typeface="Calibri"/>
                        </a:rPr>
                        <a:t>Others</a:t>
                      </a:r>
                      <a:endParaRPr sz="1100"/>
                    </a:p>
                  </a:txBody>
                  <a:tcPr marL="771525" marR="9525" marT="9525" marB="0" anchor="ctr"/>
                </a:tc>
                <a:extLst>
                  <a:ext uri="{0D108BD9-81ED-4DB2-BD59-A6C34878D82A}">
                    <a16:rowId xmlns:a16="http://schemas.microsoft.com/office/drawing/2014/main" val="10011"/>
                  </a:ext>
                </a:extLst>
              </a:tr>
              <a:tr h="175260">
                <a:tc>
                  <a:txBody>
                    <a:bodyPr/>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Global Market (Value- Volume) Analysis 2021–2036, By Sales Channel</a:t>
                      </a:r>
                      <a:endParaRPr sz="1100"/>
                    </a:p>
                  </a:txBody>
                  <a:tcPr marL="171450" marR="9525" marT="9525" marB="0" anchor="ctr"/>
                </a:tc>
                <a:extLst>
                  <a:ext uri="{0D108BD9-81ED-4DB2-BD59-A6C34878D82A}">
                    <a16:rowId xmlns:a16="http://schemas.microsoft.com/office/drawing/2014/main" val="10012"/>
                  </a:ext>
                </a:extLst>
              </a:tr>
              <a:tr h="175260">
                <a:tc>
                  <a:txBody>
                    <a:bodyPr/>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extLst>
                  <a:ext uri="{0D108BD9-81ED-4DB2-BD59-A6C34878D82A}">
                    <a16:rowId xmlns:a16="http://schemas.microsoft.com/office/drawing/2014/main" val="10013"/>
                  </a:ext>
                </a:extLst>
              </a:tr>
              <a:tr h="175260">
                <a:tc>
                  <a:txBody>
                    <a:bodyPr/>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14"/>
                  </a:ext>
                </a:extLst>
              </a:tr>
              <a:tr h="175260">
                <a:tc>
                  <a:txBody>
                    <a:bodyPr/>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15"/>
                  </a:ext>
                </a:extLst>
              </a:tr>
              <a:tr h="175260">
                <a:tc>
                  <a:txBody>
                    <a:bodyPr/>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16"/>
                  </a:ext>
                </a:extLst>
              </a:tr>
              <a:tr h="175260">
                <a:tc>
                  <a:txBody>
                    <a:bodyPr/>
                    <a:lstStyle/>
                    <a:p>
                      <a:pPr algn="l"/>
                      <a:r>
                        <a:rPr sz="1100" b="0" i="0">
                          <a:solidFill>
                            <a:srgbClr val="0070C0"/>
                          </a:solidFill>
                          <a:latin typeface="Calibri"/>
                        </a:rPr>
                        <a:t>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extLst>
                  <a:ext uri="{0D108BD9-81ED-4DB2-BD59-A6C34878D82A}">
                    <a16:rowId xmlns:a16="http://schemas.microsoft.com/office/drawing/2014/main" val="10017"/>
                  </a:ext>
                </a:extLst>
              </a:tr>
              <a:tr h="175260">
                <a:tc>
                  <a:txBody>
                    <a:bodyPr/>
                    <a:lstStyle/>
                    <a:p>
                      <a:pPr algn="l"/>
                      <a:r>
                        <a:rPr sz="1100" b="0" i="0">
                          <a:solidFill>
                            <a:srgbClr val="000000"/>
                          </a:solidFill>
                          <a:latin typeface="Calibri"/>
                        </a:rPr>
                        <a:t>9.5.1.</a:t>
                      </a:r>
                      <a:r>
                        <a:rPr sz="700" b="0" i="0">
                          <a:solidFill>
                            <a:srgbClr val="000000"/>
                          </a:solidFill>
                          <a:latin typeface="Times New Roman"/>
                        </a:rPr>
                        <a:t>   </a:t>
                      </a:r>
                      <a:r>
                        <a:rPr sz="1100" b="0" i="0">
                          <a:solidFill>
                            <a:srgbClr val="000000"/>
                          </a:solidFill>
                          <a:latin typeface="Calibri"/>
                        </a:rPr>
                        <a:t>Direct (to brand owners/OEMs)</a:t>
                      </a:r>
                      <a:endParaRPr sz="1100"/>
                    </a:p>
                  </a:txBody>
                  <a:tcPr marL="7715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0000"/>
                          </a:solidFill>
                          <a:latin typeface="Calibri"/>
                        </a:rPr>
                        <a:t>9.5.2.</a:t>
                      </a:r>
                      <a:r>
                        <a:rPr sz="700" b="0" i="0">
                          <a:solidFill>
                            <a:srgbClr val="000000"/>
                          </a:solidFill>
                          <a:latin typeface="Times New Roman"/>
                        </a:rPr>
                        <a:t>   </a:t>
                      </a:r>
                      <a:r>
                        <a:rPr sz="1100" b="0" i="0">
                          <a:solidFill>
                            <a:srgbClr val="000000"/>
                          </a:solidFill>
                          <a:latin typeface="Calibri"/>
                        </a:rPr>
                        <a:t>Indirect (distributors and packaging merchants)</a:t>
                      </a:r>
                      <a:endParaRPr sz="1100"/>
                    </a:p>
                  </a:txBody>
                  <a:tcPr marL="771525" marR="9525" marT="9525" marB="0" anchor="ctr"/>
                </a:tc>
                <a:extLst>
                  <a:ext uri="{0D108BD9-81ED-4DB2-BD59-A6C34878D82A}">
                    <a16:rowId xmlns:a16="http://schemas.microsoft.com/office/drawing/2014/main" val="10019"/>
                  </a:ext>
                </a:extLst>
              </a:tr>
              <a:tr h="175260">
                <a:tc>
                  <a:txBody>
                    <a:bodyPr/>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extLst>
                  <a:ext uri="{0D108BD9-81ED-4DB2-BD59-A6C34878D82A}">
                    <a16:rowId xmlns:a16="http://schemas.microsoft.com/office/drawing/2014/main" val="10020"/>
                  </a:ext>
                </a:extLst>
              </a:tr>
              <a:tr h="175260">
                <a:tc>
                  <a:txBody>
                    <a:bodyPr/>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extLst>
                  <a:ext uri="{0D108BD9-81ED-4DB2-BD59-A6C34878D82A}">
                    <a16:rowId xmlns:a16="http://schemas.microsoft.com/office/drawing/2014/main" val="10021"/>
                  </a:ext>
                </a:extLst>
              </a:tr>
              <a:tr h="175260">
                <a:tc>
                  <a:txBody>
                    <a:bodyPr/>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22"/>
                  </a:ext>
                </a:extLst>
              </a:tr>
              <a:tr h="175260">
                <a:tc>
                  <a:txBody>
                    <a:bodyPr/>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23"/>
                  </a:ext>
                </a:extLst>
              </a:tr>
              <a:tr h="175260">
                <a:tc>
                  <a:txBody>
                    <a:bodyPr/>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24"/>
                  </a:ext>
                </a:extLst>
              </a:tr>
              <a:tr h="175260">
                <a:tc>
                  <a:txBody>
                    <a:bodyPr/>
                    <a:lstStyle/>
                    <a:p>
                      <a:pPr algn="l"/>
                      <a:r>
                        <a:rPr sz="1100" b="0" i="0">
                          <a:solidFill>
                            <a:srgbClr val="0070C0"/>
                          </a:solidFill>
                          <a:latin typeface="Calibri"/>
                        </a:rPr>
                        <a:t>10.5.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extLst>
                  <a:ext uri="{0D108BD9-81ED-4DB2-BD59-A6C34878D82A}">
                    <a16:rowId xmlns:a16="http://schemas.microsoft.com/office/drawing/2014/main" val="10025"/>
                  </a:ext>
                </a:extLst>
              </a:tr>
              <a:tr h="175260">
                <a:tc>
                  <a:txBody>
                    <a:bodyPr/>
                    <a:lstStyle/>
                    <a:p>
                      <a:pPr algn="l"/>
                      <a:r>
                        <a:rPr sz="1100" b="0" i="0">
                          <a:solidFill>
                            <a:srgbClr val="000000"/>
                          </a:solidFill>
                          <a:latin typeface="Calibri"/>
                        </a:rPr>
                        <a:t>10.5.1.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extLst>
                  <a:ext uri="{0D108BD9-81ED-4DB2-BD59-A6C34878D82A}">
                    <a16:rowId xmlns:a16="http://schemas.microsoft.com/office/drawing/2014/main" val="10026"/>
                  </a:ext>
                </a:extLst>
              </a:tr>
              <a:tr h="175260">
                <a:tc>
                  <a:txBody>
                    <a:bodyPr/>
                    <a:lstStyle/>
                    <a:p>
                      <a:pPr algn="l"/>
                      <a:r>
                        <a:rPr sz="1100" b="0" i="1">
                          <a:solidFill>
                            <a:srgbClr val="000000"/>
                          </a:solidFill>
                          <a:latin typeface="Calibri"/>
                        </a:rPr>
                        <a:t>10.5.1.1.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extLst>
                  <a:ext uri="{0D108BD9-81ED-4DB2-BD59-A6C34878D82A}">
                    <a16:rowId xmlns:a16="http://schemas.microsoft.com/office/drawing/2014/main" val="10027"/>
                  </a:ext>
                </a:extLst>
              </a:tr>
              <a:tr h="175260">
                <a:tc>
                  <a:txBody>
                    <a:bodyPr/>
                    <a:lstStyle/>
                    <a:p>
                      <a:pPr algn="l"/>
                      <a:r>
                        <a:rPr sz="1100" b="0" i="1">
                          <a:solidFill>
                            <a:srgbClr val="000000"/>
                          </a:solidFill>
                          <a:latin typeface="Calibri"/>
                        </a:rPr>
                        <a:t>10.5.1.2.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extLst>
                  <a:ext uri="{0D108BD9-81ED-4DB2-BD59-A6C34878D82A}">
                    <a16:rowId xmlns:a16="http://schemas.microsoft.com/office/drawing/2014/main" val="10028"/>
                  </a:ext>
                </a:extLst>
              </a:tr>
              <a:tr h="175260">
                <a:tc>
                  <a:txBody>
                    <a:bodyPr/>
                    <a:lstStyle/>
                    <a:p>
                      <a:pPr algn="l"/>
                      <a:r>
                        <a:rPr sz="1100" b="0" i="0">
                          <a:solidFill>
                            <a:srgbClr val="000000"/>
                          </a:solidFill>
                          <a:latin typeface="Calibri"/>
                        </a:rPr>
                        <a:t>10.5.2.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extLst>
                  <a:ext uri="{0D108BD9-81ED-4DB2-BD59-A6C34878D82A}">
                    <a16:rowId xmlns:a16="http://schemas.microsoft.com/office/drawing/2014/main" val="10029"/>
                  </a:ext>
                </a:extLst>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1">
                          <a:solidFill>
                            <a:srgbClr val="000000"/>
                          </a:solidFill>
                          <a:latin typeface="Calibri"/>
                        </a:rPr>
                        <a:t>10.5.2.1.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extLst>
                  <a:ext uri="{0D108BD9-81ED-4DB2-BD59-A6C34878D82A}">
                    <a16:rowId xmlns:a16="http://schemas.microsoft.com/office/drawing/2014/main" val="10000"/>
                  </a:ext>
                </a:extLst>
              </a:tr>
              <a:tr h="175260">
                <a:tc>
                  <a:txBody>
                    <a:bodyPr/>
                    <a:lstStyle/>
                    <a:p>
                      <a:pPr algn="l"/>
                      <a:r>
                        <a:rPr sz="1100" b="0" i="1">
                          <a:solidFill>
                            <a:srgbClr val="000000"/>
                          </a:solidFill>
                          <a:latin typeface="Calibri"/>
                        </a:rPr>
                        <a:t>10.5.2.2.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extLst>
                  <a:ext uri="{0D108BD9-81ED-4DB2-BD59-A6C34878D82A}">
                    <a16:rowId xmlns:a16="http://schemas.microsoft.com/office/drawing/2014/main" val="10001"/>
                  </a:ext>
                </a:extLst>
              </a:tr>
              <a:tr h="175260">
                <a:tc>
                  <a:txBody>
                    <a:bodyPr/>
                    <a:lstStyle/>
                    <a:p>
                      <a:pPr algn="l"/>
                      <a:r>
                        <a:rPr sz="1100" b="0" i="1">
                          <a:solidFill>
                            <a:srgbClr val="000000"/>
                          </a:solidFill>
                          <a:latin typeface="Calibri"/>
                        </a:rPr>
                        <a:t>10.5.2.3.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extLst>
                  <a:ext uri="{0D108BD9-81ED-4DB2-BD59-A6C34878D82A}">
                    <a16:rowId xmlns:a16="http://schemas.microsoft.com/office/drawing/2014/main" val="10002"/>
                  </a:ext>
                </a:extLst>
              </a:tr>
              <a:tr h="175260">
                <a:tc>
                  <a:txBody>
                    <a:bodyPr/>
                    <a:lstStyle/>
                    <a:p>
                      <a:pPr algn="l"/>
                      <a:r>
                        <a:rPr sz="1100" b="0" i="0">
                          <a:solidFill>
                            <a:srgbClr val="000000"/>
                          </a:solidFill>
                          <a:latin typeface="Calibri"/>
                        </a:rPr>
                        <a:t>10.5.3.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extLst>
                  <a:ext uri="{0D108BD9-81ED-4DB2-BD59-A6C34878D82A}">
                    <a16:rowId xmlns:a16="http://schemas.microsoft.com/office/drawing/2014/main" val="10003"/>
                  </a:ext>
                </a:extLst>
              </a:tr>
              <a:tr h="175260">
                <a:tc>
                  <a:txBody>
                    <a:bodyPr/>
                    <a:lstStyle/>
                    <a:p>
                      <a:pPr algn="l"/>
                      <a:r>
                        <a:rPr sz="1100" b="0" i="1">
                          <a:solidFill>
                            <a:srgbClr val="000000"/>
                          </a:solidFill>
                          <a:latin typeface="Calibri"/>
                        </a:rPr>
                        <a:t>10.5.3.1.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extLst>
                  <a:ext uri="{0D108BD9-81ED-4DB2-BD59-A6C34878D82A}">
                    <a16:rowId xmlns:a16="http://schemas.microsoft.com/office/drawing/2014/main" val="10004"/>
                  </a:ext>
                </a:extLst>
              </a:tr>
              <a:tr h="175260">
                <a:tc>
                  <a:txBody>
                    <a:bodyPr/>
                    <a:lstStyle/>
                    <a:p>
                      <a:pPr algn="l"/>
                      <a:r>
                        <a:rPr sz="1100" b="0" i="1">
                          <a:solidFill>
                            <a:srgbClr val="000000"/>
                          </a:solidFill>
                          <a:latin typeface="Calibri"/>
                        </a:rPr>
                        <a:t>10.5.3.2.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extLst>
                  <a:ext uri="{0D108BD9-81ED-4DB2-BD59-A6C34878D82A}">
                    <a16:rowId xmlns:a16="http://schemas.microsoft.com/office/drawing/2014/main" val="10005"/>
                  </a:ext>
                </a:extLst>
              </a:tr>
              <a:tr h="175260">
                <a:tc>
                  <a:txBody>
                    <a:bodyPr/>
                    <a:lstStyle/>
                    <a:p>
                      <a:pPr algn="l"/>
                      <a:r>
                        <a:rPr sz="1100" b="0" i="1">
                          <a:solidFill>
                            <a:srgbClr val="000000"/>
                          </a:solidFill>
                          <a:latin typeface="Calibri"/>
                        </a:rPr>
                        <a:t>10.5.3.3.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extLst>
                  <a:ext uri="{0D108BD9-81ED-4DB2-BD59-A6C34878D82A}">
                    <a16:rowId xmlns:a16="http://schemas.microsoft.com/office/drawing/2014/main" val="10006"/>
                  </a:ext>
                </a:extLst>
              </a:tr>
              <a:tr h="175260">
                <a:tc>
                  <a:txBody>
                    <a:bodyPr/>
                    <a:lstStyle/>
                    <a:p>
                      <a:pPr algn="l"/>
                      <a:r>
                        <a:rPr sz="1100" b="0" i="0">
                          <a:solidFill>
                            <a:srgbClr val="000000"/>
                          </a:solidFill>
                          <a:latin typeface="Calibri"/>
                        </a:rPr>
                        <a:t>10.5.4.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extLst>
                  <a:ext uri="{0D108BD9-81ED-4DB2-BD59-A6C34878D82A}">
                    <a16:rowId xmlns:a16="http://schemas.microsoft.com/office/drawing/2014/main" val="10007"/>
                  </a:ext>
                </a:extLst>
              </a:tr>
              <a:tr h="175260">
                <a:tc>
                  <a:txBody>
                    <a:bodyPr/>
                    <a:lstStyle/>
                    <a:p>
                      <a:pPr algn="l"/>
                      <a:r>
                        <a:rPr sz="1100" b="0" i="1">
                          <a:solidFill>
                            <a:srgbClr val="000000"/>
                          </a:solidFill>
                          <a:latin typeface="Calibri"/>
                        </a:rPr>
                        <a:t>10.5.4.1.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extLst>
                  <a:ext uri="{0D108BD9-81ED-4DB2-BD59-A6C34878D82A}">
                    <a16:rowId xmlns:a16="http://schemas.microsoft.com/office/drawing/2014/main" val="10008"/>
                  </a:ext>
                </a:extLst>
              </a:tr>
              <a:tr h="175260">
                <a:tc>
                  <a:txBody>
                    <a:bodyPr/>
                    <a:lstStyle/>
                    <a:p>
                      <a:pPr algn="l"/>
                      <a:r>
                        <a:rPr sz="1100" b="0" i="1">
                          <a:solidFill>
                            <a:srgbClr val="000000"/>
                          </a:solidFill>
                          <a:latin typeface="Calibri"/>
                        </a:rPr>
                        <a:t>10.5.4.2.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extLst>
                  <a:ext uri="{0D108BD9-81ED-4DB2-BD59-A6C34878D82A}">
                    <a16:rowId xmlns:a16="http://schemas.microsoft.com/office/drawing/2014/main" val="10009"/>
                  </a:ext>
                </a:extLst>
              </a:tr>
              <a:tr h="175260">
                <a:tc>
                  <a:txBody>
                    <a:bodyPr/>
                    <a:lstStyle/>
                    <a:p>
                      <a:pPr algn="l"/>
                      <a:r>
                        <a:rPr sz="1100" b="0" i="1">
                          <a:solidFill>
                            <a:srgbClr val="000000"/>
                          </a:solidFill>
                          <a:latin typeface="Calibri"/>
                        </a:rPr>
                        <a:t>10.5.4.3.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extLst>
                  <a:ext uri="{0D108BD9-81ED-4DB2-BD59-A6C34878D82A}">
                    <a16:rowId xmlns:a16="http://schemas.microsoft.com/office/drawing/2014/main" val="10010"/>
                  </a:ext>
                </a:extLst>
              </a:tr>
              <a:tr h="175260">
                <a:tc>
                  <a:txBody>
                    <a:bodyPr/>
                    <a:lstStyle/>
                    <a:p>
                      <a:pPr algn="l"/>
                      <a:r>
                        <a:rPr sz="1100" b="0" i="1">
                          <a:solidFill>
                            <a:srgbClr val="000000"/>
                          </a:solidFill>
                          <a:latin typeface="Calibri"/>
                        </a:rPr>
                        <a:t>10.5.4.4.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extLst>
                  <a:ext uri="{0D108BD9-81ED-4DB2-BD59-A6C34878D82A}">
                    <a16:rowId xmlns:a16="http://schemas.microsoft.com/office/drawing/2014/main" val="10011"/>
                  </a:ext>
                </a:extLst>
              </a:tr>
              <a:tr h="175260">
                <a:tc>
                  <a:txBody>
                    <a:bodyPr/>
                    <a:lstStyle/>
                    <a:p>
                      <a:pPr algn="l"/>
                      <a:r>
                        <a:rPr sz="1100" b="0" i="1">
                          <a:solidFill>
                            <a:srgbClr val="000000"/>
                          </a:solidFill>
                          <a:latin typeface="Calibri"/>
                        </a:rPr>
                        <a:t>10.5.4.5.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extLst>
                  <a:ext uri="{0D108BD9-81ED-4DB2-BD59-A6C34878D82A}">
                    <a16:rowId xmlns:a16="http://schemas.microsoft.com/office/drawing/2014/main" val="10012"/>
                  </a:ext>
                </a:extLst>
              </a:tr>
              <a:tr h="175260">
                <a:tc>
                  <a:txBody>
                    <a:bodyPr/>
                    <a:lstStyle/>
                    <a:p>
                      <a:pPr algn="l"/>
                      <a:r>
                        <a:rPr sz="1100" b="0" i="1">
                          <a:solidFill>
                            <a:srgbClr val="000000"/>
                          </a:solidFill>
                          <a:latin typeface="Calibri"/>
                        </a:rPr>
                        <a:t>10.5.4.6.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extLst>
                  <a:ext uri="{0D108BD9-81ED-4DB2-BD59-A6C34878D82A}">
                    <a16:rowId xmlns:a16="http://schemas.microsoft.com/office/drawing/2014/main" val="10013"/>
                  </a:ext>
                </a:extLst>
              </a:tr>
              <a:tr h="175260">
                <a:tc>
                  <a:txBody>
                    <a:bodyPr/>
                    <a:lstStyle/>
                    <a:p>
                      <a:pPr algn="l"/>
                      <a:r>
                        <a:rPr sz="1100" b="0" i="1">
                          <a:solidFill>
                            <a:srgbClr val="000000"/>
                          </a:solidFill>
                          <a:latin typeface="Calibri"/>
                        </a:rPr>
                        <a:t>10.5.4.7.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extLst>
                  <a:ext uri="{0D108BD9-81ED-4DB2-BD59-A6C34878D82A}">
                    <a16:rowId xmlns:a16="http://schemas.microsoft.com/office/drawing/2014/main" val="10014"/>
                  </a:ext>
                </a:extLst>
              </a:tr>
              <a:tr h="175260">
                <a:tc>
                  <a:txBody>
                    <a:bodyPr/>
                    <a:lstStyle/>
                    <a:p>
                      <a:pPr algn="l"/>
                      <a:r>
                        <a:rPr sz="1100" b="0" i="1">
                          <a:solidFill>
                            <a:srgbClr val="000000"/>
                          </a:solidFill>
                          <a:latin typeface="Calibri"/>
                        </a:rPr>
                        <a:t>10.5.4.8.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extLst>
                  <a:ext uri="{0D108BD9-81ED-4DB2-BD59-A6C34878D82A}">
                    <a16:rowId xmlns:a16="http://schemas.microsoft.com/office/drawing/2014/main" val="10015"/>
                  </a:ext>
                </a:extLst>
              </a:tr>
              <a:tr h="175260">
                <a:tc>
                  <a:txBody>
                    <a:bodyPr/>
                    <a:lstStyle/>
                    <a:p>
                      <a:pPr algn="l"/>
                      <a:r>
                        <a:rPr sz="1100" b="0" i="1">
                          <a:solidFill>
                            <a:srgbClr val="000000"/>
                          </a:solidFill>
                          <a:latin typeface="Calibri"/>
                        </a:rPr>
                        <a:t>10.5.4.9.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extLst>
                  <a:ext uri="{0D108BD9-81ED-4DB2-BD59-A6C34878D82A}">
                    <a16:rowId xmlns:a16="http://schemas.microsoft.com/office/drawing/2014/main" val="10016"/>
                  </a:ext>
                </a:extLst>
              </a:tr>
              <a:tr h="175260">
                <a:tc>
                  <a:txBody>
                    <a:bodyPr/>
                    <a:lstStyle/>
                    <a:p>
                      <a:pPr algn="l"/>
                      <a:r>
                        <a:rPr sz="1100" b="0" i="0">
                          <a:solidFill>
                            <a:srgbClr val="000000"/>
                          </a:solidFill>
                          <a:latin typeface="Calibri"/>
                        </a:rPr>
                        <a:t>10.5.5.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extLst>
                  <a:ext uri="{0D108BD9-81ED-4DB2-BD59-A6C34878D82A}">
                    <a16:rowId xmlns:a16="http://schemas.microsoft.com/office/drawing/2014/main" val="10017"/>
                  </a:ext>
                </a:extLst>
              </a:tr>
              <a:tr h="175260">
                <a:tc>
                  <a:txBody>
                    <a:bodyPr/>
                    <a:lstStyle/>
                    <a:p>
                      <a:pPr algn="l"/>
                      <a:r>
                        <a:rPr sz="1100" b="0" i="1">
                          <a:solidFill>
                            <a:srgbClr val="000000"/>
                          </a:solidFill>
                          <a:latin typeface="Calibri"/>
                        </a:rPr>
                        <a:t>10.5.5.1.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extLst>
                  <a:ext uri="{0D108BD9-81ED-4DB2-BD59-A6C34878D82A}">
                    <a16:rowId xmlns:a16="http://schemas.microsoft.com/office/drawing/2014/main" val="10018"/>
                  </a:ext>
                </a:extLst>
              </a:tr>
              <a:tr h="175260">
                <a:tc>
                  <a:txBody>
                    <a:bodyPr/>
                    <a:lstStyle/>
                    <a:p>
                      <a:pPr algn="l"/>
                      <a:r>
                        <a:rPr sz="1100" b="0" i="1">
                          <a:solidFill>
                            <a:srgbClr val="000000"/>
                          </a:solidFill>
                          <a:latin typeface="Calibri"/>
                        </a:rPr>
                        <a:t>10.5.5.2.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extLst>
                  <a:ext uri="{0D108BD9-81ED-4DB2-BD59-A6C34878D82A}">
                    <a16:rowId xmlns:a16="http://schemas.microsoft.com/office/drawing/2014/main" val="10019"/>
                  </a:ext>
                </a:extLst>
              </a:tr>
              <a:tr h="175260">
                <a:tc>
                  <a:txBody>
                    <a:bodyPr/>
                    <a:lstStyle/>
                    <a:p>
                      <a:pPr algn="l"/>
                      <a:r>
                        <a:rPr sz="1100" b="0" i="1">
                          <a:solidFill>
                            <a:srgbClr val="000000"/>
                          </a:solidFill>
                          <a:latin typeface="Calibri"/>
                        </a:rPr>
                        <a:t>10.5.5.3.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extLst>
                  <a:ext uri="{0D108BD9-81ED-4DB2-BD59-A6C34878D82A}">
                    <a16:rowId xmlns:a16="http://schemas.microsoft.com/office/drawing/2014/main" val="10020"/>
                  </a:ext>
                </a:extLst>
              </a:tr>
              <a:tr h="175260">
                <a:tc>
                  <a:txBody>
                    <a:bodyPr/>
                    <a:lstStyle/>
                    <a:p>
                      <a:pPr algn="l"/>
                      <a:r>
                        <a:rPr sz="1100" b="0" i="1">
                          <a:solidFill>
                            <a:srgbClr val="000000"/>
                          </a:solidFill>
                          <a:latin typeface="Calibri"/>
                        </a:rPr>
                        <a:t>10.5.5.4.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extLst>
                  <a:ext uri="{0D108BD9-81ED-4DB2-BD59-A6C34878D82A}">
                    <a16:rowId xmlns:a16="http://schemas.microsoft.com/office/drawing/2014/main" val="10021"/>
                  </a:ext>
                </a:extLst>
              </a:tr>
              <a:tr h="175260">
                <a:tc>
                  <a:txBody>
                    <a:bodyPr/>
                    <a:lstStyle/>
                    <a:p>
                      <a:pPr algn="l"/>
                      <a:r>
                        <a:rPr sz="1100" b="0" i="1">
                          <a:solidFill>
                            <a:srgbClr val="000000"/>
                          </a:solidFill>
                          <a:latin typeface="Calibri"/>
                        </a:rPr>
                        <a:t>10.5.5.5.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extLst>
                  <a:ext uri="{0D108BD9-81ED-4DB2-BD59-A6C34878D82A}">
                    <a16:rowId xmlns:a16="http://schemas.microsoft.com/office/drawing/2014/main" val="10022"/>
                  </a:ext>
                </a:extLst>
              </a:tr>
              <a:tr h="175260">
                <a:tc>
                  <a:txBody>
                    <a:bodyPr/>
                    <a:lstStyle/>
                    <a:p>
                      <a:pPr algn="l"/>
                      <a:r>
                        <a:rPr sz="1100" b="0" i="1">
                          <a:solidFill>
                            <a:srgbClr val="000000"/>
                          </a:solidFill>
                          <a:latin typeface="Calibri"/>
                        </a:rPr>
                        <a:t>10.5.5.6.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extLst>
                  <a:ext uri="{0D108BD9-81ED-4DB2-BD59-A6C34878D82A}">
                    <a16:rowId xmlns:a16="http://schemas.microsoft.com/office/drawing/2014/main" val="10023"/>
                  </a:ext>
                </a:extLst>
              </a:tr>
              <a:tr h="175260">
                <a:tc>
                  <a:txBody>
                    <a:bodyPr/>
                    <a:lstStyle/>
                    <a:p>
                      <a:pPr algn="l"/>
                      <a:r>
                        <a:rPr sz="1100" b="0" i="1">
                          <a:solidFill>
                            <a:srgbClr val="000000"/>
                          </a:solidFill>
                          <a:latin typeface="Calibri"/>
                        </a:rPr>
                        <a:t>10.5.5.7.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extLst>
                  <a:ext uri="{0D108BD9-81ED-4DB2-BD59-A6C34878D82A}">
                    <a16:rowId xmlns:a16="http://schemas.microsoft.com/office/drawing/2014/main" val="10024"/>
                  </a:ext>
                </a:extLst>
              </a:tr>
              <a:tr h="175260">
                <a:tc>
                  <a:txBody>
                    <a:bodyPr/>
                    <a:lstStyle/>
                    <a:p>
                      <a:pPr algn="l"/>
                      <a:r>
                        <a:rPr sz="1100" b="0" i="1">
                          <a:solidFill>
                            <a:srgbClr val="000000"/>
                          </a:solidFill>
                          <a:latin typeface="Calibri"/>
                        </a:rPr>
                        <a:t>10.5.5.8.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extLst>
                  <a:ext uri="{0D108BD9-81ED-4DB2-BD59-A6C34878D82A}">
                    <a16:rowId xmlns:a16="http://schemas.microsoft.com/office/drawing/2014/main" val="10025"/>
                  </a:ext>
                </a:extLst>
              </a:tr>
              <a:tr h="175260">
                <a:tc>
                  <a:txBody>
                    <a:bodyPr/>
                    <a:lstStyle/>
                    <a:p>
                      <a:pPr algn="l"/>
                      <a:r>
                        <a:rPr sz="1100" b="0" i="1">
                          <a:solidFill>
                            <a:srgbClr val="000000"/>
                          </a:solidFill>
                          <a:latin typeface="Calibri"/>
                        </a:rPr>
                        <a:t>10.5.5.9.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extLst>
                  <a:ext uri="{0D108BD9-81ED-4DB2-BD59-A6C34878D82A}">
                    <a16:rowId xmlns:a16="http://schemas.microsoft.com/office/drawing/2014/main" val="10026"/>
                  </a:ext>
                </a:extLst>
              </a:tr>
              <a:tr h="175260">
                <a:tc>
                  <a:txBody>
                    <a:bodyPr/>
                    <a:lstStyle/>
                    <a:p>
                      <a:pPr algn="l"/>
                      <a:r>
                        <a:rPr sz="1100" b="0" i="1">
                          <a:solidFill>
                            <a:srgbClr val="000000"/>
                          </a:solidFill>
                          <a:latin typeface="Calibri"/>
                        </a:rPr>
                        <a:t>10.5.5.10.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extLst>
                  <a:ext uri="{0D108BD9-81ED-4DB2-BD59-A6C34878D82A}">
                    <a16:rowId xmlns:a16="http://schemas.microsoft.com/office/drawing/2014/main" val="10027"/>
                  </a:ext>
                </a:extLst>
              </a:tr>
              <a:tr h="175260">
                <a:tc>
                  <a:txBody>
                    <a:bodyPr/>
                    <a:lstStyle/>
                    <a:p>
                      <a:pPr algn="l"/>
                      <a:r>
                        <a:rPr sz="1100" b="0" i="1">
                          <a:solidFill>
                            <a:srgbClr val="000000"/>
                          </a:solidFill>
                          <a:latin typeface="Calibri"/>
                        </a:rPr>
                        <a:t>10.5.5.11.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extLst>
                  <a:ext uri="{0D108BD9-81ED-4DB2-BD59-A6C34878D82A}">
                    <a16:rowId xmlns:a16="http://schemas.microsoft.com/office/drawing/2014/main" val="10028"/>
                  </a:ext>
                </a:extLst>
              </a:tr>
              <a:tr h="175260">
                <a:tc>
                  <a:txBody>
                    <a:bodyPr/>
                    <a:lstStyle/>
                    <a:p>
                      <a:pPr algn="l"/>
                      <a:r>
                        <a:rPr sz="1100" b="0" i="1">
                          <a:solidFill>
                            <a:srgbClr val="000000"/>
                          </a:solidFill>
                          <a:latin typeface="Calibri"/>
                        </a:rPr>
                        <a:t>10.5.5.12.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extLst>
                  <a:ext uri="{0D108BD9-81ED-4DB2-BD59-A6C34878D82A}">
                    <a16:rowId xmlns:a16="http://schemas.microsoft.com/office/drawing/2014/main" val="10029"/>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Table of Contents (3/7)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0">
                          <a:solidFill>
                            <a:srgbClr val="000000"/>
                          </a:solidFill>
                          <a:latin typeface="Calibri"/>
                        </a:rPr>
                        <a:t>10.5.6.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extLst>
                  <a:ext uri="{0D108BD9-81ED-4DB2-BD59-A6C34878D82A}">
                    <a16:rowId xmlns:a16="http://schemas.microsoft.com/office/drawing/2014/main" val="10000"/>
                  </a:ext>
                </a:extLst>
              </a:tr>
              <a:tr h="175260">
                <a:tc>
                  <a:txBody>
                    <a:bodyPr/>
                    <a:lstStyle/>
                    <a:p>
                      <a:pPr algn="l"/>
                      <a:r>
                        <a:rPr sz="1100" b="0" i="1">
                          <a:solidFill>
                            <a:srgbClr val="000000"/>
                          </a:solidFill>
                          <a:latin typeface="Calibri"/>
                        </a:rPr>
                        <a:t>10.5.6.1.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extLst>
                  <a:ext uri="{0D108BD9-81ED-4DB2-BD59-A6C34878D82A}">
                    <a16:rowId xmlns:a16="http://schemas.microsoft.com/office/drawing/2014/main" val="10001"/>
                  </a:ext>
                </a:extLst>
              </a:tr>
              <a:tr h="175260">
                <a:tc>
                  <a:txBody>
                    <a:bodyPr/>
                    <a:lstStyle/>
                    <a:p>
                      <a:pPr algn="l"/>
                      <a:r>
                        <a:rPr sz="1100" b="0" i="1">
                          <a:solidFill>
                            <a:srgbClr val="000000"/>
                          </a:solidFill>
                          <a:latin typeface="Calibri"/>
                        </a:rPr>
                        <a:t>10.5.6.2.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extLst>
                  <a:ext uri="{0D108BD9-81ED-4DB2-BD59-A6C34878D82A}">
                    <a16:rowId xmlns:a16="http://schemas.microsoft.com/office/drawing/2014/main" val="10002"/>
                  </a:ext>
                </a:extLst>
              </a:tr>
              <a:tr h="175260">
                <a:tc>
                  <a:txBody>
                    <a:bodyPr/>
                    <a:lstStyle/>
                    <a:p>
                      <a:pPr algn="l"/>
                      <a:r>
                        <a:rPr sz="1100" b="0" i="1">
                          <a:solidFill>
                            <a:srgbClr val="000000"/>
                          </a:solidFill>
                          <a:latin typeface="Calibri"/>
                        </a:rPr>
                        <a:t>10.5.6.3.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extLst>
                  <a:ext uri="{0D108BD9-81ED-4DB2-BD59-A6C34878D82A}">
                    <a16:rowId xmlns:a16="http://schemas.microsoft.com/office/drawing/2014/main" val="10003"/>
                  </a:ext>
                </a:extLst>
              </a:tr>
              <a:tr h="175260">
                <a:tc>
                  <a:txBody>
                    <a:bodyPr/>
                    <a:lstStyle/>
                    <a:p>
                      <a:pPr algn="l"/>
                      <a:r>
                        <a:rPr sz="1100" b="0" i="1">
                          <a:solidFill>
                            <a:srgbClr val="000000"/>
                          </a:solidFill>
                          <a:latin typeface="Calibri"/>
                        </a:rPr>
                        <a:t>10.5.6.4.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extLst>
                  <a:ext uri="{0D108BD9-81ED-4DB2-BD59-A6C34878D82A}">
                    <a16:rowId xmlns:a16="http://schemas.microsoft.com/office/drawing/2014/main" val="10004"/>
                  </a:ext>
                </a:extLst>
              </a:tr>
              <a:tr h="175260">
                <a:tc>
                  <a:txBody>
                    <a:bodyPr/>
                    <a:lstStyle/>
                    <a:p>
                      <a:pPr algn="l"/>
                      <a:r>
                        <a:rPr sz="1100" b="0" i="1">
                          <a:solidFill>
                            <a:srgbClr val="000000"/>
                          </a:solidFill>
                          <a:latin typeface="Calibri"/>
                        </a:rPr>
                        <a:t>10.5.6.5.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extLst>
                  <a:ext uri="{0D108BD9-81ED-4DB2-BD59-A6C34878D82A}">
                    <a16:rowId xmlns:a16="http://schemas.microsoft.com/office/drawing/2014/main" val="10005"/>
                  </a:ext>
                </a:extLst>
              </a:tr>
              <a:tr h="175260">
                <a:tc>
                  <a:txBody>
                    <a:bodyPr/>
                    <a:lstStyle/>
                    <a:p>
                      <a:pPr algn="l"/>
                      <a:r>
                        <a:rPr sz="1100" b="0" i="1">
                          <a:solidFill>
                            <a:srgbClr val="000000"/>
                          </a:solidFill>
                          <a:latin typeface="Calibri"/>
                        </a:rPr>
                        <a:t>10.5.6.6.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extLst>
                  <a:ext uri="{0D108BD9-81ED-4DB2-BD59-A6C34878D82A}">
                    <a16:rowId xmlns:a16="http://schemas.microsoft.com/office/drawing/2014/main" val="10006"/>
                  </a:ext>
                </a:extLst>
              </a:tr>
              <a:tr h="175260">
                <a:tc>
                  <a:txBody>
                    <a:bodyPr/>
                    <a:lstStyle/>
                    <a:p>
                      <a:pPr algn="l"/>
                      <a:r>
                        <a:rPr sz="1100" b="0" i="1">
                          <a:solidFill>
                            <a:srgbClr val="000000"/>
                          </a:solidFill>
                          <a:latin typeface="Calibri"/>
                        </a:rPr>
                        <a:t>10.5.6.7.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extLst>
                  <a:ext uri="{0D108BD9-81ED-4DB2-BD59-A6C34878D82A}">
                    <a16:rowId xmlns:a16="http://schemas.microsoft.com/office/drawing/2014/main" val="10007"/>
                  </a:ext>
                </a:extLst>
              </a:tr>
              <a:tr h="175260">
                <a:tc>
                  <a:txBody>
                    <a:bodyPr/>
                    <a:lstStyle/>
                    <a:p>
                      <a:pPr algn="l"/>
                      <a:r>
                        <a:rPr sz="1100" b="0" i="1">
                          <a:solidFill>
                            <a:srgbClr val="EE0000"/>
                          </a:solidFill>
                          <a:latin typeface="Calibri"/>
                        </a:rPr>
                        <a:t>Note: Value &amp; Volume (US$ Mn / MT) for all segments will be provided for each region/ Country</a:t>
                      </a:r>
                      <a:endParaRPr sz="1100"/>
                    </a:p>
                  </a:txBody>
                  <a:tcPr marL="9525" marR="9525" marT="9525" marB="0" anchor="ctr"/>
                </a:tc>
                <a:extLst>
                  <a:ext uri="{0D108BD9-81ED-4DB2-BD59-A6C34878D82A}">
                    <a16:rowId xmlns:a16="http://schemas.microsoft.com/office/drawing/2014/main" val="10008"/>
                  </a:ext>
                </a:extLst>
              </a:tr>
              <a:tr h="175260">
                <a:tc>
                  <a:txBody>
                    <a:bodyPr/>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extLst>
                  <a:ext uri="{0D108BD9-81ED-4DB2-BD59-A6C34878D82A}">
                    <a16:rowId xmlns:a16="http://schemas.microsoft.com/office/drawing/2014/main" val="10009"/>
                  </a:ext>
                </a:extLst>
              </a:tr>
              <a:tr h="175260">
                <a:tc>
                  <a:txBody>
                    <a:bodyPr/>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Partition Type X End Use</a:t>
                      </a:r>
                      <a:endParaRPr sz="1100"/>
                    </a:p>
                  </a:txBody>
                  <a:tcPr marL="428625" marR="9525" marT="9525" marB="0" anchor="ctr"/>
                </a:tc>
                <a:extLst>
                  <a:ext uri="{0D108BD9-81ED-4DB2-BD59-A6C34878D82A}">
                    <a16:rowId xmlns:a16="http://schemas.microsoft.com/office/drawing/2014/main" val="10010"/>
                  </a:ext>
                </a:extLst>
              </a:tr>
              <a:tr h="175260">
                <a:tc>
                  <a:txBody>
                    <a:bodyPr/>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Board Configuration X End Use</a:t>
                      </a:r>
                      <a:endParaRPr sz="1100"/>
                    </a:p>
                  </a:txBody>
                  <a:tcPr marL="428625" marR="9525" marT="9525" marB="0" anchor="ctr"/>
                </a:tc>
                <a:extLst>
                  <a:ext uri="{0D108BD9-81ED-4DB2-BD59-A6C34878D82A}">
                    <a16:rowId xmlns:a16="http://schemas.microsoft.com/office/drawing/2014/main" val="10011"/>
                  </a:ext>
                </a:extLst>
              </a:tr>
              <a:tr h="175260">
                <a:tc>
                  <a:txBody>
                    <a:bodyPr/>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Cell Configuration X End Use</a:t>
                      </a:r>
                      <a:endParaRPr sz="1100"/>
                    </a:p>
                  </a:txBody>
                  <a:tcPr marL="428625" marR="9525" marT="9525" marB="0" anchor="ctr"/>
                </a:tc>
                <a:extLst>
                  <a:ext uri="{0D108BD9-81ED-4DB2-BD59-A6C34878D82A}">
                    <a16:rowId xmlns:a16="http://schemas.microsoft.com/office/drawing/2014/main" val="10012"/>
                  </a:ext>
                </a:extLst>
              </a:tr>
              <a:tr h="175260">
                <a:tc>
                  <a:txBody>
                    <a:bodyPr/>
                    <a:lstStyle/>
                    <a:p>
                      <a:pPr algn="l"/>
                      <a:r>
                        <a:rPr sz="1100" b="0" i="1">
                          <a:solidFill>
                            <a:srgbClr val="EE0000"/>
                          </a:solidFill>
                          <a:latin typeface="Calibri"/>
                        </a:rPr>
                        <a:t>Note: Cross Sectional Assessment shall be provided on custom request</a:t>
                      </a:r>
                      <a:endParaRPr sz="1100"/>
                    </a:p>
                  </a:txBody>
                  <a:tcPr marL="9525" marR="9525" marT="9525" marB="0" anchor="ctr"/>
                </a:tc>
                <a:extLst>
                  <a:ext uri="{0D108BD9-81ED-4DB2-BD59-A6C34878D82A}">
                    <a16:rowId xmlns:a16="http://schemas.microsoft.com/office/drawing/2014/main" val="10013"/>
                  </a:ext>
                </a:extLst>
              </a:tr>
              <a:tr h="175260">
                <a:tc>
                  <a:txBody>
                    <a:bodyPr/>
                    <a:lstStyle/>
                    <a:p>
                      <a:pPr algn="l"/>
                      <a:r>
                        <a:rPr sz="1100" b="1" i="0">
                          <a:solidFill>
                            <a:srgbClr val="000000"/>
                          </a:solidFill>
                          <a:latin typeface="Calibri"/>
                        </a:rPr>
                        <a:t>Section 2: Regional and Country Market Outlook</a:t>
                      </a:r>
                      <a:endParaRPr sz="1100"/>
                    </a:p>
                  </a:txBody>
                  <a:tcPr marL="9525" marR="9525" marT="9525" marB="0" anchor="ctr"/>
                </a:tc>
                <a:extLst>
                  <a:ext uri="{0D108BD9-81ED-4DB2-BD59-A6C34878D82A}">
                    <a16:rowId xmlns:a16="http://schemas.microsoft.com/office/drawing/2014/main" val="10014"/>
                  </a:ext>
                </a:extLst>
              </a:tr>
              <a:tr h="175260">
                <a:tc>
                  <a:txBody>
                    <a:bodyPr/>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extLst>
                  <a:ext uri="{0D108BD9-81ED-4DB2-BD59-A6C34878D82A}">
                    <a16:rowId xmlns:a16="http://schemas.microsoft.com/office/drawing/2014/main" val="10015"/>
                  </a:ext>
                </a:extLst>
              </a:tr>
              <a:tr h="175260">
                <a:tc>
                  <a:txBody>
                    <a:bodyPr/>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16"/>
                  </a:ext>
                </a:extLst>
              </a:tr>
              <a:tr h="175260">
                <a:tc>
                  <a:txBody>
                    <a:bodyPr/>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17"/>
                  </a:ext>
                </a:extLst>
              </a:tr>
              <a:tr h="175260">
                <a:tc>
                  <a:txBody>
                    <a:bodyPr/>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extLst>
                  <a:ext uri="{0D108BD9-81ED-4DB2-BD59-A6C34878D82A}">
                    <a16:rowId xmlns:a16="http://schemas.microsoft.com/office/drawing/2014/main" val="10019"/>
                  </a:ext>
                </a:extLst>
              </a:tr>
              <a:tr h="175260">
                <a:tc>
                  <a:txBody>
                    <a:bodyPr/>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extLst>
                  <a:ext uri="{0D108BD9-81ED-4DB2-BD59-A6C34878D82A}">
                    <a16:rowId xmlns:a16="http://schemas.microsoft.com/office/drawing/2014/main" val="10020"/>
                  </a:ext>
                </a:extLst>
              </a:tr>
              <a:tr h="175260">
                <a:tc>
                  <a:txBody>
                    <a:bodyPr/>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extLst>
                  <a:ext uri="{0D108BD9-81ED-4DB2-BD59-A6C34878D82A}">
                    <a16:rowId xmlns:a16="http://schemas.microsoft.com/office/drawing/2014/main" val="10021"/>
                  </a:ext>
                </a:extLst>
              </a:tr>
              <a:tr h="175260">
                <a:tc>
                  <a:txBody>
                    <a:bodyPr/>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extLst>
                  <a:ext uri="{0D108BD9-81ED-4DB2-BD59-A6C34878D82A}">
                    <a16:rowId xmlns:a16="http://schemas.microsoft.com/office/drawing/2014/main" val="10022"/>
                  </a:ext>
                </a:extLst>
              </a:tr>
              <a:tr h="175260">
                <a:tc>
                  <a:txBody>
                    <a:bodyPr/>
                    <a:lstStyle/>
                    <a:p>
                      <a:pPr algn="l"/>
                      <a:r>
                        <a:rPr sz="1100" b="0" i="0">
                          <a:solidFill>
                            <a:srgbClr val="000000"/>
                          </a:solidFill>
                          <a:latin typeface="Calibri"/>
                        </a:rPr>
                        <a:t>12.4.4.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extLst>
                  <a:ext uri="{0D108BD9-81ED-4DB2-BD59-A6C34878D82A}">
                    <a16:rowId xmlns:a16="http://schemas.microsoft.com/office/drawing/2014/main" val="10023"/>
                  </a:ext>
                </a:extLst>
              </a:tr>
              <a:tr h="175260">
                <a:tc>
                  <a:txBody>
                    <a:bodyPr/>
                    <a:lstStyle/>
                    <a:p>
                      <a:pPr algn="l"/>
                      <a:r>
                        <a:rPr sz="1100" b="0" i="0">
                          <a:solidFill>
                            <a:srgbClr val="000000"/>
                          </a:solidFill>
                          <a:latin typeface="Calibri"/>
                        </a:rPr>
                        <a:t>12.4.5.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extLst>
                  <a:ext uri="{0D108BD9-81ED-4DB2-BD59-A6C34878D82A}">
                    <a16:rowId xmlns:a16="http://schemas.microsoft.com/office/drawing/2014/main" val="10024"/>
                  </a:ext>
                </a:extLst>
              </a:tr>
              <a:tr h="175260">
                <a:tc>
                  <a:txBody>
                    <a:bodyPr/>
                    <a:lstStyle/>
                    <a:p>
                      <a:pPr algn="l"/>
                      <a:r>
                        <a:rPr sz="1100" b="0" i="0">
                          <a:solidFill>
                            <a:srgbClr val="000000"/>
                          </a:solidFill>
                          <a:latin typeface="Calibri"/>
                        </a:rPr>
                        <a:t>12.4.6.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extLst>
                  <a:ext uri="{0D108BD9-81ED-4DB2-BD59-A6C34878D82A}">
                    <a16:rowId xmlns:a16="http://schemas.microsoft.com/office/drawing/2014/main" val="10025"/>
                  </a:ext>
                </a:extLst>
              </a:tr>
              <a:tr h="175260">
                <a:tc>
                  <a:txBody>
                    <a:bodyPr/>
                    <a:lstStyle/>
                    <a:p>
                      <a:pPr algn="l"/>
                      <a:r>
                        <a:rPr sz="1100" b="0" i="0">
                          <a:solidFill>
                            <a:srgbClr val="000000"/>
                          </a:solidFill>
                          <a:latin typeface="Calibri"/>
                        </a:rPr>
                        <a:t>12.4.7.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extLst>
                  <a:ext uri="{0D108BD9-81ED-4DB2-BD59-A6C34878D82A}">
                    <a16:rowId xmlns:a16="http://schemas.microsoft.com/office/drawing/2014/main" val="10026"/>
                  </a:ext>
                </a:extLst>
              </a:tr>
              <a:tr h="175260">
                <a:tc>
                  <a:txBody>
                    <a:bodyPr/>
                    <a:lstStyle/>
                    <a:p>
                      <a:pPr algn="l"/>
                      <a:r>
                        <a:rPr sz="1100" b="0" i="0">
                          <a:solidFill>
                            <a:srgbClr val="000000"/>
                          </a:solidFill>
                          <a:latin typeface="Calibri"/>
                        </a:rPr>
                        <a:t>12.4.8.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extLst>
                  <a:ext uri="{0D108BD9-81ED-4DB2-BD59-A6C34878D82A}">
                    <a16:rowId xmlns:a16="http://schemas.microsoft.com/office/drawing/2014/main" val="10027"/>
                  </a:ext>
                </a:extLst>
              </a:tr>
              <a:tr h="175260">
                <a:tc>
                  <a:txBody>
                    <a:bodyPr/>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extLst>
                  <a:ext uri="{0D108BD9-81ED-4DB2-BD59-A6C34878D82A}">
                    <a16:rowId xmlns:a16="http://schemas.microsoft.com/office/drawing/2014/main" val="10028"/>
                  </a:ext>
                </a:extLst>
              </a:tr>
              <a:tr h="175260">
                <a:tc>
                  <a:txBody>
                    <a:bodyPr/>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29"/>
                  </a:ext>
                </a:extLst>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00"/>
                  </a:ext>
                </a:extLst>
              </a:tr>
              <a:tr h="175260">
                <a:tc>
                  <a:txBody>
                    <a:bodyPr/>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01"/>
                  </a:ext>
                </a:extLst>
              </a:tr>
              <a:tr h="175260">
                <a:tc>
                  <a:txBody>
                    <a:bodyPr/>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extLst>
                  <a:ext uri="{0D108BD9-81ED-4DB2-BD59-A6C34878D82A}">
                    <a16:rowId xmlns:a16="http://schemas.microsoft.com/office/drawing/2014/main" val="10002"/>
                  </a:ext>
                </a:extLst>
              </a:tr>
              <a:tr h="175260">
                <a:tc>
                  <a:txBody>
                    <a:bodyPr/>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extLst>
                  <a:ext uri="{0D108BD9-81ED-4DB2-BD59-A6C34878D82A}">
                    <a16:rowId xmlns:a16="http://schemas.microsoft.com/office/drawing/2014/main" val="10003"/>
                  </a:ext>
                </a:extLst>
              </a:tr>
              <a:tr h="175260">
                <a:tc>
                  <a:txBody>
                    <a:bodyPr/>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extLst>
                  <a:ext uri="{0D108BD9-81ED-4DB2-BD59-A6C34878D82A}">
                    <a16:rowId xmlns:a16="http://schemas.microsoft.com/office/drawing/2014/main" val="10004"/>
                  </a:ext>
                </a:extLst>
              </a:tr>
              <a:tr h="175260">
                <a:tc>
                  <a:txBody>
                    <a:bodyPr/>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extLst>
                  <a:ext uri="{0D108BD9-81ED-4DB2-BD59-A6C34878D82A}">
                    <a16:rowId xmlns:a16="http://schemas.microsoft.com/office/drawing/2014/main" val="10005"/>
                  </a:ext>
                </a:extLst>
              </a:tr>
              <a:tr h="175260">
                <a:tc>
                  <a:txBody>
                    <a:bodyPr/>
                    <a:lstStyle/>
                    <a:p>
                      <a:pPr algn="l"/>
                      <a:r>
                        <a:rPr sz="1100" b="0" i="0">
                          <a:solidFill>
                            <a:srgbClr val="000000"/>
                          </a:solidFill>
                          <a:latin typeface="Calibri"/>
                        </a:rPr>
                        <a:t>13.4.4.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extLst>
                  <a:ext uri="{0D108BD9-81ED-4DB2-BD59-A6C34878D82A}">
                    <a16:rowId xmlns:a16="http://schemas.microsoft.com/office/drawing/2014/main" val="10006"/>
                  </a:ext>
                </a:extLst>
              </a:tr>
              <a:tr h="175260">
                <a:tc>
                  <a:txBody>
                    <a:bodyPr/>
                    <a:lstStyle/>
                    <a:p>
                      <a:pPr algn="l"/>
                      <a:r>
                        <a:rPr sz="1100" b="0" i="0">
                          <a:solidFill>
                            <a:srgbClr val="000000"/>
                          </a:solidFill>
                          <a:latin typeface="Calibri"/>
                        </a:rPr>
                        <a:t>13.4.5.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extLst>
                  <a:ext uri="{0D108BD9-81ED-4DB2-BD59-A6C34878D82A}">
                    <a16:rowId xmlns:a16="http://schemas.microsoft.com/office/drawing/2014/main" val="10007"/>
                  </a:ext>
                </a:extLst>
              </a:tr>
              <a:tr h="175260">
                <a:tc>
                  <a:txBody>
                    <a:bodyPr/>
                    <a:lstStyle/>
                    <a:p>
                      <a:pPr algn="l"/>
                      <a:r>
                        <a:rPr sz="1100" b="0" i="0">
                          <a:solidFill>
                            <a:srgbClr val="000000"/>
                          </a:solidFill>
                          <a:latin typeface="Calibri"/>
                        </a:rPr>
                        <a:t>13.4.6.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extLst>
                  <a:ext uri="{0D108BD9-81ED-4DB2-BD59-A6C34878D82A}">
                    <a16:rowId xmlns:a16="http://schemas.microsoft.com/office/drawing/2014/main" val="10008"/>
                  </a:ext>
                </a:extLst>
              </a:tr>
              <a:tr h="175260">
                <a:tc>
                  <a:txBody>
                    <a:bodyPr/>
                    <a:lstStyle/>
                    <a:p>
                      <a:pPr algn="l"/>
                      <a:r>
                        <a:rPr sz="1100" b="0" i="0">
                          <a:solidFill>
                            <a:srgbClr val="000000"/>
                          </a:solidFill>
                          <a:latin typeface="Calibri"/>
                        </a:rPr>
                        <a:t>13.4.7.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extLst>
                  <a:ext uri="{0D108BD9-81ED-4DB2-BD59-A6C34878D82A}">
                    <a16:rowId xmlns:a16="http://schemas.microsoft.com/office/drawing/2014/main" val="10009"/>
                  </a:ext>
                </a:extLst>
              </a:tr>
              <a:tr h="175260">
                <a:tc>
                  <a:txBody>
                    <a:bodyPr/>
                    <a:lstStyle/>
                    <a:p>
                      <a:pPr algn="l"/>
                      <a:r>
                        <a:rPr sz="1100" b="0" i="0">
                          <a:solidFill>
                            <a:srgbClr val="000000"/>
                          </a:solidFill>
                          <a:latin typeface="Calibri"/>
                        </a:rPr>
                        <a:t>13.4.8.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extLst>
                  <a:ext uri="{0D108BD9-81ED-4DB2-BD59-A6C34878D82A}">
                    <a16:rowId xmlns:a16="http://schemas.microsoft.com/office/drawing/2014/main" val="10010"/>
                  </a:ext>
                </a:extLst>
              </a:tr>
              <a:tr h="175260">
                <a:tc>
                  <a:txBody>
                    <a:bodyPr/>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extLst>
                  <a:ext uri="{0D108BD9-81ED-4DB2-BD59-A6C34878D82A}">
                    <a16:rowId xmlns:a16="http://schemas.microsoft.com/office/drawing/2014/main" val="10011"/>
                  </a:ext>
                </a:extLst>
              </a:tr>
              <a:tr h="175260">
                <a:tc>
                  <a:txBody>
                    <a:bodyPr/>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12"/>
                  </a:ext>
                </a:extLst>
              </a:tr>
              <a:tr h="175260">
                <a:tc>
                  <a:txBody>
                    <a:bodyPr/>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13"/>
                  </a:ext>
                </a:extLst>
              </a:tr>
              <a:tr h="175260">
                <a:tc>
                  <a:txBody>
                    <a:bodyPr/>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14"/>
                  </a:ext>
                </a:extLst>
              </a:tr>
              <a:tr h="175260">
                <a:tc>
                  <a:txBody>
                    <a:bodyPr/>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extLst>
                  <a:ext uri="{0D108BD9-81ED-4DB2-BD59-A6C34878D82A}">
                    <a16:rowId xmlns:a16="http://schemas.microsoft.com/office/drawing/2014/main" val="10015"/>
                  </a:ext>
                </a:extLst>
              </a:tr>
              <a:tr h="175260">
                <a:tc>
                  <a:txBody>
                    <a:bodyPr/>
                    <a:lstStyle/>
                    <a:p>
                      <a:pPr algn="l"/>
                      <a:r>
                        <a:rPr sz="1100" b="0" i="0">
                          <a:solidFill>
                            <a:srgbClr val="000000"/>
                          </a:solidFill>
                          <a:latin typeface="Calibri"/>
                        </a:rPr>
                        <a:t>14.4.1.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extLst>
                  <a:ext uri="{0D108BD9-81ED-4DB2-BD59-A6C34878D82A}">
                    <a16:rowId xmlns:a16="http://schemas.microsoft.com/office/drawing/2014/main" val="10016"/>
                  </a:ext>
                </a:extLst>
              </a:tr>
              <a:tr h="175260">
                <a:tc>
                  <a:txBody>
                    <a:bodyPr/>
                    <a:lstStyle/>
                    <a:p>
                      <a:pPr algn="l"/>
                      <a:r>
                        <a:rPr sz="1100" b="0" i="0">
                          <a:solidFill>
                            <a:srgbClr val="000000"/>
                          </a:solidFill>
                          <a:latin typeface="Calibri"/>
                        </a:rPr>
                        <a:t>14.4.2.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extLst>
                  <a:ext uri="{0D108BD9-81ED-4DB2-BD59-A6C34878D82A}">
                    <a16:rowId xmlns:a16="http://schemas.microsoft.com/office/drawing/2014/main" val="10017"/>
                  </a:ext>
                </a:extLst>
              </a:tr>
              <a:tr h="175260">
                <a:tc>
                  <a:txBody>
                    <a:bodyPr/>
                    <a:lstStyle/>
                    <a:p>
                      <a:pPr algn="l"/>
                      <a:r>
                        <a:rPr sz="1100" b="0" i="0">
                          <a:solidFill>
                            <a:srgbClr val="000000"/>
                          </a:solidFill>
                          <a:latin typeface="Calibri"/>
                        </a:rPr>
                        <a:t>14.4.3.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0000"/>
                          </a:solidFill>
                          <a:latin typeface="Calibri"/>
                        </a:rPr>
                        <a:t>14.4.4.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extLst>
                  <a:ext uri="{0D108BD9-81ED-4DB2-BD59-A6C34878D82A}">
                    <a16:rowId xmlns:a16="http://schemas.microsoft.com/office/drawing/2014/main" val="10019"/>
                  </a:ext>
                </a:extLst>
              </a:tr>
              <a:tr h="175260">
                <a:tc>
                  <a:txBody>
                    <a:bodyPr/>
                    <a:lstStyle/>
                    <a:p>
                      <a:pPr algn="l"/>
                      <a:r>
                        <a:rPr sz="1100" b="0" i="0">
                          <a:solidFill>
                            <a:srgbClr val="000000"/>
                          </a:solidFill>
                          <a:latin typeface="Calibri"/>
                        </a:rPr>
                        <a:t>14.4.5.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extLst>
                  <a:ext uri="{0D108BD9-81ED-4DB2-BD59-A6C34878D82A}">
                    <a16:rowId xmlns:a16="http://schemas.microsoft.com/office/drawing/2014/main" val="10020"/>
                  </a:ext>
                </a:extLst>
              </a:tr>
              <a:tr h="175260">
                <a:tc>
                  <a:txBody>
                    <a:bodyPr/>
                    <a:lstStyle/>
                    <a:p>
                      <a:pPr algn="l"/>
                      <a:r>
                        <a:rPr sz="1100" b="0" i="0">
                          <a:solidFill>
                            <a:srgbClr val="000000"/>
                          </a:solidFill>
                          <a:latin typeface="Calibri"/>
                        </a:rPr>
                        <a:t>14.4.6.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extLst>
                  <a:ext uri="{0D108BD9-81ED-4DB2-BD59-A6C34878D82A}">
                    <a16:rowId xmlns:a16="http://schemas.microsoft.com/office/drawing/2014/main" val="10021"/>
                  </a:ext>
                </a:extLst>
              </a:tr>
              <a:tr h="175260">
                <a:tc>
                  <a:txBody>
                    <a:bodyPr/>
                    <a:lstStyle/>
                    <a:p>
                      <a:pPr algn="l"/>
                      <a:r>
                        <a:rPr sz="1100" b="0" i="0">
                          <a:solidFill>
                            <a:srgbClr val="000000"/>
                          </a:solidFill>
                          <a:latin typeface="Calibri"/>
                        </a:rPr>
                        <a:t>14.4.7.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extLst>
                  <a:ext uri="{0D108BD9-81ED-4DB2-BD59-A6C34878D82A}">
                    <a16:rowId xmlns:a16="http://schemas.microsoft.com/office/drawing/2014/main" val="10022"/>
                  </a:ext>
                </a:extLst>
              </a:tr>
              <a:tr h="175260">
                <a:tc>
                  <a:txBody>
                    <a:bodyPr/>
                    <a:lstStyle/>
                    <a:p>
                      <a:pPr algn="l"/>
                      <a:r>
                        <a:rPr sz="1100" b="0" i="0">
                          <a:solidFill>
                            <a:srgbClr val="000000"/>
                          </a:solidFill>
                          <a:latin typeface="Calibri"/>
                        </a:rPr>
                        <a:t>14.4.8.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extLst>
                  <a:ext uri="{0D108BD9-81ED-4DB2-BD59-A6C34878D82A}">
                    <a16:rowId xmlns:a16="http://schemas.microsoft.com/office/drawing/2014/main" val="10023"/>
                  </a:ext>
                </a:extLst>
              </a:tr>
              <a:tr h="175260">
                <a:tc>
                  <a:txBody>
                    <a:bodyPr/>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extLst>
                  <a:ext uri="{0D108BD9-81ED-4DB2-BD59-A6C34878D82A}">
                    <a16:rowId xmlns:a16="http://schemas.microsoft.com/office/drawing/2014/main" val="10024"/>
                  </a:ext>
                </a:extLst>
              </a:tr>
              <a:tr h="175260">
                <a:tc>
                  <a:txBody>
                    <a:bodyPr/>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25"/>
                  </a:ext>
                </a:extLst>
              </a:tr>
              <a:tr h="175260">
                <a:tc>
                  <a:txBody>
                    <a:bodyPr/>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26"/>
                  </a:ext>
                </a:extLst>
              </a:tr>
              <a:tr h="175260">
                <a:tc>
                  <a:txBody>
                    <a:bodyPr/>
                    <a:lstStyle/>
                    <a:p>
                      <a:pPr algn="l"/>
                      <a:r>
                        <a:rPr sz="1100" b="0" i="0">
                          <a:solidFill>
                            <a:srgbClr val="0070C0"/>
                          </a:solidFill>
                          <a:latin typeface="Calibri"/>
                        </a:rPr>
                        <a:t>15.3.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27"/>
                  </a:ext>
                </a:extLst>
              </a:tr>
              <a:tr h="175260">
                <a:tc>
                  <a:txBody>
                    <a:bodyPr/>
                    <a:lstStyle/>
                    <a:p>
                      <a:pPr algn="l"/>
                      <a:r>
                        <a:rPr sz="1100" b="0" i="0">
                          <a:solidFill>
                            <a:srgbClr val="0070C0"/>
                          </a:solidFill>
                          <a:latin typeface="Calibri"/>
                        </a:rPr>
                        <a:t>15.4.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extLst>
                  <a:ext uri="{0D108BD9-81ED-4DB2-BD59-A6C34878D82A}">
                    <a16:rowId xmlns:a16="http://schemas.microsoft.com/office/drawing/2014/main" val="10028"/>
                  </a:ext>
                </a:extLst>
              </a:tr>
              <a:tr h="175260">
                <a:tc>
                  <a:txBody>
                    <a:bodyPr/>
                    <a:lstStyle/>
                    <a:p>
                      <a:pPr algn="l"/>
                      <a:r>
                        <a:rPr sz="1100" b="0" i="0">
                          <a:solidFill>
                            <a:srgbClr val="000000"/>
                          </a:solidFill>
                          <a:latin typeface="Calibri"/>
                        </a:rPr>
                        <a:t>15.4.1.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extLst>
                  <a:ext uri="{0D108BD9-81ED-4DB2-BD59-A6C34878D82A}">
                    <a16:rowId xmlns:a16="http://schemas.microsoft.com/office/drawing/2014/main" val="10029"/>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Table of Contents (4/7)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0">
                          <a:solidFill>
                            <a:srgbClr val="000000"/>
                          </a:solidFill>
                          <a:latin typeface="Calibri"/>
                        </a:rPr>
                        <a:t>15.4.2.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extLst>
                  <a:ext uri="{0D108BD9-81ED-4DB2-BD59-A6C34878D82A}">
                    <a16:rowId xmlns:a16="http://schemas.microsoft.com/office/drawing/2014/main" val="10000"/>
                  </a:ext>
                </a:extLst>
              </a:tr>
              <a:tr h="175260">
                <a:tc>
                  <a:txBody>
                    <a:bodyPr/>
                    <a:lstStyle/>
                    <a:p>
                      <a:pPr algn="l"/>
                      <a:r>
                        <a:rPr sz="1100" b="0" i="0">
                          <a:solidFill>
                            <a:srgbClr val="000000"/>
                          </a:solidFill>
                          <a:latin typeface="Calibri"/>
                        </a:rPr>
                        <a:t>15.4.3.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extLst>
                  <a:ext uri="{0D108BD9-81ED-4DB2-BD59-A6C34878D82A}">
                    <a16:rowId xmlns:a16="http://schemas.microsoft.com/office/drawing/2014/main" val="10001"/>
                  </a:ext>
                </a:extLst>
              </a:tr>
              <a:tr h="175260">
                <a:tc>
                  <a:txBody>
                    <a:bodyPr/>
                    <a:lstStyle/>
                    <a:p>
                      <a:pPr algn="l"/>
                      <a:r>
                        <a:rPr sz="1100" b="0" i="0">
                          <a:solidFill>
                            <a:srgbClr val="000000"/>
                          </a:solidFill>
                          <a:latin typeface="Calibri"/>
                        </a:rPr>
                        <a:t>15.4.4.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extLst>
                  <a:ext uri="{0D108BD9-81ED-4DB2-BD59-A6C34878D82A}">
                    <a16:rowId xmlns:a16="http://schemas.microsoft.com/office/drawing/2014/main" val="10002"/>
                  </a:ext>
                </a:extLst>
              </a:tr>
              <a:tr h="175260">
                <a:tc>
                  <a:txBody>
                    <a:bodyPr/>
                    <a:lstStyle/>
                    <a:p>
                      <a:pPr algn="l"/>
                      <a:r>
                        <a:rPr sz="1100" b="0" i="0">
                          <a:solidFill>
                            <a:srgbClr val="000000"/>
                          </a:solidFill>
                          <a:latin typeface="Calibri"/>
                        </a:rPr>
                        <a:t>15.4.5.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extLst>
                  <a:ext uri="{0D108BD9-81ED-4DB2-BD59-A6C34878D82A}">
                    <a16:rowId xmlns:a16="http://schemas.microsoft.com/office/drawing/2014/main" val="10003"/>
                  </a:ext>
                </a:extLst>
              </a:tr>
              <a:tr h="175260">
                <a:tc>
                  <a:txBody>
                    <a:bodyPr/>
                    <a:lstStyle/>
                    <a:p>
                      <a:pPr algn="l"/>
                      <a:r>
                        <a:rPr sz="1100" b="0" i="0">
                          <a:solidFill>
                            <a:srgbClr val="000000"/>
                          </a:solidFill>
                          <a:latin typeface="Calibri"/>
                        </a:rPr>
                        <a:t>15.4.6.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extLst>
                  <a:ext uri="{0D108BD9-81ED-4DB2-BD59-A6C34878D82A}">
                    <a16:rowId xmlns:a16="http://schemas.microsoft.com/office/drawing/2014/main" val="10004"/>
                  </a:ext>
                </a:extLst>
              </a:tr>
              <a:tr h="175260">
                <a:tc>
                  <a:txBody>
                    <a:bodyPr/>
                    <a:lstStyle/>
                    <a:p>
                      <a:pPr algn="l"/>
                      <a:r>
                        <a:rPr sz="1100" b="0" i="0">
                          <a:solidFill>
                            <a:srgbClr val="000000"/>
                          </a:solidFill>
                          <a:latin typeface="Calibri"/>
                        </a:rPr>
                        <a:t>15.4.7.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extLst>
                  <a:ext uri="{0D108BD9-81ED-4DB2-BD59-A6C34878D82A}">
                    <a16:rowId xmlns:a16="http://schemas.microsoft.com/office/drawing/2014/main" val="10005"/>
                  </a:ext>
                </a:extLst>
              </a:tr>
              <a:tr h="175260">
                <a:tc>
                  <a:txBody>
                    <a:bodyPr/>
                    <a:lstStyle/>
                    <a:p>
                      <a:pPr algn="l"/>
                      <a:r>
                        <a:rPr sz="1100" b="0" i="0">
                          <a:solidFill>
                            <a:srgbClr val="000000"/>
                          </a:solidFill>
                          <a:latin typeface="Calibri"/>
                        </a:rPr>
                        <a:t>15.4.8.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extLst>
                  <a:ext uri="{0D108BD9-81ED-4DB2-BD59-A6C34878D82A}">
                    <a16:rowId xmlns:a16="http://schemas.microsoft.com/office/drawing/2014/main" val="10006"/>
                  </a:ext>
                </a:extLst>
              </a:tr>
              <a:tr h="175260">
                <a:tc>
                  <a:txBody>
                    <a:bodyPr/>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extLst>
                  <a:ext uri="{0D108BD9-81ED-4DB2-BD59-A6C34878D82A}">
                    <a16:rowId xmlns:a16="http://schemas.microsoft.com/office/drawing/2014/main" val="10007"/>
                  </a:ext>
                </a:extLst>
              </a:tr>
              <a:tr h="175260">
                <a:tc>
                  <a:txBody>
                    <a:bodyPr/>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08"/>
                  </a:ext>
                </a:extLst>
              </a:tr>
              <a:tr h="175260">
                <a:tc>
                  <a:txBody>
                    <a:bodyPr/>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09"/>
                  </a:ext>
                </a:extLst>
              </a:tr>
              <a:tr h="175260">
                <a:tc>
                  <a:txBody>
                    <a:bodyPr/>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10"/>
                  </a:ext>
                </a:extLst>
              </a:tr>
              <a:tr h="175260">
                <a:tc>
                  <a:txBody>
                    <a:bodyPr/>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extLst>
                  <a:ext uri="{0D108BD9-81ED-4DB2-BD59-A6C34878D82A}">
                    <a16:rowId xmlns:a16="http://schemas.microsoft.com/office/drawing/2014/main" val="10011"/>
                  </a:ext>
                </a:extLst>
              </a:tr>
              <a:tr h="175260">
                <a:tc>
                  <a:txBody>
                    <a:bodyPr/>
                    <a:lstStyle/>
                    <a:p>
                      <a:pPr algn="l"/>
                      <a:r>
                        <a:rPr sz="1100" b="0" i="0">
                          <a:solidFill>
                            <a:srgbClr val="000000"/>
                          </a:solidFill>
                          <a:latin typeface="Calibri"/>
                        </a:rPr>
                        <a:t>16.4.1.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extLst>
                  <a:ext uri="{0D108BD9-81ED-4DB2-BD59-A6C34878D82A}">
                    <a16:rowId xmlns:a16="http://schemas.microsoft.com/office/drawing/2014/main" val="10012"/>
                  </a:ext>
                </a:extLst>
              </a:tr>
              <a:tr h="175260">
                <a:tc>
                  <a:txBody>
                    <a:bodyPr/>
                    <a:lstStyle/>
                    <a:p>
                      <a:pPr algn="l"/>
                      <a:r>
                        <a:rPr sz="1100" b="0" i="0">
                          <a:solidFill>
                            <a:srgbClr val="000000"/>
                          </a:solidFill>
                          <a:latin typeface="Calibri"/>
                        </a:rPr>
                        <a:t>16.4.2.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extLst>
                  <a:ext uri="{0D108BD9-81ED-4DB2-BD59-A6C34878D82A}">
                    <a16:rowId xmlns:a16="http://schemas.microsoft.com/office/drawing/2014/main" val="10013"/>
                  </a:ext>
                </a:extLst>
              </a:tr>
              <a:tr h="175260">
                <a:tc>
                  <a:txBody>
                    <a:bodyPr/>
                    <a:lstStyle/>
                    <a:p>
                      <a:pPr algn="l"/>
                      <a:r>
                        <a:rPr sz="1100" b="0" i="0">
                          <a:solidFill>
                            <a:srgbClr val="000000"/>
                          </a:solidFill>
                          <a:latin typeface="Calibri"/>
                        </a:rPr>
                        <a:t>16.4.3.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extLst>
                  <a:ext uri="{0D108BD9-81ED-4DB2-BD59-A6C34878D82A}">
                    <a16:rowId xmlns:a16="http://schemas.microsoft.com/office/drawing/2014/main" val="10014"/>
                  </a:ext>
                </a:extLst>
              </a:tr>
              <a:tr h="175260">
                <a:tc>
                  <a:txBody>
                    <a:bodyPr/>
                    <a:lstStyle/>
                    <a:p>
                      <a:pPr algn="l"/>
                      <a:r>
                        <a:rPr sz="1100" b="0" i="0">
                          <a:solidFill>
                            <a:srgbClr val="000000"/>
                          </a:solidFill>
                          <a:latin typeface="Calibri"/>
                        </a:rPr>
                        <a:t>16.4.4.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extLst>
                  <a:ext uri="{0D108BD9-81ED-4DB2-BD59-A6C34878D82A}">
                    <a16:rowId xmlns:a16="http://schemas.microsoft.com/office/drawing/2014/main" val="10015"/>
                  </a:ext>
                </a:extLst>
              </a:tr>
              <a:tr h="175260">
                <a:tc>
                  <a:txBody>
                    <a:bodyPr/>
                    <a:lstStyle/>
                    <a:p>
                      <a:pPr algn="l"/>
                      <a:r>
                        <a:rPr sz="1100" b="0" i="0">
                          <a:solidFill>
                            <a:srgbClr val="000000"/>
                          </a:solidFill>
                          <a:latin typeface="Calibri"/>
                        </a:rPr>
                        <a:t>16.4.5.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extLst>
                  <a:ext uri="{0D108BD9-81ED-4DB2-BD59-A6C34878D82A}">
                    <a16:rowId xmlns:a16="http://schemas.microsoft.com/office/drawing/2014/main" val="10016"/>
                  </a:ext>
                </a:extLst>
              </a:tr>
              <a:tr h="175260">
                <a:tc>
                  <a:txBody>
                    <a:bodyPr/>
                    <a:lstStyle/>
                    <a:p>
                      <a:pPr algn="l"/>
                      <a:r>
                        <a:rPr sz="1100" b="0" i="0">
                          <a:solidFill>
                            <a:srgbClr val="000000"/>
                          </a:solidFill>
                          <a:latin typeface="Calibri"/>
                        </a:rPr>
                        <a:t>16.4.6.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extLst>
                  <a:ext uri="{0D108BD9-81ED-4DB2-BD59-A6C34878D82A}">
                    <a16:rowId xmlns:a16="http://schemas.microsoft.com/office/drawing/2014/main" val="10017"/>
                  </a:ext>
                </a:extLst>
              </a:tr>
              <a:tr h="175260">
                <a:tc>
                  <a:txBody>
                    <a:bodyPr/>
                    <a:lstStyle/>
                    <a:p>
                      <a:pPr algn="l"/>
                      <a:r>
                        <a:rPr sz="1100" b="0" i="0">
                          <a:solidFill>
                            <a:srgbClr val="000000"/>
                          </a:solidFill>
                          <a:latin typeface="Calibri"/>
                        </a:rPr>
                        <a:t>16.4.7.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0000"/>
                          </a:solidFill>
                          <a:latin typeface="Calibri"/>
                        </a:rPr>
                        <a:t>16.4.8.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extLst>
                  <a:ext uri="{0D108BD9-81ED-4DB2-BD59-A6C34878D82A}">
                    <a16:rowId xmlns:a16="http://schemas.microsoft.com/office/drawing/2014/main" val="10019"/>
                  </a:ext>
                </a:extLst>
              </a:tr>
              <a:tr h="175260">
                <a:tc>
                  <a:txBody>
                    <a:bodyPr/>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extLst>
                  <a:ext uri="{0D108BD9-81ED-4DB2-BD59-A6C34878D82A}">
                    <a16:rowId xmlns:a16="http://schemas.microsoft.com/office/drawing/2014/main" val="10020"/>
                  </a:ext>
                </a:extLst>
              </a:tr>
              <a:tr h="175260">
                <a:tc>
                  <a:txBody>
                    <a:bodyPr/>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extLst>
                  <a:ext uri="{0D108BD9-81ED-4DB2-BD59-A6C34878D82A}">
                    <a16:rowId xmlns:a16="http://schemas.microsoft.com/office/drawing/2014/main" val="10021"/>
                  </a:ext>
                </a:extLst>
              </a:tr>
              <a:tr h="175260">
                <a:tc>
                  <a:txBody>
                    <a:bodyPr/>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extLst>
                  <a:ext uri="{0D108BD9-81ED-4DB2-BD59-A6C34878D82A}">
                    <a16:rowId xmlns:a16="http://schemas.microsoft.com/office/drawing/2014/main" val="10022"/>
                  </a:ext>
                </a:extLst>
              </a:tr>
              <a:tr h="175260">
                <a:tc>
                  <a:txBody>
                    <a:bodyPr/>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extLst>
                  <a:ext uri="{0D108BD9-81ED-4DB2-BD59-A6C34878D82A}">
                    <a16:rowId xmlns:a16="http://schemas.microsoft.com/office/drawing/2014/main" val="10023"/>
                  </a:ext>
                </a:extLst>
              </a:tr>
              <a:tr h="175260">
                <a:tc>
                  <a:txBody>
                    <a:bodyPr/>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extLst>
                  <a:ext uri="{0D108BD9-81ED-4DB2-BD59-A6C34878D82A}">
                    <a16:rowId xmlns:a16="http://schemas.microsoft.com/office/drawing/2014/main" val="10024"/>
                  </a:ext>
                </a:extLst>
              </a:tr>
              <a:tr h="175260">
                <a:tc>
                  <a:txBody>
                    <a:bodyPr/>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By Partition Type</a:t>
                      </a:r>
                      <a:endParaRPr sz="1100"/>
                    </a:p>
                  </a:txBody>
                  <a:tcPr marL="771525" marR="9525" marT="9525" marB="0" anchor="ctr"/>
                </a:tc>
                <a:extLst>
                  <a:ext uri="{0D108BD9-81ED-4DB2-BD59-A6C34878D82A}">
                    <a16:rowId xmlns:a16="http://schemas.microsoft.com/office/drawing/2014/main" val="10025"/>
                  </a:ext>
                </a:extLst>
              </a:tr>
              <a:tr h="175260">
                <a:tc>
                  <a:txBody>
                    <a:bodyPr/>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By Board Construction</a:t>
                      </a:r>
                      <a:endParaRPr sz="1100"/>
                    </a:p>
                  </a:txBody>
                  <a:tcPr marL="771525" marR="9525" marT="9525" marB="0" anchor="ctr"/>
                </a:tc>
                <a:extLst>
                  <a:ext uri="{0D108BD9-81ED-4DB2-BD59-A6C34878D82A}">
                    <a16:rowId xmlns:a16="http://schemas.microsoft.com/office/drawing/2014/main" val="10026"/>
                  </a:ext>
                </a:extLst>
              </a:tr>
              <a:tr h="175260">
                <a:tc>
                  <a:txBody>
                    <a:bodyPr/>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By Material Source</a:t>
                      </a:r>
                      <a:endParaRPr sz="1100"/>
                    </a:p>
                  </a:txBody>
                  <a:tcPr marL="771525" marR="9525" marT="9525" marB="0" anchor="ctr"/>
                </a:tc>
                <a:extLst>
                  <a:ext uri="{0D108BD9-81ED-4DB2-BD59-A6C34878D82A}">
                    <a16:rowId xmlns:a16="http://schemas.microsoft.com/office/drawing/2014/main" val="10027"/>
                  </a:ext>
                </a:extLst>
              </a:tr>
              <a:tr h="175260">
                <a:tc>
                  <a:txBody>
                    <a:bodyPr/>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By Cell Configuration</a:t>
                      </a:r>
                      <a:endParaRPr sz="1100"/>
                    </a:p>
                  </a:txBody>
                  <a:tcPr marL="771525" marR="9525" marT="9525" marB="0" anchor="ctr"/>
                </a:tc>
                <a:extLst>
                  <a:ext uri="{0D108BD9-81ED-4DB2-BD59-A6C34878D82A}">
                    <a16:rowId xmlns:a16="http://schemas.microsoft.com/office/drawing/2014/main" val="10028"/>
                  </a:ext>
                </a:extLst>
              </a:tr>
              <a:tr h="175260">
                <a:tc>
                  <a:txBody>
                    <a:bodyPr/>
                    <a:lstStyle/>
                    <a:p>
                      <a:pPr algn="l"/>
                      <a:r>
                        <a:rPr sz="1100" b="0" i="0">
                          <a:solidFill>
                            <a:srgbClr val="000000"/>
                          </a:solidFill>
                          <a:latin typeface="Calibri"/>
                        </a:rPr>
                        <a:t>17.4.5.</a:t>
                      </a:r>
                      <a:r>
                        <a:rPr sz="700" b="0" i="0">
                          <a:solidFill>
                            <a:srgbClr val="000000"/>
                          </a:solidFill>
                          <a:latin typeface="Times New Roman"/>
                        </a:rPr>
                        <a:t> </a:t>
                      </a:r>
                      <a:r>
                        <a:rPr sz="1100" b="0" i="0">
                          <a:solidFill>
                            <a:srgbClr val="000000"/>
                          </a:solidFill>
                          <a:latin typeface="Calibri"/>
                        </a:rPr>
                        <a:t>By Customization</a:t>
                      </a:r>
                      <a:endParaRPr sz="1100"/>
                    </a:p>
                  </a:txBody>
                  <a:tcPr marL="771525" marR="9525" marT="9525" marB="0" anchor="ctr"/>
                </a:tc>
                <a:extLst>
                  <a:ext uri="{0D108BD9-81ED-4DB2-BD59-A6C34878D82A}">
                    <a16:rowId xmlns:a16="http://schemas.microsoft.com/office/drawing/2014/main" val="10029"/>
                  </a:ext>
                </a:extLst>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0">
                          <a:solidFill>
                            <a:srgbClr val="000000"/>
                          </a:solidFill>
                          <a:latin typeface="Calibri"/>
                        </a:rPr>
                        <a:t>17.4.6.</a:t>
                      </a:r>
                      <a:r>
                        <a:rPr sz="700" b="0" i="0">
                          <a:solidFill>
                            <a:srgbClr val="000000"/>
                          </a:solidFill>
                          <a:latin typeface="Times New Roman"/>
                        </a:rPr>
                        <a:t> </a:t>
                      </a:r>
                      <a:r>
                        <a:rPr sz="1100" b="0" i="0">
                          <a:solidFill>
                            <a:srgbClr val="000000"/>
                          </a:solidFill>
                          <a:latin typeface="Calibri"/>
                        </a:rPr>
                        <a:t>By End Use</a:t>
                      </a:r>
                      <a:endParaRPr sz="1100"/>
                    </a:p>
                  </a:txBody>
                  <a:tcPr marL="771525" marR="9525" marT="9525" marB="0" anchor="ctr"/>
                </a:tc>
                <a:extLst>
                  <a:ext uri="{0D108BD9-81ED-4DB2-BD59-A6C34878D82A}">
                    <a16:rowId xmlns:a16="http://schemas.microsoft.com/office/drawing/2014/main" val="10000"/>
                  </a:ext>
                </a:extLst>
              </a:tr>
              <a:tr h="175260">
                <a:tc>
                  <a:txBody>
                    <a:bodyPr/>
                    <a:lstStyle/>
                    <a:p>
                      <a:pPr algn="l"/>
                      <a:r>
                        <a:rPr sz="1100" b="0" i="0">
                          <a:solidFill>
                            <a:srgbClr val="000000"/>
                          </a:solidFill>
                          <a:latin typeface="Calibri"/>
                        </a:rPr>
                        <a:t>17.4.7.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extLst>
                  <a:ext uri="{0D108BD9-81ED-4DB2-BD59-A6C34878D82A}">
                    <a16:rowId xmlns:a16="http://schemas.microsoft.com/office/drawing/2014/main" val="10001"/>
                  </a:ext>
                </a:extLst>
              </a:tr>
              <a:tr h="175260">
                <a:tc>
                  <a:txBody>
                    <a:bodyPr/>
                    <a:lstStyle/>
                    <a:p>
                      <a:pPr algn="l"/>
                      <a:r>
                        <a:rPr sz="1100" b="0" i="0">
                          <a:solidFill>
                            <a:srgbClr val="000000"/>
                          </a:solidFill>
                          <a:latin typeface="Calibri"/>
                        </a:rPr>
                        <a:t>17.4.8.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extLst>
                  <a:ext uri="{0D108BD9-81ED-4DB2-BD59-A6C34878D82A}">
                    <a16:rowId xmlns:a16="http://schemas.microsoft.com/office/drawing/2014/main" val="10002"/>
                  </a:ext>
                </a:extLst>
              </a:tr>
              <a:tr h="175260">
                <a:tc>
                  <a:txBody>
                    <a:bodyPr/>
                    <a:lstStyle/>
                    <a:p>
                      <a:pPr algn="l"/>
                      <a:r>
                        <a:rPr sz="1100" b="1" i="0">
                          <a:solidFill>
                            <a:srgbClr val="000000"/>
                          </a:solidFill>
                          <a:latin typeface="Calibri"/>
                        </a:rPr>
                        <a:t>Section 3: Pricing Assessment</a:t>
                      </a:r>
                      <a:endParaRPr sz="1100"/>
                    </a:p>
                  </a:txBody>
                  <a:tcPr marL="9525" marR="9525" marT="9525" marB="0" anchor="ctr"/>
                </a:tc>
                <a:extLst>
                  <a:ext uri="{0D108BD9-81ED-4DB2-BD59-A6C34878D82A}">
                    <a16:rowId xmlns:a16="http://schemas.microsoft.com/office/drawing/2014/main" val="10003"/>
                  </a:ext>
                </a:extLst>
              </a:tr>
              <a:tr h="175260">
                <a:tc>
                  <a:txBody>
                    <a:bodyPr/>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extLst>
                  <a:ext uri="{0D108BD9-81ED-4DB2-BD59-A6C34878D82A}">
                    <a16:rowId xmlns:a16="http://schemas.microsoft.com/office/drawing/2014/main" val="10004"/>
                  </a:ext>
                </a:extLst>
              </a:tr>
              <a:tr h="350520">
                <a:tc>
                  <a:txBody>
                    <a:bodyPr/>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Regional, Vietnam and Southeast Asia Partition Selling Price Benchmark by Format - USD/1,000 Units / USD/MT</a:t>
                      </a:r>
                      <a:endParaRPr sz="1100"/>
                    </a:p>
                  </a:txBody>
                  <a:tcPr marL="428625" marR="9525" marT="9525" marB="0" anchor="ctr"/>
                </a:tc>
                <a:extLst>
                  <a:ext uri="{0D108BD9-81ED-4DB2-BD59-A6C34878D82A}">
                    <a16:rowId xmlns:a16="http://schemas.microsoft.com/office/drawing/2014/main" val="10005"/>
                  </a:ext>
                </a:extLst>
              </a:tr>
              <a:tr h="350520">
                <a:tc>
                  <a:txBody>
                    <a:bodyPr/>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Selling Price by Paper Grade, Flute Profile, and Cell Configuration - USD/Unit / USD/MT</a:t>
                      </a:r>
                      <a:endParaRPr sz="1100"/>
                    </a:p>
                  </a:txBody>
                  <a:tcPr marL="428625" marR="9525" marT="9525" marB="0" anchor="ctr"/>
                </a:tc>
                <a:extLst>
                  <a:ext uri="{0D108BD9-81ED-4DB2-BD59-A6C34878D82A}">
                    <a16:rowId xmlns:a16="http://schemas.microsoft.com/office/drawing/2014/main" val="10006"/>
                  </a:ext>
                </a:extLst>
              </a:tr>
              <a:tr h="175260">
                <a:tc>
                  <a:txBody>
                    <a:bodyPr/>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Country-wise Price Comparison (Partition Type)</a:t>
                      </a:r>
                      <a:endParaRPr sz="1100"/>
                    </a:p>
                  </a:txBody>
                  <a:tcPr marL="428625" marR="9525" marT="9525" marB="0" anchor="ctr"/>
                </a:tc>
                <a:extLst>
                  <a:ext uri="{0D108BD9-81ED-4DB2-BD59-A6C34878D82A}">
                    <a16:rowId xmlns:a16="http://schemas.microsoft.com/office/drawing/2014/main" val="10007"/>
                  </a:ext>
                </a:extLst>
              </a:tr>
              <a:tr h="175260">
                <a:tc>
                  <a:txBody>
                    <a:bodyPr/>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Corrugated Partition Pricing, Manufacturing Cost, and Margin Analysis</a:t>
                      </a:r>
                      <a:endParaRPr sz="1100"/>
                    </a:p>
                  </a:txBody>
                  <a:tcPr marL="428625" marR="9525" marT="9525" marB="0" anchor="ctr"/>
                </a:tc>
                <a:extLst>
                  <a:ext uri="{0D108BD9-81ED-4DB2-BD59-A6C34878D82A}">
                    <a16:rowId xmlns:a16="http://schemas.microsoft.com/office/drawing/2014/main" val="10008"/>
                  </a:ext>
                </a:extLst>
              </a:tr>
              <a:tr h="350520">
                <a:tc>
                  <a:txBody>
                    <a:bodyPr/>
                    <a:lstStyle/>
                    <a:p>
                      <a:pPr algn="l"/>
                      <a:r>
                        <a:rPr sz="1100" b="0" i="0">
                          <a:solidFill>
                            <a:srgbClr val="0070C0"/>
                          </a:solidFill>
                          <a:latin typeface="Calibri"/>
                        </a:rPr>
                        <a:t>18.5.</a:t>
                      </a:r>
                      <a:r>
                        <a:rPr sz="700" b="0" i="0">
                          <a:solidFill>
                            <a:srgbClr val="0070C0"/>
                          </a:solidFill>
                          <a:latin typeface="Times New Roman"/>
                        </a:rPr>
                        <a:t>  </a:t>
                      </a:r>
                      <a:r>
                        <a:rPr sz="1100" b="0" i="0">
                          <a:solidFill>
                            <a:srgbClr val="0070C0"/>
                          </a:solidFill>
                          <a:latin typeface="Calibri"/>
                        </a:rPr>
                        <a:t>Regional Price and Profitability Benchmarking - Vietnam versus Southeast Asia versus China - USD/MT / Margin %</a:t>
                      </a:r>
                      <a:endParaRPr sz="1100"/>
                    </a:p>
                  </a:txBody>
                  <a:tcPr marL="428625" marR="9525" marT="9525" marB="0" anchor="ctr"/>
                </a:tc>
                <a:extLst>
                  <a:ext uri="{0D108BD9-81ED-4DB2-BD59-A6C34878D82A}">
                    <a16:rowId xmlns:a16="http://schemas.microsoft.com/office/drawing/2014/main" val="10009"/>
                  </a:ext>
                </a:extLst>
              </a:tr>
              <a:tr h="175260">
                <a:tc>
                  <a:txBody>
                    <a:bodyPr/>
                    <a:lstStyle/>
                    <a:p>
                      <a:pPr algn="l"/>
                      <a:r>
                        <a:rPr sz="1100" b="0" i="0">
                          <a:solidFill>
                            <a:srgbClr val="0070C0"/>
                          </a:solidFill>
                          <a:latin typeface="Calibri"/>
                        </a:rPr>
                        <a:t>18.6.</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extLst>
                  <a:ext uri="{0D108BD9-81ED-4DB2-BD59-A6C34878D82A}">
                    <a16:rowId xmlns:a16="http://schemas.microsoft.com/office/drawing/2014/main" val="10010"/>
                  </a:ext>
                </a:extLst>
              </a:tr>
              <a:tr h="175260">
                <a:tc>
                  <a:txBody>
                    <a:bodyPr/>
                    <a:lstStyle/>
                    <a:p>
                      <a:pPr algn="l"/>
                      <a:r>
                        <a:rPr sz="1100" b="0" i="0">
                          <a:solidFill>
                            <a:srgbClr val="0070C0"/>
                          </a:solidFill>
                          <a:latin typeface="Calibri"/>
                        </a:rPr>
                        <a:t>18.7.</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extLst>
                  <a:ext uri="{0D108BD9-81ED-4DB2-BD59-A6C34878D82A}">
                    <a16:rowId xmlns:a16="http://schemas.microsoft.com/office/drawing/2014/main" val="10011"/>
                  </a:ext>
                </a:extLst>
              </a:tr>
              <a:tr h="175260">
                <a:tc>
                  <a:txBody>
                    <a:bodyPr/>
                    <a:lstStyle/>
                    <a:p>
                      <a:pPr algn="l"/>
                      <a:r>
                        <a:rPr sz="1100" b="0" i="0">
                          <a:solidFill>
                            <a:srgbClr val="0070C0"/>
                          </a:solidFill>
                          <a:latin typeface="Calibri"/>
                        </a:rPr>
                        <a:t>18.8.</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extLst>
                  <a:ext uri="{0D108BD9-81ED-4DB2-BD59-A6C34878D82A}">
                    <a16:rowId xmlns:a16="http://schemas.microsoft.com/office/drawing/2014/main" val="10012"/>
                  </a:ext>
                </a:extLst>
              </a:tr>
              <a:tr h="175260">
                <a:tc>
                  <a:txBody>
                    <a:bodyPr/>
                    <a:lstStyle/>
                    <a:p>
                      <a:pPr algn="l"/>
                      <a:r>
                        <a:rPr sz="1100" b="1" i="0">
                          <a:solidFill>
                            <a:srgbClr val="000000"/>
                          </a:solidFill>
                          <a:latin typeface="Calibri"/>
                        </a:rPr>
                        <a:t>Section 4: Market Dynamics</a:t>
                      </a:r>
                      <a:endParaRPr sz="1100"/>
                    </a:p>
                  </a:txBody>
                  <a:tcPr marL="9525" marR="9525" marT="9525" marB="0" anchor="ctr"/>
                </a:tc>
                <a:extLst>
                  <a:ext uri="{0D108BD9-81ED-4DB2-BD59-A6C34878D82A}">
                    <a16:rowId xmlns:a16="http://schemas.microsoft.com/office/drawing/2014/main" val="10013"/>
                  </a:ext>
                </a:extLst>
              </a:tr>
              <a:tr h="175260">
                <a:tc>
                  <a:txBody>
                    <a:bodyPr/>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extLst>
                  <a:ext uri="{0D108BD9-81ED-4DB2-BD59-A6C34878D82A}">
                    <a16:rowId xmlns:a16="http://schemas.microsoft.com/office/drawing/2014/main" val="10014"/>
                  </a:ext>
                </a:extLst>
              </a:tr>
              <a:tr h="175260">
                <a:tc>
                  <a:txBody>
                    <a:bodyPr/>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extLst>
                  <a:ext uri="{0D108BD9-81ED-4DB2-BD59-A6C34878D82A}">
                    <a16:rowId xmlns:a16="http://schemas.microsoft.com/office/drawing/2014/main" val="10015"/>
                  </a:ext>
                </a:extLst>
              </a:tr>
              <a:tr h="175260">
                <a:tc>
                  <a:txBody>
                    <a:bodyPr/>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extLst>
                  <a:ext uri="{0D108BD9-81ED-4DB2-BD59-A6C34878D82A}">
                    <a16:rowId xmlns:a16="http://schemas.microsoft.com/office/drawing/2014/main" val="10016"/>
                  </a:ext>
                </a:extLst>
              </a:tr>
              <a:tr h="175260">
                <a:tc>
                  <a:txBody>
                    <a:bodyPr/>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extLst>
                  <a:ext uri="{0D108BD9-81ED-4DB2-BD59-A6C34878D82A}">
                    <a16:rowId xmlns:a16="http://schemas.microsoft.com/office/drawing/2014/main" val="10017"/>
                  </a:ext>
                </a:extLst>
              </a:tr>
              <a:tr h="175260">
                <a:tc>
                  <a:txBody>
                    <a:bodyPr/>
                    <a:lstStyle/>
                    <a:p>
                      <a:pPr algn="l"/>
                      <a:r>
                        <a:rPr sz="1100" b="0" i="0">
                          <a:solidFill>
                            <a:srgbClr val="000000"/>
                          </a:solidFill>
                          <a:latin typeface="Calibri"/>
                        </a:rPr>
                        <a:t>19.1.3.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extLst>
                  <a:ext uri="{0D108BD9-81ED-4DB2-BD59-A6C34878D82A}">
                    <a16:rowId xmlns:a16="http://schemas.microsoft.com/office/drawing/2014/main" val="10019"/>
                  </a:ext>
                </a:extLst>
              </a:tr>
              <a:tr h="175260">
                <a:tc>
                  <a:txBody>
                    <a:bodyPr/>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extLst>
                  <a:ext uri="{0D108BD9-81ED-4DB2-BD59-A6C34878D82A}">
                    <a16:rowId xmlns:a16="http://schemas.microsoft.com/office/drawing/2014/main" val="10020"/>
                  </a:ext>
                </a:extLst>
              </a:tr>
              <a:tr h="175260">
                <a:tc>
                  <a:txBody>
                    <a:bodyPr/>
                    <a:lstStyle/>
                    <a:p>
                      <a:pPr algn="l"/>
                      <a:r>
                        <a:rPr sz="1100" b="0" i="0">
                          <a:solidFill>
                            <a:srgbClr val="0070C0"/>
                          </a:solidFill>
                          <a:latin typeface="Calibri"/>
                        </a:rPr>
                        <a:t>20.1.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extLst>
                  <a:ext uri="{0D108BD9-81ED-4DB2-BD59-A6C34878D82A}">
                    <a16:rowId xmlns:a16="http://schemas.microsoft.com/office/drawing/2014/main" val="10021"/>
                  </a:ext>
                </a:extLst>
              </a:tr>
              <a:tr h="175260">
                <a:tc>
                  <a:txBody>
                    <a:bodyPr/>
                    <a:lstStyle/>
                    <a:p>
                      <a:pPr algn="l"/>
                      <a:r>
                        <a:rPr sz="1100" b="0" i="0">
                          <a:solidFill>
                            <a:srgbClr val="000000"/>
                          </a:solidFill>
                          <a:latin typeface="Calibri"/>
                        </a:rPr>
                        <a:t>20.1.1.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extLst>
                  <a:ext uri="{0D108BD9-81ED-4DB2-BD59-A6C34878D82A}">
                    <a16:rowId xmlns:a16="http://schemas.microsoft.com/office/drawing/2014/main" val="10022"/>
                  </a:ext>
                </a:extLst>
              </a:tr>
              <a:tr h="175260">
                <a:tc>
                  <a:txBody>
                    <a:bodyPr/>
                    <a:lstStyle/>
                    <a:p>
                      <a:pPr algn="l"/>
                      <a:r>
                        <a:rPr sz="1100" b="0" i="0">
                          <a:solidFill>
                            <a:srgbClr val="000000"/>
                          </a:solidFill>
                          <a:latin typeface="Calibri"/>
                        </a:rPr>
                        <a:t>20.1.2.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extLst>
                  <a:ext uri="{0D108BD9-81ED-4DB2-BD59-A6C34878D82A}">
                    <a16:rowId xmlns:a16="http://schemas.microsoft.com/office/drawing/2014/main" val="10023"/>
                  </a:ext>
                </a:extLst>
              </a:tr>
              <a:tr h="175260">
                <a:tc>
                  <a:txBody>
                    <a:bodyPr/>
                    <a:lstStyle/>
                    <a:p>
                      <a:pPr algn="l"/>
                      <a:r>
                        <a:rPr sz="1100" b="0" i="0">
                          <a:solidFill>
                            <a:srgbClr val="000000"/>
                          </a:solidFill>
                          <a:latin typeface="Calibri"/>
                        </a:rPr>
                        <a:t>20.1.3.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extLst>
                  <a:ext uri="{0D108BD9-81ED-4DB2-BD59-A6C34878D82A}">
                    <a16:rowId xmlns:a16="http://schemas.microsoft.com/office/drawing/2014/main" val="10024"/>
                  </a:ext>
                </a:extLst>
              </a:tr>
              <a:tr h="175260">
                <a:tc>
                  <a:txBody>
                    <a:bodyPr/>
                    <a:lstStyle/>
                    <a:p>
                      <a:pPr algn="l"/>
                      <a:r>
                        <a:rPr sz="1100" b="0" i="0">
                          <a:solidFill>
                            <a:srgbClr val="0070C0"/>
                          </a:solidFill>
                          <a:latin typeface="Calibri"/>
                        </a:rPr>
                        <a:t>20.2.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extLst>
                  <a:ext uri="{0D108BD9-81ED-4DB2-BD59-A6C34878D82A}">
                    <a16:rowId xmlns:a16="http://schemas.microsoft.com/office/drawing/2014/main" val="10025"/>
                  </a:ext>
                </a:extLst>
              </a:tr>
              <a:tr h="175260">
                <a:tc>
                  <a:txBody>
                    <a:bodyPr/>
                    <a:lstStyle/>
                    <a:p>
                      <a:pPr algn="l"/>
                      <a:r>
                        <a:rPr sz="1100" b="0" i="0">
                          <a:solidFill>
                            <a:srgbClr val="000000"/>
                          </a:solidFill>
                          <a:latin typeface="Calibri"/>
                        </a:rPr>
                        <a:t>20.2.1.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extLst>
                  <a:ext uri="{0D108BD9-81ED-4DB2-BD59-A6C34878D82A}">
                    <a16:rowId xmlns:a16="http://schemas.microsoft.com/office/drawing/2014/main" val="10026"/>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Table of Contents (5/7)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0">
                          <a:solidFill>
                            <a:srgbClr val="000000"/>
                          </a:solidFill>
                          <a:latin typeface="Calibri"/>
                        </a:rPr>
                        <a:t>20.2.2.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extLst>
                  <a:ext uri="{0D108BD9-81ED-4DB2-BD59-A6C34878D82A}">
                    <a16:rowId xmlns:a16="http://schemas.microsoft.com/office/drawing/2014/main" val="10000"/>
                  </a:ext>
                </a:extLst>
              </a:tr>
              <a:tr h="175260">
                <a:tc>
                  <a:txBody>
                    <a:bodyPr/>
                    <a:lstStyle/>
                    <a:p>
                      <a:pPr algn="l"/>
                      <a:r>
                        <a:rPr sz="1100" b="0" i="0">
                          <a:solidFill>
                            <a:srgbClr val="000000"/>
                          </a:solidFill>
                          <a:latin typeface="Calibri"/>
                        </a:rPr>
                        <a:t>20.2.3.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extLst>
                  <a:ext uri="{0D108BD9-81ED-4DB2-BD59-A6C34878D82A}">
                    <a16:rowId xmlns:a16="http://schemas.microsoft.com/office/drawing/2014/main" val="10001"/>
                  </a:ext>
                </a:extLst>
              </a:tr>
              <a:tr h="175260">
                <a:tc>
                  <a:txBody>
                    <a:bodyPr/>
                    <a:lstStyle/>
                    <a:p>
                      <a:pPr algn="l"/>
                      <a:r>
                        <a:rPr sz="1100" b="0" i="0">
                          <a:solidFill>
                            <a:srgbClr val="0070C0"/>
                          </a:solidFill>
                          <a:latin typeface="Calibri"/>
                        </a:rPr>
                        <a:t>20.3.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extLst>
                  <a:ext uri="{0D108BD9-81ED-4DB2-BD59-A6C34878D82A}">
                    <a16:rowId xmlns:a16="http://schemas.microsoft.com/office/drawing/2014/main" val="10002"/>
                  </a:ext>
                </a:extLst>
              </a:tr>
              <a:tr h="175260">
                <a:tc>
                  <a:txBody>
                    <a:bodyPr/>
                    <a:lstStyle/>
                    <a:p>
                      <a:pPr algn="l"/>
                      <a:r>
                        <a:rPr sz="1100" b="0" i="0">
                          <a:solidFill>
                            <a:srgbClr val="0070C0"/>
                          </a:solidFill>
                          <a:latin typeface="Calibri"/>
                        </a:rPr>
                        <a:t>20.4.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extLst>
                  <a:ext uri="{0D108BD9-81ED-4DB2-BD59-A6C34878D82A}">
                    <a16:rowId xmlns:a16="http://schemas.microsoft.com/office/drawing/2014/main" val="10003"/>
                  </a:ext>
                </a:extLst>
              </a:tr>
              <a:tr h="175260">
                <a:tc>
                  <a:txBody>
                    <a:bodyPr/>
                    <a:lstStyle/>
                    <a:p>
                      <a:pPr algn="l"/>
                      <a:r>
                        <a:rPr sz="1100" b="0" i="0">
                          <a:solidFill>
                            <a:srgbClr val="0070C0"/>
                          </a:solidFill>
                          <a:latin typeface="Calibri"/>
                        </a:rPr>
                        <a:t>20.5.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extLst>
                  <a:ext uri="{0D108BD9-81ED-4DB2-BD59-A6C34878D82A}">
                    <a16:rowId xmlns:a16="http://schemas.microsoft.com/office/drawing/2014/main" val="10004"/>
                  </a:ext>
                </a:extLst>
              </a:tr>
              <a:tr h="175260">
                <a:tc>
                  <a:txBody>
                    <a:bodyPr/>
                    <a:lstStyle/>
                    <a:p>
                      <a:pPr algn="l"/>
                      <a:r>
                        <a:rPr sz="1100" b="0" i="0">
                          <a:solidFill>
                            <a:srgbClr val="0070C0"/>
                          </a:solidFill>
                          <a:latin typeface="Calibri"/>
                        </a:rPr>
                        <a:t>20.6.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extLst>
                  <a:ext uri="{0D108BD9-81ED-4DB2-BD59-A6C34878D82A}">
                    <a16:rowId xmlns:a16="http://schemas.microsoft.com/office/drawing/2014/main" val="10005"/>
                  </a:ext>
                </a:extLst>
              </a:tr>
              <a:tr h="175260">
                <a:tc>
                  <a:txBody>
                    <a:bodyPr/>
                    <a:lstStyle/>
                    <a:p>
                      <a:pPr algn="l"/>
                      <a:r>
                        <a:rPr sz="1100" b="0" i="0">
                          <a:solidFill>
                            <a:srgbClr val="0070C0"/>
                          </a:solidFill>
                          <a:latin typeface="Calibri"/>
                        </a:rPr>
                        <a:t>20.7.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extLst>
                  <a:ext uri="{0D108BD9-81ED-4DB2-BD59-A6C34878D82A}">
                    <a16:rowId xmlns:a16="http://schemas.microsoft.com/office/drawing/2014/main" val="10006"/>
                  </a:ext>
                </a:extLst>
              </a:tr>
              <a:tr h="175260">
                <a:tc>
                  <a:txBody>
                    <a:bodyPr/>
                    <a:lstStyle/>
                    <a:p>
                      <a:pPr algn="l"/>
                      <a:r>
                        <a:rPr sz="1100" b="0" i="0">
                          <a:solidFill>
                            <a:srgbClr val="0070C0"/>
                          </a:solidFill>
                          <a:latin typeface="Calibri"/>
                        </a:rPr>
                        <a:t>20.8.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extLst>
                  <a:ext uri="{0D108BD9-81ED-4DB2-BD59-A6C34878D82A}">
                    <a16:rowId xmlns:a16="http://schemas.microsoft.com/office/drawing/2014/main" val="10007"/>
                  </a:ext>
                </a:extLst>
              </a:tr>
              <a:tr h="175260">
                <a:tc>
                  <a:txBody>
                    <a:bodyPr/>
                    <a:lstStyle/>
                    <a:p>
                      <a:pPr algn="l"/>
                      <a:r>
                        <a:rPr sz="1100" b="0" i="0">
                          <a:solidFill>
                            <a:srgbClr val="0070C0"/>
                          </a:solidFill>
                          <a:latin typeface="Calibri"/>
                        </a:rPr>
                        <a:t>20.9.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extLst>
                  <a:ext uri="{0D108BD9-81ED-4DB2-BD59-A6C34878D82A}">
                    <a16:rowId xmlns:a16="http://schemas.microsoft.com/office/drawing/2014/main" val="10008"/>
                  </a:ext>
                </a:extLst>
              </a:tr>
              <a:tr h="175260">
                <a:tc>
                  <a:txBody>
                    <a:bodyPr/>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Sustainability, Regulatory Compliance, and Protective Packaging Substitution Analysis</a:t>
                      </a:r>
                      <a:endParaRPr sz="1100"/>
                    </a:p>
                  </a:txBody>
                  <a:tcPr marL="171450" marR="9525" marT="9525" marB="0" anchor="ctr"/>
                </a:tc>
                <a:extLst>
                  <a:ext uri="{0D108BD9-81ED-4DB2-BD59-A6C34878D82A}">
                    <a16:rowId xmlns:a16="http://schemas.microsoft.com/office/drawing/2014/main" val="10009"/>
                  </a:ext>
                </a:extLst>
              </a:tr>
              <a:tr h="350520">
                <a:tc>
                  <a:txBody>
                    <a:bodyPr/>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Global, Vietnam and Southeast Asia Packaging EPR and Recycling Compliance Matrix - Country × Regulation × Packaging Material</a:t>
                      </a:r>
                      <a:endParaRPr sz="1100"/>
                    </a:p>
                  </a:txBody>
                  <a:tcPr marL="428625" marR="9525" marT="9525" marB="0" anchor="ctr"/>
                </a:tc>
                <a:extLst>
                  <a:ext uri="{0D108BD9-81ED-4DB2-BD59-A6C34878D82A}">
                    <a16:rowId xmlns:a16="http://schemas.microsoft.com/office/drawing/2014/main" val="10010"/>
                  </a:ext>
                </a:extLst>
              </a:tr>
              <a:tr h="350520">
                <a:tc>
                  <a:txBody>
                    <a:bodyPr/>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Corrugated Partition Recyclability and Recycled-content Benchmark - % Recyclability / % Recycled Fiber</a:t>
                      </a:r>
                      <a:endParaRPr sz="1100"/>
                    </a:p>
                  </a:txBody>
                  <a:tcPr marL="428625" marR="9525" marT="9525" marB="0" anchor="ctr"/>
                </a:tc>
                <a:extLst>
                  <a:ext uri="{0D108BD9-81ED-4DB2-BD59-A6C34878D82A}">
                    <a16:rowId xmlns:a16="http://schemas.microsoft.com/office/drawing/2014/main" val="10011"/>
                  </a:ext>
                </a:extLst>
              </a:tr>
              <a:tr h="350520">
                <a:tc>
                  <a:txBody>
                    <a:bodyPr/>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Corrugated versus EPS Foam, Plastic Inserts, and Molded Fiber Cost Comparison - USD/Unit / USD/1,000 Packs</a:t>
                      </a:r>
                      <a:endParaRPr sz="1100"/>
                    </a:p>
                  </a:txBody>
                  <a:tcPr marL="428625" marR="9525" marT="9525" marB="0" anchor="ctr"/>
                </a:tc>
                <a:extLst>
                  <a:ext uri="{0D108BD9-81ED-4DB2-BD59-A6C34878D82A}">
                    <a16:rowId xmlns:a16="http://schemas.microsoft.com/office/drawing/2014/main" val="10012"/>
                  </a:ext>
                </a:extLst>
              </a:tr>
              <a:tr h="350520">
                <a:tc>
                  <a:txBody>
                    <a:bodyPr/>
                    <a:lstStyle/>
                    <a:p>
                      <a:pPr algn="l"/>
                      <a:r>
                        <a:rPr sz="1100" b="0" i="0">
                          <a:solidFill>
                            <a:srgbClr val="0070C0"/>
                          </a:solidFill>
                          <a:latin typeface="Calibri"/>
                        </a:rPr>
                        <a:t>21.4.</a:t>
                      </a:r>
                      <a:r>
                        <a:rPr sz="700" b="0" i="0">
                          <a:solidFill>
                            <a:srgbClr val="0070C0"/>
                          </a:solidFill>
                          <a:latin typeface="Times New Roman"/>
                        </a:rPr>
                        <a:t>  </a:t>
                      </a:r>
                      <a:r>
                        <a:rPr sz="1100" b="0" i="0">
                          <a:solidFill>
                            <a:srgbClr val="0070C0"/>
                          </a:solidFill>
                          <a:latin typeface="Calibri"/>
                        </a:rPr>
                        <a:t>Virgin versus Recycled Paper Partition Performance and Cost Trade-off - GSM / Strength / USD/MT</a:t>
                      </a:r>
                      <a:endParaRPr sz="1100"/>
                    </a:p>
                  </a:txBody>
                  <a:tcPr marL="428625" marR="9525" marT="9525" marB="0" anchor="ctr"/>
                </a:tc>
                <a:extLst>
                  <a:ext uri="{0D108BD9-81ED-4DB2-BD59-A6C34878D82A}">
                    <a16:rowId xmlns:a16="http://schemas.microsoft.com/office/drawing/2014/main" val="10013"/>
                  </a:ext>
                </a:extLst>
              </a:tr>
              <a:tr h="350520">
                <a:tc>
                  <a:txBody>
                    <a:bodyPr/>
                    <a:lstStyle/>
                    <a:p>
                      <a:pPr algn="l"/>
                      <a:r>
                        <a:rPr sz="1100" b="0" i="0">
                          <a:solidFill>
                            <a:srgbClr val="0070C0"/>
                          </a:solidFill>
                          <a:latin typeface="Calibri"/>
                        </a:rPr>
                        <a:t>21.5.</a:t>
                      </a:r>
                      <a:r>
                        <a:rPr sz="700" b="0" i="0">
                          <a:solidFill>
                            <a:srgbClr val="0070C0"/>
                          </a:solidFill>
                          <a:latin typeface="Times New Roman"/>
                        </a:rPr>
                        <a:t>  </a:t>
                      </a:r>
                      <a:r>
                        <a:rPr sz="1100" b="0" i="0">
                          <a:solidFill>
                            <a:srgbClr val="0070C0"/>
                          </a:solidFill>
                          <a:latin typeface="Calibri"/>
                        </a:rPr>
                        <a:t>Sustainable Partition Adoption Forecast in Vietnam and Southeast Asia, 2026–2036 - MT / CAGR % / Penetration %</a:t>
                      </a:r>
                      <a:endParaRPr sz="1100"/>
                    </a:p>
                  </a:txBody>
                  <a:tcPr marL="428625" marR="9525" marT="9525" marB="0" anchor="ctr"/>
                </a:tc>
                <a:extLst>
                  <a:ext uri="{0D108BD9-81ED-4DB2-BD59-A6C34878D82A}">
                    <a16:rowId xmlns:a16="http://schemas.microsoft.com/office/drawing/2014/main" val="10014"/>
                  </a:ext>
                </a:extLst>
              </a:tr>
              <a:tr h="175260">
                <a:tc>
                  <a:txBody>
                    <a:bodyPr/>
                    <a:lstStyle/>
                    <a:p>
                      <a:pPr algn="l"/>
                      <a:r>
                        <a:rPr sz="1100" b="1" i="0">
                          <a:solidFill>
                            <a:srgbClr val="000000"/>
                          </a:solidFill>
                          <a:latin typeface="Calibri"/>
                        </a:rPr>
                        <a:t>Section 5: Production and Trade Outlook</a:t>
                      </a:r>
                      <a:endParaRPr sz="1100"/>
                    </a:p>
                  </a:txBody>
                  <a:tcPr marL="9525" marR="9525" marT="9525" marB="0" anchor="ctr"/>
                </a:tc>
                <a:extLst>
                  <a:ext uri="{0D108BD9-81ED-4DB2-BD59-A6C34878D82A}">
                    <a16:rowId xmlns:a16="http://schemas.microsoft.com/office/drawing/2014/main" val="10015"/>
                  </a:ext>
                </a:extLst>
              </a:tr>
              <a:tr h="175260">
                <a:tc>
                  <a:txBody>
                    <a:bodyPr/>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extLst>
                  <a:ext uri="{0D108BD9-81ED-4DB2-BD59-A6C34878D82A}">
                    <a16:rowId xmlns:a16="http://schemas.microsoft.com/office/drawing/2014/main" val="10016"/>
                  </a:ext>
                </a:extLst>
              </a:tr>
              <a:tr h="175260">
                <a:tc>
                  <a:txBody>
                    <a:bodyPr/>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Production Volume (MT), (2021-2026) by Region/ Country</a:t>
                      </a:r>
                      <a:endParaRPr sz="1100"/>
                    </a:p>
                  </a:txBody>
                  <a:tcPr marL="428625" marR="9525" marT="9525" marB="0" anchor="ctr"/>
                </a:tc>
                <a:extLst>
                  <a:ext uri="{0D108BD9-81ED-4DB2-BD59-A6C34878D82A}">
                    <a16:rowId xmlns:a16="http://schemas.microsoft.com/office/drawing/2014/main" val="10017"/>
                  </a:ext>
                </a:extLst>
              </a:tr>
              <a:tr h="175260">
                <a:tc>
                  <a:txBody>
                    <a:bodyPr/>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Exports: Key Countries, Share &amp; Value (US$ Mn / MT)</a:t>
                      </a:r>
                      <a:endParaRPr sz="1100"/>
                    </a:p>
                  </a:txBody>
                  <a:tcPr marL="4286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Imports: Key Countries, Share &amp; Value (US$ Mn / MT)</a:t>
                      </a:r>
                      <a:endParaRPr sz="1100"/>
                    </a:p>
                  </a:txBody>
                  <a:tcPr marL="428625" marR="9525" marT="9525" marB="0" anchor="ctr"/>
                </a:tc>
                <a:extLst>
                  <a:ext uri="{0D108BD9-81ED-4DB2-BD59-A6C34878D82A}">
                    <a16:rowId xmlns:a16="http://schemas.microsoft.com/office/drawing/2014/main" val="10019"/>
                  </a:ext>
                </a:extLst>
              </a:tr>
              <a:tr h="175260">
                <a:tc>
                  <a:txBody>
                    <a:bodyPr/>
                    <a:lstStyle/>
                    <a:p>
                      <a:pPr algn="l"/>
                      <a:r>
                        <a:rPr sz="1100" b="0" i="0">
                          <a:solidFill>
                            <a:srgbClr val="0070C0"/>
                          </a:solidFill>
                          <a:latin typeface="Calibri"/>
                        </a:rPr>
                        <a:t>22.4.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extLst>
                  <a:ext uri="{0D108BD9-81ED-4DB2-BD59-A6C34878D82A}">
                    <a16:rowId xmlns:a16="http://schemas.microsoft.com/office/drawing/2014/main" val="10020"/>
                  </a:ext>
                </a:extLst>
              </a:tr>
              <a:tr h="175260">
                <a:tc>
                  <a:txBody>
                    <a:bodyPr/>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Converter Capacity, Production Capability, and Supply Network Analysis</a:t>
                      </a:r>
                      <a:endParaRPr sz="1100"/>
                    </a:p>
                  </a:txBody>
                  <a:tcPr marL="171450" marR="9525" marT="9525" marB="0" anchor="ctr"/>
                </a:tc>
                <a:extLst>
                  <a:ext uri="{0D108BD9-81ED-4DB2-BD59-A6C34878D82A}">
                    <a16:rowId xmlns:a16="http://schemas.microsoft.com/office/drawing/2014/main" val="10021"/>
                  </a:ext>
                </a:extLst>
              </a:tr>
              <a:tr h="350520">
                <a:tc>
                  <a:txBody>
                    <a:bodyPr/>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Global, Vietnam and Southeast Asia Corrugated Partition Installed Production Capacity by Country - MT/year / Mn Units/year</a:t>
                      </a:r>
                      <a:endParaRPr sz="1100"/>
                    </a:p>
                  </a:txBody>
                  <a:tcPr marL="428625" marR="9525" marT="9525" marB="0" anchor="ctr"/>
                </a:tc>
                <a:extLst>
                  <a:ext uri="{0D108BD9-81ED-4DB2-BD59-A6C34878D82A}">
                    <a16:rowId xmlns:a16="http://schemas.microsoft.com/office/drawing/2014/main" val="10022"/>
                  </a:ext>
                </a:extLst>
              </a:tr>
              <a:tr h="175260">
                <a:tc>
                  <a:txBody>
                    <a:bodyPr/>
                    <a:lstStyle/>
                    <a:p>
                      <a:pPr algn="l"/>
                      <a:endParaRPr sz="1100"/>
                    </a:p>
                  </a:txBody>
                  <a:tcPr marL="9525" marR="9525" marT="9525" marB="0" anchor="ctr"/>
                </a:tc>
                <a:extLst>
                  <a:ext uri="{0D108BD9-81ED-4DB2-BD59-A6C34878D82A}">
                    <a16:rowId xmlns:a16="http://schemas.microsoft.com/office/drawing/2014/main" val="10023"/>
                  </a:ext>
                </a:extLst>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350520">
                <a:tc>
                  <a:txBody>
                    <a:bodyPr/>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Converter-level Production Capacity and Manufacturing Footprint - MT/year / Number of Plants</a:t>
                      </a:r>
                      <a:endParaRPr sz="1100"/>
                    </a:p>
                  </a:txBody>
                  <a:tcPr marL="428625" marR="9525" marT="9525" marB="0" anchor="ctr"/>
                </a:tc>
                <a:extLst>
                  <a:ext uri="{0D108BD9-81ED-4DB2-BD59-A6C34878D82A}">
                    <a16:rowId xmlns:a16="http://schemas.microsoft.com/office/drawing/2014/main" val="10000"/>
                  </a:ext>
                </a:extLst>
              </a:tr>
              <a:tr h="350520">
                <a:tc>
                  <a:txBody>
                    <a:bodyPr/>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Partition Production Output by Converter and Product Format - MT/year / Mn Units/year</a:t>
                      </a:r>
                      <a:endParaRPr sz="1100"/>
                    </a:p>
                  </a:txBody>
                  <a:tcPr marL="428625" marR="9525" marT="9525" marB="0" anchor="ctr"/>
                </a:tc>
                <a:extLst>
                  <a:ext uri="{0D108BD9-81ED-4DB2-BD59-A6C34878D82A}">
                    <a16:rowId xmlns:a16="http://schemas.microsoft.com/office/drawing/2014/main" val="10001"/>
                  </a:ext>
                </a:extLst>
              </a:tr>
              <a:tr h="175260">
                <a:tc>
                  <a:txBody>
                    <a:bodyPr/>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Capacity Utilization by Converter Cluster and Manufacturing Technology - %</a:t>
                      </a:r>
                      <a:endParaRPr sz="1100"/>
                    </a:p>
                  </a:txBody>
                  <a:tcPr marL="428625" marR="9525" marT="9525" marB="0" anchor="ctr"/>
                </a:tc>
                <a:extLst>
                  <a:ext uri="{0D108BD9-81ED-4DB2-BD59-A6C34878D82A}">
                    <a16:rowId xmlns:a16="http://schemas.microsoft.com/office/drawing/2014/main" val="10002"/>
                  </a:ext>
                </a:extLst>
              </a:tr>
              <a:tr h="350520">
                <a:tc>
                  <a:txBody>
                    <a:bodyPr/>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Converting Equipment Configuration and Production Throughput - Units/hour / MT/year</a:t>
                      </a:r>
                      <a:endParaRPr sz="1100"/>
                    </a:p>
                  </a:txBody>
                  <a:tcPr marL="428625" marR="9525" marT="9525" marB="0" anchor="ctr"/>
                </a:tc>
                <a:extLst>
                  <a:ext uri="{0D108BD9-81ED-4DB2-BD59-A6C34878D82A}">
                    <a16:rowId xmlns:a16="http://schemas.microsoft.com/office/drawing/2014/main" val="10003"/>
                  </a:ext>
                </a:extLst>
              </a:tr>
              <a:tr h="350520">
                <a:tc>
                  <a:txBody>
                    <a:bodyPr/>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Paper Sourcing Structure by Converter - In-house / Domestic Supplier / Imported - % Share</a:t>
                      </a:r>
                      <a:endParaRPr sz="1100"/>
                    </a:p>
                  </a:txBody>
                  <a:tcPr marL="428625" marR="9525" marT="9525" marB="0" anchor="ctr"/>
                </a:tc>
                <a:extLst>
                  <a:ext uri="{0D108BD9-81ED-4DB2-BD59-A6C34878D82A}">
                    <a16:rowId xmlns:a16="http://schemas.microsoft.com/office/drawing/2014/main" val="10004"/>
                  </a:ext>
                </a:extLst>
              </a:tr>
              <a:tr h="350520">
                <a:tc>
                  <a:txBody>
                    <a:bodyPr/>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Announced Capacity Expansion and Downstream Investment Pipeline, 2026–2030 - MT/year / USD Mn</a:t>
                      </a:r>
                      <a:endParaRPr sz="1100"/>
                    </a:p>
                  </a:txBody>
                  <a:tcPr marL="428625" marR="9525" marT="9525" marB="0" anchor="ctr"/>
                </a:tc>
                <a:extLst>
                  <a:ext uri="{0D108BD9-81ED-4DB2-BD59-A6C34878D82A}">
                    <a16:rowId xmlns:a16="http://schemas.microsoft.com/office/drawing/2014/main" val="10005"/>
                  </a:ext>
                </a:extLst>
              </a:tr>
              <a:tr h="175260">
                <a:tc>
                  <a:txBody>
                    <a:bodyPr/>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extLst>
                  <a:ext uri="{0D108BD9-81ED-4DB2-BD59-A6C34878D82A}">
                    <a16:rowId xmlns:a16="http://schemas.microsoft.com/office/drawing/2014/main" val="10006"/>
                  </a:ext>
                </a:extLst>
              </a:tr>
              <a:tr h="175260">
                <a:tc>
                  <a:txBody>
                    <a:bodyPr/>
                    <a:lstStyle/>
                    <a:p>
                      <a:pPr algn="l"/>
                      <a:r>
                        <a:rPr sz="1100" b="0" i="0">
                          <a:solidFill>
                            <a:srgbClr val="0070C0"/>
                          </a:solidFill>
                          <a:latin typeface="Calibri"/>
                        </a:rPr>
                        <a:t>24.1.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extLst>
                  <a:ext uri="{0D108BD9-81ED-4DB2-BD59-A6C34878D82A}">
                    <a16:rowId xmlns:a16="http://schemas.microsoft.com/office/drawing/2014/main" val="10007"/>
                  </a:ext>
                </a:extLst>
              </a:tr>
              <a:tr h="175260">
                <a:tc>
                  <a:txBody>
                    <a:bodyPr/>
                    <a:lstStyle/>
                    <a:p>
                      <a:pPr algn="l"/>
                      <a:r>
                        <a:rPr sz="1100" b="0" i="0">
                          <a:solidFill>
                            <a:srgbClr val="000000"/>
                          </a:solidFill>
                          <a:latin typeface="Calibri"/>
                        </a:rPr>
                        <a:t>24.1.1.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extLst>
                  <a:ext uri="{0D108BD9-81ED-4DB2-BD59-A6C34878D82A}">
                    <a16:rowId xmlns:a16="http://schemas.microsoft.com/office/drawing/2014/main" val="10008"/>
                  </a:ext>
                </a:extLst>
              </a:tr>
              <a:tr h="175260">
                <a:tc>
                  <a:txBody>
                    <a:bodyPr/>
                    <a:lstStyle/>
                    <a:p>
                      <a:pPr algn="l"/>
                      <a:r>
                        <a:rPr sz="1100" b="0" i="0">
                          <a:solidFill>
                            <a:srgbClr val="000000"/>
                          </a:solidFill>
                          <a:latin typeface="Calibri"/>
                        </a:rPr>
                        <a:t>24.1.2.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extLst>
                  <a:ext uri="{0D108BD9-81ED-4DB2-BD59-A6C34878D82A}">
                    <a16:rowId xmlns:a16="http://schemas.microsoft.com/office/drawing/2014/main" val="10009"/>
                  </a:ext>
                </a:extLst>
              </a:tr>
              <a:tr h="175260">
                <a:tc>
                  <a:txBody>
                    <a:bodyPr/>
                    <a:lstStyle/>
                    <a:p>
                      <a:pPr algn="l"/>
                      <a:r>
                        <a:rPr sz="1100" b="0" i="0">
                          <a:solidFill>
                            <a:srgbClr val="0070C0"/>
                          </a:solidFill>
                          <a:latin typeface="Calibri"/>
                        </a:rPr>
                        <a:t>24.2.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extLst>
                  <a:ext uri="{0D108BD9-81ED-4DB2-BD59-A6C34878D82A}">
                    <a16:rowId xmlns:a16="http://schemas.microsoft.com/office/drawing/2014/main" val="10010"/>
                  </a:ext>
                </a:extLst>
              </a:tr>
              <a:tr h="175260">
                <a:tc>
                  <a:txBody>
                    <a:bodyPr/>
                    <a:lstStyle/>
                    <a:p>
                      <a:pPr algn="l"/>
                      <a:r>
                        <a:rPr sz="1100" b="0" i="0">
                          <a:solidFill>
                            <a:srgbClr val="0070C0"/>
                          </a:solidFill>
                          <a:latin typeface="Calibri"/>
                        </a:rPr>
                        <a:t>24.3.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extLst>
                  <a:ext uri="{0D108BD9-81ED-4DB2-BD59-A6C34878D82A}">
                    <a16:rowId xmlns:a16="http://schemas.microsoft.com/office/drawing/2014/main" val="10011"/>
                  </a:ext>
                </a:extLst>
              </a:tr>
              <a:tr h="175260">
                <a:tc>
                  <a:txBody>
                    <a:bodyPr/>
                    <a:lstStyle/>
                    <a:p>
                      <a:pPr algn="l"/>
                      <a:r>
                        <a:rPr sz="1100" b="0" i="0">
                          <a:solidFill>
                            <a:srgbClr val="000000"/>
                          </a:solidFill>
                          <a:latin typeface="Calibri"/>
                        </a:rPr>
                        <a:t>24.3.1.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extLst>
                  <a:ext uri="{0D108BD9-81ED-4DB2-BD59-A6C34878D82A}">
                    <a16:rowId xmlns:a16="http://schemas.microsoft.com/office/drawing/2014/main" val="10012"/>
                  </a:ext>
                </a:extLst>
              </a:tr>
              <a:tr h="175260">
                <a:tc>
                  <a:txBody>
                    <a:bodyPr/>
                    <a:lstStyle/>
                    <a:p>
                      <a:pPr algn="l"/>
                      <a:r>
                        <a:rPr sz="1100" b="0" i="0">
                          <a:solidFill>
                            <a:srgbClr val="000000"/>
                          </a:solidFill>
                          <a:latin typeface="Calibri"/>
                        </a:rPr>
                        <a:t>24.3.2.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extLst>
                  <a:ext uri="{0D108BD9-81ED-4DB2-BD59-A6C34878D82A}">
                    <a16:rowId xmlns:a16="http://schemas.microsoft.com/office/drawing/2014/main" val="10013"/>
                  </a:ext>
                </a:extLst>
              </a:tr>
              <a:tr h="175260">
                <a:tc>
                  <a:txBody>
                    <a:bodyPr/>
                    <a:lstStyle/>
                    <a:p>
                      <a:pPr algn="l"/>
                      <a:r>
                        <a:rPr sz="1100" b="0" i="0">
                          <a:solidFill>
                            <a:srgbClr val="000000"/>
                          </a:solidFill>
                          <a:latin typeface="Calibri"/>
                        </a:rPr>
                        <a:t>24.3.3.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extLst>
                  <a:ext uri="{0D108BD9-81ED-4DB2-BD59-A6C34878D82A}">
                    <a16:rowId xmlns:a16="http://schemas.microsoft.com/office/drawing/2014/main" val="10014"/>
                  </a:ext>
                </a:extLst>
              </a:tr>
              <a:tr h="350520">
                <a:tc>
                  <a:txBody>
                    <a:bodyPr/>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extLst>
                  <a:ext uri="{0D108BD9-81ED-4DB2-BD59-A6C34878D82A}">
                    <a16:rowId xmlns:a16="http://schemas.microsoft.com/office/drawing/2014/main" val="10015"/>
                  </a:ext>
                </a:extLst>
              </a:tr>
              <a:tr h="175260">
                <a:tc>
                  <a:txBody>
                    <a:bodyPr/>
                    <a:lstStyle/>
                    <a:p>
                      <a:pPr algn="l"/>
                      <a:r>
                        <a:rPr sz="1100" b="1" i="0">
                          <a:solidFill>
                            <a:srgbClr val="000000"/>
                          </a:solidFill>
                          <a:latin typeface="Calibri"/>
                        </a:rPr>
                        <a:t>Section 6: Competition Assessment</a:t>
                      </a:r>
                      <a:endParaRPr sz="1100"/>
                    </a:p>
                  </a:txBody>
                  <a:tcPr marL="9525" marR="9525" marT="9525" marB="0" anchor="ctr"/>
                </a:tc>
                <a:extLst>
                  <a:ext uri="{0D108BD9-81ED-4DB2-BD59-A6C34878D82A}">
                    <a16:rowId xmlns:a16="http://schemas.microsoft.com/office/drawing/2014/main" val="10016"/>
                  </a:ext>
                </a:extLst>
              </a:tr>
              <a:tr h="175260">
                <a:tc>
                  <a:txBody>
                    <a:bodyPr/>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extLst>
                  <a:ext uri="{0D108BD9-81ED-4DB2-BD59-A6C34878D82A}">
                    <a16:rowId xmlns:a16="http://schemas.microsoft.com/office/drawing/2014/main" val="10017"/>
                  </a:ext>
                </a:extLst>
              </a:tr>
              <a:tr h="175260">
                <a:tc>
                  <a:txBody>
                    <a:bodyPr/>
                    <a:lstStyle/>
                    <a:p>
                      <a:pPr algn="l"/>
                      <a:r>
                        <a:rPr sz="1100" b="1" i="0">
                          <a:solidFill>
                            <a:srgbClr val="000000"/>
                          </a:solidFill>
                          <a:latin typeface="Calibri"/>
                        </a:rPr>
                        <a:t>26.</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extLst>
                  <a:ext uri="{0D108BD9-81ED-4DB2-BD59-A6C34878D82A}">
                    <a16:rowId xmlns:a16="http://schemas.microsoft.com/office/drawing/2014/main" val="10018"/>
                  </a:ext>
                </a:extLst>
              </a:tr>
              <a:tr h="175260">
                <a:tc>
                  <a:txBody>
                    <a:bodyPr/>
                    <a:lstStyle/>
                    <a:p>
                      <a:pPr algn="l"/>
                      <a:r>
                        <a:rPr sz="1100" b="0" i="0">
                          <a:solidFill>
                            <a:srgbClr val="0070C0"/>
                          </a:solidFill>
                          <a:latin typeface="Calibri"/>
                        </a:rPr>
                        <a:t>26.1.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extLst>
                  <a:ext uri="{0D108BD9-81ED-4DB2-BD59-A6C34878D82A}">
                    <a16:rowId xmlns:a16="http://schemas.microsoft.com/office/drawing/2014/main" val="10019"/>
                  </a:ext>
                </a:extLst>
              </a:tr>
              <a:tr h="175260">
                <a:tc>
                  <a:txBody>
                    <a:bodyPr/>
                    <a:lstStyle/>
                    <a:p>
                      <a:pPr algn="l"/>
                      <a:r>
                        <a:rPr sz="1100" b="0" i="0">
                          <a:solidFill>
                            <a:srgbClr val="0070C0"/>
                          </a:solidFill>
                          <a:latin typeface="Calibri"/>
                        </a:rPr>
                        <a:t>26.2.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extLst>
                  <a:ext uri="{0D108BD9-81ED-4DB2-BD59-A6C34878D82A}">
                    <a16:rowId xmlns:a16="http://schemas.microsoft.com/office/drawing/2014/main" val="10020"/>
                  </a:ext>
                </a:extLst>
              </a:tr>
              <a:tr h="175260">
                <a:tc>
                  <a:txBody>
                    <a:bodyPr/>
                    <a:lstStyle/>
                    <a:p>
                      <a:pPr algn="l"/>
                      <a:r>
                        <a:rPr sz="1100" b="1" i="0">
                          <a:solidFill>
                            <a:srgbClr val="000000"/>
                          </a:solidFill>
                          <a:latin typeface="Calibri"/>
                        </a:rPr>
                        <a:t>27.</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extLst>
                  <a:ext uri="{0D108BD9-81ED-4DB2-BD59-A6C34878D82A}">
                    <a16:rowId xmlns:a16="http://schemas.microsoft.com/office/drawing/2014/main" val="10021"/>
                  </a:ext>
                </a:extLst>
              </a:tr>
              <a:tr h="175260">
                <a:tc>
                  <a:txBody>
                    <a:bodyPr/>
                    <a:lstStyle/>
                    <a:p>
                      <a:pPr algn="l"/>
                      <a:r>
                        <a:rPr sz="1100" b="0" i="0">
                          <a:solidFill>
                            <a:srgbClr val="0070C0"/>
                          </a:solidFill>
                          <a:latin typeface="Calibri"/>
                        </a:rPr>
                        <a:t>27.1.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extLst>
                  <a:ext uri="{0D108BD9-81ED-4DB2-BD59-A6C34878D82A}">
                    <a16:rowId xmlns:a16="http://schemas.microsoft.com/office/drawing/2014/main" val="10022"/>
                  </a:ext>
                </a:extLst>
              </a:tr>
              <a:tr h="175260">
                <a:tc>
                  <a:txBody>
                    <a:bodyPr/>
                    <a:lstStyle/>
                    <a:p>
                      <a:pPr algn="l"/>
                      <a:r>
                        <a:rPr sz="1100" b="0" i="0">
                          <a:solidFill>
                            <a:srgbClr val="0070C0"/>
                          </a:solidFill>
                          <a:latin typeface="Calibri"/>
                        </a:rPr>
                        <a:t>27.2.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extLst>
                  <a:ext uri="{0D108BD9-81ED-4DB2-BD59-A6C34878D82A}">
                    <a16:rowId xmlns:a16="http://schemas.microsoft.com/office/drawing/2014/main" val="10023"/>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Table of Contents (6/7)</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0">
                          <a:solidFill>
                            <a:srgbClr val="0070C0"/>
                          </a:solidFill>
                          <a:latin typeface="Calibri"/>
                        </a:rPr>
                        <a:t>27.3.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extLst>
                  <a:ext uri="{0D108BD9-81ED-4DB2-BD59-A6C34878D82A}">
                    <a16:rowId xmlns:a16="http://schemas.microsoft.com/office/drawing/2014/main" val="10000"/>
                  </a:ext>
                </a:extLst>
              </a:tr>
              <a:tr h="175260">
                <a:tc>
                  <a:txBody>
                    <a:bodyPr/>
                    <a:lstStyle/>
                    <a:p>
                      <a:pPr algn="l"/>
                      <a:r>
                        <a:rPr sz="1100" b="1" i="0">
                          <a:solidFill>
                            <a:srgbClr val="000000"/>
                          </a:solidFill>
                          <a:latin typeface="Calibri"/>
                        </a:rPr>
                        <a:t>28.</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extLst>
                  <a:ext uri="{0D108BD9-81ED-4DB2-BD59-A6C34878D82A}">
                    <a16:rowId xmlns:a16="http://schemas.microsoft.com/office/drawing/2014/main" val="10001"/>
                  </a:ext>
                </a:extLst>
              </a:tr>
              <a:tr h="175260">
                <a:tc>
                  <a:txBody>
                    <a:bodyPr/>
                    <a:lstStyle/>
                    <a:p>
                      <a:pPr algn="l"/>
                      <a:r>
                        <a:rPr sz="1100" b="0" i="0">
                          <a:solidFill>
                            <a:srgbClr val="0070C0"/>
                          </a:solidFill>
                          <a:latin typeface="Calibri"/>
                        </a:rPr>
                        <a:t>28.1.</a:t>
                      </a:r>
                      <a:r>
                        <a:rPr sz="700" b="0" i="0">
                          <a:solidFill>
                            <a:srgbClr val="0070C0"/>
                          </a:solidFill>
                          <a:latin typeface="Times New Roman"/>
                        </a:rPr>
                        <a:t>  </a:t>
                      </a:r>
                      <a:r>
                        <a:rPr sz="1100" b="0" i="0">
                          <a:solidFill>
                            <a:srgbClr val="0070C0"/>
                          </a:solidFill>
                          <a:latin typeface="Calibri"/>
                        </a:rPr>
                        <a:t>Multicell Packaging Inc.</a:t>
                      </a:r>
                      <a:endParaRPr sz="1100"/>
                    </a:p>
                  </a:txBody>
                  <a:tcPr marL="428625" marR="9525" marT="9525" marB="0" anchor="ctr"/>
                </a:tc>
                <a:extLst>
                  <a:ext uri="{0D108BD9-81ED-4DB2-BD59-A6C34878D82A}">
                    <a16:rowId xmlns:a16="http://schemas.microsoft.com/office/drawing/2014/main" val="10002"/>
                  </a:ext>
                </a:extLst>
              </a:tr>
              <a:tr h="175260">
                <a:tc>
                  <a:txBody>
                    <a:bodyPr/>
                    <a:lstStyle/>
                    <a:p>
                      <a:pPr algn="l"/>
                      <a:r>
                        <a:rPr sz="1100" b="0" i="0">
                          <a:solidFill>
                            <a:srgbClr val="000000"/>
                          </a:solidFill>
                          <a:latin typeface="Calibri"/>
                        </a:rPr>
                        <a:t>28.1.1.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extLst>
                  <a:ext uri="{0D108BD9-81ED-4DB2-BD59-A6C34878D82A}">
                    <a16:rowId xmlns:a16="http://schemas.microsoft.com/office/drawing/2014/main" val="10003"/>
                  </a:ext>
                </a:extLst>
              </a:tr>
              <a:tr h="175260">
                <a:tc>
                  <a:txBody>
                    <a:bodyPr/>
                    <a:lstStyle/>
                    <a:p>
                      <a:pPr algn="l"/>
                      <a:r>
                        <a:rPr sz="1100" b="0" i="0">
                          <a:solidFill>
                            <a:srgbClr val="000000"/>
                          </a:solidFill>
                          <a:latin typeface="Calibri"/>
                        </a:rPr>
                        <a:t>28.1.2.</a:t>
                      </a:r>
                      <a:r>
                        <a:rPr sz="700" b="0" i="0">
                          <a:solidFill>
                            <a:srgbClr val="000000"/>
                          </a:solidFill>
                          <a:latin typeface="Times New Roman"/>
                        </a:rPr>
                        <a:t> </a:t>
                      </a:r>
                      <a:r>
                        <a:rPr sz="1100" b="0" i="0">
                          <a:solidFill>
                            <a:srgbClr val="000000"/>
                          </a:solidFill>
                          <a:latin typeface="Calibri"/>
                        </a:rPr>
                        <a:t>Apparent Production Volume (MT)</a:t>
                      </a:r>
                      <a:endParaRPr sz="1100"/>
                    </a:p>
                  </a:txBody>
                  <a:tcPr marL="771525" marR="9525" marT="9525" marB="0" anchor="ctr"/>
                </a:tc>
                <a:extLst>
                  <a:ext uri="{0D108BD9-81ED-4DB2-BD59-A6C34878D82A}">
                    <a16:rowId xmlns:a16="http://schemas.microsoft.com/office/drawing/2014/main" val="10004"/>
                  </a:ext>
                </a:extLst>
              </a:tr>
              <a:tr h="175260">
                <a:tc>
                  <a:txBody>
                    <a:bodyPr/>
                    <a:lstStyle/>
                    <a:p>
                      <a:pPr algn="l"/>
                      <a:r>
                        <a:rPr sz="1100" b="0" i="0">
                          <a:solidFill>
                            <a:srgbClr val="000000"/>
                          </a:solidFill>
                          <a:latin typeface="Calibri"/>
                        </a:rPr>
                        <a:t>28.1.3.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extLst>
                  <a:ext uri="{0D108BD9-81ED-4DB2-BD59-A6C34878D82A}">
                    <a16:rowId xmlns:a16="http://schemas.microsoft.com/office/drawing/2014/main" val="10005"/>
                  </a:ext>
                </a:extLst>
              </a:tr>
              <a:tr h="175260">
                <a:tc>
                  <a:txBody>
                    <a:bodyPr/>
                    <a:lstStyle/>
                    <a:p>
                      <a:pPr algn="l"/>
                      <a:r>
                        <a:rPr sz="1100" b="0" i="0">
                          <a:solidFill>
                            <a:srgbClr val="000000"/>
                          </a:solidFill>
                          <a:latin typeface="Calibri"/>
                        </a:rPr>
                        <a:t>28.1.4.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extLst>
                  <a:ext uri="{0D108BD9-81ED-4DB2-BD59-A6C34878D82A}">
                    <a16:rowId xmlns:a16="http://schemas.microsoft.com/office/drawing/2014/main" val="10006"/>
                  </a:ext>
                </a:extLst>
              </a:tr>
              <a:tr h="175260">
                <a:tc>
                  <a:txBody>
                    <a:bodyPr/>
                    <a:lstStyle/>
                    <a:p>
                      <a:pPr algn="l"/>
                      <a:r>
                        <a:rPr sz="1100" b="0" i="1">
                          <a:solidFill>
                            <a:srgbClr val="000000"/>
                          </a:solidFill>
                          <a:latin typeface="Calibri"/>
                        </a:rPr>
                        <a:t>28.1.4.1.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extLst>
                  <a:ext uri="{0D108BD9-81ED-4DB2-BD59-A6C34878D82A}">
                    <a16:rowId xmlns:a16="http://schemas.microsoft.com/office/drawing/2014/main" val="10007"/>
                  </a:ext>
                </a:extLst>
              </a:tr>
              <a:tr h="175260">
                <a:tc>
                  <a:txBody>
                    <a:bodyPr/>
                    <a:lstStyle/>
                    <a:p>
                      <a:pPr algn="l"/>
                      <a:r>
                        <a:rPr sz="1100" b="0" i="1">
                          <a:solidFill>
                            <a:srgbClr val="000000"/>
                          </a:solidFill>
                          <a:latin typeface="Calibri"/>
                        </a:rPr>
                        <a:t>28.1.4.2.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extLst>
                  <a:ext uri="{0D108BD9-81ED-4DB2-BD59-A6C34878D82A}">
                    <a16:rowId xmlns:a16="http://schemas.microsoft.com/office/drawing/2014/main" val="10008"/>
                  </a:ext>
                </a:extLst>
              </a:tr>
              <a:tr h="175260">
                <a:tc>
                  <a:txBody>
                    <a:bodyPr/>
                    <a:lstStyle/>
                    <a:p>
                      <a:pPr algn="l"/>
                      <a:r>
                        <a:rPr sz="1100" b="0" i="1">
                          <a:solidFill>
                            <a:srgbClr val="000000"/>
                          </a:solidFill>
                          <a:latin typeface="Calibri"/>
                        </a:rPr>
                        <a:t>28.1.4.3.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extLst>
                  <a:ext uri="{0D108BD9-81ED-4DB2-BD59-A6C34878D82A}">
                    <a16:rowId xmlns:a16="http://schemas.microsoft.com/office/drawing/2014/main" val="10009"/>
                  </a:ext>
                </a:extLst>
              </a:tr>
              <a:tr h="175260">
                <a:tc>
                  <a:txBody>
                    <a:bodyPr/>
                    <a:lstStyle/>
                    <a:p>
                      <a:pPr algn="l"/>
                      <a:r>
                        <a:rPr sz="1100" b="0" i="0">
                          <a:solidFill>
                            <a:srgbClr val="000000"/>
                          </a:solidFill>
                          <a:latin typeface="Calibri"/>
                        </a:rPr>
                        <a:t>28.1.5.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extLst>
                  <a:ext uri="{0D108BD9-81ED-4DB2-BD59-A6C34878D82A}">
                    <a16:rowId xmlns:a16="http://schemas.microsoft.com/office/drawing/2014/main" val="10010"/>
                  </a:ext>
                </a:extLst>
              </a:tr>
              <a:tr h="175260">
                <a:tc>
                  <a:txBody>
                    <a:bodyPr/>
                    <a:lstStyle/>
                    <a:p>
                      <a:pPr algn="l"/>
                      <a:r>
                        <a:rPr sz="1100" b="0" i="0">
                          <a:solidFill>
                            <a:srgbClr val="000000"/>
                          </a:solidFill>
                          <a:latin typeface="Calibri"/>
                        </a:rPr>
                        <a:t>28.1.6.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extLst>
                  <a:ext uri="{0D108BD9-81ED-4DB2-BD59-A6C34878D82A}">
                    <a16:rowId xmlns:a16="http://schemas.microsoft.com/office/drawing/2014/main" val="10011"/>
                  </a:ext>
                </a:extLst>
              </a:tr>
              <a:tr h="175260">
                <a:tc>
                  <a:txBody>
                    <a:bodyPr/>
                    <a:lstStyle/>
                    <a:p>
                      <a:pPr algn="l"/>
                      <a:r>
                        <a:rPr sz="1100" b="0" i="1">
                          <a:solidFill>
                            <a:srgbClr val="000000"/>
                          </a:solidFill>
                          <a:latin typeface="Calibri"/>
                        </a:rPr>
                        <a:t>28.1.6.1.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extLst>
                  <a:ext uri="{0D108BD9-81ED-4DB2-BD59-A6C34878D82A}">
                    <a16:rowId xmlns:a16="http://schemas.microsoft.com/office/drawing/2014/main" val="10012"/>
                  </a:ext>
                </a:extLst>
              </a:tr>
              <a:tr h="175260">
                <a:tc>
                  <a:txBody>
                    <a:bodyPr/>
                    <a:lstStyle/>
                    <a:p>
                      <a:pPr algn="l"/>
                      <a:r>
                        <a:rPr sz="1100" b="0" i="1">
                          <a:solidFill>
                            <a:srgbClr val="000000"/>
                          </a:solidFill>
                          <a:latin typeface="Calibri"/>
                        </a:rPr>
                        <a:t>28.1.6.2.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extLst>
                  <a:ext uri="{0D108BD9-81ED-4DB2-BD59-A6C34878D82A}">
                    <a16:rowId xmlns:a16="http://schemas.microsoft.com/office/drawing/2014/main" val="10013"/>
                  </a:ext>
                </a:extLst>
              </a:tr>
              <a:tr h="175260">
                <a:tc>
                  <a:txBody>
                    <a:bodyPr/>
                    <a:lstStyle/>
                    <a:p>
                      <a:pPr algn="l"/>
                      <a:r>
                        <a:rPr sz="1100" b="0" i="1">
                          <a:solidFill>
                            <a:srgbClr val="000000"/>
                          </a:solidFill>
                          <a:latin typeface="Calibri"/>
                        </a:rPr>
                        <a:t>28.1.6.3.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extLst>
                  <a:ext uri="{0D108BD9-81ED-4DB2-BD59-A6C34878D82A}">
                    <a16:rowId xmlns:a16="http://schemas.microsoft.com/office/drawing/2014/main" val="10014"/>
                  </a:ext>
                </a:extLst>
              </a:tr>
              <a:tr h="175260">
                <a:tc>
                  <a:txBody>
                    <a:bodyPr/>
                    <a:lstStyle/>
                    <a:p>
                      <a:pPr algn="l"/>
                      <a:r>
                        <a:rPr sz="1100" b="0" i="1">
                          <a:solidFill>
                            <a:srgbClr val="000000"/>
                          </a:solidFill>
                          <a:latin typeface="Calibri"/>
                        </a:rPr>
                        <a:t>28.1.6.4.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extLst>
                  <a:ext uri="{0D108BD9-81ED-4DB2-BD59-A6C34878D82A}">
                    <a16:rowId xmlns:a16="http://schemas.microsoft.com/office/drawing/2014/main" val="10015"/>
                  </a:ext>
                </a:extLst>
              </a:tr>
              <a:tr h="175260">
                <a:tc>
                  <a:txBody>
                    <a:bodyPr/>
                    <a:lstStyle/>
                    <a:p>
                      <a:pPr algn="l"/>
                      <a:r>
                        <a:rPr sz="1100" b="0" i="0">
                          <a:solidFill>
                            <a:srgbClr val="000000"/>
                          </a:solidFill>
                          <a:latin typeface="Calibri"/>
                        </a:rPr>
                        <a:t>28.1.7.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extLst>
                  <a:ext uri="{0D108BD9-81ED-4DB2-BD59-A6C34878D82A}">
                    <a16:rowId xmlns:a16="http://schemas.microsoft.com/office/drawing/2014/main" val="10016"/>
                  </a:ext>
                </a:extLst>
              </a:tr>
              <a:tr h="175260">
                <a:tc>
                  <a:txBody>
                    <a:bodyPr/>
                    <a:lstStyle/>
                    <a:p>
                      <a:pPr algn="l"/>
                      <a:r>
                        <a:rPr sz="1100" b="0" i="0">
                          <a:solidFill>
                            <a:srgbClr val="000000"/>
                          </a:solidFill>
                          <a:latin typeface="Calibri"/>
                        </a:rPr>
                        <a:t>28.1.8.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extLst>
                  <a:ext uri="{0D108BD9-81ED-4DB2-BD59-A6C34878D82A}">
                    <a16:rowId xmlns:a16="http://schemas.microsoft.com/office/drawing/2014/main" val="10017"/>
                  </a:ext>
                </a:extLst>
              </a:tr>
              <a:tr h="175260">
                <a:tc>
                  <a:txBody>
                    <a:bodyPr/>
                    <a:lstStyle/>
                    <a:p>
                      <a:pPr algn="l"/>
                      <a:r>
                        <a:rPr sz="1100" b="0" i="1">
                          <a:solidFill>
                            <a:srgbClr val="EE0000"/>
                          </a:solidFill>
                          <a:latin typeface="Calibri"/>
                        </a:rPr>
                        <a:t>Note: All companies shall be indicated in similar manner</a:t>
                      </a:r>
                      <a:endParaRPr sz="1100"/>
                    </a:p>
                  </a:txBody>
                  <a:tcPr marL="95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70C0"/>
                          </a:solidFill>
                          <a:latin typeface="Calibri"/>
                        </a:rPr>
                        <a:t>28.2.</a:t>
                      </a:r>
                      <a:r>
                        <a:rPr sz="700" b="0" i="0">
                          <a:solidFill>
                            <a:srgbClr val="0070C0"/>
                          </a:solidFill>
                          <a:latin typeface="Times New Roman"/>
                        </a:rPr>
                        <a:t>  </a:t>
                      </a:r>
                      <a:r>
                        <a:rPr sz="1100" b="0" i="0">
                          <a:solidFill>
                            <a:srgbClr val="0070C0"/>
                          </a:solidFill>
                          <a:latin typeface="Calibri"/>
                        </a:rPr>
                        <a:t>Great American Paper Inc.</a:t>
                      </a:r>
                      <a:endParaRPr sz="1100"/>
                    </a:p>
                  </a:txBody>
                  <a:tcPr marL="428625" marR="9525" marT="9525" marB="0" anchor="ctr"/>
                </a:tc>
                <a:extLst>
                  <a:ext uri="{0D108BD9-81ED-4DB2-BD59-A6C34878D82A}">
                    <a16:rowId xmlns:a16="http://schemas.microsoft.com/office/drawing/2014/main" val="10019"/>
                  </a:ext>
                </a:extLst>
              </a:tr>
              <a:tr h="175260">
                <a:tc>
                  <a:txBody>
                    <a:bodyPr/>
                    <a:lstStyle/>
                    <a:p>
                      <a:pPr algn="l"/>
                      <a:r>
                        <a:rPr sz="1100" b="0" i="0">
                          <a:solidFill>
                            <a:srgbClr val="0070C0"/>
                          </a:solidFill>
                          <a:latin typeface="Calibri"/>
                        </a:rPr>
                        <a:t>28.3.</a:t>
                      </a:r>
                      <a:r>
                        <a:rPr sz="700" b="0" i="0">
                          <a:solidFill>
                            <a:srgbClr val="0070C0"/>
                          </a:solidFill>
                          <a:latin typeface="Times New Roman"/>
                        </a:rPr>
                        <a:t>  </a:t>
                      </a:r>
                      <a:r>
                        <a:rPr sz="1100" b="0" i="0">
                          <a:solidFill>
                            <a:srgbClr val="0070C0"/>
                          </a:solidFill>
                          <a:latin typeface="Calibri"/>
                        </a:rPr>
                        <a:t>Interpack Inc.</a:t>
                      </a:r>
                      <a:endParaRPr sz="1100"/>
                    </a:p>
                  </a:txBody>
                  <a:tcPr marL="428625" marR="9525" marT="9525" marB="0" anchor="ctr"/>
                </a:tc>
                <a:extLst>
                  <a:ext uri="{0D108BD9-81ED-4DB2-BD59-A6C34878D82A}">
                    <a16:rowId xmlns:a16="http://schemas.microsoft.com/office/drawing/2014/main" val="10020"/>
                  </a:ext>
                </a:extLst>
              </a:tr>
              <a:tr h="175260">
                <a:tc>
                  <a:txBody>
                    <a:bodyPr/>
                    <a:lstStyle/>
                    <a:p>
                      <a:pPr algn="l"/>
                      <a:r>
                        <a:rPr sz="1100" b="0" i="0">
                          <a:solidFill>
                            <a:srgbClr val="0070C0"/>
                          </a:solidFill>
                          <a:latin typeface="Calibri"/>
                        </a:rPr>
                        <a:t>28.4.</a:t>
                      </a:r>
                      <a:r>
                        <a:rPr sz="700" b="0" i="0">
                          <a:solidFill>
                            <a:srgbClr val="0070C0"/>
                          </a:solidFill>
                          <a:latin typeface="Times New Roman"/>
                        </a:rPr>
                        <a:t>  </a:t>
                      </a:r>
                      <a:r>
                        <a:rPr sz="1100" b="0" i="0">
                          <a:solidFill>
                            <a:srgbClr val="0070C0"/>
                          </a:solidFill>
                          <a:latin typeface="Calibri"/>
                        </a:rPr>
                        <a:t>Caps Cases Ltd.</a:t>
                      </a:r>
                      <a:endParaRPr sz="1100"/>
                    </a:p>
                  </a:txBody>
                  <a:tcPr marL="428625" marR="9525" marT="9525" marB="0" anchor="ctr"/>
                </a:tc>
                <a:extLst>
                  <a:ext uri="{0D108BD9-81ED-4DB2-BD59-A6C34878D82A}">
                    <a16:rowId xmlns:a16="http://schemas.microsoft.com/office/drawing/2014/main" val="10021"/>
                  </a:ext>
                </a:extLst>
              </a:tr>
              <a:tr h="175260">
                <a:tc>
                  <a:txBody>
                    <a:bodyPr/>
                    <a:lstStyle/>
                    <a:p>
                      <a:pPr algn="l"/>
                      <a:r>
                        <a:rPr sz="1100" b="0" i="0">
                          <a:solidFill>
                            <a:srgbClr val="0070C0"/>
                          </a:solidFill>
                          <a:latin typeface="Calibri"/>
                        </a:rPr>
                        <a:t>28.5.</a:t>
                      </a:r>
                      <a:r>
                        <a:rPr sz="700" b="0" i="0">
                          <a:solidFill>
                            <a:srgbClr val="0070C0"/>
                          </a:solidFill>
                          <a:latin typeface="Times New Roman"/>
                        </a:rPr>
                        <a:t>  </a:t>
                      </a:r>
                      <a:r>
                        <a:rPr sz="1100" b="0" i="0">
                          <a:solidFill>
                            <a:srgbClr val="0070C0"/>
                          </a:solidFill>
                          <a:latin typeface="Calibri"/>
                        </a:rPr>
                        <a:t>M &amp; M Box &amp; Partitions Co.</a:t>
                      </a:r>
                      <a:endParaRPr sz="1100"/>
                    </a:p>
                  </a:txBody>
                  <a:tcPr marL="428625" marR="9525" marT="9525" marB="0" anchor="ctr"/>
                </a:tc>
                <a:extLst>
                  <a:ext uri="{0D108BD9-81ED-4DB2-BD59-A6C34878D82A}">
                    <a16:rowId xmlns:a16="http://schemas.microsoft.com/office/drawing/2014/main" val="10022"/>
                  </a:ext>
                </a:extLst>
              </a:tr>
              <a:tr h="175260">
                <a:tc>
                  <a:txBody>
                    <a:bodyPr/>
                    <a:lstStyle/>
                    <a:p>
                      <a:pPr algn="l"/>
                      <a:r>
                        <a:rPr sz="1100" b="0" i="0">
                          <a:solidFill>
                            <a:srgbClr val="0070C0"/>
                          </a:solidFill>
                          <a:latin typeface="Calibri"/>
                        </a:rPr>
                        <a:t>28.6.</a:t>
                      </a:r>
                      <a:r>
                        <a:rPr sz="700" b="0" i="0">
                          <a:solidFill>
                            <a:srgbClr val="0070C0"/>
                          </a:solidFill>
                          <a:latin typeface="Times New Roman"/>
                        </a:rPr>
                        <a:t>  </a:t>
                      </a:r>
                      <a:r>
                        <a:rPr sz="1100" b="0" i="0">
                          <a:solidFill>
                            <a:srgbClr val="0070C0"/>
                          </a:solidFill>
                          <a:latin typeface="Calibri"/>
                        </a:rPr>
                        <a:t>Martin Partitions</a:t>
                      </a:r>
                      <a:endParaRPr sz="1100"/>
                    </a:p>
                  </a:txBody>
                  <a:tcPr marL="428625" marR="9525" marT="9525" marB="0" anchor="ctr"/>
                </a:tc>
                <a:extLst>
                  <a:ext uri="{0D108BD9-81ED-4DB2-BD59-A6C34878D82A}">
                    <a16:rowId xmlns:a16="http://schemas.microsoft.com/office/drawing/2014/main" val="10023"/>
                  </a:ext>
                </a:extLst>
              </a:tr>
              <a:tr h="175260">
                <a:tc>
                  <a:txBody>
                    <a:bodyPr/>
                    <a:lstStyle/>
                    <a:p>
                      <a:pPr algn="l"/>
                      <a:r>
                        <a:rPr sz="1100" b="0" i="0">
                          <a:solidFill>
                            <a:srgbClr val="0070C0"/>
                          </a:solidFill>
                          <a:latin typeface="Calibri"/>
                        </a:rPr>
                        <a:t>28.7.</a:t>
                      </a:r>
                      <a:r>
                        <a:rPr sz="700" b="0" i="0">
                          <a:solidFill>
                            <a:srgbClr val="0070C0"/>
                          </a:solidFill>
                          <a:latin typeface="Times New Roman"/>
                        </a:rPr>
                        <a:t>  </a:t>
                      </a:r>
                      <a:r>
                        <a:rPr sz="1100" b="0" i="0">
                          <a:solidFill>
                            <a:srgbClr val="0070C0"/>
                          </a:solidFill>
                          <a:latin typeface="Calibri"/>
                        </a:rPr>
                        <a:t>Buckeye Corrugated Inc.</a:t>
                      </a:r>
                      <a:endParaRPr sz="1100"/>
                    </a:p>
                  </a:txBody>
                  <a:tcPr marL="428625" marR="9525" marT="9525" marB="0" anchor="ctr"/>
                </a:tc>
                <a:extLst>
                  <a:ext uri="{0D108BD9-81ED-4DB2-BD59-A6C34878D82A}">
                    <a16:rowId xmlns:a16="http://schemas.microsoft.com/office/drawing/2014/main" val="10024"/>
                  </a:ext>
                </a:extLst>
              </a:tr>
              <a:tr h="175260">
                <a:tc>
                  <a:txBody>
                    <a:bodyPr/>
                    <a:lstStyle/>
                    <a:p>
                      <a:pPr algn="l"/>
                      <a:r>
                        <a:rPr sz="1100" b="0" i="0">
                          <a:solidFill>
                            <a:srgbClr val="0070C0"/>
                          </a:solidFill>
                          <a:latin typeface="Calibri"/>
                        </a:rPr>
                        <a:t>28.8.</a:t>
                      </a:r>
                      <a:r>
                        <a:rPr sz="700" b="0" i="0">
                          <a:solidFill>
                            <a:srgbClr val="0070C0"/>
                          </a:solidFill>
                          <a:latin typeface="Times New Roman"/>
                        </a:rPr>
                        <a:t>  </a:t>
                      </a:r>
                      <a:r>
                        <a:rPr sz="1100" b="0" i="0">
                          <a:solidFill>
                            <a:srgbClr val="0070C0"/>
                          </a:solidFill>
                          <a:latin typeface="Calibri"/>
                        </a:rPr>
                        <a:t>Cactus Corrugated Containers Inc.</a:t>
                      </a:r>
                      <a:endParaRPr sz="1100"/>
                    </a:p>
                  </a:txBody>
                  <a:tcPr marL="428625" marR="9525" marT="9525" marB="0" anchor="ctr"/>
                </a:tc>
                <a:extLst>
                  <a:ext uri="{0D108BD9-81ED-4DB2-BD59-A6C34878D82A}">
                    <a16:rowId xmlns:a16="http://schemas.microsoft.com/office/drawing/2014/main" val="10025"/>
                  </a:ext>
                </a:extLst>
              </a:tr>
              <a:tr h="175260">
                <a:tc>
                  <a:txBody>
                    <a:bodyPr/>
                    <a:lstStyle/>
                    <a:p>
                      <a:pPr algn="l"/>
                      <a:r>
                        <a:rPr sz="1100" b="0" i="0">
                          <a:solidFill>
                            <a:srgbClr val="0070C0"/>
                          </a:solidFill>
                          <a:latin typeface="Calibri"/>
                        </a:rPr>
                        <a:t>28.9.</a:t>
                      </a:r>
                      <a:r>
                        <a:rPr sz="700" b="0" i="0">
                          <a:solidFill>
                            <a:srgbClr val="0070C0"/>
                          </a:solidFill>
                          <a:latin typeface="Times New Roman"/>
                        </a:rPr>
                        <a:t>  </a:t>
                      </a:r>
                      <a:r>
                        <a:rPr sz="1100" b="0" i="0">
                          <a:solidFill>
                            <a:srgbClr val="0070C0"/>
                          </a:solidFill>
                          <a:latin typeface="Calibri"/>
                        </a:rPr>
                        <a:t>Jarrett Industries Inc.</a:t>
                      </a:r>
                      <a:endParaRPr sz="1100"/>
                    </a:p>
                  </a:txBody>
                  <a:tcPr marL="428625" marR="9525" marT="9525" marB="0" anchor="ctr"/>
                </a:tc>
                <a:extLst>
                  <a:ext uri="{0D108BD9-81ED-4DB2-BD59-A6C34878D82A}">
                    <a16:rowId xmlns:a16="http://schemas.microsoft.com/office/drawing/2014/main" val="10026"/>
                  </a:ext>
                </a:extLst>
              </a:tr>
              <a:tr h="175260">
                <a:tc>
                  <a:txBody>
                    <a:bodyPr/>
                    <a:lstStyle/>
                    <a:p>
                      <a:pPr algn="l"/>
                      <a:r>
                        <a:rPr sz="1100" b="0" i="0">
                          <a:solidFill>
                            <a:srgbClr val="0070C0"/>
                          </a:solidFill>
                          <a:latin typeface="Calibri"/>
                        </a:rPr>
                        <a:t>28.10.</a:t>
                      </a:r>
                      <a:r>
                        <a:rPr sz="700" b="0" i="0">
                          <a:solidFill>
                            <a:srgbClr val="0070C0"/>
                          </a:solidFill>
                          <a:latin typeface="Times New Roman"/>
                        </a:rPr>
                        <a:t> </a:t>
                      </a:r>
                      <a:r>
                        <a:rPr sz="1100" b="0" i="0">
                          <a:solidFill>
                            <a:srgbClr val="0070C0"/>
                          </a:solidFill>
                          <a:latin typeface="Calibri"/>
                        </a:rPr>
                        <a:t>Imperial Paper Company</a:t>
                      </a:r>
                      <a:endParaRPr sz="1100"/>
                    </a:p>
                  </a:txBody>
                  <a:tcPr marL="428625" marR="9525" marT="9525" marB="0" anchor="ctr"/>
                </a:tc>
                <a:extLst>
                  <a:ext uri="{0D108BD9-81ED-4DB2-BD59-A6C34878D82A}">
                    <a16:rowId xmlns:a16="http://schemas.microsoft.com/office/drawing/2014/main" val="10027"/>
                  </a:ext>
                </a:extLst>
              </a:tr>
              <a:tr h="175260">
                <a:tc>
                  <a:txBody>
                    <a:bodyPr/>
                    <a:lstStyle/>
                    <a:p>
                      <a:pPr algn="l"/>
                      <a:r>
                        <a:rPr sz="1100" b="0" i="0">
                          <a:solidFill>
                            <a:srgbClr val="0070C0"/>
                          </a:solidFill>
                          <a:latin typeface="Calibri"/>
                        </a:rPr>
                        <a:t>28.11.</a:t>
                      </a:r>
                      <a:r>
                        <a:rPr sz="700" b="0" i="0">
                          <a:solidFill>
                            <a:srgbClr val="0070C0"/>
                          </a:solidFill>
                          <a:latin typeface="Times New Roman"/>
                        </a:rPr>
                        <a:t> </a:t>
                      </a:r>
                      <a:r>
                        <a:rPr sz="1100" b="0" i="0">
                          <a:solidFill>
                            <a:srgbClr val="0070C0"/>
                          </a:solidFill>
                          <a:latin typeface="Calibri"/>
                        </a:rPr>
                        <a:t>Unipaq Inc.</a:t>
                      </a:r>
                      <a:endParaRPr sz="1100"/>
                    </a:p>
                  </a:txBody>
                  <a:tcPr marL="428625" marR="9525" marT="9525" marB="0" anchor="ctr"/>
                </a:tc>
                <a:extLst>
                  <a:ext uri="{0D108BD9-81ED-4DB2-BD59-A6C34878D82A}">
                    <a16:rowId xmlns:a16="http://schemas.microsoft.com/office/drawing/2014/main" val="10028"/>
                  </a:ext>
                </a:extLst>
              </a:tr>
              <a:tr h="175260">
                <a:tc>
                  <a:txBody>
                    <a:bodyPr/>
                    <a:lstStyle/>
                    <a:p>
                      <a:pPr algn="l"/>
                      <a:r>
                        <a:rPr sz="1100" b="0" i="0">
                          <a:solidFill>
                            <a:srgbClr val="0070C0"/>
                          </a:solidFill>
                          <a:latin typeface="Calibri"/>
                        </a:rPr>
                        <a:t>28.12.</a:t>
                      </a:r>
                      <a:r>
                        <a:rPr sz="700" b="0" i="0">
                          <a:solidFill>
                            <a:srgbClr val="0070C0"/>
                          </a:solidFill>
                          <a:latin typeface="Times New Roman"/>
                        </a:rPr>
                        <a:t> </a:t>
                      </a:r>
                      <a:r>
                        <a:rPr sz="1100" b="0" i="0">
                          <a:solidFill>
                            <a:srgbClr val="0070C0"/>
                          </a:solidFill>
                          <a:latin typeface="Calibri"/>
                        </a:rPr>
                        <a:t>Fibre Tec Packaging</a:t>
                      </a:r>
                      <a:endParaRPr sz="1100"/>
                    </a:p>
                  </a:txBody>
                  <a:tcPr marL="428625" marR="9525" marT="9525" marB="0" anchor="ctr"/>
                </a:tc>
                <a:extLst>
                  <a:ext uri="{0D108BD9-81ED-4DB2-BD59-A6C34878D82A}">
                    <a16:rowId xmlns:a16="http://schemas.microsoft.com/office/drawing/2014/main" val="10029"/>
                  </a:ext>
                </a:extLst>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100" b="0" i="0">
                          <a:solidFill>
                            <a:srgbClr val="0070C0"/>
                          </a:solidFill>
                          <a:latin typeface="Calibri"/>
                        </a:rPr>
                        <a:t>28.13.</a:t>
                      </a:r>
                      <a:r>
                        <a:rPr sz="700" b="0" i="0">
                          <a:solidFill>
                            <a:srgbClr val="0070C0"/>
                          </a:solidFill>
                          <a:latin typeface="Times New Roman"/>
                        </a:rPr>
                        <a:t> </a:t>
                      </a:r>
                      <a:r>
                        <a:rPr sz="1100" b="0" i="0">
                          <a:solidFill>
                            <a:srgbClr val="0070C0"/>
                          </a:solidFill>
                          <a:latin typeface="Calibri"/>
                        </a:rPr>
                        <a:t>Packnet Ltd.</a:t>
                      </a:r>
                      <a:endParaRPr sz="1100"/>
                    </a:p>
                  </a:txBody>
                  <a:tcPr marL="428625" marR="9525" marT="9525" marB="0" anchor="ctr"/>
                </a:tc>
                <a:extLst>
                  <a:ext uri="{0D108BD9-81ED-4DB2-BD59-A6C34878D82A}">
                    <a16:rowId xmlns:a16="http://schemas.microsoft.com/office/drawing/2014/main" val="10000"/>
                  </a:ext>
                </a:extLst>
              </a:tr>
              <a:tr h="175260">
                <a:tc>
                  <a:txBody>
                    <a:bodyPr/>
                    <a:lstStyle/>
                    <a:p>
                      <a:pPr algn="l"/>
                      <a:r>
                        <a:rPr sz="1100" b="0" i="0">
                          <a:solidFill>
                            <a:srgbClr val="0070C0"/>
                          </a:solidFill>
                          <a:latin typeface="Calibri"/>
                        </a:rPr>
                        <a:t>28.14.</a:t>
                      </a:r>
                      <a:r>
                        <a:rPr sz="700" b="0" i="0">
                          <a:solidFill>
                            <a:srgbClr val="0070C0"/>
                          </a:solidFill>
                          <a:latin typeface="Times New Roman"/>
                        </a:rPr>
                        <a:t> </a:t>
                      </a:r>
                      <a:r>
                        <a:rPr sz="1100" b="0" i="0">
                          <a:solidFill>
                            <a:srgbClr val="0070C0"/>
                          </a:solidFill>
                          <a:latin typeface="Calibri"/>
                        </a:rPr>
                        <a:t>Action Wood 360</a:t>
                      </a:r>
                      <a:endParaRPr sz="1100"/>
                    </a:p>
                  </a:txBody>
                  <a:tcPr marL="428625" marR="9525" marT="9525" marB="0" anchor="ctr"/>
                </a:tc>
                <a:extLst>
                  <a:ext uri="{0D108BD9-81ED-4DB2-BD59-A6C34878D82A}">
                    <a16:rowId xmlns:a16="http://schemas.microsoft.com/office/drawing/2014/main" val="10001"/>
                  </a:ext>
                </a:extLst>
              </a:tr>
              <a:tr h="175260">
                <a:tc>
                  <a:txBody>
                    <a:bodyPr/>
                    <a:lstStyle/>
                    <a:p>
                      <a:pPr algn="l"/>
                      <a:r>
                        <a:rPr sz="1100" b="0" i="0">
                          <a:solidFill>
                            <a:srgbClr val="0070C0"/>
                          </a:solidFill>
                          <a:latin typeface="Calibri"/>
                        </a:rPr>
                        <a:t>28.15.</a:t>
                      </a:r>
                      <a:r>
                        <a:rPr sz="700" b="0" i="0">
                          <a:solidFill>
                            <a:srgbClr val="0070C0"/>
                          </a:solidFill>
                          <a:latin typeface="Times New Roman"/>
                        </a:rPr>
                        <a:t> </a:t>
                      </a:r>
                      <a:r>
                        <a:rPr sz="1100" b="0" i="0">
                          <a:solidFill>
                            <a:srgbClr val="0070C0"/>
                          </a:solidFill>
                          <a:latin typeface="Calibri"/>
                        </a:rPr>
                        <a:t>Pacific Southwest Container</a:t>
                      </a:r>
                      <a:endParaRPr sz="1100"/>
                    </a:p>
                  </a:txBody>
                  <a:tcPr marL="428625" marR="9525" marT="9525" marB="0" anchor="ctr"/>
                </a:tc>
                <a:extLst>
                  <a:ext uri="{0D108BD9-81ED-4DB2-BD59-A6C34878D82A}">
                    <a16:rowId xmlns:a16="http://schemas.microsoft.com/office/drawing/2014/main" val="10002"/>
                  </a:ext>
                </a:extLst>
              </a:tr>
              <a:tr h="175260">
                <a:tc>
                  <a:txBody>
                    <a:bodyPr/>
                    <a:lstStyle/>
                    <a:p>
                      <a:pPr algn="l"/>
                      <a:r>
                        <a:rPr sz="1100" b="0" i="0">
                          <a:solidFill>
                            <a:srgbClr val="0070C0"/>
                          </a:solidFill>
                          <a:latin typeface="Calibri"/>
                        </a:rPr>
                        <a:t>28.16.</a:t>
                      </a:r>
                      <a:r>
                        <a:rPr sz="700" b="0" i="0">
                          <a:solidFill>
                            <a:srgbClr val="0070C0"/>
                          </a:solidFill>
                          <a:latin typeface="Times New Roman"/>
                        </a:rPr>
                        <a:t> </a:t>
                      </a:r>
                      <a:r>
                        <a:rPr sz="1100" b="0" i="0">
                          <a:solidFill>
                            <a:srgbClr val="0070C0"/>
                          </a:solidFill>
                          <a:latin typeface="Calibri"/>
                        </a:rPr>
                        <a:t>Colorado Industrial Packaging</a:t>
                      </a:r>
                      <a:endParaRPr sz="1100"/>
                    </a:p>
                  </a:txBody>
                  <a:tcPr marL="428625" marR="9525" marT="9525" marB="0" anchor="ctr"/>
                </a:tc>
                <a:extLst>
                  <a:ext uri="{0D108BD9-81ED-4DB2-BD59-A6C34878D82A}">
                    <a16:rowId xmlns:a16="http://schemas.microsoft.com/office/drawing/2014/main" val="10003"/>
                  </a:ext>
                </a:extLst>
              </a:tr>
              <a:tr h="175260">
                <a:tc>
                  <a:txBody>
                    <a:bodyPr/>
                    <a:lstStyle/>
                    <a:p>
                      <a:pPr algn="l"/>
                      <a:r>
                        <a:rPr sz="1100" b="0" i="0">
                          <a:solidFill>
                            <a:srgbClr val="0070C0"/>
                          </a:solidFill>
                          <a:latin typeface="Calibri"/>
                        </a:rPr>
                        <a:t>28.17.</a:t>
                      </a:r>
                      <a:r>
                        <a:rPr sz="700" b="0" i="0">
                          <a:solidFill>
                            <a:srgbClr val="0070C0"/>
                          </a:solidFill>
                          <a:latin typeface="Times New Roman"/>
                        </a:rPr>
                        <a:t> </a:t>
                      </a:r>
                      <a:r>
                        <a:rPr sz="1100" b="0" i="0">
                          <a:solidFill>
                            <a:srgbClr val="0070C0"/>
                          </a:solidFill>
                          <a:latin typeface="Calibri"/>
                        </a:rPr>
                        <a:t>Riverside Paper Co.</a:t>
                      </a:r>
                      <a:endParaRPr sz="1100"/>
                    </a:p>
                  </a:txBody>
                  <a:tcPr marL="428625" marR="9525" marT="9525" marB="0" anchor="ctr"/>
                </a:tc>
                <a:extLst>
                  <a:ext uri="{0D108BD9-81ED-4DB2-BD59-A6C34878D82A}">
                    <a16:rowId xmlns:a16="http://schemas.microsoft.com/office/drawing/2014/main" val="10004"/>
                  </a:ext>
                </a:extLst>
              </a:tr>
              <a:tr h="175260">
                <a:tc>
                  <a:txBody>
                    <a:bodyPr/>
                    <a:lstStyle/>
                    <a:p>
                      <a:pPr algn="l"/>
                      <a:r>
                        <a:rPr sz="1100" b="0" i="0">
                          <a:solidFill>
                            <a:srgbClr val="0070C0"/>
                          </a:solidFill>
                          <a:latin typeface="Calibri"/>
                        </a:rPr>
                        <a:t>28.18.</a:t>
                      </a:r>
                      <a:r>
                        <a:rPr sz="700" b="0" i="0">
                          <a:solidFill>
                            <a:srgbClr val="0070C0"/>
                          </a:solidFill>
                          <a:latin typeface="Times New Roman"/>
                        </a:rPr>
                        <a:t> </a:t>
                      </a:r>
                      <a:r>
                        <a:rPr sz="1100" b="0" i="0">
                          <a:solidFill>
                            <a:srgbClr val="0070C0"/>
                          </a:solidFill>
                          <a:latin typeface="Calibri"/>
                        </a:rPr>
                        <a:t>Industrie-Kartonagen Maier GmbH</a:t>
                      </a:r>
                      <a:endParaRPr sz="1100"/>
                    </a:p>
                  </a:txBody>
                  <a:tcPr marL="428625" marR="9525" marT="9525" marB="0" anchor="ctr"/>
                </a:tc>
                <a:extLst>
                  <a:ext uri="{0D108BD9-81ED-4DB2-BD59-A6C34878D82A}">
                    <a16:rowId xmlns:a16="http://schemas.microsoft.com/office/drawing/2014/main" val="10005"/>
                  </a:ext>
                </a:extLst>
              </a:tr>
              <a:tr h="175260">
                <a:tc>
                  <a:txBody>
                    <a:bodyPr/>
                    <a:lstStyle/>
                    <a:p>
                      <a:pPr algn="l"/>
                      <a:r>
                        <a:rPr sz="1100" b="0" i="0">
                          <a:solidFill>
                            <a:srgbClr val="0070C0"/>
                          </a:solidFill>
                          <a:latin typeface="Calibri"/>
                        </a:rPr>
                        <a:t>28.19.</a:t>
                      </a:r>
                      <a:r>
                        <a:rPr sz="700" b="0" i="0">
                          <a:solidFill>
                            <a:srgbClr val="0070C0"/>
                          </a:solidFill>
                          <a:latin typeface="Times New Roman"/>
                        </a:rPr>
                        <a:t> </a:t>
                      </a:r>
                      <a:r>
                        <a:rPr sz="1100" b="0" i="0">
                          <a:solidFill>
                            <a:srgbClr val="0070C0"/>
                          </a:solidFill>
                          <a:latin typeface="Calibri"/>
                        </a:rPr>
                        <a:t>ITB Packaging LLC</a:t>
                      </a:r>
                      <a:endParaRPr sz="1100"/>
                    </a:p>
                  </a:txBody>
                  <a:tcPr marL="428625" marR="9525" marT="9525" marB="0" anchor="ctr"/>
                </a:tc>
                <a:extLst>
                  <a:ext uri="{0D108BD9-81ED-4DB2-BD59-A6C34878D82A}">
                    <a16:rowId xmlns:a16="http://schemas.microsoft.com/office/drawing/2014/main" val="10006"/>
                  </a:ext>
                </a:extLst>
              </a:tr>
              <a:tr h="175260">
                <a:tc>
                  <a:txBody>
                    <a:bodyPr/>
                    <a:lstStyle/>
                    <a:p>
                      <a:pPr algn="l"/>
                      <a:r>
                        <a:rPr sz="1100" b="0" i="0">
                          <a:solidFill>
                            <a:srgbClr val="0070C0"/>
                          </a:solidFill>
                          <a:latin typeface="Calibri"/>
                        </a:rPr>
                        <a:t>28.20.</a:t>
                      </a:r>
                      <a:r>
                        <a:rPr sz="700" b="0" i="0">
                          <a:solidFill>
                            <a:srgbClr val="0070C0"/>
                          </a:solidFill>
                          <a:latin typeface="Times New Roman"/>
                        </a:rPr>
                        <a:t> </a:t>
                      </a:r>
                      <a:r>
                        <a:rPr sz="1100" b="0" i="0">
                          <a:solidFill>
                            <a:srgbClr val="0070C0"/>
                          </a:solidFill>
                          <a:latin typeface="Calibri"/>
                        </a:rPr>
                        <a:t>Packform USA LLC</a:t>
                      </a:r>
                      <a:endParaRPr sz="1100"/>
                    </a:p>
                  </a:txBody>
                  <a:tcPr marL="428625" marR="9525" marT="9525" marB="0" anchor="ctr"/>
                </a:tc>
                <a:extLst>
                  <a:ext uri="{0D108BD9-81ED-4DB2-BD59-A6C34878D82A}">
                    <a16:rowId xmlns:a16="http://schemas.microsoft.com/office/drawing/2014/main" val="10007"/>
                  </a:ext>
                </a:extLst>
              </a:tr>
              <a:tr h="175260">
                <a:tc>
                  <a:txBody>
                    <a:bodyPr/>
                    <a:lstStyle/>
                    <a:p>
                      <a:pPr algn="l"/>
                      <a:r>
                        <a:rPr sz="1100" b="0" i="0">
                          <a:solidFill>
                            <a:srgbClr val="0070C0"/>
                          </a:solidFill>
                          <a:latin typeface="Calibri"/>
                        </a:rPr>
                        <a:t>28.21.</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extLst>
                  <a:ext uri="{0D108BD9-81ED-4DB2-BD59-A6C34878D82A}">
                    <a16:rowId xmlns:a16="http://schemas.microsoft.com/office/drawing/2014/main" val="10008"/>
                  </a:ext>
                </a:extLst>
              </a:tr>
              <a:tr h="175260">
                <a:tc>
                  <a:txBody>
                    <a:bodyPr/>
                    <a:lstStyle/>
                    <a:p>
                      <a:pPr algn="l"/>
                      <a:r>
                        <a:rPr sz="1100" b="1" i="0">
                          <a:solidFill>
                            <a:srgbClr val="000000"/>
                          </a:solidFill>
                          <a:latin typeface="Calibri"/>
                        </a:rPr>
                        <a:t>29.</a:t>
                      </a:r>
                      <a:r>
                        <a:rPr sz="700" b="1" i="0">
                          <a:solidFill>
                            <a:srgbClr val="000000"/>
                          </a:solidFill>
                          <a:latin typeface="Times New Roman"/>
                        </a:rPr>
                        <a:t>    </a:t>
                      </a:r>
                      <a:r>
                        <a:rPr sz="1100" b="1" i="0">
                          <a:solidFill>
                            <a:srgbClr val="000000"/>
                          </a:solidFill>
                          <a:latin typeface="Calibri"/>
                        </a:rPr>
                        <a:t>Company Profile- Regional</a:t>
                      </a:r>
                      <a:endParaRPr sz="1100"/>
                    </a:p>
                  </a:txBody>
                  <a:tcPr marL="171450" marR="9525" marT="9525" marB="0" anchor="ctr"/>
                </a:tc>
                <a:extLst>
                  <a:ext uri="{0D108BD9-81ED-4DB2-BD59-A6C34878D82A}">
                    <a16:rowId xmlns:a16="http://schemas.microsoft.com/office/drawing/2014/main" val="10009"/>
                  </a:ext>
                </a:extLst>
              </a:tr>
              <a:tr h="175260">
                <a:tc>
                  <a:txBody>
                    <a:bodyPr/>
                    <a:lstStyle/>
                    <a:p>
                      <a:pPr algn="l"/>
                      <a:r>
                        <a:rPr sz="1100" b="0" i="0">
                          <a:solidFill>
                            <a:srgbClr val="0070C0"/>
                          </a:solidFill>
                          <a:latin typeface="Calibri"/>
                        </a:rPr>
                        <a:t>29.1.</a:t>
                      </a:r>
                      <a:r>
                        <a:rPr sz="700" b="0" i="0">
                          <a:solidFill>
                            <a:srgbClr val="0070C0"/>
                          </a:solidFill>
                          <a:latin typeface="Times New Roman"/>
                        </a:rPr>
                        <a:t>  </a:t>
                      </a:r>
                      <a:r>
                        <a:rPr sz="1100" b="0" i="0">
                          <a:solidFill>
                            <a:srgbClr val="0070C0"/>
                          </a:solidFill>
                          <a:latin typeface="Calibri"/>
                        </a:rPr>
                        <a:t>Dong Hai Ben Tre JSC (DOHACO)</a:t>
                      </a:r>
                      <a:endParaRPr sz="1100"/>
                    </a:p>
                  </a:txBody>
                  <a:tcPr marL="428625" marR="9525" marT="9525" marB="0" anchor="ctr"/>
                </a:tc>
                <a:extLst>
                  <a:ext uri="{0D108BD9-81ED-4DB2-BD59-A6C34878D82A}">
                    <a16:rowId xmlns:a16="http://schemas.microsoft.com/office/drawing/2014/main" val="10010"/>
                  </a:ext>
                </a:extLst>
              </a:tr>
              <a:tr h="175260">
                <a:tc>
                  <a:txBody>
                    <a:bodyPr/>
                    <a:lstStyle/>
                    <a:p>
                      <a:pPr algn="l"/>
                      <a:r>
                        <a:rPr sz="1100" b="0" i="0">
                          <a:solidFill>
                            <a:srgbClr val="0070C0"/>
                          </a:solidFill>
                          <a:latin typeface="Calibri"/>
                        </a:rPr>
                        <a:t>29.2.</a:t>
                      </a:r>
                      <a:r>
                        <a:rPr sz="700" b="0" i="0">
                          <a:solidFill>
                            <a:srgbClr val="0070C0"/>
                          </a:solidFill>
                          <a:latin typeface="Times New Roman"/>
                        </a:rPr>
                        <a:t>  </a:t>
                      </a:r>
                      <a:r>
                        <a:rPr sz="1100" b="0" i="0">
                          <a:solidFill>
                            <a:srgbClr val="0070C0"/>
                          </a:solidFill>
                          <a:latin typeface="Calibri"/>
                        </a:rPr>
                        <a:t>Sunrise Printing &amp; Packaging Co., Ltd.</a:t>
                      </a:r>
                      <a:endParaRPr sz="1100"/>
                    </a:p>
                  </a:txBody>
                  <a:tcPr marL="428625" marR="9525" marT="9525" marB="0" anchor="ctr"/>
                </a:tc>
                <a:extLst>
                  <a:ext uri="{0D108BD9-81ED-4DB2-BD59-A6C34878D82A}">
                    <a16:rowId xmlns:a16="http://schemas.microsoft.com/office/drawing/2014/main" val="10011"/>
                  </a:ext>
                </a:extLst>
              </a:tr>
              <a:tr h="175260">
                <a:tc>
                  <a:txBody>
                    <a:bodyPr/>
                    <a:lstStyle/>
                    <a:p>
                      <a:pPr algn="l"/>
                      <a:r>
                        <a:rPr sz="1100" b="0" i="0">
                          <a:solidFill>
                            <a:srgbClr val="0070C0"/>
                          </a:solidFill>
                          <a:latin typeface="Calibri"/>
                        </a:rPr>
                        <a:t>29.3.</a:t>
                      </a:r>
                      <a:r>
                        <a:rPr sz="700" b="0" i="0">
                          <a:solidFill>
                            <a:srgbClr val="0070C0"/>
                          </a:solidFill>
                          <a:latin typeface="Times New Roman"/>
                        </a:rPr>
                        <a:t>  </a:t>
                      </a:r>
                      <a:r>
                        <a:rPr sz="1100" b="0" i="0">
                          <a:solidFill>
                            <a:srgbClr val="0070C0"/>
                          </a:solidFill>
                          <a:latin typeface="Calibri"/>
                        </a:rPr>
                        <a:t>Minh Dung Company Limited</a:t>
                      </a:r>
                      <a:endParaRPr sz="1100"/>
                    </a:p>
                  </a:txBody>
                  <a:tcPr marL="428625" marR="9525" marT="9525" marB="0" anchor="ctr"/>
                </a:tc>
                <a:extLst>
                  <a:ext uri="{0D108BD9-81ED-4DB2-BD59-A6C34878D82A}">
                    <a16:rowId xmlns:a16="http://schemas.microsoft.com/office/drawing/2014/main" val="10012"/>
                  </a:ext>
                </a:extLst>
              </a:tr>
              <a:tr h="175260">
                <a:tc>
                  <a:txBody>
                    <a:bodyPr/>
                    <a:lstStyle/>
                    <a:p>
                      <a:pPr algn="l"/>
                      <a:r>
                        <a:rPr sz="1100" b="0" i="0">
                          <a:solidFill>
                            <a:srgbClr val="0070C0"/>
                          </a:solidFill>
                          <a:latin typeface="Calibri"/>
                        </a:rPr>
                        <a:t>29.4.</a:t>
                      </a:r>
                      <a:r>
                        <a:rPr sz="700" b="0" i="0">
                          <a:solidFill>
                            <a:srgbClr val="0070C0"/>
                          </a:solidFill>
                          <a:latin typeface="Times New Roman"/>
                        </a:rPr>
                        <a:t>  </a:t>
                      </a:r>
                      <a:r>
                        <a:rPr sz="1100" b="0" i="0">
                          <a:solidFill>
                            <a:srgbClr val="0070C0"/>
                          </a:solidFill>
                          <a:latin typeface="Calibri"/>
                        </a:rPr>
                        <a:t>Trung Tin Phat Packaging JSC</a:t>
                      </a:r>
                      <a:endParaRPr sz="1100"/>
                    </a:p>
                  </a:txBody>
                  <a:tcPr marL="428625" marR="9525" marT="9525" marB="0" anchor="ctr"/>
                </a:tc>
                <a:extLst>
                  <a:ext uri="{0D108BD9-81ED-4DB2-BD59-A6C34878D82A}">
                    <a16:rowId xmlns:a16="http://schemas.microsoft.com/office/drawing/2014/main" val="10013"/>
                  </a:ext>
                </a:extLst>
              </a:tr>
              <a:tr h="175260">
                <a:tc>
                  <a:txBody>
                    <a:bodyPr/>
                    <a:lstStyle/>
                    <a:p>
                      <a:pPr algn="l"/>
                      <a:r>
                        <a:rPr sz="1100" b="0" i="0">
                          <a:solidFill>
                            <a:srgbClr val="0070C0"/>
                          </a:solidFill>
                          <a:latin typeface="Calibri"/>
                        </a:rPr>
                        <a:t>29.5.</a:t>
                      </a:r>
                      <a:r>
                        <a:rPr sz="700" b="0" i="0">
                          <a:solidFill>
                            <a:srgbClr val="0070C0"/>
                          </a:solidFill>
                          <a:latin typeface="Times New Roman"/>
                        </a:rPr>
                        <a:t>  </a:t>
                      </a:r>
                      <a:r>
                        <a:rPr sz="1100" b="0" i="0">
                          <a:solidFill>
                            <a:srgbClr val="0070C0"/>
                          </a:solidFill>
                          <a:latin typeface="Calibri"/>
                        </a:rPr>
                        <a:t>Global Packaging JSC (Bao Bi Toan Cau)</a:t>
                      </a:r>
                      <a:endParaRPr sz="1100"/>
                    </a:p>
                  </a:txBody>
                  <a:tcPr marL="428625" marR="9525" marT="9525" marB="0" anchor="ctr"/>
                </a:tc>
                <a:extLst>
                  <a:ext uri="{0D108BD9-81ED-4DB2-BD59-A6C34878D82A}">
                    <a16:rowId xmlns:a16="http://schemas.microsoft.com/office/drawing/2014/main" val="10014"/>
                  </a:ext>
                </a:extLst>
              </a:tr>
              <a:tr h="175260">
                <a:tc>
                  <a:txBody>
                    <a:bodyPr/>
                    <a:lstStyle/>
                    <a:p>
                      <a:pPr algn="l"/>
                      <a:r>
                        <a:rPr sz="1100" b="0" i="0">
                          <a:solidFill>
                            <a:srgbClr val="0070C0"/>
                          </a:solidFill>
                          <a:latin typeface="Calibri"/>
                        </a:rPr>
                        <a:t>29.6.</a:t>
                      </a:r>
                      <a:r>
                        <a:rPr sz="700" b="0" i="0">
                          <a:solidFill>
                            <a:srgbClr val="0070C0"/>
                          </a:solidFill>
                          <a:latin typeface="Times New Roman"/>
                        </a:rPr>
                        <a:t>  </a:t>
                      </a:r>
                      <a:r>
                        <a:rPr sz="1100" b="0" i="0">
                          <a:solidFill>
                            <a:srgbClr val="0070C0"/>
                          </a:solidFill>
                          <a:latin typeface="Calibri"/>
                        </a:rPr>
                        <a:t>Thai Kobashi Co., Ltd.</a:t>
                      </a:r>
                      <a:endParaRPr sz="1100"/>
                    </a:p>
                  </a:txBody>
                  <a:tcPr marL="428625" marR="9525" marT="9525" marB="0" anchor="ctr"/>
                </a:tc>
                <a:extLst>
                  <a:ext uri="{0D108BD9-81ED-4DB2-BD59-A6C34878D82A}">
                    <a16:rowId xmlns:a16="http://schemas.microsoft.com/office/drawing/2014/main" val="10015"/>
                  </a:ext>
                </a:extLst>
              </a:tr>
              <a:tr h="175260">
                <a:tc>
                  <a:txBody>
                    <a:bodyPr/>
                    <a:lstStyle/>
                    <a:p>
                      <a:pPr algn="l"/>
                      <a:r>
                        <a:rPr sz="1100" b="0" i="0">
                          <a:solidFill>
                            <a:srgbClr val="0070C0"/>
                          </a:solidFill>
                          <a:latin typeface="Calibri"/>
                        </a:rPr>
                        <a:t>29.7.</a:t>
                      </a:r>
                      <a:r>
                        <a:rPr sz="700" b="0" i="0">
                          <a:solidFill>
                            <a:srgbClr val="0070C0"/>
                          </a:solidFill>
                          <a:latin typeface="Times New Roman"/>
                        </a:rPr>
                        <a:t>  </a:t>
                      </a:r>
                      <a:r>
                        <a:rPr sz="1100" b="0" i="0">
                          <a:solidFill>
                            <a:srgbClr val="0070C0"/>
                          </a:solidFill>
                          <a:latin typeface="Calibri"/>
                        </a:rPr>
                        <a:t>Kaizen Packaging Co., Ltd.</a:t>
                      </a:r>
                      <a:endParaRPr sz="1100"/>
                    </a:p>
                  </a:txBody>
                  <a:tcPr marL="428625" marR="9525" marT="9525" marB="0" anchor="ctr"/>
                </a:tc>
                <a:extLst>
                  <a:ext uri="{0D108BD9-81ED-4DB2-BD59-A6C34878D82A}">
                    <a16:rowId xmlns:a16="http://schemas.microsoft.com/office/drawing/2014/main" val="10016"/>
                  </a:ext>
                </a:extLst>
              </a:tr>
              <a:tr h="175260">
                <a:tc>
                  <a:txBody>
                    <a:bodyPr/>
                    <a:lstStyle/>
                    <a:p>
                      <a:pPr algn="l"/>
                      <a:r>
                        <a:rPr sz="1100" b="0" i="0">
                          <a:solidFill>
                            <a:srgbClr val="0070C0"/>
                          </a:solidFill>
                          <a:latin typeface="Calibri"/>
                        </a:rPr>
                        <a:t>29.8.</a:t>
                      </a:r>
                      <a:r>
                        <a:rPr sz="700" b="0" i="0">
                          <a:solidFill>
                            <a:srgbClr val="0070C0"/>
                          </a:solidFill>
                          <a:latin typeface="Times New Roman"/>
                        </a:rPr>
                        <a:t>  </a:t>
                      </a:r>
                      <a:r>
                        <a:rPr sz="1100" b="0" i="0">
                          <a:solidFill>
                            <a:srgbClr val="0070C0"/>
                          </a:solidFill>
                          <a:latin typeface="Calibri"/>
                        </a:rPr>
                        <a:t>Shoon Teet Paper Boxes Manufacturer Sdn. Bhd.</a:t>
                      </a:r>
                      <a:endParaRPr sz="1100"/>
                    </a:p>
                  </a:txBody>
                  <a:tcPr marL="428625" marR="9525" marT="9525" marB="0" anchor="ctr"/>
                </a:tc>
                <a:extLst>
                  <a:ext uri="{0D108BD9-81ED-4DB2-BD59-A6C34878D82A}">
                    <a16:rowId xmlns:a16="http://schemas.microsoft.com/office/drawing/2014/main" val="10017"/>
                  </a:ext>
                </a:extLst>
              </a:tr>
              <a:tr h="175260">
                <a:tc>
                  <a:txBody>
                    <a:bodyPr/>
                    <a:lstStyle/>
                    <a:p>
                      <a:pPr algn="l"/>
                      <a:r>
                        <a:rPr sz="1100" b="0" i="0">
                          <a:solidFill>
                            <a:srgbClr val="0070C0"/>
                          </a:solidFill>
                          <a:latin typeface="Calibri"/>
                        </a:rPr>
                        <a:t>29.9.</a:t>
                      </a:r>
                      <a:r>
                        <a:rPr sz="700" b="0" i="0">
                          <a:solidFill>
                            <a:srgbClr val="0070C0"/>
                          </a:solidFill>
                          <a:latin typeface="Times New Roman"/>
                        </a:rPr>
                        <a:t>  </a:t>
                      </a:r>
                      <a:r>
                        <a:rPr sz="1100" b="0" i="0">
                          <a:solidFill>
                            <a:srgbClr val="0070C0"/>
                          </a:solidFill>
                          <a:latin typeface="Calibri"/>
                        </a:rPr>
                        <a:t>MD Pack Industries Sdn. Bhd.</a:t>
                      </a:r>
                      <a:endParaRPr sz="1100"/>
                    </a:p>
                  </a:txBody>
                  <a:tcPr marL="428625" marR="9525" marT="9525" marB="0" anchor="ctr"/>
                </a:tc>
                <a:extLst>
                  <a:ext uri="{0D108BD9-81ED-4DB2-BD59-A6C34878D82A}">
                    <a16:rowId xmlns:a16="http://schemas.microsoft.com/office/drawing/2014/main" val="10018"/>
                  </a:ext>
                </a:extLst>
              </a:tr>
              <a:tr h="175260">
                <a:tc>
                  <a:txBody>
                    <a:bodyPr/>
                    <a:lstStyle/>
                    <a:p>
                      <a:pPr algn="l"/>
                      <a:r>
                        <a:rPr sz="1100" b="0" i="0">
                          <a:solidFill>
                            <a:srgbClr val="0070C0"/>
                          </a:solidFill>
                          <a:latin typeface="Calibri"/>
                        </a:rPr>
                        <a:t>29.10.</a:t>
                      </a:r>
                      <a:r>
                        <a:rPr sz="700" b="0" i="0">
                          <a:solidFill>
                            <a:srgbClr val="0070C0"/>
                          </a:solidFill>
                          <a:latin typeface="Times New Roman"/>
                        </a:rPr>
                        <a:t> </a:t>
                      </a:r>
                      <a:r>
                        <a:rPr sz="1100" b="0" i="0">
                          <a:solidFill>
                            <a:srgbClr val="0070C0"/>
                          </a:solidFill>
                          <a:latin typeface="Calibri"/>
                        </a:rPr>
                        <a:t>PT SuryaTITIA Makmur</a:t>
                      </a:r>
                      <a:endParaRPr sz="1100"/>
                    </a:p>
                  </a:txBody>
                  <a:tcPr marL="428625" marR="9525" marT="9525" marB="0" anchor="ctr"/>
                </a:tc>
                <a:extLst>
                  <a:ext uri="{0D108BD9-81ED-4DB2-BD59-A6C34878D82A}">
                    <a16:rowId xmlns:a16="http://schemas.microsoft.com/office/drawing/2014/main" val="10019"/>
                  </a:ext>
                </a:extLst>
              </a:tr>
              <a:tr h="175260">
                <a:tc>
                  <a:txBody>
                    <a:bodyPr/>
                    <a:lstStyle/>
                    <a:p>
                      <a:pPr algn="l"/>
                      <a:r>
                        <a:rPr sz="1100" b="1" i="0">
                          <a:solidFill>
                            <a:srgbClr val="000000"/>
                          </a:solidFill>
                          <a:latin typeface="Calibri"/>
                        </a:rPr>
                        <a:t>Section 7: White Space Opportunity Assessment</a:t>
                      </a:r>
                      <a:endParaRPr sz="1100"/>
                    </a:p>
                  </a:txBody>
                  <a:tcPr marL="9525" marR="9525" marT="9525" marB="0" anchor="ctr"/>
                </a:tc>
                <a:extLst>
                  <a:ext uri="{0D108BD9-81ED-4DB2-BD59-A6C34878D82A}">
                    <a16:rowId xmlns:a16="http://schemas.microsoft.com/office/drawing/2014/main" val="10020"/>
                  </a:ext>
                </a:extLst>
              </a:tr>
              <a:tr h="175260">
                <a:tc>
                  <a:txBody>
                    <a:bodyPr/>
                    <a:lstStyle/>
                    <a:p>
                      <a:pPr algn="l"/>
                      <a:r>
                        <a:rPr sz="1100" b="1" i="0">
                          <a:solidFill>
                            <a:srgbClr val="000000"/>
                          </a:solidFill>
                          <a:latin typeface="Calibri"/>
                        </a:rPr>
                        <a:t>30.</a:t>
                      </a:r>
                      <a:r>
                        <a:rPr sz="700" b="1" i="0">
                          <a:solidFill>
                            <a:srgbClr val="000000"/>
                          </a:solidFill>
                          <a:latin typeface="Times New Roman"/>
                        </a:rPr>
                        <a:t>    </a:t>
                      </a:r>
                      <a:r>
                        <a:rPr sz="1100" b="1" i="0">
                          <a:solidFill>
                            <a:srgbClr val="000000"/>
                          </a:solidFill>
                          <a:latin typeface="Calibri"/>
                        </a:rPr>
                        <a:t>Strategic Market Entry, Downstream Integration, and Investment Opportunity Assessment</a:t>
                      </a:r>
                      <a:endParaRPr sz="1100"/>
                    </a:p>
                  </a:txBody>
                  <a:tcPr marL="171450" marR="9525" marT="9525" marB="0" anchor="ctr"/>
                </a:tc>
                <a:extLst>
                  <a:ext uri="{0D108BD9-81ED-4DB2-BD59-A6C34878D82A}">
                    <a16:rowId xmlns:a16="http://schemas.microsoft.com/office/drawing/2014/main" val="10021"/>
                  </a:ext>
                </a:extLst>
              </a:tr>
              <a:tr h="350520">
                <a:tc>
                  <a:txBody>
                    <a:bodyPr/>
                    <a:lstStyle/>
                    <a:p>
                      <a:pPr algn="l"/>
                      <a:r>
                        <a:rPr sz="1100" b="0" i="0">
                          <a:solidFill>
                            <a:srgbClr val="0070C0"/>
                          </a:solidFill>
                          <a:latin typeface="Calibri"/>
                        </a:rPr>
                        <a:t>30.1.</a:t>
                      </a:r>
                      <a:r>
                        <a:rPr sz="700" b="0" i="0">
                          <a:solidFill>
                            <a:srgbClr val="0070C0"/>
                          </a:solidFill>
                          <a:latin typeface="Times New Roman"/>
                        </a:rPr>
                        <a:t>  </a:t>
                      </a:r>
                      <a:r>
                        <a:rPr sz="1100" b="0" i="0">
                          <a:solidFill>
                            <a:srgbClr val="0070C0"/>
                          </a:solidFill>
                          <a:latin typeface="Calibri"/>
                        </a:rPr>
                        <a:t>Saigon Paper Addressable Market by Paper Supply versus Finished-partition Conversion - MT / USD Mn</a:t>
                      </a:r>
                      <a:endParaRPr sz="1100"/>
                    </a:p>
                  </a:txBody>
                  <a:tcPr marL="428625" marR="9525" marT="9525" marB="0" anchor="ctr"/>
                </a:tc>
                <a:extLst>
                  <a:ext uri="{0D108BD9-81ED-4DB2-BD59-A6C34878D82A}">
                    <a16:rowId xmlns:a16="http://schemas.microsoft.com/office/drawing/2014/main" val="10022"/>
                  </a:ext>
                </a:extLst>
              </a:tr>
              <a:tr h="350520">
                <a:tc>
                  <a:txBody>
                    <a:bodyPr/>
                    <a:lstStyle/>
                    <a:p>
                      <a:pPr algn="l"/>
                      <a:r>
                        <a:rPr sz="1100" b="0" i="0">
                          <a:solidFill>
                            <a:srgbClr val="0070C0"/>
                          </a:solidFill>
                          <a:latin typeface="Calibri"/>
                        </a:rPr>
                        <a:t>30.2.</a:t>
                      </a:r>
                      <a:r>
                        <a:rPr sz="700" b="0" i="0">
                          <a:solidFill>
                            <a:srgbClr val="0070C0"/>
                          </a:solidFill>
                          <a:latin typeface="Times New Roman"/>
                        </a:rPr>
                        <a:t>  </a:t>
                      </a:r>
                      <a:r>
                        <a:rPr sz="1100" b="0" i="0">
                          <a:solidFill>
                            <a:srgbClr val="0070C0"/>
                          </a:solidFill>
                          <a:latin typeface="Calibri"/>
                        </a:rPr>
                        <a:t>Priority End-use Application Ranking by Demand, Growth, and Gross Margin - MT / CAGR % / Margin %</a:t>
                      </a:r>
                      <a:endParaRPr sz="1100"/>
                    </a:p>
                  </a:txBody>
                  <a:tcPr marL="428625" marR="9525" marT="9525" marB="0" anchor="ctr"/>
                </a:tc>
                <a:extLst>
                  <a:ext uri="{0D108BD9-81ED-4DB2-BD59-A6C34878D82A}">
                    <a16:rowId xmlns:a16="http://schemas.microsoft.com/office/drawing/2014/main" val="10023"/>
                  </a:ext>
                </a:extLst>
              </a:tr>
              <a:tr h="350520">
                <a:tc>
                  <a:txBody>
                    <a:bodyPr/>
                    <a:lstStyle/>
                    <a:p>
                      <a:pPr algn="l"/>
                      <a:r>
                        <a:rPr sz="1100" b="0" i="0">
                          <a:solidFill>
                            <a:srgbClr val="0070C0"/>
                          </a:solidFill>
                          <a:latin typeface="Calibri"/>
                        </a:rPr>
                        <a:t>30.3.</a:t>
                      </a:r>
                      <a:r>
                        <a:rPr sz="700" b="0" i="0">
                          <a:solidFill>
                            <a:srgbClr val="0070C0"/>
                          </a:solidFill>
                          <a:latin typeface="Times New Roman"/>
                        </a:rPr>
                        <a:t>  </a:t>
                      </a:r>
                      <a:r>
                        <a:rPr sz="1100" b="0" i="0">
                          <a:solidFill>
                            <a:srgbClr val="0070C0"/>
                          </a:solidFill>
                          <a:latin typeface="Calibri"/>
                        </a:rPr>
                        <a:t>Potential Paper Customers, Partition Converters, and OEM Partnership Targets - Number of Targets / Estimated MT Demand</a:t>
                      </a:r>
                      <a:endParaRPr sz="1100"/>
                    </a:p>
                  </a:txBody>
                  <a:tcPr marL="428625" marR="9525" marT="9525" marB="0" anchor="ctr"/>
                </a:tc>
                <a:extLst>
                  <a:ext uri="{0D108BD9-81ED-4DB2-BD59-A6C34878D82A}">
                    <a16:rowId xmlns:a16="http://schemas.microsoft.com/office/drawing/2014/main" val="10024"/>
                  </a:ext>
                </a:extLst>
              </a:tr>
              <a:tr h="350520">
                <a:tc>
                  <a:txBody>
                    <a:bodyPr/>
                    <a:lstStyle/>
                    <a:p>
                      <a:pPr algn="l"/>
                      <a:r>
                        <a:rPr sz="1100" b="0" i="0">
                          <a:solidFill>
                            <a:srgbClr val="0070C0"/>
                          </a:solidFill>
                          <a:latin typeface="Calibri"/>
                        </a:rPr>
                        <a:t>30.4.</a:t>
                      </a:r>
                      <a:r>
                        <a:rPr sz="700" b="0" i="0">
                          <a:solidFill>
                            <a:srgbClr val="0070C0"/>
                          </a:solidFill>
                          <a:latin typeface="Times New Roman"/>
                        </a:rPr>
                        <a:t>  </a:t>
                      </a:r>
                      <a:r>
                        <a:rPr sz="1100" b="0" i="0">
                          <a:solidFill>
                            <a:srgbClr val="0070C0"/>
                          </a:solidFill>
                          <a:latin typeface="Calibri"/>
                        </a:rPr>
                        <a:t>Vietnam Industrial Cluster Investment Attractiveness - Demand Density / Logistics Cost / Supply Gap</a:t>
                      </a:r>
                      <a:endParaRPr sz="1100"/>
                    </a:p>
                  </a:txBody>
                  <a:tcPr marL="428625" marR="9525" marT="9525" marB="0" anchor="ctr"/>
                </a:tc>
                <a:extLst>
                  <a:ext uri="{0D108BD9-81ED-4DB2-BD59-A6C34878D82A}">
                    <a16:rowId xmlns:a16="http://schemas.microsoft.com/office/drawing/2014/main" val="10025"/>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Table of Contents (7/7)</a:t>
            </a:r>
          </a:p>
        </p:txBody>
      </p:sp>
      <p:graphicFrame>
        <p:nvGraphicFramePr>
          <p:cNvPr id="9" name="FMI Contents Table"/>
          <p:cNvGraphicFramePr>
            <a:graphicFrameLocks noGrp="1"/>
          </p:cNvGraphicFramePr>
          <p:nvPr/>
        </p:nvGraphicFramePr>
        <p:xfrm>
          <a:off x="142875" y="981075"/>
          <a:ext cx="5876925" cy="105156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350520">
                <a:tc>
                  <a:txBody>
                    <a:bodyPr/>
                    <a:lstStyle/>
                    <a:p>
                      <a:pPr algn="l"/>
                      <a:r>
                        <a:rPr sz="1100" b="0" i="0">
                          <a:solidFill>
                            <a:srgbClr val="0070C0"/>
                          </a:solidFill>
                          <a:latin typeface="Calibri"/>
                        </a:rPr>
                        <a:t>30.5.</a:t>
                      </a:r>
                      <a:r>
                        <a:rPr sz="700" b="0" i="0">
                          <a:solidFill>
                            <a:srgbClr val="0070C0"/>
                          </a:solidFill>
                          <a:latin typeface="Times New Roman"/>
                        </a:rPr>
                        <a:t>  </a:t>
                      </a:r>
                      <a:r>
                        <a:rPr sz="1100" b="0" i="0">
                          <a:solidFill>
                            <a:srgbClr val="0070C0"/>
                          </a:solidFill>
                          <a:latin typeface="Calibri"/>
                        </a:rPr>
                        <a:t>Product Innovation Opportunities by High-strength, Lightweight, and Customized Partition Formats - GSM / Cost Premium % / Addressable MT</a:t>
                      </a:r>
                      <a:endParaRPr sz="1100"/>
                    </a:p>
                  </a:txBody>
                  <a:tcPr marL="428625" marR="9525" marT="9525" marB="0" anchor="ctr"/>
                </a:tc>
                <a:extLst>
                  <a:ext uri="{0D108BD9-81ED-4DB2-BD59-A6C34878D82A}">
                    <a16:rowId xmlns:a16="http://schemas.microsoft.com/office/drawing/2014/main" val="10000"/>
                  </a:ext>
                </a:extLst>
              </a:tr>
              <a:tr h="350520">
                <a:tc>
                  <a:txBody>
                    <a:bodyPr/>
                    <a:lstStyle/>
                    <a:p>
                      <a:pPr algn="l"/>
                      <a:r>
                        <a:rPr sz="1100" b="0" i="0">
                          <a:solidFill>
                            <a:srgbClr val="0070C0"/>
                          </a:solidFill>
                          <a:latin typeface="Calibri"/>
                        </a:rPr>
                        <a:t>30.6.</a:t>
                      </a:r>
                      <a:r>
                        <a:rPr sz="700" b="0" i="0">
                          <a:solidFill>
                            <a:srgbClr val="0070C0"/>
                          </a:solidFill>
                          <a:latin typeface="Times New Roman"/>
                        </a:rPr>
                        <a:t>  </a:t>
                      </a:r>
                      <a:r>
                        <a:rPr sz="1100" b="0" i="0">
                          <a:solidFill>
                            <a:srgbClr val="0070C0"/>
                          </a:solidFill>
                          <a:latin typeface="Calibri"/>
                        </a:rPr>
                        <a:t>Strategic Opportunity Prioritization by Market Size, Investment, Profitability, and Execution Risk - Weighted Opportunity Score</a:t>
                      </a:r>
                      <a:endParaRPr sz="1100"/>
                    </a:p>
                  </a:txBody>
                  <a:tcPr marL="428625" marR="9525" marT="9525" marB="0" anchor="ctr"/>
                </a:tc>
                <a:extLst>
                  <a:ext uri="{0D108BD9-81ED-4DB2-BD59-A6C34878D82A}">
                    <a16:rowId xmlns:a16="http://schemas.microsoft.com/office/drawing/2014/main" val="10001"/>
                  </a:ext>
                </a:extLst>
              </a:tr>
              <a:tr h="175260">
                <a:tc>
                  <a:txBody>
                    <a:bodyPr/>
                    <a:lstStyle/>
                    <a:p>
                      <a:pPr algn="l"/>
                      <a:r>
                        <a:rPr sz="1100" b="1" i="0">
                          <a:solidFill>
                            <a:srgbClr val="000000"/>
                          </a:solidFill>
                          <a:latin typeface="Calibri"/>
                        </a:rPr>
                        <a:t>31.</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extLst>
                  <a:ext uri="{0D108BD9-81ED-4DB2-BD59-A6C34878D82A}">
                    <a16:rowId xmlns:a16="http://schemas.microsoft.com/office/drawing/2014/main" val="10002"/>
                  </a:ext>
                </a:extLst>
              </a:tr>
              <a:tr h="175260">
                <a:tc>
                  <a:txBody>
                    <a:bodyPr/>
                    <a:lstStyle/>
                    <a:p>
                      <a:pPr algn="l"/>
                      <a:r>
                        <a:rPr sz="1100" b="1" i="0">
                          <a:solidFill>
                            <a:srgbClr val="000000"/>
                          </a:solidFill>
                          <a:latin typeface="Calibri"/>
                        </a:rPr>
                        <a:t>32.</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extLst>
                  <a:ext uri="{0D108BD9-81ED-4DB2-BD59-A6C34878D82A}">
                    <a16:rowId xmlns:a16="http://schemas.microsoft.com/office/drawing/2014/main" val="10003"/>
                  </a:ext>
                </a:extLst>
              </a:tr>
            </a:tbl>
          </a:graphicData>
        </a:graphic>
      </p:graphicFrame>
      <p:sp>
        <p:nvSpPr>
          <p:cNvPr id="10" name="TextBox 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292475"/>
            <a:ext cx="8572500" cy="514350"/>
          </a:xfrm>
          <a:prstGeom prst="rect">
            <a:avLst/>
          </a:prstGeom>
          <a:noFill/>
        </p:spPr>
        <p:txBody>
          <a:bodyPr wrap="square" lIns="0" tIns="0" r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Every figure in the full study, by analysis block</a:t>
            </a:r>
          </a:p>
          <a:p>
            <a:pPr marL="342900" indent="-323850">
              <a:lnSpc>
                <a:spcPct val="100000"/>
              </a:lnSpc>
              <a:spcAft>
                <a:spcPts val="800"/>
              </a:spcAft>
            </a:pPr>
            <a:r>
              <a:rPr sz="2000" b="0">
                <a:solidFill>
                  <a:srgbClr val="000000"/>
                </a:solidFill>
                <a:latin typeface="Calibri"/>
              </a:rPr>
              <a:t>➤	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69606">
                <a:tc>
                  <a:txBody>
                    <a:bodyPr/>
                    <a:lstStyle/>
                    <a:p>
                      <a:pPr algn="l"/>
                      <a:r>
                        <a:rPr sz="1050" b="0" i="0">
                          <a:solidFill>
                            <a:srgbClr val="000000"/>
                          </a:solidFill>
                          <a:latin typeface="Calibri"/>
                        </a:rPr>
                        <a:t>Figure 1: Global Market Value and YoY Growth, US$ Mn and %, 2021–2036</a:t>
                      </a:r>
                      <a:endParaRPr sz="1050"/>
                    </a:p>
                  </a:txBody>
                  <a:tcPr marL="9525" marR="9525" marT="9525" marB="0" anchor="ctr"/>
                </a:tc>
                <a:extLst>
                  <a:ext uri="{0D108BD9-81ED-4DB2-BD59-A6C34878D82A}">
                    <a16:rowId xmlns:a16="http://schemas.microsoft.com/office/drawing/2014/main" val="10000"/>
                  </a:ext>
                </a:extLst>
              </a:tr>
              <a:tr h="169606">
                <a:tc>
                  <a:txBody>
                    <a:bodyPr/>
                    <a:lstStyle/>
                    <a:p>
                      <a:pPr algn="l"/>
                      <a:r>
                        <a:rPr sz="1050" b="0" i="0">
                          <a:solidFill>
                            <a:srgbClr val="000000"/>
                          </a:solidFill>
                          <a:latin typeface="Calibri"/>
                        </a:rPr>
                        <a:t>Figure 2: Global Market Value Snapshot, US$ Mn, 2026 and 2036</a:t>
                      </a:r>
                      <a:endParaRPr sz="1050"/>
                    </a:p>
                  </a:txBody>
                  <a:tcPr marL="9525" marR="9525" marT="9525" marB="0" anchor="ctr"/>
                </a:tc>
                <a:extLst>
                  <a:ext uri="{0D108BD9-81ED-4DB2-BD59-A6C34878D82A}">
                    <a16:rowId xmlns:a16="http://schemas.microsoft.com/office/drawing/2014/main" val="10001"/>
                  </a:ext>
                </a:extLst>
              </a:tr>
              <a:tr h="169606">
                <a:tc>
                  <a:txBody>
                    <a:bodyPr/>
                    <a:lstStyle/>
                    <a:p>
                      <a:pPr algn="l"/>
                      <a:r>
                        <a:rPr sz="1050" b="0" i="0">
                          <a:solidFill>
                            <a:srgbClr val="000000"/>
                          </a:solidFill>
                          <a:latin typeface="Calibri"/>
                        </a:rPr>
                        <a:t>Figure 3: Global Market Taxonomy by Segment, 2026</a:t>
                      </a:r>
                      <a:endParaRPr sz="1050"/>
                    </a:p>
                  </a:txBody>
                  <a:tcPr marL="9525" marR="9525" marT="9525" marB="0" anchor="ctr"/>
                </a:tc>
                <a:extLst>
                  <a:ext uri="{0D108BD9-81ED-4DB2-BD59-A6C34878D82A}">
                    <a16:rowId xmlns:a16="http://schemas.microsoft.com/office/drawing/2014/main" val="10002"/>
                  </a:ext>
                </a:extLst>
              </a:tr>
              <a:tr h="169606">
                <a:tc>
                  <a:txBody>
                    <a:bodyPr/>
                    <a:lstStyle/>
                    <a:p>
                      <a:pPr algn="l"/>
                      <a:r>
                        <a:rPr sz="1050" b="0" i="0">
                          <a:solidFill>
                            <a:srgbClr val="000000"/>
                          </a:solidFill>
                          <a:latin typeface="Calibri"/>
                        </a:rPr>
                        <a:t>Figure 4: Global Market Share by Partition Type, %, 2026</a:t>
                      </a:r>
                      <a:endParaRPr sz="1050"/>
                    </a:p>
                  </a:txBody>
                  <a:tcPr marL="9525" marR="9525" marT="9525" marB="0" anchor="ctr"/>
                </a:tc>
                <a:extLst>
                  <a:ext uri="{0D108BD9-81ED-4DB2-BD59-A6C34878D82A}">
                    <a16:rowId xmlns:a16="http://schemas.microsoft.com/office/drawing/2014/main" val="10003"/>
                  </a:ext>
                </a:extLst>
              </a:tr>
              <a:tr h="169606">
                <a:tc>
                  <a:txBody>
                    <a:bodyPr/>
                    <a:lstStyle/>
                    <a:p>
                      <a:pPr algn="l"/>
                      <a:r>
                        <a:rPr sz="1050" b="0" i="0">
                          <a:solidFill>
                            <a:srgbClr val="000000"/>
                          </a:solidFill>
                          <a:latin typeface="Calibri"/>
                        </a:rPr>
                        <a:t>Figure 5: Global Market Share by Board Construction, %, 2026</a:t>
                      </a:r>
                      <a:endParaRPr sz="1050"/>
                    </a:p>
                  </a:txBody>
                  <a:tcPr marL="9525" marR="9525" marT="9525" marB="0" anchor="ctr"/>
                </a:tc>
                <a:extLst>
                  <a:ext uri="{0D108BD9-81ED-4DB2-BD59-A6C34878D82A}">
                    <a16:rowId xmlns:a16="http://schemas.microsoft.com/office/drawing/2014/main" val="10004"/>
                  </a:ext>
                </a:extLst>
              </a:tr>
              <a:tr h="169606">
                <a:tc>
                  <a:txBody>
                    <a:bodyPr/>
                    <a:lstStyle/>
                    <a:p>
                      <a:pPr algn="l"/>
                      <a:r>
                        <a:rPr sz="1050" b="0" i="0">
                          <a:solidFill>
                            <a:srgbClr val="000000"/>
                          </a:solidFill>
                          <a:latin typeface="Calibri"/>
                        </a:rPr>
                        <a:t>Figure 6: Global Market Share by Material Source, %, 2026</a:t>
                      </a:r>
                      <a:endParaRPr sz="1050"/>
                    </a:p>
                  </a:txBody>
                  <a:tcPr marL="9525" marR="9525" marT="9525" marB="0" anchor="ctr"/>
                </a:tc>
                <a:extLst>
                  <a:ext uri="{0D108BD9-81ED-4DB2-BD59-A6C34878D82A}">
                    <a16:rowId xmlns:a16="http://schemas.microsoft.com/office/drawing/2014/main" val="10005"/>
                  </a:ext>
                </a:extLst>
              </a:tr>
              <a:tr h="169606">
                <a:tc>
                  <a:txBody>
                    <a:bodyPr/>
                    <a:lstStyle/>
                    <a:p>
                      <a:pPr algn="l"/>
                      <a:r>
                        <a:rPr sz="1050" b="0" i="0">
                          <a:solidFill>
                            <a:srgbClr val="000000"/>
                          </a:solidFill>
                          <a:latin typeface="Calibri"/>
                        </a:rPr>
                        <a:t>Figure 7: Global Market Share by Cell Configuration, %, 2026</a:t>
                      </a:r>
                      <a:endParaRPr sz="1050"/>
                    </a:p>
                  </a:txBody>
                  <a:tcPr marL="9525" marR="9525" marT="9525" marB="0" anchor="ctr"/>
                </a:tc>
                <a:extLst>
                  <a:ext uri="{0D108BD9-81ED-4DB2-BD59-A6C34878D82A}">
                    <a16:rowId xmlns:a16="http://schemas.microsoft.com/office/drawing/2014/main" val="10006"/>
                  </a:ext>
                </a:extLst>
              </a:tr>
              <a:tr h="169606">
                <a:tc>
                  <a:txBody>
                    <a:bodyPr/>
                    <a:lstStyle/>
                    <a:p>
                      <a:pPr algn="l"/>
                      <a:r>
                        <a:rPr sz="1050" b="0" i="0">
                          <a:solidFill>
                            <a:srgbClr val="000000"/>
                          </a:solidFill>
                          <a:latin typeface="Calibri"/>
                        </a:rPr>
                        <a:t>Figure 8: Global Market Share by Customization, %, 2026</a:t>
                      </a:r>
                      <a:endParaRPr sz="1050"/>
                    </a:p>
                  </a:txBody>
                  <a:tcPr marL="9525" marR="9525" marT="9525" marB="0" anchor="ctr"/>
                </a:tc>
                <a:extLst>
                  <a:ext uri="{0D108BD9-81ED-4DB2-BD59-A6C34878D82A}">
                    <a16:rowId xmlns:a16="http://schemas.microsoft.com/office/drawing/2014/main" val="10007"/>
                  </a:ext>
                </a:extLst>
              </a:tr>
              <a:tr h="169606">
                <a:tc>
                  <a:txBody>
                    <a:bodyPr/>
                    <a:lstStyle/>
                    <a:p>
                      <a:pPr algn="l"/>
                      <a:r>
                        <a:rPr sz="1050" b="0" i="0">
                          <a:solidFill>
                            <a:srgbClr val="000000"/>
                          </a:solidFill>
                          <a:latin typeface="Calibri"/>
                        </a:rPr>
                        <a:t>Figure 9: Global Market Share by End Use, %, 2026</a:t>
                      </a:r>
                      <a:endParaRPr sz="1050"/>
                    </a:p>
                  </a:txBody>
                  <a:tcPr marL="9525" marR="9525" marT="9525" marB="0" anchor="ctr"/>
                </a:tc>
                <a:extLst>
                  <a:ext uri="{0D108BD9-81ED-4DB2-BD59-A6C34878D82A}">
                    <a16:rowId xmlns:a16="http://schemas.microsoft.com/office/drawing/2014/main" val="10008"/>
                  </a:ext>
                </a:extLst>
              </a:tr>
              <a:tr h="169606">
                <a:tc>
                  <a:txBody>
                    <a:bodyPr/>
                    <a:lstStyle/>
                    <a:p>
                      <a:pPr algn="l"/>
                      <a:r>
                        <a:rPr sz="1050" b="0" i="0">
                          <a:solidFill>
                            <a:srgbClr val="000000"/>
                          </a:solidFill>
                          <a:latin typeface="Calibri"/>
                        </a:rPr>
                        <a:t>Figure 10: Global Market Historical Value, US$ Mn, 2021–2025</a:t>
                      </a:r>
                      <a:endParaRPr sz="1050"/>
                    </a:p>
                  </a:txBody>
                  <a:tcPr marL="9525" marR="9525" marT="9525" marB="0" anchor="ctr"/>
                </a:tc>
                <a:extLst>
                  <a:ext uri="{0D108BD9-81ED-4DB2-BD59-A6C34878D82A}">
                    <a16:rowId xmlns:a16="http://schemas.microsoft.com/office/drawing/2014/main" val="10009"/>
                  </a:ext>
                </a:extLst>
              </a:tr>
              <a:tr h="169606">
                <a:tc>
                  <a:txBody>
                    <a:bodyPr/>
                    <a:lstStyle/>
                    <a:p>
                      <a:pPr algn="l"/>
                      <a:r>
                        <a:rPr sz="1050" b="0" i="0">
                          <a:solidFill>
                            <a:srgbClr val="000000"/>
                          </a:solidFill>
                          <a:latin typeface="Calibri"/>
                        </a:rPr>
                        <a:t>Figure 11: Global Market Forecast Value, US$ Mn, 2026–2036</a:t>
                      </a:r>
                      <a:endParaRPr sz="1050"/>
                    </a:p>
                  </a:txBody>
                  <a:tcPr marL="9525" marR="9525" marT="9525" marB="0" anchor="ctr"/>
                </a:tc>
                <a:extLst>
                  <a:ext uri="{0D108BD9-81ED-4DB2-BD59-A6C34878D82A}">
                    <a16:rowId xmlns:a16="http://schemas.microsoft.com/office/drawing/2014/main" val="10010"/>
                  </a:ext>
                </a:extLst>
              </a:tr>
              <a:tr h="169606">
                <a:tc>
                  <a:txBody>
                    <a:bodyPr/>
                    <a:lstStyle/>
                    <a:p>
                      <a:pPr algn="l"/>
                      <a:r>
                        <a:rPr sz="1050" b="0" i="0">
                          <a:solidFill>
                            <a:srgbClr val="000000"/>
                          </a:solidFill>
                          <a:latin typeface="Calibri"/>
                        </a:rPr>
                        <a:t>Figure 12: Global Market YoY Growth, %, 2021–2036</a:t>
                      </a:r>
                      <a:endParaRPr sz="1050"/>
                    </a:p>
                  </a:txBody>
                  <a:tcPr marL="9525" marR="9525" marT="9525" marB="0" anchor="ctr"/>
                </a:tc>
                <a:extLst>
                  <a:ext uri="{0D108BD9-81ED-4DB2-BD59-A6C34878D82A}">
                    <a16:rowId xmlns:a16="http://schemas.microsoft.com/office/drawing/2014/main" val="10011"/>
                  </a:ext>
                </a:extLst>
              </a:tr>
              <a:tr h="169606">
                <a:tc>
                  <a:txBody>
                    <a:bodyPr/>
                    <a:lstStyle/>
                    <a:p>
                      <a:pPr algn="l"/>
                      <a:r>
                        <a:rPr sz="1050" b="0" i="0">
                          <a:solidFill>
                            <a:srgbClr val="000000"/>
                          </a:solidFill>
                          <a:latin typeface="Calibri"/>
                        </a:rPr>
                        <a:t>Figure 13: Global Market Volume and YoY Growth, MT and %, 2021–2036</a:t>
                      </a:r>
                      <a:endParaRPr sz="1050"/>
                    </a:p>
                  </a:txBody>
                  <a:tcPr marL="9525" marR="9525" marT="9525" marB="0" anchor="ctr"/>
                </a:tc>
                <a:extLst>
                  <a:ext uri="{0D108BD9-81ED-4DB2-BD59-A6C34878D82A}">
                    <a16:rowId xmlns:a16="http://schemas.microsoft.com/office/drawing/2014/main" val="10012"/>
                  </a:ext>
                </a:extLst>
              </a:tr>
              <a:tr h="169606">
                <a:tc>
                  <a:txBody>
                    <a:bodyPr/>
                    <a:lstStyle/>
                    <a:p>
                      <a:pPr algn="l"/>
                      <a:r>
                        <a:rPr sz="1050" b="0" i="0">
                          <a:solidFill>
                            <a:srgbClr val="000000"/>
                          </a:solidFill>
                          <a:latin typeface="Calibri"/>
                        </a:rPr>
                        <a:t>Figure 14: Global Market Volume vs Value CAGR Comparison, %, 2026–2036</a:t>
                      </a:r>
                      <a:endParaRPr sz="1050"/>
                    </a:p>
                  </a:txBody>
                  <a:tcPr marL="9525" marR="9525" marT="9525" marB="0" anchor="ctr"/>
                </a:tc>
                <a:extLst>
                  <a:ext uri="{0D108BD9-81ED-4DB2-BD59-A6C34878D82A}">
                    <a16:rowId xmlns:a16="http://schemas.microsoft.com/office/drawing/2014/main" val="10013"/>
                  </a:ext>
                </a:extLst>
              </a:tr>
              <a:tr h="169606">
                <a:tc>
                  <a:txBody>
                    <a:bodyPr/>
                    <a:lstStyle/>
                    <a:p>
                      <a:pPr algn="l"/>
                      <a:r>
                        <a:rPr sz="1050" b="0" i="0">
                          <a:solidFill>
                            <a:srgbClr val="000000"/>
                          </a:solidFill>
                          <a:latin typeface="Calibri"/>
                        </a:rPr>
                        <a:t>Figure 15: Global Market Average Selling Price, US$/MT, 2021–2036</a:t>
                      </a:r>
                      <a:endParaRPr sz="1050"/>
                    </a:p>
                  </a:txBody>
                  <a:tcPr marL="9525" marR="9525" marT="9525" marB="0" anchor="ctr"/>
                </a:tc>
                <a:extLst>
                  <a:ext uri="{0D108BD9-81ED-4DB2-BD59-A6C34878D82A}">
                    <a16:rowId xmlns:a16="http://schemas.microsoft.com/office/drawing/2014/main" val="10014"/>
                  </a:ext>
                </a:extLst>
              </a:tr>
              <a:tr h="169606">
                <a:tc>
                  <a:txBody>
                    <a:bodyPr/>
                    <a:lstStyle/>
                    <a:p>
                      <a:pPr algn="l"/>
                      <a:r>
                        <a:rPr sz="1050" b="0" i="0">
                          <a:solidFill>
                            <a:srgbClr val="000000"/>
                          </a:solidFill>
                          <a:latin typeface="Calibri"/>
                        </a:rPr>
                        <a:t>Figure 16: Global Market Absolute $ Opportunity, US$ Mn, 2026–2036</a:t>
                      </a:r>
                      <a:endParaRPr sz="1050"/>
                    </a:p>
                  </a:txBody>
                  <a:tcPr marL="9525" marR="9525" marT="9525" marB="0" anchor="ctr"/>
                </a:tc>
                <a:extLst>
                  <a:ext uri="{0D108BD9-81ED-4DB2-BD59-A6C34878D82A}">
                    <a16:rowId xmlns:a16="http://schemas.microsoft.com/office/drawing/2014/main" val="10015"/>
                  </a:ext>
                </a:extLst>
              </a:tr>
              <a:tr h="169606">
                <a:tc>
                  <a:txBody>
                    <a:bodyPr/>
                    <a:lstStyle/>
                    <a:p>
                      <a:pPr algn="l"/>
                      <a:r>
                        <a:rPr sz="1050" b="0" i="0">
                          <a:solidFill>
                            <a:srgbClr val="000000"/>
                          </a:solidFill>
                          <a:latin typeface="Calibri"/>
                        </a:rPr>
                        <a:t>Figure 17: Global Market Incremental Opportunity by Year, US$ Mn, 2026–2036</a:t>
                      </a:r>
                      <a:endParaRPr sz="1050"/>
                    </a:p>
                  </a:txBody>
                  <a:tcPr marL="9525" marR="9525" marT="9525" marB="0" anchor="ctr"/>
                </a:tc>
                <a:extLst>
                  <a:ext uri="{0D108BD9-81ED-4DB2-BD59-A6C34878D82A}">
                    <a16:rowId xmlns:a16="http://schemas.microsoft.com/office/drawing/2014/main" val="10016"/>
                  </a:ext>
                </a:extLst>
              </a:tr>
              <a:tr h="169606">
                <a:tc>
                  <a:txBody>
                    <a:bodyPr/>
                    <a:lstStyle/>
                    <a:p>
                      <a:pPr algn="l"/>
                      <a:r>
                        <a:rPr sz="1050" b="0" i="0">
                          <a:solidFill>
                            <a:srgbClr val="000000"/>
                          </a:solidFill>
                          <a:latin typeface="Calibri"/>
                        </a:rPr>
                        <a:t>Figure 18: Global Market Historical vs Forecast CAGR, %, 2021–2036</a:t>
                      </a:r>
                      <a:endParaRPr sz="1050"/>
                    </a:p>
                  </a:txBody>
                  <a:tcPr marL="9525" marR="9525" marT="9525" marB="0" anchor="ctr"/>
                </a:tc>
                <a:extLst>
                  <a:ext uri="{0D108BD9-81ED-4DB2-BD59-A6C34878D82A}">
                    <a16:rowId xmlns:a16="http://schemas.microsoft.com/office/drawing/2014/main" val="10017"/>
                  </a:ext>
                </a:extLst>
              </a:tr>
              <a:tr h="169606">
                <a:tc>
                  <a:txBody>
                    <a:bodyPr/>
                    <a:lstStyle/>
                    <a:p>
                      <a:pPr algn="l"/>
                      <a:r>
                        <a:rPr sz="1050" b="0" i="0">
                          <a:solidFill>
                            <a:srgbClr val="000000"/>
                          </a:solidFill>
                          <a:latin typeface="Calibri"/>
                        </a:rPr>
                        <a:t>Figure 19: Global Market Value by Scenario (Optimistic, Likely, Pessimistic), US$ Mn, 2026–2036</a:t>
                      </a:r>
                      <a:endParaRPr sz="1050"/>
                    </a:p>
                  </a:txBody>
                  <a:tcPr marL="9525" marR="9525" marT="9525" marB="0" anchor="ctr"/>
                </a:tc>
                <a:extLst>
                  <a:ext uri="{0D108BD9-81ED-4DB2-BD59-A6C34878D82A}">
                    <a16:rowId xmlns:a16="http://schemas.microsoft.com/office/drawing/2014/main" val="10018"/>
                  </a:ext>
                </a:extLst>
              </a:tr>
              <a:tr h="169606">
                <a:tc>
                  <a:txBody>
                    <a:bodyPr/>
                    <a:lstStyle/>
                    <a:p>
                      <a:pPr algn="l"/>
                      <a:r>
                        <a:rPr sz="1050" b="0" i="0">
                          <a:solidFill>
                            <a:srgbClr val="000000"/>
                          </a:solidFill>
                          <a:latin typeface="Calibri"/>
                        </a:rPr>
                        <a:t>Figure 20: Global Market Size Evolution Index, 2025=100, 2021–2036</a:t>
                      </a:r>
                      <a:endParaRPr sz="1050"/>
                    </a:p>
                  </a:txBody>
                  <a:tcPr marL="9525" marR="9525" marT="9525" marB="0" anchor="ctr"/>
                </a:tc>
                <a:extLst>
                  <a:ext uri="{0D108BD9-81ED-4DB2-BD59-A6C34878D82A}">
                    <a16:rowId xmlns:a16="http://schemas.microsoft.com/office/drawing/2014/main" val="10019"/>
                  </a:ext>
                </a:extLst>
              </a:tr>
              <a:tr h="169606">
                <a:tc>
                  <a:txBody>
                    <a:bodyPr/>
                    <a:lstStyle/>
                    <a:p>
                      <a:pPr algn="l"/>
                      <a:r>
                        <a:rPr sz="1050" b="0" i="0">
                          <a:solidFill>
                            <a:srgbClr val="000000"/>
                          </a:solidFill>
                          <a:latin typeface="Calibri"/>
                        </a:rPr>
                        <a:t>Figure 21: Global Market Value by Partition Type, US$ Mn, 2021–2036</a:t>
                      </a:r>
                      <a:endParaRPr sz="1050"/>
                    </a:p>
                  </a:txBody>
                  <a:tcPr marL="9525" marR="9525" marT="9525" marB="0" anchor="ctr"/>
                </a:tc>
                <a:extLst>
                  <a:ext uri="{0D108BD9-81ED-4DB2-BD59-A6C34878D82A}">
                    <a16:rowId xmlns:a16="http://schemas.microsoft.com/office/drawing/2014/main" val="10020"/>
                  </a:ext>
                </a:extLst>
              </a:tr>
              <a:tr h="169606">
                <a:tc>
                  <a:txBody>
                    <a:bodyPr/>
                    <a:lstStyle/>
                    <a:p>
                      <a:pPr algn="l"/>
                      <a:r>
                        <a:rPr sz="1050" b="0" i="0">
                          <a:solidFill>
                            <a:srgbClr val="000000"/>
                          </a:solidFill>
                          <a:latin typeface="Calibri"/>
                        </a:rPr>
                        <a:t>Figure 22: Global Market Value by Board Construction, US$ Mn, 2021–2036</a:t>
                      </a:r>
                      <a:endParaRPr sz="1050"/>
                    </a:p>
                  </a:txBody>
                  <a:tcPr marL="9525" marR="9525" marT="9525" marB="0" anchor="ctr"/>
                </a:tc>
                <a:extLst>
                  <a:ext uri="{0D108BD9-81ED-4DB2-BD59-A6C34878D82A}">
                    <a16:rowId xmlns:a16="http://schemas.microsoft.com/office/drawing/2014/main" val="10021"/>
                  </a:ext>
                </a:extLst>
              </a:tr>
              <a:tr h="169606">
                <a:tc>
                  <a:txBody>
                    <a:bodyPr/>
                    <a:lstStyle/>
                    <a:p>
                      <a:pPr algn="l"/>
                      <a:r>
                        <a:rPr sz="1050" b="0" i="0">
                          <a:solidFill>
                            <a:srgbClr val="000000"/>
                          </a:solidFill>
                          <a:latin typeface="Calibri"/>
                        </a:rPr>
                        <a:t>Figure 23: Global Market Value by Material Source, US$ Mn, 2021–2036</a:t>
                      </a:r>
                      <a:endParaRPr sz="1050"/>
                    </a:p>
                  </a:txBody>
                  <a:tcPr marL="9525" marR="9525" marT="9525" marB="0" anchor="ctr"/>
                </a:tc>
                <a:extLst>
                  <a:ext uri="{0D108BD9-81ED-4DB2-BD59-A6C34878D82A}">
                    <a16:rowId xmlns:a16="http://schemas.microsoft.com/office/drawing/2014/main" val="10022"/>
                  </a:ext>
                </a:extLst>
              </a:tr>
              <a:tr h="169606">
                <a:tc>
                  <a:txBody>
                    <a:bodyPr/>
                    <a:lstStyle/>
                    <a:p>
                      <a:pPr algn="l"/>
                      <a:r>
                        <a:rPr sz="1050" b="0" i="0">
                          <a:solidFill>
                            <a:srgbClr val="000000"/>
                          </a:solidFill>
                          <a:latin typeface="Calibri"/>
                        </a:rPr>
                        <a:t>Figure 24: Global Market Value by Cell Configuration, US$ Mn, 2021–2036</a:t>
                      </a:r>
                      <a:endParaRPr sz="1050"/>
                    </a:p>
                  </a:txBody>
                  <a:tcPr marL="9525" marR="9525" marT="9525" marB="0" anchor="ctr"/>
                </a:tc>
                <a:extLst>
                  <a:ext uri="{0D108BD9-81ED-4DB2-BD59-A6C34878D82A}">
                    <a16:rowId xmlns:a16="http://schemas.microsoft.com/office/drawing/2014/main" val="10023"/>
                  </a:ext>
                </a:extLst>
              </a:tr>
              <a:tr h="169606">
                <a:tc>
                  <a:txBody>
                    <a:bodyPr/>
                    <a:lstStyle/>
                    <a:p>
                      <a:pPr algn="l"/>
                      <a:r>
                        <a:rPr sz="1050" b="0" i="0">
                          <a:solidFill>
                            <a:srgbClr val="000000"/>
                          </a:solidFill>
                          <a:latin typeface="Calibri"/>
                        </a:rPr>
                        <a:t>Figure 25: Global Market Value by Customization, US$ Mn, 2021–2036</a:t>
                      </a:r>
                      <a:endParaRPr sz="1050"/>
                    </a:p>
                  </a:txBody>
                  <a:tcPr marL="9525" marR="9525" marT="9525" marB="0" anchor="ctr"/>
                </a:tc>
                <a:extLst>
                  <a:ext uri="{0D108BD9-81ED-4DB2-BD59-A6C34878D82A}">
                    <a16:rowId xmlns:a16="http://schemas.microsoft.com/office/drawing/2014/main" val="10024"/>
                  </a:ext>
                </a:extLst>
              </a:tr>
              <a:tr h="169606">
                <a:tc>
                  <a:txBody>
                    <a:bodyPr/>
                    <a:lstStyle/>
                    <a:p>
                      <a:pPr algn="l"/>
                      <a:r>
                        <a:rPr sz="1050" b="0" i="0">
                          <a:solidFill>
                            <a:srgbClr val="000000"/>
                          </a:solidFill>
                          <a:latin typeface="Calibri"/>
                        </a:rPr>
                        <a:t>Figure 26: Global Market Value by End Use, US$ Mn, 2021–2036</a:t>
                      </a:r>
                      <a:endParaRPr sz="1050"/>
                    </a:p>
                  </a:txBody>
                  <a:tcPr marL="9525" marR="9525" marT="9525" marB="0" anchor="ctr"/>
                </a:tc>
                <a:extLst>
                  <a:ext uri="{0D108BD9-81ED-4DB2-BD59-A6C34878D82A}">
                    <a16:rowId xmlns:a16="http://schemas.microsoft.com/office/drawing/2014/main" val="10025"/>
                  </a:ext>
                </a:extLst>
              </a:tr>
              <a:tr h="169606">
                <a:tc>
                  <a:txBody>
                    <a:bodyPr/>
                    <a:lstStyle/>
                    <a:p>
                      <a:pPr algn="l"/>
                      <a:r>
                        <a:rPr sz="1050" b="0" i="0">
                          <a:solidFill>
                            <a:srgbClr val="000000"/>
                          </a:solidFill>
                          <a:latin typeface="Calibri"/>
                        </a:rPr>
                        <a:t>Figure 27: Global Market Value by Sales Channel, US$ Mn, 2021–2036</a:t>
                      </a:r>
                      <a:endParaRPr sz="1050"/>
                    </a:p>
                  </a:txBody>
                  <a:tcPr marL="9525" marR="9525" marT="9525" marB="0" anchor="ctr"/>
                </a:tc>
                <a:extLst>
                  <a:ext uri="{0D108BD9-81ED-4DB2-BD59-A6C34878D82A}">
                    <a16:rowId xmlns:a16="http://schemas.microsoft.com/office/drawing/2014/main" val="10026"/>
                  </a:ext>
                </a:extLst>
              </a:tr>
              <a:tr h="169606">
                <a:tc>
                  <a:txBody>
                    <a:bodyPr/>
                    <a:lstStyle/>
                    <a:p>
                      <a:pPr algn="l"/>
                      <a:r>
                        <a:rPr sz="1050" b="0" i="0">
                          <a:solidFill>
                            <a:srgbClr val="000000"/>
                          </a:solidFill>
                          <a:latin typeface="Calibri"/>
                        </a:rPr>
                        <a:t>Figure 28: Global Market Share by Partition Type, %, 2026 and 2036</a:t>
                      </a:r>
                      <a:endParaRPr sz="1050"/>
                    </a:p>
                  </a:txBody>
                  <a:tcPr marL="9525" marR="9525" marT="9525" marB="0" anchor="ctr"/>
                </a:tc>
                <a:extLst>
                  <a:ext uri="{0D108BD9-81ED-4DB2-BD59-A6C34878D82A}">
                    <a16:rowId xmlns:a16="http://schemas.microsoft.com/office/drawing/2014/main" val="10027"/>
                  </a:ext>
                </a:extLst>
              </a:tr>
              <a:tr h="169606">
                <a:tc>
                  <a:txBody>
                    <a:bodyPr/>
                    <a:lstStyle/>
                    <a:p>
                      <a:pPr algn="l"/>
                      <a:r>
                        <a:rPr sz="1050" b="0" i="0">
                          <a:solidFill>
                            <a:srgbClr val="000000"/>
                          </a:solidFill>
                          <a:latin typeface="Calibri"/>
                        </a:rPr>
                        <a:t>Figure 29: Global Market Share by Board Construction, %, 2026 and 2036</a:t>
                      </a:r>
                      <a:endParaRPr sz="1050"/>
                    </a:p>
                  </a:txBody>
                  <a:tcPr marL="9525" marR="9525" marT="9525" marB="0" anchor="ctr"/>
                </a:tc>
                <a:extLst>
                  <a:ext uri="{0D108BD9-81ED-4DB2-BD59-A6C34878D82A}">
                    <a16:rowId xmlns:a16="http://schemas.microsoft.com/office/drawing/2014/main" val="10028"/>
                  </a:ext>
                </a:extLst>
              </a:tr>
              <a:tr h="169606">
                <a:tc>
                  <a:txBody>
                    <a:bodyPr/>
                    <a:lstStyle/>
                    <a:p>
                      <a:pPr algn="l"/>
                      <a:r>
                        <a:rPr sz="1050" b="0" i="0">
                          <a:solidFill>
                            <a:srgbClr val="000000"/>
                          </a:solidFill>
                          <a:latin typeface="Calibri"/>
                        </a:rPr>
                        <a:t>Figure 30: Global Market Share by Material Source, %, 2026 and 2036</a:t>
                      </a:r>
                      <a:endParaRPr sz="1050"/>
                    </a:p>
                  </a:txBody>
                  <a:tcPr marL="9525" marR="9525" marT="9525" marB="0" anchor="ctr"/>
                </a:tc>
                <a:extLst>
                  <a:ext uri="{0D108BD9-81ED-4DB2-BD59-A6C34878D82A}">
                    <a16:rowId xmlns:a16="http://schemas.microsoft.com/office/drawing/2014/main" val="10029"/>
                  </a:ext>
                </a:extLst>
              </a:tr>
              <a:tr h="169606">
                <a:tc>
                  <a:txBody>
                    <a:bodyPr/>
                    <a:lstStyle/>
                    <a:p>
                      <a:pPr algn="l"/>
                      <a:r>
                        <a:rPr sz="1050" b="0" i="0">
                          <a:solidFill>
                            <a:srgbClr val="000000"/>
                          </a:solidFill>
                          <a:latin typeface="Calibri"/>
                        </a:rPr>
                        <a:t>Figure 31: Global Market Share by Cell Configuration, %, 2026 and 2036</a:t>
                      </a:r>
                      <a:endParaRPr sz="1050"/>
                    </a:p>
                  </a:txBody>
                  <a:tcPr marL="9525" marR="9525" marT="9525" marB="0" anchor="ctr"/>
                </a:tc>
                <a:extLst>
                  <a:ext uri="{0D108BD9-81ED-4DB2-BD59-A6C34878D82A}">
                    <a16:rowId xmlns:a16="http://schemas.microsoft.com/office/drawing/2014/main" val="10030"/>
                  </a:ext>
                </a:extLst>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69606">
                <a:tc>
                  <a:txBody>
                    <a:bodyPr/>
                    <a:lstStyle/>
                    <a:p>
                      <a:pPr algn="l"/>
                      <a:r>
                        <a:rPr sz="1050" b="0" i="0">
                          <a:solidFill>
                            <a:srgbClr val="000000"/>
                          </a:solidFill>
                          <a:latin typeface="Calibri"/>
                        </a:rPr>
                        <a:t>Figure 32: Global Market Share by Customization, %, 2026 and 2036</a:t>
                      </a:r>
                      <a:endParaRPr sz="1050"/>
                    </a:p>
                  </a:txBody>
                  <a:tcPr marL="9525" marR="9525" marT="9525" marB="0" anchor="ctr"/>
                </a:tc>
                <a:extLst>
                  <a:ext uri="{0D108BD9-81ED-4DB2-BD59-A6C34878D82A}">
                    <a16:rowId xmlns:a16="http://schemas.microsoft.com/office/drawing/2014/main" val="10000"/>
                  </a:ext>
                </a:extLst>
              </a:tr>
              <a:tr h="169606">
                <a:tc>
                  <a:txBody>
                    <a:bodyPr/>
                    <a:lstStyle/>
                    <a:p>
                      <a:pPr algn="l"/>
                      <a:r>
                        <a:rPr sz="1050" b="0" i="0">
                          <a:solidFill>
                            <a:srgbClr val="000000"/>
                          </a:solidFill>
                          <a:latin typeface="Calibri"/>
                        </a:rPr>
                        <a:t>Figure 33: Global Market Share by End Use, %, 2026 and 2036</a:t>
                      </a:r>
                      <a:endParaRPr sz="1050"/>
                    </a:p>
                  </a:txBody>
                  <a:tcPr marL="9525" marR="9525" marT="9525" marB="0" anchor="ctr"/>
                </a:tc>
                <a:extLst>
                  <a:ext uri="{0D108BD9-81ED-4DB2-BD59-A6C34878D82A}">
                    <a16:rowId xmlns:a16="http://schemas.microsoft.com/office/drawing/2014/main" val="10001"/>
                  </a:ext>
                </a:extLst>
              </a:tr>
              <a:tr h="169606">
                <a:tc>
                  <a:txBody>
                    <a:bodyPr/>
                    <a:lstStyle/>
                    <a:p>
                      <a:pPr algn="l"/>
                      <a:r>
                        <a:rPr sz="1050" b="0" i="0">
                          <a:solidFill>
                            <a:srgbClr val="000000"/>
                          </a:solidFill>
                          <a:latin typeface="Calibri"/>
                        </a:rPr>
                        <a:t>Figure 34: Global Market Share by Sales Channel, %, 2026 and 2036</a:t>
                      </a:r>
                      <a:endParaRPr sz="1050"/>
                    </a:p>
                  </a:txBody>
                  <a:tcPr marL="9525" marR="9525" marT="9525" marB="0" anchor="ctr"/>
                </a:tc>
                <a:extLst>
                  <a:ext uri="{0D108BD9-81ED-4DB2-BD59-A6C34878D82A}">
                    <a16:rowId xmlns:a16="http://schemas.microsoft.com/office/drawing/2014/main" val="10002"/>
                  </a:ext>
                </a:extLst>
              </a:tr>
              <a:tr h="169606">
                <a:tc>
                  <a:txBody>
                    <a:bodyPr/>
                    <a:lstStyle/>
                    <a:p>
                      <a:pPr algn="l"/>
                      <a:r>
                        <a:rPr sz="1050" b="0" i="0">
                          <a:solidFill>
                            <a:srgbClr val="000000"/>
                          </a:solidFill>
                          <a:latin typeface="Calibri"/>
                        </a:rPr>
                        <a:t>Figure 35: Global Market Absolute $ Opportunity by Partition Type, US$ Mn, 2026–2036</a:t>
                      </a:r>
                      <a:endParaRPr sz="1050"/>
                    </a:p>
                  </a:txBody>
                  <a:tcPr marL="9525" marR="9525" marT="9525" marB="0" anchor="ctr"/>
                </a:tc>
                <a:extLst>
                  <a:ext uri="{0D108BD9-81ED-4DB2-BD59-A6C34878D82A}">
                    <a16:rowId xmlns:a16="http://schemas.microsoft.com/office/drawing/2014/main" val="10003"/>
                  </a:ext>
                </a:extLst>
              </a:tr>
              <a:tr h="169606">
                <a:tc>
                  <a:txBody>
                    <a:bodyPr/>
                    <a:lstStyle/>
                    <a:p>
                      <a:pPr algn="l"/>
                      <a:r>
                        <a:rPr sz="1050" b="0" i="0">
                          <a:solidFill>
                            <a:srgbClr val="000000"/>
                          </a:solidFill>
                          <a:latin typeface="Calibri"/>
                        </a:rPr>
                        <a:t>Figure 36: Global Market Absolute $ Opportunity by Board Construction, US$ Mn, 2026–2036</a:t>
                      </a:r>
                      <a:endParaRPr sz="1050"/>
                    </a:p>
                  </a:txBody>
                  <a:tcPr marL="9525" marR="9525" marT="9525" marB="0" anchor="ctr"/>
                </a:tc>
                <a:extLst>
                  <a:ext uri="{0D108BD9-81ED-4DB2-BD59-A6C34878D82A}">
                    <a16:rowId xmlns:a16="http://schemas.microsoft.com/office/drawing/2014/main" val="10004"/>
                  </a:ext>
                </a:extLst>
              </a:tr>
              <a:tr h="169606">
                <a:tc>
                  <a:txBody>
                    <a:bodyPr/>
                    <a:lstStyle/>
                    <a:p>
                      <a:pPr algn="l"/>
                      <a:r>
                        <a:rPr sz="1050" b="0" i="0">
                          <a:solidFill>
                            <a:srgbClr val="000000"/>
                          </a:solidFill>
                          <a:latin typeface="Calibri"/>
                        </a:rPr>
                        <a:t>Figure 37: Global Market Absolute $ Opportunity by Material Source, US$ Mn, 2026–2036</a:t>
                      </a:r>
                      <a:endParaRPr sz="1050"/>
                    </a:p>
                  </a:txBody>
                  <a:tcPr marL="9525" marR="9525" marT="9525" marB="0" anchor="ctr"/>
                </a:tc>
                <a:extLst>
                  <a:ext uri="{0D108BD9-81ED-4DB2-BD59-A6C34878D82A}">
                    <a16:rowId xmlns:a16="http://schemas.microsoft.com/office/drawing/2014/main" val="10005"/>
                  </a:ext>
                </a:extLst>
              </a:tr>
              <a:tr h="169606">
                <a:tc>
                  <a:txBody>
                    <a:bodyPr/>
                    <a:lstStyle/>
                    <a:p>
                      <a:pPr algn="l"/>
                      <a:r>
                        <a:rPr sz="1050" b="0" i="0">
                          <a:solidFill>
                            <a:srgbClr val="000000"/>
                          </a:solidFill>
                          <a:latin typeface="Calibri"/>
                        </a:rPr>
                        <a:t>Figure 38: Global Market Absolute $ Opportunity by Cell Configuration, US$ Mn, 2026–2036</a:t>
                      </a:r>
                      <a:endParaRPr sz="1050"/>
                    </a:p>
                  </a:txBody>
                  <a:tcPr marL="9525" marR="9525" marT="9525" marB="0" anchor="ctr"/>
                </a:tc>
                <a:extLst>
                  <a:ext uri="{0D108BD9-81ED-4DB2-BD59-A6C34878D82A}">
                    <a16:rowId xmlns:a16="http://schemas.microsoft.com/office/drawing/2014/main" val="10006"/>
                  </a:ext>
                </a:extLst>
              </a:tr>
              <a:tr h="169606">
                <a:tc>
                  <a:txBody>
                    <a:bodyPr/>
                    <a:lstStyle/>
                    <a:p>
                      <a:pPr algn="l"/>
                      <a:r>
                        <a:rPr sz="1050" b="0" i="0">
                          <a:solidFill>
                            <a:srgbClr val="000000"/>
                          </a:solidFill>
                          <a:latin typeface="Calibri"/>
                        </a:rPr>
                        <a:t>Figure 39: Global Market Absolute $ Opportunity by Customization, US$ Mn, 2026–2036</a:t>
                      </a:r>
                      <a:endParaRPr sz="1050"/>
                    </a:p>
                  </a:txBody>
                  <a:tcPr marL="9525" marR="9525" marT="9525" marB="0" anchor="ctr"/>
                </a:tc>
                <a:extLst>
                  <a:ext uri="{0D108BD9-81ED-4DB2-BD59-A6C34878D82A}">
                    <a16:rowId xmlns:a16="http://schemas.microsoft.com/office/drawing/2014/main" val="10007"/>
                  </a:ext>
                </a:extLst>
              </a:tr>
              <a:tr h="169606">
                <a:tc>
                  <a:txBody>
                    <a:bodyPr/>
                    <a:lstStyle/>
                    <a:p>
                      <a:pPr algn="l"/>
                      <a:r>
                        <a:rPr sz="1050" b="0" i="0">
                          <a:solidFill>
                            <a:srgbClr val="000000"/>
                          </a:solidFill>
                          <a:latin typeface="Calibri"/>
                        </a:rPr>
                        <a:t>Figure 40: Global Market Absolute $ Opportunity by End Use, US$ Mn, 2026–2036</a:t>
                      </a:r>
                      <a:endParaRPr sz="1050"/>
                    </a:p>
                  </a:txBody>
                  <a:tcPr marL="9525" marR="9525" marT="9525" marB="0" anchor="ctr"/>
                </a:tc>
                <a:extLst>
                  <a:ext uri="{0D108BD9-81ED-4DB2-BD59-A6C34878D82A}">
                    <a16:rowId xmlns:a16="http://schemas.microsoft.com/office/drawing/2014/main" val="10008"/>
                  </a:ext>
                </a:extLst>
              </a:tr>
              <a:tr h="169606">
                <a:tc>
                  <a:txBody>
                    <a:bodyPr/>
                    <a:lstStyle/>
                    <a:p>
                      <a:pPr algn="l"/>
                      <a:r>
                        <a:rPr sz="1050" b="0" i="0">
                          <a:solidFill>
                            <a:srgbClr val="000000"/>
                          </a:solidFill>
                          <a:latin typeface="Calibri"/>
                        </a:rPr>
                        <a:t>Figure 41: Global Market Absolute $ Opportunity by Sales Channel, US$ Mn, 2026–2036</a:t>
                      </a:r>
                      <a:endParaRPr sz="1050"/>
                    </a:p>
                  </a:txBody>
                  <a:tcPr marL="9525" marR="9525" marT="9525" marB="0" anchor="ctr"/>
                </a:tc>
                <a:extLst>
                  <a:ext uri="{0D108BD9-81ED-4DB2-BD59-A6C34878D82A}">
                    <a16:rowId xmlns:a16="http://schemas.microsoft.com/office/drawing/2014/main" val="10009"/>
                  </a:ext>
                </a:extLst>
              </a:tr>
              <a:tr h="169606">
                <a:tc>
                  <a:txBody>
                    <a:bodyPr/>
                    <a:lstStyle/>
                    <a:p>
                      <a:pPr algn="l"/>
                      <a:r>
                        <a:rPr sz="1050" b="0" i="0">
                          <a:solidFill>
                            <a:srgbClr val="000000"/>
                          </a:solidFill>
                          <a:latin typeface="Calibri"/>
                        </a:rPr>
                        <a:t>Figure 42: Global Market BPS Share Change by Partition Type, 2026–2036</a:t>
                      </a:r>
                      <a:endParaRPr sz="1050"/>
                    </a:p>
                  </a:txBody>
                  <a:tcPr marL="9525" marR="9525" marT="9525" marB="0" anchor="ctr"/>
                </a:tc>
                <a:extLst>
                  <a:ext uri="{0D108BD9-81ED-4DB2-BD59-A6C34878D82A}">
                    <a16:rowId xmlns:a16="http://schemas.microsoft.com/office/drawing/2014/main" val="10010"/>
                  </a:ext>
                </a:extLst>
              </a:tr>
              <a:tr h="169606">
                <a:tc>
                  <a:txBody>
                    <a:bodyPr/>
                    <a:lstStyle/>
                    <a:p>
                      <a:pPr algn="l"/>
                      <a:r>
                        <a:rPr sz="1050" b="0" i="0">
                          <a:solidFill>
                            <a:srgbClr val="000000"/>
                          </a:solidFill>
                          <a:latin typeface="Calibri"/>
                        </a:rPr>
                        <a:t>Figure 43: Global Market BPS Share Change by Board Construction, 2026–2036</a:t>
                      </a:r>
                      <a:endParaRPr sz="1050"/>
                    </a:p>
                  </a:txBody>
                  <a:tcPr marL="9525" marR="9525" marT="9525" marB="0" anchor="ctr"/>
                </a:tc>
                <a:extLst>
                  <a:ext uri="{0D108BD9-81ED-4DB2-BD59-A6C34878D82A}">
                    <a16:rowId xmlns:a16="http://schemas.microsoft.com/office/drawing/2014/main" val="10011"/>
                  </a:ext>
                </a:extLst>
              </a:tr>
              <a:tr h="169606">
                <a:tc>
                  <a:txBody>
                    <a:bodyPr/>
                    <a:lstStyle/>
                    <a:p>
                      <a:pPr algn="l"/>
                      <a:r>
                        <a:rPr sz="1050" b="0" i="0">
                          <a:solidFill>
                            <a:srgbClr val="000000"/>
                          </a:solidFill>
                          <a:latin typeface="Calibri"/>
                        </a:rPr>
                        <a:t>Figure 44: Global Market BPS Share Change by Material Source, 2026–2036</a:t>
                      </a:r>
                      <a:endParaRPr sz="1050"/>
                    </a:p>
                  </a:txBody>
                  <a:tcPr marL="9525" marR="9525" marT="9525" marB="0" anchor="ctr"/>
                </a:tc>
                <a:extLst>
                  <a:ext uri="{0D108BD9-81ED-4DB2-BD59-A6C34878D82A}">
                    <a16:rowId xmlns:a16="http://schemas.microsoft.com/office/drawing/2014/main" val="10012"/>
                  </a:ext>
                </a:extLst>
              </a:tr>
              <a:tr h="169606">
                <a:tc>
                  <a:txBody>
                    <a:bodyPr/>
                    <a:lstStyle/>
                    <a:p>
                      <a:pPr algn="l"/>
                      <a:r>
                        <a:rPr sz="1050" b="0" i="0">
                          <a:solidFill>
                            <a:srgbClr val="000000"/>
                          </a:solidFill>
                          <a:latin typeface="Calibri"/>
                        </a:rPr>
                        <a:t>Figure 45: Global Market BPS Share Change by Cell Configuration, 2026–2036</a:t>
                      </a:r>
                      <a:endParaRPr sz="1050"/>
                    </a:p>
                  </a:txBody>
                  <a:tcPr marL="9525" marR="9525" marT="9525" marB="0" anchor="ctr"/>
                </a:tc>
                <a:extLst>
                  <a:ext uri="{0D108BD9-81ED-4DB2-BD59-A6C34878D82A}">
                    <a16:rowId xmlns:a16="http://schemas.microsoft.com/office/drawing/2014/main" val="10013"/>
                  </a:ext>
                </a:extLst>
              </a:tr>
              <a:tr h="169606">
                <a:tc>
                  <a:txBody>
                    <a:bodyPr/>
                    <a:lstStyle/>
                    <a:p>
                      <a:pPr algn="l"/>
                      <a:r>
                        <a:rPr sz="1050" b="0" i="0">
                          <a:solidFill>
                            <a:srgbClr val="000000"/>
                          </a:solidFill>
                          <a:latin typeface="Calibri"/>
                        </a:rPr>
                        <a:t>Figure 46: Global Market BPS Share Change by Customization, 2026–2036</a:t>
                      </a:r>
                      <a:endParaRPr sz="1050"/>
                    </a:p>
                  </a:txBody>
                  <a:tcPr marL="9525" marR="9525" marT="9525" marB="0" anchor="ctr"/>
                </a:tc>
                <a:extLst>
                  <a:ext uri="{0D108BD9-81ED-4DB2-BD59-A6C34878D82A}">
                    <a16:rowId xmlns:a16="http://schemas.microsoft.com/office/drawing/2014/main" val="10014"/>
                  </a:ext>
                </a:extLst>
              </a:tr>
              <a:tr h="169606">
                <a:tc>
                  <a:txBody>
                    <a:bodyPr/>
                    <a:lstStyle/>
                    <a:p>
                      <a:pPr algn="l"/>
                      <a:r>
                        <a:rPr sz="1050" b="0" i="0">
                          <a:solidFill>
                            <a:srgbClr val="000000"/>
                          </a:solidFill>
                          <a:latin typeface="Calibri"/>
                        </a:rPr>
                        <a:t>Figure 47: Global Market BPS Share Change by End Use, 2026–2036</a:t>
                      </a:r>
                      <a:endParaRPr sz="1050"/>
                    </a:p>
                  </a:txBody>
                  <a:tcPr marL="9525" marR="9525" marT="9525" marB="0" anchor="ctr"/>
                </a:tc>
                <a:extLst>
                  <a:ext uri="{0D108BD9-81ED-4DB2-BD59-A6C34878D82A}">
                    <a16:rowId xmlns:a16="http://schemas.microsoft.com/office/drawing/2014/main" val="10015"/>
                  </a:ext>
                </a:extLst>
              </a:tr>
              <a:tr h="169606">
                <a:tc>
                  <a:txBody>
                    <a:bodyPr/>
                    <a:lstStyle/>
                    <a:p>
                      <a:pPr algn="l"/>
                      <a:r>
                        <a:rPr sz="1050" b="0" i="0">
                          <a:solidFill>
                            <a:srgbClr val="000000"/>
                          </a:solidFill>
                          <a:latin typeface="Calibri"/>
                        </a:rPr>
                        <a:t>Figure 48: Global Market BPS Share Change by Sales Channel, 2026–2036</a:t>
                      </a:r>
                      <a:endParaRPr sz="1050"/>
                    </a:p>
                  </a:txBody>
                  <a:tcPr marL="9525" marR="9525" marT="9525" marB="0" anchor="ctr"/>
                </a:tc>
                <a:extLst>
                  <a:ext uri="{0D108BD9-81ED-4DB2-BD59-A6C34878D82A}">
                    <a16:rowId xmlns:a16="http://schemas.microsoft.com/office/drawing/2014/main" val="10016"/>
                  </a:ext>
                </a:extLst>
              </a:tr>
              <a:tr h="169606">
                <a:tc>
                  <a:txBody>
                    <a:bodyPr/>
                    <a:lstStyle/>
                    <a:p>
                      <a:pPr algn="l"/>
                      <a:r>
                        <a:rPr sz="1050" b="0" i="0">
                          <a:solidFill>
                            <a:srgbClr val="000000"/>
                          </a:solidFill>
                          <a:latin typeface="Calibri"/>
                        </a:rPr>
                        <a:t>Figure 49: Global Market YoY Growth by Partition Type, %, 2026–2036</a:t>
                      </a:r>
                      <a:endParaRPr sz="1050"/>
                    </a:p>
                  </a:txBody>
                  <a:tcPr marL="9525" marR="9525" marT="9525" marB="0" anchor="ctr"/>
                </a:tc>
                <a:extLst>
                  <a:ext uri="{0D108BD9-81ED-4DB2-BD59-A6C34878D82A}">
                    <a16:rowId xmlns:a16="http://schemas.microsoft.com/office/drawing/2014/main" val="10017"/>
                  </a:ext>
                </a:extLst>
              </a:tr>
              <a:tr h="169606">
                <a:tc>
                  <a:txBody>
                    <a:bodyPr/>
                    <a:lstStyle/>
                    <a:p>
                      <a:pPr algn="l"/>
                      <a:r>
                        <a:rPr sz="1050" b="0" i="0">
                          <a:solidFill>
                            <a:srgbClr val="000000"/>
                          </a:solidFill>
                          <a:latin typeface="Calibri"/>
                        </a:rPr>
                        <a:t>Figure 50: Global Market YoY Growth by Board Construction, %, 2026–2036</a:t>
                      </a:r>
                      <a:endParaRPr sz="1050"/>
                    </a:p>
                  </a:txBody>
                  <a:tcPr marL="9525" marR="9525" marT="9525" marB="0" anchor="ctr"/>
                </a:tc>
                <a:extLst>
                  <a:ext uri="{0D108BD9-81ED-4DB2-BD59-A6C34878D82A}">
                    <a16:rowId xmlns:a16="http://schemas.microsoft.com/office/drawing/2014/main" val="10018"/>
                  </a:ext>
                </a:extLst>
              </a:tr>
              <a:tr h="169606">
                <a:tc>
                  <a:txBody>
                    <a:bodyPr/>
                    <a:lstStyle/>
                    <a:p>
                      <a:pPr algn="l"/>
                      <a:r>
                        <a:rPr sz="1050" b="0" i="0">
                          <a:solidFill>
                            <a:srgbClr val="000000"/>
                          </a:solidFill>
                          <a:latin typeface="Calibri"/>
                        </a:rPr>
                        <a:t>Figure 51: Global Market YoY Growth by Material Source, %, 2026–2036</a:t>
                      </a:r>
                      <a:endParaRPr sz="1050"/>
                    </a:p>
                  </a:txBody>
                  <a:tcPr marL="9525" marR="9525" marT="9525" marB="0" anchor="ctr"/>
                </a:tc>
                <a:extLst>
                  <a:ext uri="{0D108BD9-81ED-4DB2-BD59-A6C34878D82A}">
                    <a16:rowId xmlns:a16="http://schemas.microsoft.com/office/drawing/2014/main" val="10019"/>
                  </a:ext>
                </a:extLst>
              </a:tr>
              <a:tr h="169606">
                <a:tc>
                  <a:txBody>
                    <a:bodyPr/>
                    <a:lstStyle/>
                    <a:p>
                      <a:pPr algn="l"/>
                      <a:r>
                        <a:rPr sz="1050" b="0" i="0">
                          <a:solidFill>
                            <a:srgbClr val="000000"/>
                          </a:solidFill>
                          <a:latin typeface="Calibri"/>
                        </a:rPr>
                        <a:t>Figure 52: Global Market YoY Growth by Cell Configuration, %, 2026–2036</a:t>
                      </a:r>
                      <a:endParaRPr sz="1050"/>
                    </a:p>
                  </a:txBody>
                  <a:tcPr marL="9525" marR="9525" marT="9525" marB="0" anchor="ctr"/>
                </a:tc>
                <a:extLst>
                  <a:ext uri="{0D108BD9-81ED-4DB2-BD59-A6C34878D82A}">
                    <a16:rowId xmlns:a16="http://schemas.microsoft.com/office/drawing/2014/main" val="10020"/>
                  </a:ext>
                </a:extLst>
              </a:tr>
              <a:tr h="169606">
                <a:tc>
                  <a:txBody>
                    <a:bodyPr/>
                    <a:lstStyle/>
                    <a:p>
                      <a:pPr algn="l"/>
                      <a:r>
                        <a:rPr sz="1050" b="0" i="0">
                          <a:solidFill>
                            <a:srgbClr val="000000"/>
                          </a:solidFill>
                          <a:latin typeface="Calibri"/>
                        </a:rPr>
                        <a:t>Figure 53: Global Market YoY Growth by Customization, %, 2026–2036</a:t>
                      </a:r>
                      <a:endParaRPr sz="1050"/>
                    </a:p>
                  </a:txBody>
                  <a:tcPr marL="9525" marR="9525" marT="9525" marB="0" anchor="ctr"/>
                </a:tc>
                <a:extLst>
                  <a:ext uri="{0D108BD9-81ED-4DB2-BD59-A6C34878D82A}">
                    <a16:rowId xmlns:a16="http://schemas.microsoft.com/office/drawing/2014/main" val="10021"/>
                  </a:ext>
                </a:extLst>
              </a:tr>
              <a:tr h="169606">
                <a:tc>
                  <a:txBody>
                    <a:bodyPr/>
                    <a:lstStyle/>
                    <a:p>
                      <a:pPr algn="l"/>
                      <a:r>
                        <a:rPr sz="1050" b="0" i="0">
                          <a:solidFill>
                            <a:srgbClr val="000000"/>
                          </a:solidFill>
                          <a:latin typeface="Calibri"/>
                        </a:rPr>
                        <a:t>Figure 54: Global Market YoY Growth by End Use, %, 2026–2036</a:t>
                      </a:r>
                      <a:endParaRPr sz="1050"/>
                    </a:p>
                  </a:txBody>
                  <a:tcPr marL="9525" marR="9525" marT="9525" marB="0" anchor="ctr"/>
                </a:tc>
                <a:extLst>
                  <a:ext uri="{0D108BD9-81ED-4DB2-BD59-A6C34878D82A}">
                    <a16:rowId xmlns:a16="http://schemas.microsoft.com/office/drawing/2014/main" val="10022"/>
                  </a:ext>
                </a:extLst>
              </a:tr>
              <a:tr h="169606">
                <a:tc>
                  <a:txBody>
                    <a:bodyPr/>
                    <a:lstStyle/>
                    <a:p>
                      <a:pPr algn="l"/>
                      <a:r>
                        <a:rPr sz="1050" b="0" i="0">
                          <a:solidFill>
                            <a:srgbClr val="000000"/>
                          </a:solidFill>
                          <a:latin typeface="Calibri"/>
                        </a:rPr>
                        <a:t>Figure 55: Global Market YoY Growth by Sales Channel, %, 2026–2036</a:t>
                      </a:r>
                      <a:endParaRPr sz="1050"/>
                    </a:p>
                  </a:txBody>
                  <a:tcPr marL="9525" marR="9525" marT="9525" marB="0" anchor="ctr"/>
                </a:tc>
                <a:extLst>
                  <a:ext uri="{0D108BD9-81ED-4DB2-BD59-A6C34878D82A}">
                    <a16:rowId xmlns:a16="http://schemas.microsoft.com/office/drawing/2014/main" val="10023"/>
                  </a:ext>
                </a:extLst>
              </a:tr>
              <a:tr h="169606">
                <a:tc>
                  <a:txBody>
                    <a:bodyPr/>
                    <a:lstStyle/>
                    <a:p>
                      <a:pPr algn="l"/>
                      <a:r>
                        <a:rPr sz="1050" b="0" i="0">
                          <a:solidFill>
                            <a:srgbClr val="000000"/>
                          </a:solidFill>
                          <a:latin typeface="Calibri"/>
                        </a:rPr>
                        <a:t>Figure 56: Global Market Attractiveness by Partition Type, 2026–2036</a:t>
                      </a:r>
                      <a:endParaRPr sz="1050"/>
                    </a:p>
                  </a:txBody>
                  <a:tcPr marL="9525" marR="9525" marT="9525" marB="0" anchor="ctr"/>
                </a:tc>
                <a:extLst>
                  <a:ext uri="{0D108BD9-81ED-4DB2-BD59-A6C34878D82A}">
                    <a16:rowId xmlns:a16="http://schemas.microsoft.com/office/drawing/2014/main" val="10024"/>
                  </a:ext>
                </a:extLst>
              </a:tr>
              <a:tr h="169606">
                <a:tc>
                  <a:txBody>
                    <a:bodyPr/>
                    <a:lstStyle/>
                    <a:p>
                      <a:pPr algn="l"/>
                      <a:r>
                        <a:rPr sz="1050" b="0" i="0">
                          <a:solidFill>
                            <a:srgbClr val="000000"/>
                          </a:solidFill>
                          <a:latin typeface="Calibri"/>
                        </a:rPr>
                        <a:t>Figure 57: Global Market Attractiveness by Board Construction, 2026–2036</a:t>
                      </a:r>
                      <a:endParaRPr sz="1050"/>
                    </a:p>
                  </a:txBody>
                  <a:tcPr marL="9525" marR="9525" marT="9525" marB="0" anchor="ctr"/>
                </a:tc>
                <a:extLst>
                  <a:ext uri="{0D108BD9-81ED-4DB2-BD59-A6C34878D82A}">
                    <a16:rowId xmlns:a16="http://schemas.microsoft.com/office/drawing/2014/main" val="10025"/>
                  </a:ext>
                </a:extLst>
              </a:tr>
              <a:tr h="169606">
                <a:tc>
                  <a:txBody>
                    <a:bodyPr/>
                    <a:lstStyle/>
                    <a:p>
                      <a:pPr algn="l"/>
                      <a:r>
                        <a:rPr sz="1050" b="0" i="0">
                          <a:solidFill>
                            <a:srgbClr val="000000"/>
                          </a:solidFill>
                          <a:latin typeface="Calibri"/>
                        </a:rPr>
                        <a:t>Figure 58: Global Market Attractiveness by Material Source, 2026–2036</a:t>
                      </a:r>
                      <a:endParaRPr sz="1050"/>
                    </a:p>
                  </a:txBody>
                  <a:tcPr marL="9525" marR="9525" marT="9525" marB="0" anchor="ctr"/>
                </a:tc>
                <a:extLst>
                  <a:ext uri="{0D108BD9-81ED-4DB2-BD59-A6C34878D82A}">
                    <a16:rowId xmlns:a16="http://schemas.microsoft.com/office/drawing/2014/main" val="10026"/>
                  </a:ext>
                </a:extLst>
              </a:tr>
              <a:tr h="169606">
                <a:tc>
                  <a:txBody>
                    <a:bodyPr/>
                    <a:lstStyle/>
                    <a:p>
                      <a:pPr algn="l"/>
                      <a:r>
                        <a:rPr sz="1050" b="0" i="0">
                          <a:solidFill>
                            <a:srgbClr val="000000"/>
                          </a:solidFill>
                          <a:latin typeface="Calibri"/>
                        </a:rPr>
                        <a:t>Figure 59: Global Market Attractiveness by Cell Configuration, 2026–2036</a:t>
                      </a:r>
                      <a:endParaRPr sz="1050"/>
                    </a:p>
                  </a:txBody>
                  <a:tcPr marL="9525" marR="9525" marT="9525" marB="0" anchor="ctr"/>
                </a:tc>
                <a:extLst>
                  <a:ext uri="{0D108BD9-81ED-4DB2-BD59-A6C34878D82A}">
                    <a16:rowId xmlns:a16="http://schemas.microsoft.com/office/drawing/2014/main" val="10027"/>
                  </a:ext>
                </a:extLst>
              </a:tr>
              <a:tr h="169606">
                <a:tc>
                  <a:txBody>
                    <a:bodyPr/>
                    <a:lstStyle/>
                    <a:p>
                      <a:pPr algn="l"/>
                      <a:r>
                        <a:rPr sz="1050" b="0" i="0">
                          <a:solidFill>
                            <a:srgbClr val="000000"/>
                          </a:solidFill>
                          <a:latin typeface="Calibri"/>
                        </a:rPr>
                        <a:t>Figure 60: Global Market Attractiveness by Customization, 2026–2036</a:t>
                      </a:r>
                      <a:endParaRPr sz="1050"/>
                    </a:p>
                  </a:txBody>
                  <a:tcPr marL="9525" marR="9525" marT="9525" marB="0" anchor="ctr"/>
                </a:tc>
                <a:extLst>
                  <a:ext uri="{0D108BD9-81ED-4DB2-BD59-A6C34878D82A}">
                    <a16:rowId xmlns:a16="http://schemas.microsoft.com/office/drawing/2014/main" val="10028"/>
                  </a:ext>
                </a:extLst>
              </a:tr>
              <a:tr h="169606">
                <a:tc>
                  <a:txBody>
                    <a:bodyPr/>
                    <a:lstStyle/>
                    <a:p>
                      <a:pPr algn="l"/>
                      <a:r>
                        <a:rPr sz="1050" b="0" i="0">
                          <a:solidFill>
                            <a:srgbClr val="000000"/>
                          </a:solidFill>
                          <a:latin typeface="Calibri"/>
                        </a:rPr>
                        <a:t>Figure 61: Global Market Attractiveness by End Use, 2026–2036</a:t>
                      </a:r>
                      <a:endParaRPr sz="1050"/>
                    </a:p>
                  </a:txBody>
                  <a:tcPr marL="9525" marR="9525" marT="9525" marB="0" anchor="ctr"/>
                </a:tc>
                <a:extLst>
                  <a:ext uri="{0D108BD9-81ED-4DB2-BD59-A6C34878D82A}">
                    <a16:rowId xmlns:a16="http://schemas.microsoft.com/office/drawing/2014/main" val="10029"/>
                  </a:ext>
                </a:extLst>
              </a:tr>
              <a:tr h="169606">
                <a:tc>
                  <a:txBody>
                    <a:bodyPr/>
                    <a:lstStyle/>
                    <a:p>
                      <a:pPr algn="l"/>
                      <a:r>
                        <a:rPr sz="1050" b="0" i="0">
                          <a:solidFill>
                            <a:srgbClr val="000000"/>
                          </a:solidFill>
                          <a:latin typeface="Calibri"/>
                        </a:rPr>
                        <a:t>Figure 62: Global Market Attractiveness by Sales Channel, 2026–2036</a:t>
                      </a:r>
                      <a:endParaRPr sz="1050"/>
                    </a:p>
                  </a:txBody>
                  <a:tcPr marL="9525" marR="9525" marT="9525" marB="0" anchor="ctr"/>
                </a:tc>
                <a:extLst>
                  <a:ext uri="{0D108BD9-81ED-4DB2-BD59-A6C34878D82A}">
                    <a16:rowId xmlns:a16="http://schemas.microsoft.com/office/drawing/2014/main" val="10030"/>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69606">
                <a:tc>
                  <a:txBody>
                    <a:bodyPr/>
                    <a:lstStyle/>
                    <a:p>
                      <a:pPr algn="l"/>
                      <a:r>
                        <a:rPr sz="1050" b="0" i="0">
                          <a:solidFill>
                            <a:srgbClr val="000000"/>
                          </a:solidFill>
                          <a:latin typeface="Calibri"/>
                        </a:rPr>
                        <a:t>Figure 63: Global Market Volume by Partition Type, MT, 2021–2036</a:t>
                      </a:r>
                      <a:endParaRPr sz="1050"/>
                    </a:p>
                  </a:txBody>
                  <a:tcPr marL="9525" marR="9525" marT="9525" marB="0" anchor="ctr"/>
                </a:tc>
                <a:extLst>
                  <a:ext uri="{0D108BD9-81ED-4DB2-BD59-A6C34878D82A}">
                    <a16:rowId xmlns:a16="http://schemas.microsoft.com/office/drawing/2014/main" val="10000"/>
                  </a:ext>
                </a:extLst>
              </a:tr>
              <a:tr h="169606">
                <a:tc>
                  <a:txBody>
                    <a:bodyPr/>
                    <a:lstStyle/>
                    <a:p>
                      <a:pPr algn="l"/>
                      <a:r>
                        <a:rPr sz="1050" b="0" i="0">
                          <a:solidFill>
                            <a:srgbClr val="000000"/>
                          </a:solidFill>
                          <a:latin typeface="Calibri"/>
                        </a:rPr>
                        <a:t>Figure 64: Global Market Volume by Board Construction, MT, 2021–2036</a:t>
                      </a:r>
                      <a:endParaRPr sz="1050"/>
                    </a:p>
                  </a:txBody>
                  <a:tcPr marL="9525" marR="9525" marT="9525" marB="0" anchor="ctr"/>
                </a:tc>
                <a:extLst>
                  <a:ext uri="{0D108BD9-81ED-4DB2-BD59-A6C34878D82A}">
                    <a16:rowId xmlns:a16="http://schemas.microsoft.com/office/drawing/2014/main" val="10001"/>
                  </a:ext>
                </a:extLst>
              </a:tr>
              <a:tr h="169606">
                <a:tc>
                  <a:txBody>
                    <a:bodyPr/>
                    <a:lstStyle/>
                    <a:p>
                      <a:pPr algn="l"/>
                      <a:r>
                        <a:rPr sz="1050" b="0" i="0">
                          <a:solidFill>
                            <a:srgbClr val="000000"/>
                          </a:solidFill>
                          <a:latin typeface="Calibri"/>
                        </a:rPr>
                        <a:t>Figure 65: Global Market Volume by Material Source, MT, 2021–2036</a:t>
                      </a:r>
                      <a:endParaRPr sz="1050"/>
                    </a:p>
                  </a:txBody>
                  <a:tcPr marL="9525" marR="9525" marT="9525" marB="0" anchor="ctr"/>
                </a:tc>
                <a:extLst>
                  <a:ext uri="{0D108BD9-81ED-4DB2-BD59-A6C34878D82A}">
                    <a16:rowId xmlns:a16="http://schemas.microsoft.com/office/drawing/2014/main" val="10002"/>
                  </a:ext>
                </a:extLst>
              </a:tr>
              <a:tr h="169606">
                <a:tc>
                  <a:txBody>
                    <a:bodyPr/>
                    <a:lstStyle/>
                    <a:p>
                      <a:pPr algn="l"/>
                      <a:r>
                        <a:rPr sz="1050" b="0" i="0">
                          <a:solidFill>
                            <a:srgbClr val="000000"/>
                          </a:solidFill>
                          <a:latin typeface="Calibri"/>
                        </a:rPr>
                        <a:t>Figure 66: Global Market Volume by Cell Configuration, MT, 2021–2036</a:t>
                      </a:r>
                      <a:endParaRPr sz="1050"/>
                    </a:p>
                  </a:txBody>
                  <a:tcPr marL="9525" marR="9525" marT="9525" marB="0" anchor="ctr"/>
                </a:tc>
                <a:extLst>
                  <a:ext uri="{0D108BD9-81ED-4DB2-BD59-A6C34878D82A}">
                    <a16:rowId xmlns:a16="http://schemas.microsoft.com/office/drawing/2014/main" val="10003"/>
                  </a:ext>
                </a:extLst>
              </a:tr>
              <a:tr h="169606">
                <a:tc>
                  <a:txBody>
                    <a:bodyPr/>
                    <a:lstStyle/>
                    <a:p>
                      <a:pPr algn="l"/>
                      <a:r>
                        <a:rPr sz="1050" b="0" i="0">
                          <a:solidFill>
                            <a:srgbClr val="000000"/>
                          </a:solidFill>
                          <a:latin typeface="Calibri"/>
                        </a:rPr>
                        <a:t>Figure 67: Global Market Volume by Customization, MT, 2021–2036</a:t>
                      </a:r>
                      <a:endParaRPr sz="1050"/>
                    </a:p>
                  </a:txBody>
                  <a:tcPr marL="9525" marR="9525" marT="9525" marB="0" anchor="ctr"/>
                </a:tc>
                <a:extLst>
                  <a:ext uri="{0D108BD9-81ED-4DB2-BD59-A6C34878D82A}">
                    <a16:rowId xmlns:a16="http://schemas.microsoft.com/office/drawing/2014/main" val="10004"/>
                  </a:ext>
                </a:extLst>
              </a:tr>
              <a:tr h="169606">
                <a:tc>
                  <a:txBody>
                    <a:bodyPr/>
                    <a:lstStyle/>
                    <a:p>
                      <a:pPr algn="l"/>
                      <a:r>
                        <a:rPr sz="1050" b="0" i="0">
                          <a:solidFill>
                            <a:srgbClr val="000000"/>
                          </a:solidFill>
                          <a:latin typeface="Calibri"/>
                        </a:rPr>
                        <a:t>Figure 68: Partition Type × Board Construction Opportunity Matrix, 2026–2036</a:t>
                      </a:r>
                      <a:endParaRPr sz="1050"/>
                    </a:p>
                  </a:txBody>
                  <a:tcPr marL="9525" marR="9525" marT="9525" marB="0" anchor="ctr"/>
                </a:tc>
                <a:extLst>
                  <a:ext uri="{0D108BD9-81ED-4DB2-BD59-A6C34878D82A}">
                    <a16:rowId xmlns:a16="http://schemas.microsoft.com/office/drawing/2014/main" val="10005"/>
                  </a:ext>
                </a:extLst>
              </a:tr>
              <a:tr h="169606">
                <a:tc>
                  <a:txBody>
                    <a:bodyPr/>
                    <a:lstStyle/>
                    <a:p>
                      <a:pPr algn="l"/>
                      <a:r>
                        <a:rPr sz="1050" b="0" i="0">
                          <a:solidFill>
                            <a:srgbClr val="000000"/>
                          </a:solidFill>
                          <a:latin typeface="Calibri"/>
                        </a:rPr>
                        <a:t>Figure 69: Partition Type × Material Source Opportunity Matrix, 2026–2036</a:t>
                      </a:r>
                      <a:endParaRPr sz="1050"/>
                    </a:p>
                  </a:txBody>
                  <a:tcPr marL="9525" marR="9525" marT="9525" marB="0" anchor="ctr"/>
                </a:tc>
                <a:extLst>
                  <a:ext uri="{0D108BD9-81ED-4DB2-BD59-A6C34878D82A}">
                    <a16:rowId xmlns:a16="http://schemas.microsoft.com/office/drawing/2014/main" val="10006"/>
                  </a:ext>
                </a:extLst>
              </a:tr>
              <a:tr h="169606">
                <a:tc>
                  <a:txBody>
                    <a:bodyPr/>
                    <a:lstStyle/>
                    <a:p>
                      <a:pPr algn="l"/>
                      <a:r>
                        <a:rPr sz="1050" b="0" i="0">
                          <a:solidFill>
                            <a:srgbClr val="000000"/>
                          </a:solidFill>
                          <a:latin typeface="Calibri"/>
                        </a:rPr>
                        <a:t>Figure 70: Partition Type × Cell Configuration Opportunity Matrix, 2026–2036</a:t>
                      </a:r>
                      <a:endParaRPr sz="1050"/>
                    </a:p>
                  </a:txBody>
                  <a:tcPr marL="9525" marR="9525" marT="9525" marB="0" anchor="ctr"/>
                </a:tc>
                <a:extLst>
                  <a:ext uri="{0D108BD9-81ED-4DB2-BD59-A6C34878D82A}">
                    <a16:rowId xmlns:a16="http://schemas.microsoft.com/office/drawing/2014/main" val="10007"/>
                  </a:ext>
                </a:extLst>
              </a:tr>
              <a:tr h="169606">
                <a:tc>
                  <a:txBody>
                    <a:bodyPr/>
                    <a:lstStyle/>
                    <a:p>
                      <a:pPr algn="l"/>
                      <a:r>
                        <a:rPr sz="1050" b="0" i="0">
                          <a:solidFill>
                            <a:srgbClr val="000000"/>
                          </a:solidFill>
                          <a:latin typeface="Calibri"/>
                        </a:rPr>
                        <a:t>Figure 71: Partition Type × Customization Opportunity Matrix, 2026–2036</a:t>
                      </a:r>
                      <a:endParaRPr sz="1050"/>
                    </a:p>
                  </a:txBody>
                  <a:tcPr marL="9525" marR="9525" marT="9525" marB="0" anchor="ctr"/>
                </a:tc>
                <a:extLst>
                  <a:ext uri="{0D108BD9-81ED-4DB2-BD59-A6C34878D82A}">
                    <a16:rowId xmlns:a16="http://schemas.microsoft.com/office/drawing/2014/main" val="10008"/>
                  </a:ext>
                </a:extLst>
              </a:tr>
              <a:tr h="169606">
                <a:tc>
                  <a:txBody>
                    <a:bodyPr/>
                    <a:lstStyle/>
                    <a:p>
                      <a:pPr algn="l"/>
                      <a:r>
                        <a:rPr sz="1050" b="0" i="0">
                          <a:solidFill>
                            <a:srgbClr val="000000"/>
                          </a:solidFill>
                          <a:latin typeface="Calibri"/>
                        </a:rPr>
                        <a:t>Figure 72: Partition Type × End Use Opportunity Matrix, 2026–2036</a:t>
                      </a:r>
                      <a:endParaRPr sz="1050"/>
                    </a:p>
                  </a:txBody>
                  <a:tcPr marL="9525" marR="9525" marT="9525" marB="0" anchor="ctr"/>
                </a:tc>
                <a:extLst>
                  <a:ext uri="{0D108BD9-81ED-4DB2-BD59-A6C34878D82A}">
                    <a16:rowId xmlns:a16="http://schemas.microsoft.com/office/drawing/2014/main" val="10009"/>
                  </a:ext>
                </a:extLst>
              </a:tr>
              <a:tr h="169606">
                <a:tc>
                  <a:txBody>
                    <a:bodyPr/>
                    <a:lstStyle/>
                    <a:p>
                      <a:pPr algn="l"/>
                      <a:r>
                        <a:rPr sz="1050" b="0" i="0">
                          <a:solidFill>
                            <a:srgbClr val="000000"/>
                          </a:solidFill>
                          <a:latin typeface="Calibri"/>
                        </a:rPr>
                        <a:t>Figure 73: Partition Type × Sales Channel Opportunity Matrix, 2026–2036</a:t>
                      </a:r>
                      <a:endParaRPr sz="1050"/>
                    </a:p>
                  </a:txBody>
                  <a:tcPr marL="9525" marR="9525" marT="9525" marB="0" anchor="ctr"/>
                </a:tc>
                <a:extLst>
                  <a:ext uri="{0D108BD9-81ED-4DB2-BD59-A6C34878D82A}">
                    <a16:rowId xmlns:a16="http://schemas.microsoft.com/office/drawing/2014/main" val="10010"/>
                  </a:ext>
                </a:extLst>
              </a:tr>
              <a:tr h="169606">
                <a:tc>
                  <a:txBody>
                    <a:bodyPr/>
                    <a:lstStyle/>
                    <a:p>
                      <a:pPr algn="l"/>
                      <a:r>
                        <a:rPr sz="1050" b="0" i="0">
                          <a:solidFill>
                            <a:srgbClr val="000000"/>
                          </a:solidFill>
                          <a:latin typeface="Calibri"/>
                        </a:rPr>
                        <a:t>Figure 74: Board Construction × Material Source Opportunity Matrix, 2026–2036</a:t>
                      </a:r>
                      <a:endParaRPr sz="1050"/>
                    </a:p>
                  </a:txBody>
                  <a:tcPr marL="9525" marR="9525" marT="9525" marB="0" anchor="ctr"/>
                </a:tc>
                <a:extLst>
                  <a:ext uri="{0D108BD9-81ED-4DB2-BD59-A6C34878D82A}">
                    <a16:rowId xmlns:a16="http://schemas.microsoft.com/office/drawing/2014/main" val="10011"/>
                  </a:ext>
                </a:extLst>
              </a:tr>
              <a:tr h="169606">
                <a:tc>
                  <a:txBody>
                    <a:bodyPr/>
                    <a:lstStyle/>
                    <a:p>
                      <a:pPr algn="l"/>
                      <a:r>
                        <a:rPr sz="1050" b="0" i="0">
                          <a:solidFill>
                            <a:srgbClr val="000000"/>
                          </a:solidFill>
                          <a:latin typeface="Calibri"/>
                        </a:rPr>
                        <a:t>Figure 75: Board Construction × Cell Configuration Opportunity Matrix, 2026–2036</a:t>
                      </a:r>
                      <a:endParaRPr sz="1050"/>
                    </a:p>
                  </a:txBody>
                  <a:tcPr marL="9525" marR="9525" marT="9525" marB="0" anchor="ctr"/>
                </a:tc>
                <a:extLst>
                  <a:ext uri="{0D108BD9-81ED-4DB2-BD59-A6C34878D82A}">
                    <a16:rowId xmlns:a16="http://schemas.microsoft.com/office/drawing/2014/main" val="10012"/>
                  </a:ext>
                </a:extLst>
              </a:tr>
              <a:tr h="169606">
                <a:tc>
                  <a:txBody>
                    <a:bodyPr/>
                    <a:lstStyle/>
                    <a:p>
                      <a:pPr algn="l"/>
                      <a:r>
                        <a:rPr sz="1050" b="0" i="0">
                          <a:solidFill>
                            <a:srgbClr val="000000"/>
                          </a:solidFill>
                          <a:latin typeface="Calibri"/>
                        </a:rPr>
                        <a:t>Figure 76: Board Construction × Customization Opportunity Matrix, 2026–2036</a:t>
                      </a:r>
                      <a:endParaRPr sz="1050"/>
                    </a:p>
                  </a:txBody>
                  <a:tcPr marL="9525" marR="9525" marT="9525" marB="0" anchor="ctr"/>
                </a:tc>
                <a:extLst>
                  <a:ext uri="{0D108BD9-81ED-4DB2-BD59-A6C34878D82A}">
                    <a16:rowId xmlns:a16="http://schemas.microsoft.com/office/drawing/2014/main" val="10013"/>
                  </a:ext>
                </a:extLst>
              </a:tr>
              <a:tr h="169606">
                <a:tc>
                  <a:txBody>
                    <a:bodyPr/>
                    <a:lstStyle/>
                    <a:p>
                      <a:pPr algn="l"/>
                      <a:r>
                        <a:rPr sz="1050" b="0" i="0">
                          <a:solidFill>
                            <a:srgbClr val="000000"/>
                          </a:solidFill>
                          <a:latin typeface="Calibri"/>
                        </a:rPr>
                        <a:t>Figure 77: Board Construction × End Use Opportunity Matrix, 2026–2036</a:t>
                      </a:r>
                      <a:endParaRPr sz="1050"/>
                    </a:p>
                  </a:txBody>
                  <a:tcPr marL="9525" marR="9525" marT="9525" marB="0" anchor="ctr"/>
                </a:tc>
                <a:extLst>
                  <a:ext uri="{0D108BD9-81ED-4DB2-BD59-A6C34878D82A}">
                    <a16:rowId xmlns:a16="http://schemas.microsoft.com/office/drawing/2014/main" val="10014"/>
                  </a:ext>
                </a:extLst>
              </a:tr>
              <a:tr h="169606">
                <a:tc>
                  <a:txBody>
                    <a:bodyPr/>
                    <a:lstStyle/>
                    <a:p>
                      <a:pPr algn="l"/>
                      <a:r>
                        <a:rPr sz="1050" b="0" i="0">
                          <a:solidFill>
                            <a:srgbClr val="000000"/>
                          </a:solidFill>
                          <a:latin typeface="Calibri"/>
                        </a:rPr>
                        <a:t>Figure 78: Board Construction × Sales Channel Opportunity Matrix, 2026–2036</a:t>
                      </a:r>
                      <a:endParaRPr sz="1050"/>
                    </a:p>
                  </a:txBody>
                  <a:tcPr marL="9525" marR="9525" marT="9525" marB="0" anchor="ctr"/>
                </a:tc>
                <a:extLst>
                  <a:ext uri="{0D108BD9-81ED-4DB2-BD59-A6C34878D82A}">
                    <a16:rowId xmlns:a16="http://schemas.microsoft.com/office/drawing/2014/main" val="10015"/>
                  </a:ext>
                </a:extLst>
              </a:tr>
              <a:tr h="169606">
                <a:tc>
                  <a:txBody>
                    <a:bodyPr/>
                    <a:lstStyle/>
                    <a:p>
                      <a:pPr algn="l"/>
                      <a:r>
                        <a:rPr sz="1050" b="0" i="0">
                          <a:solidFill>
                            <a:srgbClr val="000000"/>
                          </a:solidFill>
                          <a:latin typeface="Calibri"/>
                        </a:rPr>
                        <a:t>Figure 79: Material Source × Cell Configuration Opportunity Matrix, 2026–2036</a:t>
                      </a:r>
                      <a:endParaRPr sz="1050"/>
                    </a:p>
                  </a:txBody>
                  <a:tcPr marL="9525" marR="9525" marT="9525" marB="0" anchor="ctr"/>
                </a:tc>
                <a:extLst>
                  <a:ext uri="{0D108BD9-81ED-4DB2-BD59-A6C34878D82A}">
                    <a16:rowId xmlns:a16="http://schemas.microsoft.com/office/drawing/2014/main" val="10016"/>
                  </a:ext>
                </a:extLst>
              </a:tr>
              <a:tr h="169606">
                <a:tc>
                  <a:txBody>
                    <a:bodyPr/>
                    <a:lstStyle/>
                    <a:p>
                      <a:pPr algn="l"/>
                      <a:r>
                        <a:rPr sz="1050" b="0" i="0">
                          <a:solidFill>
                            <a:srgbClr val="000000"/>
                          </a:solidFill>
                          <a:latin typeface="Calibri"/>
                        </a:rPr>
                        <a:t>Figure 80: Material Source × Customization Opportunity Matrix, 2026–2036</a:t>
                      </a:r>
                      <a:endParaRPr sz="1050"/>
                    </a:p>
                  </a:txBody>
                  <a:tcPr marL="9525" marR="9525" marT="9525" marB="0" anchor="ctr"/>
                </a:tc>
                <a:extLst>
                  <a:ext uri="{0D108BD9-81ED-4DB2-BD59-A6C34878D82A}">
                    <a16:rowId xmlns:a16="http://schemas.microsoft.com/office/drawing/2014/main" val="10017"/>
                  </a:ext>
                </a:extLst>
              </a:tr>
              <a:tr h="169606">
                <a:tc>
                  <a:txBody>
                    <a:bodyPr/>
                    <a:lstStyle/>
                    <a:p>
                      <a:pPr algn="l"/>
                      <a:r>
                        <a:rPr sz="1050" b="0" i="0">
                          <a:solidFill>
                            <a:srgbClr val="000000"/>
                          </a:solidFill>
                          <a:latin typeface="Calibri"/>
                        </a:rPr>
                        <a:t>Figure 81: Material Source × End Use Opportunity Matrix, 2026–2036</a:t>
                      </a:r>
                      <a:endParaRPr sz="1050"/>
                    </a:p>
                  </a:txBody>
                  <a:tcPr marL="9525" marR="9525" marT="9525" marB="0" anchor="ctr"/>
                </a:tc>
                <a:extLst>
                  <a:ext uri="{0D108BD9-81ED-4DB2-BD59-A6C34878D82A}">
                    <a16:rowId xmlns:a16="http://schemas.microsoft.com/office/drawing/2014/main" val="10018"/>
                  </a:ext>
                </a:extLst>
              </a:tr>
              <a:tr h="169606">
                <a:tc>
                  <a:txBody>
                    <a:bodyPr/>
                    <a:lstStyle/>
                    <a:p>
                      <a:pPr algn="l"/>
                      <a:r>
                        <a:rPr sz="1050" b="0" i="0">
                          <a:solidFill>
                            <a:srgbClr val="000000"/>
                          </a:solidFill>
                          <a:latin typeface="Calibri"/>
                        </a:rPr>
                        <a:t>Figure 82: Material Source × Sales Channel Opportunity Matrix, 2026–2036</a:t>
                      </a:r>
                      <a:endParaRPr sz="1050"/>
                    </a:p>
                  </a:txBody>
                  <a:tcPr marL="9525" marR="9525" marT="9525" marB="0" anchor="ctr"/>
                </a:tc>
                <a:extLst>
                  <a:ext uri="{0D108BD9-81ED-4DB2-BD59-A6C34878D82A}">
                    <a16:rowId xmlns:a16="http://schemas.microsoft.com/office/drawing/2014/main" val="10019"/>
                  </a:ext>
                </a:extLst>
              </a:tr>
              <a:tr h="169606">
                <a:tc>
                  <a:txBody>
                    <a:bodyPr/>
                    <a:lstStyle/>
                    <a:p>
                      <a:pPr algn="l"/>
                      <a:r>
                        <a:rPr sz="1050" b="0" i="0">
                          <a:solidFill>
                            <a:srgbClr val="000000"/>
                          </a:solidFill>
                          <a:latin typeface="Calibri"/>
                        </a:rPr>
                        <a:t>Figure 83: Cell Configuration × Customization Opportunity Matrix, 2026–2036</a:t>
                      </a:r>
                      <a:endParaRPr sz="1050"/>
                    </a:p>
                  </a:txBody>
                  <a:tcPr marL="9525" marR="9525" marT="9525" marB="0" anchor="ctr"/>
                </a:tc>
                <a:extLst>
                  <a:ext uri="{0D108BD9-81ED-4DB2-BD59-A6C34878D82A}">
                    <a16:rowId xmlns:a16="http://schemas.microsoft.com/office/drawing/2014/main" val="10020"/>
                  </a:ext>
                </a:extLst>
              </a:tr>
              <a:tr h="169606">
                <a:tc>
                  <a:txBody>
                    <a:bodyPr/>
                    <a:lstStyle/>
                    <a:p>
                      <a:pPr algn="l"/>
                      <a:r>
                        <a:rPr sz="1050" b="0" i="0">
                          <a:solidFill>
                            <a:srgbClr val="000000"/>
                          </a:solidFill>
                          <a:latin typeface="Calibri"/>
                        </a:rPr>
                        <a:t>Figure 84: Cell Configuration × End Use Opportunity Matrix, 2026–2036</a:t>
                      </a:r>
                      <a:endParaRPr sz="1050"/>
                    </a:p>
                  </a:txBody>
                  <a:tcPr marL="9525" marR="9525" marT="9525" marB="0" anchor="ctr"/>
                </a:tc>
                <a:extLst>
                  <a:ext uri="{0D108BD9-81ED-4DB2-BD59-A6C34878D82A}">
                    <a16:rowId xmlns:a16="http://schemas.microsoft.com/office/drawing/2014/main" val="10021"/>
                  </a:ext>
                </a:extLst>
              </a:tr>
              <a:tr h="169606">
                <a:tc>
                  <a:txBody>
                    <a:bodyPr/>
                    <a:lstStyle/>
                    <a:p>
                      <a:pPr algn="l"/>
                      <a:r>
                        <a:rPr sz="1050" b="0" i="0">
                          <a:solidFill>
                            <a:srgbClr val="000000"/>
                          </a:solidFill>
                          <a:latin typeface="Calibri"/>
                        </a:rPr>
                        <a:t>Figure 85: Cell Configuration × Sales Channel Opportunity Matrix, 2026–2036</a:t>
                      </a:r>
                      <a:endParaRPr sz="1050"/>
                    </a:p>
                  </a:txBody>
                  <a:tcPr marL="9525" marR="9525" marT="9525" marB="0" anchor="ctr"/>
                </a:tc>
                <a:extLst>
                  <a:ext uri="{0D108BD9-81ED-4DB2-BD59-A6C34878D82A}">
                    <a16:rowId xmlns:a16="http://schemas.microsoft.com/office/drawing/2014/main" val="10022"/>
                  </a:ext>
                </a:extLst>
              </a:tr>
              <a:tr h="169606">
                <a:tc>
                  <a:txBody>
                    <a:bodyPr/>
                    <a:lstStyle/>
                    <a:p>
                      <a:pPr algn="l"/>
                      <a:r>
                        <a:rPr sz="1050" b="0" i="0">
                          <a:solidFill>
                            <a:srgbClr val="000000"/>
                          </a:solidFill>
                          <a:latin typeface="Calibri"/>
                        </a:rPr>
                        <a:t>Figure 86: Customization × End Use Opportunity Matrix, 2026–2036</a:t>
                      </a:r>
                      <a:endParaRPr sz="1050"/>
                    </a:p>
                  </a:txBody>
                  <a:tcPr marL="9525" marR="9525" marT="9525" marB="0" anchor="ctr"/>
                </a:tc>
                <a:extLst>
                  <a:ext uri="{0D108BD9-81ED-4DB2-BD59-A6C34878D82A}">
                    <a16:rowId xmlns:a16="http://schemas.microsoft.com/office/drawing/2014/main" val="10023"/>
                  </a:ext>
                </a:extLst>
              </a:tr>
              <a:tr h="169606">
                <a:tc>
                  <a:txBody>
                    <a:bodyPr/>
                    <a:lstStyle/>
                    <a:p>
                      <a:pPr algn="l"/>
                      <a:r>
                        <a:rPr sz="1050" b="0" i="0">
                          <a:solidFill>
                            <a:srgbClr val="000000"/>
                          </a:solidFill>
                          <a:latin typeface="Calibri"/>
                        </a:rPr>
                        <a:t>Figure 87: Customization × Sales Channel Opportunity Matrix, 2026–2036</a:t>
                      </a:r>
                      <a:endParaRPr sz="1050"/>
                    </a:p>
                  </a:txBody>
                  <a:tcPr marL="9525" marR="9525" marT="9525" marB="0" anchor="ctr"/>
                </a:tc>
                <a:extLst>
                  <a:ext uri="{0D108BD9-81ED-4DB2-BD59-A6C34878D82A}">
                    <a16:rowId xmlns:a16="http://schemas.microsoft.com/office/drawing/2014/main" val="10024"/>
                  </a:ext>
                </a:extLst>
              </a:tr>
              <a:tr h="169606">
                <a:tc>
                  <a:txBody>
                    <a:bodyPr/>
                    <a:lstStyle/>
                    <a:p>
                      <a:pPr algn="l"/>
                      <a:r>
                        <a:rPr sz="1050" b="0" i="0">
                          <a:solidFill>
                            <a:srgbClr val="000000"/>
                          </a:solidFill>
                          <a:latin typeface="Calibri"/>
                        </a:rPr>
                        <a:t>Figure 88: End Use × Sales Channel Opportunity Matrix, 2026–2036</a:t>
                      </a:r>
                      <a:endParaRPr sz="1050"/>
                    </a:p>
                  </a:txBody>
                  <a:tcPr marL="9525" marR="9525" marT="9525" marB="0" anchor="ctr"/>
                </a:tc>
                <a:extLst>
                  <a:ext uri="{0D108BD9-81ED-4DB2-BD59-A6C34878D82A}">
                    <a16:rowId xmlns:a16="http://schemas.microsoft.com/office/drawing/2014/main" val="10025"/>
                  </a:ext>
                </a:extLst>
              </a:tr>
              <a:tr h="169606">
                <a:tc>
                  <a:txBody>
                    <a:bodyPr/>
                    <a:lstStyle/>
                    <a:p>
                      <a:pPr algn="l"/>
                      <a:r>
                        <a:rPr sz="1050" b="0" i="0">
                          <a:solidFill>
                            <a:srgbClr val="000000"/>
                          </a:solidFill>
                          <a:latin typeface="Calibri"/>
                        </a:rPr>
                        <a:t>Figure 89: Global Market Value by Region, US$ Mn, 2021–2036</a:t>
                      </a:r>
                      <a:endParaRPr sz="1050"/>
                    </a:p>
                  </a:txBody>
                  <a:tcPr marL="9525" marR="9525" marT="9525" marB="0" anchor="ctr"/>
                </a:tc>
                <a:extLst>
                  <a:ext uri="{0D108BD9-81ED-4DB2-BD59-A6C34878D82A}">
                    <a16:rowId xmlns:a16="http://schemas.microsoft.com/office/drawing/2014/main" val="10026"/>
                  </a:ext>
                </a:extLst>
              </a:tr>
              <a:tr h="169606">
                <a:tc>
                  <a:txBody>
                    <a:bodyPr/>
                    <a:lstStyle/>
                    <a:p>
                      <a:pPr algn="l"/>
                      <a:r>
                        <a:rPr sz="1050" b="0" i="0">
                          <a:solidFill>
                            <a:srgbClr val="000000"/>
                          </a:solidFill>
                          <a:latin typeface="Calibri"/>
                        </a:rPr>
                        <a:t>Figure 90: Global Market Share by Region, %, 2026 and 2036</a:t>
                      </a:r>
                      <a:endParaRPr sz="1050"/>
                    </a:p>
                  </a:txBody>
                  <a:tcPr marL="9525" marR="9525" marT="9525" marB="0" anchor="ctr"/>
                </a:tc>
                <a:extLst>
                  <a:ext uri="{0D108BD9-81ED-4DB2-BD59-A6C34878D82A}">
                    <a16:rowId xmlns:a16="http://schemas.microsoft.com/office/drawing/2014/main" val="10027"/>
                  </a:ext>
                </a:extLst>
              </a:tr>
              <a:tr h="169606">
                <a:tc>
                  <a:txBody>
                    <a:bodyPr/>
                    <a:lstStyle/>
                    <a:p>
                      <a:pPr algn="l"/>
                      <a:r>
                        <a:rPr sz="1050" b="0" i="0">
                          <a:solidFill>
                            <a:srgbClr val="000000"/>
                          </a:solidFill>
                          <a:latin typeface="Calibri"/>
                        </a:rPr>
                        <a:t>Figure 91: Global Market CAGR by Region, %, 2026–2036</a:t>
                      </a:r>
                      <a:endParaRPr sz="1050"/>
                    </a:p>
                  </a:txBody>
                  <a:tcPr marL="9525" marR="9525" marT="9525" marB="0" anchor="ctr"/>
                </a:tc>
                <a:extLst>
                  <a:ext uri="{0D108BD9-81ED-4DB2-BD59-A6C34878D82A}">
                    <a16:rowId xmlns:a16="http://schemas.microsoft.com/office/drawing/2014/main" val="10028"/>
                  </a:ext>
                </a:extLst>
              </a:tr>
              <a:tr h="169606">
                <a:tc>
                  <a:txBody>
                    <a:bodyPr/>
                    <a:lstStyle/>
                    <a:p>
                      <a:pPr algn="l"/>
                      <a:r>
                        <a:rPr sz="1050" b="0" i="0">
                          <a:solidFill>
                            <a:srgbClr val="000000"/>
                          </a:solidFill>
                          <a:latin typeface="Calibri"/>
                        </a:rPr>
                        <a:t>Figure 92: Global Market Absolute $ Opportunity by Region, US$ Mn, 2026–2036</a:t>
                      </a:r>
                      <a:endParaRPr sz="1050"/>
                    </a:p>
                  </a:txBody>
                  <a:tcPr marL="9525" marR="9525" marT="9525" marB="0" anchor="ctr"/>
                </a:tc>
                <a:extLst>
                  <a:ext uri="{0D108BD9-81ED-4DB2-BD59-A6C34878D82A}">
                    <a16:rowId xmlns:a16="http://schemas.microsoft.com/office/drawing/2014/main" val="10029"/>
                  </a:ext>
                </a:extLst>
              </a:tr>
              <a:tr h="169606">
                <a:tc>
                  <a:txBody>
                    <a:bodyPr/>
                    <a:lstStyle/>
                    <a:p>
                      <a:pPr algn="l"/>
                      <a:r>
                        <a:rPr sz="1050" b="0" i="0">
                          <a:solidFill>
                            <a:srgbClr val="000000"/>
                          </a:solidFill>
                          <a:latin typeface="Calibri"/>
                        </a:rPr>
                        <a:t>Figure 93: Global Market Attractiveness by Region, 2026–2036</a:t>
                      </a:r>
                      <a:endParaRPr sz="1050"/>
                    </a:p>
                  </a:txBody>
                  <a:tcPr marL="9525" marR="9525" marT="9525" marB="0" anchor="ctr"/>
                </a:tc>
                <a:extLst>
                  <a:ext uri="{0D108BD9-81ED-4DB2-BD59-A6C34878D82A}">
                    <a16:rowId xmlns:a16="http://schemas.microsoft.com/office/drawing/2014/main" val="10030"/>
                  </a:ext>
                </a:extLst>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69606">
                <a:tc>
                  <a:txBody>
                    <a:bodyPr/>
                    <a:lstStyle/>
                    <a:p>
                      <a:pPr algn="l"/>
                      <a:r>
                        <a:rPr sz="1050" b="0" i="0">
                          <a:solidFill>
                            <a:srgbClr val="000000"/>
                          </a:solidFill>
                          <a:latin typeface="Calibri"/>
                        </a:rPr>
                        <a:t>Figure 94: Global Market BPS Share Change by Region, 2026–2036</a:t>
                      </a:r>
                      <a:endParaRPr sz="1050"/>
                    </a:p>
                  </a:txBody>
                  <a:tcPr marL="9525" marR="9525" marT="9525" marB="0" anchor="ctr"/>
                </a:tc>
                <a:extLst>
                  <a:ext uri="{0D108BD9-81ED-4DB2-BD59-A6C34878D82A}">
                    <a16:rowId xmlns:a16="http://schemas.microsoft.com/office/drawing/2014/main" val="10000"/>
                  </a:ext>
                </a:extLst>
              </a:tr>
              <a:tr h="169606">
                <a:tc>
                  <a:txBody>
                    <a:bodyPr/>
                    <a:lstStyle/>
                    <a:p>
                      <a:pPr algn="l"/>
                      <a:r>
                        <a:rPr sz="1050" b="0" i="0">
                          <a:solidFill>
                            <a:srgbClr val="000000"/>
                          </a:solidFill>
                          <a:latin typeface="Calibri"/>
                        </a:rPr>
                        <a:t>Figure 95: North America Market Value and YoY Growth, US$ Mn and %, 2021–2036</a:t>
                      </a:r>
                      <a:endParaRPr sz="1050"/>
                    </a:p>
                  </a:txBody>
                  <a:tcPr marL="9525" marR="9525" marT="9525" marB="0" anchor="ctr"/>
                </a:tc>
                <a:extLst>
                  <a:ext uri="{0D108BD9-81ED-4DB2-BD59-A6C34878D82A}">
                    <a16:rowId xmlns:a16="http://schemas.microsoft.com/office/drawing/2014/main" val="10001"/>
                  </a:ext>
                </a:extLst>
              </a:tr>
              <a:tr h="169606">
                <a:tc>
                  <a:txBody>
                    <a:bodyPr/>
                    <a:lstStyle/>
                    <a:p>
                      <a:pPr algn="l"/>
                      <a:r>
                        <a:rPr sz="1050" b="0" i="0">
                          <a:solidFill>
                            <a:srgbClr val="000000"/>
                          </a:solidFill>
                          <a:latin typeface="Calibri"/>
                        </a:rPr>
                        <a:t>Figure 96: Latin America Market Value and YoY Growth, US$ Mn and %, 2021–2036</a:t>
                      </a:r>
                      <a:endParaRPr sz="1050"/>
                    </a:p>
                  </a:txBody>
                  <a:tcPr marL="9525" marR="9525" marT="9525" marB="0" anchor="ctr"/>
                </a:tc>
                <a:extLst>
                  <a:ext uri="{0D108BD9-81ED-4DB2-BD59-A6C34878D82A}">
                    <a16:rowId xmlns:a16="http://schemas.microsoft.com/office/drawing/2014/main" val="10002"/>
                  </a:ext>
                </a:extLst>
              </a:tr>
              <a:tr h="169606">
                <a:tc>
                  <a:txBody>
                    <a:bodyPr/>
                    <a:lstStyle/>
                    <a:p>
                      <a:pPr algn="l"/>
                      <a:r>
                        <a:rPr sz="1050" b="0" i="0">
                          <a:solidFill>
                            <a:srgbClr val="000000"/>
                          </a:solidFill>
                          <a:latin typeface="Calibri"/>
                        </a:rPr>
                        <a:t>Figure 97: Europe Market Value and YoY Growth, US$ Mn and %, 2021–2036</a:t>
                      </a:r>
                      <a:endParaRPr sz="1050"/>
                    </a:p>
                  </a:txBody>
                  <a:tcPr marL="9525" marR="9525" marT="9525" marB="0" anchor="ctr"/>
                </a:tc>
                <a:extLst>
                  <a:ext uri="{0D108BD9-81ED-4DB2-BD59-A6C34878D82A}">
                    <a16:rowId xmlns:a16="http://schemas.microsoft.com/office/drawing/2014/main" val="10003"/>
                  </a:ext>
                </a:extLst>
              </a:tr>
              <a:tr h="169606">
                <a:tc>
                  <a:txBody>
                    <a:bodyPr/>
                    <a:lstStyle/>
                    <a:p>
                      <a:pPr algn="l"/>
                      <a:r>
                        <a:rPr sz="1050" b="0" i="0">
                          <a:solidFill>
                            <a:srgbClr val="000000"/>
                          </a:solidFill>
                          <a:latin typeface="Calibri"/>
                        </a:rPr>
                        <a:t>Figure 98: East Asia Market Value and YoY Growth, US$ Mn and %, 2021–2036</a:t>
                      </a:r>
                      <a:endParaRPr sz="1050"/>
                    </a:p>
                  </a:txBody>
                  <a:tcPr marL="9525" marR="9525" marT="9525" marB="0" anchor="ctr"/>
                </a:tc>
                <a:extLst>
                  <a:ext uri="{0D108BD9-81ED-4DB2-BD59-A6C34878D82A}">
                    <a16:rowId xmlns:a16="http://schemas.microsoft.com/office/drawing/2014/main" val="10004"/>
                  </a:ext>
                </a:extLst>
              </a:tr>
              <a:tr h="169606">
                <a:tc>
                  <a:txBody>
                    <a:bodyPr/>
                    <a:lstStyle/>
                    <a:p>
                      <a:pPr algn="l"/>
                      <a:r>
                        <a:rPr sz="1050" b="0" i="0">
                          <a:solidFill>
                            <a:srgbClr val="000000"/>
                          </a:solidFill>
                          <a:latin typeface="Calibri"/>
                        </a:rPr>
                        <a:t>Figure 99: South Asia &amp; Pacific Market Value and YoY Growth, US$ Mn and %, 2021–2036</a:t>
                      </a:r>
                      <a:endParaRPr sz="1050"/>
                    </a:p>
                  </a:txBody>
                  <a:tcPr marL="9525" marR="9525" marT="9525" marB="0" anchor="ctr"/>
                </a:tc>
                <a:extLst>
                  <a:ext uri="{0D108BD9-81ED-4DB2-BD59-A6C34878D82A}">
                    <a16:rowId xmlns:a16="http://schemas.microsoft.com/office/drawing/2014/main" val="10005"/>
                  </a:ext>
                </a:extLst>
              </a:tr>
              <a:tr h="169606">
                <a:tc>
                  <a:txBody>
                    <a:bodyPr/>
                    <a:lstStyle/>
                    <a:p>
                      <a:pPr algn="l"/>
                      <a:r>
                        <a:rPr sz="1050" b="0" i="0">
                          <a:solidFill>
                            <a:srgbClr val="000000"/>
                          </a:solidFill>
                          <a:latin typeface="Calibri"/>
                        </a:rPr>
                        <a:t>Figure 100: Middle East &amp; Africa Market Value and YoY Growth, US$ Mn and %, 2021–2036</a:t>
                      </a:r>
                      <a:endParaRPr sz="1050"/>
                    </a:p>
                  </a:txBody>
                  <a:tcPr marL="9525" marR="9525" marT="9525" marB="0" anchor="ctr"/>
                </a:tc>
                <a:extLst>
                  <a:ext uri="{0D108BD9-81ED-4DB2-BD59-A6C34878D82A}">
                    <a16:rowId xmlns:a16="http://schemas.microsoft.com/office/drawing/2014/main" val="10006"/>
                  </a:ext>
                </a:extLst>
              </a:tr>
              <a:tr h="169606">
                <a:tc>
                  <a:txBody>
                    <a:bodyPr/>
                    <a:lstStyle/>
                    <a:p>
                      <a:pPr algn="l"/>
                      <a:r>
                        <a:rPr sz="1050" b="0" i="0">
                          <a:solidFill>
                            <a:srgbClr val="000000"/>
                          </a:solidFill>
                          <a:latin typeface="Calibri"/>
                        </a:rPr>
                        <a:t>Figure 101: North America Market Share of Global Market, %, 2026 and 2036</a:t>
                      </a:r>
                      <a:endParaRPr sz="1050"/>
                    </a:p>
                  </a:txBody>
                  <a:tcPr marL="9525" marR="9525" marT="9525" marB="0" anchor="ctr"/>
                </a:tc>
                <a:extLst>
                  <a:ext uri="{0D108BD9-81ED-4DB2-BD59-A6C34878D82A}">
                    <a16:rowId xmlns:a16="http://schemas.microsoft.com/office/drawing/2014/main" val="10007"/>
                  </a:ext>
                </a:extLst>
              </a:tr>
              <a:tr h="169606">
                <a:tc>
                  <a:txBody>
                    <a:bodyPr/>
                    <a:lstStyle/>
                    <a:p>
                      <a:pPr algn="l"/>
                      <a:r>
                        <a:rPr sz="1050" b="0" i="0">
                          <a:solidFill>
                            <a:srgbClr val="000000"/>
                          </a:solidFill>
                          <a:latin typeface="Calibri"/>
                        </a:rPr>
                        <a:t>Figure 102: Latin America Market Share of Global Market, %, 2026 and 2036</a:t>
                      </a:r>
                      <a:endParaRPr sz="1050"/>
                    </a:p>
                  </a:txBody>
                  <a:tcPr marL="9525" marR="9525" marT="9525" marB="0" anchor="ctr"/>
                </a:tc>
                <a:extLst>
                  <a:ext uri="{0D108BD9-81ED-4DB2-BD59-A6C34878D82A}">
                    <a16:rowId xmlns:a16="http://schemas.microsoft.com/office/drawing/2014/main" val="10008"/>
                  </a:ext>
                </a:extLst>
              </a:tr>
              <a:tr h="169606">
                <a:tc>
                  <a:txBody>
                    <a:bodyPr/>
                    <a:lstStyle/>
                    <a:p>
                      <a:pPr algn="l"/>
                      <a:r>
                        <a:rPr sz="1050" b="0" i="0">
                          <a:solidFill>
                            <a:srgbClr val="000000"/>
                          </a:solidFill>
                          <a:latin typeface="Calibri"/>
                        </a:rPr>
                        <a:t>Figure 103: Europe Market Share of Global Market, %, 2026 and 2036</a:t>
                      </a:r>
                      <a:endParaRPr sz="1050"/>
                    </a:p>
                  </a:txBody>
                  <a:tcPr marL="9525" marR="9525" marT="9525" marB="0" anchor="ctr"/>
                </a:tc>
                <a:extLst>
                  <a:ext uri="{0D108BD9-81ED-4DB2-BD59-A6C34878D82A}">
                    <a16:rowId xmlns:a16="http://schemas.microsoft.com/office/drawing/2014/main" val="10009"/>
                  </a:ext>
                </a:extLst>
              </a:tr>
              <a:tr h="169606">
                <a:tc>
                  <a:txBody>
                    <a:bodyPr/>
                    <a:lstStyle/>
                    <a:p>
                      <a:pPr algn="l"/>
                      <a:r>
                        <a:rPr sz="1050" b="0" i="0">
                          <a:solidFill>
                            <a:srgbClr val="000000"/>
                          </a:solidFill>
                          <a:latin typeface="Calibri"/>
                        </a:rPr>
                        <a:t>Figure 104: East Asia Market Share of Global Market, %, 2026 and 2036</a:t>
                      </a:r>
                      <a:endParaRPr sz="1050"/>
                    </a:p>
                  </a:txBody>
                  <a:tcPr marL="9525" marR="9525" marT="9525" marB="0" anchor="ctr"/>
                </a:tc>
                <a:extLst>
                  <a:ext uri="{0D108BD9-81ED-4DB2-BD59-A6C34878D82A}">
                    <a16:rowId xmlns:a16="http://schemas.microsoft.com/office/drawing/2014/main" val="10010"/>
                  </a:ext>
                </a:extLst>
              </a:tr>
              <a:tr h="169606">
                <a:tc>
                  <a:txBody>
                    <a:bodyPr/>
                    <a:lstStyle/>
                    <a:p>
                      <a:pPr algn="l"/>
                      <a:r>
                        <a:rPr sz="1050" b="0" i="0">
                          <a:solidFill>
                            <a:srgbClr val="000000"/>
                          </a:solidFill>
                          <a:latin typeface="Calibri"/>
                        </a:rPr>
                        <a:t>Figure 105: South Asia &amp; Pacific Market Share of Global Market, %, 2026 and 2036</a:t>
                      </a:r>
                      <a:endParaRPr sz="1050"/>
                    </a:p>
                  </a:txBody>
                  <a:tcPr marL="9525" marR="9525" marT="9525" marB="0" anchor="ctr"/>
                </a:tc>
                <a:extLst>
                  <a:ext uri="{0D108BD9-81ED-4DB2-BD59-A6C34878D82A}">
                    <a16:rowId xmlns:a16="http://schemas.microsoft.com/office/drawing/2014/main" val="10011"/>
                  </a:ext>
                </a:extLst>
              </a:tr>
              <a:tr h="169606">
                <a:tc>
                  <a:txBody>
                    <a:bodyPr/>
                    <a:lstStyle/>
                    <a:p>
                      <a:pPr algn="l"/>
                      <a:r>
                        <a:rPr sz="1050" b="0" i="0">
                          <a:solidFill>
                            <a:srgbClr val="000000"/>
                          </a:solidFill>
                          <a:latin typeface="Calibri"/>
                        </a:rPr>
                        <a:t>Figure 106: Middle East &amp; Africa Market Share of Global Market, %, 2026 and 2036</a:t>
                      </a:r>
                      <a:endParaRPr sz="1050"/>
                    </a:p>
                  </a:txBody>
                  <a:tcPr marL="9525" marR="9525" marT="9525" marB="0" anchor="ctr"/>
                </a:tc>
                <a:extLst>
                  <a:ext uri="{0D108BD9-81ED-4DB2-BD59-A6C34878D82A}">
                    <a16:rowId xmlns:a16="http://schemas.microsoft.com/office/drawing/2014/main" val="10012"/>
                  </a:ext>
                </a:extLst>
              </a:tr>
              <a:tr h="169606">
                <a:tc>
                  <a:txBody>
                    <a:bodyPr/>
                    <a:lstStyle/>
                    <a:p>
                      <a:pPr algn="l"/>
                      <a:r>
                        <a:rPr sz="1050" b="0" i="0">
                          <a:solidFill>
                            <a:srgbClr val="000000"/>
                          </a:solidFill>
                          <a:latin typeface="Calibri"/>
                        </a:rPr>
                        <a:t>Figure 107: North America Market Value by Country, US$ Mn, 2026 and 2036</a:t>
                      </a:r>
                      <a:endParaRPr sz="1050"/>
                    </a:p>
                  </a:txBody>
                  <a:tcPr marL="9525" marR="9525" marT="9525" marB="0" anchor="ctr"/>
                </a:tc>
                <a:extLst>
                  <a:ext uri="{0D108BD9-81ED-4DB2-BD59-A6C34878D82A}">
                    <a16:rowId xmlns:a16="http://schemas.microsoft.com/office/drawing/2014/main" val="10013"/>
                  </a:ext>
                </a:extLst>
              </a:tr>
              <a:tr h="169606">
                <a:tc>
                  <a:txBody>
                    <a:bodyPr/>
                    <a:lstStyle/>
                    <a:p>
                      <a:pPr algn="l"/>
                      <a:r>
                        <a:rPr sz="1050" b="0" i="0">
                          <a:solidFill>
                            <a:srgbClr val="000000"/>
                          </a:solidFill>
                          <a:latin typeface="Calibri"/>
                        </a:rPr>
                        <a:t>Figure 108: Latin America Market Value by Country, US$ Mn, 2026 and 2036</a:t>
                      </a:r>
                      <a:endParaRPr sz="1050"/>
                    </a:p>
                  </a:txBody>
                  <a:tcPr marL="9525" marR="9525" marT="9525" marB="0" anchor="ctr"/>
                </a:tc>
                <a:extLst>
                  <a:ext uri="{0D108BD9-81ED-4DB2-BD59-A6C34878D82A}">
                    <a16:rowId xmlns:a16="http://schemas.microsoft.com/office/drawing/2014/main" val="10014"/>
                  </a:ext>
                </a:extLst>
              </a:tr>
              <a:tr h="169606">
                <a:tc>
                  <a:txBody>
                    <a:bodyPr/>
                    <a:lstStyle/>
                    <a:p>
                      <a:pPr algn="l"/>
                      <a:r>
                        <a:rPr sz="1050" b="0" i="0">
                          <a:solidFill>
                            <a:srgbClr val="000000"/>
                          </a:solidFill>
                          <a:latin typeface="Calibri"/>
                        </a:rPr>
                        <a:t>Figure 109: Europe Market Value by Country, US$ Mn, 2026 and 2036</a:t>
                      </a:r>
                      <a:endParaRPr sz="1050"/>
                    </a:p>
                  </a:txBody>
                  <a:tcPr marL="9525" marR="9525" marT="9525" marB="0" anchor="ctr"/>
                </a:tc>
                <a:extLst>
                  <a:ext uri="{0D108BD9-81ED-4DB2-BD59-A6C34878D82A}">
                    <a16:rowId xmlns:a16="http://schemas.microsoft.com/office/drawing/2014/main" val="10015"/>
                  </a:ext>
                </a:extLst>
              </a:tr>
              <a:tr h="169606">
                <a:tc>
                  <a:txBody>
                    <a:bodyPr/>
                    <a:lstStyle/>
                    <a:p>
                      <a:pPr algn="l"/>
                      <a:r>
                        <a:rPr sz="1050" b="0" i="0">
                          <a:solidFill>
                            <a:srgbClr val="000000"/>
                          </a:solidFill>
                          <a:latin typeface="Calibri"/>
                        </a:rPr>
                        <a:t>Figure 110: East Asia Market Value by Country, US$ Mn, 2026 and 2036</a:t>
                      </a:r>
                      <a:endParaRPr sz="1050"/>
                    </a:p>
                  </a:txBody>
                  <a:tcPr marL="9525" marR="9525" marT="9525" marB="0" anchor="ctr"/>
                </a:tc>
                <a:extLst>
                  <a:ext uri="{0D108BD9-81ED-4DB2-BD59-A6C34878D82A}">
                    <a16:rowId xmlns:a16="http://schemas.microsoft.com/office/drawing/2014/main" val="10016"/>
                  </a:ext>
                </a:extLst>
              </a:tr>
              <a:tr h="169606">
                <a:tc>
                  <a:txBody>
                    <a:bodyPr/>
                    <a:lstStyle/>
                    <a:p>
                      <a:pPr algn="l"/>
                      <a:r>
                        <a:rPr sz="1050" b="0" i="0">
                          <a:solidFill>
                            <a:srgbClr val="000000"/>
                          </a:solidFill>
                          <a:latin typeface="Calibri"/>
                        </a:rPr>
                        <a:t>Figure 111: South Asia &amp; Pacific Market Value by Country, US$ Mn, 2026 and 2036</a:t>
                      </a:r>
                      <a:endParaRPr sz="1050"/>
                    </a:p>
                  </a:txBody>
                  <a:tcPr marL="9525" marR="9525" marT="9525" marB="0" anchor="ctr"/>
                </a:tc>
                <a:extLst>
                  <a:ext uri="{0D108BD9-81ED-4DB2-BD59-A6C34878D82A}">
                    <a16:rowId xmlns:a16="http://schemas.microsoft.com/office/drawing/2014/main" val="10017"/>
                  </a:ext>
                </a:extLst>
              </a:tr>
              <a:tr h="169606">
                <a:tc>
                  <a:txBody>
                    <a:bodyPr/>
                    <a:lstStyle/>
                    <a:p>
                      <a:pPr algn="l"/>
                      <a:r>
                        <a:rPr sz="1050" b="0" i="0">
                          <a:solidFill>
                            <a:srgbClr val="000000"/>
                          </a:solidFill>
                          <a:latin typeface="Calibri"/>
                        </a:rPr>
                        <a:t>Figure 112: Middle East &amp; Africa Market Value by Country, US$ Mn, 2026 and 2036</a:t>
                      </a:r>
                      <a:endParaRPr sz="1050"/>
                    </a:p>
                  </a:txBody>
                  <a:tcPr marL="9525" marR="9525" marT="9525" marB="0" anchor="ctr"/>
                </a:tc>
                <a:extLst>
                  <a:ext uri="{0D108BD9-81ED-4DB2-BD59-A6C34878D82A}">
                    <a16:rowId xmlns:a16="http://schemas.microsoft.com/office/drawing/2014/main" val="10018"/>
                  </a:ext>
                </a:extLst>
              </a:tr>
              <a:tr h="169606">
                <a:tc>
                  <a:txBody>
                    <a:bodyPr/>
                    <a:lstStyle/>
                    <a:p>
                      <a:pPr algn="l"/>
                      <a:r>
                        <a:rPr sz="1050" b="0" i="0">
                          <a:solidFill>
                            <a:srgbClr val="000000"/>
                          </a:solidFill>
                          <a:latin typeface="Calibri"/>
                        </a:rPr>
                        <a:t>Figure 113: North America Market Absolute $ Opportunity, US$ Mn, 2026–2036</a:t>
                      </a:r>
                      <a:endParaRPr sz="1050"/>
                    </a:p>
                  </a:txBody>
                  <a:tcPr marL="9525" marR="9525" marT="9525" marB="0" anchor="ctr"/>
                </a:tc>
                <a:extLst>
                  <a:ext uri="{0D108BD9-81ED-4DB2-BD59-A6C34878D82A}">
                    <a16:rowId xmlns:a16="http://schemas.microsoft.com/office/drawing/2014/main" val="10019"/>
                  </a:ext>
                </a:extLst>
              </a:tr>
              <a:tr h="169606">
                <a:tc>
                  <a:txBody>
                    <a:bodyPr/>
                    <a:lstStyle/>
                    <a:p>
                      <a:pPr algn="l"/>
                      <a:r>
                        <a:rPr sz="1050" b="0" i="0">
                          <a:solidFill>
                            <a:srgbClr val="000000"/>
                          </a:solidFill>
                          <a:latin typeface="Calibri"/>
                        </a:rPr>
                        <a:t>Figure 114: Latin America Market Absolute $ Opportunity, US$ Mn, 2026–2036</a:t>
                      </a:r>
                      <a:endParaRPr sz="1050"/>
                    </a:p>
                  </a:txBody>
                  <a:tcPr marL="9525" marR="9525" marT="9525" marB="0" anchor="ctr"/>
                </a:tc>
                <a:extLst>
                  <a:ext uri="{0D108BD9-81ED-4DB2-BD59-A6C34878D82A}">
                    <a16:rowId xmlns:a16="http://schemas.microsoft.com/office/drawing/2014/main" val="10020"/>
                  </a:ext>
                </a:extLst>
              </a:tr>
              <a:tr h="169606">
                <a:tc>
                  <a:txBody>
                    <a:bodyPr/>
                    <a:lstStyle/>
                    <a:p>
                      <a:pPr algn="l"/>
                      <a:r>
                        <a:rPr sz="1050" b="0" i="0">
                          <a:solidFill>
                            <a:srgbClr val="000000"/>
                          </a:solidFill>
                          <a:latin typeface="Calibri"/>
                        </a:rPr>
                        <a:t>Figure 115: U.S. Market Value and YoY Growth, US$ Mn and %, 2021–2036</a:t>
                      </a:r>
                      <a:endParaRPr sz="1050"/>
                    </a:p>
                  </a:txBody>
                  <a:tcPr marL="9525" marR="9525" marT="9525" marB="0" anchor="ctr"/>
                </a:tc>
                <a:extLst>
                  <a:ext uri="{0D108BD9-81ED-4DB2-BD59-A6C34878D82A}">
                    <a16:rowId xmlns:a16="http://schemas.microsoft.com/office/drawing/2014/main" val="10021"/>
                  </a:ext>
                </a:extLst>
              </a:tr>
              <a:tr h="169606">
                <a:tc>
                  <a:txBody>
                    <a:bodyPr/>
                    <a:lstStyle/>
                    <a:p>
                      <a:pPr algn="l"/>
                      <a:r>
                        <a:rPr sz="1050" b="0" i="0">
                          <a:solidFill>
                            <a:srgbClr val="000000"/>
                          </a:solidFill>
                          <a:latin typeface="Calibri"/>
                        </a:rPr>
                        <a:t>Figure 116: U.S. Market Value by Partition Type, US$ Mn, 2026 and 2036</a:t>
                      </a:r>
                      <a:endParaRPr sz="1050"/>
                    </a:p>
                  </a:txBody>
                  <a:tcPr marL="9525" marR="9525" marT="9525" marB="0" anchor="ctr"/>
                </a:tc>
                <a:extLst>
                  <a:ext uri="{0D108BD9-81ED-4DB2-BD59-A6C34878D82A}">
                    <a16:rowId xmlns:a16="http://schemas.microsoft.com/office/drawing/2014/main" val="10022"/>
                  </a:ext>
                </a:extLst>
              </a:tr>
              <a:tr h="169606">
                <a:tc>
                  <a:txBody>
                    <a:bodyPr/>
                    <a:lstStyle/>
                    <a:p>
                      <a:pPr algn="l"/>
                      <a:r>
                        <a:rPr sz="1050" b="0" i="0">
                          <a:solidFill>
                            <a:srgbClr val="000000"/>
                          </a:solidFill>
                          <a:latin typeface="Calibri"/>
                        </a:rPr>
                        <a:t>Figure 117: U.S. Market Value by End Use, US$ Mn, 2026 and 2036</a:t>
                      </a:r>
                      <a:endParaRPr sz="1050"/>
                    </a:p>
                  </a:txBody>
                  <a:tcPr marL="9525" marR="9525" marT="9525" marB="0" anchor="ctr"/>
                </a:tc>
                <a:extLst>
                  <a:ext uri="{0D108BD9-81ED-4DB2-BD59-A6C34878D82A}">
                    <a16:rowId xmlns:a16="http://schemas.microsoft.com/office/drawing/2014/main" val="10023"/>
                  </a:ext>
                </a:extLst>
              </a:tr>
              <a:tr h="169606">
                <a:tc>
                  <a:txBody>
                    <a:bodyPr/>
                    <a:lstStyle/>
                    <a:p>
                      <a:pPr algn="l"/>
                      <a:r>
                        <a:rPr sz="1050" b="0" i="0">
                          <a:solidFill>
                            <a:srgbClr val="000000"/>
                          </a:solidFill>
                          <a:latin typeface="Calibri"/>
                        </a:rPr>
                        <a:t>Figure 118: U.S. Market Share within North America, %, 2026 and 2036</a:t>
                      </a:r>
                      <a:endParaRPr sz="1050"/>
                    </a:p>
                  </a:txBody>
                  <a:tcPr marL="9525" marR="9525" marT="9525" marB="0" anchor="ctr"/>
                </a:tc>
                <a:extLst>
                  <a:ext uri="{0D108BD9-81ED-4DB2-BD59-A6C34878D82A}">
                    <a16:rowId xmlns:a16="http://schemas.microsoft.com/office/drawing/2014/main" val="10024"/>
                  </a:ext>
                </a:extLst>
              </a:tr>
              <a:tr h="169606">
                <a:tc>
                  <a:txBody>
                    <a:bodyPr/>
                    <a:lstStyle/>
                    <a:p>
                      <a:pPr algn="l"/>
                      <a:r>
                        <a:rPr sz="1050" b="0" i="0">
                          <a:solidFill>
                            <a:srgbClr val="000000"/>
                          </a:solidFill>
                          <a:latin typeface="Calibri"/>
                        </a:rPr>
                        <a:t>Figure 119: U.S. Market Value by Board Construction, US$ Mn, 2026 and 2036</a:t>
                      </a:r>
                      <a:endParaRPr sz="1050"/>
                    </a:p>
                  </a:txBody>
                  <a:tcPr marL="9525" marR="9525" marT="9525" marB="0" anchor="ctr"/>
                </a:tc>
                <a:extLst>
                  <a:ext uri="{0D108BD9-81ED-4DB2-BD59-A6C34878D82A}">
                    <a16:rowId xmlns:a16="http://schemas.microsoft.com/office/drawing/2014/main" val="10025"/>
                  </a:ext>
                </a:extLst>
              </a:tr>
              <a:tr h="169606">
                <a:tc>
                  <a:txBody>
                    <a:bodyPr/>
                    <a:lstStyle/>
                    <a:p>
                      <a:pPr algn="l"/>
                      <a:r>
                        <a:rPr sz="1050" b="0" i="0">
                          <a:solidFill>
                            <a:srgbClr val="000000"/>
                          </a:solidFill>
                          <a:latin typeface="Calibri"/>
                        </a:rPr>
                        <a:t>Figure 120: U.S. Market Value by Material Source, US$ Mn, 2026 and 2036</a:t>
                      </a:r>
                      <a:endParaRPr sz="1050"/>
                    </a:p>
                  </a:txBody>
                  <a:tcPr marL="9525" marR="9525" marT="9525" marB="0" anchor="ctr"/>
                </a:tc>
                <a:extLst>
                  <a:ext uri="{0D108BD9-81ED-4DB2-BD59-A6C34878D82A}">
                    <a16:rowId xmlns:a16="http://schemas.microsoft.com/office/drawing/2014/main" val="10026"/>
                  </a:ext>
                </a:extLst>
              </a:tr>
              <a:tr h="169606">
                <a:tc>
                  <a:txBody>
                    <a:bodyPr/>
                    <a:lstStyle/>
                    <a:p>
                      <a:pPr algn="l"/>
                      <a:r>
                        <a:rPr sz="1050" b="0" i="0">
                          <a:solidFill>
                            <a:srgbClr val="000000"/>
                          </a:solidFill>
                          <a:latin typeface="Calibri"/>
                        </a:rPr>
                        <a:t>Figure 121: U.S. Market Value by Cell Configuration, US$ Mn, 2026 and 2036</a:t>
                      </a:r>
                      <a:endParaRPr sz="1050"/>
                    </a:p>
                  </a:txBody>
                  <a:tcPr marL="9525" marR="9525" marT="9525" marB="0" anchor="ctr"/>
                </a:tc>
                <a:extLst>
                  <a:ext uri="{0D108BD9-81ED-4DB2-BD59-A6C34878D82A}">
                    <a16:rowId xmlns:a16="http://schemas.microsoft.com/office/drawing/2014/main" val="10027"/>
                  </a:ext>
                </a:extLst>
              </a:tr>
              <a:tr h="169606">
                <a:tc>
                  <a:txBody>
                    <a:bodyPr/>
                    <a:lstStyle/>
                    <a:p>
                      <a:pPr algn="l"/>
                      <a:r>
                        <a:rPr sz="1050" b="0" i="0">
                          <a:solidFill>
                            <a:srgbClr val="000000"/>
                          </a:solidFill>
                          <a:latin typeface="Calibri"/>
                        </a:rPr>
                        <a:t>Figure 122: U.S. Market Value by Customization, US$ Mn, 2026 and 2036</a:t>
                      </a:r>
                      <a:endParaRPr sz="1050"/>
                    </a:p>
                  </a:txBody>
                  <a:tcPr marL="9525" marR="9525" marT="9525" marB="0" anchor="ctr"/>
                </a:tc>
                <a:extLst>
                  <a:ext uri="{0D108BD9-81ED-4DB2-BD59-A6C34878D82A}">
                    <a16:rowId xmlns:a16="http://schemas.microsoft.com/office/drawing/2014/main" val="10028"/>
                  </a:ext>
                </a:extLst>
              </a:tr>
              <a:tr h="169606">
                <a:tc>
                  <a:txBody>
                    <a:bodyPr/>
                    <a:lstStyle/>
                    <a:p>
                      <a:pPr algn="l"/>
                      <a:r>
                        <a:rPr sz="1050" b="0" i="0">
                          <a:solidFill>
                            <a:srgbClr val="000000"/>
                          </a:solidFill>
                          <a:latin typeface="Calibri"/>
                        </a:rPr>
                        <a:t>Figure 123: Germany Market Value and YoY Growth, US$ Mn and %, 2021–2036</a:t>
                      </a:r>
                      <a:endParaRPr sz="1050"/>
                    </a:p>
                  </a:txBody>
                  <a:tcPr marL="9525" marR="9525" marT="9525" marB="0" anchor="ctr"/>
                </a:tc>
                <a:extLst>
                  <a:ext uri="{0D108BD9-81ED-4DB2-BD59-A6C34878D82A}">
                    <a16:rowId xmlns:a16="http://schemas.microsoft.com/office/drawing/2014/main" val="10029"/>
                  </a:ext>
                </a:extLst>
              </a:tr>
              <a:tr h="169606">
                <a:tc>
                  <a:txBody>
                    <a:bodyPr/>
                    <a:lstStyle/>
                    <a:p>
                      <a:pPr algn="l"/>
                      <a:r>
                        <a:rPr sz="1050" b="0" i="0">
                          <a:solidFill>
                            <a:srgbClr val="000000"/>
                          </a:solidFill>
                          <a:latin typeface="Calibri"/>
                        </a:rPr>
                        <a:t>Figure 124: Germany Market Value by Partition Type, US$ Mn, 2026 and 2036</a:t>
                      </a:r>
                      <a:endParaRPr sz="1050"/>
                    </a:p>
                  </a:txBody>
                  <a:tcPr marL="9525" marR="9525" marT="9525" marB="0" anchor="ctr"/>
                </a:tc>
                <a:extLst>
                  <a:ext uri="{0D108BD9-81ED-4DB2-BD59-A6C34878D82A}">
                    <a16:rowId xmlns:a16="http://schemas.microsoft.com/office/drawing/2014/main" val="10030"/>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69606">
                <a:tc>
                  <a:txBody>
                    <a:bodyPr/>
                    <a:lstStyle/>
                    <a:p>
                      <a:pPr algn="l"/>
                      <a:r>
                        <a:rPr sz="1050" b="0" i="0">
                          <a:solidFill>
                            <a:srgbClr val="000000"/>
                          </a:solidFill>
                          <a:latin typeface="Calibri"/>
                        </a:rPr>
                        <a:t>Figure 125: Germany Market Value by End Use, US$ Mn, 2026 and 2036</a:t>
                      </a:r>
                      <a:endParaRPr sz="1050"/>
                    </a:p>
                  </a:txBody>
                  <a:tcPr marL="9525" marR="9525" marT="9525" marB="0" anchor="ctr"/>
                </a:tc>
                <a:extLst>
                  <a:ext uri="{0D108BD9-81ED-4DB2-BD59-A6C34878D82A}">
                    <a16:rowId xmlns:a16="http://schemas.microsoft.com/office/drawing/2014/main" val="10000"/>
                  </a:ext>
                </a:extLst>
              </a:tr>
              <a:tr h="169606">
                <a:tc>
                  <a:txBody>
                    <a:bodyPr/>
                    <a:lstStyle/>
                    <a:p>
                      <a:pPr algn="l"/>
                      <a:r>
                        <a:rPr sz="1050" b="0" i="0">
                          <a:solidFill>
                            <a:srgbClr val="000000"/>
                          </a:solidFill>
                          <a:latin typeface="Calibri"/>
                        </a:rPr>
                        <a:t>Figure 126: Germany Market Share within Europe, %, 2026 and 2036</a:t>
                      </a:r>
                      <a:endParaRPr sz="1050"/>
                    </a:p>
                  </a:txBody>
                  <a:tcPr marL="9525" marR="9525" marT="9525" marB="0" anchor="ctr"/>
                </a:tc>
                <a:extLst>
                  <a:ext uri="{0D108BD9-81ED-4DB2-BD59-A6C34878D82A}">
                    <a16:rowId xmlns:a16="http://schemas.microsoft.com/office/drawing/2014/main" val="10001"/>
                  </a:ext>
                </a:extLst>
              </a:tr>
              <a:tr h="169606">
                <a:tc>
                  <a:txBody>
                    <a:bodyPr/>
                    <a:lstStyle/>
                    <a:p>
                      <a:pPr algn="l"/>
                      <a:r>
                        <a:rPr sz="1050" b="0" i="0">
                          <a:solidFill>
                            <a:srgbClr val="000000"/>
                          </a:solidFill>
                          <a:latin typeface="Calibri"/>
                        </a:rPr>
                        <a:t>Figure 127: Germany Market Value by Board Construction, US$ Mn, 2026 and 2036</a:t>
                      </a:r>
                      <a:endParaRPr sz="1050"/>
                    </a:p>
                  </a:txBody>
                  <a:tcPr marL="9525" marR="9525" marT="9525" marB="0" anchor="ctr"/>
                </a:tc>
                <a:extLst>
                  <a:ext uri="{0D108BD9-81ED-4DB2-BD59-A6C34878D82A}">
                    <a16:rowId xmlns:a16="http://schemas.microsoft.com/office/drawing/2014/main" val="10002"/>
                  </a:ext>
                </a:extLst>
              </a:tr>
              <a:tr h="169606">
                <a:tc>
                  <a:txBody>
                    <a:bodyPr/>
                    <a:lstStyle/>
                    <a:p>
                      <a:pPr algn="l"/>
                      <a:r>
                        <a:rPr sz="1050" b="0" i="0">
                          <a:solidFill>
                            <a:srgbClr val="000000"/>
                          </a:solidFill>
                          <a:latin typeface="Calibri"/>
                        </a:rPr>
                        <a:t>Figure 128: Germany Market Value by Material Source, US$ Mn, 2026 and 2036</a:t>
                      </a:r>
                      <a:endParaRPr sz="1050"/>
                    </a:p>
                  </a:txBody>
                  <a:tcPr marL="9525" marR="9525" marT="9525" marB="0" anchor="ctr"/>
                </a:tc>
                <a:extLst>
                  <a:ext uri="{0D108BD9-81ED-4DB2-BD59-A6C34878D82A}">
                    <a16:rowId xmlns:a16="http://schemas.microsoft.com/office/drawing/2014/main" val="10003"/>
                  </a:ext>
                </a:extLst>
              </a:tr>
              <a:tr h="169606">
                <a:tc>
                  <a:txBody>
                    <a:bodyPr/>
                    <a:lstStyle/>
                    <a:p>
                      <a:pPr algn="l"/>
                      <a:r>
                        <a:rPr sz="1050" b="0" i="0">
                          <a:solidFill>
                            <a:srgbClr val="000000"/>
                          </a:solidFill>
                          <a:latin typeface="Calibri"/>
                        </a:rPr>
                        <a:t>Figure 129: Germany Market Value by Cell Configuration, US$ Mn, 2026 and 2036</a:t>
                      </a:r>
                      <a:endParaRPr sz="1050"/>
                    </a:p>
                  </a:txBody>
                  <a:tcPr marL="9525" marR="9525" marT="9525" marB="0" anchor="ctr"/>
                </a:tc>
                <a:extLst>
                  <a:ext uri="{0D108BD9-81ED-4DB2-BD59-A6C34878D82A}">
                    <a16:rowId xmlns:a16="http://schemas.microsoft.com/office/drawing/2014/main" val="10004"/>
                  </a:ext>
                </a:extLst>
              </a:tr>
              <a:tr h="169606">
                <a:tc>
                  <a:txBody>
                    <a:bodyPr/>
                    <a:lstStyle/>
                    <a:p>
                      <a:pPr algn="l"/>
                      <a:r>
                        <a:rPr sz="1050" b="0" i="0">
                          <a:solidFill>
                            <a:srgbClr val="000000"/>
                          </a:solidFill>
                          <a:latin typeface="Calibri"/>
                        </a:rPr>
                        <a:t>Figure 130: Germany Market Value by Customization, US$ Mn, 2026 and 2036</a:t>
                      </a:r>
                      <a:endParaRPr sz="1050"/>
                    </a:p>
                  </a:txBody>
                  <a:tcPr marL="9525" marR="9525" marT="9525" marB="0" anchor="ctr"/>
                </a:tc>
                <a:extLst>
                  <a:ext uri="{0D108BD9-81ED-4DB2-BD59-A6C34878D82A}">
                    <a16:rowId xmlns:a16="http://schemas.microsoft.com/office/drawing/2014/main" val="10005"/>
                  </a:ext>
                </a:extLst>
              </a:tr>
              <a:tr h="169606">
                <a:tc>
                  <a:txBody>
                    <a:bodyPr/>
                    <a:lstStyle/>
                    <a:p>
                      <a:pPr algn="l"/>
                      <a:r>
                        <a:rPr sz="1050" b="0" i="0">
                          <a:solidFill>
                            <a:srgbClr val="000000"/>
                          </a:solidFill>
                          <a:latin typeface="Calibri"/>
                        </a:rPr>
                        <a:t>Figure 131: Canada Market Value and YoY Growth, US$ Mn and %, 2021–2036</a:t>
                      </a:r>
                      <a:endParaRPr sz="1050"/>
                    </a:p>
                  </a:txBody>
                  <a:tcPr marL="9525" marR="9525" marT="9525" marB="0" anchor="ctr"/>
                </a:tc>
                <a:extLst>
                  <a:ext uri="{0D108BD9-81ED-4DB2-BD59-A6C34878D82A}">
                    <a16:rowId xmlns:a16="http://schemas.microsoft.com/office/drawing/2014/main" val="10006"/>
                  </a:ext>
                </a:extLst>
              </a:tr>
              <a:tr h="169606">
                <a:tc>
                  <a:txBody>
                    <a:bodyPr/>
                    <a:lstStyle/>
                    <a:p>
                      <a:pPr algn="l"/>
                      <a:r>
                        <a:rPr sz="1050" b="0" i="0">
                          <a:solidFill>
                            <a:srgbClr val="000000"/>
                          </a:solidFill>
                          <a:latin typeface="Calibri"/>
                        </a:rPr>
                        <a:t>Figure 132: Canada Market Value by Partition Type, US$ Mn, 2026 and 2036</a:t>
                      </a:r>
                      <a:endParaRPr sz="1050"/>
                    </a:p>
                  </a:txBody>
                  <a:tcPr marL="9525" marR="9525" marT="9525" marB="0" anchor="ctr"/>
                </a:tc>
                <a:extLst>
                  <a:ext uri="{0D108BD9-81ED-4DB2-BD59-A6C34878D82A}">
                    <a16:rowId xmlns:a16="http://schemas.microsoft.com/office/drawing/2014/main" val="10007"/>
                  </a:ext>
                </a:extLst>
              </a:tr>
              <a:tr h="169606">
                <a:tc>
                  <a:txBody>
                    <a:bodyPr/>
                    <a:lstStyle/>
                    <a:p>
                      <a:pPr algn="l"/>
                      <a:r>
                        <a:rPr sz="1050" b="0" i="0">
                          <a:solidFill>
                            <a:srgbClr val="000000"/>
                          </a:solidFill>
                          <a:latin typeface="Calibri"/>
                        </a:rPr>
                        <a:t>Figure 133: Canada Market Value by End Use, US$ Mn, 2026 and 2036</a:t>
                      </a:r>
                      <a:endParaRPr sz="1050"/>
                    </a:p>
                  </a:txBody>
                  <a:tcPr marL="9525" marR="9525" marT="9525" marB="0" anchor="ctr"/>
                </a:tc>
                <a:extLst>
                  <a:ext uri="{0D108BD9-81ED-4DB2-BD59-A6C34878D82A}">
                    <a16:rowId xmlns:a16="http://schemas.microsoft.com/office/drawing/2014/main" val="10008"/>
                  </a:ext>
                </a:extLst>
              </a:tr>
              <a:tr h="169606">
                <a:tc>
                  <a:txBody>
                    <a:bodyPr/>
                    <a:lstStyle/>
                    <a:p>
                      <a:pPr algn="l"/>
                      <a:r>
                        <a:rPr sz="1050" b="0" i="0">
                          <a:solidFill>
                            <a:srgbClr val="000000"/>
                          </a:solidFill>
                          <a:latin typeface="Calibri"/>
                        </a:rPr>
                        <a:t>Figure 134: Canada Market Share within North America, %, 2026 and 2036</a:t>
                      </a:r>
                      <a:endParaRPr sz="1050"/>
                    </a:p>
                  </a:txBody>
                  <a:tcPr marL="9525" marR="9525" marT="9525" marB="0" anchor="ctr"/>
                </a:tc>
                <a:extLst>
                  <a:ext uri="{0D108BD9-81ED-4DB2-BD59-A6C34878D82A}">
                    <a16:rowId xmlns:a16="http://schemas.microsoft.com/office/drawing/2014/main" val="10009"/>
                  </a:ext>
                </a:extLst>
              </a:tr>
              <a:tr h="169606">
                <a:tc>
                  <a:txBody>
                    <a:bodyPr/>
                    <a:lstStyle/>
                    <a:p>
                      <a:pPr algn="l"/>
                      <a:r>
                        <a:rPr sz="1050" b="0" i="0">
                          <a:solidFill>
                            <a:srgbClr val="000000"/>
                          </a:solidFill>
                          <a:latin typeface="Calibri"/>
                        </a:rPr>
                        <a:t>Figure 135: Canada Market Value by Board Construction, US$ Mn, 2026 and 2036</a:t>
                      </a:r>
                      <a:endParaRPr sz="1050"/>
                    </a:p>
                  </a:txBody>
                  <a:tcPr marL="9525" marR="9525" marT="9525" marB="0" anchor="ctr"/>
                </a:tc>
                <a:extLst>
                  <a:ext uri="{0D108BD9-81ED-4DB2-BD59-A6C34878D82A}">
                    <a16:rowId xmlns:a16="http://schemas.microsoft.com/office/drawing/2014/main" val="10010"/>
                  </a:ext>
                </a:extLst>
              </a:tr>
              <a:tr h="169606">
                <a:tc>
                  <a:txBody>
                    <a:bodyPr/>
                    <a:lstStyle/>
                    <a:p>
                      <a:pPr algn="l"/>
                      <a:r>
                        <a:rPr sz="1050" b="0" i="0">
                          <a:solidFill>
                            <a:srgbClr val="000000"/>
                          </a:solidFill>
                          <a:latin typeface="Calibri"/>
                        </a:rPr>
                        <a:t>Figure 136: Canada Market Value by Material Source, US$ Mn, 2026 and 2036</a:t>
                      </a:r>
                      <a:endParaRPr sz="1050"/>
                    </a:p>
                  </a:txBody>
                  <a:tcPr marL="9525" marR="9525" marT="9525" marB="0" anchor="ctr"/>
                </a:tc>
                <a:extLst>
                  <a:ext uri="{0D108BD9-81ED-4DB2-BD59-A6C34878D82A}">
                    <a16:rowId xmlns:a16="http://schemas.microsoft.com/office/drawing/2014/main" val="10011"/>
                  </a:ext>
                </a:extLst>
              </a:tr>
              <a:tr h="169606">
                <a:tc>
                  <a:txBody>
                    <a:bodyPr/>
                    <a:lstStyle/>
                    <a:p>
                      <a:pPr algn="l"/>
                      <a:r>
                        <a:rPr sz="1050" b="0" i="0">
                          <a:solidFill>
                            <a:srgbClr val="000000"/>
                          </a:solidFill>
                          <a:latin typeface="Calibri"/>
                        </a:rPr>
                        <a:t>Figure 137: Canada Market Value by Cell Configuration, US$ Mn, 2026 and 2036</a:t>
                      </a:r>
                      <a:endParaRPr sz="1050"/>
                    </a:p>
                  </a:txBody>
                  <a:tcPr marL="9525" marR="9525" marT="9525" marB="0" anchor="ctr"/>
                </a:tc>
                <a:extLst>
                  <a:ext uri="{0D108BD9-81ED-4DB2-BD59-A6C34878D82A}">
                    <a16:rowId xmlns:a16="http://schemas.microsoft.com/office/drawing/2014/main" val="10012"/>
                  </a:ext>
                </a:extLst>
              </a:tr>
              <a:tr h="169606">
                <a:tc>
                  <a:txBody>
                    <a:bodyPr/>
                    <a:lstStyle/>
                    <a:p>
                      <a:pPr algn="l"/>
                      <a:r>
                        <a:rPr sz="1050" b="0" i="0">
                          <a:solidFill>
                            <a:srgbClr val="000000"/>
                          </a:solidFill>
                          <a:latin typeface="Calibri"/>
                        </a:rPr>
                        <a:t>Figure 138: Canada Market Value by Customization, US$ Mn, 2026 and 2036</a:t>
                      </a:r>
                      <a:endParaRPr sz="1050"/>
                    </a:p>
                  </a:txBody>
                  <a:tcPr marL="9525" marR="9525" marT="9525" marB="0" anchor="ctr"/>
                </a:tc>
                <a:extLst>
                  <a:ext uri="{0D108BD9-81ED-4DB2-BD59-A6C34878D82A}">
                    <a16:rowId xmlns:a16="http://schemas.microsoft.com/office/drawing/2014/main" val="10013"/>
                  </a:ext>
                </a:extLst>
              </a:tr>
              <a:tr h="169606">
                <a:tc>
                  <a:txBody>
                    <a:bodyPr/>
                    <a:lstStyle/>
                    <a:p>
                      <a:pPr algn="l"/>
                      <a:r>
                        <a:rPr sz="1050" b="0" i="0">
                          <a:solidFill>
                            <a:srgbClr val="000000"/>
                          </a:solidFill>
                          <a:latin typeface="Calibri"/>
                        </a:rPr>
                        <a:t>Figure 139: China Market Value and YoY Growth, US$ Mn and %, 2021–2036</a:t>
                      </a:r>
                      <a:endParaRPr sz="1050"/>
                    </a:p>
                  </a:txBody>
                  <a:tcPr marL="9525" marR="9525" marT="9525" marB="0" anchor="ctr"/>
                </a:tc>
                <a:extLst>
                  <a:ext uri="{0D108BD9-81ED-4DB2-BD59-A6C34878D82A}">
                    <a16:rowId xmlns:a16="http://schemas.microsoft.com/office/drawing/2014/main" val="10014"/>
                  </a:ext>
                </a:extLst>
              </a:tr>
              <a:tr h="169606">
                <a:tc>
                  <a:txBody>
                    <a:bodyPr/>
                    <a:lstStyle/>
                    <a:p>
                      <a:pPr algn="l"/>
                      <a:r>
                        <a:rPr sz="1050" b="0" i="0">
                          <a:solidFill>
                            <a:srgbClr val="000000"/>
                          </a:solidFill>
                          <a:latin typeface="Calibri"/>
                        </a:rPr>
                        <a:t>Figure 140: China Market Value by Partition Type, US$ Mn, 2026 and 2036</a:t>
                      </a:r>
                      <a:endParaRPr sz="1050"/>
                    </a:p>
                  </a:txBody>
                  <a:tcPr marL="9525" marR="9525" marT="9525" marB="0" anchor="ctr"/>
                </a:tc>
                <a:extLst>
                  <a:ext uri="{0D108BD9-81ED-4DB2-BD59-A6C34878D82A}">
                    <a16:rowId xmlns:a16="http://schemas.microsoft.com/office/drawing/2014/main" val="10015"/>
                  </a:ext>
                </a:extLst>
              </a:tr>
              <a:tr h="169606">
                <a:tc>
                  <a:txBody>
                    <a:bodyPr/>
                    <a:lstStyle/>
                    <a:p>
                      <a:pPr algn="l"/>
                      <a:r>
                        <a:rPr sz="1050" b="0" i="0">
                          <a:solidFill>
                            <a:srgbClr val="000000"/>
                          </a:solidFill>
                          <a:latin typeface="Calibri"/>
                        </a:rPr>
                        <a:t>Figure 141: China Market Value by End Use, US$ Mn, 2026 and 2036</a:t>
                      </a:r>
                      <a:endParaRPr sz="1050"/>
                    </a:p>
                  </a:txBody>
                  <a:tcPr marL="9525" marR="9525" marT="9525" marB="0" anchor="ctr"/>
                </a:tc>
                <a:extLst>
                  <a:ext uri="{0D108BD9-81ED-4DB2-BD59-A6C34878D82A}">
                    <a16:rowId xmlns:a16="http://schemas.microsoft.com/office/drawing/2014/main" val="10016"/>
                  </a:ext>
                </a:extLst>
              </a:tr>
              <a:tr h="169606">
                <a:tc>
                  <a:txBody>
                    <a:bodyPr/>
                    <a:lstStyle/>
                    <a:p>
                      <a:pPr algn="l"/>
                      <a:r>
                        <a:rPr sz="1050" b="0" i="0">
                          <a:solidFill>
                            <a:srgbClr val="000000"/>
                          </a:solidFill>
                          <a:latin typeface="Calibri"/>
                        </a:rPr>
                        <a:t>Figure 142: India Market Value and YoY Growth, US$ Mn and %, 2021–2036</a:t>
                      </a:r>
                      <a:endParaRPr sz="1050"/>
                    </a:p>
                  </a:txBody>
                  <a:tcPr marL="9525" marR="9525" marT="9525" marB="0" anchor="ctr"/>
                </a:tc>
                <a:extLst>
                  <a:ext uri="{0D108BD9-81ED-4DB2-BD59-A6C34878D82A}">
                    <a16:rowId xmlns:a16="http://schemas.microsoft.com/office/drawing/2014/main" val="10017"/>
                  </a:ext>
                </a:extLst>
              </a:tr>
              <a:tr h="169606">
                <a:tc>
                  <a:txBody>
                    <a:bodyPr/>
                    <a:lstStyle/>
                    <a:p>
                      <a:pPr algn="l"/>
                      <a:r>
                        <a:rPr sz="1050" b="0" i="0">
                          <a:solidFill>
                            <a:srgbClr val="000000"/>
                          </a:solidFill>
                          <a:latin typeface="Calibri"/>
                        </a:rPr>
                        <a:t>Figure 143: India Market Value by Partition Type, US$ Mn, 2026 and 2036</a:t>
                      </a:r>
                      <a:endParaRPr sz="1050"/>
                    </a:p>
                  </a:txBody>
                  <a:tcPr marL="9525" marR="9525" marT="9525" marB="0" anchor="ctr"/>
                </a:tc>
                <a:extLst>
                  <a:ext uri="{0D108BD9-81ED-4DB2-BD59-A6C34878D82A}">
                    <a16:rowId xmlns:a16="http://schemas.microsoft.com/office/drawing/2014/main" val="10018"/>
                  </a:ext>
                </a:extLst>
              </a:tr>
              <a:tr h="169606">
                <a:tc>
                  <a:txBody>
                    <a:bodyPr/>
                    <a:lstStyle/>
                    <a:p>
                      <a:pPr algn="l"/>
                      <a:r>
                        <a:rPr sz="1050" b="0" i="0">
                          <a:solidFill>
                            <a:srgbClr val="000000"/>
                          </a:solidFill>
                          <a:latin typeface="Calibri"/>
                        </a:rPr>
                        <a:t>Figure 144: Brazil Market Value and YoY Growth, US$ Mn and %, 2021–2036</a:t>
                      </a:r>
                      <a:endParaRPr sz="1050"/>
                    </a:p>
                  </a:txBody>
                  <a:tcPr marL="9525" marR="9525" marT="9525" marB="0" anchor="ctr"/>
                </a:tc>
                <a:extLst>
                  <a:ext uri="{0D108BD9-81ED-4DB2-BD59-A6C34878D82A}">
                    <a16:rowId xmlns:a16="http://schemas.microsoft.com/office/drawing/2014/main" val="10019"/>
                  </a:ext>
                </a:extLst>
              </a:tr>
              <a:tr h="169606">
                <a:tc>
                  <a:txBody>
                    <a:bodyPr/>
                    <a:lstStyle/>
                    <a:p>
                      <a:pPr algn="l"/>
                      <a:r>
                        <a:rPr sz="1050" b="0" i="0">
                          <a:solidFill>
                            <a:srgbClr val="000000"/>
                          </a:solidFill>
                          <a:latin typeface="Calibri"/>
                        </a:rPr>
                        <a:t>Figure 145: Brazil Market Value by Partition Type, US$ Mn, 2026 and 2036</a:t>
                      </a:r>
                      <a:endParaRPr sz="1050"/>
                    </a:p>
                  </a:txBody>
                  <a:tcPr marL="9525" marR="9525" marT="9525" marB="0" anchor="ctr"/>
                </a:tc>
                <a:extLst>
                  <a:ext uri="{0D108BD9-81ED-4DB2-BD59-A6C34878D82A}">
                    <a16:rowId xmlns:a16="http://schemas.microsoft.com/office/drawing/2014/main" val="10020"/>
                  </a:ext>
                </a:extLst>
              </a:tr>
              <a:tr h="169606">
                <a:tc>
                  <a:txBody>
                    <a:bodyPr/>
                    <a:lstStyle/>
                    <a:p>
                      <a:pPr algn="l"/>
                      <a:r>
                        <a:rPr sz="1050" b="0" i="0">
                          <a:solidFill>
                            <a:srgbClr val="000000"/>
                          </a:solidFill>
                          <a:latin typeface="Calibri"/>
                        </a:rPr>
                        <a:t>Figure 146: U.K. Market Value and YoY Growth, US$ Mn and %, 2021–2036</a:t>
                      </a:r>
                      <a:endParaRPr sz="1050"/>
                    </a:p>
                  </a:txBody>
                  <a:tcPr marL="9525" marR="9525" marT="9525" marB="0" anchor="ctr"/>
                </a:tc>
                <a:extLst>
                  <a:ext uri="{0D108BD9-81ED-4DB2-BD59-A6C34878D82A}">
                    <a16:rowId xmlns:a16="http://schemas.microsoft.com/office/drawing/2014/main" val="10021"/>
                  </a:ext>
                </a:extLst>
              </a:tr>
              <a:tr h="169606">
                <a:tc>
                  <a:txBody>
                    <a:bodyPr/>
                    <a:lstStyle/>
                    <a:p>
                      <a:pPr algn="l"/>
                      <a:r>
                        <a:rPr sz="1050" b="0" i="0">
                          <a:solidFill>
                            <a:srgbClr val="000000"/>
                          </a:solidFill>
                          <a:latin typeface="Calibri"/>
                        </a:rPr>
                        <a:t>Figure 147: U.K. Market Value by Partition Type, US$ Mn, 2026 and 2036</a:t>
                      </a:r>
                      <a:endParaRPr sz="1050"/>
                    </a:p>
                  </a:txBody>
                  <a:tcPr marL="9525" marR="9525" marT="9525" marB="0" anchor="ctr"/>
                </a:tc>
                <a:extLst>
                  <a:ext uri="{0D108BD9-81ED-4DB2-BD59-A6C34878D82A}">
                    <a16:rowId xmlns:a16="http://schemas.microsoft.com/office/drawing/2014/main" val="10022"/>
                  </a:ext>
                </a:extLst>
              </a:tr>
              <a:tr h="169606">
                <a:tc>
                  <a:txBody>
                    <a:bodyPr/>
                    <a:lstStyle/>
                    <a:p>
                      <a:pPr algn="l"/>
                      <a:r>
                        <a:rPr sz="1050" b="0" i="0">
                          <a:solidFill>
                            <a:srgbClr val="000000"/>
                          </a:solidFill>
                          <a:latin typeface="Calibri"/>
                        </a:rPr>
                        <a:t>Figure 148: Japan Market Value and YoY Growth, US$ Mn and %, 2021–2036</a:t>
                      </a:r>
                      <a:endParaRPr sz="1050"/>
                    </a:p>
                  </a:txBody>
                  <a:tcPr marL="9525" marR="9525" marT="9525" marB="0" anchor="ctr"/>
                </a:tc>
                <a:extLst>
                  <a:ext uri="{0D108BD9-81ED-4DB2-BD59-A6C34878D82A}">
                    <a16:rowId xmlns:a16="http://schemas.microsoft.com/office/drawing/2014/main" val="10023"/>
                  </a:ext>
                </a:extLst>
              </a:tr>
              <a:tr h="169606">
                <a:tc>
                  <a:txBody>
                    <a:bodyPr/>
                    <a:lstStyle/>
                    <a:p>
                      <a:pPr algn="l"/>
                      <a:r>
                        <a:rPr sz="1050" b="0" i="0">
                          <a:solidFill>
                            <a:srgbClr val="000000"/>
                          </a:solidFill>
                          <a:latin typeface="Calibri"/>
                        </a:rPr>
                        <a:t>Figure 149: Japan Market Value by Partition Type, US$ Mn, 2026 and 2036</a:t>
                      </a:r>
                      <a:endParaRPr sz="1050"/>
                    </a:p>
                  </a:txBody>
                  <a:tcPr marL="9525" marR="9525" marT="9525" marB="0" anchor="ctr"/>
                </a:tc>
                <a:extLst>
                  <a:ext uri="{0D108BD9-81ED-4DB2-BD59-A6C34878D82A}">
                    <a16:rowId xmlns:a16="http://schemas.microsoft.com/office/drawing/2014/main" val="10024"/>
                  </a:ext>
                </a:extLst>
              </a:tr>
              <a:tr h="169606">
                <a:tc>
                  <a:txBody>
                    <a:bodyPr/>
                    <a:lstStyle/>
                    <a:p>
                      <a:pPr algn="l"/>
                      <a:r>
                        <a:rPr sz="1050" b="0" i="0">
                          <a:solidFill>
                            <a:srgbClr val="000000"/>
                          </a:solidFill>
                          <a:latin typeface="Calibri"/>
                        </a:rPr>
                        <a:t>Figure 150: Global Market Average Selling Price Trend, US$/MT, 2021–2036</a:t>
                      </a:r>
                      <a:endParaRPr sz="1050"/>
                    </a:p>
                  </a:txBody>
                  <a:tcPr marL="9525" marR="9525" marT="9525" marB="0" anchor="ctr"/>
                </a:tc>
                <a:extLst>
                  <a:ext uri="{0D108BD9-81ED-4DB2-BD59-A6C34878D82A}">
                    <a16:rowId xmlns:a16="http://schemas.microsoft.com/office/drawing/2014/main" val="10025"/>
                  </a:ext>
                </a:extLst>
              </a:tr>
              <a:tr h="169606">
                <a:tc>
                  <a:txBody>
                    <a:bodyPr/>
                    <a:lstStyle/>
                    <a:p>
                      <a:pPr algn="l"/>
                      <a:r>
                        <a:rPr sz="1050" b="0" i="0">
                          <a:solidFill>
                            <a:srgbClr val="000000"/>
                          </a:solidFill>
                          <a:latin typeface="Calibri"/>
                        </a:rPr>
                        <a:t>Figure 151: Global Market Average Selling Price by Region, US$/MT, 2026 and 2036</a:t>
                      </a:r>
                      <a:endParaRPr sz="1050"/>
                    </a:p>
                  </a:txBody>
                  <a:tcPr marL="9525" marR="9525" marT="9525" marB="0" anchor="ctr"/>
                </a:tc>
                <a:extLst>
                  <a:ext uri="{0D108BD9-81ED-4DB2-BD59-A6C34878D82A}">
                    <a16:rowId xmlns:a16="http://schemas.microsoft.com/office/drawing/2014/main" val="10026"/>
                  </a:ext>
                </a:extLst>
              </a:tr>
              <a:tr h="169606">
                <a:tc>
                  <a:txBody>
                    <a:bodyPr/>
                    <a:lstStyle/>
                    <a:p>
                      <a:pPr algn="l"/>
                      <a:r>
                        <a:rPr sz="1050" b="0" i="0">
                          <a:solidFill>
                            <a:srgbClr val="000000"/>
                          </a:solidFill>
                          <a:latin typeface="Calibri"/>
                        </a:rPr>
                        <a:t>Figure 152: Global Market Average Selling Price by Partition Type, US$/MT, 2026 and 2036</a:t>
                      </a:r>
                      <a:endParaRPr sz="1050"/>
                    </a:p>
                  </a:txBody>
                  <a:tcPr marL="9525" marR="9525" marT="9525" marB="0" anchor="ctr"/>
                </a:tc>
                <a:extLst>
                  <a:ext uri="{0D108BD9-81ED-4DB2-BD59-A6C34878D82A}">
                    <a16:rowId xmlns:a16="http://schemas.microsoft.com/office/drawing/2014/main" val="10027"/>
                  </a:ext>
                </a:extLst>
              </a:tr>
              <a:tr h="169606">
                <a:tc>
                  <a:txBody>
                    <a:bodyPr/>
                    <a:lstStyle/>
                    <a:p>
                      <a:pPr algn="l"/>
                      <a:r>
                        <a:rPr sz="1050" b="0" i="0">
                          <a:solidFill>
                            <a:srgbClr val="000000"/>
                          </a:solidFill>
                          <a:latin typeface="Calibri"/>
                        </a:rPr>
                        <a:t>Figure 153: Global Market Average Selling Price by Board Construction, US$/MT, 2026 and 2036</a:t>
                      </a:r>
                      <a:endParaRPr sz="1050"/>
                    </a:p>
                  </a:txBody>
                  <a:tcPr marL="9525" marR="9525" marT="9525" marB="0" anchor="ctr"/>
                </a:tc>
                <a:extLst>
                  <a:ext uri="{0D108BD9-81ED-4DB2-BD59-A6C34878D82A}">
                    <a16:rowId xmlns:a16="http://schemas.microsoft.com/office/drawing/2014/main" val="10028"/>
                  </a:ext>
                </a:extLst>
              </a:tr>
              <a:tr h="169606">
                <a:tc>
                  <a:txBody>
                    <a:bodyPr/>
                    <a:lstStyle/>
                    <a:p>
                      <a:pPr algn="l"/>
                      <a:r>
                        <a:rPr sz="1050" b="0" i="0">
                          <a:solidFill>
                            <a:srgbClr val="000000"/>
                          </a:solidFill>
                          <a:latin typeface="Calibri"/>
                        </a:rPr>
                        <a:t>Figure 154: Global Market Average Selling Price by Material Source, US$/MT, 2026 and 2036</a:t>
                      </a:r>
                      <a:endParaRPr sz="1050"/>
                    </a:p>
                  </a:txBody>
                  <a:tcPr marL="9525" marR="9525" marT="9525" marB="0" anchor="ctr"/>
                </a:tc>
                <a:extLst>
                  <a:ext uri="{0D108BD9-81ED-4DB2-BD59-A6C34878D82A}">
                    <a16:rowId xmlns:a16="http://schemas.microsoft.com/office/drawing/2014/main" val="10029"/>
                  </a:ext>
                </a:extLst>
              </a:tr>
              <a:tr h="169606">
                <a:tc>
                  <a:txBody>
                    <a:bodyPr/>
                    <a:lstStyle/>
                    <a:p>
                      <a:pPr algn="l"/>
                      <a:r>
                        <a:rPr sz="1050" b="0" i="0">
                          <a:solidFill>
                            <a:srgbClr val="000000"/>
                          </a:solidFill>
                          <a:latin typeface="Calibri"/>
                        </a:rPr>
                        <a:t>Figure 155: Global Market Average Selling Price by Cell Configuration, US$/MT, 2026 and 2036</a:t>
                      </a:r>
                      <a:endParaRPr sz="1050"/>
                    </a:p>
                  </a:txBody>
                  <a:tcPr marL="9525" marR="9525" marT="9525" marB="0" anchor="ctr"/>
                </a:tc>
                <a:extLst>
                  <a:ext uri="{0D108BD9-81ED-4DB2-BD59-A6C34878D82A}">
                    <a16:rowId xmlns:a16="http://schemas.microsoft.com/office/drawing/2014/main" val="10030"/>
                  </a:ext>
                </a:extLst>
              </a:tr>
            </a:tbl>
          </a:graphicData>
        </a:graphic>
      </p:graphicFrame>
      <p:graphicFrame>
        <p:nvGraphicFramePr>
          <p:cNvPr id="10" name="FMI Contents Table"/>
          <p:cNvGraphicFramePr>
            <a:graphicFrameLocks noGrp="1"/>
          </p:cNvGraphicFramePr>
          <p:nvPr/>
        </p:nvGraphicFramePr>
        <p:xfrm>
          <a:off x="6172200" y="981075"/>
          <a:ext cx="5876925" cy="525781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0266">
                <a:tc>
                  <a:txBody>
                    <a:bodyPr/>
                    <a:lstStyle/>
                    <a:p>
                      <a:pPr algn="l"/>
                      <a:r>
                        <a:rPr sz="1050" b="0" i="0">
                          <a:solidFill>
                            <a:srgbClr val="000000"/>
                          </a:solidFill>
                          <a:latin typeface="Calibri"/>
                        </a:rPr>
                        <a:t>Figure 156: Global Market Average Selling Price by Customization, US$/MT, 2026 and 2036</a:t>
                      </a:r>
                      <a:endParaRPr sz="1050"/>
                    </a:p>
                  </a:txBody>
                  <a:tcPr marL="9525" marR="9525" marT="9525" marB="0" anchor="ctr"/>
                </a:tc>
                <a:extLst>
                  <a:ext uri="{0D108BD9-81ED-4DB2-BD59-A6C34878D82A}">
                    <a16:rowId xmlns:a16="http://schemas.microsoft.com/office/drawing/2014/main" val="10000"/>
                  </a:ext>
                </a:extLst>
              </a:tr>
              <a:tr h="170266">
                <a:tc>
                  <a:txBody>
                    <a:bodyPr/>
                    <a:lstStyle/>
                    <a:p>
                      <a:pPr algn="l"/>
                      <a:r>
                        <a:rPr sz="1050" b="0" i="0">
                          <a:solidFill>
                            <a:srgbClr val="000000"/>
                          </a:solidFill>
                          <a:latin typeface="Calibri"/>
                        </a:rPr>
                        <a:t>Figure 157: Global Market Average Selling Price by End Use, US$/MT, 2026 and 2036</a:t>
                      </a:r>
                      <a:endParaRPr sz="1050"/>
                    </a:p>
                  </a:txBody>
                  <a:tcPr marL="9525" marR="9525" marT="9525" marB="0" anchor="ctr"/>
                </a:tc>
                <a:extLst>
                  <a:ext uri="{0D108BD9-81ED-4DB2-BD59-A6C34878D82A}">
                    <a16:rowId xmlns:a16="http://schemas.microsoft.com/office/drawing/2014/main" val="10001"/>
                  </a:ext>
                </a:extLst>
              </a:tr>
              <a:tr h="170266">
                <a:tc>
                  <a:txBody>
                    <a:bodyPr/>
                    <a:lstStyle/>
                    <a:p>
                      <a:pPr algn="l"/>
                      <a:r>
                        <a:rPr sz="1050" b="0" i="0">
                          <a:solidFill>
                            <a:srgbClr val="000000"/>
                          </a:solidFill>
                          <a:latin typeface="Calibri"/>
                        </a:rPr>
                        <a:t>Figure 158: Global Market Average Selling Price by Sales Channel, US$/MT, 2026 and 2036</a:t>
                      </a:r>
                      <a:endParaRPr sz="1050"/>
                    </a:p>
                  </a:txBody>
                  <a:tcPr marL="9525" marR="9525" marT="9525" marB="0" anchor="ctr"/>
                </a:tc>
                <a:extLst>
                  <a:ext uri="{0D108BD9-81ED-4DB2-BD59-A6C34878D82A}">
                    <a16:rowId xmlns:a16="http://schemas.microsoft.com/office/drawing/2014/main" val="10002"/>
                  </a:ext>
                </a:extLst>
              </a:tr>
              <a:tr h="170266">
                <a:tc>
                  <a:txBody>
                    <a:bodyPr/>
                    <a:lstStyle/>
                    <a:p>
                      <a:pPr algn="l"/>
                      <a:r>
                        <a:rPr sz="1050" b="0" i="0">
                          <a:solidFill>
                            <a:srgbClr val="000000"/>
                          </a:solidFill>
                          <a:latin typeface="Calibri"/>
                        </a:rPr>
                        <a:t>Figure 159: Global Market Value Chain Structure, 2026</a:t>
                      </a:r>
                      <a:endParaRPr sz="1050"/>
                    </a:p>
                  </a:txBody>
                  <a:tcPr marL="9525" marR="9525" marT="9525" marB="0" anchor="ctr"/>
                </a:tc>
                <a:extLst>
                  <a:ext uri="{0D108BD9-81ED-4DB2-BD59-A6C34878D82A}">
                    <a16:rowId xmlns:a16="http://schemas.microsoft.com/office/drawing/2014/main" val="10003"/>
                  </a:ext>
                </a:extLst>
              </a:tr>
              <a:tr h="170266">
                <a:tc>
                  <a:txBody>
                    <a:bodyPr/>
                    <a:lstStyle/>
                    <a:p>
                      <a:pPr algn="l"/>
                      <a:r>
                        <a:rPr sz="1050" b="0" i="0">
                          <a:solidFill>
                            <a:srgbClr val="000000"/>
                          </a:solidFill>
                          <a:latin typeface="Calibri"/>
                        </a:rPr>
                        <a:t>Figure 160: Global Market Margin Distribution across the Value Chain, %, 2026</a:t>
                      </a:r>
                      <a:endParaRPr sz="1050"/>
                    </a:p>
                  </a:txBody>
                  <a:tcPr marL="9525" marR="9525" marT="9525" marB="0" anchor="ctr"/>
                </a:tc>
                <a:extLst>
                  <a:ext uri="{0D108BD9-81ED-4DB2-BD59-A6C34878D82A}">
                    <a16:rowId xmlns:a16="http://schemas.microsoft.com/office/drawing/2014/main" val="10004"/>
                  </a:ext>
                </a:extLst>
              </a:tr>
              <a:tr h="170266">
                <a:tc>
                  <a:txBody>
                    <a:bodyPr/>
                    <a:lstStyle/>
                    <a:p>
                      <a:pPr algn="l"/>
                      <a:r>
                        <a:rPr sz="1050" b="0" i="0">
                          <a:solidFill>
                            <a:srgbClr val="000000"/>
                          </a:solidFill>
                          <a:latin typeface="Calibri"/>
                        </a:rPr>
                        <a:t>Figure 161: Global Market Cost Structure Breakdown, %, 2026</a:t>
                      </a:r>
                      <a:endParaRPr sz="1050"/>
                    </a:p>
                  </a:txBody>
                  <a:tcPr marL="9525" marR="9525" marT="9525" marB="0" anchor="ctr"/>
                </a:tc>
                <a:extLst>
                  <a:ext uri="{0D108BD9-81ED-4DB2-BD59-A6C34878D82A}">
                    <a16:rowId xmlns:a16="http://schemas.microsoft.com/office/drawing/2014/main" val="10005"/>
                  </a:ext>
                </a:extLst>
              </a:tr>
              <a:tr h="170266">
                <a:tc>
                  <a:txBody>
                    <a:bodyPr/>
                    <a:lstStyle/>
                    <a:p>
                      <a:pPr algn="l"/>
                      <a:r>
                        <a:rPr sz="1050" b="0" i="0">
                          <a:solidFill>
                            <a:srgbClr val="000000"/>
                          </a:solidFill>
                          <a:latin typeface="Calibri"/>
                        </a:rPr>
                        <a:t>Figure 162: Global Market Pricing Pressure Assessment by Partition Type, 2026–2036</a:t>
                      </a:r>
                      <a:endParaRPr sz="1050"/>
                    </a:p>
                  </a:txBody>
                  <a:tcPr marL="9525" marR="9525" marT="9525" marB="0" anchor="ctr"/>
                </a:tc>
                <a:extLst>
                  <a:ext uri="{0D108BD9-81ED-4DB2-BD59-A6C34878D82A}">
                    <a16:rowId xmlns:a16="http://schemas.microsoft.com/office/drawing/2014/main" val="10006"/>
                  </a:ext>
                </a:extLst>
              </a:tr>
              <a:tr h="170266">
                <a:tc>
                  <a:txBody>
                    <a:bodyPr/>
                    <a:lstStyle/>
                    <a:p>
                      <a:pPr algn="l"/>
                      <a:r>
                        <a:rPr sz="1050" b="0" i="0">
                          <a:solidFill>
                            <a:srgbClr val="000000"/>
                          </a:solidFill>
                          <a:latin typeface="Calibri"/>
                        </a:rPr>
                        <a:t>Figure 163: Company Market Share in the Global Market, %, 2026</a:t>
                      </a:r>
                      <a:endParaRPr sz="1050"/>
                    </a:p>
                  </a:txBody>
                  <a:tcPr marL="9525" marR="9525" marT="9525" marB="0" anchor="ctr"/>
                </a:tc>
                <a:extLst>
                  <a:ext uri="{0D108BD9-81ED-4DB2-BD59-A6C34878D82A}">
                    <a16:rowId xmlns:a16="http://schemas.microsoft.com/office/drawing/2014/main" val="10007"/>
                  </a:ext>
                </a:extLst>
              </a:tr>
              <a:tr h="170266">
                <a:tc>
                  <a:txBody>
                    <a:bodyPr/>
                    <a:lstStyle/>
                    <a:p>
                      <a:pPr algn="l"/>
                      <a:r>
                        <a:rPr sz="1050" b="0" i="0">
                          <a:solidFill>
                            <a:srgbClr val="000000"/>
                          </a:solidFill>
                          <a:latin typeface="Calibri"/>
                        </a:rPr>
                        <a:t>Figure 164: Competitive Positioning of Leading Corrugated Partition Manufacturers, 2026</a:t>
                      </a:r>
                      <a:endParaRPr sz="1050"/>
                    </a:p>
                  </a:txBody>
                  <a:tcPr marL="9525" marR="9525" marT="9525" marB="0" anchor="ctr"/>
                </a:tc>
                <a:extLst>
                  <a:ext uri="{0D108BD9-81ED-4DB2-BD59-A6C34878D82A}">
                    <a16:rowId xmlns:a16="http://schemas.microsoft.com/office/drawing/2014/main" val="10008"/>
                  </a:ext>
                </a:extLst>
              </a:tr>
              <a:tr h="170266">
                <a:tc>
                  <a:txBody>
                    <a:bodyPr/>
                    <a:lstStyle/>
                    <a:p>
                      <a:pPr algn="l"/>
                      <a:r>
                        <a:rPr sz="1050" b="0" i="0">
                          <a:solidFill>
                            <a:srgbClr val="000000"/>
                          </a:solidFill>
                          <a:latin typeface="Calibri"/>
                        </a:rPr>
                        <a:t>Figure 165: Company Revenue from the Global Market, US$ Mn, 2026</a:t>
                      </a:r>
                      <a:endParaRPr sz="1050"/>
                    </a:p>
                  </a:txBody>
                  <a:tcPr marL="9525" marR="9525" marT="9525" marB="0" anchor="ctr"/>
                </a:tc>
                <a:extLst>
                  <a:ext uri="{0D108BD9-81ED-4DB2-BD59-A6C34878D82A}">
                    <a16:rowId xmlns:a16="http://schemas.microsoft.com/office/drawing/2014/main" val="10009"/>
                  </a:ext>
                </a:extLst>
              </a:tr>
              <a:tr h="170266">
                <a:tc>
                  <a:txBody>
                    <a:bodyPr/>
                    <a:lstStyle/>
                    <a:p>
                      <a:pPr algn="l"/>
                      <a:r>
                        <a:rPr sz="1050" b="0" i="0">
                          <a:solidFill>
                            <a:srgbClr val="000000"/>
                          </a:solidFill>
                          <a:latin typeface="Calibri"/>
                        </a:rPr>
                        <a:t>Figure 166: Global Market Concentration by Company Tier, %, 2026</a:t>
                      </a:r>
                      <a:endParaRPr sz="1050"/>
                    </a:p>
                  </a:txBody>
                  <a:tcPr marL="9525" marR="9525" marT="9525" marB="0" anchor="ctr"/>
                </a:tc>
                <a:extLst>
                  <a:ext uri="{0D108BD9-81ED-4DB2-BD59-A6C34878D82A}">
                    <a16:rowId xmlns:a16="http://schemas.microsoft.com/office/drawing/2014/main" val="10010"/>
                  </a:ext>
                </a:extLst>
              </a:tr>
              <a:tr h="170266">
                <a:tc>
                  <a:txBody>
                    <a:bodyPr/>
                    <a:lstStyle/>
                    <a:p>
                      <a:pPr algn="l"/>
                      <a:r>
                        <a:rPr sz="1050" b="0" i="0">
                          <a:solidFill>
                            <a:srgbClr val="000000"/>
                          </a:solidFill>
                          <a:latin typeface="Calibri"/>
                        </a:rPr>
                        <a:t>Figure 167: Global Market Competitive Intensity Assessment, 2026</a:t>
                      </a:r>
                      <a:endParaRPr sz="1050"/>
                    </a:p>
                  </a:txBody>
                  <a:tcPr marL="9525" marR="9525" marT="9525" marB="0" anchor="ctr"/>
                </a:tc>
                <a:extLst>
                  <a:ext uri="{0D108BD9-81ED-4DB2-BD59-A6C34878D82A}">
                    <a16:rowId xmlns:a16="http://schemas.microsoft.com/office/drawing/2014/main" val="10011"/>
                  </a:ext>
                </a:extLst>
              </a:tr>
              <a:tr h="170266">
                <a:tc>
                  <a:txBody>
                    <a:bodyPr/>
                    <a:lstStyle/>
                    <a:p>
                      <a:pPr algn="l"/>
                      <a:r>
                        <a:rPr sz="1050" b="0" i="0">
                          <a:solidFill>
                            <a:srgbClr val="000000"/>
                          </a:solidFill>
                          <a:latin typeface="Calibri"/>
                        </a:rPr>
                        <a:t>Figure 168: Company Market Share in the North America Market, %, 2026</a:t>
                      </a:r>
                      <a:endParaRPr sz="1050"/>
                    </a:p>
                  </a:txBody>
                  <a:tcPr marL="9525" marR="9525" marT="9525" marB="0" anchor="ctr"/>
                </a:tc>
                <a:extLst>
                  <a:ext uri="{0D108BD9-81ED-4DB2-BD59-A6C34878D82A}">
                    <a16:rowId xmlns:a16="http://schemas.microsoft.com/office/drawing/2014/main" val="10012"/>
                  </a:ext>
                </a:extLst>
              </a:tr>
              <a:tr h="170266">
                <a:tc>
                  <a:txBody>
                    <a:bodyPr/>
                    <a:lstStyle/>
                    <a:p>
                      <a:pPr algn="l"/>
                      <a:r>
                        <a:rPr sz="1050" b="0" i="0">
                          <a:solidFill>
                            <a:srgbClr val="000000"/>
                          </a:solidFill>
                          <a:latin typeface="Calibri"/>
                        </a:rPr>
                        <a:t>Figure 169: Company Market Share in the Latin America Market, %, 2026</a:t>
                      </a:r>
                      <a:endParaRPr sz="1050"/>
                    </a:p>
                  </a:txBody>
                  <a:tcPr marL="9525" marR="9525" marT="9525" marB="0" anchor="ctr"/>
                </a:tc>
                <a:extLst>
                  <a:ext uri="{0D108BD9-81ED-4DB2-BD59-A6C34878D82A}">
                    <a16:rowId xmlns:a16="http://schemas.microsoft.com/office/drawing/2014/main" val="10013"/>
                  </a:ext>
                </a:extLst>
              </a:tr>
              <a:tr h="170266">
                <a:tc>
                  <a:txBody>
                    <a:bodyPr/>
                    <a:lstStyle/>
                    <a:p>
                      <a:pPr algn="l"/>
                      <a:r>
                        <a:rPr sz="1050" b="0" i="0">
                          <a:solidFill>
                            <a:srgbClr val="000000"/>
                          </a:solidFill>
                          <a:latin typeface="Calibri"/>
                        </a:rPr>
                        <a:t>Figure 170: Company Market Share in the Europe Market, %, 2026</a:t>
                      </a:r>
                      <a:endParaRPr sz="1050"/>
                    </a:p>
                  </a:txBody>
                  <a:tcPr marL="9525" marR="9525" marT="9525" marB="0" anchor="ctr"/>
                </a:tc>
                <a:extLst>
                  <a:ext uri="{0D108BD9-81ED-4DB2-BD59-A6C34878D82A}">
                    <a16:rowId xmlns:a16="http://schemas.microsoft.com/office/drawing/2014/main" val="10014"/>
                  </a:ext>
                </a:extLst>
              </a:tr>
              <a:tr h="170266">
                <a:tc>
                  <a:txBody>
                    <a:bodyPr/>
                    <a:lstStyle/>
                    <a:p>
                      <a:pPr algn="l"/>
                      <a:r>
                        <a:rPr sz="1050" b="0" i="0">
                          <a:solidFill>
                            <a:srgbClr val="000000"/>
                          </a:solidFill>
                          <a:latin typeface="Calibri"/>
                        </a:rPr>
                        <a:t>Figure 171: Company Market Share in the East Asia Market, %, 2026</a:t>
                      </a:r>
                      <a:endParaRPr sz="1050"/>
                    </a:p>
                  </a:txBody>
                  <a:tcPr marL="9525" marR="9525" marT="9525" marB="0" anchor="ctr"/>
                </a:tc>
                <a:extLst>
                  <a:ext uri="{0D108BD9-81ED-4DB2-BD59-A6C34878D82A}">
                    <a16:rowId xmlns:a16="http://schemas.microsoft.com/office/drawing/2014/main" val="10015"/>
                  </a:ext>
                </a:extLst>
              </a:tr>
              <a:tr h="170266">
                <a:tc>
                  <a:txBody>
                    <a:bodyPr/>
                    <a:lstStyle/>
                    <a:p>
                      <a:pPr algn="l"/>
                      <a:r>
                        <a:rPr sz="1050" b="0" i="0">
                          <a:solidFill>
                            <a:srgbClr val="000000"/>
                          </a:solidFill>
                          <a:latin typeface="Calibri"/>
                        </a:rPr>
                        <a:t>Figure 172: Company Market Share in the South Asia &amp; Pacific Market, %, 2026</a:t>
                      </a:r>
                      <a:endParaRPr sz="1050"/>
                    </a:p>
                  </a:txBody>
                  <a:tcPr marL="9525" marR="9525" marT="9525" marB="0" anchor="ctr"/>
                </a:tc>
                <a:extLst>
                  <a:ext uri="{0D108BD9-81ED-4DB2-BD59-A6C34878D82A}">
                    <a16:rowId xmlns:a16="http://schemas.microsoft.com/office/drawing/2014/main" val="10016"/>
                  </a:ext>
                </a:extLst>
              </a:tr>
              <a:tr h="170266">
                <a:tc>
                  <a:txBody>
                    <a:bodyPr/>
                    <a:lstStyle/>
                    <a:p>
                      <a:pPr algn="l"/>
                      <a:r>
                        <a:rPr sz="1050" b="0" i="0">
                          <a:solidFill>
                            <a:srgbClr val="000000"/>
                          </a:solidFill>
                          <a:latin typeface="Calibri"/>
                        </a:rPr>
                        <a:t>Figure 173: Company Market Share in the Middle East &amp; Africa Market, %, 2026</a:t>
                      </a:r>
                      <a:endParaRPr sz="1050"/>
                    </a:p>
                  </a:txBody>
                  <a:tcPr marL="9525" marR="9525" marT="9525" marB="0" anchor="ctr"/>
                </a:tc>
                <a:extLst>
                  <a:ext uri="{0D108BD9-81ED-4DB2-BD59-A6C34878D82A}">
                    <a16:rowId xmlns:a16="http://schemas.microsoft.com/office/drawing/2014/main" val="10017"/>
                  </a:ext>
                </a:extLst>
              </a:tr>
              <a:tr h="170266">
                <a:tc>
                  <a:txBody>
                    <a:bodyPr/>
                    <a:lstStyle/>
                    <a:p>
                      <a:pPr algn="l"/>
                      <a:r>
                        <a:rPr sz="1050" b="0" i="0">
                          <a:solidFill>
                            <a:srgbClr val="000000"/>
                          </a:solidFill>
                          <a:latin typeface="Calibri"/>
                        </a:rPr>
                        <a:t>Figure 174: Multicell Packaging Inc.: Revenue from the Global Market and Share, US$ Mn and %, 2026</a:t>
                      </a:r>
                      <a:endParaRPr sz="1050"/>
                    </a:p>
                  </a:txBody>
                  <a:tcPr marL="9525" marR="9525" marT="9525" marB="0" anchor="ctr"/>
                </a:tc>
                <a:extLst>
                  <a:ext uri="{0D108BD9-81ED-4DB2-BD59-A6C34878D82A}">
                    <a16:rowId xmlns:a16="http://schemas.microsoft.com/office/drawing/2014/main" val="10018"/>
                  </a:ext>
                </a:extLst>
              </a:tr>
              <a:tr h="170266">
                <a:tc>
                  <a:txBody>
                    <a:bodyPr/>
                    <a:lstStyle/>
                    <a:p>
                      <a:pPr algn="l"/>
                      <a:r>
                        <a:rPr sz="1050" b="0" i="0">
                          <a:solidFill>
                            <a:srgbClr val="000000"/>
                          </a:solidFill>
                          <a:latin typeface="Calibri"/>
                        </a:rPr>
                        <a:t>Figure 175: Company: Revenue from the Global Market and Share, US$ Mn and %, 2026</a:t>
                      </a:r>
                      <a:endParaRPr sz="1050"/>
                    </a:p>
                  </a:txBody>
                  <a:tcPr marL="9525" marR="9525" marT="9525" marB="0" anchor="ctr"/>
                </a:tc>
                <a:extLst>
                  <a:ext uri="{0D108BD9-81ED-4DB2-BD59-A6C34878D82A}">
                    <a16:rowId xmlns:a16="http://schemas.microsoft.com/office/drawing/2014/main" val="10019"/>
                  </a:ext>
                </a:extLst>
              </a:tr>
              <a:tr h="333720">
                <a:tc>
                  <a:txBody>
                    <a:bodyPr/>
                    <a:lstStyle/>
                    <a:p>
                      <a:pPr algn="l"/>
                      <a:r>
                        <a:rPr sz="1050" b="0" i="0">
                          <a:solidFill>
                            <a:srgbClr val="000000"/>
                          </a:solidFill>
                          <a:latin typeface="Calibri"/>
                        </a:rPr>
                        <a:t>Figure 176: Great American Paper Inc.: Revenue from the Global Market and Share, US$ Mn and %, 2026</a:t>
                      </a:r>
                      <a:endParaRPr sz="1050"/>
                    </a:p>
                  </a:txBody>
                  <a:tcPr marL="9525" marR="9525" marT="9525" marB="0" anchor="ctr"/>
                </a:tc>
                <a:extLst>
                  <a:ext uri="{0D108BD9-81ED-4DB2-BD59-A6C34878D82A}">
                    <a16:rowId xmlns:a16="http://schemas.microsoft.com/office/drawing/2014/main" val="10020"/>
                  </a:ext>
                </a:extLst>
              </a:tr>
              <a:tr h="170266">
                <a:tc>
                  <a:txBody>
                    <a:bodyPr/>
                    <a:lstStyle/>
                    <a:p>
                      <a:pPr algn="l"/>
                      <a:r>
                        <a:rPr sz="1050" b="0" i="0">
                          <a:solidFill>
                            <a:srgbClr val="000000"/>
                          </a:solidFill>
                          <a:latin typeface="Calibri"/>
                        </a:rPr>
                        <a:t>Figure 177: Interpack Inc.: Revenue from the Global Market and Share, US$ Mn and %, 2026</a:t>
                      </a:r>
                      <a:endParaRPr sz="1050"/>
                    </a:p>
                  </a:txBody>
                  <a:tcPr marL="9525" marR="9525" marT="9525" marB="0" anchor="ctr"/>
                </a:tc>
                <a:extLst>
                  <a:ext uri="{0D108BD9-81ED-4DB2-BD59-A6C34878D82A}">
                    <a16:rowId xmlns:a16="http://schemas.microsoft.com/office/drawing/2014/main" val="10021"/>
                  </a:ext>
                </a:extLst>
              </a:tr>
              <a:tr h="170266">
                <a:tc>
                  <a:txBody>
                    <a:bodyPr/>
                    <a:lstStyle/>
                    <a:p>
                      <a:pPr algn="l"/>
                      <a:r>
                        <a:rPr sz="1050" b="0" i="0">
                          <a:solidFill>
                            <a:srgbClr val="000000"/>
                          </a:solidFill>
                          <a:latin typeface="Calibri"/>
                        </a:rPr>
                        <a:t>Figure 178: Caps Cases Ltd.: Revenue from the Global Market and Share, US$ Mn and %, 2026</a:t>
                      </a:r>
                      <a:endParaRPr sz="1050"/>
                    </a:p>
                  </a:txBody>
                  <a:tcPr marL="9525" marR="9525" marT="9525" marB="0" anchor="ctr"/>
                </a:tc>
                <a:extLst>
                  <a:ext uri="{0D108BD9-81ED-4DB2-BD59-A6C34878D82A}">
                    <a16:rowId xmlns:a16="http://schemas.microsoft.com/office/drawing/2014/main" val="10022"/>
                  </a:ext>
                </a:extLst>
              </a:tr>
              <a:tr h="333720">
                <a:tc>
                  <a:txBody>
                    <a:bodyPr/>
                    <a:lstStyle/>
                    <a:p>
                      <a:pPr algn="l"/>
                      <a:r>
                        <a:rPr sz="1050" b="0" i="0">
                          <a:solidFill>
                            <a:srgbClr val="000000"/>
                          </a:solidFill>
                          <a:latin typeface="Calibri"/>
                        </a:rPr>
                        <a:t>Figure 179: M &amp; M Box &amp; Partitions Co.: Revenue from the Global Market and Share, US$ Mn and %, 2026</a:t>
                      </a:r>
                      <a:endParaRPr sz="1050"/>
                    </a:p>
                  </a:txBody>
                  <a:tcPr marL="9525" marR="9525" marT="9525" marB="0" anchor="ctr"/>
                </a:tc>
                <a:extLst>
                  <a:ext uri="{0D108BD9-81ED-4DB2-BD59-A6C34878D82A}">
                    <a16:rowId xmlns:a16="http://schemas.microsoft.com/office/drawing/2014/main" val="10023"/>
                  </a:ext>
                </a:extLst>
              </a:tr>
              <a:tr h="170266">
                <a:tc>
                  <a:txBody>
                    <a:bodyPr/>
                    <a:lstStyle/>
                    <a:p>
                      <a:pPr algn="l"/>
                      <a:r>
                        <a:rPr sz="1050" b="0" i="0">
                          <a:solidFill>
                            <a:srgbClr val="000000"/>
                          </a:solidFill>
                          <a:latin typeface="Calibri"/>
                        </a:rPr>
                        <a:t>Figure 180: Martin Partitions: Revenue from the Global Market and Share, US$ Mn and %, 2026</a:t>
                      </a:r>
                      <a:endParaRPr sz="1050"/>
                    </a:p>
                  </a:txBody>
                  <a:tcPr marL="9525" marR="9525" marT="9525" marB="0" anchor="ctr"/>
                </a:tc>
                <a:extLst>
                  <a:ext uri="{0D108BD9-81ED-4DB2-BD59-A6C34878D82A}">
                    <a16:rowId xmlns:a16="http://schemas.microsoft.com/office/drawing/2014/main" val="10024"/>
                  </a:ext>
                </a:extLst>
              </a:tr>
              <a:tr h="170266">
                <a:tc>
                  <a:txBody>
                    <a:bodyPr/>
                    <a:lstStyle/>
                    <a:p>
                      <a:pPr algn="l"/>
                      <a:r>
                        <a:rPr sz="1050" b="0" i="0">
                          <a:solidFill>
                            <a:srgbClr val="000000"/>
                          </a:solidFill>
                          <a:latin typeface="Calibri"/>
                        </a:rPr>
                        <a:t>Figure 181: Buckeye Corrugated Inc.: Revenue from the Global Market and Share, US$ Mn and %, 2026</a:t>
                      </a:r>
                      <a:endParaRPr sz="1050"/>
                    </a:p>
                  </a:txBody>
                  <a:tcPr marL="9525" marR="9525" marT="9525" marB="0" anchor="ctr"/>
                </a:tc>
                <a:extLst>
                  <a:ext uri="{0D108BD9-81ED-4DB2-BD59-A6C34878D82A}">
                    <a16:rowId xmlns:a16="http://schemas.microsoft.com/office/drawing/2014/main" val="10025"/>
                  </a:ext>
                </a:extLst>
              </a:tr>
              <a:tr h="333720">
                <a:tc>
                  <a:txBody>
                    <a:bodyPr/>
                    <a:lstStyle/>
                    <a:p>
                      <a:pPr algn="l"/>
                      <a:r>
                        <a:rPr sz="1050" b="0" i="0">
                          <a:solidFill>
                            <a:srgbClr val="000000"/>
                          </a:solidFill>
                          <a:latin typeface="Calibri"/>
                        </a:rPr>
                        <a:t>Figure 182: Cactus Corrugated Containers Inc.: Revenue from the Global Market and Share, US$ Mn and %, 2026</a:t>
                      </a:r>
                      <a:endParaRPr sz="1050"/>
                    </a:p>
                  </a:txBody>
                  <a:tcPr marL="9525" marR="9525" marT="9525" marB="0" anchor="ctr"/>
                </a:tc>
                <a:extLst>
                  <a:ext uri="{0D108BD9-81ED-4DB2-BD59-A6C34878D82A}">
                    <a16:rowId xmlns:a16="http://schemas.microsoft.com/office/drawing/2014/main" val="10026"/>
                  </a:ext>
                </a:extLst>
              </a:tr>
              <a:tr h="170266">
                <a:tc>
                  <a:txBody>
                    <a:bodyPr/>
                    <a:lstStyle/>
                    <a:p>
                      <a:pPr algn="l"/>
                      <a:r>
                        <a:rPr sz="1050" b="0" i="0">
                          <a:solidFill>
                            <a:srgbClr val="000000"/>
                          </a:solidFill>
                          <a:latin typeface="Calibri"/>
                        </a:rPr>
                        <a:t>Figure 183: Jarrett Industries Inc.: Revenue from the Global Market and Share, US$ Mn and %, 2026</a:t>
                      </a:r>
                      <a:endParaRPr sz="1050"/>
                    </a:p>
                  </a:txBody>
                  <a:tcPr marL="9525" marR="9525" marT="9525" marB="0" anchor="ctr"/>
                </a:tc>
                <a:extLst>
                  <a:ext uri="{0D108BD9-81ED-4DB2-BD59-A6C34878D82A}">
                    <a16:rowId xmlns:a16="http://schemas.microsoft.com/office/drawing/2014/main" val="10027"/>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2833696"/>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66688">
                <a:tc>
                  <a:txBody>
                    <a:bodyPr/>
                    <a:lstStyle/>
                    <a:p>
                      <a:pPr algn="l"/>
                      <a:r>
                        <a:rPr sz="1050" b="0" i="0">
                          <a:solidFill>
                            <a:srgbClr val="000000"/>
                          </a:solidFill>
                          <a:latin typeface="Calibri"/>
                        </a:rPr>
                        <a:t>Figure 184: Global Market Strategic Developments by Type, %, 2025–2026</a:t>
                      </a:r>
                      <a:endParaRPr sz="1050"/>
                    </a:p>
                  </a:txBody>
                  <a:tcPr marL="9525" marR="9525" marT="9525" marB="0" anchor="ctr"/>
                </a:tc>
                <a:extLst>
                  <a:ext uri="{0D108BD9-81ED-4DB2-BD59-A6C34878D82A}">
                    <a16:rowId xmlns:a16="http://schemas.microsoft.com/office/drawing/2014/main" val="10000"/>
                  </a:ext>
                </a:extLst>
              </a:tr>
              <a:tr h="166688">
                <a:tc>
                  <a:txBody>
                    <a:bodyPr/>
                    <a:lstStyle/>
                    <a:p>
                      <a:pPr algn="l"/>
                      <a:r>
                        <a:rPr sz="1050" b="0" i="0">
                          <a:solidFill>
                            <a:srgbClr val="000000"/>
                          </a:solidFill>
                          <a:latin typeface="Calibri"/>
                        </a:rPr>
                        <a:t>Figure 185: Global Market Value Forecast by Scenario, US$ Mn, 2026–2036</a:t>
                      </a:r>
                      <a:endParaRPr sz="1050"/>
                    </a:p>
                  </a:txBody>
                  <a:tcPr marL="9525" marR="9525" marT="9525" marB="0" anchor="ctr"/>
                </a:tc>
                <a:extLst>
                  <a:ext uri="{0D108BD9-81ED-4DB2-BD59-A6C34878D82A}">
                    <a16:rowId xmlns:a16="http://schemas.microsoft.com/office/drawing/2014/main" val="10001"/>
                  </a:ext>
                </a:extLst>
              </a:tr>
              <a:tr h="166688">
                <a:tc>
                  <a:txBody>
                    <a:bodyPr/>
                    <a:lstStyle/>
                    <a:p>
                      <a:pPr algn="l"/>
                      <a:r>
                        <a:rPr sz="1050" b="0" i="0">
                          <a:solidFill>
                            <a:srgbClr val="000000"/>
                          </a:solidFill>
                          <a:latin typeface="Calibri"/>
                        </a:rPr>
                        <a:t>Figure 186: Global Market YoY Growth by Scenario, %, 2026–2036</a:t>
                      </a:r>
                      <a:endParaRPr sz="1050"/>
                    </a:p>
                  </a:txBody>
                  <a:tcPr marL="9525" marR="9525" marT="9525" marB="0" anchor="ctr"/>
                </a:tc>
                <a:extLst>
                  <a:ext uri="{0D108BD9-81ED-4DB2-BD59-A6C34878D82A}">
                    <a16:rowId xmlns:a16="http://schemas.microsoft.com/office/drawing/2014/main" val="10002"/>
                  </a:ext>
                </a:extLst>
              </a:tr>
              <a:tr h="166688">
                <a:tc>
                  <a:txBody>
                    <a:bodyPr/>
                    <a:lstStyle/>
                    <a:p>
                      <a:pPr algn="l"/>
                      <a:r>
                        <a:rPr sz="1050" b="0" i="0">
                          <a:solidFill>
                            <a:srgbClr val="000000"/>
                          </a:solidFill>
                          <a:latin typeface="Calibri"/>
                        </a:rPr>
                        <a:t>Figure 187: Global Market Key Trends Impact Assessment, 2026–2036</a:t>
                      </a:r>
                      <a:endParaRPr sz="1050"/>
                    </a:p>
                  </a:txBody>
                  <a:tcPr marL="9525" marR="9525" marT="9525" marB="0" anchor="ctr"/>
                </a:tc>
                <a:extLst>
                  <a:ext uri="{0D108BD9-81ED-4DB2-BD59-A6C34878D82A}">
                    <a16:rowId xmlns:a16="http://schemas.microsoft.com/office/drawing/2014/main" val="10003"/>
                  </a:ext>
                </a:extLst>
              </a:tr>
              <a:tr h="166688">
                <a:tc>
                  <a:txBody>
                    <a:bodyPr/>
                    <a:lstStyle/>
                    <a:p>
                      <a:pPr algn="l"/>
                      <a:r>
                        <a:rPr sz="1050" b="0" i="0">
                          <a:solidFill>
                            <a:srgbClr val="000000"/>
                          </a:solidFill>
                          <a:latin typeface="Calibri"/>
                        </a:rPr>
                        <a:t>Figure 188: Global Market Drivers, Restraints and Opportunities Impact, 2026–2036</a:t>
                      </a:r>
                      <a:endParaRPr sz="1050"/>
                    </a:p>
                  </a:txBody>
                  <a:tcPr marL="9525" marR="9525" marT="9525" marB="0" anchor="ctr"/>
                </a:tc>
                <a:extLst>
                  <a:ext uri="{0D108BD9-81ED-4DB2-BD59-A6C34878D82A}">
                    <a16:rowId xmlns:a16="http://schemas.microsoft.com/office/drawing/2014/main" val="10004"/>
                  </a:ext>
                </a:extLst>
              </a:tr>
              <a:tr h="166688">
                <a:tc>
                  <a:txBody>
                    <a:bodyPr/>
                    <a:lstStyle/>
                    <a:p>
                      <a:pPr algn="l"/>
                      <a:r>
                        <a:rPr sz="1050" b="0" i="0">
                          <a:solidFill>
                            <a:srgbClr val="000000"/>
                          </a:solidFill>
                          <a:latin typeface="Calibri"/>
                        </a:rPr>
                        <a:t>Figure 189: Global Market Opportunity Map by Region and Partition Type, 2026–2036</a:t>
                      </a:r>
                      <a:endParaRPr sz="1050"/>
                    </a:p>
                  </a:txBody>
                  <a:tcPr marL="9525" marR="9525" marT="9525" marB="0" anchor="ctr"/>
                </a:tc>
                <a:extLst>
                  <a:ext uri="{0D108BD9-81ED-4DB2-BD59-A6C34878D82A}">
                    <a16:rowId xmlns:a16="http://schemas.microsoft.com/office/drawing/2014/main" val="10005"/>
                  </a:ext>
                </a:extLst>
              </a:tr>
              <a:tr h="166688">
                <a:tc>
                  <a:txBody>
                    <a:bodyPr/>
                    <a:lstStyle/>
                    <a:p>
                      <a:pPr algn="l"/>
                      <a:r>
                        <a:rPr sz="1050" b="0" i="0">
                          <a:solidFill>
                            <a:srgbClr val="000000"/>
                          </a:solidFill>
                          <a:latin typeface="Calibri"/>
                        </a:rPr>
                        <a:t>Figure 190: Global Market Technology Adoption Roadmap, 2021–2036</a:t>
                      </a:r>
                      <a:endParaRPr sz="1050"/>
                    </a:p>
                  </a:txBody>
                  <a:tcPr marL="9525" marR="9525" marT="9525" marB="0" anchor="ctr"/>
                </a:tc>
                <a:extLst>
                  <a:ext uri="{0D108BD9-81ED-4DB2-BD59-A6C34878D82A}">
                    <a16:rowId xmlns:a16="http://schemas.microsoft.com/office/drawing/2014/main" val="10006"/>
                  </a:ext>
                </a:extLst>
              </a:tr>
              <a:tr h="166688">
                <a:tc>
                  <a:txBody>
                    <a:bodyPr/>
                    <a:lstStyle/>
                    <a:p>
                      <a:pPr algn="l"/>
                      <a:r>
                        <a:rPr sz="1050" b="0" i="0">
                          <a:solidFill>
                            <a:srgbClr val="000000"/>
                          </a:solidFill>
                          <a:latin typeface="Calibri"/>
                        </a:rPr>
                        <a:t>Figure 191: Global Market Emerging Opportunity Pockets by Partition Type, US$ Mn, 2026–2036</a:t>
                      </a:r>
                      <a:endParaRPr sz="1050"/>
                    </a:p>
                  </a:txBody>
                  <a:tcPr marL="9525" marR="9525" marT="9525" marB="0" anchor="ctr"/>
                </a:tc>
                <a:extLst>
                  <a:ext uri="{0D108BD9-81ED-4DB2-BD59-A6C34878D82A}">
                    <a16:rowId xmlns:a16="http://schemas.microsoft.com/office/drawing/2014/main" val="10007"/>
                  </a:ext>
                </a:extLst>
              </a:tr>
              <a:tr h="166688">
                <a:tc>
                  <a:txBody>
                    <a:bodyPr/>
                    <a:lstStyle/>
                    <a:p>
                      <a:pPr algn="l"/>
                      <a:r>
                        <a:rPr sz="1050" b="0" i="0">
                          <a:solidFill>
                            <a:srgbClr val="000000"/>
                          </a:solidFill>
                          <a:latin typeface="Calibri"/>
                        </a:rPr>
                        <a:t>Figure 192: Global Market Risk and Sensitivity Analysis, %, 2026–2036</a:t>
                      </a:r>
                      <a:endParaRPr sz="1050"/>
                    </a:p>
                  </a:txBody>
                  <a:tcPr marL="9525" marR="9525" marT="9525" marB="0" anchor="ctr"/>
                </a:tc>
                <a:extLst>
                  <a:ext uri="{0D108BD9-81ED-4DB2-BD59-A6C34878D82A}">
                    <a16:rowId xmlns:a16="http://schemas.microsoft.com/office/drawing/2014/main" val="10008"/>
                  </a:ext>
                </a:extLst>
              </a:tr>
              <a:tr h="166688">
                <a:tc>
                  <a:txBody>
                    <a:bodyPr/>
                    <a:lstStyle/>
                    <a:p>
                      <a:pPr algn="l"/>
                      <a:r>
                        <a:rPr sz="1050" b="0" i="0">
                          <a:solidFill>
                            <a:srgbClr val="000000"/>
                          </a:solidFill>
                          <a:latin typeface="Calibri"/>
                        </a:rPr>
                        <a:t>Figure 193: Global Market Regulatory Landscape Timeline, 2021–2036</a:t>
                      </a:r>
                      <a:endParaRPr sz="1050"/>
                    </a:p>
                  </a:txBody>
                  <a:tcPr marL="9525" marR="9525" marT="9525" marB="0" anchor="ctr"/>
                </a:tc>
                <a:extLst>
                  <a:ext uri="{0D108BD9-81ED-4DB2-BD59-A6C34878D82A}">
                    <a16:rowId xmlns:a16="http://schemas.microsoft.com/office/drawing/2014/main" val="10009"/>
                  </a:ext>
                </a:extLst>
              </a:tr>
              <a:tr h="166688">
                <a:tc>
                  <a:txBody>
                    <a:bodyPr/>
                    <a:lstStyle/>
                    <a:p>
                      <a:pPr algn="l"/>
                      <a:r>
                        <a:rPr sz="1050" b="0" i="0">
                          <a:solidFill>
                            <a:srgbClr val="000000"/>
                          </a:solidFill>
                          <a:latin typeface="Calibri"/>
                        </a:rPr>
                        <a:t>Figure 194: Global Market Investment Hotspots by Region, 2026–2036</a:t>
                      </a:r>
                      <a:endParaRPr sz="1050"/>
                    </a:p>
                  </a:txBody>
                  <a:tcPr marL="9525" marR="9525" marT="9525" marB="0" anchor="ctr"/>
                </a:tc>
                <a:extLst>
                  <a:ext uri="{0D108BD9-81ED-4DB2-BD59-A6C34878D82A}">
                    <a16:rowId xmlns:a16="http://schemas.microsoft.com/office/drawing/2014/main" val="10010"/>
                  </a:ext>
                </a:extLst>
              </a:tr>
              <a:tr h="166688">
                <a:tc>
                  <a:txBody>
                    <a:bodyPr/>
                    <a:lstStyle/>
                    <a:p>
                      <a:pPr algn="l"/>
                      <a:r>
                        <a:rPr sz="1050" b="0" i="0">
                          <a:solidFill>
                            <a:srgbClr val="000000"/>
                          </a:solidFill>
                          <a:latin typeface="Calibri"/>
                        </a:rPr>
                        <a:t>Figure 195: Global Market Innovation Pipeline Assessment, 2026</a:t>
                      </a:r>
                      <a:endParaRPr sz="1050"/>
                    </a:p>
                  </a:txBody>
                  <a:tcPr marL="9525" marR="9525" marT="9525" marB="0" anchor="ctr"/>
                </a:tc>
                <a:extLst>
                  <a:ext uri="{0D108BD9-81ED-4DB2-BD59-A6C34878D82A}">
                    <a16:rowId xmlns:a16="http://schemas.microsoft.com/office/drawing/2014/main" val="10011"/>
                  </a:ext>
                </a:extLst>
              </a:tr>
              <a:tr h="166688">
                <a:tc>
                  <a:txBody>
                    <a:bodyPr/>
                    <a:lstStyle/>
                    <a:p>
                      <a:pPr algn="l"/>
                      <a:r>
                        <a:rPr sz="1050" b="0" i="0">
                          <a:solidFill>
                            <a:srgbClr val="000000"/>
                          </a:solidFill>
                          <a:latin typeface="Calibri"/>
                        </a:rPr>
                        <a:t>Figure 196: Global Market White-Space Opportunity Assessment, 2026–2036</a:t>
                      </a:r>
                      <a:endParaRPr sz="1050"/>
                    </a:p>
                  </a:txBody>
                  <a:tcPr marL="9525" marR="9525" marT="9525" marB="0" anchor="ctr"/>
                </a:tc>
                <a:extLst>
                  <a:ext uri="{0D108BD9-81ED-4DB2-BD59-A6C34878D82A}">
                    <a16:rowId xmlns:a16="http://schemas.microsoft.com/office/drawing/2014/main" val="10012"/>
                  </a:ext>
                </a:extLst>
              </a:tr>
              <a:tr h="166688">
                <a:tc>
                  <a:txBody>
                    <a:bodyPr/>
                    <a:lstStyle/>
                    <a:p>
                      <a:pPr algn="l"/>
                      <a:r>
                        <a:rPr sz="1050" b="0" i="0">
                          <a:solidFill>
                            <a:srgbClr val="000000"/>
                          </a:solidFill>
                          <a:latin typeface="Calibri"/>
                        </a:rPr>
                        <a:t>Figure 197: Global Market Customer Purchase Criteria Assessment, 2026</a:t>
                      </a:r>
                      <a:endParaRPr sz="1050"/>
                    </a:p>
                  </a:txBody>
                  <a:tcPr marL="9525" marR="9525" marT="9525" marB="0" anchor="ctr"/>
                </a:tc>
                <a:extLst>
                  <a:ext uri="{0D108BD9-81ED-4DB2-BD59-A6C34878D82A}">
                    <a16:rowId xmlns:a16="http://schemas.microsoft.com/office/drawing/2014/main" val="10013"/>
                  </a:ext>
                </a:extLst>
              </a:tr>
              <a:tr h="166688">
                <a:tc>
                  <a:txBody>
                    <a:bodyPr/>
                    <a:lstStyle/>
                    <a:p>
                      <a:pPr algn="l"/>
                      <a:r>
                        <a:rPr sz="1050" b="0" i="0">
                          <a:solidFill>
                            <a:srgbClr val="000000"/>
                          </a:solidFill>
                          <a:latin typeface="Calibri"/>
                        </a:rPr>
                        <a:t>Figure 198: Global Market Go-to-Market Priority by Region, 2026–2036</a:t>
                      </a:r>
                      <a:endParaRPr sz="1050"/>
                    </a:p>
                  </a:txBody>
                  <a:tcPr marL="9525" marR="9525" marT="9525" marB="0" anchor="ctr"/>
                </a:tc>
                <a:extLst>
                  <a:ext uri="{0D108BD9-81ED-4DB2-BD59-A6C34878D82A}">
                    <a16:rowId xmlns:a16="http://schemas.microsoft.com/office/drawing/2014/main" val="10014"/>
                  </a:ext>
                </a:extLst>
              </a:tr>
              <a:tr h="166688">
                <a:tc>
                  <a:txBody>
                    <a:bodyPr/>
                    <a:lstStyle/>
                    <a:p>
                      <a:pPr algn="l"/>
                      <a:r>
                        <a:rPr sz="1050" b="0" i="0">
                          <a:solidFill>
                            <a:srgbClr val="000000"/>
                          </a:solidFill>
                          <a:latin typeface="Calibri"/>
                        </a:rPr>
                        <a:t>Figure 199: Global Market Unmet Needs Analysis by Partition Type, 2026</a:t>
                      </a:r>
                      <a:endParaRPr sz="1050"/>
                    </a:p>
                  </a:txBody>
                  <a:tcPr marL="9525" marR="9525" marT="9525" marB="0" anchor="ctr"/>
                </a:tc>
                <a:extLst>
                  <a:ext uri="{0D108BD9-81ED-4DB2-BD59-A6C34878D82A}">
                    <a16:rowId xmlns:a16="http://schemas.microsoft.com/office/drawing/2014/main" val="10015"/>
                  </a:ext>
                </a:extLst>
              </a:tr>
              <a:tr h="166688">
                <a:tc>
                  <a:txBody>
                    <a:bodyPr/>
                    <a:lstStyle/>
                    <a:p>
                      <a:pPr algn="l"/>
                      <a:r>
                        <a:rPr sz="1050" b="0" i="0">
                          <a:solidFill>
                            <a:srgbClr val="000000"/>
                          </a:solidFill>
                          <a:latin typeface="Calibri"/>
                        </a:rPr>
                        <a:t>Figure 200: Global Market Right-to-Win Assessment, 2026</a:t>
                      </a:r>
                      <a:endParaRPr sz="1050"/>
                    </a:p>
                  </a:txBody>
                  <a:tcPr marL="9525" marR="9525" marT="9525" marB="0" anchor="ctr"/>
                </a:tc>
                <a:extLst>
                  <a:ext uri="{0D108BD9-81ED-4DB2-BD59-A6C34878D82A}">
                    <a16:rowId xmlns:a16="http://schemas.microsoft.com/office/drawing/2014/main" val="10016"/>
                  </a:ext>
                </a:extLst>
              </a:tr>
            </a:tbl>
          </a:graphicData>
        </a:graphic>
      </p:graphicFrame>
      <p:sp>
        <p:nvSpPr>
          <p:cNvPr id="10" name="TextBox 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69826">
                <a:tc>
                  <a:txBody>
                    <a:bodyPr/>
                    <a:lstStyle/>
                    <a:p>
                      <a:pPr algn="l"/>
                      <a:r>
                        <a:rPr sz="1050" b="0" i="0">
                          <a:solidFill>
                            <a:srgbClr val="000000"/>
                          </a:solidFill>
                          <a:latin typeface="Calibri"/>
                        </a:rPr>
                        <a:t>Table 1: Global Market Snapshot: Value, Volume and CAGR, US$ Mn, 2025–2036</a:t>
                      </a:r>
                      <a:endParaRPr sz="1050"/>
                    </a:p>
                  </a:txBody>
                  <a:tcPr marL="9525" marR="9525" marT="9525" marB="0" anchor="ctr"/>
                </a:tc>
                <a:extLst>
                  <a:ext uri="{0D108BD9-81ED-4DB2-BD59-A6C34878D82A}">
                    <a16:rowId xmlns:a16="http://schemas.microsoft.com/office/drawing/2014/main" val="10000"/>
                  </a:ext>
                </a:extLst>
              </a:tr>
              <a:tr h="169826">
                <a:tc>
                  <a:txBody>
                    <a:bodyPr/>
                    <a:lstStyle/>
                    <a:p>
                      <a:pPr algn="l"/>
                      <a:r>
                        <a:rPr sz="1050" b="0" i="0">
                          <a:solidFill>
                            <a:srgbClr val="000000"/>
                          </a:solidFill>
                          <a:latin typeface="Calibri"/>
                        </a:rPr>
                        <a:t>Table 2: Global Market Taxonomy by Segment, 2026</a:t>
                      </a:r>
                      <a:endParaRPr sz="1050"/>
                    </a:p>
                  </a:txBody>
                  <a:tcPr marL="9525" marR="9525" marT="9525" marB="0" anchor="ctr"/>
                </a:tc>
                <a:extLst>
                  <a:ext uri="{0D108BD9-81ED-4DB2-BD59-A6C34878D82A}">
                    <a16:rowId xmlns:a16="http://schemas.microsoft.com/office/drawing/2014/main" val="10001"/>
                  </a:ext>
                </a:extLst>
              </a:tr>
              <a:tr h="169826">
                <a:tc>
                  <a:txBody>
                    <a:bodyPr/>
                    <a:lstStyle/>
                    <a:p>
                      <a:pPr algn="l"/>
                      <a:r>
                        <a:rPr sz="1050" b="0" i="0">
                          <a:solidFill>
                            <a:srgbClr val="000000"/>
                          </a:solidFill>
                          <a:latin typeface="Calibri"/>
                        </a:rPr>
                        <a:t>Table 3: Global Market Scope: Inclusions and Exclusions by Segment, 2026</a:t>
                      </a:r>
                      <a:endParaRPr sz="1050"/>
                    </a:p>
                  </a:txBody>
                  <a:tcPr marL="9525" marR="9525" marT="9525" marB="0" anchor="ctr"/>
                </a:tc>
                <a:extLst>
                  <a:ext uri="{0D108BD9-81ED-4DB2-BD59-A6C34878D82A}">
                    <a16:rowId xmlns:a16="http://schemas.microsoft.com/office/drawing/2014/main" val="10002"/>
                  </a:ext>
                </a:extLst>
              </a:tr>
              <a:tr h="169826">
                <a:tc>
                  <a:txBody>
                    <a:bodyPr/>
                    <a:lstStyle/>
                    <a:p>
                      <a:pPr algn="l"/>
                      <a:r>
                        <a:rPr sz="1050" b="0" i="0">
                          <a:solidFill>
                            <a:srgbClr val="000000"/>
                          </a:solidFill>
                          <a:latin typeface="Calibri"/>
                        </a:rPr>
                        <a:t>Table 4: Global Market Key Demand Drivers and Impact Rating, 2026–2036</a:t>
                      </a:r>
                      <a:endParaRPr sz="1050"/>
                    </a:p>
                  </a:txBody>
                  <a:tcPr marL="9525" marR="9525" marT="9525" marB="0" anchor="ctr"/>
                </a:tc>
                <a:extLst>
                  <a:ext uri="{0D108BD9-81ED-4DB2-BD59-A6C34878D82A}">
                    <a16:rowId xmlns:a16="http://schemas.microsoft.com/office/drawing/2014/main" val="10003"/>
                  </a:ext>
                </a:extLst>
              </a:tr>
              <a:tr h="169826">
                <a:tc>
                  <a:txBody>
                    <a:bodyPr/>
                    <a:lstStyle/>
                    <a:p>
                      <a:pPr algn="l"/>
                      <a:r>
                        <a:rPr sz="1050" b="0" i="0">
                          <a:solidFill>
                            <a:srgbClr val="000000"/>
                          </a:solidFill>
                          <a:latin typeface="Calibri"/>
                        </a:rPr>
                        <a:t>Table 5: Global Market Key Restraints and Impact Rating, 2026–2036</a:t>
                      </a:r>
                      <a:endParaRPr sz="1050"/>
                    </a:p>
                  </a:txBody>
                  <a:tcPr marL="9525" marR="9525" marT="9525" marB="0" anchor="ctr"/>
                </a:tc>
                <a:extLst>
                  <a:ext uri="{0D108BD9-81ED-4DB2-BD59-A6C34878D82A}">
                    <a16:rowId xmlns:a16="http://schemas.microsoft.com/office/drawing/2014/main" val="10004"/>
                  </a:ext>
                </a:extLst>
              </a:tr>
              <a:tr h="169826">
                <a:tc>
                  <a:txBody>
                    <a:bodyPr/>
                    <a:lstStyle/>
                    <a:p>
                      <a:pPr algn="l"/>
                      <a:r>
                        <a:rPr sz="1050" b="0" i="0">
                          <a:solidFill>
                            <a:srgbClr val="000000"/>
                          </a:solidFill>
                          <a:latin typeface="Calibri"/>
                        </a:rPr>
                        <a:t>Table 6: Global Market Analyst Recommendations by Segment, 2026–2036</a:t>
                      </a:r>
                      <a:endParaRPr sz="1050"/>
                    </a:p>
                  </a:txBody>
                  <a:tcPr marL="9525" marR="9525" marT="9525" marB="0" anchor="ctr"/>
                </a:tc>
                <a:extLst>
                  <a:ext uri="{0D108BD9-81ED-4DB2-BD59-A6C34878D82A}">
                    <a16:rowId xmlns:a16="http://schemas.microsoft.com/office/drawing/2014/main" val="10005"/>
                  </a:ext>
                </a:extLst>
              </a:tr>
              <a:tr h="169826">
                <a:tc>
                  <a:txBody>
                    <a:bodyPr/>
                    <a:lstStyle/>
                    <a:p>
                      <a:pPr algn="l"/>
                      <a:r>
                        <a:rPr sz="1050" b="0" i="0">
                          <a:solidFill>
                            <a:srgbClr val="000000"/>
                          </a:solidFill>
                          <a:latin typeface="Calibri"/>
                        </a:rPr>
                        <a:t>Table 7: Global Market Key Market Signals and Data Points, 2026</a:t>
                      </a:r>
                      <a:endParaRPr sz="1050"/>
                    </a:p>
                  </a:txBody>
                  <a:tcPr marL="9525" marR="9525" marT="9525" marB="0" anchor="ctr"/>
                </a:tc>
                <a:extLst>
                  <a:ext uri="{0D108BD9-81ED-4DB2-BD59-A6C34878D82A}">
                    <a16:rowId xmlns:a16="http://schemas.microsoft.com/office/drawing/2014/main" val="10006"/>
                  </a:ext>
                </a:extLst>
              </a:tr>
              <a:tr h="169826">
                <a:tc>
                  <a:txBody>
                    <a:bodyPr/>
                    <a:lstStyle/>
                    <a:p>
                      <a:pPr algn="l"/>
                      <a:r>
                        <a:rPr sz="1050" b="0" i="0">
                          <a:solidFill>
                            <a:srgbClr val="000000"/>
                          </a:solidFill>
                          <a:latin typeface="Calibri"/>
                        </a:rPr>
                        <a:t>Table 8: Global Market Value and YoY Growth, US$ Mn and %, 2021–2036</a:t>
                      </a:r>
                      <a:endParaRPr sz="1050"/>
                    </a:p>
                  </a:txBody>
                  <a:tcPr marL="9525" marR="9525" marT="9525" marB="0" anchor="ctr"/>
                </a:tc>
                <a:extLst>
                  <a:ext uri="{0D108BD9-81ED-4DB2-BD59-A6C34878D82A}">
                    <a16:rowId xmlns:a16="http://schemas.microsoft.com/office/drawing/2014/main" val="10007"/>
                  </a:ext>
                </a:extLst>
              </a:tr>
              <a:tr h="169826">
                <a:tc>
                  <a:txBody>
                    <a:bodyPr/>
                    <a:lstStyle/>
                    <a:p>
                      <a:pPr algn="l"/>
                      <a:r>
                        <a:rPr sz="1050" b="0" i="0">
                          <a:solidFill>
                            <a:srgbClr val="000000"/>
                          </a:solidFill>
                          <a:latin typeface="Calibri"/>
                        </a:rPr>
                        <a:t>Table 9: Global Market Historical Value Analysis, US$ Mn, 2021–2025</a:t>
                      </a:r>
                      <a:endParaRPr sz="1050"/>
                    </a:p>
                  </a:txBody>
                  <a:tcPr marL="9525" marR="9525" marT="9525" marB="0" anchor="ctr"/>
                </a:tc>
                <a:extLst>
                  <a:ext uri="{0D108BD9-81ED-4DB2-BD59-A6C34878D82A}">
                    <a16:rowId xmlns:a16="http://schemas.microsoft.com/office/drawing/2014/main" val="10008"/>
                  </a:ext>
                </a:extLst>
              </a:tr>
              <a:tr h="169826">
                <a:tc>
                  <a:txBody>
                    <a:bodyPr/>
                    <a:lstStyle/>
                    <a:p>
                      <a:pPr algn="l"/>
                      <a:r>
                        <a:rPr sz="1050" b="0" i="0">
                          <a:solidFill>
                            <a:srgbClr val="000000"/>
                          </a:solidFill>
                          <a:latin typeface="Calibri"/>
                        </a:rPr>
                        <a:t>Table 10: Global Market Forecast Value Analysis, US$ Mn, 2026–2036</a:t>
                      </a:r>
                      <a:endParaRPr sz="1050"/>
                    </a:p>
                  </a:txBody>
                  <a:tcPr marL="9525" marR="9525" marT="9525" marB="0" anchor="ctr"/>
                </a:tc>
                <a:extLst>
                  <a:ext uri="{0D108BD9-81ED-4DB2-BD59-A6C34878D82A}">
                    <a16:rowId xmlns:a16="http://schemas.microsoft.com/office/drawing/2014/main" val="10009"/>
                  </a:ext>
                </a:extLst>
              </a:tr>
              <a:tr h="169826">
                <a:tc>
                  <a:txBody>
                    <a:bodyPr/>
                    <a:lstStyle/>
                    <a:p>
                      <a:pPr algn="l"/>
                      <a:r>
                        <a:rPr sz="1050" b="0" i="0">
                          <a:solidFill>
                            <a:srgbClr val="000000"/>
                          </a:solidFill>
                          <a:latin typeface="Calibri"/>
                        </a:rPr>
                        <a:t>Table 11: Global Market Volume and YoY Growth, MT and %, 2021–2036</a:t>
                      </a:r>
                      <a:endParaRPr sz="1050"/>
                    </a:p>
                  </a:txBody>
                  <a:tcPr marL="9525" marR="9525" marT="9525" marB="0" anchor="ctr"/>
                </a:tc>
                <a:extLst>
                  <a:ext uri="{0D108BD9-81ED-4DB2-BD59-A6C34878D82A}">
                    <a16:rowId xmlns:a16="http://schemas.microsoft.com/office/drawing/2014/main" val="10010"/>
                  </a:ext>
                </a:extLst>
              </a:tr>
              <a:tr h="169826">
                <a:tc>
                  <a:txBody>
                    <a:bodyPr/>
                    <a:lstStyle/>
                    <a:p>
                      <a:pPr algn="l"/>
                      <a:r>
                        <a:rPr sz="1050" b="0" i="0">
                          <a:solidFill>
                            <a:srgbClr val="000000"/>
                          </a:solidFill>
                          <a:latin typeface="Calibri"/>
                        </a:rPr>
                        <a:t>Table 12: Global Market Volume Forecast, MT, 2026–2036</a:t>
                      </a:r>
                      <a:endParaRPr sz="1050"/>
                    </a:p>
                  </a:txBody>
                  <a:tcPr marL="9525" marR="9525" marT="9525" marB="0" anchor="ctr"/>
                </a:tc>
                <a:extLst>
                  <a:ext uri="{0D108BD9-81ED-4DB2-BD59-A6C34878D82A}">
                    <a16:rowId xmlns:a16="http://schemas.microsoft.com/office/drawing/2014/main" val="10011"/>
                  </a:ext>
                </a:extLst>
              </a:tr>
              <a:tr h="169826">
                <a:tc>
                  <a:txBody>
                    <a:bodyPr/>
                    <a:lstStyle/>
                    <a:p>
                      <a:pPr algn="l"/>
                      <a:r>
                        <a:rPr sz="1050" b="0" i="0">
                          <a:solidFill>
                            <a:srgbClr val="000000"/>
                          </a:solidFill>
                          <a:latin typeface="Calibri"/>
                        </a:rPr>
                        <a:t>Table 13: Global Market Average Selling Price, US$/MT, 2021–2036</a:t>
                      </a:r>
                      <a:endParaRPr sz="1050"/>
                    </a:p>
                  </a:txBody>
                  <a:tcPr marL="9525" marR="9525" marT="9525" marB="0" anchor="ctr"/>
                </a:tc>
                <a:extLst>
                  <a:ext uri="{0D108BD9-81ED-4DB2-BD59-A6C34878D82A}">
                    <a16:rowId xmlns:a16="http://schemas.microsoft.com/office/drawing/2014/main" val="10012"/>
                  </a:ext>
                </a:extLst>
              </a:tr>
              <a:tr h="169826">
                <a:tc>
                  <a:txBody>
                    <a:bodyPr/>
                    <a:lstStyle/>
                    <a:p>
                      <a:pPr algn="l"/>
                      <a:r>
                        <a:rPr sz="1050" b="0" i="0">
                          <a:solidFill>
                            <a:srgbClr val="000000"/>
                          </a:solidFill>
                          <a:latin typeface="Calibri"/>
                        </a:rPr>
                        <a:t>Table 14: Global Market Average Selling Price YoY Change, %, 2026–2036</a:t>
                      </a:r>
                      <a:endParaRPr sz="1050"/>
                    </a:p>
                  </a:txBody>
                  <a:tcPr marL="9525" marR="9525" marT="9525" marB="0" anchor="ctr"/>
                </a:tc>
                <a:extLst>
                  <a:ext uri="{0D108BD9-81ED-4DB2-BD59-A6C34878D82A}">
                    <a16:rowId xmlns:a16="http://schemas.microsoft.com/office/drawing/2014/main" val="10013"/>
                  </a:ext>
                </a:extLst>
              </a:tr>
              <a:tr h="169826">
                <a:tc>
                  <a:txBody>
                    <a:bodyPr/>
                    <a:lstStyle/>
                    <a:p>
                      <a:pPr algn="l"/>
                      <a:r>
                        <a:rPr sz="1050" b="0" i="0">
                          <a:solidFill>
                            <a:srgbClr val="000000"/>
                          </a:solidFill>
                          <a:latin typeface="Calibri"/>
                        </a:rPr>
                        <a:t>Table 15: Global Market CAGR and Absolute $ Opportunity, %, US$ Mn, 2026–2036</a:t>
                      </a:r>
                      <a:endParaRPr sz="1050"/>
                    </a:p>
                  </a:txBody>
                  <a:tcPr marL="9525" marR="9525" marT="9525" marB="0" anchor="ctr"/>
                </a:tc>
                <a:extLst>
                  <a:ext uri="{0D108BD9-81ED-4DB2-BD59-A6C34878D82A}">
                    <a16:rowId xmlns:a16="http://schemas.microsoft.com/office/drawing/2014/main" val="10014"/>
                  </a:ext>
                </a:extLst>
              </a:tr>
              <a:tr h="169826">
                <a:tc>
                  <a:txBody>
                    <a:bodyPr/>
                    <a:lstStyle/>
                    <a:p>
                      <a:pPr algn="l"/>
                      <a:r>
                        <a:rPr sz="1050" b="0" i="0">
                          <a:solidFill>
                            <a:srgbClr val="000000"/>
                          </a:solidFill>
                          <a:latin typeface="Calibri"/>
                        </a:rPr>
                        <a:t>Table 16: Global Market Absolute $ Opportunity by Year, US$ Mn, 2026–2036</a:t>
                      </a:r>
                      <a:endParaRPr sz="1050"/>
                    </a:p>
                  </a:txBody>
                  <a:tcPr marL="9525" marR="9525" marT="9525" marB="0" anchor="ctr"/>
                </a:tc>
                <a:extLst>
                  <a:ext uri="{0D108BD9-81ED-4DB2-BD59-A6C34878D82A}">
                    <a16:rowId xmlns:a16="http://schemas.microsoft.com/office/drawing/2014/main" val="10015"/>
                  </a:ext>
                </a:extLst>
              </a:tr>
              <a:tr h="169826">
                <a:tc>
                  <a:txBody>
                    <a:bodyPr/>
                    <a:lstStyle/>
                    <a:p>
                      <a:pPr algn="l"/>
                      <a:r>
                        <a:rPr sz="1050" b="0" i="0">
                          <a:solidFill>
                            <a:srgbClr val="000000"/>
                          </a:solidFill>
                          <a:latin typeface="Calibri"/>
                        </a:rPr>
                        <a:t>Table 17: Global Market Value by Scenario (Optimistic, Likely, Pessimistic), US$ Mn, 2026–2036</a:t>
                      </a:r>
                      <a:endParaRPr sz="1050"/>
                    </a:p>
                  </a:txBody>
                  <a:tcPr marL="9525" marR="9525" marT="9525" marB="0" anchor="ctr"/>
                </a:tc>
                <a:extLst>
                  <a:ext uri="{0D108BD9-81ED-4DB2-BD59-A6C34878D82A}">
                    <a16:rowId xmlns:a16="http://schemas.microsoft.com/office/drawing/2014/main" val="10016"/>
                  </a:ext>
                </a:extLst>
              </a:tr>
              <a:tr h="169826">
                <a:tc>
                  <a:txBody>
                    <a:bodyPr/>
                    <a:lstStyle/>
                    <a:p>
                      <a:pPr algn="l"/>
                      <a:r>
                        <a:rPr sz="1050" b="0" i="0">
                          <a:solidFill>
                            <a:srgbClr val="000000"/>
                          </a:solidFill>
                          <a:latin typeface="Calibri"/>
                        </a:rPr>
                        <a:t>Table 18: Global Market Scenario CAGR Comparison, %, 2026–2036</a:t>
                      </a:r>
                      <a:endParaRPr sz="1050"/>
                    </a:p>
                  </a:txBody>
                  <a:tcPr marL="9525" marR="9525" marT="9525" marB="0" anchor="ctr"/>
                </a:tc>
                <a:extLst>
                  <a:ext uri="{0D108BD9-81ED-4DB2-BD59-A6C34878D82A}">
                    <a16:rowId xmlns:a16="http://schemas.microsoft.com/office/drawing/2014/main" val="10017"/>
                  </a:ext>
                </a:extLst>
              </a:tr>
              <a:tr h="169826">
                <a:tc>
                  <a:txBody>
                    <a:bodyPr/>
                    <a:lstStyle/>
                    <a:p>
                      <a:pPr algn="l"/>
                      <a:r>
                        <a:rPr sz="1050" b="0" i="0">
                          <a:solidFill>
                            <a:srgbClr val="000000"/>
                          </a:solidFill>
                          <a:latin typeface="Calibri"/>
                        </a:rPr>
                        <a:t>Table 19: Global Market Historical vs Forecast Growth Comparison, %, 2021–2036</a:t>
                      </a:r>
                      <a:endParaRPr sz="1050"/>
                    </a:p>
                  </a:txBody>
                  <a:tcPr marL="9525" marR="9525" marT="9525" marB="0" anchor="ctr"/>
                </a:tc>
                <a:extLst>
                  <a:ext uri="{0D108BD9-81ED-4DB2-BD59-A6C34878D82A}">
                    <a16:rowId xmlns:a16="http://schemas.microsoft.com/office/drawing/2014/main" val="10018"/>
                  </a:ext>
                </a:extLst>
              </a:tr>
              <a:tr h="169826">
                <a:tc>
                  <a:txBody>
                    <a:bodyPr/>
                    <a:lstStyle/>
                    <a:p>
                      <a:pPr algn="l"/>
                      <a:r>
                        <a:rPr sz="1050" b="0" i="0">
                          <a:solidFill>
                            <a:srgbClr val="000000"/>
                          </a:solidFill>
                          <a:latin typeface="Calibri"/>
                        </a:rPr>
                        <a:t>Table 20: Global Market Five-Year Block Value Summary, US$ Mn, 2021–2036</a:t>
                      </a:r>
                      <a:endParaRPr sz="1050"/>
                    </a:p>
                  </a:txBody>
                  <a:tcPr marL="9525" marR="9525" marT="9525" marB="0" anchor="ctr"/>
                </a:tc>
                <a:extLst>
                  <a:ext uri="{0D108BD9-81ED-4DB2-BD59-A6C34878D82A}">
                    <a16:rowId xmlns:a16="http://schemas.microsoft.com/office/drawing/2014/main" val="10019"/>
                  </a:ext>
                </a:extLst>
              </a:tr>
              <a:tr h="169826">
                <a:tc>
                  <a:txBody>
                    <a:bodyPr/>
                    <a:lstStyle/>
                    <a:p>
                      <a:pPr algn="l"/>
                      <a:r>
                        <a:rPr sz="1050" b="0" i="0">
                          <a:solidFill>
                            <a:srgbClr val="000000"/>
                          </a:solidFill>
                          <a:latin typeface="Calibri"/>
                        </a:rPr>
                        <a:t>Table 21: Global Market Value by Partition Type, US$ Mn, 2021–2036</a:t>
                      </a:r>
                      <a:endParaRPr sz="1050"/>
                    </a:p>
                  </a:txBody>
                  <a:tcPr marL="9525" marR="9525" marT="9525" marB="0" anchor="ctr"/>
                </a:tc>
                <a:extLst>
                  <a:ext uri="{0D108BD9-81ED-4DB2-BD59-A6C34878D82A}">
                    <a16:rowId xmlns:a16="http://schemas.microsoft.com/office/drawing/2014/main" val="10020"/>
                  </a:ext>
                </a:extLst>
              </a:tr>
              <a:tr h="169826">
                <a:tc>
                  <a:txBody>
                    <a:bodyPr/>
                    <a:lstStyle/>
                    <a:p>
                      <a:pPr algn="l"/>
                      <a:r>
                        <a:rPr sz="1050" b="0" i="0">
                          <a:solidFill>
                            <a:srgbClr val="000000"/>
                          </a:solidFill>
                          <a:latin typeface="Calibri"/>
                        </a:rPr>
                        <a:t>Table 22: Global Market Value by Board Construction, US$ Mn, 2021–2036</a:t>
                      </a:r>
                      <a:endParaRPr sz="1050"/>
                    </a:p>
                  </a:txBody>
                  <a:tcPr marL="9525" marR="9525" marT="9525" marB="0" anchor="ctr"/>
                </a:tc>
                <a:extLst>
                  <a:ext uri="{0D108BD9-81ED-4DB2-BD59-A6C34878D82A}">
                    <a16:rowId xmlns:a16="http://schemas.microsoft.com/office/drawing/2014/main" val="10021"/>
                  </a:ext>
                </a:extLst>
              </a:tr>
              <a:tr h="169826">
                <a:tc>
                  <a:txBody>
                    <a:bodyPr/>
                    <a:lstStyle/>
                    <a:p>
                      <a:pPr algn="l"/>
                      <a:r>
                        <a:rPr sz="1050" b="0" i="0">
                          <a:solidFill>
                            <a:srgbClr val="000000"/>
                          </a:solidFill>
                          <a:latin typeface="Calibri"/>
                        </a:rPr>
                        <a:t>Table 23: Global Market Value by Material Source, US$ Mn, 2021–2036</a:t>
                      </a:r>
                      <a:endParaRPr sz="1050"/>
                    </a:p>
                  </a:txBody>
                  <a:tcPr marL="9525" marR="9525" marT="9525" marB="0" anchor="ctr"/>
                </a:tc>
                <a:extLst>
                  <a:ext uri="{0D108BD9-81ED-4DB2-BD59-A6C34878D82A}">
                    <a16:rowId xmlns:a16="http://schemas.microsoft.com/office/drawing/2014/main" val="10022"/>
                  </a:ext>
                </a:extLst>
              </a:tr>
              <a:tr h="169826">
                <a:tc>
                  <a:txBody>
                    <a:bodyPr/>
                    <a:lstStyle/>
                    <a:p>
                      <a:pPr algn="l"/>
                      <a:r>
                        <a:rPr sz="1050" b="0" i="0">
                          <a:solidFill>
                            <a:srgbClr val="000000"/>
                          </a:solidFill>
                          <a:latin typeface="Calibri"/>
                        </a:rPr>
                        <a:t>Table 24: Global Market Value by Cell Configuration, US$ Mn, 2021–2036</a:t>
                      </a:r>
                      <a:endParaRPr sz="1050"/>
                    </a:p>
                  </a:txBody>
                  <a:tcPr marL="9525" marR="9525" marT="9525" marB="0" anchor="ctr"/>
                </a:tc>
                <a:extLst>
                  <a:ext uri="{0D108BD9-81ED-4DB2-BD59-A6C34878D82A}">
                    <a16:rowId xmlns:a16="http://schemas.microsoft.com/office/drawing/2014/main" val="10023"/>
                  </a:ext>
                </a:extLst>
              </a:tr>
              <a:tr h="169826">
                <a:tc>
                  <a:txBody>
                    <a:bodyPr/>
                    <a:lstStyle/>
                    <a:p>
                      <a:pPr algn="l"/>
                      <a:r>
                        <a:rPr sz="1050" b="0" i="0">
                          <a:solidFill>
                            <a:srgbClr val="000000"/>
                          </a:solidFill>
                          <a:latin typeface="Calibri"/>
                        </a:rPr>
                        <a:t>Table 25: Global Market Value by Customization, US$ Mn, 2021–2036</a:t>
                      </a:r>
                      <a:endParaRPr sz="1050"/>
                    </a:p>
                  </a:txBody>
                  <a:tcPr marL="9525" marR="9525" marT="9525" marB="0" anchor="ctr"/>
                </a:tc>
                <a:extLst>
                  <a:ext uri="{0D108BD9-81ED-4DB2-BD59-A6C34878D82A}">
                    <a16:rowId xmlns:a16="http://schemas.microsoft.com/office/drawing/2014/main" val="10024"/>
                  </a:ext>
                </a:extLst>
              </a:tr>
              <a:tr h="169826">
                <a:tc>
                  <a:txBody>
                    <a:bodyPr/>
                    <a:lstStyle/>
                    <a:p>
                      <a:pPr algn="l"/>
                      <a:r>
                        <a:rPr sz="1050" b="0" i="0">
                          <a:solidFill>
                            <a:srgbClr val="000000"/>
                          </a:solidFill>
                          <a:latin typeface="Calibri"/>
                        </a:rPr>
                        <a:t>Table 26: Global Market Value by End Use, US$ Mn, 2021–2036</a:t>
                      </a:r>
                      <a:endParaRPr sz="1050"/>
                    </a:p>
                  </a:txBody>
                  <a:tcPr marL="9525" marR="9525" marT="9525" marB="0" anchor="ctr"/>
                </a:tc>
                <a:extLst>
                  <a:ext uri="{0D108BD9-81ED-4DB2-BD59-A6C34878D82A}">
                    <a16:rowId xmlns:a16="http://schemas.microsoft.com/office/drawing/2014/main" val="10025"/>
                  </a:ext>
                </a:extLst>
              </a:tr>
              <a:tr h="169826">
                <a:tc>
                  <a:txBody>
                    <a:bodyPr/>
                    <a:lstStyle/>
                    <a:p>
                      <a:pPr algn="l"/>
                      <a:r>
                        <a:rPr sz="1050" b="0" i="0">
                          <a:solidFill>
                            <a:srgbClr val="000000"/>
                          </a:solidFill>
                          <a:latin typeface="Calibri"/>
                        </a:rPr>
                        <a:t>Table 27: Global Market Value by Sales Channel, US$ Mn, 2021–2036</a:t>
                      </a:r>
                      <a:endParaRPr sz="1050"/>
                    </a:p>
                  </a:txBody>
                  <a:tcPr marL="9525" marR="9525" marT="9525" marB="0" anchor="ctr"/>
                </a:tc>
                <a:extLst>
                  <a:ext uri="{0D108BD9-81ED-4DB2-BD59-A6C34878D82A}">
                    <a16:rowId xmlns:a16="http://schemas.microsoft.com/office/drawing/2014/main" val="10026"/>
                  </a:ext>
                </a:extLst>
              </a:tr>
              <a:tr h="169826">
                <a:tc>
                  <a:txBody>
                    <a:bodyPr/>
                    <a:lstStyle/>
                    <a:p>
                      <a:pPr algn="l"/>
                      <a:r>
                        <a:rPr sz="1050" b="0" i="0">
                          <a:solidFill>
                            <a:srgbClr val="000000"/>
                          </a:solidFill>
                          <a:latin typeface="Calibri"/>
                        </a:rPr>
                        <a:t>Table 28: Global Market CAGR and Absolute $ Opportunity by Partition Type, %, US$ Mn, 2026–2036</a:t>
                      </a:r>
                      <a:endParaRPr sz="1050"/>
                    </a:p>
                  </a:txBody>
                  <a:tcPr marL="9525" marR="9525" marT="9525" marB="0" anchor="ctr"/>
                </a:tc>
                <a:extLst>
                  <a:ext uri="{0D108BD9-81ED-4DB2-BD59-A6C34878D82A}">
                    <a16:rowId xmlns:a16="http://schemas.microsoft.com/office/drawing/2014/main" val="10027"/>
                  </a:ext>
                </a:extLst>
              </a:tr>
              <a:tr h="332858">
                <a:tc>
                  <a:txBody>
                    <a:bodyPr/>
                    <a:lstStyle/>
                    <a:p>
                      <a:pPr algn="l"/>
                      <a:r>
                        <a:rPr sz="1050" b="0" i="0">
                          <a:solidFill>
                            <a:srgbClr val="000000"/>
                          </a:solidFill>
                          <a:latin typeface="Calibri"/>
                        </a:rPr>
                        <a:t>Table 29: Global Market CAGR and Absolute $ Opportunity by Board Construction, %, US$ Mn, 2026–2036</a:t>
                      </a:r>
                      <a:endParaRPr sz="1050"/>
                    </a:p>
                  </a:txBody>
                  <a:tcPr marL="9525" marR="9525" marT="9525" marB="0" anchor="ctr"/>
                </a:tc>
                <a:extLst>
                  <a:ext uri="{0D108BD9-81ED-4DB2-BD59-A6C34878D82A}">
                    <a16:rowId xmlns:a16="http://schemas.microsoft.com/office/drawing/2014/main" val="10028"/>
                  </a:ext>
                </a:extLst>
              </a:tr>
              <a:tr h="169826">
                <a:tc>
                  <a:txBody>
                    <a:bodyPr/>
                    <a:lstStyle/>
                    <a:p>
                      <a:pPr algn="l"/>
                      <a:r>
                        <a:rPr sz="1050" b="0" i="0">
                          <a:solidFill>
                            <a:srgbClr val="000000"/>
                          </a:solidFill>
                          <a:latin typeface="Calibri"/>
                        </a:rPr>
                        <a:t>Table 30: Global Market CAGR and Absolute $ Opportunity by Material Source, %, US$ Mn, 2026–2036</a:t>
                      </a:r>
                      <a:endParaRPr sz="1050"/>
                    </a:p>
                  </a:txBody>
                  <a:tcPr marL="9525" marR="9525" marT="9525" marB="0" anchor="ctr"/>
                </a:tc>
                <a:extLst>
                  <a:ext uri="{0D108BD9-81ED-4DB2-BD59-A6C34878D82A}">
                    <a16:rowId xmlns:a16="http://schemas.microsoft.com/office/drawing/2014/main" val="10029"/>
                  </a:ext>
                </a:extLst>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332858">
                <a:tc>
                  <a:txBody>
                    <a:bodyPr/>
                    <a:lstStyle/>
                    <a:p>
                      <a:pPr algn="l"/>
                      <a:r>
                        <a:rPr sz="1050" b="0" i="0">
                          <a:solidFill>
                            <a:srgbClr val="000000"/>
                          </a:solidFill>
                          <a:latin typeface="Calibri"/>
                        </a:rPr>
                        <a:t>Table 31: Global Market CAGR and Absolute $ Opportunity by Cell Configuration, %, US$ Mn, 2026–2036</a:t>
                      </a:r>
                      <a:endParaRPr sz="1050"/>
                    </a:p>
                  </a:txBody>
                  <a:tcPr marL="9525" marR="9525" marT="9525" marB="0" anchor="ctr"/>
                </a:tc>
                <a:extLst>
                  <a:ext uri="{0D108BD9-81ED-4DB2-BD59-A6C34878D82A}">
                    <a16:rowId xmlns:a16="http://schemas.microsoft.com/office/drawing/2014/main" val="10000"/>
                  </a:ext>
                </a:extLst>
              </a:tr>
              <a:tr h="169826">
                <a:tc>
                  <a:txBody>
                    <a:bodyPr/>
                    <a:lstStyle/>
                    <a:p>
                      <a:pPr algn="l"/>
                      <a:r>
                        <a:rPr sz="1050" b="0" i="0">
                          <a:solidFill>
                            <a:srgbClr val="000000"/>
                          </a:solidFill>
                          <a:latin typeface="Calibri"/>
                        </a:rPr>
                        <a:t>Table 32: Global Market CAGR and Absolute $ Opportunity by Customization, %, US$ Mn, 2026–2036</a:t>
                      </a:r>
                      <a:endParaRPr sz="1050"/>
                    </a:p>
                  </a:txBody>
                  <a:tcPr marL="9525" marR="9525" marT="9525" marB="0" anchor="ctr"/>
                </a:tc>
                <a:extLst>
                  <a:ext uri="{0D108BD9-81ED-4DB2-BD59-A6C34878D82A}">
                    <a16:rowId xmlns:a16="http://schemas.microsoft.com/office/drawing/2014/main" val="10001"/>
                  </a:ext>
                </a:extLst>
              </a:tr>
              <a:tr h="169826">
                <a:tc>
                  <a:txBody>
                    <a:bodyPr/>
                    <a:lstStyle/>
                    <a:p>
                      <a:pPr algn="l"/>
                      <a:r>
                        <a:rPr sz="1050" b="0" i="0">
                          <a:solidFill>
                            <a:srgbClr val="000000"/>
                          </a:solidFill>
                          <a:latin typeface="Calibri"/>
                        </a:rPr>
                        <a:t>Table 33: Global Market CAGR and Absolute $ Opportunity by End Use, %, US$ Mn, 2026–2036</a:t>
                      </a:r>
                      <a:endParaRPr sz="1050"/>
                    </a:p>
                  </a:txBody>
                  <a:tcPr marL="9525" marR="9525" marT="9525" marB="0" anchor="ctr"/>
                </a:tc>
                <a:extLst>
                  <a:ext uri="{0D108BD9-81ED-4DB2-BD59-A6C34878D82A}">
                    <a16:rowId xmlns:a16="http://schemas.microsoft.com/office/drawing/2014/main" val="10002"/>
                  </a:ext>
                </a:extLst>
              </a:tr>
              <a:tr h="169826">
                <a:tc>
                  <a:txBody>
                    <a:bodyPr/>
                    <a:lstStyle/>
                    <a:p>
                      <a:pPr algn="l"/>
                      <a:r>
                        <a:rPr sz="1050" b="0" i="0">
                          <a:solidFill>
                            <a:srgbClr val="000000"/>
                          </a:solidFill>
                          <a:latin typeface="Calibri"/>
                        </a:rPr>
                        <a:t>Table 34: Global Market CAGR and Absolute $ Opportunity by Sales Channel, %, US$ Mn, 2026–2036</a:t>
                      </a:r>
                      <a:endParaRPr sz="1050"/>
                    </a:p>
                  </a:txBody>
                  <a:tcPr marL="9525" marR="9525" marT="9525" marB="0" anchor="ctr"/>
                </a:tc>
                <a:extLst>
                  <a:ext uri="{0D108BD9-81ED-4DB2-BD59-A6C34878D82A}">
                    <a16:rowId xmlns:a16="http://schemas.microsoft.com/office/drawing/2014/main" val="10003"/>
                  </a:ext>
                </a:extLst>
              </a:tr>
              <a:tr h="169826">
                <a:tc>
                  <a:txBody>
                    <a:bodyPr/>
                    <a:lstStyle/>
                    <a:p>
                      <a:pPr algn="l"/>
                      <a:r>
                        <a:rPr sz="1050" b="0" i="0">
                          <a:solidFill>
                            <a:srgbClr val="000000"/>
                          </a:solidFill>
                          <a:latin typeface="Calibri"/>
                        </a:rPr>
                        <a:t>Table 35: Global Market Share and BPS Change by Partition Type, %, 2025, 2026 and 2036</a:t>
                      </a:r>
                      <a:endParaRPr sz="1050"/>
                    </a:p>
                  </a:txBody>
                  <a:tcPr marL="9525" marR="9525" marT="9525" marB="0" anchor="ctr"/>
                </a:tc>
                <a:extLst>
                  <a:ext uri="{0D108BD9-81ED-4DB2-BD59-A6C34878D82A}">
                    <a16:rowId xmlns:a16="http://schemas.microsoft.com/office/drawing/2014/main" val="10004"/>
                  </a:ext>
                </a:extLst>
              </a:tr>
              <a:tr h="169826">
                <a:tc>
                  <a:txBody>
                    <a:bodyPr/>
                    <a:lstStyle/>
                    <a:p>
                      <a:pPr algn="l"/>
                      <a:r>
                        <a:rPr sz="1050" b="0" i="0">
                          <a:solidFill>
                            <a:srgbClr val="000000"/>
                          </a:solidFill>
                          <a:latin typeface="Calibri"/>
                        </a:rPr>
                        <a:t>Table 36: Global Market Share and BPS Change by Board Construction, %, 2025, 2026 and 2036</a:t>
                      </a:r>
                      <a:endParaRPr sz="1050"/>
                    </a:p>
                  </a:txBody>
                  <a:tcPr marL="9525" marR="9525" marT="9525" marB="0" anchor="ctr"/>
                </a:tc>
                <a:extLst>
                  <a:ext uri="{0D108BD9-81ED-4DB2-BD59-A6C34878D82A}">
                    <a16:rowId xmlns:a16="http://schemas.microsoft.com/office/drawing/2014/main" val="10005"/>
                  </a:ext>
                </a:extLst>
              </a:tr>
              <a:tr h="169826">
                <a:tc>
                  <a:txBody>
                    <a:bodyPr/>
                    <a:lstStyle/>
                    <a:p>
                      <a:pPr algn="l"/>
                      <a:r>
                        <a:rPr sz="1050" b="0" i="0">
                          <a:solidFill>
                            <a:srgbClr val="000000"/>
                          </a:solidFill>
                          <a:latin typeface="Calibri"/>
                        </a:rPr>
                        <a:t>Table 37: Global Market Share and BPS Change by Material Source, %, 2025, 2026 and 2036</a:t>
                      </a:r>
                      <a:endParaRPr sz="1050"/>
                    </a:p>
                  </a:txBody>
                  <a:tcPr marL="9525" marR="9525" marT="9525" marB="0" anchor="ctr"/>
                </a:tc>
                <a:extLst>
                  <a:ext uri="{0D108BD9-81ED-4DB2-BD59-A6C34878D82A}">
                    <a16:rowId xmlns:a16="http://schemas.microsoft.com/office/drawing/2014/main" val="10006"/>
                  </a:ext>
                </a:extLst>
              </a:tr>
              <a:tr h="169826">
                <a:tc>
                  <a:txBody>
                    <a:bodyPr/>
                    <a:lstStyle/>
                    <a:p>
                      <a:pPr algn="l"/>
                      <a:r>
                        <a:rPr sz="1050" b="0" i="0">
                          <a:solidFill>
                            <a:srgbClr val="000000"/>
                          </a:solidFill>
                          <a:latin typeface="Calibri"/>
                        </a:rPr>
                        <a:t>Table 38: Global Market Share and BPS Change by Cell Configuration, %, 2025, 2026 and 2036</a:t>
                      </a:r>
                      <a:endParaRPr sz="1050"/>
                    </a:p>
                  </a:txBody>
                  <a:tcPr marL="9525" marR="9525" marT="9525" marB="0" anchor="ctr"/>
                </a:tc>
                <a:extLst>
                  <a:ext uri="{0D108BD9-81ED-4DB2-BD59-A6C34878D82A}">
                    <a16:rowId xmlns:a16="http://schemas.microsoft.com/office/drawing/2014/main" val="10007"/>
                  </a:ext>
                </a:extLst>
              </a:tr>
              <a:tr h="169826">
                <a:tc>
                  <a:txBody>
                    <a:bodyPr/>
                    <a:lstStyle/>
                    <a:p>
                      <a:pPr algn="l"/>
                      <a:r>
                        <a:rPr sz="1050" b="0" i="0">
                          <a:solidFill>
                            <a:srgbClr val="000000"/>
                          </a:solidFill>
                          <a:latin typeface="Calibri"/>
                        </a:rPr>
                        <a:t>Table 39: Global Market Share and BPS Change by Customization, %, 2025, 2026 and 2036</a:t>
                      </a:r>
                      <a:endParaRPr sz="1050"/>
                    </a:p>
                  </a:txBody>
                  <a:tcPr marL="9525" marR="9525" marT="9525" marB="0" anchor="ctr"/>
                </a:tc>
                <a:extLst>
                  <a:ext uri="{0D108BD9-81ED-4DB2-BD59-A6C34878D82A}">
                    <a16:rowId xmlns:a16="http://schemas.microsoft.com/office/drawing/2014/main" val="10008"/>
                  </a:ext>
                </a:extLst>
              </a:tr>
              <a:tr h="169826">
                <a:tc>
                  <a:txBody>
                    <a:bodyPr/>
                    <a:lstStyle/>
                    <a:p>
                      <a:pPr algn="l"/>
                      <a:r>
                        <a:rPr sz="1050" b="0" i="0">
                          <a:solidFill>
                            <a:srgbClr val="000000"/>
                          </a:solidFill>
                          <a:latin typeface="Calibri"/>
                        </a:rPr>
                        <a:t>Table 40: Global Market Share and BPS Change by End Use, %, 2025, 2026 and 2036</a:t>
                      </a:r>
                      <a:endParaRPr sz="1050"/>
                    </a:p>
                  </a:txBody>
                  <a:tcPr marL="9525" marR="9525" marT="9525" marB="0" anchor="ctr"/>
                </a:tc>
                <a:extLst>
                  <a:ext uri="{0D108BD9-81ED-4DB2-BD59-A6C34878D82A}">
                    <a16:rowId xmlns:a16="http://schemas.microsoft.com/office/drawing/2014/main" val="10009"/>
                  </a:ext>
                </a:extLst>
              </a:tr>
              <a:tr h="169826">
                <a:tc>
                  <a:txBody>
                    <a:bodyPr/>
                    <a:lstStyle/>
                    <a:p>
                      <a:pPr algn="l"/>
                      <a:r>
                        <a:rPr sz="1050" b="0" i="0">
                          <a:solidFill>
                            <a:srgbClr val="000000"/>
                          </a:solidFill>
                          <a:latin typeface="Calibri"/>
                        </a:rPr>
                        <a:t>Table 41: Global Market Share and BPS Change by Sales Channel, %, 2025, 2026 and 2036</a:t>
                      </a:r>
                      <a:endParaRPr sz="1050"/>
                    </a:p>
                  </a:txBody>
                  <a:tcPr marL="9525" marR="9525" marT="9525" marB="0" anchor="ctr"/>
                </a:tc>
                <a:extLst>
                  <a:ext uri="{0D108BD9-81ED-4DB2-BD59-A6C34878D82A}">
                    <a16:rowId xmlns:a16="http://schemas.microsoft.com/office/drawing/2014/main" val="10010"/>
                  </a:ext>
                </a:extLst>
              </a:tr>
              <a:tr h="169826">
                <a:tc>
                  <a:txBody>
                    <a:bodyPr/>
                    <a:lstStyle/>
                    <a:p>
                      <a:pPr algn="l"/>
                      <a:r>
                        <a:rPr sz="1050" b="0" i="0">
                          <a:solidFill>
                            <a:srgbClr val="000000"/>
                          </a:solidFill>
                          <a:latin typeface="Calibri"/>
                        </a:rPr>
                        <a:t>Table 42: Global Market YoY Growth by Partition Type, %, 2026–2036</a:t>
                      </a:r>
                      <a:endParaRPr sz="1050"/>
                    </a:p>
                  </a:txBody>
                  <a:tcPr marL="9525" marR="9525" marT="9525" marB="0" anchor="ctr"/>
                </a:tc>
                <a:extLst>
                  <a:ext uri="{0D108BD9-81ED-4DB2-BD59-A6C34878D82A}">
                    <a16:rowId xmlns:a16="http://schemas.microsoft.com/office/drawing/2014/main" val="10011"/>
                  </a:ext>
                </a:extLst>
              </a:tr>
              <a:tr h="169826">
                <a:tc>
                  <a:txBody>
                    <a:bodyPr/>
                    <a:lstStyle/>
                    <a:p>
                      <a:pPr algn="l"/>
                      <a:r>
                        <a:rPr sz="1050" b="0" i="0">
                          <a:solidFill>
                            <a:srgbClr val="000000"/>
                          </a:solidFill>
                          <a:latin typeface="Calibri"/>
                        </a:rPr>
                        <a:t>Table 43: Global Market YoY Growth by Board Construction, %, 2026–2036</a:t>
                      </a:r>
                      <a:endParaRPr sz="1050"/>
                    </a:p>
                  </a:txBody>
                  <a:tcPr marL="9525" marR="9525" marT="9525" marB="0" anchor="ctr"/>
                </a:tc>
                <a:extLst>
                  <a:ext uri="{0D108BD9-81ED-4DB2-BD59-A6C34878D82A}">
                    <a16:rowId xmlns:a16="http://schemas.microsoft.com/office/drawing/2014/main" val="10012"/>
                  </a:ext>
                </a:extLst>
              </a:tr>
              <a:tr h="169826">
                <a:tc>
                  <a:txBody>
                    <a:bodyPr/>
                    <a:lstStyle/>
                    <a:p>
                      <a:pPr algn="l"/>
                      <a:r>
                        <a:rPr sz="1050" b="0" i="0">
                          <a:solidFill>
                            <a:srgbClr val="000000"/>
                          </a:solidFill>
                          <a:latin typeface="Calibri"/>
                        </a:rPr>
                        <a:t>Table 44: Global Market YoY Growth by Material Source, %, 2026–2036</a:t>
                      </a:r>
                      <a:endParaRPr sz="1050"/>
                    </a:p>
                  </a:txBody>
                  <a:tcPr marL="9525" marR="9525" marT="9525" marB="0" anchor="ctr"/>
                </a:tc>
                <a:extLst>
                  <a:ext uri="{0D108BD9-81ED-4DB2-BD59-A6C34878D82A}">
                    <a16:rowId xmlns:a16="http://schemas.microsoft.com/office/drawing/2014/main" val="10013"/>
                  </a:ext>
                </a:extLst>
              </a:tr>
              <a:tr h="169826">
                <a:tc>
                  <a:txBody>
                    <a:bodyPr/>
                    <a:lstStyle/>
                    <a:p>
                      <a:pPr algn="l"/>
                      <a:r>
                        <a:rPr sz="1050" b="0" i="0">
                          <a:solidFill>
                            <a:srgbClr val="000000"/>
                          </a:solidFill>
                          <a:latin typeface="Calibri"/>
                        </a:rPr>
                        <a:t>Table 45: Global Market YoY Growth by Cell Configuration, %, 2026–2036</a:t>
                      </a:r>
                      <a:endParaRPr sz="1050"/>
                    </a:p>
                  </a:txBody>
                  <a:tcPr marL="9525" marR="9525" marT="9525" marB="0" anchor="ctr"/>
                </a:tc>
                <a:extLst>
                  <a:ext uri="{0D108BD9-81ED-4DB2-BD59-A6C34878D82A}">
                    <a16:rowId xmlns:a16="http://schemas.microsoft.com/office/drawing/2014/main" val="10014"/>
                  </a:ext>
                </a:extLst>
              </a:tr>
              <a:tr h="169826">
                <a:tc>
                  <a:txBody>
                    <a:bodyPr/>
                    <a:lstStyle/>
                    <a:p>
                      <a:pPr algn="l"/>
                      <a:r>
                        <a:rPr sz="1050" b="0" i="0">
                          <a:solidFill>
                            <a:srgbClr val="000000"/>
                          </a:solidFill>
                          <a:latin typeface="Calibri"/>
                        </a:rPr>
                        <a:t>Table 46: Global Market YoY Growth by Customization, %, 2026–2036</a:t>
                      </a:r>
                      <a:endParaRPr sz="1050"/>
                    </a:p>
                  </a:txBody>
                  <a:tcPr marL="9525" marR="9525" marT="9525" marB="0" anchor="ctr"/>
                </a:tc>
                <a:extLst>
                  <a:ext uri="{0D108BD9-81ED-4DB2-BD59-A6C34878D82A}">
                    <a16:rowId xmlns:a16="http://schemas.microsoft.com/office/drawing/2014/main" val="10015"/>
                  </a:ext>
                </a:extLst>
              </a:tr>
              <a:tr h="169826">
                <a:tc>
                  <a:txBody>
                    <a:bodyPr/>
                    <a:lstStyle/>
                    <a:p>
                      <a:pPr algn="l"/>
                      <a:r>
                        <a:rPr sz="1050" b="0" i="0">
                          <a:solidFill>
                            <a:srgbClr val="000000"/>
                          </a:solidFill>
                          <a:latin typeface="Calibri"/>
                        </a:rPr>
                        <a:t>Table 47: Global Market YoY Growth by End Use, %, 2026–2036</a:t>
                      </a:r>
                      <a:endParaRPr sz="1050"/>
                    </a:p>
                  </a:txBody>
                  <a:tcPr marL="9525" marR="9525" marT="9525" marB="0" anchor="ctr"/>
                </a:tc>
                <a:extLst>
                  <a:ext uri="{0D108BD9-81ED-4DB2-BD59-A6C34878D82A}">
                    <a16:rowId xmlns:a16="http://schemas.microsoft.com/office/drawing/2014/main" val="10016"/>
                  </a:ext>
                </a:extLst>
              </a:tr>
              <a:tr h="169826">
                <a:tc>
                  <a:txBody>
                    <a:bodyPr/>
                    <a:lstStyle/>
                    <a:p>
                      <a:pPr algn="l"/>
                      <a:r>
                        <a:rPr sz="1050" b="0" i="0">
                          <a:solidFill>
                            <a:srgbClr val="000000"/>
                          </a:solidFill>
                          <a:latin typeface="Calibri"/>
                        </a:rPr>
                        <a:t>Table 48: Global Market YoY Growth by Sales Channel, %, 2026–2036</a:t>
                      </a:r>
                      <a:endParaRPr sz="1050"/>
                    </a:p>
                  </a:txBody>
                  <a:tcPr marL="9525" marR="9525" marT="9525" marB="0" anchor="ctr"/>
                </a:tc>
                <a:extLst>
                  <a:ext uri="{0D108BD9-81ED-4DB2-BD59-A6C34878D82A}">
                    <a16:rowId xmlns:a16="http://schemas.microsoft.com/office/drawing/2014/main" val="10017"/>
                  </a:ext>
                </a:extLst>
              </a:tr>
              <a:tr h="169826">
                <a:tc>
                  <a:txBody>
                    <a:bodyPr/>
                    <a:lstStyle/>
                    <a:p>
                      <a:pPr algn="l"/>
                      <a:r>
                        <a:rPr sz="1050" b="0" i="0">
                          <a:solidFill>
                            <a:srgbClr val="000000"/>
                          </a:solidFill>
                          <a:latin typeface="Calibri"/>
                        </a:rPr>
                        <a:t>Table 49: Global Market Volume by Partition Type, MT, 2021–2036</a:t>
                      </a:r>
                      <a:endParaRPr sz="1050"/>
                    </a:p>
                  </a:txBody>
                  <a:tcPr marL="9525" marR="9525" marT="9525" marB="0" anchor="ctr"/>
                </a:tc>
                <a:extLst>
                  <a:ext uri="{0D108BD9-81ED-4DB2-BD59-A6C34878D82A}">
                    <a16:rowId xmlns:a16="http://schemas.microsoft.com/office/drawing/2014/main" val="10018"/>
                  </a:ext>
                </a:extLst>
              </a:tr>
              <a:tr h="169826">
                <a:tc>
                  <a:txBody>
                    <a:bodyPr/>
                    <a:lstStyle/>
                    <a:p>
                      <a:pPr algn="l"/>
                      <a:r>
                        <a:rPr sz="1050" b="0" i="0">
                          <a:solidFill>
                            <a:srgbClr val="000000"/>
                          </a:solidFill>
                          <a:latin typeface="Calibri"/>
                        </a:rPr>
                        <a:t>Table 50: Global Market Volume by Board Construction, MT, 2021–2036</a:t>
                      </a:r>
                      <a:endParaRPr sz="1050"/>
                    </a:p>
                  </a:txBody>
                  <a:tcPr marL="9525" marR="9525" marT="9525" marB="0" anchor="ctr"/>
                </a:tc>
                <a:extLst>
                  <a:ext uri="{0D108BD9-81ED-4DB2-BD59-A6C34878D82A}">
                    <a16:rowId xmlns:a16="http://schemas.microsoft.com/office/drawing/2014/main" val="10019"/>
                  </a:ext>
                </a:extLst>
              </a:tr>
              <a:tr h="169826">
                <a:tc>
                  <a:txBody>
                    <a:bodyPr/>
                    <a:lstStyle/>
                    <a:p>
                      <a:pPr algn="l"/>
                      <a:r>
                        <a:rPr sz="1050" b="0" i="0">
                          <a:solidFill>
                            <a:srgbClr val="000000"/>
                          </a:solidFill>
                          <a:latin typeface="Calibri"/>
                        </a:rPr>
                        <a:t>Table 51: Global Market Volume by Material Source, MT, 2021–2036</a:t>
                      </a:r>
                      <a:endParaRPr sz="1050"/>
                    </a:p>
                  </a:txBody>
                  <a:tcPr marL="9525" marR="9525" marT="9525" marB="0" anchor="ctr"/>
                </a:tc>
                <a:extLst>
                  <a:ext uri="{0D108BD9-81ED-4DB2-BD59-A6C34878D82A}">
                    <a16:rowId xmlns:a16="http://schemas.microsoft.com/office/drawing/2014/main" val="10020"/>
                  </a:ext>
                </a:extLst>
              </a:tr>
              <a:tr h="169826">
                <a:tc>
                  <a:txBody>
                    <a:bodyPr/>
                    <a:lstStyle/>
                    <a:p>
                      <a:pPr algn="l"/>
                      <a:r>
                        <a:rPr sz="1050" b="0" i="0">
                          <a:solidFill>
                            <a:srgbClr val="000000"/>
                          </a:solidFill>
                          <a:latin typeface="Calibri"/>
                        </a:rPr>
                        <a:t>Table 52: Global Market Volume by Cell Configuration, MT, 2021–2036</a:t>
                      </a:r>
                      <a:endParaRPr sz="1050"/>
                    </a:p>
                  </a:txBody>
                  <a:tcPr marL="9525" marR="9525" marT="9525" marB="0" anchor="ctr"/>
                </a:tc>
                <a:extLst>
                  <a:ext uri="{0D108BD9-81ED-4DB2-BD59-A6C34878D82A}">
                    <a16:rowId xmlns:a16="http://schemas.microsoft.com/office/drawing/2014/main" val="10021"/>
                  </a:ext>
                </a:extLst>
              </a:tr>
              <a:tr h="169826">
                <a:tc>
                  <a:txBody>
                    <a:bodyPr/>
                    <a:lstStyle/>
                    <a:p>
                      <a:pPr algn="l"/>
                      <a:r>
                        <a:rPr sz="1050" b="0" i="0">
                          <a:solidFill>
                            <a:srgbClr val="000000"/>
                          </a:solidFill>
                          <a:latin typeface="Calibri"/>
                        </a:rPr>
                        <a:t>Table 53: Global Market Volume by Customization, MT, 2021–2036</a:t>
                      </a:r>
                      <a:endParaRPr sz="1050"/>
                    </a:p>
                  </a:txBody>
                  <a:tcPr marL="9525" marR="9525" marT="9525" marB="0" anchor="ctr"/>
                </a:tc>
                <a:extLst>
                  <a:ext uri="{0D108BD9-81ED-4DB2-BD59-A6C34878D82A}">
                    <a16:rowId xmlns:a16="http://schemas.microsoft.com/office/drawing/2014/main" val="10022"/>
                  </a:ext>
                </a:extLst>
              </a:tr>
              <a:tr h="169826">
                <a:tc>
                  <a:txBody>
                    <a:bodyPr/>
                    <a:lstStyle/>
                    <a:p>
                      <a:pPr algn="l"/>
                      <a:r>
                        <a:rPr sz="1050" b="0" i="0">
                          <a:solidFill>
                            <a:srgbClr val="000000"/>
                          </a:solidFill>
                          <a:latin typeface="Calibri"/>
                        </a:rPr>
                        <a:t>Table 54: Global Market Volume by End Use, MT, 2021–2036</a:t>
                      </a:r>
                      <a:endParaRPr sz="1050"/>
                    </a:p>
                  </a:txBody>
                  <a:tcPr marL="9525" marR="9525" marT="9525" marB="0" anchor="ctr"/>
                </a:tc>
                <a:extLst>
                  <a:ext uri="{0D108BD9-81ED-4DB2-BD59-A6C34878D82A}">
                    <a16:rowId xmlns:a16="http://schemas.microsoft.com/office/drawing/2014/main" val="10023"/>
                  </a:ext>
                </a:extLst>
              </a:tr>
              <a:tr h="169826">
                <a:tc>
                  <a:txBody>
                    <a:bodyPr/>
                    <a:lstStyle/>
                    <a:p>
                      <a:pPr algn="l"/>
                      <a:r>
                        <a:rPr sz="1050" b="0" i="0">
                          <a:solidFill>
                            <a:srgbClr val="000000"/>
                          </a:solidFill>
                          <a:latin typeface="Calibri"/>
                        </a:rPr>
                        <a:t>Table 55: Global Market Volume by Sales Channel, MT, 2021–2036</a:t>
                      </a:r>
                      <a:endParaRPr sz="1050"/>
                    </a:p>
                  </a:txBody>
                  <a:tcPr marL="9525" marR="9525" marT="9525" marB="0" anchor="ctr"/>
                </a:tc>
                <a:extLst>
                  <a:ext uri="{0D108BD9-81ED-4DB2-BD59-A6C34878D82A}">
                    <a16:rowId xmlns:a16="http://schemas.microsoft.com/office/drawing/2014/main" val="10024"/>
                  </a:ext>
                </a:extLst>
              </a:tr>
              <a:tr h="169826">
                <a:tc>
                  <a:txBody>
                    <a:bodyPr/>
                    <a:lstStyle/>
                    <a:p>
                      <a:pPr algn="l"/>
                      <a:r>
                        <a:rPr sz="1050" b="0" i="0">
                          <a:solidFill>
                            <a:srgbClr val="000000"/>
                          </a:solidFill>
                          <a:latin typeface="Calibri"/>
                        </a:rPr>
                        <a:t>Table 56: Global Market Average Selling Price by Partition Type, US$/MT, 2021–2036</a:t>
                      </a:r>
                      <a:endParaRPr sz="1050"/>
                    </a:p>
                  </a:txBody>
                  <a:tcPr marL="9525" marR="9525" marT="9525" marB="0" anchor="ctr"/>
                </a:tc>
                <a:extLst>
                  <a:ext uri="{0D108BD9-81ED-4DB2-BD59-A6C34878D82A}">
                    <a16:rowId xmlns:a16="http://schemas.microsoft.com/office/drawing/2014/main" val="10025"/>
                  </a:ext>
                </a:extLst>
              </a:tr>
              <a:tr h="169826">
                <a:tc>
                  <a:txBody>
                    <a:bodyPr/>
                    <a:lstStyle/>
                    <a:p>
                      <a:pPr algn="l"/>
                      <a:r>
                        <a:rPr sz="1050" b="0" i="0">
                          <a:solidFill>
                            <a:srgbClr val="000000"/>
                          </a:solidFill>
                          <a:latin typeface="Calibri"/>
                        </a:rPr>
                        <a:t>Table 57: Global Market Average Selling Price by Board Construction, US$/MT, 2021–2036</a:t>
                      </a:r>
                      <a:endParaRPr sz="1050"/>
                    </a:p>
                  </a:txBody>
                  <a:tcPr marL="9525" marR="9525" marT="9525" marB="0" anchor="ctr"/>
                </a:tc>
                <a:extLst>
                  <a:ext uri="{0D108BD9-81ED-4DB2-BD59-A6C34878D82A}">
                    <a16:rowId xmlns:a16="http://schemas.microsoft.com/office/drawing/2014/main" val="10026"/>
                  </a:ext>
                </a:extLst>
              </a:tr>
              <a:tr h="169826">
                <a:tc>
                  <a:txBody>
                    <a:bodyPr/>
                    <a:lstStyle/>
                    <a:p>
                      <a:pPr algn="l"/>
                      <a:r>
                        <a:rPr sz="1050" b="0" i="0">
                          <a:solidFill>
                            <a:srgbClr val="000000"/>
                          </a:solidFill>
                          <a:latin typeface="Calibri"/>
                        </a:rPr>
                        <a:t>Table 58: Global Market Average Selling Price by Material Source, US$/MT, 2021–2036</a:t>
                      </a:r>
                      <a:endParaRPr sz="1050"/>
                    </a:p>
                  </a:txBody>
                  <a:tcPr marL="9525" marR="9525" marT="9525" marB="0" anchor="ctr"/>
                </a:tc>
                <a:extLst>
                  <a:ext uri="{0D108BD9-81ED-4DB2-BD59-A6C34878D82A}">
                    <a16:rowId xmlns:a16="http://schemas.microsoft.com/office/drawing/2014/main" val="10027"/>
                  </a:ext>
                </a:extLst>
              </a:tr>
              <a:tr h="169826">
                <a:tc>
                  <a:txBody>
                    <a:bodyPr/>
                    <a:lstStyle/>
                    <a:p>
                      <a:pPr algn="l"/>
                      <a:r>
                        <a:rPr sz="1050" b="0" i="0">
                          <a:solidFill>
                            <a:srgbClr val="000000"/>
                          </a:solidFill>
                          <a:latin typeface="Calibri"/>
                        </a:rPr>
                        <a:t>Table 59: Global Market Average Selling Price by Cell Configuration, US$/MT, 2021–2036</a:t>
                      </a:r>
                      <a:endParaRPr sz="1050"/>
                    </a:p>
                  </a:txBody>
                  <a:tcPr marL="9525" marR="9525" marT="9525" marB="0" anchor="ctr"/>
                </a:tc>
                <a:extLst>
                  <a:ext uri="{0D108BD9-81ED-4DB2-BD59-A6C34878D82A}">
                    <a16:rowId xmlns:a16="http://schemas.microsoft.com/office/drawing/2014/main" val="10028"/>
                  </a:ext>
                </a:extLst>
              </a:tr>
              <a:tr h="169826">
                <a:tc>
                  <a:txBody>
                    <a:bodyPr/>
                    <a:lstStyle/>
                    <a:p>
                      <a:pPr algn="l"/>
                      <a:r>
                        <a:rPr sz="1050" b="0" i="0">
                          <a:solidFill>
                            <a:srgbClr val="000000"/>
                          </a:solidFill>
                          <a:latin typeface="Calibri"/>
                        </a:rPr>
                        <a:t>Table 60: Global Market Average Selling Price by Customization, US$/MT, 2021–2036</a:t>
                      </a:r>
                      <a:endParaRPr sz="1050"/>
                    </a:p>
                  </a:txBody>
                  <a:tcPr marL="9525" marR="9525" marT="9525" marB="0" anchor="ctr"/>
                </a:tc>
                <a:extLst>
                  <a:ext uri="{0D108BD9-81ED-4DB2-BD59-A6C34878D82A}">
                    <a16:rowId xmlns:a16="http://schemas.microsoft.com/office/drawing/2014/main" val="10029"/>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0045">
                <a:tc>
                  <a:txBody>
                    <a:bodyPr/>
                    <a:lstStyle/>
                    <a:p>
                      <a:pPr algn="l"/>
                      <a:r>
                        <a:rPr sz="1050" b="0" i="0">
                          <a:solidFill>
                            <a:srgbClr val="000000"/>
                          </a:solidFill>
                          <a:latin typeface="Calibri"/>
                        </a:rPr>
                        <a:t>Table 61: Global Market Average Selling Price by End Use, US$/MT, 2021–2036</a:t>
                      </a:r>
                      <a:endParaRPr sz="1050"/>
                    </a:p>
                  </a:txBody>
                  <a:tcPr marL="9525" marR="9525" marT="9525" marB="0" anchor="ctr"/>
                </a:tc>
                <a:extLst>
                  <a:ext uri="{0D108BD9-81ED-4DB2-BD59-A6C34878D82A}">
                    <a16:rowId xmlns:a16="http://schemas.microsoft.com/office/drawing/2014/main" val="10000"/>
                  </a:ext>
                </a:extLst>
              </a:tr>
              <a:tr h="170045">
                <a:tc>
                  <a:txBody>
                    <a:bodyPr/>
                    <a:lstStyle/>
                    <a:p>
                      <a:pPr algn="l"/>
                      <a:r>
                        <a:rPr sz="1050" b="0" i="0">
                          <a:solidFill>
                            <a:srgbClr val="000000"/>
                          </a:solidFill>
                          <a:latin typeface="Calibri"/>
                        </a:rPr>
                        <a:t>Table 62: Global Market Average Selling Price by Sales Channel, US$/MT, 2021–2036</a:t>
                      </a:r>
                      <a:endParaRPr sz="1050"/>
                    </a:p>
                  </a:txBody>
                  <a:tcPr marL="9525" marR="9525" marT="9525" marB="0" anchor="ctr"/>
                </a:tc>
                <a:extLst>
                  <a:ext uri="{0D108BD9-81ED-4DB2-BD59-A6C34878D82A}">
                    <a16:rowId xmlns:a16="http://schemas.microsoft.com/office/drawing/2014/main" val="10001"/>
                  </a:ext>
                </a:extLst>
              </a:tr>
              <a:tr h="170045">
                <a:tc>
                  <a:txBody>
                    <a:bodyPr/>
                    <a:lstStyle/>
                    <a:p>
                      <a:pPr algn="l"/>
                      <a:r>
                        <a:rPr sz="1050" b="0" i="0">
                          <a:solidFill>
                            <a:srgbClr val="000000"/>
                          </a:solidFill>
                          <a:latin typeface="Calibri"/>
                        </a:rPr>
                        <a:t>Table 63: Global Market Attractiveness Index by Partition Type, 2026–2036</a:t>
                      </a:r>
                      <a:endParaRPr sz="1050"/>
                    </a:p>
                  </a:txBody>
                  <a:tcPr marL="9525" marR="9525" marT="9525" marB="0" anchor="ctr"/>
                </a:tc>
                <a:extLst>
                  <a:ext uri="{0D108BD9-81ED-4DB2-BD59-A6C34878D82A}">
                    <a16:rowId xmlns:a16="http://schemas.microsoft.com/office/drawing/2014/main" val="10002"/>
                  </a:ext>
                </a:extLst>
              </a:tr>
              <a:tr h="170045">
                <a:tc>
                  <a:txBody>
                    <a:bodyPr/>
                    <a:lstStyle/>
                    <a:p>
                      <a:pPr algn="l"/>
                      <a:r>
                        <a:rPr sz="1050" b="0" i="0">
                          <a:solidFill>
                            <a:srgbClr val="000000"/>
                          </a:solidFill>
                          <a:latin typeface="Calibri"/>
                        </a:rPr>
                        <a:t>Table 64: Global Market Attractiveness Index by Board Construction, 2026–2036</a:t>
                      </a:r>
                      <a:endParaRPr sz="1050"/>
                    </a:p>
                  </a:txBody>
                  <a:tcPr marL="9525" marR="9525" marT="9525" marB="0" anchor="ctr"/>
                </a:tc>
                <a:extLst>
                  <a:ext uri="{0D108BD9-81ED-4DB2-BD59-A6C34878D82A}">
                    <a16:rowId xmlns:a16="http://schemas.microsoft.com/office/drawing/2014/main" val="10003"/>
                  </a:ext>
                </a:extLst>
              </a:tr>
              <a:tr h="170045">
                <a:tc>
                  <a:txBody>
                    <a:bodyPr/>
                    <a:lstStyle/>
                    <a:p>
                      <a:pPr algn="l"/>
                      <a:r>
                        <a:rPr sz="1050" b="0" i="0">
                          <a:solidFill>
                            <a:srgbClr val="000000"/>
                          </a:solidFill>
                          <a:latin typeface="Calibri"/>
                        </a:rPr>
                        <a:t>Table 65: Global Market Attractiveness Index by Material Source, 2026–2036</a:t>
                      </a:r>
                      <a:endParaRPr sz="1050"/>
                    </a:p>
                  </a:txBody>
                  <a:tcPr marL="9525" marR="9525" marT="9525" marB="0" anchor="ctr"/>
                </a:tc>
                <a:extLst>
                  <a:ext uri="{0D108BD9-81ED-4DB2-BD59-A6C34878D82A}">
                    <a16:rowId xmlns:a16="http://schemas.microsoft.com/office/drawing/2014/main" val="10004"/>
                  </a:ext>
                </a:extLst>
              </a:tr>
              <a:tr h="170045">
                <a:tc>
                  <a:txBody>
                    <a:bodyPr/>
                    <a:lstStyle/>
                    <a:p>
                      <a:pPr algn="l"/>
                      <a:r>
                        <a:rPr sz="1050" b="0" i="0">
                          <a:solidFill>
                            <a:srgbClr val="000000"/>
                          </a:solidFill>
                          <a:latin typeface="Calibri"/>
                        </a:rPr>
                        <a:t>Table 66: Global Market Attractiveness Index by Cell Configuration, 2026–2036</a:t>
                      </a:r>
                      <a:endParaRPr sz="1050"/>
                    </a:p>
                  </a:txBody>
                  <a:tcPr marL="9525" marR="9525" marT="9525" marB="0" anchor="ctr"/>
                </a:tc>
                <a:extLst>
                  <a:ext uri="{0D108BD9-81ED-4DB2-BD59-A6C34878D82A}">
                    <a16:rowId xmlns:a16="http://schemas.microsoft.com/office/drawing/2014/main" val="10005"/>
                  </a:ext>
                </a:extLst>
              </a:tr>
              <a:tr h="170045">
                <a:tc>
                  <a:txBody>
                    <a:bodyPr/>
                    <a:lstStyle/>
                    <a:p>
                      <a:pPr algn="l"/>
                      <a:r>
                        <a:rPr sz="1050" b="0" i="0">
                          <a:solidFill>
                            <a:srgbClr val="000000"/>
                          </a:solidFill>
                          <a:latin typeface="Calibri"/>
                        </a:rPr>
                        <a:t>Table 67: Global Market Attractiveness Index by Customization, 2026–2036</a:t>
                      </a:r>
                      <a:endParaRPr sz="1050"/>
                    </a:p>
                  </a:txBody>
                  <a:tcPr marL="9525" marR="9525" marT="9525" marB="0" anchor="ctr"/>
                </a:tc>
                <a:extLst>
                  <a:ext uri="{0D108BD9-81ED-4DB2-BD59-A6C34878D82A}">
                    <a16:rowId xmlns:a16="http://schemas.microsoft.com/office/drawing/2014/main" val="10006"/>
                  </a:ext>
                </a:extLst>
              </a:tr>
              <a:tr h="170045">
                <a:tc>
                  <a:txBody>
                    <a:bodyPr/>
                    <a:lstStyle/>
                    <a:p>
                      <a:pPr algn="l"/>
                      <a:r>
                        <a:rPr sz="1050" b="0" i="0">
                          <a:solidFill>
                            <a:srgbClr val="000000"/>
                          </a:solidFill>
                          <a:latin typeface="Calibri"/>
                        </a:rPr>
                        <a:t>Table 68: Global Market Attractiveness Index by End Use, 2026–2036</a:t>
                      </a:r>
                      <a:endParaRPr sz="1050"/>
                    </a:p>
                  </a:txBody>
                  <a:tcPr marL="9525" marR="9525" marT="9525" marB="0" anchor="ctr"/>
                </a:tc>
                <a:extLst>
                  <a:ext uri="{0D108BD9-81ED-4DB2-BD59-A6C34878D82A}">
                    <a16:rowId xmlns:a16="http://schemas.microsoft.com/office/drawing/2014/main" val="10007"/>
                  </a:ext>
                </a:extLst>
              </a:tr>
              <a:tr h="170045">
                <a:tc>
                  <a:txBody>
                    <a:bodyPr/>
                    <a:lstStyle/>
                    <a:p>
                      <a:pPr algn="l"/>
                      <a:r>
                        <a:rPr sz="1050" b="0" i="0">
                          <a:solidFill>
                            <a:srgbClr val="000000"/>
                          </a:solidFill>
                          <a:latin typeface="Calibri"/>
                        </a:rPr>
                        <a:t>Table 69: Global Market Attractiveness Index by Sales Channel, 2026–2036</a:t>
                      </a:r>
                      <a:endParaRPr sz="1050"/>
                    </a:p>
                  </a:txBody>
                  <a:tcPr marL="9525" marR="9525" marT="9525" marB="0" anchor="ctr"/>
                </a:tc>
                <a:extLst>
                  <a:ext uri="{0D108BD9-81ED-4DB2-BD59-A6C34878D82A}">
                    <a16:rowId xmlns:a16="http://schemas.microsoft.com/office/drawing/2014/main" val="10008"/>
                  </a:ext>
                </a:extLst>
              </a:tr>
              <a:tr h="170045">
                <a:tc>
                  <a:txBody>
                    <a:bodyPr/>
                    <a:lstStyle/>
                    <a:p>
                      <a:pPr algn="l"/>
                      <a:r>
                        <a:rPr sz="1050" b="0" i="0">
                          <a:solidFill>
                            <a:srgbClr val="000000"/>
                          </a:solidFill>
                          <a:latin typeface="Calibri"/>
                        </a:rPr>
                        <a:t>Table 70: Global Market Value of Slotted (Interlocking Grid) Partitions by Region, US$ Mn, 2021–2036</a:t>
                      </a:r>
                      <a:endParaRPr sz="1050"/>
                    </a:p>
                  </a:txBody>
                  <a:tcPr marL="9525" marR="9525" marT="9525" marB="0" anchor="ctr"/>
                </a:tc>
                <a:extLst>
                  <a:ext uri="{0D108BD9-81ED-4DB2-BD59-A6C34878D82A}">
                    <a16:rowId xmlns:a16="http://schemas.microsoft.com/office/drawing/2014/main" val="10009"/>
                  </a:ext>
                </a:extLst>
              </a:tr>
              <a:tr h="170045">
                <a:tc>
                  <a:txBody>
                    <a:bodyPr/>
                    <a:lstStyle/>
                    <a:p>
                      <a:pPr algn="l"/>
                      <a:r>
                        <a:rPr sz="1050" b="0" i="0">
                          <a:solidFill>
                            <a:srgbClr val="000000"/>
                          </a:solidFill>
                          <a:latin typeface="Calibri"/>
                        </a:rPr>
                        <a:t>Table 71: Global Market Value of Single Wall by Region, US$ Mn, 2021–2036</a:t>
                      </a:r>
                      <a:endParaRPr sz="1050"/>
                    </a:p>
                  </a:txBody>
                  <a:tcPr marL="9525" marR="9525" marT="9525" marB="0" anchor="ctr"/>
                </a:tc>
                <a:extLst>
                  <a:ext uri="{0D108BD9-81ED-4DB2-BD59-A6C34878D82A}">
                    <a16:rowId xmlns:a16="http://schemas.microsoft.com/office/drawing/2014/main" val="10010"/>
                  </a:ext>
                </a:extLst>
              </a:tr>
              <a:tr h="170045">
                <a:tc>
                  <a:txBody>
                    <a:bodyPr/>
                    <a:lstStyle/>
                    <a:p>
                      <a:pPr algn="l"/>
                      <a:r>
                        <a:rPr sz="1050" b="0" i="0">
                          <a:solidFill>
                            <a:srgbClr val="000000"/>
                          </a:solidFill>
                          <a:latin typeface="Calibri"/>
                        </a:rPr>
                        <a:t>Table 72: Global Market Value of Virgin Kraft Fibre-based by Region, US$ Mn, 2021–2036</a:t>
                      </a:r>
                      <a:endParaRPr sz="1050"/>
                    </a:p>
                  </a:txBody>
                  <a:tcPr marL="9525" marR="9525" marT="9525" marB="0" anchor="ctr"/>
                </a:tc>
                <a:extLst>
                  <a:ext uri="{0D108BD9-81ED-4DB2-BD59-A6C34878D82A}">
                    <a16:rowId xmlns:a16="http://schemas.microsoft.com/office/drawing/2014/main" val="10011"/>
                  </a:ext>
                </a:extLst>
              </a:tr>
              <a:tr h="170045">
                <a:tc>
                  <a:txBody>
                    <a:bodyPr/>
                    <a:lstStyle/>
                    <a:p>
                      <a:pPr algn="l"/>
                      <a:r>
                        <a:rPr sz="1050" b="0" i="0">
                          <a:solidFill>
                            <a:srgbClr val="000000"/>
                          </a:solidFill>
                          <a:latin typeface="Calibri"/>
                        </a:rPr>
                        <a:t>Table 73: Global Market Value of Up to 4 Cells by Region, US$ Mn, 2021–2036</a:t>
                      </a:r>
                      <a:endParaRPr sz="1050"/>
                    </a:p>
                  </a:txBody>
                  <a:tcPr marL="9525" marR="9525" marT="9525" marB="0" anchor="ctr"/>
                </a:tc>
                <a:extLst>
                  <a:ext uri="{0D108BD9-81ED-4DB2-BD59-A6C34878D82A}">
                    <a16:rowId xmlns:a16="http://schemas.microsoft.com/office/drawing/2014/main" val="10012"/>
                  </a:ext>
                </a:extLst>
              </a:tr>
              <a:tr h="170045">
                <a:tc>
                  <a:txBody>
                    <a:bodyPr/>
                    <a:lstStyle/>
                    <a:p>
                      <a:pPr algn="l"/>
                      <a:r>
                        <a:rPr sz="1050" b="0" i="0">
                          <a:solidFill>
                            <a:srgbClr val="000000"/>
                          </a:solidFill>
                          <a:latin typeface="Calibri"/>
                        </a:rPr>
                        <a:t>Table 74: Global Market Value of Standard / Stock Sizes by Region, US$ Mn, 2021–2036</a:t>
                      </a:r>
                      <a:endParaRPr sz="1050"/>
                    </a:p>
                  </a:txBody>
                  <a:tcPr marL="9525" marR="9525" marT="9525" marB="0" anchor="ctr"/>
                </a:tc>
                <a:extLst>
                  <a:ext uri="{0D108BD9-81ED-4DB2-BD59-A6C34878D82A}">
                    <a16:rowId xmlns:a16="http://schemas.microsoft.com/office/drawing/2014/main" val="10013"/>
                  </a:ext>
                </a:extLst>
              </a:tr>
              <a:tr h="170045">
                <a:tc>
                  <a:txBody>
                    <a:bodyPr/>
                    <a:lstStyle/>
                    <a:p>
                      <a:pPr algn="l"/>
                      <a:r>
                        <a:rPr sz="1050" b="0" i="0">
                          <a:solidFill>
                            <a:srgbClr val="000000"/>
                          </a:solidFill>
                          <a:latin typeface="Calibri"/>
                        </a:rPr>
                        <a:t>Table 75: Global Market Value of Food &amp; Beverage by Region, US$ Mn, 2021–2036</a:t>
                      </a:r>
                      <a:endParaRPr sz="1050"/>
                    </a:p>
                  </a:txBody>
                  <a:tcPr marL="9525" marR="9525" marT="9525" marB="0" anchor="ctr"/>
                </a:tc>
                <a:extLst>
                  <a:ext uri="{0D108BD9-81ED-4DB2-BD59-A6C34878D82A}">
                    <a16:rowId xmlns:a16="http://schemas.microsoft.com/office/drawing/2014/main" val="10014"/>
                  </a:ext>
                </a:extLst>
              </a:tr>
              <a:tr h="170045">
                <a:tc>
                  <a:txBody>
                    <a:bodyPr/>
                    <a:lstStyle/>
                    <a:p>
                      <a:pPr algn="l"/>
                      <a:r>
                        <a:rPr sz="1050" b="0" i="0">
                          <a:solidFill>
                            <a:srgbClr val="000000"/>
                          </a:solidFill>
                          <a:latin typeface="Calibri"/>
                        </a:rPr>
                        <a:t>Table 76: Global Market Value of Direct (to brand owners/OEMs) by Region, US$ Mn, 2021–2036</a:t>
                      </a:r>
                      <a:endParaRPr sz="1050"/>
                    </a:p>
                  </a:txBody>
                  <a:tcPr marL="9525" marR="9525" marT="9525" marB="0" anchor="ctr"/>
                </a:tc>
                <a:extLst>
                  <a:ext uri="{0D108BD9-81ED-4DB2-BD59-A6C34878D82A}">
                    <a16:rowId xmlns:a16="http://schemas.microsoft.com/office/drawing/2014/main" val="10015"/>
                  </a:ext>
                </a:extLst>
              </a:tr>
              <a:tr h="333289">
                <a:tc>
                  <a:txBody>
                    <a:bodyPr/>
                    <a:lstStyle/>
                    <a:p>
                      <a:pPr algn="l"/>
                      <a:r>
                        <a:rPr sz="1050" b="0" i="0">
                          <a:solidFill>
                            <a:srgbClr val="000000"/>
                          </a:solidFill>
                          <a:latin typeface="Calibri"/>
                        </a:rPr>
                        <a:t>Table 77: Global Market Value of Die-Cut &amp; Folded Partitions (H-dividers, tube/cell inserts) by Region, US$ Mn, 2021–2036</a:t>
                      </a:r>
                      <a:endParaRPr sz="1050"/>
                    </a:p>
                  </a:txBody>
                  <a:tcPr marL="9525" marR="9525" marT="9525" marB="0" anchor="ctr"/>
                </a:tc>
                <a:extLst>
                  <a:ext uri="{0D108BD9-81ED-4DB2-BD59-A6C34878D82A}">
                    <a16:rowId xmlns:a16="http://schemas.microsoft.com/office/drawing/2014/main" val="10016"/>
                  </a:ext>
                </a:extLst>
              </a:tr>
              <a:tr h="170045">
                <a:tc>
                  <a:txBody>
                    <a:bodyPr/>
                    <a:lstStyle/>
                    <a:p>
                      <a:pPr algn="l"/>
                      <a:r>
                        <a:rPr sz="1050" b="0" i="0">
                          <a:solidFill>
                            <a:srgbClr val="000000"/>
                          </a:solidFill>
                          <a:latin typeface="Calibri"/>
                        </a:rPr>
                        <a:t>Table 78: Global Market Value of Double Wall by Region, US$ Mn, 2021–2036</a:t>
                      </a:r>
                      <a:endParaRPr sz="1050"/>
                    </a:p>
                  </a:txBody>
                  <a:tcPr marL="9525" marR="9525" marT="9525" marB="0" anchor="ctr"/>
                </a:tc>
                <a:extLst>
                  <a:ext uri="{0D108BD9-81ED-4DB2-BD59-A6C34878D82A}">
                    <a16:rowId xmlns:a16="http://schemas.microsoft.com/office/drawing/2014/main" val="10017"/>
                  </a:ext>
                </a:extLst>
              </a:tr>
              <a:tr h="333289">
                <a:tc>
                  <a:txBody>
                    <a:bodyPr/>
                    <a:lstStyle/>
                    <a:p>
                      <a:pPr algn="l"/>
                      <a:r>
                        <a:rPr sz="1050" b="0" i="0">
                          <a:solidFill>
                            <a:srgbClr val="000000"/>
                          </a:solidFill>
                          <a:latin typeface="Calibri"/>
                        </a:rPr>
                        <a:t>Table 79: Global Market Value of Recycled Fibre-based (testliner/recycled medium) by Region, US$ Mn, 2021–2036</a:t>
                      </a:r>
                      <a:endParaRPr sz="1050"/>
                    </a:p>
                  </a:txBody>
                  <a:tcPr marL="9525" marR="9525" marT="9525" marB="0" anchor="ctr"/>
                </a:tc>
                <a:extLst>
                  <a:ext uri="{0D108BD9-81ED-4DB2-BD59-A6C34878D82A}">
                    <a16:rowId xmlns:a16="http://schemas.microsoft.com/office/drawing/2014/main" val="10018"/>
                  </a:ext>
                </a:extLst>
              </a:tr>
              <a:tr h="170045">
                <a:tc>
                  <a:txBody>
                    <a:bodyPr/>
                    <a:lstStyle/>
                    <a:p>
                      <a:pPr algn="l"/>
                      <a:r>
                        <a:rPr sz="1050" b="0" i="0">
                          <a:solidFill>
                            <a:srgbClr val="000000"/>
                          </a:solidFill>
                          <a:latin typeface="Calibri"/>
                        </a:rPr>
                        <a:t>Table 80: Global Market Value by Partition Type and Board Construction, US$ Mn, 2026–2036</a:t>
                      </a:r>
                      <a:endParaRPr sz="1050"/>
                    </a:p>
                  </a:txBody>
                  <a:tcPr marL="9525" marR="9525" marT="9525" marB="0" anchor="ctr"/>
                </a:tc>
                <a:extLst>
                  <a:ext uri="{0D108BD9-81ED-4DB2-BD59-A6C34878D82A}">
                    <a16:rowId xmlns:a16="http://schemas.microsoft.com/office/drawing/2014/main" val="10019"/>
                  </a:ext>
                </a:extLst>
              </a:tr>
              <a:tr h="170045">
                <a:tc>
                  <a:txBody>
                    <a:bodyPr/>
                    <a:lstStyle/>
                    <a:p>
                      <a:pPr algn="l"/>
                      <a:r>
                        <a:rPr sz="1050" b="0" i="0">
                          <a:solidFill>
                            <a:srgbClr val="000000"/>
                          </a:solidFill>
                          <a:latin typeface="Calibri"/>
                        </a:rPr>
                        <a:t>Table 81: Global Market Value by Partition Type and Material Source, US$ Mn, 2026–2036</a:t>
                      </a:r>
                      <a:endParaRPr sz="1050"/>
                    </a:p>
                  </a:txBody>
                  <a:tcPr marL="9525" marR="9525" marT="9525" marB="0" anchor="ctr"/>
                </a:tc>
                <a:extLst>
                  <a:ext uri="{0D108BD9-81ED-4DB2-BD59-A6C34878D82A}">
                    <a16:rowId xmlns:a16="http://schemas.microsoft.com/office/drawing/2014/main" val="10020"/>
                  </a:ext>
                </a:extLst>
              </a:tr>
              <a:tr h="170045">
                <a:tc>
                  <a:txBody>
                    <a:bodyPr/>
                    <a:lstStyle/>
                    <a:p>
                      <a:pPr algn="l"/>
                      <a:r>
                        <a:rPr sz="1050" b="0" i="0">
                          <a:solidFill>
                            <a:srgbClr val="000000"/>
                          </a:solidFill>
                          <a:latin typeface="Calibri"/>
                        </a:rPr>
                        <a:t>Table 82: Global Market Value by Partition Type and Cell Configuration, US$ Mn, 2026–2036</a:t>
                      </a:r>
                      <a:endParaRPr sz="1050"/>
                    </a:p>
                  </a:txBody>
                  <a:tcPr marL="9525" marR="9525" marT="9525" marB="0" anchor="ctr"/>
                </a:tc>
                <a:extLst>
                  <a:ext uri="{0D108BD9-81ED-4DB2-BD59-A6C34878D82A}">
                    <a16:rowId xmlns:a16="http://schemas.microsoft.com/office/drawing/2014/main" val="10021"/>
                  </a:ext>
                </a:extLst>
              </a:tr>
              <a:tr h="170045">
                <a:tc>
                  <a:txBody>
                    <a:bodyPr/>
                    <a:lstStyle/>
                    <a:p>
                      <a:pPr algn="l"/>
                      <a:r>
                        <a:rPr sz="1050" b="0" i="0">
                          <a:solidFill>
                            <a:srgbClr val="000000"/>
                          </a:solidFill>
                          <a:latin typeface="Calibri"/>
                        </a:rPr>
                        <a:t>Table 83: Global Market Value by Partition Type and Customization, US$ Mn, 2026–2036</a:t>
                      </a:r>
                      <a:endParaRPr sz="1050"/>
                    </a:p>
                  </a:txBody>
                  <a:tcPr marL="9525" marR="9525" marT="9525" marB="0" anchor="ctr"/>
                </a:tc>
                <a:extLst>
                  <a:ext uri="{0D108BD9-81ED-4DB2-BD59-A6C34878D82A}">
                    <a16:rowId xmlns:a16="http://schemas.microsoft.com/office/drawing/2014/main" val="10022"/>
                  </a:ext>
                </a:extLst>
              </a:tr>
              <a:tr h="170045">
                <a:tc>
                  <a:txBody>
                    <a:bodyPr/>
                    <a:lstStyle/>
                    <a:p>
                      <a:pPr algn="l"/>
                      <a:r>
                        <a:rPr sz="1050" b="0" i="0">
                          <a:solidFill>
                            <a:srgbClr val="000000"/>
                          </a:solidFill>
                          <a:latin typeface="Calibri"/>
                        </a:rPr>
                        <a:t>Table 84: Global Market Value by Partition Type and End Use, US$ Mn, 2026–2036</a:t>
                      </a:r>
                      <a:endParaRPr sz="1050"/>
                    </a:p>
                  </a:txBody>
                  <a:tcPr marL="9525" marR="9525" marT="9525" marB="0" anchor="ctr"/>
                </a:tc>
                <a:extLst>
                  <a:ext uri="{0D108BD9-81ED-4DB2-BD59-A6C34878D82A}">
                    <a16:rowId xmlns:a16="http://schemas.microsoft.com/office/drawing/2014/main" val="10023"/>
                  </a:ext>
                </a:extLst>
              </a:tr>
              <a:tr h="170045">
                <a:tc>
                  <a:txBody>
                    <a:bodyPr/>
                    <a:lstStyle/>
                    <a:p>
                      <a:pPr algn="l"/>
                      <a:r>
                        <a:rPr sz="1050" b="0" i="0">
                          <a:solidFill>
                            <a:srgbClr val="000000"/>
                          </a:solidFill>
                          <a:latin typeface="Calibri"/>
                        </a:rPr>
                        <a:t>Table 85: Global Market Value by Partition Type and Sales Channel, US$ Mn, 2026–2036</a:t>
                      </a:r>
                      <a:endParaRPr sz="1050"/>
                    </a:p>
                  </a:txBody>
                  <a:tcPr marL="9525" marR="9525" marT="9525" marB="0" anchor="ctr"/>
                </a:tc>
                <a:extLst>
                  <a:ext uri="{0D108BD9-81ED-4DB2-BD59-A6C34878D82A}">
                    <a16:rowId xmlns:a16="http://schemas.microsoft.com/office/drawing/2014/main" val="10024"/>
                  </a:ext>
                </a:extLst>
              </a:tr>
              <a:tr h="170045">
                <a:tc>
                  <a:txBody>
                    <a:bodyPr/>
                    <a:lstStyle/>
                    <a:p>
                      <a:pPr algn="l"/>
                      <a:r>
                        <a:rPr sz="1050" b="0" i="0">
                          <a:solidFill>
                            <a:srgbClr val="000000"/>
                          </a:solidFill>
                          <a:latin typeface="Calibri"/>
                        </a:rPr>
                        <a:t>Table 86: Global Market Value by Board Construction and Material Source, US$ Mn, 2026–2036</a:t>
                      </a:r>
                      <a:endParaRPr sz="1050"/>
                    </a:p>
                  </a:txBody>
                  <a:tcPr marL="9525" marR="9525" marT="9525" marB="0" anchor="ctr"/>
                </a:tc>
                <a:extLst>
                  <a:ext uri="{0D108BD9-81ED-4DB2-BD59-A6C34878D82A}">
                    <a16:rowId xmlns:a16="http://schemas.microsoft.com/office/drawing/2014/main" val="10025"/>
                  </a:ext>
                </a:extLst>
              </a:tr>
              <a:tr h="170045">
                <a:tc>
                  <a:txBody>
                    <a:bodyPr/>
                    <a:lstStyle/>
                    <a:p>
                      <a:pPr algn="l"/>
                      <a:r>
                        <a:rPr sz="1050" b="0" i="0">
                          <a:solidFill>
                            <a:srgbClr val="000000"/>
                          </a:solidFill>
                          <a:latin typeface="Calibri"/>
                        </a:rPr>
                        <a:t>Table 87: Global Market Value by Board Construction and Cell Configuration, US$ Mn, 2026–2036</a:t>
                      </a:r>
                      <a:endParaRPr sz="1050"/>
                    </a:p>
                  </a:txBody>
                  <a:tcPr marL="9525" marR="9525" marT="9525" marB="0" anchor="ctr"/>
                </a:tc>
                <a:extLst>
                  <a:ext uri="{0D108BD9-81ED-4DB2-BD59-A6C34878D82A}">
                    <a16:rowId xmlns:a16="http://schemas.microsoft.com/office/drawing/2014/main" val="10026"/>
                  </a:ext>
                </a:extLst>
              </a:tr>
              <a:tr h="170045">
                <a:tc>
                  <a:txBody>
                    <a:bodyPr/>
                    <a:lstStyle/>
                    <a:p>
                      <a:pPr algn="l"/>
                      <a:r>
                        <a:rPr sz="1050" b="0" i="0">
                          <a:solidFill>
                            <a:srgbClr val="000000"/>
                          </a:solidFill>
                          <a:latin typeface="Calibri"/>
                        </a:rPr>
                        <a:t>Table 88: Global Market Value by Board Construction and Customization, US$ Mn, 2026–2036</a:t>
                      </a:r>
                      <a:endParaRPr sz="1050"/>
                    </a:p>
                  </a:txBody>
                  <a:tcPr marL="9525" marR="9525" marT="9525" marB="0" anchor="ctr"/>
                </a:tc>
                <a:extLst>
                  <a:ext uri="{0D108BD9-81ED-4DB2-BD59-A6C34878D82A}">
                    <a16:rowId xmlns:a16="http://schemas.microsoft.com/office/drawing/2014/main" val="10027"/>
                  </a:ext>
                </a:extLst>
              </a:tr>
              <a:tr h="170045">
                <a:tc>
                  <a:txBody>
                    <a:bodyPr/>
                    <a:lstStyle/>
                    <a:p>
                      <a:pPr algn="l"/>
                      <a:r>
                        <a:rPr sz="1050" b="0" i="0">
                          <a:solidFill>
                            <a:srgbClr val="000000"/>
                          </a:solidFill>
                          <a:latin typeface="Calibri"/>
                        </a:rPr>
                        <a:t>Table 89: Global Market Value by Board Construction and End Use, US$ Mn, 2026–2036</a:t>
                      </a:r>
                      <a:endParaRPr sz="1050"/>
                    </a:p>
                  </a:txBody>
                  <a:tcPr marL="9525" marR="9525" marT="9525" marB="0" anchor="ctr"/>
                </a:tc>
                <a:extLst>
                  <a:ext uri="{0D108BD9-81ED-4DB2-BD59-A6C34878D82A}">
                    <a16:rowId xmlns:a16="http://schemas.microsoft.com/office/drawing/2014/main" val="10028"/>
                  </a:ext>
                </a:extLst>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69826">
                <a:tc>
                  <a:txBody>
                    <a:bodyPr/>
                    <a:lstStyle/>
                    <a:p>
                      <a:pPr algn="l"/>
                      <a:r>
                        <a:rPr sz="1050" b="0" i="0">
                          <a:solidFill>
                            <a:srgbClr val="000000"/>
                          </a:solidFill>
                          <a:latin typeface="Calibri"/>
                        </a:rPr>
                        <a:t>Table 90: Global Market Value by Board Construction and Sales Channel, US$ Mn, 2026–2036</a:t>
                      </a:r>
                      <a:endParaRPr sz="1050"/>
                    </a:p>
                  </a:txBody>
                  <a:tcPr marL="9525" marR="9525" marT="9525" marB="0" anchor="ctr"/>
                </a:tc>
                <a:extLst>
                  <a:ext uri="{0D108BD9-81ED-4DB2-BD59-A6C34878D82A}">
                    <a16:rowId xmlns:a16="http://schemas.microsoft.com/office/drawing/2014/main" val="10000"/>
                  </a:ext>
                </a:extLst>
              </a:tr>
              <a:tr h="169826">
                <a:tc>
                  <a:txBody>
                    <a:bodyPr/>
                    <a:lstStyle/>
                    <a:p>
                      <a:pPr algn="l"/>
                      <a:r>
                        <a:rPr sz="1050" b="0" i="0">
                          <a:solidFill>
                            <a:srgbClr val="000000"/>
                          </a:solidFill>
                          <a:latin typeface="Calibri"/>
                        </a:rPr>
                        <a:t>Table 91: Global Market Value by Material Source and Cell Configuration, US$ Mn, 2026–2036</a:t>
                      </a:r>
                      <a:endParaRPr sz="1050"/>
                    </a:p>
                  </a:txBody>
                  <a:tcPr marL="9525" marR="9525" marT="9525" marB="0" anchor="ctr"/>
                </a:tc>
                <a:extLst>
                  <a:ext uri="{0D108BD9-81ED-4DB2-BD59-A6C34878D82A}">
                    <a16:rowId xmlns:a16="http://schemas.microsoft.com/office/drawing/2014/main" val="10001"/>
                  </a:ext>
                </a:extLst>
              </a:tr>
              <a:tr h="169826">
                <a:tc>
                  <a:txBody>
                    <a:bodyPr/>
                    <a:lstStyle/>
                    <a:p>
                      <a:pPr algn="l"/>
                      <a:r>
                        <a:rPr sz="1050" b="0" i="0">
                          <a:solidFill>
                            <a:srgbClr val="000000"/>
                          </a:solidFill>
                          <a:latin typeface="Calibri"/>
                        </a:rPr>
                        <a:t>Table 92: Global Market Value by Material Source and Customization, US$ Mn, 2026–2036</a:t>
                      </a:r>
                      <a:endParaRPr sz="1050"/>
                    </a:p>
                  </a:txBody>
                  <a:tcPr marL="9525" marR="9525" marT="9525" marB="0" anchor="ctr"/>
                </a:tc>
                <a:extLst>
                  <a:ext uri="{0D108BD9-81ED-4DB2-BD59-A6C34878D82A}">
                    <a16:rowId xmlns:a16="http://schemas.microsoft.com/office/drawing/2014/main" val="10002"/>
                  </a:ext>
                </a:extLst>
              </a:tr>
              <a:tr h="169826">
                <a:tc>
                  <a:txBody>
                    <a:bodyPr/>
                    <a:lstStyle/>
                    <a:p>
                      <a:pPr algn="l"/>
                      <a:r>
                        <a:rPr sz="1050" b="0" i="0">
                          <a:solidFill>
                            <a:srgbClr val="000000"/>
                          </a:solidFill>
                          <a:latin typeface="Calibri"/>
                        </a:rPr>
                        <a:t>Table 93: Global Market Value by Material Source and End Use, US$ Mn, 2026–2036</a:t>
                      </a:r>
                      <a:endParaRPr sz="1050"/>
                    </a:p>
                  </a:txBody>
                  <a:tcPr marL="9525" marR="9525" marT="9525" marB="0" anchor="ctr"/>
                </a:tc>
                <a:extLst>
                  <a:ext uri="{0D108BD9-81ED-4DB2-BD59-A6C34878D82A}">
                    <a16:rowId xmlns:a16="http://schemas.microsoft.com/office/drawing/2014/main" val="10003"/>
                  </a:ext>
                </a:extLst>
              </a:tr>
              <a:tr h="169826">
                <a:tc>
                  <a:txBody>
                    <a:bodyPr/>
                    <a:lstStyle/>
                    <a:p>
                      <a:pPr algn="l"/>
                      <a:r>
                        <a:rPr sz="1050" b="0" i="0">
                          <a:solidFill>
                            <a:srgbClr val="000000"/>
                          </a:solidFill>
                          <a:latin typeface="Calibri"/>
                        </a:rPr>
                        <a:t>Table 94: Global Market Value by Material Source and Sales Channel, US$ Mn, 2026–2036</a:t>
                      </a:r>
                      <a:endParaRPr sz="1050"/>
                    </a:p>
                  </a:txBody>
                  <a:tcPr marL="9525" marR="9525" marT="9525" marB="0" anchor="ctr"/>
                </a:tc>
                <a:extLst>
                  <a:ext uri="{0D108BD9-81ED-4DB2-BD59-A6C34878D82A}">
                    <a16:rowId xmlns:a16="http://schemas.microsoft.com/office/drawing/2014/main" val="10004"/>
                  </a:ext>
                </a:extLst>
              </a:tr>
              <a:tr h="169826">
                <a:tc>
                  <a:txBody>
                    <a:bodyPr/>
                    <a:lstStyle/>
                    <a:p>
                      <a:pPr algn="l"/>
                      <a:r>
                        <a:rPr sz="1050" b="0" i="0">
                          <a:solidFill>
                            <a:srgbClr val="000000"/>
                          </a:solidFill>
                          <a:latin typeface="Calibri"/>
                        </a:rPr>
                        <a:t>Table 95: Global Market Value by Cell Configuration and Customization, US$ Mn, 2026–2036</a:t>
                      </a:r>
                      <a:endParaRPr sz="1050"/>
                    </a:p>
                  </a:txBody>
                  <a:tcPr marL="9525" marR="9525" marT="9525" marB="0" anchor="ctr"/>
                </a:tc>
                <a:extLst>
                  <a:ext uri="{0D108BD9-81ED-4DB2-BD59-A6C34878D82A}">
                    <a16:rowId xmlns:a16="http://schemas.microsoft.com/office/drawing/2014/main" val="10005"/>
                  </a:ext>
                </a:extLst>
              </a:tr>
              <a:tr h="169826">
                <a:tc>
                  <a:txBody>
                    <a:bodyPr/>
                    <a:lstStyle/>
                    <a:p>
                      <a:pPr algn="l"/>
                      <a:r>
                        <a:rPr sz="1050" b="0" i="0">
                          <a:solidFill>
                            <a:srgbClr val="000000"/>
                          </a:solidFill>
                          <a:latin typeface="Calibri"/>
                        </a:rPr>
                        <a:t>Table 96: Global Market Value by Cell Configuration and End Use, US$ Mn, 2026–2036</a:t>
                      </a:r>
                      <a:endParaRPr sz="1050"/>
                    </a:p>
                  </a:txBody>
                  <a:tcPr marL="9525" marR="9525" marT="9525" marB="0" anchor="ctr"/>
                </a:tc>
                <a:extLst>
                  <a:ext uri="{0D108BD9-81ED-4DB2-BD59-A6C34878D82A}">
                    <a16:rowId xmlns:a16="http://schemas.microsoft.com/office/drawing/2014/main" val="10006"/>
                  </a:ext>
                </a:extLst>
              </a:tr>
              <a:tr h="169826">
                <a:tc>
                  <a:txBody>
                    <a:bodyPr/>
                    <a:lstStyle/>
                    <a:p>
                      <a:pPr algn="l"/>
                      <a:r>
                        <a:rPr sz="1050" b="0" i="0">
                          <a:solidFill>
                            <a:srgbClr val="000000"/>
                          </a:solidFill>
                          <a:latin typeface="Calibri"/>
                        </a:rPr>
                        <a:t>Table 97: Global Market Value by Cell Configuration and Sales Channel, US$ Mn, 2026–2036</a:t>
                      </a:r>
                      <a:endParaRPr sz="1050"/>
                    </a:p>
                  </a:txBody>
                  <a:tcPr marL="9525" marR="9525" marT="9525" marB="0" anchor="ctr"/>
                </a:tc>
                <a:extLst>
                  <a:ext uri="{0D108BD9-81ED-4DB2-BD59-A6C34878D82A}">
                    <a16:rowId xmlns:a16="http://schemas.microsoft.com/office/drawing/2014/main" val="10007"/>
                  </a:ext>
                </a:extLst>
              </a:tr>
              <a:tr h="169826">
                <a:tc>
                  <a:txBody>
                    <a:bodyPr/>
                    <a:lstStyle/>
                    <a:p>
                      <a:pPr algn="l"/>
                      <a:r>
                        <a:rPr sz="1050" b="0" i="0">
                          <a:solidFill>
                            <a:srgbClr val="000000"/>
                          </a:solidFill>
                          <a:latin typeface="Calibri"/>
                        </a:rPr>
                        <a:t>Table 98: Global Market Value by Customization and End Use, US$ Mn, 2026–2036</a:t>
                      </a:r>
                      <a:endParaRPr sz="1050"/>
                    </a:p>
                  </a:txBody>
                  <a:tcPr marL="9525" marR="9525" marT="9525" marB="0" anchor="ctr"/>
                </a:tc>
                <a:extLst>
                  <a:ext uri="{0D108BD9-81ED-4DB2-BD59-A6C34878D82A}">
                    <a16:rowId xmlns:a16="http://schemas.microsoft.com/office/drawing/2014/main" val="10008"/>
                  </a:ext>
                </a:extLst>
              </a:tr>
              <a:tr h="169826">
                <a:tc>
                  <a:txBody>
                    <a:bodyPr/>
                    <a:lstStyle/>
                    <a:p>
                      <a:pPr algn="l"/>
                      <a:r>
                        <a:rPr sz="1050" b="0" i="0">
                          <a:solidFill>
                            <a:srgbClr val="000000"/>
                          </a:solidFill>
                          <a:latin typeface="Calibri"/>
                        </a:rPr>
                        <a:t>Table 99: Global Market Value by Customization and Sales Channel, US$ Mn, 2026–2036</a:t>
                      </a:r>
                      <a:endParaRPr sz="1050"/>
                    </a:p>
                  </a:txBody>
                  <a:tcPr marL="9525" marR="9525" marT="9525" marB="0" anchor="ctr"/>
                </a:tc>
                <a:extLst>
                  <a:ext uri="{0D108BD9-81ED-4DB2-BD59-A6C34878D82A}">
                    <a16:rowId xmlns:a16="http://schemas.microsoft.com/office/drawing/2014/main" val="10009"/>
                  </a:ext>
                </a:extLst>
              </a:tr>
              <a:tr h="169826">
                <a:tc>
                  <a:txBody>
                    <a:bodyPr/>
                    <a:lstStyle/>
                    <a:p>
                      <a:pPr algn="l"/>
                      <a:r>
                        <a:rPr sz="1050" b="0" i="0">
                          <a:solidFill>
                            <a:srgbClr val="000000"/>
                          </a:solidFill>
                          <a:latin typeface="Calibri"/>
                        </a:rPr>
                        <a:t>Table 100: Global Market Value by End Use and Sales Channel, US$ Mn, 2026–2036</a:t>
                      </a:r>
                      <a:endParaRPr sz="1050"/>
                    </a:p>
                  </a:txBody>
                  <a:tcPr marL="9525" marR="9525" marT="9525" marB="0" anchor="ctr"/>
                </a:tc>
                <a:extLst>
                  <a:ext uri="{0D108BD9-81ED-4DB2-BD59-A6C34878D82A}">
                    <a16:rowId xmlns:a16="http://schemas.microsoft.com/office/drawing/2014/main" val="10010"/>
                  </a:ext>
                </a:extLst>
              </a:tr>
              <a:tr h="169826">
                <a:tc>
                  <a:txBody>
                    <a:bodyPr/>
                    <a:lstStyle/>
                    <a:p>
                      <a:pPr algn="l"/>
                      <a:r>
                        <a:rPr sz="1050" b="0" i="0">
                          <a:solidFill>
                            <a:srgbClr val="000000"/>
                          </a:solidFill>
                          <a:latin typeface="Calibri"/>
                        </a:rPr>
                        <a:t>Table 101: Global Market Value by Region and Partition Type, US$ Mn, 2026–2036</a:t>
                      </a:r>
                      <a:endParaRPr sz="1050"/>
                    </a:p>
                  </a:txBody>
                  <a:tcPr marL="9525" marR="9525" marT="9525" marB="0" anchor="ctr"/>
                </a:tc>
                <a:extLst>
                  <a:ext uri="{0D108BD9-81ED-4DB2-BD59-A6C34878D82A}">
                    <a16:rowId xmlns:a16="http://schemas.microsoft.com/office/drawing/2014/main" val="10011"/>
                  </a:ext>
                </a:extLst>
              </a:tr>
              <a:tr h="169826">
                <a:tc>
                  <a:txBody>
                    <a:bodyPr/>
                    <a:lstStyle/>
                    <a:p>
                      <a:pPr algn="l"/>
                      <a:r>
                        <a:rPr sz="1050" b="0" i="0">
                          <a:solidFill>
                            <a:srgbClr val="000000"/>
                          </a:solidFill>
                          <a:latin typeface="Calibri"/>
                        </a:rPr>
                        <a:t>Table 102: Global Market Value by Region and Board Construction, US$ Mn, 2026–2036</a:t>
                      </a:r>
                      <a:endParaRPr sz="1050"/>
                    </a:p>
                  </a:txBody>
                  <a:tcPr marL="9525" marR="9525" marT="9525" marB="0" anchor="ctr"/>
                </a:tc>
                <a:extLst>
                  <a:ext uri="{0D108BD9-81ED-4DB2-BD59-A6C34878D82A}">
                    <a16:rowId xmlns:a16="http://schemas.microsoft.com/office/drawing/2014/main" val="10012"/>
                  </a:ext>
                </a:extLst>
              </a:tr>
              <a:tr h="169826">
                <a:tc>
                  <a:txBody>
                    <a:bodyPr/>
                    <a:lstStyle/>
                    <a:p>
                      <a:pPr algn="l"/>
                      <a:r>
                        <a:rPr sz="1050" b="0" i="0">
                          <a:solidFill>
                            <a:srgbClr val="000000"/>
                          </a:solidFill>
                          <a:latin typeface="Calibri"/>
                        </a:rPr>
                        <a:t>Table 103: Global Market Value by Region and Material Source, US$ Mn, 2026–2036</a:t>
                      </a:r>
                      <a:endParaRPr sz="1050"/>
                    </a:p>
                  </a:txBody>
                  <a:tcPr marL="9525" marR="9525" marT="9525" marB="0" anchor="ctr"/>
                </a:tc>
                <a:extLst>
                  <a:ext uri="{0D108BD9-81ED-4DB2-BD59-A6C34878D82A}">
                    <a16:rowId xmlns:a16="http://schemas.microsoft.com/office/drawing/2014/main" val="10013"/>
                  </a:ext>
                </a:extLst>
              </a:tr>
              <a:tr h="169826">
                <a:tc>
                  <a:txBody>
                    <a:bodyPr/>
                    <a:lstStyle/>
                    <a:p>
                      <a:pPr algn="l"/>
                      <a:r>
                        <a:rPr sz="1050" b="0" i="0">
                          <a:solidFill>
                            <a:srgbClr val="000000"/>
                          </a:solidFill>
                          <a:latin typeface="Calibri"/>
                        </a:rPr>
                        <a:t>Table 104: Global Market Value by Region and Cell Configuration, US$ Mn, 2026–2036</a:t>
                      </a:r>
                      <a:endParaRPr sz="1050"/>
                    </a:p>
                  </a:txBody>
                  <a:tcPr marL="9525" marR="9525" marT="9525" marB="0" anchor="ctr"/>
                </a:tc>
                <a:extLst>
                  <a:ext uri="{0D108BD9-81ED-4DB2-BD59-A6C34878D82A}">
                    <a16:rowId xmlns:a16="http://schemas.microsoft.com/office/drawing/2014/main" val="10014"/>
                  </a:ext>
                </a:extLst>
              </a:tr>
              <a:tr h="169826">
                <a:tc>
                  <a:txBody>
                    <a:bodyPr/>
                    <a:lstStyle/>
                    <a:p>
                      <a:pPr algn="l"/>
                      <a:r>
                        <a:rPr sz="1050" b="0" i="0">
                          <a:solidFill>
                            <a:srgbClr val="000000"/>
                          </a:solidFill>
                          <a:latin typeface="Calibri"/>
                        </a:rPr>
                        <a:t>Table 105: Global Market Value by Region and Customization, US$ Mn, 2026–2036</a:t>
                      </a:r>
                      <a:endParaRPr sz="1050"/>
                    </a:p>
                  </a:txBody>
                  <a:tcPr marL="9525" marR="9525" marT="9525" marB="0" anchor="ctr"/>
                </a:tc>
                <a:extLst>
                  <a:ext uri="{0D108BD9-81ED-4DB2-BD59-A6C34878D82A}">
                    <a16:rowId xmlns:a16="http://schemas.microsoft.com/office/drawing/2014/main" val="10015"/>
                  </a:ext>
                </a:extLst>
              </a:tr>
              <a:tr h="169826">
                <a:tc>
                  <a:txBody>
                    <a:bodyPr/>
                    <a:lstStyle/>
                    <a:p>
                      <a:pPr algn="l"/>
                      <a:r>
                        <a:rPr sz="1050" b="0" i="0">
                          <a:solidFill>
                            <a:srgbClr val="000000"/>
                          </a:solidFill>
                          <a:latin typeface="Calibri"/>
                        </a:rPr>
                        <a:t>Table 106: Global Market Value by Region and End Use, US$ Mn, 2026–2036</a:t>
                      </a:r>
                      <a:endParaRPr sz="1050"/>
                    </a:p>
                  </a:txBody>
                  <a:tcPr marL="9525" marR="9525" marT="9525" marB="0" anchor="ctr"/>
                </a:tc>
                <a:extLst>
                  <a:ext uri="{0D108BD9-81ED-4DB2-BD59-A6C34878D82A}">
                    <a16:rowId xmlns:a16="http://schemas.microsoft.com/office/drawing/2014/main" val="10016"/>
                  </a:ext>
                </a:extLst>
              </a:tr>
              <a:tr h="169826">
                <a:tc>
                  <a:txBody>
                    <a:bodyPr/>
                    <a:lstStyle/>
                    <a:p>
                      <a:pPr algn="l"/>
                      <a:r>
                        <a:rPr sz="1050" b="0" i="0">
                          <a:solidFill>
                            <a:srgbClr val="000000"/>
                          </a:solidFill>
                          <a:latin typeface="Calibri"/>
                        </a:rPr>
                        <a:t>Table 107: Global Market Value by Region and Sales Channel, US$ Mn, 2026–2036</a:t>
                      </a:r>
                      <a:endParaRPr sz="1050"/>
                    </a:p>
                  </a:txBody>
                  <a:tcPr marL="9525" marR="9525" marT="9525" marB="0" anchor="ctr"/>
                </a:tc>
                <a:extLst>
                  <a:ext uri="{0D108BD9-81ED-4DB2-BD59-A6C34878D82A}">
                    <a16:rowId xmlns:a16="http://schemas.microsoft.com/office/drawing/2014/main" val="10017"/>
                  </a:ext>
                </a:extLst>
              </a:tr>
              <a:tr h="169826">
                <a:tc>
                  <a:txBody>
                    <a:bodyPr/>
                    <a:lstStyle/>
                    <a:p>
                      <a:pPr algn="l"/>
                      <a:r>
                        <a:rPr sz="1050" b="0" i="0">
                          <a:solidFill>
                            <a:srgbClr val="000000"/>
                          </a:solidFill>
                          <a:latin typeface="Calibri"/>
                        </a:rPr>
                        <a:t>Table 108: Global Market Value by Region, US$ Mn, 2021–2036</a:t>
                      </a:r>
                      <a:endParaRPr sz="1050"/>
                    </a:p>
                  </a:txBody>
                  <a:tcPr marL="9525" marR="9525" marT="9525" marB="0" anchor="ctr"/>
                </a:tc>
                <a:extLst>
                  <a:ext uri="{0D108BD9-81ED-4DB2-BD59-A6C34878D82A}">
                    <a16:rowId xmlns:a16="http://schemas.microsoft.com/office/drawing/2014/main" val="10018"/>
                  </a:ext>
                </a:extLst>
              </a:tr>
              <a:tr h="169826">
                <a:tc>
                  <a:txBody>
                    <a:bodyPr/>
                    <a:lstStyle/>
                    <a:p>
                      <a:pPr algn="l"/>
                      <a:r>
                        <a:rPr sz="1050" b="0" i="0">
                          <a:solidFill>
                            <a:srgbClr val="000000"/>
                          </a:solidFill>
                          <a:latin typeface="Calibri"/>
                        </a:rPr>
                        <a:t>Table 109: Global Market CAGR and Absolute $ Opportunity by Region, %, US$ Mn, 2026–2036</a:t>
                      </a:r>
                      <a:endParaRPr sz="1050"/>
                    </a:p>
                  </a:txBody>
                  <a:tcPr marL="9525" marR="9525" marT="9525" marB="0" anchor="ctr"/>
                </a:tc>
                <a:extLst>
                  <a:ext uri="{0D108BD9-81ED-4DB2-BD59-A6C34878D82A}">
                    <a16:rowId xmlns:a16="http://schemas.microsoft.com/office/drawing/2014/main" val="10019"/>
                  </a:ext>
                </a:extLst>
              </a:tr>
              <a:tr h="169826">
                <a:tc>
                  <a:txBody>
                    <a:bodyPr/>
                    <a:lstStyle/>
                    <a:p>
                      <a:pPr algn="l"/>
                      <a:r>
                        <a:rPr sz="1050" b="0" i="0">
                          <a:solidFill>
                            <a:srgbClr val="000000"/>
                          </a:solidFill>
                          <a:latin typeface="Calibri"/>
                        </a:rPr>
                        <a:t>Table 110: Global Market Share and BPS Change by Region, %, 2026 and 2036</a:t>
                      </a:r>
                      <a:endParaRPr sz="1050"/>
                    </a:p>
                  </a:txBody>
                  <a:tcPr marL="9525" marR="9525" marT="9525" marB="0" anchor="ctr"/>
                </a:tc>
                <a:extLst>
                  <a:ext uri="{0D108BD9-81ED-4DB2-BD59-A6C34878D82A}">
                    <a16:rowId xmlns:a16="http://schemas.microsoft.com/office/drawing/2014/main" val="10020"/>
                  </a:ext>
                </a:extLst>
              </a:tr>
              <a:tr h="169826">
                <a:tc>
                  <a:txBody>
                    <a:bodyPr/>
                    <a:lstStyle/>
                    <a:p>
                      <a:pPr algn="l"/>
                      <a:r>
                        <a:rPr sz="1050" b="0" i="0">
                          <a:solidFill>
                            <a:srgbClr val="000000"/>
                          </a:solidFill>
                          <a:latin typeface="Calibri"/>
                        </a:rPr>
                        <a:t>Table 111: Global Market Volume by Region, MT, 2021–2036</a:t>
                      </a:r>
                      <a:endParaRPr sz="1050"/>
                    </a:p>
                  </a:txBody>
                  <a:tcPr marL="9525" marR="9525" marT="9525" marB="0" anchor="ctr"/>
                </a:tc>
                <a:extLst>
                  <a:ext uri="{0D108BD9-81ED-4DB2-BD59-A6C34878D82A}">
                    <a16:rowId xmlns:a16="http://schemas.microsoft.com/office/drawing/2014/main" val="10021"/>
                  </a:ext>
                </a:extLst>
              </a:tr>
              <a:tr h="169826">
                <a:tc>
                  <a:txBody>
                    <a:bodyPr/>
                    <a:lstStyle/>
                    <a:p>
                      <a:pPr algn="l"/>
                      <a:r>
                        <a:rPr sz="1050" b="0" i="0">
                          <a:solidFill>
                            <a:srgbClr val="000000"/>
                          </a:solidFill>
                          <a:latin typeface="Calibri"/>
                        </a:rPr>
                        <a:t>Table 112: North America Market Value by Country, US$ Mn, 2021–2036</a:t>
                      </a:r>
                      <a:endParaRPr sz="1050"/>
                    </a:p>
                  </a:txBody>
                  <a:tcPr marL="9525" marR="9525" marT="9525" marB="0" anchor="ctr"/>
                </a:tc>
                <a:extLst>
                  <a:ext uri="{0D108BD9-81ED-4DB2-BD59-A6C34878D82A}">
                    <a16:rowId xmlns:a16="http://schemas.microsoft.com/office/drawing/2014/main" val="10022"/>
                  </a:ext>
                </a:extLst>
              </a:tr>
              <a:tr h="169826">
                <a:tc>
                  <a:txBody>
                    <a:bodyPr/>
                    <a:lstStyle/>
                    <a:p>
                      <a:pPr algn="l"/>
                      <a:r>
                        <a:rPr sz="1050" b="0" i="0">
                          <a:solidFill>
                            <a:srgbClr val="000000"/>
                          </a:solidFill>
                          <a:latin typeface="Calibri"/>
                        </a:rPr>
                        <a:t>Table 113: Latin America Market Value by Country, US$ Mn, 2021–2036</a:t>
                      </a:r>
                      <a:endParaRPr sz="1050"/>
                    </a:p>
                  </a:txBody>
                  <a:tcPr marL="9525" marR="9525" marT="9525" marB="0" anchor="ctr"/>
                </a:tc>
                <a:extLst>
                  <a:ext uri="{0D108BD9-81ED-4DB2-BD59-A6C34878D82A}">
                    <a16:rowId xmlns:a16="http://schemas.microsoft.com/office/drawing/2014/main" val="10023"/>
                  </a:ext>
                </a:extLst>
              </a:tr>
              <a:tr h="169826">
                <a:tc>
                  <a:txBody>
                    <a:bodyPr/>
                    <a:lstStyle/>
                    <a:p>
                      <a:pPr algn="l"/>
                      <a:r>
                        <a:rPr sz="1050" b="0" i="0">
                          <a:solidFill>
                            <a:srgbClr val="000000"/>
                          </a:solidFill>
                          <a:latin typeface="Calibri"/>
                        </a:rPr>
                        <a:t>Table 114: Europe Market Value by Country, US$ Mn, 2021–2036</a:t>
                      </a:r>
                      <a:endParaRPr sz="1050"/>
                    </a:p>
                  </a:txBody>
                  <a:tcPr marL="9525" marR="9525" marT="9525" marB="0" anchor="ctr"/>
                </a:tc>
                <a:extLst>
                  <a:ext uri="{0D108BD9-81ED-4DB2-BD59-A6C34878D82A}">
                    <a16:rowId xmlns:a16="http://schemas.microsoft.com/office/drawing/2014/main" val="10024"/>
                  </a:ext>
                </a:extLst>
              </a:tr>
              <a:tr h="169826">
                <a:tc>
                  <a:txBody>
                    <a:bodyPr/>
                    <a:lstStyle/>
                    <a:p>
                      <a:pPr algn="l"/>
                      <a:r>
                        <a:rPr sz="1050" b="0" i="0">
                          <a:solidFill>
                            <a:srgbClr val="000000"/>
                          </a:solidFill>
                          <a:latin typeface="Calibri"/>
                        </a:rPr>
                        <a:t>Table 115: East Asia Market Value by Country, US$ Mn, 2021–2036</a:t>
                      </a:r>
                      <a:endParaRPr sz="1050"/>
                    </a:p>
                  </a:txBody>
                  <a:tcPr marL="9525" marR="9525" marT="9525" marB="0" anchor="ctr"/>
                </a:tc>
                <a:extLst>
                  <a:ext uri="{0D108BD9-81ED-4DB2-BD59-A6C34878D82A}">
                    <a16:rowId xmlns:a16="http://schemas.microsoft.com/office/drawing/2014/main" val="10025"/>
                  </a:ext>
                </a:extLst>
              </a:tr>
              <a:tr h="169826">
                <a:tc>
                  <a:txBody>
                    <a:bodyPr/>
                    <a:lstStyle/>
                    <a:p>
                      <a:pPr algn="l"/>
                      <a:r>
                        <a:rPr sz="1050" b="0" i="0">
                          <a:solidFill>
                            <a:srgbClr val="000000"/>
                          </a:solidFill>
                          <a:latin typeface="Calibri"/>
                        </a:rPr>
                        <a:t>Table 116: South Asia &amp; Pacific Market Value by Country, US$ Mn, 2021–2036</a:t>
                      </a:r>
                      <a:endParaRPr sz="1050"/>
                    </a:p>
                  </a:txBody>
                  <a:tcPr marL="9525" marR="9525" marT="9525" marB="0" anchor="ctr"/>
                </a:tc>
                <a:extLst>
                  <a:ext uri="{0D108BD9-81ED-4DB2-BD59-A6C34878D82A}">
                    <a16:rowId xmlns:a16="http://schemas.microsoft.com/office/drawing/2014/main" val="10026"/>
                  </a:ext>
                </a:extLst>
              </a:tr>
              <a:tr h="169826">
                <a:tc>
                  <a:txBody>
                    <a:bodyPr/>
                    <a:lstStyle/>
                    <a:p>
                      <a:pPr algn="l"/>
                      <a:r>
                        <a:rPr sz="1050" b="0" i="0">
                          <a:solidFill>
                            <a:srgbClr val="000000"/>
                          </a:solidFill>
                          <a:latin typeface="Calibri"/>
                        </a:rPr>
                        <a:t>Table 117: Middle East &amp; Africa Market Value by Country, US$ Mn, 2021–2036</a:t>
                      </a:r>
                      <a:endParaRPr sz="1050"/>
                    </a:p>
                  </a:txBody>
                  <a:tcPr marL="9525" marR="9525" marT="9525" marB="0" anchor="ctr"/>
                </a:tc>
                <a:extLst>
                  <a:ext uri="{0D108BD9-81ED-4DB2-BD59-A6C34878D82A}">
                    <a16:rowId xmlns:a16="http://schemas.microsoft.com/office/drawing/2014/main" val="10027"/>
                  </a:ext>
                </a:extLst>
              </a:tr>
              <a:tr h="332858">
                <a:tc>
                  <a:txBody>
                    <a:bodyPr/>
                    <a:lstStyle/>
                    <a:p>
                      <a:pPr algn="l"/>
                      <a:r>
                        <a:rPr sz="1050" b="0" i="0">
                          <a:solidFill>
                            <a:srgbClr val="000000"/>
                          </a:solidFill>
                          <a:latin typeface="Calibri"/>
                        </a:rPr>
                        <a:t>Table 118: North America Market CAGR and Absolute $ Opportunity by Country, %, US$ Mn, 2026–2036</a:t>
                      </a:r>
                      <a:endParaRPr sz="1050"/>
                    </a:p>
                  </a:txBody>
                  <a:tcPr marL="9525" marR="9525" marT="9525" marB="0" anchor="ctr"/>
                </a:tc>
                <a:extLst>
                  <a:ext uri="{0D108BD9-81ED-4DB2-BD59-A6C34878D82A}">
                    <a16:rowId xmlns:a16="http://schemas.microsoft.com/office/drawing/2014/main" val="10028"/>
                  </a:ext>
                </a:extLst>
              </a:tr>
              <a:tr h="169826">
                <a:tc>
                  <a:txBody>
                    <a:bodyPr/>
                    <a:lstStyle/>
                    <a:p>
                      <a:pPr algn="l"/>
                      <a:r>
                        <a:rPr sz="1050" b="0" i="0">
                          <a:solidFill>
                            <a:srgbClr val="000000"/>
                          </a:solidFill>
                          <a:latin typeface="Calibri"/>
                        </a:rPr>
                        <a:t>Table 119: Latin America Market CAGR and Absolute $ Opportunity by Country, %, US$ Mn, 2026–2036</a:t>
                      </a:r>
                      <a:endParaRPr sz="1050"/>
                    </a:p>
                  </a:txBody>
                  <a:tcPr marL="9525" marR="9525" marT="9525" marB="0" anchor="ctr"/>
                </a:tc>
                <a:extLst>
                  <a:ext uri="{0D108BD9-81ED-4DB2-BD59-A6C34878D82A}">
                    <a16:rowId xmlns:a16="http://schemas.microsoft.com/office/drawing/2014/main" val="10029"/>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0045">
                <a:tc>
                  <a:txBody>
                    <a:bodyPr/>
                    <a:lstStyle/>
                    <a:p>
                      <a:pPr algn="l"/>
                      <a:r>
                        <a:rPr sz="1050" b="0" i="0">
                          <a:solidFill>
                            <a:srgbClr val="000000"/>
                          </a:solidFill>
                          <a:latin typeface="Calibri"/>
                        </a:rPr>
                        <a:t>Table 120: Europe Market CAGR and Absolute $ Opportunity by Country, %, US$ Mn, 2026–2036</a:t>
                      </a:r>
                      <a:endParaRPr sz="1050"/>
                    </a:p>
                  </a:txBody>
                  <a:tcPr marL="9525" marR="9525" marT="9525" marB="0" anchor="ctr"/>
                </a:tc>
                <a:extLst>
                  <a:ext uri="{0D108BD9-81ED-4DB2-BD59-A6C34878D82A}">
                    <a16:rowId xmlns:a16="http://schemas.microsoft.com/office/drawing/2014/main" val="10000"/>
                  </a:ext>
                </a:extLst>
              </a:tr>
              <a:tr h="170045">
                <a:tc>
                  <a:txBody>
                    <a:bodyPr/>
                    <a:lstStyle/>
                    <a:p>
                      <a:pPr algn="l"/>
                      <a:r>
                        <a:rPr sz="1050" b="0" i="0">
                          <a:solidFill>
                            <a:srgbClr val="000000"/>
                          </a:solidFill>
                          <a:latin typeface="Calibri"/>
                        </a:rPr>
                        <a:t>Table 121: East Asia Market CAGR and Absolute $ Opportunity by Country, %, US$ Mn, 2026–2036</a:t>
                      </a:r>
                      <a:endParaRPr sz="1050"/>
                    </a:p>
                  </a:txBody>
                  <a:tcPr marL="9525" marR="9525" marT="9525" marB="0" anchor="ctr"/>
                </a:tc>
                <a:extLst>
                  <a:ext uri="{0D108BD9-81ED-4DB2-BD59-A6C34878D82A}">
                    <a16:rowId xmlns:a16="http://schemas.microsoft.com/office/drawing/2014/main" val="10001"/>
                  </a:ext>
                </a:extLst>
              </a:tr>
              <a:tr h="333289">
                <a:tc>
                  <a:txBody>
                    <a:bodyPr/>
                    <a:lstStyle/>
                    <a:p>
                      <a:pPr algn="l"/>
                      <a:r>
                        <a:rPr sz="1050" b="0" i="0">
                          <a:solidFill>
                            <a:srgbClr val="000000"/>
                          </a:solidFill>
                          <a:latin typeface="Calibri"/>
                        </a:rPr>
                        <a:t>Table 122: South Asia &amp; Pacific Market CAGR and Absolute $ Opportunity by Country, %, US$ Mn, 2026–2036</a:t>
                      </a:r>
                      <a:endParaRPr sz="1050"/>
                    </a:p>
                  </a:txBody>
                  <a:tcPr marL="9525" marR="9525" marT="9525" marB="0" anchor="ctr"/>
                </a:tc>
                <a:extLst>
                  <a:ext uri="{0D108BD9-81ED-4DB2-BD59-A6C34878D82A}">
                    <a16:rowId xmlns:a16="http://schemas.microsoft.com/office/drawing/2014/main" val="10002"/>
                  </a:ext>
                </a:extLst>
              </a:tr>
              <a:tr h="333289">
                <a:tc>
                  <a:txBody>
                    <a:bodyPr/>
                    <a:lstStyle/>
                    <a:p>
                      <a:pPr algn="l"/>
                      <a:r>
                        <a:rPr sz="1050" b="0" i="0">
                          <a:solidFill>
                            <a:srgbClr val="000000"/>
                          </a:solidFill>
                          <a:latin typeface="Calibri"/>
                        </a:rPr>
                        <a:t>Table 123: Middle East &amp; Africa Market CAGR and Absolute $ Opportunity by Country, %, US$ Mn, 2026–2036</a:t>
                      </a:r>
                      <a:endParaRPr sz="1050"/>
                    </a:p>
                  </a:txBody>
                  <a:tcPr marL="9525" marR="9525" marT="9525" marB="0" anchor="ctr"/>
                </a:tc>
                <a:extLst>
                  <a:ext uri="{0D108BD9-81ED-4DB2-BD59-A6C34878D82A}">
                    <a16:rowId xmlns:a16="http://schemas.microsoft.com/office/drawing/2014/main" val="10003"/>
                  </a:ext>
                </a:extLst>
              </a:tr>
              <a:tr h="170045">
                <a:tc>
                  <a:txBody>
                    <a:bodyPr/>
                    <a:lstStyle/>
                    <a:p>
                      <a:pPr algn="l"/>
                      <a:r>
                        <a:rPr sz="1050" b="0" i="0">
                          <a:solidFill>
                            <a:srgbClr val="000000"/>
                          </a:solidFill>
                          <a:latin typeface="Calibri"/>
                        </a:rPr>
                        <a:t>Table 124: North America Market Value by Partition Type, US$ Mn, 2021–2036</a:t>
                      </a:r>
                      <a:endParaRPr sz="1050"/>
                    </a:p>
                  </a:txBody>
                  <a:tcPr marL="9525" marR="9525" marT="9525" marB="0" anchor="ctr"/>
                </a:tc>
                <a:extLst>
                  <a:ext uri="{0D108BD9-81ED-4DB2-BD59-A6C34878D82A}">
                    <a16:rowId xmlns:a16="http://schemas.microsoft.com/office/drawing/2014/main" val="10004"/>
                  </a:ext>
                </a:extLst>
              </a:tr>
              <a:tr h="170045">
                <a:tc>
                  <a:txBody>
                    <a:bodyPr/>
                    <a:lstStyle/>
                    <a:p>
                      <a:pPr algn="l"/>
                      <a:r>
                        <a:rPr sz="1050" b="0" i="0">
                          <a:solidFill>
                            <a:srgbClr val="000000"/>
                          </a:solidFill>
                          <a:latin typeface="Calibri"/>
                        </a:rPr>
                        <a:t>Table 125: Latin America Market Value by Partition Type, US$ Mn, 2021–2036</a:t>
                      </a:r>
                      <a:endParaRPr sz="1050"/>
                    </a:p>
                  </a:txBody>
                  <a:tcPr marL="9525" marR="9525" marT="9525" marB="0" anchor="ctr"/>
                </a:tc>
                <a:extLst>
                  <a:ext uri="{0D108BD9-81ED-4DB2-BD59-A6C34878D82A}">
                    <a16:rowId xmlns:a16="http://schemas.microsoft.com/office/drawing/2014/main" val="10005"/>
                  </a:ext>
                </a:extLst>
              </a:tr>
              <a:tr h="170045">
                <a:tc>
                  <a:txBody>
                    <a:bodyPr/>
                    <a:lstStyle/>
                    <a:p>
                      <a:pPr algn="l"/>
                      <a:r>
                        <a:rPr sz="1050" b="0" i="0">
                          <a:solidFill>
                            <a:srgbClr val="000000"/>
                          </a:solidFill>
                          <a:latin typeface="Calibri"/>
                        </a:rPr>
                        <a:t>Table 126: Europe Market Value by Partition Type, US$ Mn, 2021–2036</a:t>
                      </a:r>
                      <a:endParaRPr sz="1050"/>
                    </a:p>
                  </a:txBody>
                  <a:tcPr marL="9525" marR="9525" marT="9525" marB="0" anchor="ctr"/>
                </a:tc>
                <a:extLst>
                  <a:ext uri="{0D108BD9-81ED-4DB2-BD59-A6C34878D82A}">
                    <a16:rowId xmlns:a16="http://schemas.microsoft.com/office/drawing/2014/main" val="10006"/>
                  </a:ext>
                </a:extLst>
              </a:tr>
              <a:tr h="170045">
                <a:tc>
                  <a:txBody>
                    <a:bodyPr/>
                    <a:lstStyle/>
                    <a:p>
                      <a:pPr algn="l"/>
                      <a:r>
                        <a:rPr sz="1050" b="0" i="0">
                          <a:solidFill>
                            <a:srgbClr val="000000"/>
                          </a:solidFill>
                          <a:latin typeface="Calibri"/>
                        </a:rPr>
                        <a:t>Table 127: East Asia Market Value by Partition Type, US$ Mn, 2021–2036</a:t>
                      </a:r>
                      <a:endParaRPr sz="1050"/>
                    </a:p>
                  </a:txBody>
                  <a:tcPr marL="9525" marR="9525" marT="9525" marB="0" anchor="ctr"/>
                </a:tc>
                <a:extLst>
                  <a:ext uri="{0D108BD9-81ED-4DB2-BD59-A6C34878D82A}">
                    <a16:rowId xmlns:a16="http://schemas.microsoft.com/office/drawing/2014/main" val="10007"/>
                  </a:ext>
                </a:extLst>
              </a:tr>
              <a:tr h="170045">
                <a:tc>
                  <a:txBody>
                    <a:bodyPr/>
                    <a:lstStyle/>
                    <a:p>
                      <a:pPr algn="l"/>
                      <a:r>
                        <a:rPr sz="1050" b="0" i="0">
                          <a:solidFill>
                            <a:srgbClr val="000000"/>
                          </a:solidFill>
                          <a:latin typeface="Calibri"/>
                        </a:rPr>
                        <a:t>Table 128: South Asia &amp; Pacific Market Value by Partition Type, US$ Mn, 2021–2036</a:t>
                      </a:r>
                      <a:endParaRPr sz="1050"/>
                    </a:p>
                  </a:txBody>
                  <a:tcPr marL="9525" marR="9525" marT="9525" marB="0" anchor="ctr"/>
                </a:tc>
                <a:extLst>
                  <a:ext uri="{0D108BD9-81ED-4DB2-BD59-A6C34878D82A}">
                    <a16:rowId xmlns:a16="http://schemas.microsoft.com/office/drawing/2014/main" val="10008"/>
                  </a:ext>
                </a:extLst>
              </a:tr>
              <a:tr h="170045">
                <a:tc>
                  <a:txBody>
                    <a:bodyPr/>
                    <a:lstStyle/>
                    <a:p>
                      <a:pPr algn="l"/>
                      <a:r>
                        <a:rPr sz="1050" b="0" i="0">
                          <a:solidFill>
                            <a:srgbClr val="000000"/>
                          </a:solidFill>
                          <a:latin typeface="Calibri"/>
                        </a:rPr>
                        <a:t>Table 129: Middle East &amp; Africa Market Value by Partition Type, US$ Mn, 2021–2036</a:t>
                      </a:r>
                      <a:endParaRPr sz="1050"/>
                    </a:p>
                  </a:txBody>
                  <a:tcPr marL="9525" marR="9525" marT="9525" marB="0" anchor="ctr"/>
                </a:tc>
                <a:extLst>
                  <a:ext uri="{0D108BD9-81ED-4DB2-BD59-A6C34878D82A}">
                    <a16:rowId xmlns:a16="http://schemas.microsoft.com/office/drawing/2014/main" val="10009"/>
                  </a:ext>
                </a:extLst>
              </a:tr>
              <a:tr h="170045">
                <a:tc>
                  <a:txBody>
                    <a:bodyPr/>
                    <a:lstStyle/>
                    <a:p>
                      <a:pPr algn="l"/>
                      <a:r>
                        <a:rPr sz="1050" b="0" i="0">
                          <a:solidFill>
                            <a:srgbClr val="000000"/>
                          </a:solidFill>
                          <a:latin typeface="Calibri"/>
                        </a:rPr>
                        <a:t>Table 130: North America Market Value by Board Construction, US$ Mn, 2021–2036</a:t>
                      </a:r>
                      <a:endParaRPr sz="1050"/>
                    </a:p>
                  </a:txBody>
                  <a:tcPr marL="9525" marR="9525" marT="9525" marB="0" anchor="ctr"/>
                </a:tc>
                <a:extLst>
                  <a:ext uri="{0D108BD9-81ED-4DB2-BD59-A6C34878D82A}">
                    <a16:rowId xmlns:a16="http://schemas.microsoft.com/office/drawing/2014/main" val="10010"/>
                  </a:ext>
                </a:extLst>
              </a:tr>
              <a:tr h="170045">
                <a:tc>
                  <a:txBody>
                    <a:bodyPr/>
                    <a:lstStyle/>
                    <a:p>
                      <a:pPr algn="l"/>
                      <a:r>
                        <a:rPr sz="1050" b="0" i="0">
                          <a:solidFill>
                            <a:srgbClr val="000000"/>
                          </a:solidFill>
                          <a:latin typeface="Calibri"/>
                        </a:rPr>
                        <a:t>Table 131: Latin America Market Value by Board Construction, US$ Mn, 2021–2036</a:t>
                      </a:r>
                      <a:endParaRPr sz="1050"/>
                    </a:p>
                  </a:txBody>
                  <a:tcPr marL="9525" marR="9525" marT="9525" marB="0" anchor="ctr"/>
                </a:tc>
                <a:extLst>
                  <a:ext uri="{0D108BD9-81ED-4DB2-BD59-A6C34878D82A}">
                    <a16:rowId xmlns:a16="http://schemas.microsoft.com/office/drawing/2014/main" val="10011"/>
                  </a:ext>
                </a:extLst>
              </a:tr>
              <a:tr h="170045">
                <a:tc>
                  <a:txBody>
                    <a:bodyPr/>
                    <a:lstStyle/>
                    <a:p>
                      <a:pPr algn="l"/>
                      <a:r>
                        <a:rPr sz="1050" b="0" i="0">
                          <a:solidFill>
                            <a:srgbClr val="000000"/>
                          </a:solidFill>
                          <a:latin typeface="Calibri"/>
                        </a:rPr>
                        <a:t>Table 132: U.S. Market Value by Partition Type, US$ Mn, 2021–2036</a:t>
                      </a:r>
                      <a:endParaRPr sz="1050"/>
                    </a:p>
                  </a:txBody>
                  <a:tcPr marL="9525" marR="9525" marT="9525" marB="0" anchor="ctr"/>
                </a:tc>
                <a:extLst>
                  <a:ext uri="{0D108BD9-81ED-4DB2-BD59-A6C34878D82A}">
                    <a16:rowId xmlns:a16="http://schemas.microsoft.com/office/drawing/2014/main" val="10012"/>
                  </a:ext>
                </a:extLst>
              </a:tr>
              <a:tr h="170045">
                <a:tc>
                  <a:txBody>
                    <a:bodyPr/>
                    <a:lstStyle/>
                    <a:p>
                      <a:pPr algn="l"/>
                      <a:r>
                        <a:rPr sz="1050" b="0" i="0">
                          <a:solidFill>
                            <a:srgbClr val="000000"/>
                          </a:solidFill>
                          <a:latin typeface="Calibri"/>
                        </a:rPr>
                        <a:t>Table 133: U.S. Market Historical and Forecast Growth, %, 2021–2036</a:t>
                      </a:r>
                      <a:endParaRPr sz="1050"/>
                    </a:p>
                  </a:txBody>
                  <a:tcPr marL="9525" marR="9525" marT="9525" marB="0" anchor="ctr"/>
                </a:tc>
                <a:extLst>
                  <a:ext uri="{0D108BD9-81ED-4DB2-BD59-A6C34878D82A}">
                    <a16:rowId xmlns:a16="http://schemas.microsoft.com/office/drawing/2014/main" val="10013"/>
                  </a:ext>
                </a:extLst>
              </a:tr>
              <a:tr h="170045">
                <a:tc>
                  <a:txBody>
                    <a:bodyPr/>
                    <a:lstStyle/>
                    <a:p>
                      <a:pPr algn="l"/>
                      <a:r>
                        <a:rPr sz="1050" b="0" i="0">
                          <a:solidFill>
                            <a:srgbClr val="000000"/>
                          </a:solidFill>
                          <a:latin typeface="Calibri"/>
                        </a:rPr>
                        <a:t>Table 134: U.S. Market Value by End Use, US$ Mn, 2021–2036</a:t>
                      </a:r>
                      <a:endParaRPr sz="1050"/>
                    </a:p>
                  </a:txBody>
                  <a:tcPr marL="9525" marR="9525" marT="9525" marB="0" anchor="ctr"/>
                </a:tc>
                <a:extLst>
                  <a:ext uri="{0D108BD9-81ED-4DB2-BD59-A6C34878D82A}">
                    <a16:rowId xmlns:a16="http://schemas.microsoft.com/office/drawing/2014/main" val="10014"/>
                  </a:ext>
                </a:extLst>
              </a:tr>
              <a:tr h="170045">
                <a:tc>
                  <a:txBody>
                    <a:bodyPr/>
                    <a:lstStyle/>
                    <a:p>
                      <a:pPr algn="l"/>
                      <a:r>
                        <a:rPr sz="1050" b="0" i="0">
                          <a:solidFill>
                            <a:srgbClr val="000000"/>
                          </a:solidFill>
                          <a:latin typeface="Calibri"/>
                        </a:rPr>
                        <a:t>Table 135: U.S. Market Share within North America, %, 2025, 2026 and 2036</a:t>
                      </a:r>
                      <a:endParaRPr sz="1050"/>
                    </a:p>
                  </a:txBody>
                  <a:tcPr marL="9525" marR="9525" marT="9525" marB="0" anchor="ctr"/>
                </a:tc>
                <a:extLst>
                  <a:ext uri="{0D108BD9-81ED-4DB2-BD59-A6C34878D82A}">
                    <a16:rowId xmlns:a16="http://schemas.microsoft.com/office/drawing/2014/main" val="10015"/>
                  </a:ext>
                </a:extLst>
              </a:tr>
              <a:tr h="170045">
                <a:tc>
                  <a:txBody>
                    <a:bodyPr/>
                    <a:lstStyle/>
                    <a:p>
                      <a:pPr algn="l"/>
                      <a:r>
                        <a:rPr sz="1050" b="0" i="0">
                          <a:solidFill>
                            <a:srgbClr val="000000"/>
                          </a:solidFill>
                          <a:latin typeface="Calibri"/>
                        </a:rPr>
                        <a:t>Table 136: U.S. Market Value by Board Construction, US$ Mn, 2021–2036</a:t>
                      </a:r>
                      <a:endParaRPr sz="1050"/>
                    </a:p>
                  </a:txBody>
                  <a:tcPr marL="9525" marR="9525" marT="9525" marB="0" anchor="ctr"/>
                </a:tc>
                <a:extLst>
                  <a:ext uri="{0D108BD9-81ED-4DB2-BD59-A6C34878D82A}">
                    <a16:rowId xmlns:a16="http://schemas.microsoft.com/office/drawing/2014/main" val="10016"/>
                  </a:ext>
                </a:extLst>
              </a:tr>
              <a:tr h="170045">
                <a:tc>
                  <a:txBody>
                    <a:bodyPr/>
                    <a:lstStyle/>
                    <a:p>
                      <a:pPr algn="l"/>
                      <a:r>
                        <a:rPr sz="1050" b="0" i="0">
                          <a:solidFill>
                            <a:srgbClr val="000000"/>
                          </a:solidFill>
                          <a:latin typeface="Calibri"/>
                        </a:rPr>
                        <a:t>Table 137: U.S. Market Value by Material Source, US$ Mn, 2021–2036</a:t>
                      </a:r>
                      <a:endParaRPr sz="1050"/>
                    </a:p>
                  </a:txBody>
                  <a:tcPr marL="9525" marR="9525" marT="9525" marB="0" anchor="ctr"/>
                </a:tc>
                <a:extLst>
                  <a:ext uri="{0D108BD9-81ED-4DB2-BD59-A6C34878D82A}">
                    <a16:rowId xmlns:a16="http://schemas.microsoft.com/office/drawing/2014/main" val="10017"/>
                  </a:ext>
                </a:extLst>
              </a:tr>
              <a:tr h="170045">
                <a:tc>
                  <a:txBody>
                    <a:bodyPr/>
                    <a:lstStyle/>
                    <a:p>
                      <a:pPr algn="l"/>
                      <a:r>
                        <a:rPr sz="1050" b="0" i="0">
                          <a:solidFill>
                            <a:srgbClr val="000000"/>
                          </a:solidFill>
                          <a:latin typeface="Calibri"/>
                        </a:rPr>
                        <a:t>Table 138: U.S. Market Value by Cell Configuration, US$ Mn, 2021–2036</a:t>
                      </a:r>
                      <a:endParaRPr sz="1050"/>
                    </a:p>
                  </a:txBody>
                  <a:tcPr marL="9525" marR="9525" marT="9525" marB="0" anchor="ctr"/>
                </a:tc>
                <a:extLst>
                  <a:ext uri="{0D108BD9-81ED-4DB2-BD59-A6C34878D82A}">
                    <a16:rowId xmlns:a16="http://schemas.microsoft.com/office/drawing/2014/main" val="10018"/>
                  </a:ext>
                </a:extLst>
              </a:tr>
              <a:tr h="170045">
                <a:tc>
                  <a:txBody>
                    <a:bodyPr/>
                    <a:lstStyle/>
                    <a:p>
                      <a:pPr algn="l"/>
                      <a:r>
                        <a:rPr sz="1050" b="0" i="0">
                          <a:solidFill>
                            <a:srgbClr val="000000"/>
                          </a:solidFill>
                          <a:latin typeface="Calibri"/>
                        </a:rPr>
                        <a:t>Table 139: U.S. Market Value by Customization, US$ Mn, 2021–2036</a:t>
                      </a:r>
                      <a:endParaRPr sz="1050"/>
                    </a:p>
                  </a:txBody>
                  <a:tcPr marL="9525" marR="9525" marT="9525" marB="0" anchor="ctr"/>
                </a:tc>
                <a:extLst>
                  <a:ext uri="{0D108BD9-81ED-4DB2-BD59-A6C34878D82A}">
                    <a16:rowId xmlns:a16="http://schemas.microsoft.com/office/drawing/2014/main" val="10019"/>
                  </a:ext>
                </a:extLst>
              </a:tr>
              <a:tr h="170045">
                <a:tc>
                  <a:txBody>
                    <a:bodyPr/>
                    <a:lstStyle/>
                    <a:p>
                      <a:pPr algn="l"/>
                      <a:r>
                        <a:rPr sz="1050" b="0" i="0">
                          <a:solidFill>
                            <a:srgbClr val="000000"/>
                          </a:solidFill>
                          <a:latin typeface="Calibri"/>
                        </a:rPr>
                        <a:t>Table 140: Germany Market Value by Partition Type, US$ Mn, 2021–2036</a:t>
                      </a:r>
                      <a:endParaRPr sz="1050"/>
                    </a:p>
                  </a:txBody>
                  <a:tcPr marL="9525" marR="9525" marT="9525" marB="0" anchor="ctr"/>
                </a:tc>
                <a:extLst>
                  <a:ext uri="{0D108BD9-81ED-4DB2-BD59-A6C34878D82A}">
                    <a16:rowId xmlns:a16="http://schemas.microsoft.com/office/drawing/2014/main" val="10020"/>
                  </a:ext>
                </a:extLst>
              </a:tr>
              <a:tr h="170045">
                <a:tc>
                  <a:txBody>
                    <a:bodyPr/>
                    <a:lstStyle/>
                    <a:p>
                      <a:pPr algn="l"/>
                      <a:r>
                        <a:rPr sz="1050" b="0" i="0">
                          <a:solidFill>
                            <a:srgbClr val="000000"/>
                          </a:solidFill>
                          <a:latin typeface="Calibri"/>
                        </a:rPr>
                        <a:t>Table 141: Germany Market Historical and Forecast Growth, %, 2021–2036</a:t>
                      </a:r>
                      <a:endParaRPr sz="1050"/>
                    </a:p>
                  </a:txBody>
                  <a:tcPr marL="9525" marR="9525" marT="9525" marB="0" anchor="ctr"/>
                </a:tc>
                <a:extLst>
                  <a:ext uri="{0D108BD9-81ED-4DB2-BD59-A6C34878D82A}">
                    <a16:rowId xmlns:a16="http://schemas.microsoft.com/office/drawing/2014/main" val="10021"/>
                  </a:ext>
                </a:extLst>
              </a:tr>
              <a:tr h="170045">
                <a:tc>
                  <a:txBody>
                    <a:bodyPr/>
                    <a:lstStyle/>
                    <a:p>
                      <a:pPr algn="l"/>
                      <a:r>
                        <a:rPr sz="1050" b="0" i="0">
                          <a:solidFill>
                            <a:srgbClr val="000000"/>
                          </a:solidFill>
                          <a:latin typeface="Calibri"/>
                        </a:rPr>
                        <a:t>Table 142: Germany Market Value by End Use, US$ Mn, 2021–2036</a:t>
                      </a:r>
                      <a:endParaRPr sz="1050"/>
                    </a:p>
                  </a:txBody>
                  <a:tcPr marL="9525" marR="9525" marT="9525" marB="0" anchor="ctr"/>
                </a:tc>
                <a:extLst>
                  <a:ext uri="{0D108BD9-81ED-4DB2-BD59-A6C34878D82A}">
                    <a16:rowId xmlns:a16="http://schemas.microsoft.com/office/drawing/2014/main" val="10022"/>
                  </a:ext>
                </a:extLst>
              </a:tr>
              <a:tr h="170045">
                <a:tc>
                  <a:txBody>
                    <a:bodyPr/>
                    <a:lstStyle/>
                    <a:p>
                      <a:pPr algn="l"/>
                      <a:r>
                        <a:rPr sz="1050" b="0" i="0">
                          <a:solidFill>
                            <a:srgbClr val="000000"/>
                          </a:solidFill>
                          <a:latin typeface="Calibri"/>
                        </a:rPr>
                        <a:t>Table 143: Germany Market Share within Europe, %, 2025, 2026 and 2036</a:t>
                      </a:r>
                      <a:endParaRPr sz="1050"/>
                    </a:p>
                  </a:txBody>
                  <a:tcPr marL="9525" marR="9525" marT="9525" marB="0" anchor="ctr"/>
                </a:tc>
                <a:extLst>
                  <a:ext uri="{0D108BD9-81ED-4DB2-BD59-A6C34878D82A}">
                    <a16:rowId xmlns:a16="http://schemas.microsoft.com/office/drawing/2014/main" val="10023"/>
                  </a:ext>
                </a:extLst>
              </a:tr>
              <a:tr h="170045">
                <a:tc>
                  <a:txBody>
                    <a:bodyPr/>
                    <a:lstStyle/>
                    <a:p>
                      <a:pPr algn="l"/>
                      <a:r>
                        <a:rPr sz="1050" b="0" i="0">
                          <a:solidFill>
                            <a:srgbClr val="000000"/>
                          </a:solidFill>
                          <a:latin typeface="Calibri"/>
                        </a:rPr>
                        <a:t>Table 144: Germany Market Value by Board Construction, US$ Mn, 2021–2036</a:t>
                      </a:r>
                      <a:endParaRPr sz="1050"/>
                    </a:p>
                  </a:txBody>
                  <a:tcPr marL="9525" marR="9525" marT="9525" marB="0" anchor="ctr"/>
                </a:tc>
                <a:extLst>
                  <a:ext uri="{0D108BD9-81ED-4DB2-BD59-A6C34878D82A}">
                    <a16:rowId xmlns:a16="http://schemas.microsoft.com/office/drawing/2014/main" val="10024"/>
                  </a:ext>
                </a:extLst>
              </a:tr>
              <a:tr h="170045">
                <a:tc>
                  <a:txBody>
                    <a:bodyPr/>
                    <a:lstStyle/>
                    <a:p>
                      <a:pPr algn="l"/>
                      <a:r>
                        <a:rPr sz="1050" b="0" i="0">
                          <a:solidFill>
                            <a:srgbClr val="000000"/>
                          </a:solidFill>
                          <a:latin typeface="Calibri"/>
                        </a:rPr>
                        <a:t>Table 145: Germany Market Value by Material Source, US$ Mn, 2021–2036</a:t>
                      </a:r>
                      <a:endParaRPr sz="1050"/>
                    </a:p>
                  </a:txBody>
                  <a:tcPr marL="9525" marR="9525" marT="9525" marB="0" anchor="ctr"/>
                </a:tc>
                <a:extLst>
                  <a:ext uri="{0D108BD9-81ED-4DB2-BD59-A6C34878D82A}">
                    <a16:rowId xmlns:a16="http://schemas.microsoft.com/office/drawing/2014/main" val="10025"/>
                  </a:ext>
                </a:extLst>
              </a:tr>
              <a:tr h="170045">
                <a:tc>
                  <a:txBody>
                    <a:bodyPr/>
                    <a:lstStyle/>
                    <a:p>
                      <a:pPr algn="l"/>
                      <a:r>
                        <a:rPr sz="1050" b="0" i="0">
                          <a:solidFill>
                            <a:srgbClr val="000000"/>
                          </a:solidFill>
                          <a:latin typeface="Calibri"/>
                        </a:rPr>
                        <a:t>Table 146: Germany Market Value by Cell Configuration, US$ Mn, 2021–2036</a:t>
                      </a:r>
                      <a:endParaRPr sz="1050"/>
                    </a:p>
                  </a:txBody>
                  <a:tcPr marL="9525" marR="9525" marT="9525" marB="0" anchor="ctr"/>
                </a:tc>
                <a:extLst>
                  <a:ext uri="{0D108BD9-81ED-4DB2-BD59-A6C34878D82A}">
                    <a16:rowId xmlns:a16="http://schemas.microsoft.com/office/drawing/2014/main" val="10026"/>
                  </a:ext>
                </a:extLst>
              </a:tr>
              <a:tr h="170045">
                <a:tc>
                  <a:txBody>
                    <a:bodyPr/>
                    <a:lstStyle/>
                    <a:p>
                      <a:pPr algn="l"/>
                      <a:r>
                        <a:rPr sz="1050" b="0" i="0">
                          <a:solidFill>
                            <a:srgbClr val="000000"/>
                          </a:solidFill>
                          <a:latin typeface="Calibri"/>
                        </a:rPr>
                        <a:t>Table 147: Germany Market Value by Customization, US$ Mn, 2021–2036</a:t>
                      </a:r>
                      <a:endParaRPr sz="1050"/>
                    </a:p>
                  </a:txBody>
                  <a:tcPr marL="9525" marR="9525" marT="9525" marB="0" anchor="ctr"/>
                </a:tc>
                <a:extLst>
                  <a:ext uri="{0D108BD9-81ED-4DB2-BD59-A6C34878D82A}">
                    <a16:rowId xmlns:a16="http://schemas.microsoft.com/office/drawing/2014/main" val="10027"/>
                  </a:ext>
                </a:extLst>
              </a:tr>
              <a:tr h="170045">
                <a:tc>
                  <a:txBody>
                    <a:bodyPr/>
                    <a:lstStyle/>
                    <a:p>
                      <a:pPr algn="l"/>
                      <a:r>
                        <a:rPr sz="1050" b="0" i="0">
                          <a:solidFill>
                            <a:srgbClr val="000000"/>
                          </a:solidFill>
                          <a:latin typeface="Calibri"/>
                        </a:rPr>
                        <a:t>Table 148: Canada Market Value by Partition Type, US$ Mn, 2021–2036</a:t>
                      </a:r>
                      <a:endParaRPr sz="1050"/>
                    </a:p>
                  </a:txBody>
                  <a:tcPr marL="9525" marR="9525" marT="9525" marB="0" anchor="ctr"/>
                </a:tc>
                <a:extLst>
                  <a:ext uri="{0D108BD9-81ED-4DB2-BD59-A6C34878D82A}">
                    <a16:rowId xmlns:a16="http://schemas.microsoft.com/office/drawing/2014/main" val="10028"/>
                  </a:ext>
                </a:extLst>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175260">
                <a:tc>
                  <a:txBody>
                    <a:bodyPr/>
                    <a:lstStyle/>
                    <a:p>
                      <a:pPr algn="l"/>
                      <a:r>
                        <a:rPr sz="1050" b="0" i="0">
                          <a:solidFill>
                            <a:srgbClr val="000000"/>
                          </a:solidFill>
                          <a:latin typeface="Calibri"/>
                        </a:rPr>
                        <a:t>Table 149: Canada Market Historical and Forecast Growth, %, 2021–2036</a:t>
                      </a:r>
                      <a:endParaRPr sz="1050"/>
                    </a:p>
                  </a:txBody>
                  <a:tcPr marL="9525" marR="9525" marT="9525" marB="0" anchor="ctr"/>
                </a:tc>
                <a:extLst>
                  <a:ext uri="{0D108BD9-81ED-4DB2-BD59-A6C34878D82A}">
                    <a16:rowId xmlns:a16="http://schemas.microsoft.com/office/drawing/2014/main" val="10000"/>
                  </a:ext>
                </a:extLst>
              </a:tr>
              <a:tr h="175260">
                <a:tc>
                  <a:txBody>
                    <a:bodyPr/>
                    <a:lstStyle/>
                    <a:p>
                      <a:pPr algn="l"/>
                      <a:r>
                        <a:rPr sz="1050" b="0" i="0">
                          <a:solidFill>
                            <a:srgbClr val="000000"/>
                          </a:solidFill>
                          <a:latin typeface="Calibri"/>
                        </a:rPr>
                        <a:t>Table 150: Canada Market Value by End Use, US$ Mn, 2021–2036</a:t>
                      </a:r>
                      <a:endParaRPr sz="1050"/>
                    </a:p>
                  </a:txBody>
                  <a:tcPr marL="9525" marR="9525" marT="9525" marB="0" anchor="ctr"/>
                </a:tc>
                <a:extLst>
                  <a:ext uri="{0D108BD9-81ED-4DB2-BD59-A6C34878D82A}">
                    <a16:rowId xmlns:a16="http://schemas.microsoft.com/office/drawing/2014/main" val="10001"/>
                  </a:ext>
                </a:extLst>
              </a:tr>
              <a:tr h="175260">
                <a:tc>
                  <a:txBody>
                    <a:bodyPr/>
                    <a:lstStyle/>
                    <a:p>
                      <a:pPr algn="l"/>
                      <a:r>
                        <a:rPr sz="1050" b="0" i="0">
                          <a:solidFill>
                            <a:srgbClr val="000000"/>
                          </a:solidFill>
                          <a:latin typeface="Calibri"/>
                        </a:rPr>
                        <a:t>Table 151: Canada Market Share within North America, %, 2025, 2026 and 2036</a:t>
                      </a:r>
                      <a:endParaRPr sz="1050"/>
                    </a:p>
                  </a:txBody>
                  <a:tcPr marL="9525" marR="9525" marT="9525" marB="0" anchor="ctr"/>
                </a:tc>
                <a:extLst>
                  <a:ext uri="{0D108BD9-81ED-4DB2-BD59-A6C34878D82A}">
                    <a16:rowId xmlns:a16="http://schemas.microsoft.com/office/drawing/2014/main" val="10002"/>
                  </a:ext>
                </a:extLst>
              </a:tr>
              <a:tr h="175260">
                <a:tc>
                  <a:txBody>
                    <a:bodyPr/>
                    <a:lstStyle/>
                    <a:p>
                      <a:pPr algn="l"/>
                      <a:r>
                        <a:rPr sz="1050" b="0" i="0">
                          <a:solidFill>
                            <a:srgbClr val="000000"/>
                          </a:solidFill>
                          <a:latin typeface="Calibri"/>
                        </a:rPr>
                        <a:t>Table 152: Canada Market Value by Board Construction, US$ Mn, 2021–2036</a:t>
                      </a:r>
                      <a:endParaRPr sz="1050"/>
                    </a:p>
                  </a:txBody>
                  <a:tcPr marL="9525" marR="9525" marT="9525" marB="0" anchor="ctr"/>
                </a:tc>
                <a:extLst>
                  <a:ext uri="{0D108BD9-81ED-4DB2-BD59-A6C34878D82A}">
                    <a16:rowId xmlns:a16="http://schemas.microsoft.com/office/drawing/2014/main" val="10003"/>
                  </a:ext>
                </a:extLst>
              </a:tr>
              <a:tr h="175260">
                <a:tc>
                  <a:txBody>
                    <a:bodyPr/>
                    <a:lstStyle/>
                    <a:p>
                      <a:pPr algn="l"/>
                      <a:r>
                        <a:rPr sz="1050" b="0" i="0">
                          <a:solidFill>
                            <a:srgbClr val="000000"/>
                          </a:solidFill>
                          <a:latin typeface="Calibri"/>
                        </a:rPr>
                        <a:t>Table 153: Canada Market Value by Material Source, US$ Mn, 2021–2036</a:t>
                      </a:r>
                      <a:endParaRPr sz="1050"/>
                    </a:p>
                  </a:txBody>
                  <a:tcPr marL="9525" marR="9525" marT="9525" marB="0" anchor="ctr"/>
                </a:tc>
                <a:extLst>
                  <a:ext uri="{0D108BD9-81ED-4DB2-BD59-A6C34878D82A}">
                    <a16:rowId xmlns:a16="http://schemas.microsoft.com/office/drawing/2014/main" val="10004"/>
                  </a:ext>
                </a:extLst>
              </a:tr>
              <a:tr h="175260">
                <a:tc>
                  <a:txBody>
                    <a:bodyPr/>
                    <a:lstStyle/>
                    <a:p>
                      <a:pPr algn="l"/>
                      <a:r>
                        <a:rPr sz="1050" b="0" i="0">
                          <a:solidFill>
                            <a:srgbClr val="000000"/>
                          </a:solidFill>
                          <a:latin typeface="Calibri"/>
                        </a:rPr>
                        <a:t>Table 154: Canada Market Value by Cell Configuration, US$ Mn, 2021–2036</a:t>
                      </a:r>
                      <a:endParaRPr sz="1050"/>
                    </a:p>
                  </a:txBody>
                  <a:tcPr marL="9525" marR="9525" marT="9525" marB="0" anchor="ctr"/>
                </a:tc>
                <a:extLst>
                  <a:ext uri="{0D108BD9-81ED-4DB2-BD59-A6C34878D82A}">
                    <a16:rowId xmlns:a16="http://schemas.microsoft.com/office/drawing/2014/main" val="10005"/>
                  </a:ext>
                </a:extLst>
              </a:tr>
              <a:tr h="175260">
                <a:tc>
                  <a:txBody>
                    <a:bodyPr/>
                    <a:lstStyle/>
                    <a:p>
                      <a:pPr algn="l"/>
                      <a:r>
                        <a:rPr sz="1050" b="0" i="0">
                          <a:solidFill>
                            <a:srgbClr val="000000"/>
                          </a:solidFill>
                          <a:latin typeface="Calibri"/>
                        </a:rPr>
                        <a:t>Table 155: Canada Market Value by Customization, US$ Mn, 2021–2036</a:t>
                      </a:r>
                      <a:endParaRPr sz="1050"/>
                    </a:p>
                  </a:txBody>
                  <a:tcPr marL="9525" marR="9525" marT="9525" marB="0" anchor="ctr"/>
                </a:tc>
                <a:extLst>
                  <a:ext uri="{0D108BD9-81ED-4DB2-BD59-A6C34878D82A}">
                    <a16:rowId xmlns:a16="http://schemas.microsoft.com/office/drawing/2014/main" val="10006"/>
                  </a:ext>
                </a:extLst>
              </a:tr>
              <a:tr h="175260">
                <a:tc>
                  <a:txBody>
                    <a:bodyPr/>
                    <a:lstStyle/>
                    <a:p>
                      <a:pPr algn="l"/>
                      <a:r>
                        <a:rPr sz="1050" b="0" i="0">
                          <a:solidFill>
                            <a:srgbClr val="000000"/>
                          </a:solidFill>
                          <a:latin typeface="Calibri"/>
                        </a:rPr>
                        <a:t>Table 156: China Market Value by Partition Type, US$ Mn, 2021–2036</a:t>
                      </a:r>
                      <a:endParaRPr sz="1050"/>
                    </a:p>
                  </a:txBody>
                  <a:tcPr marL="9525" marR="9525" marT="9525" marB="0" anchor="ctr"/>
                </a:tc>
                <a:extLst>
                  <a:ext uri="{0D108BD9-81ED-4DB2-BD59-A6C34878D82A}">
                    <a16:rowId xmlns:a16="http://schemas.microsoft.com/office/drawing/2014/main" val="10007"/>
                  </a:ext>
                </a:extLst>
              </a:tr>
              <a:tr h="175260">
                <a:tc>
                  <a:txBody>
                    <a:bodyPr/>
                    <a:lstStyle/>
                    <a:p>
                      <a:pPr algn="l"/>
                      <a:r>
                        <a:rPr sz="1050" b="0" i="0">
                          <a:solidFill>
                            <a:srgbClr val="000000"/>
                          </a:solidFill>
                          <a:latin typeface="Calibri"/>
                        </a:rPr>
                        <a:t>Table 157: China Market Historical and Forecast Growth, %, 2021–2036</a:t>
                      </a:r>
                      <a:endParaRPr sz="1050"/>
                    </a:p>
                  </a:txBody>
                  <a:tcPr marL="9525" marR="9525" marT="9525" marB="0" anchor="ctr"/>
                </a:tc>
                <a:extLst>
                  <a:ext uri="{0D108BD9-81ED-4DB2-BD59-A6C34878D82A}">
                    <a16:rowId xmlns:a16="http://schemas.microsoft.com/office/drawing/2014/main" val="10008"/>
                  </a:ext>
                </a:extLst>
              </a:tr>
              <a:tr h="175260">
                <a:tc>
                  <a:txBody>
                    <a:bodyPr/>
                    <a:lstStyle/>
                    <a:p>
                      <a:pPr algn="l"/>
                      <a:r>
                        <a:rPr sz="1050" b="0" i="0">
                          <a:solidFill>
                            <a:srgbClr val="000000"/>
                          </a:solidFill>
                          <a:latin typeface="Calibri"/>
                        </a:rPr>
                        <a:t>Table 158: India Market Value by Partition Type, US$ Mn, 2021–2036</a:t>
                      </a:r>
                      <a:endParaRPr sz="1050"/>
                    </a:p>
                  </a:txBody>
                  <a:tcPr marL="9525" marR="9525" marT="9525" marB="0" anchor="ctr"/>
                </a:tc>
                <a:extLst>
                  <a:ext uri="{0D108BD9-81ED-4DB2-BD59-A6C34878D82A}">
                    <a16:rowId xmlns:a16="http://schemas.microsoft.com/office/drawing/2014/main" val="10009"/>
                  </a:ext>
                </a:extLst>
              </a:tr>
              <a:tr h="175260">
                <a:tc>
                  <a:txBody>
                    <a:bodyPr/>
                    <a:lstStyle/>
                    <a:p>
                      <a:pPr algn="l"/>
                      <a:r>
                        <a:rPr sz="1050" b="0" i="0">
                          <a:solidFill>
                            <a:srgbClr val="000000"/>
                          </a:solidFill>
                          <a:latin typeface="Calibri"/>
                        </a:rPr>
                        <a:t>Table 159: India Market Historical and Forecast Growth, %, 2021–2036</a:t>
                      </a:r>
                      <a:endParaRPr sz="1050"/>
                    </a:p>
                  </a:txBody>
                  <a:tcPr marL="9525" marR="9525" marT="9525" marB="0" anchor="ctr"/>
                </a:tc>
                <a:extLst>
                  <a:ext uri="{0D108BD9-81ED-4DB2-BD59-A6C34878D82A}">
                    <a16:rowId xmlns:a16="http://schemas.microsoft.com/office/drawing/2014/main" val="10010"/>
                  </a:ext>
                </a:extLst>
              </a:tr>
              <a:tr h="175260">
                <a:tc>
                  <a:txBody>
                    <a:bodyPr/>
                    <a:lstStyle/>
                    <a:p>
                      <a:pPr algn="l"/>
                      <a:r>
                        <a:rPr sz="1050" b="0" i="0">
                          <a:solidFill>
                            <a:srgbClr val="000000"/>
                          </a:solidFill>
                          <a:latin typeface="Calibri"/>
                        </a:rPr>
                        <a:t>Table 160: Brazil Market Value by Partition Type, US$ Mn, 2021–2036</a:t>
                      </a:r>
                      <a:endParaRPr sz="1050"/>
                    </a:p>
                  </a:txBody>
                  <a:tcPr marL="9525" marR="9525" marT="9525" marB="0" anchor="ctr"/>
                </a:tc>
                <a:extLst>
                  <a:ext uri="{0D108BD9-81ED-4DB2-BD59-A6C34878D82A}">
                    <a16:rowId xmlns:a16="http://schemas.microsoft.com/office/drawing/2014/main" val="10011"/>
                  </a:ext>
                </a:extLst>
              </a:tr>
              <a:tr h="175260">
                <a:tc>
                  <a:txBody>
                    <a:bodyPr/>
                    <a:lstStyle/>
                    <a:p>
                      <a:pPr algn="l"/>
                      <a:r>
                        <a:rPr sz="1050" b="0" i="0">
                          <a:solidFill>
                            <a:srgbClr val="000000"/>
                          </a:solidFill>
                          <a:latin typeface="Calibri"/>
                        </a:rPr>
                        <a:t>Table 161: Brazil Market Historical and Forecast Growth, %, 2021–2036</a:t>
                      </a:r>
                      <a:endParaRPr sz="1050"/>
                    </a:p>
                  </a:txBody>
                  <a:tcPr marL="9525" marR="9525" marT="9525" marB="0" anchor="ctr"/>
                </a:tc>
                <a:extLst>
                  <a:ext uri="{0D108BD9-81ED-4DB2-BD59-A6C34878D82A}">
                    <a16:rowId xmlns:a16="http://schemas.microsoft.com/office/drawing/2014/main" val="10012"/>
                  </a:ext>
                </a:extLst>
              </a:tr>
              <a:tr h="175260">
                <a:tc>
                  <a:txBody>
                    <a:bodyPr/>
                    <a:lstStyle/>
                    <a:p>
                      <a:pPr algn="l"/>
                      <a:r>
                        <a:rPr sz="1050" b="0" i="0">
                          <a:solidFill>
                            <a:srgbClr val="000000"/>
                          </a:solidFill>
                          <a:latin typeface="Calibri"/>
                        </a:rPr>
                        <a:t>Table 162: U.K. Market Value by Partition Type, US$ Mn, 2021–2036</a:t>
                      </a:r>
                      <a:endParaRPr sz="1050"/>
                    </a:p>
                  </a:txBody>
                  <a:tcPr marL="9525" marR="9525" marT="9525" marB="0" anchor="ctr"/>
                </a:tc>
                <a:extLst>
                  <a:ext uri="{0D108BD9-81ED-4DB2-BD59-A6C34878D82A}">
                    <a16:rowId xmlns:a16="http://schemas.microsoft.com/office/drawing/2014/main" val="10013"/>
                  </a:ext>
                </a:extLst>
              </a:tr>
              <a:tr h="175260">
                <a:tc>
                  <a:txBody>
                    <a:bodyPr/>
                    <a:lstStyle/>
                    <a:p>
                      <a:pPr algn="l"/>
                      <a:r>
                        <a:rPr sz="1050" b="0" i="0">
                          <a:solidFill>
                            <a:srgbClr val="000000"/>
                          </a:solidFill>
                          <a:latin typeface="Calibri"/>
                        </a:rPr>
                        <a:t>Table 163: U.K. Market Historical and Forecast Growth, %, 2021–2036</a:t>
                      </a:r>
                      <a:endParaRPr sz="1050"/>
                    </a:p>
                  </a:txBody>
                  <a:tcPr marL="9525" marR="9525" marT="9525" marB="0" anchor="ctr"/>
                </a:tc>
                <a:extLst>
                  <a:ext uri="{0D108BD9-81ED-4DB2-BD59-A6C34878D82A}">
                    <a16:rowId xmlns:a16="http://schemas.microsoft.com/office/drawing/2014/main" val="10014"/>
                  </a:ext>
                </a:extLst>
              </a:tr>
              <a:tr h="175260">
                <a:tc>
                  <a:txBody>
                    <a:bodyPr/>
                    <a:lstStyle/>
                    <a:p>
                      <a:pPr algn="l"/>
                      <a:r>
                        <a:rPr sz="1050" b="0" i="0">
                          <a:solidFill>
                            <a:srgbClr val="000000"/>
                          </a:solidFill>
                          <a:latin typeface="Calibri"/>
                        </a:rPr>
                        <a:t>Table 164: Market Product Price Comparison by Company and Partition Type, US$/MT, 2026</a:t>
                      </a:r>
                      <a:endParaRPr sz="1050"/>
                    </a:p>
                  </a:txBody>
                  <a:tcPr marL="9525" marR="9525" marT="9525" marB="0" anchor="ctr"/>
                </a:tc>
                <a:extLst>
                  <a:ext uri="{0D108BD9-81ED-4DB2-BD59-A6C34878D82A}">
                    <a16:rowId xmlns:a16="http://schemas.microsoft.com/office/drawing/2014/main" val="10015"/>
                  </a:ext>
                </a:extLst>
              </a:tr>
              <a:tr h="175260">
                <a:tc>
                  <a:txBody>
                    <a:bodyPr/>
                    <a:lstStyle/>
                    <a:p>
                      <a:pPr algn="l"/>
                      <a:r>
                        <a:rPr sz="1050" b="0" i="0">
                          <a:solidFill>
                            <a:srgbClr val="000000"/>
                          </a:solidFill>
                          <a:latin typeface="Calibri"/>
                        </a:rPr>
                        <a:t>Table 165: Global Market Average Selling Price by Region, US$/MT, 2021–2036</a:t>
                      </a:r>
                      <a:endParaRPr sz="1050"/>
                    </a:p>
                  </a:txBody>
                  <a:tcPr marL="9525" marR="9525" marT="9525" marB="0" anchor="ctr"/>
                </a:tc>
                <a:extLst>
                  <a:ext uri="{0D108BD9-81ED-4DB2-BD59-A6C34878D82A}">
                    <a16:rowId xmlns:a16="http://schemas.microsoft.com/office/drawing/2014/main" val="10016"/>
                  </a:ext>
                </a:extLst>
              </a:tr>
              <a:tr h="175260">
                <a:tc>
                  <a:txBody>
                    <a:bodyPr/>
                    <a:lstStyle/>
                    <a:p>
                      <a:pPr algn="l"/>
                      <a:r>
                        <a:rPr sz="1050" b="0" i="0">
                          <a:solidFill>
                            <a:srgbClr val="000000"/>
                          </a:solidFill>
                          <a:latin typeface="Calibri"/>
                        </a:rPr>
                        <a:t>Table 166: Global Market Average Selling Price by Partition Type, US$/MT, 2021–2036</a:t>
                      </a:r>
                      <a:endParaRPr sz="1050"/>
                    </a:p>
                  </a:txBody>
                  <a:tcPr marL="9525" marR="9525" marT="9525" marB="0" anchor="ctr"/>
                </a:tc>
                <a:extLst>
                  <a:ext uri="{0D108BD9-81ED-4DB2-BD59-A6C34878D82A}">
                    <a16:rowId xmlns:a16="http://schemas.microsoft.com/office/drawing/2014/main" val="10017"/>
                  </a:ext>
                </a:extLst>
              </a:tr>
              <a:tr h="175260">
                <a:tc>
                  <a:txBody>
                    <a:bodyPr/>
                    <a:lstStyle/>
                    <a:p>
                      <a:pPr algn="l"/>
                      <a:r>
                        <a:rPr sz="1050" b="0" i="0">
                          <a:solidFill>
                            <a:srgbClr val="000000"/>
                          </a:solidFill>
                          <a:latin typeface="Calibri"/>
                        </a:rPr>
                        <a:t>Table 167: Global Market Average Selling Price by Board Construction, US$/MT, 2021–2036</a:t>
                      </a:r>
                      <a:endParaRPr sz="1050"/>
                    </a:p>
                  </a:txBody>
                  <a:tcPr marL="9525" marR="9525" marT="9525" marB="0" anchor="ctr"/>
                </a:tc>
                <a:extLst>
                  <a:ext uri="{0D108BD9-81ED-4DB2-BD59-A6C34878D82A}">
                    <a16:rowId xmlns:a16="http://schemas.microsoft.com/office/drawing/2014/main" val="10018"/>
                  </a:ext>
                </a:extLst>
              </a:tr>
              <a:tr h="175260">
                <a:tc>
                  <a:txBody>
                    <a:bodyPr/>
                    <a:lstStyle/>
                    <a:p>
                      <a:pPr algn="l"/>
                      <a:r>
                        <a:rPr sz="1050" b="0" i="0">
                          <a:solidFill>
                            <a:srgbClr val="000000"/>
                          </a:solidFill>
                          <a:latin typeface="Calibri"/>
                        </a:rPr>
                        <a:t>Table 168: Global Market Average Selling Price by Material Source, US$/MT, 2021–2036</a:t>
                      </a:r>
                      <a:endParaRPr sz="1050"/>
                    </a:p>
                  </a:txBody>
                  <a:tcPr marL="9525" marR="9525" marT="9525" marB="0" anchor="ctr"/>
                </a:tc>
                <a:extLst>
                  <a:ext uri="{0D108BD9-81ED-4DB2-BD59-A6C34878D82A}">
                    <a16:rowId xmlns:a16="http://schemas.microsoft.com/office/drawing/2014/main" val="10019"/>
                  </a:ext>
                </a:extLst>
              </a:tr>
              <a:tr h="175260">
                <a:tc>
                  <a:txBody>
                    <a:bodyPr/>
                    <a:lstStyle/>
                    <a:p>
                      <a:pPr algn="l"/>
                      <a:r>
                        <a:rPr sz="1050" b="0" i="0">
                          <a:solidFill>
                            <a:srgbClr val="000000"/>
                          </a:solidFill>
                          <a:latin typeface="Calibri"/>
                        </a:rPr>
                        <a:t>Table 169: Global Market Average Selling Price by Cell Configuration, US$/MT, 2021–2036</a:t>
                      </a:r>
                      <a:endParaRPr sz="1050"/>
                    </a:p>
                  </a:txBody>
                  <a:tcPr marL="9525" marR="9525" marT="9525" marB="0" anchor="ctr"/>
                </a:tc>
                <a:extLst>
                  <a:ext uri="{0D108BD9-81ED-4DB2-BD59-A6C34878D82A}">
                    <a16:rowId xmlns:a16="http://schemas.microsoft.com/office/drawing/2014/main" val="10020"/>
                  </a:ext>
                </a:extLst>
              </a:tr>
              <a:tr h="175260">
                <a:tc>
                  <a:txBody>
                    <a:bodyPr/>
                    <a:lstStyle/>
                    <a:p>
                      <a:pPr algn="l"/>
                      <a:r>
                        <a:rPr sz="1050" b="0" i="0">
                          <a:solidFill>
                            <a:srgbClr val="000000"/>
                          </a:solidFill>
                          <a:latin typeface="Calibri"/>
                        </a:rPr>
                        <a:t>Table 170: Global Market Average Selling Price by Customization, US$/MT, 2021–2036</a:t>
                      </a:r>
                      <a:endParaRPr sz="1050"/>
                    </a:p>
                  </a:txBody>
                  <a:tcPr marL="9525" marR="9525" marT="9525" marB="0" anchor="ctr"/>
                </a:tc>
                <a:extLst>
                  <a:ext uri="{0D108BD9-81ED-4DB2-BD59-A6C34878D82A}">
                    <a16:rowId xmlns:a16="http://schemas.microsoft.com/office/drawing/2014/main" val="10021"/>
                  </a:ext>
                </a:extLst>
              </a:tr>
              <a:tr h="175260">
                <a:tc>
                  <a:txBody>
                    <a:bodyPr/>
                    <a:lstStyle/>
                    <a:p>
                      <a:pPr algn="l"/>
                      <a:r>
                        <a:rPr sz="1050" b="0" i="0">
                          <a:solidFill>
                            <a:srgbClr val="000000"/>
                          </a:solidFill>
                          <a:latin typeface="Calibri"/>
                        </a:rPr>
                        <a:t>Table 171: Global Market Average Selling Price by End Use, US$/MT, 2021–2036</a:t>
                      </a:r>
                      <a:endParaRPr sz="1050"/>
                    </a:p>
                  </a:txBody>
                  <a:tcPr marL="9525" marR="9525" marT="9525" marB="0" anchor="ctr"/>
                </a:tc>
                <a:extLst>
                  <a:ext uri="{0D108BD9-81ED-4DB2-BD59-A6C34878D82A}">
                    <a16:rowId xmlns:a16="http://schemas.microsoft.com/office/drawing/2014/main" val="10022"/>
                  </a:ext>
                </a:extLst>
              </a:tr>
              <a:tr h="175260">
                <a:tc>
                  <a:txBody>
                    <a:bodyPr/>
                    <a:lstStyle/>
                    <a:p>
                      <a:pPr algn="l"/>
                      <a:r>
                        <a:rPr sz="1050" b="0" i="0">
                          <a:solidFill>
                            <a:srgbClr val="000000"/>
                          </a:solidFill>
                          <a:latin typeface="Calibri"/>
                        </a:rPr>
                        <a:t>Table 172: Global Market Average Selling Price by Sales Channel, US$/MT, 2021–2036</a:t>
                      </a:r>
                      <a:endParaRPr sz="1050"/>
                    </a:p>
                  </a:txBody>
                  <a:tcPr marL="9525" marR="9525" marT="9525" marB="0" anchor="ctr"/>
                </a:tc>
                <a:extLst>
                  <a:ext uri="{0D108BD9-81ED-4DB2-BD59-A6C34878D82A}">
                    <a16:rowId xmlns:a16="http://schemas.microsoft.com/office/drawing/2014/main" val="10023"/>
                  </a:ext>
                </a:extLst>
              </a:tr>
              <a:tr h="175260">
                <a:tc>
                  <a:txBody>
                    <a:bodyPr/>
                    <a:lstStyle/>
                    <a:p>
                      <a:pPr algn="l"/>
                      <a:r>
                        <a:rPr sz="1050" b="0" i="0">
                          <a:solidFill>
                            <a:srgbClr val="000000"/>
                          </a:solidFill>
                          <a:latin typeface="Calibri"/>
                        </a:rPr>
                        <a:t>Table 173: Supplier-to-Customer Relationship Mapping in U.S., 2026</a:t>
                      </a:r>
                      <a:endParaRPr sz="1050"/>
                    </a:p>
                  </a:txBody>
                  <a:tcPr marL="9525" marR="9525" marT="9525" marB="0" anchor="ctr"/>
                </a:tc>
                <a:extLst>
                  <a:ext uri="{0D108BD9-81ED-4DB2-BD59-A6C34878D82A}">
                    <a16:rowId xmlns:a16="http://schemas.microsoft.com/office/drawing/2014/main" val="10024"/>
                  </a:ext>
                </a:extLst>
              </a:tr>
              <a:tr h="175260">
                <a:tc>
                  <a:txBody>
                    <a:bodyPr/>
                    <a:lstStyle/>
                    <a:p>
                      <a:pPr algn="l"/>
                      <a:r>
                        <a:rPr sz="1050" b="0" i="0">
                          <a:solidFill>
                            <a:srgbClr val="000000"/>
                          </a:solidFill>
                          <a:latin typeface="Calibri"/>
                        </a:rPr>
                        <a:t>Table 174: Global Market Value Chain Participants by Stage, 2026</a:t>
                      </a:r>
                      <a:endParaRPr sz="1050"/>
                    </a:p>
                  </a:txBody>
                  <a:tcPr marL="9525" marR="9525" marT="9525" marB="0" anchor="ctr"/>
                </a:tc>
                <a:extLst>
                  <a:ext uri="{0D108BD9-81ED-4DB2-BD59-A6C34878D82A}">
                    <a16:rowId xmlns:a16="http://schemas.microsoft.com/office/drawing/2014/main" val="10025"/>
                  </a:ext>
                </a:extLst>
              </a:tr>
              <a:tr h="175260">
                <a:tc>
                  <a:txBody>
                    <a:bodyPr/>
                    <a:lstStyle/>
                    <a:p>
                      <a:pPr algn="l"/>
                      <a:r>
                        <a:rPr sz="1050" b="0" i="0">
                          <a:solidFill>
                            <a:srgbClr val="000000"/>
                          </a:solidFill>
                          <a:latin typeface="Calibri"/>
                        </a:rPr>
                        <a:t>Table 175: Global Market Margin Analysis by Value Chain Stage, %, 2026</a:t>
                      </a:r>
                      <a:endParaRPr sz="1050"/>
                    </a:p>
                  </a:txBody>
                  <a:tcPr marL="9525" marR="9525" marT="9525" marB="0" anchor="ctr"/>
                </a:tc>
                <a:extLst>
                  <a:ext uri="{0D108BD9-81ED-4DB2-BD59-A6C34878D82A}">
                    <a16:rowId xmlns:a16="http://schemas.microsoft.com/office/drawing/2014/main" val="10026"/>
                  </a:ext>
                </a:extLst>
              </a:tr>
              <a:tr h="175260">
                <a:tc>
                  <a:txBody>
                    <a:bodyPr/>
                    <a:lstStyle/>
                    <a:p>
                      <a:pPr algn="l"/>
                      <a:r>
                        <a:rPr sz="1050" b="0" i="0">
                          <a:solidFill>
                            <a:srgbClr val="000000"/>
                          </a:solidFill>
                          <a:latin typeface="Calibri"/>
                        </a:rPr>
                        <a:t>Table 176: Global Market Cost Structure by Component, %, 2026</a:t>
                      </a:r>
                      <a:endParaRPr sz="1050"/>
                    </a:p>
                  </a:txBody>
                  <a:tcPr marL="9525" marR="9525" marT="9525" marB="0" anchor="ctr"/>
                </a:tc>
                <a:extLst>
                  <a:ext uri="{0D108BD9-81ED-4DB2-BD59-A6C34878D82A}">
                    <a16:rowId xmlns:a16="http://schemas.microsoft.com/office/drawing/2014/main" val="10027"/>
                  </a:ext>
                </a:extLst>
              </a:tr>
              <a:tr h="175260">
                <a:tc>
                  <a:txBody>
                    <a:bodyPr/>
                    <a:lstStyle/>
                    <a:p>
                      <a:pPr algn="l"/>
                      <a:r>
                        <a:rPr sz="1050" b="0" i="0">
                          <a:solidFill>
                            <a:srgbClr val="000000"/>
                          </a:solidFill>
                          <a:latin typeface="Calibri"/>
                        </a:rPr>
                        <a:t>Table 177: Global Market Import Value by Leading Country, US$ Mn, 2021–2025</a:t>
                      </a:r>
                      <a:endParaRPr sz="1050"/>
                    </a:p>
                  </a:txBody>
                  <a:tcPr marL="9525" marR="9525" marT="9525" marB="0" anchor="ctr"/>
                </a:tc>
                <a:extLst>
                  <a:ext uri="{0D108BD9-81ED-4DB2-BD59-A6C34878D82A}">
                    <a16:rowId xmlns:a16="http://schemas.microsoft.com/office/drawing/2014/main" val="10028"/>
                  </a:ext>
                </a:extLst>
              </a:tr>
              <a:tr h="175260">
                <a:tc>
                  <a:txBody>
                    <a:bodyPr/>
                    <a:lstStyle/>
                    <a:p>
                      <a:pPr algn="l"/>
                      <a:r>
                        <a:rPr sz="1050" b="0" i="0">
                          <a:solidFill>
                            <a:srgbClr val="000000"/>
                          </a:solidFill>
                          <a:latin typeface="Calibri"/>
                        </a:rPr>
                        <a:t>Table 178: Global Market Export Value by Leading Country, US$ Mn, 2021–2025</a:t>
                      </a:r>
                      <a:endParaRPr sz="1050"/>
                    </a:p>
                  </a:txBody>
                  <a:tcPr marL="9525" marR="9525" marT="9525" marB="0" anchor="ctr"/>
                </a:tc>
                <a:extLst>
                  <a:ext uri="{0D108BD9-81ED-4DB2-BD59-A6C34878D82A}">
                    <a16:rowId xmlns:a16="http://schemas.microsoft.com/office/drawing/2014/main" val="10029"/>
                  </a:ext>
                </a:extLst>
              </a:tr>
            </a:tbl>
          </a:graphicData>
        </a:graphic>
      </p:graphicFrame>
      <p:sp>
        <p:nvSpPr>
          <p:cNvPr id="11" name="TextBox 1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tIns="0" rIns="28575"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3827156"/>
        </p:xfrm>
        <a:graphic>
          <a:graphicData uri="http://schemas.openxmlformats.org/drawingml/2006/table">
            <a:tbl>
              <a:tblPr>
                <a:tableStyleId>{3B4B98B0-60AC-42C2-AFA5-B58CD77FA1E5}</a:tableStyleId>
              </a:tblPr>
              <a:tblGrid>
                <a:gridCol w="5876925">
                  <a:extLst>
                    <a:ext uri="{9D8B030D-6E8A-4147-A177-3AD203B41FA5}">
                      <a16:colId xmlns:a16="http://schemas.microsoft.com/office/drawing/2014/main" val="20000"/>
                    </a:ext>
                  </a:extLst>
                </a:gridCol>
              </a:tblGrid>
              <a:tr h="326708">
                <a:tc>
                  <a:txBody>
                    <a:bodyPr/>
                    <a:lstStyle/>
                    <a:p>
                      <a:pPr algn="l"/>
                      <a:r>
                        <a:rPr sz="1050" b="0" i="0">
                          <a:solidFill>
                            <a:srgbClr val="000000"/>
                          </a:solidFill>
                          <a:latin typeface="Calibri"/>
                        </a:rPr>
                        <a:t>Table 179: Leading Corrugated Partition Manufacturers: Product Portfolio and Geographic Presence, 2026</a:t>
                      </a:r>
                      <a:endParaRPr sz="1050"/>
                    </a:p>
                  </a:txBody>
                  <a:tcPr marL="9525" marR="9525" marT="9525" marB="0" anchor="ctr"/>
                </a:tc>
                <a:extLst>
                  <a:ext uri="{0D108BD9-81ED-4DB2-BD59-A6C34878D82A}">
                    <a16:rowId xmlns:a16="http://schemas.microsoft.com/office/drawing/2014/main" val="10000"/>
                  </a:ext>
                </a:extLst>
              </a:tr>
              <a:tr h="166688">
                <a:tc>
                  <a:txBody>
                    <a:bodyPr/>
                    <a:lstStyle/>
                    <a:p>
                      <a:pPr algn="l"/>
                      <a:r>
                        <a:rPr sz="1050" b="0" i="0">
                          <a:solidFill>
                            <a:srgbClr val="000000"/>
                          </a:solidFill>
                          <a:latin typeface="Calibri"/>
                        </a:rPr>
                        <a:t>Table 180: Company Revenue from the Global Market, US$ Mn, 2025–2026</a:t>
                      </a:r>
                      <a:endParaRPr sz="1050"/>
                    </a:p>
                  </a:txBody>
                  <a:tcPr marL="9525" marR="9525" marT="9525" marB="0" anchor="ctr"/>
                </a:tc>
                <a:extLst>
                  <a:ext uri="{0D108BD9-81ED-4DB2-BD59-A6C34878D82A}">
                    <a16:rowId xmlns:a16="http://schemas.microsoft.com/office/drawing/2014/main" val="10001"/>
                  </a:ext>
                </a:extLst>
              </a:tr>
              <a:tr h="166688">
                <a:tc>
                  <a:txBody>
                    <a:bodyPr/>
                    <a:lstStyle/>
                    <a:p>
                      <a:pPr algn="l"/>
                      <a:r>
                        <a:rPr sz="1050" b="0" i="0">
                          <a:solidFill>
                            <a:srgbClr val="000000"/>
                          </a:solidFill>
                          <a:latin typeface="Calibri"/>
                        </a:rPr>
                        <a:t>Table 181: Company Market Share in the Global Market by Region, %, 2026</a:t>
                      </a:r>
                      <a:endParaRPr sz="1050"/>
                    </a:p>
                  </a:txBody>
                  <a:tcPr marL="9525" marR="9525" marT="9525" marB="0" anchor="ctr"/>
                </a:tc>
                <a:extLst>
                  <a:ext uri="{0D108BD9-81ED-4DB2-BD59-A6C34878D82A}">
                    <a16:rowId xmlns:a16="http://schemas.microsoft.com/office/drawing/2014/main" val="10002"/>
                  </a:ext>
                </a:extLst>
              </a:tr>
              <a:tr h="166688">
                <a:tc>
                  <a:txBody>
                    <a:bodyPr/>
                    <a:lstStyle/>
                    <a:p>
                      <a:pPr algn="l"/>
                      <a:r>
                        <a:rPr sz="1050" b="0" i="0">
                          <a:solidFill>
                            <a:srgbClr val="000000"/>
                          </a:solidFill>
                          <a:latin typeface="Calibri"/>
                        </a:rPr>
                        <a:t>Table 182: Global Market Competitive Benchmarking Matrix, 2026</a:t>
                      </a:r>
                      <a:endParaRPr sz="1050"/>
                    </a:p>
                  </a:txBody>
                  <a:tcPr marL="9525" marR="9525" marT="9525" marB="0" anchor="ctr"/>
                </a:tc>
                <a:extLst>
                  <a:ext uri="{0D108BD9-81ED-4DB2-BD59-A6C34878D82A}">
                    <a16:rowId xmlns:a16="http://schemas.microsoft.com/office/drawing/2014/main" val="10003"/>
                  </a:ext>
                </a:extLst>
              </a:tr>
              <a:tr h="166688">
                <a:tc>
                  <a:txBody>
                    <a:bodyPr/>
                    <a:lstStyle/>
                    <a:p>
                      <a:pPr algn="l"/>
                      <a:r>
                        <a:rPr sz="1050" b="0" i="0">
                          <a:solidFill>
                            <a:srgbClr val="000000"/>
                          </a:solidFill>
                          <a:latin typeface="Calibri"/>
                        </a:rPr>
                        <a:t>Table 183: Global Market Mergers, Acquisitions and Partnerships, 2021–2026</a:t>
                      </a:r>
                      <a:endParaRPr sz="1050"/>
                    </a:p>
                  </a:txBody>
                  <a:tcPr marL="9525" marR="9525" marT="9525" marB="0" anchor="ctr"/>
                </a:tc>
                <a:extLst>
                  <a:ext uri="{0D108BD9-81ED-4DB2-BD59-A6C34878D82A}">
                    <a16:rowId xmlns:a16="http://schemas.microsoft.com/office/drawing/2014/main" val="10004"/>
                  </a:ext>
                </a:extLst>
              </a:tr>
              <a:tr h="166688">
                <a:tc>
                  <a:txBody>
                    <a:bodyPr/>
                    <a:lstStyle/>
                    <a:p>
                      <a:pPr algn="l"/>
                      <a:r>
                        <a:rPr sz="1050" b="0" i="0">
                          <a:solidFill>
                            <a:srgbClr val="000000"/>
                          </a:solidFill>
                          <a:latin typeface="Calibri"/>
                        </a:rPr>
                        <a:t>Table 184: Multicell Packaging Inc.: Company Overview, Products and Strategy, 2026</a:t>
                      </a:r>
                      <a:endParaRPr sz="1050"/>
                    </a:p>
                  </a:txBody>
                  <a:tcPr marL="9525" marR="9525" marT="9525" marB="0" anchor="ctr"/>
                </a:tc>
                <a:extLst>
                  <a:ext uri="{0D108BD9-81ED-4DB2-BD59-A6C34878D82A}">
                    <a16:rowId xmlns:a16="http://schemas.microsoft.com/office/drawing/2014/main" val="10005"/>
                  </a:ext>
                </a:extLst>
              </a:tr>
              <a:tr h="166688">
                <a:tc>
                  <a:txBody>
                    <a:bodyPr/>
                    <a:lstStyle/>
                    <a:p>
                      <a:pPr algn="l"/>
                      <a:r>
                        <a:rPr sz="1050" b="0" i="0">
                          <a:solidFill>
                            <a:srgbClr val="000000"/>
                          </a:solidFill>
                          <a:latin typeface="Calibri"/>
                        </a:rPr>
                        <a:t>Table 185: Company: Company Overview, Products and Strategy, 2026</a:t>
                      </a:r>
                      <a:endParaRPr sz="1050"/>
                    </a:p>
                  </a:txBody>
                  <a:tcPr marL="9525" marR="9525" marT="9525" marB="0" anchor="ctr"/>
                </a:tc>
                <a:extLst>
                  <a:ext uri="{0D108BD9-81ED-4DB2-BD59-A6C34878D82A}">
                    <a16:rowId xmlns:a16="http://schemas.microsoft.com/office/drawing/2014/main" val="10006"/>
                  </a:ext>
                </a:extLst>
              </a:tr>
              <a:tr h="166688">
                <a:tc>
                  <a:txBody>
                    <a:bodyPr/>
                    <a:lstStyle/>
                    <a:p>
                      <a:pPr algn="l"/>
                      <a:r>
                        <a:rPr sz="1050" b="0" i="0">
                          <a:solidFill>
                            <a:srgbClr val="000000"/>
                          </a:solidFill>
                          <a:latin typeface="Calibri"/>
                        </a:rPr>
                        <a:t>Table 186: Great American Paper Inc.: Company Overview, Products and Strategy, 2026</a:t>
                      </a:r>
                      <a:endParaRPr sz="1050"/>
                    </a:p>
                  </a:txBody>
                  <a:tcPr marL="9525" marR="9525" marT="9525" marB="0" anchor="ctr"/>
                </a:tc>
                <a:extLst>
                  <a:ext uri="{0D108BD9-81ED-4DB2-BD59-A6C34878D82A}">
                    <a16:rowId xmlns:a16="http://schemas.microsoft.com/office/drawing/2014/main" val="10007"/>
                  </a:ext>
                </a:extLst>
              </a:tr>
              <a:tr h="166688">
                <a:tc>
                  <a:txBody>
                    <a:bodyPr/>
                    <a:lstStyle/>
                    <a:p>
                      <a:pPr algn="l"/>
                      <a:r>
                        <a:rPr sz="1050" b="0" i="0">
                          <a:solidFill>
                            <a:srgbClr val="000000"/>
                          </a:solidFill>
                          <a:latin typeface="Calibri"/>
                        </a:rPr>
                        <a:t>Table 187: Interpack Inc.: Company Overview, Products and Strategy, 2026</a:t>
                      </a:r>
                      <a:endParaRPr sz="1050"/>
                    </a:p>
                  </a:txBody>
                  <a:tcPr marL="9525" marR="9525" marT="9525" marB="0" anchor="ctr"/>
                </a:tc>
                <a:extLst>
                  <a:ext uri="{0D108BD9-81ED-4DB2-BD59-A6C34878D82A}">
                    <a16:rowId xmlns:a16="http://schemas.microsoft.com/office/drawing/2014/main" val="10008"/>
                  </a:ext>
                </a:extLst>
              </a:tr>
              <a:tr h="166688">
                <a:tc>
                  <a:txBody>
                    <a:bodyPr/>
                    <a:lstStyle/>
                    <a:p>
                      <a:pPr algn="l"/>
                      <a:r>
                        <a:rPr sz="1050" b="0" i="0">
                          <a:solidFill>
                            <a:srgbClr val="000000"/>
                          </a:solidFill>
                          <a:latin typeface="Calibri"/>
                        </a:rPr>
                        <a:t>Table 188: Caps Cases Ltd.: Company Overview, Products and Strategy, 2026</a:t>
                      </a:r>
                      <a:endParaRPr sz="1050"/>
                    </a:p>
                  </a:txBody>
                  <a:tcPr marL="9525" marR="9525" marT="9525" marB="0" anchor="ctr"/>
                </a:tc>
                <a:extLst>
                  <a:ext uri="{0D108BD9-81ED-4DB2-BD59-A6C34878D82A}">
                    <a16:rowId xmlns:a16="http://schemas.microsoft.com/office/drawing/2014/main" val="10009"/>
                  </a:ext>
                </a:extLst>
              </a:tr>
              <a:tr h="166688">
                <a:tc>
                  <a:txBody>
                    <a:bodyPr/>
                    <a:lstStyle/>
                    <a:p>
                      <a:pPr algn="l"/>
                      <a:r>
                        <a:rPr sz="1050" b="0" i="0">
                          <a:solidFill>
                            <a:srgbClr val="000000"/>
                          </a:solidFill>
                          <a:latin typeface="Calibri"/>
                        </a:rPr>
                        <a:t>Table 189: M &amp; M Box &amp; Partitions Co.: Company Overview, Products and Strategy, 2026</a:t>
                      </a:r>
                      <a:endParaRPr sz="1050"/>
                    </a:p>
                  </a:txBody>
                  <a:tcPr marL="9525" marR="9525" marT="9525" marB="0" anchor="ctr"/>
                </a:tc>
                <a:extLst>
                  <a:ext uri="{0D108BD9-81ED-4DB2-BD59-A6C34878D82A}">
                    <a16:rowId xmlns:a16="http://schemas.microsoft.com/office/drawing/2014/main" val="10010"/>
                  </a:ext>
                </a:extLst>
              </a:tr>
              <a:tr h="166688">
                <a:tc>
                  <a:txBody>
                    <a:bodyPr/>
                    <a:lstStyle/>
                    <a:p>
                      <a:pPr algn="l"/>
                      <a:r>
                        <a:rPr sz="1050" b="0" i="0">
                          <a:solidFill>
                            <a:srgbClr val="000000"/>
                          </a:solidFill>
                          <a:latin typeface="Calibri"/>
                        </a:rPr>
                        <a:t>Table 190: Martin Partitions: Company Overview, Products and Strategy, 2026</a:t>
                      </a:r>
                      <a:endParaRPr sz="1050"/>
                    </a:p>
                  </a:txBody>
                  <a:tcPr marL="9525" marR="9525" marT="9525" marB="0" anchor="ctr"/>
                </a:tc>
                <a:extLst>
                  <a:ext uri="{0D108BD9-81ED-4DB2-BD59-A6C34878D82A}">
                    <a16:rowId xmlns:a16="http://schemas.microsoft.com/office/drawing/2014/main" val="10011"/>
                  </a:ext>
                </a:extLst>
              </a:tr>
              <a:tr h="166688">
                <a:tc>
                  <a:txBody>
                    <a:bodyPr/>
                    <a:lstStyle/>
                    <a:p>
                      <a:pPr algn="l"/>
                      <a:r>
                        <a:rPr sz="1050" b="0" i="0">
                          <a:solidFill>
                            <a:srgbClr val="000000"/>
                          </a:solidFill>
                          <a:latin typeface="Calibri"/>
                        </a:rPr>
                        <a:t>Table 191: Buckeye Corrugated Inc.: Company Overview, Products and Strategy, 2026</a:t>
                      </a:r>
                      <a:endParaRPr sz="1050"/>
                    </a:p>
                  </a:txBody>
                  <a:tcPr marL="9525" marR="9525" marT="9525" marB="0" anchor="ctr"/>
                </a:tc>
                <a:extLst>
                  <a:ext uri="{0D108BD9-81ED-4DB2-BD59-A6C34878D82A}">
                    <a16:rowId xmlns:a16="http://schemas.microsoft.com/office/drawing/2014/main" val="10012"/>
                  </a:ext>
                </a:extLst>
              </a:tr>
              <a:tr h="166688">
                <a:tc>
                  <a:txBody>
                    <a:bodyPr/>
                    <a:lstStyle/>
                    <a:p>
                      <a:pPr algn="l"/>
                      <a:r>
                        <a:rPr sz="1050" b="0" i="0">
                          <a:solidFill>
                            <a:srgbClr val="000000"/>
                          </a:solidFill>
                          <a:latin typeface="Calibri"/>
                        </a:rPr>
                        <a:t>Table 192: Cactus Corrugated Containers Inc.: Company Overview, Products and Strategy, 2026</a:t>
                      </a:r>
                      <a:endParaRPr sz="1050"/>
                    </a:p>
                  </a:txBody>
                  <a:tcPr marL="9525" marR="9525" marT="9525" marB="0" anchor="ctr"/>
                </a:tc>
                <a:extLst>
                  <a:ext uri="{0D108BD9-81ED-4DB2-BD59-A6C34878D82A}">
                    <a16:rowId xmlns:a16="http://schemas.microsoft.com/office/drawing/2014/main" val="10013"/>
                  </a:ext>
                </a:extLst>
              </a:tr>
              <a:tr h="166688">
                <a:tc>
                  <a:txBody>
                    <a:bodyPr/>
                    <a:lstStyle/>
                    <a:p>
                      <a:pPr algn="l"/>
                      <a:r>
                        <a:rPr sz="1050" b="0" i="0">
                          <a:solidFill>
                            <a:srgbClr val="000000"/>
                          </a:solidFill>
                          <a:latin typeface="Calibri"/>
                        </a:rPr>
                        <a:t>Table 193: Jarrett Industries Inc.: Company Overview, Products and Strategy, 2026</a:t>
                      </a:r>
                      <a:endParaRPr sz="1050"/>
                    </a:p>
                  </a:txBody>
                  <a:tcPr marL="9525" marR="9525" marT="9525" marB="0" anchor="ctr"/>
                </a:tc>
                <a:extLst>
                  <a:ext uri="{0D108BD9-81ED-4DB2-BD59-A6C34878D82A}">
                    <a16:rowId xmlns:a16="http://schemas.microsoft.com/office/drawing/2014/main" val="10014"/>
                  </a:ext>
                </a:extLst>
              </a:tr>
              <a:tr h="166688">
                <a:tc>
                  <a:txBody>
                    <a:bodyPr/>
                    <a:lstStyle/>
                    <a:p>
                      <a:pPr algn="l"/>
                      <a:r>
                        <a:rPr sz="1050" b="0" i="0">
                          <a:solidFill>
                            <a:srgbClr val="000000"/>
                          </a:solidFill>
                          <a:latin typeface="Calibri"/>
                        </a:rPr>
                        <a:t>Table 194: Global Market Value by Scenario and Region, US$ Mn, 2026–2036</a:t>
                      </a:r>
                      <a:endParaRPr sz="1050"/>
                    </a:p>
                  </a:txBody>
                  <a:tcPr marL="9525" marR="9525" marT="9525" marB="0" anchor="ctr"/>
                </a:tc>
                <a:extLst>
                  <a:ext uri="{0D108BD9-81ED-4DB2-BD59-A6C34878D82A}">
                    <a16:rowId xmlns:a16="http://schemas.microsoft.com/office/drawing/2014/main" val="10015"/>
                  </a:ext>
                </a:extLst>
              </a:tr>
              <a:tr h="166688">
                <a:tc>
                  <a:txBody>
                    <a:bodyPr/>
                    <a:lstStyle/>
                    <a:p>
                      <a:pPr algn="l"/>
                      <a:r>
                        <a:rPr sz="1050" b="0" i="0">
                          <a:solidFill>
                            <a:srgbClr val="000000"/>
                          </a:solidFill>
                          <a:latin typeface="Calibri"/>
                        </a:rPr>
                        <a:t>Table 195: Global Market Key Trends and Impact Rating, 2026–2036</a:t>
                      </a:r>
                      <a:endParaRPr sz="1050"/>
                    </a:p>
                  </a:txBody>
                  <a:tcPr marL="9525" marR="9525" marT="9525" marB="0" anchor="ctr"/>
                </a:tc>
                <a:extLst>
                  <a:ext uri="{0D108BD9-81ED-4DB2-BD59-A6C34878D82A}">
                    <a16:rowId xmlns:a16="http://schemas.microsoft.com/office/drawing/2014/main" val="10016"/>
                  </a:ext>
                </a:extLst>
              </a:tr>
              <a:tr h="166688">
                <a:tc>
                  <a:txBody>
                    <a:bodyPr/>
                    <a:lstStyle/>
                    <a:p>
                      <a:pPr algn="l"/>
                      <a:r>
                        <a:rPr sz="1050" b="0" i="0">
                          <a:solidFill>
                            <a:srgbClr val="000000"/>
                          </a:solidFill>
                          <a:latin typeface="Calibri"/>
                        </a:rPr>
                        <a:t>Table 196: Global Market Opportunity Assessment by Partition Type, US$ Mn, 2026–2036</a:t>
                      </a:r>
                      <a:endParaRPr sz="1050"/>
                    </a:p>
                  </a:txBody>
                  <a:tcPr marL="9525" marR="9525" marT="9525" marB="0" anchor="ctr"/>
                </a:tc>
                <a:extLst>
                  <a:ext uri="{0D108BD9-81ED-4DB2-BD59-A6C34878D82A}">
                    <a16:rowId xmlns:a16="http://schemas.microsoft.com/office/drawing/2014/main" val="10017"/>
                  </a:ext>
                </a:extLst>
              </a:tr>
              <a:tr h="166688">
                <a:tc>
                  <a:txBody>
                    <a:bodyPr/>
                    <a:lstStyle/>
                    <a:p>
                      <a:pPr algn="l"/>
                      <a:r>
                        <a:rPr sz="1050" b="0" i="0">
                          <a:solidFill>
                            <a:srgbClr val="000000"/>
                          </a:solidFill>
                          <a:latin typeface="Calibri"/>
                        </a:rPr>
                        <a:t>Table 197: Global Market Scenario Assumptions, 2026–2036</a:t>
                      </a:r>
                      <a:endParaRPr sz="1050"/>
                    </a:p>
                  </a:txBody>
                  <a:tcPr marL="9525" marR="9525" marT="9525" marB="0" anchor="ctr"/>
                </a:tc>
                <a:extLst>
                  <a:ext uri="{0D108BD9-81ED-4DB2-BD59-A6C34878D82A}">
                    <a16:rowId xmlns:a16="http://schemas.microsoft.com/office/drawing/2014/main" val="10018"/>
                  </a:ext>
                </a:extLst>
              </a:tr>
              <a:tr h="166688">
                <a:tc>
                  <a:txBody>
                    <a:bodyPr/>
                    <a:lstStyle/>
                    <a:p>
                      <a:pPr algn="l"/>
                      <a:r>
                        <a:rPr sz="1050" b="0" i="0">
                          <a:solidFill>
                            <a:srgbClr val="000000"/>
                          </a:solidFill>
                          <a:latin typeface="Calibri"/>
                        </a:rPr>
                        <a:t>Table 198: Global Market Client Opportunity Prioritisation by Partition Type, 2026–2036</a:t>
                      </a:r>
                      <a:endParaRPr sz="1050"/>
                    </a:p>
                  </a:txBody>
                  <a:tcPr marL="9525" marR="9525" marT="9525" marB="0" anchor="ctr"/>
                </a:tc>
                <a:extLst>
                  <a:ext uri="{0D108BD9-81ED-4DB2-BD59-A6C34878D82A}">
                    <a16:rowId xmlns:a16="http://schemas.microsoft.com/office/drawing/2014/main" val="10019"/>
                  </a:ext>
                </a:extLst>
              </a:tr>
              <a:tr h="166688">
                <a:tc>
                  <a:txBody>
                    <a:bodyPr/>
                    <a:lstStyle/>
                    <a:p>
                      <a:pPr algn="l"/>
                      <a:r>
                        <a:rPr sz="1050" b="0" i="0">
                          <a:solidFill>
                            <a:srgbClr val="000000"/>
                          </a:solidFill>
                          <a:latin typeface="Calibri"/>
                        </a:rPr>
                        <a:t>Table 199: Global Market Customer Purchase Criteria by Partition Type, 2026</a:t>
                      </a:r>
                      <a:endParaRPr sz="1050"/>
                    </a:p>
                  </a:txBody>
                  <a:tcPr marL="9525" marR="9525" marT="9525" marB="0" anchor="ctr"/>
                </a:tc>
                <a:extLst>
                  <a:ext uri="{0D108BD9-81ED-4DB2-BD59-A6C34878D82A}">
                    <a16:rowId xmlns:a16="http://schemas.microsoft.com/office/drawing/2014/main" val="10020"/>
                  </a:ext>
                </a:extLst>
              </a:tr>
              <a:tr h="166688">
                <a:tc>
                  <a:txBody>
                    <a:bodyPr/>
                    <a:lstStyle/>
                    <a:p>
                      <a:pPr algn="l"/>
                      <a:r>
                        <a:rPr sz="1050" b="0" i="0">
                          <a:solidFill>
                            <a:srgbClr val="000000"/>
                          </a:solidFill>
                          <a:latin typeface="Calibri"/>
                        </a:rPr>
                        <a:t>Table 200: Global Market Strategic Recommendations and Action Plan, 2026–2036</a:t>
                      </a:r>
                      <a:endParaRPr sz="1050"/>
                    </a:p>
                  </a:txBody>
                  <a:tcPr marL="9525" marR="9525" marT="9525" marB="0" anchor="ctr"/>
                </a:tc>
                <a:extLst>
                  <a:ext uri="{0D108BD9-81ED-4DB2-BD59-A6C34878D82A}">
                    <a16:rowId xmlns:a16="http://schemas.microsoft.com/office/drawing/2014/main" val="10021"/>
                  </a:ext>
                </a:extLst>
              </a:tr>
            </a:tbl>
          </a:graphicData>
        </a:graphic>
      </p:graphicFrame>
      <p:sp>
        <p:nvSpPr>
          <p:cNvPr id="10" name="TextBox 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A2A63"/>
        </a:solidFill>
        <a:effectLst/>
      </p:bgPr>
    </p:bg>
    <p:spTree>
      <p:nvGrpSpPr>
        <p:cNvPr id="1" name=""/>
        <p:cNvGrpSpPr/>
        <p:nvPr/>
      </p:nvGrpSpPr>
      <p:grpSpPr>
        <a:xfrm>
          <a:off x="0" y="0"/>
          <a:ext cx="0" cy="0"/>
          <a:chOff x="0" y="0"/>
          <a:chExt cx="0" cy="0"/>
        </a:xfrm>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ang="195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fmi_logo_template.png"/>
          <p:cNvPicPr>
            <a:picLocks noChangeAspect="1"/>
          </p:cNvPicPr>
          <p:nvPr/>
        </p:nvPicPr>
        <p:blipFill>
          <a:blip r:embed="rId3"/>
          <a:stretch>
            <a:fillRect/>
          </a:stretch>
        </p:blipFill>
        <p:spPr>
          <a:xfrm>
            <a:off x="411480" y="274320"/>
            <a:ext cx="1307592" cy="1325880"/>
          </a:xfrm>
          <a:prstGeom prst="rect">
            <a:avLst/>
          </a:prstGeom>
        </p:spPr>
      </p:pic>
      <p:sp>
        <p:nvSpPr>
          <p:cNvPr id="5" name="TextBox 4"/>
          <p:cNvSpPr txBox="1"/>
          <p:nvPr/>
        </p:nvSpPr>
        <p:spPr>
          <a:xfrm>
            <a:off x="914400" y="244919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2753995"/>
            <a:ext cx="7239000" cy="514350"/>
          </a:xfrm>
          <a:prstGeom prst="rect">
            <a:avLst/>
          </a:prstGeom>
          <a:noFill/>
        </p:spPr>
        <p:txBody>
          <a:bodyPr wrap="square" lIns="0" tIns="0" rIns="0">
            <a:spAutoFit/>
          </a:bodyPr>
          <a:lstStyle/>
          <a:p>
            <a:r>
              <a:rPr sz="3000" b="1" cap="all" spc="400">
                <a:solidFill>
                  <a:srgbClr val="FFFFFF"/>
                </a:solidFill>
                <a:latin typeface="Calibri"/>
              </a:rPr>
              <a:t>Global Market Outlook</a:t>
            </a:r>
          </a:p>
        </p:txBody>
      </p:sp>
      <p:sp>
        <p:nvSpPr>
          <p:cNvPr id="7" name="TextBox 6"/>
          <p:cNvSpPr txBox="1"/>
          <p:nvPr/>
        </p:nvSpPr>
        <p:spPr>
          <a:xfrm>
            <a:off x="914400" y="3458845"/>
            <a:ext cx="5067300" cy="2378710"/>
          </a:xfrm>
          <a:prstGeom prst="rect">
            <a:avLst/>
          </a:prstGeom>
          <a:noFill/>
        </p:spPr>
        <p:txBody>
          <a:bodyPr wrap="square" lIns="0" tIns="0" rIns="0" bIns="0">
            <a:spAutoFit/>
          </a:bodyPr>
          <a:lstStyle/>
          <a:p>
            <a:pPr marL="342900" indent="-323850">
              <a:lnSpc>
                <a:spcPct val="100000"/>
              </a:lnSpc>
              <a:spcAft>
                <a:spcPts val="800"/>
              </a:spcAft>
            </a:pPr>
            <a:r>
              <a:rPr sz="2000" b="0">
                <a:solidFill>
                  <a:srgbClr val="FFD447"/>
                </a:solidFill>
                <a:latin typeface="Calibri"/>
              </a:rPr>
              <a:t>➤	Global Overview</a:t>
            </a:r>
          </a:p>
          <a:p>
            <a:pPr marL="342900" indent="-323850">
              <a:lnSpc>
                <a:spcPct val="100000"/>
              </a:lnSpc>
              <a:spcAft>
                <a:spcPts val="800"/>
              </a:spcAft>
            </a:pPr>
            <a:r>
              <a:rPr sz="2000" b="0">
                <a:solidFill>
                  <a:srgbClr val="FFD447"/>
                </a:solidFill>
                <a:latin typeface="Calibri"/>
              </a:rPr>
              <a:t>➤	Global Market Analysis By Region</a:t>
            </a:r>
          </a:p>
          <a:p>
            <a:pPr marL="342900" indent="-323850">
              <a:lnSpc>
                <a:spcPct val="100000"/>
              </a:lnSpc>
              <a:spcAft>
                <a:spcPts val="800"/>
              </a:spcAft>
            </a:pPr>
            <a:r>
              <a:rPr sz="2000" b="0">
                <a:solidFill>
                  <a:srgbClr val="FFD447"/>
                </a:solidFill>
                <a:latin typeface="Calibri"/>
              </a:rPr>
              <a:t>➤	Global Market Analysis By Segments</a:t>
            </a:r>
          </a:p>
          <a:p>
            <a:pPr marL="685800" indent="-323850">
              <a:lnSpc>
                <a:spcPct val="100000"/>
              </a:lnSpc>
              <a:spcAft>
                <a:spcPts val="560"/>
              </a:spcAft>
            </a:pPr>
            <a:r>
              <a:rPr sz="1400" b="0">
                <a:solidFill>
                  <a:srgbClr val="FFD447"/>
                </a:solidFill>
                <a:latin typeface="Calibri"/>
              </a:rPr>
              <a:t>›	By Partition Type</a:t>
            </a:r>
          </a:p>
          <a:p>
            <a:pPr marL="685800" indent="-323850">
              <a:lnSpc>
                <a:spcPct val="100000"/>
              </a:lnSpc>
              <a:spcAft>
                <a:spcPts val="560"/>
              </a:spcAft>
            </a:pPr>
            <a:r>
              <a:rPr sz="1400" b="0">
                <a:solidFill>
                  <a:srgbClr val="FFD447"/>
                </a:solidFill>
                <a:latin typeface="Calibri"/>
              </a:rPr>
              <a:t>›	By Board Construction</a:t>
            </a:r>
          </a:p>
          <a:p>
            <a:pPr marL="685800" indent="-323850">
              <a:lnSpc>
                <a:spcPct val="100000"/>
              </a:lnSpc>
              <a:spcAft>
                <a:spcPts val="560"/>
              </a:spcAft>
            </a:pPr>
            <a:r>
              <a:rPr sz="1400" b="0">
                <a:solidFill>
                  <a:srgbClr val="FFD447"/>
                </a:solidFill>
                <a:latin typeface="Calibri"/>
              </a:rPr>
              <a:t>›	By Material Source</a:t>
            </a:r>
          </a:p>
          <a:p>
            <a:pPr marL="685800" indent="-323850">
              <a:lnSpc>
                <a:spcPct val="100000"/>
              </a:lnSpc>
              <a:spcAft>
                <a:spcPts val="560"/>
              </a:spcAft>
            </a:pPr>
            <a:r>
              <a:rPr sz="1400" b="0">
                <a:solidFill>
                  <a:srgbClr val="FFD447"/>
                </a:solidFill>
                <a:latin typeface="Calibri"/>
              </a:rPr>
              <a:t>›	By Cell Configuration</a:t>
            </a:r>
          </a:p>
        </p:txBody>
      </p:sp>
      <p:sp>
        <p:nvSpPr>
          <p:cNvPr id="8" name="TextBox 7"/>
          <p:cNvSpPr txBox="1"/>
          <p:nvPr/>
        </p:nvSpPr>
        <p:spPr>
          <a:xfrm>
            <a:off x="6096000" y="3458845"/>
            <a:ext cx="5067300" cy="2142490"/>
          </a:xfrm>
          <a:prstGeom prst="rect">
            <a:avLst/>
          </a:prstGeom>
          <a:noFill/>
        </p:spPr>
        <p:txBody>
          <a:bodyPr wrap="square" lIns="0" tIns="0" rIns="0" bIns="0">
            <a:spAutoFit/>
          </a:bodyPr>
          <a:lstStyle/>
          <a:p>
            <a:pPr marL="685800" indent="-323850">
              <a:lnSpc>
                <a:spcPct val="100000"/>
              </a:lnSpc>
              <a:spcAft>
                <a:spcPts val="560"/>
              </a:spcAft>
            </a:pPr>
            <a:r>
              <a:rPr sz="1400" b="0">
                <a:solidFill>
                  <a:srgbClr val="FFD447"/>
                </a:solidFill>
                <a:latin typeface="Calibri"/>
              </a:rPr>
              <a:t>›	By Customization</a:t>
            </a:r>
          </a:p>
          <a:p>
            <a:pPr marL="685800" indent="-323850">
              <a:lnSpc>
                <a:spcPct val="100000"/>
              </a:lnSpc>
              <a:spcAft>
                <a:spcPts val="560"/>
              </a:spcAft>
            </a:pPr>
            <a:r>
              <a:rPr sz="1400" b="0">
                <a:solidFill>
                  <a:srgbClr val="FFD447"/>
                </a:solidFill>
                <a:latin typeface="Calibri"/>
              </a:rPr>
              <a:t>›	By End Use</a:t>
            </a:r>
          </a:p>
          <a:p>
            <a:pPr marL="685800" indent="-323850">
              <a:lnSpc>
                <a:spcPct val="100000"/>
              </a:lnSpc>
              <a:spcAft>
                <a:spcPts val="560"/>
              </a:spcAft>
            </a:pPr>
            <a:r>
              <a:rPr sz="1400" b="0">
                <a:solidFill>
                  <a:srgbClr val="FFD447"/>
                </a:solidFill>
                <a:latin typeface="Calibri"/>
              </a:rPr>
              <a:t>›	By Sales Channel</a:t>
            </a:r>
          </a:p>
          <a:p>
            <a:pPr marL="342900" indent="-323850">
              <a:lnSpc>
                <a:spcPct val="100000"/>
              </a:lnSpc>
              <a:spcAft>
                <a:spcPts val="800"/>
              </a:spcAft>
            </a:pPr>
            <a:r>
              <a:rPr sz="2000" b="0">
                <a:solidFill>
                  <a:srgbClr val="FFD447"/>
                </a:solidFill>
                <a:latin typeface="Calibri"/>
              </a:rPr>
              <a:t>➤	Cross-sectional Assessment</a:t>
            </a:r>
          </a:p>
          <a:p>
            <a:pPr marL="685800" indent="-323850">
              <a:lnSpc>
                <a:spcPct val="100000"/>
              </a:lnSpc>
              <a:spcAft>
                <a:spcPts val="560"/>
              </a:spcAft>
            </a:pPr>
            <a:r>
              <a:rPr sz="1400" b="0">
                <a:solidFill>
                  <a:srgbClr val="FFD447"/>
                </a:solidFill>
                <a:latin typeface="Calibri"/>
              </a:rPr>
              <a:t>›	Partition Type × End Use</a:t>
            </a:r>
          </a:p>
          <a:p>
            <a:pPr marL="685800" indent="-323850">
              <a:lnSpc>
                <a:spcPct val="100000"/>
              </a:lnSpc>
              <a:spcAft>
                <a:spcPts val="560"/>
              </a:spcAft>
            </a:pPr>
            <a:r>
              <a:rPr sz="1400" b="0">
                <a:solidFill>
                  <a:srgbClr val="FFD447"/>
                </a:solidFill>
                <a:latin typeface="Calibri"/>
              </a:rPr>
              <a:t>›	Board Construction × End Use</a:t>
            </a:r>
          </a:p>
          <a:p>
            <a:pPr marL="685800" indent="-323850">
              <a:lnSpc>
                <a:spcPct val="100000"/>
              </a:lnSpc>
              <a:spcAft>
                <a:spcPts val="560"/>
              </a:spcAft>
            </a:pPr>
            <a:r>
              <a:rPr sz="1400" b="0">
                <a:solidFill>
                  <a:srgbClr val="FFD447"/>
                </a:solidFill>
                <a:latin typeface="Calibri"/>
              </a:rPr>
              <a:t>›	Cell Configuration × End Use</a:t>
            </a:r>
          </a:p>
        </p:txBody>
      </p:sp>
      <p:sp>
        <p:nvSpPr>
          <p:cNvPr id="9" name="TextBox 8"/>
          <p:cNvSpPr txBox="1"/>
          <p:nvPr/>
        </p:nvSpPr>
        <p:spPr>
          <a:xfrm>
            <a:off x="4000500" y="6734175"/>
            <a:ext cx="8020050" cy="123825"/>
          </a:xfrm>
          <a:prstGeom prst="rect">
            <a:avLst/>
          </a:prstGeom>
          <a:noFill/>
        </p:spPr>
        <p:txBody>
          <a:bodyPr wrap="square" lIns="28575" tIns="9525" rIns="2857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Volume Market Summary</a:t>
            </a:r>
          </a:p>
          <a:p>
            <a:pPr marL="342900" indent="-323850">
              <a:lnSpc>
                <a:spcPct val="100000"/>
              </a:lnSpc>
              <a:spcAft>
                <a:spcPts val="800"/>
              </a:spcAft>
            </a:pPr>
            <a:r>
              <a:rPr sz="2000" b="0">
                <a:solidFill>
                  <a:srgbClr val="000000"/>
                </a:solidFill>
                <a:latin typeface="Calibri"/>
              </a:rPr>
              <a:t>➤	Pricing &amp; Price Index</a:t>
            </a:r>
          </a:p>
          <a:p>
            <a:pPr marL="342900" indent="-323850">
              <a:lnSpc>
                <a:spcPct val="100000"/>
              </a:lnSpc>
              <a:spcAft>
                <a:spcPts val="800"/>
              </a:spcAft>
            </a:pPr>
            <a:r>
              <a:rPr sz="2000" b="0">
                <a:solidFill>
                  <a:srgbClr val="000000"/>
                </a:solidFill>
                <a:latin typeface="Calibri"/>
              </a:rPr>
              <a:t>➤	Value Market Summary</a:t>
            </a:r>
          </a:p>
          <a:p>
            <a:pPr marL="342900" indent="-323850">
              <a:lnSpc>
                <a:spcPct val="100000"/>
              </a:lnSpc>
              <a:spcAft>
                <a:spcPts val="800"/>
              </a:spcAft>
            </a:pPr>
            <a:r>
              <a:rPr sz="2000" b="0">
                <a:solidFill>
                  <a:srgbClr val="000000"/>
                </a:solidFill>
                <a:latin typeface="Calibri"/>
              </a:rPr>
              <a:t>➤	Market Volume &amp; Value Analysis</a:t>
            </a:r>
          </a:p>
          <a:p>
            <a:pPr marL="342900" indent="-323850">
              <a:lnSpc>
                <a:spcPct val="100000"/>
              </a:lnSpc>
              <a:spcAft>
                <a:spcPts val="800"/>
              </a:spcAft>
            </a:pPr>
            <a:r>
              <a:rPr sz="2000" b="0">
                <a:solidFill>
                  <a:srgbClr val="000000"/>
                </a:solidFill>
                <a:latin typeface="Calibri"/>
              </a:rPr>
              <a:t>➤	Country Outlook</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Summary, By Volume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1685037"/>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4094525"/>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Market Addition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8048625" y="1713612"/>
            <a:ext cx="3867150" cy="209550"/>
          </a:xfrm>
          <a:prstGeom prst="rect">
            <a:avLst/>
          </a:prstGeom>
          <a:noFill/>
        </p:spPr>
        <p:txBody>
          <a:bodyPr wrap="square" lIns="0" tIns="9525" rIns="19050"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048625" y="2037462"/>
            <a:ext cx="3867150" cy="1868952"/>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048625" y="4123100"/>
            <a:ext cx="3867150" cy="209550"/>
          </a:xfrm>
          <a:prstGeom prst="rect">
            <a:avLst/>
          </a:prstGeom>
          <a:noFill/>
        </p:spPr>
        <p:txBody>
          <a:bodyPr wrap="square" lIns="0" tIns="9525" rIns="19050"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8048625" y="4446950"/>
            <a:ext cx="3867150" cy="203323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9" name="TextBox 2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534618" cy="194310"/>
          </a:xfrm>
          <a:prstGeom prst="rect">
            <a:avLst/>
          </a:prstGeom>
          <a:noFill/>
        </p:spPr>
        <p:txBody>
          <a:bodyPr wrap="none" lIns="0" tIns="0" rIns="0" bIns="0">
            <a:spAutoFit/>
          </a:bodyPr>
          <a:lstStyle/>
          <a:p>
            <a:r>
              <a:rPr sz="1150" b="0">
                <a:solidFill>
                  <a:srgbClr val="2E2E2E"/>
                </a:solidFill>
                <a:latin typeface="Calibri"/>
              </a:rPr>
              <a:t>Global corrugated partition market is projected to register</a:t>
            </a:r>
          </a:p>
        </p:txBody>
      </p:sp>
      <p:pic>
        <p:nvPicPr>
          <p:cNvPr id="36" name="Picture 35" descr="lock.png"/>
          <p:cNvPicPr>
            <a:picLocks noChangeAspect="1"/>
          </p:cNvPicPr>
          <p:nvPr/>
        </p:nvPicPr>
        <p:blipFill>
          <a:blip r:embed="rId6"/>
          <a:stretch>
            <a:fillRect/>
          </a:stretch>
        </p:blipFill>
        <p:spPr>
          <a:xfrm>
            <a:off x="11532397" y="2036763"/>
            <a:ext cx="134549" cy="195707"/>
          </a:xfrm>
          <a:prstGeom prst="rect">
            <a:avLst/>
          </a:prstGeom>
        </p:spPr>
      </p:pic>
      <p:sp>
        <p:nvSpPr>
          <p:cNvPr id="37" name="TextBox 36"/>
          <p:cNvSpPr txBox="1"/>
          <p:nvPr/>
        </p:nvSpPr>
        <p:spPr>
          <a:xfrm>
            <a:off x="11707506" y="2046987"/>
            <a:ext cx="152077" cy="194310"/>
          </a:xfrm>
          <a:prstGeom prst="rect">
            <a:avLst/>
          </a:prstGeom>
          <a:noFill/>
        </p:spPr>
        <p:txBody>
          <a:bodyPr wrap="none" lIns="0" tIns="0" rIns="0" bIns="0">
            <a:spAutoFit/>
          </a:bodyPr>
          <a:lstStyle/>
          <a:p>
            <a:r>
              <a:rPr sz="1150" b="0">
                <a:solidFill>
                  <a:srgbClr val="2E2E2E"/>
                </a:solidFill>
                <a:latin typeface="Calibri"/>
              </a:rPr>
              <a:t>X</a:t>
            </a:r>
          </a:p>
        </p:txBody>
      </p:sp>
      <p:sp>
        <p:nvSpPr>
          <p:cNvPr id="38" name="TextBox 37"/>
          <p:cNvSpPr txBox="1"/>
          <p:nvPr/>
        </p:nvSpPr>
        <p:spPr>
          <a:xfrm>
            <a:off x="8048625" y="2222247"/>
            <a:ext cx="3769382" cy="194310"/>
          </a:xfrm>
          <a:prstGeom prst="rect">
            <a:avLst/>
          </a:prstGeom>
          <a:noFill/>
        </p:spPr>
        <p:txBody>
          <a:bodyPr wrap="none" lIns="0" tIns="0" rIns="0" bIns="0">
            <a:spAutoFit/>
          </a:bodyPr>
          <a:lstStyle/>
          <a:p>
            <a:r>
              <a:rPr sz="1150" b="0">
                <a:solidFill>
                  <a:srgbClr val="2E2E2E"/>
                </a:solidFill>
                <a:latin typeface="Calibri"/>
              </a:rPr>
              <a:t>increase in volume by the end of forecast period, 2036. Global</a:t>
            </a:r>
          </a:p>
        </p:txBody>
      </p:sp>
      <p:sp>
        <p:nvSpPr>
          <p:cNvPr id="39" name="TextBox 38"/>
          <p:cNvSpPr txBox="1"/>
          <p:nvPr/>
        </p:nvSpPr>
        <p:spPr>
          <a:xfrm>
            <a:off x="8048625" y="2397507"/>
            <a:ext cx="2737904" cy="194310"/>
          </a:xfrm>
          <a:prstGeom prst="rect">
            <a:avLst/>
          </a:prstGeom>
          <a:noFill/>
        </p:spPr>
        <p:txBody>
          <a:bodyPr wrap="none" lIns="0" tIns="0" rIns="0" bIns="0">
            <a:spAutoFit/>
          </a:bodyPr>
          <a:lstStyle/>
          <a:p>
            <a:r>
              <a:rPr sz="1150" b="0">
                <a:solidFill>
                  <a:srgbClr val="2E2E2E"/>
                </a:solidFill>
                <a:latin typeface="Calibri"/>
              </a:rPr>
              <a:t>corrugated partition market volume stood at</a:t>
            </a:r>
          </a:p>
        </p:txBody>
      </p:sp>
      <p:pic>
        <p:nvPicPr>
          <p:cNvPr id="40" name="Picture 39" descr="lock.png"/>
          <p:cNvPicPr>
            <a:picLocks noChangeAspect="1"/>
          </p:cNvPicPr>
          <p:nvPr/>
        </p:nvPicPr>
        <p:blipFill>
          <a:blip r:embed="rId6"/>
          <a:stretch>
            <a:fillRect/>
          </a:stretch>
        </p:blipFill>
        <p:spPr>
          <a:xfrm>
            <a:off x="10735683" y="2387283"/>
            <a:ext cx="134549" cy="195707"/>
          </a:xfrm>
          <a:prstGeom prst="rect">
            <a:avLst/>
          </a:prstGeom>
        </p:spPr>
      </p:pic>
      <p:sp>
        <p:nvSpPr>
          <p:cNvPr id="41" name="TextBox 40"/>
          <p:cNvSpPr txBox="1"/>
          <p:nvPr/>
        </p:nvSpPr>
        <p:spPr>
          <a:xfrm>
            <a:off x="10910792" y="2397507"/>
            <a:ext cx="745690" cy="194310"/>
          </a:xfrm>
          <a:prstGeom prst="rect">
            <a:avLst/>
          </a:prstGeom>
          <a:noFill/>
        </p:spPr>
        <p:txBody>
          <a:bodyPr wrap="none" lIns="0" tIns="0" rIns="0" bIns="0">
            <a:spAutoFit/>
          </a:bodyPr>
          <a:lstStyle/>
          <a:p>
            <a:r>
              <a:rPr sz="1150" b="0">
                <a:solidFill>
                  <a:srgbClr val="2E2E2E"/>
                </a:solidFill>
                <a:latin typeface="Calibri"/>
              </a:rPr>
              <a:t>MT in 2025</a:t>
            </a:r>
          </a:p>
        </p:txBody>
      </p:sp>
      <p:sp>
        <p:nvSpPr>
          <p:cNvPr id="42" name="TextBox 41"/>
          <p:cNvSpPr txBox="1"/>
          <p:nvPr/>
        </p:nvSpPr>
        <p:spPr>
          <a:xfrm>
            <a:off x="8048625" y="2572767"/>
            <a:ext cx="1527001" cy="194310"/>
          </a:xfrm>
          <a:prstGeom prst="rect">
            <a:avLst/>
          </a:prstGeom>
          <a:noFill/>
        </p:spPr>
        <p:txBody>
          <a:bodyPr wrap="none" lIns="0" tIns="0" rIns="0" bIns="0">
            <a:spAutoFit/>
          </a:bodyPr>
          <a:lstStyle/>
          <a:p>
            <a:r>
              <a:rPr sz="1150" b="0">
                <a:solidFill>
                  <a:srgbClr val="2E2E2E"/>
                </a:solidFill>
                <a:latin typeface="Calibri"/>
              </a:rPr>
              <a:t>and is expected to reach</a:t>
            </a:r>
          </a:p>
        </p:txBody>
      </p:sp>
      <p:pic>
        <p:nvPicPr>
          <p:cNvPr id="43" name="Picture 42" descr="lock.png"/>
          <p:cNvPicPr>
            <a:picLocks noChangeAspect="1"/>
          </p:cNvPicPr>
          <p:nvPr/>
        </p:nvPicPr>
        <p:blipFill>
          <a:blip r:embed="rId6"/>
          <a:stretch>
            <a:fillRect/>
          </a:stretch>
        </p:blipFill>
        <p:spPr>
          <a:xfrm>
            <a:off x="9524780" y="2562543"/>
            <a:ext cx="134549" cy="195707"/>
          </a:xfrm>
          <a:prstGeom prst="rect">
            <a:avLst/>
          </a:prstGeom>
        </p:spPr>
      </p:pic>
      <p:sp>
        <p:nvSpPr>
          <p:cNvPr id="44" name="TextBox 43"/>
          <p:cNvSpPr txBox="1"/>
          <p:nvPr/>
        </p:nvSpPr>
        <p:spPr>
          <a:xfrm>
            <a:off x="9699889" y="2572767"/>
            <a:ext cx="1850461" cy="194310"/>
          </a:xfrm>
          <a:prstGeom prst="rect">
            <a:avLst/>
          </a:prstGeom>
          <a:noFill/>
        </p:spPr>
        <p:txBody>
          <a:bodyPr wrap="none" lIns="0" tIns="0" rIns="0" bIns="0">
            <a:spAutoFit/>
          </a:bodyPr>
          <a:lstStyle/>
          <a:p>
            <a:r>
              <a:rPr sz="1150" b="0">
                <a:solidFill>
                  <a:srgbClr val="2E2E2E"/>
                </a:solidFill>
                <a:latin typeface="Calibri"/>
              </a:rPr>
              <a:t>MT by 2036 end, at a CAGR of</a:t>
            </a:r>
          </a:p>
        </p:txBody>
      </p:sp>
      <p:pic>
        <p:nvPicPr>
          <p:cNvPr id="45" name="Picture 44" descr="lock.png"/>
          <p:cNvPicPr>
            <a:picLocks noChangeAspect="1"/>
          </p:cNvPicPr>
          <p:nvPr/>
        </p:nvPicPr>
        <p:blipFill>
          <a:blip r:embed="rId6"/>
          <a:stretch>
            <a:fillRect/>
          </a:stretch>
        </p:blipFill>
        <p:spPr>
          <a:xfrm>
            <a:off x="8034545" y="2737803"/>
            <a:ext cx="134549" cy="195707"/>
          </a:xfrm>
          <a:prstGeom prst="rect">
            <a:avLst/>
          </a:prstGeom>
        </p:spPr>
      </p:pic>
      <p:sp>
        <p:nvSpPr>
          <p:cNvPr id="46" name="TextBox 45"/>
          <p:cNvSpPr txBox="1"/>
          <p:nvPr/>
        </p:nvSpPr>
        <p:spPr>
          <a:xfrm>
            <a:off x="8209654" y="2748027"/>
            <a:ext cx="112997" cy="194310"/>
          </a:xfrm>
          <a:prstGeom prst="rect">
            <a:avLst/>
          </a:prstGeom>
          <a:noFill/>
        </p:spPr>
        <p:txBody>
          <a:bodyPr wrap="none" lIns="0" tIns="0" rIns="0" bIns="0">
            <a:spAutoFit/>
          </a:bodyPr>
          <a:lstStyle/>
          <a:p>
            <a:r>
              <a:rPr sz="1150" b="0">
                <a:solidFill>
                  <a:srgbClr val="2E2E2E"/>
                </a:solidFill>
                <a:latin typeface="Calibri"/>
              </a:rPr>
              <a:t>.</a:t>
            </a:r>
          </a:p>
        </p:txBody>
      </p:sp>
      <p:sp>
        <p:nvSpPr>
          <p:cNvPr id="47" name="TextBox 46"/>
          <p:cNvSpPr txBox="1"/>
          <p:nvPr/>
        </p:nvSpPr>
        <p:spPr>
          <a:xfrm>
            <a:off x="8048625" y="2975864"/>
            <a:ext cx="3842122" cy="194310"/>
          </a:xfrm>
          <a:prstGeom prst="rect">
            <a:avLst/>
          </a:prstGeom>
          <a:noFill/>
        </p:spPr>
        <p:txBody>
          <a:bodyPr wrap="none" lIns="0" tIns="0" rIns="0" bIns="0">
            <a:spAutoFit/>
          </a:bodyPr>
          <a:lstStyle/>
          <a:p>
            <a:r>
              <a:rPr sz="1150" b="0">
                <a:solidFill>
                  <a:srgbClr val="2E2E2E"/>
                </a:solidFill>
                <a:latin typeface="Calibri"/>
              </a:rPr>
              <a:t>Value is projected to grow faster than volume over the forecast</a:t>
            </a:r>
          </a:p>
        </p:txBody>
      </p:sp>
      <p:sp>
        <p:nvSpPr>
          <p:cNvPr id="48" name="TextBox 47"/>
          <p:cNvSpPr txBox="1"/>
          <p:nvPr/>
        </p:nvSpPr>
        <p:spPr>
          <a:xfrm>
            <a:off x="8048625" y="3151124"/>
            <a:ext cx="3184897" cy="194310"/>
          </a:xfrm>
          <a:prstGeom prst="rect">
            <a:avLst/>
          </a:prstGeom>
          <a:noFill/>
        </p:spPr>
        <p:txBody>
          <a:bodyPr wrap="none" lIns="0" tIns="0" rIns="0" bIns="0">
            <a:spAutoFit/>
          </a:bodyPr>
          <a:lstStyle/>
          <a:p>
            <a:r>
              <a:rPr sz="1150" b="0">
                <a:solidFill>
                  <a:srgbClr val="2E2E2E"/>
                </a:solidFill>
                <a:latin typeface="Calibri"/>
              </a:rPr>
              <a:t>period, owing to an increase in average selling price.</a:t>
            </a:r>
          </a:p>
        </p:txBody>
      </p:sp>
      <p:sp>
        <p:nvSpPr>
          <p:cNvPr id="49" name="TextBox 48"/>
          <p:cNvSpPr txBox="1"/>
          <p:nvPr/>
        </p:nvSpPr>
        <p:spPr>
          <a:xfrm>
            <a:off x="8048625" y="4456475"/>
            <a:ext cx="2868835" cy="194310"/>
          </a:xfrm>
          <a:prstGeom prst="rect">
            <a:avLst/>
          </a:prstGeom>
          <a:noFill/>
        </p:spPr>
        <p:txBody>
          <a:bodyPr wrap="none" lIns="0" tIns="0" rIns="0" bIns="0">
            <a:spAutoFit/>
          </a:bodyPr>
          <a:lstStyle/>
          <a:p>
            <a:r>
              <a:rPr sz="1150" b="0">
                <a:solidFill>
                  <a:srgbClr val="2E2E2E"/>
                </a:solidFill>
                <a:latin typeface="Calibri"/>
              </a:rPr>
              <a:t>▪ 'South Asia &amp; Pacific' leads regional growth at</a:t>
            </a:r>
          </a:p>
        </p:txBody>
      </p:sp>
      <p:pic>
        <p:nvPicPr>
          <p:cNvPr id="50" name="Picture 49" descr="lock.png"/>
          <p:cNvPicPr>
            <a:picLocks noChangeAspect="1"/>
          </p:cNvPicPr>
          <p:nvPr/>
        </p:nvPicPr>
        <p:blipFill>
          <a:blip r:embed="rId6"/>
          <a:stretch>
            <a:fillRect/>
          </a:stretch>
        </p:blipFill>
        <p:spPr>
          <a:xfrm>
            <a:off x="10866614" y="4446251"/>
            <a:ext cx="134549" cy="195707"/>
          </a:xfrm>
          <a:prstGeom prst="rect">
            <a:avLst/>
          </a:prstGeom>
        </p:spPr>
      </p:pic>
      <p:sp>
        <p:nvSpPr>
          <p:cNvPr id="51" name="TextBox 50"/>
          <p:cNvSpPr txBox="1"/>
          <p:nvPr/>
        </p:nvSpPr>
        <p:spPr>
          <a:xfrm>
            <a:off x="11041723" y="4456475"/>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52" name="TextBox 51"/>
          <p:cNvSpPr txBox="1"/>
          <p:nvPr/>
        </p:nvSpPr>
        <p:spPr>
          <a:xfrm>
            <a:off x="8048625" y="4684312"/>
            <a:ext cx="3653569" cy="194310"/>
          </a:xfrm>
          <a:prstGeom prst="rect">
            <a:avLst/>
          </a:prstGeom>
          <a:noFill/>
        </p:spPr>
        <p:txBody>
          <a:bodyPr wrap="none" lIns="0" tIns="0" rIns="0" bIns="0">
            <a:spAutoFit/>
          </a:bodyPr>
          <a:lstStyle/>
          <a:p>
            <a:r>
              <a:rPr sz="1150" b="0">
                <a:solidFill>
                  <a:srgbClr val="2E2E2E"/>
                </a:solidFill>
                <a:latin typeface="Calibri"/>
              </a:rPr>
              <a:t>▪ Demand concentrates in 'Flat Dividers &amp; Layer Pads' within</a:t>
            </a:r>
          </a:p>
        </p:txBody>
      </p:sp>
      <p:sp>
        <p:nvSpPr>
          <p:cNvPr id="53" name="TextBox 52"/>
          <p:cNvSpPr txBox="1"/>
          <p:nvPr/>
        </p:nvSpPr>
        <p:spPr>
          <a:xfrm>
            <a:off x="8048625" y="4859572"/>
            <a:ext cx="948791" cy="194310"/>
          </a:xfrm>
          <a:prstGeom prst="rect">
            <a:avLst/>
          </a:prstGeom>
          <a:noFill/>
        </p:spPr>
        <p:txBody>
          <a:bodyPr wrap="none" lIns="0" tIns="0" rIns="0" bIns="0">
            <a:spAutoFit/>
          </a:bodyPr>
          <a:lstStyle/>
          <a:p>
            <a:r>
              <a:rPr sz="1150" b="0">
                <a:solidFill>
                  <a:srgbClr val="2E2E2E"/>
                </a:solidFill>
                <a:latin typeface="Calibri"/>
              </a:rPr>
              <a:t>Partition Type.</a:t>
            </a:r>
          </a:p>
        </p:txBody>
      </p:sp>
      <p:sp>
        <p:nvSpPr>
          <p:cNvPr id="54" name="TextBox 53"/>
          <p:cNvSpPr txBox="1"/>
          <p:nvPr/>
        </p:nvSpPr>
        <p:spPr>
          <a:xfrm>
            <a:off x="8048625" y="5087410"/>
            <a:ext cx="3291296" cy="194310"/>
          </a:xfrm>
          <a:prstGeom prst="rect">
            <a:avLst/>
          </a:prstGeom>
          <a:noFill/>
        </p:spPr>
        <p:txBody>
          <a:bodyPr wrap="none" lIns="0" tIns="0" rIns="0" bIns="0">
            <a:spAutoFit/>
          </a:bodyPr>
          <a:lstStyle/>
          <a:p>
            <a:r>
              <a:rPr sz="1150" b="0">
                <a:solidFill>
                  <a:srgbClr val="2E2E2E"/>
                </a:solidFill>
                <a:latin typeface="Calibri"/>
              </a:rPr>
              <a:t>▪ Product innovation and premiumisation lifting value.</a:t>
            </a:r>
          </a:p>
        </p:txBody>
      </p:sp>
      <p:sp>
        <p:nvSpPr>
          <p:cNvPr id="55" name="TextBox 54"/>
          <p:cNvSpPr txBox="1"/>
          <p:nvPr/>
        </p:nvSpPr>
        <p:spPr>
          <a:xfrm>
            <a:off x="8048625" y="5315248"/>
            <a:ext cx="2741327" cy="194310"/>
          </a:xfrm>
          <a:prstGeom prst="rect">
            <a:avLst/>
          </a:prstGeom>
          <a:noFill/>
        </p:spPr>
        <p:txBody>
          <a:bodyPr wrap="none" lIns="0" tIns="0" rIns="0" bIns="0">
            <a:spAutoFit/>
          </a:bodyPr>
          <a:lstStyle/>
          <a:p>
            <a:r>
              <a:rPr sz="1150" b="0">
                <a:solidFill>
                  <a:srgbClr val="2E2E2E"/>
                </a:solidFill>
                <a:latin typeface="Calibri"/>
              </a:rPr>
              <a:t>▪ Expanding end-use applications and access.</a:t>
            </a:r>
          </a:p>
        </p:txBody>
      </p:sp>
      <p:sp>
        <p:nvSpPr>
          <p:cNvPr id="56"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110045"/>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Average Price by Partition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tIns="0" rIns="0" bIns="0" anchor="ctr">
            <a:spAutoFit/>
          </a:bodyPr>
          <a:lstStyle/>
          <a:p>
            <a:pPr algn="r"/>
            <a:endParaRPr/>
          </a:p>
        </p:txBody>
      </p:sp>
      <p:sp>
        <p:nvSpPr>
          <p:cNvPr id="25" name="FMI Scale tick"/>
          <p:cNvSpPr txBox="1"/>
          <p:nvPr/>
        </p:nvSpPr>
        <p:spPr>
          <a:xfrm>
            <a:off x="219075" y="2328265"/>
            <a:ext cx="381000" cy="133350"/>
          </a:xfrm>
          <a:prstGeom prst="rect">
            <a:avLst/>
          </a:prstGeom>
          <a:noFill/>
        </p:spPr>
        <p:txBody>
          <a:bodyPr wrap="none" lIns="0" tIns="0" rIns="0" bIns="0" anchor="ctr">
            <a:spAutoFit/>
          </a:bodyPr>
          <a:lstStyle/>
          <a:p>
            <a:pPr algn="r"/>
            <a:endParaRPr/>
          </a:p>
        </p:txBody>
      </p:sp>
      <p:sp>
        <p:nvSpPr>
          <p:cNvPr id="26" name="FMI Scale tick"/>
          <p:cNvSpPr txBox="1"/>
          <p:nvPr/>
        </p:nvSpPr>
        <p:spPr>
          <a:xfrm>
            <a:off x="219075" y="1386270"/>
            <a:ext cx="381000" cy="133350"/>
          </a:xfrm>
          <a:prstGeom prst="rect">
            <a:avLst/>
          </a:prstGeom>
          <a:noFill/>
        </p:spPr>
        <p:txBody>
          <a:bodyPr wrap="square" lIns="28575" tIns="9525" rIns="28575" bIns="9525" anchor="ctr">
            <a:spAutoFit/>
          </a:bodyPr>
          <a:lstStyle/>
          <a:p>
            <a:pPr algn="r"/>
            <a:endParaRPr/>
          </a:p>
        </p:txBody>
      </p:sp>
      <p:cxnSp>
        <p:nvCxnSpPr>
          <p:cNvPr id="27" name="Connector 26"/>
          <p:cNvCxnSpPr/>
          <p:nvPr/>
        </p:nvCxnSpPr>
        <p:spPr>
          <a:xfrm flipV="1">
            <a:off x="1825625" y="2680603"/>
            <a:ext cx="0" cy="43894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6941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694180" y="268060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606550" y="2794469"/>
            <a:ext cx="438150" cy="21928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1" name="Connector 30"/>
          <p:cNvCxnSpPr/>
          <p:nvPr/>
        </p:nvCxnSpPr>
        <p:spPr>
          <a:xfrm>
            <a:off x="1606550" y="290545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528203"/>
            <a:ext cx="2336800" cy="133350"/>
          </a:xfrm>
          <a:prstGeom prst="rect">
            <a:avLst/>
          </a:prstGeom>
          <a:noFill/>
        </p:spPr>
        <p:txBody>
          <a:bodyPr wrap="square" lIns="28575" tIns="9525" rIns="28575" bIns="9525">
            <a:spAutoFit/>
          </a:bodyPr>
          <a:lstStyle/>
          <a:p>
            <a:pPr algn="ctr"/>
            <a:r>
              <a:rPr sz="1100" b="1">
                <a:solidFill>
                  <a:srgbClr val="0B2E4A"/>
                </a:solidFill>
                <a:latin typeface="Calibri"/>
              </a:rPr>
              <a:t> </a:t>
            </a:r>
          </a:p>
        </p:txBody>
      </p:sp>
      <p:cxnSp>
        <p:nvCxnSpPr>
          <p:cNvPr id="33" name="Connector 32"/>
          <p:cNvCxnSpPr/>
          <p:nvPr/>
        </p:nvCxnSpPr>
        <p:spPr>
          <a:xfrm flipV="1">
            <a:off x="4162425" y="1670329"/>
            <a:ext cx="0" cy="54977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4030980" y="222010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40309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943350" y="1812897"/>
            <a:ext cx="438150" cy="27463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7" name="Connector 36"/>
          <p:cNvCxnSpPr/>
          <p:nvPr/>
        </p:nvCxnSpPr>
        <p:spPr>
          <a:xfrm>
            <a:off x="3943350" y="195189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994025" y="1517929"/>
            <a:ext cx="2336800" cy="133350"/>
          </a:xfrm>
          <a:prstGeom prst="rect">
            <a:avLst/>
          </a:prstGeom>
          <a:noFill/>
        </p:spPr>
        <p:txBody>
          <a:bodyPr wrap="square" lIns="28575" tIns="9525" rIns="28575" bIns="9525">
            <a:spAutoFit/>
          </a:bodyPr>
          <a:lstStyle/>
          <a:p>
            <a:pPr algn="ctr"/>
            <a:r>
              <a:rPr sz="1100" b="1">
                <a:solidFill>
                  <a:srgbClr val="0B2E4A"/>
                </a:solidFill>
                <a:latin typeface="Calibri"/>
              </a:rPr>
              <a:t> </a:t>
            </a:r>
          </a:p>
        </p:txBody>
      </p:sp>
      <p:cxnSp>
        <p:nvCxnSpPr>
          <p:cNvPr id="39" name="Connector 38"/>
          <p:cNvCxnSpPr/>
          <p:nvPr/>
        </p:nvCxnSpPr>
        <p:spPr>
          <a:xfrm flipV="1">
            <a:off x="6499225" y="2172796"/>
            <a:ext cx="0" cy="49436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6367780" y="266716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6367780" y="21727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6280150" y="2300996"/>
            <a:ext cx="438150" cy="24697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3" name="Connector 42"/>
          <p:cNvCxnSpPr/>
          <p:nvPr/>
        </p:nvCxnSpPr>
        <p:spPr>
          <a:xfrm>
            <a:off x="6280150" y="2425980"/>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5330825" y="2020396"/>
            <a:ext cx="2336800" cy="133350"/>
          </a:xfrm>
          <a:prstGeom prst="rect">
            <a:avLst/>
          </a:prstGeom>
          <a:noFill/>
        </p:spPr>
        <p:txBody>
          <a:bodyPr wrap="square" lIns="28575" tIns="9525" rIns="28575" bIns="9525">
            <a:spAutoFit/>
          </a:bodyPr>
          <a:lstStyle/>
          <a:p>
            <a:pPr algn="ctr"/>
            <a:r>
              <a:rPr sz="1100" b="1">
                <a:solidFill>
                  <a:srgbClr val="0B2E4A"/>
                </a:solidFill>
                <a:latin typeface="Calibri"/>
              </a:rPr>
              <a:t> </a:t>
            </a:r>
          </a:p>
        </p:txBody>
      </p:sp>
      <p:sp>
        <p:nvSpPr>
          <p:cNvPr id="45" name="TextBox 44"/>
          <p:cNvSpPr txBox="1"/>
          <p:nvPr/>
        </p:nvSpPr>
        <p:spPr>
          <a:xfrm>
            <a:off x="657225" y="3365510"/>
            <a:ext cx="2336800" cy="285750"/>
          </a:xfrm>
          <a:prstGeom prst="rect">
            <a:avLst/>
          </a:prstGeom>
          <a:noFill/>
        </p:spPr>
        <p:txBody>
          <a:bodyPr wrap="square" lIns="28575" tIns="9525" rIns="28575" bIns="9525">
            <a:spAutoFit/>
          </a:bodyPr>
          <a:lstStyle/>
          <a:p>
            <a:pPr algn="ctr"/>
            <a:r>
              <a:rPr sz="1100" b="0">
                <a:solidFill>
                  <a:srgbClr val="2E2E2E"/>
                </a:solidFill>
                <a:latin typeface="Calibri"/>
              </a:rPr>
              <a:t>Slotted (Interlocking…</a:t>
            </a:r>
          </a:p>
        </p:txBody>
      </p:sp>
      <p:sp>
        <p:nvSpPr>
          <p:cNvPr id="46" name="TextBox 45"/>
          <p:cNvSpPr txBox="1"/>
          <p:nvPr/>
        </p:nvSpPr>
        <p:spPr>
          <a:xfrm>
            <a:off x="2994025" y="3365510"/>
            <a:ext cx="2336800" cy="285750"/>
          </a:xfrm>
          <a:prstGeom prst="rect">
            <a:avLst/>
          </a:prstGeom>
          <a:noFill/>
        </p:spPr>
        <p:txBody>
          <a:bodyPr wrap="square" lIns="28575" tIns="9525" rIns="28575" bIns="9525">
            <a:spAutoFit/>
          </a:bodyPr>
          <a:lstStyle/>
          <a:p>
            <a:pPr algn="ctr"/>
            <a:r>
              <a:rPr sz="1100" b="0">
                <a:solidFill>
                  <a:srgbClr val="2E2E2E"/>
                </a:solidFill>
                <a:latin typeface="Calibri"/>
              </a:rPr>
              <a:t>Die-Cut &amp; Folded Part…</a:t>
            </a:r>
          </a:p>
        </p:txBody>
      </p:sp>
      <p:sp>
        <p:nvSpPr>
          <p:cNvPr id="47" name="TextBox 46"/>
          <p:cNvSpPr txBox="1"/>
          <p:nvPr/>
        </p:nvSpPr>
        <p:spPr>
          <a:xfrm>
            <a:off x="5330825" y="3365510"/>
            <a:ext cx="2336800" cy="285750"/>
          </a:xfrm>
          <a:prstGeom prst="rect">
            <a:avLst/>
          </a:prstGeom>
          <a:noFill/>
        </p:spPr>
        <p:txBody>
          <a:bodyPr wrap="square" lIns="28575" tIns="9525" rIns="28575" bIns="9525">
            <a:spAutoFit/>
          </a:bodyPr>
          <a:lstStyle/>
          <a:p>
            <a:pPr algn="ctr"/>
            <a:r>
              <a:rPr sz="1100" b="0">
                <a:solidFill>
                  <a:srgbClr val="2E2E2E"/>
                </a:solidFill>
                <a:latin typeface="Calibri"/>
              </a:rPr>
              <a:t>Flat Dividers &amp; Layer…</a:t>
            </a:r>
          </a:p>
        </p:txBody>
      </p:sp>
      <p:sp>
        <p:nvSpPr>
          <p:cNvPr id="48" name="Rounded Rectangle 47"/>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238125" y="3829846"/>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Price Variation by Region vs Global  ·  2026–2036</a:t>
            </a:r>
          </a:p>
        </p:txBody>
      </p:sp>
      <p:cxnSp>
        <p:nvCxnSpPr>
          <p:cNvPr id="50" name="Connector 49"/>
          <p:cNvCxnSpPr/>
          <p:nvPr/>
        </p:nvCxnSpPr>
        <p:spPr>
          <a:xfrm>
            <a:off x="619125" y="431557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619125" y="472767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619125" y="555187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619125" y="596397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619125" y="4315573"/>
            <a:ext cx="0" cy="164840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590550" y="431557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590550" y="472767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90550" y="555187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590550" y="596397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1" name="FMI Scale tick"/>
          <p:cNvSpPr txBox="1"/>
          <p:nvPr/>
        </p:nvSpPr>
        <p:spPr>
          <a:xfrm>
            <a:off x="138112" y="4248898"/>
            <a:ext cx="442912" cy="133350"/>
          </a:xfrm>
          <a:prstGeom prst="rect">
            <a:avLst/>
          </a:prstGeom>
          <a:noFill/>
        </p:spPr>
        <p:txBody>
          <a:bodyPr wrap="square" lIns="28575" tIns="9525" rIns="28575" bIns="9525" anchor="ctr">
            <a:spAutoFit/>
          </a:bodyPr>
          <a:lstStyle/>
          <a:p>
            <a:pPr algn="r"/>
            <a:r>
              <a:rPr sz="1100" b="0">
                <a:solidFill>
                  <a:srgbClr val="6C7A89"/>
                </a:solidFill>
                <a:latin typeface="Calibri"/>
              </a:rPr>
              <a:t>+8.8%</a:t>
            </a:r>
          </a:p>
        </p:txBody>
      </p:sp>
      <p:sp>
        <p:nvSpPr>
          <p:cNvPr id="62" name="FMI Scale tick"/>
          <p:cNvSpPr txBox="1"/>
          <p:nvPr/>
        </p:nvSpPr>
        <p:spPr>
          <a:xfrm>
            <a:off x="138112" y="4660999"/>
            <a:ext cx="442912" cy="133350"/>
          </a:xfrm>
          <a:prstGeom prst="rect">
            <a:avLst/>
          </a:prstGeom>
          <a:noFill/>
        </p:spPr>
        <p:txBody>
          <a:bodyPr wrap="square" lIns="28575" tIns="9525" rIns="28575" bIns="9525" anchor="ctr">
            <a:spAutoFit/>
          </a:bodyPr>
          <a:lstStyle/>
          <a:p>
            <a:pPr algn="r"/>
            <a:r>
              <a:rPr sz="1100" b="0">
                <a:solidFill>
                  <a:srgbClr val="6C7A89"/>
                </a:solidFill>
                <a:latin typeface="Calibri"/>
              </a:rPr>
              <a:t>+4.4%</a:t>
            </a:r>
          </a:p>
        </p:txBody>
      </p:sp>
      <p:sp>
        <p:nvSpPr>
          <p:cNvPr id="63" name="FMI Scale tick"/>
          <p:cNvSpPr txBox="1"/>
          <p:nvPr/>
        </p:nvSpPr>
        <p:spPr>
          <a:xfrm>
            <a:off x="107156" y="5073101"/>
            <a:ext cx="473869" cy="133350"/>
          </a:xfrm>
          <a:prstGeom prst="rect">
            <a:avLst/>
          </a:prstGeom>
          <a:noFill/>
        </p:spPr>
        <p:txBody>
          <a:bodyPr wrap="square" lIns="28575" tIns="9525" rIns="28575" bIns="9525" anchor="ctr">
            <a:spAutoFit/>
          </a:bodyPr>
          <a:lstStyle/>
          <a:p>
            <a:pPr algn="r"/>
            <a:r>
              <a:rPr sz="1100" b="1">
                <a:solidFill>
                  <a:srgbClr val="6C7A89"/>
                </a:solidFill>
                <a:latin typeface="Calibri"/>
              </a:rPr>
              <a:t>Global</a:t>
            </a:r>
          </a:p>
        </p:txBody>
      </p:sp>
      <p:sp>
        <p:nvSpPr>
          <p:cNvPr id="64" name="FMI Scale tick"/>
          <p:cNvSpPr txBox="1"/>
          <p:nvPr/>
        </p:nvSpPr>
        <p:spPr>
          <a:xfrm>
            <a:off x="164306" y="5485202"/>
            <a:ext cx="416719" cy="133350"/>
          </a:xfrm>
          <a:prstGeom prst="rect">
            <a:avLst/>
          </a:prstGeom>
          <a:noFill/>
        </p:spPr>
        <p:txBody>
          <a:bodyPr wrap="square" lIns="28575" tIns="9525" rIns="28575" bIns="9525" anchor="ctr">
            <a:spAutoFit/>
          </a:bodyPr>
          <a:lstStyle/>
          <a:p>
            <a:pPr algn="r"/>
            <a:r>
              <a:rPr sz="1100" b="0">
                <a:solidFill>
                  <a:srgbClr val="6C7A89"/>
                </a:solidFill>
                <a:latin typeface="Calibri"/>
              </a:rPr>
              <a:t>-4.4%</a:t>
            </a:r>
          </a:p>
        </p:txBody>
      </p:sp>
      <p:sp>
        <p:nvSpPr>
          <p:cNvPr id="65" name="FMI Scale tick"/>
          <p:cNvSpPr txBox="1"/>
          <p:nvPr/>
        </p:nvSpPr>
        <p:spPr>
          <a:xfrm>
            <a:off x="164306" y="5897304"/>
            <a:ext cx="416719" cy="133350"/>
          </a:xfrm>
          <a:prstGeom prst="rect">
            <a:avLst/>
          </a:prstGeom>
          <a:noFill/>
        </p:spPr>
        <p:txBody>
          <a:bodyPr wrap="square" lIns="28575" tIns="9525" rIns="28575" bIns="9525" anchor="ctr">
            <a:spAutoFit/>
          </a:bodyPr>
          <a:lstStyle/>
          <a:p>
            <a:pPr algn="r"/>
            <a:r>
              <a:rPr sz="1100" b="0">
                <a:solidFill>
                  <a:srgbClr val="6C7A89"/>
                </a:solidFill>
                <a:latin typeface="Calibri"/>
              </a:rPr>
              <a:t>-8.8%</a:t>
            </a:r>
          </a:p>
        </p:txBody>
      </p:sp>
      <p:cxnSp>
        <p:nvCxnSpPr>
          <p:cNvPr id="66" name="Connector 65"/>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977900" y="5139776"/>
            <a:ext cx="457200" cy="689242"/>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FMI Data Label"/>
          <p:cNvSpPr txBox="1"/>
          <p:nvPr/>
        </p:nvSpPr>
        <p:spPr>
          <a:xfrm>
            <a:off x="619125" y="5838542"/>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69" name="Rectangle 68"/>
          <p:cNvSpPr/>
          <p:nvPr/>
        </p:nvSpPr>
        <p:spPr>
          <a:xfrm>
            <a:off x="2152650" y="5086029"/>
            <a:ext cx="457200" cy="5374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FMI Data Label"/>
          <p:cNvSpPr txBox="1"/>
          <p:nvPr/>
        </p:nvSpPr>
        <p:spPr>
          <a:xfrm>
            <a:off x="1793875" y="4943154"/>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71" name="Rectangle 70"/>
          <p:cNvSpPr/>
          <p:nvPr/>
        </p:nvSpPr>
        <p:spPr>
          <a:xfrm>
            <a:off x="3327400" y="4423458"/>
            <a:ext cx="457200"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FMI Data Label"/>
          <p:cNvSpPr txBox="1"/>
          <p:nvPr/>
        </p:nvSpPr>
        <p:spPr>
          <a:xfrm>
            <a:off x="2968625" y="4280583"/>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73" name="FMI Data Label"/>
          <p:cNvSpPr txBox="1"/>
          <p:nvPr/>
        </p:nvSpPr>
        <p:spPr>
          <a:xfrm>
            <a:off x="4143375" y="4988344"/>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74" name="Rectangle 73"/>
          <p:cNvSpPr/>
          <p:nvPr/>
        </p:nvSpPr>
        <p:spPr>
          <a:xfrm>
            <a:off x="5676900" y="4987586"/>
            <a:ext cx="457200" cy="15219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FMI Data Label"/>
          <p:cNvSpPr txBox="1"/>
          <p:nvPr/>
        </p:nvSpPr>
        <p:spPr>
          <a:xfrm>
            <a:off x="5318125" y="4844711"/>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76" name="Rectangle 75"/>
          <p:cNvSpPr/>
          <p:nvPr/>
        </p:nvSpPr>
        <p:spPr>
          <a:xfrm>
            <a:off x="6851650" y="4769944"/>
            <a:ext cx="457200" cy="36983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FMI Data Label"/>
          <p:cNvSpPr txBox="1"/>
          <p:nvPr/>
        </p:nvSpPr>
        <p:spPr>
          <a:xfrm>
            <a:off x="6492875" y="4627069"/>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78" name="TextBox 77"/>
          <p:cNvSpPr txBox="1"/>
          <p:nvPr/>
        </p:nvSpPr>
        <p:spPr>
          <a:xfrm>
            <a:off x="61912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North America</a:t>
            </a:r>
          </a:p>
        </p:txBody>
      </p:sp>
      <p:sp>
        <p:nvSpPr>
          <p:cNvPr id="79" name="TextBox 78"/>
          <p:cNvSpPr txBox="1"/>
          <p:nvPr/>
        </p:nvSpPr>
        <p:spPr>
          <a:xfrm>
            <a:off x="179387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Latin America</a:t>
            </a:r>
          </a:p>
        </p:txBody>
      </p:sp>
      <p:sp>
        <p:nvSpPr>
          <p:cNvPr id="80" name="TextBox 79"/>
          <p:cNvSpPr txBox="1"/>
          <p:nvPr/>
        </p:nvSpPr>
        <p:spPr>
          <a:xfrm>
            <a:off x="296862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Europe</a:t>
            </a:r>
          </a:p>
        </p:txBody>
      </p:sp>
      <p:sp>
        <p:nvSpPr>
          <p:cNvPr id="81" name="TextBox 80"/>
          <p:cNvSpPr txBox="1"/>
          <p:nvPr/>
        </p:nvSpPr>
        <p:spPr>
          <a:xfrm>
            <a:off x="414337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East Asia</a:t>
            </a:r>
          </a:p>
        </p:txBody>
      </p:sp>
      <p:sp>
        <p:nvSpPr>
          <p:cNvPr id="82" name="TextBox 81"/>
          <p:cNvSpPr txBox="1"/>
          <p:nvPr/>
        </p:nvSpPr>
        <p:spPr>
          <a:xfrm>
            <a:off x="531812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South Asia &amp; Pacific</a:t>
            </a:r>
          </a:p>
        </p:txBody>
      </p:sp>
      <p:sp>
        <p:nvSpPr>
          <p:cNvPr id="83" name="TextBox 82"/>
          <p:cNvSpPr txBox="1"/>
          <p:nvPr/>
        </p:nvSpPr>
        <p:spPr>
          <a:xfrm>
            <a:off x="649287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Middle East &amp; Africa</a:t>
            </a:r>
          </a:p>
        </p:txBody>
      </p:sp>
      <p:sp>
        <p:nvSpPr>
          <p:cNvPr id="84" name="Rounded Rectangle 83"/>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TextBox 84"/>
          <p:cNvSpPr txBox="1"/>
          <p:nvPr/>
        </p:nvSpPr>
        <p:spPr>
          <a:xfrm>
            <a:off x="8048625" y="1138620"/>
            <a:ext cx="38671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86" name="Rectangle 85"/>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8048625" y="1462470"/>
            <a:ext cx="3867150" cy="501771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88" name="TextBox 8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89" name="Picture 88" descr="lock.png"/>
          <p:cNvPicPr>
            <a:picLocks noChangeAspect="1"/>
          </p:cNvPicPr>
          <p:nvPr/>
        </p:nvPicPr>
        <p:blipFill>
          <a:blip r:embed="rId4"/>
          <a:stretch>
            <a:fillRect/>
          </a:stretch>
        </p:blipFill>
        <p:spPr>
          <a:xfrm>
            <a:off x="1761275" y="2501279"/>
            <a:ext cx="128699" cy="187198"/>
          </a:xfrm>
          <a:prstGeom prst="rect">
            <a:avLst/>
          </a:prstGeom>
        </p:spPr>
      </p:pic>
      <p:pic>
        <p:nvPicPr>
          <p:cNvPr id="90" name="Picture 89" descr="lock.png"/>
          <p:cNvPicPr>
            <a:picLocks noChangeAspect="1"/>
          </p:cNvPicPr>
          <p:nvPr/>
        </p:nvPicPr>
        <p:blipFill>
          <a:blip r:embed="rId4"/>
          <a:stretch>
            <a:fillRect/>
          </a:stretch>
        </p:blipFill>
        <p:spPr>
          <a:xfrm>
            <a:off x="4098075" y="1491005"/>
            <a:ext cx="128699" cy="187198"/>
          </a:xfrm>
          <a:prstGeom prst="rect">
            <a:avLst/>
          </a:prstGeom>
        </p:spPr>
      </p:pic>
      <p:pic>
        <p:nvPicPr>
          <p:cNvPr id="91" name="Picture 90" descr="lock.png"/>
          <p:cNvPicPr>
            <a:picLocks noChangeAspect="1"/>
          </p:cNvPicPr>
          <p:nvPr/>
        </p:nvPicPr>
        <p:blipFill>
          <a:blip r:embed="rId4"/>
          <a:stretch>
            <a:fillRect/>
          </a:stretch>
        </p:blipFill>
        <p:spPr>
          <a:xfrm>
            <a:off x="6434875" y="1993472"/>
            <a:ext cx="128699" cy="187198"/>
          </a:xfrm>
          <a:prstGeom prst="rect">
            <a:avLst/>
          </a:prstGeom>
        </p:spPr>
      </p:pic>
      <p:pic>
        <p:nvPicPr>
          <p:cNvPr id="92" name="Picture 91" descr="lock.png"/>
          <p:cNvPicPr>
            <a:picLocks noChangeAspect="1"/>
          </p:cNvPicPr>
          <p:nvPr/>
        </p:nvPicPr>
        <p:blipFill>
          <a:blip r:embed="rId4"/>
          <a:stretch>
            <a:fillRect/>
          </a:stretch>
        </p:blipFill>
        <p:spPr>
          <a:xfrm>
            <a:off x="1142150" y="5811618"/>
            <a:ext cx="128699" cy="187198"/>
          </a:xfrm>
          <a:prstGeom prst="rect">
            <a:avLst/>
          </a:prstGeom>
        </p:spPr>
      </p:pic>
      <p:pic>
        <p:nvPicPr>
          <p:cNvPr id="93" name="Picture 92" descr="lock.png"/>
          <p:cNvPicPr>
            <a:picLocks noChangeAspect="1"/>
          </p:cNvPicPr>
          <p:nvPr/>
        </p:nvPicPr>
        <p:blipFill>
          <a:blip r:embed="rId4"/>
          <a:stretch>
            <a:fillRect/>
          </a:stretch>
        </p:blipFill>
        <p:spPr>
          <a:xfrm>
            <a:off x="2316900" y="4916229"/>
            <a:ext cx="128699" cy="187198"/>
          </a:xfrm>
          <a:prstGeom prst="rect">
            <a:avLst/>
          </a:prstGeom>
        </p:spPr>
      </p:pic>
      <p:pic>
        <p:nvPicPr>
          <p:cNvPr id="94" name="Picture 93" descr="lock.png"/>
          <p:cNvPicPr>
            <a:picLocks noChangeAspect="1"/>
          </p:cNvPicPr>
          <p:nvPr/>
        </p:nvPicPr>
        <p:blipFill>
          <a:blip r:embed="rId4"/>
          <a:stretch>
            <a:fillRect/>
          </a:stretch>
        </p:blipFill>
        <p:spPr>
          <a:xfrm>
            <a:off x="3491650" y="4253659"/>
            <a:ext cx="128699" cy="187198"/>
          </a:xfrm>
          <a:prstGeom prst="rect">
            <a:avLst/>
          </a:prstGeom>
        </p:spPr>
      </p:pic>
      <p:pic>
        <p:nvPicPr>
          <p:cNvPr id="95" name="Picture 94" descr="lock.png"/>
          <p:cNvPicPr>
            <a:picLocks noChangeAspect="1"/>
          </p:cNvPicPr>
          <p:nvPr/>
        </p:nvPicPr>
        <p:blipFill>
          <a:blip r:embed="rId4"/>
          <a:stretch>
            <a:fillRect/>
          </a:stretch>
        </p:blipFill>
        <p:spPr>
          <a:xfrm>
            <a:off x="4666400" y="4961419"/>
            <a:ext cx="128699" cy="187198"/>
          </a:xfrm>
          <a:prstGeom prst="rect">
            <a:avLst/>
          </a:prstGeom>
        </p:spPr>
      </p:pic>
      <p:pic>
        <p:nvPicPr>
          <p:cNvPr id="96" name="Picture 95" descr="lock.png"/>
          <p:cNvPicPr>
            <a:picLocks noChangeAspect="1"/>
          </p:cNvPicPr>
          <p:nvPr/>
        </p:nvPicPr>
        <p:blipFill>
          <a:blip r:embed="rId4"/>
          <a:stretch>
            <a:fillRect/>
          </a:stretch>
        </p:blipFill>
        <p:spPr>
          <a:xfrm>
            <a:off x="5841150" y="4817786"/>
            <a:ext cx="128699" cy="187198"/>
          </a:xfrm>
          <a:prstGeom prst="rect">
            <a:avLst/>
          </a:prstGeom>
        </p:spPr>
      </p:pic>
      <p:pic>
        <p:nvPicPr>
          <p:cNvPr id="97" name="Picture 96" descr="lock.png"/>
          <p:cNvPicPr>
            <a:picLocks noChangeAspect="1"/>
          </p:cNvPicPr>
          <p:nvPr/>
        </p:nvPicPr>
        <p:blipFill>
          <a:blip r:embed="rId4"/>
          <a:stretch>
            <a:fillRect/>
          </a:stretch>
        </p:blipFill>
        <p:spPr>
          <a:xfrm>
            <a:off x="7015900" y="4600145"/>
            <a:ext cx="128699" cy="187198"/>
          </a:xfrm>
          <a:prstGeom prst="rect">
            <a:avLst/>
          </a:prstGeom>
        </p:spPr>
      </p:pic>
      <p:sp>
        <p:nvSpPr>
          <p:cNvPr id="98" name="TextBox 97"/>
          <p:cNvSpPr txBox="1"/>
          <p:nvPr/>
        </p:nvSpPr>
        <p:spPr>
          <a:xfrm>
            <a:off x="8048625" y="1471995"/>
            <a:ext cx="3403401" cy="194310"/>
          </a:xfrm>
          <a:prstGeom prst="rect">
            <a:avLst/>
          </a:prstGeom>
          <a:noFill/>
        </p:spPr>
        <p:txBody>
          <a:bodyPr wrap="none" lIns="0" tIns="0" rIns="0" bIns="0">
            <a:spAutoFit/>
          </a:bodyPr>
          <a:lstStyle/>
          <a:p>
            <a:r>
              <a:rPr sz="1150" b="0">
                <a:solidFill>
                  <a:srgbClr val="2E2E2E"/>
                </a:solidFill>
                <a:latin typeface="Calibri"/>
              </a:rPr>
              <a:t>Die-cut &amp; folded partitions (h-dividers, tube/cell inserts)</a:t>
            </a:r>
          </a:p>
        </p:txBody>
      </p:sp>
      <p:sp>
        <p:nvSpPr>
          <p:cNvPr id="99" name="TextBox 98"/>
          <p:cNvSpPr txBox="1"/>
          <p:nvPr/>
        </p:nvSpPr>
        <p:spPr>
          <a:xfrm>
            <a:off x="8048625" y="1647255"/>
            <a:ext cx="3767956" cy="194310"/>
          </a:xfrm>
          <a:prstGeom prst="rect">
            <a:avLst/>
          </a:prstGeom>
          <a:noFill/>
        </p:spPr>
        <p:txBody>
          <a:bodyPr wrap="none" lIns="0" tIns="0" rIns="0" bIns="0">
            <a:spAutoFit/>
          </a:bodyPr>
          <a:lstStyle/>
          <a:p>
            <a:r>
              <a:rPr sz="1150" b="0">
                <a:solidFill>
                  <a:srgbClr val="2E2E2E"/>
                </a:solidFill>
                <a:latin typeface="Calibri"/>
              </a:rPr>
              <a:t>segment is expected to command the highest average price of</a:t>
            </a:r>
          </a:p>
        </p:txBody>
      </p:sp>
      <p:sp>
        <p:nvSpPr>
          <p:cNvPr id="100" name="TextBox 99"/>
          <p:cNvSpPr txBox="1"/>
          <p:nvPr/>
        </p:nvSpPr>
        <p:spPr>
          <a:xfrm>
            <a:off x="8048625" y="1822515"/>
            <a:ext cx="311249" cy="194310"/>
          </a:xfrm>
          <a:prstGeom prst="rect">
            <a:avLst/>
          </a:prstGeom>
          <a:noFill/>
        </p:spPr>
        <p:txBody>
          <a:bodyPr wrap="none" lIns="0" tIns="0" rIns="0" bIns="0">
            <a:spAutoFit/>
          </a:bodyPr>
          <a:lstStyle/>
          <a:p>
            <a:r>
              <a:rPr sz="1150" b="0">
                <a:solidFill>
                  <a:srgbClr val="2E2E2E"/>
                </a:solidFill>
                <a:latin typeface="Calibri"/>
              </a:rPr>
              <a:t>US$</a:t>
            </a:r>
          </a:p>
        </p:txBody>
      </p:sp>
      <p:pic>
        <p:nvPicPr>
          <p:cNvPr id="101" name="Picture 100" descr="lock.png"/>
          <p:cNvPicPr>
            <a:picLocks noChangeAspect="1"/>
          </p:cNvPicPr>
          <p:nvPr/>
        </p:nvPicPr>
        <p:blipFill>
          <a:blip r:embed="rId4"/>
          <a:stretch>
            <a:fillRect/>
          </a:stretch>
        </p:blipFill>
        <p:spPr>
          <a:xfrm>
            <a:off x="8309028" y="1812291"/>
            <a:ext cx="134549" cy="195707"/>
          </a:xfrm>
          <a:prstGeom prst="rect">
            <a:avLst/>
          </a:prstGeom>
        </p:spPr>
      </p:pic>
      <p:sp>
        <p:nvSpPr>
          <p:cNvPr id="102" name="TextBox 101"/>
          <p:cNvSpPr txBox="1"/>
          <p:nvPr/>
        </p:nvSpPr>
        <p:spPr>
          <a:xfrm>
            <a:off x="8484137" y="1822515"/>
            <a:ext cx="3115825" cy="194310"/>
          </a:xfrm>
          <a:prstGeom prst="rect">
            <a:avLst/>
          </a:prstGeom>
          <a:noFill/>
        </p:spPr>
        <p:txBody>
          <a:bodyPr wrap="none" lIns="0" tIns="0" rIns="0" bIns="0">
            <a:spAutoFit/>
          </a:bodyPr>
          <a:lstStyle/>
          <a:p>
            <a:r>
              <a:rPr sz="1150" b="0">
                <a:solidFill>
                  <a:srgbClr val="2E2E2E"/>
                </a:solidFill>
                <a:latin typeface="Calibri"/>
              </a:rPr>
              <a:t>per MT in 2036. Average selling price of corrugated</a:t>
            </a:r>
          </a:p>
        </p:txBody>
      </p:sp>
      <p:sp>
        <p:nvSpPr>
          <p:cNvPr id="103" name="TextBox 102"/>
          <p:cNvSpPr txBox="1"/>
          <p:nvPr/>
        </p:nvSpPr>
        <p:spPr>
          <a:xfrm>
            <a:off x="8048625" y="1997775"/>
            <a:ext cx="1767755" cy="194310"/>
          </a:xfrm>
          <a:prstGeom prst="rect">
            <a:avLst/>
          </a:prstGeom>
          <a:noFill/>
        </p:spPr>
        <p:txBody>
          <a:bodyPr wrap="none" lIns="0" tIns="0" rIns="0" bIns="0">
            <a:spAutoFit/>
          </a:bodyPr>
          <a:lstStyle/>
          <a:p>
            <a:r>
              <a:rPr sz="1150" b="0">
                <a:solidFill>
                  <a:srgbClr val="2E2E2E"/>
                </a:solidFill>
                <a:latin typeface="Calibri"/>
              </a:rPr>
              <a:t>partition is estimated at US$</a:t>
            </a:r>
          </a:p>
        </p:txBody>
      </p:sp>
      <p:pic>
        <p:nvPicPr>
          <p:cNvPr id="104" name="Picture 103" descr="lock.png"/>
          <p:cNvPicPr>
            <a:picLocks noChangeAspect="1"/>
          </p:cNvPicPr>
          <p:nvPr/>
        </p:nvPicPr>
        <p:blipFill>
          <a:blip r:embed="rId4"/>
          <a:stretch>
            <a:fillRect/>
          </a:stretch>
        </p:blipFill>
        <p:spPr>
          <a:xfrm>
            <a:off x="9765534" y="1987551"/>
            <a:ext cx="134549" cy="195707"/>
          </a:xfrm>
          <a:prstGeom prst="rect">
            <a:avLst/>
          </a:prstGeom>
        </p:spPr>
      </p:pic>
      <p:sp>
        <p:nvSpPr>
          <p:cNvPr id="105" name="TextBox 104"/>
          <p:cNvSpPr txBox="1"/>
          <p:nvPr/>
        </p:nvSpPr>
        <p:spPr>
          <a:xfrm>
            <a:off x="9940643" y="1997775"/>
            <a:ext cx="1359557" cy="194310"/>
          </a:xfrm>
          <a:prstGeom prst="rect">
            <a:avLst/>
          </a:prstGeom>
          <a:noFill/>
        </p:spPr>
        <p:txBody>
          <a:bodyPr wrap="none" lIns="0" tIns="0" rIns="0" bIns="0">
            <a:spAutoFit/>
          </a:bodyPr>
          <a:lstStyle/>
          <a:p>
            <a:r>
              <a:rPr sz="1150" b="0">
                <a:solidFill>
                  <a:srgbClr val="2E2E2E"/>
                </a:solidFill>
                <a:latin typeface="Calibri"/>
              </a:rPr>
              <a:t>per MT in 2025 and is</a:t>
            </a:r>
          </a:p>
        </p:txBody>
      </p:sp>
      <p:sp>
        <p:nvSpPr>
          <p:cNvPr id="106" name="TextBox 105"/>
          <p:cNvSpPr txBox="1"/>
          <p:nvPr/>
        </p:nvSpPr>
        <p:spPr>
          <a:xfrm>
            <a:off x="8048625" y="2173035"/>
            <a:ext cx="1764617" cy="194310"/>
          </a:xfrm>
          <a:prstGeom prst="rect">
            <a:avLst/>
          </a:prstGeom>
          <a:noFill/>
        </p:spPr>
        <p:txBody>
          <a:bodyPr wrap="none" lIns="0" tIns="0" rIns="0" bIns="0">
            <a:spAutoFit/>
          </a:bodyPr>
          <a:lstStyle/>
          <a:p>
            <a:r>
              <a:rPr sz="1150" b="0">
                <a:solidFill>
                  <a:srgbClr val="2E2E2E"/>
                </a:solidFill>
                <a:latin typeface="Calibri"/>
              </a:rPr>
              <a:t>projected to increase to US$</a:t>
            </a:r>
          </a:p>
        </p:txBody>
      </p:sp>
      <p:pic>
        <p:nvPicPr>
          <p:cNvPr id="107" name="Picture 106" descr="lock.png"/>
          <p:cNvPicPr>
            <a:picLocks noChangeAspect="1"/>
          </p:cNvPicPr>
          <p:nvPr/>
        </p:nvPicPr>
        <p:blipFill>
          <a:blip r:embed="rId4"/>
          <a:stretch>
            <a:fillRect/>
          </a:stretch>
        </p:blipFill>
        <p:spPr>
          <a:xfrm>
            <a:off x="9762396" y="2162811"/>
            <a:ext cx="134549" cy="195707"/>
          </a:xfrm>
          <a:prstGeom prst="rect">
            <a:avLst/>
          </a:prstGeom>
        </p:spPr>
      </p:pic>
      <p:sp>
        <p:nvSpPr>
          <p:cNvPr id="108" name="TextBox 107"/>
          <p:cNvSpPr txBox="1"/>
          <p:nvPr/>
        </p:nvSpPr>
        <p:spPr>
          <a:xfrm>
            <a:off x="9937506" y="2173035"/>
            <a:ext cx="1048630" cy="194310"/>
          </a:xfrm>
          <a:prstGeom prst="rect">
            <a:avLst/>
          </a:prstGeom>
          <a:noFill/>
        </p:spPr>
        <p:txBody>
          <a:bodyPr wrap="none" lIns="0" tIns="0" rIns="0" bIns="0">
            <a:spAutoFit/>
          </a:bodyPr>
          <a:lstStyle/>
          <a:p>
            <a:r>
              <a:rPr sz="1150" b="0">
                <a:solidFill>
                  <a:srgbClr val="2E2E2E"/>
                </a:solidFill>
                <a:latin typeface="Calibri"/>
              </a:rPr>
              <a:t>per MT by 2036.</a:t>
            </a:r>
          </a:p>
        </p:txBody>
      </p:sp>
      <p:sp>
        <p:nvSpPr>
          <p:cNvPr id="109" name="TextBox 108"/>
          <p:cNvSpPr txBox="1"/>
          <p:nvPr/>
        </p:nvSpPr>
        <p:spPr>
          <a:xfrm>
            <a:off x="8048625" y="2400873"/>
            <a:ext cx="3806750" cy="194310"/>
          </a:xfrm>
          <a:prstGeom prst="rect">
            <a:avLst/>
          </a:prstGeom>
          <a:noFill/>
        </p:spPr>
        <p:txBody>
          <a:bodyPr wrap="none" lIns="0" tIns="0" rIns="0" bIns="0">
            <a:spAutoFit/>
          </a:bodyPr>
          <a:lstStyle/>
          <a:p>
            <a:r>
              <a:rPr sz="1150" b="0">
                <a:solidFill>
                  <a:srgbClr val="2E2E2E"/>
                </a:solidFill>
                <a:latin typeface="Calibri"/>
              </a:rPr>
              <a:t>Europe is the highest-priced region, while North America is the</a:t>
            </a:r>
          </a:p>
        </p:txBody>
      </p:sp>
      <p:sp>
        <p:nvSpPr>
          <p:cNvPr id="110" name="TextBox 109"/>
          <p:cNvSpPr txBox="1"/>
          <p:nvPr/>
        </p:nvSpPr>
        <p:spPr>
          <a:xfrm>
            <a:off x="8048625" y="2576133"/>
            <a:ext cx="3535759" cy="194310"/>
          </a:xfrm>
          <a:prstGeom prst="rect">
            <a:avLst/>
          </a:prstGeom>
          <a:noFill/>
        </p:spPr>
        <p:txBody>
          <a:bodyPr wrap="none" lIns="0" tIns="0" rIns="0" bIns="0">
            <a:spAutoFit/>
          </a:bodyPr>
          <a:lstStyle/>
          <a:p>
            <a:r>
              <a:rPr sz="1150" b="0">
                <a:solidFill>
                  <a:srgbClr val="2E2E2E"/>
                </a:solidFill>
                <a:latin typeface="Calibri"/>
              </a:rPr>
              <a:t>most price-competitive market. Against the global price of</a:t>
            </a:r>
          </a:p>
        </p:txBody>
      </p:sp>
      <p:pic>
        <p:nvPicPr>
          <p:cNvPr id="111" name="Picture 110" descr="lock.png"/>
          <p:cNvPicPr>
            <a:picLocks noChangeAspect="1"/>
          </p:cNvPicPr>
          <p:nvPr/>
        </p:nvPicPr>
        <p:blipFill>
          <a:blip r:embed="rId4"/>
          <a:stretch>
            <a:fillRect/>
          </a:stretch>
        </p:blipFill>
        <p:spPr>
          <a:xfrm>
            <a:off x="11533538" y="2565909"/>
            <a:ext cx="134549" cy="195707"/>
          </a:xfrm>
          <a:prstGeom prst="rect">
            <a:avLst/>
          </a:prstGeom>
        </p:spPr>
      </p:pic>
      <p:sp>
        <p:nvSpPr>
          <p:cNvPr id="112" name="TextBox 111"/>
          <p:cNvSpPr txBox="1"/>
          <p:nvPr/>
        </p:nvSpPr>
        <p:spPr>
          <a:xfrm>
            <a:off x="8048625" y="2751393"/>
            <a:ext cx="2962399" cy="194310"/>
          </a:xfrm>
          <a:prstGeom prst="rect">
            <a:avLst/>
          </a:prstGeom>
          <a:noFill/>
        </p:spPr>
        <p:txBody>
          <a:bodyPr wrap="none" lIns="0" tIns="0" rIns="0" bIns="0">
            <a:spAutoFit/>
          </a:bodyPr>
          <a:lstStyle/>
          <a:p>
            <a:r>
              <a:rPr sz="1150" b="0">
                <a:solidFill>
                  <a:srgbClr val="2E2E2E"/>
                </a:solidFill>
                <a:latin typeface="Calibri"/>
              </a:rPr>
              <a:t>US$/MT, 5 of 6 regions price above and 1 below.</a:t>
            </a:r>
          </a:p>
        </p:txBody>
      </p:sp>
      <p:sp>
        <p:nvSpPr>
          <p:cNvPr id="113" name="TextBox 112"/>
          <p:cNvSpPr txBox="1"/>
          <p:nvPr/>
        </p:nvSpPr>
        <p:spPr>
          <a:xfrm>
            <a:off x="8048625" y="2979230"/>
            <a:ext cx="1661926" cy="194310"/>
          </a:xfrm>
          <a:prstGeom prst="rect">
            <a:avLst/>
          </a:prstGeom>
          <a:noFill/>
        </p:spPr>
        <p:txBody>
          <a:bodyPr wrap="none" lIns="0" tIns="0" rIns="0" bIns="0">
            <a:spAutoFit/>
          </a:bodyPr>
          <a:lstStyle/>
          <a:p>
            <a:r>
              <a:rPr sz="1150" b="0">
                <a:solidFill>
                  <a:srgbClr val="2E2E2E"/>
                </a:solidFill>
                <a:latin typeface="Calibri"/>
              </a:rPr>
              <a:t>'Europe' is the dearest at +</a:t>
            </a:r>
          </a:p>
        </p:txBody>
      </p:sp>
      <p:pic>
        <p:nvPicPr>
          <p:cNvPr id="114" name="Picture 113" descr="lock.png"/>
          <p:cNvPicPr>
            <a:picLocks noChangeAspect="1"/>
          </p:cNvPicPr>
          <p:nvPr/>
        </p:nvPicPr>
        <p:blipFill>
          <a:blip r:embed="rId4"/>
          <a:stretch>
            <a:fillRect/>
          </a:stretch>
        </p:blipFill>
        <p:spPr>
          <a:xfrm>
            <a:off x="9659705" y="2969007"/>
            <a:ext cx="134549" cy="195707"/>
          </a:xfrm>
          <a:prstGeom prst="rect">
            <a:avLst/>
          </a:prstGeom>
        </p:spPr>
      </p:pic>
      <p:sp>
        <p:nvSpPr>
          <p:cNvPr id="115" name="TextBox 114"/>
          <p:cNvSpPr txBox="1"/>
          <p:nvPr/>
        </p:nvSpPr>
        <p:spPr>
          <a:xfrm>
            <a:off x="9834814" y="2979230"/>
            <a:ext cx="1878719" cy="194310"/>
          </a:xfrm>
          <a:prstGeom prst="rect">
            <a:avLst/>
          </a:prstGeom>
          <a:noFill/>
        </p:spPr>
        <p:txBody>
          <a:bodyPr wrap="none" lIns="0" tIns="0" rIns="0" bIns="0">
            <a:spAutoFit/>
          </a:bodyPr>
          <a:lstStyle/>
          <a:p>
            <a:r>
              <a:rPr sz="1150" b="0">
                <a:solidFill>
                  <a:srgbClr val="2E2E2E"/>
                </a:solidFill>
                <a:latin typeface="Calibri"/>
              </a:rPr>
              <a:t>versus Global, 'North America'</a:t>
            </a:r>
          </a:p>
        </p:txBody>
      </p:sp>
      <p:sp>
        <p:nvSpPr>
          <p:cNvPr id="116" name="TextBox 115"/>
          <p:cNvSpPr txBox="1"/>
          <p:nvPr/>
        </p:nvSpPr>
        <p:spPr>
          <a:xfrm>
            <a:off x="8048625" y="3154490"/>
            <a:ext cx="1074588" cy="194310"/>
          </a:xfrm>
          <a:prstGeom prst="rect">
            <a:avLst/>
          </a:prstGeom>
          <a:noFill/>
        </p:spPr>
        <p:txBody>
          <a:bodyPr wrap="none" lIns="0" tIns="0" rIns="0" bIns="0">
            <a:spAutoFit/>
          </a:bodyPr>
          <a:lstStyle/>
          <a:p>
            <a:r>
              <a:rPr sz="1150" b="0">
                <a:solidFill>
                  <a:srgbClr val="2E2E2E"/>
                </a:solidFill>
                <a:latin typeface="Calibri"/>
              </a:rPr>
              <a:t>the cheapest at -</a:t>
            </a:r>
          </a:p>
        </p:txBody>
      </p:sp>
      <p:pic>
        <p:nvPicPr>
          <p:cNvPr id="117" name="Picture 116" descr="lock.png"/>
          <p:cNvPicPr>
            <a:picLocks noChangeAspect="1"/>
          </p:cNvPicPr>
          <p:nvPr/>
        </p:nvPicPr>
        <p:blipFill>
          <a:blip r:embed="rId4"/>
          <a:stretch>
            <a:fillRect/>
          </a:stretch>
        </p:blipFill>
        <p:spPr>
          <a:xfrm>
            <a:off x="9072367" y="3144267"/>
            <a:ext cx="134549" cy="195707"/>
          </a:xfrm>
          <a:prstGeom prst="rect">
            <a:avLst/>
          </a:prstGeom>
        </p:spPr>
      </p:pic>
      <p:sp>
        <p:nvSpPr>
          <p:cNvPr id="118" name="TextBox 117"/>
          <p:cNvSpPr txBox="1"/>
          <p:nvPr/>
        </p:nvSpPr>
        <p:spPr>
          <a:xfrm>
            <a:off x="9247476" y="3154490"/>
            <a:ext cx="2496579" cy="194310"/>
          </a:xfrm>
          <a:prstGeom prst="rect">
            <a:avLst/>
          </a:prstGeom>
          <a:noFill/>
        </p:spPr>
        <p:txBody>
          <a:bodyPr wrap="none" lIns="0" tIns="0" rIns="0" bIns="0">
            <a:spAutoFit/>
          </a:bodyPr>
          <a:lstStyle/>
          <a:p>
            <a:r>
              <a:rPr sz="1150" b="0">
                <a:solidFill>
                  <a:srgbClr val="2E2E2E"/>
                </a:solidFill>
                <a:latin typeface="Calibri"/>
              </a:rPr>
              <a:t>pointing to premiumisation headroom in</a:t>
            </a:r>
          </a:p>
        </p:txBody>
      </p:sp>
      <p:sp>
        <p:nvSpPr>
          <p:cNvPr id="119" name="TextBox 118"/>
          <p:cNvSpPr txBox="1"/>
          <p:nvPr/>
        </p:nvSpPr>
        <p:spPr>
          <a:xfrm>
            <a:off x="8048625" y="3329750"/>
            <a:ext cx="1571215" cy="194310"/>
          </a:xfrm>
          <a:prstGeom prst="rect">
            <a:avLst/>
          </a:prstGeom>
          <a:noFill/>
        </p:spPr>
        <p:txBody>
          <a:bodyPr wrap="none" lIns="0" tIns="0" rIns="0" bIns="0">
            <a:spAutoFit/>
          </a:bodyPr>
          <a:lstStyle/>
          <a:p>
            <a:r>
              <a:rPr sz="1150" b="0">
                <a:solidFill>
                  <a:srgbClr val="2E2E2E"/>
                </a:solidFill>
                <a:latin typeface="Calibri"/>
              </a:rPr>
              <a:t>the lower-priced regions.</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Summary, By Value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1685037"/>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4094525"/>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8048625" y="1713612"/>
            <a:ext cx="3867150" cy="209550"/>
          </a:xfrm>
          <a:prstGeom prst="rect">
            <a:avLst/>
          </a:prstGeom>
          <a:noFill/>
        </p:spPr>
        <p:txBody>
          <a:bodyPr wrap="square" lIns="0" tIns="9525" rIns="19050"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048625" y="2037462"/>
            <a:ext cx="3867150" cy="1868952"/>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048625" y="4123100"/>
            <a:ext cx="3867150" cy="209550"/>
          </a:xfrm>
          <a:prstGeom prst="rect">
            <a:avLst/>
          </a:prstGeom>
          <a:noFill/>
        </p:spPr>
        <p:txBody>
          <a:bodyPr wrap="square" lIns="0" tIns="9525" rIns="19050"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8048625" y="4446950"/>
            <a:ext cx="3867150" cy="203323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9" name="TextBox 2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134407" cy="194310"/>
          </a:xfrm>
          <a:prstGeom prst="rect">
            <a:avLst/>
          </a:prstGeom>
          <a:noFill/>
        </p:spPr>
        <p:txBody>
          <a:bodyPr wrap="none" lIns="0" tIns="0" rIns="0" bIns="0">
            <a:spAutoFit/>
          </a:bodyPr>
          <a:lstStyle/>
          <a:p>
            <a:r>
              <a:rPr sz="1150" b="0">
                <a:solidFill>
                  <a:srgbClr val="2E2E2E"/>
                </a:solidFill>
                <a:latin typeface="Calibri"/>
              </a:rPr>
              <a:t>Corrugated partition market is projected to register</a:t>
            </a:r>
          </a:p>
        </p:txBody>
      </p:sp>
      <p:pic>
        <p:nvPicPr>
          <p:cNvPr id="36" name="Picture 35" descr="lock.png"/>
          <p:cNvPicPr>
            <a:picLocks noChangeAspect="1"/>
          </p:cNvPicPr>
          <p:nvPr/>
        </p:nvPicPr>
        <p:blipFill>
          <a:blip r:embed="rId6"/>
          <a:stretch>
            <a:fillRect/>
          </a:stretch>
        </p:blipFill>
        <p:spPr>
          <a:xfrm>
            <a:off x="11132186" y="2036763"/>
            <a:ext cx="134549" cy="195707"/>
          </a:xfrm>
          <a:prstGeom prst="rect">
            <a:avLst/>
          </a:prstGeom>
        </p:spPr>
      </p:pic>
      <p:sp>
        <p:nvSpPr>
          <p:cNvPr id="37" name="TextBox 36"/>
          <p:cNvSpPr txBox="1"/>
          <p:nvPr/>
        </p:nvSpPr>
        <p:spPr>
          <a:xfrm>
            <a:off x="11307295" y="2046987"/>
            <a:ext cx="152077" cy="194310"/>
          </a:xfrm>
          <a:prstGeom prst="rect">
            <a:avLst/>
          </a:prstGeom>
          <a:noFill/>
        </p:spPr>
        <p:txBody>
          <a:bodyPr wrap="none" lIns="0" tIns="0" rIns="0" bIns="0">
            <a:spAutoFit/>
          </a:bodyPr>
          <a:lstStyle/>
          <a:p>
            <a:r>
              <a:rPr sz="1150" b="0">
                <a:solidFill>
                  <a:srgbClr val="2E2E2E"/>
                </a:solidFill>
                <a:latin typeface="Calibri"/>
              </a:rPr>
              <a:t>X</a:t>
            </a:r>
          </a:p>
        </p:txBody>
      </p:sp>
      <p:sp>
        <p:nvSpPr>
          <p:cNvPr id="38" name="TextBox 37"/>
          <p:cNvSpPr txBox="1"/>
          <p:nvPr/>
        </p:nvSpPr>
        <p:spPr>
          <a:xfrm>
            <a:off x="8048625" y="2222247"/>
            <a:ext cx="3571986" cy="194310"/>
          </a:xfrm>
          <a:prstGeom prst="rect">
            <a:avLst/>
          </a:prstGeom>
          <a:noFill/>
        </p:spPr>
        <p:txBody>
          <a:bodyPr wrap="none" lIns="0" tIns="0" rIns="0" bIns="0">
            <a:spAutoFit/>
          </a:bodyPr>
          <a:lstStyle/>
          <a:p>
            <a:r>
              <a:rPr sz="1150" b="0">
                <a:solidFill>
                  <a:srgbClr val="2E2E2E"/>
                </a:solidFill>
                <a:latin typeface="Calibri"/>
              </a:rPr>
              <a:t>increase in its revenue by the end of forecast period, 2036.</a:t>
            </a:r>
          </a:p>
        </p:txBody>
      </p:sp>
      <p:sp>
        <p:nvSpPr>
          <p:cNvPr id="39" name="TextBox 38"/>
          <p:cNvSpPr txBox="1"/>
          <p:nvPr/>
        </p:nvSpPr>
        <p:spPr>
          <a:xfrm>
            <a:off x="8048625" y="2397507"/>
            <a:ext cx="3781648" cy="194310"/>
          </a:xfrm>
          <a:prstGeom prst="rect">
            <a:avLst/>
          </a:prstGeom>
          <a:noFill/>
        </p:spPr>
        <p:txBody>
          <a:bodyPr wrap="none" lIns="0" tIns="0" rIns="0" bIns="0">
            <a:spAutoFit/>
          </a:bodyPr>
          <a:lstStyle/>
          <a:p>
            <a:r>
              <a:rPr sz="1150" b="0">
                <a:solidFill>
                  <a:srgbClr val="2E2E2E"/>
                </a:solidFill>
                <a:latin typeface="Calibri"/>
              </a:rPr>
              <a:t>Global corrugated partition market is expected to be valued at</a:t>
            </a:r>
          </a:p>
        </p:txBody>
      </p:sp>
      <p:sp>
        <p:nvSpPr>
          <p:cNvPr id="40" name="TextBox 39"/>
          <p:cNvSpPr txBox="1"/>
          <p:nvPr/>
        </p:nvSpPr>
        <p:spPr>
          <a:xfrm>
            <a:off x="8048625" y="2572767"/>
            <a:ext cx="311249" cy="194310"/>
          </a:xfrm>
          <a:prstGeom prst="rect">
            <a:avLst/>
          </a:prstGeom>
          <a:noFill/>
        </p:spPr>
        <p:txBody>
          <a:bodyPr wrap="none" lIns="0" tIns="0" rIns="0" bIns="0">
            <a:spAutoFit/>
          </a:bodyPr>
          <a:lstStyle/>
          <a:p>
            <a:r>
              <a:rPr sz="1150" b="0">
                <a:solidFill>
                  <a:srgbClr val="2E2E2E"/>
                </a:solidFill>
                <a:latin typeface="Calibri"/>
              </a:rPr>
              <a:t>US$</a:t>
            </a:r>
          </a:p>
        </p:txBody>
      </p:sp>
      <p:pic>
        <p:nvPicPr>
          <p:cNvPr id="41" name="Picture 40" descr="lock.png"/>
          <p:cNvPicPr>
            <a:picLocks noChangeAspect="1"/>
          </p:cNvPicPr>
          <p:nvPr/>
        </p:nvPicPr>
        <p:blipFill>
          <a:blip r:embed="rId6"/>
          <a:stretch>
            <a:fillRect/>
          </a:stretch>
        </p:blipFill>
        <p:spPr>
          <a:xfrm>
            <a:off x="8309028" y="2562543"/>
            <a:ext cx="134549" cy="195707"/>
          </a:xfrm>
          <a:prstGeom prst="rect">
            <a:avLst/>
          </a:prstGeom>
        </p:spPr>
      </p:pic>
      <p:sp>
        <p:nvSpPr>
          <p:cNvPr id="42" name="TextBox 41"/>
          <p:cNvSpPr txBox="1"/>
          <p:nvPr/>
        </p:nvSpPr>
        <p:spPr>
          <a:xfrm>
            <a:off x="8484137" y="2572767"/>
            <a:ext cx="1079723" cy="194310"/>
          </a:xfrm>
          <a:prstGeom prst="rect">
            <a:avLst/>
          </a:prstGeom>
          <a:noFill/>
        </p:spPr>
        <p:txBody>
          <a:bodyPr wrap="none" lIns="0" tIns="0" rIns="0" bIns="0">
            <a:spAutoFit/>
          </a:bodyPr>
          <a:lstStyle/>
          <a:p>
            <a:r>
              <a:rPr sz="1150" b="0">
                <a:solidFill>
                  <a:srgbClr val="2E2E2E"/>
                </a:solidFill>
                <a:latin typeface="Calibri"/>
              </a:rPr>
              <a:t>Mn by 2036 end.</a:t>
            </a:r>
          </a:p>
        </p:txBody>
      </p:sp>
      <p:sp>
        <p:nvSpPr>
          <p:cNvPr id="43" name="TextBox 42"/>
          <p:cNvSpPr txBox="1"/>
          <p:nvPr/>
        </p:nvSpPr>
        <p:spPr>
          <a:xfrm>
            <a:off x="8048625" y="2800604"/>
            <a:ext cx="3812455" cy="194310"/>
          </a:xfrm>
          <a:prstGeom prst="rect">
            <a:avLst/>
          </a:prstGeom>
          <a:noFill/>
        </p:spPr>
        <p:txBody>
          <a:bodyPr wrap="none" lIns="0" tIns="0" rIns="0" bIns="0">
            <a:spAutoFit/>
          </a:bodyPr>
          <a:lstStyle/>
          <a:p>
            <a:r>
              <a:rPr sz="1150" b="0">
                <a:solidFill>
                  <a:srgbClr val="2E2E2E"/>
                </a:solidFill>
                <a:latin typeface="Calibri"/>
              </a:rPr>
              <a:t>It is projected to create overall incremental opportunity of US$</a:t>
            </a:r>
          </a:p>
        </p:txBody>
      </p:sp>
      <p:pic>
        <p:nvPicPr>
          <p:cNvPr id="44" name="Picture 43" descr="lock.png"/>
          <p:cNvPicPr>
            <a:picLocks noChangeAspect="1"/>
          </p:cNvPicPr>
          <p:nvPr/>
        </p:nvPicPr>
        <p:blipFill>
          <a:blip r:embed="rId6"/>
          <a:stretch>
            <a:fillRect/>
          </a:stretch>
        </p:blipFill>
        <p:spPr>
          <a:xfrm>
            <a:off x="8034545" y="2965641"/>
            <a:ext cx="134549" cy="195707"/>
          </a:xfrm>
          <a:prstGeom prst="rect">
            <a:avLst/>
          </a:prstGeom>
        </p:spPr>
      </p:pic>
      <p:sp>
        <p:nvSpPr>
          <p:cNvPr id="45" name="TextBox 44"/>
          <p:cNvSpPr txBox="1"/>
          <p:nvPr/>
        </p:nvSpPr>
        <p:spPr>
          <a:xfrm>
            <a:off x="8209654" y="2975864"/>
            <a:ext cx="3569989" cy="194310"/>
          </a:xfrm>
          <a:prstGeom prst="rect">
            <a:avLst/>
          </a:prstGeom>
          <a:noFill/>
        </p:spPr>
        <p:txBody>
          <a:bodyPr wrap="none" lIns="0" tIns="0" rIns="0" bIns="0">
            <a:spAutoFit/>
          </a:bodyPr>
          <a:lstStyle/>
          <a:p>
            <a:r>
              <a:rPr sz="1150" b="0">
                <a:solidFill>
                  <a:srgbClr val="2E2E2E"/>
                </a:solidFill>
                <a:latin typeface="Calibri"/>
              </a:rPr>
              <a:t>Mn from 2025 to 2036. Growth in end-use industries along</a:t>
            </a:r>
          </a:p>
        </p:txBody>
      </p:sp>
      <p:sp>
        <p:nvSpPr>
          <p:cNvPr id="46" name="TextBox 45"/>
          <p:cNvSpPr txBox="1"/>
          <p:nvPr/>
        </p:nvSpPr>
        <p:spPr>
          <a:xfrm>
            <a:off x="8048625" y="3151124"/>
            <a:ext cx="3848100" cy="194310"/>
          </a:xfrm>
          <a:prstGeom prst="rect">
            <a:avLst/>
          </a:prstGeom>
          <a:noFill/>
        </p:spPr>
        <p:txBody>
          <a:bodyPr wrap="none" lIns="0" tIns="0" rIns="0" bIns="0">
            <a:spAutoFit/>
          </a:bodyPr>
          <a:lstStyle/>
          <a:p>
            <a:r>
              <a:rPr sz="1150" b="0">
                <a:solidFill>
                  <a:srgbClr val="2E2E2E"/>
                </a:solidFill>
                <a:latin typeface="Calibri"/>
              </a:rPr>
              <a:t>with infrastructure investment is fuelling demand for corrugated</a:t>
            </a:r>
          </a:p>
        </p:txBody>
      </p:sp>
      <p:sp>
        <p:nvSpPr>
          <p:cNvPr id="47" name="TextBox 46"/>
          <p:cNvSpPr txBox="1"/>
          <p:nvPr/>
        </p:nvSpPr>
        <p:spPr>
          <a:xfrm>
            <a:off x="8048625" y="3326384"/>
            <a:ext cx="629877" cy="194310"/>
          </a:xfrm>
          <a:prstGeom prst="rect">
            <a:avLst/>
          </a:prstGeom>
          <a:noFill/>
        </p:spPr>
        <p:txBody>
          <a:bodyPr wrap="none" lIns="0" tIns="0" rIns="0" bIns="0">
            <a:spAutoFit/>
          </a:bodyPr>
          <a:lstStyle/>
          <a:p>
            <a:r>
              <a:rPr sz="1150" b="0">
                <a:solidFill>
                  <a:srgbClr val="2E2E2E"/>
                </a:solidFill>
                <a:latin typeface="Calibri"/>
              </a:rPr>
              <a:t>partition.</a:t>
            </a:r>
          </a:p>
        </p:txBody>
      </p:sp>
      <p:sp>
        <p:nvSpPr>
          <p:cNvPr id="48" name="TextBox 47"/>
          <p:cNvSpPr txBox="1"/>
          <p:nvPr/>
        </p:nvSpPr>
        <p:spPr>
          <a:xfrm>
            <a:off x="8048625" y="4456475"/>
            <a:ext cx="2868835" cy="194310"/>
          </a:xfrm>
          <a:prstGeom prst="rect">
            <a:avLst/>
          </a:prstGeom>
          <a:noFill/>
        </p:spPr>
        <p:txBody>
          <a:bodyPr wrap="none" lIns="0" tIns="0" rIns="0" bIns="0">
            <a:spAutoFit/>
          </a:bodyPr>
          <a:lstStyle/>
          <a:p>
            <a:r>
              <a:rPr sz="1150" b="0">
                <a:solidFill>
                  <a:srgbClr val="2E2E2E"/>
                </a:solidFill>
                <a:latin typeface="Calibri"/>
              </a:rPr>
              <a:t>▪ 'South Asia &amp; Pacific' leads regional growth at</a:t>
            </a:r>
          </a:p>
        </p:txBody>
      </p:sp>
      <p:pic>
        <p:nvPicPr>
          <p:cNvPr id="49" name="Picture 48" descr="lock.png"/>
          <p:cNvPicPr>
            <a:picLocks noChangeAspect="1"/>
          </p:cNvPicPr>
          <p:nvPr/>
        </p:nvPicPr>
        <p:blipFill>
          <a:blip r:embed="rId6"/>
          <a:stretch>
            <a:fillRect/>
          </a:stretch>
        </p:blipFill>
        <p:spPr>
          <a:xfrm>
            <a:off x="10866614" y="4446251"/>
            <a:ext cx="134549" cy="195707"/>
          </a:xfrm>
          <a:prstGeom prst="rect">
            <a:avLst/>
          </a:prstGeom>
        </p:spPr>
      </p:pic>
      <p:sp>
        <p:nvSpPr>
          <p:cNvPr id="50" name="TextBox 49"/>
          <p:cNvSpPr txBox="1"/>
          <p:nvPr/>
        </p:nvSpPr>
        <p:spPr>
          <a:xfrm>
            <a:off x="11041723" y="4456475"/>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51" name="TextBox 50"/>
          <p:cNvSpPr txBox="1"/>
          <p:nvPr/>
        </p:nvSpPr>
        <p:spPr>
          <a:xfrm>
            <a:off x="8048625" y="4684312"/>
            <a:ext cx="3653569" cy="194310"/>
          </a:xfrm>
          <a:prstGeom prst="rect">
            <a:avLst/>
          </a:prstGeom>
          <a:noFill/>
        </p:spPr>
        <p:txBody>
          <a:bodyPr wrap="none" lIns="0" tIns="0" rIns="0" bIns="0">
            <a:spAutoFit/>
          </a:bodyPr>
          <a:lstStyle/>
          <a:p>
            <a:r>
              <a:rPr sz="1150" b="0">
                <a:solidFill>
                  <a:srgbClr val="2E2E2E"/>
                </a:solidFill>
                <a:latin typeface="Calibri"/>
              </a:rPr>
              <a:t>▪ Demand concentrates in 'Flat Dividers &amp; Layer Pads' within</a:t>
            </a:r>
          </a:p>
        </p:txBody>
      </p:sp>
      <p:sp>
        <p:nvSpPr>
          <p:cNvPr id="52" name="TextBox 51"/>
          <p:cNvSpPr txBox="1"/>
          <p:nvPr/>
        </p:nvSpPr>
        <p:spPr>
          <a:xfrm>
            <a:off x="8048625" y="4859572"/>
            <a:ext cx="948791" cy="194310"/>
          </a:xfrm>
          <a:prstGeom prst="rect">
            <a:avLst/>
          </a:prstGeom>
          <a:noFill/>
        </p:spPr>
        <p:txBody>
          <a:bodyPr wrap="none" lIns="0" tIns="0" rIns="0" bIns="0">
            <a:spAutoFit/>
          </a:bodyPr>
          <a:lstStyle/>
          <a:p>
            <a:r>
              <a:rPr sz="1150" b="0">
                <a:solidFill>
                  <a:srgbClr val="2E2E2E"/>
                </a:solidFill>
                <a:latin typeface="Calibri"/>
              </a:rPr>
              <a:t>Partition Type.</a:t>
            </a:r>
          </a:p>
        </p:txBody>
      </p:sp>
      <p:sp>
        <p:nvSpPr>
          <p:cNvPr id="53" name="TextBox 52"/>
          <p:cNvSpPr txBox="1"/>
          <p:nvPr/>
        </p:nvSpPr>
        <p:spPr>
          <a:xfrm>
            <a:off x="8048625" y="5087410"/>
            <a:ext cx="3291296" cy="194310"/>
          </a:xfrm>
          <a:prstGeom prst="rect">
            <a:avLst/>
          </a:prstGeom>
          <a:noFill/>
        </p:spPr>
        <p:txBody>
          <a:bodyPr wrap="none" lIns="0" tIns="0" rIns="0" bIns="0">
            <a:spAutoFit/>
          </a:bodyPr>
          <a:lstStyle/>
          <a:p>
            <a:r>
              <a:rPr sz="1150" b="0">
                <a:solidFill>
                  <a:srgbClr val="2E2E2E"/>
                </a:solidFill>
                <a:latin typeface="Calibri"/>
              </a:rPr>
              <a:t>▪ Product innovation and premiumisation lifting value.</a:t>
            </a:r>
          </a:p>
        </p:txBody>
      </p:sp>
      <p:sp>
        <p:nvSpPr>
          <p:cNvPr id="54" name="TextBox 53"/>
          <p:cNvSpPr txBox="1"/>
          <p:nvPr/>
        </p:nvSpPr>
        <p:spPr>
          <a:xfrm>
            <a:off x="8048625" y="5315248"/>
            <a:ext cx="2741327" cy="194310"/>
          </a:xfrm>
          <a:prstGeom prst="rect">
            <a:avLst/>
          </a:prstGeom>
          <a:noFill/>
        </p:spPr>
        <p:txBody>
          <a:bodyPr wrap="none" lIns="0" tIns="0" rIns="0" bIns="0">
            <a:spAutoFit/>
          </a:bodyPr>
          <a:lstStyle/>
          <a:p>
            <a:r>
              <a:rPr sz="1150" b="0">
                <a:solidFill>
                  <a:srgbClr val="2E2E2E"/>
                </a:solidFill>
                <a:latin typeface="Calibri"/>
              </a:rPr>
              <a:t>▪ Expanding end-use applications and access.</a:t>
            </a:r>
          </a:p>
        </p:txBody>
      </p:sp>
      <p:sp>
        <p:nvSpPr>
          <p:cNvPr id="55"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Volume &amp; Value Analysis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4505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5086350" y="1038225"/>
            <a:ext cx="6858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276225" y="463867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276225" y="4962525"/>
            <a:ext cx="11639550" cy="15716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5" name="TextBox 2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4022407"/>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4022407"/>
            <a:ext cx="157162" cy="228600"/>
          </a:xfrm>
          <a:prstGeom prst="rect">
            <a:avLst/>
          </a:prstGeom>
        </p:spPr>
      </p:pic>
      <p:sp>
        <p:nvSpPr>
          <p:cNvPr id="32" name="TextBox 31"/>
          <p:cNvSpPr txBox="1"/>
          <p:nvPr/>
        </p:nvSpPr>
        <p:spPr>
          <a:xfrm>
            <a:off x="276225" y="4972050"/>
            <a:ext cx="3134407" cy="194310"/>
          </a:xfrm>
          <a:prstGeom prst="rect">
            <a:avLst/>
          </a:prstGeom>
          <a:noFill/>
        </p:spPr>
        <p:txBody>
          <a:bodyPr wrap="none" lIns="0" tIns="0" rIns="0" bIns="0">
            <a:spAutoFit/>
          </a:bodyPr>
          <a:lstStyle/>
          <a:p>
            <a:r>
              <a:rPr sz="1150" b="0">
                <a:solidFill>
                  <a:srgbClr val="2E2E2E"/>
                </a:solidFill>
                <a:latin typeface="Calibri"/>
              </a:rPr>
              <a:t>Corrugated partition market is projected to register</a:t>
            </a:r>
          </a:p>
        </p:txBody>
      </p:sp>
      <p:pic>
        <p:nvPicPr>
          <p:cNvPr id="33" name="Picture 32" descr="lock.png"/>
          <p:cNvPicPr>
            <a:picLocks noChangeAspect="1"/>
          </p:cNvPicPr>
          <p:nvPr/>
        </p:nvPicPr>
        <p:blipFill>
          <a:blip r:embed="rId6"/>
          <a:stretch>
            <a:fillRect/>
          </a:stretch>
        </p:blipFill>
        <p:spPr>
          <a:xfrm>
            <a:off x="3359786" y="4961826"/>
            <a:ext cx="134549" cy="195707"/>
          </a:xfrm>
          <a:prstGeom prst="rect">
            <a:avLst/>
          </a:prstGeom>
        </p:spPr>
      </p:pic>
      <p:sp>
        <p:nvSpPr>
          <p:cNvPr id="34" name="TextBox 33"/>
          <p:cNvSpPr txBox="1"/>
          <p:nvPr/>
        </p:nvSpPr>
        <p:spPr>
          <a:xfrm>
            <a:off x="3534895" y="4972050"/>
            <a:ext cx="7687629" cy="194310"/>
          </a:xfrm>
          <a:prstGeom prst="rect">
            <a:avLst/>
          </a:prstGeom>
          <a:noFill/>
        </p:spPr>
        <p:txBody>
          <a:bodyPr wrap="none" lIns="0" tIns="0" rIns="0" bIns="0">
            <a:spAutoFit/>
          </a:bodyPr>
          <a:lstStyle/>
          <a:p>
            <a:r>
              <a:rPr sz="1150" b="0">
                <a:solidFill>
                  <a:srgbClr val="2E2E2E"/>
                </a:solidFill>
                <a:latin typeface="Calibri"/>
              </a:rPr>
              <a:t>X increase in its revenue by the end of forecast period, 2036. Global corrugated partition market is expected to be valued at US$</a:t>
            </a:r>
          </a:p>
        </p:txBody>
      </p:sp>
      <p:pic>
        <p:nvPicPr>
          <p:cNvPr id="35" name="Picture 34" descr="lock.png"/>
          <p:cNvPicPr>
            <a:picLocks noChangeAspect="1"/>
          </p:cNvPicPr>
          <p:nvPr/>
        </p:nvPicPr>
        <p:blipFill>
          <a:blip r:embed="rId6"/>
          <a:stretch>
            <a:fillRect/>
          </a:stretch>
        </p:blipFill>
        <p:spPr>
          <a:xfrm>
            <a:off x="11171679" y="4961826"/>
            <a:ext cx="134549" cy="195707"/>
          </a:xfrm>
          <a:prstGeom prst="rect">
            <a:avLst/>
          </a:prstGeom>
        </p:spPr>
      </p:pic>
      <p:sp>
        <p:nvSpPr>
          <p:cNvPr id="36" name="TextBox 35"/>
          <p:cNvSpPr txBox="1"/>
          <p:nvPr/>
        </p:nvSpPr>
        <p:spPr>
          <a:xfrm>
            <a:off x="11346788" y="4972050"/>
            <a:ext cx="453876" cy="194310"/>
          </a:xfrm>
          <a:prstGeom prst="rect">
            <a:avLst/>
          </a:prstGeom>
          <a:noFill/>
        </p:spPr>
        <p:txBody>
          <a:bodyPr wrap="none" lIns="0" tIns="0" rIns="0" bIns="0">
            <a:spAutoFit/>
          </a:bodyPr>
          <a:lstStyle/>
          <a:p>
            <a:r>
              <a:rPr sz="1150" b="0">
                <a:solidFill>
                  <a:srgbClr val="2E2E2E"/>
                </a:solidFill>
                <a:latin typeface="Calibri"/>
              </a:rPr>
              <a:t>Mn by</a:t>
            </a:r>
          </a:p>
        </p:txBody>
      </p:sp>
      <p:sp>
        <p:nvSpPr>
          <p:cNvPr id="37" name="TextBox 36"/>
          <p:cNvSpPr txBox="1"/>
          <p:nvPr/>
        </p:nvSpPr>
        <p:spPr>
          <a:xfrm>
            <a:off x="276225" y="5147310"/>
            <a:ext cx="4438302" cy="194310"/>
          </a:xfrm>
          <a:prstGeom prst="rect">
            <a:avLst/>
          </a:prstGeom>
          <a:noFill/>
        </p:spPr>
        <p:txBody>
          <a:bodyPr wrap="none" lIns="0" tIns="0" rIns="0" bIns="0">
            <a:spAutoFit/>
          </a:bodyPr>
          <a:lstStyle/>
          <a:p>
            <a:r>
              <a:rPr sz="1150" b="0">
                <a:solidFill>
                  <a:srgbClr val="2E2E2E"/>
                </a:solidFill>
                <a:latin typeface="Calibri"/>
              </a:rPr>
              <a:t>2036 end. It is projected to create overall incremental opportunity of US$</a:t>
            </a:r>
          </a:p>
        </p:txBody>
      </p:sp>
      <p:pic>
        <p:nvPicPr>
          <p:cNvPr id="38" name="Picture 37" descr="lock.png"/>
          <p:cNvPicPr>
            <a:picLocks noChangeAspect="1"/>
          </p:cNvPicPr>
          <p:nvPr/>
        </p:nvPicPr>
        <p:blipFill>
          <a:blip r:embed="rId6"/>
          <a:stretch>
            <a:fillRect/>
          </a:stretch>
        </p:blipFill>
        <p:spPr>
          <a:xfrm>
            <a:off x="4663681" y="5137086"/>
            <a:ext cx="134549" cy="195707"/>
          </a:xfrm>
          <a:prstGeom prst="rect">
            <a:avLst/>
          </a:prstGeom>
        </p:spPr>
      </p:pic>
      <p:sp>
        <p:nvSpPr>
          <p:cNvPr id="39" name="TextBox 38"/>
          <p:cNvSpPr txBox="1"/>
          <p:nvPr/>
        </p:nvSpPr>
        <p:spPr>
          <a:xfrm>
            <a:off x="4838790" y="5147310"/>
            <a:ext cx="1455687" cy="194310"/>
          </a:xfrm>
          <a:prstGeom prst="rect">
            <a:avLst/>
          </a:prstGeom>
          <a:noFill/>
        </p:spPr>
        <p:txBody>
          <a:bodyPr wrap="none" lIns="0" tIns="0" rIns="0" bIns="0">
            <a:spAutoFit/>
          </a:bodyPr>
          <a:lstStyle/>
          <a:p>
            <a:r>
              <a:rPr sz="1150" b="0">
                <a:solidFill>
                  <a:srgbClr val="2E2E2E"/>
                </a:solidFill>
                <a:latin typeface="Calibri"/>
              </a:rPr>
              <a:t>Mn from 2025 to 2036.</a:t>
            </a:r>
          </a:p>
        </p:txBody>
      </p:sp>
      <p:sp>
        <p:nvSpPr>
          <p:cNvPr id="40" name="TextBox 39"/>
          <p:cNvSpPr txBox="1"/>
          <p:nvPr/>
        </p:nvSpPr>
        <p:spPr>
          <a:xfrm>
            <a:off x="276225" y="5375147"/>
            <a:ext cx="10104015" cy="194310"/>
          </a:xfrm>
          <a:prstGeom prst="rect">
            <a:avLst/>
          </a:prstGeom>
          <a:noFill/>
        </p:spPr>
        <p:txBody>
          <a:bodyPr wrap="none" lIns="0" tIns="0" rIns="0" bIns="0">
            <a:spAutoFit/>
          </a:bodyPr>
          <a:lstStyle/>
          <a:p>
            <a:r>
              <a:rPr sz="1150" b="0">
                <a:solidFill>
                  <a:srgbClr val="2E2E2E"/>
                </a:solidFill>
                <a:latin typeface="Calibri"/>
              </a:rPr>
              <a:t>Growth in end-use industries along with infrastructure investment is fuelling demand for corrugated partition. Global corrugated partition market is projected to register</a:t>
            </a:r>
          </a:p>
        </p:txBody>
      </p:sp>
      <p:pic>
        <p:nvPicPr>
          <p:cNvPr id="41" name="Picture 40" descr="lock.png"/>
          <p:cNvPicPr>
            <a:picLocks noChangeAspect="1"/>
          </p:cNvPicPr>
          <p:nvPr/>
        </p:nvPicPr>
        <p:blipFill>
          <a:blip r:embed="rId6"/>
          <a:stretch>
            <a:fillRect/>
          </a:stretch>
        </p:blipFill>
        <p:spPr>
          <a:xfrm>
            <a:off x="10329394" y="5364924"/>
            <a:ext cx="134549" cy="195707"/>
          </a:xfrm>
          <a:prstGeom prst="rect">
            <a:avLst/>
          </a:prstGeom>
        </p:spPr>
      </p:pic>
      <p:sp>
        <p:nvSpPr>
          <p:cNvPr id="42" name="TextBox 41"/>
          <p:cNvSpPr txBox="1"/>
          <p:nvPr/>
        </p:nvSpPr>
        <p:spPr>
          <a:xfrm>
            <a:off x="10504504" y="5375147"/>
            <a:ext cx="1300224" cy="194310"/>
          </a:xfrm>
          <a:prstGeom prst="rect">
            <a:avLst/>
          </a:prstGeom>
          <a:noFill/>
        </p:spPr>
        <p:txBody>
          <a:bodyPr wrap="none" lIns="0" tIns="0" rIns="0" bIns="0">
            <a:spAutoFit/>
          </a:bodyPr>
          <a:lstStyle/>
          <a:p>
            <a:r>
              <a:rPr sz="1150" b="0">
                <a:solidFill>
                  <a:srgbClr val="2E2E2E"/>
                </a:solidFill>
                <a:latin typeface="Calibri"/>
              </a:rPr>
              <a:t>X increase in volume</a:t>
            </a:r>
          </a:p>
        </p:txBody>
      </p:sp>
      <p:sp>
        <p:nvSpPr>
          <p:cNvPr id="43" name="TextBox 42"/>
          <p:cNvSpPr txBox="1"/>
          <p:nvPr/>
        </p:nvSpPr>
        <p:spPr>
          <a:xfrm>
            <a:off x="276225" y="5550407"/>
            <a:ext cx="2205049" cy="194310"/>
          </a:xfrm>
          <a:prstGeom prst="rect">
            <a:avLst/>
          </a:prstGeom>
          <a:noFill/>
        </p:spPr>
        <p:txBody>
          <a:bodyPr wrap="none" lIns="0" tIns="0" rIns="0" bIns="0">
            <a:spAutoFit/>
          </a:bodyPr>
          <a:lstStyle/>
          <a:p>
            <a:r>
              <a:rPr sz="1150" b="0">
                <a:solidFill>
                  <a:srgbClr val="2E2E2E"/>
                </a:solidFill>
                <a:latin typeface="Calibri"/>
              </a:rPr>
              <a:t>by the end of forecast period, 2036.</a:t>
            </a:r>
          </a:p>
        </p:txBody>
      </p:sp>
      <p:sp>
        <p:nvSpPr>
          <p:cNvPr id="44" name="TextBox 43"/>
          <p:cNvSpPr txBox="1"/>
          <p:nvPr/>
        </p:nvSpPr>
        <p:spPr>
          <a:xfrm>
            <a:off x="276225" y="5778245"/>
            <a:ext cx="3154089" cy="194310"/>
          </a:xfrm>
          <a:prstGeom prst="rect">
            <a:avLst/>
          </a:prstGeom>
          <a:noFill/>
        </p:spPr>
        <p:txBody>
          <a:bodyPr wrap="none" lIns="0" tIns="0" rIns="0" bIns="0">
            <a:spAutoFit/>
          </a:bodyPr>
          <a:lstStyle/>
          <a:p>
            <a:r>
              <a:rPr sz="1150" b="0">
                <a:solidFill>
                  <a:srgbClr val="2E2E2E"/>
                </a:solidFill>
                <a:latin typeface="Calibri"/>
              </a:rPr>
              <a:t>Global corrugated partition market volume stood at</a:t>
            </a:r>
          </a:p>
        </p:txBody>
      </p:sp>
      <p:pic>
        <p:nvPicPr>
          <p:cNvPr id="45" name="Picture 44" descr="lock.png"/>
          <p:cNvPicPr>
            <a:picLocks noChangeAspect="1"/>
          </p:cNvPicPr>
          <p:nvPr/>
        </p:nvPicPr>
        <p:blipFill>
          <a:blip r:embed="rId6"/>
          <a:stretch>
            <a:fillRect/>
          </a:stretch>
        </p:blipFill>
        <p:spPr>
          <a:xfrm>
            <a:off x="3379468" y="5768022"/>
            <a:ext cx="134549" cy="195707"/>
          </a:xfrm>
          <a:prstGeom prst="rect">
            <a:avLst/>
          </a:prstGeom>
        </p:spPr>
      </p:pic>
      <p:sp>
        <p:nvSpPr>
          <p:cNvPr id="46" name="TextBox 45"/>
          <p:cNvSpPr txBox="1"/>
          <p:nvPr/>
        </p:nvSpPr>
        <p:spPr>
          <a:xfrm>
            <a:off x="3554577" y="5778245"/>
            <a:ext cx="2229581" cy="194310"/>
          </a:xfrm>
          <a:prstGeom prst="rect">
            <a:avLst/>
          </a:prstGeom>
          <a:noFill/>
        </p:spPr>
        <p:txBody>
          <a:bodyPr wrap="none" lIns="0" tIns="0" rIns="0" bIns="0">
            <a:spAutoFit/>
          </a:bodyPr>
          <a:lstStyle/>
          <a:p>
            <a:r>
              <a:rPr sz="1150" b="0">
                <a:solidFill>
                  <a:srgbClr val="2E2E2E"/>
                </a:solidFill>
                <a:latin typeface="Calibri"/>
              </a:rPr>
              <a:t>MT in 2025 and is expected to reach</a:t>
            </a:r>
          </a:p>
        </p:txBody>
      </p:sp>
      <p:pic>
        <p:nvPicPr>
          <p:cNvPr id="47" name="Picture 46" descr="lock.png"/>
          <p:cNvPicPr>
            <a:picLocks noChangeAspect="1"/>
          </p:cNvPicPr>
          <p:nvPr/>
        </p:nvPicPr>
        <p:blipFill>
          <a:blip r:embed="rId6"/>
          <a:stretch>
            <a:fillRect/>
          </a:stretch>
        </p:blipFill>
        <p:spPr>
          <a:xfrm>
            <a:off x="5733313" y="5768022"/>
            <a:ext cx="134549" cy="195707"/>
          </a:xfrm>
          <a:prstGeom prst="rect">
            <a:avLst/>
          </a:prstGeom>
        </p:spPr>
      </p:pic>
      <p:sp>
        <p:nvSpPr>
          <p:cNvPr id="48" name="TextBox 47"/>
          <p:cNvSpPr txBox="1"/>
          <p:nvPr/>
        </p:nvSpPr>
        <p:spPr>
          <a:xfrm>
            <a:off x="5908422" y="5778245"/>
            <a:ext cx="1850461" cy="194310"/>
          </a:xfrm>
          <a:prstGeom prst="rect">
            <a:avLst/>
          </a:prstGeom>
          <a:noFill/>
        </p:spPr>
        <p:txBody>
          <a:bodyPr wrap="none" lIns="0" tIns="0" rIns="0" bIns="0">
            <a:spAutoFit/>
          </a:bodyPr>
          <a:lstStyle/>
          <a:p>
            <a:r>
              <a:rPr sz="1150" b="0">
                <a:solidFill>
                  <a:srgbClr val="2E2E2E"/>
                </a:solidFill>
                <a:latin typeface="Calibri"/>
              </a:rPr>
              <a:t>MT by 2036 end, at a CAGR of</a:t>
            </a:r>
          </a:p>
        </p:txBody>
      </p:sp>
      <p:pic>
        <p:nvPicPr>
          <p:cNvPr id="49" name="Picture 48" descr="lock.png"/>
          <p:cNvPicPr>
            <a:picLocks noChangeAspect="1"/>
          </p:cNvPicPr>
          <p:nvPr/>
        </p:nvPicPr>
        <p:blipFill>
          <a:blip r:embed="rId6"/>
          <a:stretch>
            <a:fillRect/>
          </a:stretch>
        </p:blipFill>
        <p:spPr>
          <a:xfrm>
            <a:off x="7708038" y="5768022"/>
            <a:ext cx="134549" cy="195707"/>
          </a:xfrm>
          <a:prstGeom prst="rect">
            <a:avLst/>
          </a:prstGeom>
        </p:spPr>
      </p:pic>
      <p:sp>
        <p:nvSpPr>
          <p:cNvPr id="50" name="TextBox 49"/>
          <p:cNvSpPr txBox="1"/>
          <p:nvPr/>
        </p:nvSpPr>
        <p:spPr>
          <a:xfrm>
            <a:off x="7883147" y="5778245"/>
            <a:ext cx="3395699" cy="194310"/>
          </a:xfrm>
          <a:prstGeom prst="rect">
            <a:avLst/>
          </a:prstGeom>
          <a:noFill/>
        </p:spPr>
        <p:txBody>
          <a:bodyPr wrap="none" lIns="0" tIns="0" rIns="0" bIns="0">
            <a:spAutoFit/>
          </a:bodyPr>
          <a:lstStyle/>
          <a:p>
            <a:r>
              <a:rPr sz="1150" b="0">
                <a:solidFill>
                  <a:srgbClr val="2E2E2E"/>
                </a:solidFill>
                <a:latin typeface="Calibri"/>
              </a:rPr>
              <a:t>. Value is projected to grow faster than volume over the</a:t>
            </a:r>
          </a:p>
        </p:txBody>
      </p:sp>
      <p:sp>
        <p:nvSpPr>
          <p:cNvPr id="51" name="TextBox 50"/>
          <p:cNvSpPr txBox="1"/>
          <p:nvPr/>
        </p:nvSpPr>
        <p:spPr>
          <a:xfrm>
            <a:off x="276225" y="5953505"/>
            <a:ext cx="3701206" cy="194310"/>
          </a:xfrm>
          <a:prstGeom prst="rect">
            <a:avLst/>
          </a:prstGeom>
          <a:noFill/>
        </p:spPr>
        <p:txBody>
          <a:bodyPr wrap="none" lIns="0" tIns="0" rIns="0" bIns="0">
            <a:spAutoFit/>
          </a:bodyPr>
          <a:lstStyle/>
          <a:p>
            <a:r>
              <a:rPr sz="1150" b="0">
                <a:solidFill>
                  <a:srgbClr val="2E2E2E"/>
                </a:solidFill>
                <a:latin typeface="Calibri"/>
              </a:rPr>
              <a:t>forecast period, owing to an increase in average selling price.</a:t>
            </a:r>
          </a:p>
        </p:txBody>
      </p:sp>
      <p:sp>
        <p:nvSpPr>
          <p:cNvPr id="52"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38125" y="1064411"/>
            <a:ext cx="3743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xmlns:r="http://schemas.openxmlformats.org/officeDocument/2006/relationships" r:id="rId4"/>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14" name="Table 13"/>
          <p:cNvGraphicFramePr>
            <a:graphicFrameLocks noGrp="1"/>
          </p:cNvGraphicFramePr>
          <p:nvPr/>
        </p:nvGraphicFramePr>
        <p:xfrm>
          <a:off x="152400" y="3565964"/>
          <a:ext cx="3914776" cy="2132071"/>
        </p:xfrm>
        <a:graphic>
          <a:graphicData uri="http://schemas.openxmlformats.org/drawingml/2006/table">
            <a:tbl>
              <a:tblPr>
                <a:tableStyleId>{5C22544A-7EE6-4342-B048-85BDC9FD1C3A}</a:tableStyleId>
              </a:tblPr>
              <a:tblGrid>
                <a:gridCol w="1026891">
                  <a:extLst>
                    <a:ext uri="{9D8B030D-6E8A-4147-A177-3AD203B41FA5}">
                      <a16:colId xmlns:a16="http://schemas.microsoft.com/office/drawing/2014/main" val="20000"/>
                    </a:ext>
                  </a:extLst>
                </a:gridCol>
                <a:gridCol w="965533">
                  <a:extLst>
                    <a:ext uri="{9D8B030D-6E8A-4147-A177-3AD203B41FA5}">
                      <a16:colId xmlns:a16="http://schemas.microsoft.com/office/drawing/2014/main" val="20001"/>
                    </a:ext>
                  </a:extLst>
                </a:gridCol>
                <a:gridCol w="658971">
                  <a:extLst>
                    <a:ext uri="{9D8B030D-6E8A-4147-A177-3AD203B41FA5}">
                      <a16:colId xmlns:a16="http://schemas.microsoft.com/office/drawing/2014/main" val="20002"/>
                    </a:ext>
                  </a:extLst>
                </a:gridCol>
                <a:gridCol w="1263381">
                  <a:extLst>
                    <a:ext uri="{9D8B030D-6E8A-4147-A177-3AD203B41FA5}">
                      <a16:colId xmlns:a16="http://schemas.microsoft.com/office/drawing/2014/main" val="20003"/>
                    </a:ext>
                  </a:extLst>
                </a:gridCol>
              </a:tblGrid>
              <a:tr h="246126">
                <a:tc>
                  <a:txBody>
                    <a:bodyPr/>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 Opp (US$ Mn)</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377189">
                <a:tc>
                  <a:txBody>
                    <a:bodyPr/>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377189">
                <a:tc>
                  <a:txBody>
                    <a:bodyPr/>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377189">
                <a:tc>
                  <a:txBody>
                    <a:bodyPr/>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377189">
                <a:tc>
                  <a:txBody>
                    <a:bodyPr/>
                    <a:lstStyle/>
                    <a:p>
                      <a:pPr algn="l"/>
                      <a:r>
                        <a:rPr sz="1100" b="1">
                          <a:solidFill>
                            <a:srgbClr val="2E2E2E"/>
                          </a:solidFill>
                          <a:latin typeface="Calibri"/>
                        </a:rPr>
                        <a:t>Netherlands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377189">
                <a:tc>
                  <a:txBody>
                    <a:bodyPr/>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bl>
          </a:graphicData>
        </a:graphic>
      </p:graphicFrame>
      <p:sp>
        <p:nvSpPr>
          <p:cNvPr id="15" name="TextBox 14"/>
          <p:cNvSpPr txBox="1"/>
          <p:nvPr/>
        </p:nvSpPr>
        <p:spPr>
          <a:xfrm>
            <a:off x="219075" y="5707558"/>
            <a:ext cx="37814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210050" y="1064411"/>
            <a:ext cx="3743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2" cy="2006502"/>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6584082" y="1293011"/>
            <a:ext cx="1369293" cy="200650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20" name="Rectangle 19"/>
          <p:cNvSpPr/>
          <p:nvPr/>
        </p:nvSpPr>
        <p:spPr>
          <a:xfrm>
            <a:off x="4210050" y="3299513"/>
            <a:ext cx="1578545" cy="1457892"/>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1" name="Rectangle 20"/>
          <p:cNvSpPr/>
          <p:nvPr/>
        </p:nvSpPr>
        <p:spPr>
          <a:xfrm>
            <a:off x="4210050" y="4757405"/>
            <a:ext cx="1578545" cy="1121205"/>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China</a:t>
            </a:r>
          </a:p>
          <a:p>
            <a:pPr algn="ctr"/>
            <a:r>
              <a:rPr sz="1100" b="0">
                <a:solidFill>
                  <a:srgbClr val="FFFFFF"/>
                </a:solidFill>
                <a:latin typeface="Calibri"/>
              </a:rPr>
              <a:t> </a:t>
            </a:r>
          </a:p>
        </p:txBody>
      </p:sp>
      <p:sp>
        <p:nvSpPr>
          <p:cNvPr id="22" name="Rectangle 21"/>
          <p:cNvSpPr/>
          <p:nvPr/>
        </p:nvSpPr>
        <p:spPr>
          <a:xfrm>
            <a:off x="5788595" y="3299513"/>
            <a:ext cx="1171896" cy="111672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India</a:t>
            </a:r>
          </a:p>
          <a:p>
            <a:pPr algn="ctr"/>
            <a:r>
              <a:rPr sz="1100" b="0">
                <a:solidFill>
                  <a:srgbClr val="FFFFFF"/>
                </a:solidFill>
                <a:latin typeface="Calibri"/>
              </a:rPr>
              <a:t> </a:t>
            </a:r>
          </a:p>
        </p:txBody>
      </p:sp>
      <p:sp>
        <p:nvSpPr>
          <p:cNvPr id="23" name="Rectangle 22"/>
          <p:cNvSpPr/>
          <p:nvPr/>
        </p:nvSpPr>
        <p:spPr>
          <a:xfrm>
            <a:off x="6960491" y="3299513"/>
            <a:ext cx="992884" cy="1116729"/>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Brazil</a:t>
            </a:r>
          </a:p>
          <a:p>
            <a:pPr algn="ctr"/>
            <a:r>
              <a:rPr sz="1100" b="0">
                <a:solidFill>
                  <a:srgbClr val="FFFFFF"/>
                </a:solidFill>
                <a:latin typeface="Calibri"/>
              </a:rPr>
              <a:t> </a:t>
            </a:r>
          </a:p>
        </p:txBody>
      </p:sp>
      <p:sp>
        <p:nvSpPr>
          <p:cNvPr id="24" name="Rectangle 23"/>
          <p:cNvSpPr/>
          <p:nvPr/>
        </p:nvSpPr>
        <p:spPr>
          <a:xfrm>
            <a:off x="5788595" y="4416242"/>
            <a:ext cx="1177393" cy="815964"/>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U.K.</a:t>
            </a:r>
          </a:p>
          <a:p>
            <a:pPr algn="ctr"/>
            <a:r>
              <a:rPr sz="1100" b="0">
                <a:solidFill>
                  <a:srgbClr val="FFFFFF"/>
                </a:solidFill>
                <a:latin typeface="Calibri"/>
              </a:rPr>
              <a:t> </a:t>
            </a:r>
          </a:p>
        </p:txBody>
      </p:sp>
      <p:sp>
        <p:nvSpPr>
          <p:cNvPr id="25" name="Rectangle 24"/>
          <p:cNvSpPr/>
          <p:nvPr/>
        </p:nvSpPr>
        <p:spPr>
          <a:xfrm>
            <a:off x="5788595" y="5232205"/>
            <a:ext cx="1177393" cy="646404"/>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Japan</a:t>
            </a:r>
          </a:p>
          <a:p>
            <a:pPr algn="ctr"/>
            <a:r>
              <a:rPr sz="1100" b="0">
                <a:solidFill>
                  <a:srgbClr val="FFFFFF"/>
                </a:solidFill>
                <a:latin typeface="Calibri"/>
              </a:rPr>
              <a:t> </a:t>
            </a:r>
          </a:p>
        </p:txBody>
      </p:sp>
      <p:sp>
        <p:nvSpPr>
          <p:cNvPr id="26" name="Rectangle 25"/>
          <p:cNvSpPr/>
          <p:nvPr/>
        </p:nvSpPr>
        <p:spPr>
          <a:xfrm>
            <a:off x="6965988" y="4416242"/>
            <a:ext cx="987387" cy="75735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7" name="Rectangle 26"/>
          <p:cNvSpPr/>
          <p:nvPr/>
        </p:nvSpPr>
        <p:spPr>
          <a:xfrm>
            <a:off x="6965988" y="5173599"/>
            <a:ext cx="987387" cy="705010"/>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8181975" y="1064411"/>
            <a:ext cx="3743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xmlns:r="http://schemas.openxmlformats.org/officeDocument/2006/relationships" r:id="rId5"/>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32" name="Table 31"/>
          <p:cNvGraphicFramePr>
            <a:graphicFrameLocks noGrp="1"/>
          </p:cNvGraphicFramePr>
          <p:nvPr/>
        </p:nvGraphicFramePr>
        <p:xfrm>
          <a:off x="8096250" y="3547710"/>
          <a:ext cx="3914776" cy="2159451"/>
        </p:xfrm>
        <a:graphic>
          <a:graphicData uri="http://schemas.openxmlformats.org/drawingml/2006/table">
            <a:tbl>
              <a:tblPr>
                <a:tableStyleId>{5C22544A-7EE6-4342-B048-85BDC9FD1C3A}</a:tableStyleId>
              </a:tblPr>
              <a:tblGrid>
                <a:gridCol w="671383">
                  <a:extLst>
                    <a:ext uri="{9D8B030D-6E8A-4147-A177-3AD203B41FA5}">
                      <a16:colId xmlns:a16="http://schemas.microsoft.com/office/drawing/2014/main" val="20000"/>
                    </a:ext>
                  </a:extLst>
                </a:gridCol>
                <a:gridCol w="1081131">
                  <a:extLst>
                    <a:ext uri="{9D8B030D-6E8A-4147-A177-3AD203B41FA5}">
                      <a16:colId xmlns:a16="http://schemas.microsoft.com/office/drawing/2014/main" val="20001"/>
                    </a:ext>
                  </a:extLst>
                </a:gridCol>
                <a:gridCol w="1081131">
                  <a:extLst>
                    <a:ext uri="{9D8B030D-6E8A-4147-A177-3AD203B41FA5}">
                      <a16:colId xmlns:a16="http://schemas.microsoft.com/office/drawing/2014/main" val="20002"/>
                    </a:ext>
                  </a:extLst>
                </a:gridCol>
                <a:gridCol w="1081131">
                  <a:extLst>
                    <a:ext uri="{9D8B030D-6E8A-4147-A177-3AD203B41FA5}">
                      <a16:colId xmlns:a16="http://schemas.microsoft.com/office/drawing/2014/main" val="20003"/>
                    </a:ext>
                  </a:extLst>
                </a:gridCol>
              </a:tblGrid>
              <a:tr h="246126">
                <a:tc>
                  <a:txBody>
                    <a:bodyPr/>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 Opp (US$ Mn)</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382665">
                <a:tc>
                  <a:txBody>
                    <a:bodyPr/>
                    <a:lstStyle/>
                    <a:p>
                      <a:pPr algn="l"/>
                      <a:r>
                        <a:rPr sz="1100" b="1">
                          <a:solidFill>
                            <a:srgbClr val="2E2E2E"/>
                          </a:solidFill>
                          <a:latin typeface="Calibri"/>
                        </a:rPr>
                        <a:t>U.S.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382665">
                <a:tc>
                  <a:txBody>
                    <a:bodyPr/>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382665">
                <a:tc>
                  <a:txBody>
                    <a:bodyPr/>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382665">
                <a:tc>
                  <a:txBody>
                    <a:bodyPr/>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382665">
                <a:tc>
                  <a:txBody>
                    <a:bodyPr/>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bl>
          </a:graphicData>
        </a:graphic>
      </p:graphicFrame>
      <p:sp>
        <p:nvSpPr>
          <p:cNvPr id="33" name="TextBox 32"/>
          <p:cNvSpPr txBox="1"/>
          <p:nvPr/>
        </p:nvSpPr>
        <p:spPr>
          <a:xfrm>
            <a:off x="8162925" y="5716684"/>
            <a:ext cx="37814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35" name="TextBox 3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6" name="Picture 35" descr="lock.png"/>
          <p:cNvPicPr>
            <a:picLocks noChangeAspect="1"/>
          </p:cNvPicPr>
          <p:nvPr/>
        </p:nvPicPr>
        <p:blipFill>
          <a:blip r:embed="rId6"/>
          <a:stretch>
            <a:fillRect/>
          </a:stretch>
        </p:blipFill>
        <p:spPr>
          <a:xfrm>
            <a:off x="3188017" y="2125483"/>
            <a:ext cx="183356" cy="266700"/>
          </a:xfrm>
          <a:prstGeom prst="rect">
            <a:avLst/>
          </a:prstGeom>
        </p:spPr>
      </p:pic>
      <p:pic>
        <p:nvPicPr>
          <p:cNvPr id="37" name="Picture 36" descr="lock.png"/>
          <p:cNvPicPr>
            <a:picLocks noChangeAspect="1"/>
          </p:cNvPicPr>
          <p:nvPr/>
        </p:nvPicPr>
        <p:blipFill>
          <a:blip r:embed="rId6"/>
          <a:stretch>
            <a:fillRect/>
          </a:stretch>
        </p:blipFill>
        <p:spPr>
          <a:xfrm>
            <a:off x="2454153" y="4513519"/>
            <a:ext cx="332122" cy="483086"/>
          </a:xfrm>
          <a:prstGeom prst="rect">
            <a:avLst/>
          </a:prstGeom>
        </p:spPr>
      </p:pic>
      <p:pic>
        <p:nvPicPr>
          <p:cNvPr id="38" name="Picture 37" descr="lock.png"/>
          <p:cNvPicPr>
            <a:picLocks noChangeAspect="1"/>
          </p:cNvPicPr>
          <p:nvPr/>
        </p:nvPicPr>
        <p:blipFill>
          <a:blip r:embed="rId6"/>
          <a:stretch>
            <a:fillRect/>
          </a:stretch>
        </p:blipFill>
        <p:spPr>
          <a:xfrm>
            <a:off x="5339440" y="2296262"/>
            <a:ext cx="115252" cy="167639"/>
          </a:xfrm>
          <a:prstGeom prst="rect">
            <a:avLst/>
          </a:prstGeom>
        </p:spPr>
      </p:pic>
      <p:pic>
        <p:nvPicPr>
          <p:cNvPr id="39" name="Picture 38" descr="lock.png"/>
          <p:cNvPicPr>
            <a:picLocks noChangeAspect="1"/>
          </p:cNvPicPr>
          <p:nvPr/>
        </p:nvPicPr>
        <p:blipFill>
          <a:blip r:embed="rId6"/>
          <a:stretch>
            <a:fillRect/>
          </a:stretch>
        </p:blipFill>
        <p:spPr>
          <a:xfrm>
            <a:off x="7211102" y="2296262"/>
            <a:ext cx="115252" cy="167639"/>
          </a:xfrm>
          <a:prstGeom prst="rect">
            <a:avLst/>
          </a:prstGeom>
        </p:spPr>
      </p:pic>
      <p:pic>
        <p:nvPicPr>
          <p:cNvPr id="40" name="Picture 39" descr="lock.png"/>
          <p:cNvPicPr>
            <a:picLocks noChangeAspect="1"/>
          </p:cNvPicPr>
          <p:nvPr/>
        </p:nvPicPr>
        <p:blipFill>
          <a:blip r:embed="rId6"/>
          <a:stretch>
            <a:fillRect/>
          </a:stretch>
        </p:blipFill>
        <p:spPr>
          <a:xfrm>
            <a:off x="4941696" y="4028459"/>
            <a:ext cx="115252" cy="167639"/>
          </a:xfrm>
          <a:prstGeom prst="rect">
            <a:avLst/>
          </a:prstGeom>
        </p:spPr>
      </p:pic>
      <p:pic>
        <p:nvPicPr>
          <p:cNvPr id="41" name="Picture 40" descr="lock.png"/>
          <p:cNvPicPr>
            <a:picLocks noChangeAspect="1"/>
          </p:cNvPicPr>
          <p:nvPr/>
        </p:nvPicPr>
        <p:blipFill>
          <a:blip r:embed="rId6"/>
          <a:stretch>
            <a:fillRect/>
          </a:stretch>
        </p:blipFill>
        <p:spPr>
          <a:xfrm>
            <a:off x="4941696" y="5318007"/>
            <a:ext cx="115252" cy="167639"/>
          </a:xfrm>
          <a:prstGeom prst="rect">
            <a:avLst/>
          </a:prstGeom>
        </p:spPr>
      </p:pic>
      <p:pic>
        <p:nvPicPr>
          <p:cNvPr id="42" name="Picture 41" descr="lock.png"/>
          <p:cNvPicPr>
            <a:picLocks noChangeAspect="1"/>
          </p:cNvPicPr>
          <p:nvPr/>
        </p:nvPicPr>
        <p:blipFill>
          <a:blip r:embed="rId6"/>
          <a:stretch>
            <a:fillRect/>
          </a:stretch>
        </p:blipFill>
        <p:spPr>
          <a:xfrm>
            <a:off x="6316917" y="3857877"/>
            <a:ext cx="115252" cy="167639"/>
          </a:xfrm>
          <a:prstGeom prst="rect">
            <a:avLst/>
          </a:prstGeom>
        </p:spPr>
      </p:pic>
      <p:pic>
        <p:nvPicPr>
          <p:cNvPr id="43" name="Picture 42" descr="lock.png"/>
          <p:cNvPicPr>
            <a:picLocks noChangeAspect="1"/>
          </p:cNvPicPr>
          <p:nvPr/>
        </p:nvPicPr>
        <p:blipFill>
          <a:blip r:embed="rId6"/>
          <a:stretch>
            <a:fillRect/>
          </a:stretch>
        </p:blipFill>
        <p:spPr>
          <a:xfrm>
            <a:off x="7399307" y="3857877"/>
            <a:ext cx="115252" cy="167639"/>
          </a:xfrm>
          <a:prstGeom prst="rect">
            <a:avLst/>
          </a:prstGeom>
        </p:spPr>
      </p:pic>
      <p:pic>
        <p:nvPicPr>
          <p:cNvPr id="44" name="Picture 43" descr="lock.png"/>
          <p:cNvPicPr>
            <a:picLocks noChangeAspect="1"/>
          </p:cNvPicPr>
          <p:nvPr/>
        </p:nvPicPr>
        <p:blipFill>
          <a:blip r:embed="rId6"/>
          <a:stretch>
            <a:fillRect/>
          </a:stretch>
        </p:blipFill>
        <p:spPr>
          <a:xfrm>
            <a:off x="6319665" y="4824224"/>
            <a:ext cx="115252" cy="167639"/>
          </a:xfrm>
          <a:prstGeom prst="rect">
            <a:avLst/>
          </a:prstGeom>
        </p:spPr>
      </p:pic>
      <p:pic>
        <p:nvPicPr>
          <p:cNvPr id="45" name="Picture 44" descr="lock.png"/>
          <p:cNvPicPr>
            <a:picLocks noChangeAspect="1"/>
          </p:cNvPicPr>
          <p:nvPr/>
        </p:nvPicPr>
        <p:blipFill>
          <a:blip r:embed="rId6"/>
          <a:stretch>
            <a:fillRect/>
          </a:stretch>
        </p:blipFill>
        <p:spPr>
          <a:xfrm>
            <a:off x="6319665" y="5555407"/>
            <a:ext cx="115252" cy="167639"/>
          </a:xfrm>
          <a:prstGeom prst="rect">
            <a:avLst/>
          </a:prstGeom>
        </p:spPr>
      </p:pic>
      <p:pic>
        <p:nvPicPr>
          <p:cNvPr id="46" name="Picture 45" descr="lock.png"/>
          <p:cNvPicPr>
            <a:picLocks noChangeAspect="1"/>
          </p:cNvPicPr>
          <p:nvPr/>
        </p:nvPicPr>
        <p:blipFill>
          <a:blip r:embed="rId6"/>
          <a:stretch>
            <a:fillRect/>
          </a:stretch>
        </p:blipFill>
        <p:spPr>
          <a:xfrm>
            <a:off x="7402055" y="4794921"/>
            <a:ext cx="115252" cy="167639"/>
          </a:xfrm>
          <a:prstGeom prst="rect">
            <a:avLst/>
          </a:prstGeom>
        </p:spPr>
      </p:pic>
      <p:pic>
        <p:nvPicPr>
          <p:cNvPr id="47" name="Picture 46" descr="lock.png"/>
          <p:cNvPicPr>
            <a:picLocks noChangeAspect="1"/>
          </p:cNvPicPr>
          <p:nvPr/>
        </p:nvPicPr>
        <p:blipFill>
          <a:blip r:embed="rId6"/>
          <a:stretch>
            <a:fillRect/>
          </a:stretch>
        </p:blipFill>
        <p:spPr>
          <a:xfrm>
            <a:off x="7402055" y="5526103"/>
            <a:ext cx="115252" cy="167639"/>
          </a:xfrm>
          <a:prstGeom prst="rect">
            <a:avLst/>
          </a:prstGeom>
        </p:spPr>
      </p:pic>
      <p:pic>
        <p:nvPicPr>
          <p:cNvPr id="48" name="Picture 47" descr="lock.png"/>
          <p:cNvPicPr>
            <a:picLocks noChangeAspect="1"/>
          </p:cNvPicPr>
          <p:nvPr/>
        </p:nvPicPr>
        <p:blipFill>
          <a:blip r:embed="rId6"/>
          <a:stretch>
            <a:fillRect/>
          </a:stretch>
        </p:blipFill>
        <p:spPr>
          <a:xfrm>
            <a:off x="11131867" y="2120920"/>
            <a:ext cx="183356" cy="266700"/>
          </a:xfrm>
          <a:prstGeom prst="rect">
            <a:avLst/>
          </a:prstGeom>
        </p:spPr>
      </p:pic>
      <p:pic>
        <p:nvPicPr>
          <p:cNvPr id="49" name="Picture 48" descr="lock.png"/>
          <p:cNvPicPr>
            <a:picLocks noChangeAspect="1"/>
          </p:cNvPicPr>
          <p:nvPr/>
        </p:nvPicPr>
        <p:blipFill>
          <a:blip r:embed="rId6"/>
          <a:stretch>
            <a:fillRect/>
          </a:stretch>
        </p:blipFill>
        <p:spPr>
          <a:xfrm>
            <a:off x="10208848" y="4492667"/>
            <a:ext cx="354517" cy="515661"/>
          </a:xfrm>
          <a:prstGeom prst="rect">
            <a:avLst/>
          </a:prstGeom>
        </p:spPr>
      </p:pic>
      <p:sp>
        <p:nvSpPr>
          <p:cNvPr id="50" name="TextBox 49"/>
          <p:cNvSpPr txBox="1"/>
          <p:nvPr/>
        </p:nvSpPr>
        <p:spPr>
          <a:xfrm>
            <a:off x="257175" y="6160574"/>
            <a:ext cx="3484934" cy="186689"/>
          </a:xfrm>
          <a:prstGeom prst="rect">
            <a:avLst/>
          </a:prstGeom>
          <a:noFill/>
        </p:spPr>
        <p:txBody>
          <a:bodyPr wrap="none" lIns="0" tIns="0" rIns="0" bIns="0">
            <a:spAutoFit/>
          </a:bodyPr>
          <a:lstStyle/>
          <a:p>
            <a:r>
              <a:rPr sz="1100" b="0">
                <a:solidFill>
                  <a:srgbClr val="2E2E2E"/>
                </a:solidFill>
                <a:latin typeface="Calibri"/>
              </a:rPr>
              <a:t>The U.S. corrugated partition market is projected to register</a:t>
            </a:r>
          </a:p>
        </p:txBody>
      </p:sp>
      <p:pic>
        <p:nvPicPr>
          <p:cNvPr id="51" name="Picture 50" descr="lock.png"/>
          <p:cNvPicPr>
            <a:picLocks noChangeAspect="1"/>
          </p:cNvPicPr>
          <p:nvPr/>
        </p:nvPicPr>
        <p:blipFill>
          <a:blip r:embed="rId6"/>
          <a:stretch>
            <a:fillRect/>
          </a:stretch>
        </p:blipFill>
        <p:spPr>
          <a:xfrm>
            <a:off x="3690161" y="6150795"/>
            <a:ext cx="128699" cy="187198"/>
          </a:xfrm>
          <a:prstGeom prst="rect">
            <a:avLst/>
          </a:prstGeom>
        </p:spPr>
      </p:pic>
      <p:sp>
        <p:nvSpPr>
          <p:cNvPr id="52" name="TextBox 51"/>
          <p:cNvSpPr txBox="1"/>
          <p:nvPr/>
        </p:nvSpPr>
        <p:spPr>
          <a:xfrm>
            <a:off x="3857656" y="6160574"/>
            <a:ext cx="4298833" cy="186689"/>
          </a:xfrm>
          <a:prstGeom prst="rect">
            <a:avLst/>
          </a:prstGeom>
          <a:noFill/>
        </p:spPr>
        <p:txBody>
          <a:bodyPr wrap="none" lIns="0" tIns="0" rIns="0" bIns="0">
            <a:spAutoFit/>
          </a:bodyPr>
          <a:lstStyle/>
          <a:p>
            <a:r>
              <a:rPr sz="1100" b="0">
                <a:solidFill>
                  <a:srgbClr val="2E2E2E"/>
                </a:solidFill>
                <a:latin typeface="Calibri"/>
              </a:rPr>
              <a:t>X higher value than Germany in 2036. India posts the highest CAGR Index (</a:t>
            </a:r>
          </a:p>
        </p:txBody>
      </p:sp>
      <p:pic>
        <p:nvPicPr>
          <p:cNvPr id="53" name="Picture 52" descr="lock.png"/>
          <p:cNvPicPr>
            <a:picLocks noChangeAspect="1"/>
          </p:cNvPicPr>
          <p:nvPr/>
        </p:nvPicPr>
        <p:blipFill>
          <a:blip r:embed="rId6"/>
          <a:stretch>
            <a:fillRect/>
          </a:stretch>
        </p:blipFill>
        <p:spPr>
          <a:xfrm>
            <a:off x="8104542" y="6150795"/>
            <a:ext cx="128699" cy="187198"/>
          </a:xfrm>
          <a:prstGeom prst="rect">
            <a:avLst/>
          </a:prstGeom>
        </p:spPr>
      </p:pic>
      <p:sp>
        <p:nvSpPr>
          <p:cNvPr id="54" name="TextBox 53"/>
          <p:cNvSpPr txBox="1"/>
          <p:nvPr/>
        </p:nvSpPr>
        <p:spPr>
          <a:xfrm>
            <a:off x="8272038" y="6160574"/>
            <a:ext cx="789979" cy="186689"/>
          </a:xfrm>
          <a:prstGeom prst="rect">
            <a:avLst/>
          </a:prstGeom>
          <a:noFill/>
        </p:spPr>
        <p:txBody>
          <a:bodyPr wrap="none" lIns="0" tIns="0" rIns="0" bIns="0">
            <a:spAutoFit/>
          </a:bodyPr>
          <a:lstStyle/>
          <a:p>
            <a:r>
              <a:rPr sz="1100" b="0">
                <a:solidFill>
                  <a:srgbClr val="2E2E2E"/>
                </a:solidFill>
                <a:latin typeface="Calibri"/>
              </a:rPr>
              <a:t>), growing at</a:t>
            </a:r>
          </a:p>
        </p:txBody>
      </p:sp>
      <p:pic>
        <p:nvPicPr>
          <p:cNvPr id="55" name="Picture 54" descr="lock.png"/>
          <p:cNvPicPr>
            <a:picLocks noChangeAspect="1"/>
          </p:cNvPicPr>
          <p:nvPr/>
        </p:nvPicPr>
        <p:blipFill>
          <a:blip r:embed="rId6"/>
          <a:stretch>
            <a:fillRect/>
          </a:stretch>
        </p:blipFill>
        <p:spPr>
          <a:xfrm>
            <a:off x="9010069" y="6150795"/>
            <a:ext cx="128699" cy="187198"/>
          </a:xfrm>
          <a:prstGeom prst="rect">
            <a:avLst/>
          </a:prstGeom>
        </p:spPr>
      </p:pic>
      <p:sp>
        <p:nvSpPr>
          <p:cNvPr id="56" name="TextBox 55"/>
          <p:cNvSpPr txBox="1"/>
          <p:nvPr/>
        </p:nvSpPr>
        <p:spPr>
          <a:xfrm>
            <a:off x="9177565" y="6160574"/>
            <a:ext cx="1080020" cy="186689"/>
          </a:xfrm>
          <a:prstGeom prst="rect">
            <a:avLst/>
          </a:prstGeom>
          <a:noFill/>
        </p:spPr>
        <p:txBody>
          <a:bodyPr wrap="none" lIns="0" tIns="0" rIns="0" bIns="0">
            <a:spAutoFit/>
          </a:bodyPr>
          <a:lstStyle/>
          <a:p>
            <a:r>
              <a:rPr sz="1100" b="0">
                <a:solidFill>
                  <a:srgbClr val="2E2E2E"/>
                </a:solidFill>
                <a:latin typeface="Calibri"/>
              </a:rPr>
              <a:t>against the global</a:t>
            </a:r>
          </a:p>
        </p:txBody>
      </p:sp>
      <p:sp>
        <p:nvSpPr>
          <p:cNvPr id="57" name="TextBox 56"/>
          <p:cNvSpPr txBox="1"/>
          <p:nvPr/>
        </p:nvSpPr>
        <p:spPr>
          <a:xfrm>
            <a:off x="257175" y="6328214"/>
            <a:ext cx="3580159" cy="186689"/>
          </a:xfrm>
          <a:prstGeom prst="rect">
            <a:avLst/>
          </a:prstGeom>
          <a:noFill/>
        </p:spPr>
        <p:txBody>
          <a:bodyPr wrap="none" lIns="0" tIns="0" rIns="0" bIns="0">
            <a:spAutoFit/>
          </a:bodyPr>
          <a:lstStyle/>
          <a:p>
            <a:r>
              <a:rPr sz="1100" b="0">
                <a:solidFill>
                  <a:srgbClr val="2E2E2E"/>
                </a:solidFill>
                <a:latin typeface="Calibri"/>
              </a:rPr>
              <a:t>benchmark, while U.S. offers the largest absolute opportunity</a:t>
            </a:r>
          </a:p>
        </p:txBody>
      </p:sp>
      <p:pic>
        <p:nvPicPr>
          <p:cNvPr id="58" name="Picture 57" descr="lock.png"/>
          <p:cNvPicPr>
            <a:picLocks noChangeAspect="1"/>
          </p:cNvPicPr>
          <p:nvPr/>
        </p:nvPicPr>
        <p:blipFill>
          <a:blip r:embed="rId6"/>
          <a:stretch>
            <a:fillRect/>
          </a:stretch>
        </p:blipFill>
        <p:spPr>
          <a:xfrm>
            <a:off x="3785386" y="6318435"/>
            <a:ext cx="128699" cy="187198"/>
          </a:xfrm>
          <a:prstGeom prst="rect">
            <a:avLst/>
          </a:prstGeom>
        </p:spPr>
      </p:pic>
      <p:sp>
        <p:nvSpPr>
          <p:cNvPr id="59" name="TextBox 58"/>
          <p:cNvSpPr txBox="1"/>
          <p:nvPr/>
        </p:nvSpPr>
        <p:spPr>
          <a:xfrm>
            <a:off x="3952882" y="6328214"/>
            <a:ext cx="3311946" cy="186689"/>
          </a:xfrm>
          <a:prstGeom prst="rect">
            <a:avLst/>
          </a:prstGeom>
          <a:noFill/>
        </p:spPr>
        <p:txBody>
          <a:bodyPr wrap="none" lIns="0" tIns="0" rIns="0" bIns="0">
            <a:spAutoFit/>
          </a:bodyPr>
          <a:lstStyle/>
          <a:p>
            <a:r>
              <a:rPr sz="1100" b="0">
                <a:solidFill>
                  <a:srgbClr val="2E2E2E"/>
                </a:solidFill>
                <a:latin typeface="Calibri"/>
              </a:rPr>
              <a:t>US$ Mn of incremental market between 2026 and 2036 (</a:t>
            </a:r>
          </a:p>
        </p:txBody>
      </p:sp>
      <p:pic>
        <p:nvPicPr>
          <p:cNvPr id="60" name="Picture 59" descr="lock.png"/>
          <p:cNvPicPr>
            <a:picLocks noChangeAspect="1"/>
          </p:cNvPicPr>
          <p:nvPr/>
        </p:nvPicPr>
        <p:blipFill>
          <a:blip r:embed="rId6"/>
          <a:stretch>
            <a:fillRect/>
          </a:stretch>
        </p:blipFill>
        <p:spPr>
          <a:xfrm>
            <a:off x="7212880" y="6318435"/>
            <a:ext cx="128699" cy="187198"/>
          </a:xfrm>
          <a:prstGeom prst="rect">
            <a:avLst/>
          </a:prstGeom>
        </p:spPr>
      </p:pic>
      <p:sp>
        <p:nvSpPr>
          <p:cNvPr id="61" name="TextBox 60"/>
          <p:cNvSpPr txBox="1"/>
          <p:nvPr/>
        </p:nvSpPr>
        <p:spPr>
          <a:xfrm>
            <a:off x="7380376" y="6328214"/>
            <a:ext cx="1483568" cy="186689"/>
          </a:xfrm>
          <a:prstGeom prst="rect">
            <a:avLst/>
          </a:prstGeom>
          <a:noFill/>
        </p:spPr>
        <p:txBody>
          <a:bodyPr wrap="none" lIns="0" tIns="0" rIns="0" bIns="0">
            <a:spAutoFit/>
          </a:bodyPr>
          <a:lstStyle/>
          <a:p>
            <a:r>
              <a:rPr sz="1100" b="0">
                <a:solidFill>
                  <a:srgbClr val="2E2E2E"/>
                </a:solidFill>
                <a:latin typeface="Calibri"/>
              </a:rPr>
              <a:t>of the global increment).</a:t>
            </a:r>
          </a:p>
        </p:txBody>
      </p:sp>
      <p:sp>
        <p:nvSpPr>
          <p:cNvPr id="62"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lockshield_30"/>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11" name="Table 10"/>
          <p:cNvGraphicFramePr>
            <a:graphicFrameLocks noGrp="1"/>
          </p:cNvGraphicFramePr>
          <p:nvPr/>
        </p:nvGraphicFramePr>
        <p:xfrm>
          <a:off x="152400" y="1057275"/>
          <a:ext cx="11887199" cy="1485896"/>
        </p:xfrm>
        <a:graphic>
          <a:graphicData uri="http://schemas.openxmlformats.org/drawingml/2006/table">
            <a:tbl>
              <a:tblPr>
                <a:tableStyleId>{5C22544A-7EE6-4342-B048-85BDC9FD1C3A}</a:tableStyleId>
              </a:tblPr>
              <a:tblGrid>
                <a:gridCol w="1994456">
                  <a:extLst>
                    <a:ext uri="{9D8B030D-6E8A-4147-A177-3AD203B41FA5}">
                      <a16:colId xmlns:a16="http://schemas.microsoft.com/office/drawing/2014/main" val="20000"/>
                    </a:ext>
                  </a:extLst>
                </a:gridCol>
                <a:gridCol w="3297581">
                  <a:extLst>
                    <a:ext uri="{9D8B030D-6E8A-4147-A177-3AD203B41FA5}">
                      <a16:colId xmlns:a16="http://schemas.microsoft.com/office/drawing/2014/main" val="20001"/>
                    </a:ext>
                  </a:extLst>
                </a:gridCol>
                <a:gridCol w="3297581">
                  <a:extLst>
                    <a:ext uri="{9D8B030D-6E8A-4147-A177-3AD203B41FA5}">
                      <a16:colId xmlns:a16="http://schemas.microsoft.com/office/drawing/2014/main" val="20002"/>
                    </a:ext>
                  </a:extLst>
                </a:gridCol>
                <a:gridCol w="3297581">
                  <a:extLst>
                    <a:ext uri="{9D8B030D-6E8A-4147-A177-3AD203B41FA5}">
                      <a16:colId xmlns:a16="http://schemas.microsoft.com/office/drawing/2014/main" val="20003"/>
                    </a:ext>
                  </a:extLst>
                </a:gridCol>
              </a:tblGrid>
              <a:tr h="246126">
                <a:tc>
                  <a:txBody>
                    <a:bodyPr/>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 Opp (US$ Mn)</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954">
                <a:tc>
                  <a:txBody>
                    <a:bodyPr/>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954">
                <a:tc>
                  <a:txBody>
                    <a:bodyPr/>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954">
                <a:tc>
                  <a:txBody>
                    <a:bodyPr/>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954">
                <a:tc>
                  <a:txBody>
                    <a:bodyPr/>
                    <a:lstStyle/>
                    <a:p>
                      <a:pPr algn="l"/>
                      <a:r>
                        <a:rPr sz="1100" b="1">
                          <a:solidFill>
                            <a:srgbClr val="2E2E2E"/>
                          </a:solidFill>
                          <a:latin typeface="Calibri"/>
                        </a:rPr>
                        <a:t>Malaysia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7954">
                <a:tc>
                  <a:txBody>
                    <a:bodyPr/>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bl>
          </a:graphicData>
        </a:graphic>
      </p:graphicFrame>
      <p:sp>
        <p:nvSpPr>
          <p:cNvPr id="12" name="TextBox 11"/>
          <p:cNvSpPr txBox="1"/>
          <p:nvPr/>
        </p:nvSpPr>
        <p:spPr>
          <a:xfrm>
            <a:off x="219075" y="25527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90512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14" name="Table 13"/>
          <p:cNvGraphicFramePr>
            <a:graphicFrameLocks noGrp="1"/>
          </p:cNvGraphicFramePr>
          <p:nvPr/>
        </p:nvGraphicFramePr>
        <p:xfrm>
          <a:off x="152400" y="2981325"/>
          <a:ext cx="11887200" cy="1485896"/>
        </p:xfrm>
        <a:graphic>
          <a:graphicData uri="http://schemas.openxmlformats.org/drawingml/2006/table">
            <a:tbl>
              <a:tblPr>
                <a:tableStyleId>{5C22544A-7EE6-4342-B048-85BDC9FD1C3A}</a:tableStyleId>
              </a:tblPr>
              <a:tblGrid>
                <a:gridCol w="1846407">
                  <a:extLst>
                    <a:ext uri="{9D8B030D-6E8A-4147-A177-3AD203B41FA5}">
                      <a16:colId xmlns:a16="http://schemas.microsoft.com/office/drawing/2014/main" val="20000"/>
                    </a:ext>
                  </a:extLst>
                </a:gridCol>
                <a:gridCol w="3346931">
                  <a:extLst>
                    <a:ext uri="{9D8B030D-6E8A-4147-A177-3AD203B41FA5}">
                      <a16:colId xmlns:a16="http://schemas.microsoft.com/office/drawing/2014/main" val="20001"/>
                    </a:ext>
                  </a:extLst>
                </a:gridCol>
                <a:gridCol w="3346931">
                  <a:extLst>
                    <a:ext uri="{9D8B030D-6E8A-4147-A177-3AD203B41FA5}">
                      <a16:colId xmlns:a16="http://schemas.microsoft.com/office/drawing/2014/main" val="20002"/>
                    </a:ext>
                  </a:extLst>
                </a:gridCol>
                <a:gridCol w="3346931">
                  <a:extLst>
                    <a:ext uri="{9D8B030D-6E8A-4147-A177-3AD203B41FA5}">
                      <a16:colId xmlns:a16="http://schemas.microsoft.com/office/drawing/2014/main" val="20003"/>
                    </a:ext>
                  </a:extLst>
                </a:gridCol>
              </a:tblGrid>
              <a:tr h="246126">
                <a:tc>
                  <a:txBody>
                    <a:bodyPr/>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 Opp (US$ Mn)</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954">
                <a:tc>
                  <a:txBody>
                    <a:bodyPr/>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954">
                <a:tc>
                  <a:txBody>
                    <a:bodyPr/>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954">
                <a:tc>
                  <a:txBody>
                    <a:bodyPr/>
                    <a:lstStyle/>
                    <a:p>
                      <a:pPr algn="l"/>
                      <a:r>
                        <a:rPr sz="1100" b="1">
                          <a:solidFill>
                            <a:srgbClr val="2E2E2E"/>
                          </a:solidFill>
                          <a:latin typeface="Calibri"/>
                        </a:rPr>
                        <a:t>U.K.</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954">
                <a:tc>
                  <a:txBody>
                    <a:bodyPr/>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7954">
                <a:tc>
                  <a:txBody>
                    <a:bodyPr/>
                    <a:lstStyle/>
                    <a:p>
                      <a:pPr algn="l"/>
                      <a:r>
                        <a:rPr sz="1100" b="1">
                          <a:solidFill>
                            <a:srgbClr val="2E2E2E"/>
                          </a:solidFill>
                          <a:latin typeface="Calibri"/>
                        </a:rPr>
                        <a:t>Turkey</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bl>
          </a:graphicData>
        </a:graphic>
      </p:graphicFrame>
      <p:sp>
        <p:nvSpPr>
          <p:cNvPr id="15" name="TextBox 14"/>
          <p:cNvSpPr txBox="1"/>
          <p:nvPr/>
        </p:nvSpPr>
        <p:spPr>
          <a:xfrm>
            <a:off x="219075" y="44767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4"/>
          <a:stretch>
            <a:fillRect/>
          </a:stretch>
        </p:blipFill>
        <p:spPr>
          <a:xfrm>
            <a:off x="6906537" y="1656588"/>
            <a:ext cx="366712" cy="533400"/>
          </a:xfrm>
          <a:prstGeom prst="rect">
            <a:avLst/>
          </a:prstGeom>
        </p:spPr>
      </p:pic>
      <p:pic>
        <p:nvPicPr>
          <p:cNvPr id="18" name="Picture 17" descr="lock.png"/>
          <p:cNvPicPr>
            <a:picLocks noChangeAspect="1"/>
          </p:cNvPicPr>
          <p:nvPr/>
        </p:nvPicPr>
        <p:blipFill>
          <a:blip r:embed="rId4"/>
          <a:stretch>
            <a:fillRect/>
          </a:stretch>
        </p:blipFill>
        <p:spPr>
          <a:xfrm>
            <a:off x="6832513" y="3580638"/>
            <a:ext cx="366712" cy="533400"/>
          </a:xfrm>
          <a:prstGeom prst="rect">
            <a:avLst/>
          </a:prstGeom>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76225" y="1066800"/>
            <a:ext cx="11639550" cy="209550"/>
          </a:xfrm>
          <a:prstGeom prst="rect">
            <a:avLst/>
          </a:prstGeom>
          <a:noFill/>
        </p:spPr>
        <p:txBody>
          <a:bodyPr wrap="square" lIns="0" tIns="9525" rIns="19050"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76225" y="1390650"/>
            <a:ext cx="11639550" cy="12001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4" name="Rounded Rectangle 13"/>
          <p:cNvSpPr/>
          <p:nvPr/>
        </p:nvSpPr>
        <p:spPr>
          <a:xfrm>
            <a:off x="142875" y="2800350"/>
            <a:ext cx="11906250" cy="1571625"/>
          </a:xfrm>
          <a:prstGeom prst="roundRect">
            <a:avLst>
              <a:gd name="adj" fmla="val 48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276225" y="2886075"/>
            <a:ext cx="11639550" cy="209550"/>
          </a:xfrm>
          <a:prstGeom prst="rect">
            <a:avLst/>
          </a:prstGeom>
          <a:noFill/>
        </p:spPr>
        <p:txBody>
          <a:bodyPr wrap="square" lIns="0" tIns="9525" rIns="19050" bIns="9525">
            <a:spAutoFit/>
          </a:bodyPr>
          <a:lstStyle/>
          <a:p>
            <a:pPr algn="l"/>
            <a:r>
              <a:rPr sz="1300" b="1">
                <a:solidFill>
                  <a:srgbClr val="0B2E4A"/>
                </a:solidFill>
                <a:latin typeface="Calibri"/>
              </a:rPr>
              <a:t>Competitive Landscape</a:t>
            </a:r>
          </a:p>
        </p:txBody>
      </p:sp>
      <p:sp>
        <p:nvSpPr>
          <p:cNvPr id="16" name="Rectangle 15"/>
          <p:cNvSpPr/>
          <p:nvPr/>
        </p:nvSpPr>
        <p:spPr>
          <a:xfrm>
            <a:off x="276225" y="31242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76225" y="3209925"/>
            <a:ext cx="11639550" cy="10858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8" name="Rounded Rectangle 17"/>
          <p:cNvSpPr/>
          <p:nvPr/>
        </p:nvSpPr>
        <p:spPr>
          <a:xfrm>
            <a:off x="142875" y="4505325"/>
            <a:ext cx="3943350"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76225" y="4591050"/>
            <a:ext cx="3676650" cy="209550"/>
          </a:xfrm>
          <a:prstGeom prst="rect">
            <a:avLst/>
          </a:prstGeom>
          <a:noFill/>
        </p:spPr>
        <p:txBody>
          <a:bodyPr wrap="square" lIns="0" tIns="9525" rIns="19050" bIns="9525">
            <a:spAutoFit/>
          </a:bodyPr>
          <a:lstStyle/>
          <a:p>
            <a:pPr algn="l"/>
            <a:r>
              <a:rPr sz="1300" b="1">
                <a:solidFill>
                  <a:srgbClr val="0B2E4A"/>
                </a:solidFill>
                <a:latin typeface="Calibri"/>
              </a:rPr>
              <a:t>Drivers</a:t>
            </a:r>
          </a:p>
        </p:txBody>
      </p:sp>
      <p:sp>
        <p:nvSpPr>
          <p:cNvPr id="20" name="Rectangle 19"/>
          <p:cNvSpPr/>
          <p:nvPr/>
        </p:nvSpPr>
        <p:spPr>
          <a:xfrm>
            <a:off x="276225" y="48291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76225" y="4914900"/>
            <a:ext cx="3676650" cy="163830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Rounded Rectangle 21"/>
          <p:cNvSpPr/>
          <p:nvPr/>
        </p:nvSpPr>
        <p:spPr>
          <a:xfrm>
            <a:off x="4238625"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4371975" y="4591050"/>
            <a:ext cx="3552825" cy="209550"/>
          </a:xfrm>
          <a:prstGeom prst="rect">
            <a:avLst/>
          </a:prstGeom>
          <a:noFill/>
        </p:spPr>
        <p:txBody>
          <a:bodyPr wrap="square" lIns="0" tIns="9525" rIns="19050" bIns="9525">
            <a:spAutoFit/>
          </a:bodyPr>
          <a:lstStyle/>
          <a:p>
            <a:pPr algn="l"/>
            <a:r>
              <a:rPr sz="1300" b="1">
                <a:solidFill>
                  <a:srgbClr val="0B2E4A"/>
                </a:solidFill>
                <a:latin typeface="Calibri"/>
              </a:rPr>
              <a:t>Restraints</a:t>
            </a:r>
          </a:p>
        </p:txBody>
      </p:sp>
      <p:sp>
        <p:nvSpPr>
          <p:cNvPr id="24" name="Rectangle 23"/>
          <p:cNvSpPr/>
          <p:nvPr/>
        </p:nvSpPr>
        <p:spPr>
          <a:xfrm>
            <a:off x="4371975"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4371975" y="4914900"/>
            <a:ext cx="3552825" cy="163830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6" name="Rounded Rectangle 25"/>
          <p:cNvSpPr/>
          <p:nvPr/>
        </p:nvSpPr>
        <p:spPr>
          <a:xfrm>
            <a:off x="8210550"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8343900" y="4591050"/>
            <a:ext cx="3552825" cy="209550"/>
          </a:xfrm>
          <a:prstGeom prst="rect">
            <a:avLst/>
          </a:prstGeom>
          <a:noFill/>
        </p:spPr>
        <p:txBody>
          <a:bodyPr wrap="square" lIns="0" tIns="9525" rIns="19050" bIns="9525">
            <a:spAutoFit/>
          </a:bodyPr>
          <a:lstStyle/>
          <a:p>
            <a:pPr algn="l"/>
            <a:r>
              <a:rPr sz="1300" b="1">
                <a:solidFill>
                  <a:srgbClr val="0B2E4A"/>
                </a:solidFill>
                <a:latin typeface="Calibri"/>
              </a:rPr>
              <a:t>Trends</a:t>
            </a:r>
          </a:p>
        </p:txBody>
      </p:sp>
      <p:sp>
        <p:nvSpPr>
          <p:cNvPr id="28" name="Rectangle 27"/>
          <p:cNvSpPr/>
          <p:nvPr/>
        </p:nvSpPr>
        <p:spPr>
          <a:xfrm>
            <a:off x="8343900"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8343900" y="4914900"/>
            <a:ext cx="3552825" cy="1638300"/>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'Flat Dividers &amp; Layer Pads'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3 partition type categories.</a:t>
            </a:r>
          </a:p>
        </p:txBody>
      </p:sp>
      <p:sp>
        <p:nvSpPr>
          <p:cNvPr id="30" name="TextBox 2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502099" cy="194310"/>
          </a:xfrm>
          <a:prstGeom prst="rect">
            <a:avLst/>
          </a:prstGeom>
          <a:noFill/>
        </p:spPr>
        <p:txBody>
          <a:bodyPr wrap="none" lIns="0" tIns="0" rIns="0" bIns="0">
            <a:spAutoFit/>
          </a:bodyPr>
          <a:lstStyle/>
          <a:p>
            <a:r>
              <a:rPr sz="1150" b="0">
                <a:solidFill>
                  <a:srgbClr val="2E2E2E"/>
                </a:solidFill>
                <a:latin typeface="Calibri"/>
              </a:rPr>
              <a:t>Global corrugated partition market is expected to witness</a:t>
            </a:r>
          </a:p>
        </p:txBody>
      </p:sp>
      <p:pic>
        <p:nvPicPr>
          <p:cNvPr id="32" name="Picture 31" descr="lock.png"/>
          <p:cNvPicPr>
            <a:picLocks noChangeAspect="1"/>
          </p:cNvPicPr>
          <p:nvPr/>
        </p:nvPicPr>
        <p:blipFill>
          <a:blip r:embed="rId4"/>
          <a:stretch>
            <a:fillRect/>
          </a:stretch>
        </p:blipFill>
        <p:spPr>
          <a:xfrm>
            <a:off x="3727478" y="1389951"/>
            <a:ext cx="134549" cy="195707"/>
          </a:xfrm>
          <a:prstGeom prst="rect">
            <a:avLst/>
          </a:prstGeom>
        </p:spPr>
      </p:pic>
      <p:sp>
        <p:nvSpPr>
          <p:cNvPr id="33" name="TextBox 32"/>
          <p:cNvSpPr txBox="1"/>
          <p:nvPr/>
        </p:nvSpPr>
        <p:spPr>
          <a:xfrm>
            <a:off x="3902587" y="1400175"/>
            <a:ext cx="5390765" cy="194310"/>
          </a:xfrm>
          <a:prstGeom prst="rect">
            <a:avLst/>
          </a:prstGeom>
          <a:noFill/>
        </p:spPr>
        <p:txBody>
          <a:bodyPr wrap="none" lIns="0" tIns="0" rIns="0" bIns="0">
            <a:spAutoFit/>
          </a:bodyPr>
          <a:lstStyle/>
          <a:p>
            <a:r>
              <a:rPr sz="1150" b="0">
                <a:solidFill>
                  <a:srgbClr val="2E2E2E"/>
                </a:solidFill>
                <a:latin typeface="Calibri"/>
              </a:rPr>
              <a:t>X increase in revenue by 2036 end. Global corrugated partition market accounted for US$</a:t>
            </a:r>
          </a:p>
        </p:txBody>
      </p:sp>
      <p:pic>
        <p:nvPicPr>
          <p:cNvPr id="34" name="Picture 33" descr="lock.png"/>
          <p:cNvPicPr>
            <a:picLocks noChangeAspect="1"/>
          </p:cNvPicPr>
          <p:nvPr/>
        </p:nvPicPr>
        <p:blipFill>
          <a:blip r:embed="rId4"/>
          <a:stretch>
            <a:fillRect/>
          </a:stretch>
        </p:blipFill>
        <p:spPr>
          <a:xfrm>
            <a:off x="9242507" y="1389951"/>
            <a:ext cx="134549" cy="195707"/>
          </a:xfrm>
          <a:prstGeom prst="rect">
            <a:avLst/>
          </a:prstGeom>
        </p:spPr>
      </p:pic>
      <p:sp>
        <p:nvSpPr>
          <p:cNvPr id="35" name="TextBox 34"/>
          <p:cNvSpPr txBox="1"/>
          <p:nvPr/>
        </p:nvSpPr>
        <p:spPr>
          <a:xfrm>
            <a:off x="9417616" y="1400175"/>
            <a:ext cx="2036179" cy="194310"/>
          </a:xfrm>
          <a:prstGeom prst="rect">
            <a:avLst/>
          </a:prstGeom>
          <a:noFill/>
        </p:spPr>
        <p:txBody>
          <a:bodyPr wrap="none" lIns="0" tIns="0" rIns="0" bIns="0">
            <a:spAutoFit/>
          </a:bodyPr>
          <a:lstStyle/>
          <a:p>
            <a:r>
              <a:rPr sz="1150" b="0">
                <a:solidFill>
                  <a:srgbClr val="2E2E2E"/>
                </a:solidFill>
                <a:latin typeface="Calibri"/>
              </a:rPr>
              <a:t>Mn in 2025, which is expected to</a:t>
            </a:r>
          </a:p>
        </p:txBody>
      </p:sp>
      <p:sp>
        <p:nvSpPr>
          <p:cNvPr id="36" name="TextBox 35"/>
          <p:cNvSpPr txBox="1"/>
          <p:nvPr/>
        </p:nvSpPr>
        <p:spPr>
          <a:xfrm>
            <a:off x="276225" y="1575435"/>
            <a:ext cx="999281" cy="194310"/>
          </a:xfrm>
          <a:prstGeom prst="rect">
            <a:avLst/>
          </a:prstGeom>
          <a:noFill/>
        </p:spPr>
        <p:txBody>
          <a:bodyPr wrap="none" lIns="0" tIns="0" rIns="0" bIns="0">
            <a:spAutoFit/>
          </a:bodyPr>
          <a:lstStyle/>
          <a:p>
            <a:r>
              <a:rPr sz="1150" b="0">
                <a:solidFill>
                  <a:srgbClr val="2E2E2E"/>
                </a:solidFill>
                <a:latin typeface="Calibri"/>
              </a:rPr>
              <a:t>increase to US$</a:t>
            </a:r>
          </a:p>
        </p:txBody>
      </p:sp>
      <p:pic>
        <p:nvPicPr>
          <p:cNvPr id="37" name="Picture 36" descr="lock.png"/>
          <p:cNvPicPr>
            <a:picLocks noChangeAspect="1"/>
          </p:cNvPicPr>
          <p:nvPr/>
        </p:nvPicPr>
        <p:blipFill>
          <a:blip r:embed="rId4"/>
          <a:stretch>
            <a:fillRect/>
          </a:stretch>
        </p:blipFill>
        <p:spPr>
          <a:xfrm>
            <a:off x="1224660" y="1565211"/>
            <a:ext cx="134549" cy="195707"/>
          </a:xfrm>
          <a:prstGeom prst="rect">
            <a:avLst/>
          </a:prstGeom>
        </p:spPr>
      </p:pic>
      <p:sp>
        <p:nvSpPr>
          <p:cNvPr id="38" name="TextBox 37"/>
          <p:cNvSpPr txBox="1"/>
          <p:nvPr/>
        </p:nvSpPr>
        <p:spPr>
          <a:xfrm>
            <a:off x="1399769" y="1575435"/>
            <a:ext cx="1527554" cy="194310"/>
          </a:xfrm>
          <a:prstGeom prst="rect">
            <a:avLst/>
          </a:prstGeom>
          <a:noFill/>
        </p:spPr>
        <p:txBody>
          <a:bodyPr wrap="none" lIns="0" tIns="0" rIns="0" bIns="0">
            <a:spAutoFit/>
          </a:bodyPr>
          <a:lstStyle/>
          <a:p>
            <a:r>
              <a:rPr sz="1150" b="0">
                <a:solidFill>
                  <a:srgbClr val="2E2E2E"/>
                </a:solidFill>
                <a:latin typeface="Calibri"/>
              </a:rPr>
              <a:t>Mn in 2036 at a CAGR of</a:t>
            </a:r>
          </a:p>
        </p:txBody>
      </p:sp>
      <p:pic>
        <p:nvPicPr>
          <p:cNvPr id="39" name="Picture 38" descr="lock.png"/>
          <p:cNvPicPr>
            <a:picLocks noChangeAspect="1"/>
          </p:cNvPicPr>
          <p:nvPr/>
        </p:nvPicPr>
        <p:blipFill>
          <a:blip r:embed="rId4"/>
          <a:stretch>
            <a:fillRect/>
          </a:stretch>
        </p:blipFill>
        <p:spPr>
          <a:xfrm>
            <a:off x="2876477" y="1565211"/>
            <a:ext cx="134549" cy="195707"/>
          </a:xfrm>
          <a:prstGeom prst="rect">
            <a:avLst/>
          </a:prstGeom>
        </p:spPr>
      </p:pic>
      <p:sp>
        <p:nvSpPr>
          <p:cNvPr id="40" name="TextBox 39"/>
          <p:cNvSpPr txBox="1"/>
          <p:nvPr/>
        </p:nvSpPr>
        <p:spPr>
          <a:xfrm>
            <a:off x="3051587" y="1575435"/>
            <a:ext cx="112997" cy="194310"/>
          </a:xfrm>
          <a:prstGeom prst="rect">
            <a:avLst/>
          </a:prstGeom>
          <a:noFill/>
        </p:spPr>
        <p:txBody>
          <a:bodyPr wrap="none" lIns="0" tIns="0" rIns="0" bIns="0">
            <a:spAutoFit/>
          </a:bodyPr>
          <a:lstStyle/>
          <a:p>
            <a:r>
              <a:rPr sz="1150" b="0">
                <a:solidFill>
                  <a:srgbClr val="2E2E2E"/>
                </a:solidFill>
                <a:latin typeface="Calibri"/>
              </a:rPr>
              <a:t>.</a:t>
            </a:r>
          </a:p>
        </p:txBody>
      </p:sp>
      <p:sp>
        <p:nvSpPr>
          <p:cNvPr id="41" name="TextBox 40"/>
          <p:cNvSpPr txBox="1"/>
          <p:nvPr/>
        </p:nvSpPr>
        <p:spPr>
          <a:xfrm>
            <a:off x="276225" y="1803273"/>
            <a:ext cx="11583342" cy="194310"/>
          </a:xfrm>
          <a:prstGeom prst="rect">
            <a:avLst/>
          </a:prstGeom>
          <a:noFill/>
        </p:spPr>
        <p:txBody>
          <a:bodyPr wrap="none" lIns="0" tIns="0" rIns="0" bIns="0">
            <a:spAutoFit/>
          </a:bodyPr>
          <a:lstStyle/>
          <a:p>
            <a:r>
              <a:rPr sz="1150" b="0">
                <a:solidFill>
                  <a:srgbClr val="2E2E2E"/>
                </a:solidFill>
                <a:latin typeface="Calibri"/>
              </a:rPr>
              <a:t>The global corrugated partition market has been analysed on the basis of partition type, board construction, material source and cell configuration across the globe. North America is expected to</a:t>
            </a:r>
          </a:p>
        </p:txBody>
      </p:sp>
      <p:sp>
        <p:nvSpPr>
          <p:cNvPr id="42" name="TextBox 41"/>
          <p:cNvSpPr txBox="1"/>
          <p:nvPr/>
        </p:nvSpPr>
        <p:spPr>
          <a:xfrm>
            <a:off x="276225" y="1978533"/>
            <a:ext cx="8118916" cy="194310"/>
          </a:xfrm>
          <a:prstGeom prst="rect">
            <a:avLst/>
          </a:prstGeom>
          <a:noFill/>
        </p:spPr>
        <p:txBody>
          <a:bodyPr wrap="none" lIns="0" tIns="0" rIns="0" bIns="0">
            <a:spAutoFit/>
          </a:bodyPr>
          <a:lstStyle/>
          <a:p>
            <a:r>
              <a:rPr sz="1150" b="0">
                <a:solidFill>
                  <a:srgbClr val="2E2E2E"/>
                </a:solidFill>
                <a:latin typeface="Calibri"/>
              </a:rPr>
              <a:t>remain the largest market for corrugated partition, while demand in South Asia &amp; Pacific is projected to increase at the highest CAGR of</a:t>
            </a:r>
          </a:p>
        </p:txBody>
      </p:sp>
      <p:pic>
        <p:nvPicPr>
          <p:cNvPr id="43" name="Picture 42" descr="lock.png"/>
          <p:cNvPicPr>
            <a:picLocks noChangeAspect="1"/>
          </p:cNvPicPr>
          <p:nvPr/>
        </p:nvPicPr>
        <p:blipFill>
          <a:blip r:embed="rId4"/>
          <a:stretch>
            <a:fillRect/>
          </a:stretch>
        </p:blipFill>
        <p:spPr>
          <a:xfrm>
            <a:off x="8344294" y="1968309"/>
            <a:ext cx="134549" cy="195707"/>
          </a:xfrm>
          <a:prstGeom prst="rect">
            <a:avLst/>
          </a:prstGeom>
        </p:spPr>
      </p:pic>
      <p:sp>
        <p:nvSpPr>
          <p:cNvPr id="44" name="TextBox 43"/>
          <p:cNvSpPr txBox="1"/>
          <p:nvPr/>
        </p:nvSpPr>
        <p:spPr>
          <a:xfrm>
            <a:off x="8519404" y="1978533"/>
            <a:ext cx="1960872" cy="194310"/>
          </a:xfrm>
          <a:prstGeom prst="rect">
            <a:avLst/>
          </a:prstGeom>
          <a:noFill/>
        </p:spPr>
        <p:txBody>
          <a:bodyPr wrap="none" lIns="0" tIns="0" rIns="0" bIns="0">
            <a:spAutoFit/>
          </a:bodyPr>
          <a:lstStyle/>
          <a:p>
            <a:r>
              <a:rPr sz="1150" b="0">
                <a:solidFill>
                  <a:srgbClr val="2E2E2E"/>
                </a:solidFill>
                <a:latin typeface="Calibri"/>
              </a:rPr>
              <a:t>throughout the forecast period.</a:t>
            </a:r>
          </a:p>
        </p:txBody>
      </p:sp>
      <p:sp>
        <p:nvSpPr>
          <p:cNvPr id="45" name="TextBox 44"/>
          <p:cNvSpPr txBox="1"/>
          <p:nvPr/>
        </p:nvSpPr>
        <p:spPr>
          <a:xfrm>
            <a:off x="276225" y="3219450"/>
            <a:ext cx="5877693" cy="194310"/>
          </a:xfrm>
          <a:prstGeom prst="rect">
            <a:avLst/>
          </a:prstGeom>
          <a:noFill/>
        </p:spPr>
        <p:txBody>
          <a:bodyPr wrap="none" lIns="0" tIns="0" rIns="0" bIns="0">
            <a:spAutoFit/>
          </a:bodyPr>
          <a:lstStyle/>
          <a:p>
            <a:r>
              <a:rPr sz="1150" b="0">
                <a:solidFill>
                  <a:srgbClr val="2E2E2E"/>
                </a:solidFill>
                <a:latin typeface="Calibri"/>
              </a:rPr>
              <a:t>▪ The market is consolidated: the leading partition type category 'Flat Dividers &amp; Layer Pads' holds</a:t>
            </a:r>
          </a:p>
        </p:txBody>
      </p:sp>
      <p:pic>
        <p:nvPicPr>
          <p:cNvPr id="46" name="Picture 45" descr="lock.png"/>
          <p:cNvPicPr>
            <a:picLocks noChangeAspect="1"/>
          </p:cNvPicPr>
          <p:nvPr/>
        </p:nvPicPr>
        <p:blipFill>
          <a:blip r:embed="rId4"/>
          <a:stretch>
            <a:fillRect/>
          </a:stretch>
        </p:blipFill>
        <p:spPr>
          <a:xfrm>
            <a:off x="6103072" y="3209226"/>
            <a:ext cx="134549" cy="195707"/>
          </a:xfrm>
          <a:prstGeom prst="rect">
            <a:avLst/>
          </a:prstGeom>
        </p:spPr>
      </p:pic>
      <p:sp>
        <p:nvSpPr>
          <p:cNvPr id="47" name="TextBox 46"/>
          <p:cNvSpPr txBox="1"/>
          <p:nvPr/>
        </p:nvSpPr>
        <p:spPr>
          <a:xfrm>
            <a:off x="6278182" y="3219450"/>
            <a:ext cx="916272" cy="194310"/>
          </a:xfrm>
          <a:prstGeom prst="rect">
            <a:avLst/>
          </a:prstGeom>
          <a:noFill/>
        </p:spPr>
        <p:txBody>
          <a:bodyPr wrap="none" lIns="0" tIns="0" rIns="0" bIns="0">
            <a:spAutoFit/>
          </a:bodyPr>
          <a:lstStyle/>
          <a:p>
            <a:r>
              <a:rPr sz="1150" b="0">
                <a:solidFill>
                  <a:srgbClr val="2E2E2E"/>
                </a:solidFill>
                <a:latin typeface="Calibri"/>
              </a:rPr>
              <a:t>of 2036 value.</a:t>
            </a:r>
          </a:p>
        </p:txBody>
      </p:sp>
      <p:sp>
        <p:nvSpPr>
          <p:cNvPr id="48" name="TextBox 47"/>
          <p:cNvSpPr txBox="1"/>
          <p:nvPr/>
        </p:nvSpPr>
        <p:spPr>
          <a:xfrm>
            <a:off x="276225" y="3447287"/>
            <a:ext cx="5032771" cy="194310"/>
          </a:xfrm>
          <a:prstGeom prst="rect">
            <a:avLst/>
          </a:prstGeom>
          <a:noFill/>
        </p:spPr>
        <p:txBody>
          <a:bodyPr wrap="none" lIns="0" tIns="0" rIns="0" bIns="0">
            <a:spAutoFit/>
          </a:bodyPr>
          <a:lstStyle/>
          <a:p>
            <a:r>
              <a:rPr sz="1150" b="0">
                <a:solidFill>
                  <a:srgbClr val="2E2E2E"/>
                </a:solidFill>
                <a:latin typeface="Calibri"/>
              </a:rPr>
              <a:t>▪ Demand spans 6 regions and 10 segmentation lenses (3 partition type categories).</a:t>
            </a:r>
          </a:p>
        </p:txBody>
      </p:sp>
      <p:sp>
        <p:nvSpPr>
          <p:cNvPr id="49" name="TextBox 48"/>
          <p:cNvSpPr txBox="1"/>
          <p:nvPr/>
        </p:nvSpPr>
        <p:spPr>
          <a:xfrm>
            <a:off x="276225" y="3675125"/>
            <a:ext cx="2950988" cy="194310"/>
          </a:xfrm>
          <a:prstGeom prst="rect">
            <a:avLst/>
          </a:prstGeom>
          <a:noFill/>
        </p:spPr>
        <p:txBody>
          <a:bodyPr wrap="none" lIns="0" tIns="0" rIns="0" bIns="0">
            <a:spAutoFit/>
          </a:bodyPr>
          <a:lstStyle/>
          <a:p>
            <a:r>
              <a:rPr sz="1150" b="0">
                <a:solidFill>
                  <a:srgbClr val="2E2E2E"/>
                </a:solidFill>
                <a:latin typeface="Calibri"/>
              </a:rPr>
              <a:t>▪ North America is the largest regional market at</a:t>
            </a:r>
          </a:p>
        </p:txBody>
      </p:sp>
      <p:pic>
        <p:nvPicPr>
          <p:cNvPr id="50" name="Picture 49" descr="lock.png"/>
          <p:cNvPicPr>
            <a:picLocks noChangeAspect="1"/>
          </p:cNvPicPr>
          <p:nvPr/>
        </p:nvPicPr>
        <p:blipFill>
          <a:blip r:embed="rId4"/>
          <a:stretch>
            <a:fillRect/>
          </a:stretch>
        </p:blipFill>
        <p:spPr>
          <a:xfrm>
            <a:off x="3176367" y="3664902"/>
            <a:ext cx="134549" cy="195707"/>
          </a:xfrm>
          <a:prstGeom prst="rect">
            <a:avLst/>
          </a:prstGeom>
        </p:spPr>
      </p:pic>
      <p:sp>
        <p:nvSpPr>
          <p:cNvPr id="51" name="TextBox 50"/>
          <p:cNvSpPr txBox="1"/>
          <p:nvPr/>
        </p:nvSpPr>
        <p:spPr>
          <a:xfrm>
            <a:off x="3351477" y="3675125"/>
            <a:ext cx="916272" cy="194310"/>
          </a:xfrm>
          <a:prstGeom prst="rect">
            <a:avLst/>
          </a:prstGeom>
          <a:noFill/>
        </p:spPr>
        <p:txBody>
          <a:bodyPr wrap="none" lIns="0" tIns="0" rIns="0" bIns="0">
            <a:spAutoFit/>
          </a:bodyPr>
          <a:lstStyle/>
          <a:p>
            <a:r>
              <a:rPr sz="1150" b="0">
                <a:solidFill>
                  <a:srgbClr val="2E2E2E"/>
                </a:solidFill>
                <a:latin typeface="Calibri"/>
              </a:rPr>
              <a:t>of 2036 value.</a:t>
            </a:r>
          </a:p>
        </p:txBody>
      </p:sp>
      <p:sp>
        <p:nvSpPr>
          <p:cNvPr id="52" name="TextBox 51"/>
          <p:cNvSpPr txBox="1"/>
          <p:nvPr/>
        </p:nvSpPr>
        <p:spPr>
          <a:xfrm>
            <a:off x="276225" y="4924425"/>
            <a:ext cx="3204294" cy="194310"/>
          </a:xfrm>
          <a:prstGeom prst="rect">
            <a:avLst/>
          </a:prstGeom>
          <a:noFill/>
        </p:spPr>
        <p:txBody>
          <a:bodyPr wrap="none" lIns="0" tIns="0" rIns="0" bIns="0">
            <a:spAutoFit/>
          </a:bodyPr>
          <a:lstStyle/>
          <a:p>
            <a:r>
              <a:rPr sz="1150" b="0">
                <a:solidFill>
                  <a:srgbClr val="2E2E2E"/>
                </a:solidFill>
                <a:latin typeface="Calibri"/>
              </a:rPr>
              <a:t>▪ Accelerating uptake of 'Flat Dividers &amp; Layer Pads' (</a:t>
            </a:r>
          </a:p>
        </p:txBody>
      </p:sp>
      <p:pic>
        <p:nvPicPr>
          <p:cNvPr id="53" name="Picture 52" descr="lock.png"/>
          <p:cNvPicPr>
            <a:picLocks noChangeAspect="1"/>
          </p:cNvPicPr>
          <p:nvPr/>
        </p:nvPicPr>
        <p:blipFill>
          <a:blip r:embed="rId4"/>
          <a:stretch>
            <a:fillRect/>
          </a:stretch>
        </p:blipFill>
        <p:spPr>
          <a:xfrm>
            <a:off x="3429673" y="4914201"/>
            <a:ext cx="134549" cy="195707"/>
          </a:xfrm>
          <a:prstGeom prst="rect">
            <a:avLst/>
          </a:prstGeom>
        </p:spPr>
      </p:pic>
      <p:sp>
        <p:nvSpPr>
          <p:cNvPr id="54" name="TextBox 53"/>
          <p:cNvSpPr txBox="1"/>
          <p:nvPr/>
        </p:nvSpPr>
        <p:spPr>
          <a:xfrm>
            <a:off x="276225" y="5099685"/>
            <a:ext cx="490941"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55" name="TextBox 54"/>
          <p:cNvSpPr txBox="1"/>
          <p:nvPr/>
        </p:nvSpPr>
        <p:spPr>
          <a:xfrm>
            <a:off x="276225" y="5327522"/>
            <a:ext cx="2877045" cy="194310"/>
          </a:xfrm>
          <a:prstGeom prst="rect">
            <a:avLst/>
          </a:prstGeom>
          <a:noFill/>
        </p:spPr>
        <p:txBody>
          <a:bodyPr wrap="none" lIns="0" tIns="0" rIns="0" bIns="0">
            <a:spAutoFit/>
          </a:bodyPr>
          <a:lstStyle/>
          <a:p>
            <a:r>
              <a:rPr sz="1150" b="0">
                <a:solidFill>
                  <a:srgbClr val="2E2E2E"/>
                </a:solidFill>
                <a:latin typeface="Calibri"/>
              </a:rPr>
              <a:t>▪ Fast-growing demand in South Asia &amp; Pacific (</a:t>
            </a:r>
          </a:p>
        </p:txBody>
      </p:sp>
      <p:pic>
        <p:nvPicPr>
          <p:cNvPr id="56" name="Picture 55" descr="lock.png"/>
          <p:cNvPicPr>
            <a:picLocks noChangeAspect="1"/>
          </p:cNvPicPr>
          <p:nvPr/>
        </p:nvPicPr>
        <p:blipFill>
          <a:blip r:embed="rId4"/>
          <a:stretch>
            <a:fillRect/>
          </a:stretch>
        </p:blipFill>
        <p:spPr>
          <a:xfrm>
            <a:off x="3102424" y="5317299"/>
            <a:ext cx="134549" cy="195707"/>
          </a:xfrm>
          <a:prstGeom prst="rect">
            <a:avLst/>
          </a:prstGeom>
        </p:spPr>
      </p:pic>
      <p:sp>
        <p:nvSpPr>
          <p:cNvPr id="57" name="TextBox 56"/>
          <p:cNvSpPr txBox="1"/>
          <p:nvPr/>
        </p:nvSpPr>
        <p:spPr>
          <a:xfrm>
            <a:off x="3277533" y="5327522"/>
            <a:ext cx="157212" cy="194310"/>
          </a:xfrm>
          <a:prstGeom prst="rect">
            <a:avLst/>
          </a:prstGeom>
          <a:noFill/>
        </p:spPr>
        <p:txBody>
          <a:bodyPr wrap="none" lIns="0" tIns="0" rIns="0" bIns="0">
            <a:spAutoFit/>
          </a:bodyPr>
          <a:lstStyle/>
          <a:p>
            <a:r>
              <a:rPr sz="1150" b="0">
                <a:solidFill>
                  <a:srgbClr val="2E2E2E"/>
                </a:solidFill>
                <a:latin typeface="Calibri"/>
              </a:rPr>
              <a:t>).</a:t>
            </a:r>
          </a:p>
        </p:txBody>
      </p:sp>
      <p:sp>
        <p:nvSpPr>
          <p:cNvPr id="58" name="TextBox 57"/>
          <p:cNvSpPr txBox="1"/>
          <p:nvPr/>
        </p:nvSpPr>
        <p:spPr>
          <a:xfrm>
            <a:off x="276225" y="5555360"/>
            <a:ext cx="3382292" cy="194310"/>
          </a:xfrm>
          <a:prstGeom prst="rect">
            <a:avLst/>
          </a:prstGeom>
          <a:noFill/>
        </p:spPr>
        <p:txBody>
          <a:bodyPr wrap="none" lIns="0" tIns="0" rIns="0" bIns="0">
            <a:spAutoFit/>
          </a:bodyPr>
          <a:lstStyle/>
          <a:p>
            <a:r>
              <a:rPr sz="1150" b="0">
                <a:solidFill>
                  <a:srgbClr val="2E2E2E"/>
                </a:solidFill>
                <a:latin typeface="Calibri"/>
              </a:rPr>
              <a:t>▪ Momentum in Electronics &amp; Electrical within end use (</a:t>
            </a:r>
          </a:p>
        </p:txBody>
      </p:sp>
      <p:pic>
        <p:nvPicPr>
          <p:cNvPr id="59" name="Picture 58" descr="lock.png"/>
          <p:cNvPicPr>
            <a:picLocks noChangeAspect="1"/>
          </p:cNvPicPr>
          <p:nvPr/>
        </p:nvPicPr>
        <p:blipFill>
          <a:blip r:embed="rId4"/>
          <a:stretch>
            <a:fillRect/>
          </a:stretch>
        </p:blipFill>
        <p:spPr>
          <a:xfrm>
            <a:off x="3607671" y="5545137"/>
            <a:ext cx="134549" cy="195707"/>
          </a:xfrm>
          <a:prstGeom prst="rect">
            <a:avLst/>
          </a:prstGeom>
        </p:spPr>
      </p:pic>
      <p:sp>
        <p:nvSpPr>
          <p:cNvPr id="60" name="TextBox 59"/>
          <p:cNvSpPr txBox="1"/>
          <p:nvPr/>
        </p:nvSpPr>
        <p:spPr>
          <a:xfrm>
            <a:off x="3782780" y="5555360"/>
            <a:ext cx="151044" cy="194310"/>
          </a:xfrm>
          <a:prstGeom prst="rect">
            <a:avLst/>
          </a:prstGeom>
          <a:noFill/>
        </p:spPr>
        <p:txBody>
          <a:bodyPr wrap="none" lIns="0" tIns="0" rIns="0" bIns="0">
            <a:spAutoFit/>
          </a:bodyPr>
          <a:lstStyle/>
          <a:p>
            <a:r>
              <a:rPr sz="1150" b="0">
                <a:solidFill>
                  <a:srgbClr val="2E2E2E"/>
                </a:solidFill>
                <a:latin typeface="Calibri"/>
              </a:rPr>
              <a:t>).</a:t>
            </a:r>
          </a:p>
        </p:txBody>
      </p:sp>
      <p:sp>
        <p:nvSpPr>
          <p:cNvPr id="61" name="TextBox 60"/>
          <p:cNvSpPr txBox="1"/>
          <p:nvPr/>
        </p:nvSpPr>
        <p:spPr>
          <a:xfrm>
            <a:off x="4371975" y="4924425"/>
            <a:ext cx="3131238" cy="194310"/>
          </a:xfrm>
          <a:prstGeom prst="rect">
            <a:avLst/>
          </a:prstGeom>
          <a:noFill/>
        </p:spPr>
        <p:txBody>
          <a:bodyPr wrap="none" lIns="0" tIns="0" rIns="0" bIns="0">
            <a:spAutoFit/>
          </a:bodyPr>
          <a:lstStyle/>
          <a:p>
            <a:r>
              <a:rPr sz="1150" b="0">
                <a:solidFill>
                  <a:srgbClr val="2E2E2E"/>
                </a:solidFill>
                <a:latin typeface="Calibri"/>
              </a:rPr>
              <a:t>▪ Slower momentum in 'Die-Cut &amp; Folded Partitions</a:t>
            </a:r>
          </a:p>
        </p:txBody>
      </p:sp>
      <p:sp>
        <p:nvSpPr>
          <p:cNvPr id="62" name="TextBox 61"/>
          <p:cNvSpPr txBox="1"/>
          <p:nvPr/>
        </p:nvSpPr>
        <p:spPr>
          <a:xfrm>
            <a:off x="4371975" y="5099685"/>
            <a:ext cx="1911238" cy="194310"/>
          </a:xfrm>
          <a:prstGeom prst="rect">
            <a:avLst/>
          </a:prstGeom>
          <a:noFill/>
        </p:spPr>
        <p:txBody>
          <a:bodyPr wrap="none" lIns="0" tIns="0" rIns="0" bIns="0">
            <a:spAutoFit/>
          </a:bodyPr>
          <a:lstStyle/>
          <a:p>
            <a:r>
              <a:rPr sz="1150" b="0">
                <a:solidFill>
                  <a:srgbClr val="2E2E2E"/>
                </a:solidFill>
                <a:latin typeface="Calibri"/>
              </a:rPr>
              <a:t>(H-dividers, tube/cell inserts)' (</a:t>
            </a:r>
          </a:p>
        </p:txBody>
      </p:sp>
      <p:pic>
        <p:nvPicPr>
          <p:cNvPr id="63" name="Picture 62" descr="lock.png"/>
          <p:cNvPicPr>
            <a:picLocks noChangeAspect="1"/>
          </p:cNvPicPr>
          <p:nvPr/>
        </p:nvPicPr>
        <p:blipFill>
          <a:blip r:embed="rId4"/>
          <a:stretch>
            <a:fillRect/>
          </a:stretch>
        </p:blipFill>
        <p:spPr>
          <a:xfrm>
            <a:off x="6232367" y="5089461"/>
            <a:ext cx="134549" cy="195707"/>
          </a:xfrm>
          <a:prstGeom prst="rect">
            <a:avLst/>
          </a:prstGeom>
        </p:spPr>
      </p:pic>
      <p:sp>
        <p:nvSpPr>
          <p:cNvPr id="64" name="TextBox 63"/>
          <p:cNvSpPr txBox="1"/>
          <p:nvPr/>
        </p:nvSpPr>
        <p:spPr>
          <a:xfrm>
            <a:off x="6407476" y="5099685"/>
            <a:ext cx="157212" cy="194310"/>
          </a:xfrm>
          <a:prstGeom prst="rect">
            <a:avLst/>
          </a:prstGeom>
          <a:noFill/>
        </p:spPr>
        <p:txBody>
          <a:bodyPr wrap="none" lIns="0" tIns="0" rIns="0" bIns="0">
            <a:spAutoFit/>
          </a:bodyPr>
          <a:lstStyle/>
          <a:p>
            <a:r>
              <a:rPr sz="1150" b="0">
                <a:solidFill>
                  <a:srgbClr val="2E2E2E"/>
                </a:solidFill>
                <a:latin typeface="Calibri"/>
              </a:rPr>
              <a:t>).</a:t>
            </a:r>
          </a:p>
        </p:txBody>
      </p:sp>
      <p:sp>
        <p:nvSpPr>
          <p:cNvPr id="65" name="TextBox 64"/>
          <p:cNvSpPr txBox="1"/>
          <p:nvPr/>
        </p:nvSpPr>
        <p:spPr>
          <a:xfrm>
            <a:off x="4371975" y="5327522"/>
            <a:ext cx="3264197" cy="194310"/>
          </a:xfrm>
          <a:prstGeom prst="rect">
            <a:avLst/>
          </a:prstGeom>
          <a:noFill/>
        </p:spPr>
        <p:txBody>
          <a:bodyPr wrap="none" lIns="0" tIns="0" rIns="0" bIns="0">
            <a:spAutoFit/>
          </a:bodyPr>
          <a:lstStyle/>
          <a:p>
            <a:r>
              <a:rPr sz="1150" b="0">
                <a:solidFill>
                  <a:srgbClr val="2E2E2E"/>
                </a:solidFill>
                <a:latin typeface="Calibri"/>
              </a:rPr>
              <a:t>▪ Maturing demand in established categories caps the</a:t>
            </a:r>
          </a:p>
        </p:txBody>
      </p:sp>
      <p:sp>
        <p:nvSpPr>
          <p:cNvPr id="66" name="TextBox 65"/>
          <p:cNvSpPr txBox="1"/>
          <p:nvPr/>
        </p:nvSpPr>
        <p:spPr>
          <a:xfrm>
            <a:off x="4371975" y="5502782"/>
            <a:ext cx="562272" cy="194310"/>
          </a:xfrm>
          <a:prstGeom prst="rect">
            <a:avLst/>
          </a:prstGeom>
          <a:noFill/>
        </p:spPr>
        <p:txBody>
          <a:bodyPr wrap="none" lIns="0" tIns="0" rIns="0" bIns="0">
            <a:spAutoFit/>
          </a:bodyPr>
          <a:lstStyle/>
          <a:p>
            <a:r>
              <a:rPr sz="1150" b="0">
                <a:solidFill>
                  <a:srgbClr val="2E2E2E"/>
                </a:solidFill>
                <a:latin typeface="Calibri"/>
              </a:rPr>
              <a:t>blended</a:t>
            </a:r>
          </a:p>
        </p:txBody>
      </p:sp>
      <p:pic>
        <p:nvPicPr>
          <p:cNvPr id="67" name="Picture 66" descr="lock.png"/>
          <p:cNvPicPr>
            <a:picLocks noChangeAspect="1"/>
          </p:cNvPicPr>
          <p:nvPr/>
        </p:nvPicPr>
        <p:blipFill>
          <a:blip r:embed="rId4"/>
          <a:stretch>
            <a:fillRect/>
          </a:stretch>
        </p:blipFill>
        <p:spPr>
          <a:xfrm>
            <a:off x="4883401" y="5492559"/>
            <a:ext cx="134549" cy="195707"/>
          </a:xfrm>
          <a:prstGeom prst="rect">
            <a:avLst/>
          </a:prstGeom>
        </p:spPr>
      </p:pic>
      <p:sp>
        <p:nvSpPr>
          <p:cNvPr id="68" name="TextBox 67"/>
          <p:cNvSpPr txBox="1"/>
          <p:nvPr/>
        </p:nvSpPr>
        <p:spPr>
          <a:xfrm>
            <a:off x="5058510" y="5502782"/>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69" name="TextBox 68"/>
          <p:cNvSpPr txBox="1"/>
          <p:nvPr/>
        </p:nvSpPr>
        <p:spPr>
          <a:xfrm>
            <a:off x="4371975" y="5730620"/>
            <a:ext cx="3511798" cy="194310"/>
          </a:xfrm>
          <a:prstGeom prst="rect">
            <a:avLst/>
          </a:prstGeom>
          <a:noFill/>
        </p:spPr>
        <p:txBody>
          <a:bodyPr wrap="none" lIns="0" tIns="0" rIns="0" bIns="0">
            <a:spAutoFit/>
          </a:bodyPr>
          <a:lstStyle/>
          <a:p>
            <a:r>
              <a:rPr sz="1150" b="0">
                <a:solidFill>
                  <a:srgbClr val="2E2E2E"/>
                </a:solidFill>
                <a:latin typeface="Calibri"/>
              </a:rPr>
              <a:t>▪ Value concentration in 'Flat Dividers &amp; Layer Pads' raises</a:t>
            </a:r>
          </a:p>
        </p:txBody>
      </p:sp>
      <p:sp>
        <p:nvSpPr>
          <p:cNvPr id="70" name="TextBox 69"/>
          <p:cNvSpPr txBox="1"/>
          <p:nvPr/>
        </p:nvSpPr>
        <p:spPr>
          <a:xfrm>
            <a:off x="4371975" y="5905880"/>
            <a:ext cx="1604305" cy="194310"/>
          </a:xfrm>
          <a:prstGeom prst="rect">
            <a:avLst/>
          </a:prstGeom>
          <a:noFill/>
        </p:spPr>
        <p:txBody>
          <a:bodyPr wrap="none" lIns="0" tIns="0" rIns="0" bIns="0">
            <a:spAutoFit/>
          </a:bodyPr>
          <a:lstStyle/>
          <a:p>
            <a:r>
              <a:rPr sz="1150" b="0">
                <a:solidFill>
                  <a:srgbClr val="2E2E2E"/>
                </a:solidFill>
                <a:latin typeface="Calibri"/>
              </a:rPr>
              <a:t>barriers for new entrants.</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76225" y="1066800"/>
            <a:ext cx="5610225" cy="209550"/>
          </a:xfrm>
          <a:prstGeom prst="rect">
            <a:avLst/>
          </a:prstGeom>
          <a:noFill/>
        </p:spPr>
        <p:txBody>
          <a:bodyPr wrap="square" lIns="0" tIns="9525" rIns="19050"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76225" y="1390650"/>
            <a:ext cx="5610225" cy="1295400"/>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'Flat Dividers &amp; Layer Pads' and South Asia &amp; Pacific.</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partition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North America and South Asia &amp; Pacific.</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305550" y="1066800"/>
            <a:ext cx="5610225" cy="209550"/>
          </a:xfrm>
          <a:prstGeom prst="rect">
            <a:avLst/>
          </a:prstGeom>
          <a:noFill/>
        </p:spPr>
        <p:txBody>
          <a:bodyPr wrap="square" lIns="0" tIns="9525" rIns="19050"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6305550" y="1390650"/>
            <a:ext cx="5610225" cy="129540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76225" y="2981325"/>
            <a:ext cx="5610225" cy="209550"/>
          </a:xfrm>
          <a:prstGeom prst="rect">
            <a:avLst/>
          </a:prstGeom>
          <a:noFill/>
        </p:spPr>
        <p:txBody>
          <a:bodyPr wrap="square" lIns="0" tIns="9525" rIns="19050"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76225" y="3305175"/>
            <a:ext cx="5610225" cy="800100"/>
          </a:xfrm>
          <a:prstGeom prst="rect">
            <a:avLst/>
          </a:prstGeom>
          <a:noFill/>
        </p:spPr>
        <p:txBody>
          <a:bodyPr wrap="square" lIns="0" tIns="9525" rIns="19050" bIns="9525">
            <a:spAutoFit/>
          </a:bodyPr>
          <a:lstStyle/>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05550" y="2981325"/>
            <a:ext cx="5610225" cy="209550"/>
          </a:xfrm>
          <a:prstGeom prst="rect">
            <a:avLst/>
          </a:prstGeom>
          <a:noFill/>
        </p:spPr>
        <p:txBody>
          <a:bodyPr wrap="square" lIns="0" tIns="9525" rIns="19050"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6305550" y="3305175"/>
            <a:ext cx="5610225" cy="800100"/>
          </a:xfrm>
          <a:prstGeom prst="rect">
            <a:avLst/>
          </a:prstGeom>
          <a:noFill/>
        </p:spPr>
        <p:txBody>
          <a:bodyPr wrap="square" lIns="0" tIns="9525" rIns="19050" bIns="9525">
            <a:spAutoFit/>
          </a:bodyPr>
          <a:lstStyle/>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238125" y="437197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structure partition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xmlns:r="http://schemas.openxmlformats.org/officeDocument/2006/relationships" r:id="rId4"/>
          </a:graphicData>
        </a:graphic>
      </p:graphicFrame>
      <p:sp>
        <p:nvSpPr>
          <p:cNvPr id="29" name="TextBox 28"/>
          <p:cNvSpPr txBox="1"/>
          <p:nvPr/>
        </p:nvSpPr>
        <p:spPr>
          <a:xfrm>
            <a:off x="3871570" y="5462588"/>
            <a:ext cx="934136" cy="228600"/>
          </a:xfrm>
          <a:prstGeom prst="rect">
            <a:avLst/>
          </a:prstGeom>
          <a:noFill/>
        </p:spPr>
        <p:txBody>
          <a:bodyPr wrap="square" lIns="28575" tIns="9525" rIns="28575" bIns="9525" anchor="ctr">
            <a:spAutoFit/>
          </a:bodyPr>
          <a:lstStyle/>
          <a:p>
            <a:pPr algn="ctr"/>
            <a:endParaRPr/>
          </a:p>
        </p:txBody>
      </p:sp>
      <p:sp>
        <p:nvSpPr>
          <p:cNvPr id="30" name="TextBox 2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tIns="0" r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tIns="0" r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tIns="0" r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tIns="0" rIns="0" bIns="0">
            <a:spAutoFit/>
          </a:bodyPr>
          <a:lstStyle/>
          <a:p>
            <a:r>
              <a:rPr sz="1100" b="0">
                <a:solidFill>
                  <a:srgbClr val="2E2E2E"/>
                </a:solidFill>
                <a:latin typeface="Calibri"/>
              </a:rPr>
              <a:t>(2026–2036).</a:t>
            </a:r>
          </a:p>
        </p:txBody>
      </p:sp>
      <p:sp>
        <p:nvSpPr>
          <p:cNvPr id="40" name="TextBox 39"/>
          <p:cNvSpPr txBox="1"/>
          <p:nvPr/>
        </p:nvSpPr>
        <p:spPr>
          <a:xfrm>
            <a:off x="6305550" y="1836039"/>
            <a:ext cx="2510854" cy="186689"/>
          </a:xfrm>
          <a:prstGeom prst="rect">
            <a:avLst/>
          </a:prstGeom>
          <a:noFill/>
        </p:spPr>
        <p:txBody>
          <a:bodyPr wrap="none" lIns="0" tIns="0" rIns="0" bIns="0">
            <a:spAutoFit/>
          </a:bodyPr>
          <a:lstStyle/>
          <a:p>
            <a:r>
              <a:rPr sz="1100" b="0">
                <a:solidFill>
                  <a:srgbClr val="2E2E2E"/>
                </a:solidFill>
                <a:latin typeface="Calibri"/>
              </a:rPr>
              <a:t>▪ Lead category 'Flat Dividers &amp; Layer Pads'</a:t>
            </a:r>
          </a:p>
        </p:txBody>
      </p:sp>
      <p:pic>
        <p:nvPicPr>
          <p:cNvPr id="41" name="Picture 40" descr="lock.png"/>
          <p:cNvPicPr>
            <a:picLocks noChangeAspect="1"/>
          </p:cNvPicPr>
          <p:nvPr/>
        </p:nvPicPr>
        <p:blipFill>
          <a:blip r:embed="rId5"/>
          <a:stretch>
            <a:fillRect/>
          </a:stretch>
        </p:blipFill>
        <p:spPr>
          <a:xfrm>
            <a:off x="8764456" y="1826260"/>
            <a:ext cx="128699" cy="187198"/>
          </a:xfrm>
          <a:prstGeom prst="rect">
            <a:avLst/>
          </a:prstGeom>
        </p:spPr>
      </p:pic>
      <p:sp>
        <p:nvSpPr>
          <p:cNvPr id="42" name="TextBox 41"/>
          <p:cNvSpPr txBox="1"/>
          <p:nvPr/>
        </p:nvSpPr>
        <p:spPr>
          <a:xfrm>
            <a:off x="8931951" y="1836039"/>
            <a:ext cx="543049" cy="186689"/>
          </a:xfrm>
          <a:prstGeom prst="rect">
            <a:avLst/>
          </a:prstGeom>
          <a:noFill/>
        </p:spPr>
        <p:txBody>
          <a:bodyPr wrap="none" lIns="0" tIns="0" rIns="0" bIns="0">
            <a:spAutoFit/>
          </a:bodyPr>
          <a:lstStyle/>
          <a:p>
            <a:r>
              <a:rPr sz="1100" b="0">
                <a:solidFill>
                  <a:srgbClr val="2E2E2E"/>
                </a:solidFill>
                <a:latin typeface="Calibri"/>
              </a:rPr>
              <a:t>of 2036.</a:t>
            </a:r>
          </a:p>
        </p:txBody>
      </p:sp>
      <p:sp>
        <p:nvSpPr>
          <p:cNvPr id="43" name="TextBox 42"/>
          <p:cNvSpPr txBox="1"/>
          <p:nvPr/>
        </p:nvSpPr>
        <p:spPr>
          <a:xfrm>
            <a:off x="6305550" y="2053970"/>
            <a:ext cx="1686297" cy="186689"/>
          </a:xfrm>
          <a:prstGeom prst="rect">
            <a:avLst/>
          </a:prstGeom>
          <a:noFill/>
        </p:spPr>
        <p:txBody>
          <a:bodyPr wrap="none" lIns="0" tIns="0" rIns="0" bIns="0">
            <a:spAutoFit/>
          </a:bodyPr>
          <a:lstStyle/>
          <a:p>
            <a:r>
              <a:rPr sz="1100" b="0">
                <a:solidFill>
                  <a:srgbClr val="2E2E2E"/>
                </a:solidFill>
                <a:latin typeface="Calibri"/>
              </a:rPr>
              <a:t>▪ Lead region North America</a:t>
            </a:r>
          </a:p>
        </p:txBody>
      </p:sp>
      <p:pic>
        <p:nvPicPr>
          <p:cNvPr id="44" name="Picture 43" descr="lock.png"/>
          <p:cNvPicPr>
            <a:picLocks noChangeAspect="1"/>
          </p:cNvPicPr>
          <p:nvPr/>
        </p:nvPicPr>
        <p:blipFill>
          <a:blip r:embed="rId5"/>
          <a:stretch>
            <a:fillRect/>
          </a:stretch>
        </p:blipFill>
        <p:spPr>
          <a:xfrm>
            <a:off x="7939898" y="2044192"/>
            <a:ext cx="128699" cy="187198"/>
          </a:xfrm>
          <a:prstGeom prst="rect">
            <a:avLst/>
          </a:prstGeom>
        </p:spPr>
      </p:pic>
      <p:sp>
        <p:nvSpPr>
          <p:cNvPr id="45" name="TextBox 44"/>
          <p:cNvSpPr txBox="1"/>
          <p:nvPr/>
        </p:nvSpPr>
        <p:spPr>
          <a:xfrm>
            <a:off x="8107394" y="2053970"/>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tIns="0" r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49" name="TextBox 48"/>
          <p:cNvSpPr txBox="1"/>
          <p:nvPr/>
        </p:nvSpPr>
        <p:spPr>
          <a:xfrm>
            <a:off x="276225" y="3314700"/>
            <a:ext cx="4812357" cy="186689"/>
          </a:xfrm>
          <a:prstGeom prst="rect">
            <a:avLst/>
          </a:prstGeom>
          <a:noFill/>
        </p:spPr>
        <p:txBody>
          <a:bodyPr wrap="none" lIns="0" tIns="0" rIns="0" bIns="0">
            <a:spAutoFit/>
          </a:bodyPr>
          <a:lstStyle/>
          <a:p>
            <a:r>
              <a:rPr sz="1100" b="0">
                <a:solidFill>
                  <a:srgbClr val="2E2E2E"/>
                </a:solidFill>
                <a:latin typeface="Calibri"/>
              </a:rPr>
              <a:t>▪ Investment is flowing toward the fastest-growing tier 'Flat Dividers &amp; Layer Pads' (</a:t>
            </a:r>
          </a:p>
        </p:txBody>
      </p:sp>
      <p:pic>
        <p:nvPicPr>
          <p:cNvPr id="50" name="Picture 49" descr="lock.png"/>
          <p:cNvPicPr>
            <a:picLocks noChangeAspect="1"/>
          </p:cNvPicPr>
          <p:nvPr/>
        </p:nvPicPr>
        <p:blipFill>
          <a:blip r:embed="rId5"/>
          <a:stretch>
            <a:fillRect/>
          </a:stretch>
        </p:blipFill>
        <p:spPr>
          <a:xfrm>
            <a:off x="5036634" y="3304921"/>
            <a:ext cx="128699" cy="187198"/>
          </a:xfrm>
          <a:prstGeom prst="rect">
            <a:avLst/>
          </a:prstGeom>
        </p:spPr>
      </p:pic>
      <p:sp>
        <p:nvSpPr>
          <p:cNvPr id="51" name="TextBox 50"/>
          <p:cNvSpPr txBox="1"/>
          <p:nvPr/>
        </p:nvSpPr>
        <p:spPr>
          <a:xfrm>
            <a:off x="5204129" y="3314700"/>
            <a:ext cx="153689" cy="186689"/>
          </a:xfrm>
          <a:prstGeom prst="rect">
            <a:avLst/>
          </a:prstGeom>
          <a:noFill/>
        </p:spPr>
        <p:txBody>
          <a:bodyPr wrap="none" lIns="0" tIns="0" rIns="0" bIns="0">
            <a:spAutoFit/>
          </a:bodyPr>
          <a:lstStyle/>
          <a:p>
            <a:r>
              <a:rPr sz="1100" b="0">
                <a:solidFill>
                  <a:srgbClr val="2E2E2E"/>
                </a:solidFill>
                <a:latin typeface="Calibri"/>
              </a:rPr>
              <a:t>).</a:t>
            </a:r>
          </a:p>
        </p:txBody>
      </p:sp>
      <p:sp>
        <p:nvSpPr>
          <p:cNvPr id="52" name="TextBox 51"/>
          <p:cNvSpPr txBox="1"/>
          <p:nvPr/>
        </p:nvSpPr>
        <p:spPr>
          <a:xfrm>
            <a:off x="276225" y="3532632"/>
            <a:ext cx="1351781" cy="186689"/>
          </a:xfrm>
          <a:prstGeom prst="rect">
            <a:avLst/>
          </a:prstGeom>
          <a:noFill/>
        </p:spPr>
        <p:txBody>
          <a:bodyPr wrap="none" lIns="0" tIns="0" rIns="0" bIns="0">
            <a:spAutoFit/>
          </a:bodyPr>
          <a:lstStyle/>
          <a:p>
            <a:r>
              <a:rPr sz="1100" b="0">
                <a:solidFill>
                  <a:srgbClr val="2E2E2E"/>
                </a:solidFill>
                <a:latin typeface="Calibri"/>
              </a:rPr>
              <a:t>▪ South Asia &amp; Pacific (</a:t>
            </a:r>
          </a:p>
        </p:txBody>
      </p:sp>
      <p:pic>
        <p:nvPicPr>
          <p:cNvPr id="53" name="Picture 52" descr="lock.png"/>
          <p:cNvPicPr>
            <a:picLocks noChangeAspect="1"/>
          </p:cNvPicPr>
          <p:nvPr/>
        </p:nvPicPr>
        <p:blipFill>
          <a:blip r:embed="rId5"/>
          <a:stretch>
            <a:fillRect/>
          </a:stretch>
        </p:blipFill>
        <p:spPr>
          <a:xfrm>
            <a:off x="1576057" y="3522853"/>
            <a:ext cx="128699" cy="187198"/>
          </a:xfrm>
          <a:prstGeom prst="rect">
            <a:avLst/>
          </a:prstGeom>
        </p:spPr>
      </p:pic>
      <p:sp>
        <p:nvSpPr>
          <p:cNvPr id="54" name="TextBox 53"/>
          <p:cNvSpPr txBox="1"/>
          <p:nvPr/>
        </p:nvSpPr>
        <p:spPr>
          <a:xfrm>
            <a:off x="1743553" y="3532632"/>
            <a:ext cx="2187525" cy="186689"/>
          </a:xfrm>
          <a:prstGeom prst="rect">
            <a:avLst/>
          </a:prstGeom>
          <a:noFill/>
        </p:spPr>
        <p:txBody>
          <a:bodyPr wrap="none" lIns="0" tIns="0" rIns="0" bIns="0">
            <a:spAutoFit/>
          </a:bodyPr>
          <a:lstStyle/>
          <a:p>
            <a:r>
              <a:rPr sz="1100" b="0">
                <a:solidFill>
                  <a:srgbClr val="2E2E2E"/>
                </a:solidFill>
                <a:latin typeface="Calibri"/>
              </a:rPr>
              <a:t>) is a priority region for new capacity.</a:t>
            </a:r>
          </a:p>
        </p:txBody>
      </p:sp>
      <p:sp>
        <p:nvSpPr>
          <p:cNvPr id="55" name="TextBox 54"/>
          <p:cNvSpPr txBox="1"/>
          <p:nvPr/>
        </p:nvSpPr>
        <p:spPr>
          <a:xfrm>
            <a:off x="276225" y="3750564"/>
            <a:ext cx="3391073" cy="186689"/>
          </a:xfrm>
          <a:prstGeom prst="rect">
            <a:avLst/>
          </a:prstGeom>
          <a:noFill/>
        </p:spPr>
        <p:txBody>
          <a:bodyPr wrap="none" lIns="0" tIns="0" rIns="0" bIns="0">
            <a:spAutoFit/>
          </a:bodyPr>
          <a:lstStyle/>
          <a:p>
            <a:r>
              <a:rPr sz="1100" b="0">
                <a:solidFill>
                  <a:srgbClr val="2E2E2E"/>
                </a:solidFill>
                <a:latin typeface="Calibri"/>
              </a:rPr>
              <a:t>▪ Scale players anchor around 'Flat Dividers &amp; Layer Pads' (</a:t>
            </a:r>
          </a:p>
        </p:txBody>
      </p:sp>
      <p:pic>
        <p:nvPicPr>
          <p:cNvPr id="56" name="Picture 55" descr="lock.png"/>
          <p:cNvPicPr>
            <a:picLocks noChangeAspect="1"/>
          </p:cNvPicPr>
          <p:nvPr/>
        </p:nvPicPr>
        <p:blipFill>
          <a:blip r:embed="rId5"/>
          <a:stretch>
            <a:fillRect/>
          </a:stretch>
        </p:blipFill>
        <p:spPr>
          <a:xfrm>
            <a:off x="3615350" y="3740785"/>
            <a:ext cx="128699" cy="187198"/>
          </a:xfrm>
          <a:prstGeom prst="rect">
            <a:avLst/>
          </a:prstGeom>
        </p:spPr>
      </p:pic>
      <p:sp>
        <p:nvSpPr>
          <p:cNvPr id="57" name="TextBox 56"/>
          <p:cNvSpPr txBox="1"/>
          <p:nvPr/>
        </p:nvSpPr>
        <p:spPr>
          <a:xfrm>
            <a:off x="3782846" y="3750564"/>
            <a:ext cx="466923" cy="186689"/>
          </a:xfrm>
          <a:prstGeom prst="rect">
            <a:avLst/>
          </a:prstGeom>
          <a:noFill/>
        </p:spPr>
        <p:txBody>
          <a:bodyPr wrap="none" lIns="0" tIns="0" rIns="0" bIns="0">
            <a:spAutoFit/>
          </a:bodyPr>
          <a:lstStyle/>
          <a:p>
            <a:r>
              <a:rPr sz="1100" b="0">
                <a:solidFill>
                  <a:srgbClr val="2E2E2E"/>
                </a:solidFill>
                <a:latin typeface="Calibri"/>
              </a:rPr>
              <a:t>share).</a:t>
            </a:r>
          </a:p>
        </p:txBody>
      </p:sp>
      <p:sp>
        <p:nvSpPr>
          <p:cNvPr id="58" name="TextBox 57"/>
          <p:cNvSpPr txBox="1"/>
          <p:nvPr/>
        </p:nvSpPr>
        <p:spPr>
          <a:xfrm>
            <a:off x="6305550" y="3314700"/>
            <a:ext cx="5209083" cy="186689"/>
          </a:xfrm>
          <a:prstGeom prst="rect">
            <a:avLst/>
          </a:prstGeom>
          <a:noFill/>
        </p:spPr>
        <p:txBody>
          <a:bodyPr wrap="none" lIns="0" tIns="0" rIns="0" bIns="0">
            <a:spAutoFit/>
          </a:bodyPr>
          <a:lstStyle/>
          <a:p>
            <a:r>
              <a:rPr sz="1100" b="0">
                <a:solidFill>
                  <a:srgbClr val="2E2E2E"/>
                </a:solidFill>
                <a:latin typeface="Calibri"/>
              </a:rPr>
              <a:t>▪ R&amp;D aligns with the migration to 'Flat Dividers &amp; Layer Pads' and adjacent premium tiers.</a:t>
            </a:r>
          </a:p>
        </p:txBody>
      </p:sp>
      <p:sp>
        <p:nvSpPr>
          <p:cNvPr id="59" name="TextBox 58"/>
          <p:cNvSpPr txBox="1"/>
          <p:nvPr/>
        </p:nvSpPr>
        <p:spPr>
          <a:xfrm>
            <a:off x="6305550" y="3532632"/>
            <a:ext cx="4451920" cy="186689"/>
          </a:xfrm>
          <a:prstGeom prst="rect">
            <a:avLst/>
          </a:prstGeom>
          <a:noFill/>
        </p:spPr>
        <p:txBody>
          <a:bodyPr wrap="none" lIns="0" tIns="0" rIns="0" bIns="0">
            <a:spAutoFit/>
          </a:bodyPr>
          <a:lstStyle/>
          <a:p>
            <a:r>
              <a:rPr sz="1100" b="0">
                <a:solidFill>
                  <a:srgbClr val="2E2E2E"/>
                </a:solidFill>
                <a:latin typeface="Calibri"/>
              </a:rPr>
              <a:t>▪ Development spend targets partition type categories gaining share to 2036.</a:t>
            </a:r>
          </a:p>
        </p:txBody>
      </p:sp>
      <p:sp>
        <p:nvSpPr>
          <p:cNvPr id="60" name="TextBox 59"/>
          <p:cNvSpPr txBox="1"/>
          <p:nvPr/>
        </p:nvSpPr>
        <p:spPr>
          <a:xfrm>
            <a:off x="6305550" y="3750564"/>
            <a:ext cx="1594346" cy="186689"/>
          </a:xfrm>
          <a:prstGeom prst="rect">
            <a:avLst/>
          </a:prstGeom>
          <a:noFill/>
        </p:spPr>
        <p:txBody>
          <a:bodyPr wrap="none" lIns="0" tIns="0" rIns="0" bIns="0">
            <a:spAutoFit/>
          </a:bodyPr>
          <a:lstStyle/>
          <a:p>
            <a:r>
              <a:rPr sz="110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847947" y="3740785"/>
            <a:ext cx="128699" cy="187198"/>
          </a:xfrm>
          <a:prstGeom prst="rect">
            <a:avLst/>
          </a:prstGeom>
        </p:spPr>
      </p:pic>
      <p:sp>
        <p:nvSpPr>
          <p:cNvPr id="62" name="TextBox 61"/>
          <p:cNvSpPr txBox="1"/>
          <p:nvPr/>
        </p:nvSpPr>
        <p:spPr>
          <a:xfrm>
            <a:off x="8015443" y="3750564"/>
            <a:ext cx="924478" cy="186689"/>
          </a:xfrm>
          <a:prstGeom prst="rect">
            <a:avLst/>
          </a:prstGeom>
          <a:noFill/>
        </p:spPr>
        <p:txBody>
          <a:bodyPr wrap="none" lIns="0" tIns="0" rIns="0" bIns="0">
            <a:spAutoFit/>
          </a:bodyPr>
          <a:lstStyle/>
          <a:p>
            <a:r>
              <a:rPr sz="110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76225" y="1066800"/>
            <a:ext cx="5610225" cy="209550"/>
          </a:xfrm>
          <a:prstGeom prst="rect">
            <a:avLst/>
          </a:prstGeom>
          <a:noFill/>
        </p:spPr>
        <p:txBody>
          <a:bodyPr wrap="square" lIns="0" tIns="9525" rIns="19050"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76225" y="1390650"/>
            <a:ext cx="5610225" cy="1200150"/>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305550" y="1066800"/>
            <a:ext cx="5610225" cy="209550"/>
          </a:xfrm>
          <a:prstGeom prst="rect">
            <a:avLst/>
          </a:prstGeom>
          <a:noFill/>
        </p:spPr>
        <p:txBody>
          <a:bodyPr wrap="square" lIns="0" tIns="9525" rIns="19050"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6305550" y="1390650"/>
            <a:ext cx="5610225" cy="1200150"/>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'Flat Dividers &amp; Layer Pads' tier and Electronics &amp; Electrical within end use.</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76225" y="2886075"/>
            <a:ext cx="5610225" cy="209550"/>
          </a:xfrm>
          <a:prstGeom prst="rect">
            <a:avLst/>
          </a:prstGeom>
          <a:noFill/>
        </p:spPr>
        <p:txBody>
          <a:bodyPr wrap="square" lIns="0" tIns="9525" rIns="19050"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76225" y="3209925"/>
            <a:ext cx="5610225" cy="1200150"/>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05550" y="2886075"/>
            <a:ext cx="5610225" cy="209550"/>
          </a:xfrm>
          <a:prstGeom prst="rect">
            <a:avLst/>
          </a:prstGeom>
          <a:noFill/>
        </p:spPr>
        <p:txBody>
          <a:bodyPr wrap="square" lIns="0" tIns="9525" rIns="19050" bIns="9525">
            <a:spAutoFit/>
          </a:bodyPr>
          <a:lstStyle/>
          <a:p>
            <a:pPr algn="l"/>
            <a:r>
              <a:rPr sz="1300" b="1">
                <a:solidFill>
                  <a:srgbClr val="0B2E4A"/>
                </a:solidFill>
                <a:latin typeface="Calibri"/>
              </a:rPr>
              <a:t>Market Region</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6305550" y="3209925"/>
            <a:ext cx="5610225" cy="1200150"/>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276225" y="4705350"/>
            <a:ext cx="11639550" cy="209550"/>
          </a:xfrm>
          <a:prstGeom prst="rect">
            <a:avLst/>
          </a:prstGeom>
          <a:noFill/>
        </p:spPr>
        <p:txBody>
          <a:bodyPr wrap="square" lIns="0" tIns="9525" rIns="19050"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276225" y="5029200"/>
            <a:ext cx="11639550" cy="15144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0" name="TextBox 2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456659" cy="194310"/>
          </a:xfrm>
          <a:prstGeom prst="rect">
            <a:avLst/>
          </a:prstGeom>
          <a:noFill/>
        </p:spPr>
        <p:txBody>
          <a:bodyPr wrap="none" lIns="0" tIns="0" rIns="0" bIns="0">
            <a:spAutoFit/>
          </a:bodyPr>
          <a:lstStyle/>
          <a:p>
            <a:r>
              <a:rPr sz="1150" b="0">
                <a:solidFill>
                  <a:srgbClr val="2E2E2E"/>
                </a:solidFill>
                <a:latin typeface="Calibri"/>
              </a:rPr>
              <a:t>▪ Balance scale in 'Flat Dividers &amp; Layer Pads' with targeted growth in 'Flat Dividers &amp; Layer</a:t>
            </a:r>
          </a:p>
        </p:txBody>
      </p:sp>
      <p:sp>
        <p:nvSpPr>
          <p:cNvPr id="32" name="TextBox 31"/>
          <p:cNvSpPr txBox="1"/>
          <p:nvPr/>
        </p:nvSpPr>
        <p:spPr>
          <a:xfrm>
            <a:off x="276225" y="1575435"/>
            <a:ext cx="1206375" cy="194310"/>
          </a:xfrm>
          <a:prstGeom prst="rect">
            <a:avLst/>
          </a:prstGeom>
          <a:noFill/>
        </p:spPr>
        <p:txBody>
          <a:bodyPr wrap="none" lIns="0" tIns="0" rIns="0" bIns="0">
            <a:spAutoFit/>
          </a:bodyPr>
          <a:lstStyle/>
          <a:p>
            <a:r>
              <a:rPr sz="1150" b="0">
                <a:solidFill>
                  <a:srgbClr val="2E2E2E"/>
                </a:solidFill>
                <a:latin typeface="Calibri"/>
              </a:rPr>
              <a:t>Pads', pursuing the</a:t>
            </a:r>
          </a:p>
        </p:txBody>
      </p:sp>
      <p:pic>
        <p:nvPicPr>
          <p:cNvPr id="33" name="Picture 32" descr="lock.png"/>
          <p:cNvPicPr>
            <a:picLocks noChangeAspect="1"/>
          </p:cNvPicPr>
          <p:nvPr/>
        </p:nvPicPr>
        <p:blipFill>
          <a:blip r:embed="rId4"/>
          <a:stretch>
            <a:fillRect/>
          </a:stretch>
        </p:blipFill>
        <p:spPr>
          <a:xfrm>
            <a:off x="1431754" y="1565211"/>
            <a:ext cx="134549" cy="195707"/>
          </a:xfrm>
          <a:prstGeom prst="rect">
            <a:avLst/>
          </a:prstGeom>
        </p:spPr>
      </p:pic>
      <p:sp>
        <p:nvSpPr>
          <p:cNvPr id="34" name="TextBox 33"/>
          <p:cNvSpPr txBox="1"/>
          <p:nvPr/>
        </p:nvSpPr>
        <p:spPr>
          <a:xfrm>
            <a:off x="1606864" y="1575435"/>
            <a:ext cx="1551800" cy="194310"/>
          </a:xfrm>
          <a:prstGeom prst="rect">
            <a:avLst/>
          </a:prstGeom>
          <a:noFill/>
        </p:spPr>
        <p:txBody>
          <a:bodyPr wrap="none" lIns="0" tIns="0" rIns="0" bIns="0">
            <a:spAutoFit/>
          </a:bodyPr>
          <a:lstStyle/>
          <a:p>
            <a:r>
              <a:rPr sz="1150" b="0">
                <a:solidFill>
                  <a:srgbClr val="2E2E2E"/>
                </a:solidFill>
                <a:latin typeface="Calibri"/>
              </a:rPr>
              <a:t>CAGR trajectory to 2036.</a:t>
            </a:r>
          </a:p>
        </p:txBody>
      </p:sp>
      <p:sp>
        <p:nvSpPr>
          <p:cNvPr id="35" name="TextBox 34"/>
          <p:cNvSpPr txBox="1"/>
          <p:nvPr/>
        </p:nvSpPr>
        <p:spPr>
          <a:xfrm>
            <a:off x="276225" y="3219450"/>
            <a:ext cx="2403016" cy="194310"/>
          </a:xfrm>
          <a:prstGeom prst="rect">
            <a:avLst/>
          </a:prstGeom>
          <a:noFill/>
        </p:spPr>
        <p:txBody>
          <a:bodyPr wrap="none" lIns="0" tIns="0" rIns="0" bIns="0">
            <a:spAutoFit/>
          </a:bodyPr>
          <a:lstStyle/>
          <a:p>
            <a:r>
              <a:rPr sz="1150" b="0">
                <a:solidFill>
                  <a:srgbClr val="2E2E2E"/>
                </a:solidFill>
                <a:latin typeface="Calibri"/>
              </a:rPr>
              <a:t>▪ Prioritise 'Flat Dividers &amp; Layer Pads' (</a:t>
            </a:r>
          </a:p>
        </p:txBody>
      </p:sp>
      <p:pic>
        <p:nvPicPr>
          <p:cNvPr id="36" name="Picture 35" descr="lock.png"/>
          <p:cNvPicPr>
            <a:picLocks noChangeAspect="1"/>
          </p:cNvPicPr>
          <p:nvPr/>
        </p:nvPicPr>
        <p:blipFill>
          <a:blip r:embed="rId4"/>
          <a:stretch>
            <a:fillRect/>
          </a:stretch>
        </p:blipFill>
        <p:spPr>
          <a:xfrm>
            <a:off x="2628395" y="3209226"/>
            <a:ext cx="134549" cy="195707"/>
          </a:xfrm>
          <a:prstGeom prst="rect">
            <a:avLst/>
          </a:prstGeom>
        </p:spPr>
      </p:pic>
      <p:sp>
        <p:nvSpPr>
          <p:cNvPr id="37" name="TextBox 36"/>
          <p:cNvSpPr txBox="1"/>
          <p:nvPr/>
        </p:nvSpPr>
        <p:spPr>
          <a:xfrm>
            <a:off x="2803504" y="3219450"/>
            <a:ext cx="2293193" cy="194310"/>
          </a:xfrm>
          <a:prstGeom prst="rect">
            <a:avLst/>
          </a:prstGeom>
          <a:noFill/>
        </p:spPr>
        <p:txBody>
          <a:bodyPr wrap="none" lIns="0" tIns="0" rIns="0" bIns="0">
            <a:spAutoFit/>
          </a:bodyPr>
          <a:lstStyle/>
          <a:p>
            <a:r>
              <a:rPr sz="1150" b="0">
                <a:solidFill>
                  <a:srgbClr val="2E2E2E"/>
                </a:solidFill>
                <a:latin typeface="Calibri"/>
              </a:rPr>
              <a:t>); 'Flat Dividers &amp; Layer Pads' anchors</a:t>
            </a:r>
          </a:p>
        </p:txBody>
      </p:sp>
      <p:pic>
        <p:nvPicPr>
          <p:cNvPr id="38" name="Picture 37" descr="lock.png"/>
          <p:cNvPicPr>
            <a:picLocks noChangeAspect="1"/>
          </p:cNvPicPr>
          <p:nvPr/>
        </p:nvPicPr>
        <p:blipFill>
          <a:blip r:embed="rId4"/>
          <a:stretch>
            <a:fillRect/>
          </a:stretch>
        </p:blipFill>
        <p:spPr>
          <a:xfrm>
            <a:off x="5045851" y="3209226"/>
            <a:ext cx="134549" cy="195707"/>
          </a:xfrm>
          <a:prstGeom prst="rect">
            <a:avLst/>
          </a:prstGeom>
        </p:spPr>
      </p:pic>
      <p:sp>
        <p:nvSpPr>
          <p:cNvPr id="39" name="TextBox 38"/>
          <p:cNvSpPr txBox="1"/>
          <p:nvPr/>
        </p:nvSpPr>
        <p:spPr>
          <a:xfrm>
            <a:off x="5220960" y="3219450"/>
            <a:ext cx="197718" cy="194310"/>
          </a:xfrm>
          <a:prstGeom prst="rect">
            <a:avLst/>
          </a:prstGeom>
          <a:noFill/>
        </p:spPr>
        <p:txBody>
          <a:bodyPr wrap="none" lIns="0" tIns="0" rIns="0" bIns="0">
            <a:spAutoFit/>
          </a:bodyPr>
          <a:lstStyle/>
          <a:p>
            <a:r>
              <a:rPr sz="1150" b="0">
                <a:solidFill>
                  <a:srgbClr val="2E2E2E"/>
                </a:solidFill>
                <a:latin typeface="Calibri"/>
              </a:rPr>
              <a:t>of</a:t>
            </a:r>
          </a:p>
        </p:txBody>
      </p:sp>
      <p:sp>
        <p:nvSpPr>
          <p:cNvPr id="40" name="TextBox 39"/>
          <p:cNvSpPr txBox="1"/>
          <p:nvPr/>
        </p:nvSpPr>
        <p:spPr>
          <a:xfrm>
            <a:off x="276225" y="3394710"/>
            <a:ext cx="431911" cy="194310"/>
          </a:xfrm>
          <a:prstGeom prst="rect">
            <a:avLst/>
          </a:prstGeom>
          <a:noFill/>
        </p:spPr>
        <p:txBody>
          <a:bodyPr wrap="none" lIns="0" tIns="0" rIns="0" bIns="0">
            <a:spAutoFit/>
          </a:bodyPr>
          <a:lstStyle/>
          <a:p>
            <a:r>
              <a:rPr sz="1150" b="0">
                <a:solidFill>
                  <a:srgbClr val="2E2E2E"/>
                </a:solidFill>
                <a:latin typeface="Calibri"/>
              </a:rPr>
              <a:t>value.</a:t>
            </a:r>
          </a:p>
        </p:txBody>
      </p:sp>
      <p:sp>
        <p:nvSpPr>
          <p:cNvPr id="41" name="TextBox 40"/>
          <p:cNvSpPr txBox="1"/>
          <p:nvPr/>
        </p:nvSpPr>
        <p:spPr>
          <a:xfrm>
            <a:off x="6305550" y="3219450"/>
            <a:ext cx="1720688" cy="194310"/>
          </a:xfrm>
          <a:prstGeom prst="rect">
            <a:avLst/>
          </a:prstGeom>
          <a:noFill/>
        </p:spPr>
        <p:txBody>
          <a:bodyPr wrap="none" lIns="0" tIns="0" rIns="0" bIns="0">
            <a:spAutoFit/>
          </a:bodyPr>
          <a:lstStyle/>
          <a:p>
            <a:r>
              <a:rPr sz="1150" b="0">
                <a:solidFill>
                  <a:srgbClr val="2E2E2E"/>
                </a:solidFill>
                <a:latin typeface="Calibri"/>
              </a:rPr>
              <a:t>▪ Lead with North America (</a:t>
            </a:r>
          </a:p>
        </p:txBody>
      </p:sp>
      <p:pic>
        <p:nvPicPr>
          <p:cNvPr id="42" name="Picture 41" descr="lock.png"/>
          <p:cNvPicPr>
            <a:picLocks noChangeAspect="1"/>
          </p:cNvPicPr>
          <p:nvPr/>
        </p:nvPicPr>
        <p:blipFill>
          <a:blip r:embed="rId4"/>
          <a:stretch>
            <a:fillRect/>
          </a:stretch>
        </p:blipFill>
        <p:spPr>
          <a:xfrm>
            <a:off x="7975392" y="3209226"/>
            <a:ext cx="134549" cy="195707"/>
          </a:xfrm>
          <a:prstGeom prst="rect">
            <a:avLst/>
          </a:prstGeom>
        </p:spPr>
      </p:pic>
      <p:sp>
        <p:nvSpPr>
          <p:cNvPr id="43" name="TextBox 42"/>
          <p:cNvSpPr txBox="1"/>
          <p:nvPr/>
        </p:nvSpPr>
        <p:spPr>
          <a:xfrm>
            <a:off x="8150501" y="3219450"/>
            <a:ext cx="2502854" cy="194310"/>
          </a:xfrm>
          <a:prstGeom prst="rect">
            <a:avLst/>
          </a:prstGeom>
          <a:noFill/>
        </p:spPr>
        <p:txBody>
          <a:bodyPr wrap="none" lIns="0" tIns="0" rIns="0" bIns="0">
            <a:spAutoFit/>
          </a:bodyPr>
          <a:lstStyle/>
          <a:p>
            <a:r>
              <a:rPr sz="1150" b="0">
                <a:solidFill>
                  <a:srgbClr val="2E2E2E"/>
                </a:solidFill>
                <a:latin typeface="Calibri"/>
              </a:rPr>
              <a:t>); capture upside in South Asia &amp; Pacific (</a:t>
            </a:r>
          </a:p>
        </p:txBody>
      </p:sp>
      <p:pic>
        <p:nvPicPr>
          <p:cNvPr id="44" name="Picture 43" descr="lock.png"/>
          <p:cNvPicPr>
            <a:picLocks noChangeAspect="1"/>
          </p:cNvPicPr>
          <p:nvPr/>
        </p:nvPicPr>
        <p:blipFill>
          <a:blip r:embed="rId4"/>
          <a:stretch>
            <a:fillRect/>
          </a:stretch>
        </p:blipFill>
        <p:spPr>
          <a:xfrm>
            <a:off x="10602510" y="3209226"/>
            <a:ext cx="134549" cy="195707"/>
          </a:xfrm>
          <a:prstGeom prst="rect">
            <a:avLst/>
          </a:prstGeom>
        </p:spPr>
      </p:pic>
      <p:sp>
        <p:nvSpPr>
          <p:cNvPr id="45" name="TextBox 44"/>
          <p:cNvSpPr txBox="1"/>
          <p:nvPr/>
        </p:nvSpPr>
        <p:spPr>
          <a:xfrm>
            <a:off x="10777620" y="3219450"/>
            <a:ext cx="157212" cy="194310"/>
          </a:xfrm>
          <a:prstGeom prst="rect">
            <a:avLst/>
          </a:prstGeom>
          <a:noFill/>
        </p:spPr>
        <p:txBody>
          <a:bodyPr wrap="none" lIns="0" tIns="0" rIns="0" bIns="0">
            <a:spAutoFit/>
          </a:bodyPr>
          <a:lstStyle/>
          <a:p>
            <a:r>
              <a:rPr sz="1150" b="0">
                <a:solidFill>
                  <a:srgbClr val="2E2E2E"/>
                </a:solidFill>
                <a:latin typeface="Calibri"/>
              </a:rPr>
              <a:t>).</a:t>
            </a:r>
          </a:p>
        </p:txBody>
      </p:sp>
      <p:sp>
        <p:nvSpPr>
          <p:cNvPr id="46" name="TextBox 45"/>
          <p:cNvSpPr txBox="1"/>
          <p:nvPr/>
        </p:nvSpPr>
        <p:spPr>
          <a:xfrm>
            <a:off x="276225" y="5038725"/>
            <a:ext cx="1694160" cy="194310"/>
          </a:xfrm>
          <a:prstGeom prst="rect">
            <a:avLst/>
          </a:prstGeom>
          <a:noFill/>
        </p:spPr>
        <p:txBody>
          <a:bodyPr wrap="none" lIns="0" tIns="0" rIns="0" bIns="0">
            <a:spAutoFit/>
          </a:bodyPr>
          <a:lstStyle/>
          <a:p>
            <a:r>
              <a:rPr sz="1150" b="0">
                <a:solidFill>
                  <a:srgbClr val="2E2E2E"/>
                </a:solidFill>
                <a:latin typeface="Calibri"/>
              </a:rPr>
              <a:t>▪ Corrugated Partition adds</a:t>
            </a:r>
          </a:p>
        </p:txBody>
      </p:sp>
      <p:pic>
        <p:nvPicPr>
          <p:cNvPr id="47" name="Picture 46" descr="lock.png"/>
          <p:cNvPicPr>
            <a:picLocks noChangeAspect="1"/>
          </p:cNvPicPr>
          <p:nvPr/>
        </p:nvPicPr>
        <p:blipFill>
          <a:blip r:embed="rId4"/>
          <a:stretch>
            <a:fillRect/>
          </a:stretch>
        </p:blipFill>
        <p:spPr>
          <a:xfrm>
            <a:off x="1919539" y="5028501"/>
            <a:ext cx="134549" cy="195707"/>
          </a:xfrm>
          <a:prstGeom prst="rect">
            <a:avLst/>
          </a:prstGeom>
        </p:spPr>
      </p:pic>
      <p:sp>
        <p:nvSpPr>
          <p:cNvPr id="48" name="TextBox 47"/>
          <p:cNvSpPr txBox="1"/>
          <p:nvPr/>
        </p:nvSpPr>
        <p:spPr>
          <a:xfrm>
            <a:off x="2094648" y="5038725"/>
            <a:ext cx="1815107" cy="194310"/>
          </a:xfrm>
          <a:prstGeom prst="rect">
            <a:avLst/>
          </a:prstGeom>
          <a:noFill/>
        </p:spPr>
        <p:txBody>
          <a:bodyPr wrap="none" lIns="0" tIns="0" rIns="0" bIns="0">
            <a:spAutoFit/>
          </a:bodyPr>
          <a:lstStyle/>
          <a:p>
            <a:r>
              <a:rPr sz="1150" b="0">
                <a:solidFill>
                  <a:srgbClr val="2E2E2E"/>
                </a:solidFill>
                <a:latin typeface="Calibri"/>
              </a:rPr>
              <a:t>US$ Mn of demand to 2036 a</a:t>
            </a:r>
          </a:p>
        </p:txBody>
      </p:sp>
      <p:pic>
        <p:nvPicPr>
          <p:cNvPr id="49" name="Picture 48" descr="lock.png"/>
          <p:cNvPicPr>
            <a:picLocks noChangeAspect="1"/>
          </p:cNvPicPr>
          <p:nvPr/>
        </p:nvPicPr>
        <p:blipFill>
          <a:blip r:embed="rId4"/>
          <a:stretch>
            <a:fillRect/>
          </a:stretch>
        </p:blipFill>
        <p:spPr>
          <a:xfrm>
            <a:off x="3858910" y="5028501"/>
            <a:ext cx="134549" cy="195707"/>
          </a:xfrm>
          <a:prstGeom prst="rect">
            <a:avLst/>
          </a:prstGeom>
        </p:spPr>
      </p:pic>
      <p:sp>
        <p:nvSpPr>
          <p:cNvPr id="50" name="TextBox 49"/>
          <p:cNvSpPr txBox="1"/>
          <p:nvPr/>
        </p:nvSpPr>
        <p:spPr>
          <a:xfrm>
            <a:off x="4034019" y="5038725"/>
            <a:ext cx="822709" cy="194310"/>
          </a:xfrm>
          <a:prstGeom prst="rect">
            <a:avLst/>
          </a:prstGeom>
          <a:noFill/>
        </p:spPr>
        <p:txBody>
          <a:bodyPr wrap="none" lIns="0" tIns="0" rIns="0" bIns="0">
            <a:spAutoFit/>
          </a:bodyPr>
          <a:lstStyle/>
          <a:p>
            <a:r>
              <a:rPr sz="1150" b="0">
                <a:solidFill>
                  <a:srgbClr val="2E2E2E"/>
                </a:solidFill>
                <a:latin typeface="Calibri"/>
              </a:rPr>
              <a:t>× expansion.</a:t>
            </a:r>
          </a:p>
        </p:txBody>
      </p:sp>
      <p:sp>
        <p:nvSpPr>
          <p:cNvPr id="51" name="TextBox 50"/>
          <p:cNvSpPr txBox="1"/>
          <p:nvPr/>
        </p:nvSpPr>
        <p:spPr>
          <a:xfrm>
            <a:off x="276225" y="5266563"/>
            <a:ext cx="6265639" cy="194310"/>
          </a:xfrm>
          <a:prstGeom prst="rect">
            <a:avLst/>
          </a:prstGeom>
          <a:noFill/>
        </p:spPr>
        <p:txBody>
          <a:bodyPr wrap="none" lIns="0" tIns="0" rIns="0" bIns="0">
            <a:spAutoFit/>
          </a:bodyPr>
          <a:lstStyle/>
          <a:p>
            <a:r>
              <a:rPr sz="1150" b="0">
                <a:solidFill>
                  <a:srgbClr val="2E2E2E"/>
                </a:solidFill>
                <a:latin typeface="Calibri"/>
              </a:rPr>
              <a:t>▪ Concentrate resources on the leading segment/region while seeding the fastest-growing pockets early.</a:t>
            </a:r>
          </a:p>
        </p:txBody>
      </p:sp>
      <p:sp>
        <p:nvSpPr>
          <p:cNvPr id="52" name="TextBox 51"/>
          <p:cNvSpPr txBox="1"/>
          <p:nvPr/>
        </p:nvSpPr>
        <p:spPr>
          <a:xfrm>
            <a:off x="276225" y="5494400"/>
            <a:ext cx="4894423" cy="194310"/>
          </a:xfrm>
          <a:prstGeom prst="rect">
            <a:avLst/>
          </a:prstGeom>
          <a:noFill/>
        </p:spPr>
        <p:txBody>
          <a:bodyPr wrap="none" lIns="0" tIns="0" rIns="0" bIns="0">
            <a:spAutoFit/>
          </a:bodyPr>
          <a:lstStyle/>
          <a:p>
            <a:r>
              <a:rPr sz="1150" b="0">
                <a:solidFill>
                  <a:srgbClr val="2E2E2E"/>
                </a:solidFill>
                <a:latin typeface="Calibri"/>
              </a:rPr>
              <a:t>▪ Defend share in 'Flat Dividers &amp; Layer Pads' as the value anchor of the portfolio.</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a:p>
            <a:pPr algn="ctr">
              <a:lnSpc>
                <a:spcPct val="95000"/>
              </a:lnSpc>
            </a:pPr>
            <a:endParaRP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a:p>
            <a:pPr algn="ctr">
              <a:lnSpc>
                <a:spcPct val="95000"/>
              </a:lnSpc>
            </a:pPr>
            <a:endParaRP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a:p>
            <a:pPr algn="ctr">
              <a:lnSpc>
                <a:spcPct val="95000"/>
              </a:lnSpc>
            </a:pPr>
            <a:endParaRP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238125" y="18669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Corrugated Partition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70212"/>
            <a:ext cx="635826" cy="835088"/>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3043936" y="3065938"/>
            <a:ext cx="635826" cy="1239362"/>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4025725" y="2895982"/>
            <a:ext cx="635826" cy="1409318"/>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ectangle 18"/>
          <p:cNvSpPr/>
          <p:nvPr/>
        </p:nvSpPr>
        <p:spPr>
          <a:xfrm>
            <a:off x="5007515" y="2705100"/>
            <a:ext cx="635826" cy="160020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0" name="Connector 19"/>
          <p:cNvCxnSpPr/>
          <p:nvPr/>
        </p:nvCxnSpPr>
        <p:spPr>
          <a:xfrm>
            <a:off x="1456468" y="2932588"/>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27813"/>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wrap="square" lIns="19050" tIns="0" rIns="19050" bIns="0" rtlCol="0" anchor="ctr"/>
          <a:lstStyle/>
          <a:p>
            <a:pPr algn="ctr"/>
            <a:endParaRPr/>
          </a:p>
        </p:txBody>
      </p:sp>
      <p:cxnSp>
        <p:nvCxnSpPr>
          <p:cNvPr id="22" name="Connector 21"/>
          <p:cNvCxnSpPr/>
          <p:nvPr/>
        </p:nvCxnSpPr>
        <p:spPr>
          <a:xfrm>
            <a:off x="1456468" y="2675413"/>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70638"/>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wrap="square" lIns="19050" tIns="0" rIns="19050" bIns="0" rtlCol="0" anchor="ctr"/>
          <a:lstStyle/>
          <a:p>
            <a:pPr algn="ctr"/>
            <a:endParaRPr/>
          </a:p>
        </p:txBody>
      </p:sp>
      <p:cxnSp>
        <p:nvCxnSpPr>
          <p:cNvPr id="24" name="Connector 23"/>
          <p:cNvCxnSpPr/>
          <p:nvPr/>
        </p:nvCxnSpPr>
        <p:spPr>
          <a:xfrm>
            <a:off x="1456468" y="2418238"/>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13463"/>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wrap="square" lIns="19050" tIns="0" rIns="19050" bIns="0" rtlCol="0" anchor="ctr"/>
          <a:lstStyle/>
          <a:p>
            <a:pPr algn="ctr"/>
            <a:endParaRPr/>
          </a:p>
        </p:txBody>
      </p:sp>
      <p:sp>
        <p:nvSpPr>
          <p:cNvPr id="26" name="TextBox 25"/>
          <p:cNvSpPr txBox="1"/>
          <p:nvPr/>
        </p:nvSpPr>
        <p:spPr>
          <a:xfrm>
            <a:off x="643255" y="4333875"/>
            <a:ext cx="762000" cy="180975"/>
          </a:xfrm>
          <a:prstGeom prst="rect">
            <a:avLst/>
          </a:prstGeom>
          <a:noFill/>
        </p:spPr>
        <p:txBody>
          <a:bodyPr wrap="square" lIns="28575" tIns="9525" rIns="2857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tIns="9525" rIns="2857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485775" y="4543425"/>
            <a:ext cx="1647825" cy="190500"/>
          </a:xfrm>
          <a:prstGeom prst="rect">
            <a:avLst/>
          </a:prstGeom>
          <a:noFill/>
        </p:spPr>
        <p:txBody>
          <a:bodyPr wrap="none" lIns="28575" tIns="9525" rIns="2857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381250" y="4543425"/>
            <a:ext cx="1647825" cy="190500"/>
          </a:xfrm>
          <a:prstGeom prst="rect">
            <a:avLst/>
          </a:prstGeom>
          <a:noFill/>
        </p:spPr>
        <p:txBody>
          <a:bodyPr wrap="none" lIns="28575" tIns="9525" rIns="2857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TextBox 32"/>
          <p:cNvSpPr txBox="1"/>
          <p:nvPr/>
        </p:nvSpPr>
        <p:spPr>
          <a:xfrm>
            <a:off x="4276725" y="4543425"/>
            <a:ext cx="1647825" cy="190500"/>
          </a:xfrm>
          <a:prstGeom prst="rect">
            <a:avLst/>
          </a:prstGeom>
          <a:noFill/>
        </p:spPr>
        <p:txBody>
          <a:bodyPr wrap="none" lIns="28575" tIns="9525" rIns="2857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6267450" y="18669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Corrugated Partition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xmlns:r="http://schemas.openxmlformats.org/officeDocument/2006/relationships" r:id="rId4"/>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276225" y="5038725"/>
            <a:ext cx="11639550" cy="209550"/>
          </a:xfrm>
          <a:prstGeom prst="rect">
            <a:avLst/>
          </a:prstGeom>
          <a:noFill/>
        </p:spPr>
        <p:txBody>
          <a:bodyPr wrap="square" lIns="0" tIns="9525" rIns="19050"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276225" y="5362575"/>
            <a:ext cx="11639550" cy="11906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1" name="TextBox 4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tIns="0" r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tIns="0" r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tIns="0" r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tIns="0" r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tIns="0" r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tIns="0" r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862179"/>
            <a:ext cx="382383" cy="159867"/>
          </a:xfrm>
          <a:prstGeom prst="rect">
            <a:avLst/>
          </a:prstGeom>
          <a:noFill/>
        </p:spPr>
        <p:txBody>
          <a:bodyPr wrap="none" lIns="0" tIns="0" r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53964"/>
            <a:ext cx="108107" cy="157246"/>
          </a:xfrm>
          <a:prstGeom prst="rect">
            <a:avLst/>
          </a:prstGeom>
        </p:spPr>
      </p:pic>
      <p:sp>
        <p:nvSpPr>
          <p:cNvPr id="56" name="TextBox 55"/>
          <p:cNvSpPr txBox="1"/>
          <p:nvPr/>
        </p:nvSpPr>
        <p:spPr>
          <a:xfrm>
            <a:off x="2032418" y="2605004"/>
            <a:ext cx="382383" cy="159867"/>
          </a:xfrm>
          <a:prstGeom prst="rect">
            <a:avLst/>
          </a:prstGeom>
          <a:noFill/>
        </p:spPr>
        <p:txBody>
          <a:bodyPr wrap="none" lIns="0" tIns="0" r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596789"/>
            <a:ext cx="108107" cy="157246"/>
          </a:xfrm>
          <a:prstGeom prst="rect">
            <a:avLst/>
          </a:prstGeom>
        </p:spPr>
      </p:pic>
      <p:sp>
        <p:nvSpPr>
          <p:cNvPr id="58" name="TextBox 57"/>
          <p:cNvSpPr txBox="1"/>
          <p:nvPr/>
        </p:nvSpPr>
        <p:spPr>
          <a:xfrm>
            <a:off x="2032418" y="2347829"/>
            <a:ext cx="382383" cy="159867"/>
          </a:xfrm>
          <a:prstGeom prst="rect">
            <a:avLst/>
          </a:prstGeom>
          <a:noFill/>
        </p:spPr>
        <p:txBody>
          <a:bodyPr wrap="none" lIns="0" tIns="0" r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339614"/>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tIns="0" r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tIns="0" r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tIns="0" r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tIns="0" r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tIns="0" r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tIns="0" r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tIns="0" r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tIns="0" rIns="0" bIns="0">
            <a:spAutoFit/>
          </a:bodyPr>
          <a:lstStyle/>
          <a:p>
            <a:r>
              <a:rPr sz="1150" b="0">
                <a:solidFill>
                  <a:srgbClr val="2E2E2E"/>
                </a:solidFill>
                <a:latin typeface="Calibri"/>
              </a:rPr>
              <a:t>across the 2026–2036 horizon.</a:t>
            </a:r>
          </a:p>
        </p:txBody>
      </p:sp>
      <p:sp>
        <p:nvSpPr>
          <p:cNvPr id="78"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898775"/>
            <a:ext cx="8572500" cy="514350"/>
          </a:xfrm>
          <a:prstGeom prst="rect">
            <a:avLst/>
          </a:prstGeom>
          <a:noFill/>
        </p:spPr>
        <p:txBody>
          <a:bodyPr wrap="square" lIns="0" tIns="0" r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Global Corrugated Partition – Regional Outlook</a:t>
            </a:r>
          </a:p>
          <a:p>
            <a:pPr marL="342900" indent="-323850">
              <a:lnSpc>
                <a:spcPct val="100000"/>
              </a:lnSpc>
              <a:spcAft>
                <a:spcPts val="800"/>
              </a:spcAft>
            </a:pPr>
            <a:r>
              <a:rPr sz="2000" b="0">
                <a:solidFill>
                  <a:srgbClr val="000000"/>
                </a:solidFill>
                <a:latin typeface="Calibri"/>
              </a:rPr>
              <a:t>➤	Market Analysis By Region</a:t>
            </a:r>
          </a:p>
          <a:p>
            <a:pPr marL="342900" indent="-323850">
              <a:lnSpc>
                <a:spcPct val="100000"/>
              </a:lnSpc>
              <a:spcAft>
                <a:spcPts val="800"/>
              </a:spcAft>
            </a:pPr>
            <a:r>
              <a:rPr sz="2000" b="0">
                <a:solidFill>
                  <a:srgbClr val="000000"/>
                </a:solidFill>
                <a:latin typeface="Calibri"/>
              </a:rPr>
              <a:t>➤	Volume Share Analysis By Region</a:t>
            </a:r>
          </a:p>
          <a:p>
            <a:pPr marL="342900" indent="-323850">
              <a:lnSpc>
                <a:spcPct val="100000"/>
              </a:lnSpc>
              <a:spcAft>
                <a:spcPts val="800"/>
              </a:spcAft>
            </a:pPr>
            <a:r>
              <a:rPr sz="2000" b="0">
                <a:solidFill>
                  <a:srgbClr val="000000"/>
                </a:solidFill>
                <a:latin typeface="Calibri"/>
              </a:rPr>
              <a:t>➤	Value Share Analysis By Region</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 Regional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1495425" cy="438089"/>
          </a:xfrm>
          <a:prstGeom prst="rect">
            <a:avLst/>
          </a:prstGeom>
          <a:noFill/>
        </p:spPr>
        <p:txBody>
          <a:bodyPr wrap="square" lIns="28575" tIns="9525" rIns="2857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3590925" y="1773916"/>
            <a:ext cx="1495425" cy="438089"/>
          </a:xfrm>
          <a:prstGeom prst="rect">
            <a:avLst/>
          </a:prstGeom>
          <a:noFill/>
        </p:spPr>
        <p:txBody>
          <a:bodyPr wrap="square" lIns="28575" tIns="9525" rIns="28575" bIns="9525" anchor="ctr">
            <a:spAutoFit/>
          </a:bodyPr>
          <a:lstStyle/>
          <a:p>
            <a:pPr algn="ctr"/>
            <a:r>
              <a:rPr sz="1100" b="1">
                <a:solidFill>
                  <a:srgbClr val="FFFFFF"/>
                </a:solidFill>
                <a:latin typeface="Calibri"/>
              </a:rPr>
              <a:t>Europe</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5276850" y="1773916"/>
            <a:ext cx="1495425" cy="438089"/>
          </a:xfrm>
          <a:prstGeom prst="rect">
            <a:avLst/>
          </a:prstGeom>
          <a:noFill/>
        </p:spPr>
        <p:txBody>
          <a:bodyPr wrap="square" lIns="28575" tIns="9525" rIns="28575" bIns="9525" anchor="ctr">
            <a:spAutoFit/>
          </a:bodyPr>
          <a:lstStyle/>
          <a:p>
            <a:pPr algn="ctr"/>
            <a:r>
              <a:rPr sz="1100" b="1">
                <a:solidFill>
                  <a:srgbClr val="FFFFFF"/>
                </a:solidFill>
                <a:latin typeface="Calibri"/>
              </a:rPr>
              <a:t>East Asia</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6962775" y="1773916"/>
            <a:ext cx="1495425" cy="438089"/>
          </a:xfrm>
          <a:prstGeom prst="rect">
            <a:avLst/>
          </a:prstGeom>
          <a:noFill/>
        </p:spPr>
        <p:txBody>
          <a:bodyPr wrap="square" lIns="28575" tIns="9525" rIns="2857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8648700" y="1773916"/>
            <a:ext cx="1495425" cy="438089"/>
          </a:xfrm>
          <a:prstGeom prst="rect">
            <a:avLst/>
          </a:prstGeom>
          <a:noFill/>
        </p:spPr>
        <p:txBody>
          <a:bodyPr wrap="square" lIns="28575" tIns="9525" rIns="2857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10334625" y="1773916"/>
            <a:ext cx="1495425" cy="438089"/>
          </a:xfrm>
          <a:prstGeom prst="rect">
            <a:avLst/>
          </a:prstGeom>
          <a:noFill/>
        </p:spPr>
        <p:txBody>
          <a:bodyPr wrap="square" lIns="28575" tIns="9525" rIns="2857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TextBox 62"/>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TextBox 64"/>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TextBox 66"/>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TextBox 68"/>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TextBox 74"/>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78" name="Picture 77" descr="1_056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1_572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4_1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864_0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1_484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5_6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416_0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664_5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4_8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384_0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676_6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5_8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256_0_605E5C.png"/>
          <p:cNvPicPr>
            <a:picLocks noChangeAspect="1"/>
          </p:cNvPicPr>
          <p:nvPr/>
        </p:nvPicPr>
        <p:blipFill>
          <a:blip r:embed="rId16"/>
          <a:stretch>
            <a:fillRect/>
          </a:stretch>
        </p:blipFill>
        <p:spPr>
          <a:xfrm>
            <a:off x="8798548" y="2286582"/>
            <a:ext cx="1195728" cy="361950"/>
          </a:xfrm>
          <a:prstGeom prst="rect">
            <a:avLst/>
          </a:prstGeom>
        </p:spPr>
      </p:pic>
      <p:pic>
        <p:nvPicPr>
          <p:cNvPr id="91" name="Picture 90" descr="431_7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5_4__605E5C.png"/>
          <p:cNvPicPr>
            <a:picLocks noChangeAspect="1"/>
          </p:cNvPicPr>
          <p:nvPr/>
        </p:nvPicPr>
        <p:blipFill>
          <a:blip r:embed="rId18"/>
          <a:stretch>
            <a:fillRect/>
          </a:stretch>
        </p:blipFill>
        <p:spPr>
          <a:xfrm>
            <a:off x="8905194" y="3272281"/>
            <a:ext cx="982436" cy="361950"/>
          </a:xfrm>
          <a:prstGeom prst="rect">
            <a:avLst/>
          </a:prstGeom>
        </p:spPr>
      </p:pic>
      <p:pic>
        <p:nvPicPr>
          <p:cNvPr id="93" name="Picture 92" descr="224_0_605E5C.png"/>
          <p:cNvPicPr>
            <a:picLocks noChangeAspect="1"/>
          </p:cNvPicPr>
          <p:nvPr/>
        </p:nvPicPr>
        <p:blipFill>
          <a:blip r:embed="rId19"/>
          <a:stretch>
            <a:fillRect/>
          </a:stretch>
        </p:blipFill>
        <p:spPr>
          <a:xfrm>
            <a:off x="10484473" y="2286582"/>
            <a:ext cx="1195728" cy="361950"/>
          </a:xfrm>
          <a:prstGeom prst="rect">
            <a:avLst/>
          </a:prstGeom>
        </p:spPr>
      </p:pic>
      <p:pic>
        <p:nvPicPr>
          <p:cNvPr id="94" name="Picture 93" descr="360_0_605E5C.png"/>
          <p:cNvPicPr>
            <a:picLocks noChangeAspect="1"/>
          </p:cNvPicPr>
          <p:nvPr/>
        </p:nvPicPr>
        <p:blipFill>
          <a:blip r:embed="rId20"/>
          <a:stretch>
            <a:fillRect/>
          </a:stretch>
        </p:blipFill>
        <p:spPr>
          <a:xfrm>
            <a:off x="10484473" y="2779432"/>
            <a:ext cx="1195728" cy="361950"/>
          </a:xfrm>
          <a:prstGeom prst="rect">
            <a:avLst/>
          </a:prstGeom>
        </p:spPr>
      </p:pic>
      <p:pic>
        <p:nvPicPr>
          <p:cNvPr id="95" name="Picture 94" descr="4_9__605E5C.png"/>
          <p:cNvPicPr>
            <a:picLocks noChangeAspect="1"/>
          </p:cNvPicPr>
          <p:nvPr/>
        </p:nvPicPr>
        <p:blipFill>
          <a:blip r:embed="rId21"/>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2"/>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2"/>
          <a:stretch>
            <a:fillRect/>
          </a:stretch>
        </p:blipFill>
        <p:spPr>
          <a:xfrm>
            <a:off x="10988992" y="2827057"/>
            <a:ext cx="183356" cy="266700"/>
          </a:xfrm>
          <a:prstGeom prst="rect">
            <a:avLst/>
          </a:prstGeom>
        </p:spPr>
      </p:pic>
      <p:sp>
        <p:nvSpPr>
          <p:cNvPr id="102" name="TextBox 101"/>
          <p:cNvSpPr txBox="1"/>
          <p:nvPr/>
        </p:nvSpPr>
        <p:spPr>
          <a:xfrm>
            <a:off x="485775" y="4229437"/>
            <a:ext cx="2846189" cy="186689"/>
          </a:xfrm>
          <a:prstGeom prst="rect">
            <a:avLst/>
          </a:prstGeom>
          <a:noFill/>
        </p:spPr>
        <p:txBody>
          <a:bodyPr wrap="none" lIns="0" tIns="0" rIns="0" bIns="0">
            <a:spAutoFit/>
          </a:bodyPr>
          <a:lstStyle/>
          <a:p>
            <a:r>
              <a:rPr sz="1100" b="0">
                <a:solidFill>
                  <a:srgbClr val="2E2E2E"/>
                </a:solidFill>
                <a:latin typeface="Calibri"/>
              </a:rPr>
              <a:t>▪ ¶ North America corrugated partition market is</a:t>
            </a:r>
          </a:p>
        </p:txBody>
      </p:sp>
      <p:sp>
        <p:nvSpPr>
          <p:cNvPr id="103" name="TextBox 102"/>
          <p:cNvSpPr txBox="1"/>
          <p:nvPr/>
        </p:nvSpPr>
        <p:spPr>
          <a:xfrm>
            <a:off x="485775" y="4397077"/>
            <a:ext cx="1244550" cy="186689"/>
          </a:xfrm>
          <a:prstGeom prst="rect">
            <a:avLst/>
          </a:prstGeom>
          <a:noFill/>
        </p:spPr>
        <p:txBody>
          <a:bodyPr wrap="none" lIns="0" tIns="0" rIns="0" bIns="0">
            <a:spAutoFit/>
          </a:bodyPr>
          <a:lstStyle/>
          <a:p>
            <a:r>
              <a:rPr sz="1100" b="0">
                <a:solidFill>
                  <a:srgbClr val="2E2E2E"/>
                </a:solidFill>
                <a:latin typeface="Calibri"/>
              </a:rPr>
              <a:t>projected to register</a:t>
            </a:r>
          </a:p>
        </p:txBody>
      </p:sp>
      <p:pic>
        <p:nvPicPr>
          <p:cNvPr id="104" name="Picture 103" descr="lock.png"/>
          <p:cNvPicPr>
            <a:picLocks noChangeAspect="1"/>
          </p:cNvPicPr>
          <p:nvPr/>
        </p:nvPicPr>
        <p:blipFill>
          <a:blip r:embed="rId22"/>
          <a:stretch>
            <a:fillRect/>
          </a:stretch>
        </p:blipFill>
        <p:spPr>
          <a:xfrm>
            <a:off x="1678376" y="4387298"/>
            <a:ext cx="128699" cy="187198"/>
          </a:xfrm>
          <a:prstGeom prst="rect">
            <a:avLst/>
          </a:prstGeom>
        </p:spPr>
      </p:pic>
      <p:sp>
        <p:nvSpPr>
          <p:cNvPr id="105" name="TextBox 104"/>
          <p:cNvSpPr txBox="1"/>
          <p:nvPr/>
        </p:nvSpPr>
        <p:spPr>
          <a:xfrm>
            <a:off x="1845872" y="4397077"/>
            <a:ext cx="1172517" cy="186689"/>
          </a:xfrm>
          <a:prstGeom prst="rect">
            <a:avLst/>
          </a:prstGeom>
          <a:noFill/>
        </p:spPr>
        <p:txBody>
          <a:bodyPr wrap="none" lIns="0" tIns="0" rIns="0" bIns="0">
            <a:spAutoFit/>
          </a:bodyPr>
          <a:lstStyle/>
          <a:p>
            <a:r>
              <a:rPr sz="1100" b="0">
                <a:solidFill>
                  <a:srgbClr val="2E2E2E"/>
                </a:solidFill>
                <a:latin typeface="Calibri"/>
              </a:rPr>
              <a:t>X higher value than</a:t>
            </a:r>
          </a:p>
        </p:txBody>
      </p:sp>
      <p:sp>
        <p:nvSpPr>
          <p:cNvPr id="106" name="TextBox 105"/>
          <p:cNvSpPr txBox="1"/>
          <p:nvPr/>
        </p:nvSpPr>
        <p:spPr>
          <a:xfrm>
            <a:off x="485775" y="4564717"/>
            <a:ext cx="2760513" cy="186689"/>
          </a:xfrm>
          <a:prstGeom prst="rect">
            <a:avLst/>
          </a:prstGeom>
          <a:noFill/>
        </p:spPr>
        <p:txBody>
          <a:bodyPr wrap="none" lIns="0" tIns="0" rIns="0" bIns="0">
            <a:spAutoFit/>
          </a:bodyPr>
          <a:lstStyle/>
          <a:p>
            <a:r>
              <a:rPr sz="1100" b="0">
                <a:solidFill>
                  <a:srgbClr val="2E2E2E"/>
                </a:solidFill>
                <a:latin typeface="Calibri"/>
              </a:rPr>
              <a:t>Europe in 2036. Among corrugated partition by</a:t>
            </a:r>
          </a:p>
        </p:txBody>
      </p:sp>
      <p:sp>
        <p:nvSpPr>
          <p:cNvPr id="107" name="TextBox 106"/>
          <p:cNvSpPr txBox="1"/>
          <p:nvPr/>
        </p:nvSpPr>
        <p:spPr>
          <a:xfrm>
            <a:off x="485775" y="4732357"/>
            <a:ext cx="2914129" cy="186689"/>
          </a:xfrm>
          <a:prstGeom prst="rect">
            <a:avLst/>
          </a:prstGeom>
          <a:noFill/>
        </p:spPr>
        <p:txBody>
          <a:bodyPr wrap="none" lIns="0" tIns="0" rIns="0" bIns="0">
            <a:spAutoFit/>
          </a:bodyPr>
          <a:lstStyle/>
          <a:p>
            <a:r>
              <a:rPr sz="1100" b="0">
                <a:solidFill>
                  <a:srgbClr val="2E2E2E"/>
                </a:solidFill>
                <a:latin typeface="Calibri"/>
              </a:rPr>
              <a:t>region, South Asia &amp; Pacific is expected to witness</a:t>
            </a:r>
          </a:p>
        </p:txBody>
      </p:sp>
      <p:sp>
        <p:nvSpPr>
          <p:cNvPr id="108" name="TextBox 107"/>
          <p:cNvSpPr txBox="1"/>
          <p:nvPr/>
        </p:nvSpPr>
        <p:spPr>
          <a:xfrm>
            <a:off x="485775" y="4899997"/>
            <a:ext cx="1212336" cy="186689"/>
          </a:xfrm>
          <a:prstGeom prst="rect">
            <a:avLst/>
          </a:prstGeom>
          <a:noFill/>
        </p:spPr>
        <p:txBody>
          <a:bodyPr wrap="none" lIns="0" tIns="0" rIns="0" bIns="0">
            <a:spAutoFit/>
          </a:bodyPr>
          <a:lstStyle/>
          <a:p>
            <a:r>
              <a:rPr sz="1100" b="0">
                <a:solidFill>
                  <a:srgbClr val="2E2E2E"/>
                </a:solidFill>
                <a:latin typeface="Calibri"/>
              </a:rPr>
              <a:t>the highest CAGR of</a:t>
            </a:r>
          </a:p>
        </p:txBody>
      </p:sp>
      <p:pic>
        <p:nvPicPr>
          <p:cNvPr id="109" name="Picture 108" descr="lock.png"/>
          <p:cNvPicPr>
            <a:picLocks noChangeAspect="1"/>
          </p:cNvPicPr>
          <p:nvPr/>
        </p:nvPicPr>
        <p:blipFill>
          <a:blip r:embed="rId22"/>
          <a:stretch>
            <a:fillRect/>
          </a:stretch>
        </p:blipFill>
        <p:spPr>
          <a:xfrm>
            <a:off x="1646163" y="4890217"/>
            <a:ext cx="128699" cy="187198"/>
          </a:xfrm>
          <a:prstGeom prst="rect">
            <a:avLst/>
          </a:prstGeom>
        </p:spPr>
      </p:pic>
      <p:sp>
        <p:nvSpPr>
          <p:cNvPr id="110" name="TextBox 109"/>
          <p:cNvSpPr txBox="1"/>
          <p:nvPr/>
        </p:nvSpPr>
        <p:spPr>
          <a:xfrm>
            <a:off x="1813659" y="4899997"/>
            <a:ext cx="1484659" cy="186689"/>
          </a:xfrm>
          <a:prstGeom prst="rect">
            <a:avLst/>
          </a:prstGeom>
          <a:noFill/>
        </p:spPr>
        <p:txBody>
          <a:bodyPr wrap="none" lIns="0" tIns="0" rIns="0" bIns="0">
            <a:spAutoFit/>
          </a:bodyPr>
          <a:lstStyle/>
          <a:p>
            <a:r>
              <a:rPr sz="1100" b="0">
                <a:solidFill>
                  <a:srgbClr val="2E2E2E"/>
                </a:solidFill>
                <a:latin typeface="Calibri"/>
              </a:rPr>
              <a:t>over the forecast period.</a:t>
            </a:r>
          </a:p>
        </p:txBody>
      </p:sp>
      <p:sp>
        <p:nvSpPr>
          <p:cNvPr id="111" name="TextBox 110"/>
          <p:cNvSpPr txBox="1"/>
          <p:nvPr/>
        </p:nvSpPr>
        <p:spPr>
          <a:xfrm>
            <a:off x="485775" y="5117929"/>
            <a:ext cx="2535138" cy="186689"/>
          </a:xfrm>
          <a:prstGeom prst="rect">
            <a:avLst/>
          </a:prstGeom>
          <a:noFill/>
        </p:spPr>
        <p:txBody>
          <a:bodyPr wrap="none" lIns="0" tIns="0" rIns="0" bIns="0">
            <a:spAutoFit/>
          </a:bodyPr>
          <a:lstStyle/>
          <a:p>
            <a:r>
              <a:rPr sz="1100" b="0">
                <a:solidFill>
                  <a:srgbClr val="2E2E2E"/>
                </a:solidFill>
                <a:latin typeface="Calibri"/>
              </a:rPr>
              <a:t>▪ ¶ In terms of value share by region, North</a:t>
            </a:r>
          </a:p>
        </p:txBody>
      </p:sp>
      <p:sp>
        <p:nvSpPr>
          <p:cNvPr id="112" name="TextBox 111"/>
          <p:cNvSpPr txBox="1"/>
          <p:nvPr/>
        </p:nvSpPr>
        <p:spPr>
          <a:xfrm>
            <a:off x="485775" y="5285569"/>
            <a:ext cx="2644551" cy="186689"/>
          </a:xfrm>
          <a:prstGeom prst="rect">
            <a:avLst/>
          </a:prstGeom>
          <a:noFill/>
        </p:spPr>
        <p:txBody>
          <a:bodyPr wrap="none" lIns="0" tIns="0" rIns="0" bIns="0">
            <a:spAutoFit/>
          </a:bodyPr>
          <a:lstStyle/>
          <a:p>
            <a:r>
              <a:rPr sz="1100" b="0">
                <a:solidFill>
                  <a:srgbClr val="2E2E2E"/>
                </a:solidFill>
                <a:latin typeface="Calibri"/>
              </a:rPr>
              <a:t>America is expected to dominate the market,</a:t>
            </a:r>
          </a:p>
        </p:txBody>
      </p:sp>
      <p:sp>
        <p:nvSpPr>
          <p:cNvPr id="113" name="TextBox 112"/>
          <p:cNvSpPr txBox="1"/>
          <p:nvPr/>
        </p:nvSpPr>
        <p:spPr>
          <a:xfrm>
            <a:off x="485775" y="5453209"/>
            <a:ext cx="407987" cy="186689"/>
          </a:xfrm>
          <a:prstGeom prst="rect">
            <a:avLst/>
          </a:prstGeom>
          <a:noFill/>
        </p:spPr>
        <p:txBody>
          <a:bodyPr wrap="none" lIns="0" tIns="0" rIns="0" bIns="0">
            <a:spAutoFit/>
          </a:bodyPr>
          <a:lstStyle/>
          <a:p>
            <a:r>
              <a:rPr sz="1100" b="0">
                <a:solidFill>
                  <a:srgbClr val="2E2E2E"/>
                </a:solidFill>
                <a:latin typeface="Calibri"/>
              </a:rPr>
              <a:t>losing</a:t>
            </a:r>
          </a:p>
        </p:txBody>
      </p:sp>
      <p:pic>
        <p:nvPicPr>
          <p:cNvPr id="114" name="Picture 113" descr="lock.png"/>
          <p:cNvPicPr>
            <a:picLocks noChangeAspect="1"/>
          </p:cNvPicPr>
          <p:nvPr/>
        </p:nvPicPr>
        <p:blipFill>
          <a:blip r:embed="rId22"/>
          <a:stretch>
            <a:fillRect/>
          </a:stretch>
        </p:blipFill>
        <p:spPr>
          <a:xfrm>
            <a:off x="841814" y="5443430"/>
            <a:ext cx="128699" cy="187198"/>
          </a:xfrm>
          <a:prstGeom prst="rect">
            <a:avLst/>
          </a:prstGeom>
        </p:spPr>
      </p:pic>
      <p:sp>
        <p:nvSpPr>
          <p:cNvPr id="115" name="TextBox 114"/>
          <p:cNvSpPr txBox="1"/>
          <p:nvPr/>
        </p:nvSpPr>
        <p:spPr>
          <a:xfrm>
            <a:off x="1009309" y="5453209"/>
            <a:ext cx="1386433" cy="186689"/>
          </a:xfrm>
          <a:prstGeom prst="rect">
            <a:avLst/>
          </a:prstGeom>
          <a:noFill/>
        </p:spPr>
        <p:txBody>
          <a:bodyPr wrap="none" lIns="0" tIns="0" rIns="0" bIns="0">
            <a:spAutoFit/>
          </a:bodyPr>
          <a:lstStyle/>
          <a:p>
            <a:r>
              <a:rPr sz="1100" b="0">
                <a:solidFill>
                  <a:srgbClr val="2E2E2E"/>
                </a:solidFill>
                <a:latin typeface="Calibri"/>
              </a:rPr>
              <a:t>BPS and accounting for</a:t>
            </a:r>
          </a:p>
        </p:txBody>
      </p:sp>
      <p:pic>
        <p:nvPicPr>
          <p:cNvPr id="116" name="Picture 115" descr="lock.png"/>
          <p:cNvPicPr>
            <a:picLocks noChangeAspect="1"/>
          </p:cNvPicPr>
          <p:nvPr/>
        </p:nvPicPr>
        <p:blipFill>
          <a:blip r:embed="rId22"/>
          <a:stretch>
            <a:fillRect/>
          </a:stretch>
        </p:blipFill>
        <p:spPr>
          <a:xfrm>
            <a:off x="2343794" y="5443430"/>
            <a:ext cx="128699" cy="187198"/>
          </a:xfrm>
          <a:prstGeom prst="rect">
            <a:avLst/>
          </a:prstGeom>
        </p:spPr>
      </p:pic>
      <p:sp>
        <p:nvSpPr>
          <p:cNvPr id="117" name="TextBox 116"/>
          <p:cNvSpPr txBox="1"/>
          <p:nvPr/>
        </p:nvSpPr>
        <p:spPr>
          <a:xfrm>
            <a:off x="2511290" y="5453209"/>
            <a:ext cx="557783" cy="186689"/>
          </a:xfrm>
          <a:prstGeom prst="rect">
            <a:avLst/>
          </a:prstGeom>
          <a:noFill/>
        </p:spPr>
        <p:txBody>
          <a:bodyPr wrap="none" lIns="0" tIns="0" rIns="0" bIns="0">
            <a:spAutoFit/>
          </a:bodyPr>
          <a:lstStyle/>
          <a:p>
            <a:r>
              <a:rPr sz="1100" b="0">
                <a:solidFill>
                  <a:srgbClr val="2E2E2E"/>
                </a:solidFill>
                <a:latin typeface="Calibri"/>
              </a:rPr>
              <a:t>share by</a:t>
            </a:r>
          </a:p>
        </p:txBody>
      </p:sp>
      <p:sp>
        <p:nvSpPr>
          <p:cNvPr id="118" name="TextBox 117"/>
          <p:cNvSpPr txBox="1"/>
          <p:nvPr/>
        </p:nvSpPr>
        <p:spPr>
          <a:xfrm>
            <a:off x="485775" y="5620849"/>
            <a:ext cx="395163" cy="186689"/>
          </a:xfrm>
          <a:prstGeom prst="rect">
            <a:avLst/>
          </a:prstGeom>
          <a:noFill/>
        </p:spPr>
        <p:txBody>
          <a:bodyPr wrap="none" lIns="0" tIns="0" rIns="0" bIns="0">
            <a:spAutoFit/>
          </a:bodyPr>
          <a:lstStyle/>
          <a:p>
            <a:r>
              <a:rPr sz="1100" b="0">
                <a:solidFill>
                  <a:srgbClr val="2E2E2E"/>
                </a:solidFill>
                <a:latin typeface="Calibri"/>
              </a:rPr>
              <a:t>2036.</a:t>
            </a:r>
          </a:p>
        </p:txBody>
      </p:sp>
      <p:sp>
        <p:nvSpPr>
          <p:cNvPr id="119" name="TextBox 118"/>
          <p:cNvSpPr txBox="1"/>
          <p:nvPr/>
        </p:nvSpPr>
        <p:spPr>
          <a:xfrm>
            <a:off x="3838575" y="4229437"/>
            <a:ext cx="1063376" cy="186689"/>
          </a:xfrm>
          <a:prstGeom prst="rect">
            <a:avLst/>
          </a:prstGeom>
          <a:noFill/>
        </p:spPr>
        <p:txBody>
          <a:bodyPr wrap="none" lIns="0" tIns="0" rIns="0" bIns="0">
            <a:spAutoFit/>
          </a:bodyPr>
          <a:lstStyle/>
          <a:p>
            <a:r>
              <a:rPr sz="1100" b="0">
                <a:solidFill>
                  <a:srgbClr val="2E2E2E"/>
                </a:solidFill>
                <a:latin typeface="Calibri"/>
              </a:rPr>
              <a:t>● North America:</a:t>
            </a:r>
          </a:p>
        </p:txBody>
      </p:sp>
      <p:pic>
        <p:nvPicPr>
          <p:cNvPr id="120" name="Picture 119" descr="lock.png"/>
          <p:cNvPicPr>
            <a:picLocks noChangeAspect="1"/>
          </p:cNvPicPr>
          <p:nvPr/>
        </p:nvPicPr>
        <p:blipFill>
          <a:blip r:embed="rId22"/>
          <a:stretch>
            <a:fillRect/>
          </a:stretch>
        </p:blipFill>
        <p:spPr>
          <a:xfrm>
            <a:off x="4850003" y="4219658"/>
            <a:ext cx="128699" cy="187198"/>
          </a:xfrm>
          <a:prstGeom prst="rect">
            <a:avLst/>
          </a:prstGeom>
        </p:spPr>
      </p:pic>
      <p:sp>
        <p:nvSpPr>
          <p:cNvPr id="121" name="TextBox 120"/>
          <p:cNvSpPr txBox="1"/>
          <p:nvPr/>
        </p:nvSpPr>
        <p:spPr>
          <a:xfrm>
            <a:off x="5017499"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22" name="Picture 121" descr="lock.png"/>
          <p:cNvPicPr>
            <a:picLocks noChangeAspect="1"/>
          </p:cNvPicPr>
          <p:nvPr/>
        </p:nvPicPr>
        <p:blipFill>
          <a:blip r:embed="rId22"/>
          <a:stretch>
            <a:fillRect/>
          </a:stretch>
        </p:blipFill>
        <p:spPr>
          <a:xfrm>
            <a:off x="5876949" y="4219658"/>
            <a:ext cx="128699" cy="187198"/>
          </a:xfrm>
          <a:prstGeom prst="rect">
            <a:avLst/>
          </a:prstGeom>
        </p:spPr>
      </p:pic>
      <p:sp>
        <p:nvSpPr>
          <p:cNvPr id="123" name="TextBox 122"/>
          <p:cNvSpPr txBox="1"/>
          <p:nvPr/>
        </p:nvSpPr>
        <p:spPr>
          <a:xfrm>
            <a:off x="6044445" y="4229437"/>
            <a:ext cx="1419431" cy="186689"/>
          </a:xfrm>
          <a:prstGeom prst="rect">
            <a:avLst/>
          </a:prstGeom>
          <a:noFill/>
        </p:spPr>
        <p:txBody>
          <a:bodyPr wrap="none" lIns="0" tIns="0" rIns="0" bIns="0">
            <a:spAutoFit/>
          </a:bodyPr>
          <a:lstStyle/>
          <a:p>
            <a:r>
              <a:rPr sz="1100" b="0">
                <a:solidFill>
                  <a:srgbClr val="2E2E2E"/>
                </a:solidFill>
                <a:latin typeface="Calibri"/>
              </a:rPr>
              <a:t>CAGR leads the market.</a:t>
            </a:r>
          </a:p>
        </p:txBody>
      </p:sp>
      <p:sp>
        <p:nvSpPr>
          <p:cNvPr id="124" name="TextBox 123"/>
          <p:cNvSpPr txBox="1"/>
          <p:nvPr/>
        </p:nvSpPr>
        <p:spPr>
          <a:xfrm>
            <a:off x="3838575" y="4447369"/>
            <a:ext cx="636637" cy="186689"/>
          </a:xfrm>
          <a:prstGeom prst="rect">
            <a:avLst/>
          </a:prstGeom>
          <a:noFill/>
        </p:spPr>
        <p:txBody>
          <a:bodyPr wrap="none" lIns="0" tIns="0" rIns="0" bIns="0">
            <a:spAutoFit/>
          </a:bodyPr>
          <a:lstStyle/>
          <a:p>
            <a:r>
              <a:rPr sz="1100" b="0">
                <a:solidFill>
                  <a:srgbClr val="2E2E2E"/>
                </a:solidFill>
                <a:latin typeface="Calibri"/>
              </a:rPr>
              <a:t>● Europe:</a:t>
            </a:r>
          </a:p>
        </p:txBody>
      </p:sp>
      <p:pic>
        <p:nvPicPr>
          <p:cNvPr id="125" name="Picture 124" descr="lock.png"/>
          <p:cNvPicPr>
            <a:picLocks noChangeAspect="1"/>
          </p:cNvPicPr>
          <p:nvPr/>
        </p:nvPicPr>
        <p:blipFill>
          <a:blip r:embed="rId22"/>
          <a:stretch>
            <a:fillRect/>
          </a:stretch>
        </p:blipFill>
        <p:spPr>
          <a:xfrm>
            <a:off x="4423263" y="4437590"/>
            <a:ext cx="128699" cy="187198"/>
          </a:xfrm>
          <a:prstGeom prst="rect">
            <a:avLst/>
          </a:prstGeom>
        </p:spPr>
      </p:pic>
      <p:sp>
        <p:nvSpPr>
          <p:cNvPr id="126" name="TextBox 125"/>
          <p:cNvSpPr txBox="1"/>
          <p:nvPr/>
        </p:nvSpPr>
        <p:spPr>
          <a:xfrm>
            <a:off x="4590759"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27" name="Picture 126" descr="lock.png"/>
          <p:cNvPicPr>
            <a:picLocks noChangeAspect="1"/>
          </p:cNvPicPr>
          <p:nvPr/>
        </p:nvPicPr>
        <p:blipFill>
          <a:blip r:embed="rId22"/>
          <a:stretch>
            <a:fillRect/>
          </a:stretch>
        </p:blipFill>
        <p:spPr>
          <a:xfrm>
            <a:off x="5450209" y="4437590"/>
            <a:ext cx="128699" cy="187198"/>
          </a:xfrm>
          <a:prstGeom prst="rect">
            <a:avLst/>
          </a:prstGeom>
        </p:spPr>
      </p:pic>
      <p:sp>
        <p:nvSpPr>
          <p:cNvPr id="128" name="TextBox 127"/>
          <p:cNvSpPr txBox="1"/>
          <p:nvPr/>
        </p:nvSpPr>
        <p:spPr>
          <a:xfrm>
            <a:off x="5617705" y="4447369"/>
            <a:ext cx="1415611" cy="186689"/>
          </a:xfrm>
          <a:prstGeom prst="rect">
            <a:avLst/>
          </a:prstGeom>
          <a:noFill/>
        </p:spPr>
        <p:txBody>
          <a:bodyPr wrap="none" lIns="0" tIns="0" rIns="0" bIns="0">
            <a:spAutoFit/>
          </a:bodyPr>
          <a:lstStyle/>
          <a:p>
            <a:r>
              <a:rPr sz="1100" b="0">
                <a:solidFill>
                  <a:srgbClr val="2E2E2E"/>
                </a:solidFill>
                <a:latin typeface="Calibri"/>
              </a:rPr>
              <a:t>CAGR a smaller market.</a:t>
            </a:r>
          </a:p>
        </p:txBody>
      </p:sp>
      <p:sp>
        <p:nvSpPr>
          <p:cNvPr id="129" name="TextBox 128"/>
          <p:cNvSpPr txBox="1"/>
          <p:nvPr/>
        </p:nvSpPr>
        <p:spPr>
          <a:xfrm>
            <a:off x="3838575" y="4665301"/>
            <a:ext cx="732101" cy="186689"/>
          </a:xfrm>
          <a:prstGeom prst="rect">
            <a:avLst/>
          </a:prstGeom>
          <a:noFill/>
        </p:spPr>
        <p:txBody>
          <a:bodyPr wrap="none" lIns="0" tIns="0" rIns="0" bIns="0">
            <a:spAutoFit/>
          </a:bodyPr>
          <a:lstStyle/>
          <a:p>
            <a:r>
              <a:rPr sz="1100" b="0">
                <a:solidFill>
                  <a:srgbClr val="2E2E2E"/>
                </a:solidFill>
                <a:latin typeface="Calibri"/>
              </a:rPr>
              <a:t>● East Asia:</a:t>
            </a:r>
          </a:p>
        </p:txBody>
      </p:sp>
      <p:pic>
        <p:nvPicPr>
          <p:cNvPr id="130" name="Picture 129" descr="lock.png"/>
          <p:cNvPicPr>
            <a:picLocks noChangeAspect="1"/>
          </p:cNvPicPr>
          <p:nvPr/>
        </p:nvPicPr>
        <p:blipFill>
          <a:blip r:embed="rId22"/>
          <a:stretch>
            <a:fillRect/>
          </a:stretch>
        </p:blipFill>
        <p:spPr>
          <a:xfrm>
            <a:off x="4518727" y="4655522"/>
            <a:ext cx="128699" cy="187198"/>
          </a:xfrm>
          <a:prstGeom prst="rect">
            <a:avLst/>
          </a:prstGeom>
        </p:spPr>
      </p:pic>
      <p:sp>
        <p:nvSpPr>
          <p:cNvPr id="131" name="TextBox 130"/>
          <p:cNvSpPr txBox="1"/>
          <p:nvPr/>
        </p:nvSpPr>
        <p:spPr>
          <a:xfrm>
            <a:off x="4686223" y="466530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32" name="Picture 131" descr="lock.png"/>
          <p:cNvPicPr>
            <a:picLocks noChangeAspect="1"/>
          </p:cNvPicPr>
          <p:nvPr/>
        </p:nvPicPr>
        <p:blipFill>
          <a:blip r:embed="rId22"/>
          <a:stretch>
            <a:fillRect/>
          </a:stretch>
        </p:blipFill>
        <p:spPr>
          <a:xfrm>
            <a:off x="5545673" y="4655522"/>
            <a:ext cx="128699" cy="187198"/>
          </a:xfrm>
          <a:prstGeom prst="rect">
            <a:avLst/>
          </a:prstGeom>
        </p:spPr>
      </p:pic>
      <p:sp>
        <p:nvSpPr>
          <p:cNvPr id="133" name="TextBox 132"/>
          <p:cNvSpPr txBox="1"/>
          <p:nvPr/>
        </p:nvSpPr>
        <p:spPr>
          <a:xfrm>
            <a:off x="5713169" y="4665301"/>
            <a:ext cx="1415611" cy="186689"/>
          </a:xfrm>
          <a:prstGeom prst="rect">
            <a:avLst/>
          </a:prstGeom>
          <a:noFill/>
        </p:spPr>
        <p:txBody>
          <a:bodyPr wrap="none" lIns="0" tIns="0" rIns="0" bIns="0">
            <a:spAutoFit/>
          </a:bodyPr>
          <a:lstStyle/>
          <a:p>
            <a:r>
              <a:rPr sz="1100" b="0">
                <a:solidFill>
                  <a:srgbClr val="2E2E2E"/>
                </a:solidFill>
                <a:latin typeface="Calibri"/>
              </a:rPr>
              <a:t>CAGR a smaller market.</a:t>
            </a:r>
          </a:p>
        </p:txBody>
      </p:sp>
      <p:sp>
        <p:nvSpPr>
          <p:cNvPr id="134" name="TextBox 133"/>
          <p:cNvSpPr txBox="1"/>
          <p:nvPr/>
        </p:nvSpPr>
        <p:spPr>
          <a:xfrm>
            <a:off x="3838575" y="4883233"/>
            <a:ext cx="1350143" cy="186689"/>
          </a:xfrm>
          <a:prstGeom prst="rect">
            <a:avLst/>
          </a:prstGeom>
          <a:noFill/>
        </p:spPr>
        <p:txBody>
          <a:bodyPr wrap="none" lIns="0" tIns="0" rIns="0" bIns="0">
            <a:spAutoFit/>
          </a:bodyPr>
          <a:lstStyle/>
          <a:p>
            <a:r>
              <a:rPr sz="1100" b="0">
                <a:solidFill>
                  <a:srgbClr val="2E2E2E"/>
                </a:solidFill>
                <a:latin typeface="Calibri"/>
              </a:rPr>
              <a:t>● South Asia &amp; Pacific:</a:t>
            </a:r>
          </a:p>
        </p:txBody>
      </p:sp>
      <p:pic>
        <p:nvPicPr>
          <p:cNvPr id="135" name="Picture 134" descr="lock.png"/>
          <p:cNvPicPr>
            <a:picLocks noChangeAspect="1"/>
          </p:cNvPicPr>
          <p:nvPr/>
        </p:nvPicPr>
        <p:blipFill>
          <a:blip r:embed="rId22"/>
          <a:stretch>
            <a:fillRect/>
          </a:stretch>
        </p:blipFill>
        <p:spPr>
          <a:xfrm>
            <a:off x="5136770" y="4873454"/>
            <a:ext cx="128699" cy="187198"/>
          </a:xfrm>
          <a:prstGeom prst="rect">
            <a:avLst/>
          </a:prstGeom>
        </p:spPr>
      </p:pic>
      <p:sp>
        <p:nvSpPr>
          <p:cNvPr id="136" name="TextBox 135"/>
          <p:cNvSpPr txBox="1"/>
          <p:nvPr/>
        </p:nvSpPr>
        <p:spPr>
          <a:xfrm>
            <a:off x="5304266" y="4883233"/>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37" name="Picture 136" descr="lock.png"/>
          <p:cNvPicPr>
            <a:picLocks noChangeAspect="1"/>
          </p:cNvPicPr>
          <p:nvPr/>
        </p:nvPicPr>
        <p:blipFill>
          <a:blip r:embed="rId22"/>
          <a:stretch>
            <a:fillRect/>
          </a:stretch>
        </p:blipFill>
        <p:spPr>
          <a:xfrm>
            <a:off x="6163716" y="4873454"/>
            <a:ext cx="128699" cy="187198"/>
          </a:xfrm>
          <a:prstGeom prst="rect">
            <a:avLst/>
          </a:prstGeom>
        </p:spPr>
      </p:pic>
      <p:sp>
        <p:nvSpPr>
          <p:cNvPr id="138" name="TextBox 137"/>
          <p:cNvSpPr txBox="1"/>
          <p:nvPr/>
        </p:nvSpPr>
        <p:spPr>
          <a:xfrm>
            <a:off x="6331212" y="4883233"/>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139" name="TextBox 138"/>
          <p:cNvSpPr txBox="1"/>
          <p:nvPr/>
        </p:nvSpPr>
        <p:spPr>
          <a:xfrm>
            <a:off x="3838575" y="5101165"/>
            <a:ext cx="1008260" cy="186689"/>
          </a:xfrm>
          <a:prstGeom prst="rect">
            <a:avLst/>
          </a:prstGeom>
          <a:noFill/>
        </p:spPr>
        <p:txBody>
          <a:bodyPr wrap="none" lIns="0" tIns="0" rIns="0" bIns="0">
            <a:spAutoFit/>
          </a:bodyPr>
          <a:lstStyle/>
          <a:p>
            <a:r>
              <a:rPr sz="1100" b="0">
                <a:solidFill>
                  <a:srgbClr val="2E2E2E"/>
                </a:solidFill>
                <a:latin typeface="Calibri"/>
              </a:rPr>
              <a:t>● Latin America:</a:t>
            </a:r>
          </a:p>
        </p:txBody>
      </p:sp>
      <p:pic>
        <p:nvPicPr>
          <p:cNvPr id="140" name="Picture 139" descr="lock.png"/>
          <p:cNvPicPr>
            <a:picLocks noChangeAspect="1"/>
          </p:cNvPicPr>
          <p:nvPr/>
        </p:nvPicPr>
        <p:blipFill>
          <a:blip r:embed="rId22"/>
          <a:stretch>
            <a:fillRect/>
          </a:stretch>
        </p:blipFill>
        <p:spPr>
          <a:xfrm>
            <a:off x="4794887" y="5091385"/>
            <a:ext cx="128699" cy="187198"/>
          </a:xfrm>
          <a:prstGeom prst="rect">
            <a:avLst/>
          </a:prstGeom>
        </p:spPr>
      </p:pic>
      <p:sp>
        <p:nvSpPr>
          <p:cNvPr id="141" name="TextBox 140"/>
          <p:cNvSpPr txBox="1"/>
          <p:nvPr/>
        </p:nvSpPr>
        <p:spPr>
          <a:xfrm>
            <a:off x="4962383" y="5101165"/>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42" name="Picture 141" descr="lock.png"/>
          <p:cNvPicPr>
            <a:picLocks noChangeAspect="1"/>
          </p:cNvPicPr>
          <p:nvPr/>
        </p:nvPicPr>
        <p:blipFill>
          <a:blip r:embed="rId22"/>
          <a:stretch>
            <a:fillRect/>
          </a:stretch>
        </p:blipFill>
        <p:spPr>
          <a:xfrm>
            <a:off x="5821833" y="5091385"/>
            <a:ext cx="128699" cy="187198"/>
          </a:xfrm>
          <a:prstGeom prst="rect">
            <a:avLst/>
          </a:prstGeom>
        </p:spPr>
      </p:pic>
      <p:sp>
        <p:nvSpPr>
          <p:cNvPr id="143" name="TextBox 142"/>
          <p:cNvSpPr txBox="1"/>
          <p:nvPr/>
        </p:nvSpPr>
        <p:spPr>
          <a:xfrm>
            <a:off x="5989329" y="5101165"/>
            <a:ext cx="1415611" cy="186689"/>
          </a:xfrm>
          <a:prstGeom prst="rect">
            <a:avLst/>
          </a:prstGeom>
          <a:noFill/>
        </p:spPr>
        <p:txBody>
          <a:bodyPr wrap="none" lIns="0" tIns="0" rIns="0" bIns="0">
            <a:spAutoFit/>
          </a:bodyPr>
          <a:lstStyle/>
          <a:p>
            <a:r>
              <a:rPr sz="1100" b="0">
                <a:solidFill>
                  <a:srgbClr val="2E2E2E"/>
                </a:solidFill>
                <a:latin typeface="Calibri"/>
              </a:rPr>
              <a:t>CAGR a smaller market.</a:t>
            </a:r>
          </a:p>
        </p:txBody>
      </p:sp>
      <p:sp>
        <p:nvSpPr>
          <p:cNvPr id="144" name="TextBox 143"/>
          <p:cNvSpPr txBox="1"/>
          <p:nvPr/>
        </p:nvSpPr>
        <p:spPr>
          <a:xfrm>
            <a:off x="3838575" y="5319097"/>
            <a:ext cx="1386944" cy="186689"/>
          </a:xfrm>
          <a:prstGeom prst="rect">
            <a:avLst/>
          </a:prstGeom>
          <a:noFill/>
        </p:spPr>
        <p:txBody>
          <a:bodyPr wrap="none" lIns="0" tIns="0" rIns="0" bIns="0">
            <a:spAutoFit/>
          </a:bodyPr>
          <a:lstStyle/>
          <a:p>
            <a:r>
              <a:rPr sz="1100" b="0">
                <a:solidFill>
                  <a:srgbClr val="2E2E2E"/>
                </a:solidFill>
                <a:latin typeface="Calibri"/>
              </a:rPr>
              <a:t>● Middle East &amp; Africa:</a:t>
            </a:r>
          </a:p>
        </p:txBody>
      </p:sp>
      <p:pic>
        <p:nvPicPr>
          <p:cNvPr id="145" name="Picture 144" descr="lock.png"/>
          <p:cNvPicPr>
            <a:picLocks noChangeAspect="1"/>
          </p:cNvPicPr>
          <p:nvPr/>
        </p:nvPicPr>
        <p:blipFill>
          <a:blip r:embed="rId22"/>
          <a:stretch>
            <a:fillRect/>
          </a:stretch>
        </p:blipFill>
        <p:spPr>
          <a:xfrm>
            <a:off x="5173571" y="5309317"/>
            <a:ext cx="128699" cy="187198"/>
          </a:xfrm>
          <a:prstGeom prst="rect">
            <a:avLst/>
          </a:prstGeom>
        </p:spPr>
      </p:pic>
      <p:sp>
        <p:nvSpPr>
          <p:cNvPr id="146" name="TextBox 145"/>
          <p:cNvSpPr txBox="1"/>
          <p:nvPr/>
        </p:nvSpPr>
        <p:spPr>
          <a:xfrm>
            <a:off x="5341067" y="531909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47" name="Picture 146" descr="lock.png"/>
          <p:cNvPicPr>
            <a:picLocks noChangeAspect="1"/>
          </p:cNvPicPr>
          <p:nvPr/>
        </p:nvPicPr>
        <p:blipFill>
          <a:blip r:embed="rId22"/>
          <a:stretch>
            <a:fillRect/>
          </a:stretch>
        </p:blipFill>
        <p:spPr>
          <a:xfrm>
            <a:off x="6200517" y="5309317"/>
            <a:ext cx="128699" cy="187198"/>
          </a:xfrm>
          <a:prstGeom prst="rect">
            <a:avLst/>
          </a:prstGeom>
        </p:spPr>
      </p:pic>
      <p:sp>
        <p:nvSpPr>
          <p:cNvPr id="148" name="TextBox 147"/>
          <p:cNvSpPr txBox="1"/>
          <p:nvPr/>
        </p:nvSpPr>
        <p:spPr>
          <a:xfrm>
            <a:off x="6368013" y="5319097"/>
            <a:ext cx="1415611" cy="186689"/>
          </a:xfrm>
          <a:prstGeom prst="rect">
            <a:avLst/>
          </a:prstGeom>
          <a:noFill/>
        </p:spPr>
        <p:txBody>
          <a:bodyPr wrap="none" lIns="0" tIns="0" rIns="0" bIns="0">
            <a:spAutoFit/>
          </a:bodyPr>
          <a:lstStyle/>
          <a:p>
            <a:r>
              <a:rPr sz="1100" b="0">
                <a:solidFill>
                  <a:srgbClr val="2E2E2E"/>
                </a:solidFill>
                <a:latin typeface="Calibri"/>
              </a:rPr>
              <a:t>CAGR a smaller market.</a:t>
            </a:r>
          </a:p>
        </p:txBody>
      </p:sp>
      <p:sp>
        <p:nvSpPr>
          <p:cNvPr id="149" name="TextBox 148"/>
          <p:cNvSpPr txBox="1"/>
          <p:nvPr/>
        </p:nvSpPr>
        <p:spPr>
          <a:xfrm>
            <a:off x="8524875" y="5842641"/>
            <a:ext cx="3081608" cy="194310"/>
          </a:xfrm>
          <a:prstGeom prst="rect">
            <a:avLst/>
          </a:prstGeom>
          <a:noFill/>
        </p:spPr>
        <p:txBody>
          <a:bodyPr wrap="none" lIns="0" tIns="0" rIns="0" bIns="0">
            <a:spAutoFit/>
          </a:bodyPr>
          <a:lstStyle/>
          <a:p>
            <a:r>
              <a:rPr sz="1150" b="1">
                <a:solidFill>
                  <a:srgbClr val="0B2E4A"/>
                </a:solidFill>
                <a:latin typeface="Calibri"/>
              </a:rPr>
              <a:t>The Global market is projected to grow at a CAGR</a:t>
            </a:r>
          </a:p>
        </p:txBody>
      </p:sp>
      <p:sp>
        <p:nvSpPr>
          <p:cNvPr id="150" name="TextBox 149"/>
          <p:cNvSpPr txBox="1"/>
          <p:nvPr/>
        </p:nvSpPr>
        <p:spPr>
          <a:xfrm>
            <a:off x="8524875" y="6017901"/>
            <a:ext cx="200855" cy="194310"/>
          </a:xfrm>
          <a:prstGeom prst="rect">
            <a:avLst/>
          </a:prstGeom>
          <a:noFill/>
        </p:spPr>
        <p:txBody>
          <a:bodyPr wrap="none" lIns="0" tIns="0" rIns="0" bIns="0">
            <a:spAutoFit/>
          </a:bodyPr>
          <a:lstStyle/>
          <a:p>
            <a:r>
              <a:rPr sz="1150" b="1">
                <a:solidFill>
                  <a:srgbClr val="0B2E4A"/>
                </a:solidFill>
                <a:latin typeface="Calibri"/>
              </a:rPr>
              <a:t>of</a:t>
            </a:r>
          </a:p>
        </p:txBody>
      </p:sp>
      <p:pic>
        <p:nvPicPr>
          <p:cNvPr id="151" name="Picture 150" descr="lock.png"/>
          <p:cNvPicPr>
            <a:picLocks noChangeAspect="1"/>
          </p:cNvPicPr>
          <p:nvPr/>
        </p:nvPicPr>
        <p:blipFill>
          <a:blip r:embed="rId22"/>
          <a:stretch>
            <a:fillRect/>
          </a:stretch>
        </p:blipFill>
        <p:spPr>
          <a:xfrm>
            <a:off x="8674884" y="6007677"/>
            <a:ext cx="134549" cy="195707"/>
          </a:xfrm>
          <a:prstGeom prst="rect">
            <a:avLst/>
          </a:prstGeom>
        </p:spPr>
      </p:pic>
      <p:sp>
        <p:nvSpPr>
          <p:cNvPr id="152" name="TextBox 151"/>
          <p:cNvSpPr txBox="1"/>
          <p:nvPr/>
        </p:nvSpPr>
        <p:spPr>
          <a:xfrm>
            <a:off x="8849994"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Analysis, By Region Volume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61987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474845" y="1419225"/>
            <a:ext cx="2383155" cy="133350"/>
          </a:xfrm>
          <a:prstGeom prst="rect">
            <a:avLst/>
          </a:prstGeom>
          <a:noFill/>
        </p:spPr>
        <p:txBody>
          <a:bodyPr wrap="square" lIns="28575" tIns="9525" rIns="2857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a:endParaRPr/>
          </a:p>
        </p:txBody>
      </p:sp>
      <p:sp>
        <p:nvSpPr>
          <p:cNvPr id="16" name="FMI Legend Chip"/>
          <p:cNvSpPr/>
          <p:nvPr/>
        </p:nvSpPr>
        <p:spPr>
          <a:xfrm>
            <a:off x="4551045" y="1584724"/>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rot="10800000">
            <a:off x="4712970" y="157996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4855845" y="1503762"/>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65674"/>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0" name="FMI Legend Chip"/>
          <p:cNvSpPr/>
          <p:nvPr/>
        </p:nvSpPr>
        <p:spPr>
          <a:xfrm>
            <a:off x="4551045" y="185924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a:off x="4712970" y="185447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4855845" y="1778278"/>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40191"/>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4" name="FMI Legend Chip"/>
          <p:cNvSpPr/>
          <p:nvPr/>
        </p:nvSpPr>
        <p:spPr>
          <a:xfrm>
            <a:off x="4551045" y="224640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a:off x="4712970" y="224164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4855845" y="2165445"/>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South Asia &amp; Pacific</a:t>
            </a:r>
          </a:p>
        </p:txBody>
      </p:sp>
      <p:sp>
        <p:nvSpPr>
          <p:cNvPr id="27" name="BPS Value 3"/>
          <p:cNvSpPr txBox="1"/>
          <p:nvPr/>
        </p:nvSpPr>
        <p:spPr>
          <a:xfrm>
            <a:off x="6305550" y="2227358"/>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8" name="FMI Legend Chip"/>
          <p:cNvSpPr/>
          <p:nvPr/>
        </p:nvSpPr>
        <p:spPr>
          <a:xfrm>
            <a:off x="4551045" y="271705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Isosceles Triangle 28"/>
          <p:cNvSpPr/>
          <p:nvPr/>
        </p:nvSpPr>
        <p:spPr>
          <a:xfrm rot="10800000">
            <a:off x="4712970" y="27122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BPS Name 4"/>
          <p:cNvSpPr txBox="1"/>
          <p:nvPr/>
        </p:nvSpPr>
        <p:spPr>
          <a:xfrm>
            <a:off x="4855845" y="2636089"/>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East Asia</a:t>
            </a:r>
          </a:p>
        </p:txBody>
      </p:sp>
      <p:sp>
        <p:nvSpPr>
          <p:cNvPr id="31" name="BPS Value 4"/>
          <p:cNvSpPr txBox="1"/>
          <p:nvPr/>
        </p:nvSpPr>
        <p:spPr>
          <a:xfrm>
            <a:off x="6305550" y="2698002"/>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32" name="FMI Legend Chip"/>
          <p:cNvSpPr/>
          <p:nvPr/>
        </p:nvSpPr>
        <p:spPr>
          <a:xfrm>
            <a:off x="4551045" y="344063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Isosceles Triangle 32"/>
          <p:cNvSpPr/>
          <p:nvPr/>
        </p:nvSpPr>
        <p:spPr>
          <a:xfrm>
            <a:off x="4712970" y="34358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BPS Name 5"/>
          <p:cNvSpPr txBox="1"/>
          <p:nvPr/>
        </p:nvSpPr>
        <p:spPr>
          <a:xfrm>
            <a:off x="4855845" y="3359667"/>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Europe</a:t>
            </a:r>
          </a:p>
        </p:txBody>
      </p:sp>
      <p:sp>
        <p:nvSpPr>
          <p:cNvPr id="35" name="BPS Value 5"/>
          <p:cNvSpPr txBox="1"/>
          <p:nvPr/>
        </p:nvSpPr>
        <p:spPr>
          <a:xfrm>
            <a:off x="6305550" y="3421580"/>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36" name="FMI Legend Chip"/>
          <p:cNvSpPr/>
          <p:nvPr/>
        </p:nvSpPr>
        <p:spPr>
          <a:xfrm>
            <a:off x="4551045" y="452903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Isosceles Triangle 36"/>
          <p:cNvSpPr/>
          <p:nvPr/>
        </p:nvSpPr>
        <p:spPr>
          <a:xfrm rot="10800000">
            <a:off x="4712970" y="45242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BPS Name 6"/>
          <p:cNvSpPr txBox="1"/>
          <p:nvPr/>
        </p:nvSpPr>
        <p:spPr>
          <a:xfrm>
            <a:off x="4855845" y="4448070"/>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09982"/>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7239000" y="1066800"/>
            <a:ext cx="4667250" cy="209550"/>
          </a:xfrm>
          <a:prstGeom prst="rect">
            <a:avLst/>
          </a:prstGeom>
          <a:noFill/>
        </p:spPr>
        <p:txBody>
          <a:bodyPr wrap="square" lIns="0" tIns="9525" rIns="19050"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7239000" y="1390650"/>
            <a:ext cx="4667250" cy="40481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(2026–2036)</a:t>
            </a:r>
          </a:p>
          <a:p>
            <a:pPr algn="ctr">
              <a:lnSpc>
                <a:spcPct val="95000"/>
              </a:lnSpc>
            </a:pPr>
            <a:endParaRPr sz="1100" b="1">
              <a:solidFill>
                <a:srgbClr val="6C7A89"/>
              </a:solidFill>
              <a:latin typeface="Calibri"/>
            </a:endParaRPr>
          </a:p>
        </p:txBody>
      </p:sp>
      <p:sp>
        <p:nvSpPr>
          <p:cNvPr id="47" name="TextBox 4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4_2__605E5C.png"/>
          <p:cNvPicPr>
            <a:picLocks noChangeAspect="1"/>
          </p:cNvPicPr>
          <p:nvPr/>
        </p:nvPicPr>
        <p:blipFill>
          <a:blip r:embed="rId6"/>
          <a:stretch>
            <a:fillRect/>
          </a:stretch>
        </p:blipFill>
        <p:spPr>
          <a:xfrm>
            <a:off x="9465355" y="5897562"/>
            <a:ext cx="1309912" cy="482599"/>
          </a:xfrm>
          <a:prstGeom prst="rect">
            <a:avLst/>
          </a:prstGeom>
        </p:spPr>
      </p:pic>
      <p:pic>
        <p:nvPicPr>
          <p:cNvPr id="50" name="Picture 49" descr="lock.png"/>
          <p:cNvPicPr>
            <a:picLocks noChangeAspect="1"/>
          </p:cNvPicPr>
          <p:nvPr/>
        </p:nvPicPr>
        <p:blipFill>
          <a:blip r:embed="rId5"/>
          <a:stretch>
            <a:fillRect/>
          </a:stretch>
        </p:blipFill>
        <p:spPr>
          <a:xfrm>
            <a:off x="10003631" y="5972175"/>
            <a:ext cx="229195" cy="333375"/>
          </a:xfrm>
          <a:prstGeom prst="rect">
            <a:avLst/>
          </a:prstGeom>
        </p:spPr>
      </p:pic>
      <p:sp>
        <p:nvSpPr>
          <p:cNvPr id="51" name="TextBox 50"/>
          <p:cNvSpPr txBox="1"/>
          <p:nvPr/>
        </p:nvSpPr>
        <p:spPr>
          <a:xfrm>
            <a:off x="7239000" y="1400175"/>
            <a:ext cx="4023258" cy="194310"/>
          </a:xfrm>
          <a:prstGeom prst="rect">
            <a:avLst/>
          </a:prstGeom>
          <a:noFill/>
        </p:spPr>
        <p:txBody>
          <a:bodyPr wrap="none" lIns="0" tIns="0" rIns="0" bIns="0">
            <a:spAutoFit/>
          </a:bodyPr>
          <a:lstStyle/>
          <a:p>
            <a:r>
              <a:rPr sz="1150" b="0">
                <a:solidFill>
                  <a:srgbClr val="2E2E2E"/>
                </a:solidFill>
                <a:latin typeface="Calibri"/>
              </a:rPr>
              <a:t>North America corrugated partition market is projected to register</a:t>
            </a:r>
          </a:p>
        </p:txBody>
      </p:sp>
      <p:pic>
        <p:nvPicPr>
          <p:cNvPr id="52" name="Picture 51" descr="lock.png"/>
          <p:cNvPicPr>
            <a:picLocks noChangeAspect="1"/>
          </p:cNvPicPr>
          <p:nvPr/>
        </p:nvPicPr>
        <p:blipFill>
          <a:blip r:embed="rId5"/>
          <a:stretch>
            <a:fillRect/>
          </a:stretch>
        </p:blipFill>
        <p:spPr>
          <a:xfrm>
            <a:off x="11211412" y="1389951"/>
            <a:ext cx="134549" cy="195707"/>
          </a:xfrm>
          <a:prstGeom prst="rect">
            <a:avLst/>
          </a:prstGeom>
        </p:spPr>
      </p:pic>
      <p:sp>
        <p:nvSpPr>
          <p:cNvPr id="53" name="TextBox 52"/>
          <p:cNvSpPr txBox="1"/>
          <p:nvPr/>
        </p:nvSpPr>
        <p:spPr>
          <a:xfrm>
            <a:off x="11386521" y="1400175"/>
            <a:ext cx="152077" cy="194310"/>
          </a:xfrm>
          <a:prstGeom prst="rect">
            <a:avLst/>
          </a:prstGeom>
          <a:noFill/>
        </p:spPr>
        <p:txBody>
          <a:bodyPr wrap="none" lIns="0" tIns="0" rIns="0" bIns="0">
            <a:spAutoFit/>
          </a:bodyPr>
          <a:lstStyle/>
          <a:p>
            <a:r>
              <a:rPr sz="1150" b="0">
                <a:solidFill>
                  <a:srgbClr val="2E2E2E"/>
                </a:solidFill>
                <a:latin typeface="Calibri"/>
              </a:rPr>
              <a:t>X</a:t>
            </a:r>
          </a:p>
        </p:txBody>
      </p:sp>
      <p:sp>
        <p:nvSpPr>
          <p:cNvPr id="54" name="TextBox 53"/>
          <p:cNvSpPr txBox="1"/>
          <p:nvPr/>
        </p:nvSpPr>
        <p:spPr>
          <a:xfrm>
            <a:off x="7239000" y="1575435"/>
            <a:ext cx="4526160" cy="194310"/>
          </a:xfrm>
          <a:prstGeom prst="rect">
            <a:avLst/>
          </a:prstGeom>
          <a:noFill/>
        </p:spPr>
        <p:txBody>
          <a:bodyPr wrap="none" lIns="0" tIns="0" rIns="0" bIns="0">
            <a:spAutoFit/>
          </a:bodyPr>
          <a:lstStyle/>
          <a:p>
            <a:r>
              <a:rPr sz="1150" b="0">
                <a:solidFill>
                  <a:srgbClr val="2E2E2E"/>
                </a:solidFill>
                <a:latin typeface="Calibri"/>
              </a:rPr>
              <a:t>higher volume than Europe in 2036. Among corrugated partition by region,</a:t>
            </a:r>
          </a:p>
        </p:txBody>
      </p:sp>
      <p:sp>
        <p:nvSpPr>
          <p:cNvPr id="55" name="TextBox 54"/>
          <p:cNvSpPr txBox="1"/>
          <p:nvPr/>
        </p:nvSpPr>
        <p:spPr>
          <a:xfrm>
            <a:off x="7239000" y="1750695"/>
            <a:ext cx="3814434" cy="194310"/>
          </a:xfrm>
          <a:prstGeom prst="rect">
            <a:avLst/>
          </a:prstGeom>
          <a:noFill/>
        </p:spPr>
        <p:txBody>
          <a:bodyPr wrap="none" lIns="0" tIns="0" rIns="0" bIns="0">
            <a:spAutoFit/>
          </a:bodyPr>
          <a:lstStyle/>
          <a:p>
            <a:r>
              <a:rPr sz="1150" b="0">
                <a:solidFill>
                  <a:srgbClr val="2E2E2E"/>
                </a:solidFill>
                <a:latin typeface="Calibri"/>
              </a:rPr>
              <a:t>South Asia &amp; Pacific is expected to witness the highest CAGR of</a:t>
            </a:r>
          </a:p>
        </p:txBody>
      </p:sp>
      <p:pic>
        <p:nvPicPr>
          <p:cNvPr id="56" name="Picture 55" descr="lock.png"/>
          <p:cNvPicPr>
            <a:picLocks noChangeAspect="1"/>
          </p:cNvPicPr>
          <p:nvPr/>
        </p:nvPicPr>
        <p:blipFill>
          <a:blip r:embed="rId5"/>
          <a:stretch>
            <a:fillRect/>
          </a:stretch>
        </p:blipFill>
        <p:spPr>
          <a:xfrm>
            <a:off x="11002588" y="1740471"/>
            <a:ext cx="134549" cy="195707"/>
          </a:xfrm>
          <a:prstGeom prst="rect">
            <a:avLst/>
          </a:prstGeom>
        </p:spPr>
      </p:pic>
      <p:sp>
        <p:nvSpPr>
          <p:cNvPr id="57" name="TextBox 56"/>
          <p:cNvSpPr txBox="1"/>
          <p:nvPr/>
        </p:nvSpPr>
        <p:spPr>
          <a:xfrm>
            <a:off x="11177697" y="175069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58" name="TextBox 57"/>
          <p:cNvSpPr txBox="1"/>
          <p:nvPr/>
        </p:nvSpPr>
        <p:spPr>
          <a:xfrm>
            <a:off x="7239000" y="1925955"/>
            <a:ext cx="1017252" cy="194310"/>
          </a:xfrm>
          <a:prstGeom prst="rect">
            <a:avLst/>
          </a:prstGeom>
          <a:noFill/>
        </p:spPr>
        <p:txBody>
          <a:bodyPr wrap="none" lIns="0" tIns="0" rIns="0" bIns="0">
            <a:spAutoFit/>
          </a:bodyPr>
          <a:lstStyle/>
          <a:p>
            <a:r>
              <a:rPr sz="1150" b="0">
                <a:solidFill>
                  <a:srgbClr val="2E2E2E"/>
                </a:solidFill>
                <a:latin typeface="Calibri"/>
              </a:rPr>
              <a:t>forecast period.</a:t>
            </a:r>
          </a:p>
        </p:txBody>
      </p:sp>
      <p:sp>
        <p:nvSpPr>
          <p:cNvPr id="59" name="TextBox 58"/>
          <p:cNvSpPr txBox="1"/>
          <p:nvPr/>
        </p:nvSpPr>
        <p:spPr>
          <a:xfrm>
            <a:off x="7239000" y="2153793"/>
            <a:ext cx="4558394" cy="194310"/>
          </a:xfrm>
          <a:prstGeom prst="rect">
            <a:avLst/>
          </a:prstGeom>
          <a:noFill/>
        </p:spPr>
        <p:txBody>
          <a:bodyPr wrap="none" lIns="0" tIns="0" rIns="0" bIns="0">
            <a:spAutoFit/>
          </a:bodyPr>
          <a:lstStyle/>
          <a:p>
            <a:r>
              <a:rPr sz="1150" b="0">
                <a:solidFill>
                  <a:srgbClr val="2E2E2E"/>
                </a:solidFill>
                <a:latin typeface="Calibri"/>
              </a:rPr>
              <a:t>In terms of volume share by region, North America is expected to dominate</a:t>
            </a:r>
          </a:p>
        </p:txBody>
      </p:sp>
      <p:sp>
        <p:nvSpPr>
          <p:cNvPr id="60" name="TextBox 59"/>
          <p:cNvSpPr txBox="1"/>
          <p:nvPr/>
        </p:nvSpPr>
        <p:spPr>
          <a:xfrm>
            <a:off x="7239000" y="2329053"/>
            <a:ext cx="1150180" cy="194310"/>
          </a:xfrm>
          <a:prstGeom prst="rect">
            <a:avLst/>
          </a:prstGeom>
          <a:noFill/>
        </p:spPr>
        <p:txBody>
          <a:bodyPr wrap="none" lIns="0" tIns="0" rIns="0" bIns="0">
            <a:spAutoFit/>
          </a:bodyPr>
          <a:lstStyle/>
          <a:p>
            <a:r>
              <a:rPr sz="1150" b="0">
                <a:solidFill>
                  <a:srgbClr val="2E2E2E"/>
                </a:solidFill>
                <a:latin typeface="Calibri"/>
              </a:rPr>
              <a:t>the market, losing</a:t>
            </a:r>
          </a:p>
        </p:txBody>
      </p:sp>
      <p:pic>
        <p:nvPicPr>
          <p:cNvPr id="61" name="Picture 60" descr="lock.png"/>
          <p:cNvPicPr>
            <a:picLocks noChangeAspect="1"/>
          </p:cNvPicPr>
          <p:nvPr/>
        </p:nvPicPr>
        <p:blipFill>
          <a:blip r:embed="rId5"/>
          <a:stretch>
            <a:fillRect/>
          </a:stretch>
        </p:blipFill>
        <p:spPr>
          <a:xfrm>
            <a:off x="8338334" y="2318829"/>
            <a:ext cx="134549" cy="195707"/>
          </a:xfrm>
          <a:prstGeom prst="rect">
            <a:avLst/>
          </a:prstGeom>
        </p:spPr>
      </p:pic>
      <p:sp>
        <p:nvSpPr>
          <p:cNvPr id="62" name="TextBox 61"/>
          <p:cNvSpPr txBox="1"/>
          <p:nvPr/>
        </p:nvSpPr>
        <p:spPr>
          <a:xfrm>
            <a:off x="8513444" y="2329053"/>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63" name="Picture 62" descr="lock.png"/>
          <p:cNvPicPr>
            <a:picLocks noChangeAspect="1"/>
          </p:cNvPicPr>
          <p:nvPr/>
        </p:nvPicPr>
        <p:blipFill>
          <a:blip r:embed="rId5"/>
          <a:stretch>
            <a:fillRect/>
          </a:stretch>
        </p:blipFill>
        <p:spPr>
          <a:xfrm>
            <a:off x="9908587" y="2318829"/>
            <a:ext cx="134549" cy="195707"/>
          </a:xfrm>
          <a:prstGeom prst="rect">
            <a:avLst/>
          </a:prstGeom>
        </p:spPr>
      </p:pic>
      <p:sp>
        <p:nvSpPr>
          <p:cNvPr id="64" name="TextBox 63"/>
          <p:cNvSpPr txBox="1"/>
          <p:nvPr/>
        </p:nvSpPr>
        <p:spPr>
          <a:xfrm>
            <a:off x="10083696" y="232905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65" name="TextBox 64"/>
          <p:cNvSpPr txBox="1"/>
          <p:nvPr/>
        </p:nvSpPr>
        <p:spPr>
          <a:xfrm>
            <a:off x="1613208" y="5877496"/>
            <a:ext cx="1078882" cy="186689"/>
          </a:xfrm>
          <a:prstGeom prst="rect">
            <a:avLst/>
          </a:prstGeom>
          <a:noFill/>
        </p:spPr>
        <p:txBody>
          <a:bodyPr wrap="none" lIns="0" tIns="0" rIns="0" bIns="0">
            <a:spAutoFit/>
          </a:bodyPr>
          <a:lstStyle/>
          <a:p>
            <a:r>
              <a:rPr sz="1100" b="1">
                <a:solidFill>
                  <a:srgbClr val="6C7A89"/>
                </a:solidFill>
                <a:latin typeface="Calibri"/>
              </a:rPr>
              <a:t>2026 TOTAL (MT)</a:t>
            </a:r>
          </a:p>
        </p:txBody>
      </p:sp>
      <p:pic>
        <p:nvPicPr>
          <p:cNvPr id="66" name="Picture 65" descr="lock.png"/>
          <p:cNvPicPr>
            <a:picLocks noChangeAspect="1"/>
          </p:cNvPicPr>
          <p:nvPr/>
        </p:nvPicPr>
        <p:blipFill>
          <a:blip r:embed="rId5"/>
          <a:stretch>
            <a:fillRect/>
          </a:stretch>
        </p:blipFill>
        <p:spPr>
          <a:xfrm>
            <a:off x="1984327" y="6077648"/>
            <a:ext cx="233998" cy="340360"/>
          </a:xfrm>
          <a:prstGeom prst="rect">
            <a:avLst/>
          </a:prstGeom>
        </p:spPr>
      </p:pic>
      <p:sp>
        <p:nvSpPr>
          <p:cNvPr id="67" name="TextBox 66"/>
          <p:cNvSpPr txBox="1"/>
          <p:nvPr/>
        </p:nvSpPr>
        <p:spPr>
          <a:xfrm>
            <a:off x="5647046" y="5877496"/>
            <a:ext cx="1078882" cy="186689"/>
          </a:xfrm>
          <a:prstGeom prst="rect">
            <a:avLst/>
          </a:prstGeom>
          <a:noFill/>
        </p:spPr>
        <p:txBody>
          <a:bodyPr wrap="none" lIns="0" tIns="0" rIns="0" bIns="0">
            <a:spAutoFit/>
          </a:bodyPr>
          <a:lstStyle/>
          <a:p>
            <a:r>
              <a:rPr sz="1100" b="1">
                <a:solidFill>
                  <a:srgbClr val="6C7A89"/>
                </a:solidFill>
                <a:latin typeface="Calibri"/>
              </a:rPr>
              <a:t>2036 TOTAL (MT)</a:t>
            </a:r>
          </a:p>
        </p:txBody>
      </p:sp>
      <p:pic>
        <p:nvPicPr>
          <p:cNvPr id="68" name="Picture 67" descr="lock.png"/>
          <p:cNvPicPr>
            <a:picLocks noChangeAspect="1"/>
          </p:cNvPicPr>
          <p:nvPr/>
        </p:nvPicPr>
        <p:blipFill>
          <a:blip r:embed="rId5"/>
          <a:stretch>
            <a:fillRect/>
          </a:stretch>
        </p:blipFill>
        <p:spPr>
          <a:xfrm>
            <a:off x="6018165" y="6077648"/>
            <a:ext cx="233998" cy="340360"/>
          </a:xfrm>
          <a:prstGeom prst="rect">
            <a:avLst/>
          </a:prstGeom>
        </p:spPr>
      </p:pic>
      <p:sp>
        <p:nvSpPr>
          <p:cNvPr id="69"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Analysis, By Region Value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61987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474845" y="1419225"/>
            <a:ext cx="2383155" cy="133350"/>
          </a:xfrm>
          <a:prstGeom prst="rect">
            <a:avLst/>
          </a:prstGeom>
          <a:noFill/>
        </p:spPr>
        <p:txBody>
          <a:bodyPr wrap="square" lIns="28575" tIns="9525" rIns="2857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a:endParaRPr/>
          </a:p>
        </p:txBody>
      </p:sp>
      <p:sp>
        <p:nvSpPr>
          <p:cNvPr id="16" name="FMI Legend Chip"/>
          <p:cNvSpPr/>
          <p:nvPr/>
        </p:nvSpPr>
        <p:spPr>
          <a:xfrm>
            <a:off x="4551045" y="1589305"/>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rot="10800000">
            <a:off x="4712970" y="158454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4855845" y="1508342"/>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0255"/>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0" name="FMI Legend Chip"/>
          <p:cNvSpPr/>
          <p:nvPr/>
        </p:nvSpPr>
        <p:spPr>
          <a:xfrm>
            <a:off x="4551045" y="186909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a:off x="4712970" y="186432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4855845" y="1788127"/>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50040"/>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4" name="FMI Legend Chip"/>
          <p:cNvSpPr/>
          <p:nvPr/>
        </p:nvSpPr>
        <p:spPr>
          <a:xfrm>
            <a:off x="4551045" y="225651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rot="10800000">
            <a:off x="4712970" y="225175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4855845" y="2175551"/>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East Asia</a:t>
            </a:r>
          </a:p>
        </p:txBody>
      </p:sp>
      <p:sp>
        <p:nvSpPr>
          <p:cNvPr id="27" name="BPS Value 3"/>
          <p:cNvSpPr txBox="1"/>
          <p:nvPr/>
        </p:nvSpPr>
        <p:spPr>
          <a:xfrm>
            <a:off x="6305550" y="2237464"/>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8" name="FMI Legend Chip"/>
          <p:cNvSpPr/>
          <p:nvPr/>
        </p:nvSpPr>
        <p:spPr>
          <a:xfrm>
            <a:off x="4551045" y="273050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Isosceles Triangle 28"/>
          <p:cNvSpPr/>
          <p:nvPr/>
        </p:nvSpPr>
        <p:spPr>
          <a:xfrm>
            <a:off x="4712970" y="27257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BPS Name 4"/>
          <p:cNvSpPr txBox="1"/>
          <p:nvPr/>
        </p:nvSpPr>
        <p:spPr>
          <a:xfrm>
            <a:off x="4855845" y="2649539"/>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2711451"/>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32" name="FMI Legend Chip"/>
          <p:cNvSpPr/>
          <p:nvPr/>
        </p:nvSpPr>
        <p:spPr>
          <a:xfrm>
            <a:off x="4551045" y="349398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Isosceles Triangle 32"/>
          <p:cNvSpPr/>
          <p:nvPr/>
        </p:nvSpPr>
        <p:spPr>
          <a:xfrm>
            <a:off x="4712970" y="34892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BPS Name 5"/>
          <p:cNvSpPr txBox="1"/>
          <p:nvPr/>
        </p:nvSpPr>
        <p:spPr>
          <a:xfrm>
            <a:off x="4855845" y="3413026"/>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Europe</a:t>
            </a:r>
          </a:p>
        </p:txBody>
      </p:sp>
      <p:sp>
        <p:nvSpPr>
          <p:cNvPr id="35" name="BPS Value 5"/>
          <p:cNvSpPr txBox="1"/>
          <p:nvPr/>
        </p:nvSpPr>
        <p:spPr>
          <a:xfrm>
            <a:off x="6305550" y="3474938"/>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36" name="FMI Legend Chip"/>
          <p:cNvSpPr/>
          <p:nvPr/>
        </p:nvSpPr>
        <p:spPr>
          <a:xfrm>
            <a:off x="4551045" y="457377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Isosceles Triangle 36"/>
          <p:cNvSpPr/>
          <p:nvPr/>
        </p:nvSpPr>
        <p:spPr>
          <a:xfrm rot="10800000">
            <a:off x="4712970" y="456901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BPS Name 6"/>
          <p:cNvSpPr txBox="1"/>
          <p:nvPr/>
        </p:nvSpPr>
        <p:spPr>
          <a:xfrm>
            <a:off x="4855845" y="4492816"/>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54728"/>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7239000" y="1066800"/>
            <a:ext cx="4667250" cy="209550"/>
          </a:xfrm>
          <a:prstGeom prst="rect">
            <a:avLst/>
          </a:prstGeom>
          <a:noFill/>
        </p:spPr>
        <p:txBody>
          <a:bodyPr wrap="square" lIns="0" tIns="9525" rIns="19050"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7239000" y="1390650"/>
            <a:ext cx="4667250" cy="40481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2026 TOTAL (US$ MN)</a:t>
            </a:r>
          </a:p>
          <a:p>
            <a:pPr algn="ctr">
              <a:lnSpc>
                <a:spcPct val="95000"/>
              </a:lnSpc>
            </a:pPr>
            <a:endParaRPr sz="1100" b="1">
              <a:solidFill>
                <a:srgbClr val="6C7A89"/>
              </a:solidFill>
              <a:latin typeface="Calibri"/>
            </a:endParaRP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2036 TOTAL (US$ MN)</a:t>
            </a:r>
          </a:p>
          <a:p>
            <a:pPr algn="ctr">
              <a:lnSpc>
                <a:spcPct val="95000"/>
              </a:lnSpc>
            </a:pPr>
            <a:endParaRPr sz="1100" b="1">
              <a:solidFill>
                <a:srgbClr val="6C7A89"/>
              </a:solidFill>
              <a:latin typeface="Calibri"/>
            </a:endParaRP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(2026–2036)</a:t>
            </a:r>
          </a:p>
          <a:p>
            <a:pPr algn="ctr">
              <a:lnSpc>
                <a:spcPct val="95000"/>
              </a:lnSpc>
            </a:pPr>
            <a:endParaRPr sz="1100" b="1">
              <a:solidFill>
                <a:srgbClr val="6C7A89"/>
              </a:solidFill>
              <a:latin typeface="Calibri"/>
            </a:endParaRPr>
          </a:p>
        </p:txBody>
      </p:sp>
      <p:sp>
        <p:nvSpPr>
          <p:cNvPr id="47" name="TextBox 4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3_200_605E5C.png"/>
          <p:cNvPicPr>
            <a:picLocks noChangeAspect="1"/>
          </p:cNvPicPr>
          <p:nvPr/>
        </p:nvPicPr>
        <p:blipFill>
          <a:blip r:embed="rId6"/>
          <a:stretch>
            <a:fillRect/>
          </a:stretch>
        </p:blipFill>
        <p:spPr>
          <a:xfrm>
            <a:off x="1317398" y="5897562"/>
            <a:ext cx="1594300" cy="482599"/>
          </a:xfrm>
          <a:prstGeom prst="rect">
            <a:avLst/>
          </a:prstGeom>
        </p:spPr>
      </p:pic>
      <p:pic>
        <p:nvPicPr>
          <p:cNvPr id="50" name="Picture 49" descr="5_188_605E5C.png"/>
          <p:cNvPicPr>
            <a:picLocks noChangeAspect="1"/>
          </p:cNvPicPr>
          <p:nvPr/>
        </p:nvPicPr>
        <p:blipFill>
          <a:blip r:embed="rId7"/>
          <a:stretch>
            <a:fillRect/>
          </a:stretch>
        </p:blipFill>
        <p:spPr>
          <a:xfrm>
            <a:off x="5351235" y="5897562"/>
            <a:ext cx="1594300" cy="482599"/>
          </a:xfrm>
          <a:prstGeom prst="rect">
            <a:avLst/>
          </a:prstGeom>
        </p:spPr>
      </p:pic>
      <p:pic>
        <p:nvPicPr>
          <p:cNvPr id="51" name="Picture 50" descr="5_0__605E5C.png"/>
          <p:cNvPicPr>
            <a:picLocks noChangeAspect="1"/>
          </p:cNvPicPr>
          <p:nvPr/>
        </p:nvPicPr>
        <p:blipFill>
          <a:blip r:embed="rId8"/>
          <a:stretch>
            <a:fillRect/>
          </a:stretch>
        </p:blipFill>
        <p:spPr>
          <a:xfrm>
            <a:off x="9465355" y="5897562"/>
            <a:ext cx="1309912" cy="482599"/>
          </a:xfrm>
          <a:prstGeom prst="rect">
            <a:avLst/>
          </a:prstGeom>
        </p:spPr>
      </p:pic>
      <p:pic>
        <p:nvPicPr>
          <p:cNvPr id="52" name="Picture 51" descr="lock.png"/>
          <p:cNvPicPr>
            <a:picLocks noChangeAspect="1"/>
          </p:cNvPicPr>
          <p:nvPr/>
        </p:nvPicPr>
        <p:blipFill>
          <a:blip r:embed="rId5"/>
          <a:stretch>
            <a:fillRect/>
          </a:stretch>
        </p:blipFill>
        <p:spPr>
          <a:xfrm>
            <a:off x="5914657" y="5893409"/>
            <a:ext cx="337498" cy="490906"/>
          </a:xfrm>
          <a:prstGeom prst="rect">
            <a:avLst/>
          </a:prstGeom>
        </p:spPr>
      </p:pic>
      <p:sp>
        <p:nvSpPr>
          <p:cNvPr id="53" name="TextBox 52"/>
          <p:cNvSpPr txBox="1"/>
          <p:nvPr/>
        </p:nvSpPr>
        <p:spPr>
          <a:xfrm>
            <a:off x="7239000" y="1400175"/>
            <a:ext cx="4023258" cy="194310"/>
          </a:xfrm>
          <a:prstGeom prst="rect">
            <a:avLst/>
          </a:prstGeom>
          <a:noFill/>
        </p:spPr>
        <p:txBody>
          <a:bodyPr wrap="none" lIns="0" tIns="0" rIns="0" bIns="0">
            <a:spAutoFit/>
          </a:bodyPr>
          <a:lstStyle/>
          <a:p>
            <a:r>
              <a:rPr sz="1150" b="0">
                <a:solidFill>
                  <a:srgbClr val="2E2E2E"/>
                </a:solidFill>
                <a:latin typeface="Calibri"/>
              </a:rPr>
              <a:t>North America corrugated partition market is projected to register</a:t>
            </a:r>
          </a:p>
        </p:txBody>
      </p:sp>
      <p:pic>
        <p:nvPicPr>
          <p:cNvPr id="54" name="Picture 53" descr="lock.png"/>
          <p:cNvPicPr>
            <a:picLocks noChangeAspect="1"/>
          </p:cNvPicPr>
          <p:nvPr/>
        </p:nvPicPr>
        <p:blipFill>
          <a:blip r:embed="rId5"/>
          <a:stretch>
            <a:fillRect/>
          </a:stretch>
        </p:blipFill>
        <p:spPr>
          <a:xfrm>
            <a:off x="11211412" y="1389951"/>
            <a:ext cx="134549" cy="195707"/>
          </a:xfrm>
          <a:prstGeom prst="rect">
            <a:avLst/>
          </a:prstGeom>
        </p:spPr>
      </p:pic>
      <p:sp>
        <p:nvSpPr>
          <p:cNvPr id="55" name="TextBox 54"/>
          <p:cNvSpPr txBox="1"/>
          <p:nvPr/>
        </p:nvSpPr>
        <p:spPr>
          <a:xfrm>
            <a:off x="11386521" y="1400175"/>
            <a:ext cx="152077" cy="194310"/>
          </a:xfrm>
          <a:prstGeom prst="rect">
            <a:avLst/>
          </a:prstGeom>
          <a:noFill/>
        </p:spPr>
        <p:txBody>
          <a:bodyPr wrap="none" lIns="0" tIns="0" rIns="0" bIns="0">
            <a:spAutoFit/>
          </a:bodyPr>
          <a:lstStyle/>
          <a:p>
            <a:r>
              <a:rPr sz="1150" b="0">
                <a:solidFill>
                  <a:srgbClr val="2E2E2E"/>
                </a:solidFill>
                <a:latin typeface="Calibri"/>
              </a:rPr>
              <a:t>X</a:t>
            </a:r>
          </a:p>
        </p:txBody>
      </p:sp>
      <p:sp>
        <p:nvSpPr>
          <p:cNvPr id="56" name="TextBox 55"/>
          <p:cNvSpPr txBox="1"/>
          <p:nvPr/>
        </p:nvSpPr>
        <p:spPr>
          <a:xfrm>
            <a:off x="7239000" y="1575435"/>
            <a:ext cx="4402360" cy="194310"/>
          </a:xfrm>
          <a:prstGeom prst="rect">
            <a:avLst/>
          </a:prstGeom>
          <a:noFill/>
        </p:spPr>
        <p:txBody>
          <a:bodyPr wrap="none" lIns="0" tIns="0" rIns="0" bIns="0">
            <a:spAutoFit/>
          </a:bodyPr>
          <a:lstStyle/>
          <a:p>
            <a:r>
              <a:rPr sz="1150" b="0">
                <a:solidFill>
                  <a:srgbClr val="2E2E2E"/>
                </a:solidFill>
                <a:latin typeface="Calibri"/>
              </a:rPr>
              <a:t>higher value than Europe in 2036. Among corrugated partition by region,</a:t>
            </a:r>
          </a:p>
        </p:txBody>
      </p:sp>
      <p:sp>
        <p:nvSpPr>
          <p:cNvPr id="57" name="TextBox 56"/>
          <p:cNvSpPr txBox="1"/>
          <p:nvPr/>
        </p:nvSpPr>
        <p:spPr>
          <a:xfrm>
            <a:off x="7239000" y="1750695"/>
            <a:ext cx="3814434" cy="194310"/>
          </a:xfrm>
          <a:prstGeom prst="rect">
            <a:avLst/>
          </a:prstGeom>
          <a:noFill/>
        </p:spPr>
        <p:txBody>
          <a:bodyPr wrap="none" lIns="0" tIns="0" rIns="0" bIns="0">
            <a:spAutoFit/>
          </a:bodyPr>
          <a:lstStyle/>
          <a:p>
            <a:r>
              <a:rPr sz="1150" b="0">
                <a:solidFill>
                  <a:srgbClr val="2E2E2E"/>
                </a:solidFill>
                <a:latin typeface="Calibri"/>
              </a:rPr>
              <a:t>South Asia &amp; Pacific is expected to witness the highest CAGR of</a:t>
            </a:r>
          </a:p>
        </p:txBody>
      </p:sp>
      <p:pic>
        <p:nvPicPr>
          <p:cNvPr id="58" name="Picture 57" descr="lock.png"/>
          <p:cNvPicPr>
            <a:picLocks noChangeAspect="1"/>
          </p:cNvPicPr>
          <p:nvPr/>
        </p:nvPicPr>
        <p:blipFill>
          <a:blip r:embed="rId5"/>
          <a:stretch>
            <a:fillRect/>
          </a:stretch>
        </p:blipFill>
        <p:spPr>
          <a:xfrm>
            <a:off x="11002588" y="1740471"/>
            <a:ext cx="134549" cy="195707"/>
          </a:xfrm>
          <a:prstGeom prst="rect">
            <a:avLst/>
          </a:prstGeom>
        </p:spPr>
      </p:pic>
      <p:sp>
        <p:nvSpPr>
          <p:cNvPr id="59" name="TextBox 58"/>
          <p:cNvSpPr txBox="1"/>
          <p:nvPr/>
        </p:nvSpPr>
        <p:spPr>
          <a:xfrm>
            <a:off x="11177697" y="175069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60" name="TextBox 59"/>
          <p:cNvSpPr txBox="1"/>
          <p:nvPr/>
        </p:nvSpPr>
        <p:spPr>
          <a:xfrm>
            <a:off x="7239000" y="1925955"/>
            <a:ext cx="1017252" cy="194310"/>
          </a:xfrm>
          <a:prstGeom prst="rect">
            <a:avLst/>
          </a:prstGeom>
          <a:noFill/>
        </p:spPr>
        <p:txBody>
          <a:bodyPr wrap="none" lIns="0" tIns="0" rIns="0" bIns="0">
            <a:spAutoFit/>
          </a:bodyPr>
          <a:lstStyle/>
          <a:p>
            <a:r>
              <a:rPr sz="1150" b="0">
                <a:solidFill>
                  <a:srgbClr val="2E2E2E"/>
                </a:solidFill>
                <a:latin typeface="Calibri"/>
              </a:rPr>
              <a:t>forecast period.</a:t>
            </a:r>
          </a:p>
        </p:txBody>
      </p:sp>
      <p:sp>
        <p:nvSpPr>
          <p:cNvPr id="61" name="TextBox 60"/>
          <p:cNvSpPr txBox="1"/>
          <p:nvPr/>
        </p:nvSpPr>
        <p:spPr>
          <a:xfrm>
            <a:off x="7239000" y="2153793"/>
            <a:ext cx="4648200" cy="194310"/>
          </a:xfrm>
          <a:prstGeom prst="rect">
            <a:avLst/>
          </a:prstGeom>
          <a:noFill/>
        </p:spPr>
        <p:txBody>
          <a:bodyPr wrap="none" lIns="0" tIns="0" rIns="0" bIns="0">
            <a:spAutoFit/>
          </a:bodyPr>
          <a:lstStyle/>
          <a:p>
            <a:r>
              <a:rPr sz="1150" b="0">
                <a:solidFill>
                  <a:srgbClr val="2E2E2E"/>
                </a:solidFill>
                <a:latin typeface="Calibri"/>
              </a:rPr>
              <a:t>In terms of value share by region, North America is expected to dominate the</a:t>
            </a:r>
          </a:p>
        </p:txBody>
      </p:sp>
      <p:sp>
        <p:nvSpPr>
          <p:cNvPr id="62" name="TextBox 61"/>
          <p:cNvSpPr txBox="1"/>
          <p:nvPr/>
        </p:nvSpPr>
        <p:spPr>
          <a:xfrm>
            <a:off x="7239000" y="2329053"/>
            <a:ext cx="918554" cy="194310"/>
          </a:xfrm>
          <a:prstGeom prst="rect">
            <a:avLst/>
          </a:prstGeom>
          <a:noFill/>
        </p:spPr>
        <p:txBody>
          <a:bodyPr wrap="none" lIns="0" tIns="0" rIns="0" bIns="0">
            <a:spAutoFit/>
          </a:bodyPr>
          <a:lstStyle/>
          <a:p>
            <a:r>
              <a:rPr sz="1150" b="0">
                <a:solidFill>
                  <a:srgbClr val="2E2E2E"/>
                </a:solidFill>
                <a:latin typeface="Calibri"/>
              </a:rPr>
              <a:t>market, losing</a:t>
            </a:r>
          </a:p>
        </p:txBody>
      </p:sp>
      <p:pic>
        <p:nvPicPr>
          <p:cNvPr id="63" name="Picture 62" descr="lock.png"/>
          <p:cNvPicPr>
            <a:picLocks noChangeAspect="1"/>
          </p:cNvPicPr>
          <p:nvPr/>
        </p:nvPicPr>
        <p:blipFill>
          <a:blip r:embed="rId5"/>
          <a:stretch>
            <a:fillRect/>
          </a:stretch>
        </p:blipFill>
        <p:spPr>
          <a:xfrm>
            <a:off x="8106708" y="2318829"/>
            <a:ext cx="134549" cy="195707"/>
          </a:xfrm>
          <a:prstGeom prst="rect">
            <a:avLst/>
          </a:prstGeom>
        </p:spPr>
      </p:pic>
      <p:sp>
        <p:nvSpPr>
          <p:cNvPr id="64" name="TextBox 63"/>
          <p:cNvSpPr txBox="1"/>
          <p:nvPr/>
        </p:nvSpPr>
        <p:spPr>
          <a:xfrm>
            <a:off x="8281817" y="2329053"/>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65" name="Picture 64" descr="lock.png"/>
          <p:cNvPicPr>
            <a:picLocks noChangeAspect="1"/>
          </p:cNvPicPr>
          <p:nvPr/>
        </p:nvPicPr>
        <p:blipFill>
          <a:blip r:embed="rId5"/>
          <a:stretch>
            <a:fillRect/>
          </a:stretch>
        </p:blipFill>
        <p:spPr>
          <a:xfrm>
            <a:off x="9676961" y="2318829"/>
            <a:ext cx="134549" cy="195707"/>
          </a:xfrm>
          <a:prstGeom prst="rect">
            <a:avLst/>
          </a:prstGeom>
        </p:spPr>
      </p:pic>
      <p:sp>
        <p:nvSpPr>
          <p:cNvPr id="66" name="TextBox 65"/>
          <p:cNvSpPr txBox="1"/>
          <p:nvPr/>
        </p:nvSpPr>
        <p:spPr>
          <a:xfrm>
            <a:off x="9852070" y="232905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67"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Share Analysis, By Region Volume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Market Size, By Region (MT)</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extLst>
                    <a:ext uri="{9D8B030D-6E8A-4147-A177-3AD203B41FA5}">
                      <a16:colId xmlns:a16="http://schemas.microsoft.com/office/drawing/2014/main" val="20000"/>
                    </a:ext>
                  </a:extLst>
                </a:gridCol>
                <a:gridCol w="641033">
                  <a:extLst>
                    <a:ext uri="{9D8B030D-6E8A-4147-A177-3AD203B41FA5}">
                      <a16:colId xmlns:a16="http://schemas.microsoft.com/office/drawing/2014/main" val="20001"/>
                    </a:ext>
                  </a:extLst>
                </a:gridCol>
                <a:gridCol w="641033">
                  <a:extLst>
                    <a:ext uri="{9D8B030D-6E8A-4147-A177-3AD203B41FA5}">
                      <a16:colId xmlns:a16="http://schemas.microsoft.com/office/drawing/2014/main" val="20002"/>
                    </a:ext>
                  </a:extLst>
                </a:gridCol>
                <a:gridCol w="641033">
                  <a:extLst>
                    <a:ext uri="{9D8B030D-6E8A-4147-A177-3AD203B41FA5}">
                      <a16:colId xmlns:a16="http://schemas.microsoft.com/office/drawing/2014/main" val="20003"/>
                    </a:ext>
                  </a:extLst>
                </a:gridCol>
                <a:gridCol w="641033">
                  <a:extLst>
                    <a:ext uri="{9D8B030D-6E8A-4147-A177-3AD203B41FA5}">
                      <a16:colId xmlns:a16="http://schemas.microsoft.com/office/drawing/2014/main" val="20004"/>
                    </a:ext>
                  </a:extLst>
                </a:gridCol>
                <a:gridCol w="641033">
                  <a:extLst>
                    <a:ext uri="{9D8B030D-6E8A-4147-A177-3AD203B41FA5}">
                      <a16:colId xmlns:a16="http://schemas.microsoft.com/office/drawing/2014/main" val="20005"/>
                    </a:ext>
                  </a:extLst>
                </a:gridCol>
                <a:gridCol w="641033">
                  <a:extLst>
                    <a:ext uri="{9D8B030D-6E8A-4147-A177-3AD203B41FA5}">
                      <a16:colId xmlns:a16="http://schemas.microsoft.com/office/drawing/2014/main" val="20006"/>
                    </a:ext>
                  </a:extLst>
                </a:gridCol>
                <a:gridCol w="641033">
                  <a:extLst>
                    <a:ext uri="{9D8B030D-6E8A-4147-A177-3AD203B41FA5}">
                      <a16:colId xmlns:a16="http://schemas.microsoft.com/office/drawing/2014/main" val="20007"/>
                    </a:ext>
                  </a:extLst>
                </a:gridCol>
                <a:gridCol w="641033">
                  <a:extLst>
                    <a:ext uri="{9D8B030D-6E8A-4147-A177-3AD203B41FA5}">
                      <a16:colId xmlns:a16="http://schemas.microsoft.com/office/drawing/2014/main" val="20008"/>
                    </a:ext>
                  </a:extLst>
                </a:gridCol>
                <a:gridCol w="641033">
                  <a:extLst>
                    <a:ext uri="{9D8B030D-6E8A-4147-A177-3AD203B41FA5}">
                      <a16:colId xmlns:a16="http://schemas.microsoft.com/office/drawing/2014/main" val="20009"/>
                    </a:ext>
                  </a:extLst>
                </a:gridCol>
                <a:gridCol w="641033">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390820">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Region</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246888">
                <a:tc>
                  <a:txBody>
                    <a:bodyPr/>
                    <a:lstStyle/>
                    <a:p>
                      <a:pPr algn="l"/>
                      <a:r>
                        <a:rPr sz="1100" b="1">
                          <a:solidFill>
                            <a:srgbClr val="2E2E2E"/>
                          </a:solidFill>
                          <a:latin typeface="Calibri"/>
                        </a:rPr>
                        <a:t>North America</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246888">
                <a:tc>
                  <a:txBody>
                    <a:bodyPr/>
                    <a:lstStyle/>
                    <a:p>
                      <a:pPr algn="l"/>
                      <a:r>
                        <a:rPr sz="1100" b="1">
                          <a:solidFill>
                            <a:srgbClr val="2E2E2E"/>
                          </a:solidFill>
                          <a:latin typeface="Calibri"/>
                        </a:rPr>
                        <a:t>Latin America</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246888">
                <a:tc>
                  <a:txBody>
                    <a:bodyPr/>
                    <a:lstStyle/>
                    <a:p>
                      <a:pPr algn="l"/>
                      <a:r>
                        <a:rPr sz="1100" b="1">
                          <a:solidFill>
                            <a:srgbClr val="2E2E2E"/>
                          </a:solidFill>
                          <a:latin typeface="Calibri"/>
                        </a:rPr>
                        <a:t>Europe</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3"/>
                  </a:ext>
                </a:extLst>
              </a:tr>
              <a:tr h="246888">
                <a:tc>
                  <a:txBody>
                    <a:bodyPr/>
                    <a:lstStyle/>
                    <a:p>
                      <a:pPr algn="l"/>
                      <a:r>
                        <a:rPr sz="1100" b="1">
                          <a:solidFill>
                            <a:srgbClr val="2E2E2E"/>
                          </a:solidFill>
                          <a:latin typeface="Calibri"/>
                        </a:rPr>
                        <a:t>East Asia</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4"/>
                  </a:ext>
                </a:extLst>
              </a:tr>
              <a:tr h="439673">
                <a:tc>
                  <a:txBody>
                    <a:bodyPr/>
                    <a:lstStyle/>
                    <a:p>
                      <a:pPr algn="l"/>
                      <a:r>
                        <a:rPr sz="1100" b="1">
                          <a:solidFill>
                            <a:srgbClr val="2E2E2E"/>
                          </a:solidFill>
                          <a:latin typeface="Calibri"/>
                        </a:rPr>
                        <a:t>South Asia &amp;</a:t>
                      </a:r>
                      <a:endParaRPr sz="1100"/>
                    </a:p>
                    <a:p>
                      <a:pPr algn="l"/>
                      <a:r>
                        <a:rPr sz="1100" b="1">
                          <a:solidFill>
                            <a:srgbClr val="2E2E2E"/>
                          </a:solidFill>
                          <a:latin typeface="Calibri"/>
                        </a:rPr>
                        <a:t>Pacific</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5"/>
                  </a:ext>
                </a:extLst>
              </a:tr>
              <a:tr h="439673">
                <a:tc>
                  <a:txBody>
                    <a:bodyPr/>
                    <a:lstStyle/>
                    <a:p>
                      <a:pPr algn="l"/>
                      <a:r>
                        <a:rPr sz="1100" b="1">
                          <a:solidFill>
                            <a:srgbClr val="2E2E2E"/>
                          </a:solidFill>
                          <a:latin typeface="Calibri"/>
                        </a:rPr>
                        <a:t>Middle East &amp;</a:t>
                      </a:r>
                      <a:endParaRPr sz="1100"/>
                    </a:p>
                    <a:p>
                      <a:pPr algn="l"/>
                      <a:r>
                        <a:rPr sz="1100" b="1">
                          <a:solidFill>
                            <a:srgbClr val="2E2E2E"/>
                          </a:solidFill>
                          <a:latin typeface="Calibri"/>
                        </a:rPr>
                        <a:t>Africa</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6"/>
                  </a:ext>
                </a:extLst>
              </a:tr>
              <a:tr h="246888">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7"/>
                  </a:ext>
                </a:extLst>
              </a:tr>
            </a:tbl>
          </a:graphicData>
        </a:graphic>
      </p:graphicFrame>
      <p:sp>
        <p:nvSpPr>
          <p:cNvPr id="14" name="TextBox 13"/>
          <p:cNvSpPr txBox="1"/>
          <p:nvPr/>
        </p:nvSpPr>
        <p:spPr>
          <a:xfrm>
            <a:off x="219075" y="38004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421957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543425"/>
            <a:ext cx="11639550" cy="20097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4023258" cy="194310"/>
          </a:xfrm>
          <a:prstGeom prst="rect">
            <a:avLst/>
          </a:prstGeom>
          <a:noFill/>
        </p:spPr>
        <p:txBody>
          <a:bodyPr wrap="none" lIns="0" tIns="0" rIns="0" bIns="0">
            <a:spAutoFit/>
          </a:bodyPr>
          <a:lstStyle/>
          <a:p>
            <a:r>
              <a:rPr sz="1150" b="0">
                <a:solidFill>
                  <a:srgbClr val="2E2E2E"/>
                </a:solidFill>
                <a:latin typeface="Calibri"/>
              </a:rPr>
              <a:t>North America corrugated partition market is projected to register</a:t>
            </a:r>
          </a:p>
        </p:txBody>
      </p:sp>
      <p:pic>
        <p:nvPicPr>
          <p:cNvPr id="22" name="Picture 21" descr="lock.png"/>
          <p:cNvPicPr>
            <a:picLocks noChangeAspect="1"/>
          </p:cNvPicPr>
          <p:nvPr/>
        </p:nvPicPr>
        <p:blipFill>
          <a:blip r:embed="rId4"/>
          <a:stretch>
            <a:fillRect/>
          </a:stretch>
        </p:blipFill>
        <p:spPr>
          <a:xfrm>
            <a:off x="4248637" y="4542726"/>
            <a:ext cx="134549" cy="195707"/>
          </a:xfrm>
          <a:prstGeom prst="rect">
            <a:avLst/>
          </a:prstGeom>
        </p:spPr>
      </p:pic>
      <p:sp>
        <p:nvSpPr>
          <p:cNvPr id="23" name="TextBox 22"/>
          <p:cNvSpPr txBox="1"/>
          <p:nvPr/>
        </p:nvSpPr>
        <p:spPr>
          <a:xfrm>
            <a:off x="4423746" y="4552950"/>
            <a:ext cx="7417209" cy="194310"/>
          </a:xfrm>
          <a:prstGeom prst="rect">
            <a:avLst/>
          </a:prstGeom>
          <a:noFill/>
        </p:spPr>
        <p:txBody>
          <a:bodyPr wrap="none" lIns="0" tIns="0" rIns="0" bIns="0">
            <a:spAutoFit/>
          </a:bodyPr>
          <a:lstStyle/>
          <a:p>
            <a:r>
              <a:rPr sz="1150" b="0">
                <a:solidFill>
                  <a:srgbClr val="2E2E2E"/>
                </a:solidFill>
                <a:latin typeface="Calibri"/>
              </a:rPr>
              <a:t>X higher volume than Europe in 2036. Among corrugated partition by region, South Asia &amp; Pacific is expected to witness the</a:t>
            </a:r>
          </a:p>
        </p:txBody>
      </p:sp>
      <p:sp>
        <p:nvSpPr>
          <p:cNvPr id="24" name="TextBox 23"/>
          <p:cNvSpPr txBox="1"/>
          <p:nvPr/>
        </p:nvSpPr>
        <p:spPr>
          <a:xfrm>
            <a:off x="276225" y="4728210"/>
            <a:ext cx="1032353" cy="194310"/>
          </a:xfrm>
          <a:prstGeom prst="rect">
            <a:avLst/>
          </a:prstGeom>
          <a:noFill/>
        </p:spPr>
        <p:txBody>
          <a:bodyPr wrap="none" lIns="0" tIns="0" r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4717986"/>
            <a:ext cx="134549" cy="195707"/>
          </a:xfrm>
          <a:prstGeom prst="rect">
            <a:avLst/>
          </a:prstGeom>
        </p:spPr>
      </p:pic>
      <p:sp>
        <p:nvSpPr>
          <p:cNvPr id="26" name="TextBox 25"/>
          <p:cNvSpPr txBox="1"/>
          <p:nvPr/>
        </p:nvSpPr>
        <p:spPr>
          <a:xfrm>
            <a:off x="1432841" y="47282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956047"/>
            <a:ext cx="5665465" cy="194310"/>
          </a:xfrm>
          <a:prstGeom prst="rect">
            <a:avLst/>
          </a:prstGeom>
          <a:noFill/>
        </p:spPr>
        <p:txBody>
          <a:bodyPr wrap="none" lIns="0" tIns="0" rIns="0" bIns="0">
            <a:spAutoFit/>
          </a:bodyPr>
          <a:lstStyle/>
          <a:p>
            <a:r>
              <a:rPr sz="1150" b="0">
                <a:solidFill>
                  <a:srgbClr val="2E2E2E"/>
                </a:solidFill>
                <a:latin typeface="Calibri"/>
              </a:rPr>
              <a:t>In terms of volume share by region, North America is expected to dominate the market, losing</a:t>
            </a:r>
          </a:p>
        </p:txBody>
      </p:sp>
      <p:pic>
        <p:nvPicPr>
          <p:cNvPr id="28" name="Picture 27" descr="lock.png"/>
          <p:cNvPicPr>
            <a:picLocks noChangeAspect="1"/>
          </p:cNvPicPr>
          <p:nvPr/>
        </p:nvPicPr>
        <p:blipFill>
          <a:blip r:embed="rId4"/>
          <a:stretch>
            <a:fillRect/>
          </a:stretch>
        </p:blipFill>
        <p:spPr>
          <a:xfrm>
            <a:off x="5890843" y="4945824"/>
            <a:ext cx="134549" cy="195707"/>
          </a:xfrm>
          <a:prstGeom prst="rect">
            <a:avLst/>
          </a:prstGeom>
        </p:spPr>
      </p:pic>
      <p:sp>
        <p:nvSpPr>
          <p:cNvPr id="29" name="TextBox 28"/>
          <p:cNvSpPr txBox="1"/>
          <p:nvPr/>
        </p:nvSpPr>
        <p:spPr>
          <a:xfrm>
            <a:off x="6065953" y="49560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461096" y="4945824"/>
            <a:ext cx="134549" cy="195707"/>
          </a:xfrm>
          <a:prstGeom prst="rect">
            <a:avLst/>
          </a:prstGeom>
        </p:spPr>
      </p:pic>
      <p:sp>
        <p:nvSpPr>
          <p:cNvPr id="31" name="TextBox 30"/>
          <p:cNvSpPr txBox="1"/>
          <p:nvPr/>
        </p:nvSpPr>
        <p:spPr>
          <a:xfrm>
            <a:off x="7636205" y="49560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1475375">
                  <a:extLst>
                    <a:ext uri="{9D8B030D-6E8A-4147-A177-3AD203B41FA5}">
                      <a16:colId xmlns:a16="http://schemas.microsoft.com/office/drawing/2014/main" val="20000"/>
                    </a:ext>
                  </a:extLst>
                </a:gridCol>
                <a:gridCol w="612460">
                  <a:extLst>
                    <a:ext uri="{9D8B030D-6E8A-4147-A177-3AD203B41FA5}">
                      <a16:colId xmlns:a16="http://schemas.microsoft.com/office/drawing/2014/main" val="20001"/>
                    </a:ext>
                  </a:extLst>
                </a:gridCol>
                <a:gridCol w="612460">
                  <a:extLst>
                    <a:ext uri="{9D8B030D-6E8A-4147-A177-3AD203B41FA5}">
                      <a16:colId xmlns:a16="http://schemas.microsoft.com/office/drawing/2014/main" val="20002"/>
                    </a:ext>
                  </a:extLst>
                </a:gridCol>
                <a:gridCol w="612460">
                  <a:extLst>
                    <a:ext uri="{9D8B030D-6E8A-4147-A177-3AD203B41FA5}">
                      <a16:colId xmlns:a16="http://schemas.microsoft.com/office/drawing/2014/main" val="20003"/>
                    </a:ext>
                  </a:extLst>
                </a:gridCol>
                <a:gridCol w="612460">
                  <a:extLst>
                    <a:ext uri="{9D8B030D-6E8A-4147-A177-3AD203B41FA5}">
                      <a16:colId xmlns:a16="http://schemas.microsoft.com/office/drawing/2014/main" val="20004"/>
                    </a:ext>
                  </a:extLst>
                </a:gridCol>
                <a:gridCol w="612460">
                  <a:extLst>
                    <a:ext uri="{9D8B030D-6E8A-4147-A177-3AD203B41FA5}">
                      <a16:colId xmlns:a16="http://schemas.microsoft.com/office/drawing/2014/main" val="20005"/>
                    </a:ext>
                  </a:extLst>
                </a:gridCol>
                <a:gridCol w="612460">
                  <a:extLst>
                    <a:ext uri="{9D8B030D-6E8A-4147-A177-3AD203B41FA5}">
                      <a16:colId xmlns:a16="http://schemas.microsoft.com/office/drawing/2014/main" val="20006"/>
                    </a:ext>
                  </a:extLst>
                </a:gridCol>
                <a:gridCol w="612460">
                  <a:extLst>
                    <a:ext uri="{9D8B030D-6E8A-4147-A177-3AD203B41FA5}">
                      <a16:colId xmlns:a16="http://schemas.microsoft.com/office/drawing/2014/main" val="20007"/>
                    </a:ext>
                  </a:extLst>
                </a:gridCol>
                <a:gridCol w="612460">
                  <a:extLst>
                    <a:ext uri="{9D8B030D-6E8A-4147-A177-3AD203B41FA5}">
                      <a16:colId xmlns:a16="http://schemas.microsoft.com/office/drawing/2014/main" val="20008"/>
                    </a:ext>
                  </a:extLst>
                </a:gridCol>
                <a:gridCol w="612460">
                  <a:extLst>
                    <a:ext uri="{9D8B030D-6E8A-4147-A177-3AD203B41FA5}">
                      <a16:colId xmlns:a16="http://schemas.microsoft.com/office/drawing/2014/main" val="20009"/>
                    </a:ext>
                  </a:extLst>
                </a:gridCol>
                <a:gridCol w="612460">
                  <a:extLst>
                    <a:ext uri="{9D8B030D-6E8A-4147-A177-3AD203B41FA5}">
                      <a16:colId xmlns:a16="http://schemas.microsoft.com/office/drawing/2014/main" val="20010"/>
                    </a:ext>
                  </a:extLst>
                </a:gridCol>
                <a:gridCol w="612460">
                  <a:extLst>
                    <a:ext uri="{9D8B030D-6E8A-4147-A177-3AD203B41FA5}">
                      <a16:colId xmlns:a16="http://schemas.microsoft.com/office/drawing/2014/main" val="20011"/>
                    </a:ext>
                  </a:extLst>
                </a:gridCol>
                <a:gridCol w="612460">
                  <a:extLst>
                    <a:ext uri="{9D8B030D-6E8A-4147-A177-3AD203B41FA5}">
                      <a16:colId xmlns:a16="http://schemas.microsoft.com/office/drawing/2014/main" val="20012"/>
                    </a:ext>
                  </a:extLst>
                </a:gridCol>
                <a:gridCol w="612460">
                  <a:extLst>
                    <a:ext uri="{9D8B030D-6E8A-4147-A177-3AD203B41FA5}">
                      <a16:colId xmlns:a16="http://schemas.microsoft.com/office/drawing/2014/main" val="20013"/>
                    </a:ext>
                  </a:extLst>
                </a:gridCol>
                <a:gridCol w="612460">
                  <a:extLst>
                    <a:ext uri="{9D8B030D-6E8A-4147-A177-3AD203B41FA5}">
                      <a16:colId xmlns:a16="http://schemas.microsoft.com/office/drawing/2014/main" val="20014"/>
                    </a:ext>
                  </a:extLst>
                </a:gridCol>
                <a:gridCol w="612460">
                  <a:extLst>
                    <a:ext uri="{9D8B030D-6E8A-4147-A177-3AD203B41FA5}">
                      <a16:colId xmlns:a16="http://schemas.microsoft.com/office/drawing/2014/main" val="20015"/>
                    </a:ext>
                  </a:extLst>
                </a:gridCol>
                <a:gridCol w="612460">
                  <a:extLst>
                    <a:ext uri="{9D8B030D-6E8A-4147-A177-3AD203B41FA5}">
                      <a16:colId xmlns:a16="http://schemas.microsoft.com/office/drawing/2014/main" val="20016"/>
                    </a:ext>
                  </a:extLst>
                </a:gridCol>
                <a:gridCol w="612460">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507">
                <a:tc>
                  <a:txBody>
                    <a:bodyPr/>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507">
                <a:tc>
                  <a:txBody>
                    <a:bodyPr/>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507">
                <a:tc>
                  <a:txBody>
                    <a:bodyPr/>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507">
                <a:tc>
                  <a:txBody>
                    <a:bodyPr/>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507">
                <a:tc>
                  <a:txBody>
                    <a:bodyPr/>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507">
                <a:tc>
                  <a:txBody>
                    <a:bodyPr/>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507">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7"/>
                  </a:ext>
                </a:extLst>
              </a:tr>
            </a:tbl>
          </a:graphicData>
        </a:graphic>
      </p:graphicFrame>
      <p:sp>
        <p:nvSpPr>
          <p:cNvPr id="14" name="TextBox 13"/>
          <p:cNvSpPr txBox="1"/>
          <p:nvPr/>
        </p:nvSpPr>
        <p:spPr>
          <a:xfrm>
            <a:off x="219075" y="32194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638550"/>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962400"/>
            <a:ext cx="11639550" cy="259080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6995" y="2080450"/>
            <a:ext cx="366712" cy="533400"/>
          </a:xfrm>
          <a:prstGeom prst="rect">
            <a:avLst/>
          </a:prstGeom>
        </p:spPr>
      </p:pic>
      <p:sp>
        <p:nvSpPr>
          <p:cNvPr id="21" name="TextBox 20"/>
          <p:cNvSpPr txBox="1"/>
          <p:nvPr/>
        </p:nvSpPr>
        <p:spPr>
          <a:xfrm>
            <a:off x="276225" y="3971925"/>
            <a:ext cx="4023258" cy="194310"/>
          </a:xfrm>
          <a:prstGeom prst="rect">
            <a:avLst/>
          </a:prstGeom>
          <a:noFill/>
        </p:spPr>
        <p:txBody>
          <a:bodyPr wrap="none" lIns="0" tIns="0" rIns="0" bIns="0">
            <a:spAutoFit/>
          </a:bodyPr>
          <a:lstStyle/>
          <a:p>
            <a:r>
              <a:rPr sz="1150" b="0">
                <a:solidFill>
                  <a:srgbClr val="2E2E2E"/>
                </a:solidFill>
                <a:latin typeface="Calibri"/>
              </a:rPr>
              <a:t>North America corrugated partition market is projected to register</a:t>
            </a:r>
          </a:p>
        </p:txBody>
      </p:sp>
      <p:pic>
        <p:nvPicPr>
          <p:cNvPr id="22" name="Picture 21" descr="lock.png"/>
          <p:cNvPicPr>
            <a:picLocks noChangeAspect="1"/>
          </p:cNvPicPr>
          <p:nvPr/>
        </p:nvPicPr>
        <p:blipFill>
          <a:blip r:embed="rId4"/>
          <a:stretch>
            <a:fillRect/>
          </a:stretch>
        </p:blipFill>
        <p:spPr>
          <a:xfrm>
            <a:off x="4248637" y="3961701"/>
            <a:ext cx="134549" cy="195707"/>
          </a:xfrm>
          <a:prstGeom prst="rect">
            <a:avLst/>
          </a:prstGeom>
        </p:spPr>
      </p:pic>
      <p:sp>
        <p:nvSpPr>
          <p:cNvPr id="23" name="TextBox 22"/>
          <p:cNvSpPr txBox="1"/>
          <p:nvPr/>
        </p:nvSpPr>
        <p:spPr>
          <a:xfrm>
            <a:off x="4423746" y="3971925"/>
            <a:ext cx="7293409" cy="194310"/>
          </a:xfrm>
          <a:prstGeom prst="rect">
            <a:avLst/>
          </a:prstGeom>
          <a:noFill/>
        </p:spPr>
        <p:txBody>
          <a:bodyPr wrap="none" lIns="0" tIns="0" rIns="0" bIns="0">
            <a:spAutoFit/>
          </a:bodyPr>
          <a:lstStyle/>
          <a:p>
            <a:r>
              <a:rPr sz="1150" b="0">
                <a:solidFill>
                  <a:srgbClr val="2E2E2E"/>
                </a:solidFill>
                <a:latin typeface="Calibri"/>
              </a:rPr>
              <a:t>X higher value than Europe in 2036. Among corrugated partition by region, South Asia &amp; Pacific is expected to witness the</a:t>
            </a:r>
          </a:p>
        </p:txBody>
      </p:sp>
      <p:sp>
        <p:nvSpPr>
          <p:cNvPr id="24" name="TextBox 23"/>
          <p:cNvSpPr txBox="1"/>
          <p:nvPr/>
        </p:nvSpPr>
        <p:spPr>
          <a:xfrm>
            <a:off x="276225" y="4147185"/>
            <a:ext cx="1032353" cy="194310"/>
          </a:xfrm>
          <a:prstGeom prst="rect">
            <a:avLst/>
          </a:prstGeom>
          <a:noFill/>
        </p:spPr>
        <p:txBody>
          <a:bodyPr wrap="none" lIns="0" tIns="0" r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4136961"/>
            <a:ext cx="134549" cy="195707"/>
          </a:xfrm>
          <a:prstGeom prst="rect">
            <a:avLst/>
          </a:prstGeom>
        </p:spPr>
      </p:pic>
      <p:sp>
        <p:nvSpPr>
          <p:cNvPr id="26" name="TextBox 25"/>
          <p:cNvSpPr txBox="1"/>
          <p:nvPr/>
        </p:nvSpPr>
        <p:spPr>
          <a:xfrm>
            <a:off x="1432841" y="414718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375022"/>
            <a:ext cx="5541664" cy="194310"/>
          </a:xfrm>
          <a:prstGeom prst="rect">
            <a:avLst/>
          </a:prstGeom>
          <a:noFill/>
        </p:spPr>
        <p:txBody>
          <a:bodyPr wrap="none" lIns="0" tIns="0" rIns="0" bIns="0">
            <a:spAutoFit/>
          </a:bodyPr>
          <a:lstStyle/>
          <a:p>
            <a:r>
              <a:rPr sz="1150" b="0">
                <a:solidFill>
                  <a:srgbClr val="2E2E2E"/>
                </a:solidFill>
                <a:latin typeface="Calibri"/>
              </a:rPr>
              <a:t>In terms of value share by region, North America is expected to dominate the market, losing</a:t>
            </a:r>
          </a:p>
        </p:txBody>
      </p:sp>
      <p:pic>
        <p:nvPicPr>
          <p:cNvPr id="28" name="Picture 27" descr="lock.png"/>
          <p:cNvPicPr>
            <a:picLocks noChangeAspect="1"/>
          </p:cNvPicPr>
          <p:nvPr/>
        </p:nvPicPr>
        <p:blipFill>
          <a:blip r:embed="rId4"/>
          <a:stretch>
            <a:fillRect/>
          </a:stretch>
        </p:blipFill>
        <p:spPr>
          <a:xfrm>
            <a:off x="5767043" y="4364799"/>
            <a:ext cx="134549" cy="195707"/>
          </a:xfrm>
          <a:prstGeom prst="rect">
            <a:avLst/>
          </a:prstGeom>
        </p:spPr>
      </p:pic>
      <p:sp>
        <p:nvSpPr>
          <p:cNvPr id="29" name="TextBox 28"/>
          <p:cNvSpPr txBox="1"/>
          <p:nvPr/>
        </p:nvSpPr>
        <p:spPr>
          <a:xfrm>
            <a:off x="5942153" y="4375022"/>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337296" y="4364799"/>
            <a:ext cx="134549" cy="195707"/>
          </a:xfrm>
          <a:prstGeom prst="rect">
            <a:avLst/>
          </a:prstGeom>
        </p:spPr>
      </p:pic>
      <p:sp>
        <p:nvSpPr>
          <p:cNvPr id="31" name="TextBox 30"/>
          <p:cNvSpPr txBox="1"/>
          <p:nvPr/>
        </p:nvSpPr>
        <p:spPr>
          <a:xfrm>
            <a:off x="7512405" y="4375022"/>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Trends, By Region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By Region (MT)</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FMI Dense Legend"/>
          <p:cNvSpPr txBox="1"/>
          <p:nvPr/>
        </p:nvSpPr>
        <p:spPr>
          <a:xfrm>
            <a:off x="9839325" y="1362075"/>
            <a:ext cx="2057400" cy="171450"/>
          </a:xfrm>
          <a:prstGeom prst="rect">
            <a:avLst/>
          </a:prstGeom>
          <a:noFill/>
        </p:spPr>
        <p:txBody>
          <a:bodyPr wrap="none">
            <a:spAutoFit/>
          </a:bodyPr>
          <a:lstStyle/>
          <a:p>
            <a:endParaRP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38125" y="39243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FMI Dense Legend"/>
          <p:cNvSpPr txBox="1"/>
          <p:nvPr/>
        </p:nvSpPr>
        <p:spPr>
          <a:xfrm>
            <a:off x="9839325" y="4248150"/>
            <a:ext cx="2057400" cy="171450"/>
          </a:xfrm>
          <a:prstGeom prst="rect">
            <a:avLst/>
          </a:prstGeom>
          <a:noFill/>
        </p:spPr>
        <p:txBody>
          <a:bodyPr wrap="none">
            <a:spAutoFit/>
          </a:bodyPr>
          <a:lstStyle/>
          <a:p>
            <a:endParaRP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24" name="TextBox 23"/>
          <p:cNvSpPr txBox="1"/>
          <p:nvPr/>
        </p:nvSpPr>
        <p:spPr>
          <a:xfrm>
            <a:off x="9930765" y="1407795"/>
            <a:ext cx="452511" cy="112318"/>
          </a:xfrm>
          <a:prstGeom prst="rect">
            <a:avLst/>
          </a:prstGeom>
          <a:noFill/>
        </p:spPr>
        <p:txBody>
          <a:bodyPr wrap="none" lIns="0" tIns="0" rIns="0" bIns="0">
            <a:spAutoFit/>
          </a:bodyPr>
          <a:lstStyle/>
          <a:p>
            <a:r>
              <a:rPr sz="611" b="1">
                <a:solidFill>
                  <a:srgbClr val="6C7A89"/>
                </a:solidFill>
                <a:latin typeface="Calibri"/>
              </a:rPr>
              <a:t>By segment</a:t>
            </a:r>
          </a:p>
        </p:txBody>
      </p:sp>
      <p:sp>
        <p:nvSpPr>
          <p:cNvPr id="25" name="TextBox 24"/>
          <p:cNvSpPr txBox="1"/>
          <p:nvPr/>
        </p:nvSpPr>
        <p:spPr>
          <a:xfrm>
            <a:off x="9930765" y="4293870"/>
            <a:ext cx="452511" cy="112318"/>
          </a:xfrm>
          <a:prstGeom prst="rect">
            <a:avLst/>
          </a:prstGeom>
          <a:noFill/>
        </p:spPr>
        <p:txBody>
          <a:bodyPr wrap="none" lIns="0" tIns="0" rIns="0" bIns="0">
            <a:spAutoFit/>
          </a:bodyPr>
          <a:lstStyle/>
          <a:p>
            <a:r>
              <a:rPr sz="611" b="1">
                <a:solidFill>
                  <a:srgbClr val="6C7A89"/>
                </a:solidFill>
                <a:latin typeface="Calibri"/>
              </a:rPr>
              <a:t>By segment</a:t>
            </a:r>
          </a:p>
        </p:txBody>
      </p:sp>
      <p:sp>
        <p:nvSpPr>
          <p:cNvPr id="26" name="lockshield_13"/>
          <p:cNvSpPr/>
          <p:nvPr/>
        </p:nvSpPr>
        <p:spPr>
          <a:xfrm>
            <a:off x="238125" y="1266825"/>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lockshield_19"/>
          <p:cNvSpPr/>
          <p:nvPr/>
        </p:nvSpPr>
        <p:spPr>
          <a:xfrm>
            <a:off x="238125" y="4152900"/>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Top 10 Countries (2036)</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3251192"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3489317" y="1266825"/>
            <a:ext cx="3445941" cy="2887120"/>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15" name="Rectangle 14"/>
          <p:cNvSpPr/>
          <p:nvPr/>
        </p:nvSpPr>
        <p:spPr>
          <a:xfrm>
            <a:off x="3489317" y="4153945"/>
            <a:ext cx="3445941" cy="241830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6" name="Rectangle 15"/>
          <p:cNvSpPr/>
          <p:nvPr/>
        </p:nvSpPr>
        <p:spPr>
          <a:xfrm>
            <a:off x="6935259" y="1266825"/>
            <a:ext cx="2885214" cy="2221267"/>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China</a:t>
            </a:r>
          </a:p>
          <a:p>
            <a:pPr algn="ctr"/>
            <a:r>
              <a:rPr sz="1100" b="0">
                <a:solidFill>
                  <a:srgbClr val="FFFFFF"/>
                </a:solidFill>
                <a:latin typeface="Calibri"/>
              </a:rPr>
              <a:t> </a:t>
            </a:r>
          </a:p>
        </p:txBody>
      </p:sp>
      <p:sp>
        <p:nvSpPr>
          <p:cNvPr id="17" name="Rectangle 16"/>
          <p:cNvSpPr/>
          <p:nvPr/>
        </p:nvSpPr>
        <p:spPr>
          <a:xfrm>
            <a:off x="9820472" y="1266825"/>
            <a:ext cx="2133403" cy="2221267"/>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India</a:t>
            </a:r>
          </a:p>
          <a:p>
            <a:pPr algn="ctr"/>
            <a:r>
              <a:rPr sz="1100" b="0">
                <a:solidFill>
                  <a:srgbClr val="FFFFFF"/>
                </a:solidFill>
                <a:latin typeface="Calibri"/>
              </a:rPr>
              <a:t> </a:t>
            </a:r>
          </a:p>
        </p:txBody>
      </p:sp>
      <p:sp>
        <p:nvSpPr>
          <p:cNvPr id="18" name="Rectangle 17"/>
          <p:cNvSpPr/>
          <p:nvPr/>
        </p:nvSpPr>
        <p:spPr>
          <a:xfrm>
            <a:off x="6935259" y="3488092"/>
            <a:ext cx="2429762" cy="1652415"/>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Brazil</a:t>
            </a:r>
          </a:p>
          <a:p>
            <a:pPr algn="ctr"/>
            <a:r>
              <a:rPr sz="1100" b="0">
                <a:solidFill>
                  <a:srgbClr val="FFFFFF"/>
                </a:solidFill>
                <a:latin typeface="Calibri"/>
              </a:rPr>
              <a:t> </a:t>
            </a:r>
          </a:p>
        </p:txBody>
      </p:sp>
      <p:sp>
        <p:nvSpPr>
          <p:cNvPr id="19" name="Rectangle 18"/>
          <p:cNvSpPr/>
          <p:nvPr/>
        </p:nvSpPr>
        <p:spPr>
          <a:xfrm>
            <a:off x="6935259" y="5140507"/>
            <a:ext cx="2429762" cy="1431743"/>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U.K.</a:t>
            </a:r>
          </a:p>
          <a:p>
            <a:pPr algn="ctr"/>
            <a:r>
              <a:rPr sz="1100" b="0">
                <a:solidFill>
                  <a:srgbClr val="FFFFFF"/>
                </a:solidFill>
                <a:latin typeface="Calibri"/>
              </a:rPr>
              <a:t> </a:t>
            </a:r>
          </a:p>
        </p:txBody>
      </p:sp>
      <p:sp>
        <p:nvSpPr>
          <p:cNvPr id="20" name="Rectangle 19"/>
          <p:cNvSpPr/>
          <p:nvPr/>
        </p:nvSpPr>
        <p:spPr>
          <a:xfrm>
            <a:off x="9365021" y="3488092"/>
            <a:ext cx="1305808" cy="2110488"/>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Japan</a:t>
            </a:r>
          </a:p>
          <a:p>
            <a:pPr algn="ctr"/>
            <a:r>
              <a:rPr sz="1100" b="0">
                <a:solidFill>
                  <a:srgbClr val="FFFFFF"/>
                </a:solidFill>
                <a:latin typeface="Calibri"/>
              </a:rPr>
              <a:t> </a:t>
            </a:r>
          </a:p>
        </p:txBody>
      </p:sp>
      <p:sp>
        <p:nvSpPr>
          <p:cNvPr id="21" name="Rectangle 20"/>
          <p:cNvSpPr/>
          <p:nvPr/>
        </p:nvSpPr>
        <p:spPr>
          <a:xfrm>
            <a:off x="10670828" y="3488092"/>
            <a:ext cx="1283047" cy="211048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2" name="Rectangle 21"/>
          <p:cNvSpPr/>
          <p:nvPr/>
        </p:nvSpPr>
        <p:spPr>
          <a:xfrm>
            <a:off x="9365021" y="5598580"/>
            <a:ext cx="2588854" cy="973670"/>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1709282" y="3919537"/>
            <a:ext cx="308877" cy="449275"/>
          </a:xfrm>
          <a:prstGeom prst="rect">
            <a:avLst/>
          </a:prstGeom>
        </p:spPr>
      </p:pic>
      <p:pic>
        <p:nvPicPr>
          <p:cNvPr id="25" name="Picture 24" descr="lock.png"/>
          <p:cNvPicPr>
            <a:picLocks noChangeAspect="1"/>
          </p:cNvPicPr>
          <p:nvPr/>
        </p:nvPicPr>
        <p:blipFill>
          <a:blip r:embed="rId4"/>
          <a:stretch>
            <a:fillRect/>
          </a:stretch>
        </p:blipFill>
        <p:spPr>
          <a:xfrm>
            <a:off x="5057849" y="2710385"/>
            <a:ext cx="308877" cy="449275"/>
          </a:xfrm>
          <a:prstGeom prst="rect">
            <a:avLst/>
          </a:prstGeom>
        </p:spPr>
      </p:pic>
      <p:pic>
        <p:nvPicPr>
          <p:cNvPr id="26" name="Picture 25" descr="lock.png"/>
          <p:cNvPicPr>
            <a:picLocks noChangeAspect="1"/>
          </p:cNvPicPr>
          <p:nvPr/>
        </p:nvPicPr>
        <p:blipFill>
          <a:blip r:embed="rId4"/>
          <a:stretch>
            <a:fillRect/>
          </a:stretch>
        </p:blipFill>
        <p:spPr>
          <a:xfrm>
            <a:off x="5057849" y="5363097"/>
            <a:ext cx="308877" cy="449275"/>
          </a:xfrm>
          <a:prstGeom prst="rect">
            <a:avLst/>
          </a:prstGeom>
        </p:spPr>
      </p:pic>
      <p:pic>
        <p:nvPicPr>
          <p:cNvPr id="27" name="Picture 26" descr="lock.png"/>
          <p:cNvPicPr>
            <a:picLocks noChangeAspect="1"/>
          </p:cNvPicPr>
          <p:nvPr/>
        </p:nvPicPr>
        <p:blipFill>
          <a:blip r:embed="rId4"/>
          <a:stretch>
            <a:fillRect/>
          </a:stretch>
        </p:blipFill>
        <p:spPr>
          <a:xfrm>
            <a:off x="8223427" y="2377458"/>
            <a:ext cx="308877" cy="449275"/>
          </a:xfrm>
          <a:prstGeom prst="rect">
            <a:avLst/>
          </a:prstGeom>
        </p:spPr>
      </p:pic>
      <p:pic>
        <p:nvPicPr>
          <p:cNvPr id="28" name="Picture 27" descr="lock.png"/>
          <p:cNvPicPr>
            <a:picLocks noChangeAspect="1"/>
          </p:cNvPicPr>
          <p:nvPr/>
        </p:nvPicPr>
        <p:blipFill>
          <a:blip r:embed="rId4"/>
          <a:stretch>
            <a:fillRect/>
          </a:stretch>
        </p:blipFill>
        <p:spPr>
          <a:xfrm>
            <a:off x="10732735" y="2377458"/>
            <a:ext cx="308877" cy="449275"/>
          </a:xfrm>
          <a:prstGeom prst="rect">
            <a:avLst/>
          </a:prstGeom>
        </p:spPr>
      </p:pic>
      <p:pic>
        <p:nvPicPr>
          <p:cNvPr id="29" name="Picture 28" descr="lock.png"/>
          <p:cNvPicPr>
            <a:picLocks noChangeAspect="1"/>
          </p:cNvPicPr>
          <p:nvPr/>
        </p:nvPicPr>
        <p:blipFill>
          <a:blip r:embed="rId4"/>
          <a:stretch>
            <a:fillRect/>
          </a:stretch>
        </p:blipFill>
        <p:spPr>
          <a:xfrm>
            <a:off x="7995701" y="4314299"/>
            <a:ext cx="308877" cy="449275"/>
          </a:xfrm>
          <a:prstGeom prst="rect">
            <a:avLst/>
          </a:prstGeom>
        </p:spPr>
      </p:pic>
      <p:pic>
        <p:nvPicPr>
          <p:cNvPr id="30" name="Picture 29" descr="lock.png"/>
          <p:cNvPicPr>
            <a:picLocks noChangeAspect="1"/>
          </p:cNvPicPr>
          <p:nvPr/>
        </p:nvPicPr>
        <p:blipFill>
          <a:blip r:embed="rId4"/>
          <a:stretch>
            <a:fillRect/>
          </a:stretch>
        </p:blipFill>
        <p:spPr>
          <a:xfrm>
            <a:off x="7995701" y="5856378"/>
            <a:ext cx="308877" cy="449275"/>
          </a:xfrm>
          <a:prstGeom prst="rect">
            <a:avLst/>
          </a:prstGeom>
        </p:spPr>
      </p:pic>
      <p:pic>
        <p:nvPicPr>
          <p:cNvPr id="31" name="Picture 30" descr="lock.png"/>
          <p:cNvPicPr>
            <a:picLocks noChangeAspect="1"/>
          </p:cNvPicPr>
          <p:nvPr/>
        </p:nvPicPr>
        <p:blipFill>
          <a:blip r:embed="rId4"/>
          <a:stretch>
            <a:fillRect/>
          </a:stretch>
        </p:blipFill>
        <p:spPr>
          <a:xfrm>
            <a:off x="9863486" y="4543336"/>
            <a:ext cx="308877" cy="449275"/>
          </a:xfrm>
          <a:prstGeom prst="rect">
            <a:avLst/>
          </a:prstGeom>
        </p:spPr>
      </p:pic>
      <p:pic>
        <p:nvPicPr>
          <p:cNvPr id="32" name="Picture 31" descr="lock.png"/>
          <p:cNvPicPr>
            <a:picLocks noChangeAspect="1"/>
          </p:cNvPicPr>
          <p:nvPr/>
        </p:nvPicPr>
        <p:blipFill>
          <a:blip r:embed="rId4"/>
          <a:stretch>
            <a:fillRect/>
          </a:stretch>
        </p:blipFill>
        <p:spPr>
          <a:xfrm>
            <a:off x="11157913" y="4543336"/>
            <a:ext cx="308877" cy="449275"/>
          </a:xfrm>
          <a:prstGeom prst="rect">
            <a:avLst/>
          </a:prstGeom>
        </p:spPr>
      </p:pic>
      <p:pic>
        <p:nvPicPr>
          <p:cNvPr id="33" name="Picture 32" descr="lock.png"/>
          <p:cNvPicPr>
            <a:picLocks noChangeAspect="1"/>
          </p:cNvPicPr>
          <p:nvPr/>
        </p:nvPicPr>
        <p:blipFill>
          <a:blip r:embed="rId4"/>
          <a:stretch>
            <a:fillRect/>
          </a:stretch>
        </p:blipFill>
        <p:spPr>
          <a:xfrm>
            <a:off x="10505009" y="6085415"/>
            <a:ext cx="308877" cy="449275"/>
          </a:xfrm>
          <a:prstGeom prst="rect">
            <a:avLst/>
          </a:prstGeom>
        </p:spPr>
      </p:pic>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308225"/>
            <a:ext cx="8572500" cy="514350"/>
          </a:xfrm>
          <a:prstGeom prst="rect">
            <a:avLst/>
          </a:prstGeom>
          <a:noFill/>
        </p:spPr>
        <p:txBody>
          <a:bodyPr wrap="square" lIns="0" tIns="0" rIns="0">
            <a:spAutoFit/>
          </a:bodyPr>
          <a:lstStyle/>
          <a:p>
            <a:r>
              <a:rPr sz="3000" b="1">
                <a:solidFill>
                  <a:srgbClr val="0B3C8C"/>
                </a:solidFill>
                <a:latin typeface="Calibri"/>
              </a:rPr>
              <a:t>Global Market Analysis By Segments</a:t>
            </a:r>
          </a:p>
        </p:txBody>
      </p:sp>
      <p:sp>
        <p:nvSpPr>
          <p:cNvPr id="11" name="TextBox 10"/>
          <p:cNvSpPr txBox="1"/>
          <p:nvPr/>
        </p:nvSpPr>
        <p:spPr>
          <a:xfrm>
            <a:off x="914400" y="2994025"/>
            <a:ext cx="8458200" cy="28511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Partition Type</a:t>
            </a:r>
          </a:p>
          <a:p>
            <a:pPr marL="342900" indent="-323850">
              <a:lnSpc>
                <a:spcPct val="100000"/>
              </a:lnSpc>
              <a:spcAft>
                <a:spcPts val="800"/>
              </a:spcAft>
            </a:pPr>
            <a:r>
              <a:rPr sz="2000" b="0">
                <a:solidFill>
                  <a:srgbClr val="000000"/>
                </a:solidFill>
                <a:latin typeface="Calibri"/>
              </a:rPr>
              <a:t>➤	By Board Construction</a:t>
            </a:r>
          </a:p>
          <a:p>
            <a:pPr marL="342900" indent="-323850">
              <a:lnSpc>
                <a:spcPct val="100000"/>
              </a:lnSpc>
              <a:spcAft>
                <a:spcPts val="800"/>
              </a:spcAft>
            </a:pPr>
            <a:r>
              <a:rPr sz="2000" b="0">
                <a:solidFill>
                  <a:srgbClr val="000000"/>
                </a:solidFill>
                <a:latin typeface="Calibri"/>
              </a:rPr>
              <a:t>➤	By Material Source</a:t>
            </a:r>
          </a:p>
          <a:p>
            <a:pPr marL="342900" indent="-323850">
              <a:lnSpc>
                <a:spcPct val="100000"/>
              </a:lnSpc>
              <a:spcAft>
                <a:spcPts val="800"/>
              </a:spcAft>
            </a:pPr>
            <a:r>
              <a:rPr sz="2000" b="0">
                <a:solidFill>
                  <a:srgbClr val="000000"/>
                </a:solidFill>
                <a:latin typeface="Calibri"/>
              </a:rPr>
              <a:t>➤	By Cell Configuration</a:t>
            </a:r>
          </a:p>
          <a:p>
            <a:pPr marL="342900" indent="-323850">
              <a:lnSpc>
                <a:spcPct val="100000"/>
              </a:lnSpc>
              <a:spcAft>
                <a:spcPts val="800"/>
              </a:spcAft>
            </a:pPr>
            <a:r>
              <a:rPr sz="2000" b="0">
                <a:solidFill>
                  <a:srgbClr val="000000"/>
                </a:solidFill>
                <a:latin typeface="Calibri"/>
              </a:rPr>
              <a:t>➤	By Customization</a:t>
            </a:r>
          </a:p>
          <a:p>
            <a:pPr marL="342900" indent="-323850">
              <a:lnSpc>
                <a:spcPct val="100000"/>
              </a:lnSpc>
              <a:spcAft>
                <a:spcPts val="800"/>
              </a:spcAft>
            </a:pPr>
            <a:r>
              <a:rPr sz="2000" b="0">
                <a:solidFill>
                  <a:srgbClr val="000000"/>
                </a:solidFill>
                <a:latin typeface="Calibri"/>
              </a:rPr>
              <a:t>➤	By End Use</a:t>
            </a:r>
          </a:p>
          <a:p>
            <a:pPr marL="342900" indent="-323850">
              <a:lnSpc>
                <a:spcPct val="100000"/>
              </a:lnSpc>
              <a:spcAft>
                <a:spcPts val="800"/>
              </a:spcAft>
            </a:pPr>
            <a:r>
              <a:rPr sz="2000" b="0">
                <a:solidFill>
                  <a:srgbClr val="000000"/>
                </a:solidFill>
                <a:latin typeface="Calibri"/>
              </a:rPr>
              <a:t>➤	By Sales Channel</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Partition Type</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Partition Type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Partition Type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3 sub-segments of Partition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Partition Type segment categorizes the market by partition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Flat Dividers &amp; Layer Pads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527685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Die-Cut &amp; Folded Partitions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86487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Slotted (Interlocking Grid) Parti…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457200" y="4219912"/>
            <a:ext cx="2971800" cy="2117429"/>
          </a:xfrm>
          <a:prstGeom prst="rect">
            <a:avLst/>
          </a:prstGeom>
          <a:noFill/>
        </p:spPr>
        <p:txBody>
          <a:bodyPr wrap="square" lIns="28575" tIns="9525" rIns="28575" bIns="9525">
            <a:spAutoFit/>
          </a:bodyPr>
          <a:lstStyle/>
          <a:p>
            <a:pPr algn="l">
              <a:lnSpc>
                <a:spcPct val="105000"/>
              </a:lnSpc>
              <a:spcBef>
                <a:spcPts val="0"/>
              </a:spcBef>
              <a:spcAft>
                <a:spcPts val="300"/>
              </a:spcAft>
            </a:pPr>
            <a:endParaRPr/>
          </a:p>
          <a:p>
            <a:pPr algn="l">
              <a:lnSpc>
                <a:spcPct val="105000"/>
              </a:lnSpc>
              <a:spcBef>
                <a:spcPts val="0"/>
              </a:spcBef>
              <a:spcAft>
                <a:spcPts val="300"/>
              </a:spcAft>
            </a:pPr>
            <a:endParaRP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Partition Type split shows how demand is distributed across partition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TextBox 53"/>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7" name="Picture 56" descr="1_719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3_025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5_8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994_8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1_408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3_5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486_4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755_1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4_5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74292" cy="186689"/>
          </a:xfrm>
          <a:prstGeom prst="rect">
            <a:avLst/>
          </a:prstGeom>
          <a:noFill/>
        </p:spPr>
        <p:txBody>
          <a:bodyPr wrap="none" lIns="0" tIns="0" rIns="0" bIns="0">
            <a:spAutoFit/>
          </a:bodyPr>
          <a:lstStyle/>
          <a:p>
            <a:r>
              <a:rPr sz="1100" b="0">
                <a:solidFill>
                  <a:srgbClr val="2E2E2E"/>
                </a:solidFill>
                <a:latin typeface="Calibri"/>
              </a:rPr>
              <a:t>▪ ¶ Among corrugated partition by partition type,</a:t>
            </a:r>
          </a:p>
        </p:txBody>
      </p:sp>
      <p:sp>
        <p:nvSpPr>
          <p:cNvPr id="70" name="TextBox 69"/>
          <p:cNvSpPr txBox="1"/>
          <p:nvPr/>
        </p:nvSpPr>
        <p:spPr>
          <a:xfrm>
            <a:off x="485775" y="4397077"/>
            <a:ext cx="2830363" cy="186689"/>
          </a:xfrm>
          <a:prstGeom prst="rect">
            <a:avLst/>
          </a:prstGeom>
          <a:noFill/>
        </p:spPr>
        <p:txBody>
          <a:bodyPr wrap="none" lIns="0" tIns="0" rIns="0" bIns="0">
            <a:spAutoFit/>
          </a:bodyPr>
          <a:lstStyle/>
          <a:p>
            <a:r>
              <a:rPr sz="1100" b="0">
                <a:solidFill>
                  <a:srgbClr val="2E2E2E"/>
                </a:solidFill>
                <a:latin typeface="Calibri"/>
              </a:rPr>
              <a:t>flat dividers &amp; layer pads segment is expected to</a:t>
            </a:r>
          </a:p>
        </p:txBody>
      </p:sp>
      <p:sp>
        <p:nvSpPr>
          <p:cNvPr id="71" name="TextBox 70"/>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72" name="Picture 71" descr="lock.png"/>
          <p:cNvPicPr>
            <a:picLocks noChangeAspect="1"/>
          </p:cNvPicPr>
          <p:nvPr/>
        </p:nvPicPr>
        <p:blipFill>
          <a:blip r:embed="rId13"/>
          <a:stretch>
            <a:fillRect/>
          </a:stretch>
        </p:blipFill>
        <p:spPr>
          <a:xfrm>
            <a:off x="2108919" y="4554938"/>
            <a:ext cx="128699" cy="187198"/>
          </a:xfrm>
          <a:prstGeom prst="rect">
            <a:avLst/>
          </a:prstGeom>
        </p:spPr>
      </p:pic>
      <p:sp>
        <p:nvSpPr>
          <p:cNvPr id="73" name="TextBox 72"/>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74" name="TextBox 73"/>
          <p:cNvSpPr txBox="1"/>
          <p:nvPr/>
        </p:nvSpPr>
        <p:spPr>
          <a:xfrm>
            <a:off x="485775" y="4732357"/>
            <a:ext cx="2829545" cy="186689"/>
          </a:xfrm>
          <a:prstGeom prst="rect">
            <a:avLst/>
          </a:prstGeom>
          <a:noFill/>
        </p:spPr>
        <p:txBody>
          <a:bodyPr wrap="none" lIns="0" tIns="0" rIns="0" bIns="0">
            <a:spAutoFit/>
          </a:bodyPr>
          <a:lstStyle/>
          <a:p>
            <a:r>
              <a:rPr sz="1100" b="0">
                <a:solidFill>
                  <a:srgbClr val="2E2E2E"/>
                </a:solidFill>
                <a:latin typeface="Calibri"/>
              </a:rPr>
              <a:t>period. In terms of value share by partition type,</a:t>
            </a:r>
          </a:p>
        </p:txBody>
      </p:sp>
      <p:sp>
        <p:nvSpPr>
          <p:cNvPr id="75" name="TextBox 74"/>
          <p:cNvSpPr txBox="1"/>
          <p:nvPr/>
        </p:nvSpPr>
        <p:spPr>
          <a:xfrm>
            <a:off x="485775" y="4899997"/>
            <a:ext cx="2899667" cy="186689"/>
          </a:xfrm>
          <a:prstGeom prst="rect">
            <a:avLst/>
          </a:prstGeom>
          <a:noFill/>
        </p:spPr>
        <p:txBody>
          <a:bodyPr wrap="none" lIns="0" tIns="0" rIns="0" bIns="0">
            <a:spAutoFit/>
          </a:bodyPr>
          <a:lstStyle/>
          <a:p>
            <a:r>
              <a:rPr sz="1100" b="0">
                <a:solidFill>
                  <a:srgbClr val="2E2E2E"/>
                </a:solidFill>
                <a:latin typeface="Calibri"/>
              </a:rPr>
              <a:t>the flat dividers &amp; layer pads segment is expected</a:t>
            </a:r>
          </a:p>
        </p:txBody>
      </p:sp>
      <p:sp>
        <p:nvSpPr>
          <p:cNvPr id="76" name="TextBox 75"/>
          <p:cNvSpPr txBox="1"/>
          <p:nvPr/>
        </p:nvSpPr>
        <p:spPr>
          <a:xfrm>
            <a:off x="485775" y="5067637"/>
            <a:ext cx="1912763" cy="186689"/>
          </a:xfrm>
          <a:prstGeom prst="rect">
            <a:avLst/>
          </a:prstGeom>
          <a:noFill/>
        </p:spPr>
        <p:txBody>
          <a:bodyPr wrap="none" lIns="0" tIns="0" rIns="0" bIns="0">
            <a:spAutoFit/>
          </a:bodyPr>
          <a:lstStyle/>
          <a:p>
            <a:r>
              <a:rPr sz="1100" b="0">
                <a:solidFill>
                  <a:srgbClr val="2E2E2E"/>
                </a:solidFill>
                <a:latin typeface="Calibri"/>
              </a:rPr>
              <a:t>to dominate the market, gaining</a:t>
            </a:r>
          </a:p>
        </p:txBody>
      </p:sp>
      <p:pic>
        <p:nvPicPr>
          <p:cNvPr id="77" name="Picture 76" descr="lock.png"/>
          <p:cNvPicPr>
            <a:picLocks noChangeAspect="1"/>
          </p:cNvPicPr>
          <p:nvPr/>
        </p:nvPicPr>
        <p:blipFill>
          <a:blip r:embed="rId13"/>
          <a:stretch>
            <a:fillRect/>
          </a:stretch>
        </p:blipFill>
        <p:spPr>
          <a:xfrm>
            <a:off x="2346590" y="5057858"/>
            <a:ext cx="128699" cy="187198"/>
          </a:xfrm>
          <a:prstGeom prst="rect">
            <a:avLst/>
          </a:prstGeom>
        </p:spPr>
      </p:pic>
      <p:sp>
        <p:nvSpPr>
          <p:cNvPr id="78" name="TextBox 77"/>
          <p:cNvSpPr txBox="1"/>
          <p:nvPr/>
        </p:nvSpPr>
        <p:spPr>
          <a:xfrm>
            <a:off x="2514086" y="5067637"/>
            <a:ext cx="534044" cy="186689"/>
          </a:xfrm>
          <a:prstGeom prst="rect">
            <a:avLst/>
          </a:prstGeom>
          <a:noFill/>
        </p:spPr>
        <p:txBody>
          <a:bodyPr wrap="none" lIns="0" tIns="0" r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tIns="0" r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82" name="TextBox 81"/>
          <p:cNvSpPr txBox="1"/>
          <p:nvPr/>
        </p:nvSpPr>
        <p:spPr>
          <a:xfrm>
            <a:off x="485775" y="5453209"/>
            <a:ext cx="2914650" cy="186689"/>
          </a:xfrm>
          <a:prstGeom prst="rect">
            <a:avLst/>
          </a:prstGeom>
          <a:noFill/>
        </p:spPr>
        <p:txBody>
          <a:bodyPr wrap="none" lIns="0" tIns="0" rIns="0" bIns="0">
            <a:spAutoFit/>
          </a:bodyPr>
          <a:lstStyle/>
          <a:p>
            <a:r>
              <a:rPr sz="1100" b="0">
                <a:solidFill>
                  <a:srgbClr val="2E2E2E"/>
                </a:solidFill>
                <a:latin typeface="Calibri"/>
              </a:rPr>
              <a:t>▪ ¶ Flat dividers &amp; layer pads segment is projected</a:t>
            </a:r>
          </a:p>
        </p:txBody>
      </p:sp>
      <p:sp>
        <p:nvSpPr>
          <p:cNvPr id="83" name="TextBox 82"/>
          <p:cNvSpPr txBox="1"/>
          <p:nvPr/>
        </p:nvSpPr>
        <p:spPr>
          <a:xfrm>
            <a:off x="485775" y="5620849"/>
            <a:ext cx="664740" cy="186689"/>
          </a:xfrm>
          <a:prstGeom prst="rect">
            <a:avLst/>
          </a:prstGeom>
          <a:noFill/>
        </p:spPr>
        <p:txBody>
          <a:bodyPr wrap="none" lIns="0" tIns="0" rIns="0" bIns="0">
            <a:spAutoFit/>
          </a:bodyPr>
          <a:lstStyle/>
          <a:p>
            <a:r>
              <a:rPr sz="1100" b="0">
                <a:solidFill>
                  <a:srgbClr val="2E2E2E"/>
                </a:solidFill>
                <a:latin typeface="Calibri"/>
              </a:rPr>
              <a:t>to register</a:t>
            </a:r>
          </a:p>
        </p:txBody>
      </p:sp>
      <p:pic>
        <p:nvPicPr>
          <p:cNvPr id="84" name="Picture 83" descr="lock.png"/>
          <p:cNvPicPr>
            <a:picLocks noChangeAspect="1"/>
          </p:cNvPicPr>
          <p:nvPr/>
        </p:nvPicPr>
        <p:blipFill>
          <a:blip r:embed="rId13"/>
          <a:stretch>
            <a:fillRect/>
          </a:stretch>
        </p:blipFill>
        <p:spPr>
          <a:xfrm>
            <a:off x="1098567" y="5611070"/>
            <a:ext cx="128699" cy="187198"/>
          </a:xfrm>
          <a:prstGeom prst="rect">
            <a:avLst/>
          </a:prstGeom>
        </p:spPr>
      </p:pic>
      <p:sp>
        <p:nvSpPr>
          <p:cNvPr id="85" name="TextBox 84"/>
          <p:cNvSpPr txBox="1"/>
          <p:nvPr/>
        </p:nvSpPr>
        <p:spPr>
          <a:xfrm>
            <a:off x="1266063" y="5620849"/>
            <a:ext cx="2125042" cy="186689"/>
          </a:xfrm>
          <a:prstGeom prst="rect">
            <a:avLst/>
          </a:prstGeom>
          <a:noFill/>
        </p:spPr>
        <p:txBody>
          <a:bodyPr wrap="none" lIns="0" tIns="0" rIns="0" bIns="0">
            <a:spAutoFit/>
          </a:bodyPr>
          <a:lstStyle/>
          <a:p>
            <a:r>
              <a:rPr sz="1100" b="0">
                <a:solidFill>
                  <a:srgbClr val="2E2E2E"/>
                </a:solidFill>
                <a:latin typeface="Calibri"/>
              </a:rPr>
              <a:t>X higher value than die-cut &amp; folded</a:t>
            </a:r>
          </a:p>
        </p:txBody>
      </p:sp>
      <p:sp>
        <p:nvSpPr>
          <p:cNvPr id="86" name="TextBox 85"/>
          <p:cNvSpPr txBox="1"/>
          <p:nvPr/>
        </p:nvSpPr>
        <p:spPr>
          <a:xfrm>
            <a:off x="485775" y="5788489"/>
            <a:ext cx="2914650" cy="186689"/>
          </a:xfrm>
          <a:prstGeom prst="rect">
            <a:avLst/>
          </a:prstGeom>
          <a:noFill/>
        </p:spPr>
        <p:txBody>
          <a:bodyPr wrap="none" lIns="0" tIns="0" rIns="0" bIns="0">
            <a:spAutoFit/>
          </a:bodyPr>
          <a:lstStyle/>
          <a:p>
            <a:r>
              <a:rPr sz="1100" b="0">
                <a:solidFill>
                  <a:srgbClr val="2E2E2E"/>
                </a:solidFill>
                <a:latin typeface="Calibri"/>
              </a:rPr>
              <a:t>partitions (h-dividers, tube/cell inserts) segment in</a:t>
            </a:r>
          </a:p>
        </p:txBody>
      </p:sp>
      <p:sp>
        <p:nvSpPr>
          <p:cNvPr id="87" name="TextBox 86"/>
          <p:cNvSpPr txBox="1"/>
          <p:nvPr/>
        </p:nvSpPr>
        <p:spPr>
          <a:xfrm>
            <a:off x="485775" y="5956129"/>
            <a:ext cx="395163" cy="186689"/>
          </a:xfrm>
          <a:prstGeom prst="rect">
            <a:avLst/>
          </a:prstGeom>
          <a:noFill/>
        </p:spPr>
        <p:txBody>
          <a:bodyPr wrap="none" lIns="0" tIns="0" rIns="0" bIns="0">
            <a:spAutoFit/>
          </a:bodyPr>
          <a:lstStyle/>
          <a:p>
            <a:r>
              <a:rPr sz="1100" b="0">
                <a:solidFill>
                  <a:srgbClr val="2E2E2E"/>
                </a:solidFill>
                <a:latin typeface="Calibri"/>
              </a:rPr>
              <a:t>2036.</a:t>
            </a:r>
          </a:p>
        </p:txBody>
      </p:sp>
      <p:sp>
        <p:nvSpPr>
          <p:cNvPr id="88" name="TextBox 87"/>
          <p:cNvSpPr txBox="1"/>
          <p:nvPr/>
        </p:nvSpPr>
        <p:spPr>
          <a:xfrm>
            <a:off x="3838575" y="4229437"/>
            <a:ext cx="1695574" cy="186689"/>
          </a:xfrm>
          <a:prstGeom prst="rect">
            <a:avLst/>
          </a:prstGeom>
          <a:noFill/>
        </p:spPr>
        <p:txBody>
          <a:bodyPr wrap="none" lIns="0" tIns="0" rIns="0" bIns="0">
            <a:spAutoFit/>
          </a:bodyPr>
          <a:lstStyle/>
          <a:p>
            <a:r>
              <a:rPr sz="1100" b="0">
                <a:solidFill>
                  <a:srgbClr val="2E2E2E"/>
                </a:solidFill>
                <a:latin typeface="Calibri"/>
              </a:rPr>
              <a:t>● Flat Dividers &amp; Layer Pads:</a:t>
            </a:r>
          </a:p>
        </p:txBody>
      </p:sp>
      <p:pic>
        <p:nvPicPr>
          <p:cNvPr id="89" name="Picture 88" descr="lock.png"/>
          <p:cNvPicPr>
            <a:picLocks noChangeAspect="1"/>
          </p:cNvPicPr>
          <p:nvPr/>
        </p:nvPicPr>
        <p:blipFill>
          <a:blip r:embed="rId13"/>
          <a:stretch>
            <a:fillRect/>
          </a:stretch>
        </p:blipFill>
        <p:spPr>
          <a:xfrm>
            <a:off x="5482200" y="4219658"/>
            <a:ext cx="128699" cy="187198"/>
          </a:xfrm>
          <a:prstGeom prst="rect">
            <a:avLst/>
          </a:prstGeom>
        </p:spPr>
      </p:pic>
      <p:sp>
        <p:nvSpPr>
          <p:cNvPr id="90" name="TextBox 89"/>
          <p:cNvSpPr txBox="1"/>
          <p:nvPr/>
        </p:nvSpPr>
        <p:spPr>
          <a:xfrm>
            <a:off x="5649696"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91" name="Picture 90" descr="lock.png"/>
          <p:cNvPicPr>
            <a:picLocks noChangeAspect="1"/>
          </p:cNvPicPr>
          <p:nvPr/>
        </p:nvPicPr>
        <p:blipFill>
          <a:blip r:embed="rId13"/>
          <a:stretch>
            <a:fillRect/>
          </a:stretch>
        </p:blipFill>
        <p:spPr>
          <a:xfrm>
            <a:off x="6509146" y="4219658"/>
            <a:ext cx="128699" cy="187198"/>
          </a:xfrm>
          <a:prstGeom prst="rect">
            <a:avLst/>
          </a:prstGeom>
        </p:spPr>
      </p:pic>
      <p:sp>
        <p:nvSpPr>
          <p:cNvPr id="92" name="TextBox 91"/>
          <p:cNvSpPr txBox="1"/>
          <p:nvPr/>
        </p:nvSpPr>
        <p:spPr>
          <a:xfrm>
            <a:off x="6676642" y="4229437"/>
            <a:ext cx="945215" cy="186689"/>
          </a:xfrm>
          <a:prstGeom prst="rect">
            <a:avLst/>
          </a:prstGeom>
          <a:noFill/>
        </p:spPr>
        <p:txBody>
          <a:bodyPr wrap="none" lIns="0" tIns="0" rIns="0" bIns="0">
            <a:spAutoFit/>
          </a:bodyPr>
          <a:lstStyle/>
          <a:p>
            <a:r>
              <a:rPr sz="1100" b="0">
                <a:solidFill>
                  <a:srgbClr val="2E2E2E"/>
                </a:solidFill>
                <a:latin typeface="Calibri"/>
              </a:rPr>
              <a:t>CAGR leads the</a:t>
            </a:r>
          </a:p>
        </p:txBody>
      </p:sp>
      <p:sp>
        <p:nvSpPr>
          <p:cNvPr id="93" name="TextBox 92"/>
          <p:cNvSpPr txBox="1"/>
          <p:nvPr/>
        </p:nvSpPr>
        <p:spPr>
          <a:xfrm>
            <a:off x="3838575" y="4397077"/>
            <a:ext cx="602803" cy="186689"/>
          </a:xfrm>
          <a:prstGeom prst="rect">
            <a:avLst/>
          </a:prstGeom>
          <a:noFill/>
        </p:spPr>
        <p:txBody>
          <a:bodyPr wrap="none" lIns="0" tIns="0" rIns="0" bIns="0">
            <a:spAutoFit/>
          </a:bodyPr>
          <a:lstStyle/>
          <a:p>
            <a:r>
              <a:rPr sz="1100" b="0">
                <a:solidFill>
                  <a:srgbClr val="2E2E2E"/>
                </a:solidFill>
                <a:latin typeface="Calibri"/>
              </a:rPr>
              <a:t>segment.</a:t>
            </a:r>
          </a:p>
        </p:txBody>
      </p:sp>
      <p:sp>
        <p:nvSpPr>
          <p:cNvPr id="94" name="TextBox 93"/>
          <p:cNvSpPr txBox="1"/>
          <p:nvPr/>
        </p:nvSpPr>
        <p:spPr>
          <a:xfrm>
            <a:off x="3838575" y="4615009"/>
            <a:ext cx="3541934" cy="186689"/>
          </a:xfrm>
          <a:prstGeom prst="rect">
            <a:avLst/>
          </a:prstGeom>
          <a:noFill/>
        </p:spPr>
        <p:txBody>
          <a:bodyPr wrap="none" lIns="0" tIns="0" rIns="0" bIns="0">
            <a:spAutoFit/>
          </a:bodyPr>
          <a:lstStyle/>
          <a:p>
            <a:r>
              <a:rPr sz="1100" b="1">
                <a:solidFill>
                  <a:srgbClr val="0E72AE"/>
                </a:solidFill>
                <a:latin typeface="Calibri"/>
              </a:rPr>
              <a:t>● Die-Cut &amp; Folded Partitions (H-dividers, tube/cell inserts):</a:t>
            </a:r>
          </a:p>
        </p:txBody>
      </p:sp>
      <p:pic>
        <p:nvPicPr>
          <p:cNvPr id="95" name="Picture 94" descr="lock.png"/>
          <p:cNvPicPr>
            <a:picLocks noChangeAspect="1"/>
          </p:cNvPicPr>
          <p:nvPr/>
        </p:nvPicPr>
        <p:blipFill>
          <a:blip r:embed="rId13"/>
          <a:stretch>
            <a:fillRect/>
          </a:stretch>
        </p:blipFill>
        <p:spPr>
          <a:xfrm>
            <a:off x="7328561" y="4605230"/>
            <a:ext cx="128699" cy="187198"/>
          </a:xfrm>
          <a:prstGeom prst="rect">
            <a:avLst/>
          </a:prstGeom>
        </p:spPr>
      </p:pic>
      <p:sp>
        <p:nvSpPr>
          <p:cNvPr id="96" name="TextBox 95"/>
          <p:cNvSpPr txBox="1"/>
          <p:nvPr/>
        </p:nvSpPr>
        <p:spPr>
          <a:xfrm>
            <a:off x="7496057" y="4615009"/>
            <a:ext cx="195436" cy="186689"/>
          </a:xfrm>
          <a:prstGeom prst="rect">
            <a:avLst/>
          </a:prstGeom>
          <a:noFill/>
        </p:spPr>
        <p:txBody>
          <a:bodyPr wrap="none" lIns="0" tIns="0" rIns="0" bIns="0">
            <a:spAutoFit/>
          </a:bodyPr>
          <a:lstStyle/>
          <a:p>
            <a:r>
              <a:rPr sz="1100" b="1">
                <a:solidFill>
                  <a:srgbClr val="0E72AE"/>
                </a:solidFill>
                <a:latin typeface="Calibri"/>
              </a:rPr>
              <a:t>of</a:t>
            </a:r>
          </a:p>
        </p:txBody>
      </p:sp>
      <p:sp>
        <p:nvSpPr>
          <p:cNvPr id="97" name="TextBox 96"/>
          <p:cNvSpPr txBox="1"/>
          <p:nvPr/>
        </p:nvSpPr>
        <p:spPr>
          <a:xfrm>
            <a:off x="3838575" y="4782649"/>
            <a:ext cx="775518" cy="186689"/>
          </a:xfrm>
          <a:prstGeom prst="rect">
            <a:avLst/>
          </a:prstGeom>
          <a:noFill/>
        </p:spPr>
        <p:txBody>
          <a:bodyPr wrap="none" lIns="0" tIns="0" rIns="0" bIns="0">
            <a:spAutoFit/>
          </a:bodyPr>
          <a:lstStyle/>
          <a:p>
            <a:r>
              <a:rPr sz="1100" b="1">
                <a:solidFill>
                  <a:srgbClr val="0E72AE"/>
                </a:solidFill>
                <a:latin typeface="Calibri"/>
              </a:rPr>
              <a:t>2026 value ·</a:t>
            </a:r>
          </a:p>
        </p:txBody>
      </p:sp>
      <p:pic>
        <p:nvPicPr>
          <p:cNvPr id="98" name="Picture 97" descr="lock.png"/>
          <p:cNvPicPr>
            <a:picLocks noChangeAspect="1"/>
          </p:cNvPicPr>
          <p:nvPr/>
        </p:nvPicPr>
        <p:blipFill>
          <a:blip r:embed="rId13"/>
          <a:stretch>
            <a:fillRect/>
          </a:stretch>
        </p:blipFill>
        <p:spPr>
          <a:xfrm>
            <a:off x="4562145" y="4772870"/>
            <a:ext cx="128699" cy="187198"/>
          </a:xfrm>
          <a:prstGeom prst="rect">
            <a:avLst/>
          </a:prstGeom>
        </p:spPr>
      </p:pic>
      <p:sp>
        <p:nvSpPr>
          <p:cNvPr id="99" name="TextBox 98"/>
          <p:cNvSpPr txBox="1"/>
          <p:nvPr/>
        </p:nvSpPr>
        <p:spPr>
          <a:xfrm>
            <a:off x="4729640" y="4782649"/>
            <a:ext cx="1284633" cy="186689"/>
          </a:xfrm>
          <a:prstGeom prst="rect">
            <a:avLst/>
          </a:prstGeom>
          <a:noFill/>
        </p:spPr>
        <p:txBody>
          <a:bodyPr wrap="none" lIns="0" tIns="0" rIns="0" bIns="0">
            <a:spAutoFit/>
          </a:bodyPr>
          <a:lstStyle/>
          <a:p>
            <a:r>
              <a:rPr sz="1100" b="1">
                <a:solidFill>
                  <a:srgbClr val="0E72AE"/>
                </a:solidFill>
                <a:latin typeface="Calibri"/>
              </a:rPr>
              <a:t>CAGR serves a niche.</a:t>
            </a:r>
          </a:p>
        </p:txBody>
      </p:sp>
      <p:sp>
        <p:nvSpPr>
          <p:cNvPr id="100" name="TextBox 99"/>
          <p:cNvSpPr txBox="1"/>
          <p:nvPr/>
        </p:nvSpPr>
        <p:spPr>
          <a:xfrm>
            <a:off x="3838575" y="5000581"/>
            <a:ext cx="2280294" cy="186689"/>
          </a:xfrm>
          <a:prstGeom prst="rect">
            <a:avLst/>
          </a:prstGeom>
          <a:noFill/>
        </p:spPr>
        <p:txBody>
          <a:bodyPr wrap="none" lIns="0" tIns="0" rIns="0" bIns="0">
            <a:spAutoFit/>
          </a:bodyPr>
          <a:lstStyle/>
          <a:p>
            <a:r>
              <a:rPr sz="1100" b="0">
                <a:solidFill>
                  <a:srgbClr val="2E2E2E"/>
                </a:solidFill>
                <a:latin typeface="Calibri"/>
              </a:rPr>
              <a:t>● Slotted (Interlocking Grid) Partitions:</a:t>
            </a:r>
          </a:p>
        </p:txBody>
      </p:sp>
      <p:pic>
        <p:nvPicPr>
          <p:cNvPr id="101" name="Picture 100" descr="lock.png"/>
          <p:cNvPicPr>
            <a:picLocks noChangeAspect="1"/>
          </p:cNvPicPr>
          <p:nvPr/>
        </p:nvPicPr>
        <p:blipFill>
          <a:blip r:embed="rId13"/>
          <a:stretch>
            <a:fillRect/>
          </a:stretch>
        </p:blipFill>
        <p:spPr>
          <a:xfrm>
            <a:off x="6066921" y="4990801"/>
            <a:ext cx="128699" cy="187198"/>
          </a:xfrm>
          <a:prstGeom prst="rect">
            <a:avLst/>
          </a:prstGeom>
        </p:spPr>
      </p:pic>
      <p:sp>
        <p:nvSpPr>
          <p:cNvPr id="102" name="TextBox 101"/>
          <p:cNvSpPr txBox="1"/>
          <p:nvPr/>
        </p:nvSpPr>
        <p:spPr>
          <a:xfrm>
            <a:off x="6234417" y="500058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3"/>
          <a:stretch>
            <a:fillRect/>
          </a:stretch>
        </p:blipFill>
        <p:spPr>
          <a:xfrm>
            <a:off x="7093867" y="4990801"/>
            <a:ext cx="128699" cy="187198"/>
          </a:xfrm>
          <a:prstGeom prst="rect">
            <a:avLst/>
          </a:prstGeom>
        </p:spPr>
      </p:pic>
      <p:sp>
        <p:nvSpPr>
          <p:cNvPr id="104" name="TextBox 103"/>
          <p:cNvSpPr txBox="1"/>
          <p:nvPr/>
        </p:nvSpPr>
        <p:spPr>
          <a:xfrm>
            <a:off x="7261363" y="5000581"/>
            <a:ext cx="395419" cy="186689"/>
          </a:xfrm>
          <a:prstGeom prst="rect">
            <a:avLst/>
          </a:prstGeom>
          <a:noFill/>
        </p:spPr>
        <p:txBody>
          <a:bodyPr wrap="none" lIns="0" tIns="0" rIns="0" bIns="0">
            <a:spAutoFit/>
          </a:bodyPr>
          <a:lstStyle/>
          <a:p>
            <a:r>
              <a:rPr sz="1100" b="0">
                <a:solidFill>
                  <a:srgbClr val="2E2E2E"/>
                </a:solidFill>
                <a:latin typeface="Calibri"/>
              </a:rPr>
              <a:t>CAGR</a:t>
            </a:r>
          </a:p>
        </p:txBody>
      </p:sp>
      <p:sp>
        <p:nvSpPr>
          <p:cNvPr id="105" name="TextBox 104"/>
          <p:cNvSpPr txBox="1"/>
          <p:nvPr/>
        </p:nvSpPr>
        <p:spPr>
          <a:xfrm>
            <a:off x="3838575" y="5168221"/>
            <a:ext cx="909488" cy="186689"/>
          </a:xfrm>
          <a:prstGeom prst="rect">
            <a:avLst/>
          </a:prstGeom>
          <a:noFill/>
        </p:spPr>
        <p:txBody>
          <a:bodyPr wrap="none" lIns="0" tIns="0" rIns="0" bIns="0">
            <a:spAutoFit/>
          </a:bodyPr>
          <a:lstStyle/>
          <a:p>
            <a:r>
              <a:rPr sz="1100" b="0">
                <a:solidFill>
                  <a:srgbClr val="2E2E2E"/>
                </a:solidFill>
                <a:latin typeface="Calibri"/>
              </a:rPr>
              <a:t>serves a niche.</a:t>
            </a:r>
          </a:p>
        </p:txBody>
      </p:sp>
      <p:sp>
        <p:nvSpPr>
          <p:cNvPr id="106" name="TextBox 105"/>
          <p:cNvSpPr txBox="1"/>
          <p:nvPr/>
        </p:nvSpPr>
        <p:spPr>
          <a:xfrm>
            <a:off x="8524875" y="5842641"/>
            <a:ext cx="3152948" cy="194310"/>
          </a:xfrm>
          <a:prstGeom prst="rect">
            <a:avLst/>
          </a:prstGeom>
          <a:noFill/>
        </p:spPr>
        <p:txBody>
          <a:bodyPr wrap="none" lIns="0" tIns="0" rIns="0" bIns="0">
            <a:spAutoFit/>
          </a:bodyPr>
          <a:lstStyle/>
          <a:p>
            <a:r>
              <a:rPr sz="1150" b="1">
                <a:solidFill>
                  <a:srgbClr val="0B2E4A"/>
                </a:solidFill>
                <a:latin typeface="Calibri"/>
              </a:rPr>
              <a:t>The Partition Type segment is projected to grow at</a:t>
            </a:r>
          </a:p>
        </p:txBody>
      </p:sp>
      <p:sp>
        <p:nvSpPr>
          <p:cNvPr id="107" name="TextBox 106"/>
          <p:cNvSpPr txBox="1"/>
          <p:nvPr/>
        </p:nvSpPr>
        <p:spPr>
          <a:xfrm>
            <a:off x="8524875" y="6017901"/>
            <a:ext cx="680055" cy="194310"/>
          </a:xfrm>
          <a:prstGeom prst="rect">
            <a:avLst/>
          </a:prstGeom>
          <a:noFill/>
        </p:spPr>
        <p:txBody>
          <a:bodyPr wrap="none" lIns="0" tIns="0" rIns="0" bIns="0">
            <a:spAutoFit/>
          </a:bodyPr>
          <a:lstStyle/>
          <a:p>
            <a:r>
              <a:rPr sz="1150" b="1">
                <a:solidFill>
                  <a:srgbClr val="0B2E4A"/>
                </a:solidFill>
                <a:latin typeface="Calibri"/>
              </a:rPr>
              <a:t>a CAGR of</a:t>
            </a:r>
          </a:p>
        </p:txBody>
      </p:sp>
      <p:pic>
        <p:nvPicPr>
          <p:cNvPr id="108" name="Picture 107" descr="lock.png"/>
          <p:cNvPicPr>
            <a:picLocks noChangeAspect="1"/>
          </p:cNvPicPr>
          <p:nvPr/>
        </p:nvPicPr>
        <p:blipFill>
          <a:blip r:embed="rId13"/>
          <a:stretch>
            <a:fillRect/>
          </a:stretch>
        </p:blipFill>
        <p:spPr>
          <a:xfrm>
            <a:off x="9154084" y="6007677"/>
            <a:ext cx="134549" cy="195707"/>
          </a:xfrm>
          <a:prstGeom prst="rect">
            <a:avLst/>
          </a:prstGeom>
        </p:spPr>
      </p:pic>
      <p:sp>
        <p:nvSpPr>
          <p:cNvPr id="109" name="TextBox 108"/>
          <p:cNvSpPr txBox="1"/>
          <p:nvPr/>
        </p:nvSpPr>
        <p:spPr>
          <a:xfrm>
            <a:off x="9329193"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Structure &amp; Attractiveness, By Partition Type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Partition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Partition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Partition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18093" cy="186689"/>
          </a:xfrm>
          <a:prstGeom prst="rect">
            <a:avLst/>
          </a:prstGeom>
          <a:noFill/>
        </p:spPr>
        <p:txBody>
          <a:bodyPr wrap="none" lIns="0" tIns="0" rIns="0" bIns="0">
            <a:spAutoFit/>
          </a:bodyPr>
          <a:lstStyle/>
          <a:p>
            <a:r>
              <a:rPr sz="1100" b="0">
                <a:solidFill>
                  <a:srgbClr val="2E2E2E"/>
                </a:solidFill>
                <a:latin typeface="Calibri"/>
              </a:rPr>
              <a:t>Flat dividers &amp; layer pads followed by die-cut &amp; folded partitions (h-dividers, tube/cell inserts) are expected to be the two most attractive partition type segments in the global corrugated partition market</a:t>
            </a:r>
          </a:p>
        </p:txBody>
      </p:sp>
      <p:sp>
        <p:nvSpPr>
          <p:cNvPr id="21" name="TextBox 20"/>
          <p:cNvSpPr txBox="1"/>
          <p:nvPr/>
        </p:nvSpPr>
        <p:spPr>
          <a:xfrm>
            <a:off x="257175" y="5861685"/>
            <a:ext cx="8775782" cy="186689"/>
          </a:xfrm>
          <a:prstGeom prst="rect">
            <a:avLst/>
          </a:prstGeom>
          <a:noFill/>
        </p:spPr>
        <p:txBody>
          <a:bodyPr wrap="none" lIns="0" tIns="0" rIns="0" bIns="0">
            <a:spAutoFit/>
          </a:bodyPr>
          <a:lstStyle/>
          <a:p>
            <a:r>
              <a:rPr sz="1100" b="0">
                <a:solidFill>
                  <a:srgbClr val="2E2E2E"/>
                </a:solidFill>
                <a:latin typeface="Calibri"/>
              </a:rPr>
              <a:t>in terms of value over the forecast period. Flat dividers &amp; layer pads and Die-Cut &amp; folded partitions (H-dividers, tube/cell inserts) exhibit a CAGR index of</a:t>
            </a:r>
          </a:p>
        </p:txBody>
      </p:sp>
      <p:pic>
        <p:nvPicPr>
          <p:cNvPr id="22" name="Picture 21" descr="lock.png"/>
          <p:cNvPicPr>
            <a:picLocks noChangeAspect="1"/>
          </p:cNvPicPr>
          <p:nvPr/>
        </p:nvPicPr>
        <p:blipFill>
          <a:blip r:embed="rId6"/>
          <a:stretch>
            <a:fillRect/>
          </a:stretch>
        </p:blipFill>
        <p:spPr>
          <a:xfrm>
            <a:off x="8981008" y="5851905"/>
            <a:ext cx="128699" cy="187198"/>
          </a:xfrm>
          <a:prstGeom prst="rect">
            <a:avLst/>
          </a:prstGeom>
        </p:spPr>
      </p:pic>
      <p:sp>
        <p:nvSpPr>
          <p:cNvPr id="23" name="TextBox 22"/>
          <p:cNvSpPr txBox="1"/>
          <p:nvPr/>
        </p:nvSpPr>
        <p:spPr>
          <a:xfrm>
            <a:off x="9148504" y="586168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9386398" y="5851905"/>
            <a:ext cx="128699" cy="187198"/>
          </a:xfrm>
          <a:prstGeom prst="rect">
            <a:avLst/>
          </a:prstGeom>
        </p:spPr>
      </p:pic>
      <p:sp>
        <p:nvSpPr>
          <p:cNvPr id="25" name="TextBox 24"/>
          <p:cNvSpPr txBox="1"/>
          <p:nvPr/>
        </p:nvSpPr>
        <p:spPr>
          <a:xfrm>
            <a:off x="9553894" y="586168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1162868" y="5851905"/>
            <a:ext cx="128699" cy="187198"/>
          </a:xfrm>
          <a:prstGeom prst="rect">
            <a:avLst/>
          </a:prstGeom>
        </p:spPr>
      </p:pic>
      <p:sp>
        <p:nvSpPr>
          <p:cNvPr id="27" name="TextBox 26"/>
          <p:cNvSpPr txBox="1"/>
          <p:nvPr/>
        </p:nvSpPr>
        <p:spPr>
          <a:xfrm>
            <a:off x="11330364" y="586168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243707" y="6019545"/>
            <a:ext cx="128699" cy="187198"/>
          </a:xfrm>
          <a:prstGeom prst="rect">
            <a:avLst/>
          </a:prstGeom>
        </p:spPr>
      </p:pic>
      <p:sp>
        <p:nvSpPr>
          <p:cNvPr id="29" name="TextBox 28"/>
          <p:cNvSpPr txBox="1"/>
          <p:nvPr/>
        </p:nvSpPr>
        <p:spPr>
          <a:xfrm>
            <a:off x="411203" y="602932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965607" y="6019545"/>
            <a:ext cx="128699" cy="187198"/>
          </a:xfrm>
          <a:prstGeom prst="rect">
            <a:avLst/>
          </a:prstGeom>
        </p:spPr>
      </p:pic>
      <p:sp>
        <p:nvSpPr>
          <p:cNvPr id="31" name="TextBox 30"/>
          <p:cNvSpPr txBox="1"/>
          <p:nvPr/>
        </p:nvSpPr>
        <p:spPr>
          <a:xfrm>
            <a:off x="3133103" y="6029325"/>
            <a:ext cx="8550423" cy="186689"/>
          </a:xfrm>
          <a:prstGeom prst="rect">
            <a:avLst/>
          </a:prstGeom>
          <a:noFill/>
        </p:spPr>
        <p:txBody>
          <a:bodyPr wrap="none" lIns="0" tIns="0" rIns="0" bIns="0">
            <a:spAutoFit/>
          </a:bodyPr>
          <a:lstStyle/>
          <a:p>
            <a:r>
              <a:rPr sz="1100" b="0">
                <a:solidFill>
                  <a:srgbClr val="2E2E2E"/>
                </a:solidFill>
                <a:latin typeface="Calibri"/>
              </a:rPr>
              <a:t>. The slotted (interlocking grid) partitions segment is expected to be less attractive as compared to other segments over the forecast period, owing to</a:t>
            </a:r>
          </a:p>
        </p:txBody>
      </p:sp>
      <p:sp>
        <p:nvSpPr>
          <p:cNvPr id="32" name="TextBox 31"/>
          <p:cNvSpPr txBox="1"/>
          <p:nvPr/>
        </p:nvSpPr>
        <p:spPr>
          <a:xfrm>
            <a:off x="257175" y="6196965"/>
            <a:ext cx="6955572" cy="186689"/>
          </a:xfrm>
          <a:prstGeom prst="rect">
            <a:avLst/>
          </a:prstGeom>
          <a:noFill/>
        </p:spPr>
        <p:txBody>
          <a:bodyPr wrap="none" lIns="0" tIns="0" rIns="0" bIns="0">
            <a:spAutoFit/>
          </a:bodyPr>
          <a:lstStyle/>
          <a:p>
            <a:r>
              <a:rPr sz="1100" b="0">
                <a:solidFill>
                  <a:srgbClr val="2E2E2E"/>
                </a:solidFill>
                <a:latin typeface="Calibri"/>
              </a:rPr>
              <a:t>its lower CAGR 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Analysis, By Partition Type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Partition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Slotted (Interlocking Grid) Partitions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Die-Cut &amp; Folded Partitions (H-dividers, tube/cell inserts)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38125" y="39243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Flat Dividers &amp; Layer Pads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305550" y="3952875"/>
            <a:ext cx="5610225" cy="209550"/>
          </a:xfrm>
          <a:prstGeom prst="rect">
            <a:avLst/>
          </a:prstGeom>
          <a:noFill/>
        </p:spPr>
        <p:txBody>
          <a:bodyPr wrap="square" lIns="0" tIns="9525" rIns="19050" bIns="9525">
            <a:spAutoFit/>
          </a:bodyPr>
          <a:lstStyle/>
          <a:p>
            <a:pPr algn="l"/>
            <a:r>
              <a:rPr sz="1300" b="1">
                <a:solidFill>
                  <a:srgbClr val="0B2E4A"/>
                </a:solidFill>
                <a:latin typeface="Calibri"/>
              </a:rPr>
              <a:t>Summary of Global Absolute $ Opportunity Analysis, By Partition Type</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05550" y="4276725"/>
            <a:ext cx="5610225" cy="22669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4" name="TextBox 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971705" cy="194310"/>
          </a:xfrm>
          <a:prstGeom prst="rect">
            <a:avLst/>
          </a:prstGeom>
          <a:noFill/>
        </p:spPr>
        <p:txBody>
          <a:bodyPr wrap="none" lIns="0" tIns="0" rIns="0" bIns="0">
            <a:spAutoFit/>
          </a:bodyPr>
          <a:lstStyle/>
          <a:p>
            <a:r>
              <a:rPr sz="1150" b="0">
                <a:solidFill>
                  <a:srgbClr val="2E2E2E"/>
                </a:solidFill>
                <a:latin typeface="Calibri"/>
              </a:rPr>
              <a:t>By 2036, flat dividers &amp; layer pads segment is anticipated to witness an increase of</a:t>
            </a:r>
          </a:p>
        </p:txBody>
      </p:sp>
      <p:pic>
        <p:nvPicPr>
          <p:cNvPr id="29" name="Picture 28" descr="lock.png"/>
          <p:cNvPicPr>
            <a:picLocks noChangeAspect="1"/>
          </p:cNvPicPr>
          <p:nvPr/>
        </p:nvPicPr>
        <p:blipFill>
          <a:blip r:embed="rId7"/>
          <a:stretch>
            <a:fillRect/>
          </a:stretch>
        </p:blipFill>
        <p:spPr>
          <a:xfrm>
            <a:off x="11226409" y="4276026"/>
            <a:ext cx="134549" cy="195707"/>
          </a:xfrm>
          <a:prstGeom prst="rect">
            <a:avLst/>
          </a:prstGeom>
        </p:spPr>
      </p:pic>
      <p:sp>
        <p:nvSpPr>
          <p:cNvPr id="30" name="TextBox 29"/>
          <p:cNvSpPr txBox="1"/>
          <p:nvPr/>
        </p:nvSpPr>
        <p:spPr>
          <a:xfrm>
            <a:off x="11401518" y="4286250"/>
            <a:ext cx="295560" cy="194310"/>
          </a:xfrm>
          <a:prstGeom prst="rect">
            <a:avLst/>
          </a:prstGeom>
          <a:noFill/>
        </p:spPr>
        <p:txBody>
          <a:bodyPr wrap="none" lIns="0" tIns="0" rIns="0" bIns="0">
            <a:spAutoFit/>
          </a:bodyPr>
          <a:lstStyle/>
          <a:p>
            <a:r>
              <a:rPr sz="1150" b="0">
                <a:solidFill>
                  <a:srgbClr val="2E2E2E"/>
                </a:solidFill>
                <a:latin typeface="Calibri"/>
              </a:rPr>
              <a:t>X in</a:t>
            </a:r>
          </a:p>
        </p:txBody>
      </p:sp>
      <p:sp>
        <p:nvSpPr>
          <p:cNvPr id="31" name="TextBox 30"/>
          <p:cNvSpPr txBox="1"/>
          <p:nvPr/>
        </p:nvSpPr>
        <p:spPr>
          <a:xfrm>
            <a:off x="6305550" y="4461510"/>
            <a:ext cx="5417294" cy="194310"/>
          </a:xfrm>
          <a:prstGeom prst="rect">
            <a:avLst/>
          </a:prstGeom>
          <a:noFill/>
        </p:spPr>
        <p:txBody>
          <a:bodyPr wrap="none" lIns="0" tIns="0" rIns="0" bIns="0">
            <a:spAutoFit/>
          </a:bodyPr>
          <a:lstStyle/>
          <a:p>
            <a:r>
              <a:rPr sz="1150" b="0">
                <a:solidFill>
                  <a:srgbClr val="2E2E2E"/>
                </a:solidFill>
                <a:latin typeface="Calibri"/>
              </a:rPr>
              <a:t>terms of value as compared to 2026. The flat dividers &amp; layer pads segment is expected to</a:t>
            </a:r>
          </a:p>
        </p:txBody>
      </p:sp>
      <p:sp>
        <p:nvSpPr>
          <p:cNvPr id="32" name="TextBox 31"/>
          <p:cNvSpPr txBox="1"/>
          <p:nvPr/>
        </p:nvSpPr>
        <p:spPr>
          <a:xfrm>
            <a:off x="6305550" y="4636770"/>
            <a:ext cx="2547069" cy="194310"/>
          </a:xfrm>
          <a:prstGeom prst="rect">
            <a:avLst/>
          </a:prstGeom>
          <a:noFill/>
        </p:spPr>
        <p:txBody>
          <a:bodyPr wrap="none" lIns="0" tIns="0" rIns="0" bIns="0">
            <a:spAutoFit/>
          </a:bodyPr>
          <a:lstStyle/>
          <a:p>
            <a:r>
              <a:rPr sz="1150" b="0">
                <a:solidFill>
                  <a:srgbClr val="2E2E2E"/>
                </a:solidFill>
                <a:latin typeface="Calibri"/>
              </a:rPr>
              <a:t>create an incremental opportunity of US$</a:t>
            </a:r>
          </a:p>
        </p:txBody>
      </p:sp>
      <p:pic>
        <p:nvPicPr>
          <p:cNvPr id="33" name="Picture 32" descr="lock.png"/>
          <p:cNvPicPr>
            <a:picLocks noChangeAspect="1"/>
          </p:cNvPicPr>
          <p:nvPr/>
        </p:nvPicPr>
        <p:blipFill>
          <a:blip r:embed="rId7"/>
          <a:stretch>
            <a:fillRect/>
          </a:stretch>
        </p:blipFill>
        <p:spPr>
          <a:xfrm>
            <a:off x="8801773" y="4626546"/>
            <a:ext cx="134549" cy="195707"/>
          </a:xfrm>
          <a:prstGeom prst="rect">
            <a:avLst/>
          </a:prstGeom>
        </p:spPr>
      </p:pic>
      <p:sp>
        <p:nvSpPr>
          <p:cNvPr id="34" name="TextBox 33"/>
          <p:cNvSpPr txBox="1"/>
          <p:nvPr/>
        </p:nvSpPr>
        <p:spPr>
          <a:xfrm>
            <a:off x="8976882" y="4636770"/>
            <a:ext cx="2849153"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a:t>
            </a:r>
          </a:p>
        </p:txBody>
      </p:sp>
      <p:sp>
        <p:nvSpPr>
          <p:cNvPr id="35" name="TextBox 34"/>
          <p:cNvSpPr txBox="1"/>
          <p:nvPr/>
        </p:nvSpPr>
        <p:spPr>
          <a:xfrm>
            <a:off x="6305550" y="4812029"/>
            <a:ext cx="1220923" cy="194310"/>
          </a:xfrm>
          <a:prstGeom prst="rect">
            <a:avLst/>
          </a:prstGeom>
          <a:noFill/>
        </p:spPr>
        <p:txBody>
          <a:bodyPr wrap="none" lIns="0" tIns="0" rIns="0" bIns="0">
            <a:spAutoFit/>
          </a:bodyPr>
          <a:lstStyle/>
          <a:p>
            <a:r>
              <a:rPr sz="1150" b="0">
                <a:solidFill>
                  <a:srgbClr val="2E2E2E"/>
                </a:solidFill>
                <a:latin typeface="Calibri"/>
              </a:rPr>
              <a:t>from 2026 to 2036.</a:t>
            </a:r>
          </a:p>
        </p:txBody>
      </p:sp>
      <p:sp>
        <p:nvSpPr>
          <p:cNvPr id="36" name="TextBox 35"/>
          <p:cNvSpPr txBox="1"/>
          <p:nvPr/>
        </p:nvSpPr>
        <p:spPr>
          <a:xfrm>
            <a:off x="6305550" y="5039867"/>
            <a:ext cx="5506863" cy="194310"/>
          </a:xfrm>
          <a:prstGeom prst="rect">
            <a:avLst/>
          </a:prstGeom>
          <a:noFill/>
        </p:spPr>
        <p:txBody>
          <a:bodyPr wrap="none" lIns="0" tIns="0" rIns="0" bIns="0">
            <a:spAutoFit/>
          </a:bodyPr>
          <a:lstStyle/>
          <a:p>
            <a:r>
              <a:rPr sz="1150" b="0">
                <a:solidFill>
                  <a:srgbClr val="2E2E2E"/>
                </a:solidFill>
                <a:latin typeface="Calibri"/>
              </a:rPr>
              <a:t>The Die-Cut &amp; folded partitions (H-dividers, tube/cell inserts) segment is expected to create</a:t>
            </a:r>
          </a:p>
        </p:txBody>
      </p:sp>
      <p:sp>
        <p:nvSpPr>
          <p:cNvPr id="37" name="TextBox 36"/>
          <p:cNvSpPr txBox="1"/>
          <p:nvPr/>
        </p:nvSpPr>
        <p:spPr>
          <a:xfrm>
            <a:off x="6305550" y="5215127"/>
            <a:ext cx="2136588" cy="194310"/>
          </a:xfrm>
          <a:prstGeom prst="rect">
            <a:avLst/>
          </a:prstGeom>
          <a:noFill/>
        </p:spPr>
        <p:txBody>
          <a:bodyPr wrap="none" lIns="0" tIns="0" rIns="0" bIns="0">
            <a:spAutoFit/>
          </a:bodyPr>
          <a:lstStyle/>
          <a:p>
            <a:r>
              <a:rPr sz="1150" b="0">
                <a:solidFill>
                  <a:srgbClr val="2E2E2E"/>
                </a:solidFill>
                <a:latin typeface="Calibri"/>
              </a:rPr>
              <a:t>an incremental opportunity of US$</a:t>
            </a:r>
          </a:p>
        </p:txBody>
      </p:sp>
      <p:pic>
        <p:nvPicPr>
          <p:cNvPr id="38" name="Picture 37" descr="lock.png"/>
          <p:cNvPicPr>
            <a:picLocks noChangeAspect="1"/>
          </p:cNvPicPr>
          <p:nvPr/>
        </p:nvPicPr>
        <p:blipFill>
          <a:blip r:embed="rId7"/>
          <a:stretch>
            <a:fillRect/>
          </a:stretch>
        </p:blipFill>
        <p:spPr>
          <a:xfrm>
            <a:off x="8391292" y="5204904"/>
            <a:ext cx="134549" cy="195707"/>
          </a:xfrm>
          <a:prstGeom prst="rect">
            <a:avLst/>
          </a:prstGeom>
        </p:spPr>
      </p:pic>
      <p:sp>
        <p:nvSpPr>
          <p:cNvPr id="39" name="TextBox 38"/>
          <p:cNvSpPr txBox="1"/>
          <p:nvPr/>
        </p:nvSpPr>
        <p:spPr>
          <a:xfrm>
            <a:off x="8566402" y="5215127"/>
            <a:ext cx="3171490"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a:t>
            </a:r>
          </a:p>
        </p:txBody>
      </p:sp>
      <p:sp>
        <p:nvSpPr>
          <p:cNvPr id="40" name="TextBox 39"/>
          <p:cNvSpPr txBox="1"/>
          <p:nvPr/>
        </p:nvSpPr>
        <p:spPr>
          <a:xfrm>
            <a:off x="6305550" y="5390387"/>
            <a:ext cx="5296346" cy="194310"/>
          </a:xfrm>
          <a:prstGeom prst="rect">
            <a:avLst/>
          </a:prstGeom>
          <a:noFill/>
        </p:spPr>
        <p:txBody>
          <a:bodyPr wrap="none" lIns="0" tIns="0" rIns="0" bIns="0">
            <a:spAutoFit/>
          </a:bodyPr>
          <a:lstStyle/>
          <a:p>
            <a:r>
              <a:rPr sz="1150" b="0">
                <a:solidFill>
                  <a:srgbClr val="2E2E2E"/>
                </a:solidFill>
                <a:latin typeface="Calibri"/>
              </a:rPr>
              <a:t>2026 to 2036. The slotted (Interlocking grid) partitions segment is expected to create an</a:t>
            </a:r>
          </a:p>
        </p:txBody>
      </p:sp>
      <p:sp>
        <p:nvSpPr>
          <p:cNvPr id="41" name="TextBox 40"/>
          <p:cNvSpPr txBox="1"/>
          <p:nvPr/>
        </p:nvSpPr>
        <p:spPr>
          <a:xfrm>
            <a:off x="6305550" y="5565647"/>
            <a:ext cx="1956879" cy="194310"/>
          </a:xfrm>
          <a:prstGeom prst="rect">
            <a:avLst/>
          </a:prstGeom>
          <a:noFill/>
        </p:spPr>
        <p:txBody>
          <a:bodyPr wrap="none" lIns="0" tIns="0" rIns="0" bIns="0">
            <a:spAutoFit/>
          </a:bodyPr>
          <a:lstStyle/>
          <a:p>
            <a:r>
              <a:rPr sz="1150" b="0">
                <a:solidFill>
                  <a:srgbClr val="2E2E2E"/>
                </a:solidFill>
                <a:latin typeface="Calibri"/>
              </a:rPr>
              <a:t>incremental opportunity of US$</a:t>
            </a:r>
          </a:p>
        </p:txBody>
      </p:sp>
      <p:pic>
        <p:nvPicPr>
          <p:cNvPr id="42" name="Picture 41" descr="lock.png"/>
          <p:cNvPicPr>
            <a:picLocks noChangeAspect="1"/>
          </p:cNvPicPr>
          <p:nvPr/>
        </p:nvPicPr>
        <p:blipFill>
          <a:blip r:embed="rId7"/>
          <a:stretch>
            <a:fillRect/>
          </a:stretch>
        </p:blipFill>
        <p:spPr>
          <a:xfrm>
            <a:off x="8211582" y="5555424"/>
            <a:ext cx="134549" cy="195707"/>
          </a:xfrm>
          <a:prstGeom prst="rect">
            <a:avLst/>
          </a:prstGeom>
        </p:spPr>
      </p:pic>
      <p:sp>
        <p:nvSpPr>
          <p:cNvPr id="43" name="TextBox 42"/>
          <p:cNvSpPr txBox="1"/>
          <p:nvPr/>
        </p:nvSpPr>
        <p:spPr>
          <a:xfrm>
            <a:off x="8386692" y="5565647"/>
            <a:ext cx="3501243"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2026</a:t>
            </a:r>
          </a:p>
        </p:txBody>
      </p:sp>
      <p:sp>
        <p:nvSpPr>
          <p:cNvPr id="44" name="TextBox 43"/>
          <p:cNvSpPr txBox="1"/>
          <p:nvPr/>
        </p:nvSpPr>
        <p:spPr>
          <a:xfrm>
            <a:off x="6305550" y="5740907"/>
            <a:ext cx="568833" cy="194310"/>
          </a:xfrm>
          <a:prstGeom prst="rect">
            <a:avLst/>
          </a:prstGeom>
          <a:noFill/>
        </p:spPr>
        <p:txBody>
          <a:bodyPr wrap="none" lIns="0" tIns="0" rIns="0" bIns="0">
            <a:spAutoFit/>
          </a:bodyPr>
          <a:lstStyle/>
          <a:p>
            <a:r>
              <a:rPr sz="1150" b="0">
                <a:solidFill>
                  <a:srgbClr val="2E2E2E"/>
                </a:solidFill>
                <a:latin typeface="Calibri"/>
              </a:rPr>
              <a:t>to 2036.</a:t>
            </a:r>
          </a:p>
        </p:txBody>
      </p:sp>
      <p:sp>
        <p:nvSpPr>
          <p:cNvPr id="45"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Volume Analysis, By Partition Type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Partition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3048000"/>
          </a:xfrm>
          <a:prstGeom prst="roundRect">
            <a:avLst>
              <a:gd name="adj" fmla="val 25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By Partition Type (MT)</a:t>
            </a:r>
          </a:p>
        </p:txBody>
      </p:sp>
      <p:graphicFrame>
        <p:nvGraphicFramePr>
          <p:cNvPr id="13" name="Table 12"/>
          <p:cNvGraphicFramePr>
            <a:graphicFrameLocks noGrp="1"/>
          </p:cNvGraphicFramePr>
          <p:nvPr/>
        </p:nvGraphicFramePr>
        <p:xfrm>
          <a:off x="152400" y="1238250"/>
          <a:ext cx="11887208" cy="2581276"/>
        </p:xfrm>
        <a:graphic>
          <a:graphicData uri="http://schemas.openxmlformats.org/drawingml/2006/table">
            <a:tbl>
              <a:tblPr>
                <a:tableStyleId>{5C22544A-7EE6-4342-B048-85BDC9FD1C3A}</a:tableStyleId>
              </a:tblPr>
              <a:tblGrid>
                <a:gridCol w="1239860">
                  <a:extLst>
                    <a:ext uri="{9D8B030D-6E8A-4147-A177-3AD203B41FA5}">
                      <a16:colId xmlns:a16="http://schemas.microsoft.com/office/drawing/2014/main" val="20000"/>
                    </a:ext>
                  </a:extLst>
                </a:gridCol>
                <a:gridCol w="641033">
                  <a:extLst>
                    <a:ext uri="{9D8B030D-6E8A-4147-A177-3AD203B41FA5}">
                      <a16:colId xmlns:a16="http://schemas.microsoft.com/office/drawing/2014/main" val="20001"/>
                    </a:ext>
                  </a:extLst>
                </a:gridCol>
                <a:gridCol w="641033">
                  <a:extLst>
                    <a:ext uri="{9D8B030D-6E8A-4147-A177-3AD203B41FA5}">
                      <a16:colId xmlns:a16="http://schemas.microsoft.com/office/drawing/2014/main" val="20002"/>
                    </a:ext>
                  </a:extLst>
                </a:gridCol>
                <a:gridCol w="641033">
                  <a:extLst>
                    <a:ext uri="{9D8B030D-6E8A-4147-A177-3AD203B41FA5}">
                      <a16:colId xmlns:a16="http://schemas.microsoft.com/office/drawing/2014/main" val="20003"/>
                    </a:ext>
                  </a:extLst>
                </a:gridCol>
                <a:gridCol w="641033">
                  <a:extLst>
                    <a:ext uri="{9D8B030D-6E8A-4147-A177-3AD203B41FA5}">
                      <a16:colId xmlns:a16="http://schemas.microsoft.com/office/drawing/2014/main" val="20004"/>
                    </a:ext>
                  </a:extLst>
                </a:gridCol>
                <a:gridCol w="641033">
                  <a:extLst>
                    <a:ext uri="{9D8B030D-6E8A-4147-A177-3AD203B41FA5}">
                      <a16:colId xmlns:a16="http://schemas.microsoft.com/office/drawing/2014/main" val="20005"/>
                    </a:ext>
                  </a:extLst>
                </a:gridCol>
                <a:gridCol w="641033">
                  <a:extLst>
                    <a:ext uri="{9D8B030D-6E8A-4147-A177-3AD203B41FA5}">
                      <a16:colId xmlns:a16="http://schemas.microsoft.com/office/drawing/2014/main" val="20006"/>
                    </a:ext>
                  </a:extLst>
                </a:gridCol>
                <a:gridCol w="641033">
                  <a:extLst>
                    <a:ext uri="{9D8B030D-6E8A-4147-A177-3AD203B41FA5}">
                      <a16:colId xmlns:a16="http://schemas.microsoft.com/office/drawing/2014/main" val="20007"/>
                    </a:ext>
                  </a:extLst>
                </a:gridCol>
                <a:gridCol w="641033">
                  <a:extLst>
                    <a:ext uri="{9D8B030D-6E8A-4147-A177-3AD203B41FA5}">
                      <a16:colId xmlns:a16="http://schemas.microsoft.com/office/drawing/2014/main" val="20008"/>
                    </a:ext>
                  </a:extLst>
                </a:gridCol>
                <a:gridCol w="641033">
                  <a:extLst>
                    <a:ext uri="{9D8B030D-6E8A-4147-A177-3AD203B41FA5}">
                      <a16:colId xmlns:a16="http://schemas.microsoft.com/office/drawing/2014/main" val="20009"/>
                    </a:ext>
                  </a:extLst>
                </a:gridCol>
                <a:gridCol w="641033">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390820">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Partition Type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728377">
                <a:tc>
                  <a:txBody>
                    <a:bodyPr/>
                    <a:lstStyle/>
                    <a:p>
                      <a:pPr algn="l"/>
                      <a:r>
                        <a:rPr sz="1100" b="1">
                          <a:solidFill>
                            <a:srgbClr val="2E2E2E"/>
                          </a:solidFill>
                          <a:latin typeface="Calibri"/>
                        </a:rPr>
                        <a:t>Slotted</a:t>
                      </a:r>
                      <a:endParaRPr sz="1100"/>
                    </a:p>
                    <a:p>
                      <a:pPr algn="l"/>
                      <a:r>
                        <a:rPr sz="1100" b="1">
                          <a:solidFill>
                            <a:srgbClr val="2E2E2E"/>
                          </a:solidFill>
                          <a:latin typeface="Calibri"/>
                        </a:rPr>
                        <a:t>(Interlocking Grid)</a:t>
                      </a:r>
                      <a:endParaRPr sz="1100"/>
                    </a:p>
                    <a:p>
                      <a:pPr algn="l"/>
                      <a:r>
                        <a:rPr sz="1100" b="1">
                          <a:solidFill>
                            <a:srgbClr val="2E2E2E"/>
                          </a:solidFill>
                          <a:latin typeface="Calibri"/>
                        </a:rPr>
                        <a:t>Partitions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535591">
                <a:tc>
                  <a:txBody>
                    <a:bodyPr/>
                    <a:lstStyle/>
                    <a:p>
                      <a:pPr algn="l"/>
                      <a:r>
                        <a:rPr sz="1100" b="1">
                          <a:solidFill>
                            <a:srgbClr val="2E2E2E"/>
                          </a:solidFill>
                          <a:latin typeface="Calibri"/>
                        </a:rPr>
                        <a:t>Die-Cut &amp; Folded</a:t>
                      </a:r>
                      <a:endParaRPr sz="1100"/>
                    </a:p>
                    <a:p>
                      <a:pPr algn="l"/>
                      <a:r>
                        <a:rPr sz="1100" b="1">
                          <a:solidFill>
                            <a:srgbClr val="2E2E2E"/>
                          </a:solidFill>
                          <a:latin typeface="Calibri"/>
                        </a:rPr>
                        <a:t>Partitions</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535591">
                <a:tc>
                  <a:txBody>
                    <a:bodyPr/>
                    <a:lstStyle/>
                    <a:p>
                      <a:pPr algn="l"/>
                      <a:r>
                        <a:rPr sz="1100" b="1">
                          <a:solidFill>
                            <a:srgbClr val="2E2E2E"/>
                          </a:solidFill>
                          <a:latin typeface="Calibri"/>
                        </a:rPr>
                        <a:t>Flat Dividers &amp;</a:t>
                      </a:r>
                      <a:endParaRPr sz="1100"/>
                    </a:p>
                    <a:p>
                      <a:pPr algn="l"/>
                      <a:r>
                        <a:rPr sz="1100" b="1">
                          <a:solidFill>
                            <a:srgbClr val="2E2E2E"/>
                          </a:solidFill>
                          <a:latin typeface="Calibri"/>
                        </a:rPr>
                        <a:t>Layer Pads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3"/>
                  </a:ext>
                </a:extLst>
              </a:tr>
              <a:tr h="342805">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38290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62425"/>
            <a:ext cx="11906250" cy="2466975"/>
          </a:xfrm>
          <a:prstGeom prst="roundRect">
            <a:avLst>
              <a:gd name="adj" fmla="val 308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4248150"/>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Volume Analysis, By Partition Type</a:t>
            </a:r>
          </a:p>
        </p:txBody>
      </p:sp>
      <p:sp>
        <p:nvSpPr>
          <p:cNvPr id="17" name="Rectangle 16"/>
          <p:cNvSpPr/>
          <p:nvPr/>
        </p:nvSpPr>
        <p:spPr>
          <a:xfrm>
            <a:off x="276225" y="44862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572000"/>
            <a:ext cx="11639550" cy="198120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81644"/>
            <a:ext cx="366712" cy="533400"/>
          </a:xfrm>
          <a:prstGeom prst="rect">
            <a:avLst/>
          </a:prstGeom>
        </p:spPr>
      </p:pic>
      <p:sp>
        <p:nvSpPr>
          <p:cNvPr id="21" name="TextBox 20"/>
          <p:cNvSpPr txBox="1"/>
          <p:nvPr/>
        </p:nvSpPr>
        <p:spPr>
          <a:xfrm>
            <a:off x="276225" y="4581525"/>
            <a:ext cx="3494397" cy="194310"/>
          </a:xfrm>
          <a:prstGeom prst="rect">
            <a:avLst/>
          </a:prstGeom>
          <a:noFill/>
        </p:spPr>
        <p:txBody>
          <a:bodyPr wrap="none" lIns="0" tIns="0" rIns="0" bIns="0">
            <a:spAutoFit/>
          </a:bodyPr>
          <a:lstStyle/>
          <a:p>
            <a:r>
              <a:rPr sz="1150" b="0">
                <a:solidFill>
                  <a:srgbClr val="2E2E2E"/>
                </a:solidFill>
                <a:latin typeface="Calibri"/>
              </a:rPr>
              <a:t>Flat dividers &amp; layer pads segment is projected to register</a:t>
            </a:r>
          </a:p>
        </p:txBody>
      </p:sp>
      <p:pic>
        <p:nvPicPr>
          <p:cNvPr id="22" name="Picture 21" descr="lock.png"/>
          <p:cNvPicPr>
            <a:picLocks noChangeAspect="1"/>
          </p:cNvPicPr>
          <p:nvPr/>
        </p:nvPicPr>
        <p:blipFill>
          <a:blip r:embed="rId4"/>
          <a:stretch>
            <a:fillRect/>
          </a:stretch>
        </p:blipFill>
        <p:spPr>
          <a:xfrm>
            <a:off x="3719776" y="4571301"/>
            <a:ext cx="134549" cy="195707"/>
          </a:xfrm>
          <a:prstGeom prst="rect">
            <a:avLst/>
          </a:prstGeom>
        </p:spPr>
      </p:pic>
      <p:sp>
        <p:nvSpPr>
          <p:cNvPr id="23" name="TextBox 22"/>
          <p:cNvSpPr txBox="1"/>
          <p:nvPr/>
        </p:nvSpPr>
        <p:spPr>
          <a:xfrm>
            <a:off x="3894885" y="4581525"/>
            <a:ext cx="7620880" cy="194310"/>
          </a:xfrm>
          <a:prstGeom prst="rect">
            <a:avLst/>
          </a:prstGeom>
          <a:noFill/>
        </p:spPr>
        <p:txBody>
          <a:bodyPr wrap="none" lIns="0" tIns="0" rIns="0" bIns="0">
            <a:spAutoFit/>
          </a:bodyPr>
          <a:lstStyle/>
          <a:p>
            <a:r>
              <a:rPr sz="1150" b="0">
                <a:solidFill>
                  <a:srgbClr val="2E2E2E"/>
                </a:solidFill>
                <a:latin typeface="Calibri"/>
              </a:rPr>
              <a:t>X higher volume than die-cut &amp; folded partitions (h-dividers, tube/cell inserts) segment in 2036. Among corrugated partition by</a:t>
            </a:r>
          </a:p>
        </p:txBody>
      </p:sp>
      <p:sp>
        <p:nvSpPr>
          <p:cNvPr id="24" name="TextBox 23"/>
          <p:cNvSpPr txBox="1"/>
          <p:nvPr/>
        </p:nvSpPr>
        <p:spPr>
          <a:xfrm>
            <a:off x="276225" y="4756785"/>
            <a:ext cx="5544499" cy="194310"/>
          </a:xfrm>
          <a:prstGeom prst="rect">
            <a:avLst/>
          </a:prstGeom>
          <a:noFill/>
        </p:spPr>
        <p:txBody>
          <a:bodyPr wrap="none" lIns="0" tIns="0" rIns="0" bIns="0">
            <a:spAutoFit/>
          </a:bodyPr>
          <a:lstStyle/>
          <a:p>
            <a:r>
              <a:rPr sz="1150" b="0">
                <a:solidFill>
                  <a:srgbClr val="2E2E2E"/>
                </a:solidFill>
                <a:latin typeface="Calibri"/>
              </a:rPr>
              <a:t>partition type, flat dividers &amp; layer pads segment is expected to witness the highest CAGR of</a:t>
            </a:r>
          </a:p>
        </p:txBody>
      </p:sp>
      <p:pic>
        <p:nvPicPr>
          <p:cNvPr id="25" name="Picture 24" descr="lock.png"/>
          <p:cNvPicPr>
            <a:picLocks noChangeAspect="1"/>
          </p:cNvPicPr>
          <p:nvPr/>
        </p:nvPicPr>
        <p:blipFill>
          <a:blip r:embed="rId4"/>
          <a:stretch>
            <a:fillRect/>
          </a:stretch>
        </p:blipFill>
        <p:spPr>
          <a:xfrm>
            <a:off x="5769878" y="4746561"/>
            <a:ext cx="134549" cy="195707"/>
          </a:xfrm>
          <a:prstGeom prst="rect">
            <a:avLst/>
          </a:prstGeom>
        </p:spPr>
      </p:pic>
      <p:sp>
        <p:nvSpPr>
          <p:cNvPr id="26" name="TextBox 25"/>
          <p:cNvSpPr txBox="1"/>
          <p:nvPr/>
        </p:nvSpPr>
        <p:spPr>
          <a:xfrm>
            <a:off x="5944987" y="475678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984622"/>
            <a:ext cx="7558695" cy="194310"/>
          </a:xfrm>
          <a:prstGeom prst="rect">
            <a:avLst/>
          </a:prstGeom>
          <a:noFill/>
        </p:spPr>
        <p:txBody>
          <a:bodyPr wrap="none" lIns="0" tIns="0" rIns="0" bIns="0">
            <a:spAutoFit/>
          </a:bodyPr>
          <a:lstStyle/>
          <a:p>
            <a:r>
              <a:rPr sz="1150" b="0">
                <a:solidFill>
                  <a:srgbClr val="2E2E2E"/>
                </a:solidFill>
                <a:latin typeface="Calibri"/>
              </a:rPr>
              <a:t>In terms of volume share by partition type, the flat dividers &amp; layer pads segment is expected to dominate the market, gaining</a:t>
            </a:r>
          </a:p>
        </p:txBody>
      </p:sp>
      <p:pic>
        <p:nvPicPr>
          <p:cNvPr id="28" name="Picture 27" descr="lock.png"/>
          <p:cNvPicPr>
            <a:picLocks noChangeAspect="1"/>
          </p:cNvPicPr>
          <p:nvPr/>
        </p:nvPicPr>
        <p:blipFill>
          <a:blip r:embed="rId4"/>
          <a:stretch>
            <a:fillRect/>
          </a:stretch>
        </p:blipFill>
        <p:spPr>
          <a:xfrm>
            <a:off x="7784074" y="4974399"/>
            <a:ext cx="134549" cy="195707"/>
          </a:xfrm>
          <a:prstGeom prst="rect">
            <a:avLst/>
          </a:prstGeom>
        </p:spPr>
      </p:pic>
      <p:sp>
        <p:nvSpPr>
          <p:cNvPr id="29" name="TextBox 28"/>
          <p:cNvSpPr txBox="1"/>
          <p:nvPr/>
        </p:nvSpPr>
        <p:spPr>
          <a:xfrm>
            <a:off x="7959183" y="4984622"/>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354326" y="4974399"/>
            <a:ext cx="134549" cy="195707"/>
          </a:xfrm>
          <a:prstGeom prst="rect">
            <a:avLst/>
          </a:prstGeom>
        </p:spPr>
      </p:pic>
      <p:sp>
        <p:nvSpPr>
          <p:cNvPr id="31" name="TextBox 30"/>
          <p:cNvSpPr txBox="1"/>
          <p:nvPr/>
        </p:nvSpPr>
        <p:spPr>
          <a:xfrm>
            <a:off x="9529435" y="4984622"/>
            <a:ext cx="2195921" cy="194310"/>
          </a:xfrm>
          <a:prstGeom prst="rect">
            <a:avLst/>
          </a:prstGeom>
          <a:noFill/>
        </p:spPr>
        <p:txBody>
          <a:bodyPr wrap="none" lIns="0" tIns="0" rIns="0" bIns="0">
            <a:spAutoFit/>
          </a:bodyPr>
          <a:lstStyle/>
          <a:p>
            <a:r>
              <a:rPr sz="1150" b="0">
                <a:solidFill>
                  <a:srgbClr val="2E2E2E"/>
                </a:solidFill>
                <a:latin typeface="Calibri"/>
              </a:rPr>
              <a:t>share by 2036. The die-cut &amp; folded</a:t>
            </a:r>
          </a:p>
        </p:txBody>
      </p:sp>
      <p:sp>
        <p:nvSpPr>
          <p:cNvPr id="32" name="TextBox 31"/>
          <p:cNvSpPr txBox="1"/>
          <p:nvPr/>
        </p:nvSpPr>
        <p:spPr>
          <a:xfrm>
            <a:off x="276225" y="5159882"/>
            <a:ext cx="4076886" cy="194310"/>
          </a:xfrm>
          <a:prstGeom prst="rect">
            <a:avLst/>
          </a:prstGeom>
          <a:noFill/>
        </p:spPr>
        <p:txBody>
          <a:bodyPr wrap="none" lIns="0" tIns="0" rIns="0" bIns="0">
            <a:spAutoFit/>
          </a:bodyPr>
          <a:lstStyle/>
          <a:p>
            <a:r>
              <a:rPr sz="1150" b="0">
                <a:solidFill>
                  <a:srgbClr val="2E2E2E"/>
                </a:solidFill>
                <a:latin typeface="Calibri"/>
              </a:rPr>
              <a:t>partitions (h-dividers, tube/cell inserts) segment is expected to lose</a:t>
            </a:r>
          </a:p>
        </p:txBody>
      </p:sp>
      <p:pic>
        <p:nvPicPr>
          <p:cNvPr id="33" name="Picture 32" descr="lock.png"/>
          <p:cNvPicPr>
            <a:picLocks noChangeAspect="1"/>
          </p:cNvPicPr>
          <p:nvPr/>
        </p:nvPicPr>
        <p:blipFill>
          <a:blip r:embed="rId4"/>
          <a:stretch>
            <a:fillRect/>
          </a:stretch>
        </p:blipFill>
        <p:spPr>
          <a:xfrm>
            <a:off x="4302264" y="5149659"/>
            <a:ext cx="134549" cy="195707"/>
          </a:xfrm>
          <a:prstGeom prst="rect">
            <a:avLst/>
          </a:prstGeom>
        </p:spPr>
      </p:pic>
      <p:sp>
        <p:nvSpPr>
          <p:cNvPr id="34" name="TextBox 33"/>
          <p:cNvSpPr txBox="1"/>
          <p:nvPr/>
        </p:nvSpPr>
        <p:spPr>
          <a:xfrm>
            <a:off x="4477374" y="5159882"/>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7064878" y="5149659"/>
            <a:ext cx="134549" cy="195707"/>
          </a:xfrm>
          <a:prstGeom prst="rect">
            <a:avLst/>
          </a:prstGeom>
        </p:spPr>
      </p:pic>
      <p:sp>
        <p:nvSpPr>
          <p:cNvPr id="36" name="TextBox 35"/>
          <p:cNvSpPr txBox="1"/>
          <p:nvPr/>
        </p:nvSpPr>
        <p:spPr>
          <a:xfrm>
            <a:off x="7239988" y="5159882"/>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Analysis, By Partition Type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Partition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By Partition Type (US$ Mn)</a:t>
            </a:r>
          </a:p>
        </p:txBody>
      </p:sp>
      <p:graphicFrame>
        <p:nvGraphicFramePr>
          <p:cNvPr id="13" name="Table 12"/>
          <p:cNvGraphicFramePr>
            <a:graphicFrameLocks noGrp="1"/>
          </p:cNvGraphicFramePr>
          <p:nvPr/>
        </p:nvGraphicFramePr>
        <p:xfrm>
          <a:off x="152400" y="1238250"/>
          <a:ext cx="11887198" cy="1238250"/>
        </p:xfrm>
        <a:graphic>
          <a:graphicData uri="http://schemas.openxmlformats.org/drawingml/2006/table">
            <a:tbl>
              <a:tblPr>
                <a:tableStyleId>{5C22544A-7EE6-4342-B048-85BDC9FD1C3A}</a:tableStyleId>
              </a:tblPr>
              <a:tblGrid>
                <a:gridCol w="2314532">
                  <a:extLst>
                    <a:ext uri="{9D8B030D-6E8A-4147-A177-3AD203B41FA5}">
                      <a16:colId xmlns:a16="http://schemas.microsoft.com/office/drawing/2014/main" val="20000"/>
                    </a:ext>
                  </a:extLst>
                </a:gridCol>
                <a:gridCol w="563098">
                  <a:extLst>
                    <a:ext uri="{9D8B030D-6E8A-4147-A177-3AD203B41FA5}">
                      <a16:colId xmlns:a16="http://schemas.microsoft.com/office/drawing/2014/main" val="20001"/>
                    </a:ext>
                  </a:extLst>
                </a:gridCol>
                <a:gridCol w="563098">
                  <a:extLst>
                    <a:ext uri="{9D8B030D-6E8A-4147-A177-3AD203B41FA5}">
                      <a16:colId xmlns:a16="http://schemas.microsoft.com/office/drawing/2014/main" val="20002"/>
                    </a:ext>
                  </a:extLst>
                </a:gridCol>
                <a:gridCol w="563098">
                  <a:extLst>
                    <a:ext uri="{9D8B030D-6E8A-4147-A177-3AD203B41FA5}">
                      <a16:colId xmlns:a16="http://schemas.microsoft.com/office/drawing/2014/main" val="20003"/>
                    </a:ext>
                  </a:extLst>
                </a:gridCol>
                <a:gridCol w="563098">
                  <a:extLst>
                    <a:ext uri="{9D8B030D-6E8A-4147-A177-3AD203B41FA5}">
                      <a16:colId xmlns:a16="http://schemas.microsoft.com/office/drawing/2014/main" val="20004"/>
                    </a:ext>
                  </a:extLst>
                </a:gridCol>
                <a:gridCol w="563098">
                  <a:extLst>
                    <a:ext uri="{9D8B030D-6E8A-4147-A177-3AD203B41FA5}">
                      <a16:colId xmlns:a16="http://schemas.microsoft.com/office/drawing/2014/main" val="20005"/>
                    </a:ext>
                  </a:extLst>
                </a:gridCol>
                <a:gridCol w="563098">
                  <a:extLst>
                    <a:ext uri="{9D8B030D-6E8A-4147-A177-3AD203B41FA5}">
                      <a16:colId xmlns:a16="http://schemas.microsoft.com/office/drawing/2014/main" val="20006"/>
                    </a:ext>
                  </a:extLst>
                </a:gridCol>
                <a:gridCol w="563098">
                  <a:extLst>
                    <a:ext uri="{9D8B030D-6E8A-4147-A177-3AD203B41FA5}">
                      <a16:colId xmlns:a16="http://schemas.microsoft.com/office/drawing/2014/main" val="20007"/>
                    </a:ext>
                  </a:extLst>
                </a:gridCol>
                <a:gridCol w="563098">
                  <a:extLst>
                    <a:ext uri="{9D8B030D-6E8A-4147-A177-3AD203B41FA5}">
                      <a16:colId xmlns:a16="http://schemas.microsoft.com/office/drawing/2014/main" val="20008"/>
                    </a:ext>
                  </a:extLst>
                </a:gridCol>
                <a:gridCol w="563098">
                  <a:extLst>
                    <a:ext uri="{9D8B030D-6E8A-4147-A177-3AD203B41FA5}">
                      <a16:colId xmlns:a16="http://schemas.microsoft.com/office/drawing/2014/main" val="20009"/>
                    </a:ext>
                  </a:extLst>
                </a:gridCol>
                <a:gridCol w="563098">
                  <a:extLst>
                    <a:ext uri="{9D8B030D-6E8A-4147-A177-3AD203B41FA5}">
                      <a16:colId xmlns:a16="http://schemas.microsoft.com/office/drawing/2014/main" val="20010"/>
                    </a:ext>
                  </a:extLst>
                </a:gridCol>
                <a:gridCol w="563098">
                  <a:extLst>
                    <a:ext uri="{9D8B030D-6E8A-4147-A177-3AD203B41FA5}">
                      <a16:colId xmlns:a16="http://schemas.microsoft.com/office/drawing/2014/main" val="20011"/>
                    </a:ext>
                  </a:extLst>
                </a:gridCol>
                <a:gridCol w="563098">
                  <a:extLst>
                    <a:ext uri="{9D8B030D-6E8A-4147-A177-3AD203B41FA5}">
                      <a16:colId xmlns:a16="http://schemas.microsoft.com/office/drawing/2014/main" val="20012"/>
                    </a:ext>
                  </a:extLst>
                </a:gridCol>
                <a:gridCol w="563098">
                  <a:extLst>
                    <a:ext uri="{9D8B030D-6E8A-4147-A177-3AD203B41FA5}">
                      <a16:colId xmlns:a16="http://schemas.microsoft.com/office/drawing/2014/main" val="20013"/>
                    </a:ext>
                  </a:extLst>
                </a:gridCol>
                <a:gridCol w="563098">
                  <a:extLst>
                    <a:ext uri="{9D8B030D-6E8A-4147-A177-3AD203B41FA5}">
                      <a16:colId xmlns:a16="http://schemas.microsoft.com/office/drawing/2014/main" val="20014"/>
                    </a:ext>
                  </a:extLst>
                </a:gridCol>
                <a:gridCol w="563098">
                  <a:extLst>
                    <a:ext uri="{9D8B030D-6E8A-4147-A177-3AD203B41FA5}">
                      <a16:colId xmlns:a16="http://schemas.microsoft.com/office/drawing/2014/main" val="20015"/>
                    </a:ext>
                  </a:extLst>
                </a:gridCol>
                <a:gridCol w="563098">
                  <a:extLst>
                    <a:ext uri="{9D8B030D-6E8A-4147-A177-3AD203B41FA5}">
                      <a16:colId xmlns:a16="http://schemas.microsoft.com/office/drawing/2014/main" val="20016"/>
                    </a:ext>
                  </a:extLst>
                </a:gridCol>
                <a:gridCol w="563098">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90512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Value Analysis, By Partition Type</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228975"/>
            <a:ext cx="11639550" cy="33242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66574" y="1713738"/>
            <a:ext cx="366712" cy="533400"/>
          </a:xfrm>
          <a:prstGeom prst="rect">
            <a:avLst/>
          </a:prstGeom>
        </p:spPr>
      </p:pic>
      <p:sp>
        <p:nvSpPr>
          <p:cNvPr id="21" name="TextBox 20"/>
          <p:cNvSpPr txBox="1"/>
          <p:nvPr/>
        </p:nvSpPr>
        <p:spPr>
          <a:xfrm>
            <a:off x="276225" y="3238500"/>
            <a:ext cx="3494397" cy="194310"/>
          </a:xfrm>
          <a:prstGeom prst="rect">
            <a:avLst/>
          </a:prstGeom>
          <a:noFill/>
        </p:spPr>
        <p:txBody>
          <a:bodyPr wrap="none" lIns="0" tIns="0" rIns="0" bIns="0">
            <a:spAutoFit/>
          </a:bodyPr>
          <a:lstStyle/>
          <a:p>
            <a:r>
              <a:rPr sz="1150" b="0">
                <a:solidFill>
                  <a:srgbClr val="2E2E2E"/>
                </a:solidFill>
                <a:latin typeface="Calibri"/>
              </a:rPr>
              <a:t>Flat dividers &amp; layer pads segment is projected to register</a:t>
            </a:r>
          </a:p>
        </p:txBody>
      </p:sp>
      <p:pic>
        <p:nvPicPr>
          <p:cNvPr id="22" name="Picture 21" descr="lock.png"/>
          <p:cNvPicPr>
            <a:picLocks noChangeAspect="1"/>
          </p:cNvPicPr>
          <p:nvPr/>
        </p:nvPicPr>
        <p:blipFill>
          <a:blip r:embed="rId4"/>
          <a:stretch>
            <a:fillRect/>
          </a:stretch>
        </p:blipFill>
        <p:spPr>
          <a:xfrm>
            <a:off x="3719776" y="3228276"/>
            <a:ext cx="134549" cy="195707"/>
          </a:xfrm>
          <a:prstGeom prst="rect">
            <a:avLst/>
          </a:prstGeom>
        </p:spPr>
      </p:pic>
      <p:sp>
        <p:nvSpPr>
          <p:cNvPr id="23" name="TextBox 22"/>
          <p:cNvSpPr txBox="1"/>
          <p:nvPr/>
        </p:nvSpPr>
        <p:spPr>
          <a:xfrm>
            <a:off x="3894885" y="3238500"/>
            <a:ext cx="7497080" cy="194310"/>
          </a:xfrm>
          <a:prstGeom prst="rect">
            <a:avLst/>
          </a:prstGeom>
          <a:noFill/>
        </p:spPr>
        <p:txBody>
          <a:bodyPr wrap="none" lIns="0" tIns="0" rIns="0" bIns="0">
            <a:spAutoFit/>
          </a:bodyPr>
          <a:lstStyle/>
          <a:p>
            <a:r>
              <a:rPr sz="1150" b="0">
                <a:solidFill>
                  <a:srgbClr val="2E2E2E"/>
                </a:solidFill>
                <a:latin typeface="Calibri"/>
              </a:rPr>
              <a:t>X higher value than die-cut &amp; folded partitions (h-dividers, tube/cell inserts) segment in 2036. Among corrugated partition by</a:t>
            </a:r>
          </a:p>
        </p:txBody>
      </p:sp>
      <p:sp>
        <p:nvSpPr>
          <p:cNvPr id="24" name="TextBox 23"/>
          <p:cNvSpPr txBox="1"/>
          <p:nvPr/>
        </p:nvSpPr>
        <p:spPr>
          <a:xfrm>
            <a:off x="276225" y="3413760"/>
            <a:ext cx="5544499" cy="194310"/>
          </a:xfrm>
          <a:prstGeom prst="rect">
            <a:avLst/>
          </a:prstGeom>
          <a:noFill/>
        </p:spPr>
        <p:txBody>
          <a:bodyPr wrap="none" lIns="0" tIns="0" rIns="0" bIns="0">
            <a:spAutoFit/>
          </a:bodyPr>
          <a:lstStyle/>
          <a:p>
            <a:r>
              <a:rPr sz="1150" b="0">
                <a:solidFill>
                  <a:srgbClr val="2E2E2E"/>
                </a:solidFill>
                <a:latin typeface="Calibri"/>
              </a:rPr>
              <a:t>partition type, flat dividers &amp; layer pads segment is expected to witness the highest CAGR of</a:t>
            </a:r>
          </a:p>
        </p:txBody>
      </p:sp>
      <p:pic>
        <p:nvPicPr>
          <p:cNvPr id="25" name="Picture 24" descr="lock.png"/>
          <p:cNvPicPr>
            <a:picLocks noChangeAspect="1"/>
          </p:cNvPicPr>
          <p:nvPr/>
        </p:nvPicPr>
        <p:blipFill>
          <a:blip r:embed="rId4"/>
          <a:stretch>
            <a:fillRect/>
          </a:stretch>
        </p:blipFill>
        <p:spPr>
          <a:xfrm>
            <a:off x="5769878" y="3403536"/>
            <a:ext cx="134549" cy="195707"/>
          </a:xfrm>
          <a:prstGeom prst="rect">
            <a:avLst/>
          </a:prstGeom>
        </p:spPr>
      </p:pic>
      <p:sp>
        <p:nvSpPr>
          <p:cNvPr id="26" name="TextBox 25"/>
          <p:cNvSpPr txBox="1"/>
          <p:nvPr/>
        </p:nvSpPr>
        <p:spPr>
          <a:xfrm>
            <a:off x="5944987" y="341376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434895" cy="194310"/>
          </a:xfrm>
          <a:prstGeom prst="rect">
            <a:avLst/>
          </a:prstGeom>
          <a:noFill/>
        </p:spPr>
        <p:txBody>
          <a:bodyPr wrap="none" lIns="0" tIns="0" rIns="0" bIns="0">
            <a:spAutoFit/>
          </a:bodyPr>
          <a:lstStyle/>
          <a:p>
            <a:r>
              <a:rPr sz="1150" b="0">
                <a:solidFill>
                  <a:srgbClr val="2E2E2E"/>
                </a:solidFill>
                <a:latin typeface="Calibri"/>
              </a:rPr>
              <a:t>In terms of value share by partition type, the flat dividers &amp; layer pads segment is expected to dominate the market, gaining</a:t>
            </a:r>
          </a:p>
        </p:txBody>
      </p:sp>
      <p:pic>
        <p:nvPicPr>
          <p:cNvPr id="28" name="Picture 27" descr="lock.png"/>
          <p:cNvPicPr>
            <a:picLocks noChangeAspect="1"/>
          </p:cNvPicPr>
          <p:nvPr/>
        </p:nvPicPr>
        <p:blipFill>
          <a:blip r:embed="rId4"/>
          <a:stretch>
            <a:fillRect/>
          </a:stretch>
        </p:blipFill>
        <p:spPr>
          <a:xfrm>
            <a:off x="7660273" y="3631374"/>
            <a:ext cx="134549" cy="195707"/>
          </a:xfrm>
          <a:prstGeom prst="rect">
            <a:avLst/>
          </a:prstGeom>
        </p:spPr>
      </p:pic>
      <p:sp>
        <p:nvSpPr>
          <p:cNvPr id="29" name="TextBox 28"/>
          <p:cNvSpPr txBox="1"/>
          <p:nvPr/>
        </p:nvSpPr>
        <p:spPr>
          <a:xfrm>
            <a:off x="7835383" y="364159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230526" y="3631374"/>
            <a:ext cx="134549" cy="195707"/>
          </a:xfrm>
          <a:prstGeom prst="rect">
            <a:avLst/>
          </a:prstGeom>
        </p:spPr>
      </p:pic>
      <p:sp>
        <p:nvSpPr>
          <p:cNvPr id="31" name="TextBox 30"/>
          <p:cNvSpPr txBox="1"/>
          <p:nvPr/>
        </p:nvSpPr>
        <p:spPr>
          <a:xfrm>
            <a:off x="9405635" y="3641597"/>
            <a:ext cx="2195921" cy="194310"/>
          </a:xfrm>
          <a:prstGeom prst="rect">
            <a:avLst/>
          </a:prstGeom>
          <a:noFill/>
        </p:spPr>
        <p:txBody>
          <a:bodyPr wrap="none" lIns="0" tIns="0" rIns="0" bIns="0">
            <a:spAutoFit/>
          </a:bodyPr>
          <a:lstStyle/>
          <a:p>
            <a:r>
              <a:rPr sz="1150" b="0">
                <a:solidFill>
                  <a:srgbClr val="2E2E2E"/>
                </a:solidFill>
                <a:latin typeface="Calibri"/>
              </a:rPr>
              <a:t>share by 2036. The die-cut &amp; folded</a:t>
            </a:r>
          </a:p>
        </p:txBody>
      </p:sp>
      <p:sp>
        <p:nvSpPr>
          <p:cNvPr id="32" name="TextBox 31"/>
          <p:cNvSpPr txBox="1"/>
          <p:nvPr/>
        </p:nvSpPr>
        <p:spPr>
          <a:xfrm>
            <a:off x="276225" y="3816857"/>
            <a:ext cx="4076886" cy="194310"/>
          </a:xfrm>
          <a:prstGeom prst="rect">
            <a:avLst/>
          </a:prstGeom>
          <a:noFill/>
        </p:spPr>
        <p:txBody>
          <a:bodyPr wrap="none" lIns="0" tIns="0" rIns="0" bIns="0">
            <a:spAutoFit/>
          </a:bodyPr>
          <a:lstStyle/>
          <a:p>
            <a:r>
              <a:rPr sz="1150" b="0">
                <a:solidFill>
                  <a:srgbClr val="2E2E2E"/>
                </a:solidFill>
                <a:latin typeface="Calibri"/>
              </a:rPr>
              <a:t>partitions (h-dividers, tube/cell inserts) segment is expected to lose</a:t>
            </a:r>
          </a:p>
        </p:txBody>
      </p:sp>
      <p:pic>
        <p:nvPicPr>
          <p:cNvPr id="33" name="Picture 32" descr="lock.png"/>
          <p:cNvPicPr>
            <a:picLocks noChangeAspect="1"/>
          </p:cNvPicPr>
          <p:nvPr/>
        </p:nvPicPr>
        <p:blipFill>
          <a:blip r:embed="rId4"/>
          <a:stretch>
            <a:fillRect/>
          </a:stretch>
        </p:blipFill>
        <p:spPr>
          <a:xfrm>
            <a:off x="4302264" y="3806634"/>
            <a:ext cx="134549" cy="195707"/>
          </a:xfrm>
          <a:prstGeom prst="rect">
            <a:avLst/>
          </a:prstGeom>
        </p:spPr>
      </p:pic>
      <p:sp>
        <p:nvSpPr>
          <p:cNvPr id="34" name="TextBox 33"/>
          <p:cNvSpPr txBox="1"/>
          <p:nvPr/>
        </p:nvSpPr>
        <p:spPr>
          <a:xfrm>
            <a:off x="4477374" y="381685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7064878" y="3806634"/>
            <a:ext cx="134549" cy="195707"/>
          </a:xfrm>
          <a:prstGeom prst="rect">
            <a:avLst/>
          </a:prstGeom>
        </p:spPr>
      </p:pic>
      <p:sp>
        <p:nvSpPr>
          <p:cNvPr id="36" name="TextBox 35"/>
          <p:cNvSpPr txBox="1"/>
          <p:nvPr/>
        </p:nvSpPr>
        <p:spPr>
          <a:xfrm>
            <a:off x="7239988" y="381685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&amp; Share Shift, By Partition Type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Partition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Composition, By Partition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200400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rot="10800000">
            <a:off x="5090922" y="199924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1923044"/>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Slotted (Interlocking Grid) Partitions</a:t>
            </a:r>
          </a:p>
        </p:txBody>
      </p:sp>
      <p:sp>
        <p:nvSpPr>
          <p:cNvPr id="19" name="BPS Value 1"/>
          <p:cNvSpPr txBox="1"/>
          <p:nvPr/>
        </p:nvSpPr>
        <p:spPr>
          <a:xfrm>
            <a:off x="6896100" y="1984956"/>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0" name="FMI Legend Chip"/>
          <p:cNvSpPr/>
          <p:nvPr/>
        </p:nvSpPr>
        <p:spPr>
          <a:xfrm>
            <a:off x="4928997" y="295729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295253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2876332"/>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Die-Cut &amp; Folded Partitions</a:t>
            </a:r>
          </a:p>
        </p:txBody>
      </p:sp>
      <p:sp>
        <p:nvSpPr>
          <p:cNvPr id="23" name="BPS Value 2"/>
          <p:cNvSpPr txBox="1"/>
          <p:nvPr/>
        </p:nvSpPr>
        <p:spPr>
          <a:xfrm>
            <a:off x="6896100" y="2938244"/>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FMI Legend Chip"/>
          <p:cNvSpPr/>
          <p:nvPr/>
        </p:nvSpPr>
        <p:spPr>
          <a:xfrm>
            <a:off x="4928997" y="491073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a:off x="5090922" y="490597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5233797" y="4829773"/>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Flat Dividers &amp; Layer Pads</a:t>
            </a:r>
          </a:p>
        </p:txBody>
      </p:sp>
      <p:sp>
        <p:nvSpPr>
          <p:cNvPr id="27" name="BPS Value 3"/>
          <p:cNvSpPr txBox="1"/>
          <p:nvPr/>
        </p:nvSpPr>
        <p:spPr>
          <a:xfrm>
            <a:off x="6896100" y="4891685"/>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Global Read-out, By Partition Type</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2" name="TextBox 3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88172" cy="194310"/>
          </a:xfrm>
          <a:prstGeom prst="rect">
            <a:avLst/>
          </a:prstGeom>
          <a:noFill/>
        </p:spPr>
        <p:txBody>
          <a:bodyPr wrap="none" lIns="0" tIns="0" rIns="0" bIns="0">
            <a:spAutoFit/>
          </a:bodyPr>
          <a:lstStyle/>
          <a:p>
            <a:r>
              <a:rPr sz="1150" b="0">
                <a:solidFill>
                  <a:srgbClr val="2E2E2E"/>
                </a:solidFill>
                <a:latin typeface="Calibri"/>
              </a:rPr>
              <a:t>Among corrugated partition by partition type, flat dividers &amp; layer</a:t>
            </a:r>
          </a:p>
        </p:txBody>
      </p:sp>
      <p:sp>
        <p:nvSpPr>
          <p:cNvPr id="35" name="TextBox 34"/>
          <p:cNvSpPr txBox="1"/>
          <p:nvPr/>
        </p:nvSpPr>
        <p:spPr>
          <a:xfrm>
            <a:off x="7829550" y="1575435"/>
            <a:ext cx="3470133" cy="194310"/>
          </a:xfrm>
          <a:prstGeom prst="rect">
            <a:avLst/>
          </a:prstGeom>
          <a:noFill/>
        </p:spPr>
        <p:txBody>
          <a:bodyPr wrap="none" lIns="0" tIns="0" rIns="0" bIns="0">
            <a:spAutoFit/>
          </a:bodyPr>
          <a:lstStyle/>
          <a:p>
            <a:r>
              <a:rPr sz="1150" b="0">
                <a:solidFill>
                  <a:srgbClr val="2E2E2E"/>
                </a:solidFill>
                <a:latin typeface="Calibri"/>
              </a:rPr>
              <a:t>pads segment is expected to witness the highest CAGR of</a:t>
            </a:r>
          </a:p>
        </p:txBody>
      </p:sp>
      <p:pic>
        <p:nvPicPr>
          <p:cNvPr id="36" name="Picture 35" descr="lock.png"/>
          <p:cNvPicPr>
            <a:picLocks noChangeAspect="1"/>
          </p:cNvPicPr>
          <p:nvPr/>
        </p:nvPicPr>
        <p:blipFill>
          <a:blip r:embed="rId5"/>
          <a:stretch>
            <a:fillRect/>
          </a:stretch>
        </p:blipFill>
        <p:spPr>
          <a:xfrm>
            <a:off x="11248837" y="1565211"/>
            <a:ext cx="134549" cy="195707"/>
          </a:xfrm>
          <a:prstGeom prst="rect">
            <a:avLst/>
          </a:prstGeom>
        </p:spPr>
      </p:pic>
      <p:sp>
        <p:nvSpPr>
          <p:cNvPr id="37" name="TextBox 36"/>
          <p:cNvSpPr txBox="1"/>
          <p:nvPr/>
        </p:nvSpPr>
        <p:spPr>
          <a:xfrm>
            <a:off x="11423946" y="1575435"/>
            <a:ext cx="342912" cy="194310"/>
          </a:xfrm>
          <a:prstGeom prst="rect">
            <a:avLst/>
          </a:prstGeom>
          <a:noFill/>
        </p:spPr>
        <p:txBody>
          <a:bodyPr wrap="none" lIns="0" tIns="0" rIns="0" bIns="0">
            <a:spAutoFit/>
          </a:bodyPr>
          <a:lstStyle/>
          <a:p>
            <a:r>
              <a:rPr sz="1150" b="0">
                <a:solidFill>
                  <a:srgbClr val="2E2E2E"/>
                </a:solidFill>
                <a:latin typeface="Calibri"/>
              </a:rPr>
              <a:t>over</a:t>
            </a:r>
          </a:p>
        </p:txBody>
      </p:sp>
      <p:sp>
        <p:nvSpPr>
          <p:cNvPr id="38" name="TextBox 37"/>
          <p:cNvSpPr txBox="1"/>
          <p:nvPr/>
        </p:nvSpPr>
        <p:spPr>
          <a:xfrm>
            <a:off x="7829550" y="1750695"/>
            <a:ext cx="3934259" cy="194310"/>
          </a:xfrm>
          <a:prstGeom prst="rect">
            <a:avLst/>
          </a:prstGeom>
          <a:noFill/>
        </p:spPr>
        <p:txBody>
          <a:bodyPr wrap="none" lIns="0" tIns="0" rIns="0" bIns="0">
            <a:spAutoFit/>
          </a:bodyPr>
          <a:lstStyle/>
          <a:p>
            <a:r>
              <a:rPr sz="1150" b="0">
                <a:solidFill>
                  <a:srgbClr val="2E2E2E"/>
                </a:solidFill>
                <a:latin typeface="Calibri"/>
              </a:rPr>
              <a:t>the forecast period. In terms of value share by partition type, the</a:t>
            </a:r>
          </a:p>
        </p:txBody>
      </p:sp>
      <p:sp>
        <p:nvSpPr>
          <p:cNvPr id="39" name="TextBox 38"/>
          <p:cNvSpPr txBox="1"/>
          <p:nvPr/>
        </p:nvSpPr>
        <p:spPr>
          <a:xfrm>
            <a:off x="7829550" y="1925955"/>
            <a:ext cx="3792773" cy="194310"/>
          </a:xfrm>
          <a:prstGeom prst="rect">
            <a:avLst/>
          </a:prstGeom>
          <a:noFill/>
        </p:spPr>
        <p:txBody>
          <a:bodyPr wrap="none" lIns="0" tIns="0" rIns="0" bIns="0">
            <a:spAutoFit/>
          </a:bodyPr>
          <a:lstStyle/>
          <a:p>
            <a:r>
              <a:rPr sz="1150" b="0">
                <a:solidFill>
                  <a:srgbClr val="2E2E2E"/>
                </a:solidFill>
                <a:latin typeface="Calibri"/>
              </a:rPr>
              <a:t>flat dividers &amp; layer pads segment is expected to dominate the</a:t>
            </a:r>
          </a:p>
        </p:txBody>
      </p:sp>
      <p:sp>
        <p:nvSpPr>
          <p:cNvPr id="40" name="TextBox 39"/>
          <p:cNvSpPr txBox="1"/>
          <p:nvPr/>
        </p:nvSpPr>
        <p:spPr>
          <a:xfrm>
            <a:off x="7829550" y="2101215"/>
            <a:ext cx="999852" cy="194310"/>
          </a:xfrm>
          <a:prstGeom prst="rect">
            <a:avLst/>
          </a:prstGeom>
          <a:noFill/>
        </p:spPr>
        <p:txBody>
          <a:bodyPr wrap="none" lIns="0" tIns="0" rIns="0" bIns="0">
            <a:spAutoFit/>
          </a:bodyPr>
          <a:lstStyle/>
          <a:p>
            <a:r>
              <a:rPr sz="1150" b="0">
                <a:solidFill>
                  <a:srgbClr val="2E2E2E"/>
                </a:solidFill>
                <a:latin typeface="Calibri"/>
              </a:rPr>
              <a:t>market, gaining</a:t>
            </a:r>
          </a:p>
        </p:txBody>
      </p:sp>
      <p:pic>
        <p:nvPicPr>
          <p:cNvPr id="41" name="Picture 40" descr="lock.png"/>
          <p:cNvPicPr>
            <a:picLocks noChangeAspect="1"/>
          </p:cNvPicPr>
          <p:nvPr/>
        </p:nvPicPr>
        <p:blipFill>
          <a:blip r:embed="rId5"/>
          <a:stretch>
            <a:fillRect/>
          </a:stretch>
        </p:blipFill>
        <p:spPr>
          <a:xfrm>
            <a:off x="8778556" y="2090991"/>
            <a:ext cx="134549" cy="195707"/>
          </a:xfrm>
          <a:prstGeom prst="rect">
            <a:avLst/>
          </a:prstGeom>
        </p:spPr>
      </p:pic>
      <p:sp>
        <p:nvSpPr>
          <p:cNvPr id="42" name="TextBox 41"/>
          <p:cNvSpPr txBox="1"/>
          <p:nvPr/>
        </p:nvSpPr>
        <p:spPr>
          <a:xfrm>
            <a:off x="8953665" y="2101215"/>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10348808" y="2090991"/>
            <a:ext cx="134549" cy="195707"/>
          </a:xfrm>
          <a:prstGeom prst="rect">
            <a:avLst/>
          </a:prstGeom>
        </p:spPr>
      </p:pic>
      <p:sp>
        <p:nvSpPr>
          <p:cNvPr id="44" name="TextBox 43"/>
          <p:cNvSpPr txBox="1"/>
          <p:nvPr/>
        </p:nvSpPr>
        <p:spPr>
          <a:xfrm>
            <a:off x="10523917" y="2101215"/>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5" name="TextBox 44"/>
          <p:cNvSpPr txBox="1"/>
          <p:nvPr/>
        </p:nvSpPr>
        <p:spPr>
          <a:xfrm>
            <a:off x="7829550" y="2329053"/>
            <a:ext cx="3644155" cy="194310"/>
          </a:xfrm>
          <a:prstGeom prst="rect">
            <a:avLst/>
          </a:prstGeom>
          <a:noFill/>
        </p:spPr>
        <p:txBody>
          <a:bodyPr wrap="none" lIns="0" tIns="0" rIns="0" bIns="0">
            <a:spAutoFit/>
          </a:bodyPr>
          <a:lstStyle/>
          <a:p>
            <a:r>
              <a:rPr sz="1150" b="0">
                <a:solidFill>
                  <a:srgbClr val="2E2E2E"/>
                </a:solidFill>
                <a:latin typeface="Calibri"/>
              </a:rPr>
              <a:t>The die-cut &amp; folded partitions (h-dividers, tube/cell inserts)</a:t>
            </a:r>
          </a:p>
        </p:txBody>
      </p:sp>
      <p:sp>
        <p:nvSpPr>
          <p:cNvPr id="46" name="TextBox 45"/>
          <p:cNvSpPr txBox="1"/>
          <p:nvPr/>
        </p:nvSpPr>
        <p:spPr>
          <a:xfrm>
            <a:off x="7829550" y="2504313"/>
            <a:ext cx="1725538" cy="194310"/>
          </a:xfrm>
          <a:prstGeom prst="rect">
            <a:avLst/>
          </a:prstGeom>
          <a:noFill/>
        </p:spPr>
        <p:txBody>
          <a:bodyPr wrap="none" lIns="0" tIns="0" rIns="0" bIns="0">
            <a:spAutoFit/>
          </a:bodyPr>
          <a:lstStyle/>
          <a:p>
            <a:r>
              <a:rPr sz="1150" b="0">
                <a:solidFill>
                  <a:srgbClr val="2E2E2E"/>
                </a:solidFill>
                <a:latin typeface="Calibri"/>
              </a:rPr>
              <a:t>segment is expected to lose</a:t>
            </a:r>
          </a:p>
        </p:txBody>
      </p:sp>
      <p:pic>
        <p:nvPicPr>
          <p:cNvPr id="47" name="Picture 46" descr="lock.png"/>
          <p:cNvPicPr>
            <a:picLocks noChangeAspect="1"/>
          </p:cNvPicPr>
          <p:nvPr/>
        </p:nvPicPr>
        <p:blipFill>
          <a:blip r:embed="rId5"/>
          <a:stretch>
            <a:fillRect/>
          </a:stretch>
        </p:blipFill>
        <p:spPr>
          <a:xfrm>
            <a:off x="9504242" y="2494089"/>
            <a:ext cx="134549" cy="195707"/>
          </a:xfrm>
          <a:prstGeom prst="rect">
            <a:avLst/>
          </a:prstGeom>
        </p:spPr>
      </p:pic>
      <p:sp>
        <p:nvSpPr>
          <p:cNvPr id="48" name="TextBox 47"/>
          <p:cNvSpPr txBox="1"/>
          <p:nvPr/>
        </p:nvSpPr>
        <p:spPr>
          <a:xfrm>
            <a:off x="9679351" y="2504313"/>
            <a:ext cx="1926356" cy="194310"/>
          </a:xfrm>
          <a:prstGeom prst="rect">
            <a:avLst/>
          </a:prstGeom>
          <a:noFill/>
        </p:spPr>
        <p:txBody>
          <a:bodyPr wrap="none" lIns="0" tIns="0" rIns="0" bIns="0">
            <a:spAutoFit/>
          </a:bodyPr>
          <a:lstStyle/>
          <a:p>
            <a:r>
              <a:rPr sz="1150" b="0">
                <a:solidFill>
                  <a:srgbClr val="2E2E2E"/>
                </a:solidFill>
                <a:latin typeface="Calibri"/>
              </a:rPr>
              <a:t>BPS over the forecast period to</a:t>
            </a:r>
          </a:p>
        </p:txBody>
      </p:sp>
      <p:sp>
        <p:nvSpPr>
          <p:cNvPr id="49" name="TextBox 48"/>
          <p:cNvSpPr txBox="1"/>
          <p:nvPr/>
        </p:nvSpPr>
        <p:spPr>
          <a:xfrm>
            <a:off x="7829550" y="2679573"/>
            <a:ext cx="755104" cy="194310"/>
          </a:xfrm>
          <a:prstGeom prst="rect">
            <a:avLst/>
          </a:prstGeom>
          <a:noFill/>
        </p:spPr>
        <p:txBody>
          <a:bodyPr wrap="none" lIns="0" tIns="0" rIns="0" bIns="0">
            <a:spAutoFit/>
          </a:bodyPr>
          <a:lstStyle/>
          <a:p>
            <a:r>
              <a:rPr sz="1150" b="0">
                <a:solidFill>
                  <a:srgbClr val="2E2E2E"/>
                </a:solidFill>
                <a:latin typeface="Calibri"/>
              </a:rPr>
              <a:t>account for</a:t>
            </a:r>
          </a:p>
        </p:txBody>
      </p:sp>
      <p:pic>
        <p:nvPicPr>
          <p:cNvPr id="50" name="Picture 49" descr="lock.png"/>
          <p:cNvPicPr>
            <a:picLocks noChangeAspect="1"/>
          </p:cNvPicPr>
          <p:nvPr/>
        </p:nvPicPr>
        <p:blipFill>
          <a:blip r:embed="rId5"/>
          <a:stretch>
            <a:fillRect/>
          </a:stretch>
        </p:blipFill>
        <p:spPr>
          <a:xfrm>
            <a:off x="8533808" y="2669349"/>
            <a:ext cx="134549" cy="195707"/>
          </a:xfrm>
          <a:prstGeom prst="rect">
            <a:avLst/>
          </a:prstGeom>
        </p:spPr>
      </p:pic>
      <p:sp>
        <p:nvSpPr>
          <p:cNvPr id="51" name="TextBox 50"/>
          <p:cNvSpPr txBox="1"/>
          <p:nvPr/>
        </p:nvSpPr>
        <p:spPr>
          <a:xfrm>
            <a:off x="8708917" y="267957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Volume, By Partition Type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Partition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Growth,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extLst>
                    <a:ext uri="{9D8B030D-6E8A-4147-A177-3AD203B41FA5}">
                      <a16:colId xmlns:a16="http://schemas.microsoft.com/office/drawing/2014/main" val="20000"/>
                    </a:ext>
                  </a:extLst>
                </a:gridCol>
                <a:gridCol w="624799">
                  <a:extLst>
                    <a:ext uri="{9D8B030D-6E8A-4147-A177-3AD203B41FA5}">
                      <a16:colId xmlns:a16="http://schemas.microsoft.com/office/drawing/2014/main" val="20001"/>
                    </a:ext>
                  </a:extLst>
                </a:gridCol>
                <a:gridCol w="624799">
                  <a:extLst>
                    <a:ext uri="{9D8B030D-6E8A-4147-A177-3AD203B41FA5}">
                      <a16:colId xmlns:a16="http://schemas.microsoft.com/office/drawing/2014/main" val="20002"/>
                    </a:ext>
                  </a:extLst>
                </a:gridCol>
                <a:gridCol w="624799">
                  <a:extLst>
                    <a:ext uri="{9D8B030D-6E8A-4147-A177-3AD203B41FA5}">
                      <a16:colId xmlns:a16="http://schemas.microsoft.com/office/drawing/2014/main" val="20003"/>
                    </a:ext>
                  </a:extLst>
                </a:gridCol>
                <a:gridCol w="624799">
                  <a:extLst>
                    <a:ext uri="{9D8B030D-6E8A-4147-A177-3AD203B41FA5}">
                      <a16:colId xmlns:a16="http://schemas.microsoft.com/office/drawing/2014/main" val="20004"/>
                    </a:ext>
                  </a:extLst>
                </a:gridCol>
                <a:gridCol w="624799">
                  <a:extLst>
                    <a:ext uri="{9D8B030D-6E8A-4147-A177-3AD203B41FA5}">
                      <a16:colId xmlns:a16="http://schemas.microsoft.com/office/drawing/2014/main" val="20005"/>
                    </a:ext>
                  </a:extLst>
                </a:gridCol>
                <a:gridCol w="624799">
                  <a:extLst>
                    <a:ext uri="{9D8B030D-6E8A-4147-A177-3AD203B41FA5}">
                      <a16:colId xmlns:a16="http://schemas.microsoft.com/office/drawing/2014/main" val="20006"/>
                    </a:ext>
                  </a:extLst>
                </a:gridCol>
                <a:gridCol w="624799">
                  <a:extLst>
                    <a:ext uri="{9D8B030D-6E8A-4147-A177-3AD203B41FA5}">
                      <a16:colId xmlns:a16="http://schemas.microsoft.com/office/drawing/2014/main" val="20007"/>
                    </a:ext>
                  </a:extLst>
                </a:gridCol>
                <a:gridCol w="624799">
                  <a:extLst>
                    <a:ext uri="{9D8B030D-6E8A-4147-A177-3AD203B41FA5}">
                      <a16:colId xmlns:a16="http://schemas.microsoft.com/office/drawing/2014/main" val="20008"/>
                    </a:ext>
                  </a:extLst>
                </a:gridCol>
                <a:gridCol w="624799">
                  <a:extLst>
                    <a:ext uri="{9D8B030D-6E8A-4147-A177-3AD203B41FA5}">
                      <a16:colId xmlns:a16="http://schemas.microsoft.com/office/drawing/2014/main" val="20009"/>
                    </a:ext>
                  </a:extLst>
                </a:gridCol>
                <a:gridCol w="624799">
                  <a:extLst>
                    <a:ext uri="{9D8B030D-6E8A-4147-A177-3AD203B41FA5}">
                      <a16:colId xmlns:a16="http://schemas.microsoft.com/office/drawing/2014/main" val="20010"/>
                    </a:ext>
                  </a:extLst>
                </a:gridCol>
                <a:gridCol w="624799">
                  <a:extLst>
                    <a:ext uri="{9D8B030D-6E8A-4147-A177-3AD203B41FA5}">
                      <a16:colId xmlns:a16="http://schemas.microsoft.com/office/drawing/2014/main" val="20011"/>
                    </a:ext>
                  </a:extLst>
                </a:gridCol>
                <a:gridCol w="624799">
                  <a:extLst>
                    <a:ext uri="{9D8B030D-6E8A-4147-A177-3AD203B41FA5}">
                      <a16:colId xmlns:a16="http://schemas.microsoft.com/office/drawing/2014/main" val="20012"/>
                    </a:ext>
                  </a:extLst>
                </a:gridCol>
                <a:gridCol w="624799">
                  <a:extLst>
                    <a:ext uri="{9D8B030D-6E8A-4147-A177-3AD203B41FA5}">
                      <a16:colId xmlns:a16="http://schemas.microsoft.com/office/drawing/2014/main" val="20013"/>
                    </a:ext>
                  </a:extLst>
                </a:gridCol>
                <a:gridCol w="624799">
                  <a:extLst>
                    <a:ext uri="{9D8B030D-6E8A-4147-A177-3AD203B41FA5}">
                      <a16:colId xmlns:a16="http://schemas.microsoft.com/office/drawing/2014/main" val="20014"/>
                    </a:ext>
                  </a:extLst>
                </a:gridCol>
                <a:gridCol w="62479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Heatmap, By Partition Type (%)  ·  light = lower, dark = higher growth</a:t>
            </a:r>
          </a:p>
        </p:txBody>
      </p:sp>
      <p:sp>
        <p:nvSpPr>
          <p:cNvPr id="17" name="TextBox 16"/>
          <p:cNvSpPr txBox="1"/>
          <p:nvPr/>
        </p:nvSpPr>
        <p:spPr>
          <a:xfrm>
            <a:off x="18573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Slotted (Interlocking Grid) Partitions</a:t>
            </a:r>
          </a:p>
        </p:txBody>
      </p:sp>
      <p:sp>
        <p:nvSpPr>
          <p:cNvPr id="33" name="Rectangle 32"/>
          <p:cNvSpPr/>
          <p:nvPr/>
        </p:nvSpPr>
        <p:spPr>
          <a:xfrm>
            <a:off x="185737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000375"/>
            <a:ext cx="643890" cy="1190625"/>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000375"/>
            <a:ext cx="643890" cy="119062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000375"/>
            <a:ext cx="643890" cy="119062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000375"/>
            <a:ext cx="643890" cy="1190625"/>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000375"/>
            <a:ext cx="643890" cy="1190625"/>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000375"/>
            <a:ext cx="643890" cy="119062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000375"/>
            <a:ext cx="643890" cy="119062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000375"/>
            <a:ext cx="643890" cy="119062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000375"/>
            <a:ext cx="643890" cy="1190625"/>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000375"/>
            <a:ext cx="643890" cy="1190625"/>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191000"/>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Die-Cut &amp; Folded Partitions (H-dividers, tube/cell inserts)</a:t>
            </a:r>
          </a:p>
        </p:txBody>
      </p:sp>
      <p:sp>
        <p:nvSpPr>
          <p:cNvPr id="49" name="Rectangle 48"/>
          <p:cNvSpPr/>
          <p:nvPr/>
        </p:nvSpPr>
        <p:spPr>
          <a:xfrm>
            <a:off x="185737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191000"/>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191000"/>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191000"/>
            <a:ext cx="643890" cy="1190625"/>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191000"/>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191000"/>
            <a:ext cx="643890" cy="1190625"/>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191000"/>
            <a:ext cx="643890" cy="119062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191000"/>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191000"/>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191000"/>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191000"/>
            <a:ext cx="643890" cy="119062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191000"/>
            <a:ext cx="643890" cy="1190625"/>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191000"/>
            <a:ext cx="643890" cy="1190625"/>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538162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Flat Dividers &amp; Layer Pads</a:t>
            </a:r>
          </a:p>
        </p:txBody>
      </p:sp>
      <p:sp>
        <p:nvSpPr>
          <p:cNvPr id="65" name="Rectangle 64"/>
          <p:cNvSpPr/>
          <p:nvPr/>
        </p:nvSpPr>
        <p:spPr>
          <a:xfrm>
            <a:off x="1857375" y="5381625"/>
            <a:ext cx="643890" cy="1190625"/>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5381625"/>
            <a:ext cx="643890" cy="1190625"/>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5381625"/>
            <a:ext cx="643890" cy="1190625"/>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5381625"/>
            <a:ext cx="643890" cy="119062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5381625"/>
            <a:ext cx="643890" cy="1190625"/>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5381625"/>
            <a:ext cx="643890" cy="119062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5381625"/>
            <a:ext cx="643890" cy="1190625"/>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5381625"/>
            <a:ext cx="643890" cy="1190625"/>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538162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5381625"/>
            <a:ext cx="643890" cy="1190625"/>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5381625"/>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5381625"/>
            <a:ext cx="643890" cy="1190625"/>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5381625"/>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5381625"/>
            <a:ext cx="643890" cy="1190625"/>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11687175" y="297180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16692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Value, By Partition Type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Partition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Growth,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extLst>
                    <a:ext uri="{9D8B030D-6E8A-4147-A177-3AD203B41FA5}">
                      <a16:colId xmlns:a16="http://schemas.microsoft.com/office/drawing/2014/main" val="20000"/>
                    </a:ext>
                  </a:extLst>
                </a:gridCol>
                <a:gridCol w="624799">
                  <a:extLst>
                    <a:ext uri="{9D8B030D-6E8A-4147-A177-3AD203B41FA5}">
                      <a16:colId xmlns:a16="http://schemas.microsoft.com/office/drawing/2014/main" val="20001"/>
                    </a:ext>
                  </a:extLst>
                </a:gridCol>
                <a:gridCol w="624799">
                  <a:extLst>
                    <a:ext uri="{9D8B030D-6E8A-4147-A177-3AD203B41FA5}">
                      <a16:colId xmlns:a16="http://schemas.microsoft.com/office/drawing/2014/main" val="20002"/>
                    </a:ext>
                  </a:extLst>
                </a:gridCol>
                <a:gridCol w="624799">
                  <a:extLst>
                    <a:ext uri="{9D8B030D-6E8A-4147-A177-3AD203B41FA5}">
                      <a16:colId xmlns:a16="http://schemas.microsoft.com/office/drawing/2014/main" val="20003"/>
                    </a:ext>
                  </a:extLst>
                </a:gridCol>
                <a:gridCol w="624799">
                  <a:extLst>
                    <a:ext uri="{9D8B030D-6E8A-4147-A177-3AD203B41FA5}">
                      <a16:colId xmlns:a16="http://schemas.microsoft.com/office/drawing/2014/main" val="20004"/>
                    </a:ext>
                  </a:extLst>
                </a:gridCol>
                <a:gridCol w="624799">
                  <a:extLst>
                    <a:ext uri="{9D8B030D-6E8A-4147-A177-3AD203B41FA5}">
                      <a16:colId xmlns:a16="http://schemas.microsoft.com/office/drawing/2014/main" val="20005"/>
                    </a:ext>
                  </a:extLst>
                </a:gridCol>
                <a:gridCol w="624799">
                  <a:extLst>
                    <a:ext uri="{9D8B030D-6E8A-4147-A177-3AD203B41FA5}">
                      <a16:colId xmlns:a16="http://schemas.microsoft.com/office/drawing/2014/main" val="20006"/>
                    </a:ext>
                  </a:extLst>
                </a:gridCol>
                <a:gridCol w="624799">
                  <a:extLst>
                    <a:ext uri="{9D8B030D-6E8A-4147-A177-3AD203B41FA5}">
                      <a16:colId xmlns:a16="http://schemas.microsoft.com/office/drawing/2014/main" val="20007"/>
                    </a:ext>
                  </a:extLst>
                </a:gridCol>
                <a:gridCol w="624799">
                  <a:extLst>
                    <a:ext uri="{9D8B030D-6E8A-4147-A177-3AD203B41FA5}">
                      <a16:colId xmlns:a16="http://schemas.microsoft.com/office/drawing/2014/main" val="20008"/>
                    </a:ext>
                  </a:extLst>
                </a:gridCol>
                <a:gridCol w="624799">
                  <a:extLst>
                    <a:ext uri="{9D8B030D-6E8A-4147-A177-3AD203B41FA5}">
                      <a16:colId xmlns:a16="http://schemas.microsoft.com/office/drawing/2014/main" val="20009"/>
                    </a:ext>
                  </a:extLst>
                </a:gridCol>
                <a:gridCol w="624799">
                  <a:extLst>
                    <a:ext uri="{9D8B030D-6E8A-4147-A177-3AD203B41FA5}">
                      <a16:colId xmlns:a16="http://schemas.microsoft.com/office/drawing/2014/main" val="20010"/>
                    </a:ext>
                  </a:extLst>
                </a:gridCol>
                <a:gridCol w="624799">
                  <a:extLst>
                    <a:ext uri="{9D8B030D-6E8A-4147-A177-3AD203B41FA5}">
                      <a16:colId xmlns:a16="http://schemas.microsoft.com/office/drawing/2014/main" val="20011"/>
                    </a:ext>
                  </a:extLst>
                </a:gridCol>
                <a:gridCol w="624799">
                  <a:extLst>
                    <a:ext uri="{9D8B030D-6E8A-4147-A177-3AD203B41FA5}">
                      <a16:colId xmlns:a16="http://schemas.microsoft.com/office/drawing/2014/main" val="20012"/>
                    </a:ext>
                  </a:extLst>
                </a:gridCol>
                <a:gridCol w="624799">
                  <a:extLst>
                    <a:ext uri="{9D8B030D-6E8A-4147-A177-3AD203B41FA5}">
                      <a16:colId xmlns:a16="http://schemas.microsoft.com/office/drawing/2014/main" val="20013"/>
                    </a:ext>
                  </a:extLst>
                </a:gridCol>
                <a:gridCol w="624799">
                  <a:extLst>
                    <a:ext uri="{9D8B030D-6E8A-4147-A177-3AD203B41FA5}">
                      <a16:colId xmlns:a16="http://schemas.microsoft.com/office/drawing/2014/main" val="20014"/>
                    </a:ext>
                  </a:extLst>
                </a:gridCol>
                <a:gridCol w="62479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Heatmap, By Partition Type (%)  ·  light = lower, dark = higher growth</a:t>
            </a:r>
          </a:p>
        </p:txBody>
      </p:sp>
      <p:sp>
        <p:nvSpPr>
          <p:cNvPr id="17" name="TextBox 16"/>
          <p:cNvSpPr txBox="1"/>
          <p:nvPr/>
        </p:nvSpPr>
        <p:spPr>
          <a:xfrm>
            <a:off x="18573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Slotted (Interlocking Grid) Partitions</a:t>
            </a:r>
          </a:p>
        </p:txBody>
      </p:sp>
      <p:sp>
        <p:nvSpPr>
          <p:cNvPr id="33" name="Rectangle 32"/>
          <p:cNvSpPr/>
          <p:nvPr/>
        </p:nvSpPr>
        <p:spPr>
          <a:xfrm>
            <a:off x="185737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000375"/>
            <a:ext cx="643890" cy="1190625"/>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000375"/>
            <a:ext cx="643890" cy="1190625"/>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000375"/>
            <a:ext cx="643890" cy="119062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000375"/>
            <a:ext cx="643890" cy="119062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000375"/>
            <a:ext cx="643890" cy="1190625"/>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000375"/>
            <a:ext cx="643890" cy="119062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000375"/>
            <a:ext cx="643890" cy="1190625"/>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000375"/>
            <a:ext cx="643890" cy="119062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000375"/>
            <a:ext cx="643890" cy="119062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000375"/>
            <a:ext cx="643890" cy="1190625"/>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000375"/>
            <a:ext cx="643890" cy="1190625"/>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191000"/>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Die-Cut &amp; Folded Partitions (H-dividers, tube/cell inserts)</a:t>
            </a:r>
          </a:p>
        </p:txBody>
      </p:sp>
      <p:sp>
        <p:nvSpPr>
          <p:cNvPr id="49" name="Rectangle 48"/>
          <p:cNvSpPr/>
          <p:nvPr/>
        </p:nvSpPr>
        <p:spPr>
          <a:xfrm>
            <a:off x="185737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191000"/>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191000"/>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191000"/>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191000"/>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191000"/>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191000"/>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191000"/>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191000"/>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191000"/>
            <a:ext cx="643890" cy="1190625"/>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191000"/>
            <a:ext cx="643890" cy="119062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191000"/>
            <a:ext cx="643890" cy="119062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191000"/>
            <a:ext cx="643890" cy="1190625"/>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538162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Flat Dividers &amp; Layer Pads</a:t>
            </a:r>
          </a:p>
        </p:txBody>
      </p:sp>
      <p:sp>
        <p:nvSpPr>
          <p:cNvPr id="65" name="Rectangle 64"/>
          <p:cNvSpPr/>
          <p:nvPr/>
        </p:nvSpPr>
        <p:spPr>
          <a:xfrm>
            <a:off x="1857375" y="5381625"/>
            <a:ext cx="643890" cy="119062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5381625"/>
            <a:ext cx="643890" cy="1190625"/>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5381625"/>
            <a:ext cx="643890" cy="119062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5381625"/>
            <a:ext cx="643890" cy="119062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5381625"/>
            <a:ext cx="643890" cy="1190625"/>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5381625"/>
            <a:ext cx="643890" cy="119062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538162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5381625"/>
            <a:ext cx="643890" cy="119062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5381625"/>
            <a:ext cx="643890" cy="119062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538162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5381625"/>
            <a:ext cx="643890" cy="119062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5381625"/>
            <a:ext cx="643890" cy="119062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5381625"/>
            <a:ext cx="643890" cy="119062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5381625"/>
            <a:ext cx="643890" cy="1190625"/>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11687175" y="2971800"/>
            <a:ext cx="276225" cy="133350"/>
          </a:xfrm>
          <a:prstGeom prst="rect">
            <a:avLst/>
          </a:prstGeom>
          <a:noFill/>
        </p:spPr>
        <p:txBody>
          <a:bodyPr wrap="none" lIns="0" tIns="0" rIns="0" bIns="0" anchor="ctr">
            <a:spAutoFit/>
          </a:bodyPr>
          <a:lstStyle/>
          <a:p>
            <a:pPr algn="l"/>
            <a:r>
              <a:rPr sz="1100" b="0">
                <a:solidFill>
                  <a:srgbClr val="6C7A89"/>
                </a:solidFill>
                <a:latin typeface="Calibri"/>
              </a:rPr>
              <a:t>6%</a:t>
            </a:r>
          </a:p>
        </p:txBody>
      </p:sp>
      <p:sp>
        <p:nvSpPr>
          <p:cNvPr id="122" name="TextBox 121"/>
          <p:cNvSpPr txBox="1"/>
          <p:nvPr/>
        </p:nvSpPr>
        <p:spPr>
          <a:xfrm>
            <a:off x="11687175" y="4719638"/>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166923" y="1589913"/>
            <a:ext cx="366712" cy="533400"/>
          </a:xfrm>
          <a:prstGeom prst="rect">
            <a:avLst/>
          </a:prstGeom>
        </p:spPr>
      </p:pic>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Board Construction</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Board Construction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Board Construction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3 sub-segments of Board Construction,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Board Construction segment categorizes the market by board construction.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Double Wall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527685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Triple Wall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86487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Single Wall</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Board Construction split shows how demand is distributed across board construction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TextBox 53"/>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7" name="Picture 56" descr="1_312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_160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5_1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305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201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5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583_1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827_3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3_6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96256" cy="186689"/>
          </a:xfrm>
          <a:prstGeom prst="rect">
            <a:avLst/>
          </a:prstGeom>
          <a:noFill/>
        </p:spPr>
        <p:txBody>
          <a:bodyPr wrap="none" lIns="0" tIns="0" rIns="0" bIns="0">
            <a:spAutoFit/>
          </a:bodyPr>
          <a:lstStyle/>
          <a:p>
            <a:r>
              <a:rPr sz="1100" b="0">
                <a:solidFill>
                  <a:srgbClr val="2E2E2E"/>
                </a:solidFill>
                <a:latin typeface="Calibri"/>
              </a:rPr>
              <a:t>▪ ¶ Among corrugated partition by board</a:t>
            </a:r>
          </a:p>
        </p:txBody>
      </p:sp>
      <p:sp>
        <p:nvSpPr>
          <p:cNvPr id="70" name="TextBox 69"/>
          <p:cNvSpPr txBox="1"/>
          <p:nvPr/>
        </p:nvSpPr>
        <p:spPr>
          <a:xfrm>
            <a:off x="485775" y="4397077"/>
            <a:ext cx="2771700" cy="186689"/>
          </a:xfrm>
          <a:prstGeom prst="rect">
            <a:avLst/>
          </a:prstGeom>
          <a:noFill/>
        </p:spPr>
        <p:txBody>
          <a:bodyPr wrap="none" lIns="0" tIns="0" rIns="0" bIns="0">
            <a:spAutoFit/>
          </a:bodyPr>
          <a:lstStyle/>
          <a:p>
            <a:r>
              <a:rPr sz="1100" b="0">
                <a:solidFill>
                  <a:srgbClr val="2E2E2E"/>
                </a:solidFill>
                <a:latin typeface="Calibri"/>
              </a:rPr>
              <a:t>construction, triple wall segment is expected to</a:t>
            </a:r>
          </a:p>
        </p:txBody>
      </p:sp>
      <p:sp>
        <p:nvSpPr>
          <p:cNvPr id="71" name="TextBox 70"/>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72" name="Picture 71" descr="lock.png"/>
          <p:cNvPicPr>
            <a:picLocks noChangeAspect="1"/>
          </p:cNvPicPr>
          <p:nvPr/>
        </p:nvPicPr>
        <p:blipFill>
          <a:blip r:embed="rId13"/>
          <a:stretch>
            <a:fillRect/>
          </a:stretch>
        </p:blipFill>
        <p:spPr>
          <a:xfrm>
            <a:off x="2108919" y="4554938"/>
            <a:ext cx="128699" cy="187198"/>
          </a:xfrm>
          <a:prstGeom prst="rect">
            <a:avLst/>
          </a:prstGeom>
        </p:spPr>
      </p:pic>
      <p:sp>
        <p:nvSpPr>
          <p:cNvPr id="73" name="TextBox 72"/>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74" name="TextBox 73"/>
          <p:cNvSpPr txBox="1"/>
          <p:nvPr/>
        </p:nvSpPr>
        <p:spPr>
          <a:xfrm>
            <a:off x="485775" y="4732357"/>
            <a:ext cx="2351509" cy="186689"/>
          </a:xfrm>
          <a:prstGeom prst="rect">
            <a:avLst/>
          </a:prstGeom>
          <a:noFill/>
        </p:spPr>
        <p:txBody>
          <a:bodyPr wrap="none" lIns="0" tIns="0" rIns="0" bIns="0">
            <a:spAutoFit/>
          </a:bodyPr>
          <a:lstStyle/>
          <a:p>
            <a:r>
              <a:rPr sz="1100" b="0">
                <a:solidFill>
                  <a:srgbClr val="2E2E2E"/>
                </a:solidFill>
                <a:latin typeface="Calibri"/>
              </a:rPr>
              <a:t>period. In terms of value share by board</a:t>
            </a:r>
          </a:p>
        </p:txBody>
      </p:sp>
      <p:sp>
        <p:nvSpPr>
          <p:cNvPr id="75" name="TextBox 74"/>
          <p:cNvSpPr txBox="1"/>
          <p:nvPr/>
        </p:nvSpPr>
        <p:spPr>
          <a:xfrm>
            <a:off x="485775" y="4899997"/>
            <a:ext cx="2841004" cy="186689"/>
          </a:xfrm>
          <a:prstGeom prst="rect">
            <a:avLst/>
          </a:prstGeom>
          <a:noFill/>
        </p:spPr>
        <p:txBody>
          <a:bodyPr wrap="none" lIns="0" tIns="0" rIns="0" bIns="0">
            <a:spAutoFit/>
          </a:bodyPr>
          <a:lstStyle/>
          <a:p>
            <a:r>
              <a:rPr sz="1100" b="0">
                <a:solidFill>
                  <a:srgbClr val="2E2E2E"/>
                </a:solidFill>
                <a:latin typeface="Calibri"/>
              </a:rPr>
              <a:t>construction, the triple wall segment is expected</a:t>
            </a:r>
          </a:p>
        </p:txBody>
      </p:sp>
      <p:sp>
        <p:nvSpPr>
          <p:cNvPr id="76" name="TextBox 75"/>
          <p:cNvSpPr txBox="1"/>
          <p:nvPr/>
        </p:nvSpPr>
        <p:spPr>
          <a:xfrm>
            <a:off x="485775" y="5067637"/>
            <a:ext cx="1912763" cy="186689"/>
          </a:xfrm>
          <a:prstGeom prst="rect">
            <a:avLst/>
          </a:prstGeom>
          <a:noFill/>
        </p:spPr>
        <p:txBody>
          <a:bodyPr wrap="none" lIns="0" tIns="0" rIns="0" bIns="0">
            <a:spAutoFit/>
          </a:bodyPr>
          <a:lstStyle/>
          <a:p>
            <a:r>
              <a:rPr sz="1100" b="0">
                <a:solidFill>
                  <a:srgbClr val="2E2E2E"/>
                </a:solidFill>
                <a:latin typeface="Calibri"/>
              </a:rPr>
              <a:t>to dominate the market, gaining</a:t>
            </a:r>
          </a:p>
        </p:txBody>
      </p:sp>
      <p:pic>
        <p:nvPicPr>
          <p:cNvPr id="77" name="Picture 76" descr="lock.png"/>
          <p:cNvPicPr>
            <a:picLocks noChangeAspect="1"/>
          </p:cNvPicPr>
          <p:nvPr/>
        </p:nvPicPr>
        <p:blipFill>
          <a:blip r:embed="rId13"/>
          <a:stretch>
            <a:fillRect/>
          </a:stretch>
        </p:blipFill>
        <p:spPr>
          <a:xfrm>
            <a:off x="2346590" y="5057858"/>
            <a:ext cx="128699" cy="187198"/>
          </a:xfrm>
          <a:prstGeom prst="rect">
            <a:avLst/>
          </a:prstGeom>
        </p:spPr>
      </p:pic>
      <p:sp>
        <p:nvSpPr>
          <p:cNvPr id="78" name="TextBox 77"/>
          <p:cNvSpPr txBox="1"/>
          <p:nvPr/>
        </p:nvSpPr>
        <p:spPr>
          <a:xfrm>
            <a:off x="2514086" y="5067637"/>
            <a:ext cx="534044" cy="186689"/>
          </a:xfrm>
          <a:prstGeom prst="rect">
            <a:avLst/>
          </a:prstGeom>
          <a:noFill/>
        </p:spPr>
        <p:txBody>
          <a:bodyPr wrap="none" lIns="0" tIns="0" r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tIns="0" r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82" name="TextBox 81"/>
          <p:cNvSpPr txBox="1"/>
          <p:nvPr/>
        </p:nvSpPr>
        <p:spPr>
          <a:xfrm>
            <a:off x="485775" y="5453209"/>
            <a:ext cx="2699394" cy="186689"/>
          </a:xfrm>
          <a:prstGeom prst="rect">
            <a:avLst/>
          </a:prstGeom>
          <a:noFill/>
        </p:spPr>
        <p:txBody>
          <a:bodyPr wrap="none" lIns="0" tIns="0" rIns="0" bIns="0">
            <a:spAutoFit/>
          </a:bodyPr>
          <a:lstStyle/>
          <a:p>
            <a:r>
              <a:rPr sz="1100" b="0">
                <a:solidFill>
                  <a:srgbClr val="2E2E2E"/>
                </a:solidFill>
                <a:latin typeface="Calibri"/>
              </a:rPr>
              <a:t>▪ ¶ Triple wall segment is projected to register</a:t>
            </a:r>
          </a:p>
        </p:txBody>
      </p:sp>
      <p:pic>
        <p:nvPicPr>
          <p:cNvPr id="83" name="Picture 82" descr="lock.png"/>
          <p:cNvPicPr>
            <a:picLocks noChangeAspect="1"/>
          </p:cNvPicPr>
          <p:nvPr/>
        </p:nvPicPr>
        <p:blipFill>
          <a:blip r:embed="rId13"/>
          <a:stretch>
            <a:fillRect/>
          </a:stretch>
        </p:blipFill>
        <p:spPr>
          <a:xfrm>
            <a:off x="472307" y="5611070"/>
            <a:ext cx="128699" cy="187198"/>
          </a:xfrm>
          <a:prstGeom prst="rect">
            <a:avLst/>
          </a:prstGeom>
        </p:spPr>
      </p:pic>
      <p:sp>
        <p:nvSpPr>
          <p:cNvPr id="84" name="TextBox 83"/>
          <p:cNvSpPr txBox="1"/>
          <p:nvPr/>
        </p:nvSpPr>
        <p:spPr>
          <a:xfrm>
            <a:off x="639803" y="5620849"/>
            <a:ext cx="2522859" cy="186689"/>
          </a:xfrm>
          <a:prstGeom prst="rect">
            <a:avLst/>
          </a:prstGeom>
          <a:noFill/>
        </p:spPr>
        <p:txBody>
          <a:bodyPr wrap="none" lIns="0" tIns="0" rIns="0" bIns="0">
            <a:spAutoFit/>
          </a:bodyPr>
          <a:lstStyle/>
          <a:p>
            <a:r>
              <a:rPr sz="1100" b="0">
                <a:solidFill>
                  <a:srgbClr val="2E2E2E"/>
                </a:solidFill>
                <a:latin typeface="Calibri"/>
              </a:rPr>
              <a:t>X higher value than double wall segment in</a:t>
            </a:r>
          </a:p>
        </p:txBody>
      </p:sp>
      <p:sp>
        <p:nvSpPr>
          <p:cNvPr id="85" name="TextBox 84"/>
          <p:cNvSpPr txBox="1"/>
          <p:nvPr/>
        </p:nvSpPr>
        <p:spPr>
          <a:xfrm>
            <a:off x="485775" y="5788489"/>
            <a:ext cx="395163" cy="186689"/>
          </a:xfrm>
          <a:prstGeom prst="rect">
            <a:avLst/>
          </a:prstGeom>
          <a:noFill/>
        </p:spPr>
        <p:txBody>
          <a:bodyPr wrap="none" lIns="0" tIns="0" rIns="0" bIns="0">
            <a:spAutoFit/>
          </a:bodyPr>
          <a:lstStyle/>
          <a:p>
            <a:r>
              <a:rPr sz="1100" b="0">
                <a:solidFill>
                  <a:srgbClr val="2E2E2E"/>
                </a:solidFill>
                <a:latin typeface="Calibri"/>
              </a:rPr>
              <a:t>2036.</a:t>
            </a:r>
          </a:p>
        </p:txBody>
      </p:sp>
      <p:sp>
        <p:nvSpPr>
          <p:cNvPr id="86" name="TextBox 85"/>
          <p:cNvSpPr txBox="1"/>
          <p:nvPr/>
        </p:nvSpPr>
        <p:spPr>
          <a:xfrm>
            <a:off x="3838575" y="4229437"/>
            <a:ext cx="925041" cy="186689"/>
          </a:xfrm>
          <a:prstGeom prst="rect">
            <a:avLst/>
          </a:prstGeom>
          <a:noFill/>
        </p:spPr>
        <p:txBody>
          <a:bodyPr wrap="none" lIns="0" tIns="0" rIns="0" bIns="0">
            <a:spAutoFit/>
          </a:bodyPr>
          <a:lstStyle/>
          <a:p>
            <a:r>
              <a:rPr sz="1100" b="0">
                <a:solidFill>
                  <a:srgbClr val="2E2E2E"/>
                </a:solidFill>
                <a:latin typeface="Calibri"/>
              </a:rPr>
              <a:t>● Double Wall:</a:t>
            </a:r>
          </a:p>
        </p:txBody>
      </p:sp>
      <p:pic>
        <p:nvPicPr>
          <p:cNvPr id="87" name="Picture 86" descr="lock.png"/>
          <p:cNvPicPr>
            <a:picLocks noChangeAspect="1"/>
          </p:cNvPicPr>
          <p:nvPr/>
        </p:nvPicPr>
        <p:blipFill>
          <a:blip r:embed="rId13"/>
          <a:stretch>
            <a:fillRect/>
          </a:stretch>
        </p:blipFill>
        <p:spPr>
          <a:xfrm>
            <a:off x="4711667" y="4219658"/>
            <a:ext cx="128699" cy="187198"/>
          </a:xfrm>
          <a:prstGeom prst="rect">
            <a:avLst/>
          </a:prstGeom>
        </p:spPr>
      </p:pic>
      <p:sp>
        <p:nvSpPr>
          <p:cNvPr id="88" name="TextBox 87"/>
          <p:cNvSpPr txBox="1"/>
          <p:nvPr/>
        </p:nvSpPr>
        <p:spPr>
          <a:xfrm>
            <a:off x="4879163"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5738613" y="4219658"/>
            <a:ext cx="128699" cy="187198"/>
          </a:xfrm>
          <a:prstGeom prst="rect">
            <a:avLst/>
          </a:prstGeom>
        </p:spPr>
      </p:pic>
      <p:sp>
        <p:nvSpPr>
          <p:cNvPr id="90" name="TextBox 89"/>
          <p:cNvSpPr txBox="1"/>
          <p:nvPr/>
        </p:nvSpPr>
        <p:spPr>
          <a:xfrm>
            <a:off x="5906109" y="4229437"/>
            <a:ext cx="1503469" cy="186689"/>
          </a:xfrm>
          <a:prstGeom prst="rect">
            <a:avLst/>
          </a:prstGeom>
          <a:noFill/>
        </p:spPr>
        <p:txBody>
          <a:bodyPr wrap="none" lIns="0" tIns="0" r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841275" cy="186689"/>
          </a:xfrm>
          <a:prstGeom prst="rect">
            <a:avLst/>
          </a:prstGeom>
          <a:noFill/>
        </p:spPr>
        <p:txBody>
          <a:bodyPr wrap="none" lIns="0" tIns="0" rIns="0" bIns="0">
            <a:spAutoFit/>
          </a:bodyPr>
          <a:lstStyle/>
          <a:p>
            <a:r>
              <a:rPr sz="1100" b="0">
                <a:solidFill>
                  <a:srgbClr val="2E2E2E"/>
                </a:solidFill>
                <a:latin typeface="Calibri"/>
              </a:rPr>
              <a:t>● Triple Wall:</a:t>
            </a:r>
          </a:p>
        </p:txBody>
      </p:sp>
      <p:pic>
        <p:nvPicPr>
          <p:cNvPr id="92" name="Picture 91" descr="lock.png"/>
          <p:cNvPicPr>
            <a:picLocks noChangeAspect="1"/>
          </p:cNvPicPr>
          <p:nvPr/>
        </p:nvPicPr>
        <p:blipFill>
          <a:blip r:embed="rId13"/>
          <a:stretch>
            <a:fillRect/>
          </a:stretch>
        </p:blipFill>
        <p:spPr>
          <a:xfrm>
            <a:off x="4627902" y="4437590"/>
            <a:ext cx="128699" cy="187198"/>
          </a:xfrm>
          <a:prstGeom prst="rect">
            <a:avLst/>
          </a:prstGeom>
        </p:spPr>
      </p:pic>
      <p:sp>
        <p:nvSpPr>
          <p:cNvPr id="93" name="TextBox 92"/>
          <p:cNvSpPr txBox="1"/>
          <p:nvPr/>
        </p:nvSpPr>
        <p:spPr>
          <a:xfrm>
            <a:off x="4795398"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654848" y="4437590"/>
            <a:ext cx="128699" cy="187198"/>
          </a:xfrm>
          <a:prstGeom prst="rect">
            <a:avLst/>
          </a:prstGeom>
        </p:spPr>
      </p:pic>
      <p:sp>
        <p:nvSpPr>
          <p:cNvPr id="95" name="TextBox 94"/>
          <p:cNvSpPr txBox="1"/>
          <p:nvPr/>
        </p:nvSpPr>
        <p:spPr>
          <a:xfrm>
            <a:off x="5822344" y="4447369"/>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96" name="TextBox 95"/>
          <p:cNvSpPr txBox="1"/>
          <p:nvPr/>
        </p:nvSpPr>
        <p:spPr>
          <a:xfrm>
            <a:off x="3838575" y="4665301"/>
            <a:ext cx="854099" cy="186689"/>
          </a:xfrm>
          <a:prstGeom prst="rect">
            <a:avLst/>
          </a:prstGeom>
          <a:noFill/>
        </p:spPr>
        <p:txBody>
          <a:bodyPr wrap="none" lIns="0" tIns="0" rIns="0" bIns="0">
            <a:spAutoFit/>
          </a:bodyPr>
          <a:lstStyle/>
          <a:p>
            <a:r>
              <a:rPr sz="1100" b="0">
                <a:solidFill>
                  <a:srgbClr val="2E2E2E"/>
                </a:solidFill>
                <a:latin typeface="Calibri"/>
              </a:rPr>
              <a:t>● Single Wall:</a:t>
            </a:r>
          </a:p>
        </p:txBody>
      </p:sp>
      <p:pic>
        <p:nvPicPr>
          <p:cNvPr id="97" name="Picture 96" descr="lock.png"/>
          <p:cNvPicPr>
            <a:picLocks noChangeAspect="1"/>
          </p:cNvPicPr>
          <p:nvPr/>
        </p:nvPicPr>
        <p:blipFill>
          <a:blip r:embed="rId13"/>
          <a:stretch>
            <a:fillRect/>
          </a:stretch>
        </p:blipFill>
        <p:spPr>
          <a:xfrm>
            <a:off x="4640726" y="4655522"/>
            <a:ext cx="128699" cy="187198"/>
          </a:xfrm>
          <a:prstGeom prst="rect">
            <a:avLst/>
          </a:prstGeom>
        </p:spPr>
      </p:pic>
      <p:sp>
        <p:nvSpPr>
          <p:cNvPr id="98" name="TextBox 97"/>
          <p:cNvSpPr txBox="1"/>
          <p:nvPr/>
        </p:nvSpPr>
        <p:spPr>
          <a:xfrm>
            <a:off x="4808222" y="466530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5667672" y="4655522"/>
            <a:ext cx="128699" cy="187198"/>
          </a:xfrm>
          <a:prstGeom prst="rect">
            <a:avLst/>
          </a:prstGeom>
        </p:spPr>
      </p:pic>
      <p:sp>
        <p:nvSpPr>
          <p:cNvPr id="100" name="TextBox 99"/>
          <p:cNvSpPr txBox="1"/>
          <p:nvPr/>
        </p:nvSpPr>
        <p:spPr>
          <a:xfrm>
            <a:off x="5835168" y="4665301"/>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101" name="TextBox 100"/>
          <p:cNvSpPr txBox="1"/>
          <p:nvPr/>
        </p:nvSpPr>
        <p:spPr>
          <a:xfrm>
            <a:off x="8524875" y="5842641"/>
            <a:ext cx="2970100" cy="194310"/>
          </a:xfrm>
          <a:prstGeom prst="rect">
            <a:avLst/>
          </a:prstGeom>
          <a:noFill/>
        </p:spPr>
        <p:txBody>
          <a:bodyPr wrap="none" lIns="0" tIns="0" rIns="0" bIns="0">
            <a:spAutoFit/>
          </a:bodyPr>
          <a:lstStyle/>
          <a:p>
            <a:r>
              <a:rPr sz="1150" b="1">
                <a:solidFill>
                  <a:srgbClr val="0B2E4A"/>
                </a:solidFill>
                <a:latin typeface="Calibri"/>
              </a:rPr>
              <a:t>The Board Construction segment is projected to</a:t>
            </a:r>
          </a:p>
        </p:txBody>
      </p:sp>
      <p:sp>
        <p:nvSpPr>
          <p:cNvPr id="102" name="TextBox 101"/>
          <p:cNvSpPr txBox="1"/>
          <p:nvPr/>
        </p:nvSpPr>
        <p:spPr>
          <a:xfrm>
            <a:off x="8524875" y="6017901"/>
            <a:ext cx="1177823" cy="194310"/>
          </a:xfrm>
          <a:prstGeom prst="rect">
            <a:avLst/>
          </a:prstGeom>
          <a:noFill/>
        </p:spPr>
        <p:txBody>
          <a:bodyPr wrap="none" lIns="0" tIns="0" rIns="0" bIns="0">
            <a:spAutoFit/>
          </a:bodyPr>
          <a:lstStyle/>
          <a:p>
            <a:r>
              <a:rPr sz="1150" b="1">
                <a:solidFill>
                  <a:srgbClr val="0B2E4A"/>
                </a:solidFill>
                <a:latin typeface="Calibri"/>
              </a:rPr>
              <a:t>grow at a CAGR of</a:t>
            </a:r>
          </a:p>
        </p:txBody>
      </p:sp>
      <p:pic>
        <p:nvPicPr>
          <p:cNvPr id="103" name="Picture 102" descr="lock.png"/>
          <p:cNvPicPr>
            <a:picLocks noChangeAspect="1"/>
          </p:cNvPicPr>
          <p:nvPr/>
        </p:nvPicPr>
        <p:blipFill>
          <a:blip r:embed="rId13"/>
          <a:stretch>
            <a:fillRect/>
          </a:stretch>
        </p:blipFill>
        <p:spPr>
          <a:xfrm>
            <a:off x="9651852" y="6007677"/>
            <a:ext cx="134549" cy="195707"/>
          </a:xfrm>
          <a:prstGeom prst="rect">
            <a:avLst/>
          </a:prstGeom>
        </p:spPr>
      </p:pic>
      <p:sp>
        <p:nvSpPr>
          <p:cNvPr id="104" name="TextBox 103"/>
          <p:cNvSpPr txBox="1"/>
          <p:nvPr/>
        </p:nvSpPr>
        <p:spPr>
          <a:xfrm>
            <a:off x="9826962"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Structure &amp; Attractiveness, By Board Construction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Board Construction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Board Construction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Board Construction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13455" cy="186689"/>
          </a:xfrm>
          <a:prstGeom prst="rect">
            <a:avLst/>
          </a:prstGeom>
          <a:noFill/>
        </p:spPr>
        <p:txBody>
          <a:bodyPr wrap="none" lIns="0" tIns="0" rIns="0" bIns="0">
            <a:spAutoFit/>
          </a:bodyPr>
          <a:lstStyle/>
          <a:p>
            <a:r>
              <a:rPr sz="1100" b="0">
                <a:solidFill>
                  <a:srgbClr val="2E2E2E"/>
                </a:solidFill>
                <a:latin typeface="Calibri"/>
              </a:rPr>
              <a:t>Triple wall followed by double wall are expected to be the two most attractive board construction segments in the global corrugated partition market in terms of value over the forecast period. Triple wall</a:t>
            </a:r>
          </a:p>
        </p:txBody>
      </p:sp>
      <p:sp>
        <p:nvSpPr>
          <p:cNvPr id="21" name="TextBox 20"/>
          <p:cNvSpPr txBox="1"/>
          <p:nvPr/>
        </p:nvSpPr>
        <p:spPr>
          <a:xfrm>
            <a:off x="257175" y="5945505"/>
            <a:ext cx="2337849" cy="186689"/>
          </a:xfrm>
          <a:prstGeom prst="rect">
            <a:avLst/>
          </a:prstGeom>
          <a:noFill/>
        </p:spPr>
        <p:txBody>
          <a:bodyPr wrap="none" lIns="0" tIns="0" rIns="0" bIns="0">
            <a:spAutoFit/>
          </a:bodyPr>
          <a:lstStyle/>
          <a:p>
            <a:r>
              <a:rPr sz="1100" b="0">
                <a:solidFill>
                  <a:srgbClr val="2E2E2E"/>
                </a:solidFill>
                <a:latin typeface="Calibri"/>
              </a:rPr>
              <a:t>and double wall exhibit a CAGR index of</a:t>
            </a:r>
          </a:p>
        </p:txBody>
      </p:sp>
      <p:pic>
        <p:nvPicPr>
          <p:cNvPr id="22" name="Picture 21" descr="lock.png"/>
          <p:cNvPicPr>
            <a:picLocks noChangeAspect="1"/>
          </p:cNvPicPr>
          <p:nvPr/>
        </p:nvPicPr>
        <p:blipFill>
          <a:blip r:embed="rId6"/>
          <a:stretch>
            <a:fillRect/>
          </a:stretch>
        </p:blipFill>
        <p:spPr>
          <a:xfrm>
            <a:off x="2543076" y="5935726"/>
            <a:ext cx="128699" cy="187198"/>
          </a:xfrm>
          <a:prstGeom prst="rect">
            <a:avLst/>
          </a:prstGeom>
        </p:spPr>
      </p:pic>
      <p:sp>
        <p:nvSpPr>
          <p:cNvPr id="23" name="TextBox 22"/>
          <p:cNvSpPr txBox="1"/>
          <p:nvPr/>
        </p:nvSpPr>
        <p:spPr>
          <a:xfrm>
            <a:off x="2710571"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2948466" y="5935726"/>
            <a:ext cx="128699" cy="187198"/>
          </a:xfrm>
          <a:prstGeom prst="rect">
            <a:avLst/>
          </a:prstGeom>
        </p:spPr>
      </p:pic>
      <p:sp>
        <p:nvSpPr>
          <p:cNvPr id="25" name="TextBox 24"/>
          <p:cNvSpPr txBox="1"/>
          <p:nvPr/>
        </p:nvSpPr>
        <p:spPr>
          <a:xfrm>
            <a:off x="3115962"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4724935" y="5935726"/>
            <a:ext cx="128699" cy="187198"/>
          </a:xfrm>
          <a:prstGeom prst="rect">
            <a:avLst/>
          </a:prstGeom>
        </p:spPr>
      </p:pic>
      <p:sp>
        <p:nvSpPr>
          <p:cNvPr id="27" name="TextBox 26"/>
          <p:cNvSpPr txBox="1"/>
          <p:nvPr/>
        </p:nvSpPr>
        <p:spPr>
          <a:xfrm>
            <a:off x="4892431"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130325" y="5935726"/>
            <a:ext cx="128699" cy="187198"/>
          </a:xfrm>
          <a:prstGeom prst="rect">
            <a:avLst/>
          </a:prstGeom>
        </p:spPr>
      </p:pic>
      <p:sp>
        <p:nvSpPr>
          <p:cNvPr id="29" name="TextBox 28"/>
          <p:cNvSpPr txBox="1"/>
          <p:nvPr/>
        </p:nvSpPr>
        <p:spPr>
          <a:xfrm>
            <a:off x="5297821" y="594550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7852225" y="5935726"/>
            <a:ext cx="128699" cy="187198"/>
          </a:xfrm>
          <a:prstGeom prst="rect">
            <a:avLst/>
          </a:prstGeom>
        </p:spPr>
      </p:pic>
      <p:sp>
        <p:nvSpPr>
          <p:cNvPr id="31" name="TextBox 30"/>
          <p:cNvSpPr txBox="1"/>
          <p:nvPr/>
        </p:nvSpPr>
        <p:spPr>
          <a:xfrm>
            <a:off x="8019721" y="5945505"/>
            <a:ext cx="3320132" cy="186689"/>
          </a:xfrm>
          <a:prstGeom prst="rect">
            <a:avLst/>
          </a:prstGeom>
          <a:noFill/>
        </p:spPr>
        <p:txBody>
          <a:bodyPr wrap="none" lIns="0" tIns="0" rIns="0" bIns="0">
            <a:spAutoFit/>
          </a:bodyPr>
          <a:lstStyle/>
          <a:p>
            <a:r>
              <a:rPr sz="1100" b="0">
                <a:solidFill>
                  <a:srgbClr val="2E2E2E"/>
                </a:solidFill>
                <a:latin typeface="Calibri"/>
              </a:rPr>
              <a:t>. The single wall segment is expected to be less attractive</a:t>
            </a:r>
          </a:p>
        </p:txBody>
      </p:sp>
      <p:sp>
        <p:nvSpPr>
          <p:cNvPr id="32" name="TextBox 31"/>
          <p:cNvSpPr txBox="1"/>
          <p:nvPr/>
        </p:nvSpPr>
        <p:spPr>
          <a:xfrm>
            <a:off x="257175" y="6113145"/>
            <a:ext cx="10759395" cy="186689"/>
          </a:xfrm>
          <a:prstGeom prst="rect">
            <a:avLst/>
          </a:prstGeom>
          <a:noFill/>
        </p:spPr>
        <p:txBody>
          <a:bodyPr wrap="none" lIns="0" tIns="0" rIns="0" bIns="0">
            <a:spAutoFit/>
          </a:bodyPr>
          <a:lstStyle/>
          <a:p>
            <a:r>
              <a:rPr sz="1100" b="0">
                <a:solidFill>
                  <a:srgbClr val="2E2E2E"/>
                </a:solidFill>
                <a:latin typeface="Calibri"/>
              </a:rPr>
              <a:t>as compared to other segments over the forecast period, owing to its lower CAGR 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Analysis, By Board Construction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Board Construction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Single Wall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Double Wall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Triple Wall</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305550" y="3952875"/>
            <a:ext cx="5610225" cy="209550"/>
          </a:xfrm>
          <a:prstGeom prst="rect">
            <a:avLst/>
          </a:prstGeom>
          <a:noFill/>
        </p:spPr>
        <p:txBody>
          <a:bodyPr wrap="square" lIns="0" tIns="9525" rIns="19050" bIns="9525">
            <a:spAutoFit/>
          </a:bodyPr>
          <a:lstStyle/>
          <a:p>
            <a:pPr algn="l"/>
            <a:r>
              <a:rPr sz="1300" b="1">
                <a:solidFill>
                  <a:srgbClr val="0B2E4A"/>
                </a:solidFill>
                <a:latin typeface="Calibri"/>
              </a:rPr>
              <a:t>Summary of Global Absolute $ Opportunity Analysis, By Board Construction</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05550" y="4276725"/>
            <a:ext cx="5610225" cy="22669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4" name="TextBox 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4092837" cy="194310"/>
          </a:xfrm>
          <a:prstGeom prst="rect">
            <a:avLst/>
          </a:prstGeom>
          <a:noFill/>
        </p:spPr>
        <p:txBody>
          <a:bodyPr wrap="none" lIns="0" tIns="0" rIns="0" bIns="0">
            <a:spAutoFit/>
          </a:bodyPr>
          <a:lstStyle/>
          <a:p>
            <a:r>
              <a:rPr sz="1150" b="0">
                <a:solidFill>
                  <a:srgbClr val="2E2E2E"/>
                </a:solidFill>
                <a:latin typeface="Calibri"/>
              </a:rPr>
              <a:t>By 2036, triple wall segment is anticipated to witness an increase of</a:t>
            </a:r>
          </a:p>
        </p:txBody>
      </p:sp>
      <p:pic>
        <p:nvPicPr>
          <p:cNvPr id="29" name="Picture 28" descr="lock.png"/>
          <p:cNvPicPr>
            <a:picLocks noChangeAspect="1"/>
          </p:cNvPicPr>
          <p:nvPr/>
        </p:nvPicPr>
        <p:blipFill>
          <a:blip r:embed="rId7"/>
          <a:stretch>
            <a:fillRect/>
          </a:stretch>
        </p:blipFill>
        <p:spPr>
          <a:xfrm>
            <a:off x="10347541" y="4276026"/>
            <a:ext cx="134549" cy="195707"/>
          </a:xfrm>
          <a:prstGeom prst="rect">
            <a:avLst/>
          </a:prstGeom>
        </p:spPr>
      </p:pic>
      <p:sp>
        <p:nvSpPr>
          <p:cNvPr id="30" name="TextBox 29"/>
          <p:cNvSpPr txBox="1"/>
          <p:nvPr/>
        </p:nvSpPr>
        <p:spPr>
          <a:xfrm>
            <a:off x="10522651" y="4286250"/>
            <a:ext cx="1341871" cy="194310"/>
          </a:xfrm>
          <a:prstGeom prst="rect">
            <a:avLst/>
          </a:prstGeom>
          <a:noFill/>
        </p:spPr>
        <p:txBody>
          <a:bodyPr wrap="none" lIns="0" tIns="0" rIns="0" bIns="0">
            <a:spAutoFit/>
          </a:bodyPr>
          <a:lstStyle/>
          <a:p>
            <a:r>
              <a:rPr sz="1150" b="0">
                <a:solidFill>
                  <a:srgbClr val="2E2E2E"/>
                </a:solidFill>
                <a:latin typeface="Calibri"/>
              </a:rPr>
              <a:t>X in terms of value as</a:t>
            </a:r>
          </a:p>
        </p:txBody>
      </p:sp>
      <p:sp>
        <p:nvSpPr>
          <p:cNvPr id="31" name="TextBox 30"/>
          <p:cNvSpPr txBox="1"/>
          <p:nvPr/>
        </p:nvSpPr>
        <p:spPr>
          <a:xfrm>
            <a:off x="6305550" y="4461510"/>
            <a:ext cx="5573328" cy="194310"/>
          </a:xfrm>
          <a:prstGeom prst="rect">
            <a:avLst/>
          </a:prstGeom>
          <a:noFill/>
        </p:spPr>
        <p:txBody>
          <a:bodyPr wrap="none" lIns="0" tIns="0" rIns="0" bIns="0">
            <a:spAutoFit/>
          </a:bodyPr>
          <a:lstStyle/>
          <a:p>
            <a:r>
              <a:rPr sz="1150" b="0">
                <a:solidFill>
                  <a:srgbClr val="2E2E2E"/>
                </a:solidFill>
                <a:latin typeface="Calibri"/>
              </a:rPr>
              <a:t>compared to 2026. The triple wall segment is expected to create an incremental opportunity</a:t>
            </a:r>
          </a:p>
        </p:txBody>
      </p:sp>
      <p:sp>
        <p:nvSpPr>
          <p:cNvPr id="32" name="TextBox 31"/>
          <p:cNvSpPr txBox="1"/>
          <p:nvPr/>
        </p:nvSpPr>
        <p:spPr>
          <a:xfrm>
            <a:off x="6305550" y="4636770"/>
            <a:ext cx="465856" cy="194310"/>
          </a:xfrm>
          <a:prstGeom prst="rect">
            <a:avLst/>
          </a:prstGeom>
          <a:noFill/>
        </p:spPr>
        <p:txBody>
          <a:bodyPr wrap="none" lIns="0" tIns="0" rIns="0" bIns="0">
            <a:spAutoFit/>
          </a:bodyPr>
          <a:lstStyle/>
          <a:p>
            <a:r>
              <a:rPr sz="1150" b="0">
                <a:solidFill>
                  <a:srgbClr val="2E2E2E"/>
                </a:solidFill>
                <a:latin typeface="Calibri"/>
              </a:rPr>
              <a:t>of US$</a:t>
            </a:r>
          </a:p>
        </p:txBody>
      </p:sp>
      <p:pic>
        <p:nvPicPr>
          <p:cNvPr id="33" name="Picture 32" descr="lock.png"/>
          <p:cNvPicPr>
            <a:picLocks noChangeAspect="1"/>
          </p:cNvPicPr>
          <p:nvPr/>
        </p:nvPicPr>
        <p:blipFill>
          <a:blip r:embed="rId7"/>
          <a:stretch>
            <a:fillRect/>
          </a:stretch>
        </p:blipFill>
        <p:spPr>
          <a:xfrm>
            <a:off x="6720560" y="4626546"/>
            <a:ext cx="134549" cy="195707"/>
          </a:xfrm>
          <a:prstGeom prst="rect">
            <a:avLst/>
          </a:prstGeom>
        </p:spPr>
      </p:pic>
      <p:sp>
        <p:nvSpPr>
          <p:cNvPr id="34" name="TextBox 33"/>
          <p:cNvSpPr txBox="1"/>
          <p:nvPr/>
        </p:nvSpPr>
        <p:spPr>
          <a:xfrm>
            <a:off x="6895670" y="4636770"/>
            <a:ext cx="4026966"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2026 to 2036.</a:t>
            </a:r>
          </a:p>
        </p:txBody>
      </p:sp>
      <p:sp>
        <p:nvSpPr>
          <p:cNvPr id="35" name="TextBox 34"/>
          <p:cNvSpPr txBox="1"/>
          <p:nvPr/>
        </p:nvSpPr>
        <p:spPr>
          <a:xfrm>
            <a:off x="6305550" y="4864607"/>
            <a:ext cx="4931221" cy="194310"/>
          </a:xfrm>
          <a:prstGeom prst="rect">
            <a:avLst/>
          </a:prstGeom>
          <a:noFill/>
        </p:spPr>
        <p:txBody>
          <a:bodyPr wrap="none" lIns="0" tIns="0" rIns="0" bIns="0">
            <a:spAutoFit/>
          </a:bodyPr>
          <a:lstStyle/>
          <a:p>
            <a:r>
              <a:rPr sz="1150" b="0">
                <a:solidFill>
                  <a:srgbClr val="2E2E2E"/>
                </a:solidFill>
                <a:latin typeface="Calibri"/>
              </a:rPr>
              <a:t>The double wall segment is expected to create an incremental opportunity of US$</a:t>
            </a:r>
          </a:p>
        </p:txBody>
      </p:sp>
      <p:pic>
        <p:nvPicPr>
          <p:cNvPr id="36" name="Picture 35" descr="lock.png"/>
          <p:cNvPicPr>
            <a:picLocks noChangeAspect="1"/>
          </p:cNvPicPr>
          <p:nvPr/>
        </p:nvPicPr>
        <p:blipFill>
          <a:blip r:embed="rId7"/>
          <a:stretch>
            <a:fillRect/>
          </a:stretch>
        </p:blipFill>
        <p:spPr>
          <a:xfrm>
            <a:off x="11185925" y="4854384"/>
            <a:ext cx="134549" cy="195707"/>
          </a:xfrm>
          <a:prstGeom prst="rect">
            <a:avLst/>
          </a:prstGeom>
        </p:spPr>
      </p:pic>
      <p:sp>
        <p:nvSpPr>
          <p:cNvPr id="37" name="TextBox 36"/>
          <p:cNvSpPr txBox="1"/>
          <p:nvPr/>
        </p:nvSpPr>
        <p:spPr>
          <a:xfrm>
            <a:off x="11361034" y="4864607"/>
            <a:ext cx="483542" cy="194310"/>
          </a:xfrm>
          <a:prstGeom prst="rect">
            <a:avLst/>
          </a:prstGeom>
          <a:noFill/>
        </p:spPr>
        <p:txBody>
          <a:bodyPr wrap="none" lIns="0" tIns="0" rIns="0" bIns="0">
            <a:spAutoFit/>
          </a:bodyPr>
          <a:lstStyle/>
          <a:p>
            <a:r>
              <a:rPr sz="1150" b="0">
                <a:solidFill>
                  <a:srgbClr val="2E2E2E"/>
                </a:solidFill>
                <a:latin typeface="Calibri"/>
              </a:rPr>
              <a:t>Mn for</a:t>
            </a:r>
          </a:p>
        </p:txBody>
      </p:sp>
      <p:sp>
        <p:nvSpPr>
          <p:cNvPr id="38" name="TextBox 37"/>
          <p:cNvSpPr txBox="1"/>
          <p:nvPr/>
        </p:nvSpPr>
        <p:spPr>
          <a:xfrm>
            <a:off x="6305550" y="5039867"/>
            <a:ext cx="5161421" cy="194310"/>
          </a:xfrm>
          <a:prstGeom prst="rect">
            <a:avLst/>
          </a:prstGeom>
          <a:noFill/>
        </p:spPr>
        <p:txBody>
          <a:bodyPr wrap="none" lIns="0" tIns="0" rIns="0" bIns="0">
            <a:spAutoFit/>
          </a:bodyPr>
          <a:lstStyle/>
          <a:p>
            <a:r>
              <a:rPr sz="1150" b="0">
                <a:solidFill>
                  <a:srgbClr val="2E2E2E"/>
                </a:solidFill>
                <a:latin typeface="Calibri"/>
              </a:rPr>
              <a:t>the overall corrugated partition market from 2026 to 2036. The single wall segment is</a:t>
            </a:r>
          </a:p>
        </p:txBody>
      </p:sp>
      <p:sp>
        <p:nvSpPr>
          <p:cNvPr id="39" name="TextBox 38"/>
          <p:cNvSpPr txBox="1"/>
          <p:nvPr/>
        </p:nvSpPr>
        <p:spPr>
          <a:xfrm>
            <a:off x="6305550" y="5215127"/>
            <a:ext cx="3285306" cy="194310"/>
          </a:xfrm>
          <a:prstGeom prst="rect">
            <a:avLst/>
          </a:prstGeom>
          <a:noFill/>
        </p:spPr>
        <p:txBody>
          <a:bodyPr wrap="none" lIns="0" tIns="0" rIns="0" bIns="0">
            <a:spAutoFit/>
          </a:bodyPr>
          <a:lstStyle/>
          <a:p>
            <a:r>
              <a:rPr sz="1150" b="0">
                <a:solidFill>
                  <a:srgbClr val="2E2E2E"/>
                </a:solidFill>
                <a:latin typeface="Calibri"/>
              </a:rPr>
              <a:t>expected to create an incremental opportunity of US$</a:t>
            </a:r>
          </a:p>
        </p:txBody>
      </p:sp>
      <p:pic>
        <p:nvPicPr>
          <p:cNvPr id="40" name="Picture 39" descr="lock.png"/>
          <p:cNvPicPr>
            <a:picLocks noChangeAspect="1"/>
          </p:cNvPicPr>
          <p:nvPr/>
        </p:nvPicPr>
        <p:blipFill>
          <a:blip r:embed="rId7"/>
          <a:stretch>
            <a:fillRect/>
          </a:stretch>
        </p:blipFill>
        <p:spPr>
          <a:xfrm>
            <a:off x="9540010" y="5204904"/>
            <a:ext cx="134549" cy="195707"/>
          </a:xfrm>
          <a:prstGeom prst="rect">
            <a:avLst/>
          </a:prstGeom>
        </p:spPr>
      </p:pic>
      <p:sp>
        <p:nvSpPr>
          <p:cNvPr id="41" name="TextBox 40"/>
          <p:cNvSpPr txBox="1"/>
          <p:nvPr/>
        </p:nvSpPr>
        <p:spPr>
          <a:xfrm>
            <a:off x="9715119" y="5215127"/>
            <a:ext cx="1840210" cy="194310"/>
          </a:xfrm>
          <a:prstGeom prst="rect">
            <a:avLst/>
          </a:prstGeom>
          <a:noFill/>
        </p:spPr>
        <p:txBody>
          <a:bodyPr wrap="none" lIns="0" tIns="0" rIns="0" bIns="0">
            <a:spAutoFit/>
          </a:bodyPr>
          <a:lstStyle/>
          <a:p>
            <a:r>
              <a:rPr sz="1150" b="0">
                <a:solidFill>
                  <a:srgbClr val="2E2E2E"/>
                </a:solidFill>
                <a:latin typeface="Calibri"/>
              </a:rPr>
              <a:t>Mn for the overall corrugated</a:t>
            </a:r>
          </a:p>
        </p:txBody>
      </p:sp>
      <p:sp>
        <p:nvSpPr>
          <p:cNvPr id="42" name="TextBox 41"/>
          <p:cNvSpPr txBox="1"/>
          <p:nvPr/>
        </p:nvSpPr>
        <p:spPr>
          <a:xfrm>
            <a:off x="6305550" y="5390387"/>
            <a:ext cx="2229866" cy="194310"/>
          </a:xfrm>
          <a:prstGeom prst="rect">
            <a:avLst/>
          </a:prstGeom>
          <a:noFill/>
        </p:spPr>
        <p:txBody>
          <a:bodyPr wrap="none" lIns="0" tIns="0" rIns="0" bIns="0">
            <a:spAutoFit/>
          </a:bodyPr>
          <a:lstStyle/>
          <a:p>
            <a:r>
              <a:rPr sz="1150" b="0">
                <a:solidFill>
                  <a:srgbClr val="2E2E2E"/>
                </a:solidFill>
                <a:latin typeface="Calibri"/>
              </a:rPr>
              <a:t>partition market from 2026 to 2036.</a:t>
            </a:r>
          </a:p>
        </p:txBody>
      </p:sp>
      <p:sp>
        <p:nvSpPr>
          <p:cNvPr id="43"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Volume Analysis, By Board Construction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Board Construction,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By Board Construction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962355">
                  <a:extLst>
                    <a:ext uri="{9D8B030D-6E8A-4147-A177-3AD203B41FA5}">
                      <a16:colId xmlns:a16="http://schemas.microsoft.com/office/drawing/2014/main" val="20000"/>
                    </a:ext>
                  </a:extLst>
                </a:gridCol>
                <a:gridCol w="655320">
                  <a:extLst>
                    <a:ext uri="{9D8B030D-6E8A-4147-A177-3AD203B41FA5}">
                      <a16:colId xmlns:a16="http://schemas.microsoft.com/office/drawing/2014/main" val="20001"/>
                    </a:ext>
                  </a:extLst>
                </a:gridCol>
                <a:gridCol w="655320">
                  <a:extLst>
                    <a:ext uri="{9D8B030D-6E8A-4147-A177-3AD203B41FA5}">
                      <a16:colId xmlns:a16="http://schemas.microsoft.com/office/drawing/2014/main" val="20002"/>
                    </a:ext>
                  </a:extLst>
                </a:gridCol>
                <a:gridCol w="655320">
                  <a:extLst>
                    <a:ext uri="{9D8B030D-6E8A-4147-A177-3AD203B41FA5}">
                      <a16:colId xmlns:a16="http://schemas.microsoft.com/office/drawing/2014/main" val="20003"/>
                    </a:ext>
                  </a:extLst>
                </a:gridCol>
                <a:gridCol w="655320">
                  <a:extLst>
                    <a:ext uri="{9D8B030D-6E8A-4147-A177-3AD203B41FA5}">
                      <a16:colId xmlns:a16="http://schemas.microsoft.com/office/drawing/2014/main" val="20004"/>
                    </a:ext>
                  </a:extLst>
                </a:gridCol>
                <a:gridCol w="655320">
                  <a:extLst>
                    <a:ext uri="{9D8B030D-6E8A-4147-A177-3AD203B41FA5}">
                      <a16:colId xmlns:a16="http://schemas.microsoft.com/office/drawing/2014/main" val="20005"/>
                    </a:ext>
                  </a:extLst>
                </a:gridCol>
                <a:gridCol w="655320">
                  <a:extLst>
                    <a:ext uri="{9D8B030D-6E8A-4147-A177-3AD203B41FA5}">
                      <a16:colId xmlns:a16="http://schemas.microsoft.com/office/drawing/2014/main" val="20006"/>
                    </a:ext>
                  </a:extLst>
                </a:gridCol>
                <a:gridCol w="655320">
                  <a:extLst>
                    <a:ext uri="{9D8B030D-6E8A-4147-A177-3AD203B41FA5}">
                      <a16:colId xmlns:a16="http://schemas.microsoft.com/office/drawing/2014/main" val="20007"/>
                    </a:ext>
                  </a:extLst>
                </a:gridCol>
                <a:gridCol w="655320">
                  <a:extLst>
                    <a:ext uri="{9D8B030D-6E8A-4147-A177-3AD203B41FA5}">
                      <a16:colId xmlns:a16="http://schemas.microsoft.com/office/drawing/2014/main" val="20008"/>
                    </a:ext>
                  </a:extLst>
                </a:gridCol>
                <a:gridCol w="655320">
                  <a:extLst>
                    <a:ext uri="{9D8B030D-6E8A-4147-A177-3AD203B41FA5}">
                      <a16:colId xmlns:a16="http://schemas.microsoft.com/office/drawing/2014/main" val="20009"/>
                    </a:ext>
                  </a:extLst>
                </a:gridCol>
                <a:gridCol w="655320">
                  <a:extLst>
                    <a:ext uri="{9D8B030D-6E8A-4147-A177-3AD203B41FA5}">
                      <a16:colId xmlns:a16="http://schemas.microsoft.com/office/drawing/2014/main" val="20010"/>
                    </a:ext>
                  </a:extLst>
                </a:gridCol>
                <a:gridCol w="655320">
                  <a:extLst>
                    <a:ext uri="{9D8B030D-6E8A-4147-A177-3AD203B41FA5}">
                      <a16:colId xmlns:a16="http://schemas.microsoft.com/office/drawing/2014/main" val="20011"/>
                    </a:ext>
                  </a:extLst>
                </a:gridCol>
                <a:gridCol w="655320">
                  <a:extLst>
                    <a:ext uri="{9D8B030D-6E8A-4147-A177-3AD203B41FA5}">
                      <a16:colId xmlns:a16="http://schemas.microsoft.com/office/drawing/2014/main" val="20012"/>
                    </a:ext>
                  </a:extLst>
                </a:gridCol>
                <a:gridCol w="655320">
                  <a:extLst>
                    <a:ext uri="{9D8B030D-6E8A-4147-A177-3AD203B41FA5}">
                      <a16:colId xmlns:a16="http://schemas.microsoft.com/office/drawing/2014/main" val="20013"/>
                    </a:ext>
                  </a:extLst>
                </a:gridCol>
                <a:gridCol w="655320">
                  <a:extLst>
                    <a:ext uri="{9D8B030D-6E8A-4147-A177-3AD203B41FA5}">
                      <a16:colId xmlns:a16="http://schemas.microsoft.com/office/drawing/2014/main" val="20014"/>
                    </a:ext>
                  </a:extLst>
                </a:gridCol>
                <a:gridCol w="655320">
                  <a:extLst>
                    <a:ext uri="{9D8B030D-6E8A-4147-A177-3AD203B41FA5}">
                      <a16:colId xmlns:a16="http://schemas.microsoft.com/office/drawing/2014/main" val="20015"/>
                    </a:ext>
                  </a:extLst>
                </a:gridCol>
                <a:gridCol w="655320">
                  <a:extLst>
                    <a:ext uri="{9D8B030D-6E8A-4147-A177-3AD203B41FA5}">
                      <a16:colId xmlns:a16="http://schemas.microsoft.com/office/drawing/2014/main" val="20016"/>
                    </a:ext>
                  </a:extLst>
                </a:gridCol>
                <a:gridCol w="439725">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a:lstStyle/>
                    <a:p>
                      <a:pPr algn="ctr"/>
                      <a:r>
                        <a:rPr sz="1100" b="1">
                          <a:solidFill>
                            <a:srgbClr val="0B2E4A"/>
                          </a:solidFill>
                          <a:latin typeface="Calibri"/>
                        </a:rPr>
                        <a:t>F-CAGR</a:t>
                      </a:r>
                      <a:endParaRPr sz="1100"/>
                    </a:p>
                  </a:txBody>
                  <a:tcPr marL="28575" marR="19050" marT="19050" marB="19050" anchor="ctr">
                    <a:solidFill>
                      <a:srgbClr val="E0E8EF"/>
                    </a:solidFill>
                  </a:tcPr>
                </a:tc>
                <a:extLst>
                  <a:ext uri="{0D108BD9-81ED-4DB2-BD59-A6C34878D82A}">
                    <a16:rowId xmlns:a16="http://schemas.microsoft.com/office/drawing/2014/main" val="10000"/>
                  </a:ext>
                </a:extLst>
              </a:tr>
              <a:tr h="247460">
                <a:tc>
                  <a:txBody>
                    <a:bodyPr/>
                    <a:lstStyle/>
                    <a:p>
                      <a:pPr algn="l"/>
                      <a:r>
                        <a:rPr sz="1100" b="1">
                          <a:solidFill>
                            <a:srgbClr val="2E2E2E"/>
                          </a:solidFill>
                          <a:latin typeface="Calibri"/>
                        </a:rPr>
                        <a:t>Single Wall</a:t>
                      </a:r>
                      <a:endParaRPr sz="1100"/>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extLst>
                  <a:ext uri="{0D108BD9-81ED-4DB2-BD59-A6C34878D82A}">
                    <a16:rowId xmlns:a16="http://schemas.microsoft.com/office/drawing/2014/main" val="10001"/>
                  </a:ext>
                </a:extLst>
              </a:tr>
              <a:tr h="247460">
                <a:tc>
                  <a:txBody>
                    <a:bodyPr/>
                    <a:lstStyle/>
                    <a:p>
                      <a:pPr algn="l"/>
                      <a:r>
                        <a:rPr sz="1100" b="1">
                          <a:solidFill>
                            <a:srgbClr val="2E2E2E"/>
                          </a:solidFill>
                          <a:latin typeface="Calibri"/>
                        </a:rPr>
                        <a:t>Double Wall</a:t>
                      </a:r>
                      <a:endParaRPr sz="1100"/>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extLst>
                  <a:ext uri="{0D108BD9-81ED-4DB2-BD59-A6C34878D82A}">
                    <a16:rowId xmlns:a16="http://schemas.microsoft.com/office/drawing/2014/main" val="10002"/>
                  </a:ext>
                </a:extLst>
              </a:tr>
              <a:tr h="247460">
                <a:tc>
                  <a:txBody>
                    <a:bodyPr/>
                    <a:lstStyle/>
                    <a:p>
                      <a:pPr algn="l"/>
                      <a:r>
                        <a:rPr sz="1100" b="1">
                          <a:solidFill>
                            <a:srgbClr val="2E2E2E"/>
                          </a:solidFill>
                          <a:latin typeface="Calibri"/>
                        </a:rPr>
                        <a:t>Triple Wall</a:t>
                      </a:r>
                      <a:endParaRPr sz="1100"/>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extLst>
                  <a:ext uri="{0D108BD9-81ED-4DB2-BD59-A6C34878D82A}">
                    <a16:rowId xmlns:a16="http://schemas.microsoft.com/office/drawing/2014/main" val="10003"/>
                  </a:ext>
                </a:extLst>
              </a:tr>
              <a:tr h="247460">
                <a:tc>
                  <a:txBody>
                    <a:bodyPr/>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6765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09562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Volume Analysis, By Board Construction</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419475"/>
            <a:ext cx="11639550" cy="31337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0487" y="1905381"/>
            <a:ext cx="366712" cy="533400"/>
          </a:xfrm>
          <a:prstGeom prst="rect">
            <a:avLst/>
          </a:prstGeom>
        </p:spPr>
      </p:pic>
      <p:sp>
        <p:nvSpPr>
          <p:cNvPr id="21" name="TextBox 20"/>
          <p:cNvSpPr txBox="1"/>
          <p:nvPr/>
        </p:nvSpPr>
        <p:spPr>
          <a:xfrm>
            <a:off x="276225" y="3429000"/>
            <a:ext cx="2615245" cy="194310"/>
          </a:xfrm>
          <a:prstGeom prst="rect">
            <a:avLst/>
          </a:prstGeom>
          <a:noFill/>
        </p:spPr>
        <p:txBody>
          <a:bodyPr wrap="none" lIns="0" tIns="0" rIns="0" bIns="0">
            <a:spAutoFit/>
          </a:bodyPr>
          <a:lstStyle/>
          <a:p>
            <a:r>
              <a:rPr sz="1150" b="0">
                <a:solidFill>
                  <a:srgbClr val="2E2E2E"/>
                </a:solidFill>
                <a:latin typeface="Calibri"/>
              </a:rPr>
              <a:t>Triple wall segment is projected to register</a:t>
            </a:r>
          </a:p>
        </p:txBody>
      </p:sp>
      <p:pic>
        <p:nvPicPr>
          <p:cNvPr id="22" name="Picture 21" descr="lock.png"/>
          <p:cNvPicPr>
            <a:picLocks noChangeAspect="1"/>
          </p:cNvPicPr>
          <p:nvPr/>
        </p:nvPicPr>
        <p:blipFill>
          <a:blip r:embed="rId4"/>
          <a:stretch>
            <a:fillRect/>
          </a:stretch>
        </p:blipFill>
        <p:spPr>
          <a:xfrm>
            <a:off x="2840623" y="3418776"/>
            <a:ext cx="134549" cy="195707"/>
          </a:xfrm>
          <a:prstGeom prst="rect">
            <a:avLst/>
          </a:prstGeom>
        </p:spPr>
      </p:pic>
      <p:sp>
        <p:nvSpPr>
          <p:cNvPr id="23" name="TextBox 22"/>
          <p:cNvSpPr txBox="1"/>
          <p:nvPr/>
        </p:nvSpPr>
        <p:spPr>
          <a:xfrm>
            <a:off x="3015733" y="3429000"/>
            <a:ext cx="8714544" cy="194310"/>
          </a:xfrm>
          <a:prstGeom prst="rect">
            <a:avLst/>
          </a:prstGeom>
          <a:noFill/>
        </p:spPr>
        <p:txBody>
          <a:bodyPr wrap="none" lIns="0" tIns="0" rIns="0" bIns="0">
            <a:spAutoFit/>
          </a:bodyPr>
          <a:lstStyle/>
          <a:p>
            <a:r>
              <a:rPr sz="1150" b="0">
                <a:solidFill>
                  <a:srgbClr val="2E2E2E"/>
                </a:solidFill>
                <a:latin typeface="Calibri"/>
              </a:rPr>
              <a:t>X higher volume than double wall segment in 2036. Among corrugated partition by board construction, triple wall segment is expected to witness</a:t>
            </a:r>
          </a:p>
        </p:txBody>
      </p:sp>
      <p:sp>
        <p:nvSpPr>
          <p:cNvPr id="24" name="TextBox 23"/>
          <p:cNvSpPr txBox="1"/>
          <p:nvPr/>
        </p:nvSpPr>
        <p:spPr>
          <a:xfrm>
            <a:off x="276225" y="3604260"/>
            <a:ext cx="1263979" cy="194310"/>
          </a:xfrm>
          <a:prstGeom prst="rect">
            <a:avLst/>
          </a:prstGeom>
          <a:noFill/>
        </p:spPr>
        <p:txBody>
          <a:bodyPr wrap="none" lIns="0" tIns="0" r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594036"/>
            <a:ext cx="134549" cy="195707"/>
          </a:xfrm>
          <a:prstGeom prst="rect">
            <a:avLst/>
          </a:prstGeom>
        </p:spPr>
      </p:pic>
      <p:sp>
        <p:nvSpPr>
          <p:cNvPr id="26" name="TextBox 25"/>
          <p:cNvSpPr txBox="1"/>
          <p:nvPr/>
        </p:nvSpPr>
        <p:spPr>
          <a:xfrm>
            <a:off x="1664467" y="360426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832097"/>
            <a:ext cx="6997600" cy="194310"/>
          </a:xfrm>
          <a:prstGeom prst="rect">
            <a:avLst/>
          </a:prstGeom>
          <a:noFill/>
        </p:spPr>
        <p:txBody>
          <a:bodyPr wrap="none" lIns="0" tIns="0" rIns="0" bIns="0">
            <a:spAutoFit/>
          </a:bodyPr>
          <a:lstStyle/>
          <a:p>
            <a:r>
              <a:rPr sz="1150" b="0">
                <a:solidFill>
                  <a:srgbClr val="2E2E2E"/>
                </a:solidFill>
                <a:latin typeface="Calibri"/>
              </a:rPr>
              <a:t>In terms of volume share by board construction, the triple wall segment is expected to dominate the market, gaining</a:t>
            </a:r>
          </a:p>
        </p:txBody>
      </p:sp>
      <p:pic>
        <p:nvPicPr>
          <p:cNvPr id="28" name="Picture 27" descr="lock.png"/>
          <p:cNvPicPr>
            <a:picLocks noChangeAspect="1"/>
          </p:cNvPicPr>
          <p:nvPr/>
        </p:nvPicPr>
        <p:blipFill>
          <a:blip r:embed="rId4"/>
          <a:stretch>
            <a:fillRect/>
          </a:stretch>
        </p:blipFill>
        <p:spPr>
          <a:xfrm>
            <a:off x="7222979" y="3821874"/>
            <a:ext cx="134549" cy="195707"/>
          </a:xfrm>
          <a:prstGeom prst="rect">
            <a:avLst/>
          </a:prstGeom>
        </p:spPr>
      </p:pic>
      <p:sp>
        <p:nvSpPr>
          <p:cNvPr id="29" name="TextBox 28"/>
          <p:cNvSpPr txBox="1"/>
          <p:nvPr/>
        </p:nvSpPr>
        <p:spPr>
          <a:xfrm>
            <a:off x="7398088" y="383209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793232" y="3821874"/>
            <a:ext cx="134549" cy="195707"/>
          </a:xfrm>
          <a:prstGeom prst="rect">
            <a:avLst/>
          </a:prstGeom>
        </p:spPr>
      </p:pic>
      <p:sp>
        <p:nvSpPr>
          <p:cNvPr id="31" name="TextBox 30"/>
          <p:cNvSpPr txBox="1"/>
          <p:nvPr/>
        </p:nvSpPr>
        <p:spPr>
          <a:xfrm>
            <a:off x="8968341" y="3832097"/>
            <a:ext cx="2521111" cy="194310"/>
          </a:xfrm>
          <a:prstGeom prst="rect">
            <a:avLst/>
          </a:prstGeom>
          <a:noFill/>
        </p:spPr>
        <p:txBody>
          <a:bodyPr wrap="none" lIns="0" tIns="0" rIns="0" bIns="0">
            <a:spAutoFit/>
          </a:bodyPr>
          <a:lstStyle/>
          <a:p>
            <a:r>
              <a:rPr sz="1150" b="0">
                <a:solidFill>
                  <a:srgbClr val="2E2E2E"/>
                </a:solidFill>
                <a:latin typeface="Calibri"/>
              </a:rPr>
              <a:t>share by 2036. The single wall segment is</a:t>
            </a:r>
          </a:p>
        </p:txBody>
      </p:sp>
      <p:sp>
        <p:nvSpPr>
          <p:cNvPr id="32" name="TextBox 31"/>
          <p:cNvSpPr txBox="1"/>
          <p:nvPr/>
        </p:nvSpPr>
        <p:spPr>
          <a:xfrm>
            <a:off x="276225" y="4007357"/>
            <a:ext cx="1054906" cy="194310"/>
          </a:xfrm>
          <a:prstGeom prst="rect">
            <a:avLst/>
          </a:prstGeom>
          <a:noFill/>
        </p:spPr>
        <p:txBody>
          <a:bodyPr wrap="none" lIns="0" tIns="0" r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997134"/>
            <a:ext cx="134549" cy="195707"/>
          </a:xfrm>
          <a:prstGeom prst="rect">
            <a:avLst/>
          </a:prstGeom>
        </p:spPr>
      </p:pic>
      <p:sp>
        <p:nvSpPr>
          <p:cNvPr id="34" name="TextBox 33"/>
          <p:cNvSpPr txBox="1"/>
          <p:nvPr/>
        </p:nvSpPr>
        <p:spPr>
          <a:xfrm>
            <a:off x="1455394" y="400735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997134"/>
            <a:ext cx="134549" cy="195707"/>
          </a:xfrm>
          <a:prstGeom prst="rect">
            <a:avLst/>
          </a:prstGeom>
        </p:spPr>
      </p:pic>
      <p:sp>
        <p:nvSpPr>
          <p:cNvPr id="36" name="TextBox 35"/>
          <p:cNvSpPr txBox="1"/>
          <p:nvPr/>
        </p:nvSpPr>
        <p:spPr>
          <a:xfrm>
            <a:off x="4218008" y="400735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Analysis, By Board Construction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Board Construction,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By Board Construction (US$ Mn)</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413248">
                  <a:extLst>
                    <a:ext uri="{9D8B030D-6E8A-4147-A177-3AD203B41FA5}">
                      <a16:colId xmlns:a16="http://schemas.microsoft.com/office/drawing/2014/main" val="20000"/>
                    </a:ext>
                  </a:extLst>
                </a:gridCol>
                <a:gridCol w="616115">
                  <a:extLst>
                    <a:ext uri="{9D8B030D-6E8A-4147-A177-3AD203B41FA5}">
                      <a16:colId xmlns:a16="http://schemas.microsoft.com/office/drawing/2014/main" val="20001"/>
                    </a:ext>
                  </a:extLst>
                </a:gridCol>
                <a:gridCol w="616115">
                  <a:extLst>
                    <a:ext uri="{9D8B030D-6E8A-4147-A177-3AD203B41FA5}">
                      <a16:colId xmlns:a16="http://schemas.microsoft.com/office/drawing/2014/main" val="20002"/>
                    </a:ext>
                  </a:extLst>
                </a:gridCol>
                <a:gridCol w="616115">
                  <a:extLst>
                    <a:ext uri="{9D8B030D-6E8A-4147-A177-3AD203B41FA5}">
                      <a16:colId xmlns:a16="http://schemas.microsoft.com/office/drawing/2014/main" val="20003"/>
                    </a:ext>
                  </a:extLst>
                </a:gridCol>
                <a:gridCol w="616115">
                  <a:extLst>
                    <a:ext uri="{9D8B030D-6E8A-4147-A177-3AD203B41FA5}">
                      <a16:colId xmlns:a16="http://schemas.microsoft.com/office/drawing/2014/main" val="20004"/>
                    </a:ext>
                  </a:extLst>
                </a:gridCol>
                <a:gridCol w="616115">
                  <a:extLst>
                    <a:ext uri="{9D8B030D-6E8A-4147-A177-3AD203B41FA5}">
                      <a16:colId xmlns:a16="http://schemas.microsoft.com/office/drawing/2014/main" val="20005"/>
                    </a:ext>
                  </a:extLst>
                </a:gridCol>
                <a:gridCol w="616115">
                  <a:extLst>
                    <a:ext uri="{9D8B030D-6E8A-4147-A177-3AD203B41FA5}">
                      <a16:colId xmlns:a16="http://schemas.microsoft.com/office/drawing/2014/main" val="20006"/>
                    </a:ext>
                  </a:extLst>
                </a:gridCol>
                <a:gridCol w="616115">
                  <a:extLst>
                    <a:ext uri="{9D8B030D-6E8A-4147-A177-3AD203B41FA5}">
                      <a16:colId xmlns:a16="http://schemas.microsoft.com/office/drawing/2014/main" val="20007"/>
                    </a:ext>
                  </a:extLst>
                </a:gridCol>
                <a:gridCol w="616115">
                  <a:extLst>
                    <a:ext uri="{9D8B030D-6E8A-4147-A177-3AD203B41FA5}">
                      <a16:colId xmlns:a16="http://schemas.microsoft.com/office/drawing/2014/main" val="20008"/>
                    </a:ext>
                  </a:extLst>
                </a:gridCol>
                <a:gridCol w="616115">
                  <a:extLst>
                    <a:ext uri="{9D8B030D-6E8A-4147-A177-3AD203B41FA5}">
                      <a16:colId xmlns:a16="http://schemas.microsoft.com/office/drawing/2014/main" val="20009"/>
                    </a:ext>
                  </a:extLst>
                </a:gridCol>
                <a:gridCol w="616115">
                  <a:extLst>
                    <a:ext uri="{9D8B030D-6E8A-4147-A177-3AD203B41FA5}">
                      <a16:colId xmlns:a16="http://schemas.microsoft.com/office/drawing/2014/main" val="20010"/>
                    </a:ext>
                  </a:extLst>
                </a:gridCol>
                <a:gridCol w="616115">
                  <a:extLst>
                    <a:ext uri="{9D8B030D-6E8A-4147-A177-3AD203B41FA5}">
                      <a16:colId xmlns:a16="http://schemas.microsoft.com/office/drawing/2014/main" val="20011"/>
                    </a:ext>
                  </a:extLst>
                </a:gridCol>
                <a:gridCol w="616115">
                  <a:extLst>
                    <a:ext uri="{9D8B030D-6E8A-4147-A177-3AD203B41FA5}">
                      <a16:colId xmlns:a16="http://schemas.microsoft.com/office/drawing/2014/main" val="20012"/>
                    </a:ext>
                  </a:extLst>
                </a:gridCol>
                <a:gridCol w="616115">
                  <a:extLst>
                    <a:ext uri="{9D8B030D-6E8A-4147-A177-3AD203B41FA5}">
                      <a16:colId xmlns:a16="http://schemas.microsoft.com/office/drawing/2014/main" val="20013"/>
                    </a:ext>
                  </a:extLst>
                </a:gridCol>
                <a:gridCol w="616115">
                  <a:extLst>
                    <a:ext uri="{9D8B030D-6E8A-4147-A177-3AD203B41FA5}">
                      <a16:colId xmlns:a16="http://schemas.microsoft.com/office/drawing/2014/main" val="20014"/>
                    </a:ext>
                  </a:extLst>
                </a:gridCol>
                <a:gridCol w="616115">
                  <a:extLst>
                    <a:ext uri="{9D8B030D-6E8A-4147-A177-3AD203B41FA5}">
                      <a16:colId xmlns:a16="http://schemas.microsoft.com/office/drawing/2014/main" val="20015"/>
                    </a:ext>
                  </a:extLst>
                </a:gridCol>
                <a:gridCol w="616115">
                  <a:extLst>
                    <a:ext uri="{9D8B030D-6E8A-4147-A177-3AD203B41FA5}">
                      <a16:colId xmlns:a16="http://schemas.microsoft.com/office/drawing/2014/main" val="20016"/>
                    </a:ext>
                  </a:extLst>
                </a:gridCol>
                <a:gridCol w="616115">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90512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Value Analysis, By Board Construction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228975"/>
            <a:ext cx="11639550" cy="33242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15935" y="1713738"/>
            <a:ext cx="366712" cy="533400"/>
          </a:xfrm>
          <a:prstGeom prst="rect">
            <a:avLst/>
          </a:prstGeom>
        </p:spPr>
      </p:pic>
      <p:sp>
        <p:nvSpPr>
          <p:cNvPr id="21" name="TextBox 20"/>
          <p:cNvSpPr txBox="1"/>
          <p:nvPr/>
        </p:nvSpPr>
        <p:spPr>
          <a:xfrm>
            <a:off x="276225" y="3238500"/>
            <a:ext cx="2615245" cy="194310"/>
          </a:xfrm>
          <a:prstGeom prst="rect">
            <a:avLst/>
          </a:prstGeom>
          <a:noFill/>
        </p:spPr>
        <p:txBody>
          <a:bodyPr wrap="none" lIns="0" tIns="0" rIns="0" bIns="0">
            <a:spAutoFit/>
          </a:bodyPr>
          <a:lstStyle/>
          <a:p>
            <a:r>
              <a:rPr sz="1150" b="0">
                <a:solidFill>
                  <a:srgbClr val="2E2E2E"/>
                </a:solidFill>
                <a:latin typeface="Calibri"/>
              </a:rPr>
              <a:t>Triple wall segment is projected to register</a:t>
            </a:r>
          </a:p>
        </p:txBody>
      </p:sp>
      <p:pic>
        <p:nvPicPr>
          <p:cNvPr id="22" name="Picture 21" descr="lock.png"/>
          <p:cNvPicPr>
            <a:picLocks noChangeAspect="1"/>
          </p:cNvPicPr>
          <p:nvPr/>
        </p:nvPicPr>
        <p:blipFill>
          <a:blip r:embed="rId4"/>
          <a:stretch>
            <a:fillRect/>
          </a:stretch>
        </p:blipFill>
        <p:spPr>
          <a:xfrm>
            <a:off x="2840623" y="3228276"/>
            <a:ext cx="134549" cy="195707"/>
          </a:xfrm>
          <a:prstGeom prst="rect">
            <a:avLst/>
          </a:prstGeom>
        </p:spPr>
      </p:pic>
      <p:sp>
        <p:nvSpPr>
          <p:cNvPr id="23" name="TextBox 22"/>
          <p:cNvSpPr txBox="1"/>
          <p:nvPr/>
        </p:nvSpPr>
        <p:spPr>
          <a:xfrm>
            <a:off x="3015733" y="3238500"/>
            <a:ext cx="8822370" cy="194310"/>
          </a:xfrm>
          <a:prstGeom prst="rect">
            <a:avLst/>
          </a:prstGeom>
          <a:noFill/>
        </p:spPr>
        <p:txBody>
          <a:bodyPr wrap="none" lIns="0" tIns="0" rIns="0" bIns="0">
            <a:spAutoFit/>
          </a:bodyPr>
          <a:lstStyle/>
          <a:p>
            <a:r>
              <a:rPr sz="1150" b="0">
                <a:solidFill>
                  <a:srgbClr val="2E2E2E"/>
                </a:solidFill>
                <a:latin typeface="Calibri"/>
              </a:rPr>
              <a:t>X higher value than double wall segment in 2036. Among corrugated partition by board construction, triple wall segment is expected to witness the</a:t>
            </a:r>
          </a:p>
        </p:txBody>
      </p:sp>
      <p:sp>
        <p:nvSpPr>
          <p:cNvPr id="24" name="TextBox 23"/>
          <p:cNvSpPr txBox="1"/>
          <p:nvPr/>
        </p:nvSpPr>
        <p:spPr>
          <a:xfrm>
            <a:off x="276225" y="3413760"/>
            <a:ext cx="1032353" cy="194310"/>
          </a:xfrm>
          <a:prstGeom prst="rect">
            <a:avLst/>
          </a:prstGeom>
          <a:noFill/>
        </p:spPr>
        <p:txBody>
          <a:bodyPr wrap="none" lIns="0" tIns="0" r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403536"/>
            <a:ext cx="134549" cy="195707"/>
          </a:xfrm>
          <a:prstGeom prst="rect">
            <a:avLst/>
          </a:prstGeom>
        </p:spPr>
      </p:pic>
      <p:sp>
        <p:nvSpPr>
          <p:cNvPr id="26" name="TextBox 25"/>
          <p:cNvSpPr txBox="1"/>
          <p:nvPr/>
        </p:nvSpPr>
        <p:spPr>
          <a:xfrm>
            <a:off x="1432841" y="341376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6873800" cy="194310"/>
          </a:xfrm>
          <a:prstGeom prst="rect">
            <a:avLst/>
          </a:prstGeom>
          <a:noFill/>
        </p:spPr>
        <p:txBody>
          <a:bodyPr wrap="none" lIns="0" tIns="0" rIns="0" bIns="0">
            <a:spAutoFit/>
          </a:bodyPr>
          <a:lstStyle/>
          <a:p>
            <a:r>
              <a:rPr sz="1150" b="0">
                <a:solidFill>
                  <a:srgbClr val="2E2E2E"/>
                </a:solidFill>
                <a:latin typeface="Calibri"/>
              </a:rPr>
              <a:t>In terms of value share by board construction, the triple wall segment is expected to dominate the market, gaining</a:t>
            </a:r>
          </a:p>
        </p:txBody>
      </p:sp>
      <p:pic>
        <p:nvPicPr>
          <p:cNvPr id="28" name="Picture 27" descr="lock.png"/>
          <p:cNvPicPr>
            <a:picLocks noChangeAspect="1"/>
          </p:cNvPicPr>
          <p:nvPr/>
        </p:nvPicPr>
        <p:blipFill>
          <a:blip r:embed="rId4"/>
          <a:stretch>
            <a:fillRect/>
          </a:stretch>
        </p:blipFill>
        <p:spPr>
          <a:xfrm>
            <a:off x="7099179" y="3631374"/>
            <a:ext cx="134549" cy="195707"/>
          </a:xfrm>
          <a:prstGeom prst="rect">
            <a:avLst/>
          </a:prstGeom>
        </p:spPr>
      </p:pic>
      <p:sp>
        <p:nvSpPr>
          <p:cNvPr id="29" name="TextBox 28"/>
          <p:cNvSpPr txBox="1"/>
          <p:nvPr/>
        </p:nvSpPr>
        <p:spPr>
          <a:xfrm>
            <a:off x="7274288" y="364159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69431" y="3631374"/>
            <a:ext cx="134549" cy="195707"/>
          </a:xfrm>
          <a:prstGeom prst="rect">
            <a:avLst/>
          </a:prstGeom>
        </p:spPr>
      </p:pic>
      <p:sp>
        <p:nvSpPr>
          <p:cNvPr id="31" name="TextBox 30"/>
          <p:cNvSpPr txBox="1"/>
          <p:nvPr/>
        </p:nvSpPr>
        <p:spPr>
          <a:xfrm>
            <a:off x="8844541" y="3641597"/>
            <a:ext cx="2521111" cy="194310"/>
          </a:xfrm>
          <a:prstGeom prst="rect">
            <a:avLst/>
          </a:prstGeom>
          <a:noFill/>
        </p:spPr>
        <p:txBody>
          <a:bodyPr wrap="none" lIns="0" tIns="0" rIns="0" bIns="0">
            <a:spAutoFit/>
          </a:bodyPr>
          <a:lstStyle/>
          <a:p>
            <a:r>
              <a:rPr sz="1150" b="0">
                <a:solidFill>
                  <a:srgbClr val="2E2E2E"/>
                </a:solidFill>
                <a:latin typeface="Calibri"/>
              </a:rPr>
              <a:t>share by 2036. The single wall segment is</a:t>
            </a:r>
          </a:p>
        </p:txBody>
      </p:sp>
      <p:sp>
        <p:nvSpPr>
          <p:cNvPr id="32" name="TextBox 31"/>
          <p:cNvSpPr txBox="1"/>
          <p:nvPr/>
        </p:nvSpPr>
        <p:spPr>
          <a:xfrm>
            <a:off x="276225" y="3816857"/>
            <a:ext cx="1054906" cy="194310"/>
          </a:xfrm>
          <a:prstGeom prst="rect">
            <a:avLst/>
          </a:prstGeom>
          <a:noFill/>
        </p:spPr>
        <p:txBody>
          <a:bodyPr wrap="none" lIns="0" tIns="0" r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806634"/>
            <a:ext cx="134549" cy="195707"/>
          </a:xfrm>
          <a:prstGeom prst="rect">
            <a:avLst/>
          </a:prstGeom>
        </p:spPr>
      </p:pic>
      <p:sp>
        <p:nvSpPr>
          <p:cNvPr id="34" name="TextBox 33"/>
          <p:cNvSpPr txBox="1"/>
          <p:nvPr/>
        </p:nvSpPr>
        <p:spPr>
          <a:xfrm>
            <a:off x="1455394" y="381685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806634"/>
            <a:ext cx="134549" cy="195707"/>
          </a:xfrm>
          <a:prstGeom prst="rect">
            <a:avLst/>
          </a:prstGeom>
        </p:spPr>
      </p:pic>
      <p:sp>
        <p:nvSpPr>
          <p:cNvPr id="36" name="TextBox 35"/>
          <p:cNvSpPr txBox="1"/>
          <p:nvPr/>
        </p:nvSpPr>
        <p:spPr>
          <a:xfrm>
            <a:off x="4218008" y="381685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&amp; Share Shift, By Board Construction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Board Construction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Composition, By Board Construction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203581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rot="10800000">
            <a:off x="5090922" y="203105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1954855"/>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Single Wall</a:t>
            </a:r>
          </a:p>
        </p:txBody>
      </p:sp>
      <p:sp>
        <p:nvSpPr>
          <p:cNvPr id="19" name="BPS Value 1"/>
          <p:cNvSpPr txBox="1"/>
          <p:nvPr/>
        </p:nvSpPr>
        <p:spPr>
          <a:xfrm>
            <a:off x="6896100" y="2016768"/>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0" name="FMI Legend Chip"/>
          <p:cNvSpPr/>
          <p:nvPr/>
        </p:nvSpPr>
        <p:spPr>
          <a:xfrm>
            <a:off x="4928997" y="335225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a:off x="5090922" y="33474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3271293"/>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Double Wall</a:t>
            </a:r>
          </a:p>
        </p:txBody>
      </p:sp>
      <p:sp>
        <p:nvSpPr>
          <p:cNvPr id="23" name="BPS Value 2"/>
          <p:cNvSpPr txBox="1"/>
          <p:nvPr/>
        </p:nvSpPr>
        <p:spPr>
          <a:xfrm>
            <a:off x="6896100" y="3333206"/>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4" name="FMI Legend Chip"/>
          <p:cNvSpPr/>
          <p:nvPr/>
        </p:nvSpPr>
        <p:spPr>
          <a:xfrm>
            <a:off x="4928997" y="527388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a:off x="5090922" y="526912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5233797" y="5192922"/>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Triple Wall</a:t>
            </a:r>
          </a:p>
        </p:txBody>
      </p:sp>
      <p:sp>
        <p:nvSpPr>
          <p:cNvPr id="27" name="BPS Value 3"/>
          <p:cNvSpPr txBox="1"/>
          <p:nvPr/>
        </p:nvSpPr>
        <p:spPr>
          <a:xfrm>
            <a:off x="6896100" y="5254835"/>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Global Read-out, By Board Construction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2" name="TextBox 3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740571" cy="194310"/>
          </a:xfrm>
          <a:prstGeom prst="rect">
            <a:avLst/>
          </a:prstGeom>
          <a:noFill/>
        </p:spPr>
        <p:txBody>
          <a:bodyPr wrap="none" lIns="0" tIns="0" rIns="0" bIns="0">
            <a:spAutoFit/>
          </a:bodyPr>
          <a:lstStyle/>
          <a:p>
            <a:r>
              <a:rPr sz="1150" b="0">
                <a:solidFill>
                  <a:srgbClr val="2E2E2E"/>
                </a:solidFill>
                <a:latin typeface="Calibri"/>
              </a:rPr>
              <a:t>Among corrugated partition by board construction, triple wall</a:t>
            </a:r>
          </a:p>
        </p:txBody>
      </p:sp>
      <p:sp>
        <p:nvSpPr>
          <p:cNvPr id="35" name="TextBox 34"/>
          <p:cNvSpPr txBox="1"/>
          <p:nvPr/>
        </p:nvSpPr>
        <p:spPr>
          <a:xfrm>
            <a:off x="7829550" y="15754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36" name="Picture 35" descr="lock.png"/>
          <p:cNvPicPr>
            <a:picLocks noChangeAspect="1"/>
          </p:cNvPicPr>
          <p:nvPr/>
        </p:nvPicPr>
        <p:blipFill>
          <a:blip r:embed="rId5"/>
          <a:stretch>
            <a:fillRect/>
          </a:stretch>
        </p:blipFill>
        <p:spPr>
          <a:xfrm>
            <a:off x="10935343" y="1565211"/>
            <a:ext cx="134549" cy="195707"/>
          </a:xfrm>
          <a:prstGeom prst="rect">
            <a:avLst/>
          </a:prstGeom>
        </p:spPr>
      </p:pic>
      <p:sp>
        <p:nvSpPr>
          <p:cNvPr id="37" name="TextBox 36"/>
          <p:cNvSpPr txBox="1"/>
          <p:nvPr/>
        </p:nvSpPr>
        <p:spPr>
          <a:xfrm>
            <a:off x="11110452" y="157543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38" name="TextBox 37"/>
          <p:cNvSpPr txBox="1"/>
          <p:nvPr/>
        </p:nvSpPr>
        <p:spPr>
          <a:xfrm>
            <a:off x="7829550" y="1750695"/>
            <a:ext cx="4020405" cy="194310"/>
          </a:xfrm>
          <a:prstGeom prst="rect">
            <a:avLst/>
          </a:prstGeom>
          <a:noFill/>
        </p:spPr>
        <p:txBody>
          <a:bodyPr wrap="none" lIns="0" tIns="0" rIns="0" bIns="0">
            <a:spAutoFit/>
          </a:bodyPr>
          <a:lstStyle/>
          <a:p>
            <a:r>
              <a:rPr sz="1150" b="0">
                <a:solidFill>
                  <a:srgbClr val="2E2E2E"/>
                </a:solidFill>
                <a:latin typeface="Calibri"/>
              </a:rPr>
              <a:t>forecast period. In terms of value share by board construction, the</a:t>
            </a:r>
          </a:p>
        </p:txBody>
      </p:sp>
      <p:sp>
        <p:nvSpPr>
          <p:cNvPr id="39" name="TextBox 38"/>
          <p:cNvSpPr txBox="1"/>
          <p:nvPr/>
        </p:nvSpPr>
        <p:spPr>
          <a:xfrm>
            <a:off x="7829550" y="1925955"/>
            <a:ext cx="3870647" cy="194310"/>
          </a:xfrm>
          <a:prstGeom prst="rect">
            <a:avLst/>
          </a:prstGeom>
          <a:noFill/>
        </p:spPr>
        <p:txBody>
          <a:bodyPr wrap="none" lIns="0" tIns="0" rIns="0" bIns="0">
            <a:spAutoFit/>
          </a:bodyPr>
          <a:lstStyle/>
          <a:p>
            <a:r>
              <a:rPr sz="1150" b="0">
                <a:solidFill>
                  <a:srgbClr val="2E2E2E"/>
                </a:solidFill>
                <a:latin typeface="Calibri"/>
              </a:rPr>
              <a:t>triple wall segment is expected to dominate the market, gaining</a:t>
            </a:r>
          </a:p>
        </p:txBody>
      </p:sp>
      <p:pic>
        <p:nvPicPr>
          <p:cNvPr id="40" name="Picture 39" descr="lock.png"/>
          <p:cNvPicPr>
            <a:picLocks noChangeAspect="1"/>
          </p:cNvPicPr>
          <p:nvPr/>
        </p:nvPicPr>
        <p:blipFill>
          <a:blip r:embed="rId5"/>
          <a:stretch>
            <a:fillRect/>
          </a:stretch>
        </p:blipFill>
        <p:spPr>
          <a:xfrm>
            <a:off x="7815470" y="2090991"/>
            <a:ext cx="134549" cy="195707"/>
          </a:xfrm>
          <a:prstGeom prst="rect">
            <a:avLst/>
          </a:prstGeom>
        </p:spPr>
      </p:pic>
      <p:sp>
        <p:nvSpPr>
          <p:cNvPr id="41" name="TextBox 40"/>
          <p:cNvSpPr txBox="1"/>
          <p:nvPr/>
        </p:nvSpPr>
        <p:spPr>
          <a:xfrm>
            <a:off x="7990579" y="2101215"/>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42" name="Picture 41" descr="lock.png"/>
          <p:cNvPicPr>
            <a:picLocks noChangeAspect="1"/>
          </p:cNvPicPr>
          <p:nvPr/>
        </p:nvPicPr>
        <p:blipFill>
          <a:blip r:embed="rId5"/>
          <a:stretch>
            <a:fillRect/>
          </a:stretch>
        </p:blipFill>
        <p:spPr>
          <a:xfrm>
            <a:off x="9385722" y="2090991"/>
            <a:ext cx="134549" cy="195707"/>
          </a:xfrm>
          <a:prstGeom prst="rect">
            <a:avLst/>
          </a:prstGeom>
        </p:spPr>
      </p:pic>
      <p:sp>
        <p:nvSpPr>
          <p:cNvPr id="43" name="TextBox 42"/>
          <p:cNvSpPr txBox="1"/>
          <p:nvPr/>
        </p:nvSpPr>
        <p:spPr>
          <a:xfrm>
            <a:off x="9560832" y="2101215"/>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4" name="TextBox 43"/>
          <p:cNvSpPr txBox="1"/>
          <p:nvPr/>
        </p:nvSpPr>
        <p:spPr>
          <a:xfrm>
            <a:off x="7829550" y="2329053"/>
            <a:ext cx="2629792" cy="194310"/>
          </a:xfrm>
          <a:prstGeom prst="rect">
            <a:avLst/>
          </a:prstGeom>
          <a:noFill/>
        </p:spPr>
        <p:txBody>
          <a:bodyPr wrap="none" lIns="0" tIns="0" rIns="0" bIns="0">
            <a:spAutoFit/>
          </a:bodyPr>
          <a:lstStyle/>
          <a:p>
            <a:r>
              <a:rPr sz="1150" b="0">
                <a:solidFill>
                  <a:srgbClr val="2E2E2E"/>
                </a:solidFill>
                <a:latin typeface="Calibri"/>
              </a:rPr>
              <a:t>The single wall segment is expected to lose</a:t>
            </a:r>
          </a:p>
        </p:txBody>
      </p:sp>
      <p:pic>
        <p:nvPicPr>
          <p:cNvPr id="45" name="Picture 44" descr="lock.png"/>
          <p:cNvPicPr>
            <a:picLocks noChangeAspect="1"/>
          </p:cNvPicPr>
          <p:nvPr/>
        </p:nvPicPr>
        <p:blipFill>
          <a:blip r:embed="rId5"/>
          <a:stretch>
            <a:fillRect/>
          </a:stretch>
        </p:blipFill>
        <p:spPr>
          <a:xfrm>
            <a:off x="10408496" y="2318829"/>
            <a:ext cx="134549" cy="195707"/>
          </a:xfrm>
          <a:prstGeom prst="rect">
            <a:avLst/>
          </a:prstGeom>
        </p:spPr>
      </p:pic>
      <p:sp>
        <p:nvSpPr>
          <p:cNvPr id="46" name="TextBox 45"/>
          <p:cNvSpPr txBox="1"/>
          <p:nvPr/>
        </p:nvSpPr>
        <p:spPr>
          <a:xfrm>
            <a:off x="10583606" y="2329053"/>
            <a:ext cx="829840" cy="194310"/>
          </a:xfrm>
          <a:prstGeom prst="rect">
            <a:avLst/>
          </a:prstGeom>
          <a:noFill/>
        </p:spPr>
        <p:txBody>
          <a:bodyPr wrap="none" lIns="0" tIns="0" rIns="0" bIns="0">
            <a:spAutoFit/>
          </a:bodyPr>
          <a:lstStyle/>
          <a:p>
            <a:r>
              <a:rPr sz="1150" b="0">
                <a:solidFill>
                  <a:srgbClr val="2E2E2E"/>
                </a:solidFill>
                <a:latin typeface="Calibri"/>
              </a:rPr>
              <a:t>BPS over the</a:t>
            </a:r>
          </a:p>
        </p:txBody>
      </p:sp>
      <p:sp>
        <p:nvSpPr>
          <p:cNvPr id="47" name="TextBox 46"/>
          <p:cNvSpPr txBox="1"/>
          <p:nvPr/>
        </p:nvSpPr>
        <p:spPr>
          <a:xfrm>
            <a:off x="7829550" y="2504313"/>
            <a:ext cx="1851620" cy="194310"/>
          </a:xfrm>
          <a:prstGeom prst="rect">
            <a:avLst/>
          </a:prstGeom>
          <a:noFill/>
        </p:spPr>
        <p:txBody>
          <a:bodyPr wrap="none" lIns="0" tIns="0" rIns="0" bIns="0">
            <a:spAutoFit/>
          </a:bodyPr>
          <a:lstStyle/>
          <a:p>
            <a:r>
              <a:rPr sz="1150" b="0">
                <a:solidFill>
                  <a:srgbClr val="2E2E2E"/>
                </a:solidFill>
                <a:latin typeface="Calibri"/>
              </a:rPr>
              <a:t>forecast period to account for</a:t>
            </a:r>
          </a:p>
        </p:txBody>
      </p:sp>
      <p:pic>
        <p:nvPicPr>
          <p:cNvPr id="48" name="Picture 47" descr="lock.png"/>
          <p:cNvPicPr>
            <a:picLocks noChangeAspect="1"/>
          </p:cNvPicPr>
          <p:nvPr/>
        </p:nvPicPr>
        <p:blipFill>
          <a:blip r:embed="rId5"/>
          <a:stretch>
            <a:fillRect/>
          </a:stretch>
        </p:blipFill>
        <p:spPr>
          <a:xfrm>
            <a:off x="9630324" y="2494089"/>
            <a:ext cx="134549" cy="195707"/>
          </a:xfrm>
          <a:prstGeom prst="rect">
            <a:avLst/>
          </a:prstGeom>
        </p:spPr>
      </p:pic>
      <p:sp>
        <p:nvSpPr>
          <p:cNvPr id="49" name="TextBox 48"/>
          <p:cNvSpPr txBox="1"/>
          <p:nvPr/>
        </p:nvSpPr>
        <p:spPr>
          <a:xfrm>
            <a:off x="9805433" y="250431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Volume, By Board Construction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Board Construction,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Growth,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extLst>
                    <a:ext uri="{9D8B030D-6E8A-4147-A177-3AD203B41FA5}">
                      <a16:colId xmlns:a16="http://schemas.microsoft.com/office/drawing/2014/main" val="20000"/>
                    </a:ext>
                  </a:extLst>
                </a:gridCol>
                <a:gridCol w="689251">
                  <a:extLst>
                    <a:ext uri="{9D8B030D-6E8A-4147-A177-3AD203B41FA5}">
                      <a16:colId xmlns:a16="http://schemas.microsoft.com/office/drawing/2014/main" val="20001"/>
                    </a:ext>
                  </a:extLst>
                </a:gridCol>
                <a:gridCol w="689251">
                  <a:extLst>
                    <a:ext uri="{9D8B030D-6E8A-4147-A177-3AD203B41FA5}">
                      <a16:colId xmlns:a16="http://schemas.microsoft.com/office/drawing/2014/main" val="20002"/>
                    </a:ext>
                  </a:extLst>
                </a:gridCol>
                <a:gridCol w="689251">
                  <a:extLst>
                    <a:ext uri="{9D8B030D-6E8A-4147-A177-3AD203B41FA5}">
                      <a16:colId xmlns:a16="http://schemas.microsoft.com/office/drawing/2014/main" val="20003"/>
                    </a:ext>
                  </a:extLst>
                </a:gridCol>
                <a:gridCol w="689251">
                  <a:extLst>
                    <a:ext uri="{9D8B030D-6E8A-4147-A177-3AD203B41FA5}">
                      <a16:colId xmlns:a16="http://schemas.microsoft.com/office/drawing/2014/main" val="20004"/>
                    </a:ext>
                  </a:extLst>
                </a:gridCol>
                <a:gridCol w="689251">
                  <a:extLst>
                    <a:ext uri="{9D8B030D-6E8A-4147-A177-3AD203B41FA5}">
                      <a16:colId xmlns:a16="http://schemas.microsoft.com/office/drawing/2014/main" val="20005"/>
                    </a:ext>
                  </a:extLst>
                </a:gridCol>
                <a:gridCol w="689251">
                  <a:extLst>
                    <a:ext uri="{9D8B030D-6E8A-4147-A177-3AD203B41FA5}">
                      <a16:colId xmlns:a16="http://schemas.microsoft.com/office/drawing/2014/main" val="20006"/>
                    </a:ext>
                  </a:extLst>
                </a:gridCol>
                <a:gridCol w="689251">
                  <a:extLst>
                    <a:ext uri="{9D8B030D-6E8A-4147-A177-3AD203B41FA5}">
                      <a16:colId xmlns:a16="http://schemas.microsoft.com/office/drawing/2014/main" val="20007"/>
                    </a:ext>
                  </a:extLst>
                </a:gridCol>
                <a:gridCol w="689251">
                  <a:extLst>
                    <a:ext uri="{9D8B030D-6E8A-4147-A177-3AD203B41FA5}">
                      <a16:colId xmlns:a16="http://schemas.microsoft.com/office/drawing/2014/main" val="20008"/>
                    </a:ext>
                  </a:extLst>
                </a:gridCol>
                <a:gridCol w="689251">
                  <a:extLst>
                    <a:ext uri="{9D8B030D-6E8A-4147-A177-3AD203B41FA5}">
                      <a16:colId xmlns:a16="http://schemas.microsoft.com/office/drawing/2014/main" val="20009"/>
                    </a:ext>
                  </a:extLst>
                </a:gridCol>
                <a:gridCol w="689251">
                  <a:extLst>
                    <a:ext uri="{9D8B030D-6E8A-4147-A177-3AD203B41FA5}">
                      <a16:colId xmlns:a16="http://schemas.microsoft.com/office/drawing/2014/main" val="20010"/>
                    </a:ext>
                  </a:extLst>
                </a:gridCol>
                <a:gridCol w="689251">
                  <a:extLst>
                    <a:ext uri="{9D8B030D-6E8A-4147-A177-3AD203B41FA5}">
                      <a16:colId xmlns:a16="http://schemas.microsoft.com/office/drawing/2014/main" val="20011"/>
                    </a:ext>
                  </a:extLst>
                </a:gridCol>
                <a:gridCol w="689251">
                  <a:extLst>
                    <a:ext uri="{9D8B030D-6E8A-4147-A177-3AD203B41FA5}">
                      <a16:colId xmlns:a16="http://schemas.microsoft.com/office/drawing/2014/main" val="20012"/>
                    </a:ext>
                  </a:extLst>
                </a:gridCol>
                <a:gridCol w="689251">
                  <a:extLst>
                    <a:ext uri="{9D8B030D-6E8A-4147-A177-3AD203B41FA5}">
                      <a16:colId xmlns:a16="http://schemas.microsoft.com/office/drawing/2014/main" val="20013"/>
                    </a:ext>
                  </a:extLst>
                </a:gridCol>
                <a:gridCol w="689251">
                  <a:extLst>
                    <a:ext uri="{9D8B030D-6E8A-4147-A177-3AD203B41FA5}">
                      <a16:colId xmlns:a16="http://schemas.microsoft.com/office/drawing/2014/main" val="20014"/>
                    </a:ext>
                  </a:extLst>
                </a:gridCol>
                <a:gridCol w="6892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Heatmap, By Board Construction (%)  ·  light = lower, dark = higher growth</a:t>
            </a:r>
          </a:p>
        </p:txBody>
      </p:sp>
      <p:sp>
        <p:nvSpPr>
          <p:cNvPr id="17" name="TextBox 16"/>
          <p:cNvSpPr txBox="1"/>
          <p:nvPr/>
        </p:nvSpPr>
        <p:spPr>
          <a:xfrm>
            <a:off x="18573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Single Wall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00037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000375"/>
            <a:ext cx="643890" cy="119062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000375"/>
            <a:ext cx="643890" cy="1190625"/>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000375"/>
            <a:ext cx="643890" cy="1190625"/>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191000"/>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Double Wall</a:t>
            </a:r>
          </a:p>
        </p:txBody>
      </p:sp>
      <p:sp>
        <p:nvSpPr>
          <p:cNvPr id="49" name="Rectangle 48"/>
          <p:cNvSpPr/>
          <p:nvPr/>
        </p:nvSpPr>
        <p:spPr>
          <a:xfrm>
            <a:off x="1857375" y="4191000"/>
            <a:ext cx="643890" cy="1190625"/>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191000"/>
            <a:ext cx="643890" cy="119062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191000"/>
            <a:ext cx="643890" cy="119062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191000"/>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191000"/>
            <a:ext cx="643890" cy="119062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191000"/>
            <a:ext cx="643890" cy="1190625"/>
          </a:xfrm>
          <a:prstGeom prst="rect">
            <a:avLst/>
          </a:prstGeom>
          <a:solidFill>
            <a:srgbClr val="0D61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191000"/>
            <a:ext cx="643890" cy="119062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191000"/>
            <a:ext cx="643890" cy="119062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191000"/>
            <a:ext cx="643890" cy="1190625"/>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191000"/>
            <a:ext cx="643890" cy="119062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191000"/>
            <a:ext cx="643890" cy="119062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191000"/>
            <a:ext cx="643890" cy="1190625"/>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191000"/>
            <a:ext cx="643890" cy="119062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191000"/>
            <a:ext cx="643890" cy="119062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191000"/>
            <a:ext cx="643890" cy="119062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538162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Triple Wall</a:t>
            </a:r>
          </a:p>
        </p:txBody>
      </p:sp>
      <p:sp>
        <p:nvSpPr>
          <p:cNvPr id="65" name="Rectangle 64"/>
          <p:cNvSpPr/>
          <p:nvPr/>
        </p:nvSpPr>
        <p:spPr>
          <a:xfrm>
            <a:off x="185737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5381625"/>
            <a:ext cx="643890" cy="119062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538162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538162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11687175" y="297180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683521"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Value, By Board Construction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Board Construction,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Growth,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extLst>
                    <a:ext uri="{9D8B030D-6E8A-4147-A177-3AD203B41FA5}">
                      <a16:colId xmlns:a16="http://schemas.microsoft.com/office/drawing/2014/main" val="20000"/>
                    </a:ext>
                  </a:extLst>
                </a:gridCol>
                <a:gridCol w="689251">
                  <a:extLst>
                    <a:ext uri="{9D8B030D-6E8A-4147-A177-3AD203B41FA5}">
                      <a16:colId xmlns:a16="http://schemas.microsoft.com/office/drawing/2014/main" val="20001"/>
                    </a:ext>
                  </a:extLst>
                </a:gridCol>
                <a:gridCol w="689251">
                  <a:extLst>
                    <a:ext uri="{9D8B030D-6E8A-4147-A177-3AD203B41FA5}">
                      <a16:colId xmlns:a16="http://schemas.microsoft.com/office/drawing/2014/main" val="20002"/>
                    </a:ext>
                  </a:extLst>
                </a:gridCol>
                <a:gridCol w="689251">
                  <a:extLst>
                    <a:ext uri="{9D8B030D-6E8A-4147-A177-3AD203B41FA5}">
                      <a16:colId xmlns:a16="http://schemas.microsoft.com/office/drawing/2014/main" val="20003"/>
                    </a:ext>
                  </a:extLst>
                </a:gridCol>
                <a:gridCol w="689251">
                  <a:extLst>
                    <a:ext uri="{9D8B030D-6E8A-4147-A177-3AD203B41FA5}">
                      <a16:colId xmlns:a16="http://schemas.microsoft.com/office/drawing/2014/main" val="20004"/>
                    </a:ext>
                  </a:extLst>
                </a:gridCol>
                <a:gridCol w="689251">
                  <a:extLst>
                    <a:ext uri="{9D8B030D-6E8A-4147-A177-3AD203B41FA5}">
                      <a16:colId xmlns:a16="http://schemas.microsoft.com/office/drawing/2014/main" val="20005"/>
                    </a:ext>
                  </a:extLst>
                </a:gridCol>
                <a:gridCol w="689251">
                  <a:extLst>
                    <a:ext uri="{9D8B030D-6E8A-4147-A177-3AD203B41FA5}">
                      <a16:colId xmlns:a16="http://schemas.microsoft.com/office/drawing/2014/main" val="20006"/>
                    </a:ext>
                  </a:extLst>
                </a:gridCol>
                <a:gridCol w="689251">
                  <a:extLst>
                    <a:ext uri="{9D8B030D-6E8A-4147-A177-3AD203B41FA5}">
                      <a16:colId xmlns:a16="http://schemas.microsoft.com/office/drawing/2014/main" val="20007"/>
                    </a:ext>
                  </a:extLst>
                </a:gridCol>
                <a:gridCol w="689251">
                  <a:extLst>
                    <a:ext uri="{9D8B030D-6E8A-4147-A177-3AD203B41FA5}">
                      <a16:colId xmlns:a16="http://schemas.microsoft.com/office/drawing/2014/main" val="20008"/>
                    </a:ext>
                  </a:extLst>
                </a:gridCol>
                <a:gridCol w="689251">
                  <a:extLst>
                    <a:ext uri="{9D8B030D-6E8A-4147-A177-3AD203B41FA5}">
                      <a16:colId xmlns:a16="http://schemas.microsoft.com/office/drawing/2014/main" val="20009"/>
                    </a:ext>
                  </a:extLst>
                </a:gridCol>
                <a:gridCol w="689251">
                  <a:extLst>
                    <a:ext uri="{9D8B030D-6E8A-4147-A177-3AD203B41FA5}">
                      <a16:colId xmlns:a16="http://schemas.microsoft.com/office/drawing/2014/main" val="20010"/>
                    </a:ext>
                  </a:extLst>
                </a:gridCol>
                <a:gridCol w="689251">
                  <a:extLst>
                    <a:ext uri="{9D8B030D-6E8A-4147-A177-3AD203B41FA5}">
                      <a16:colId xmlns:a16="http://schemas.microsoft.com/office/drawing/2014/main" val="20011"/>
                    </a:ext>
                  </a:extLst>
                </a:gridCol>
                <a:gridCol w="689251">
                  <a:extLst>
                    <a:ext uri="{9D8B030D-6E8A-4147-A177-3AD203B41FA5}">
                      <a16:colId xmlns:a16="http://schemas.microsoft.com/office/drawing/2014/main" val="20012"/>
                    </a:ext>
                  </a:extLst>
                </a:gridCol>
                <a:gridCol w="689251">
                  <a:extLst>
                    <a:ext uri="{9D8B030D-6E8A-4147-A177-3AD203B41FA5}">
                      <a16:colId xmlns:a16="http://schemas.microsoft.com/office/drawing/2014/main" val="20013"/>
                    </a:ext>
                  </a:extLst>
                </a:gridCol>
                <a:gridCol w="689251">
                  <a:extLst>
                    <a:ext uri="{9D8B030D-6E8A-4147-A177-3AD203B41FA5}">
                      <a16:colId xmlns:a16="http://schemas.microsoft.com/office/drawing/2014/main" val="20014"/>
                    </a:ext>
                  </a:extLst>
                </a:gridCol>
                <a:gridCol w="6892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Heatmap, By Board Construction (%)  ·  light = lower, dark = higher growth</a:t>
            </a:r>
          </a:p>
        </p:txBody>
      </p:sp>
      <p:sp>
        <p:nvSpPr>
          <p:cNvPr id="17" name="TextBox 16"/>
          <p:cNvSpPr txBox="1"/>
          <p:nvPr/>
        </p:nvSpPr>
        <p:spPr>
          <a:xfrm>
            <a:off x="18573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Single Wall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00037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000375"/>
            <a:ext cx="643890" cy="119062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000375"/>
            <a:ext cx="643890" cy="119062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000375"/>
            <a:ext cx="643890" cy="1190625"/>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191000"/>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Double Wall</a:t>
            </a:r>
          </a:p>
        </p:txBody>
      </p:sp>
      <p:sp>
        <p:nvSpPr>
          <p:cNvPr id="49" name="Rectangle 48"/>
          <p:cNvSpPr/>
          <p:nvPr/>
        </p:nvSpPr>
        <p:spPr>
          <a:xfrm>
            <a:off x="1857375" y="4191000"/>
            <a:ext cx="643890" cy="119062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191000"/>
            <a:ext cx="643890" cy="1190625"/>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191000"/>
            <a:ext cx="643890" cy="119062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191000"/>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191000"/>
            <a:ext cx="643890" cy="1190625"/>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191000"/>
            <a:ext cx="643890" cy="1190625"/>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191000"/>
            <a:ext cx="643890" cy="1190625"/>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191000"/>
            <a:ext cx="643890" cy="1190625"/>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191000"/>
            <a:ext cx="643890" cy="119062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191000"/>
            <a:ext cx="643890" cy="1190625"/>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191000"/>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191000"/>
            <a:ext cx="643890" cy="1190625"/>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191000"/>
            <a:ext cx="643890" cy="119062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191000"/>
            <a:ext cx="643890" cy="119062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191000"/>
            <a:ext cx="643890" cy="1190625"/>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538162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Triple Wall</a:t>
            </a:r>
          </a:p>
        </p:txBody>
      </p:sp>
      <p:sp>
        <p:nvSpPr>
          <p:cNvPr id="65" name="Rectangle 64"/>
          <p:cNvSpPr/>
          <p:nvPr/>
        </p:nvSpPr>
        <p:spPr>
          <a:xfrm>
            <a:off x="185737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538162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538162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11687175" y="2971800"/>
            <a:ext cx="276225" cy="133350"/>
          </a:xfrm>
          <a:prstGeom prst="rect">
            <a:avLst/>
          </a:prstGeom>
          <a:noFill/>
        </p:spPr>
        <p:txBody>
          <a:bodyPr wrap="none" lIns="0" tIns="0" r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683521" y="1589913"/>
            <a:ext cx="366712" cy="533400"/>
          </a:xfrm>
          <a:prstGeom prst="rect">
            <a:avLst/>
          </a:prstGeom>
        </p:spPr>
      </p:pic>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Material Source</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Material Source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Material Source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2 sub-segments of Material Source,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Material Source segment categorizes the market by material source.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Virgin Kraft Fibre-based</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6962775"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Recycled Fibre-based</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457200" y="4219912"/>
            <a:ext cx="2971800" cy="2117429"/>
          </a:xfrm>
          <a:prstGeom prst="rect">
            <a:avLst/>
          </a:prstGeom>
          <a:noFill/>
        </p:spPr>
        <p:txBody>
          <a:bodyPr wrap="square" lIns="28575" tIns="9525" rIns="28575" bIns="9525">
            <a:spAutoFit/>
          </a:bodyPr>
          <a:lstStyle/>
          <a:p>
            <a:pPr algn="l">
              <a:lnSpc>
                <a:spcPct val="105000"/>
              </a:lnSpc>
              <a:spcBef>
                <a:spcPts val="0"/>
              </a:spcBef>
              <a:spcAft>
                <a:spcPts val="300"/>
              </a:spcAft>
            </a:pPr>
            <a:endParaRPr/>
          </a:p>
          <a:p>
            <a:pPr algn="l">
              <a:lnSpc>
                <a:spcPct val="105000"/>
              </a:lnSpc>
              <a:spcBef>
                <a:spcPts val="0"/>
              </a:spcBef>
              <a:spcAft>
                <a:spcPts val="300"/>
              </a:spcAft>
            </a:pPr>
            <a:endParaRP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Source split shows how demand is distributed across material source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0" name="Picture 49" descr="2_596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4_189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9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603_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999_4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2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4786" cy="179984"/>
          </a:xfrm>
          <a:prstGeom prst="rect">
            <a:avLst/>
          </a:prstGeom>
          <a:noFill/>
        </p:spPr>
        <p:txBody>
          <a:bodyPr wrap="none" lIns="0" tIns="0" rIns="0" bIns="0">
            <a:spAutoFit/>
          </a:bodyPr>
          <a:lstStyle/>
          <a:p>
            <a:r>
              <a:rPr sz="1055" b="0">
                <a:solidFill>
                  <a:srgbClr val="2E2E2E"/>
                </a:solidFill>
                <a:latin typeface="Calibri"/>
              </a:rPr>
              <a:t>▪ ¶ Among corrugated partition by material source,</a:t>
            </a:r>
          </a:p>
        </p:txBody>
      </p:sp>
      <p:sp>
        <p:nvSpPr>
          <p:cNvPr id="59" name="TextBox 58"/>
          <p:cNvSpPr txBox="1"/>
          <p:nvPr/>
        </p:nvSpPr>
        <p:spPr>
          <a:xfrm>
            <a:off x="485775" y="4390371"/>
            <a:ext cx="2742461" cy="179984"/>
          </a:xfrm>
          <a:prstGeom prst="rect">
            <a:avLst/>
          </a:prstGeom>
          <a:noFill/>
        </p:spPr>
        <p:txBody>
          <a:bodyPr wrap="none" lIns="0" tIns="0" rIns="0" bIns="0">
            <a:spAutoFit/>
          </a:bodyPr>
          <a:lstStyle/>
          <a:p>
            <a:r>
              <a:rPr sz="1055" b="0">
                <a:solidFill>
                  <a:srgbClr val="2E2E2E"/>
                </a:solidFill>
                <a:latin typeface="Calibri"/>
              </a:rPr>
              <a:t>recycled fibre-based (testliner/recycled medium)</a:t>
            </a:r>
          </a:p>
        </p:txBody>
      </p:sp>
      <p:sp>
        <p:nvSpPr>
          <p:cNvPr id="60" name="TextBox 59"/>
          <p:cNvSpPr txBox="1"/>
          <p:nvPr/>
        </p:nvSpPr>
        <p:spPr>
          <a:xfrm>
            <a:off x="485775" y="4551305"/>
            <a:ext cx="2904846" cy="179984"/>
          </a:xfrm>
          <a:prstGeom prst="rect">
            <a:avLst/>
          </a:prstGeom>
          <a:noFill/>
        </p:spPr>
        <p:txBody>
          <a:bodyPr wrap="none" lIns="0" tIns="0" rIns="0" bIns="0">
            <a:spAutoFit/>
          </a:bodyPr>
          <a:lstStyle/>
          <a:p>
            <a:r>
              <a:rPr sz="1055" b="0">
                <a:solidFill>
                  <a:srgbClr val="2E2E2E"/>
                </a:solidFill>
                <a:latin typeface="Calibri"/>
              </a:rPr>
              <a:t>segment is expected to witness the highest CAGR of</a:t>
            </a:r>
          </a:p>
        </p:txBody>
      </p:sp>
      <p:pic>
        <p:nvPicPr>
          <p:cNvPr id="61" name="Picture 60" descr="lock.png"/>
          <p:cNvPicPr>
            <a:picLocks noChangeAspect="1"/>
          </p:cNvPicPr>
          <p:nvPr/>
        </p:nvPicPr>
        <p:blipFill>
          <a:blip r:embed="rId10"/>
          <a:stretch>
            <a:fillRect/>
          </a:stretch>
        </p:blipFill>
        <p:spPr>
          <a:xfrm>
            <a:off x="472846" y="4702852"/>
            <a:ext cx="123551" cy="179710"/>
          </a:xfrm>
          <a:prstGeom prst="rect">
            <a:avLst/>
          </a:prstGeom>
        </p:spPr>
      </p:pic>
      <p:sp>
        <p:nvSpPr>
          <p:cNvPr id="62" name="TextBox 61"/>
          <p:cNvSpPr txBox="1"/>
          <p:nvPr/>
        </p:nvSpPr>
        <p:spPr>
          <a:xfrm>
            <a:off x="633642" y="4712240"/>
            <a:ext cx="2707886" cy="179984"/>
          </a:xfrm>
          <a:prstGeom prst="rect">
            <a:avLst/>
          </a:prstGeom>
          <a:noFill/>
        </p:spPr>
        <p:txBody>
          <a:bodyPr wrap="none" lIns="0" tIns="0" rIns="0" bIns="0">
            <a:spAutoFit/>
          </a:bodyPr>
          <a:lstStyle/>
          <a:p>
            <a:r>
              <a:rPr sz="1055" b="0">
                <a:solidFill>
                  <a:srgbClr val="2E2E2E"/>
                </a:solidFill>
                <a:latin typeface="Calibri"/>
              </a:rPr>
              <a:t>over the forecast period. In terms of value share</a:t>
            </a:r>
          </a:p>
        </p:txBody>
      </p:sp>
      <p:sp>
        <p:nvSpPr>
          <p:cNvPr id="63" name="TextBox 62"/>
          <p:cNvSpPr txBox="1"/>
          <p:nvPr/>
        </p:nvSpPr>
        <p:spPr>
          <a:xfrm>
            <a:off x="485775" y="4873174"/>
            <a:ext cx="2607825" cy="179984"/>
          </a:xfrm>
          <a:prstGeom prst="rect">
            <a:avLst/>
          </a:prstGeom>
          <a:noFill/>
        </p:spPr>
        <p:txBody>
          <a:bodyPr wrap="none" lIns="0" tIns="0" rIns="0" bIns="0">
            <a:spAutoFit/>
          </a:bodyPr>
          <a:lstStyle/>
          <a:p>
            <a:r>
              <a:rPr sz="1055" b="0">
                <a:solidFill>
                  <a:srgbClr val="2E2E2E"/>
                </a:solidFill>
                <a:latin typeface="Calibri"/>
              </a:rPr>
              <a:t>by material source, the virgin kraft fibre-based</a:t>
            </a:r>
          </a:p>
        </p:txBody>
      </p:sp>
      <p:sp>
        <p:nvSpPr>
          <p:cNvPr id="64" name="TextBox 63"/>
          <p:cNvSpPr txBox="1"/>
          <p:nvPr/>
        </p:nvSpPr>
        <p:spPr>
          <a:xfrm>
            <a:off x="485775" y="5034109"/>
            <a:ext cx="2912197" cy="179984"/>
          </a:xfrm>
          <a:prstGeom prst="rect">
            <a:avLst/>
          </a:prstGeom>
          <a:noFill/>
        </p:spPr>
        <p:txBody>
          <a:bodyPr wrap="none" lIns="0" tIns="0" rIns="0" bIns="0">
            <a:spAutoFit/>
          </a:bodyPr>
          <a:lstStyle/>
          <a:p>
            <a:r>
              <a:rPr sz="1055" b="0">
                <a:solidFill>
                  <a:srgbClr val="2E2E2E"/>
                </a:solidFill>
                <a:latin typeface="Calibri"/>
              </a:rPr>
              <a:t>segment is expected to dominate the market, losing</a:t>
            </a:r>
          </a:p>
        </p:txBody>
      </p:sp>
      <p:pic>
        <p:nvPicPr>
          <p:cNvPr id="65" name="Picture 64" descr="lock.png"/>
          <p:cNvPicPr>
            <a:picLocks noChangeAspect="1"/>
          </p:cNvPicPr>
          <p:nvPr/>
        </p:nvPicPr>
        <p:blipFill>
          <a:blip r:embed="rId10"/>
          <a:stretch>
            <a:fillRect/>
          </a:stretch>
        </p:blipFill>
        <p:spPr>
          <a:xfrm>
            <a:off x="472846" y="5185655"/>
            <a:ext cx="123551" cy="179710"/>
          </a:xfrm>
          <a:prstGeom prst="rect">
            <a:avLst/>
          </a:prstGeom>
        </p:spPr>
      </p:pic>
      <p:sp>
        <p:nvSpPr>
          <p:cNvPr id="66" name="TextBox 65"/>
          <p:cNvSpPr txBox="1"/>
          <p:nvPr/>
        </p:nvSpPr>
        <p:spPr>
          <a:xfrm>
            <a:off x="633642" y="5195043"/>
            <a:ext cx="1334023" cy="179984"/>
          </a:xfrm>
          <a:prstGeom prst="rect">
            <a:avLst/>
          </a:prstGeom>
          <a:noFill/>
        </p:spPr>
        <p:txBody>
          <a:bodyPr wrap="none" lIns="0" tIns="0" rIns="0" bIns="0">
            <a:spAutoFit/>
          </a:bodyPr>
          <a:lstStyle/>
          <a:p>
            <a:r>
              <a:rPr sz="1055" b="0">
                <a:solidFill>
                  <a:srgbClr val="2E2E2E"/>
                </a:solidFill>
                <a:latin typeface="Calibri"/>
              </a:rPr>
              <a:t>BPS and accounting for</a:t>
            </a:r>
          </a:p>
        </p:txBody>
      </p:sp>
      <p:pic>
        <p:nvPicPr>
          <p:cNvPr id="67" name="Picture 66" descr="lock.png"/>
          <p:cNvPicPr>
            <a:picLocks noChangeAspect="1"/>
          </p:cNvPicPr>
          <p:nvPr/>
        </p:nvPicPr>
        <p:blipFill>
          <a:blip r:embed="rId10"/>
          <a:stretch>
            <a:fillRect/>
          </a:stretch>
        </p:blipFill>
        <p:spPr>
          <a:xfrm>
            <a:off x="1914747" y="5185655"/>
            <a:ext cx="123551" cy="179710"/>
          </a:xfrm>
          <a:prstGeom prst="rect">
            <a:avLst/>
          </a:prstGeom>
        </p:spPr>
      </p:pic>
      <p:sp>
        <p:nvSpPr>
          <p:cNvPr id="68" name="TextBox 67"/>
          <p:cNvSpPr txBox="1"/>
          <p:nvPr/>
        </p:nvSpPr>
        <p:spPr>
          <a:xfrm>
            <a:off x="2075543" y="5195043"/>
            <a:ext cx="875109" cy="179984"/>
          </a:xfrm>
          <a:prstGeom prst="rect">
            <a:avLst/>
          </a:prstGeom>
          <a:noFill/>
        </p:spPr>
        <p:txBody>
          <a:bodyPr wrap="none" lIns="0" tIns="0" rIns="0" bIns="0">
            <a:spAutoFit/>
          </a:bodyPr>
          <a:lstStyle/>
          <a:p>
            <a:r>
              <a:rPr sz="1055" b="0">
                <a:solidFill>
                  <a:srgbClr val="2E2E2E"/>
                </a:solidFill>
                <a:latin typeface="Calibri"/>
              </a:rPr>
              <a:t>share by 2036.</a:t>
            </a:r>
          </a:p>
        </p:txBody>
      </p:sp>
      <p:sp>
        <p:nvSpPr>
          <p:cNvPr id="69" name="TextBox 68"/>
          <p:cNvSpPr txBox="1"/>
          <p:nvPr/>
        </p:nvSpPr>
        <p:spPr>
          <a:xfrm>
            <a:off x="485775" y="5404258"/>
            <a:ext cx="2840164" cy="179984"/>
          </a:xfrm>
          <a:prstGeom prst="rect">
            <a:avLst/>
          </a:prstGeom>
          <a:noFill/>
        </p:spPr>
        <p:txBody>
          <a:bodyPr wrap="none" lIns="0" tIns="0" rIns="0" bIns="0">
            <a:spAutoFit/>
          </a:bodyPr>
          <a:lstStyle/>
          <a:p>
            <a:r>
              <a:rPr sz="1055" b="0">
                <a:solidFill>
                  <a:srgbClr val="2E2E2E"/>
                </a:solidFill>
                <a:latin typeface="Calibri"/>
              </a:rPr>
              <a:t>▪ ¶ Virgin kraft fibre-based segment is projected to</a:t>
            </a:r>
          </a:p>
        </p:txBody>
      </p:sp>
      <p:sp>
        <p:nvSpPr>
          <p:cNvPr id="70" name="TextBox 69"/>
          <p:cNvSpPr txBox="1"/>
          <p:nvPr/>
        </p:nvSpPr>
        <p:spPr>
          <a:xfrm>
            <a:off x="485775" y="5565192"/>
            <a:ext cx="495038" cy="179984"/>
          </a:xfrm>
          <a:prstGeom prst="rect">
            <a:avLst/>
          </a:prstGeom>
          <a:noFill/>
        </p:spPr>
        <p:txBody>
          <a:bodyPr wrap="none" lIns="0" tIns="0" rIns="0" bIns="0">
            <a:spAutoFit/>
          </a:bodyPr>
          <a:lstStyle/>
          <a:p>
            <a:r>
              <a:rPr sz="1055" b="0">
                <a:solidFill>
                  <a:srgbClr val="2E2E2E"/>
                </a:solidFill>
                <a:latin typeface="Calibri"/>
              </a:rPr>
              <a:t>register</a:t>
            </a:r>
          </a:p>
        </p:txBody>
      </p:sp>
      <p:pic>
        <p:nvPicPr>
          <p:cNvPr id="71" name="Picture 70" descr="lock.png"/>
          <p:cNvPicPr>
            <a:picLocks noChangeAspect="1"/>
          </p:cNvPicPr>
          <p:nvPr/>
        </p:nvPicPr>
        <p:blipFill>
          <a:blip r:embed="rId10"/>
          <a:stretch>
            <a:fillRect/>
          </a:stretch>
        </p:blipFill>
        <p:spPr>
          <a:xfrm>
            <a:off x="927894" y="5555804"/>
            <a:ext cx="123551" cy="179710"/>
          </a:xfrm>
          <a:prstGeom prst="rect">
            <a:avLst/>
          </a:prstGeom>
        </p:spPr>
      </p:pic>
      <p:sp>
        <p:nvSpPr>
          <p:cNvPr id="72" name="TextBox 71"/>
          <p:cNvSpPr txBox="1"/>
          <p:nvPr/>
        </p:nvSpPr>
        <p:spPr>
          <a:xfrm>
            <a:off x="1088690" y="5565192"/>
            <a:ext cx="2267045" cy="179984"/>
          </a:xfrm>
          <a:prstGeom prst="rect">
            <a:avLst/>
          </a:prstGeom>
          <a:noFill/>
        </p:spPr>
        <p:txBody>
          <a:bodyPr wrap="none" lIns="0" tIns="0" rIns="0" bIns="0">
            <a:spAutoFit/>
          </a:bodyPr>
          <a:lstStyle/>
          <a:p>
            <a:r>
              <a:rPr sz="1055" b="0">
                <a:solidFill>
                  <a:srgbClr val="2E2E2E"/>
                </a:solidFill>
                <a:latin typeface="Calibri"/>
              </a:rPr>
              <a:t>X higher value than recycled fibre-based</a:t>
            </a:r>
          </a:p>
        </p:txBody>
      </p:sp>
      <p:sp>
        <p:nvSpPr>
          <p:cNvPr id="73" name="TextBox 72"/>
          <p:cNvSpPr txBox="1"/>
          <p:nvPr/>
        </p:nvSpPr>
        <p:spPr>
          <a:xfrm>
            <a:off x="485775" y="5726126"/>
            <a:ext cx="2574559" cy="179984"/>
          </a:xfrm>
          <a:prstGeom prst="rect">
            <a:avLst/>
          </a:prstGeom>
          <a:noFill/>
        </p:spPr>
        <p:txBody>
          <a:bodyPr wrap="none" lIns="0" tIns="0" rIns="0" bIns="0">
            <a:spAutoFit/>
          </a:bodyPr>
          <a:lstStyle/>
          <a:p>
            <a:r>
              <a:rPr sz="1055" b="0">
                <a:solidFill>
                  <a:srgbClr val="2E2E2E"/>
                </a:solidFill>
                <a:latin typeface="Calibri"/>
              </a:rPr>
              <a:t>(testliner/recycled medium) segment in 2036.</a:t>
            </a:r>
          </a:p>
        </p:txBody>
      </p:sp>
      <p:sp>
        <p:nvSpPr>
          <p:cNvPr id="74" name="TextBox 73"/>
          <p:cNvSpPr txBox="1"/>
          <p:nvPr/>
        </p:nvSpPr>
        <p:spPr>
          <a:xfrm>
            <a:off x="3838575" y="4229437"/>
            <a:ext cx="1571119" cy="186689"/>
          </a:xfrm>
          <a:prstGeom prst="rect">
            <a:avLst/>
          </a:prstGeom>
          <a:noFill/>
        </p:spPr>
        <p:txBody>
          <a:bodyPr wrap="none" lIns="0" tIns="0" rIns="0" bIns="0">
            <a:spAutoFit/>
          </a:bodyPr>
          <a:lstStyle/>
          <a:p>
            <a:r>
              <a:rPr sz="1100" b="0">
                <a:solidFill>
                  <a:srgbClr val="2E2E2E"/>
                </a:solidFill>
                <a:latin typeface="Calibri"/>
              </a:rPr>
              <a:t>● Virgin Kraft Fibre-based:</a:t>
            </a:r>
          </a:p>
        </p:txBody>
      </p:sp>
      <p:pic>
        <p:nvPicPr>
          <p:cNvPr id="75" name="Picture 74" descr="lock.png"/>
          <p:cNvPicPr>
            <a:picLocks noChangeAspect="1"/>
          </p:cNvPicPr>
          <p:nvPr/>
        </p:nvPicPr>
        <p:blipFill>
          <a:blip r:embed="rId10"/>
          <a:stretch>
            <a:fillRect/>
          </a:stretch>
        </p:blipFill>
        <p:spPr>
          <a:xfrm>
            <a:off x="5357746" y="4219658"/>
            <a:ext cx="128699" cy="187198"/>
          </a:xfrm>
          <a:prstGeom prst="rect">
            <a:avLst/>
          </a:prstGeom>
        </p:spPr>
      </p:pic>
      <p:sp>
        <p:nvSpPr>
          <p:cNvPr id="76" name="TextBox 75"/>
          <p:cNvSpPr txBox="1"/>
          <p:nvPr/>
        </p:nvSpPr>
        <p:spPr>
          <a:xfrm>
            <a:off x="5525242"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0"/>
          <a:stretch>
            <a:fillRect/>
          </a:stretch>
        </p:blipFill>
        <p:spPr>
          <a:xfrm>
            <a:off x="6384692" y="4219658"/>
            <a:ext cx="128699" cy="187198"/>
          </a:xfrm>
          <a:prstGeom prst="rect">
            <a:avLst/>
          </a:prstGeom>
        </p:spPr>
      </p:pic>
      <p:sp>
        <p:nvSpPr>
          <p:cNvPr id="78" name="TextBox 77"/>
          <p:cNvSpPr txBox="1"/>
          <p:nvPr/>
        </p:nvSpPr>
        <p:spPr>
          <a:xfrm>
            <a:off x="6552188" y="4229437"/>
            <a:ext cx="945215" cy="186689"/>
          </a:xfrm>
          <a:prstGeom prst="rect">
            <a:avLst/>
          </a:prstGeom>
          <a:noFill/>
        </p:spPr>
        <p:txBody>
          <a:bodyPr wrap="none" lIns="0" tIns="0" rIns="0" bIns="0">
            <a:spAutoFit/>
          </a:bodyPr>
          <a:lstStyle/>
          <a:p>
            <a:r>
              <a:rPr sz="1100" b="0">
                <a:solidFill>
                  <a:srgbClr val="2E2E2E"/>
                </a:solidFill>
                <a:latin typeface="Calibri"/>
              </a:rPr>
              <a:t>CAGR leads the</a:t>
            </a:r>
          </a:p>
        </p:txBody>
      </p:sp>
      <p:sp>
        <p:nvSpPr>
          <p:cNvPr id="79" name="TextBox 78"/>
          <p:cNvSpPr txBox="1"/>
          <p:nvPr/>
        </p:nvSpPr>
        <p:spPr>
          <a:xfrm>
            <a:off x="3838575" y="4397077"/>
            <a:ext cx="602803" cy="186689"/>
          </a:xfrm>
          <a:prstGeom prst="rect">
            <a:avLst/>
          </a:prstGeom>
          <a:noFill/>
        </p:spPr>
        <p:txBody>
          <a:bodyPr wrap="none" lIns="0" tIns="0" rIns="0" bIns="0">
            <a:spAutoFit/>
          </a:bodyPr>
          <a:lstStyle/>
          <a:p>
            <a:r>
              <a:rPr sz="1100" b="0">
                <a:solidFill>
                  <a:srgbClr val="2E2E2E"/>
                </a:solidFill>
                <a:latin typeface="Calibri"/>
              </a:rPr>
              <a:t>segment.</a:t>
            </a:r>
          </a:p>
        </p:txBody>
      </p:sp>
      <p:sp>
        <p:nvSpPr>
          <p:cNvPr id="80" name="TextBox 79"/>
          <p:cNvSpPr txBox="1"/>
          <p:nvPr/>
        </p:nvSpPr>
        <p:spPr>
          <a:xfrm>
            <a:off x="3838575" y="4615009"/>
            <a:ext cx="3118767" cy="186689"/>
          </a:xfrm>
          <a:prstGeom prst="rect">
            <a:avLst/>
          </a:prstGeom>
          <a:noFill/>
        </p:spPr>
        <p:txBody>
          <a:bodyPr wrap="none" lIns="0" tIns="0" rIns="0" bIns="0">
            <a:spAutoFit/>
          </a:bodyPr>
          <a:lstStyle/>
          <a:p>
            <a:r>
              <a:rPr sz="1100" b="1">
                <a:solidFill>
                  <a:srgbClr val="0E72AE"/>
                </a:solidFill>
                <a:latin typeface="Calibri"/>
              </a:rPr>
              <a:t>● Recycled Fibre-based (testliner/recycled medium):</a:t>
            </a:r>
          </a:p>
        </p:txBody>
      </p:sp>
      <p:pic>
        <p:nvPicPr>
          <p:cNvPr id="81" name="Picture 80" descr="lock.png"/>
          <p:cNvPicPr>
            <a:picLocks noChangeAspect="1"/>
          </p:cNvPicPr>
          <p:nvPr/>
        </p:nvPicPr>
        <p:blipFill>
          <a:blip r:embed="rId10"/>
          <a:stretch>
            <a:fillRect/>
          </a:stretch>
        </p:blipFill>
        <p:spPr>
          <a:xfrm>
            <a:off x="6905394" y="4605230"/>
            <a:ext cx="128699" cy="187198"/>
          </a:xfrm>
          <a:prstGeom prst="rect">
            <a:avLst/>
          </a:prstGeom>
        </p:spPr>
      </p:pic>
      <p:sp>
        <p:nvSpPr>
          <p:cNvPr id="82" name="TextBox 81"/>
          <p:cNvSpPr txBox="1"/>
          <p:nvPr/>
        </p:nvSpPr>
        <p:spPr>
          <a:xfrm>
            <a:off x="7072890" y="4615009"/>
            <a:ext cx="857374" cy="186689"/>
          </a:xfrm>
          <a:prstGeom prst="rect">
            <a:avLst/>
          </a:prstGeom>
          <a:noFill/>
        </p:spPr>
        <p:txBody>
          <a:bodyPr wrap="none" lIns="0" tIns="0" rIns="0" bIns="0">
            <a:spAutoFit/>
          </a:bodyPr>
          <a:lstStyle/>
          <a:p>
            <a:r>
              <a:rPr sz="1100" b="1">
                <a:solidFill>
                  <a:srgbClr val="0E72AE"/>
                </a:solidFill>
                <a:latin typeface="Calibri"/>
              </a:rPr>
              <a:t>of 2026 value</a:t>
            </a:r>
          </a:p>
        </p:txBody>
      </p:sp>
      <p:sp>
        <p:nvSpPr>
          <p:cNvPr id="83" name="TextBox 82"/>
          <p:cNvSpPr txBox="1"/>
          <p:nvPr/>
        </p:nvSpPr>
        <p:spPr>
          <a:xfrm>
            <a:off x="3838575" y="4782649"/>
            <a:ext cx="113580" cy="186689"/>
          </a:xfrm>
          <a:prstGeom prst="rect">
            <a:avLst/>
          </a:prstGeom>
          <a:noFill/>
        </p:spPr>
        <p:txBody>
          <a:bodyPr wrap="none" lIns="0" tIns="0" rIns="0" bIns="0">
            <a:spAutoFit/>
          </a:bodyPr>
          <a:lstStyle/>
          <a:p>
            <a:r>
              <a:rPr sz="1100" b="1">
                <a:solidFill>
                  <a:srgbClr val="0E72AE"/>
                </a:solidFill>
                <a:latin typeface="Calibri"/>
              </a:rPr>
              <a:t>·</a:t>
            </a:r>
          </a:p>
        </p:txBody>
      </p:sp>
      <p:pic>
        <p:nvPicPr>
          <p:cNvPr id="84" name="Picture 83" descr="lock.png"/>
          <p:cNvPicPr>
            <a:picLocks noChangeAspect="1"/>
          </p:cNvPicPr>
          <p:nvPr/>
        </p:nvPicPr>
        <p:blipFill>
          <a:blip r:embed="rId10"/>
          <a:stretch>
            <a:fillRect/>
          </a:stretch>
        </p:blipFill>
        <p:spPr>
          <a:xfrm>
            <a:off x="3900207" y="4772870"/>
            <a:ext cx="128699" cy="187198"/>
          </a:xfrm>
          <a:prstGeom prst="rect">
            <a:avLst/>
          </a:prstGeom>
        </p:spPr>
      </p:pic>
      <p:sp>
        <p:nvSpPr>
          <p:cNvPr id="85" name="TextBox 84"/>
          <p:cNvSpPr txBox="1"/>
          <p:nvPr/>
        </p:nvSpPr>
        <p:spPr>
          <a:xfrm>
            <a:off x="4067703" y="4782649"/>
            <a:ext cx="1245889" cy="186689"/>
          </a:xfrm>
          <a:prstGeom prst="rect">
            <a:avLst/>
          </a:prstGeom>
          <a:noFill/>
        </p:spPr>
        <p:txBody>
          <a:bodyPr wrap="none" lIns="0" tIns="0" rIns="0" bIns="0">
            <a:spAutoFit/>
          </a:bodyPr>
          <a:lstStyle/>
          <a:p>
            <a:r>
              <a:rPr sz="1100" b="1">
                <a:solidFill>
                  <a:srgbClr val="0E72AE"/>
                </a:solidFill>
                <a:latin typeface="Calibri"/>
              </a:rPr>
              <a:t>CAGR grows fastest.</a:t>
            </a:r>
          </a:p>
        </p:txBody>
      </p:sp>
      <p:sp>
        <p:nvSpPr>
          <p:cNvPr id="86" name="TextBox 85"/>
          <p:cNvSpPr txBox="1"/>
          <p:nvPr/>
        </p:nvSpPr>
        <p:spPr>
          <a:xfrm>
            <a:off x="8524875" y="5842641"/>
            <a:ext cx="3103599" cy="194310"/>
          </a:xfrm>
          <a:prstGeom prst="rect">
            <a:avLst/>
          </a:prstGeom>
          <a:noFill/>
        </p:spPr>
        <p:txBody>
          <a:bodyPr wrap="none" lIns="0" tIns="0" rIns="0" bIns="0">
            <a:spAutoFit/>
          </a:bodyPr>
          <a:lstStyle/>
          <a:p>
            <a:r>
              <a:rPr sz="1150" b="1">
                <a:solidFill>
                  <a:srgbClr val="0B2E4A"/>
                </a:solidFill>
                <a:latin typeface="Calibri"/>
              </a:rPr>
              <a:t>The Material Source segment is projected to grow</a:t>
            </a:r>
          </a:p>
        </p:txBody>
      </p:sp>
      <p:sp>
        <p:nvSpPr>
          <p:cNvPr id="87" name="TextBox 86"/>
          <p:cNvSpPr txBox="1"/>
          <p:nvPr/>
        </p:nvSpPr>
        <p:spPr>
          <a:xfrm>
            <a:off x="8524875" y="6017901"/>
            <a:ext cx="836089" cy="194310"/>
          </a:xfrm>
          <a:prstGeom prst="rect">
            <a:avLst/>
          </a:prstGeom>
          <a:noFill/>
        </p:spPr>
        <p:txBody>
          <a:bodyPr wrap="none" lIns="0" tIns="0" rIns="0" bIns="0">
            <a:spAutoFit/>
          </a:bodyPr>
          <a:lstStyle/>
          <a:p>
            <a:r>
              <a:rPr sz="1150" b="1">
                <a:solidFill>
                  <a:srgbClr val="0B2E4A"/>
                </a:solidFill>
                <a:latin typeface="Calibri"/>
              </a:rPr>
              <a:t>at a CAGR of</a:t>
            </a:r>
          </a:p>
        </p:txBody>
      </p:sp>
      <p:pic>
        <p:nvPicPr>
          <p:cNvPr id="88" name="Picture 87" descr="lock.png"/>
          <p:cNvPicPr>
            <a:picLocks noChangeAspect="1"/>
          </p:cNvPicPr>
          <p:nvPr/>
        </p:nvPicPr>
        <p:blipFill>
          <a:blip r:embed="rId10"/>
          <a:stretch>
            <a:fillRect/>
          </a:stretch>
        </p:blipFill>
        <p:spPr>
          <a:xfrm>
            <a:off x="9310118" y="6007677"/>
            <a:ext cx="134549" cy="195707"/>
          </a:xfrm>
          <a:prstGeom prst="rect">
            <a:avLst/>
          </a:prstGeom>
        </p:spPr>
      </p:pic>
      <p:sp>
        <p:nvSpPr>
          <p:cNvPr id="89" name="TextBox 88"/>
          <p:cNvSpPr txBox="1"/>
          <p:nvPr/>
        </p:nvSpPr>
        <p:spPr>
          <a:xfrm>
            <a:off x="9485227"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Structure &amp; Attractiveness, By Material Source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Material Source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Material Source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Material Source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77650" cy="186689"/>
          </a:xfrm>
          <a:prstGeom prst="rect">
            <a:avLst/>
          </a:prstGeom>
          <a:noFill/>
        </p:spPr>
        <p:txBody>
          <a:bodyPr wrap="none" lIns="0" tIns="0" rIns="0" bIns="0">
            <a:spAutoFit/>
          </a:bodyPr>
          <a:lstStyle/>
          <a:p>
            <a:r>
              <a:rPr sz="1100" b="0">
                <a:solidFill>
                  <a:srgbClr val="2E2E2E"/>
                </a:solidFill>
                <a:latin typeface="Calibri"/>
              </a:rPr>
              <a:t>Virgin kraft fibre-based followed by recycled fibre-based (testliner/recycled medium) are expected to be the two most attractive material source segments in the global corrugated partition market in terms</a:t>
            </a:r>
          </a:p>
        </p:txBody>
      </p:sp>
      <p:sp>
        <p:nvSpPr>
          <p:cNvPr id="21" name="TextBox 20"/>
          <p:cNvSpPr txBox="1"/>
          <p:nvPr/>
        </p:nvSpPr>
        <p:spPr>
          <a:xfrm>
            <a:off x="257175" y="5945505"/>
            <a:ext cx="7724212" cy="186689"/>
          </a:xfrm>
          <a:prstGeom prst="rect">
            <a:avLst/>
          </a:prstGeom>
          <a:noFill/>
        </p:spPr>
        <p:txBody>
          <a:bodyPr wrap="none" lIns="0" tIns="0" rIns="0" bIns="0">
            <a:spAutoFit/>
          </a:bodyPr>
          <a:lstStyle/>
          <a:p>
            <a:r>
              <a:rPr sz="1100" b="0">
                <a:solidFill>
                  <a:srgbClr val="2E2E2E"/>
                </a:solidFill>
                <a:latin typeface="Calibri"/>
              </a:rPr>
              <a:t>of value over the forecast period. Virgin kraft fibre-based and recycled fibre-based (testliner/recycled medium) exhibit a CAGR index of</a:t>
            </a:r>
          </a:p>
        </p:txBody>
      </p:sp>
      <p:pic>
        <p:nvPicPr>
          <p:cNvPr id="22" name="Picture 21" descr="lock.png"/>
          <p:cNvPicPr>
            <a:picLocks noChangeAspect="1"/>
          </p:cNvPicPr>
          <p:nvPr/>
        </p:nvPicPr>
        <p:blipFill>
          <a:blip r:embed="rId6"/>
          <a:stretch>
            <a:fillRect/>
          </a:stretch>
        </p:blipFill>
        <p:spPr>
          <a:xfrm>
            <a:off x="7929438" y="5935726"/>
            <a:ext cx="128699" cy="187198"/>
          </a:xfrm>
          <a:prstGeom prst="rect">
            <a:avLst/>
          </a:prstGeom>
        </p:spPr>
      </p:pic>
      <p:sp>
        <p:nvSpPr>
          <p:cNvPr id="23" name="TextBox 22"/>
          <p:cNvSpPr txBox="1"/>
          <p:nvPr/>
        </p:nvSpPr>
        <p:spPr>
          <a:xfrm>
            <a:off x="8096934"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334829" y="5935726"/>
            <a:ext cx="128699" cy="187198"/>
          </a:xfrm>
          <a:prstGeom prst="rect">
            <a:avLst/>
          </a:prstGeom>
        </p:spPr>
      </p:pic>
      <p:sp>
        <p:nvSpPr>
          <p:cNvPr id="25" name="TextBox 24"/>
          <p:cNvSpPr txBox="1"/>
          <p:nvPr/>
        </p:nvSpPr>
        <p:spPr>
          <a:xfrm>
            <a:off x="8502324"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0111298" y="5935726"/>
            <a:ext cx="128699" cy="187198"/>
          </a:xfrm>
          <a:prstGeom prst="rect">
            <a:avLst/>
          </a:prstGeom>
        </p:spPr>
      </p:pic>
      <p:sp>
        <p:nvSpPr>
          <p:cNvPr id="27" name="TextBox 26"/>
          <p:cNvSpPr txBox="1"/>
          <p:nvPr/>
        </p:nvSpPr>
        <p:spPr>
          <a:xfrm>
            <a:off x="10278794"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516688" y="5935726"/>
            <a:ext cx="128699" cy="187198"/>
          </a:xfrm>
          <a:prstGeom prst="rect">
            <a:avLst/>
          </a:prstGeom>
        </p:spPr>
      </p:pic>
      <p:sp>
        <p:nvSpPr>
          <p:cNvPr id="29" name="TextBox 28"/>
          <p:cNvSpPr txBox="1"/>
          <p:nvPr/>
        </p:nvSpPr>
        <p:spPr>
          <a:xfrm>
            <a:off x="10684184" y="5945505"/>
            <a:ext cx="793526" cy="186689"/>
          </a:xfrm>
          <a:prstGeom prst="rect">
            <a:avLst/>
          </a:prstGeom>
          <a:noFill/>
        </p:spPr>
        <p:txBody>
          <a:bodyPr wrap="none" lIns="0" tIns="0" rIns="0" bIns="0">
            <a:spAutoFit/>
          </a:bodyPr>
          <a:lstStyle/>
          <a:p>
            <a:r>
              <a:rPr sz="1100" b="0">
                <a:solidFill>
                  <a:srgbClr val="2E2E2E"/>
                </a:solidFill>
                <a:latin typeface="Calibri"/>
              </a:rPr>
              <a:t>respectively,</a:t>
            </a:r>
          </a:p>
        </p:txBody>
      </p:sp>
      <p:sp>
        <p:nvSpPr>
          <p:cNvPr id="30" name="TextBox 29"/>
          <p:cNvSpPr txBox="1"/>
          <p:nvPr/>
        </p:nvSpPr>
        <p:spPr>
          <a:xfrm>
            <a:off x="257175" y="6113145"/>
            <a:ext cx="1857375" cy="186689"/>
          </a:xfrm>
          <a:prstGeom prst="rect">
            <a:avLst/>
          </a:prstGeom>
          <a:noFill/>
        </p:spPr>
        <p:txBody>
          <a:bodyPr wrap="none" lIns="0" tIns="0" rIns="0" bIns="0">
            <a:spAutoFit/>
          </a:bodyPr>
          <a:lstStyle/>
          <a:p>
            <a:r>
              <a:rPr sz="1100" b="0">
                <a:solidFill>
                  <a:srgbClr val="2E2E2E"/>
                </a:solidFill>
                <a:latin typeface="Calibri"/>
              </a:rPr>
              <a:t>against the segment average of</a:t>
            </a:r>
          </a:p>
        </p:txBody>
      </p:sp>
      <p:pic>
        <p:nvPicPr>
          <p:cNvPr id="31" name="Picture 30" descr="lock.png"/>
          <p:cNvPicPr>
            <a:picLocks noChangeAspect="1"/>
          </p:cNvPicPr>
          <p:nvPr/>
        </p:nvPicPr>
        <p:blipFill>
          <a:blip r:embed="rId6"/>
          <a:stretch>
            <a:fillRect/>
          </a:stretch>
        </p:blipFill>
        <p:spPr>
          <a:xfrm>
            <a:off x="2062601" y="6103366"/>
            <a:ext cx="128699" cy="187198"/>
          </a:xfrm>
          <a:prstGeom prst="rect">
            <a:avLst/>
          </a:prstGeom>
        </p:spPr>
      </p:pic>
      <p:sp>
        <p:nvSpPr>
          <p:cNvPr id="32" name="TextBox 31"/>
          <p:cNvSpPr txBox="1"/>
          <p:nvPr/>
        </p:nvSpPr>
        <p:spPr>
          <a:xfrm>
            <a:off x="2230097" y="6113145"/>
            <a:ext cx="4443717" cy="186689"/>
          </a:xfrm>
          <a:prstGeom prst="rect">
            <a:avLst/>
          </a:prstGeom>
          <a:noFill/>
        </p:spPr>
        <p:txBody>
          <a:bodyPr wrap="none" lIns="0" tIns="0" rIns="0" bIns="0">
            <a:spAutoFit/>
          </a:bodyPr>
          <a:lstStyle/>
          <a:p>
            <a:r>
              <a:rPr sz="1100" b="0">
                <a:solidFill>
                  <a:srgbClr val="2E2E2E"/>
                </a:solidFill>
                <a:latin typeface="Calibri"/>
              </a:rPr>
              <a:t>.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Analysis, By Material Source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Material Source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Virgin Kraft Fibre-based</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Recycled Fibre-based (testliner/recycled medium)</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xmlns:r="http://schemas.openxmlformats.org/officeDocument/2006/relationships" r:id="rId5"/>
          </a:graphicData>
        </a:graphic>
      </p:graphicFrame>
      <p:sp>
        <p:nvSpPr>
          <p:cNvPr id="17" name="TextBox 1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Volume Analysis, By Material Source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Material Source,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419350"/>
          </a:xfrm>
          <a:prstGeom prst="roundRect">
            <a:avLst>
              <a:gd name="adj" fmla="val 31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By Material Source (MT)</a:t>
            </a:r>
          </a:p>
        </p:txBody>
      </p:sp>
      <p:graphicFrame>
        <p:nvGraphicFramePr>
          <p:cNvPr id="13" name="Table 12"/>
          <p:cNvGraphicFramePr>
            <a:graphicFrameLocks noGrp="1"/>
          </p:cNvGraphicFramePr>
          <p:nvPr/>
        </p:nvGraphicFramePr>
        <p:xfrm>
          <a:off x="152400" y="1238250"/>
          <a:ext cx="11887208" cy="1952624"/>
        </p:xfrm>
        <a:graphic>
          <a:graphicData uri="http://schemas.openxmlformats.org/drawingml/2006/table">
            <a:tbl>
              <a:tblPr>
                <a:tableStyleId>{5C22544A-7EE6-4342-B048-85BDC9FD1C3A}</a:tableStyleId>
              </a:tblPr>
              <a:tblGrid>
                <a:gridCol w="1239860">
                  <a:extLst>
                    <a:ext uri="{9D8B030D-6E8A-4147-A177-3AD203B41FA5}">
                      <a16:colId xmlns:a16="http://schemas.microsoft.com/office/drawing/2014/main" val="20000"/>
                    </a:ext>
                  </a:extLst>
                </a:gridCol>
                <a:gridCol w="641033">
                  <a:extLst>
                    <a:ext uri="{9D8B030D-6E8A-4147-A177-3AD203B41FA5}">
                      <a16:colId xmlns:a16="http://schemas.microsoft.com/office/drawing/2014/main" val="20001"/>
                    </a:ext>
                  </a:extLst>
                </a:gridCol>
                <a:gridCol w="641033">
                  <a:extLst>
                    <a:ext uri="{9D8B030D-6E8A-4147-A177-3AD203B41FA5}">
                      <a16:colId xmlns:a16="http://schemas.microsoft.com/office/drawing/2014/main" val="20002"/>
                    </a:ext>
                  </a:extLst>
                </a:gridCol>
                <a:gridCol w="641033">
                  <a:extLst>
                    <a:ext uri="{9D8B030D-6E8A-4147-A177-3AD203B41FA5}">
                      <a16:colId xmlns:a16="http://schemas.microsoft.com/office/drawing/2014/main" val="20003"/>
                    </a:ext>
                  </a:extLst>
                </a:gridCol>
                <a:gridCol w="641033">
                  <a:extLst>
                    <a:ext uri="{9D8B030D-6E8A-4147-A177-3AD203B41FA5}">
                      <a16:colId xmlns:a16="http://schemas.microsoft.com/office/drawing/2014/main" val="20004"/>
                    </a:ext>
                  </a:extLst>
                </a:gridCol>
                <a:gridCol w="641033">
                  <a:extLst>
                    <a:ext uri="{9D8B030D-6E8A-4147-A177-3AD203B41FA5}">
                      <a16:colId xmlns:a16="http://schemas.microsoft.com/office/drawing/2014/main" val="20005"/>
                    </a:ext>
                  </a:extLst>
                </a:gridCol>
                <a:gridCol w="641033">
                  <a:extLst>
                    <a:ext uri="{9D8B030D-6E8A-4147-A177-3AD203B41FA5}">
                      <a16:colId xmlns:a16="http://schemas.microsoft.com/office/drawing/2014/main" val="20006"/>
                    </a:ext>
                  </a:extLst>
                </a:gridCol>
                <a:gridCol w="641033">
                  <a:extLst>
                    <a:ext uri="{9D8B030D-6E8A-4147-A177-3AD203B41FA5}">
                      <a16:colId xmlns:a16="http://schemas.microsoft.com/office/drawing/2014/main" val="20007"/>
                    </a:ext>
                  </a:extLst>
                </a:gridCol>
                <a:gridCol w="641033">
                  <a:extLst>
                    <a:ext uri="{9D8B030D-6E8A-4147-A177-3AD203B41FA5}">
                      <a16:colId xmlns:a16="http://schemas.microsoft.com/office/drawing/2014/main" val="20008"/>
                    </a:ext>
                  </a:extLst>
                </a:gridCol>
                <a:gridCol w="641033">
                  <a:extLst>
                    <a:ext uri="{9D8B030D-6E8A-4147-A177-3AD203B41FA5}">
                      <a16:colId xmlns:a16="http://schemas.microsoft.com/office/drawing/2014/main" val="20009"/>
                    </a:ext>
                  </a:extLst>
                </a:gridCol>
                <a:gridCol w="641033">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390820">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Material Source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568833">
                <a:tc>
                  <a:txBody>
                    <a:bodyPr/>
                    <a:lstStyle/>
                    <a:p>
                      <a:pPr algn="l"/>
                      <a:r>
                        <a:rPr sz="1100" b="1">
                          <a:solidFill>
                            <a:srgbClr val="2E2E2E"/>
                          </a:solidFill>
                          <a:latin typeface="Calibri"/>
                        </a:rPr>
                        <a:t>Virgin Kraft Fibre-</a:t>
                      </a:r>
                      <a:endParaRPr sz="1100"/>
                    </a:p>
                    <a:p>
                      <a:pPr algn="l"/>
                      <a:r>
                        <a:rPr sz="1100" b="1">
                          <a:solidFill>
                            <a:srgbClr val="2E2E2E"/>
                          </a:solidFill>
                          <a:latin typeface="Calibri"/>
                        </a:rPr>
                        <a:t>based</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568833">
                <a:tc>
                  <a:txBody>
                    <a:bodyPr/>
                    <a:lstStyle/>
                    <a:p>
                      <a:pPr algn="l"/>
                      <a:r>
                        <a:rPr sz="1100" b="1">
                          <a:solidFill>
                            <a:srgbClr val="2E2E2E"/>
                          </a:solidFill>
                          <a:latin typeface="Calibri"/>
                        </a:rPr>
                        <a:t>Recycled Fibre-</a:t>
                      </a:r>
                      <a:endParaRPr sz="1100"/>
                    </a:p>
                    <a:p>
                      <a:pPr algn="l"/>
                      <a:r>
                        <a:rPr sz="1100" b="1">
                          <a:solidFill>
                            <a:srgbClr val="2E2E2E"/>
                          </a:solidFill>
                          <a:latin typeface="Calibri"/>
                        </a:rPr>
                        <a:t>based</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376046">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32004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33775"/>
            <a:ext cx="11906250" cy="3095625"/>
          </a:xfrm>
          <a:prstGeom prst="roundRect">
            <a:avLst>
              <a:gd name="adj" fmla="val 24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619500"/>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Volume Analysis, By Material Source</a:t>
            </a:r>
          </a:p>
        </p:txBody>
      </p:sp>
      <p:sp>
        <p:nvSpPr>
          <p:cNvPr id="17" name="Rectangle 16"/>
          <p:cNvSpPr/>
          <p:nvPr/>
        </p:nvSpPr>
        <p:spPr>
          <a:xfrm>
            <a:off x="276225" y="3857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943350"/>
            <a:ext cx="11639550" cy="26098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67318"/>
            <a:ext cx="366712" cy="533399"/>
          </a:xfrm>
          <a:prstGeom prst="rect">
            <a:avLst/>
          </a:prstGeom>
        </p:spPr>
      </p:pic>
      <p:sp>
        <p:nvSpPr>
          <p:cNvPr id="21" name="TextBox 20"/>
          <p:cNvSpPr txBox="1"/>
          <p:nvPr/>
        </p:nvSpPr>
        <p:spPr>
          <a:xfrm>
            <a:off x="276225" y="3952875"/>
            <a:ext cx="3372023" cy="194310"/>
          </a:xfrm>
          <a:prstGeom prst="rect">
            <a:avLst/>
          </a:prstGeom>
          <a:noFill/>
        </p:spPr>
        <p:txBody>
          <a:bodyPr wrap="none" lIns="0" tIns="0" rIns="0" bIns="0">
            <a:spAutoFit/>
          </a:bodyPr>
          <a:lstStyle/>
          <a:p>
            <a:r>
              <a:rPr sz="1150" b="0">
                <a:solidFill>
                  <a:srgbClr val="2E2E2E"/>
                </a:solidFill>
                <a:latin typeface="Calibri"/>
              </a:rPr>
              <a:t>Virgin kraft fibre-based segment is projected to register</a:t>
            </a:r>
          </a:p>
        </p:txBody>
      </p:sp>
      <p:pic>
        <p:nvPicPr>
          <p:cNvPr id="22" name="Picture 21" descr="lock.png"/>
          <p:cNvPicPr>
            <a:picLocks noChangeAspect="1"/>
          </p:cNvPicPr>
          <p:nvPr/>
        </p:nvPicPr>
        <p:blipFill>
          <a:blip r:embed="rId4"/>
          <a:stretch>
            <a:fillRect/>
          </a:stretch>
        </p:blipFill>
        <p:spPr>
          <a:xfrm>
            <a:off x="3597402" y="3942651"/>
            <a:ext cx="134549" cy="195707"/>
          </a:xfrm>
          <a:prstGeom prst="rect">
            <a:avLst/>
          </a:prstGeom>
        </p:spPr>
      </p:pic>
      <p:sp>
        <p:nvSpPr>
          <p:cNvPr id="23" name="TextBox 22"/>
          <p:cNvSpPr txBox="1"/>
          <p:nvPr/>
        </p:nvSpPr>
        <p:spPr>
          <a:xfrm>
            <a:off x="3772511" y="3952875"/>
            <a:ext cx="7740116" cy="194310"/>
          </a:xfrm>
          <a:prstGeom prst="rect">
            <a:avLst/>
          </a:prstGeom>
          <a:noFill/>
        </p:spPr>
        <p:txBody>
          <a:bodyPr wrap="none" lIns="0" tIns="0" rIns="0" bIns="0">
            <a:spAutoFit/>
          </a:bodyPr>
          <a:lstStyle/>
          <a:p>
            <a:r>
              <a:rPr sz="1150" b="0">
                <a:solidFill>
                  <a:srgbClr val="2E2E2E"/>
                </a:solidFill>
                <a:latin typeface="Calibri"/>
              </a:rPr>
              <a:t>X higher volume than recycled fibre-based (testliner/recycled medium) segment in 2036. Among corrugated partition by material</a:t>
            </a:r>
          </a:p>
        </p:txBody>
      </p:sp>
      <p:sp>
        <p:nvSpPr>
          <p:cNvPr id="24" name="TextBox 23"/>
          <p:cNvSpPr txBox="1"/>
          <p:nvPr/>
        </p:nvSpPr>
        <p:spPr>
          <a:xfrm>
            <a:off x="276225" y="4128135"/>
            <a:ext cx="6559432" cy="194310"/>
          </a:xfrm>
          <a:prstGeom prst="rect">
            <a:avLst/>
          </a:prstGeom>
          <a:noFill/>
        </p:spPr>
        <p:txBody>
          <a:bodyPr wrap="none" lIns="0" tIns="0" rIns="0" bIns="0">
            <a:spAutoFit/>
          </a:bodyPr>
          <a:lstStyle/>
          <a:p>
            <a:r>
              <a:rPr sz="1150" b="0">
                <a:solidFill>
                  <a:srgbClr val="2E2E2E"/>
                </a:solidFill>
                <a:latin typeface="Calibri"/>
              </a:rPr>
              <a:t>source, recycled fibre-based (testliner/recycled medium) segment is expected to witness the highest CAGR of</a:t>
            </a:r>
          </a:p>
        </p:txBody>
      </p:sp>
      <p:pic>
        <p:nvPicPr>
          <p:cNvPr id="25" name="Picture 24" descr="lock.png"/>
          <p:cNvPicPr>
            <a:picLocks noChangeAspect="1"/>
          </p:cNvPicPr>
          <p:nvPr/>
        </p:nvPicPr>
        <p:blipFill>
          <a:blip r:embed="rId4"/>
          <a:stretch>
            <a:fillRect/>
          </a:stretch>
        </p:blipFill>
        <p:spPr>
          <a:xfrm>
            <a:off x="6784811" y="4117911"/>
            <a:ext cx="134549" cy="195707"/>
          </a:xfrm>
          <a:prstGeom prst="rect">
            <a:avLst/>
          </a:prstGeom>
        </p:spPr>
      </p:pic>
      <p:sp>
        <p:nvSpPr>
          <p:cNvPr id="26" name="TextBox 25"/>
          <p:cNvSpPr txBox="1"/>
          <p:nvPr/>
        </p:nvSpPr>
        <p:spPr>
          <a:xfrm>
            <a:off x="6959921" y="412813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355972"/>
            <a:ext cx="7471978" cy="194310"/>
          </a:xfrm>
          <a:prstGeom prst="rect">
            <a:avLst/>
          </a:prstGeom>
          <a:noFill/>
        </p:spPr>
        <p:txBody>
          <a:bodyPr wrap="none" lIns="0" tIns="0" rIns="0" bIns="0">
            <a:spAutoFit/>
          </a:bodyPr>
          <a:lstStyle/>
          <a:p>
            <a:r>
              <a:rPr sz="1150" b="0">
                <a:solidFill>
                  <a:srgbClr val="2E2E2E"/>
                </a:solidFill>
                <a:latin typeface="Calibri"/>
              </a:rPr>
              <a:t>In terms of volume share by material source, the virgin kraft fibre-based segment is expected to dominate the market, losing</a:t>
            </a:r>
          </a:p>
        </p:txBody>
      </p:sp>
      <p:pic>
        <p:nvPicPr>
          <p:cNvPr id="28" name="Picture 27" descr="lock.png"/>
          <p:cNvPicPr>
            <a:picLocks noChangeAspect="1"/>
          </p:cNvPicPr>
          <p:nvPr/>
        </p:nvPicPr>
        <p:blipFill>
          <a:blip r:embed="rId4"/>
          <a:stretch>
            <a:fillRect/>
          </a:stretch>
        </p:blipFill>
        <p:spPr>
          <a:xfrm>
            <a:off x="7697356" y="4345749"/>
            <a:ext cx="134549" cy="195707"/>
          </a:xfrm>
          <a:prstGeom prst="rect">
            <a:avLst/>
          </a:prstGeom>
        </p:spPr>
      </p:pic>
      <p:sp>
        <p:nvSpPr>
          <p:cNvPr id="29" name="TextBox 28"/>
          <p:cNvSpPr txBox="1"/>
          <p:nvPr/>
        </p:nvSpPr>
        <p:spPr>
          <a:xfrm>
            <a:off x="7872466" y="4355972"/>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267609" y="4345749"/>
            <a:ext cx="134549" cy="195707"/>
          </a:xfrm>
          <a:prstGeom prst="rect">
            <a:avLst/>
          </a:prstGeom>
        </p:spPr>
      </p:pic>
      <p:sp>
        <p:nvSpPr>
          <p:cNvPr id="31" name="TextBox 30"/>
          <p:cNvSpPr txBox="1"/>
          <p:nvPr/>
        </p:nvSpPr>
        <p:spPr>
          <a:xfrm>
            <a:off x="9442718" y="4355972"/>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Analysis, By Material Source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Material Source,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By Material Source (US$ Mn)</a:t>
            </a:r>
          </a:p>
        </p:txBody>
      </p:sp>
      <p:graphicFrame>
        <p:nvGraphicFramePr>
          <p:cNvPr id="13" name="Table 12"/>
          <p:cNvGraphicFramePr>
            <a:graphicFrameLocks noGrp="1"/>
          </p:cNvGraphicFramePr>
          <p:nvPr/>
        </p:nvGraphicFramePr>
        <p:xfrm>
          <a:off x="152400" y="1238250"/>
          <a:ext cx="11887201" cy="990600"/>
        </p:xfrm>
        <a:graphic>
          <a:graphicData uri="http://schemas.openxmlformats.org/drawingml/2006/table">
            <a:tbl>
              <a:tblPr>
                <a:tableStyleId>{5C22544A-7EE6-4342-B048-85BDC9FD1C3A}</a:tableStyleId>
              </a:tblPr>
              <a:tblGrid>
                <a:gridCol w="1659814">
                  <a:extLst>
                    <a:ext uri="{9D8B030D-6E8A-4147-A177-3AD203B41FA5}">
                      <a16:colId xmlns:a16="http://schemas.microsoft.com/office/drawing/2014/main" val="20000"/>
                    </a:ext>
                  </a:extLst>
                </a:gridCol>
                <a:gridCol w="601611">
                  <a:extLst>
                    <a:ext uri="{9D8B030D-6E8A-4147-A177-3AD203B41FA5}">
                      <a16:colId xmlns:a16="http://schemas.microsoft.com/office/drawing/2014/main" val="20001"/>
                    </a:ext>
                  </a:extLst>
                </a:gridCol>
                <a:gridCol w="601611">
                  <a:extLst>
                    <a:ext uri="{9D8B030D-6E8A-4147-A177-3AD203B41FA5}">
                      <a16:colId xmlns:a16="http://schemas.microsoft.com/office/drawing/2014/main" val="20002"/>
                    </a:ext>
                  </a:extLst>
                </a:gridCol>
                <a:gridCol w="601611">
                  <a:extLst>
                    <a:ext uri="{9D8B030D-6E8A-4147-A177-3AD203B41FA5}">
                      <a16:colId xmlns:a16="http://schemas.microsoft.com/office/drawing/2014/main" val="20003"/>
                    </a:ext>
                  </a:extLst>
                </a:gridCol>
                <a:gridCol w="601611">
                  <a:extLst>
                    <a:ext uri="{9D8B030D-6E8A-4147-A177-3AD203B41FA5}">
                      <a16:colId xmlns:a16="http://schemas.microsoft.com/office/drawing/2014/main" val="20004"/>
                    </a:ext>
                  </a:extLst>
                </a:gridCol>
                <a:gridCol w="601611">
                  <a:extLst>
                    <a:ext uri="{9D8B030D-6E8A-4147-A177-3AD203B41FA5}">
                      <a16:colId xmlns:a16="http://schemas.microsoft.com/office/drawing/2014/main" val="20005"/>
                    </a:ext>
                  </a:extLst>
                </a:gridCol>
                <a:gridCol w="601611">
                  <a:extLst>
                    <a:ext uri="{9D8B030D-6E8A-4147-A177-3AD203B41FA5}">
                      <a16:colId xmlns:a16="http://schemas.microsoft.com/office/drawing/2014/main" val="20006"/>
                    </a:ext>
                  </a:extLst>
                </a:gridCol>
                <a:gridCol w="601611">
                  <a:extLst>
                    <a:ext uri="{9D8B030D-6E8A-4147-A177-3AD203B41FA5}">
                      <a16:colId xmlns:a16="http://schemas.microsoft.com/office/drawing/2014/main" val="20007"/>
                    </a:ext>
                  </a:extLst>
                </a:gridCol>
                <a:gridCol w="601611">
                  <a:extLst>
                    <a:ext uri="{9D8B030D-6E8A-4147-A177-3AD203B41FA5}">
                      <a16:colId xmlns:a16="http://schemas.microsoft.com/office/drawing/2014/main" val="20008"/>
                    </a:ext>
                  </a:extLst>
                </a:gridCol>
                <a:gridCol w="601611">
                  <a:extLst>
                    <a:ext uri="{9D8B030D-6E8A-4147-A177-3AD203B41FA5}">
                      <a16:colId xmlns:a16="http://schemas.microsoft.com/office/drawing/2014/main" val="20009"/>
                    </a:ext>
                  </a:extLst>
                </a:gridCol>
                <a:gridCol w="601611">
                  <a:extLst>
                    <a:ext uri="{9D8B030D-6E8A-4147-A177-3AD203B41FA5}">
                      <a16:colId xmlns:a16="http://schemas.microsoft.com/office/drawing/2014/main" val="20010"/>
                    </a:ext>
                  </a:extLst>
                </a:gridCol>
                <a:gridCol w="601611">
                  <a:extLst>
                    <a:ext uri="{9D8B030D-6E8A-4147-A177-3AD203B41FA5}">
                      <a16:colId xmlns:a16="http://schemas.microsoft.com/office/drawing/2014/main" val="20011"/>
                    </a:ext>
                  </a:extLst>
                </a:gridCol>
                <a:gridCol w="601611">
                  <a:extLst>
                    <a:ext uri="{9D8B030D-6E8A-4147-A177-3AD203B41FA5}">
                      <a16:colId xmlns:a16="http://schemas.microsoft.com/office/drawing/2014/main" val="20012"/>
                    </a:ext>
                  </a:extLst>
                </a:gridCol>
                <a:gridCol w="601611">
                  <a:extLst>
                    <a:ext uri="{9D8B030D-6E8A-4147-A177-3AD203B41FA5}">
                      <a16:colId xmlns:a16="http://schemas.microsoft.com/office/drawing/2014/main" val="20013"/>
                    </a:ext>
                  </a:extLst>
                </a:gridCol>
                <a:gridCol w="601611">
                  <a:extLst>
                    <a:ext uri="{9D8B030D-6E8A-4147-A177-3AD203B41FA5}">
                      <a16:colId xmlns:a16="http://schemas.microsoft.com/office/drawing/2014/main" val="20014"/>
                    </a:ext>
                  </a:extLst>
                </a:gridCol>
                <a:gridCol w="601611">
                  <a:extLst>
                    <a:ext uri="{9D8B030D-6E8A-4147-A177-3AD203B41FA5}">
                      <a16:colId xmlns:a16="http://schemas.microsoft.com/office/drawing/2014/main" val="20015"/>
                    </a:ext>
                  </a:extLst>
                </a:gridCol>
                <a:gridCol w="601611">
                  <a:extLst>
                    <a:ext uri="{9D8B030D-6E8A-4147-A177-3AD203B41FA5}">
                      <a16:colId xmlns:a16="http://schemas.microsoft.com/office/drawing/2014/main" val="20016"/>
                    </a:ext>
                  </a:extLst>
                </a:gridCol>
                <a:gridCol w="601611">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65747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Value Analysis, By Material Source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2981325"/>
            <a:ext cx="11639550" cy="3571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39217" y="1589913"/>
            <a:ext cx="366712" cy="533400"/>
          </a:xfrm>
          <a:prstGeom prst="rect">
            <a:avLst/>
          </a:prstGeom>
        </p:spPr>
      </p:pic>
      <p:sp>
        <p:nvSpPr>
          <p:cNvPr id="21" name="TextBox 20"/>
          <p:cNvSpPr txBox="1"/>
          <p:nvPr/>
        </p:nvSpPr>
        <p:spPr>
          <a:xfrm>
            <a:off x="276225" y="2990850"/>
            <a:ext cx="3372023" cy="194310"/>
          </a:xfrm>
          <a:prstGeom prst="rect">
            <a:avLst/>
          </a:prstGeom>
          <a:noFill/>
        </p:spPr>
        <p:txBody>
          <a:bodyPr wrap="none" lIns="0" tIns="0" rIns="0" bIns="0">
            <a:spAutoFit/>
          </a:bodyPr>
          <a:lstStyle/>
          <a:p>
            <a:r>
              <a:rPr sz="1150" b="0">
                <a:solidFill>
                  <a:srgbClr val="2E2E2E"/>
                </a:solidFill>
                <a:latin typeface="Calibri"/>
              </a:rPr>
              <a:t>Virgin kraft fibre-based segment is projected to register</a:t>
            </a:r>
          </a:p>
        </p:txBody>
      </p:sp>
      <p:pic>
        <p:nvPicPr>
          <p:cNvPr id="22" name="Picture 21" descr="lock.png"/>
          <p:cNvPicPr>
            <a:picLocks noChangeAspect="1"/>
          </p:cNvPicPr>
          <p:nvPr/>
        </p:nvPicPr>
        <p:blipFill>
          <a:blip r:embed="rId4"/>
          <a:stretch>
            <a:fillRect/>
          </a:stretch>
        </p:blipFill>
        <p:spPr>
          <a:xfrm>
            <a:off x="3597402" y="2980626"/>
            <a:ext cx="134549" cy="195707"/>
          </a:xfrm>
          <a:prstGeom prst="rect">
            <a:avLst/>
          </a:prstGeom>
        </p:spPr>
      </p:pic>
      <p:sp>
        <p:nvSpPr>
          <p:cNvPr id="23" name="TextBox 22"/>
          <p:cNvSpPr txBox="1"/>
          <p:nvPr/>
        </p:nvSpPr>
        <p:spPr>
          <a:xfrm>
            <a:off x="3772511" y="2990850"/>
            <a:ext cx="8082421" cy="194310"/>
          </a:xfrm>
          <a:prstGeom prst="rect">
            <a:avLst/>
          </a:prstGeom>
          <a:noFill/>
        </p:spPr>
        <p:txBody>
          <a:bodyPr wrap="none" lIns="0" tIns="0" rIns="0" bIns="0">
            <a:spAutoFit/>
          </a:bodyPr>
          <a:lstStyle/>
          <a:p>
            <a:r>
              <a:rPr sz="1150" b="0">
                <a:solidFill>
                  <a:srgbClr val="2E2E2E"/>
                </a:solidFill>
                <a:latin typeface="Calibri"/>
              </a:rPr>
              <a:t>X higher value than recycled fibre-based (testliner/recycled medium) segment in 2036. Among corrugated partition by material source,</a:t>
            </a:r>
          </a:p>
        </p:txBody>
      </p:sp>
      <p:sp>
        <p:nvSpPr>
          <p:cNvPr id="24" name="TextBox 23"/>
          <p:cNvSpPr txBox="1"/>
          <p:nvPr/>
        </p:nvSpPr>
        <p:spPr>
          <a:xfrm>
            <a:off x="276225" y="3166110"/>
            <a:ext cx="6093328" cy="194310"/>
          </a:xfrm>
          <a:prstGeom prst="rect">
            <a:avLst/>
          </a:prstGeom>
          <a:noFill/>
        </p:spPr>
        <p:txBody>
          <a:bodyPr wrap="none" lIns="0" tIns="0" rIns="0" bIns="0">
            <a:spAutoFit/>
          </a:bodyPr>
          <a:lstStyle/>
          <a:p>
            <a:r>
              <a:rPr sz="1150" b="0">
                <a:solidFill>
                  <a:srgbClr val="2E2E2E"/>
                </a:solidFill>
                <a:latin typeface="Calibri"/>
              </a:rPr>
              <a:t>recycled fibre-based (testliner/recycled medium) segment is expected to witness the highest CAGR of</a:t>
            </a:r>
          </a:p>
        </p:txBody>
      </p:sp>
      <p:pic>
        <p:nvPicPr>
          <p:cNvPr id="25" name="Picture 24" descr="lock.png"/>
          <p:cNvPicPr>
            <a:picLocks noChangeAspect="1"/>
          </p:cNvPicPr>
          <p:nvPr/>
        </p:nvPicPr>
        <p:blipFill>
          <a:blip r:embed="rId4"/>
          <a:stretch>
            <a:fillRect/>
          </a:stretch>
        </p:blipFill>
        <p:spPr>
          <a:xfrm>
            <a:off x="6318707" y="3155886"/>
            <a:ext cx="134549" cy="195707"/>
          </a:xfrm>
          <a:prstGeom prst="rect">
            <a:avLst/>
          </a:prstGeom>
        </p:spPr>
      </p:pic>
      <p:sp>
        <p:nvSpPr>
          <p:cNvPr id="26" name="TextBox 25"/>
          <p:cNvSpPr txBox="1"/>
          <p:nvPr/>
        </p:nvSpPr>
        <p:spPr>
          <a:xfrm>
            <a:off x="6493816" y="3166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348177" cy="194310"/>
          </a:xfrm>
          <a:prstGeom prst="rect">
            <a:avLst/>
          </a:prstGeom>
          <a:noFill/>
        </p:spPr>
        <p:txBody>
          <a:bodyPr wrap="none" lIns="0" tIns="0" rIns="0" bIns="0">
            <a:spAutoFit/>
          </a:bodyPr>
          <a:lstStyle/>
          <a:p>
            <a:r>
              <a:rPr sz="1150" b="0">
                <a:solidFill>
                  <a:srgbClr val="2E2E2E"/>
                </a:solidFill>
                <a:latin typeface="Calibri"/>
              </a:rPr>
              <a:t>In terms of value share by material source, the virgin kraft fibre-based segment is expected to dominate the market, losing</a:t>
            </a:r>
          </a:p>
        </p:txBody>
      </p:sp>
      <p:pic>
        <p:nvPicPr>
          <p:cNvPr id="28" name="Picture 27" descr="lock.png"/>
          <p:cNvPicPr>
            <a:picLocks noChangeAspect="1"/>
          </p:cNvPicPr>
          <p:nvPr/>
        </p:nvPicPr>
        <p:blipFill>
          <a:blip r:embed="rId4"/>
          <a:stretch>
            <a:fillRect/>
          </a:stretch>
        </p:blipFill>
        <p:spPr>
          <a:xfrm>
            <a:off x="7573556" y="3383724"/>
            <a:ext cx="134549" cy="195707"/>
          </a:xfrm>
          <a:prstGeom prst="rect">
            <a:avLst/>
          </a:prstGeom>
        </p:spPr>
      </p:pic>
      <p:sp>
        <p:nvSpPr>
          <p:cNvPr id="29" name="TextBox 28"/>
          <p:cNvSpPr txBox="1"/>
          <p:nvPr/>
        </p:nvSpPr>
        <p:spPr>
          <a:xfrm>
            <a:off x="7748666" y="3393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43809" y="3383724"/>
            <a:ext cx="134549" cy="195707"/>
          </a:xfrm>
          <a:prstGeom prst="rect">
            <a:avLst/>
          </a:prstGeom>
        </p:spPr>
      </p:pic>
      <p:sp>
        <p:nvSpPr>
          <p:cNvPr id="31" name="TextBox 30"/>
          <p:cNvSpPr txBox="1"/>
          <p:nvPr/>
        </p:nvSpPr>
        <p:spPr>
          <a:xfrm>
            <a:off x="9318918" y="3393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&amp; Share Shift, By Material Source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Material Source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Composition, By Material Source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211167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5090922" y="21069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2030709"/>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Recycled Fibre-based</a:t>
            </a:r>
          </a:p>
        </p:txBody>
      </p:sp>
      <p:sp>
        <p:nvSpPr>
          <p:cNvPr id="19" name="BPS Value 1"/>
          <p:cNvSpPr txBox="1"/>
          <p:nvPr/>
        </p:nvSpPr>
        <p:spPr>
          <a:xfrm>
            <a:off x="6896100" y="2092621"/>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928997" y="43978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43930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4316899"/>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Virgin Kraft Fibre-based</a:t>
            </a:r>
          </a:p>
        </p:txBody>
      </p:sp>
      <p:sp>
        <p:nvSpPr>
          <p:cNvPr id="23" name="BPS Value 2"/>
          <p:cNvSpPr txBox="1"/>
          <p:nvPr/>
        </p:nvSpPr>
        <p:spPr>
          <a:xfrm>
            <a:off x="6896100" y="4378812"/>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Global Read-out, By Material Source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8" name="TextBox 2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439628" cy="194310"/>
          </a:xfrm>
          <a:prstGeom prst="rect">
            <a:avLst/>
          </a:prstGeom>
          <a:noFill/>
        </p:spPr>
        <p:txBody>
          <a:bodyPr wrap="none" lIns="0" tIns="0" rIns="0" bIns="0">
            <a:spAutoFit/>
          </a:bodyPr>
          <a:lstStyle/>
          <a:p>
            <a:r>
              <a:rPr sz="1150" b="0">
                <a:solidFill>
                  <a:srgbClr val="2E2E2E"/>
                </a:solidFill>
                <a:latin typeface="Calibri"/>
              </a:rPr>
              <a:t>Among corrugated partition by material source, recycled</a:t>
            </a:r>
          </a:p>
        </p:txBody>
      </p:sp>
      <p:sp>
        <p:nvSpPr>
          <p:cNvPr id="31" name="TextBox 30"/>
          <p:cNvSpPr txBox="1"/>
          <p:nvPr/>
        </p:nvSpPr>
        <p:spPr>
          <a:xfrm>
            <a:off x="7829550" y="1575435"/>
            <a:ext cx="3858666" cy="194310"/>
          </a:xfrm>
          <a:prstGeom prst="rect">
            <a:avLst/>
          </a:prstGeom>
          <a:noFill/>
        </p:spPr>
        <p:txBody>
          <a:bodyPr wrap="none" lIns="0" tIns="0" rIns="0" bIns="0">
            <a:spAutoFit/>
          </a:bodyPr>
          <a:lstStyle/>
          <a:p>
            <a:r>
              <a:rPr sz="1150" b="0">
                <a:solidFill>
                  <a:srgbClr val="2E2E2E"/>
                </a:solidFill>
                <a:latin typeface="Calibri"/>
              </a:rPr>
              <a:t>fibre-based (testliner/recycled medium) segment is expected to</a:t>
            </a:r>
          </a:p>
        </p:txBody>
      </p:sp>
      <p:sp>
        <p:nvSpPr>
          <p:cNvPr id="32" name="TextBox 31"/>
          <p:cNvSpPr txBox="1"/>
          <p:nvPr/>
        </p:nvSpPr>
        <p:spPr>
          <a:xfrm>
            <a:off x="7829550" y="1750695"/>
            <a:ext cx="1747770" cy="194310"/>
          </a:xfrm>
          <a:prstGeom prst="rect">
            <a:avLst/>
          </a:prstGeom>
          <a:noFill/>
        </p:spPr>
        <p:txBody>
          <a:bodyPr wrap="none" lIns="0" tIns="0" rIns="0" bIns="0">
            <a:spAutoFit/>
          </a:bodyPr>
          <a:lstStyle/>
          <a:p>
            <a:r>
              <a:rPr sz="1150" b="0">
                <a:solidFill>
                  <a:srgbClr val="2E2E2E"/>
                </a:solidFill>
                <a:latin typeface="Calibri"/>
              </a:rPr>
              <a:t>witness the highest CAGR of</a:t>
            </a:r>
          </a:p>
        </p:txBody>
      </p:sp>
      <p:pic>
        <p:nvPicPr>
          <p:cNvPr id="33" name="Picture 32" descr="lock.png"/>
          <p:cNvPicPr>
            <a:picLocks noChangeAspect="1"/>
          </p:cNvPicPr>
          <p:nvPr/>
        </p:nvPicPr>
        <p:blipFill>
          <a:blip r:embed="rId5"/>
          <a:stretch>
            <a:fillRect/>
          </a:stretch>
        </p:blipFill>
        <p:spPr>
          <a:xfrm>
            <a:off x="9526474" y="1740471"/>
            <a:ext cx="134549" cy="195707"/>
          </a:xfrm>
          <a:prstGeom prst="rect">
            <a:avLst/>
          </a:prstGeom>
        </p:spPr>
      </p:pic>
      <p:sp>
        <p:nvSpPr>
          <p:cNvPr id="34" name="TextBox 33"/>
          <p:cNvSpPr txBox="1"/>
          <p:nvPr/>
        </p:nvSpPr>
        <p:spPr>
          <a:xfrm>
            <a:off x="9701583" y="175069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35" name="TextBox 34"/>
          <p:cNvSpPr txBox="1"/>
          <p:nvPr/>
        </p:nvSpPr>
        <p:spPr>
          <a:xfrm>
            <a:off x="7829550" y="1978533"/>
            <a:ext cx="3516932" cy="194310"/>
          </a:xfrm>
          <a:prstGeom prst="rect">
            <a:avLst/>
          </a:prstGeom>
          <a:noFill/>
        </p:spPr>
        <p:txBody>
          <a:bodyPr wrap="none" lIns="0" tIns="0" rIns="0" bIns="0">
            <a:spAutoFit/>
          </a:bodyPr>
          <a:lstStyle/>
          <a:p>
            <a:r>
              <a:rPr sz="1150" b="0">
                <a:solidFill>
                  <a:srgbClr val="2E2E2E"/>
                </a:solidFill>
                <a:latin typeface="Calibri"/>
              </a:rPr>
              <a:t>In terms of value share by material source, the virgin kraft</a:t>
            </a:r>
          </a:p>
        </p:txBody>
      </p:sp>
      <p:sp>
        <p:nvSpPr>
          <p:cNvPr id="36" name="TextBox 35"/>
          <p:cNvSpPr txBox="1"/>
          <p:nvPr/>
        </p:nvSpPr>
        <p:spPr>
          <a:xfrm>
            <a:off x="7829550" y="2153793"/>
            <a:ext cx="3874355" cy="194310"/>
          </a:xfrm>
          <a:prstGeom prst="rect">
            <a:avLst/>
          </a:prstGeom>
          <a:noFill/>
        </p:spPr>
        <p:txBody>
          <a:bodyPr wrap="none" lIns="0" tIns="0" rIns="0" bIns="0">
            <a:spAutoFit/>
          </a:bodyPr>
          <a:lstStyle/>
          <a:p>
            <a:r>
              <a:rPr sz="1150" b="0">
                <a:solidFill>
                  <a:srgbClr val="2E2E2E"/>
                </a:solidFill>
                <a:latin typeface="Calibri"/>
              </a:rPr>
              <a:t>fibre-based segment is expected to dominate the market, losing</a:t>
            </a:r>
          </a:p>
        </p:txBody>
      </p:sp>
      <p:pic>
        <p:nvPicPr>
          <p:cNvPr id="37" name="Picture 36" descr="lock.png"/>
          <p:cNvPicPr>
            <a:picLocks noChangeAspect="1"/>
          </p:cNvPicPr>
          <p:nvPr/>
        </p:nvPicPr>
        <p:blipFill>
          <a:blip r:embed="rId5"/>
          <a:stretch>
            <a:fillRect/>
          </a:stretch>
        </p:blipFill>
        <p:spPr>
          <a:xfrm>
            <a:off x="7815470" y="2318829"/>
            <a:ext cx="134549" cy="195707"/>
          </a:xfrm>
          <a:prstGeom prst="rect">
            <a:avLst/>
          </a:prstGeom>
        </p:spPr>
      </p:pic>
      <p:sp>
        <p:nvSpPr>
          <p:cNvPr id="38" name="TextBox 37"/>
          <p:cNvSpPr txBox="1"/>
          <p:nvPr/>
        </p:nvSpPr>
        <p:spPr>
          <a:xfrm>
            <a:off x="7990579" y="2329053"/>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9" name="Picture 38" descr="lock.png"/>
          <p:cNvPicPr>
            <a:picLocks noChangeAspect="1"/>
          </p:cNvPicPr>
          <p:nvPr/>
        </p:nvPicPr>
        <p:blipFill>
          <a:blip r:embed="rId5"/>
          <a:stretch>
            <a:fillRect/>
          </a:stretch>
        </p:blipFill>
        <p:spPr>
          <a:xfrm>
            <a:off x="9385722" y="2318829"/>
            <a:ext cx="134549" cy="195707"/>
          </a:xfrm>
          <a:prstGeom prst="rect">
            <a:avLst/>
          </a:prstGeom>
        </p:spPr>
      </p:pic>
      <p:sp>
        <p:nvSpPr>
          <p:cNvPr id="40" name="TextBox 39"/>
          <p:cNvSpPr txBox="1"/>
          <p:nvPr/>
        </p:nvSpPr>
        <p:spPr>
          <a:xfrm>
            <a:off x="9560832" y="232905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Volume, By Material Source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Material Source,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Growth,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extLst>
                    <a:ext uri="{9D8B030D-6E8A-4147-A177-3AD203B41FA5}">
                      <a16:colId xmlns:a16="http://schemas.microsoft.com/office/drawing/2014/main" val="20000"/>
                    </a:ext>
                  </a:extLst>
                </a:gridCol>
                <a:gridCol w="671514">
                  <a:extLst>
                    <a:ext uri="{9D8B030D-6E8A-4147-A177-3AD203B41FA5}">
                      <a16:colId xmlns:a16="http://schemas.microsoft.com/office/drawing/2014/main" val="20001"/>
                    </a:ext>
                  </a:extLst>
                </a:gridCol>
                <a:gridCol w="671514">
                  <a:extLst>
                    <a:ext uri="{9D8B030D-6E8A-4147-A177-3AD203B41FA5}">
                      <a16:colId xmlns:a16="http://schemas.microsoft.com/office/drawing/2014/main" val="20002"/>
                    </a:ext>
                  </a:extLst>
                </a:gridCol>
                <a:gridCol w="671514">
                  <a:extLst>
                    <a:ext uri="{9D8B030D-6E8A-4147-A177-3AD203B41FA5}">
                      <a16:colId xmlns:a16="http://schemas.microsoft.com/office/drawing/2014/main" val="20003"/>
                    </a:ext>
                  </a:extLst>
                </a:gridCol>
                <a:gridCol w="671514">
                  <a:extLst>
                    <a:ext uri="{9D8B030D-6E8A-4147-A177-3AD203B41FA5}">
                      <a16:colId xmlns:a16="http://schemas.microsoft.com/office/drawing/2014/main" val="20004"/>
                    </a:ext>
                  </a:extLst>
                </a:gridCol>
                <a:gridCol w="671514">
                  <a:extLst>
                    <a:ext uri="{9D8B030D-6E8A-4147-A177-3AD203B41FA5}">
                      <a16:colId xmlns:a16="http://schemas.microsoft.com/office/drawing/2014/main" val="20005"/>
                    </a:ext>
                  </a:extLst>
                </a:gridCol>
                <a:gridCol w="671514">
                  <a:extLst>
                    <a:ext uri="{9D8B030D-6E8A-4147-A177-3AD203B41FA5}">
                      <a16:colId xmlns:a16="http://schemas.microsoft.com/office/drawing/2014/main" val="20006"/>
                    </a:ext>
                  </a:extLst>
                </a:gridCol>
                <a:gridCol w="671514">
                  <a:extLst>
                    <a:ext uri="{9D8B030D-6E8A-4147-A177-3AD203B41FA5}">
                      <a16:colId xmlns:a16="http://schemas.microsoft.com/office/drawing/2014/main" val="20007"/>
                    </a:ext>
                  </a:extLst>
                </a:gridCol>
                <a:gridCol w="671514">
                  <a:extLst>
                    <a:ext uri="{9D8B030D-6E8A-4147-A177-3AD203B41FA5}">
                      <a16:colId xmlns:a16="http://schemas.microsoft.com/office/drawing/2014/main" val="20008"/>
                    </a:ext>
                  </a:extLst>
                </a:gridCol>
                <a:gridCol w="671514">
                  <a:extLst>
                    <a:ext uri="{9D8B030D-6E8A-4147-A177-3AD203B41FA5}">
                      <a16:colId xmlns:a16="http://schemas.microsoft.com/office/drawing/2014/main" val="20009"/>
                    </a:ext>
                  </a:extLst>
                </a:gridCol>
                <a:gridCol w="671514">
                  <a:extLst>
                    <a:ext uri="{9D8B030D-6E8A-4147-A177-3AD203B41FA5}">
                      <a16:colId xmlns:a16="http://schemas.microsoft.com/office/drawing/2014/main" val="20010"/>
                    </a:ext>
                  </a:extLst>
                </a:gridCol>
                <a:gridCol w="671514">
                  <a:extLst>
                    <a:ext uri="{9D8B030D-6E8A-4147-A177-3AD203B41FA5}">
                      <a16:colId xmlns:a16="http://schemas.microsoft.com/office/drawing/2014/main" val="20011"/>
                    </a:ext>
                  </a:extLst>
                </a:gridCol>
                <a:gridCol w="671514">
                  <a:extLst>
                    <a:ext uri="{9D8B030D-6E8A-4147-A177-3AD203B41FA5}">
                      <a16:colId xmlns:a16="http://schemas.microsoft.com/office/drawing/2014/main" val="20012"/>
                    </a:ext>
                  </a:extLst>
                </a:gridCol>
                <a:gridCol w="671514">
                  <a:extLst>
                    <a:ext uri="{9D8B030D-6E8A-4147-A177-3AD203B41FA5}">
                      <a16:colId xmlns:a16="http://schemas.microsoft.com/office/drawing/2014/main" val="20013"/>
                    </a:ext>
                  </a:extLst>
                </a:gridCol>
                <a:gridCol w="671514">
                  <a:extLst>
                    <a:ext uri="{9D8B030D-6E8A-4147-A177-3AD203B41FA5}">
                      <a16:colId xmlns:a16="http://schemas.microsoft.com/office/drawing/2014/main" val="20014"/>
                    </a:ext>
                  </a:extLst>
                </a:gridCol>
                <a:gridCol w="671514">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Heatmap, By Material Source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Virgin Kraft Fibre-based</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Recycled Fibre-based (testliner/recycled medium)</a:t>
            </a:r>
          </a:p>
        </p:txBody>
      </p:sp>
      <p:sp>
        <p:nvSpPr>
          <p:cNvPr id="49" name="Rectangle 48"/>
          <p:cNvSpPr/>
          <p:nvPr/>
        </p:nvSpPr>
        <p:spPr>
          <a:xfrm>
            <a:off x="1857375" y="4662488"/>
            <a:ext cx="643890" cy="190976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35228" y="1482090"/>
            <a:ext cx="330041" cy="480060"/>
          </a:xfrm>
          <a:prstGeom prst="rect">
            <a:avLst/>
          </a:prstGeom>
        </p:spPr>
      </p:pic>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Value, By Material Source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Material Source,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Growth,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extLst>
                    <a:ext uri="{9D8B030D-6E8A-4147-A177-3AD203B41FA5}">
                      <a16:colId xmlns:a16="http://schemas.microsoft.com/office/drawing/2014/main" val="20000"/>
                    </a:ext>
                  </a:extLst>
                </a:gridCol>
                <a:gridCol w="671514">
                  <a:extLst>
                    <a:ext uri="{9D8B030D-6E8A-4147-A177-3AD203B41FA5}">
                      <a16:colId xmlns:a16="http://schemas.microsoft.com/office/drawing/2014/main" val="20001"/>
                    </a:ext>
                  </a:extLst>
                </a:gridCol>
                <a:gridCol w="671514">
                  <a:extLst>
                    <a:ext uri="{9D8B030D-6E8A-4147-A177-3AD203B41FA5}">
                      <a16:colId xmlns:a16="http://schemas.microsoft.com/office/drawing/2014/main" val="20002"/>
                    </a:ext>
                  </a:extLst>
                </a:gridCol>
                <a:gridCol w="671514">
                  <a:extLst>
                    <a:ext uri="{9D8B030D-6E8A-4147-A177-3AD203B41FA5}">
                      <a16:colId xmlns:a16="http://schemas.microsoft.com/office/drawing/2014/main" val="20003"/>
                    </a:ext>
                  </a:extLst>
                </a:gridCol>
                <a:gridCol w="671514">
                  <a:extLst>
                    <a:ext uri="{9D8B030D-6E8A-4147-A177-3AD203B41FA5}">
                      <a16:colId xmlns:a16="http://schemas.microsoft.com/office/drawing/2014/main" val="20004"/>
                    </a:ext>
                  </a:extLst>
                </a:gridCol>
                <a:gridCol w="671514">
                  <a:extLst>
                    <a:ext uri="{9D8B030D-6E8A-4147-A177-3AD203B41FA5}">
                      <a16:colId xmlns:a16="http://schemas.microsoft.com/office/drawing/2014/main" val="20005"/>
                    </a:ext>
                  </a:extLst>
                </a:gridCol>
                <a:gridCol w="671514">
                  <a:extLst>
                    <a:ext uri="{9D8B030D-6E8A-4147-A177-3AD203B41FA5}">
                      <a16:colId xmlns:a16="http://schemas.microsoft.com/office/drawing/2014/main" val="20006"/>
                    </a:ext>
                  </a:extLst>
                </a:gridCol>
                <a:gridCol w="671514">
                  <a:extLst>
                    <a:ext uri="{9D8B030D-6E8A-4147-A177-3AD203B41FA5}">
                      <a16:colId xmlns:a16="http://schemas.microsoft.com/office/drawing/2014/main" val="20007"/>
                    </a:ext>
                  </a:extLst>
                </a:gridCol>
                <a:gridCol w="671514">
                  <a:extLst>
                    <a:ext uri="{9D8B030D-6E8A-4147-A177-3AD203B41FA5}">
                      <a16:colId xmlns:a16="http://schemas.microsoft.com/office/drawing/2014/main" val="20008"/>
                    </a:ext>
                  </a:extLst>
                </a:gridCol>
                <a:gridCol w="671514">
                  <a:extLst>
                    <a:ext uri="{9D8B030D-6E8A-4147-A177-3AD203B41FA5}">
                      <a16:colId xmlns:a16="http://schemas.microsoft.com/office/drawing/2014/main" val="20009"/>
                    </a:ext>
                  </a:extLst>
                </a:gridCol>
                <a:gridCol w="671514">
                  <a:extLst>
                    <a:ext uri="{9D8B030D-6E8A-4147-A177-3AD203B41FA5}">
                      <a16:colId xmlns:a16="http://schemas.microsoft.com/office/drawing/2014/main" val="20010"/>
                    </a:ext>
                  </a:extLst>
                </a:gridCol>
                <a:gridCol w="671514">
                  <a:extLst>
                    <a:ext uri="{9D8B030D-6E8A-4147-A177-3AD203B41FA5}">
                      <a16:colId xmlns:a16="http://schemas.microsoft.com/office/drawing/2014/main" val="20011"/>
                    </a:ext>
                  </a:extLst>
                </a:gridCol>
                <a:gridCol w="671514">
                  <a:extLst>
                    <a:ext uri="{9D8B030D-6E8A-4147-A177-3AD203B41FA5}">
                      <a16:colId xmlns:a16="http://schemas.microsoft.com/office/drawing/2014/main" val="20012"/>
                    </a:ext>
                  </a:extLst>
                </a:gridCol>
                <a:gridCol w="671514">
                  <a:extLst>
                    <a:ext uri="{9D8B030D-6E8A-4147-A177-3AD203B41FA5}">
                      <a16:colId xmlns:a16="http://schemas.microsoft.com/office/drawing/2014/main" val="20013"/>
                    </a:ext>
                  </a:extLst>
                </a:gridCol>
                <a:gridCol w="671514">
                  <a:extLst>
                    <a:ext uri="{9D8B030D-6E8A-4147-A177-3AD203B41FA5}">
                      <a16:colId xmlns:a16="http://schemas.microsoft.com/office/drawing/2014/main" val="20014"/>
                    </a:ext>
                  </a:extLst>
                </a:gridCol>
                <a:gridCol w="671514">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Heatmap, By Material Source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Virgin Kraft Fibre-based</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Recycled Fibre-based (testliner/recycled medium)</a:t>
            </a:r>
          </a:p>
        </p:txBody>
      </p:sp>
      <p:sp>
        <p:nvSpPr>
          <p:cNvPr id="49" name="Rectangle 48"/>
          <p:cNvSpPr/>
          <p:nvPr/>
        </p:nvSpPr>
        <p:spPr>
          <a:xfrm>
            <a:off x="1857375" y="4662488"/>
            <a:ext cx="643890" cy="190976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0C4E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35228" y="1482090"/>
            <a:ext cx="330041" cy="480060"/>
          </a:xfrm>
          <a:prstGeom prst="rect">
            <a:avLst/>
          </a:prstGeom>
        </p:spPr>
      </p:pic>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Cell Configuration</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Cell Configuration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Cell Configuration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4 sub-segments of Cell Configuration,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Cell Configuration segment categorizes the market by cell configuration.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Up to 4 Cells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4433888"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6 to 12 Cells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6962775"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13 to 24 Cells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9491662"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Above 24 Cells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Cell Configuration split shows how demand is distributed across cell configuration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64" name="Picture 63" descr="1_198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_926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9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_107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974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6_0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540_0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762_4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3_5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354_7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525_9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4_0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253282" cy="186689"/>
          </a:xfrm>
          <a:prstGeom prst="rect">
            <a:avLst/>
          </a:prstGeom>
          <a:noFill/>
        </p:spPr>
        <p:txBody>
          <a:bodyPr wrap="none" lIns="0" tIns="0" rIns="0" bIns="0">
            <a:spAutoFit/>
          </a:bodyPr>
          <a:lstStyle/>
          <a:p>
            <a:r>
              <a:rPr sz="1100" b="0">
                <a:solidFill>
                  <a:srgbClr val="2E2E2E"/>
                </a:solidFill>
                <a:latin typeface="Calibri"/>
              </a:rPr>
              <a:t>▪ ¶ Among corrugated partition by cell</a:t>
            </a:r>
          </a:p>
        </p:txBody>
      </p:sp>
      <p:sp>
        <p:nvSpPr>
          <p:cNvPr id="81" name="TextBox 80"/>
          <p:cNvSpPr txBox="1"/>
          <p:nvPr/>
        </p:nvSpPr>
        <p:spPr>
          <a:xfrm>
            <a:off x="485775" y="4397077"/>
            <a:ext cx="2914650" cy="186689"/>
          </a:xfrm>
          <a:prstGeom prst="rect">
            <a:avLst/>
          </a:prstGeom>
          <a:noFill/>
        </p:spPr>
        <p:txBody>
          <a:bodyPr wrap="none" lIns="0" tIns="0" rIns="0" bIns="0">
            <a:spAutoFit/>
          </a:bodyPr>
          <a:lstStyle/>
          <a:p>
            <a:r>
              <a:rPr sz="1100" b="0">
                <a:solidFill>
                  <a:srgbClr val="2E2E2E"/>
                </a:solidFill>
                <a:latin typeface="Calibri"/>
              </a:rPr>
              <a:t>configuration, 6 to 12 cells segment is expected to</a:t>
            </a:r>
          </a:p>
        </p:txBody>
      </p:sp>
      <p:sp>
        <p:nvSpPr>
          <p:cNvPr id="82" name="TextBox 81"/>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83" name="Picture 82" descr="lock.png"/>
          <p:cNvPicPr>
            <a:picLocks noChangeAspect="1"/>
          </p:cNvPicPr>
          <p:nvPr/>
        </p:nvPicPr>
        <p:blipFill>
          <a:blip r:embed="rId16"/>
          <a:stretch>
            <a:fillRect/>
          </a:stretch>
        </p:blipFill>
        <p:spPr>
          <a:xfrm>
            <a:off x="2108919" y="4554938"/>
            <a:ext cx="128699" cy="187198"/>
          </a:xfrm>
          <a:prstGeom prst="rect">
            <a:avLst/>
          </a:prstGeom>
        </p:spPr>
      </p:pic>
      <p:sp>
        <p:nvSpPr>
          <p:cNvPr id="84" name="TextBox 83"/>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85" name="TextBox 84"/>
          <p:cNvSpPr txBox="1"/>
          <p:nvPr/>
        </p:nvSpPr>
        <p:spPr>
          <a:xfrm>
            <a:off x="485775" y="4732357"/>
            <a:ext cx="2208534" cy="186689"/>
          </a:xfrm>
          <a:prstGeom prst="rect">
            <a:avLst/>
          </a:prstGeom>
          <a:noFill/>
        </p:spPr>
        <p:txBody>
          <a:bodyPr wrap="none" lIns="0" tIns="0" rIns="0" bIns="0">
            <a:spAutoFit/>
          </a:bodyPr>
          <a:lstStyle/>
          <a:p>
            <a:r>
              <a:rPr sz="1100" b="0">
                <a:solidFill>
                  <a:srgbClr val="2E2E2E"/>
                </a:solidFill>
                <a:latin typeface="Calibri"/>
              </a:rPr>
              <a:t>period. In terms of value share by cell</a:t>
            </a:r>
          </a:p>
        </p:txBody>
      </p:sp>
      <p:sp>
        <p:nvSpPr>
          <p:cNvPr id="86" name="TextBox 85"/>
          <p:cNvSpPr txBox="1"/>
          <p:nvPr/>
        </p:nvSpPr>
        <p:spPr>
          <a:xfrm>
            <a:off x="485775" y="4899997"/>
            <a:ext cx="2444005" cy="186689"/>
          </a:xfrm>
          <a:prstGeom prst="rect">
            <a:avLst/>
          </a:prstGeom>
          <a:noFill/>
        </p:spPr>
        <p:txBody>
          <a:bodyPr wrap="none" lIns="0" tIns="0" rIns="0" bIns="0">
            <a:spAutoFit/>
          </a:bodyPr>
          <a:lstStyle/>
          <a:p>
            <a:r>
              <a:rPr sz="1100" b="0">
                <a:solidFill>
                  <a:srgbClr val="2E2E2E"/>
                </a:solidFill>
                <a:latin typeface="Calibri"/>
              </a:rPr>
              <a:t>configuration, the 6 to 12 cells segment is</a:t>
            </a:r>
          </a:p>
        </p:txBody>
      </p:sp>
      <p:sp>
        <p:nvSpPr>
          <p:cNvPr id="87" name="TextBox 86"/>
          <p:cNvSpPr txBox="1"/>
          <p:nvPr/>
        </p:nvSpPr>
        <p:spPr>
          <a:xfrm>
            <a:off x="485775" y="5067637"/>
            <a:ext cx="2466652" cy="186689"/>
          </a:xfrm>
          <a:prstGeom prst="rect">
            <a:avLst/>
          </a:prstGeom>
          <a:noFill/>
        </p:spPr>
        <p:txBody>
          <a:bodyPr wrap="none" lIns="0" tIns="0" rIns="0" bIns="0">
            <a:spAutoFit/>
          </a:bodyPr>
          <a:lstStyle/>
          <a:p>
            <a:r>
              <a:rPr sz="1100" b="0">
                <a:solidFill>
                  <a:srgbClr val="2E2E2E"/>
                </a:solidFill>
                <a:latin typeface="Calibri"/>
              </a:rPr>
              <a:t>expected to dominate the market, gaining</a:t>
            </a:r>
          </a:p>
        </p:txBody>
      </p:sp>
      <p:pic>
        <p:nvPicPr>
          <p:cNvPr id="88" name="Picture 87" descr="lock.png"/>
          <p:cNvPicPr>
            <a:picLocks noChangeAspect="1"/>
          </p:cNvPicPr>
          <p:nvPr/>
        </p:nvPicPr>
        <p:blipFill>
          <a:blip r:embed="rId16"/>
          <a:stretch>
            <a:fillRect/>
          </a:stretch>
        </p:blipFill>
        <p:spPr>
          <a:xfrm>
            <a:off x="2900479" y="5057858"/>
            <a:ext cx="128699" cy="187198"/>
          </a:xfrm>
          <a:prstGeom prst="rect">
            <a:avLst/>
          </a:prstGeom>
        </p:spPr>
      </p:pic>
      <p:sp>
        <p:nvSpPr>
          <p:cNvPr id="89" name="TextBox 88"/>
          <p:cNvSpPr txBox="1"/>
          <p:nvPr/>
        </p:nvSpPr>
        <p:spPr>
          <a:xfrm>
            <a:off x="3067974" y="5067637"/>
            <a:ext cx="288751" cy="186689"/>
          </a:xfrm>
          <a:prstGeom prst="rect">
            <a:avLst/>
          </a:prstGeom>
          <a:noFill/>
        </p:spPr>
        <p:txBody>
          <a:bodyPr wrap="none" lIns="0" tIns="0" r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tIns="0" r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93" name="TextBox 92"/>
          <p:cNvSpPr txBox="1"/>
          <p:nvPr/>
        </p:nvSpPr>
        <p:spPr>
          <a:xfrm>
            <a:off x="485775" y="5453209"/>
            <a:ext cx="2788344" cy="186689"/>
          </a:xfrm>
          <a:prstGeom prst="rect">
            <a:avLst/>
          </a:prstGeom>
          <a:noFill/>
        </p:spPr>
        <p:txBody>
          <a:bodyPr wrap="none" lIns="0" tIns="0" rIns="0" bIns="0">
            <a:spAutoFit/>
          </a:bodyPr>
          <a:lstStyle/>
          <a:p>
            <a:r>
              <a:rPr sz="1100" b="0">
                <a:solidFill>
                  <a:srgbClr val="2E2E2E"/>
                </a:solidFill>
                <a:latin typeface="Calibri"/>
              </a:rPr>
              <a:t>▪ ¶ 6 to 12 cells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5506" cy="186689"/>
          </a:xfrm>
          <a:prstGeom prst="rect">
            <a:avLst/>
          </a:prstGeom>
          <a:noFill/>
        </p:spPr>
        <p:txBody>
          <a:bodyPr wrap="none" lIns="0" tIns="0" rIns="0" bIns="0">
            <a:spAutoFit/>
          </a:bodyPr>
          <a:lstStyle/>
          <a:p>
            <a:r>
              <a:rPr sz="1100" b="0">
                <a:solidFill>
                  <a:srgbClr val="2E2E2E"/>
                </a:solidFill>
                <a:latin typeface="Calibri"/>
              </a:rPr>
              <a:t>X higher value than up to 4 cells segment in</a:t>
            </a:r>
          </a:p>
        </p:txBody>
      </p:sp>
      <p:sp>
        <p:nvSpPr>
          <p:cNvPr id="96" name="TextBox 95"/>
          <p:cNvSpPr txBox="1"/>
          <p:nvPr/>
        </p:nvSpPr>
        <p:spPr>
          <a:xfrm>
            <a:off x="485775" y="5788489"/>
            <a:ext cx="395163" cy="186689"/>
          </a:xfrm>
          <a:prstGeom prst="rect">
            <a:avLst/>
          </a:prstGeom>
          <a:noFill/>
        </p:spPr>
        <p:txBody>
          <a:bodyPr wrap="none" lIns="0" tIns="0" rIns="0" bIns="0">
            <a:spAutoFit/>
          </a:bodyPr>
          <a:lstStyle/>
          <a:p>
            <a:r>
              <a:rPr sz="1100" b="0">
                <a:solidFill>
                  <a:srgbClr val="2E2E2E"/>
                </a:solidFill>
                <a:latin typeface="Calibri"/>
              </a:rPr>
              <a:t>2036.</a:t>
            </a:r>
          </a:p>
        </p:txBody>
      </p:sp>
      <p:sp>
        <p:nvSpPr>
          <p:cNvPr id="97" name="TextBox 96"/>
          <p:cNvSpPr txBox="1"/>
          <p:nvPr/>
        </p:nvSpPr>
        <p:spPr>
          <a:xfrm>
            <a:off x="3838575" y="4229437"/>
            <a:ext cx="942230" cy="186689"/>
          </a:xfrm>
          <a:prstGeom prst="rect">
            <a:avLst/>
          </a:prstGeom>
          <a:noFill/>
        </p:spPr>
        <p:txBody>
          <a:bodyPr wrap="none" lIns="0" tIns="0" rIns="0" bIns="0">
            <a:spAutoFit/>
          </a:bodyPr>
          <a:lstStyle/>
          <a:p>
            <a:r>
              <a:rPr sz="1100" b="0">
                <a:solidFill>
                  <a:srgbClr val="2E2E2E"/>
                </a:solidFill>
                <a:latin typeface="Calibri"/>
              </a:rPr>
              <a:t>● Up to 4 Cells:</a:t>
            </a:r>
          </a:p>
        </p:txBody>
      </p:sp>
      <p:pic>
        <p:nvPicPr>
          <p:cNvPr id="98" name="Picture 97" descr="lock.png"/>
          <p:cNvPicPr>
            <a:picLocks noChangeAspect="1"/>
          </p:cNvPicPr>
          <p:nvPr/>
        </p:nvPicPr>
        <p:blipFill>
          <a:blip r:embed="rId16"/>
          <a:stretch>
            <a:fillRect/>
          </a:stretch>
        </p:blipFill>
        <p:spPr>
          <a:xfrm>
            <a:off x="4728857" y="4219658"/>
            <a:ext cx="128699" cy="187198"/>
          </a:xfrm>
          <a:prstGeom prst="rect">
            <a:avLst/>
          </a:prstGeom>
        </p:spPr>
      </p:pic>
      <p:sp>
        <p:nvSpPr>
          <p:cNvPr id="99" name="TextBox 98"/>
          <p:cNvSpPr txBox="1"/>
          <p:nvPr/>
        </p:nvSpPr>
        <p:spPr>
          <a:xfrm>
            <a:off x="4896353"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755803" y="4219658"/>
            <a:ext cx="128699" cy="187198"/>
          </a:xfrm>
          <a:prstGeom prst="rect">
            <a:avLst/>
          </a:prstGeom>
        </p:spPr>
      </p:pic>
      <p:sp>
        <p:nvSpPr>
          <p:cNvPr id="101" name="TextBox 100"/>
          <p:cNvSpPr txBox="1"/>
          <p:nvPr/>
        </p:nvSpPr>
        <p:spPr>
          <a:xfrm>
            <a:off x="5923299" y="4229437"/>
            <a:ext cx="1503469" cy="186689"/>
          </a:xfrm>
          <a:prstGeom prst="rect">
            <a:avLst/>
          </a:prstGeom>
          <a:noFill/>
        </p:spPr>
        <p:txBody>
          <a:bodyPr wrap="none" lIns="0" tIns="0" r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20948" cy="186689"/>
          </a:xfrm>
          <a:prstGeom prst="rect">
            <a:avLst/>
          </a:prstGeom>
          <a:noFill/>
        </p:spPr>
        <p:txBody>
          <a:bodyPr wrap="none" lIns="0" tIns="0" rIns="0" bIns="0">
            <a:spAutoFit/>
          </a:bodyPr>
          <a:lstStyle/>
          <a:p>
            <a:r>
              <a:rPr sz="1100" b="0">
                <a:solidFill>
                  <a:srgbClr val="2E2E2E"/>
                </a:solidFill>
                <a:latin typeface="Calibri"/>
              </a:rPr>
              <a:t>● 6 to 12 Cells:</a:t>
            </a:r>
          </a:p>
        </p:txBody>
      </p:sp>
      <p:pic>
        <p:nvPicPr>
          <p:cNvPr id="103" name="Picture 102" descr="lock.png"/>
          <p:cNvPicPr>
            <a:picLocks noChangeAspect="1"/>
          </p:cNvPicPr>
          <p:nvPr/>
        </p:nvPicPr>
        <p:blipFill>
          <a:blip r:embed="rId16"/>
          <a:stretch>
            <a:fillRect/>
          </a:stretch>
        </p:blipFill>
        <p:spPr>
          <a:xfrm>
            <a:off x="4707575" y="4437590"/>
            <a:ext cx="128699" cy="187198"/>
          </a:xfrm>
          <a:prstGeom prst="rect">
            <a:avLst/>
          </a:prstGeom>
        </p:spPr>
      </p:pic>
      <p:sp>
        <p:nvSpPr>
          <p:cNvPr id="104" name="TextBox 103"/>
          <p:cNvSpPr txBox="1"/>
          <p:nvPr/>
        </p:nvSpPr>
        <p:spPr>
          <a:xfrm>
            <a:off x="4875070"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34521" y="4437590"/>
            <a:ext cx="128699" cy="187198"/>
          </a:xfrm>
          <a:prstGeom prst="rect">
            <a:avLst/>
          </a:prstGeom>
        </p:spPr>
      </p:pic>
      <p:sp>
        <p:nvSpPr>
          <p:cNvPr id="106" name="TextBox 105"/>
          <p:cNvSpPr txBox="1"/>
          <p:nvPr/>
        </p:nvSpPr>
        <p:spPr>
          <a:xfrm>
            <a:off x="5902016" y="4447369"/>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107" name="TextBox 106"/>
          <p:cNvSpPr txBox="1"/>
          <p:nvPr/>
        </p:nvSpPr>
        <p:spPr>
          <a:xfrm>
            <a:off x="3838575" y="4665301"/>
            <a:ext cx="991889" cy="186689"/>
          </a:xfrm>
          <a:prstGeom prst="rect">
            <a:avLst/>
          </a:prstGeom>
          <a:noFill/>
        </p:spPr>
        <p:txBody>
          <a:bodyPr wrap="none" lIns="0" tIns="0" rIns="0" bIns="0">
            <a:spAutoFit/>
          </a:bodyPr>
          <a:lstStyle/>
          <a:p>
            <a:r>
              <a:rPr sz="1100" b="0">
                <a:solidFill>
                  <a:srgbClr val="2E2E2E"/>
                </a:solidFill>
                <a:latin typeface="Calibri"/>
              </a:rPr>
              <a:t>● 13 to 24 Cells:</a:t>
            </a:r>
          </a:p>
        </p:txBody>
      </p:sp>
      <p:pic>
        <p:nvPicPr>
          <p:cNvPr id="108" name="Picture 107" descr="lock.png"/>
          <p:cNvPicPr>
            <a:picLocks noChangeAspect="1"/>
          </p:cNvPicPr>
          <p:nvPr/>
        </p:nvPicPr>
        <p:blipFill>
          <a:blip r:embed="rId16"/>
          <a:stretch>
            <a:fillRect/>
          </a:stretch>
        </p:blipFill>
        <p:spPr>
          <a:xfrm>
            <a:off x="4778516" y="4655522"/>
            <a:ext cx="128699" cy="187198"/>
          </a:xfrm>
          <a:prstGeom prst="rect">
            <a:avLst/>
          </a:prstGeom>
        </p:spPr>
      </p:pic>
      <p:sp>
        <p:nvSpPr>
          <p:cNvPr id="109" name="TextBox 108"/>
          <p:cNvSpPr txBox="1"/>
          <p:nvPr/>
        </p:nvSpPr>
        <p:spPr>
          <a:xfrm>
            <a:off x="4946012" y="466530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5805462" y="4655522"/>
            <a:ext cx="128699" cy="187198"/>
          </a:xfrm>
          <a:prstGeom prst="rect">
            <a:avLst/>
          </a:prstGeom>
        </p:spPr>
      </p:pic>
      <p:sp>
        <p:nvSpPr>
          <p:cNvPr id="111" name="TextBox 110"/>
          <p:cNvSpPr txBox="1"/>
          <p:nvPr/>
        </p:nvSpPr>
        <p:spPr>
          <a:xfrm>
            <a:off x="5972958" y="4665301"/>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058192" cy="186689"/>
          </a:xfrm>
          <a:prstGeom prst="rect">
            <a:avLst/>
          </a:prstGeom>
          <a:noFill/>
        </p:spPr>
        <p:txBody>
          <a:bodyPr wrap="none" lIns="0" tIns="0" rIns="0" bIns="0">
            <a:spAutoFit/>
          </a:bodyPr>
          <a:lstStyle/>
          <a:p>
            <a:r>
              <a:rPr sz="1100" b="0">
                <a:solidFill>
                  <a:srgbClr val="2E2E2E"/>
                </a:solidFill>
                <a:latin typeface="Calibri"/>
              </a:rPr>
              <a:t>● Above 24 Cells:</a:t>
            </a:r>
          </a:p>
        </p:txBody>
      </p:sp>
      <p:pic>
        <p:nvPicPr>
          <p:cNvPr id="113" name="Picture 112" descr="lock.png"/>
          <p:cNvPicPr>
            <a:picLocks noChangeAspect="1"/>
          </p:cNvPicPr>
          <p:nvPr/>
        </p:nvPicPr>
        <p:blipFill>
          <a:blip r:embed="rId16"/>
          <a:stretch>
            <a:fillRect/>
          </a:stretch>
        </p:blipFill>
        <p:spPr>
          <a:xfrm>
            <a:off x="4844819" y="4873454"/>
            <a:ext cx="128699" cy="187198"/>
          </a:xfrm>
          <a:prstGeom prst="rect">
            <a:avLst/>
          </a:prstGeom>
        </p:spPr>
      </p:pic>
      <p:sp>
        <p:nvSpPr>
          <p:cNvPr id="114" name="TextBox 113"/>
          <p:cNvSpPr txBox="1"/>
          <p:nvPr/>
        </p:nvSpPr>
        <p:spPr>
          <a:xfrm>
            <a:off x="5012315" y="4883233"/>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5871765" y="4873454"/>
            <a:ext cx="128699" cy="187198"/>
          </a:xfrm>
          <a:prstGeom prst="rect">
            <a:avLst/>
          </a:prstGeom>
        </p:spPr>
      </p:pic>
      <p:sp>
        <p:nvSpPr>
          <p:cNvPr id="116" name="TextBox 115"/>
          <p:cNvSpPr txBox="1"/>
          <p:nvPr/>
        </p:nvSpPr>
        <p:spPr>
          <a:xfrm>
            <a:off x="6039261" y="4883233"/>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117" name="TextBox 116"/>
          <p:cNvSpPr txBox="1"/>
          <p:nvPr/>
        </p:nvSpPr>
        <p:spPr>
          <a:xfrm>
            <a:off x="8524875" y="5842641"/>
            <a:ext cx="3162300" cy="194310"/>
          </a:xfrm>
          <a:prstGeom prst="rect">
            <a:avLst/>
          </a:prstGeom>
          <a:noFill/>
        </p:spPr>
        <p:txBody>
          <a:bodyPr wrap="none" lIns="0" tIns="0" rIns="0" bIns="0">
            <a:spAutoFit/>
          </a:bodyPr>
          <a:lstStyle/>
          <a:p>
            <a:r>
              <a:rPr sz="1150" b="1">
                <a:solidFill>
                  <a:srgbClr val="0B2E4A"/>
                </a:solidFill>
                <a:latin typeface="Calibri"/>
              </a:rPr>
              <a:t>The Cell Configuration segment is projected to grow</a:t>
            </a:r>
          </a:p>
        </p:txBody>
      </p:sp>
      <p:sp>
        <p:nvSpPr>
          <p:cNvPr id="118" name="TextBox 117"/>
          <p:cNvSpPr txBox="1"/>
          <p:nvPr/>
        </p:nvSpPr>
        <p:spPr>
          <a:xfrm>
            <a:off x="8524875" y="6017901"/>
            <a:ext cx="836089" cy="194310"/>
          </a:xfrm>
          <a:prstGeom prst="rect">
            <a:avLst/>
          </a:prstGeom>
          <a:noFill/>
        </p:spPr>
        <p:txBody>
          <a:bodyPr wrap="none" lIns="0" tIns="0" rIns="0" bIns="0">
            <a:spAutoFit/>
          </a:bodyPr>
          <a:lstStyle/>
          <a:p>
            <a:r>
              <a:rPr sz="1150" b="1">
                <a:solidFill>
                  <a:srgbClr val="0B2E4A"/>
                </a:solidFill>
                <a:latin typeface="Calibri"/>
              </a:rPr>
              <a:t>at a CAGR of</a:t>
            </a:r>
          </a:p>
        </p:txBody>
      </p:sp>
      <p:pic>
        <p:nvPicPr>
          <p:cNvPr id="119" name="Picture 118" descr="lock.png"/>
          <p:cNvPicPr>
            <a:picLocks noChangeAspect="1"/>
          </p:cNvPicPr>
          <p:nvPr/>
        </p:nvPicPr>
        <p:blipFill>
          <a:blip r:embed="rId16"/>
          <a:stretch>
            <a:fillRect/>
          </a:stretch>
        </p:blipFill>
        <p:spPr>
          <a:xfrm>
            <a:off x="9310118" y="6007677"/>
            <a:ext cx="134549" cy="195707"/>
          </a:xfrm>
          <a:prstGeom prst="rect">
            <a:avLst/>
          </a:prstGeom>
        </p:spPr>
      </p:pic>
      <p:sp>
        <p:nvSpPr>
          <p:cNvPr id="120" name="TextBox 119"/>
          <p:cNvSpPr txBox="1"/>
          <p:nvPr/>
        </p:nvSpPr>
        <p:spPr>
          <a:xfrm>
            <a:off x="9485227"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Structure &amp; Attractiveness, By Cell Configuration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Cell Configuration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Cell Configuration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Cell Configuration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77650" cy="186689"/>
          </a:xfrm>
          <a:prstGeom prst="rect">
            <a:avLst/>
          </a:prstGeom>
          <a:noFill/>
        </p:spPr>
        <p:txBody>
          <a:bodyPr wrap="none" lIns="0" tIns="0" rIns="0" bIns="0">
            <a:spAutoFit/>
          </a:bodyPr>
          <a:lstStyle/>
          <a:p>
            <a:r>
              <a:rPr sz="1100" b="0">
                <a:solidFill>
                  <a:srgbClr val="2E2E2E"/>
                </a:solidFill>
                <a:latin typeface="Calibri"/>
              </a:rPr>
              <a:t>6 to 12 cells followed by up to 4 cells are expected to be the two most attractive cell configuration segments in the global corrugated partition market in terms of value over the forecast period. 6 to 12 cells</a:t>
            </a:r>
          </a:p>
        </p:txBody>
      </p:sp>
      <p:sp>
        <p:nvSpPr>
          <p:cNvPr id="21" name="TextBox 20"/>
          <p:cNvSpPr txBox="1"/>
          <p:nvPr/>
        </p:nvSpPr>
        <p:spPr>
          <a:xfrm>
            <a:off x="257175" y="5945505"/>
            <a:ext cx="2360496" cy="186689"/>
          </a:xfrm>
          <a:prstGeom prst="rect">
            <a:avLst/>
          </a:prstGeom>
          <a:noFill/>
        </p:spPr>
        <p:txBody>
          <a:bodyPr wrap="none" lIns="0" tIns="0" rIns="0" bIns="0">
            <a:spAutoFit/>
          </a:bodyPr>
          <a:lstStyle/>
          <a:p>
            <a:r>
              <a:rPr sz="1100" b="0">
                <a:solidFill>
                  <a:srgbClr val="2E2E2E"/>
                </a:solidFill>
                <a:latin typeface="Calibri"/>
              </a:rPr>
              <a:t>and up to 4 cells exhibit a CAGR index of</a:t>
            </a:r>
          </a:p>
        </p:txBody>
      </p:sp>
      <p:pic>
        <p:nvPicPr>
          <p:cNvPr id="22" name="Picture 21" descr="lock.png"/>
          <p:cNvPicPr>
            <a:picLocks noChangeAspect="1"/>
          </p:cNvPicPr>
          <p:nvPr/>
        </p:nvPicPr>
        <p:blipFill>
          <a:blip r:embed="rId6"/>
          <a:stretch>
            <a:fillRect/>
          </a:stretch>
        </p:blipFill>
        <p:spPr>
          <a:xfrm>
            <a:off x="2565722" y="5935726"/>
            <a:ext cx="128699" cy="187198"/>
          </a:xfrm>
          <a:prstGeom prst="rect">
            <a:avLst/>
          </a:prstGeom>
        </p:spPr>
      </p:pic>
      <p:sp>
        <p:nvSpPr>
          <p:cNvPr id="23" name="TextBox 22"/>
          <p:cNvSpPr txBox="1"/>
          <p:nvPr/>
        </p:nvSpPr>
        <p:spPr>
          <a:xfrm>
            <a:off x="2733218"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2971113" y="5935726"/>
            <a:ext cx="128699" cy="187198"/>
          </a:xfrm>
          <a:prstGeom prst="rect">
            <a:avLst/>
          </a:prstGeom>
        </p:spPr>
      </p:pic>
      <p:sp>
        <p:nvSpPr>
          <p:cNvPr id="25" name="TextBox 24"/>
          <p:cNvSpPr txBox="1"/>
          <p:nvPr/>
        </p:nvSpPr>
        <p:spPr>
          <a:xfrm>
            <a:off x="3138608"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4747582" y="5935726"/>
            <a:ext cx="128699" cy="187198"/>
          </a:xfrm>
          <a:prstGeom prst="rect">
            <a:avLst/>
          </a:prstGeom>
        </p:spPr>
      </p:pic>
      <p:sp>
        <p:nvSpPr>
          <p:cNvPr id="27" name="TextBox 26"/>
          <p:cNvSpPr txBox="1"/>
          <p:nvPr/>
        </p:nvSpPr>
        <p:spPr>
          <a:xfrm>
            <a:off x="4915078"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152972" y="5935726"/>
            <a:ext cx="128699" cy="187198"/>
          </a:xfrm>
          <a:prstGeom prst="rect">
            <a:avLst/>
          </a:prstGeom>
        </p:spPr>
      </p:pic>
      <p:sp>
        <p:nvSpPr>
          <p:cNvPr id="29" name="TextBox 28"/>
          <p:cNvSpPr txBox="1"/>
          <p:nvPr/>
        </p:nvSpPr>
        <p:spPr>
          <a:xfrm>
            <a:off x="5320468" y="594550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7874872" y="5935726"/>
            <a:ext cx="128699" cy="187198"/>
          </a:xfrm>
          <a:prstGeom prst="rect">
            <a:avLst/>
          </a:prstGeom>
        </p:spPr>
      </p:pic>
      <p:sp>
        <p:nvSpPr>
          <p:cNvPr id="31" name="TextBox 30"/>
          <p:cNvSpPr txBox="1"/>
          <p:nvPr/>
        </p:nvSpPr>
        <p:spPr>
          <a:xfrm>
            <a:off x="8042368" y="5945505"/>
            <a:ext cx="2950145" cy="186689"/>
          </a:xfrm>
          <a:prstGeom prst="rect">
            <a:avLst/>
          </a:prstGeom>
          <a:noFill/>
        </p:spPr>
        <p:txBody>
          <a:bodyPr wrap="none" lIns="0" tIns="0" rIns="0" bIns="0">
            <a:spAutoFit/>
          </a:bodyPr>
          <a:lstStyle/>
          <a:p>
            <a:r>
              <a:rPr sz="1100" b="0">
                <a:solidFill>
                  <a:srgbClr val="2E2E2E"/>
                </a:solidFill>
                <a:latin typeface="Calibri"/>
              </a:rPr>
              <a:t>. The above 24 cells segment is expected to be less</a:t>
            </a:r>
          </a:p>
        </p:txBody>
      </p:sp>
      <p:sp>
        <p:nvSpPr>
          <p:cNvPr id="32" name="TextBox 31"/>
          <p:cNvSpPr txBox="1"/>
          <p:nvPr/>
        </p:nvSpPr>
        <p:spPr>
          <a:xfrm>
            <a:off x="257175" y="6113145"/>
            <a:ext cx="11338386" cy="186689"/>
          </a:xfrm>
          <a:prstGeom prst="rect">
            <a:avLst/>
          </a:prstGeom>
          <a:noFill/>
        </p:spPr>
        <p:txBody>
          <a:bodyPr wrap="none" lIns="0" tIns="0" rIns="0" bIns="0">
            <a:spAutoFit/>
          </a:bodyPr>
          <a:lstStyle/>
          <a:p>
            <a:r>
              <a:rPr sz="1100" b="0">
                <a:solidFill>
                  <a:srgbClr val="2E2E2E"/>
                </a:solidFill>
                <a:latin typeface="Calibri"/>
              </a:rPr>
              <a:t>attractive as compared to other segments over the forecast period, owing to its lower CAGR 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Analysis, By Cell Configuration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Cell Configuration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Up to 4 Cells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6 to 12 Cells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13 to 24 Cells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267450"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Above 24 Cells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xmlns:r="http://schemas.openxmlformats.org/officeDocument/2006/relationships" r:id="rId7"/>
          </a:graphicData>
        </a:graphic>
      </p:graphicFrame>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Volume Analysis, By Cell Configuration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Cell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By Cell Configuration (MT)</a:t>
            </a:r>
          </a:p>
        </p:txBody>
      </p:sp>
      <p:graphicFrame>
        <p:nvGraphicFramePr>
          <p:cNvPr id="13" name="Table 12"/>
          <p:cNvGraphicFramePr>
            <a:graphicFrameLocks noGrp="1"/>
          </p:cNvGraphicFramePr>
          <p:nvPr/>
        </p:nvGraphicFramePr>
        <p:xfrm>
          <a:off x="152400" y="1238250"/>
          <a:ext cx="11887200" cy="1676402"/>
        </p:xfrm>
        <a:graphic>
          <a:graphicData uri="http://schemas.openxmlformats.org/drawingml/2006/table">
            <a:tbl>
              <a:tblPr>
                <a:tableStyleId>{5C22544A-7EE6-4342-B048-85BDC9FD1C3A}</a:tableStyleId>
              </a:tblPr>
              <a:tblGrid>
                <a:gridCol w="977441">
                  <a:extLst>
                    <a:ext uri="{9D8B030D-6E8A-4147-A177-3AD203B41FA5}">
                      <a16:colId xmlns:a16="http://schemas.microsoft.com/office/drawing/2014/main" val="20000"/>
                    </a:ext>
                  </a:extLst>
                </a:gridCol>
                <a:gridCol w="655320">
                  <a:extLst>
                    <a:ext uri="{9D8B030D-6E8A-4147-A177-3AD203B41FA5}">
                      <a16:colId xmlns:a16="http://schemas.microsoft.com/office/drawing/2014/main" val="20001"/>
                    </a:ext>
                  </a:extLst>
                </a:gridCol>
                <a:gridCol w="655320">
                  <a:extLst>
                    <a:ext uri="{9D8B030D-6E8A-4147-A177-3AD203B41FA5}">
                      <a16:colId xmlns:a16="http://schemas.microsoft.com/office/drawing/2014/main" val="20002"/>
                    </a:ext>
                  </a:extLst>
                </a:gridCol>
                <a:gridCol w="655320">
                  <a:extLst>
                    <a:ext uri="{9D8B030D-6E8A-4147-A177-3AD203B41FA5}">
                      <a16:colId xmlns:a16="http://schemas.microsoft.com/office/drawing/2014/main" val="20003"/>
                    </a:ext>
                  </a:extLst>
                </a:gridCol>
                <a:gridCol w="655320">
                  <a:extLst>
                    <a:ext uri="{9D8B030D-6E8A-4147-A177-3AD203B41FA5}">
                      <a16:colId xmlns:a16="http://schemas.microsoft.com/office/drawing/2014/main" val="20004"/>
                    </a:ext>
                  </a:extLst>
                </a:gridCol>
                <a:gridCol w="655320">
                  <a:extLst>
                    <a:ext uri="{9D8B030D-6E8A-4147-A177-3AD203B41FA5}">
                      <a16:colId xmlns:a16="http://schemas.microsoft.com/office/drawing/2014/main" val="20005"/>
                    </a:ext>
                  </a:extLst>
                </a:gridCol>
                <a:gridCol w="655320">
                  <a:extLst>
                    <a:ext uri="{9D8B030D-6E8A-4147-A177-3AD203B41FA5}">
                      <a16:colId xmlns:a16="http://schemas.microsoft.com/office/drawing/2014/main" val="20006"/>
                    </a:ext>
                  </a:extLst>
                </a:gridCol>
                <a:gridCol w="655320">
                  <a:extLst>
                    <a:ext uri="{9D8B030D-6E8A-4147-A177-3AD203B41FA5}">
                      <a16:colId xmlns:a16="http://schemas.microsoft.com/office/drawing/2014/main" val="20007"/>
                    </a:ext>
                  </a:extLst>
                </a:gridCol>
                <a:gridCol w="655320">
                  <a:extLst>
                    <a:ext uri="{9D8B030D-6E8A-4147-A177-3AD203B41FA5}">
                      <a16:colId xmlns:a16="http://schemas.microsoft.com/office/drawing/2014/main" val="20008"/>
                    </a:ext>
                  </a:extLst>
                </a:gridCol>
                <a:gridCol w="655320">
                  <a:extLst>
                    <a:ext uri="{9D8B030D-6E8A-4147-A177-3AD203B41FA5}">
                      <a16:colId xmlns:a16="http://schemas.microsoft.com/office/drawing/2014/main" val="20009"/>
                    </a:ext>
                  </a:extLst>
                </a:gridCol>
                <a:gridCol w="655320">
                  <a:extLst>
                    <a:ext uri="{9D8B030D-6E8A-4147-A177-3AD203B41FA5}">
                      <a16:colId xmlns:a16="http://schemas.microsoft.com/office/drawing/2014/main" val="20010"/>
                    </a:ext>
                  </a:extLst>
                </a:gridCol>
                <a:gridCol w="655320">
                  <a:extLst>
                    <a:ext uri="{9D8B030D-6E8A-4147-A177-3AD203B41FA5}">
                      <a16:colId xmlns:a16="http://schemas.microsoft.com/office/drawing/2014/main" val="20011"/>
                    </a:ext>
                  </a:extLst>
                </a:gridCol>
                <a:gridCol w="655320">
                  <a:extLst>
                    <a:ext uri="{9D8B030D-6E8A-4147-A177-3AD203B41FA5}">
                      <a16:colId xmlns:a16="http://schemas.microsoft.com/office/drawing/2014/main" val="20012"/>
                    </a:ext>
                  </a:extLst>
                </a:gridCol>
                <a:gridCol w="655320">
                  <a:extLst>
                    <a:ext uri="{9D8B030D-6E8A-4147-A177-3AD203B41FA5}">
                      <a16:colId xmlns:a16="http://schemas.microsoft.com/office/drawing/2014/main" val="20013"/>
                    </a:ext>
                  </a:extLst>
                </a:gridCol>
                <a:gridCol w="655320">
                  <a:extLst>
                    <a:ext uri="{9D8B030D-6E8A-4147-A177-3AD203B41FA5}">
                      <a16:colId xmlns:a16="http://schemas.microsoft.com/office/drawing/2014/main" val="20014"/>
                    </a:ext>
                  </a:extLst>
                </a:gridCol>
                <a:gridCol w="655320">
                  <a:extLst>
                    <a:ext uri="{9D8B030D-6E8A-4147-A177-3AD203B41FA5}">
                      <a16:colId xmlns:a16="http://schemas.microsoft.com/office/drawing/2014/main" val="20015"/>
                    </a:ext>
                  </a:extLst>
                </a:gridCol>
                <a:gridCol w="655320">
                  <a:extLst>
                    <a:ext uri="{9D8B030D-6E8A-4147-A177-3AD203B41FA5}">
                      <a16:colId xmlns:a16="http://schemas.microsoft.com/office/drawing/2014/main" val="20016"/>
                    </a:ext>
                  </a:extLst>
                </a:gridCol>
                <a:gridCol w="424639">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a:lstStyle/>
                    <a:p>
                      <a:pPr algn="ctr"/>
                      <a:r>
                        <a:rPr sz="1100" b="1">
                          <a:solidFill>
                            <a:srgbClr val="0B2E4A"/>
                          </a:solidFill>
                          <a:latin typeface="Calibri"/>
                        </a:rPr>
                        <a:t>F-CAGR</a:t>
                      </a:r>
                      <a:endParaRPr sz="1100"/>
                    </a:p>
                  </a:txBody>
                  <a:tcPr marL="28575" marR="19050" marT="19050" marB="19050" anchor="ctr">
                    <a:solidFill>
                      <a:srgbClr val="E0E8EF"/>
                    </a:solidFill>
                  </a:tcPr>
                </a:tc>
                <a:extLst>
                  <a:ext uri="{0D108BD9-81ED-4DB2-BD59-A6C34878D82A}">
                    <a16:rowId xmlns:a16="http://schemas.microsoft.com/office/drawing/2014/main" val="10000"/>
                  </a:ext>
                </a:extLst>
              </a:tr>
              <a:tr h="247498">
                <a:tc>
                  <a:txBody>
                    <a:bodyPr/>
                    <a:lstStyle/>
                    <a:p>
                      <a:pPr algn="l"/>
                      <a:r>
                        <a:rPr sz="1100" b="1">
                          <a:solidFill>
                            <a:srgbClr val="2E2E2E"/>
                          </a:solidFill>
                          <a:latin typeface="Calibri"/>
                        </a:rPr>
                        <a:t>Up to 4 Cells</a:t>
                      </a:r>
                      <a:endParaRPr sz="1100"/>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extLst>
                  <a:ext uri="{0D108BD9-81ED-4DB2-BD59-A6C34878D82A}">
                    <a16:rowId xmlns:a16="http://schemas.microsoft.com/office/drawing/2014/main" val="10001"/>
                  </a:ext>
                </a:extLst>
              </a:tr>
              <a:tr h="247498">
                <a:tc>
                  <a:txBody>
                    <a:bodyPr/>
                    <a:lstStyle/>
                    <a:p>
                      <a:pPr algn="l"/>
                      <a:r>
                        <a:rPr sz="1100" b="1">
                          <a:solidFill>
                            <a:srgbClr val="2E2E2E"/>
                          </a:solidFill>
                          <a:latin typeface="Calibri"/>
                        </a:rPr>
                        <a:t>6 to 12 Cells</a:t>
                      </a:r>
                      <a:endParaRPr sz="1100"/>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extLst>
                  <a:ext uri="{0D108BD9-81ED-4DB2-BD59-A6C34878D82A}">
                    <a16:rowId xmlns:a16="http://schemas.microsoft.com/office/drawing/2014/main" val="10002"/>
                  </a:ext>
                </a:extLst>
              </a:tr>
              <a:tr h="247498">
                <a:tc>
                  <a:txBody>
                    <a:bodyPr/>
                    <a:lstStyle/>
                    <a:p>
                      <a:pPr algn="l"/>
                      <a:r>
                        <a:rPr sz="1100" b="1">
                          <a:solidFill>
                            <a:srgbClr val="2E2E2E"/>
                          </a:solidFill>
                          <a:latin typeface="Calibri"/>
                        </a:rPr>
                        <a:t>13 to 24 Cells</a:t>
                      </a:r>
                      <a:endParaRPr sz="1100"/>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extLst>
                  <a:ext uri="{0D108BD9-81ED-4DB2-BD59-A6C34878D82A}">
                    <a16:rowId xmlns:a16="http://schemas.microsoft.com/office/drawing/2014/main" val="10003"/>
                  </a:ext>
                </a:extLst>
              </a:tr>
              <a:tr h="247498">
                <a:tc>
                  <a:txBody>
                    <a:bodyPr/>
                    <a:lstStyle/>
                    <a:p>
                      <a:pPr algn="l"/>
                      <a:r>
                        <a:rPr sz="1100" b="1">
                          <a:solidFill>
                            <a:srgbClr val="2E2E2E"/>
                          </a:solidFill>
                          <a:latin typeface="Calibri"/>
                        </a:rPr>
                        <a:t>Above 24 Cells</a:t>
                      </a:r>
                      <a:endParaRPr sz="1100"/>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extLst>
                  <a:ext uri="{0D108BD9-81ED-4DB2-BD59-A6C34878D82A}">
                    <a16:rowId xmlns:a16="http://schemas.microsoft.com/office/drawing/2014/main" val="10004"/>
                  </a:ext>
                </a:extLst>
              </a:tr>
              <a:tr h="247498">
                <a:tc>
                  <a:txBody>
                    <a:bodyPr/>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29241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34327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Volume Analysis, By Cell Configuration</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667125"/>
            <a:ext cx="11639550" cy="28860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8030" y="2029206"/>
            <a:ext cx="366712" cy="533400"/>
          </a:xfrm>
          <a:prstGeom prst="rect">
            <a:avLst/>
          </a:prstGeom>
        </p:spPr>
      </p:pic>
      <p:sp>
        <p:nvSpPr>
          <p:cNvPr id="21" name="TextBox 20"/>
          <p:cNvSpPr txBox="1"/>
          <p:nvPr/>
        </p:nvSpPr>
        <p:spPr>
          <a:xfrm>
            <a:off x="276225" y="3676650"/>
            <a:ext cx="2708237" cy="194310"/>
          </a:xfrm>
          <a:prstGeom prst="rect">
            <a:avLst/>
          </a:prstGeom>
          <a:noFill/>
        </p:spPr>
        <p:txBody>
          <a:bodyPr wrap="none" lIns="0" tIns="0" rIns="0" bIns="0">
            <a:spAutoFit/>
          </a:bodyPr>
          <a:lstStyle/>
          <a:p>
            <a:r>
              <a:rPr sz="1150" b="0">
                <a:solidFill>
                  <a:srgbClr val="2E2E2E"/>
                </a:solidFill>
                <a:latin typeface="Calibri"/>
              </a:rPr>
              <a:t>6 to 12 cells segment is projected to register</a:t>
            </a:r>
          </a:p>
        </p:txBody>
      </p:sp>
      <p:pic>
        <p:nvPicPr>
          <p:cNvPr id="22" name="Picture 21" descr="lock.png"/>
          <p:cNvPicPr>
            <a:picLocks noChangeAspect="1"/>
          </p:cNvPicPr>
          <p:nvPr/>
        </p:nvPicPr>
        <p:blipFill>
          <a:blip r:embed="rId4"/>
          <a:stretch>
            <a:fillRect/>
          </a:stretch>
        </p:blipFill>
        <p:spPr>
          <a:xfrm>
            <a:off x="2933616" y="3666426"/>
            <a:ext cx="134549" cy="195707"/>
          </a:xfrm>
          <a:prstGeom prst="rect">
            <a:avLst/>
          </a:prstGeom>
        </p:spPr>
      </p:pic>
      <p:sp>
        <p:nvSpPr>
          <p:cNvPr id="23" name="TextBox 22"/>
          <p:cNvSpPr txBox="1"/>
          <p:nvPr/>
        </p:nvSpPr>
        <p:spPr>
          <a:xfrm>
            <a:off x="3108726" y="3676650"/>
            <a:ext cx="8752768" cy="194310"/>
          </a:xfrm>
          <a:prstGeom prst="rect">
            <a:avLst/>
          </a:prstGeom>
          <a:noFill/>
        </p:spPr>
        <p:txBody>
          <a:bodyPr wrap="none" lIns="0" tIns="0" rIns="0" bIns="0">
            <a:spAutoFit/>
          </a:bodyPr>
          <a:lstStyle/>
          <a:p>
            <a:r>
              <a:rPr sz="1150" b="0">
                <a:solidFill>
                  <a:srgbClr val="2E2E2E"/>
                </a:solidFill>
                <a:latin typeface="Calibri"/>
              </a:rPr>
              <a:t>X higher volume than up to 4 cells segment in 2036. Among corrugated partition by cell configuration, 6 to 12 cells segment is expected to witness</a:t>
            </a:r>
          </a:p>
        </p:txBody>
      </p:sp>
      <p:sp>
        <p:nvSpPr>
          <p:cNvPr id="24" name="TextBox 23"/>
          <p:cNvSpPr txBox="1"/>
          <p:nvPr/>
        </p:nvSpPr>
        <p:spPr>
          <a:xfrm>
            <a:off x="276225" y="3851910"/>
            <a:ext cx="1263979" cy="194310"/>
          </a:xfrm>
          <a:prstGeom prst="rect">
            <a:avLst/>
          </a:prstGeom>
          <a:noFill/>
        </p:spPr>
        <p:txBody>
          <a:bodyPr wrap="none" lIns="0" tIns="0" r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841686"/>
            <a:ext cx="134549" cy="195707"/>
          </a:xfrm>
          <a:prstGeom prst="rect">
            <a:avLst/>
          </a:prstGeom>
        </p:spPr>
      </p:pic>
      <p:sp>
        <p:nvSpPr>
          <p:cNvPr id="26" name="TextBox 25"/>
          <p:cNvSpPr txBox="1"/>
          <p:nvPr/>
        </p:nvSpPr>
        <p:spPr>
          <a:xfrm>
            <a:off x="1664467" y="38519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079747"/>
            <a:ext cx="7012148" cy="194310"/>
          </a:xfrm>
          <a:prstGeom prst="rect">
            <a:avLst/>
          </a:prstGeom>
          <a:noFill/>
        </p:spPr>
        <p:txBody>
          <a:bodyPr wrap="none" lIns="0" tIns="0" rIns="0" bIns="0">
            <a:spAutoFit/>
          </a:bodyPr>
          <a:lstStyle/>
          <a:p>
            <a:r>
              <a:rPr sz="1150" b="0">
                <a:solidFill>
                  <a:srgbClr val="2E2E2E"/>
                </a:solidFill>
                <a:latin typeface="Calibri"/>
              </a:rPr>
              <a:t>In terms of volume share by cell configuration, the 6 to 12 cells segment is expected to dominate the market, gaining</a:t>
            </a:r>
          </a:p>
        </p:txBody>
      </p:sp>
      <p:pic>
        <p:nvPicPr>
          <p:cNvPr id="28" name="Picture 27" descr="lock.png"/>
          <p:cNvPicPr>
            <a:picLocks noChangeAspect="1"/>
          </p:cNvPicPr>
          <p:nvPr/>
        </p:nvPicPr>
        <p:blipFill>
          <a:blip r:embed="rId4"/>
          <a:stretch>
            <a:fillRect/>
          </a:stretch>
        </p:blipFill>
        <p:spPr>
          <a:xfrm>
            <a:off x="7237527" y="4069524"/>
            <a:ext cx="134549" cy="195707"/>
          </a:xfrm>
          <a:prstGeom prst="rect">
            <a:avLst/>
          </a:prstGeom>
        </p:spPr>
      </p:pic>
      <p:sp>
        <p:nvSpPr>
          <p:cNvPr id="29" name="TextBox 28"/>
          <p:cNvSpPr txBox="1"/>
          <p:nvPr/>
        </p:nvSpPr>
        <p:spPr>
          <a:xfrm>
            <a:off x="7412636" y="40797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807780" y="4069524"/>
            <a:ext cx="134549" cy="195707"/>
          </a:xfrm>
          <a:prstGeom prst="rect">
            <a:avLst/>
          </a:prstGeom>
        </p:spPr>
      </p:pic>
      <p:sp>
        <p:nvSpPr>
          <p:cNvPr id="31" name="TextBox 30"/>
          <p:cNvSpPr txBox="1"/>
          <p:nvPr/>
        </p:nvSpPr>
        <p:spPr>
          <a:xfrm>
            <a:off x="8982889" y="4079747"/>
            <a:ext cx="2684846" cy="194310"/>
          </a:xfrm>
          <a:prstGeom prst="rect">
            <a:avLst/>
          </a:prstGeom>
          <a:noFill/>
        </p:spPr>
        <p:txBody>
          <a:bodyPr wrap="none" lIns="0" tIns="0" rIns="0" bIns="0">
            <a:spAutoFit/>
          </a:bodyPr>
          <a:lstStyle/>
          <a:p>
            <a:r>
              <a:rPr sz="1150" b="0">
                <a:solidFill>
                  <a:srgbClr val="2E2E2E"/>
                </a:solidFill>
                <a:latin typeface="Calibri"/>
              </a:rPr>
              <a:t>share by 2036. The 13 to 24 cells segment is</a:t>
            </a:r>
          </a:p>
        </p:txBody>
      </p:sp>
      <p:sp>
        <p:nvSpPr>
          <p:cNvPr id="32" name="TextBox 31"/>
          <p:cNvSpPr txBox="1"/>
          <p:nvPr/>
        </p:nvSpPr>
        <p:spPr>
          <a:xfrm>
            <a:off x="276225" y="4255007"/>
            <a:ext cx="1054906" cy="194310"/>
          </a:xfrm>
          <a:prstGeom prst="rect">
            <a:avLst/>
          </a:prstGeom>
          <a:noFill/>
        </p:spPr>
        <p:txBody>
          <a:bodyPr wrap="none" lIns="0" tIns="0" r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4244784"/>
            <a:ext cx="134549" cy="195707"/>
          </a:xfrm>
          <a:prstGeom prst="rect">
            <a:avLst/>
          </a:prstGeom>
        </p:spPr>
      </p:pic>
      <p:sp>
        <p:nvSpPr>
          <p:cNvPr id="34" name="TextBox 33"/>
          <p:cNvSpPr txBox="1"/>
          <p:nvPr/>
        </p:nvSpPr>
        <p:spPr>
          <a:xfrm>
            <a:off x="1455394" y="425500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4244784"/>
            <a:ext cx="134549" cy="195707"/>
          </a:xfrm>
          <a:prstGeom prst="rect">
            <a:avLst/>
          </a:prstGeom>
        </p:spPr>
      </p:pic>
      <p:sp>
        <p:nvSpPr>
          <p:cNvPr id="36" name="TextBox 35"/>
          <p:cNvSpPr txBox="1"/>
          <p:nvPr/>
        </p:nvSpPr>
        <p:spPr>
          <a:xfrm>
            <a:off x="4218008" y="425500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Analysis, By Cell Configuration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Cell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By Cell Configuration (US$ Mn)</a:t>
            </a:r>
          </a:p>
        </p:txBody>
      </p:sp>
      <p:graphicFrame>
        <p:nvGraphicFramePr>
          <p:cNvPr id="13" name="Table 12"/>
          <p:cNvGraphicFramePr>
            <a:graphicFrameLocks noGrp="1"/>
          </p:cNvGraphicFramePr>
          <p:nvPr/>
        </p:nvGraphicFramePr>
        <p:xfrm>
          <a:off x="152400" y="1238250"/>
          <a:ext cx="11887207" cy="1485896"/>
        </p:xfrm>
        <a:graphic>
          <a:graphicData uri="http://schemas.openxmlformats.org/drawingml/2006/table">
            <a:tbl>
              <a:tblPr>
                <a:tableStyleId>{5C22544A-7EE6-4342-B048-85BDC9FD1C3A}</a:tableStyleId>
              </a:tblPr>
              <a:tblGrid>
                <a:gridCol w="1323492">
                  <a:extLst>
                    <a:ext uri="{9D8B030D-6E8A-4147-A177-3AD203B41FA5}">
                      <a16:colId xmlns:a16="http://schemas.microsoft.com/office/drawing/2014/main" val="20000"/>
                    </a:ext>
                  </a:extLst>
                </a:gridCol>
                <a:gridCol w="621395">
                  <a:extLst>
                    <a:ext uri="{9D8B030D-6E8A-4147-A177-3AD203B41FA5}">
                      <a16:colId xmlns:a16="http://schemas.microsoft.com/office/drawing/2014/main" val="20001"/>
                    </a:ext>
                  </a:extLst>
                </a:gridCol>
                <a:gridCol w="621395">
                  <a:extLst>
                    <a:ext uri="{9D8B030D-6E8A-4147-A177-3AD203B41FA5}">
                      <a16:colId xmlns:a16="http://schemas.microsoft.com/office/drawing/2014/main" val="20002"/>
                    </a:ext>
                  </a:extLst>
                </a:gridCol>
                <a:gridCol w="621395">
                  <a:extLst>
                    <a:ext uri="{9D8B030D-6E8A-4147-A177-3AD203B41FA5}">
                      <a16:colId xmlns:a16="http://schemas.microsoft.com/office/drawing/2014/main" val="20003"/>
                    </a:ext>
                  </a:extLst>
                </a:gridCol>
                <a:gridCol w="621395">
                  <a:extLst>
                    <a:ext uri="{9D8B030D-6E8A-4147-A177-3AD203B41FA5}">
                      <a16:colId xmlns:a16="http://schemas.microsoft.com/office/drawing/2014/main" val="20004"/>
                    </a:ext>
                  </a:extLst>
                </a:gridCol>
                <a:gridCol w="621395">
                  <a:extLst>
                    <a:ext uri="{9D8B030D-6E8A-4147-A177-3AD203B41FA5}">
                      <a16:colId xmlns:a16="http://schemas.microsoft.com/office/drawing/2014/main" val="20005"/>
                    </a:ext>
                  </a:extLst>
                </a:gridCol>
                <a:gridCol w="621395">
                  <a:extLst>
                    <a:ext uri="{9D8B030D-6E8A-4147-A177-3AD203B41FA5}">
                      <a16:colId xmlns:a16="http://schemas.microsoft.com/office/drawing/2014/main" val="20006"/>
                    </a:ext>
                  </a:extLst>
                </a:gridCol>
                <a:gridCol w="621395">
                  <a:extLst>
                    <a:ext uri="{9D8B030D-6E8A-4147-A177-3AD203B41FA5}">
                      <a16:colId xmlns:a16="http://schemas.microsoft.com/office/drawing/2014/main" val="20007"/>
                    </a:ext>
                  </a:extLst>
                </a:gridCol>
                <a:gridCol w="621395">
                  <a:extLst>
                    <a:ext uri="{9D8B030D-6E8A-4147-A177-3AD203B41FA5}">
                      <a16:colId xmlns:a16="http://schemas.microsoft.com/office/drawing/2014/main" val="20008"/>
                    </a:ext>
                  </a:extLst>
                </a:gridCol>
                <a:gridCol w="621395">
                  <a:extLst>
                    <a:ext uri="{9D8B030D-6E8A-4147-A177-3AD203B41FA5}">
                      <a16:colId xmlns:a16="http://schemas.microsoft.com/office/drawing/2014/main" val="20009"/>
                    </a:ext>
                  </a:extLst>
                </a:gridCol>
                <a:gridCol w="621395">
                  <a:extLst>
                    <a:ext uri="{9D8B030D-6E8A-4147-A177-3AD203B41FA5}">
                      <a16:colId xmlns:a16="http://schemas.microsoft.com/office/drawing/2014/main" val="20010"/>
                    </a:ext>
                  </a:extLst>
                </a:gridCol>
                <a:gridCol w="621395">
                  <a:extLst>
                    <a:ext uri="{9D8B030D-6E8A-4147-A177-3AD203B41FA5}">
                      <a16:colId xmlns:a16="http://schemas.microsoft.com/office/drawing/2014/main" val="20011"/>
                    </a:ext>
                  </a:extLst>
                </a:gridCol>
                <a:gridCol w="621395">
                  <a:extLst>
                    <a:ext uri="{9D8B030D-6E8A-4147-A177-3AD203B41FA5}">
                      <a16:colId xmlns:a16="http://schemas.microsoft.com/office/drawing/2014/main" val="20012"/>
                    </a:ext>
                  </a:extLst>
                </a:gridCol>
                <a:gridCol w="621395">
                  <a:extLst>
                    <a:ext uri="{9D8B030D-6E8A-4147-A177-3AD203B41FA5}">
                      <a16:colId xmlns:a16="http://schemas.microsoft.com/office/drawing/2014/main" val="20013"/>
                    </a:ext>
                  </a:extLst>
                </a:gridCol>
                <a:gridCol w="621395">
                  <a:extLst>
                    <a:ext uri="{9D8B030D-6E8A-4147-A177-3AD203B41FA5}">
                      <a16:colId xmlns:a16="http://schemas.microsoft.com/office/drawing/2014/main" val="20014"/>
                    </a:ext>
                  </a:extLst>
                </a:gridCol>
                <a:gridCol w="621395">
                  <a:extLst>
                    <a:ext uri="{9D8B030D-6E8A-4147-A177-3AD203B41FA5}">
                      <a16:colId xmlns:a16="http://schemas.microsoft.com/office/drawing/2014/main" val="20015"/>
                    </a:ext>
                  </a:extLst>
                </a:gridCol>
                <a:gridCol w="621395">
                  <a:extLst>
                    <a:ext uri="{9D8B030D-6E8A-4147-A177-3AD203B41FA5}">
                      <a16:colId xmlns:a16="http://schemas.microsoft.com/office/drawing/2014/main" val="20016"/>
                    </a:ext>
                  </a:extLst>
                </a:gridCol>
                <a:gridCol w="621395">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954">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954">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954">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954">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7954">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2733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15277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Value Analysis, By Cell Configuration</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476625"/>
            <a:ext cx="11639550" cy="3076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71059" y="1837563"/>
            <a:ext cx="366712" cy="533400"/>
          </a:xfrm>
          <a:prstGeom prst="rect">
            <a:avLst/>
          </a:prstGeom>
        </p:spPr>
      </p:pic>
      <p:sp>
        <p:nvSpPr>
          <p:cNvPr id="21" name="TextBox 20"/>
          <p:cNvSpPr txBox="1"/>
          <p:nvPr/>
        </p:nvSpPr>
        <p:spPr>
          <a:xfrm>
            <a:off x="276225" y="3486150"/>
            <a:ext cx="2708237" cy="194310"/>
          </a:xfrm>
          <a:prstGeom prst="rect">
            <a:avLst/>
          </a:prstGeom>
          <a:noFill/>
        </p:spPr>
        <p:txBody>
          <a:bodyPr wrap="none" lIns="0" tIns="0" rIns="0" bIns="0">
            <a:spAutoFit/>
          </a:bodyPr>
          <a:lstStyle/>
          <a:p>
            <a:r>
              <a:rPr sz="1150" b="0">
                <a:solidFill>
                  <a:srgbClr val="2E2E2E"/>
                </a:solidFill>
                <a:latin typeface="Calibri"/>
              </a:rPr>
              <a:t>6 to 12 cells segment is projected to register</a:t>
            </a:r>
          </a:p>
        </p:txBody>
      </p:sp>
      <p:pic>
        <p:nvPicPr>
          <p:cNvPr id="22" name="Picture 21" descr="lock.png"/>
          <p:cNvPicPr>
            <a:picLocks noChangeAspect="1"/>
          </p:cNvPicPr>
          <p:nvPr/>
        </p:nvPicPr>
        <p:blipFill>
          <a:blip r:embed="rId4"/>
          <a:stretch>
            <a:fillRect/>
          </a:stretch>
        </p:blipFill>
        <p:spPr>
          <a:xfrm>
            <a:off x="2933616" y="3475926"/>
            <a:ext cx="134549" cy="195707"/>
          </a:xfrm>
          <a:prstGeom prst="rect">
            <a:avLst/>
          </a:prstGeom>
        </p:spPr>
      </p:pic>
      <p:sp>
        <p:nvSpPr>
          <p:cNvPr id="23" name="TextBox 22"/>
          <p:cNvSpPr txBox="1"/>
          <p:nvPr/>
        </p:nvSpPr>
        <p:spPr>
          <a:xfrm>
            <a:off x="3108726" y="3486150"/>
            <a:ext cx="8628967" cy="194310"/>
          </a:xfrm>
          <a:prstGeom prst="rect">
            <a:avLst/>
          </a:prstGeom>
          <a:noFill/>
        </p:spPr>
        <p:txBody>
          <a:bodyPr wrap="none" lIns="0" tIns="0" rIns="0" bIns="0">
            <a:spAutoFit/>
          </a:bodyPr>
          <a:lstStyle/>
          <a:p>
            <a:r>
              <a:rPr sz="1150" b="0">
                <a:solidFill>
                  <a:srgbClr val="2E2E2E"/>
                </a:solidFill>
                <a:latin typeface="Calibri"/>
              </a:rPr>
              <a:t>X higher value than up to 4 cells segment in 2036. Among corrugated partition by cell configuration, 6 to 12 cells segment is expected to witness</a:t>
            </a:r>
          </a:p>
        </p:txBody>
      </p:sp>
      <p:sp>
        <p:nvSpPr>
          <p:cNvPr id="24" name="TextBox 23"/>
          <p:cNvSpPr txBox="1"/>
          <p:nvPr/>
        </p:nvSpPr>
        <p:spPr>
          <a:xfrm>
            <a:off x="276225" y="3661410"/>
            <a:ext cx="1263979" cy="194310"/>
          </a:xfrm>
          <a:prstGeom prst="rect">
            <a:avLst/>
          </a:prstGeom>
          <a:noFill/>
        </p:spPr>
        <p:txBody>
          <a:bodyPr wrap="none" lIns="0" tIns="0" r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651186"/>
            <a:ext cx="134549" cy="195707"/>
          </a:xfrm>
          <a:prstGeom prst="rect">
            <a:avLst/>
          </a:prstGeom>
        </p:spPr>
      </p:pic>
      <p:sp>
        <p:nvSpPr>
          <p:cNvPr id="26" name="TextBox 25"/>
          <p:cNvSpPr txBox="1"/>
          <p:nvPr/>
        </p:nvSpPr>
        <p:spPr>
          <a:xfrm>
            <a:off x="1664467" y="36614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6888348" cy="194310"/>
          </a:xfrm>
          <a:prstGeom prst="rect">
            <a:avLst/>
          </a:prstGeom>
          <a:noFill/>
        </p:spPr>
        <p:txBody>
          <a:bodyPr wrap="none" lIns="0" tIns="0" rIns="0" bIns="0">
            <a:spAutoFit/>
          </a:bodyPr>
          <a:lstStyle/>
          <a:p>
            <a:r>
              <a:rPr sz="1150" b="0">
                <a:solidFill>
                  <a:srgbClr val="2E2E2E"/>
                </a:solidFill>
                <a:latin typeface="Calibri"/>
              </a:rPr>
              <a:t>In terms of value share by cell configuration, the 6 to 12 cells segment is expected to dominate the market, gaining</a:t>
            </a:r>
          </a:p>
        </p:txBody>
      </p:sp>
      <p:pic>
        <p:nvPicPr>
          <p:cNvPr id="28" name="Picture 27" descr="lock.png"/>
          <p:cNvPicPr>
            <a:picLocks noChangeAspect="1"/>
          </p:cNvPicPr>
          <p:nvPr/>
        </p:nvPicPr>
        <p:blipFill>
          <a:blip r:embed="rId4"/>
          <a:stretch>
            <a:fillRect/>
          </a:stretch>
        </p:blipFill>
        <p:spPr>
          <a:xfrm>
            <a:off x="7113727" y="3879024"/>
            <a:ext cx="134549" cy="195707"/>
          </a:xfrm>
          <a:prstGeom prst="rect">
            <a:avLst/>
          </a:prstGeom>
        </p:spPr>
      </p:pic>
      <p:sp>
        <p:nvSpPr>
          <p:cNvPr id="29" name="TextBox 28"/>
          <p:cNvSpPr txBox="1"/>
          <p:nvPr/>
        </p:nvSpPr>
        <p:spPr>
          <a:xfrm>
            <a:off x="7288836" y="38892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83979" y="3879024"/>
            <a:ext cx="134549" cy="195707"/>
          </a:xfrm>
          <a:prstGeom prst="rect">
            <a:avLst/>
          </a:prstGeom>
        </p:spPr>
      </p:pic>
      <p:sp>
        <p:nvSpPr>
          <p:cNvPr id="31" name="TextBox 30"/>
          <p:cNvSpPr txBox="1"/>
          <p:nvPr/>
        </p:nvSpPr>
        <p:spPr>
          <a:xfrm>
            <a:off x="8859089" y="3889247"/>
            <a:ext cx="2684846" cy="194310"/>
          </a:xfrm>
          <a:prstGeom prst="rect">
            <a:avLst/>
          </a:prstGeom>
          <a:noFill/>
        </p:spPr>
        <p:txBody>
          <a:bodyPr wrap="none" lIns="0" tIns="0" rIns="0" bIns="0">
            <a:spAutoFit/>
          </a:bodyPr>
          <a:lstStyle/>
          <a:p>
            <a:r>
              <a:rPr sz="1150" b="0">
                <a:solidFill>
                  <a:srgbClr val="2E2E2E"/>
                </a:solidFill>
                <a:latin typeface="Calibri"/>
              </a:rPr>
              <a:t>share by 2036. The 13 to 24 cells segment is</a:t>
            </a:r>
          </a:p>
        </p:txBody>
      </p:sp>
      <p:sp>
        <p:nvSpPr>
          <p:cNvPr id="32" name="TextBox 31"/>
          <p:cNvSpPr txBox="1"/>
          <p:nvPr/>
        </p:nvSpPr>
        <p:spPr>
          <a:xfrm>
            <a:off x="276225" y="4064507"/>
            <a:ext cx="1054906" cy="194310"/>
          </a:xfrm>
          <a:prstGeom prst="rect">
            <a:avLst/>
          </a:prstGeom>
          <a:noFill/>
        </p:spPr>
        <p:txBody>
          <a:bodyPr wrap="none" lIns="0" tIns="0" r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4054284"/>
            <a:ext cx="134549" cy="195707"/>
          </a:xfrm>
          <a:prstGeom prst="rect">
            <a:avLst/>
          </a:prstGeom>
        </p:spPr>
      </p:pic>
      <p:sp>
        <p:nvSpPr>
          <p:cNvPr id="34" name="TextBox 33"/>
          <p:cNvSpPr txBox="1"/>
          <p:nvPr/>
        </p:nvSpPr>
        <p:spPr>
          <a:xfrm>
            <a:off x="1455394" y="406450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4054284"/>
            <a:ext cx="134549" cy="195707"/>
          </a:xfrm>
          <a:prstGeom prst="rect">
            <a:avLst/>
          </a:prstGeom>
        </p:spPr>
      </p:pic>
      <p:sp>
        <p:nvSpPr>
          <p:cNvPr id="36" name="TextBox 35"/>
          <p:cNvSpPr txBox="1"/>
          <p:nvPr/>
        </p:nvSpPr>
        <p:spPr>
          <a:xfrm>
            <a:off x="4218008" y="406450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&amp; Share Shift, By Cell Configuration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Cell Configuration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Composition, By Cell Configuration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190299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rot="10800000">
            <a:off x="5090922" y="18982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1822034"/>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Above 24 Cells</a:t>
            </a:r>
          </a:p>
        </p:txBody>
      </p:sp>
      <p:sp>
        <p:nvSpPr>
          <p:cNvPr id="19" name="BPS Value 1"/>
          <p:cNvSpPr txBox="1"/>
          <p:nvPr/>
        </p:nvSpPr>
        <p:spPr>
          <a:xfrm>
            <a:off x="6896100" y="1883947"/>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0" name="FMI Legend Chip"/>
          <p:cNvSpPr/>
          <p:nvPr/>
        </p:nvSpPr>
        <p:spPr>
          <a:xfrm>
            <a:off x="4928997" y="247069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24659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2389731"/>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13 to 24 Cells</a:t>
            </a:r>
          </a:p>
        </p:txBody>
      </p:sp>
      <p:sp>
        <p:nvSpPr>
          <p:cNvPr id="23" name="BPS Value 2"/>
          <p:cNvSpPr txBox="1"/>
          <p:nvPr/>
        </p:nvSpPr>
        <p:spPr>
          <a:xfrm>
            <a:off x="6896100" y="2451643"/>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FMI Legend Chip"/>
          <p:cNvSpPr/>
          <p:nvPr/>
        </p:nvSpPr>
        <p:spPr>
          <a:xfrm>
            <a:off x="4928997" y="365545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rot="10800000">
            <a:off x="5090922" y="36506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5233797" y="3574490"/>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Up to 4 Cells</a:t>
            </a:r>
          </a:p>
        </p:txBody>
      </p:sp>
      <p:sp>
        <p:nvSpPr>
          <p:cNvPr id="27" name="BPS Value 3"/>
          <p:cNvSpPr txBox="1"/>
          <p:nvPr/>
        </p:nvSpPr>
        <p:spPr>
          <a:xfrm>
            <a:off x="6896100" y="3636402"/>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8" name="FMI Legend Chip"/>
          <p:cNvSpPr/>
          <p:nvPr/>
        </p:nvSpPr>
        <p:spPr>
          <a:xfrm>
            <a:off x="4928997" y="537394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Isosceles Triangle 28"/>
          <p:cNvSpPr/>
          <p:nvPr/>
        </p:nvSpPr>
        <p:spPr>
          <a:xfrm>
            <a:off x="5090922" y="536918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BPS Name 4"/>
          <p:cNvSpPr txBox="1"/>
          <p:nvPr/>
        </p:nvSpPr>
        <p:spPr>
          <a:xfrm>
            <a:off x="5233797" y="5292983"/>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6 to 12 Cells</a:t>
            </a:r>
          </a:p>
        </p:txBody>
      </p:sp>
      <p:sp>
        <p:nvSpPr>
          <p:cNvPr id="31" name="BPS Value 4"/>
          <p:cNvSpPr txBox="1"/>
          <p:nvPr/>
        </p:nvSpPr>
        <p:spPr>
          <a:xfrm>
            <a:off x="6896100" y="5354896"/>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TextBox 32"/>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Global Read-out, By Cell Configuration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6" name="TextBox 35"/>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755119" cy="194310"/>
          </a:xfrm>
          <a:prstGeom prst="rect">
            <a:avLst/>
          </a:prstGeom>
          <a:noFill/>
        </p:spPr>
        <p:txBody>
          <a:bodyPr wrap="none" lIns="0" tIns="0" rIns="0" bIns="0">
            <a:spAutoFit/>
          </a:bodyPr>
          <a:lstStyle/>
          <a:p>
            <a:r>
              <a:rPr sz="1150" b="0">
                <a:solidFill>
                  <a:srgbClr val="2E2E2E"/>
                </a:solidFill>
                <a:latin typeface="Calibri"/>
              </a:rPr>
              <a:t>Among corrugated partition by cell configuration, 6 to 12 cells</a:t>
            </a:r>
          </a:p>
        </p:txBody>
      </p:sp>
      <p:sp>
        <p:nvSpPr>
          <p:cNvPr id="39" name="TextBox 38"/>
          <p:cNvSpPr txBox="1"/>
          <p:nvPr/>
        </p:nvSpPr>
        <p:spPr>
          <a:xfrm>
            <a:off x="7829550" y="15754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42" name="TextBox 41"/>
          <p:cNvSpPr txBox="1"/>
          <p:nvPr/>
        </p:nvSpPr>
        <p:spPr>
          <a:xfrm>
            <a:off x="7829550" y="1750695"/>
            <a:ext cx="4026966" cy="194310"/>
          </a:xfrm>
          <a:prstGeom prst="rect">
            <a:avLst/>
          </a:prstGeom>
          <a:noFill/>
        </p:spPr>
        <p:txBody>
          <a:bodyPr wrap="none" lIns="0" tIns="0" rIns="0" bIns="0">
            <a:spAutoFit/>
          </a:bodyPr>
          <a:lstStyle/>
          <a:p>
            <a:r>
              <a:rPr sz="1150" b="0">
                <a:solidFill>
                  <a:srgbClr val="2E2E2E"/>
                </a:solidFill>
                <a:latin typeface="Calibri"/>
              </a:rPr>
              <a:t>forecast period. In terms of value share by cell configuration, the 6</a:t>
            </a:r>
          </a:p>
        </p:txBody>
      </p:sp>
      <p:sp>
        <p:nvSpPr>
          <p:cNvPr id="43" name="TextBox 42"/>
          <p:cNvSpPr txBox="1"/>
          <p:nvPr/>
        </p:nvSpPr>
        <p:spPr>
          <a:xfrm>
            <a:off x="7829550" y="1925955"/>
            <a:ext cx="3878634" cy="194310"/>
          </a:xfrm>
          <a:prstGeom prst="rect">
            <a:avLst/>
          </a:prstGeom>
          <a:noFill/>
        </p:spPr>
        <p:txBody>
          <a:bodyPr wrap="none" lIns="0" tIns="0" rIns="0" bIns="0">
            <a:spAutoFit/>
          </a:bodyPr>
          <a:lstStyle/>
          <a:p>
            <a:r>
              <a:rPr sz="1150" b="0">
                <a:solidFill>
                  <a:srgbClr val="2E2E2E"/>
                </a:solidFill>
                <a:latin typeface="Calibri"/>
              </a:rPr>
              <a:t>to 12 cells segment is expected to dominate the market, gaining</a:t>
            </a:r>
          </a:p>
        </p:txBody>
      </p:sp>
      <p:pic>
        <p:nvPicPr>
          <p:cNvPr id="44" name="Picture 43" descr="lock.png"/>
          <p:cNvPicPr>
            <a:picLocks noChangeAspect="1"/>
          </p:cNvPicPr>
          <p:nvPr/>
        </p:nvPicPr>
        <p:blipFill>
          <a:blip r:embed="rId5"/>
          <a:stretch>
            <a:fillRect/>
          </a:stretch>
        </p:blipFill>
        <p:spPr>
          <a:xfrm>
            <a:off x="7815470" y="2090991"/>
            <a:ext cx="134549" cy="195707"/>
          </a:xfrm>
          <a:prstGeom prst="rect">
            <a:avLst/>
          </a:prstGeom>
        </p:spPr>
      </p:pic>
      <p:sp>
        <p:nvSpPr>
          <p:cNvPr id="45" name="TextBox 44"/>
          <p:cNvSpPr txBox="1"/>
          <p:nvPr/>
        </p:nvSpPr>
        <p:spPr>
          <a:xfrm>
            <a:off x="7990579" y="2101215"/>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46" name="Picture 45" descr="lock.png"/>
          <p:cNvPicPr>
            <a:picLocks noChangeAspect="1"/>
          </p:cNvPicPr>
          <p:nvPr/>
        </p:nvPicPr>
        <p:blipFill>
          <a:blip r:embed="rId5"/>
          <a:stretch>
            <a:fillRect/>
          </a:stretch>
        </p:blipFill>
        <p:spPr>
          <a:xfrm>
            <a:off x="9385722" y="2090991"/>
            <a:ext cx="134549" cy="195707"/>
          </a:xfrm>
          <a:prstGeom prst="rect">
            <a:avLst/>
          </a:prstGeom>
        </p:spPr>
      </p:pic>
      <p:sp>
        <p:nvSpPr>
          <p:cNvPr id="47" name="TextBox 46"/>
          <p:cNvSpPr txBox="1"/>
          <p:nvPr/>
        </p:nvSpPr>
        <p:spPr>
          <a:xfrm>
            <a:off x="9560832" y="2101215"/>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8" name="TextBox 47"/>
          <p:cNvSpPr txBox="1"/>
          <p:nvPr/>
        </p:nvSpPr>
        <p:spPr>
          <a:xfrm>
            <a:off x="7829550" y="2329053"/>
            <a:ext cx="2793528" cy="194310"/>
          </a:xfrm>
          <a:prstGeom prst="rect">
            <a:avLst/>
          </a:prstGeom>
          <a:noFill/>
        </p:spPr>
        <p:txBody>
          <a:bodyPr wrap="none" lIns="0" tIns="0" rIns="0" bIns="0">
            <a:spAutoFit/>
          </a:bodyPr>
          <a:lstStyle/>
          <a:p>
            <a:r>
              <a:rPr sz="1150" b="0">
                <a:solidFill>
                  <a:srgbClr val="2E2E2E"/>
                </a:solidFill>
                <a:latin typeface="Calibri"/>
              </a:rPr>
              <a:t>The 13 to 24 cells segment is expected to lose</a:t>
            </a:r>
          </a:p>
        </p:txBody>
      </p:sp>
      <p:pic>
        <p:nvPicPr>
          <p:cNvPr id="49" name="Picture 48" descr="lock.png"/>
          <p:cNvPicPr>
            <a:picLocks noChangeAspect="1"/>
          </p:cNvPicPr>
          <p:nvPr/>
        </p:nvPicPr>
        <p:blipFill>
          <a:blip r:embed="rId5"/>
          <a:stretch>
            <a:fillRect/>
          </a:stretch>
        </p:blipFill>
        <p:spPr>
          <a:xfrm>
            <a:off x="10572232" y="2318829"/>
            <a:ext cx="134549" cy="195707"/>
          </a:xfrm>
          <a:prstGeom prst="rect">
            <a:avLst/>
          </a:prstGeom>
        </p:spPr>
      </p:pic>
      <p:sp>
        <p:nvSpPr>
          <p:cNvPr id="50" name="TextBox 49"/>
          <p:cNvSpPr txBox="1"/>
          <p:nvPr/>
        </p:nvSpPr>
        <p:spPr>
          <a:xfrm>
            <a:off x="10747341" y="2329053"/>
            <a:ext cx="829840" cy="194310"/>
          </a:xfrm>
          <a:prstGeom prst="rect">
            <a:avLst/>
          </a:prstGeom>
          <a:noFill/>
        </p:spPr>
        <p:txBody>
          <a:bodyPr wrap="none" lIns="0" tIns="0" rIns="0" bIns="0">
            <a:spAutoFit/>
          </a:bodyPr>
          <a:lstStyle/>
          <a:p>
            <a:r>
              <a:rPr sz="1150" b="0">
                <a:solidFill>
                  <a:srgbClr val="2E2E2E"/>
                </a:solidFill>
                <a:latin typeface="Calibri"/>
              </a:rPr>
              <a:t>BPS over the</a:t>
            </a:r>
          </a:p>
        </p:txBody>
      </p:sp>
      <p:sp>
        <p:nvSpPr>
          <p:cNvPr id="51" name="TextBox 50"/>
          <p:cNvSpPr txBox="1"/>
          <p:nvPr/>
        </p:nvSpPr>
        <p:spPr>
          <a:xfrm>
            <a:off x="7829550" y="2504313"/>
            <a:ext cx="1851620" cy="194310"/>
          </a:xfrm>
          <a:prstGeom prst="rect">
            <a:avLst/>
          </a:prstGeom>
          <a:noFill/>
        </p:spPr>
        <p:txBody>
          <a:bodyPr wrap="none" lIns="0" tIns="0" rIns="0" bIns="0">
            <a:spAutoFit/>
          </a:bodyPr>
          <a:lstStyle/>
          <a:p>
            <a:r>
              <a:rPr sz="1150" b="0">
                <a:solidFill>
                  <a:srgbClr val="2E2E2E"/>
                </a:solidFill>
                <a:latin typeface="Calibri"/>
              </a:rPr>
              <a:t>forecast period to account for</a:t>
            </a:r>
          </a:p>
        </p:txBody>
      </p:sp>
      <p:pic>
        <p:nvPicPr>
          <p:cNvPr id="52" name="Picture 51" descr="lock.png"/>
          <p:cNvPicPr>
            <a:picLocks noChangeAspect="1"/>
          </p:cNvPicPr>
          <p:nvPr/>
        </p:nvPicPr>
        <p:blipFill>
          <a:blip r:embed="rId5"/>
          <a:stretch>
            <a:fillRect/>
          </a:stretch>
        </p:blipFill>
        <p:spPr>
          <a:xfrm>
            <a:off x="9630324" y="2494089"/>
            <a:ext cx="134549" cy="195707"/>
          </a:xfrm>
          <a:prstGeom prst="rect">
            <a:avLst/>
          </a:prstGeom>
        </p:spPr>
      </p:pic>
      <p:sp>
        <p:nvSpPr>
          <p:cNvPr id="53" name="TextBox 52"/>
          <p:cNvSpPr txBox="1"/>
          <p:nvPr/>
        </p:nvSpPr>
        <p:spPr>
          <a:xfrm>
            <a:off x="9805433" y="250431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54"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Volume, By Cell Configuration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Cell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Growth,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extLst>
                    <a:ext uri="{9D8B030D-6E8A-4147-A177-3AD203B41FA5}">
                      <a16:colId xmlns:a16="http://schemas.microsoft.com/office/drawing/2014/main" val="20000"/>
                    </a:ext>
                  </a:extLst>
                </a:gridCol>
                <a:gridCol w="695728">
                  <a:extLst>
                    <a:ext uri="{9D8B030D-6E8A-4147-A177-3AD203B41FA5}">
                      <a16:colId xmlns:a16="http://schemas.microsoft.com/office/drawing/2014/main" val="20001"/>
                    </a:ext>
                  </a:extLst>
                </a:gridCol>
                <a:gridCol w="695728">
                  <a:extLst>
                    <a:ext uri="{9D8B030D-6E8A-4147-A177-3AD203B41FA5}">
                      <a16:colId xmlns:a16="http://schemas.microsoft.com/office/drawing/2014/main" val="20002"/>
                    </a:ext>
                  </a:extLst>
                </a:gridCol>
                <a:gridCol w="695728">
                  <a:extLst>
                    <a:ext uri="{9D8B030D-6E8A-4147-A177-3AD203B41FA5}">
                      <a16:colId xmlns:a16="http://schemas.microsoft.com/office/drawing/2014/main" val="20003"/>
                    </a:ext>
                  </a:extLst>
                </a:gridCol>
                <a:gridCol w="695728">
                  <a:extLst>
                    <a:ext uri="{9D8B030D-6E8A-4147-A177-3AD203B41FA5}">
                      <a16:colId xmlns:a16="http://schemas.microsoft.com/office/drawing/2014/main" val="20004"/>
                    </a:ext>
                  </a:extLst>
                </a:gridCol>
                <a:gridCol w="695728">
                  <a:extLst>
                    <a:ext uri="{9D8B030D-6E8A-4147-A177-3AD203B41FA5}">
                      <a16:colId xmlns:a16="http://schemas.microsoft.com/office/drawing/2014/main" val="20005"/>
                    </a:ext>
                  </a:extLst>
                </a:gridCol>
                <a:gridCol w="695728">
                  <a:extLst>
                    <a:ext uri="{9D8B030D-6E8A-4147-A177-3AD203B41FA5}">
                      <a16:colId xmlns:a16="http://schemas.microsoft.com/office/drawing/2014/main" val="20006"/>
                    </a:ext>
                  </a:extLst>
                </a:gridCol>
                <a:gridCol w="695728">
                  <a:extLst>
                    <a:ext uri="{9D8B030D-6E8A-4147-A177-3AD203B41FA5}">
                      <a16:colId xmlns:a16="http://schemas.microsoft.com/office/drawing/2014/main" val="20007"/>
                    </a:ext>
                  </a:extLst>
                </a:gridCol>
                <a:gridCol w="695728">
                  <a:extLst>
                    <a:ext uri="{9D8B030D-6E8A-4147-A177-3AD203B41FA5}">
                      <a16:colId xmlns:a16="http://schemas.microsoft.com/office/drawing/2014/main" val="20008"/>
                    </a:ext>
                  </a:extLst>
                </a:gridCol>
                <a:gridCol w="695728">
                  <a:extLst>
                    <a:ext uri="{9D8B030D-6E8A-4147-A177-3AD203B41FA5}">
                      <a16:colId xmlns:a16="http://schemas.microsoft.com/office/drawing/2014/main" val="20009"/>
                    </a:ext>
                  </a:extLst>
                </a:gridCol>
                <a:gridCol w="695728">
                  <a:extLst>
                    <a:ext uri="{9D8B030D-6E8A-4147-A177-3AD203B41FA5}">
                      <a16:colId xmlns:a16="http://schemas.microsoft.com/office/drawing/2014/main" val="20010"/>
                    </a:ext>
                  </a:extLst>
                </a:gridCol>
                <a:gridCol w="695728">
                  <a:extLst>
                    <a:ext uri="{9D8B030D-6E8A-4147-A177-3AD203B41FA5}">
                      <a16:colId xmlns:a16="http://schemas.microsoft.com/office/drawing/2014/main" val="20011"/>
                    </a:ext>
                  </a:extLst>
                </a:gridCol>
                <a:gridCol w="695728">
                  <a:extLst>
                    <a:ext uri="{9D8B030D-6E8A-4147-A177-3AD203B41FA5}">
                      <a16:colId xmlns:a16="http://schemas.microsoft.com/office/drawing/2014/main" val="20012"/>
                    </a:ext>
                  </a:extLst>
                </a:gridCol>
                <a:gridCol w="695728">
                  <a:extLst>
                    <a:ext uri="{9D8B030D-6E8A-4147-A177-3AD203B41FA5}">
                      <a16:colId xmlns:a16="http://schemas.microsoft.com/office/drawing/2014/main" val="20013"/>
                    </a:ext>
                  </a:extLst>
                </a:gridCol>
                <a:gridCol w="695728">
                  <a:extLst>
                    <a:ext uri="{9D8B030D-6E8A-4147-A177-3AD203B41FA5}">
                      <a16:colId xmlns:a16="http://schemas.microsoft.com/office/drawing/2014/main" val="20014"/>
                    </a:ext>
                  </a:extLst>
                </a:gridCol>
                <a:gridCol w="69572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8765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Heatmap, By Cell Configuration (%)  ·  light = lower, dark = higher growth</a:t>
            </a:r>
          </a:p>
        </p:txBody>
      </p:sp>
      <p:sp>
        <p:nvSpPr>
          <p:cNvPr id="17" name="TextBox 16"/>
          <p:cNvSpPr txBox="1"/>
          <p:nvPr/>
        </p:nvSpPr>
        <p:spPr>
          <a:xfrm>
            <a:off x="185737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Up to 4 Cells</a:t>
            </a:r>
          </a:p>
        </p:txBody>
      </p:sp>
      <p:sp>
        <p:nvSpPr>
          <p:cNvPr id="33" name="Rectangle 32"/>
          <p:cNvSpPr/>
          <p:nvPr/>
        </p:nvSpPr>
        <p:spPr>
          <a:xfrm>
            <a:off x="185737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248025"/>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248025"/>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248025"/>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248025"/>
            <a:ext cx="643890" cy="831056"/>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248025"/>
            <a:ext cx="643890" cy="831056"/>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248025"/>
            <a:ext cx="643890" cy="831056"/>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248025"/>
            <a:ext cx="643890" cy="831056"/>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248025"/>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248025"/>
            <a:ext cx="643890" cy="831056"/>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248025"/>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248025"/>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079081"/>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6 to 12 Cells</a:t>
            </a:r>
          </a:p>
        </p:txBody>
      </p:sp>
      <p:sp>
        <p:nvSpPr>
          <p:cNvPr id="49" name="Rectangle 48"/>
          <p:cNvSpPr/>
          <p:nvPr/>
        </p:nvSpPr>
        <p:spPr>
          <a:xfrm>
            <a:off x="1857375" y="4079081"/>
            <a:ext cx="643890" cy="831056"/>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079081"/>
            <a:ext cx="643890" cy="831056"/>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079081"/>
            <a:ext cx="643890" cy="831056"/>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079081"/>
            <a:ext cx="643890" cy="831056"/>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079081"/>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079081"/>
            <a:ext cx="643890" cy="831056"/>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079081"/>
            <a:ext cx="643890" cy="831056"/>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079081"/>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079081"/>
            <a:ext cx="643890" cy="831056"/>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079081"/>
            <a:ext cx="643890" cy="831056"/>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079081"/>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079081"/>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4910138"/>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13 to 24 Cells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238125" y="5741194"/>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Above 24 Cells</a:t>
            </a:r>
          </a:p>
        </p:txBody>
      </p:sp>
      <p:sp>
        <p:nvSpPr>
          <p:cNvPr id="81" name="Rectangle 80"/>
          <p:cNvSpPr/>
          <p:nvPr/>
        </p:nvSpPr>
        <p:spPr>
          <a:xfrm>
            <a:off x="1857375" y="5741194"/>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250126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314515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378904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443293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507682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5720715" y="5741194"/>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636460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7008495" y="5741194"/>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7652385" y="5741194"/>
            <a:ext cx="643890" cy="831056"/>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8296275" y="5741194"/>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8940165" y="5741194"/>
            <a:ext cx="643890" cy="831056"/>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9584055" y="5741194"/>
            <a:ext cx="643890" cy="831056"/>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022794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087183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TextBox 136"/>
          <p:cNvSpPr txBox="1"/>
          <p:nvPr/>
        </p:nvSpPr>
        <p:spPr>
          <a:xfrm>
            <a:off x="11687175" y="321945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34947"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Value, By Cell Configuration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Cell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Growth,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extLst>
                    <a:ext uri="{9D8B030D-6E8A-4147-A177-3AD203B41FA5}">
                      <a16:colId xmlns:a16="http://schemas.microsoft.com/office/drawing/2014/main" val="20000"/>
                    </a:ext>
                  </a:extLst>
                </a:gridCol>
                <a:gridCol w="695728">
                  <a:extLst>
                    <a:ext uri="{9D8B030D-6E8A-4147-A177-3AD203B41FA5}">
                      <a16:colId xmlns:a16="http://schemas.microsoft.com/office/drawing/2014/main" val="20001"/>
                    </a:ext>
                  </a:extLst>
                </a:gridCol>
                <a:gridCol w="695728">
                  <a:extLst>
                    <a:ext uri="{9D8B030D-6E8A-4147-A177-3AD203B41FA5}">
                      <a16:colId xmlns:a16="http://schemas.microsoft.com/office/drawing/2014/main" val="20002"/>
                    </a:ext>
                  </a:extLst>
                </a:gridCol>
                <a:gridCol w="695728">
                  <a:extLst>
                    <a:ext uri="{9D8B030D-6E8A-4147-A177-3AD203B41FA5}">
                      <a16:colId xmlns:a16="http://schemas.microsoft.com/office/drawing/2014/main" val="20003"/>
                    </a:ext>
                  </a:extLst>
                </a:gridCol>
                <a:gridCol w="695728">
                  <a:extLst>
                    <a:ext uri="{9D8B030D-6E8A-4147-A177-3AD203B41FA5}">
                      <a16:colId xmlns:a16="http://schemas.microsoft.com/office/drawing/2014/main" val="20004"/>
                    </a:ext>
                  </a:extLst>
                </a:gridCol>
                <a:gridCol w="695728">
                  <a:extLst>
                    <a:ext uri="{9D8B030D-6E8A-4147-A177-3AD203B41FA5}">
                      <a16:colId xmlns:a16="http://schemas.microsoft.com/office/drawing/2014/main" val="20005"/>
                    </a:ext>
                  </a:extLst>
                </a:gridCol>
                <a:gridCol w="695728">
                  <a:extLst>
                    <a:ext uri="{9D8B030D-6E8A-4147-A177-3AD203B41FA5}">
                      <a16:colId xmlns:a16="http://schemas.microsoft.com/office/drawing/2014/main" val="20006"/>
                    </a:ext>
                  </a:extLst>
                </a:gridCol>
                <a:gridCol w="695728">
                  <a:extLst>
                    <a:ext uri="{9D8B030D-6E8A-4147-A177-3AD203B41FA5}">
                      <a16:colId xmlns:a16="http://schemas.microsoft.com/office/drawing/2014/main" val="20007"/>
                    </a:ext>
                  </a:extLst>
                </a:gridCol>
                <a:gridCol w="695728">
                  <a:extLst>
                    <a:ext uri="{9D8B030D-6E8A-4147-A177-3AD203B41FA5}">
                      <a16:colId xmlns:a16="http://schemas.microsoft.com/office/drawing/2014/main" val="20008"/>
                    </a:ext>
                  </a:extLst>
                </a:gridCol>
                <a:gridCol w="695728">
                  <a:extLst>
                    <a:ext uri="{9D8B030D-6E8A-4147-A177-3AD203B41FA5}">
                      <a16:colId xmlns:a16="http://schemas.microsoft.com/office/drawing/2014/main" val="20009"/>
                    </a:ext>
                  </a:extLst>
                </a:gridCol>
                <a:gridCol w="695728">
                  <a:extLst>
                    <a:ext uri="{9D8B030D-6E8A-4147-A177-3AD203B41FA5}">
                      <a16:colId xmlns:a16="http://schemas.microsoft.com/office/drawing/2014/main" val="20010"/>
                    </a:ext>
                  </a:extLst>
                </a:gridCol>
                <a:gridCol w="695728">
                  <a:extLst>
                    <a:ext uri="{9D8B030D-6E8A-4147-A177-3AD203B41FA5}">
                      <a16:colId xmlns:a16="http://schemas.microsoft.com/office/drawing/2014/main" val="20011"/>
                    </a:ext>
                  </a:extLst>
                </a:gridCol>
                <a:gridCol w="695728">
                  <a:extLst>
                    <a:ext uri="{9D8B030D-6E8A-4147-A177-3AD203B41FA5}">
                      <a16:colId xmlns:a16="http://schemas.microsoft.com/office/drawing/2014/main" val="20012"/>
                    </a:ext>
                  </a:extLst>
                </a:gridCol>
                <a:gridCol w="695728">
                  <a:extLst>
                    <a:ext uri="{9D8B030D-6E8A-4147-A177-3AD203B41FA5}">
                      <a16:colId xmlns:a16="http://schemas.microsoft.com/office/drawing/2014/main" val="20013"/>
                    </a:ext>
                  </a:extLst>
                </a:gridCol>
                <a:gridCol w="695728">
                  <a:extLst>
                    <a:ext uri="{9D8B030D-6E8A-4147-A177-3AD203B41FA5}">
                      <a16:colId xmlns:a16="http://schemas.microsoft.com/office/drawing/2014/main" val="20014"/>
                    </a:ext>
                  </a:extLst>
                </a:gridCol>
                <a:gridCol w="69572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8765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Heatmap, By Cell Configuration (%)  ·  light = lower, dark = higher growth</a:t>
            </a:r>
          </a:p>
        </p:txBody>
      </p:sp>
      <p:sp>
        <p:nvSpPr>
          <p:cNvPr id="17" name="TextBox 16"/>
          <p:cNvSpPr txBox="1"/>
          <p:nvPr/>
        </p:nvSpPr>
        <p:spPr>
          <a:xfrm>
            <a:off x="185737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Up to 4 Cells</a:t>
            </a:r>
          </a:p>
        </p:txBody>
      </p:sp>
      <p:sp>
        <p:nvSpPr>
          <p:cNvPr id="33" name="Rectangle 32"/>
          <p:cNvSpPr/>
          <p:nvPr/>
        </p:nvSpPr>
        <p:spPr>
          <a:xfrm>
            <a:off x="185737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248025"/>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248025"/>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248025"/>
            <a:ext cx="643890" cy="831056"/>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248025"/>
            <a:ext cx="643890" cy="831056"/>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248025"/>
            <a:ext cx="643890" cy="831056"/>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248025"/>
            <a:ext cx="643890" cy="831056"/>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248025"/>
            <a:ext cx="643890" cy="831056"/>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248025"/>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248025"/>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248025"/>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248025"/>
            <a:ext cx="643890" cy="831056"/>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248025"/>
            <a:ext cx="643890" cy="831056"/>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079081"/>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6 to 12 Cells</a:t>
            </a:r>
          </a:p>
        </p:txBody>
      </p:sp>
      <p:sp>
        <p:nvSpPr>
          <p:cNvPr id="49" name="Rectangle 48"/>
          <p:cNvSpPr/>
          <p:nvPr/>
        </p:nvSpPr>
        <p:spPr>
          <a:xfrm>
            <a:off x="1857375" y="4079081"/>
            <a:ext cx="643890" cy="831056"/>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079081"/>
            <a:ext cx="643890" cy="831056"/>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079081"/>
            <a:ext cx="643890" cy="831056"/>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079081"/>
            <a:ext cx="643890" cy="831056"/>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079081"/>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079081"/>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079081"/>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079081"/>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079081"/>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079081"/>
            <a:ext cx="643890" cy="831056"/>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079081"/>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079081"/>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4910138"/>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13 to 24 Cells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4910138"/>
            <a:ext cx="643890" cy="831056"/>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4910138"/>
            <a:ext cx="643890" cy="831056"/>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238125" y="5741194"/>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Above 24 Cells</a:t>
            </a:r>
          </a:p>
        </p:txBody>
      </p:sp>
      <p:sp>
        <p:nvSpPr>
          <p:cNvPr id="81" name="Rectangle 80"/>
          <p:cNvSpPr/>
          <p:nvPr/>
        </p:nvSpPr>
        <p:spPr>
          <a:xfrm>
            <a:off x="185737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250126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314515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378904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443293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5076825" y="5741194"/>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572071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6364605" y="5741194"/>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7008495" y="5741194"/>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7652385" y="5741194"/>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8296275" y="5741194"/>
            <a:ext cx="643890" cy="831056"/>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894016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9584055" y="5741194"/>
            <a:ext cx="643890" cy="831056"/>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022794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087183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TextBox 136"/>
          <p:cNvSpPr txBox="1"/>
          <p:nvPr/>
        </p:nvSpPr>
        <p:spPr>
          <a:xfrm>
            <a:off x="11687175" y="321945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34947"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Customization</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Customization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Customization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2 sub-segments of Customization,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Customization segment categorizes the market by customization.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Custom-Engineered</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6962775"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Standard / Stock Sizes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Customization split shows how demand is distributed across customization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0" name="Picture 49" descr="2_027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004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0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173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_184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6_4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94756" cy="186689"/>
          </a:xfrm>
          <a:prstGeom prst="rect">
            <a:avLst/>
          </a:prstGeom>
          <a:noFill/>
        </p:spPr>
        <p:txBody>
          <a:bodyPr wrap="none" lIns="0" tIns="0" rIns="0" bIns="0">
            <a:spAutoFit/>
          </a:bodyPr>
          <a:lstStyle/>
          <a:p>
            <a:r>
              <a:rPr sz="1100" b="0">
                <a:solidFill>
                  <a:srgbClr val="2E2E2E"/>
                </a:solidFill>
                <a:latin typeface="Calibri"/>
              </a:rPr>
              <a:t>▪ ¶ Among corrugated partition by customization,</a:t>
            </a:r>
          </a:p>
        </p:txBody>
      </p:sp>
      <p:sp>
        <p:nvSpPr>
          <p:cNvPr id="59" name="TextBox 58"/>
          <p:cNvSpPr txBox="1"/>
          <p:nvPr/>
        </p:nvSpPr>
        <p:spPr>
          <a:xfrm>
            <a:off x="485775" y="4397077"/>
            <a:ext cx="2641004" cy="186689"/>
          </a:xfrm>
          <a:prstGeom prst="rect">
            <a:avLst/>
          </a:prstGeom>
          <a:noFill/>
        </p:spPr>
        <p:txBody>
          <a:bodyPr wrap="none" lIns="0" tIns="0" rIns="0" bIns="0">
            <a:spAutoFit/>
          </a:bodyPr>
          <a:lstStyle/>
          <a:p>
            <a:r>
              <a:rPr sz="1100" b="0">
                <a:solidFill>
                  <a:srgbClr val="2E2E2E"/>
                </a:solidFill>
                <a:latin typeface="Calibri"/>
              </a:rPr>
              <a:t>standard / stock sizes segment is expected to</a:t>
            </a:r>
          </a:p>
        </p:txBody>
      </p:sp>
      <p:sp>
        <p:nvSpPr>
          <p:cNvPr id="60" name="TextBox 59"/>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61" name="Picture 60" descr="lock.png"/>
          <p:cNvPicPr>
            <a:picLocks noChangeAspect="1"/>
          </p:cNvPicPr>
          <p:nvPr/>
        </p:nvPicPr>
        <p:blipFill>
          <a:blip r:embed="rId10"/>
          <a:stretch>
            <a:fillRect/>
          </a:stretch>
        </p:blipFill>
        <p:spPr>
          <a:xfrm>
            <a:off x="2108919" y="4554938"/>
            <a:ext cx="128699" cy="187198"/>
          </a:xfrm>
          <a:prstGeom prst="rect">
            <a:avLst/>
          </a:prstGeom>
        </p:spPr>
      </p:pic>
      <p:sp>
        <p:nvSpPr>
          <p:cNvPr id="62" name="TextBox 61"/>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63" name="TextBox 62"/>
          <p:cNvSpPr txBox="1"/>
          <p:nvPr/>
        </p:nvSpPr>
        <p:spPr>
          <a:xfrm>
            <a:off x="485775" y="4732357"/>
            <a:ext cx="2850008" cy="186689"/>
          </a:xfrm>
          <a:prstGeom prst="rect">
            <a:avLst/>
          </a:prstGeom>
          <a:noFill/>
        </p:spPr>
        <p:txBody>
          <a:bodyPr wrap="none" lIns="0" tIns="0" rIns="0" bIns="0">
            <a:spAutoFit/>
          </a:bodyPr>
          <a:lstStyle/>
          <a:p>
            <a:r>
              <a:rPr sz="1100" b="0">
                <a:solidFill>
                  <a:srgbClr val="2E2E2E"/>
                </a:solidFill>
                <a:latin typeface="Calibri"/>
              </a:rPr>
              <a:t>period. In terms of value share by customization,</a:t>
            </a:r>
          </a:p>
        </p:txBody>
      </p:sp>
      <p:sp>
        <p:nvSpPr>
          <p:cNvPr id="64" name="TextBox 63"/>
          <p:cNvSpPr txBox="1"/>
          <p:nvPr/>
        </p:nvSpPr>
        <p:spPr>
          <a:xfrm>
            <a:off x="485775" y="4899997"/>
            <a:ext cx="2752873" cy="186689"/>
          </a:xfrm>
          <a:prstGeom prst="rect">
            <a:avLst/>
          </a:prstGeom>
          <a:noFill/>
        </p:spPr>
        <p:txBody>
          <a:bodyPr wrap="none" lIns="0" tIns="0" rIns="0" bIns="0">
            <a:spAutoFit/>
          </a:bodyPr>
          <a:lstStyle/>
          <a:p>
            <a:r>
              <a:rPr sz="1100" b="0">
                <a:solidFill>
                  <a:srgbClr val="2E2E2E"/>
                </a:solidFill>
                <a:latin typeface="Calibri"/>
              </a:rPr>
              <a:t>the custom-engineered segment is expected to</a:t>
            </a:r>
          </a:p>
        </p:txBody>
      </p:sp>
      <p:sp>
        <p:nvSpPr>
          <p:cNvPr id="65" name="TextBox 64"/>
          <p:cNvSpPr txBox="1"/>
          <p:nvPr/>
        </p:nvSpPr>
        <p:spPr>
          <a:xfrm>
            <a:off x="485775" y="5067637"/>
            <a:ext cx="1682750" cy="186689"/>
          </a:xfrm>
          <a:prstGeom prst="rect">
            <a:avLst/>
          </a:prstGeom>
          <a:noFill/>
        </p:spPr>
        <p:txBody>
          <a:bodyPr wrap="none" lIns="0" tIns="0" rIns="0" bIns="0">
            <a:spAutoFit/>
          </a:bodyPr>
          <a:lstStyle/>
          <a:p>
            <a:r>
              <a:rPr sz="1100" b="0">
                <a:solidFill>
                  <a:srgbClr val="2E2E2E"/>
                </a:solidFill>
                <a:latin typeface="Calibri"/>
              </a:rPr>
              <a:t>dominate the market, losing</a:t>
            </a:r>
          </a:p>
        </p:txBody>
      </p:sp>
      <p:pic>
        <p:nvPicPr>
          <p:cNvPr id="66" name="Picture 65" descr="lock.png"/>
          <p:cNvPicPr>
            <a:picLocks noChangeAspect="1"/>
          </p:cNvPicPr>
          <p:nvPr/>
        </p:nvPicPr>
        <p:blipFill>
          <a:blip r:embed="rId10"/>
          <a:stretch>
            <a:fillRect/>
          </a:stretch>
        </p:blipFill>
        <p:spPr>
          <a:xfrm>
            <a:off x="2116576" y="5057858"/>
            <a:ext cx="128699" cy="187198"/>
          </a:xfrm>
          <a:prstGeom prst="rect">
            <a:avLst/>
          </a:prstGeom>
        </p:spPr>
      </p:pic>
      <p:sp>
        <p:nvSpPr>
          <p:cNvPr id="67" name="TextBox 66"/>
          <p:cNvSpPr txBox="1"/>
          <p:nvPr/>
        </p:nvSpPr>
        <p:spPr>
          <a:xfrm>
            <a:off x="2284072" y="5067637"/>
            <a:ext cx="534044" cy="186689"/>
          </a:xfrm>
          <a:prstGeom prst="rect">
            <a:avLst/>
          </a:prstGeom>
          <a:noFill/>
        </p:spPr>
        <p:txBody>
          <a:bodyPr wrap="none" lIns="0" tIns="0" rIns="0" bIns="0">
            <a:spAutoFit/>
          </a:bodyPr>
          <a:lstStyle/>
          <a:p>
            <a:r>
              <a:rPr sz="1100" b="0">
                <a:solidFill>
                  <a:srgbClr val="2E2E2E"/>
                </a:solidFill>
                <a:latin typeface="Calibri"/>
              </a:rPr>
              <a:t>BPS and</a:t>
            </a:r>
          </a:p>
        </p:txBody>
      </p:sp>
      <p:sp>
        <p:nvSpPr>
          <p:cNvPr id="68" name="TextBox 67"/>
          <p:cNvSpPr txBox="1"/>
          <p:nvPr/>
        </p:nvSpPr>
        <p:spPr>
          <a:xfrm>
            <a:off x="485775" y="5235277"/>
            <a:ext cx="896937" cy="186689"/>
          </a:xfrm>
          <a:prstGeom prst="rect">
            <a:avLst/>
          </a:prstGeom>
          <a:noFill/>
        </p:spPr>
        <p:txBody>
          <a:bodyPr wrap="none" lIns="0" tIns="0" rIns="0" bIns="0">
            <a:spAutoFit/>
          </a:bodyPr>
          <a:lstStyle/>
          <a:p>
            <a:r>
              <a:rPr sz="1100" b="0">
                <a:solidFill>
                  <a:srgbClr val="2E2E2E"/>
                </a:solidFill>
                <a:latin typeface="Calibri"/>
              </a:rPr>
              <a:t>accounting for</a:t>
            </a:r>
          </a:p>
        </p:txBody>
      </p:sp>
      <p:pic>
        <p:nvPicPr>
          <p:cNvPr id="69" name="Picture 68" descr="lock.png"/>
          <p:cNvPicPr>
            <a:picLocks noChangeAspect="1"/>
          </p:cNvPicPr>
          <p:nvPr/>
        </p:nvPicPr>
        <p:blipFill>
          <a:blip r:embed="rId10"/>
          <a:stretch>
            <a:fillRect/>
          </a:stretch>
        </p:blipFill>
        <p:spPr>
          <a:xfrm>
            <a:off x="1330764" y="5225498"/>
            <a:ext cx="128699" cy="187198"/>
          </a:xfrm>
          <a:prstGeom prst="rect">
            <a:avLst/>
          </a:prstGeom>
        </p:spPr>
      </p:pic>
      <p:sp>
        <p:nvSpPr>
          <p:cNvPr id="70" name="TextBox 69"/>
          <p:cNvSpPr txBox="1"/>
          <p:nvPr/>
        </p:nvSpPr>
        <p:spPr>
          <a:xfrm>
            <a:off x="1498259"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71" name="TextBox 70"/>
          <p:cNvSpPr txBox="1"/>
          <p:nvPr/>
        </p:nvSpPr>
        <p:spPr>
          <a:xfrm>
            <a:off x="485775" y="5453209"/>
            <a:ext cx="2767062" cy="186689"/>
          </a:xfrm>
          <a:prstGeom prst="rect">
            <a:avLst/>
          </a:prstGeom>
          <a:noFill/>
        </p:spPr>
        <p:txBody>
          <a:bodyPr wrap="none" lIns="0" tIns="0" rIns="0" bIns="0">
            <a:spAutoFit/>
          </a:bodyPr>
          <a:lstStyle/>
          <a:p>
            <a:r>
              <a:rPr sz="1100" b="0">
                <a:solidFill>
                  <a:srgbClr val="2E2E2E"/>
                </a:solidFill>
                <a:latin typeface="Calibri"/>
              </a:rPr>
              <a:t>▪ ¶ Custom-engineered segment is projected to</a:t>
            </a:r>
          </a:p>
        </p:txBody>
      </p:sp>
      <p:sp>
        <p:nvSpPr>
          <p:cNvPr id="72" name="TextBox 71"/>
          <p:cNvSpPr txBox="1"/>
          <p:nvPr/>
        </p:nvSpPr>
        <p:spPr>
          <a:xfrm>
            <a:off x="485775" y="5620849"/>
            <a:ext cx="512489" cy="186689"/>
          </a:xfrm>
          <a:prstGeom prst="rect">
            <a:avLst/>
          </a:prstGeom>
          <a:noFill/>
        </p:spPr>
        <p:txBody>
          <a:bodyPr wrap="none" lIns="0" tIns="0" r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123678" cy="186689"/>
          </a:xfrm>
          <a:prstGeom prst="rect">
            <a:avLst/>
          </a:prstGeom>
          <a:noFill/>
        </p:spPr>
        <p:txBody>
          <a:bodyPr wrap="none" lIns="0" tIns="0" rIns="0" bIns="0">
            <a:spAutoFit/>
          </a:bodyPr>
          <a:lstStyle/>
          <a:p>
            <a:r>
              <a:rPr sz="1100" b="0">
                <a:solidFill>
                  <a:srgbClr val="2E2E2E"/>
                </a:solidFill>
                <a:latin typeface="Calibri"/>
              </a:rPr>
              <a:t>X higher value than standard / stock</a:t>
            </a:r>
          </a:p>
        </p:txBody>
      </p:sp>
      <p:sp>
        <p:nvSpPr>
          <p:cNvPr id="75" name="TextBox 74"/>
          <p:cNvSpPr txBox="1"/>
          <p:nvPr/>
        </p:nvSpPr>
        <p:spPr>
          <a:xfrm>
            <a:off x="485775" y="5788489"/>
            <a:ext cx="1353145" cy="186689"/>
          </a:xfrm>
          <a:prstGeom prst="rect">
            <a:avLst/>
          </a:prstGeom>
          <a:noFill/>
        </p:spPr>
        <p:txBody>
          <a:bodyPr wrap="none" lIns="0" tIns="0" rIns="0" bIns="0">
            <a:spAutoFit/>
          </a:bodyPr>
          <a:lstStyle/>
          <a:p>
            <a:r>
              <a:rPr sz="1100" b="0">
                <a:solidFill>
                  <a:srgbClr val="2E2E2E"/>
                </a:solidFill>
                <a:latin typeface="Calibri"/>
              </a:rPr>
              <a:t>sizes segment in 2036.</a:t>
            </a:r>
          </a:p>
        </p:txBody>
      </p:sp>
      <p:sp>
        <p:nvSpPr>
          <p:cNvPr id="76" name="TextBox 75"/>
          <p:cNvSpPr txBox="1"/>
          <p:nvPr/>
        </p:nvSpPr>
        <p:spPr>
          <a:xfrm>
            <a:off x="3838575" y="4229437"/>
            <a:ext cx="1350962" cy="186689"/>
          </a:xfrm>
          <a:prstGeom prst="rect">
            <a:avLst/>
          </a:prstGeom>
          <a:noFill/>
        </p:spPr>
        <p:txBody>
          <a:bodyPr wrap="none" lIns="0" tIns="0" rIns="0" bIns="0">
            <a:spAutoFit/>
          </a:bodyPr>
          <a:lstStyle/>
          <a:p>
            <a:r>
              <a:rPr sz="1100" b="0">
                <a:solidFill>
                  <a:srgbClr val="2E2E2E"/>
                </a:solidFill>
                <a:latin typeface="Calibri"/>
              </a:rPr>
              <a:t>● Custom-Engineered:</a:t>
            </a:r>
          </a:p>
        </p:txBody>
      </p:sp>
      <p:pic>
        <p:nvPicPr>
          <p:cNvPr id="77" name="Picture 76" descr="lock.png"/>
          <p:cNvPicPr>
            <a:picLocks noChangeAspect="1"/>
          </p:cNvPicPr>
          <p:nvPr/>
        </p:nvPicPr>
        <p:blipFill>
          <a:blip r:embed="rId10"/>
          <a:stretch>
            <a:fillRect/>
          </a:stretch>
        </p:blipFill>
        <p:spPr>
          <a:xfrm>
            <a:off x="5137589" y="4219658"/>
            <a:ext cx="128699" cy="187198"/>
          </a:xfrm>
          <a:prstGeom prst="rect">
            <a:avLst/>
          </a:prstGeom>
        </p:spPr>
      </p:pic>
      <p:sp>
        <p:nvSpPr>
          <p:cNvPr id="78" name="TextBox 77"/>
          <p:cNvSpPr txBox="1"/>
          <p:nvPr/>
        </p:nvSpPr>
        <p:spPr>
          <a:xfrm>
            <a:off x="5305084"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164535" y="4219658"/>
            <a:ext cx="128699" cy="187198"/>
          </a:xfrm>
          <a:prstGeom prst="rect">
            <a:avLst/>
          </a:prstGeom>
        </p:spPr>
      </p:pic>
      <p:sp>
        <p:nvSpPr>
          <p:cNvPr id="80" name="TextBox 79"/>
          <p:cNvSpPr txBox="1"/>
          <p:nvPr/>
        </p:nvSpPr>
        <p:spPr>
          <a:xfrm>
            <a:off x="6332030" y="4229437"/>
            <a:ext cx="1503469" cy="186689"/>
          </a:xfrm>
          <a:prstGeom prst="rect">
            <a:avLst/>
          </a:prstGeom>
          <a:noFill/>
        </p:spPr>
        <p:txBody>
          <a:bodyPr wrap="none" lIns="0" tIns="0" r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475382" cy="186689"/>
          </a:xfrm>
          <a:prstGeom prst="rect">
            <a:avLst/>
          </a:prstGeom>
          <a:noFill/>
        </p:spPr>
        <p:txBody>
          <a:bodyPr wrap="none" lIns="0" tIns="0" rIns="0" bIns="0">
            <a:spAutoFit/>
          </a:bodyPr>
          <a:lstStyle/>
          <a:p>
            <a:r>
              <a:rPr sz="1100" b="0">
                <a:solidFill>
                  <a:srgbClr val="2E2E2E"/>
                </a:solidFill>
                <a:latin typeface="Calibri"/>
              </a:rPr>
              <a:t>● Standard / Stock Sizes:</a:t>
            </a:r>
          </a:p>
        </p:txBody>
      </p:sp>
      <p:pic>
        <p:nvPicPr>
          <p:cNvPr id="82" name="Picture 81" descr="lock.png"/>
          <p:cNvPicPr>
            <a:picLocks noChangeAspect="1"/>
          </p:cNvPicPr>
          <p:nvPr/>
        </p:nvPicPr>
        <p:blipFill>
          <a:blip r:embed="rId10"/>
          <a:stretch>
            <a:fillRect/>
          </a:stretch>
        </p:blipFill>
        <p:spPr>
          <a:xfrm>
            <a:off x="5262009" y="4437590"/>
            <a:ext cx="128699" cy="187198"/>
          </a:xfrm>
          <a:prstGeom prst="rect">
            <a:avLst/>
          </a:prstGeom>
        </p:spPr>
      </p:pic>
      <p:sp>
        <p:nvSpPr>
          <p:cNvPr id="83" name="TextBox 82"/>
          <p:cNvSpPr txBox="1"/>
          <p:nvPr/>
        </p:nvSpPr>
        <p:spPr>
          <a:xfrm>
            <a:off x="5429505"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288955" y="4437590"/>
            <a:ext cx="128699" cy="187198"/>
          </a:xfrm>
          <a:prstGeom prst="rect">
            <a:avLst/>
          </a:prstGeom>
        </p:spPr>
      </p:pic>
      <p:sp>
        <p:nvSpPr>
          <p:cNvPr id="85" name="TextBox 84"/>
          <p:cNvSpPr txBox="1"/>
          <p:nvPr/>
        </p:nvSpPr>
        <p:spPr>
          <a:xfrm>
            <a:off x="6456451" y="4447369"/>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86" name="TextBox 85"/>
          <p:cNvSpPr txBox="1"/>
          <p:nvPr/>
        </p:nvSpPr>
        <p:spPr>
          <a:xfrm>
            <a:off x="8524875" y="5842641"/>
            <a:ext cx="3162300" cy="194310"/>
          </a:xfrm>
          <a:prstGeom prst="rect">
            <a:avLst/>
          </a:prstGeom>
          <a:noFill/>
        </p:spPr>
        <p:txBody>
          <a:bodyPr wrap="none" lIns="0" tIns="0" rIns="0" bIns="0">
            <a:spAutoFit/>
          </a:bodyPr>
          <a:lstStyle/>
          <a:p>
            <a:r>
              <a:rPr sz="1150" b="1">
                <a:solidFill>
                  <a:srgbClr val="0B2E4A"/>
                </a:solidFill>
                <a:latin typeface="Calibri"/>
              </a:rPr>
              <a:t>The Customization segment is projected to grow at</a:t>
            </a:r>
          </a:p>
        </p:txBody>
      </p:sp>
      <p:sp>
        <p:nvSpPr>
          <p:cNvPr id="87" name="TextBox 86"/>
          <p:cNvSpPr txBox="1"/>
          <p:nvPr/>
        </p:nvSpPr>
        <p:spPr>
          <a:xfrm>
            <a:off x="8524875" y="6017901"/>
            <a:ext cx="680055" cy="194310"/>
          </a:xfrm>
          <a:prstGeom prst="rect">
            <a:avLst/>
          </a:prstGeom>
          <a:noFill/>
        </p:spPr>
        <p:txBody>
          <a:bodyPr wrap="none" lIns="0" tIns="0" rIns="0" bIns="0">
            <a:spAutoFit/>
          </a:bodyPr>
          <a:lstStyle/>
          <a:p>
            <a:r>
              <a:rPr sz="1150" b="1">
                <a:solidFill>
                  <a:srgbClr val="0B2E4A"/>
                </a:solidFill>
                <a:latin typeface="Calibri"/>
              </a:rPr>
              <a:t>a CAGR of</a:t>
            </a:r>
          </a:p>
        </p:txBody>
      </p:sp>
      <p:pic>
        <p:nvPicPr>
          <p:cNvPr id="88" name="Picture 87" descr="lock.png"/>
          <p:cNvPicPr>
            <a:picLocks noChangeAspect="1"/>
          </p:cNvPicPr>
          <p:nvPr/>
        </p:nvPicPr>
        <p:blipFill>
          <a:blip r:embed="rId10"/>
          <a:stretch>
            <a:fillRect/>
          </a:stretch>
        </p:blipFill>
        <p:spPr>
          <a:xfrm>
            <a:off x="9154084" y="6007677"/>
            <a:ext cx="134549" cy="195707"/>
          </a:xfrm>
          <a:prstGeom prst="rect">
            <a:avLst/>
          </a:prstGeom>
        </p:spPr>
      </p:pic>
      <p:sp>
        <p:nvSpPr>
          <p:cNvPr id="89" name="TextBox 88"/>
          <p:cNvSpPr txBox="1"/>
          <p:nvPr/>
        </p:nvSpPr>
        <p:spPr>
          <a:xfrm>
            <a:off x="9329193"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Structure &amp; Attractiveness, By Customization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Customization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Customization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Customization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367616" cy="186689"/>
          </a:xfrm>
          <a:prstGeom prst="rect">
            <a:avLst/>
          </a:prstGeom>
          <a:noFill/>
        </p:spPr>
        <p:txBody>
          <a:bodyPr wrap="none" lIns="0" tIns="0" rIns="0" bIns="0">
            <a:spAutoFit/>
          </a:bodyPr>
          <a:lstStyle/>
          <a:p>
            <a:r>
              <a:rPr sz="1100" b="0">
                <a:solidFill>
                  <a:srgbClr val="2E2E2E"/>
                </a:solidFill>
                <a:latin typeface="Calibri"/>
              </a:rPr>
              <a:t>Custom-engineered followed by standard / stock sizes are expected to be the two most attractive customization segments in the global corrugated partition market in terms of value over the forecast</a:t>
            </a:r>
          </a:p>
        </p:txBody>
      </p:sp>
      <p:sp>
        <p:nvSpPr>
          <p:cNvPr id="21" name="TextBox 20"/>
          <p:cNvSpPr txBox="1"/>
          <p:nvPr/>
        </p:nvSpPr>
        <p:spPr>
          <a:xfrm>
            <a:off x="257175" y="5945505"/>
            <a:ext cx="4487647" cy="186689"/>
          </a:xfrm>
          <a:prstGeom prst="rect">
            <a:avLst/>
          </a:prstGeom>
          <a:noFill/>
        </p:spPr>
        <p:txBody>
          <a:bodyPr wrap="none" lIns="0" tIns="0" rIns="0" bIns="0">
            <a:spAutoFit/>
          </a:bodyPr>
          <a:lstStyle/>
          <a:p>
            <a:r>
              <a:rPr sz="1100" b="0">
                <a:solidFill>
                  <a:srgbClr val="2E2E2E"/>
                </a:solidFill>
                <a:latin typeface="Calibri"/>
              </a:rPr>
              <a:t>period. Custom-Engineered and standard / stock sizes exhibit a CAGR index of</a:t>
            </a:r>
          </a:p>
        </p:txBody>
      </p:sp>
      <p:pic>
        <p:nvPicPr>
          <p:cNvPr id="22" name="Picture 21" descr="lock.png"/>
          <p:cNvPicPr>
            <a:picLocks noChangeAspect="1"/>
          </p:cNvPicPr>
          <p:nvPr/>
        </p:nvPicPr>
        <p:blipFill>
          <a:blip r:embed="rId6"/>
          <a:stretch>
            <a:fillRect/>
          </a:stretch>
        </p:blipFill>
        <p:spPr>
          <a:xfrm>
            <a:off x="4692873" y="5935726"/>
            <a:ext cx="128699" cy="187198"/>
          </a:xfrm>
          <a:prstGeom prst="rect">
            <a:avLst/>
          </a:prstGeom>
        </p:spPr>
      </p:pic>
      <p:sp>
        <p:nvSpPr>
          <p:cNvPr id="23" name="TextBox 22"/>
          <p:cNvSpPr txBox="1"/>
          <p:nvPr/>
        </p:nvSpPr>
        <p:spPr>
          <a:xfrm>
            <a:off x="4860369"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098263" y="5935726"/>
            <a:ext cx="128699" cy="187198"/>
          </a:xfrm>
          <a:prstGeom prst="rect">
            <a:avLst/>
          </a:prstGeom>
        </p:spPr>
      </p:pic>
      <p:sp>
        <p:nvSpPr>
          <p:cNvPr id="25" name="TextBox 24"/>
          <p:cNvSpPr txBox="1"/>
          <p:nvPr/>
        </p:nvSpPr>
        <p:spPr>
          <a:xfrm>
            <a:off x="5265759"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6874733" y="5935726"/>
            <a:ext cx="128699" cy="187198"/>
          </a:xfrm>
          <a:prstGeom prst="rect">
            <a:avLst/>
          </a:prstGeom>
        </p:spPr>
      </p:pic>
      <p:sp>
        <p:nvSpPr>
          <p:cNvPr id="27" name="TextBox 26"/>
          <p:cNvSpPr txBox="1"/>
          <p:nvPr/>
        </p:nvSpPr>
        <p:spPr>
          <a:xfrm>
            <a:off x="7042228"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280123" y="5935726"/>
            <a:ext cx="128699" cy="187198"/>
          </a:xfrm>
          <a:prstGeom prst="rect">
            <a:avLst/>
          </a:prstGeom>
        </p:spPr>
      </p:pic>
      <p:sp>
        <p:nvSpPr>
          <p:cNvPr id="29" name="TextBox 28"/>
          <p:cNvSpPr txBox="1"/>
          <p:nvPr/>
        </p:nvSpPr>
        <p:spPr>
          <a:xfrm>
            <a:off x="7447619" y="594550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002023" y="5935726"/>
            <a:ext cx="128699" cy="187198"/>
          </a:xfrm>
          <a:prstGeom prst="rect">
            <a:avLst/>
          </a:prstGeom>
        </p:spPr>
      </p:pic>
      <p:sp>
        <p:nvSpPr>
          <p:cNvPr id="31" name="TextBox 30"/>
          <p:cNvSpPr txBox="1"/>
          <p:nvPr/>
        </p:nvSpPr>
        <p:spPr>
          <a:xfrm>
            <a:off x="10169519" y="5945505"/>
            <a:ext cx="1263922" cy="186689"/>
          </a:xfrm>
          <a:prstGeom prst="rect">
            <a:avLst/>
          </a:prstGeom>
          <a:noFill/>
        </p:spPr>
        <p:txBody>
          <a:bodyPr wrap="none" lIns="0" tIns="0" rIns="0" bIns="0">
            <a:spAutoFit/>
          </a:bodyPr>
          <a:lstStyle/>
          <a:p>
            <a:r>
              <a:rPr sz="1100" b="0">
                <a:solidFill>
                  <a:srgbClr val="2E2E2E"/>
                </a:solidFill>
                <a:latin typeface="Calibri"/>
              </a:rPr>
              <a:t>. Bubbles right of the</a:t>
            </a:r>
          </a:p>
        </p:txBody>
      </p:sp>
      <p:sp>
        <p:nvSpPr>
          <p:cNvPr id="32" name="TextBox 31"/>
          <p:cNvSpPr txBox="1"/>
          <p:nvPr/>
        </p:nvSpPr>
        <p:spPr>
          <a:xfrm>
            <a:off x="257175" y="6113145"/>
            <a:ext cx="3224344" cy="186689"/>
          </a:xfrm>
          <a:prstGeom prst="rect">
            <a:avLst/>
          </a:prstGeom>
          <a:noFill/>
        </p:spPr>
        <p:txBody>
          <a:bodyPr wrap="none" lIns="0" tIns="0" rIns="0" bIns="0">
            <a:spAutoFit/>
          </a:bodyPr>
          <a:lstStyle/>
          <a:p>
            <a:r>
              <a:rPr sz="1100" b="0">
                <a:solidFill>
                  <a:srgbClr val="2E2E2E"/>
                </a:solidFill>
                <a:latin typeface="Calibri"/>
              </a:rPr>
              <a:t>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Analysis, By Customization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Customization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Standard / Stock Sizes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Custom-Engineered</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xmlns:r="http://schemas.openxmlformats.org/officeDocument/2006/relationships" r:id="rId5"/>
          </a:graphicData>
        </a:graphic>
      </p:graphicFrame>
      <p:sp>
        <p:nvSpPr>
          <p:cNvPr id="17" name="TextBox 1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Volume Analysis, By Customization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Customization,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By Customization (MT)</a:t>
            </a:r>
          </a:p>
        </p:txBody>
      </p:sp>
      <p:graphicFrame>
        <p:nvGraphicFramePr>
          <p:cNvPr id="13" name="Table 12"/>
          <p:cNvGraphicFramePr>
            <a:graphicFrameLocks noGrp="1"/>
          </p:cNvGraphicFramePr>
          <p:nvPr/>
        </p:nvGraphicFramePr>
        <p:xfrm>
          <a:off x="152400" y="1238250"/>
          <a:ext cx="11887208" cy="1371600"/>
        </p:xfrm>
        <a:graphic>
          <a:graphicData uri="http://schemas.openxmlformats.org/drawingml/2006/table">
            <a:tbl>
              <a:tblPr>
                <a:tableStyleId>{5C22544A-7EE6-4342-B048-85BDC9FD1C3A}</a:tableStyleId>
              </a:tblPr>
              <a:tblGrid>
                <a:gridCol w="1239860">
                  <a:extLst>
                    <a:ext uri="{9D8B030D-6E8A-4147-A177-3AD203B41FA5}">
                      <a16:colId xmlns:a16="http://schemas.microsoft.com/office/drawing/2014/main" val="20000"/>
                    </a:ext>
                  </a:extLst>
                </a:gridCol>
                <a:gridCol w="641033">
                  <a:extLst>
                    <a:ext uri="{9D8B030D-6E8A-4147-A177-3AD203B41FA5}">
                      <a16:colId xmlns:a16="http://schemas.microsoft.com/office/drawing/2014/main" val="20001"/>
                    </a:ext>
                  </a:extLst>
                </a:gridCol>
                <a:gridCol w="641033">
                  <a:extLst>
                    <a:ext uri="{9D8B030D-6E8A-4147-A177-3AD203B41FA5}">
                      <a16:colId xmlns:a16="http://schemas.microsoft.com/office/drawing/2014/main" val="20002"/>
                    </a:ext>
                  </a:extLst>
                </a:gridCol>
                <a:gridCol w="641033">
                  <a:extLst>
                    <a:ext uri="{9D8B030D-6E8A-4147-A177-3AD203B41FA5}">
                      <a16:colId xmlns:a16="http://schemas.microsoft.com/office/drawing/2014/main" val="20003"/>
                    </a:ext>
                  </a:extLst>
                </a:gridCol>
                <a:gridCol w="641033">
                  <a:extLst>
                    <a:ext uri="{9D8B030D-6E8A-4147-A177-3AD203B41FA5}">
                      <a16:colId xmlns:a16="http://schemas.microsoft.com/office/drawing/2014/main" val="20004"/>
                    </a:ext>
                  </a:extLst>
                </a:gridCol>
                <a:gridCol w="641033">
                  <a:extLst>
                    <a:ext uri="{9D8B030D-6E8A-4147-A177-3AD203B41FA5}">
                      <a16:colId xmlns:a16="http://schemas.microsoft.com/office/drawing/2014/main" val="20005"/>
                    </a:ext>
                  </a:extLst>
                </a:gridCol>
                <a:gridCol w="641033">
                  <a:extLst>
                    <a:ext uri="{9D8B030D-6E8A-4147-A177-3AD203B41FA5}">
                      <a16:colId xmlns:a16="http://schemas.microsoft.com/office/drawing/2014/main" val="20006"/>
                    </a:ext>
                  </a:extLst>
                </a:gridCol>
                <a:gridCol w="641033">
                  <a:extLst>
                    <a:ext uri="{9D8B030D-6E8A-4147-A177-3AD203B41FA5}">
                      <a16:colId xmlns:a16="http://schemas.microsoft.com/office/drawing/2014/main" val="20007"/>
                    </a:ext>
                  </a:extLst>
                </a:gridCol>
                <a:gridCol w="641033">
                  <a:extLst>
                    <a:ext uri="{9D8B030D-6E8A-4147-A177-3AD203B41FA5}">
                      <a16:colId xmlns:a16="http://schemas.microsoft.com/office/drawing/2014/main" val="20008"/>
                    </a:ext>
                  </a:extLst>
                </a:gridCol>
                <a:gridCol w="641033">
                  <a:extLst>
                    <a:ext uri="{9D8B030D-6E8A-4147-A177-3AD203B41FA5}">
                      <a16:colId xmlns:a16="http://schemas.microsoft.com/office/drawing/2014/main" val="20009"/>
                    </a:ext>
                  </a:extLst>
                </a:gridCol>
                <a:gridCol w="641033">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390820">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Customization</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439420">
                <a:tc>
                  <a:txBody>
                    <a:bodyPr/>
                    <a:lstStyle/>
                    <a:p>
                      <a:pPr algn="l"/>
                      <a:r>
                        <a:rPr sz="1100" b="1">
                          <a:solidFill>
                            <a:srgbClr val="2E2E2E"/>
                          </a:solidFill>
                          <a:latin typeface="Calibri"/>
                        </a:rPr>
                        <a:t>Standard / Stock</a:t>
                      </a:r>
                      <a:endParaRPr sz="1100"/>
                    </a:p>
                    <a:p>
                      <a:pPr algn="l"/>
                      <a:r>
                        <a:rPr sz="1100" b="1">
                          <a:solidFill>
                            <a:srgbClr val="2E2E2E"/>
                          </a:solidFill>
                          <a:latin typeface="Calibri"/>
                        </a:rPr>
                        <a:t>Sizes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246634">
                <a:tc>
                  <a:txBody>
                    <a:bodyPr/>
                    <a:lstStyle/>
                    <a:p>
                      <a:pPr algn="l"/>
                      <a:r>
                        <a:rPr sz="1100" b="1">
                          <a:solidFill>
                            <a:srgbClr val="2E2E2E"/>
                          </a:solidFill>
                          <a:latin typeface="Calibri"/>
                        </a:rPr>
                        <a:t>Custom-Engineered</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246634">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619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952750"/>
            <a:ext cx="11906250" cy="3676650"/>
          </a:xfrm>
          <a:prstGeom prst="roundRect">
            <a:avLst>
              <a:gd name="adj" fmla="val 20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03847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Volume Analysis, By Customization</a:t>
            </a:r>
          </a:p>
        </p:txBody>
      </p:sp>
      <p:sp>
        <p:nvSpPr>
          <p:cNvPr id="17" name="Rectangle 16"/>
          <p:cNvSpPr/>
          <p:nvPr/>
        </p:nvSpPr>
        <p:spPr>
          <a:xfrm>
            <a:off x="276225" y="3276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362325"/>
            <a:ext cx="11639550" cy="3190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1876806"/>
            <a:ext cx="366712" cy="533400"/>
          </a:xfrm>
          <a:prstGeom prst="rect">
            <a:avLst/>
          </a:prstGeom>
        </p:spPr>
      </p:pic>
      <p:sp>
        <p:nvSpPr>
          <p:cNvPr id="21" name="TextBox 20"/>
          <p:cNvSpPr txBox="1"/>
          <p:nvPr/>
        </p:nvSpPr>
        <p:spPr>
          <a:xfrm>
            <a:off x="276225" y="3371850"/>
            <a:ext cx="3175198" cy="194310"/>
          </a:xfrm>
          <a:prstGeom prst="rect">
            <a:avLst/>
          </a:prstGeom>
          <a:noFill/>
        </p:spPr>
        <p:txBody>
          <a:bodyPr wrap="none" lIns="0" tIns="0" rIns="0" bIns="0">
            <a:spAutoFit/>
          </a:bodyPr>
          <a:lstStyle/>
          <a:p>
            <a:r>
              <a:rPr sz="1150" b="0">
                <a:solidFill>
                  <a:srgbClr val="2E2E2E"/>
                </a:solidFill>
                <a:latin typeface="Calibri"/>
              </a:rPr>
              <a:t>Custom-engineered segment is projected to register</a:t>
            </a:r>
          </a:p>
        </p:txBody>
      </p:sp>
      <p:pic>
        <p:nvPicPr>
          <p:cNvPr id="22" name="Picture 21" descr="lock.png"/>
          <p:cNvPicPr>
            <a:picLocks noChangeAspect="1"/>
          </p:cNvPicPr>
          <p:nvPr/>
        </p:nvPicPr>
        <p:blipFill>
          <a:blip r:embed="rId4"/>
          <a:stretch>
            <a:fillRect/>
          </a:stretch>
        </p:blipFill>
        <p:spPr>
          <a:xfrm>
            <a:off x="3400577" y="3361626"/>
            <a:ext cx="134549" cy="195707"/>
          </a:xfrm>
          <a:prstGeom prst="rect">
            <a:avLst/>
          </a:prstGeom>
        </p:spPr>
      </p:pic>
      <p:sp>
        <p:nvSpPr>
          <p:cNvPr id="23" name="TextBox 22"/>
          <p:cNvSpPr txBox="1"/>
          <p:nvPr/>
        </p:nvSpPr>
        <p:spPr>
          <a:xfrm>
            <a:off x="3575686" y="3371850"/>
            <a:ext cx="7790606" cy="194310"/>
          </a:xfrm>
          <a:prstGeom prst="rect">
            <a:avLst/>
          </a:prstGeom>
          <a:noFill/>
        </p:spPr>
        <p:txBody>
          <a:bodyPr wrap="none" lIns="0" tIns="0" rIns="0" bIns="0">
            <a:spAutoFit/>
          </a:bodyPr>
          <a:lstStyle/>
          <a:p>
            <a:r>
              <a:rPr sz="1150" b="0">
                <a:solidFill>
                  <a:srgbClr val="2E2E2E"/>
                </a:solidFill>
                <a:latin typeface="Calibri"/>
              </a:rPr>
              <a:t>X higher volume than standard / stock sizes segment in 2036. Among corrugated partition by customization, standard / stock sizes</a:t>
            </a:r>
          </a:p>
        </p:txBody>
      </p:sp>
      <p:sp>
        <p:nvSpPr>
          <p:cNvPr id="24" name="TextBox 23"/>
          <p:cNvSpPr txBox="1"/>
          <p:nvPr/>
        </p:nvSpPr>
        <p:spPr>
          <a:xfrm>
            <a:off x="276225" y="3547110"/>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536886"/>
            <a:ext cx="134549" cy="195707"/>
          </a:xfrm>
          <a:prstGeom prst="rect">
            <a:avLst/>
          </a:prstGeom>
        </p:spPr>
      </p:pic>
      <p:sp>
        <p:nvSpPr>
          <p:cNvPr id="26" name="TextBox 25"/>
          <p:cNvSpPr txBox="1"/>
          <p:nvPr/>
        </p:nvSpPr>
        <p:spPr>
          <a:xfrm>
            <a:off x="3557127" y="3547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774947"/>
            <a:ext cx="7186153" cy="194310"/>
          </a:xfrm>
          <a:prstGeom prst="rect">
            <a:avLst/>
          </a:prstGeom>
          <a:noFill/>
        </p:spPr>
        <p:txBody>
          <a:bodyPr wrap="none" lIns="0" tIns="0" rIns="0" bIns="0">
            <a:spAutoFit/>
          </a:bodyPr>
          <a:lstStyle/>
          <a:p>
            <a:r>
              <a:rPr sz="1150" b="0">
                <a:solidFill>
                  <a:srgbClr val="2E2E2E"/>
                </a:solidFill>
                <a:latin typeface="Calibri"/>
              </a:rPr>
              <a:t>In terms of volume share by customization, the custom-engineered segment is expected to dominate the market, losing</a:t>
            </a:r>
          </a:p>
        </p:txBody>
      </p:sp>
      <p:pic>
        <p:nvPicPr>
          <p:cNvPr id="28" name="Picture 27" descr="lock.png"/>
          <p:cNvPicPr>
            <a:picLocks noChangeAspect="1"/>
          </p:cNvPicPr>
          <p:nvPr/>
        </p:nvPicPr>
        <p:blipFill>
          <a:blip r:embed="rId4"/>
          <a:stretch>
            <a:fillRect/>
          </a:stretch>
        </p:blipFill>
        <p:spPr>
          <a:xfrm>
            <a:off x="7411532" y="3764724"/>
            <a:ext cx="134549" cy="195707"/>
          </a:xfrm>
          <a:prstGeom prst="rect">
            <a:avLst/>
          </a:prstGeom>
        </p:spPr>
      </p:pic>
      <p:sp>
        <p:nvSpPr>
          <p:cNvPr id="29" name="TextBox 28"/>
          <p:cNvSpPr txBox="1"/>
          <p:nvPr/>
        </p:nvSpPr>
        <p:spPr>
          <a:xfrm>
            <a:off x="7586641" y="3774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981785" y="3764724"/>
            <a:ext cx="134549" cy="195707"/>
          </a:xfrm>
          <a:prstGeom prst="rect">
            <a:avLst/>
          </a:prstGeom>
        </p:spPr>
      </p:pic>
      <p:sp>
        <p:nvSpPr>
          <p:cNvPr id="31" name="TextBox 30"/>
          <p:cNvSpPr txBox="1"/>
          <p:nvPr/>
        </p:nvSpPr>
        <p:spPr>
          <a:xfrm>
            <a:off x="9156894" y="3774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Analysis, By Customization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Customization,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By Customization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1564953">
                  <a:extLst>
                    <a:ext uri="{9D8B030D-6E8A-4147-A177-3AD203B41FA5}">
                      <a16:colId xmlns:a16="http://schemas.microsoft.com/office/drawing/2014/main" val="20000"/>
                    </a:ext>
                  </a:extLst>
                </a:gridCol>
                <a:gridCol w="607191">
                  <a:extLst>
                    <a:ext uri="{9D8B030D-6E8A-4147-A177-3AD203B41FA5}">
                      <a16:colId xmlns:a16="http://schemas.microsoft.com/office/drawing/2014/main" val="20001"/>
                    </a:ext>
                  </a:extLst>
                </a:gridCol>
                <a:gridCol w="607191">
                  <a:extLst>
                    <a:ext uri="{9D8B030D-6E8A-4147-A177-3AD203B41FA5}">
                      <a16:colId xmlns:a16="http://schemas.microsoft.com/office/drawing/2014/main" val="20002"/>
                    </a:ext>
                  </a:extLst>
                </a:gridCol>
                <a:gridCol w="607191">
                  <a:extLst>
                    <a:ext uri="{9D8B030D-6E8A-4147-A177-3AD203B41FA5}">
                      <a16:colId xmlns:a16="http://schemas.microsoft.com/office/drawing/2014/main" val="20003"/>
                    </a:ext>
                  </a:extLst>
                </a:gridCol>
                <a:gridCol w="607191">
                  <a:extLst>
                    <a:ext uri="{9D8B030D-6E8A-4147-A177-3AD203B41FA5}">
                      <a16:colId xmlns:a16="http://schemas.microsoft.com/office/drawing/2014/main" val="20004"/>
                    </a:ext>
                  </a:extLst>
                </a:gridCol>
                <a:gridCol w="607191">
                  <a:extLst>
                    <a:ext uri="{9D8B030D-6E8A-4147-A177-3AD203B41FA5}">
                      <a16:colId xmlns:a16="http://schemas.microsoft.com/office/drawing/2014/main" val="20005"/>
                    </a:ext>
                  </a:extLst>
                </a:gridCol>
                <a:gridCol w="607191">
                  <a:extLst>
                    <a:ext uri="{9D8B030D-6E8A-4147-A177-3AD203B41FA5}">
                      <a16:colId xmlns:a16="http://schemas.microsoft.com/office/drawing/2014/main" val="20006"/>
                    </a:ext>
                  </a:extLst>
                </a:gridCol>
                <a:gridCol w="607191">
                  <a:extLst>
                    <a:ext uri="{9D8B030D-6E8A-4147-A177-3AD203B41FA5}">
                      <a16:colId xmlns:a16="http://schemas.microsoft.com/office/drawing/2014/main" val="20007"/>
                    </a:ext>
                  </a:extLst>
                </a:gridCol>
                <a:gridCol w="607191">
                  <a:extLst>
                    <a:ext uri="{9D8B030D-6E8A-4147-A177-3AD203B41FA5}">
                      <a16:colId xmlns:a16="http://schemas.microsoft.com/office/drawing/2014/main" val="20008"/>
                    </a:ext>
                  </a:extLst>
                </a:gridCol>
                <a:gridCol w="607191">
                  <a:extLst>
                    <a:ext uri="{9D8B030D-6E8A-4147-A177-3AD203B41FA5}">
                      <a16:colId xmlns:a16="http://schemas.microsoft.com/office/drawing/2014/main" val="20009"/>
                    </a:ext>
                  </a:extLst>
                </a:gridCol>
                <a:gridCol w="607191">
                  <a:extLst>
                    <a:ext uri="{9D8B030D-6E8A-4147-A177-3AD203B41FA5}">
                      <a16:colId xmlns:a16="http://schemas.microsoft.com/office/drawing/2014/main" val="20010"/>
                    </a:ext>
                  </a:extLst>
                </a:gridCol>
                <a:gridCol w="607191">
                  <a:extLst>
                    <a:ext uri="{9D8B030D-6E8A-4147-A177-3AD203B41FA5}">
                      <a16:colId xmlns:a16="http://schemas.microsoft.com/office/drawing/2014/main" val="20011"/>
                    </a:ext>
                  </a:extLst>
                </a:gridCol>
                <a:gridCol w="607191">
                  <a:extLst>
                    <a:ext uri="{9D8B030D-6E8A-4147-A177-3AD203B41FA5}">
                      <a16:colId xmlns:a16="http://schemas.microsoft.com/office/drawing/2014/main" val="20012"/>
                    </a:ext>
                  </a:extLst>
                </a:gridCol>
                <a:gridCol w="607191">
                  <a:extLst>
                    <a:ext uri="{9D8B030D-6E8A-4147-A177-3AD203B41FA5}">
                      <a16:colId xmlns:a16="http://schemas.microsoft.com/office/drawing/2014/main" val="20013"/>
                    </a:ext>
                  </a:extLst>
                </a:gridCol>
                <a:gridCol w="607191">
                  <a:extLst>
                    <a:ext uri="{9D8B030D-6E8A-4147-A177-3AD203B41FA5}">
                      <a16:colId xmlns:a16="http://schemas.microsoft.com/office/drawing/2014/main" val="20014"/>
                    </a:ext>
                  </a:extLst>
                </a:gridCol>
                <a:gridCol w="607191">
                  <a:extLst>
                    <a:ext uri="{9D8B030D-6E8A-4147-A177-3AD203B41FA5}">
                      <a16:colId xmlns:a16="http://schemas.microsoft.com/office/drawing/2014/main" val="20015"/>
                    </a:ext>
                  </a:extLst>
                </a:gridCol>
                <a:gridCol w="607191">
                  <a:extLst>
                    <a:ext uri="{9D8B030D-6E8A-4147-A177-3AD203B41FA5}">
                      <a16:colId xmlns:a16="http://schemas.microsoft.com/office/drawing/2014/main" val="20016"/>
                    </a:ext>
                  </a:extLst>
                </a:gridCol>
                <a:gridCol w="607191">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65747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Value Analysis, By Customization</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2981325"/>
            <a:ext cx="11639550" cy="3571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91786" y="1589913"/>
            <a:ext cx="366712" cy="533400"/>
          </a:xfrm>
          <a:prstGeom prst="rect">
            <a:avLst/>
          </a:prstGeom>
        </p:spPr>
      </p:pic>
      <p:sp>
        <p:nvSpPr>
          <p:cNvPr id="21" name="TextBox 20"/>
          <p:cNvSpPr txBox="1"/>
          <p:nvPr/>
        </p:nvSpPr>
        <p:spPr>
          <a:xfrm>
            <a:off x="276225" y="2990850"/>
            <a:ext cx="3175198" cy="194310"/>
          </a:xfrm>
          <a:prstGeom prst="rect">
            <a:avLst/>
          </a:prstGeom>
          <a:noFill/>
        </p:spPr>
        <p:txBody>
          <a:bodyPr wrap="none" lIns="0" tIns="0" rIns="0" bIns="0">
            <a:spAutoFit/>
          </a:bodyPr>
          <a:lstStyle/>
          <a:p>
            <a:r>
              <a:rPr sz="1150" b="0">
                <a:solidFill>
                  <a:srgbClr val="2E2E2E"/>
                </a:solidFill>
                <a:latin typeface="Calibri"/>
              </a:rPr>
              <a:t>Custom-engineered segment is projected to register</a:t>
            </a:r>
          </a:p>
        </p:txBody>
      </p:sp>
      <p:pic>
        <p:nvPicPr>
          <p:cNvPr id="22" name="Picture 21" descr="lock.png"/>
          <p:cNvPicPr>
            <a:picLocks noChangeAspect="1"/>
          </p:cNvPicPr>
          <p:nvPr/>
        </p:nvPicPr>
        <p:blipFill>
          <a:blip r:embed="rId4"/>
          <a:stretch>
            <a:fillRect/>
          </a:stretch>
        </p:blipFill>
        <p:spPr>
          <a:xfrm>
            <a:off x="3400577" y="2980626"/>
            <a:ext cx="134549" cy="195707"/>
          </a:xfrm>
          <a:prstGeom prst="rect">
            <a:avLst/>
          </a:prstGeom>
        </p:spPr>
      </p:pic>
      <p:sp>
        <p:nvSpPr>
          <p:cNvPr id="23" name="TextBox 22"/>
          <p:cNvSpPr txBox="1"/>
          <p:nvPr/>
        </p:nvSpPr>
        <p:spPr>
          <a:xfrm>
            <a:off x="3575686" y="2990850"/>
            <a:ext cx="8213638" cy="194310"/>
          </a:xfrm>
          <a:prstGeom prst="rect">
            <a:avLst/>
          </a:prstGeom>
          <a:noFill/>
        </p:spPr>
        <p:txBody>
          <a:bodyPr wrap="none" lIns="0" tIns="0" rIns="0" bIns="0">
            <a:spAutoFit/>
          </a:bodyPr>
          <a:lstStyle/>
          <a:p>
            <a:r>
              <a:rPr sz="1150" b="0">
                <a:solidFill>
                  <a:srgbClr val="2E2E2E"/>
                </a:solidFill>
                <a:latin typeface="Calibri"/>
              </a:rPr>
              <a:t>X higher value than standard / stock sizes segment in 2036. Among corrugated partition by customization, standard / stock sizes segment</a:t>
            </a:r>
          </a:p>
        </p:txBody>
      </p:sp>
      <p:sp>
        <p:nvSpPr>
          <p:cNvPr id="24" name="TextBox 23"/>
          <p:cNvSpPr txBox="1"/>
          <p:nvPr/>
        </p:nvSpPr>
        <p:spPr>
          <a:xfrm>
            <a:off x="276225" y="3166110"/>
            <a:ext cx="2609807" cy="194310"/>
          </a:xfrm>
          <a:prstGeom prst="rect">
            <a:avLst/>
          </a:prstGeom>
          <a:noFill/>
        </p:spPr>
        <p:txBody>
          <a:bodyPr wrap="none" lIns="0" tIns="0" rIns="0" bIns="0">
            <a:spAutoFit/>
          </a:bodyPr>
          <a:lstStyle/>
          <a:p>
            <a:r>
              <a:rPr sz="1150" b="0">
                <a:solidFill>
                  <a:srgbClr val="2E2E2E"/>
                </a:solidFill>
                <a:latin typeface="Calibri"/>
              </a:rPr>
              <a:t>is expected to witness the highest CAGR of</a:t>
            </a:r>
          </a:p>
        </p:txBody>
      </p:sp>
      <p:pic>
        <p:nvPicPr>
          <p:cNvPr id="25" name="Picture 24" descr="lock.png"/>
          <p:cNvPicPr>
            <a:picLocks noChangeAspect="1"/>
          </p:cNvPicPr>
          <p:nvPr/>
        </p:nvPicPr>
        <p:blipFill>
          <a:blip r:embed="rId4"/>
          <a:stretch>
            <a:fillRect/>
          </a:stretch>
        </p:blipFill>
        <p:spPr>
          <a:xfrm>
            <a:off x="2835186" y="3155886"/>
            <a:ext cx="134549" cy="195707"/>
          </a:xfrm>
          <a:prstGeom prst="rect">
            <a:avLst/>
          </a:prstGeom>
        </p:spPr>
      </p:pic>
      <p:sp>
        <p:nvSpPr>
          <p:cNvPr id="26" name="TextBox 25"/>
          <p:cNvSpPr txBox="1"/>
          <p:nvPr/>
        </p:nvSpPr>
        <p:spPr>
          <a:xfrm>
            <a:off x="3010295" y="3166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062353" cy="194310"/>
          </a:xfrm>
          <a:prstGeom prst="rect">
            <a:avLst/>
          </a:prstGeom>
          <a:noFill/>
        </p:spPr>
        <p:txBody>
          <a:bodyPr wrap="none" lIns="0" tIns="0" rIns="0" bIns="0">
            <a:spAutoFit/>
          </a:bodyPr>
          <a:lstStyle/>
          <a:p>
            <a:r>
              <a:rPr sz="1150" b="0">
                <a:solidFill>
                  <a:srgbClr val="2E2E2E"/>
                </a:solidFill>
                <a:latin typeface="Calibri"/>
              </a:rPr>
              <a:t>In terms of value share by customization, the custom-engineered segment is expected to dominate the market, losing</a:t>
            </a:r>
          </a:p>
        </p:txBody>
      </p:sp>
      <p:pic>
        <p:nvPicPr>
          <p:cNvPr id="28" name="Picture 27" descr="lock.png"/>
          <p:cNvPicPr>
            <a:picLocks noChangeAspect="1"/>
          </p:cNvPicPr>
          <p:nvPr/>
        </p:nvPicPr>
        <p:blipFill>
          <a:blip r:embed="rId4"/>
          <a:stretch>
            <a:fillRect/>
          </a:stretch>
        </p:blipFill>
        <p:spPr>
          <a:xfrm>
            <a:off x="7287732" y="3383724"/>
            <a:ext cx="134549" cy="195707"/>
          </a:xfrm>
          <a:prstGeom prst="rect">
            <a:avLst/>
          </a:prstGeom>
        </p:spPr>
      </p:pic>
      <p:sp>
        <p:nvSpPr>
          <p:cNvPr id="29" name="TextBox 28"/>
          <p:cNvSpPr txBox="1"/>
          <p:nvPr/>
        </p:nvSpPr>
        <p:spPr>
          <a:xfrm>
            <a:off x="7462841" y="3393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857984" y="3383724"/>
            <a:ext cx="134549" cy="195707"/>
          </a:xfrm>
          <a:prstGeom prst="rect">
            <a:avLst/>
          </a:prstGeom>
        </p:spPr>
      </p:pic>
      <p:sp>
        <p:nvSpPr>
          <p:cNvPr id="31" name="TextBox 30"/>
          <p:cNvSpPr txBox="1"/>
          <p:nvPr/>
        </p:nvSpPr>
        <p:spPr>
          <a:xfrm>
            <a:off x="9033094" y="3393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&amp; Share Shift, By Customization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Customization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Composition, By Customization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263368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5090922" y="262891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2552718"/>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Standard / Stock Sizes</a:t>
            </a:r>
          </a:p>
        </p:txBody>
      </p:sp>
      <p:sp>
        <p:nvSpPr>
          <p:cNvPr id="19" name="BPS Value 1"/>
          <p:cNvSpPr txBox="1"/>
          <p:nvPr/>
        </p:nvSpPr>
        <p:spPr>
          <a:xfrm>
            <a:off x="6896100" y="2614630"/>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928997" y="491987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491510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4838908"/>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Custom-Engineered</a:t>
            </a:r>
          </a:p>
        </p:txBody>
      </p:sp>
      <p:sp>
        <p:nvSpPr>
          <p:cNvPr id="23" name="BPS Value 2"/>
          <p:cNvSpPr txBox="1"/>
          <p:nvPr/>
        </p:nvSpPr>
        <p:spPr>
          <a:xfrm>
            <a:off x="6896100" y="4900821"/>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Global Read-out, By Customization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8" name="TextBox 2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57650" cy="194310"/>
          </a:xfrm>
          <a:prstGeom prst="rect">
            <a:avLst/>
          </a:prstGeom>
          <a:noFill/>
        </p:spPr>
        <p:txBody>
          <a:bodyPr wrap="none" lIns="0" tIns="0" rIns="0" bIns="0">
            <a:spAutoFit/>
          </a:bodyPr>
          <a:lstStyle/>
          <a:p>
            <a:r>
              <a:rPr sz="1150" b="0">
                <a:solidFill>
                  <a:srgbClr val="2E2E2E"/>
                </a:solidFill>
                <a:latin typeface="Calibri"/>
              </a:rPr>
              <a:t>Among corrugated partition by customization, standard / stock sizes</a:t>
            </a:r>
          </a:p>
        </p:txBody>
      </p:sp>
      <p:sp>
        <p:nvSpPr>
          <p:cNvPr id="31" name="TextBox 30"/>
          <p:cNvSpPr txBox="1"/>
          <p:nvPr/>
        </p:nvSpPr>
        <p:spPr>
          <a:xfrm>
            <a:off x="7829550" y="15754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32" name="Picture 31" descr="lock.png"/>
          <p:cNvPicPr>
            <a:picLocks noChangeAspect="1"/>
          </p:cNvPicPr>
          <p:nvPr/>
        </p:nvPicPr>
        <p:blipFill>
          <a:blip r:embed="rId5"/>
          <a:stretch>
            <a:fillRect/>
          </a:stretch>
        </p:blipFill>
        <p:spPr>
          <a:xfrm>
            <a:off x="10935343" y="1565211"/>
            <a:ext cx="134549" cy="195707"/>
          </a:xfrm>
          <a:prstGeom prst="rect">
            <a:avLst/>
          </a:prstGeom>
        </p:spPr>
      </p:pic>
      <p:sp>
        <p:nvSpPr>
          <p:cNvPr id="33" name="TextBox 32"/>
          <p:cNvSpPr txBox="1"/>
          <p:nvPr/>
        </p:nvSpPr>
        <p:spPr>
          <a:xfrm>
            <a:off x="11110452" y="157543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34" name="TextBox 33"/>
          <p:cNvSpPr txBox="1"/>
          <p:nvPr/>
        </p:nvSpPr>
        <p:spPr>
          <a:xfrm>
            <a:off x="7829550" y="1750695"/>
            <a:ext cx="1017252" cy="194310"/>
          </a:xfrm>
          <a:prstGeom prst="rect">
            <a:avLst/>
          </a:prstGeom>
          <a:noFill/>
        </p:spPr>
        <p:txBody>
          <a:bodyPr wrap="none" lIns="0" tIns="0" rIns="0" bIns="0">
            <a:spAutoFit/>
          </a:bodyPr>
          <a:lstStyle/>
          <a:p>
            <a:r>
              <a:rPr sz="1150" b="0">
                <a:solidFill>
                  <a:srgbClr val="2E2E2E"/>
                </a:solidFill>
                <a:latin typeface="Calibri"/>
              </a:rPr>
              <a:t>forecast period.</a:t>
            </a:r>
          </a:p>
        </p:txBody>
      </p:sp>
      <p:sp>
        <p:nvSpPr>
          <p:cNvPr id="35" name="TextBox 34"/>
          <p:cNvSpPr txBox="1"/>
          <p:nvPr/>
        </p:nvSpPr>
        <p:spPr>
          <a:xfrm>
            <a:off x="7829550" y="1978533"/>
            <a:ext cx="3940819" cy="194310"/>
          </a:xfrm>
          <a:prstGeom prst="rect">
            <a:avLst/>
          </a:prstGeom>
          <a:noFill/>
        </p:spPr>
        <p:txBody>
          <a:bodyPr wrap="none" lIns="0" tIns="0" rIns="0" bIns="0">
            <a:spAutoFit/>
          </a:bodyPr>
          <a:lstStyle/>
          <a:p>
            <a:r>
              <a:rPr sz="1150" b="0">
                <a:solidFill>
                  <a:srgbClr val="2E2E2E"/>
                </a:solidFill>
                <a:latin typeface="Calibri"/>
              </a:rPr>
              <a:t>In terms of value share by customization, the custom-engineered</a:t>
            </a:r>
          </a:p>
        </p:txBody>
      </p:sp>
      <p:sp>
        <p:nvSpPr>
          <p:cNvPr id="36" name="TextBox 35"/>
          <p:cNvSpPr txBox="1"/>
          <p:nvPr/>
        </p:nvSpPr>
        <p:spPr>
          <a:xfrm>
            <a:off x="7829550" y="2153793"/>
            <a:ext cx="3164644" cy="194310"/>
          </a:xfrm>
          <a:prstGeom prst="rect">
            <a:avLst/>
          </a:prstGeom>
          <a:noFill/>
        </p:spPr>
        <p:txBody>
          <a:bodyPr wrap="none" lIns="0" tIns="0" rIns="0" bIns="0">
            <a:spAutoFit/>
          </a:bodyPr>
          <a:lstStyle/>
          <a:p>
            <a:r>
              <a:rPr sz="1150" b="0">
                <a:solidFill>
                  <a:srgbClr val="2E2E2E"/>
                </a:solidFill>
                <a:latin typeface="Calibri"/>
              </a:rPr>
              <a:t>segment is expected to dominate the market, losing</a:t>
            </a:r>
          </a:p>
        </p:txBody>
      </p:sp>
      <p:pic>
        <p:nvPicPr>
          <p:cNvPr id="37" name="Picture 36" descr="lock.png"/>
          <p:cNvPicPr>
            <a:picLocks noChangeAspect="1"/>
          </p:cNvPicPr>
          <p:nvPr/>
        </p:nvPicPr>
        <p:blipFill>
          <a:blip r:embed="rId5"/>
          <a:stretch>
            <a:fillRect/>
          </a:stretch>
        </p:blipFill>
        <p:spPr>
          <a:xfrm>
            <a:off x="10943347" y="2143569"/>
            <a:ext cx="134549" cy="195707"/>
          </a:xfrm>
          <a:prstGeom prst="rect">
            <a:avLst/>
          </a:prstGeom>
        </p:spPr>
      </p:pic>
      <p:sp>
        <p:nvSpPr>
          <p:cNvPr id="38" name="TextBox 37"/>
          <p:cNvSpPr txBox="1"/>
          <p:nvPr/>
        </p:nvSpPr>
        <p:spPr>
          <a:xfrm>
            <a:off x="11118457" y="2153793"/>
            <a:ext cx="554856" cy="194310"/>
          </a:xfrm>
          <a:prstGeom prst="rect">
            <a:avLst/>
          </a:prstGeom>
          <a:noFill/>
        </p:spPr>
        <p:txBody>
          <a:bodyPr wrap="none" lIns="0" tIns="0" rIns="0" bIns="0">
            <a:spAutoFit/>
          </a:bodyPr>
          <a:lstStyle/>
          <a:p>
            <a:r>
              <a:rPr sz="1150" b="0">
                <a:solidFill>
                  <a:srgbClr val="2E2E2E"/>
                </a:solidFill>
                <a:latin typeface="Calibri"/>
              </a:rPr>
              <a:t>BPS and</a:t>
            </a:r>
          </a:p>
        </p:txBody>
      </p:sp>
      <p:sp>
        <p:nvSpPr>
          <p:cNvPr id="39" name="TextBox 38"/>
          <p:cNvSpPr txBox="1"/>
          <p:nvPr/>
        </p:nvSpPr>
        <p:spPr>
          <a:xfrm>
            <a:off x="7829550" y="2329053"/>
            <a:ext cx="934243" cy="194310"/>
          </a:xfrm>
          <a:prstGeom prst="rect">
            <a:avLst/>
          </a:prstGeom>
          <a:noFill/>
        </p:spPr>
        <p:txBody>
          <a:bodyPr wrap="none" lIns="0" tIns="0" rIns="0" bIns="0">
            <a:spAutoFit/>
          </a:bodyPr>
          <a:lstStyle/>
          <a:p>
            <a:r>
              <a:rPr sz="1150" b="0">
                <a:solidFill>
                  <a:srgbClr val="2E2E2E"/>
                </a:solidFill>
                <a:latin typeface="Calibri"/>
              </a:rPr>
              <a:t>accounting for</a:t>
            </a:r>
          </a:p>
        </p:txBody>
      </p:sp>
      <p:pic>
        <p:nvPicPr>
          <p:cNvPr id="40" name="Picture 39" descr="lock.png"/>
          <p:cNvPicPr>
            <a:picLocks noChangeAspect="1"/>
          </p:cNvPicPr>
          <p:nvPr/>
        </p:nvPicPr>
        <p:blipFill>
          <a:blip r:embed="rId5"/>
          <a:stretch>
            <a:fillRect/>
          </a:stretch>
        </p:blipFill>
        <p:spPr>
          <a:xfrm>
            <a:off x="8712947" y="2318829"/>
            <a:ext cx="134549" cy="195707"/>
          </a:xfrm>
          <a:prstGeom prst="rect">
            <a:avLst/>
          </a:prstGeom>
        </p:spPr>
      </p:pic>
      <p:sp>
        <p:nvSpPr>
          <p:cNvPr id="41" name="TextBox 40"/>
          <p:cNvSpPr txBox="1"/>
          <p:nvPr/>
        </p:nvSpPr>
        <p:spPr>
          <a:xfrm>
            <a:off x="8888056" y="232905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Volume, By Customization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Customization,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Growth,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extLst>
                    <a:ext uri="{9D8B030D-6E8A-4147-A177-3AD203B41FA5}">
                      <a16:colId xmlns:a16="http://schemas.microsoft.com/office/drawing/2014/main" val="20000"/>
                    </a:ext>
                  </a:extLst>
                </a:gridCol>
                <a:gridCol w="678329">
                  <a:extLst>
                    <a:ext uri="{9D8B030D-6E8A-4147-A177-3AD203B41FA5}">
                      <a16:colId xmlns:a16="http://schemas.microsoft.com/office/drawing/2014/main" val="20001"/>
                    </a:ext>
                  </a:extLst>
                </a:gridCol>
                <a:gridCol w="678329">
                  <a:extLst>
                    <a:ext uri="{9D8B030D-6E8A-4147-A177-3AD203B41FA5}">
                      <a16:colId xmlns:a16="http://schemas.microsoft.com/office/drawing/2014/main" val="20002"/>
                    </a:ext>
                  </a:extLst>
                </a:gridCol>
                <a:gridCol w="678329">
                  <a:extLst>
                    <a:ext uri="{9D8B030D-6E8A-4147-A177-3AD203B41FA5}">
                      <a16:colId xmlns:a16="http://schemas.microsoft.com/office/drawing/2014/main" val="20003"/>
                    </a:ext>
                  </a:extLst>
                </a:gridCol>
                <a:gridCol w="678329">
                  <a:extLst>
                    <a:ext uri="{9D8B030D-6E8A-4147-A177-3AD203B41FA5}">
                      <a16:colId xmlns:a16="http://schemas.microsoft.com/office/drawing/2014/main" val="20004"/>
                    </a:ext>
                  </a:extLst>
                </a:gridCol>
                <a:gridCol w="678329">
                  <a:extLst>
                    <a:ext uri="{9D8B030D-6E8A-4147-A177-3AD203B41FA5}">
                      <a16:colId xmlns:a16="http://schemas.microsoft.com/office/drawing/2014/main" val="20005"/>
                    </a:ext>
                  </a:extLst>
                </a:gridCol>
                <a:gridCol w="678329">
                  <a:extLst>
                    <a:ext uri="{9D8B030D-6E8A-4147-A177-3AD203B41FA5}">
                      <a16:colId xmlns:a16="http://schemas.microsoft.com/office/drawing/2014/main" val="20006"/>
                    </a:ext>
                  </a:extLst>
                </a:gridCol>
                <a:gridCol w="678329">
                  <a:extLst>
                    <a:ext uri="{9D8B030D-6E8A-4147-A177-3AD203B41FA5}">
                      <a16:colId xmlns:a16="http://schemas.microsoft.com/office/drawing/2014/main" val="20007"/>
                    </a:ext>
                  </a:extLst>
                </a:gridCol>
                <a:gridCol w="678329">
                  <a:extLst>
                    <a:ext uri="{9D8B030D-6E8A-4147-A177-3AD203B41FA5}">
                      <a16:colId xmlns:a16="http://schemas.microsoft.com/office/drawing/2014/main" val="20008"/>
                    </a:ext>
                  </a:extLst>
                </a:gridCol>
                <a:gridCol w="678329">
                  <a:extLst>
                    <a:ext uri="{9D8B030D-6E8A-4147-A177-3AD203B41FA5}">
                      <a16:colId xmlns:a16="http://schemas.microsoft.com/office/drawing/2014/main" val="20009"/>
                    </a:ext>
                  </a:extLst>
                </a:gridCol>
                <a:gridCol w="678329">
                  <a:extLst>
                    <a:ext uri="{9D8B030D-6E8A-4147-A177-3AD203B41FA5}">
                      <a16:colId xmlns:a16="http://schemas.microsoft.com/office/drawing/2014/main" val="20010"/>
                    </a:ext>
                  </a:extLst>
                </a:gridCol>
                <a:gridCol w="678329">
                  <a:extLst>
                    <a:ext uri="{9D8B030D-6E8A-4147-A177-3AD203B41FA5}">
                      <a16:colId xmlns:a16="http://schemas.microsoft.com/office/drawing/2014/main" val="20011"/>
                    </a:ext>
                  </a:extLst>
                </a:gridCol>
                <a:gridCol w="678329">
                  <a:extLst>
                    <a:ext uri="{9D8B030D-6E8A-4147-A177-3AD203B41FA5}">
                      <a16:colId xmlns:a16="http://schemas.microsoft.com/office/drawing/2014/main" val="20012"/>
                    </a:ext>
                  </a:extLst>
                </a:gridCol>
                <a:gridCol w="678329">
                  <a:extLst>
                    <a:ext uri="{9D8B030D-6E8A-4147-A177-3AD203B41FA5}">
                      <a16:colId xmlns:a16="http://schemas.microsoft.com/office/drawing/2014/main" val="20013"/>
                    </a:ext>
                  </a:extLst>
                </a:gridCol>
                <a:gridCol w="678329">
                  <a:extLst>
                    <a:ext uri="{9D8B030D-6E8A-4147-A177-3AD203B41FA5}">
                      <a16:colId xmlns:a16="http://schemas.microsoft.com/office/drawing/2014/main" val="20014"/>
                    </a:ext>
                  </a:extLst>
                </a:gridCol>
                <a:gridCol w="67832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Heatmap, By Customization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Standard / Stock Sizes</a:t>
            </a:r>
          </a:p>
        </p:txBody>
      </p:sp>
      <p:sp>
        <p:nvSpPr>
          <p:cNvPr id="33" name="Rectangle 32"/>
          <p:cNvSpPr/>
          <p:nvPr/>
        </p:nvSpPr>
        <p:spPr>
          <a:xfrm>
            <a:off x="185737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Custom-Engineered</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784118" y="1482090"/>
            <a:ext cx="330041" cy="480060"/>
          </a:xfrm>
          <a:prstGeom prst="rect">
            <a:avLst/>
          </a:prstGeom>
        </p:spPr>
      </p:pic>
      <p:pic>
        <p:nvPicPr>
          <p:cNvPr id="110" name="Picture 109" descr="lock.png"/>
          <p:cNvPicPr>
            <a:picLocks noChangeAspect="1"/>
          </p:cNvPicPr>
          <p:nvPr/>
        </p:nvPicPr>
        <p:blipFill>
          <a:blip r:embed="rId4"/>
          <a:stretch>
            <a:fillRect/>
          </a:stretch>
        </p:blipFill>
        <p:spPr>
          <a:xfrm>
            <a:off x="11760938" y="2697226"/>
            <a:ext cx="128699" cy="187198"/>
          </a:xfrm>
          <a:prstGeom prst="rect">
            <a:avLst/>
          </a:prstGeom>
        </p:spPr>
      </p:pic>
      <p:pic>
        <p:nvPicPr>
          <p:cNvPr id="111" name="Picture 110" descr="lock.png"/>
          <p:cNvPicPr>
            <a:picLocks noChangeAspect="1"/>
          </p:cNvPicPr>
          <p:nvPr/>
        </p:nvPicPr>
        <p:blipFill>
          <a:blip r:embed="rId4"/>
          <a:stretch>
            <a:fillRect/>
          </a:stretch>
        </p:blipFill>
        <p:spPr>
          <a:xfrm>
            <a:off x="11760938" y="4568888"/>
            <a:ext cx="128699" cy="187198"/>
          </a:xfrm>
          <a:prstGeom prst="rect">
            <a:avLst/>
          </a:prstGeom>
        </p:spPr>
      </p:pic>
      <p:pic>
        <p:nvPicPr>
          <p:cNvPr id="112" name="Picture 11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Value, By Customization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Customization,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Growth,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extLst>
                    <a:ext uri="{9D8B030D-6E8A-4147-A177-3AD203B41FA5}">
                      <a16:colId xmlns:a16="http://schemas.microsoft.com/office/drawing/2014/main" val="20000"/>
                    </a:ext>
                  </a:extLst>
                </a:gridCol>
                <a:gridCol w="678329">
                  <a:extLst>
                    <a:ext uri="{9D8B030D-6E8A-4147-A177-3AD203B41FA5}">
                      <a16:colId xmlns:a16="http://schemas.microsoft.com/office/drawing/2014/main" val="20001"/>
                    </a:ext>
                  </a:extLst>
                </a:gridCol>
                <a:gridCol w="678329">
                  <a:extLst>
                    <a:ext uri="{9D8B030D-6E8A-4147-A177-3AD203B41FA5}">
                      <a16:colId xmlns:a16="http://schemas.microsoft.com/office/drawing/2014/main" val="20002"/>
                    </a:ext>
                  </a:extLst>
                </a:gridCol>
                <a:gridCol w="678329">
                  <a:extLst>
                    <a:ext uri="{9D8B030D-6E8A-4147-A177-3AD203B41FA5}">
                      <a16:colId xmlns:a16="http://schemas.microsoft.com/office/drawing/2014/main" val="20003"/>
                    </a:ext>
                  </a:extLst>
                </a:gridCol>
                <a:gridCol w="678329">
                  <a:extLst>
                    <a:ext uri="{9D8B030D-6E8A-4147-A177-3AD203B41FA5}">
                      <a16:colId xmlns:a16="http://schemas.microsoft.com/office/drawing/2014/main" val="20004"/>
                    </a:ext>
                  </a:extLst>
                </a:gridCol>
                <a:gridCol w="678329">
                  <a:extLst>
                    <a:ext uri="{9D8B030D-6E8A-4147-A177-3AD203B41FA5}">
                      <a16:colId xmlns:a16="http://schemas.microsoft.com/office/drawing/2014/main" val="20005"/>
                    </a:ext>
                  </a:extLst>
                </a:gridCol>
                <a:gridCol w="678329">
                  <a:extLst>
                    <a:ext uri="{9D8B030D-6E8A-4147-A177-3AD203B41FA5}">
                      <a16:colId xmlns:a16="http://schemas.microsoft.com/office/drawing/2014/main" val="20006"/>
                    </a:ext>
                  </a:extLst>
                </a:gridCol>
                <a:gridCol w="678329">
                  <a:extLst>
                    <a:ext uri="{9D8B030D-6E8A-4147-A177-3AD203B41FA5}">
                      <a16:colId xmlns:a16="http://schemas.microsoft.com/office/drawing/2014/main" val="20007"/>
                    </a:ext>
                  </a:extLst>
                </a:gridCol>
                <a:gridCol w="678329">
                  <a:extLst>
                    <a:ext uri="{9D8B030D-6E8A-4147-A177-3AD203B41FA5}">
                      <a16:colId xmlns:a16="http://schemas.microsoft.com/office/drawing/2014/main" val="20008"/>
                    </a:ext>
                  </a:extLst>
                </a:gridCol>
                <a:gridCol w="678329">
                  <a:extLst>
                    <a:ext uri="{9D8B030D-6E8A-4147-A177-3AD203B41FA5}">
                      <a16:colId xmlns:a16="http://schemas.microsoft.com/office/drawing/2014/main" val="20009"/>
                    </a:ext>
                  </a:extLst>
                </a:gridCol>
                <a:gridCol w="678329">
                  <a:extLst>
                    <a:ext uri="{9D8B030D-6E8A-4147-A177-3AD203B41FA5}">
                      <a16:colId xmlns:a16="http://schemas.microsoft.com/office/drawing/2014/main" val="20010"/>
                    </a:ext>
                  </a:extLst>
                </a:gridCol>
                <a:gridCol w="678329">
                  <a:extLst>
                    <a:ext uri="{9D8B030D-6E8A-4147-A177-3AD203B41FA5}">
                      <a16:colId xmlns:a16="http://schemas.microsoft.com/office/drawing/2014/main" val="20011"/>
                    </a:ext>
                  </a:extLst>
                </a:gridCol>
                <a:gridCol w="678329">
                  <a:extLst>
                    <a:ext uri="{9D8B030D-6E8A-4147-A177-3AD203B41FA5}">
                      <a16:colId xmlns:a16="http://schemas.microsoft.com/office/drawing/2014/main" val="20012"/>
                    </a:ext>
                  </a:extLst>
                </a:gridCol>
                <a:gridCol w="678329">
                  <a:extLst>
                    <a:ext uri="{9D8B030D-6E8A-4147-A177-3AD203B41FA5}">
                      <a16:colId xmlns:a16="http://schemas.microsoft.com/office/drawing/2014/main" val="20013"/>
                    </a:ext>
                  </a:extLst>
                </a:gridCol>
                <a:gridCol w="678329">
                  <a:extLst>
                    <a:ext uri="{9D8B030D-6E8A-4147-A177-3AD203B41FA5}">
                      <a16:colId xmlns:a16="http://schemas.microsoft.com/office/drawing/2014/main" val="20014"/>
                    </a:ext>
                  </a:extLst>
                </a:gridCol>
                <a:gridCol w="67832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Heatmap, By Customization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Standard / Stock Sizes</a:t>
            </a:r>
          </a:p>
        </p:txBody>
      </p:sp>
      <p:sp>
        <p:nvSpPr>
          <p:cNvPr id="33" name="Rectangle 32"/>
          <p:cNvSpPr/>
          <p:nvPr/>
        </p:nvSpPr>
        <p:spPr>
          <a:xfrm>
            <a:off x="1857375" y="2752725"/>
            <a:ext cx="643890" cy="1909762"/>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Custom-Engineered</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784118" y="1482090"/>
            <a:ext cx="330041" cy="480060"/>
          </a:xfrm>
          <a:prstGeom prst="rect">
            <a:avLst/>
          </a:prstGeom>
        </p:spPr>
      </p:pic>
      <p:pic>
        <p:nvPicPr>
          <p:cNvPr id="110" name="Picture 109" descr="lock.png"/>
          <p:cNvPicPr>
            <a:picLocks noChangeAspect="1"/>
          </p:cNvPicPr>
          <p:nvPr/>
        </p:nvPicPr>
        <p:blipFill>
          <a:blip r:embed="rId4"/>
          <a:stretch>
            <a:fillRect/>
          </a:stretch>
        </p:blipFill>
        <p:spPr>
          <a:xfrm>
            <a:off x="11760938" y="2697226"/>
            <a:ext cx="128699" cy="187198"/>
          </a:xfrm>
          <a:prstGeom prst="rect">
            <a:avLst/>
          </a:prstGeom>
        </p:spPr>
      </p:pic>
      <p:pic>
        <p:nvPicPr>
          <p:cNvPr id="111" name="Picture 110" descr="lock.png"/>
          <p:cNvPicPr>
            <a:picLocks noChangeAspect="1"/>
          </p:cNvPicPr>
          <p:nvPr/>
        </p:nvPicPr>
        <p:blipFill>
          <a:blip r:embed="rId4"/>
          <a:stretch>
            <a:fillRect/>
          </a:stretch>
        </p:blipFill>
        <p:spPr>
          <a:xfrm>
            <a:off x="11760938" y="4568888"/>
            <a:ext cx="128699" cy="187198"/>
          </a:xfrm>
          <a:prstGeom prst="rect">
            <a:avLst/>
          </a:prstGeom>
        </p:spPr>
      </p:pic>
      <p:pic>
        <p:nvPicPr>
          <p:cNvPr id="112" name="Picture 11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End Use</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End Use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End Use Segment Outlook (1/2)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7 sub-segments of End Use,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End Use segment categorizes the market by end use.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Others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4433888"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Glassware, Ceramics &amp; Home Goods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6962775"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Automotive &amp; Industrial Components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9491662"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Food &amp; Beverage</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 split shows how demand is distributed across end use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64" name="Picture 63" descr="656_4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888_0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1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639_9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016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7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486_1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717_8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0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471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916_3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9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40595" cy="186689"/>
          </a:xfrm>
          <a:prstGeom prst="rect">
            <a:avLst/>
          </a:prstGeom>
          <a:noFill/>
        </p:spPr>
        <p:txBody>
          <a:bodyPr wrap="none" lIns="0" tIns="0" rIns="0" bIns="0">
            <a:spAutoFit/>
          </a:bodyPr>
          <a:lstStyle/>
          <a:p>
            <a:r>
              <a:rPr sz="1100" b="0">
                <a:solidFill>
                  <a:srgbClr val="2E2E2E"/>
                </a:solidFill>
                <a:latin typeface="Calibri"/>
              </a:rPr>
              <a:t>▪ ¶ Among corrugated partition by end use,</a:t>
            </a:r>
          </a:p>
        </p:txBody>
      </p:sp>
      <p:sp>
        <p:nvSpPr>
          <p:cNvPr id="81" name="TextBox 80"/>
          <p:cNvSpPr txBox="1"/>
          <p:nvPr/>
        </p:nvSpPr>
        <p:spPr>
          <a:xfrm>
            <a:off x="485775" y="4397077"/>
            <a:ext cx="2718494" cy="186689"/>
          </a:xfrm>
          <a:prstGeom prst="rect">
            <a:avLst/>
          </a:prstGeom>
          <a:noFill/>
        </p:spPr>
        <p:txBody>
          <a:bodyPr wrap="none" lIns="0" tIns="0" rIns="0" bIns="0">
            <a:spAutoFit/>
          </a:bodyPr>
          <a:lstStyle/>
          <a:p>
            <a:r>
              <a:rPr sz="1100" b="0">
                <a:solidFill>
                  <a:srgbClr val="2E2E2E"/>
                </a:solidFill>
                <a:latin typeface="Calibri"/>
              </a:rPr>
              <a:t>electronics &amp; electrical segment is expected to</a:t>
            </a:r>
          </a:p>
        </p:txBody>
      </p:sp>
      <p:sp>
        <p:nvSpPr>
          <p:cNvPr id="82" name="TextBox 81"/>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83" name="Picture 82" descr="lock.png"/>
          <p:cNvPicPr>
            <a:picLocks noChangeAspect="1"/>
          </p:cNvPicPr>
          <p:nvPr/>
        </p:nvPicPr>
        <p:blipFill>
          <a:blip r:embed="rId16"/>
          <a:stretch>
            <a:fillRect/>
          </a:stretch>
        </p:blipFill>
        <p:spPr>
          <a:xfrm>
            <a:off x="2108919" y="4554938"/>
            <a:ext cx="128699" cy="187198"/>
          </a:xfrm>
          <a:prstGeom prst="rect">
            <a:avLst/>
          </a:prstGeom>
        </p:spPr>
      </p:pic>
      <p:sp>
        <p:nvSpPr>
          <p:cNvPr id="84" name="TextBox 83"/>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85" name="TextBox 84"/>
          <p:cNvSpPr txBox="1"/>
          <p:nvPr/>
        </p:nvSpPr>
        <p:spPr>
          <a:xfrm>
            <a:off x="485775" y="4732357"/>
            <a:ext cx="2717403" cy="186689"/>
          </a:xfrm>
          <a:prstGeom prst="rect">
            <a:avLst/>
          </a:prstGeom>
          <a:noFill/>
        </p:spPr>
        <p:txBody>
          <a:bodyPr wrap="none" lIns="0" tIns="0" rIns="0" bIns="0">
            <a:spAutoFit/>
          </a:bodyPr>
          <a:lstStyle/>
          <a:p>
            <a:r>
              <a:rPr sz="1100" b="0">
                <a:solidFill>
                  <a:srgbClr val="2E2E2E"/>
                </a:solidFill>
                <a:latin typeface="Calibri"/>
              </a:rPr>
              <a:t>period. In terms of value share by end use, the</a:t>
            </a:r>
          </a:p>
        </p:txBody>
      </p:sp>
      <p:sp>
        <p:nvSpPr>
          <p:cNvPr id="86" name="TextBox 85"/>
          <p:cNvSpPr txBox="1"/>
          <p:nvPr/>
        </p:nvSpPr>
        <p:spPr>
          <a:xfrm>
            <a:off x="485775" y="4899997"/>
            <a:ext cx="2704851" cy="186689"/>
          </a:xfrm>
          <a:prstGeom prst="rect">
            <a:avLst/>
          </a:prstGeom>
          <a:noFill/>
        </p:spPr>
        <p:txBody>
          <a:bodyPr wrap="none" lIns="0" tIns="0" rIns="0" bIns="0">
            <a:spAutoFit/>
          </a:bodyPr>
          <a:lstStyle/>
          <a:p>
            <a:r>
              <a:rPr sz="1100" b="0">
                <a:solidFill>
                  <a:srgbClr val="2E2E2E"/>
                </a:solidFill>
                <a:latin typeface="Calibri"/>
              </a:rPr>
              <a:t>glassware, ceramics &amp; home goods segment is</a:t>
            </a:r>
          </a:p>
        </p:txBody>
      </p:sp>
      <p:sp>
        <p:nvSpPr>
          <p:cNvPr id="87" name="TextBox 86"/>
          <p:cNvSpPr txBox="1"/>
          <p:nvPr/>
        </p:nvSpPr>
        <p:spPr>
          <a:xfrm>
            <a:off x="485775" y="5067637"/>
            <a:ext cx="2388889" cy="186689"/>
          </a:xfrm>
          <a:prstGeom prst="rect">
            <a:avLst/>
          </a:prstGeom>
          <a:noFill/>
        </p:spPr>
        <p:txBody>
          <a:bodyPr wrap="none" lIns="0" tIns="0" rIns="0" bIns="0">
            <a:spAutoFit/>
          </a:bodyPr>
          <a:lstStyle/>
          <a:p>
            <a:r>
              <a:rPr sz="1100" b="0">
                <a:solidFill>
                  <a:srgbClr val="2E2E2E"/>
                </a:solidFill>
                <a:latin typeface="Calibri"/>
              </a:rPr>
              <a:t>expected to dominate the market, losing</a:t>
            </a:r>
          </a:p>
        </p:txBody>
      </p:sp>
      <p:pic>
        <p:nvPicPr>
          <p:cNvPr id="88" name="Picture 87" descr="lock.png"/>
          <p:cNvPicPr>
            <a:picLocks noChangeAspect="1"/>
          </p:cNvPicPr>
          <p:nvPr/>
        </p:nvPicPr>
        <p:blipFill>
          <a:blip r:embed="rId16"/>
          <a:stretch>
            <a:fillRect/>
          </a:stretch>
        </p:blipFill>
        <p:spPr>
          <a:xfrm>
            <a:off x="2822716" y="5057858"/>
            <a:ext cx="128699" cy="187198"/>
          </a:xfrm>
          <a:prstGeom prst="rect">
            <a:avLst/>
          </a:prstGeom>
        </p:spPr>
      </p:pic>
      <p:sp>
        <p:nvSpPr>
          <p:cNvPr id="89" name="TextBox 88"/>
          <p:cNvSpPr txBox="1"/>
          <p:nvPr/>
        </p:nvSpPr>
        <p:spPr>
          <a:xfrm>
            <a:off x="2990212" y="5067637"/>
            <a:ext cx="288751" cy="186689"/>
          </a:xfrm>
          <a:prstGeom prst="rect">
            <a:avLst/>
          </a:prstGeom>
          <a:noFill/>
        </p:spPr>
        <p:txBody>
          <a:bodyPr wrap="none" lIns="0" tIns="0" r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tIns="0" r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93" name="TextBox 92"/>
          <p:cNvSpPr txBox="1"/>
          <p:nvPr/>
        </p:nvSpPr>
        <p:spPr>
          <a:xfrm>
            <a:off x="485775" y="5453209"/>
            <a:ext cx="2914650" cy="186689"/>
          </a:xfrm>
          <a:prstGeom prst="rect">
            <a:avLst/>
          </a:prstGeom>
          <a:noFill/>
        </p:spPr>
        <p:txBody>
          <a:bodyPr wrap="none" lIns="0" tIns="0" rIns="0" bIns="0">
            <a:spAutoFit/>
          </a:bodyPr>
          <a:lstStyle/>
          <a:p>
            <a:r>
              <a:rPr sz="1100" b="0">
                <a:solidFill>
                  <a:srgbClr val="2E2E2E"/>
                </a:solidFill>
                <a:latin typeface="Calibri"/>
              </a:rPr>
              <a:t>▪ ¶ Glassware, ceramics &amp; home goods segment is</a:t>
            </a:r>
          </a:p>
        </p:txBody>
      </p:sp>
      <p:sp>
        <p:nvSpPr>
          <p:cNvPr id="94" name="TextBox 93"/>
          <p:cNvSpPr txBox="1"/>
          <p:nvPr/>
        </p:nvSpPr>
        <p:spPr>
          <a:xfrm>
            <a:off x="485775" y="5620849"/>
            <a:ext cx="1244550" cy="186689"/>
          </a:xfrm>
          <a:prstGeom prst="rect">
            <a:avLst/>
          </a:prstGeom>
          <a:noFill/>
        </p:spPr>
        <p:txBody>
          <a:bodyPr wrap="none" lIns="0" tIns="0" rIns="0" bIns="0">
            <a:spAutoFit/>
          </a:bodyPr>
          <a:lstStyle/>
          <a:p>
            <a:r>
              <a:rPr sz="1100" b="0">
                <a:solidFill>
                  <a:srgbClr val="2E2E2E"/>
                </a:solidFill>
                <a:latin typeface="Calibri"/>
              </a:rPr>
              <a:t>projected to register</a:t>
            </a:r>
          </a:p>
        </p:txBody>
      </p:sp>
      <p:pic>
        <p:nvPicPr>
          <p:cNvPr id="95" name="Picture 94" descr="lock.png"/>
          <p:cNvPicPr>
            <a:picLocks noChangeAspect="1"/>
          </p:cNvPicPr>
          <p:nvPr/>
        </p:nvPicPr>
        <p:blipFill>
          <a:blip r:embed="rId16"/>
          <a:stretch>
            <a:fillRect/>
          </a:stretch>
        </p:blipFill>
        <p:spPr>
          <a:xfrm>
            <a:off x="1678376" y="5611070"/>
            <a:ext cx="128699" cy="187198"/>
          </a:xfrm>
          <a:prstGeom prst="rect">
            <a:avLst/>
          </a:prstGeom>
        </p:spPr>
      </p:pic>
      <p:sp>
        <p:nvSpPr>
          <p:cNvPr id="96" name="TextBox 95"/>
          <p:cNvSpPr txBox="1"/>
          <p:nvPr/>
        </p:nvSpPr>
        <p:spPr>
          <a:xfrm>
            <a:off x="1845872" y="5620849"/>
            <a:ext cx="1467470" cy="186689"/>
          </a:xfrm>
          <a:prstGeom prst="rect">
            <a:avLst/>
          </a:prstGeom>
          <a:noFill/>
        </p:spPr>
        <p:txBody>
          <a:bodyPr wrap="none" lIns="0" tIns="0" rIns="0" bIns="0">
            <a:spAutoFit/>
          </a:bodyPr>
          <a:lstStyle/>
          <a:p>
            <a:r>
              <a:rPr sz="1100" b="0">
                <a:solidFill>
                  <a:srgbClr val="2E2E2E"/>
                </a:solidFill>
                <a:latin typeface="Calibri"/>
              </a:rPr>
              <a:t>X higher value than food</a:t>
            </a:r>
          </a:p>
        </p:txBody>
      </p:sp>
      <p:sp>
        <p:nvSpPr>
          <p:cNvPr id="97" name="TextBox 96"/>
          <p:cNvSpPr txBox="1"/>
          <p:nvPr/>
        </p:nvSpPr>
        <p:spPr>
          <a:xfrm>
            <a:off x="485775" y="5788489"/>
            <a:ext cx="1740594" cy="186689"/>
          </a:xfrm>
          <a:prstGeom prst="rect">
            <a:avLst/>
          </a:prstGeom>
          <a:noFill/>
        </p:spPr>
        <p:txBody>
          <a:bodyPr wrap="none" lIns="0" tIns="0" rIns="0" bIns="0">
            <a:spAutoFit/>
          </a:bodyPr>
          <a:lstStyle/>
          <a:p>
            <a:r>
              <a:rPr sz="1100" b="0">
                <a:solidFill>
                  <a:srgbClr val="2E2E2E"/>
                </a:solidFill>
                <a:latin typeface="Calibri"/>
              </a:rPr>
              <a:t>&amp; beverage segment in 2036.</a:t>
            </a:r>
          </a:p>
        </p:txBody>
      </p:sp>
      <p:sp>
        <p:nvSpPr>
          <p:cNvPr id="98" name="TextBox 97"/>
          <p:cNvSpPr txBox="1"/>
          <p:nvPr/>
        </p:nvSpPr>
        <p:spPr>
          <a:xfrm>
            <a:off x="3838575" y="4229437"/>
            <a:ext cx="615354" cy="186689"/>
          </a:xfrm>
          <a:prstGeom prst="rect">
            <a:avLst/>
          </a:prstGeom>
          <a:noFill/>
        </p:spPr>
        <p:txBody>
          <a:bodyPr wrap="none" lIns="0" tIns="0" rIns="0" bIns="0">
            <a:spAutoFit/>
          </a:bodyPr>
          <a:lstStyle/>
          <a:p>
            <a:r>
              <a:rPr sz="1100" b="0">
                <a:solidFill>
                  <a:srgbClr val="2E2E2E"/>
                </a:solidFill>
                <a:latin typeface="Calibri"/>
              </a:rPr>
              <a:t>● Others:</a:t>
            </a:r>
          </a:p>
        </p:txBody>
      </p:sp>
      <p:pic>
        <p:nvPicPr>
          <p:cNvPr id="99" name="Picture 98" descr="lock.png"/>
          <p:cNvPicPr>
            <a:picLocks noChangeAspect="1"/>
          </p:cNvPicPr>
          <p:nvPr/>
        </p:nvPicPr>
        <p:blipFill>
          <a:blip r:embed="rId16"/>
          <a:stretch>
            <a:fillRect/>
          </a:stretch>
        </p:blipFill>
        <p:spPr>
          <a:xfrm>
            <a:off x="4401981" y="4219658"/>
            <a:ext cx="128699" cy="187198"/>
          </a:xfrm>
          <a:prstGeom prst="rect">
            <a:avLst/>
          </a:prstGeom>
        </p:spPr>
      </p:pic>
      <p:sp>
        <p:nvSpPr>
          <p:cNvPr id="100" name="TextBox 99"/>
          <p:cNvSpPr txBox="1"/>
          <p:nvPr/>
        </p:nvSpPr>
        <p:spPr>
          <a:xfrm>
            <a:off x="4569477"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5428927" y="4219658"/>
            <a:ext cx="128699" cy="187198"/>
          </a:xfrm>
          <a:prstGeom prst="rect">
            <a:avLst/>
          </a:prstGeom>
        </p:spPr>
      </p:pic>
      <p:sp>
        <p:nvSpPr>
          <p:cNvPr id="102" name="TextBox 101"/>
          <p:cNvSpPr txBox="1"/>
          <p:nvPr/>
        </p:nvSpPr>
        <p:spPr>
          <a:xfrm>
            <a:off x="5596423" y="4229437"/>
            <a:ext cx="1503469" cy="186689"/>
          </a:xfrm>
          <a:prstGeom prst="rect">
            <a:avLst/>
          </a:prstGeom>
          <a:noFill/>
        </p:spPr>
        <p:txBody>
          <a:bodyPr wrap="none" lIns="0" tIns="0" rIns="0" bIns="0">
            <a:spAutoFit/>
          </a:bodyPr>
          <a:lstStyle/>
          <a:p>
            <a:r>
              <a:rPr sz="1100" b="0">
                <a:solidFill>
                  <a:srgbClr val="2E2E2E"/>
                </a:solidFill>
                <a:latin typeface="Calibri"/>
              </a:rPr>
              <a:t>CAGR leads the segment.</a:t>
            </a:r>
          </a:p>
        </p:txBody>
      </p:sp>
      <p:sp>
        <p:nvSpPr>
          <p:cNvPr id="103" name="TextBox 102"/>
          <p:cNvSpPr txBox="1"/>
          <p:nvPr/>
        </p:nvSpPr>
        <p:spPr>
          <a:xfrm>
            <a:off x="3838575" y="4447369"/>
            <a:ext cx="2290390" cy="186689"/>
          </a:xfrm>
          <a:prstGeom prst="rect">
            <a:avLst/>
          </a:prstGeom>
          <a:noFill/>
        </p:spPr>
        <p:txBody>
          <a:bodyPr wrap="none" lIns="0" tIns="0" rIns="0" bIns="0">
            <a:spAutoFit/>
          </a:bodyPr>
          <a:lstStyle/>
          <a:p>
            <a:r>
              <a:rPr sz="1100" b="0">
                <a:solidFill>
                  <a:srgbClr val="2E2E2E"/>
                </a:solidFill>
                <a:latin typeface="Calibri"/>
              </a:rPr>
              <a:t>● Glassware, Ceramics &amp; Home Goods:</a:t>
            </a:r>
          </a:p>
        </p:txBody>
      </p:sp>
      <p:pic>
        <p:nvPicPr>
          <p:cNvPr id="104" name="Picture 103" descr="lock.png"/>
          <p:cNvPicPr>
            <a:picLocks noChangeAspect="1"/>
          </p:cNvPicPr>
          <p:nvPr/>
        </p:nvPicPr>
        <p:blipFill>
          <a:blip r:embed="rId16"/>
          <a:stretch>
            <a:fillRect/>
          </a:stretch>
        </p:blipFill>
        <p:spPr>
          <a:xfrm>
            <a:off x="6077017" y="4437590"/>
            <a:ext cx="128699" cy="187198"/>
          </a:xfrm>
          <a:prstGeom prst="rect">
            <a:avLst/>
          </a:prstGeom>
        </p:spPr>
      </p:pic>
      <p:sp>
        <p:nvSpPr>
          <p:cNvPr id="105" name="TextBox 104"/>
          <p:cNvSpPr txBox="1"/>
          <p:nvPr/>
        </p:nvSpPr>
        <p:spPr>
          <a:xfrm>
            <a:off x="6244512"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103963" y="4437590"/>
            <a:ext cx="128699" cy="187198"/>
          </a:xfrm>
          <a:prstGeom prst="rect">
            <a:avLst/>
          </a:prstGeom>
        </p:spPr>
      </p:pic>
      <p:sp>
        <p:nvSpPr>
          <p:cNvPr id="107" name="TextBox 106"/>
          <p:cNvSpPr txBox="1"/>
          <p:nvPr/>
        </p:nvSpPr>
        <p:spPr>
          <a:xfrm>
            <a:off x="7271458" y="4447369"/>
            <a:ext cx="395419" cy="186689"/>
          </a:xfrm>
          <a:prstGeom prst="rect">
            <a:avLst/>
          </a:prstGeom>
          <a:noFill/>
        </p:spPr>
        <p:txBody>
          <a:bodyPr wrap="none" lIns="0" tIns="0" rIns="0" bIns="0">
            <a:spAutoFit/>
          </a:bodyPr>
          <a:lstStyle/>
          <a:p>
            <a:r>
              <a:rPr sz="1100" b="0">
                <a:solidFill>
                  <a:srgbClr val="2E2E2E"/>
                </a:solidFill>
                <a:latin typeface="Calibri"/>
              </a:rPr>
              <a:t>CAGR</a:t>
            </a:r>
          </a:p>
        </p:txBody>
      </p:sp>
      <p:sp>
        <p:nvSpPr>
          <p:cNvPr id="108" name="TextBox 107"/>
          <p:cNvSpPr txBox="1"/>
          <p:nvPr/>
        </p:nvSpPr>
        <p:spPr>
          <a:xfrm>
            <a:off x="3838575" y="4615009"/>
            <a:ext cx="909488" cy="186689"/>
          </a:xfrm>
          <a:prstGeom prst="rect">
            <a:avLst/>
          </a:prstGeom>
          <a:noFill/>
        </p:spPr>
        <p:txBody>
          <a:bodyPr wrap="none" lIns="0" tIns="0" rIns="0" bIns="0">
            <a:spAutoFit/>
          </a:bodyPr>
          <a:lstStyle/>
          <a:p>
            <a:r>
              <a:rPr sz="1100" b="0">
                <a:solidFill>
                  <a:srgbClr val="2E2E2E"/>
                </a:solidFill>
                <a:latin typeface="Calibri"/>
              </a:rPr>
              <a:t>serves a niche.</a:t>
            </a:r>
          </a:p>
        </p:txBody>
      </p:sp>
      <p:sp>
        <p:nvSpPr>
          <p:cNvPr id="109" name="TextBox 108"/>
          <p:cNvSpPr txBox="1"/>
          <p:nvPr/>
        </p:nvSpPr>
        <p:spPr>
          <a:xfrm>
            <a:off x="3838575" y="4832941"/>
            <a:ext cx="2353146" cy="186689"/>
          </a:xfrm>
          <a:prstGeom prst="rect">
            <a:avLst/>
          </a:prstGeom>
          <a:noFill/>
        </p:spPr>
        <p:txBody>
          <a:bodyPr wrap="none" lIns="0" tIns="0" rIns="0" bIns="0">
            <a:spAutoFit/>
          </a:bodyPr>
          <a:lstStyle/>
          <a:p>
            <a:r>
              <a:rPr sz="1100" b="0">
                <a:solidFill>
                  <a:srgbClr val="2E2E2E"/>
                </a:solidFill>
                <a:latin typeface="Calibri"/>
              </a:rPr>
              <a:t>● Automotive &amp; Industrial Components:</a:t>
            </a:r>
          </a:p>
        </p:txBody>
      </p:sp>
      <p:pic>
        <p:nvPicPr>
          <p:cNvPr id="110" name="Picture 109" descr="lock.png"/>
          <p:cNvPicPr>
            <a:picLocks noChangeAspect="1"/>
          </p:cNvPicPr>
          <p:nvPr/>
        </p:nvPicPr>
        <p:blipFill>
          <a:blip r:embed="rId16"/>
          <a:stretch>
            <a:fillRect/>
          </a:stretch>
        </p:blipFill>
        <p:spPr>
          <a:xfrm>
            <a:off x="6139772" y="4823162"/>
            <a:ext cx="128699" cy="187198"/>
          </a:xfrm>
          <a:prstGeom prst="rect">
            <a:avLst/>
          </a:prstGeom>
        </p:spPr>
      </p:pic>
      <p:sp>
        <p:nvSpPr>
          <p:cNvPr id="111" name="TextBox 110"/>
          <p:cNvSpPr txBox="1"/>
          <p:nvPr/>
        </p:nvSpPr>
        <p:spPr>
          <a:xfrm>
            <a:off x="6307268" y="483294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7166718" y="4823162"/>
            <a:ext cx="128699" cy="187198"/>
          </a:xfrm>
          <a:prstGeom prst="rect">
            <a:avLst/>
          </a:prstGeom>
        </p:spPr>
      </p:pic>
      <p:sp>
        <p:nvSpPr>
          <p:cNvPr id="113" name="TextBox 112"/>
          <p:cNvSpPr txBox="1"/>
          <p:nvPr/>
        </p:nvSpPr>
        <p:spPr>
          <a:xfrm>
            <a:off x="7334214" y="4832941"/>
            <a:ext cx="395419" cy="186689"/>
          </a:xfrm>
          <a:prstGeom prst="rect">
            <a:avLst/>
          </a:prstGeom>
          <a:noFill/>
        </p:spPr>
        <p:txBody>
          <a:bodyPr wrap="none" lIns="0" tIns="0" rIns="0" bIns="0">
            <a:spAutoFit/>
          </a:bodyPr>
          <a:lstStyle/>
          <a:p>
            <a:r>
              <a:rPr sz="1100" b="0">
                <a:solidFill>
                  <a:srgbClr val="2E2E2E"/>
                </a:solidFill>
                <a:latin typeface="Calibri"/>
              </a:rPr>
              <a:t>CAGR</a:t>
            </a:r>
          </a:p>
        </p:txBody>
      </p:sp>
      <p:sp>
        <p:nvSpPr>
          <p:cNvPr id="114" name="TextBox 113"/>
          <p:cNvSpPr txBox="1"/>
          <p:nvPr/>
        </p:nvSpPr>
        <p:spPr>
          <a:xfrm>
            <a:off x="3838575" y="5000581"/>
            <a:ext cx="909488" cy="186689"/>
          </a:xfrm>
          <a:prstGeom prst="rect">
            <a:avLst/>
          </a:prstGeom>
          <a:noFill/>
        </p:spPr>
        <p:txBody>
          <a:bodyPr wrap="none" lIns="0" tIns="0" rIns="0" bIns="0">
            <a:spAutoFit/>
          </a:bodyPr>
          <a:lstStyle/>
          <a:p>
            <a:r>
              <a:rPr sz="1100" b="0">
                <a:solidFill>
                  <a:srgbClr val="2E2E2E"/>
                </a:solidFill>
                <a:latin typeface="Calibri"/>
              </a:rPr>
              <a:t>serves a niche.</a:t>
            </a:r>
          </a:p>
        </p:txBody>
      </p:sp>
      <p:sp>
        <p:nvSpPr>
          <p:cNvPr id="115" name="TextBox 114"/>
          <p:cNvSpPr txBox="1"/>
          <p:nvPr/>
        </p:nvSpPr>
        <p:spPr>
          <a:xfrm>
            <a:off x="3838575" y="5218513"/>
            <a:ext cx="1202228" cy="186689"/>
          </a:xfrm>
          <a:prstGeom prst="rect">
            <a:avLst/>
          </a:prstGeom>
          <a:noFill/>
        </p:spPr>
        <p:txBody>
          <a:bodyPr wrap="none" lIns="0" tIns="0" rIns="0" bIns="0">
            <a:spAutoFit/>
          </a:bodyPr>
          <a:lstStyle/>
          <a:p>
            <a:r>
              <a:rPr sz="1100" b="0">
                <a:solidFill>
                  <a:srgbClr val="2E2E2E"/>
                </a:solidFill>
                <a:latin typeface="Calibri"/>
              </a:rPr>
              <a:t>● Food &amp; Beverage:</a:t>
            </a:r>
          </a:p>
        </p:txBody>
      </p:sp>
      <p:pic>
        <p:nvPicPr>
          <p:cNvPr id="116" name="Picture 115" descr="lock.png"/>
          <p:cNvPicPr>
            <a:picLocks noChangeAspect="1"/>
          </p:cNvPicPr>
          <p:nvPr/>
        </p:nvPicPr>
        <p:blipFill>
          <a:blip r:embed="rId16"/>
          <a:stretch>
            <a:fillRect/>
          </a:stretch>
        </p:blipFill>
        <p:spPr>
          <a:xfrm>
            <a:off x="4988855" y="5208733"/>
            <a:ext cx="128699" cy="187198"/>
          </a:xfrm>
          <a:prstGeom prst="rect">
            <a:avLst/>
          </a:prstGeom>
        </p:spPr>
      </p:pic>
      <p:sp>
        <p:nvSpPr>
          <p:cNvPr id="117" name="TextBox 116"/>
          <p:cNvSpPr txBox="1"/>
          <p:nvPr/>
        </p:nvSpPr>
        <p:spPr>
          <a:xfrm>
            <a:off x="5156350" y="5218513"/>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6"/>
          <a:stretch>
            <a:fillRect/>
          </a:stretch>
        </p:blipFill>
        <p:spPr>
          <a:xfrm>
            <a:off x="6015801" y="5208733"/>
            <a:ext cx="128699" cy="187198"/>
          </a:xfrm>
          <a:prstGeom prst="rect">
            <a:avLst/>
          </a:prstGeom>
        </p:spPr>
      </p:pic>
      <p:sp>
        <p:nvSpPr>
          <p:cNvPr id="119" name="TextBox 118"/>
          <p:cNvSpPr txBox="1"/>
          <p:nvPr/>
        </p:nvSpPr>
        <p:spPr>
          <a:xfrm>
            <a:off x="6183297" y="5218513"/>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120" name="TextBox 119"/>
          <p:cNvSpPr txBox="1"/>
          <p:nvPr/>
        </p:nvSpPr>
        <p:spPr>
          <a:xfrm>
            <a:off x="8524875" y="5842641"/>
            <a:ext cx="2887377" cy="194310"/>
          </a:xfrm>
          <a:prstGeom prst="rect">
            <a:avLst/>
          </a:prstGeom>
          <a:noFill/>
        </p:spPr>
        <p:txBody>
          <a:bodyPr wrap="none" lIns="0" tIns="0" rIns="0" bIns="0">
            <a:spAutoFit/>
          </a:bodyPr>
          <a:lstStyle/>
          <a:p>
            <a:r>
              <a:rPr sz="1150" b="1">
                <a:solidFill>
                  <a:srgbClr val="0B2E4A"/>
                </a:solidFill>
                <a:latin typeface="Calibri"/>
              </a:rPr>
              <a:t>The End Use segment is projected to grow at a</a:t>
            </a:r>
          </a:p>
        </p:txBody>
      </p:sp>
      <p:sp>
        <p:nvSpPr>
          <p:cNvPr id="121" name="TextBox 120"/>
          <p:cNvSpPr txBox="1"/>
          <p:nvPr/>
        </p:nvSpPr>
        <p:spPr>
          <a:xfrm>
            <a:off x="8524875" y="6017901"/>
            <a:ext cx="574797" cy="194310"/>
          </a:xfrm>
          <a:prstGeom prst="rect">
            <a:avLst/>
          </a:prstGeom>
          <a:noFill/>
        </p:spPr>
        <p:txBody>
          <a:bodyPr wrap="none" lIns="0" tIns="0" rIns="0" bIns="0">
            <a:spAutoFit/>
          </a:bodyPr>
          <a:lstStyle/>
          <a:p>
            <a:r>
              <a:rPr sz="1150" b="1">
                <a:solidFill>
                  <a:srgbClr val="0B2E4A"/>
                </a:solidFill>
                <a:latin typeface="Calibri"/>
              </a:rPr>
              <a:t>CAGR of</a:t>
            </a:r>
          </a:p>
        </p:txBody>
      </p:sp>
      <p:pic>
        <p:nvPicPr>
          <p:cNvPr id="122" name="Picture 121" descr="lock.png"/>
          <p:cNvPicPr>
            <a:picLocks noChangeAspect="1"/>
          </p:cNvPicPr>
          <p:nvPr/>
        </p:nvPicPr>
        <p:blipFill>
          <a:blip r:embed="rId16"/>
          <a:stretch>
            <a:fillRect/>
          </a:stretch>
        </p:blipFill>
        <p:spPr>
          <a:xfrm>
            <a:off x="9048826" y="6007677"/>
            <a:ext cx="134549" cy="195707"/>
          </a:xfrm>
          <a:prstGeom prst="rect">
            <a:avLst/>
          </a:prstGeom>
        </p:spPr>
      </p:pic>
      <p:sp>
        <p:nvSpPr>
          <p:cNvPr id="123" name="TextBox 122"/>
          <p:cNvSpPr txBox="1"/>
          <p:nvPr/>
        </p:nvSpPr>
        <p:spPr>
          <a:xfrm>
            <a:off x="9223935"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End Use Segment Outlook (2/2)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7 sub-segments of End Use, 2026–2036</a:t>
            </a:r>
          </a:p>
        </p:txBody>
      </p:sp>
      <p:sp>
        <p:nvSpPr>
          <p:cNvPr id="10" name="TextBox 9"/>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End Use segment categorizes the market by end use.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19050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Pharmaceuticals &amp; Healthcare</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527685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Electronics &amp; Electrical</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86487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Personal Care &amp; Cosmetics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457200" y="3946106"/>
            <a:ext cx="1127760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457200" y="4219912"/>
            <a:ext cx="112776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46" name="Picture 45" descr="463_5_605E5C.png"/>
          <p:cNvPicPr>
            <a:picLocks noChangeAspect="1"/>
          </p:cNvPicPr>
          <p:nvPr/>
        </p:nvPicPr>
        <p:blipFill>
          <a:blip r:embed="rId4"/>
          <a:stretch>
            <a:fillRect/>
          </a:stretch>
        </p:blipFill>
        <p:spPr>
          <a:xfrm>
            <a:off x="2897811" y="2286582"/>
            <a:ext cx="1195728" cy="361950"/>
          </a:xfrm>
          <a:prstGeom prst="rect">
            <a:avLst/>
          </a:prstGeom>
        </p:spPr>
      </p:pic>
      <p:pic>
        <p:nvPicPr>
          <p:cNvPr id="47" name="Picture 46" descr="578_9_605E5C.png"/>
          <p:cNvPicPr>
            <a:picLocks noChangeAspect="1"/>
          </p:cNvPicPr>
          <p:nvPr/>
        </p:nvPicPr>
        <p:blipFill>
          <a:blip r:embed="rId5"/>
          <a:stretch>
            <a:fillRect/>
          </a:stretch>
        </p:blipFill>
        <p:spPr>
          <a:xfrm>
            <a:off x="2897811" y="2779432"/>
            <a:ext cx="1195728" cy="361950"/>
          </a:xfrm>
          <a:prstGeom prst="rect">
            <a:avLst/>
          </a:prstGeom>
        </p:spPr>
      </p:pic>
      <p:pic>
        <p:nvPicPr>
          <p:cNvPr id="48" name="Picture 47" descr="2_2__605E5C.png"/>
          <p:cNvPicPr>
            <a:picLocks noChangeAspect="1"/>
          </p:cNvPicPr>
          <p:nvPr/>
        </p:nvPicPr>
        <p:blipFill>
          <a:blip r:embed="rId6"/>
          <a:stretch>
            <a:fillRect/>
          </a:stretch>
        </p:blipFill>
        <p:spPr>
          <a:xfrm>
            <a:off x="3004457" y="3272281"/>
            <a:ext cx="982436" cy="361950"/>
          </a:xfrm>
          <a:prstGeom prst="rect">
            <a:avLst/>
          </a:prstGeom>
        </p:spPr>
      </p:pic>
      <p:pic>
        <p:nvPicPr>
          <p:cNvPr id="49" name="Picture 48" descr="376_2_605E5C.png"/>
          <p:cNvPicPr>
            <a:picLocks noChangeAspect="1"/>
          </p:cNvPicPr>
          <p:nvPr/>
        </p:nvPicPr>
        <p:blipFill>
          <a:blip r:embed="rId7"/>
          <a:stretch>
            <a:fillRect/>
          </a:stretch>
        </p:blipFill>
        <p:spPr>
          <a:xfrm>
            <a:off x="6269661" y="2286582"/>
            <a:ext cx="1195728" cy="361950"/>
          </a:xfrm>
          <a:prstGeom prst="rect">
            <a:avLst/>
          </a:prstGeom>
        </p:spPr>
      </p:pic>
      <p:pic>
        <p:nvPicPr>
          <p:cNvPr id="50" name="Picture 49" descr="838_7_605E5C.png"/>
          <p:cNvPicPr>
            <a:picLocks noChangeAspect="1"/>
          </p:cNvPicPr>
          <p:nvPr/>
        </p:nvPicPr>
        <p:blipFill>
          <a:blip r:embed="rId8"/>
          <a:stretch>
            <a:fillRect/>
          </a:stretch>
        </p:blipFill>
        <p:spPr>
          <a:xfrm>
            <a:off x="6269661" y="2779432"/>
            <a:ext cx="1195728" cy="361950"/>
          </a:xfrm>
          <a:prstGeom prst="rect">
            <a:avLst/>
          </a:prstGeom>
        </p:spPr>
      </p:pic>
      <p:pic>
        <p:nvPicPr>
          <p:cNvPr id="51" name="Picture 50" descr="8_3__605E5C.png"/>
          <p:cNvPicPr>
            <a:picLocks noChangeAspect="1"/>
          </p:cNvPicPr>
          <p:nvPr/>
        </p:nvPicPr>
        <p:blipFill>
          <a:blip r:embed="rId9"/>
          <a:stretch>
            <a:fillRect/>
          </a:stretch>
        </p:blipFill>
        <p:spPr>
          <a:xfrm>
            <a:off x="6376307" y="3272281"/>
            <a:ext cx="982436" cy="361950"/>
          </a:xfrm>
          <a:prstGeom prst="rect">
            <a:avLst/>
          </a:prstGeom>
        </p:spPr>
      </p:pic>
      <p:pic>
        <p:nvPicPr>
          <p:cNvPr id="52" name="Picture 51" descr="106_6_605E5C.png"/>
          <p:cNvPicPr>
            <a:picLocks noChangeAspect="1"/>
          </p:cNvPicPr>
          <p:nvPr/>
        </p:nvPicPr>
        <p:blipFill>
          <a:blip r:embed="rId10"/>
          <a:stretch>
            <a:fillRect/>
          </a:stretch>
        </p:blipFill>
        <p:spPr>
          <a:xfrm>
            <a:off x="9641511" y="2286582"/>
            <a:ext cx="1195728" cy="361950"/>
          </a:xfrm>
          <a:prstGeom prst="rect">
            <a:avLst/>
          </a:prstGeom>
        </p:spPr>
      </p:pic>
      <p:pic>
        <p:nvPicPr>
          <p:cNvPr id="53" name="Picture 52" descr="232_4_605E5C.png"/>
          <p:cNvPicPr>
            <a:picLocks noChangeAspect="1"/>
          </p:cNvPicPr>
          <p:nvPr/>
        </p:nvPicPr>
        <p:blipFill>
          <a:blip r:embed="rId11"/>
          <a:stretch>
            <a:fillRect/>
          </a:stretch>
        </p:blipFill>
        <p:spPr>
          <a:xfrm>
            <a:off x="9641511" y="2779432"/>
            <a:ext cx="1195728" cy="361950"/>
          </a:xfrm>
          <a:prstGeom prst="rect">
            <a:avLst/>
          </a:prstGeom>
        </p:spPr>
      </p:pic>
      <p:pic>
        <p:nvPicPr>
          <p:cNvPr id="54" name="Picture 53" descr="8_1__605E5C.png"/>
          <p:cNvPicPr>
            <a:picLocks noChangeAspect="1"/>
          </p:cNvPicPr>
          <p:nvPr/>
        </p:nvPicPr>
        <p:blipFill>
          <a:blip r:embed="rId12"/>
          <a:stretch>
            <a:fillRect/>
          </a:stretch>
        </p:blipFill>
        <p:spPr>
          <a:xfrm>
            <a:off x="9748157" y="3272281"/>
            <a:ext cx="982436" cy="361950"/>
          </a:xfrm>
          <a:prstGeom prst="rect">
            <a:avLst/>
          </a:prstGeom>
        </p:spPr>
      </p:pic>
      <p:pic>
        <p:nvPicPr>
          <p:cNvPr id="55" name="Picture 54" descr="lock.png"/>
          <p:cNvPicPr>
            <a:picLocks noChangeAspect="1"/>
          </p:cNvPicPr>
          <p:nvPr/>
        </p:nvPicPr>
        <p:blipFill>
          <a:blip r:embed="rId13"/>
          <a:stretch>
            <a:fillRect/>
          </a:stretch>
        </p:blipFill>
        <p:spPr>
          <a:xfrm>
            <a:off x="3402330" y="2827057"/>
            <a:ext cx="183356" cy="266700"/>
          </a:xfrm>
          <a:prstGeom prst="rect">
            <a:avLst/>
          </a:prstGeom>
        </p:spPr>
      </p:pic>
      <p:pic>
        <p:nvPicPr>
          <p:cNvPr id="56" name="Picture 55" descr="lock.png"/>
          <p:cNvPicPr>
            <a:picLocks noChangeAspect="1"/>
          </p:cNvPicPr>
          <p:nvPr/>
        </p:nvPicPr>
        <p:blipFill>
          <a:blip r:embed="rId13"/>
          <a:stretch>
            <a:fillRect/>
          </a:stretch>
        </p:blipFill>
        <p:spPr>
          <a:xfrm>
            <a:off x="6774180" y="2827057"/>
            <a:ext cx="183356" cy="266700"/>
          </a:xfrm>
          <a:prstGeom prst="rect">
            <a:avLst/>
          </a:prstGeom>
        </p:spPr>
      </p:pic>
      <p:pic>
        <p:nvPicPr>
          <p:cNvPr id="57" name="Picture 56" descr="lock.png"/>
          <p:cNvPicPr>
            <a:picLocks noChangeAspect="1"/>
          </p:cNvPicPr>
          <p:nvPr/>
        </p:nvPicPr>
        <p:blipFill>
          <a:blip r:embed="rId13"/>
          <a:stretch>
            <a:fillRect/>
          </a:stretch>
        </p:blipFill>
        <p:spPr>
          <a:xfrm>
            <a:off x="10146030" y="2827057"/>
            <a:ext cx="183356" cy="266700"/>
          </a:xfrm>
          <a:prstGeom prst="rect">
            <a:avLst/>
          </a:prstGeom>
        </p:spPr>
      </p:pic>
      <p:sp>
        <p:nvSpPr>
          <p:cNvPr id="58" name="TextBox 57"/>
          <p:cNvSpPr txBox="1"/>
          <p:nvPr/>
        </p:nvSpPr>
        <p:spPr>
          <a:xfrm>
            <a:off x="485775" y="4229437"/>
            <a:ext cx="1942504" cy="186689"/>
          </a:xfrm>
          <a:prstGeom prst="rect">
            <a:avLst/>
          </a:prstGeom>
          <a:noFill/>
        </p:spPr>
        <p:txBody>
          <a:bodyPr wrap="none" lIns="0" tIns="0" rIns="0" bIns="0">
            <a:spAutoFit/>
          </a:bodyPr>
          <a:lstStyle/>
          <a:p>
            <a:r>
              <a:rPr sz="1100" b="0">
                <a:solidFill>
                  <a:srgbClr val="2E2E2E"/>
                </a:solidFill>
                <a:latin typeface="Calibri"/>
              </a:rPr>
              <a:t>● Pharmaceuticals &amp; Healthcare:</a:t>
            </a:r>
          </a:p>
        </p:txBody>
      </p:sp>
      <p:pic>
        <p:nvPicPr>
          <p:cNvPr id="59" name="Picture 58" descr="lock.png"/>
          <p:cNvPicPr>
            <a:picLocks noChangeAspect="1"/>
          </p:cNvPicPr>
          <p:nvPr/>
        </p:nvPicPr>
        <p:blipFill>
          <a:blip r:embed="rId13"/>
          <a:stretch>
            <a:fillRect/>
          </a:stretch>
        </p:blipFill>
        <p:spPr>
          <a:xfrm>
            <a:off x="2376331" y="4219658"/>
            <a:ext cx="128699" cy="187198"/>
          </a:xfrm>
          <a:prstGeom prst="rect">
            <a:avLst/>
          </a:prstGeom>
        </p:spPr>
      </p:pic>
      <p:sp>
        <p:nvSpPr>
          <p:cNvPr id="60" name="TextBox 59"/>
          <p:cNvSpPr txBox="1"/>
          <p:nvPr/>
        </p:nvSpPr>
        <p:spPr>
          <a:xfrm>
            <a:off x="2543827"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61" name="Picture 60" descr="lock.png"/>
          <p:cNvPicPr>
            <a:picLocks noChangeAspect="1"/>
          </p:cNvPicPr>
          <p:nvPr/>
        </p:nvPicPr>
        <p:blipFill>
          <a:blip r:embed="rId13"/>
          <a:stretch>
            <a:fillRect/>
          </a:stretch>
        </p:blipFill>
        <p:spPr>
          <a:xfrm>
            <a:off x="3403277" y="4219658"/>
            <a:ext cx="128699" cy="187198"/>
          </a:xfrm>
          <a:prstGeom prst="rect">
            <a:avLst/>
          </a:prstGeom>
        </p:spPr>
      </p:pic>
      <p:sp>
        <p:nvSpPr>
          <p:cNvPr id="62" name="TextBox 61"/>
          <p:cNvSpPr txBox="1"/>
          <p:nvPr/>
        </p:nvSpPr>
        <p:spPr>
          <a:xfrm>
            <a:off x="3570773" y="4229437"/>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63" name="TextBox 62"/>
          <p:cNvSpPr txBox="1"/>
          <p:nvPr/>
        </p:nvSpPr>
        <p:spPr>
          <a:xfrm>
            <a:off x="485775" y="4447369"/>
            <a:ext cx="1521494" cy="186689"/>
          </a:xfrm>
          <a:prstGeom prst="rect">
            <a:avLst/>
          </a:prstGeom>
          <a:noFill/>
        </p:spPr>
        <p:txBody>
          <a:bodyPr wrap="none" lIns="0" tIns="0" rIns="0" bIns="0">
            <a:spAutoFit/>
          </a:bodyPr>
          <a:lstStyle/>
          <a:p>
            <a:r>
              <a:rPr sz="1100" b="0">
                <a:solidFill>
                  <a:srgbClr val="2E2E2E"/>
                </a:solidFill>
                <a:latin typeface="Calibri"/>
              </a:rPr>
              <a:t>● Electronics &amp; Electrical:</a:t>
            </a:r>
          </a:p>
        </p:txBody>
      </p:sp>
      <p:pic>
        <p:nvPicPr>
          <p:cNvPr id="64" name="Picture 63" descr="lock.png"/>
          <p:cNvPicPr>
            <a:picLocks noChangeAspect="1"/>
          </p:cNvPicPr>
          <p:nvPr/>
        </p:nvPicPr>
        <p:blipFill>
          <a:blip r:embed="rId13"/>
          <a:stretch>
            <a:fillRect/>
          </a:stretch>
        </p:blipFill>
        <p:spPr>
          <a:xfrm>
            <a:off x="1955321" y="4437590"/>
            <a:ext cx="128699" cy="187198"/>
          </a:xfrm>
          <a:prstGeom prst="rect">
            <a:avLst/>
          </a:prstGeom>
        </p:spPr>
      </p:pic>
      <p:sp>
        <p:nvSpPr>
          <p:cNvPr id="65" name="TextBox 64"/>
          <p:cNvSpPr txBox="1"/>
          <p:nvPr/>
        </p:nvSpPr>
        <p:spPr>
          <a:xfrm>
            <a:off x="2122817"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66" name="Picture 65" descr="lock.png"/>
          <p:cNvPicPr>
            <a:picLocks noChangeAspect="1"/>
          </p:cNvPicPr>
          <p:nvPr/>
        </p:nvPicPr>
        <p:blipFill>
          <a:blip r:embed="rId13"/>
          <a:stretch>
            <a:fillRect/>
          </a:stretch>
        </p:blipFill>
        <p:spPr>
          <a:xfrm>
            <a:off x="2982267" y="4437590"/>
            <a:ext cx="128699" cy="187198"/>
          </a:xfrm>
          <a:prstGeom prst="rect">
            <a:avLst/>
          </a:prstGeom>
        </p:spPr>
      </p:pic>
      <p:sp>
        <p:nvSpPr>
          <p:cNvPr id="67" name="TextBox 66"/>
          <p:cNvSpPr txBox="1"/>
          <p:nvPr/>
        </p:nvSpPr>
        <p:spPr>
          <a:xfrm>
            <a:off x="3149763" y="4447369"/>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68" name="TextBox 67"/>
          <p:cNvSpPr txBox="1"/>
          <p:nvPr/>
        </p:nvSpPr>
        <p:spPr>
          <a:xfrm>
            <a:off x="485775" y="4665301"/>
            <a:ext cx="1747688" cy="186689"/>
          </a:xfrm>
          <a:prstGeom prst="rect">
            <a:avLst/>
          </a:prstGeom>
          <a:noFill/>
        </p:spPr>
        <p:txBody>
          <a:bodyPr wrap="none" lIns="0" tIns="0" rIns="0" bIns="0">
            <a:spAutoFit/>
          </a:bodyPr>
          <a:lstStyle/>
          <a:p>
            <a:r>
              <a:rPr sz="1100" b="0">
                <a:solidFill>
                  <a:srgbClr val="2E2E2E"/>
                </a:solidFill>
                <a:latin typeface="Calibri"/>
              </a:rPr>
              <a:t>● Personal Care &amp; Cosmetics:</a:t>
            </a:r>
          </a:p>
        </p:txBody>
      </p:sp>
      <p:pic>
        <p:nvPicPr>
          <p:cNvPr id="69" name="Picture 68" descr="lock.png"/>
          <p:cNvPicPr>
            <a:picLocks noChangeAspect="1"/>
          </p:cNvPicPr>
          <p:nvPr/>
        </p:nvPicPr>
        <p:blipFill>
          <a:blip r:embed="rId13"/>
          <a:stretch>
            <a:fillRect/>
          </a:stretch>
        </p:blipFill>
        <p:spPr>
          <a:xfrm>
            <a:off x="2181515" y="4655522"/>
            <a:ext cx="128699" cy="187198"/>
          </a:xfrm>
          <a:prstGeom prst="rect">
            <a:avLst/>
          </a:prstGeom>
        </p:spPr>
      </p:pic>
      <p:sp>
        <p:nvSpPr>
          <p:cNvPr id="70" name="TextBox 69"/>
          <p:cNvSpPr txBox="1"/>
          <p:nvPr/>
        </p:nvSpPr>
        <p:spPr>
          <a:xfrm>
            <a:off x="2349011" y="466530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71" name="Picture 70" descr="lock.png"/>
          <p:cNvPicPr>
            <a:picLocks noChangeAspect="1"/>
          </p:cNvPicPr>
          <p:nvPr/>
        </p:nvPicPr>
        <p:blipFill>
          <a:blip r:embed="rId13"/>
          <a:stretch>
            <a:fillRect/>
          </a:stretch>
        </p:blipFill>
        <p:spPr>
          <a:xfrm>
            <a:off x="3208461" y="4655522"/>
            <a:ext cx="128699" cy="187198"/>
          </a:xfrm>
          <a:prstGeom prst="rect">
            <a:avLst/>
          </a:prstGeom>
        </p:spPr>
      </p:pic>
      <p:sp>
        <p:nvSpPr>
          <p:cNvPr id="72" name="TextBox 71"/>
          <p:cNvSpPr txBox="1"/>
          <p:nvPr/>
        </p:nvSpPr>
        <p:spPr>
          <a:xfrm>
            <a:off x="3375957" y="4665301"/>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Structure &amp; Attractiveness, By End Use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End Use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End Use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End Use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353155" cy="186689"/>
          </a:xfrm>
          <a:prstGeom prst="rect">
            <a:avLst/>
          </a:prstGeom>
          <a:noFill/>
        </p:spPr>
        <p:txBody>
          <a:bodyPr wrap="none" lIns="0" tIns="0" rIns="0" bIns="0">
            <a:spAutoFit/>
          </a:bodyPr>
          <a:lstStyle/>
          <a:p>
            <a:r>
              <a:rPr sz="1100" b="0">
                <a:solidFill>
                  <a:srgbClr val="2E2E2E"/>
                </a:solidFill>
                <a:latin typeface="Calibri"/>
              </a:rPr>
              <a:t>Electronics &amp; electrical followed by food &amp; beverage are expected to be the two most attractive end use segments in the global corrugated partition market in terms of value over the forecast period.</a:t>
            </a:r>
          </a:p>
        </p:txBody>
      </p:sp>
      <p:sp>
        <p:nvSpPr>
          <p:cNvPr id="21" name="TextBox 20"/>
          <p:cNvSpPr txBox="1"/>
          <p:nvPr/>
        </p:nvSpPr>
        <p:spPr>
          <a:xfrm>
            <a:off x="257175" y="5861685"/>
            <a:ext cx="3952857" cy="186689"/>
          </a:xfrm>
          <a:prstGeom prst="rect">
            <a:avLst/>
          </a:prstGeom>
          <a:noFill/>
        </p:spPr>
        <p:txBody>
          <a:bodyPr wrap="none" lIns="0" tIns="0" rIns="0" bIns="0">
            <a:spAutoFit/>
          </a:bodyPr>
          <a:lstStyle/>
          <a:p>
            <a:r>
              <a:rPr sz="1100" b="0">
                <a:solidFill>
                  <a:srgbClr val="2E2E2E"/>
                </a:solidFill>
                <a:latin typeface="Calibri"/>
              </a:rPr>
              <a:t>Electronics &amp; electrical and food &amp; beverage exhibit a CAGR index of</a:t>
            </a:r>
          </a:p>
        </p:txBody>
      </p:sp>
      <p:pic>
        <p:nvPicPr>
          <p:cNvPr id="22" name="Picture 21" descr="lock.png"/>
          <p:cNvPicPr>
            <a:picLocks noChangeAspect="1"/>
          </p:cNvPicPr>
          <p:nvPr/>
        </p:nvPicPr>
        <p:blipFill>
          <a:blip r:embed="rId6"/>
          <a:stretch>
            <a:fillRect/>
          </a:stretch>
        </p:blipFill>
        <p:spPr>
          <a:xfrm>
            <a:off x="4158084" y="5851905"/>
            <a:ext cx="128699" cy="187198"/>
          </a:xfrm>
          <a:prstGeom prst="rect">
            <a:avLst/>
          </a:prstGeom>
        </p:spPr>
      </p:pic>
      <p:sp>
        <p:nvSpPr>
          <p:cNvPr id="23" name="TextBox 22"/>
          <p:cNvSpPr txBox="1"/>
          <p:nvPr/>
        </p:nvSpPr>
        <p:spPr>
          <a:xfrm>
            <a:off x="4325580" y="586168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563474" y="5851905"/>
            <a:ext cx="128699" cy="187198"/>
          </a:xfrm>
          <a:prstGeom prst="rect">
            <a:avLst/>
          </a:prstGeom>
        </p:spPr>
      </p:pic>
      <p:sp>
        <p:nvSpPr>
          <p:cNvPr id="25" name="TextBox 24"/>
          <p:cNvSpPr txBox="1"/>
          <p:nvPr/>
        </p:nvSpPr>
        <p:spPr>
          <a:xfrm>
            <a:off x="4730970" y="586168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6339944" y="5851905"/>
            <a:ext cx="128699" cy="187198"/>
          </a:xfrm>
          <a:prstGeom prst="rect">
            <a:avLst/>
          </a:prstGeom>
        </p:spPr>
      </p:pic>
      <p:sp>
        <p:nvSpPr>
          <p:cNvPr id="27" name="TextBox 26"/>
          <p:cNvSpPr txBox="1"/>
          <p:nvPr/>
        </p:nvSpPr>
        <p:spPr>
          <a:xfrm>
            <a:off x="6507439" y="586168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745334" y="5851905"/>
            <a:ext cx="128699" cy="187198"/>
          </a:xfrm>
          <a:prstGeom prst="rect">
            <a:avLst/>
          </a:prstGeom>
        </p:spPr>
      </p:pic>
      <p:sp>
        <p:nvSpPr>
          <p:cNvPr id="29" name="TextBox 28"/>
          <p:cNvSpPr txBox="1"/>
          <p:nvPr/>
        </p:nvSpPr>
        <p:spPr>
          <a:xfrm>
            <a:off x="6912830" y="586168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9467234" y="5851905"/>
            <a:ext cx="128699" cy="187198"/>
          </a:xfrm>
          <a:prstGeom prst="rect">
            <a:avLst/>
          </a:prstGeom>
        </p:spPr>
      </p:pic>
      <p:sp>
        <p:nvSpPr>
          <p:cNvPr id="31" name="TextBox 30"/>
          <p:cNvSpPr txBox="1"/>
          <p:nvPr/>
        </p:nvSpPr>
        <p:spPr>
          <a:xfrm>
            <a:off x="9634729" y="5861685"/>
            <a:ext cx="1447824" cy="186689"/>
          </a:xfrm>
          <a:prstGeom prst="rect">
            <a:avLst/>
          </a:prstGeom>
          <a:noFill/>
        </p:spPr>
        <p:txBody>
          <a:bodyPr wrap="none" lIns="0" tIns="0" rIns="0" bIns="0">
            <a:spAutoFit/>
          </a:bodyPr>
          <a:lstStyle/>
          <a:p>
            <a:r>
              <a:rPr sz="1100" b="0">
                <a:solidFill>
                  <a:srgbClr val="2E2E2E"/>
                </a:solidFill>
                <a:latin typeface="Calibri"/>
              </a:rPr>
              <a:t>. The pharmaceuticals &amp;</a:t>
            </a:r>
          </a:p>
        </p:txBody>
      </p:sp>
      <p:sp>
        <p:nvSpPr>
          <p:cNvPr id="32" name="TextBox 31"/>
          <p:cNvSpPr txBox="1"/>
          <p:nvPr/>
        </p:nvSpPr>
        <p:spPr>
          <a:xfrm>
            <a:off x="257175" y="6029325"/>
            <a:ext cx="11506736" cy="186689"/>
          </a:xfrm>
          <a:prstGeom prst="rect">
            <a:avLst/>
          </a:prstGeom>
          <a:noFill/>
        </p:spPr>
        <p:txBody>
          <a:bodyPr wrap="none" lIns="0" tIns="0" rIns="0" bIns="0">
            <a:spAutoFit/>
          </a:bodyPr>
          <a:lstStyle/>
          <a:p>
            <a:r>
              <a:rPr sz="1100" b="0">
                <a:solidFill>
                  <a:srgbClr val="2E2E2E"/>
                </a:solidFill>
                <a:latin typeface="Calibri"/>
              </a:rPr>
              <a:t>healthcare segment is expected to be less attractive as compared to other segments over the forecast period, owing to its lower CAGR and incremental opportunity. Bubbles right of the CAGR-Index line</a:t>
            </a:r>
          </a:p>
        </p:txBody>
      </p:sp>
      <p:sp>
        <p:nvSpPr>
          <p:cNvPr id="33" name="TextBox 32"/>
          <p:cNvSpPr txBox="1"/>
          <p:nvPr/>
        </p:nvSpPr>
        <p:spPr>
          <a:xfrm>
            <a:off x="257175" y="6196965"/>
            <a:ext cx="2279476" cy="186689"/>
          </a:xfrm>
          <a:prstGeom prst="rect">
            <a:avLst/>
          </a:prstGeom>
          <a:noFill/>
        </p:spPr>
        <p:txBody>
          <a:bodyPr wrap="none" lIns="0" tIns="0" rIns="0" bIns="0">
            <a:spAutoFit/>
          </a:bodyPr>
          <a:lstStyle/>
          <a:p>
            <a:r>
              <a:rPr sz="1100" b="0">
                <a:solidFill>
                  <a:srgbClr val="2E2E2E"/>
                </a:solidFill>
                <a:latin typeface="Calibri"/>
              </a:rPr>
              <a:t>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Analysis, By End Use (1/2)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End Use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Food &amp; Beverage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Pharmaceuticals &amp; Healthcare</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38125" y="39243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Personal Care &amp; Cosmetics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267450" y="39243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Electronics &amp; Electrical</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xmlns:r="http://schemas.openxmlformats.org/officeDocument/2006/relationships" r:id="rId7"/>
          </a:graphicData>
        </a:graphic>
      </p:graphicFrame>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Analysis, By End Use (2/2)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End Use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Automotive &amp; Industrial Components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xmlns:r="http://schemas.openxmlformats.org/officeDocument/2006/relationships" r:id="rId4"/>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Glassware, Ceramics &amp; Home Goods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xmlns:r="http://schemas.openxmlformats.org/officeDocument/2006/relationships" r:id="rId5"/>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Others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6"/>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305550" y="3952875"/>
            <a:ext cx="5610225" cy="209550"/>
          </a:xfrm>
          <a:prstGeom prst="rect">
            <a:avLst/>
          </a:prstGeom>
          <a:noFill/>
        </p:spPr>
        <p:txBody>
          <a:bodyPr wrap="square" lIns="0" tIns="9525" rIns="19050" bIns="9525">
            <a:spAutoFit/>
          </a:bodyPr>
          <a:lstStyle/>
          <a:p>
            <a:pPr algn="l"/>
            <a:r>
              <a:rPr sz="1300" b="1">
                <a:solidFill>
                  <a:srgbClr val="0B2E4A"/>
                </a:solidFill>
                <a:latin typeface="Calibri"/>
              </a:rPr>
              <a:t>Summary of Global Absolute $ Opportunity Analysis, By End Use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305550" y="4276725"/>
            <a:ext cx="5610225" cy="22669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7"/>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3094826" y="5123309"/>
            <a:ext cx="263506" cy="383281"/>
          </a:xfrm>
          <a:prstGeom prst="rect">
            <a:avLst/>
          </a:prstGeom>
        </p:spPr>
      </p:pic>
      <p:sp>
        <p:nvSpPr>
          <p:cNvPr id="27" name="TextBox 26"/>
          <p:cNvSpPr txBox="1"/>
          <p:nvPr/>
        </p:nvSpPr>
        <p:spPr>
          <a:xfrm>
            <a:off x="6305550" y="4286250"/>
            <a:ext cx="4854751" cy="194310"/>
          </a:xfrm>
          <a:prstGeom prst="rect">
            <a:avLst/>
          </a:prstGeom>
          <a:noFill/>
        </p:spPr>
        <p:txBody>
          <a:bodyPr wrap="none" lIns="0" tIns="0" rIns="0" bIns="0">
            <a:spAutoFit/>
          </a:bodyPr>
          <a:lstStyle/>
          <a:p>
            <a:r>
              <a:rPr sz="1150" b="0">
                <a:solidFill>
                  <a:srgbClr val="2E2E2E"/>
                </a:solidFill>
                <a:latin typeface="Calibri"/>
              </a:rPr>
              <a:t>By 2036, electronics &amp; electrical segment is anticipated to witness an increase of</a:t>
            </a:r>
          </a:p>
        </p:txBody>
      </p:sp>
      <p:pic>
        <p:nvPicPr>
          <p:cNvPr id="28" name="Picture 27" descr="lock.png"/>
          <p:cNvPicPr>
            <a:picLocks noChangeAspect="1"/>
          </p:cNvPicPr>
          <p:nvPr/>
        </p:nvPicPr>
        <p:blipFill>
          <a:blip r:embed="rId7"/>
          <a:stretch>
            <a:fillRect/>
          </a:stretch>
        </p:blipFill>
        <p:spPr>
          <a:xfrm>
            <a:off x="11109455" y="4276026"/>
            <a:ext cx="134549" cy="195707"/>
          </a:xfrm>
          <a:prstGeom prst="rect">
            <a:avLst/>
          </a:prstGeom>
        </p:spPr>
      </p:pic>
      <p:sp>
        <p:nvSpPr>
          <p:cNvPr id="29" name="TextBox 28"/>
          <p:cNvSpPr txBox="1"/>
          <p:nvPr/>
        </p:nvSpPr>
        <p:spPr>
          <a:xfrm>
            <a:off x="11284564" y="4286250"/>
            <a:ext cx="295560" cy="194310"/>
          </a:xfrm>
          <a:prstGeom prst="rect">
            <a:avLst/>
          </a:prstGeom>
          <a:noFill/>
        </p:spPr>
        <p:txBody>
          <a:bodyPr wrap="none" lIns="0" tIns="0" rIns="0" bIns="0">
            <a:spAutoFit/>
          </a:bodyPr>
          <a:lstStyle/>
          <a:p>
            <a:r>
              <a:rPr sz="1150" b="0">
                <a:solidFill>
                  <a:srgbClr val="2E2E2E"/>
                </a:solidFill>
                <a:latin typeface="Calibri"/>
              </a:rPr>
              <a:t>X in</a:t>
            </a:r>
          </a:p>
        </p:txBody>
      </p:sp>
      <p:sp>
        <p:nvSpPr>
          <p:cNvPr id="30" name="TextBox 29"/>
          <p:cNvSpPr txBox="1"/>
          <p:nvPr/>
        </p:nvSpPr>
        <p:spPr>
          <a:xfrm>
            <a:off x="6305550" y="4461510"/>
            <a:ext cx="5300340" cy="194310"/>
          </a:xfrm>
          <a:prstGeom prst="rect">
            <a:avLst/>
          </a:prstGeom>
          <a:noFill/>
        </p:spPr>
        <p:txBody>
          <a:bodyPr wrap="none" lIns="0" tIns="0" rIns="0" bIns="0">
            <a:spAutoFit/>
          </a:bodyPr>
          <a:lstStyle/>
          <a:p>
            <a:r>
              <a:rPr sz="1150" b="0">
                <a:solidFill>
                  <a:srgbClr val="2E2E2E"/>
                </a:solidFill>
                <a:latin typeface="Calibri"/>
              </a:rPr>
              <a:t>terms of value as compared to 2026. The electronics &amp; electrical segment is expected to</a:t>
            </a:r>
          </a:p>
        </p:txBody>
      </p:sp>
      <p:sp>
        <p:nvSpPr>
          <p:cNvPr id="31" name="TextBox 30"/>
          <p:cNvSpPr txBox="1"/>
          <p:nvPr/>
        </p:nvSpPr>
        <p:spPr>
          <a:xfrm>
            <a:off x="6305550" y="4636770"/>
            <a:ext cx="2547069" cy="194310"/>
          </a:xfrm>
          <a:prstGeom prst="rect">
            <a:avLst/>
          </a:prstGeom>
          <a:noFill/>
        </p:spPr>
        <p:txBody>
          <a:bodyPr wrap="none" lIns="0" tIns="0" rIns="0" bIns="0">
            <a:spAutoFit/>
          </a:bodyPr>
          <a:lstStyle/>
          <a:p>
            <a:r>
              <a:rPr sz="1150" b="0">
                <a:solidFill>
                  <a:srgbClr val="2E2E2E"/>
                </a:solidFill>
                <a:latin typeface="Calibri"/>
              </a:rPr>
              <a:t>create an incremental opportunity of US$</a:t>
            </a:r>
          </a:p>
        </p:txBody>
      </p:sp>
      <p:pic>
        <p:nvPicPr>
          <p:cNvPr id="32" name="Picture 31" descr="lock.png"/>
          <p:cNvPicPr>
            <a:picLocks noChangeAspect="1"/>
          </p:cNvPicPr>
          <p:nvPr/>
        </p:nvPicPr>
        <p:blipFill>
          <a:blip r:embed="rId7"/>
          <a:stretch>
            <a:fillRect/>
          </a:stretch>
        </p:blipFill>
        <p:spPr>
          <a:xfrm>
            <a:off x="8801773" y="4626546"/>
            <a:ext cx="134549" cy="195707"/>
          </a:xfrm>
          <a:prstGeom prst="rect">
            <a:avLst/>
          </a:prstGeom>
        </p:spPr>
      </p:pic>
      <p:sp>
        <p:nvSpPr>
          <p:cNvPr id="33" name="TextBox 32"/>
          <p:cNvSpPr txBox="1"/>
          <p:nvPr/>
        </p:nvSpPr>
        <p:spPr>
          <a:xfrm>
            <a:off x="8976882" y="4636770"/>
            <a:ext cx="2849153"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a:t>
            </a:r>
          </a:p>
        </p:txBody>
      </p:sp>
      <p:sp>
        <p:nvSpPr>
          <p:cNvPr id="34" name="TextBox 33"/>
          <p:cNvSpPr txBox="1"/>
          <p:nvPr/>
        </p:nvSpPr>
        <p:spPr>
          <a:xfrm>
            <a:off x="6305550" y="4812029"/>
            <a:ext cx="1220923" cy="194310"/>
          </a:xfrm>
          <a:prstGeom prst="rect">
            <a:avLst/>
          </a:prstGeom>
          <a:noFill/>
        </p:spPr>
        <p:txBody>
          <a:bodyPr wrap="none" lIns="0" tIns="0" rIns="0" bIns="0">
            <a:spAutoFit/>
          </a:bodyPr>
          <a:lstStyle/>
          <a:p>
            <a:r>
              <a:rPr sz="1150" b="0">
                <a:solidFill>
                  <a:srgbClr val="2E2E2E"/>
                </a:solidFill>
                <a:latin typeface="Calibri"/>
              </a:rPr>
              <a:t>from 2026 to 2036.</a:t>
            </a:r>
          </a:p>
        </p:txBody>
      </p:sp>
      <p:sp>
        <p:nvSpPr>
          <p:cNvPr id="35" name="TextBox 34"/>
          <p:cNvSpPr txBox="1"/>
          <p:nvPr/>
        </p:nvSpPr>
        <p:spPr>
          <a:xfrm>
            <a:off x="6305550" y="5039867"/>
            <a:ext cx="5234446" cy="194310"/>
          </a:xfrm>
          <a:prstGeom prst="rect">
            <a:avLst/>
          </a:prstGeom>
          <a:noFill/>
        </p:spPr>
        <p:txBody>
          <a:bodyPr wrap="none" lIns="0" tIns="0" rIns="0" bIns="0">
            <a:spAutoFit/>
          </a:bodyPr>
          <a:lstStyle/>
          <a:p>
            <a:r>
              <a:rPr sz="1150" b="0">
                <a:solidFill>
                  <a:srgbClr val="2E2E2E"/>
                </a:solidFill>
                <a:latin typeface="Calibri"/>
              </a:rPr>
              <a:t>The food &amp; beverage segment is expected to create an incremental opportunity of US$</a:t>
            </a:r>
          </a:p>
        </p:txBody>
      </p:sp>
      <p:pic>
        <p:nvPicPr>
          <p:cNvPr id="36" name="Picture 35" descr="lock.png"/>
          <p:cNvPicPr>
            <a:picLocks noChangeAspect="1"/>
          </p:cNvPicPr>
          <p:nvPr/>
        </p:nvPicPr>
        <p:blipFill>
          <a:blip r:embed="rId7"/>
          <a:stretch>
            <a:fillRect/>
          </a:stretch>
        </p:blipFill>
        <p:spPr>
          <a:xfrm>
            <a:off x="6291470" y="5204904"/>
            <a:ext cx="134549" cy="195707"/>
          </a:xfrm>
          <a:prstGeom prst="rect">
            <a:avLst/>
          </a:prstGeom>
        </p:spPr>
      </p:pic>
      <p:sp>
        <p:nvSpPr>
          <p:cNvPr id="37" name="TextBox 36"/>
          <p:cNvSpPr txBox="1"/>
          <p:nvPr/>
        </p:nvSpPr>
        <p:spPr>
          <a:xfrm>
            <a:off x="6466579" y="5215127"/>
            <a:ext cx="4934929"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2026 to 2036. The glassware,</a:t>
            </a:r>
          </a:p>
        </p:txBody>
      </p:sp>
      <p:sp>
        <p:nvSpPr>
          <p:cNvPr id="38" name="TextBox 37"/>
          <p:cNvSpPr txBox="1"/>
          <p:nvPr/>
        </p:nvSpPr>
        <p:spPr>
          <a:xfrm>
            <a:off x="6305550" y="5390387"/>
            <a:ext cx="5412444" cy="194310"/>
          </a:xfrm>
          <a:prstGeom prst="rect">
            <a:avLst/>
          </a:prstGeom>
          <a:noFill/>
        </p:spPr>
        <p:txBody>
          <a:bodyPr wrap="none" lIns="0" tIns="0" rIns="0" bIns="0">
            <a:spAutoFit/>
          </a:bodyPr>
          <a:lstStyle/>
          <a:p>
            <a:r>
              <a:rPr sz="1150" b="0">
                <a:solidFill>
                  <a:srgbClr val="2E2E2E"/>
                </a:solidFill>
                <a:latin typeface="Calibri"/>
              </a:rPr>
              <a:t>ceramics &amp; home goods segment is expected to create an incremental opportunity of US$</a:t>
            </a:r>
          </a:p>
        </p:txBody>
      </p:sp>
      <p:pic>
        <p:nvPicPr>
          <p:cNvPr id="39" name="Picture 38" descr="lock.png"/>
          <p:cNvPicPr>
            <a:picLocks noChangeAspect="1"/>
          </p:cNvPicPr>
          <p:nvPr/>
        </p:nvPicPr>
        <p:blipFill>
          <a:blip r:embed="rId7"/>
          <a:stretch>
            <a:fillRect/>
          </a:stretch>
        </p:blipFill>
        <p:spPr>
          <a:xfrm>
            <a:off x="6291470" y="5555424"/>
            <a:ext cx="134549" cy="195707"/>
          </a:xfrm>
          <a:prstGeom prst="rect">
            <a:avLst/>
          </a:prstGeom>
        </p:spPr>
      </p:pic>
      <p:sp>
        <p:nvSpPr>
          <p:cNvPr id="40" name="TextBox 39"/>
          <p:cNvSpPr txBox="1"/>
          <p:nvPr/>
        </p:nvSpPr>
        <p:spPr>
          <a:xfrm>
            <a:off x="6466579" y="5565647"/>
            <a:ext cx="4026966"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2026 to 2036.</a:t>
            </a:r>
          </a:p>
        </p:txBody>
      </p:sp>
      <p:sp>
        <p:nvSpPr>
          <p:cNvPr id="41"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Volume Analysis, By End Use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End Use,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4229100"/>
          </a:xfrm>
          <a:prstGeom prst="roundRect">
            <a:avLst>
              <a:gd name="adj" fmla="val 18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By End Use (MT)</a:t>
            </a:r>
          </a:p>
        </p:txBody>
      </p:sp>
      <p:graphicFrame>
        <p:nvGraphicFramePr>
          <p:cNvPr id="13" name="Table 12"/>
          <p:cNvGraphicFramePr>
            <a:graphicFrameLocks noGrp="1"/>
          </p:cNvGraphicFramePr>
          <p:nvPr/>
        </p:nvGraphicFramePr>
        <p:xfrm>
          <a:off x="152400" y="1238250"/>
          <a:ext cx="11887208" cy="3762371"/>
        </p:xfrm>
        <a:graphic>
          <a:graphicData uri="http://schemas.openxmlformats.org/drawingml/2006/table">
            <a:tbl>
              <a:tblPr>
                <a:tableStyleId>{5C22544A-7EE6-4342-B048-85BDC9FD1C3A}</a:tableStyleId>
              </a:tblPr>
              <a:tblGrid>
                <a:gridCol w="1239860">
                  <a:extLst>
                    <a:ext uri="{9D8B030D-6E8A-4147-A177-3AD203B41FA5}">
                      <a16:colId xmlns:a16="http://schemas.microsoft.com/office/drawing/2014/main" val="20000"/>
                    </a:ext>
                  </a:extLst>
                </a:gridCol>
                <a:gridCol w="641033">
                  <a:extLst>
                    <a:ext uri="{9D8B030D-6E8A-4147-A177-3AD203B41FA5}">
                      <a16:colId xmlns:a16="http://schemas.microsoft.com/office/drawing/2014/main" val="20001"/>
                    </a:ext>
                  </a:extLst>
                </a:gridCol>
                <a:gridCol w="641033">
                  <a:extLst>
                    <a:ext uri="{9D8B030D-6E8A-4147-A177-3AD203B41FA5}">
                      <a16:colId xmlns:a16="http://schemas.microsoft.com/office/drawing/2014/main" val="20002"/>
                    </a:ext>
                  </a:extLst>
                </a:gridCol>
                <a:gridCol w="641033">
                  <a:extLst>
                    <a:ext uri="{9D8B030D-6E8A-4147-A177-3AD203B41FA5}">
                      <a16:colId xmlns:a16="http://schemas.microsoft.com/office/drawing/2014/main" val="20003"/>
                    </a:ext>
                  </a:extLst>
                </a:gridCol>
                <a:gridCol w="641033">
                  <a:extLst>
                    <a:ext uri="{9D8B030D-6E8A-4147-A177-3AD203B41FA5}">
                      <a16:colId xmlns:a16="http://schemas.microsoft.com/office/drawing/2014/main" val="20004"/>
                    </a:ext>
                  </a:extLst>
                </a:gridCol>
                <a:gridCol w="641033">
                  <a:extLst>
                    <a:ext uri="{9D8B030D-6E8A-4147-A177-3AD203B41FA5}">
                      <a16:colId xmlns:a16="http://schemas.microsoft.com/office/drawing/2014/main" val="20005"/>
                    </a:ext>
                  </a:extLst>
                </a:gridCol>
                <a:gridCol w="641033">
                  <a:extLst>
                    <a:ext uri="{9D8B030D-6E8A-4147-A177-3AD203B41FA5}">
                      <a16:colId xmlns:a16="http://schemas.microsoft.com/office/drawing/2014/main" val="20006"/>
                    </a:ext>
                  </a:extLst>
                </a:gridCol>
                <a:gridCol w="641033">
                  <a:extLst>
                    <a:ext uri="{9D8B030D-6E8A-4147-A177-3AD203B41FA5}">
                      <a16:colId xmlns:a16="http://schemas.microsoft.com/office/drawing/2014/main" val="20007"/>
                    </a:ext>
                  </a:extLst>
                </a:gridCol>
                <a:gridCol w="641033">
                  <a:extLst>
                    <a:ext uri="{9D8B030D-6E8A-4147-A177-3AD203B41FA5}">
                      <a16:colId xmlns:a16="http://schemas.microsoft.com/office/drawing/2014/main" val="20008"/>
                    </a:ext>
                  </a:extLst>
                </a:gridCol>
                <a:gridCol w="641033">
                  <a:extLst>
                    <a:ext uri="{9D8B030D-6E8A-4147-A177-3AD203B41FA5}">
                      <a16:colId xmlns:a16="http://schemas.microsoft.com/office/drawing/2014/main" val="20009"/>
                    </a:ext>
                  </a:extLst>
                </a:gridCol>
                <a:gridCol w="641033">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390820">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End Use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246745">
                <a:tc>
                  <a:txBody>
                    <a:bodyPr/>
                    <a:lstStyle/>
                    <a:p>
                      <a:pPr algn="l"/>
                      <a:r>
                        <a:rPr sz="1100" b="1">
                          <a:solidFill>
                            <a:srgbClr val="2E2E2E"/>
                          </a:solidFill>
                          <a:latin typeface="Calibri"/>
                        </a:rPr>
                        <a:t>Food &amp; Beverage</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439530">
                <a:tc>
                  <a:txBody>
                    <a:bodyPr/>
                    <a:lstStyle/>
                    <a:p>
                      <a:pPr algn="l"/>
                      <a:r>
                        <a:rPr sz="1100" b="1">
                          <a:solidFill>
                            <a:srgbClr val="2E2E2E"/>
                          </a:solidFill>
                          <a:latin typeface="Calibri"/>
                        </a:rPr>
                        <a:t>Pharmaceuticals &amp;</a:t>
                      </a:r>
                      <a:endParaRPr sz="1100"/>
                    </a:p>
                    <a:p>
                      <a:pPr algn="l"/>
                      <a:r>
                        <a:rPr sz="1100" b="1">
                          <a:solidFill>
                            <a:srgbClr val="2E2E2E"/>
                          </a:solidFill>
                          <a:latin typeface="Calibri"/>
                        </a:rPr>
                        <a:t>Healthcare</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439530">
                <a:tc>
                  <a:txBody>
                    <a:bodyPr/>
                    <a:lstStyle/>
                    <a:p>
                      <a:pPr algn="l"/>
                      <a:r>
                        <a:rPr sz="1100" b="1">
                          <a:solidFill>
                            <a:srgbClr val="2E2E2E"/>
                          </a:solidFill>
                          <a:latin typeface="Calibri"/>
                        </a:rPr>
                        <a:t>Personal Care &amp;</a:t>
                      </a:r>
                      <a:endParaRPr sz="1100"/>
                    </a:p>
                    <a:p>
                      <a:pPr algn="l"/>
                      <a:r>
                        <a:rPr sz="1100" b="1">
                          <a:solidFill>
                            <a:srgbClr val="2E2E2E"/>
                          </a:solidFill>
                          <a:latin typeface="Calibri"/>
                        </a:rPr>
                        <a:t>Cosmetics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3"/>
                  </a:ext>
                </a:extLst>
              </a:tr>
              <a:tr h="439530">
                <a:tc>
                  <a:txBody>
                    <a:bodyPr/>
                    <a:lstStyle/>
                    <a:p>
                      <a:pPr algn="l"/>
                      <a:r>
                        <a:rPr sz="1100" b="1">
                          <a:solidFill>
                            <a:srgbClr val="2E2E2E"/>
                          </a:solidFill>
                          <a:latin typeface="Calibri"/>
                        </a:rPr>
                        <a:t>Electronics &amp;</a:t>
                      </a:r>
                      <a:endParaRPr sz="1100"/>
                    </a:p>
                    <a:p>
                      <a:pPr algn="l"/>
                      <a:r>
                        <a:rPr sz="1100" b="1">
                          <a:solidFill>
                            <a:srgbClr val="2E2E2E"/>
                          </a:solidFill>
                          <a:latin typeface="Calibri"/>
                        </a:rPr>
                        <a:t>Electrical</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4"/>
                  </a:ext>
                </a:extLst>
              </a:tr>
              <a:tr h="632317">
                <a:tc>
                  <a:txBody>
                    <a:bodyPr/>
                    <a:lstStyle/>
                    <a:p>
                      <a:pPr algn="l"/>
                      <a:r>
                        <a:rPr sz="1100" b="1">
                          <a:solidFill>
                            <a:srgbClr val="2E2E2E"/>
                          </a:solidFill>
                          <a:latin typeface="Calibri"/>
                        </a:rPr>
                        <a:t>Automotive &amp;</a:t>
                      </a:r>
                      <a:endParaRPr sz="1100"/>
                    </a:p>
                    <a:p>
                      <a:pPr algn="l"/>
                      <a:r>
                        <a:rPr sz="1100" b="1">
                          <a:solidFill>
                            <a:srgbClr val="2E2E2E"/>
                          </a:solidFill>
                          <a:latin typeface="Calibri"/>
                        </a:rPr>
                        <a:t>Industrial</a:t>
                      </a:r>
                      <a:endParaRPr sz="1100"/>
                    </a:p>
                    <a:p>
                      <a:pPr algn="l"/>
                      <a:r>
                        <a:rPr sz="1100" b="1">
                          <a:solidFill>
                            <a:srgbClr val="2E2E2E"/>
                          </a:solidFill>
                          <a:latin typeface="Calibri"/>
                        </a:rPr>
                        <a:t>Components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5"/>
                  </a:ext>
                </a:extLst>
              </a:tr>
              <a:tr h="632317">
                <a:tc>
                  <a:txBody>
                    <a:bodyPr/>
                    <a:lstStyle/>
                    <a:p>
                      <a:pPr algn="l"/>
                      <a:r>
                        <a:rPr sz="1100" b="1">
                          <a:solidFill>
                            <a:srgbClr val="2E2E2E"/>
                          </a:solidFill>
                          <a:latin typeface="Calibri"/>
                        </a:rPr>
                        <a:t>Glassware,</a:t>
                      </a:r>
                      <a:endParaRPr sz="1100"/>
                    </a:p>
                    <a:p>
                      <a:pPr algn="l"/>
                      <a:r>
                        <a:rPr sz="1100" b="1">
                          <a:solidFill>
                            <a:srgbClr val="2E2E2E"/>
                          </a:solidFill>
                          <a:latin typeface="Calibri"/>
                        </a:rPr>
                        <a:t>Ceramics &amp; Home</a:t>
                      </a:r>
                      <a:endParaRPr sz="1100"/>
                    </a:p>
                    <a:p>
                      <a:pPr algn="l"/>
                      <a:r>
                        <a:rPr sz="1100" b="1">
                          <a:solidFill>
                            <a:srgbClr val="2E2E2E"/>
                          </a:solidFill>
                          <a:latin typeface="Calibri"/>
                        </a:rPr>
                        <a:t>Goods</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6"/>
                  </a:ext>
                </a:extLst>
              </a:tr>
              <a:tr h="246745">
                <a:tc>
                  <a:txBody>
                    <a:bodyPr/>
                    <a:lstStyle/>
                    <a:p>
                      <a:pPr algn="l"/>
                      <a:r>
                        <a:rPr sz="1100" b="1">
                          <a:solidFill>
                            <a:srgbClr val="2E2E2E"/>
                          </a:solidFill>
                          <a:latin typeface="Calibri"/>
                        </a:rPr>
                        <a:t>Others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7"/>
                  </a:ext>
                </a:extLst>
              </a:tr>
              <a:tr h="246745">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8"/>
                  </a:ext>
                </a:extLst>
              </a:tr>
            </a:tbl>
          </a:graphicData>
        </a:graphic>
      </p:graphicFrame>
      <p:sp>
        <p:nvSpPr>
          <p:cNvPr id="14" name="TextBox 13"/>
          <p:cNvSpPr txBox="1"/>
          <p:nvPr/>
        </p:nvSpPr>
        <p:spPr>
          <a:xfrm>
            <a:off x="219075" y="50101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343525"/>
            <a:ext cx="11906250"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5429250"/>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Volume Analysis, By End Use</a:t>
            </a:r>
          </a:p>
        </p:txBody>
      </p:sp>
      <p:sp>
        <p:nvSpPr>
          <p:cNvPr id="17" name="Rectangle 16"/>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5753100"/>
            <a:ext cx="11639550" cy="800100"/>
          </a:xfrm>
          <a:prstGeom prst="rect">
            <a:avLst/>
          </a:prstGeom>
          <a:noFill/>
        </p:spPr>
        <p:txBody>
          <a:bodyPr wrap="square" lIns="0" tIns="9525" rIns="19050" bIns="9525">
            <a:spAutoFit/>
          </a:bodyPr>
          <a:lstStyle/>
          <a:p>
            <a:pPr algn="l">
              <a:lnSpc>
                <a:spcPct val="100000"/>
              </a:lnSpc>
              <a:spcBef>
                <a:spcPts val="0"/>
              </a:spcBef>
              <a:spcAft>
                <a:spcPts val="300"/>
              </a:spcAft>
            </a:pPr>
            <a:endParaRPr/>
          </a:p>
          <a:p>
            <a:pPr algn="l">
              <a:lnSpc>
                <a:spcPct val="100000"/>
              </a:lnSpc>
              <a:spcBef>
                <a:spcPts val="0"/>
              </a:spcBef>
              <a:spcAft>
                <a:spcPts val="3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3072193"/>
            <a:ext cx="366712" cy="533400"/>
          </a:xfrm>
          <a:prstGeom prst="rect">
            <a:avLst/>
          </a:prstGeom>
        </p:spPr>
      </p:pic>
      <p:sp>
        <p:nvSpPr>
          <p:cNvPr id="21" name="TextBox 20"/>
          <p:cNvSpPr txBox="1"/>
          <p:nvPr/>
        </p:nvSpPr>
        <p:spPr>
          <a:xfrm>
            <a:off x="276225" y="5762625"/>
            <a:ext cx="2303487" cy="186689"/>
          </a:xfrm>
          <a:prstGeom prst="rect">
            <a:avLst/>
          </a:prstGeom>
          <a:noFill/>
        </p:spPr>
        <p:txBody>
          <a:bodyPr wrap="none" lIns="0" tIns="0" rIns="0" bIns="0">
            <a:spAutoFit/>
          </a:bodyPr>
          <a:lstStyle/>
          <a:p>
            <a:r>
              <a:rPr sz="1100" b="0">
                <a:solidFill>
                  <a:srgbClr val="2E2E2E"/>
                </a:solidFill>
                <a:latin typeface="Calibri"/>
              </a:rPr>
              <a:t>Others segment is projected to register</a:t>
            </a:r>
          </a:p>
        </p:txBody>
      </p:sp>
      <p:pic>
        <p:nvPicPr>
          <p:cNvPr id="22" name="Picture 21" descr="lock.png"/>
          <p:cNvPicPr>
            <a:picLocks noChangeAspect="1"/>
          </p:cNvPicPr>
          <p:nvPr/>
        </p:nvPicPr>
        <p:blipFill>
          <a:blip r:embed="rId4"/>
          <a:stretch>
            <a:fillRect/>
          </a:stretch>
        </p:blipFill>
        <p:spPr>
          <a:xfrm>
            <a:off x="2527763" y="5752845"/>
            <a:ext cx="128699" cy="187198"/>
          </a:xfrm>
          <a:prstGeom prst="rect">
            <a:avLst/>
          </a:prstGeom>
        </p:spPr>
      </p:pic>
      <p:sp>
        <p:nvSpPr>
          <p:cNvPr id="23" name="TextBox 22"/>
          <p:cNvSpPr txBox="1"/>
          <p:nvPr/>
        </p:nvSpPr>
        <p:spPr>
          <a:xfrm>
            <a:off x="2695259" y="5762625"/>
            <a:ext cx="9143875" cy="186689"/>
          </a:xfrm>
          <a:prstGeom prst="rect">
            <a:avLst/>
          </a:prstGeom>
          <a:noFill/>
        </p:spPr>
        <p:txBody>
          <a:bodyPr wrap="none" lIns="0" tIns="0" rIns="0" bIns="0">
            <a:spAutoFit/>
          </a:bodyPr>
          <a:lstStyle/>
          <a:p>
            <a:r>
              <a:rPr sz="1100" b="0">
                <a:solidFill>
                  <a:srgbClr val="2E2E2E"/>
                </a:solidFill>
                <a:latin typeface="Calibri"/>
              </a:rPr>
              <a:t>X higher volume than glassware, ceramics &amp; home goods segment in 2036. Among corrugated partition by end use, electronics &amp; electrical segment is expected</a:t>
            </a:r>
          </a:p>
        </p:txBody>
      </p:sp>
      <p:sp>
        <p:nvSpPr>
          <p:cNvPr id="24" name="TextBox 23"/>
          <p:cNvSpPr txBox="1"/>
          <p:nvPr/>
        </p:nvSpPr>
        <p:spPr>
          <a:xfrm>
            <a:off x="276225" y="5930265"/>
            <a:ext cx="1827344" cy="186689"/>
          </a:xfrm>
          <a:prstGeom prst="rect">
            <a:avLst/>
          </a:prstGeom>
          <a:noFill/>
        </p:spPr>
        <p:txBody>
          <a:bodyPr wrap="none" lIns="0" tIns="0" rIns="0" bIns="0">
            <a:spAutoFit/>
          </a:bodyPr>
          <a:lstStyle/>
          <a:p>
            <a:r>
              <a:rPr sz="110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051620" y="5920485"/>
            <a:ext cx="128699" cy="187198"/>
          </a:xfrm>
          <a:prstGeom prst="rect">
            <a:avLst/>
          </a:prstGeom>
        </p:spPr>
      </p:pic>
      <p:sp>
        <p:nvSpPr>
          <p:cNvPr id="26" name="TextBox 25"/>
          <p:cNvSpPr txBox="1"/>
          <p:nvPr/>
        </p:nvSpPr>
        <p:spPr>
          <a:xfrm>
            <a:off x="2219116" y="5930265"/>
            <a:ext cx="1484659" cy="186689"/>
          </a:xfrm>
          <a:prstGeom prst="rect">
            <a:avLst/>
          </a:prstGeom>
          <a:noFill/>
        </p:spPr>
        <p:txBody>
          <a:bodyPr wrap="none" lIns="0" tIns="0" rIns="0" bIns="0">
            <a:spAutoFit/>
          </a:bodyPr>
          <a:lstStyle/>
          <a:p>
            <a:r>
              <a:rPr sz="1100" b="0">
                <a:solidFill>
                  <a:srgbClr val="2E2E2E"/>
                </a:solidFill>
                <a:latin typeface="Calibri"/>
              </a:rPr>
              <a:t>over the forecast period.</a:t>
            </a:r>
          </a:p>
        </p:txBody>
      </p:sp>
      <p:sp>
        <p:nvSpPr>
          <p:cNvPr id="27" name="TextBox 26"/>
          <p:cNvSpPr txBox="1"/>
          <p:nvPr/>
        </p:nvSpPr>
        <p:spPr>
          <a:xfrm>
            <a:off x="276225" y="6148197"/>
            <a:ext cx="5782344" cy="186689"/>
          </a:xfrm>
          <a:prstGeom prst="rect">
            <a:avLst/>
          </a:prstGeom>
          <a:noFill/>
        </p:spPr>
        <p:txBody>
          <a:bodyPr wrap="none" lIns="0" tIns="0" rIns="0" bIns="0">
            <a:spAutoFit/>
          </a:bodyPr>
          <a:lstStyle/>
          <a:p>
            <a:r>
              <a:rPr sz="1100" b="0">
                <a:solidFill>
                  <a:srgbClr val="2E2E2E"/>
                </a:solidFill>
                <a:latin typeface="Calibri"/>
              </a:rPr>
              <a:t>In terms of volume share by end use, the others segment is expected to dominate the market, losing</a:t>
            </a:r>
          </a:p>
        </p:txBody>
      </p:sp>
      <p:pic>
        <p:nvPicPr>
          <p:cNvPr id="28" name="Picture 27" descr="lock.png"/>
          <p:cNvPicPr>
            <a:picLocks noChangeAspect="1"/>
          </p:cNvPicPr>
          <p:nvPr/>
        </p:nvPicPr>
        <p:blipFill>
          <a:blip r:embed="rId4"/>
          <a:stretch>
            <a:fillRect/>
          </a:stretch>
        </p:blipFill>
        <p:spPr>
          <a:xfrm>
            <a:off x="6006621" y="6138417"/>
            <a:ext cx="128699" cy="187198"/>
          </a:xfrm>
          <a:prstGeom prst="rect">
            <a:avLst/>
          </a:prstGeom>
        </p:spPr>
      </p:pic>
      <p:sp>
        <p:nvSpPr>
          <p:cNvPr id="29" name="TextBox 28"/>
          <p:cNvSpPr txBox="1"/>
          <p:nvPr/>
        </p:nvSpPr>
        <p:spPr>
          <a:xfrm>
            <a:off x="6174117" y="6148197"/>
            <a:ext cx="1386433" cy="186689"/>
          </a:xfrm>
          <a:prstGeom prst="rect">
            <a:avLst/>
          </a:prstGeom>
          <a:noFill/>
        </p:spPr>
        <p:txBody>
          <a:bodyPr wrap="none" lIns="0" tIns="0" rIns="0" bIns="0">
            <a:spAutoFit/>
          </a:bodyPr>
          <a:lstStyle/>
          <a:p>
            <a:r>
              <a:rPr sz="110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508601" y="6138417"/>
            <a:ext cx="128699" cy="187198"/>
          </a:xfrm>
          <a:prstGeom prst="rect">
            <a:avLst/>
          </a:prstGeom>
        </p:spPr>
      </p:pic>
      <p:sp>
        <p:nvSpPr>
          <p:cNvPr id="31" name="TextBox 30"/>
          <p:cNvSpPr txBox="1"/>
          <p:nvPr/>
        </p:nvSpPr>
        <p:spPr>
          <a:xfrm>
            <a:off x="7676097" y="6148197"/>
            <a:ext cx="3524770" cy="186689"/>
          </a:xfrm>
          <a:prstGeom prst="rect">
            <a:avLst/>
          </a:prstGeom>
          <a:noFill/>
        </p:spPr>
        <p:txBody>
          <a:bodyPr wrap="none" lIns="0" tIns="0" rIns="0" bIns="0">
            <a:spAutoFit/>
          </a:bodyPr>
          <a:lstStyle/>
          <a:p>
            <a:r>
              <a:rPr sz="1100" b="0">
                <a:solidFill>
                  <a:srgbClr val="2E2E2E"/>
                </a:solidFill>
                <a:latin typeface="Calibri"/>
              </a:rPr>
              <a:t>share by 2036. The pharmaceuticals &amp; healthcare segment is</a:t>
            </a:r>
          </a:p>
        </p:txBody>
      </p:sp>
      <p:sp>
        <p:nvSpPr>
          <p:cNvPr id="32" name="TextBox 31"/>
          <p:cNvSpPr txBox="1"/>
          <p:nvPr/>
        </p:nvSpPr>
        <p:spPr>
          <a:xfrm>
            <a:off x="276225" y="6315837"/>
            <a:ext cx="1012353" cy="186689"/>
          </a:xfrm>
          <a:prstGeom prst="rect">
            <a:avLst/>
          </a:prstGeom>
          <a:noFill/>
        </p:spPr>
        <p:txBody>
          <a:bodyPr wrap="none" lIns="0" tIns="0" rIns="0" bIns="0">
            <a:spAutoFit/>
          </a:bodyPr>
          <a:lstStyle/>
          <a:p>
            <a:r>
              <a:rPr sz="110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36630" y="6306058"/>
            <a:ext cx="128699" cy="187198"/>
          </a:xfrm>
          <a:prstGeom prst="rect">
            <a:avLst/>
          </a:prstGeom>
        </p:spPr>
      </p:pic>
      <p:sp>
        <p:nvSpPr>
          <p:cNvPr id="34" name="TextBox 33"/>
          <p:cNvSpPr txBox="1"/>
          <p:nvPr/>
        </p:nvSpPr>
        <p:spPr>
          <a:xfrm>
            <a:off x="1404126" y="6315837"/>
            <a:ext cx="2526952" cy="186689"/>
          </a:xfrm>
          <a:prstGeom prst="rect">
            <a:avLst/>
          </a:prstGeom>
          <a:noFill/>
        </p:spPr>
        <p:txBody>
          <a:bodyPr wrap="none" lIns="0" tIns="0" rIns="0" bIns="0">
            <a:spAutoFit/>
          </a:bodyPr>
          <a:lstStyle/>
          <a:p>
            <a:r>
              <a:rPr sz="110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3879130" y="6306058"/>
            <a:ext cx="128699" cy="187198"/>
          </a:xfrm>
          <a:prstGeom prst="rect">
            <a:avLst/>
          </a:prstGeom>
        </p:spPr>
      </p:pic>
      <p:sp>
        <p:nvSpPr>
          <p:cNvPr id="36" name="TextBox 35"/>
          <p:cNvSpPr txBox="1"/>
          <p:nvPr/>
        </p:nvSpPr>
        <p:spPr>
          <a:xfrm>
            <a:off x="4046626" y="631583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Analysis, By End Use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End Use,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By End Use (US$ Mn)</a:t>
            </a:r>
          </a:p>
        </p:txBody>
      </p:sp>
      <p:graphicFrame>
        <p:nvGraphicFramePr>
          <p:cNvPr id="13" name="Table 12"/>
          <p:cNvGraphicFramePr>
            <a:graphicFrameLocks noGrp="1"/>
          </p:cNvGraphicFramePr>
          <p:nvPr/>
        </p:nvGraphicFramePr>
        <p:xfrm>
          <a:off x="152400" y="1238250"/>
          <a:ext cx="11887202" cy="2219326"/>
        </p:xfrm>
        <a:graphic>
          <a:graphicData uri="http://schemas.openxmlformats.org/drawingml/2006/table">
            <a:tbl>
              <a:tblPr>
                <a:tableStyleId>{5C22544A-7EE6-4342-B048-85BDC9FD1C3A}</a:tableStyleId>
              </a:tblPr>
              <a:tblGrid>
                <a:gridCol w="2384338">
                  <a:extLst>
                    <a:ext uri="{9D8B030D-6E8A-4147-A177-3AD203B41FA5}">
                      <a16:colId xmlns:a16="http://schemas.microsoft.com/office/drawing/2014/main" val="20000"/>
                    </a:ext>
                  </a:extLst>
                </a:gridCol>
                <a:gridCol w="558992">
                  <a:extLst>
                    <a:ext uri="{9D8B030D-6E8A-4147-A177-3AD203B41FA5}">
                      <a16:colId xmlns:a16="http://schemas.microsoft.com/office/drawing/2014/main" val="20001"/>
                    </a:ext>
                  </a:extLst>
                </a:gridCol>
                <a:gridCol w="558992">
                  <a:extLst>
                    <a:ext uri="{9D8B030D-6E8A-4147-A177-3AD203B41FA5}">
                      <a16:colId xmlns:a16="http://schemas.microsoft.com/office/drawing/2014/main" val="20002"/>
                    </a:ext>
                  </a:extLst>
                </a:gridCol>
                <a:gridCol w="558992">
                  <a:extLst>
                    <a:ext uri="{9D8B030D-6E8A-4147-A177-3AD203B41FA5}">
                      <a16:colId xmlns:a16="http://schemas.microsoft.com/office/drawing/2014/main" val="20003"/>
                    </a:ext>
                  </a:extLst>
                </a:gridCol>
                <a:gridCol w="558992">
                  <a:extLst>
                    <a:ext uri="{9D8B030D-6E8A-4147-A177-3AD203B41FA5}">
                      <a16:colId xmlns:a16="http://schemas.microsoft.com/office/drawing/2014/main" val="20004"/>
                    </a:ext>
                  </a:extLst>
                </a:gridCol>
                <a:gridCol w="558992">
                  <a:extLst>
                    <a:ext uri="{9D8B030D-6E8A-4147-A177-3AD203B41FA5}">
                      <a16:colId xmlns:a16="http://schemas.microsoft.com/office/drawing/2014/main" val="20005"/>
                    </a:ext>
                  </a:extLst>
                </a:gridCol>
                <a:gridCol w="558992">
                  <a:extLst>
                    <a:ext uri="{9D8B030D-6E8A-4147-A177-3AD203B41FA5}">
                      <a16:colId xmlns:a16="http://schemas.microsoft.com/office/drawing/2014/main" val="20006"/>
                    </a:ext>
                  </a:extLst>
                </a:gridCol>
                <a:gridCol w="558992">
                  <a:extLst>
                    <a:ext uri="{9D8B030D-6E8A-4147-A177-3AD203B41FA5}">
                      <a16:colId xmlns:a16="http://schemas.microsoft.com/office/drawing/2014/main" val="20007"/>
                    </a:ext>
                  </a:extLst>
                </a:gridCol>
                <a:gridCol w="558992">
                  <a:extLst>
                    <a:ext uri="{9D8B030D-6E8A-4147-A177-3AD203B41FA5}">
                      <a16:colId xmlns:a16="http://schemas.microsoft.com/office/drawing/2014/main" val="20008"/>
                    </a:ext>
                  </a:extLst>
                </a:gridCol>
                <a:gridCol w="558992">
                  <a:extLst>
                    <a:ext uri="{9D8B030D-6E8A-4147-A177-3AD203B41FA5}">
                      <a16:colId xmlns:a16="http://schemas.microsoft.com/office/drawing/2014/main" val="20009"/>
                    </a:ext>
                  </a:extLst>
                </a:gridCol>
                <a:gridCol w="558992">
                  <a:extLst>
                    <a:ext uri="{9D8B030D-6E8A-4147-A177-3AD203B41FA5}">
                      <a16:colId xmlns:a16="http://schemas.microsoft.com/office/drawing/2014/main" val="20010"/>
                    </a:ext>
                  </a:extLst>
                </a:gridCol>
                <a:gridCol w="558992">
                  <a:extLst>
                    <a:ext uri="{9D8B030D-6E8A-4147-A177-3AD203B41FA5}">
                      <a16:colId xmlns:a16="http://schemas.microsoft.com/office/drawing/2014/main" val="20011"/>
                    </a:ext>
                  </a:extLst>
                </a:gridCol>
                <a:gridCol w="558992">
                  <a:extLst>
                    <a:ext uri="{9D8B030D-6E8A-4147-A177-3AD203B41FA5}">
                      <a16:colId xmlns:a16="http://schemas.microsoft.com/office/drawing/2014/main" val="20012"/>
                    </a:ext>
                  </a:extLst>
                </a:gridCol>
                <a:gridCol w="558992">
                  <a:extLst>
                    <a:ext uri="{9D8B030D-6E8A-4147-A177-3AD203B41FA5}">
                      <a16:colId xmlns:a16="http://schemas.microsoft.com/office/drawing/2014/main" val="20013"/>
                    </a:ext>
                  </a:extLst>
                </a:gridCol>
                <a:gridCol w="558992">
                  <a:extLst>
                    <a:ext uri="{9D8B030D-6E8A-4147-A177-3AD203B41FA5}">
                      <a16:colId xmlns:a16="http://schemas.microsoft.com/office/drawing/2014/main" val="20014"/>
                    </a:ext>
                  </a:extLst>
                </a:gridCol>
                <a:gridCol w="558992">
                  <a:extLst>
                    <a:ext uri="{9D8B030D-6E8A-4147-A177-3AD203B41FA5}">
                      <a16:colId xmlns:a16="http://schemas.microsoft.com/office/drawing/2014/main" val="20015"/>
                    </a:ext>
                  </a:extLst>
                </a:gridCol>
                <a:gridCol w="558992">
                  <a:extLst>
                    <a:ext uri="{9D8B030D-6E8A-4147-A177-3AD203B41FA5}">
                      <a16:colId xmlns:a16="http://schemas.microsoft.com/office/drawing/2014/main" val="20016"/>
                    </a:ext>
                  </a:extLst>
                </a:gridCol>
                <a:gridCol w="558992">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650">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650">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650">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650">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650">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650">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650">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r h="24665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8"/>
                  </a:ext>
                </a:extLst>
              </a:tr>
            </a:tbl>
          </a:graphicData>
        </a:graphic>
      </p:graphicFrame>
      <p:sp>
        <p:nvSpPr>
          <p:cNvPr id="14" name="TextBox 13"/>
          <p:cNvSpPr txBox="1"/>
          <p:nvPr/>
        </p:nvSpPr>
        <p:spPr>
          <a:xfrm>
            <a:off x="219075" y="34671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886200"/>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Value Analysis, By End Use</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210050"/>
            <a:ext cx="11639550" cy="23431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01480" y="2204276"/>
            <a:ext cx="366712" cy="533400"/>
          </a:xfrm>
          <a:prstGeom prst="rect">
            <a:avLst/>
          </a:prstGeom>
        </p:spPr>
      </p:pic>
      <p:sp>
        <p:nvSpPr>
          <p:cNvPr id="21" name="TextBox 20"/>
          <p:cNvSpPr txBox="1"/>
          <p:nvPr/>
        </p:nvSpPr>
        <p:spPr>
          <a:xfrm>
            <a:off x="276225" y="4219575"/>
            <a:ext cx="4102273" cy="194310"/>
          </a:xfrm>
          <a:prstGeom prst="rect">
            <a:avLst/>
          </a:prstGeom>
          <a:noFill/>
        </p:spPr>
        <p:txBody>
          <a:bodyPr wrap="none" lIns="0" tIns="0" rIns="0" bIns="0">
            <a:spAutoFit/>
          </a:bodyPr>
          <a:lstStyle/>
          <a:p>
            <a:r>
              <a:rPr sz="1150" b="0">
                <a:solidFill>
                  <a:srgbClr val="2E2E2E"/>
                </a:solidFill>
                <a:latin typeface="Calibri"/>
              </a:rPr>
              <a:t>Glassware, ceramics &amp; home goods segment is projected to register</a:t>
            </a:r>
          </a:p>
        </p:txBody>
      </p:sp>
      <p:pic>
        <p:nvPicPr>
          <p:cNvPr id="22" name="Picture 21" descr="lock.png"/>
          <p:cNvPicPr>
            <a:picLocks noChangeAspect="1"/>
          </p:cNvPicPr>
          <p:nvPr/>
        </p:nvPicPr>
        <p:blipFill>
          <a:blip r:embed="rId4"/>
          <a:stretch>
            <a:fillRect/>
          </a:stretch>
        </p:blipFill>
        <p:spPr>
          <a:xfrm>
            <a:off x="4327652" y="4209351"/>
            <a:ext cx="134549" cy="195707"/>
          </a:xfrm>
          <a:prstGeom prst="rect">
            <a:avLst/>
          </a:prstGeom>
        </p:spPr>
      </p:pic>
      <p:sp>
        <p:nvSpPr>
          <p:cNvPr id="23" name="TextBox 22"/>
          <p:cNvSpPr txBox="1"/>
          <p:nvPr/>
        </p:nvSpPr>
        <p:spPr>
          <a:xfrm>
            <a:off x="4502761" y="4219575"/>
            <a:ext cx="7096583" cy="194310"/>
          </a:xfrm>
          <a:prstGeom prst="rect">
            <a:avLst/>
          </a:prstGeom>
          <a:noFill/>
        </p:spPr>
        <p:txBody>
          <a:bodyPr wrap="none" lIns="0" tIns="0" rIns="0" bIns="0">
            <a:spAutoFit/>
          </a:bodyPr>
          <a:lstStyle/>
          <a:p>
            <a:r>
              <a:rPr sz="1150" b="0">
                <a:solidFill>
                  <a:srgbClr val="2E2E2E"/>
                </a:solidFill>
                <a:latin typeface="Calibri"/>
              </a:rPr>
              <a:t>X higher value than food &amp; beverage segment in 2036. Among corrugated partition by end use, electronics &amp; electrical</a:t>
            </a:r>
          </a:p>
        </p:txBody>
      </p:sp>
      <p:sp>
        <p:nvSpPr>
          <p:cNvPr id="24" name="TextBox 23"/>
          <p:cNvSpPr txBox="1"/>
          <p:nvPr/>
        </p:nvSpPr>
        <p:spPr>
          <a:xfrm>
            <a:off x="276225" y="43948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384611"/>
            <a:ext cx="134549" cy="195707"/>
          </a:xfrm>
          <a:prstGeom prst="rect">
            <a:avLst/>
          </a:prstGeom>
        </p:spPr>
      </p:pic>
      <p:sp>
        <p:nvSpPr>
          <p:cNvPr id="26" name="TextBox 25"/>
          <p:cNvSpPr txBox="1"/>
          <p:nvPr/>
        </p:nvSpPr>
        <p:spPr>
          <a:xfrm>
            <a:off x="3557127" y="439483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622672"/>
            <a:ext cx="7611752" cy="194310"/>
          </a:xfrm>
          <a:prstGeom prst="rect">
            <a:avLst/>
          </a:prstGeom>
          <a:noFill/>
        </p:spPr>
        <p:txBody>
          <a:bodyPr wrap="none" lIns="0" tIns="0" rIns="0" bIns="0">
            <a:spAutoFit/>
          </a:bodyPr>
          <a:lstStyle/>
          <a:p>
            <a:r>
              <a:rPr sz="1150" b="0">
                <a:solidFill>
                  <a:srgbClr val="2E2E2E"/>
                </a:solidFill>
                <a:latin typeface="Calibri"/>
              </a:rPr>
              <a:t>In terms of value share by end use, the glassware, ceramics &amp; home goods segment is expected to dominate the market, losing</a:t>
            </a:r>
          </a:p>
        </p:txBody>
      </p:sp>
      <p:pic>
        <p:nvPicPr>
          <p:cNvPr id="28" name="Picture 27" descr="lock.png"/>
          <p:cNvPicPr>
            <a:picLocks noChangeAspect="1"/>
          </p:cNvPicPr>
          <p:nvPr/>
        </p:nvPicPr>
        <p:blipFill>
          <a:blip r:embed="rId4"/>
          <a:stretch>
            <a:fillRect/>
          </a:stretch>
        </p:blipFill>
        <p:spPr>
          <a:xfrm>
            <a:off x="7837131" y="4612449"/>
            <a:ext cx="134549" cy="195707"/>
          </a:xfrm>
          <a:prstGeom prst="rect">
            <a:avLst/>
          </a:prstGeom>
        </p:spPr>
      </p:pic>
      <p:sp>
        <p:nvSpPr>
          <p:cNvPr id="29" name="TextBox 28"/>
          <p:cNvSpPr txBox="1"/>
          <p:nvPr/>
        </p:nvSpPr>
        <p:spPr>
          <a:xfrm>
            <a:off x="8012240" y="4622672"/>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07383" y="4612449"/>
            <a:ext cx="134549" cy="195707"/>
          </a:xfrm>
          <a:prstGeom prst="rect">
            <a:avLst/>
          </a:prstGeom>
        </p:spPr>
      </p:pic>
      <p:sp>
        <p:nvSpPr>
          <p:cNvPr id="31" name="TextBox 30"/>
          <p:cNvSpPr txBox="1"/>
          <p:nvPr/>
        </p:nvSpPr>
        <p:spPr>
          <a:xfrm>
            <a:off x="9582493" y="4622672"/>
            <a:ext cx="1616856" cy="194310"/>
          </a:xfrm>
          <a:prstGeom prst="rect">
            <a:avLst/>
          </a:prstGeom>
          <a:noFill/>
        </p:spPr>
        <p:txBody>
          <a:bodyPr wrap="none" lIns="0" tIns="0" rIns="0" bIns="0">
            <a:spAutoFit/>
          </a:bodyPr>
          <a:lstStyle/>
          <a:p>
            <a:r>
              <a:rPr sz="1150" b="0">
                <a:solidFill>
                  <a:srgbClr val="2E2E2E"/>
                </a:solidFill>
                <a:latin typeface="Calibri"/>
              </a:rPr>
              <a:t>share by 2036. The others</a:t>
            </a:r>
          </a:p>
        </p:txBody>
      </p:sp>
      <p:sp>
        <p:nvSpPr>
          <p:cNvPr id="32" name="TextBox 31"/>
          <p:cNvSpPr txBox="1"/>
          <p:nvPr/>
        </p:nvSpPr>
        <p:spPr>
          <a:xfrm>
            <a:off x="276225" y="4797932"/>
            <a:ext cx="1725538" cy="194310"/>
          </a:xfrm>
          <a:prstGeom prst="rect">
            <a:avLst/>
          </a:prstGeom>
          <a:noFill/>
        </p:spPr>
        <p:txBody>
          <a:bodyPr wrap="none" lIns="0" tIns="0" r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4787709"/>
            <a:ext cx="134549" cy="195707"/>
          </a:xfrm>
          <a:prstGeom prst="rect">
            <a:avLst/>
          </a:prstGeom>
        </p:spPr>
      </p:pic>
      <p:sp>
        <p:nvSpPr>
          <p:cNvPr id="34" name="TextBox 33"/>
          <p:cNvSpPr txBox="1"/>
          <p:nvPr/>
        </p:nvSpPr>
        <p:spPr>
          <a:xfrm>
            <a:off x="2126026" y="4797932"/>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4787709"/>
            <a:ext cx="134549" cy="195707"/>
          </a:xfrm>
          <a:prstGeom prst="rect">
            <a:avLst/>
          </a:prstGeom>
        </p:spPr>
      </p:pic>
      <p:sp>
        <p:nvSpPr>
          <p:cNvPr id="36" name="TextBox 35"/>
          <p:cNvSpPr txBox="1"/>
          <p:nvPr/>
        </p:nvSpPr>
        <p:spPr>
          <a:xfrm>
            <a:off x="4888640" y="4797932"/>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&amp; Share Shift, By End Use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End Use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Composition, By End Use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419225"/>
            <a:ext cx="2595753" cy="177927"/>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a:endParaRPr/>
          </a:p>
        </p:txBody>
      </p:sp>
      <p:sp>
        <p:nvSpPr>
          <p:cNvPr id="16" name="FMI Legend Chip"/>
          <p:cNvSpPr/>
          <p:nvPr/>
        </p:nvSpPr>
        <p:spPr>
          <a:xfrm>
            <a:off x="4928997" y="1612744"/>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5090922" y="160798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1531781"/>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Personal Care &amp; Cosmetics</a:t>
            </a:r>
          </a:p>
        </p:txBody>
      </p:sp>
      <p:sp>
        <p:nvSpPr>
          <p:cNvPr id="19" name="BPS Value 1"/>
          <p:cNvSpPr txBox="1"/>
          <p:nvPr/>
        </p:nvSpPr>
        <p:spPr>
          <a:xfrm>
            <a:off x="6896100" y="1593694"/>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928997" y="198311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19783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1902149"/>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Pharmaceuticals &amp; Healthcare</a:t>
            </a:r>
          </a:p>
        </p:txBody>
      </p:sp>
      <p:sp>
        <p:nvSpPr>
          <p:cNvPr id="23" name="BPS Value 2"/>
          <p:cNvSpPr txBox="1"/>
          <p:nvPr/>
        </p:nvSpPr>
        <p:spPr>
          <a:xfrm>
            <a:off x="6896100" y="1964061"/>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FMI Legend Chip"/>
          <p:cNvSpPr/>
          <p:nvPr/>
        </p:nvSpPr>
        <p:spPr>
          <a:xfrm>
            <a:off x="4928997" y="257509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rot="10800000">
            <a:off x="5090922" y="25703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5233797" y="2494130"/>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Automotive &amp; Industrial Components</a:t>
            </a:r>
          </a:p>
        </p:txBody>
      </p:sp>
      <p:sp>
        <p:nvSpPr>
          <p:cNvPr id="27" name="BPS Value 3"/>
          <p:cNvSpPr txBox="1"/>
          <p:nvPr/>
        </p:nvSpPr>
        <p:spPr>
          <a:xfrm>
            <a:off x="6896100" y="2556042"/>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8" name="FMI Legend Chip"/>
          <p:cNvSpPr/>
          <p:nvPr/>
        </p:nvSpPr>
        <p:spPr>
          <a:xfrm>
            <a:off x="4928997" y="328567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Isosceles Triangle 28"/>
          <p:cNvSpPr/>
          <p:nvPr/>
        </p:nvSpPr>
        <p:spPr>
          <a:xfrm>
            <a:off x="5090922" y="328090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BPS Name 4"/>
          <p:cNvSpPr txBox="1"/>
          <p:nvPr/>
        </p:nvSpPr>
        <p:spPr>
          <a:xfrm>
            <a:off x="5233797" y="3204708"/>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Electronics &amp; Electrical</a:t>
            </a:r>
          </a:p>
        </p:txBody>
      </p:sp>
      <p:sp>
        <p:nvSpPr>
          <p:cNvPr id="31" name="BPS Value 4"/>
          <p:cNvSpPr txBox="1"/>
          <p:nvPr/>
        </p:nvSpPr>
        <p:spPr>
          <a:xfrm>
            <a:off x="6896100" y="3266620"/>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32" name="FMI Legend Chip"/>
          <p:cNvSpPr/>
          <p:nvPr/>
        </p:nvSpPr>
        <p:spPr>
          <a:xfrm>
            <a:off x="4928997" y="407394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Isosceles Triangle 32"/>
          <p:cNvSpPr/>
          <p:nvPr/>
        </p:nvSpPr>
        <p:spPr>
          <a:xfrm rot="10800000">
            <a:off x="5090922" y="40691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BPS Name 5"/>
          <p:cNvSpPr txBox="1"/>
          <p:nvPr/>
        </p:nvSpPr>
        <p:spPr>
          <a:xfrm>
            <a:off x="5233797" y="3992978"/>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Others</a:t>
            </a:r>
          </a:p>
        </p:txBody>
      </p:sp>
      <p:sp>
        <p:nvSpPr>
          <p:cNvPr id="35" name="BPS Value 5"/>
          <p:cNvSpPr txBox="1"/>
          <p:nvPr/>
        </p:nvSpPr>
        <p:spPr>
          <a:xfrm>
            <a:off x="6896100" y="4054891"/>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36" name="FMI Legend Chip"/>
          <p:cNvSpPr/>
          <p:nvPr/>
        </p:nvSpPr>
        <p:spPr>
          <a:xfrm>
            <a:off x="4928997" y="489765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Isosceles Triangle 36"/>
          <p:cNvSpPr/>
          <p:nvPr/>
        </p:nvSpPr>
        <p:spPr>
          <a:xfrm>
            <a:off x="5090922" y="489289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BPS Name 6"/>
          <p:cNvSpPr txBox="1"/>
          <p:nvPr/>
        </p:nvSpPr>
        <p:spPr>
          <a:xfrm>
            <a:off x="5233797" y="4816690"/>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Food &amp; Beverage</a:t>
            </a:r>
          </a:p>
        </p:txBody>
      </p:sp>
      <p:sp>
        <p:nvSpPr>
          <p:cNvPr id="39" name="BPS Value 6"/>
          <p:cNvSpPr txBox="1"/>
          <p:nvPr/>
        </p:nvSpPr>
        <p:spPr>
          <a:xfrm>
            <a:off x="6896100" y="4878602"/>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40" name="FMI Legend Chip"/>
          <p:cNvSpPr/>
          <p:nvPr/>
        </p:nvSpPr>
        <p:spPr>
          <a:xfrm>
            <a:off x="4928997" y="577980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Isosceles Triangle 40"/>
          <p:cNvSpPr/>
          <p:nvPr/>
        </p:nvSpPr>
        <p:spPr>
          <a:xfrm rot="10800000">
            <a:off x="5090922" y="577504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BPS Name 7"/>
          <p:cNvSpPr txBox="1"/>
          <p:nvPr/>
        </p:nvSpPr>
        <p:spPr>
          <a:xfrm>
            <a:off x="5233797" y="5698846"/>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Glassware, Ceramics &amp; Home Goods</a:t>
            </a:r>
          </a:p>
        </p:txBody>
      </p:sp>
      <p:sp>
        <p:nvSpPr>
          <p:cNvPr id="43" name="BPS Value 7"/>
          <p:cNvSpPr txBox="1"/>
          <p:nvPr/>
        </p:nvSpPr>
        <p:spPr>
          <a:xfrm>
            <a:off x="6896100" y="5760759"/>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Global Read-out, By End Use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8" name="TextBox 4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49" name="Picture 48" descr="lock.png"/>
          <p:cNvPicPr>
            <a:picLocks noChangeAspect="1"/>
          </p:cNvPicPr>
          <p:nvPr/>
        </p:nvPicPr>
        <p:blipFill>
          <a:blip r:embed="rId5"/>
          <a:stretch>
            <a:fillRect/>
          </a:stretch>
        </p:blipFill>
        <p:spPr>
          <a:xfrm>
            <a:off x="2557843" y="3751325"/>
            <a:ext cx="275034" cy="400050"/>
          </a:xfrm>
          <a:prstGeom prst="rect">
            <a:avLst/>
          </a:prstGeom>
        </p:spPr>
      </p:pic>
      <p:sp>
        <p:nvSpPr>
          <p:cNvPr id="50" name="TextBox 49"/>
          <p:cNvSpPr txBox="1"/>
          <p:nvPr/>
        </p:nvSpPr>
        <p:spPr>
          <a:xfrm>
            <a:off x="7829550" y="1400175"/>
            <a:ext cx="3835846" cy="194310"/>
          </a:xfrm>
          <a:prstGeom prst="rect">
            <a:avLst/>
          </a:prstGeom>
          <a:noFill/>
        </p:spPr>
        <p:txBody>
          <a:bodyPr wrap="none" lIns="0" tIns="0" rIns="0" bIns="0">
            <a:spAutoFit/>
          </a:bodyPr>
          <a:lstStyle/>
          <a:p>
            <a:r>
              <a:rPr sz="1150" b="0">
                <a:solidFill>
                  <a:srgbClr val="2E2E2E"/>
                </a:solidFill>
                <a:latin typeface="Calibri"/>
              </a:rPr>
              <a:t>Among corrugated partition by end use, electronics &amp; electrical</a:t>
            </a:r>
          </a:p>
        </p:txBody>
      </p:sp>
      <p:sp>
        <p:nvSpPr>
          <p:cNvPr id="51" name="TextBox 50"/>
          <p:cNvSpPr txBox="1"/>
          <p:nvPr/>
        </p:nvSpPr>
        <p:spPr>
          <a:xfrm>
            <a:off x="7829550" y="15754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52" name="Picture 51" descr="lock.png"/>
          <p:cNvPicPr>
            <a:picLocks noChangeAspect="1"/>
          </p:cNvPicPr>
          <p:nvPr/>
        </p:nvPicPr>
        <p:blipFill>
          <a:blip r:embed="rId5"/>
          <a:stretch>
            <a:fillRect/>
          </a:stretch>
        </p:blipFill>
        <p:spPr>
          <a:xfrm>
            <a:off x="10935343" y="1565211"/>
            <a:ext cx="134549" cy="195707"/>
          </a:xfrm>
          <a:prstGeom prst="rect">
            <a:avLst/>
          </a:prstGeom>
        </p:spPr>
      </p:pic>
      <p:sp>
        <p:nvSpPr>
          <p:cNvPr id="53" name="TextBox 52"/>
          <p:cNvSpPr txBox="1"/>
          <p:nvPr/>
        </p:nvSpPr>
        <p:spPr>
          <a:xfrm>
            <a:off x="11110452" y="157543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54" name="TextBox 53"/>
          <p:cNvSpPr txBox="1"/>
          <p:nvPr/>
        </p:nvSpPr>
        <p:spPr>
          <a:xfrm>
            <a:off x="7829550" y="1750695"/>
            <a:ext cx="4007854" cy="194310"/>
          </a:xfrm>
          <a:prstGeom prst="rect">
            <a:avLst/>
          </a:prstGeom>
          <a:noFill/>
        </p:spPr>
        <p:txBody>
          <a:bodyPr wrap="none" lIns="0" tIns="0" rIns="0" bIns="0">
            <a:spAutoFit/>
          </a:bodyPr>
          <a:lstStyle/>
          <a:p>
            <a:r>
              <a:rPr sz="1150" b="0">
                <a:solidFill>
                  <a:srgbClr val="2E2E2E"/>
                </a:solidFill>
                <a:latin typeface="Calibri"/>
              </a:rPr>
              <a:t>forecast period. In terms of value share by end use, the glassware,</a:t>
            </a:r>
          </a:p>
        </p:txBody>
      </p:sp>
      <p:sp>
        <p:nvSpPr>
          <p:cNvPr id="55" name="TextBox 54"/>
          <p:cNvSpPr txBox="1"/>
          <p:nvPr/>
        </p:nvSpPr>
        <p:spPr>
          <a:xfrm>
            <a:off x="7829550" y="1925955"/>
            <a:ext cx="3745706" cy="194310"/>
          </a:xfrm>
          <a:prstGeom prst="rect">
            <a:avLst/>
          </a:prstGeom>
          <a:noFill/>
        </p:spPr>
        <p:txBody>
          <a:bodyPr wrap="none" lIns="0" tIns="0" rIns="0" bIns="0">
            <a:spAutoFit/>
          </a:bodyPr>
          <a:lstStyle/>
          <a:p>
            <a:r>
              <a:rPr sz="1150" b="0">
                <a:solidFill>
                  <a:srgbClr val="2E2E2E"/>
                </a:solidFill>
                <a:latin typeface="Calibri"/>
              </a:rPr>
              <a:t>ceramics &amp; home goods segment is expected to dominate the</a:t>
            </a:r>
          </a:p>
        </p:txBody>
      </p:sp>
      <p:sp>
        <p:nvSpPr>
          <p:cNvPr id="56" name="TextBox 55"/>
          <p:cNvSpPr txBox="1"/>
          <p:nvPr/>
        </p:nvSpPr>
        <p:spPr>
          <a:xfrm>
            <a:off x="7829550" y="2101215"/>
            <a:ext cx="918554" cy="194310"/>
          </a:xfrm>
          <a:prstGeom prst="rect">
            <a:avLst/>
          </a:prstGeom>
          <a:noFill/>
        </p:spPr>
        <p:txBody>
          <a:bodyPr wrap="none" lIns="0" tIns="0" rIns="0" bIns="0">
            <a:spAutoFit/>
          </a:bodyPr>
          <a:lstStyle/>
          <a:p>
            <a:r>
              <a:rPr sz="1150" b="0">
                <a:solidFill>
                  <a:srgbClr val="2E2E2E"/>
                </a:solidFill>
                <a:latin typeface="Calibri"/>
              </a:rPr>
              <a:t>market, losing</a:t>
            </a:r>
          </a:p>
        </p:txBody>
      </p:sp>
      <p:pic>
        <p:nvPicPr>
          <p:cNvPr id="57" name="Picture 56" descr="lock.png"/>
          <p:cNvPicPr>
            <a:picLocks noChangeAspect="1"/>
          </p:cNvPicPr>
          <p:nvPr/>
        </p:nvPicPr>
        <p:blipFill>
          <a:blip r:embed="rId5"/>
          <a:stretch>
            <a:fillRect/>
          </a:stretch>
        </p:blipFill>
        <p:spPr>
          <a:xfrm>
            <a:off x="8697258" y="2090991"/>
            <a:ext cx="134549" cy="195707"/>
          </a:xfrm>
          <a:prstGeom prst="rect">
            <a:avLst/>
          </a:prstGeom>
        </p:spPr>
      </p:pic>
      <p:sp>
        <p:nvSpPr>
          <p:cNvPr id="58" name="TextBox 57"/>
          <p:cNvSpPr txBox="1"/>
          <p:nvPr/>
        </p:nvSpPr>
        <p:spPr>
          <a:xfrm>
            <a:off x="8872367" y="2101215"/>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59" name="Picture 58" descr="lock.png"/>
          <p:cNvPicPr>
            <a:picLocks noChangeAspect="1"/>
          </p:cNvPicPr>
          <p:nvPr/>
        </p:nvPicPr>
        <p:blipFill>
          <a:blip r:embed="rId5"/>
          <a:stretch>
            <a:fillRect/>
          </a:stretch>
        </p:blipFill>
        <p:spPr>
          <a:xfrm>
            <a:off x="10267511" y="2090991"/>
            <a:ext cx="134549" cy="195707"/>
          </a:xfrm>
          <a:prstGeom prst="rect">
            <a:avLst/>
          </a:prstGeom>
        </p:spPr>
      </p:pic>
      <p:sp>
        <p:nvSpPr>
          <p:cNvPr id="60" name="TextBox 59"/>
          <p:cNvSpPr txBox="1"/>
          <p:nvPr/>
        </p:nvSpPr>
        <p:spPr>
          <a:xfrm>
            <a:off x="10442620" y="2101215"/>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61" name="TextBox 60"/>
          <p:cNvSpPr txBox="1"/>
          <p:nvPr/>
        </p:nvSpPr>
        <p:spPr>
          <a:xfrm>
            <a:off x="7829550" y="2329053"/>
            <a:ext cx="2396170" cy="194310"/>
          </a:xfrm>
          <a:prstGeom prst="rect">
            <a:avLst/>
          </a:prstGeom>
          <a:noFill/>
        </p:spPr>
        <p:txBody>
          <a:bodyPr wrap="none" lIns="0" tIns="0" rIns="0" bIns="0">
            <a:spAutoFit/>
          </a:bodyPr>
          <a:lstStyle/>
          <a:p>
            <a:r>
              <a:rPr sz="1150" b="0">
                <a:solidFill>
                  <a:srgbClr val="2E2E2E"/>
                </a:solidFill>
                <a:latin typeface="Calibri"/>
              </a:rPr>
              <a:t>The others segment is expected to lose</a:t>
            </a:r>
          </a:p>
        </p:txBody>
      </p:sp>
      <p:pic>
        <p:nvPicPr>
          <p:cNvPr id="62" name="Picture 61" descr="lock.png"/>
          <p:cNvPicPr>
            <a:picLocks noChangeAspect="1"/>
          </p:cNvPicPr>
          <p:nvPr/>
        </p:nvPicPr>
        <p:blipFill>
          <a:blip r:embed="rId5"/>
          <a:stretch>
            <a:fillRect/>
          </a:stretch>
        </p:blipFill>
        <p:spPr>
          <a:xfrm>
            <a:off x="10174873" y="2318829"/>
            <a:ext cx="134549" cy="195707"/>
          </a:xfrm>
          <a:prstGeom prst="rect">
            <a:avLst/>
          </a:prstGeom>
        </p:spPr>
      </p:pic>
      <p:sp>
        <p:nvSpPr>
          <p:cNvPr id="63" name="TextBox 62"/>
          <p:cNvSpPr txBox="1"/>
          <p:nvPr/>
        </p:nvSpPr>
        <p:spPr>
          <a:xfrm>
            <a:off x="10349983" y="2329053"/>
            <a:ext cx="1346150" cy="194310"/>
          </a:xfrm>
          <a:prstGeom prst="rect">
            <a:avLst/>
          </a:prstGeom>
          <a:noFill/>
        </p:spPr>
        <p:txBody>
          <a:bodyPr wrap="none" lIns="0" tIns="0" rIns="0" bIns="0">
            <a:spAutoFit/>
          </a:bodyPr>
          <a:lstStyle/>
          <a:p>
            <a:r>
              <a:rPr sz="1150" b="0">
                <a:solidFill>
                  <a:srgbClr val="2E2E2E"/>
                </a:solidFill>
                <a:latin typeface="Calibri"/>
              </a:rPr>
              <a:t>BPS over the forecast</a:t>
            </a:r>
          </a:p>
        </p:txBody>
      </p:sp>
      <p:sp>
        <p:nvSpPr>
          <p:cNvPr id="64" name="TextBox 63"/>
          <p:cNvSpPr txBox="1"/>
          <p:nvPr/>
        </p:nvSpPr>
        <p:spPr>
          <a:xfrm>
            <a:off x="7829550" y="2504313"/>
            <a:ext cx="1335310" cy="194310"/>
          </a:xfrm>
          <a:prstGeom prst="rect">
            <a:avLst/>
          </a:prstGeom>
          <a:noFill/>
        </p:spPr>
        <p:txBody>
          <a:bodyPr wrap="none" lIns="0" tIns="0" rIns="0" bIns="0">
            <a:spAutoFit/>
          </a:bodyPr>
          <a:lstStyle/>
          <a:p>
            <a:r>
              <a:rPr sz="1150" b="0">
                <a:solidFill>
                  <a:srgbClr val="2E2E2E"/>
                </a:solidFill>
                <a:latin typeface="Calibri"/>
              </a:rPr>
              <a:t>period to account for</a:t>
            </a:r>
          </a:p>
        </p:txBody>
      </p:sp>
      <p:pic>
        <p:nvPicPr>
          <p:cNvPr id="65" name="Picture 64" descr="lock.png"/>
          <p:cNvPicPr>
            <a:picLocks noChangeAspect="1"/>
          </p:cNvPicPr>
          <p:nvPr/>
        </p:nvPicPr>
        <p:blipFill>
          <a:blip r:embed="rId5"/>
          <a:stretch>
            <a:fillRect/>
          </a:stretch>
        </p:blipFill>
        <p:spPr>
          <a:xfrm>
            <a:off x="9114014" y="2494089"/>
            <a:ext cx="134549" cy="195707"/>
          </a:xfrm>
          <a:prstGeom prst="rect">
            <a:avLst/>
          </a:prstGeom>
        </p:spPr>
      </p:pic>
      <p:sp>
        <p:nvSpPr>
          <p:cNvPr id="66" name="TextBox 65"/>
          <p:cNvSpPr txBox="1"/>
          <p:nvPr/>
        </p:nvSpPr>
        <p:spPr>
          <a:xfrm>
            <a:off x="9289123" y="250431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67"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Volume, By End Use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End Use,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Growth,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971675"/>
        </p:xfrm>
        <a:graphic>
          <a:graphicData uri="http://schemas.openxmlformats.org/drawingml/2006/table">
            <a:tbl>
              <a:tblPr>
                <a:tableStyleId>{5C22544A-7EE6-4342-B048-85BDC9FD1C3A}</a:tableStyleId>
              </a:tblPr>
              <a:tblGrid>
                <a:gridCol w="2589442">
                  <a:extLst>
                    <a:ext uri="{9D8B030D-6E8A-4147-A177-3AD203B41FA5}">
                      <a16:colId xmlns:a16="http://schemas.microsoft.com/office/drawing/2014/main" val="20000"/>
                    </a:ext>
                  </a:extLst>
                </a:gridCol>
                <a:gridCol w="619851">
                  <a:extLst>
                    <a:ext uri="{9D8B030D-6E8A-4147-A177-3AD203B41FA5}">
                      <a16:colId xmlns:a16="http://schemas.microsoft.com/office/drawing/2014/main" val="20001"/>
                    </a:ext>
                  </a:extLst>
                </a:gridCol>
                <a:gridCol w="619851">
                  <a:extLst>
                    <a:ext uri="{9D8B030D-6E8A-4147-A177-3AD203B41FA5}">
                      <a16:colId xmlns:a16="http://schemas.microsoft.com/office/drawing/2014/main" val="20002"/>
                    </a:ext>
                  </a:extLst>
                </a:gridCol>
                <a:gridCol w="619851">
                  <a:extLst>
                    <a:ext uri="{9D8B030D-6E8A-4147-A177-3AD203B41FA5}">
                      <a16:colId xmlns:a16="http://schemas.microsoft.com/office/drawing/2014/main" val="20003"/>
                    </a:ext>
                  </a:extLst>
                </a:gridCol>
                <a:gridCol w="619851">
                  <a:extLst>
                    <a:ext uri="{9D8B030D-6E8A-4147-A177-3AD203B41FA5}">
                      <a16:colId xmlns:a16="http://schemas.microsoft.com/office/drawing/2014/main" val="20004"/>
                    </a:ext>
                  </a:extLst>
                </a:gridCol>
                <a:gridCol w="619851">
                  <a:extLst>
                    <a:ext uri="{9D8B030D-6E8A-4147-A177-3AD203B41FA5}">
                      <a16:colId xmlns:a16="http://schemas.microsoft.com/office/drawing/2014/main" val="20005"/>
                    </a:ext>
                  </a:extLst>
                </a:gridCol>
                <a:gridCol w="619851">
                  <a:extLst>
                    <a:ext uri="{9D8B030D-6E8A-4147-A177-3AD203B41FA5}">
                      <a16:colId xmlns:a16="http://schemas.microsoft.com/office/drawing/2014/main" val="20006"/>
                    </a:ext>
                  </a:extLst>
                </a:gridCol>
                <a:gridCol w="619851">
                  <a:extLst>
                    <a:ext uri="{9D8B030D-6E8A-4147-A177-3AD203B41FA5}">
                      <a16:colId xmlns:a16="http://schemas.microsoft.com/office/drawing/2014/main" val="20007"/>
                    </a:ext>
                  </a:extLst>
                </a:gridCol>
                <a:gridCol w="619851">
                  <a:extLst>
                    <a:ext uri="{9D8B030D-6E8A-4147-A177-3AD203B41FA5}">
                      <a16:colId xmlns:a16="http://schemas.microsoft.com/office/drawing/2014/main" val="20008"/>
                    </a:ext>
                  </a:extLst>
                </a:gridCol>
                <a:gridCol w="619851">
                  <a:extLst>
                    <a:ext uri="{9D8B030D-6E8A-4147-A177-3AD203B41FA5}">
                      <a16:colId xmlns:a16="http://schemas.microsoft.com/office/drawing/2014/main" val="20009"/>
                    </a:ext>
                  </a:extLst>
                </a:gridCol>
                <a:gridCol w="619851">
                  <a:extLst>
                    <a:ext uri="{9D8B030D-6E8A-4147-A177-3AD203B41FA5}">
                      <a16:colId xmlns:a16="http://schemas.microsoft.com/office/drawing/2014/main" val="20010"/>
                    </a:ext>
                  </a:extLst>
                </a:gridCol>
                <a:gridCol w="619851">
                  <a:extLst>
                    <a:ext uri="{9D8B030D-6E8A-4147-A177-3AD203B41FA5}">
                      <a16:colId xmlns:a16="http://schemas.microsoft.com/office/drawing/2014/main" val="20011"/>
                    </a:ext>
                  </a:extLst>
                </a:gridCol>
                <a:gridCol w="619851">
                  <a:extLst>
                    <a:ext uri="{9D8B030D-6E8A-4147-A177-3AD203B41FA5}">
                      <a16:colId xmlns:a16="http://schemas.microsoft.com/office/drawing/2014/main" val="20012"/>
                    </a:ext>
                  </a:extLst>
                </a:gridCol>
                <a:gridCol w="619851">
                  <a:extLst>
                    <a:ext uri="{9D8B030D-6E8A-4147-A177-3AD203B41FA5}">
                      <a16:colId xmlns:a16="http://schemas.microsoft.com/office/drawing/2014/main" val="20013"/>
                    </a:ext>
                  </a:extLst>
                </a:gridCol>
                <a:gridCol w="619851">
                  <a:extLst>
                    <a:ext uri="{9D8B030D-6E8A-4147-A177-3AD203B41FA5}">
                      <a16:colId xmlns:a16="http://schemas.microsoft.com/office/drawing/2014/main" val="20014"/>
                    </a:ext>
                  </a:extLst>
                </a:gridCol>
                <a:gridCol w="6198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507">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507">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507">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507">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507">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507">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507">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bl>
          </a:graphicData>
        </a:graphic>
      </p:graphicFrame>
      <p:sp>
        <p:nvSpPr>
          <p:cNvPr id="14" name="TextBox 13"/>
          <p:cNvSpPr txBox="1"/>
          <p:nvPr/>
        </p:nvSpPr>
        <p:spPr>
          <a:xfrm>
            <a:off x="219075" y="32194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60997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Heatmap, By End Use (%)  ·  light = lower, dark = higher growth</a:t>
            </a:r>
          </a:p>
        </p:txBody>
      </p:sp>
      <p:sp>
        <p:nvSpPr>
          <p:cNvPr id="17" name="TextBox 16"/>
          <p:cNvSpPr txBox="1"/>
          <p:nvPr/>
        </p:nvSpPr>
        <p:spPr>
          <a:xfrm>
            <a:off x="185737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Food &amp; Beverage</a:t>
            </a:r>
          </a:p>
        </p:txBody>
      </p:sp>
      <p:sp>
        <p:nvSpPr>
          <p:cNvPr id="33" name="Rectangle 32"/>
          <p:cNvSpPr/>
          <p:nvPr/>
        </p:nvSpPr>
        <p:spPr>
          <a:xfrm>
            <a:off x="1857375" y="3981450"/>
            <a:ext cx="643890" cy="37011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981450"/>
            <a:ext cx="643890" cy="37011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981450"/>
            <a:ext cx="643890" cy="37011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981450"/>
            <a:ext cx="643890" cy="37011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981450"/>
            <a:ext cx="643890" cy="370114"/>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351564"/>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Pharmaceuticals &amp; Healthcare</a:t>
            </a:r>
          </a:p>
        </p:txBody>
      </p:sp>
      <p:sp>
        <p:nvSpPr>
          <p:cNvPr id="49" name="Rectangle 48"/>
          <p:cNvSpPr/>
          <p:nvPr/>
        </p:nvSpPr>
        <p:spPr>
          <a:xfrm>
            <a:off x="1857375" y="4351564"/>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351564"/>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351564"/>
            <a:ext cx="643890"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351564"/>
            <a:ext cx="643890" cy="370114"/>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351564"/>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351564"/>
            <a:ext cx="643890" cy="37011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351564"/>
            <a:ext cx="643890"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351564"/>
            <a:ext cx="643890"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351564"/>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351564"/>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351564"/>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4721679"/>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Personal Care &amp; Cosmetics</a:t>
            </a:r>
          </a:p>
        </p:txBody>
      </p:sp>
      <p:sp>
        <p:nvSpPr>
          <p:cNvPr id="65" name="Rectangle 64"/>
          <p:cNvSpPr/>
          <p:nvPr/>
        </p:nvSpPr>
        <p:spPr>
          <a:xfrm>
            <a:off x="1857375" y="4721679"/>
            <a:ext cx="643890" cy="370114"/>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4721679"/>
            <a:ext cx="643890" cy="370114"/>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4721679"/>
            <a:ext cx="643890" cy="37011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4721679"/>
            <a:ext cx="643890" cy="37011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4721679"/>
            <a:ext cx="643890" cy="37011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4721679"/>
            <a:ext cx="643890" cy="37011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4721679"/>
            <a:ext cx="643890" cy="37011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4721679"/>
            <a:ext cx="643890" cy="37011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4721679"/>
            <a:ext cx="643890" cy="37011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4721679"/>
            <a:ext cx="643890" cy="370114"/>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4721679"/>
            <a:ext cx="643890" cy="37011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4721679"/>
            <a:ext cx="643890" cy="370114"/>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4721679"/>
            <a:ext cx="643890" cy="37011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4721679"/>
            <a:ext cx="643890" cy="370114"/>
          </a:xfrm>
          <a:prstGeom prst="rect">
            <a:avLst/>
          </a:prstGeom>
          <a:solidFill>
            <a:srgbClr val="0D61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238125" y="5091793"/>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Electronics &amp; Electrical</a:t>
            </a:r>
          </a:p>
        </p:txBody>
      </p:sp>
      <p:sp>
        <p:nvSpPr>
          <p:cNvPr id="81" name="Rectangle 80"/>
          <p:cNvSpPr/>
          <p:nvPr/>
        </p:nvSpPr>
        <p:spPr>
          <a:xfrm>
            <a:off x="1857375" y="5091793"/>
            <a:ext cx="643890" cy="37011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2501265" y="5091793"/>
            <a:ext cx="643890" cy="37011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3145155" y="5091793"/>
            <a:ext cx="643890" cy="370114"/>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3789045" y="5091793"/>
            <a:ext cx="643890" cy="370114"/>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4432935" y="5091793"/>
            <a:ext cx="643890" cy="370114"/>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5076825" y="5091793"/>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5720715" y="5091793"/>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6364605" y="5091793"/>
            <a:ext cx="643890" cy="37011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7008495" y="5091793"/>
            <a:ext cx="643890" cy="37011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7652385" y="5091793"/>
            <a:ext cx="643890" cy="37011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8296275" y="5091793"/>
            <a:ext cx="643890" cy="37011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8940165" y="5091793"/>
            <a:ext cx="643890" cy="37011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9584055" y="5091793"/>
            <a:ext cx="643890" cy="37011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0227945" y="5091793"/>
            <a:ext cx="643890" cy="37011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0871835" y="5091793"/>
            <a:ext cx="643890" cy="370114"/>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TextBox 95"/>
          <p:cNvSpPr txBox="1"/>
          <p:nvPr/>
        </p:nvSpPr>
        <p:spPr>
          <a:xfrm>
            <a:off x="238125" y="5461907"/>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Automotive &amp; Industrial Components</a:t>
            </a:r>
          </a:p>
        </p:txBody>
      </p:sp>
      <p:sp>
        <p:nvSpPr>
          <p:cNvPr id="97" name="Rectangle 96"/>
          <p:cNvSpPr/>
          <p:nvPr/>
        </p:nvSpPr>
        <p:spPr>
          <a:xfrm>
            <a:off x="1857375" y="5461907"/>
            <a:ext cx="643890" cy="370114"/>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2501265" y="5461907"/>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3145155" y="5461907"/>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3789045" y="5461907"/>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4432935" y="5461907"/>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507682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572071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636460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700849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765238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829627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894016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958405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022794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087183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TextBox 111"/>
          <p:cNvSpPr txBox="1"/>
          <p:nvPr/>
        </p:nvSpPr>
        <p:spPr>
          <a:xfrm>
            <a:off x="238125" y="5832021"/>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Glassware, Ceramics &amp; Home Goods</a:t>
            </a:r>
          </a:p>
        </p:txBody>
      </p:sp>
      <p:sp>
        <p:nvSpPr>
          <p:cNvPr id="113" name="Rectangle 112"/>
          <p:cNvSpPr/>
          <p:nvPr/>
        </p:nvSpPr>
        <p:spPr>
          <a:xfrm>
            <a:off x="1857375" y="5832021"/>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2501265" y="5832021"/>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3145155" y="5832021"/>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3789045" y="5832021"/>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4432935" y="5832021"/>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5076825" y="5832021"/>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5720715" y="5832021"/>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6364605" y="5832021"/>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Rectangle 120"/>
          <p:cNvSpPr/>
          <p:nvPr/>
        </p:nvSpPr>
        <p:spPr>
          <a:xfrm>
            <a:off x="7008495" y="5832021"/>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Rectangle 121"/>
          <p:cNvSpPr/>
          <p:nvPr/>
        </p:nvSpPr>
        <p:spPr>
          <a:xfrm>
            <a:off x="7652385" y="5832021"/>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Rectangle 122"/>
          <p:cNvSpPr/>
          <p:nvPr/>
        </p:nvSpPr>
        <p:spPr>
          <a:xfrm>
            <a:off x="8296275" y="5832021"/>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Rectangle 123"/>
          <p:cNvSpPr/>
          <p:nvPr/>
        </p:nvSpPr>
        <p:spPr>
          <a:xfrm>
            <a:off x="8940165" y="5832021"/>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Rectangle 124"/>
          <p:cNvSpPr/>
          <p:nvPr/>
        </p:nvSpPr>
        <p:spPr>
          <a:xfrm>
            <a:off x="9584055" y="5832021"/>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Rectangle 125"/>
          <p:cNvSpPr/>
          <p:nvPr/>
        </p:nvSpPr>
        <p:spPr>
          <a:xfrm>
            <a:off x="10227945" y="5832021"/>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Rectangle 126"/>
          <p:cNvSpPr/>
          <p:nvPr/>
        </p:nvSpPr>
        <p:spPr>
          <a:xfrm>
            <a:off x="10871835" y="5832021"/>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TextBox 127"/>
          <p:cNvSpPr txBox="1"/>
          <p:nvPr/>
        </p:nvSpPr>
        <p:spPr>
          <a:xfrm>
            <a:off x="238125" y="6202136"/>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Others</a:t>
            </a:r>
          </a:p>
        </p:txBody>
      </p:sp>
      <p:sp>
        <p:nvSpPr>
          <p:cNvPr id="129" name="Rectangle 128"/>
          <p:cNvSpPr/>
          <p:nvPr/>
        </p:nvSpPr>
        <p:spPr>
          <a:xfrm>
            <a:off x="1857375" y="6202136"/>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129"/>
          <p:cNvSpPr/>
          <p:nvPr/>
        </p:nvSpPr>
        <p:spPr>
          <a:xfrm>
            <a:off x="2501265" y="6202136"/>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Rectangle 130"/>
          <p:cNvSpPr/>
          <p:nvPr/>
        </p:nvSpPr>
        <p:spPr>
          <a:xfrm>
            <a:off x="3145155" y="6202136"/>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Rectangle 131"/>
          <p:cNvSpPr/>
          <p:nvPr/>
        </p:nvSpPr>
        <p:spPr>
          <a:xfrm>
            <a:off x="378904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Rectangle 132"/>
          <p:cNvSpPr/>
          <p:nvPr/>
        </p:nvSpPr>
        <p:spPr>
          <a:xfrm>
            <a:off x="443293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Rectangle 133"/>
          <p:cNvSpPr/>
          <p:nvPr/>
        </p:nvSpPr>
        <p:spPr>
          <a:xfrm>
            <a:off x="5076825" y="6202136"/>
            <a:ext cx="643890"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Rectangle 134"/>
          <p:cNvSpPr/>
          <p:nvPr/>
        </p:nvSpPr>
        <p:spPr>
          <a:xfrm>
            <a:off x="5720715" y="6202136"/>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Rectangle 135"/>
          <p:cNvSpPr/>
          <p:nvPr/>
        </p:nvSpPr>
        <p:spPr>
          <a:xfrm>
            <a:off x="6364605" y="6202136"/>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Rectangle 136"/>
          <p:cNvSpPr/>
          <p:nvPr/>
        </p:nvSpPr>
        <p:spPr>
          <a:xfrm>
            <a:off x="7008495" y="6202136"/>
            <a:ext cx="643890"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Rectangle 137"/>
          <p:cNvSpPr/>
          <p:nvPr/>
        </p:nvSpPr>
        <p:spPr>
          <a:xfrm>
            <a:off x="7652385" y="6202136"/>
            <a:ext cx="643890"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9" name="Rectangle 138"/>
          <p:cNvSpPr/>
          <p:nvPr/>
        </p:nvSpPr>
        <p:spPr>
          <a:xfrm>
            <a:off x="8296275" y="6202136"/>
            <a:ext cx="643890" cy="37011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Rectangle 139"/>
          <p:cNvSpPr/>
          <p:nvPr/>
        </p:nvSpPr>
        <p:spPr>
          <a:xfrm>
            <a:off x="8940165" y="6202136"/>
            <a:ext cx="643890" cy="37011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Rectangle 140"/>
          <p:cNvSpPr/>
          <p:nvPr/>
        </p:nvSpPr>
        <p:spPr>
          <a:xfrm>
            <a:off x="9584055" y="6202136"/>
            <a:ext cx="643890" cy="370114"/>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2" name="Rectangle 141"/>
          <p:cNvSpPr/>
          <p:nvPr/>
        </p:nvSpPr>
        <p:spPr>
          <a:xfrm>
            <a:off x="1022794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3" name="Rectangle 142"/>
          <p:cNvSpPr/>
          <p:nvPr/>
        </p:nvSpPr>
        <p:spPr>
          <a:xfrm>
            <a:off x="10871835" y="6202136"/>
            <a:ext cx="643890" cy="37011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5" name="TextBox 184"/>
          <p:cNvSpPr txBox="1"/>
          <p:nvPr/>
        </p:nvSpPr>
        <p:spPr>
          <a:xfrm>
            <a:off x="11687175" y="39528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204034"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Value, By End Use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End Use,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Growth,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971675"/>
        </p:xfrm>
        <a:graphic>
          <a:graphicData uri="http://schemas.openxmlformats.org/drawingml/2006/table">
            <a:tbl>
              <a:tblPr>
                <a:tableStyleId>{5C22544A-7EE6-4342-B048-85BDC9FD1C3A}</a:tableStyleId>
              </a:tblPr>
              <a:tblGrid>
                <a:gridCol w="2589442">
                  <a:extLst>
                    <a:ext uri="{9D8B030D-6E8A-4147-A177-3AD203B41FA5}">
                      <a16:colId xmlns:a16="http://schemas.microsoft.com/office/drawing/2014/main" val="20000"/>
                    </a:ext>
                  </a:extLst>
                </a:gridCol>
                <a:gridCol w="619851">
                  <a:extLst>
                    <a:ext uri="{9D8B030D-6E8A-4147-A177-3AD203B41FA5}">
                      <a16:colId xmlns:a16="http://schemas.microsoft.com/office/drawing/2014/main" val="20001"/>
                    </a:ext>
                  </a:extLst>
                </a:gridCol>
                <a:gridCol w="619851">
                  <a:extLst>
                    <a:ext uri="{9D8B030D-6E8A-4147-A177-3AD203B41FA5}">
                      <a16:colId xmlns:a16="http://schemas.microsoft.com/office/drawing/2014/main" val="20002"/>
                    </a:ext>
                  </a:extLst>
                </a:gridCol>
                <a:gridCol w="619851">
                  <a:extLst>
                    <a:ext uri="{9D8B030D-6E8A-4147-A177-3AD203B41FA5}">
                      <a16:colId xmlns:a16="http://schemas.microsoft.com/office/drawing/2014/main" val="20003"/>
                    </a:ext>
                  </a:extLst>
                </a:gridCol>
                <a:gridCol w="619851">
                  <a:extLst>
                    <a:ext uri="{9D8B030D-6E8A-4147-A177-3AD203B41FA5}">
                      <a16:colId xmlns:a16="http://schemas.microsoft.com/office/drawing/2014/main" val="20004"/>
                    </a:ext>
                  </a:extLst>
                </a:gridCol>
                <a:gridCol w="619851">
                  <a:extLst>
                    <a:ext uri="{9D8B030D-6E8A-4147-A177-3AD203B41FA5}">
                      <a16:colId xmlns:a16="http://schemas.microsoft.com/office/drawing/2014/main" val="20005"/>
                    </a:ext>
                  </a:extLst>
                </a:gridCol>
                <a:gridCol w="619851">
                  <a:extLst>
                    <a:ext uri="{9D8B030D-6E8A-4147-A177-3AD203B41FA5}">
                      <a16:colId xmlns:a16="http://schemas.microsoft.com/office/drawing/2014/main" val="20006"/>
                    </a:ext>
                  </a:extLst>
                </a:gridCol>
                <a:gridCol w="619851">
                  <a:extLst>
                    <a:ext uri="{9D8B030D-6E8A-4147-A177-3AD203B41FA5}">
                      <a16:colId xmlns:a16="http://schemas.microsoft.com/office/drawing/2014/main" val="20007"/>
                    </a:ext>
                  </a:extLst>
                </a:gridCol>
                <a:gridCol w="619851">
                  <a:extLst>
                    <a:ext uri="{9D8B030D-6E8A-4147-A177-3AD203B41FA5}">
                      <a16:colId xmlns:a16="http://schemas.microsoft.com/office/drawing/2014/main" val="20008"/>
                    </a:ext>
                  </a:extLst>
                </a:gridCol>
                <a:gridCol w="619851">
                  <a:extLst>
                    <a:ext uri="{9D8B030D-6E8A-4147-A177-3AD203B41FA5}">
                      <a16:colId xmlns:a16="http://schemas.microsoft.com/office/drawing/2014/main" val="20009"/>
                    </a:ext>
                  </a:extLst>
                </a:gridCol>
                <a:gridCol w="619851">
                  <a:extLst>
                    <a:ext uri="{9D8B030D-6E8A-4147-A177-3AD203B41FA5}">
                      <a16:colId xmlns:a16="http://schemas.microsoft.com/office/drawing/2014/main" val="20010"/>
                    </a:ext>
                  </a:extLst>
                </a:gridCol>
                <a:gridCol w="619851">
                  <a:extLst>
                    <a:ext uri="{9D8B030D-6E8A-4147-A177-3AD203B41FA5}">
                      <a16:colId xmlns:a16="http://schemas.microsoft.com/office/drawing/2014/main" val="20011"/>
                    </a:ext>
                  </a:extLst>
                </a:gridCol>
                <a:gridCol w="619851">
                  <a:extLst>
                    <a:ext uri="{9D8B030D-6E8A-4147-A177-3AD203B41FA5}">
                      <a16:colId xmlns:a16="http://schemas.microsoft.com/office/drawing/2014/main" val="20012"/>
                    </a:ext>
                  </a:extLst>
                </a:gridCol>
                <a:gridCol w="619851">
                  <a:extLst>
                    <a:ext uri="{9D8B030D-6E8A-4147-A177-3AD203B41FA5}">
                      <a16:colId xmlns:a16="http://schemas.microsoft.com/office/drawing/2014/main" val="20013"/>
                    </a:ext>
                  </a:extLst>
                </a:gridCol>
                <a:gridCol w="619851">
                  <a:extLst>
                    <a:ext uri="{9D8B030D-6E8A-4147-A177-3AD203B41FA5}">
                      <a16:colId xmlns:a16="http://schemas.microsoft.com/office/drawing/2014/main" val="20014"/>
                    </a:ext>
                  </a:extLst>
                </a:gridCol>
                <a:gridCol w="6198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507">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507">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507">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507">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507">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507">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507">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bl>
          </a:graphicData>
        </a:graphic>
      </p:graphicFrame>
      <p:sp>
        <p:nvSpPr>
          <p:cNvPr id="14" name="TextBox 13"/>
          <p:cNvSpPr txBox="1"/>
          <p:nvPr/>
        </p:nvSpPr>
        <p:spPr>
          <a:xfrm>
            <a:off x="219075" y="32194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60997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Heatmap, By End Use (%)  ·  light = lower, dark = higher growth</a:t>
            </a:r>
          </a:p>
        </p:txBody>
      </p:sp>
      <p:sp>
        <p:nvSpPr>
          <p:cNvPr id="17" name="TextBox 16"/>
          <p:cNvSpPr txBox="1"/>
          <p:nvPr/>
        </p:nvSpPr>
        <p:spPr>
          <a:xfrm>
            <a:off x="185737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Food &amp; Beverage</a:t>
            </a:r>
          </a:p>
        </p:txBody>
      </p:sp>
      <p:sp>
        <p:nvSpPr>
          <p:cNvPr id="33" name="Rectangle 32"/>
          <p:cNvSpPr/>
          <p:nvPr/>
        </p:nvSpPr>
        <p:spPr>
          <a:xfrm>
            <a:off x="1857375" y="3981450"/>
            <a:ext cx="643890" cy="37011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981450"/>
            <a:ext cx="643890" cy="370114"/>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981450"/>
            <a:ext cx="643890" cy="370114"/>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981450"/>
            <a:ext cx="643890" cy="37011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981450"/>
            <a:ext cx="643890" cy="370114"/>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351564"/>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Pharmaceuticals &amp; Healthcare</a:t>
            </a:r>
          </a:p>
        </p:txBody>
      </p:sp>
      <p:sp>
        <p:nvSpPr>
          <p:cNvPr id="49" name="Rectangle 48"/>
          <p:cNvSpPr/>
          <p:nvPr/>
        </p:nvSpPr>
        <p:spPr>
          <a:xfrm>
            <a:off x="1857375" y="4351564"/>
            <a:ext cx="643890" cy="37011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351564"/>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351564"/>
            <a:ext cx="643890" cy="37011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351564"/>
            <a:ext cx="643890"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351564"/>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351564"/>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351564"/>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351564"/>
            <a:ext cx="643890"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351564"/>
            <a:ext cx="643890"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351564"/>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351564"/>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351564"/>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4721679"/>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Personal Care &amp; Cosmetics</a:t>
            </a:r>
          </a:p>
        </p:txBody>
      </p:sp>
      <p:sp>
        <p:nvSpPr>
          <p:cNvPr id="65" name="Rectangle 64"/>
          <p:cNvSpPr/>
          <p:nvPr/>
        </p:nvSpPr>
        <p:spPr>
          <a:xfrm>
            <a:off x="1857375" y="4721679"/>
            <a:ext cx="643890" cy="370114"/>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4721679"/>
            <a:ext cx="643890" cy="370114"/>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4721679"/>
            <a:ext cx="643890" cy="370114"/>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4721679"/>
            <a:ext cx="643890" cy="370114"/>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4721679"/>
            <a:ext cx="643890" cy="37011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4721679"/>
            <a:ext cx="643890" cy="37011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4721679"/>
            <a:ext cx="643890" cy="37011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4721679"/>
            <a:ext cx="643890" cy="37011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4721679"/>
            <a:ext cx="643890" cy="37011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4721679"/>
            <a:ext cx="643890" cy="37011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4721679"/>
            <a:ext cx="643890" cy="370114"/>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4721679"/>
            <a:ext cx="643890" cy="37011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4721679"/>
            <a:ext cx="643890" cy="370114"/>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4721679"/>
            <a:ext cx="643890" cy="37011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238125" y="5091793"/>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Electronics &amp; Electrical</a:t>
            </a:r>
          </a:p>
        </p:txBody>
      </p:sp>
      <p:sp>
        <p:nvSpPr>
          <p:cNvPr id="81" name="Rectangle 80"/>
          <p:cNvSpPr/>
          <p:nvPr/>
        </p:nvSpPr>
        <p:spPr>
          <a:xfrm>
            <a:off x="1857375" y="5091793"/>
            <a:ext cx="643890" cy="37011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2501265" y="5091793"/>
            <a:ext cx="643890" cy="370114"/>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3145155" y="5091793"/>
            <a:ext cx="643890" cy="37011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3789045" y="5091793"/>
            <a:ext cx="643890" cy="370114"/>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4432935" y="5091793"/>
            <a:ext cx="643890" cy="370114"/>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5076825" y="5091793"/>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5720715" y="5091793"/>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6364605" y="5091793"/>
            <a:ext cx="643890" cy="370114"/>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7008495" y="5091793"/>
            <a:ext cx="643890" cy="37011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7652385" y="5091793"/>
            <a:ext cx="643890" cy="37011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8296275" y="5091793"/>
            <a:ext cx="643890" cy="370114"/>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8940165" y="5091793"/>
            <a:ext cx="643890" cy="370114"/>
          </a:xfrm>
          <a:prstGeom prst="rect">
            <a:avLst/>
          </a:prstGeom>
          <a:solidFill>
            <a:srgbClr val="0C4A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9584055" y="5091793"/>
            <a:ext cx="643890" cy="37011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0227945" y="5091793"/>
            <a:ext cx="643890" cy="370114"/>
          </a:xfrm>
          <a:prstGeom prst="rect">
            <a:avLst/>
          </a:prstGeom>
          <a:solidFill>
            <a:srgbClr val="0D50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0871835" y="5091793"/>
            <a:ext cx="643890" cy="370114"/>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TextBox 95"/>
          <p:cNvSpPr txBox="1"/>
          <p:nvPr/>
        </p:nvSpPr>
        <p:spPr>
          <a:xfrm>
            <a:off x="238125" y="5461907"/>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Automotive &amp; Industrial Components</a:t>
            </a:r>
          </a:p>
        </p:txBody>
      </p:sp>
      <p:sp>
        <p:nvSpPr>
          <p:cNvPr id="97" name="Rectangle 96"/>
          <p:cNvSpPr/>
          <p:nvPr/>
        </p:nvSpPr>
        <p:spPr>
          <a:xfrm>
            <a:off x="185737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250126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314515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378904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4432935" y="5461907"/>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507682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572071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636460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7008495" y="5461907"/>
            <a:ext cx="643890" cy="37011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765238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829627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894016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958405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022794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087183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TextBox 111"/>
          <p:cNvSpPr txBox="1"/>
          <p:nvPr/>
        </p:nvSpPr>
        <p:spPr>
          <a:xfrm>
            <a:off x="238125" y="5832021"/>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Glassware, Ceramics &amp; Home Goods</a:t>
            </a:r>
          </a:p>
        </p:txBody>
      </p:sp>
      <p:sp>
        <p:nvSpPr>
          <p:cNvPr id="113" name="Rectangle 112"/>
          <p:cNvSpPr/>
          <p:nvPr/>
        </p:nvSpPr>
        <p:spPr>
          <a:xfrm>
            <a:off x="1857375" y="5832021"/>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2501265" y="5832021"/>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3145155" y="5832021"/>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3789045" y="5832021"/>
            <a:ext cx="643890" cy="37011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4432935" y="5832021"/>
            <a:ext cx="643890" cy="37011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5076825" y="5832021"/>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5720715" y="5832021"/>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6364605" y="5832021"/>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Rectangle 120"/>
          <p:cNvSpPr/>
          <p:nvPr/>
        </p:nvSpPr>
        <p:spPr>
          <a:xfrm>
            <a:off x="7008495" y="5832021"/>
            <a:ext cx="643890" cy="370114"/>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Rectangle 121"/>
          <p:cNvSpPr/>
          <p:nvPr/>
        </p:nvSpPr>
        <p:spPr>
          <a:xfrm>
            <a:off x="7652385" y="5832021"/>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Rectangle 122"/>
          <p:cNvSpPr/>
          <p:nvPr/>
        </p:nvSpPr>
        <p:spPr>
          <a:xfrm>
            <a:off x="8296275" y="5832021"/>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Rectangle 123"/>
          <p:cNvSpPr/>
          <p:nvPr/>
        </p:nvSpPr>
        <p:spPr>
          <a:xfrm>
            <a:off x="8940165" y="5832021"/>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Rectangle 124"/>
          <p:cNvSpPr/>
          <p:nvPr/>
        </p:nvSpPr>
        <p:spPr>
          <a:xfrm>
            <a:off x="9584055" y="5832021"/>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Rectangle 125"/>
          <p:cNvSpPr/>
          <p:nvPr/>
        </p:nvSpPr>
        <p:spPr>
          <a:xfrm>
            <a:off x="10227945" y="5832021"/>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Rectangle 126"/>
          <p:cNvSpPr/>
          <p:nvPr/>
        </p:nvSpPr>
        <p:spPr>
          <a:xfrm>
            <a:off x="10871835" y="5832021"/>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TextBox 127"/>
          <p:cNvSpPr txBox="1"/>
          <p:nvPr/>
        </p:nvSpPr>
        <p:spPr>
          <a:xfrm>
            <a:off x="238125" y="6202136"/>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Others</a:t>
            </a:r>
          </a:p>
        </p:txBody>
      </p:sp>
      <p:sp>
        <p:nvSpPr>
          <p:cNvPr id="129" name="Rectangle 128"/>
          <p:cNvSpPr/>
          <p:nvPr/>
        </p:nvSpPr>
        <p:spPr>
          <a:xfrm>
            <a:off x="1857375" y="6202136"/>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129"/>
          <p:cNvSpPr/>
          <p:nvPr/>
        </p:nvSpPr>
        <p:spPr>
          <a:xfrm>
            <a:off x="2501265" y="6202136"/>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Rectangle 130"/>
          <p:cNvSpPr/>
          <p:nvPr/>
        </p:nvSpPr>
        <p:spPr>
          <a:xfrm>
            <a:off x="3145155" y="6202136"/>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Rectangle 131"/>
          <p:cNvSpPr/>
          <p:nvPr/>
        </p:nvSpPr>
        <p:spPr>
          <a:xfrm>
            <a:off x="3789045" y="6202136"/>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Rectangle 132"/>
          <p:cNvSpPr/>
          <p:nvPr/>
        </p:nvSpPr>
        <p:spPr>
          <a:xfrm>
            <a:off x="443293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Rectangle 133"/>
          <p:cNvSpPr/>
          <p:nvPr/>
        </p:nvSpPr>
        <p:spPr>
          <a:xfrm>
            <a:off x="5076825" y="6202136"/>
            <a:ext cx="643890" cy="370114"/>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Rectangle 134"/>
          <p:cNvSpPr/>
          <p:nvPr/>
        </p:nvSpPr>
        <p:spPr>
          <a:xfrm>
            <a:off x="5720715" y="6202136"/>
            <a:ext cx="643890" cy="37011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Rectangle 135"/>
          <p:cNvSpPr/>
          <p:nvPr/>
        </p:nvSpPr>
        <p:spPr>
          <a:xfrm>
            <a:off x="6364605" y="6202136"/>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Rectangle 136"/>
          <p:cNvSpPr/>
          <p:nvPr/>
        </p:nvSpPr>
        <p:spPr>
          <a:xfrm>
            <a:off x="7008495" y="6202136"/>
            <a:ext cx="643890"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Rectangle 137"/>
          <p:cNvSpPr/>
          <p:nvPr/>
        </p:nvSpPr>
        <p:spPr>
          <a:xfrm>
            <a:off x="7652385" y="6202136"/>
            <a:ext cx="643890"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9" name="Rectangle 138"/>
          <p:cNvSpPr/>
          <p:nvPr/>
        </p:nvSpPr>
        <p:spPr>
          <a:xfrm>
            <a:off x="8296275" y="6202136"/>
            <a:ext cx="643890" cy="370114"/>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Rectangle 139"/>
          <p:cNvSpPr/>
          <p:nvPr/>
        </p:nvSpPr>
        <p:spPr>
          <a:xfrm>
            <a:off x="8940165" y="6202136"/>
            <a:ext cx="643890" cy="370114"/>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Rectangle 140"/>
          <p:cNvSpPr/>
          <p:nvPr/>
        </p:nvSpPr>
        <p:spPr>
          <a:xfrm>
            <a:off x="9584055" y="6202136"/>
            <a:ext cx="643890"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2" name="Rectangle 141"/>
          <p:cNvSpPr/>
          <p:nvPr/>
        </p:nvSpPr>
        <p:spPr>
          <a:xfrm>
            <a:off x="1022794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3" name="Rectangle 142"/>
          <p:cNvSpPr/>
          <p:nvPr/>
        </p:nvSpPr>
        <p:spPr>
          <a:xfrm>
            <a:off x="10871835" y="6202136"/>
            <a:ext cx="643890" cy="370114"/>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5" name="TextBox 184"/>
          <p:cNvSpPr txBox="1"/>
          <p:nvPr/>
        </p:nvSpPr>
        <p:spPr>
          <a:xfrm>
            <a:off x="11687175" y="39528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204034"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7.7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Sales Channel</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Sales Channel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Sales Channel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2 sub-segments of Sales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Sales Channel segment categorizes the market by sales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Direct</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6962775"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Indirect</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457200" y="4219912"/>
            <a:ext cx="2971800" cy="2117429"/>
          </a:xfrm>
          <a:prstGeom prst="rect">
            <a:avLst/>
          </a:prstGeom>
          <a:noFill/>
        </p:spPr>
        <p:txBody>
          <a:bodyPr wrap="square" lIns="28575" tIns="9525" rIns="28575" bIns="9525">
            <a:spAutoFit/>
          </a:bodyPr>
          <a:lstStyle/>
          <a:p>
            <a:pPr algn="l">
              <a:lnSpc>
                <a:spcPct val="105000"/>
              </a:lnSpc>
              <a:spcBef>
                <a:spcPts val="0"/>
              </a:spcBef>
              <a:spcAft>
                <a:spcPts val="300"/>
              </a:spcAft>
            </a:pPr>
            <a:endParaRPr/>
          </a:p>
          <a:p>
            <a:pPr algn="l">
              <a:lnSpc>
                <a:spcPct val="105000"/>
              </a:lnSpc>
              <a:spcBef>
                <a:spcPts val="0"/>
              </a:spcBef>
              <a:spcAft>
                <a:spcPts val="300"/>
              </a:spcAft>
            </a:pPr>
            <a:endParaRP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Channel split shows how demand is distributed across sales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0" name="Picture 49" descr="2_142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404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7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05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1_785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4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41414" cy="179984"/>
          </a:xfrm>
          <a:prstGeom prst="rect">
            <a:avLst/>
          </a:prstGeom>
          <a:noFill/>
        </p:spPr>
        <p:txBody>
          <a:bodyPr wrap="none" lIns="0" tIns="0" rIns="0" bIns="0">
            <a:spAutoFit/>
          </a:bodyPr>
          <a:lstStyle/>
          <a:p>
            <a:r>
              <a:rPr sz="1055" b="0">
                <a:solidFill>
                  <a:srgbClr val="2E2E2E"/>
                </a:solidFill>
                <a:latin typeface="Calibri"/>
              </a:rPr>
              <a:t>▪ ¶ Among corrugated partition by sales channel,</a:t>
            </a:r>
          </a:p>
        </p:txBody>
      </p:sp>
      <p:sp>
        <p:nvSpPr>
          <p:cNvPr id="59" name="TextBox 58"/>
          <p:cNvSpPr txBox="1"/>
          <p:nvPr/>
        </p:nvSpPr>
        <p:spPr>
          <a:xfrm>
            <a:off x="485775" y="4390371"/>
            <a:ext cx="2659427" cy="179984"/>
          </a:xfrm>
          <a:prstGeom prst="rect">
            <a:avLst/>
          </a:prstGeom>
          <a:noFill/>
        </p:spPr>
        <p:txBody>
          <a:bodyPr wrap="none" lIns="0" tIns="0" rIns="0" bIns="0">
            <a:spAutoFit/>
          </a:bodyPr>
          <a:lstStyle/>
          <a:p>
            <a:r>
              <a:rPr sz="1055" b="0">
                <a:solidFill>
                  <a:srgbClr val="2E2E2E"/>
                </a:solidFill>
                <a:latin typeface="Calibri"/>
              </a:rPr>
              <a:t>indirect (distributors and packaging merchants)</a:t>
            </a:r>
          </a:p>
        </p:txBody>
      </p:sp>
      <p:sp>
        <p:nvSpPr>
          <p:cNvPr id="60" name="TextBox 59"/>
          <p:cNvSpPr txBox="1"/>
          <p:nvPr/>
        </p:nvSpPr>
        <p:spPr>
          <a:xfrm>
            <a:off x="485775" y="4551305"/>
            <a:ext cx="2904846" cy="179984"/>
          </a:xfrm>
          <a:prstGeom prst="rect">
            <a:avLst/>
          </a:prstGeom>
          <a:noFill/>
        </p:spPr>
        <p:txBody>
          <a:bodyPr wrap="none" lIns="0" tIns="0" rIns="0" bIns="0">
            <a:spAutoFit/>
          </a:bodyPr>
          <a:lstStyle/>
          <a:p>
            <a:r>
              <a:rPr sz="1055" b="0">
                <a:solidFill>
                  <a:srgbClr val="2E2E2E"/>
                </a:solidFill>
                <a:latin typeface="Calibri"/>
              </a:rPr>
              <a:t>segment is expected to witness the highest CAGR of</a:t>
            </a:r>
          </a:p>
        </p:txBody>
      </p:sp>
      <p:pic>
        <p:nvPicPr>
          <p:cNvPr id="61" name="Picture 60" descr="lock.png"/>
          <p:cNvPicPr>
            <a:picLocks noChangeAspect="1"/>
          </p:cNvPicPr>
          <p:nvPr/>
        </p:nvPicPr>
        <p:blipFill>
          <a:blip r:embed="rId10"/>
          <a:stretch>
            <a:fillRect/>
          </a:stretch>
        </p:blipFill>
        <p:spPr>
          <a:xfrm>
            <a:off x="472846" y="4702852"/>
            <a:ext cx="123551" cy="179710"/>
          </a:xfrm>
          <a:prstGeom prst="rect">
            <a:avLst/>
          </a:prstGeom>
        </p:spPr>
      </p:pic>
      <p:sp>
        <p:nvSpPr>
          <p:cNvPr id="62" name="TextBox 61"/>
          <p:cNvSpPr txBox="1"/>
          <p:nvPr/>
        </p:nvSpPr>
        <p:spPr>
          <a:xfrm>
            <a:off x="633642" y="4712240"/>
            <a:ext cx="2707886" cy="179984"/>
          </a:xfrm>
          <a:prstGeom prst="rect">
            <a:avLst/>
          </a:prstGeom>
          <a:noFill/>
        </p:spPr>
        <p:txBody>
          <a:bodyPr wrap="none" lIns="0" tIns="0" rIns="0" bIns="0">
            <a:spAutoFit/>
          </a:bodyPr>
          <a:lstStyle/>
          <a:p>
            <a:r>
              <a:rPr sz="1055" b="0">
                <a:solidFill>
                  <a:srgbClr val="2E2E2E"/>
                </a:solidFill>
                <a:latin typeface="Calibri"/>
              </a:rPr>
              <a:t>over the forecast period. In terms of value share</a:t>
            </a:r>
          </a:p>
        </p:txBody>
      </p:sp>
      <p:sp>
        <p:nvSpPr>
          <p:cNvPr id="63" name="TextBox 62"/>
          <p:cNvSpPr txBox="1"/>
          <p:nvPr/>
        </p:nvSpPr>
        <p:spPr>
          <a:xfrm>
            <a:off x="485775" y="4873174"/>
            <a:ext cx="2914650" cy="179984"/>
          </a:xfrm>
          <a:prstGeom prst="rect">
            <a:avLst/>
          </a:prstGeom>
          <a:noFill/>
        </p:spPr>
        <p:txBody>
          <a:bodyPr wrap="none" lIns="0" tIns="0" rIns="0" bIns="0">
            <a:spAutoFit/>
          </a:bodyPr>
          <a:lstStyle/>
          <a:p>
            <a:r>
              <a:rPr sz="1055" b="0">
                <a:solidFill>
                  <a:srgbClr val="2E2E2E"/>
                </a:solidFill>
                <a:latin typeface="Calibri"/>
              </a:rPr>
              <a:t>by sales channel, the direct (to brand owners/oems)</a:t>
            </a:r>
          </a:p>
        </p:txBody>
      </p:sp>
      <p:sp>
        <p:nvSpPr>
          <p:cNvPr id="64" name="TextBox 63"/>
          <p:cNvSpPr txBox="1"/>
          <p:nvPr/>
        </p:nvSpPr>
        <p:spPr>
          <a:xfrm>
            <a:off x="485775" y="5034109"/>
            <a:ext cx="2912197" cy="179984"/>
          </a:xfrm>
          <a:prstGeom prst="rect">
            <a:avLst/>
          </a:prstGeom>
          <a:noFill/>
        </p:spPr>
        <p:txBody>
          <a:bodyPr wrap="none" lIns="0" tIns="0" rIns="0" bIns="0">
            <a:spAutoFit/>
          </a:bodyPr>
          <a:lstStyle/>
          <a:p>
            <a:r>
              <a:rPr sz="1055" b="0">
                <a:solidFill>
                  <a:srgbClr val="2E2E2E"/>
                </a:solidFill>
                <a:latin typeface="Calibri"/>
              </a:rPr>
              <a:t>segment is expected to dominate the market, losing</a:t>
            </a:r>
          </a:p>
        </p:txBody>
      </p:sp>
      <p:pic>
        <p:nvPicPr>
          <p:cNvPr id="65" name="Picture 64" descr="lock.png"/>
          <p:cNvPicPr>
            <a:picLocks noChangeAspect="1"/>
          </p:cNvPicPr>
          <p:nvPr/>
        </p:nvPicPr>
        <p:blipFill>
          <a:blip r:embed="rId10"/>
          <a:stretch>
            <a:fillRect/>
          </a:stretch>
        </p:blipFill>
        <p:spPr>
          <a:xfrm>
            <a:off x="472846" y="5185655"/>
            <a:ext cx="123551" cy="179710"/>
          </a:xfrm>
          <a:prstGeom prst="rect">
            <a:avLst/>
          </a:prstGeom>
        </p:spPr>
      </p:pic>
      <p:sp>
        <p:nvSpPr>
          <p:cNvPr id="66" name="TextBox 65"/>
          <p:cNvSpPr txBox="1"/>
          <p:nvPr/>
        </p:nvSpPr>
        <p:spPr>
          <a:xfrm>
            <a:off x="633642" y="5195043"/>
            <a:ext cx="1334023" cy="179984"/>
          </a:xfrm>
          <a:prstGeom prst="rect">
            <a:avLst/>
          </a:prstGeom>
          <a:noFill/>
        </p:spPr>
        <p:txBody>
          <a:bodyPr wrap="none" lIns="0" tIns="0" rIns="0" bIns="0">
            <a:spAutoFit/>
          </a:bodyPr>
          <a:lstStyle/>
          <a:p>
            <a:r>
              <a:rPr sz="1055" b="0">
                <a:solidFill>
                  <a:srgbClr val="2E2E2E"/>
                </a:solidFill>
                <a:latin typeface="Calibri"/>
              </a:rPr>
              <a:t>BPS and accounting for</a:t>
            </a:r>
          </a:p>
        </p:txBody>
      </p:sp>
      <p:pic>
        <p:nvPicPr>
          <p:cNvPr id="67" name="Picture 66" descr="lock.png"/>
          <p:cNvPicPr>
            <a:picLocks noChangeAspect="1"/>
          </p:cNvPicPr>
          <p:nvPr/>
        </p:nvPicPr>
        <p:blipFill>
          <a:blip r:embed="rId10"/>
          <a:stretch>
            <a:fillRect/>
          </a:stretch>
        </p:blipFill>
        <p:spPr>
          <a:xfrm>
            <a:off x="1914747" y="5185655"/>
            <a:ext cx="123551" cy="179710"/>
          </a:xfrm>
          <a:prstGeom prst="rect">
            <a:avLst/>
          </a:prstGeom>
        </p:spPr>
      </p:pic>
      <p:sp>
        <p:nvSpPr>
          <p:cNvPr id="68" name="TextBox 67"/>
          <p:cNvSpPr txBox="1"/>
          <p:nvPr/>
        </p:nvSpPr>
        <p:spPr>
          <a:xfrm>
            <a:off x="2075543" y="5195043"/>
            <a:ext cx="875109" cy="179984"/>
          </a:xfrm>
          <a:prstGeom prst="rect">
            <a:avLst/>
          </a:prstGeom>
          <a:noFill/>
        </p:spPr>
        <p:txBody>
          <a:bodyPr wrap="none" lIns="0" tIns="0" rIns="0" bIns="0">
            <a:spAutoFit/>
          </a:bodyPr>
          <a:lstStyle/>
          <a:p>
            <a:r>
              <a:rPr sz="1055" b="0">
                <a:solidFill>
                  <a:srgbClr val="2E2E2E"/>
                </a:solidFill>
                <a:latin typeface="Calibri"/>
              </a:rPr>
              <a:t>share by 2036.</a:t>
            </a:r>
          </a:p>
        </p:txBody>
      </p:sp>
      <p:sp>
        <p:nvSpPr>
          <p:cNvPr id="69" name="TextBox 68"/>
          <p:cNvSpPr txBox="1"/>
          <p:nvPr/>
        </p:nvSpPr>
        <p:spPr>
          <a:xfrm>
            <a:off x="485775" y="5404258"/>
            <a:ext cx="2570368" cy="179984"/>
          </a:xfrm>
          <a:prstGeom prst="rect">
            <a:avLst/>
          </a:prstGeom>
          <a:noFill/>
        </p:spPr>
        <p:txBody>
          <a:bodyPr wrap="none" lIns="0" tIns="0" rIns="0" bIns="0">
            <a:spAutoFit/>
          </a:bodyPr>
          <a:lstStyle/>
          <a:p>
            <a:r>
              <a:rPr sz="1055" b="0">
                <a:solidFill>
                  <a:srgbClr val="2E2E2E"/>
                </a:solidFill>
                <a:latin typeface="Calibri"/>
              </a:rPr>
              <a:t>▪ ¶ Direct (to brand owners/oems) segment is</a:t>
            </a:r>
          </a:p>
        </p:txBody>
      </p:sp>
      <p:sp>
        <p:nvSpPr>
          <p:cNvPr id="70" name="TextBox 69"/>
          <p:cNvSpPr txBox="1"/>
          <p:nvPr/>
        </p:nvSpPr>
        <p:spPr>
          <a:xfrm>
            <a:off x="485775" y="5565192"/>
            <a:ext cx="1197816" cy="179984"/>
          </a:xfrm>
          <a:prstGeom prst="rect">
            <a:avLst/>
          </a:prstGeom>
          <a:noFill/>
        </p:spPr>
        <p:txBody>
          <a:bodyPr wrap="none" lIns="0" tIns="0" rIns="0" bIns="0">
            <a:spAutoFit/>
          </a:bodyPr>
          <a:lstStyle/>
          <a:p>
            <a:r>
              <a:rPr sz="1055" b="0">
                <a:solidFill>
                  <a:srgbClr val="2E2E2E"/>
                </a:solidFill>
                <a:latin typeface="Calibri"/>
              </a:rPr>
              <a:t>projected to register</a:t>
            </a:r>
          </a:p>
        </p:txBody>
      </p:sp>
      <p:pic>
        <p:nvPicPr>
          <p:cNvPr id="71" name="Picture 70" descr="lock.png"/>
          <p:cNvPicPr>
            <a:picLocks noChangeAspect="1"/>
          </p:cNvPicPr>
          <p:nvPr/>
        </p:nvPicPr>
        <p:blipFill>
          <a:blip r:embed="rId10"/>
          <a:stretch>
            <a:fillRect/>
          </a:stretch>
        </p:blipFill>
        <p:spPr>
          <a:xfrm>
            <a:off x="1630672" y="5555804"/>
            <a:ext cx="123551" cy="179710"/>
          </a:xfrm>
          <a:prstGeom prst="rect">
            <a:avLst/>
          </a:prstGeom>
        </p:spPr>
      </p:pic>
      <p:sp>
        <p:nvSpPr>
          <p:cNvPr id="72" name="TextBox 71"/>
          <p:cNvSpPr txBox="1"/>
          <p:nvPr/>
        </p:nvSpPr>
        <p:spPr>
          <a:xfrm>
            <a:off x="1791468" y="5565192"/>
            <a:ext cx="1577363" cy="179984"/>
          </a:xfrm>
          <a:prstGeom prst="rect">
            <a:avLst/>
          </a:prstGeom>
          <a:noFill/>
        </p:spPr>
        <p:txBody>
          <a:bodyPr wrap="none" lIns="0" tIns="0" rIns="0" bIns="0">
            <a:spAutoFit/>
          </a:bodyPr>
          <a:lstStyle/>
          <a:p>
            <a:r>
              <a:rPr sz="1055" b="0">
                <a:solidFill>
                  <a:srgbClr val="2E2E2E"/>
                </a:solidFill>
                <a:latin typeface="Calibri"/>
              </a:rPr>
              <a:t>X higher value than indirect</a:t>
            </a:r>
          </a:p>
        </p:txBody>
      </p:sp>
      <p:sp>
        <p:nvSpPr>
          <p:cNvPr id="73" name="TextBox 72"/>
          <p:cNvSpPr txBox="1"/>
          <p:nvPr/>
        </p:nvSpPr>
        <p:spPr>
          <a:xfrm>
            <a:off x="485775" y="5726126"/>
            <a:ext cx="2844617" cy="179984"/>
          </a:xfrm>
          <a:prstGeom prst="rect">
            <a:avLst/>
          </a:prstGeom>
          <a:noFill/>
        </p:spPr>
        <p:txBody>
          <a:bodyPr wrap="none" lIns="0" tIns="0" rIns="0" bIns="0">
            <a:spAutoFit/>
          </a:bodyPr>
          <a:lstStyle/>
          <a:p>
            <a:r>
              <a:rPr sz="1055" b="0">
                <a:solidFill>
                  <a:srgbClr val="2E2E2E"/>
                </a:solidFill>
                <a:latin typeface="Calibri"/>
              </a:rPr>
              <a:t>(distributors and packaging merchants) segment in</a:t>
            </a:r>
          </a:p>
        </p:txBody>
      </p:sp>
      <p:sp>
        <p:nvSpPr>
          <p:cNvPr id="74" name="TextBox 73"/>
          <p:cNvSpPr txBox="1"/>
          <p:nvPr/>
        </p:nvSpPr>
        <p:spPr>
          <a:xfrm>
            <a:off x="485775" y="5887061"/>
            <a:ext cx="382404" cy="179984"/>
          </a:xfrm>
          <a:prstGeom prst="rect">
            <a:avLst/>
          </a:prstGeom>
          <a:noFill/>
        </p:spPr>
        <p:txBody>
          <a:bodyPr wrap="none" lIns="0" tIns="0" rIns="0" bIns="0">
            <a:spAutoFit/>
          </a:bodyPr>
          <a:lstStyle/>
          <a:p>
            <a:r>
              <a:rPr sz="1055" b="0">
                <a:solidFill>
                  <a:srgbClr val="2E2E2E"/>
                </a:solidFill>
                <a:latin typeface="Calibri"/>
              </a:rPr>
              <a:t>2036.</a:t>
            </a:r>
          </a:p>
        </p:txBody>
      </p:sp>
      <p:sp>
        <p:nvSpPr>
          <p:cNvPr id="75" name="TextBox 74"/>
          <p:cNvSpPr txBox="1"/>
          <p:nvPr/>
        </p:nvSpPr>
        <p:spPr>
          <a:xfrm>
            <a:off x="3838575" y="4229437"/>
            <a:ext cx="2016993" cy="186689"/>
          </a:xfrm>
          <a:prstGeom prst="rect">
            <a:avLst/>
          </a:prstGeom>
          <a:noFill/>
        </p:spPr>
        <p:txBody>
          <a:bodyPr wrap="none" lIns="0" tIns="0" rIns="0" bIns="0">
            <a:spAutoFit/>
          </a:bodyPr>
          <a:lstStyle/>
          <a:p>
            <a:r>
              <a:rPr sz="1100" b="0">
                <a:solidFill>
                  <a:srgbClr val="2E2E2E"/>
                </a:solidFill>
                <a:latin typeface="Calibri"/>
              </a:rPr>
              <a:t>● Direct (to brand owners/OEMs):</a:t>
            </a:r>
          </a:p>
        </p:txBody>
      </p:sp>
      <p:pic>
        <p:nvPicPr>
          <p:cNvPr id="76" name="Picture 75" descr="lock.png"/>
          <p:cNvPicPr>
            <a:picLocks noChangeAspect="1"/>
          </p:cNvPicPr>
          <p:nvPr/>
        </p:nvPicPr>
        <p:blipFill>
          <a:blip r:embed="rId10"/>
          <a:stretch>
            <a:fillRect/>
          </a:stretch>
        </p:blipFill>
        <p:spPr>
          <a:xfrm>
            <a:off x="5803619" y="4219658"/>
            <a:ext cx="128699" cy="187198"/>
          </a:xfrm>
          <a:prstGeom prst="rect">
            <a:avLst/>
          </a:prstGeom>
        </p:spPr>
      </p:pic>
      <p:sp>
        <p:nvSpPr>
          <p:cNvPr id="77" name="TextBox 76"/>
          <p:cNvSpPr txBox="1"/>
          <p:nvPr/>
        </p:nvSpPr>
        <p:spPr>
          <a:xfrm>
            <a:off x="5971115"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78" name="Picture 77" descr="lock.png"/>
          <p:cNvPicPr>
            <a:picLocks noChangeAspect="1"/>
          </p:cNvPicPr>
          <p:nvPr/>
        </p:nvPicPr>
        <p:blipFill>
          <a:blip r:embed="rId10"/>
          <a:stretch>
            <a:fillRect/>
          </a:stretch>
        </p:blipFill>
        <p:spPr>
          <a:xfrm>
            <a:off x="6830565" y="4219658"/>
            <a:ext cx="128699" cy="187198"/>
          </a:xfrm>
          <a:prstGeom prst="rect">
            <a:avLst/>
          </a:prstGeom>
        </p:spPr>
      </p:pic>
      <p:sp>
        <p:nvSpPr>
          <p:cNvPr id="79" name="TextBox 78"/>
          <p:cNvSpPr txBox="1"/>
          <p:nvPr/>
        </p:nvSpPr>
        <p:spPr>
          <a:xfrm>
            <a:off x="6998061" y="4229437"/>
            <a:ext cx="723659" cy="186689"/>
          </a:xfrm>
          <a:prstGeom prst="rect">
            <a:avLst/>
          </a:prstGeom>
          <a:noFill/>
        </p:spPr>
        <p:txBody>
          <a:bodyPr wrap="none" lIns="0" tIns="0" rIns="0" bIns="0">
            <a:spAutoFit/>
          </a:bodyPr>
          <a:lstStyle/>
          <a:p>
            <a:r>
              <a:rPr sz="1100" b="0">
                <a:solidFill>
                  <a:srgbClr val="2E2E2E"/>
                </a:solidFill>
                <a:latin typeface="Calibri"/>
              </a:rPr>
              <a:t>CAGR leads</a:t>
            </a:r>
          </a:p>
        </p:txBody>
      </p:sp>
      <p:sp>
        <p:nvSpPr>
          <p:cNvPr id="80" name="TextBox 79"/>
          <p:cNvSpPr txBox="1"/>
          <p:nvPr/>
        </p:nvSpPr>
        <p:spPr>
          <a:xfrm>
            <a:off x="3838575" y="4397077"/>
            <a:ext cx="824358" cy="186689"/>
          </a:xfrm>
          <a:prstGeom prst="rect">
            <a:avLst/>
          </a:prstGeom>
          <a:noFill/>
        </p:spPr>
        <p:txBody>
          <a:bodyPr wrap="none" lIns="0" tIns="0" rIns="0" bIns="0">
            <a:spAutoFit/>
          </a:bodyPr>
          <a:lstStyle/>
          <a:p>
            <a:r>
              <a:rPr sz="1100" b="0">
                <a:solidFill>
                  <a:srgbClr val="2E2E2E"/>
                </a:solidFill>
                <a:latin typeface="Calibri"/>
              </a:rPr>
              <a:t>the segment.</a:t>
            </a:r>
          </a:p>
        </p:txBody>
      </p:sp>
      <p:sp>
        <p:nvSpPr>
          <p:cNvPr id="81" name="TextBox 80"/>
          <p:cNvSpPr txBox="1"/>
          <p:nvPr/>
        </p:nvSpPr>
        <p:spPr>
          <a:xfrm>
            <a:off x="3838575" y="4615009"/>
            <a:ext cx="2985343" cy="186689"/>
          </a:xfrm>
          <a:prstGeom prst="rect">
            <a:avLst/>
          </a:prstGeom>
          <a:noFill/>
        </p:spPr>
        <p:txBody>
          <a:bodyPr wrap="none" lIns="0" tIns="0" rIns="0" bIns="0">
            <a:spAutoFit/>
          </a:bodyPr>
          <a:lstStyle/>
          <a:p>
            <a:r>
              <a:rPr sz="1100" b="1">
                <a:solidFill>
                  <a:srgbClr val="0E72AE"/>
                </a:solidFill>
                <a:latin typeface="Calibri"/>
              </a:rPr>
              <a:t>● Indirect (distributors and packaging merchants):</a:t>
            </a:r>
          </a:p>
        </p:txBody>
      </p:sp>
      <p:pic>
        <p:nvPicPr>
          <p:cNvPr id="82" name="Picture 81" descr="lock.png"/>
          <p:cNvPicPr>
            <a:picLocks noChangeAspect="1"/>
          </p:cNvPicPr>
          <p:nvPr/>
        </p:nvPicPr>
        <p:blipFill>
          <a:blip r:embed="rId10"/>
          <a:stretch>
            <a:fillRect/>
          </a:stretch>
        </p:blipFill>
        <p:spPr>
          <a:xfrm>
            <a:off x="6771969" y="4605230"/>
            <a:ext cx="128699" cy="187198"/>
          </a:xfrm>
          <a:prstGeom prst="rect">
            <a:avLst/>
          </a:prstGeom>
        </p:spPr>
      </p:pic>
      <p:sp>
        <p:nvSpPr>
          <p:cNvPr id="83" name="TextBox 82"/>
          <p:cNvSpPr txBox="1"/>
          <p:nvPr/>
        </p:nvSpPr>
        <p:spPr>
          <a:xfrm>
            <a:off x="6939465" y="4615009"/>
            <a:ext cx="926405" cy="186689"/>
          </a:xfrm>
          <a:prstGeom prst="rect">
            <a:avLst/>
          </a:prstGeom>
          <a:noFill/>
        </p:spPr>
        <p:txBody>
          <a:bodyPr wrap="none" lIns="0" tIns="0" rIns="0" bIns="0">
            <a:spAutoFit/>
          </a:bodyPr>
          <a:lstStyle/>
          <a:p>
            <a:r>
              <a:rPr sz="1100" b="1">
                <a:solidFill>
                  <a:srgbClr val="0E72AE"/>
                </a:solidFill>
                <a:latin typeface="Calibri"/>
              </a:rPr>
              <a:t>of 2026 value ·</a:t>
            </a:r>
          </a:p>
        </p:txBody>
      </p:sp>
      <p:pic>
        <p:nvPicPr>
          <p:cNvPr id="84" name="Picture 83" descr="lock.png"/>
          <p:cNvPicPr>
            <a:picLocks noChangeAspect="1"/>
          </p:cNvPicPr>
          <p:nvPr/>
        </p:nvPicPr>
        <p:blipFill>
          <a:blip r:embed="rId10"/>
          <a:stretch>
            <a:fillRect/>
          </a:stretch>
        </p:blipFill>
        <p:spPr>
          <a:xfrm>
            <a:off x="3825107" y="4772870"/>
            <a:ext cx="128699" cy="187198"/>
          </a:xfrm>
          <a:prstGeom prst="rect">
            <a:avLst/>
          </a:prstGeom>
        </p:spPr>
      </p:pic>
      <p:sp>
        <p:nvSpPr>
          <p:cNvPr id="85" name="TextBox 84"/>
          <p:cNvSpPr txBox="1"/>
          <p:nvPr/>
        </p:nvSpPr>
        <p:spPr>
          <a:xfrm>
            <a:off x="3992603" y="4782649"/>
            <a:ext cx="1245889" cy="186689"/>
          </a:xfrm>
          <a:prstGeom prst="rect">
            <a:avLst/>
          </a:prstGeom>
          <a:noFill/>
        </p:spPr>
        <p:txBody>
          <a:bodyPr wrap="none" lIns="0" tIns="0" rIns="0" bIns="0">
            <a:spAutoFit/>
          </a:bodyPr>
          <a:lstStyle/>
          <a:p>
            <a:r>
              <a:rPr sz="1100" b="1">
                <a:solidFill>
                  <a:srgbClr val="0E72AE"/>
                </a:solidFill>
                <a:latin typeface="Calibri"/>
              </a:rPr>
              <a:t>CAGR grows fastest.</a:t>
            </a:r>
          </a:p>
        </p:txBody>
      </p:sp>
      <p:sp>
        <p:nvSpPr>
          <p:cNvPr id="86" name="TextBox 85"/>
          <p:cNvSpPr txBox="1"/>
          <p:nvPr/>
        </p:nvSpPr>
        <p:spPr>
          <a:xfrm>
            <a:off x="8524875" y="5842641"/>
            <a:ext cx="3162300" cy="194310"/>
          </a:xfrm>
          <a:prstGeom prst="rect">
            <a:avLst/>
          </a:prstGeom>
          <a:noFill/>
        </p:spPr>
        <p:txBody>
          <a:bodyPr wrap="none" lIns="0" tIns="0" rIns="0" bIns="0">
            <a:spAutoFit/>
          </a:bodyPr>
          <a:lstStyle/>
          <a:p>
            <a:r>
              <a:rPr sz="1150" b="1">
                <a:solidFill>
                  <a:srgbClr val="0B2E4A"/>
                </a:solidFill>
                <a:latin typeface="Calibri"/>
              </a:rPr>
              <a:t>The Sales Channel segment is projected to grow at a</a:t>
            </a:r>
          </a:p>
        </p:txBody>
      </p:sp>
      <p:sp>
        <p:nvSpPr>
          <p:cNvPr id="87" name="TextBox 86"/>
          <p:cNvSpPr txBox="1"/>
          <p:nvPr/>
        </p:nvSpPr>
        <p:spPr>
          <a:xfrm>
            <a:off x="8524875" y="6017901"/>
            <a:ext cx="574797" cy="194310"/>
          </a:xfrm>
          <a:prstGeom prst="rect">
            <a:avLst/>
          </a:prstGeom>
          <a:noFill/>
        </p:spPr>
        <p:txBody>
          <a:bodyPr wrap="none" lIns="0" tIns="0" rIns="0" bIns="0">
            <a:spAutoFit/>
          </a:bodyPr>
          <a:lstStyle/>
          <a:p>
            <a:r>
              <a:rPr sz="1150" b="1">
                <a:solidFill>
                  <a:srgbClr val="0B2E4A"/>
                </a:solidFill>
                <a:latin typeface="Calibri"/>
              </a:rPr>
              <a:t>CAGR of</a:t>
            </a:r>
          </a:p>
        </p:txBody>
      </p:sp>
      <p:pic>
        <p:nvPicPr>
          <p:cNvPr id="88" name="Picture 87" descr="lock.png"/>
          <p:cNvPicPr>
            <a:picLocks noChangeAspect="1"/>
          </p:cNvPicPr>
          <p:nvPr/>
        </p:nvPicPr>
        <p:blipFill>
          <a:blip r:embed="rId10"/>
          <a:stretch>
            <a:fillRect/>
          </a:stretch>
        </p:blipFill>
        <p:spPr>
          <a:xfrm>
            <a:off x="9048826" y="6007677"/>
            <a:ext cx="134549" cy="195707"/>
          </a:xfrm>
          <a:prstGeom prst="rect">
            <a:avLst/>
          </a:prstGeom>
        </p:spPr>
      </p:pic>
      <p:sp>
        <p:nvSpPr>
          <p:cNvPr id="89" name="TextBox 88"/>
          <p:cNvSpPr txBox="1"/>
          <p:nvPr/>
        </p:nvSpPr>
        <p:spPr>
          <a:xfrm>
            <a:off x="9223935"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Structure &amp; Attractiveness, By Sales Channel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Sales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Sales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Sales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588353" cy="186689"/>
          </a:xfrm>
          <a:prstGeom prst="rect">
            <a:avLst/>
          </a:prstGeom>
          <a:noFill/>
        </p:spPr>
        <p:txBody>
          <a:bodyPr wrap="none" lIns="0" tIns="0" rIns="0" bIns="0">
            <a:spAutoFit/>
          </a:bodyPr>
          <a:lstStyle/>
          <a:p>
            <a:r>
              <a:rPr sz="1100" b="0">
                <a:solidFill>
                  <a:srgbClr val="2E2E2E"/>
                </a:solidFill>
                <a:latin typeface="Calibri"/>
              </a:rPr>
              <a:t>Direct (to brand owners/oems) followed by indirect (distributors and packaging merchants) are expected to be the two most attractive sales channel segments in the global corrugated partition market in</a:t>
            </a:r>
          </a:p>
        </p:txBody>
      </p:sp>
      <p:sp>
        <p:nvSpPr>
          <p:cNvPr id="21" name="TextBox 20"/>
          <p:cNvSpPr txBox="1"/>
          <p:nvPr/>
        </p:nvSpPr>
        <p:spPr>
          <a:xfrm>
            <a:off x="257175" y="5945505"/>
            <a:ext cx="8477282" cy="186689"/>
          </a:xfrm>
          <a:prstGeom prst="rect">
            <a:avLst/>
          </a:prstGeom>
          <a:noFill/>
        </p:spPr>
        <p:txBody>
          <a:bodyPr wrap="none" lIns="0" tIns="0" rIns="0" bIns="0">
            <a:spAutoFit/>
          </a:bodyPr>
          <a:lstStyle/>
          <a:p>
            <a:r>
              <a:rPr sz="1100" b="0">
                <a:solidFill>
                  <a:srgbClr val="2E2E2E"/>
                </a:solidFill>
                <a:latin typeface="Calibri"/>
              </a:rPr>
              <a:t>terms of value over the forecast period. Direct (to brand owners/OEMs) and indirect (distributors and packaging merchants) exhibit a CAGR index of</a:t>
            </a:r>
          </a:p>
        </p:txBody>
      </p:sp>
      <p:pic>
        <p:nvPicPr>
          <p:cNvPr id="22" name="Picture 21" descr="lock.png"/>
          <p:cNvPicPr>
            <a:picLocks noChangeAspect="1"/>
          </p:cNvPicPr>
          <p:nvPr/>
        </p:nvPicPr>
        <p:blipFill>
          <a:blip r:embed="rId6"/>
          <a:stretch>
            <a:fillRect/>
          </a:stretch>
        </p:blipFill>
        <p:spPr>
          <a:xfrm>
            <a:off x="8682509" y="5935726"/>
            <a:ext cx="128699" cy="187198"/>
          </a:xfrm>
          <a:prstGeom prst="rect">
            <a:avLst/>
          </a:prstGeom>
        </p:spPr>
      </p:pic>
      <p:sp>
        <p:nvSpPr>
          <p:cNvPr id="23" name="TextBox 22"/>
          <p:cNvSpPr txBox="1"/>
          <p:nvPr/>
        </p:nvSpPr>
        <p:spPr>
          <a:xfrm>
            <a:off x="8850004"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9087899" y="5935726"/>
            <a:ext cx="128699" cy="187198"/>
          </a:xfrm>
          <a:prstGeom prst="rect">
            <a:avLst/>
          </a:prstGeom>
        </p:spPr>
      </p:pic>
      <p:sp>
        <p:nvSpPr>
          <p:cNvPr id="25" name="TextBox 24"/>
          <p:cNvSpPr txBox="1"/>
          <p:nvPr/>
        </p:nvSpPr>
        <p:spPr>
          <a:xfrm>
            <a:off x="9255395"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0864368" y="5935726"/>
            <a:ext cx="128699" cy="187198"/>
          </a:xfrm>
          <a:prstGeom prst="rect">
            <a:avLst/>
          </a:prstGeom>
        </p:spPr>
      </p:pic>
      <p:sp>
        <p:nvSpPr>
          <p:cNvPr id="27" name="TextBox 26"/>
          <p:cNvSpPr txBox="1"/>
          <p:nvPr/>
        </p:nvSpPr>
        <p:spPr>
          <a:xfrm>
            <a:off x="11031864"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1269758" y="5935726"/>
            <a:ext cx="128699" cy="187198"/>
          </a:xfrm>
          <a:prstGeom prst="rect">
            <a:avLst/>
          </a:prstGeom>
        </p:spPr>
      </p:pic>
      <p:sp>
        <p:nvSpPr>
          <p:cNvPr id="29" name="TextBox 28"/>
          <p:cNvSpPr txBox="1"/>
          <p:nvPr/>
        </p:nvSpPr>
        <p:spPr>
          <a:xfrm>
            <a:off x="257175" y="611314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811579" y="6103366"/>
            <a:ext cx="128699" cy="187198"/>
          </a:xfrm>
          <a:prstGeom prst="rect">
            <a:avLst/>
          </a:prstGeom>
        </p:spPr>
      </p:pic>
      <p:sp>
        <p:nvSpPr>
          <p:cNvPr id="31" name="TextBox 30"/>
          <p:cNvSpPr txBox="1"/>
          <p:nvPr/>
        </p:nvSpPr>
        <p:spPr>
          <a:xfrm>
            <a:off x="2979074" y="6113145"/>
            <a:ext cx="4443717" cy="186689"/>
          </a:xfrm>
          <a:prstGeom prst="rect">
            <a:avLst/>
          </a:prstGeom>
          <a:noFill/>
        </p:spPr>
        <p:txBody>
          <a:bodyPr wrap="none" lIns="0" tIns="0" rIns="0" bIns="0">
            <a:spAutoFit/>
          </a:bodyPr>
          <a:lstStyle/>
          <a:p>
            <a:r>
              <a:rPr sz="1100" b="0">
                <a:solidFill>
                  <a:srgbClr val="2E2E2E"/>
                </a:solidFill>
                <a:latin typeface="Calibri"/>
              </a:rPr>
              <a:t>. Bubbles right of the CAGR-Index line grow faster than the segment average.</a:t>
            </a:r>
          </a:p>
        </p:txBody>
      </p:sp>
      <p:sp>
        <p:nvSpPr>
          <p:cNvPr id="32"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Analysis, By Sales Channel</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Sales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Direct (to brand owners/OEMs)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Incremental $ Opportunity (US$ Mn), 2026-2036, By Indirect (distributors and packaging merchants)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xmlns:r="http://schemas.openxmlformats.org/officeDocument/2006/relationships" r:id="rId5"/>
          </a:graphicData>
        </a:graphic>
      </p:graphicFrame>
      <p:sp>
        <p:nvSpPr>
          <p:cNvPr id="17" name="TextBox 1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Volume Analysis, By Sales Channel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419350"/>
          </a:xfrm>
          <a:prstGeom prst="roundRect">
            <a:avLst>
              <a:gd name="adj" fmla="val 31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By Sales Channel (MT)</a:t>
            </a:r>
          </a:p>
        </p:txBody>
      </p:sp>
      <p:graphicFrame>
        <p:nvGraphicFramePr>
          <p:cNvPr id="13" name="Table 12"/>
          <p:cNvGraphicFramePr>
            <a:graphicFrameLocks noGrp="1"/>
          </p:cNvGraphicFramePr>
          <p:nvPr/>
        </p:nvGraphicFramePr>
        <p:xfrm>
          <a:off x="152400" y="1238250"/>
          <a:ext cx="11887200" cy="1952625"/>
        </p:xfrm>
        <a:graphic>
          <a:graphicData uri="http://schemas.openxmlformats.org/drawingml/2006/table">
            <a:tbl>
              <a:tblPr>
                <a:tableStyleId>{5C22544A-7EE6-4342-B048-85BDC9FD1C3A}</a:tableStyleId>
              </a:tblPr>
              <a:tblGrid>
                <a:gridCol w="649304">
                  <a:extLst>
                    <a:ext uri="{9D8B030D-6E8A-4147-A177-3AD203B41FA5}">
                      <a16:colId xmlns:a16="http://schemas.microsoft.com/office/drawing/2014/main" val="20000"/>
                    </a:ext>
                  </a:extLst>
                </a:gridCol>
                <a:gridCol w="674370">
                  <a:extLst>
                    <a:ext uri="{9D8B030D-6E8A-4147-A177-3AD203B41FA5}">
                      <a16:colId xmlns:a16="http://schemas.microsoft.com/office/drawing/2014/main" val="20001"/>
                    </a:ext>
                  </a:extLst>
                </a:gridCol>
                <a:gridCol w="674370">
                  <a:extLst>
                    <a:ext uri="{9D8B030D-6E8A-4147-A177-3AD203B41FA5}">
                      <a16:colId xmlns:a16="http://schemas.microsoft.com/office/drawing/2014/main" val="20002"/>
                    </a:ext>
                  </a:extLst>
                </a:gridCol>
                <a:gridCol w="674370">
                  <a:extLst>
                    <a:ext uri="{9D8B030D-6E8A-4147-A177-3AD203B41FA5}">
                      <a16:colId xmlns:a16="http://schemas.microsoft.com/office/drawing/2014/main" val="20003"/>
                    </a:ext>
                  </a:extLst>
                </a:gridCol>
                <a:gridCol w="674370">
                  <a:extLst>
                    <a:ext uri="{9D8B030D-6E8A-4147-A177-3AD203B41FA5}">
                      <a16:colId xmlns:a16="http://schemas.microsoft.com/office/drawing/2014/main" val="20004"/>
                    </a:ext>
                  </a:extLst>
                </a:gridCol>
                <a:gridCol w="674370">
                  <a:extLst>
                    <a:ext uri="{9D8B030D-6E8A-4147-A177-3AD203B41FA5}">
                      <a16:colId xmlns:a16="http://schemas.microsoft.com/office/drawing/2014/main" val="20005"/>
                    </a:ext>
                  </a:extLst>
                </a:gridCol>
                <a:gridCol w="674370">
                  <a:extLst>
                    <a:ext uri="{9D8B030D-6E8A-4147-A177-3AD203B41FA5}">
                      <a16:colId xmlns:a16="http://schemas.microsoft.com/office/drawing/2014/main" val="20006"/>
                    </a:ext>
                  </a:extLst>
                </a:gridCol>
                <a:gridCol w="674370">
                  <a:extLst>
                    <a:ext uri="{9D8B030D-6E8A-4147-A177-3AD203B41FA5}">
                      <a16:colId xmlns:a16="http://schemas.microsoft.com/office/drawing/2014/main" val="20007"/>
                    </a:ext>
                  </a:extLst>
                </a:gridCol>
                <a:gridCol w="674370">
                  <a:extLst>
                    <a:ext uri="{9D8B030D-6E8A-4147-A177-3AD203B41FA5}">
                      <a16:colId xmlns:a16="http://schemas.microsoft.com/office/drawing/2014/main" val="20008"/>
                    </a:ext>
                  </a:extLst>
                </a:gridCol>
                <a:gridCol w="674370">
                  <a:extLst>
                    <a:ext uri="{9D8B030D-6E8A-4147-A177-3AD203B41FA5}">
                      <a16:colId xmlns:a16="http://schemas.microsoft.com/office/drawing/2014/main" val="20009"/>
                    </a:ext>
                  </a:extLst>
                </a:gridCol>
                <a:gridCol w="674370">
                  <a:extLst>
                    <a:ext uri="{9D8B030D-6E8A-4147-A177-3AD203B41FA5}">
                      <a16:colId xmlns:a16="http://schemas.microsoft.com/office/drawing/2014/main" val="20010"/>
                    </a:ext>
                  </a:extLst>
                </a:gridCol>
                <a:gridCol w="674370">
                  <a:extLst>
                    <a:ext uri="{9D8B030D-6E8A-4147-A177-3AD203B41FA5}">
                      <a16:colId xmlns:a16="http://schemas.microsoft.com/office/drawing/2014/main" val="20011"/>
                    </a:ext>
                  </a:extLst>
                </a:gridCol>
                <a:gridCol w="674370">
                  <a:extLst>
                    <a:ext uri="{9D8B030D-6E8A-4147-A177-3AD203B41FA5}">
                      <a16:colId xmlns:a16="http://schemas.microsoft.com/office/drawing/2014/main" val="20012"/>
                    </a:ext>
                  </a:extLst>
                </a:gridCol>
                <a:gridCol w="674370">
                  <a:extLst>
                    <a:ext uri="{9D8B030D-6E8A-4147-A177-3AD203B41FA5}">
                      <a16:colId xmlns:a16="http://schemas.microsoft.com/office/drawing/2014/main" val="20013"/>
                    </a:ext>
                  </a:extLst>
                </a:gridCol>
                <a:gridCol w="674370">
                  <a:extLst>
                    <a:ext uri="{9D8B030D-6E8A-4147-A177-3AD203B41FA5}">
                      <a16:colId xmlns:a16="http://schemas.microsoft.com/office/drawing/2014/main" val="20014"/>
                    </a:ext>
                  </a:extLst>
                </a:gridCol>
                <a:gridCol w="674370">
                  <a:extLst>
                    <a:ext uri="{9D8B030D-6E8A-4147-A177-3AD203B41FA5}">
                      <a16:colId xmlns:a16="http://schemas.microsoft.com/office/drawing/2014/main" val="20015"/>
                    </a:ext>
                  </a:extLst>
                </a:gridCol>
                <a:gridCol w="674370">
                  <a:extLst>
                    <a:ext uri="{9D8B030D-6E8A-4147-A177-3AD203B41FA5}">
                      <a16:colId xmlns:a16="http://schemas.microsoft.com/office/drawing/2014/main" val="20016"/>
                    </a:ext>
                  </a:extLst>
                </a:gridCol>
                <a:gridCol w="447976">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Sales</a:t>
                      </a:r>
                      <a:endParaRPr sz="1100"/>
                    </a:p>
                    <a:p>
                      <a:pPr algn="l"/>
                      <a:r>
                        <a:rPr sz="1100" b="1">
                          <a:solidFill>
                            <a:srgbClr val="0B2E4A"/>
                          </a:solidFill>
                          <a:latin typeface="Calibri"/>
                        </a:rPr>
                        <a:t>Channel</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a:lstStyle/>
                    <a:p>
                      <a:pPr algn="ctr"/>
                      <a:r>
                        <a:rPr sz="1100" b="1">
                          <a:solidFill>
                            <a:srgbClr val="0B2E4A"/>
                          </a:solidFill>
                          <a:latin typeface="Calibri"/>
                        </a:rPr>
                        <a:t>F-CAGR</a:t>
                      </a:r>
                      <a:endParaRPr sz="1100"/>
                    </a:p>
                  </a:txBody>
                  <a:tcPr marL="38100" marR="28575" marT="19050" marB="19050" anchor="ctr">
                    <a:solidFill>
                      <a:srgbClr val="E0E8EF"/>
                    </a:solidFill>
                  </a:tcPr>
                </a:tc>
                <a:extLst>
                  <a:ext uri="{0D108BD9-81ED-4DB2-BD59-A6C34878D82A}">
                    <a16:rowId xmlns:a16="http://schemas.microsoft.com/office/drawing/2014/main" val="10000"/>
                  </a:ext>
                </a:extLst>
              </a:tr>
              <a:tr h="504571">
                <a:tc>
                  <a:txBody>
                    <a:bodyPr/>
                    <a:lstStyle/>
                    <a:p>
                      <a:pPr algn="l"/>
                      <a:r>
                        <a:rPr sz="1100" b="1">
                          <a:solidFill>
                            <a:srgbClr val="2E2E2E"/>
                          </a:solidFill>
                          <a:latin typeface="Calibri"/>
                        </a:rPr>
                        <a:t>Direct</a:t>
                      </a:r>
                      <a:endParaRPr sz="1100"/>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extLst>
                  <a:ext uri="{0D108BD9-81ED-4DB2-BD59-A6C34878D82A}">
                    <a16:rowId xmlns:a16="http://schemas.microsoft.com/office/drawing/2014/main" val="10001"/>
                  </a:ext>
                </a:extLst>
              </a:tr>
              <a:tr h="504571">
                <a:tc>
                  <a:txBody>
                    <a:bodyPr/>
                    <a:lstStyle/>
                    <a:p>
                      <a:pPr algn="l"/>
                      <a:r>
                        <a:rPr sz="1100" b="1">
                          <a:solidFill>
                            <a:srgbClr val="2E2E2E"/>
                          </a:solidFill>
                          <a:latin typeface="Calibri"/>
                        </a:rPr>
                        <a:t>Indirect</a:t>
                      </a:r>
                      <a:endParaRPr sz="1100"/>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extLst>
                  <a:ext uri="{0D108BD9-81ED-4DB2-BD59-A6C34878D82A}">
                    <a16:rowId xmlns:a16="http://schemas.microsoft.com/office/drawing/2014/main" val="10002"/>
                  </a:ext>
                </a:extLst>
              </a:tr>
              <a:tr h="504571">
                <a:tc>
                  <a:txBody>
                    <a:bodyPr/>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32004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33775"/>
            <a:ext cx="11906250" cy="3095625"/>
          </a:xfrm>
          <a:prstGeom prst="roundRect">
            <a:avLst>
              <a:gd name="adj" fmla="val 24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619500"/>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Volume Analysis, By Sales Channel</a:t>
            </a:r>
          </a:p>
        </p:txBody>
      </p:sp>
      <p:sp>
        <p:nvSpPr>
          <p:cNvPr id="17" name="Rectangle 16"/>
          <p:cNvSpPr/>
          <p:nvPr/>
        </p:nvSpPr>
        <p:spPr>
          <a:xfrm>
            <a:off x="276225" y="3857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943350"/>
            <a:ext cx="11639550" cy="26098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33961" y="2167318"/>
            <a:ext cx="366712" cy="533400"/>
          </a:xfrm>
          <a:prstGeom prst="rect">
            <a:avLst/>
          </a:prstGeom>
        </p:spPr>
      </p:pic>
      <p:sp>
        <p:nvSpPr>
          <p:cNvPr id="21" name="TextBox 20"/>
          <p:cNvSpPr txBox="1"/>
          <p:nvPr/>
        </p:nvSpPr>
        <p:spPr>
          <a:xfrm>
            <a:off x="276225" y="3952875"/>
            <a:ext cx="3843548" cy="194310"/>
          </a:xfrm>
          <a:prstGeom prst="rect">
            <a:avLst/>
          </a:prstGeom>
          <a:noFill/>
        </p:spPr>
        <p:txBody>
          <a:bodyPr wrap="none" lIns="0" tIns="0" rIns="0" bIns="0">
            <a:spAutoFit/>
          </a:bodyPr>
          <a:lstStyle/>
          <a:p>
            <a:r>
              <a:rPr sz="1150" b="0">
                <a:solidFill>
                  <a:srgbClr val="2E2E2E"/>
                </a:solidFill>
                <a:latin typeface="Calibri"/>
              </a:rPr>
              <a:t>Direct (to brand owners/oems) segment is projected to register</a:t>
            </a:r>
          </a:p>
        </p:txBody>
      </p:sp>
      <p:pic>
        <p:nvPicPr>
          <p:cNvPr id="22" name="Picture 21" descr="lock.png"/>
          <p:cNvPicPr>
            <a:picLocks noChangeAspect="1"/>
          </p:cNvPicPr>
          <p:nvPr/>
        </p:nvPicPr>
        <p:blipFill>
          <a:blip r:embed="rId4"/>
          <a:stretch>
            <a:fillRect/>
          </a:stretch>
        </p:blipFill>
        <p:spPr>
          <a:xfrm>
            <a:off x="4068927" y="3942651"/>
            <a:ext cx="134549" cy="195707"/>
          </a:xfrm>
          <a:prstGeom prst="rect">
            <a:avLst/>
          </a:prstGeom>
        </p:spPr>
      </p:pic>
      <p:sp>
        <p:nvSpPr>
          <p:cNvPr id="23" name="TextBox 22"/>
          <p:cNvSpPr txBox="1"/>
          <p:nvPr/>
        </p:nvSpPr>
        <p:spPr>
          <a:xfrm>
            <a:off x="4244036" y="3952875"/>
            <a:ext cx="7443452" cy="194310"/>
          </a:xfrm>
          <a:prstGeom prst="rect">
            <a:avLst/>
          </a:prstGeom>
          <a:noFill/>
        </p:spPr>
        <p:txBody>
          <a:bodyPr wrap="none" lIns="0" tIns="0" rIns="0" bIns="0">
            <a:spAutoFit/>
          </a:bodyPr>
          <a:lstStyle/>
          <a:p>
            <a:r>
              <a:rPr sz="1150" b="0">
                <a:solidFill>
                  <a:srgbClr val="2E2E2E"/>
                </a:solidFill>
                <a:latin typeface="Calibri"/>
              </a:rPr>
              <a:t>X higher volume than indirect (distributors and packaging merchants) segment in 2036. Among corrugated partition by sales</a:t>
            </a:r>
          </a:p>
        </p:txBody>
      </p:sp>
      <p:sp>
        <p:nvSpPr>
          <p:cNvPr id="24" name="TextBox 23"/>
          <p:cNvSpPr txBox="1"/>
          <p:nvPr/>
        </p:nvSpPr>
        <p:spPr>
          <a:xfrm>
            <a:off x="276225" y="4128135"/>
            <a:ext cx="6540891" cy="194310"/>
          </a:xfrm>
          <a:prstGeom prst="rect">
            <a:avLst/>
          </a:prstGeom>
          <a:noFill/>
        </p:spPr>
        <p:txBody>
          <a:bodyPr wrap="none" lIns="0" tIns="0" rIns="0" bIns="0">
            <a:spAutoFit/>
          </a:bodyPr>
          <a:lstStyle/>
          <a:p>
            <a:r>
              <a:rPr sz="1150" b="0">
                <a:solidFill>
                  <a:srgbClr val="2E2E2E"/>
                </a:solidFill>
                <a:latin typeface="Calibri"/>
              </a:rPr>
              <a:t>channel, indirect (distributors and packaging merchants) segment is expected to witness the highest CAGR of</a:t>
            </a:r>
          </a:p>
        </p:txBody>
      </p:sp>
      <p:pic>
        <p:nvPicPr>
          <p:cNvPr id="25" name="Picture 24" descr="lock.png"/>
          <p:cNvPicPr>
            <a:picLocks noChangeAspect="1"/>
          </p:cNvPicPr>
          <p:nvPr/>
        </p:nvPicPr>
        <p:blipFill>
          <a:blip r:embed="rId4"/>
          <a:stretch>
            <a:fillRect/>
          </a:stretch>
        </p:blipFill>
        <p:spPr>
          <a:xfrm>
            <a:off x="6766270" y="4117911"/>
            <a:ext cx="134549" cy="195707"/>
          </a:xfrm>
          <a:prstGeom prst="rect">
            <a:avLst/>
          </a:prstGeom>
        </p:spPr>
      </p:pic>
      <p:sp>
        <p:nvSpPr>
          <p:cNvPr id="26" name="TextBox 25"/>
          <p:cNvSpPr txBox="1"/>
          <p:nvPr/>
        </p:nvSpPr>
        <p:spPr>
          <a:xfrm>
            <a:off x="6941379" y="412813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355972"/>
            <a:ext cx="7813141" cy="194310"/>
          </a:xfrm>
          <a:prstGeom prst="rect">
            <a:avLst/>
          </a:prstGeom>
          <a:noFill/>
        </p:spPr>
        <p:txBody>
          <a:bodyPr wrap="none" lIns="0" tIns="0" rIns="0" bIns="0">
            <a:spAutoFit/>
          </a:bodyPr>
          <a:lstStyle/>
          <a:p>
            <a:r>
              <a:rPr sz="1150" b="0">
                <a:solidFill>
                  <a:srgbClr val="2E2E2E"/>
                </a:solidFill>
                <a:latin typeface="Calibri"/>
              </a:rPr>
              <a:t>In terms of volume share by sales channel, the direct (to brand owners/oems) segment is expected to dominate the market, losing</a:t>
            </a:r>
          </a:p>
        </p:txBody>
      </p:sp>
      <p:pic>
        <p:nvPicPr>
          <p:cNvPr id="28" name="Picture 27" descr="lock.png"/>
          <p:cNvPicPr>
            <a:picLocks noChangeAspect="1"/>
          </p:cNvPicPr>
          <p:nvPr/>
        </p:nvPicPr>
        <p:blipFill>
          <a:blip r:embed="rId4"/>
          <a:stretch>
            <a:fillRect/>
          </a:stretch>
        </p:blipFill>
        <p:spPr>
          <a:xfrm>
            <a:off x="8038520" y="4345749"/>
            <a:ext cx="134549" cy="195707"/>
          </a:xfrm>
          <a:prstGeom prst="rect">
            <a:avLst/>
          </a:prstGeom>
        </p:spPr>
      </p:pic>
      <p:sp>
        <p:nvSpPr>
          <p:cNvPr id="29" name="TextBox 28"/>
          <p:cNvSpPr txBox="1"/>
          <p:nvPr/>
        </p:nvSpPr>
        <p:spPr>
          <a:xfrm>
            <a:off x="8213629" y="4355972"/>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608773" y="4345749"/>
            <a:ext cx="134549" cy="195707"/>
          </a:xfrm>
          <a:prstGeom prst="rect">
            <a:avLst/>
          </a:prstGeom>
        </p:spPr>
      </p:pic>
      <p:sp>
        <p:nvSpPr>
          <p:cNvPr id="31" name="TextBox 30"/>
          <p:cNvSpPr txBox="1"/>
          <p:nvPr/>
        </p:nvSpPr>
        <p:spPr>
          <a:xfrm>
            <a:off x="9783882" y="4355972"/>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Analysis, By Sales Channel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By Sales Channel (US$ Mn)</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073029">
                  <a:extLst>
                    <a:ext uri="{9D8B030D-6E8A-4147-A177-3AD203B41FA5}">
                      <a16:colId xmlns:a16="http://schemas.microsoft.com/office/drawing/2014/main" val="20000"/>
                    </a:ext>
                  </a:extLst>
                </a:gridCol>
                <a:gridCol w="636128">
                  <a:extLst>
                    <a:ext uri="{9D8B030D-6E8A-4147-A177-3AD203B41FA5}">
                      <a16:colId xmlns:a16="http://schemas.microsoft.com/office/drawing/2014/main" val="20001"/>
                    </a:ext>
                  </a:extLst>
                </a:gridCol>
                <a:gridCol w="636128">
                  <a:extLst>
                    <a:ext uri="{9D8B030D-6E8A-4147-A177-3AD203B41FA5}">
                      <a16:colId xmlns:a16="http://schemas.microsoft.com/office/drawing/2014/main" val="20002"/>
                    </a:ext>
                  </a:extLst>
                </a:gridCol>
                <a:gridCol w="636128">
                  <a:extLst>
                    <a:ext uri="{9D8B030D-6E8A-4147-A177-3AD203B41FA5}">
                      <a16:colId xmlns:a16="http://schemas.microsoft.com/office/drawing/2014/main" val="20003"/>
                    </a:ext>
                  </a:extLst>
                </a:gridCol>
                <a:gridCol w="636128">
                  <a:extLst>
                    <a:ext uri="{9D8B030D-6E8A-4147-A177-3AD203B41FA5}">
                      <a16:colId xmlns:a16="http://schemas.microsoft.com/office/drawing/2014/main" val="20004"/>
                    </a:ext>
                  </a:extLst>
                </a:gridCol>
                <a:gridCol w="636128">
                  <a:extLst>
                    <a:ext uri="{9D8B030D-6E8A-4147-A177-3AD203B41FA5}">
                      <a16:colId xmlns:a16="http://schemas.microsoft.com/office/drawing/2014/main" val="20005"/>
                    </a:ext>
                  </a:extLst>
                </a:gridCol>
                <a:gridCol w="636128">
                  <a:extLst>
                    <a:ext uri="{9D8B030D-6E8A-4147-A177-3AD203B41FA5}">
                      <a16:colId xmlns:a16="http://schemas.microsoft.com/office/drawing/2014/main" val="20006"/>
                    </a:ext>
                  </a:extLst>
                </a:gridCol>
                <a:gridCol w="636128">
                  <a:extLst>
                    <a:ext uri="{9D8B030D-6E8A-4147-A177-3AD203B41FA5}">
                      <a16:colId xmlns:a16="http://schemas.microsoft.com/office/drawing/2014/main" val="20007"/>
                    </a:ext>
                  </a:extLst>
                </a:gridCol>
                <a:gridCol w="636128">
                  <a:extLst>
                    <a:ext uri="{9D8B030D-6E8A-4147-A177-3AD203B41FA5}">
                      <a16:colId xmlns:a16="http://schemas.microsoft.com/office/drawing/2014/main" val="20008"/>
                    </a:ext>
                  </a:extLst>
                </a:gridCol>
                <a:gridCol w="636128">
                  <a:extLst>
                    <a:ext uri="{9D8B030D-6E8A-4147-A177-3AD203B41FA5}">
                      <a16:colId xmlns:a16="http://schemas.microsoft.com/office/drawing/2014/main" val="20009"/>
                    </a:ext>
                  </a:extLst>
                </a:gridCol>
                <a:gridCol w="636128">
                  <a:extLst>
                    <a:ext uri="{9D8B030D-6E8A-4147-A177-3AD203B41FA5}">
                      <a16:colId xmlns:a16="http://schemas.microsoft.com/office/drawing/2014/main" val="20010"/>
                    </a:ext>
                  </a:extLst>
                </a:gridCol>
                <a:gridCol w="636128">
                  <a:extLst>
                    <a:ext uri="{9D8B030D-6E8A-4147-A177-3AD203B41FA5}">
                      <a16:colId xmlns:a16="http://schemas.microsoft.com/office/drawing/2014/main" val="20011"/>
                    </a:ext>
                  </a:extLst>
                </a:gridCol>
                <a:gridCol w="636128">
                  <a:extLst>
                    <a:ext uri="{9D8B030D-6E8A-4147-A177-3AD203B41FA5}">
                      <a16:colId xmlns:a16="http://schemas.microsoft.com/office/drawing/2014/main" val="20012"/>
                    </a:ext>
                  </a:extLst>
                </a:gridCol>
                <a:gridCol w="636128">
                  <a:extLst>
                    <a:ext uri="{9D8B030D-6E8A-4147-A177-3AD203B41FA5}">
                      <a16:colId xmlns:a16="http://schemas.microsoft.com/office/drawing/2014/main" val="20013"/>
                    </a:ext>
                  </a:extLst>
                </a:gridCol>
                <a:gridCol w="636128">
                  <a:extLst>
                    <a:ext uri="{9D8B030D-6E8A-4147-A177-3AD203B41FA5}">
                      <a16:colId xmlns:a16="http://schemas.microsoft.com/office/drawing/2014/main" val="20014"/>
                    </a:ext>
                  </a:extLst>
                </a:gridCol>
                <a:gridCol w="636128">
                  <a:extLst>
                    <a:ext uri="{9D8B030D-6E8A-4147-A177-3AD203B41FA5}">
                      <a16:colId xmlns:a16="http://schemas.microsoft.com/office/drawing/2014/main" val="20015"/>
                    </a:ext>
                  </a:extLst>
                </a:gridCol>
                <a:gridCol w="636128">
                  <a:extLst>
                    <a:ext uri="{9D8B030D-6E8A-4147-A177-3AD203B41FA5}">
                      <a16:colId xmlns:a16="http://schemas.microsoft.com/office/drawing/2014/main" val="20016"/>
                    </a:ext>
                  </a:extLst>
                </a:gridCol>
                <a:gridCol w="636128">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657475"/>
            <a:ext cx="11639550" cy="209550"/>
          </a:xfrm>
          <a:prstGeom prst="rect">
            <a:avLst/>
          </a:prstGeom>
          <a:noFill/>
        </p:spPr>
        <p:txBody>
          <a:bodyPr wrap="square" lIns="0" tIns="9525" rIns="19050" bIns="9525">
            <a:spAutoFit/>
          </a:bodyPr>
          <a:lstStyle/>
          <a:p>
            <a:pPr algn="l"/>
            <a:r>
              <a:rPr sz="1300" b="1">
                <a:solidFill>
                  <a:srgbClr val="0B2E4A"/>
                </a:solidFill>
                <a:latin typeface="Calibri"/>
              </a:rPr>
              <a:t>Global Value Analysis, By Sales Channel</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2981325"/>
            <a:ext cx="11639550" cy="3571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45826" y="1589913"/>
            <a:ext cx="366712" cy="533400"/>
          </a:xfrm>
          <a:prstGeom prst="rect">
            <a:avLst/>
          </a:prstGeom>
        </p:spPr>
      </p:pic>
      <p:sp>
        <p:nvSpPr>
          <p:cNvPr id="21" name="TextBox 20"/>
          <p:cNvSpPr txBox="1"/>
          <p:nvPr/>
        </p:nvSpPr>
        <p:spPr>
          <a:xfrm>
            <a:off x="276225" y="2990850"/>
            <a:ext cx="3843548" cy="194310"/>
          </a:xfrm>
          <a:prstGeom prst="rect">
            <a:avLst/>
          </a:prstGeom>
          <a:noFill/>
        </p:spPr>
        <p:txBody>
          <a:bodyPr wrap="none" lIns="0" tIns="0" rIns="0" bIns="0">
            <a:spAutoFit/>
          </a:bodyPr>
          <a:lstStyle/>
          <a:p>
            <a:r>
              <a:rPr sz="1150" b="0">
                <a:solidFill>
                  <a:srgbClr val="2E2E2E"/>
                </a:solidFill>
                <a:latin typeface="Calibri"/>
              </a:rPr>
              <a:t>Direct (to brand owners/oems) segment is projected to register</a:t>
            </a:r>
          </a:p>
        </p:txBody>
      </p:sp>
      <p:pic>
        <p:nvPicPr>
          <p:cNvPr id="22" name="Picture 21" descr="lock.png"/>
          <p:cNvPicPr>
            <a:picLocks noChangeAspect="1"/>
          </p:cNvPicPr>
          <p:nvPr/>
        </p:nvPicPr>
        <p:blipFill>
          <a:blip r:embed="rId4"/>
          <a:stretch>
            <a:fillRect/>
          </a:stretch>
        </p:blipFill>
        <p:spPr>
          <a:xfrm>
            <a:off x="4068927" y="2980626"/>
            <a:ext cx="134549" cy="195707"/>
          </a:xfrm>
          <a:prstGeom prst="rect">
            <a:avLst/>
          </a:prstGeom>
        </p:spPr>
      </p:pic>
      <p:sp>
        <p:nvSpPr>
          <p:cNvPr id="23" name="TextBox 22"/>
          <p:cNvSpPr txBox="1"/>
          <p:nvPr/>
        </p:nvSpPr>
        <p:spPr>
          <a:xfrm>
            <a:off x="4244036" y="2990850"/>
            <a:ext cx="7319652" cy="194310"/>
          </a:xfrm>
          <a:prstGeom prst="rect">
            <a:avLst/>
          </a:prstGeom>
          <a:noFill/>
        </p:spPr>
        <p:txBody>
          <a:bodyPr wrap="none" lIns="0" tIns="0" rIns="0" bIns="0">
            <a:spAutoFit/>
          </a:bodyPr>
          <a:lstStyle/>
          <a:p>
            <a:r>
              <a:rPr sz="1150" b="0">
                <a:solidFill>
                  <a:srgbClr val="2E2E2E"/>
                </a:solidFill>
                <a:latin typeface="Calibri"/>
              </a:rPr>
              <a:t>X higher value than indirect (distributors and packaging merchants) segment in 2036. Among corrugated partition by sales</a:t>
            </a:r>
          </a:p>
        </p:txBody>
      </p:sp>
      <p:sp>
        <p:nvSpPr>
          <p:cNvPr id="24" name="TextBox 23"/>
          <p:cNvSpPr txBox="1"/>
          <p:nvPr/>
        </p:nvSpPr>
        <p:spPr>
          <a:xfrm>
            <a:off x="276225" y="3166110"/>
            <a:ext cx="6540891" cy="194310"/>
          </a:xfrm>
          <a:prstGeom prst="rect">
            <a:avLst/>
          </a:prstGeom>
          <a:noFill/>
        </p:spPr>
        <p:txBody>
          <a:bodyPr wrap="none" lIns="0" tIns="0" rIns="0" bIns="0">
            <a:spAutoFit/>
          </a:bodyPr>
          <a:lstStyle/>
          <a:p>
            <a:r>
              <a:rPr sz="1150" b="0">
                <a:solidFill>
                  <a:srgbClr val="2E2E2E"/>
                </a:solidFill>
                <a:latin typeface="Calibri"/>
              </a:rPr>
              <a:t>channel, indirect (distributors and packaging merchants) segment is expected to witness the highest CAGR of</a:t>
            </a:r>
          </a:p>
        </p:txBody>
      </p:sp>
      <p:pic>
        <p:nvPicPr>
          <p:cNvPr id="25" name="Picture 24" descr="lock.png"/>
          <p:cNvPicPr>
            <a:picLocks noChangeAspect="1"/>
          </p:cNvPicPr>
          <p:nvPr/>
        </p:nvPicPr>
        <p:blipFill>
          <a:blip r:embed="rId4"/>
          <a:stretch>
            <a:fillRect/>
          </a:stretch>
        </p:blipFill>
        <p:spPr>
          <a:xfrm>
            <a:off x="6766270" y="3155886"/>
            <a:ext cx="134549" cy="195707"/>
          </a:xfrm>
          <a:prstGeom prst="rect">
            <a:avLst/>
          </a:prstGeom>
        </p:spPr>
      </p:pic>
      <p:sp>
        <p:nvSpPr>
          <p:cNvPr id="26" name="TextBox 25"/>
          <p:cNvSpPr txBox="1"/>
          <p:nvPr/>
        </p:nvSpPr>
        <p:spPr>
          <a:xfrm>
            <a:off x="6941379" y="3166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689341" cy="194310"/>
          </a:xfrm>
          <a:prstGeom prst="rect">
            <a:avLst/>
          </a:prstGeom>
          <a:noFill/>
        </p:spPr>
        <p:txBody>
          <a:bodyPr wrap="none" lIns="0" tIns="0" rIns="0" bIns="0">
            <a:spAutoFit/>
          </a:bodyPr>
          <a:lstStyle/>
          <a:p>
            <a:r>
              <a:rPr sz="1150" b="0">
                <a:solidFill>
                  <a:srgbClr val="2E2E2E"/>
                </a:solidFill>
                <a:latin typeface="Calibri"/>
              </a:rPr>
              <a:t>In terms of value share by sales channel, the direct (to brand owners/oems) segment is expected to dominate the market, losing</a:t>
            </a:r>
          </a:p>
        </p:txBody>
      </p:sp>
      <p:pic>
        <p:nvPicPr>
          <p:cNvPr id="28" name="Picture 27" descr="lock.png"/>
          <p:cNvPicPr>
            <a:picLocks noChangeAspect="1"/>
          </p:cNvPicPr>
          <p:nvPr/>
        </p:nvPicPr>
        <p:blipFill>
          <a:blip r:embed="rId4"/>
          <a:stretch>
            <a:fillRect/>
          </a:stretch>
        </p:blipFill>
        <p:spPr>
          <a:xfrm>
            <a:off x="7914720" y="3383724"/>
            <a:ext cx="134549" cy="195707"/>
          </a:xfrm>
          <a:prstGeom prst="rect">
            <a:avLst/>
          </a:prstGeom>
        </p:spPr>
      </p:pic>
      <p:sp>
        <p:nvSpPr>
          <p:cNvPr id="29" name="TextBox 28"/>
          <p:cNvSpPr txBox="1"/>
          <p:nvPr/>
        </p:nvSpPr>
        <p:spPr>
          <a:xfrm>
            <a:off x="8089829" y="3393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84972" y="3383724"/>
            <a:ext cx="134549" cy="195707"/>
          </a:xfrm>
          <a:prstGeom prst="rect">
            <a:avLst/>
          </a:prstGeom>
        </p:spPr>
      </p:pic>
      <p:sp>
        <p:nvSpPr>
          <p:cNvPr id="31" name="TextBox 30"/>
          <p:cNvSpPr txBox="1"/>
          <p:nvPr/>
        </p:nvSpPr>
        <p:spPr>
          <a:xfrm>
            <a:off x="9660082" y="3393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Value &amp; Share Shift, By Sales Channel</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Sales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Composition, By Sales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245763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5090922" y="245287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2376674"/>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Indirect</a:t>
            </a:r>
          </a:p>
        </p:txBody>
      </p:sp>
      <p:sp>
        <p:nvSpPr>
          <p:cNvPr id="19" name="BPS Value 1"/>
          <p:cNvSpPr txBox="1"/>
          <p:nvPr/>
        </p:nvSpPr>
        <p:spPr>
          <a:xfrm>
            <a:off x="6896100" y="2438587"/>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928997" y="474382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473906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4662865"/>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Direct</a:t>
            </a:r>
          </a:p>
        </p:txBody>
      </p:sp>
      <p:sp>
        <p:nvSpPr>
          <p:cNvPr id="23" name="BPS Value 2"/>
          <p:cNvSpPr txBox="1"/>
          <p:nvPr/>
        </p:nvSpPr>
        <p:spPr>
          <a:xfrm>
            <a:off x="6896100" y="4724777"/>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Global Read-out, By Sales Channel</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8" name="TextBox 2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30104" cy="194310"/>
          </a:xfrm>
          <a:prstGeom prst="rect">
            <a:avLst/>
          </a:prstGeom>
          <a:noFill/>
        </p:spPr>
        <p:txBody>
          <a:bodyPr wrap="none" lIns="0" tIns="0" rIns="0" bIns="0">
            <a:spAutoFit/>
          </a:bodyPr>
          <a:lstStyle/>
          <a:p>
            <a:r>
              <a:rPr sz="1150" b="0">
                <a:solidFill>
                  <a:srgbClr val="2E2E2E"/>
                </a:solidFill>
                <a:latin typeface="Calibri"/>
              </a:rPr>
              <a:t>Among corrugated partition by sales channel, indirect (distributors</a:t>
            </a:r>
          </a:p>
        </p:txBody>
      </p:sp>
      <p:sp>
        <p:nvSpPr>
          <p:cNvPr id="31" name="TextBox 30"/>
          <p:cNvSpPr txBox="1"/>
          <p:nvPr/>
        </p:nvSpPr>
        <p:spPr>
          <a:xfrm>
            <a:off x="7829550" y="1575435"/>
            <a:ext cx="3758827" cy="194310"/>
          </a:xfrm>
          <a:prstGeom prst="rect">
            <a:avLst/>
          </a:prstGeom>
          <a:noFill/>
        </p:spPr>
        <p:txBody>
          <a:bodyPr wrap="none" lIns="0" tIns="0" rIns="0" bIns="0">
            <a:spAutoFit/>
          </a:bodyPr>
          <a:lstStyle/>
          <a:p>
            <a:r>
              <a:rPr sz="1150" b="0">
                <a:solidFill>
                  <a:srgbClr val="2E2E2E"/>
                </a:solidFill>
                <a:latin typeface="Calibri"/>
              </a:rPr>
              <a:t>and packaging merchants) segment is expected to witness the</a:t>
            </a:r>
          </a:p>
        </p:txBody>
      </p:sp>
      <p:sp>
        <p:nvSpPr>
          <p:cNvPr id="32" name="TextBox 31"/>
          <p:cNvSpPr txBox="1"/>
          <p:nvPr/>
        </p:nvSpPr>
        <p:spPr>
          <a:xfrm>
            <a:off x="7829550" y="1750695"/>
            <a:ext cx="1032353" cy="194310"/>
          </a:xfrm>
          <a:prstGeom prst="rect">
            <a:avLst/>
          </a:prstGeom>
          <a:noFill/>
        </p:spPr>
        <p:txBody>
          <a:bodyPr wrap="none" lIns="0" tIns="0" rIns="0" bIns="0">
            <a:spAutoFit/>
          </a:bodyPr>
          <a:lstStyle/>
          <a:p>
            <a:r>
              <a:rPr sz="1150" b="0">
                <a:solidFill>
                  <a:srgbClr val="2E2E2E"/>
                </a:solidFill>
                <a:latin typeface="Calibri"/>
              </a:rPr>
              <a:t>highest CAGR of</a:t>
            </a:r>
          </a:p>
        </p:txBody>
      </p:sp>
      <p:pic>
        <p:nvPicPr>
          <p:cNvPr id="33" name="Picture 32" descr="lock.png"/>
          <p:cNvPicPr>
            <a:picLocks noChangeAspect="1"/>
          </p:cNvPicPr>
          <p:nvPr/>
        </p:nvPicPr>
        <p:blipFill>
          <a:blip r:embed="rId5"/>
          <a:stretch>
            <a:fillRect/>
          </a:stretch>
        </p:blipFill>
        <p:spPr>
          <a:xfrm>
            <a:off x="8811057" y="1740471"/>
            <a:ext cx="134549" cy="195707"/>
          </a:xfrm>
          <a:prstGeom prst="rect">
            <a:avLst/>
          </a:prstGeom>
        </p:spPr>
      </p:pic>
      <p:sp>
        <p:nvSpPr>
          <p:cNvPr id="34" name="TextBox 33"/>
          <p:cNvSpPr txBox="1"/>
          <p:nvPr/>
        </p:nvSpPr>
        <p:spPr>
          <a:xfrm>
            <a:off x="8986166" y="175069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35" name="TextBox 34"/>
          <p:cNvSpPr txBox="1"/>
          <p:nvPr/>
        </p:nvSpPr>
        <p:spPr>
          <a:xfrm>
            <a:off x="7829550" y="1978533"/>
            <a:ext cx="3671540" cy="194310"/>
          </a:xfrm>
          <a:prstGeom prst="rect">
            <a:avLst/>
          </a:prstGeom>
          <a:noFill/>
        </p:spPr>
        <p:txBody>
          <a:bodyPr wrap="none" lIns="0" tIns="0" rIns="0" bIns="0">
            <a:spAutoFit/>
          </a:bodyPr>
          <a:lstStyle/>
          <a:p>
            <a:r>
              <a:rPr sz="1150" b="0">
                <a:solidFill>
                  <a:srgbClr val="2E2E2E"/>
                </a:solidFill>
                <a:latin typeface="Calibri"/>
              </a:rPr>
              <a:t>In terms of value share by sales channel, the direct (to brand</a:t>
            </a:r>
          </a:p>
        </p:txBody>
      </p:sp>
      <p:sp>
        <p:nvSpPr>
          <p:cNvPr id="36" name="TextBox 35"/>
          <p:cNvSpPr txBox="1"/>
          <p:nvPr/>
        </p:nvSpPr>
        <p:spPr>
          <a:xfrm>
            <a:off x="7829550" y="2153793"/>
            <a:ext cx="4057650" cy="194310"/>
          </a:xfrm>
          <a:prstGeom prst="rect">
            <a:avLst/>
          </a:prstGeom>
          <a:noFill/>
        </p:spPr>
        <p:txBody>
          <a:bodyPr wrap="none" lIns="0" tIns="0" rIns="0" bIns="0">
            <a:spAutoFit/>
          </a:bodyPr>
          <a:lstStyle/>
          <a:p>
            <a:r>
              <a:rPr sz="1150" b="0">
                <a:solidFill>
                  <a:srgbClr val="2E2E2E"/>
                </a:solidFill>
                <a:latin typeface="Calibri"/>
              </a:rPr>
              <a:t>owners/oems) segment is expected to dominate the market, losing</a:t>
            </a:r>
          </a:p>
        </p:txBody>
      </p:sp>
      <p:pic>
        <p:nvPicPr>
          <p:cNvPr id="37" name="Picture 36" descr="lock.png"/>
          <p:cNvPicPr>
            <a:picLocks noChangeAspect="1"/>
          </p:cNvPicPr>
          <p:nvPr/>
        </p:nvPicPr>
        <p:blipFill>
          <a:blip r:embed="rId5"/>
          <a:stretch>
            <a:fillRect/>
          </a:stretch>
        </p:blipFill>
        <p:spPr>
          <a:xfrm>
            <a:off x="7815470" y="2318829"/>
            <a:ext cx="134549" cy="195707"/>
          </a:xfrm>
          <a:prstGeom prst="rect">
            <a:avLst/>
          </a:prstGeom>
        </p:spPr>
      </p:pic>
      <p:sp>
        <p:nvSpPr>
          <p:cNvPr id="38" name="TextBox 37"/>
          <p:cNvSpPr txBox="1"/>
          <p:nvPr/>
        </p:nvSpPr>
        <p:spPr>
          <a:xfrm>
            <a:off x="7990579" y="2329053"/>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9" name="Picture 38" descr="lock.png"/>
          <p:cNvPicPr>
            <a:picLocks noChangeAspect="1"/>
          </p:cNvPicPr>
          <p:nvPr/>
        </p:nvPicPr>
        <p:blipFill>
          <a:blip r:embed="rId5"/>
          <a:stretch>
            <a:fillRect/>
          </a:stretch>
        </p:blipFill>
        <p:spPr>
          <a:xfrm>
            <a:off x="9385722" y="2318829"/>
            <a:ext cx="134549" cy="195707"/>
          </a:xfrm>
          <a:prstGeom prst="rect">
            <a:avLst/>
          </a:prstGeom>
        </p:spPr>
      </p:pic>
      <p:sp>
        <p:nvSpPr>
          <p:cNvPr id="40" name="TextBox 39"/>
          <p:cNvSpPr txBox="1"/>
          <p:nvPr/>
        </p:nvSpPr>
        <p:spPr>
          <a:xfrm>
            <a:off x="9560832" y="232905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Volume, By Sales Channel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extLst>
                    <a:ext uri="{9D8B030D-6E8A-4147-A177-3AD203B41FA5}">
                      <a16:colId xmlns:a16="http://schemas.microsoft.com/office/drawing/2014/main" val="20000"/>
                    </a:ext>
                  </a:extLst>
                </a:gridCol>
                <a:gridCol w="713858">
                  <a:extLst>
                    <a:ext uri="{9D8B030D-6E8A-4147-A177-3AD203B41FA5}">
                      <a16:colId xmlns:a16="http://schemas.microsoft.com/office/drawing/2014/main" val="20001"/>
                    </a:ext>
                  </a:extLst>
                </a:gridCol>
                <a:gridCol w="713858">
                  <a:extLst>
                    <a:ext uri="{9D8B030D-6E8A-4147-A177-3AD203B41FA5}">
                      <a16:colId xmlns:a16="http://schemas.microsoft.com/office/drawing/2014/main" val="20002"/>
                    </a:ext>
                  </a:extLst>
                </a:gridCol>
                <a:gridCol w="713858">
                  <a:extLst>
                    <a:ext uri="{9D8B030D-6E8A-4147-A177-3AD203B41FA5}">
                      <a16:colId xmlns:a16="http://schemas.microsoft.com/office/drawing/2014/main" val="20003"/>
                    </a:ext>
                  </a:extLst>
                </a:gridCol>
                <a:gridCol w="713858">
                  <a:extLst>
                    <a:ext uri="{9D8B030D-6E8A-4147-A177-3AD203B41FA5}">
                      <a16:colId xmlns:a16="http://schemas.microsoft.com/office/drawing/2014/main" val="20004"/>
                    </a:ext>
                  </a:extLst>
                </a:gridCol>
                <a:gridCol w="713858">
                  <a:extLst>
                    <a:ext uri="{9D8B030D-6E8A-4147-A177-3AD203B41FA5}">
                      <a16:colId xmlns:a16="http://schemas.microsoft.com/office/drawing/2014/main" val="20005"/>
                    </a:ext>
                  </a:extLst>
                </a:gridCol>
                <a:gridCol w="713858">
                  <a:extLst>
                    <a:ext uri="{9D8B030D-6E8A-4147-A177-3AD203B41FA5}">
                      <a16:colId xmlns:a16="http://schemas.microsoft.com/office/drawing/2014/main" val="20006"/>
                    </a:ext>
                  </a:extLst>
                </a:gridCol>
                <a:gridCol w="713858">
                  <a:extLst>
                    <a:ext uri="{9D8B030D-6E8A-4147-A177-3AD203B41FA5}">
                      <a16:colId xmlns:a16="http://schemas.microsoft.com/office/drawing/2014/main" val="20007"/>
                    </a:ext>
                  </a:extLst>
                </a:gridCol>
                <a:gridCol w="713858">
                  <a:extLst>
                    <a:ext uri="{9D8B030D-6E8A-4147-A177-3AD203B41FA5}">
                      <a16:colId xmlns:a16="http://schemas.microsoft.com/office/drawing/2014/main" val="20008"/>
                    </a:ext>
                  </a:extLst>
                </a:gridCol>
                <a:gridCol w="713858">
                  <a:extLst>
                    <a:ext uri="{9D8B030D-6E8A-4147-A177-3AD203B41FA5}">
                      <a16:colId xmlns:a16="http://schemas.microsoft.com/office/drawing/2014/main" val="20009"/>
                    </a:ext>
                  </a:extLst>
                </a:gridCol>
                <a:gridCol w="713858">
                  <a:extLst>
                    <a:ext uri="{9D8B030D-6E8A-4147-A177-3AD203B41FA5}">
                      <a16:colId xmlns:a16="http://schemas.microsoft.com/office/drawing/2014/main" val="20010"/>
                    </a:ext>
                  </a:extLst>
                </a:gridCol>
                <a:gridCol w="713858">
                  <a:extLst>
                    <a:ext uri="{9D8B030D-6E8A-4147-A177-3AD203B41FA5}">
                      <a16:colId xmlns:a16="http://schemas.microsoft.com/office/drawing/2014/main" val="20011"/>
                    </a:ext>
                  </a:extLst>
                </a:gridCol>
                <a:gridCol w="713858">
                  <a:extLst>
                    <a:ext uri="{9D8B030D-6E8A-4147-A177-3AD203B41FA5}">
                      <a16:colId xmlns:a16="http://schemas.microsoft.com/office/drawing/2014/main" val="20012"/>
                    </a:ext>
                  </a:extLst>
                </a:gridCol>
                <a:gridCol w="713858">
                  <a:extLst>
                    <a:ext uri="{9D8B030D-6E8A-4147-A177-3AD203B41FA5}">
                      <a16:colId xmlns:a16="http://schemas.microsoft.com/office/drawing/2014/main" val="20013"/>
                    </a:ext>
                  </a:extLst>
                </a:gridCol>
                <a:gridCol w="713858">
                  <a:extLst>
                    <a:ext uri="{9D8B030D-6E8A-4147-A177-3AD203B41FA5}">
                      <a16:colId xmlns:a16="http://schemas.microsoft.com/office/drawing/2014/main" val="20014"/>
                    </a:ext>
                  </a:extLst>
                </a:gridCol>
                <a:gridCol w="71385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Volume YoY Heatmap, By Sales Channel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Direct (to brand owners/OEMs)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Indirect (distributors and packaging merchants)</a:t>
            </a:r>
          </a:p>
        </p:txBody>
      </p:sp>
      <p:sp>
        <p:nvSpPr>
          <p:cNvPr id="49" name="Rectangle 48"/>
          <p:cNvSpPr/>
          <p:nvPr/>
        </p:nvSpPr>
        <p:spPr>
          <a:xfrm>
            <a:off x="1857375" y="4662488"/>
            <a:ext cx="643890" cy="190976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0C3B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517645" y="1482090"/>
            <a:ext cx="330041" cy="480060"/>
          </a:xfrm>
          <a:prstGeom prst="rect">
            <a:avLst/>
          </a:prstGeom>
        </p:spPr>
      </p:pic>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Global Market Value, By Sales Channel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extLst>
                    <a:ext uri="{9D8B030D-6E8A-4147-A177-3AD203B41FA5}">
                      <a16:colId xmlns:a16="http://schemas.microsoft.com/office/drawing/2014/main" val="20000"/>
                    </a:ext>
                  </a:extLst>
                </a:gridCol>
                <a:gridCol w="713858">
                  <a:extLst>
                    <a:ext uri="{9D8B030D-6E8A-4147-A177-3AD203B41FA5}">
                      <a16:colId xmlns:a16="http://schemas.microsoft.com/office/drawing/2014/main" val="20001"/>
                    </a:ext>
                  </a:extLst>
                </a:gridCol>
                <a:gridCol w="713858">
                  <a:extLst>
                    <a:ext uri="{9D8B030D-6E8A-4147-A177-3AD203B41FA5}">
                      <a16:colId xmlns:a16="http://schemas.microsoft.com/office/drawing/2014/main" val="20002"/>
                    </a:ext>
                  </a:extLst>
                </a:gridCol>
                <a:gridCol w="713858">
                  <a:extLst>
                    <a:ext uri="{9D8B030D-6E8A-4147-A177-3AD203B41FA5}">
                      <a16:colId xmlns:a16="http://schemas.microsoft.com/office/drawing/2014/main" val="20003"/>
                    </a:ext>
                  </a:extLst>
                </a:gridCol>
                <a:gridCol w="713858">
                  <a:extLst>
                    <a:ext uri="{9D8B030D-6E8A-4147-A177-3AD203B41FA5}">
                      <a16:colId xmlns:a16="http://schemas.microsoft.com/office/drawing/2014/main" val="20004"/>
                    </a:ext>
                  </a:extLst>
                </a:gridCol>
                <a:gridCol w="713858">
                  <a:extLst>
                    <a:ext uri="{9D8B030D-6E8A-4147-A177-3AD203B41FA5}">
                      <a16:colId xmlns:a16="http://schemas.microsoft.com/office/drawing/2014/main" val="20005"/>
                    </a:ext>
                  </a:extLst>
                </a:gridCol>
                <a:gridCol w="713858">
                  <a:extLst>
                    <a:ext uri="{9D8B030D-6E8A-4147-A177-3AD203B41FA5}">
                      <a16:colId xmlns:a16="http://schemas.microsoft.com/office/drawing/2014/main" val="20006"/>
                    </a:ext>
                  </a:extLst>
                </a:gridCol>
                <a:gridCol w="713858">
                  <a:extLst>
                    <a:ext uri="{9D8B030D-6E8A-4147-A177-3AD203B41FA5}">
                      <a16:colId xmlns:a16="http://schemas.microsoft.com/office/drawing/2014/main" val="20007"/>
                    </a:ext>
                  </a:extLst>
                </a:gridCol>
                <a:gridCol w="713858">
                  <a:extLst>
                    <a:ext uri="{9D8B030D-6E8A-4147-A177-3AD203B41FA5}">
                      <a16:colId xmlns:a16="http://schemas.microsoft.com/office/drawing/2014/main" val="20008"/>
                    </a:ext>
                  </a:extLst>
                </a:gridCol>
                <a:gridCol w="713858">
                  <a:extLst>
                    <a:ext uri="{9D8B030D-6E8A-4147-A177-3AD203B41FA5}">
                      <a16:colId xmlns:a16="http://schemas.microsoft.com/office/drawing/2014/main" val="20009"/>
                    </a:ext>
                  </a:extLst>
                </a:gridCol>
                <a:gridCol w="713858">
                  <a:extLst>
                    <a:ext uri="{9D8B030D-6E8A-4147-A177-3AD203B41FA5}">
                      <a16:colId xmlns:a16="http://schemas.microsoft.com/office/drawing/2014/main" val="20010"/>
                    </a:ext>
                  </a:extLst>
                </a:gridCol>
                <a:gridCol w="713858">
                  <a:extLst>
                    <a:ext uri="{9D8B030D-6E8A-4147-A177-3AD203B41FA5}">
                      <a16:colId xmlns:a16="http://schemas.microsoft.com/office/drawing/2014/main" val="20011"/>
                    </a:ext>
                  </a:extLst>
                </a:gridCol>
                <a:gridCol w="713858">
                  <a:extLst>
                    <a:ext uri="{9D8B030D-6E8A-4147-A177-3AD203B41FA5}">
                      <a16:colId xmlns:a16="http://schemas.microsoft.com/office/drawing/2014/main" val="20012"/>
                    </a:ext>
                  </a:extLst>
                </a:gridCol>
                <a:gridCol w="713858">
                  <a:extLst>
                    <a:ext uri="{9D8B030D-6E8A-4147-A177-3AD203B41FA5}">
                      <a16:colId xmlns:a16="http://schemas.microsoft.com/office/drawing/2014/main" val="20013"/>
                    </a:ext>
                  </a:extLst>
                </a:gridCol>
                <a:gridCol w="713858">
                  <a:extLst>
                    <a:ext uri="{9D8B030D-6E8A-4147-A177-3AD203B41FA5}">
                      <a16:colId xmlns:a16="http://schemas.microsoft.com/office/drawing/2014/main" val="20014"/>
                    </a:ext>
                  </a:extLst>
                </a:gridCol>
                <a:gridCol w="71385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YoY Heatmap, By Sales Channel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Direct (to brand owners/OEMs)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Indirect (distributors and packaging merchants)</a:t>
            </a:r>
          </a:p>
        </p:txBody>
      </p:sp>
      <p:sp>
        <p:nvSpPr>
          <p:cNvPr id="49" name="Rectangle 48"/>
          <p:cNvSpPr/>
          <p:nvPr/>
        </p:nvSpPr>
        <p:spPr>
          <a:xfrm>
            <a:off x="1857375" y="4662488"/>
            <a:ext cx="643890" cy="190976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517645" y="1482090"/>
            <a:ext cx="330041" cy="480060"/>
          </a:xfrm>
          <a:prstGeom prst="rect">
            <a:avLst/>
          </a:prstGeom>
        </p:spPr>
      </p:pic>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Partition Type × End Use</a:t>
            </a:r>
          </a:p>
          <a:p>
            <a:pPr marL="342900" indent="-323850">
              <a:lnSpc>
                <a:spcPct val="100000"/>
              </a:lnSpc>
              <a:spcAft>
                <a:spcPts val="800"/>
              </a:spcAft>
            </a:pPr>
            <a:r>
              <a:rPr sz="2000" b="0">
                <a:solidFill>
                  <a:srgbClr val="000000"/>
                </a:solidFill>
                <a:latin typeface="Calibri"/>
              </a:rPr>
              <a:t>➤	Board Construction × End Use</a:t>
            </a:r>
          </a:p>
          <a:p>
            <a:pPr marL="342900" indent="-323850">
              <a:lnSpc>
                <a:spcPct val="100000"/>
              </a:lnSpc>
              <a:spcAft>
                <a:spcPts val="800"/>
              </a:spcAft>
            </a:pPr>
            <a:r>
              <a:rPr sz="2000" b="0">
                <a:solidFill>
                  <a:srgbClr val="000000"/>
                </a:solidFill>
                <a:latin typeface="Calibri"/>
              </a:rPr>
              <a:t>➤	Cell Configuration × End Use</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Partition Type × 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Snapshot</a:t>
            </a:r>
          </a:p>
          <a:p>
            <a:pPr marL="342900" indent="-323850">
              <a:lnSpc>
                <a:spcPct val="100000"/>
              </a:lnSpc>
              <a:spcAft>
                <a:spcPts val="800"/>
              </a:spcAft>
            </a:pPr>
            <a:r>
              <a:rPr sz="2000" b="0">
                <a:solidFill>
                  <a:srgbClr val="000000"/>
                </a:solidFill>
                <a:latin typeface="Calibri"/>
              </a:rPr>
              <a:t>➤	Market Share Analysis</a:t>
            </a:r>
          </a:p>
          <a:p>
            <a:pPr marL="342900" indent="-323850">
              <a:lnSpc>
                <a:spcPct val="100000"/>
              </a:lnSpc>
              <a:spcAft>
                <a:spcPts val="800"/>
              </a:spcAft>
            </a:pPr>
            <a:r>
              <a:rPr sz="2000" b="0">
                <a:solidFill>
                  <a:srgbClr val="000000"/>
                </a:solidFill>
                <a:latin typeface="Calibri"/>
              </a:rPr>
              <a:t>➤	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Snapshot: Partition Type × End Use, 2026E vs 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Global market value (US$ Mn) for each partition type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Market Value, Partition Type × End Use, 2026E and 2036F (US$ Mn)</a:t>
            </a:r>
          </a:p>
        </p:txBody>
      </p:sp>
      <p:graphicFrame>
        <p:nvGraphicFramePr>
          <p:cNvPr id="13" name="Table 12"/>
          <p:cNvGraphicFramePr>
            <a:graphicFrameLocks noGrp="1"/>
          </p:cNvGraphicFramePr>
          <p:nvPr/>
        </p:nvGraphicFramePr>
        <p:xfrm>
          <a:off x="152400" y="1238250"/>
          <a:ext cx="11887193" cy="1866897"/>
        </p:xfrm>
        <a:graphic>
          <a:graphicData uri="http://schemas.openxmlformats.org/drawingml/2006/table">
            <a:tbl>
              <a:tblPr>
                <a:tableStyleId>{5C22544A-7EE6-4342-B048-85BDC9FD1C3A}</a:tableStyleId>
              </a:tblPr>
              <a:tblGrid>
                <a:gridCol w="2760297">
                  <a:extLst>
                    <a:ext uri="{9D8B030D-6E8A-4147-A177-3AD203B41FA5}">
                      <a16:colId xmlns:a16="http://schemas.microsoft.com/office/drawing/2014/main" val="20000"/>
                    </a:ext>
                  </a:extLst>
                </a:gridCol>
                <a:gridCol w="570431">
                  <a:extLst>
                    <a:ext uri="{9D8B030D-6E8A-4147-A177-3AD203B41FA5}">
                      <a16:colId xmlns:a16="http://schemas.microsoft.com/office/drawing/2014/main" val="20001"/>
                    </a:ext>
                  </a:extLst>
                </a:gridCol>
                <a:gridCol w="570431">
                  <a:extLst>
                    <a:ext uri="{9D8B030D-6E8A-4147-A177-3AD203B41FA5}">
                      <a16:colId xmlns:a16="http://schemas.microsoft.com/office/drawing/2014/main" val="20002"/>
                    </a:ext>
                  </a:extLst>
                </a:gridCol>
                <a:gridCol w="570431">
                  <a:extLst>
                    <a:ext uri="{9D8B030D-6E8A-4147-A177-3AD203B41FA5}">
                      <a16:colId xmlns:a16="http://schemas.microsoft.com/office/drawing/2014/main" val="20003"/>
                    </a:ext>
                  </a:extLst>
                </a:gridCol>
                <a:gridCol w="570431">
                  <a:extLst>
                    <a:ext uri="{9D8B030D-6E8A-4147-A177-3AD203B41FA5}">
                      <a16:colId xmlns:a16="http://schemas.microsoft.com/office/drawing/2014/main" val="20004"/>
                    </a:ext>
                  </a:extLst>
                </a:gridCol>
                <a:gridCol w="570431">
                  <a:extLst>
                    <a:ext uri="{9D8B030D-6E8A-4147-A177-3AD203B41FA5}">
                      <a16:colId xmlns:a16="http://schemas.microsoft.com/office/drawing/2014/main" val="20005"/>
                    </a:ext>
                  </a:extLst>
                </a:gridCol>
                <a:gridCol w="570431">
                  <a:extLst>
                    <a:ext uri="{9D8B030D-6E8A-4147-A177-3AD203B41FA5}">
                      <a16:colId xmlns:a16="http://schemas.microsoft.com/office/drawing/2014/main" val="20006"/>
                    </a:ext>
                  </a:extLst>
                </a:gridCol>
                <a:gridCol w="570431">
                  <a:extLst>
                    <a:ext uri="{9D8B030D-6E8A-4147-A177-3AD203B41FA5}">
                      <a16:colId xmlns:a16="http://schemas.microsoft.com/office/drawing/2014/main" val="20007"/>
                    </a:ext>
                  </a:extLst>
                </a:gridCol>
                <a:gridCol w="570431">
                  <a:extLst>
                    <a:ext uri="{9D8B030D-6E8A-4147-A177-3AD203B41FA5}">
                      <a16:colId xmlns:a16="http://schemas.microsoft.com/office/drawing/2014/main" val="20008"/>
                    </a:ext>
                  </a:extLst>
                </a:gridCol>
                <a:gridCol w="570431">
                  <a:extLst>
                    <a:ext uri="{9D8B030D-6E8A-4147-A177-3AD203B41FA5}">
                      <a16:colId xmlns:a16="http://schemas.microsoft.com/office/drawing/2014/main" val="20009"/>
                    </a:ext>
                  </a:extLst>
                </a:gridCol>
                <a:gridCol w="570431">
                  <a:extLst>
                    <a:ext uri="{9D8B030D-6E8A-4147-A177-3AD203B41FA5}">
                      <a16:colId xmlns:a16="http://schemas.microsoft.com/office/drawing/2014/main" val="20010"/>
                    </a:ext>
                  </a:extLst>
                </a:gridCol>
                <a:gridCol w="570431">
                  <a:extLst>
                    <a:ext uri="{9D8B030D-6E8A-4147-A177-3AD203B41FA5}">
                      <a16:colId xmlns:a16="http://schemas.microsoft.com/office/drawing/2014/main" val="20011"/>
                    </a:ext>
                  </a:extLst>
                </a:gridCol>
                <a:gridCol w="570431">
                  <a:extLst>
                    <a:ext uri="{9D8B030D-6E8A-4147-A177-3AD203B41FA5}">
                      <a16:colId xmlns:a16="http://schemas.microsoft.com/office/drawing/2014/main" val="20012"/>
                    </a:ext>
                  </a:extLst>
                </a:gridCol>
                <a:gridCol w="570431">
                  <a:extLst>
                    <a:ext uri="{9D8B030D-6E8A-4147-A177-3AD203B41FA5}">
                      <a16:colId xmlns:a16="http://schemas.microsoft.com/office/drawing/2014/main" val="20013"/>
                    </a:ext>
                  </a:extLst>
                </a:gridCol>
                <a:gridCol w="570431">
                  <a:extLst>
                    <a:ext uri="{9D8B030D-6E8A-4147-A177-3AD203B41FA5}">
                      <a16:colId xmlns:a16="http://schemas.microsoft.com/office/drawing/2014/main" val="20014"/>
                    </a:ext>
                  </a:extLst>
                </a:gridCol>
                <a:gridCol w="570431">
                  <a:extLst>
                    <a:ext uri="{9D8B030D-6E8A-4147-A177-3AD203B41FA5}">
                      <a16:colId xmlns:a16="http://schemas.microsoft.com/office/drawing/2014/main" val="20015"/>
                    </a:ext>
                  </a:extLst>
                </a:gridCol>
                <a:gridCol w="570431">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a:t>
                      </a:r>
                      <a:endParaRPr sz="1100"/>
                    </a:p>
                    <a:p>
                      <a:pPr algn="ctr"/>
                      <a:r>
                        <a:rPr sz="1100" b="1">
                          <a:solidFill>
                            <a:srgbClr val="0B2E4A"/>
                          </a:solidFill>
                          <a:latin typeface="Calibri"/>
                        </a:rPr>
                        <a:t>Home 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116395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1163955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89454" y="2344368"/>
            <a:ext cx="366712" cy="533400"/>
          </a:xfrm>
          <a:prstGeom prst="rect">
            <a:avLst/>
          </a:prstGeom>
        </p:spPr>
      </p:pic>
      <p:sp>
        <p:nvSpPr>
          <p:cNvPr id="21" name="TextBox 20"/>
          <p:cNvSpPr txBox="1"/>
          <p:nvPr/>
        </p:nvSpPr>
        <p:spPr>
          <a:xfrm>
            <a:off x="276225" y="3867150"/>
            <a:ext cx="10180178" cy="194310"/>
          </a:xfrm>
          <a:prstGeom prst="rect">
            <a:avLst/>
          </a:prstGeom>
          <a:noFill/>
        </p:spPr>
        <p:txBody>
          <a:bodyPr wrap="none" lIns="0" tIns="0" rIns="0" bIns="0">
            <a:spAutoFit/>
          </a:bodyPr>
          <a:lstStyle/>
          <a:p>
            <a:r>
              <a:rPr sz="1150" b="0">
                <a:solidFill>
                  <a:srgbClr val="2E2E2E"/>
                </a:solidFill>
                <a:latin typeface="Calibri"/>
              </a:rPr>
              <a:t>Flat dividers &amp; layer pads segment is projected to account for the largest share of the global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405557" y="3856926"/>
            <a:ext cx="134549" cy="195707"/>
          </a:xfrm>
          <a:prstGeom prst="rect">
            <a:avLst/>
          </a:prstGeom>
        </p:spPr>
      </p:pic>
      <p:sp>
        <p:nvSpPr>
          <p:cNvPr id="23" name="TextBox 22"/>
          <p:cNvSpPr txBox="1"/>
          <p:nvPr/>
        </p:nvSpPr>
        <p:spPr>
          <a:xfrm>
            <a:off x="10580666" y="3867150"/>
            <a:ext cx="1072877" cy="194310"/>
          </a:xfrm>
          <a:prstGeom prst="rect">
            <a:avLst/>
          </a:prstGeom>
          <a:noFill/>
        </p:spPr>
        <p:txBody>
          <a:bodyPr wrap="none" lIns="0" tIns="0" rIns="0" bIns="0">
            <a:spAutoFit/>
          </a:bodyPr>
          <a:lstStyle/>
          <a:p>
            <a:r>
              <a:rPr sz="1150" b="0">
                <a:solidFill>
                  <a:srgbClr val="2E2E2E"/>
                </a:solidFill>
                <a:latin typeface="Calibri"/>
              </a:rPr>
              <a:t>Mn in 2036. 'Flat</a:t>
            </a:r>
          </a:p>
        </p:txBody>
      </p:sp>
      <p:sp>
        <p:nvSpPr>
          <p:cNvPr id="24" name="TextBox 23"/>
          <p:cNvSpPr txBox="1"/>
          <p:nvPr/>
        </p:nvSpPr>
        <p:spPr>
          <a:xfrm>
            <a:off x="276225" y="4042410"/>
            <a:ext cx="4323060" cy="194310"/>
          </a:xfrm>
          <a:prstGeom prst="rect">
            <a:avLst/>
          </a:prstGeom>
          <a:noFill/>
        </p:spPr>
        <p:txBody>
          <a:bodyPr wrap="none" lIns="0" tIns="0" rIns="0" bIns="0">
            <a:spAutoFit/>
          </a:bodyPr>
          <a:lstStyle/>
          <a:p>
            <a:r>
              <a:rPr sz="1150" b="0">
                <a:solidFill>
                  <a:srgbClr val="2E2E2E"/>
                </a:solidFill>
                <a:latin typeface="Calibri"/>
              </a:rPr>
              <a:t>Dividers &amp; Layer Pads × Others' is the single largest cross-sectional cell (</a:t>
            </a:r>
          </a:p>
        </p:txBody>
      </p:sp>
      <p:pic>
        <p:nvPicPr>
          <p:cNvPr id="25" name="Picture 24" descr="lock.png"/>
          <p:cNvPicPr>
            <a:picLocks noChangeAspect="1"/>
          </p:cNvPicPr>
          <p:nvPr/>
        </p:nvPicPr>
        <p:blipFill>
          <a:blip r:embed="rId4"/>
          <a:stretch>
            <a:fillRect/>
          </a:stretch>
        </p:blipFill>
        <p:spPr>
          <a:xfrm>
            <a:off x="4548439" y="4032186"/>
            <a:ext cx="134549" cy="195707"/>
          </a:xfrm>
          <a:prstGeom prst="rect">
            <a:avLst/>
          </a:prstGeom>
        </p:spPr>
      </p:pic>
      <p:sp>
        <p:nvSpPr>
          <p:cNvPr id="26" name="TextBox 25"/>
          <p:cNvSpPr txBox="1"/>
          <p:nvPr/>
        </p:nvSpPr>
        <p:spPr>
          <a:xfrm>
            <a:off x="4723548" y="4042410"/>
            <a:ext cx="6919708" cy="194310"/>
          </a:xfrm>
          <a:prstGeom prst="rect">
            <a:avLst/>
          </a:prstGeom>
          <a:noFill/>
        </p:spPr>
        <p:txBody>
          <a:bodyPr wrap="none" lIns="0" tIns="0" rIns="0" bIns="0">
            <a:spAutoFit/>
          </a:bodyPr>
          <a:lstStyle/>
          <a:p>
            <a:r>
              <a:rPr sz="1150" b="0">
                <a:solidFill>
                  <a:srgbClr val="2E2E2E"/>
                </a:solidFill>
                <a:latin typeface="Calibri"/>
              </a:rPr>
              <a:t>US$ Mn, 2026E), while 'Flat Dividers &amp; Layer Pads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262145" y="4207446"/>
            <a:ext cx="134549" cy="195707"/>
          </a:xfrm>
          <a:prstGeom prst="rect">
            <a:avLst/>
          </a:prstGeom>
        </p:spPr>
      </p:pic>
      <p:sp>
        <p:nvSpPr>
          <p:cNvPr id="28" name="TextBox 27"/>
          <p:cNvSpPr txBox="1"/>
          <p:nvPr/>
        </p:nvSpPr>
        <p:spPr>
          <a:xfrm>
            <a:off x="437254" y="4217670"/>
            <a:ext cx="1217001" cy="194310"/>
          </a:xfrm>
          <a:prstGeom prst="rect">
            <a:avLst/>
          </a:prstGeom>
          <a:noFill/>
        </p:spPr>
        <p:txBody>
          <a:bodyPr wrap="none" lIns="0" tIns="0" rIns="0" bIns="0">
            <a:spAutoFit/>
          </a:bodyPr>
          <a:lstStyle/>
          <a:p>
            <a:r>
              <a:rPr sz="1150" b="0">
                <a:solidFill>
                  <a:srgbClr val="2E2E2E"/>
                </a:solidFill>
                <a:latin typeface="Calibri"/>
              </a:rPr>
              <a:t>over 2026E–2036F.</a:t>
            </a:r>
          </a:p>
        </p:txBody>
      </p:sp>
      <p:sp>
        <p:nvSpPr>
          <p:cNvPr id="29" name="TextBox 28"/>
          <p:cNvSpPr txBox="1"/>
          <p:nvPr/>
        </p:nvSpPr>
        <p:spPr>
          <a:xfrm>
            <a:off x="276225" y="4445507"/>
            <a:ext cx="5585879" cy="194310"/>
          </a:xfrm>
          <a:prstGeom prst="rect">
            <a:avLst/>
          </a:prstGeom>
          <a:noFill/>
        </p:spPr>
        <p:txBody>
          <a:bodyPr wrap="none" lIns="0" tIns="0" rIns="0" bIns="0">
            <a:spAutoFit/>
          </a:bodyPr>
          <a:lstStyle/>
          <a:p>
            <a:r>
              <a:rPr sz="1150" b="0">
                <a:solidFill>
                  <a:srgbClr val="2E2E2E"/>
                </a:solidFill>
                <a:latin typeface="Calibri"/>
              </a:rPr>
              <a:t>Combined, the top three partition type × end use cells generate an absolute $ opportunity of</a:t>
            </a:r>
          </a:p>
        </p:txBody>
      </p:sp>
      <p:pic>
        <p:nvPicPr>
          <p:cNvPr id="30" name="Picture 29" descr="lock.png"/>
          <p:cNvPicPr>
            <a:picLocks noChangeAspect="1"/>
          </p:cNvPicPr>
          <p:nvPr/>
        </p:nvPicPr>
        <p:blipFill>
          <a:blip r:embed="rId4"/>
          <a:stretch>
            <a:fillRect/>
          </a:stretch>
        </p:blipFill>
        <p:spPr>
          <a:xfrm>
            <a:off x="5811258" y="4435284"/>
            <a:ext cx="134549" cy="195707"/>
          </a:xfrm>
          <a:prstGeom prst="rect">
            <a:avLst/>
          </a:prstGeom>
        </p:spPr>
      </p:pic>
      <p:sp>
        <p:nvSpPr>
          <p:cNvPr id="31" name="TextBox 30"/>
          <p:cNvSpPr txBox="1"/>
          <p:nvPr/>
        </p:nvSpPr>
        <p:spPr>
          <a:xfrm>
            <a:off x="5986367" y="4445507"/>
            <a:ext cx="1155386" cy="194310"/>
          </a:xfrm>
          <a:prstGeom prst="rect">
            <a:avLst/>
          </a:prstGeom>
          <a:noFill/>
        </p:spPr>
        <p:txBody>
          <a:bodyPr wrap="none" lIns="0" tIns="0" rIns="0" bIns="0">
            <a:spAutoFit/>
          </a:bodyPr>
          <a:lstStyle/>
          <a:p>
            <a:r>
              <a:rPr sz="1150" b="0">
                <a:solidFill>
                  <a:srgbClr val="2E2E2E"/>
                </a:solidFill>
                <a:latin typeface="Calibri"/>
              </a:rPr>
              <a:t>US$ Mn by 2036F.</a:t>
            </a: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Share Analysis: Partition Type × End Use, 2026E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 share of global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Share, Partition Type × End Use, 2026E (% of each row)</a:t>
            </a:r>
          </a:p>
        </p:txBody>
      </p:sp>
      <p:graphicFrame>
        <p:nvGraphicFramePr>
          <p:cNvPr id="13" name="Table 12"/>
          <p:cNvGraphicFramePr>
            <a:graphicFrameLocks noGrp="1"/>
          </p:cNvGraphicFramePr>
          <p:nvPr/>
        </p:nvGraphicFramePr>
        <p:xfrm>
          <a:off x="152400" y="1238250"/>
          <a:ext cx="11887200" cy="1619249"/>
        </p:xfrm>
        <a:graphic>
          <a:graphicData uri="http://schemas.openxmlformats.org/drawingml/2006/table">
            <a:tbl>
              <a:tblPr>
                <a:tableStyleId>{5C22544A-7EE6-4342-B048-85BDC9FD1C3A}</a:tableStyleId>
              </a:tblPr>
              <a:tblGrid>
                <a:gridCol w="2275403">
                  <a:extLst>
                    <a:ext uri="{9D8B030D-6E8A-4147-A177-3AD203B41FA5}">
                      <a16:colId xmlns:a16="http://schemas.microsoft.com/office/drawing/2014/main" val="20000"/>
                    </a:ext>
                  </a:extLst>
                </a:gridCol>
                <a:gridCol w="954259">
                  <a:extLst>
                    <a:ext uri="{9D8B030D-6E8A-4147-A177-3AD203B41FA5}">
                      <a16:colId xmlns:a16="http://schemas.microsoft.com/office/drawing/2014/main" val="20001"/>
                    </a:ext>
                  </a:extLst>
                </a:gridCol>
                <a:gridCol w="1598062">
                  <a:extLst>
                    <a:ext uri="{9D8B030D-6E8A-4147-A177-3AD203B41FA5}">
                      <a16:colId xmlns:a16="http://schemas.microsoft.com/office/drawing/2014/main" val="20002"/>
                    </a:ext>
                  </a:extLst>
                </a:gridCol>
                <a:gridCol w="1323387">
                  <a:extLst>
                    <a:ext uri="{9D8B030D-6E8A-4147-A177-3AD203B41FA5}">
                      <a16:colId xmlns:a16="http://schemas.microsoft.com/office/drawing/2014/main" val="20003"/>
                    </a:ext>
                  </a:extLst>
                </a:gridCol>
                <a:gridCol w="1192720">
                  <a:extLst>
                    <a:ext uri="{9D8B030D-6E8A-4147-A177-3AD203B41FA5}">
                      <a16:colId xmlns:a16="http://schemas.microsoft.com/office/drawing/2014/main" val="20004"/>
                    </a:ext>
                  </a:extLst>
                </a:gridCol>
                <a:gridCol w="1787231">
                  <a:extLst>
                    <a:ext uri="{9D8B030D-6E8A-4147-A177-3AD203B41FA5}">
                      <a16:colId xmlns:a16="http://schemas.microsoft.com/office/drawing/2014/main" val="20005"/>
                    </a:ext>
                  </a:extLst>
                </a:gridCol>
                <a:gridCol w="1697958">
                  <a:extLst>
                    <a:ext uri="{9D8B030D-6E8A-4147-A177-3AD203B41FA5}">
                      <a16:colId xmlns:a16="http://schemas.microsoft.com/office/drawing/2014/main" val="20006"/>
                    </a:ext>
                  </a:extLst>
                </a:gridCol>
                <a:gridCol w="514374">
                  <a:extLst>
                    <a:ext uri="{9D8B030D-6E8A-4147-A177-3AD203B41FA5}">
                      <a16:colId xmlns:a16="http://schemas.microsoft.com/office/drawing/2014/main" val="20007"/>
                    </a:ext>
                  </a:extLst>
                </a:gridCol>
                <a:gridCol w="543806">
                  <a:extLst>
                    <a:ext uri="{9D8B030D-6E8A-4147-A177-3AD203B41FA5}">
                      <a16:colId xmlns:a16="http://schemas.microsoft.com/office/drawing/2014/main" val="20008"/>
                    </a:ext>
                  </a:extLst>
                </a:gridCol>
              </a:tblGrid>
              <a:tr h="631697">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88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88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88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88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867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7286625"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257550"/>
            <a:ext cx="70961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End Use Mix by Partition Type, 2026E (% share)</a:t>
            </a:r>
          </a:p>
        </p:txBody>
      </p:sp>
      <p:graphicFrame>
        <p:nvGraphicFramePr>
          <p:cNvPr id="17" name="Chart 16"/>
          <p:cNvGraphicFramePr>
            <a:graphicFrameLocks noGrp="1"/>
          </p:cNvGraphicFramePr>
          <p:nvPr/>
        </p:nvGraphicFramePr>
        <p:xfrm>
          <a:off x="238125" y="3486150"/>
          <a:ext cx="7096125" cy="3086100"/>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7581900" y="3200400"/>
            <a:ext cx="445770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715250" y="3286125"/>
            <a:ext cx="4191000" cy="209550"/>
          </a:xfrm>
          <a:prstGeom prst="rect">
            <a:avLst/>
          </a:prstGeom>
          <a:noFill/>
        </p:spPr>
        <p:txBody>
          <a:bodyPr wrap="square" lIns="0" tIns="9525" rIns="19050" bIns="9525">
            <a:spAutoFit/>
          </a:bodyPr>
          <a:lstStyle/>
          <a:p>
            <a:pPr algn="l"/>
            <a:r>
              <a:rPr sz="1300" b="1">
                <a:solidFill>
                  <a:srgbClr val="0B2E4A"/>
                </a:solidFill>
                <a:latin typeface="Calibri"/>
              </a:rPr>
              <a:t>Share Insights</a:t>
            </a:r>
          </a:p>
        </p:txBody>
      </p:sp>
      <p:sp>
        <p:nvSpPr>
          <p:cNvPr id="20" name="Rectangle 19"/>
          <p:cNvSpPr/>
          <p:nvPr/>
        </p:nvSpPr>
        <p:spPr>
          <a:xfrm>
            <a:off x="7715250" y="3524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7715250" y="3609975"/>
            <a:ext cx="4191000" cy="29432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TextBox 2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047011" y="209702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4116149"/>
            <a:ext cx="440818" cy="641190"/>
          </a:xfrm>
          <a:prstGeom prst="rect">
            <a:avLst/>
          </a:prstGeom>
        </p:spPr>
      </p:pic>
      <p:sp>
        <p:nvSpPr>
          <p:cNvPr id="25" name="TextBox 24"/>
          <p:cNvSpPr txBox="1"/>
          <p:nvPr/>
        </p:nvSpPr>
        <p:spPr>
          <a:xfrm>
            <a:off x="7715250" y="3619500"/>
            <a:ext cx="3801045" cy="194310"/>
          </a:xfrm>
          <a:prstGeom prst="rect">
            <a:avLst/>
          </a:prstGeom>
          <a:noFill/>
        </p:spPr>
        <p:txBody>
          <a:bodyPr wrap="none" lIns="0" tIns="0" rIns="0" bIns="0">
            <a:spAutoFit/>
          </a:bodyPr>
          <a:lstStyle/>
          <a:p>
            <a:r>
              <a:rPr sz="1150" b="0">
                <a:solidFill>
                  <a:srgbClr val="2E2E2E"/>
                </a:solidFill>
                <a:latin typeface="Calibri"/>
              </a:rPr>
              <a:t>▪ 'Others' holds the highest share of 'Slotted (Interlocking Grid)</a:t>
            </a:r>
          </a:p>
        </p:txBody>
      </p:sp>
      <p:sp>
        <p:nvSpPr>
          <p:cNvPr id="26" name="TextBox 25"/>
          <p:cNvSpPr txBox="1"/>
          <p:nvPr/>
        </p:nvSpPr>
        <p:spPr>
          <a:xfrm>
            <a:off x="7715250" y="3794760"/>
            <a:ext cx="833263" cy="194310"/>
          </a:xfrm>
          <a:prstGeom prst="rect">
            <a:avLst/>
          </a:prstGeom>
          <a:noFill/>
        </p:spPr>
        <p:txBody>
          <a:bodyPr wrap="none" lIns="0" tIns="0" rIns="0" bIns="0">
            <a:spAutoFit/>
          </a:bodyPr>
          <a:lstStyle/>
          <a:p>
            <a:r>
              <a:rPr sz="1150" b="0">
                <a:solidFill>
                  <a:srgbClr val="2E2E2E"/>
                </a:solidFill>
                <a:latin typeface="Calibri"/>
              </a:rPr>
              <a:t>Partitions' at</a:t>
            </a:r>
          </a:p>
        </p:txBody>
      </p:sp>
      <p:pic>
        <p:nvPicPr>
          <p:cNvPr id="27" name="Picture 26" descr="lock.png"/>
          <p:cNvPicPr>
            <a:picLocks noChangeAspect="1"/>
          </p:cNvPicPr>
          <p:nvPr/>
        </p:nvPicPr>
        <p:blipFill>
          <a:blip r:embed="rId5"/>
          <a:stretch>
            <a:fillRect/>
          </a:stretch>
        </p:blipFill>
        <p:spPr>
          <a:xfrm>
            <a:off x="8497667" y="3784536"/>
            <a:ext cx="134549" cy="195707"/>
          </a:xfrm>
          <a:prstGeom prst="rect">
            <a:avLst/>
          </a:prstGeom>
        </p:spPr>
      </p:pic>
      <p:sp>
        <p:nvSpPr>
          <p:cNvPr id="28" name="TextBox 27"/>
          <p:cNvSpPr txBox="1"/>
          <p:nvPr/>
        </p:nvSpPr>
        <p:spPr>
          <a:xfrm>
            <a:off x="8672777" y="3794760"/>
            <a:ext cx="569404" cy="194310"/>
          </a:xfrm>
          <a:prstGeom prst="rect">
            <a:avLst/>
          </a:prstGeom>
          <a:noFill/>
        </p:spPr>
        <p:txBody>
          <a:bodyPr wrap="none" lIns="0" tIns="0" rIns="0" bIns="0">
            <a:spAutoFit/>
          </a:bodyPr>
          <a:lstStyle/>
          <a:p>
            <a:r>
              <a:rPr sz="1150" b="0">
                <a:solidFill>
                  <a:srgbClr val="2E2E2E"/>
                </a:solidFill>
                <a:latin typeface="Calibri"/>
              </a:rPr>
              <a:t>(2026E).</a:t>
            </a:r>
          </a:p>
        </p:txBody>
      </p:sp>
      <p:sp>
        <p:nvSpPr>
          <p:cNvPr id="29" name="TextBox 28"/>
          <p:cNvSpPr txBox="1"/>
          <p:nvPr/>
        </p:nvSpPr>
        <p:spPr>
          <a:xfrm>
            <a:off x="7715250" y="4022597"/>
            <a:ext cx="3886336" cy="194310"/>
          </a:xfrm>
          <a:prstGeom prst="rect">
            <a:avLst/>
          </a:prstGeom>
          <a:noFill/>
        </p:spPr>
        <p:txBody>
          <a:bodyPr wrap="none" lIns="0" tIns="0" rIns="0" bIns="0">
            <a:spAutoFit/>
          </a:bodyPr>
          <a:lstStyle/>
          <a:p>
            <a:r>
              <a:rPr sz="1150" b="0">
                <a:solidFill>
                  <a:srgbClr val="2E2E2E"/>
                </a:solidFill>
                <a:latin typeface="Calibri"/>
              </a:rPr>
              <a:t>▪ 'Slotted (Interlocking Grid) Partitions' is the most concentrated</a:t>
            </a:r>
          </a:p>
        </p:txBody>
      </p:sp>
      <p:sp>
        <p:nvSpPr>
          <p:cNvPr id="30" name="TextBox 29"/>
          <p:cNvSpPr txBox="1"/>
          <p:nvPr/>
        </p:nvSpPr>
        <p:spPr>
          <a:xfrm>
            <a:off x="7715250" y="4197857"/>
            <a:ext cx="2026480" cy="194310"/>
          </a:xfrm>
          <a:prstGeom prst="rect">
            <a:avLst/>
          </a:prstGeom>
          <a:noFill/>
        </p:spPr>
        <p:txBody>
          <a:bodyPr wrap="none" lIns="0" tIns="0" rIns="0" bIns="0">
            <a:spAutoFit/>
          </a:bodyPr>
          <a:lstStyle/>
          <a:p>
            <a:r>
              <a:rPr sz="1150" b="0">
                <a:solidFill>
                  <a:srgbClr val="2E2E2E"/>
                </a:solidFill>
                <a:latin typeface="Calibri"/>
              </a:rPr>
              <a:t>partition type sub-segment, with</a:t>
            </a:r>
          </a:p>
        </p:txBody>
      </p:sp>
      <p:pic>
        <p:nvPicPr>
          <p:cNvPr id="31" name="Picture 30" descr="lock.png"/>
          <p:cNvPicPr>
            <a:picLocks noChangeAspect="1"/>
          </p:cNvPicPr>
          <p:nvPr/>
        </p:nvPicPr>
        <p:blipFill>
          <a:blip r:embed="rId5"/>
          <a:stretch>
            <a:fillRect/>
          </a:stretch>
        </p:blipFill>
        <p:spPr>
          <a:xfrm>
            <a:off x="9690884" y="4187634"/>
            <a:ext cx="134549" cy="195707"/>
          </a:xfrm>
          <a:prstGeom prst="rect">
            <a:avLst/>
          </a:prstGeom>
        </p:spPr>
      </p:pic>
      <p:sp>
        <p:nvSpPr>
          <p:cNvPr id="32" name="TextBox 31"/>
          <p:cNvSpPr txBox="1"/>
          <p:nvPr/>
        </p:nvSpPr>
        <p:spPr>
          <a:xfrm>
            <a:off x="9865994" y="4197857"/>
            <a:ext cx="1462819" cy="194310"/>
          </a:xfrm>
          <a:prstGeom prst="rect">
            <a:avLst/>
          </a:prstGeom>
          <a:noFill/>
        </p:spPr>
        <p:txBody>
          <a:bodyPr wrap="none" lIns="0" tIns="0" rIns="0" bIns="0">
            <a:spAutoFit/>
          </a:bodyPr>
          <a:lstStyle/>
          <a:p>
            <a:r>
              <a:rPr sz="1150" b="0">
                <a:solidFill>
                  <a:srgbClr val="2E2E2E"/>
                </a:solidFill>
                <a:latin typeface="Calibri"/>
              </a:rPr>
              <a:t>of its value via 'Others'.</a:t>
            </a:r>
          </a:p>
        </p:txBody>
      </p:sp>
      <p:sp>
        <p:nvSpPr>
          <p:cNvPr id="33" name="TextBox 32"/>
          <p:cNvSpPr txBox="1"/>
          <p:nvPr/>
        </p:nvSpPr>
        <p:spPr>
          <a:xfrm>
            <a:off x="7715250" y="4425695"/>
            <a:ext cx="2021061" cy="194310"/>
          </a:xfrm>
          <a:prstGeom prst="rect">
            <a:avLst/>
          </a:prstGeom>
          <a:noFill/>
        </p:spPr>
        <p:txBody>
          <a:bodyPr wrap="none" lIns="0" tIns="0" rIns="0" bIns="0">
            <a:spAutoFit/>
          </a:bodyPr>
          <a:lstStyle/>
          <a:p>
            <a:r>
              <a:rPr sz="1150" b="0">
                <a:solidFill>
                  <a:srgbClr val="2E2E2E"/>
                </a:solidFill>
                <a:latin typeface="Calibri"/>
              </a:rPr>
              <a:t>▪ 'Electronics &amp; Electrical' gains +</a:t>
            </a:r>
          </a:p>
        </p:txBody>
      </p:sp>
      <p:pic>
        <p:nvPicPr>
          <p:cNvPr id="34" name="Picture 33" descr="lock.png"/>
          <p:cNvPicPr>
            <a:picLocks noChangeAspect="1"/>
          </p:cNvPicPr>
          <p:nvPr/>
        </p:nvPicPr>
        <p:blipFill>
          <a:blip r:embed="rId5"/>
          <a:stretch>
            <a:fillRect/>
          </a:stretch>
        </p:blipFill>
        <p:spPr>
          <a:xfrm>
            <a:off x="9685465" y="4415472"/>
            <a:ext cx="134549" cy="195707"/>
          </a:xfrm>
          <a:prstGeom prst="rect">
            <a:avLst/>
          </a:prstGeom>
        </p:spPr>
      </p:pic>
      <p:sp>
        <p:nvSpPr>
          <p:cNvPr id="35" name="TextBox 34"/>
          <p:cNvSpPr txBox="1"/>
          <p:nvPr/>
        </p:nvSpPr>
        <p:spPr>
          <a:xfrm>
            <a:off x="9860574" y="4425695"/>
            <a:ext cx="1616000" cy="194310"/>
          </a:xfrm>
          <a:prstGeom prst="rect">
            <a:avLst/>
          </a:prstGeom>
          <a:noFill/>
        </p:spPr>
        <p:txBody>
          <a:bodyPr wrap="none" lIns="0" tIns="0" rIns="0" bIns="0">
            <a:spAutoFit/>
          </a:bodyPr>
          <a:lstStyle/>
          <a:p>
            <a:r>
              <a:rPr sz="1150" b="0">
                <a:solidFill>
                  <a:srgbClr val="2E2E2E"/>
                </a:solidFill>
                <a:latin typeface="Calibri"/>
              </a:rPr>
              <a:t>BPS of share of the Global</a:t>
            </a:r>
          </a:p>
        </p:txBody>
      </p:sp>
      <p:sp>
        <p:nvSpPr>
          <p:cNvPr id="36" name="TextBox 35"/>
          <p:cNvSpPr txBox="1"/>
          <p:nvPr/>
        </p:nvSpPr>
        <p:spPr>
          <a:xfrm>
            <a:off x="7715250" y="4600955"/>
            <a:ext cx="1462605" cy="194310"/>
          </a:xfrm>
          <a:prstGeom prst="rect">
            <a:avLst/>
          </a:prstGeom>
          <a:noFill/>
        </p:spPr>
        <p:txBody>
          <a:bodyPr wrap="none" lIns="0" tIns="0" rIns="0" bIns="0">
            <a:spAutoFit/>
          </a:bodyPr>
          <a:lstStyle/>
          <a:p>
            <a:r>
              <a:rPr sz="1150" b="0">
                <a:solidFill>
                  <a:srgbClr val="2E2E2E"/>
                </a:solidFill>
                <a:latin typeface="Calibri"/>
              </a:rPr>
              <a:t>cross-section by 2036F.</a:t>
            </a:r>
          </a:p>
        </p:txBody>
      </p:sp>
      <p:sp>
        <p:nvSpPr>
          <p:cNvPr id="37" name="lockshield_17"/>
          <p:cNvSpPr/>
          <p:nvPr/>
        </p:nvSpPr>
        <p:spPr>
          <a:xfrm>
            <a:off x="238125" y="3486150"/>
            <a:ext cx="7096125" cy="3086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&amp; Attractiveness: Partition Type × End Use, 2026E–2036F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 Opportunity (US$ Mn) and Value CAGR, Partition Type × End Use, 2026E–2036F</a:t>
            </a:r>
          </a:p>
        </p:txBody>
      </p:sp>
      <p:graphicFrame>
        <p:nvGraphicFramePr>
          <p:cNvPr id="13" name="Table 12"/>
          <p:cNvGraphicFramePr>
            <a:graphicFrameLocks noGrp="1"/>
          </p:cNvGraphicFramePr>
          <p:nvPr/>
        </p:nvGraphicFramePr>
        <p:xfrm>
          <a:off x="152400" y="1238250"/>
          <a:ext cx="11887207" cy="1866897"/>
        </p:xfrm>
        <a:graphic>
          <a:graphicData uri="http://schemas.openxmlformats.org/drawingml/2006/table">
            <a:tbl>
              <a:tblPr>
                <a:tableStyleId>{5C22544A-7EE6-4342-B048-85BDC9FD1C3A}</a:tableStyleId>
              </a:tblPr>
              <a:tblGrid>
                <a:gridCol w="2338807">
                  <a:extLst>
                    <a:ext uri="{9D8B030D-6E8A-4147-A177-3AD203B41FA5}">
                      <a16:colId xmlns:a16="http://schemas.microsoft.com/office/drawing/2014/main" val="20000"/>
                    </a:ext>
                  </a:extLst>
                </a:gridCol>
                <a:gridCol w="596775">
                  <a:extLst>
                    <a:ext uri="{9D8B030D-6E8A-4147-A177-3AD203B41FA5}">
                      <a16:colId xmlns:a16="http://schemas.microsoft.com/office/drawing/2014/main" val="20001"/>
                    </a:ext>
                  </a:extLst>
                </a:gridCol>
                <a:gridCol w="596775">
                  <a:extLst>
                    <a:ext uri="{9D8B030D-6E8A-4147-A177-3AD203B41FA5}">
                      <a16:colId xmlns:a16="http://schemas.microsoft.com/office/drawing/2014/main" val="20002"/>
                    </a:ext>
                  </a:extLst>
                </a:gridCol>
                <a:gridCol w="596775">
                  <a:extLst>
                    <a:ext uri="{9D8B030D-6E8A-4147-A177-3AD203B41FA5}">
                      <a16:colId xmlns:a16="http://schemas.microsoft.com/office/drawing/2014/main" val="20003"/>
                    </a:ext>
                  </a:extLst>
                </a:gridCol>
                <a:gridCol w="596775">
                  <a:extLst>
                    <a:ext uri="{9D8B030D-6E8A-4147-A177-3AD203B41FA5}">
                      <a16:colId xmlns:a16="http://schemas.microsoft.com/office/drawing/2014/main" val="20004"/>
                    </a:ext>
                  </a:extLst>
                </a:gridCol>
                <a:gridCol w="596775">
                  <a:extLst>
                    <a:ext uri="{9D8B030D-6E8A-4147-A177-3AD203B41FA5}">
                      <a16:colId xmlns:a16="http://schemas.microsoft.com/office/drawing/2014/main" val="20005"/>
                    </a:ext>
                  </a:extLst>
                </a:gridCol>
                <a:gridCol w="596775">
                  <a:extLst>
                    <a:ext uri="{9D8B030D-6E8A-4147-A177-3AD203B41FA5}">
                      <a16:colId xmlns:a16="http://schemas.microsoft.com/office/drawing/2014/main" val="20006"/>
                    </a:ext>
                  </a:extLst>
                </a:gridCol>
                <a:gridCol w="596775">
                  <a:extLst>
                    <a:ext uri="{9D8B030D-6E8A-4147-A177-3AD203B41FA5}">
                      <a16:colId xmlns:a16="http://schemas.microsoft.com/office/drawing/2014/main" val="20007"/>
                    </a:ext>
                  </a:extLst>
                </a:gridCol>
                <a:gridCol w="596775">
                  <a:extLst>
                    <a:ext uri="{9D8B030D-6E8A-4147-A177-3AD203B41FA5}">
                      <a16:colId xmlns:a16="http://schemas.microsoft.com/office/drawing/2014/main" val="20008"/>
                    </a:ext>
                  </a:extLst>
                </a:gridCol>
                <a:gridCol w="596775">
                  <a:extLst>
                    <a:ext uri="{9D8B030D-6E8A-4147-A177-3AD203B41FA5}">
                      <a16:colId xmlns:a16="http://schemas.microsoft.com/office/drawing/2014/main" val="20009"/>
                    </a:ext>
                  </a:extLst>
                </a:gridCol>
                <a:gridCol w="596775">
                  <a:extLst>
                    <a:ext uri="{9D8B030D-6E8A-4147-A177-3AD203B41FA5}">
                      <a16:colId xmlns:a16="http://schemas.microsoft.com/office/drawing/2014/main" val="20010"/>
                    </a:ext>
                  </a:extLst>
                </a:gridCol>
                <a:gridCol w="596775">
                  <a:extLst>
                    <a:ext uri="{9D8B030D-6E8A-4147-A177-3AD203B41FA5}">
                      <a16:colId xmlns:a16="http://schemas.microsoft.com/office/drawing/2014/main" val="20011"/>
                    </a:ext>
                  </a:extLst>
                </a:gridCol>
                <a:gridCol w="596775">
                  <a:extLst>
                    <a:ext uri="{9D8B030D-6E8A-4147-A177-3AD203B41FA5}">
                      <a16:colId xmlns:a16="http://schemas.microsoft.com/office/drawing/2014/main" val="20012"/>
                    </a:ext>
                  </a:extLst>
                </a:gridCol>
                <a:gridCol w="596775">
                  <a:extLst>
                    <a:ext uri="{9D8B030D-6E8A-4147-A177-3AD203B41FA5}">
                      <a16:colId xmlns:a16="http://schemas.microsoft.com/office/drawing/2014/main" val="20013"/>
                    </a:ext>
                  </a:extLst>
                </a:gridCol>
                <a:gridCol w="596775">
                  <a:extLst>
                    <a:ext uri="{9D8B030D-6E8A-4147-A177-3AD203B41FA5}">
                      <a16:colId xmlns:a16="http://schemas.microsoft.com/office/drawing/2014/main" val="20014"/>
                    </a:ext>
                  </a:extLst>
                </a:gridCol>
                <a:gridCol w="596775">
                  <a:extLst>
                    <a:ext uri="{9D8B030D-6E8A-4147-A177-3AD203B41FA5}">
                      <a16:colId xmlns:a16="http://schemas.microsoft.com/office/drawing/2014/main" val="20015"/>
                    </a:ext>
                  </a:extLst>
                </a:gridCol>
                <a:gridCol w="596775">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5334000" cy="209550"/>
          </a:xfrm>
          <a:prstGeom prst="rect">
            <a:avLst/>
          </a:prstGeom>
          <a:noFill/>
        </p:spPr>
        <p:txBody>
          <a:bodyPr wrap="square" lIns="0" tIns="9525" rIns="19050"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53340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029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029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1248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1248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220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10220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'Flat Dividers &amp; Layer Pads × Food &amp; Beverage' ranks highest (5/5); 'Slotted Partitions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078717" y="2344368"/>
            <a:ext cx="366712" cy="533400"/>
          </a:xfrm>
          <a:prstGeom prst="rect">
            <a:avLst/>
          </a:prstGeom>
        </p:spPr>
      </p:pic>
      <p:sp>
        <p:nvSpPr>
          <p:cNvPr id="33" name="TextBox 32"/>
          <p:cNvSpPr txBox="1"/>
          <p:nvPr/>
        </p:nvSpPr>
        <p:spPr>
          <a:xfrm>
            <a:off x="276225" y="3867150"/>
            <a:ext cx="3433067" cy="194310"/>
          </a:xfrm>
          <a:prstGeom prst="rect">
            <a:avLst/>
          </a:prstGeom>
          <a:noFill/>
        </p:spPr>
        <p:txBody>
          <a:bodyPr wrap="none" lIns="0" tIns="0" rIns="0" bIns="0">
            <a:spAutoFit/>
          </a:bodyPr>
          <a:lstStyle/>
          <a:p>
            <a:r>
              <a:rPr sz="1150" b="0">
                <a:solidFill>
                  <a:srgbClr val="2E2E2E"/>
                </a:solidFill>
                <a:latin typeface="Calibri"/>
              </a:rPr>
              <a:t>▪ 1. Flat Dividers &amp; Layer Pads × Electronics &amp; Electrical –</a:t>
            </a:r>
          </a:p>
        </p:txBody>
      </p:sp>
      <p:pic>
        <p:nvPicPr>
          <p:cNvPr id="34" name="Picture 33" descr="lock.png"/>
          <p:cNvPicPr>
            <a:picLocks noChangeAspect="1"/>
          </p:cNvPicPr>
          <p:nvPr/>
        </p:nvPicPr>
        <p:blipFill>
          <a:blip r:embed="rId4"/>
          <a:stretch>
            <a:fillRect/>
          </a:stretch>
        </p:blipFill>
        <p:spPr>
          <a:xfrm>
            <a:off x="3658446" y="3856926"/>
            <a:ext cx="134549" cy="195707"/>
          </a:xfrm>
          <a:prstGeom prst="rect">
            <a:avLst/>
          </a:prstGeom>
        </p:spPr>
      </p:pic>
      <p:sp>
        <p:nvSpPr>
          <p:cNvPr id="35" name="TextBox 34"/>
          <p:cNvSpPr txBox="1"/>
          <p:nvPr/>
        </p:nvSpPr>
        <p:spPr>
          <a:xfrm>
            <a:off x="3833556" y="3867150"/>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95707" y="3856926"/>
            <a:ext cx="134549" cy="195707"/>
          </a:xfrm>
          <a:prstGeom prst="rect">
            <a:avLst/>
          </a:prstGeom>
        </p:spPr>
      </p:pic>
      <p:sp>
        <p:nvSpPr>
          <p:cNvPr id="37" name="TextBox 36"/>
          <p:cNvSpPr txBox="1"/>
          <p:nvPr/>
        </p:nvSpPr>
        <p:spPr>
          <a:xfrm>
            <a:off x="4070817" y="3867150"/>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38" name="TextBox 37"/>
          <p:cNvSpPr txBox="1"/>
          <p:nvPr/>
        </p:nvSpPr>
        <p:spPr>
          <a:xfrm>
            <a:off x="276225" y="4094987"/>
            <a:ext cx="3099289" cy="194310"/>
          </a:xfrm>
          <a:prstGeom prst="rect">
            <a:avLst/>
          </a:prstGeom>
          <a:noFill/>
        </p:spPr>
        <p:txBody>
          <a:bodyPr wrap="none" lIns="0" tIns="0" rIns="0" bIns="0">
            <a:spAutoFit/>
          </a:bodyPr>
          <a:lstStyle/>
          <a:p>
            <a:r>
              <a:rPr sz="1150" b="0">
                <a:solidFill>
                  <a:srgbClr val="2E2E2E"/>
                </a:solidFill>
                <a:latin typeface="Calibri"/>
              </a:rPr>
              <a:t>▪ 2. Flat Dividers &amp; Layer Pads × Food &amp; Beverage –</a:t>
            </a:r>
          </a:p>
        </p:txBody>
      </p:sp>
      <p:pic>
        <p:nvPicPr>
          <p:cNvPr id="39" name="Picture 38" descr="lock.png"/>
          <p:cNvPicPr>
            <a:picLocks noChangeAspect="1"/>
          </p:cNvPicPr>
          <p:nvPr/>
        </p:nvPicPr>
        <p:blipFill>
          <a:blip r:embed="rId4"/>
          <a:stretch>
            <a:fillRect/>
          </a:stretch>
        </p:blipFill>
        <p:spPr>
          <a:xfrm>
            <a:off x="3324668" y="4084764"/>
            <a:ext cx="134549" cy="195707"/>
          </a:xfrm>
          <a:prstGeom prst="rect">
            <a:avLst/>
          </a:prstGeom>
        </p:spPr>
      </p:pic>
      <p:sp>
        <p:nvSpPr>
          <p:cNvPr id="40" name="TextBox 39"/>
          <p:cNvSpPr txBox="1"/>
          <p:nvPr/>
        </p:nvSpPr>
        <p:spPr>
          <a:xfrm>
            <a:off x="3499777" y="4094987"/>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561929" y="4084764"/>
            <a:ext cx="134549" cy="195707"/>
          </a:xfrm>
          <a:prstGeom prst="rect">
            <a:avLst/>
          </a:prstGeom>
        </p:spPr>
      </p:pic>
      <p:sp>
        <p:nvSpPr>
          <p:cNvPr id="42" name="TextBox 41"/>
          <p:cNvSpPr txBox="1"/>
          <p:nvPr/>
        </p:nvSpPr>
        <p:spPr>
          <a:xfrm>
            <a:off x="3737038" y="4094987"/>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3" name="TextBox 42"/>
          <p:cNvSpPr txBox="1"/>
          <p:nvPr/>
        </p:nvSpPr>
        <p:spPr>
          <a:xfrm>
            <a:off x="276225" y="4322825"/>
            <a:ext cx="4236913" cy="194310"/>
          </a:xfrm>
          <a:prstGeom prst="rect">
            <a:avLst/>
          </a:prstGeom>
          <a:noFill/>
        </p:spPr>
        <p:txBody>
          <a:bodyPr wrap="none" lIns="0" tIns="0" rIns="0" bIns="0">
            <a:spAutoFit/>
          </a:bodyPr>
          <a:lstStyle/>
          <a:p>
            <a:r>
              <a:rPr sz="1150" b="0">
                <a:solidFill>
                  <a:srgbClr val="2E2E2E"/>
                </a:solidFill>
                <a:latin typeface="Calibri"/>
              </a:rPr>
              <a:t>▪ 3. Flat Dividers &amp; Layer Pads × Glassware, Ceramics &amp; Home Goods –</a:t>
            </a:r>
          </a:p>
        </p:txBody>
      </p:sp>
      <p:pic>
        <p:nvPicPr>
          <p:cNvPr id="44" name="Picture 43" descr="lock.png"/>
          <p:cNvPicPr>
            <a:picLocks noChangeAspect="1"/>
          </p:cNvPicPr>
          <p:nvPr/>
        </p:nvPicPr>
        <p:blipFill>
          <a:blip r:embed="rId4"/>
          <a:stretch>
            <a:fillRect/>
          </a:stretch>
        </p:blipFill>
        <p:spPr>
          <a:xfrm>
            <a:off x="4462292" y="4312602"/>
            <a:ext cx="134549" cy="195707"/>
          </a:xfrm>
          <a:prstGeom prst="rect">
            <a:avLst/>
          </a:prstGeom>
        </p:spPr>
      </p:pic>
      <p:sp>
        <p:nvSpPr>
          <p:cNvPr id="45" name="TextBox 44"/>
          <p:cNvSpPr txBox="1"/>
          <p:nvPr/>
        </p:nvSpPr>
        <p:spPr>
          <a:xfrm>
            <a:off x="4637401" y="4322825"/>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699553" y="4312602"/>
            <a:ext cx="134549" cy="195707"/>
          </a:xfrm>
          <a:prstGeom prst="rect">
            <a:avLst/>
          </a:prstGeom>
        </p:spPr>
      </p:pic>
      <p:sp>
        <p:nvSpPr>
          <p:cNvPr id="47" name="TextBox 46"/>
          <p:cNvSpPr txBox="1"/>
          <p:nvPr/>
        </p:nvSpPr>
        <p:spPr>
          <a:xfrm>
            <a:off x="4874662" y="4322825"/>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48" name="TextBox 47"/>
          <p:cNvSpPr txBox="1"/>
          <p:nvPr/>
        </p:nvSpPr>
        <p:spPr>
          <a:xfrm>
            <a:off x="276225" y="4550663"/>
            <a:ext cx="2485739" cy="194310"/>
          </a:xfrm>
          <a:prstGeom prst="rect">
            <a:avLst/>
          </a:prstGeom>
          <a:noFill/>
        </p:spPr>
        <p:txBody>
          <a:bodyPr wrap="none" lIns="0" tIns="0" rIns="0" bIns="0">
            <a:spAutoFit/>
          </a:bodyPr>
          <a:lstStyle/>
          <a:p>
            <a:r>
              <a:rPr sz="1150" b="0">
                <a:solidFill>
                  <a:srgbClr val="2E2E2E"/>
                </a:solidFill>
                <a:latin typeface="Calibri"/>
              </a:rPr>
              <a:t>▪ 4. Flat Dividers &amp; Layer Pads × Others –</a:t>
            </a:r>
          </a:p>
        </p:txBody>
      </p:sp>
      <p:pic>
        <p:nvPicPr>
          <p:cNvPr id="49" name="Picture 48" descr="lock.png"/>
          <p:cNvPicPr>
            <a:picLocks noChangeAspect="1"/>
          </p:cNvPicPr>
          <p:nvPr/>
        </p:nvPicPr>
        <p:blipFill>
          <a:blip r:embed="rId4"/>
          <a:stretch>
            <a:fillRect/>
          </a:stretch>
        </p:blipFill>
        <p:spPr>
          <a:xfrm>
            <a:off x="2711118" y="4540440"/>
            <a:ext cx="134549" cy="195707"/>
          </a:xfrm>
          <a:prstGeom prst="rect">
            <a:avLst/>
          </a:prstGeom>
        </p:spPr>
      </p:pic>
      <p:sp>
        <p:nvSpPr>
          <p:cNvPr id="50" name="TextBox 49"/>
          <p:cNvSpPr txBox="1"/>
          <p:nvPr/>
        </p:nvSpPr>
        <p:spPr>
          <a:xfrm>
            <a:off x="2886227" y="4550663"/>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948379" y="4540440"/>
            <a:ext cx="134549" cy="195707"/>
          </a:xfrm>
          <a:prstGeom prst="rect">
            <a:avLst/>
          </a:prstGeom>
        </p:spPr>
      </p:pic>
      <p:sp>
        <p:nvSpPr>
          <p:cNvPr id="52" name="TextBox 51"/>
          <p:cNvSpPr txBox="1"/>
          <p:nvPr/>
        </p:nvSpPr>
        <p:spPr>
          <a:xfrm>
            <a:off x="3123488" y="4550663"/>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3" name="TextBox 52"/>
          <p:cNvSpPr txBox="1"/>
          <p:nvPr/>
        </p:nvSpPr>
        <p:spPr>
          <a:xfrm>
            <a:off x="276225" y="4778501"/>
            <a:ext cx="4302521" cy="194310"/>
          </a:xfrm>
          <a:prstGeom prst="rect">
            <a:avLst/>
          </a:prstGeom>
          <a:noFill/>
        </p:spPr>
        <p:txBody>
          <a:bodyPr wrap="none" lIns="0" tIns="0" rIns="0" bIns="0">
            <a:spAutoFit/>
          </a:bodyPr>
          <a:lstStyle/>
          <a:p>
            <a:r>
              <a:rPr sz="1150" b="0">
                <a:solidFill>
                  <a:srgbClr val="2E2E2E"/>
                </a:solidFill>
                <a:latin typeface="Calibri"/>
              </a:rPr>
              <a:t>▪ 5. Flat Dividers &amp; Layer Pads × Automotive &amp; Industrial Components –</a:t>
            </a:r>
          </a:p>
        </p:txBody>
      </p:sp>
      <p:pic>
        <p:nvPicPr>
          <p:cNvPr id="54" name="Picture 53" descr="lock.png"/>
          <p:cNvPicPr>
            <a:picLocks noChangeAspect="1"/>
          </p:cNvPicPr>
          <p:nvPr/>
        </p:nvPicPr>
        <p:blipFill>
          <a:blip r:embed="rId4"/>
          <a:stretch>
            <a:fillRect/>
          </a:stretch>
        </p:blipFill>
        <p:spPr>
          <a:xfrm>
            <a:off x="4527900" y="4768278"/>
            <a:ext cx="134549" cy="195707"/>
          </a:xfrm>
          <a:prstGeom prst="rect">
            <a:avLst/>
          </a:prstGeom>
        </p:spPr>
      </p:pic>
      <p:sp>
        <p:nvSpPr>
          <p:cNvPr id="55" name="TextBox 54"/>
          <p:cNvSpPr txBox="1"/>
          <p:nvPr/>
        </p:nvSpPr>
        <p:spPr>
          <a:xfrm>
            <a:off x="4703010" y="4778501"/>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765161" y="4768278"/>
            <a:ext cx="134549" cy="195707"/>
          </a:xfrm>
          <a:prstGeom prst="rect">
            <a:avLst/>
          </a:prstGeom>
        </p:spPr>
      </p:pic>
      <p:sp>
        <p:nvSpPr>
          <p:cNvPr id="57" name="TextBox 56"/>
          <p:cNvSpPr txBox="1"/>
          <p:nvPr/>
        </p:nvSpPr>
        <p:spPr>
          <a:xfrm>
            <a:off x="4940271" y="4778501"/>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8" name="TextBox 57"/>
          <p:cNvSpPr txBox="1"/>
          <p:nvPr/>
        </p:nvSpPr>
        <p:spPr>
          <a:xfrm>
            <a:off x="6029325" y="3867150"/>
            <a:ext cx="1657350" cy="194310"/>
          </a:xfrm>
          <a:prstGeom prst="rect">
            <a:avLst/>
          </a:prstGeom>
          <a:noFill/>
        </p:spPr>
        <p:txBody>
          <a:bodyPr wrap="none" lIns="0" tIns="0" rIns="0" bIns="0">
            <a:spAutoFit/>
          </a:bodyPr>
          <a:lstStyle/>
          <a:p>
            <a:r>
              <a:rPr sz="1150" b="0">
                <a:solidFill>
                  <a:srgbClr val="2E2E2E"/>
                </a:solidFill>
                <a:latin typeface="Calibri"/>
              </a:rPr>
              <a:t>▪ 'Flat Dividers &amp; Layer Pads</a:t>
            </a:r>
          </a:p>
        </p:txBody>
      </p:sp>
      <p:sp>
        <p:nvSpPr>
          <p:cNvPr id="59" name="TextBox 58"/>
          <p:cNvSpPr txBox="1"/>
          <p:nvPr/>
        </p:nvSpPr>
        <p:spPr>
          <a:xfrm>
            <a:off x="6029325" y="4042410"/>
            <a:ext cx="1564940" cy="194310"/>
          </a:xfrm>
          <a:prstGeom prst="rect">
            <a:avLst/>
          </a:prstGeom>
          <a:noFill/>
        </p:spPr>
        <p:txBody>
          <a:bodyPr wrap="none" lIns="0" tIns="0" rIns="0" bIns="0">
            <a:spAutoFit/>
          </a:bodyPr>
          <a:lstStyle/>
          <a:p>
            <a:r>
              <a:rPr sz="1150" b="0">
                <a:solidFill>
                  <a:srgbClr val="2E2E2E"/>
                </a:solidFill>
                <a:latin typeface="Calibri"/>
              </a:rPr>
              <a:t>× Electronics &amp; Electrical'</a:t>
            </a:r>
          </a:p>
        </p:txBody>
      </p:sp>
      <p:sp>
        <p:nvSpPr>
          <p:cNvPr id="60" name="TextBox 59"/>
          <p:cNvSpPr txBox="1"/>
          <p:nvPr/>
        </p:nvSpPr>
        <p:spPr>
          <a:xfrm>
            <a:off x="6029325" y="4217670"/>
            <a:ext cx="356604" cy="194310"/>
          </a:xfrm>
          <a:prstGeom prst="rect">
            <a:avLst/>
          </a:prstGeom>
          <a:noFill/>
        </p:spPr>
        <p:txBody>
          <a:bodyPr wrap="none" lIns="0" tIns="0" r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07446"/>
            <a:ext cx="134549" cy="195707"/>
          </a:xfrm>
          <a:prstGeom prst="rect">
            <a:avLst/>
          </a:prstGeom>
        </p:spPr>
      </p:pic>
      <p:sp>
        <p:nvSpPr>
          <p:cNvPr id="62" name="TextBox 61"/>
          <p:cNvSpPr txBox="1"/>
          <p:nvPr/>
        </p:nvSpPr>
        <p:spPr>
          <a:xfrm>
            <a:off x="6510192" y="4217670"/>
            <a:ext cx="1118803" cy="194310"/>
          </a:xfrm>
          <a:prstGeom prst="rect">
            <a:avLst/>
          </a:prstGeom>
          <a:noFill/>
        </p:spPr>
        <p:txBody>
          <a:bodyPr wrap="none" lIns="0" tIns="0" rIns="0" bIns="0">
            <a:spAutoFit/>
          </a:bodyPr>
          <a:lstStyle/>
          <a:p>
            <a:r>
              <a:rPr sz="1150" b="0">
                <a:solidFill>
                  <a:srgbClr val="2E2E2E"/>
                </a:solidFill>
                <a:latin typeface="Calibri"/>
              </a:rPr>
              <a:t>US$ Mn by 2036F</a:t>
            </a:r>
          </a:p>
        </p:txBody>
      </p:sp>
      <p:sp>
        <p:nvSpPr>
          <p:cNvPr id="63" name="TextBox 62"/>
          <p:cNvSpPr txBox="1"/>
          <p:nvPr/>
        </p:nvSpPr>
        <p:spPr>
          <a:xfrm>
            <a:off x="6029325" y="4392929"/>
            <a:ext cx="148939"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382706"/>
            <a:ext cx="134549" cy="195707"/>
          </a:xfrm>
          <a:prstGeom prst="rect">
            <a:avLst/>
          </a:prstGeom>
        </p:spPr>
      </p:pic>
      <p:sp>
        <p:nvSpPr>
          <p:cNvPr id="65" name="TextBox 64"/>
          <p:cNvSpPr txBox="1"/>
          <p:nvPr/>
        </p:nvSpPr>
        <p:spPr>
          <a:xfrm>
            <a:off x="6302527" y="4392929"/>
            <a:ext cx="741126" cy="194310"/>
          </a:xfrm>
          <a:prstGeom prst="rect">
            <a:avLst/>
          </a:prstGeom>
          <a:noFill/>
        </p:spPr>
        <p:txBody>
          <a:bodyPr wrap="none" lIns="0" tIns="0" rIns="0" bIns="0">
            <a:spAutoFit/>
          </a:bodyPr>
          <a:lstStyle/>
          <a:p>
            <a:r>
              <a:rPr sz="1150" b="0">
                <a:solidFill>
                  <a:srgbClr val="2E2E2E"/>
                </a:solidFill>
                <a:latin typeface="Calibri"/>
              </a:rPr>
              <a:t>of the total</a:t>
            </a:r>
          </a:p>
        </p:txBody>
      </p:sp>
      <p:sp>
        <p:nvSpPr>
          <p:cNvPr id="66" name="TextBox 65"/>
          <p:cNvSpPr txBox="1"/>
          <p:nvPr/>
        </p:nvSpPr>
        <p:spPr>
          <a:xfrm>
            <a:off x="6029325" y="4568189"/>
            <a:ext cx="822994" cy="194310"/>
          </a:xfrm>
          <a:prstGeom prst="rect">
            <a:avLst/>
          </a:prstGeom>
          <a:noFill/>
        </p:spPr>
        <p:txBody>
          <a:bodyPr wrap="none" lIns="0" tIns="0" rIns="0" bIns="0">
            <a:spAutoFit/>
          </a:bodyPr>
          <a:lstStyle/>
          <a:p>
            <a:r>
              <a:rPr sz="1150" b="0">
                <a:solidFill>
                  <a:srgbClr val="2E2E2E"/>
                </a:solidFill>
                <a:latin typeface="Calibri"/>
              </a:rPr>
              <a:t>opportunity.</a:t>
            </a:r>
          </a:p>
        </p:txBody>
      </p:sp>
      <p:sp>
        <p:nvSpPr>
          <p:cNvPr id="67" name="TextBox 66"/>
          <p:cNvSpPr txBox="1"/>
          <p:nvPr/>
        </p:nvSpPr>
        <p:spPr>
          <a:xfrm>
            <a:off x="8124825" y="3867150"/>
            <a:ext cx="1657350" cy="194310"/>
          </a:xfrm>
          <a:prstGeom prst="rect">
            <a:avLst/>
          </a:prstGeom>
          <a:noFill/>
        </p:spPr>
        <p:txBody>
          <a:bodyPr wrap="none" lIns="0" tIns="0" rIns="0" bIns="0">
            <a:spAutoFit/>
          </a:bodyPr>
          <a:lstStyle/>
          <a:p>
            <a:r>
              <a:rPr sz="1150" b="0">
                <a:solidFill>
                  <a:srgbClr val="2E2E2E"/>
                </a:solidFill>
                <a:latin typeface="Calibri"/>
              </a:rPr>
              <a:t>▪ 'Flat Dividers &amp; Layer Pads</a:t>
            </a:r>
          </a:p>
        </p:txBody>
      </p:sp>
      <p:sp>
        <p:nvSpPr>
          <p:cNvPr id="68" name="TextBox 67"/>
          <p:cNvSpPr txBox="1"/>
          <p:nvPr/>
        </p:nvSpPr>
        <p:spPr>
          <a:xfrm>
            <a:off x="8124825" y="4042410"/>
            <a:ext cx="1564940" cy="194310"/>
          </a:xfrm>
          <a:prstGeom prst="rect">
            <a:avLst/>
          </a:prstGeom>
          <a:noFill/>
        </p:spPr>
        <p:txBody>
          <a:bodyPr wrap="none" lIns="0" tIns="0" rIns="0" bIns="0">
            <a:spAutoFit/>
          </a:bodyPr>
          <a:lstStyle/>
          <a:p>
            <a:r>
              <a:rPr sz="1150" b="0">
                <a:solidFill>
                  <a:srgbClr val="2E2E2E"/>
                </a:solidFill>
                <a:latin typeface="Calibri"/>
              </a:rPr>
              <a:t>× Electronics &amp; Electrical'</a:t>
            </a:r>
          </a:p>
        </p:txBody>
      </p:sp>
      <p:sp>
        <p:nvSpPr>
          <p:cNvPr id="69" name="TextBox 68"/>
          <p:cNvSpPr txBox="1"/>
          <p:nvPr/>
        </p:nvSpPr>
        <p:spPr>
          <a:xfrm>
            <a:off x="8124825" y="4217670"/>
            <a:ext cx="689495" cy="194310"/>
          </a:xfrm>
          <a:prstGeom prst="rect">
            <a:avLst/>
          </a:prstGeom>
          <a:noFill/>
        </p:spPr>
        <p:txBody>
          <a:bodyPr wrap="none" lIns="0" tIns="0" r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07446"/>
            <a:ext cx="134549" cy="195707"/>
          </a:xfrm>
          <a:prstGeom prst="rect">
            <a:avLst/>
          </a:prstGeom>
        </p:spPr>
      </p:pic>
      <p:sp>
        <p:nvSpPr>
          <p:cNvPr id="71" name="TextBox 70"/>
          <p:cNvSpPr txBox="1"/>
          <p:nvPr/>
        </p:nvSpPr>
        <p:spPr>
          <a:xfrm>
            <a:off x="8938584" y="4217670"/>
            <a:ext cx="446441" cy="194310"/>
          </a:xfrm>
          <a:prstGeom prst="rect">
            <a:avLst/>
          </a:prstGeom>
          <a:noFill/>
        </p:spPr>
        <p:txBody>
          <a:bodyPr wrap="none" lIns="0" tIns="0" r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07446"/>
            <a:ext cx="134549" cy="195707"/>
          </a:xfrm>
          <a:prstGeom prst="rect">
            <a:avLst/>
          </a:prstGeom>
        </p:spPr>
      </p:pic>
      <p:sp>
        <p:nvSpPr>
          <p:cNvPr id="73" name="TextBox 72"/>
          <p:cNvSpPr txBox="1"/>
          <p:nvPr/>
        </p:nvSpPr>
        <p:spPr>
          <a:xfrm>
            <a:off x="8124825" y="4392929"/>
            <a:ext cx="925400" cy="194310"/>
          </a:xfrm>
          <a:prstGeom prst="rect">
            <a:avLst/>
          </a:prstGeom>
          <a:noFill/>
        </p:spPr>
        <p:txBody>
          <a:bodyPr wrap="none" lIns="0" tIns="0" rIns="0" bIns="0">
            <a:spAutoFit/>
          </a:bodyPr>
          <a:lstStyle/>
          <a:p>
            <a:r>
              <a:rPr sz="1150" b="0">
                <a:solidFill>
                  <a:srgbClr val="2E2E2E"/>
                </a:solidFill>
                <a:latin typeface="Calibri"/>
              </a:rPr>
              <a:t>BPS above the</a:t>
            </a:r>
          </a:p>
        </p:txBody>
      </p:sp>
      <p:sp>
        <p:nvSpPr>
          <p:cNvPr id="74" name="TextBox 73"/>
          <p:cNvSpPr txBox="1"/>
          <p:nvPr/>
        </p:nvSpPr>
        <p:spPr>
          <a:xfrm>
            <a:off x="8124825" y="4568189"/>
            <a:ext cx="890029" cy="194310"/>
          </a:xfrm>
          <a:prstGeom prst="rect">
            <a:avLst/>
          </a:prstGeom>
          <a:noFill/>
        </p:spPr>
        <p:txBody>
          <a:bodyPr wrap="none" lIns="0" tIns="0" rIns="0" bIns="0">
            <a:spAutoFit/>
          </a:bodyPr>
          <a:lstStyle/>
          <a:p>
            <a:r>
              <a:rPr sz="1150" b="0">
                <a:solidFill>
                  <a:srgbClr val="2E2E2E"/>
                </a:solidFill>
                <a:latin typeface="Calibri"/>
              </a:rPr>
              <a:t>cross-section.</a:t>
            </a: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Board Construction × 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Snapshot</a:t>
            </a:r>
          </a:p>
          <a:p>
            <a:pPr marL="342900" indent="-323850">
              <a:lnSpc>
                <a:spcPct val="100000"/>
              </a:lnSpc>
              <a:spcAft>
                <a:spcPts val="800"/>
              </a:spcAft>
            </a:pPr>
            <a:r>
              <a:rPr sz="2000" b="0">
                <a:solidFill>
                  <a:srgbClr val="000000"/>
                </a:solidFill>
                <a:latin typeface="Calibri"/>
              </a:rPr>
              <a:t>➤	Market Share Analysis</a:t>
            </a:r>
          </a:p>
          <a:p>
            <a:pPr marL="342900" indent="-323850">
              <a:lnSpc>
                <a:spcPct val="100000"/>
              </a:lnSpc>
              <a:spcAft>
                <a:spcPts val="800"/>
              </a:spcAft>
            </a:pPr>
            <a:r>
              <a:rPr sz="2000" b="0">
                <a:solidFill>
                  <a:srgbClr val="000000"/>
                </a:solidFill>
                <a:latin typeface="Calibri"/>
              </a:rPr>
              <a:t>➤	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Snapshot: Board Construction × End Use, 2026E vs 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Global market value (US$ Mn) for each board construction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Market Value, Board Construction × End Use, 2026E and 2036F (US$ Mn)</a:t>
            </a:r>
          </a:p>
        </p:txBody>
      </p:sp>
      <p:graphicFrame>
        <p:nvGraphicFramePr>
          <p:cNvPr id="13" name="Table 12"/>
          <p:cNvGraphicFramePr>
            <a:graphicFrameLocks noGrp="1"/>
          </p:cNvGraphicFramePr>
          <p:nvPr/>
        </p:nvGraphicFramePr>
        <p:xfrm>
          <a:off x="152400" y="1238250"/>
          <a:ext cx="11887196" cy="1866897"/>
        </p:xfrm>
        <a:graphic>
          <a:graphicData uri="http://schemas.openxmlformats.org/drawingml/2006/table">
            <a:tbl>
              <a:tblPr>
                <a:tableStyleId>{5C22544A-7EE6-4342-B048-85BDC9FD1C3A}</a:tableStyleId>
              </a:tblPr>
              <a:tblGrid>
                <a:gridCol w="1194636">
                  <a:extLst>
                    <a:ext uri="{9D8B030D-6E8A-4147-A177-3AD203B41FA5}">
                      <a16:colId xmlns:a16="http://schemas.microsoft.com/office/drawing/2014/main" val="20000"/>
                    </a:ext>
                  </a:extLst>
                </a:gridCol>
                <a:gridCol w="668285">
                  <a:extLst>
                    <a:ext uri="{9D8B030D-6E8A-4147-A177-3AD203B41FA5}">
                      <a16:colId xmlns:a16="http://schemas.microsoft.com/office/drawing/2014/main" val="20001"/>
                    </a:ext>
                  </a:extLst>
                </a:gridCol>
                <a:gridCol w="668285">
                  <a:extLst>
                    <a:ext uri="{9D8B030D-6E8A-4147-A177-3AD203B41FA5}">
                      <a16:colId xmlns:a16="http://schemas.microsoft.com/office/drawing/2014/main" val="20002"/>
                    </a:ext>
                  </a:extLst>
                </a:gridCol>
                <a:gridCol w="668285">
                  <a:extLst>
                    <a:ext uri="{9D8B030D-6E8A-4147-A177-3AD203B41FA5}">
                      <a16:colId xmlns:a16="http://schemas.microsoft.com/office/drawing/2014/main" val="20003"/>
                    </a:ext>
                  </a:extLst>
                </a:gridCol>
                <a:gridCol w="668285">
                  <a:extLst>
                    <a:ext uri="{9D8B030D-6E8A-4147-A177-3AD203B41FA5}">
                      <a16:colId xmlns:a16="http://schemas.microsoft.com/office/drawing/2014/main" val="20004"/>
                    </a:ext>
                  </a:extLst>
                </a:gridCol>
                <a:gridCol w="668285">
                  <a:extLst>
                    <a:ext uri="{9D8B030D-6E8A-4147-A177-3AD203B41FA5}">
                      <a16:colId xmlns:a16="http://schemas.microsoft.com/office/drawing/2014/main" val="20005"/>
                    </a:ext>
                  </a:extLst>
                </a:gridCol>
                <a:gridCol w="668285">
                  <a:extLst>
                    <a:ext uri="{9D8B030D-6E8A-4147-A177-3AD203B41FA5}">
                      <a16:colId xmlns:a16="http://schemas.microsoft.com/office/drawing/2014/main" val="20006"/>
                    </a:ext>
                  </a:extLst>
                </a:gridCol>
                <a:gridCol w="668285">
                  <a:extLst>
                    <a:ext uri="{9D8B030D-6E8A-4147-A177-3AD203B41FA5}">
                      <a16:colId xmlns:a16="http://schemas.microsoft.com/office/drawing/2014/main" val="20007"/>
                    </a:ext>
                  </a:extLst>
                </a:gridCol>
                <a:gridCol w="668285">
                  <a:extLst>
                    <a:ext uri="{9D8B030D-6E8A-4147-A177-3AD203B41FA5}">
                      <a16:colId xmlns:a16="http://schemas.microsoft.com/office/drawing/2014/main" val="20008"/>
                    </a:ext>
                  </a:extLst>
                </a:gridCol>
                <a:gridCol w="668285">
                  <a:extLst>
                    <a:ext uri="{9D8B030D-6E8A-4147-A177-3AD203B41FA5}">
                      <a16:colId xmlns:a16="http://schemas.microsoft.com/office/drawing/2014/main" val="20009"/>
                    </a:ext>
                  </a:extLst>
                </a:gridCol>
                <a:gridCol w="668285">
                  <a:extLst>
                    <a:ext uri="{9D8B030D-6E8A-4147-A177-3AD203B41FA5}">
                      <a16:colId xmlns:a16="http://schemas.microsoft.com/office/drawing/2014/main" val="20010"/>
                    </a:ext>
                  </a:extLst>
                </a:gridCol>
                <a:gridCol w="668285">
                  <a:extLst>
                    <a:ext uri="{9D8B030D-6E8A-4147-A177-3AD203B41FA5}">
                      <a16:colId xmlns:a16="http://schemas.microsoft.com/office/drawing/2014/main" val="20011"/>
                    </a:ext>
                  </a:extLst>
                </a:gridCol>
                <a:gridCol w="668285">
                  <a:extLst>
                    <a:ext uri="{9D8B030D-6E8A-4147-A177-3AD203B41FA5}">
                      <a16:colId xmlns:a16="http://schemas.microsoft.com/office/drawing/2014/main" val="20012"/>
                    </a:ext>
                  </a:extLst>
                </a:gridCol>
                <a:gridCol w="668285">
                  <a:extLst>
                    <a:ext uri="{9D8B030D-6E8A-4147-A177-3AD203B41FA5}">
                      <a16:colId xmlns:a16="http://schemas.microsoft.com/office/drawing/2014/main" val="20013"/>
                    </a:ext>
                  </a:extLst>
                </a:gridCol>
                <a:gridCol w="668285">
                  <a:extLst>
                    <a:ext uri="{9D8B030D-6E8A-4147-A177-3AD203B41FA5}">
                      <a16:colId xmlns:a16="http://schemas.microsoft.com/office/drawing/2014/main" val="20014"/>
                    </a:ext>
                  </a:extLst>
                </a:gridCol>
                <a:gridCol w="668285">
                  <a:extLst>
                    <a:ext uri="{9D8B030D-6E8A-4147-A177-3AD203B41FA5}">
                      <a16:colId xmlns:a16="http://schemas.microsoft.com/office/drawing/2014/main" val="20015"/>
                    </a:ext>
                  </a:extLst>
                </a:gridCol>
                <a:gridCol w="668285">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116395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1163955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06626" y="2344368"/>
            <a:ext cx="366712" cy="533400"/>
          </a:xfrm>
          <a:prstGeom prst="rect">
            <a:avLst/>
          </a:prstGeom>
        </p:spPr>
      </p:pic>
      <p:sp>
        <p:nvSpPr>
          <p:cNvPr id="21" name="TextBox 20"/>
          <p:cNvSpPr txBox="1"/>
          <p:nvPr/>
        </p:nvSpPr>
        <p:spPr>
          <a:xfrm>
            <a:off x="276225" y="3867150"/>
            <a:ext cx="9301026" cy="194310"/>
          </a:xfrm>
          <a:prstGeom prst="rect">
            <a:avLst/>
          </a:prstGeom>
          <a:noFill/>
        </p:spPr>
        <p:txBody>
          <a:bodyPr wrap="none" lIns="0" tIns="0" rIns="0" bIns="0">
            <a:spAutoFit/>
          </a:bodyPr>
          <a:lstStyle/>
          <a:p>
            <a:r>
              <a:rPr sz="1150" b="0">
                <a:solidFill>
                  <a:srgbClr val="2E2E2E"/>
                </a:solidFill>
                <a:latin typeface="Calibri"/>
              </a:rPr>
              <a:t>Triple wall segment is projected to account for the largest share of the global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9526405" y="3856926"/>
            <a:ext cx="134549" cy="195707"/>
          </a:xfrm>
          <a:prstGeom prst="rect">
            <a:avLst/>
          </a:prstGeom>
        </p:spPr>
      </p:pic>
      <p:sp>
        <p:nvSpPr>
          <p:cNvPr id="23" name="TextBox 22"/>
          <p:cNvSpPr txBox="1"/>
          <p:nvPr/>
        </p:nvSpPr>
        <p:spPr>
          <a:xfrm>
            <a:off x="9701514" y="3867150"/>
            <a:ext cx="2154845" cy="194310"/>
          </a:xfrm>
          <a:prstGeom prst="rect">
            <a:avLst/>
          </a:prstGeom>
          <a:noFill/>
        </p:spPr>
        <p:txBody>
          <a:bodyPr wrap="none" lIns="0" tIns="0" rIns="0" bIns="0">
            <a:spAutoFit/>
          </a:bodyPr>
          <a:lstStyle/>
          <a:p>
            <a:r>
              <a:rPr sz="1150" b="0">
                <a:solidFill>
                  <a:srgbClr val="2E2E2E"/>
                </a:solidFill>
                <a:latin typeface="Calibri"/>
              </a:rPr>
              <a:t>Mn in 2036. 'Double Wall × Others'</a:t>
            </a:r>
          </a:p>
        </p:txBody>
      </p:sp>
      <p:sp>
        <p:nvSpPr>
          <p:cNvPr id="24" name="TextBox 23"/>
          <p:cNvSpPr txBox="1"/>
          <p:nvPr/>
        </p:nvSpPr>
        <p:spPr>
          <a:xfrm>
            <a:off x="276225" y="4042410"/>
            <a:ext cx="2435535" cy="194310"/>
          </a:xfrm>
          <a:prstGeom prst="rect">
            <a:avLst/>
          </a:prstGeom>
          <a:noFill/>
        </p:spPr>
        <p:txBody>
          <a:bodyPr wrap="none" lIns="0" tIns="0" rIns="0" bIns="0">
            <a:spAutoFit/>
          </a:bodyPr>
          <a:lstStyle/>
          <a:p>
            <a:r>
              <a:rPr sz="1150" b="0">
                <a:solidFill>
                  <a:srgbClr val="2E2E2E"/>
                </a:solidFill>
                <a:latin typeface="Calibri"/>
              </a:rPr>
              <a:t>is the single largest cross-sectional cell (</a:t>
            </a:r>
          </a:p>
        </p:txBody>
      </p:sp>
      <p:pic>
        <p:nvPicPr>
          <p:cNvPr id="25" name="Picture 24" descr="lock.png"/>
          <p:cNvPicPr>
            <a:picLocks noChangeAspect="1"/>
          </p:cNvPicPr>
          <p:nvPr/>
        </p:nvPicPr>
        <p:blipFill>
          <a:blip r:embed="rId4"/>
          <a:stretch>
            <a:fillRect/>
          </a:stretch>
        </p:blipFill>
        <p:spPr>
          <a:xfrm>
            <a:off x="2660913" y="4032186"/>
            <a:ext cx="134549" cy="195707"/>
          </a:xfrm>
          <a:prstGeom prst="rect">
            <a:avLst/>
          </a:prstGeom>
        </p:spPr>
      </p:pic>
      <p:sp>
        <p:nvSpPr>
          <p:cNvPr id="26" name="TextBox 25"/>
          <p:cNvSpPr txBox="1"/>
          <p:nvPr/>
        </p:nvSpPr>
        <p:spPr>
          <a:xfrm>
            <a:off x="2836023" y="4042410"/>
            <a:ext cx="6026578" cy="194310"/>
          </a:xfrm>
          <a:prstGeom prst="rect">
            <a:avLst/>
          </a:prstGeom>
          <a:noFill/>
        </p:spPr>
        <p:txBody>
          <a:bodyPr wrap="none" lIns="0" tIns="0" rIns="0" bIns="0">
            <a:spAutoFit/>
          </a:bodyPr>
          <a:lstStyle/>
          <a:p>
            <a:r>
              <a:rPr sz="1150" b="0">
                <a:solidFill>
                  <a:srgbClr val="2E2E2E"/>
                </a:solidFill>
                <a:latin typeface="Calibri"/>
              </a:rPr>
              <a:t>US$ Mn, 2026E), while 'Triple Wall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8811755" y="4032186"/>
            <a:ext cx="134549" cy="195707"/>
          </a:xfrm>
          <a:prstGeom prst="rect">
            <a:avLst/>
          </a:prstGeom>
        </p:spPr>
      </p:pic>
      <p:sp>
        <p:nvSpPr>
          <p:cNvPr id="28" name="TextBox 27"/>
          <p:cNvSpPr txBox="1"/>
          <p:nvPr/>
        </p:nvSpPr>
        <p:spPr>
          <a:xfrm>
            <a:off x="8986865" y="4042410"/>
            <a:ext cx="1217001" cy="194310"/>
          </a:xfrm>
          <a:prstGeom prst="rect">
            <a:avLst/>
          </a:prstGeom>
          <a:noFill/>
        </p:spPr>
        <p:txBody>
          <a:bodyPr wrap="none" lIns="0" tIns="0" rIns="0" bIns="0">
            <a:spAutoFit/>
          </a:bodyPr>
          <a:lstStyle/>
          <a:p>
            <a:r>
              <a:rPr sz="1150" b="0">
                <a:solidFill>
                  <a:srgbClr val="2E2E2E"/>
                </a:solidFill>
                <a:latin typeface="Calibri"/>
              </a:rPr>
              <a:t>over 2026E–2036F.</a:t>
            </a:r>
          </a:p>
        </p:txBody>
      </p:sp>
      <p:sp>
        <p:nvSpPr>
          <p:cNvPr id="29" name="TextBox 28"/>
          <p:cNvSpPr txBox="1"/>
          <p:nvPr/>
        </p:nvSpPr>
        <p:spPr>
          <a:xfrm>
            <a:off x="276225" y="4270247"/>
            <a:ext cx="5903652" cy="194310"/>
          </a:xfrm>
          <a:prstGeom prst="rect">
            <a:avLst/>
          </a:prstGeom>
          <a:noFill/>
        </p:spPr>
        <p:txBody>
          <a:bodyPr wrap="none" lIns="0" tIns="0" rIns="0" bIns="0">
            <a:spAutoFit/>
          </a:bodyPr>
          <a:lstStyle/>
          <a:p>
            <a:r>
              <a:rPr sz="1150" b="0">
                <a:solidFill>
                  <a:srgbClr val="2E2E2E"/>
                </a:solidFill>
                <a:latin typeface="Calibri"/>
              </a:rPr>
              <a:t>Combined, the top three board construction × end use cells generate an absolute $ opportunity of</a:t>
            </a:r>
          </a:p>
        </p:txBody>
      </p:sp>
      <p:pic>
        <p:nvPicPr>
          <p:cNvPr id="30" name="Picture 29" descr="lock.png"/>
          <p:cNvPicPr>
            <a:picLocks noChangeAspect="1"/>
          </p:cNvPicPr>
          <p:nvPr/>
        </p:nvPicPr>
        <p:blipFill>
          <a:blip r:embed="rId4"/>
          <a:stretch>
            <a:fillRect/>
          </a:stretch>
        </p:blipFill>
        <p:spPr>
          <a:xfrm>
            <a:off x="6129030" y="4260024"/>
            <a:ext cx="134549" cy="195707"/>
          </a:xfrm>
          <a:prstGeom prst="rect">
            <a:avLst/>
          </a:prstGeom>
        </p:spPr>
      </p:pic>
      <p:sp>
        <p:nvSpPr>
          <p:cNvPr id="31" name="TextBox 30"/>
          <p:cNvSpPr txBox="1"/>
          <p:nvPr/>
        </p:nvSpPr>
        <p:spPr>
          <a:xfrm>
            <a:off x="6304140" y="4270247"/>
            <a:ext cx="1155386" cy="194310"/>
          </a:xfrm>
          <a:prstGeom prst="rect">
            <a:avLst/>
          </a:prstGeom>
          <a:noFill/>
        </p:spPr>
        <p:txBody>
          <a:bodyPr wrap="none" lIns="0" tIns="0" rIns="0" bIns="0">
            <a:spAutoFit/>
          </a:bodyPr>
          <a:lstStyle/>
          <a:p>
            <a:r>
              <a:rPr sz="1150" b="0">
                <a:solidFill>
                  <a:srgbClr val="2E2E2E"/>
                </a:solidFill>
                <a:latin typeface="Calibri"/>
              </a:rPr>
              <a:t>US$ Mn by 2036F.</a:t>
            </a: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Share Analysis: Board Construction × End Use, 2026E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 share of global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Share, Board Construction × End Use, 2026E (% of each row)</a:t>
            </a:r>
          </a:p>
        </p:txBody>
      </p:sp>
      <p:graphicFrame>
        <p:nvGraphicFramePr>
          <p:cNvPr id="13" name="Table 12"/>
          <p:cNvGraphicFramePr>
            <a:graphicFrameLocks noGrp="1"/>
          </p:cNvGraphicFramePr>
          <p:nvPr/>
        </p:nvGraphicFramePr>
        <p:xfrm>
          <a:off x="152400" y="1238250"/>
          <a:ext cx="11887199" cy="1428752"/>
        </p:xfrm>
        <a:graphic>
          <a:graphicData uri="http://schemas.openxmlformats.org/drawingml/2006/table">
            <a:tbl>
              <a:tblPr>
                <a:tableStyleId>{5C22544A-7EE6-4342-B048-85BDC9FD1C3A}</a:tableStyleId>
              </a:tblPr>
              <a:tblGrid>
                <a:gridCol w="1189472">
                  <a:extLst>
                    <a:ext uri="{9D8B030D-6E8A-4147-A177-3AD203B41FA5}">
                      <a16:colId xmlns:a16="http://schemas.microsoft.com/office/drawing/2014/main" val="20000"/>
                    </a:ext>
                  </a:extLst>
                </a:gridCol>
                <a:gridCol w="1038980">
                  <a:extLst>
                    <a:ext uri="{9D8B030D-6E8A-4147-A177-3AD203B41FA5}">
                      <a16:colId xmlns:a16="http://schemas.microsoft.com/office/drawing/2014/main" val="20001"/>
                    </a:ext>
                  </a:extLst>
                </a:gridCol>
                <a:gridCol w="1746668">
                  <a:extLst>
                    <a:ext uri="{9D8B030D-6E8A-4147-A177-3AD203B41FA5}">
                      <a16:colId xmlns:a16="http://schemas.microsoft.com/office/drawing/2014/main" val="20002"/>
                    </a:ext>
                  </a:extLst>
                </a:gridCol>
                <a:gridCol w="1503046">
                  <a:extLst>
                    <a:ext uri="{9D8B030D-6E8A-4147-A177-3AD203B41FA5}">
                      <a16:colId xmlns:a16="http://schemas.microsoft.com/office/drawing/2014/main" val="20003"/>
                    </a:ext>
                  </a:extLst>
                </a:gridCol>
                <a:gridCol w="1320921">
                  <a:extLst>
                    <a:ext uri="{9D8B030D-6E8A-4147-A177-3AD203B41FA5}">
                      <a16:colId xmlns:a16="http://schemas.microsoft.com/office/drawing/2014/main" val="20004"/>
                    </a:ext>
                  </a:extLst>
                </a:gridCol>
                <a:gridCol w="2056497">
                  <a:extLst>
                    <a:ext uri="{9D8B030D-6E8A-4147-A177-3AD203B41FA5}">
                      <a16:colId xmlns:a16="http://schemas.microsoft.com/office/drawing/2014/main" val="20005"/>
                    </a:ext>
                  </a:extLst>
                </a:gridCol>
                <a:gridCol w="1973435">
                  <a:extLst>
                    <a:ext uri="{9D8B030D-6E8A-4147-A177-3AD203B41FA5}">
                      <a16:colId xmlns:a16="http://schemas.microsoft.com/office/drawing/2014/main" val="20006"/>
                    </a:ext>
                  </a:extLst>
                </a:gridCol>
                <a:gridCol w="514374">
                  <a:extLst>
                    <a:ext uri="{9D8B030D-6E8A-4147-A177-3AD203B41FA5}">
                      <a16:colId xmlns:a16="http://schemas.microsoft.com/office/drawing/2014/main" val="20007"/>
                    </a:ext>
                  </a:extLst>
                </a:gridCol>
                <a:gridCol w="543806">
                  <a:extLst>
                    <a:ext uri="{9D8B030D-6E8A-4147-A177-3AD203B41FA5}">
                      <a16:colId xmlns:a16="http://schemas.microsoft.com/office/drawing/2014/main" val="20008"/>
                    </a:ext>
                  </a:extLst>
                </a:gridCol>
              </a:tblGrid>
              <a:tr h="438912">
                <a:tc>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460">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460">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460">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46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6765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7286625"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067050"/>
            <a:ext cx="70961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End Use Mix by Board Construction, 2026E (% share)</a:t>
            </a:r>
          </a:p>
        </p:txBody>
      </p:sp>
      <p:graphicFrame>
        <p:nvGraphicFramePr>
          <p:cNvPr id="17" name="Chart 16"/>
          <p:cNvGraphicFramePr>
            <a:graphicFrameLocks noGrp="1"/>
          </p:cNvGraphicFramePr>
          <p:nvPr/>
        </p:nvGraphicFramePr>
        <p:xfrm>
          <a:off x="238125" y="3295650"/>
          <a:ext cx="7096125" cy="3276600"/>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7581900" y="3009900"/>
            <a:ext cx="4457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715250" y="3095625"/>
            <a:ext cx="4191000" cy="209550"/>
          </a:xfrm>
          <a:prstGeom prst="rect">
            <a:avLst/>
          </a:prstGeom>
          <a:noFill/>
        </p:spPr>
        <p:txBody>
          <a:bodyPr wrap="square" lIns="0" tIns="9525" rIns="19050" bIns="9525">
            <a:spAutoFit/>
          </a:bodyPr>
          <a:lstStyle/>
          <a:p>
            <a:pPr algn="l"/>
            <a:r>
              <a:rPr sz="1300" b="1">
                <a:solidFill>
                  <a:srgbClr val="0B2E4A"/>
                </a:solidFill>
                <a:latin typeface="Calibri"/>
              </a:rPr>
              <a:t>Share Insights</a:t>
            </a:r>
          </a:p>
        </p:txBody>
      </p:sp>
      <p:sp>
        <p:nvSpPr>
          <p:cNvPr id="20" name="Rectangle 19"/>
          <p:cNvSpPr/>
          <p:nvPr/>
        </p:nvSpPr>
        <p:spPr>
          <a:xfrm>
            <a:off x="7715250" y="33337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7715250" y="3419475"/>
            <a:ext cx="4191000" cy="31337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TextBox 2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504045" y="1905381"/>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990419"/>
            <a:ext cx="440818" cy="641190"/>
          </a:xfrm>
          <a:prstGeom prst="rect">
            <a:avLst/>
          </a:prstGeom>
        </p:spPr>
      </p:pic>
      <p:sp>
        <p:nvSpPr>
          <p:cNvPr id="25" name="TextBox 24"/>
          <p:cNvSpPr txBox="1"/>
          <p:nvPr/>
        </p:nvSpPr>
        <p:spPr>
          <a:xfrm>
            <a:off x="7715250" y="3429000"/>
            <a:ext cx="3174342" cy="194310"/>
          </a:xfrm>
          <a:prstGeom prst="rect">
            <a:avLst/>
          </a:prstGeom>
          <a:noFill/>
        </p:spPr>
        <p:txBody>
          <a:bodyPr wrap="none" lIns="0" tIns="0" rIns="0" bIns="0">
            <a:spAutoFit/>
          </a:bodyPr>
          <a:lstStyle/>
          <a:p>
            <a:r>
              <a:rPr sz="1150" b="0">
                <a:solidFill>
                  <a:srgbClr val="2E2E2E"/>
                </a:solidFill>
                <a:latin typeface="Calibri"/>
              </a:rPr>
              <a:t>▪ 'Others' holds the highest share of 'Double Wall' at</a:t>
            </a:r>
          </a:p>
        </p:txBody>
      </p:sp>
      <p:pic>
        <p:nvPicPr>
          <p:cNvPr id="26" name="Picture 25" descr="lock.png"/>
          <p:cNvPicPr>
            <a:picLocks noChangeAspect="1"/>
          </p:cNvPicPr>
          <p:nvPr/>
        </p:nvPicPr>
        <p:blipFill>
          <a:blip r:embed="rId5"/>
          <a:stretch>
            <a:fillRect/>
          </a:stretch>
        </p:blipFill>
        <p:spPr>
          <a:xfrm>
            <a:off x="10838746" y="3418776"/>
            <a:ext cx="134549" cy="195707"/>
          </a:xfrm>
          <a:prstGeom prst="rect">
            <a:avLst/>
          </a:prstGeom>
        </p:spPr>
      </p:pic>
      <p:sp>
        <p:nvSpPr>
          <p:cNvPr id="27" name="TextBox 26"/>
          <p:cNvSpPr txBox="1"/>
          <p:nvPr/>
        </p:nvSpPr>
        <p:spPr>
          <a:xfrm>
            <a:off x="11013855" y="3429000"/>
            <a:ext cx="569404" cy="194310"/>
          </a:xfrm>
          <a:prstGeom prst="rect">
            <a:avLst/>
          </a:prstGeom>
          <a:noFill/>
        </p:spPr>
        <p:txBody>
          <a:bodyPr wrap="none" lIns="0" tIns="0" rIns="0" bIns="0">
            <a:spAutoFit/>
          </a:bodyPr>
          <a:lstStyle/>
          <a:p>
            <a:r>
              <a:rPr sz="1150" b="0">
                <a:solidFill>
                  <a:srgbClr val="2E2E2E"/>
                </a:solidFill>
                <a:latin typeface="Calibri"/>
              </a:rPr>
              <a:t>(2026E).</a:t>
            </a:r>
          </a:p>
        </p:txBody>
      </p:sp>
      <p:sp>
        <p:nvSpPr>
          <p:cNvPr id="28" name="TextBox 27"/>
          <p:cNvSpPr txBox="1"/>
          <p:nvPr/>
        </p:nvSpPr>
        <p:spPr>
          <a:xfrm>
            <a:off x="7715250" y="3656837"/>
            <a:ext cx="3635027" cy="194310"/>
          </a:xfrm>
          <a:prstGeom prst="rect">
            <a:avLst/>
          </a:prstGeom>
          <a:noFill/>
        </p:spPr>
        <p:txBody>
          <a:bodyPr wrap="none" lIns="0" tIns="0" rIns="0" bIns="0">
            <a:spAutoFit/>
          </a:bodyPr>
          <a:lstStyle/>
          <a:p>
            <a:r>
              <a:rPr sz="1150" b="0">
                <a:solidFill>
                  <a:srgbClr val="2E2E2E"/>
                </a:solidFill>
                <a:latin typeface="Calibri"/>
              </a:rPr>
              <a:t>▪ 'Double Wall' is the most concentrated board construction</a:t>
            </a:r>
          </a:p>
        </p:txBody>
      </p:sp>
      <p:sp>
        <p:nvSpPr>
          <p:cNvPr id="29" name="TextBox 28"/>
          <p:cNvSpPr txBox="1"/>
          <p:nvPr/>
        </p:nvSpPr>
        <p:spPr>
          <a:xfrm>
            <a:off x="7715250" y="3832097"/>
            <a:ext cx="1178706" cy="194310"/>
          </a:xfrm>
          <a:prstGeom prst="rect">
            <a:avLst/>
          </a:prstGeom>
          <a:noFill/>
        </p:spPr>
        <p:txBody>
          <a:bodyPr wrap="none" lIns="0" tIns="0" rIns="0" bIns="0">
            <a:spAutoFit/>
          </a:bodyPr>
          <a:lstStyle/>
          <a:p>
            <a:r>
              <a:rPr sz="1150" b="0">
                <a:solidFill>
                  <a:srgbClr val="2E2E2E"/>
                </a:solidFill>
                <a:latin typeface="Calibri"/>
              </a:rPr>
              <a:t>sub-segment, with</a:t>
            </a:r>
          </a:p>
        </p:txBody>
      </p:sp>
      <p:pic>
        <p:nvPicPr>
          <p:cNvPr id="30" name="Picture 29" descr="lock.png"/>
          <p:cNvPicPr>
            <a:picLocks noChangeAspect="1"/>
          </p:cNvPicPr>
          <p:nvPr/>
        </p:nvPicPr>
        <p:blipFill>
          <a:blip r:embed="rId5"/>
          <a:stretch>
            <a:fillRect/>
          </a:stretch>
        </p:blipFill>
        <p:spPr>
          <a:xfrm>
            <a:off x="8843110" y="3821874"/>
            <a:ext cx="134549" cy="195707"/>
          </a:xfrm>
          <a:prstGeom prst="rect">
            <a:avLst/>
          </a:prstGeom>
        </p:spPr>
      </p:pic>
      <p:sp>
        <p:nvSpPr>
          <p:cNvPr id="31" name="TextBox 30"/>
          <p:cNvSpPr txBox="1"/>
          <p:nvPr/>
        </p:nvSpPr>
        <p:spPr>
          <a:xfrm>
            <a:off x="9018219" y="3832097"/>
            <a:ext cx="1462819" cy="194310"/>
          </a:xfrm>
          <a:prstGeom prst="rect">
            <a:avLst/>
          </a:prstGeom>
          <a:noFill/>
        </p:spPr>
        <p:txBody>
          <a:bodyPr wrap="none" lIns="0" tIns="0" rIns="0" bIns="0">
            <a:spAutoFit/>
          </a:bodyPr>
          <a:lstStyle/>
          <a:p>
            <a:r>
              <a:rPr sz="1150" b="0">
                <a:solidFill>
                  <a:srgbClr val="2E2E2E"/>
                </a:solidFill>
                <a:latin typeface="Calibri"/>
              </a:rPr>
              <a:t>of its value via 'Others'.</a:t>
            </a:r>
          </a:p>
        </p:txBody>
      </p:sp>
      <p:sp>
        <p:nvSpPr>
          <p:cNvPr id="32" name="TextBox 31"/>
          <p:cNvSpPr txBox="1"/>
          <p:nvPr/>
        </p:nvSpPr>
        <p:spPr>
          <a:xfrm>
            <a:off x="7715250" y="4059935"/>
            <a:ext cx="2021061" cy="194310"/>
          </a:xfrm>
          <a:prstGeom prst="rect">
            <a:avLst/>
          </a:prstGeom>
          <a:noFill/>
        </p:spPr>
        <p:txBody>
          <a:bodyPr wrap="none" lIns="0" tIns="0" rIns="0" bIns="0">
            <a:spAutoFit/>
          </a:bodyPr>
          <a:lstStyle/>
          <a:p>
            <a:r>
              <a:rPr sz="1150" b="0">
                <a:solidFill>
                  <a:srgbClr val="2E2E2E"/>
                </a:solidFill>
                <a:latin typeface="Calibri"/>
              </a:rPr>
              <a:t>▪ 'Electronics &amp; Electrical' gains +</a:t>
            </a:r>
          </a:p>
        </p:txBody>
      </p:sp>
      <p:pic>
        <p:nvPicPr>
          <p:cNvPr id="33" name="Picture 32" descr="lock.png"/>
          <p:cNvPicPr>
            <a:picLocks noChangeAspect="1"/>
          </p:cNvPicPr>
          <p:nvPr/>
        </p:nvPicPr>
        <p:blipFill>
          <a:blip r:embed="rId5"/>
          <a:stretch>
            <a:fillRect/>
          </a:stretch>
        </p:blipFill>
        <p:spPr>
          <a:xfrm>
            <a:off x="9685465" y="4049712"/>
            <a:ext cx="134549" cy="195707"/>
          </a:xfrm>
          <a:prstGeom prst="rect">
            <a:avLst/>
          </a:prstGeom>
        </p:spPr>
      </p:pic>
      <p:sp>
        <p:nvSpPr>
          <p:cNvPr id="34" name="TextBox 33"/>
          <p:cNvSpPr txBox="1"/>
          <p:nvPr/>
        </p:nvSpPr>
        <p:spPr>
          <a:xfrm>
            <a:off x="9860574" y="4059935"/>
            <a:ext cx="1616000" cy="194310"/>
          </a:xfrm>
          <a:prstGeom prst="rect">
            <a:avLst/>
          </a:prstGeom>
          <a:noFill/>
        </p:spPr>
        <p:txBody>
          <a:bodyPr wrap="none" lIns="0" tIns="0" rIns="0" bIns="0">
            <a:spAutoFit/>
          </a:bodyPr>
          <a:lstStyle/>
          <a:p>
            <a:r>
              <a:rPr sz="1150" b="0">
                <a:solidFill>
                  <a:srgbClr val="2E2E2E"/>
                </a:solidFill>
                <a:latin typeface="Calibri"/>
              </a:rPr>
              <a:t>BPS of share of the Global</a:t>
            </a:r>
          </a:p>
        </p:txBody>
      </p:sp>
      <p:sp>
        <p:nvSpPr>
          <p:cNvPr id="35" name="TextBox 34"/>
          <p:cNvSpPr txBox="1"/>
          <p:nvPr/>
        </p:nvSpPr>
        <p:spPr>
          <a:xfrm>
            <a:off x="7715250" y="4235195"/>
            <a:ext cx="1462605" cy="194310"/>
          </a:xfrm>
          <a:prstGeom prst="rect">
            <a:avLst/>
          </a:prstGeom>
          <a:noFill/>
        </p:spPr>
        <p:txBody>
          <a:bodyPr wrap="none" lIns="0" tIns="0" rIns="0" bIns="0">
            <a:spAutoFit/>
          </a:bodyPr>
          <a:lstStyle/>
          <a:p>
            <a:r>
              <a:rPr sz="1150" b="0">
                <a:solidFill>
                  <a:srgbClr val="2E2E2E"/>
                </a:solidFill>
                <a:latin typeface="Calibri"/>
              </a:rPr>
              <a:t>cross-section by 2036F.</a:t>
            </a:r>
          </a:p>
        </p:txBody>
      </p:sp>
      <p:sp>
        <p:nvSpPr>
          <p:cNvPr id="36" name="lockshield_17"/>
          <p:cNvSpPr/>
          <p:nvPr/>
        </p:nvSpPr>
        <p:spPr>
          <a:xfrm>
            <a:off x="238125" y="3295650"/>
            <a:ext cx="7096125" cy="32766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&amp; Attractiveness: Board Construction × End Use, 2026E–2036F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 Opportunity (US$ Mn) and Value CAGR, Board Construction × End Use, 2026E–2036F</a:t>
            </a:r>
          </a:p>
        </p:txBody>
      </p:sp>
      <p:graphicFrame>
        <p:nvGraphicFramePr>
          <p:cNvPr id="13" name="Table 12"/>
          <p:cNvGraphicFramePr>
            <a:graphicFrameLocks noGrp="1"/>
          </p:cNvGraphicFramePr>
          <p:nvPr/>
        </p:nvGraphicFramePr>
        <p:xfrm>
          <a:off x="152400" y="1238250"/>
          <a:ext cx="11887197" cy="1866897"/>
        </p:xfrm>
        <a:graphic>
          <a:graphicData uri="http://schemas.openxmlformats.org/drawingml/2006/table">
            <a:tbl>
              <a:tblPr>
                <a:tableStyleId>{5C22544A-7EE6-4342-B048-85BDC9FD1C3A}</a:tableStyleId>
              </a:tblPr>
              <a:tblGrid>
                <a:gridCol w="986381">
                  <a:extLst>
                    <a:ext uri="{9D8B030D-6E8A-4147-A177-3AD203B41FA5}">
                      <a16:colId xmlns:a16="http://schemas.microsoft.com/office/drawing/2014/main" val="20000"/>
                    </a:ext>
                  </a:extLst>
                </a:gridCol>
                <a:gridCol w="681301">
                  <a:extLst>
                    <a:ext uri="{9D8B030D-6E8A-4147-A177-3AD203B41FA5}">
                      <a16:colId xmlns:a16="http://schemas.microsoft.com/office/drawing/2014/main" val="20001"/>
                    </a:ext>
                  </a:extLst>
                </a:gridCol>
                <a:gridCol w="681301">
                  <a:extLst>
                    <a:ext uri="{9D8B030D-6E8A-4147-A177-3AD203B41FA5}">
                      <a16:colId xmlns:a16="http://schemas.microsoft.com/office/drawing/2014/main" val="20002"/>
                    </a:ext>
                  </a:extLst>
                </a:gridCol>
                <a:gridCol w="681301">
                  <a:extLst>
                    <a:ext uri="{9D8B030D-6E8A-4147-A177-3AD203B41FA5}">
                      <a16:colId xmlns:a16="http://schemas.microsoft.com/office/drawing/2014/main" val="20003"/>
                    </a:ext>
                  </a:extLst>
                </a:gridCol>
                <a:gridCol w="681301">
                  <a:extLst>
                    <a:ext uri="{9D8B030D-6E8A-4147-A177-3AD203B41FA5}">
                      <a16:colId xmlns:a16="http://schemas.microsoft.com/office/drawing/2014/main" val="20004"/>
                    </a:ext>
                  </a:extLst>
                </a:gridCol>
                <a:gridCol w="681301">
                  <a:extLst>
                    <a:ext uri="{9D8B030D-6E8A-4147-A177-3AD203B41FA5}">
                      <a16:colId xmlns:a16="http://schemas.microsoft.com/office/drawing/2014/main" val="20005"/>
                    </a:ext>
                  </a:extLst>
                </a:gridCol>
                <a:gridCol w="681301">
                  <a:extLst>
                    <a:ext uri="{9D8B030D-6E8A-4147-A177-3AD203B41FA5}">
                      <a16:colId xmlns:a16="http://schemas.microsoft.com/office/drawing/2014/main" val="20006"/>
                    </a:ext>
                  </a:extLst>
                </a:gridCol>
                <a:gridCol w="681301">
                  <a:extLst>
                    <a:ext uri="{9D8B030D-6E8A-4147-A177-3AD203B41FA5}">
                      <a16:colId xmlns:a16="http://schemas.microsoft.com/office/drawing/2014/main" val="20007"/>
                    </a:ext>
                  </a:extLst>
                </a:gridCol>
                <a:gridCol w="681301">
                  <a:extLst>
                    <a:ext uri="{9D8B030D-6E8A-4147-A177-3AD203B41FA5}">
                      <a16:colId xmlns:a16="http://schemas.microsoft.com/office/drawing/2014/main" val="20008"/>
                    </a:ext>
                  </a:extLst>
                </a:gridCol>
                <a:gridCol w="681301">
                  <a:extLst>
                    <a:ext uri="{9D8B030D-6E8A-4147-A177-3AD203B41FA5}">
                      <a16:colId xmlns:a16="http://schemas.microsoft.com/office/drawing/2014/main" val="20009"/>
                    </a:ext>
                  </a:extLst>
                </a:gridCol>
                <a:gridCol w="681301">
                  <a:extLst>
                    <a:ext uri="{9D8B030D-6E8A-4147-A177-3AD203B41FA5}">
                      <a16:colId xmlns:a16="http://schemas.microsoft.com/office/drawing/2014/main" val="20010"/>
                    </a:ext>
                  </a:extLst>
                </a:gridCol>
                <a:gridCol w="681301">
                  <a:extLst>
                    <a:ext uri="{9D8B030D-6E8A-4147-A177-3AD203B41FA5}">
                      <a16:colId xmlns:a16="http://schemas.microsoft.com/office/drawing/2014/main" val="20011"/>
                    </a:ext>
                  </a:extLst>
                </a:gridCol>
                <a:gridCol w="681301">
                  <a:extLst>
                    <a:ext uri="{9D8B030D-6E8A-4147-A177-3AD203B41FA5}">
                      <a16:colId xmlns:a16="http://schemas.microsoft.com/office/drawing/2014/main" val="20012"/>
                    </a:ext>
                  </a:extLst>
                </a:gridCol>
                <a:gridCol w="681301">
                  <a:extLst>
                    <a:ext uri="{9D8B030D-6E8A-4147-A177-3AD203B41FA5}">
                      <a16:colId xmlns:a16="http://schemas.microsoft.com/office/drawing/2014/main" val="20013"/>
                    </a:ext>
                  </a:extLst>
                </a:gridCol>
                <a:gridCol w="681301">
                  <a:extLst>
                    <a:ext uri="{9D8B030D-6E8A-4147-A177-3AD203B41FA5}">
                      <a16:colId xmlns:a16="http://schemas.microsoft.com/office/drawing/2014/main" val="20014"/>
                    </a:ext>
                  </a:extLst>
                </a:gridCol>
                <a:gridCol w="681301">
                  <a:extLst>
                    <a:ext uri="{9D8B030D-6E8A-4147-A177-3AD203B41FA5}">
                      <a16:colId xmlns:a16="http://schemas.microsoft.com/office/drawing/2014/main" val="20015"/>
                    </a:ext>
                  </a:extLst>
                </a:gridCol>
                <a:gridCol w="681301">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5334000" cy="209550"/>
          </a:xfrm>
          <a:prstGeom prst="rect">
            <a:avLst/>
          </a:prstGeom>
          <a:noFill/>
        </p:spPr>
        <p:txBody>
          <a:bodyPr wrap="square" lIns="0" tIns="9525" rIns="19050"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53340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029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029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1248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1248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220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10220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'Double Wall × Electronics &amp; Electrical' ranks highest (5/5); 'Single Wall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02499" y="2344368"/>
            <a:ext cx="366712" cy="533400"/>
          </a:xfrm>
          <a:prstGeom prst="rect">
            <a:avLst/>
          </a:prstGeom>
        </p:spPr>
      </p:pic>
      <p:sp>
        <p:nvSpPr>
          <p:cNvPr id="33" name="TextBox 32"/>
          <p:cNvSpPr txBox="1"/>
          <p:nvPr/>
        </p:nvSpPr>
        <p:spPr>
          <a:xfrm>
            <a:off x="276225" y="3867150"/>
            <a:ext cx="2539937" cy="194310"/>
          </a:xfrm>
          <a:prstGeom prst="rect">
            <a:avLst/>
          </a:prstGeom>
          <a:noFill/>
        </p:spPr>
        <p:txBody>
          <a:bodyPr wrap="none" lIns="0" tIns="0" rIns="0" bIns="0">
            <a:spAutoFit/>
          </a:bodyPr>
          <a:lstStyle/>
          <a:p>
            <a:r>
              <a:rPr sz="1150" b="0">
                <a:solidFill>
                  <a:srgbClr val="2E2E2E"/>
                </a:solidFill>
                <a:latin typeface="Calibri"/>
              </a:rPr>
              <a:t>▪ 1. Triple Wall × Electronics &amp; Electrical –</a:t>
            </a:r>
          </a:p>
        </p:txBody>
      </p:sp>
      <p:pic>
        <p:nvPicPr>
          <p:cNvPr id="34" name="Picture 33" descr="lock.png"/>
          <p:cNvPicPr>
            <a:picLocks noChangeAspect="1"/>
          </p:cNvPicPr>
          <p:nvPr/>
        </p:nvPicPr>
        <p:blipFill>
          <a:blip r:embed="rId4"/>
          <a:stretch>
            <a:fillRect/>
          </a:stretch>
        </p:blipFill>
        <p:spPr>
          <a:xfrm>
            <a:off x="2765316" y="3856926"/>
            <a:ext cx="134549" cy="195707"/>
          </a:xfrm>
          <a:prstGeom prst="rect">
            <a:avLst/>
          </a:prstGeom>
        </p:spPr>
      </p:pic>
      <p:sp>
        <p:nvSpPr>
          <p:cNvPr id="35" name="TextBox 34"/>
          <p:cNvSpPr txBox="1"/>
          <p:nvPr/>
        </p:nvSpPr>
        <p:spPr>
          <a:xfrm>
            <a:off x="2940426" y="3867150"/>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002577" y="3856926"/>
            <a:ext cx="134549" cy="195707"/>
          </a:xfrm>
          <a:prstGeom prst="rect">
            <a:avLst/>
          </a:prstGeom>
        </p:spPr>
      </p:pic>
      <p:sp>
        <p:nvSpPr>
          <p:cNvPr id="37" name="TextBox 36"/>
          <p:cNvSpPr txBox="1"/>
          <p:nvPr/>
        </p:nvSpPr>
        <p:spPr>
          <a:xfrm>
            <a:off x="3177687" y="3867150"/>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38" name="TextBox 37"/>
          <p:cNvSpPr txBox="1"/>
          <p:nvPr/>
        </p:nvSpPr>
        <p:spPr>
          <a:xfrm>
            <a:off x="276225" y="4094987"/>
            <a:ext cx="2206159" cy="194310"/>
          </a:xfrm>
          <a:prstGeom prst="rect">
            <a:avLst/>
          </a:prstGeom>
          <a:noFill/>
        </p:spPr>
        <p:txBody>
          <a:bodyPr wrap="none" lIns="0" tIns="0" rIns="0" bIns="0">
            <a:spAutoFit/>
          </a:bodyPr>
          <a:lstStyle/>
          <a:p>
            <a:r>
              <a:rPr sz="1150" b="0">
                <a:solidFill>
                  <a:srgbClr val="2E2E2E"/>
                </a:solidFill>
                <a:latin typeface="Calibri"/>
              </a:rPr>
              <a:t>▪ 2. Triple Wall × Food &amp; Beverage –</a:t>
            </a:r>
          </a:p>
        </p:txBody>
      </p:sp>
      <p:pic>
        <p:nvPicPr>
          <p:cNvPr id="39" name="Picture 38" descr="lock.png"/>
          <p:cNvPicPr>
            <a:picLocks noChangeAspect="1"/>
          </p:cNvPicPr>
          <p:nvPr/>
        </p:nvPicPr>
        <p:blipFill>
          <a:blip r:embed="rId4"/>
          <a:stretch>
            <a:fillRect/>
          </a:stretch>
        </p:blipFill>
        <p:spPr>
          <a:xfrm>
            <a:off x="2431538" y="4084764"/>
            <a:ext cx="134549" cy="195707"/>
          </a:xfrm>
          <a:prstGeom prst="rect">
            <a:avLst/>
          </a:prstGeom>
        </p:spPr>
      </p:pic>
      <p:sp>
        <p:nvSpPr>
          <p:cNvPr id="40" name="TextBox 39"/>
          <p:cNvSpPr txBox="1"/>
          <p:nvPr/>
        </p:nvSpPr>
        <p:spPr>
          <a:xfrm>
            <a:off x="2606647" y="4094987"/>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2668799" y="4084764"/>
            <a:ext cx="134549" cy="195707"/>
          </a:xfrm>
          <a:prstGeom prst="rect">
            <a:avLst/>
          </a:prstGeom>
        </p:spPr>
      </p:pic>
      <p:sp>
        <p:nvSpPr>
          <p:cNvPr id="42" name="TextBox 41"/>
          <p:cNvSpPr txBox="1"/>
          <p:nvPr/>
        </p:nvSpPr>
        <p:spPr>
          <a:xfrm>
            <a:off x="2843908" y="4094987"/>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3" name="TextBox 42"/>
          <p:cNvSpPr txBox="1"/>
          <p:nvPr/>
        </p:nvSpPr>
        <p:spPr>
          <a:xfrm>
            <a:off x="276225" y="4322825"/>
            <a:ext cx="2627510" cy="194310"/>
          </a:xfrm>
          <a:prstGeom prst="rect">
            <a:avLst/>
          </a:prstGeom>
          <a:noFill/>
        </p:spPr>
        <p:txBody>
          <a:bodyPr wrap="none" lIns="0" tIns="0" rIns="0" bIns="0">
            <a:spAutoFit/>
          </a:bodyPr>
          <a:lstStyle/>
          <a:p>
            <a:r>
              <a:rPr sz="1150" b="0">
                <a:solidFill>
                  <a:srgbClr val="2E2E2E"/>
                </a:solidFill>
                <a:latin typeface="Calibri"/>
              </a:rPr>
              <a:t>▪ 3. Double Wall × Electronics &amp; Electrical –</a:t>
            </a:r>
          </a:p>
        </p:txBody>
      </p:sp>
      <p:pic>
        <p:nvPicPr>
          <p:cNvPr id="44" name="Picture 43" descr="lock.png"/>
          <p:cNvPicPr>
            <a:picLocks noChangeAspect="1"/>
          </p:cNvPicPr>
          <p:nvPr/>
        </p:nvPicPr>
        <p:blipFill>
          <a:blip r:embed="rId4"/>
          <a:stretch>
            <a:fillRect/>
          </a:stretch>
        </p:blipFill>
        <p:spPr>
          <a:xfrm>
            <a:off x="2852889" y="4312602"/>
            <a:ext cx="134549" cy="195707"/>
          </a:xfrm>
          <a:prstGeom prst="rect">
            <a:avLst/>
          </a:prstGeom>
        </p:spPr>
      </p:pic>
      <p:sp>
        <p:nvSpPr>
          <p:cNvPr id="45" name="TextBox 44"/>
          <p:cNvSpPr txBox="1"/>
          <p:nvPr/>
        </p:nvSpPr>
        <p:spPr>
          <a:xfrm>
            <a:off x="3027999" y="4322825"/>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090150" y="4312602"/>
            <a:ext cx="134549" cy="195707"/>
          </a:xfrm>
          <a:prstGeom prst="rect">
            <a:avLst/>
          </a:prstGeom>
        </p:spPr>
      </p:pic>
      <p:sp>
        <p:nvSpPr>
          <p:cNvPr id="47" name="TextBox 46"/>
          <p:cNvSpPr txBox="1"/>
          <p:nvPr/>
        </p:nvSpPr>
        <p:spPr>
          <a:xfrm>
            <a:off x="3265260" y="4322825"/>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8" name="TextBox 47"/>
          <p:cNvSpPr txBox="1"/>
          <p:nvPr/>
        </p:nvSpPr>
        <p:spPr>
          <a:xfrm>
            <a:off x="276225" y="4550663"/>
            <a:ext cx="2293732" cy="194310"/>
          </a:xfrm>
          <a:prstGeom prst="rect">
            <a:avLst/>
          </a:prstGeom>
          <a:noFill/>
        </p:spPr>
        <p:txBody>
          <a:bodyPr wrap="none" lIns="0" tIns="0" rIns="0" bIns="0">
            <a:spAutoFit/>
          </a:bodyPr>
          <a:lstStyle/>
          <a:p>
            <a:r>
              <a:rPr sz="1150" b="0">
                <a:solidFill>
                  <a:srgbClr val="2E2E2E"/>
                </a:solidFill>
                <a:latin typeface="Calibri"/>
              </a:rPr>
              <a:t>▪ 4. Double Wall × Food &amp; Beverage –</a:t>
            </a:r>
          </a:p>
        </p:txBody>
      </p:sp>
      <p:pic>
        <p:nvPicPr>
          <p:cNvPr id="49" name="Picture 48" descr="lock.png"/>
          <p:cNvPicPr>
            <a:picLocks noChangeAspect="1"/>
          </p:cNvPicPr>
          <p:nvPr/>
        </p:nvPicPr>
        <p:blipFill>
          <a:blip r:embed="rId4"/>
          <a:stretch>
            <a:fillRect/>
          </a:stretch>
        </p:blipFill>
        <p:spPr>
          <a:xfrm>
            <a:off x="2519111" y="4540440"/>
            <a:ext cx="134549" cy="195707"/>
          </a:xfrm>
          <a:prstGeom prst="rect">
            <a:avLst/>
          </a:prstGeom>
        </p:spPr>
      </p:pic>
      <p:sp>
        <p:nvSpPr>
          <p:cNvPr id="50" name="TextBox 49"/>
          <p:cNvSpPr txBox="1"/>
          <p:nvPr/>
        </p:nvSpPr>
        <p:spPr>
          <a:xfrm>
            <a:off x="2694220" y="4550663"/>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756372" y="4540440"/>
            <a:ext cx="134549" cy="195707"/>
          </a:xfrm>
          <a:prstGeom prst="rect">
            <a:avLst/>
          </a:prstGeom>
        </p:spPr>
      </p:pic>
      <p:sp>
        <p:nvSpPr>
          <p:cNvPr id="52" name="TextBox 51"/>
          <p:cNvSpPr txBox="1"/>
          <p:nvPr/>
        </p:nvSpPr>
        <p:spPr>
          <a:xfrm>
            <a:off x="2931481" y="4550663"/>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3" name="TextBox 52"/>
          <p:cNvSpPr txBox="1"/>
          <p:nvPr/>
        </p:nvSpPr>
        <p:spPr>
          <a:xfrm>
            <a:off x="276225" y="4778501"/>
            <a:ext cx="3343783" cy="194310"/>
          </a:xfrm>
          <a:prstGeom prst="rect">
            <a:avLst/>
          </a:prstGeom>
          <a:noFill/>
        </p:spPr>
        <p:txBody>
          <a:bodyPr wrap="none" lIns="0" tIns="0" rIns="0" bIns="0">
            <a:spAutoFit/>
          </a:bodyPr>
          <a:lstStyle/>
          <a:p>
            <a:r>
              <a:rPr sz="1150" b="0">
                <a:solidFill>
                  <a:srgbClr val="2E2E2E"/>
                </a:solidFill>
                <a:latin typeface="Calibri"/>
              </a:rPr>
              <a:t>▪ 5. Triple Wall × Glassware, Ceramics &amp; Home Goods –</a:t>
            </a:r>
          </a:p>
        </p:txBody>
      </p:sp>
      <p:pic>
        <p:nvPicPr>
          <p:cNvPr id="54" name="Picture 53" descr="lock.png"/>
          <p:cNvPicPr>
            <a:picLocks noChangeAspect="1"/>
          </p:cNvPicPr>
          <p:nvPr/>
        </p:nvPicPr>
        <p:blipFill>
          <a:blip r:embed="rId4"/>
          <a:stretch>
            <a:fillRect/>
          </a:stretch>
        </p:blipFill>
        <p:spPr>
          <a:xfrm>
            <a:off x="3569162" y="4768278"/>
            <a:ext cx="134549" cy="195707"/>
          </a:xfrm>
          <a:prstGeom prst="rect">
            <a:avLst/>
          </a:prstGeom>
        </p:spPr>
      </p:pic>
      <p:sp>
        <p:nvSpPr>
          <p:cNvPr id="55" name="TextBox 54"/>
          <p:cNvSpPr txBox="1"/>
          <p:nvPr/>
        </p:nvSpPr>
        <p:spPr>
          <a:xfrm>
            <a:off x="3744271" y="4778501"/>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806423" y="4768278"/>
            <a:ext cx="134549" cy="195707"/>
          </a:xfrm>
          <a:prstGeom prst="rect">
            <a:avLst/>
          </a:prstGeom>
        </p:spPr>
      </p:pic>
      <p:sp>
        <p:nvSpPr>
          <p:cNvPr id="57" name="TextBox 56"/>
          <p:cNvSpPr txBox="1"/>
          <p:nvPr/>
        </p:nvSpPr>
        <p:spPr>
          <a:xfrm>
            <a:off x="3981532" y="4778501"/>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8" name="TextBox 57"/>
          <p:cNvSpPr txBox="1"/>
          <p:nvPr/>
        </p:nvSpPr>
        <p:spPr>
          <a:xfrm>
            <a:off x="6029325" y="3867150"/>
            <a:ext cx="1617712" cy="194310"/>
          </a:xfrm>
          <a:prstGeom prst="rect">
            <a:avLst/>
          </a:prstGeom>
          <a:noFill/>
        </p:spPr>
        <p:txBody>
          <a:bodyPr wrap="none" lIns="0" tIns="0" rIns="0" bIns="0">
            <a:spAutoFit/>
          </a:bodyPr>
          <a:lstStyle/>
          <a:p>
            <a:r>
              <a:rPr sz="1150" b="0">
                <a:solidFill>
                  <a:srgbClr val="2E2E2E"/>
                </a:solidFill>
                <a:latin typeface="Calibri"/>
              </a:rPr>
              <a:t>▪ 'Triple Wall × Electronics</a:t>
            </a:r>
          </a:p>
        </p:txBody>
      </p:sp>
      <p:sp>
        <p:nvSpPr>
          <p:cNvPr id="59" name="TextBox 58"/>
          <p:cNvSpPr txBox="1"/>
          <p:nvPr/>
        </p:nvSpPr>
        <p:spPr>
          <a:xfrm>
            <a:off x="6029325" y="4042410"/>
            <a:ext cx="1093415" cy="194310"/>
          </a:xfrm>
          <a:prstGeom prst="rect">
            <a:avLst/>
          </a:prstGeom>
          <a:noFill/>
        </p:spPr>
        <p:txBody>
          <a:bodyPr wrap="none" lIns="0" tIns="0" rIns="0" bIns="0">
            <a:spAutoFit/>
          </a:bodyPr>
          <a:lstStyle/>
          <a:p>
            <a:r>
              <a:rPr sz="1150" b="0">
                <a:solidFill>
                  <a:srgbClr val="2E2E2E"/>
                </a:solidFill>
                <a:latin typeface="Calibri"/>
              </a:rPr>
              <a:t>&amp; Electrical' adds</a:t>
            </a:r>
          </a:p>
        </p:txBody>
      </p:sp>
      <p:pic>
        <p:nvPicPr>
          <p:cNvPr id="60" name="Picture 59" descr="lock.png"/>
          <p:cNvPicPr>
            <a:picLocks noChangeAspect="1"/>
          </p:cNvPicPr>
          <p:nvPr/>
        </p:nvPicPr>
        <p:blipFill>
          <a:blip r:embed="rId4"/>
          <a:stretch>
            <a:fillRect/>
          </a:stretch>
        </p:blipFill>
        <p:spPr>
          <a:xfrm>
            <a:off x="7071894" y="4032186"/>
            <a:ext cx="134549" cy="195707"/>
          </a:xfrm>
          <a:prstGeom prst="rect">
            <a:avLst/>
          </a:prstGeom>
        </p:spPr>
      </p:pic>
      <p:sp>
        <p:nvSpPr>
          <p:cNvPr id="61" name="TextBox 60"/>
          <p:cNvSpPr txBox="1"/>
          <p:nvPr/>
        </p:nvSpPr>
        <p:spPr>
          <a:xfrm>
            <a:off x="7247003" y="4042410"/>
            <a:ext cx="311249" cy="194310"/>
          </a:xfrm>
          <a:prstGeom prst="rect">
            <a:avLst/>
          </a:prstGeom>
          <a:noFill/>
        </p:spPr>
        <p:txBody>
          <a:bodyPr wrap="none" lIns="0" tIns="0" rIns="0" bIns="0">
            <a:spAutoFit/>
          </a:bodyPr>
          <a:lstStyle/>
          <a:p>
            <a:r>
              <a:rPr sz="1150" b="0">
                <a:solidFill>
                  <a:srgbClr val="2E2E2E"/>
                </a:solidFill>
                <a:latin typeface="Calibri"/>
              </a:rPr>
              <a:t>US$</a:t>
            </a:r>
          </a:p>
        </p:txBody>
      </p:sp>
      <p:sp>
        <p:nvSpPr>
          <p:cNvPr id="62" name="TextBox 61"/>
          <p:cNvSpPr txBox="1"/>
          <p:nvPr/>
        </p:nvSpPr>
        <p:spPr>
          <a:xfrm>
            <a:off x="6029325" y="4217670"/>
            <a:ext cx="956493" cy="194310"/>
          </a:xfrm>
          <a:prstGeom prst="rect">
            <a:avLst/>
          </a:prstGeom>
          <a:noFill/>
        </p:spPr>
        <p:txBody>
          <a:bodyPr wrap="none" lIns="0" tIns="0" r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207446"/>
            <a:ext cx="134549" cy="195707"/>
          </a:xfrm>
          <a:prstGeom prst="rect">
            <a:avLst/>
          </a:prstGeom>
        </p:spPr>
      </p:pic>
      <p:sp>
        <p:nvSpPr>
          <p:cNvPr id="64" name="TextBox 63"/>
          <p:cNvSpPr txBox="1"/>
          <p:nvPr/>
        </p:nvSpPr>
        <p:spPr>
          <a:xfrm>
            <a:off x="7110081" y="4217670"/>
            <a:ext cx="429344" cy="194310"/>
          </a:xfrm>
          <a:prstGeom prst="rect">
            <a:avLst/>
          </a:prstGeom>
          <a:noFill/>
        </p:spPr>
        <p:txBody>
          <a:bodyPr wrap="none" lIns="0" tIns="0" rIns="0" bIns="0">
            <a:spAutoFit/>
          </a:bodyPr>
          <a:lstStyle/>
          <a:p>
            <a:r>
              <a:rPr sz="1150" b="0">
                <a:solidFill>
                  <a:srgbClr val="2E2E2E"/>
                </a:solidFill>
                <a:latin typeface="Calibri"/>
              </a:rPr>
              <a:t>of the</a:t>
            </a:r>
          </a:p>
        </p:txBody>
      </p:sp>
      <p:sp>
        <p:nvSpPr>
          <p:cNvPr id="65" name="TextBox 64"/>
          <p:cNvSpPr txBox="1"/>
          <p:nvPr/>
        </p:nvSpPr>
        <p:spPr>
          <a:xfrm>
            <a:off x="6029325" y="4392929"/>
            <a:ext cx="1134777" cy="194310"/>
          </a:xfrm>
          <a:prstGeom prst="rect">
            <a:avLst/>
          </a:prstGeom>
          <a:noFill/>
        </p:spPr>
        <p:txBody>
          <a:bodyPr wrap="none" lIns="0" tIns="0" rIns="0" bIns="0">
            <a:spAutoFit/>
          </a:bodyPr>
          <a:lstStyle/>
          <a:p>
            <a:r>
              <a:rPr sz="1150" b="0">
                <a:solidFill>
                  <a:srgbClr val="2E2E2E"/>
                </a:solidFill>
                <a:latin typeface="Calibri"/>
              </a:rPr>
              <a:t>total opportunity.</a:t>
            </a:r>
          </a:p>
        </p:txBody>
      </p:sp>
      <p:sp>
        <p:nvSpPr>
          <p:cNvPr id="66" name="TextBox 65"/>
          <p:cNvSpPr txBox="1"/>
          <p:nvPr/>
        </p:nvSpPr>
        <p:spPr>
          <a:xfrm>
            <a:off x="8124825" y="3867150"/>
            <a:ext cx="1617712" cy="194310"/>
          </a:xfrm>
          <a:prstGeom prst="rect">
            <a:avLst/>
          </a:prstGeom>
          <a:noFill/>
        </p:spPr>
        <p:txBody>
          <a:bodyPr wrap="none" lIns="0" tIns="0" rIns="0" bIns="0">
            <a:spAutoFit/>
          </a:bodyPr>
          <a:lstStyle/>
          <a:p>
            <a:r>
              <a:rPr sz="1150" b="0">
                <a:solidFill>
                  <a:srgbClr val="2E2E2E"/>
                </a:solidFill>
                <a:latin typeface="Calibri"/>
              </a:rPr>
              <a:t>▪ 'Triple Wall × Electronics</a:t>
            </a:r>
          </a:p>
        </p:txBody>
      </p:sp>
      <p:sp>
        <p:nvSpPr>
          <p:cNvPr id="67" name="TextBox 66"/>
          <p:cNvSpPr txBox="1"/>
          <p:nvPr/>
        </p:nvSpPr>
        <p:spPr>
          <a:xfrm>
            <a:off x="8124825" y="4042410"/>
            <a:ext cx="1426306" cy="194310"/>
          </a:xfrm>
          <a:prstGeom prst="rect">
            <a:avLst/>
          </a:prstGeom>
          <a:noFill/>
        </p:spPr>
        <p:txBody>
          <a:bodyPr wrap="none" lIns="0" tIns="0" r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032186"/>
            <a:ext cx="134549" cy="195707"/>
          </a:xfrm>
          <a:prstGeom prst="rect">
            <a:avLst/>
          </a:prstGeom>
        </p:spPr>
      </p:pic>
      <p:sp>
        <p:nvSpPr>
          <p:cNvPr id="69" name="TextBox 68"/>
          <p:cNvSpPr txBox="1"/>
          <p:nvPr/>
        </p:nvSpPr>
        <p:spPr>
          <a:xfrm>
            <a:off x="8124825" y="4217670"/>
            <a:ext cx="446441" cy="194310"/>
          </a:xfrm>
          <a:prstGeom prst="rect">
            <a:avLst/>
          </a:prstGeom>
          <a:noFill/>
        </p:spPr>
        <p:txBody>
          <a:bodyPr wrap="none" lIns="0" tIns="0" r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207446"/>
            <a:ext cx="134549" cy="195707"/>
          </a:xfrm>
          <a:prstGeom prst="rect">
            <a:avLst/>
          </a:prstGeom>
        </p:spPr>
      </p:pic>
      <p:sp>
        <p:nvSpPr>
          <p:cNvPr id="71" name="TextBox 70"/>
          <p:cNvSpPr txBox="1"/>
          <p:nvPr/>
        </p:nvSpPr>
        <p:spPr>
          <a:xfrm>
            <a:off x="8695529" y="4217670"/>
            <a:ext cx="925400" cy="194310"/>
          </a:xfrm>
          <a:prstGeom prst="rect">
            <a:avLst/>
          </a:prstGeom>
          <a:noFill/>
        </p:spPr>
        <p:txBody>
          <a:bodyPr wrap="none" lIns="0" tIns="0" rIns="0" bIns="0">
            <a:spAutoFit/>
          </a:bodyPr>
          <a:lstStyle/>
          <a:p>
            <a:r>
              <a:rPr sz="1150" b="0">
                <a:solidFill>
                  <a:srgbClr val="2E2E2E"/>
                </a:solidFill>
                <a:latin typeface="Calibri"/>
              </a:rPr>
              <a:t>BPS above the</a:t>
            </a:r>
          </a:p>
        </p:txBody>
      </p:sp>
      <p:sp>
        <p:nvSpPr>
          <p:cNvPr id="72" name="TextBox 71"/>
          <p:cNvSpPr txBox="1"/>
          <p:nvPr/>
        </p:nvSpPr>
        <p:spPr>
          <a:xfrm>
            <a:off x="8124825" y="4392929"/>
            <a:ext cx="890029" cy="194310"/>
          </a:xfrm>
          <a:prstGeom prst="rect">
            <a:avLst/>
          </a:prstGeom>
          <a:noFill/>
        </p:spPr>
        <p:txBody>
          <a:bodyPr wrap="none" lIns="0" tIns="0" rIns="0" bIns="0">
            <a:spAutoFit/>
          </a:bodyPr>
          <a:lstStyle/>
          <a:p>
            <a:r>
              <a:rPr sz="1150" b="0">
                <a:solidFill>
                  <a:srgbClr val="2E2E2E"/>
                </a:solidFill>
                <a:latin typeface="Calibri"/>
              </a:rPr>
              <a:t>cross-section.</a:t>
            </a: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8.3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Cell Configuration × 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Snapshot</a:t>
            </a:r>
          </a:p>
          <a:p>
            <a:pPr marL="342900" indent="-323850">
              <a:lnSpc>
                <a:spcPct val="100000"/>
              </a:lnSpc>
              <a:spcAft>
                <a:spcPts val="800"/>
              </a:spcAft>
            </a:pPr>
            <a:r>
              <a:rPr sz="2000" b="0">
                <a:solidFill>
                  <a:srgbClr val="000000"/>
                </a:solidFill>
                <a:latin typeface="Calibri"/>
              </a:rPr>
              <a:t>➤	Market Share Analysis</a:t>
            </a:r>
          </a:p>
          <a:p>
            <a:pPr marL="342900" indent="-323850">
              <a:lnSpc>
                <a:spcPct val="100000"/>
              </a:lnSpc>
              <a:spcAft>
                <a:spcPts val="800"/>
              </a:spcAft>
            </a:pPr>
            <a:r>
              <a:rPr sz="2000" b="0">
                <a:solidFill>
                  <a:srgbClr val="000000"/>
                </a:solidFill>
                <a:latin typeface="Calibri"/>
              </a:rPr>
              <a:t>➤	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Snapshot: Cell Configuration × End Use, 2026E vs 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Global market value (US$ Mn) for each cell configuration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Market Value, Cell Configuration × End Use, 2026E and 2036F (US$ Mn)</a:t>
            </a:r>
          </a:p>
        </p:txBody>
      </p:sp>
      <p:graphicFrame>
        <p:nvGraphicFramePr>
          <p:cNvPr id="13" name="Table 12"/>
          <p:cNvGraphicFramePr>
            <a:graphicFrameLocks noGrp="1"/>
          </p:cNvGraphicFramePr>
          <p:nvPr/>
        </p:nvGraphicFramePr>
        <p:xfrm>
          <a:off x="152400" y="1238250"/>
          <a:ext cx="11887202" cy="2114549"/>
        </p:xfrm>
        <a:graphic>
          <a:graphicData uri="http://schemas.openxmlformats.org/drawingml/2006/table">
            <a:tbl>
              <a:tblPr>
                <a:tableStyleId>{5C22544A-7EE6-4342-B048-85BDC9FD1C3A}</a:tableStyleId>
              </a:tblPr>
              <a:tblGrid>
                <a:gridCol w="1370418">
                  <a:extLst>
                    <a:ext uri="{9D8B030D-6E8A-4147-A177-3AD203B41FA5}">
                      <a16:colId xmlns:a16="http://schemas.microsoft.com/office/drawing/2014/main" val="20000"/>
                    </a:ext>
                  </a:extLst>
                </a:gridCol>
                <a:gridCol w="657299">
                  <a:extLst>
                    <a:ext uri="{9D8B030D-6E8A-4147-A177-3AD203B41FA5}">
                      <a16:colId xmlns:a16="http://schemas.microsoft.com/office/drawing/2014/main" val="20001"/>
                    </a:ext>
                  </a:extLst>
                </a:gridCol>
                <a:gridCol w="657299">
                  <a:extLst>
                    <a:ext uri="{9D8B030D-6E8A-4147-A177-3AD203B41FA5}">
                      <a16:colId xmlns:a16="http://schemas.microsoft.com/office/drawing/2014/main" val="20002"/>
                    </a:ext>
                  </a:extLst>
                </a:gridCol>
                <a:gridCol w="657299">
                  <a:extLst>
                    <a:ext uri="{9D8B030D-6E8A-4147-A177-3AD203B41FA5}">
                      <a16:colId xmlns:a16="http://schemas.microsoft.com/office/drawing/2014/main" val="20003"/>
                    </a:ext>
                  </a:extLst>
                </a:gridCol>
                <a:gridCol w="657299">
                  <a:extLst>
                    <a:ext uri="{9D8B030D-6E8A-4147-A177-3AD203B41FA5}">
                      <a16:colId xmlns:a16="http://schemas.microsoft.com/office/drawing/2014/main" val="20004"/>
                    </a:ext>
                  </a:extLst>
                </a:gridCol>
                <a:gridCol w="657299">
                  <a:extLst>
                    <a:ext uri="{9D8B030D-6E8A-4147-A177-3AD203B41FA5}">
                      <a16:colId xmlns:a16="http://schemas.microsoft.com/office/drawing/2014/main" val="20005"/>
                    </a:ext>
                  </a:extLst>
                </a:gridCol>
                <a:gridCol w="657299">
                  <a:extLst>
                    <a:ext uri="{9D8B030D-6E8A-4147-A177-3AD203B41FA5}">
                      <a16:colId xmlns:a16="http://schemas.microsoft.com/office/drawing/2014/main" val="20006"/>
                    </a:ext>
                  </a:extLst>
                </a:gridCol>
                <a:gridCol w="657299">
                  <a:extLst>
                    <a:ext uri="{9D8B030D-6E8A-4147-A177-3AD203B41FA5}">
                      <a16:colId xmlns:a16="http://schemas.microsoft.com/office/drawing/2014/main" val="20007"/>
                    </a:ext>
                  </a:extLst>
                </a:gridCol>
                <a:gridCol w="657299">
                  <a:extLst>
                    <a:ext uri="{9D8B030D-6E8A-4147-A177-3AD203B41FA5}">
                      <a16:colId xmlns:a16="http://schemas.microsoft.com/office/drawing/2014/main" val="20008"/>
                    </a:ext>
                  </a:extLst>
                </a:gridCol>
                <a:gridCol w="657299">
                  <a:extLst>
                    <a:ext uri="{9D8B030D-6E8A-4147-A177-3AD203B41FA5}">
                      <a16:colId xmlns:a16="http://schemas.microsoft.com/office/drawing/2014/main" val="20009"/>
                    </a:ext>
                  </a:extLst>
                </a:gridCol>
                <a:gridCol w="657299">
                  <a:extLst>
                    <a:ext uri="{9D8B030D-6E8A-4147-A177-3AD203B41FA5}">
                      <a16:colId xmlns:a16="http://schemas.microsoft.com/office/drawing/2014/main" val="20010"/>
                    </a:ext>
                  </a:extLst>
                </a:gridCol>
                <a:gridCol w="657299">
                  <a:extLst>
                    <a:ext uri="{9D8B030D-6E8A-4147-A177-3AD203B41FA5}">
                      <a16:colId xmlns:a16="http://schemas.microsoft.com/office/drawing/2014/main" val="20011"/>
                    </a:ext>
                  </a:extLst>
                </a:gridCol>
                <a:gridCol w="657299">
                  <a:extLst>
                    <a:ext uri="{9D8B030D-6E8A-4147-A177-3AD203B41FA5}">
                      <a16:colId xmlns:a16="http://schemas.microsoft.com/office/drawing/2014/main" val="20012"/>
                    </a:ext>
                  </a:extLst>
                </a:gridCol>
                <a:gridCol w="657299">
                  <a:extLst>
                    <a:ext uri="{9D8B030D-6E8A-4147-A177-3AD203B41FA5}">
                      <a16:colId xmlns:a16="http://schemas.microsoft.com/office/drawing/2014/main" val="20013"/>
                    </a:ext>
                  </a:extLst>
                </a:gridCol>
                <a:gridCol w="657299">
                  <a:extLst>
                    <a:ext uri="{9D8B030D-6E8A-4147-A177-3AD203B41FA5}">
                      <a16:colId xmlns:a16="http://schemas.microsoft.com/office/drawing/2014/main" val="20014"/>
                    </a:ext>
                  </a:extLst>
                </a:gridCol>
                <a:gridCol w="657299">
                  <a:extLst>
                    <a:ext uri="{9D8B030D-6E8A-4147-A177-3AD203B41FA5}">
                      <a16:colId xmlns:a16="http://schemas.microsoft.com/office/drawing/2014/main" val="20015"/>
                    </a:ext>
                  </a:extLst>
                </a:gridCol>
                <a:gridCol w="657299">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142">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142">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142">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142">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142">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5"/>
                  </a:ext>
                </a:extLst>
              </a:tr>
              <a:tr h="247142">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6"/>
                  </a:ext>
                </a:extLst>
              </a:tr>
            </a:tbl>
          </a:graphicData>
        </a:graphic>
      </p:graphicFrame>
      <p:sp>
        <p:nvSpPr>
          <p:cNvPr id="14" name="TextBox 13"/>
          <p:cNvSpPr txBox="1"/>
          <p:nvPr/>
        </p:nvSpPr>
        <p:spPr>
          <a:xfrm>
            <a:off x="219075" y="33623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781425"/>
            <a:ext cx="116395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17" name="Rectangle 16"/>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105275"/>
            <a:ext cx="1163955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4519" y="2468245"/>
            <a:ext cx="366712" cy="533400"/>
          </a:xfrm>
          <a:prstGeom prst="rect">
            <a:avLst/>
          </a:prstGeom>
        </p:spPr>
      </p:pic>
      <p:sp>
        <p:nvSpPr>
          <p:cNvPr id="21" name="TextBox 20"/>
          <p:cNvSpPr txBox="1"/>
          <p:nvPr/>
        </p:nvSpPr>
        <p:spPr>
          <a:xfrm>
            <a:off x="276225" y="4114800"/>
            <a:ext cx="9394018" cy="194310"/>
          </a:xfrm>
          <a:prstGeom prst="rect">
            <a:avLst/>
          </a:prstGeom>
          <a:noFill/>
        </p:spPr>
        <p:txBody>
          <a:bodyPr wrap="none" lIns="0" tIns="0" rIns="0" bIns="0">
            <a:spAutoFit/>
          </a:bodyPr>
          <a:lstStyle/>
          <a:p>
            <a:r>
              <a:rPr sz="1150" b="0">
                <a:solidFill>
                  <a:srgbClr val="2E2E2E"/>
                </a:solidFill>
                <a:latin typeface="Calibri"/>
              </a:rPr>
              <a:t>6 to 12 cells segment is projected to account for the largest share of the global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9619397" y="4104576"/>
            <a:ext cx="134549" cy="195707"/>
          </a:xfrm>
          <a:prstGeom prst="rect">
            <a:avLst/>
          </a:prstGeom>
        </p:spPr>
      </p:pic>
      <p:sp>
        <p:nvSpPr>
          <p:cNvPr id="23" name="TextBox 22"/>
          <p:cNvSpPr txBox="1"/>
          <p:nvPr/>
        </p:nvSpPr>
        <p:spPr>
          <a:xfrm>
            <a:off x="9794507" y="4114800"/>
            <a:ext cx="1704144" cy="194310"/>
          </a:xfrm>
          <a:prstGeom prst="rect">
            <a:avLst/>
          </a:prstGeom>
          <a:noFill/>
        </p:spPr>
        <p:txBody>
          <a:bodyPr wrap="none" lIns="0" tIns="0" rIns="0" bIns="0">
            <a:spAutoFit/>
          </a:bodyPr>
          <a:lstStyle/>
          <a:p>
            <a:r>
              <a:rPr sz="1150" b="0">
                <a:solidFill>
                  <a:srgbClr val="2E2E2E"/>
                </a:solidFill>
                <a:latin typeface="Calibri"/>
              </a:rPr>
              <a:t>Mn in 2036. 'Up to 4 Cells ×</a:t>
            </a:r>
          </a:p>
        </p:txBody>
      </p:sp>
      <p:sp>
        <p:nvSpPr>
          <p:cNvPr id="24" name="TextBox 23"/>
          <p:cNvSpPr txBox="1"/>
          <p:nvPr/>
        </p:nvSpPr>
        <p:spPr>
          <a:xfrm>
            <a:off x="276225" y="4290060"/>
            <a:ext cx="4655380" cy="194310"/>
          </a:xfrm>
          <a:prstGeom prst="rect">
            <a:avLst/>
          </a:prstGeom>
          <a:noFill/>
        </p:spPr>
        <p:txBody>
          <a:bodyPr wrap="none" lIns="0" tIns="0" rIns="0" bIns="0">
            <a:spAutoFit/>
          </a:bodyPr>
          <a:lstStyle/>
          <a:p>
            <a:r>
              <a:rPr sz="1150" b="0">
                <a:solidFill>
                  <a:srgbClr val="2E2E2E"/>
                </a:solidFill>
                <a:latin typeface="Calibri"/>
              </a:rPr>
              <a:t>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4880759" y="4279836"/>
            <a:ext cx="134549" cy="195707"/>
          </a:xfrm>
          <a:prstGeom prst="rect">
            <a:avLst/>
          </a:prstGeom>
        </p:spPr>
      </p:pic>
      <p:sp>
        <p:nvSpPr>
          <p:cNvPr id="26" name="TextBox 25"/>
          <p:cNvSpPr txBox="1"/>
          <p:nvPr/>
        </p:nvSpPr>
        <p:spPr>
          <a:xfrm>
            <a:off x="5055869" y="4290060"/>
            <a:ext cx="6109872" cy="194310"/>
          </a:xfrm>
          <a:prstGeom prst="rect">
            <a:avLst/>
          </a:prstGeom>
          <a:noFill/>
        </p:spPr>
        <p:txBody>
          <a:bodyPr wrap="none" lIns="0" tIns="0" rIns="0" bIns="0">
            <a:spAutoFit/>
          </a:bodyPr>
          <a:lstStyle/>
          <a:p>
            <a:r>
              <a:rPr sz="1150" b="0">
                <a:solidFill>
                  <a:srgbClr val="2E2E2E"/>
                </a:solidFill>
                <a:latin typeface="Calibri"/>
              </a:rPr>
              <a:t>US$ Mn, 2026E), while '6 to 12 Cells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114895" y="4279836"/>
            <a:ext cx="134549" cy="195707"/>
          </a:xfrm>
          <a:prstGeom prst="rect">
            <a:avLst/>
          </a:prstGeom>
        </p:spPr>
      </p:pic>
      <p:sp>
        <p:nvSpPr>
          <p:cNvPr id="28" name="TextBox 27"/>
          <p:cNvSpPr txBox="1"/>
          <p:nvPr/>
        </p:nvSpPr>
        <p:spPr>
          <a:xfrm>
            <a:off x="11290005" y="4290060"/>
            <a:ext cx="342912" cy="194310"/>
          </a:xfrm>
          <a:prstGeom prst="rect">
            <a:avLst/>
          </a:prstGeom>
          <a:noFill/>
        </p:spPr>
        <p:txBody>
          <a:bodyPr wrap="none" lIns="0" tIns="0" rIns="0" bIns="0">
            <a:spAutoFit/>
          </a:bodyPr>
          <a:lstStyle/>
          <a:p>
            <a:r>
              <a:rPr sz="1150" b="0">
                <a:solidFill>
                  <a:srgbClr val="2E2E2E"/>
                </a:solidFill>
                <a:latin typeface="Calibri"/>
              </a:rPr>
              <a:t>over</a:t>
            </a:r>
          </a:p>
        </p:txBody>
      </p:sp>
      <p:sp>
        <p:nvSpPr>
          <p:cNvPr id="29" name="TextBox 28"/>
          <p:cNvSpPr txBox="1"/>
          <p:nvPr/>
        </p:nvSpPr>
        <p:spPr>
          <a:xfrm>
            <a:off x="276225" y="4465320"/>
            <a:ext cx="917199" cy="194310"/>
          </a:xfrm>
          <a:prstGeom prst="rect">
            <a:avLst/>
          </a:prstGeom>
          <a:noFill/>
        </p:spPr>
        <p:txBody>
          <a:bodyPr wrap="none" lIns="0" tIns="0" rIns="0" bIns="0">
            <a:spAutoFit/>
          </a:bodyPr>
          <a:lstStyle/>
          <a:p>
            <a:r>
              <a:rPr sz="1150" b="0">
                <a:solidFill>
                  <a:srgbClr val="2E2E2E"/>
                </a:solidFill>
                <a:latin typeface="Calibri"/>
              </a:rPr>
              <a:t>2026E–2036F.</a:t>
            </a:r>
          </a:p>
        </p:txBody>
      </p:sp>
      <p:sp>
        <p:nvSpPr>
          <p:cNvPr id="30" name="TextBox 29"/>
          <p:cNvSpPr txBox="1"/>
          <p:nvPr/>
        </p:nvSpPr>
        <p:spPr>
          <a:xfrm>
            <a:off x="276225" y="4693157"/>
            <a:ext cx="5802957" cy="194310"/>
          </a:xfrm>
          <a:prstGeom prst="rect">
            <a:avLst/>
          </a:prstGeom>
          <a:noFill/>
        </p:spPr>
        <p:txBody>
          <a:bodyPr wrap="none" lIns="0" tIns="0" rIns="0" bIns="0">
            <a:spAutoFit/>
          </a:bodyPr>
          <a:lstStyle/>
          <a:p>
            <a:r>
              <a:rPr sz="1150" b="0">
                <a:solidFill>
                  <a:srgbClr val="2E2E2E"/>
                </a:solidFill>
                <a:latin typeface="Calibri"/>
              </a:rPr>
              <a:t>Combined, the top three cell configuration × end use cells generate an absolute $ opportunity of</a:t>
            </a:r>
          </a:p>
        </p:txBody>
      </p:sp>
      <p:pic>
        <p:nvPicPr>
          <p:cNvPr id="31" name="Picture 30" descr="lock.png"/>
          <p:cNvPicPr>
            <a:picLocks noChangeAspect="1"/>
          </p:cNvPicPr>
          <p:nvPr/>
        </p:nvPicPr>
        <p:blipFill>
          <a:blip r:embed="rId4"/>
          <a:stretch>
            <a:fillRect/>
          </a:stretch>
        </p:blipFill>
        <p:spPr>
          <a:xfrm>
            <a:off x="6028336" y="4682934"/>
            <a:ext cx="134549" cy="195707"/>
          </a:xfrm>
          <a:prstGeom prst="rect">
            <a:avLst/>
          </a:prstGeom>
        </p:spPr>
      </p:pic>
      <p:sp>
        <p:nvSpPr>
          <p:cNvPr id="32" name="TextBox 31"/>
          <p:cNvSpPr txBox="1"/>
          <p:nvPr/>
        </p:nvSpPr>
        <p:spPr>
          <a:xfrm>
            <a:off x="6203445" y="4693157"/>
            <a:ext cx="1155386" cy="194310"/>
          </a:xfrm>
          <a:prstGeom prst="rect">
            <a:avLst/>
          </a:prstGeom>
          <a:noFill/>
        </p:spPr>
        <p:txBody>
          <a:bodyPr wrap="none" lIns="0" tIns="0" rIns="0" bIns="0">
            <a:spAutoFit/>
          </a:bodyPr>
          <a:lstStyle/>
          <a:p>
            <a:r>
              <a:rPr sz="1150" b="0">
                <a:solidFill>
                  <a:srgbClr val="2E2E2E"/>
                </a:solidFill>
                <a:latin typeface="Calibri"/>
              </a:rPr>
              <a:t>US$ Mn by 2036F.</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Market Share Analysis: Cell Configuration × End Use, 2026E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 share of global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Share, Cell Configuration × End Use, 2026E (% of each row)</a:t>
            </a:r>
          </a:p>
        </p:txBody>
      </p:sp>
      <p:graphicFrame>
        <p:nvGraphicFramePr>
          <p:cNvPr id="13" name="Table 12"/>
          <p:cNvGraphicFramePr>
            <a:graphicFrameLocks noGrp="1"/>
          </p:cNvGraphicFramePr>
          <p:nvPr/>
        </p:nvGraphicFramePr>
        <p:xfrm>
          <a:off x="152400" y="1238250"/>
          <a:ext cx="11887201" cy="1676402"/>
        </p:xfrm>
        <a:graphic>
          <a:graphicData uri="http://schemas.openxmlformats.org/drawingml/2006/table">
            <a:tbl>
              <a:tblPr>
                <a:tableStyleId>{5C22544A-7EE6-4342-B048-85BDC9FD1C3A}</a:tableStyleId>
              </a:tblPr>
              <a:tblGrid>
                <a:gridCol w="1140022">
                  <a:extLst>
                    <a:ext uri="{9D8B030D-6E8A-4147-A177-3AD203B41FA5}">
                      <a16:colId xmlns:a16="http://schemas.microsoft.com/office/drawing/2014/main" val="20000"/>
                    </a:ext>
                  </a:extLst>
                </a:gridCol>
                <a:gridCol w="1042838">
                  <a:extLst>
                    <a:ext uri="{9D8B030D-6E8A-4147-A177-3AD203B41FA5}">
                      <a16:colId xmlns:a16="http://schemas.microsoft.com/office/drawing/2014/main" val="20001"/>
                    </a:ext>
                  </a:extLst>
                </a:gridCol>
                <a:gridCol w="1753436">
                  <a:extLst>
                    <a:ext uri="{9D8B030D-6E8A-4147-A177-3AD203B41FA5}">
                      <a16:colId xmlns:a16="http://schemas.microsoft.com/office/drawing/2014/main" val="20002"/>
                    </a:ext>
                  </a:extLst>
                </a:gridCol>
                <a:gridCol w="1511227">
                  <a:extLst>
                    <a:ext uri="{9D8B030D-6E8A-4147-A177-3AD203B41FA5}">
                      <a16:colId xmlns:a16="http://schemas.microsoft.com/office/drawing/2014/main" val="20003"/>
                    </a:ext>
                  </a:extLst>
                </a:gridCol>
                <a:gridCol w="1326759">
                  <a:extLst>
                    <a:ext uri="{9D8B030D-6E8A-4147-A177-3AD203B41FA5}">
                      <a16:colId xmlns:a16="http://schemas.microsoft.com/office/drawing/2014/main" val="20004"/>
                    </a:ext>
                  </a:extLst>
                </a:gridCol>
                <a:gridCol w="2068759">
                  <a:extLst>
                    <a:ext uri="{9D8B030D-6E8A-4147-A177-3AD203B41FA5}">
                      <a16:colId xmlns:a16="http://schemas.microsoft.com/office/drawing/2014/main" val="20005"/>
                    </a:ext>
                  </a:extLst>
                </a:gridCol>
                <a:gridCol w="1985980">
                  <a:extLst>
                    <a:ext uri="{9D8B030D-6E8A-4147-A177-3AD203B41FA5}">
                      <a16:colId xmlns:a16="http://schemas.microsoft.com/office/drawing/2014/main" val="20006"/>
                    </a:ext>
                  </a:extLst>
                </a:gridCol>
                <a:gridCol w="514374">
                  <a:extLst>
                    <a:ext uri="{9D8B030D-6E8A-4147-A177-3AD203B41FA5}">
                      <a16:colId xmlns:a16="http://schemas.microsoft.com/office/drawing/2014/main" val="20007"/>
                    </a:ext>
                  </a:extLst>
                </a:gridCol>
                <a:gridCol w="543806">
                  <a:extLst>
                    <a:ext uri="{9D8B030D-6E8A-4147-A177-3AD203B41FA5}">
                      <a16:colId xmlns:a16="http://schemas.microsoft.com/office/drawing/2014/main" val="20008"/>
                    </a:ext>
                  </a:extLst>
                </a:gridCol>
              </a:tblGrid>
              <a:tr h="438912">
                <a:tc>
                  <a:txBody>
                    <a:bodyPr/>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498">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498">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498">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498">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749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29241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7286625"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314700"/>
            <a:ext cx="70961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End Use Mix by Cell Configuration, 2026E (% share)</a:t>
            </a:r>
          </a:p>
        </p:txBody>
      </p:sp>
      <p:graphicFrame>
        <p:nvGraphicFramePr>
          <p:cNvPr id="17" name="Chart 16"/>
          <p:cNvGraphicFramePr>
            <a:graphicFrameLocks noGrp="1"/>
          </p:cNvGraphicFramePr>
          <p:nvPr/>
        </p:nvGraphicFramePr>
        <p:xfrm>
          <a:off x="238125" y="3543300"/>
          <a:ext cx="7096125" cy="3028950"/>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7581900" y="3257550"/>
            <a:ext cx="445770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715250" y="3343275"/>
            <a:ext cx="4191000" cy="209550"/>
          </a:xfrm>
          <a:prstGeom prst="rect">
            <a:avLst/>
          </a:prstGeom>
          <a:noFill/>
        </p:spPr>
        <p:txBody>
          <a:bodyPr wrap="square" lIns="0" tIns="9525" rIns="19050" bIns="9525">
            <a:spAutoFit/>
          </a:bodyPr>
          <a:lstStyle/>
          <a:p>
            <a:pPr algn="l"/>
            <a:r>
              <a:rPr sz="1300" b="1">
                <a:solidFill>
                  <a:srgbClr val="0B2E4A"/>
                </a:solidFill>
                <a:latin typeface="Calibri"/>
              </a:rPr>
              <a:t>Share Insights</a:t>
            </a:r>
          </a:p>
        </p:txBody>
      </p:sp>
      <p:sp>
        <p:nvSpPr>
          <p:cNvPr id="20" name="Rectangle 19"/>
          <p:cNvSpPr/>
          <p:nvPr/>
        </p:nvSpPr>
        <p:spPr>
          <a:xfrm>
            <a:off x="7715250" y="35814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7715250" y="3667125"/>
            <a:ext cx="4191000" cy="28860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TextBox 2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79321" y="2029206"/>
            <a:ext cx="366712" cy="533400"/>
          </a:xfrm>
          <a:prstGeom prst="rect">
            <a:avLst/>
          </a:prstGeom>
        </p:spPr>
      </p:pic>
      <p:pic>
        <p:nvPicPr>
          <p:cNvPr id="24" name="Picture 23" descr="lock.png"/>
          <p:cNvPicPr>
            <a:picLocks noChangeAspect="1"/>
          </p:cNvPicPr>
          <p:nvPr/>
        </p:nvPicPr>
        <p:blipFill>
          <a:blip r:embed="rId5"/>
          <a:stretch>
            <a:fillRect/>
          </a:stretch>
        </p:blipFill>
        <p:spPr>
          <a:xfrm>
            <a:off x="3737844" y="4194492"/>
            <a:ext cx="384961" cy="559943"/>
          </a:xfrm>
          <a:prstGeom prst="rect">
            <a:avLst/>
          </a:prstGeom>
        </p:spPr>
      </p:pic>
      <p:sp>
        <p:nvSpPr>
          <p:cNvPr id="25" name="TextBox 24"/>
          <p:cNvSpPr txBox="1"/>
          <p:nvPr/>
        </p:nvSpPr>
        <p:spPr>
          <a:xfrm>
            <a:off x="7715250" y="3676650"/>
            <a:ext cx="3313546" cy="194310"/>
          </a:xfrm>
          <a:prstGeom prst="rect">
            <a:avLst/>
          </a:prstGeom>
          <a:noFill/>
        </p:spPr>
        <p:txBody>
          <a:bodyPr wrap="none" lIns="0" tIns="0" rIns="0" bIns="0">
            <a:spAutoFit/>
          </a:bodyPr>
          <a:lstStyle/>
          <a:p>
            <a:r>
              <a:rPr sz="1150" b="0">
                <a:solidFill>
                  <a:srgbClr val="2E2E2E"/>
                </a:solidFill>
                <a:latin typeface="Calibri"/>
              </a:rPr>
              <a:t>▪ 'Others' holds the highest share of 'Above 24 Cells' at</a:t>
            </a:r>
          </a:p>
        </p:txBody>
      </p:sp>
      <p:pic>
        <p:nvPicPr>
          <p:cNvPr id="26" name="Picture 25" descr="lock.png"/>
          <p:cNvPicPr>
            <a:picLocks noChangeAspect="1"/>
          </p:cNvPicPr>
          <p:nvPr/>
        </p:nvPicPr>
        <p:blipFill>
          <a:blip r:embed="rId5"/>
          <a:stretch>
            <a:fillRect/>
          </a:stretch>
        </p:blipFill>
        <p:spPr>
          <a:xfrm>
            <a:off x="10977950" y="3666426"/>
            <a:ext cx="134549" cy="195707"/>
          </a:xfrm>
          <a:prstGeom prst="rect">
            <a:avLst/>
          </a:prstGeom>
        </p:spPr>
      </p:pic>
      <p:sp>
        <p:nvSpPr>
          <p:cNvPr id="27" name="TextBox 26"/>
          <p:cNvSpPr txBox="1"/>
          <p:nvPr/>
        </p:nvSpPr>
        <p:spPr>
          <a:xfrm>
            <a:off x="11153059" y="3676650"/>
            <a:ext cx="569404" cy="194310"/>
          </a:xfrm>
          <a:prstGeom prst="rect">
            <a:avLst/>
          </a:prstGeom>
          <a:noFill/>
        </p:spPr>
        <p:txBody>
          <a:bodyPr wrap="none" lIns="0" tIns="0" rIns="0" bIns="0">
            <a:spAutoFit/>
          </a:bodyPr>
          <a:lstStyle/>
          <a:p>
            <a:r>
              <a:rPr sz="1150" b="0">
                <a:solidFill>
                  <a:srgbClr val="2E2E2E"/>
                </a:solidFill>
                <a:latin typeface="Calibri"/>
              </a:rPr>
              <a:t>(2026E).</a:t>
            </a:r>
          </a:p>
        </p:txBody>
      </p:sp>
      <p:sp>
        <p:nvSpPr>
          <p:cNvPr id="28" name="TextBox 27"/>
          <p:cNvSpPr txBox="1"/>
          <p:nvPr/>
        </p:nvSpPr>
        <p:spPr>
          <a:xfrm>
            <a:off x="7715250" y="3904487"/>
            <a:ext cx="3673537" cy="194310"/>
          </a:xfrm>
          <a:prstGeom prst="rect">
            <a:avLst/>
          </a:prstGeom>
          <a:noFill/>
        </p:spPr>
        <p:txBody>
          <a:bodyPr wrap="none" lIns="0" tIns="0" rIns="0" bIns="0">
            <a:spAutoFit/>
          </a:bodyPr>
          <a:lstStyle/>
          <a:p>
            <a:r>
              <a:rPr sz="1150" b="0">
                <a:solidFill>
                  <a:srgbClr val="2E2E2E"/>
                </a:solidFill>
                <a:latin typeface="Calibri"/>
              </a:rPr>
              <a:t>▪ 'Above 24 Cells' is the most concentrated cell configuration</a:t>
            </a:r>
          </a:p>
        </p:txBody>
      </p:sp>
      <p:sp>
        <p:nvSpPr>
          <p:cNvPr id="29" name="TextBox 28"/>
          <p:cNvSpPr txBox="1"/>
          <p:nvPr/>
        </p:nvSpPr>
        <p:spPr>
          <a:xfrm>
            <a:off x="7715250" y="4079747"/>
            <a:ext cx="1178706" cy="194310"/>
          </a:xfrm>
          <a:prstGeom prst="rect">
            <a:avLst/>
          </a:prstGeom>
          <a:noFill/>
        </p:spPr>
        <p:txBody>
          <a:bodyPr wrap="none" lIns="0" tIns="0" rIns="0" bIns="0">
            <a:spAutoFit/>
          </a:bodyPr>
          <a:lstStyle/>
          <a:p>
            <a:r>
              <a:rPr sz="1150" b="0">
                <a:solidFill>
                  <a:srgbClr val="2E2E2E"/>
                </a:solidFill>
                <a:latin typeface="Calibri"/>
              </a:rPr>
              <a:t>sub-segment, with</a:t>
            </a:r>
          </a:p>
        </p:txBody>
      </p:sp>
      <p:pic>
        <p:nvPicPr>
          <p:cNvPr id="30" name="Picture 29" descr="lock.png"/>
          <p:cNvPicPr>
            <a:picLocks noChangeAspect="1"/>
          </p:cNvPicPr>
          <p:nvPr/>
        </p:nvPicPr>
        <p:blipFill>
          <a:blip r:embed="rId5"/>
          <a:stretch>
            <a:fillRect/>
          </a:stretch>
        </p:blipFill>
        <p:spPr>
          <a:xfrm>
            <a:off x="8843110" y="4069524"/>
            <a:ext cx="134549" cy="195707"/>
          </a:xfrm>
          <a:prstGeom prst="rect">
            <a:avLst/>
          </a:prstGeom>
        </p:spPr>
      </p:pic>
      <p:sp>
        <p:nvSpPr>
          <p:cNvPr id="31" name="TextBox 30"/>
          <p:cNvSpPr txBox="1"/>
          <p:nvPr/>
        </p:nvSpPr>
        <p:spPr>
          <a:xfrm>
            <a:off x="9018219" y="4079747"/>
            <a:ext cx="1462819" cy="194310"/>
          </a:xfrm>
          <a:prstGeom prst="rect">
            <a:avLst/>
          </a:prstGeom>
          <a:noFill/>
        </p:spPr>
        <p:txBody>
          <a:bodyPr wrap="none" lIns="0" tIns="0" rIns="0" bIns="0">
            <a:spAutoFit/>
          </a:bodyPr>
          <a:lstStyle/>
          <a:p>
            <a:r>
              <a:rPr sz="1150" b="0">
                <a:solidFill>
                  <a:srgbClr val="2E2E2E"/>
                </a:solidFill>
                <a:latin typeface="Calibri"/>
              </a:rPr>
              <a:t>of its value via 'Others'.</a:t>
            </a:r>
          </a:p>
        </p:txBody>
      </p:sp>
      <p:sp>
        <p:nvSpPr>
          <p:cNvPr id="32" name="TextBox 31"/>
          <p:cNvSpPr txBox="1"/>
          <p:nvPr/>
        </p:nvSpPr>
        <p:spPr>
          <a:xfrm>
            <a:off x="7715250" y="4307585"/>
            <a:ext cx="2021061" cy="194310"/>
          </a:xfrm>
          <a:prstGeom prst="rect">
            <a:avLst/>
          </a:prstGeom>
          <a:noFill/>
        </p:spPr>
        <p:txBody>
          <a:bodyPr wrap="none" lIns="0" tIns="0" rIns="0" bIns="0">
            <a:spAutoFit/>
          </a:bodyPr>
          <a:lstStyle/>
          <a:p>
            <a:r>
              <a:rPr sz="1150" b="0">
                <a:solidFill>
                  <a:srgbClr val="2E2E2E"/>
                </a:solidFill>
                <a:latin typeface="Calibri"/>
              </a:rPr>
              <a:t>▪ 'Electronics &amp; Electrical' gains +</a:t>
            </a:r>
          </a:p>
        </p:txBody>
      </p:sp>
      <p:pic>
        <p:nvPicPr>
          <p:cNvPr id="33" name="Picture 32" descr="lock.png"/>
          <p:cNvPicPr>
            <a:picLocks noChangeAspect="1"/>
          </p:cNvPicPr>
          <p:nvPr/>
        </p:nvPicPr>
        <p:blipFill>
          <a:blip r:embed="rId5"/>
          <a:stretch>
            <a:fillRect/>
          </a:stretch>
        </p:blipFill>
        <p:spPr>
          <a:xfrm>
            <a:off x="9685465" y="4297362"/>
            <a:ext cx="134549" cy="195707"/>
          </a:xfrm>
          <a:prstGeom prst="rect">
            <a:avLst/>
          </a:prstGeom>
        </p:spPr>
      </p:pic>
      <p:sp>
        <p:nvSpPr>
          <p:cNvPr id="34" name="TextBox 33"/>
          <p:cNvSpPr txBox="1"/>
          <p:nvPr/>
        </p:nvSpPr>
        <p:spPr>
          <a:xfrm>
            <a:off x="9860574" y="4307585"/>
            <a:ext cx="1616000" cy="194310"/>
          </a:xfrm>
          <a:prstGeom prst="rect">
            <a:avLst/>
          </a:prstGeom>
          <a:noFill/>
        </p:spPr>
        <p:txBody>
          <a:bodyPr wrap="none" lIns="0" tIns="0" rIns="0" bIns="0">
            <a:spAutoFit/>
          </a:bodyPr>
          <a:lstStyle/>
          <a:p>
            <a:r>
              <a:rPr sz="1150" b="0">
                <a:solidFill>
                  <a:srgbClr val="2E2E2E"/>
                </a:solidFill>
                <a:latin typeface="Calibri"/>
              </a:rPr>
              <a:t>BPS of share of the Global</a:t>
            </a:r>
          </a:p>
        </p:txBody>
      </p:sp>
      <p:sp>
        <p:nvSpPr>
          <p:cNvPr id="35" name="TextBox 34"/>
          <p:cNvSpPr txBox="1"/>
          <p:nvPr/>
        </p:nvSpPr>
        <p:spPr>
          <a:xfrm>
            <a:off x="7715250" y="4482845"/>
            <a:ext cx="1462605" cy="194310"/>
          </a:xfrm>
          <a:prstGeom prst="rect">
            <a:avLst/>
          </a:prstGeom>
          <a:noFill/>
        </p:spPr>
        <p:txBody>
          <a:bodyPr wrap="none" lIns="0" tIns="0" rIns="0" bIns="0">
            <a:spAutoFit/>
          </a:bodyPr>
          <a:lstStyle/>
          <a:p>
            <a:r>
              <a:rPr sz="1150" b="0">
                <a:solidFill>
                  <a:srgbClr val="2E2E2E"/>
                </a:solidFill>
                <a:latin typeface="Calibri"/>
              </a:rPr>
              <a:t>cross-section by 2036F.</a:t>
            </a:r>
          </a:p>
        </p:txBody>
      </p:sp>
      <p:sp>
        <p:nvSpPr>
          <p:cNvPr id="36" name="lockshield_17"/>
          <p:cNvSpPr/>
          <p:nvPr/>
        </p:nvSpPr>
        <p:spPr>
          <a:xfrm>
            <a:off x="238125" y="3543300"/>
            <a:ext cx="7096125" cy="30289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Absolute $ Opportunity &amp; Attractiveness: Cell Configuration × End Use, 2026E–2036F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 Opportunity (US$ Mn) and Value CAGR, Cell Configuration × End Use, 2026E–2036F</a:t>
            </a:r>
          </a:p>
        </p:txBody>
      </p:sp>
      <p:graphicFrame>
        <p:nvGraphicFramePr>
          <p:cNvPr id="13" name="Table 12"/>
          <p:cNvGraphicFramePr>
            <a:graphicFrameLocks noGrp="1"/>
          </p:cNvGraphicFramePr>
          <p:nvPr/>
        </p:nvGraphicFramePr>
        <p:xfrm>
          <a:off x="152400" y="1238250"/>
          <a:ext cx="11887204" cy="2114549"/>
        </p:xfrm>
        <a:graphic>
          <a:graphicData uri="http://schemas.openxmlformats.org/drawingml/2006/table">
            <a:tbl>
              <a:tblPr>
                <a:tableStyleId>{5C22544A-7EE6-4342-B048-85BDC9FD1C3A}</a:tableStyleId>
              </a:tblPr>
              <a:tblGrid>
                <a:gridCol w="1134772">
                  <a:extLst>
                    <a:ext uri="{9D8B030D-6E8A-4147-A177-3AD203B41FA5}">
                      <a16:colId xmlns:a16="http://schemas.microsoft.com/office/drawing/2014/main" val="20000"/>
                    </a:ext>
                  </a:extLst>
                </a:gridCol>
                <a:gridCol w="672027">
                  <a:extLst>
                    <a:ext uri="{9D8B030D-6E8A-4147-A177-3AD203B41FA5}">
                      <a16:colId xmlns:a16="http://schemas.microsoft.com/office/drawing/2014/main" val="20001"/>
                    </a:ext>
                  </a:extLst>
                </a:gridCol>
                <a:gridCol w="672027">
                  <a:extLst>
                    <a:ext uri="{9D8B030D-6E8A-4147-A177-3AD203B41FA5}">
                      <a16:colId xmlns:a16="http://schemas.microsoft.com/office/drawing/2014/main" val="20002"/>
                    </a:ext>
                  </a:extLst>
                </a:gridCol>
                <a:gridCol w="672027">
                  <a:extLst>
                    <a:ext uri="{9D8B030D-6E8A-4147-A177-3AD203B41FA5}">
                      <a16:colId xmlns:a16="http://schemas.microsoft.com/office/drawing/2014/main" val="20003"/>
                    </a:ext>
                  </a:extLst>
                </a:gridCol>
                <a:gridCol w="672027">
                  <a:extLst>
                    <a:ext uri="{9D8B030D-6E8A-4147-A177-3AD203B41FA5}">
                      <a16:colId xmlns:a16="http://schemas.microsoft.com/office/drawing/2014/main" val="20004"/>
                    </a:ext>
                  </a:extLst>
                </a:gridCol>
                <a:gridCol w="672027">
                  <a:extLst>
                    <a:ext uri="{9D8B030D-6E8A-4147-A177-3AD203B41FA5}">
                      <a16:colId xmlns:a16="http://schemas.microsoft.com/office/drawing/2014/main" val="20005"/>
                    </a:ext>
                  </a:extLst>
                </a:gridCol>
                <a:gridCol w="672027">
                  <a:extLst>
                    <a:ext uri="{9D8B030D-6E8A-4147-A177-3AD203B41FA5}">
                      <a16:colId xmlns:a16="http://schemas.microsoft.com/office/drawing/2014/main" val="20006"/>
                    </a:ext>
                  </a:extLst>
                </a:gridCol>
                <a:gridCol w="672027">
                  <a:extLst>
                    <a:ext uri="{9D8B030D-6E8A-4147-A177-3AD203B41FA5}">
                      <a16:colId xmlns:a16="http://schemas.microsoft.com/office/drawing/2014/main" val="20007"/>
                    </a:ext>
                  </a:extLst>
                </a:gridCol>
                <a:gridCol w="672027">
                  <a:extLst>
                    <a:ext uri="{9D8B030D-6E8A-4147-A177-3AD203B41FA5}">
                      <a16:colId xmlns:a16="http://schemas.microsoft.com/office/drawing/2014/main" val="20008"/>
                    </a:ext>
                  </a:extLst>
                </a:gridCol>
                <a:gridCol w="672027">
                  <a:extLst>
                    <a:ext uri="{9D8B030D-6E8A-4147-A177-3AD203B41FA5}">
                      <a16:colId xmlns:a16="http://schemas.microsoft.com/office/drawing/2014/main" val="20009"/>
                    </a:ext>
                  </a:extLst>
                </a:gridCol>
                <a:gridCol w="672027">
                  <a:extLst>
                    <a:ext uri="{9D8B030D-6E8A-4147-A177-3AD203B41FA5}">
                      <a16:colId xmlns:a16="http://schemas.microsoft.com/office/drawing/2014/main" val="20010"/>
                    </a:ext>
                  </a:extLst>
                </a:gridCol>
                <a:gridCol w="672027">
                  <a:extLst>
                    <a:ext uri="{9D8B030D-6E8A-4147-A177-3AD203B41FA5}">
                      <a16:colId xmlns:a16="http://schemas.microsoft.com/office/drawing/2014/main" val="20011"/>
                    </a:ext>
                  </a:extLst>
                </a:gridCol>
                <a:gridCol w="672027">
                  <a:extLst>
                    <a:ext uri="{9D8B030D-6E8A-4147-A177-3AD203B41FA5}">
                      <a16:colId xmlns:a16="http://schemas.microsoft.com/office/drawing/2014/main" val="20012"/>
                    </a:ext>
                  </a:extLst>
                </a:gridCol>
                <a:gridCol w="672027">
                  <a:extLst>
                    <a:ext uri="{9D8B030D-6E8A-4147-A177-3AD203B41FA5}">
                      <a16:colId xmlns:a16="http://schemas.microsoft.com/office/drawing/2014/main" val="20013"/>
                    </a:ext>
                  </a:extLst>
                </a:gridCol>
                <a:gridCol w="672027">
                  <a:extLst>
                    <a:ext uri="{9D8B030D-6E8A-4147-A177-3AD203B41FA5}">
                      <a16:colId xmlns:a16="http://schemas.microsoft.com/office/drawing/2014/main" val="20014"/>
                    </a:ext>
                  </a:extLst>
                </a:gridCol>
                <a:gridCol w="672027">
                  <a:extLst>
                    <a:ext uri="{9D8B030D-6E8A-4147-A177-3AD203B41FA5}">
                      <a16:colId xmlns:a16="http://schemas.microsoft.com/office/drawing/2014/main" val="20015"/>
                    </a:ext>
                  </a:extLst>
                </a:gridCol>
                <a:gridCol w="672027">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142">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142">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142">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142">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142">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5"/>
                  </a:ext>
                </a:extLst>
              </a:tr>
              <a:tr h="247142">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6"/>
                  </a:ext>
                </a:extLst>
              </a:tr>
            </a:tbl>
          </a:graphicData>
        </a:graphic>
      </p:graphicFrame>
      <p:sp>
        <p:nvSpPr>
          <p:cNvPr id="14" name="TextBox 13"/>
          <p:cNvSpPr txBox="1"/>
          <p:nvPr/>
        </p:nvSpPr>
        <p:spPr>
          <a:xfrm>
            <a:off x="219075" y="33623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5600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781425"/>
            <a:ext cx="5334000" cy="209550"/>
          </a:xfrm>
          <a:prstGeom prst="rect">
            <a:avLst/>
          </a:prstGeom>
          <a:noFill/>
        </p:spPr>
        <p:txBody>
          <a:bodyPr wrap="square" lIns="0" tIns="9525" rIns="19050"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40195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105275"/>
            <a:ext cx="533400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5895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029325" y="3781425"/>
            <a:ext cx="1676400" cy="209550"/>
          </a:xfrm>
          <a:prstGeom prst="rect">
            <a:avLst/>
          </a:prstGeom>
          <a:noFill/>
        </p:spPr>
        <p:txBody>
          <a:bodyPr wrap="square" lIns="0" tIns="9525" rIns="19050" bIns="9525">
            <a:spAutoFit/>
          </a:bodyPr>
          <a:lstStyle/>
          <a:p>
            <a:pPr algn="l"/>
            <a:r>
              <a:rPr sz="1300" b="1">
                <a:solidFill>
                  <a:srgbClr val="0B2E4A"/>
                </a:solidFill>
                <a:latin typeface="Calibri"/>
              </a:rPr>
              <a:t>Largest Pool</a:t>
            </a:r>
          </a:p>
        </p:txBody>
      </p:sp>
      <p:sp>
        <p:nvSpPr>
          <p:cNvPr id="21" name="Rectangle 20"/>
          <p:cNvSpPr/>
          <p:nvPr/>
        </p:nvSpPr>
        <p:spPr>
          <a:xfrm>
            <a:off x="6029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029325" y="4105275"/>
            <a:ext cx="167640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3" name="Rounded Rectangle 22"/>
          <p:cNvSpPr/>
          <p:nvPr/>
        </p:nvSpPr>
        <p:spPr>
          <a:xfrm>
            <a:off x="79914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124825" y="3781425"/>
            <a:ext cx="1676400" cy="209550"/>
          </a:xfrm>
          <a:prstGeom prst="rect">
            <a:avLst/>
          </a:prstGeom>
          <a:noFill/>
        </p:spPr>
        <p:txBody>
          <a:bodyPr wrap="square" lIns="0" tIns="9525" rIns="19050" bIns="9525">
            <a:spAutoFit/>
          </a:bodyPr>
          <a:lstStyle/>
          <a:p>
            <a:pPr algn="l"/>
            <a:r>
              <a:rPr sz="1300" b="1">
                <a:solidFill>
                  <a:srgbClr val="0B2E4A"/>
                </a:solidFill>
                <a:latin typeface="Calibri"/>
              </a:rPr>
              <a:t>Fastest Growth</a:t>
            </a:r>
          </a:p>
        </p:txBody>
      </p:sp>
      <p:sp>
        <p:nvSpPr>
          <p:cNvPr id="25" name="Rectangle 24"/>
          <p:cNvSpPr/>
          <p:nvPr/>
        </p:nvSpPr>
        <p:spPr>
          <a:xfrm>
            <a:off x="81248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124825" y="4105275"/>
            <a:ext cx="167640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7" name="Rounded Rectangle 26"/>
          <p:cNvSpPr/>
          <p:nvPr/>
        </p:nvSpPr>
        <p:spPr>
          <a:xfrm>
            <a:off x="10086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220325" y="3781425"/>
            <a:ext cx="1676400" cy="209550"/>
          </a:xfrm>
          <a:prstGeom prst="rect">
            <a:avLst/>
          </a:prstGeom>
          <a:noFill/>
        </p:spPr>
        <p:txBody>
          <a:bodyPr wrap="square" lIns="0" tIns="9525" rIns="19050" bIns="9525">
            <a:spAutoFit/>
          </a:bodyPr>
          <a:lstStyle/>
          <a:p>
            <a:pPr algn="l"/>
            <a:r>
              <a:rPr sz="1300" b="1">
                <a:solidFill>
                  <a:srgbClr val="0B2E4A"/>
                </a:solidFill>
                <a:latin typeface="Calibri"/>
              </a:rPr>
              <a:t>Where to Play</a:t>
            </a:r>
          </a:p>
        </p:txBody>
      </p:sp>
      <p:sp>
        <p:nvSpPr>
          <p:cNvPr id="29" name="Rectangle 28"/>
          <p:cNvSpPr/>
          <p:nvPr/>
        </p:nvSpPr>
        <p:spPr>
          <a:xfrm>
            <a:off x="10220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10220325" y="4105275"/>
            <a:ext cx="1676400" cy="244792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 to 4 Cells × Electronics &amp; Electrical' ranks highest (5/5); '13 to 24 Cells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76697" y="2468245"/>
            <a:ext cx="366712" cy="533400"/>
          </a:xfrm>
          <a:prstGeom prst="rect">
            <a:avLst/>
          </a:prstGeom>
        </p:spPr>
      </p:pic>
      <p:sp>
        <p:nvSpPr>
          <p:cNvPr id="33" name="TextBox 32"/>
          <p:cNvSpPr txBox="1"/>
          <p:nvPr/>
        </p:nvSpPr>
        <p:spPr>
          <a:xfrm>
            <a:off x="276225" y="4114800"/>
            <a:ext cx="2289453" cy="194310"/>
          </a:xfrm>
          <a:prstGeom prst="rect">
            <a:avLst/>
          </a:prstGeom>
          <a:noFill/>
        </p:spPr>
        <p:txBody>
          <a:bodyPr wrap="none" lIns="0" tIns="0" rIns="0" bIns="0">
            <a:spAutoFit/>
          </a:bodyPr>
          <a:lstStyle/>
          <a:p>
            <a:r>
              <a:rPr sz="1150" b="0">
                <a:solidFill>
                  <a:srgbClr val="2E2E2E"/>
                </a:solidFill>
                <a:latin typeface="Calibri"/>
              </a:rPr>
              <a:t>▪ 1. 6 to 12 Cells × Food &amp; Beverage –</a:t>
            </a:r>
          </a:p>
        </p:txBody>
      </p:sp>
      <p:pic>
        <p:nvPicPr>
          <p:cNvPr id="34" name="Picture 33" descr="lock.png"/>
          <p:cNvPicPr>
            <a:picLocks noChangeAspect="1"/>
          </p:cNvPicPr>
          <p:nvPr/>
        </p:nvPicPr>
        <p:blipFill>
          <a:blip r:embed="rId4"/>
          <a:stretch>
            <a:fillRect/>
          </a:stretch>
        </p:blipFill>
        <p:spPr>
          <a:xfrm>
            <a:off x="2514832" y="4104576"/>
            <a:ext cx="134549" cy="195707"/>
          </a:xfrm>
          <a:prstGeom prst="rect">
            <a:avLst/>
          </a:prstGeom>
        </p:spPr>
      </p:pic>
      <p:sp>
        <p:nvSpPr>
          <p:cNvPr id="35" name="TextBox 34"/>
          <p:cNvSpPr txBox="1"/>
          <p:nvPr/>
        </p:nvSpPr>
        <p:spPr>
          <a:xfrm>
            <a:off x="2689942" y="4114800"/>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752093" y="4104576"/>
            <a:ext cx="134549" cy="195707"/>
          </a:xfrm>
          <a:prstGeom prst="rect">
            <a:avLst/>
          </a:prstGeom>
        </p:spPr>
      </p:pic>
      <p:sp>
        <p:nvSpPr>
          <p:cNvPr id="37" name="TextBox 36"/>
          <p:cNvSpPr txBox="1"/>
          <p:nvPr/>
        </p:nvSpPr>
        <p:spPr>
          <a:xfrm>
            <a:off x="2927203" y="4114800"/>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38" name="TextBox 37"/>
          <p:cNvSpPr txBox="1"/>
          <p:nvPr/>
        </p:nvSpPr>
        <p:spPr>
          <a:xfrm>
            <a:off x="276225" y="4342638"/>
            <a:ext cx="2623232" cy="194310"/>
          </a:xfrm>
          <a:prstGeom prst="rect">
            <a:avLst/>
          </a:prstGeom>
          <a:noFill/>
        </p:spPr>
        <p:txBody>
          <a:bodyPr wrap="none" lIns="0" tIns="0" rIns="0" bIns="0">
            <a:spAutoFit/>
          </a:bodyPr>
          <a:lstStyle/>
          <a:p>
            <a:r>
              <a:rPr sz="1150" b="0">
                <a:solidFill>
                  <a:srgbClr val="2E2E2E"/>
                </a:solidFill>
                <a:latin typeface="Calibri"/>
              </a:rPr>
              <a:t>▪ 2. 6 to 12 Cells × Electronics &amp; Electrical –</a:t>
            </a:r>
          </a:p>
        </p:txBody>
      </p:sp>
      <p:pic>
        <p:nvPicPr>
          <p:cNvPr id="39" name="Picture 38" descr="lock.png"/>
          <p:cNvPicPr>
            <a:picLocks noChangeAspect="1"/>
          </p:cNvPicPr>
          <p:nvPr/>
        </p:nvPicPr>
        <p:blipFill>
          <a:blip r:embed="rId4"/>
          <a:stretch>
            <a:fillRect/>
          </a:stretch>
        </p:blipFill>
        <p:spPr>
          <a:xfrm>
            <a:off x="2848611" y="4332414"/>
            <a:ext cx="134549" cy="195707"/>
          </a:xfrm>
          <a:prstGeom prst="rect">
            <a:avLst/>
          </a:prstGeom>
        </p:spPr>
      </p:pic>
      <p:sp>
        <p:nvSpPr>
          <p:cNvPr id="40" name="TextBox 39"/>
          <p:cNvSpPr txBox="1"/>
          <p:nvPr/>
        </p:nvSpPr>
        <p:spPr>
          <a:xfrm>
            <a:off x="3023720" y="4342638"/>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085872" y="4332414"/>
            <a:ext cx="134549" cy="195707"/>
          </a:xfrm>
          <a:prstGeom prst="rect">
            <a:avLst/>
          </a:prstGeom>
        </p:spPr>
      </p:pic>
      <p:sp>
        <p:nvSpPr>
          <p:cNvPr id="42" name="TextBox 41"/>
          <p:cNvSpPr txBox="1"/>
          <p:nvPr/>
        </p:nvSpPr>
        <p:spPr>
          <a:xfrm>
            <a:off x="3260981" y="4342638"/>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3" name="TextBox 42"/>
          <p:cNvSpPr txBox="1"/>
          <p:nvPr/>
        </p:nvSpPr>
        <p:spPr>
          <a:xfrm>
            <a:off x="276225" y="4570475"/>
            <a:ext cx="2645481" cy="194310"/>
          </a:xfrm>
          <a:prstGeom prst="rect">
            <a:avLst/>
          </a:prstGeom>
          <a:noFill/>
        </p:spPr>
        <p:txBody>
          <a:bodyPr wrap="none" lIns="0" tIns="0" rIns="0" bIns="0">
            <a:spAutoFit/>
          </a:bodyPr>
          <a:lstStyle/>
          <a:p>
            <a:r>
              <a:rPr sz="1150" b="0">
                <a:solidFill>
                  <a:srgbClr val="2E2E2E"/>
                </a:solidFill>
                <a:latin typeface="Calibri"/>
              </a:rPr>
              <a:t>▪ 3. Up to 4 Cells × Electronics &amp; Electrical –</a:t>
            </a:r>
          </a:p>
        </p:txBody>
      </p:sp>
      <p:pic>
        <p:nvPicPr>
          <p:cNvPr id="44" name="Picture 43" descr="lock.png"/>
          <p:cNvPicPr>
            <a:picLocks noChangeAspect="1"/>
          </p:cNvPicPr>
          <p:nvPr/>
        </p:nvPicPr>
        <p:blipFill>
          <a:blip r:embed="rId4"/>
          <a:stretch>
            <a:fillRect/>
          </a:stretch>
        </p:blipFill>
        <p:spPr>
          <a:xfrm>
            <a:off x="2870860" y="4560252"/>
            <a:ext cx="134549" cy="195707"/>
          </a:xfrm>
          <a:prstGeom prst="rect">
            <a:avLst/>
          </a:prstGeom>
        </p:spPr>
      </p:pic>
      <p:sp>
        <p:nvSpPr>
          <p:cNvPr id="45" name="TextBox 44"/>
          <p:cNvSpPr txBox="1"/>
          <p:nvPr/>
        </p:nvSpPr>
        <p:spPr>
          <a:xfrm>
            <a:off x="3045970" y="4570475"/>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108121" y="4560252"/>
            <a:ext cx="134549" cy="195707"/>
          </a:xfrm>
          <a:prstGeom prst="rect">
            <a:avLst/>
          </a:prstGeom>
        </p:spPr>
      </p:pic>
      <p:sp>
        <p:nvSpPr>
          <p:cNvPr id="47" name="TextBox 46"/>
          <p:cNvSpPr txBox="1"/>
          <p:nvPr/>
        </p:nvSpPr>
        <p:spPr>
          <a:xfrm>
            <a:off x="3283231" y="4570475"/>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8" name="TextBox 47"/>
          <p:cNvSpPr txBox="1"/>
          <p:nvPr/>
        </p:nvSpPr>
        <p:spPr>
          <a:xfrm>
            <a:off x="276225" y="4798313"/>
            <a:ext cx="3427077" cy="194310"/>
          </a:xfrm>
          <a:prstGeom prst="rect">
            <a:avLst/>
          </a:prstGeom>
          <a:noFill/>
        </p:spPr>
        <p:txBody>
          <a:bodyPr wrap="none" lIns="0" tIns="0" rIns="0" bIns="0">
            <a:spAutoFit/>
          </a:bodyPr>
          <a:lstStyle/>
          <a:p>
            <a:r>
              <a:rPr sz="1150" b="0">
                <a:solidFill>
                  <a:srgbClr val="2E2E2E"/>
                </a:solidFill>
                <a:latin typeface="Calibri"/>
              </a:rPr>
              <a:t>▪ 4. 6 to 12 Cells × Glassware, Ceramics &amp; Home Goods –</a:t>
            </a:r>
          </a:p>
        </p:txBody>
      </p:sp>
      <p:pic>
        <p:nvPicPr>
          <p:cNvPr id="49" name="Picture 48" descr="lock.png"/>
          <p:cNvPicPr>
            <a:picLocks noChangeAspect="1"/>
          </p:cNvPicPr>
          <p:nvPr/>
        </p:nvPicPr>
        <p:blipFill>
          <a:blip r:embed="rId4"/>
          <a:stretch>
            <a:fillRect/>
          </a:stretch>
        </p:blipFill>
        <p:spPr>
          <a:xfrm>
            <a:off x="3652456" y="4788090"/>
            <a:ext cx="134549" cy="195707"/>
          </a:xfrm>
          <a:prstGeom prst="rect">
            <a:avLst/>
          </a:prstGeom>
        </p:spPr>
      </p:pic>
      <p:sp>
        <p:nvSpPr>
          <p:cNvPr id="50" name="TextBox 49"/>
          <p:cNvSpPr txBox="1"/>
          <p:nvPr/>
        </p:nvSpPr>
        <p:spPr>
          <a:xfrm>
            <a:off x="3827565" y="4798313"/>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889717" y="4788090"/>
            <a:ext cx="134549" cy="195707"/>
          </a:xfrm>
          <a:prstGeom prst="rect">
            <a:avLst/>
          </a:prstGeom>
        </p:spPr>
      </p:pic>
      <p:sp>
        <p:nvSpPr>
          <p:cNvPr id="52" name="TextBox 51"/>
          <p:cNvSpPr txBox="1"/>
          <p:nvPr/>
        </p:nvSpPr>
        <p:spPr>
          <a:xfrm>
            <a:off x="4064826" y="4798313"/>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3" name="TextBox 52"/>
          <p:cNvSpPr txBox="1"/>
          <p:nvPr/>
        </p:nvSpPr>
        <p:spPr>
          <a:xfrm>
            <a:off x="276225" y="5026151"/>
            <a:ext cx="2311703" cy="194310"/>
          </a:xfrm>
          <a:prstGeom prst="rect">
            <a:avLst/>
          </a:prstGeom>
          <a:noFill/>
        </p:spPr>
        <p:txBody>
          <a:bodyPr wrap="none" lIns="0" tIns="0" rIns="0" bIns="0">
            <a:spAutoFit/>
          </a:bodyPr>
          <a:lstStyle/>
          <a:p>
            <a:r>
              <a:rPr sz="1150" b="0">
                <a:solidFill>
                  <a:srgbClr val="2E2E2E"/>
                </a:solidFill>
                <a:latin typeface="Calibri"/>
              </a:rPr>
              <a:t>▪ 5. Up to 4 Cells × Food &amp; Beverage –</a:t>
            </a:r>
          </a:p>
        </p:txBody>
      </p:sp>
      <p:pic>
        <p:nvPicPr>
          <p:cNvPr id="54" name="Picture 53" descr="lock.png"/>
          <p:cNvPicPr>
            <a:picLocks noChangeAspect="1"/>
          </p:cNvPicPr>
          <p:nvPr/>
        </p:nvPicPr>
        <p:blipFill>
          <a:blip r:embed="rId4"/>
          <a:stretch>
            <a:fillRect/>
          </a:stretch>
        </p:blipFill>
        <p:spPr>
          <a:xfrm>
            <a:off x="2537082" y="5015928"/>
            <a:ext cx="134549" cy="195707"/>
          </a:xfrm>
          <a:prstGeom prst="rect">
            <a:avLst/>
          </a:prstGeom>
        </p:spPr>
      </p:pic>
      <p:sp>
        <p:nvSpPr>
          <p:cNvPr id="55" name="TextBox 54"/>
          <p:cNvSpPr txBox="1"/>
          <p:nvPr/>
        </p:nvSpPr>
        <p:spPr>
          <a:xfrm>
            <a:off x="2712191" y="5026151"/>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2774343" y="5015928"/>
            <a:ext cx="134549" cy="195707"/>
          </a:xfrm>
          <a:prstGeom prst="rect">
            <a:avLst/>
          </a:prstGeom>
        </p:spPr>
      </p:pic>
      <p:sp>
        <p:nvSpPr>
          <p:cNvPr id="57" name="TextBox 56"/>
          <p:cNvSpPr txBox="1"/>
          <p:nvPr/>
        </p:nvSpPr>
        <p:spPr>
          <a:xfrm>
            <a:off x="2949452" y="5026151"/>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8" name="TextBox 57"/>
          <p:cNvSpPr txBox="1"/>
          <p:nvPr/>
        </p:nvSpPr>
        <p:spPr>
          <a:xfrm>
            <a:off x="6029325" y="4114800"/>
            <a:ext cx="1485323" cy="194310"/>
          </a:xfrm>
          <a:prstGeom prst="rect">
            <a:avLst/>
          </a:prstGeom>
          <a:noFill/>
        </p:spPr>
        <p:txBody>
          <a:bodyPr wrap="none" lIns="0" tIns="0" rIns="0" bIns="0">
            <a:spAutoFit/>
          </a:bodyPr>
          <a:lstStyle/>
          <a:p>
            <a:r>
              <a:rPr sz="1150" b="0">
                <a:solidFill>
                  <a:srgbClr val="2E2E2E"/>
                </a:solidFill>
                <a:latin typeface="Calibri"/>
              </a:rPr>
              <a:t>▪ '6 to 12 Cells × Food &amp;</a:t>
            </a:r>
          </a:p>
        </p:txBody>
      </p:sp>
      <p:sp>
        <p:nvSpPr>
          <p:cNvPr id="59" name="TextBox 58"/>
          <p:cNvSpPr txBox="1"/>
          <p:nvPr/>
        </p:nvSpPr>
        <p:spPr>
          <a:xfrm>
            <a:off x="6029325" y="4290060"/>
            <a:ext cx="975320" cy="194310"/>
          </a:xfrm>
          <a:prstGeom prst="rect">
            <a:avLst/>
          </a:prstGeom>
          <a:noFill/>
        </p:spPr>
        <p:txBody>
          <a:bodyPr wrap="none" lIns="0" tIns="0" rIns="0" bIns="0">
            <a:spAutoFit/>
          </a:bodyPr>
          <a:lstStyle/>
          <a:p>
            <a:r>
              <a:rPr sz="1150" b="0">
                <a:solidFill>
                  <a:srgbClr val="2E2E2E"/>
                </a:solidFill>
                <a:latin typeface="Calibri"/>
              </a:rPr>
              <a:t>Beverage' adds</a:t>
            </a:r>
          </a:p>
        </p:txBody>
      </p:sp>
      <p:pic>
        <p:nvPicPr>
          <p:cNvPr id="60" name="Picture 59" descr="lock.png"/>
          <p:cNvPicPr>
            <a:picLocks noChangeAspect="1"/>
          </p:cNvPicPr>
          <p:nvPr/>
        </p:nvPicPr>
        <p:blipFill>
          <a:blip r:embed="rId4"/>
          <a:stretch>
            <a:fillRect/>
          </a:stretch>
        </p:blipFill>
        <p:spPr>
          <a:xfrm>
            <a:off x="6953799" y="4279836"/>
            <a:ext cx="134549" cy="195707"/>
          </a:xfrm>
          <a:prstGeom prst="rect">
            <a:avLst/>
          </a:prstGeom>
        </p:spPr>
      </p:pic>
      <p:sp>
        <p:nvSpPr>
          <p:cNvPr id="61" name="TextBox 60"/>
          <p:cNvSpPr txBox="1"/>
          <p:nvPr/>
        </p:nvSpPr>
        <p:spPr>
          <a:xfrm>
            <a:off x="7128908" y="4290060"/>
            <a:ext cx="311249" cy="194310"/>
          </a:xfrm>
          <a:prstGeom prst="rect">
            <a:avLst/>
          </a:prstGeom>
          <a:noFill/>
        </p:spPr>
        <p:txBody>
          <a:bodyPr wrap="none" lIns="0" tIns="0" rIns="0" bIns="0">
            <a:spAutoFit/>
          </a:bodyPr>
          <a:lstStyle/>
          <a:p>
            <a:r>
              <a:rPr sz="1150" b="0">
                <a:solidFill>
                  <a:srgbClr val="2E2E2E"/>
                </a:solidFill>
                <a:latin typeface="Calibri"/>
              </a:rPr>
              <a:t>US$</a:t>
            </a:r>
          </a:p>
        </p:txBody>
      </p:sp>
      <p:sp>
        <p:nvSpPr>
          <p:cNvPr id="62" name="TextBox 61"/>
          <p:cNvSpPr txBox="1"/>
          <p:nvPr/>
        </p:nvSpPr>
        <p:spPr>
          <a:xfrm>
            <a:off x="6029325" y="4465320"/>
            <a:ext cx="956493" cy="194310"/>
          </a:xfrm>
          <a:prstGeom prst="rect">
            <a:avLst/>
          </a:prstGeom>
          <a:noFill/>
        </p:spPr>
        <p:txBody>
          <a:bodyPr wrap="none" lIns="0" tIns="0" r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455096"/>
            <a:ext cx="134549" cy="195707"/>
          </a:xfrm>
          <a:prstGeom prst="rect">
            <a:avLst/>
          </a:prstGeom>
        </p:spPr>
      </p:pic>
      <p:sp>
        <p:nvSpPr>
          <p:cNvPr id="64" name="TextBox 63"/>
          <p:cNvSpPr txBox="1"/>
          <p:nvPr/>
        </p:nvSpPr>
        <p:spPr>
          <a:xfrm>
            <a:off x="7110081" y="4465320"/>
            <a:ext cx="429344" cy="194310"/>
          </a:xfrm>
          <a:prstGeom prst="rect">
            <a:avLst/>
          </a:prstGeom>
          <a:noFill/>
        </p:spPr>
        <p:txBody>
          <a:bodyPr wrap="none" lIns="0" tIns="0" rIns="0" bIns="0">
            <a:spAutoFit/>
          </a:bodyPr>
          <a:lstStyle/>
          <a:p>
            <a:r>
              <a:rPr sz="1150" b="0">
                <a:solidFill>
                  <a:srgbClr val="2E2E2E"/>
                </a:solidFill>
                <a:latin typeface="Calibri"/>
              </a:rPr>
              <a:t>of the</a:t>
            </a:r>
          </a:p>
        </p:txBody>
      </p:sp>
      <p:sp>
        <p:nvSpPr>
          <p:cNvPr id="65" name="TextBox 64"/>
          <p:cNvSpPr txBox="1"/>
          <p:nvPr/>
        </p:nvSpPr>
        <p:spPr>
          <a:xfrm>
            <a:off x="6029325" y="4640579"/>
            <a:ext cx="1134777" cy="194310"/>
          </a:xfrm>
          <a:prstGeom prst="rect">
            <a:avLst/>
          </a:prstGeom>
          <a:noFill/>
        </p:spPr>
        <p:txBody>
          <a:bodyPr wrap="none" lIns="0" tIns="0" rIns="0" bIns="0">
            <a:spAutoFit/>
          </a:bodyPr>
          <a:lstStyle/>
          <a:p>
            <a:r>
              <a:rPr sz="1150" b="0">
                <a:solidFill>
                  <a:srgbClr val="2E2E2E"/>
                </a:solidFill>
                <a:latin typeface="Calibri"/>
              </a:rPr>
              <a:t>total opportunity.</a:t>
            </a:r>
          </a:p>
        </p:txBody>
      </p:sp>
      <p:sp>
        <p:nvSpPr>
          <p:cNvPr id="66" name="TextBox 65"/>
          <p:cNvSpPr txBox="1"/>
          <p:nvPr/>
        </p:nvSpPr>
        <p:spPr>
          <a:xfrm>
            <a:off x="8124825" y="4114800"/>
            <a:ext cx="1657350" cy="194310"/>
          </a:xfrm>
          <a:prstGeom prst="rect">
            <a:avLst/>
          </a:prstGeom>
          <a:noFill/>
        </p:spPr>
        <p:txBody>
          <a:bodyPr wrap="none" lIns="0" tIns="0" rIns="0" bIns="0">
            <a:spAutoFit/>
          </a:bodyPr>
          <a:lstStyle/>
          <a:p>
            <a:r>
              <a:rPr sz="1150" b="0">
                <a:solidFill>
                  <a:srgbClr val="2E2E2E"/>
                </a:solidFill>
                <a:latin typeface="Calibri"/>
              </a:rPr>
              <a:t>▪ '6 to 12 Cells × Electronics</a:t>
            </a:r>
          </a:p>
        </p:txBody>
      </p:sp>
      <p:sp>
        <p:nvSpPr>
          <p:cNvPr id="67" name="TextBox 66"/>
          <p:cNvSpPr txBox="1"/>
          <p:nvPr/>
        </p:nvSpPr>
        <p:spPr>
          <a:xfrm>
            <a:off x="8124825" y="4290060"/>
            <a:ext cx="1426306" cy="194310"/>
          </a:xfrm>
          <a:prstGeom prst="rect">
            <a:avLst/>
          </a:prstGeom>
          <a:noFill/>
        </p:spPr>
        <p:txBody>
          <a:bodyPr wrap="none" lIns="0" tIns="0" r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279836"/>
            <a:ext cx="134549" cy="195707"/>
          </a:xfrm>
          <a:prstGeom prst="rect">
            <a:avLst/>
          </a:prstGeom>
        </p:spPr>
      </p:pic>
      <p:sp>
        <p:nvSpPr>
          <p:cNvPr id="69" name="TextBox 68"/>
          <p:cNvSpPr txBox="1"/>
          <p:nvPr/>
        </p:nvSpPr>
        <p:spPr>
          <a:xfrm>
            <a:off x="8124825" y="4465320"/>
            <a:ext cx="446441" cy="194310"/>
          </a:xfrm>
          <a:prstGeom prst="rect">
            <a:avLst/>
          </a:prstGeom>
          <a:noFill/>
        </p:spPr>
        <p:txBody>
          <a:bodyPr wrap="none" lIns="0" tIns="0" r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455096"/>
            <a:ext cx="134549" cy="195707"/>
          </a:xfrm>
          <a:prstGeom prst="rect">
            <a:avLst/>
          </a:prstGeom>
        </p:spPr>
      </p:pic>
      <p:sp>
        <p:nvSpPr>
          <p:cNvPr id="71" name="TextBox 70"/>
          <p:cNvSpPr txBox="1"/>
          <p:nvPr/>
        </p:nvSpPr>
        <p:spPr>
          <a:xfrm>
            <a:off x="8695529" y="4465320"/>
            <a:ext cx="925400" cy="194310"/>
          </a:xfrm>
          <a:prstGeom prst="rect">
            <a:avLst/>
          </a:prstGeom>
          <a:noFill/>
        </p:spPr>
        <p:txBody>
          <a:bodyPr wrap="none" lIns="0" tIns="0" rIns="0" bIns="0">
            <a:spAutoFit/>
          </a:bodyPr>
          <a:lstStyle/>
          <a:p>
            <a:r>
              <a:rPr sz="1150" b="0">
                <a:solidFill>
                  <a:srgbClr val="2E2E2E"/>
                </a:solidFill>
                <a:latin typeface="Calibri"/>
              </a:rPr>
              <a:t>BPS above the</a:t>
            </a:r>
          </a:p>
        </p:txBody>
      </p:sp>
      <p:sp>
        <p:nvSpPr>
          <p:cNvPr id="72" name="TextBox 71"/>
          <p:cNvSpPr txBox="1"/>
          <p:nvPr/>
        </p:nvSpPr>
        <p:spPr>
          <a:xfrm>
            <a:off x="8124825" y="4640579"/>
            <a:ext cx="890029" cy="194310"/>
          </a:xfrm>
          <a:prstGeom prst="rect">
            <a:avLst/>
          </a:prstGeom>
          <a:noFill/>
        </p:spPr>
        <p:txBody>
          <a:bodyPr wrap="none" lIns="0" tIns="0" rIns="0" bIns="0">
            <a:spAutoFit/>
          </a:bodyPr>
          <a:lstStyle/>
          <a:p>
            <a:r>
              <a:rPr sz="1150" b="0">
                <a:solidFill>
                  <a:srgbClr val="2E2E2E"/>
                </a:solidFill>
                <a:latin typeface="Calibri"/>
              </a:rPr>
              <a:t>cross-section.</a:t>
            </a: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bg>
      <p:bgPr>
        <a:solidFill>
          <a:srgbClr val="0A2A63"/>
        </a:solidFill>
        <a:effectLst/>
      </p:bgPr>
    </p:bg>
    <p:spTree>
      <p:nvGrpSpPr>
        <p:cNvPr id="1" name=""/>
        <p:cNvGrpSpPr/>
        <p:nvPr/>
      </p:nvGrpSpPr>
      <p:grpSpPr>
        <a:xfrm>
          <a:off x="0" y="0"/>
          <a:ext cx="0" cy="0"/>
          <a:chOff x="0" y="0"/>
          <a:chExt cx="0" cy="0"/>
        </a:xfrm>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ang="195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fmi_logo_template.png"/>
          <p:cNvPicPr>
            <a:picLocks noChangeAspect="1"/>
          </p:cNvPicPr>
          <p:nvPr/>
        </p:nvPicPr>
        <p:blipFill>
          <a:blip r:embed="rId3"/>
          <a:stretch>
            <a:fillRect/>
          </a:stretch>
        </p:blipFill>
        <p:spPr>
          <a:xfrm>
            <a:off x="411480" y="274320"/>
            <a:ext cx="1307592" cy="1325880"/>
          </a:xfrm>
          <a:prstGeom prst="rect">
            <a:avLst/>
          </a:prstGeom>
        </p:spPr>
      </p:pic>
      <p:sp>
        <p:nvSpPr>
          <p:cNvPr id="5" name="TextBox 4"/>
          <p:cNvSpPr txBox="1"/>
          <p:nvPr/>
        </p:nvSpPr>
        <p:spPr>
          <a:xfrm>
            <a:off x="914400" y="222059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2525395"/>
            <a:ext cx="7239000" cy="971550"/>
          </a:xfrm>
          <a:prstGeom prst="rect">
            <a:avLst/>
          </a:prstGeom>
          <a:noFill/>
        </p:spPr>
        <p:txBody>
          <a:bodyPr wrap="square" lIns="0" tIns="0" r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687445"/>
            <a:ext cx="5067300" cy="2378710"/>
          </a:xfrm>
          <a:prstGeom prst="rect">
            <a:avLst/>
          </a:prstGeom>
          <a:noFill/>
        </p:spPr>
        <p:txBody>
          <a:bodyPr wrap="square" lIns="0" tIns="0" rIns="0" bIns="0">
            <a:spAutoFit/>
          </a:bodyPr>
          <a:lstStyle/>
          <a:p>
            <a:pPr marL="342900" indent="-323850">
              <a:lnSpc>
                <a:spcPct val="100000"/>
              </a:lnSpc>
              <a:spcAft>
                <a:spcPts val="800"/>
              </a:spcAft>
            </a:pPr>
            <a:r>
              <a:rPr sz="2000" b="0">
                <a:solidFill>
                  <a:srgbClr val="FFD447"/>
                </a:solidFill>
                <a:latin typeface="Calibri"/>
              </a:rPr>
              <a:t>➤	North America Overview</a:t>
            </a:r>
          </a:p>
          <a:p>
            <a:pPr marL="342900" indent="-323850">
              <a:lnSpc>
                <a:spcPct val="100000"/>
              </a:lnSpc>
              <a:spcAft>
                <a:spcPts val="800"/>
              </a:spcAft>
            </a:pPr>
            <a:r>
              <a:rPr sz="2000" b="0">
                <a:solidFill>
                  <a:srgbClr val="FFD447"/>
                </a:solidFill>
                <a:latin typeface="Calibri"/>
              </a:rPr>
              <a:t>➤	North America Market Analysis By Country</a:t>
            </a:r>
          </a:p>
          <a:p>
            <a:pPr marL="342900" indent="-323850">
              <a:lnSpc>
                <a:spcPct val="100000"/>
              </a:lnSpc>
              <a:spcAft>
                <a:spcPts val="800"/>
              </a:spcAft>
            </a:pPr>
            <a:r>
              <a:rPr sz="2000" b="0">
                <a:solidFill>
                  <a:srgbClr val="FFD447"/>
                </a:solidFill>
                <a:latin typeface="Calibri"/>
              </a:rPr>
              <a:t>➤	North America Market Analysis By Segments</a:t>
            </a:r>
          </a:p>
          <a:p>
            <a:pPr marL="685800" indent="-323850">
              <a:lnSpc>
                <a:spcPct val="100000"/>
              </a:lnSpc>
              <a:spcAft>
                <a:spcPts val="560"/>
              </a:spcAft>
            </a:pPr>
            <a:r>
              <a:rPr sz="1400" b="0">
                <a:solidFill>
                  <a:srgbClr val="FFD447"/>
                </a:solidFill>
                <a:latin typeface="Calibri"/>
              </a:rPr>
              <a:t>›	By Partition Type</a:t>
            </a:r>
          </a:p>
          <a:p>
            <a:pPr marL="685800" indent="-323850">
              <a:lnSpc>
                <a:spcPct val="100000"/>
              </a:lnSpc>
              <a:spcAft>
                <a:spcPts val="560"/>
              </a:spcAft>
            </a:pPr>
            <a:r>
              <a:rPr sz="1400" b="0">
                <a:solidFill>
                  <a:srgbClr val="FFD447"/>
                </a:solidFill>
                <a:latin typeface="Calibri"/>
              </a:rPr>
              <a:t>›	By Board Construction</a:t>
            </a:r>
          </a:p>
          <a:p>
            <a:pPr marL="685800" indent="-323850">
              <a:lnSpc>
                <a:spcPct val="100000"/>
              </a:lnSpc>
              <a:spcAft>
                <a:spcPts val="560"/>
              </a:spcAft>
            </a:pPr>
            <a:r>
              <a:rPr sz="1400" b="0">
                <a:solidFill>
                  <a:srgbClr val="FFD447"/>
                </a:solidFill>
                <a:latin typeface="Calibri"/>
              </a:rPr>
              <a:t>›	By Material Source</a:t>
            </a:r>
          </a:p>
          <a:p>
            <a:pPr marL="685800" indent="-323850">
              <a:lnSpc>
                <a:spcPct val="100000"/>
              </a:lnSpc>
              <a:spcAft>
                <a:spcPts val="560"/>
              </a:spcAft>
            </a:pPr>
            <a:r>
              <a:rPr sz="1400" b="0">
                <a:solidFill>
                  <a:srgbClr val="FFD447"/>
                </a:solidFill>
                <a:latin typeface="Calibri"/>
              </a:rPr>
              <a:t>›	By Cell Configuration</a:t>
            </a:r>
          </a:p>
        </p:txBody>
      </p:sp>
      <p:sp>
        <p:nvSpPr>
          <p:cNvPr id="8" name="TextBox 7"/>
          <p:cNvSpPr txBox="1"/>
          <p:nvPr/>
        </p:nvSpPr>
        <p:spPr>
          <a:xfrm>
            <a:off x="6096000" y="3687445"/>
            <a:ext cx="5067300" cy="2142490"/>
          </a:xfrm>
          <a:prstGeom prst="rect">
            <a:avLst/>
          </a:prstGeom>
          <a:noFill/>
        </p:spPr>
        <p:txBody>
          <a:bodyPr wrap="square" lIns="0" tIns="0" rIns="0" bIns="0">
            <a:spAutoFit/>
          </a:bodyPr>
          <a:lstStyle/>
          <a:p>
            <a:pPr marL="685800" indent="-323850">
              <a:lnSpc>
                <a:spcPct val="100000"/>
              </a:lnSpc>
              <a:spcAft>
                <a:spcPts val="560"/>
              </a:spcAft>
            </a:pPr>
            <a:r>
              <a:rPr sz="1400" b="0">
                <a:solidFill>
                  <a:srgbClr val="FFD447"/>
                </a:solidFill>
                <a:latin typeface="Calibri"/>
              </a:rPr>
              <a:t>›	By Customization</a:t>
            </a:r>
          </a:p>
          <a:p>
            <a:pPr marL="685800" indent="-323850">
              <a:lnSpc>
                <a:spcPct val="100000"/>
              </a:lnSpc>
              <a:spcAft>
                <a:spcPts val="560"/>
              </a:spcAft>
            </a:pPr>
            <a:r>
              <a:rPr sz="1400" b="0">
                <a:solidFill>
                  <a:srgbClr val="FFD447"/>
                </a:solidFill>
                <a:latin typeface="Calibri"/>
              </a:rPr>
              <a:t>›	By End Use</a:t>
            </a:r>
          </a:p>
          <a:p>
            <a:pPr marL="685800" indent="-323850">
              <a:lnSpc>
                <a:spcPct val="100000"/>
              </a:lnSpc>
              <a:spcAft>
                <a:spcPts val="560"/>
              </a:spcAft>
            </a:pPr>
            <a:r>
              <a:rPr sz="1400" b="0">
                <a:solidFill>
                  <a:srgbClr val="FFD447"/>
                </a:solidFill>
                <a:latin typeface="Calibri"/>
              </a:rPr>
              <a:t>›	By Sales Channel</a:t>
            </a:r>
          </a:p>
          <a:p>
            <a:pPr marL="342900" indent="-323850">
              <a:lnSpc>
                <a:spcPct val="100000"/>
              </a:lnSpc>
              <a:spcAft>
                <a:spcPts val="800"/>
              </a:spcAft>
            </a:pPr>
            <a:r>
              <a:rPr sz="2000" b="0">
                <a:solidFill>
                  <a:srgbClr val="FFD447"/>
                </a:solidFill>
                <a:latin typeface="Calibri"/>
              </a:rPr>
              <a:t>➤	Cross-sectional Assessment</a:t>
            </a:r>
          </a:p>
          <a:p>
            <a:pPr marL="685800" indent="-323850">
              <a:lnSpc>
                <a:spcPct val="100000"/>
              </a:lnSpc>
              <a:spcAft>
                <a:spcPts val="560"/>
              </a:spcAft>
            </a:pPr>
            <a:r>
              <a:rPr sz="1400" b="0">
                <a:solidFill>
                  <a:srgbClr val="FFD447"/>
                </a:solidFill>
                <a:latin typeface="Calibri"/>
              </a:rPr>
              <a:t>›	Partition Type × End Use</a:t>
            </a:r>
          </a:p>
          <a:p>
            <a:pPr marL="685800" indent="-323850">
              <a:lnSpc>
                <a:spcPct val="100000"/>
              </a:lnSpc>
              <a:spcAft>
                <a:spcPts val="560"/>
              </a:spcAft>
            </a:pPr>
            <a:r>
              <a:rPr sz="1400" b="0">
                <a:solidFill>
                  <a:srgbClr val="FFD447"/>
                </a:solidFill>
                <a:latin typeface="Calibri"/>
              </a:rPr>
              <a:t>›	Board Construction × End Use</a:t>
            </a:r>
          </a:p>
          <a:p>
            <a:pPr marL="685800" indent="-323850">
              <a:lnSpc>
                <a:spcPct val="100000"/>
              </a:lnSpc>
              <a:spcAft>
                <a:spcPts val="560"/>
              </a:spcAft>
            </a:pPr>
            <a:r>
              <a:rPr sz="1400" b="0">
                <a:solidFill>
                  <a:srgbClr val="FFD447"/>
                </a:solidFill>
                <a:latin typeface="Calibri"/>
              </a:rPr>
              <a:t>›	Cell Configuration × End Use</a:t>
            </a:r>
          </a:p>
        </p:txBody>
      </p:sp>
      <p:sp>
        <p:nvSpPr>
          <p:cNvPr id="9" name="TextBox 8"/>
          <p:cNvSpPr txBox="1"/>
          <p:nvPr/>
        </p:nvSpPr>
        <p:spPr>
          <a:xfrm>
            <a:off x="4000500" y="6734175"/>
            <a:ext cx="8020050" cy="123825"/>
          </a:xfrm>
          <a:prstGeom prst="rect">
            <a:avLst/>
          </a:prstGeom>
          <a:noFill/>
        </p:spPr>
        <p:txBody>
          <a:bodyPr wrap="square" lIns="28575" tIns="9525" rIns="2857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Volume Market Summary</a:t>
            </a:r>
          </a:p>
          <a:p>
            <a:pPr marL="342900" indent="-323850">
              <a:lnSpc>
                <a:spcPct val="100000"/>
              </a:lnSpc>
              <a:spcAft>
                <a:spcPts val="800"/>
              </a:spcAft>
            </a:pPr>
            <a:r>
              <a:rPr sz="2000" b="0">
                <a:solidFill>
                  <a:srgbClr val="000000"/>
                </a:solidFill>
                <a:latin typeface="Calibri"/>
              </a:rPr>
              <a:t>➤	Pricing &amp; Price Index</a:t>
            </a:r>
          </a:p>
          <a:p>
            <a:pPr marL="342900" indent="-323850">
              <a:lnSpc>
                <a:spcPct val="100000"/>
              </a:lnSpc>
              <a:spcAft>
                <a:spcPts val="800"/>
              </a:spcAft>
            </a:pPr>
            <a:r>
              <a:rPr sz="2000" b="0">
                <a:solidFill>
                  <a:srgbClr val="000000"/>
                </a:solidFill>
                <a:latin typeface="Calibri"/>
              </a:rPr>
              <a:t>➤	Value Market Summary</a:t>
            </a:r>
          </a:p>
          <a:p>
            <a:pPr marL="342900" indent="-323850">
              <a:lnSpc>
                <a:spcPct val="100000"/>
              </a:lnSpc>
              <a:spcAft>
                <a:spcPts val="800"/>
              </a:spcAft>
            </a:pPr>
            <a:r>
              <a:rPr sz="2000" b="0">
                <a:solidFill>
                  <a:srgbClr val="000000"/>
                </a:solidFill>
                <a:latin typeface="Calibri"/>
              </a:rPr>
              <a:t>➤	Market Volume &amp; Value Analysis</a:t>
            </a:r>
          </a:p>
          <a:p>
            <a:pPr marL="342900" indent="-323850">
              <a:lnSpc>
                <a:spcPct val="100000"/>
              </a:lnSpc>
              <a:spcAft>
                <a:spcPts val="800"/>
              </a:spcAft>
            </a:pPr>
            <a:r>
              <a:rPr sz="2000" b="0">
                <a:solidFill>
                  <a:srgbClr val="000000"/>
                </a:solidFill>
                <a:latin typeface="Calibri"/>
              </a:rPr>
              <a:t>➤	Country Outlook</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Summary, By Volume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1685037"/>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4094525"/>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Market Addition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8048625" y="1713612"/>
            <a:ext cx="3867150" cy="209550"/>
          </a:xfrm>
          <a:prstGeom prst="rect">
            <a:avLst/>
          </a:prstGeom>
          <a:noFill/>
        </p:spPr>
        <p:txBody>
          <a:bodyPr wrap="square" lIns="0" tIns="9525" rIns="19050"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048625" y="2037462"/>
            <a:ext cx="3867150" cy="1868952"/>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048625" y="4123100"/>
            <a:ext cx="3867150" cy="209550"/>
          </a:xfrm>
          <a:prstGeom prst="rect">
            <a:avLst/>
          </a:prstGeom>
          <a:noFill/>
        </p:spPr>
        <p:txBody>
          <a:bodyPr wrap="square" lIns="0" tIns="9525" rIns="19050"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8048625" y="4446950"/>
            <a:ext cx="3867150" cy="203323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9" name="TextBox 2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848100" cy="186689"/>
          </a:xfrm>
          <a:prstGeom prst="rect">
            <a:avLst/>
          </a:prstGeom>
          <a:noFill/>
        </p:spPr>
        <p:txBody>
          <a:bodyPr wrap="none" lIns="0" tIns="0" rIns="0" bIns="0">
            <a:spAutoFit/>
          </a:bodyPr>
          <a:lstStyle/>
          <a:p>
            <a:r>
              <a:rPr sz="1100" b="0">
                <a:solidFill>
                  <a:srgbClr val="2E2E2E"/>
                </a:solidFill>
                <a:latin typeface="Calibri"/>
              </a:rPr>
              <a:t>North America corrugated partition market is projected to register</a:t>
            </a:r>
          </a:p>
        </p:txBody>
      </p:sp>
      <p:pic>
        <p:nvPicPr>
          <p:cNvPr id="36" name="Picture 35" descr="lock.png"/>
          <p:cNvPicPr>
            <a:picLocks noChangeAspect="1"/>
          </p:cNvPicPr>
          <p:nvPr/>
        </p:nvPicPr>
        <p:blipFill>
          <a:blip r:embed="rId6"/>
          <a:stretch>
            <a:fillRect/>
          </a:stretch>
        </p:blipFill>
        <p:spPr>
          <a:xfrm>
            <a:off x="8035157" y="2204848"/>
            <a:ext cx="128699" cy="187198"/>
          </a:xfrm>
          <a:prstGeom prst="rect">
            <a:avLst/>
          </a:prstGeom>
        </p:spPr>
      </p:pic>
      <p:sp>
        <p:nvSpPr>
          <p:cNvPr id="37" name="TextBox 36"/>
          <p:cNvSpPr txBox="1"/>
          <p:nvPr/>
        </p:nvSpPr>
        <p:spPr>
          <a:xfrm>
            <a:off x="8202653" y="2214627"/>
            <a:ext cx="3679750" cy="186689"/>
          </a:xfrm>
          <a:prstGeom prst="rect">
            <a:avLst/>
          </a:prstGeom>
          <a:noFill/>
        </p:spPr>
        <p:txBody>
          <a:bodyPr wrap="none" lIns="0" tIns="0" rIns="0" bIns="0">
            <a:spAutoFit/>
          </a:bodyPr>
          <a:lstStyle/>
          <a:p>
            <a:r>
              <a:rPr sz="1100" b="0">
                <a:solidFill>
                  <a:srgbClr val="2E2E2E"/>
                </a:solidFill>
                <a:latin typeface="Calibri"/>
              </a:rPr>
              <a:t>X increase in volume by the end of forecast period, 2036. North</a:t>
            </a:r>
          </a:p>
        </p:txBody>
      </p:sp>
      <p:sp>
        <p:nvSpPr>
          <p:cNvPr id="38" name="TextBox 37"/>
          <p:cNvSpPr txBox="1"/>
          <p:nvPr/>
        </p:nvSpPr>
        <p:spPr>
          <a:xfrm>
            <a:off x="8048625" y="2382267"/>
            <a:ext cx="3122860" cy="186689"/>
          </a:xfrm>
          <a:prstGeom prst="rect">
            <a:avLst/>
          </a:prstGeom>
          <a:noFill/>
        </p:spPr>
        <p:txBody>
          <a:bodyPr wrap="none" lIns="0" tIns="0" rIns="0" bIns="0">
            <a:spAutoFit/>
          </a:bodyPr>
          <a:lstStyle/>
          <a:p>
            <a:r>
              <a:rPr sz="1100" b="0">
                <a:solidFill>
                  <a:srgbClr val="2E2E2E"/>
                </a:solidFill>
                <a:latin typeface="Calibri"/>
              </a:rPr>
              <a:t>America corrugated partition market volume stood at</a:t>
            </a:r>
          </a:p>
        </p:txBody>
      </p:sp>
      <p:pic>
        <p:nvPicPr>
          <p:cNvPr id="39" name="Picture 38" descr="lock.png"/>
          <p:cNvPicPr>
            <a:picLocks noChangeAspect="1"/>
          </p:cNvPicPr>
          <p:nvPr/>
        </p:nvPicPr>
        <p:blipFill>
          <a:blip r:embed="rId6"/>
          <a:stretch>
            <a:fillRect/>
          </a:stretch>
        </p:blipFill>
        <p:spPr>
          <a:xfrm>
            <a:off x="11119537" y="2372488"/>
            <a:ext cx="128699" cy="187198"/>
          </a:xfrm>
          <a:prstGeom prst="rect">
            <a:avLst/>
          </a:prstGeom>
        </p:spPr>
      </p:pic>
      <p:sp>
        <p:nvSpPr>
          <p:cNvPr id="40" name="TextBox 39"/>
          <p:cNvSpPr txBox="1"/>
          <p:nvPr/>
        </p:nvSpPr>
        <p:spPr>
          <a:xfrm>
            <a:off x="11287032" y="2382267"/>
            <a:ext cx="401166" cy="186689"/>
          </a:xfrm>
          <a:prstGeom prst="rect">
            <a:avLst/>
          </a:prstGeom>
          <a:noFill/>
        </p:spPr>
        <p:txBody>
          <a:bodyPr wrap="none" lIns="0" tIns="0" rIns="0" bIns="0">
            <a:spAutoFit/>
          </a:bodyPr>
          <a:lstStyle/>
          <a:p>
            <a:r>
              <a:rPr sz="1100" b="0">
                <a:solidFill>
                  <a:srgbClr val="2E2E2E"/>
                </a:solidFill>
                <a:latin typeface="Calibri"/>
              </a:rPr>
              <a:t>MT in</a:t>
            </a:r>
          </a:p>
        </p:txBody>
      </p:sp>
      <p:sp>
        <p:nvSpPr>
          <p:cNvPr id="41" name="TextBox 40"/>
          <p:cNvSpPr txBox="1"/>
          <p:nvPr/>
        </p:nvSpPr>
        <p:spPr>
          <a:xfrm>
            <a:off x="8048625" y="2549907"/>
            <a:ext cx="1779339" cy="186689"/>
          </a:xfrm>
          <a:prstGeom prst="rect">
            <a:avLst/>
          </a:prstGeom>
          <a:noFill/>
        </p:spPr>
        <p:txBody>
          <a:bodyPr wrap="none" lIns="0" tIns="0" rIns="0" bIns="0">
            <a:spAutoFit/>
          </a:bodyPr>
          <a:lstStyle/>
          <a:p>
            <a:r>
              <a:rPr sz="1100" b="0">
                <a:solidFill>
                  <a:srgbClr val="2E2E2E"/>
                </a:solidFill>
                <a:latin typeface="Calibri"/>
              </a:rPr>
              <a:t>2025 and is expected to reach</a:t>
            </a:r>
          </a:p>
        </p:txBody>
      </p:sp>
      <p:pic>
        <p:nvPicPr>
          <p:cNvPr id="42" name="Picture 41" descr="lock.png"/>
          <p:cNvPicPr>
            <a:picLocks noChangeAspect="1"/>
          </p:cNvPicPr>
          <p:nvPr/>
        </p:nvPicPr>
        <p:blipFill>
          <a:blip r:embed="rId6"/>
          <a:stretch>
            <a:fillRect/>
          </a:stretch>
        </p:blipFill>
        <p:spPr>
          <a:xfrm>
            <a:off x="9776016" y="2540128"/>
            <a:ext cx="128699" cy="187198"/>
          </a:xfrm>
          <a:prstGeom prst="rect">
            <a:avLst/>
          </a:prstGeom>
        </p:spPr>
      </p:pic>
      <p:sp>
        <p:nvSpPr>
          <p:cNvPr id="43" name="TextBox 42"/>
          <p:cNvSpPr txBox="1"/>
          <p:nvPr/>
        </p:nvSpPr>
        <p:spPr>
          <a:xfrm>
            <a:off x="9943511" y="2549907"/>
            <a:ext cx="1773319" cy="186689"/>
          </a:xfrm>
          <a:prstGeom prst="rect">
            <a:avLst/>
          </a:prstGeom>
          <a:noFill/>
        </p:spPr>
        <p:txBody>
          <a:bodyPr wrap="none" lIns="0" tIns="0" rIns="0" bIns="0">
            <a:spAutoFit/>
          </a:bodyPr>
          <a:lstStyle/>
          <a:p>
            <a:r>
              <a:rPr sz="1100" b="0">
                <a:solidFill>
                  <a:srgbClr val="2E2E2E"/>
                </a:solidFill>
                <a:latin typeface="Calibri"/>
              </a:rPr>
              <a:t>MT by 2036 end, at a CAGR of</a:t>
            </a:r>
          </a:p>
        </p:txBody>
      </p:sp>
      <p:pic>
        <p:nvPicPr>
          <p:cNvPr id="44" name="Picture 43" descr="lock.png"/>
          <p:cNvPicPr>
            <a:picLocks noChangeAspect="1"/>
          </p:cNvPicPr>
          <p:nvPr/>
        </p:nvPicPr>
        <p:blipFill>
          <a:blip r:embed="rId6"/>
          <a:stretch>
            <a:fillRect/>
          </a:stretch>
        </p:blipFill>
        <p:spPr>
          <a:xfrm>
            <a:off x="8035157" y="2707768"/>
            <a:ext cx="128699" cy="187198"/>
          </a:xfrm>
          <a:prstGeom prst="rect">
            <a:avLst/>
          </a:prstGeom>
        </p:spPr>
      </p:pic>
      <p:sp>
        <p:nvSpPr>
          <p:cNvPr id="45" name="TextBox 44"/>
          <p:cNvSpPr txBox="1"/>
          <p:nvPr/>
        </p:nvSpPr>
        <p:spPr>
          <a:xfrm>
            <a:off x="8202653" y="2717547"/>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46" name="TextBox 45"/>
          <p:cNvSpPr txBox="1"/>
          <p:nvPr/>
        </p:nvSpPr>
        <p:spPr>
          <a:xfrm>
            <a:off x="8048625" y="2935479"/>
            <a:ext cx="3678386" cy="186689"/>
          </a:xfrm>
          <a:prstGeom prst="rect">
            <a:avLst/>
          </a:prstGeom>
          <a:noFill/>
        </p:spPr>
        <p:txBody>
          <a:bodyPr wrap="none" lIns="0" tIns="0" rIns="0" bIns="0">
            <a:spAutoFit/>
          </a:bodyPr>
          <a:lstStyle/>
          <a:p>
            <a:r>
              <a:rPr sz="1100" b="0">
                <a:solidFill>
                  <a:srgbClr val="2E2E2E"/>
                </a:solidFill>
                <a:latin typeface="Calibri"/>
              </a:rPr>
              <a:t>Value is projected to grow faster than volume over the forecast</a:t>
            </a:r>
          </a:p>
        </p:txBody>
      </p:sp>
      <p:sp>
        <p:nvSpPr>
          <p:cNvPr id="47" name="TextBox 46"/>
          <p:cNvSpPr txBox="1"/>
          <p:nvPr/>
        </p:nvSpPr>
        <p:spPr>
          <a:xfrm>
            <a:off x="8048625" y="3103119"/>
            <a:ext cx="3049736" cy="186689"/>
          </a:xfrm>
          <a:prstGeom prst="rect">
            <a:avLst/>
          </a:prstGeom>
          <a:noFill/>
        </p:spPr>
        <p:txBody>
          <a:bodyPr wrap="none" lIns="0" tIns="0" rIns="0" bIns="0">
            <a:spAutoFit/>
          </a:bodyPr>
          <a:lstStyle/>
          <a:p>
            <a:r>
              <a:rPr sz="1100" b="0">
                <a:solidFill>
                  <a:srgbClr val="2E2E2E"/>
                </a:solidFill>
                <a:latin typeface="Calibri"/>
              </a:rPr>
              <a:t>period, owing to an increase in average selling price.</a:t>
            </a:r>
          </a:p>
        </p:txBody>
      </p:sp>
      <p:sp>
        <p:nvSpPr>
          <p:cNvPr id="48" name="TextBox 47"/>
          <p:cNvSpPr txBox="1"/>
          <p:nvPr/>
        </p:nvSpPr>
        <p:spPr>
          <a:xfrm>
            <a:off x="8048625" y="4456475"/>
            <a:ext cx="2138300" cy="194310"/>
          </a:xfrm>
          <a:prstGeom prst="rect">
            <a:avLst/>
          </a:prstGeom>
          <a:noFill/>
        </p:spPr>
        <p:txBody>
          <a:bodyPr wrap="none" lIns="0" tIns="0" rIns="0" bIns="0">
            <a:spAutoFit/>
          </a:bodyPr>
          <a:lstStyle/>
          <a:p>
            <a:r>
              <a:rPr sz="1150" b="0">
                <a:solidFill>
                  <a:srgbClr val="2E2E2E"/>
                </a:solidFill>
                <a:latin typeface="Calibri"/>
              </a:rPr>
              <a:t>▪ 'Canada' leads regional growth at</a:t>
            </a:r>
          </a:p>
        </p:txBody>
      </p:sp>
      <p:pic>
        <p:nvPicPr>
          <p:cNvPr id="49" name="Picture 48" descr="lock.png"/>
          <p:cNvPicPr>
            <a:picLocks noChangeAspect="1"/>
          </p:cNvPicPr>
          <p:nvPr/>
        </p:nvPicPr>
        <p:blipFill>
          <a:blip r:embed="rId6"/>
          <a:stretch>
            <a:fillRect/>
          </a:stretch>
        </p:blipFill>
        <p:spPr>
          <a:xfrm>
            <a:off x="10136079" y="4446251"/>
            <a:ext cx="134549" cy="195707"/>
          </a:xfrm>
          <a:prstGeom prst="rect">
            <a:avLst/>
          </a:prstGeom>
        </p:spPr>
      </p:pic>
      <p:sp>
        <p:nvSpPr>
          <p:cNvPr id="50" name="TextBox 49"/>
          <p:cNvSpPr txBox="1"/>
          <p:nvPr/>
        </p:nvSpPr>
        <p:spPr>
          <a:xfrm>
            <a:off x="10311188" y="4456475"/>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51" name="TextBox 50"/>
          <p:cNvSpPr txBox="1"/>
          <p:nvPr/>
        </p:nvSpPr>
        <p:spPr>
          <a:xfrm>
            <a:off x="8048625" y="4684312"/>
            <a:ext cx="3653569" cy="194310"/>
          </a:xfrm>
          <a:prstGeom prst="rect">
            <a:avLst/>
          </a:prstGeom>
          <a:noFill/>
        </p:spPr>
        <p:txBody>
          <a:bodyPr wrap="none" lIns="0" tIns="0" rIns="0" bIns="0">
            <a:spAutoFit/>
          </a:bodyPr>
          <a:lstStyle/>
          <a:p>
            <a:r>
              <a:rPr sz="1150" b="0">
                <a:solidFill>
                  <a:srgbClr val="2E2E2E"/>
                </a:solidFill>
                <a:latin typeface="Calibri"/>
              </a:rPr>
              <a:t>▪ Demand concentrates in 'Flat Dividers &amp; Layer Pads' within</a:t>
            </a:r>
          </a:p>
        </p:txBody>
      </p:sp>
      <p:sp>
        <p:nvSpPr>
          <p:cNvPr id="52" name="TextBox 51"/>
          <p:cNvSpPr txBox="1"/>
          <p:nvPr/>
        </p:nvSpPr>
        <p:spPr>
          <a:xfrm>
            <a:off x="8048625" y="4859572"/>
            <a:ext cx="948791" cy="194310"/>
          </a:xfrm>
          <a:prstGeom prst="rect">
            <a:avLst/>
          </a:prstGeom>
          <a:noFill/>
        </p:spPr>
        <p:txBody>
          <a:bodyPr wrap="none" lIns="0" tIns="0" rIns="0" bIns="0">
            <a:spAutoFit/>
          </a:bodyPr>
          <a:lstStyle/>
          <a:p>
            <a:r>
              <a:rPr sz="1150" b="0">
                <a:solidFill>
                  <a:srgbClr val="2E2E2E"/>
                </a:solidFill>
                <a:latin typeface="Calibri"/>
              </a:rPr>
              <a:t>Partition Type.</a:t>
            </a:r>
          </a:p>
        </p:txBody>
      </p:sp>
      <p:sp>
        <p:nvSpPr>
          <p:cNvPr id="53" name="TextBox 52"/>
          <p:cNvSpPr txBox="1"/>
          <p:nvPr/>
        </p:nvSpPr>
        <p:spPr>
          <a:xfrm>
            <a:off x="8048625" y="5087410"/>
            <a:ext cx="3291296" cy="194310"/>
          </a:xfrm>
          <a:prstGeom prst="rect">
            <a:avLst/>
          </a:prstGeom>
          <a:noFill/>
        </p:spPr>
        <p:txBody>
          <a:bodyPr wrap="none" lIns="0" tIns="0" rIns="0" bIns="0">
            <a:spAutoFit/>
          </a:bodyPr>
          <a:lstStyle/>
          <a:p>
            <a:r>
              <a:rPr sz="1150" b="0">
                <a:solidFill>
                  <a:srgbClr val="2E2E2E"/>
                </a:solidFill>
                <a:latin typeface="Calibri"/>
              </a:rPr>
              <a:t>▪ Product innovation and premiumisation lifting value.</a:t>
            </a:r>
          </a:p>
        </p:txBody>
      </p:sp>
      <p:sp>
        <p:nvSpPr>
          <p:cNvPr id="54" name="TextBox 53"/>
          <p:cNvSpPr txBox="1"/>
          <p:nvPr/>
        </p:nvSpPr>
        <p:spPr>
          <a:xfrm>
            <a:off x="8048625" y="5315248"/>
            <a:ext cx="2741327" cy="194310"/>
          </a:xfrm>
          <a:prstGeom prst="rect">
            <a:avLst/>
          </a:prstGeom>
          <a:noFill/>
        </p:spPr>
        <p:txBody>
          <a:bodyPr wrap="none" lIns="0" tIns="0" rIns="0" bIns="0">
            <a:spAutoFit/>
          </a:bodyPr>
          <a:lstStyle/>
          <a:p>
            <a:r>
              <a:rPr sz="1150" b="0">
                <a:solidFill>
                  <a:srgbClr val="2E2E2E"/>
                </a:solidFill>
                <a:latin typeface="Calibri"/>
              </a:rPr>
              <a:t>▪ Expanding end-use applications and access.</a:t>
            </a:r>
          </a:p>
        </p:txBody>
      </p:sp>
      <p:sp>
        <p:nvSpPr>
          <p:cNvPr id="55"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110045"/>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Average Price by Partition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tIns="0" rIns="0" bIns="0" anchor="ctr">
            <a:spAutoFit/>
          </a:bodyPr>
          <a:lstStyle/>
          <a:p>
            <a:pPr algn="r"/>
            <a:endParaRPr/>
          </a:p>
        </p:txBody>
      </p:sp>
      <p:sp>
        <p:nvSpPr>
          <p:cNvPr id="25" name="FMI Scale tick"/>
          <p:cNvSpPr txBox="1"/>
          <p:nvPr/>
        </p:nvSpPr>
        <p:spPr>
          <a:xfrm>
            <a:off x="219075" y="2328265"/>
            <a:ext cx="381000" cy="133350"/>
          </a:xfrm>
          <a:prstGeom prst="rect">
            <a:avLst/>
          </a:prstGeom>
          <a:noFill/>
        </p:spPr>
        <p:txBody>
          <a:bodyPr wrap="none" lIns="0" tIns="0" rIns="0" bIns="0" anchor="ctr">
            <a:spAutoFit/>
          </a:bodyPr>
          <a:lstStyle/>
          <a:p>
            <a:pPr algn="r"/>
            <a:endParaRPr/>
          </a:p>
        </p:txBody>
      </p:sp>
      <p:sp>
        <p:nvSpPr>
          <p:cNvPr id="26" name="FMI Scale tick"/>
          <p:cNvSpPr txBox="1"/>
          <p:nvPr/>
        </p:nvSpPr>
        <p:spPr>
          <a:xfrm>
            <a:off x="219075" y="1386270"/>
            <a:ext cx="381000" cy="133350"/>
          </a:xfrm>
          <a:prstGeom prst="rect">
            <a:avLst/>
          </a:prstGeom>
          <a:noFill/>
        </p:spPr>
        <p:txBody>
          <a:bodyPr wrap="square" lIns="28575" tIns="9525" rIns="28575" bIns="9525" anchor="ctr">
            <a:spAutoFit/>
          </a:bodyPr>
          <a:lstStyle/>
          <a:p>
            <a:pPr algn="r"/>
            <a:endParaRPr/>
          </a:p>
        </p:txBody>
      </p:sp>
      <p:cxnSp>
        <p:nvCxnSpPr>
          <p:cNvPr id="27" name="Connector 26"/>
          <p:cNvCxnSpPr/>
          <p:nvPr/>
        </p:nvCxnSpPr>
        <p:spPr>
          <a:xfrm flipV="1">
            <a:off x="1825625" y="2710233"/>
            <a:ext cx="0" cy="40931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6941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694180" y="27102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606550" y="2816005"/>
            <a:ext cx="438150" cy="20448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1" name="Connector 30"/>
          <p:cNvCxnSpPr/>
          <p:nvPr/>
        </p:nvCxnSpPr>
        <p:spPr>
          <a:xfrm>
            <a:off x="1606550" y="291937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557833"/>
            <a:ext cx="2336800" cy="133350"/>
          </a:xfrm>
          <a:prstGeom prst="rect">
            <a:avLst/>
          </a:prstGeom>
          <a:noFill/>
        </p:spPr>
        <p:txBody>
          <a:bodyPr wrap="square" lIns="28575" tIns="9525" rIns="28575" bIns="9525">
            <a:spAutoFit/>
          </a:bodyPr>
          <a:lstStyle/>
          <a:p>
            <a:pPr algn="ctr"/>
            <a:r>
              <a:rPr sz="1100" b="1">
                <a:solidFill>
                  <a:srgbClr val="0B2E4A"/>
                </a:solidFill>
                <a:latin typeface="Calibri"/>
              </a:rPr>
              <a:t> </a:t>
            </a:r>
          </a:p>
        </p:txBody>
      </p:sp>
      <p:cxnSp>
        <p:nvCxnSpPr>
          <p:cNvPr id="33" name="Connector 32"/>
          <p:cNvCxnSpPr/>
          <p:nvPr/>
        </p:nvCxnSpPr>
        <p:spPr>
          <a:xfrm flipV="1">
            <a:off x="4162425" y="1670329"/>
            <a:ext cx="0" cy="52190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4030980" y="219223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40309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943350" y="1805200"/>
            <a:ext cx="438150" cy="260722"/>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7" name="Connector 36"/>
          <p:cNvCxnSpPr/>
          <p:nvPr/>
        </p:nvCxnSpPr>
        <p:spPr>
          <a:xfrm>
            <a:off x="3943350" y="193698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994025" y="1517929"/>
            <a:ext cx="2336800" cy="133350"/>
          </a:xfrm>
          <a:prstGeom prst="rect">
            <a:avLst/>
          </a:prstGeom>
          <a:noFill/>
        </p:spPr>
        <p:txBody>
          <a:bodyPr wrap="square" lIns="28575" tIns="9525" rIns="28575" bIns="9525">
            <a:spAutoFit/>
          </a:bodyPr>
          <a:lstStyle/>
          <a:p>
            <a:pPr algn="ctr"/>
            <a:r>
              <a:rPr sz="1100" b="1">
                <a:solidFill>
                  <a:srgbClr val="0B2E4A"/>
                </a:solidFill>
                <a:latin typeface="Calibri"/>
              </a:rPr>
              <a:t> </a:t>
            </a:r>
          </a:p>
        </p:txBody>
      </p:sp>
      <p:cxnSp>
        <p:nvCxnSpPr>
          <p:cNvPr id="39" name="Connector 38"/>
          <p:cNvCxnSpPr/>
          <p:nvPr/>
        </p:nvCxnSpPr>
        <p:spPr>
          <a:xfrm flipV="1">
            <a:off x="6499225" y="2177125"/>
            <a:ext cx="0" cy="46776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6367780" y="264489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6367780" y="217712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6280150" y="2298006"/>
            <a:ext cx="438150" cy="23368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3" name="Connector 42"/>
          <p:cNvCxnSpPr/>
          <p:nvPr/>
        </p:nvCxnSpPr>
        <p:spPr>
          <a:xfrm>
            <a:off x="6280150" y="241613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5330825" y="2024725"/>
            <a:ext cx="2336800" cy="133350"/>
          </a:xfrm>
          <a:prstGeom prst="rect">
            <a:avLst/>
          </a:prstGeom>
          <a:noFill/>
        </p:spPr>
        <p:txBody>
          <a:bodyPr wrap="square" lIns="28575" tIns="9525" rIns="28575" bIns="9525">
            <a:spAutoFit/>
          </a:bodyPr>
          <a:lstStyle/>
          <a:p>
            <a:pPr algn="ctr"/>
            <a:r>
              <a:rPr sz="1100" b="1">
                <a:solidFill>
                  <a:srgbClr val="0B2E4A"/>
                </a:solidFill>
                <a:latin typeface="Calibri"/>
              </a:rPr>
              <a:t> </a:t>
            </a:r>
          </a:p>
        </p:txBody>
      </p:sp>
      <p:sp>
        <p:nvSpPr>
          <p:cNvPr id="45" name="TextBox 44"/>
          <p:cNvSpPr txBox="1"/>
          <p:nvPr/>
        </p:nvSpPr>
        <p:spPr>
          <a:xfrm>
            <a:off x="657225" y="3365510"/>
            <a:ext cx="2336800" cy="285750"/>
          </a:xfrm>
          <a:prstGeom prst="rect">
            <a:avLst/>
          </a:prstGeom>
          <a:noFill/>
        </p:spPr>
        <p:txBody>
          <a:bodyPr wrap="square" lIns="28575" tIns="9525" rIns="28575" bIns="9525">
            <a:spAutoFit/>
          </a:bodyPr>
          <a:lstStyle/>
          <a:p>
            <a:pPr algn="ctr"/>
            <a:r>
              <a:rPr sz="1100" b="0">
                <a:solidFill>
                  <a:srgbClr val="2E2E2E"/>
                </a:solidFill>
                <a:latin typeface="Calibri"/>
              </a:rPr>
              <a:t>Slotted (Interlocking…</a:t>
            </a:r>
          </a:p>
        </p:txBody>
      </p:sp>
      <p:sp>
        <p:nvSpPr>
          <p:cNvPr id="46" name="TextBox 45"/>
          <p:cNvSpPr txBox="1"/>
          <p:nvPr/>
        </p:nvSpPr>
        <p:spPr>
          <a:xfrm>
            <a:off x="2994025" y="3365510"/>
            <a:ext cx="2336800" cy="285750"/>
          </a:xfrm>
          <a:prstGeom prst="rect">
            <a:avLst/>
          </a:prstGeom>
          <a:noFill/>
        </p:spPr>
        <p:txBody>
          <a:bodyPr wrap="square" lIns="28575" tIns="9525" rIns="28575" bIns="9525">
            <a:spAutoFit/>
          </a:bodyPr>
          <a:lstStyle/>
          <a:p>
            <a:pPr algn="ctr"/>
            <a:r>
              <a:rPr sz="1100" b="0">
                <a:solidFill>
                  <a:srgbClr val="2E2E2E"/>
                </a:solidFill>
                <a:latin typeface="Calibri"/>
              </a:rPr>
              <a:t>Die-Cut &amp; Folded Part…</a:t>
            </a:r>
          </a:p>
        </p:txBody>
      </p:sp>
      <p:sp>
        <p:nvSpPr>
          <p:cNvPr id="47" name="TextBox 46"/>
          <p:cNvSpPr txBox="1"/>
          <p:nvPr/>
        </p:nvSpPr>
        <p:spPr>
          <a:xfrm>
            <a:off x="5330825" y="3365510"/>
            <a:ext cx="2336800" cy="285750"/>
          </a:xfrm>
          <a:prstGeom prst="rect">
            <a:avLst/>
          </a:prstGeom>
          <a:noFill/>
        </p:spPr>
        <p:txBody>
          <a:bodyPr wrap="square" lIns="28575" tIns="9525" rIns="28575" bIns="9525">
            <a:spAutoFit/>
          </a:bodyPr>
          <a:lstStyle/>
          <a:p>
            <a:pPr algn="ctr"/>
            <a:r>
              <a:rPr sz="1100" b="0">
                <a:solidFill>
                  <a:srgbClr val="2E2E2E"/>
                </a:solidFill>
                <a:latin typeface="Calibri"/>
              </a:rPr>
              <a:t>Flat Dividers &amp; Layer…</a:t>
            </a:r>
          </a:p>
        </p:txBody>
      </p:sp>
      <p:sp>
        <p:nvSpPr>
          <p:cNvPr id="48" name="Rounded Rectangle 47"/>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238125" y="3829846"/>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50" name="Connector 49"/>
          <p:cNvCxnSpPr/>
          <p:nvPr/>
        </p:nvCxnSpPr>
        <p:spPr>
          <a:xfrm>
            <a:off x="619125" y="432402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619125" y="475857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619125" y="562766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619125" y="606220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619125" y="4324028"/>
            <a:ext cx="0" cy="173817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6" name="Connector 55"/>
          <p:cNvCxnSpPr/>
          <p:nvPr/>
        </p:nvCxnSpPr>
        <p:spPr>
          <a:xfrm>
            <a:off x="590550" y="432402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7" name="Connector 56"/>
          <p:cNvCxnSpPr/>
          <p:nvPr/>
        </p:nvCxnSpPr>
        <p:spPr>
          <a:xfrm>
            <a:off x="590550" y="475857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590550" y="562766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590550" y="606220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1" name="FMI Scale tick"/>
          <p:cNvSpPr txBox="1"/>
          <p:nvPr/>
        </p:nvSpPr>
        <p:spPr>
          <a:xfrm>
            <a:off x="219075" y="4257353"/>
            <a:ext cx="361950" cy="133350"/>
          </a:xfrm>
          <a:prstGeom prst="rect">
            <a:avLst/>
          </a:prstGeom>
          <a:noFill/>
        </p:spPr>
        <p:txBody>
          <a:bodyPr wrap="none" lIns="0" tIns="0" rIns="0" bIns="0" anchor="ctr">
            <a:spAutoFit/>
          </a:bodyPr>
          <a:lstStyle/>
          <a:p>
            <a:pPr algn="r"/>
            <a:r>
              <a:rPr sz="1100" b="0">
                <a:solidFill>
                  <a:srgbClr val="6C7A89"/>
                </a:solidFill>
                <a:latin typeface="Calibri"/>
              </a:rPr>
              <a:t>+15%</a:t>
            </a:r>
          </a:p>
        </p:txBody>
      </p:sp>
      <p:sp>
        <p:nvSpPr>
          <p:cNvPr id="62" name="FMI Scale tick"/>
          <p:cNvSpPr txBox="1"/>
          <p:nvPr/>
        </p:nvSpPr>
        <p:spPr>
          <a:xfrm>
            <a:off x="219075" y="4691897"/>
            <a:ext cx="361950" cy="133350"/>
          </a:xfrm>
          <a:prstGeom prst="rect">
            <a:avLst/>
          </a:prstGeom>
          <a:noFill/>
        </p:spPr>
        <p:txBody>
          <a:bodyPr wrap="none" lIns="0" tIns="0" rIns="0" bIns="0" anchor="ctr">
            <a:spAutoFit/>
          </a:bodyPr>
          <a:lstStyle/>
          <a:p>
            <a:pPr algn="r"/>
            <a:r>
              <a:rPr sz="1100" b="0">
                <a:solidFill>
                  <a:srgbClr val="6C7A89"/>
                </a:solidFill>
                <a:latin typeface="Calibri"/>
              </a:rPr>
              <a:t>+7%</a:t>
            </a:r>
          </a:p>
        </p:txBody>
      </p:sp>
      <p:sp>
        <p:nvSpPr>
          <p:cNvPr id="63" name="FMI Scale tick"/>
          <p:cNvSpPr txBox="1"/>
          <p:nvPr/>
        </p:nvSpPr>
        <p:spPr>
          <a:xfrm>
            <a:off x="219075" y="5126441"/>
            <a:ext cx="361950" cy="133350"/>
          </a:xfrm>
          <a:prstGeom prst="rect">
            <a:avLst/>
          </a:prstGeom>
          <a:noFill/>
        </p:spPr>
        <p:txBody>
          <a:bodyPr wrap="square" lIns="28575" tIns="9525" rIns="28575" bIns="9525" anchor="ctr">
            <a:spAutoFit/>
          </a:bodyPr>
          <a:lstStyle/>
          <a:p>
            <a:pPr algn="r"/>
            <a:r>
              <a:rPr sz="1100" b="1">
                <a:solidFill>
                  <a:srgbClr val="6C7A89"/>
                </a:solidFill>
                <a:latin typeface="Calibri"/>
              </a:rPr>
              <a:t>North America</a:t>
            </a:r>
          </a:p>
        </p:txBody>
      </p:sp>
      <p:sp>
        <p:nvSpPr>
          <p:cNvPr id="64" name="FMI Scale tick"/>
          <p:cNvSpPr txBox="1"/>
          <p:nvPr/>
        </p:nvSpPr>
        <p:spPr>
          <a:xfrm>
            <a:off x="219075" y="5560985"/>
            <a:ext cx="361950" cy="133350"/>
          </a:xfrm>
          <a:prstGeom prst="rect">
            <a:avLst/>
          </a:prstGeom>
          <a:noFill/>
        </p:spPr>
        <p:txBody>
          <a:bodyPr wrap="none" lIns="0" tIns="0" rIns="0" bIns="0" anchor="ctr">
            <a:spAutoFit/>
          </a:bodyPr>
          <a:lstStyle/>
          <a:p>
            <a:pPr algn="r"/>
            <a:r>
              <a:rPr sz="1100" b="0">
                <a:solidFill>
                  <a:srgbClr val="6C7A89"/>
                </a:solidFill>
                <a:latin typeface="Calibri"/>
              </a:rPr>
              <a:t>-7%</a:t>
            </a:r>
          </a:p>
        </p:txBody>
      </p:sp>
      <p:sp>
        <p:nvSpPr>
          <p:cNvPr id="65" name="FMI Scale tick"/>
          <p:cNvSpPr txBox="1"/>
          <p:nvPr/>
        </p:nvSpPr>
        <p:spPr>
          <a:xfrm>
            <a:off x="219075" y="5995529"/>
            <a:ext cx="361950" cy="133350"/>
          </a:xfrm>
          <a:prstGeom prst="rect">
            <a:avLst/>
          </a:prstGeom>
          <a:noFill/>
        </p:spPr>
        <p:txBody>
          <a:bodyPr wrap="none" lIns="0" tIns="0" rIns="0" bIns="0" anchor="ctr">
            <a:spAutoFit/>
          </a:bodyPr>
          <a:lstStyle/>
          <a:p>
            <a:pPr algn="r"/>
            <a:r>
              <a:rPr sz="1100" b="0">
                <a:solidFill>
                  <a:srgbClr val="6C7A89"/>
                </a:solidFill>
                <a:latin typeface="Calibri"/>
              </a:rPr>
              <a:t>-15%</a:t>
            </a:r>
          </a:p>
        </p:txBody>
      </p:sp>
      <p:cxnSp>
        <p:nvCxnSpPr>
          <p:cNvPr id="66" name="Connector 65"/>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7" name="Rectangle 66"/>
          <p:cNvSpPr/>
          <p:nvPr/>
        </p:nvSpPr>
        <p:spPr>
          <a:xfrm>
            <a:off x="2152650" y="5193116"/>
            <a:ext cx="457200" cy="29714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FMI Data Label"/>
          <p:cNvSpPr txBox="1"/>
          <p:nvPr/>
        </p:nvSpPr>
        <p:spPr>
          <a:xfrm>
            <a:off x="619125" y="5499787"/>
            <a:ext cx="35242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69" name="Rectangle 68"/>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FMI Data Label"/>
          <p:cNvSpPr txBox="1"/>
          <p:nvPr/>
        </p:nvSpPr>
        <p:spPr>
          <a:xfrm>
            <a:off x="4143375" y="4294412"/>
            <a:ext cx="35242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71" name="TextBox 70"/>
          <p:cNvSpPr txBox="1"/>
          <p:nvPr/>
        </p:nvSpPr>
        <p:spPr>
          <a:xfrm>
            <a:off x="619125" y="6242060"/>
            <a:ext cx="3524250" cy="247650"/>
          </a:xfrm>
          <a:prstGeom prst="rect">
            <a:avLst/>
          </a:prstGeom>
          <a:noFill/>
        </p:spPr>
        <p:txBody>
          <a:bodyPr wrap="square" lIns="28575" tIns="9525" rIns="28575" bIns="9525">
            <a:spAutoFit/>
          </a:bodyPr>
          <a:lstStyle/>
          <a:p>
            <a:pPr algn="ctr"/>
            <a:r>
              <a:rPr sz="1100" b="0">
                <a:solidFill>
                  <a:srgbClr val="2E2E2E"/>
                </a:solidFill>
                <a:latin typeface="Calibri"/>
              </a:rPr>
              <a:t>U.S.</a:t>
            </a:r>
          </a:p>
        </p:txBody>
      </p:sp>
      <p:sp>
        <p:nvSpPr>
          <p:cNvPr id="72" name="TextBox 71"/>
          <p:cNvSpPr txBox="1"/>
          <p:nvPr/>
        </p:nvSpPr>
        <p:spPr>
          <a:xfrm>
            <a:off x="4143375" y="6242060"/>
            <a:ext cx="3524250" cy="247650"/>
          </a:xfrm>
          <a:prstGeom prst="rect">
            <a:avLst/>
          </a:prstGeom>
          <a:noFill/>
        </p:spPr>
        <p:txBody>
          <a:bodyPr wrap="square" lIns="28575" tIns="9525" rIns="28575" bIns="9525">
            <a:spAutoFit/>
          </a:bodyPr>
          <a:lstStyle/>
          <a:p>
            <a:pPr algn="ctr"/>
            <a:r>
              <a:rPr sz="1100" b="0">
                <a:solidFill>
                  <a:srgbClr val="2E2E2E"/>
                </a:solidFill>
                <a:latin typeface="Calibri"/>
              </a:rPr>
              <a:t>Canada</a:t>
            </a:r>
          </a:p>
        </p:txBody>
      </p:sp>
      <p:sp>
        <p:nvSpPr>
          <p:cNvPr id="73" name="Rounded Rectangle 72"/>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TextBox 73"/>
          <p:cNvSpPr txBox="1"/>
          <p:nvPr/>
        </p:nvSpPr>
        <p:spPr>
          <a:xfrm>
            <a:off x="8048625" y="1138620"/>
            <a:ext cx="38671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75" name="Rectangle 74"/>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TextBox 75"/>
          <p:cNvSpPr txBox="1"/>
          <p:nvPr/>
        </p:nvSpPr>
        <p:spPr>
          <a:xfrm>
            <a:off x="8048625" y="1462470"/>
            <a:ext cx="3867150" cy="501771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77" name="TextBox 7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78" name="Picture 77" descr="lock.png"/>
          <p:cNvPicPr>
            <a:picLocks noChangeAspect="1"/>
          </p:cNvPicPr>
          <p:nvPr/>
        </p:nvPicPr>
        <p:blipFill>
          <a:blip r:embed="rId4"/>
          <a:stretch>
            <a:fillRect/>
          </a:stretch>
        </p:blipFill>
        <p:spPr>
          <a:xfrm>
            <a:off x="1761275" y="2530909"/>
            <a:ext cx="128699" cy="187198"/>
          </a:xfrm>
          <a:prstGeom prst="rect">
            <a:avLst/>
          </a:prstGeom>
        </p:spPr>
      </p:pic>
      <p:pic>
        <p:nvPicPr>
          <p:cNvPr id="79" name="Picture 78" descr="lock.png"/>
          <p:cNvPicPr>
            <a:picLocks noChangeAspect="1"/>
          </p:cNvPicPr>
          <p:nvPr/>
        </p:nvPicPr>
        <p:blipFill>
          <a:blip r:embed="rId4"/>
          <a:stretch>
            <a:fillRect/>
          </a:stretch>
        </p:blipFill>
        <p:spPr>
          <a:xfrm>
            <a:off x="4098075" y="1491005"/>
            <a:ext cx="128699" cy="187198"/>
          </a:xfrm>
          <a:prstGeom prst="rect">
            <a:avLst/>
          </a:prstGeom>
        </p:spPr>
      </p:pic>
      <p:pic>
        <p:nvPicPr>
          <p:cNvPr id="80" name="Picture 79" descr="lock.png"/>
          <p:cNvPicPr>
            <a:picLocks noChangeAspect="1"/>
          </p:cNvPicPr>
          <p:nvPr/>
        </p:nvPicPr>
        <p:blipFill>
          <a:blip r:embed="rId4"/>
          <a:stretch>
            <a:fillRect/>
          </a:stretch>
        </p:blipFill>
        <p:spPr>
          <a:xfrm>
            <a:off x="6434875" y="1997801"/>
            <a:ext cx="128699" cy="187198"/>
          </a:xfrm>
          <a:prstGeom prst="rect">
            <a:avLst/>
          </a:prstGeom>
        </p:spPr>
      </p:pic>
      <p:pic>
        <p:nvPicPr>
          <p:cNvPr id="81" name="Picture 80" descr="lock.png"/>
          <p:cNvPicPr>
            <a:picLocks noChangeAspect="1"/>
          </p:cNvPicPr>
          <p:nvPr/>
        </p:nvPicPr>
        <p:blipFill>
          <a:blip r:embed="rId4"/>
          <a:stretch>
            <a:fillRect/>
          </a:stretch>
        </p:blipFill>
        <p:spPr>
          <a:xfrm>
            <a:off x="2316900" y="5472862"/>
            <a:ext cx="128699" cy="187198"/>
          </a:xfrm>
          <a:prstGeom prst="rect">
            <a:avLst/>
          </a:prstGeom>
        </p:spPr>
      </p:pic>
      <p:pic>
        <p:nvPicPr>
          <p:cNvPr id="82" name="Picture 81" descr="lock.png"/>
          <p:cNvPicPr>
            <a:picLocks noChangeAspect="1"/>
          </p:cNvPicPr>
          <p:nvPr/>
        </p:nvPicPr>
        <p:blipFill>
          <a:blip r:embed="rId4"/>
          <a:stretch>
            <a:fillRect/>
          </a:stretch>
        </p:blipFill>
        <p:spPr>
          <a:xfrm>
            <a:off x="5841150" y="4267488"/>
            <a:ext cx="128699" cy="187198"/>
          </a:xfrm>
          <a:prstGeom prst="rect">
            <a:avLst/>
          </a:prstGeom>
        </p:spPr>
      </p:pic>
      <p:sp>
        <p:nvSpPr>
          <p:cNvPr id="83" name="TextBox 82"/>
          <p:cNvSpPr txBox="1"/>
          <p:nvPr/>
        </p:nvSpPr>
        <p:spPr>
          <a:xfrm>
            <a:off x="8048625" y="1471995"/>
            <a:ext cx="3403401" cy="194310"/>
          </a:xfrm>
          <a:prstGeom prst="rect">
            <a:avLst/>
          </a:prstGeom>
          <a:noFill/>
        </p:spPr>
        <p:txBody>
          <a:bodyPr wrap="none" lIns="0" tIns="0" rIns="0" bIns="0">
            <a:spAutoFit/>
          </a:bodyPr>
          <a:lstStyle/>
          <a:p>
            <a:r>
              <a:rPr sz="1150" b="0">
                <a:solidFill>
                  <a:srgbClr val="2E2E2E"/>
                </a:solidFill>
                <a:latin typeface="Calibri"/>
              </a:rPr>
              <a:t>Die-cut &amp; folded partitions (h-dividers, tube/cell inserts)</a:t>
            </a:r>
          </a:p>
        </p:txBody>
      </p:sp>
      <p:sp>
        <p:nvSpPr>
          <p:cNvPr id="84" name="TextBox 83"/>
          <p:cNvSpPr txBox="1"/>
          <p:nvPr/>
        </p:nvSpPr>
        <p:spPr>
          <a:xfrm>
            <a:off x="8048625" y="1647255"/>
            <a:ext cx="3767956" cy="194310"/>
          </a:xfrm>
          <a:prstGeom prst="rect">
            <a:avLst/>
          </a:prstGeom>
          <a:noFill/>
        </p:spPr>
        <p:txBody>
          <a:bodyPr wrap="none" lIns="0" tIns="0" rIns="0" bIns="0">
            <a:spAutoFit/>
          </a:bodyPr>
          <a:lstStyle/>
          <a:p>
            <a:r>
              <a:rPr sz="1150" b="0">
                <a:solidFill>
                  <a:srgbClr val="2E2E2E"/>
                </a:solidFill>
                <a:latin typeface="Calibri"/>
              </a:rPr>
              <a:t>segment is expected to command the highest average price of</a:t>
            </a:r>
          </a:p>
        </p:txBody>
      </p:sp>
      <p:sp>
        <p:nvSpPr>
          <p:cNvPr id="85" name="TextBox 84"/>
          <p:cNvSpPr txBox="1"/>
          <p:nvPr/>
        </p:nvSpPr>
        <p:spPr>
          <a:xfrm>
            <a:off x="8048625" y="1822515"/>
            <a:ext cx="311249" cy="194310"/>
          </a:xfrm>
          <a:prstGeom prst="rect">
            <a:avLst/>
          </a:prstGeom>
          <a:noFill/>
        </p:spPr>
        <p:txBody>
          <a:bodyPr wrap="none" lIns="0" tIns="0" rIns="0" bIns="0">
            <a:spAutoFit/>
          </a:bodyPr>
          <a:lstStyle/>
          <a:p>
            <a:r>
              <a:rPr sz="1150" b="0">
                <a:solidFill>
                  <a:srgbClr val="2E2E2E"/>
                </a:solidFill>
                <a:latin typeface="Calibri"/>
              </a:rPr>
              <a:t>US$</a:t>
            </a:r>
          </a:p>
        </p:txBody>
      </p:sp>
      <p:pic>
        <p:nvPicPr>
          <p:cNvPr id="86" name="Picture 85" descr="lock.png"/>
          <p:cNvPicPr>
            <a:picLocks noChangeAspect="1"/>
          </p:cNvPicPr>
          <p:nvPr/>
        </p:nvPicPr>
        <p:blipFill>
          <a:blip r:embed="rId4"/>
          <a:stretch>
            <a:fillRect/>
          </a:stretch>
        </p:blipFill>
        <p:spPr>
          <a:xfrm>
            <a:off x="8309028" y="1812291"/>
            <a:ext cx="134549" cy="195707"/>
          </a:xfrm>
          <a:prstGeom prst="rect">
            <a:avLst/>
          </a:prstGeom>
        </p:spPr>
      </p:pic>
      <p:sp>
        <p:nvSpPr>
          <p:cNvPr id="87" name="TextBox 86"/>
          <p:cNvSpPr txBox="1"/>
          <p:nvPr/>
        </p:nvSpPr>
        <p:spPr>
          <a:xfrm>
            <a:off x="8484137" y="1822515"/>
            <a:ext cx="3115825" cy="194310"/>
          </a:xfrm>
          <a:prstGeom prst="rect">
            <a:avLst/>
          </a:prstGeom>
          <a:noFill/>
        </p:spPr>
        <p:txBody>
          <a:bodyPr wrap="none" lIns="0" tIns="0" rIns="0" bIns="0">
            <a:spAutoFit/>
          </a:bodyPr>
          <a:lstStyle/>
          <a:p>
            <a:r>
              <a:rPr sz="1150" b="0">
                <a:solidFill>
                  <a:srgbClr val="2E2E2E"/>
                </a:solidFill>
                <a:latin typeface="Calibri"/>
              </a:rPr>
              <a:t>per MT in 2036. Average selling price of corrugated</a:t>
            </a:r>
          </a:p>
        </p:txBody>
      </p:sp>
      <p:sp>
        <p:nvSpPr>
          <p:cNvPr id="88" name="TextBox 87"/>
          <p:cNvSpPr txBox="1"/>
          <p:nvPr/>
        </p:nvSpPr>
        <p:spPr>
          <a:xfrm>
            <a:off x="8048625" y="1997775"/>
            <a:ext cx="1767755" cy="194310"/>
          </a:xfrm>
          <a:prstGeom prst="rect">
            <a:avLst/>
          </a:prstGeom>
          <a:noFill/>
        </p:spPr>
        <p:txBody>
          <a:bodyPr wrap="none" lIns="0" tIns="0" rIns="0" bIns="0">
            <a:spAutoFit/>
          </a:bodyPr>
          <a:lstStyle/>
          <a:p>
            <a:r>
              <a:rPr sz="1150" b="0">
                <a:solidFill>
                  <a:srgbClr val="2E2E2E"/>
                </a:solidFill>
                <a:latin typeface="Calibri"/>
              </a:rPr>
              <a:t>partition is estimated at US$</a:t>
            </a:r>
          </a:p>
        </p:txBody>
      </p:sp>
      <p:pic>
        <p:nvPicPr>
          <p:cNvPr id="89" name="Picture 88" descr="lock.png"/>
          <p:cNvPicPr>
            <a:picLocks noChangeAspect="1"/>
          </p:cNvPicPr>
          <p:nvPr/>
        </p:nvPicPr>
        <p:blipFill>
          <a:blip r:embed="rId4"/>
          <a:stretch>
            <a:fillRect/>
          </a:stretch>
        </p:blipFill>
        <p:spPr>
          <a:xfrm>
            <a:off x="9765534" y="1987551"/>
            <a:ext cx="134549" cy="195707"/>
          </a:xfrm>
          <a:prstGeom prst="rect">
            <a:avLst/>
          </a:prstGeom>
        </p:spPr>
      </p:pic>
      <p:sp>
        <p:nvSpPr>
          <p:cNvPr id="90" name="TextBox 89"/>
          <p:cNvSpPr txBox="1"/>
          <p:nvPr/>
        </p:nvSpPr>
        <p:spPr>
          <a:xfrm>
            <a:off x="9940643" y="1997775"/>
            <a:ext cx="1359557" cy="194310"/>
          </a:xfrm>
          <a:prstGeom prst="rect">
            <a:avLst/>
          </a:prstGeom>
          <a:noFill/>
        </p:spPr>
        <p:txBody>
          <a:bodyPr wrap="none" lIns="0" tIns="0" rIns="0" bIns="0">
            <a:spAutoFit/>
          </a:bodyPr>
          <a:lstStyle/>
          <a:p>
            <a:r>
              <a:rPr sz="1150" b="0">
                <a:solidFill>
                  <a:srgbClr val="2E2E2E"/>
                </a:solidFill>
                <a:latin typeface="Calibri"/>
              </a:rPr>
              <a:t>per MT in 2025 and is</a:t>
            </a:r>
          </a:p>
        </p:txBody>
      </p:sp>
      <p:sp>
        <p:nvSpPr>
          <p:cNvPr id="91" name="TextBox 90"/>
          <p:cNvSpPr txBox="1"/>
          <p:nvPr/>
        </p:nvSpPr>
        <p:spPr>
          <a:xfrm>
            <a:off x="8048625" y="2173035"/>
            <a:ext cx="1764617" cy="194310"/>
          </a:xfrm>
          <a:prstGeom prst="rect">
            <a:avLst/>
          </a:prstGeom>
          <a:noFill/>
        </p:spPr>
        <p:txBody>
          <a:bodyPr wrap="none" lIns="0" tIns="0" rIns="0" bIns="0">
            <a:spAutoFit/>
          </a:bodyPr>
          <a:lstStyle/>
          <a:p>
            <a:r>
              <a:rPr sz="1150" b="0">
                <a:solidFill>
                  <a:srgbClr val="2E2E2E"/>
                </a:solidFill>
                <a:latin typeface="Calibri"/>
              </a:rPr>
              <a:t>projected to increase to US$</a:t>
            </a:r>
          </a:p>
        </p:txBody>
      </p:sp>
      <p:pic>
        <p:nvPicPr>
          <p:cNvPr id="92" name="Picture 91" descr="lock.png"/>
          <p:cNvPicPr>
            <a:picLocks noChangeAspect="1"/>
          </p:cNvPicPr>
          <p:nvPr/>
        </p:nvPicPr>
        <p:blipFill>
          <a:blip r:embed="rId4"/>
          <a:stretch>
            <a:fillRect/>
          </a:stretch>
        </p:blipFill>
        <p:spPr>
          <a:xfrm>
            <a:off x="9762396" y="2162811"/>
            <a:ext cx="134549" cy="195707"/>
          </a:xfrm>
          <a:prstGeom prst="rect">
            <a:avLst/>
          </a:prstGeom>
        </p:spPr>
      </p:pic>
      <p:sp>
        <p:nvSpPr>
          <p:cNvPr id="93" name="TextBox 92"/>
          <p:cNvSpPr txBox="1"/>
          <p:nvPr/>
        </p:nvSpPr>
        <p:spPr>
          <a:xfrm>
            <a:off x="9937506" y="2173035"/>
            <a:ext cx="1048630" cy="194310"/>
          </a:xfrm>
          <a:prstGeom prst="rect">
            <a:avLst/>
          </a:prstGeom>
          <a:noFill/>
        </p:spPr>
        <p:txBody>
          <a:bodyPr wrap="none" lIns="0" tIns="0" rIns="0" bIns="0">
            <a:spAutoFit/>
          </a:bodyPr>
          <a:lstStyle/>
          <a:p>
            <a:r>
              <a:rPr sz="1150" b="0">
                <a:solidFill>
                  <a:srgbClr val="2E2E2E"/>
                </a:solidFill>
                <a:latin typeface="Calibri"/>
              </a:rPr>
              <a:t>per MT by 2036.</a:t>
            </a:r>
          </a:p>
        </p:txBody>
      </p:sp>
      <p:sp>
        <p:nvSpPr>
          <p:cNvPr id="94" name="TextBox 93"/>
          <p:cNvSpPr txBox="1"/>
          <p:nvPr/>
        </p:nvSpPr>
        <p:spPr>
          <a:xfrm>
            <a:off x="8048625" y="2400873"/>
            <a:ext cx="3596518" cy="194310"/>
          </a:xfrm>
          <a:prstGeom prst="rect">
            <a:avLst/>
          </a:prstGeom>
          <a:noFill/>
        </p:spPr>
        <p:txBody>
          <a:bodyPr wrap="none" lIns="0" tIns="0" rIns="0" bIns="0">
            <a:spAutoFit/>
          </a:bodyPr>
          <a:lstStyle/>
          <a:p>
            <a:r>
              <a:rPr sz="1150" b="0">
                <a:solidFill>
                  <a:srgbClr val="2E2E2E"/>
                </a:solidFill>
                <a:latin typeface="Calibri"/>
              </a:rPr>
              <a:t>Canada is the highest-priced country, while U.S. is the most</a:t>
            </a:r>
          </a:p>
        </p:txBody>
      </p:sp>
      <p:sp>
        <p:nvSpPr>
          <p:cNvPr id="95" name="TextBox 94"/>
          <p:cNvSpPr txBox="1"/>
          <p:nvPr/>
        </p:nvSpPr>
        <p:spPr>
          <a:xfrm>
            <a:off x="8048625" y="2576133"/>
            <a:ext cx="3714898" cy="194310"/>
          </a:xfrm>
          <a:prstGeom prst="rect">
            <a:avLst/>
          </a:prstGeom>
          <a:noFill/>
        </p:spPr>
        <p:txBody>
          <a:bodyPr wrap="none" lIns="0" tIns="0" rIns="0" bIns="0">
            <a:spAutoFit/>
          </a:bodyPr>
          <a:lstStyle/>
          <a:p>
            <a:r>
              <a:rPr sz="1150" b="0">
                <a:solidFill>
                  <a:srgbClr val="2E2E2E"/>
                </a:solidFill>
                <a:latin typeface="Calibri"/>
              </a:rPr>
              <a:t>price-competitive market. Against the North America price of</a:t>
            </a:r>
          </a:p>
        </p:txBody>
      </p:sp>
      <p:pic>
        <p:nvPicPr>
          <p:cNvPr id="96" name="Picture 95" descr="lock.png"/>
          <p:cNvPicPr>
            <a:picLocks noChangeAspect="1"/>
          </p:cNvPicPr>
          <p:nvPr/>
        </p:nvPicPr>
        <p:blipFill>
          <a:blip r:embed="rId4"/>
          <a:stretch>
            <a:fillRect/>
          </a:stretch>
        </p:blipFill>
        <p:spPr>
          <a:xfrm>
            <a:off x="8034545" y="2741169"/>
            <a:ext cx="134549" cy="195707"/>
          </a:xfrm>
          <a:prstGeom prst="rect">
            <a:avLst/>
          </a:prstGeom>
        </p:spPr>
      </p:pic>
      <p:sp>
        <p:nvSpPr>
          <p:cNvPr id="97" name="TextBox 96"/>
          <p:cNvSpPr txBox="1"/>
          <p:nvPr/>
        </p:nvSpPr>
        <p:spPr>
          <a:xfrm>
            <a:off x="8209654" y="2751393"/>
            <a:ext cx="3081349" cy="194310"/>
          </a:xfrm>
          <a:prstGeom prst="rect">
            <a:avLst/>
          </a:prstGeom>
          <a:noFill/>
        </p:spPr>
        <p:txBody>
          <a:bodyPr wrap="none" lIns="0" tIns="0" rIns="0" bIns="0">
            <a:spAutoFit/>
          </a:bodyPr>
          <a:lstStyle/>
          <a:p>
            <a:r>
              <a:rPr sz="1150" b="0">
                <a:solidFill>
                  <a:srgbClr val="2E2E2E"/>
                </a:solidFill>
                <a:latin typeface="Calibri"/>
              </a:rPr>
              <a:t>US$/MT, 1 of 2 countries price above and 1 below.</a:t>
            </a:r>
          </a:p>
        </p:txBody>
      </p:sp>
      <p:sp>
        <p:nvSpPr>
          <p:cNvPr id="98" name="TextBox 97"/>
          <p:cNvSpPr txBox="1"/>
          <p:nvPr/>
        </p:nvSpPr>
        <p:spPr>
          <a:xfrm>
            <a:off x="8048625" y="2979230"/>
            <a:ext cx="1677330" cy="194310"/>
          </a:xfrm>
          <a:prstGeom prst="rect">
            <a:avLst/>
          </a:prstGeom>
          <a:noFill/>
        </p:spPr>
        <p:txBody>
          <a:bodyPr wrap="none" lIns="0" tIns="0" rIns="0" bIns="0">
            <a:spAutoFit/>
          </a:bodyPr>
          <a:lstStyle/>
          <a:p>
            <a:r>
              <a:rPr sz="1150" b="0">
                <a:solidFill>
                  <a:srgbClr val="2E2E2E"/>
                </a:solidFill>
                <a:latin typeface="Calibri"/>
              </a:rPr>
              <a:t>'Canada' is the dearest at +</a:t>
            </a:r>
          </a:p>
        </p:txBody>
      </p:sp>
      <p:pic>
        <p:nvPicPr>
          <p:cNvPr id="99" name="Picture 98" descr="lock.png"/>
          <p:cNvPicPr>
            <a:picLocks noChangeAspect="1"/>
          </p:cNvPicPr>
          <p:nvPr/>
        </p:nvPicPr>
        <p:blipFill>
          <a:blip r:embed="rId4"/>
          <a:stretch>
            <a:fillRect/>
          </a:stretch>
        </p:blipFill>
        <p:spPr>
          <a:xfrm>
            <a:off x="9675109" y="2969007"/>
            <a:ext cx="134549" cy="195707"/>
          </a:xfrm>
          <a:prstGeom prst="rect">
            <a:avLst/>
          </a:prstGeom>
        </p:spPr>
      </p:pic>
      <p:sp>
        <p:nvSpPr>
          <p:cNvPr id="100" name="TextBox 99"/>
          <p:cNvSpPr txBox="1"/>
          <p:nvPr/>
        </p:nvSpPr>
        <p:spPr>
          <a:xfrm>
            <a:off x="9850218" y="2979230"/>
            <a:ext cx="1961728" cy="194310"/>
          </a:xfrm>
          <a:prstGeom prst="rect">
            <a:avLst/>
          </a:prstGeom>
          <a:noFill/>
        </p:spPr>
        <p:txBody>
          <a:bodyPr wrap="none" lIns="0" tIns="0" rIns="0" bIns="0">
            <a:spAutoFit/>
          </a:bodyPr>
          <a:lstStyle/>
          <a:p>
            <a:r>
              <a:rPr sz="1150" b="0">
                <a:solidFill>
                  <a:srgbClr val="2E2E2E"/>
                </a:solidFill>
                <a:latin typeface="Calibri"/>
              </a:rPr>
              <a:t>versus North America, 'U.S.' the</a:t>
            </a:r>
          </a:p>
        </p:txBody>
      </p:sp>
      <p:sp>
        <p:nvSpPr>
          <p:cNvPr id="101" name="TextBox 100"/>
          <p:cNvSpPr txBox="1"/>
          <p:nvPr/>
        </p:nvSpPr>
        <p:spPr>
          <a:xfrm>
            <a:off x="8048625" y="3154490"/>
            <a:ext cx="842962" cy="194310"/>
          </a:xfrm>
          <a:prstGeom prst="rect">
            <a:avLst/>
          </a:prstGeom>
          <a:noFill/>
        </p:spPr>
        <p:txBody>
          <a:bodyPr wrap="none" lIns="0" tIns="0" rIns="0" bIns="0">
            <a:spAutoFit/>
          </a:bodyPr>
          <a:lstStyle/>
          <a:p>
            <a:r>
              <a:rPr sz="1150" b="0">
                <a:solidFill>
                  <a:srgbClr val="2E2E2E"/>
                </a:solidFill>
                <a:latin typeface="Calibri"/>
              </a:rPr>
              <a:t>cheapest at -</a:t>
            </a:r>
          </a:p>
        </p:txBody>
      </p:sp>
      <p:pic>
        <p:nvPicPr>
          <p:cNvPr id="102" name="Picture 101" descr="lock.png"/>
          <p:cNvPicPr>
            <a:picLocks noChangeAspect="1"/>
          </p:cNvPicPr>
          <p:nvPr/>
        </p:nvPicPr>
        <p:blipFill>
          <a:blip r:embed="rId4"/>
          <a:stretch>
            <a:fillRect/>
          </a:stretch>
        </p:blipFill>
        <p:spPr>
          <a:xfrm>
            <a:off x="8840741" y="3144267"/>
            <a:ext cx="134549" cy="195707"/>
          </a:xfrm>
          <a:prstGeom prst="rect">
            <a:avLst/>
          </a:prstGeom>
        </p:spPr>
      </p:pic>
      <p:sp>
        <p:nvSpPr>
          <p:cNvPr id="103" name="TextBox 102"/>
          <p:cNvSpPr txBox="1"/>
          <p:nvPr/>
        </p:nvSpPr>
        <p:spPr>
          <a:xfrm>
            <a:off x="9015850" y="3154490"/>
            <a:ext cx="2728205" cy="194310"/>
          </a:xfrm>
          <a:prstGeom prst="rect">
            <a:avLst/>
          </a:prstGeom>
          <a:noFill/>
        </p:spPr>
        <p:txBody>
          <a:bodyPr wrap="none" lIns="0" tIns="0" rIns="0" bIns="0">
            <a:spAutoFit/>
          </a:bodyPr>
          <a:lstStyle/>
          <a:p>
            <a:r>
              <a:rPr sz="1150" b="0">
                <a:solidFill>
                  <a:srgbClr val="2E2E2E"/>
                </a:solidFill>
                <a:latin typeface="Calibri"/>
              </a:rPr>
              <a:t>pointing to premiumisation headroom in the</a:t>
            </a:r>
          </a:p>
        </p:txBody>
      </p:sp>
      <p:sp>
        <p:nvSpPr>
          <p:cNvPr id="104" name="TextBox 103"/>
          <p:cNvSpPr txBox="1"/>
          <p:nvPr/>
        </p:nvSpPr>
        <p:spPr>
          <a:xfrm>
            <a:off x="8048625" y="3329750"/>
            <a:ext cx="1458540" cy="194310"/>
          </a:xfrm>
          <a:prstGeom prst="rect">
            <a:avLst/>
          </a:prstGeom>
          <a:noFill/>
        </p:spPr>
        <p:txBody>
          <a:bodyPr wrap="none" lIns="0" tIns="0" rIns="0" bIns="0">
            <a:spAutoFit/>
          </a:bodyPr>
          <a:lstStyle/>
          <a:p>
            <a:r>
              <a:rPr sz="1150" b="0">
                <a:solidFill>
                  <a:srgbClr val="2E2E2E"/>
                </a:solidFill>
                <a:latin typeface="Calibri"/>
              </a:rPr>
              <a:t>lower-priced countries.</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Summary, By Value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1685037"/>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4094525"/>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7915275" y="1627887"/>
            <a:ext cx="4133850" cy="2955981"/>
          </a:xfrm>
          <a:prstGeom prst="roundRect">
            <a:avLst>
              <a:gd name="adj" fmla="val 25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8048625" y="1713612"/>
            <a:ext cx="3867150" cy="209550"/>
          </a:xfrm>
          <a:prstGeom prst="rect">
            <a:avLst/>
          </a:prstGeom>
          <a:noFill/>
        </p:spPr>
        <p:txBody>
          <a:bodyPr wrap="square" lIns="0" tIns="9525" rIns="19050"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048625" y="2037462"/>
            <a:ext cx="3867150" cy="2470206"/>
          </a:xfrm>
          <a:prstGeom prst="rect">
            <a:avLst/>
          </a:prstGeom>
          <a:noFill/>
        </p:spPr>
        <p:txBody>
          <a:bodyPr wrap="square" lIns="0" tIns="9525" rIns="19050" bIns="9525">
            <a:spAutoFit/>
          </a:bodyPr>
          <a:lstStyle/>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p:txBody>
      </p:sp>
      <p:sp>
        <p:nvSpPr>
          <p:cNvPr id="25" name="Rounded Rectangle 24"/>
          <p:cNvSpPr/>
          <p:nvPr/>
        </p:nvSpPr>
        <p:spPr>
          <a:xfrm>
            <a:off x="7915275" y="4638629"/>
            <a:ext cx="4133850" cy="1917756"/>
          </a:xfrm>
          <a:prstGeom prst="roundRect">
            <a:avLst>
              <a:gd name="adj" fmla="val 39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048625" y="4724354"/>
            <a:ext cx="3867150" cy="209550"/>
          </a:xfrm>
          <a:prstGeom prst="rect">
            <a:avLst/>
          </a:prstGeom>
          <a:noFill/>
        </p:spPr>
        <p:txBody>
          <a:bodyPr wrap="square" lIns="0" tIns="9525" rIns="19050" bIns="9525">
            <a:spAutoFit/>
          </a:bodyPr>
          <a:lstStyle/>
          <a:p>
            <a:pPr algn="l"/>
            <a:r>
              <a:rPr sz="1300" b="1">
                <a:solidFill>
                  <a:srgbClr val="0B2E4A"/>
                </a:solidFill>
                <a:latin typeface="Calibri"/>
              </a:rPr>
              <a:t>Growth Drivers</a:t>
            </a:r>
          </a:p>
        </p:txBody>
      </p:sp>
      <p:sp>
        <p:nvSpPr>
          <p:cNvPr id="27" name="Rectangle 26"/>
          <p:cNvSpPr/>
          <p:nvPr/>
        </p:nvSpPr>
        <p:spPr>
          <a:xfrm>
            <a:off x="8048625" y="496247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8048625" y="5048204"/>
            <a:ext cx="3867150" cy="1431981"/>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9" name="TextBox 2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847008" cy="186689"/>
          </a:xfrm>
          <a:prstGeom prst="rect">
            <a:avLst/>
          </a:prstGeom>
          <a:noFill/>
        </p:spPr>
        <p:txBody>
          <a:bodyPr wrap="none" lIns="0" tIns="0" rIns="0" bIns="0">
            <a:spAutoFit/>
          </a:bodyPr>
          <a:lstStyle/>
          <a:p>
            <a:r>
              <a:rPr sz="1100" b="0">
                <a:solidFill>
                  <a:srgbClr val="2E2E2E"/>
                </a:solidFill>
                <a:latin typeface="Calibri"/>
              </a:rPr>
              <a:t>Corrugated partition market value in North America is expected to</a:t>
            </a:r>
          </a:p>
        </p:txBody>
      </p:sp>
      <p:sp>
        <p:nvSpPr>
          <p:cNvPr id="36" name="TextBox 35"/>
          <p:cNvSpPr txBox="1"/>
          <p:nvPr/>
        </p:nvSpPr>
        <p:spPr>
          <a:xfrm>
            <a:off x="8048625" y="2214627"/>
            <a:ext cx="550416" cy="186689"/>
          </a:xfrm>
          <a:prstGeom prst="rect">
            <a:avLst/>
          </a:prstGeom>
          <a:noFill/>
        </p:spPr>
        <p:txBody>
          <a:bodyPr wrap="none" lIns="0" tIns="0" rIns="0" bIns="0">
            <a:spAutoFit/>
          </a:bodyPr>
          <a:lstStyle/>
          <a:p>
            <a:r>
              <a:rPr sz="1100" b="0">
                <a:solidFill>
                  <a:srgbClr val="2E2E2E"/>
                </a:solidFill>
                <a:latin typeface="Calibri"/>
              </a:rPr>
              <a:t>increase</a:t>
            </a:r>
          </a:p>
        </p:txBody>
      </p:sp>
      <p:pic>
        <p:nvPicPr>
          <p:cNvPr id="37" name="Picture 36" descr="lock.png"/>
          <p:cNvPicPr>
            <a:picLocks noChangeAspect="1"/>
          </p:cNvPicPr>
          <p:nvPr/>
        </p:nvPicPr>
        <p:blipFill>
          <a:blip r:embed="rId6"/>
          <a:stretch>
            <a:fillRect/>
          </a:stretch>
        </p:blipFill>
        <p:spPr>
          <a:xfrm>
            <a:off x="8547092" y="2204848"/>
            <a:ext cx="128699" cy="187198"/>
          </a:xfrm>
          <a:prstGeom prst="rect">
            <a:avLst/>
          </a:prstGeom>
        </p:spPr>
      </p:pic>
      <p:sp>
        <p:nvSpPr>
          <p:cNvPr id="38" name="TextBox 37"/>
          <p:cNvSpPr txBox="1"/>
          <p:nvPr/>
        </p:nvSpPr>
        <p:spPr>
          <a:xfrm>
            <a:off x="8714588" y="2214627"/>
            <a:ext cx="2964333" cy="186689"/>
          </a:xfrm>
          <a:prstGeom prst="rect">
            <a:avLst/>
          </a:prstGeom>
          <a:noFill/>
        </p:spPr>
        <p:txBody>
          <a:bodyPr wrap="none" lIns="0" tIns="0" rIns="0" bIns="0">
            <a:spAutoFit/>
          </a:bodyPr>
          <a:lstStyle/>
          <a:p>
            <a:r>
              <a:rPr sz="1100" b="0">
                <a:solidFill>
                  <a:srgbClr val="2E2E2E"/>
                </a:solidFill>
                <a:latin typeface="Calibri"/>
              </a:rPr>
              <a:t>X between 2025 and 2036. In 2025, the corrugated</a:t>
            </a:r>
          </a:p>
        </p:txBody>
      </p:sp>
      <p:sp>
        <p:nvSpPr>
          <p:cNvPr id="39" name="TextBox 38"/>
          <p:cNvSpPr txBox="1"/>
          <p:nvPr/>
        </p:nvSpPr>
        <p:spPr>
          <a:xfrm>
            <a:off x="8048625" y="2382267"/>
            <a:ext cx="3077294" cy="186689"/>
          </a:xfrm>
          <a:prstGeom prst="rect">
            <a:avLst/>
          </a:prstGeom>
          <a:noFill/>
        </p:spPr>
        <p:txBody>
          <a:bodyPr wrap="none" lIns="0" tIns="0" rIns="0" bIns="0">
            <a:spAutoFit/>
          </a:bodyPr>
          <a:lstStyle/>
          <a:p>
            <a:r>
              <a:rPr sz="1100" b="0">
                <a:solidFill>
                  <a:srgbClr val="2E2E2E"/>
                </a:solidFill>
                <a:latin typeface="Calibri"/>
              </a:rPr>
              <a:t>partition market in North America was valued at US$</a:t>
            </a:r>
          </a:p>
        </p:txBody>
      </p:sp>
      <p:pic>
        <p:nvPicPr>
          <p:cNvPr id="40" name="Picture 39" descr="lock.png"/>
          <p:cNvPicPr>
            <a:picLocks noChangeAspect="1"/>
          </p:cNvPicPr>
          <p:nvPr/>
        </p:nvPicPr>
        <p:blipFill>
          <a:blip r:embed="rId6"/>
          <a:stretch>
            <a:fillRect/>
          </a:stretch>
        </p:blipFill>
        <p:spPr>
          <a:xfrm>
            <a:off x="11073970" y="2372488"/>
            <a:ext cx="128699" cy="187198"/>
          </a:xfrm>
          <a:prstGeom prst="rect">
            <a:avLst/>
          </a:prstGeom>
        </p:spPr>
      </p:pic>
      <p:sp>
        <p:nvSpPr>
          <p:cNvPr id="41" name="TextBox 40"/>
          <p:cNvSpPr txBox="1"/>
          <p:nvPr/>
        </p:nvSpPr>
        <p:spPr>
          <a:xfrm>
            <a:off x="11241466" y="2382267"/>
            <a:ext cx="632817" cy="186689"/>
          </a:xfrm>
          <a:prstGeom prst="rect">
            <a:avLst/>
          </a:prstGeom>
          <a:noFill/>
        </p:spPr>
        <p:txBody>
          <a:bodyPr wrap="none" lIns="0" tIns="0" rIns="0" bIns="0">
            <a:spAutoFit/>
          </a:bodyPr>
          <a:lstStyle/>
          <a:p>
            <a:r>
              <a:rPr sz="1100" b="0">
                <a:solidFill>
                  <a:srgbClr val="2E2E2E"/>
                </a:solidFill>
                <a:latin typeface="Calibri"/>
              </a:rPr>
              <a:t>Mn and is</a:t>
            </a:r>
          </a:p>
        </p:txBody>
      </p:sp>
      <p:sp>
        <p:nvSpPr>
          <p:cNvPr id="42" name="TextBox 41"/>
          <p:cNvSpPr txBox="1"/>
          <p:nvPr/>
        </p:nvSpPr>
        <p:spPr>
          <a:xfrm>
            <a:off x="8048625" y="2549907"/>
            <a:ext cx="1737593" cy="186689"/>
          </a:xfrm>
          <a:prstGeom prst="rect">
            <a:avLst/>
          </a:prstGeom>
          <a:noFill/>
        </p:spPr>
        <p:txBody>
          <a:bodyPr wrap="none" lIns="0" tIns="0" rIns="0" bIns="0">
            <a:spAutoFit/>
          </a:bodyPr>
          <a:lstStyle/>
          <a:p>
            <a:r>
              <a:rPr sz="1100" b="0">
                <a:solidFill>
                  <a:srgbClr val="2E2E2E"/>
                </a:solidFill>
                <a:latin typeface="Calibri"/>
              </a:rPr>
              <a:t>estimated to account for US$</a:t>
            </a:r>
          </a:p>
        </p:txBody>
      </p:sp>
      <p:pic>
        <p:nvPicPr>
          <p:cNvPr id="43" name="Picture 42" descr="lock.png"/>
          <p:cNvPicPr>
            <a:picLocks noChangeAspect="1"/>
          </p:cNvPicPr>
          <p:nvPr/>
        </p:nvPicPr>
        <p:blipFill>
          <a:blip r:embed="rId6"/>
          <a:stretch>
            <a:fillRect/>
          </a:stretch>
        </p:blipFill>
        <p:spPr>
          <a:xfrm>
            <a:off x="9734269" y="2540128"/>
            <a:ext cx="128699" cy="187198"/>
          </a:xfrm>
          <a:prstGeom prst="rect">
            <a:avLst/>
          </a:prstGeom>
        </p:spPr>
      </p:pic>
      <p:sp>
        <p:nvSpPr>
          <p:cNvPr id="44" name="TextBox 43"/>
          <p:cNvSpPr txBox="1"/>
          <p:nvPr/>
        </p:nvSpPr>
        <p:spPr>
          <a:xfrm>
            <a:off x="9901765" y="2549907"/>
            <a:ext cx="1977156" cy="186689"/>
          </a:xfrm>
          <a:prstGeom prst="rect">
            <a:avLst/>
          </a:prstGeom>
          <a:noFill/>
        </p:spPr>
        <p:txBody>
          <a:bodyPr wrap="none" lIns="0" tIns="0" rIns="0" bIns="0">
            <a:spAutoFit/>
          </a:bodyPr>
          <a:lstStyle/>
          <a:p>
            <a:r>
              <a:rPr sz="1100" b="0">
                <a:solidFill>
                  <a:srgbClr val="2E2E2E"/>
                </a:solidFill>
                <a:latin typeface="Calibri"/>
              </a:rPr>
              <a:t>Mn by the end of 2026, reflecting</a:t>
            </a:r>
          </a:p>
        </p:txBody>
      </p:sp>
      <p:sp>
        <p:nvSpPr>
          <p:cNvPr id="45" name="TextBox 44"/>
          <p:cNvSpPr txBox="1"/>
          <p:nvPr/>
        </p:nvSpPr>
        <p:spPr>
          <a:xfrm>
            <a:off x="8048625" y="2717547"/>
            <a:ext cx="1322313" cy="186689"/>
          </a:xfrm>
          <a:prstGeom prst="rect">
            <a:avLst/>
          </a:prstGeom>
          <a:noFill/>
        </p:spPr>
        <p:txBody>
          <a:bodyPr wrap="none" lIns="0" tIns="0" rIns="0" bIns="0">
            <a:spAutoFit/>
          </a:bodyPr>
          <a:lstStyle/>
          <a:p>
            <a:r>
              <a:rPr sz="1100" b="0">
                <a:solidFill>
                  <a:srgbClr val="2E2E2E"/>
                </a:solidFill>
                <a:latin typeface="Calibri"/>
              </a:rPr>
              <a:t>a Y-o-Y growth rate of</a:t>
            </a:r>
          </a:p>
        </p:txBody>
      </p:sp>
      <p:pic>
        <p:nvPicPr>
          <p:cNvPr id="46" name="Picture 45" descr="lock.png"/>
          <p:cNvPicPr>
            <a:picLocks noChangeAspect="1"/>
          </p:cNvPicPr>
          <p:nvPr/>
        </p:nvPicPr>
        <p:blipFill>
          <a:blip r:embed="rId6"/>
          <a:stretch>
            <a:fillRect/>
          </a:stretch>
        </p:blipFill>
        <p:spPr>
          <a:xfrm>
            <a:off x="9318989" y="2707768"/>
            <a:ext cx="128699" cy="187198"/>
          </a:xfrm>
          <a:prstGeom prst="rect">
            <a:avLst/>
          </a:prstGeom>
        </p:spPr>
      </p:pic>
      <p:sp>
        <p:nvSpPr>
          <p:cNvPr id="47" name="TextBox 46"/>
          <p:cNvSpPr txBox="1"/>
          <p:nvPr/>
        </p:nvSpPr>
        <p:spPr>
          <a:xfrm>
            <a:off x="9486485" y="2717547"/>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48" name="TextBox 47"/>
          <p:cNvSpPr txBox="1"/>
          <p:nvPr/>
        </p:nvSpPr>
        <p:spPr>
          <a:xfrm>
            <a:off x="8048625" y="2935479"/>
            <a:ext cx="3491210" cy="186689"/>
          </a:xfrm>
          <a:prstGeom prst="rect">
            <a:avLst/>
          </a:prstGeom>
          <a:noFill/>
        </p:spPr>
        <p:txBody>
          <a:bodyPr wrap="none" lIns="0" tIns="0" rIns="0" bIns="0">
            <a:spAutoFit/>
          </a:bodyPr>
          <a:lstStyle/>
          <a:p>
            <a:r>
              <a:rPr sz="1100" b="0">
                <a:solidFill>
                  <a:srgbClr val="2E2E2E"/>
                </a:solidFill>
                <a:latin typeface="Calibri"/>
              </a:rPr>
              <a:t>The market in North America is expected to account for US$</a:t>
            </a:r>
          </a:p>
        </p:txBody>
      </p:sp>
      <p:pic>
        <p:nvPicPr>
          <p:cNvPr id="49" name="Picture 48" descr="lock.png"/>
          <p:cNvPicPr>
            <a:picLocks noChangeAspect="1"/>
          </p:cNvPicPr>
          <p:nvPr/>
        </p:nvPicPr>
        <p:blipFill>
          <a:blip r:embed="rId6"/>
          <a:stretch>
            <a:fillRect/>
          </a:stretch>
        </p:blipFill>
        <p:spPr>
          <a:xfrm>
            <a:off x="8035157" y="3093340"/>
            <a:ext cx="128699" cy="187198"/>
          </a:xfrm>
          <a:prstGeom prst="rect">
            <a:avLst/>
          </a:prstGeom>
        </p:spPr>
      </p:pic>
      <p:sp>
        <p:nvSpPr>
          <p:cNvPr id="50" name="TextBox 49"/>
          <p:cNvSpPr txBox="1"/>
          <p:nvPr/>
        </p:nvSpPr>
        <p:spPr>
          <a:xfrm>
            <a:off x="8202653" y="3103119"/>
            <a:ext cx="1495556" cy="186689"/>
          </a:xfrm>
          <a:prstGeom prst="rect">
            <a:avLst/>
          </a:prstGeom>
          <a:noFill/>
        </p:spPr>
        <p:txBody>
          <a:bodyPr wrap="none" lIns="0" tIns="0" rIns="0" bIns="0">
            <a:spAutoFit/>
          </a:bodyPr>
          <a:lstStyle/>
          <a:p>
            <a:r>
              <a:rPr sz="1100" b="0">
                <a:solidFill>
                  <a:srgbClr val="2E2E2E"/>
                </a:solidFill>
                <a:latin typeface="Calibri"/>
              </a:rPr>
              <a:t>Mn by 2036 at a CAGR of</a:t>
            </a:r>
          </a:p>
        </p:txBody>
      </p:sp>
      <p:pic>
        <p:nvPicPr>
          <p:cNvPr id="51" name="Picture 50" descr="lock.png"/>
          <p:cNvPicPr>
            <a:picLocks noChangeAspect="1"/>
          </p:cNvPicPr>
          <p:nvPr/>
        </p:nvPicPr>
        <p:blipFill>
          <a:blip r:embed="rId6"/>
          <a:stretch>
            <a:fillRect/>
          </a:stretch>
        </p:blipFill>
        <p:spPr>
          <a:xfrm>
            <a:off x="9646261" y="3093340"/>
            <a:ext cx="128699" cy="187198"/>
          </a:xfrm>
          <a:prstGeom prst="rect">
            <a:avLst/>
          </a:prstGeom>
        </p:spPr>
      </p:pic>
      <p:sp>
        <p:nvSpPr>
          <p:cNvPr id="52" name="TextBox 51"/>
          <p:cNvSpPr txBox="1"/>
          <p:nvPr/>
        </p:nvSpPr>
        <p:spPr>
          <a:xfrm>
            <a:off x="9813757" y="3103119"/>
            <a:ext cx="1849462" cy="186689"/>
          </a:xfrm>
          <a:prstGeom prst="rect">
            <a:avLst/>
          </a:prstGeom>
          <a:noFill/>
        </p:spPr>
        <p:txBody>
          <a:bodyPr wrap="none" lIns="0" tIns="0" rIns="0" bIns="0">
            <a:spAutoFit/>
          </a:bodyPr>
          <a:lstStyle/>
          <a:p>
            <a:r>
              <a:rPr sz="1100" b="0">
                <a:solidFill>
                  <a:srgbClr val="2E2E2E"/>
                </a:solidFill>
                <a:latin typeface="Calibri"/>
              </a:rPr>
              <a:t>over the forecast period. North</a:t>
            </a:r>
          </a:p>
        </p:txBody>
      </p:sp>
      <p:sp>
        <p:nvSpPr>
          <p:cNvPr id="53" name="TextBox 52"/>
          <p:cNvSpPr txBox="1"/>
          <p:nvPr/>
        </p:nvSpPr>
        <p:spPr>
          <a:xfrm>
            <a:off x="8048625" y="3270759"/>
            <a:ext cx="3764880" cy="186689"/>
          </a:xfrm>
          <a:prstGeom prst="rect">
            <a:avLst/>
          </a:prstGeom>
          <a:noFill/>
        </p:spPr>
        <p:txBody>
          <a:bodyPr wrap="none" lIns="0" tIns="0" rIns="0" bIns="0">
            <a:spAutoFit/>
          </a:bodyPr>
          <a:lstStyle/>
          <a:p>
            <a:r>
              <a:rPr sz="1100" b="0">
                <a:solidFill>
                  <a:srgbClr val="2E2E2E"/>
                </a:solidFill>
                <a:latin typeface="Calibri"/>
              </a:rPr>
              <a:t>America is expected to create an incremental opportunity of US$</a:t>
            </a:r>
          </a:p>
        </p:txBody>
      </p:sp>
      <p:pic>
        <p:nvPicPr>
          <p:cNvPr id="54" name="Picture 53" descr="lock.png"/>
          <p:cNvPicPr>
            <a:picLocks noChangeAspect="1"/>
          </p:cNvPicPr>
          <p:nvPr/>
        </p:nvPicPr>
        <p:blipFill>
          <a:blip r:embed="rId6"/>
          <a:stretch>
            <a:fillRect/>
          </a:stretch>
        </p:blipFill>
        <p:spPr>
          <a:xfrm>
            <a:off x="8035157" y="3428620"/>
            <a:ext cx="128699" cy="187198"/>
          </a:xfrm>
          <a:prstGeom prst="rect">
            <a:avLst/>
          </a:prstGeom>
        </p:spPr>
      </p:pic>
      <p:sp>
        <p:nvSpPr>
          <p:cNvPr id="55" name="TextBox 54"/>
          <p:cNvSpPr txBox="1"/>
          <p:nvPr/>
        </p:nvSpPr>
        <p:spPr>
          <a:xfrm>
            <a:off x="8202653" y="3438399"/>
            <a:ext cx="3504579" cy="186689"/>
          </a:xfrm>
          <a:prstGeom prst="rect">
            <a:avLst/>
          </a:prstGeom>
          <a:noFill/>
        </p:spPr>
        <p:txBody>
          <a:bodyPr wrap="none" lIns="0" tIns="0" rIns="0" bIns="0">
            <a:spAutoFit/>
          </a:bodyPr>
          <a:lstStyle/>
          <a:p>
            <a:r>
              <a:rPr sz="1100" b="0">
                <a:solidFill>
                  <a:srgbClr val="2E2E2E"/>
                </a:solidFill>
                <a:latin typeface="Calibri"/>
              </a:rPr>
              <a:t>Mn for the overall corrugated partition market from 2025 to</a:t>
            </a:r>
          </a:p>
        </p:txBody>
      </p:sp>
      <p:sp>
        <p:nvSpPr>
          <p:cNvPr id="56" name="TextBox 55"/>
          <p:cNvSpPr txBox="1"/>
          <p:nvPr/>
        </p:nvSpPr>
        <p:spPr>
          <a:xfrm>
            <a:off x="8048625" y="3606039"/>
            <a:ext cx="395163" cy="186689"/>
          </a:xfrm>
          <a:prstGeom prst="rect">
            <a:avLst/>
          </a:prstGeom>
          <a:noFill/>
        </p:spPr>
        <p:txBody>
          <a:bodyPr wrap="none" lIns="0" tIns="0" rIns="0" bIns="0">
            <a:spAutoFit/>
          </a:bodyPr>
          <a:lstStyle/>
          <a:p>
            <a:r>
              <a:rPr sz="1100" b="0">
                <a:solidFill>
                  <a:srgbClr val="2E2E2E"/>
                </a:solidFill>
                <a:latin typeface="Calibri"/>
              </a:rPr>
              <a:t>2036.</a:t>
            </a:r>
          </a:p>
        </p:txBody>
      </p:sp>
      <p:sp>
        <p:nvSpPr>
          <p:cNvPr id="57" name="TextBox 56"/>
          <p:cNvSpPr txBox="1"/>
          <p:nvPr/>
        </p:nvSpPr>
        <p:spPr>
          <a:xfrm>
            <a:off x="8048625" y="3823971"/>
            <a:ext cx="2837184" cy="186689"/>
          </a:xfrm>
          <a:prstGeom prst="rect">
            <a:avLst/>
          </a:prstGeom>
          <a:noFill/>
        </p:spPr>
        <p:txBody>
          <a:bodyPr wrap="none" lIns="0" tIns="0" rIns="0" bIns="0">
            <a:spAutoFit/>
          </a:bodyPr>
          <a:lstStyle/>
          <a:p>
            <a:r>
              <a:rPr sz="1100" b="0">
                <a:solidFill>
                  <a:srgbClr val="2E2E2E"/>
                </a:solidFill>
                <a:latin typeface="Calibri"/>
              </a:rPr>
              <a:t>Absolute $ value for 2026 is estimated to be US$</a:t>
            </a:r>
          </a:p>
        </p:txBody>
      </p:sp>
      <p:pic>
        <p:nvPicPr>
          <p:cNvPr id="58" name="Picture 57" descr="lock.png"/>
          <p:cNvPicPr>
            <a:picLocks noChangeAspect="1"/>
          </p:cNvPicPr>
          <p:nvPr/>
        </p:nvPicPr>
        <p:blipFill>
          <a:blip r:embed="rId6"/>
          <a:stretch>
            <a:fillRect/>
          </a:stretch>
        </p:blipFill>
        <p:spPr>
          <a:xfrm>
            <a:off x="10833861" y="3814192"/>
            <a:ext cx="128699" cy="187198"/>
          </a:xfrm>
          <a:prstGeom prst="rect">
            <a:avLst/>
          </a:prstGeom>
        </p:spPr>
      </p:pic>
      <p:sp>
        <p:nvSpPr>
          <p:cNvPr id="59" name="TextBox 58"/>
          <p:cNvSpPr txBox="1"/>
          <p:nvPr/>
        </p:nvSpPr>
        <p:spPr>
          <a:xfrm>
            <a:off x="11001357" y="3823971"/>
            <a:ext cx="304303" cy="186689"/>
          </a:xfrm>
          <a:prstGeom prst="rect">
            <a:avLst/>
          </a:prstGeom>
          <a:noFill/>
        </p:spPr>
        <p:txBody>
          <a:bodyPr wrap="none" lIns="0" tIns="0" rIns="0" bIns="0">
            <a:spAutoFit/>
          </a:bodyPr>
          <a:lstStyle/>
          <a:p>
            <a:r>
              <a:rPr sz="1100" b="0">
                <a:solidFill>
                  <a:srgbClr val="2E2E2E"/>
                </a:solidFill>
                <a:latin typeface="Calibri"/>
              </a:rPr>
              <a:t>Mn.</a:t>
            </a:r>
          </a:p>
        </p:txBody>
      </p:sp>
      <p:sp>
        <p:nvSpPr>
          <p:cNvPr id="60" name="TextBox 59"/>
          <p:cNvSpPr txBox="1"/>
          <p:nvPr/>
        </p:nvSpPr>
        <p:spPr>
          <a:xfrm>
            <a:off x="8048625" y="5057729"/>
            <a:ext cx="2138300" cy="194310"/>
          </a:xfrm>
          <a:prstGeom prst="rect">
            <a:avLst/>
          </a:prstGeom>
          <a:noFill/>
        </p:spPr>
        <p:txBody>
          <a:bodyPr wrap="none" lIns="0" tIns="0" rIns="0" bIns="0">
            <a:spAutoFit/>
          </a:bodyPr>
          <a:lstStyle/>
          <a:p>
            <a:r>
              <a:rPr sz="1150" b="0">
                <a:solidFill>
                  <a:srgbClr val="2E2E2E"/>
                </a:solidFill>
                <a:latin typeface="Calibri"/>
              </a:rPr>
              <a:t>▪ 'Canada' leads regional growth at</a:t>
            </a:r>
          </a:p>
        </p:txBody>
      </p:sp>
      <p:pic>
        <p:nvPicPr>
          <p:cNvPr id="61" name="Picture 60" descr="lock.png"/>
          <p:cNvPicPr>
            <a:picLocks noChangeAspect="1"/>
          </p:cNvPicPr>
          <p:nvPr/>
        </p:nvPicPr>
        <p:blipFill>
          <a:blip r:embed="rId6"/>
          <a:stretch>
            <a:fillRect/>
          </a:stretch>
        </p:blipFill>
        <p:spPr>
          <a:xfrm>
            <a:off x="10136079" y="5047505"/>
            <a:ext cx="134549" cy="195707"/>
          </a:xfrm>
          <a:prstGeom prst="rect">
            <a:avLst/>
          </a:prstGeom>
        </p:spPr>
      </p:pic>
      <p:sp>
        <p:nvSpPr>
          <p:cNvPr id="62" name="TextBox 61"/>
          <p:cNvSpPr txBox="1"/>
          <p:nvPr/>
        </p:nvSpPr>
        <p:spPr>
          <a:xfrm>
            <a:off x="10311188" y="5057729"/>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63" name="TextBox 62"/>
          <p:cNvSpPr txBox="1"/>
          <p:nvPr/>
        </p:nvSpPr>
        <p:spPr>
          <a:xfrm>
            <a:off x="8048625" y="5285566"/>
            <a:ext cx="3653569" cy="194310"/>
          </a:xfrm>
          <a:prstGeom prst="rect">
            <a:avLst/>
          </a:prstGeom>
          <a:noFill/>
        </p:spPr>
        <p:txBody>
          <a:bodyPr wrap="none" lIns="0" tIns="0" rIns="0" bIns="0">
            <a:spAutoFit/>
          </a:bodyPr>
          <a:lstStyle/>
          <a:p>
            <a:r>
              <a:rPr sz="1150" b="0">
                <a:solidFill>
                  <a:srgbClr val="2E2E2E"/>
                </a:solidFill>
                <a:latin typeface="Calibri"/>
              </a:rPr>
              <a:t>▪ Demand concentrates in 'Flat Dividers &amp; Layer Pads' within</a:t>
            </a:r>
          </a:p>
        </p:txBody>
      </p:sp>
      <p:sp>
        <p:nvSpPr>
          <p:cNvPr id="64" name="TextBox 63"/>
          <p:cNvSpPr txBox="1"/>
          <p:nvPr/>
        </p:nvSpPr>
        <p:spPr>
          <a:xfrm>
            <a:off x="8048625" y="5460826"/>
            <a:ext cx="948791" cy="194310"/>
          </a:xfrm>
          <a:prstGeom prst="rect">
            <a:avLst/>
          </a:prstGeom>
          <a:noFill/>
        </p:spPr>
        <p:txBody>
          <a:bodyPr wrap="none" lIns="0" tIns="0" rIns="0" bIns="0">
            <a:spAutoFit/>
          </a:bodyPr>
          <a:lstStyle/>
          <a:p>
            <a:r>
              <a:rPr sz="1150" b="0">
                <a:solidFill>
                  <a:srgbClr val="2E2E2E"/>
                </a:solidFill>
                <a:latin typeface="Calibri"/>
              </a:rPr>
              <a:t>Partition Type.</a:t>
            </a:r>
          </a:p>
        </p:txBody>
      </p:sp>
      <p:sp>
        <p:nvSpPr>
          <p:cNvPr id="65" name="TextBox 64"/>
          <p:cNvSpPr txBox="1"/>
          <p:nvPr/>
        </p:nvSpPr>
        <p:spPr>
          <a:xfrm>
            <a:off x="8048625" y="5688664"/>
            <a:ext cx="3291296" cy="194310"/>
          </a:xfrm>
          <a:prstGeom prst="rect">
            <a:avLst/>
          </a:prstGeom>
          <a:noFill/>
        </p:spPr>
        <p:txBody>
          <a:bodyPr wrap="none" lIns="0" tIns="0" rIns="0" bIns="0">
            <a:spAutoFit/>
          </a:bodyPr>
          <a:lstStyle/>
          <a:p>
            <a:r>
              <a:rPr sz="1150" b="0">
                <a:solidFill>
                  <a:srgbClr val="2E2E2E"/>
                </a:solidFill>
                <a:latin typeface="Calibri"/>
              </a:rPr>
              <a:t>▪ Product innovation and premiumisation lifting value.</a:t>
            </a:r>
          </a:p>
        </p:txBody>
      </p:sp>
      <p:sp>
        <p:nvSpPr>
          <p:cNvPr id="66" name="TextBox 65"/>
          <p:cNvSpPr txBox="1"/>
          <p:nvPr/>
        </p:nvSpPr>
        <p:spPr>
          <a:xfrm>
            <a:off x="8048625" y="5916502"/>
            <a:ext cx="2741327" cy="194310"/>
          </a:xfrm>
          <a:prstGeom prst="rect">
            <a:avLst/>
          </a:prstGeom>
          <a:noFill/>
        </p:spPr>
        <p:txBody>
          <a:bodyPr wrap="none" lIns="0" tIns="0" rIns="0" bIns="0">
            <a:spAutoFit/>
          </a:bodyPr>
          <a:lstStyle/>
          <a:p>
            <a:r>
              <a:rPr sz="1150" b="0">
                <a:solidFill>
                  <a:srgbClr val="2E2E2E"/>
                </a:solidFill>
                <a:latin typeface="Calibri"/>
              </a:rPr>
              <a:t>▪ Expanding end-use applications and access.</a:t>
            </a:r>
          </a:p>
        </p:txBody>
      </p:sp>
      <p:sp>
        <p:nvSpPr>
          <p:cNvPr id="67"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Volume &amp; Value Analysis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4505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5086350" y="1038225"/>
            <a:ext cx="6858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276225" y="454342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276225" y="4867275"/>
            <a:ext cx="11639550" cy="1666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5" name="TextBox 2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5356" y="2029222"/>
            <a:ext cx="202455" cy="294480"/>
          </a:xfrm>
          <a:prstGeom prst="rect">
            <a:avLst/>
          </a:prstGeom>
        </p:spPr>
      </p:pic>
      <p:pic>
        <p:nvPicPr>
          <p:cNvPr id="27" name="Picture 26" descr="lock.png"/>
          <p:cNvPicPr>
            <a:picLocks noChangeAspect="1"/>
          </p:cNvPicPr>
          <p:nvPr/>
        </p:nvPicPr>
        <p:blipFill>
          <a:blip r:embed="rId6"/>
          <a:stretch>
            <a:fillRect/>
          </a:stretch>
        </p:blipFill>
        <p:spPr>
          <a:xfrm>
            <a:off x="8532694" y="1990329"/>
            <a:ext cx="255933" cy="372266"/>
          </a:xfrm>
          <a:prstGeom prst="rect">
            <a:avLst/>
          </a:prstGeom>
        </p:spPr>
      </p:pic>
      <p:pic>
        <p:nvPicPr>
          <p:cNvPr id="28" name="Picture 27" descr="lock.png"/>
          <p:cNvPicPr>
            <a:picLocks noChangeAspect="1"/>
          </p:cNvPicPr>
          <p:nvPr/>
        </p:nvPicPr>
        <p:blipFill>
          <a:blip r:embed="rId6"/>
          <a:stretch>
            <a:fillRect/>
          </a:stretch>
        </p:blipFill>
        <p:spPr>
          <a:xfrm>
            <a:off x="1321594" y="3950970"/>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3950970"/>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3950970"/>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3950970"/>
            <a:ext cx="157162" cy="228600"/>
          </a:xfrm>
          <a:prstGeom prst="rect">
            <a:avLst/>
          </a:prstGeom>
        </p:spPr>
      </p:pic>
      <p:sp>
        <p:nvSpPr>
          <p:cNvPr id="32" name="TextBox 31"/>
          <p:cNvSpPr txBox="1"/>
          <p:nvPr/>
        </p:nvSpPr>
        <p:spPr>
          <a:xfrm>
            <a:off x="276225" y="4876800"/>
            <a:ext cx="4547269" cy="194310"/>
          </a:xfrm>
          <a:prstGeom prst="rect">
            <a:avLst/>
          </a:prstGeom>
          <a:noFill/>
        </p:spPr>
        <p:txBody>
          <a:bodyPr wrap="none" lIns="0" tIns="0" rIns="0" bIns="0">
            <a:spAutoFit/>
          </a:bodyPr>
          <a:lstStyle/>
          <a:p>
            <a:r>
              <a:rPr sz="1150" b="0">
                <a:solidFill>
                  <a:srgbClr val="2E2E2E"/>
                </a:solidFill>
                <a:latin typeface="Calibri"/>
              </a:rPr>
              <a:t>Corrugated partition market value in North America is expected to increase</a:t>
            </a:r>
          </a:p>
        </p:txBody>
      </p:sp>
      <p:pic>
        <p:nvPicPr>
          <p:cNvPr id="33" name="Picture 32" descr="lock.png"/>
          <p:cNvPicPr>
            <a:picLocks noChangeAspect="1"/>
          </p:cNvPicPr>
          <p:nvPr/>
        </p:nvPicPr>
        <p:blipFill>
          <a:blip r:embed="rId6"/>
          <a:stretch>
            <a:fillRect/>
          </a:stretch>
        </p:blipFill>
        <p:spPr>
          <a:xfrm>
            <a:off x="4772648" y="4866576"/>
            <a:ext cx="134549" cy="195707"/>
          </a:xfrm>
          <a:prstGeom prst="rect">
            <a:avLst/>
          </a:prstGeom>
        </p:spPr>
      </p:pic>
      <p:sp>
        <p:nvSpPr>
          <p:cNvPr id="34" name="TextBox 33"/>
          <p:cNvSpPr txBox="1"/>
          <p:nvPr/>
        </p:nvSpPr>
        <p:spPr>
          <a:xfrm>
            <a:off x="4947757" y="4876800"/>
            <a:ext cx="6266209" cy="194310"/>
          </a:xfrm>
          <a:prstGeom prst="rect">
            <a:avLst/>
          </a:prstGeom>
          <a:noFill/>
        </p:spPr>
        <p:txBody>
          <a:bodyPr wrap="none" lIns="0" tIns="0" rIns="0" bIns="0">
            <a:spAutoFit/>
          </a:bodyPr>
          <a:lstStyle/>
          <a:p>
            <a:r>
              <a:rPr sz="1150" b="0">
                <a:solidFill>
                  <a:srgbClr val="2E2E2E"/>
                </a:solidFill>
                <a:latin typeface="Calibri"/>
              </a:rPr>
              <a:t>X between 2025 and 2036. In 2025, the corrugated partition market in North America was valued at US$</a:t>
            </a:r>
          </a:p>
        </p:txBody>
      </p:sp>
      <p:pic>
        <p:nvPicPr>
          <p:cNvPr id="35" name="Picture 34" descr="lock.png"/>
          <p:cNvPicPr>
            <a:picLocks noChangeAspect="1"/>
          </p:cNvPicPr>
          <p:nvPr/>
        </p:nvPicPr>
        <p:blipFill>
          <a:blip r:embed="rId6"/>
          <a:stretch>
            <a:fillRect/>
          </a:stretch>
        </p:blipFill>
        <p:spPr>
          <a:xfrm>
            <a:off x="11163121" y="4866576"/>
            <a:ext cx="134549" cy="195707"/>
          </a:xfrm>
          <a:prstGeom prst="rect">
            <a:avLst/>
          </a:prstGeom>
        </p:spPr>
      </p:pic>
      <p:sp>
        <p:nvSpPr>
          <p:cNvPr id="36" name="TextBox 35"/>
          <p:cNvSpPr txBox="1"/>
          <p:nvPr/>
        </p:nvSpPr>
        <p:spPr>
          <a:xfrm>
            <a:off x="11338230" y="4876800"/>
            <a:ext cx="277874" cy="194310"/>
          </a:xfrm>
          <a:prstGeom prst="rect">
            <a:avLst/>
          </a:prstGeom>
          <a:noFill/>
        </p:spPr>
        <p:txBody>
          <a:bodyPr wrap="none" lIns="0" tIns="0" rIns="0" bIns="0">
            <a:spAutoFit/>
          </a:bodyPr>
          <a:lstStyle/>
          <a:p>
            <a:r>
              <a:rPr sz="1150" b="0">
                <a:solidFill>
                  <a:srgbClr val="2E2E2E"/>
                </a:solidFill>
                <a:latin typeface="Calibri"/>
              </a:rPr>
              <a:t>Mn</a:t>
            </a:r>
          </a:p>
        </p:txBody>
      </p:sp>
      <p:sp>
        <p:nvSpPr>
          <p:cNvPr id="37" name="TextBox 36"/>
          <p:cNvSpPr txBox="1"/>
          <p:nvPr/>
        </p:nvSpPr>
        <p:spPr>
          <a:xfrm>
            <a:off x="276225" y="5052060"/>
            <a:ext cx="2193354" cy="194310"/>
          </a:xfrm>
          <a:prstGeom prst="rect">
            <a:avLst/>
          </a:prstGeom>
          <a:noFill/>
        </p:spPr>
        <p:txBody>
          <a:bodyPr wrap="none" lIns="0" tIns="0" rIns="0" bIns="0">
            <a:spAutoFit/>
          </a:bodyPr>
          <a:lstStyle/>
          <a:p>
            <a:r>
              <a:rPr sz="1150" b="0">
                <a:solidFill>
                  <a:srgbClr val="2E2E2E"/>
                </a:solidFill>
                <a:latin typeface="Calibri"/>
              </a:rPr>
              <a:t>and is estimated to account for US$</a:t>
            </a:r>
          </a:p>
        </p:txBody>
      </p:sp>
      <p:pic>
        <p:nvPicPr>
          <p:cNvPr id="38" name="Picture 37" descr="lock.png"/>
          <p:cNvPicPr>
            <a:picLocks noChangeAspect="1"/>
          </p:cNvPicPr>
          <p:nvPr/>
        </p:nvPicPr>
        <p:blipFill>
          <a:blip r:embed="rId6"/>
          <a:stretch>
            <a:fillRect/>
          </a:stretch>
        </p:blipFill>
        <p:spPr>
          <a:xfrm>
            <a:off x="2418733" y="5041836"/>
            <a:ext cx="134549" cy="195707"/>
          </a:xfrm>
          <a:prstGeom prst="rect">
            <a:avLst/>
          </a:prstGeom>
        </p:spPr>
      </p:pic>
      <p:sp>
        <p:nvSpPr>
          <p:cNvPr id="39" name="TextBox 38"/>
          <p:cNvSpPr txBox="1"/>
          <p:nvPr/>
        </p:nvSpPr>
        <p:spPr>
          <a:xfrm>
            <a:off x="2593842" y="5052060"/>
            <a:ext cx="3399408" cy="194310"/>
          </a:xfrm>
          <a:prstGeom prst="rect">
            <a:avLst/>
          </a:prstGeom>
          <a:noFill/>
        </p:spPr>
        <p:txBody>
          <a:bodyPr wrap="none" lIns="0" tIns="0" rIns="0" bIns="0">
            <a:spAutoFit/>
          </a:bodyPr>
          <a:lstStyle/>
          <a:p>
            <a:r>
              <a:rPr sz="1150" b="0">
                <a:solidFill>
                  <a:srgbClr val="2E2E2E"/>
                </a:solidFill>
                <a:latin typeface="Calibri"/>
              </a:rPr>
              <a:t>Mn by the end of 2026, reflecting a Y-o-Y growth rate of</a:t>
            </a:r>
          </a:p>
        </p:txBody>
      </p:sp>
      <p:pic>
        <p:nvPicPr>
          <p:cNvPr id="40" name="Picture 39" descr="lock.png"/>
          <p:cNvPicPr>
            <a:picLocks noChangeAspect="1"/>
          </p:cNvPicPr>
          <p:nvPr/>
        </p:nvPicPr>
        <p:blipFill>
          <a:blip r:embed="rId6"/>
          <a:stretch>
            <a:fillRect/>
          </a:stretch>
        </p:blipFill>
        <p:spPr>
          <a:xfrm>
            <a:off x="5942404" y="5041836"/>
            <a:ext cx="134549" cy="195707"/>
          </a:xfrm>
          <a:prstGeom prst="rect">
            <a:avLst/>
          </a:prstGeom>
        </p:spPr>
      </p:pic>
      <p:sp>
        <p:nvSpPr>
          <p:cNvPr id="41" name="TextBox 40"/>
          <p:cNvSpPr txBox="1"/>
          <p:nvPr/>
        </p:nvSpPr>
        <p:spPr>
          <a:xfrm>
            <a:off x="6117513" y="5052060"/>
            <a:ext cx="3716325" cy="194310"/>
          </a:xfrm>
          <a:prstGeom prst="rect">
            <a:avLst/>
          </a:prstGeom>
          <a:noFill/>
        </p:spPr>
        <p:txBody>
          <a:bodyPr wrap="none" lIns="0" tIns="0" rIns="0" bIns="0">
            <a:spAutoFit/>
          </a:bodyPr>
          <a:lstStyle/>
          <a:p>
            <a:r>
              <a:rPr sz="1150" b="0">
                <a:solidFill>
                  <a:srgbClr val="2E2E2E"/>
                </a:solidFill>
                <a:latin typeface="Calibri"/>
              </a:rPr>
              <a:t>. The market in North America is expected to account for US$</a:t>
            </a:r>
          </a:p>
        </p:txBody>
      </p:sp>
      <p:pic>
        <p:nvPicPr>
          <p:cNvPr id="42" name="Picture 41" descr="lock.png"/>
          <p:cNvPicPr>
            <a:picLocks noChangeAspect="1"/>
          </p:cNvPicPr>
          <p:nvPr/>
        </p:nvPicPr>
        <p:blipFill>
          <a:blip r:embed="rId6"/>
          <a:stretch>
            <a:fillRect/>
          </a:stretch>
        </p:blipFill>
        <p:spPr>
          <a:xfrm>
            <a:off x="9782992" y="5041836"/>
            <a:ext cx="134549" cy="195707"/>
          </a:xfrm>
          <a:prstGeom prst="rect">
            <a:avLst/>
          </a:prstGeom>
        </p:spPr>
      </p:pic>
      <p:sp>
        <p:nvSpPr>
          <p:cNvPr id="43" name="TextBox 42"/>
          <p:cNvSpPr txBox="1"/>
          <p:nvPr/>
        </p:nvSpPr>
        <p:spPr>
          <a:xfrm>
            <a:off x="9958102" y="5052060"/>
            <a:ext cx="1560072" cy="194310"/>
          </a:xfrm>
          <a:prstGeom prst="rect">
            <a:avLst/>
          </a:prstGeom>
          <a:noFill/>
        </p:spPr>
        <p:txBody>
          <a:bodyPr wrap="none" lIns="0" tIns="0" rIns="0" bIns="0">
            <a:spAutoFit/>
          </a:bodyPr>
          <a:lstStyle/>
          <a:p>
            <a:r>
              <a:rPr sz="1150" b="0">
                <a:solidFill>
                  <a:srgbClr val="2E2E2E"/>
                </a:solidFill>
                <a:latin typeface="Calibri"/>
              </a:rPr>
              <a:t>Mn by 2036 at a CAGR of</a:t>
            </a:r>
          </a:p>
        </p:txBody>
      </p:sp>
      <p:pic>
        <p:nvPicPr>
          <p:cNvPr id="44" name="Picture 43" descr="lock.png"/>
          <p:cNvPicPr>
            <a:picLocks noChangeAspect="1"/>
          </p:cNvPicPr>
          <p:nvPr/>
        </p:nvPicPr>
        <p:blipFill>
          <a:blip r:embed="rId6"/>
          <a:stretch>
            <a:fillRect/>
          </a:stretch>
        </p:blipFill>
        <p:spPr>
          <a:xfrm>
            <a:off x="262145" y="5217096"/>
            <a:ext cx="134549" cy="195707"/>
          </a:xfrm>
          <a:prstGeom prst="rect">
            <a:avLst/>
          </a:prstGeom>
        </p:spPr>
      </p:pic>
      <p:sp>
        <p:nvSpPr>
          <p:cNvPr id="45" name="TextBox 44"/>
          <p:cNvSpPr txBox="1"/>
          <p:nvPr/>
        </p:nvSpPr>
        <p:spPr>
          <a:xfrm>
            <a:off x="437254" y="522732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46" name="TextBox 45"/>
          <p:cNvSpPr txBox="1"/>
          <p:nvPr/>
        </p:nvSpPr>
        <p:spPr>
          <a:xfrm>
            <a:off x="276225" y="5455157"/>
            <a:ext cx="4313932" cy="194310"/>
          </a:xfrm>
          <a:prstGeom prst="rect">
            <a:avLst/>
          </a:prstGeom>
          <a:noFill/>
        </p:spPr>
        <p:txBody>
          <a:bodyPr wrap="none" lIns="0" tIns="0" rIns="0" bIns="0">
            <a:spAutoFit/>
          </a:bodyPr>
          <a:lstStyle/>
          <a:p>
            <a:r>
              <a:rPr sz="1150" b="0">
                <a:solidFill>
                  <a:srgbClr val="2E2E2E"/>
                </a:solidFill>
                <a:latin typeface="Calibri"/>
              </a:rPr>
              <a:t>North America is expected to create an incremental opportunity of US$</a:t>
            </a:r>
          </a:p>
        </p:txBody>
      </p:sp>
      <p:pic>
        <p:nvPicPr>
          <p:cNvPr id="47" name="Picture 46" descr="lock.png"/>
          <p:cNvPicPr>
            <a:picLocks noChangeAspect="1"/>
          </p:cNvPicPr>
          <p:nvPr/>
        </p:nvPicPr>
        <p:blipFill>
          <a:blip r:embed="rId6"/>
          <a:stretch>
            <a:fillRect/>
          </a:stretch>
        </p:blipFill>
        <p:spPr>
          <a:xfrm>
            <a:off x="4539310" y="5444934"/>
            <a:ext cx="134549" cy="195707"/>
          </a:xfrm>
          <a:prstGeom prst="rect">
            <a:avLst/>
          </a:prstGeom>
        </p:spPr>
      </p:pic>
      <p:sp>
        <p:nvSpPr>
          <p:cNvPr id="48" name="TextBox 47"/>
          <p:cNvSpPr txBox="1"/>
          <p:nvPr/>
        </p:nvSpPr>
        <p:spPr>
          <a:xfrm>
            <a:off x="4714420" y="5455157"/>
            <a:ext cx="6946540"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2025 to 2036. Absolute $ value for 2026 is estimated to be US$</a:t>
            </a:r>
          </a:p>
        </p:txBody>
      </p:sp>
      <p:pic>
        <p:nvPicPr>
          <p:cNvPr id="49" name="Picture 48" descr="lock.png"/>
          <p:cNvPicPr>
            <a:picLocks noChangeAspect="1"/>
          </p:cNvPicPr>
          <p:nvPr/>
        </p:nvPicPr>
        <p:blipFill>
          <a:blip r:embed="rId6"/>
          <a:stretch>
            <a:fillRect/>
          </a:stretch>
        </p:blipFill>
        <p:spPr>
          <a:xfrm>
            <a:off x="262145" y="5620194"/>
            <a:ext cx="134549" cy="195707"/>
          </a:xfrm>
          <a:prstGeom prst="rect">
            <a:avLst/>
          </a:prstGeom>
        </p:spPr>
      </p:pic>
      <p:sp>
        <p:nvSpPr>
          <p:cNvPr id="50" name="TextBox 49"/>
          <p:cNvSpPr txBox="1"/>
          <p:nvPr/>
        </p:nvSpPr>
        <p:spPr>
          <a:xfrm>
            <a:off x="437254" y="5630417"/>
            <a:ext cx="4294820" cy="194310"/>
          </a:xfrm>
          <a:prstGeom prst="rect">
            <a:avLst/>
          </a:prstGeom>
          <a:noFill/>
        </p:spPr>
        <p:txBody>
          <a:bodyPr wrap="none" lIns="0" tIns="0" rIns="0" bIns="0">
            <a:spAutoFit/>
          </a:bodyPr>
          <a:lstStyle/>
          <a:p>
            <a:r>
              <a:rPr sz="1150" b="0">
                <a:solidFill>
                  <a:srgbClr val="2E2E2E"/>
                </a:solidFill>
                <a:latin typeface="Calibri"/>
              </a:rPr>
              <a:t>Mn. North America corrugated partition market is projected to register</a:t>
            </a:r>
          </a:p>
        </p:txBody>
      </p:sp>
      <p:pic>
        <p:nvPicPr>
          <p:cNvPr id="51" name="Picture 50" descr="lock.png"/>
          <p:cNvPicPr>
            <a:picLocks noChangeAspect="1"/>
          </p:cNvPicPr>
          <p:nvPr/>
        </p:nvPicPr>
        <p:blipFill>
          <a:blip r:embed="rId6"/>
          <a:stretch>
            <a:fillRect/>
          </a:stretch>
        </p:blipFill>
        <p:spPr>
          <a:xfrm>
            <a:off x="4681228" y="5620194"/>
            <a:ext cx="134549" cy="195707"/>
          </a:xfrm>
          <a:prstGeom prst="rect">
            <a:avLst/>
          </a:prstGeom>
        </p:spPr>
      </p:pic>
      <p:sp>
        <p:nvSpPr>
          <p:cNvPr id="52" name="TextBox 51"/>
          <p:cNvSpPr txBox="1"/>
          <p:nvPr/>
        </p:nvSpPr>
        <p:spPr>
          <a:xfrm>
            <a:off x="4856337" y="5630417"/>
            <a:ext cx="3462163" cy="194310"/>
          </a:xfrm>
          <a:prstGeom prst="rect">
            <a:avLst/>
          </a:prstGeom>
          <a:noFill/>
        </p:spPr>
        <p:txBody>
          <a:bodyPr wrap="none" lIns="0" tIns="0" rIns="0" bIns="0">
            <a:spAutoFit/>
          </a:bodyPr>
          <a:lstStyle/>
          <a:p>
            <a:r>
              <a:rPr sz="1150" b="0">
                <a:solidFill>
                  <a:srgbClr val="2E2E2E"/>
                </a:solidFill>
                <a:latin typeface="Calibri"/>
              </a:rPr>
              <a:t>X increase in volume by the end of forecast period, 2036.</a:t>
            </a:r>
          </a:p>
        </p:txBody>
      </p:sp>
      <p:sp>
        <p:nvSpPr>
          <p:cNvPr id="53" name="TextBox 52"/>
          <p:cNvSpPr txBox="1"/>
          <p:nvPr/>
        </p:nvSpPr>
        <p:spPr>
          <a:xfrm>
            <a:off x="276225" y="5858255"/>
            <a:ext cx="3642729" cy="194310"/>
          </a:xfrm>
          <a:prstGeom prst="rect">
            <a:avLst/>
          </a:prstGeom>
          <a:noFill/>
        </p:spPr>
        <p:txBody>
          <a:bodyPr wrap="none" lIns="0" tIns="0" rIns="0" bIns="0">
            <a:spAutoFit/>
          </a:bodyPr>
          <a:lstStyle/>
          <a:p>
            <a:r>
              <a:rPr sz="1150" b="0">
                <a:solidFill>
                  <a:srgbClr val="2E2E2E"/>
                </a:solidFill>
                <a:latin typeface="Calibri"/>
              </a:rPr>
              <a:t>North America corrugated partition market volume stood at</a:t>
            </a:r>
          </a:p>
        </p:txBody>
      </p:sp>
      <p:pic>
        <p:nvPicPr>
          <p:cNvPr id="54" name="Picture 53" descr="lock.png"/>
          <p:cNvPicPr>
            <a:picLocks noChangeAspect="1"/>
          </p:cNvPicPr>
          <p:nvPr/>
        </p:nvPicPr>
        <p:blipFill>
          <a:blip r:embed="rId6"/>
          <a:stretch>
            <a:fillRect/>
          </a:stretch>
        </p:blipFill>
        <p:spPr>
          <a:xfrm>
            <a:off x="3868108" y="5848032"/>
            <a:ext cx="134549" cy="195707"/>
          </a:xfrm>
          <a:prstGeom prst="rect">
            <a:avLst/>
          </a:prstGeom>
        </p:spPr>
      </p:pic>
      <p:sp>
        <p:nvSpPr>
          <p:cNvPr id="55" name="TextBox 54"/>
          <p:cNvSpPr txBox="1"/>
          <p:nvPr/>
        </p:nvSpPr>
        <p:spPr>
          <a:xfrm>
            <a:off x="4043217" y="5858255"/>
            <a:ext cx="2229581" cy="194310"/>
          </a:xfrm>
          <a:prstGeom prst="rect">
            <a:avLst/>
          </a:prstGeom>
          <a:noFill/>
        </p:spPr>
        <p:txBody>
          <a:bodyPr wrap="none" lIns="0" tIns="0" rIns="0" bIns="0">
            <a:spAutoFit/>
          </a:bodyPr>
          <a:lstStyle/>
          <a:p>
            <a:r>
              <a:rPr sz="1150" b="0">
                <a:solidFill>
                  <a:srgbClr val="2E2E2E"/>
                </a:solidFill>
                <a:latin typeface="Calibri"/>
              </a:rPr>
              <a:t>MT in 2025 and is expected to reach</a:t>
            </a:r>
          </a:p>
        </p:txBody>
      </p:sp>
      <p:pic>
        <p:nvPicPr>
          <p:cNvPr id="56" name="Picture 55" descr="lock.png"/>
          <p:cNvPicPr>
            <a:picLocks noChangeAspect="1"/>
          </p:cNvPicPr>
          <p:nvPr/>
        </p:nvPicPr>
        <p:blipFill>
          <a:blip r:embed="rId6"/>
          <a:stretch>
            <a:fillRect/>
          </a:stretch>
        </p:blipFill>
        <p:spPr>
          <a:xfrm>
            <a:off x="6221953" y="5848032"/>
            <a:ext cx="134549" cy="195707"/>
          </a:xfrm>
          <a:prstGeom prst="rect">
            <a:avLst/>
          </a:prstGeom>
        </p:spPr>
      </p:pic>
      <p:sp>
        <p:nvSpPr>
          <p:cNvPr id="57" name="TextBox 56"/>
          <p:cNvSpPr txBox="1"/>
          <p:nvPr/>
        </p:nvSpPr>
        <p:spPr>
          <a:xfrm>
            <a:off x="6397062" y="5858255"/>
            <a:ext cx="1850461" cy="194310"/>
          </a:xfrm>
          <a:prstGeom prst="rect">
            <a:avLst/>
          </a:prstGeom>
          <a:noFill/>
        </p:spPr>
        <p:txBody>
          <a:bodyPr wrap="none" lIns="0" tIns="0" rIns="0" bIns="0">
            <a:spAutoFit/>
          </a:bodyPr>
          <a:lstStyle/>
          <a:p>
            <a:r>
              <a:rPr sz="1150" b="0">
                <a:solidFill>
                  <a:srgbClr val="2E2E2E"/>
                </a:solidFill>
                <a:latin typeface="Calibri"/>
              </a:rPr>
              <a:t>MT by 2036 end, at a CAGR of</a:t>
            </a:r>
          </a:p>
        </p:txBody>
      </p:sp>
      <p:pic>
        <p:nvPicPr>
          <p:cNvPr id="58" name="Picture 57" descr="lock.png"/>
          <p:cNvPicPr>
            <a:picLocks noChangeAspect="1"/>
          </p:cNvPicPr>
          <p:nvPr/>
        </p:nvPicPr>
        <p:blipFill>
          <a:blip r:embed="rId6"/>
          <a:stretch>
            <a:fillRect/>
          </a:stretch>
        </p:blipFill>
        <p:spPr>
          <a:xfrm>
            <a:off x="8196678" y="5848032"/>
            <a:ext cx="134549" cy="195707"/>
          </a:xfrm>
          <a:prstGeom prst="rect">
            <a:avLst/>
          </a:prstGeom>
        </p:spPr>
      </p:pic>
      <p:sp>
        <p:nvSpPr>
          <p:cNvPr id="59" name="TextBox 58"/>
          <p:cNvSpPr txBox="1"/>
          <p:nvPr/>
        </p:nvSpPr>
        <p:spPr>
          <a:xfrm>
            <a:off x="8371787" y="5858255"/>
            <a:ext cx="3164073" cy="194310"/>
          </a:xfrm>
          <a:prstGeom prst="rect">
            <a:avLst/>
          </a:prstGeom>
          <a:noFill/>
        </p:spPr>
        <p:txBody>
          <a:bodyPr wrap="none" lIns="0" tIns="0" rIns="0" bIns="0">
            <a:spAutoFit/>
          </a:bodyPr>
          <a:lstStyle/>
          <a:p>
            <a:r>
              <a:rPr sz="1150" b="0">
                <a:solidFill>
                  <a:srgbClr val="2E2E2E"/>
                </a:solidFill>
                <a:latin typeface="Calibri"/>
              </a:rPr>
              <a:t>. Value is projected to grow faster than volume over</a:t>
            </a:r>
          </a:p>
        </p:txBody>
      </p:sp>
      <p:sp>
        <p:nvSpPr>
          <p:cNvPr id="60" name="TextBox 59"/>
          <p:cNvSpPr txBox="1"/>
          <p:nvPr/>
        </p:nvSpPr>
        <p:spPr>
          <a:xfrm>
            <a:off x="276225" y="6033515"/>
            <a:ext cx="3932832" cy="194310"/>
          </a:xfrm>
          <a:prstGeom prst="rect">
            <a:avLst/>
          </a:prstGeom>
          <a:noFill/>
        </p:spPr>
        <p:txBody>
          <a:bodyPr wrap="none" lIns="0" tIns="0" rIns="0" bIns="0">
            <a:spAutoFit/>
          </a:bodyPr>
          <a:lstStyle/>
          <a:p>
            <a:r>
              <a:rPr sz="1150" b="0">
                <a:solidFill>
                  <a:srgbClr val="2E2E2E"/>
                </a:solidFill>
                <a:latin typeface="Calibri"/>
              </a:rPr>
              <a:t>the forecast period, owing to an increase in average selling price.</a:t>
            </a:r>
          </a:p>
        </p:txBody>
      </p:sp>
      <p:sp>
        <p:nvSpPr>
          <p:cNvPr id="61" name="lockshield_13"/>
          <p:cNvSpPr/>
          <p:nvPr/>
        </p:nvSpPr>
        <p:spPr>
          <a:xfrm>
            <a:off x="238125" y="1266825"/>
            <a:ext cx="4505325"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lockshield_16"/>
          <p:cNvSpPr/>
          <p:nvPr/>
        </p:nvSpPr>
        <p:spPr>
          <a:xfrm>
            <a:off x="5086350" y="1266825"/>
            <a:ext cx="6858000"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Summary Country Indices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38125" y="1064411"/>
            <a:ext cx="3743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xmlns:r="http://schemas.openxmlformats.org/officeDocument/2006/relationships" r:id="rId4"/>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14" name="Table 13"/>
          <p:cNvGraphicFramePr>
            <a:graphicFrameLocks noGrp="1"/>
          </p:cNvGraphicFramePr>
          <p:nvPr/>
        </p:nvGraphicFramePr>
        <p:xfrm>
          <a:off x="152400" y="3565964"/>
          <a:ext cx="3914776" cy="2132068"/>
        </p:xfrm>
        <a:graphic>
          <a:graphicData uri="http://schemas.openxmlformats.org/drawingml/2006/table">
            <a:tbl>
              <a:tblPr>
                <a:tableStyleId>{5C22544A-7EE6-4342-B048-85BDC9FD1C3A}</a:tableStyleId>
              </a:tblPr>
              <a:tblGrid>
                <a:gridCol w="608071">
                  <a:extLst>
                    <a:ext uri="{9D8B030D-6E8A-4147-A177-3AD203B41FA5}">
                      <a16:colId xmlns:a16="http://schemas.microsoft.com/office/drawing/2014/main" val="20000"/>
                    </a:ext>
                  </a:extLst>
                </a:gridCol>
                <a:gridCol w="1102235">
                  <a:extLst>
                    <a:ext uri="{9D8B030D-6E8A-4147-A177-3AD203B41FA5}">
                      <a16:colId xmlns:a16="http://schemas.microsoft.com/office/drawing/2014/main" val="20001"/>
                    </a:ext>
                  </a:extLst>
                </a:gridCol>
                <a:gridCol w="1102235">
                  <a:extLst>
                    <a:ext uri="{9D8B030D-6E8A-4147-A177-3AD203B41FA5}">
                      <a16:colId xmlns:a16="http://schemas.microsoft.com/office/drawing/2014/main" val="20002"/>
                    </a:ext>
                  </a:extLst>
                </a:gridCol>
                <a:gridCol w="1102235">
                  <a:extLst>
                    <a:ext uri="{9D8B030D-6E8A-4147-A177-3AD203B41FA5}">
                      <a16:colId xmlns:a16="http://schemas.microsoft.com/office/drawing/2014/main" val="20003"/>
                    </a:ext>
                  </a:extLst>
                </a:gridCol>
              </a:tblGrid>
              <a:tr h="246126">
                <a:tc>
                  <a:txBody>
                    <a:bodyPr/>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 Opp (US$ Mn)</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942971">
                <a:tc>
                  <a:txBody>
                    <a:bodyPr/>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942971">
                <a:tc>
                  <a:txBody>
                    <a:bodyPr/>
                    <a:lstStyle/>
                    <a:p>
                      <a:pPr algn="l"/>
                      <a:r>
                        <a:rPr sz="1100" b="1">
                          <a:solidFill>
                            <a:srgbClr val="2E2E2E"/>
                          </a:solidFill>
                          <a:latin typeface="Calibri"/>
                        </a:rPr>
                        <a:t>U.S.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5" name="TextBox 14"/>
          <p:cNvSpPr txBox="1"/>
          <p:nvPr/>
        </p:nvSpPr>
        <p:spPr>
          <a:xfrm>
            <a:off x="219075" y="5707558"/>
            <a:ext cx="37814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210050" y="1064411"/>
            <a:ext cx="3743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7"/>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4210050" y="4384868"/>
            <a:ext cx="3743325" cy="149374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8181975" y="1064411"/>
            <a:ext cx="3743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xmlns:r="http://schemas.openxmlformats.org/officeDocument/2006/relationships" r:id="rId5"/>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24" name="Table 23"/>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08071">
                  <a:extLst>
                    <a:ext uri="{9D8B030D-6E8A-4147-A177-3AD203B41FA5}">
                      <a16:colId xmlns:a16="http://schemas.microsoft.com/office/drawing/2014/main" val="20000"/>
                    </a:ext>
                  </a:extLst>
                </a:gridCol>
                <a:gridCol w="1102235">
                  <a:extLst>
                    <a:ext uri="{9D8B030D-6E8A-4147-A177-3AD203B41FA5}">
                      <a16:colId xmlns:a16="http://schemas.microsoft.com/office/drawing/2014/main" val="20001"/>
                    </a:ext>
                  </a:extLst>
                </a:gridCol>
                <a:gridCol w="1102235">
                  <a:extLst>
                    <a:ext uri="{9D8B030D-6E8A-4147-A177-3AD203B41FA5}">
                      <a16:colId xmlns:a16="http://schemas.microsoft.com/office/drawing/2014/main" val="20002"/>
                    </a:ext>
                  </a:extLst>
                </a:gridCol>
                <a:gridCol w="1102235">
                  <a:extLst>
                    <a:ext uri="{9D8B030D-6E8A-4147-A177-3AD203B41FA5}">
                      <a16:colId xmlns:a16="http://schemas.microsoft.com/office/drawing/2014/main" val="20003"/>
                    </a:ext>
                  </a:extLst>
                </a:gridCol>
              </a:tblGrid>
              <a:tr h="246126">
                <a:tc>
                  <a:txBody>
                    <a:bodyPr/>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 Opp (US$ Mn)</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956662">
                <a:tc>
                  <a:txBody>
                    <a:bodyPr/>
                    <a:lstStyle/>
                    <a:p>
                      <a:pPr algn="l"/>
                      <a:r>
                        <a:rPr sz="1100" b="1">
                          <a:solidFill>
                            <a:srgbClr val="2E2E2E"/>
                          </a:solidFill>
                          <a:latin typeface="Calibri"/>
                        </a:rPr>
                        <a:t>U.S.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956662">
                <a:tc>
                  <a:txBody>
                    <a:bodyPr/>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25" name="TextBox 24"/>
          <p:cNvSpPr txBox="1"/>
          <p:nvPr/>
        </p:nvSpPr>
        <p:spPr>
          <a:xfrm>
            <a:off x="8162925" y="5716684"/>
            <a:ext cx="37814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27" name="TextBox 2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6"/>
          <a:stretch>
            <a:fillRect/>
          </a:stretch>
        </p:blipFill>
        <p:spPr>
          <a:xfrm>
            <a:off x="3188017" y="2125483"/>
            <a:ext cx="183356" cy="266700"/>
          </a:xfrm>
          <a:prstGeom prst="rect">
            <a:avLst/>
          </a:prstGeom>
        </p:spPr>
      </p:pic>
      <p:pic>
        <p:nvPicPr>
          <p:cNvPr id="29" name="Picture 28" descr="lock.png"/>
          <p:cNvPicPr>
            <a:picLocks noChangeAspect="1"/>
          </p:cNvPicPr>
          <p:nvPr/>
        </p:nvPicPr>
        <p:blipFill>
          <a:blip r:embed="rId6"/>
          <a:stretch>
            <a:fillRect/>
          </a:stretch>
        </p:blipFill>
        <p:spPr>
          <a:xfrm>
            <a:off x="2232897" y="4496595"/>
            <a:ext cx="355389" cy="516930"/>
          </a:xfrm>
          <a:prstGeom prst="rect">
            <a:avLst/>
          </a:prstGeom>
        </p:spPr>
      </p:pic>
      <p:pic>
        <p:nvPicPr>
          <p:cNvPr id="30" name="Picture 29" descr="lock.png"/>
          <p:cNvPicPr>
            <a:picLocks noChangeAspect="1"/>
          </p:cNvPicPr>
          <p:nvPr/>
        </p:nvPicPr>
        <p:blipFill>
          <a:blip r:embed="rId6"/>
          <a:stretch>
            <a:fillRect/>
          </a:stretch>
        </p:blipFill>
        <p:spPr>
          <a:xfrm>
            <a:off x="6024086" y="2838939"/>
            <a:ext cx="115252" cy="167639"/>
          </a:xfrm>
          <a:prstGeom prst="rect">
            <a:avLst/>
          </a:prstGeom>
        </p:spPr>
      </p:pic>
      <p:pic>
        <p:nvPicPr>
          <p:cNvPr id="31" name="Picture 30" descr="lock.png"/>
          <p:cNvPicPr>
            <a:picLocks noChangeAspect="1"/>
          </p:cNvPicPr>
          <p:nvPr/>
        </p:nvPicPr>
        <p:blipFill>
          <a:blip r:embed="rId6"/>
          <a:stretch>
            <a:fillRect/>
          </a:stretch>
        </p:blipFill>
        <p:spPr>
          <a:xfrm>
            <a:off x="6024086" y="5131739"/>
            <a:ext cx="115252" cy="167639"/>
          </a:xfrm>
          <a:prstGeom prst="rect">
            <a:avLst/>
          </a:prstGeom>
        </p:spPr>
      </p:pic>
      <p:pic>
        <p:nvPicPr>
          <p:cNvPr id="32" name="Picture 31" descr="lock.png"/>
          <p:cNvPicPr>
            <a:picLocks noChangeAspect="1"/>
          </p:cNvPicPr>
          <p:nvPr/>
        </p:nvPicPr>
        <p:blipFill>
          <a:blip r:embed="rId6"/>
          <a:stretch>
            <a:fillRect/>
          </a:stretch>
        </p:blipFill>
        <p:spPr>
          <a:xfrm>
            <a:off x="11131867" y="2120920"/>
            <a:ext cx="183356" cy="266700"/>
          </a:xfrm>
          <a:prstGeom prst="rect">
            <a:avLst/>
          </a:prstGeom>
        </p:spPr>
      </p:pic>
      <p:pic>
        <p:nvPicPr>
          <p:cNvPr id="33" name="Picture 32" descr="lock.png"/>
          <p:cNvPicPr>
            <a:picLocks noChangeAspect="1"/>
          </p:cNvPicPr>
          <p:nvPr/>
        </p:nvPicPr>
        <p:blipFill>
          <a:blip r:embed="rId6"/>
          <a:stretch>
            <a:fillRect/>
          </a:stretch>
        </p:blipFill>
        <p:spPr>
          <a:xfrm>
            <a:off x="10175439" y="4490163"/>
            <a:ext cx="357960" cy="520669"/>
          </a:xfrm>
          <a:prstGeom prst="rect">
            <a:avLst/>
          </a:prstGeom>
        </p:spPr>
      </p:pic>
      <p:sp>
        <p:nvSpPr>
          <p:cNvPr id="34" name="TextBox 33"/>
          <p:cNvSpPr txBox="1"/>
          <p:nvPr/>
        </p:nvSpPr>
        <p:spPr>
          <a:xfrm>
            <a:off x="257175" y="6160574"/>
            <a:ext cx="3484934" cy="186689"/>
          </a:xfrm>
          <a:prstGeom prst="rect">
            <a:avLst/>
          </a:prstGeom>
          <a:noFill/>
        </p:spPr>
        <p:txBody>
          <a:bodyPr wrap="none" lIns="0" tIns="0" rIns="0" bIns="0">
            <a:spAutoFit/>
          </a:bodyPr>
          <a:lstStyle/>
          <a:p>
            <a:r>
              <a:rPr sz="1100" b="0">
                <a:solidFill>
                  <a:srgbClr val="2E2E2E"/>
                </a:solidFill>
                <a:latin typeface="Calibri"/>
              </a:rPr>
              <a:t>The U.S. corrugated partition market is projected to register</a:t>
            </a:r>
          </a:p>
        </p:txBody>
      </p:sp>
      <p:pic>
        <p:nvPicPr>
          <p:cNvPr id="35" name="Picture 34" descr="lock.png"/>
          <p:cNvPicPr>
            <a:picLocks noChangeAspect="1"/>
          </p:cNvPicPr>
          <p:nvPr/>
        </p:nvPicPr>
        <p:blipFill>
          <a:blip r:embed="rId6"/>
          <a:stretch>
            <a:fillRect/>
          </a:stretch>
        </p:blipFill>
        <p:spPr>
          <a:xfrm>
            <a:off x="3690161" y="6150795"/>
            <a:ext cx="128699" cy="187198"/>
          </a:xfrm>
          <a:prstGeom prst="rect">
            <a:avLst/>
          </a:prstGeom>
        </p:spPr>
      </p:pic>
      <p:sp>
        <p:nvSpPr>
          <p:cNvPr id="36" name="TextBox 35"/>
          <p:cNvSpPr txBox="1"/>
          <p:nvPr/>
        </p:nvSpPr>
        <p:spPr>
          <a:xfrm>
            <a:off x="3857656" y="6160574"/>
            <a:ext cx="4339761" cy="186689"/>
          </a:xfrm>
          <a:prstGeom prst="rect">
            <a:avLst/>
          </a:prstGeom>
          <a:noFill/>
        </p:spPr>
        <p:txBody>
          <a:bodyPr wrap="none" lIns="0" tIns="0" rIns="0" bIns="0">
            <a:spAutoFit/>
          </a:bodyPr>
          <a:lstStyle/>
          <a:p>
            <a:r>
              <a:rPr sz="1100" b="0">
                <a:solidFill>
                  <a:srgbClr val="2E2E2E"/>
                </a:solidFill>
                <a:latin typeface="Calibri"/>
              </a:rPr>
              <a:t>X higher value than Canada in 2036. Canada posts the highest CAGR Index (</a:t>
            </a:r>
          </a:p>
        </p:txBody>
      </p:sp>
      <p:pic>
        <p:nvPicPr>
          <p:cNvPr id="37" name="Picture 36" descr="lock.png"/>
          <p:cNvPicPr>
            <a:picLocks noChangeAspect="1"/>
          </p:cNvPicPr>
          <p:nvPr/>
        </p:nvPicPr>
        <p:blipFill>
          <a:blip r:embed="rId6"/>
          <a:stretch>
            <a:fillRect/>
          </a:stretch>
        </p:blipFill>
        <p:spPr>
          <a:xfrm>
            <a:off x="8145470" y="6150795"/>
            <a:ext cx="128699" cy="187198"/>
          </a:xfrm>
          <a:prstGeom prst="rect">
            <a:avLst/>
          </a:prstGeom>
        </p:spPr>
      </p:pic>
      <p:sp>
        <p:nvSpPr>
          <p:cNvPr id="38" name="TextBox 37"/>
          <p:cNvSpPr txBox="1"/>
          <p:nvPr/>
        </p:nvSpPr>
        <p:spPr>
          <a:xfrm>
            <a:off x="8312965" y="6160574"/>
            <a:ext cx="789979" cy="186689"/>
          </a:xfrm>
          <a:prstGeom prst="rect">
            <a:avLst/>
          </a:prstGeom>
          <a:noFill/>
        </p:spPr>
        <p:txBody>
          <a:bodyPr wrap="none" lIns="0" tIns="0" rIns="0" bIns="0">
            <a:spAutoFit/>
          </a:bodyPr>
          <a:lstStyle/>
          <a:p>
            <a:r>
              <a:rPr sz="1100" b="0">
                <a:solidFill>
                  <a:srgbClr val="2E2E2E"/>
                </a:solidFill>
                <a:latin typeface="Calibri"/>
              </a:rPr>
              <a:t>), growing at</a:t>
            </a:r>
          </a:p>
        </p:txBody>
      </p:sp>
      <p:pic>
        <p:nvPicPr>
          <p:cNvPr id="39" name="Picture 38" descr="lock.png"/>
          <p:cNvPicPr>
            <a:picLocks noChangeAspect="1"/>
          </p:cNvPicPr>
          <p:nvPr/>
        </p:nvPicPr>
        <p:blipFill>
          <a:blip r:embed="rId6"/>
          <a:stretch>
            <a:fillRect/>
          </a:stretch>
        </p:blipFill>
        <p:spPr>
          <a:xfrm>
            <a:off x="9050997" y="6150795"/>
            <a:ext cx="128699" cy="187198"/>
          </a:xfrm>
          <a:prstGeom prst="rect">
            <a:avLst/>
          </a:prstGeom>
        </p:spPr>
      </p:pic>
      <p:sp>
        <p:nvSpPr>
          <p:cNvPr id="40" name="TextBox 39"/>
          <p:cNvSpPr txBox="1"/>
          <p:nvPr/>
        </p:nvSpPr>
        <p:spPr>
          <a:xfrm>
            <a:off x="9218492" y="6160574"/>
            <a:ext cx="1069106" cy="186689"/>
          </a:xfrm>
          <a:prstGeom prst="rect">
            <a:avLst/>
          </a:prstGeom>
          <a:noFill/>
        </p:spPr>
        <p:txBody>
          <a:bodyPr wrap="none" lIns="0" tIns="0" rIns="0" bIns="0">
            <a:spAutoFit/>
          </a:bodyPr>
          <a:lstStyle/>
          <a:p>
            <a:r>
              <a:rPr sz="1100" b="0">
                <a:solidFill>
                  <a:srgbClr val="2E2E2E"/>
                </a:solidFill>
                <a:latin typeface="Calibri"/>
              </a:rPr>
              <a:t>against the North</a:t>
            </a:r>
          </a:p>
        </p:txBody>
      </p:sp>
      <p:sp>
        <p:nvSpPr>
          <p:cNvPr id="41" name="TextBox 40"/>
          <p:cNvSpPr txBox="1"/>
          <p:nvPr/>
        </p:nvSpPr>
        <p:spPr>
          <a:xfrm>
            <a:off x="257175" y="6328214"/>
            <a:ext cx="4080842" cy="186689"/>
          </a:xfrm>
          <a:prstGeom prst="rect">
            <a:avLst/>
          </a:prstGeom>
          <a:noFill/>
        </p:spPr>
        <p:txBody>
          <a:bodyPr wrap="none" lIns="0" tIns="0" rIns="0" bIns="0">
            <a:spAutoFit/>
          </a:bodyPr>
          <a:lstStyle/>
          <a:p>
            <a:r>
              <a:rPr sz="1100" b="0">
                <a:solidFill>
                  <a:srgbClr val="2E2E2E"/>
                </a:solidFill>
                <a:latin typeface="Calibri"/>
              </a:rPr>
              <a:t>America benchmark, while U.S. offers the largest absolute opportunity</a:t>
            </a:r>
          </a:p>
        </p:txBody>
      </p:sp>
      <p:pic>
        <p:nvPicPr>
          <p:cNvPr id="42" name="Picture 41" descr="lock.png"/>
          <p:cNvPicPr>
            <a:picLocks noChangeAspect="1"/>
          </p:cNvPicPr>
          <p:nvPr/>
        </p:nvPicPr>
        <p:blipFill>
          <a:blip r:embed="rId6"/>
          <a:stretch>
            <a:fillRect/>
          </a:stretch>
        </p:blipFill>
        <p:spPr>
          <a:xfrm>
            <a:off x="4286068" y="6318435"/>
            <a:ext cx="128699" cy="187198"/>
          </a:xfrm>
          <a:prstGeom prst="rect">
            <a:avLst/>
          </a:prstGeom>
        </p:spPr>
      </p:pic>
      <p:sp>
        <p:nvSpPr>
          <p:cNvPr id="43" name="TextBox 42"/>
          <p:cNvSpPr txBox="1"/>
          <p:nvPr/>
        </p:nvSpPr>
        <p:spPr>
          <a:xfrm>
            <a:off x="4453564" y="6328214"/>
            <a:ext cx="3311946" cy="186689"/>
          </a:xfrm>
          <a:prstGeom prst="rect">
            <a:avLst/>
          </a:prstGeom>
          <a:noFill/>
        </p:spPr>
        <p:txBody>
          <a:bodyPr wrap="none" lIns="0" tIns="0" rIns="0" bIns="0">
            <a:spAutoFit/>
          </a:bodyPr>
          <a:lstStyle/>
          <a:p>
            <a:r>
              <a:rPr sz="1100" b="0">
                <a:solidFill>
                  <a:srgbClr val="2E2E2E"/>
                </a:solidFill>
                <a:latin typeface="Calibri"/>
              </a:rPr>
              <a:t>US$ Mn of incremental market between 2026 and 2036 (</a:t>
            </a:r>
          </a:p>
        </p:txBody>
      </p:sp>
      <p:pic>
        <p:nvPicPr>
          <p:cNvPr id="44" name="Picture 43" descr="lock.png"/>
          <p:cNvPicPr>
            <a:picLocks noChangeAspect="1"/>
          </p:cNvPicPr>
          <p:nvPr/>
        </p:nvPicPr>
        <p:blipFill>
          <a:blip r:embed="rId6"/>
          <a:stretch>
            <a:fillRect/>
          </a:stretch>
        </p:blipFill>
        <p:spPr>
          <a:xfrm>
            <a:off x="7713563" y="6318435"/>
            <a:ext cx="128699" cy="187198"/>
          </a:xfrm>
          <a:prstGeom prst="rect">
            <a:avLst/>
          </a:prstGeom>
        </p:spPr>
      </p:pic>
      <p:sp>
        <p:nvSpPr>
          <p:cNvPr id="45" name="TextBox 44"/>
          <p:cNvSpPr txBox="1"/>
          <p:nvPr/>
        </p:nvSpPr>
        <p:spPr>
          <a:xfrm>
            <a:off x="7881058" y="6328214"/>
            <a:ext cx="1973336" cy="186689"/>
          </a:xfrm>
          <a:prstGeom prst="rect">
            <a:avLst/>
          </a:prstGeom>
          <a:noFill/>
        </p:spPr>
        <p:txBody>
          <a:bodyPr wrap="none" lIns="0" tIns="0" rIns="0" bIns="0">
            <a:spAutoFit/>
          </a:bodyPr>
          <a:lstStyle/>
          <a:p>
            <a:r>
              <a:rPr sz="1100" b="0">
                <a:solidFill>
                  <a:srgbClr val="2E2E2E"/>
                </a:solidFill>
                <a:latin typeface="Calibri"/>
              </a:rPr>
              <a:t>of the North America increment).</a:t>
            </a:r>
          </a:p>
        </p:txBody>
      </p:sp>
      <p:sp>
        <p:nvSpPr>
          <p:cNvPr id="46"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lockshield_22"/>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76225" y="1066800"/>
            <a:ext cx="11639550" cy="209550"/>
          </a:xfrm>
          <a:prstGeom prst="rect">
            <a:avLst/>
          </a:prstGeom>
          <a:noFill/>
        </p:spPr>
        <p:txBody>
          <a:bodyPr wrap="square" lIns="0" tIns="9525" rIns="19050"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76225" y="1390650"/>
            <a:ext cx="11639550" cy="12001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4" name="Rounded Rectangle 13"/>
          <p:cNvSpPr/>
          <p:nvPr/>
        </p:nvSpPr>
        <p:spPr>
          <a:xfrm>
            <a:off x="142875" y="2800350"/>
            <a:ext cx="11906250" cy="1571625"/>
          </a:xfrm>
          <a:prstGeom prst="roundRect">
            <a:avLst>
              <a:gd name="adj" fmla="val 48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276225" y="2886075"/>
            <a:ext cx="11639550" cy="209550"/>
          </a:xfrm>
          <a:prstGeom prst="rect">
            <a:avLst/>
          </a:prstGeom>
          <a:noFill/>
        </p:spPr>
        <p:txBody>
          <a:bodyPr wrap="square" lIns="0" tIns="9525" rIns="19050" bIns="9525">
            <a:spAutoFit/>
          </a:bodyPr>
          <a:lstStyle/>
          <a:p>
            <a:pPr algn="l"/>
            <a:r>
              <a:rPr sz="1300" b="1">
                <a:solidFill>
                  <a:srgbClr val="0B2E4A"/>
                </a:solidFill>
                <a:latin typeface="Calibri"/>
              </a:rPr>
              <a:t>Competitive Landscape</a:t>
            </a:r>
          </a:p>
        </p:txBody>
      </p:sp>
      <p:sp>
        <p:nvSpPr>
          <p:cNvPr id="16" name="Rectangle 15"/>
          <p:cNvSpPr/>
          <p:nvPr/>
        </p:nvSpPr>
        <p:spPr>
          <a:xfrm>
            <a:off x="276225" y="31242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76225" y="3209925"/>
            <a:ext cx="11639550" cy="10858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8" name="Rounded Rectangle 17"/>
          <p:cNvSpPr/>
          <p:nvPr/>
        </p:nvSpPr>
        <p:spPr>
          <a:xfrm>
            <a:off x="142875" y="4505325"/>
            <a:ext cx="3943350"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76225" y="4591050"/>
            <a:ext cx="3676650" cy="209550"/>
          </a:xfrm>
          <a:prstGeom prst="rect">
            <a:avLst/>
          </a:prstGeom>
          <a:noFill/>
        </p:spPr>
        <p:txBody>
          <a:bodyPr wrap="square" lIns="0" tIns="9525" rIns="19050" bIns="9525">
            <a:spAutoFit/>
          </a:bodyPr>
          <a:lstStyle/>
          <a:p>
            <a:pPr algn="l"/>
            <a:r>
              <a:rPr sz="1300" b="1">
                <a:solidFill>
                  <a:srgbClr val="0B2E4A"/>
                </a:solidFill>
                <a:latin typeface="Calibri"/>
              </a:rPr>
              <a:t>Drivers</a:t>
            </a:r>
          </a:p>
        </p:txBody>
      </p:sp>
      <p:sp>
        <p:nvSpPr>
          <p:cNvPr id="20" name="Rectangle 19"/>
          <p:cNvSpPr/>
          <p:nvPr/>
        </p:nvSpPr>
        <p:spPr>
          <a:xfrm>
            <a:off x="276225" y="48291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76225" y="4914900"/>
            <a:ext cx="3676650" cy="163830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Rounded Rectangle 21"/>
          <p:cNvSpPr/>
          <p:nvPr/>
        </p:nvSpPr>
        <p:spPr>
          <a:xfrm>
            <a:off x="4238625"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4371975" y="4591050"/>
            <a:ext cx="3552825" cy="209550"/>
          </a:xfrm>
          <a:prstGeom prst="rect">
            <a:avLst/>
          </a:prstGeom>
          <a:noFill/>
        </p:spPr>
        <p:txBody>
          <a:bodyPr wrap="square" lIns="0" tIns="9525" rIns="19050" bIns="9525">
            <a:spAutoFit/>
          </a:bodyPr>
          <a:lstStyle/>
          <a:p>
            <a:pPr algn="l"/>
            <a:r>
              <a:rPr sz="1300" b="1">
                <a:solidFill>
                  <a:srgbClr val="0B2E4A"/>
                </a:solidFill>
                <a:latin typeface="Calibri"/>
              </a:rPr>
              <a:t>Restraints</a:t>
            </a:r>
          </a:p>
        </p:txBody>
      </p:sp>
      <p:sp>
        <p:nvSpPr>
          <p:cNvPr id="24" name="Rectangle 23"/>
          <p:cNvSpPr/>
          <p:nvPr/>
        </p:nvSpPr>
        <p:spPr>
          <a:xfrm>
            <a:off x="4371975"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4371975" y="4914900"/>
            <a:ext cx="3552825" cy="163830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6" name="Rounded Rectangle 25"/>
          <p:cNvSpPr/>
          <p:nvPr/>
        </p:nvSpPr>
        <p:spPr>
          <a:xfrm>
            <a:off x="8210550" y="4505325"/>
            <a:ext cx="3819525" cy="2124075"/>
          </a:xfrm>
          <a:prstGeom prst="roundRect">
            <a:avLst>
              <a:gd name="adj" fmla="val 3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8343900" y="4591050"/>
            <a:ext cx="3552825" cy="209550"/>
          </a:xfrm>
          <a:prstGeom prst="rect">
            <a:avLst/>
          </a:prstGeom>
          <a:noFill/>
        </p:spPr>
        <p:txBody>
          <a:bodyPr wrap="square" lIns="0" tIns="9525" rIns="19050" bIns="9525">
            <a:spAutoFit/>
          </a:bodyPr>
          <a:lstStyle/>
          <a:p>
            <a:pPr algn="l"/>
            <a:r>
              <a:rPr sz="1300" b="1">
                <a:solidFill>
                  <a:srgbClr val="0B2E4A"/>
                </a:solidFill>
                <a:latin typeface="Calibri"/>
              </a:rPr>
              <a:t>Trends</a:t>
            </a:r>
          </a:p>
        </p:txBody>
      </p:sp>
      <p:sp>
        <p:nvSpPr>
          <p:cNvPr id="28" name="Rectangle 27"/>
          <p:cNvSpPr/>
          <p:nvPr/>
        </p:nvSpPr>
        <p:spPr>
          <a:xfrm>
            <a:off x="8343900" y="48291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8343900" y="4914900"/>
            <a:ext cx="3552825" cy="1638300"/>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'Flat Dividers &amp; Layer Pads'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3 partition type categories.</a:t>
            </a:r>
          </a:p>
        </p:txBody>
      </p:sp>
      <p:sp>
        <p:nvSpPr>
          <p:cNvPr id="30" name="TextBox 2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502099" cy="194310"/>
          </a:xfrm>
          <a:prstGeom prst="rect">
            <a:avLst/>
          </a:prstGeom>
          <a:noFill/>
        </p:spPr>
        <p:txBody>
          <a:bodyPr wrap="none" lIns="0" tIns="0" rIns="0" bIns="0">
            <a:spAutoFit/>
          </a:bodyPr>
          <a:lstStyle/>
          <a:p>
            <a:r>
              <a:rPr sz="1150" b="0">
                <a:solidFill>
                  <a:srgbClr val="2E2E2E"/>
                </a:solidFill>
                <a:latin typeface="Calibri"/>
              </a:rPr>
              <a:t>Global corrugated partition market is expected to witness</a:t>
            </a:r>
          </a:p>
        </p:txBody>
      </p:sp>
      <p:pic>
        <p:nvPicPr>
          <p:cNvPr id="32" name="Picture 31" descr="lock.png"/>
          <p:cNvPicPr>
            <a:picLocks noChangeAspect="1"/>
          </p:cNvPicPr>
          <p:nvPr/>
        </p:nvPicPr>
        <p:blipFill>
          <a:blip r:embed="rId4"/>
          <a:stretch>
            <a:fillRect/>
          </a:stretch>
        </p:blipFill>
        <p:spPr>
          <a:xfrm>
            <a:off x="3727478" y="1389951"/>
            <a:ext cx="134549" cy="195707"/>
          </a:xfrm>
          <a:prstGeom prst="rect">
            <a:avLst/>
          </a:prstGeom>
        </p:spPr>
      </p:pic>
      <p:sp>
        <p:nvSpPr>
          <p:cNvPr id="33" name="TextBox 32"/>
          <p:cNvSpPr txBox="1"/>
          <p:nvPr/>
        </p:nvSpPr>
        <p:spPr>
          <a:xfrm>
            <a:off x="3902587" y="1400175"/>
            <a:ext cx="5390765" cy="194310"/>
          </a:xfrm>
          <a:prstGeom prst="rect">
            <a:avLst/>
          </a:prstGeom>
          <a:noFill/>
        </p:spPr>
        <p:txBody>
          <a:bodyPr wrap="none" lIns="0" tIns="0" rIns="0" bIns="0">
            <a:spAutoFit/>
          </a:bodyPr>
          <a:lstStyle/>
          <a:p>
            <a:r>
              <a:rPr sz="1150" b="0">
                <a:solidFill>
                  <a:srgbClr val="2E2E2E"/>
                </a:solidFill>
                <a:latin typeface="Calibri"/>
              </a:rPr>
              <a:t>X increase in revenue by 2036 end. Global corrugated partition market accounted for US$</a:t>
            </a:r>
          </a:p>
        </p:txBody>
      </p:sp>
      <p:pic>
        <p:nvPicPr>
          <p:cNvPr id="34" name="Picture 33" descr="lock.png"/>
          <p:cNvPicPr>
            <a:picLocks noChangeAspect="1"/>
          </p:cNvPicPr>
          <p:nvPr/>
        </p:nvPicPr>
        <p:blipFill>
          <a:blip r:embed="rId4"/>
          <a:stretch>
            <a:fillRect/>
          </a:stretch>
        </p:blipFill>
        <p:spPr>
          <a:xfrm>
            <a:off x="9242507" y="1389951"/>
            <a:ext cx="134549" cy="195707"/>
          </a:xfrm>
          <a:prstGeom prst="rect">
            <a:avLst/>
          </a:prstGeom>
        </p:spPr>
      </p:pic>
      <p:sp>
        <p:nvSpPr>
          <p:cNvPr id="35" name="TextBox 34"/>
          <p:cNvSpPr txBox="1"/>
          <p:nvPr/>
        </p:nvSpPr>
        <p:spPr>
          <a:xfrm>
            <a:off x="9417616" y="1400175"/>
            <a:ext cx="2036179" cy="194310"/>
          </a:xfrm>
          <a:prstGeom prst="rect">
            <a:avLst/>
          </a:prstGeom>
          <a:noFill/>
        </p:spPr>
        <p:txBody>
          <a:bodyPr wrap="none" lIns="0" tIns="0" rIns="0" bIns="0">
            <a:spAutoFit/>
          </a:bodyPr>
          <a:lstStyle/>
          <a:p>
            <a:r>
              <a:rPr sz="1150" b="0">
                <a:solidFill>
                  <a:srgbClr val="2E2E2E"/>
                </a:solidFill>
                <a:latin typeface="Calibri"/>
              </a:rPr>
              <a:t>Mn in 2025, which is expected to</a:t>
            </a:r>
          </a:p>
        </p:txBody>
      </p:sp>
      <p:sp>
        <p:nvSpPr>
          <p:cNvPr id="36" name="TextBox 35"/>
          <p:cNvSpPr txBox="1"/>
          <p:nvPr/>
        </p:nvSpPr>
        <p:spPr>
          <a:xfrm>
            <a:off x="276225" y="1575435"/>
            <a:ext cx="999281" cy="194310"/>
          </a:xfrm>
          <a:prstGeom prst="rect">
            <a:avLst/>
          </a:prstGeom>
          <a:noFill/>
        </p:spPr>
        <p:txBody>
          <a:bodyPr wrap="none" lIns="0" tIns="0" rIns="0" bIns="0">
            <a:spAutoFit/>
          </a:bodyPr>
          <a:lstStyle/>
          <a:p>
            <a:r>
              <a:rPr sz="1150" b="0">
                <a:solidFill>
                  <a:srgbClr val="2E2E2E"/>
                </a:solidFill>
                <a:latin typeface="Calibri"/>
              </a:rPr>
              <a:t>increase to US$</a:t>
            </a:r>
          </a:p>
        </p:txBody>
      </p:sp>
      <p:pic>
        <p:nvPicPr>
          <p:cNvPr id="37" name="Picture 36" descr="lock.png"/>
          <p:cNvPicPr>
            <a:picLocks noChangeAspect="1"/>
          </p:cNvPicPr>
          <p:nvPr/>
        </p:nvPicPr>
        <p:blipFill>
          <a:blip r:embed="rId4"/>
          <a:stretch>
            <a:fillRect/>
          </a:stretch>
        </p:blipFill>
        <p:spPr>
          <a:xfrm>
            <a:off x="1224660" y="1565211"/>
            <a:ext cx="134549" cy="195707"/>
          </a:xfrm>
          <a:prstGeom prst="rect">
            <a:avLst/>
          </a:prstGeom>
        </p:spPr>
      </p:pic>
      <p:sp>
        <p:nvSpPr>
          <p:cNvPr id="38" name="TextBox 37"/>
          <p:cNvSpPr txBox="1"/>
          <p:nvPr/>
        </p:nvSpPr>
        <p:spPr>
          <a:xfrm>
            <a:off x="1399769" y="1575435"/>
            <a:ext cx="1527554" cy="194310"/>
          </a:xfrm>
          <a:prstGeom prst="rect">
            <a:avLst/>
          </a:prstGeom>
          <a:noFill/>
        </p:spPr>
        <p:txBody>
          <a:bodyPr wrap="none" lIns="0" tIns="0" rIns="0" bIns="0">
            <a:spAutoFit/>
          </a:bodyPr>
          <a:lstStyle/>
          <a:p>
            <a:r>
              <a:rPr sz="1150" b="0">
                <a:solidFill>
                  <a:srgbClr val="2E2E2E"/>
                </a:solidFill>
                <a:latin typeface="Calibri"/>
              </a:rPr>
              <a:t>Mn in 2036 at a CAGR of</a:t>
            </a:r>
          </a:p>
        </p:txBody>
      </p:sp>
      <p:pic>
        <p:nvPicPr>
          <p:cNvPr id="39" name="Picture 38" descr="lock.png"/>
          <p:cNvPicPr>
            <a:picLocks noChangeAspect="1"/>
          </p:cNvPicPr>
          <p:nvPr/>
        </p:nvPicPr>
        <p:blipFill>
          <a:blip r:embed="rId4"/>
          <a:stretch>
            <a:fillRect/>
          </a:stretch>
        </p:blipFill>
        <p:spPr>
          <a:xfrm>
            <a:off x="2876477" y="1565211"/>
            <a:ext cx="134549" cy="195707"/>
          </a:xfrm>
          <a:prstGeom prst="rect">
            <a:avLst/>
          </a:prstGeom>
        </p:spPr>
      </p:pic>
      <p:sp>
        <p:nvSpPr>
          <p:cNvPr id="40" name="TextBox 39"/>
          <p:cNvSpPr txBox="1"/>
          <p:nvPr/>
        </p:nvSpPr>
        <p:spPr>
          <a:xfrm>
            <a:off x="3051587" y="1575435"/>
            <a:ext cx="112997" cy="194310"/>
          </a:xfrm>
          <a:prstGeom prst="rect">
            <a:avLst/>
          </a:prstGeom>
          <a:noFill/>
        </p:spPr>
        <p:txBody>
          <a:bodyPr wrap="none" lIns="0" tIns="0" rIns="0" bIns="0">
            <a:spAutoFit/>
          </a:bodyPr>
          <a:lstStyle/>
          <a:p>
            <a:r>
              <a:rPr sz="1150" b="0">
                <a:solidFill>
                  <a:srgbClr val="2E2E2E"/>
                </a:solidFill>
                <a:latin typeface="Calibri"/>
              </a:rPr>
              <a:t>.</a:t>
            </a:r>
          </a:p>
        </p:txBody>
      </p:sp>
      <p:sp>
        <p:nvSpPr>
          <p:cNvPr id="41" name="TextBox 40"/>
          <p:cNvSpPr txBox="1"/>
          <p:nvPr/>
        </p:nvSpPr>
        <p:spPr>
          <a:xfrm>
            <a:off x="276225" y="1803273"/>
            <a:ext cx="11620500" cy="194310"/>
          </a:xfrm>
          <a:prstGeom prst="rect">
            <a:avLst/>
          </a:prstGeom>
          <a:noFill/>
        </p:spPr>
        <p:txBody>
          <a:bodyPr wrap="none" lIns="0" tIns="0" rIns="0" bIns="0">
            <a:spAutoFit/>
          </a:bodyPr>
          <a:lstStyle/>
          <a:p>
            <a:r>
              <a:rPr sz="1150" b="0">
                <a:solidFill>
                  <a:srgbClr val="2E2E2E"/>
                </a:solidFill>
                <a:latin typeface="Calibri"/>
              </a:rPr>
              <a:t>The global corrugated partition market has been analysed on the basis of partition type, board construction, material source and cell configuration across the globe. U.S. is expected to remain the</a:t>
            </a:r>
          </a:p>
        </p:txBody>
      </p:sp>
      <p:sp>
        <p:nvSpPr>
          <p:cNvPr id="42" name="TextBox 41"/>
          <p:cNvSpPr txBox="1"/>
          <p:nvPr/>
        </p:nvSpPr>
        <p:spPr>
          <a:xfrm>
            <a:off x="276225" y="1978533"/>
            <a:ext cx="6702915" cy="194310"/>
          </a:xfrm>
          <a:prstGeom prst="rect">
            <a:avLst/>
          </a:prstGeom>
          <a:noFill/>
        </p:spPr>
        <p:txBody>
          <a:bodyPr wrap="none" lIns="0" tIns="0" rIns="0" bIns="0">
            <a:spAutoFit/>
          </a:bodyPr>
          <a:lstStyle/>
          <a:p>
            <a:r>
              <a:rPr sz="1150" b="0">
                <a:solidFill>
                  <a:srgbClr val="2E2E2E"/>
                </a:solidFill>
                <a:latin typeface="Calibri"/>
              </a:rPr>
              <a:t>largest market for corrugated partition, while demand in Canada is projected to increase at the highest CAGR of</a:t>
            </a:r>
          </a:p>
        </p:txBody>
      </p:sp>
      <p:pic>
        <p:nvPicPr>
          <p:cNvPr id="43" name="Picture 42" descr="lock.png"/>
          <p:cNvPicPr>
            <a:picLocks noChangeAspect="1"/>
          </p:cNvPicPr>
          <p:nvPr/>
        </p:nvPicPr>
        <p:blipFill>
          <a:blip r:embed="rId4"/>
          <a:stretch>
            <a:fillRect/>
          </a:stretch>
        </p:blipFill>
        <p:spPr>
          <a:xfrm>
            <a:off x="6928294" y="1968309"/>
            <a:ext cx="134549" cy="195707"/>
          </a:xfrm>
          <a:prstGeom prst="rect">
            <a:avLst/>
          </a:prstGeom>
        </p:spPr>
      </p:pic>
      <p:sp>
        <p:nvSpPr>
          <p:cNvPr id="44" name="TextBox 43"/>
          <p:cNvSpPr txBox="1"/>
          <p:nvPr/>
        </p:nvSpPr>
        <p:spPr>
          <a:xfrm>
            <a:off x="7103403" y="1978533"/>
            <a:ext cx="1960872" cy="194310"/>
          </a:xfrm>
          <a:prstGeom prst="rect">
            <a:avLst/>
          </a:prstGeom>
          <a:noFill/>
        </p:spPr>
        <p:txBody>
          <a:bodyPr wrap="none" lIns="0" tIns="0" rIns="0" bIns="0">
            <a:spAutoFit/>
          </a:bodyPr>
          <a:lstStyle/>
          <a:p>
            <a:r>
              <a:rPr sz="1150" b="0">
                <a:solidFill>
                  <a:srgbClr val="2E2E2E"/>
                </a:solidFill>
                <a:latin typeface="Calibri"/>
              </a:rPr>
              <a:t>throughout the forecast period.</a:t>
            </a:r>
          </a:p>
        </p:txBody>
      </p:sp>
      <p:sp>
        <p:nvSpPr>
          <p:cNvPr id="45" name="TextBox 44"/>
          <p:cNvSpPr txBox="1"/>
          <p:nvPr/>
        </p:nvSpPr>
        <p:spPr>
          <a:xfrm>
            <a:off x="276225" y="3219450"/>
            <a:ext cx="5877693" cy="194310"/>
          </a:xfrm>
          <a:prstGeom prst="rect">
            <a:avLst/>
          </a:prstGeom>
          <a:noFill/>
        </p:spPr>
        <p:txBody>
          <a:bodyPr wrap="none" lIns="0" tIns="0" rIns="0" bIns="0">
            <a:spAutoFit/>
          </a:bodyPr>
          <a:lstStyle/>
          <a:p>
            <a:r>
              <a:rPr sz="1150" b="0">
                <a:solidFill>
                  <a:srgbClr val="2E2E2E"/>
                </a:solidFill>
                <a:latin typeface="Calibri"/>
              </a:rPr>
              <a:t>▪ The market is consolidated: the leading partition type category 'Flat Dividers &amp; Layer Pads' holds</a:t>
            </a:r>
          </a:p>
        </p:txBody>
      </p:sp>
      <p:pic>
        <p:nvPicPr>
          <p:cNvPr id="46" name="Picture 45" descr="lock.png"/>
          <p:cNvPicPr>
            <a:picLocks noChangeAspect="1"/>
          </p:cNvPicPr>
          <p:nvPr/>
        </p:nvPicPr>
        <p:blipFill>
          <a:blip r:embed="rId4"/>
          <a:stretch>
            <a:fillRect/>
          </a:stretch>
        </p:blipFill>
        <p:spPr>
          <a:xfrm>
            <a:off x="6103072" y="3209226"/>
            <a:ext cx="134549" cy="195707"/>
          </a:xfrm>
          <a:prstGeom prst="rect">
            <a:avLst/>
          </a:prstGeom>
        </p:spPr>
      </p:pic>
      <p:sp>
        <p:nvSpPr>
          <p:cNvPr id="47" name="TextBox 46"/>
          <p:cNvSpPr txBox="1"/>
          <p:nvPr/>
        </p:nvSpPr>
        <p:spPr>
          <a:xfrm>
            <a:off x="6278182" y="3219450"/>
            <a:ext cx="916272" cy="194310"/>
          </a:xfrm>
          <a:prstGeom prst="rect">
            <a:avLst/>
          </a:prstGeom>
          <a:noFill/>
        </p:spPr>
        <p:txBody>
          <a:bodyPr wrap="none" lIns="0" tIns="0" rIns="0" bIns="0">
            <a:spAutoFit/>
          </a:bodyPr>
          <a:lstStyle/>
          <a:p>
            <a:r>
              <a:rPr sz="1150" b="0">
                <a:solidFill>
                  <a:srgbClr val="2E2E2E"/>
                </a:solidFill>
                <a:latin typeface="Calibri"/>
              </a:rPr>
              <a:t>of 2036 value.</a:t>
            </a:r>
          </a:p>
        </p:txBody>
      </p:sp>
      <p:sp>
        <p:nvSpPr>
          <p:cNvPr id="48" name="TextBox 47"/>
          <p:cNvSpPr txBox="1"/>
          <p:nvPr/>
        </p:nvSpPr>
        <p:spPr>
          <a:xfrm>
            <a:off x="276225" y="3447287"/>
            <a:ext cx="5151722" cy="194310"/>
          </a:xfrm>
          <a:prstGeom prst="rect">
            <a:avLst/>
          </a:prstGeom>
          <a:noFill/>
        </p:spPr>
        <p:txBody>
          <a:bodyPr wrap="none" lIns="0" tIns="0" rIns="0" bIns="0">
            <a:spAutoFit/>
          </a:bodyPr>
          <a:lstStyle/>
          <a:p>
            <a:r>
              <a:rPr sz="1150" b="0">
                <a:solidFill>
                  <a:srgbClr val="2E2E2E"/>
                </a:solidFill>
                <a:latin typeface="Calibri"/>
              </a:rPr>
              <a:t>▪ Demand spans 2 countries and 10 segmentation lenses (3 partition type categories).</a:t>
            </a:r>
          </a:p>
        </p:txBody>
      </p:sp>
      <p:sp>
        <p:nvSpPr>
          <p:cNvPr id="49" name="TextBox 48"/>
          <p:cNvSpPr txBox="1"/>
          <p:nvPr/>
        </p:nvSpPr>
        <p:spPr>
          <a:xfrm>
            <a:off x="276225" y="3675125"/>
            <a:ext cx="2288914" cy="194310"/>
          </a:xfrm>
          <a:prstGeom prst="rect">
            <a:avLst/>
          </a:prstGeom>
          <a:noFill/>
        </p:spPr>
        <p:txBody>
          <a:bodyPr wrap="none" lIns="0" tIns="0" rIns="0" bIns="0">
            <a:spAutoFit/>
          </a:bodyPr>
          <a:lstStyle/>
          <a:p>
            <a:r>
              <a:rPr sz="1150" b="0">
                <a:solidFill>
                  <a:srgbClr val="2E2E2E"/>
                </a:solidFill>
                <a:latin typeface="Calibri"/>
              </a:rPr>
              <a:t>▪ U.S. is the largest country market at</a:t>
            </a:r>
          </a:p>
        </p:txBody>
      </p:sp>
      <p:pic>
        <p:nvPicPr>
          <p:cNvPr id="50" name="Picture 49" descr="lock.png"/>
          <p:cNvPicPr>
            <a:picLocks noChangeAspect="1"/>
          </p:cNvPicPr>
          <p:nvPr/>
        </p:nvPicPr>
        <p:blipFill>
          <a:blip r:embed="rId4"/>
          <a:stretch>
            <a:fillRect/>
          </a:stretch>
        </p:blipFill>
        <p:spPr>
          <a:xfrm>
            <a:off x="2514293" y="3664902"/>
            <a:ext cx="134549" cy="195707"/>
          </a:xfrm>
          <a:prstGeom prst="rect">
            <a:avLst/>
          </a:prstGeom>
        </p:spPr>
      </p:pic>
      <p:sp>
        <p:nvSpPr>
          <p:cNvPr id="51" name="TextBox 50"/>
          <p:cNvSpPr txBox="1"/>
          <p:nvPr/>
        </p:nvSpPr>
        <p:spPr>
          <a:xfrm>
            <a:off x="2689402" y="3675125"/>
            <a:ext cx="916272" cy="194310"/>
          </a:xfrm>
          <a:prstGeom prst="rect">
            <a:avLst/>
          </a:prstGeom>
          <a:noFill/>
        </p:spPr>
        <p:txBody>
          <a:bodyPr wrap="none" lIns="0" tIns="0" rIns="0" bIns="0">
            <a:spAutoFit/>
          </a:bodyPr>
          <a:lstStyle/>
          <a:p>
            <a:r>
              <a:rPr sz="1150" b="0">
                <a:solidFill>
                  <a:srgbClr val="2E2E2E"/>
                </a:solidFill>
                <a:latin typeface="Calibri"/>
              </a:rPr>
              <a:t>of 2036 value.</a:t>
            </a:r>
          </a:p>
        </p:txBody>
      </p:sp>
      <p:sp>
        <p:nvSpPr>
          <p:cNvPr id="52" name="TextBox 51"/>
          <p:cNvSpPr txBox="1"/>
          <p:nvPr/>
        </p:nvSpPr>
        <p:spPr>
          <a:xfrm>
            <a:off x="276225" y="4924425"/>
            <a:ext cx="3204294" cy="194310"/>
          </a:xfrm>
          <a:prstGeom prst="rect">
            <a:avLst/>
          </a:prstGeom>
          <a:noFill/>
        </p:spPr>
        <p:txBody>
          <a:bodyPr wrap="none" lIns="0" tIns="0" rIns="0" bIns="0">
            <a:spAutoFit/>
          </a:bodyPr>
          <a:lstStyle/>
          <a:p>
            <a:r>
              <a:rPr sz="1150" b="0">
                <a:solidFill>
                  <a:srgbClr val="2E2E2E"/>
                </a:solidFill>
                <a:latin typeface="Calibri"/>
              </a:rPr>
              <a:t>▪ Accelerating uptake of 'Flat Dividers &amp; Layer Pads' (</a:t>
            </a:r>
          </a:p>
        </p:txBody>
      </p:sp>
      <p:pic>
        <p:nvPicPr>
          <p:cNvPr id="53" name="Picture 52" descr="lock.png"/>
          <p:cNvPicPr>
            <a:picLocks noChangeAspect="1"/>
          </p:cNvPicPr>
          <p:nvPr/>
        </p:nvPicPr>
        <p:blipFill>
          <a:blip r:embed="rId4"/>
          <a:stretch>
            <a:fillRect/>
          </a:stretch>
        </p:blipFill>
        <p:spPr>
          <a:xfrm>
            <a:off x="3429673" y="4914201"/>
            <a:ext cx="134549" cy="195707"/>
          </a:xfrm>
          <a:prstGeom prst="rect">
            <a:avLst/>
          </a:prstGeom>
        </p:spPr>
      </p:pic>
      <p:sp>
        <p:nvSpPr>
          <p:cNvPr id="54" name="TextBox 53"/>
          <p:cNvSpPr txBox="1"/>
          <p:nvPr/>
        </p:nvSpPr>
        <p:spPr>
          <a:xfrm>
            <a:off x="276225" y="5099685"/>
            <a:ext cx="490941"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55" name="TextBox 54"/>
          <p:cNvSpPr txBox="1"/>
          <p:nvPr/>
        </p:nvSpPr>
        <p:spPr>
          <a:xfrm>
            <a:off x="276225" y="5327522"/>
            <a:ext cx="2146510" cy="194310"/>
          </a:xfrm>
          <a:prstGeom prst="rect">
            <a:avLst/>
          </a:prstGeom>
          <a:noFill/>
        </p:spPr>
        <p:txBody>
          <a:bodyPr wrap="none" lIns="0" tIns="0" rIns="0" bIns="0">
            <a:spAutoFit/>
          </a:bodyPr>
          <a:lstStyle/>
          <a:p>
            <a:r>
              <a:rPr sz="1150" b="0">
                <a:solidFill>
                  <a:srgbClr val="2E2E2E"/>
                </a:solidFill>
                <a:latin typeface="Calibri"/>
              </a:rPr>
              <a:t>▪ Fast-growing demand in Canada (</a:t>
            </a:r>
          </a:p>
        </p:txBody>
      </p:sp>
      <p:pic>
        <p:nvPicPr>
          <p:cNvPr id="56" name="Picture 55" descr="lock.png"/>
          <p:cNvPicPr>
            <a:picLocks noChangeAspect="1"/>
          </p:cNvPicPr>
          <p:nvPr/>
        </p:nvPicPr>
        <p:blipFill>
          <a:blip r:embed="rId4"/>
          <a:stretch>
            <a:fillRect/>
          </a:stretch>
        </p:blipFill>
        <p:spPr>
          <a:xfrm>
            <a:off x="2371889" y="5317299"/>
            <a:ext cx="134549" cy="195707"/>
          </a:xfrm>
          <a:prstGeom prst="rect">
            <a:avLst/>
          </a:prstGeom>
        </p:spPr>
      </p:pic>
      <p:sp>
        <p:nvSpPr>
          <p:cNvPr id="57" name="TextBox 56"/>
          <p:cNvSpPr txBox="1"/>
          <p:nvPr/>
        </p:nvSpPr>
        <p:spPr>
          <a:xfrm>
            <a:off x="2546998" y="5327522"/>
            <a:ext cx="157212" cy="194310"/>
          </a:xfrm>
          <a:prstGeom prst="rect">
            <a:avLst/>
          </a:prstGeom>
          <a:noFill/>
        </p:spPr>
        <p:txBody>
          <a:bodyPr wrap="none" lIns="0" tIns="0" rIns="0" bIns="0">
            <a:spAutoFit/>
          </a:bodyPr>
          <a:lstStyle/>
          <a:p>
            <a:r>
              <a:rPr sz="1150" b="0">
                <a:solidFill>
                  <a:srgbClr val="2E2E2E"/>
                </a:solidFill>
                <a:latin typeface="Calibri"/>
              </a:rPr>
              <a:t>).</a:t>
            </a:r>
          </a:p>
        </p:txBody>
      </p:sp>
      <p:sp>
        <p:nvSpPr>
          <p:cNvPr id="58" name="TextBox 57"/>
          <p:cNvSpPr txBox="1"/>
          <p:nvPr/>
        </p:nvSpPr>
        <p:spPr>
          <a:xfrm>
            <a:off x="276225" y="5555360"/>
            <a:ext cx="3382292" cy="194310"/>
          </a:xfrm>
          <a:prstGeom prst="rect">
            <a:avLst/>
          </a:prstGeom>
          <a:noFill/>
        </p:spPr>
        <p:txBody>
          <a:bodyPr wrap="none" lIns="0" tIns="0" rIns="0" bIns="0">
            <a:spAutoFit/>
          </a:bodyPr>
          <a:lstStyle/>
          <a:p>
            <a:r>
              <a:rPr sz="1150" b="0">
                <a:solidFill>
                  <a:srgbClr val="2E2E2E"/>
                </a:solidFill>
                <a:latin typeface="Calibri"/>
              </a:rPr>
              <a:t>▪ Momentum in Electronics &amp; Electrical within end use (</a:t>
            </a:r>
          </a:p>
        </p:txBody>
      </p:sp>
      <p:pic>
        <p:nvPicPr>
          <p:cNvPr id="59" name="Picture 58" descr="lock.png"/>
          <p:cNvPicPr>
            <a:picLocks noChangeAspect="1"/>
          </p:cNvPicPr>
          <p:nvPr/>
        </p:nvPicPr>
        <p:blipFill>
          <a:blip r:embed="rId4"/>
          <a:stretch>
            <a:fillRect/>
          </a:stretch>
        </p:blipFill>
        <p:spPr>
          <a:xfrm>
            <a:off x="3607671" y="5545137"/>
            <a:ext cx="134549" cy="195707"/>
          </a:xfrm>
          <a:prstGeom prst="rect">
            <a:avLst/>
          </a:prstGeom>
        </p:spPr>
      </p:pic>
      <p:sp>
        <p:nvSpPr>
          <p:cNvPr id="60" name="TextBox 59"/>
          <p:cNvSpPr txBox="1"/>
          <p:nvPr/>
        </p:nvSpPr>
        <p:spPr>
          <a:xfrm>
            <a:off x="3782780" y="5555360"/>
            <a:ext cx="151044" cy="194310"/>
          </a:xfrm>
          <a:prstGeom prst="rect">
            <a:avLst/>
          </a:prstGeom>
          <a:noFill/>
        </p:spPr>
        <p:txBody>
          <a:bodyPr wrap="none" lIns="0" tIns="0" rIns="0" bIns="0">
            <a:spAutoFit/>
          </a:bodyPr>
          <a:lstStyle/>
          <a:p>
            <a:r>
              <a:rPr sz="1150" b="0">
                <a:solidFill>
                  <a:srgbClr val="2E2E2E"/>
                </a:solidFill>
                <a:latin typeface="Calibri"/>
              </a:rPr>
              <a:t>).</a:t>
            </a:r>
          </a:p>
        </p:txBody>
      </p:sp>
      <p:sp>
        <p:nvSpPr>
          <p:cNvPr id="61" name="TextBox 60"/>
          <p:cNvSpPr txBox="1"/>
          <p:nvPr/>
        </p:nvSpPr>
        <p:spPr>
          <a:xfrm>
            <a:off x="4371975" y="4924425"/>
            <a:ext cx="3131238" cy="194310"/>
          </a:xfrm>
          <a:prstGeom prst="rect">
            <a:avLst/>
          </a:prstGeom>
          <a:noFill/>
        </p:spPr>
        <p:txBody>
          <a:bodyPr wrap="none" lIns="0" tIns="0" rIns="0" bIns="0">
            <a:spAutoFit/>
          </a:bodyPr>
          <a:lstStyle/>
          <a:p>
            <a:r>
              <a:rPr sz="1150" b="0">
                <a:solidFill>
                  <a:srgbClr val="2E2E2E"/>
                </a:solidFill>
                <a:latin typeface="Calibri"/>
              </a:rPr>
              <a:t>▪ Slower momentum in 'Die-Cut &amp; Folded Partitions</a:t>
            </a:r>
          </a:p>
        </p:txBody>
      </p:sp>
      <p:sp>
        <p:nvSpPr>
          <p:cNvPr id="62" name="TextBox 61"/>
          <p:cNvSpPr txBox="1"/>
          <p:nvPr/>
        </p:nvSpPr>
        <p:spPr>
          <a:xfrm>
            <a:off x="4371975" y="5099685"/>
            <a:ext cx="1911238" cy="194310"/>
          </a:xfrm>
          <a:prstGeom prst="rect">
            <a:avLst/>
          </a:prstGeom>
          <a:noFill/>
        </p:spPr>
        <p:txBody>
          <a:bodyPr wrap="none" lIns="0" tIns="0" rIns="0" bIns="0">
            <a:spAutoFit/>
          </a:bodyPr>
          <a:lstStyle/>
          <a:p>
            <a:r>
              <a:rPr sz="1150" b="0">
                <a:solidFill>
                  <a:srgbClr val="2E2E2E"/>
                </a:solidFill>
                <a:latin typeface="Calibri"/>
              </a:rPr>
              <a:t>(H-dividers, tube/cell inserts)' (</a:t>
            </a:r>
          </a:p>
        </p:txBody>
      </p:sp>
      <p:pic>
        <p:nvPicPr>
          <p:cNvPr id="63" name="Picture 62" descr="lock.png"/>
          <p:cNvPicPr>
            <a:picLocks noChangeAspect="1"/>
          </p:cNvPicPr>
          <p:nvPr/>
        </p:nvPicPr>
        <p:blipFill>
          <a:blip r:embed="rId4"/>
          <a:stretch>
            <a:fillRect/>
          </a:stretch>
        </p:blipFill>
        <p:spPr>
          <a:xfrm>
            <a:off x="6232367" y="5089461"/>
            <a:ext cx="134549" cy="195707"/>
          </a:xfrm>
          <a:prstGeom prst="rect">
            <a:avLst/>
          </a:prstGeom>
        </p:spPr>
      </p:pic>
      <p:sp>
        <p:nvSpPr>
          <p:cNvPr id="64" name="TextBox 63"/>
          <p:cNvSpPr txBox="1"/>
          <p:nvPr/>
        </p:nvSpPr>
        <p:spPr>
          <a:xfrm>
            <a:off x="6407476" y="5099685"/>
            <a:ext cx="157212" cy="194310"/>
          </a:xfrm>
          <a:prstGeom prst="rect">
            <a:avLst/>
          </a:prstGeom>
          <a:noFill/>
        </p:spPr>
        <p:txBody>
          <a:bodyPr wrap="none" lIns="0" tIns="0" rIns="0" bIns="0">
            <a:spAutoFit/>
          </a:bodyPr>
          <a:lstStyle/>
          <a:p>
            <a:r>
              <a:rPr sz="1150" b="0">
                <a:solidFill>
                  <a:srgbClr val="2E2E2E"/>
                </a:solidFill>
                <a:latin typeface="Calibri"/>
              </a:rPr>
              <a:t>).</a:t>
            </a:r>
          </a:p>
        </p:txBody>
      </p:sp>
      <p:sp>
        <p:nvSpPr>
          <p:cNvPr id="65" name="TextBox 64"/>
          <p:cNvSpPr txBox="1"/>
          <p:nvPr/>
        </p:nvSpPr>
        <p:spPr>
          <a:xfrm>
            <a:off x="4371975" y="5327522"/>
            <a:ext cx="3264197" cy="194310"/>
          </a:xfrm>
          <a:prstGeom prst="rect">
            <a:avLst/>
          </a:prstGeom>
          <a:noFill/>
        </p:spPr>
        <p:txBody>
          <a:bodyPr wrap="none" lIns="0" tIns="0" rIns="0" bIns="0">
            <a:spAutoFit/>
          </a:bodyPr>
          <a:lstStyle/>
          <a:p>
            <a:r>
              <a:rPr sz="1150" b="0">
                <a:solidFill>
                  <a:srgbClr val="2E2E2E"/>
                </a:solidFill>
                <a:latin typeface="Calibri"/>
              </a:rPr>
              <a:t>▪ Maturing demand in established categories caps the</a:t>
            </a:r>
          </a:p>
        </p:txBody>
      </p:sp>
      <p:sp>
        <p:nvSpPr>
          <p:cNvPr id="66" name="TextBox 65"/>
          <p:cNvSpPr txBox="1"/>
          <p:nvPr/>
        </p:nvSpPr>
        <p:spPr>
          <a:xfrm>
            <a:off x="4371975" y="5502782"/>
            <a:ext cx="562272" cy="194310"/>
          </a:xfrm>
          <a:prstGeom prst="rect">
            <a:avLst/>
          </a:prstGeom>
          <a:noFill/>
        </p:spPr>
        <p:txBody>
          <a:bodyPr wrap="none" lIns="0" tIns="0" rIns="0" bIns="0">
            <a:spAutoFit/>
          </a:bodyPr>
          <a:lstStyle/>
          <a:p>
            <a:r>
              <a:rPr sz="1150" b="0">
                <a:solidFill>
                  <a:srgbClr val="2E2E2E"/>
                </a:solidFill>
                <a:latin typeface="Calibri"/>
              </a:rPr>
              <a:t>blended</a:t>
            </a:r>
          </a:p>
        </p:txBody>
      </p:sp>
      <p:pic>
        <p:nvPicPr>
          <p:cNvPr id="67" name="Picture 66" descr="lock.png"/>
          <p:cNvPicPr>
            <a:picLocks noChangeAspect="1"/>
          </p:cNvPicPr>
          <p:nvPr/>
        </p:nvPicPr>
        <p:blipFill>
          <a:blip r:embed="rId4"/>
          <a:stretch>
            <a:fillRect/>
          </a:stretch>
        </p:blipFill>
        <p:spPr>
          <a:xfrm>
            <a:off x="4883401" y="5492559"/>
            <a:ext cx="134549" cy="195707"/>
          </a:xfrm>
          <a:prstGeom prst="rect">
            <a:avLst/>
          </a:prstGeom>
        </p:spPr>
      </p:pic>
      <p:sp>
        <p:nvSpPr>
          <p:cNvPr id="68" name="TextBox 67"/>
          <p:cNvSpPr txBox="1"/>
          <p:nvPr/>
        </p:nvSpPr>
        <p:spPr>
          <a:xfrm>
            <a:off x="5058510" y="5502782"/>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69" name="TextBox 68"/>
          <p:cNvSpPr txBox="1"/>
          <p:nvPr/>
        </p:nvSpPr>
        <p:spPr>
          <a:xfrm>
            <a:off x="4371975" y="5730620"/>
            <a:ext cx="3511798" cy="194310"/>
          </a:xfrm>
          <a:prstGeom prst="rect">
            <a:avLst/>
          </a:prstGeom>
          <a:noFill/>
        </p:spPr>
        <p:txBody>
          <a:bodyPr wrap="none" lIns="0" tIns="0" rIns="0" bIns="0">
            <a:spAutoFit/>
          </a:bodyPr>
          <a:lstStyle/>
          <a:p>
            <a:r>
              <a:rPr sz="1150" b="0">
                <a:solidFill>
                  <a:srgbClr val="2E2E2E"/>
                </a:solidFill>
                <a:latin typeface="Calibri"/>
              </a:rPr>
              <a:t>▪ Value concentration in 'Flat Dividers &amp; Layer Pads' raises</a:t>
            </a:r>
          </a:p>
        </p:txBody>
      </p:sp>
      <p:sp>
        <p:nvSpPr>
          <p:cNvPr id="70" name="TextBox 69"/>
          <p:cNvSpPr txBox="1"/>
          <p:nvPr/>
        </p:nvSpPr>
        <p:spPr>
          <a:xfrm>
            <a:off x="4371975" y="5905880"/>
            <a:ext cx="1604305" cy="194310"/>
          </a:xfrm>
          <a:prstGeom prst="rect">
            <a:avLst/>
          </a:prstGeom>
          <a:noFill/>
        </p:spPr>
        <p:txBody>
          <a:bodyPr wrap="none" lIns="0" tIns="0" rIns="0" bIns="0">
            <a:spAutoFit/>
          </a:bodyPr>
          <a:lstStyle/>
          <a:p>
            <a:r>
              <a:rPr sz="1150" b="0">
                <a:solidFill>
                  <a:srgbClr val="2E2E2E"/>
                </a:solidFill>
                <a:latin typeface="Calibri"/>
              </a:rPr>
              <a:t>barriers for new entrants.</a:t>
            </a: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76225" y="1066800"/>
            <a:ext cx="5610225" cy="209550"/>
          </a:xfrm>
          <a:prstGeom prst="rect">
            <a:avLst/>
          </a:prstGeom>
          <a:noFill/>
        </p:spPr>
        <p:txBody>
          <a:bodyPr wrap="square" lIns="0" tIns="9525" rIns="19050"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76225" y="1390650"/>
            <a:ext cx="5610225" cy="1295400"/>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'Flat Dividers &amp; Layer Pads' and Canada.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partition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U.S. and Canada.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305550" y="1066800"/>
            <a:ext cx="5610225" cy="209550"/>
          </a:xfrm>
          <a:prstGeom prst="rect">
            <a:avLst/>
          </a:prstGeom>
          <a:noFill/>
        </p:spPr>
        <p:txBody>
          <a:bodyPr wrap="square" lIns="0" tIns="9525" rIns="19050"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6305550" y="1390650"/>
            <a:ext cx="5610225" cy="129540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76225" y="2981325"/>
            <a:ext cx="5610225" cy="209550"/>
          </a:xfrm>
          <a:prstGeom prst="rect">
            <a:avLst/>
          </a:prstGeom>
          <a:noFill/>
        </p:spPr>
        <p:txBody>
          <a:bodyPr wrap="square" lIns="0" tIns="9525" rIns="19050"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76225" y="3305175"/>
            <a:ext cx="5610225" cy="800100"/>
          </a:xfrm>
          <a:prstGeom prst="rect">
            <a:avLst/>
          </a:prstGeom>
          <a:noFill/>
        </p:spPr>
        <p:txBody>
          <a:bodyPr wrap="square" lIns="0" tIns="9525" rIns="19050" bIns="9525">
            <a:spAutoFit/>
          </a:bodyPr>
          <a:lstStyle/>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05550" y="2981325"/>
            <a:ext cx="5610225" cy="209550"/>
          </a:xfrm>
          <a:prstGeom prst="rect">
            <a:avLst/>
          </a:prstGeom>
          <a:noFill/>
        </p:spPr>
        <p:txBody>
          <a:bodyPr wrap="square" lIns="0" tIns="9525" rIns="19050"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6305550" y="3305175"/>
            <a:ext cx="5610225" cy="800100"/>
          </a:xfrm>
          <a:prstGeom prst="rect">
            <a:avLst/>
          </a:prstGeom>
          <a:noFill/>
        </p:spPr>
        <p:txBody>
          <a:bodyPr wrap="square" lIns="0" tIns="9525" rIns="19050" bIns="9525">
            <a:spAutoFit/>
          </a:bodyPr>
          <a:lstStyle/>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238125" y="437197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structure partition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xmlns:r="http://schemas.openxmlformats.org/officeDocument/2006/relationships" r:id="rId4"/>
          </a:graphicData>
        </a:graphic>
      </p:graphicFrame>
      <p:sp>
        <p:nvSpPr>
          <p:cNvPr id="29" name="TextBox 28"/>
          <p:cNvSpPr txBox="1"/>
          <p:nvPr/>
        </p:nvSpPr>
        <p:spPr>
          <a:xfrm>
            <a:off x="3871570" y="5462588"/>
            <a:ext cx="934136" cy="228600"/>
          </a:xfrm>
          <a:prstGeom prst="rect">
            <a:avLst/>
          </a:prstGeom>
          <a:noFill/>
        </p:spPr>
        <p:txBody>
          <a:bodyPr wrap="square" lIns="28575" tIns="9525" rIns="28575" bIns="9525" anchor="ctr">
            <a:spAutoFit/>
          </a:bodyPr>
          <a:lstStyle/>
          <a:p>
            <a:pPr algn="ctr"/>
            <a:endParaRPr/>
          </a:p>
        </p:txBody>
      </p:sp>
      <p:sp>
        <p:nvSpPr>
          <p:cNvPr id="30" name="TextBox 2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tIns="0" r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tIns="0" r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tIns="0" r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tIns="0" rIns="0" bIns="0">
            <a:spAutoFit/>
          </a:bodyPr>
          <a:lstStyle/>
          <a:p>
            <a:r>
              <a:rPr sz="1100" b="0">
                <a:solidFill>
                  <a:srgbClr val="2E2E2E"/>
                </a:solidFill>
                <a:latin typeface="Calibri"/>
              </a:rPr>
              <a:t>(2026–2036).</a:t>
            </a:r>
          </a:p>
        </p:txBody>
      </p:sp>
      <p:sp>
        <p:nvSpPr>
          <p:cNvPr id="40" name="TextBox 39"/>
          <p:cNvSpPr txBox="1"/>
          <p:nvPr/>
        </p:nvSpPr>
        <p:spPr>
          <a:xfrm>
            <a:off x="6305550" y="1836039"/>
            <a:ext cx="2510854" cy="186689"/>
          </a:xfrm>
          <a:prstGeom prst="rect">
            <a:avLst/>
          </a:prstGeom>
          <a:noFill/>
        </p:spPr>
        <p:txBody>
          <a:bodyPr wrap="none" lIns="0" tIns="0" rIns="0" bIns="0">
            <a:spAutoFit/>
          </a:bodyPr>
          <a:lstStyle/>
          <a:p>
            <a:r>
              <a:rPr sz="1100" b="0">
                <a:solidFill>
                  <a:srgbClr val="2E2E2E"/>
                </a:solidFill>
                <a:latin typeface="Calibri"/>
              </a:rPr>
              <a:t>▪ Lead category 'Flat Dividers &amp; Layer Pads'</a:t>
            </a:r>
          </a:p>
        </p:txBody>
      </p:sp>
      <p:pic>
        <p:nvPicPr>
          <p:cNvPr id="41" name="Picture 40" descr="lock.png"/>
          <p:cNvPicPr>
            <a:picLocks noChangeAspect="1"/>
          </p:cNvPicPr>
          <p:nvPr/>
        </p:nvPicPr>
        <p:blipFill>
          <a:blip r:embed="rId5"/>
          <a:stretch>
            <a:fillRect/>
          </a:stretch>
        </p:blipFill>
        <p:spPr>
          <a:xfrm>
            <a:off x="8764456" y="1826260"/>
            <a:ext cx="128699" cy="187198"/>
          </a:xfrm>
          <a:prstGeom prst="rect">
            <a:avLst/>
          </a:prstGeom>
        </p:spPr>
      </p:pic>
      <p:sp>
        <p:nvSpPr>
          <p:cNvPr id="42" name="TextBox 41"/>
          <p:cNvSpPr txBox="1"/>
          <p:nvPr/>
        </p:nvSpPr>
        <p:spPr>
          <a:xfrm>
            <a:off x="8931951" y="1836039"/>
            <a:ext cx="543049" cy="186689"/>
          </a:xfrm>
          <a:prstGeom prst="rect">
            <a:avLst/>
          </a:prstGeom>
          <a:noFill/>
        </p:spPr>
        <p:txBody>
          <a:bodyPr wrap="none" lIns="0" tIns="0" rIns="0" bIns="0">
            <a:spAutoFit/>
          </a:bodyPr>
          <a:lstStyle/>
          <a:p>
            <a:r>
              <a:rPr sz="1100" b="0">
                <a:solidFill>
                  <a:srgbClr val="2E2E2E"/>
                </a:solidFill>
                <a:latin typeface="Calibri"/>
              </a:rPr>
              <a:t>of 2036.</a:t>
            </a:r>
          </a:p>
        </p:txBody>
      </p:sp>
      <p:sp>
        <p:nvSpPr>
          <p:cNvPr id="43" name="TextBox 42"/>
          <p:cNvSpPr txBox="1"/>
          <p:nvPr/>
        </p:nvSpPr>
        <p:spPr>
          <a:xfrm>
            <a:off x="6305550" y="2053970"/>
            <a:ext cx="1152053" cy="186689"/>
          </a:xfrm>
          <a:prstGeom prst="rect">
            <a:avLst/>
          </a:prstGeom>
          <a:noFill/>
        </p:spPr>
        <p:txBody>
          <a:bodyPr wrap="none" lIns="0" tIns="0" rIns="0" bIns="0">
            <a:spAutoFit/>
          </a:bodyPr>
          <a:lstStyle/>
          <a:p>
            <a:r>
              <a:rPr sz="1100" b="0">
                <a:solidFill>
                  <a:srgbClr val="2E2E2E"/>
                </a:solidFill>
                <a:latin typeface="Calibri"/>
              </a:rPr>
              <a:t>▪ Lead country U.S.</a:t>
            </a:r>
          </a:p>
        </p:txBody>
      </p:sp>
      <p:pic>
        <p:nvPicPr>
          <p:cNvPr id="44" name="Picture 43" descr="lock.png"/>
          <p:cNvPicPr>
            <a:picLocks noChangeAspect="1"/>
          </p:cNvPicPr>
          <p:nvPr/>
        </p:nvPicPr>
        <p:blipFill>
          <a:blip r:embed="rId5"/>
          <a:stretch>
            <a:fillRect/>
          </a:stretch>
        </p:blipFill>
        <p:spPr>
          <a:xfrm>
            <a:off x="7405655" y="2044192"/>
            <a:ext cx="128699" cy="187198"/>
          </a:xfrm>
          <a:prstGeom prst="rect">
            <a:avLst/>
          </a:prstGeom>
        </p:spPr>
      </p:pic>
      <p:sp>
        <p:nvSpPr>
          <p:cNvPr id="45" name="TextBox 44"/>
          <p:cNvSpPr txBox="1"/>
          <p:nvPr/>
        </p:nvSpPr>
        <p:spPr>
          <a:xfrm>
            <a:off x="7573151" y="2053970"/>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tIns="0" r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49" name="TextBox 48"/>
          <p:cNvSpPr txBox="1"/>
          <p:nvPr/>
        </p:nvSpPr>
        <p:spPr>
          <a:xfrm>
            <a:off x="276225" y="3314700"/>
            <a:ext cx="4812357" cy="186689"/>
          </a:xfrm>
          <a:prstGeom prst="rect">
            <a:avLst/>
          </a:prstGeom>
          <a:noFill/>
        </p:spPr>
        <p:txBody>
          <a:bodyPr wrap="none" lIns="0" tIns="0" rIns="0" bIns="0">
            <a:spAutoFit/>
          </a:bodyPr>
          <a:lstStyle/>
          <a:p>
            <a:r>
              <a:rPr sz="1100" b="0">
                <a:solidFill>
                  <a:srgbClr val="2E2E2E"/>
                </a:solidFill>
                <a:latin typeface="Calibri"/>
              </a:rPr>
              <a:t>▪ Investment is flowing toward the fastest-growing tier 'Flat Dividers &amp; Layer Pads' (</a:t>
            </a:r>
          </a:p>
        </p:txBody>
      </p:sp>
      <p:pic>
        <p:nvPicPr>
          <p:cNvPr id="50" name="Picture 49" descr="lock.png"/>
          <p:cNvPicPr>
            <a:picLocks noChangeAspect="1"/>
          </p:cNvPicPr>
          <p:nvPr/>
        </p:nvPicPr>
        <p:blipFill>
          <a:blip r:embed="rId5"/>
          <a:stretch>
            <a:fillRect/>
          </a:stretch>
        </p:blipFill>
        <p:spPr>
          <a:xfrm>
            <a:off x="5036634" y="3304921"/>
            <a:ext cx="128699" cy="187198"/>
          </a:xfrm>
          <a:prstGeom prst="rect">
            <a:avLst/>
          </a:prstGeom>
        </p:spPr>
      </p:pic>
      <p:sp>
        <p:nvSpPr>
          <p:cNvPr id="51" name="TextBox 50"/>
          <p:cNvSpPr txBox="1"/>
          <p:nvPr/>
        </p:nvSpPr>
        <p:spPr>
          <a:xfrm>
            <a:off x="5204129" y="3314700"/>
            <a:ext cx="153689" cy="186689"/>
          </a:xfrm>
          <a:prstGeom prst="rect">
            <a:avLst/>
          </a:prstGeom>
          <a:noFill/>
        </p:spPr>
        <p:txBody>
          <a:bodyPr wrap="none" lIns="0" tIns="0" rIns="0" bIns="0">
            <a:spAutoFit/>
          </a:bodyPr>
          <a:lstStyle/>
          <a:p>
            <a:r>
              <a:rPr sz="1100" b="0">
                <a:solidFill>
                  <a:srgbClr val="2E2E2E"/>
                </a:solidFill>
                <a:latin typeface="Calibri"/>
              </a:rPr>
              <a:t>).</a:t>
            </a:r>
          </a:p>
        </p:txBody>
      </p:sp>
      <p:sp>
        <p:nvSpPr>
          <p:cNvPr id="52" name="TextBox 51"/>
          <p:cNvSpPr txBox="1"/>
          <p:nvPr/>
        </p:nvSpPr>
        <p:spPr>
          <a:xfrm>
            <a:off x="276225" y="3532632"/>
            <a:ext cx="653008" cy="186689"/>
          </a:xfrm>
          <a:prstGeom prst="rect">
            <a:avLst/>
          </a:prstGeom>
          <a:noFill/>
        </p:spPr>
        <p:txBody>
          <a:bodyPr wrap="none" lIns="0" tIns="0" rIns="0" bIns="0">
            <a:spAutoFit/>
          </a:bodyPr>
          <a:lstStyle/>
          <a:p>
            <a:r>
              <a:rPr sz="1100" b="0">
                <a:solidFill>
                  <a:srgbClr val="2E2E2E"/>
                </a:solidFill>
                <a:latin typeface="Calibri"/>
              </a:rPr>
              <a:t>▪ Canada (</a:t>
            </a:r>
          </a:p>
        </p:txBody>
      </p:sp>
      <p:pic>
        <p:nvPicPr>
          <p:cNvPr id="53" name="Picture 52" descr="lock.png"/>
          <p:cNvPicPr>
            <a:picLocks noChangeAspect="1"/>
          </p:cNvPicPr>
          <p:nvPr/>
        </p:nvPicPr>
        <p:blipFill>
          <a:blip r:embed="rId5"/>
          <a:stretch>
            <a:fillRect/>
          </a:stretch>
        </p:blipFill>
        <p:spPr>
          <a:xfrm>
            <a:off x="877284" y="3522853"/>
            <a:ext cx="128699" cy="187198"/>
          </a:xfrm>
          <a:prstGeom prst="rect">
            <a:avLst/>
          </a:prstGeom>
        </p:spPr>
      </p:pic>
      <p:sp>
        <p:nvSpPr>
          <p:cNvPr id="54" name="TextBox 53"/>
          <p:cNvSpPr txBox="1"/>
          <p:nvPr/>
        </p:nvSpPr>
        <p:spPr>
          <a:xfrm>
            <a:off x="1044780" y="3532632"/>
            <a:ext cx="2262832" cy="186689"/>
          </a:xfrm>
          <a:prstGeom prst="rect">
            <a:avLst/>
          </a:prstGeom>
          <a:noFill/>
        </p:spPr>
        <p:txBody>
          <a:bodyPr wrap="none" lIns="0" tIns="0" rIns="0" bIns="0">
            <a:spAutoFit/>
          </a:bodyPr>
          <a:lstStyle/>
          <a:p>
            <a:r>
              <a:rPr sz="1100" b="0">
                <a:solidFill>
                  <a:srgbClr val="2E2E2E"/>
                </a:solidFill>
                <a:latin typeface="Calibri"/>
              </a:rPr>
              <a:t>) is a priority country for new capacity.</a:t>
            </a:r>
          </a:p>
        </p:txBody>
      </p:sp>
      <p:sp>
        <p:nvSpPr>
          <p:cNvPr id="55" name="TextBox 54"/>
          <p:cNvSpPr txBox="1"/>
          <p:nvPr/>
        </p:nvSpPr>
        <p:spPr>
          <a:xfrm>
            <a:off x="276225" y="3750564"/>
            <a:ext cx="3391073" cy="186689"/>
          </a:xfrm>
          <a:prstGeom prst="rect">
            <a:avLst/>
          </a:prstGeom>
          <a:noFill/>
        </p:spPr>
        <p:txBody>
          <a:bodyPr wrap="none" lIns="0" tIns="0" rIns="0" bIns="0">
            <a:spAutoFit/>
          </a:bodyPr>
          <a:lstStyle/>
          <a:p>
            <a:r>
              <a:rPr sz="1100" b="0">
                <a:solidFill>
                  <a:srgbClr val="2E2E2E"/>
                </a:solidFill>
                <a:latin typeface="Calibri"/>
              </a:rPr>
              <a:t>▪ Scale players anchor around 'Flat Dividers &amp; Layer Pads' (</a:t>
            </a:r>
          </a:p>
        </p:txBody>
      </p:sp>
      <p:pic>
        <p:nvPicPr>
          <p:cNvPr id="56" name="Picture 55" descr="lock.png"/>
          <p:cNvPicPr>
            <a:picLocks noChangeAspect="1"/>
          </p:cNvPicPr>
          <p:nvPr/>
        </p:nvPicPr>
        <p:blipFill>
          <a:blip r:embed="rId5"/>
          <a:stretch>
            <a:fillRect/>
          </a:stretch>
        </p:blipFill>
        <p:spPr>
          <a:xfrm>
            <a:off x="3615350" y="3740785"/>
            <a:ext cx="128699" cy="187198"/>
          </a:xfrm>
          <a:prstGeom prst="rect">
            <a:avLst/>
          </a:prstGeom>
        </p:spPr>
      </p:pic>
      <p:sp>
        <p:nvSpPr>
          <p:cNvPr id="57" name="TextBox 56"/>
          <p:cNvSpPr txBox="1"/>
          <p:nvPr/>
        </p:nvSpPr>
        <p:spPr>
          <a:xfrm>
            <a:off x="3782846" y="3750564"/>
            <a:ext cx="466923" cy="186689"/>
          </a:xfrm>
          <a:prstGeom prst="rect">
            <a:avLst/>
          </a:prstGeom>
          <a:noFill/>
        </p:spPr>
        <p:txBody>
          <a:bodyPr wrap="none" lIns="0" tIns="0" rIns="0" bIns="0">
            <a:spAutoFit/>
          </a:bodyPr>
          <a:lstStyle/>
          <a:p>
            <a:r>
              <a:rPr sz="1100" b="0">
                <a:solidFill>
                  <a:srgbClr val="2E2E2E"/>
                </a:solidFill>
                <a:latin typeface="Calibri"/>
              </a:rPr>
              <a:t>share).</a:t>
            </a:r>
          </a:p>
        </p:txBody>
      </p:sp>
      <p:sp>
        <p:nvSpPr>
          <p:cNvPr id="58" name="TextBox 57"/>
          <p:cNvSpPr txBox="1"/>
          <p:nvPr/>
        </p:nvSpPr>
        <p:spPr>
          <a:xfrm>
            <a:off x="6305550" y="3314700"/>
            <a:ext cx="5209083" cy="186689"/>
          </a:xfrm>
          <a:prstGeom prst="rect">
            <a:avLst/>
          </a:prstGeom>
          <a:noFill/>
        </p:spPr>
        <p:txBody>
          <a:bodyPr wrap="none" lIns="0" tIns="0" rIns="0" bIns="0">
            <a:spAutoFit/>
          </a:bodyPr>
          <a:lstStyle/>
          <a:p>
            <a:r>
              <a:rPr sz="1100" b="0">
                <a:solidFill>
                  <a:srgbClr val="2E2E2E"/>
                </a:solidFill>
                <a:latin typeface="Calibri"/>
              </a:rPr>
              <a:t>▪ R&amp;D aligns with the migration to 'Flat Dividers &amp; Layer Pads' and adjacent premium tiers.</a:t>
            </a:r>
          </a:p>
        </p:txBody>
      </p:sp>
      <p:sp>
        <p:nvSpPr>
          <p:cNvPr id="59" name="TextBox 58"/>
          <p:cNvSpPr txBox="1"/>
          <p:nvPr/>
        </p:nvSpPr>
        <p:spPr>
          <a:xfrm>
            <a:off x="6305550" y="3532632"/>
            <a:ext cx="4451920" cy="186689"/>
          </a:xfrm>
          <a:prstGeom prst="rect">
            <a:avLst/>
          </a:prstGeom>
          <a:noFill/>
        </p:spPr>
        <p:txBody>
          <a:bodyPr wrap="none" lIns="0" tIns="0" rIns="0" bIns="0">
            <a:spAutoFit/>
          </a:bodyPr>
          <a:lstStyle/>
          <a:p>
            <a:r>
              <a:rPr sz="1100" b="0">
                <a:solidFill>
                  <a:srgbClr val="2E2E2E"/>
                </a:solidFill>
                <a:latin typeface="Calibri"/>
              </a:rPr>
              <a:t>▪ Development spend targets partition type categories gaining share to 2036.</a:t>
            </a:r>
          </a:p>
        </p:txBody>
      </p:sp>
      <p:sp>
        <p:nvSpPr>
          <p:cNvPr id="60" name="TextBox 59"/>
          <p:cNvSpPr txBox="1"/>
          <p:nvPr/>
        </p:nvSpPr>
        <p:spPr>
          <a:xfrm>
            <a:off x="6305550" y="3750564"/>
            <a:ext cx="1594346" cy="186689"/>
          </a:xfrm>
          <a:prstGeom prst="rect">
            <a:avLst/>
          </a:prstGeom>
          <a:noFill/>
        </p:spPr>
        <p:txBody>
          <a:bodyPr wrap="none" lIns="0" tIns="0" rIns="0" bIns="0">
            <a:spAutoFit/>
          </a:bodyPr>
          <a:lstStyle/>
          <a:p>
            <a:r>
              <a:rPr sz="110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847947" y="3740785"/>
            <a:ext cx="128699" cy="187198"/>
          </a:xfrm>
          <a:prstGeom prst="rect">
            <a:avLst/>
          </a:prstGeom>
        </p:spPr>
      </p:pic>
      <p:sp>
        <p:nvSpPr>
          <p:cNvPr id="62" name="TextBox 61"/>
          <p:cNvSpPr txBox="1"/>
          <p:nvPr/>
        </p:nvSpPr>
        <p:spPr>
          <a:xfrm>
            <a:off x="8015443" y="3750564"/>
            <a:ext cx="924478" cy="186689"/>
          </a:xfrm>
          <a:prstGeom prst="rect">
            <a:avLst/>
          </a:prstGeom>
          <a:noFill/>
        </p:spPr>
        <p:txBody>
          <a:bodyPr wrap="none" lIns="0" tIns="0" rIns="0" bIns="0">
            <a:spAutoFit/>
          </a:bodyPr>
          <a:lstStyle/>
          <a:p>
            <a:r>
              <a:rPr sz="110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76225" y="1066800"/>
            <a:ext cx="5610225" cy="209550"/>
          </a:xfrm>
          <a:prstGeom prst="rect">
            <a:avLst/>
          </a:prstGeom>
          <a:noFill/>
        </p:spPr>
        <p:txBody>
          <a:bodyPr wrap="square" lIns="0" tIns="9525" rIns="19050"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76225" y="1390650"/>
            <a:ext cx="5610225" cy="1200150"/>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305550" y="1066800"/>
            <a:ext cx="5610225" cy="209550"/>
          </a:xfrm>
          <a:prstGeom prst="rect">
            <a:avLst/>
          </a:prstGeom>
          <a:noFill/>
        </p:spPr>
        <p:txBody>
          <a:bodyPr wrap="square" lIns="0" tIns="9525" rIns="19050"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6305550" y="1390650"/>
            <a:ext cx="5610225" cy="1200150"/>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'Flat Dividers &amp; Layer Pads' tier and Electronics &amp; Electrical within end use.</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76225" y="2886075"/>
            <a:ext cx="5610225" cy="209550"/>
          </a:xfrm>
          <a:prstGeom prst="rect">
            <a:avLst/>
          </a:prstGeom>
          <a:noFill/>
        </p:spPr>
        <p:txBody>
          <a:bodyPr wrap="square" lIns="0" tIns="9525" rIns="19050"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76225" y="3209925"/>
            <a:ext cx="5610225" cy="1200150"/>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05550" y="2886075"/>
            <a:ext cx="5610225" cy="209550"/>
          </a:xfrm>
          <a:prstGeom prst="rect">
            <a:avLst/>
          </a:prstGeom>
          <a:noFill/>
        </p:spPr>
        <p:txBody>
          <a:bodyPr wrap="square" lIns="0" tIns="9525" rIns="19050" bIns="9525">
            <a:spAutoFit/>
          </a:bodyPr>
          <a:lstStyle/>
          <a:p>
            <a:pPr algn="l"/>
            <a:r>
              <a:rPr sz="1300" b="1">
                <a:solidFill>
                  <a:srgbClr val="0B2E4A"/>
                </a:solidFill>
                <a:latin typeface="Calibri"/>
              </a:rPr>
              <a:t>Market Country</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6305550" y="3209925"/>
            <a:ext cx="5610225" cy="1200150"/>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276225" y="4705350"/>
            <a:ext cx="11639550" cy="209550"/>
          </a:xfrm>
          <a:prstGeom prst="rect">
            <a:avLst/>
          </a:prstGeom>
          <a:noFill/>
        </p:spPr>
        <p:txBody>
          <a:bodyPr wrap="square" lIns="0" tIns="9525" rIns="19050"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276225" y="5029200"/>
            <a:ext cx="11639550" cy="15144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0" name="TextBox 2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456659" cy="194310"/>
          </a:xfrm>
          <a:prstGeom prst="rect">
            <a:avLst/>
          </a:prstGeom>
          <a:noFill/>
        </p:spPr>
        <p:txBody>
          <a:bodyPr wrap="none" lIns="0" tIns="0" rIns="0" bIns="0">
            <a:spAutoFit/>
          </a:bodyPr>
          <a:lstStyle/>
          <a:p>
            <a:r>
              <a:rPr sz="1150" b="0">
                <a:solidFill>
                  <a:srgbClr val="2E2E2E"/>
                </a:solidFill>
                <a:latin typeface="Calibri"/>
              </a:rPr>
              <a:t>▪ Balance scale in 'Flat Dividers &amp; Layer Pads' with targeted growth in 'Flat Dividers &amp; Layer</a:t>
            </a:r>
          </a:p>
        </p:txBody>
      </p:sp>
      <p:sp>
        <p:nvSpPr>
          <p:cNvPr id="32" name="TextBox 31"/>
          <p:cNvSpPr txBox="1"/>
          <p:nvPr/>
        </p:nvSpPr>
        <p:spPr>
          <a:xfrm>
            <a:off x="276225" y="1575435"/>
            <a:ext cx="1206375" cy="194310"/>
          </a:xfrm>
          <a:prstGeom prst="rect">
            <a:avLst/>
          </a:prstGeom>
          <a:noFill/>
        </p:spPr>
        <p:txBody>
          <a:bodyPr wrap="none" lIns="0" tIns="0" rIns="0" bIns="0">
            <a:spAutoFit/>
          </a:bodyPr>
          <a:lstStyle/>
          <a:p>
            <a:r>
              <a:rPr sz="1150" b="0">
                <a:solidFill>
                  <a:srgbClr val="2E2E2E"/>
                </a:solidFill>
                <a:latin typeface="Calibri"/>
              </a:rPr>
              <a:t>Pads', pursuing the</a:t>
            </a:r>
          </a:p>
        </p:txBody>
      </p:sp>
      <p:pic>
        <p:nvPicPr>
          <p:cNvPr id="33" name="Picture 32" descr="lock.png"/>
          <p:cNvPicPr>
            <a:picLocks noChangeAspect="1"/>
          </p:cNvPicPr>
          <p:nvPr/>
        </p:nvPicPr>
        <p:blipFill>
          <a:blip r:embed="rId4"/>
          <a:stretch>
            <a:fillRect/>
          </a:stretch>
        </p:blipFill>
        <p:spPr>
          <a:xfrm>
            <a:off x="1431754" y="1565211"/>
            <a:ext cx="134549" cy="195707"/>
          </a:xfrm>
          <a:prstGeom prst="rect">
            <a:avLst/>
          </a:prstGeom>
        </p:spPr>
      </p:pic>
      <p:sp>
        <p:nvSpPr>
          <p:cNvPr id="34" name="TextBox 33"/>
          <p:cNvSpPr txBox="1"/>
          <p:nvPr/>
        </p:nvSpPr>
        <p:spPr>
          <a:xfrm>
            <a:off x="1606864" y="1575435"/>
            <a:ext cx="1551800" cy="194310"/>
          </a:xfrm>
          <a:prstGeom prst="rect">
            <a:avLst/>
          </a:prstGeom>
          <a:noFill/>
        </p:spPr>
        <p:txBody>
          <a:bodyPr wrap="none" lIns="0" tIns="0" rIns="0" bIns="0">
            <a:spAutoFit/>
          </a:bodyPr>
          <a:lstStyle/>
          <a:p>
            <a:r>
              <a:rPr sz="1150" b="0">
                <a:solidFill>
                  <a:srgbClr val="2E2E2E"/>
                </a:solidFill>
                <a:latin typeface="Calibri"/>
              </a:rPr>
              <a:t>CAGR trajectory to 2036.</a:t>
            </a:r>
          </a:p>
        </p:txBody>
      </p:sp>
      <p:sp>
        <p:nvSpPr>
          <p:cNvPr id="35" name="TextBox 34"/>
          <p:cNvSpPr txBox="1"/>
          <p:nvPr/>
        </p:nvSpPr>
        <p:spPr>
          <a:xfrm>
            <a:off x="276225" y="3219450"/>
            <a:ext cx="2403016" cy="194310"/>
          </a:xfrm>
          <a:prstGeom prst="rect">
            <a:avLst/>
          </a:prstGeom>
          <a:noFill/>
        </p:spPr>
        <p:txBody>
          <a:bodyPr wrap="none" lIns="0" tIns="0" rIns="0" bIns="0">
            <a:spAutoFit/>
          </a:bodyPr>
          <a:lstStyle/>
          <a:p>
            <a:r>
              <a:rPr sz="1150" b="0">
                <a:solidFill>
                  <a:srgbClr val="2E2E2E"/>
                </a:solidFill>
                <a:latin typeface="Calibri"/>
              </a:rPr>
              <a:t>▪ Prioritise 'Flat Dividers &amp; Layer Pads' (</a:t>
            </a:r>
          </a:p>
        </p:txBody>
      </p:sp>
      <p:pic>
        <p:nvPicPr>
          <p:cNvPr id="36" name="Picture 35" descr="lock.png"/>
          <p:cNvPicPr>
            <a:picLocks noChangeAspect="1"/>
          </p:cNvPicPr>
          <p:nvPr/>
        </p:nvPicPr>
        <p:blipFill>
          <a:blip r:embed="rId4"/>
          <a:stretch>
            <a:fillRect/>
          </a:stretch>
        </p:blipFill>
        <p:spPr>
          <a:xfrm>
            <a:off x="2628395" y="3209226"/>
            <a:ext cx="134549" cy="195707"/>
          </a:xfrm>
          <a:prstGeom prst="rect">
            <a:avLst/>
          </a:prstGeom>
        </p:spPr>
      </p:pic>
      <p:sp>
        <p:nvSpPr>
          <p:cNvPr id="37" name="TextBox 36"/>
          <p:cNvSpPr txBox="1"/>
          <p:nvPr/>
        </p:nvSpPr>
        <p:spPr>
          <a:xfrm>
            <a:off x="2803504" y="3219450"/>
            <a:ext cx="2293193" cy="194310"/>
          </a:xfrm>
          <a:prstGeom prst="rect">
            <a:avLst/>
          </a:prstGeom>
          <a:noFill/>
        </p:spPr>
        <p:txBody>
          <a:bodyPr wrap="none" lIns="0" tIns="0" rIns="0" bIns="0">
            <a:spAutoFit/>
          </a:bodyPr>
          <a:lstStyle/>
          <a:p>
            <a:r>
              <a:rPr sz="1150" b="0">
                <a:solidFill>
                  <a:srgbClr val="2E2E2E"/>
                </a:solidFill>
                <a:latin typeface="Calibri"/>
              </a:rPr>
              <a:t>); 'Flat Dividers &amp; Layer Pads' anchors</a:t>
            </a:r>
          </a:p>
        </p:txBody>
      </p:sp>
      <p:pic>
        <p:nvPicPr>
          <p:cNvPr id="38" name="Picture 37" descr="lock.png"/>
          <p:cNvPicPr>
            <a:picLocks noChangeAspect="1"/>
          </p:cNvPicPr>
          <p:nvPr/>
        </p:nvPicPr>
        <p:blipFill>
          <a:blip r:embed="rId4"/>
          <a:stretch>
            <a:fillRect/>
          </a:stretch>
        </p:blipFill>
        <p:spPr>
          <a:xfrm>
            <a:off x="5045851" y="3209226"/>
            <a:ext cx="134549" cy="195707"/>
          </a:xfrm>
          <a:prstGeom prst="rect">
            <a:avLst/>
          </a:prstGeom>
        </p:spPr>
      </p:pic>
      <p:sp>
        <p:nvSpPr>
          <p:cNvPr id="39" name="TextBox 38"/>
          <p:cNvSpPr txBox="1"/>
          <p:nvPr/>
        </p:nvSpPr>
        <p:spPr>
          <a:xfrm>
            <a:off x="5220960" y="3219450"/>
            <a:ext cx="197718" cy="194310"/>
          </a:xfrm>
          <a:prstGeom prst="rect">
            <a:avLst/>
          </a:prstGeom>
          <a:noFill/>
        </p:spPr>
        <p:txBody>
          <a:bodyPr wrap="none" lIns="0" tIns="0" rIns="0" bIns="0">
            <a:spAutoFit/>
          </a:bodyPr>
          <a:lstStyle/>
          <a:p>
            <a:r>
              <a:rPr sz="1150" b="0">
                <a:solidFill>
                  <a:srgbClr val="2E2E2E"/>
                </a:solidFill>
                <a:latin typeface="Calibri"/>
              </a:rPr>
              <a:t>of</a:t>
            </a:r>
          </a:p>
        </p:txBody>
      </p:sp>
      <p:sp>
        <p:nvSpPr>
          <p:cNvPr id="40" name="TextBox 39"/>
          <p:cNvSpPr txBox="1"/>
          <p:nvPr/>
        </p:nvSpPr>
        <p:spPr>
          <a:xfrm>
            <a:off x="276225" y="3394710"/>
            <a:ext cx="431911" cy="194310"/>
          </a:xfrm>
          <a:prstGeom prst="rect">
            <a:avLst/>
          </a:prstGeom>
          <a:noFill/>
        </p:spPr>
        <p:txBody>
          <a:bodyPr wrap="none" lIns="0" tIns="0" rIns="0" bIns="0">
            <a:spAutoFit/>
          </a:bodyPr>
          <a:lstStyle/>
          <a:p>
            <a:r>
              <a:rPr sz="1150" b="0">
                <a:solidFill>
                  <a:srgbClr val="2E2E2E"/>
                </a:solidFill>
                <a:latin typeface="Calibri"/>
              </a:rPr>
              <a:t>value.</a:t>
            </a:r>
          </a:p>
        </p:txBody>
      </p:sp>
      <p:sp>
        <p:nvSpPr>
          <p:cNvPr id="41" name="TextBox 40"/>
          <p:cNvSpPr txBox="1"/>
          <p:nvPr/>
        </p:nvSpPr>
        <p:spPr>
          <a:xfrm>
            <a:off x="6305550" y="3219450"/>
            <a:ext cx="1083431" cy="194310"/>
          </a:xfrm>
          <a:prstGeom prst="rect">
            <a:avLst/>
          </a:prstGeom>
          <a:noFill/>
        </p:spPr>
        <p:txBody>
          <a:bodyPr wrap="none" lIns="0" tIns="0" rIns="0" bIns="0">
            <a:spAutoFit/>
          </a:bodyPr>
          <a:lstStyle/>
          <a:p>
            <a:r>
              <a:rPr sz="1150" b="0">
                <a:solidFill>
                  <a:srgbClr val="2E2E2E"/>
                </a:solidFill>
                <a:latin typeface="Calibri"/>
              </a:rPr>
              <a:t>▪ Lead with U.S. (</a:t>
            </a:r>
          </a:p>
        </p:txBody>
      </p:sp>
      <p:pic>
        <p:nvPicPr>
          <p:cNvPr id="42" name="Picture 41" descr="lock.png"/>
          <p:cNvPicPr>
            <a:picLocks noChangeAspect="1"/>
          </p:cNvPicPr>
          <p:nvPr/>
        </p:nvPicPr>
        <p:blipFill>
          <a:blip r:embed="rId4"/>
          <a:stretch>
            <a:fillRect/>
          </a:stretch>
        </p:blipFill>
        <p:spPr>
          <a:xfrm>
            <a:off x="7338135" y="3209226"/>
            <a:ext cx="134549" cy="195707"/>
          </a:xfrm>
          <a:prstGeom prst="rect">
            <a:avLst/>
          </a:prstGeom>
        </p:spPr>
      </p:pic>
      <p:sp>
        <p:nvSpPr>
          <p:cNvPr id="43" name="TextBox 42"/>
          <p:cNvSpPr txBox="1"/>
          <p:nvPr/>
        </p:nvSpPr>
        <p:spPr>
          <a:xfrm>
            <a:off x="7513244" y="3219450"/>
            <a:ext cx="1772319" cy="194310"/>
          </a:xfrm>
          <a:prstGeom prst="rect">
            <a:avLst/>
          </a:prstGeom>
          <a:noFill/>
        </p:spPr>
        <p:txBody>
          <a:bodyPr wrap="none" lIns="0" tIns="0" rIns="0" bIns="0">
            <a:spAutoFit/>
          </a:bodyPr>
          <a:lstStyle/>
          <a:p>
            <a:r>
              <a:rPr sz="1150" b="0">
                <a:solidFill>
                  <a:srgbClr val="2E2E2E"/>
                </a:solidFill>
                <a:latin typeface="Calibri"/>
              </a:rPr>
              <a:t>); capture upside in Canada (</a:t>
            </a:r>
          </a:p>
        </p:txBody>
      </p:sp>
      <p:pic>
        <p:nvPicPr>
          <p:cNvPr id="44" name="Picture 43" descr="lock.png"/>
          <p:cNvPicPr>
            <a:picLocks noChangeAspect="1"/>
          </p:cNvPicPr>
          <p:nvPr/>
        </p:nvPicPr>
        <p:blipFill>
          <a:blip r:embed="rId4"/>
          <a:stretch>
            <a:fillRect/>
          </a:stretch>
        </p:blipFill>
        <p:spPr>
          <a:xfrm>
            <a:off x="9234718" y="3209226"/>
            <a:ext cx="134549" cy="195707"/>
          </a:xfrm>
          <a:prstGeom prst="rect">
            <a:avLst/>
          </a:prstGeom>
        </p:spPr>
      </p:pic>
      <p:sp>
        <p:nvSpPr>
          <p:cNvPr id="45" name="TextBox 44"/>
          <p:cNvSpPr txBox="1"/>
          <p:nvPr/>
        </p:nvSpPr>
        <p:spPr>
          <a:xfrm>
            <a:off x="9409827" y="3219450"/>
            <a:ext cx="157212" cy="194310"/>
          </a:xfrm>
          <a:prstGeom prst="rect">
            <a:avLst/>
          </a:prstGeom>
          <a:noFill/>
        </p:spPr>
        <p:txBody>
          <a:bodyPr wrap="none" lIns="0" tIns="0" rIns="0" bIns="0">
            <a:spAutoFit/>
          </a:bodyPr>
          <a:lstStyle/>
          <a:p>
            <a:r>
              <a:rPr sz="1150" b="0">
                <a:solidFill>
                  <a:srgbClr val="2E2E2E"/>
                </a:solidFill>
                <a:latin typeface="Calibri"/>
              </a:rPr>
              <a:t>).</a:t>
            </a:r>
          </a:p>
        </p:txBody>
      </p:sp>
      <p:sp>
        <p:nvSpPr>
          <p:cNvPr id="46" name="TextBox 45"/>
          <p:cNvSpPr txBox="1"/>
          <p:nvPr/>
        </p:nvSpPr>
        <p:spPr>
          <a:xfrm>
            <a:off x="276225" y="5038725"/>
            <a:ext cx="1694160" cy="194310"/>
          </a:xfrm>
          <a:prstGeom prst="rect">
            <a:avLst/>
          </a:prstGeom>
          <a:noFill/>
        </p:spPr>
        <p:txBody>
          <a:bodyPr wrap="none" lIns="0" tIns="0" rIns="0" bIns="0">
            <a:spAutoFit/>
          </a:bodyPr>
          <a:lstStyle/>
          <a:p>
            <a:r>
              <a:rPr sz="1150" b="0">
                <a:solidFill>
                  <a:srgbClr val="2E2E2E"/>
                </a:solidFill>
                <a:latin typeface="Calibri"/>
              </a:rPr>
              <a:t>▪ Corrugated Partition adds</a:t>
            </a:r>
          </a:p>
        </p:txBody>
      </p:sp>
      <p:pic>
        <p:nvPicPr>
          <p:cNvPr id="47" name="Picture 46" descr="lock.png"/>
          <p:cNvPicPr>
            <a:picLocks noChangeAspect="1"/>
          </p:cNvPicPr>
          <p:nvPr/>
        </p:nvPicPr>
        <p:blipFill>
          <a:blip r:embed="rId4"/>
          <a:stretch>
            <a:fillRect/>
          </a:stretch>
        </p:blipFill>
        <p:spPr>
          <a:xfrm>
            <a:off x="1919539" y="5028501"/>
            <a:ext cx="134549" cy="195707"/>
          </a:xfrm>
          <a:prstGeom prst="rect">
            <a:avLst/>
          </a:prstGeom>
        </p:spPr>
      </p:pic>
      <p:sp>
        <p:nvSpPr>
          <p:cNvPr id="48" name="TextBox 47"/>
          <p:cNvSpPr txBox="1"/>
          <p:nvPr/>
        </p:nvSpPr>
        <p:spPr>
          <a:xfrm>
            <a:off x="2094648" y="5038725"/>
            <a:ext cx="1815107" cy="194310"/>
          </a:xfrm>
          <a:prstGeom prst="rect">
            <a:avLst/>
          </a:prstGeom>
          <a:noFill/>
        </p:spPr>
        <p:txBody>
          <a:bodyPr wrap="none" lIns="0" tIns="0" rIns="0" bIns="0">
            <a:spAutoFit/>
          </a:bodyPr>
          <a:lstStyle/>
          <a:p>
            <a:r>
              <a:rPr sz="1150" b="0">
                <a:solidFill>
                  <a:srgbClr val="2E2E2E"/>
                </a:solidFill>
                <a:latin typeface="Calibri"/>
              </a:rPr>
              <a:t>US$ Mn of demand to 2036 a</a:t>
            </a:r>
          </a:p>
        </p:txBody>
      </p:sp>
      <p:pic>
        <p:nvPicPr>
          <p:cNvPr id="49" name="Picture 48" descr="lock.png"/>
          <p:cNvPicPr>
            <a:picLocks noChangeAspect="1"/>
          </p:cNvPicPr>
          <p:nvPr/>
        </p:nvPicPr>
        <p:blipFill>
          <a:blip r:embed="rId4"/>
          <a:stretch>
            <a:fillRect/>
          </a:stretch>
        </p:blipFill>
        <p:spPr>
          <a:xfrm>
            <a:off x="3858910" y="5028501"/>
            <a:ext cx="134549" cy="195707"/>
          </a:xfrm>
          <a:prstGeom prst="rect">
            <a:avLst/>
          </a:prstGeom>
        </p:spPr>
      </p:pic>
      <p:sp>
        <p:nvSpPr>
          <p:cNvPr id="50" name="TextBox 49"/>
          <p:cNvSpPr txBox="1"/>
          <p:nvPr/>
        </p:nvSpPr>
        <p:spPr>
          <a:xfrm>
            <a:off x="4034019" y="5038725"/>
            <a:ext cx="822709" cy="194310"/>
          </a:xfrm>
          <a:prstGeom prst="rect">
            <a:avLst/>
          </a:prstGeom>
          <a:noFill/>
        </p:spPr>
        <p:txBody>
          <a:bodyPr wrap="none" lIns="0" tIns="0" rIns="0" bIns="0">
            <a:spAutoFit/>
          </a:bodyPr>
          <a:lstStyle/>
          <a:p>
            <a:r>
              <a:rPr sz="1150" b="0">
                <a:solidFill>
                  <a:srgbClr val="2E2E2E"/>
                </a:solidFill>
                <a:latin typeface="Calibri"/>
              </a:rPr>
              <a:t>× expansion.</a:t>
            </a:r>
          </a:p>
        </p:txBody>
      </p:sp>
      <p:sp>
        <p:nvSpPr>
          <p:cNvPr id="51" name="TextBox 50"/>
          <p:cNvSpPr txBox="1"/>
          <p:nvPr/>
        </p:nvSpPr>
        <p:spPr>
          <a:xfrm>
            <a:off x="276225" y="5266563"/>
            <a:ext cx="6344369" cy="194310"/>
          </a:xfrm>
          <a:prstGeom prst="rect">
            <a:avLst/>
          </a:prstGeom>
          <a:noFill/>
        </p:spPr>
        <p:txBody>
          <a:bodyPr wrap="none" lIns="0" tIns="0" rIns="0" bIns="0">
            <a:spAutoFit/>
          </a:bodyPr>
          <a:lstStyle/>
          <a:p>
            <a:r>
              <a:rPr sz="1150" b="0">
                <a:solidFill>
                  <a:srgbClr val="2E2E2E"/>
                </a:solidFill>
                <a:latin typeface="Calibri"/>
              </a:rPr>
              <a:t>▪ Concentrate resources on the leading segment/country while seeding the fastest-growing pockets early.</a:t>
            </a:r>
          </a:p>
        </p:txBody>
      </p:sp>
      <p:sp>
        <p:nvSpPr>
          <p:cNvPr id="52" name="TextBox 51"/>
          <p:cNvSpPr txBox="1"/>
          <p:nvPr/>
        </p:nvSpPr>
        <p:spPr>
          <a:xfrm>
            <a:off x="276225" y="5494400"/>
            <a:ext cx="4894423" cy="194310"/>
          </a:xfrm>
          <a:prstGeom prst="rect">
            <a:avLst/>
          </a:prstGeom>
          <a:noFill/>
        </p:spPr>
        <p:txBody>
          <a:bodyPr wrap="none" lIns="0" tIns="0" rIns="0" bIns="0">
            <a:spAutoFit/>
          </a:bodyPr>
          <a:lstStyle/>
          <a:p>
            <a:r>
              <a:rPr sz="1150" b="0">
                <a:solidFill>
                  <a:srgbClr val="2E2E2E"/>
                </a:solidFill>
                <a:latin typeface="Calibri"/>
              </a:rPr>
              <a:t>▪ Defend share in 'Flat Dividers &amp; Layer Pads' as the value anchor of the portfolio.</a:t>
            </a: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a:p>
            <a:pPr algn="ctr">
              <a:lnSpc>
                <a:spcPct val="95000"/>
              </a:lnSpc>
            </a:pPr>
            <a:endParaRP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a:p>
            <a:pPr algn="ctr">
              <a:lnSpc>
                <a:spcPct val="95000"/>
              </a:lnSpc>
            </a:pPr>
            <a:endParaRP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a:p>
            <a:pPr algn="ctr">
              <a:lnSpc>
                <a:spcPct val="95000"/>
              </a:lnSpc>
            </a:pPr>
            <a:endParaRP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238125" y="18669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Corrugated Partition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26160"/>
            <a:ext cx="635826" cy="879140"/>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ectangle 16"/>
          <p:cNvSpPr/>
          <p:nvPr/>
        </p:nvSpPr>
        <p:spPr>
          <a:xfrm>
            <a:off x="3043936" y="3090056"/>
            <a:ext cx="635826" cy="1215244"/>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4025725" y="2954397"/>
            <a:ext cx="635826" cy="1350903"/>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0" name="Connector 19"/>
          <p:cNvCxnSpPr/>
          <p:nvPr/>
        </p:nvCxnSpPr>
        <p:spPr>
          <a:xfrm>
            <a:off x="1456468" y="2956706"/>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51931"/>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wrap="square" lIns="19050" tIns="0" rIns="19050" bIns="0" rtlCol="0" anchor="ctr"/>
          <a:lstStyle/>
          <a:p>
            <a:pPr algn="ctr"/>
            <a:endParaRPr/>
          </a:p>
        </p:txBody>
      </p:sp>
      <p:cxnSp>
        <p:nvCxnSpPr>
          <p:cNvPr id="22" name="Connector 21"/>
          <p:cNvCxnSpPr/>
          <p:nvPr/>
        </p:nvCxnSpPr>
        <p:spPr>
          <a:xfrm>
            <a:off x="1456468" y="2699531"/>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94756"/>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wrap="square" lIns="19050" tIns="0" rIns="19050" bIns="0" rtlCol="0" anchor="ctr"/>
          <a:lstStyle/>
          <a:p>
            <a:pPr algn="ctr"/>
            <a:endParaRPr/>
          </a:p>
        </p:txBody>
      </p:sp>
      <p:cxnSp>
        <p:nvCxnSpPr>
          <p:cNvPr id="24" name="Connector 23"/>
          <p:cNvCxnSpPr/>
          <p:nvPr/>
        </p:nvCxnSpPr>
        <p:spPr>
          <a:xfrm>
            <a:off x="1456468" y="2442356"/>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37581"/>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wrap="square" lIns="19050" tIns="0" rIns="19050" bIns="0" rtlCol="0" anchor="ctr"/>
          <a:lstStyle/>
          <a:p>
            <a:pPr algn="ctr"/>
            <a:endParaRPr/>
          </a:p>
        </p:txBody>
      </p:sp>
      <p:sp>
        <p:nvSpPr>
          <p:cNvPr id="26" name="TextBox 25"/>
          <p:cNvSpPr txBox="1"/>
          <p:nvPr/>
        </p:nvSpPr>
        <p:spPr>
          <a:xfrm>
            <a:off x="643255" y="4333875"/>
            <a:ext cx="762000" cy="180975"/>
          </a:xfrm>
          <a:prstGeom prst="rect">
            <a:avLst/>
          </a:prstGeom>
          <a:noFill/>
        </p:spPr>
        <p:txBody>
          <a:bodyPr wrap="square" lIns="28575" tIns="9525" rIns="2857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tIns="9525" rIns="2857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485775" y="4543425"/>
            <a:ext cx="1647825" cy="190500"/>
          </a:xfrm>
          <a:prstGeom prst="rect">
            <a:avLst/>
          </a:prstGeom>
          <a:noFill/>
        </p:spPr>
        <p:txBody>
          <a:bodyPr wrap="none" lIns="28575" tIns="9525" rIns="2857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381250" y="4543425"/>
            <a:ext cx="1647825" cy="190500"/>
          </a:xfrm>
          <a:prstGeom prst="rect">
            <a:avLst/>
          </a:prstGeom>
          <a:noFill/>
        </p:spPr>
        <p:txBody>
          <a:bodyPr wrap="none" lIns="28575" tIns="9525" rIns="2857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TextBox 32"/>
          <p:cNvSpPr txBox="1"/>
          <p:nvPr/>
        </p:nvSpPr>
        <p:spPr>
          <a:xfrm>
            <a:off x="4276725" y="4543425"/>
            <a:ext cx="1647825" cy="190500"/>
          </a:xfrm>
          <a:prstGeom prst="rect">
            <a:avLst/>
          </a:prstGeom>
          <a:noFill/>
        </p:spPr>
        <p:txBody>
          <a:bodyPr wrap="none" lIns="28575" tIns="9525" rIns="2857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6267450" y="18669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Corrugated Partition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xmlns:r="http://schemas.openxmlformats.org/officeDocument/2006/relationships" r:id="rId4"/>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276225" y="5038725"/>
            <a:ext cx="11639550" cy="209550"/>
          </a:xfrm>
          <a:prstGeom prst="rect">
            <a:avLst/>
          </a:prstGeom>
          <a:noFill/>
        </p:spPr>
        <p:txBody>
          <a:bodyPr wrap="square" lIns="0" tIns="9525" rIns="19050"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276225" y="5362575"/>
            <a:ext cx="11639550" cy="11906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1" name="TextBox 4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tIns="0" r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tIns="0" r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tIns="0" r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tIns="0" r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tIns="0" r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tIns="0" r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886297"/>
            <a:ext cx="382383" cy="159867"/>
          </a:xfrm>
          <a:prstGeom prst="rect">
            <a:avLst/>
          </a:prstGeom>
          <a:noFill/>
        </p:spPr>
        <p:txBody>
          <a:bodyPr wrap="none" lIns="0" tIns="0" r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78082"/>
            <a:ext cx="108107" cy="157246"/>
          </a:xfrm>
          <a:prstGeom prst="rect">
            <a:avLst/>
          </a:prstGeom>
        </p:spPr>
      </p:pic>
      <p:sp>
        <p:nvSpPr>
          <p:cNvPr id="56" name="TextBox 55"/>
          <p:cNvSpPr txBox="1"/>
          <p:nvPr/>
        </p:nvSpPr>
        <p:spPr>
          <a:xfrm>
            <a:off x="2032418" y="2629122"/>
            <a:ext cx="382383" cy="159867"/>
          </a:xfrm>
          <a:prstGeom prst="rect">
            <a:avLst/>
          </a:prstGeom>
          <a:noFill/>
        </p:spPr>
        <p:txBody>
          <a:bodyPr wrap="none" lIns="0" tIns="0" r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620907"/>
            <a:ext cx="108107" cy="157246"/>
          </a:xfrm>
          <a:prstGeom prst="rect">
            <a:avLst/>
          </a:prstGeom>
        </p:spPr>
      </p:pic>
      <p:sp>
        <p:nvSpPr>
          <p:cNvPr id="58" name="TextBox 57"/>
          <p:cNvSpPr txBox="1"/>
          <p:nvPr/>
        </p:nvSpPr>
        <p:spPr>
          <a:xfrm>
            <a:off x="2032418" y="2371947"/>
            <a:ext cx="382383" cy="159867"/>
          </a:xfrm>
          <a:prstGeom prst="rect">
            <a:avLst/>
          </a:prstGeom>
          <a:noFill/>
        </p:spPr>
        <p:txBody>
          <a:bodyPr wrap="none" lIns="0" tIns="0" r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363732"/>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tIns="0" r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tIns="0" r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tIns="0" r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tIns="0" r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tIns="0" r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tIns="0" r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tIns="0" r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tIns="0" rIns="0" bIns="0">
            <a:spAutoFit/>
          </a:bodyPr>
          <a:lstStyle/>
          <a:p>
            <a:r>
              <a:rPr sz="1150" b="0">
                <a:solidFill>
                  <a:srgbClr val="2E2E2E"/>
                </a:solidFill>
                <a:latin typeface="Calibri"/>
              </a:rPr>
              <a:t>across the 2026–2036 horizon.</a:t>
            </a:r>
          </a:p>
        </p:txBody>
      </p:sp>
      <p:sp>
        <p:nvSpPr>
          <p:cNvPr id="78"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898775"/>
            <a:ext cx="8572500" cy="514350"/>
          </a:xfrm>
          <a:prstGeom prst="rect">
            <a:avLst/>
          </a:prstGeom>
          <a:noFill/>
        </p:spPr>
        <p:txBody>
          <a:bodyPr wrap="square" lIns="0" tIns="0" r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North America Corrugated Partition – Country Outlook</a:t>
            </a:r>
          </a:p>
          <a:p>
            <a:pPr marL="342900" indent="-323850">
              <a:lnSpc>
                <a:spcPct val="100000"/>
              </a:lnSpc>
              <a:spcAft>
                <a:spcPts val="800"/>
              </a:spcAft>
            </a:pPr>
            <a:r>
              <a:rPr sz="2000" b="0">
                <a:solidFill>
                  <a:srgbClr val="000000"/>
                </a:solidFill>
                <a:latin typeface="Calibri"/>
              </a:rPr>
              <a:t>➤	Market Analysis By Country</a:t>
            </a:r>
          </a:p>
          <a:p>
            <a:pPr marL="342900" indent="-323850">
              <a:lnSpc>
                <a:spcPct val="100000"/>
              </a:lnSpc>
              <a:spcAft>
                <a:spcPts val="800"/>
              </a:spcAft>
            </a:pPr>
            <a:r>
              <a:rPr sz="2000" b="0">
                <a:solidFill>
                  <a:srgbClr val="000000"/>
                </a:solidFill>
                <a:latin typeface="Calibri"/>
              </a:rPr>
              <a:t>➤	Volume Share Analysis By Country</a:t>
            </a:r>
          </a:p>
          <a:p>
            <a:pPr marL="342900" indent="-323850">
              <a:lnSpc>
                <a:spcPct val="100000"/>
              </a:lnSpc>
              <a:spcAft>
                <a:spcPts val="800"/>
              </a:spcAft>
            </a:pPr>
            <a:r>
              <a:rPr sz="2000" b="0">
                <a:solidFill>
                  <a:srgbClr val="000000"/>
                </a:solidFill>
                <a:latin typeface="Calibri"/>
              </a:rPr>
              <a:t>➤	Value Share Analysis By Country</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 Country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500" b="1">
                <a:solidFill>
                  <a:srgbClr val="0B2E4A"/>
                </a:solidFill>
                <a:latin typeface="Calibri"/>
              </a:rPr>
              <a:t>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500" b="1">
                <a:solidFill>
                  <a:srgbClr val="0B2E4A"/>
                </a:solidFill>
                <a:latin typeface="Calibri"/>
              </a:rPr>
              <a:t>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500" b="1">
                <a:solidFill>
                  <a:srgbClr val="0B2E4A"/>
                </a:solidFill>
                <a:latin typeface="Calibri"/>
              </a:rPr>
              <a:t>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6962775"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500" b="1">
                <a:solidFill>
                  <a:srgbClr val="0E72AE"/>
                </a:solidFill>
                <a:latin typeface="Calibri"/>
              </a:rPr>
              <a:t>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500" b="1">
                <a:solidFill>
                  <a:srgbClr val="0E72AE"/>
                </a:solidFill>
                <a:latin typeface="Calibri"/>
              </a:rPr>
              <a:t>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500" b="1">
                <a:solidFill>
                  <a:srgbClr val="0E72AE"/>
                </a:solidFill>
                <a:latin typeface="Calibri"/>
              </a:rPr>
              <a:t>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0" name="Picture 49" descr="lock.png"/>
          <p:cNvPicPr>
            <a:picLocks noChangeAspect="1"/>
          </p:cNvPicPr>
          <p:nvPr/>
        </p:nvPicPr>
        <p:blipFill>
          <a:blip r:embed="rId4"/>
          <a:stretch>
            <a:fillRect/>
          </a:stretch>
        </p:blipFill>
        <p:spPr>
          <a:xfrm>
            <a:off x="4250888" y="2339922"/>
            <a:ext cx="175498" cy="255270"/>
          </a:xfrm>
          <a:prstGeom prst="rect">
            <a:avLst/>
          </a:prstGeom>
        </p:spPr>
      </p:pic>
      <p:pic>
        <p:nvPicPr>
          <p:cNvPr id="51" name="Picture 50" descr="lock.png"/>
          <p:cNvPicPr>
            <a:picLocks noChangeAspect="1"/>
          </p:cNvPicPr>
          <p:nvPr/>
        </p:nvPicPr>
        <p:blipFill>
          <a:blip r:embed="rId4"/>
          <a:stretch>
            <a:fillRect/>
          </a:stretch>
        </p:blipFill>
        <p:spPr>
          <a:xfrm>
            <a:off x="4250888" y="2832772"/>
            <a:ext cx="175498" cy="255270"/>
          </a:xfrm>
          <a:prstGeom prst="rect">
            <a:avLst/>
          </a:prstGeom>
        </p:spPr>
      </p:pic>
      <p:pic>
        <p:nvPicPr>
          <p:cNvPr id="52" name="Picture 51" descr="lock.png"/>
          <p:cNvPicPr>
            <a:picLocks noChangeAspect="1"/>
          </p:cNvPicPr>
          <p:nvPr/>
        </p:nvPicPr>
        <p:blipFill>
          <a:blip r:embed="rId4"/>
          <a:stretch>
            <a:fillRect/>
          </a:stretch>
        </p:blipFill>
        <p:spPr>
          <a:xfrm>
            <a:off x="4250888" y="3325622"/>
            <a:ext cx="175498" cy="255270"/>
          </a:xfrm>
          <a:prstGeom prst="rect">
            <a:avLst/>
          </a:prstGeom>
        </p:spPr>
      </p:pic>
      <p:pic>
        <p:nvPicPr>
          <p:cNvPr id="53" name="Picture 52" descr="lock.png"/>
          <p:cNvPicPr>
            <a:picLocks noChangeAspect="1"/>
          </p:cNvPicPr>
          <p:nvPr/>
        </p:nvPicPr>
        <p:blipFill>
          <a:blip r:embed="rId4"/>
          <a:stretch>
            <a:fillRect/>
          </a:stretch>
        </p:blipFill>
        <p:spPr>
          <a:xfrm>
            <a:off x="9308663" y="2339922"/>
            <a:ext cx="175498" cy="255270"/>
          </a:xfrm>
          <a:prstGeom prst="rect">
            <a:avLst/>
          </a:prstGeom>
        </p:spPr>
      </p:pic>
      <p:pic>
        <p:nvPicPr>
          <p:cNvPr id="54" name="Picture 53" descr="lock.png"/>
          <p:cNvPicPr>
            <a:picLocks noChangeAspect="1"/>
          </p:cNvPicPr>
          <p:nvPr/>
        </p:nvPicPr>
        <p:blipFill>
          <a:blip r:embed="rId4"/>
          <a:stretch>
            <a:fillRect/>
          </a:stretch>
        </p:blipFill>
        <p:spPr>
          <a:xfrm>
            <a:off x="9308663" y="2832772"/>
            <a:ext cx="175498" cy="255270"/>
          </a:xfrm>
          <a:prstGeom prst="rect">
            <a:avLst/>
          </a:prstGeom>
        </p:spPr>
      </p:pic>
      <p:pic>
        <p:nvPicPr>
          <p:cNvPr id="55" name="Picture 54" descr="lock.png"/>
          <p:cNvPicPr>
            <a:picLocks noChangeAspect="1"/>
          </p:cNvPicPr>
          <p:nvPr/>
        </p:nvPicPr>
        <p:blipFill>
          <a:blip r:embed="rId4"/>
          <a:stretch>
            <a:fillRect/>
          </a:stretch>
        </p:blipFill>
        <p:spPr>
          <a:xfrm>
            <a:off x="9308663" y="3325622"/>
            <a:ext cx="175498" cy="255270"/>
          </a:xfrm>
          <a:prstGeom prst="rect">
            <a:avLst/>
          </a:prstGeom>
        </p:spPr>
      </p:pic>
      <p:sp>
        <p:nvSpPr>
          <p:cNvPr id="56" name="TextBox 55"/>
          <p:cNvSpPr txBox="1"/>
          <p:nvPr/>
        </p:nvSpPr>
        <p:spPr>
          <a:xfrm>
            <a:off x="485775" y="4229437"/>
            <a:ext cx="2479476" cy="186689"/>
          </a:xfrm>
          <a:prstGeom prst="rect">
            <a:avLst/>
          </a:prstGeom>
          <a:noFill/>
        </p:spPr>
        <p:txBody>
          <a:bodyPr wrap="none" lIns="0" tIns="0" rIns="0" bIns="0">
            <a:spAutoFit/>
          </a:bodyPr>
          <a:lstStyle/>
          <a:p>
            <a:r>
              <a:rPr sz="1100" b="0">
                <a:solidFill>
                  <a:srgbClr val="2E2E2E"/>
                </a:solidFill>
                <a:latin typeface="Calibri"/>
              </a:rPr>
              <a:t>▪ ¶ The U.S. corrugated partition market is</a:t>
            </a:r>
          </a:p>
        </p:txBody>
      </p:sp>
      <p:sp>
        <p:nvSpPr>
          <p:cNvPr id="57" name="TextBox 56"/>
          <p:cNvSpPr txBox="1"/>
          <p:nvPr/>
        </p:nvSpPr>
        <p:spPr>
          <a:xfrm>
            <a:off x="485775" y="4397077"/>
            <a:ext cx="1244550" cy="186689"/>
          </a:xfrm>
          <a:prstGeom prst="rect">
            <a:avLst/>
          </a:prstGeom>
          <a:noFill/>
        </p:spPr>
        <p:txBody>
          <a:bodyPr wrap="none" lIns="0" tIns="0" rIns="0" bIns="0">
            <a:spAutoFit/>
          </a:bodyPr>
          <a:lstStyle/>
          <a:p>
            <a:r>
              <a:rPr sz="1100" b="0">
                <a:solidFill>
                  <a:srgbClr val="2E2E2E"/>
                </a:solidFill>
                <a:latin typeface="Calibri"/>
              </a:rPr>
              <a:t>projected to register</a:t>
            </a:r>
          </a:p>
        </p:txBody>
      </p:sp>
      <p:pic>
        <p:nvPicPr>
          <p:cNvPr id="58" name="Picture 57" descr="lock.png"/>
          <p:cNvPicPr>
            <a:picLocks noChangeAspect="1"/>
          </p:cNvPicPr>
          <p:nvPr/>
        </p:nvPicPr>
        <p:blipFill>
          <a:blip r:embed="rId4"/>
          <a:stretch>
            <a:fillRect/>
          </a:stretch>
        </p:blipFill>
        <p:spPr>
          <a:xfrm>
            <a:off x="1678376" y="4387298"/>
            <a:ext cx="128699" cy="187198"/>
          </a:xfrm>
          <a:prstGeom prst="rect">
            <a:avLst/>
          </a:prstGeom>
        </p:spPr>
      </p:pic>
      <p:sp>
        <p:nvSpPr>
          <p:cNvPr id="59" name="TextBox 58"/>
          <p:cNvSpPr txBox="1"/>
          <p:nvPr/>
        </p:nvSpPr>
        <p:spPr>
          <a:xfrm>
            <a:off x="1845872" y="4397077"/>
            <a:ext cx="1172517" cy="186689"/>
          </a:xfrm>
          <a:prstGeom prst="rect">
            <a:avLst/>
          </a:prstGeom>
          <a:noFill/>
        </p:spPr>
        <p:txBody>
          <a:bodyPr wrap="none" lIns="0" tIns="0" rIns="0" bIns="0">
            <a:spAutoFit/>
          </a:bodyPr>
          <a:lstStyle/>
          <a:p>
            <a:r>
              <a:rPr sz="1100" b="0">
                <a:solidFill>
                  <a:srgbClr val="2E2E2E"/>
                </a:solidFill>
                <a:latin typeface="Calibri"/>
              </a:rPr>
              <a:t>X higher value than</a:t>
            </a:r>
          </a:p>
        </p:txBody>
      </p:sp>
      <p:sp>
        <p:nvSpPr>
          <p:cNvPr id="60" name="TextBox 59"/>
          <p:cNvSpPr txBox="1"/>
          <p:nvPr/>
        </p:nvSpPr>
        <p:spPr>
          <a:xfrm>
            <a:off x="485775" y="4564717"/>
            <a:ext cx="2775247" cy="186689"/>
          </a:xfrm>
          <a:prstGeom prst="rect">
            <a:avLst/>
          </a:prstGeom>
          <a:noFill/>
        </p:spPr>
        <p:txBody>
          <a:bodyPr wrap="none" lIns="0" tIns="0" rIns="0" bIns="0">
            <a:spAutoFit/>
          </a:bodyPr>
          <a:lstStyle/>
          <a:p>
            <a:r>
              <a:rPr sz="1100" b="0">
                <a:solidFill>
                  <a:srgbClr val="2E2E2E"/>
                </a:solidFill>
                <a:latin typeface="Calibri"/>
              </a:rPr>
              <a:t>Canada in 2036. Among corrugated partition by</a:t>
            </a:r>
          </a:p>
        </p:txBody>
      </p:sp>
      <p:sp>
        <p:nvSpPr>
          <p:cNvPr id="61" name="TextBox 60"/>
          <p:cNvSpPr txBox="1"/>
          <p:nvPr/>
        </p:nvSpPr>
        <p:spPr>
          <a:xfrm>
            <a:off x="485775" y="4732357"/>
            <a:ext cx="2914650" cy="186689"/>
          </a:xfrm>
          <a:prstGeom prst="rect">
            <a:avLst/>
          </a:prstGeom>
          <a:noFill/>
        </p:spPr>
        <p:txBody>
          <a:bodyPr wrap="none" lIns="0" tIns="0" rIns="0" bIns="0">
            <a:spAutoFit/>
          </a:bodyPr>
          <a:lstStyle/>
          <a:p>
            <a:r>
              <a:rPr sz="1100" b="0">
                <a:solidFill>
                  <a:srgbClr val="2E2E2E"/>
                </a:solidFill>
                <a:latin typeface="Calibri"/>
              </a:rPr>
              <a:t>country, Canada is expected to witness the highest</a:t>
            </a:r>
          </a:p>
        </p:txBody>
      </p:sp>
      <p:sp>
        <p:nvSpPr>
          <p:cNvPr id="62" name="TextBox 61"/>
          <p:cNvSpPr txBox="1"/>
          <p:nvPr/>
        </p:nvSpPr>
        <p:spPr>
          <a:xfrm>
            <a:off x="485775" y="4899997"/>
            <a:ext cx="543304" cy="186689"/>
          </a:xfrm>
          <a:prstGeom prst="rect">
            <a:avLst/>
          </a:prstGeom>
          <a:noFill/>
        </p:spPr>
        <p:txBody>
          <a:bodyPr wrap="none" lIns="0" tIns="0" rIns="0" bIns="0">
            <a:spAutoFit/>
          </a:bodyPr>
          <a:lstStyle/>
          <a:p>
            <a:r>
              <a:rPr sz="1100" b="0">
                <a:solidFill>
                  <a:srgbClr val="2E2E2E"/>
                </a:solidFill>
                <a:latin typeface="Calibri"/>
              </a:rPr>
              <a:t>CAGR of</a:t>
            </a:r>
          </a:p>
        </p:txBody>
      </p:sp>
      <p:pic>
        <p:nvPicPr>
          <p:cNvPr id="63" name="Picture 62" descr="lock.png"/>
          <p:cNvPicPr>
            <a:picLocks noChangeAspect="1"/>
          </p:cNvPicPr>
          <p:nvPr/>
        </p:nvPicPr>
        <p:blipFill>
          <a:blip r:embed="rId4"/>
          <a:stretch>
            <a:fillRect/>
          </a:stretch>
        </p:blipFill>
        <p:spPr>
          <a:xfrm>
            <a:off x="977131" y="4890217"/>
            <a:ext cx="128699" cy="187198"/>
          </a:xfrm>
          <a:prstGeom prst="rect">
            <a:avLst/>
          </a:prstGeom>
        </p:spPr>
      </p:pic>
      <p:sp>
        <p:nvSpPr>
          <p:cNvPr id="64" name="TextBox 63"/>
          <p:cNvSpPr txBox="1"/>
          <p:nvPr/>
        </p:nvSpPr>
        <p:spPr>
          <a:xfrm>
            <a:off x="1144627" y="4899997"/>
            <a:ext cx="1484659" cy="186689"/>
          </a:xfrm>
          <a:prstGeom prst="rect">
            <a:avLst/>
          </a:prstGeom>
          <a:noFill/>
        </p:spPr>
        <p:txBody>
          <a:bodyPr wrap="none" lIns="0" tIns="0" rIns="0" bIns="0">
            <a:spAutoFit/>
          </a:bodyPr>
          <a:lstStyle/>
          <a:p>
            <a:r>
              <a:rPr sz="1100" b="0">
                <a:solidFill>
                  <a:srgbClr val="2E2E2E"/>
                </a:solidFill>
                <a:latin typeface="Calibri"/>
              </a:rPr>
              <a:t>over the forecast period.</a:t>
            </a:r>
          </a:p>
        </p:txBody>
      </p:sp>
      <p:sp>
        <p:nvSpPr>
          <p:cNvPr id="65" name="TextBox 64"/>
          <p:cNvSpPr txBox="1"/>
          <p:nvPr/>
        </p:nvSpPr>
        <p:spPr>
          <a:xfrm>
            <a:off x="485775" y="5117929"/>
            <a:ext cx="2619995" cy="186689"/>
          </a:xfrm>
          <a:prstGeom prst="rect">
            <a:avLst/>
          </a:prstGeom>
          <a:noFill/>
        </p:spPr>
        <p:txBody>
          <a:bodyPr wrap="none" lIns="0" tIns="0" rIns="0" bIns="0">
            <a:spAutoFit/>
          </a:bodyPr>
          <a:lstStyle/>
          <a:p>
            <a:r>
              <a:rPr sz="1100" b="0">
                <a:solidFill>
                  <a:srgbClr val="2E2E2E"/>
                </a:solidFill>
                <a:latin typeface="Calibri"/>
              </a:rPr>
              <a:t>▪ ¶ In terms of value share by country, U.S. is</a:t>
            </a:r>
          </a:p>
        </p:txBody>
      </p:sp>
      <p:sp>
        <p:nvSpPr>
          <p:cNvPr id="66" name="TextBox 65"/>
          <p:cNvSpPr txBox="1"/>
          <p:nvPr/>
        </p:nvSpPr>
        <p:spPr>
          <a:xfrm>
            <a:off x="485775" y="5285569"/>
            <a:ext cx="2388889" cy="186689"/>
          </a:xfrm>
          <a:prstGeom prst="rect">
            <a:avLst/>
          </a:prstGeom>
          <a:noFill/>
        </p:spPr>
        <p:txBody>
          <a:bodyPr wrap="none" lIns="0" tIns="0" rIns="0" bIns="0">
            <a:spAutoFit/>
          </a:bodyPr>
          <a:lstStyle/>
          <a:p>
            <a:r>
              <a:rPr sz="1100" b="0">
                <a:solidFill>
                  <a:srgbClr val="2E2E2E"/>
                </a:solidFill>
                <a:latin typeface="Calibri"/>
              </a:rPr>
              <a:t>expected to dominate the market, losing</a:t>
            </a:r>
          </a:p>
        </p:txBody>
      </p:sp>
      <p:pic>
        <p:nvPicPr>
          <p:cNvPr id="67" name="Picture 66" descr="lock.png"/>
          <p:cNvPicPr>
            <a:picLocks noChangeAspect="1"/>
          </p:cNvPicPr>
          <p:nvPr/>
        </p:nvPicPr>
        <p:blipFill>
          <a:blip r:embed="rId4"/>
          <a:stretch>
            <a:fillRect/>
          </a:stretch>
        </p:blipFill>
        <p:spPr>
          <a:xfrm>
            <a:off x="2822716" y="5275790"/>
            <a:ext cx="128699" cy="187198"/>
          </a:xfrm>
          <a:prstGeom prst="rect">
            <a:avLst/>
          </a:prstGeom>
        </p:spPr>
      </p:pic>
      <p:sp>
        <p:nvSpPr>
          <p:cNvPr id="68" name="TextBox 67"/>
          <p:cNvSpPr txBox="1"/>
          <p:nvPr/>
        </p:nvSpPr>
        <p:spPr>
          <a:xfrm>
            <a:off x="2990212" y="5285569"/>
            <a:ext cx="288751" cy="186689"/>
          </a:xfrm>
          <a:prstGeom prst="rect">
            <a:avLst/>
          </a:prstGeom>
          <a:noFill/>
        </p:spPr>
        <p:txBody>
          <a:bodyPr wrap="none" lIns="0" tIns="0" rIns="0" bIns="0">
            <a:spAutoFit/>
          </a:bodyPr>
          <a:lstStyle/>
          <a:p>
            <a:r>
              <a:rPr sz="1100" b="0">
                <a:solidFill>
                  <a:srgbClr val="2E2E2E"/>
                </a:solidFill>
                <a:latin typeface="Calibri"/>
              </a:rPr>
              <a:t>BPS</a:t>
            </a:r>
          </a:p>
        </p:txBody>
      </p:sp>
      <p:sp>
        <p:nvSpPr>
          <p:cNvPr id="69" name="TextBox 68"/>
          <p:cNvSpPr txBox="1"/>
          <p:nvPr/>
        </p:nvSpPr>
        <p:spPr>
          <a:xfrm>
            <a:off x="485775" y="5453209"/>
            <a:ext cx="1142231" cy="186689"/>
          </a:xfrm>
          <a:prstGeom prst="rect">
            <a:avLst/>
          </a:prstGeom>
          <a:noFill/>
        </p:spPr>
        <p:txBody>
          <a:bodyPr wrap="none" lIns="0" tIns="0" rIns="0" bIns="0">
            <a:spAutoFit/>
          </a:bodyPr>
          <a:lstStyle/>
          <a:p>
            <a:r>
              <a:rPr sz="1100" b="0">
                <a:solidFill>
                  <a:srgbClr val="2E2E2E"/>
                </a:solidFill>
                <a:latin typeface="Calibri"/>
              </a:rPr>
              <a:t>and accounting for</a:t>
            </a:r>
          </a:p>
        </p:txBody>
      </p:sp>
      <p:pic>
        <p:nvPicPr>
          <p:cNvPr id="70" name="Picture 69" descr="lock.png"/>
          <p:cNvPicPr>
            <a:picLocks noChangeAspect="1"/>
          </p:cNvPicPr>
          <p:nvPr/>
        </p:nvPicPr>
        <p:blipFill>
          <a:blip r:embed="rId4"/>
          <a:stretch>
            <a:fillRect/>
          </a:stretch>
        </p:blipFill>
        <p:spPr>
          <a:xfrm>
            <a:off x="1576057" y="5443430"/>
            <a:ext cx="128699" cy="187198"/>
          </a:xfrm>
          <a:prstGeom prst="rect">
            <a:avLst/>
          </a:prstGeom>
        </p:spPr>
      </p:pic>
      <p:sp>
        <p:nvSpPr>
          <p:cNvPr id="71" name="TextBox 70"/>
          <p:cNvSpPr txBox="1"/>
          <p:nvPr/>
        </p:nvSpPr>
        <p:spPr>
          <a:xfrm>
            <a:off x="1743553" y="5453209"/>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72" name="TextBox 71"/>
          <p:cNvSpPr txBox="1"/>
          <p:nvPr/>
        </p:nvSpPr>
        <p:spPr>
          <a:xfrm>
            <a:off x="3838575" y="4229437"/>
            <a:ext cx="453826" cy="186689"/>
          </a:xfrm>
          <a:prstGeom prst="rect">
            <a:avLst/>
          </a:prstGeom>
          <a:noFill/>
        </p:spPr>
        <p:txBody>
          <a:bodyPr wrap="none" lIns="0" tIns="0" rIns="0" bIns="0">
            <a:spAutoFit/>
          </a:bodyPr>
          <a:lstStyle/>
          <a:p>
            <a:r>
              <a:rPr sz="1100" b="0">
                <a:solidFill>
                  <a:srgbClr val="2E2E2E"/>
                </a:solidFill>
                <a:latin typeface="Calibri"/>
              </a:rPr>
              <a:t>● U.S.:</a:t>
            </a:r>
          </a:p>
        </p:txBody>
      </p:sp>
      <p:pic>
        <p:nvPicPr>
          <p:cNvPr id="73" name="Picture 72" descr="lock.png"/>
          <p:cNvPicPr>
            <a:picLocks noChangeAspect="1"/>
          </p:cNvPicPr>
          <p:nvPr/>
        </p:nvPicPr>
        <p:blipFill>
          <a:blip r:embed="rId4"/>
          <a:stretch>
            <a:fillRect/>
          </a:stretch>
        </p:blipFill>
        <p:spPr>
          <a:xfrm>
            <a:off x="4240453" y="4219658"/>
            <a:ext cx="128699" cy="187198"/>
          </a:xfrm>
          <a:prstGeom prst="rect">
            <a:avLst/>
          </a:prstGeom>
        </p:spPr>
      </p:pic>
      <p:sp>
        <p:nvSpPr>
          <p:cNvPr id="74" name="TextBox 73"/>
          <p:cNvSpPr txBox="1"/>
          <p:nvPr/>
        </p:nvSpPr>
        <p:spPr>
          <a:xfrm>
            <a:off x="4407948"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75" name="Picture 74" descr="lock.png"/>
          <p:cNvPicPr>
            <a:picLocks noChangeAspect="1"/>
          </p:cNvPicPr>
          <p:nvPr/>
        </p:nvPicPr>
        <p:blipFill>
          <a:blip r:embed="rId4"/>
          <a:stretch>
            <a:fillRect/>
          </a:stretch>
        </p:blipFill>
        <p:spPr>
          <a:xfrm>
            <a:off x="5267399" y="4219658"/>
            <a:ext cx="128699" cy="187198"/>
          </a:xfrm>
          <a:prstGeom prst="rect">
            <a:avLst/>
          </a:prstGeom>
        </p:spPr>
      </p:pic>
      <p:sp>
        <p:nvSpPr>
          <p:cNvPr id="76" name="TextBox 75"/>
          <p:cNvSpPr txBox="1"/>
          <p:nvPr/>
        </p:nvSpPr>
        <p:spPr>
          <a:xfrm>
            <a:off x="5434895" y="4229437"/>
            <a:ext cx="1419431" cy="186689"/>
          </a:xfrm>
          <a:prstGeom prst="rect">
            <a:avLst/>
          </a:prstGeom>
          <a:noFill/>
        </p:spPr>
        <p:txBody>
          <a:bodyPr wrap="none" lIns="0" tIns="0" rIns="0" bIns="0">
            <a:spAutoFit/>
          </a:bodyPr>
          <a:lstStyle/>
          <a:p>
            <a:r>
              <a:rPr sz="1100" b="0">
                <a:solidFill>
                  <a:srgbClr val="2E2E2E"/>
                </a:solidFill>
                <a:latin typeface="Calibri"/>
              </a:rPr>
              <a:t>CAGR leads the market.</a:t>
            </a:r>
          </a:p>
        </p:txBody>
      </p:sp>
      <p:sp>
        <p:nvSpPr>
          <p:cNvPr id="77" name="TextBox 76"/>
          <p:cNvSpPr txBox="1"/>
          <p:nvPr/>
        </p:nvSpPr>
        <p:spPr>
          <a:xfrm>
            <a:off x="3838575" y="4447369"/>
            <a:ext cx="651371" cy="186689"/>
          </a:xfrm>
          <a:prstGeom prst="rect">
            <a:avLst/>
          </a:prstGeom>
          <a:noFill/>
        </p:spPr>
        <p:txBody>
          <a:bodyPr wrap="none" lIns="0" tIns="0" rIns="0" bIns="0">
            <a:spAutoFit/>
          </a:bodyPr>
          <a:lstStyle/>
          <a:p>
            <a:r>
              <a:rPr sz="1100" b="0">
                <a:solidFill>
                  <a:srgbClr val="2E2E2E"/>
                </a:solidFill>
                <a:latin typeface="Calibri"/>
              </a:rPr>
              <a:t>● Canada:</a:t>
            </a:r>
          </a:p>
        </p:txBody>
      </p:sp>
      <p:pic>
        <p:nvPicPr>
          <p:cNvPr id="78" name="Picture 77" descr="lock.png"/>
          <p:cNvPicPr>
            <a:picLocks noChangeAspect="1"/>
          </p:cNvPicPr>
          <p:nvPr/>
        </p:nvPicPr>
        <p:blipFill>
          <a:blip r:embed="rId4"/>
          <a:stretch>
            <a:fillRect/>
          </a:stretch>
        </p:blipFill>
        <p:spPr>
          <a:xfrm>
            <a:off x="4437997" y="4437590"/>
            <a:ext cx="128699" cy="187198"/>
          </a:xfrm>
          <a:prstGeom prst="rect">
            <a:avLst/>
          </a:prstGeom>
        </p:spPr>
      </p:pic>
      <p:sp>
        <p:nvSpPr>
          <p:cNvPr id="79" name="TextBox 78"/>
          <p:cNvSpPr txBox="1"/>
          <p:nvPr/>
        </p:nvSpPr>
        <p:spPr>
          <a:xfrm>
            <a:off x="4605493"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80" name="Picture 79" descr="lock.png"/>
          <p:cNvPicPr>
            <a:picLocks noChangeAspect="1"/>
          </p:cNvPicPr>
          <p:nvPr/>
        </p:nvPicPr>
        <p:blipFill>
          <a:blip r:embed="rId4"/>
          <a:stretch>
            <a:fillRect/>
          </a:stretch>
        </p:blipFill>
        <p:spPr>
          <a:xfrm>
            <a:off x="5464943" y="4437590"/>
            <a:ext cx="128699" cy="187198"/>
          </a:xfrm>
          <a:prstGeom prst="rect">
            <a:avLst/>
          </a:prstGeom>
        </p:spPr>
      </p:pic>
      <p:sp>
        <p:nvSpPr>
          <p:cNvPr id="81" name="TextBox 80"/>
          <p:cNvSpPr txBox="1"/>
          <p:nvPr/>
        </p:nvSpPr>
        <p:spPr>
          <a:xfrm>
            <a:off x="5632439" y="4447369"/>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82" name="TextBox 81"/>
          <p:cNvSpPr txBox="1"/>
          <p:nvPr/>
        </p:nvSpPr>
        <p:spPr>
          <a:xfrm>
            <a:off x="8524875" y="5842641"/>
            <a:ext cx="3162300" cy="194310"/>
          </a:xfrm>
          <a:prstGeom prst="rect">
            <a:avLst/>
          </a:prstGeom>
          <a:noFill/>
        </p:spPr>
        <p:txBody>
          <a:bodyPr wrap="none" lIns="0" tIns="0" rIns="0" bIns="0">
            <a:spAutoFit/>
          </a:bodyPr>
          <a:lstStyle/>
          <a:p>
            <a:r>
              <a:rPr sz="1150" b="1">
                <a:solidFill>
                  <a:srgbClr val="0B2E4A"/>
                </a:solidFill>
                <a:latin typeface="Calibri"/>
              </a:rPr>
              <a:t>The North America market is projected to grow at a</a:t>
            </a:r>
          </a:p>
        </p:txBody>
      </p:sp>
      <p:sp>
        <p:nvSpPr>
          <p:cNvPr id="83" name="TextBox 82"/>
          <p:cNvSpPr txBox="1"/>
          <p:nvPr/>
        </p:nvSpPr>
        <p:spPr>
          <a:xfrm>
            <a:off x="8524875" y="6017901"/>
            <a:ext cx="574797" cy="194310"/>
          </a:xfrm>
          <a:prstGeom prst="rect">
            <a:avLst/>
          </a:prstGeom>
          <a:noFill/>
        </p:spPr>
        <p:txBody>
          <a:bodyPr wrap="none" lIns="0" tIns="0" rIns="0" bIns="0">
            <a:spAutoFit/>
          </a:bodyPr>
          <a:lstStyle/>
          <a:p>
            <a:r>
              <a:rPr sz="1150" b="1">
                <a:solidFill>
                  <a:srgbClr val="0B2E4A"/>
                </a:solidFill>
                <a:latin typeface="Calibri"/>
              </a:rPr>
              <a:t>CAGR of</a:t>
            </a:r>
          </a:p>
        </p:txBody>
      </p:sp>
      <p:pic>
        <p:nvPicPr>
          <p:cNvPr id="84" name="Picture 83" descr="lock.png"/>
          <p:cNvPicPr>
            <a:picLocks noChangeAspect="1"/>
          </p:cNvPicPr>
          <p:nvPr/>
        </p:nvPicPr>
        <p:blipFill>
          <a:blip r:embed="rId4"/>
          <a:stretch>
            <a:fillRect/>
          </a:stretch>
        </p:blipFill>
        <p:spPr>
          <a:xfrm>
            <a:off x="9048826" y="6007677"/>
            <a:ext cx="134549" cy="195707"/>
          </a:xfrm>
          <a:prstGeom prst="rect">
            <a:avLst/>
          </a:prstGeom>
        </p:spPr>
      </p:pic>
      <p:sp>
        <p:nvSpPr>
          <p:cNvPr id="85" name="TextBox 84"/>
          <p:cNvSpPr txBox="1"/>
          <p:nvPr/>
        </p:nvSpPr>
        <p:spPr>
          <a:xfrm>
            <a:off x="9223935"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Analysis, By Country Volume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61987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474845" y="1419225"/>
            <a:ext cx="2383155" cy="133350"/>
          </a:xfrm>
          <a:prstGeom prst="rect">
            <a:avLst/>
          </a:prstGeom>
          <a:noFill/>
        </p:spPr>
        <p:txBody>
          <a:bodyPr wrap="square" lIns="28575" tIns="9525" rIns="2857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a:endParaRPr/>
          </a:p>
        </p:txBody>
      </p:sp>
      <p:sp>
        <p:nvSpPr>
          <p:cNvPr id="16" name="FMI Legend Chip"/>
          <p:cNvSpPr/>
          <p:nvPr/>
        </p:nvSpPr>
        <p:spPr>
          <a:xfrm>
            <a:off x="4551045" y="199165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4712970" y="19868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4855845" y="1910687"/>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Canada</a:t>
            </a:r>
          </a:p>
        </p:txBody>
      </p:sp>
      <p:sp>
        <p:nvSpPr>
          <p:cNvPr id="19" name="BPS Value 1"/>
          <p:cNvSpPr txBox="1"/>
          <p:nvPr/>
        </p:nvSpPr>
        <p:spPr>
          <a:xfrm>
            <a:off x="6305550" y="1972600"/>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551045" y="38252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4712970" y="38204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4855845" y="3744250"/>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U.S.</a:t>
            </a:r>
          </a:p>
        </p:txBody>
      </p:sp>
      <p:sp>
        <p:nvSpPr>
          <p:cNvPr id="23" name="BPS Value 2"/>
          <p:cNvSpPr txBox="1"/>
          <p:nvPr/>
        </p:nvSpPr>
        <p:spPr>
          <a:xfrm>
            <a:off x="6305550" y="3806162"/>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239000" y="1066800"/>
            <a:ext cx="4667250" cy="209550"/>
          </a:xfrm>
          <a:prstGeom prst="rect">
            <a:avLst/>
          </a:prstGeom>
          <a:noFill/>
        </p:spPr>
        <p:txBody>
          <a:bodyPr wrap="square" lIns="0" tIns="9525" rIns="19050"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7239000" y="1390650"/>
            <a:ext cx="4667250" cy="40481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10015537" y="6070282"/>
            <a:ext cx="209550" cy="304800"/>
          </a:xfrm>
          <a:prstGeom prst="rect">
            <a:avLst/>
          </a:prstGeom>
        </p:spPr>
      </p:pic>
      <p:sp>
        <p:nvSpPr>
          <p:cNvPr id="34" name="TextBox 33"/>
          <p:cNvSpPr txBox="1"/>
          <p:nvPr/>
        </p:nvSpPr>
        <p:spPr>
          <a:xfrm>
            <a:off x="7239000" y="1400175"/>
            <a:ext cx="3639877" cy="194310"/>
          </a:xfrm>
          <a:prstGeom prst="rect">
            <a:avLst/>
          </a:prstGeom>
          <a:noFill/>
        </p:spPr>
        <p:txBody>
          <a:bodyPr wrap="none" lIns="0" tIns="0" rIns="0" bIns="0">
            <a:spAutoFit/>
          </a:bodyPr>
          <a:lstStyle/>
          <a:p>
            <a:r>
              <a:rPr sz="1150" b="0">
                <a:solidFill>
                  <a:srgbClr val="2E2E2E"/>
                </a:solidFill>
                <a:latin typeface="Calibri"/>
              </a:rPr>
              <a:t>The U.S. corrugated partition market is projected to register</a:t>
            </a:r>
          </a:p>
        </p:txBody>
      </p:sp>
      <p:pic>
        <p:nvPicPr>
          <p:cNvPr id="35" name="Picture 34" descr="lock.png"/>
          <p:cNvPicPr>
            <a:picLocks noChangeAspect="1"/>
          </p:cNvPicPr>
          <p:nvPr/>
        </p:nvPicPr>
        <p:blipFill>
          <a:blip r:embed="rId5"/>
          <a:stretch>
            <a:fillRect/>
          </a:stretch>
        </p:blipFill>
        <p:spPr>
          <a:xfrm>
            <a:off x="10828030" y="1389951"/>
            <a:ext cx="134549" cy="195707"/>
          </a:xfrm>
          <a:prstGeom prst="rect">
            <a:avLst/>
          </a:prstGeom>
        </p:spPr>
      </p:pic>
      <p:sp>
        <p:nvSpPr>
          <p:cNvPr id="36" name="TextBox 35"/>
          <p:cNvSpPr txBox="1"/>
          <p:nvPr/>
        </p:nvSpPr>
        <p:spPr>
          <a:xfrm>
            <a:off x="11003140" y="1400175"/>
            <a:ext cx="564839" cy="194310"/>
          </a:xfrm>
          <a:prstGeom prst="rect">
            <a:avLst/>
          </a:prstGeom>
          <a:noFill/>
        </p:spPr>
        <p:txBody>
          <a:bodyPr wrap="none" lIns="0" tIns="0" rIns="0" bIns="0">
            <a:spAutoFit/>
          </a:bodyPr>
          <a:lstStyle/>
          <a:p>
            <a:r>
              <a:rPr sz="1150" b="0">
                <a:solidFill>
                  <a:srgbClr val="2E2E2E"/>
                </a:solidFill>
                <a:latin typeface="Calibri"/>
              </a:rPr>
              <a:t>X higher</a:t>
            </a:r>
          </a:p>
        </p:txBody>
      </p:sp>
      <p:sp>
        <p:nvSpPr>
          <p:cNvPr id="37" name="TextBox 36"/>
          <p:cNvSpPr txBox="1"/>
          <p:nvPr/>
        </p:nvSpPr>
        <p:spPr>
          <a:xfrm>
            <a:off x="7239000" y="1575435"/>
            <a:ext cx="4648200" cy="194310"/>
          </a:xfrm>
          <a:prstGeom prst="rect">
            <a:avLst/>
          </a:prstGeom>
          <a:noFill/>
        </p:spPr>
        <p:txBody>
          <a:bodyPr wrap="none" lIns="0" tIns="0" rIns="0" bIns="0">
            <a:spAutoFit/>
          </a:bodyPr>
          <a:lstStyle/>
          <a:p>
            <a:r>
              <a:rPr sz="1150" b="0">
                <a:solidFill>
                  <a:srgbClr val="2E2E2E"/>
                </a:solidFill>
                <a:latin typeface="Calibri"/>
              </a:rPr>
              <a:t>volume than Canada in 2036. Among corrugated partition by country, Canada</a:t>
            </a:r>
          </a:p>
        </p:txBody>
      </p:sp>
      <p:sp>
        <p:nvSpPr>
          <p:cNvPr id="38" name="TextBox 37"/>
          <p:cNvSpPr txBox="1"/>
          <p:nvPr/>
        </p:nvSpPr>
        <p:spPr>
          <a:xfrm>
            <a:off x="7239000" y="1750695"/>
            <a:ext cx="2609807" cy="194310"/>
          </a:xfrm>
          <a:prstGeom prst="rect">
            <a:avLst/>
          </a:prstGeom>
          <a:noFill/>
        </p:spPr>
        <p:txBody>
          <a:bodyPr wrap="none" lIns="0" tIns="0" rIns="0" bIns="0">
            <a:spAutoFit/>
          </a:bodyPr>
          <a:lstStyle/>
          <a:p>
            <a:r>
              <a:rPr sz="1150" b="0">
                <a:solidFill>
                  <a:srgbClr val="2E2E2E"/>
                </a:solidFill>
                <a:latin typeface="Calibri"/>
              </a:rPr>
              <a:t>is expected to witness the highest CAGR of</a:t>
            </a:r>
          </a:p>
        </p:txBody>
      </p:sp>
      <p:pic>
        <p:nvPicPr>
          <p:cNvPr id="39" name="Picture 38" descr="lock.png"/>
          <p:cNvPicPr>
            <a:picLocks noChangeAspect="1"/>
          </p:cNvPicPr>
          <p:nvPr/>
        </p:nvPicPr>
        <p:blipFill>
          <a:blip r:embed="rId5"/>
          <a:stretch>
            <a:fillRect/>
          </a:stretch>
        </p:blipFill>
        <p:spPr>
          <a:xfrm>
            <a:off x="9797961" y="1740471"/>
            <a:ext cx="134549" cy="195707"/>
          </a:xfrm>
          <a:prstGeom prst="rect">
            <a:avLst/>
          </a:prstGeom>
        </p:spPr>
      </p:pic>
      <p:sp>
        <p:nvSpPr>
          <p:cNvPr id="40" name="TextBox 39"/>
          <p:cNvSpPr txBox="1"/>
          <p:nvPr/>
        </p:nvSpPr>
        <p:spPr>
          <a:xfrm>
            <a:off x="9973070" y="175069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41" name="TextBox 40"/>
          <p:cNvSpPr txBox="1"/>
          <p:nvPr/>
        </p:nvSpPr>
        <p:spPr>
          <a:xfrm>
            <a:off x="7239000" y="1978533"/>
            <a:ext cx="4231493" cy="194310"/>
          </a:xfrm>
          <a:prstGeom prst="rect">
            <a:avLst/>
          </a:prstGeom>
          <a:noFill/>
        </p:spPr>
        <p:txBody>
          <a:bodyPr wrap="none" lIns="0" tIns="0" rIns="0" bIns="0">
            <a:spAutoFit/>
          </a:bodyPr>
          <a:lstStyle/>
          <a:p>
            <a:r>
              <a:rPr sz="1150" b="0">
                <a:solidFill>
                  <a:srgbClr val="2E2E2E"/>
                </a:solidFill>
                <a:latin typeface="Calibri"/>
              </a:rPr>
              <a:t>In terms of volume share by country, U.S. is expected to dominate the</a:t>
            </a:r>
          </a:p>
        </p:txBody>
      </p:sp>
      <p:sp>
        <p:nvSpPr>
          <p:cNvPr id="42" name="TextBox 41"/>
          <p:cNvSpPr txBox="1"/>
          <p:nvPr/>
        </p:nvSpPr>
        <p:spPr>
          <a:xfrm>
            <a:off x="7239000" y="2153793"/>
            <a:ext cx="918554" cy="194310"/>
          </a:xfrm>
          <a:prstGeom prst="rect">
            <a:avLst/>
          </a:prstGeom>
          <a:noFill/>
        </p:spPr>
        <p:txBody>
          <a:bodyPr wrap="none" lIns="0" tIns="0" rIns="0" bIns="0">
            <a:spAutoFit/>
          </a:bodyPr>
          <a:lstStyle/>
          <a:p>
            <a:r>
              <a:rPr sz="1150" b="0">
                <a:solidFill>
                  <a:srgbClr val="2E2E2E"/>
                </a:solidFill>
                <a:latin typeface="Calibri"/>
              </a:rPr>
              <a:t>market, losing</a:t>
            </a:r>
          </a:p>
        </p:txBody>
      </p:sp>
      <p:pic>
        <p:nvPicPr>
          <p:cNvPr id="43" name="Picture 42" descr="lock.png"/>
          <p:cNvPicPr>
            <a:picLocks noChangeAspect="1"/>
          </p:cNvPicPr>
          <p:nvPr/>
        </p:nvPicPr>
        <p:blipFill>
          <a:blip r:embed="rId5"/>
          <a:stretch>
            <a:fillRect/>
          </a:stretch>
        </p:blipFill>
        <p:spPr>
          <a:xfrm>
            <a:off x="8106708" y="2143569"/>
            <a:ext cx="134549" cy="195707"/>
          </a:xfrm>
          <a:prstGeom prst="rect">
            <a:avLst/>
          </a:prstGeom>
        </p:spPr>
      </p:pic>
      <p:sp>
        <p:nvSpPr>
          <p:cNvPr id="44" name="TextBox 43"/>
          <p:cNvSpPr txBox="1"/>
          <p:nvPr/>
        </p:nvSpPr>
        <p:spPr>
          <a:xfrm>
            <a:off x="8281817" y="2153793"/>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45" name="Picture 44" descr="lock.png"/>
          <p:cNvPicPr>
            <a:picLocks noChangeAspect="1"/>
          </p:cNvPicPr>
          <p:nvPr/>
        </p:nvPicPr>
        <p:blipFill>
          <a:blip r:embed="rId5"/>
          <a:stretch>
            <a:fillRect/>
          </a:stretch>
        </p:blipFill>
        <p:spPr>
          <a:xfrm>
            <a:off x="9676961" y="2143569"/>
            <a:ext cx="134549" cy="195707"/>
          </a:xfrm>
          <a:prstGeom prst="rect">
            <a:avLst/>
          </a:prstGeom>
        </p:spPr>
      </p:pic>
      <p:sp>
        <p:nvSpPr>
          <p:cNvPr id="46" name="TextBox 45"/>
          <p:cNvSpPr txBox="1"/>
          <p:nvPr/>
        </p:nvSpPr>
        <p:spPr>
          <a:xfrm>
            <a:off x="9852070" y="215379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7" name="TextBox 46"/>
          <p:cNvSpPr txBox="1"/>
          <p:nvPr/>
        </p:nvSpPr>
        <p:spPr>
          <a:xfrm>
            <a:off x="1613208" y="5877496"/>
            <a:ext cx="1078882" cy="186689"/>
          </a:xfrm>
          <a:prstGeom prst="rect">
            <a:avLst/>
          </a:prstGeom>
          <a:noFill/>
        </p:spPr>
        <p:txBody>
          <a:bodyPr wrap="none" lIns="0" tIns="0" rIns="0" bIns="0">
            <a:spAutoFit/>
          </a:bodyPr>
          <a:lstStyle/>
          <a:p>
            <a:r>
              <a:rPr sz="1100" b="1">
                <a:solidFill>
                  <a:srgbClr val="6C7A89"/>
                </a:solidFill>
                <a:latin typeface="Calibri"/>
              </a:rPr>
              <a:t>2026 TOTAL (MT)</a:t>
            </a:r>
          </a:p>
        </p:txBody>
      </p:sp>
      <p:pic>
        <p:nvPicPr>
          <p:cNvPr id="48" name="Picture 47" descr="lock.png"/>
          <p:cNvPicPr>
            <a:picLocks noChangeAspect="1"/>
          </p:cNvPicPr>
          <p:nvPr/>
        </p:nvPicPr>
        <p:blipFill>
          <a:blip r:embed="rId5"/>
          <a:stretch>
            <a:fillRect/>
          </a:stretch>
        </p:blipFill>
        <p:spPr>
          <a:xfrm>
            <a:off x="1984327" y="6077648"/>
            <a:ext cx="233998" cy="340360"/>
          </a:xfrm>
          <a:prstGeom prst="rect">
            <a:avLst/>
          </a:prstGeom>
        </p:spPr>
      </p:pic>
      <p:sp>
        <p:nvSpPr>
          <p:cNvPr id="49" name="TextBox 48"/>
          <p:cNvSpPr txBox="1"/>
          <p:nvPr/>
        </p:nvSpPr>
        <p:spPr>
          <a:xfrm>
            <a:off x="5647046" y="5877496"/>
            <a:ext cx="1078882" cy="186689"/>
          </a:xfrm>
          <a:prstGeom prst="rect">
            <a:avLst/>
          </a:prstGeom>
          <a:noFill/>
        </p:spPr>
        <p:txBody>
          <a:bodyPr wrap="none" lIns="0" tIns="0" rIns="0" bIns="0">
            <a:spAutoFit/>
          </a:bodyPr>
          <a:lstStyle/>
          <a:p>
            <a:r>
              <a:rPr sz="1100" b="1">
                <a:solidFill>
                  <a:srgbClr val="6C7A89"/>
                </a:solidFill>
                <a:latin typeface="Calibri"/>
              </a:rPr>
              <a:t>2036 TOTAL (MT)</a:t>
            </a:r>
          </a:p>
        </p:txBody>
      </p:sp>
      <p:pic>
        <p:nvPicPr>
          <p:cNvPr id="50" name="Picture 49" descr="lock.png"/>
          <p:cNvPicPr>
            <a:picLocks noChangeAspect="1"/>
          </p:cNvPicPr>
          <p:nvPr/>
        </p:nvPicPr>
        <p:blipFill>
          <a:blip r:embed="rId5"/>
          <a:stretch>
            <a:fillRect/>
          </a:stretch>
        </p:blipFill>
        <p:spPr>
          <a:xfrm>
            <a:off x="6018165" y="6077648"/>
            <a:ext cx="233998" cy="340360"/>
          </a:xfrm>
          <a:prstGeom prst="rect">
            <a:avLst/>
          </a:prstGeom>
        </p:spPr>
      </p:pic>
      <p:sp>
        <p:nvSpPr>
          <p:cNvPr id="51"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Analysis, By Country Value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61987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474845" y="1419225"/>
            <a:ext cx="2383155" cy="133350"/>
          </a:xfrm>
          <a:prstGeom prst="rect">
            <a:avLst/>
          </a:prstGeom>
          <a:noFill/>
        </p:spPr>
        <p:txBody>
          <a:bodyPr wrap="square" lIns="28575" tIns="9525" rIns="2857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a:endParaRPr/>
          </a:p>
        </p:txBody>
      </p:sp>
      <p:sp>
        <p:nvSpPr>
          <p:cNvPr id="16" name="FMI Legend Chip"/>
          <p:cNvSpPr/>
          <p:nvPr/>
        </p:nvSpPr>
        <p:spPr>
          <a:xfrm>
            <a:off x="4551045" y="20593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4855845" y="1978401"/>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Canada</a:t>
            </a:r>
          </a:p>
        </p:txBody>
      </p:sp>
      <p:sp>
        <p:nvSpPr>
          <p:cNvPr id="19" name="BPS Value 1"/>
          <p:cNvSpPr txBox="1"/>
          <p:nvPr/>
        </p:nvSpPr>
        <p:spPr>
          <a:xfrm>
            <a:off x="6305550" y="2040314"/>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4712970" y="38881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4855845" y="3811964"/>
            <a:ext cx="1316355" cy="247650"/>
          </a:xfrm>
          <a:prstGeom prst="rect">
            <a:avLst/>
          </a:prstGeom>
          <a:noFill/>
        </p:spPr>
        <p:txBody>
          <a:bodyPr wrap="square" lIns="19050" tIns="0" rIns="19050" bIns="0" anchor="ctr">
            <a:spAutoFit/>
          </a:bodyPr>
          <a:lstStyle/>
          <a:p>
            <a:pPr algn="l"/>
            <a:r>
              <a:rPr sz="900" b="0">
                <a:solidFill>
                  <a:srgbClr val="2E2E2E"/>
                </a:solidFill>
                <a:latin typeface="Calibri"/>
              </a:rPr>
              <a:t>U.S.</a:t>
            </a:r>
          </a:p>
        </p:txBody>
      </p:sp>
      <p:sp>
        <p:nvSpPr>
          <p:cNvPr id="23" name="BPS Value 2"/>
          <p:cNvSpPr txBox="1"/>
          <p:nvPr/>
        </p:nvSpPr>
        <p:spPr>
          <a:xfrm>
            <a:off x="6305550" y="3873876"/>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239000" y="1066800"/>
            <a:ext cx="4667250" cy="209550"/>
          </a:xfrm>
          <a:prstGeom prst="rect">
            <a:avLst/>
          </a:prstGeom>
          <a:noFill/>
        </p:spPr>
        <p:txBody>
          <a:bodyPr wrap="square" lIns="0" tIns="9525" rIns="19050"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7239000" y="1390650"/>
            <a:ext cx="4667250" cy="40481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3639877" cy="194310"/>
          </a:xfrm>
          <a:prstGeom prst="rect">
            <a:avLst/>
          </a:prstGeom>
          <a:noFill/>
        </p:spPr>
        <p:txBody>
          <a:bodyPr wrap="none" lIns="0" tIns="0" rIns="0" bIns="0">
            <a:spAutoFit/>
          </a:bodyPr>
          <a:lstStyle/>
          <a:p>
            <a:r>
              <a:rPr sz="1150" b="0">
                <a:solidFill>
                  <a:srgbClr val="2E2E2E"/>
                </a:solidFill>
                <a:latin typeface="Calibri"/>
              </a:rPr>
              <a:t>The U.S. corrugated partition market is projected to register</a:t>
            </a:r>
          </a:p>
        </p:txBody>
      </p:sp>
      <p:pic>
        <p:nvPicPr>
          <p:cNvPr id="37" name="Picture 36" descr="lock.png"/>
          <p:cNvPicPr>
            <a:picLocks noChangeAspect="1"/>
          </p:cNvPicPr>
          <p:nvPr/>
        </p:nvPicPr>
        <p:blipFill>
          <a:blip r:embed="rId5"/>
          <a:stretch>
            <a:fillRect/>
          </a:stretch>
        </p:blipFill>
        <p:spPr>
          <a:xfrm>
            <a:off x="10828030" y="1389951"/>
            <a:ext cx="134549" cy="195707"/>
          </a:xfrm>
          <a:prstGeom prst="rect">
            <a:avLst/>
          </a:prstGeom>
        </p:spPr>
      </p:pic>
      <p:sp>
        <p:nvSpPr>
          <p:cNvPr id="38" name="TextBox 37"/>
          <p:cNvSpPr txBox="1"/>
          <p:nvPr/>
        </p:nvSpPr>
        <p:spPr>
          <a:xfrm>
            <a:off x="11003140" y="1400175"/>
            <a:ext cx="564839" cy="194310"/>
          </a:xfrm>
          <a:prstGeom prst="rect">
            <a:avLst/>
          </a:prstGeom>
          <a:noFill/>
        </p:spPr>
        <p:txBody>
          <a:bodyPr wrap="none" lIns="0" tIns="0" rIns="0" bIns="0">
            <a:spAutoFit/>
          </a:bodyPr>
          <a:lstStyle/>
          <a:p>
            <a:r>
              <a:rPr sz="1150" b="0">
                <a:solidFill>
                  <a:srgbClr val="2E2E2E"/>
                </a:solidFill>
                <a:latin typeface="Calibri"/>
              </a:rPr>
              <a:t>X higher</a:t>
            </a:r>
          </a:p>
        </p:txBody>
      </p:sp>
      <p:sp>
        <p:nvSpPr>
          <p:cNvPr id="39" name="TextBox 38"/>
          <p:cNvSpPr txBox="1"/>
          <p:nvPr/>
        </p:nvSpPr>
        <p:spPr>
          <a:xfrm>
            <a:off x="7239000" y="1575435"/>
            <a:ext cx="4648200" cy="194310"/>
          </a:xfrm>
          <a:prstGeom prst="rect">
            <a:avLst/>
          </a:prstGeom>
          <a:noFill/>
        </p:spPr>
        <p:txBody>
          <a:bodyPr wrap="none" lIns="0" tIns="0" rIns="0" bIns="0">
            <a:spAutoFit/>
          </a:bodyPr>
          <a:lstStyle/>
          <a:p>
            <a:r>
              <a:rPr sz="1150" b="0">
                <a:solidFill>
                  <a:srgbClr val="2E2E2E"/>
                </a:solidFill>
                <a:latin typeface="Calibri"/>
              </a:rPr>
              <a:t>value than Canada in 2036. Among corrugated partition by country, Canada is</a:t>
            </a:r>
          </a:p>
        </p:txBody>
      </p:sp>
      <p:sp>
        <p:nvSpPr>
          <p:cNvPr id="40" name="TextBox 39"/>
          <p:cNvSpPr txBox="1"/>
          <p:nvPr/>
        </p:nvSpPr>
        <p:spPr>
          <a:xfrm>
            <a:off x="7239000" y="1750695"/>
            <a:ext cx="2486007" cy="194310"/>
          </a:xfrm>
          <a:prstGeom prst="rect">
            <a:avLst/>
          </a:prstGeom>
          <a:noFill/>
        </p:spPr>
        <p:txBody>
          <a:bodyPr wrap="none" lIns="0" tIns="0" rIns="0" bIns="0">
            <a:spAutoFit/>
          </a:bodyPr>
          <a:lstStyle/>
          <a:p>
            <a:r>
              <a:rPr sz="1150" b="0">
                <a:solidFill>
                  <a:srgbClr val="2E2E2E"/>
                </a:solidFill>
                <a:latin typeface="Calibri"/>
              </a:rPr>
              <a:t>expected to witness the highest CAGR of</a:t>
            </a:r>
          </a:p>
        </p:txBody>
      </p:sp>
      <p:pic>
        <p:nvPicPr>
          <p:cNvPr id="41" name="Picture 40" descr="lock.png"/>
          <p:cNvPicPr>
            <a:picLocks noChangeAspect="1"/>
          </p:cNvPicPr>
          <p:nvPr/>
        </p:nvPicPr>
        <p:blipFill>
          <a:blip r:embed="rId5"/>
          <a:stretch>
            <a:fillRect/>
          </a:stretch>
        </p:blipFill>
        <p:spPr>
          <a:xfrm>
            <a:off x="9674161" y="1740471"/>
            <a:ext cx="134549" cy="195707"/>
          </a:xfrm>
          <a:prstGeom prst="rect">
            <a:avLst/>
          </a:prstGeom>
        </p:spPr>
      </p:pic>
      <p:sp>
        <p:nvSpPr>
          <p:cNvPr id="42" name="TextBox 41"/>
          <p:cNvSpPr txBox="1"/>
          <p:nvPr/>
        </p:nvSpPr>
        <p:spPr>
          <a:xfrm>
            <a:off x="9849270" y="175069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43" name="TextBox 42"/>
          <p:cNvSpPr txBox="1"/>
          <p:nvPr/>
        </p:nvSpPr>
        <p:spPr>
          <a:xfrm>
            <a:off x="7239000" y="1978533"/>
            <a:ext cx="4603179" cy="194310"/>
          </a:xfrm>
          <a:prstGeom prst="rect">
            <a:avLst/>
          </a:prstGeom>
          <a:noFill/>
        </p:spPr>
        <p:txBody>
          <a:bodyPr wrap="none" lIns="0" tIns="0" rIns="0" bIns="0">
            <a:spAutoFit/>
          </a:bodyPr>
          <a:lstStyle/>
          <a:p>
            <a:r>
              <a:rPr sz="1150" b="0">
                <a:solidFill>
                  <a:srgbClr val="2E2E2E"/>
                </a:solidFill>
                <a:latin typeface="Calibri"/>
              </a:rPr>
              <a:t>In terms of value share by country, U.S. is expected to dominate the market,</a:t>
            </a:r>
          </a:p>
        </p:txBody>
      </p:sp>
      <p:sp>
        <p:nvSpPr>
          <p:cNvPr id="44" name="TextBox 43"/>
          <p:cNvSpPr txBox="1"/>
          <p:nvPr/>
        </p:nvSpPr>
        <p:spPr>
          <a:xfrm>
            <a:off x="7239000" y="2153793"/>
            <a:ext cx="423068" cy="194310"/>
          </a:xfrm>
          <a:prstGeom prst="rect">
            <a:avLst/>
          </a:prstGeom>
          <a:noFill/>
        </p:spPr>
        <p:txBody>
          <a:bodyPr wrap="none" lIns="0" tIns="0" rIns="0" bIns="0">
            <a:spAutoFit/>
          </a:bodyPr>
          <a:lstStyle/>
          <a:p>
            <a:r>
              <a:rPr sz="1150" b="0">
                <a:solidFill>
                  <a:srgbClr val="2E2E2E"/>
                </a:solidFill>
                <a:latin typeface="Calibri"/>
              </a:rPr>
              <a:t>losing</a:t>
            </a:r>
          </a:p>
        </p:txBody>
      </p:sp>
      <p:pic>
        <p:nvPicPr>
          <p:cNvPr id="45" name="Picture 44" descr="lock.png"/>
          <p:cNvPicPr>
            <a:picLocks noChangeAspect="1"/>
          </p:cNvPicPr>
          <p:nvPr/>
        </p:nvPicPr>
        <p:blipFill>
          <a:blip r:embed="rId5"/>
          <a:stretch>
            <a:fillRect/>
          </a:stretch>
        </p:blipFill>
        <p:spPr>
          <a:xfrm>
            <a:off x="7611222" y="2143569"/>
            <a:ext cx="134549" cy="195707"/>
          </a:xfrm>
          <a:prstGeom prst="rect">
            <a:avLst/>
          </a:prstGeom>
        </p:spPr>
      </p:pic>
      <p:sp>
        <p:nvSpPr>
          <p:cNvPr id="46" name="TextBox 45"/>
          <p:cNvSpPr txBox="1"/>
          <p:nvPr/>
        </p:nvSpPr>
        <p:spPr>
          <a:xfrm>
            <a:off x="7786331" y="2153793"/>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9181475" y="2143569"/>
            <a:ext cx="134549" cy="195707"/>
          </a:xfrm>
          <a:prstGeom prst="rect">
            <a:avLst/>
          </a:prstGeom>
        </p:spPr>
      </p:pic>
      <p:sp>
        <p:nvSpPr>
          <p:cNvPr id="48" name="TextBox 47"/>
          <p:cNvSpPr txBox="1"/>
          <p:nvPr/>
        </p:nvSpPr>
        <p:spPr>
          <a:xfrm>
            <a:off x="9356584" y="215379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9"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Share Analysis, By Country Volume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Market Size, By Country (MT)</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566452">
                  <a:extLst>
                    <a:ext uri="{9D8B030D-6E8A-4147-A177-3AD203B41FA5}">
                      <a16:colId xmlns:a16="http://schemas.microsoft.com/office/drawing/2014/main" val="20000"/>
                    </a:ext>
                  </a:extLst>
                </a:gridCol>
                <a:gridCol w="674370">
                  <a:extLst>
                    <a:ext uri="{9D8B030D-6E8A-4147-A177-3AD203B41FA5}">
                      <a16:colId xmlns:a16="http://schemas.microsoft.com/office/drawing/2014/main" val="20001"/>
                    </a:ext>
                  </a:extLst>
                </a:gridCol>
                <a:gridCol w="674370">
                  <a:extLst>
                    <a:ext uri="{9D8B030D-6E8A-4147-A177-3AD203B41FA5}">
                      <a16:colId xmlns:a16="http://schemas.microsoft.com/office/drawing/2014/main" val="20002"/>
                    </a:ext>
                  </a:extLst>
                </a:gridCol>
                <a:gridCol w="674370">
                  <a:extLst>
                    <a:ext uri="{9D8B030D-6E8A-4147-A177-3AD203B41FA5}">
                      <a16:colId xmlns:a16="http://schemas.microsoft.com/office/drawing/2014/main" val="20003"/>
                    </a:ext>
                  </a:extLst>
                </a:gridCol>
                <a:gridCol w="674370">
                  <a:extLst>
                    <a:ext uri="{9D8B030D-6E8A-4147-A177-3AD203B41FA5}">
                      <a16:colId xmlns:a16="http://schemas.microsoft.com/office/drawing/2014/main" val="20004"/>
                    </a:ext>
                  </a:extLst>
                </a:gridCol>
                <a:gridCol w="674370">
                  <a:extLst>
                    <a:ext uri="{9D8B030D-6E8A-4147-A177-3AD203B41FA5}">
                      <a16:colId xmlns:a16="http://schemas.microsoft.com/office/drawing/2014/main" val="20005"/>
                    </a:ext>
                  </a:extLst>
                </a:gridCol>
                <a:gridCol w="674370">
                  <a:extLst>
                    <a:ext uri="{9D8B030D-6E8A-4147-A177-3AD203B41FA5}">
                      <a16:colId xmlns:a16="http://schemas.microsoft.com/office/drawing/2014/main" val="20006"/>
                    </a:ext>
                  </a:extLst>
                </a:gridCol>
                <a:gridCol w="674370">
                  <a:extLst>
                    <a:ext uri="{9D8B030D-6E8A-4147-A177-3AD203B41FA5}">
                      <a16:colId xmlns:a16="http://schemas.microsoft.com/office/drawing/2014/main" val="20007"/>
                    </a:ext>
                  </a:extLst>
                </a:gridCol>
                <a:gridCol w="674370">
                  <a:extLst>
                    <a:ext uri="{9D8B030D-6E8A-4147-A177-3AD203B41FA5}">
                      <a16:colId xmlns:a16="http://schemas.microsoft.com/office/drawing/2014/main" val="20008"/>
                    </a:ext>
                  </a:extLst>
                </a:gridCol>
                <a:gridCol w="674370">
                  <a:extLst>
                    <a:ext uri="{9D8B030D-6E8A-4147-A177-3AD203B41FA5}">
                      <a16:colId xmlns:a16="http://schemas.microsoft.com/office/drawing/2014/main" val="20009"/>
                    </a:ext>
                  </a:extLst>
                </a:gridCol>
                <a:gridCol w="674370">
                  <a:extLst>
                    <a:ext uri="{9D8B030D-6E8A-4147-A177-3AD203B41FA5}">
                      <a16:colId xmlns:a16="http://schemas.microsoft.com/office/drawing/2014/main" val="20010"/>
                    </a:ext>
                  </a:extLst>
                </a:gridCol>
                <a:gridCol w="674370">
                  <a:extLst>
                    <a:ext uri="{9D8B030D-6E8A-4147-A177-3AD203B41FA5}">
                      <a16:colId xmlns:a16="http://schemas.microsoft.com/office/drawing/2014/main" val="20011"/>
                    </a:ext>
                  </a:extLst>
                </a:gridCol>
                <a:gridCol w="674370">
                  <a:extLst>
                    <a:ext uri="{9D8B030D-6E8A-4147-A177-3AD203B41FA5}">
                      <a16:colId xmlns:a16="http://schemas.microsoft.com/office/drawing/2014/main" val="20012"/>
                    </a:ext>
                  </a:extLst>
                </a:gridCol>
                <a:gridCol w="674370">
                  <a:extLst>
                    <a:ext uri="{9D8B030D-6E8A-4147-A177-3AD203B41FA5}">
                      <a16:colId xmlns:a16="http://schemas.microsoft.com/office/drawing/2014/main" val="20013"/>
                    </a:ext>
                  </a:extLst>
                </a:gridCol>
                <a:gridCol w="674370">
                  <a:extLst>
                    <a:ext uri="{9D8B030D-6E8A-4147-A177-3AD203B41FA5}">
                      <a16:colId xmlns:a16="http://schemas.microsoft.com/office/drawing/2014/main" val="20014"/>
                    </a:ext>
                  </a:extLst>
                </a:gridCol>
                <a:gridCol w="674370">
                  <a:extLst>
                    <a:ext uri="{9D8B030D-6E8A-4147-A177-3AD203B41FA5}">
                      <a16:colId xmlns:a16="http://schemas.microsoft.com/office/drawing/2014/main" val="20015"/>
                    </a:ext>
                  </a:extLst>
                </a:gridCol>
                <a:gridCol w="674370">
                  <a:extLst>
                    <a:ext uri="{9D8B030D-6E8A-4147-A177-3AD203B41FA5}">
                      <a16:colId xmlns:a16="http://schemas.microsoft.com/office/drawing/2014/main" val="20016"/>
                    </a:ext>
                  </a:extLst>
                </a:gridCol>
                <a:gridCol w="530828">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Country</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a:lstStyle/>
                    <a:p>
                      <a:pPr algn="ctr"/>
                      <a:r>
                        <a:rPr sz="1100" b="1">
                          <a:solidFill>
                            <a:srgbClr val="0B2E4A"/>
                          </a:solidFill>
                          <a:latin typeface="Calibri"/>
                        </a:rPr>
                        <a:t>F-CAGR</a:t>
                      </a:r>
                      <a:endParaRPr sz="1100"/>
                    </a:p>
                  </a:txBody>
                  <a:tcPr marL="38100" marR="28575"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U.S.</a:t>
                      </a:r>
                      <a:endParaRPr sz="1100"/>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Canada</a:t>
                      </a:r>
                      <a:endParaRPr sz="1100"/>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65747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2981325"/>
            <a:ext cx="11639550" cy="3571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192536" y="1589913"/>
            <a:ext cx="366712" cy="533400"/>
          </a:xfrm>
          <a:prstGeom prst="rect">
            <a:avLst/>
          </a:prstGeom>
        </p:spPr>
      </p:pic>
      <p:sp>
        <p:nvSpPr>
          <p:cNvPr id="21" name="TextBox 20"/>
          <p:cNvSpPr txBox="1"/>
          <p:nvPr/>
        </p:nvSpPr>
        <p:spPr>
          <a:xfrm>
            <a:off x="276225" y="2990850"/>
            <a:ext cx="3639877" cy="194310"/>
          </a:xfrm>
          <a:prstGeom prst="rect">
            <a:avLst/>
          </a:prstGeom>
          <a:noFill/>
        </p:spPr>
        <p:txBody>
          <a:bodyPr wrap="none" lIns="0" tIns="0" rIns="0" bIns="0">
            <a:spAutoFit/>
          </a:bodyPr>
          <a:lstStyle/>
          <a:p>
            <a:r>
              <a:rPr sz="1150" b="0">
                <a:solidFill>
                  <a:srgbClr val="2E2E2E"/>
                </a:solidFill>
                <a:latin typeface="Calibri"/>
              </a:rPr>
              <a:t>The U.S. corrugated partition market is projected to register</a:t>
            </a:r>
          </a:p>
        </p:txBody>
      </p:sp>
      <p:pic>
        <p:nvPicPr>
          <p:cNvPr id="22" name="Picture 21" descr="lock.png"/>
          <p:cNvPicPr>
            <a:picLocks noChangeAspect="1"/>
          </p:cNvPicPr>
          <p:nvPr/>
        </p:nvPicPr>
        <p:blipFill>
          <a:blip r:embed="rId4"/>
          <a:stretch>
            <a:fillRect/>
          </a:stretch>
        </p:blipFill>
        <p:spPr>
          <a:xfrm>
            <a:off x="3865255" y="2980626"/>
            <a:ext cx="134549" cy="195707"/>
          </a:xfrm>
          <a:prstGeom prst="rect">
            <a:avLst/>
          </a:prstGeom>
        </p:spPr>
      </p:pic>
      <p:sp>
        <p:nvSpPr>
          <p:cNvPr id="23" name="TextBox 22"/>
          <p:cNvSpPr txBox="1"/>
          <p:nvPr/>
        </p:nvSpPr>
        <p:spPr>
          <a:xfrm>
            <a:off x="4040365" y="2990850"/>
            <a:ext cx="7770050" cy="194310"/>
          </a:xfrm>
          <a:prstGeom prst="rect">
            <a:avLst/>
          </a:prstGeom>
          <a:noFill/>
        </p:spPr>
        <p:txBody>
          <a:bodyPr wrap="none" lIns="0" tIns="0" rIns="0" bIns="0">
            <a:spAutoFit/>
          </a:bodyPr>
          <a:lstStyle/>
          <a:p>
            <a:r>
              <a:rPr sz="1150" b="0">
                <a:solidFill>
                  <a:srgbClr val="2E2E2E"/>
                </a:solidFill>
                <a:latin typeface="Calibri"/>
              </a:rPr>
              <a:t>X higher volume than Canada in 2036. Among corrugated partition by country, Canada is expected to witness the highest CAGR of</a:t>
            </a:r>
          </a:p>
        </p:txBody>
      </p:sp>
      <p:pic>
        <p:nvPicPr>
          <p:cNvPr id="24" name="Picture 23" descr="lock.png"/>
          <p:cNvPicPr>
            <a:picLocks noChangeAspect="1"/>
          </p:cNvPicPr>
          <p:nvPr/>
        </p:nvPicPr>
        <p:blipFill>
          <a:blip r:embed="rId4"/>
          <a:stretch>
            <a:fillRect/>
          </a:stretch>
        </p:blipFill>
        <p:spPr>
          <a:xfrm>
            <a:off x="262145" y="3155886"/>
            <a:ext cx="134549" cy="195707"/>
          </a:xfrm>
          <a:prstGeom prst="rect">
            <a:avLst/>
          </a:prstGeom>
        </p:spPr>
      </p:pic>
      <p:sp>
        <p:nvSpPr>
          <p:cNvPr id="25" name="TextBox 24"/>
          <p:cNvSpPr txBox="1"/>
          <p:nvPr/>
        </p:nvSpPr>
        <p:spPr>
          <a:xfrm>
            <a:off x="437254" y="3166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6" name="TextBox 25"/>
          <p:cNvSpPr txBox="1"/>
          <p:nvPr/>
        </p:nvSpPr>
        <p:spPr>
          <a:xfrm>
            <a:off x="276225" y="3393947"/>
            <a:ext cx="5106937" cy="194310"/>
          </a:xfrm>
          <a:prstGeom prst="rect">
            <a:avLst/>
          </a:prstGeom>
          <a:noFill/>
        </p:spPr>
        <p:txBody>
          <a:bodyPr wrap="none" lIns="0" tIns="0" rIns="0" bIns="0">
            <a:spAutoFit/>
          </a:bodyPr>
          <a:lstStyle/>
          <a:p>
            <a:r>
              <a:rPr sz="1150" b="0">
                <a:solidFill>
                  <a:srgbClr val="2E2E2E"/>
                </a:solidFill>
                <a:latin typeface="Calibri"/>
              </a:rPr>
              <a:t>In terms of volume share by country, U.S. is expected to dominate the market, losing</a:t>
            </a:r>
          </a:p>
        </p:txBody>
      </p:sp>
      <p:pic>
        <p:nvPicPr>
          <p:cNvPr id="27" name="Picture 26" descr="lock.png"/>
          <p:cNvPicPr>
            <a:picLocks noChangeAspect="1"/>
          </p:cNvPicPr>
          <p:nvPr/>
        </p:nvPicPr>
        <p:blipFill>
          <a:blip r:embed="rId4"/>
          <a:stretch>
            <a:fillRect/>
          </a:stretch>
        </p:blipFill>
        <p:spPr>
          <a:xfrm>
            <a:off x="5332316" y="3383724"/>
            <a:ext cx="134549" cy="195707"/>
          </a:xfrm>
          <a:prstGeom prst="rect">
            <a:avLst/>
          </a:prstGeom>
        </p:spPr>
      </p:pic>
      <p:sp>
        <p:nvSpPr>
          <p:cNvPr id="28" name="TextBox 27"/>
          <p:cNvSpPr txBox="1"/>
          <p:nvPr/>
        </p:nvSpPr>
        <p:spPr>
          <a:xfrm>
            <a:off x="5507426" y="3393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6902569" y="3383724"/>
            <a:ext cx="134549" cy="195707"/>
          </a:xfrm>
          <a:prstGeom prst="rect">
            <a:avLst/>
          </a:prstGeom>
        </p:spPr>
      </p:pic>
      <p:sp>
        <p:nvSpPr>
          <p:cNvPr id="30" name="TextBox 29"/>
          <p:cNvSpPr txBox="1"/>
          <p:nvPr/>
        </p:nvSpPr>
        <p:spPr>
          <a:xfrm>
            <a:off x="7077678" y="3393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696253">
                  <a:extLst>
                    <a:ext uri="{9D8B030D-6E8A-4147-A177-3AD203B41FA5}">
                      <a16:colId xmlns:a16="http://schemas.microsoft.com/office/drawing/2014/main" val="20000"/>
                    </a:ext>
                  </a:extLst>
                </a:gridCol>
                <a:gridCol w="658291">
                  <a:extLst>
                    <a:ext uri="{9D8B030D-6E8A-4147-A177-3AD203B41FA5}">
                      <a16:colId xmlns:a16="http://schemas.microsoft.com/office/drawing/2014/main" val="20001"/>
                    </a:ext>
                  </a:extLst>
                </a:gridCol>
                <a:gridCol w="658291">
                  <a:extLst>
                    <a:ext uri="{9D8B030D-6E8A-4147-A177-3AD203B41FA5}">
                      <a16:colId xmlns:a16="http://schemas.microsoft.com/office/drawing/2014/main" val="20002"/>
                    </a:ext>
                  </a:extLst>
                </a:gridCol>
                <a:gridCol w="658291">
                  <a:extLst>
                    <a:ext uri="{9D8B030D-6E8A-4147-A177-3AD203B41FA5}">
                      <a16:colId xmlns:a16="http://schemas.microsoft.com/office/drawing/2014/main" val="20003"/>
                    </a:ext>
                  </a:extLst>
                </a:gridCol>
                <a:gridCol w="658291">
                  <a:extLst>
                    <a:ext uri="{9D8B030D-6E8A-4147-A177-3AD203B41FA5}">
                      <a16:colId xmlns:a16="http://schemas.microsoft.com/office/drawing/2014/main" val="20004"/>
                    </a:ext>
                  </a:extLst>
                </a:gridCol>
                <a:gridCol w="658291">
                  <a:extLst>
                    <a:ext uri="{9D8B030D-6E8A-4147-A177-3AD203B41FA5}">
                      <a16:colId xmlns:a16="http://schemas.microsoft.com/office/drawing/2014/main" val="20005"/>
                    </a:ext>
                  </a:extLst>
                </a:gridCol>
                <a:gridCol w="658291">
                  <a:extLst>
                    <a:ext uri="{9D8B030D-6E8A-4147-A177-3AD203B41FA5}">
                      <a16:colId xmlns:a16="http://schemas.microsoft.com/office/drawing/2014/main" val="20006"/>
                    </a:ext>
                  </a:extLst>
                </a:gridCol>
                <a:gridCol w="658291">
                  <a:extLst>
                    <a:ext uri="{9D8B030D-6E8A-4147-A177-3AD203B41FA5}">
                      <a16:colId xmlns:a16="http://schemas.microsoft.com/office/drawing/2014/main" val="20007"/>
                    </a:ext>
                  </a:extLst>
                </a:gridCol>
                <a:gridCol w="658291">
                  <a:extLst>
                    <a:ext uri="{9D8B030D-6E8A-4147-A177-3AD203B41FA5}">
                      <a16:colId xmlns:a16="http://schemas.microsoft.com/office/drawing/2014/main" val="20008"/>
                    </a:ext>
                  </a:extLst>
                </a:gridCol>
                <a:gridCol w="658291">
                  <a:extLst>
                    <a:ext uri="{9D8B030D-6E8A-4147-A177-3AD203B41FA5}">
                      <a16:colId xmlns:a16="http://schemas.microsoft.com/office/drawing/2014/main" val="20009"/>
                    </a:ext>
                  </a:extLst>
                </a:gridCol>
                <a:gridCol w="658291">
                  <a:extLst>
                    <a:ext uri="{9D8B030D-6E8A-4147-A177-3AD203B41FA5}">
                      <a16:colId xmlns:a16="http://schemas.microsoft.com/office/drawing/2014/main" val="20010"/>
                    </a:ext>
                  </a:extLst>
                </a:gridCol>
                <a:gridCol w="658291">
                  <a:extLst>
                    <a:ext uri="{9D8B030D-6E8A-4147-A177-3AD203B41FA5}">
                      <a16:colId xmlns:a16="http://schemas.microsoft.com/office/drawing/2014/main" val="20011"/>
                    </a:ext>
                  </a:extLst>
                </a:gridCol>
                <a:gridCol w="658291">
                  <a:extLst>
                    <a:ext uri="{9D8B030D-6E8A-4147-A177-3AD203B41FA5}">
                      <a16:colId xmlns:a16="http://schemas.microsoft.com/office/drawing/2014/main" val="20012"/>
                    </a:ext>
                  </a:extLst>
                </a:gridCol>
                <a:gridCol w="658291">
                  <a:extLst>
                    <a:ext uri="{9D8B030D-6E8A-4147-A177-3AD203B41FA5}">
                      <a16:colId xmlns:a16="http://schemas.microsoft.com/office/drawing/2014/main" val="20013"/>
                    </a:ext>
                  </a:extLst>
                </a:gridCol>
                <a:gridCol w="658291">
                  <a:extLst>
                    <a:ext uri="{9D8B030D-6E8A-4147-A177-3AD203B41FA5}">
                      <a16:colId xmlns:a16="http://schemas.microsoft.com/office/drawing/2014/main" val="20014"/>
                    </a:ext>
                  </a:extLst>
                </a:gridCol>
                <a:gridCol w="658291">
                  <a:extLst>
                    <a:ext uri="{9D8B030D-6E8A-4147-A177-3AD203B41FA5}">
                      <a16:colId xmlns:a16="http://schemas.microsoft.com/office/drawing/2014/main" val="20015"/>
                    </a:ext>
                  </a:extLst>
                </a:gridCol>
                <a:gridCol w="658291">
                  <a:extLst>
                    <a:ext uri="{9D8B030D-6E8A-4147-A177-3AD203B41FA5}">
                      <a16:colId xmlns:a16="http://schemas.microsoft.com/office/drawing/2014/main" val="20016"/>
                    </a:ext>
                  </a:extLst>
                </a:gridCol>
                <a:gridCol w="658291">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U.S.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65747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2981325"/>
            <a:ext cx="11639550" cy="3571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57436" y="1589913"/>
            <a:ext cx="366712" cy="533400"/>
          </a:xfrm>
          <a:prstGeom prst="rect">
            <a:avLst/>
          </a:prstGeom>
        </p:spPr>
      </p:pic>
      <p:sp>
        <p:nvSpPr>
          <p:cNvPr id="21" name="TextBox 20"/>
          <p:cNvSpPr txBox="1"/>
          <p:nvPr/>
        </p:nvSpPr>
        <p:spPr>
          <a:xfrm>
            <a:off x="276225" y="2990850"/>
            <a:ext cx="3639877" cy="194310"/>
          </a:xfrm>
          <a:prstGeom prst="rect">
            <a:avLst/>
          </a:prstGeom>
          <a:noFill/>
        </p:spPr>
        <p:txBody>
          <a:bodyPr wrap="none" lIns="0" tIns="0" rIns="0" bIns="0">
            <a:spAutoFit/>
          </a:bodyPr>
          <a:lstStyle/>
          <a:p>
            <a:r>
              <a:rPr sz="1150" b="0">
                <a:solidFill>
                  <a:srgbClr val="2E2E2E"/>
                </a:solidFill>
                <a:latin typeface="Calibri"/>
              </a:rPr>
              <a:t>The U.S. corrugated partition market is projected to register</a:t>
            </a:r>
          </a:p>
        </p:txBody>
      </p:sp>
      <p:pic>
        <p:nvPicPr>
          <p:cNvPr id="22" name="Picture 21" descr="lock.png"/>
          <p:cNvPicPr>
            <a:picLocks noChangeAspect="1"/>
          </p:cNvPicPr>
          <p:nvPr/>
        </p:nvPicPr>
        <p:blipFill>
          <a:blip r:embed="rId4"/>
          <a:stretch>
            <a:fillRect/>
          </a:stretch>
        </p:blipFill>
        <p:spPr>
          <a:xfrm>
            <a:off x="3865255" y="2980626"/>
            <a:ext cx="134549" cy="195707"/>
          </a:xfrm>
          <a:prstGeom prst="rect">
            <a:avLst/>
          </a:prstGeom>
        </p:spPr>
      </p:pic>
      <p:sp>
        <p:nvSpPr>
          <p:cNvPr id="23" name="TextBox 22"/>
          <p:cNvSpPr txBox="1"/>
          <p:nvPr/>
        </p:nvSpPr>
        <p:spPr>
          <a:xfrm>
            <a:off x="4040365" y="2990850"/>
            <a:ext cx="7646250" cy="194310"/>
          </a:xfrm>
          <a:prstGeom prst="rect">
            <a:avLst/>
          </a:prstGeom>
          <a:noFill/>
        </p:spPr>
        <p:txBody>
          <a:bodyPr wrap="none" lIns="0" tIns="0" rIns="0" bIns="0">
            <a:spAutoFit/>
          </a:bodyPr>
          <a:lstStyle/>
          <a:p>
            <a:r>
              <a:rPr sz="1150" b="0">
                <a:solidFill>
                  <a:srgbClr val="2E2E2E"/>
                </a:solidFill>
                <a:latin typeface="Calibri"/>
              </a:rPr>
              <a:t>X higher value than Canada in 2036. Among corrugated partition by country, Canada is expected to witness the highest CAGR of</a:t>
            </a:r>
          </a:p>
        </p:txBody>
      </p:sp>
      <p:pic>
        <p:nvPicPr>
          <p:cNvPr id="24" name="Picture 23" descr="lock.png"/>
          <p:cNvPicPr>
            <a:picLocks noChangeAspect="1"/>
          </p:cNvPicPr>
          <p:nvPr/>
        </p:nvPicPr>
        <p:blipFill>
          <a:blip r:embed="rId4"/>
          <a:stretch>
            <a:fillRect/>
          </a:stretch>
        </p:blipFill>
        <p:spPr>
          <a:xfrm>
            <a:off x="262145" y="3155886"/>
            <a:ext cx="134549" cy="195707"/>
          </a:xfrm>
          <a:prstGeom prst="rect">
            <a:avLst/>
          </a:prstGeom>
        </p:spPr>
      </p:pic>
      <p:sp>
        <p:nvSpPr>
          <p:cNvPr id="25" name="TextBox 24"/>
          <p:cNvSpPr txBox="1"/>
          <p:nvPr/>
        </p:nvSpPr>
        <p:spPr>
          <a:xfrm>
            <a:off x="437254" y="3166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6" name="TextBox 25"/>
          <p:cNvSpPr txBox="1"/>
          <p:nvPr/>
        </p:nvSpPr>
        <p:spPr>
          <a:xfrm>
            <a:off x="276225" y="3393947"/>
            <a:ext cx="4983137" cy="194310"/>
          </a:xfrm>
          <a:prstGeom prst="rect">
            <a:avLst/>
          </a:prstGeom>
          <a:noFill/>
        </p:spPr>
        <p:txBody>
          <a:bodyPr wrap="none" lIns="0" tIns="0" rIns="0" bIns="0">
            <a:spAutoFit/>
          </a:bodyPr>
          <a:lstStyle/>
          <a:p>
            <a:r>
              <a:rPr sz="1150" b="0">
                <a:solidFill>
                  <a:srgbClr val="2E2E2E"/>
                </a:solidFill>
                <a:latin typeface="Calibri"/>
              </a:rPr>
              <a:t>In terms of value share by country, U.S. is expected to dominate the market, losing</a:t>
            </a:r>
          </a:p>
        </p:txBody>
      </p:sp>
      <p:pic>
        <p:nvPicPr>
          <p:cNvPr id="27" name="Picture 26" descr="lock.png"/>
          <p:cNvPicPr>
            <a:picLocks noChangeAspect="1"/>
          </p:cNvPicPr>
          <p:nvPr/>
        </p:nvPicPr>
        <p:blipFill>
          <a:blip r:embed="rId4"/>
          <a:stretch>
            <a:fillRect/>
          </a:stretch>
        </p:blipFill>
        <p:spPr>
          <a:xfrm>
            <a:off x="5208516" y="3383724"/>
            <a:ext cx="134549" cy="195707"/>
          </a:xfrm>
          <a:prstGeom prst="rect">
            <a:avLst/>
          </a:prstGeom>
        </p:spPr>
      </p:pic>
      <p:sp>
        <p:nvSpPr>
          <p:cNvPr id="28" name="TextBox 27"/>
          <p:cNvSpPr txBox="1"/>
          <p:nvPr/>
        </p:nvSpPr>
        <p:spPr>
          <a:xfrm>
            <a:off x="5383625" y="3393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6778769" y="3383724"/>
            <a:ext cx="134549" cy="195707"/>
          </a:xfrm>
          <a:prstGeom prst="rect">
            <a:avLst/>
          </a:prstGeom>
        </p:spPr>
      </p:pic>
      <p:sp>
        <p:nvSpPr>
          <p:cNvPr id="30" name="TextBox 29"/>
          <p:cNvSpPr txBox="1"/>
          <p:nvPr/>
        </p:nvSpPr>
        <p:spPr>
          <a:xfrm>
            <a:off x="6953878" y="3393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Trends, By Country</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By Country (MT)</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238125" y="39243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17" name="TextBox 1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6058646" y="2026489"/>
            <a:ext cx="363375" cy="528545"/>
          </a:xfrm>
          <a:prstGeom prst="rect">
            <a:avLst/>
          </a:prstGeom>
        </p:spPr>
      </p:pic>
      <p:pic>
        <p:nvPicPr>
          <p:cNvPr id="19" name="Picture 18" descr="lock.png"/>
          <p:cNvPicPr>
            <a:picLocks noChangeAspect="1"/>
          </p:cNvPicPr>
          <p:nvPr/>
        </p:nvPicPr>
        <p:blipFill>
          <a:blip r:embed="rId6"/>
          <a:stretch>
            <a:fillRect/>
          </a:stretch>
        </p:blipFill>
        <p:spPr>
          <a:xfrm>
            <a:off x="6058646" y="4912564"/>
            <a:ext cx="363375" cy="528545"/>
          </a:xfrm>
          <a:prstGeom prst="rect">
            <a:avLst/>
          </a:prstGeom>
        </p:spPr>
      </p:pic>
      <p:sp>
        <p:nvSpPr>
          <p:cNvPr id="20" name="lockshield_13"/>
          <p:cNvSpPr/>
          <p:nvPr/>
        </p:nvSpPr>
        <p:spPr>
          <a:xfrm>
            <a:off x="238125" y="1266825"/>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lockshield_16"/>
          <p:cNvSpPr/>
          <p:nvPr/>
        </p:nvSpPr>
        <p:spPr>
          <a:xfrm>
            <a:off x="238125" y="4152900"/>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Corrugated Partition Market Top 2 Countries (2036)</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7899387"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8137512" y="1266825"/>
            <a:ext cx="3816363"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5" name="TextBox 1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4130192" y="3919537"/>
            <a:ext cx="115252" cy="167639"/>
          </a:xfrm>
          <a:prstGeom prst="rect">
            <a:avLst/>
          </a:prstGeom>
        </p:spPr>
      </p:pic>
      <p:pic>
        <p:nvPicPr>
          <p:cNvPr id="17" name="Picture 16" descr="lock.png"/>
          <p:cNvPicPr>
            <a:picLocks noChangeAspect="1"/>
          </p:cNvPicPr>
          <p:nvPr/>
        </p:nvPicPr>
        <p:blipFill>
          <a:blip r:embed="rId4"/>
          <a:stretch>
            <a:fillRect/>
          </a:stretch>
        </p:blipFill>
        <p:spPr>
          <a:xfrm>
            <a:off x="9988067" y="3919537"/>
            <a:ext cx="115252" cy="167639"/>
          </a:xfrm>
          <a:prstGeom prst="rect">
            <a:avLst/>
          </a:prstGeom>
        </p:spPr>
      </p:pic>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308225"/>
            <a:ext cx="8572500" cy="514350"/>
          </a:xfrm>
          <a:prstGeom prst="rect">
            <a:avLst/>
          </a:prstGeom>
          <a:noFill/>
        </p:spPr>
        <p:txBody>
          <a:bodyPr wrap="square" lIns="0" tIns="0" r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2994025"/>
            <a:ext cx="8458200" cy="28511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Partition Type</a:t>
            </a:r>
          </a:p>
          <a:p>
            <a:pPr marL="342900" indent="-323850">
              <a:lnSpc>
                <a:spcPct val="100000"/>
              </a:lnSpc>
              <a:spcAft>
                <a:spcPts val="800"/>
              </a:spcAft>
            </a:pPr>
            <a:r>
              <a:rPr sz="2000" b="0">
                <a:solidFill>
                  <a:srgbClr val="000000"/>
                </a:solidFill>
                <a:latin typeface="Calibri"/>
              </a:rPr>
              <a:t>➤	By Board Construction</a:t>
            </a:r>
          </a:p>
          <a:p>
            <a:pPr marL="342900" indent="-323850">
              <a:lnSpc>
                <a:spcPct val="100000"/>
              </a:lnSpc>
              <a:spcAft>
                <a:spcPts val="800"/>
              </a:spcAft>
            </a:pPr>
            <a:r>
              <a:rPr sz="2000" b="0">
                <a:solidFill>
                  <a:srgbClr val="000000"/>
                </a:solidFill>
                <a:latin typeface="Calibri"/>
              </a:rPr>
              <a:t>➤	By Material Source</a:t>
            </a:r>
          </a:p>
          <a:p>
            <a:pPr marL="342900" indent="-323850">
              <a:lnSpc>
                <a:spcPct val="100000"/>
              </a:lnSpc>
              <a:spcAft>
                <a:spcPts val="800"/>
              </a:spcAft>
            </a:pPr>
            <a:r>
              <a:rPr sz="2000" b="0">
                <a:solidFill>
                  <a:srgbClr val="000000"/>
                </a:solidFill>
                <a:latin typeface="Calibri"/>
              </a:rPr>
              <a:t>➤	By Cell Configuration</a:t>
            </a:r>
          </a:p>
          <a:p>
            <a:pPr marL="342900" indent="-323850">
              <a:lnSpc>
                <a:spcPct val="100000"/>
              </a:lnSpc>
              <a:spcAft>
                <a:spcPts val="800"/>
              </a:spcAft>
            </a:pPr>
            <a:r>
              <a:rPr sz="2000" b="0">
                <a:solidFill>
                  <a:srgbClr val="000000"/>
                </a:solidFill>
                <a:latin typeface="Calibri"/>
              </a:rPr>
              <a:t>➤	By Customization</a:t>
            </a:r>
          </a:p>
          <a:p>
            <a:pPr marL="342900" indent="-323850">
              <a:lnSpc>
                <a:spcPct val="100000"/>
              </a:lnSpc>
              <a:spcAft>
                <a:spcPts val="800"/>
              </a:spcAft>
            </a:pPr>
            <a:r>
              <a:rPr sz="2000" b="0">
                <a:solidFill>
                  <a:srgbClr val="000000"/>
                </a:solidFill>
                <a:latin typeface="Calibri"/>
              </a:rPr>
              <a:t>➤	By End Use</a:t>
            </a:r>
          </a:p>
          <a:p>
            <a:pPr marL="342900" indent="-323850">
              <a:lnSpc>
                <a:spcPct val="100000"/>
              </a:lnSpc>
              <a:spcAft>
                <a:spcPts val="800"/>
              </a:spcAft>
            </a:pPr>
            <a:r>
              <a:rPr sz="2000" b="0">
                <a:solidFill>
                  <a:srgbClr val="000000"/>
                </a:solidFill>
                <a:latin typeface="Calibri"/>
              </a:rPr>
              <a:t>➤	By Sales Channel</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Partition Type</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Partition Type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Partition Type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3 sub-segments of Partition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Partition Type segment categorizes the market by partition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Flat Dividers &amp; Layer Pads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527685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Die-Cut &amp; Folded Partitions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86487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Slotted (Interlocking Grid) Parti…</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457200" y="4219912"/>
            <a:ext cx="2971800" cy="2117429"/>
          </a:xfrm>
          <a:prstGeom prst="rect">
            <a:avLst/>
          </a:prstGeom>
          <a:noFill/>
        </p:spPr>
        <p:txBody>
          <a:bodyPr wrap="square" lIns="28575" tIns="9525" rIns="28575" bIns="9525">
            <a:spAutoFit/>
          </a:bodyPr>
          <a:lstStyle/>
          <a:p>
            <a:pPr algn="l">
              <a:lnSpc>
                <a:spcPct val="105000"/>
              </a:lnSpc>
              <a:spcBef>
                <a:spcPts val="0"/>
              </a:spcBef>
              <a:spcAft>
                <a:spcPts val="300"/>
              </a:spcAft>
            </a:pPr>
            <a:endParaRPr/>
          </a:p>
          <a:p>
            <a:pPr algn="l">
              <a:lnSpc>
                <a:spcPct val="105000"/>
              </a:lnSpc>
              <a:spcBef>
                <a:spcPts val="0"/>
              </a:spcBef>
              <a:spcAft>
                <a:spcPts val="300"/>
              </a:spcAft>
            </a:pPr>
            <a:endParaRP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Partition Type split shows how demand is distributed across partition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TextBox 53"/>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7" name="Picture 56" descr="558_2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902_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9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40_9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445_6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2_7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56_9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23_3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3_6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74292" cy="186689"/>
          </a:xfrm>
          <a:prstGeom prst="rect">
            <a:avLst/>
          </a:prstGeom>
          <a:noFill/>
        </p:spPr>
        <p:txBody>
          <a:bodyPr wrap="none" lIns="0" tIns="0" rIns="0" bIns="0">
            <a:spAutoFit/>
          </a:bodyPr>
          <a:lstStyle/>
          <a:p>
            <a:r>
              <a:rPr sz="1100" b="0">
                <a:solidFill>
                  <a:srgbClr val="2E2E2E"/>
                </a:solidFill>
                <a:latin typeface="Calibri"/>
              </a:rPr>
              <a:t>▪ ¶ Among corrugated partition by partition type,</a:t>
            </a:r>
          </a:p>
        </p:txBody>
      </p:sp>
      <p:sp>
        <p:nvSpPr>
          <p:cNvPr id="70" name="TextBox 69"/>
          <p:cNvSpPr txBox="1"/>
          <p:nvPr/>
        </p:nvSpPr>
        <p:spPr>
          <a:xfrm>
            <a:off x="485775" y="4397077"/>
            <a:ext cx="2830363" cy="186689"/>
          </a:xfrm>
          <a:prstGeom prst="rect">
            <a:avLst/>
          </a:prstGeom>
          <a:noFill/>
        </p:spPr>
        <p:txBody>
          <a:bodyPr wrap="none" lIns="0" tIns="0" rIns="0" bIns="0">
            <a:spAutoFit/>
          </a:bodyPr>
          <a:lstStyle/>
          <a:p>
            <a:r>
              <a:rPr sz="1100" b="0">
                <a:solidFill>
                  <a:srgbClr val="2E2E2E"/>
                </a:solidFill>
                <a:latin typeface="Calibri"/>
              </a:rPr>
              <a:t>flat dividers &amp; layer pads segment is expected to</a:t>
            </a:r>
          </a:p>
        </p:txBody>
      </p:sp>
      <p:sp>
        <p:nvSpPr>
          <p:cNvPr id="71" name="TextBox 70"/>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72" name="Picture 71" descr="lock.png"/>
          <p:cNvPicPr>
            <a:picLocks noChangeAspect="1"/>
          </p:cNvPicPr>
          <p:nvPr/>
        </p:nvPicPr>
        <p:blipFill>
          <a:blip r:embed="rId13"/>
          <a:stretch>
            <a:fillRect/>
          </a:stretch>
        </p:blipFill>
        <p:spPr>
          <a:xfrm>
            <a:off x="2108919" y="4554938"/>
            <a:ext cx="128699" cy="187198"/>
          </a:xfrm>
          <a:prstGeom prst="rect">
            <a:avLst/>
          </a:prstGeom>
        </p:spPr>
      </p:pic>
      <p:sp>
        <p:nvSpPr>
          <p:cNvPr id="73" name="TextBox 72"/>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74" name="TextBox 73"/>
          <p:cNvSpPr txBox="1"/>
          <p:nvPr/>
        </p:nvSpPr>
        <p:spPr>
          <a:xfrm>
            <a:off x="485775" y="4732357"/>
            <a:ext cx="2829545" cy="186689"/>
          </a:xfrm>
          <a:prstGeom prst="rect">
            <a:avLst/>
          </a:prstGeom>
          <a:noFill/>
        </p:spPr>
        <p:txBody>
          <a:bodyPr wrap="none" lIns="0" tIns="0" rIns="0" bIns="0">
            <a:spAutoFit/>
          </a:bodyPr>
          <a:lstStyle/>
          <a:p>
            <a:r>
              <a:rPr sz="1100" b="0">
                <a:solidFill>
                  <a:srgbClr val="2E2E2E"/>
                </a:solidFill>
                <a:latin typeface="Calibri"/>
              </a:rPr>
              <a:t>period. In terms of value share by partition type,</a:t>
            </a:r>
          </a:p>
        </p:txBody>
      </p:sp>
      <p:sp>
        <p:nvSpPr>
          <p:cNvPr id="75" name="TextBox 74"/>
          <p:cNvSpPr txBox="1"/>
          <p:nvPr/>
        </p:nvSpPr>
        <p:spPr>
          <a:xfrm>
            <a:off x="485775" y="4899997"/>
            <a:ext cx="2899667" cy="186689"/>
          </a:xfrm>
          <a:prstGeom prst="rect">
            <a:avLst/>
          </a:prstGeom>
          <a:noFill/>
        </p:spPr>
        <p:txBody>
          <a:bodyPr wrap="none" lIns="0" tIns="0" rIns="0" bIns="0">
            <a:spAutoFit/>
          </a:bodyPr>
          <a:lstStyle/>
          <a:p>
            <a:r>
              <a:rPr sz="1100" b="0">
                <a:solidFill>
                  <a:srgbClr val="2E2E2E"/>
                </a:solidFill>
                <a:latin typeface="Calibri"/>
              </a:rPr>
              <a:t>the flat dividers &amp; layer pads segment is expected</a:t>
            </a:r>
          </a:p>
        </p:txBody>
      </p:sp>
      <p:sp>
        <p:nvSpPr>
          <p:cNvPr id="76" name="TextBox 75"/>
          <p:cNvSpPr txBox="1"/>
          <p:nvPr/>
        </p:nvSpPr>
        <p:spPr>
          <a:xfrm>
            <a:off x="485775" y="5067637"/>
            <a:ext cx="1912763" cy="186689"/>
          </a:xfrm>
          <a:prstGeom prst="rect">
            <a:avLst/>
          </a:prstGeom>
          <a:noFill/>
        </p:spPr>
        <p:txBody>
          <a:bodyPr wrap="none" lIns="0" tIns="0" rIns="0" bIns="0">
            <a:spAutoFit/>
          </a:bodyPr>
          <a:lstStyle/>
          <a:p>
            <a:r>
              <a:rPr sz="1100" b="0">
                <a:solidFill>
                  <a:srgbClr val="2E2E2E"/>
                </a:solidFill>
                <a:latin typeface="Calibri"/>
              </a:rPr>
              <a:t>to dominate the market, gaining</a:t>
            </a:r>
          </a:p>
        </p:txBody>
      </p:sp>
      <p:pic>
        <p:nvPicPr>
          <p:cNvPr id="77" name="Picture 76" descr="lock.png"/>
          <p:cNvPicPr>
            <a:picLocks noChangeAspect="1"/>
          </p:cNvPicPr>
          <p:nvPr/>
        </p:nvPicPr>
        <p:blipFill>
          <a:blip r:embed="rId13"/>
          <a:stretch>
            <a:fillRect/>
          </a:stretch>
        </p:blipFill>
        <p:spPr>
          <a:xfrm>
            <a:off x="2346590" y="5057858"/>
            <a:ext cx="128699" cy="187198"/>
          </a:xfrm>
          <a:prstGeom prst="rect">
            <a:avLst/>
          </a:prstGeom>
        </p:spPr>
      </p:pic>
      <p:sp>
        <p:nvSpPr>
          <p:cNvPr id="78" name="TextBox 77"/>
          <p:cNvSpPr txBox="1"/>
          <p:nvPr/>
        </p:nvSpPr>
        <p:spPr>
          <a:xfrm>
            <a:off x="2514086" y="5067637"/>
            <a:ext cx="534044" cy="186689"/>
          </a:xfrm>
          <a:prstGeom prst="rect">
            <a:avLst/>
          </a:prstGeom>
          <a:noFill/>
        </p:spPr>
        <p:txBody>
          <a:bodyPr wrap="none" lIns="0" tIns="0" r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tIns="0" r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82" name="TextBox 81"/>
          <p:cNvSpPr txBox="1"/>
          <p:nvPr/>
        </p:nvSpPr>
        <p:spPr>
          <a:xfrm>
            <a:off x="485775" y="5453209"/>
            <a:ext cx="2914650" cy="186689"/>
          </a:xfrm>
          <a:prstGeom prst="rect">
            <a:avLst/>
          </a:prstGeom>
          <a:noFill/>
        </p:spPr>
        <p:txBody>
          <a:bodyPr wrap="none" lIns="0" tIns="0" rIns="0" bIns="0">
            <a:spAutoFit/>
          </a:bodyPr>
          <a:lstStyle/>
          <a:p>
            <a:r>
              <a:rPr sz="1100" b="0">
                <a:solidFill>
                  <a:srgbClr val="2E2E2E"/>
                </a:solidFill>
                <a:latin typeface="Calibri"/>
              </a:rPr>
              <a:t>▪ ¶ Flat dividers &amp; layer pads segment is projected</a:t>
            </a:r>
          </a:p>
        </p:txBody>
      </p:sp>
      <p:sp>
        <p:nvSpPr>
          <p:cNvPr id="83" name="TextBox 82"/>
          <p:cNvSpPr txBox="1"/>
          <p:nvPr/>
        </p:nvSpPr>
        <p:spPr>
          <a:xfrm>
            <a:off x="485775" y="5620849"/>
            <a:ext cx="664740" cy="186689"/>
          </a:xfrm>
          <a:prstGeom prst="rect">
            <a:avLst/>
          </a:prstGeom>
          <a:noFill/>
        </p:spPr>
        <p:txBody>
          <a:bodyPr wrap="none" lIns="0" tIns="0" rIns="0" bIns="0">
            <a:spAutoFit/>
          </a:bodyPr>
          <a:lstStyle/>
          <a:p>
            <a:r>
              <a:rPr sz="1100" b="0">
                <a:solidFill>
                  <a:srgbClr val="2E2E2E"/>
                </a:solidFill>
                <a:latin typeface="Calibri"/>
              </a:rPr>
              <a:t>to register</a:t>
            </a:r>
          </a:p>
        </p:txBody>
      </p:sp>
      <p:pic>
        <p:nvPicPr>
          <p:cNvPr id="84" name="Picture 83" descr="lock.png"/>
          <p:cNvPicPr>
            <a:picLocks noChangeAspect="1"/>
          </p:cNvPicPr>
          <p:nvPr/>
        </p:nvPicPr>
        <p:blipFill>
          <a:blip r:embed="rId13"/>
          <a:stretch>
            <a:fillRect/>
          </a:stretch>
        </p:blipFill>
        <p:spPr>
          <a:xfrm>
            <a:off x="1098567" y="5611070"/>
            <a:ext cx="128699" cy="187198"/>
          </a:xfrm>
          <a:prstGeom prst="rect">
            <a:avLst/>
          </a:prstGeom>
        </p:spPr>
      </p:pic>
      <p:sp>
        <p:nvSpPr>
          <p:cNvPr id="85" name="TextBox 84"/>
          <p:cNvSpPr txBox="1"/>
          <p:nvPr/>
        </p:nvSpPr>
        <p:spPr>
          <a:xfrm>
            <a:off x="1266063" y="5620849"/>
            <a:ext cx="2125042" cy="186689"/>
          </a:xfrm>
          <a:prstGeom prst="rect">
            <a:avLst/>
          </a:prstGeom>
          <a:noFill/>
        </p:spPr>
        <p:txBody>
          <a:bodyPr wrap="none" lIns="0" tIns="0" rIns="0" bIns="0">
            <a:spAutoFit/>
          </a:bodyPr>
          <a:lstStyle/>
          <a:p>
            <a:r>
              <a:rPr sz="1100" b="0">
                <a:solidFill>
                  <a:srgbClr val="2E2E2E"/>
                </a:solidFill>
                <a:latin typeface="Calibri"/>
              </a:rPr>
              <a:t>X higher value than die-cut &amp; folded</a:t>
            </a:r>
          </a:p>
        </p:txBody>
      </p:sp>
      <p:sp>
        <p:nvSpPr>
          <p:cNvPr id="86" name="TextBox 85"/>
          <p:cNvSpPr txBox="1"/>
          <p:nvPr/>
        </p:nvSpPr>
        <p:spPr>
          <a:xfrm>
            <a:off x="485775" y="5788489"/>
            <a:ext cx="2914650" cy="186689"/>
          </a:xfrm>
          <a:prstGeom prst="rect">
            <a:avLst/>
          </a:prstGeom>
          <a:noFill/>
        </p:spPr>
        <p:txBody>
          <a:bodyPr wrap="none" lIns="0" tIns="0" rIns="0" bIns="0">
            <a:spAutoFit/>
          </a:bodyPr>
          <a:lstStyle/>
          <a:p>
            <a:r>
              <a:rPr sz="1100" b="0">
                <a:solidFill>
                  <a:srgbClr val="2E2E2E"/>
                </a:solidFill>
                <a:latin typeface="Calibri"/>
              </a:rPr>
              <a:t>partitions (h-dividers, tube/cell inserts) segment in</a:t>
            </a:r>
          </a:p>
        </p:txBody>
      </p:sp>
      <p:sp>
        <p:nvSpPr>
          <p:cNvPr id="87" name="TextBox 86"/>
          <p:cNvSpPr txBox="1"/>
          <p:nvPr/>
        </p:nvSpPr>
        <p:spPr>
          <a:xfrm>
            <a:off x="485775" y="5956129"/>
            <a:ext cx="395163" cy="186689"/>
          </a:xfrm>
          <a:prstGeom prst="rect">
            <a:avLst/>
          </a:prstGeom>
          <a:noFill/>
        </p:spPr>
        <p:txBody>
          <a:bodyPr wrap="none" lIns="0" tIns="0" rIns="0" bIns="0">
            <a:spAutoFit/>
          </a:bodyPr>
          <a:lstStyle/>
          <a:p>
            <a:r>
              <a:rPr sz="1100" b="0">
                <a:solidFill>
                  <a:srgbClr val="2E2E2E"/>
                </a:solidFill>
                <a:latin typeface="Calibri"/>
              </a:rPr>
              <a:t>2036.</a:t>
            </a:r>
          </a:p>
        </p:txBody>
      </p:sp>
      <p:sp>
        <p:nvSpPr>
          <p:cNvPr id="88" name="TextBox 87"/>
          <p:cNvSpPr txBox="1"/>
          <p:nvPr/>
        </p:nvSpPr>
        <p:spPr>
          <a:xfrm>
            <a:off x="3838575" y="4229437"/>
            <a:ext cx="1695574" cy="186689"/>
          </a:xfrm>
          <a:prstGeom prst="rect">
            <a:avLst/>
          </a:prstGeom>
          <a:noFill/>
        </p:spPr>
        <p:txBody>
          <a:bodyPr wrap="none" lIns="0" tIns="0" rIns="0" bIns="0">
            <a:spAutoFit/>
          </a:bodyPr>
          <a:lstStyle/>
          <a:p>
            <a:r>
              <a:rPr sz="1100" b="0">
                <a:solidFill>
                  <a:srgbClr val="2E2E2E"/>
                </a:solidFill>
                <a:latin typeface="Calibri"/>
              </a:rPr>
              <a:t>● Flat Dividers &amp; Layer Pads:</a:t>
            </a:r>
          </a:p>
        </p:txBody>
      </p:sp>
      <p:pic>
        <p:nvPicPr>
          <p:cNvPr id="89" name="Picture 88" descr="lock.png"/>
          <p:cNvPicPr>
            <a:picLocks noChangeAspect="1"/>
          </p:cNvPicPr>
          <p:nvPr/>
        </p:nvPicPr>
        <p:blipFill>
          <a:blip r:embed="rId13"/>
          <a:stretch>
            <a:fillRect/>
          </a:stretch>
        </p:blipFill>
        <p:spPr>
          <a:xfrm>
            <a:off x="5482200" y="4219658"/>
            <a:ext cx="128699" cy="187198"/>
          </a:xfrm>
          <a:prstGeom prst="rect">
            <a:avLst/>
          </a:prstGeom>
        </p:spPr>
      </p:pic>
      <p:sp>
        <p:nvSpPr>
          <p:cNvPr id="90" name="TextBox 89"/>
          <p:cNvSpPr txBox="1"/>
          <p:nvPr/>
        </p:nvSpPr>
        <p:spPr>
          <a:xfrm>
            <a:off x="5649696"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91" name="Picture 90" descr="lock.png"/>
          <p:cNvPicPr>
            <a:picLocks noChangeAspect="1"/>
          </p:cNvPicPr>
          <p:nvPr/>
        </p:nvPicPr>
        <p:blipFill>
          <a:blip r:embed="rId13"/>
          <a:stretch>
            <a:fillRect/>
          </a:stretch>
        </p:blipFill>
        <p:spPr>
          <a:xfrm>
            <a:off x="6509146" y="4219658"/>
            <a:ext cx="128699" cy="187198"/>
          </a:xfrm>
          <a:prstGeom prst="rect">
            <a:avLst/>
          </a:prstGeom>
        </p:spPr>
      </p:pic>
      <p:sp>
        <p:nvSpPr>
          <p:cNvPr id="92" name="TextBox 91"/>
          <p:cNvSpPr txBox="1"/>
          <p:nvPr/>
        </p:nvSpPr>
        <p:spPr>
          <a:xfrm>
            <a:off x="6676642" y="4229437"/>
            <a:ext cx="945215" cy="186689"/>
          </a:xfrm>
          <a:prstGeom prst="rect">
            <a:avLst/>
          </a:prstGeom>
          <a:noFill/>
        </p:spPr>
        <p:txBody>
          <a:bodyPr wrap="none" lIns="0" tIns="0" rIns="0" bIns="0">
            <a:spAutoFit/>
          </a:bodyPr>
          <a:lstStyle/>
          <a:p>
            <a:r>
              <a:rPr sz="1100" b="0">
                <a:solidFill>
                  <a:srgbClr val="2E2E2E"/>
                </a:solidFill>
                <a:latin typeface="Calibri"/>
              </a:rPr>
              <a:t>CAGR leads the</a:t>
            </a:r>
          </a:p>
        </p:txBody>
      </p:sp>
      <p:sp>
        <p:nvSpPr>
          <p:cNvPr id="93" name="TextBox 92"/>
          <p:cNvSpPr txBox="1"/>
          <p:nvPr/>
        </p:nvSpPr>
        <p:spPr>
          <a:xfrm>
            <a:off x="3838575" y="4397077"/>
            <a:ext cx="602803" cy="186689"/>
          </a:xfrm>
          <a:prstGeom prst="rect">
            <a:avLst/>
          </a:prstGeom>
          <a:noFill/>
        </p:spPr>
        <p:txBody>
          <a:bodyPr wrap="none" lIns="0" tIns="0" rIns="0" bIns="0">
            <a:spAutoFit/>
          </a:bodyPr>
          <a:lstStyle/>
          <a:p>
            <a:r>
              <a:rPr sz="1100" b="0">
                <a:solidFill>
                  <a:srgbClr val="2E2E2E"/>
                </a:solidFill>
                <a:latin typeface="Calibri"/>
              </a:rPr>
              <a:t>segment.</a:t>
            </a:r>
          </a:p>
        </p:txBody>
      </p:sp>
      <p:sp>
        <p:nvSpPr>
          <p:cNvPr id="94" name="TextBox 93"/>
          <p:cNvSpPr txBox="1"/>
          <p:nvPr/>
        </p:nvSpPr>
        <p:spPr>
          <a:xfrm>
            <a:off x="3838575" y="4615009"/>
            <a:ext cx="3541934" cy="186689"/>
          </a:xfrm>
          <a:prstGeom prst="rect">
            <a:avLst/>
          </a:prstGeom>
          <a:noFill/>
        </p:spPr>
        <p:txBody>
          <a:bodyPr wrap="none" lIns="0" tIns="0" rIns="0" bIns="0">
            <a:spAutoFit/>
          </a:bodyPr>
          <a:lstStyle/>
          <a:p>
            <a:r>
              <a:rPr sz="1100" b="1">
                <a:solidFill>
                  <a:srgbClr val="0E72AE"/>
                </a:solidFill>
                <a:latin typeface="Calibri"/>
              </a:rPr>
              <a:t>● Die-Cut &amp; Folded Partitions (H-dividers, tube/cell inserts):</a:t>
            </a:r>
          </a:p>
        </p:txBody>
      </p:sp>
      <p:pic>
        <p:nvPicPr>
          <p:cNvPr id="95" name="Picture 94" descr="lock.png"/>
          <p:cNvPicPr>
            <a:picLocks noChangeAspect="1"/>
          </p:cNvPicPr>
          <p:nvPr/>
        </p:nvPicPr>
        <p:blipFill>
          <a:blip r:embed="rId13"/>
          <a:stretch>
            <a:fillRect/>
          </a:stretch>
        </p:blipFill>
        <p:spPr>
          <a:xfrm>
            <a:off x="7328561" y="4605230"/>
            <a:ext cx="128699" cy="187198"/>
          </a:xfrm>
          <a:prstGeom prst="rect">
            <a:avLst/>
          </a:prstGeom>
        </p:spPr>
      </p:pic>
      <p:sp>
        <p:nvSpPr>
          <p:cNvPr id="96" name="TextBox 95"/>
          <p:cNvSpPr txBox="1"/>
          <p:nvPr/>
        </p:nvSpPr>
        <p:spPr>
          <a:xfrm>
            <a:off x="7496057" y="4615009"/>
            <a:ext cx="195436" cy="186689"/>
          </a:xfrm>
          <a:prstGeom prst="rect">
            <a:avLst/>
          </a:prstGeom>
          <a:noFill/>
        </p:spPr>
        <p:txBody>
          <a:bodyPr wrap="none" lIns="0" tIns="0" rIns="0" bIns="0">
            <a:spAutoFit/>
          </a:bodyPr>
          <a:lstStyle/>
          <a:p>
            <a:r>
              <a:rPr sz="1100" b="1">
                <a:solidFill>
                  <a:srgbClr val="0E72AE"/>
                </a:solidFill>
                <a:latin typeface="Calibri"/>
              </a:rPr>
              <a:t>of</a:t>
            </a:r>
          </a:p>
        </p:txBody>
      </p:sp>
      <p:sp>
        <p:nvSpPr>
          <p:cNvPr id="97" name="TextBox 96"/>
          <p:cNvSpPr txBox="1"/>
          <p:nvPr/>
        </p:nvSpPr>
        <p:spPr>
          <a:xfrm>
            <a:off x="3838575" y="4782649"/>
            <a:ext cx="775518" cy="186689"/>
          </a:xfrm>
          <a:prstGeom prst="rect">
            <a:avLst/>
          </a:prstGeom>
          <a:noFill/>
        </p:spPr>
        <p:txBody>
          <a:bodyPr wrap="none" lIns="0" tIns="0" rIns="0" bIns="0">
            <a:spAutoFit/>
          </a:bodyPr>
          <a:lstStyle/>
          <a:p>
            <a:r>
              <a:rPr sz="1100" b="1">
                <a:solidFill>
                  <a:srgbClr val="0E72AE"/>
                </a:solidFill>
                <a:latin typeface="Calibri"/>
              </a:rPr>
              <a:t>2026 value ·</a:t>
            </a:r>
          </a:p>
        </p:txBody>
      </p:sp>
      <p:pic>
        <p:nvPicPr>
          <p:cNvPr id="98" name="Picture 97" descr="lock.png"/>
          <p:cNvPicPr>
            <a:picLocks noChangeAspect="1"/>
          </p:cNvPicPr>
          <p:nvPr/>
        </p:nvPicPr>
        <p:blipFill>
          <a:blip r:embed="rId13"/>
          <a:stretch>
            <a:fillRect/>
          </a:stretch>
        </p:blipFill>
        <p:spPr>
          <a:xfrm>
            <a:off x="4562145" y="4772870"/>
            <a:ext cx="128699" cy="187198"/>
          </a:xfrm>
          <a:prstGeom prst="rect">
            <a:avLst/>
          </a:prstGeom>
        </p:spPr>
      </p:pic>
      <p:sp>
        <p:nvSpPr>
          <p:cNvPr id="99" name="TextBox 98"/>
          <p:cNvSpPr txBox="1"/>
          <p:nvPr/>
        </p:nvSpPr>
        <p:spPr>
          <a:xfrm>
            <a:off x="4729640" y="4782649"/>
            <a:ext cx="1284633" cy="186689"/>
          </a:xfrm>
          <a:prstGeom prst="rect">
            <a:avLst/>
          </a:prstGeom>
          <a:noFill/>
        </p:spPr>
        <p:txBody>
          <a:bodyPr wrap="none" lIns="0" tIns="0" rIns="0" bIns="0">
            <a:spAutoFit/>
          </a:bodyPr>
          <a:lstStyle/>
          <a:p>
            <a:r>
              <a:rPr sz="1100" b="1">
                <a:solidFill>
                  <a:srgbClr val="0E72AE"/>
                </a:solidFill>
                <a:latin typeface="Calibri"/>
              </a:rPr>
              <a:t>CAGR serves a niche.</a:t>
            </a:r>
          </a:p>
        </p:txBody>
      </p:sp>
      <p:sp>
        <p:nvSpPr>
          <p:cNvPr id="100" name="TextBox 99"/>
          <p:cNvSpPr txBox="1"/>
          <p:nvPr/>
        </p:nvSpPr>
        <p:spPr>
          <a:xfrm>
            <a:off x="3838575" y="5000581"/>
            <a:ext cx="2280294" cy="186689"/>
          </a:xfrm>
          <a:prstGeom prst="rect">
            <a:avLst/>
          </a:prstGeom>
          <a:noFill/>
        </p:spPr>
        <p:txBody>
          <a:bodyPr wrap="none" lIns="0" tIns="0" rIns="0" bIns="0">
            <a:spAutoFit/>
          </a:bodyPr>
          <a:lstStyle/>
          <a:p>
            <a:r>
              <a:rPr sz="1100" b="0">
                <a:solidFill>
                  <a:srgbClr val="2E2E2E"/>
                </a:solidFill>
                <a:latin typeface="Calibri"/>
              </a:rPr>
              <a:t>● Slotted (Interlocking Grid) Partitions:</a:t>
            </a:r>
          </a:p>
        </p:txBody>
      </p:sp>
      <p:pic>
        <p:nvPicPr>
          <p:cNvPr id="101" name="Picture 100" descr="lock.png"/>
          <p:cNvPicPr>
            <a:picLocks noChangeAspect="1"/>
          </p:cNvPicPr>
          <p:nvPr/>
        </p:nvPicPr>
        <p:blipFill>
          <a:blip r:embed="rId13"/>
          <a:stretch>
            <a:fillRect/>
          </a:stretch>
        </p:blipFill>
        <p:spPr>
          <a:xfrm>
            <a:off x="6066921" y="4990801"/>
            <a:ext cx="128699" cy="187198"/>
          </a:xfrm>
          <a:prstGeom prst="rect">
            <a:avLst/>
          </a:prstGeom>
        </p:spPr>
      </p:pic>
      <p:sp>
        <p:nvSpPr>
          <p:cNvPr id="102" name="TextBox 101"/>
          <p:cNvSpPr txBox="1"/>
          <p:nvPr/>
        </p:nvSpPr>
        <p:spPr>
          <a:xfrm>
            <a:off x="6234417" y="500058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3"/>
          <a:stretch>
            <a:fillRect/>
          </a:stretch>
        </p:blipFill>
        <p:spPr>
          <a:xfrm>
            <a:off x="7093867" y="4990801"/>
            <a:ext cx="128699" cy="187198"/>
          </a:xfrm>
          <a:prstGeom prst="rect">
            <a:avLst/>
          </a:prstGeom>
        </p:spPr>
      </p:pic>
      <p:sp>
        <p:nvSpPr>
          <p:cNvPr id="104" name="TextBox 103"/>
          <p:cNvSpPr txBox="1"/>
          <p:nvPr/>
        </p:nvSpPr>
        <p:spPr>
          <a:xfrm>
            <a:off x="7261363" y="5000581"/>
            <a:ext cx="395419" cy="186689"/>
          </a:xfrm>
          <a:prstGeom prst="rect">
            <a:avLst/>
          </a:prstGeom>
          <a:noFill/>
        </p:spPr>
        <p:txBody>
          <a:bodyPr wrap="none" lIns="0" tIns="0" rIns="0" bIns="0">
            <a:spAutoFit/>
          </a:bodyPr>
          <a:lstStyle/>
          <a:p>
            <a:r>
              <a:rPr sz="1100" b="0">
                <a:solidFill>
                  <a:srgbClr val="2E2E2E"/>
                </a:solidFill>
                <a:latin typeface="Calibri"/>
              </a:rPr>
              <a:t>CAGR</a:t>
            </a:r>
          </a:p>
        </p:txBody>
      </p:sp>
      <p:sp>
        <p:nvSpPr>
          <p:cNvPr id="105" name="TextBox 104"/>
          <p:cNvSpPr txBox="1"/>
          <p:nvPr/>
        </p:nvSpPr>
        <p:spPr>
          <a:xfrm>
            <a:off x="3838575" y="5168221"/>
            <a:ext cx="909488" cy="186689"/>
          </a:xfrm>
          <a:prstGeom prst="rect">
            <a:avLst/>
          </a:prstGeom>
          <a:noFill/>
        </p:spPr>
        <p:txBody>
          <a:bodyPr wrap="none" lIns="0" tIns="0" rIns="0" bIns="0">
            <a:spAutoFit/>
          </a:bodyPr>
          <a:lstStyle/>
          <a:p>
            <a:r>
              <a:rPr sz="1100" b="0">
                <a:solidFill>
                  <a:srgbClr val="2E2E2E"/>
                </a:solidFill>
                <a:latin typeface="Calibri"/>
              </a:rPr>
              <a:t>serves a niche.</a:t>
            </a:r>
          </a:p>
        </p:txBody>
      </p:sp>
      <p:sp>
        <p:nvSpPr>
          <p:cNvPr id="106" name="TextBox 105"/>
          <p:cNvSpPr txBox="1"/>
          <p:nvPr/>
        </p:nvSpPr>
        <p:spPr>
          <a:xfrm>
            <a:off x="8524875" y="5842641"/>
            <a:ext cx="3152948" cy="194310"/>
          </a:xfrm>
          <a:prstGeom prst="rect">
            <a:avLst/>
          </a:prstGeom>
          <a:noFill/>
        </p:spPr>
        <p:txBody>
          <a:bodyPr wrap="none" lIns="0" tIns="0" rIns="0" bIns="0">
            <a:spAutoFit/>
          </a:bodyPr>
          <a:lstStyle/>
          <a:p>
            <a:r>
              <a:rPr sz="1150" b="1">
                <a:solidFill>
                  <a:srgbClr val="0B2E4A"/>
                </a:solidFill>
                <a:latin typeface="Calibri"/>
              </a:rPr>
              <a:t>The Partition Type segment is projected to grow at</a:t>
            </a:r>
          </a:p>
        </p:txBody>
      </p:sp>
      <p:sp>
        <p:nvSpPr>
          <p:cNvPr id="107" name="TextBox 106"/>
          <p:cNvSpPr txBox="1"/>
          <p:nvPr/>
        </p:nvSpPr>
        <p:spPr>
          <a:xfrm>
            <a:off x="8524875" y="6017901"/>
            <a:ext cx="680055" cy="194310"/>
          </a:xfrm>
          <a:prstGeom prst="rect">
            <a:avLst/>
          </a:prstGeom>
          <a:noFill/>
        </p:spPr>
        <p:txBody>
          <a:bodyPr wrap="none" lIns="0" tIns="0" rIns="0" bIns="0">
            <a:spAutoFit/>
          </a:bodyPr>
          <a:lstStyle/>
          <a:p>
            <a:r>
              <a:rPr sz="1150" b="1">
                <a:solidFill>
                  <a:srgbClr val="0B2E4A"/>
                </a:solidFill>
                <a:latin typeface="Calibri"/>
              </a:rPr>
              <a:t>a CAGR of</a:t>
            </a:r>
          </a:p>
        </p:txBody>
      </p:sp>
      <p:pic>
        <p:nvPicPr>
          <p:cNvPr id="108" name="Picture 107" descr="lock.png"/>
          <p:cNvPicPr>
            <a:picLocks noChangeAspect="1"/>
          </p:cNvPicPr>
          <p:nvPr/>
        </p:nvPicPr>
        <p:blipFill>
          <a:blip r:embed="rId13"/>
          <a:stretch>
            <a:fillRect/>
          </a:stretch>
        </p:blipFill>
        <p:spPr>
          <a:xfrm>
            <a:off x="9154084" y="6007677"/>
            <a:ext cx="134549" cy="195707"/>
          </a:xfrm>
          <a:prstGeom prst="rect">
            <a:avLst/>
          </a:prstGeom>
        </p:spPr>
      </p:pic>
      <p:sp>
        <p:nvSpPr>
          <p:cNvPr id="109" name="TextBox 108"/>
          <p:cNvSpPr txBox="1"/>
          <p:nvPr/>
        </p:nvSpPr>
        <p:spPr>
          <a:xfrm>
            <a:off x="9329193"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Structure &amp; Attractiveness, By Partition Type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Partition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Partition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Partition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68844" cy="186689"/>
          </a:xfrm>
          <a:prstGeom prst="rect">
            <a:avLst/>
          </a:prstGeom>
          <a:noFill/>
        </p:spPr>
        <p:txBody>
          <a:bodyPr wrap="none" lIns="0" tIns="0" rIns="0" bIns="0">
            <a:spAutoFit/>
          </a:bodyPr>
          <a:lstStyle/>
          <a:p>
            <a:r>
              <a:rPr sz="1100" b="0">
                <a:solidFill>
                  <a:srgbClr val="2E2E2E"/>
                </a:solidFill>
                <a:latin typeface="Calibri"/>
              </a:rPr>
              <a:t>Flat dividers &amp; layer pads followed by die-cut &amp; folded partitions (h-dividers, tube/cell inserts) are expected to be the two most attractive partition type segments in the North America corrugated partition</a:t>
            </a:r>
          </a:p>
        </p:txBody>
      </p:sp>
      <p:sp>
        <p:nvSpPr>
          <p:cNvPr id="21" name="TextBox 20"/>
          <p:cNvSpPr txBox="1"/>
          <p:nvPr/>
        </p:nvSpPr>
        <p:spPr>
          <a:xfrm>
            <a:off x="257175" y="5861685"/>
            <a:ext cx="9214800" cy="186689"/>
          </a:xfrm>
          <a:prstGeom prst="rect">
            <a:avLst/>
          </a:prstGeom>
          <a:noFill/>
        </p:spPr>
        <p:txBody>
          <a:bodyPr wrap="none" lIns="0" tIns="0" rIns="0" bIns="0">
            <a:spAutoFit/>
          </a:bodyPr>
          <a:lstStyle/>
          <a:p>
            <a:r>
              <a:rPr sz="1100" b="0">
                <a:solidFill>
                  <a:srgbClr val="2E2E2E"/>
                </a:solidFill>
                <a:latin typeface="Calibri"/>
              </a:rPr>
              <a:t>market in terms of value over the forecast period. Flat dividers &amp; layer pads and Die-Cut &amp; folded partitions (H-dividers, tube/cell inserts) exhibit a CAGR index of</a:t>
            </a:r>
          </a:p>
        </p:txBody>
      </p:sp>
      <p:pic>
        <p:nvPicPr>
          <p:cNvPr id="22" name="Picture 21" descr="lock.png"/>
          <p:cNvPicPr>
            <a:picLocks noChangeAspect="1"/>
          </p:cNvPicPr>
          <p:nvPr/>
        </p:nvPicPr>
        <p:blipFill>
          <a:blip r:embed="rId6"/>
          <a:stretch>
            <a:fillRect/>
          </a:stretch>
        </p:blipFill>
        <p:spPr>
          <a:xfrm>
            <a:off x="9420026" y="5851905"/>
            <a:ext cx="128699" cy="187198"/>
          </a:xfrm>
          <a:prstGeom prst="rect">
            <a:avLst/>
          </a:prstGeom>
        </p:spPr>
      </p:pic>
      <p:sp>
        <p:nvSpPr>
          <p:cNvPr id="23" name="TextBox 22"/>
          <p:cNvSpPr txBox="1"/>
          <p:nvPr/>
        </p:nvSpPr>
        <p:spPr>
          <a:xfrm>
            <a:off x="9587522" y="586168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9825417" y="5851905"/>
            <a:ext cx="128699" cy="187198"/>
          </a:xfrm>
          <a:prstGeom prst="rect">
            <a:avLst/>
          </a:prstGeom>
        </p:spPr>
      </p:pic>
      <p:sp>
        <p:nvSpPr>
          <p:cNvPr id="25" name="TextBox 24"/>
          <p:cNvSpPr txBox="1"/>
          <p:nvPr/>
        </p:nvSpPr>
        <p:spPr>
          <a:xfrm>
            <a:off x="9992912" y="586168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243707" y="6019545"/>
            <a:ext cx="128699" cy="187198"/>
          </a:xfrm>
          <a:prstGeom prst="rect">
            <a:avLst/>
          </a:prstGeom>
        </p:spPr>
      </p:pic>
      <p:sp>
        <p:nvSpPr>
          <p:cNvPr id="27" name="TextBox 26"/>
          <p:cNvSpPr txBox="1"/>
          <p:nvPr/>
        </p:nvSpPr>
        <p:spPr>
          <a:xfrm>
            <a:off x="411203" y="602932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49097" y="6019545"/>
            <a:ext cx="128699" cy="187198"/>
          </a:xfrm>
          <a:prstGeom prst="rect">
            <a:avLst/>
          </a:prstGeom>
        </p:spPr>
      </p:pic>
      <p:sp>
        <p:nvSpPr>
          <p:cNvPr id="29" name="TextBox 28"/>
          <p:cNvSpPr txBox="1"/>
          <p:nvPr/>
        </p:nvSpPr>
        <p:spPr>
          <a:xfrm>
            <a:off x="816593" y="602932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3370997" y="6019545"/>
            <a:ext cx="128699" cy="187198"/>
          </a:xfrm>
          <a:prstGeom prst="rect">
            <a:avLst/>
          </a:prstGeom>
        </p:spPr>
      </p:pic>
      <p:sp>
        <p:nvSpPr>
          <p:cNvPr id="31" name="TextBox 30"/>
          <p:cNvSpPr txBox="1"/>
          <p:nvPr/>
        </p:nvSpPr>
        <p:spPr>
          <a:xfrm>
            <a:off x="3538493" y="6029325"/>
            <a:ext cx="8021637" cy="186689"/>
          </a:xfrm>
          <a:prstGeom prst="rect">
            <a:avLst/>
          </a:prstGeom>
          <a:noFill/>
        </p:spPr>
        <p:txBody>
          <a:bodyPr wrap="none" lIns="0" tIns="0" rIns="0" bIns="0">
            <a:spAutoFit/>
          </a:bodyPr>
          <a:lstStyle/>
          <a:p>
            <a:r>
              <a:rPr sz="1100" b="0">
                <a:solidFill>
                  <a:srgbClr val="2E2E2E"/>
                </a:solidFill>
                <a:latin typeface="Calibri"/>
              </a:rPr>
              <a:t>. The slotted (interlocking grid) partitions segment is expected to be less attractive as compared to other segments over the forecast period,</a:t>
            </a:r>
          </a:p>
        </p:txBody>
      </p:sp>
      <p:sp>
        <p:nvSpPr>
          <p:cNvPr id="32" name="TextBox 31"/>
          <p:cNvSpPr txBox="1"/>
          <p:nvPr/>
        </p:nvSpPr>
        <p:spPr>
          <a:xfrm>
            <a:off x="257175" y="6196965"/>
            <a:ext cx="7484358" cy="186689"/>
          </a:xfrm>
          <a:prstGeom prst="rect">
            <a:avLst/>
          </a:prstGeom>
          <a:noFill/>
        </p:spPr>
        <p:txBody>
          <a:bodyPr wrap="none" lIns="0" tIns="0" rIns="0" bIns="0">
            <a:spAutoFit/>
          </a:bodyPr>
          <a:lstStyle/>
          <a:p>
            <a:r>
              <a:rPr sz="1100" b="0">
                <a:solidFill>
                  <a:srgbClr val="2E2E2E"/>
                </a:solidFill>
                <a:latin typeface="Calibri"/>
              </a:rPr>
              <a:t>owing to its lower CAGR 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Analysis, By Partition Type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Partition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Slotted (Interlocking Grid) Partitions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Die-Cut &amp; Folded Partitions (H-dividers, tube/cell inserts)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38125" y="39243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Flat Dividers &amp; Layer Pads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305550" y="3952875"/>
            <a:ext cx="5610225" cy="209550"/>
          </a:xfrm>
          <a:prstGeom prst="rect">
            <a:avLst/>
          </a:prstGeom>
          <a:noFill/>
        </p:spPr>
        <p:txBody>
          <a:bodyPr wrap="square" lIns="0" tIns="9525" rIns="19050" bIns="9525">
            <a:spAutoFit/>
          </a:bodyPr>
          <a:lstStyle/>
          <a:p>
            <a:pPr algn="l"/>
            <a:r>
              <a:rPr sz="1300" b="1">
                <a:solidFill>
                  <a:srgbClr val="0B2E4A"/>
                </a:solidFill>
                <a:latin typeface="Calibri"/>
              </a:rPr>
              <a:t>Summary of North America Absolute $ Opportunity Analysis, By Partition Type</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05550" y="4276725"/>
            <a:ext cx="5610225" cy="22669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4" name="TextBox 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971705" cy="194310"/>
          </a:xfrm>
          <a:prstGeom prst="rect">
            <a:avLst/>
          </a:prstGeom>
          <a:noFill/>
        </p:spPr>
        <p:txBody>
          <a:bodyPr wrap="none" lIns="0" tIns="0" rIns="0" bIns="0">
            <a:spAutoFit/>
          </a:bodyPr>
          <a:lstStyle/>
          <a:p>
            <a:r>
              <a:rPr sz="1150" b="0">
                <a:solidFill>
                  <a:srgbClr val="2E2E2E"/>
                </a:solidFill>
                <a:latin typeface="Calibri"/>
              </a:rPr>
              <a:t>By 2036, flat dividers &amp; layer pads segment is anticipated to witness an increase of</a:t>
            </a:r>
          </a:p>
        </p:txBody>
      </p:sp>
      <p:pic>
        <p:nvPicPr>
          <p:cNvPr id="29" name="Picture 28" descr="lock.png"/>
          <p:cNvPicPr>
            <a:picLocks noChangeAspect="1"/>
          </p:cNvPicPr>
          <p:nvPr/>
        </p:nvPicPr>
        <p:blipFill>
          <a:blip r:embed="rId7"/>
          <a:stretch>
            <a:fillRect/>
          </a:stretch>
        </p:blipFill>
        <p:spPr>
          <a:xfrm>
            <a:off x="11226409" y="4276026"/>
            <a:ext cx="134549" cy="195707"/>
          </a:xfrm>
          <a:prstGeom prst="rect">
            <a:avLst/>
          </a:prstGeom>
        </p:spPr>
      </p:pic>
      <p:sp>
        <p:nvSpPr>
          <p:cNvPr id="30" name="TextBox 29"/>
          <p:cNvSpPr txBox="1"/>
          <p:nvPr/>
        </p:nvSpPr>
        <p:spPr>
          <a:xfrm>
            <a:off x="11401518" y="4286250"/>
            <a:ext cx="295560" cy="194310"/>
          </a:xfrm>
          <a:prstGeom prst="rect">
            <a:avLst/>
          </a:prstGeom>
          <a:noFill/>
        </p:spPr>
        <p:txBody>
          <a:bodyPr wrap="none" lIns="0" tIns="0" rIns="0" bIns="0">
            <a:spAutoFit/>
          </a:bodyPr>
          <a:lstStyle/>
          <a:p>
            <a:r>
              <a:rPr sz="1150" b="0">
                <a:solidFill>
                  <a:srgbClr val="2E2E2E"/>
                </a:solidFill>
                <a:latin typeface="Calibri"/>
              </a:rPr>
              <a:t>X in</a:t>
            </a:r>
          </a:p>
        </p:txBody>
      </p:sp>
      <p:sp>
        <p:nvSpPr>
          <p:cNvPr id="31" name="TextBox 30"/>
          <p:cNvSpPr txBox="1"/>
          <p:nvPr/>
        </p:nvSpPr>
        <p:spPr>
          <a:xfrm>
            <a:off x="6305550" y="4461510"/>
            <a:ext cx="5417294" cy="194310"/>
          </a:xfrm>
          <a:prstGeom prst="rect">
            <a:avLst/>
          </a:prstGeom>
          <a:noFill/>
        </p:spPr>
        <p:txBody>
          <a:bodyPr wrap="none" lIns="0" tIns="0" rIns="0" bIns="0">
            <a:spAutoFit/>
          </a:bodyPr>
          <a:lstStyle/>
          <a:p>
            <a:r>
              <a:rPr sz="1150" b="0">
                <a:solidFill>
                  <a:srgbClr val="2E2E2E"/>
                </a:solidFill>
                <a:latin typeface="Calibri"/>
              </a:rPr>
              <a:t>terms of value as compared to 2026. The flat dividers &amp; layer pads segment is expected to</a:t>
            </a:r>
          </a:p>
        </p:txBody>
      </p:sp>
      <p:sp>
        <p:nvSpPr>
          <p:cNvPr id="32" name="TextBox 31"/>
          <p:cNvSpPr txBox="1"/>
          <p:nvPr/>
        </p:nvSpPr>
        <p:spPr>
          <a:xfrm>
            <a:off x="6305550" y="4636770"/>
            <a:ext cx="2547069" cy="194310"/>
          </a:xfrm>
          <a:prstGeom prst="rect">
            <a:avLst/>
          </a:prstGeom>
          <a:noFill/>
        </p:spPr>
        <p:txBody>
          <a:bodyPr wrap="none" lIns="0" tIns="0" rIns="0" bIns="0">
            <a:spAutoFit/>
          </a:bodyPr>
          <a:lstStyle/>
          <a:p>
            <a:r>
              <a:rPr sz="1150" b="0">
                <a:solidFill>
                  <a:srgbClr val="2E2E2E"/>
                </a:solidFill>
                <a:latin typeface="Calibri"/>
              </a:rPr>
              <a:t>create an incremental opportunity of US$</a:t>
            </a:r>
          </a:p>
        </p:txBody>
      </p:sp>
      <p:pic>
        <p:nvPicPr>
          <p:cNvPr id="33" name="Picture 32" descr="lock.png"/>
          <p:cNvPicPr>
            <a:picLocks noChangeAspect="1"/>
          </p:cNvPicPr>
          <p:nvPr/>
        </p:nvPicPr>
        <p:blipFill>
          <a:blip r:embed="rId7"/>
          <a:stretch>
            <a:fillRect/>
          </a:stretch>
        </p:blipFill>
        <p:spPr>
          <a:xfrm>
            <a:off x="8801773" y="4626546"/>
            <a:ext cx="134549" cy="195707"/>
          </a:xfrm>
          <a:prstGeom prst="rect">
            <a:avLst/>
          </a:prstGeom>
        </p:spPr>
      </p:pic>
      <p:sp>
        <p:nvSpPr>
          <p:cNvPr id="34" name="TextBox 33"/>
          <p:cNvSpPr txBox="1"/>
          <p:nvPr/>
        </p:nvSpPr>
        <p:spPr>
          <a:xfrm>
            <a:off x="8976882" y="4636770"/>
            <a:ext cx="2849153"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a:t>
            </a:r>
          </a:p>
        </p:txBody>
      </p:sp>
      <p:sp>
        <p:nvSpPr>
          <p:cNvPr id="35" name="TextBox 34"/>
          <p:cNvSpPr txBox="1"/>
          <p:nvPr/>
        </p:nvSpPr>
        <p:spPr>
          <a:xfrm>
            <a:off x="6305550" y="4812029"/>
            <a:ext cx="1220923" cy="194310"/>
          </a:xfrm>
          <a:prstGeom prst="rect">
            <a:avLst/>
          </a:prstGeom>
          <a:noFill/>
        </p:spPr>
        <p:txBody>
          <a:bodyPr wrap="none" lIns="0" tIns="0" rIns="0" bIns="0">
            <a:spAutoFit/>
          </a:bodyPr>
          <a:lstStyle/>
          <a:p>
            <a:r>
              <a:rPr sz="1150" b="0">
                <a:solidFill>
                  <a:srgbClr val="2E2E2E"/>
                </a:solidFill>
                <a:latin typeface="Calibri"/>
              </a:rPr>
              <a:t>from 2026 to 2036.</a:t>
            </a:r>
          </a:p>
        </p:txBody>
      </p:sp>
      <p:sp>
        <p:nvSpPr>
          <p:cNvPr id="36" name="TextBox 35"/>
          <p:cNvSpPr txBox="1"/>
          <p:nvPr/>
        </p:nvSpPr>
        <p:spPr>
          <a:xfrm>
            <a:off x="6305550" y="5039867"/>
            <a:ext cx="5506863" cy="194310"/>
          </a:xfrm>
          <a:prstGeom prst="rect">
            <a:avLst/>
          </a:prstGeom>
          <a:noFill/>
        </p:spPr>
        <p:txBody>
          <a:bodyPr wrap="none" lIns="0" tIns="0" rIns="0" bIns="0">
            <a:spAutoFit/>
          </a:bodyPr>
          <a:lstStyle/>
          <a:p>
            <a:r>
              <a:rPr sz="1150" b="0">
                <a:solidFill>
                  <a:srgbClr val="2E2E2E"/>
                </a:solidFill>
                <a:latin typeface="Calibri"/>
              </a:rPr>
              <a:t>The Die-Cut &amp; folded partitions (H-dividers, tube/cell inserts) segment is expected to create</a:t>
            </a:r>
          </a:p>
        </p:txBody>
      </p:sp>
      <p:sp>
        <p:nvSpPr>
          <p:cNvPr id="37" name="TextBox 36"/>
          <p:cNvSpPr txBox="1"/>
          <p:nvPr/>
        </p:nvSpPr>
        <p:spPr>
          <a:xfrm>
            <a:off x="6305550" y="5215127"/>
            <a:ext cx="2136588" cy="194310"/>
          </a:xfrm>
          <a:prstGeom prst="rect">
            <a:avLst/>
          </a:prstGeom>
          <a:noFill/>
        </p:spPr>
        <p:txBody>
          <a:bodyPr wrap="none" lIns="0" tIns="0" rIns="0" bIns="0">
            <a:spAutoFit/>
          </a:bodyPr>
          <a:lstStyle/>
          <a:p>
            <a:r>
              <a:rPr sz="1150" b="0">
                <a:solidFill>
                  <a:srgbClr val="2E2E2E"/>
                </a:solidFill>
                <a:latin typeface="Calibri"/>
              </a:rPr>
              <a:t>an incremental opportunity of US$</a:t>
            </a:r>
          </a:p>
        </p:txBody>
      </p:sp>
      <p:pic>
        <p:nvPicPr>
          <p:cNvPr id="38" name="Picture 37" descr="lock.png"/>
          <p:cNvPicPr>
            <a:picLocks noChangeAspect="1"/>
          </p:cNvPicPr>
          <p:nvPr/>
        </p:nvPicPr>
        <p:blipFill>
          <a:blip r:embed="rId7"/>
          <a:stretch>
            <a:fillRect/>
          </a:stretch>
        </p:blipFill>
        <p:spPr>
          <a:xfrm>
            <a:off x="8391292" y="5204904"/>
            <a:ext cx="134549" cy="195707"/>
          </a:xfrm>
          <a:prstGeom prst="rect">
            <a:avLst/>
          </a:prstGeom>
        </p:spPr>
      </p:pic>
      <p:sp>
        <p:nvSpPr>
          <p:cNvPr id="39" name="TextBox 38"/>
          <p:cNvSpPr txBox="1"/>
          <p:nvPr/>
        </p:nvSpPr>
        <p:spPr>
          <a:xfrm>
            <a:off x="8566402" y="5215127"/>
            <a:ext cx="3171490"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a:t>
            </a:r>
          </a:p>
        </p:txBody>
      </p:sp>
      <p:sp>
        <p:nvSpPr>
          <p:cNvPr id="40" name="TextBox 39"/>
          <p:cNvSpPr txBox="1"/>
          <p:nvPr/>
        </p:nvSpPr>
        <p:spPr>
          <a:xfrm>
            <a:off x="6305550" y="5390387"/>
            <a:ext cx="5296346" cy="194310"/>
          </a:xfrm>
          <a:prstGeom prst="rect">
            <a:avLst/>
          </a:prstGeom>
          <a:noFill/>
        </p:spPr>
        <p:txBody>
          <a:bodyPr wrap="none" lIns="0" tIns="0" rIns="0" bIns="0">
            <a:spAutoFit/>
          </a:bodyPr>
          <a:lstStyle/>
          <a:p>
            <a:r>
              <a:rPr sz="1150" b="0">
                <a:solidFill>
                  <a:srgbClr val="2E2E2E"/>
                </a:solidFill>
                <a:latin typeface="Calibri"/>
              </a:rPr>
              <a:t>2026 to 2036. The slotted (Interlocking grid) partitions segment is expected to create an</a:t>
            </a:r>
          </a:p>
        </p:txBody>
      </p:sp>
      <p:sp>
        <p:nvSpPr>
          <p:cNvPr id="41" name="TextBox 40"/>
          <p:cNvSpPr txBox="1"/>
          <p:nvPr/>
        </p:nvSpPr>
        <p:spPr>
          <a:xfrm>
            <a:off x="6305550" y="5565647"/>
            <a:ext cx="1956879" cy="194310"/>
          </a:xfrm>
          <a:prstGeom prst="rect">
            <a:avLst/>
          </a:prstGeom>
          <a:noFill/>
        </p:spPr>
        <p:txBody>
          <a:bodyPr wrap="none" lIns="0" tIns="0" rIns="0" bIns="0">
            <a:spAutoFit/>
          </a:bodyPr>
          <a:lstStyle/>
          <a:p>
            <a:r>
              <a:rPr sz="1150" b="0">
                <a:solidFill>
                  <a:srgbClr val="2E2E2E"/>
                </a:solidFill>
                <a:latin typeface="Calibri"/>
              </a:rPr>
              <a:t>incremental opportunity of US$</a:t>
            </a:r>
          </a:p>
        </p:txBody>
      </p:sp>
      <p:pic>
        <p:nvPicPr>
          <p:cNvPr id="42" name="Picture 41" descr="lock.png"/>
          <p:cNvPicPr>
            <a:picLocks noChangeAspect="1"/>
          </p:cNvPicPr>
          <p:nvPr/>
        </p:nvPicPr>
        <p:blipFill>
          <a:blip r:embed="rId7"/>
          <a:stretch>
            <a:fillRect/>
          </a:stretch>
        </p:blipFill>
        <p:spPr>
          <a:xfrm>
            <a:off x="8211582" y="5555424"/>
            <a:ext cx="134549" cy="195707"/>
          </a:xfrm>
          <a:prstGeom prst="rect">
            <a:avLst/>
          </a:prstGeom>
        </p:spPr>
      </p:pic>
      <p:sp>
        <p:nvSpPr>
          <p:cNvPr id="43" name="TextBox 42"/>
          <p:cNvSpPr txBox="1"/>
          <p:nvPr/>
        </p:nvSpPr>
        <p:spPr>
          <a:xfrm>
            <a:off x="8386692" y="5565647"/>
            <a:ext cx="3501243"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2026</a:t>
            </a:r>
          </a:p>
        </p:txBody>
      </p:sp>
      <p:sp>
        <p:nvSpPr>
          <p:cNvPr id="44" name="TextBox 43"/>
          <p:cNvSpPr txBox="1"/>
          <p:nvPr/>
        </p:nvSpPr>
        <p:spPr>
          <a:xfrm>
            <a:off x="6305550" y="5740907"/>
            <a:ext cx="568833" cy="194310"/>
          </a:xfrm>
          <a:prstGeom prst="rect">
            <a:avLst/>
          </a:prstGeom>
          <a:noFill/>
        </p:spPr>
        <p:txBody>
          <a:bodyPr wrap="none" lIns="0" tIns="0" rIns="0" bIns="0">
            <a:spAutoFit/>
          </a:bodyPr>
          <a:lstStyle/>
          <a:p>
            <a:r>
              <a:rPr sz="1150" b="0">
                <a:solidFill>
                  <a:srgbClr val="2E2E2E"/>
                </a:solidFill>
                <a:latin typeface="Calibri"/>
              </a:rPr>
              <a:t>to 2036.</a:t>
            </a:r>
          </a:p>
        </p:txBody>
      </p:sp>
      <p:sp>
        <p:nvSpPr>
          <p:cNvPr id="45"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Volume Analysis, By Partition Type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Partition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3048000"/>
          </a:xfrm>
          <a:prstGeom prst="roundRect">
            <a:avLst>
              <a:gd name="adj" fmla="val 25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By Partition Type (MT)</a:t>
            </a:r>
          </a:p>
        </p:txBody>
      </p:sp>
      <p:graphicFrame>
        <p:nvGraphicFramePr>
          <p:cNvPr id="13" name="Table 12"/>
          <p:cNvGraphicFramePr>
            <a:graphicFrameLocks noGrp="1"/>
          </p:cNvGraphicFramePr>
          <p:nvPr/>
        </p:nvGraphicFramePr>
        <p:xfrm>
          <a:off x="152400" y="1238250"/>
          <a:ext cx="11887208" cy="2581276"/>
        </p:xfrm>
        <a:graphic>
          <a:graphicData uri="http://schemas.openxmlformats.org/drawingml/2006/table">
            <a:tbl>
              <a:tblPr>
                <a:tableStyleId>{5C22544A-7EE6-4342-B048-85BDC9FD1C3A}</a:tableStyleId>
              </a:tblPr>
              <a:tblGrid>
                <a:gridCol w="1239860">
                  <a:extLst>
                    <a:ext uri="{9D8B030D-6E8A-4147-A177-3AD203B41FA5}">
                      <a16:colId xmlns:a16="http://schemas.microsoft.com/office/drawing/2014/main" val="20000"/>
                    </a:ext>
                  </a:extLst>
                </a:gridCol>
                <a:gridCol w="641033">
                  <a:extLst>
                    <a:ext uri="{9D8B030D-6E8A-4147-A177-3AD203B41FA5}">
                      <a16:colId xmlns:a16="http://schemas.microsoft.com/office/drawing/2014/main" val="20001"/>
                    </a:ext>
                  </a:extLst>
                </a:gridCol>
                <a:gridCol w="641033">
                  <a:extLst>
                    <a:ext uri="{9D8B030D-6E8A-4147-A177-3AD203B41FA5}">
                      <a16:colId xmlns:a16="http://schemas.microsoft.com/office/drawing/2014/main" val="20002"/>
                    </a:ext>
                  </a:extLst>
                </a:gridCol>
                <a:gridCol w="641033">
                  <a:extLst>
                    <a:ext uri="{9D8B030D-6E8A-4147-A177-3AD203B41FA5}">
                      <a16:colId xmlns:a16="http://schemas.microsoft.com/office/drawing/2014/main" val="20003"/>
                    </a:ext>
                  </a:extLst>
                </a:gridCol>
                <a:gridCol w="641033">
                  <a:extLst>
                    <a:ext uri="{9D8B030D-6E8A-4147-A177-3AD203B41FA5}">
                      <a16:colId xmlns:a16="http://schemas.microsoft.com/office/drawing/2014/main" val="20004"/>
                    </a:ext>
                  </a:extLst>
                </a:gridCol>
                <a:gridCol w="641033">
                  <a:extLst>
                    <a:ext uri="{9D8B030D-6E8A-4147-A177-3AD203B41FA5}">
                      <a16:colId xmlns:a16="http://schemas.microsoft.com/office/drawing/2014/main" val="20005"/>
                    </a:ext>
                  </a:extLst>
                </a:gridCol>
                <a:gridCol w="641033">
                  <a:extLst>
                    <a:ext uri="{9D8B030D-6E8A-4147-A177-3AD203B41FA5}">
                      <a16:colId xmlns:a16="http://schemas.microsoft.com/office/drawing/2014/main" val="20006"/>
                    </a:ext>
                  </a:extLst>
                </a:gridCol>
                <a:gridCol w="641033">
                  <a:extLst>
                    <a:ext uri="{9D8B030D-6E8A-4147-A177-3AD203B41FA5}">
                      <a16:colId xmlns:a16="http://schemas.microsoft.com/office/drawing/2014/main" val="20007"/>
                    </a:ext>
                  </a:extLst>
                </a:gridCol>
                <a:gridCol w="641033">
                  <a:extLst>
                    <a:ext uri="{9D8B030D-6E8A-4147-A177-3AD203B41FA5}">
                      <a16:colId xmlns:a16="http://schemas.microsoft.com/office/drawing/2014/main" val="20008"/>
                    </a:ext>
                  </a:extLst>
                </a:gridCol>
                <a:gridCol w="641033">
                  <a:extLst>
                    <a:ext uri="{9D8B030D-6E8A-4147-A177-3AD203B41FA5}">
                      <a16:colId xmlns:a16="http://schemas.microsoft.com/office/drawing/2014/main" val="20009"/>
                    </a:ext>
                  </a:extLst>
                </a:gridCol>
                <a:gridCol w="641033">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390820">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Partition Type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728377">
                <a:tc>
                  <a:txBody>
                    <a:bodyPr/>
                    <a:lstStyle/>
                    <a:p>
                      <a:pPr algn="l"/>
                      <a:r>
                        <a:rPr sz="1100" b="1">
                          <a:solidFill>
                            <a:srgbClr val="2E2E2E"/>
                          </a:solidFill>
                          <a:latin typeface="Calibri"/>
                        </a:rPr>
                        <a:t>Slotted</a:t>
                      </a:r>
                      <a:endParaRPr sz="1100"/>
                    </a:p>
                    <a:p>
                      <a:pPr algn="l"/>
                      <a:r>
                        <a:rPr sz="1100" b="1">
                          <a:solidFill>
                            <a:srgbClr val="2E2E2E"/>
                          </a:solidFill>
                          <a:latin typeface="Calibri"/>
                        </a:rPr>
                        <a:t>(Interlocking Grid)</a:t>
                      </a:r>
                      <a:endParaRPr sz="1100"/>
                    </a:p>
                    <a:p>
                      <a:pPr algn="l"/>
                      <a:r>
                        <a:rPr sz="1100" b="1">
                          <a:solidFill>
                            <a:srgbClr val="2E2E2E"/>
                          </a:solidFill>
                          <a:latin typeface="Calibri"/>
                        </a:rPr>
                        <a:t>Partitions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535591">
                <a:tc>
                  <a:txBody>
                    <a:bodyPr/>
                    <a:lstStyle/>
                    <a:p>
                      <a:pPr algn="l"/>
                      <a:r>
                        <a:rPr sz="1100" b="1">
                          <a:solidFill>
                            <a:srgbClr val="2E2E2E"/>
                          </a:solidFill>
                          <a:latin typeface="Calibri"/>
                        </a:rPr>
                        <a:t>Die-Cut &amp; Folded</a:t>
                      </a:r>
                      <a:endParaRPr sz="1100"/>
                    </a:p>
                    <a:p>
                      <a:pPr algn="l"/>
                      <a:r>
                        <a:rPr sz="1100" b="1">
                          <a:solidFill>
                            <a:srgbClr val="2E2E2E"/>
                          </a:solidFill>
                          <a:latin typeface="Calibri"/>
                        </a:rPr>
                        <a:t>Partitions</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535591">
                <a:tc>
                  <a:txBody>
                    <a:bodyPr/>
                    <a:lstStyle/>
                    <a:p>
                      <a:pPr algn="l"/>
                      <a:r>
                        <a:rPr sz="1100" b="1">
                          <a:solidFill>
                            <a:srgbClr val="2E2E2E"/>
                          </a:solidFill>
                          <a:latin typeface="Calibri"/>
                        </a:rPr>
                        <a:t>Flat Dividers &amp;</a:t>
                      </a:r>
                      <a:endParaRPr sz="1100"/>
                    </a:p>
                    <a:p>
                      <a:pPr algn="l"/>
                      <a:r>
                        <a:rPr sz="1100" b="1">
                          <a:solidFill>
                            <a:srgbClr val="2E2E2E"/>
                          </a:solidFill>
                          <a:latin typeface="Calibri"/>
                        </a:rPr>
                        <a:t>Layer Pads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3"/>
                  </a:ext>
                </a:extLst>
              </a:tr>
              <a:tr h="342805">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38290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62425"/>
            <a:ext cx="11906250" cy="2466975"/>
          </a:xfrm>
          <a:prstGeom prst="roundRect">
            <a:avLst>
              <a:gd name="adj" fmla="val 308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4248150"/>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Volume Analysis, By Partition Type</a:t>
            </a:r>
          </a:p>
        </p:txBody>
      </p:sp>
      <p:sp>
        <p:nvSpPr>
          <p:cNvPr id="17" name="Rectangle 16"/>
          <p:cNvSpPr/>
          <p:nvPr/>
        </p:nvSpPr>
        <p:spPr>
          <a:xfrm>
            <a:off x="276225" y="44862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572000"/>
            <a:ext cx="11639550" cy="198120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81644"/>
            <a:ext cx="366712" cy="533400"/>
          </a:xfrm>
          <a:prstGeom prst="rect">
            <a:avLst/>
          </a:prstGeom>
        </p:spPr>
      </p:pic>
      <p:sp>
        <p:nvSpPr>
          <p:cNvPr id="21" name="TextBox 20"/>
          <p:cNvSpPr txBox="1"/>
          <p:nvPr/>
        </p:nvSpPr>
        <p:spPr>
          <a:xfrm>
            <a:off x="276225" y="4581525"/>
            <a:ext cx="3494397" cy="194310"/>
          </a:xfrm>
          <a:prstGeom prst="rect">
            <a:avLst/>
          </a:prstGeom>
          <a:noFill/>
        </p:spPr>
        <p:txBody>
          <a:bodyPr wrap="none" lIns="0" tIns="0" rIns="0" bIns="0">
            <a:spAutoFit/>
          </a:bodyPr>
          <a:lstStyle/>
          <a:p>
            <a:r>
              <a:rPr sz="1150" b="0">
                <a:solidFill>
                  <a:srgbClr val="2E2E2E"/>
                </a:solidFill>
                <a:latin typeface="Calibri"/>
              </a:rPr>
              <a:t>Flat dividers &amp; layer pads segment is projected to register</a:t>
            </a:r>
          </a:p>
        </p:txBody>
      </p:sp>
      <p:pic>
        <p:nvPicPr>
          <p:cNvPr id="22" name="Picture 21" descr="lock.png"/>
          <p:cNvPicPr>
            <a:picLocks noChangeAspect="1"/>
          </p:cNvPicPr>
          <p:nvPr/>
        </p:nvPicPr>
        <p:blipFill>
          <a:blip r:embed="rId4"/>
          <a:stretch>
            <a:fillRect/>
          </a:stretch>
        </p:blipFill>
        <p:spPr>
          <a:xfrm>
            <a:off x="3719776" y="4571301"/>
            <a:ext cx="134549" cy="195707"/>
          </a:xfrm>
          <a:prstGeom prst="rect">
            <a:avLst/>
          </a:prstGeom>
        </p:spPr>
      </p:pic>
      <p:sp>
        <p:nvSpPr>
          <p:cNvPr id="23" name="TextBox 22"/>
          <p:cNvSpPr txBox="1"/>
          <p:nvPr/>
        </p:nvSpPr>
        <p:spPr>
          <a:xfrm>
            <a:off x="3894885" y="4581525"/>
            <a:ext cx="7620880" cy="194310"/>
          </a:xfrm>
          <a:prstGeom prst="rect">
            <a:avLst/>
          </a:prstGeom>
          <a:noFill/>
        </p:spPr>
        <p:txBody>
          <a:bodyPr wrap="none" lIns="0" tIns="0" rIns="0" bIns="0">
            <a:spAutoFit/>
          </a:bodyPr>
          <a:lstStyle/>
          <a:p>
            <a:r>
              <a:rPr sz="1150" b="0">
                <a:solidFill>
                  <a:srgbClr val="2E2E2E"/>
                </a:solidFill>
                <a:latin typeface="Calibri"/>
              </a:rPr>
              <a:t>X higher volume than die-cut &amp; folded partitions (h-dividers, tube/cell inserts) segment in 2036. Among corrugated partition by</a:t>
            </a:r>
          </a:p>
        </p:txBody>
      </p:sp>
      <p:sp>
        <p:nvSpPr>
          <p:cNvPr id="24" name="TextBox 23"/>
          <p:cNvSpPr txBox="1"/>
          <p:nvPr/>
        </p:nvSpPr>
        <p:spPr>
          <a:xfrm>
            <a:off x="276225" y="4756785"/>
            <a:ext cx="5544499" cy="194310"/>
          </a:xfrm>
          <a:prstGeom prst="rect">
            <a:avLst/>
          </a:prstGeom>
          <a:noFill/>
        </p:spPr>
        <p:txBody>
          <a:bodyPr wrap="none" lIns="0" tIns="0" rIns="0" bIns="0">
            <a:spAutoFit/>
          </a:bodyPr>
          <a:lstStyle/>
          <a:p>
            <a:r>
              <a:rPr sz="1150" b="0">
                <a:solidFill>
                  <a:srgbClr val="2E2E2E"/>
                </a:solidFill>
                <a:latin typeface="Calibri"/>
              </a:rPr>
              <a:t>partition type, flat dividers &amp; layer pads segment is expected to witness the highest CAGR of</a:t>
            </a:r>
          </a:p>
        </p:txBody>
      </p:sp>
      <p:pic>
        <p:nvPicPr>
          <p:cNvPr id="25" name="Picture 24" descr="lock.png"/>
          <p:cNvPicPr>
            <a:picLocks noChangeAspect="1"/>
          </p:cNvPicPr>
          <p:nvPr/>
        </p:nvPicPr>
        <p:blipFill>
          <a:blip r:embed="rId4"/>
          <a:stretch>
            <a:fillRect/>
          </a:stretch>
        </p:blipFill>
        <p:spPr>
          <a:xfrm>
            <a:off x="5769878" y="4746561"/>
            <a:ext cx="134549" cy="195707"/>
          </a:xfrm>
          <a:prstGeom prst="rect">
            <a:avLst/>
          </a:prstGeom>
        </p:spPr>
      </p:pic>
      <p:sp>
        <p:nvSpPr>
          <p:cNvPr id="26" name="TextBox 25"/>
          <p:cNvSpPr txBox="1"/>
          <p:nvPr/>
        </p:nvSpPr>
        <p:spPr>
          <a:xfrm>
            <a:off x="5944987" y="475678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984622"/>
            <a:ext cx="7558695" cy="194310"/>
          </a:xfrm>
          <a:prstGeom prst="rect">
            <a:avLst/>
          </a:prstGeom>
          <a:noFill/>
        </p:spPr>
        <p:txBody>
          <a:bodyPr wrap="none" lIns="0" tIns="0" rIns="0" bIns="0">
            <a:spAutoFit/>
          </a:bodyPr>
          <a:lstStyle/>
          <a:p>
            <a:r>
              <a:rPr sz="1150" b="0">
                <a:solidFill>
                  <a:srgbClr val="2E2E2E"/>
                </a:solidFill>
                <a:latin typeface="Calibri"/>
              </a:rPr>
              <a:t>In terms of volume share by partition type, the flat dividers &amp; layer pads segment is expected to dominate the market, gaining</a:t>
            </a:r>
          </a:p>
        </p:txBody>
      </p:sp>
      <p:pic>
        <p:nvPicPr>
          <p:cNvPr id="28" name="Picture 27" descr="lock.png"/>
          <p:cNvPicPr>
            <a:picLocks noChangeAspect="1"/>
          </p:cNvPicPr>
          <p:nvPr/>
        </p:nvPicPr>
        <p:blipFill>
          <a:blip r:embed="rId4"/>
          <a:stretch>
            <a:fillRect/>
          </a:stretch>
        </p:blipFill>
        <p:spPr>
          <a:xfrm>
            <a:off x="7784074" y="4974399"/>
            <a:ext cx="134549" cy="195707"/>
          </a:xfrm>
          <a:prstGeom prst="rect">
            <a:avLst/>
          </a:prstGeom>
        </p:spPr>
      </p:pic>
      <p:sp>
        <p:nvSpPr>
          <p:cNvPr id="29" name="TextBox 28"/>
          <p:cNvSpPr txBox="1"/>
          <p:nvPr/>
        </p:nvSpPr>
        <p:spPr>
          <a:xfrm>
            <a:off x="7959183" y="4984622"/>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354326" y="4974399"/>
            <a:ext cx="134549" cy="195707"/>
          </a:xfrm>
          <a:prstGeom prst="rect">
            <a:avLst/>
          </a:prstGeom>
        </p:spPr>
      </p:pic>
      <p:sp>
        <p:nvSpPr>
          <p:cNvPr id="31" name="TextBox 30"/>
          <p:cNvSpPr txBox="1"/>
          <p:nvPr/>
        </p:nvSpPr>
        <p:spPr>
          <a:xfrm>
            <a:off x="9529435" y="4984622"/>
            <a:ext cx="2195921" cy="194310"/>
          </a:xfrm>
          <a:prstGeom prst="rect">
            <a:avLst/>
          </a:prstGeom>
          <a:noFill/>
        </p:spPr>
        <p:txBody>
          <a:bodyPr wrap="none" lIns="0" tIns="0" rIns="0" bIns="0">
            <a:spAutoFit/>
          </a:bodyPr>
          <a:lstStyle/>
          <a:p>
            <a:r>
              <a:rPr sz="1150" b="0">
                <a:solidFill>
                  <a:srgbClr val="2E2E2E"/>
                </a:solidFill>
                <a:latin typeface="Calibri"/>
              </a:rPr>
              <a:t>share by 2036. The die-cut &amp; folded</a:t>
            </a:r>
          </a:p>
        </p:txBody>
      </p:sp>
      <p:sp>
        <p:nvSpPr>
          <p:cNvPr id="32" name="TextBox 31"/>
          <p:cNvSpPr txBox="1"/>
          <p:nvPr/>
        </p:nvSpPr>
        <p:spPr>
          <a:xfrm>
            <a:off x="276225" y="5159882"/>
            <a:ext cx="4076886" cy="194310"/>
          </a:xfrm>
          <a:prstGeom prst="rect">
            <a:avLst/>
          </a:prstGeom>
          <a:noFill/>
        </p:spPr>
        <p:txBody>
          <a:bodyPr wrap="none" lIns="0" tIns="0" rIns="0" bIns="0">
            <a:spAutoFit/>
          </a:bodyPr>
          <a:lstStyle/>
          <a:p>
            <a:r>
              <a:rPr sz="1150" b="0">
                <a:solidFill>
                  <a:srgbClr val="2E2E2E"/>
                </a:solidFill>
                <a:latin typeface="Calibri"/>
              </a:rPr>
              <a:t>partitions (h-dividers, tube/cell inserts) segment is expected to lose</a:t>
            </a:r>
          </a:p>
        </p:txBody>
      </p:sp>
      <p:pic>
        <p:nvPicPr>
          <p:cNvPr id="33" name="Picture 32" descr="lock.png"/>
          <p:cNvPicPr>
            <a:picLocks noChangeAspect="1"/>
          </p:cNvPicPr>
          <p:nvPr/>
        </p:nvPicPr>
        <p:blipFill>
          <a:blip r:embed="rId4"/>
          <a:stretch>
            <a:fillRect/>
          </a:stretch>
        </p:blipFill>
        <p:spPr>
          <a:xfrm>
            <a:off x="4302264" y="5149659"/>
            <a:ext cx="134549" cy="195707"/>
          </a:xfrm>
          <a:prstGeom prst="rect">
            <a:avLst/>
          </a:prstGeom>
        </p:spPr>
      </p:pic>
      <p:sp>
        <p:nvSpPr>
          <p:cNvPr id="34" name="TextBox 33"/>
          <p:cNvSpPr txBox="1"/>
          <p:nvPr/>
        </p:nvSpPr>
        <p:spPr>
          <a:xfrm>
            <a:off x="4477374" y="5159882"/>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7064878" y="5149659"/>
            <a:ext cx="134549" cy="195707"/>
          </a:xfrm>
          <a:prstGeom prst="rect">
            <a:avLst/>
          </a:prstGeom>
        </p:spPr>
      </p:pic>
      <p:sp>
        <p:nvSpPr>
          <p:cNvPr id="36" name="TextBox 35"/>
          <p:cNvSpPr txBox="1"/>
          <p:nvPr/>
        </p:nvSpPr>
        <p:spPr>
          <a:xfrm>
            <a:off x="7239988" y="5159882"/>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Analysis, By Partition Type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Partition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By Partition Type (US$ Mn)</a:t>
            </a:r>
          </a:p>
        </p:txBody>
      </p:sp>
      <p:graphicFrame>
        <p:nvGraphicFramePr>
          <p:cNvPr id="13" name="Table 12"/>
          <p:cNvGraphicFramePr>
            <a:graphicFrameLocks noGrp="1"/>
          </p:cNvGraphicFramePr>
          <p:nvPr/>
        </p:nvGraphicFramePr>
        <p:xfrm>
          <a:off x="152400" y="1238250"/>
          <a:ext cx="11887198" cy="1238250"/>
        </p:xfrm>
        <a:graphic>
          <a:graphicData uri="http://schemas.openxmlformats.org/drawingml/2006/table">
            <a:tbl>
              <a:tblPr>
                <a:tableStyleId>{5C22544A-7EE6-4342-B048-85BDC9FD1C3A}</a:tableStyleId>
              </a:tblPr>
              <a:tblGrid>
                <a:gridCol w="2314532">
                  <a:extLst>
                    <a:ext uri="{9D8B030D-6E8A-4147-A177-3AD203B41FA5}">
                      <a16:colId xmlns:a16="http://schemas.microsoft.com/office/drawing/2014/main" val="20000"/>
                    </a:ext>
                  </a:extLst>
                </a:gridCol>
                <a:gridCol w="563098">
                  <a:extLst>
                    <a:ext uri="{9D8B030D-6E8A-4147-A177-3AD203B41FA5}">
                      <a16:colId xmlns:a16="http://schemas.microsoft.com/office/drawing/2014/main" val="20001"/>
                    </a:ext>
                  </a:extLst>
                </a:gridCol>
                <a:gridCol w="563098">
                  <a:extLst>
                    <a:ext uri="{9D8B030D-6E8A-4147-A177-3AD203B41FA5}">
                      <a16:colId xmlns:a16="http://schemas.microsoft.com/office/drawing/2014/main" val="20002"/>
                    </a:ext>
                  </a:extLst>
                </a:gridCol>
                <a:gridCol w="563098">
                  <a:extLst>
                    <a:ext uri="{9D8B030D-6E8A-4147-A177-3AD203B41FA5}">
                      <a16:colId xmlns:a16="http://schemas.microsoft.com/office/drawing/2014/main" val="20003"/>
                    </a:ext>
                  </a:extLst>
                </a:gridCol>
                <a:gridCol w="563098">
                  <a:extLst>
                    <a:ext uri="{9D8B030D-6E8A-4147-A177-3AD203B41FA5}">
                      <a16:colId xmlns:a16="http://schemas.microsoft.com/office/drawing/2014/main" val="20004"/>
                    </a:ext>
                  </a:extLst>
                </a:gridCol>
                <a:gridCol w="563098">
                  <a:extLst>
                    <a:ext uri="{9D8B030D-6E8A-4147-A177-3AD203B41FA5}">
                      <a16:colId xmlns:a16="http://schemas.microsoft.com/office/drawing/2014/main" val="20005"/>
                    </a:ext>
                  </a:extLst>
                </a:gridCol>
                <a:gridCol w="563098">
                  <a:extLst>
                    <a:ext uri="{9D8B030D-6E8A-4147-A177-3AD203B41FA5}">
                      <a16:colId xmlns:a16="http://schemas.microsoft.com/office/drawing/2014/main" val="20006"/>
                    </a:ext>
                  </a:extLst>
                </a:gridCol>
                <a:gridCol w="563098">
                  <a:extLst>
                    <a:ext uri="{9D8B030D-6E8A-4147-A177-3AD203B41FA5}">
                      <a16:colId xmlns:a16="http://schemas.microsoft.com/office/drawing/2014/main" val="20007"/>
                    </a:ext>
                  </a:extLst>
                </a:gridCol>
                <a:gridCol w="563098">
                  <a:extLst>
                    <a:ext uri="{9D8B030D-6E8A-4147-A177-3AD203B41FA5}">
                      <a16:colId xmlns:a16="http://schemas.microsoft.com/office/drawing/2014/main" val="20008"/>
                    </a:ext>
                  </a:extLst>
                </a:gridCol>
                <a:gridCol w="563098">
                  <a:extLst>
                    <a:ext uri="{9D8B030D-6E8A-4147-A177-3AD203B41FA5}">
                      <a16:colId xmlns:a16="http://schemas.microsoft.com/office/drawing/2014/main" val="20009"/>
                    </a:ext>
                  </a:extLst>
                </a:gridCol>
                <a:gridCol w="563098">
                  <a:extLst>
                    <a:ext uri="{9D8B030D-6E8A-4147-A177-3AD203B41FA5}">
                      <a16:colId xmlns:a16="http://schemas.microsoft.com/office/drawing/2014/main" val="20010"/>
                    </a:ext>
                  </a:extLst>
                </a:gridCol>
                <a:gridCol w="563098">
                  <a:extLst>
                    <a:ext uri="{9D8B030D-6E8A-4147-A177-3AD203B41FA5}">
                      <a16:colId xmlns:a16="http://schemas.microsoft.com/office/drawing/2014/main" val="20011"/>
                    </a:ext>
                  </a:extLst>
                </a:gridCol>
                <a:gridCol w="563098">
                  <a:extLst>
                    <a:ext uri="{9D8B030D-6E8A-4147-A177-3AD203B41FA5}">
                      <a16:colId xmlns:a16="http://schemas.microsoft.com/office/drawing/2014/main" val="20012"/>
                    </a:ext>
                  </a:extLst>
                </a:gridCol>
                <a:gridCol w="563098">
                  <a:extLst>
                    <a:ext uri="{9D8B030D-6E8A-4147-A177-3AD203B41FA5}">
                      <a16:colId xmlns:a16="http://schemas.microsoft.com/office/drawing/2014/main" val="20013"/>
                    </a:ext>
                  </a:extLst>
                </a:gridCol>
                <a:gridCol w="563098">
                  <a:extLst>
                    <a:ext uri="{9D8B030D-6E8A-4147-A177-3AD203B41FA5}">
                      <a16:colId xmlns:a16="http://schemas.microsoft.com/office/drawing/2014/main" val="20014"/>
                    </a:ext>
                  </a:extLst>
                </a:gridCol>
                <a:gridCol w="563098">
                  <a:extLst>
                    <a:ext uri="{9D8B030D-6E8A-4147-A177-3AD203B41FA5}">
                      <a16:colId xmlns:a16="http://schemas.microsoft.com/office/drawing/2014/main" val="20015"/>
                    </a:ext>
                  </a:extLst>
                </a:gridCol>
                <a:gridCol w="563098">
                  <a:extLst>
                    <a:ext uri="{9D8B030D-6E8A-4147-A177-3AD203B41FA5}">
                      <a16:colId xmlns:a16="http://schemas.microsoft.com/office/drawing/2014/main" val="20016"/>
                    </a:ext>
                  </a:extLst>
                </a:gridCol>
                <a:gridCol w="563098">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90512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Value Analysis, By Partition Type</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228975"/>
            <a:ext cx="11639550" cy="33242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66574" y="1713738"/>
            <a:ext cx="366712" cy="533400"/>
          </a:xfrm>
          <a:prstGeom prst="rect">
            <a:avLst/>
          </a:prstGeom>
        </p:spPr>
      </p:pic>
      <p:sp>
        <p:nvSpPr>
          <p:cNvPr id="21" name="TextBox 20"/>
          <p:cNvSpPr txBox="1"/>
          <p:nvPr/>
        </p:nvSpPr>
        <p:spPr>
          <a:xfrm>
            <a:off x="276225" y="3238500"/>
            <a:ext cx="3494397" cy="194310"/>
          </a:xfrm>
          <a:prstGeom prst="rect">
            <a:avLst/>
          </a:prstGeom>
          <a:noFill/>
        </p:spPr>
        <p:txBody>
          <a:bodyPr wrap="none" lIns="0" tIns="0" rIns="0" bIns="0">
            <a:spAutoFit/>
          </a:bodyPr>
          <a:lstStyle/>
          <a:p>
            <a:r>
              <a:rPr sz="1150" b="0">
                <a:solidFill>
                  <a:srgbClr val="2E2E2E"/>
                </a:solidFill>
                <a:latin typeface="Calibri"/>
              </a:rPr>
              <a:t>Flat dividers &amp; layer pads segment is projected to register</a:t>
            </a:r>
          </a:p>
        </p:txBody>
      </p:sp>
      <p:pic>
        <p:nvPicPr>
          <p:cNvPr id="22" name="Picture 21" descr="lock.png"/>
          <p:cNvPicPr>
            <a:picLocks noChangeAspect="1"/>
          </p:cNvPicPr>
          <p:nvPr/>
        </p:nvPicPr>
        <p:blipFill>
          <a:blip r:embed="rId4"/>
          <a:stretch>
            <a:fillRect/>
          </a:stretch>
        </p:blipFill>
        <p:spPr>
          <a:xfrm>
            <a:off x="3719776" y="3228276"/>
            <a:ext cx="134549" cy="195707"/>
          </a:xfrm>
          <a:prstGeom prst="rect">
            <a:avLst/>
          </a:prstGeom>
        </p:spPr>
      </p:pic>
      <p:sp>
        <p:nvSpPr>
          <p:cNvPr id="23" name="TextBox 22"/>
          <p:cNvSpPr txBox="1"/>
          <p:nvPr/>
        </p:nvSpPr>
        <p:spPr>
          <a:xfrm>
            <a:off x="3894885" y="3238500"/>
            <a:ext cx="7497080" cy="194310"/>
          </a:xfrm>
          <a:prstGeom prst="rect">
            <a:avLst/>
          </a:prstGeom>
          <a:noFill/>
        </p:spPr>
        <p:txBody>
          <a:bodyPr wrap="none" lIns="0" tIns="0" rIns="0" bIns="0">
            <a:spAutoFit/>
          </a:bodyPr>
          <a:lstStyle/>
          <a:p>
            <a:r>
              <a:rPr sz="1150" b="0">
                <a:solidFill>
                  <a:srgbClr val="2E2E2E"/>
                </a:solidFill>
                <a:latin typeface="Calibri"/>
              </a:rPr>
              <a:t>X higher value than die-cut &amp; folded partitions (h-dividers, tube/cell inserts) segment in 2036. Among corrugated partition by</a:t>
            </a:r>
          </a:p>
        </p:txBody>
      </p:sp>
      <p:sp>
        <p:nvSpPr>
          <p:cNvPr id="24" name="TextBox 23"/>
          <p:cNvSpPr txBox="1"/>
          <p:nvPr/>
        </p:nvSpPr>
        <p:spPr>
          <a:xfrm>
            <a:off x="276225" y="3413760"/>
            <a:ext cx="5544499" cy="194310"/>
          </a:xfrm>
          <a:prstGeom prst="rect">
            <a:avLst/>
          </a:prstGeom>
          <a:noFill/>
        </p:spPr>
        <p:txBody>
          <a:bodyPr wrap="none" lIns="0" tIns="0" rIns="0" bIns="0">
            <a:spAutoFit/>
          </a:bodyPr>
          <a:lstStyle/>
          <a:p>
            <a:r>
              <a:rPr sz="1150" b="0">
                <a:solidFill>
                  <a:srgbClr val="2E2E2E"/>
                </a:solidFill>
                <a:latin typeface="Calibri"/>
              </a:rPr>
              <a:t>partition type, flat dividers &amp; layer pads segment is expected to witness the highest CAGR of</a:t>
            </a:r>
          </a:p>
        </p:txBody>
      </p:sp>
      <p:pic>
        <p:nvPicPr>
          <p:cNvPr id="25" name="Picture 24" descr="lock.png"/>
          <p:cNvPicPr>
            <a:picLocks noChangeAspect="1"/>
          </p:cNvPicPr>
          <p:nvPr/>
        </p:nvPicPr>
        <p:blipFill>
          <a:blip r:embed="rId4"/>
          <a:stretch>
            <a:fillRect/>
          </a:stretch>
        </p:blipFill>
        <p:spPr>
          <a:xfrm>
            <a:off x="5769878" y="3403536"/>
            <a:ext cx="134549" cy="195707"/>
          </a:xfrm>
          <a:prstGeom prst="rect">
            <a:avLst/>
          </a:prstGeom>
        </p:spPr>
      </p:pic>
      <p:sp>
        <p:nvSpPr>
          <p:cNvPr id="26" name="TextBox 25"/>
          <p:cNvSpPr txBox="1"/>
          <p:nvPr/>
        </p:nvSpPr>
        <p:spPr>
          <a:xfrm>
            <a:off x="5944987" y="341376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434895" cy="194310"/>
          </a:xfrm>
          <a:prstGeom prst="rect">
            <a:avLst/>
          </a:prstGeom>
          <a:noFill/>
        </p:spPr>
        <p:txBody>
          <a:bodyPr wrap="none" lIns="0" tIns="0" rIns="0" bIns="0">
            <a:spAutoFit/>
          </a:bodyPr>
          <a:lstStyle/>
          <a:p>
            <a:r>
              <a:rPr sz="1150" b="0">
                <a:solidFill>
                  <a:srgbClr val="2E2E2E"/>
                </a:solidFill>
                <a:latin typeface="Calibri"/>
              </a:rPr>
              <a:t>In terms of value share by partition type, the flat dividers &amp; layer pads segment is expected to dominate the market, gaining</a:t>
            </a:r>
          </a:p>
        </p:txBody>
      </p:sp>
      <p:pic>
        <p:nvPicPr>
          <p:cNvPr id="28" name="Picture 27" descr="lock.png"/>
          <p:cNvPicPr>
            <a:picLocks noChangeAspect="1"/>
          </p:cNvPicPr>
          <p:nvPr/>
        </p:nvPicPr>
        <p:blipFill>
          <a:blip r:embed="rId4"/>
          <a:stretch>
            <a:fillRect/>
          </a:stretch>
        </p:blipFill>
        <p:spPr>
          <a:xfrm>
            <a:off x="7660273" y="3631374"/>
            <a:ext cx="134549" cy="195707"/>
          </a:xfrm>
          <a:prstGeom prst="rect">
            <a:avLst/>
          </a:prstGeom>
        </p:spPr>
      </p:pic>
      <p:sp>
        <p:nvSpPr>
          <p:cNvPr id="29" name="TextBox 28"/>
          <p:cNvSpPr txBox="1"/>
          <p:nvPr/>
        </p:nvSpPr>
        <p:spPr>
          <a:xfrm>
            <a:off x="7835383" y="364159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230526" y="3631374"/>
            <a:ext cx="134549" cy="195707"/>
          </a:xfrm>
          <a:prstGeom prst="rect">
            <a:avLst/>
          </a:prstGeom>
        </p:spPr>
      </p:pic>
      <p:sp>
        <p:nvSpPr>
          <p:cNvPr id="31" name="TextBox 30"/>
          <p:cNvSpPr txBox="1"/>
          <p:nvPr/>
        </p:nvSpPr>
        <p:spPr>
          <a:xfrm>
            <a:off x="9405635" y="3641597"/>
            <a:ext cx="2195921" cy="194310"/>
          </a:xfrm>
          <a:prstGeom prst="rect">
            <a:avLst/>
          </a:prstGeom>
          <a:noFill/>
        </p:spPr>
        <p:txBody>
          <a:bodyPr wrap="none" lIns="0" tIns="0" rIns="0" bIns="0">
            <a:spAutoFit/>
          </a:bodyPr>
          <a:lstStyle/>
          <a:p>
            <a:r>
              <a:rPr sz="1150" b="0">
                <a:solidFill>
                  <a:srgbClr val="2E2E2E"/>
                </a:solidFill>
                <a:latin typeface="Calibri"/>
              </a:rPr>
              <a:t>share by 2036. The die-cut &amp; folded</a:t>
            </a:r>
          </a:p>
        </p:txBody>
      </p:sp>
      <p:sp>
        <p:nvSpPr>
          <p:cNvPr id="32" name="TextBox 31"/>
          <p:cNvSpPr txBox="1"/>
          <p:nvPr/>
        </p:nvSpPr>
        <p:spPr>
          <a:xfrm>
            <a:off x="276225" y="3816857"/>
            <a:ext cx="4076886" cy="194310"/>
          </a:xfrm>
          <a:prstGeom prst="rect">
            <a:avLst/>
          </a:prstGeom>
          <a:noFill/>
        </p:spPr>
        <p:txBody>
          <a:bodyPr wrap="none" lIns="0" tIns="0" rIns="0" bIns="0">
            <a:spAutoFit/>
          </a:bodyPr>
          <a:lstStyle/>
          <a:p>
            <a:r>
              <a:rPr sz="1150" b="0">
                <a:solidFill>
                  <a:srgbClr val="2E2E2E"/>
                </a:solidFill>
                <a:latin typeface="Calibri"/>
              </a:rPr>
              <a:t>partitions (h-dividers, tube/cell inserts) segment is expected to lose</a:t>
            </a:r>
          </a:p>
        </p:txBody>
      </p:sp>
      <p:pic>
        <p:nvPicPr>
          <p:cNvPr id="33" name="Picture 32" descr="lock.png"/>
          <p:cNvPicPr>
            <a:picLocks noChangeAspect="1"/>
          </p:cNvPicPr>
          <p:nvPr/>
        </p:nvPicPr>
        <p:blipFill>
          <a:blip r:embed="rId4"/>
          <a:stretch>
            <a:fillRect/>
          </a:stretch>
        </p:blipFill>
        <p:spPr>
          <a:xfrm>
            <a:off x="4302264" y="3806634"/>
            <a:ext cx="134549" cy="195707"/>
          </a:xfrm>
          <a:prstGeom prst="rect">
            <a:avLst/>
          </a:prstGeom>
        </p:spPr>
      </p:pic>
      <p:sp>
        <p:nvSpPr>
          <p:cNvPr id="34" name="TextBox 33"/>
          <p:cNvSpPr txBox="1"/>
          <p:nvPr/>
        </p:nvSpPr>
        <p:spPr>
          <a:xfrm>
            <a:off x="4477374" y="381685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7064878" y="3806634"/>
            <a:ext cx="134549" cy="195707"/>
          </a:xfrm>
          <a:prstGeom prst="rect">
            <a:avLst/>
          </a:prstGeom>
        </p:spPr>
      </p:pic>
      <p:sp>
        <p:nvSpPr>
          <p:cNvPr id="36" name="TextBox 35"/>
          <p:cNvSpPr txBox="1"/>
          <p:nvPr/>
        </p:nvSpPr>
        <p:spPr>
          <a:xfrm>
            <a:off x="7239988" y="381685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&amp; Share Shift, By Partition Type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Partition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Composition, By Partition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199614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rot="10800000">
            <a:off x="5090922" y="199138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1915183"/>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Slotted (Interlocking Grid) Partitions</a:t>
            </a:r>
          </a:p>
        </p:txBody>
      </p:sp>
      <p:sp>
        <p:nvSpPr>
          <p:cNvPr id="19" name="BPS Value 1"/>
          <p:cNvSpPr txBox="1"/>
          <p:nvPr/>
        </p:nvSpPr>
        <p:spPr>
          <a:xfrm>
            <a:off x="6896100" y="1977096"/>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0" name="FMI Legend Chip"/>
          <p:cNvSpPr/>
          <p:nvPr/>
        </p:nvSpPr>
        <p:spPr>
          <a:xfrm>
            <a:off x="4928997" y="296927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296450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2888308"/>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Die-Cut &amp; Folded Partitions</a:t>
            </a:r>
          </a:p>
        </p:txBody>
      </p:sp>
      <p:sp>
        <p:nvSpPr>
          <p:cNvPr id="23" name="BPS Value 2"/>
          <p:cNvSpPr txBox="1"/>
          <p:nvPr/>
        </p:nvSpPr>
        <p:spPr>
          <a:xfrm>
            <a:off x="6896100" y="2950221"/>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FMI Legend Chip"/>
          <p:cNvSpPr/>
          <p:nvPr/>
        </p:nvSpPr>
        <p:spPr>
          <a:xfrm>
            <a:off x="4928997" y="493057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a:off x="5090922" y="49258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5233797" y="4849609"/>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Flat Dividers &amp; Layer Pads</a:t>
            </a:r>
          </a:p>
        </p:txBody>
      </p:sp>
      <p:sp>
        <p:nvSpPr>
          <p:cNvPr id="27" name="BPS Value 3"/>
          <p:cNvSpPr txBox="1"/>
          <p:nvPr/>
        </p:nvSpPr>
        <p:spPr>
          <a:xfrm>
            <a:off x="6896100" y="4911522"/>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North America Read-out, By Partition Type</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2" name="TextBox 3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88172" cy="194310"/>
          </a:xfrm>
          <a:prstGeom prst="rect">
            <a:avLst/>
          </a:prstGeom>
          <a:noFill/>
        </p:spPr>
        <p:txBody>
          <a:bodyPr wrap="none" lIns="0" tIns="0" rIns="0" bIns="0">
            <a:spAutoFit/>
          </a:bodyPr>
          <a:lstStyle/>
          <a:p>
            <a:r>
              <a:rPr sz="1150" b="0">
                <a:solidFill>
                  <a:srgbClr val="2E2E2E"/>
                </a:solidFill>
                <a:latin typeface="Calibri"/>
              </a:rPr>
              <a:t>Among corrugated partition by partition type, flat dividers &amp; layer</a:t>
            </a:r>
          </a:p>
        </p:txBody>
      </p:sp>
      <p:sp>
        <p:nvSpPr>
          <p:cNvPr id="35" name="TextBox 34"/>
          <p:cNvSpPr txBox="1"/>
          <p:nvPr/>
        </p:nvSpPr>
        <p:spPr>
          <a:xfrm>
            <a:off x="7829550" y="1575435"/>
            <a:ext cx="3470133" cy="194310"/>
          </a:xfrm>
          <a:prstGeom prst="rect">
            <a:avLst/>
          </a:prstGeom>
          <a:noFill/>
        </p:spPr>
        <p:txBody>
          <a:bodyPr wrap="none" lIns="0" tIns="0" rIns="0" bIns="0">
            <a:spAutoFit/>
          </a:bodyPr>
          <a:lstStyle/>
          <a:p>
            <a:r>
              <a:rPr sz="1150" b="0">
                <a:solidFill>
                  <a:srgbClr val="2E2E2E"/>
                </a:solidFill>
                <a:latin typeface="Calibri"/>
              </a:rPr>
              <a:t>pads segment is expected to witness the highest CAGR of</a:t>
            </a:r>
          </a:p>
        </p:txBody>
      </p:sp>
      <p:pic>
        <p:nvPicPr>
          <p:cNvPr id="36" name="Picture 35" descr="lock.png"/>
          <p:cNvPicPr>
            <a:picLocks noChangeAspect="1"/>
          </p:cNvPicPr>
          <p:nvPr/>
        </p:nvPicPr>
        <p:blipFill>
          <a:blip r:embed="rId5"/>
          <a:stretch>
            <a:fillRect/>
          </a:stretch>
        </p:blipFill>
        <p:spPr>
          <a:xfrm>
            <a:off x="11248837" y="1565211"/>
            <a:ext cx="134549" cy="195707"/>
          </a:xfrm>
          <a:prstGeom prst="rect">
            <a:avLst/>
          </a:prstGeom>
        </p:spPr>
      </p:pic>
      <p:sp>
        <p:nvSpPr>
          <p:cNvPr id="37" name="TextBox 36"/>
          <p:cNvSpPr txBox="1"/>
          <p:nvPr/>
        </p:nvSpPr>
        <p:spPr>
          <a:xfrm>
            <a:off x="11423946" y="1575435"/>
            <a:ext cx="342912" cy="194310"/>
          </a:xfrm>
          <a:prstGeom prst="rect">
            <a:avLst/>
          </a:prstGeom>
          <a:noFill/>
        </p:spPr>
        <p:txBody>
          <a:bodyPr wrap="none" lIns="0" tIns="0" rIns="0" bIns="0">
            <a:spAutoFit/>
          </a:bodyPr>
          <a:lstStyle/>
          <a:p>
            <a:r>
              <a:rPr sz="1150" b="0">
                <a:solidFill>
                  <a:srgbClr val="2E2E2E"/>
                </a:solidFill>
                <a:latin typeface="Calibri"/>
              </a:rPr>
              <a:t>over</a:t>
            </a:r>
          </a:p>
        </p:txBody>
      </p:sp>
      <p:sp>
        <p:nvSpPr>
          <p:cNvPr id="38" name="TextBox 37"/>
          <p:cNvSpPr txBox="1"/>
          <p:nvPr/>
        </p:nvSpPr>
        <p:spPr>
          <a:xfrm>
            <a:off x="7829550" y="1750695"/>
            <a:ext cx="3934259" cy="194310"/>
          </a:xfrm>
          <a:prstGeom prst="rect">
            <a:avLst/>
          </a:prstGeom>
          <a:noFill/>
        </p:spPr>
        <p:txBody>
          <a:bodyPr wrap="none" lIns="0" tIns="0" rIns="0" bIns="0">
            <a:spAutoFit/>
          </a:bodyPr>
          <a:lstStyle/>
          <a:p>
            <a:r>
              <a:rPr sz="1150" b="0">
                <a:solidFill>
                  <a:srgbClr val="2E2E2E"/>
                </a:solidFill>
                <a:latin typeface="Calibri"/>
              </a:rPr>
              <a:t>the forecast period. In terms of value share by partition type, the</a:t>
            </a:r>
          </a:p>
        </p:txBody>
      </p:sp>
      <p:sp>
        <p:nvSpPr>
          <p:cNvPr id="39" name="TextBox 38"/>
          <p:cNvSpPr txBox="1"/>
          <p:nvPr/>
        </p:nvSpPr>
        <p:spPr>
          <a:xfrm>
            <a:off x="7829550" y="1925955"/>
            <a:ext cx="3792773" cy="194310"/>
          </a:xfrm>
          <a:prstGeom prst="rect">
            <a:avLst/>
          </a:prstGeom>
          <a:noFill/>
        </p:spPr>
        <p:txBody>
          <a:bodyPr wrap="none" lIns="0" tIns="0" rIns="0" bIns="0">
            <a:spAutoFit/>
          </a:bodyPr>
          <a:lstStyle/>
          <a:p>
            <a:r>
              <a:rPr sz="1150" b="0">
                <a:solidFill>
                  <a:srgbClr val="2E2E2E"/>
                </a:solidFill>
                <a:latin typeface="Calibri"/>
              </a:rPr>
              <a:t>flat dividers &amp; layer pads segment is expected to dominate the</a:t>
            </a:r>
          </a:p>
        </p:txBody>
      </p:sp>
      <p:sp>
        <p:nvSpPr>
          <p:cNvPr id="40" name="TextBox 39"/>
          <p:cNvSpPr txBox="1"/>
          <p:nvPr/>
        </p:nvSpPr>
        <p:spPr>
          <a:xfrm>
            <a:off x="7829550" y="2101215"/>
            <a:ext cx="999852" cy="194310"/>
          </a:xfrm>
          <a:prstGeom prst="rect">
            <a:avLst/>
          </a:prstGeom>
          <a:noFill/>
        </p:spPr>
        <p:txBody>
          <a:bodyPr wrap="none" lIns="0" tIns="0" rIns="0" bIns="0">
            <a:spAutoFit/>
          </a:bodyPr>
          <a:lstStyle/>
          <a:p>
            <a:r>
              <a:rPr sz="1150" b="0">
                <a:solidFill>
                  <a:srgbClr val="2E2E2E"/>
                </a:solidFill>
                <a:latin typeface="Calibri"/>
              </a:rPr>
              <a:t>market, gaining</a:t>
            </a:r>
          </a:p>
        </p:txBody>
      </p:sp>
      <p:pic>
        <p:nvPicPr>
          <p:cNvPr id="41" name="Picture 40" descr="lock.png"/>
          <p:cNvPicPr>
            <a:picLocks noChangeAspect="1"/>
          </p:cNvPicPr>
          <p:nvPr/>
        </p:nvPicPr>
        <p:blipFill>
          <a:blip r:embed="rId5"/>
          <a:stretch>
            <a:fillRect/>
          </a:stretch>
        </p:blipFill>
        <p:spPr>
          <a:xfrm>
            <a:off x="8778556" y="2090991"/>
            <a:ext cx="134549" cy="195707"/>
          </a:xfrm>
          <a:prstGeom prst="rect">
            <a:avLst/>
          </a:prstGeom>
        </p:spPr>
      </p:pic>
      <p:sp>
        <p:nvSpPr>
          <p:cNvPr id="42" name="TextBox 41"/>
          <p:cNvSpPr txBox="1"/>
          <p:nvPr/>
        </p:nvSpPr>
        <p:spPr>
          <a:xfrm>
            <a:off x="8953665" y="2101215"/>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10348808" y="2090991"/>
            <a:ext cx="134549" cy="195707"/>
          </a:xfrm>
          <a:prstGeom prst="rect">
            <a:avLst/>
          </a:prstGeom>
        </p:spPr>
      </p:pic>
      <p:sp>
        <p:nvSpPr>
          <p:cNvPr id="44" name="TextBox 43"/>
          <p:cNvSpPr txBox="1"/>
          <p:nvPr/>
        </p:nvSpPr>
        <p:spPr>
          <a:xfrm>
            <a:off x="10523917" y="2101215"/>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5" name="TextBox 44"/>
          <p:cNvSpPr txBox="1"/>
          <p:nvPr/>
        </p:nvSpPr>
        <p:spPr>
          <a:xfrm>
            <a:off x="7829550" y="2329053"/>
            <a:ext cx="3644155" cy="194310"/>
          </a:xfrm>
          <a:prstGeom prst="rect">
            <a:avLst/>
          </a:prstGeom>
          <a:noFill/>
        </p:spPr>
        <p:txBody>
          <a:bodyPr wrap="none" lIns="0" tIns="0" rIns="0" bIns="0">
            <a:spAutoFit/>
          </a:bodyPr>
          <a:lstStyle/>
          <a:p>
            <a:r>
              <a:rPr sz="1150" b="0">
                <a:solidFill>
                  <a:srgbClr val="2E2E2E"/>
                </a:solidFill>
                <a:latin typeface="Calibri"/>
              </a:rPr>
              <a:t>The die-cut &amp; folded partitions (h-dividers, tube/cell inserts)</a:t>
            </a:r>
          </a:p>
        </p:txBody>
      </p:sp>
      <p:sp>
        <p:nvSpPr>
          <p:cNvPr id="46" name="TextBox 45"/>
          <p:cNvSpPr txBox="1"/>
          <p:nvPr/>
        </p:nvSpPr>
        <p:spPr>
          <a:xfrm>
            <a:off x="7829550" y="2504313"/>
            <a:ext cx="1725538" cy="194310"/>
          </a:xfrm>
          <a:prstGeom prst="rect">
            <a:avLst/>
          </a:prstGeom>
          <a:noFill/>
        </p:spPr>
        <p:txBody>
          <a:bodyPr wrap="none" lIns="0" tIns="0" rIns="0" bIns="0">
            <a:spAutoFit/>
          </a:bodyPr>
          <a:lstStyle/>
          <a:p>
            <a:r>
              <a:rPr sz="1150" b="0">
                <a:solidFill>
                  <a:srgbClr val="2E2E2E"/>
                </a:solidFill>
                <a:latin typeface="Calibri"/>
              </a:rPr>
              <a:t>segment is expected to lose</a:t>
            </a:r>
          </a:p>
        </p:txBody>
      </p:sp>
      <p:pic>
        <p:nvPicPr>
          <p:cNvPr id="47" name="Picture 46" descr="lock.png"/>
          <p:cNvPicPr>
            <a:picLocks noChangeAspect="1"/>
          </p:cNvPicPr>
          <p:nvPr/>
        </p:nvPicPr>
        <p:blipFill>
          <a:blip r:embed="rId5"/>
          <a:stretch>
            <a:fillRect/>
          </a:stretch>
        </p:blipFill>
        <p:spPr>
          <a:xfrm>
            <a:off x="9504242" y="2494089"/>
            <a:ext cx="134549" cy="195707"/>
          </a:xfrm>
          <a:prstGeom prst="rect">
            <a:avLst/>
          </a:prstGeom>
        </p:spPr>
      </p:pic>
      <p:sp>
        <p:nvSpPr>
          <p:cNvPr id="48" name="TextBox 47"/>
          <p:cNvSpPr txBox="1"/>
          <p:nvPr/>
        </p:nvSpPr>
        <p:spPr>
          <a:xfrm>
            <a:off x="9679351" y="2504313"/>
            <a:ext cx="1926356" cy="194310"/>
          </a:xfrm>
          <a:prstGeom prst="rect">
            <a:avLst/>
          </a:prstGeom>
          <a:noFill/>
        </p:spPr>
        <p:txBody>
          <a:bodyPr wrap="none" lIns="0" tIns="0" rIns="0" bIns="0">
            <a:spAutoFit/>
          </a:bodyPr>
          <a:lstStyle/>
          <a:p>
            <a:r>
              <a:rPr sz="1150" b="0">
                <a:solidFill>
                  <a:srgbClr val="2E2E2E"/>
                </a:solidFill>
                <a:latin typeface="Calibri"/>
              </a:rPr>
              <a:t>BPS over the forecast period to</a:t>
            </a:r>
          </a:p>
        </p:txBody>
      </p:sp>
      <p:sp>
        <p:nvSpPr>
          <p:cNvPr id="49" name="TextBox 48"/>
          <p:cNvSpPr txBox="1"/>
          <p:nvPr/>
        </p:nvSpPr>
        <p:spPr>
          <a:xfrm>
            <a:off x="7829550" y="2679573"/>
            <a:ext cx="755104" cy="194310"/>
          </a:xfrm>
          <a:prstGeom prst="rect">
            <a:avLst/>
          </a:prstGeom>
          <a:noFill/>
        </p:spPr>
        <p:txBody>
          <a:bodyPr wrap="none" lIns="0" tIns="0" rIns="0" bIns="0">
            <a:spAutoFit/>
          </a:bodyPr>
          <a:lstStyle/>
          <a:p>
            <a:r>
              <a:rPr sz="1150" b="0">
                <a:solidFill>
                  <a:srgbClr val="2E2E2E"/>
                </a:solidFill>
                <a:latin typeface="Calibri"/>
              </a:rPr>
              <a:t>account for</a:t>
            </a:r>
          </a:p>
        </p:txBody>
      </p:sp>
      <p:pic>
        <p:nvPicPr>
          <p:cNvPr id="50" name="Picture 49" descr="lock.png"/>
          <p:cNvPicPr>
            <a:picLocks noChangeAspect="1"/>
          </p:cNvPicPr>
          <p:nvPr/>
        </p:nvPicPr>
        <p:blipFill>
          <a:blip r:embed="rId5"/>
          <a:stretch>
            <a:fillRect/>
          </a:stretch>
        </p:blipFill>
        <p:spPr>
          <a:xfrm>
            <a:off x="8533808" y="2669349"/>
            <a:ext cx="134549" cy="195707"/>
          </a:xfrm>
          <a:prstGeom prst="rect">
            <a:avLst/>
          </a:prstGeom>
        </p:spPr>
      </p:pic>
      <p:sp>
        <p:nvSpPr>
          <p:cNvPr id="51" name="TextBox 50"/>
          <p:cNvSpPr txBox="1"/>
          <p:nvPr/>
        </p:nvSpPr>
        <p:spPr>
          <a:xfrm>
            <a:off x="8708917" y="267957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Volume, By Partition Type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Partition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Growth,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extLst>
                    <a:ext uri="{9D8B030D-6E8A-4147-A177-3AD203B41FA5}">
                      <a16:colId xmlns:a16="http://schemas.microsoft.com/office/drawing/2014/main" val="20000"/>
                    </a:ext>
                  </a:extLst>
                </a:gridCol>
                <a:gridCol w="624799">
                  <a:extLst>
                    <a:ext uri="{9D8B030D-6E8A-4147-A177-3AD203B41FA5}">
                      <a16:colId xmlns:a16="http://schemas.microsoft.com/office/drawing/2014/main" val="20001"/>
                    </a:ext>
                  </a:extLst>
                </a:gridCol>
                <a:gridCol w="624799">
                  <a:extLst>
                    <a:ext uri="{9D8B030D-6E8A-4147-A177-3AD203B41FA5}">
                      <a16:colId xmlns:a16="http://schemas.microsoft.com/office/drawing/2014/main" val="20002"/>
                    </a:ext>
                  </a:extLst>
                </a:gridCol>
                <a:gridCol w="624799">
                  <a:extLst>
                    <a:ext uri="{9D8B030D-6E8A-4147-A177-3AD203B41FA5}">
                      <a16:colId xmlns:a16="http://schemas.microsoft.com/office/drawing/2014/main" val="20003"/>
                    </a:ext>
                  </a:extLst>
                </a:gridCol>
                <a:gridCol w="624799">
                  <a:extLst>
                    <a:ext uri="{9D8B030D-6E8A-4147-A177-3AD203B41FA5}">
                      <a16:colId xmlns:a16="http://schemas.microsoft.com/office/drawing/2014/main" val="20004"/>
                    </a:ext>
                  </a:extLst>
                </a:gridCol>
                <a:gridCol w="624799">
                  <a:extLst>
                    <a:ext uri="{9D8B030D-6E8A-4147-A177-3AD203B41FA5}">
                      <a16:colId xmlns:a16="http://schemas.microsoft.com/office/drawing/2014/main" val="20005"/>
                    </a:ext>
                  </a:extLst>
                </a:gridCol>
                <a:gridCol w="624799">
                  <a:extLst>
                    <a:ext uri="{9D8B030D-6E8A-4147-A177-3AD203B41FA5}">
                      <a16:colId xmlns:a16="http://schemas.microsoft.com/office/drawing/2014/main" val="20006"/>
                    </a:ext>
                  </a:extLst>
                </a:gridCol>
                <a:gridCol w="624799">
                  <a:extLst>
                    <a:ext uri="{9D8B030D-6E8A-4147-A177-3AD203B41FA5}">
                      <a16:colId xmlns:a16="http://schemas.microsoft.com/office/drawing/2014/main" val="20007"/>
                    </a:ext>
                  </a:extLst>
                </a:gridCol>
                <a:gridCol w="624799">
                  <a:extLst>
                    <a:ext uri="{9D8B030D-6E8A-4147-A177-3AD203B41FA5}">
                      <a16:colId xmlns:a16="http://schemas.microsoft.com/office/drawing/2014/main" val="20008"/>
                    </a:ext>
                  </a:extLst>
                </a:gridCol>
                <a:gridCol w="624799">
                  <a:extLst>
                    <a:ext uri="{9D8B030D-6E8A-4147-A177-3AD203B41FA5}">
                      <a16:colId xmlns:a16="http://schemas.microsoft.com/office/drawing/2014/main" val="20009"/>
                    </a:ext>
                  </a:extLst>
                </a:gridCol>
                <a:gridCol w="624799">
                  <a:extLst>
                    <a:ext uri="{9D8B030D-6E8A-4147-A177-3AD203B41FA5}">
                      <a16:colId xmlns:a16="http://schemas.microsoft.com/office/drawing/2014/main" val="20010"/>
                    </a:ext>
                  </a:extLst>
                </a:gridCol>
                <a:gridCol w="624799">
                  <a:extLst>
                    <a:ext uri="{9D8B030D-6E8A-4147-A177-3AD203B41FA5}">
                      <a16:colId xmlns:a16="http://schemas.microsoft.com/office/drawing/2014/main" val="20011"/>
                    </a:ext>
                  </a:extLst>
                </a:gridCol>
                <a:gridCol w="624799">
                  <a:extLst>
                    <a:ext uri="{9D8B030D-6E8A-4147-A177-3AD203B41FA5}">
                      <a16:colId xmlns:a16="http://schemas.microsoft.com/office/drawing/2014/main" val="20012"/>
                    </a:ext>
                  </a:extLst>
                </a:gridCol>
                <a:gridCol w="624799">
                  <a:extLst>
                    <a:ext uri="{9D8B030D-6E8A-4147-A177-3AD203B41FA5}">
                      <a16:colId xmlns:a16="http://schemas.microsoft.com/office/drawing/2014/main" val="20013"/>
                    </a:ext>
                  </a:extLst>
                </a:gridCol>
                <a:gridCol w="624799">
                  <a:extLst>
                    <a:ext uri="{9D8B030D-6E8A-4147-A177-3AD203B41FA5}">
                      <a16:colId xmlns:a16="http://schemas.microsoft.com/office/drawing/2014/main" val="20014"/>
                    </a:ext>
                  </a:extLst>
                </a:gridCol>
                <a:gridCol w="62479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Heatmap, By Partition Type (%)  ·  light = lower, dark = higher growth</a:t>
            </a:r>
          </a:p>
        </p:txBody>
      </p:sp>
      <p:sp>
        <p:nvSpPr>
          <p:cNvPr id="17" name="TextBox 16"/>
          <p:cNvSpPr txBox="1"/>
          <p:nvPr/>
        </p:nvSpPr>
        <p:spPr>
          <a:xfrm>
            <a:off x="18573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Slotted (Interlocking Grid) Partitions</a:t>
            </a:r>
          </a:p>
        </p:txBody>
      </p:sp>
      <p:sp>
        <p:nvSpPr>
          <p:cNvPr id="33" name="Rectangle 32"/>
          <p:cNvSpPr/>
          <p:nvPr/>
        </p:nvSpPr>
        <p:spPr>
          <a:xfrm>
            <a:off x="185737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000375"/>
            <a:ext cx="643890" cy="1190625"/>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000375"/>
            <a:ext cx="643890" cy="1190625"/>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00037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000375"/>
            <a:ext cx="643890" cy="119062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000375"/>
            <a:ext cx="643890" cy="1190625"/>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000375"/>
            <a:ext cx="643890" cy="1190625"/>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000375"/>
            <a:ext cx="643890" cy="119062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000375"/>
            <a:ext cx="643890" cy="119062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000375"/>
            <a:ext cx="643890" cy="119062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000375"/>
            <a:ext cx="643890" cy="1190625"/>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000375"/>
            <a:ext cx="643890" cy="1190625"/>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191000"/>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Die-Cut &amp; Folded Partitions (H-dividers, tube/cell inserts)</a:t>
            </a:r>
          </a:p>
        </p:txBody>
      </p:sp>
      <p:sp>
        <p:nvSpPr>
          <p:cNvPr id="49" name="Rectangle 48"/>
          <p:cNvSpPr/>
          <p:nvPr/>
        </p:nvSpPr>
        <p:spPr>
          <a:xfrm>
            <a:off x="185737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191000"/>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191000"/>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191000"/>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191000"/>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191000"/>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191000"/>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191000"/>
            <a:ext cx="643890" cy="1190625"/>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191000"/>
            <a:ext cx="643890" cy="119062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191000"/>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191000"/>
            <a:ext cx="643890" cy="1190625"/>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538162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Flat Dividers &amp; Layer Pads</a:t>
            </a:r>
          </a:p>
        </p:txBody>
      </p:sp>
      <p:sp>
        <p:nvSpPr>
          <p:cNvPr id="65" name="Rectangle 64"/>
          <p:cNvSpPr/>
          <p:nvPr/>
        </p:nvSpPr>
        <p:spPr>
          <a:xfrm>
            <a:off x="1857375" y="5381625"/>
            <a:ext cx="643890" cy="1190625"/>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5381625"/>
            <a:ext cx="643890" cy="1190625"/>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5381625"/>
            <a:ext cx="643890" cy="119062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5381625"/>
            <a:ext cx="643890" cy="119062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5381625"/>
            <a:ext cx="643890" cy="1190625"/>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5381625"/>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538162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5381625"/>
            <a:ext cx="643890" cy="119062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5381625"/>
            <a:ext cx="643890" cy="119062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5381625"/>
            <a:ext cx="643890" cy="119062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5381625"/>
            <a:ext cx="643890" cy="1190625"/>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5381625"/>
            <a:ext cx="643890" cy="1190625"/>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5381625"/>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5381625"/>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11687175" y="297180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16692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Value, By Partition Type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Partition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Growth,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extLst>
                    <a:ext uri="{9D8B030D-6E8A-4147-A177-3AD203B41FA5}">
                      <a16:colId xmlns:a16="http://schemas.microsoft.com/office/drawing/2014/main" val="20000"/>
                    </a:ext>
                  </a:extLst>
                </a:gridCol>
                <a:gridCol w="624799">
                  <a:extLst>
                    <a:ext uri="{9D8B030D-6E8A-4147-A177-3AD203B41FA5}">
                      <a16:colId xmlns:a16="http://schemas.microsoft.com/office/drawing/2014/main" val="20001"/>
                    </a:ext>
                  </a:extLst>
                </a:gridCol>
                <a:gridCol w="624799">
                  <a:extLst>
                    <a:ext uri="{9D8B030D-6E8A-4147-A177-3AD203B41FA5}">
                      <a16:colId xmlns:a16="http://schemas.microsoft.com/office/drawing/2014/main" val="20002"/>
                    </a:ext>
                  </a:extLst>
                </a:gridCol>
                <a:gridCol w="624799">
                  <a:extLst>
                    <a:ext uri="{9D8B030D-6E8A-4147-A177-3AD203B41FA5}">
                      <a16:colId xmlns:a16="http://schemas.microsoft.com/office/drawing/2014/main" val="20003"/>
                    </a:ext>
                  </a:extLst>
                </a:gridCol>
                <a:gridCol w="624799">
                  <a:extLst>
                    <a:ext uri="{9D8B030D-6E8A-4147-A177-3AD203B41FA5}">
                      <a16:colId xmlns:a16="http://schemas.microsoft.com/office/drawing/2014/main" val="20004"/>
                    </a:ext>
                  </a:extLst>
                </a:gridCol>
                <a:gridCol w="624799">
                  <a:extLst>
                    <a:ext uri="{9D8B030D-6E8A-4147-A177-3AD203B41FA5}">
                      <a16:colId xmlns:a16="http://schemas.microsoft.com/office/drawing/2014/main" val="20005"/>
                    </a:ext>
                  </a:extLst>
                </a:gridCol>
                <a:gridCol w="624799">
                  <a:extLst>
                    <a:ext uri="{9D8B030D-6E8A-4147-A177-3AD203B41FA5}">
                      <a16:colId xmlns:a16="http://schemas.microsoft.com/office/drawing/2014/main" val="20006"/>
                    </a:ext>
                  </a:extLst>
                </a:gridCol>
                <a:gridCol w="624799">
                  <a:extLst>
                    <a:ext uri="{9D8B030D-6E8A-4147-A177-3AD203B41FA5}">
                      <a16:colId xmlns:a16="http://schemas.microsoft.com/office/drawing/2014/main" val="20007"/>
                    </a:ext>
                  </a:extLst>
                </a:gridCol>
                <a:gridCol w="624799">
                  <a:extLst>
                    <a:ext uri="{9D8B030D-6E8A-4147-A177-3AD203B41FA5}">
                      <a16:colId xmlns:a16="http://schemas.microsoft.com/office/drawing/2014/main" val="20008"/>
                    </a:ext>
                  </a:extLst>
                </a:gridCol>
                <a:gridCol w="624799">
                  <a:extLst>
                    <a:ext uri="{9D8B030D-6E8A-4147-A177-3AD203B41FA5}">
                      <a16:colId xmlns:a16="http://schemas.microsoft.com/office/drawing/2014/main" val="20009"/>
                    </a:ext>
                  </a:extLst>
                </a:gridCol>
                <a:gridCol w="624799">
                  <a:extLst>
                    <a:ext uri="{9D8B030D-6E8A-4147-A177-3AD203B41FA5}">
                      <a16:colId xmlns:a16="http://schemas.microsoft.com/office/drawing/2014/main" val="20010"/>
                    </a:ext>
                  </a:extLst>
                </a:gridCol>
                <a:gridCol w="624799">
                  <a:extLst>
                    <a:ext uri="{9D8B030D-6E8A-4147-A177-3AD203B41FA5}">
                      <a16:colId xmlns:a16="http://schemas.microsoft.com/office/drawing/2014/main" val="20011"/>
                    </a:ext>
                  </a:extLst>
                </a:gridCol>
                <a:gridCol w="624799">
                  <a:extLst>
                    <a:ext uri="{9D8B030D-6E8A-4147-A177-3AD203B41FA5}">
                      <a16:colId xmlns:a16="http://schemas.microsoft.com/office/drawing/2014/main" val="20012"/>
                    </a:ext>
                  </a:extLst>
                </a:gridCol>
                <a:gridCol w="624799">
                  <a:extLst>
                    <a:ext uri="{9D8B030D-6E8A-4147-A177-3AD203B41FA5}">
                      <a16:colId xmlns:a16="http://schemas.microsoft.com/office/drawing/2014/main" val="20013"/>
                    </a:ext>
                  </a:extLst>
                </a:gridCol>
                <a:gridCol w="624799">
                  <a:extLst>
                    <a:ext uri="{9D8B030D-6E8A-4147-A177-3AD203B41FA5}">
                      <a16:colId xmlns:a16="http://schemas.microsoft.com/office/drawing/2014/main" val="20014"/>
                    </a:ext>
                  </a:extLst>
                </a:gridCol>
                <a:gridCol w="62479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Heatmap, By Partition Type (%)  ·  light = lower, dark = higher growth</a:t>
            </a:r>
          </a:p>
        </p:txBody>
      </p:sp>
      <p:sp>
        <p:nvSpPr>
          <p:cNvPr id="17" name="TextBox 16"/>
          <p:cNvSpPr txBox="1"/>
          <p:nvPr/>
        </p:nvSpPr>
        <p:spPr>
          <a:xfrm>
            <a:off x="18573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Slotted (Interlocking Grid) Partitions</a:t>
            </a:r>
          </a:p>
        </p:txBody>
      </p:sp>
      <p:sp>
        <p:nvSpPr>
          <p:cNvPr id="33" name="Rectangle 32"/>
          <p:cNvSpPr/>
          <p:nvPr/>
        </p:nvSpPr>
        <p:spPr>
          <a:xfrm>
            <a:off x="185737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000375"/>
            <a:ext cx="643890" cy="1190625"/>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000375"/>
            <a:ext cx="643890" cy="119062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000375"/>
            <a:ext cx="643890" cy="119062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000375"/>
            <a:ext cx="643890" cy="119062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000375"/>
            <a:ext cx="643890" cy="119062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000375"/>
            <a:ext cx="643890" cy="119062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000375"/>
            <a:ext cx="643890" cy="119062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000375"/>
            <a:ext cx="643890" cy="119062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000375"/>
            <a:ext cx="643890" cy="119062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000375"/>
            <a:ext cx="643890" cy="119062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191000"/>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Die-Cut &amp; Folded Partitions (H-dividers, tube/cell inserts)</a:t>
            </a:r>
          </a:p>
        </p:txBody>
      </p:sp>
      <p:sp>
        <p:nvSpPr>
          <p:cNvPr id="49" name="Rectangle 48"/>
          <p:cNvSpPr/>
          <p:nvPr/>
        </p:nvSpPr>
        <p:spPr>
          <a:xfrm>
            <a:off x="185737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191000"/>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191000"/>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191000"/>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191000"/>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191000"/>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191000"/>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191000"/>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191000"/>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191000"/>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191000"/>
            <a:ext cx="643890" cy="1190625"/>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538162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Flat Dividers &amp; Layer Pads</a:t>
            </a:r>
          </a:p>
        </p:txBody>
      </p:sp>
      <p:sp>
        <p:nvSpPr>
          <p:cNvPr id="65" name="Rectangle 64"/>
          <p:cNvSpPr/>
          <p:nvPr/>
        </p:nvSpPr>
        <p:spPr>
          <a:xfrm>
            <a:off x="1857375" y="5381625"/>
            <a:ext cx="643890" cy="1190625"/>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5381625"/>
            <a:ext cx="643890" cy="119062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5381625"/>
            <a:ext cx="643890" cy="1190625"/>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5381625"/>
            <a:ext cx="643890" cy="1190625"/>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5381625"/>
            <a:ext cx="643890" cy="1190625"/>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538162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5381625"/>
            <a:ext cx="643890" cy="119062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5381625"/>
            <a:ext cx="643890" cy="1190625"/>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5381625"/>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5381625"/>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5381625"/>
            <a:ext cx="643890" cy="1190625"/>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5381625"/>
            <a:ext cx="643890" cy="1190625"/>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5381625"/>
            <a:ext cx="643890" cy="119062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5381625"/>
            <a:ext cx="643890" cy="1190625"/>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11687175" y="297180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16692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Board Construction</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Board Construction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Board Construction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3 sub-segments of Board Construction,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Board Construction segment categorizes the market by board construction.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Double Wall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527685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Triple Wall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86487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Single Wall</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Board Construction split shows how demand is distributed across board construction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TextBox 53"/>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7" name="Picture 56" descr="442_9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672_9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3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98_9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18_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4_5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214_2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80_2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2_7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96256" cy="186689"/>
          </a:xfrm>
          <a:prstGeom prst="rect">
            <a:avLst/>
          </a:prstGeom>
          <a:noFill/>
        </p:spPr>
        <p:txBody>
          <a:bodyPr wrap="none" lIns="0" tIns="0" rIns="0" bIns="0">
            <a:spAutoFit/>
          </a:bodyPr>
          <a:lstStyle/>
          <a:p>
            <a:r>
              <a:rPr sz="1100" b="0">
                <a:solidFill>
                  <a:srgbClr val="2E2E2E"/>
                </a:solidFill>
                <a:latin typeface="Calibri"/>
              </a:rPr>
              <a:t>▪ ¶ Among corrugated partition by board</a:t>
            </a:r>
          </a:p>
        </p:txBody>
      </p:sp>
      <p:sp>
        <p:nvSpPr>
          <p:cNvPr id="70" name="TextBox 69"/>
          <p:cNvSpPr txBox="1"/>
          <p:nvPr/>
        </p:nvSpPr>
        <p:spPr>
          <a:xfrm>
            <a:off x="485775" y="4397077"/>
            <a:ext cx="2771700" cy="186689"/>
          </a:xfrm>
          <a:prstGeom prst="rect">
            <a:avLst/>
          </a:prstGeom>
          <a:noFill/>
        </p:spPr>
        <p:txBody>
          <a:bodyPr wrap="none" lIns="0" tIns="0" rIns="0" bIns="0">
            <a:spAutoFit/>
          </a:bodyPr>
          <a:lstStyle/>
          <a:p>
            <a:r>
              <a:rPr sz="1100" b="0">
                <a:solidFill>
                  <a:srgbClr val="2E2E2E"/>
                </a:solidFill>
                <a:latin typeface="Calibri"/>
              </a:rPr>
              <a:t>construction, triple wall segment is expected to</a:t>
            </a:r>
          </a:p>
        </p:txBody>
      </p:sp>
      <p:sp>
        <p:nvSpPr>
          <p:cNvPr id="71" name="TextBox 70"/>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72" name="Picture 71" descr="lock.png"/>
          <p:cNvPicPr>
            <a:picLocks noChangeAspect="1"/>
          </p:cNvPicPr>
          <p:nvPr/>
        </p:nvPicPr>
        <p:blipFill>
          <a:blip r:embed="rId13"/>
          <a:stretch>
            <a:fillRect/>
          </a:stretch>
        </p:blipFill>
        <p:spPr>
          <a:xfrm>
            <a:off x="2108919" y="4554938"/>
            <a:ext cx="128699" cy="187198"/>
          </a:xfrm>
          <a:prstGeom prst="rect">
            <a:avLst/>
          </a:prstGeom>
        </p:spPr>
      </p:pic>
      <p:sp>
        <p:nvSpPr>
          <p:cNvPr id="73" name="TextBox 72"/>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74" name="TextBox 73"/>
          <p:cNvSpPr txBox="1"/>
          <p:nvPr/>
        </p:nvSpPr>
        <p:spPr>
          <a:xfrm>
            <a:off x="485775" y="4732357"/>
            <a:ext cx="2351509" cy="186689"/>
          </a:xfrm>
          <a:prstGeom prst="rect">
            <a:avLst/>
          </a:prstGeom>
          <a:noFill/>
        </p:spPr>
        <p:txBody>
          <a:bodyPr wrap="none" lIns="0" tIns="0" rIns="0" bIns="0">
            <a:spAutoFit/>
          </a:bodyPr>
          <a:lstStyle/>
          <a:p>
            <a:r>
              <a:rPr sz="1100" b="0">
                <a:solidFill>
                  <a:srgbClr val="2E2E2E"/>
                </a:solidFill>
                <a:latin typeface="Calibri"/>
              </a:rPr>
              <a:t>period. In terms of value share by board</a:t>
            </a:r>
          </a:p>
        </p:txBody>
      </p:sp>
      <p:sp>
        <p:nvSpPr>
          <p:cNvPr id="75" name="TextBox 74"/>
          <p:cNvSpPr txBox="1"/>
          <p:nvPr/>
        </p:nvSpPr>
        <p:spPr>
          <a:xfrm>
            <a:off x="485775" y="4899997"/>
            <a:ext cx="2914650" cy="186689"/>
          </a:xfrm>
          <a:prstGeom prst="rect">
            <a:avLst/>
          </a:prstGeom>
          <a:noFill/>
        </p:spPr>
        <p:txBody>
          <a:bodyPr wrap="none" lIns="0" tIns="0" rIns="0" bIns="0">
            <a:spAutoFit/>
          </a:bodyPr>
          <a:lstStyle/>
          <a:p>
            <a:r>
              <a:rPr sz="1100" b="0">
                <a:solidFill>
                  <a:srgbClr val="2E2E2E"/>
                </a:solidFill>
                <a:latin typeface="Calibri"/>
              </a:rPr>
              <a:t>construction, the double wall segment is expected</a:t>
            </a:r>
          </a:p>
        </p:txBody>
      </p:sp>
      <p:sp>
        <p:nvSpPr>
          <p:cNvPr id="76" name="TextBox 75"/>
          <p:cNvSpPr txBox="1"/>
          <p:nvPr/>
        </p:nvSpPr>
        <p:spPr>
          <a:xfrm>
            <a:off x="485775" y="5067637"/>
            <a:ext cx="1912763" cy="186689"/>
          </a:xfrm>
          <a:prstGeom prst="rect">
            <a:avLst/>
          </a:prstGeom>
          <a:noFill/>
        </p:spPr>
        <p:txBody>
          <a:bodyPr wrap="none" lIns="0" tIns="0" rIns="0" bIns="0">
            <a:spAutoFit/>
          </a:bodyPr>
          <a:lstStyle/>
          <a:p>
            <a:r>
              <a:rPr sz="1100" b="0">
                <a:solidFill>
                  <a:srgbClr val="2E2E2E"/>
                </a:solidFill>
                <a:latin typeface="Calibri"/>
              </a:rPr>
              <a:t>to dominate the market, gaining</a:t>
            </a:r>
          </a:p>
        </p:txBody>
      </p:sp>
      <p:pic>
        <p:nvPicPr>
          <p:cNvPr id="77" name="Picture 76" descr="lock.png"/>
          <p:cNvPicPr>
            <a:picLocks noChangeAspect="1"/>
          </p:cNvPicPr>
          <p:nvPr/>
        </p:nvPicPr>
        <p:blipFill>
          <a:blip r:embed="rId13"/>
          <a:stretch>
            <a:fillRect/>
          </a:stretch>
        </p:blipFill>
        <p:spPr>
          <a:xfrm>
            <a:off x="2346590" y="5057858"/>
            <a:ext cx="128699" cy="187198"/>
          </a:xfrm>
          <a:prstGeom prst="rect">
            <a:avLst/>
          </a:prstGeom>
        </p:spPr>
      </p:pic>
      <p:sp>
        <p:nvSpPr>
          <p:cNvPr id="78" name="TextBox 77"/>
          <p:cNvSpPr txBox="1"/>
          <p:nvPr/>
        </p:nvSpPr>
        <p:spPr>
          <a:xfrm>
            <a:off x="2514086" y="5067637"/>
            <a:ext cx="534044" cy="186689"/>
          </a:xfrm>
          <a:prstGeom prst="rect">
            <a:avLst/>
          </a:prstGeom>
          <a:noFill/>
        </p:spPr>
        <p:txBody>
          <a:bodyPr wrap="none" lIns="0" tIns="0" rIns="0" bIns="0">
            <a:spAutoFit/>
          </a:bodyPr>
          <a:lstStyle/>
          <a:p>
            <a:r>
              <a:rPr sz="1100" b="0">
                <a:solidFill>
                  <a:srgbClr val="2E2E2E"/>
                </a:solidFill>
                <a:latin typeface="Calibri"/>
              </a:rPr>
              <a:t>BPS and</a:t>
            </a:r>
          </a:p>
        </p:txBody>
      </p:sp>
      <p:sp>
        <p:nvSpPr>
          <p:cNvPr id="79" name="TextBox 78"/>
          <p:cNvSpPr txBox="1"/>
          <p:nvPr/>
        </p:nvSpPr>
        <p:spPr>
          <a:xfrm>
            <a:off x="485775" y="5235277"/>
            <a:ext cx="896937" cy="186689"/>
          </a:xfrm>
          <a:prstGeom prst="rect">
            <a:avLst/>
          </a:prstGeom>
          <a:noFill/>
        </p:spPr>
        <p:txBody>
          <a:bodyPr wrap="none" lIns="0" tIns="0" rIns="0" bIns="0">
            <a:spAutoFit/>
          </a:bodyPr>
          <a:lstStyle/>
          <a:p>
            <a:r>
              <a:rPr sz="1100" b="0">
                <a:solidFill>
                  <a:srgbClr val="2E2E2E"/>
                </a:solidFill>
                <a:latin typeface="Calibri"/>
              </a:rPr>
              <a:t>accounting for</a:t>
            </a:r>
          </a:p>
        </p:txBody>
      </p:sp>
      <p:pic>
        <p:nvPicPr>
          <p:cNvPr id="80" name="Picture 79" descr="lock.png"/>
          <p:cNvPicPr>
            <a:picLocks noChangeAspect="1"/>
          </p:cNvPicPr>
          <p:nvPr/>
        </p:nvPicPr>
        <p:blipFill>
          <a:blip r:embed="rId13"/>
          <a:stretch>
            <a:fillRect/>
          </a:stretch>
        </p:blipFill>
        <p:spPr>
          <a:xfrm>
            <a:off x="1330764" y="5225498"/>
            <a:ext cx="128699" cy="187198"/>
          </a:xfrm>
          <a:prstGeom prst="rect">
            <a:avLst/>
          </a:prstGeom>
        </p:spPr>
      </p:pic>
      <p:sp>
        <p:nvSpPr>
          <p:cNvPr id="81" name="TextBox 80"/>
          <p:cNvSpPr txBox="1"/>
          <p:nvPr/>
        </p:nvSpPr>
        <p:spPr>
          <a:xfrm>
            <a:off x="1498259"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82" name="TextBox 81"/>
          <p:cNvSpPr txBox="1"/>
          <p:nvPr/>
        </p:nvSpPr>
        <p:spPr>
          <a:xfrm>
            <a:off x="485775" y="5453209"/>
            <a:ext cx="2783160" cy="186689"/>
          </a:xfrm>
          <a:prstGeom prst="rect">
            <a:avLst/>
          </a:prstGeom>
          <a:noFill/>
        </p:spPr>
        <p:txBody>
          <a:bodyPr wrap="none" lIns="0" tIns="0" rIns="0" bIns="0">
            <a:spAutoFit/>
          </a:bodyPr>
          <a:lstStyle/>
          <a:p>
            <a:r>
              <a:rPr sz="1100" b="0">
                <a:solidFill>
                  <a:srgbClr val="2E2E2E"/>
                </a:solidFill>
                <a:latin typeface="Calibri"/>
              </a:rPr>
              <a:t>▪ ¶ Double wall segment is projected to register</a:t>
            </a:r>
          </a:p>
        </p:txBody>
      </p:sp>
      <p:pic>
        <p:nvPicPr>
          <p:cNvPr id="83" name="Picture 82" descr="lock.png"/>
          <p:cNvPicPr>
            <a:picLocks noChangeAspect="1"/>
          </p:cNvPicPr>
          <p:nvPr/>
        </p:nvPicPr>
        <p:blipFill>
          <a:blip r:embed="rId13"/>
          <a:stretch>
            <a:fillRect/>
          </a:stretch>
        </p:blipFill>
        <p:spPr>
          <a:xfrm>
            <a:off x="472307" y="5611070"/>
            <a:ext cx="128699" cy="187198"/>
          </a:xfrm>
          <a:prstGeom prst="rect">
            <a:avLst/>
          </a:prstGeom>
        </p:spPr>
      </p:pic>
      <p:sp>
        <p:nvSpPr>
          <p:cNvPr id="84" name="TextBox 83"/>
          <p:cNvSpPr txBox="1"/>
          <p:nvPr/>
        </p:nvSpPr>
        <p:spPr>
          <a:xfrm>
            <a:off x="639803" y="5620849"/>
            <a:ext cx="2430363" cy="186689"/>
          </a:xfrm>
          <a:prstGeom prst="rect">
            <a:avLst/>
          </a:prstGeom>
          <a:noFill/>
        </p:spPr>
        <p:txBody>
          <a:bodyPr wrap="none" lIns="0" tIns="0" rIns="0" bIns="0">
            <a:spAutoFit/>
          </a:bodyPr>
          <a:lstStyle/>
          <a:p>
            <a:r>
              <a:rPr sz="1100" b="0">
                <a:solidFill>
                  <a:srgbClr val="2E2E2E"/>
                </a:solidFill>
                <a:latin typeface="Calibri"/>
              </a:rPr>
              <a:t>X higher value than triple wall segment in</a:t>
            </a:r>
          </a:p>
        </p:txBody>
      </p:sp>
      <p:sp>
        <p:nvSpPr>
          <p:cNvPr id="85" name="TextBox 84"/>
          <p:cNvSpPr txBox="1"/>
          <p:nvPr/>
        </p:nvSpPr>
        <p:spPr>
          <a:xfrm>
            <a:off x="485775" y="5788489"/>
            <a:ext cx="395163" cy="186689"/>
          </a:xfrm>
          <a:prstGeom prst="rect">
            <a:avLst/>
          </a:prstGeom>
          <a:noFill/>
        </p:spPr>
        <p:txBody>
          <a:bodyPr wrap="none" lIns="0" tIns="0" rIns="0" bIns="0">
            <a:spAutoFit/>
          </a:bodyPr>
          <a:lstStyle/>
          <a:p>
            <a:r>
              <a:rPr sz="1100" b="0">
                <a:solidFill>
                  <a:srgbClr val="2E2E2E"/>
                </a:solidFill>
                <a:latin typeface="Calibri"/>
              </a:rPr>
              <a:t>2036.</a:t>
            </a:r>
          </a:p>
        </p:txBody>
      </p:sp>
      <p:sp>
        <p:nvSpPr>
          <p:cNvPr id="86" name="TextBox 85"/>
          <p:cNvSpPr txBox="1"/>
          <p:nvPr/>
        </p:nvSpPr>
        <p:spPr>
          <a:xfrm>
            <a:off x="3838575" y="4229437"/>
            <a:ext cx="925041" cy="186689"/>
          </a:xfrm>
          <a:prstGeom prst="rect">
            <a:avLst/>
          </a:prstGeom>
          <a:noFill/>
        </p:spPr>
        <p:txBody>
          <a:bodyPr wrap="none" lIns="0" tIns="0" rIns="0" bIns="0">
            <a:spAutoFit/>
          </a:bodyPr>
          <a:lstStyle/>
          <a:p>
            <a:r>
              <a:rPr sz="1100" b="0">
                <a:solidFill>
                  <a:srgbClr val="2E2E2E"/>
                </a:solidFill>
                <a:latin typeface="Calibri"/>
              </a:rPr>
              <a:t>● Double Wall:</a:t>
            </a:r>
          </a:p>
        </p:txBody>
      </p:sp>
      <p:pic>
        <p:nvPicPr>
          <p:cNvPr id="87" name="Picture 86" descr="lock.png"/>
          <p:cNvPicPr>
            <a:picLocks noChangeAspect="1"/>
          </p:cNvPicPr>
          <p:nvPr/>
        </p:nvPicPr>
        <p:blipFill>
          <a:blip r:embed="rId13"/>
          <a:stretch>
            <a:fillRect/>
          </a:stretch>
        </p:blipFill>
        <p:spPr>
          <a:xfrm>
            <a:off x="4711667" y="4219658"/>
            <a:ext cx="128699" cy="187198"/>
          </a:xfrm>
          <a:prstGeom prst="rect">
            <a:avLst/>
          </a:prstGeom>
        </p:spPr>
      </p:pic>
      <p:sp>
        <p:nvSpPr>
          <p:cNvPr id="88" name="TextBox 87"/>
          <p:cNvSpPr txBox="1"/>
          <p:nvPr/>
        </p:nvSpPr>
        <p:spPr>
          <a:xfrm>
            <a:off x="4879163"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5738613" y="4219658"/>
            <a:ext cx="128699" cy="187198"/>
          </a:xfrm>
          <a:prstGeom prst="rect">
            <a:avLst/>
          </a:prstGeom>
        </p:spPr>
      </p:pic>
      <p:sp>
        <p:nvSpPr>
          <p:cNvPr id="90" name="TextBox 89"/>
          <p:cNvSpPr txBox="1"/>
          <p:nvPr/>
        </p:nvSpPr>
        <p:spPr>
          <a:xfrm>
            <a:off x="5906109" y="4229437"/>
            <a:ext cx="1503469" cy="186689"/>
          </a:xfrm>
          <a:prstGeom prst="rect">
            <a:avLst/>
          </a:prstGeom>
          <a:noFill/>
        </p:spPr>
        <p:txBody>
          <a:bodyPr wrap="none" lIns="0" tIns="0" r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841275" cy="186689"/>
          </a:xfrm>
          <a:prstGeom prst="rect">
            <a:avLst/>
          </a:prstGeom>
          <a:noFill/>
        </p:spPr>
        <p:txBody>
          <a:bodyPr wrap="none" lIns="0" tIns="0" rIns="0" bIns="0">
            <a:spAutoFit/>
          </a:bodyPr>
          <a:lstStyle/>
          <a:p>
            <a:r>
              <a:rPr sz="1100" b="0">
                <a:solidFill>
                  <a:srgbClr val="2E2E2E"/>
                </a:solidFill>
                <a:latin typeface="Calibri"/>
              </a:rPr>
              <a:t>● Triple Wall:</a:t>
            </a:r>
          </a:p>
        </p:txBody>
      </p:sp>
      <p:pic>
        <p:nvPicPr>
          <p:cNvPr id="92" name="Picture 91" descr="lock.png"/>
          <p:cNvPicPr>
            <a:picLocks noChangeAspect="1"/>
          </p:cNvPicPr>
          <p:nvPr/>
        </p:nvPicPr>
        <p:blipFill>
          <a:blip r:embed="rId13"/>
          <a:stretch>
            <a:fillRect/>
          </a:stretch>
        </p:blipFill>
        <p:spPr>
          <a:xfrm>
            <a:off x="4627902" y="4437590"/>
            <a:ext cx="128699" cy="187198"/>
          </a:xfrm>
          <a:prstGeom prst="rect">
            <a:avLst/>
          </a:prstGeom>
        </p:spPr>
      </p:pic>
      <p:sp>
        <p:nvSpPr>
          <p:cNvPr id="93" name="TextBox 92"/>
          <p:cNvSpPr txBox="1"/>
          <p:nvPr/>
        </p:nvSpPr>
        <p:spPr>
          <a:xfrm>
            <a:off x="4795398"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654848" y="4437590"/>
            <a:ext cx="128699" cy="187198"/>
          </a:xfrm>
          <a:prstGeom prst="rect">
            <a:avLst/>
          </a:prstGeom>
        </p:spPr>
      </p:pic>
      <p:sp>
        <p:nvSpPr>
          <p:cNvPr id="95" name="TextBox 94"/>
          <p:cNvSpPr txBox="1"/>
          <p:nvPr/>
        </p:nvSpPr>
        <p:spPr>
          <a:xfrm>
            <a:off x="5822344" y="4447369"/>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96" name="TextBox 95"/>
          <p:cNvSpPr txBox="1"/>
          <p:nvPr/>
        </p:nvSpPr>
        <p:spPr>
          <a:xfrm>
            <a:off x="3838575" y="4665301"/>
            <a:ext cx="854099" cy="186689"/>
          </a:xfrm>
          <a:prstGeom prst="rect">
            <a:avLst/>
          </a:prstGeom>
          <a:noFill/>
        </p:spPr>
        <p:txBody>
          <a:bodyPr wrap="none" lIns="0" tIns="0" rIns="0" bIns="0">
            <a:spAutoFit/>
          </a:bodyPr>
          <a:lstStyle/>
          <a:p>
            <a:r>
              <a:rPr sz="1100" b="0">
                <a:solidFill>
                  <a:srgbClr val="2E2E2E"/>
                </a:solidFill>
                <a:latin typeface="Calibri"/>
              </a:rPr>
              <a:t>● Single Wall:</a:t>
            </a:r>
          </a:p>
        </p:txBody>
      </p:sp>
      <p:pic>
        <p:nvPicPr>
          <p:cNvPr id="97" name="Picture 96" descr="lock.png"/>
          <p:cNvPicPr>
            <a:picLocks noChangeAspect="1"/>
          </p:cNvPicPr>
          <p:nvPr/>
        </p:nvPicPr>
        <p:blipFill>
          <a:blip r:embed="rId13"/>
          <a:stretch>
            <a:fillRect/>
          </a:stretch>
        </p:blipFill>
        <p:spPr>
          <a:xfrm>
            <a:off x="4640726" y="4655522"/>
            <a:ext cx="128699" cy="187198"/>
          </a:xfrm>
          <a:prstGeom prst="rect">
            <a:avLst/>
          </a:prstGeom>
        </p:spPr>
      </p:pic>
      <p:sp>
        <p:nvSpPr>
          <p:cNvPr id="98" name="TextBox 97"/>
          <p:cNvSpPr txBox="1"/>
          <p:nvPr/>
        </p:nvSpPr>
        <p:spPr>
          <a:xfrm>
            <a:off x="4808222" y="466530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5667672" y="4655522"/>
            <a:ext cx="128699" cy="187198"/>
          </a:xfrm>
          <a:prstGeom prst="rect">
            <a:avLst/>
          </a:prstGeom>
        </p:spPr>
      </p:pic>
      <p:sp>
        <p:nvSpPr>
          <p:cNvPr id="100" name="TextBox 99"/>
          <p:cNvSpPr txBox="1"/>
          <p:nvPr/>
        </p:nvSpPr>
        <p:spPr>
          <a:xfrm>
            <a:off x="5835168" y="4665301"/>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101" name="TextBox 100"/>
          <p:cNvSpPr txBox="1"/>
          <p:nvPr/>
        </p:nvSpPr>
        <p:spPr>
          <a:xfrm>
            <a:off x="8524875" y="5842641"/>
            <a:ext cx="2970100" cy="194310"/>
          </a:xfrm>
          <a:prstGeom prst="rect">
            <a:avLst/>
          </a:prstGeom>
          <a:noFill/>
        </p:spPr>
        <p:txBody>
          <a:bodyPr wrap="none" lIns="0" tIns="0" rIns="0" bIns="0">
            <a:spAutoFit/>
          </a:bodyPr>
          <a:lstStyle/>
          <a:p>
            <a:r>
              <a:rPr sz="1150" b="1">
                <a:solidFill>
                  <a:srgbClr val="0B2E4A"/>
                </a:solidFill>
                <a:latin typeface="Calibri"/>
              </a:rPr>
              <a:t>The Board Construction segment is projected to</a:t>
            </a:r>
          </a:p>
        </p:txBody>
      </p:sp>
      <p:sp>
        <p:nvSpPr>
          <p:cNvPr id="102" name="TextBox 101"/>
          <p:cNvSpPr txBox="1"/>
          <p:nvPr/>
        </p:nvSpPr>
        <p:spPr>
          <a:xfrm>
            <a:off x="8524875" y="6017901"/>
            <a:ext cx="1177823" cy="194310"/>
          </a:xfrm>
          <a:prstGeom prst="rect">
            <a:avLst/>
          </a:prstGeom>
          <a:noFill/>
        </p:spPr>
        <p:txBody>
          <a:bodyPr wrap="none" lIns="0" tIns="0" rIns="0" bIns="0">
            <a:spAutoFit/>
          </a:bodyPr>
          <a:lstStyle/>
          <a:p>
            <a:r>
              <a:rPr sz="1150" b="1">
                <a:solidFill>
                  <a:srgbClr val="0B2E4A"/>
                </a:solidFill>
                <a:latin typeface="Calibri"/>
              </a:rPr>
              <a:t>grow at a CAGR of</a:t>
            </a:r>
          </a:p>
        </p:txBody>
      </p:sp>
      <p:pic>
        <p:nvPicPr>
          <p:cNvPr id="103" name="Picture 102" descr="lock.png"/>
          <p:cNvPicPr>
            <a:picLocks noChangeAspect="1"/>
          </p:cNvPicPr>
          <p:nvPr/>
        </p:nvPicPr>
        <p:blipFill>
          <a:blip r:embed="rId13"/>
          <a:stretch>
            <a:fillRect/>
          </a:stretch>
        </p:blipFill>
        <p:spPr>
          <a:xfrm>
            <a:off x="9651852" y="6007677"/>
            <a:ext cx="134549" cy="195707"/>
          </a:xfrm>
          <a:prstGeom prst="rect">
            <a:avLst/>
          </a:prstGeom>
        </p:spPr>
      </p:pic>
      <p:sp>
        <p:nvSpPr>
          <p:cNvPr id="104" name="TextBox 103"/>
          <p:cNvSpPr txBox="1"/>
          <p:nvPr/>
        </p:nvSpPr>
        <p:spPr>
          <a:xfrm>
            <a:off x="9826962"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Structure &amp; Attractiveness, By Board Construction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Board Construction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Board Construction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Board Construction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475665" cy="186689"/>
          </a:xfrm>
          <a:prstGeom prst="rect">
            <a:avLst/>
          </a:prstGeom>
          <a:noFill/>
        </p:spPr>
        <p:txBody>
          <a:bodyPr wrap="none" lIns="0" tIns="0" rIns="0" bIns="0">
            <a:spAutoFit/>
          </a:bodyPr>
          <a:lstStyle/>
          <a:p>
            <a:r>
              <a:rPr sz="1100" b="0">
                <a:solidFill>
                  <a:srgbClr val="2E2E2E"/>
                </a:solidFill>
                <a:latin typeface="Calibri"/>
              </a:rPr>
              <a:t>Double wall followed by triple wall are expected to be the two most attractive board construction segments in the North America corrugated partition market in terms of value over the forecast period.</a:t>
            </a:r>
          </a:p>
        </p:txBody>
      </p:sp>
      <p:sp>
        <p:nvSpPr>
          <p:cNvPr id="21" name="TextBox 20"/>
          <p:cNvSpPr txBox="1"/>
          <p:nvPr/>
        </p:nvSpPr>
        <p:spPr>
          <a:xfrm>
            <a:off x="257175" y="5945505"/>
            <a:ext cx="2947945" cy="186689"/>
          </a:xfrm>
          <a:prstGeom prst="rect">
            <a:avLst/>
          </a:prstGeom>
          <a:noFill/>
        </p:spPr>
        <p:txBody>
          <a:bodyPr wrap="none" lIns="0" tIns="0" rIns="0" bIns="0">
            <a:spAutoFit/>
          </a:bodyPr>
          <a:lstStyle/>
          <a:p>
            <a:r>
              <a:rPr sz="1100" b="0">
                <a:solidFill>
                  <a:srgbClr val="2E2E2E"/>
                </a:solidFill>
                <a:latin typeface="Calibri"/>
              </a:rPr>
              <a:t>Double wall and triple wall exhibit a CAGR index of</a:t>
            </a:r>
          </a:p>
        </p:txBody>
      </p:sp>
      <p:pic>
        <p:nvPicPr>
          <p:cNvPr id="22" name="Picture 21" descr="lock.png"/>
          <p:cNvPicPr>
            <a:picLocks noChangeAspect="1"/>
          </p:cNvPicPr>
          <p:nvPr/>
        </p:nvPicPr>
        <p:blipFill>
          <a:blip r:embed="rId6"/>
          <a:stretch>
            <a:fillRect/>
          </a:stretch>
        </p:blipFill>
        <p:spPr>
          <a:xfrm>
            <a:off x="3153172" y="5935726"/>
            <a:ext cx="128699" cy="187198"/>
          </a:xfrm>
          <a:prstGeom prst="rect">
            <a:avLst/>
          </a:prstGeom>
        </p:spPr>
      </p:pic>
      <p:sp>
        <p:nvSpPr>
          <p:cNvPr id="23" name="TextBox 22"/>
          <p:cNvSpPr txBox="1"/>
          <p:nvPr/>
        </p:nvSpPr>
        <p:spPr>
          <a:xfrm>
            <a:off x="3320668"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3558562" y="5935726"/>
            <a:ext cx="128699" cy="187198"/>
          </a:xfrm>
          <a:prstGeom prst="rect">
            <a:avLst/>
          </a:prstGeom>
        </p:spPr>
      </p:pic>
      <p:sp>
        <p:nvSpPr>
          <p:cNvPr id="25" name="TextBox 24"/>
          <p:cNvSpPr txBox="1"/>
          <p:nvPr/>
        </p:nvSpPr>
        <p:spPr>
          <a:xfrm>
            <a:off x="3726058"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335031" y="5935726"/>
            <a:ext cx="128699" cy="187198"/>
          </a:xfrm>
          <a:prstGeom prst="rect">
            <a:avLst/>
          </a:prstGeom>
        </p:spPr>
      </p:pic>
      <p:sp>
        <p:nvSpPr>
          <p:cNvPr id="27" name="TextBox 26"/>
          <p:cNvSpPr txBox="1"/>
          <p:nvPr/>
        </p:nvSpPr>
        <p:spPr>
          <a:xfrm>
            <a:off x="5502527"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740421" y="5935726"/>
            <a:ext cx="128699" cy="187198"/>
          </a:xfrm>
          <a:prstGeom prst="rect">
            <a:avLst/>
          </a:prstGeom>
        </p:spPr>
      </p:pic>
      <p:sp>
        <p:nvSpPr>
          <p:cNvPr id="29" name="TextBox 28"/>
          <p:cNvSpPr txBox="1"/>
          <p:nvPr/>
        </p:nvSpPr>
        <p:spPr>
          <a:xfrm>
            <a:off x="5907917" y="594550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462321" y="5935726"/>
            <a:ext cx="128699" cy="187198"/>
          </a:xfrm>
          <a:prstGeom prst="rect">
            <a:avLst/>
          </a:prstGeom>
        </p:spPr>
      </p:pic>
      <p:sp>
        <p:nvSpPr>
          <p:cNvPr id="31" name="TextBox 30"/>
          <p:cNvSpPr txBox="1"/>
          <p:nvPr/>
        </p:nvSpPr>
        <p:spPr>
          <a:xfrm>
            <a:off x="8629817" y="5945505"/>
            <a:ext cx="2741141" cy="186689"/>
          </a:xfrm>
          <a:prstGeom prst="rect">
            <a:avLst/>
          </a:prstGeom>
          <a:noFill/>
        </p:spPr>
        <p:txBody>
          <a:bodyPr wrap="none" lIns="0" tIns="0" rIns="0" bIns="0">
            <a:spAutoFit/>
          </a:bodyPr>
          <a:lstStyle/>
          <a:p>
            <a:r>
              <a:rPr sz="1100" b="0">
                <a:solidFill>
                  <a:srgbClr val="2E2E2E"/>
                </a:solidFill>
                <a:latin typeface="Calibri"/>
              </a:rPr>
              <a:t>. The single wall segment is expected to be less</a:t>
            </a:r>
          </a:p>
        </p:txBody>
      </p:sp>
      <p:sp>
        <p:nvSpPr>
          <p:cNvPr id="32" name="TextBox 31"/>
          <p:cNvSpPr txBox="1"/>
          <p:nvPr/>
        </p:nvSpPr>
        <p:spPr>
          <a:xfrm>
            <a:off x="257175" y="6113145"/>
            <a:ext cx="11338386" cy="186689"/>
          </a:xfrm>
          <a:prstGeom prst="rect">
            <a:avLst/>
          </a:prstGeom>
          <a:noFill/>
        </p:spPr>
        <p:txBody>
          <a:bodyPr wrap="none" lIns="0" tIns="0" rIns="0" bIns="0">
            <a:spAutoFit/>
          </a:bodyPr>
          <a:lstStyle/>
          <a:p>
            <a:r>
              <a:rPr sz="1100" b="0">
                <a:solidFill>
                  <a:srgbClr val="2E2E2E"/>
                </a:solidFill>
                <a:latin typeface="Calibri"/>
              </a:rPr>
              <a:t>attractive as compared to other segments over the forecast period, owing to its lower CAGR 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Analysis, By Board Construction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Board Construction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Single Wall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Double Wall</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Triple Wall</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305550" y="3952875"/>
            <a:ext cx="5610225" cy="209550"/>
          </a:xfrm>
          <a:prstGeom prst="rect">
            <a:avLst/>
          </a:prstGeom>
          <a:noFill/>
        </p:spPr>
        <p:txBody>
          <a:bodyPr wrap="square" lIns="0" tIns="9525" rIns="19050" bIns="9525">
            <a:spAutoFit/>
          </a:bodyPr>
          <a:lstStyle/>
          <a:p>
            <a:pPr algn="l"/>
            <a:r>
              <a:rPr sz="1300" b="1">
                <a:solidFill>
                  <a:srgbClr val="0B2E4A"/>
                </a:solidFill>
                <a:latin typeface="Calibri"/>
              </a:rPr>
              <a:t>Summary of North America Absolute $ Opportunity Analysis, By Board Construction</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05550" y="4276725"/>
            <a:ext cx="5610225" cy="22669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4" name="TextBox 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4189539" cy="194310"/>
          </a:xfrm>
          <a:prstGeom prst="rect">
            <a:avLst/>
          </a:prstGeom>
          <a:noFill/>
        </p:spPr>
        <p:txBody>
          <a:bodyPr wrap="none" lIns="0" tIns="0" rIns="0" bIns="0">
            <a:spAutoFit/>
          </a:bodyPr>
          <a:lstStyle/>
          <a:p>
            <a:r>
              <a:rPr sz="1150" b="0">
                <a:solidFill>
                  <a:srgbClr val="2E2E2E"/>
                </a:solidFill>
                <a:latin typeface="Calibri"/>
              </a:rPr>
              <a:t>By 2036, double wall segment is anticipated to witness an increase of</a:t>
            </a:r>
          </a:p>
        </p:txBody>
      </p:sp>
      <p:pic>
        <p:nvPicPr>
          <p:cNvPr id="29" name="Picture 28" descr="lock.png"/>
          <p:cNvPicPr>
            <a:picLocks noChangeAspect="1"/>
          </p:cNvPicPr>
          <p:nvPr/>
        </p:nvPicPr>
        <p:blipFill>
          <a:blip r:embed="rId7"/>
          <a:stretch>
            <a:fillRect/>
          </a:stretch>
        </p:blipFill>
        <p:spPr>
          <a:xfrm>
            <a:off x="10444242" y="4276026"/>
            <a:ext cx="134549" cy="195707"/>
          </a:xfrm>
          <a:prstGeom prst="rect">
            <a:avLst/>
          </a:prstGeom>
        </p:spPr>
      </p:pic>
      <p:sp>
        <p:nvSpPr>
          <p:cNvPr id="30" name="TextBox 29"/>
          <p:cNvSpPr txBox="1"/>
          <p:nvPr/>
        </p:nvSpPr>
        <p:spPr>
          <a:xfrm>
            <a:off x="10619352" y="4286250"/>
            <a:ext cx="1181844" cy="194310"/>
          </a:xfrm>
          <a:prstGeom prst="rect">
            <a:avLst/>
          </a:prstGeom>
          <a:noFill/>
        </p:spPr>
        <p:txBody>
          <a:bodyPr wrap="none" lIns="0" tIns="0" rIns="0" bIns="0">
            <a:spAutoFit/>
          </a:bodyPr>
          <a:lstStyle/>
          <a:p>
            <a:r>
              <a:rPr sz="1150" b="0">
                <a:solidFill>
                  <a:srgbClr val="2E2E2E"/>
                </a:solidFill>
                <a:latin typeface="Calibri"/>
              </a:rPr>
              <a:t>X in terms of value</a:t>
            </a:r>
          </a:p>
        </p:txBody>
      </p:sp>
      <p:sp>
        <p:nvSpPr>
          <p:cNvPr id="31" name="TextBox 30"/>
          <p:cNvSpPr txBox="1"/>
          <p:nvPr/>
        </p:nvSpPr>
        <p:spPr>
          <a:xfrm>
            <a:off x="6305550" y="4461510"/>
            <a:ext cx="5086970" cy="194310"/>
          </a:xfrm>
          <a:prstGeom prst="rect">
            <a:avLst/>
          </a:prstGeom>
          <a:noFill/>
        </p:spPr>
        <p:txBody>
          <a:bodyPr wrap="none" lIns="0" tIns="0" rIns="0" bIns="0">
            <a:spAutoFit/>
          </a:bodyPr>
          <a:lstStyle/>
          <a:p>
            <a:r>
              <a:rPr sz="1150" b="0">
                <a:solidFill>
                  <a:srgbClr val="2E2E2E"/>
                </a:solidFill>
                <a:latin typeface="Calibri"/>
              </a:rPr>
              <a:t>as compared to 2026. The double wall segment is expected to create an incremental</a:t>
            </a:r>
          </a:p>
        </p:txBody>
      </p:sp>
      <p:sp>
        <p:nvSpPr>
          <p:cNvPr id="32" name="TextBox 31"/>
          <p:cNvSpPr txBox="1"/>
          <p:nvPr/>
        </p:nvSpPr>
        <p:spPr>
          <a:xfrm>
            <a:off x="6305550" y="4636770"/>
            <a:ext cx="1208943" cy="194310"/>
          </a:xfrm>
          <a:prstGeom prst="rect">
            <a:avLst/>
          </a:prstGeom>
          <a:noFill/>
        </p:spPr>
        <p:txBody>
          <a:bodyPr wrap="none" lIns="0" tIns="0" rIns="0" bIns="0">
            <a:spAutoFit/>
          </a:bodyPr>
          <a:lstStyle/>
          <a:p>
            <a:r>
              <a:rPr sz="1150" b="0">
                <a:solidFill>
                  <a:srgbClr val="2E2E2E"/>
                </a:solidFill>
                <a:latin typeface="Calibri"/>
              </a:rPr>
              <a:t>opportunity of US$</a:t>
            </a:r>
          </a:p>
        </p:txBody>
      </p:sp>
      <p:pic>
        <p:nvPicPr>
          <p:cNvPr id="33" name="Picture 32" descr="lock.png"/>
          <p:cNvPicPr>
            <a:picLocks noChangeAspect="1"/>
          </p:cNvPicPr>
          <p:nvPr/>
        </p:nvPicPr>
        <p:blipFill>
          <a:blip r:embed="rId7"/>
          <a:stretch>
            <a:fillRect/>
          </a:stretch>
        </p:blipFill>
        <p:spPr>
          <a:xfrm>
            <a:off x="7463647" y="4626546"/>
            <a:ext cx="134549" cy="195707"/>
          </a:xfrm>
          <a:prstGeom prst="rect">
            <a:avLst/>
          </a:prstGeom>
        </p:spPr>
      </p:pic>
      <p:sp>
        <p:nvSpPr>
          <p:cNvPr id="34" name="TextBox 33"/>
          <p:cNvSpPr txBox="1"/>
          <p:nvPr/>
        </p:nvSpPr>
        <p:spPr>
          <a:xfrm>
            <a:off x="7638756" y="4636770"/>
            <a:ext cx="4026966"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2026 to 2036.</a:t>
            </a:r>
          </a:p>
        </p:txBody>
      </p:sp>
      <p:sp>
        <p:nvSpPr>
          <p:cNvPr id="35" name="TextBox 34"/>
          <p:cNvSpPr txBox="1"/>
          <p:nvPr/>
        </p:nvSpPr>
        <p:spPr>
          <a:xfrm>
            <a:off x="6305550" y="4864607"/>
            <a:ext cx="4834520" cy="194310"/>
          </a:xfrm>
          <a:prstGeom prst="rect">
            <a:avLst/>
          </a:prstGeom>
          <a:noFill/>
        </p:spPr>
        <p:txBody>
          <a:bodyPr wrap="none" lIns="0" tIns="0" rIns="0" bIns="0">
            <a:spAutoFit/>
          </a:bodyPr>
          <a:lstStyle/>
          <a:p>
            <a:r>
              <a:rPr sz="1150" b="0">
                <a:solidFill>
                  <a:srgbClr val="2E2E2E"/>
                </a:solidFill>
                <a:latin typeface="Calibri"/>
              </a:rPr>
              <a:t>The triple wall segment is expected to create an incremental opportunity of US$</a:t>
            </a:r>
          </a:p>
        </p:txBody>
      </p:sp>
      <p:pic>
        <p:nvPicPr>
          <p:cNvPr id="36" name="Picture 35" descr="lock.png"/>
          <p:cNvPicPr>
            <a:picLocks noChangeAspect="1"/>
          </p:cNvPicPr>
          <p:nvPr/>
        </p:nvPicPr>
        <p:blipFill>
          <a:blip r:embed="rId7"/>
          <a:stretch>
            <a:fillRect/>
          </a:stretch>
        </p:blipFill>
        <p:spPr>
          <a:xfrm>
            <a:off x="11089224" y="4854384"/>
            <a:ext cx="134549" cy="195707"/>
          </a:xfrm>
          <a:prstGeom prst="rect">
            <a:avLst/>
          </a:prstGeom>
        </p:spPr>
      </p:pic>
      <p:sp>
        <p:nvSpPr>
          <p:cNvPr id="37" name="TextBox 36"/>
          <p:cNvSpPr txBox="1"/>
          <p:nvPr/>
        </p:nvSpPr>
        <p:spPr>
          <a:xfrm>
            <a:off x="11264333" y="4864607"/>
            <a:ext cx="483542" cy="194310"/>
          </a:xfrm>
          <a:prstGeom prst="rect">
            <a:avLst/>
          </a:prstGeom>
          <a:noFill/>
        </p:spPr>
        <p:txBody>
          <a:bodyPr wrap="none" lIns="0" tIns="0" rIns="0" bIns="0">
            <a:spAutoFit/>
          </a:bodyPr>
          <a:lstStyle/>
          <a:p>
            <a:r>
              <a:rPr sz="1150" b="0">
                <a:solidFill>
                  <a:srgbClr val="2E2E2E"/>
                </a:solidFill>
                <a:latin typeface="Calibri"/>
              </a:rPr>
              <a:t>Mn for</a:t>
            </a:r>
          </a:p>
        </p:txBody>
      </p:sp>
      <p:sp>
        <p:nvSpPr>
          <p:cNvPr id="38" name="TextBox 37"/>
          <p:cNvSpPr txBox="1"/>
          <p:nvPr/>
        </p:nvSpPr>
        <p:spPr>
          <a:xfrm>
            <a:off x="6305550" y="5039867"/>
            <a:ext cx="5161421" cy="194310"/>
          </a:xfrm>
          <a:prstGeom prst="rect">
            <a:avLst/>
          </a:prstGeom>
          <a:noFill/>
        </p:spPr>
        <p:txBody>
          <a:bodyPr wrap="none" lIns="0" tIns="0" rIns="0" bIns="0">
            <a:spAutoFit/>
          </a:bodyPr>
          <a:lstStyle/>
          <a:p>
            <a:r>
              <a:rPr sz="1150" b="0">
                <a:solidFill>
                  <a:srgbClr val="2E2E2E"/>
                </a:solidFill>
                <a:latin typeface="Calibri"/>
              </a:rPr>
              <a:t>the overall corrugated partition market from 2026 to 2036. The single wall segment is</a:t>
            </a:r>
          </a:p>
        </p:txBody>
      </p:sp>
      <p:sp>
        <p:nvSpPr>
          <p:cNvPr id="39" name="TextBox 38"/>
          <p:cNvSpPr txBox="1"/>
          <p:nvPr/>
        </p:nvSpPr>
        <p:spPr>
          <a:xfrm>
            <a:off x="6305550" y="5215127"/>
            <a:ext cx="3285306" cy="194310"/>
          </a:xfrm>
          <a:prstGeom prst="rect">
            <a:avLst/>
          </a:prstGeom>
          <a:noFill/>
        </p:spPr>
        <p:txBody>
          <a:bodyPr wrap="none" lIns="0" tIns="0" rIns="0" bIns="0">
            <a:spAutoFit/>
          </a:bodyPr>
          <a:lstStyle/>
          <a:p>
            <a:r>
              <a:rPr sz="1150" b="0">
                <a:solidFill>
                  <a:srgbClr val="2E2E2E"/>
                </a:solidFill>
                <a:latin typeface="Calibri"/>
              </a:rPr>
              <a:t>expected to create an incremental opportunity of US$</a:t>
            </a:r>
          </a:p>
        </p:txBody>
      </p:sp>
      <p:pic>
        <p:nvPicPr>
          <p:cNvPr id="40" name="Picture 39" descr="lock.png"/>
          <p:cNvPicPr>
            <a:picLocks noChangeAspect="1"/>
          </p:cNvPicPr>
          <p:nvPr/>
        </p:nvPicPr>
        <p:blipFill>
          <a:blip r:embed="rId7"/>
          <a:stretch>
            <a:fillRect/>
          </a:stretch>
        </p:blipFill>
        <p:spPr>
          <a:xfrm>
            <a:off x="9540010" y="5204904"/>
            <a:ext cx="134549" cy="195707"/>
          </a:xfrm>
          <a:prstGeom prst="rect">
            <a:avLst/>
          </a:prstGeom>
        </p:spPr>
      </p:pic>
      <p:sp>
        <p:nvSpPr>
          <p:cNvPr id="41" name="TextBox 40"/>
          <p:cNvSpPr txBox="1"/>
          <p:nvPr/>
        </p:nvSpPr>
        <p:spPr>
          <a:xfrm>
            <a:off x="9715119" y="5215127"/>
            <a:ext cx="1840210" cy="194310"/>
          </a:xfrm>
          <a:prstGeom prst="rect">
            <a:avLst/>
          </a:prstGeom>
          <a:noFill/>
        </p:spPr>
        <p:txBody>
          <a:bodyPr wrap="none" lIns="0" tIns="0" rIns="0" bIns="0">
            <a:spAutoFit/>
          </a:bodyPr>
          <a:lstStyle/>
          <a:p>
            <a:r>
              <a:rPr sz="1150" b="0">
                <a:solidFill>
                  <a:srgbClr val="2E2E2E"/>
                </a:solidFill>
                <a:latin typeface="Calibri"/>
              </a:rPr>
              <a:t>Mn for the overall corrugated</a:t>
            </a:r>
          </a:p>
        </p:txBody>
      </p:sp>
      <p:sp>
        <p:nvSpPr>
          <p:cNvPr id="42" name="TextBox 41"/>
          <p:cNvSpPr txBox="1"/>
          <p:nvPr/>
        </p:nvSpPr>
        <p:spPr>
          <a:xfrm>
            <a:off x="6305550" y="5390387"/>
            <a:ext cx="2229866" cy="194310"/>
          </a:xfrm>
          <a:prstGeom prst="rect">
            <a:avLst/>
          </a:prstGeom>
          <a:noFill/>
        </p:spPr>
        <p:txBody>
          <a:bodyPr wrap="none" lIns="0" tIns="0" rIns="0" bIns="0">
            <a:spAutoFit/>
          </a:bodyPr>
          <a:lstStyle/>
          <a:p>
            <a:r>
              <a:rPr sz="1150" b="0">
                <a:solidFill>
                  <a:srgbClr val="2E2E2E"/>
                </a:solidFill>
                <a:latin typeface="Calibri"/>
              </a:rPr>
              <a:t>partition market from 2026 to 2036.</a:t>
            </a:r>
          </a:p>
        </p:txBody>
      </p:sp>
      <p:sp>
        <p:nvSpPr>
          <p:cNvPr id="43"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Volume Analysis, By Board Construction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Board Construction,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By Board Construction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962355">
                  <a:extLst>
                    <a:ext uri="{9D8B030D-6E8A-4147-A177-3AD203B41FA5}">
                      <a16:colId xmlns:a16="http://schemas.microsoft.com/office/drawing/2014/main" val="20000"/>
                    </a:ext>
                  </a:extLst>
                </a:gridCol>
                <a:gridCol w="655320">
                  <a:extLst>
                    <a:ext uri="{9D8B030D-6E8A-4147-A177-3AD203B41FA5}">
                      <a16:colId xmlns:a16="http://schemas.microsoft.com/office/drawing/2014/main" val="20001"/>
                    </a:ext>
                  </a:extLst>
                </a:gridCol>
                <a:gridCol w="655320">
                  <a:extLst>
                    <a:ext uri="{9D8B030D-6E8A-4147-A177-3AD203B41FA5}">
                      <a16:colId xmlns:a16="http://schemas.microsoft.com/office/drawing/2014/main" val="20002"/>
                    </a:ext>
                  </a:extLst>
                </a:gridCol>
                <a:gridCol w="655320">
                  <a:extLst>
                    <a:ext uri="{9D8B030D-6E8A-4147-A177-3AD203B41FA5}">
                      <a16:colId xmlns:a16="http://schemas.microsoft.com/office/drawing/2014/main" val="20003"/>
                    </a:ext>
                  </a:extLst>
                </a:gridCol>
                <a:gridCol w="655320">
                  <a:extLst>
                    <a:ext uri="{9D8B030D-6E8A-4147-A177-3AD203B41FA5}">
                      <a16:colId xmlns:a16="http://schemas.microsoft.com/office/drawing/2014/main" val="20004"/>
                    </a:ext>
                  </a:extLst>
                </a:gridCol>
                <a:gridCol w="655320">
                  <a:extLst>
                    <a:ext uri="{9D8B030D-6E8A-4147-A177-3AD203B41FA5}">
                      <a16:colId xmlns:a16="http://schemas.microsoft.com/office/drawing/2014/main" val="20005"/>
                    </a:ext>
                  </a:extLst>
                </a:gridCol>
                <a:gridCol w="655320">
                  <a:extLst>
                    <a:ext uri="{9D8B030D-6E8A-4147-A177-3AD203B41FA5}">
                      <a16:colId xmlns:a16="http://schemas.microsoft.com/office/drawing/2014/main" val="20006"/>
                    </a:ext>
                  </a:extLst>
                </a:gridCol>
                <a:gridCol w="655320">
                  <a:extLst>
                    <a:ext uri="{9D8B030D-6E8A-4147-A177-3AD203B41FA5}">
                      <a16:colId xmlns:a16="http://schemas.microsoft.com/office/drawing/2014/main" val="20007"/>
                    </a:ext>
                  </a:extLst>
                </a:gridCol>
                <a:gridCol w="655320">
                  <a:extLst>
                    <a:ext uri="{9D8B030D-6E8A-4147-A177-3AD203B41FA5}">
                      <a16:colId xmlns:a16="http://schemas.microsoft.com/office/drawing/2014/main" val="20008"/>
                    </a:ext>
                  </a:extLst>
                </a:gridCol>
                <a:gridCol w="655320">
                  <a:extLst>
                    <a:ext uri="{9D8B030D-6E8A-4147-A177-3AD203B41FA5}">
                      <a16:colId xmlns:a16="http://schemas.microsoft.com/office/drawing/2014/main" val="20009"/>
                    </a:ext>
                  </a:extLst>
                </a:gridCol>
                <a:gridCol w="655320">
                  <a:extLst>
                    <a:ext uri="{9D8B030D-6E8A-4147-A177-3AD203B41FA5}">
                      <a16:colId xmlns:a16="http://schemas.microsoft.com/office/drawing/2014/main" val="20010"/>
                    </a:ext>
                  </a:extLst>
                </a:gridCol>
                <a:gridCol w="655320">
                  <a:extLst>
                    <a:ext uri="{9D8B030D-6E8A-4147-A177-3AD203B41FA5}">
                      <a16:colId xmlns:a16="http://schemas.microsoft.com/office/drawing/2014/main" val="20011"/>
                    </a:ext>
                  </a:extLst>
                </a:gridCol>
                <a:gridCol w="655320">
                  <a:extLst>
                    <a:ext uri="{9D8B030D-6E8A-4147-A177-3AD203B41FA5}">
                      <a16:colId xmlns:a16="http://schemas.microsoft.com/office/drawing/2014/main" val="20012"/>
                    </a:ext>
                  </a:extLst>
                </a:gridCol>
                <a:gridCol w="655320">
                  <a:extLst>
                    <a:ext uri="{9D8B030D-6E8A-4147-A177-3AD203B41FA5}">
                      <a16:colId xmlns:a16="http://schemas.microsoft.com/office/drawing/2014/main" val="20013"/>
                    </a:ext>
                  </a:extLst>
                </a:gridCol>
                <a:gridCol w="655320">
                  <a:extLst>
                    <a:ext uri="{9D8B030D-6E8A-4147-A177-3AD203B41FA5}">
                      <a16:colId xmlns:a16="http://schemas.microsoft.com/office/drawing/2014/main" val="20014"/>
                    </a:ext>
                  </a:extLst>
                </a:gridCol>
                <a:gridCol w="655320">
                  <a:extLst>
                    <a:ext uri="{9D8B030D-6E8A-4147-A177-3AD203B41FA5}">
                      <a16:colId xmlns:a16="http://schemas.microsoft.com/office/drawing/2014/main" val="20015"/>
                    </a:ext>
                  </a:extLst>
                </a:gridCol>
                <a:gridCol w="655320">
                  <a:extLst>
                    <a:ext uri="{9D8B030D-6E8A-4147-A177-3AD203B41FA5}">
                      <a16:colId xmlns:a16="http://schemas.microsoft.com/office/drawing/2014/main" val="20016"/>
                    </a:ext>
                  </a:extLst>
                </a:gridCol>
                <a:gridCol w="439725">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a:lstStyle/>
                    <a:p>
                      <a:pPr algn="ctr"/>
                      <a:r>
                        <a:rPr sz="1100" b="1">
                          <a:solidFill>
                            <a:srgbClr val="0B2E4A"/>
                          </a:solidFill>
                          <a:latin typeface="Calibri"/>
                        </a:rPr>
                        <a:t>F-CAGR</a:t>
                      </a:r>
                      <a:endParaRPr sz="1100"/>
                    </a:p>
                  </a:txBody>
                  <a:tcPr marL="28575" marR="19050" marT="19050" marB="19050" anchor="ctr">
                    <a:solidFill>
                      <a:srgbClr val="E0E8EF"/>
                    </a:solidFill>
                  </a:tcPr>
                </a:tc>
                <a:extLst>
                  <a:ext uri="{0D108BD9-81ED-4DB2-BD59-A6C34878D82A}">
                    <a16:rowId xmlns:a16="http://schemas.microsoft.com/office/drawing/2014/main" val="10000"/>
                  </a:ext>
                </a:extLst>
              </a:tr>
              <a:tr h="247460">
                <a:tc>
                  <a:txBody>
                    <a:bodyPr/>
                    <a:lstStyle/>
                    <a:p>
                      <a:pPr algn="l"/>
                      <a:r>
                        <a:rPr sz="1100" b="1">
                          <a:solidFill>
                            <a:srgbClr val="2E2E2E"/>
                          </a:solidFill>
                          <a:latin typeface="Calibri"/>
                        </a:rPr>
                        <a:t>Single Wall</a:t>
                      </a:r>
                      <a:endParaRPr sz="1100"/>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extLst>
                  <a:ext uri="{0D108BD9-81ED-4DB2-BD59-A6C34878D82A}">
                    <a16:rowId xmlns:a16="http://schemas.microsoft.com/office/drawing/2014/main" val="10001"/>
                  </a:ext>
                </a:extLst>
              </a:tr>
              <a:tr h="247460">
                <a:tc>
                  <a:txBody>
                    <a:bodyPr/>
                    <a:lstStyle/>
                    <a:p>
                      <a:pPr algn="l"/>
                      <a:r>
                        <a:rPr sz="1100" b="1">
                          <a:solidFill>
                            <a:srgbClr val="2E2E2E"/>
                          </a:solidFill>
                          <a:latin typeface="Calibri"/>
                        </a:rPr>
                        <a:t>Double Wall</a:t>
                      </a:r>
                      <a:endParaRPr sz="1100"/>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extLst>
                  <a:ext uri="{0D108BD9-81ED-4DB2-BD59-A6C34878D82A}">
                    <a16:rowId xmlns:a16="http://schemas.microsoft.com/office/drawing/2014/main" val="10002"/>
                  </a:ext>
                </a:extLst>
              </a:tr>
              <a:tr h="247460">
                <a:tc>
                  <a:txBody>
                    <a:bodyPr/>
                    <a:lstStyle/>
                    <a:p>
                      <a:pPr algn="l"/>
                      <a:r>
                        <a:rPr sz="1100" b="1">
                          <a:solidFill>
                            <a:srgbClr val="2E2E2E"/>
                          </a:solidFill>
                          <a:latin typeface="Calibri"/>
                        </a:rPr>
                        <a:t>Triple Wall</a:t>
                      </a:r>
                      <a:endParaRPr sz="1100"/>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extLst>
                  <a:ext uri="{0D108BD9-81ED-4DB2-BD59-A6C34878D82A}">
                    <a16:rowId xmlns:a16="http://schemas.microsoft.com/office/drawing/2014/main" val="10003"/>
                  </a:ext>
                </a:extLst>
              </a:tr>
              <a:tr h="247460">
                <a:tc>
                  <a:txBody>
                    <a:bodyPr/>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6765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09562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Volume Analysis, By Board Construction</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419475"/>
            <a:ext cx="11639550" cy="31337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0487" y="1905381"/>
            <a:ext cx="366712" cy="533400"/>
          </a:xfrm>
          <a:prstGeom prst="rect">
            <a:avLst/>
          </a:prstGeom>
        </p:spPr>
      </p:pic>
      <p:sp>
        <p:nvSpPr>
          <p:cNvPr id="21" name="TextBox 20"/>
          <p:cNvSpPr txBox="1"/>
          <p:nvPr/>
        </p:nvSpPr>
        <p:spPr>
          <a:xfrm>
            <a:off x="276225" y="3429000"/>
            <a:ext cx="2615245" cy="194310"/>
          </a:xfrm>
          <a:prstGeom prst="rect">
            <a:avLst/>
          </a:prstGeom>
          <a:noFill/>
        </p:spPr>
        <p:txBody>
          <a:bodyPr wrap="none" lIns="0" tIns="0" rIns="0" bIns="0">
            <a:spAutoFit/>
          </a:bodyPr>
          <a:lstStyle/>
          <a:p>
            <a:r>
              <a:rPr sz="1150" b="0">
                <a:solidFill>
                  <a:srgbClr val="2E2E2E"/>
                </a:solidFill>
                <a:latin typeface="Calibri"/>
              </a:rPr>
              <a:t>Triple wall segment is projected to register</a:t>
            </a:r>
          </a:p>
        </p:txBody>
      </p:sp>
      <p:pic>
        <p:nvPicPr>
          <p:cNvPr id="22" name="Picture 21" descr="lock.png"/>
          <p:cNvPicPr>
            <a:picLocks noChangeAspect="1"/>
          </p:cNvPicPr>
          <p:nvPr/>
        </p:nvPicPr>
        <p:blipFill>
          <a:blip r:embed="rId4"/>
          <a:stretch>
            <a:fillRect/>
          </a:stretch>
        </p:blipFill>
        <p:spPr>
          <a:xfrm>
            <a:off x="2840623" y="3418776"/>
            <a:ext cx="134549" cy="195707"/>
          </a:xfrm>
          <a:prstGeom prst="rect">
            <a:avLst/>
          </a:prstGeom>
        </p:spPr>
      </p:pic>
      <p:sp>
        <p:nvSpPr>
          <p:cNvPr id="23" name="TextBox 22"/>
          <p:cNvSpPr txBox="1"/>
          <p:nvPr/>
        </p:nvSpPr>
        <p:spPr>
          <a:xfrm>
            <a:off x="3015733" y="3429000"/>
            <a:ext cx="8714544" cy="194310"/>
          </a:xfrm>
          <a:prstGeom prst="rect">
            <a:avLst/>
          </a:prstGeom>
          <a:noFill/>
        </p:spPr>
        <p:txBody>
          <a:bodyPr wrap="none" lIns="0" tIns="0" rIns="0" bIns="0">
            <a:spAutoFit/>
          </a:bodyPr>
          <a:lstStyle/>
          <a:p>
            <a:r>
              <a:rPr sz="1150" b="0">
                <a:solidFill>
                  <a:srgbClr val="2E2E2E"/>
                </a:solidFill>
                <a:latin typeface="Calibri"/>
              </a:rPr>
              <a:t>X higher volume than double wall segment in 2036. Among corrugated partition by board construction, triple wall segment is expected to witness</a:t>
            </a:r>
          </a:p>
        </p:txBody>
      </p:sp>
      <p:sp>
        <p:nvSpPr>
          <p:cNvPr id="24" name="TextBox 23"/>
          <p:cNvSpPr txBox="1"/>
          <p:nvPr/>
        </p:nvSpPr>
        <p:spPr>
          <a:xfrm>
            <a:off x="276225" y="3604260"/>
            <a:ext cx="1263979" cy="194310"/>
          </a:xfrm>
          <a:prstGeom prst="rect">
            <a:avLst/>
          </a:prstGeom>
          <a:noFill/>
        </p:spPr>
        <p:txBody>
          <a:bodyPr wrap="none" lIns="0" tIns="0" r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594036"/>
            <a:ext cx="134549" cy="195707"/>
          </a:xfrm>
          <a:prstGeom prst="rect">
            <a:avLst/>
          </a:prstGeom>
        </p:spPr>
      </p:pic>
      <p:sp>
        <p:nvSpPr>
          <p:cNvPr id="26" name="TextBox 25"/>
          <p:cNvSpPr txBox="1"/>
          <p:nvPr/>
        </p:nvSpPr>
        <p:spPr>
          <a:xfrm>
            <a:off x="1664467" y="360426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832097"/>
            <a:ext cx="6997600" cy="194310"/>
          </a:xfrm>
          <a:prstGeom prst="rect">
            <a:avLst/>
          </a:prstGeom>
          <a:noFill/>
        </p:spPr>
        <p:txBody>
          <a:bodyPr wrap="none" lIns="0" tIns="0" rIns="0" bIns="0">
            <a:spAutoFit/>
          </a:bodyPr>
          <a:lstStyle/>
          <a:p>
            <a:r>
              <a:rPr sz="1150" b="0">
                <a:solidFill>
                  <a:srgbClr val="2E2E2E"/>
                </a:solidFill>
                <a:latin typeface="Calibri"/>
              </a:rPr>
              <a:t>In terms of volume share by board construction, the triple wall segment is expected to dominate the market, gaining</a:t>
            </a:r>
          </a:p>
        </p:txBody>
      </p:sp>
      <p:pic>
        <p:nvPicPr>
          <p:cNvPr id="28" name="Picture 27" descr="lock.png"/>
          <p:cNvPicPr>
            <a:picLocks noChangeAspect="1"/>
          </p:cNvPicPr>
          <p:nvPr/>
        </p:nvPicPr>
        <p:blipFill>
          <a:blip r:embed="rId4"/>
          <a:stretch>
            <a:fillRect/>
          </a:stretch>
        </p:blipFill>
        <p:spPr>
          <a:xfrm>
            <a:off x="7222979" y="3821874"/>
            <a:ext cx="134549" cy="195707"/>
          </a:xfrm>
          <a:prstGeom prst="rect">
            <a:avLst/>
          </a:prstGeom>
        </p:spPr>
      </p:pic>
      <p:sp>
        <p:nvSpPr>
          <p:cNvPr id="29" name="TextBox 28"/>
          <p:cNvSpPr txBox="1"/>
          <p:nvPr/>
        </p:nvSpPr>
        <p:spPr>
          <a:xfrm>
            <a:off x="7398088" y="383209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793232" y="3821874"/>
            <a:ext cx="134549" cy="195707"/>
          </a:xfrm>
          <a:prstGeom prst="rect">
            <a:avLst/>
          </a:prstGeom>
        </p:spPr>
      </p:pic>
      <p:sp>
        <p:nvSpPr>
          <p:cNvPr id="31" name="TextBox 30"/>
          <p:cNvSpPr txBox="1"/>
          <p:nvPr/>
        </p:nvSpPr>
        <p:spPr>
          <a:xfrm>
            <a:off x="8968341" y="3832097"/>
            <a:ext cx="2521111" cy="194310"/>
          </a:xfrm>
          <a:prstGeom prst="rect">
            <a:avLst/>
          </a:prstGeom>
          <a:noFill/>
        </p:spPr>
        <p:txBody>
          <a:bodyPr wrap="none" lIns="0" tIns="0" rIns="0" bIns="0">
            <a:spAutoFit/>
          </a:bodyPr>
          <a:lstStyle/>
          <a:p>
            <a:r>
              <a:rPr sz="1150" b="0">
                <a:solidFill>
                  <a:srgbClr val="2E2E2E"/>
                </a:solidFill>
                <a:latin typeface="Calibri"/>
              </a:rPr>
              <a:t>share by 2036. The single wall segment is</a:t>
            </a:r>
          </a:p>
        </p:txBody>
      </p:sp>
      <p:sp>
        <p:nvSpPr>
          <p:cNvPr id="32" name="TextBox 31"/>
          <p:cNvSpPr txBox="1"/>
          <p:nvPr/>
        </p:nvSpPr>
        <p:spPr>
          <a:xfrm>
            <a:off x="276225" y="4007357"/>
            <a:ext cx="1054906" cy="194310"/>
          </a:xfrm>
          <a:prstGeom prst="rect">
            <a:avLst/>
          </a:prstGeom>
          <a:noFill/>
        </p:spPr>
        <p:txBody>
          <a:bodyPr wrap="none" lIns="0" tIns="0" r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997134"/>
            <a:ext cx="134549" cy="195707"/>
          </a:xfrm>
          <a:prstGeom prst="rect">
            <a:avLst/>
          </a:prstGeom>
        </p:spPr>
      </p:pic>
      <p:sp>
        <p:nvSpPr>
          <p:cNvPr id="34" name="TextBox 33"/>
          <p:cNvSpPr txBox="1"/>
          <p:nvPr/>
        </p:nvSpPr>
        <p:spPr>
          <a:xfrm>
            <a:off x="1455394" y="400735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997134"/>
            <a:ext cx="134549" cy="195707"/>
          </a:xfrm>
          <a:prstGeom prst="rect">
            <a:avLst/>
          </a:prstGeom>
        </p:spPr>
      </p:pic>
      <p:sp>
        <p:nvSpPr>
          <p:cNvPr id="36" name="TextBox 35"/>
          <p:cNvSpPr txBox="1"/>
          <p:nvPr/>
        </p:nvSpPr>
        <p:spPr>
          <a:xfrm>
            <a:off x="4218008" y="400735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Analysis, By Board Construction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Board Construction,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By Board Construction (US$ Mn)</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413248">
                  <a:extLst>
                    <a:ext uri="{9D8B030D-6E8A-4147-A177-3AD203B41FA5}">
                      <a16:colId xmlns:a16="http://schemas.microsoft.com/office/drawing/2014/main" val="20000"/>
                    </a:ext>
                  </a:extLst>
                </a:gridCol>
                <a:gridCol w="616115">
                  <a:extLst>
                    <a:ext uri="{9D8B030D-6E8A-4147-A177-3AD203B41FA5}">
                      <a16:colId xmlns:a16="http://schemas.microsoft.com/office/drawing/2014/main" val="20001"/>
                    </a:ext>
                  </a:extLst>
                </a:gridCol>
                <a:gridCol w="616115">
                  <a:extLst>
                    <a:ext uri="{9D8B030D-6E8A-4147-A177-3AD203B41FA5}">
                      <a16:colId xmlns:a16="http://schemas.microsoft.com/office/drawing/2014/main" val="20002"/>
                    </a:ext>
                  </a:extLst>
                </a:gridCol>
                <a:gridCol w="616115">
                  <a:extLst>
                    <a:ext uri="{9D8B030D-6E8A-4147-A177-3AD203B41FA5}">
                      <a16:colId xmlns:a16="http://schemas.microsoft.com/office/drawing/2014/main" val="20003"/>
                    </a:ext>
                  </a:extLst>
                </a:gridCol>
                <a:gridCol w="616115">
                  <a:extLst>
                    <a:ext uri="{9D8B030D-6E8A-4147-A177-3AD203B41FA5}">
                      <a16:colId xmlns:a16="http://schemas.microsoft.com/office/drawing/2014/main" val="20004"/>
                    </a:ext>
                  </a:extLst>
                </a:gridCol>
                <a:gridCol w="616115">
                  <a:extLst>
                    <a:ext uri="{9D8B030D-6E8A-4147-A177-3AD203B41FA5}">
                      <a16:colId xmlns:a16="http://schemas.microsoft.com/office/drawing/2014/main" val="20005"/>
                    </a:ext>
                  </a:extLst>
                </a:gridCol>
                <a:gridCol w="616115">
                  <a:extLst>
                    <a:ext uri="{9D8B030D-6E8A-4147-A177-3AD203B41FA5}">
                      <a16:colId xmlns:a16="http://schemas.microsoft.com/office/drawing/2014/main" val="20006"/>
                    </a:ext>
                  </a:extLst>
                </a:gridCol>
                <a:gridCol w="616115">
                  <a:extLst>
                    <a:ext uri="{9D8B030D-6E8A-4147-A177-3AD203B41FA5}">
                      <a16:colId xmlns:a16="http://schemas.microsoft.com/office/drawing/2014/main" val="20007"/>
                    </a:ext>
                  </a:extLst>
                </a:gridCol>
                <a:gridCol w="616115">
                  <a:extLst>
                    <a:ext uri="{9D8B030D-6E8A-4147-A177-3AD203B41FA5}">
                      <a16:colId xmlns:a16="http://schemas.microsoft.com/office/drawing/2014/main" val="20008"/>
                    </a:ext>
                  </a:extLst>
                </a:gridCol>
                <a:gridCol w="616115">
                  <a:extLst>
                    <a:ext uri="{9D8B030D-6E8A-4147-A177-3AD203B41FA5}">
                      <a16:colId xmlns:a16="http://schemas.microsoft.com/office/drawing/2014/main" val="20009"/>
                    </a:ext>
                  </a:extLst>
                </a:gridCol>
                <a:gridCol w="616115">
                  <a:extLst>
                    <a:ext uri="{9D8B030D-6E8A-4147-A177-3AD203B41FA5}">
                      <a16:colId xmlns:a16="http://schemas.microsoft.com/office/drawing/2014/main" val="20010"/>
                    </a:ext>
                  </a:extLst>
                </a:gridCol>
                <a:gridCol w="616115">
                  <a:extLst>
                    <a:ext uri="{9D8B030D-6E8A-4147-A177-3AD203B41FA5}">
                      <a16:colId xmlns:a16="http://schemas.microsoft.com/office/drawing/2014/main" val="20011"/>
                    </a:ext>
                  </a:extLst>
                </a:gridCol>
                <a:gridCol w="616115">
                  <a:extLst>
                    <a:ext uri="{9D8B030D-6E8A-4147-A177-3AD203B41FA5}">
                      <a16:colId xmlns:a16="http://schemas.microsoft.com/office/drawing/2014/main" val="20012"/>
                    </a:ext>
                  </a:extLst>
                </a:gridCol>
                <a:gridCol w="616115">
                  <a:extLst>
                    <a:ext uri="{9D8B030D-6E8A-4147-A177-3AD203B41FA5}">
                      <a16:colId xmlns:a16="http://schemas.microsoft.com/office/drawing/2014/main" val="20013"/>
                    </a:ext>
                  </a:extLst>
                </a:gridCol>
                <a:gridCol w="616115">
                  <a:extLst>
                    <a:ext uri="{9D8B030D-6E8A-4147-A177-3AD203B41FA5}">
                      <a16:colId xmlns:a16="http://schemas.microsoft.com/office/drawing/2014/main" val="20014"/>
                    </a:ext>
                  </a:extLst>
                </a:gridCol>
                <a:gridCol w="616115">
                  <a:extLst>
                    <a:ext uri="{9D8B030D-6E8A-4147-A177-3AD203B41FA5}">
                      <a16:colId xmlns:a16="http://schemas.microsoft.com/office/drawing/2014/main" val="20015"/>
                    </a:ext>
                  </a:extLst>
                </a:gridCol>
                <a:gridCol w="616115">
                  <a:extLst>
                    <a:ext uri="{9D8B030D-6E8A-4147-A177-3AD203B41FA5}">
                      <a16:colId xmlns:a16="http://schemas.microsoft.com/office/drawing/2014/main" val="20016"/>
                    </a:ext>
                  </a:extLst>
                </a:gridCol>
                <a:gridCol w="616115">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90512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Value Analysis, By Board Construction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228975"/>
            <a:ext cx="11639550" cy="33242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15935" y="1713738"/>
            <a:ext cx="366712" cy="533400"/>
          </a:xfrm>
          <a:prstGeom prst="rect">
            <a:avLst/>
          </a:prstGeom>
        </p:spPr>
      </p:pic>
      <p:sp>
        <p:nvSpPr>
          <p:cNvPr id="21" name="TextBox 20"/>
          <p:cNvSpPr txBox="1"/>
          <p:nvPr/>
        </p:nvSpPr>
        <p:spPr>
          <a:xfrm>
            <a:off x="276225" y="3238500"/>
            <a:ext cx="2702817" cy="194310"/>
          </a:xfrm>
          <a:prstGeom prst="rect">
            <a:avLst/>
          </a:prstGeom>
          <a:noFill/>
        </p:spPr>
        <p:txBody>
          <a:bodyPr wrap="none" lIns="0" tIns="0" rIns="0" bIns="0">
            <a:spAutoFit/>
          </a:bodyPr>
          <a:lstStyle/>
          <a:p>
            <a:r>
              <a:rPr sz="1150" b="0">
                <a:solidFill>
                  <a:srgbClr val="2E2E2E"/>
                </a:solidFill>
                <a:latin typeface="Calibri"/>
              </a:rPr>
              <a:t>Double wall segment is projected to register</a:t>
            </a:r>
          </a:p>
        </p:txBody>
      </p:sp>
      <p:pic>
        <p:nvPicPr>
          <p:cNvPr id="22" name="Picture 21" descr="lock.png"/>
          <p:cNvPicPr>
            <a:picLocks noChangeAspect="1"/>
          </p:cNvPicPr>
          <p:nvPr/>
        </p:nvPicPr>
        <p:blipFill>
          <a:blip r:embed="rId4"/>
          <a:stretch>
            <a:fillRect/>
          </a:stretch>
        </p:blipFill>
        <p:spPr>
          <a:xfrm>
            <a:off x="2928196" y="3228276"/>
            <a:ext cx="134549" cy="195707"/>
          </a:xfrm>
          <a:prstGeom prst="rect">
            <a:avLst/>
          </a:prstGeom>
        </p:spPr>
      </p:pic>
      <p:sp>
        <p:nvSpPr>
          <p:cNvPr id="23" name="TextBox 22"/>
          <p:cNvSpPr txBox="1"/>
          <p:nvPr/>
        </p:nvSpPr>
        <p:spPr>
          <a:xfrm>
            <a:off x="3103306" y="3238500"/>
            <a:ext cx="8725668" cy="194310"/>
          </a:xfrm>
          <a:prstGeom prst="rect">
            <a:avLst/>
          </a:prstGeom>
          <a:noFill/>
        </p:spPr>
        <p:txBody>
          <a:bodyPr wrap="none" lIns="0" tIns="0" rIns="0" bIns="0">
            <a:spAutoFit/>
          </a:bodyPr>
          <a:lstStyle/>
          <a:p>
            <a:r>
              <a:rPr sz="1150" b="0">
                <a:solidFill>
                  <a:srgbClr val="2E2E2E"/>
                </a:solidFill>
                <a:latin typeface="Calibri"/>
              </a:rPr>
              <a:t>X higher value than triple wall segment in 2036. Among corrugated partition by board construction, triple wall segment is expected to witness the</a:t>
            </a:r>
          </a:p>
        </p:txBody>
      </p:sp>
      <p:sp>
        <p:nvSpPr>
          <p:cNvPr id="24" name="TextBox 23"/>
          <p:cNvSpPr txBox="1"/>
          <p:nvPr/>
        </p:nvSpPr>
        <p:spPr>
          <a:xfrm>
            <a:off x="276225" y="3413760"/>
            <a:ext cx="1032353" cy="194310"/>
          </a:xfrm>
          <a:prstGeom prst="rect">
            <a:avLst/>
          </a:prstGeom>
          <a:noFill/>
        </p:spPr>
        <p:txBody>
          <a:bodyPr wrap="none" lIns="0" tIns="0" r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403536"/>
            <a:ext cx="134549" cy="195707"/>
          </a:xfrm>
          <a:prstGeom prst="rect">
            <a:avLst/>
          </a:prstGeom>
        </p:spPr>
      </p:pic>
      <p:sp>
        <p:nvSpPr>
          <p:cNvPr id="26" name="TextBox 25"/>
          <p:cNvSpPr txBox="1"/>
          <p:nvPr/>
        </p:nvSpPr>
        <p:spPr>
          <a:xfrm>
            <a:off x="1432841" y="341376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6970501" cy="194310"/>
          </a:xfrm>
          <a:prstGeom prst="rect">
            <a:avLst/>
          </a:prstGeom>
          <a:noFill/>
        </p:spPr>
        <p:txBody>
          <a:bodyPr wrap="none" lIns="0" tIns="0" rIns="0" bIns="0">
            <a:spAutoFit/>
          </a:bodyPr>
          <a:lstStyle/>
          <a:p>
            <a:r>
              <a:rPr sz="1150" b="0">
                <a:solidFill>
                  <a:srgbClr val="2E2E2E"/>
                </a:solidFill>
                <a:latin typeface="Calibri"/>
              </a:rPr>
              <a:t>In terms of value share by board construction, the double wall segment is expected to dominate the market, gaining</a:t>
            </a:r>
          </a:p>
        </p:txBody>
      </p:sp>
      <p:pic>
        <p:nvPicPr>
          <p:cNvPr id="28" name="Picture 27" descr="lock.png"/>
          <p:cNvPicPr>
            <a:picLocks noChangeAspect="1"/>
          </p:cNvPicPr>
          <p:nvPr/>
        </p:nvPicPr>
        <p:blipFill>
          <a:blip r:embed="rId4"/>
          <a:stretch>
            <a:fillRect/>
          </a:stretch>
        </p:blipFill>
        <p:spPr>
          <a:xfrm>
            <a:off x="7195880" y="3631374"/>
            <a:ext cx="134549" cy="195707"/>
          </a:xfrm>
          <a:prstGeom prst="rect">
            <a:avLst/>
          </a:prstGeom>
        </p:spPr>
      </p:pic>
      <p:sp>
        <p:nvSpPr>
          <p:cNvPr id="29" name="TextBox 28"/>
          <p:cNvSpPr txBox="1"/>
          <p:nvPr/>
        </p:nvSpPr>
        <p:spPr>
          <a:xfrm>
            <a:off x="7370989" y="364159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766133" y="3631374"/>
            <a:ext cx="134549" cy="195707"/>
          </a:xfrm>
          <a:prstGeom prst="rect">
            <a:avLst/>
          </a:prstGeom>
        </p:spPr>
      </p:pic>
      <p:sp>
        <p:nvSpPr>
          <p:cNvPr id="31" name="TextBox 30"/>
          <p:cNvSpPr txBox="1"/>
          <p:nvPr/>
        </p:nvSpPr>
        <p:spPr>
          <a:xfrm>
            <a:off x="8941242" y="3641597"/>
            <a:ext cx="2521111" cy="194310"/>
          </a:xfrm>
          <a:prstGeom prst="rect">
            <a:avLst/>
          </a:prstGeom>
          <a:noFill/>
        </p:spPr>
        <p:txBody>
          <a:bodyPr wrap="none" lIns="0" tIns="0" rIns="0" bIns="0">
            <a:spAutoFit/>
          </a:bodyPr>
          <a:lstStyle/>
          <a:p>
            <a:r>
              <a:rPr sz="1150" b="0">
                <a:solidFill>
                  <a:srgbClr val="2E2E2E"/>
                </a:solidFill>
                <a:latin typeface="Calibri"/>
              </a:rPr>
              <a:t>share by 2036. The single wall segment is</a:t>
            </a:r>
          </a:p>
        </p:txBody>
      </p:sp>
      <p:sp>
        <p:nvSpPr>
          <p:cNvPr id="32" name="TextBox 31"/>
          <p:cNvSpPr txBox="1"/>
          <p:nvPr/>
        </p:nvSpPr>
        <p:spPr>
          <a:xfrm>
            <a:off x="276225" y="3816857"/>
            <a:ext cx="1054906" cy="194310"/>
          </a:xfrm>
          <a:prstGeom prst="rect">
            <a:avLst/>
          </a:prstGeom>
          <a:noFill/>
        </p:spPr>
        <p:txBody>
          <a:bodyPr wrap="none" lIns="0" tIns="0" r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806634"/>
            <a:ext cx="134549" cy="195707"/>
          </a:xfrm>
          <a:prstGeom prst="rect">
            <a:avLst/>
          </a:prstGeom>
        </p:spPr>
      </p:pic>
      <p:sp>
        <p:nvSpPr>
          <p:cNvPr id="34" name="TextBox 33"/>
          <p:cNvSpPr txBox="1"/>
          <p:nvPr/>
        </p:nvSpPr>
        <p:spPr>
          <a:xfrm>
            <a:off x="1455394" y="381685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806634"/>
            <a:ext cx="134549" cy="195707"/>
          </a:xfrm>
          <a:prstGeom prst="rect">
            <a:avLst/>
          </a:prstGeom>
        </p:spPr>
      </p:pic>
      <p:sp>
        <p:nvSpPr>
          <p:cNvPr id="36" name="TextBox 35"/>
          <p:cNvSpPr txBox="1"/>
          <p:nvPr/>
        </p:nvSpPr>
        <p:spPr>
          <a:xfrm>
            <a:off x="4218008" y="381685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&amp; Share Shift, By Board Construction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Board Construction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Composition, By Board Construction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207883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rot="10800000">
            <a:off x="5090922" y="20740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1997871"/>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Single Wall</a:t>
            </a:r>
          </a:p>
        </p:txBody>
      </p:sp>
      <p:sp>
        <p:nvSpPr>
          <p:cNvPr id="19" name="BPS Value 1"/>
          <p:cNvSpPr txBox="1"/>
          <p:nvPr/>
        </p:nvSpPr>
        <p:spPr>
          <a:xfrm>
            <a:off x="6896100" y="2059784"/>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0" name="FMI Legend Chip"/>
          <p:cNvSpPr/>
          <p:nvPr/>
        </p:nvSpPr>
        <p:spPr>
          <a:xfrm>
            <a:off x="4928997" y="338616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a:off x="5090922" y="338139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3305198"/>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Triple Wall</a:t>
            </a:r>
          </a:p>
        </p:txBody>
      </p:sp>
      <p:sp>
        <p:nvSpPr>
          <p:cNvPr id="23" name="BPS Value 2"/>
          <p:cNvSpPr txBox="1"/>
          <p:nvPr/>
        </p:nvSpPr>
        <p:spPr>
          <a:xfrm>
            <a:off x="6896100" y="3367111"/>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4" name="FMI Legend Chip"/>
          <p:cNvSpPr/>
          <p:nvPr/>
        </p:nvSpPr>
        <p:spPr>
          <a:xfrm>
            <a:off x="4928997" y="526477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a:off x="5090922" y="526001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5233797" y="5183812"/>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Double Wall</a:t>
            </a:r>
          </a:p>
        </p:txBody>
      </p:sp>
      <p:sp>
        <p:nvSpPr>
          <p:cNvPr id="27" name="BPS Value 3"/>
          <p:cNvSpPr txBox="1"/>
          <p:nvPr/>
        </p:nvSpPr>
        <p:spPr>
          <a:xfrm>
            <a:off x="6896100" y="5245724"/>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North America Read-out, By Board Construction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2" name="TextBox 3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740571" cy="194310"/>
          </a:xfrm>
          <a:prstGeom prst="rect">
            <a:avLst/>
          </a:prstGeom>
          <a:noFill/>
        </p:spPr>
        <p:txBody>
          <a:bodyPr wrap="none" lIns="0" tIns="0" rIns="0" bIns="0">
            <a:spAutoFit/>
          </a:bodyPr>
          <a:lstStyle/>
          <a:p>
            <a:r>
              <a:rPr sz="1150" b="0">
                <a:solidFill>
                  <a:srgbClr val="2E2E2E"/>
                </a:solidFill>
                <a:latin typeface="Calibri"/>
              </a:rPr>
              <a:t>Among corrugated partition by board construction, triple wall</a:t>
            </a:r>
          </a:p>
        </p:txBody>
      </p:sp>
      <p:sp>
        <p:nvSpPr>
          <p:cNvPr id="35" name="TextBox 34"/>
          <p:cNvSpPr txBox="1"/>
          <p:nvPr/>
        </p:nvSpPr>
        <p:spPr>
          <a:xfrm>
            <a:off x="7829550" y="15754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36" name="Picture 35" descr="lock.png"/>
          <p:cNvPicPr>
            <a:picLocks noChangeAspect="1"/>
          </p:cNvPicPr>
          <p:nvPr/>
        </p:nvPicPr>
        <p:blipFill>
          <a:blip r:embed="rId5"/>
          <a:stretch>
            <a:fillRect/>
          </a:stretch>
        </p:blipFill>
        <p:spPr>
          <a:xfrm>
            <a:off x="10935343" y="1565211"/>
            <a:ext cx="134549" cy="195707"/>
          </a:xfrm>
          <a:prstGeom prst="rect">
            <a:avLst/>
          </a:prstGeom>
        </p:spPr>
      </p:pic>
      <p:sp>
        <p:nvSpPr>
          <p:cNvPr id="37" name="TextBox 36"/>
          <p:cNvSpPr txBox="1"/>
          <p:nvPr/>
        </p:nvSpPr>
        <p:spPr>
          <a:xfrm>
            <a:off x="11110452" y="157543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38" name="TextBox 37"/>
          <p:cNvSpPr txBox="1"/>
          <p:nvPr/>
        </p:nvSpPr>
        <p:spPr>
          <a:xfrm>
            <a:off x="7829550" y="1750695"/>
            <a:ext cx="4020405" cy="194310"/>
          </a:xfrm>
          <a:prstGeom prst="rect">
            <a:avLst/>
          </a:prstGeom>
          <a:noFill/>
        </p:spPr>
        <p:txBody>
          <a:bodyPr wrap="none" lIns="0" tIns="0" rIns="0" bIns="0">
            <a:spAutoFit/>
          </a:bodyPr>
          <a:lstStyle/>
          <a:p>
            <a:r>
              <a:rPr sz="1150" b="0">
                <a:solidFill>
                  <a:srgbClr val="2E2E2E"/>
                </a:solidFill>
                <a:latin typeface="Calibri"/>
              </a:rPr>
              <a:t>forecast period. In terms of value share by board construction, the</a:t>
            </a:r>
          </a:p>
        </p:txBody>
      </p:sp>
      <p:sp>
        <p:nvSpPr>
          <p:cNvPr id="39" name="TextBox 38"/>
          <p:cNvSpPr txBox="1"/>
          <p:nvPr/>
        </p:nvSpPr>
        <p:spPr>
          <a:xfrm>
            <a:off x="7829550" y="1925955"/>
            <a:ext cx="3967348" cy="194310"/>
          </a:xfrm>
          <a:prstGeom prst="rect">
            <a:avLst/>
          </a:prstGeom>
          <a:noFill/>
        </p:spPr>
        <p:txBody>
          <a:bodyPr wrap="none" lIns="0" tIns="0" rIns="0" bIns="0">
            <a:spAutoFit/>
          </a:bodyPr>
          <a:lstStyle/>
          <a:p>
            <a:r>
              <a:rPr sz="1150" b="0">
                <a:solidFill>
                  <a:srgbClr val="2E2E2E"/>
                </a:solidFill>
                <a:latin typeface="Calibri"/>
              </a:rPr>
              <a:t>double wall segment is expected to dominate the market, gaining</a:t>
            </a:r>
          </a:p>
        </p:txBody>
      </p:sp>
      <p:pic>
        <p:nvPicPr>
          <p:cNvPr id="40" name="Picture 39" descr="lock.png"/>
          <p:cNvPicPr>
            <a:picLocks noChangeAspect="1"/>
          </p:cNvPicPr>
          <p:nvPr/>
        </p:nvPicPr>
        <p:blipFill>
          <a:blip r:embed="rId5"/>
          <a:stretch>
            <a:fillRect/>
          </a:stretch>
        </p:blipFill>
        <p:spPr>
          <a:xfrm>
            <a:off x="7815470" y="2090991"/>
            <a:ext cx="134549" cy="195707"/>
          </a:xfrm>
          <a:prstGeom prst="rect">
            <a:avLst/>
          </a:prstGeom>
        </p:spPr>
      </p:pic>
      <p:sp>
        <p:nvSpPr>
          <p:cNvPr id="41" name="TextBox 40"/>
          <p:cNvSpPr txBox="1"/>
          <p:nvPr/>
        </p:nvSpPr>
        <p:spPr>
          <a:xfrm>
            <a:off x="7990579" y="2101215"/>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42" name="Picture 41" descr="lock.png"/>
          <p:cNvPicPr>
            <a:picLocks noChangeAspect="1"/>
          </p:cNvPicPr>
          <p:nvPr/>
        </p:nvPicPr>
        <p:blipFill>
          <a:blip r:embed="rId5"/>
          <a:stretch>
            <a:fillRect/>
          </a:stretch>
        </p:blipFill>
        <p:spPr>
          <a:xfrm>
            <a:off x="9385722" y="2090991"/>
            <a:ext cx="134549" cy="195707"/>
          </a:xfrm>
          <a:prstGeom prst="rect">
            <a:avLst/>
          </a:prstGeom>
        </p:spPr>
      </p:pic>
      <p:sp>
        <p:nvSpPr>
          <p:cNvPr id="43" name="TextBox 42"/>
          <p:cNvSpPr txBox="1"/>
          <p:nvPr/>
        </p:nvSpPr>
        <p:spPr>
          <a:xfrm>
            <a:off x="9560832" y="2101215"/>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4" name="TextBox 43"/>
          <p:cNvSpPr txBox="1"/>
          <p:nvPr/>
        </p:nvSpPr>
        <p:spPr>
          <a:xfrm>
            <a:off x="7829550" y="2329053"/>
            <a:ext cx="2629792" cy="194310"/>
          </a:xfrm>
          <a:prstGeom prst="rect">
            <a:avLst/>
          </a:prstGeom>
          <a:noFill/>
        </p:spPr>
        <p:txBody>
          <a:bodyPr wrap="none" lIns="0" tIns="0" rIns="0" bIns="0">
            <a:spAutoFit/>
          </a:bodyPr>
          <a:lstStyle/>
          <a:p>
            <a:r>
              <a:rPr sz="1150" b="0">
                <a:solidFill>
                  <a:srgbClr val="2E2E2E"/>
                </a:solidFill>
                <a:latin typeface="Calibri"/>
              </a:rPr>
              <a:t>The single wall segment is expected to lose</a:t>
            </a:r>
          </a:p>
        </p:txBody>
      </p:sp>
      <p:pic>
        <p:nvPicPr>
          <p:cNvPr id="45" name="Picture 44" descr="lock.png"/>
          <p:cNvPicPr>
            <a:picLocks noChangeAspect="1"/>
          </p:cNvPicPr>
          <p:nvPr/>
        </p:nvPicPr>
        <p:blipFill>
          <a:blip r:embed="rId5"/>
          <a:stretch>
            <a:fillRect/>
          </a:stretch>
        </p:blipFill>
        <p:spPr>
          <a:xfrm>
            <a:off x="10408496" y="2318829"/>
            <a:ext cx="134549" cy="195707"/>
          </a:xfrm>
          <a:prstGeom prst="rect">
            <a:avLst/>
          </a:prstGeom>
        </p:spPr>
      </p:pic>
      <p:sp>
        <p:nvSpPr>
          <p:cNvPr id="46" name="TextBox 45"/>
          <p:cNvSpPr txBox="1"/>
          <p:nvPr/>
        </p:nvSpPr>
        <p:spPr>
          <a:xfrm>
            <a:off x="10583606" y="2329053"/>
            <a:ext cx="829840" cy="194310"/>
          </a:xfrm>
          <a:prstGeom prst="rect">
            <a:avLst/>
          </a:prstGeom>
          <a:noFill/>
        </p:spPr>
        <p:txBody>
          <a:bodyPr wrap="none" lIns="0" tIns="0" rIns="0" bIns="0">
            <a:spAutoFit/>
          </a:bodyPr>
          <a:lstStyle/>
          <a:p>
            <a:r>
              <a:rPr sz="1150" b="0">
                <a:solidFill>
                  <a:srgbClr val="2E2E2E"/>
                </a:solidFill>
                <a:latin typeface="Calibri"/>
              </a:rPr>
              <a:t>BPS over the</a:t>
            </a:r>
          </a:p>
        </p:txBody>
      </p:sp>
      <p:sp>
        <p:nvSpPr>
          <p:cNvPr id="47" name="TextBox 46"/>
          <p:cNvSpPr txBox="1"/>
          <p:nvPr/>
        </p:nvSpPr>
        <p:spPr>
          <a:xfrm>
            <a:off x="7829550" y="2504313"/>
            <a:ext cx="1851620" cy="194310"/>
          </a:xfrm>
          <a:prstGeom prst="rect">
            <a:avLst/>
          </a:prstGeom>
          <a:noFill/>
        </p:spPr>
        <p:txBody>
          <a:bodyPr wrap="none" lIns="0" tIns="0" rIns="0" bIns="0">
            <a:spAutoFit/>
          </a:bodyPr>
          <a:lstStyle/>
          <a:p>
            <a:r>
              <a:rPr sz="1150" b="0">
                <a:solidFill>
                  <a:srgbClr val="2E2E2E"/>
                </a:solidFill>
                <a:latin typeface="Calibri"/>
              </a:rPr>
              <a:t>forecast period to account for</a:t>
            </a:r>
          </a:p>
        </p:txBody>
      </p:sp>
      <p:pic>
        <p:nvPicPr>
          <p:cNvPr id="48" name="Picture 47" descr="lock.png"/>
          <p:cNvPicPr>
            <a:picLocks noChangeAspect="1"/>
          </p:cNvPicPr>
          <p:nvPr/>
        </p:nvPicPr>
        <p:blipFill>
          <a:blip r:embed="rId5"/>
          <a:stretch>
            <a:fillRect/>
          </a:stretch>
        </p:blipFill>
        <p:spPr>
          <a:xfrm>
            <a:off x="9630324" y="2494089"/>
            <a:ext cx="134549" cy="195707"/>
          </a:xfrm>
          <a:prstGeom prst="rect">
            <a:avLst/>
          </a:prstGeom>
        </p:spPr>
      </p:pic>
      <p:sp>
        <p:nvSpPr>
          <p:cNvPr id="49" name="TextBox 48"/>
          <p:cNvSpPr txBox="1"/>
          <p:nvPr/>
        </p:nvSpPr>
        <p:spPr>
          <a:xfrm>
            <a:off x="9805433" y="250431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Volume, By Board Construction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Board Construction,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Growth,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extLst>
                    <a:ext uri="{9D8B030D-6E8A-4147-A177-3AD203B41FA5}">
                      <a16:colId xmlns:a16="http://schemas.microsoft.com/office/drawing/2014/main" val="20000"/>
                    </a:ext>
                  </a:extLst>
                </a:gridCol>
                <a:gridCol w="689251">
                  <a:extLst>
                    <a:ext uri="{9D8B030D-6E8A-4147-A177-3AD203B41FA5}">
                      <a16:colId xmlns:a16="http://schemas.microsoft.com/office/drawing/2014/main" val="20001"/>
                    </a:ext>
                  </a:extLst>
                </a:gridCol>
                <a:gridCol w="689251">
                  <a:extLst>
                    <a:ext uri="{9D8B030D-6E8A-4147-A177-3AD203B41FA5}">
                      <a16:colId xmlns:a16="http://schemas.microsoft.com/office/drawing/2014/main" val="20002"/>
                    </a:ext>
                  </a:extLst>
                </a:gridCol>
                <a:gridCol w="689251">
                  <a:extLst>
                    <a:ext uri="{9D8B030D-6E8A-4147-A177-3AD203B41FA5}">
                      <a16:colId xmlns:a16="http://schemas.microsoft.com/office/drawing/2014/main" val="20003"/>
                    </a:ext>
                  </a:extLst>
                </a:gridCol>
                <a:gridCol w="689251">
                  <a:extLst>
                    <a:ext uri="{9D8B030D-6E8A-4147-A177-3AD203B41FA5}">
                      <a16:colId xmlns:a16="http://schemas.microsoft.com/office/drawing/2014/main" val="20004"/>
                    </a:ext>
                  </a:extLst>
                </a:gridCol>
                <a:gridCol w="689251">
                  <a:extLst>
                    <a:ext uri="{9D8B030D-6E8A-4147-A177-3AD203B41FA5}">
                      <a16:colId xmlns:a16="http://schemas.microsoft.com/office/drawing/2014/main" val="20005"/>
                    </a:ext>
                  </a:extLst>
                </a:gridCol>
                <a:gridCol w="689251">
                  <a:extLst>
                    <a:ext uri="{9D8B030D-6E8A-4147-A177-3AD203B41FA5}">
                      <a16:colId xmlns:a16="http://schemas.microsoft.com/office/drawing/2014/main" val="20006"/>
                    </a:ext>
                  </a:extLst>
                </a:gridCol>
                <a:gridCol w="689251">
                  <a:extLst>
                    <a:ext uri="{9D8B030D-6E8A-4147-A177-3AD203B41FA5}">
                      <a16:colId xmlns:a16="http://schemas.microsoft.com/office/drawing/2014/main" val="20007"/>
                    </a:ext>
                  </a:extLst>
                </a:gridCol>
                <a:gridCol w="689251">
                  <a:extLst>
                    <a:ext uri="{9D8B030D-6E8A-4147-A177-3AD203B41FA5}">
                      <a16:colId xmlns:a16="http://schemas.microsoft.com/office/drawing/2014/main" val="20008"/>
                    </a:ext>
                  </a:extLst>
                </a:gridCol>
                <a:gridCol w="689251">
                  <a:extLst>
                    <a:ext uri="{9D8B030D-6E8A-4147-A177-3AD203B41FA5}">
                      <a16:colId xmlns:a16="http://schemas.microsoft.com/office/drawing/2014/main" val="20009"/>
                    </a:ext>
                  </a:extLst>
                </a:gridCol>
                <a:gridCol w="689251">
                  <a:extLst>
                    <a:ext uri="{9D8B030D-6E8A-4147-A177-3AD203B41FA5}">
                      <a16:colId xmlns:a16="http://schemas.microsoft.com/office/drawing/2014/main" val="20010"/>
                    </a:ext>
                  </a:extLst>
                </a:gridCol>
                <a:gridCol w="689251">
                  <a:extLst>
                    <a:ext uri="{9D8B030D-6E8A-4147-A177-3AD203B41FA5}">
                      <a16:colId xmlns:a16="http://schemas.microsoft.com/office/drawing/2014/main" val="20011"/>
                    </a:ext>
                  </a:extLst>
                </a:gridCol>
                <a:gridCol w="689251">
                  <a:extLst>
                    <a:ext uri="{9D8B030D-6E8A-4147-A177-3AD203B41FA5}">
                      <a16:colId xmlns:a16="http://schemas.microsoft.com/office/drawing/2014/main" val="20012"/>
                    </a:ext>
                  </a:extLst>
                </a:gridCol>
                <a:gridCol w="689251">
                  <a:extLst>
                    <a:ext uri="{9D8B030D-6E8A-4147-A177-3AD203B41FA5}">
                      <a16:colId xmlns:a16="http://schemas.microsoft.com/office/drawing/2014/main" val="20013"/>
                    </a:ext>
                  </a:extLst>
                </a:gridCol>
                <a:gridCol w="689251">
                  <a:extLst>
                    <a:ext uri="{9D8B030D-6E8A-4147-A177-3AD203B41FA5}">
                      <a16:colId xmlns:a16="http://schemas.microsoft.com/office/drawing/2014/main" val="20014"/>
                    </a:ext>
                  </a:extLst>
                </a:gridCol>
                <a:gridCol w="6892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Heatmap, By Board Construction (%)  ·  light = lower, dark = higher growth</a:t>
            </a:r>
          </a:p>
        </p:txBody>
      </p:sp>
      <p:sp>
        <p:nvSpPr>
          <p:cNvPr id="17" name="TextBox 16"/>
          <p:cNvSpPr txBox="1"/>
          <p:nvPr/>
        </p:nvSpPr>
        <p:spPr>
          <a:xfrm>
            <a:off x="18573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Single Wall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000375"/>
            <a:ext cx="643890" cy="1190625"/>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191000"/>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Double Wall</a:t>
            </a:r>
          </a:p>
        </p:txBody>
      </p:sp>
      <p:sp>
        <p:nvSpPr>
          <p:cNvPr id="49" name="Rectangle 48"/>
          <p:cNvSpPr/>
          <p:nvPr/>
        </p:nvSpPr>
        <p:spPr>
          <a:xfrm>
            <a:off x="1857375" y="4191000"/>
            <a:ext cx="643890" cy="1190625"/>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191000"/>
            <a:ext cx="643890" cy="1190625"/>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191000"/>
            <a:ext cx="643890" cy="1190625"/>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191000"/>
            <a:ext cx="643890" cy="119062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191000"/>
            <a:ext cx="643890" cy="119062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191000"/>
            <a:ext cx="643890" cy="119062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191000"/>
            <a:ext cx="643890" cy="1190625"/>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191000"/>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191000"/>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191000"/>
            <a:ext cx="643890" cy="119062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191000"/>
            <a:ext cx="643890" cy="119062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191000"/>
            <a:ext cx="643890" cy="119062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191000"/>
            <a:ext cx="643890" cy="1190625"/>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191000"/>
            <a:ext cx="643890" cy="119062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191000"/>
            <a:ext cx="643890" cy="119062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538162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Triple Wall</a:t>
            </a:r>
          </a:p>
        </p:txBody>
      </p:sp>
      <p:sp>
        <p:nvSpPr>
          <p:cNvPr id="65" name="Rectangle 64"/>
          <p:cNvSpPr/>
          <p:nvPr/>
        </p:nvSpPr>
        <p:spPr>
          <a:xfrm>
            <a:off x="185737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5381625"/>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5381625"/>
            <a:ext cx="643890" cy="1190625"/>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538162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5381625"/>
            <a:ext cx="643890" cy="119062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5381625"/>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5381625"/>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5381625"/>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538162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538162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538162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11687175" y="297180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683521"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Value, By Board Construction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Board Construction,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Growth,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extLst>
                    <a:ext uri="{9D8B030D-6E8A-4147-A177-3AD203B41FA5}">
                      <a16:colId xmlns:a16="http://schemas.microsoft.com/office/drawing/2014/main" val="20000"/>
                    </a:ext>
                  </a:extLst>
                </a:gridCol>
                <a:gridCol w="689251">
                  <a:extLst>
                    <a:ext uri="{9D8B030D-6E8A-4147-A177-3AD203B41FA5}">
                      <a16:colId xmlns:a16="http://schemas.microsoft.com/office/drawing/2014/main" val="20001"/>
                    </a:ext>
                  </a:extLst>
                </a:gridCol>
                <a:gridCol w="689251">
                  <a:extLst>
                    <a:ext uri="{9D8B030D-6E8A-4147-A177-3AD203B41FA5}">
                      <a16:colId xmlns:a16="http://schemas.microsoft.com/office/drawing/2014/main" val="20002"/>
                    </a:ext>
                  </a:extLst>
                </a:gridCol>
                <a:gridCol w="689251">
                  <a:extLst>
                    <a:ext uri="{9D8B030D-6E8A-4147-A177-3AD203B41FA5}">
                      <a16:colId xmlns:a16="http://schemas.microsoft.com/office/drawing/2014/main" val="20003"/>
                    </a:ext>
                  </a:extLst>
                </a:gridCol>
                <a:gridCol w="689251">
                  <a:extLst>
                    <a:ext uri="{9D8B030D-6E8A-4147-A177-3AD203B41FA5}">
                      <a16:colId xmlns:a16="http://schemas.microsoft.com/office/drawing/2014/main" val="20004"/>
                    </a:ext>
                  </a:extLst>
                </a:gridCol>
                <a:gridCol w="689251">
                  <a:extLst>
                    <a:ext uri="{9D8B030D-6E8A-4147-A177-3AD203B41FA5}">
                      <a16:colId xmlns:a16="http://schemas.microsoft.com/office/drawing/2014/main" val="20005"/>
                    </a:ext>
                  </a:extLst>
                </a:gridCol>
                <a:gridCol w="689251">
                  <a:extLst>
                    <a:ext uri="{9D8B030D-6E8A-4147-A177-3AD203B41FA5}">
                      <a16:colId xmlns:a16="http://schemas.microsoft.com/office/drawing/2014/main" val="20006"/>
                    </a:ext>
                  </a:extLst>
                </a:gridCol>
                <a:gridCol w="689251">
                  <a:extLst>
                    <a:ext uri="{9D8B030D-6E8A-4147-A177-3AD203B41FA5}">
                      <a16:colId xmlns:a16="http://schemas.microsoft.com/office/drawing/2014/main" val="20007"/>
                    </a:ext>
                  </a:extLst>
                </a:gridCol>
                <a:gridCol w="689251">
                  <a:extLst>
                    <a:ext uri="{9D8B030D-6E8A-4147-A177-3AD203B41FA5}">
                      <a16:colId xmlns:a16="http://schemas.microsoft.com/office/drawing/2014/main" val="20008"/>
                    </a:ext>
                  </a:extLst>
                </a:gridCol>
                <a:gridCol w="689251">
                  <a:extLst>
                    <a:ext uri="{9D8B030D-6E8A-4147-A177-3AD203B41FA5}">
                      <a16:colId xmlns:a16="http://schemas.microsoft.com/office/drawing/2014/main" val="20009"/>
                    </a:ext>
                  </a:extLst>
                </a:gridCol>
                <a:gridCol w="689251">
                  <a:extLst>
                    <a:ext uri="{9D8B030D-6E8A-4147-A177-3AD203B41FA5}">
                      <a16:colId xmlns:a16="http://schemas.microsoft.com/office/drawing/2014/main" val="20010"/>
                    </a:ext>
                  </a:extLst>
                </a:gridCol>
                <a:gridCol w="689251">
                  <a:extLst>
                    <a:ext uri="{9D8B030D-6E8A-4147-A177-3AD203B41FA5}">
                      <a16:colId xmlns:a16="http://schemas.microsoft.com/office/drawing/2014/main" val="20011"/>
                    </a:ext>
                  </a:extLst>
                </a:gridCol>
                <a:gridCol w="689251">
                  <a:extLst>
                    <a:ext uri="{9D8B030D-6E8A-4147-A177-3AD203B41FA5}">
                      <a16:colId xmlns:a16="http://schemas.microsoft.com/office/drawing/2014/main" val="20012"/>
                    </a:ext>
                  </a:extLst>
                </a:gridCol>
                <a:gridCol w="689251">
                  <a:extLst>
                    <a:ext uri="{9D8B030D-6E8A-4147-A177-3AD203B41FA5}">
                      <a16:colId xmlns:a16="http://schemas.microsoft.com/office/drawing/2014/main" val="20013"/>
                    </a:ext>
                  </a:extLst>
                </a:gridCol>
                <a:gridCol w="689251">
                  <a:extLst>
                    <a:ext uri="{9D8B030D-6E8A-4147-A177-3AD203B41FA5}">
                      <a16:colId xmlns:a16="http://schemas.microsoft.com/office/drawing/2014/main" val="20014"/>
                    </a:ext>
                  </a:extLst>
                </a:gridCol>
                <a:gridCol w="6892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Heatmap, By Board Construction (%)  ·  light = lower, dark = higher growth</a:t>
            </a:r>
          </a:p>
        </p:txBody>
      </p:sp>
      <p:sp>
        <p:nvSpPr>
          <p:cNvPr id="17" name="TextBox 16"/>
          <p:cNvSpPr txBox="1"/>
          <p:nvPr/>
        </p:nvSpPr>
        <p:spPr>
          <a:xfrm>
            <a:off x="18573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Single Wall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000375"/>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000375"/>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191000"/>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Double Wall</a:t>
            </a:r>
          </a:p>
        </p:txBody>
      </p:sp>
      <p:sp>
        <p:nvSpPr>
          <p:cNvPr id="49" name="Rectangle 48"/>
          <p:cNvSpPr/>
          <p:nvPr/>
        </p:nvSpPr>
        <p:spPr>
          <a:xfrm>
            <a:off x="1857375" y="4191000"/>
            <a:ext cx="643890" cy="119062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191000"/>
            <a:ext cx="643890" cy="1190625"/>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191000"/>
            <a:ext cx="643890" cy="1190625"/>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191000"/>
            <a:ext cx="643890" cy="119062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191000"/>
            <a:ext cx="643890" cy="1190625"/>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191000"/>
            <a:ext cx="643890" cy="119062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191000"/>
            <a:ext cx="643890" cy="1190625"/>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191000"/>
            <a:ext cx="643890" cy="1190625"/>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191000"/>
            <a:ext cx="643890" cy="1190625"/>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191000"/>
            <a:ext cx="643890" cy="1190625"/>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191000"/>
            <a:ext cx="643890" cy="1190625"/>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191000"/>
            <a:ext cx="643890" cy="1190625"/>
          </a:xfrm>
          <a:prstGeom prst="rect">
            <a:avLst/>
          </a:prstGeom>
          <a:solidFill>
            <a:srgbClr val="0D5D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191000"/>
            <a:ext cx="643890" cy="1190625"/>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191000"/>
            <a:ext cx="643890" cy="1190625"/>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191000"/>
            <a:ext cx="643890" cy="1190625"/>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5381625"/>
            <a:ext cx="1590675" cy="1190625"/>
          </a:xfrm>
          <a:prstGeom prst="rect">
            <a:avLst/>
          </a:prstGeom>
          <a:noFill/>
        </p:spPr>
        <p:txBody>
          <a:bodyPr wrap="square" lIns="28575" tIns="9525" rIns="28575" bIns="9525" anchor="ctr">
            <a:spAutoFit/>
          </a:bodyPr>
          <a:lstStyle/>
          <a:p>
            <a:pPr algn="l"/>
            <a:r>
              <a:rPr sz="1100" b="0">
                <a:solidFill>
                  <a:srgbClr val="2E2E2E"/>
                </a:solidFill>
                <a:latin typeface="Calibri"/>
              </a:rPr>
              <a:t>Triple Wall</a:t>
            </a:r>
          </a:p>
        </p:txBody>
      </p:sp>
      <p:sp>
        <p:nvSpPr>
          <p:cNvPr id="65" name="Rectangle 64"/>
          <p:cNvSpPr/>
          <p:nvPr/>
        </p:nvSpPr>
        <p:spPr>
          <a:xfrm>
            <a:off x="1857375" y="5381625"/>
            <a:ext cx="643890" cy="1190625"/>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5381625"/>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5381625"/>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5381625"/>
            <a:ext cx="643890" cy="1190625"/>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5381625"/>
            <a:ext cx="643890" cy="119062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538162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5381625"/>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538162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538162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538162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5381625"/>
            <a:ext cx="643890" cy="119062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11687175" y="297180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683521"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Material Source</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Material Source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Material Source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2 sub-segments of Material Source,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Material Source segment categorizes the market by material source.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Virgin Kraft Fibre-based</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6962775"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Recycled Fibre-based</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457200" y="4219912"/>
            <a:ext cx="2971800" cy="2117429"/>
          </a:xfrm>
          <a:prstGeom prst="rect">
            <a:avLst/>
          </a:prstGeom>
          <a:noFill/>
        </p:spPr>
        <p:txBody>
          <a:bodyPr wrap="square" lIns="28575" tIns="9525" rIns="28575" bIns="9525">
            <a:spAutoFit/>
          </a:bodyPr>
          <a:lstStyle/>
          <a:p>
            <a:pPr algn="l">
              <a:lnSpc>
                <a:spcPct val="105000"/>
              </a:lnSpc>
              <a:spcBef>
                <a:spcPts val="0"/>
              </a:spcBef>
              <a:spcAft>
                <a:spcPts val="300"/>
              </a:spcAft>
            </a:pPr>
            <a:endParaRPr/>
          </a:p>
          <a:p>
            <a:pPr algn="l">
              <a:lnSpc>
                <a:spcPct val="105000"/>
              </a:lnSpc>
              <a:spcBef>
                <a:spcPts val="0"/>
              </a:spcBef>
              <a:spcAft>
                <a:spcPts val="300"/>
              </a:spcAft>
            </a:pPr>
            <a:endParaRP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Source split shows how demand is distributed across material source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0" name="Picture 49" descr="840_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_244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0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215_9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328_0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3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4786" cy="179984"/>
          </a:xfrm>
          <a:prstGeom prst="rect">
            <a:avLst/>
          </a:prstGeom>
          <a:noFill/>
        </p:spPr>
        <p:txBody>
          <a:bodyPr wrap="none" lIns="0" tIns="0" rIns="0" bIns="0">
            <a:spAutoFit/>
          </a:bodyPr>
          <a:lstStyle/>
          <a:p>
            <a:r>
              <a:rPr sz="1055" b="0">
                <a:solidFill>
                  <a:srgbClr val="2E2E2E"/>
                </a:solidFill>
                <a:latin typeface="Calibri"/>
              </a:rPr>
              <a:t>▪ ¶ Among corrugated partition by material source,</a:t>
            </a:r>
          </a:p>
        </p:txBody>
      </p:sp>
      <p:sp>
        <p:nvSpPr>
          <p:cNvPr id="59" name="TextBox 58"/>
          <p:cNvSpPr txBox="1"/>
          <p:nvPr/>
        </p:nvSpPr>
        <p:spPr>
          <a:xfrm>
            <a:off x="485775" y="4390371"/>
            <a:ext cx="2742461" cy="179984"/>
          </a:xfrm>
          <a:prstGeom prst="rect">
            <a:avLst/>
          </a:prstGeom>
          <a:noFill/>
        </p:spPr>
        <p:txBody>
          <a:bodyPr wrap="none" lIns="0" tIns="0" rIns="0" bIns="0">
            <a:spAutoFit/>
          </a:bodyPr>
          <a:lstStyle/>
          <a:p>
            <a:r>
              <a:rPr sz="1055" b="0">
                <a:solidFill>
                  <a:srgbClr val="2E2E2E"/>
                </a:solidFill>
                <a:latin typeface="Calibri"/>
              </a:rPr>
              <a:t>recycled fibre-based (testliner/recycled medium)</a:t>
            </a:r>
          </a:p>
        </p:txBody>
      </p:sp>
      <p:sp>
        <p:nvSpPr>
          <p:cNvPr id="60" name="TextBox 59"/>
          <p:cNvSpPr txBox="1"/>
          <p:nvPr/>
        </p:nvSpPr>
        <p:spPr>
          <a:xfrm>
            <a:off x="485775" y="4551305"/>
            <a:ext cx="2904846" cy="179984"/>
          </a:xfrm>
          <a:prstGeom prst="rect">
            <a:avLst/>
          </a:prstGeom>
          <a:noFill/>
        </p:spPr>
        <p:txBody>
          <a:bodyPr wrap="none" lIns="0" tIns="0" rIns="0" bIns="0">
            <a:spAutoFit/>
          </a:bodyPr>
          <a:lstStyle/>
          <a:p>
            <a:r>
              <a:rPr sz="1055" b="0">
                <a:solidFill>
                  <a:srgbClr val="2E2E2E"/>
                </a:solidFill>
                <a:latin typeface="Calibri"/>
              </a:rPr>
              <a:t>segment is expected to witness the highest CAGR of</a:t>
            </a:r>
          </a:p>
        </p:txBody>
      </p:sp>
      <p:pic>
        <p:nvPicPr>
          <p:cNvPr id="61" name="Picture 60" descr="lock.png"/>
          <p:cNvPicPr>
            <a:picLocks noChangeAspect="1"/>
          </p:cNvPicPr>
          <p:nvPr/>
        </p:nvPicPr>
        <p:blipFill>
          <a:blip r:embed="rId10"/>
          <a:stretch>
            <a:fillRect/>
          </a:stretch>
        </p:blipFill>
        <p:spPr>
          <a:xfrm>
            <a:off x="472846" y="4702852"/>
            <a:ext cx="123551" cy="179710"/>
          </a:xfrm>
          <a:prstGeom prst="rect">
            <a:avLst/>
          </a:prstGeom>
        </p:spPr>
      </p:pic>
      <p:sp>
        <p:nvSpPr>
          <p:cNvPr id="62" name="TextBox 61"/>
          <p:cNvSpPr txBox="1"/>
          <p:nvPr/>
        </p:nvSpPr>
        <p:spPr>
          <a:xfrm>
            <a:off x="633642" y="4712240"/>
            <a:ext cx="2707886" cy="179984"/>
          </a:xfrm>
          <a:prstGeom prst="rect">
            <a:avLst/>
          </a:prstGeom>
          <a:noFill/>
        </p:spPr>
        <p:txBody>
          <a:bodyPr wrap="none" lIns="0" tIns="0" rIns="0" bIns="0">
            <a:spAutoFit/>
          </a:bodyPr>
          <a:lstStyle/>
          <a:p>
            <a:r>
              <a:rPr sz="1055" b="0">
                <a:solidFill>
                  <a:srgbClr val="2E2E2E"/>
                </a:solidFill>
                <a:latin typeface="Calibri"/>
              </a:rPr>
              <a:t>over the forecast period. In terms of value share</a:t>
            </a:r>
          </a:p>
        </p:txBody>
      </p:sp>
      <p:sp>
        <p:nvSpPr>
          <p:cNvPr id="63" name="TextBox 62"/>
          <p:cNvSpPr txBox="1"/>
          <p:nvPr/>
        </p:nvSpPr>
        <p:spPr>
          <a:xfrm>
            <a:off x="485775" y="4873174"/>
            <a:ext cx="2607825" cy="179984"/>
          </a:xfrm>
          <a:prstGeom prst="rect">
            <a:avLst/>
          </a:prstGeom>
          <a:noFill/>
        </p:spPr>
        <p:txBody>
          <a:bodyPr wrap="none" lIns="0" tIns="0" rIns="0" bIns="0">
            <a:spAutoFit/>
          </a:bodyPr>
          <a:lstStyle/>
          <a:p>
            <a:r>
              <a:rPr sz="1055" b="0">
                <a:solidFill>
                  <a:srgbClr val="2E2E2E"/>
                </a:solidFill>
                <a:latin typeface="Calibri"/>
              </a:rPr>
              <a:t>by material source, the virgin kraft fibre-based</a:t>
            </a:r>
          </a:p>
        </p:txBody>
      </p:sp>
      <p:sp>
        <p:nvSpPr>
          <p:cNvPr id="64" name="TextBox 63"/>
          <p:cNvSpPr txBox="1"/>
          <p:nvPr/>
        </p:nvSpPr>
        <p:spPr>
          <a:xfrm>
            <a:off x="485775" y="5034109"/>
            <a:ext cx="2912197" cy="179984"/>
          </a:xfrm>
          <a:prstGeom prst="rect">
            <a:avLst/>
          </a:prstGeom>
          <a:noFill/>
        </p:spPr>
        <p:txBody>
          <a:bodyPr wrap="none" lIns="0" tIns="0" rIns="0" bIns="0">
            <a:spAutoFit/>
          </a:bodyPr>
          <a:lstStyle/>
          <a:p>
            <a:r>
              <a:rPr sz="1055" b="0">
                <a:solidFill>
                  <a:srgbClr val="2E2E2E"/>
                </a:solidFill>
                <a:latin typeface="Calibri"/>
              </a:rPr>
              <a:t>segment is expected to dominate the market, losing</a:t>
            </a:r>
          </a:p>
        </p:txBody>
      </p:sp>
      <p:pic>
        <p:nvPicPr>
          <p:cNvPr id="65" name="Picture 64" descr="lock.png"/>
          <p:cNvPicPr>
            <a:picLocks noChangeAspect="1"/>
          </p:cNvPicPr>
          <p:nvPr/>
        </p:nvPicPr>
        <p:blipFill>
          <a:blip r:embed="rId10"/>
          <a:stretch>
            <a:fillRect/>
          </a:stretch>
        </p:blipFill>
        <p:spPr>
          <a:xfrm>
            <a:off x="472846" y="5185655"/>
            <a:ext cx="123551" cy="179710"/>
          </a:xfrm>
          <a:prstGeom prst="rect">
            <a:avLst/>
          </a:prstGeom>
        </p:spPr>
      </p:pic>
      <p:sp>
        <p:nvSpPr>
          <p:cNvPr id="66" name="TextBox 65"/>
          <p:cNvSpPr txBox="1"/>
          <p:nvPr/>
        </p:nvSpPr>
        <p:spPr>
          <a:xfrm>
            <a:off x="633642" y="5195043"/>
            <a:ext cx="1334023" cy="179984"/>
          </a:xfrm>
          <a:prstGeom prst="rect">
            <a:avLst/>
          </a:prstGeom>
          <a:noFill/>
        </p:spPr>
        <p:txBody>
          <a:bodyPr wrap="none" lIns="0" tIns="0" rIns="0" bIns="0">
            <a:spAutoFit/>
          </a:bodyPr>
          <a:lstStyle/>
          <a:p>
            <a:r>
              <a:rPr sz="1055" b="0">
                <a:solidFill>
                  <a:srgbClr val="2E2E2E"/>
                </a:solidFill>
                <a:latin typeface="Calibri"/>
              </a:rPr>
              <a:t>BPS and accounting for</a:t>
            </a:r>
          </a:p>
        </p:txBody>
      </p:sp>
      <p:pic>
        <p:nvPicPr>
          <p:cNvPr id="67" name="Picture 66" descr="lock.png"/>
          <p:cNvPicPr>
            <a:picLocks noChangeAspect="1"/>
          </p:cNvPicPr>
          <p:nvPr/>
        </p:nvPicPr>
        <p:blipFill>
          <a:blip r:embed="rId10"/>
          <a:stretch>
            <a:fillRect/>
          </a:stretch>
        </p:blipFill>
        <p:spPr>
          <a:xfrm>
            <a:off x="1914747" y="5185655"/>
            <a:ext cx="123551" cy="179710"/>
          </a:xfrm>
          <a:prstGeom prst="rect">
            <a:avLst/>
          </a:prstGeom>
        </p:spPr>
      </p:pic>
      <p:sp>
        <p:nvSpPr>
          <p:cNvPr id="68" name="TextBox 67"/>
          <p:cNvSpPr txBox="1"/>
          <p:nvPr/>
        </p:nvSpPr>
        <p:spPr>
          <a:xfrm>
            <a:off x="2075543" y="5195043"/>
            <a:ext cx="875109" cy="179984"/>
          </a:xfrm>
          <a:prstGeom prst="rect">
            <a:avLst/>
          </a:prstGeom>
          <a:noFill/>
        </p:spPr>
        <p:txBody>
          <a:bodyPr wrap="none" lIns="0" tIns="0" rIns="0" bIns="0">
            <a:spAutoFit/>
          </a:bodyPr>
          <a:lstStyle/>
          <a:p>
            <a:r>
              <a:rPr sz="1055" b="0">
                <a:solidFill>
                  <a:srgbClr val="2E2E2E"/>
                </a:solidFill>
                <a:latin typeface="Calibri"/>
              </a:rPr>
              <a:t>share by 2036.</a:t>
            </a:r>
          </a:p>
        </p:txBody>
      </p:sp>
      <p:sp>
        <p:nvSpPr>
          <p:cNvPr id="69" name="TextBox 68"/>
          <p:cNvSpPr txBox="1"/>
          <p:nvPr/>
        </p:nvSpPr>
        <p:spPr>
          <a:xfrm>
            <a:off x="485775" y="5404258"/>
            <a:ext cx="2840164" cy="179984"/>
          </a:xfrm>
          <a:prstGeom prst="rect">
            <a:avLst/>
          </a:prstGeom>
          <a:noFill/>
        </p:spPr>
        <p:txBody>
          <a:bodyPr wrap="none" lIns="0" tIns="0" rIns="0" bIns="0">
            <a:spAutoFit/>
          </a:bodyPr>
          <a:lstStyle/>
          <a:p>
            <a:r>
              <a:rPr sz="1055" b="0">
                <a:solidFill>
                  <a:srgbClr val="2E2E2E"/>
                </a:solidFill>
                <a:latin typeface="Calibri"/>
              </a:rPr>
              <a:t>▪ ¶ Virgin kraft fibre-based segment is projected to</a:t>
            </a:r>
          </a:p>
        </p:txBody>
      </p:sp>
      <p:sp>
        <p:nvSpPr>
          <p:cNvPr id="70" name="TextBox 69"/>
          <p:cNvSpPr txBox="1"/>
          <p:nvPr/>
        </p:nvSpPr>
        <p:spPr>
          <a:xfrm>
            <a:off x="485775" y="5565192"/>
            <a:ext cx="495038" cy="179984"/>
          </a:xfrm>
          <a:prstGeom prst="rect">
            <a:avLst/>
          </a:prstGeom>
          <a:noFill/>
        </p:spPr>
        <p:txBody>
          <a:bodyPr wrap="none" lIns="0" tIns="0" rIns="0" bIns="0">
            <a:spAutoFit/>
          </a:bodyPr>
          <a:lstStyle/>
          <a:p>
            <a:r>
              <a:rPr sz="1055" b="0">
                <a:solidFill>
                  <a:srgbClr val="2E2E2E"/>
                </a:solidFill>
                <a:latin typeface="Calibri"/>
              </a:rPr>
              <a:t>register</a:t>
            </a:r>
          </a:p>
        </p:txBody>
      </p:sp>
      <p:pic>
        <p:nvPicPr>
          <p:cNvPr id="71" name="Picture 70" descr="lock.png"/>
          <p:cNvPicPr>
            <a:picLocks noChangeAspect="1"/>
          </p:cNvPicPr>
          <p:nvPr/>
        </p:nvPicPr>
        <p:blipFill>
          <a:blip r:embed="rId10"/>
          <a:stretch>
            <a:fillRect/>
          </a:stretch>
        </p:blipFill>
        <p:spPr>
          <a:xfrm>
            <a:off x="927894" y="5555804"/>
            <a:ext cx="123551" cy="179710"/>
          </a:xfrm>
          <a:prstGeom prst="rect">
            <a:avLst/>
          </a:prstGeom>
        </p:spPr>
      </p:pic>
      <p:sp>
        <p:nvSpPr>
          <p:cNvPr id="72" name="TextBox 71"/>
          <p:cNvSpPr txBox="1"/>
          <p:nvPr/>
        </p:nvSpPr>
        <p:spPr>
          <a:xfrm>
            <a:off x="1088690" y="5565192"/>
            <a:ext cx="2267045" cy="179984"/>
          </a:xfrm>
          <a:prstGeom prst="rect">
            <a:avLst/>
          </a:prstGeom>
          <a:noFill/>
        </p:spPr>
        <p:txBody>
          <a:bodyPr wrap="none" lIns="0" tIns="0" rIns="0" bIns="0">
            <a:spAutoFit/>
          </a:bodyPr>
          <a:lstStyle/>
          <a:p>
            <a:r>
              <a:rPr sz="1055" b="0">
                <a:solidFill>
                  <a:srgbClr val="2E2E2E"/>
                </a:solidFill>
                <a:latin typeface="Calibri"/>
              </a:rPr>
              <a:t>X higher value than recycled fibre-based</a:t>
            </a:r>
          </a:p>
        </p:txBody>
      </p:sp>
      <p:sp>
        <p:nvSpPr>
          <p:cNvPr id="73" name="TextBox 72"/>
          <p:cNvSpPr txBox="1"/>
          <p:nvPr/>
        </p:nvSpPr>
        <p:spPr>
          <a:xfrm>
            <a:off x="485775" y="5726126"/>
            <a:ext cx="2574559" cy="179984"/>
          </a:xfrm>
          <a:prstGeom prst="rect">
            <a:avLst/>
          </a:prstGeom>
          <a:noFill/>
        </p:spPr>
        <p:txBody>
          <a:bodyPr wrap="none" lIns="0" tIns="0" rIns="0" bIns="0">
            <a:spAutoFit/>
          </a:bodyPr>
          <a:lstStyle/>
          <a:p>
            <a:r>
              <a:rPr sz="1055" b="0">
                <a:solidFill>
                  <a:srgbClr val="2E2E2E"/>
                </a:solidFill>
                <a:latin typeface="Calibri"/>
              </a:rPr>
              <a:t>(testliner/recycled medium) segment in 2036.</a:t>
            </a:r>
          </a:p>
        </p:txBody>
      </p:sp>
      <p:sp>
        <p:nvSpPr>
          <p:cNvPr id="74" name="TextBox 73"/>
          <p:cNvSpPr txBox="1"/>
          <p:nvPr/>
        </p:nvSpPr>
        <p:spPr>
          <a:xfrm>
            <a:off x="3838575" y="4229437"/>
            <a:ext cx="1571119" cy="186689"/>
          </a:xfrm>
          <a:prstGeom prst="rect">
            <a:avLst/>
          </a:prstGeom>
          <a:noFill/>
        </p:spPr>
        <p:txBody>
          <a:bodyPr wrap="none" lIns="0" tIns="0" rIns="0" bIns="0">
            <a:spAutoFit/>
          </a:bodyPr>
          <a:lstStyle/>
          <a:p>
            <a:r>
              <a:rPr sz="1100" b="0">
                <a:solidFill>
                  <a:srgbClr val="2E2E2E"/>
                </a:solidFill>
                <a:latin typeface="Calibri"/>
              </a:rPr>
              <a:t>● Virgin Kraft Fibre-based:</a:t>
            </a:r>
          </a:p>
        </p:txBody>
      </p:sp>
      <p:pic>
        <p:nvPicPr>
          <p:cNvPr id="75" name="Picture 74" descr="lock.png"/>
          <p:cNvPicPr>
            <a:picLocks noChangeAspect="1"/>
          </p:cNvPicPr>
          <p:nvPr/>
        </p:nvPicPr>
        <p:blipFill>
          <a:blip r:embed="rId10"/>
          <a:stretch>
            <a:fillRect/>
          </a:stretch>
        </p:blipFill>
        <p:spPr>
          <a:xfrm>
            <a:off x="5357746" y="4219658"/>
            <a:ext cx="128699" cy="187198"/>
          </a:xfrm>
          <a:prstGeom prst="rect">
            <a:avLst/>
          </a:prstGeom>
        </p:spPr>
      </p:pic>
      <p:sp>
        <p:nvSpPr>
          <p:cNvPr id="76" name="TextBox 75"/>
          <p:cNvSpPr txBox="1"/>
          <p:nvPr/>
        </p:nvSpPr>
        <p:spPr>
          <a:xfrm>
            <a:off x="5525242"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0"/>
          <a:stretch>
            <a:fillRect/>
          </a:stretch>
        </p:blipFill>
        <p:spPr>
          <a:xfrm>
            <a:off x="6384692" y="4219658"/>
            <a:ext cx="128699" cy="187198"/>
          </a:xfrm>
          <a:prstGeom prst="rect">
            <a:avLst/>
          </a:prstGeom>
        </p:spPr>
      </p:pic>
      <p:sp>
        <p:nvSpPr>
          <p:cNvPr id="78" name="TextBox 77"/>
          <p:cNvSpPr txBox="1"/>
          <p:nvPr/>
        </p:nvSpPr>
        <p:spPr>
          <a:xfrm>
            <a:off x="6552188" y="4229437"/>
            <a:ext cx="945215" cy="186689"/>
          </a:xfrm>
          <a:prstGeom prst="rect">
            <a:avLst/>
          </a:prstGeom>
          <a:noFill/>
        </p:spPr>
        <p:txBody>
          <a:bodyPr wrap="none" lIns="0" tIns="0" rIns="0" bIns="0">
            <a:spAutoFit/>
          </a:bodyPr>
          <a:lstStyle/>
          <a:p>
            <a:r>
              <a:rPr sz="1100" b="0">
                <a:solidFill>
                  <a:srgbClr val="2E2E2E"/>
                </a:solidFill>
                <a:latin typeface="Calibri"/>
              </a:rPr>
              <a:t>CAGR leads the</a:t>
            </a:r>
          </a:p>
        </p:txBody>
      </p:sp>
      <p:sp>
        <p:nvSpPr>
          <p:cNvPr id="79" name="TextBox 78"/>
          <p:cNvSpPr txBox="1"/>
          <p:nvPr/>
        </p:nvSpPr>
        <p:spPr>
          <a:xfrm>
            <a:off x="3838575" y="4397077"/>
            <a:ext cx="602803" cy="186689"/>
          </a:xfrm>
          <a:prstGeom prst="rect">
            <a:avLst/>
          </a:prstGeom>
          <a:noFill/>
        </p:spPr>
        <p:txBody>
          <a:bodyPr wrap="none" lIns="0" tIns="0" rIns="0" bIns="0">
            <a:spAutoFit/>
          </a:bodyPr>
          <a:lstStyle/>
          <a:p>
            <a:r>
              <a:rPr sz="1100" b="0">
                <a:solidFill>
                  <a:srgbClr val="2E2E2E"/>
                </a:solidFill>
                <a:latin typeface="Calibri"/>
              </a:rPr>
              <a:t>segment.</a:t>
            </a:r>
          </a:p>
        </p:txBody>
      </p:sp>
      <p:sp>
        <p:nvSpPr>
          <p:cNvPr id="80" name="TextBox 79"/>
          <p:cNvSpPr txBox="1"/>
          <p:nvPr/>
        </p:nvSpPr>
        <p:spPr>
          <a:xfrm>
            <a:off x="3838575" y="4615009"/>
            <a:ext cx="3118767" cy="186689"/>
          </a:xfrm>
          <a:prstGeom prst="rect">
            <a:avLst/>
          </a:prstGeom>
          <a:noFill/>
        </p:spPr>
        <p:txBody>
          <a:bodyPr wrap="none" lIns="0" tIns="0" rIns="0" bIns="0">
            <a:spAutoFit/>
          </a:bodyPr>
          <a:lstStyle/>
          <a:p>
            <a:r>
              <a:rPr sz="1100" b="1">
                <a:solidFill>
                  <a:srgbClr val="0E72AE"/>
                </a:solidFill>
                <a:latin typeface="Calibri"/>
              </a:rPr>
              <a:t>● Recycled Fibre-based (testliner/recycled medium):</a:t>
            </a:r>
          </a:p>
        </p:txBody>
      </p:sp>
      <p:pic>
        <p:nvPicPr>
          <p:cNvPr id="81" name="Picture 80" descr="lock.png"/>
          <p:cNvPicPr>
            <a:picLocks noChangeAspect="1"/>
          </p:cNvPicPr>
          <p:nvPr/>
        </p:nvPicPr>
        <p:blipFill>
          <a:blip r:embed="rId10"/>
          <a:stretch>
            <a:fillRect/>
          </a:stretch>
        </p:blipFill>
        <p:spPr>
          <a:xfrm>
            <a:off x="6905394" y="4605230"/>
            <a:ext cx="128699" cy="187198"/>
          </a:xfrm>
          <a:prstGeom prst="rect">
            <a:avLst/>
          </a:prstGeom>
        </p:spPr>
      </p:pic>
      <p:sp>
        <p:nvSpPr>
          <p:cNvPr id="82" name="TextBox 81"/>
          <p:cNvSpPr txBox="1"/>
          <p:nvPr/>
        </p:nvSpPr>
        <p:spPr>
          <a:xfrm>
            <a:off x="7072890" y="4615009"/>
            <a:ext cx="857374" cy="186689"/>
          </a:xfrm>
          <a:prstGeom prst="rect">
            <a:avLst/>
          </a:prstGeom>
          <a:noFill/>
        </p:spPr>
        <p:txBody>
          <a:bodyPr wrap="none" lIns="0" tIns="0" rIns="0" bIns="0">
            <a:spAutoFit/>
          </a:bodyPr>
          <a:lstStyle/>
          <a:p>
            <a:r>
              <a:rPr sz="1100" b="1">
                <a:solidFill>
                  <a:srgbClr val="0E72AE"/>
                </a:solidFill>
                <a:latin typeface="Calibri"/>
              </a:rPr>
              <a:t>of 2026 value</a:t>
            </a:r>
          </a:p>
        </p:txBody>
      </p:sp>
      <p:sp>
        <p:nvSpPr>
          <p:cNvPr id="83" name="TextBox 82"/>
          <p:cNvSpPr txBox="1"/>
          <p:nvPr/>
        </p:nvSpPr>
        <p:spPr>
          <a:xfrm>
            <a:off x="3838575" y="4782649"/>
            <a:ext cx="113580" cy="186689"/>
          </a:xfrm>
          <a:prstGeom prst="rect">
            <a:avLst/>
          </a:prstGeom>
          <a:noFill/>
        </p:spPr>
        <p:txBody>
          <a:bodyPr wrap="none" lIns="0" tIns="0" rIns="0" bIns="0">
            <a:spAutoFit/>
          </a:bodyPr>
          <a:lstStyle/>
          <a:p>
            <a:r>
              <a:rPr sz="1100" b="1">
                <a:solidFill>
                  <a:srgbClr val="0E72AE"/>
                </a:solidFill>
                <a:latin typeface="Calibri"/>
              </a:rPr>
              <a:t>·</a:t>
            </a:r>
          </a:p>
        </p:txBody>
      </p:sp>
      <p:pic>
        <p:nvPicPr>
          <p:cNvPr id="84" name="Picture 83" descr="lock.png"/>
          <p:cNvPicPr>
            <a:picLocks noChangeAspect="1"/>
          </p:cNvPicPr>
          <p:nvPr/>
        </p:nvPicPr>
        <p:blipFill>
          <a:blip r:embed="rId10"/>
          <a:stretch>
            <a:fillRect/>
          </a:stretch>
        </p:blipFill>
        <p:spPr>
          <a:xfrm>
            <a:off x="3900207" y="4772870"/>
            <a:ext cx="128699" cy="187198"/>
          </a:xfrm>
          <a:prstGeom prst="rect">
            <a:avLst/>
          </a:prstGeom>
        </p:spPr>
      </p:pic>
      <p:sp>
        <p:nvSpPr>
          <p:cNvPr id="85" name="TextBox 84"/>
          <p:cNvSpPr txBox="1"/>
          <p:nvPr/>
        </p:nvSpPr>
        <p:spPr>
          <a:xfrm>
            <a:off x="4067703" y="4782649"/>
            <a:ext cx="1245889" cy="186689"/>
          </a:xfrm>
          <a:prstGeom prst="rect">
            <a:avLst/>
          </a:prstGeom>
          <a:noFill/>
        </p:spPr>
        <p:txBody>
          <a:bodyPr wrap="none" lIns="0" tIns="0" rIns="0" bIns="0">
            <a:spAutoFit/>
          </a:bodyPr>
          <a:lstStyle/>
          <a:p>
            <a:r>
              <a:rPr sz="1100" b="1">
                <a:solidFill>
                  <a:srgbClr val="0E72AE"/>
                </a:solidFill>
                <a:latin typeface="Calibri"/>
              </a:rPr>
              <a:t>CAGR grows fastest.</a:t>
            </a:r>
          </a:p>
        </p:txBody>
      </p:sp>
      <p:sp>
        <p:nvSpPr>
          <p:cNvPr id="86" name="TextBox 85"/>
          <p:cNvSpPr txBox="1"/>
          <p:nvPr/>
        </p:nvSpPr>
        <p:spPr>
          <a:xfrm>
            <a:off x="8524875" y="5842641"/>
            <a:ext cx="3103599" cy="194310"/>
          </a:xfrm>
          <a:prstGeom prst="rect">
            <a:avLst/>
          </a:prstGeom>
          <a:noFill/>
        </p:spPr>
        <p:txBody>
          <a:bodyPr wrap="none" lIns="0" tIns="0" rIns="0" bIns="0">
            <a:spAutoFit/>
          </a:bodyPr>
          <a:lstStyle/>
          <a:p>
            <a:r>
              <a:rPr sz="1150" b="1">
                <a:solidFill>
                  <a:srgbClr val="0B2E4A"/>
                </a:solidFill>
                <a:latin typeface="Calibri"/>
              </a:rPr>
              <a:t>The Material Source segment is projected to grow</a:t>
            </a:r>
          </a:p>
        </p:txBody>
      </p:sp>
      <p:sp>
        <p:nvSpPr>
          <p:cNvPr id="87" name="TextBox 86"/>
          <p:cNvSpPr txBox="1"/>
          <p:nvPr/>
        </p:nvSpPr>
        <p:spPr>
          <a:xfrm>
            <a:off x="8524875" y="6017901"/>
            <a:ext cx="836089" cy="194310"/>
          </a:xfrm>
          <a:prstGeom prst="rect">
            <a:avLst/>
          </a:prstGeom>
          <a:noFill/>
        </p:spPr>
        <p:txBody>
          <a:bodyPr wrap="none" lIns="0" tIns="0" rIns="0" bIns="0">
            <a:spAutoFit/>
          </a:bodyPr>
          <a:lstStyle/>
          <a:p>
            <a:r>
              <a:rPr sz="1150" b="1">
                <a:solidFill>
                  <a:srgbClr val="0B2E4A"/>
                </a:solidFill>
                <a:latin typeface="Calibri"/>
              </a:rPr>
              <a:t>at a CAGR of</a:t>
            </a:r>
          </a:p>
        </p:txBody>
      </p:sp>
      <p:pic>
        <p:nvPicPr>
          <p:cNvPr id="88" name="Picture 87" descr="lock.png"/>
          <p:cNvPicPr>
            <a:picLocks noChangeAspect="1"/>
          </p:cNvPicPr>
          <p:nvPr/>
        </p:nvPicPr>
        <p:blipFill>
          <a:blip r:embed="rId10"/>
          <a:stretch>
            <a:fillRect/>
          </a:stretch>
        </p:blipFill>
        <p:spPr>
          <a:xfrm>
            <a:off x="9310118" y="6007677"/>
            <a:ext cx="134549" cy="195707"/>
          </a:xfrm>
          <a:prstGeom prst="rect">
            <a:avLst/>
          </a:prstGeom>
        </p:spPr>
      </p:pic>
      <p:sp>
        <p:nvSpPr>
          <p:cNvPr id="89" name="TextBox 88"/>
          <p:cNvSpPr txBox="1"/>
          <p:nvPr/>
        </p:nvSpPr>
        <p:spPr>
          <a:xfrm>
            <a:off x="9485227"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Structure &amp; Attractiveness, By Material Source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Material Source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Material Source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Material Source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77650" cy="186689"/>
          </a:xfrm>
          <a:prstGeom prst="rect">
            <a:avLst/>
          </a:prstGeom>
          <a:noFill/>
        </p:spPr>
        <p:txBody>
          <a:bodyPr wrap="none" lIns="0" tIns="0" rIns="0" bIns="0">
            <a:spAutoFit/>
          </a:bodyPr>
          <a:lstStyle/>
          <a:p>
            <a:r>
              <a:rPr sz="1100" b="0">
                <a:solidFill>
                  <a:srgbClr val="2E2E2E"/>
                </a:solidFill>
                <a:latin typeface="Calibri"/>
              </a:rPr>
              <a:t>Virgin kraft fibre-based followed by recycled fibre-based (testliner/recycled medium) are expected to be the two most attractive material source segments in the North America corrugated partition market</a:t>
            </a:r>
          </a:p>
        </p:txBody>
      </p:sp>
      <p:sp>
        <p:nvSpPr>
          <p:cNvPr id="21" name="TextBox 20"/>
          <p:cNvSpPr txBox="1"/>
          <p:nvPr/>
        </p:nvSpPr>
        <p:spPr>
          <a:xfrm>
            <a:off x="257175" y="5945505"/>
            <a:ext cx="8224622" cy="186689"/>
          </a:xfrm>
          <a:prstGeom prst="rect">
            <a:avLst/>
          </a:prstGeom>
          <a:noFill/>
        </p:spPr>
        <p:txBody>
          <a:bodyPr wrap="none" lIns="0" tIns="0" rIns="0" bIns="0">
            <a:spAutoFit/>
          </a:bodyPr>
          <a:lstStyle/>
          <a:p>
            <a:r>
              <a:rPr sz="1100" b="0">
                <a:solidFill>
                  <a:srgbClr val="2E2E2E"/>
                </a:solidFill>
                <a:latin typeface="Calibri"/>
              </a:rPr>
              <a:t>in terms of value over the forecast period. Virgin kraft fibre-based and recycled fibre-based (testliner/recycled medium) exhibit a CAGR index of</a:t>
            </a:r>
          </a:p>
        </p:txBody>
      </p:sp>
      <p:pic>
        <p:nvPicPr>
          <p:cNvPr id="22" name="Picture 21" descr="lock.png"/>
          <p:cNvPicPr>
            <a:picLocks noChangeAspect="1"/>
          </p:cNvPicPr>
          <p:nvPr/>
        </p:nvPicPr>
        <p:blipFill>
          <a:blip r:embed="rId6"/>
          <a:stretch>
            <a:fillRect/>
          </a:stretch>
        </p:blipFill>
        <p:spPr>
          <a:xfrm>
            <a:off x="8429848" y="5935726"/>
            <a:ext cx="128699" cy="187198"/>
          </a:xfrm>
          <a:prstGeom prst="rect">
            <a:avLst/>
          </a:prstGeom>
        </p:spPr>
      </p:pic>
      <p:sp>
        <p:nvSpPr>
          <p:cNvPr id="23" name="TextBox 22"/>
          <p:cNvSpPr txBox="1"/>
          <p:nvPr/>
        </p:nvSpPr>
        <p:spPr>
          <a:xfrm>
            <a:off x="8597344"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835238" y="5935726"/>
            <a:ext cx="128699" cy="187198"/>
          </a:xfrm>
          <a:prstGeom prst="rect">
            <a:avLst/>
          </a:prstGeom>
        </p:spPr>
      </p:pic>
      <p:sp>
        <p:nvSpPr>
          <p:cNvPr id="25" name="TextBox 24"/>
          <p:cNvSpPr txBox="1"/>
          <p:nvPr/>
        </p:nvSpPr>
        <p:spPr>
          <a:xfrm>
            <a:off x="9002734"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0611708" y="5935726"/>
            <a:ext cx="128699" cy="187198"/>
          </a:xfrm>
          <a:prstGeom prst="rect">
            <a:avLst/>
          </a:prstGeom>
        </p:spPr>
      </p:pic>
      <p:sp>
        <p:nvSpPr>
          <p:cNvPr id="27" name="TextBox 26"/>
          <p:cNvSpPr txBox="1"/>
          <p:nvPr/>
        </p:nvSpPr>
        <p:spPr>
          <a:xfrm>
            <a:off x="10779203"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1017098" y="5935726"/>
            <a:ext cx="128699" cy="187198"/>
          </a:xfrm>
          <a:prstGeom prst="rect">
            <a:avLst/>
          </a:prstGeom>
        </p:spPr>
      </p:pic>
      <p:sp>
        <p:nvSpPr>
          <p:cNvPr id="29" name="TextBox 28"/>
          <p:cNvSpPr txBox="1"/>
          <p:nvPr/>
        </p:nvSpPr>
        <p:spPr>
          <a:xfrm>
            <a:off x="257175" y="611314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811579" y="6103366"/>
            <a:ext cx="128699" cy="187198"/>
          </a:xfrm>
          <a:prstGeom prst="rect">
            <a:avLst/>
          </a:prstGeom>
        </p:spPr>
      </p:pic>
      <p:sp>
        <p:nvSpPr>
          <p:cNvPr id="31" name="TextBox 30"/>
          <p:cNvSpPr txBox="1"/>
          <p:nvPr/>
        </p:nvSpPr>
        <p:spPr>
          <a:xfrm>
            <a:off x="2979074" y="6113145"/>
            <a:ext cx="4443717" cy="186689"/>
          </a:xfrm>
          <a:prstGeom prst="rect">
            <a:avLst/>
          </a:prstGeom>
          <a:noFill/>
        </p:spPr>
        <p:txBody>
          <a:bodyPr wrap="none" lIns="0" tIns="0" rIns="0" bIns="0">
            <a:spAutoFit/>
          </a:bodyPr>
          <a:lstStyle/>
          <a:p>
            <a:r>
              <a:rPr sz="1100" b="0">
                <a:solidFill>
                  <a:srgbClr val="2E2E2E"/>
                </a:solidFill>
                <a:latin typeface="Calibri"/>
              </a:rPr>
              <a:t>. Bubbles right of the CAGR-Index line grow faster than the segment average.</a:t>
            </a:r>
          </a:p>
        </p:txBody>
      </p:sp>
      <p:sp>
        <p:nvSpPr>
          <p:cNvPr id="32"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Analysis, By Material Source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Material Source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Virgin Kraft Fibre-based</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Recycled Fibre-based (testliner/recycled medium)</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xmlns:r="http://schemas.openxmlformats.org/officeDocument/2006/relationships" r:id="rId5"/>
          </a:graphicData>
        </a:graphic>
      </p:graphicFrame>
      <p:sp>
        <p:nvSpPr>
          <p:cNvPr id="17" name="TextBox 1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Volume Analysis, By Material Source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Material Source,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419350"/>
          </a:xfrm>
          <a:prstGeom prst="roundRect">
            <a:avLst>
              <a:gd name="adj" fmla="val 31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By Material Source (MT)</a:t>
            </a:r>
          </a:p>
        </p:txBody>
      </p:sp>
      <p:graphicFrame>
        <p:nvGraphicFramePr>
          <p:cNvPr id="13" name="Table 12"/>
          <p:cNvGraphicFramePr>
            <a:graphicFrameLocks noGrp="1"/>
          </p:cNvGraphicFramePr>
          <p:nvPr/>
        </p:nvGraphicFramePr>
        <p:xfrm>
          <a:off x="152400" y="1238250"/>
          <a:ext cx="11887208" cy="1952624"/>
        </p:xfrm>
        <a:graphic>
          <a:graphicData uri="http://schemas.openxmlformats.org/drawingml/2006/table">
            <a:tbl>
              <a:tblPr>
                <a:tableStyleId>{5C22544A-7EE6-4342-B048-85BDC9FD1C3A}</a:tableStyleId>
              </a:tblPr>
              <a:tblGrid>
                <a:gridCol w="1239860">
                  <a:extLst>
                    <a:ext uri="{9D8B030D-6E8A-4147-A177-3AD203B41FA5}">
                      <a16:colId xmlns:a16="http://schemas.microsoft.com/office/drawing/2014/main" val="20000"/>
                    </a:ext>
                  </a:extLst>
                </a:gridCol>
                <a:gridCol w="641033">
                  <a:extLst>
                    <a:ext uri="{9D8B030D-6E8A-4147-A177-3AD203B41FA5}">
                      <a16:colId xmlns:a16="http://schemas.microsoft.com/office/drawing/2014/main" val="20001"/>
                    </a:ext>
                  </a:extLst>
                </a:gridCol>
                <a:gridCol w="641033">
                  <a:extLst>
                    <a:ext uri="{9D8B030D-6E8A-4147-A177-3AD203B41FA5}">
                      <a16:colId xmlns:a16="http://schemas.microsoft.com/office/drawing/2014/main" val="20002"/>
                    </a:ext>
                  </a:extLst>
                </a:gridCol>
                <a:gridCol w="641033">
                  <a:extLst>
                    <a:ext uri="{9D8B030D-6E8A-4147-A177-3AD203B41FA5}">
                      <a16:colId xmlns:a16="http://schemas.microsoft.com/office/drawing/2014/main" val="20003"/>
                    </a:ext>
                  </a:extLst>
                </a:gridCol>
                <a:gridCol w="641033">
                  <a:extLst>
                    <a:ext uri="{9D8B030D-6E8A-4147-A177-3AD203B41FA5}">
                      <a16:colId xmlns:a16="http://schemas.microsoft.com/office/drawing/2014/main" val="20004"/>
                    </a:ext>
                  </a:extLst>
                </a:gridCol>
                <a:gridCol w="641033">
                  <a:extLst>
                    <a:ext uri="{9D8B030D-6E8A-4147-A177-3AD203B41FA5}">
                      <a16:colId xmlns:a16="http://schemas.microsoft.com/office/drawing/2014/main" val="20005"/>
                    </a:ext>
                  </a:extLst>
                </a:gridCol>
                <a:gridCol w="641033">
                  <a:extLst>
                    <a:ext uri="{9D8B030D-6E8A-4147-A177-3AD203B41FA5}">
                      <a16:colId xmlns:a16="http://schemas.microsoft.com/office/drawing/2014/main" val="20006"/>
                    </a:ext>
                  </a:extLst>
                </a:gridCol>
                <a:gridCol w="641033">
                  <a:extLst>
                    <a:ext uri="{9D8B030D-6E8A-4147-A177-3AD203B41FA5}">
                      <a16:colId xmlns:a16="http://schemas.microsoft.com/office/drawing/2014/main" val="20007"/>
                    </a:ext>
                  </a:extLst>
                </a:gridCol>
                <a:gridCol w="641033">
                  <a:extLst>
                    <a:ext uri="{9D8B030D-6E8A-4147-A177-3AD203B41FA5}">
                      <a16:colId xmlns:a16="http://schemas.microsoft.com/office/drawing/2014/main" val="20008"/>
                    </a:ext>
                  </a:extLst>
                </a:gridCol>
                <a:gridCol w="641033">
                  <a:extLst>
                    <a:ext uri="{9D8B030D-6E8A-4147-A177-3AD203B41FA5}">
                      <a16:colId xmlns:a16="http://schemas.microsoft.com/office/drawing/2014/main" val="20009"/>
                    </a:ext>
                  </a:extLst>
                </a:gridCol>
                <a:gridCol w="641033">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390820">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Material Source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568833">
                <a:tc>
                  <a:txBody>
                    <a:bodyPr/>
                    <a:lstStyle/>
                    <a:p>
                      <a:pPr algn="l"/>
                      <a:r>
                        <a:rPr sz="1100" b="1">
                          <a:solidFill>
                            <a:srgbClr val="2E2E2E"/>
                          </a:solidFill>
                          <a:latin typeface="Calibri"/>
                        </a:rPr>
                        <a:t>Virgin Kraft Fibre-</a:t>
                      </a:r>
                      <a:endParaRPr sz="1100"/>
                    </a:p>
                    <a:p>
                      <a:pPr algn="l"/>
                      <a:r>
                        <a:rPr sz="1100" b="1">
                          <a:solidFill>
                            <a:srgbClr val="2E2E2E"/>
                          </a:solidFill>
                          <a:latin typeface="Calibri"/>
                        </a:rPr>
                        <a:t>based</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568833">
                <a:tc>
                  <a:txBody>
                    <a:bodyPr/>
                    <a:lstStyle/>
                    <a:p>
                      <a:pPr algn="l"/>
                      <a:r>
                        <a:rPr sz="1100" b="1">
                          <a:solidFill>
                            <a:srgbClr val="2E2E2E"/>
                          </a:solidFill>
                          <a:latin typeface="Calibri"/>
                        </a:rPr>
                        <a:t>Recycled Fibre-</a:t>
                      </a:r>
                      <a:endParaRPr sz="1100"/>
                    </a:p>
                    <a:p>
                      <a:pPr algn="l"/>
                      <a:r>
                        <a:rPr sz="1100" b="1">
                          <a:solidFill>
                            <a:srgbClr val="2E2E2E"/>
                          </a:solidFill>
                          <a:latin typeface="Calibri"/>
                        </a:rPr>
                        <a:t>based</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376046">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32004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33775"/>
            <a:ext cx="11906250" cy="3095625"/>
          </a:xfrm>
          <a:prstGeom prst="roundRect">
            <a:avLst>
              <a:gd name="adj" fmla="val 24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619500"/>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Volume Analysis, By Material Source</a:t>
            </a:r>
          </a:p>
        </p:txBody>
      </p:sp>
      <p:sp>
        <p:nvSpPr>
          <p:cNvPr id="17" name="Rectangle 16"/>
          <p:cNvSpPr/>
          <p:nvPr/>
        </p:nvSpPr>
        <p:spPr>
          <a:xfrm>
            <a:off x="276225" y="3857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943350"/>
            <a:ext cx="11639550" cy="26098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67318"/>
            <a:ext cx="366712" cy="533399"/>
          </a:xfrm>
          <a:prstGeom prst="rect">
            <a:avLst/>
          </a:prstGeom>
        </p:spPr>
      </p:pic>
      <p:sp>
        <p:nvSpPr>
          <p:cNvPr id="21" name="TextBox 20"/>
          <p:cNvSpPr txBox="1"/>
          <p:nvPr/>
        </p:nvSpPr>
        <p:spPr>
          <a:xfrm>
            <a:off x="276225" y="3952875"/>
            <a:ext cx="3372023" cy="194310"/>
          </a:xfrm>
          <a:prstGeom prst="rect">
            <a:avLst/>
          </a:prstGeom>
          <a:noFill/>
        </p:spPr>
        <p:txBody>
          <a:bodyPr wrap="none" lIns="0" tIns="0" rIns="0" bIns="0">
            <a:spAutoFit/>
          </a:bodyPr>
          <a:lstStyle/>
          <a:p>
            <a:r>
              <a:rPr sz="1150" b="0">
                <a:solidFill>
                  <a:srgbClr val="2E2E2E"/>
                </a:solidFill>
                <a:latin typeface="Calibri"/>
              </a:rPr>
              <a:t>Virgin kraft fibre-based segment is projected to register</a:t>
            </a:r>
          </a:p>
        </p:txBody>
      </p:sp>
      <p:pic>
        <p:nvPicPr>
          <p:cNvPr id="22" name="Picture 21" descr="lock.png"/>
          <p:cNvPicPr>
            <a:picLocks noChangeAspect="1"/>
          </p:cNvPicPr>
          <p:nvPr/>
        </p:nvPicPr>
        <p:blipFill>
          <a:blip r:embed="rId4"/>
          <a:stretch>
            <a:fillRect/>
          </a:stretch>
        </p:blipFill>
        <p:spPr>
          <a:xfrm>
            <a:off x="3597402" y="3942651"/>
            <a:ext cx="134549" cy="195707"/>
          </a:xfrm>
          <a:prstGeom prst="rect">
            <a:avLst/>
          </a:prstGeom>
        </p:spPr>
      </p:pic>
      <p:sp>
        <p:nvSpPr>
          <p:cNvPr id="23" name="TextBox 22"/>
          <p:cNvSpPr txBox="1"/>
          <p:nvPr/>
        </p:nvSpPr>
        <p:spPr>
          <a:xfrm>
            <a:off x="3772511" y="3952875"/>
            <a:ext cx="7740116" cy="194310"/>
          </a:xfrm>
          <a:prstGeom prst="rect">
            <a:avLst/>
          </a:prstGeom>
          <a:noFill/>
        </p:spPr>
        <p:txBody>
          <a:bodyPr wrap="none" lIns="0" tIns="0" rIns="0" bIns="0">
            <a:spAutoFit/>
          </a:bodyPr>
          <a:lstStyle/>
          <a:p>
            <a:r>
              <a:rPr sz="1150" b="0">
                <a:solidFill>
                  <a:srgbClr val="2E2E2E"/>
                </a:solidFill>
                <a:latin typeface="Calibri"/>
              </a:rPr>
              <a:t>X higher volume than recycled fibre-based (testliner/recycled medium) segment in 2036. Among corrugated partition by material</a:t>
            </a:r>
          </a:p>
        </p:txBody>
      </p:sp>
      <p:sp>
        <p:nvSpPr>
          <p:cNvPr id="24" name="TextBox 23"/>
          <p:cNvSpPr txBox="1"/>
          <p:nvPr/>
        </p:nvSpPr>
        <p:spPr>
          <a:xfrm>
            <a:off x="276225" y="4128135"/>
            <a:ext cx="6559432" cy="194310"/>
          </a:xfrm>
          <a:prstGeom prst="rect">
            <a:avLst/>
          </a:prstGeom>
          <a:noFill/>
        </p:spPr>
        <p:txBody>
          <a:bodyPr wrap="none" lIns="0" tIns="0" rIns="0" bIns="0">
            <a:spAutoFit/>
          </a:bodyPr>
          <a:lstStyle/>
          <a:p>
            <a:r>
              <a:rPr sz="1150" b="0">
                <a:solidFill>
                  <a:srgbClr val="2E2E2E"/>
                </a:solidFill>
                <a:latin typeface="Calibri"/>
              </a:rPr>
              <a:t>source, recycled fibre-based (testliner/recycled medium) segment is expected to witness the highest CAGR of</a:t>
            </a:r>
          </a:p>
        </p:txBody>
      </p:sp>
      <p:pic>
        <p:nvPicPr>
          <p:cNvPr id="25" name="Picture 24" descr="lock.png"/>
          <p:cNvPicPr>
            <a:picLocks noChangeAspect="1"/>
          </p:cNvPicPr>
          <p:nvPr/>
        </p:nvPicPr>
        <p:blipFill>
          <a:blip r:embed="rId4"/>
          <a:stretch>
            <a:fillRect/>
          </a:stretch>
        </p:blipFill>
        <p:spPr>
          <a:xfrm>
            <a:off x="6784811" y="4117911"/>
            <a:ext cx="134549" cy="195707"/>
          </a:xfrm>
          <a:prstGeom prst="rect">
            <a:avLst/>
          </a:prstGeom>
        </p:spPr>
      </p:pic>
      <p:sp>
        <p:nvSpPr>
          <p:cNvPr id="26" name="TextBox 25"/>
          <p:cNvSpPr txBox="1"/>
          <p:nvPr/>
        </p:nvSpPr>
        <p:spPr>
          <a:xfrm>
            <a:off x="6959921" y="412813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355972"/>
            <a:ext cx="7471978" cy="194310"/>
          </a:xfrm>
          <a:prstGeom prst="rect">
            <a:avLst/>
          </a:prstGeom>
          <a:noFill/>
        </p:spPr>
        <p:txBody>
          <a:bodyPr wrap="none" lIns="0" tIns="0" rIns="0" bIns="0">
            <a:spAutoFit/>
          </a:bodyPr>
          <a:lstStyle/>
          <a:p>
            <a:r>
              <a:rPr sz="1150" b="0">
                <a:solidFill>
                  <a:srgbClr val="2E2E2E"/>
                </a:solidFill>
                <a:latin typeface="Calibri"/>
              </a:rPr>
              <a:t>In terms of volume share by material source, the virgin kraft fibre-based segment is expected to dominate the market, losing</a:t>
            </a:r>
          </a:p>
        </p:txBody>
      </p:sp>
      <p:pic>
        <p:nvPicPr>
          <p:cNvPr id="28" name="Picture 27" descr="lock.png"/>
          <p:cNvPicPr>
            <a:picLocks noChangeAspect="1"/>
          </p:cNvPicPr>
          <p:nvPr/>
        </p:nvPicPr>
        <p:blipFill>
          <a:blip r:embed="rId4"/>
          <a:stretch>
            <a:fillRect/>
          </a:stretch>
        </p:blipFill>
        <p:spPr>
          <a:xfrm>
            <a:off x="7697356" y="4345749"/>
            <a:ext cx="134549" cy="195707"/>
          </a:xfrm>
          <a:prstGeom prst="rect">
            <a:avLst/>
          </a:prstGeom>
        </p:spPr>
      </p:pic>
      <p:sp>
        <p:nvSpPr>
          <p:cNvPr id="29" name="TextBox 28"/>
          <p:cNvSpPr txBox="1"/>
          <p:nvPr/>
        </p:nvSpPr>
        <p:spPr>
          <a:xfrm>
            <a:off x="7872466" y="4355972"/>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267609" y="4345749"/>
            <a:ext cx="134549" cy="195707"/>
          </a:xfrm>
          <a:prstGeom prst="rect">
            <a:avLst/>
          </a:prstGeom>
        </p:spPr>
      </p:pic>
      <p:sp>
        <p:nvSpPr>
          <p:cNvPr id="31" name="TextBox 30"/>
          <p:cNvSpPr txBox="1"/>
          <p:nvPr/>
        </p:nvSpPr>
        <p:spPr>
          <a:xfrm>
            <a:off x="9442718" y="4355972"/>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Analysis, By Material Source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Material Source,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By Material Source (US$ Mn)</a:t>
            </a:r>
          </a:p>
        </p:txBody>
      </p:sp>
      <p:graphicFrame>
        <p:nvGraphicFramePr>
          <p:cNvPr id="13" name="Table 12"/>
          <p:cNvGraphicFramePr>
            <a:graphicFrameLocks noGrp="1"/>
          </p:cNvGraphicFramePr>
          <p:nvPr/>
        </p:nvGraphicFramePr>
        <p:xfrm>
          <a:off x="152400" y="1238250"/>
          <a:ext cx="11887201" cy="990600"/>
        </p:xfrm>
        <a:graphic>
          <a:graphicData uri="http://schemas.openxmlformats.org/drawingml/2006/table">
            <a:tbl>
              <a:tblPr>
                <a:tableStyleId>{5C22544A-7EE6-4342-B048-85BDC9FD1C3A}</a:tableStyleId>
              </a:tblPr>
              <a:tblGrid>
                <a:gridCol w="1659814">
                  <a:extLst>
                    <a:ext uri="{9D8B030D-6E8A-4147-A177-3AD203B41FA5}">
                      <a16:colId xmlns:a16="http://schemas.microsoft.com/office/drawing/2014/main" val="20000"/>
                    </a:ext>
                  </a:extLst>
                </a:gridCol>
                <a:gridCol w="601611">
                  <a:extLst>
                    <a:ext uri="{9D8B030D-6E8A-4147-A177-3AD203B41FA5}">
                      <a16:colId xmlns:a16="http://schemas.microsoft.com/office/drawing/2014/main" val="20001"/>
                    </a:ext>
                  </a:extLst>
                </a:gridCol>
                <a:gridCol w="601611">
                  <a:extLst>
                    <a:ext uri="{9D8B030D-6E8A-4147-A177-3AD203B41FA5}">
                      <a16:colId xmlns:a16="http://schemas.microsoft.com/office/drawing/2014/main" val="20002"/>
                    </a:ext>
                  </a:extLst>
                </a:gridCol>
                <a:gridCol w="601611">
                  <a:extLst>
                    <a:ext uri="{9D8B030D-6E8A-4147-A177-3AD203B41FA5}">
                      <a16:colId xmlns:a16="http://schemas.microsoft.com/office/drawing/2014/main" val="20003"/>
                    </a:ext>
                  </a:extLst>
                </a:gridCol>
                <a:gridCol w="601611">
                  <a:extLst>
                    <a:ext uri="{9D8B030D-6E8A-4147-A177-3AD203B41FA5}">
                      <a16:colId xmlns:a16="http://schemas.microsoft.com/office/drawing/2014/main" val="20004"/>
                    </a:ext>
                  </a:extLst>
                </a:gridCol>
                <a:gridCol w="601611">
                  <a:extLst>
                    <a:ext uri="{9D8B030D-6E8A-4147-A177-3AD203B41FA5}">
                      <a16:colId xmlns:a16="http://schemas.microsoft.com/office/drawing/2014/main" val="20005"/>
                    </a:ext>
                  </a:extLst>
                </a:gridCol>
                <a:gridCol w="601611">
                  <a:extLst>
                    <a:ext uri="{9D8B030D-6E8A-4147-A177-3AD203B41FA5}">
                      <a16:colId xmlns:a16="http://schemas.microsoft.com/office/drawing/2014/main" val="20006"/>
                    </a:ext>
                  </a:extLst>
                </a:gridCol>
                <a:gridCol w="601611">
                  <a:extLst>
                    <a:ext uri="{9D8B030D-6E8A-4147-A177-3AD203B41FA5}">
                      <a16:colId xmlns:a16="http://schemas.microsoft.com/office/drawing/2014/main" val="20007"/>
                    </a:ext>
                  </a:extLst>
                </a:gridCol>
                <a:gridCol w="601611">
                  <a:extLst>
                    <a:ext uri="{9D8B030D-6E8A-4147-A177-3AD203B41FA5}">
                      <a16:colId xmlns:a16="http://schemas.microsoft.com/office/drawing/2014/main" val="20008"/>
                    </a:ext>
                  </a:extLst>
                </a:gridCol>
                <a:gridCol w="601611">
                  <a:extLst>
                    <a:ext uri="{9D8B030D-6E8A-4147-A177-3AD203B41FA5}">
                      <a16:colId xmlns:a16="http://schemas.microsoft.com/office/drawing/2014/main" val="20009"/>
                    </a:ext>
                  </a:extLst>
                </a:gridCol>
                <a:gridCol w="601611">
                  <a:extLst>
                    <a:ext uri="{9D8B030D-6E8A-4147-A177-3AD203B41FA5}">
                      <a16:colId xmlns:a16="http://schemas.microsoft.com/office/drawing/2014/main" val="20010"/>
                    </a:ext>
                  </a:extLst>
                </a:gridCol>
                <a:gridCol w="601611">
                  <a:extLst>
                    <a:ext uri="{9D8B030D-6E8A-4147-A177-3AD203B41FA5}">
                      <a16:colId xmlns:a16="http://schemas.microsoft.com/office/drawing/2014/main" val="20011"/>
                    </a:ext>
                  </a:extLst>
                </a:gridCol>
                <a:gridCol w="601611">
                  <a:extLst>
                    <a:ext uri="{9D8B030D-6E8A-4147-A177-3AD203B41FA5}">
                      <a16:colId xmlns:a16="http://schemas.microsoft.com/office/drawing/2014/main" val="20012"/>
                    </a:ext>
                  </a:extLst>
                </a:gridCol>
                <a:gridCol w="601611">
                  <a:extLst>
                    <a:ext uri="{9D8B030D-6E8A-4147-A177-3AD203B41FA5}">
                      <a16:colId xmlns:a16="http://schemas.microsoft.com/office/drawing/2014/main" val="20013"/>
                    </a:ext>
                  </a:extLst>
                </a:gridCol>
                <a:gridCol w="601611">
                  <a:extLst>
                    <a:ext uri="{9D8B030D-6E8A-4147-A177-3AD203B41FA5}">
                      <a16:colId xmlns:a16="http://schemas.microsoft.com/office/drawing/2014/main" val="20014"/>
                    </a:ext>
                  </a:extLst>
                </a:gridCol>
                <a:gridCol w="601611">
                  <a:extLst>
                    <a:ext uri="{9D8B030D-6E8A-4147-A177-3AD203B41FA5}">
                      <a16:colId xmlns:a16="http://schemas.microsoft.com/office/drawing/2014/main" val="20015"/>
                    </a:ext>
                  </a:extLst>
                </a:gridCol>
                <a:gridCol w="601611">
                  <a:extLst>
                    <a:ext uri="{9D8B030D-6E8A-4147-A177-3AD203B41FA5}">
                      <a16:colId xmlns:a16="http://schemas.microsoft.com/office/drawing/2014/main" val="20016"/>
                    </a:ext>
                  </a:extLst>
                </a:gridCol>
                <a:gridCol w="601611">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65747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Value Analysis, By Material Source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2981325"/>
            <a:ext cx="11639550" cy="3571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39217" y="1589913"/>
            <a:ext cx="366712" cy="533400"/>
          </a:xfrm>
          <a:prstGeom prst="rect">
            <a:avLst/>
          </a:prstGeom>
        </p:spPr>
      </p:pic>
      <p:sp>
        <p:nvSpPr>
          <p:cNvPr id="21" name="TextBox 20"/>
          <p:cNvSpPr txBox="1"/>
          <p:nvPr/>
        </p:nvSpPr>
        <p:spPr>
          <a:xfrm>
            <a:off x="276225" y="2990850"/>
            <a:ext cx="3372023" cy="194310"/>
          </a:xfrm>
          <a:prstGeom prst="rect">
            <a:avLst/>
          </a:prstGeom>
          <a:noFill/>
        </p:spPr>
        <p:txBody>
          <a:bodyPr wrap="none" lIns="0" tIns="0" rIns="0" bIns="0">
            <a:spAutoFit/>
          </a:bodyPr>
          <a:lstStyle/>
          <a:p>
            <a:r>
              <a:rPr sz="1150" b="0">
                <a:solidFill>
                  <a:srgbClr val="2E2E2E"/>
                </a:solidFill>
                <a:latin typeface="Calibri"/>
              </a:rPr>
              <a:t>Virgin kraft fibre-based segment is projected to register</a:t>
            </a:r>
          </a:p>
        </p:txBody>
      </p:sp>
      <p:pic>
        <p:nvPicPr>
          <p:cNvPr id="22" name="Picture 21" descr="lock.png"/>
          <p:cNvPicPr>
            <a:picLocks noChangeAspect="1"/>
          </p:cNvPicPr>
          <p:nvPr/>
        </p:nvPicPr>
        <p:blipFill>
          <a:blip r:embed="rId4"/>
          <a:stretch>
            <a:fillRect/>
          </a:stretch>
        </p:blipFill>
        <p:spPr>
          <a:xfrm>
            <a:off x="3597402" y="2980626"/>
            <a:ext cx="134549" cy="195707"/>
          </a:xfrm>
          <a:prstGeom prst="rect">
            <a:avLst/>
          </a:prstGeom>
        </p:spPr>
      </p:pic>
      <p:sp>
        <p:nvSpPr>
          <p:cNvPr id="23" name="TextBox 22"/>
          <p:cNvSpPr txBox="1"/>
          <p:nvPr/>
        </p:nvSpPr>
        <p:spPr>
          <a:xfrm>
            <a:off x="3772511" y="2990850"/>
            <a:ext cx="8082421" cy="194310"/>
          </a:xfrm>
          <a:prstGeom prst="rect">
            <a:avLst/>
          </a:prstGeom>
          <a:noFill/>
        </p:spPr>
        <p:txBody>
          <a:bodyPr wrap="none" lIns="0" tIns="0" rIns="0" bIns="0">
            <a:spAutoFit/>
          </a:bodyPr>
          <a:lstStyle/>
          <a:p>
            <a:r>
              <a:rPr sz="1150" b="0">
                <a:solidFill>
                  <a:srgbClr val="2E2E2E"/>
                </a:solidFill>
                <a:latin typeface="Calibri"/>
              </a:rPr>
              <a:t>X higher value than recycled fibre-based (testliner/recycled medium) segment in 2036. Among corrugated partition by material source,</a:t>
            </a:r>
          </a:p>
        </p:txBody>
      </p:sp>
      <p:sp>
        <p:nvSpPr>
          <p:cNvPr id="24" name="TextBox 23"/>
          <p:cNvSpPr txBox="1"/>
          <p:nvPr/>
        </p:nvSpPr>
        <p:spPr>
          <a:xfrm>
            <a:off x="276225" y="3166110"/>
            <a:ext cx="6093328" cy="194310"/>
          </a:xfrm>
          <a:prstGeom prst="rect">
            <a:avLst/>
          </a:prstGeom>
          <a:noFill/>
        </p:spPr>
        <p:txBody>
          <a:bodyPr wrap="none" lIns="0" tIns="0" rIns="0" bIns="0">
            <a:spAutoFit/>
          </a:bodyPr>
          <a:lstStyle/>
          <a:p>
            <a:r>
              <a:rPr sz="1150" b="0">
                <a:solidFill>
                  <a:srgbClr val="2E2E2E"/>
                </a:solidFill>
                <a:latin typeface="Calibri"/>
              </a:rPr>
              <a:t>recycled fibre-based (testliner/recycled medium) segment is expected to witness the highest CAGR of</a:t>
            </a:r>
          </a:p>
        </p:txBody>
      </p:sp>
      <p:pic>
        <p:nvPicPr>
          <p:cNvPr id="25" name="Picture 24" descr="lock.png"/>
          <p:cNvPicPr>
            <a:picLocks noChangeAspect="1"/>
          </p:cNvPicPr>
          <p:nvPr/>
        </p:nvPicPr>
        <p:blipFill>
          <a:blip r:embed="rId4"/>
          <a:stretch>
            <a:fillRect/>
          </a:stretch>
        </p:blipFill>
        <p:spPr>
          <a:xfrm>
            <a:off x="6318707" y="3155886"/>
            <a:ext cx="134549" cy="195707"/>
          </a:xfrm>
          <a:prstGeom prst="rect">
            <a:avLst/>
          </a:prstGeom>
        </p:spPr>
      </p:pic>
      <p:sp>
        <p:nvSpPr>
          <p:cNvPr id="26" name="TextBox 25"/>
          <p:cNvSpPr txBox="1"/>
          <p:nvPr/>
        </p:nvSpPr>
        <p:spPr>
          <a:xfrm>
            <a:off x="6493816" y="3166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348177" cy="194310"/>
          </a:xfrm>
          <a:prstGeom prst="rect">
            <a:avLst/>
          </a:prstGeom>
          <a:noFill/>
        </p:spPr>
        <p:txBody>
          <a:bodyPr wrap="none" lIns="0" tIns="0" rIns="0" bIns="0">
            <a:spAutoFit/>
          </a:bodyPr>
          <a:lstStyle/>
          <a:p>
            <a:r>
              <a:rPr sz="1150" b="0">
                <a:solidFill>
                  <a:srgbClr val="2E2E2E"/>
                </a:solidFill>
                <a:latin typeface="Calibri"/>
              </a:rPr>
              <a:t>In terms of value share by material source, the virgin kraft fibre-based segment is expected to dominate the market, losing</a:t>
            </a:r>
          </a:p>
        </p:txBody>
      </p:sp>
      <p:pic>
        <p:nvPicPr>
          <p:cNvPr id="28" name="Picture 27" descr="lock.png"/>
          <p:cNvPicPr>
            <a:picLocks noChangeAspect="1"/>
          </p:cNvPicPr>
          <p:nvPr/>
        </p:nvPicPr>
        <p:blipFill>
          <a:blip r:embed="rId4"/>
          <a:stretch>
            <a:fillRect/>
          </a:stretch>
        </p:blipFill>
        <p:spPr>
          <a:xfrm>
            <a:off x="7573556" y="3383724"/>
            <a:ext cx="134549" cy="195707"/>
          </a:xfrm>
          <a:prstGeom prst="rect">
            <a:avLst/>
          </a:prstGeom>
        </p:spPr>
      </p:pic>
      <p:sp>
        <p:nvSpPr>
          <p:cNvPr id="29" name="TextBox 28"/>
          <p:cNvSpPr txBox="1"/>
          <p:nvPr/>
        </p:nvSpPr>
        <p:spPr>
          <a:xfrm>
            <a:off x="7748666" y="3393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43809" y="3383724"/>
            <a:ext cx="134549" cy="195707"/>
          </a:xfrm>
          <a:prstGeom prst="rect">
            <a:avLst/>
          </a:prstGeom>
        </p:spPr>
      </p:pic>
      <p:sp>
        <p:nvSpPr>
          <p:cNvPr id="31" name="TextBox 30"/>
          <p:cNvSpPr txBox="1"/>
          <p:nvPr/>
        </p:nvSpPr>
        <p:spPr>
          <a:xfrm>
            <a:off x="9318918" y="3393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&amp; Share Shift, By Material Source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Material Source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Composition, By Material Source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21483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5090922" y="214358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2067388"/>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Recycled Fibre-based</a:t>
            </a:r>
          </a:p>
        </p:txBody>
      </p:sp>
      <p:sp>
        <p:nvSpPr>
          <p:cNvPr id="19" name="BPS Value 1"/>
          <p:cNvSpPr txBox="1"/>
          <p:nvPr/>
        </p:nvSpPr>
        <p:spPr>
          <a:xfrm>
            <a:off x="6896100" y="2129301"/>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928997" y="443454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442977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4353579"/>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Virgin Kraft Fibre-based</a:t>
            </a:r>
          </a:p>
        </p:txBody>
      </p:sp>
      <p:sp>
        <p:nvSpPr>
          <p:cNvPr id="23" name="BPS Value 2"/>
          <p:cNvSpPr txBox="1"/>
          <p:nvPr/>
        </p:nvSpPr>
        <p:spPr>
          <a:xfrm>
            <a:off x="6896100" y="4415491"/>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North America Read-out, By Material Source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8" name="TextBox 2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439628" cy="194310"/>
          </a:xfrm>
          <a:prstGeom prst="rect">
            <a:avLst/>
          </a:prstGeom>
          <a:noFill/>
        </p:spPr>
        <p:txBody>
          <a:bodyPr wrap="none" lIns="0" tIns="0" rIns="0" bIns="0">
            <a:spAutoFit/>
          </a:bodyPr>
          <a:lstStyle/>
          <a:p>
            <a:r>
              <a:rPr sz="1150" b="0">
                <a:solidFill>
                  <a:srgbClr val="2E2E2E"/>
                </a:solidFill>
                <a:latin typeface="Calibri"/>
              </a:rPr>
              <a:t>Among corrugated partition by material source, recycled</a:t>
            </a:r>
          </a:p>
        </p:txBody>
      </p:sp>
      <p:sp>
        <p:nvSpPr>
          <p:cNvPr id="31" name="TextBox 30"/>
          <p:cNvSpPr txBox="1"/>
          <p:nvPr/>
        </p:nvSpPr>
        <p:spPr>
          <a:xfrm>
            <a:off x="7829550" y="1575435"/>
            <a:ext cx="3858666" cy="194310"/>
          </a:xfrm>
          <a:prstGeom prst="rect">
            <a:avLst/>
          </a:prstGeom>
          <a:noFill/>
        </p:spPr>
        <p:txBody>
          <a:bodyPr wrap="none" lIns="0" tIns="0" rIns="0" bIns="0">
            <a:spAutoFit/>
          </a:bodyPr>
          <a:lstStyle/>
          <a:p>
            <a:r>
              <a:rPr sz="1150" b="0">
                <a:solidFill>
                  <a:srgbClr val="2E2E2E"/>
                </a:solidFill>
                <a:latin typeface="Calibri"/>
              </a:rPr>
              <a:t>fibre-based (testliner/recycled medium) segment is expected to</a:t>
            </a:r>
          </a:p>
        </p:txBody>
      </p:sp>
      <p:sp>
        <p:nvSpPr>
          <p:cNvPr id="32" name="TextBox 31"/>
          <p:cNvSpPr txBox="1"/>
          <p:nvPr/>
        </p:nvSpPr>
        <p:spPr>
          <a:xfrm>
            <a:off x="7829550" y="1750695"/>
            <a:ext cx="1747770" cy="194310"/>
          </a:xfrm>
          <a:prstGeom prst="rect">
            <a:avLst/>
          </a:prstGeom>
          <a:noFill/>
        </p:spPr>
        <p:txBody>
          <a:bodyPr wrap="none" lIns="0" tIns="0" rIns="0" bIns="0">
            <a:spAutoFit/>
          </a:bodyPr>
          <a:lstStyle/>
          <a:p>
            <a:r>
              <a:rPr sz="1150" b="0">
                <a:solidFill>
                  <a:srgbClr val="2E2E2E"/>
                </a:solidFill>
                <a:latin typeface="Calibri"/>
              </a:rPr>
              <a:t>witness the highest CAGR of</a:t>
            </a:r>
          </a:p>
        </p:txBody>
      </p:sp>
      <p:pic>
        <p:nvPicPr>
          <p:cNvPr id="33" name="Picture 32" descr="lock.png"/>
          <p:cNvPicPr>
            <a:picLocks noChangeAspect="1"/>
          </p:cNvPicPr>
          <p:nvPr/>
        </p:nvPicPr>
        <p:blipFill>
          <a:blip r:embed="rId5"/>
          <a:stretch>
            <a:fillRect/>
          </a:stretch>
        </p:blipFill>
        <p:spPr>
          <a:xfrm>
            <a:off x="9526474" y="1740471"/>
            <a:ext cx="134549" cy="195707"/>
          </a:xfrm>
          <a:prstGeom prst="rect">
            <a:avLst/>
          </a:prstGeom>
        </p:spPr>
      </p:pic>
      <p:sp>
        <p:nvSpPr>
          <p:cNvPr id="34" name="TextBox 33"/>
          <p:cNvSpPr txBox="1"/>
          <p:nvPr/>
        </p:nvSpPr>
        <p:spPr>
          <a:xfrm>
            <a:off x="9701583" y="175069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35" name="TextBox 34"/>
          <p:cNvSpPr txBox="1"/>
          <p:nvPr/>
        </p:nvSpPr>
        <p:spPr>
          <a:xfrm>
            <a:off x="7829550" y="1978533"/>
            <a:ext cx="3516932" cy="194310"/>
          </a:xfrm>
          <a:prstGeom prst="rect">
            <a:avLst/>
          </a:prstGeom>
          <a:noFill/>
        </p:spPr>
        <p:txBody>
          <a:bodyPr wrap="none" lIns="0" tIns="0" rIns="0" bIns="0">
            <a:spAutoFit/>
          </a:bodyPr>
          <a:lstStyle/>
          <a:p>
            <a:r>
              <a:rPr sz="1150" b="0">
                <a:solidFill>
                  <a:srgbClr val="2E2E2E"/>
                </a:solidFill>
                <a:latin typeface="Calibri"/>
              </a:rPr>
              <a:t>In terms of value share by material source, the virgin kraft</a:t>
            </a:r>
          </a:p>
        </p:txBody>
      </p:sp>
      <p:sp>
        <p:nvSpPr>
          <p:cNvPr id="36" name="TextBox 35"/>
          <p:cNvSpPr txBox="1"/>
          <p:nvPr/>
        </p:nvSpPr>
        <p:spPr>
          <a:xfrm>
            <a:off x="7829550" y="2153793"/>
            <a:ext cx="3874355" cy="194310"/>
          </a:xfrm>
          <a:prstGeom prst="rect">
            <a:avLst/>
          </a:prstGeom>
          <a:noFill/>
        </p:spPr>
        <p:txBody>
          <a:bodyPr wrap="none" lIns="0" tIns="0" rIns="0" bIns="0">
            <a:spAutoFit/>
          </a:bodyPr>
          <a:lstStyle/>
          <a:p>
            <a:r>
              <a:rPr sz="1150" b="0">
                <a:solidFill>
                  <a:srgbClr val="2E2E2E"/>
                </a:solidFill>
                <a:latin typeface="Calibri"/>
              </a:rPr>
              <a:t>fibre-based segment is expected to dominate the market, losing</a:t>
            </a:r>
          </a:p>
        </p:txBody>
      </p:sp>
      <p:pic>
        <p:nvPicPr>
          <p:cNvPr id="37" name="Picture 36" descr="lock.png"/>
          <p:cNvPicPr>
            <a:picLocks noChangeAspect="1"/>
          </p:cNvPicPr>
          <p:nvPr/>
        </p:nvPicPr>
        <p:blipFill>
          <a:blip r:embed="rId5"/>
          <a:stretch>
            <a:fillRect/>
          </a:stretch>
        </p:blipFill>
        <p:spPr>
          <a:xfrm>
            <a:off x="7815470" y="2318829"/>
            <a:ext cx="134549" cy="195707"/>
          </a:xfrm>
          <a:prstGeom prst="rect">
            <a:avLst/>
          </a:prstGeom>
        </p:spPr>
      </p:pic>
      <p:sp>
        <p:nvSpPr>
          <p:cNvPr id="38" name="TextBox 37"/>
          <p:cNvSpPr txBox="1"/>
          <p:nvPr/>
        </p:nvSpPr>
        <p:spPr>
          <a:xfrm>
            <a:off x="7990579" y="2329053"/>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9" name="Picture 38" descr="lock.png"/>
          <p:cNvPicPr>
            <a:picLocks noChangeAspect="1"/>
          </p:cNvPicPr>
          <p:nvPr/>
        </p:nvPicPr>
        <p:blipFill>
          <a:blip r:embed="rId5"/>
          <a:stretch>
            <a:fillRect/>
          </a:stretch>
        </p:blipFill>
        <p:spPr>
          <a:xfrm>
            <a:off x="9385722" y="2318829"/>
            <a:ext cx="134549" cy="195707"/>
          </a:xfrm>
          <a:prstGeom prst="rect">
            <a:avLst/>
          </a:prstGeom>
        </p:spPr>
      </p:pic>
      <p:sp>
        <p:nvSpPr>
          <p:cNvPr id="40" name="TextBox 39"/>
          <p:cNvSpPr txBox="1"/>
          <p:nvPr/>
        </p:nvSpPr>
        <p:spPr>
          <a:xfrm>
            <a:off x="9560832" y="232905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Volume, By Material Source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Material Source,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Growth,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extLst>
                    <a:ext uri="{9D8B030D-6E8A-4147-A177-3AD203B41FA5}">
                      <a16:colId xmlns:a16="http://schemas.microsoft.com/office/drawing/2014/main" val="20000"/>
                    </a:ext>
                  </a:extLst>
                </a:gridCol>
                <a:gridCol w="671514">
                  <a:extLst>
                    <a:ext uri="{9D8B030D-6E8A-4147-A177-3AD203B41FA5}">
                      <a16:colId xmlns:a16="http://schemas.microsoft.com/office/drawing/2014/main" val="20001"/>
                    </a:ext>
                  </a:extLst>
                </a:gridCol>
                <a:gridCol w="671514">
                  <a:extLst>
                    <a:ext uri="{9D8B030D-6E8A-4147-A177-3AD203B41FA5}">
                      <a16:colId xmlns:a16="http://schemas.microsoft.com/office/drawing/2014/main" val="20002"/>
                    </a:ext>
                  </a:extLst>
                </a:gridCol>
                <a:gridCol w="671514">
                  <a:extLst>
                    <a:ext uri="{9D8B030D-6E8A-4147-A177-3AD203B41FA5}">
                      <a16:colId xmlns:a16="http://schemas.microsoft.com/office/drawing/2014/main" val="20003"/>
                    </a:ext>
                  </a:extLst>
                </a:gridCol>
                <a:gridCol w="671514">
                  <a:extLst>
                    <a:ext uri="{9D8B030D-6E8A-4147-A177-3AD203B41FA5}">
                      <a16:colId xmlns:a16="http://schemas.microsoft.com/office/drawing/2014/main" val="20004"/>
                    </a:ext>
                  </a:extLst>
                </a:gridCol>
                <a:gridCol w="671514">
                  <a:extLst>
                    <a:ext uri="{9D8B030D-6E8A-4147-A177-3AD203B41FA5}">
                      <a16:colId xmlns:a16="http://schemas.microsoft.com/office/drawing/2014/main" val="20005"/>
                    </a:ext>
                  </a:extLst>
                </a:gridCol>
                <a:gridCol w="671514">
                  <a:extLst>
                    <a:ext uri="{9D8B030D-6E8A-4147-A177-3AD203B41FA5}">
                      <a16:colId xmlns:a16="http://schemas.microsoft.com/office/drawing/2014/main" val="20006"/>
                    </a:ext>
                  </a:extLst>
                </a:gridCol>
                <a:gridCol w="671514">
                  <a:extLst>
                    <a:ext uri="{9D8B030D-6E8A-4147-A177-3AD203B41FA5}">
                      <a16:colId xmlns:a16="http://schemas.microsoft.com/office/drawing/2014/main" val="20007"/>
                    </a:ext>
                  </a:extLst>
                </a:gridCol>
                <a:gridCol w="671514">
                  <a:extLst>
                    <a:ext uri="{9D8B030D-6E8A-4147-A177-3AD203B41FA5}">
                      <a16:colId xmlns:a16="http://schemas.microsoft.com/office/drawing/2014/main" val="20008"/>
                    </a:ext>
                  </a:extLst>
                </a:gridCol>
                <a:gridCol w="671514">
                  <a:extLst>
                    <a:ext uri="{9D8B030D-6E8A-4147-A177-3AD203B41FA5}">
                      <a16:colId xmlns:a16="http://schemas.microsoft.com/office/drawing/2014/main" val="20009"/>
                    </a:ext>
                  </a:extLst>
                </a:gridCol>
                <a:gridCol w="671514">
                  <a:extLst>
                    <a:ext uri="{9D8B030D-6E8A-4147-A177-3AD203B41FA5}">
                      <a16:colId xmlns:a16="http://schemas.microsoft.com/office/drawing/2014/main" val="20010"/>
                    </a:ext>
                  </a:extLst>
                </a:gridCol>
                <a:gridCol w="671514">
                  <a:extLst>
                    <a:ext uri="{9D8B030D-6E8A-4147-A177-3AD203B41FA5}">
                      <a16:colId xmlns:a16="http://schemas.microsoft.com/office/drawing/2014/main" val="20011"/>
                    </a:ext>
                  </a:extLst>
                </a:gridCol>
                <a:gridCol w="671514">
                  <a:extLst>
                    <a:ext uri="{9D8B030D-6E8A-4147-A177-3AD203B41FA5}">
                      <a16:colId xmlns:a16="http://schemas.microsoft.com/office/drawing/2014/main" val="20012"/>
                    </a:ext>
                  </a:extLst>
                </a:gridCol>
                <a:gridCol w="671514">
                  <a:extLst>
                    <a:ext uri="{9D8B030D-6E8A-4147-A177-3AD203B41FA5}">
                      <a16:colId xmlns:a16="http://schemas.microsoft.com/office/drawing/2014/main" val="20013"/>
                    </a:ext>
                  </a:extLst>
                </a:gridCol>
                <a:gridCol w="671514">
                  <a:extLst>
                    <a:ext uri="{9D8B030D-6E8A-4147-A177-3AD203B41FA5}">
                      <a16:colId xmlns:a16="http://schemas.microsoft.com/office/drawing/2014/main" val="20014"/>
                    </a:ext>
                  </a:extLst>
                </a:gridCol>
                <a:gridCol w="671514">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Heatmap, By Material Source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Virgin Kraft Fibre-based</a:t>
            </a:r>
          </a:p>
        </p:txBody>
      </p:sp>
      <p:sp>
        <p:nvSpPr>
          <p:cNvPr id="33" name="Rectangle 32"/>
          <p:cNvSpPr/>
          <p:nvPr/>
        </p:nvSpPr>
        <p:spPr>
          <a:xfrm>
            <a:off x="185737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Recycled Fibre-based (testliner/recycled medium)</a:t>
            </a:r>
          </a:p>
        </p:txBody>
      </p:sp>
      <p:sp>
        <p:nvSpPr>
          <p:cNvPr id="49" name="Rectangle 48"/>
          <p:cNvSpPr/>
          <p:nvPr/>
        </p:nvSpPr>
        <p:spPr>
          <a:xfrm>
            <a:off x="1857375" y="4662488"/>
            <a:ext cx="643890" cy="190976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35228" y="1482090"/>
            <a:ext cx="330041" cy="480060"/>
          </a:xfrm>
          <a:prstGeom prst="rect">
            <a:avLst/>
          </a:prstGeom>
        </p:spPr>
      </p:pic>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Value, By Material Source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Material Source,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Growth,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extLst>
                    <a:ext uri="{9D8B030D-6E8A-4147-A177-3AD203B41FA5}">
                      <a16:colId xmlns:a16="http://schemas.microsoft.com/office/drawing/2014/main" val="20000"/>
                    </a:ext>
                  </a:extLst>
                </a:gridCol>
                <a:gridCol w="671514">
                  <a:extLst>
                    <a:ext uri="{9D8B030D-6E8A-4147-A177-3AD203B41FA5}">
                      <a16:colId xmlns:a16="http://schemas.microsoft.com/office/drawing/2014/main" val="20001"/>
                    </a:ext>
                  </a:extLst>
                </a:gridCol>
                <a:gridCol w="671514">
                  <a:extLst>
                    <a:ext uri="{9D8B030D-6E8A-4147-A177-3AD203B41FA5}">
                      <a16:colId xmlns:a16="http://schemas.microsoft.com/office/drawing/2014/main" val="20002"/>
                    </a:ext>
                  </a:extLst>
                </a:gridCol>
                <a:gridCol w="671514">
                  <a:extLst>
                    <a:ext uri="{9D8B030D-6E8A-4147-A177-3AD203B41FA5}">
                      <a16:colId xmlns:a16="http://schemas.microsoft.com/office/drawing/2014/main" val="20003"/>
                    </a:ext>
                  </a:extLst>
                </a:gridCol>
                <a:gridCol w="671514">
                  <a:extLst>
                    <a:ext uri="{9D8B030D-6E8A-4147-A177-3AD203B41FA5}">
                      <a16:colId xmlns:a16="http://schemas.microsoft.com/office/drawing/2014/main" val="20004"/>
                    </a:ext>
                  </a:extLst>
                </a:gridCol>
                <a:gridCol w="671514">
                  <a:extLst>
                    <a:ext uri="{9D8B030D-6E8A-4147-A177-3AD203B41FA5}">
                      <a16:colId xmlns:a16="http://schemas.microsoft.com/office/drawing/2014/main" val="20005"/>
                    </a:ext>
                  </a:extLst>
                </a:gridCol>
                <a:gridCol w="671514">
                  <a:extLst>
                    <a:ext uri="{9D8B030D-6E8A-4147-A177-3AD203B41FA5}">
                      <a16:colId xmlns:a16="http://schemas.microsoft.com/office/drawing/2014/main" val="20006"/>
                    </a:ext>
                  </a:extLst>
                </a:gridCol>
                <a:gridCol w="671514">
                  <a:extLst>
                    <a:ext uri="{9D8B030D-6E8A-4147-A177-3AD203B41FA5}">
                      <a16:colId xmlns:a16="http://schemas.microsoft.com/office/drawing/2014/main" val="20007"/>
                    </a:ext>
                  </a:extLst>
                </a:gridCol>
                <a:gridCol w="671514">
                  <a:extLst>
                    <a:ext uri="{9D8B030D-6E8A-4147-A177-3AD203B41FA5}">
                      <a16:colId xmlns:a16="http://schemas.microsoft.com/office/drawing/2014/main" val="20008"/>
                    </a:ext>
                  </a:extLst>
                </a:gridCol>
                <a:gridCol w="671514">
                  <a:extLst>
                    <a:ext uri="{9D8B030D-6E8A-4147-A177-3AD203B41FA5}">
                      <a16:colId xmlns:a16="http://schemas.microsoft.com/office/drawing/2014/main" val="20009"/>
                    </a:ext>
                  </a:extLst>
                </a:gridCol>
                <a:gridCol w="671514">
                  <a:extLst>
                    <a:ext uri="{9D8B030D-6E8A-4147-A177-3AD203B41FA5}">
                      <a16:colId xmlns:a16="http://schemas.microsoft.com/office/drawing/2014/main" val="20010"/>
                    </a:ext>
                  </a:extLst>
                </a:gridCol>
                <a:gridCol w="671514">
                  <a:extLst>
                    <a:ext uri="{9D8B030D-6E8A-4147-A177-3AD203B41FA5}">
                      <a16:colId xmlns:a16="http://schemas.microsoft.com/office/drawing/2014/main" val="20011"/>
                    </a:ext>
                  </a:extLst>
                </a:gridCol>
                <a:gridCol w="671514">
                  <a:extLst>
                    <a:ext uri="{9D8B030D-6E8A-4147-A177-3AD203B41FA5}">
                      <a16:colId xmlns:a16="http://schemas.microsoft.com/office/drawing/2014/main" val="20012"/>
                    </a:ext>
                  </a:extLst>
                </a:gridCol>
                <a:gridCol w="671514">
                  <a:extLst>
                    <a:ext uri="{9D8B030D-6E8A-4147-A177-3AD203B41FA5}">
                      <a16:colId xmlns:a16="http://schemas.microsoft.com/office/drawing/2014/main" val="20013"/>
                    </a:ext>
                  </a:extLst>
                </a:gridCol>
                <a:gridCol w="671514">
                  <a:extLst>
                    <a:ext uri="{9D8B030D-6E8A-4147-A177-3AD203B41FA5}">
                      <a16:colId xmlns:a16="http://schemas.microsoft.com/office/drawing/2014/main" val="20014"/>
                    </a:ext>
                  </a:extLst>
                </a:gridCol>
                <a:gridCol w="671514">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Heatmap, By Material Source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Virgin Kraft Fibre-based</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Recycled Fibre-based (testliner/recycled medium)</a:t>
            </a:r>
          </a:p>
        </p:txBody>
      </p:sp>
      <p:sp>
        <p:nvSpPr>
          <p:cNvPr id="49" name="Rectangle 48"/>
          <p:cNvSpPr/>
          <p:nvPr/>
        </p:nvSpPr>
        <p:spPr>
          <a:xfrm>
            <a:off x="1857375" y="4662488"/>
            <a:ext cx="643890" cy="190976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0D65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35228" y="1482090"/>
            <a:ext cx="330041" cy="480060"/>
          </a:xfrm>
          <a:prstGeom prst="rect">
            <a:avLst/>
          </a:prstGeom>
        </p:spPr>
      </p:pic>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Cell Configuration</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Cell Configuration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Cell Configuration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4 sub-segments of Cell Configuration,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Cell Configuration segment categorizes the market by cell configuration.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Up to 4 Cells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4433888"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6 to 12 Cells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6962775"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13 to 24 Cells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9491662"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Above 24 Cells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Cell Configuration split shows how demand is distributed across cell configuration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64" name="Picture 63" descr="413_7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613_6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26_3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534_9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5_1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88_3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47_6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2_8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27_7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75_6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3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253282" cy="186689"/>
          </a:xfrm>
          <a:prstGeom prst="rect">
            <a:avLst/>
          </a:prstGeom>
          <a:noFill/>
        </p:spPr>
        <p:txBody>
          <a:bodyPr wrap="none" lIns="0" tIns="0" rIns="0" bIns="0">
            <a:spAutoFit/>
          </a:bodyPr>
          <a:lstStyle/>
          <a:p>
            <a:r>
              <a:rPr sz="1100" b="0">
                <a:solidFill>
                  <a:srgbClr val="2E2E2E"/>
                </a:solidFill>
                <a:latin typeface="Calibri"/>
              </a:rPr>
              <a:t>▪ ¶ Among corrugated partition by cell</a:t>
            </a:r>
          </a:p>
        </p:txBody>
      </p:sp>
      <p:sp>
        <p:nvSpPr>
          <p:cNvPr id="81" name="TextBox 80"/>
          <p:cNvSpPr txBox="1"/>
          <p:nvPr/>
        </p:nvSpPr>
        <p:spPr>
          <a:xfrm>
            <a:off x="485775" y="4397077"/>
            <a:ext cx="2914650" cy="186689"/>
          </a:xfrm>
          <a:prstGeom prst="rect">
            <a:avLst/>
          </a:prstGeom>
          <a:noFill/>
        </p:spPr>
        <p:txBody>
          <a:bodyPr wrap="none" lIns="0" tIns="0" rIns="0" bIns="0">
            <a:spAutoFit/>
          </a:bodyPr>
          <a:lstStyle/>
          <a:p>
            <a:r>
              <a:rPr sz="1100" b="0">
                <a:solidFill>
                  <a:srgbClr val="2E2E2E"/>
                </a:solidFill>
                <a:latin typeface="Calibri"/>
              </a:rPr>
              <a:t>configuration, 6 to 12 cells segment is expected to</a:t>
            </a:r>
          </a:p>
        </p:txBody>
      </p:sp>
      <p:sp>
        <p:nvSpPr>
          <p:cNvPr id="82" name="TextBox 81"/>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83" name="Picture 82" descr="lock.png"/>
          <p:cNvPicPr>
            <a:picLocks noChangeAspect="1"/>
          </p:cNvPicPr>
          <p:nvPr/>
        </p:nvPicPr>
        <p:blipFill>
          <a:blip r:embed="rId16"/>
          <a:stretch>
            <a:fillRect/>
          </a:stretch>
        </p:blipFill>
        <p:spPr>
          <a:xfrm>
            <a:off x="2108919" y="4554938"/>
            <a:ext cx="128699" cy="187198"/>
          </a:xfrm>
          <a:prstGeom prst="rect">
            <a:avLst/>
          </a:prstGeom>
        </p:spPr>
      </p:pic>
      <p:sp>
        <p:nvSpPr>
          <p:cNvPr id="84" name="TextBox 83"/>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85" name="TextBox 84"/>
          <p:cNvSpPr txBox="1"/>
          <p:nvPr/>
        </p:nvSpPr>
        <p:spPr>
          <a:xfrm>
            <a:off x="485775" y="4732357"/>
            <a:ext cx="2208534" cy="186689"/>
          </a:xfrm>
          <a:prstGeom prst="rect">
            <a:avLst/>
          </a:prstGeom>
          <a:noFill/>
        </p:spPr>
        <p:txBody>
          <a:bodyPr wrap="none" lIns="0" tIns="0" rIns="0" bIns="0">
            <a:spAutoFit/>
          </a:bodyPr>
          <a:lstStyle/>
          <a:p>
            <a:r>
              <a:rPr sz="1100" b="0">
                <a:solidFill>
                  <a:srgbClr val="2E2E2E"/>
                </a:solidFill>
                <a:latin typeface="Calibri"/>
              </a:rPr>
              <a:t>period. In terms of value share by cell</a:t>
            </a:r>
          </a:p>
        </p:txBody>
      </p:sp>
      <p:sp>
        <p:nvSpPr>
          <p:cNvPr id="86" name="TextBox 85"/>
          <p:cNvSpPr txBox="1"/>
          <p:nvPr/>
        </p:nvSpPr>
        <p:spPr>
          <a:xfrm>
            <a:off x="485775" y="4899997"/>
            <a:ext cx="2448917" cy="186689"/>
          </a:xfrm>
          <a:prstGeom prst="rect">
            <a:avLst/>
          </a:prstGeom>
          <a:noFill/>
        </p:spPr>
        <p:txBody>
          <a:bodyPr wrap="none" lIns="0" tIns="0" rIns="0" bIns="0">
            <a:spAutoFit/>
          </a:bodyPr>
          <a:lstStyle/>
          <a:p>
            <a:r>
              <a:rPr sz="1100" b="0">
                <a:solidFill>
                  <a:srgbClr val="2E2E2E"/>
                </a:solidFill>
                <a:latin typeface="Calibri"/>
              </a:rPr>
              <a:t>configuration, the up to 4 cells segment is</a:t>
            </a:r>
          </a:p>
        </p:txBody>
      </p:sp>
      <p:sp>
        <p:nvSpPr>
          <p:cNvPr id="87" name="TextBox 86"/>
          <p:cNvSpPr txBox="1"/>
          <p:nvPr/>
        </p:nvSpPr>
        <p:spPr>
          <a:xfrm>
            <a:off x="485775" y="5067637"/>
            <a:ext cx="2388889" cy="186689"/>
          </a:xfrm>
          <a:prstGeom prst="rect">
            <a:avLst/>
          </a:prstGeom>
          <a:noFill/>
        </p:spPr>
        <p:txBody>
          <a:bodyPr wrap="none" lIns="0" tIns="0" rIns="0" bIns="0">
            <a:spAutoFit/>
          </a:bodyPr>
          <a:lstStyle/>
          <a:p>
            <a:r>
              <a:rPr sz="1100" b="0">
                <a:solidFill>
                  <a:srgbClr val="2E2E2E"/>
                </a:solidFill>
                <a:latin typeface="Calibri"/>
              </a:rPr>
              <a:t>expected to dominate the market, losing</a:t>
            </a:r>
          </a:p>
        </p:txBody>
      </p:sp>
      <p:pic>
        <p:nvPicPr>
          <p:cNvPr id="88" name="Picture 87" descr="lock.png"/>
          <p:cNvPicPr>
            <a:picLocks noChangeAspect="1"/>
          </p:cNvPicPr>
          <p:nvPr/>
        </p:nvPicPr>
        <p:blipFill>
          <a:blip r:embed="rId16"/>
          <a:stretch>
            <a:fillRect/>
          </a:stretch>
        </p:blipFill>
        <p:spPr>
          <a:xfrm>
            <a:off x="2822716" y="5057858"/>
            <a:ext cx="128699" cy="187198"/>
          </a:xfrm>
          <a:prstGeom prst="rect">
            <a:avLst/>
          </a:prstGeom>
        </p:spPr>
      </p:pic>
      <p:sp>
        <p:nvSpPr>
          <p:cNvPr id="89" name="TextBox 88"/>
          <p:cNvSpPr txBox="1"/>
          <p:nvPr/>
        </p:nvSpPr>
        <p:spPr>
          <a:xfrm>
            <a:off x="2990212" y="5067637"/>
            <a:ext cx="288751" cy="186689"/>
          </a:xfrm>
          <a:prstGeom prst="rect">
            <a:avLst/>
          </a:prstGeom>
          <a:noFill/>
        </p:spPr>
        <p:txBody>
          <a:bodyPr wrap="none" lIns="0" tIns="0" r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tIns="0" r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93" name="TextBox 92"/>
          <p:cNvSpPr txBox="1"/>
          <p:nvPr/>
        </p:nvSpPr>
        <p:spPr>
          <a:xfrm>
            <a:off x="485775" y="5453209"/>
            <a:ext cx="2809626" cy="186689"/>
          </a:xfrm>
          <a:prstGeom prst="rect">
            <a:avLst/>
          </a:prstGeom>
          <a:noFill/>
        </p:spPr>
        <p:txBody>
          <a:bodyPr wrap="none" lIns="0" tIns="0" rIns="0" bIns="0">
            <a:spAutoFit/>
          </a:bodyPr>
          <a:lstStyle/>
          <a:p>
            <a:r>
              <a:rPr sz="1100" b="0">
                <a:solidFill>
                  <a:srgbClr val="2E2E2E"/>
                </a:solidFill>
                <a:latin typeface="Calibri"/>
              </a:rPr>
              <a:t>▪ ¶ Up to 4 cells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0595" cy="186689"/>
          </a:xfrm>
          <a:prstGeom prst="rect">
            <a:avLst/>
          </a:prstGeom>
          <a:noFill/>
        </p:spPr>
        <p:txBody>
          <a:bodyPr wrap="none" lIns="0" tIns="0" rIns="0" bIns="0">
            <a:spAutoFit/>
          </a:bodyPr>
          <a:lstStyle/>
          <a:p>
            <a:r>
              <a:rPr sz="1100" b="0">
                <a:solidFill>
                  <a:srgbClr val="2E2E2E"/>
                </a:solidFill>
                <a:latin typeface="Calibri"/>
              </a:rPr>
              <a:t>X higher value than 6 to 12 cells segment in</a:t>
            </a:r>
          </a:p>
        </p:txBody>
      </p:sp>
      <p:sp>
        <p:nvSpPr>
          <p:cNvPr id="96" name="TextBox 95"/>
          <p:cNvSpPr txBox="1"/>
          <p:nvPr/>
        </p:nvSpPr>
        <p:spPr>
          <a:xfrm>
            <a:off x="485775" y="5788489"/>
            <a:ext cx="395163" cy="186689"/>
          </a:xfrm>
          <a:prstGeom prst="rect">
            <a:avLst/>
          </a:prstGeom>
          <a:noFill/>
        </p:spPr>
        <p:txBody>
          <a:bodyPr wrap="none" lIns="0" tIns="0" rIns="0" bIns="0">
            <a:spAutoFit/>
          </a:bodyPr>
          <a:lstStyle/>
          <a:p>
            <a:r>
              <a:rPr sz="1100" b="0">
                <a:solidFill>
                  <a:srgbClr val="2E2E2E"/>
                </a:solidFill>
                <a:latin typeface="Calibri"/>
              </a:rPr>
              <a:t>2036.</a:t>
            </a:r>
          </a:p>
        </p:txBody>
      </p:sp>
      <p:sp>
        <p:nvSpPr>
          <p:cNvPr id="97" name="TextBox 96"/>
          <p:cNvSpPr txBox="1"/>
          <p:nvPr/>
        </p:nvSpPr>
        <p:spPr>
          <a:xfrm>
            <a:off x="3838575" y="4229437"/>
            <a:ext cx="942230" cy="186689"/>
          </a:xfrm>
          <a:prstGeom prst="rect">
            <a:avLst/>
          </a:prstGeom>
          <a:noFill/>
        </p:spPr>
        <p:txBody>
          <a:bodyPr wrap="none" lIns="0" tIns="0" rIns="0" bIns="0">
            <a:spAutoFit/>
          </a:bodyPr>
          <a:lstStyle/>
          <a:p>
            <a:r>
              <a:rPr sz="1100" b="0">
                <a:solidFill>
                  <a:srgbClr val="2E2E2E"/>
                </a:solidFill>
                <a:latin typeface="Calibri"/>
              </a:rPr>
              <a:t>● Up to 4 Cells:</a:t>
            </a:r>
          </a:p>
        </p:txBody>
      </p:sp>
      <p:pic>
        <p:nvPicPr>
          <p:cNvPr id="98" name="Picture 97" descr="lock.png"/>
          <p:cNvPicPr>
            <a:picLocks noChangeAspect="1"/>
          </p:cNvPicPr>
          <p:nvPr/>
        </p:nvPicPr>
        <p:blipFill>
          <a:blip r:embed="rId16"/>
          <a:stretch>
            <a:fillRect/>
          </a:stretch>
        </p:blipFill>
        <p:spPr>
          <a:xfrm>
            <a:off x="4728857" y="4219658"/>
            <a:ext cx="128699" cy="187198"/>
          </a:xfrm>
          <a:prstGeom prst="rect">
            <a:avLst/>
          </a:prstGeom>
        </p:spPr>
      </p:pic>
      <p:sp>
        <p:nvSpPr>
          <p:cNvPr id="99" name="TextBox 98"/>
          <p:cNvSpPr txBox="1"/>
          <p:nvPr/>
        </p:nvSpPr>
        <p:spPr>
          <a:xfrm>
            <a:off x="4896353"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755803" y="4219658"/>
            <a:ext cx="128699" cy="187198"/>
          </a:xfrm>
          <a:prstGeom prst="rect">
            <a:avLst/>
          </a:prstGeom>
        </p:spPr>
      </p:pic>
      <p:sp>
        <p:nvSpPr>
          <p:cNvPr id="101" name="TextBox 100"/>
          <p:cNvSpPr txBox="1"/>
          <p:nvPr/>
        </p:nvSpPr>
        <p:spPr>
          <a:xfrm>
            <a:off x="5923299" y="4229437"/>
            <a:ext cx="1503469" cy="186689"/>
          </a:xfrm>
          <a:prstGeom prst="rect">
            <a:avLst/>
          </a:prstGeom>
          <a:noFill/>
        </p:spPr>
        <p:txBody>
          <a:bodyPr wrap="none" lIns="0" tIns="0" r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20948" cy="186689"/>
          </a:xfrm>
          <a:prstGeom prst="rect">
            <a:avLst/>
          </a:prstGeom>
          <a:noFill/>
        </p:spPr>
        <p:txBody>
          <a:bodyPr wrap="none" lIns="0" tIns="0" rIns="0" bIns="0">
            <a:spAutoFit/>
          </a:bodyPr>
          <a:lstStyle/>
          <a:p>
            <a:r>
              <a:rPr sz="1100" b="0">
                <a:solidFill>
                  <a:srgbClr val="2E2E2E"/>
                </a:solidFill>
                <a:latin typeface="Calibri"/>
              </a:rPr>
              <a:t>● 6 to 12 Cells:</a:t>
            </a:r>
          </a:p>
        </p:txBody>
      </p:sp>
      <p:pic>
        <p:nvPicPr>
          <p:cNvPr id="103" name="Picture 102" descr="lock.png"/>
          <p:cNvPicPr>
            <a:picLocks noChangeAspect="1"/>
          </p:cNvPicPr>
          <p:nvPr/>
        </p:nvPicPr>
        <p:blipFill>
          <a:blip r:embed="rId16"/>
          <a:stretch>
            <a:fillRect/>
          </a:stretch>
        </p:blipFill>
        <p:spPr>
          <a:xfrm>
            <a:off x="4707575" y="4437590"/>
            <a:ext cx="128699" cy="187198"/>
          </a:xfrm>
          <a:prstGeom prst="rect">
            <a:avLst/>
          </a:prstGeom>
        </p:spPr>
      </p:pic>
      <p:sp>
        <p:nvSpPr>
          <p:cNvPr id="104" name="TextBox 103"/>
          <p:cNvSpPr txBox="1"/>
          <p:nvPr/>
        </p:nvSpPr>
        <p:spPr>
          <a:xfrm>
            <a:off x="4875070"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34521" y="4437590"/>
            <a:ext cx="128699" cy="187198"/>
          </a:xfrm>
          <a:prstGeom prst="rect">
            <a:avLst/>
          </a:prstGeom>
        </p:spPr>
      </p:pic>
      <p:sp>
        <p:nvSpPr>
          <p:cNvPr id="106" name="TextBox 105"/>
          <p:cNvSpPr txBox="1"/>
          <p:nvPr/>
        </p:nvSpPr>
        <p:spPr>
          <a:xfrm>
            <a:off x="5902016" y="4447369"/>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107" name="TextBox 106"/>
          <p:cNvSpPr txBox="1"/>
          <p:nvPr/>
        </p:nvSpPr>
        <p:spPr>
          <a:xfrm>
            <a:off x="3838575" y="4665301"/>
            <a:ext cx="991889" cy="186689"/>
          </a:xfrm>
          <a:prstGeom prst="rect">
            <a:avLst/>
          </a:prstGeom>
          <a:noFill/>
        </p:spPr>
        <p:txBody>
          <a:bodyPr wrap="none" lIns="0" tIns="0" rIns="0" bIns="0">
            <a:spAutoFit/>
          </a:bodyPr>
          <a:lstStyle/>
          <a:p>
            <a:r>
              <a:rPr sz="1100" b="0">
                <a:solidFill>
                  <a:srgbClr val="2E2E2E"/>
                </a:solidFill>
                <a:latin typeface="Calibri"/>
              </a:rPr>
              <a:t>● 13 to 24 Cells:</a:t>
            </a:r>
          </a:p>
        </p:txBody>
      </p:sp>
      <p:pic>
        <p:nvPicPr>
          <p:cNvPr id="108" name="Picture 107" descr="lock.png"/>
          <p:cNvPicPr>
            <a:picLocks noChangeAspect="1"/>
          </p:cNvPicPr>
          <p:nvPr/>
        </p:nvPicPr>
        <p:blipFill>
          <a:blip r:embed="rId16"/>
          <a:stretch>
            <a:fillRect/>
          </a:stretch>
        </p:blipFill>
        <p:spPr>
          <a:xfrm>
            <a:off x="4778516" y="4655522"/>
            <a:ext cx="128699" cy="187198"/>
          </a:xfrm>
          <a:prstGeom prst="rect">
            <a:avLst/>
          </a:prstGeom>
        </p:spPr>
      </p:pic>
      <p:sp>
        <p:nvSpPr>
          <p:cNvPr id="109" name="TextBox 108"/>
          <p:cNvSpPr txBox="1"/>
          <p:nvPr/>
        </p:nvSpPr>
        <p:spPr>
          <a:xfrm>
            <a:off x="4946012" y="466530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5805462" y="4655522"/>
            <a:ext cx="128699" cy="187198"/>
          </a:xfrm>
          <a:prstGeom prst="rect">
            <a:avLst/>
          </a:prstGeom>
        </p:spPr>
      </p:pic>
      <p:sp>
        <p:nvSpPr>
          <p:cNvPr id="111" name="TextBox 110"/>
          <p:cNvSpPr txBox="1"/>
          <p:nvPr/>
        </p:nvSpPr>
        <p:spPr>
          <a:xfrm>
            <a:off x="5972958" y="4665301"/>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058192" cy="186689"/>
          </a:xfrm>
          <a:prstGeom prst="rect">
            <a:avLst/>
          </a:prstGeom>
          <a:noFill/>
        </p:spPr>
        <p:txBody>
          <a:bodyPr wrap="none" lIns="0" tIns="0" rIns="0" bIns="0">
            <a:spAutoFit/>
          </a:bodyPr>
          <a:lstStyle/>
          <a:p>
            <a:r>
              <a:rPr sz="1100" b="0">
                <a:solidFill>
                  <a:srgbClr val="2E2E2E"/>
                </a:solidFill>
                <a:latin typeface="Calibri"/>
              </a:rPr>
              <a:t>● Above 24 Cells:</a:t>
            </a:r>
          </a:p>
        </p:txBody>
      </p:sp>
      <p:pic>
        <p:nvPicPr>
          <p:cNvPr id="113" name="Picture 112" descr="lock.png"/>
          <p:cNvPicPr>
            <a:picLocks noChangeAspect="1"/>
          </p:cNvPicPr>
          <p:nvPr/>
        </p:nvPicPr>
        <p:blipFill>
          <a:blip r:embed="rId16"/>
          <a:stretch>
            <a:fillRect/>
          </a:stretch>
        </p:blipFill>
        <p:spPr>
          <a:xfrm>
            <a:off x="4844819" y="4873454"/>
            <a:ext cx="128699" cy="187198"/>
          </a:xfrm>
          <a:prstGeom prst="rect">
            <a:avLst/>
          </a:prstGeom>
        </p:spPr>
      </p:pic>
      <p:sp>
        <p:nvSpPr>
          <p:cNvPr id="114" name="TextBox 113"/>
          <p:cNvSpPr txBox="1"/>
          <p:nvPr/>
        </p:nvSpPr>
        <p:spPr>
          <a:xfrm>
            <a:off x="5012315" y="4883233"/>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5871765" y="4873454"/>
            <a:ext cx="128699" cy="187198"/>
          </a:xfrm>
          <a:prstGeom prst="rect">
            <a:avLst/>
          </a:prstGeom>
        </p:spPr>
      </p:pic>
      <p:sp>
        <p:nvSpPr>
          <p:cNvPr id="116" name="TextBox 115"/>
          <p:cNvSpPr txBox="1"/>
          <p:nvPr/>
        </p:nvSpPr>
        <p:spPr>
          <a:xfrm>
            <a:off x="6039261" y="4883233"/>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117" name="TextBox 116"/>
          <p:cNvSpPr txBox="1"/>
          <p:nvPr/>
        </p:nvSpPr>
        <p:spPr>
          <a:xfrm>
            <a:off x="8524875" y="5842641"/>
            <a:ext cx="3162300" cy="194310"/>
          </a:xfrm>
          <a:prstGeom prst="rect">
            <a:avLst/>
          </a:prstGeom>
          <a:noFill/>
        </p:spPr>
        <p:txBody>
          <a:bodyPr wrap="none" lIns="0" tIns="0" rIns="0" bIns="0">
            <a:spAutoFit/>
          </a:bodyPr>
          <a:lstStyle/>
          <a:p>
            <a:r>
              <a:rPr sz="1150" b="1">
                <a:solidFill>
                  <a:srgbClr val="0B2E4A"/>
                </a:solidFill>
                <a:latin typeface="Calibri"/>
              </a:rPr>
              <a:t>The Cell Configuration segment is projected to grow</a:t>
            </a:r>
          </a:p>
        </p:txBody>
      </p:sp>
      <p:sp>
        <p:nvSpPr>
          <p:cNvPr id="118" name="TextBox 117"/>
          <p:cNvSpPr txBox="1"/>
          <p:nvPr/>
        </p:nvSpPr>
        <p:spPr>
          <a:xfrm>
            <a:off x="8524875" y="6017901"/>
            <a:ext cx="836089" cy="194310"/>
          </a:xfrm>
          <a:prstGeom prst="rect">
            <a:avLst/>
          </a:prstGeom>
          <a:noFill/>
        </p:spPr>
        <p:txBody>
          <a:bodyPr wrap="none" lIns="0" tIns="0" rIns="0" bIns="0">
            <a:spAutoFit/>
          </a:bodyPr>
          <a:lstStyle/>
          <a:p>
            <a:r>
              <a:rPr sz="1150" b="1">
                <a:solidFill>
                  <a:srgbClr val="0B2E4A"/>
                </a:solidFill>
                <a:latin typeface="Calibri"/>
              </a:rPr>
              <a:t>at a CAGR of</a:t>
            </a:r>
          </a:p>
        </p:txBody>
      </p:sp>
      <p:pic>
        <p:nvPicPr>
          <p:cNvPr id="119" name="Picture 118" descr="lock.png"/>
          <p:cNvPicPr>
            <a:picLocks noChangeAspect="1"/>
          </p:cNvPicPr>
          <p:nvPr/>
        </p:nvPicPr>
        <p:blipFill>
          <a:blip r:embed="rId16"/>
          <a:stretch>
            <a:fillRect/>
          </a:stretch>
        </p:blipFill>
        <p:spPr>
          <a:xfrm>
            <a:off x="9310118" y="6007677"/>
            <a:ext cx="134549" cy="195707"/>
          </a:xfrm>
          <a:prstGeom prst="rect">
            <a:avLst/>
          </a:prstGeom>
        </p:spPr>
      </p:pic>
      <p:sp>
        <p:nvSpPr>
          <p:cNvPr id="120" name="TextBox 119"/>
          <p:cNvSpPr txBox="1"/>
          <p:nvPr/>
        </p:nvSpPr>
        <p:spPr>
          <a:xfrm>
            <a:off x="9485227"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Structure &amp; Attractiveness, By Cell Configuration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Cell Configuration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Cell Configuration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Cell Configuration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77650" cy="186689"/>
          </a:xfrm>
          <a:prstGeom prst="rect">
            <a:avLst/>
          </a:prstGeom>
          <a:noFill/>
        </p:spPr>
        <p:txBody>
          <a:bodyPr wrap="none" lIns="0" tIns="0" rIns="0" bIns="0">
            <a:spAutoFit/>
          </a:bodyPr>
          <a:lstStyle/>
          <a:p>
            <a:r>
              <a:rPr sz="1100" b="0">
                <a:solidFill>
                  <a:srgbClr val="2E2E2E"/>
                </a:solidFill>
                <a:latin typeface="Calibri"/>
              </a:rPr>
              <a:t>Up to 4 cells followed by 6 to 12 cells are expected to be the two most attractive cell configuration segments in the North America corrugated partition market in terms of value over the forecast period. Up</a:t>
            </a:r>
          </a:p>
        </p:txBody>
      </p:sp>
      <p:sp>
        <p:nvSpPr>
          <p:cNvPr id="21" name="TextBox 20"/>
          <p:cNvSpPr txBox="1"/>
          <p:nvPr/>
        </p:nvSpPr>
        <p:spPr>
          <a:xfrm>
            <a:off x="257175" y="5945505"/>
            <a:ext cx="2889828" cy="186689"/>
          </a:xfrm>
          <a:prstGeom prst="rect">
            <a:avLst/>
          </a:prstGeom>
          <a:noFill/>
        </p:spPr>
        <p:txBody>
          <a:bodyPr wrap="none" lIns="0" tIns="0" rIns="0" bIns="0">
            <a:spAutoFit/>
          </a:bodyPr>
          <a:lstStyle/>
          <a:p>
            <a:r>
              <a:rPr sz="1100" b="0">
                <a:solidFill>
                  <a:srgbClr val="2E2E2E"/>
                </a:solidFill>
                <a:latin typeface="Calibri"/>
              </a:rPr>
              <a:t>to 4 cells and 6 to 12 cells exhibit a CAGR index of</a:t>
            </a:r>
          </a:p>
        </p:txBody>
      </p:sp>
      <p:pic>
        <p:nvPicPr>
          <p:cNvPr id="22" name="Picture 21" descr="lock.png"/>
          <p:cNvPicPr>
            <a:picLocks noChangeAspect="1"/>
          </p:cNvPicPr>
          <p:nvPr/>
        </p:nvPicPr>
        <p:blipFill>
          <a:blip r:embed="rId6"/>
          <a:stretch>
            <a:fillRect/>
          </a:stretch>
        </p:blipFill>
        <p:spPr>
          <a:xfrm>
            <a:off x="3095054" y="5935726"/>
            <a:ext cx="128699" cy="187198"/>
          </a:xfrm>
          <a:prstGeom prst="rect">
            <a:avLst/>
          </a:prstGeom>
        </p:spPr>
      </p:pic>
      <p:sp>
        <p:nvSpPr>
          <p:cNvPr id="23" name="TextBox 22"/>
          <p:cNvSpPr txBox="1"/>
          <p:nvPr/>
        </p:nvSpPr>
        <p:spPr>
          <a:xfrm>
            <a:off x="3262550"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3500445" y="5935726"/>
            <a:ext cx="128699" cy="187198"/>
          </a:xfrm>
          <a:prstGeom prst="rect">
            <a:avLst/>
          </a:prstGeom>
        </p:spPr>
      </p:pic>
      <p:sp>
        <p:nvSpPr>
          <p:cNvPr id="25" name="TextBox 24"/>
          <p:cNvSpPr txBox="1"/>
          <p:nvPr/>
        </p:nvSpPr>
        <p:spPr>
          <a:xfrm>
            <a:off x="3667940"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276914" y="5935726"/>
            <a:ext cx="128699" cy="187198"/>
          </a:xfrm>
          <a:prstGeom prst="rect">
            <a:avLst/>
          </a:prstGeom>
        </p:spPr>
      </p:pic>
      <p:sp>
        <p:nvSpPr>
          <p:cNvPr id="27" name="TextBox 26"/>
          <p:cNvSpPr txBox="1"/>
          <p:nvPr/>
        </p:nvSpPr>
        <p:spPr>
          <a:xfrm>
            <a:off x="5444410"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682304" y="5935726"/>
            <a:ext cx="128699" cy="187198"/>
          </a:xfrm>
          <a:prstGeom prst="rect">
            <a:avLst/>
          </a:prstGeom>
        </p:spPr>
      </p:pic>
      <p:sp>
        <p:nvSpPr>
          <p:cNvPr id="29" name="TextBox 28"/>
          <p:cNvSpPr txBox="1"/>
          <p:nvPr/>
        </p:nvSpPr>
        <p:spPr>
          <a:xfrm>
            <a:off x="5849800" y="594550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404204" y="5935726"/>
            <a:ext cx="128699" cy="187198"/>
          </a:xfrm>
          <a:prstGeom prst="rect">
            <a:avLst/>
          </a:prstGeom>
        </p:spPr>
      </p:pic>
      <p:sp>
        <p:nvSpPr>
          <p:cNvPr id="31" name="TextBox 30"/>
          <p:cNvSpPr txBox="1"/>
          <p:nvPr/>
        </p:nvSpPr>
        <p:spPr>
          <a:xfrm>
            <a:off x="8571700" y="5945505"/>
            <a:ext cx="2707580" cy="186689"/>
          </a:xfrm>
          <a:prstGeom prst="rect">
            <a:avLst/>
          </a:prstGeom>
          <a:noFill/>
        </p:spPr>
        <p:txBody>
          <a:bodyPr wrap="none" lIns="0" tIns="0" rIns="0" bIns="0">
            <a:spAutoFit/>
          </a:bodyPr>
          <a:lstStyle/>
          <a:p>
            <a:r>
              <a:rPr sz="1100" b="0">
                <a:solidFill>
                  <a:srgbClr val="2E2E2E"/>
                </a:solidFill>
                <a:latin typeface="Calibri"/>
              </a:rPr>
              <a:t>. The above 24 cells segment is expected to be</a:t>
            </a:r>
          </a:p>
        </p:txBody>
      </p:sp>
      <p:sp>
        <p:nvSpPr>
          <p:cNvPr id="32" name="TextBox 31"/>
          <p:cNvSpPr txBox="1"/>
          <p:nvPr/>
        </p:nvSpPr>
        <p:spPr>
          <a:xfrm>
            <a:off x="257175" y="6113145"/>
            <a:ext cx="11580952" cy="186689"/>
          </a:xfrm>
          <a:prstGeom prst="rect">
            <a:avLst/>
          </a:prstGeom>
          <a:noFill/>
        </p:spPr>
        <p:txBody>
          <a:bodyPr wrap="none" lIns="0" tIns="0" rIns="0" bIns="0">
            <a:spAutoFit/>
          </a:bodyPr>
          <a:lstStyle/>
          <a:p>
            <a:r>
              <a:rPr sz="1100" b="0">
                <a:solidFill>
                  <a:srgbClr val="2E2E2E"/>
                </a:solidFill>
                <a:latin typeface="Calibri"/>
              </a:rPr>
              <a:t>less attractive as compared to other segments over the forecast period, owing to its lower CAGR and 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Analysis, By Cell Configuration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Cell Configuration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Up to 4 Cells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6 to 12 Cells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38125" y="39243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13 to 24 Cells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267450" y="39243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Above 24 Cells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xmlns:r="http://schemas.openxmlformats.org/officeDocument/2006/relationships" r:id="rId7"/>
          </a:graphicData>
        </a:graphic>
      </p:graphicFrame>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Volume Analysis, By Cell Configuration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Cell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By Cell Configuration (MT)</a:t>
            </a:r>
          </a:p>
        </p:txBody>
      </p:sp>
      <p:graphicFrame>
        <p:nvGraphicFramePr>
          <p:cNvPr id="13" name="Table 12"/>
          <p:cNvGraphicFramePr>
            <a:graphicFrameLocks noGrp="1"/>
          </p:cNvGraphicFramePr>
          <p:nvPr/>
        </p:nvGraphicFramePr>
        <p:xfrm>
          <a:off x="152400" y="1238250"/>
          <a:ext cx="11887200" cy="1676402"/>
        </p:xfrm>
        <a:graphic>
          <a:graphicData uri="http://schemas.openxmlformats.org/drawingml/2006/table">
            <a:tbl>
              <a:tblPr>
                <a:tableStyleId>{5C22544A-7EE6-4342-B048-85BDC9FD1C3A}</a:tableStyleId>
              </a:tblPr>
              <a:tblGrid>
                <a:gridCol w="977441">
                  <a:extLst>
                    <a:ext uri="{9D8B030D-6E8A-4147-A177-3AD203B41FA5}">
                      <a16:colId xmlns:a16="http://schemas.microsoft.com/office/drawing/2014/main" val="20000"/>
                    </a:ext>
                  </a:extLst>
                </a:gridCol>
                <a:gridCol w="655320">
                  <a:extLst>
                    <a:ext uri="{9D8B030D-6E8A-4147-A177-3AD203B41FA5}">
                      <a16:colId xmlns:a16="http://schemas.microsoft.com/office/drawing/2014/main" val="20001"/>
                    </a:ext>
                  </a:extLst>
                </a:gridCol>
                <a:gridCol w="655320">
                  <a:extLst>
                    <a:ext uri="{9D8B030D-6E8A-4147-A177-3AD203B41FA5}">
                      <a16:colId xmlns:a16="http://schemas.microsoft.com/office/drawing/2014/main" val="20002"/>
                    </a:ext>
                  </a:extLst>
                </a:gridCol>
                <a:gridCol w="655320">
                  <a:extLst>
                    <a:ext uri="{9D8B030D-6E8A-4147-A177-3AD203B41FA5}">
                      <a16:colId xmlns:a16="http://schemas.microsoft.com/office/drawing/2014/main" val="20003"/>
                    </a:ext>
                  </a:extLst>
                </a:gridCol>
                <a:gridCol w="655320">
                  <a:extLst>
                    <a:ext uri="{9D8B030D-6E8A-4147-A177-3AD203B41FA5}">
                      <a16:colId xmlns:a16="http://schemas.microsoft.com/office/drawing/2014/main" val="20004"/>
                    </a:ext>
                  </a:extLst>
                </a:gridCol>
                <a:gridCol w="655320">
                  <a:extLst>
                    <a:ext uri="{9D8B030D-6E8A-4147-A177-3AD203B41FA5}">
                      <a16:colId xmlns:a16="http://schemas.microsoft.com/office/drawing/2014/main" val="20005"/>
                    </a:ext>
                  </a:extLst>
                </a:gridCol>
                <a:gridCol w="655320">
                  <a:extLst>
                    <a:ext uri="{9D8B030D-6E8A-4147-A177-3AD203B41FA5}">
                      <a16:colId xmlns:a16="http://schemas.microsoft.com/office/drawing/2014/main" val="20006"/>
                    </a:ext>
                  </a:extLst>
                </a:gridCol>
                <a:gridCol w="655320">
                  <a:extLst>
                    <a:ext uri="{9D8B030D-6E8A-4147-A177-3AD203B41FA5}">
                      <a16:colId xmlns:a16="http://schemas.microsoft.com/office/drawing/2014/main" val="20007"/>
                    </a:ext>
                  </a:extLst>
                </a:gridCol>
                <a:gridCol w="655320">
                  <a:extLst>
                    <a:ext uri="{9D8B030D-6E8A-4147-A177-3AD203B41FA5}">
                      <a16:colId xmlns:a16="http://schemas.microsoft.com/office/drawing/2014/main" val="20008"/>
                    </a:ext>
                  </a:extLst>
                </a:gridCol>
                <a:gridCol w="655320">
                  <a:extLst>
                    <a:ext uri="{9D8B030D-6E8A-4147-A177-3AD203B41FA5}">
                      <a16:colId xmlns:a16="http://schemas.microsoft.com/office/drawing/2014/main" val="20009"/>
                    </a:ext>
                  </a:extLst>
                </a:gridCol>
                <a:gridCol w="655320">
                  <a:extLst>
                    <a:ext uri="{9D8B030D-6E8A-4147-A177-3AD203B41FA5}">
                      <a16:colId xmlns:a16="http://schemas.microsoft.com/office/drawing/2014/main" val="20010"/>
                    </a:ext>
                  </a:extLst>
                </a:gridCol>
                <a:gridCol w="655320">
                  <a:extLst>
                    <a:ext uri="{9D8B030D-6E8A-4147-A177-3AD203B41FA5}">
                      <a16:colId xmlns:a16="http://schemas.microsoft.com/office/drawing/2014/main" val="20011"/>
                    </a:ext>
                  </a:extLst>
                </a:gridCol>
                <a:gridCol w="655320">
                  <a:extLst>
                    <a:ext uri="{9D8B030D-6E8A-4147-A177-3AD203B41FA5}">
                      <a16:colId xmlns:a16="http://schemas.microsoft.com/office/drawing/2014/main" val="20012"/>
                    </a:ext>
                  </a:extLst>
                </a:gridCol>
                <a:gridCol w="655320">
                  <a:extLst>
                    <a:ext uri="{9D8B030D-6E8A-4147-A177-3AD203B41FA5}">
                      <a16:colId xmlns:a16="http://schemas.microsoft.com/office/drawing/2014/main" val="20013"/>
                    </a:ext>
                  </a:extLst>
                </a:gridCol>
                <a:gridCol w="655320">
                  <a:extLst>
                    <a:ext uri="{9D8B030D-6E8A-4147-A177-3AD203B41FA5}">
                      <a16:colId xmlns:a16="http://schemas.microsoft.com/office/drawing/2014/main" val="20014"/>
                    </a:ext>
                  </a:extLst>
                </a:gridCol>
                <a:gridCol w="655320">
                  <a:extLst>
                    <a:ext uri="{9D8B030D-6E8A-4147-A177-3AD203B41FA5}">
                      <a16:colId xmlns:a16="http://schemas.microsoft.com/office/drawing/2014/main" val="20015"/>
                    </a:ext>
                  </a:extLst>
                </a:gridCol>
                <a:gridCol w="655320">
                  <a:extLst>
                    <a:ext uri="{9D8B030D-6E8A-4147-A177-3AD203B41FA5}">
                      <a16:colId xmlns:a16="http://schemas.microsoft.com/office/drawing/2014/main" val="20016"/>
                    </a:ext>
                  </a:extLst>
                </a:gridCol>
                <a:gridCol w="424639">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a:lstStyle/>
                    <a:p>
                      <a:pPr algn="ctr"/>
                      <a:r>
                        <a:rPr sz="1100" b="1">
                          <a:solidFill>
                            <a:srgbClr val="0B2E4A"/>
                          </a:solidFill>
                          <a:latin typeface="Calibri"/>
                        </a:rPr>
                        <a:t>F-CAGR</a:t>
                      </a:r>
                      <a:endParaRPr sz="1100"/>
                    </a:p>
                  </a:txBody>
                  <a:tcPr marL="28575" marR="19050" marT="19050" marB="19050" anchor="ctr">
                    <a:solidFill>
                      <a:srgbClr val="E0E8EF"/>
                    </a:solidFill>
                  </a:tcPr>
                </a:tc>
                <a:extLst>
                  <a:ext uri="{0D108BD9-81ED-4DB2-BD59-A6C34878D82A}">
                    <a16:rowId xmlns:a16="http://schemas.microsoft.com/office/drawing/2014/main" val="10000"/>
                  </a:ext>
                </a:extLst>
              </a:tr>
              <a:tr h="247498">
                <a:tc>
                  <a:txBody>
                    <a:bodyPr/>
                    <a:lstStyle/>
                    <a:p>
                      <a:pPr algn="l"/>
                      <a:r>
                        <a:rPr sz="1100" b="1">
                          <a:solidFill>
                            <a:srgbClr val="2E2E2E"/>
                          </a:solidFill>
                          <a:latin typeface="Calibri"/>
                        </a:rPr>
                        <a:t>Up to 4 Cells</a:t>
                      </a:r>
                      <a:endParaRPr sz="1100"/>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extLst>
                  <a:ext uri="{0D108BD9-81ED-4DB2-BD59-A6C34878D82A}">
                    <a16:rowId xmlns:a16="http://schemas.microsoft.com/office/drawing/2014/main" val="10001"/>
                  </a:ext>
                </a:extLst>
              </a:tr>
              <a:tr h="247498">
                <a:tc>
                  <a:txBody>
                    <a:bodyPr/>
                    <a:lstStyle/>
                    <a:p>
                      <a:pPr algn="l"/>
                      <a:r>
                        <a:rPr sz="1100" b="1">
                          <a:solidFill>
                            <a:srgbClr val="2E2E2E"/>
                          </a:solidFill>
                          <a:latin typeface="Calibri"/>
                        </a:rPr>
                        <a:t>6 to 12 Cells</a:t>
                      </a:r>
                      <a:endParaRPr sz="1100"/>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extLst>
                  <a:ext uri="{0D108BD9-81ED-4DB2-BD59-A6C34878D82A}">
                    <a16:rowId xmlns:a16="http://schemas.microsoft.com/office/drawing/2014/main" val="10002"/>
                  </a:ext>
                </a:extLst>
              </a:tr>
              <a:tr h="247498">
                <a:tc>
                  <a:txBody>
                    <a:bodyPr/>
                    <a:lstStyle/>
                    <a:p>
                      <a:pPr algn="l"/>
                      <a:r>
                        <a:rPr sz="1100" b="1">
                          <a:solidFill>
                            <a:srgbClr val="2E2E2E"/>
                          </a:solidFill>
                          <a:latin typeface="Calibri"/>
                        </a:rPr>
                        <a:t>13 to 24 Cells</a:t>
                      </a:r>
                      <a:endParaRPr sz="1100"/>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tc>
                  <a:txBody>
                    <a:bodyPr/>
                    <a:lstStyle/>
                    <a:p>
                      <a:pPr algn="ctr"/>
                      <a:r>
                        <a:rPr sz="1100"/>
                        <a:t> </a:t>
                      </a:r>
                    </a:p>
                  </a:txBody>
                  <a:tcPr marL="28575" marR="19050" marT="19050" marB="19050" anchor="ctr">
                    <a:solidFill>
                      <a:srgbClr val="FFFFFF"/>
                    </a:solidFill>
                  </a:tcPr>
                </a:tc>
                <a:extLst>
                  <a:ext uri="{0D108BD9-81ED-4DB2-BD59-A6C34878D82A}">
                    <a16:rowId xmlns:a16="http://schemas.microsoft.com/office/drawing/2014/main" val="10003"/>
                  </a:ext>
                </a:extLst>
              </a:tr>
              <a:tr h="247498">
                <a:tc>
                  <a:txBody>
                    <a:bodyPr/>
                    <a:lstStyle/>
                    <a:p>
                      <a:pPr algn="l"/>
                      <a:r>
                        <a:rPr sz="1100" b="1">
                          <a:solidFill>
                            <a:srgbClr val="2E2E2E"/>
                          </a:solidFill>
                          <a:latin typeface="Calibri"/>
                        </a:rPr>
                        <a:t>Above 24 Cells</a:t>
                      </a:r>
                      <a:endParaRPr sz="1100"/>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tc>
                  <a:txBody>
                    <a:bodyPr/>
                    <a:lstStyle/>
                    <a:p>
                      <a:pPr algn="ctr"/>
                      <a:r>
                        <a:rPr sz="1100"/>
                        <a:t> </a:t>
                      </a:r>
                    </a:p>
                  </a:txBody>
                  <a:tcPr marL="28575" marR="19050" marT="19050" marB="19050" anchor="ctr">
                    <a:solidFill>
                      <a:srgbClr val="F5F8FA"/>
                    </a:solidFill>
                  </a:tcPr>
                </a:tc>
                <a:extLst>
                  <a:ext uri="{0D108BD9-81ED-4DB2-BD59-A6C34878D82A}">
                    <a16:rowId xmlns:a16="http://schemas.microsoft.com/office/drawing/2014/main" val="10004"/>
                  </a:ext>
                </a:extLst>
              </a:tr>
              <a:tr h="247498">
                <a:tc>
                  <a:txBody>
                    <a:bodyPr/>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tc>
                  <a:txBody>
                    <a:bodyPr/>
                    <a:lstStyle/>
                    <a:p>
                      <a:pPr algn="ctr"/>
                      <a:r>
                        <a:rPr sz="1100"/>
                        <a:t> </a:t>
                      </a:r>
                    </a:p>
                  </a:txBody>
                  <a:tcPr marL="28575" marR="1905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29241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34327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Volume Analysis, By Cell Configuration</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667125"/>
            <a:ext cx="11639550" cy="28860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8030" y="2029206"/>
            <a:ext cx="366712" cy="533400"/>
          </a:xfrm>
          <a:prstGeom prst="rect">
            <a:avLst/>
          </a:prstGeom>
        </p:spPr>
      </p:pic>
      <p:sp>
        <p:nvSpPr>
          <p:cNvPr id="21" name="TextBox 20"/>
          <p:cNvSpPr txBox="1"/>
          <p:nvPr/>
        </p:nvSpPr>
        <p:spPr>
          <a:xfrm>
            <a:off x="276225" y="3676650"/>
            <a:ext cx="2708237" cy="194310"/>
          </a:xfrm>
          <a:prstGeom prst="rect">
            <a:avLst/>
          </a:prstGeom>
          <a:noFill/>
        </p:spPr>
        <p:txBody>
          <a:bodyPr wrap="none" lIns="0" tIns="0" rIns="0" bIns="0">
            <a:spAutoFit/>
          </a:bodyPr>
          <a:lstStyle/>
          <a:p>
            <a:r>
              <a:rPr sz="1150" b="0">
                <a:solidFill>
                  <a:srgbClr val="2E2E2E"/>
                </a:solidFill>
                <a:latin typeface="Calibri"/>
              </a:rPr>
              <a:t>6 to 12 cells segment is projected to register</a:t>
            </a:r>
          </a:p>
        </p:txBody>
      </p:sp>
      <p:pic>
        <p:nvPicPr>
          <p:cNvPr id="22" name="Picture 21" descr="lock.png"/>
          <p:cNvPicPr>
            <a:picLocks noChangeAspect="1"/>
          </p:cNvPicPr>
          <p:nvPr/>
        </p:nvPicPr>
        <p:blipFill>
          <a:blip r:embed="rId4"/>
          <a:stretch>
            <a:fillRect/>
          </a:stretch>
        </p:blipFill>
        <p:spPr>
          <a:xfrm>
            <a:off x="2933616" y="3666426"/>
            <a:ext cx="134549" cy="195707"/>
          </a:xfrm>
          <a:prstGeom prst="rect">
            <a:avLst/>
          </a:prstGeom>
        </p:spPr>
      </p:pic>
      <p:sp>
        <p:nvSpPr>
          <p:cNvPr id="23" name="TextBox 22"/>
          <p:cNvSpPr txBox="1"/>
          <p:nvPr/>
        </p:nvSpPr>
        <p:spPr>
          <a:xfrm>
            <a:off x="3108726" y="3676650"/>
            <a:ext cx="8752768" cy="194310"/>
          </a:xfrm>
          <a:prstGeom prst="rect">
            <a:avLst/>
          </a:prstGeom>
          <a:noFill/>
        </p:spPr>
        <p:txBody>
          <a:bodyPr wrap="none" lIns="0" tIns="0" rIns="0" bIns="0">
            <a:spAutoFit/>
          </a:bodyPr>
          <a:lstStyle/>
          <a:p>
            <a:r>
              <a:rPr sz="1150" b="0">
                <a:solidFill>
                  <a:srgbClr val="2E2E2E"/>
                </a:solidFill>
                <a:latin typeface="Calibri"/>
              </a:rPr>
              <a:t>X higher volume than up to 4 cells segment in 2036. Among corrugated partition by cell configuration, 6 to 12 cells segment is expected to witness</a:t>
            </a:r>
          </a:p>
        </p:txBody>
      </p:sp>
      <p:sp>
        <p:nvSpPr>
          <p:cNvPr id="24" name="TextBox 23"/>
          <p:cNvSpPr txBox="1"/>
          <p:nvPr/>
        </p:nvSpPr>
        <p:spPr>
          <a:xfrm>
            <a:off x="276225" y="3851910"/>
            <a:ext cx="1263979" cy="194310"/>
          </a:xfrm>
          <a:prstGeom prst="rect">
            <a:avLst/>
          </a:prstGeom>
          <a:noFill/>
        </p:spPr>
        <p:txBody>
          <a:bodyPr wrap="none" lIns="0" tIns="0" r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841686"/>
            <a:ext cx="134549" cy="195707"/>
          </a:xfrm>
          <a:prstGeom prst="rect">
            <a:avLst/>
          </a:prstGeom>
        </p:spPr>
      </p:pic>
      <p:sp>
        <p:nvSpPr>
          <p:cNvPr id="26" name="TextBox 25"/>
          <p:cNvSpPr txBox="1"/>
          <p:nvPr/>
        </p:nvSpPr>
        <p:spPr>
          <a:xfrm>
            <a:off x="1664467" y="38519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079747"/>
            <a:ext cx="7012148" cy="194310"/>
          </a:xfrm>
          <a:prstGeom prst="rect">
            <a:avLst/>
          </a:prstGeom>
          <a:noFill/>
        </p:spPr>
        <p:txBody>
          <a:bodyPr wrap="none" lIns="0" tIns="0" rIns="0" bIns="0">
            <a:spAutoFit/>
          </a:bodyPr>
          <a:lstStyle/>
          <a:p>
            <a:r>
              <a:rPr sz="1150" b="0">
                <a:solidFill>
                  <a:srgbClr val="2E2E2E"/>
                </a:solidFill>
                <a:latin typeface="Calibri"/>
              </a:rPr>
              <a:t>In terms of volume share by cell configuration, the 6 to 12 cells segment is expected to dominate the market, gaining</a:t>
            </a:r>
          </a:p>
        </p:txBody>
      </p:sp>
      <p:pic>
        <p:nvPicPr>
          <p:cNvPr id="28" name="Picture 27" descr="lock.png"/>
          <p:cNvPicPr>
            <a:picLocks noChangeAspect="1"/>
          </p:cNvPicPr>
          <p:nvPr/>
        </p:nvPicPr>
        <p:blipFill>
          <a:blip r:embed="rId4"/>
          <a:stretch>
            <a:fillRect/>
          </a:stretch>
        </p:blipFill>
        <p:spPr>
          <a:xfrm>
            <a:off x="7237527" y="4069524"/>
            <a:ext cx="134549" cy="195707"/>
          </a:xfrm>
          <a:prstGeom prst="rect">
            <a:avLst/>
          </a:prstGeom>
        </p:spPr>
      </p:pic>
      <p:sp>
        <p:nvSpPr>
          <p:cNvPr id="29" name="TextBox 28"/>
          <p:cNvSpPr txBox="1"/>
          <p:nvPr/>
        </p:nvSpPr>
        <p:spPr>
          <a:xfrm>
            <a:off x="7412636" y="40797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807780" y="4069524"/>
            <a:ext cx="134549" cy="195707"/>
          </a:xfrm>
          <a:prstGeom prst="rect">
            <a:avLst/>
          </a:prstGeom>
        </p:spPr>
      </p:pic>
      <p:sp>
        <p:nvSpPr>
          <p:cNvPr id="31" name="TextBox 30"/>
          <p:cNvSpPr txBox="1"/>
          <p:nvPr/>
        </p:nvSpPr>
        <p:spPr>
          <a:xfrm>
            <a:off x="8982889" y="4079747"/>
            <a:ext cx="2684846" cy="194310"/>
          </a:xfrm>
          <a:prstGeom prst="rect">
            <a:avLst/>
          </a:prstGeom>
          <a:noFill/>
        </p:spPr>
        <p:txBody>
          <a:bodyPr wrap="none" lIns="0" tIns="0" rIns="0" bIns="0">
            <a:spAutoFit/>
          </a:bodyPr>
          <a:lstStyle/>
          <a:p>
            <a:r>
              <a:rPr sz="1150" b="0">
                <a:solidFill>
                  <a:srgbClr val="2E2E2E"/>
                </a:solidFill>
                <a:latin typeface="Calibri"/>
              </a:rPr>
              <a:t>share by 2036. The 13 to 24 cells segment is</a:t>
            </a:r>
          </a:p>
        </p:txBody>
      </p:sp>
      <p:sp>
        <p:nvSpPr>
          <p:cNvPr id="32" name="TextBox 31"/>
          <p:cNvSpPr txBox="1"/>
          <p:nvPr/>
        </p:nvSpPr>
        <p:spPr>
          <a:xfrm>
            <a:off x="276225" y="4255007"/>
            <a:ext cx="1054906" cy="194310"/>
          </a:xfrm>
          <a:prstGeom prst="rect">
            <a:avLst/>
          </a:prstGeom>
          <a:noFill/>
        </p:spPr>
        <p:txBody>
          <a:bodyPr wrap="none" lIns="0" tIns="0" r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4244784"/>
            <a:ext cx="134549" cy="195707"/>
          </a:xfrm>
          <a:prstGeom prst="rect">
            <a:avLst/>
          </a:prstGeom>
        </p:spPr>
      </p:pic>
      <p:sp>
        <p:nvSpPr>
          <p:cNvPr id="34" name="TextBox 33"/>
          <p:cNvSpPr txBox="1"/>
          <p:nvPr/>
        </p:nvSpPr>
        <p:spPr>
          <a:xfrm>
            <a:off x="1455394" y="425500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4244784"/>
            <a:ext cx="134549" cy="195707"/>
          </a:xfrm>
          <a:prstGeom prst="rect">
            <a:avLst/>
          </a:prstGeom>
        </p:spPr>
      </p:pic>
      <p:sp>
        <p:nvSpPr>
          <p:cNvPr id="36" name="TextBox 35"/>
          <p:cNvSpPr txBox="1"/>
          <p:nvPr/>
        </p:nvSpPr>
        <p:spPr>
          <a:xfrm>
            <a:off x="4218008" y="425500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Analysis, By Cell Configuration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Cell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By Cell Configuration (US$ Mn)</a:t>
            </a:r>
          </a:p>
        </p:txBody>
      </p:sp>
      <p:graphicFrame>
        <p:nvGraphicFramePr>
          <p:cNvPr id="13" name="Table 12"/>
          <p:cNvGraphicFramePr>
            <a:graphicFrameLocks noGrp="1"/>
          </p:cNvGraphicFramePr>
          <p:nvPr/>
        </p:nvGraphicFramePr>
        <p:xfrm>
          <a:off x="152400" y="1238250"/>
          <a:ext cx="11887207" cy="1485896"/>
        </p:xfrm>
        <a:graphic>
          <a:graphicData uri="http://schemas.openxmlformats.org/drawingml/2006/table">
            <a:tbl>
              <a:tblPr>
                <a:tableStyleId>{5C22544A-7EE6-4342-B048-85BDC9FD1C3A}</a:tableStyleId>
              </a:tblPr>
              <a:tblGrid>
                <a:gridCol w="1323492">
                  <a:extLst>
                    <a:ext uri="{9D8B030D-6E8A-4147-A177-3AD203B41FA5}">
                      <a16:colId xmlns:a16="http://schemas.microsoft.com/office/drawing/2014/main" val="20000"/>
                    </a:ext>
                  </a:extLst>
                </a:gridCol>
                <a:gridCol w="621395">
                  <a:extLst>
                    <a:ext uri="{9D8B030D-6E8A-4147-A177-3AD203B41FA5}">
                      <a16:colId xmlns:a16="http://schemas.microsoft.com/office/drawing/2014/main" val="20001"/>
                    </a:ext>
                  </a:extLst>
                </a:gridCol>
                <a:gridCol w="621395">
                  <a:extLst>
                    <a:ext uri="{9D8B030D-6E8A-4147-A177-3AD203B41FA5}">
                      <a16:colId xmlns:a16="http://schemas.microsoft.com/office/drawing/2014/main" val="20002"/>
                    </a:ext>
                  </a:extLst>
                </a:gridCol>
                <a:gridCol w="621395">
                  <a:extLst>
                    <a:ext uri="{9D8B030D-6E8A-4147-A177-3AD203B41FA5}">
                      <a16:colId xmlns:a16="http://schemas.microsoft.com/office/drawing/2014/main" val="20003"/>
                    </a:ext>
                  </a:extLst>
                </a:gridCol>
                <a:gridCol w="621395">
                  <a:extLst>
                    <a:ext uri="{9D8B030D-6E8A-4147-A177-3AD203B41FA5}">
                      <a16:colId xmlns:a16="http://schemas.microsoft.com/office/drawing/2014/main" val="20004"/>
                    </a:ext>
                  </a:extLst>
                </a:gridCol>
                <a:gridCol w="621395">
                  <a:extLst>
                    <a:ext uri="{9D8B030D-6E8A-4147-A177-3AD203B41FA5}">
                      <a16:colId xmlns:a16="http://schemas.microsoft.com/office/drawing/2014/main" val="20005"/>
                    </a:ext>
                  </a:extLst>
                </a:gridCol>
                <a:gridCol w="621395">
                  <a:extLst>
                    <a:ext uri="{9D8B030D-6E8A-4147-A177-3AD203B41FA5}">
                      <a16:colId xmlns:a16="http://schemas.microsoft.com/office/drawing/2014/main" val="20006"/>
                    </a:ext>
                  </a:extLst>
                </a:gridCol>
                <a:gridCol w="621395">
                  <a:extLst>
                    <a:ext uri="{9D8B030D-6E8A-4147-A177-3AD203B41FA5}">
                      <a16:colId xmlns:a16="http://schemas.microsoft.com/office/drawing/2014/main" val="20007"/>
                    </a:ext>
                  </a:extLst>
                </a:gridCol>
                <a:gridCol w="621395">
                  <a:extLst>
                    <a:ext uri="{9D8B030D-6E8A-4147-A177-3AD203B41FA5}">
                      <a16:colId xmlns:a16="http://schemas.microsoft.com/office/drawing/2014/main" val="20008"/>
                    </a:ext>
                  </a:extLst>
                </a:gridCol>
                <a:gridCol w="621395">
                  <a:extLst>
                    <a:ext uri="{9D8B030D-6E8A-4147-A177-3AD203B41FA5}">
                      <a16:colId xmlns:a16="http://schemas.microsoft.com/office/drawing/2014/main" val="20009"/>
                    </a:ext>
                  </a:extLst>
                </a:gridCol>
                <a:gridCol w="621395">
                  <a:extLst>
                    <a:ext uri="{9D8B030D-6E8A-4147-A177-3AD203B41FA5}">
                      <a16:colId xmlns:a16="http://schemas.microsoft.com/office/drawing/2014/main" val="20010"/>
                    </a:ext>
                  </a:extLst>
                </a:gridCol>
                <a:gridCol w="621395">
                  <a:extLst>
                    <a:ext uri="{9D8B030D-6E8A-4147-A177-3AD203B41FA5}">
                      <a16:colId xmlns:a16="http://schemas.microsoft.com/office/drawing/2014/main" val="20011"/>
                    </a:ext>
                  </a:extLst>
                </a:gridCol>
                <a:gridCol w="621395">
                  <a:extLst>
                    <a:ext uri="{9D8B030D-6E8A-4147-A177-3AD203B41FA5}">
                      <a16:colId xmlns:a16="http://schemas.microsoft.com/office/drawing/2014/main" val="20012"/>
                    </a:ext>
                  </a:extLst>
                </a:gridCol>
                <a:gridCol w="621395">
                  <a:extLst>
                    <a:ext uri="{9D8B030D-6E8A-4147-A177-3AD203B41FA5}">
                      <a16:colId xmlns:a16="http://schemas.microsoft.com/office/drawing/2014/main" val="20013"/>
                    </a:ext>
                  </a:extLst>
                </a:gridCol>
                <a:gridCol w="621395">
                  <a:extLst>
                    <a:ext uri="{9D8B030D-6E8A-4147-A177-3AD203B41FA5}">
                      <a16:colId xmlns:a16="http://schemas.microsoft.com/office/drawing/2014/main" val="20014"/>
                    </a:ext>
                  </a:extLst>
                </a:gridCol>
                <a:gridCol w="621395">
                  <a:extLst>
                    <a:ext uri="{9D8B030D-6E8A-4147-A177-3AD203B41FA5}">
                      <a16:colId xmlns:a16="http://schemas.microsoft.com/office/drawing/2014/main" val="20015"/>
                    </a:ext>
                  </a:extLst>
                </a:gridCol>
                <a:gridCol w="621395">
                  <a:extLst>
                    <a:ext uri="{9D8B030D-6E8A-4147-A177-3AD203B41FA5}">
                      <a16:colId xmlns:a16="http://schemas.microsoft.com/office/drawing/2014/main" val="20016"/>
                    </a:ext>
                  </a:extLst>
                </a:gridCol>
                <a:gridCol w="621395">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954">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954">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954">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954">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7954">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2733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15277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Value Analysis, By Cell Configuration</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476625"/>
            <a:ext cx="11639550" cy="3076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71059" y="1837563"/>
            <a:ext cx="366712" cy="533400"/>
          </a:xfrm>
          <a:prstGeom prst="rect">
            <a:avLst/>
          </a:prstGeom>
        </p:spPr>
      </p:pic>
      <p:sp>
        <p:nvSpPr>
          <p:cNvPr id="21" name="TextBox 20"/>
          <p:cNvSpPr txBox="1"/>
          <p:nvPr/>
        </p:nvSpPr>
        <p:spPr>
          <a:xfrm>
            <a:off x="276225" y="3486150"/>
            <a:ext cx="2730487" cy="194310"/>
          </a:xfrm>
          <a:prstGeom prst="rect">
            <a:avLst/>
          </a:prstGeom>
          <a:noFill/>
        </p:spPr>
        <p:txBody>
          <a:bodyPr wrap="none" lIns="0" tIns="0" rIns="0" bIns="0">
            <a:spAutoFit/>
          </a:bodyPr>
          <a:lstStyle/>
          <a:p>
            <a:r>
              <a:rPr sz="1150" b="0">
                <a:solidFill>
                  <a:srgbClr val="2E2E2E"/>
                </a:solidFill>
                <a:latin typeface="Calibri"/>
              </a:rPr>
              <a:t>Up to 4 cells segment is projected to register</a:t>
            </a:r>
          </a:p>
        </p:txBody>
      </p:sp>
      <p:pic>
        <p:nvPicPr>
          <p:cNvPr id="22" name="Picture 21" descr="lock.png"/>
          <p:cNvPicPr>
            <a:picLocks noChangeAspect="1"/>
          </p:cNvPicPr>
          <p:nvPr/>
        </p:nvPicPr>
        <p:blipFill>
          <a:blip r:embed="rId4"/>
          <a:stretch>
            <a:fillRect/>
          </a:stretch>
        </p:blipFill>
        <p:spPr>
          <a:xfrm>
            <a:off x="2955866" y="3475926"/>
            <a:ext cx="134549" cy="195707"/>
          </a:xfrm>
          <a:prstGeom prst="rect">
            <a:avLst/>
          </a:prstGeom>
        </p:spPr>
      </p:pic>
      <p:sp>
        <p:nvSpPr>
          <p:cNvPr id="23" name="TextBox 22"/>
          <p:cNvSpPr txBox="1"/>
          <p:nvPr/>
        </p:nvSpPr>
        <p:spPr>
          <a:xfrm>
            <a:off x="3130975" y="3486150"/>
            <a:ext cx="8623833" cy="194310"/>
          </a:xfrm>
          <a:prstGeom prst="rect">
            <a:avLst/>
          </a:prstGeom>
          <a:noFill/>
        </p:spPr>
        <p:txBody>
          <a:bodyPr wrap="none" lIns="0" tIns="0" rIns="0" bIns="0">
            <a:spAutoFit/>
          </a:bodyPr>
          <a:lstStyle/>
          <a:p>
            <a:r>
              <a:rPr sz="1150" b="0">
                <a:solidFill>
                  <a:srgbClr val="2E2E2E"/>
                </a:solidFill>
                <a:latin typeface="Calibri"/>
              </a:rPr>
              <a:t>X higher value than 6 to 12 cells segment in 2036. Among corrugated partition by cell configuration, 6 to 12 cells segment is expected to witness</a:t>
            </a:r>
          </a:p>
        </p:txBody>
      </p:sp>
      <p:sp>
        <p:nvSpPr>
          <p:cNvPr id="24" name="TextBox 23"/>
          <p:cNvSpPr txBox="1"/>
          <p:nvPr/>
        </p:nvSpPr>
        <p:spPr>
          <a:xfrm>
            <a:off x="276225" y="3661410"/>
            <a:ext cx="1263979" cy="194310"/>
          </a:xfrm>
          <a:prstGeom prst="rect">
            <a:avLst/>
          </a:prstGeom>
          <a:noFill/>
        </p:spPr>
        <p:txBody>
          <a:bodyPr wrap="none" lIns="0" tIns="0" rIns="0" bIns="0">
            <a:spAutoFit/>
          </a:bodyPr>
          <a:lstStyle/>
          <a:p>
            <a:r>
              <a:rPr sz="1150" b="0">
                <a:solidFill>
                  <a:srgbClr val="2E2E2E"/>
                </a:solidFill>
                <a:latin typeface="Calibri"/>
              </a:rPr>
              <a:t>the highest CAGR of</a:t>
            </a:r>
          </a:p>
        </p:txBody>
      </p:sp>
      <p:pic>
        <p:nvPicPr>
          <p:cNvPr id="25" name="Picture 24" descr="lock.png"/>
          <p:cNvPicPr>
            <a:picLocks noChangeAspect="1"/>
          </p:cNvPicPr>
          <p:nvPr/>
        </p:nvPicPr>
        <p:blipFill>
          <a:blip r:embed="rId4"/>
          <a:stretch>
            <a:fillRect/>
          </a:stretch>
        </p:blipFill>
        <p:spPr>
          <a:xfrm>
            <a:off x="1489358" y="3651186"/>
            <a:ext cx="134549" cy="195707"/>
          </a:xfrm>
          <a:prstGeom prst="rect">
            <a:avLst/>
          </a:prstGeom>
        </p:spPr>
      </p:pic>
      <p:sp>
        <p:nvSpPr>
          <p:cNvPr id="26" name="TextBox 25"/>
          <p:cNvSpPr txBox="1"/>
          <p:nvPr/>
        </p:nvSpPr>
        <p:spPr>
          <a:xfrm>
            <a:off x="1664467" y="36614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6812185" cy="194310"/>
          </a:xfrm>
          <a:prstGeom prst="rect">
            <a:avLst/>
          </a:prstGeom>
          <a:noFill/>
        </p:spPr>
        <p:txBody>
          <a:bodyPr wrap="none" lIns="0" tIns="0" rIns="0" bIns="0">
            <a:spAutoFit/>
          </a:bodyPr>
          <a:lstStyle/>
          <a:p>
            <a:r>
              <a:rPr sz="1150" b="0">
                <a:solidFill>
                  <a:srgbClr val="2E2E2E"/>
                </a:solidFill>
                <a:latin typeface="Calibri"/>
              </a:rPr>
              <a:t>In terms of value share by cell configuration, the up to 4 cells segment is expected to dominate the market, losing</a:t>
            </a:r>
          </a:p>
        </p:txBody>
      </p:sp>
      <p:pic>
        <p:nvPicPr>
          <p:cNvPr id="28" name="Picture 27" descr="lock.png"/>
          <p:cNvPicPr>
            <a:picLocks noChangeAspect="1"/>
          </p:cNvPicPr>
          <p:nvPr/>
        </p:nvPicPr>
        <p:blipFill>
          <a:blip r:embed="rId4"/>
          <a:stretch>
            <a:fillRect/>
          </a:stretch>
        </p:blipFill>
        <p:spPr>
          <a:xfrm>
            <a:off x="7037564" y="3879024"/>
            <a:ext cx="134549" cy="195707"/>
          </a:xfrm>
          <a:prstGeom prst="rect">
            <a:avLst/>
          </a:prstGeom>
        </p:spPr>
      </p:pic>
      <p:sp>
        <p:nvSpPr>
          <p:cNvPr id="29" name="TextBox 28"/>
          <p:cNvSpPr txBox="1"/>
          <p:nvPr/>
        </p:nvSpPr>
        <p:spPr>
          <a:xfrm>
            <a:off x="7212673" y="38892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07817" y="3879024"/>
            <a:ext cx="134549" cy="195707"/>
          </a:xfrm>
          <a:prstGeom prst="rect">
            <a:avLst/>
          </a:prstGeom>
        </p:spPr>
      </p:pic>
      <p:sp>
        <p:nvSpPr>
          <p:cNvPr id="31" name="TextBox 30"/>
          <p:cNvSpPr txBox="1"/>
          <p:nvPr/>
        </p:nvSpPr>
        <p:spPr>
          <a:xfrm>
            <a:off x="8782926" y="3889247"/>
            <a:ext cx="2684846" cy="194310"/>
          </a:xfrm>
          <a:prstGeom prst="rect">
            <a:avLst/>
          </a:prstGeom>
          <a:noFill/>
        </p:spPr>
        <p:txBody>
          <a:bodyPr wrap="none" lIns="0" tIns="0" rIns="0" bIns="0">
            <a:spAutoFit/>
          </a:bodyPr>
          <a:lstStyle/>
          <a:p>
            <a:r>
              <a:rPr sz="1150" b="0">
                <a:solidFill>
                  <a:srgbClr val="2E2E2E"/>
                </a:solidFill>
                <a:latin typeface="Calibri"/>
              </a:rPr>
              <a:t>share by 2036. The 13 to 24 cells segment is</a:t>
            </a:r>
          </a:p>
        </p:txBody>
      </p:sp>
      <p:sp>
        <p:nvSpPr>
          <p:cNvPr id="32" name="TextBox 31"/>
          <p:cNvSpPr txBox="1"/>
          <p:nvPr/>
        </p:nvSpPr>
        <p:spPr>
          <a:xfrm>
            <a:off x="276225" y="4064507"/>
            <a:ext cx="1054906" cy="194310"/>
          </a:xfrm>
          <a:prstGeom prst="rect">
            <a:avLst/>
          </a:prstGeom>
          <a:noFill/>
        </p:spPr>
        <p:txBody>
          <a:bodyPr wrap="none" lIns="0" tIns="0" r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4054284"/>
            <a:ext cx="134549" cy="195707"/>
          </a:xfrm>
          <a:prstGeom prst="rect">
            <a:avLst/>
          </a:prstGeom>
        </p:spPr>
      </p:pic>
      <p:sp>
        <p:nvSpPr>
          <p:cNvPr id="34" name="TextBox 33"/>
          <p:cNvSpPr txBox="1"/>
          <p:nvPr/>
        </p:nvSpPr>
        <p:spPr>
          <a:xfrm>
            <a:off x="1455394" y="4064507"/>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4054284"/>
            <a:ext cx="134549" cy="195707"/>
          </a:xfrm>
          <a:prstGeom prst="rect">
            <a:avLst/>
          </a:prstGeom>
        </p:spPr>
      </p:pic>
      <p:sp>
        <p:nvSpPr>
          <p:cNvPr id="36" name="TextBox 35"/>
          <p:cNvSpPr txBox="1"/>
          <p:nvPr/>
        </p:nvSpPr>
        <p:spPr>
          <a:xfrm>
            <a:off x="4218008" y="406450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&amp; Share Shift, By Cell Configuration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Cell Configuration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Composition, By Cell Configuration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192669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rot="10800000">
            <a:off x="5090922" y="19219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1845729"/>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Above 24 Cells</a:t>
            </a:r>
          </a:p>
        </p:txBody>
      </p:sp>
      <p:sp>
        <p:nvSpPr>
          <p:cNvPr id="19" name="BPS Value 1"/>
          <p:cNvSpPr txBox="1"/>
          <p:nvPr/>
        </p:nvSpPr>
        <p:spPr>
          <a:xfrm>
            <a:off x="6896100" y="1907641"/>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0" name="FMI Legend Chip"/>
          <p:cNvSpPr/>
          <p:nvPr/>
        </p:nvSpPr>
        <p:spPr>
          <a:xfrm>
            <a:off x="4928997" y="254226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25375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2461300"/>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13 to 24 Cells</a:t>
            </a:r>
          </a:p>
        </p:txBody>
      </p:sp>
      <p:sp>
        <p:nvSpPr>
          <p:cNvPr id="23" name="BPS Value 2"/>
          <p:cNvSpPr txBox="1"/>
          <p:nvPr/>
        </p:nvSpPr>
        <p:spPr>
          <a:xfrm>
            <a:off x="6896100" y="2523213"/>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FMI Legend Chip"/>
          <p:cNvSpPr/>
          <p:nvPr/>
        </p:nvSpPr>
        <p:spPr>
          <a:xfrm>
            <a:off x="4928997" y="368047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a:off x="5090922" y="36757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5233797" y="3599513"/>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6 to 12 Cells</a:t>
            </a:r>
          </a:p>
        </p:txBody>
      </p:sp>
      <p:sp>
        <p:nvSpPr>
          <p:cNvPr id="27" name="BPS Value 3"/>
          <p:cNvSpPr txBox="1"/>
          <p:nvPr/>
        </p:nvSpPr>
        <p:spPr>
          <a:xfrm>
            <a:off x="6896100" y="3661425"/>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8" name="FMI Legend Chip"/>
          <p:cNvSpPr/>
          <p:nvPr/>
        </p:nvSpPr>
        <p:spPr>
          <a:xfrm>
            <a:off x="4928997" y="535109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Isosceles Triangle 28"/>
          <p:cNvSpPr/>
          <p:nvPr/>
        </p:nvSpPr>
        <p:spPr>
          <a:xfrm rot="10800000">
            <a:off x="5090922" y="534633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BPS Name 4"/>
          <p:cNvSpPr txBox="1"/>
          <p:nvPr/>
        </p:nvSpPr>
        <p:spPr>
          <a:xfrm>
            <a:off x="5233797" y="5270132"/>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Up to 4 Cells</a:t>
            </a:r>
          </a:p>
        </p:txBody>
      </p:sp>
      <p:sp>
        <p:nvSpPr>
          <p:cNvPr id="31" name="BPS Value 4"/>
          <p:cNvSpPr txBox="1"/>
          <p:nvPr/>
        </p:nvSpPr>
        <p:spPr>
          <a:xfrm>
            <a:off x="6896100" y="5332044"/>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TextBox 32"/>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North America Read-out, By Cell Configuration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6" name="TextBox 35"/>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755119" cy="194310"/>
          </a:xfrm>
          <a:prstGeom prst="rect">
            <a:avLst/>
          </a:prstGeom>
          <a:noFill/>
        </p:spPr>
        <p:txBody>
          <a:bodyPr wrap="none" lIns="0" tIns="0" rIns="0" bIns="0">
            <a:spAutoFit/>
          </a:bodyPr>
          <a:lstStyle/>
          <a:p>
            <a:r>
              <a:rPr sz="1150" b="0">
                <a:solidFill>
                  <a:srgbClr val="2E2E2E"/>
                </a:solidFill>
                <a:latin typeface="Calibri"/>
              </a:rPr>
              <a:t>Among corrugated partition by cell configuration, 6 to 12 cells</a:t>
            </a:r>
          </a:p>
        </p:txBody>
      </p:sp>
      <p:sp>
        <p:nvSpPr>
          <p:cNvPr id="39" name="TextBox 38"/>
          <p:cNvSpPr txBox="1"/>
          <p:nvPr/>
        </p:nvSpPr>
        <p:spPr>
          <a:xfrm>
            <a:off x="7829550" y="15754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42" name="TextBox 41"/>
          <p:cNvSpPr txBox="1"/>
          <p:nvPr/>
        </p:nvSpPr>
        <p:spPr>
          <a:xfrm>
            <a:off x="7829550" y="1750695"/>
            <a:ext cx="4057650" cy="194310"/>
          </a:xfrm>
          <a:prstGeom prst="rect">
            <a:avLst/>
          </a:prstGeom>
          <a:noFill/>
        </p:spPr>
        <p:txBody>
          <a:bodyPr wrap="none" lIns="0" tIns="0" rIns="0" bIns="0">
            <a:spAutoFit/>
          </a:bodyPr>
          <a:lstStyle/>
          <a:p>
            <a:r>
              <a:rPr sz="1150" b="0">
                <a:solidFill>
                  <a:srgbClr val="2E2E2E"/>
                </a:solidFill>
                <a:latin typeface="Calibri"/>
              </a:rPr>
              <a:t>forecast period. In terms of value share by cell configuration, the up</a:t>
            </a:r>
          </a:p>
        </p:txBody>
      </p:sp>
      <p:sp>
        <p:nvSpPr>
          <p:cNvPr id="43" name="TextBox 42"/>
          <p:cNvSpPr txBox="1"/>
          <p:nvPr/>
        </p:nvSpPr>
        <p:spPr>
          <a:xfrm>
            <a:off x="7829550" y="1925955"/>
            <a:ext cx="3723171" cy="194310"/>
          </a:xfrm>
          <a:prstGeom prst="rect">
            <a:avLst/>
          </a:prstGeom>
          <a:noFill/>
        </p:spPr>
        <p:txBody>
          <a:bodyPr wrap="none" lIns="0" tIns="0" rIns="0" bIns="0">
            <a:spAutoFit/>
          </a:bodyPr>
          <a:lstStyle/>
          <a:p>
            <a:r>
              <a:rPr sz="1150" b="0">
                <a:solidFill>
                  <a:srgbClr val="2E2E2E"/>
                </a:solidFill>
                <a:latin typeface="Calibri"/>
              </a:rPr>
              <a:t>to 4 cells segment is expected to dominate the market, losing</a:t>
            </a:r>
          </a:p>
        </p:txBody>
      </p:sp>
      <p:pic>
        <p:nvPicPr>
          <p:cNvPr id="44" name="Picture 43" descr="lock.png"/>
          <p:cNvPicPr>
            <a:picLocks noChangeAspect="1"/>
          </p:cNvPicPr>
          <p:nvPr/>
        </p:nvPicPr>
        <p:blipFill>
          <a:blip r:embed="rId5"/>
          <a:stretch>
            <a:fillRect/>
          </a:stretch>
        </p:blipFill>
        <p:spPr>
          <a:xfrm>
            <a:off x="11501875" y="1915731"/>
            <a:ext cx="134549" cy="195707"/>
          </a:xfrm>
          <a:prstGeom prst="rect">
            <a:avLst/>
          </a:prstGeom>
        </p:spPr>
      </p:pic>
      <p:sp>
        <p:nvSpPr>
          <p:cNvPr id="45" name="TextBox 44"/>
          <p:cNvSpPr txBox="1"/>
          <p:nvPr/>
        </p:nvSpPr>
        <p:spPr>
          <a:xfrm>
            <a:off x="7829550" y="2101215"/>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46" name="Picture 45" descr="lock.png"/>
          <p:cNvPicPr>
            <a:picLocks noChangeAspect="1"/>
          </p:cNvPicPr>
          <p:nvPr/>
        </p:nvPicPr>
        <p:blipFill>
          <a:blip r:embed="rId5"/>
          <a:stretch>
            <a:fillRect/>
          </a:stretch>
        </p:blipFill>
        <p:spPr>
          <a:xfrm>
            <a:off x="9224693" y="2090991"/>
            <a:ext cx="134549" cy="195707"/>
          </a:xfrm>
          <a:prstGeom prst="rect">
            <a:avLst/>
          </a:prstGeom>
        </p:spPr>
      </p:pic>
      <p:sp>
        <p:nvSpPr>
          <p:cNvPr id="47" name="TextBox 46"/>
          <p:cNvSpPr txBox="1"/>
          <p:nvPr/>
        </p:nvSpPr>
        <p:spPr>
          <a:xfrm>
            <a:off x="9399802" y="2101215"/>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8" name="TextBox 47"/>
          <p:cNvSpPr txBox="1"/>
          <p:nvPr/>
        </p:nvSpPr>
        <p:spPr>
          <a:xfrm>
            <a:off x="7829550" y="2329053"/>
            <a:ext cx="2793528" cy="194310"/>
          </a:xfrm>
          <a:prstGeom prst="rect">
            <a:avLst/>
          </a:prstGeom>
          <a:noFill/>
        </p:spPr>
        <p:txBody>
          <a:bodyPr wrap="none" lIns="0" tIns="0" rIns="0" bIns="0">
            <a:spAutoFit/>
          </a:bodyPr>
          <a:lstStyle/>
          <a:p>
            <a:r>
              <a:rPr sz="1150" b="0">
                <a:solidFill>
                  <a:srgbClr val="2E2E2E"/>
                </a:solidFill>
                <a:latin typeface="Calibri"/>
              </a:rPr>
              <a:t>The 13 to 24 cells segment is expected to lose</a:t>
            </a:r>
          </a:p>
        </p:txBody>
      </p:sp>
      <p:pic>
        <p:nvPicPr>
          <p:cNvPr id="49" name="Picture 48" descr="lock.png"/>
          <p:cNvPicPr>
            <a:picLocks noChangeAspect="1"/>
          </p:cNvPicPr>
          <p:nvPr/>
        </p:nvPicPr>
        <p:blipFill>
          <a:blip r:embed="rId5"/>
          <a:stretch>
            <a:fillRect/>
          </a:stretch>
        </p:blipFill>
        <p:spPr>
          <a:xfrm>
            <a:off x="10572232" y="2318829"/>
            <a:ext cx="134549" cy="195707"/>
          </a:xfrm>
          <a:prstGeom prst="rect">
            <a:avLst/>
          </a:prstGeom>
        </p:spPr>
      </p:pic>
      <p:sp>
        <p:nvSpPr>
          <p:cNvPr id="50" name="TextBox 49"/>
          <p:cNvSpPr txBox="1"/>
          <p:nvPr/>
        </p:nvSpPr>
        <p:spPr>
          <a:xfrm>
            <a:off x="10747341" y="2329053"/>
            <a:ext cx="829840" cy="194310"/>
          </a:xfrm>
          <a:prstGeom prst="rect">
            <a:avLst/>
          </a:prstGeom>
          <a:noFill/>
        </p:spPr>
        <p:txBody>
          <a:bodyPr wrap="none" lIns="0" tIns="0" rIns="0" bIns="0">
            <a:spAutoFit/>
          </a:bodyPr>
          <a:lstStyle/>
          <a:p>
            <a:r>
              <a:rPr sz="1150" b="0">
                <a:solidFill>
                  <a:srgbClr val="2E2E2E"/>
                </a:solidFill>
                <a:latin typeface="Calibri"/>
              </a:rPr>
              <a:t>BPS over the</a:t>
            </a:r>
          </a:p>
        </p:txBody>
      </p:sp>
      <p:sp>
        <p:nvSpPr>
          <p:cNvPr id="51" name="TextBox 50"/>
          <p:cNvSpPr txBox="1"/>
          <p:nvPr/>
        </p:nvSpPr>
        <p:spPr>
          <a:xfrm>
            <a:off x="7829550" y="2504313"/>
            <a:ext cx="1851620" cy="194310"/>
          </a:xfrm>
          <a:prstGeom prst="rect">
            <a:avLst/>
          </a:prstGeom>
          <a:noFill/>
        </p:spPr>
        <p:txBody>
          <a:bodyPr wrap="none" lIns="0" tIns="0" rIns="0" bIns="0">
            <a:spAutoFit/>
          </a:bodyPr>
          <a:lstStyle/>
          <a:p>
            <a:r>
              <a:rPr sz="1150" b="0">
                <a:solidFill>
                  <a:srgbClr val="2E2E2E"/>
                </a:solidFill>
                <a:latin typeface="Calibri"/>
              </a:rPr>
              <a:t>forecast period to account for</a:t>
            </a:r>
          </a:p>
        </p:txBody>
      </p:sp>
      <p:pic>
        <p:nvPicPr>
          <p:cNvPr id="52" name="Picture 51" descr="lock.png"/>
          <p:cNvPicPr>
            <a:picLocks noChangeAspect="1"/>
          </p:cNvPicPr>
          <p:nvPr/>
        </p:nvPicPr>
        <p:blipFill>
          <a:blip r:embed="rId5"/>
          <a:stretch>
            <a:fillRect/>
          </a:stretch>
        </p:blipFill>
        <p:spPr>
          <a:xfrm>
            <a:off x="9630324" y="2494089"/>
            <a:ext cx="134549" cy="195707"/>
          </a:xfrm>
          <a:prstGeom prst="rect">
            <a:avLst/>
          </a:prstGeom>
        </p:spPr>
      </p:pic>
      <p:sp>
        <p:nvSpPr>
          <p:cNvPr id="53" name="TextBox 52"/>
          <p:cNvSpPr txBox="1"/>
          <p:nvPr/>
        </p:nvSpPr>
        <p:spPr>
          <a:xfrm>
            <a:off x="9805433" y="250431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54"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Volume, By Cell Configuration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Cell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Growth,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extLst>
                    <a:ext uri="{9D8B030D-6E8A-4147-A177-3AD203B41FA5}">
                      <a16:colId xmlns:a16="http://schemas.microsoft.com/office/drawing/2014/main" val="20000"/>
                    </a:ext>
                  </a:extLst>
                </a:gridCol>
                <a:gridCol w="695728">
                  <a:extLst>
                    <a:ext uri="{9D8B030D-6E8A-4147-A177-3AD203B41FA5}">
                      <a16:colId xmlns:a16="http://schemas.microsoft.com/office/drawing/2014/main" val="20001"/>
                    </a:ext>
                  </a:extLst>
                </a:gridCol>
                <a:gridCol w="695728">
                  <a:extLst>
                    <a:ext uri="{9D8B030D-6E8A-4147-A177-3AD203B41FA5}">
                      <a16:colId xmlns:a16="http://schemas.microsoft.com/office/drawing/2014/main" val="20002"/>
                    </a:ext>
                  </a:extLst>
                </a:gridCol>
                <a:gridCol w="695728">
                  <a:extLst>
                    <a:ext uri="{9D8B030D-6E8A-4147-A177-3AD203B41FA5}">
                      <a16:colId xmlns:a16="http://schemas.microsoft.com/office/drawing/2014/main" val="20003"/>
                    </a:ext>
                  </a:extLst>
                </a:gridCol>
                <a:gridCol w="695728">
                  <a:extLst>
                    <a:ext uri="{9D8B030D-6E8A-4147-A177-3AD203B41FA5}">
                      <a16:colId xmlns:a16="http://schemas.microsoft.com/office/drawing/2014/main" val="20004"/>
                    </a:ext>
                  </a:extLst>
                </a:gridCol>
                <a:gridCol w="695728">
                  <a:extLst>
                    <a:ext uri="{9D8B030D-6E8A-4147-A177-3AD203B41FA5}">
                      <a16:colId xmlns:a16="http://schemas.microsoft.com/office/drawing/2014/main" val="20005"/>
                    </a:ext>
                  </a:extLst>
                </a:gridCol>
                <a:gridCol w="695728">
                  <a:extLst>
                    <a:ext uri="{9D8B030D-6E8A-4147-A177-3AD203B41FA5}">
                      <a16:colId xmlns:a16="http://schemas.microsoft.com/office/drawing/2014/main" val="20006"/>
                    </a:ext>
                  </a:extLst>
                </a:gridCol>
                <a:gridCol w="695728">
                  <a:extLst>
                    <a:ext uri="{9D8B030D-6E8A-4147-A177-3AD203B41FA5}">
                      <a16:colId xmlns:a16="http://schemas.microsoft.com/office/drawing/2014/main" val="20007"/>
                    </a:ext>
                  </a:extLst>
                </a:gridCol>
                <a:gridCol w="695728">
                  <a:extLst>
                    <a:ext uri="{9D8B030D-6E8A-4147-A177-3AD203B41FA5}">
                      <a16:colId xmlns:a16="http://schemas.microsoft.com/office/drawing/2014/main" val="20008"/>
                    </a:ext>
                  </a:extLst>
                </a:gridCol>
                <a:gridCol w="695728">
                  <a:extLst>
                    <a:ext uri="{9D8B030D-6E8A-4147-A177-3AD203B41FA5}">
                      <a16:colId xmlns:a16="http://schemas.microsoft.com/office/drawing/2014/main" val="20009"/>
                    </a:ext>
                  </a:extLst>
                </a:gridCol>
                <a:gridCol w="695728">
                  <a:extLst>
                    <a:ext uri="{9D8B030D-6E8A-4147-A177-3AD203B41FA5}">
                      <a16:colId xmlns:a16="http://schemas.microsoft.com/office/drawing/2014/main" val="20010"/>
                    </a:ext>
                  </a:extLst>
                </a:gridCol>
                <a:gridCol w="695728">
                  <a:extLst>
                    <a:ext uri="{9D8B030D-6E8A-4147-A177-3AD203B41FA5}">
                      <a16:colId xmlns:a16="http://schemas.microsoft.com/office/drawing/2014/main" val="20011"/>
                    </a:ext>
                  </a:extLst>
                </a:gridCol>
                <a:gridCol w="695728">
                  <a:extLst>
                    <a:ext uri="{9D8B030D-6E8A-4147-A177-3AD203B41FA5}">
                      <a16:colId xmlns:a16="http://schemas.microsoft.com/office/drawing/2014/main" val="20012"/>
                    </a:ext>
                  </a:extLst>
                </a:gridCol>
                <a:gridCol w="695728">
                  <a:extLst>
                    <a:ext uri="{9D8B030D-6E8A-4147-A177-3AD203B41FA5}">
                      <a16:colId xmlns:a16="http://schemas.microsoft.com/office/drawing/2014/main" val="20013"/>
                    </a:ext>
                  </a:extLst>
                </a:gridCol>
                <a:gridCol w="695728">
                  <a:extLst>
                    <a:ext uri="{9D8B030D-6E8A-4147-A177-3AD203B41FA5}">
                      <a16:colId xmlns:a16="http://schemas.microsoft.com/office/drawing/2014/main" val="20014"/>
                    </a:ext>
                  </a:extLst>
                </a:gridCol>
                <a:gridCol w="69572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8765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Heatmap, By Cell Configuration (%)  ·  light = lower, dark = higher growth</a:t>
            </a:r>
          </a:p>
        </p:txBody>
      </p:sp>
      <p:sp>
        <p:nvSpPr>
          <p:cNvPr id="17" name="TextBox 16"/>
          <p:cNvSpPr txBox="1"/>
          <p:nvPr/>
        </p:nvSpPr>
        <p:spPr>
          <a:xfrm>
            <a:off x="185737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Up to 4 Cells</a:t>
            </a:r>
          </a:p>
        </p:txBody>
      </p:sp>
      <p:sp>
        <p:nvSpPr>
          <p:cNvPr id="33" name="Rectangle 32"/>
          <p:cNvSpPr/>
          <p:nvPr/>
        </p:nvSpPr>
        <p:spPr>
          <a:xfrm>
            <a:off x="185737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248025"/>
            <a:ext cx="643890" cy="831056"/>
          </a:xfrm>
          <a:prstGeom prst="rect">
            <a:avLst/>
          </a:prstGeom>
          <a:solidFill>
            <a:srgbClr val="B8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248025"/>
            <a:ext cx="643890" cy="831056"/>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079081"/>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6 to 12 Cells</a:t>
            </a:r>
          </a:p>
        </p:txBody>
      </p:sp>
      <p:sp>
        <p:nvSpPr>
          <p:cNvPr id="49" name="Rectangle 48"/>
          <p:cNvSpPr/>
          <p:nvPr/>
        </p:nvSpPr>
        <p:spPr>
          <a:xfrm>
            <a:off x="1857375" y="4079081"/>
            <a:ext cx="643890" cy="831056"/>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079081"/>
            <a:ext cx="643890" cy="831056"/>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079081"/>
            <a:ext cx="643890" cy="831056"/>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079081"/>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079081"/>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079081"/>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079081"/>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079081"/>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079081"/>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079081"/>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079081"/>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079081"/>
            <a:ext cx="643890" cy="831056"/>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079081"/>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4910138"/>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13 to 24 Cells</a:t>
            </a:r>
          </a:p>
        </p:txBody>
      </p:sp>
      <p:sp>
        <p:nvSpPr>
          <p:cNvPr id="65" name="Rectangle 64"/>
          <p:cNvSpPr/>
          <p:nvPr/>
        </p:nvSpPr>
        <p:spPr>
          <a:xfrm>
            <a:off x="185737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4910138"/>
            <a:ext cx="643890" cy="831056"/>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4910138"/>
            <a:ext cx="643890" cy="831056"/>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4910138"/>
            <a:ext cx="643890" cy="831056"/>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4910138"/>
            <a:ext cx="643890" cy="831056"/>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238125" y="5741194"/>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Above 24 Cells</a:t>
            </a:r>
          </a:p>
        </p:txBody>
      </p:sp>
      <p:sp>
        <p:nvSpPr>
          <p:cNvPr id="81" name="Rectangle 80"/>
          <p:cNvSpPr/>
          <p:nvPr/>
        </p:nvSpPr>
        <p:spPr>
          <a:xfrm>
            <a:off x="185737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250126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314515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378904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443293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507682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572071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636460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700849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765238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829627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894016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958405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0227945" y="5741194"/>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087183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TextBox 136"/>
          <p:cNvSpPr txBox="1"/>
          <p:nvPr/>
        </p:nvSpPr>
        <p:spPr>
          <a:xfrm>
            <a:off x="11687175" y="3219450"/>
            <a:ext cx="276225" cy="133350"/>
          </a:xfrm>
          <a:prstGeom prst="rect">
            <a:avLst/>
          </a:prstGeom>
          <a:noFill/>
        </p:spPr>
        <p:txBody>
          <a:bodyPr wrap="none" lIns="0" tIns="0" r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tIns="0" r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34947" y="1713738"/>
            <a:ext cx="366712" cy="533400"/>
          </a:xfrm>
          <a:prstGeom prst="rect">
            <a:avLst/>
          </a:prstGeom>
        </p:spPr>
      </p:pic>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Value, By Cell Configuration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Cell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Growth,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extLst>
                    <a:ext uri="{9D8B030D-6E8A-4147-A177-3AD203B41FA5}">
                      <a16:colId xmlns:a16="http://schemas.microsoft.com/office/drawing/2014/main" val="20000"/>
                    </a:ext>
                  </a:extLst>
                </a:gridCol>
                <a:gridCol w="695728">
                  <a:extLst>
                    <a:ext uri="{9D8B030D-6E8A-4147-A177-3AD203B41FA5}">
                      <a16:colId xmlns:a16="http://schemas.microsoft.com/office/drawing/2014/main" val="20001"/>
                    </a:ext>
                  </a:extLst>
                </a:gridCol>
                <a:gridCol w="695728">
                  <a:extLst>
                    <a:ext uri="{9D8B030D-6E8A-4147-A177-3AD203B41FA5}">
                      <a16:colId xmlns:a16="http://schemas.microsoft.com/office/drawing/2014/main" val="20002"/>
                    </a:ext>
                  </a:extLst>
                </a:gridCol>
                <a:gridCol w="695728">
                  <a:extLst>
                    <a:ext uri="{9D8B030D-6E8A-4147-A177-3AD203B41FA5}">
                      <a16:colId xmlns:a16="http://schemas.microsoft.com/office/drawing/2014/main" val="20003"/>
                    </a:ext>
                  </a:extLst>
                </a:gridCol>
                <a:gridCol w="695728">
                  <a:extLst>
                    <a:ext uri="{9D8B030D-6E8A-4147-A177-3AD203B41FA5}">
                      <a16:colId xmlns:a16="http://schemas.microsoft.com/office/drawing/2014/main" val="20004"/>
                    </a:ext>
                  </a:extLst>
                </a:gridCol>
                <a:gridCol w="695728">
                  <a:extLst>
                    <a:ext uri="{9D8B030D-6E8A-4147-A177-3AD203B41FA5}">
                      <a16:colId xmlns:a16="http://schemas.microsoft.com/office/drawing/2014/main" val="20005"/>
                    </a:ext>
                  </a:extLst>
                </a:gridCol>
                <a:gridCol w="695728">
                  <a:extLst>
                    <a:ext uri="{9D8B030D-6E8A-4147-A177-3AD203B41FA5}">
                      <a16:colId xmlns:a16="http://schemas.microsoft.com/office/drawing/2014/main" val="20006"/>
                    </a:ext>
                  </a:extLst>
                </a:gridCol>
                <a:gridCol w="695728">
                  <a:extLst>
                    <a:ext uri="{9D8B030D-6E8A-4147-A177-3AD203B41FA5}">
                      <a16:colId xmlns:a16="http://schemas.microsoft.com/office/drawing/2014/main" val="20007"/>
                    </a:ext>
                  </a:extLst>
                </a:gridCol>
                <a:gridCol w="695728">
                  <a:extLst>
                    <a:ext uri="{9D8B030D-6E8A-4147-A177-3AD203B41FA5}">
                      <a16:colId xmlns:a16="http://schemas.microsoft.com/office/drawing/2014/main" val="20008"/>
                    </a:ext>
                  </a:extLst>
                </a:gridCol>
                <a:gridCol w="695728">
                  <a:extLst>
                    <a:ext uri="{9D8B030D-6E8A-4147-A177-3AD203B41FA5}">
                      <a16:colId xmlns:a16="http://schemas.microsoft.com/office/drawing/2014/main" val="20009"/>
                    </a:ext>
                  </a:extLst>
                </a:gridCol>
                <a:gridCol w="695728">
                  <a:extLst>
                    <a:ext uri="{9D8B030D-6E8A-4147-A177-3AD203B41FA5}">
                      <a16:colId xmlns:a16="http://schemas.microsoft.com/office/drawing/2014/main" val="20010"/>
                    </a:ext>
                  </a:extLst>
                </a:gridCol>
                <a:gridCol w="695728">
                  <a:extLst>
                    <a:ext uri="{9D8B030D-6E8A-4147-A177-3AD203B41FA5}">
                      <a16:colId xmlns:a16="http://schemas.microsoft.com/office/drawing/2014/main" val="20011"/>
                    </a:ext>
                  </a:extLst>
                </a:gridCol>
                <a:gridCol w="695728">
                  <a:extLst>
                    <a:ext uri="{9D8B030D-6E8A-4147-A177-3AD203B41FA5}">
                      <a16:colId xmlns:a16="http://schemas.microsoft.com/office/drawing/2014/main" val="20012"/>
                    </a:ext>
                  </a:extLst>
                </a:gridCol>
                <a:gridCol w="695728">
                  <a:extLst>
                    <a:ext uri="{9D8B030D-6E8A-4147-A177-3AD203B41FA5}">
                      <a16:colId xmlns:a16="http://schemas.microsoft.com/office/drawing/2014/main" val="20013"/>
                    </a:ext>
                  </a:extLst>
                </a:gridCol>
                <a:gridCol w="695728">
                  <a:extLst>
                    <a:ext uri="{9D8B030D-6E8A-4147-A177-3AD203B41FA5}">
                      <a16:colId xmlns:a16="http://schemas.microsoft.com/office/drawing/2014/main" val="20014"/>
                    </a:ext>
                  </a:extLst>
                </a:gridCol>
                <a:gridCol w="69572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8765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Heatmap, By Cell Configuration (%)  ·  light = lower, dark = higher growth</a:t>
            </a:r>
          </a:p>
        </p:txBody>
      </p:sp>
      <p:sp>
        <p:nvSpPr>
          <p:cNvPr id="17" name="TextBox 16"/>
          <p:cNvSpPr txBox="1"/>
          <p:nvPr/>
        </p:nvSpPr>
        <p:spPr>
          <a:xfrm>
            <a:off x="185737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Up to 4 Cells</a:t>
            </a:r>
          </a:p>
        </p:txBody>
      </p:sp>
      <p:sp>
        <p:nvSpPr>
          <p:cNvPr id="33" name="Rectangle 32"/>
          <p:cNvSpPr/>
          <p:nvPr/>
        </p:nvSpPr>
        <p:spPr>
          <a:xfrm>
            <a:off x="185737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248025"/>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248025"/>
            <a:ext cx="643890" cy="831056"/>
          </a:xfrm>
          <a:prstGeom prst="rect">
            <a:avLst/>
          </a:prstGeom>
          <a:solidFill>
            <a:srgbClr val="B8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248025"/>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248025"/>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248025"/>
            <a:ext cx="643890" cy="831056"/>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248025"/>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248025"/>
            <a:ext cx="643890" cy="831056"/>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079081"/>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6 to 12 Cells</a:t>
            </a:r>
          </a:p>
        </p:txBody>
      </p:sp>
      <p:sp>
        <p:nvSpPr>
          <p:cNvPr id="49" name="Rectangle 48"/>
          <p:cNvSpPr/>
          <p:nvPr/>
        </p:nvSpPr>
        <p:spPr>
          <a:xfrm>
            <a:off x="1857375" y="4079081"/>
            <a:ext cx="643890" cy="831056"/>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079081"/>
            <a:ext cx="643890" cy="831056"/>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079081"/>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079081"/>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079081"/>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079081"/>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079081"/>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079081"/>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079081"/>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079081"/>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079081"/>
            <a:ext cx="643890" cy="831056"/>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079081"/>
            <a:ext cx="643890" cy="831056"/>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079081"/>
            <a:ext cx="643890" cy="831056"/>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4910138"/>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13 to 24 Cells</a:t>
            </a:r>
          </a:p>
        </p:txBody>
      </p:sp>
      <p:sp>
        <p:nvSpPr>
          <p:cNvPr id="65" name="Rectangle 64"/>
          <p:cNvSpPr/>
          <p:nvPr/>
        </p:nvSpPr>
        <p:spPr>
          <a:xfrm>
            <a:off x="185737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4910138"/>
            <a:ext cx="643890" cy="831056"/>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4910138"/>
            <a:ext cx="643890" cy="831056"/>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4910138"/>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238125" y="5741194"/>
            <a:ext cx="1590675" cy="831056"/>
          </a:xfrm>
          <a:prstGeom prst="rect">
            <a:avLst/>
          </a:prstGeom>
          <a:noFill/>
        </p:spPr>
        <p:txBody>
          <a:bodyPr wrap="square" lIns="28575" tIns="9525" rIns="28575" bIns="9525" anchor="ctr">
            <a:spAutoFit/>
          </a:bodyPr>
          <a:lstStyle/>
          <a:p>
            <a:pPr algn="l"/>
            <a:r>
              <a:rPr sz="1100" b="0">
                <a:solidFill>
                  <a:srgbClr val="2E2E2E"/>
                </a:solidFill>
                <a:latin typeface="Calibri"/>
              </a:rPr>
              <a:t>Above 24 Cells</a:t>
            </a:r>
          </a:p>
        </p:txBody>
      </p:sp>
      <p:sp>
        <p:nvSpPr>
          <p:cNvPr id="81" name="Rectangle 80"/>
          <p:cNvSpPr/>
          <p:nvPr/>
        </p:nvSpPr>
        <p:spPr>
          <a:xfrm>
            <a:off x="185737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250126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314515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3789045" y="5741194"/>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4432935" y="5741194"/>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507682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572071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636460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700849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765238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829627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894016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958405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022794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087183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TextBox 136"/>
          <p:cNvSpPr txBox="1"/>
          <p:nvPr/>
        </p:nvSpPr>
        <p:spPr>
          <a:xfrm>
            <a:off x="11687175" y="321945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34947"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Customization</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Customization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Customization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2 sub-segments of Customization,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Customization segment categorizes the market by customization.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Custom-Engineered</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6962775"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Standard / Stock Sizes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Customization split shows how demand is distributed across customization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0" name="Picture 49" descr="669_0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908_1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1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386_9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663_5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5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94756" cy="186689"/>
          </a:xfrm>
          <a:prstGeom prst="rect">
            <a:avLst/>
          </a:prstGeom>
          <a:noFill/>
        </p:spPr>
        <p:txBody>
          <a:bodyPr wrap="none" lIns="0" tIns="0" rIns="0" bIns="0">
            <a:spAutoFit/>
          </a:bodyPr>
          <a:lstStyle/>
          <a:p>
            <a:r>
              <a:rPr sz="1100" b="0">
                <a:solidFill>
                  <a:srgbClr val="2E2E2E"/>
                </a:solidFill>
                <a:latin typeface="Calibri"/>
              </a:rPr>
              <a:t>▪ ¶ Among corrugated partition by customization,</a:t>
            </a:r>
          </a:p>
        </p:txBody>
      </p:sp>
      <p:sp>
        <p:nvSpPr>
          <p:cNvPr id="59" name="TextBox 58"/>
          <p:cNvSpPr txBox="1"/>
          <p:nvPr/>
        </p:nvSpPr>
        <p:spPr>
          <a:xfrm>
            <a:off x="485775" y="4397077"/>
            <a:ext cx="2641004" cy="186689"/>
          </a:xfrm>
          <a:prstGeom prst="rect">
            <a:avLst/>
          </a:prstGeom>
          <a:noFill/>
        </p:spPr>
        <p:txBody>
          <a:bodyPr wrap="none" lIns="0" tIns="0" rIns="0" bIns="0">
            <a:spAutoFit/>
          </a:bodyPr>
          <a:lstStyle/>
          <a:p>
            <a:r>
              <a:rPr sz="1100" b="0">
                <a:solidFill>
                  <a:srgbClr val="2E2E2E"/>
                </a:solidFill>
                <a:latin typeface="Calibri"/>
              </a:rPr>
              <a:t>standard / stock sizes segment is expected to</a:t>
            </a:r>
          </a:p>
        </p:txBody>
      </p:sp>
      <p:sp>
        <p:nvSpPr>
          <p:cNvPr id="60" name="TextBox 59"/>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61" name="Picture 60" descr="lock.png"/>
          <p:cNvPicPr>
            <a:picLocks noChangeAspect="1"/>
          </p:cNvPicPr>
          <p:nvPr/>
        </p:nvPicPr>
        <p:blipFill>
          <a:blip r:embed="rId10"/>
          <a:stretch>
            <a:fillRect/>
          </a:stretch>
        </p:blipFill>
        <p:spPr>
          <a:xfrm>
            <a:off x="2108919" y="4554938"/>
            <a:ext cx="128699" cy="187198"/>
          </a:xfrm>
          <a:prstGeom prst="rect">
            <a:avLst/>
          </a:prstGeom>
        </p:spPr>
      </p:pic>
      <p:sp>
        <p:nvSpPr>
          <p:cNvPr id="62" name="TextBox 61"/>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63" name="TextBox 62"/>
          <p:cNvSpPr txBox="1"/>
          <p:nvPr/>
        </p:nvSpPr>
        <p:spPr>
          <a:xfrm>
            <a:off x="485775" y="4732357"/>
            <a:ext cx="2850008" cy="186689"/>
          </a:xfrm>
          <a:prstGeom prst="rect">
            <a:avLst/>
          </a:prstGeom>
          <a:noFill/>
        </p:spPr>
        <p:txBody>
          <a:bodyPr wrap="none" lIns="0" tIns="0" rIns="0" bIns="0">
            <a:spAutoFit/>
          </a:bodyPr>
          <a:lstStyle/>
          <a:p>
            <a:r>
              <a:rPr sz="1100" b="0">
                <a:solidFill>
                  <a:srgbClr val="2E2E2E"/>
                </a:solidFill>
                <a:latin typeface="Calibri"/>
              </a:rPr>
              <a:t>period. In terms of value share by customization,</a:t>
            </a:r>
          </a:p>
        </p:txBody>
      </p:sp>
      <p:sp>
        <p:nvSpPr>
          <p:cNvPr id="64" name="TextBox 63"/>
          <p:cNvSpPr txBox="1"/>
          <p:nvPr/>
        </p:nvSpPr>
        <p:spPr>
          <a:xfrm>
            <a:off x="485775" y="4899997"/>
            <a:ext cx="2752873" cy="186689"/>
          </a:xfrm>
          <a:prstGeom prst="rect">
            <a:avLst/>
          </a:prstGeom>
          <a:noFill/>
        </p:spPr>
        <p:txBody>
          <a:bodyPr wrap="none" lIns="0" tIns="0" rIns="0" bIns="0">
            <a:spAutoFit/>
          </a:bodyPr>
          <a:lstStyle/>
          <a:p>
            <a:r>
              <a:rPr sz="1100" b="0">
                <a:solidFill>
                  <a:srgbClr val="2E2E2E"/>
                </a:solidFill>
                <a:latin typeface="Calibri"/>
              </a:rPr>
              <a:t>the custom-engineered segment is expected to</a:t>
            </a:r>
          </a:p>
        </p:txBody>
      </p:sp>
      <p:sp>
        <p:nvSpPr>
          <p:cNvPr id="65" name="TextBox 64"/>
          <p:cNvSpPr txBox="1"/>
          <p:nvPr/>
        </p:nvSpPr>
        <p:spPr>
          <a:xfrm>
            <a:off x="485775" y="5067637"/>
            <a:ext cx="1682750" cy="186689"/>
          </a:xfrm>
          <a:prstGeom prst="rect">
            <a:avLst/>
          </a:prstGeom>
          <a:noFill/>
        </p:spPr>
        <p:txBody>
          <a:bodyPr wrap="none" lIns="0" tIns="0" rIns="0" bIns="0">
            <a:spAutoFit/>
          </a:bodyPr>
          <a:lstStyle/>
          <a:p>
            <a:r>
              <a:rPr sz="1100" b="0">
                <a:solidFill>
                  <a:srgbClr val="2E2E2E"/>
                </a:solidFill>
                <a:latin typeface="Calibri"/>
              </a:rPr>
              <a:t>dominate the market, losing</a:t>
            </a:r>
          </a:p>
        </p:txBody>
      </p:sp>
      <p:pic>
        <p:nvPicPr>
          <p:cNvPr id="66" name="Picture 65" descr="lock.png"/>
          <p:cNvPicPr>
            <a:picLocks noChangeAspect="1"/>
          </p:cNvPicPr>
          <p:nvPr/>
        </p:nvPicPr>
        <p:blipFill>
          <a:blip r:embed="rId10"/>
          <a:stretch>
            <a:fillRect/>
          </a:stretch>
        </p:blipFill>
        <p:spPr>
          <a:xfrm>
            <a:off x="2116576" y="5057858"/>
            <a:ext cx="128699" cy="187198"/>
          </a:xfrm>
          <a:prstGeom prst="rect">
            <a:avLst/>
          </a:prstGeom>
        </p:spPr>
      </p:pic>
      <p:sp>
        <p:nvSpPr>
          <p:cNvPr id="67" name="TextBox 66"/>
          <p:cNvSpPr txBox="1"/>
          <p:nvPr/>
        </p:nvSpPr>
        <p:spPr>
          <a:xfrm>
            <a:off x="2284072" y="5067637"/>
            <a:ext cx="534044" cy="186689"/>
          </a:xfrm>
          <a:prstGeom prst="rect">
            <a:avLst/>
          </a:prstGeom>
          <a:noFill/>
        </p:spPr>
        <p:txBody>
          <a:bodyPr wrap="none" lIns="0" tIns="0" rIns="0" bIns="0">
            <a:spAutoFit/>
          </a:bodyPr>
          <a:lstStyle/>
          <a:p>
            <a:r>
              <a:rPr sz="1100" b="0">
                <a:solidFill>
                  <a:srgbClr val="2E2E2E"/>
                </a:solidFill>
                <a:latin typeface="Calibri"/>
              </a:rPr>
              <a:t>BPS and</a:t>
            </a:r>
          </a:p>
        </p:txBody>
      </p:sp>
      <p:sp>
        <p:nvSpPr>
          <p:cNvPr id="68" name="TextBox 67"/>
          <p:cNvSpPr txBox="1"/>
          <p:nvPr/>
        </p:nvSpPr>
        <p:spPr>
          <a:xfrm>
            <a:off x="485775" y="5235277"/>
            <a:ext cx="896937" cy="186689"/>
          </a:xfrm>
          <a:prstGeom prst="rect">
            <a:avLst/>
          </a:prstGeom>
          <a:noFill/>
        </p:spPr>
        <p:txBody>
          <a:bodyPr wrap="none" lIns="0" tIns="0" rIns="0" bIns="0">
            <a:spAutoFit/>
          </a:bodyPr>
          <a:lstStyle/>
          <a:p>
            <a:r>
              <a:rPr sz="1100" b="0">
                <a:solidFill>
                  <a:srgbClr val="2E2E2E"/>
                </a:solidFill>
                <a:latin typeface="Calibri"/>
              </a:rPr>
              <a:t>accounting for</a:t>
            </a:r>
          </a:p>
        </p:txBody>
      </p:sp>
      <p:pic>
        <p:nvPicPr>
          <p:cNvPr id="69" name="Picture 68" descr="lock.png"/>
          <p:cNvPicPr>
            <a:picLocks noChangeAspect="1"/>
          </p:cNvPicPr>
          <p:nvPr/>
        </p:nvPicPr>
        <p:blipFill>
          <a:blip r:embed="rId10"/>
          <a:stretch>
            <a:fillRect/>
          </a:stretch>
        </p:blipFill>
        <p:spPr>
          <a:xfrm>
            <a:off x="1330764" y="5225498"/>
            <a:ext cx="128699" cy="187198"/>
          </a:xfrm>
          <a:prstGeom prst="rect">
            <a:avLst/>
          </a:prstGeom>
        </p:spPr>
      </p:pic>
      <p:sp>
        <p:nvSpPr>
          <p:cNvPr id="70" name="TextBox 69"/>
          <p:cNvSpPr txBox="1"/>
          <p:nvPr/>
        </p:nvSpPr>
        <p:spPr>
          <a:xfrm>
            <a:off x="1498259"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71" name="TextBox 70"/>
          <p:cNvSpPr txBox="1"/>
          <p:nvPr/>
        </p:nvSpPr>
        <p:spPr>
          <a:xfrm>
            <a:off x="485775" y="5453209"/>
            <a:ext cx="2767062" cy="186689"/>
          </a:xfrm>
          <a:prstGeom prst="rect">
            <a:avLst/>
          </a:prstGeom>
          <a:noFill/>
        </p:spPr>
        <p:txBody>
          <a:bodyPr wrap="none" lIns="0" tIns="0" rIns="0" bIns="0">
            <a:spAutoFit/>
          </a:bodyPr>
          <a:lstStyle/>
          <a:p>
            <a:r>
              <a:rPr sz="1100" b="0">
                <a:solidFill>
                  <a:srgbClr val="2E2E2E"/>
                </a:solidFill>
                <a:latin typeface="Calibri"/>
              </a:rPr>
              <a:t>▪ ¶ Custom-engineered segment is projected to</a:t>
            </a:r>
          </a:p>
        </p:txBody>
      </p:sp>
      <p:sp>
        <p:nvSpPr>
          <p:cNvPr id="72" name="TextBox 71"/>
          <p:cNvSpPr txBox="1"/>
          <p:nvPr/>
        </p:nvSpPr>
        <p:spPr>
          <a:xfrm>
            <a:off x="485775" y="5620849"/>
            <a:ext cx="512489" cy="186689"/>
          </a:xfrm>
          <a:prstGeom prst="rect">
            <a:avLst/>
          </a:prstGeom>
          <a:noFill/>
        </p:spPr>
        <p:txBody>
          <a:bodyPr wrap="none" lIns="0" tIns="0" r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123678" cy="186689"/>
          </a:xfrm>
          <a:prstGeom prst="rect">
            <a:avLst/>
          </a:prstGeom>
          <a:noFill/>
        </p:spPr>
        <p:txBody>
          <a:bodyPr wrap="none" lIns="0" tIns="0" rIns="0" bIns="0">
            <a:spAutoFit/>
          </a:bodyPr>
          <a:lstStyle/>
          <a:p>
            <a:r>
              <a:rPr sz="1100" b="0">
                <a:solidFill>
                  <a:srgbClr val="2E2E2E"/>
                </a:solidFill>
                <a:latin typeface="Calibri"/>
              </a:rPr>
              <a:t>X higher value than standard / stock</a:t>
            </a:r>
          </a:p>
        </p:txBody>
      </p:sp>
      <p:sp>
        <p:nvSpPr>
          <p:cNvPr id="75" name="TextBox 74"/>
          <p:cNvSpPr txBox="1"/>
          <p:nvPr/>
        </p:nvSpPr>
        <p:spPr>
          <a:xfrm>
            <a:off x="485775" y="5788489"/>
            <a:ext cx="1353145" cy="186689"/>
          </a:xfrm>
          <a:prstGeom prst="rect">
            <a:avLst/>
          </a:prstGeom>
          <a:noFill/>
        </p:spPr>
        <p:txBody>
          <a:bodyPr wrap="none" lIns="0" tIns="0" rIns="0" bIns="0">
            <a:spAutoFit/>
          </a:bodyPr>
          <a:lstStyle/>
          <a:p>
            <a:r>
              <a:rPr sz="1100" b="0">
                <a:solidFill>
                  <a:srgbClr val="2E2E2E"/>
                </a:solidFill>
                <a:latin typeface="Calibri"/>
              </a:rPr>
              <a:t>sizes segment in 2036.</a:t>
            </a:r>
          </a:p>
        </p:txBody>
      </p:sp>
      <p:sp>
        <p:nvSpPr>
          <p:cNvPr id="76" name="TextBox 75"/>
          <p:cNvSpPr txBox="1"/>
          <p:nvPr/>
        </p:nvSpPr>
        <p:spPr>
          <a:xfrm>
            <a:off x="3838575" y="4229437"/>
            <a:ext cx="1350962" cy="186689"/>
          </a:xfrm>
          <a:prstGeom prst="rect">
            <a:avLst/>
          </a:prstGeom>
          <a:noFill/>
        </p:spPr>
        <p:txBody>
          <a:bodyPr wrap="none" lIns="0" tIns="0" rIns="0" bIns="0">
            <a:spAutoFit/>
          </a:bodyPr>
          <a:lstStyle/>
          <a:p>
            <a:r>
              <a:rPr sz="1100" b="0">
                <a:solidFill>
                  <a:srgbClr val="2E2E2E"/>
                </a:solidFill>
                <a:latin typeface="Calibri"/>
              </a:rPr>
              <a:t>● Custom-Engineered:</a:t>
            </a:r>
          </a:p>
        </p:txBody>
      </p:sp>
      <p:pic>
        <p:nvPicPr>
          <p:cNvPr id="77" name="Picture 76" descr="lock.png"/>
          <p:cNvPicPr>
            <a:picLocks noChangeAspect="1"/>
          </p:cNvPicPr>
          <p:nvPr/>
        </p:nvPicPr>
        <p:blipFill>
          <a:blip r:embed="rId10"/>
          <a:stretch>
            <a:fillRect/>
          </a:stretch>
        </p:blipFill>
        <p:spPr>
          <a:xfrm>
            <a:off x="5137589" y="4219658"/>
            <a:ext cx="128699" cy="187198"/>
          </a:xfrm>
          <a:prstGeom prst="rect">
            <a:avLst/>
          </a:prstGeom>
        </p:spPr>
      </p:pic>
      <p:sp>
        <p:nvSpPr>
          <p:cNvPr id="78" name="TextBox 77"/>
          <p:cNvSpPr txBox="1"/>
          <p:nvPr/>
        </p:nvSpPr>
        <p:spPr>
          <a:xfrm>
            <a:off x="5305084"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164535" y="4219658"/>
            <a:ext cx="128699" cy="187198"/>
          </a:xfrm>
          <a:prstGeom prst="rect">
            <a:avLst/>
          </a:prstGeom>
        </p:spPr>
      </p:pic>
      <p:sp>
        <p:nvSpPr>
          <p:cNvPr id="80" name="TextBox 79"/>
          <p:cNvSpPr txBox="1"/>
          <p:nvPr/>
        </p:nvSpPr>
        <p:spPr>
          <a:xfrm>
            <a:off x="6332030" y="4229437"/>
            <a:ext cx="1503469" cy="186689"/>
          </a:xfrm>
          <a:prstGeom prst="rect">
            <a:avLst/>
          </a:prstGeom>
          <a:noFill/>
        </p:spPr>
        <p:txBody>
          <a:bodyPr wrap="none" lIns="0" tIns="0" r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475382" cy="186689"/>
          </a:xfrm>
          <a:prstGeom prst="rect">
            <a:avLst/>
          </a:prstGeom>
          <a:noFill/>
        </p:spPr>
        <p:txBody>
          <a:bodyPr wrap="none" lIns="0" tIns="0" rIns="0" bIns="0">
            <a:spAutoFit/>
          </a:bodyPr>
          <a:lstStyle/>
          <a:p>
            <a:r>
              <a:rPr sz="1100" b="0">
                <a:solidFill>
                  <a:srgbClr val="2E2E2E"/>
                </a:solidFill>
                <a:latin typeface="Calibri"/>
              </a:rPr>
              <a:t>● Standard / Stock Sizes:</a:t>
            </a:r>
          </a:p>
        </p:txBody>
      </p:sp>
      <p:pic>
        <p:nvPicPr>
          <p:cNvPr id="82" name="Picture 81" descr="lock.png"/>
          <p:cNvPicPr>
            <a:picLocks noChangeAspect="1"/>
          </p:cNvPicPr>
          <p:nvPr/>
        </p:nvPicPr>
        <p:blipFill>
          <a:blip r:embed="rId10"/>
          <a:stretch>
            <a:fillRect/>
          </a:stretch>
        </p:blipFill>
        <p:spPr>
          <a:xfrm>
            <a:off x="5262009" y="4437590"/>
            <a:ext cx="128699" cy="187198"/>
          </a:xfrm>
          <a:prstGeom prst="rect">
            <a:avLst/>
          </a:prstGeom>
        </p:spPr>
      </p:pic>
      <p:sp>
        <p:nvSpPr>
          <p:cNvPr id="83" name="TextBox 82"/>
          <p:cNvSpPr txBox="1"/>
          <p:nvPr/>
        </p:nvSpPr>
        <p:spPr>
          <a:xfrm>
            <a:off x="5429505"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288955" y="4437590"/>
            <a:ext cx="128699" cy="187198"/>
          </a:xfrm>
          <a:prstGeom prst="rect">
            <a:avLst/>
          </a:prstGeom>
        </p:spPr>
      </p:pic>
      <p:sp>
        <p:nvSpPr>
          <p:cNvPr id="85" name="TextBox 84"/>
          <p:cNvSpPr txBox="1"/>
          <p:nvPr/>
        </p:nvSpPr>
        <p:spPr>
          <a:xfrm>
            <a:off x="6456451" y="4447369"/>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86" name="TextBox 85"/>
          <p:cNvSpPr txBox="1"/>
          <p:nvPr/>
        </p:nvSpPr>
        <p:spPr>
          <a:xfrm>
            <a:off x="8524875" y="5842641"/>
            <a:ext cx="3162300" cy="194310"/>
          </a:xfrm>
          <a:prstGeom prst="rect">
            <a:avLst/>
          </a:prstGeom>
          <a:noFill/>
        </p:spPr>
        <p:txBody>
          <a:bodyPr wrap="none" lIns="0" tIns="0" rIns="0" bIns="0">
            <a:spAutoFit/>
          </a:bodyPr>
          <a:lstStyle/>
          <a:p>
            <a:r>
              <a:rPr sz="1150" b="1">
                <a:solidFill>
                  <a:srgbClr val="0B2E4A"/>
                </a:solidFill>
                <a:latin typeface="Calibri"/>
              </a:rPr>
              <a:t>The Customization segment is projected to grow at</a:t>
            </a:r>
          </a:p>
        </p:txBody>
      </p:sp>
      <p:sp>
        <p:nvSpPr>
          <p:cNvPr id="87" name="TextBox 86"/>
          <p:cNvSpPr txBox="1"/>
          <p:nvPr/>
        </p:nvSpPr>
        <p:spPr>
          <a:xfrm>
            <a:off x="8524875" y="6017901"/>
            <a:ext cx="680055" cy="194310"/>
          </a:xfrm>
          <a:prstGeom prst="rect">
            <a:avLst/>
          </a:prstGeom>
          <a:noFill/>
        </p:spPr>
        <p:txBody>
          <a:bodyPr wrap="none" lIns="0" tIns="0" rIns="0" bIns="0">
            <a:spAutoFit/>
          </a:bodyPr>
          <a:lstStyle/>
          <a:p>
            <a:r>
              <a:rPr sz="1150" b="1">
                <a:solidFill>
                  <a:srgbClr val="0B2E4A"/>
                </a:solidFill>
                <a:latin typeface="Calibri"/>
              </a:rPr>
              <a:t>a CAGR of</a:t>
            </a:r>
          </a:p>
        </p:txBody>
      </p:sp>
      <p:pic>
        <p:nvPicPr>
          <p:cNvPr id="88" name="Picture 87" descr="lock.png"/>
          <p:cNvPicPr>
            <a:picLocks noChangeAspect="1"/>
          </p:cNvPicPr>
          <p:nvPr/>
        </p:nvPicPr>
        <p:blipFill>
          <a:blip r:embed="rId10"/>
          <a:stretch>
            <a:fillRect/>
          </a:stretch>
        </p:blipFill>
        <p:spPr>
          <a:xfrm>
            <a:off x="9154084" y="6007677"/>
            <a:ext cx="134549" cy="195707"/>
          </a:xfrm>
          <a:prstGeom prst="rect">
            <a:avLst/>
          </a:prstGeom>
        </p:spPr>
      </p:pic>
      <p:sp>
        <p:nvSpPr>
          <p:cNvPr id="89" name="TextBox 88"/>
          <p:cNvSpPr txBox="1"/>
          <p:nvPr/>
        </p:nvSpPr>
        <p:spPr>
          <a:xfrm>
            <a:off x="9329193"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Structure &amp; Attractiveness, By Customization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Customization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Customization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Customization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357793" cy="186689"/>
          </a:xfrm>
          <a:prstGeom prst="rect">
            <a:avLst/>
          </a:prstGeom>
          <a:noFill/>
        </p:spPr>
        <p:txBody>
          <a:bodyPr wrap="none" lIns="0" tIns="0" rIns="0" bIns="0">
            <a:spAutoFit/>
          </a:bodyPr>
          <a:lstStyle/>
          <a:p>
            <a:r>
              <a:rPr sz="1100" b="0">
                <a:solidFill>
                  <a:srgbClr val="2E2E2E"/>
                </a:solidFill>
                <a:latin typeface="Calibri"/>
              </a:rPr>
              <a:t>Standard / stock sizes followed by custom-engineered are expected to be the two most attractive customization segments in the North America corrugated partition market in terms of value over the</a:t>
            </a:r>
          </a:p>
        </p:txBody>
      </p:sp>
      <p:sp>
        <p:nvSpPr>
          <p:cNvPr id="21" name="TextBox 20"/>
          <p:cNvSpPr txBox="1"/>
          <p:nvPr/>
        </p:nvSpPr>
        <p:spPr>
          <a:xfrm>
            <a:off x="257175" y="5945505"/>
            <a:ext cx="4991058" cy="186689"/>
          </a:xfrm>
          <a:prstGeom prst="rect">
            <a:avLst/>
          </a:prstGeom>
          <a:noFill/>
        </p:spPr>
        <p:txBody>
          <a:bodyPr wrap="none" lIns="0" tIns="0" rIns="0" bIns="0">
            <a:spAutoFit/>
          </a:bodyPr>
          <a:lstStyle/>
          <a:p>
            <a:r>
              <a:rPr sz="1100" b="0">
                <a:solidFill>
                  <a:srgbClr val="2E2E2E"/>
                </a:solidFill>
                <a:latin typeface="Calibri"/>
              </a:rPr>
              <a:t>forecast period. Standard / stock sizes and Custom-Engineered exhibit a CAGR index of</a:t>
            </a:r>
          </a:p>
        </p:txBody>
      </p:sp>
      <p:pic>
        <p:nvPicPr>
          <p:cNvPr id="22" name="Picture 21" descr="lock.png"/>
          <p:cNvPicPr>
            <a:picLocks noChangeAspect="1"/>
          </p:cNvPicPr>
          <p:nvPr/>
        </p:nvPicPr>
        <p:blipFill>
          <a:blip r:embed="rId6"/>
          <a:stretch>
            <a:fillRect/>
          </a:stretch>
        </p:blipFill>
        <p:spPr>
          <a:xfrm>
            <a:off x="5196284" y="5935726"/>
            <a:ext cx="128699" cy="187198"/>
          </a:xfrm>
          <a:prstGeom prst="rect">
            <a:avLst/>
          </a:prstGeom>
        </p:spPr>
      </p:pic>
      <p:sp>
        <p:nvSpPr>
          <p:cNvPr id="23" name="TextBox 22"/>
          <p:cNvSpPr txBox="1"/>
          <p:nvPr/>
        </p:nvSpPr>
        <p:spPr>
          <a:xfrm>
            <a:off x="5363780"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601674" y="5935726"/>
            <a:ext cx="128699" cy="187198"/>
          </a:xfrm>
          <a:prstGeom prst="rect">
            <a:avLst/>
          </a:prstGeom>
        </p:spPr>
      </p:pic>
      <p:sp>
        <p:nvSpPr>
          <p:cNvPr id="25" name="TextBox 24"/>
          <p:cNvSpPr txBox="1"/>
          <p:nvPr/>
        </p:nvSpPr>
        <p:spPr>
          <a:xfrm>
            <a:off x="5769170"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378144" y="5935726"/>
            <a:ext cx="128699" cy="187198"/>
          </a:xfrm>
          <a:prstGeom prst="rect">
            <a:avLst/>
          </a:prstGeom>
        </p:spPr>
      </p:pic>
      <p:sp>
        <p:nvSpPr>
          <p:cNvPr id="27" name="TextBox 26"/>
          <p:cNvSpPr txBox="1"/>
          <p:nvPr/>
        </p:nvSpPr>
        <p:spPr>
          <a:xfrm>
            <a:off x="7545640"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783534" y="5935726"/>
            <a:ext cx="128699" cy="187198"/>
          </a:xfrm>
          <a:prstGeom prst="rect">
            <a:avLst/>
          </a:prstGeom>
        </p:spPr>
      </p:pic>
      <p:sp>
        <p:nvSpPr>
          <p:cNvPr id="29" name="TextBox 28"/>
          <p:cNvSpPr txBox="1"/>
          <p:nvPr/>
        </p:nvSpPr>
        <p:spPr>
          <a:xfrm>
            <a:off x="7951030" y="594550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505434" y="5935726"/>
            <a:ext cx="128699" cy="187198"/>
          </a:xfrm>
          <a:prstGeom prst="rect">
            <a:avLst/>
          </a:prstGeom>
        </p:spPr>
      </p:pic>
      <p:sp>
        <p:nvSpPr>
          <p:cNvPr id="31" name="TextBox 30"/>
          <p:cNvSpPr txBox="1"/>
          <p:nvPr/>
        </p:nvSpPr>
        <p:spPr>
          <a:xfrm>
            <a:off x="10672930" y="5945505"/>
            <a:ext cx="595709" cy="186689"/>
          </a:xfrm>
          <a:prstGeom prst="rect">
            <a:avLst/>
          </a:prstGeom>
          <a:noFill/>
        </p:spPr>
        <p:txBody>
          <a:bodyPr wrap="none" lIns="0" tIns="0" rIns="0" bIns="0">
            <a:spAutoFit/>
          </a:bodyPr>
          <a:lstStyle/>
          <a:p>
            <a:r>
              <a:rPr sz="1100" b="0">
                <a:solidFill>
                  <a:srgbClr val="2E2E2E"/>
                </a:solidFill>
                <a:latin typeface="Calibri"/>
              </a:rPr>
              <a:t>. Bubbles</a:t>
            </a:r>
          </a:p>
        </p:txBody>
      </p:sp>
      <p:sp>
        <p:nvSpPr>
          <p:cNvPr id="32" name="TextBox 31"/>
          <p:cNvSpPr txBox="1"/>
          <p:nvPr/>
        </p:nvSpPr>
        <p:spPr>
          <a:xfrm>
            <a:off x="257175" y="6113145"/>
            <a:ext cx="3892557" cy="186689"/>
          </a:xfrm>
          <a:prstGeom prst="rect">
            <a:avLst/>
          </a:prstGeom>
          <a:noFill/>
        </p:spPr>
        <p:txBody>
          <a:bodyPr wrap="none" lIns="0" tIns="0" rIns="0" bIns="0">
            <a:spAutoFit/>
          </a:bodyPr>
          <a:lstStyle/>
          <a:p>
            <a:r>
              <a:rPr sz="1100" b="0">
                <a:solidFill>
                  <a:srgbClr val="2E2E2E"/>
                </a:solidFill>
                <a:latin typeface="Calibri"/>
              </a:rPr>
              <a:t>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Analysis, By Customization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Customization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Standard / Stock Sizes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Custom-Engineered</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xmlns:r="http://schemas.openxmlformats.org/officeDocument/2006/relationships" r:id="rId5"/>
          </a:graphicData>
        </a:graphic>
      </p:graphicFrame>
      <p:sp>
        <p:nvSpPr>
          <p:cNvPr id="17" name="TextBox 1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Volume Analysis, By Customization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Customization,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By Customization (MT)</a:t>
            </a:r>
          </a:p>
        </p:txBody>
      </p:sp>
      <p:graphicFrame>
        <p:nvGraphicFramePr>
          <p:cNvPr id="13" name="Table 12"/>
          <p:cNvGraphicFramePr>
            <a:graphicFrameLocks noGrp="1"/>
          </p:cNvGraphicFramePr>
          <p:nvPr/>
        </p:nvGraphicFramePr>
        <p:xfrm>
          <a:off x="152400" y="1238250"/>
          <a:ext cx="11887208" cy="1371600"/>
        </p:xfrm>
        <a:graphic>
          <a:graphicData uri="http://schemas.openxmlformats.org/drawingml/2006/table">
            <a:tbl>
              <a:tblPr>
                <a:tableStyleId>{5C22544A-7EE6-4342-B048-85BDC9FD1C3A}</a:tableStyleId>
              </a:tblPr>
              <a:tblGrid>
                <a:gridCol w="1239860">
                  <a:extLst>
                    <a:ext uri="{9D8B030D-6E8A-4147-A177-3AD203B41FA5}">
                      <a16:colId xmlns:a16="http://schemas.microsoft.com/office/drawing/2014/main" val="20000"/>
                    </a:ext>
                  </a:extLst>
                </a:gridCol>
                <a:gridCol w="641033">
                  <a:extLst>
                    <a:ext uri="{9D8B030D-6E8A-4147-A177-3AD203B41FA5}">
                      <a16:colId xmlns:a16="http://schemas.microsoft.com/office/drawing/2014/main" val="20001"/>
                    </a:ext>
                  </a:extLst>
                </a:gridCol>
                <a:gridCol w="641033">
                  <a:extLst>
                    <a:ext uri="{9D8B030D-6E8A-4147-A177-3AD203B41FA5}">
                      <a16:colId xmlns:a16="http://schemas.microsoft.com/office/drawing/2014/main" val="20002"/>
                    </a:ext>
                  </a:extLst>
                </a:gridCol>
                <a:gridCol w="641033">
                  <a:extLst>
                    <a:ext uri="{9D8B030D-6E8A-4147-A177-3AD203B41FA5}">
                      <a16:colId xmlns:a16="http://schemas.microsoft.com/office/drawing/2014/main" val="20003"/>
                    </a:ext>
                  </a:extLst>
                </a:gridCol>
                <a:gridCol w="641033">
                  <a:extLst>
                    <a:ext uri="{9D8B030D-6E8A-4147-A177-3AD203B41FA5}">
                      <a16:colId xmlns:a16="http://schemas.microsoft.com/office/drawing/2014/main" val="20004"/>
                    </a:ext>
                  </a:extLst>
                </a:gridCol>
                <a:gridCol w="641033">
                  <a:extLst>
                    <a:ext uri="{9D8B030D-6E8A-4147-A177-3AD203B41FA5}">
                      <a16:colId xmlns:a16="http://schemas.microsoft.com/office/drawing/2014/main" val="20005"/>
                    </a:ext>
                  </a:extLst>
                </a:gridCol>
                <a:gridCol w="641033">
                  <a:extLst>
                    <a:ext uri="{9D8B030D-6E8A-4147-A177-3AD203B41FA5}">
                      <a16:colId xmlns:a16="http://schemas.microsoft.com/office/drawing/2014/main" val="20006"/>
                    </a:ext>
                  </a:extLst>
                </a:gridCol>
                <a:gridCol w="641033">
                  <a:extLst>
                    <a:ext uri="{9D8B030D-6E8A-4147-A177-3AD203B41FA5}">
                      <a16:colId xmlns:a16="http://schemas.microsoft.com/office/drawing/2014/main" val="20007"/>
                    </a:ext>
                  </a:extLst>
                </a:gridCol>
                <a:gridCol w="641033">
                  <a:extLst>
                    <a:ext uri="{9D8B030D-6E8A-4147-A177-3AD203B41FA5}">
                      <a16:colId xmlns:a16="http://schemas.microsoft.com/office/drawing/2014/main" val="20008"/>
                    </a:ext>
                  </a:extLst>
                </a:gridCol>
                <a:gridCol w="641033">
                  <a:extLst>
                    <a:ext uri="{9D8B030D-6E8A-4147-A177-3AD203B41FA5}">
                      <a16:colId xmlns:a16="http://schemas.microsoft.com/office/drawing/2014/main" val="20009"/>
                    </a:ext>
                  </a:extLst>
                </a:gridCol>
                <a:gridCol w="641033">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390820">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Customization</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439420">
                <a:tc>
                  <a:txBody>
                    <a:bodyPr/>
                    <a:lstStyle/>
                    <a:p>
                      <a:pPr algn="l"/>
                      <a:r>
                        <a:rPr sz="1100" b="1">
                          <a:solidFill>
                            <a:srgbClr val="2E2E2E"/>
                          </a:solidFill>
                          <a:latin typeface="Calibri"/>
                        </a:rPr>
                        <a:t>Standard / Stock</a:t>
                      </a:r>
                      <a:endParaRPr sz="1100"/>
                    </a:p>
                    <a:p>
                      <a:pPr algn="l"/>
                      <a:r>
                        <a:rPr sz="1100" b="1">
                          <a:solidFill>
                            <a:srgbClr val="2E2E2E"/>
                          </a:solidFill>
                          <a:latin typeface="Calibri"/>
                        </a:rPr>
                        <a:t>Sizes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246634">
                <a:tc>
                  <a:txBody>
                    <a:bodyPr/>
                    <a:lstStyle/>
                    <a:p>
                      <a:pPr algn="l"/>
                      <a:r>
                        <a:rPr sz="1100" b="1">
                          <a:solidFill>
                            <a:srgbClr val="2E2E2E"/>
                          </a:solidFill>
                          <a:latin typeface="Calibri"/>
                        </a:rPr>
                        <a:t>Custom-Engineered</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246634">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619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952750"/>
            <a:ext cx="11906250" cy="3676650"/>
          </a:xfrm>
          <a:prstGeom prst="roundRect">
            <a:avLst>
              <a:gd name="adj" fmla="val 20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03847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Volume Analysis, By Customization</a:t>
            </a:r>
          </a:p>
        </p:txBody>
      </p:sp>
      <p:sp>
        <p:nvSpPr>
          <p:cNvPr id="17" name="Rectangle 16"/>
          <p:cNvSpPr/>
          <p:nvPr/>
        </p:nvSpPr>
        <p:spPr>
          <a:xfrm>
            <a:off x="276225" y="3276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362325"/>
            <a:ext cx="11639550" cy="3190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1876806"/>
            <a:ext cx="366712" cy="533400"/>
          </a:xfrm>
          <a:prstGeom prst="rect">
            <a:avLst/>
          </a:prstGeom>
        </p:spPr>
      </p:pic>
      <p:sp>
        <p:nvSpPr>
          <p:cNvPr id="21" name="TextBox 20"/>
          <p:cNvSpPr txBox="1"/>
          <p:nvPr/>
        </p:nvSpPr>
        <p:spPr>
          <a:xfrm>
            <a:off x="276225" y="3371850"/>
            <a:ext cx="3175198" cy="194310"/>
          </a:xfrm>
          <a:prstGeom prst="rect">
            <a:avLst/>
          </a:prstGeom>
          <a:noFill/>
        </p:spPr>
        <p:txBody>
          <a:bodyPr wrap="none" lIns="0" tIns="0" rIns="0" bIns="0">
            <a:spAutoFit/>
          </a:bodyPr>
          <a:lstStyle/>
          <a:p>
            <a:r>
              <a:rPr sz="1150" b="0">
                <a:solidFill>
                  <a:srgbClr val="2E2E2E"/>
                </a:solidFill>
                <a:latin typeface="Calibri"/>
              </a:rPr>
              <a:t>Custom-engineered segment is projected to register</a:t>
            </a:r>
          </a:p>
        </p:txBody>
      </p:sp>
      <p:pic>
        <p:nvPicPr>
          <p:cNvPr id="22" name="Picture 21" descr="lock.png"/>
          <p:cNvPicPr>
            <a:picLocks noChangeAspect="1"/>
          </p:cNvPicPr>
          <p:nvPr/>
        </p:nvPicPr>
        <p:blipFill>
          <a:blip r:embed="rId4"/>
          <a:stretch>
            <a:fillRect/>
          </a:stretch>
        </p:blipFill>
        <p:spPr>
          <a:xfrm>
            <a:off x="3400577" y="3361626"/>
            <a:ext cx="134549" cy="195707"/>
          </a:xfrm>
          <a:prstGeom prst="rect">
            <a:avLst/>
          </a:prstGeom>
        </p:spPr>
      </p:pic>
      <p:sp>
        <p:nvSpPr>
          <p:cNvPr id="23" name="TextBox 22"/>
          <p:cNvSpPr txBox="1"/>
          <p:nvPr/>
        </p:nvSpPr>
        <p:spPr>
          <a:xfrm>
            <a:off x="3575686" y="3371850"/>
            <a:ext cx="7790606" cy="194310"/>
          </a:xfrm>
          <a:prstGeom prst="rect">
            <a:avLst/>
          </a:prstGeom>
          <a:noFill/>
        </p:spPr>
        <p:txBody>
          <a:bodyPr wrap="none" lIns="0" tIns="0" rIns="0" bIns="0">
            <a:spAutoFit/>
          </a:bodyPr>
          <a:lstStyle/>
          <a:p>
            <a:r>
              <a:rPr sz="1150" b="0">
                <a:solidFill>
                  <a:srgbClr val="2E2E2E"/>
                </a:solidFill>
                <a:latin typeface="Calibri"/>
              </a:rPr>
              <a:t>X higher volume than standard / stock sizes segment in 2036. Among corrugated partition by customization, standard / stock sizes</a:t>
            </a:r>
          </a:p>
        </p:txBody>
      </p:sp>
      <p:sp>
        <p:nvSpPr>
          <p:cNvPr id="24" name="TextBox 23"/>
          <p:cNvSpPr txBox="1"/>
          <p:nvPr/>
        </p:nvSpPr>
        <p:spPr>
          <a:xfrm>
            <a:off x="276225" y="3547110"/>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536886"/>
            <a:ext cx="134549" cy="195707"/>
          </a:xfrm>
          <a:prstGeom prst="rect">
            <a:avLst/>
          </a:prstGeom>
        </p:spPr>
      </p:pic>
      <p:sp>
        <p:nvSpPr>
          <p:cNvPr id="26" name="TextBox 25"/>
          <p:cNvSpPr txBox="1"/>
          <p:nvPr/>
        </p:nvSpPr>
        <p:spPr>
          <a:xfrm>
            <a:off x="3557127" y="3547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774947"/>
            <a:ext cx="7186153" cy="194310"/>
          </a:xfrm>
          <a:prstGeom prst="rect">
            <a:avLst/>
          </a:prstGeom>
          <a:noFill/>
        </p:spPr>
        <p:txBody>
          <a:bodyPr wrap="none" lIns="0" tIns="0" rIns="0" bIns="0">
            <a:spAutoFit/>
          </a:bodyPr>
          <a:lstStyle/>
          <a:p>
            <a:r>
              <a:rPr sz="1150" b="0">
                <a:solidFill>
                  <a:srgbClr val="2E2E2E"/>
                </a:solidFill>
                <a:latin typeface="Calibri"/>
              </a:rPr>
              <a:t>In terms of volume share by customization, the custom-engineered segment is expected to dominate the market, losing</a:t>
            </a:r>
          </a:p>
        </p:txBody>
      </p:sp>
      <p:pic>
        <p:nvPicPr>
          <p:cNvPr id="28" name="Picture 27" descr="lock.png"/>
          <p:cNvPicPr>
            <a:picLocks noChangeAspect="1"/>
          </p:cNvPicPr>
          <p:nvPr/>
        </p:nvPicPr>
        <p:blipFill>
          <a:blip r:embed="rId4"/>
          <a:stretch>
            <a:fillRect/>
          </a:stretch>
        </p:blipFill>
        <p:spPr>
          <a:xfrm>
            <a:off x="7411532" y="3764724"/>
            <a:ext cx="134549" cy="195707"/>
          </a:xfrm>
          <a:prstGeom prst="rect">
            <a:avLst/>
          </a:prstGeom>
        </p:spPr>
      </p:pic>
      <p:sp>
        <p:nvSpPr>
          <p:cNvPr id="29" name="TextBox 28"/>
          <p:cNvSpPr txBox="1"/>
          <p:nvPr/>
        </p:nvSpPr>
        <p:spPr>
          <a:xfrm>
            <a:off x="7586641" y="3774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981785" y="3764724"/>
            <a:ext cx="134549" cy="195707"/>
          </a:xfrm>
          <a:prstGeom prst="rect">
            <a:avLst/>
          </a:prstGeom>
        </p:spPr>
      </p:pic>
      <p:sp>
        <p:nvSpPr>
          <p:cNvPr id="31" name="TextBox 30"/>
          <p:cNvSpPr txBox="1"/>
          <p:nvPr/>
        </p:nvSpPr>
        <p:spPr>
          <a:xfrm>
            <a:off x="9156894" y="3774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Analysis, By Customization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Customization,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By Customization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1564953">
                  <a:extLst>
                    <a:ext uri="{9D8B030D-6E8A-4147-A177-3AD203B41FA5}">
                      <a16:colId xmlns:a16="http://schemas.microsoft.com/office/drawing/2014/main" val="20000"/>
                    </a:ext>
                  </a:extLst>
                </a:gridCol>
                <a:gridCol w="607191">
                  <a:extLst>
                    <a:ext uri="{9D8B030D-6E8A-4147-A177-3AD203B41FA5}">
                      <a16:colId xmlns:a16="http://schemas.microsoft.com/office/drawing/2014/main" val="20001"/>
                    </a:ext>
                  </a:extLst>
                </a:gridCol>
                <a:gridCol w="607191">
                  <a:extLst>
                    <a:ext uri="{9D8B030D-6E8A-4147-A177-3AD203B41FA5}">
                      <a16:colId xmlns:a16="http://schemas.microsoft.com/office/drawing/2014/main" val="20002"/>
                    </a:ext>
                  </a:extLst>
                </a:gridCol>
                <a:gridCol w="607191">
                  <a:extLst>
                    <a:ext uri="{9D8B030D-6E8A-4147-A177-3AD203B41FA5}">
                      <a16:colId xmlns:a16="http://schemas.microsoft.com/office/drawing/2014/main" val="20003"/>
                    </a:ext>
                  </a:extLst>
                </a:gridCol>
                <a:gridCol w="607191">
                  <a:extLst>
                    <a:ext uri="{9D8B030D-6E8A-4147-A177-3AD203B41FA5}">
                      <a16:colId xmlns:a16="http://schemas.microsoft.com/office/drawing/2014/main" val="20004"/>
                    </a:ext>
                  </a:extLst>
                </a:gridCol>
                <a:gridCol w="607191">
                  <a:extLst>
                    <a:ext uri="{9D8B030D-6E8A-4147-A177-3AD203B41FA5}">
                      <a16:colId xmlns:a16="http://schemas.microsoft.com/office/drawing/2014/main" val="20005"/>
                    </a:ext>
                  </a:extLst>
                </a:gridCol>
                <a:gridCol w="607191">
                  <a:extLst>
                    <a:ext uri="{9D8B030D-6E8A-4147-A177-3AD203B41FA5}">
                      <a16:colId xmlns:a16="http://schemas.microsoft.com/office/drawing/2014/main" val="20006"/>
                    </a:ext>
                  </a:extLst>
                </a:gridCol>
                <a:gridCol w="607191">
                  <a:extLst>
                    <a:ext uri="{9D8B030D-6E8A-4147-A177-3AD203B41FA5}">
                      <a16:colId xmlns:a16="http://schemas.microsoft.com/office/drawing/2014/main" val="20007"/>
                    </a:ext>
                  </a:extLst>
                </a:gridCol>
                <a:gridCol w="607191">
                  <a:extLst>
                    <a:ext uri="{9D8B030D-6E8A-4147-A177-3AD203B41FA5}">
                      <a16:colId xmlns:a16="http://schemas.microsoft.com/office/drawing/2014/main" val="20008"/>
                    </a:ext>
                  </a:extLst>
                </a:gridCol>
                <a:gridCol w="607191">
                  <a:extLst>
                    <a:ext uri="{9D8B030D-6E8A-4147-A177-3AD203B41FA5}">
                      <a16:colId xmlns:a16="http://schemas.microsoft.com/office/drawing/2014/main" val="20009"/>
                    </a:ext>
                  </a:extLst>
                </a:gridCol>
                <a:gridCol w="607191">
                  <a:extLst>
                    <a:ext uri="{9D8B030D-6E8A-4147-A177-3AD203B41FA5}">
                      <a16:colId xmlns:a16="http://schemas.microsoft.com/office/drawing/2014/main" val="20010"/>
                    </a:ext>
                  </a:extLst>
                </a:gridCol>
                <a:gridCol w="607191">
                  <a:extLst>
                    <a:ext uri="{9D8B030D-6E8A-4147-A177-3AD203B41FA5}">
                      <a16:colId xmlns:a16="http://schemas.microsoft.com/office/drawing/2014/main" val="20011"/>
                    </a:ext>
                  </a:extLst>
                </a:gridCol>
                <a:gridCol w="607191">
                  <a:extLst>
                    <a:ext uri="{9D8B030D-6E8A-4147-A177-3AD203B41FA5}">
                      <a16:colId xmlns:a16="http://schemas.microsoft.com/office/drawing/2014/main" val="20012"/>
                    </a:ext>
                  </a:extLst>
                </a:gridCol>
                <a:gridCol w="607191">
                  <a:extLst>
                    <a:ext uri="{9D8B030D-6E8A-4147-A177-3AD203B41FA5}">
                      <a16:colId xmlns:a16="http://schemas.microsoft.com/office/drawing/2014/main" val="20013"/>
                    </a:ext>
                  </a:extLst>
                </a:gridCol>
                <a:gridCol w="607191">
                  <a:extLst>
                    <a:ext uri="{9D8B030D-6E8A-4147-A177-3AD203B41FA5}">
                      <a16:colId xmlns:a16="http://schemas.microsoft.com/office/drawing/2014/main" val="20014"/>
                    </a:ext>
                  </a:extLst>
                </a:gridCol>
                <a:gridCol w="607191">
                  <a:extLst>
                    <a:ext uri="{9D8B030D-6E8A-4147-A177-3AD203B41FA5}">
                      <a16:colId xmlns:a16="http://schemas.microsoft.com/office/drawing/2014/main" val="20015"/>
                    </a:ext>
                  </a:extLst>
                </a:gridCol>
                <a:gridCol w="607191">
                  <a:extLst>
                    <a:ext uri="{9D8B030D-6E8A-4147-A177-3AD203B41FA5}">
                      <a16:colId xmlns:a16="http://schemas.microsoft.com/office/drawing/2014/main" val="20016"/>
                    </a:ext>
                  </a:extLst>
                </a:gridCol>
                <a:gridCol w="607191">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65747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Value Analysis, By Customization</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2981325"/>
            <a:ext cx="11639550" cy="3571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91786" y="1589913"/>
            <a:ext cx="366712" cy="533400"/>
          </a:xfrm>
          <a:prstGeom prst="rect">
            <a:avLst/>
          </a:prstGeom>
        </p:spPr>
      </p:pic>
      <p:sp>
        <p:nvSpPr>
          <p:cNvPr id="21" name="TextBox 20"/>
          <p:cNvSpPr txBox="1"/>
          <p:nvPr/>
        </p:nvSpPr>
        <p:spPr>
          <a:xfrm>
            <a:off x="276225" y="2990850"/>
            <a:ext cx="3175198" cy="194310"/>
          </a:xfrm>
          <a:prstGeom prst="rect">
            <a:avLst/>
          </a:prstGeom>
          <a:noFill/>
        </p:spPr>
        <p:txBody>
          <a:bodyPr wrap="none" lIns="0" tIns="0" rIns="0" bIns="0">
            <a:spAutoFit/>
          </a:bodyPr>
          <a:lstStyle/>
          <a:p>
            <a:r>
              <a:rPr sz="1150" b="0">
                <a:solidFill>
                  <a:srgbClr val="2E2E2E"/>
                </a:solidFill>
                <a:latin typeface="Calibri"/>
              </a:rPr>
              <a:t>Custom-engineered segment is projected to register</a:t>
            </a:r>
          </a:p>
        </p:txBody>
      </p:sp>
      <p:pic>
        <p:nvPicPr>
          <p:cNvPr id="22" name="Picture 21" descr="lock.png"/>
          <p:cNvPicPr>
            <a:picLocks noChangeAspect="1"/>
          </p:cNvPicPr>
          <p:nvPr/>
        </p:nvPicPr>
        <p:blipFill>
          <a:blip r:embed="rId4"/>
          <a:stretch>
            <a:fillRect/>
          </a:stretch>
        </p:blipFill>
        <p:spPr>
          <a:xfrm>
            <a:off x="3400577" y="2980626"/>
            <a:ext cx="134549" cy="195707"/>
          </a:xfrm>
          <a:prstGeom prst="rect">
            <a:avLst/>
          </a:prstGeom>
        </p:spPr>
      </p:pic>
      <p:sp>
        <p:nvSpPr>
          <p:cNvPr id="23" name="TextBox 22"/>
          <p:cNvSpPr txBox="1"/>
          <p:nvPr/>
        </p:nvSpPr>
        <p:spPr>
          <a:xfrm>
            <a:off x="3575686" y="2990850"/>
            <a:ext cx="8213638" cy="194310"/>
          </a:xfrm>
          <a:prstGeom prst="rect">
            <a:avLst/>
          </a:prstGeom>
          <a:noFill/>
        </p:spPr>
        <p:txBody>
          <a:bodyPr wrap="none" lIns="0" tIns="0" rIns="0" bIns="0">
            <a:spAutoFit/>
          </a:bodyPr>
          <a:lstStyle/>
          <a:p>
            <a:r>
              <a:rPr sz="1150" b="0">
                <a:solidFill>
                  <a:srgbClr val="2E2E2E"/>
                </a:solidFill>
                <a:latin typeface="Calibri"/>
              </a:rPr>
              <a:t>X higher value than standard / stock sizes segment in 2036. Among corrugated partition by customization, standard / stock sizes segment</a:t>
            </a:r>
          </a:p>
        </p:txBody>
      </p:sp>
      <p:sp>
        <p:nvSpPr>
          <p:cNvPr id="24" name="TextBox 23"/>
          <p:cNvSpPr txBox="1"/>
          <p:nvPr/>
        </p:nvSpPr>
        <p:spPr>
          <a:xfrm>
            <a:off x="276225" y="3166110"/>
            <a:ext cx="2609807" cy="194310"/>
          </a:xfrm>
          <a:prstGeom prst="rect">
            <a:avLst/>
          </a:prstGeom>
          <a:noFill/>
        </p:spPr>
        <p:txBody>
          <a:bodyPr wrap="none" lIns="0" tIns="0" rIns="0" bIns="0">
            <a:spAutoFit/>
          </a:bodyPr>
          <a:lstStyle/>
          <a:p>
            <a:r>
              <a:rPr sz="1150" b="0">
                <a:solidFill>
                  <a:srgbClr val="2E2E2E"/>
                </a:solidFill>
                <a:latin typeface="Calibri"/>
              </a:rPr>
              <a:t>is expected to witness the highest CAGR of</a:t>
            </a:r>
          </a:p>
        </p:txBody>
      </p:sp>
      <p:pic>
        <p:nvPicPr>
          <p:cNvPr id="25" name="Picture 24" descr="lock.png"/>
          <p:cNvPicPr>
            <a:picLocks noChangeAspect="1"/>
          </p:cNvPicPr>
          <p:nvPr/>
        </p:nvPicPr>
        <p:blipFill>
          <a:blip r:embed="rId4"/>
          <a:stretch>
            <a:fillRect/>
          </a:stretch>
        </p:blipFill>
        <p:spPr>
          <a:xfrm>
            <a:off x="2835186" y="3155886"/>
            <a:ext cx="134549" cy="195707"/>
          </a:xfrm>
          <a:prstGeom prst="rect">
            <a:avLst/>
          </a:prstGeom>
        </p:spPr>
      </p:pic>
      <p:sp>
        <p:nvSpPr>
          <p:cNvPr id="26" name="TextBox 25"/>
          <p:cNvSpPr txBox="1"/>
          <p:nvPr/>
        </p:nvSpPr>
        <p:spPr>
          <a:xfrm>
            <a:off x="3010295" y="3166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062353" cy="194310"/>
          </a:xfrm>
          <a:prstGeom prst="rect">
            <a:avLst/>
          </a:prstGeom>
          <a:noFill/>
        </p:spPr>
        <p:txBody>
          <a:bodyPr wrap="none" lIns="0" tIns="0" rIns="0" bIns="0">
            <a:spAutoFit/>
          </a:bodyPr>
          <a:lstStyle/>
          <a:p>
            <a:r>
              <a:rPr sz="1150" b="0">
                <a:solidFill>
                  <a:srgbClr val="2E2E2E"/>
                </a:solidFill>
                <a:latin typeface="Calibri"/>
              </a:rPr>
              <a:t>In terms of value share by customization, the custom-engineered segment is expected to dominate the market, losing</a:t>
            </a:r>
          </a:p>
        </p:txBody>
      </p:sp>
      <p:pic>
        <p:nvPicPr>
          <p:cNvPr id="28" name="Picture 27" descr="lock.png"/>
          <p:cNvPicPr>
            <a:picLocks noChangeAspect="1"/>
          </p:cNvPicPr>
          <p:nvPr/>
        </p:nvPicPr>
        <p:blipFill>
          <a:blip r:embed="rId4"/>
          <a:stretch>
            <a:fillRect/>
          </a:stretch>
        </p:blipFill>
        <p:spPr>
          <a:xfrm>
            <a:off x="7287732" y="3383724"/>
            <a:ext cx="134549" cy="195707"/>
          </a:xfrm>
          <a:prstGeom prst="rect">
            <a:avLst/>
          </a:prstGeom>
        </p:spPr>
      </p:pic>
      <p:sp>
        <p:nvSpPr>
          <p:cNvPr id="29" name="TextBox 28"/>
          <p:cNvSpPr txBox="1"/>
          <p:nvPr/>
        </p:nvSpPr>
        <p:spPr>
          <a:xfrm>
            <a:off x="7462841" y="3393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857984" y="3383724"/>
            <a:ext cx="134549" cy="195707"/>
          </a:xfrm>
          <a:prstGeom prst="rect">
            <a:avLst/>
          </a:prstGeom>
        </p:spPr>
      </p:pic>
      <p:sp>
        <p:nvSpPr>
          <p:cNvPr id="31" name="TextBox 30"/>
          <p:cNvSpPr txBox="1"/>
          <p:nvPr/>
        </p:nvSpPr>
        <p:spPr>
          <a:xfrm>
            <a:off x="9033094" y="3393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&amp; Share Shift, By Customization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Customization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Composition, By Customization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263641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5090922" y="263165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2555454"/>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Standard / Stock Sizes</a:t>
            </a:r>
          </a:p>
        </p:txBody>
      </p:sp>
      <p:sp>
        <p:nvSpPr>
          <p:cNvPr id="19" name="BPS Value 1"/>
          <p:cNvSpPr txBox="1"/>
          <p:nvPr/>
        </p:nvSpPr>
        <p:spPr>
          <a:xfrm>
            <a:off x="6896100" y="2617367"/>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928997" y="492260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491784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4841645"/>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Custom-Engineered</a:t>
            </a:r>
          </a:p>
        </p:txBody>
      </p:sp>
      <p:sp>
        <p:nvSpPr>
          <p:cNvPr id="23" name="BPS Value 2"/>
          <p:cNvSpPr txBox="1"/>
          <p:nvPr/>
        </p:nvSpPr>
        <p:spPr>
          <a:xfrm>
            <a:off x="6896100" y="4903557"/>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North America Read-out, By Customization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8" name="TextBox 2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57650" cy="194310"/>
          </a:xfrm>
          <a:prstGeom prst="rect">
            <a:avLst/>
          </a:prstGeom>
          <a:noFill/>
        </p:spPr>
        <p:txBody>
          <a:bodyPr wrap="none" lIns="0" tIns="0" rIns="0" bIns="0">
            <a:spAutoFit/>
          </a:bodyPr>
          <a:lstStyle/>
          <a:p>
            <a:r>
              <a:rPr sz="1150" b="0">
                <a:solidFill>
                  <a:srgbClr val="2E2E2E"/>
                </a:solidFill>
                <a:latin typeface="Calibri"/>
              </a:rPr>
              <a:t>Among corrugated partition by customization, standard / stock sizes</a:t>
            </a:r>
          </a:p>
        </p:txBody>
      </p:sp>
      <p:sp>
        <p:nvSpPr>
          <p:cNvPr id="31" name="TextBox 30"/>
          <p:cNvSpPr txBox="1"/>
          <p:nvPr/>
        </p:nvSpPr>
        <p:spPr>
          <a:xfrm>
            <a:off x="7829550" y="15754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32" name="Picture 31" descr="lock.png"/>
          <p:cNvPicPr>
            <a:picLocks noChangeAspect="1"/>
          </p:cNvPicPr>
          <p:nvPr/>
        </p:nvPicPr>
        <p:blipFill>
          <a:blip r:embed="rId5"/>
          <a:stretch>
            <a:fillRect/>
          </a:stretch>
        </p:blipFill>
        <p:spPr>
          <a:xfrm>
            <a:off x="10935343" y="1565211"/>
            <a:ext cx="134549" cy="195707"/>
          </a:xfrm>
          <a:prstGeom prst="rect">
            <a:avLst/>
          </a:prstGeom>
        </p:spPr>
      </p:pic>
      <p:sp>
        <p:nvSpPr>
          <p:cNvPr id="33" name="TextBox 32"/>
          <p:cNvSpPr txBox="1"/>
          <p:nvPr/>
        </p:nvSpPr>
        <p:spPr>
          <a:xfrm>
            <a:off x="11110452" y="157543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34" name="TextBox 33"/>
          <p:cNvSpPr txBox="1"/>
          <p:nvPr/>
        </p:nvSpPr>
        <p:spPr>
          <a:xfrm>
            <a:off x="7829550" y="1750695"/>
            <a:ext cx="1017252" cy="194310"/>
          </a:xfrm>
          <a:prstGeom prst="rect">
            <a:avLst/>
          </a:prstGeom>
          <a:noFill/>
        </p:spPr>
        <p:txBody>
          <a:bodyPr wrap="none" lIns="0" tIns="0" rIns="0" bIns="0">
            <a:spAutoFit/>
          </a:bodyPr>
          <a:lstStyle/>
          <a:p>
            <a:r>
              <a:rPr sz="1150" b="0">
                <a:solidFill>
                  <a:srgbClr val="2E2E2E"/>
                </a:solidFill>
                <a:latin typeface="Calibri"/>
              </a:rPr>
              <a:t>forecast period.</a:t>
            </a:r>
          </a:p>
        </p:txBody>
      </p:sp>
      <p:sp>
        <p:nvSpPr>
          <p:cNvPr id="35" name="TextBox 34"/>
          <p:cNvSpPr txBox="1"/>
          <p:nvPr/>
        </p:nvSpPr>
        <p:spPr>
          <a:xfrm>
            <a:off x="7829550" y="1978533"/>
            <a:ext cx="3940819" cy="194310"/>
          </a:xfrm>
          <a:prstGeom prst="rect">
            <a:avLst/>
          </a:prstGeom>
          <a:noFill/>
        </p:spPr>
        <p:txBody>
          <a:bodyPr wrap="none" lIns="0" tIns="0" rIns="0" bIns="0">
            <a:spAutoFit/>
          </a:bodyPr>
          <a:lstStyle/>
          <a:p>
            <a:r>
              <a:rPr sz="1150" b="0">
                <a:solidFill>
                  <a:srgbClr val="2E2E2E"/>
                </a:solidFill>
                <a:latin typeface="Calibri"/>
              </a:rPr>
              <a:t>In terms of value share by customization, the custom-engineered</a:t>
            </a:r>
          </a:p>
        </p:txBody>
      </p:sp>
      <p:sp>
        <p:nvSpPr>
          <p:cNvPr id="36" name="TextBox 35"/>
          <p:cNvSpPr txBox="1"/>
          <p:nvPr/>
        </p:nvSpPr>
        <p:spPr>
          <a:xfrm>
            <a:off x="7829550" y="2153793"/>
            <a:ext cx="3164644" cy="194310"/>
          </a:xfrm>
          <a:prstGeom prst="rect">
            <a:avLst/>
          </a:prstGeom>
          <a:noFill/>
        </p:spPr>
        <p:txBody>
          <a:bodyPr wrap="none" lIns="0" tIns="0" rIns="0" bIns="0">
            <a:spAutoFit/>
          </a:bodyPr>
          <a:lstStyle/>
          <a:p>
            <a:r>
              <a:rPr sz="1150" b="0">
                <a:solidFill>
                  <a:srgbClr val="2E2E2E"/>
                </a:solidFill>
                <a:latin typeface="Calibri"/>
              </a:rPr>
              <a:t>segment is expected to dominate the market, losing</a:t>
            </a:r>
          </a:p>
        </p:txBody>
      </p:sp>
      <p:pic>
        <p:nvPicPr>
          <p:cNvPr id="37" name="Picture 36" descr="lock.png"/>
          <p:cNvPicPr>
            <a:picLocks noChangeAspect="1"/>
          </p:cNvPicPr>
          <p:nvPr/>
        </p:nvPicPr>
        <p:blipFill>
          <a:blip r:embed="rId5"/>
          <a:stretch>
            <a:fillRect/>
          </a:stretch>
        </p:blipFill>
        <p:spPr>
          <a:xfrm>
            <a:off x="10943347" y="2143569"/>
            <a:ext cx="134549" cy="195707"/>
          </a:xfrm>
          <a:prstGeom prst="rect">
            <a:avLst/>
          </a:prstGeom>
        </p:spPr>
      </p:pic>
      <p:sp>
        <p:nvSpPr>
          <p:cNvPr id="38" name="TextBox 37"/>
          <p:cNvSpPr txBox="1"/>
          <p:nvPr/>
        </p:nvSpPr>
        <p:spPr>
          <a:xfrm>
            <a:off x="11118457" y="2153793"/>
            <a:ext cx="554856" cy="194310"/>
          </a:xfrm>
          <a:prstGeom prst="rect">
            <a:avLst/>
          </a:prstGeom>
          <a:noFill/>
        </p:spPr>
        <p:txBody>
          <a:bodyPr wrap="none" lIns="0" tIns="0" rIns="0" bIns="0">
            <a:spAutoFit/>
          </a:bodyPr>
          <a:lstStyle/>
          <a:p>
            <a:r>
              <a:rPr sz="1150" b="0">
                <a:solidFill>
                  <a:srgbClr val="2E2E2E"/>
                </a:solidFill>
                <a:latin typeface="Calibri"/>
              </a:rPr>
              <a:t>BPS and</a:t>
            </a:r>
          </a:p>
        </p:txBody>
      </p:sp>
      <p:sp>
        <p:nvSpPr>
          <p:cNvPr id="39" name="TextBox 38"/>
          <p:cNvSpPr txBox="1"/>
          <p:nvPr/>
        </p:nvSpPr>
        <p:spPr>
          <a:xfrm>
            <a:off x="7829550" y="2329053"/>
            <a:ext cx="934243" cy="194310"/>
          </a:xfrm>
          <a:prstGeom prst="rect">
            <a:avLst/>
          </a:prstGeom>
          <a:noFill/>
        </p:spPr>
        <p:txBody>
          <a:bodyPr wrap="none" lIns="0" tIns="0" rIns="0" bIns="0">
            <a:spAutoFit/>
          </a:bodyPr>
          <a:lstStyle/>
          <a:p>
            <a:r>
              <a:rPr sz="1150" b="0">
                <a:solidFill>
                  <a:srgbClr val="2E2E2E"/>
                </a:solidFill>
                <a:latin typeface="Calibri"/>
              </a:rPr>
              <a:t>accounting for</a:t>
            </a:r>
          </a:p>
        </p:txBody>
      </p:sp>
      <p:pic>
        <p:nvPicPr>
          <p:cNvPr id="40" name="Picture 39" descr="lock.png"/>
          <p:cNvPicPr>
            <a:picLocks noChangeAspect="1"/>
          </p:cNvPicPr>
          <p:nvPr/>
        </p:nvPicPr>
        <p:blipFill>
          <a:blip r:embed="rId5"/>
          <a:stretch>
            <a:fillRect/>
          </a:stretch>
        </p:blipFill>
        <p:spPr>
          <a:xfrm>
            <a:off x="8712947" y="2318829"/>
            <a:ext cx="134549" cy="195707"/>
          </a:xfrm>
          <a:prstGeom prst="rect">
            <a:avLst/>
          </a:prstGeom>
        </p:spPr>
      </p:pic>
      <p:sp>
        <p:nvSpPr>
          <p:cNvPr id="41" name="TextBox 40"/>
          <p:cNvSpPr txBox="1"/>
          <p:nvPr/>
        </p:nvSpPr>
        <p:spPr>
          <a:xfrm>
            <a:off x="8888056" y="232905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Volume, By Customization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Customization,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Growth,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extLst>
                    <a:ext uri="{9D8B030D-6E8A-4147-A177-3AD203B41FA5}">
                      <a16:colId xmlns:a16="http://schemas.microsoft.com/office/drawing/2014/main" val="20000"/>
                    </a:ext>
                  </a:extLst>
                </a:gridCol>
                <a:gridCol w="678329">
                  <a:extLst>
                    <a:ext uri="{9D8B030D-6E8A-4147-A177-3AD203B41FA5}">
                      <a16:colId xmlns:a16="http://schemas.microsoft.com/office/drawing/2014/main" val="20001"/>
                    </a:ext>
                  </a:extLst>
                </a:gridCol>
                <a:gridCol w="678329">
                  <a:extLst>
                    <a:ext uri="{9D8B030D-6E8A-4147-A177-3AD203B41FA5}">
                      <a16:colId xmlns:a16="http://schemas.microsoft.com/office/drawing/2014/main" val="20002"/>
                    </a:ext>
                  </a:extLst>
                </a:gridCol>
                <a:gridCol w="678329">
                  <a:extLst>
                    <a:ext uri="{9D8B030D-6E8A-4147-A177-3AD203B41FA5}">
                      <a16:colId xmlns:a16="http://schemas.microsoft.com/office/drawing/2014/main" val="20003"/>
                    </a:ext>
                  </a:extLst>
                </a:gridCol>
                <a:gridCol w="678329">
                  <a:extLst>
                    <a:ext uri="{9D8B030D-6E8A-4147-A177-3AD203B41FA5}">
                      <a16:colId xmlns:a16="http://schemas.microsoft.com/office/drawing/2014/main" val="20004"/>
                    </a:ext>
                  </a:extLst>
                </a:gridCol>
                <a:gridCol w="678329">
                  <a:extLst>
                    <a:ext uri="{9D8B030D-6E8A-4147-A177-3AD203B41FA5}">
                      <a16:colId xmlns:a16="http://schemas.microsoft.com/office/drawing/2014/main" val="20005"/>
                    </a:ext>
                  </a:extLst>
                </a:gridCol>
                <a:gridCol w="678329">
                  <a:extLst>
                    <a:ext uri="{9D8B030D-6E8A-4147-A177-3AD203B41FA5}">
                      <a16:colId xmlns:a16="http://schemas.microsoft.com/office/drawing/2014/main" val="20006"/>
                    </a:ext>
                  </a:extLst>
                </a:gridCol>
                <a:gridCol w="678329">
                  <a:extLst>
                    <a:ext uri="{9D8B030D-6E8A-4147-A177-3AD203B41FA5}">
                      <a16:colId xmlns:a16="http://schemas.microsoft.com/office/drawing/2014/main" val="20007"/>
                    </a:ext>
                  </a:extLst>
                </a:gridCol>
                <a:gridCol w="678329">
                  <a:extLst>
                    <a:ext uri="{9D8B030D-6E8A-4147-A177-3AD203B41FA5}">
                      <a16:colId xmlns:a16="http://schemas.microsoft.com/office/drawing/2014/main" val="20008"/>
                    </a:ext>
                  </a:extLst>
                </a:gridCol>
                <a:gridCol w="678329">
                  <a:extLst>
                    <a:ext uri="{9D8B030D-6E8A-4147-A177-3AD203B41FA5}">
                      <a16:colId xmlns:a16="http://schemas.microsoft.com/office/drawing/2014/main" val="20009"/>
                    </a:ext>
                  </a:extLst>
                </a:gridCol>
                <a:gridCol w="678329">
                  <a:extLst>
                    <a:ext uri="{9D8B030D-6E8A-4147-A177-3AD203B41FA5}">
                      <a16:colId xmlns:a16="http://schemas.microsoft.com/office/drawing/2014/main" val="20010"/>
                    </a:ext>
                  </a:extLst>
                </a:gridCol>
                <a:gridCol w="678329">
                  <a:extLst>
                    <a:ext uri="{9D8B030D-6E8A-4147-A177-3AD203B41FA5}">
                      <a16:colId xmlns:a16="http://schemas.microsoft.com/office/drawing/2014/main" val="20011"/>
                    </a:ext>
                  </a:extLst>
                </a:gridCol>
                <a:gridCol w="678329">
                  <a:extLst>
                    <a:ext uri="{9D8B030D-6E8A-4147-A177-3AD203B41FA5}">
                      <a16:colId xmlns:a16="http://schemas.microsoft.com/office/drawing/2014/main" val="20012"/>
                    </a:ext>
                  </a:extLst>
                </a:gridCol>
                <a:gridCol w="678329">
                  <a:extLst>
                    <a:ext uri="{9D8B030D-6E8A-4147-A177-3AD203B41FA5}">
                      <a16:colId xmlns:a16="http://schemas.microsoft.com/office/drawing/2014/main" val="20013"/>
                    </a:ext>
                  </a:extLst>
                </a:gridCol>
                <a:gridCol w="678329">
                  <a:extLst>
                    <a:ext uri="{9D8B030D-6E8A-4147-A177-3AD203B41FA5}">
                      <a16:colId xmlns:a16="http://schemas.microsoft.com/office/drawing/2014/main" val="20014"/>
                    </a:ext>
                  </a:extLst>
                </a:gridCol>
                <a:gridCol w="67832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Heatmap, By Customization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Standard / Stock Sizes</a:t>
            </a:r>
          </a:p>
        </p:txBody>
      </p:sp>
      <p:sp>
        <p:nvSpPr>
          <p:cNvPr id="33" name="Rectangle 32"/>
          <p:cNvSpPr/>
          <p:nvPr/>
        </p:nvSpPr>
        <p:spPr>
          <a:xfrm>
            <a:off x="1857375" y="2752725"/>
            <a:ext cx="643890" cy="190976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Custom-Engineered</a:t>
            </a:r>
          </a:p>
        </p:txBody>
      </p:sp>
      <p:sp>
        <p:nvSpPr>
          <p:cNvPr id="49" name="Rectangle 48"/>
          <p:cNvSpPr/>
          <p:nvPr/>
        </p:nvSpPr>
        <p:spPr>
          <a:xfrm>
            <a:off x="185737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784118" y="1482090"/>
            <a:ext cx="330041" cy="480060"/>
          </a:xfrm>
          <a:prstGeom prst="rect">
            <a:avLst/>
          </a:prstGeom>
        </p:spPr>
      </p:pic>
      <p:pic>
        <p:nvPicPr>
          <p:cNvPr id="110" name="Picture 109" descr="lock.png"/>
          <p:cNvPicPr>
            <a:picLocks noChangeAspect="1"/>
          </p:cNvPicPr>
          <p:nvPr/>
        </p:nvPicPr>
        <p:blipFill>
          <a:blip r:embed="rId4"/>
          <a:stretch>
            <a:fillRect/>
          </a:stretch>
        </p:blipFill>
        <p:spPr>
          <a:xfrm>
            <a:off x="11760938" y="2697226"/>
            <a:ext cx="128699" cy="187198"/>
          </a:xfrm>
          <a:prstGeom prst="rect">
            <a:avLst/>
          </a:prstGeom>
        </p:spPr>
      </p:pic>
      <p:pic>
        <p:nvPicPr>
          <p:cNvPr id="111" name="Picture 110" descr="lock.png"/>
          <p:cNvPicPr>
            <a:picLocks noChangeAspect="1"/>
          </p:cNvPicPr>
          <p:nvPr/>
        </p:nvPicPr>
        <p:blipFill>
          <a:blip r:embed="rId4"/>
          <a:stretch>
            <a:fillRect/>
          </a:stretch>
        </p:blipFill>
        <p:spPr>
          <a:xfrm>
            <a:off x="11760938" y="4568888"/>
            <a:ext cx="128699" cy="187198"/>
          </a:xfrm>
          <a:prstGeom prst="rect">
            <a:avLst/>
          </a:prstGeom>
        </p:spPr>
      </p:pic>
      <p:pic>
        <p:nvPicPr>
          <p:cNvPr id="112" name="Picture 11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Value, By Customization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Customization,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Growth,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extLst>
                    <a:ext uri="{9D8B030D-6E8A-4147-A177-3AD203B41FA5}">
                      <a16:colId xmlns:a16="http://schemas.microsoft.com/office/drawing/2014/main" val="20000"/>
                    </a:ext>
                  </a:extLst>
                </a:gridCol>
                <a:gridCol w="678329">
                  <a:extLst>
                    <a:ext uri="{9D8B030D-6E8A-4147-A177-3AD203B41FA5}">
                      <a16:colId xmlns:a16="http://schemas.microsoft.com/office/drawing/2014/main" val="20001"/>
                    </a:ext>
                  </a:extLst>
                </a:gridCol>
                <a:gridCol w="678329">
                  <a:extLst>
                    <a:ext uri="{9D8B030D-6E8A-4147-A177-3AD203B41FA5}">
                      <a16:colId xmlns:a16="http://schemas.microsoft.com/office/drawing/2014/main" val="20002"/>
                    </a:ext>
                  </a:extLst>
                </a:gridCol>
                <a:gridCol w="678329">
                  <a:extLst>
                    <a:ext uri="{9D8B030D-6E8A-4147-A177-3AD203B41FA5}">
                      <a16:colId xmlns:a16="http://schemas.microsoft.com/office/drawing/2014/main" val="20003"/>
                    </a:ext>
                  </a:extLst>
                </a:gridCol>
                <a:gridCol w="678329">
                  <a:extLst>
                    <a:ext uri="{9D8B030D-6E8A-4147-A177-3AD203B41FA5}">
                      <a16:colId xmlns:a16="http://schemas.microsoft.com/office/drawing/2014/main" val="20004"/>
                    </a:ext>
                  </a:extLst>
                </a:gridCol>
                <a:gridCol w="678329">
                  <a:extLst>
                    <a:ext uri="{9D8B030D-6E8A-4147-A177-3AD203B41FA5}">
                      <a16:colId xmlns:a16="http://schemas.microsoft.com/office/drawing/2014/main" val="20005"/>
                    </a:ext>
                  </a:extLst>
                </a:gridCol>
                <a:gridCol w="678329">
                  <a:extLst>
                    <a:ext uri="{9D8B030D-6E8A-4147-A177-3AD203B41FA5}">
                      <a16:colId xmlns:a16="http://schemas.microsoft.com/office/drawing/2014/main" val="20006"/>
                    </a:ext>
                  </a:extLst>
                </a:gridCol>
                <a:gridCol w="678329">
                  <a:extLst>
                    <a:ext uri="{9D8B030D-6E8A-4147-A177-3AD203B41FA5}">
                      <a16:colId xmlns:a16="http://schemas.microsoft.com/office/drawing/2014/main" val="20007"/>
                    </a:ext>
                  </a:extLst>
                </a:gridCol>
                <a:gridCol w="678329">
                  <a:extLst>
                    <a:ext uri="{9D8B030D-6E8A-4147-A177-3AD203B41FA5}">
                      <a16:colId xmlns:a16="http://schemas.microsoft.com/office/drawing/2014/main" val="20008"/>
                    </a:ext>
                  </a:extLst>
                </a:gridCol>
                <a:gridCol w="678329">
                  <a:extLst>
                    <a:ext uri="{9D8B030D-6E8A-4147-A177-3AD203B41FA5}">
                      <a16:colId xmlns:a16="http://schemas.microsoft.com/office/drawing/2014/main" val="20009"/>
                    </a:ext>
                  </a:extLst>
                </a:gridCol>
                <a:gridCol w="678329">
                  <a:extLst>
                    <a:ext uri="{9D8B030D-6E8A-4147-A177-3AD203B41FA5}">
                      <a16:colId xmlns:a16="http://schemas.microsoft.com/office/drawing/2014/main" val="20010"/>
                    </a:ext>
                  </a:extLst>
                </a:gridCol>
                <a:gridCol w="678329">
                  <a:extLst>
                    <a:ext uri="{9D8B030D-6E8A-4147-A177-3AD203B41FA5}">
                      <a16:colId xmlns:a16="http://schemas.microsoft.com/office/drawing/2014/main" val="20011"/>
                    </a:ext>
                  </a:extLst>
                </a:gridCol>
                <a:gridCol w="678329">
                  <a:extLst>
                    <a:ext uri="{9D8B030D-6E8A-4147-A177-3AD203B41FA5}">
                      <a16:colId xmlns:a16="http://schemas.microsoft.com/office/drawing/2014/main" val="20012"/>
                    </a:ext>
                  </a:extLst>
                </a:gridCol>
                <a:gridCol w="678329">
                  <a:extLst>
                    <a:ext uri="{9D8B030D-6E8A-4147-A177-3AD203B41FA5}">
                      <a16:colId xmlns:a16="http://schemas.microsoft.com/office/drawing/2014/main" val="20013"/>
                    </a:ext>
                  </a:extLst>
                </a:gridCol>
                <a:gridCol w="678329">
                  <a:extLst>
                    <a:ext uri="{9D8B030D-6E8A-4147-A177-3AD203B41FA5}">
                      <a16:colId xmlns:a16="http://schemas.microsoft.com/office/drawing/2014/main" val="20014"/>
                    </a:ext>
                  </a:extLst>
                </a:gridCol>
                <a:gridCol w="67832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Heatmap, By Customization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Standard / Stock Sizes</a:t>
            </a:r>
          </a:p>
        </p:txBody>
      </p:sp>
      <p:sp>
        <p:nvSpPr>
          <p:cNvPr id="33" name="Rectangle 32"/>
          <p:cNvSpPr/>
          <p:nvPr/>
        </p:nvSpPr>
        <p:spPr>
          <a:xfrm>
            <a:off x="1857375" y="2752725"/>
            <a:ext cx="643890" cy="190976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Custom-Engineered</a:t>
            </a:r>
          </a:p>
        </p:txBody>
      </p:sp>
      <p:sp>
        <p:nvSpPr>
          <p:cNvPr id="49" name="Rectangle 48"/>
          <p:cNvSpPr/>
          <p:nvPr/>
        </p:nvSpPr>
        <p:spPr>
          <a:xfrm>
            <a:off x="185737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6%</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784118" y="1482090"/>
            <a:ext cx="330041" cy="480060"/>
          </a:xfrm>
          <a:prstGeom prst="rect">
            <a:avLst/>
          </a:prstGeom>
        </p:spPr>
      </p:pic>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End Use</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End Use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End Use Segment Outlook (1/2)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7 sub-segments of End Use,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End Use segment categorizes the market by end use.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Glassware, Ceramics &amp; Home Goods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4433888"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Others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6962775"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Automotive &amp; Industrial Components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9491662" y="1773916"/>
            <a:ext cx="2338388" cy="438089"/>
          </a:xfrm>
          <a:prstGeom prst="rect">
            <a:avLst/>
          </a:prstGeom>
          <a:noFill/>
        </p:spPr>
        <p:txBody>
          <a:bodyPr wrap="square" lIns="28575" tIns="9525" rIns="28575" bIns="9525" anchor="ctr">
            <a:spAutoFit/>
          </a:bodyPr>
          <a:lstStyle/>
          <a:p>
            <a:pPr algn="ctr"/>
            <a:r>
              <a:rPr sz="1100" b="1">
                <a:solidFill>
                  <a:srgbClr val="FFFFFF"/>
                </a:solidFill>
                <a:latin typeface="Calibri"/>
              </a:rPr>
              <a:t>Food &amp; Beverage</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TextBox 48"/>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457200" y="4219912"/>
            <a:ext cx="29718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 split shows how demand is distributed across end use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64" name="Picture 63" descr="233_7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341_8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9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01_3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249_1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71_1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30_6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3_0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60_4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86_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0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40595" cy="186689"/>
          </a:xfrm>
          <a:prstGeom prst="rect">
            <a:avLst/>
          </a:prstGeom>
          <a:noFill/>
        </p:spPr>
        <p:txBody>
          <a:bodyPr wrap="none" lIns="0" tIns="0" rIns="0" bIns="0">
            <a:spAutoFit/>
          </a:bodyPr>
          <a:lstStyle/>
          <a:p>
            <a:r>
              <a:rPr sz="1100" b="0">
                <a:solidFill>
                  <a:srgbClr val="2E2E2E"/>
                </a:solidFill>
                <a:latin typeface="Calibri"/>
              </a:rPr>
              <a:t>▪ ¶ Among corrugated partition by end use,</a:t>
            </a:r>
          </a:p>
        </p:txBody>
      </p:sp>
      <p:sp>
        <p:nvSpPr>
          <p:cNvPr id="81" name="TextBox 80"/>
          <p:cNvSpPr txBox="1"/>
          <p:nvPr/>
        </p:nvSpPr>
        <p:spPr>
          <a:xfrm>
            <a:off x="485775" y="4397077"/>
            <a:ext cx="2718494" cy="186689"/>
          </a:xfrm>
          <a:prstGeom prst="rect">
            <a:avLst/>
          </a:prstGeom>
          <a:noFill/>
        </p:spPr>
        <p:txBody>
          <a:bodyPr wrap="none" lIns="0" tIns="0" rIns="0" bIns="0">
            <a:spAutoFit/>
          </a:bodyPr>
          <a:lstStyle/>
          <a:p>
            <a:r>
              <a:rPr sz="1100" b="0">
                <a:solidFill>
                  <a:srgbClr val="2E2E2E"/>
                </a:solidFill>
                <a:latin typeface="Calibri"/>
              </a:rPr>
              <a:t>electronics &amp; electrical segment is expected to</a:t>
            </a:r>
          </a:p>
        </p:txBody>
      </p:sp>
      <p:sp>
        <p:nvSpPr>
          <p:cNvPr id="82" name="TextBox 81"/>
          <p:cNvSpPr txBox="1"/>
          <p:nvPr/>
        </p:nvSpPr>
        <p:spPr>
          <a:xfrm>
            <a:off x="485775" y="4564717"/>
            <a:ext cx="1675093" cy="186689"/>
          </a:xfrm>
          <a:prstGeom prst="rect">
            <a:avLst/>
          </a:prstGeom>
          <a:noFill/>
        </p:spPr>
        <p:txBody>
          <a:bodyPr wrap="none" lIns="0" tIns="0" rIns="0" bIns="0">
            <a:spAutoFit/>
          </a:bodyPr>
          <a:lstStyle/>
          <a:p>
            <a:r>
              <a:rPr sz="1100" b="0">
                <a:solidFill>
                  <a:srgbClr val="2E2E2E"/>
                </a:solidFill>
                <a:latin typeface="Calibri"/>
              </a:rPr>
              <a:t>witness the highest CAGR of</a:t>
            </a:r>
          </a:p>
        </p:txBody>
      </p:sp>
      <p:pic>
        <p:nvPicPr>
          <p:cNvPr id="83" name="Picture 82" descr="lock.png"/>
          <p:cNvPicPr>
            <a:picLocks noChangeAspect="1"/>
          </p:cNvPicPr>
          <p:nvPr/>
        </p:nvPicPr>
        <p:blipFill>
          <a:blip r:embed="rId16"/>
          <a:stretch>
            <a:fillRect/>
          </a:stretch>
        </p:blipFill>
        <p:spPr>
          <a:xfrm>
            <a:off x="2108919" y="4554938"/>
            <a:ext cx="128699" cy="187198"/>
          </a:xfrm>
          <a:prstGeom prst="rect">
            <a:avLst/>
          </a:prstGeom>
        </p:spPr>
      </p:pic>
      <p:sp>
        <p:nvSpPr>
          <p:cNvPr id="84" name="TextBox 83"/>
          <p:cNvSpPr txBox="1"/>
          <p:nvPr/>
        </p:nvSpPr>
        <p:spPr>
          <a:xfrm>
            <a:off x="2276415" y="4564717"/>
            <a:ext cx="1046733" cy="186689"/>
          </a:xfrm>
          <a:prstGeom prst="rect">
            <a:avLst/>
          </a:prstGeom>
          <a:noFill/>
        </p:spPr>
        <p:txBody>
          <a:bodyPr wrap="none" lIns="0" tIns="0" rIns="0" bIns="0">
            <a:spAutoFit/>
          </a:bodyPr>
          <a:lstStyle/>
          <a:p>
            <a:r>
              <a:rPr sz="1100" b="0">
                <a:solidFill>
                  <a:srgbClr val="2E2E2E"/>
                </a:solidFill>
                <a:latin typeface="Calibri"/>
              </a:rPr>
              <a:t>over the forecast</a:t>
            </a:r>
          </a:p>
        </p:txBody>
      </p:sp>
      <p:sp>
        <p:nvSpPr>
          <p:cNvPr id="85" name="TextBox 84"/>
          <p:cNvSpPr txBox="1"/>
          <p:nvPr/>
        </p:nvSpPr>
        <p:spPr>
          <a:xfrm>
            <a:off x="485775" y="4732357"/>
            <a:ext cx="2717403" cy="186689"/>
          </a:xfrm>
          <a:prstGeom prst="rect">
            <a:avLst/>
          </a:prstGeom>
          <a:noFill/>
        </p:spPr>
        <p:txBody>
          <a:bodyPr wrap="none" lIns="0" tIns="0" rIns="0" bIns="0">
            <a:spAutoFit/>
          </a:bodyPr>
          <a:lstStyle/>
          <a:p>
            <a:r>
              <a:rPr sz="1100" b="0">
                <a:solidFill>
                  <a:srgbClr val="2E2E2E"/>
                </a:solidFill>
                <a:latin typeface="Calibri"/>
              </a:rPr>
              <a:t>period. In terms of value share by end use, the</a:t>
            </a:r>
          </a:p>
        </p:txBody>
      </p:sp>
      <p:sp>
        <p:nvSpPr>
          <p:cNvPr id="86" name="TextBox 85"/>
          <p:cNvSpPr txBox="1"/>
          <p:nvPr/>
        </p:nvSpPr>
        <p:spPr>
          <a:xfrm>
            <a:off x="485775" y="4899997"/>
            <a:ext cx="2704851" cy="186689"/>
          </a:xfrm>
          <a:prstGeom prst="rect">
            <a:avLst/>
          </a:prstGeom>
          <a:noFill/>
        </p:spPr>
        <p:txBody>
          <a:bodyPr wrap="none" lIns="0" tIns="0" rIns="0" bIns="0">
            <a:spAutoFit/>
          </a:bodyPr>
          <a:lstStyle/>
          <a:p>
            <a:r>
              <a:rPr sz="1100" b="0">
                <a:solidFill>
                  <a:srgbClr val="2E2E2E"/>
                </a:solidFill>
                <a:latin typeface="Calibri"/>
              </a:rPr>
              <a:t>glassware, ceramics &amp; home goods segment is</a:t>
            </a:r>
          </a:p>
        </p:txBody>
      </p:sp>
      <p:sp>
        <p:nvSpPr>
          <p:cNvPr id="87" name="TextBox 86"/>
          <p:cNvSpPr txBox="1"/>
          <p:nvPr/>
        </p:nvSpPr>
        <p:spPr>
          <a:xfrm>
            <a:off x="485775" y="5067637"/>
            <a:ext cx="2388889" cy="186689"/>
          </a:xfrm>
          <a:prstGeom prst="rect">
            <a:avLst/>
          </a:prstGeom>
          <a:noFill/>
        </p:spPr>
        <p:txBody>
          <a:bodyPr wrap="none" lIns="0" tIns="0" rIns="0" bIns="0">
            <a:spAutoFit/>
          </a:bodyPr>
          <a:lstStyle/>
          <a:p>
            <a:r>
              <a:rPr sz="1100" b="0">
                <a:solidFill>
                  <a:srgbClr val="2E2E2E"/>
                </a:solidFill>
                <a:latin typeface="Calibri"/>
              </a:rPr>
              <a:t>expected to dominate the market, losing</a:t>
            </a:r>
          </a:p>
        </p:txBody>
      </p:sp>
      <p:pic>
        <p:nvPicPr>
          <p:cNvPr id="88" name="Picture 87" descr="lock.png"/>
          <p:cNvPicPr>
            <a:picLocks noChangeAspect="1"/>
          </p:cNvPicPr>
          <p:nvPr/>
        </p:nvPicPr>
        <p:blipFill>
          <a:blip r:embed="rId16"/>
          <a:stretch>
            <a:fillRect/>
          </a:stretch>
        </p:blipFill>
        <p:spPr>
          <a:xfrm>
            <a:off x="2822716" y="5057858"/>
            <a:ext cx="128699" cy="187198"/>
          </a:xfrm>
          <a:prstGeom prst="rect">
            <a:avLst/>
          </a:prstGeom>
        </p:spPr>
      </p:pic>
      <p:sp>
        <p:nvSpPr>
          <p:cNvPr id="89" name="TextBox 88"/>
          <p:cNvSpPr txBox="1"/>
          <p:nvPr/>
        </p:nvSpPr>
        <p:spPr>
          <a:xfrm>
            <a:off x="2990212" y="5067637"/>
            <a:ext cx="288751" cy="186689"/>
          </a:xfrm>
          <a:prstGeom prst="rect">
            <a:avLst/>
          </a:prstGeom>
          <a:noFill/>
        </p:spPr>
        <p:txBody>
          <a:bodyPr wrap="none" lIns="0" tIns="0" r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tIns="0" r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
        <p:nvSpPr>
          <p:cNvPr id="93" name="TextBox 92"/>
          <p:cNvSpPr txBox="1"/>
          <p:nvPr/>
        </p:nvSpPr>
        <p:spPr>
          <a:xfrm>
            <a:off x="485775" y="5453209"/>
            <a:ext cx="2914650" cy="186689"/>
          </a:xfrm>
          <a:prstGeom prst="rect">
            <a:avLst/>
          </a:prstGeom>
          <a:noFill/>
        </p:spPr>
        <p:txBody>
          <a:bodyPr wrap="none" lIns="0" tIns="0" rIns="0" bIns="0">
            <a:spAutoFit/>
          </a:bodyPr>
          <a:lstStyle/>
          <a:p>
            <a:r>
              <a:rPr sz="1100" b="0">
                <a:solidFill>
                  <a:srgbClr val="2E2E2E"/>
                </a:solidFill>
                <a:latin typeface="Calibri"/>
              </a:rPr>
              <a:t>▪ ¶ Glassware, ceramics &amp; home goods segment is</a:t>
            </a:r>
          </a:p>
        </p:txBody>
      </p:sp>
      <p:sp>
        <p:nvSpPr>
          <p:cNvPr id="94" name="TextBox 93"/>
          <p:cNvSpPr txBox="1"/>
          <p:nvPr/>
        </p:nvSpPr>
        <p:spPr>
          <a:xfrm>
            <a:off x="485775" y="5620849"/>
            <a:ext cx="1244550" cy="186689"/>
          </a:xfrm>
          <a:prstGeom prst="rect">
            <a:avLst/>
          </a:prstGeom>
          <a:noFill/>
        </p:spPr>
        <p:txBody>
          <a:bodyPr wrap="none" lIns="0" tIns="0" rIns="0" bIns="0">
            <a:spAutoFit/>
          </a:bodyPr>
          <a:lstStyle/>
          <a:p>
            <a:r>
              <a:rPr sz="1100" b="0">
                <a:solidFill>
                  <a:srgbClr val="2E2E2E"/>
                </a:solidFill>
                <a:latin typeface="Calibri"/>
              </a:rPr>
              <a:t>projected to register</a:t>
            </a:r>
          </a:p>
        </p:txBody>
      </p:sp>
      <p:pic>
        <p:nvPicPr>
          <p:cNvPr id="95" name="Picture 94" descr="lock.png"/>
          <p:cNvPicPr>
            <a:picLocks noChangeAspect="1"/>
          </p:cNvPicPr>
          <p:nvPr/>
        </p:nvPicPr>
        <p:blipFill>
          <a:blip r:embed="rId16"/>
          <a:stretch>
            <a:fillRect/>
          </a:stretch>
        </p:blipFill>
        <p:spPr>
          <a:xfrm>
            <a:off x="1678376" y="5611070"/>
            <a:ext cx="128699" cy="187198"/>
          </a:xfrm>
          <a:prstGeom prst="rect">
            <a:avLst/>
          </a:prstGeom>
        </p:spPr>
      </p:pic>
      <p:sp>
        <p:nvSpPr>
          <p:cNvPr id="96" name="TextBox 95"/>
          <p:cNvSpPr txBox="1"/>
          <p:nvPr/>
        </p:nvSpPr>
        <p:spPr>
          <a:xfrm>
            <a:off x="1845872" y="5620849"/>
            <a:ext cx="1467470" cy="186689"/>
          </a:xfrm>
          <a:prstGeom prst="rect">
            <a:avLst/>
          </a:prstGeom>
          <a:noFill/>
        </p:spPr>
        <p:txBody>
          <a:bodyPr wrap="none" lIns="0" tIns="0" rIns="0" bIns="0">
            <a:spAutoFit/>
          </a:bodyPr>
          <a:lstStyle/>
          <a:p>
            <a:r>
              <a:rPr sz="1100" b="0">
                <a:solidFill>
                  <a:srgbClr val="2E2E2E"/>
                </a:solidFill>
                <a:latin typeface="Calibri"/>
              </a:rPr>
              <a:t>X higher value than food</a:t>
            </a:r>
          </a:p>
        </p:txBody>
      </p:sp>
      <p:sp>
        <p:nvSpPr>
          <p:cNvPr id="97" name="TextBox 96"/>
          <p:cNvSpPr txBox="1"/>
          <p:nvPr/>
        </p:nvSpPr>
        <p:spPr>
          <a:xfrm>
            <a:off x="485775" y="5788489"/>
            <a:ext cx="1740594" cy="186689"/>
          </a:xfrm>
          <a:prstGeom prst="rect">
            <a:avLst/>
          </a:prstGeom>
          <a:noFill/>
        </p:spPr>
        <p:txBody>
          <a:bodyPr wrap="none" lIns="0" tIns="0" rIns="0" bIns="0">
            <a:spAutoFit/>
          </a:bodyPr>
          <a:lstStyle/>
          <a:p>
            <a:r>
              <a:rPr sz="1100" b="0">
                <a:solidFill>
                  <a:srgbClr val="2E2E2E"/>
                </a:solidFill>
                <a:latin typeface="Calibri"/>
              </a:rPr>
              <a:t>&amp; beverage segment in 2036.</a:t>
            </a:r>
          </a:p>
        </p:txBody>
      </p:sp>
      <p:sp>
        <p:nvSpPr>
          <p:cNvPr id="98" name="TextBox 97"/>
          <p:cNvSpPr txBox="1"/>
          <p:nvPr/>
        </p:nvSpPr>
        <p:spPr>
          <a:xfrm>
            <a:off x="3838575" y="4229437"/>
            <a:ext cx="2290390" cy="186689"/>
          </a:xfrm>
          <a:prstGeom prst="rect">
            <a:avLst/>
          </a:prstGeom>
          <a:noFill/>
        </p:spPr>
        <p:txBody>
          <a:bodyPr wrap="none" lIns="0" tIns="0" rIns="0" bIns="0">
            <a:spAutoFit/>
          </a:bodyPr>
          <a:lstStyle/>
          <a:p>
            <a:r>
              <a:rPr sz="1100" b="0">
                <a:solidFill>
                  <a:srgbClr val="2E2E2E"/>
                </a:solidFill>
                <a:latin typeface="Calibri"/>
              </a:rPr>
              <a:t>● Glassware, Ceramics &amp; Home Goods:</a:t>
            </a:r>
          </a:p>
        </p:txBody>
      </p:sp>
      <p:pic>
        <p:nvPicPr>
          <p:cNvPr id="99" name="Picture 98" descr="lock.png"/>
          <p:cNvPicPr>
            <a:picLocks noChangeAspect="1"/>
          </p:cNvPicPr>
          <p:nvPr/>
        </p:nvPicPr>
        <p:blipFill>
          <a:blip r:embed="rId16"/>
          <a:stretch>
            <a:fillRect/>
          </a:stretch>
        </p:blipFill>
        <p:spPr>
          <a:xfrm>
            <a:off x="6077017" y="4219658"/>
            <a:ext cx="128699" cy="187198"/>
          </a:xfrm>
          <a:prstGeom prst="rect">
            <a:avLst/>
          </a:prstGeom>
        </p:spPr>
      </p:pic>
      <p:sp>
        <p:nvSpPr>
          <p:cNvPr id="100" name="TextBox 99"/>
          <p:cNvSpPr txBox="1"/>
          <p:nvPr/>
        </p:nvSpPr>
        <p:spPr>
          <a:xfrm>
            <a:off x="6244512"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7103963" y="4219658"/>
            <a:ext cx="128699" cy="187198"/>
          </a:xfrm>
          <a:prstGeom prst="rect">
            <a:avLst/>
          </a:prstGeom>
        </p:spPr>
      </p:pic>
      <p:sp>
        <p:nvSpPr>
          <p:cNvPr id="102" name="TextBox 101"/>
          <p:cNvSpPr txBox="1"/>
          <p:nvPr/>
        </p:nvSpPr>
        <p:spPr>
          <a:xfrm>
            <a:off x="7271458" y="4229437"/>
            <a:ext cx="395419" cy="186689"/>
          </a:xfrm>
          <a:prstGeom prst="rect">
            <a:avLst/>
          </a:prstGeom>
          <a:noFill/>
        </p:spPr>
        <p:txBody>
          <a:bodyPr wrap="none" lIns="0" tIns="0" rIns="0" bIns="0">
            <a:spAutoFit/>
          </a:bodyPr>
          <a:lstStyle/>
          <a:p>
            <a:r>
              <a:rPr sz="1100" b="0">
                <a:solidFill>
                  <a:srgbClr val="2E2E2E"/>
                </a:solidFill>
                <a:latin typeface="Calibri"/>
              </a:rPr>
              <a:t>CAGR</a:t>
            </a:r>
          </a:p>
        </p:txBody>
      </p:sp>
      <p:sp>
        <p:nvSpPr>
          <p:cNvPr id="103" name="TextBox 102"/>
          <p:cNvSpPr txBox="1"/>
          <p:nvPr/>
        </p:nvSpPr>
        <p:spPr>
          <a:xfrm>
            <a:off x="3838575" y="4397077"/>
            <a:ext cx="1152599" cy="186689"/>
          </a:xfrm>
          <a:prstGeom prst="rect">
            <a:avLst/>
          </a:prstGeom>
          <a:noFill/>
        </p:spPr>
        <p:txBody>
          <a:bodyPr wrap="none" lIns="0" tIns="0" rIns="0" bIns="0">
            <a:spAutoFit/>
          </a:bodyPr>
          <a:lstStyle/>
          <a:p>
            <a:r>
              <a:rPr sz="1100" b="0">
                <a:solidFill>
                  <a:srgbClr val="2E2E2E"/>
                </a:solidFill>
                <a:latin typeface="Calibri"/>
              </a:rPr>
              <a:t>leads the segment.</a:t>
            </a:r>
          </a:p>
        </p:txBody>
      </p:sp>
      <p:sp>
        <p:nvSpPr>
          <p:cNvPr id="104" name="TextBox 103"/>
          <p:cNvSpPr txBox="1"/>
          <p:nvPr/>
        </p:nvSpPr>
        <p:spPr>
          <a:xfrm>
            <a:off x="3838575" y="4615009"/>
            <a:ext cx="615354" cy="186689"/>
          </a:xfrm>
          <a:prstGeom prst="rect">
            <a:avLst/>
          </a:prstGeom>
          <a:noFill/>
        </p:spPr>
        <p:txBody>
          <a:bodyPr wrap="none" lIns="0" tIns="0" rIns="0" bIns="0">
            <a:spAutoFit/>
          </a:bodyPr>
          <a:lstStyle/>
          <a:p>
            <a:r>
              <a:rPr sz="1100" b="0">
                <a:solidFill>
                  <a:srgbClr val="2E2E2E"/>
                </a:solidFill>
                <a:latin typeface="Calibri"/>
              </a:rPr>
              <a:t>● Others:</a:t>
            </a:r>
          </a:p>
        </p:txBody>
      </p:sp>
      <p:pic>
        <p:nvPicPr>
          <p:cNvPr id="105" name="Picture 104" descr="lock.png"/>
          <p:cNvPicPr>
            <a:picLocks noChangeAspect="1"/>
          </p:cNvPicPr>
          <p:nvPr/>
        </p:nvPicPr>
        <p:blipFill>
          <a:blip r:embed="rId16"/>
          <a:stretch>
            <a:fillRect/>
          </a:stretch>
        </p:blipFill>
        <p:spPr>
          <a:xfrm>
            <a:off x="4401981" y="4605230"/>
            <a:ext cx="128699" cy="187198"/>
          </a:xfrm>
          <a:prstGeom prst="rect">
            <a:avLst/>
          </a:prstGeom>
        </p:spPr>
      </p:pic>
      <p:sp>
        <p:nvSpPr>
          <p:cNvPr id="106" name="TextBox 105"/>
          <p:cNvSpPr txBox="1"/>
          <p:nvPr/>
        </p:nvSpPr>
        <p:spPr>
          <a:xfrm>
            <a:off x="4569477" y="461500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07" name="Picture 106" descr="lock.png"/>
          <p:cNvPicPr>
            <a:picLocks noChangeAspect="1"/>
          </p:cNvPicPr>
          <p:nvPr/>
        </p:nvPicPr>
        <p:blipFill>
          <a:blip r:embed="rId16"/>
          <a:stretch>
            <a:fillRect/>
          </a:stretch>
        </p:blipFill>
        <p:spPr>
          <a:xfrm>
            <a:off x="5428927" y="4605230"/>
            <a:ext cx="128699" cy="187198"/>
          </a:xfrm>
          <a:prstGeom prst="rect">
            <a:avLst/>
          </a:prstGeom>
        </p:spPr>
      </p:pic>
      <p:sp>
        <p:nvSpPr>
          <p:cNvPr id="108" name="TextBox 107"/>
          <p:cNvSpPr txBox="1"/>
          <p:nvPr/>
        </p:nvSpPr>
        <p:spPr>
          <a:xfrm>
            <a:off x="5596423" y="4615009"/>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109" name="TextBox 108"/>
          <p:cNvSpPr txBox="1"/>
          <p:nvPr/>
        </p:nvSpPr>
        <p:spPr>
          <a:xfrm>
            <a:off x="3838575" y="4832941"/>
            <a:ext cx="2353146" cy="186689"/>
          </a:xfrm>
          <a:prstGeom prst="rect">
            <a:avLst/>
          </a:prstGeom>
          <a:noFill/>
        </p:spPr>
        <p:txBody>
          <a:bodyPr wrap="none" lIns="0" tIns="0" rIns="0" bIns="0">
            <a:spAutoFit/>
          </a:bodyPr>
          <a:lstStyle/>
          <a:p>
            <a:r>
              <a:rPr sz="1100" b="0">
                <a:solidFill>
                  <a:srgbClr val="2E2E2E"/>
                </a:solidFill>
                <a:latin typeface="Calibri"/>
              </a:rPr>
              <a:t>● Automotive &amp; Industrial Components:</a:t>
            </a:r>
          </a:p>
        </p:txBody>
      </p:sp>
      <p:pic>
        <p:nvPicPr>
          <p:cNvPr id="110" name="Picture 109" descr="lock.png"/>
          <p:cNvPicPr>
            <a:picLocks noChangeAspect="1"/>
          </p:cNvPicPr>
          <p:nvPr/>
        </p:nvPicPr>
        <p:blipFill>
          <a:blip r:embed="rId16"/>
          <a:stretch>
            <a:fillRect/>
          </a:stretch>
        </p:blipFill>
        <p:spPr>
          <a:xfrm>
            <a:off x="6139772" y="4823162"/>
            <a:ext cx="128699" cy="187198"/>
          </a:xfrm>
          <a:prstGeom prst="rect">
            <a:avLst/>
          </a:prstGeom>
        </p:spPr>
      </p:pic>
      <p:sp>
        <p:nvSpPr>
          <p:cNvPr id="111" name="TextBox 110"/>
          <p:cNvSpPr txBox="1"/>
          <p:nvPr/>
        </p:nvSpPr>
        <p:spPr>
          <a:xfrm>
            <a:off x="6307268" y="483294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7166718" y="4823162"/>
            <a:ext cx="128699" cy="187198"/>
          </a:xfrm>
          <a:prstGeom prst="rect">
            <a:avLst/>
          </a:prstGeom>
        </p:spPr>
      </p:pic>
      <p:sp>
        <p:nvSpPr>
          <p:cNvPr id="113" name="TextBox 112"/>
          <p:cNvSpPr txBox="1"/>
          <p:nvPr/>
        </p:nvSpPr>
        <p:spPr>
          <a:xfrm>
            <a:off x="7334214" y="4832941"/>
            <a:ext cx="395419" cy="186689"/>
          </a:xfrm>
          <a:prstGeom prst="rect">
            <a:avLst/>
          </a:prstGeom>
          <a:noFill/>
        </p:spPr>
        <p:txBody>
          <a:bodyPr wrap="none" lIns="0" tIns="0" rIns="0" bIns="0">
            <a:spAutoFit/>
          </a:bodyPr>
          <a:lstStyle/>
          <a:p>
            <a:r>
              <a:rPr sz="1100" b="0">
                <a:solidFill>
                  <a:srgbClr val="2E2E2E"/>
                </a:solidFill>
                <a:latin typeface="Calibri"/>
              </a:rPr>
              <a:t>CAGR</a:t>
            </a:r>
          </a:p>
        </p:txBody>
      </p:sp>
      <p:sp>
        <p:nvSpPr>
          <p:cNvPr id="114" name="TextBox 113"/>
          <p:cNvSpPr txBox="1"/>
          <p:nvPr/>
        </p:nvSpPr>
        <p:spPr>
          <a:xfrm>
            <a:off x="3838575" y="5000581"/>
            <a:ext cx="909488" cy="186689"/>
          </a:xfrm>
          <a:prstGeom prst="rect">
            <a:avLst/>
          </a:prstGeom>
          <a:noFill/>
        </p:spPr>
        <p:txBody>
          <a:bodyPr wrap="none" lIns="0" tIns="0" rIns="0" bIns="0">
            <a:spAutoFit/>
          </a:bodyPr>
          <a:lstStyle/>
          <a:p>
            <a:r>
              <a:rPr sz="1100" b="0">
                <a:solidFill>
                  <a:srgbClr val="2E2E2E"/>
                </a:solidFill>
                <a:latin typeface="Calibri"/>
              </a:rPr>
              <a:t>serves a niche.</a:t>
            </a:r>
          </a:p>
        </p:txBody>
      </p:sp>
      <p:sp>
        <p:nvSpPr>
          <p:cNvPr id="115" name="TextBox 114"/>
          <p:cNvSpPr txBox="1"/>
          <p:nvPr/>
        </p:nvSpPr>
        <p:spPr>
          <a:xfrm>
            <a:off x="3838575" y="5218513"/>
            <a:ext cx="1202228" cy="186689"/>
          </a:xfrm>
          <a:prstGeom prst="rect">
            <a:avLst/>
          </a:prstGeom>
          <a:noFill/>
        </p:spPr>
        <p:txBody>
          <a:bodyPr wrap="none" lIns="0" tIns="0" rIns="0" bIns="0">
            <a:spAutoFit/>
          </a:bodyPr>
          <a:lstStyle/>
          <a:p>
            <a:r>
              <a:rPr sz="1100" b="0">
                <a:solidFill>
                  <a:srgbClr val="2E2E2E"/>
                </a:solidFill>
                <a:latin typeface="Calibri"/>
              </a:rPr>
              <a:t>● Food &amp; Beverage:</a:t>
            </a:r>
          </a:p>
        </p:txBody>
      </p:sp>
      <p:pic>
        <p:nvPicPr>
          <p:cNvPr id="116" name="Picture 115" descr="lock.png"/>
          <p:cNvPicPr>
            <a:picLocks noChangeAspect="1"/>
          </p:cNvPicPr>
          <p:nvPr/>
        </p:nvPicPr>
        <p:blipFill>
          <a:blip r:embed="rId16"/>
          <a:stretch>
            <a:fillRect/>
          </a:stretch>
        </p:blipFill>
        <p:spPr>
          <a:xfrm>
            <a:off x="4988855" y="5208733"/>
            <a:ext cx="128699" cy="187198"/>
          </a:xfrm>
          <a:prstGeom prst="rect">
            <a:avLst/>
          </a:prstGeom>
        </p:spPr>
      </p:pic>
      <p:sp>
        <p:nvSpPr>
          <p:cNvPr id="117" name="TextBox 116"/>
          <p:cNvSpPr txBox="1"/>
          <p:nvPr/>
        </p:nvSpPr>
        <p:spPr>
          <a:xfrm>
            <a:off x="5156350" y="5218513"/>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6"/>
          <a:stretch>
            <a:fillRect/>
          </a:stretch>
        </p:blipFill>
        <p:spPr>
          <a:xfrm>
            <a:off x="6015801" y="5208733"/>
            <a:ext cx="128699" cy="187198"/>
          </a:xfrm>
          <a:prstGeom prst="rect">
            <a:avLst/>
          </a:prstGeom>
        </p:spPr>
      </p:pic>
      <p:sp>
        <p:nvSpPr>
          <p:cNvPr id="119" name="TextBox 118"/>
          <p:cNvSpPr txBox="1"/>
          <p:nvPr/>
        </p:nvSpPr>
        <p:spPr>
          <a:xfrm>
            <a:off x="6183297" y="5218513"/>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120" name="TextBox 119"/>
          <p:cNvSpPr txBox="1"/>
          <p:nvPr/>
        </p:nvSpPr>
        <p:spPr>
          <a:xfrm>
            <a:off x="8524875" y="5842641"/>
            <a:ext cx="2887377" cy="194310"/>
          </a:xfrm>
          <a:prstGeom prst="rect">
            <a:avLst/>
          </a:prstGeom>
          <a:noFill/>
        </p:spPr>
        <p:txBody>
          <a:bodyPr wrap="none" lIns="0" tIns="0" rIns="0" bIns="0">
            <a:spAutoFit/>
          </a:bodyPr>
          <a:lstStyle/>
          <a:p>
            <a:r>
              <a:rPr sz="1150" b="1">
                <a:solidFill>
                  <a:srgbClr val="0B2E4A"/>
                </a:solidFill>
                <a:latin typeface="Calibri"/>
              </a:rPr>
              <a:t>The End Use segment is projected to grow at a</a:t>
            </a:r>
          </a:p>
        </p:txBody>
      </p:sp>
      <p:sp>
        <p:nvSpPr>
          <p:cNvPr id="121" name="TextBox 120"/>
          <p:cNvSpPr txBox="1"/>
          <p:nvPr/>
        </p:nvSpPr>
        <p:spPr>
          <a:xfrm>
            <a:off x="8524875" y="6017901"/>
            <a:ext cx="574797" cy="194310"/>
          </a:xfrm>
          <a:prstGeom prst="rect">
            <a:avLst/>
          </a:prstGeom>
          <a:noFill/>
        </p:spPr>
        <p:txBody>
          <a:bodyPr wrap="none" lIns="0" tIns="0" rIns="0" bIns="0">
            <a:spAutoFit/>
          </a:bodyPr>
          <a:lstStyle/>
          <a:p>
            <a:r>
              <a:rPr sz="1150" b="1">
                <a:solidFill>
                  <a:srgbClr val="0B2E4A"/>
                </a:solidFill>
                <a:latin typeface="Calibri"/>
              </a:rPr>
              <a:t>CAGR of</a:t>
            </a:r>
          </a:p>
        </p:txBody>
      </p:sp>
      <p:pic>
        <p:nvPicPr>
          <p:cNvPr id="122" name="Picture 121" descr="lock.png"/>
          <p:cNvPicPr>
            <a:picLocks noChangeAspect="1"/>
          </p:cNvPicPr>
          <p:nvPr/>
        </p:nvPicPr>
        <p:blipFill>
          <a:blip r:embed="rId16"/>
          <a:stretch>
            <a:fillRect/>
          </a:stretch>
        </p:blipFill>
        <p:spPr>
          <a:xfrm>
            <a:off x="9048826" y="6007677"/>
            <a:ext cx="134549" cy="195707"/>
          </a:xfrm>
          <a:prstGeom prst="rect">
            <a:avLst/>
          </a:prstGeom>
        </p:spPr>
      </p:pic>
      <p:sp>
        <p:nvSpPr>
          <p:cNvPr id="123" name="TextBox 122"/>
          <p:cNvSpPr txBox="1"/>
          <p:nvPr/>
        </p:nvSpPr>
        <p:spPr>
          <a:xfrm>
            <a:off x="9223935"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End Use Segment Outlook (2/2)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7 sub-segments of End Use, 2026–2036</a:t>
            </a:r>
          </a:p>
        </p:txBody>
      </p:sp>
      <p:sp>
        <p:nvSpPr>
          <p:cNvPr id="10" name="TextBox 9"/>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End Use segment categorizes the market by end use.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19050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Pharmaceuticals &amp; Healthcare</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527685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Electronics &amp; Electrical</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8648700" y="1773916"/>
            <a:ext cx="3181350" cy="438089"/>
          </a:xfrm>
          <a:prstGeom prst="rect">
            <a:avLst/>
          </a:prstGeom>
          <a:noFill/>
        </p:spPr>
        <p:txBody>
          <a:bodyPr wrap="square" lIns="28575" tIns="9525" rIns="28575" bIns="9525" anchor="ctr">
            <a:spAutoFit/>
          </a:bodyPr>
          <a:lstStyle/>
          <a:p>
            <a:pPr algn="ctr"/>
            <a:r>
              <a:rPr sz="1100" b="1">
                <a:solidFill>
                  <a:srgbClr val="FFFFFF"/>
                </a:solidFill>
                <a:latin typeface="Calibri"/>
              </a:rPr>
              <a:t>Personal Care &amp; Cosmetics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457200" y="3946106"/>
            <a:ext cx="1127760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457200" y="4219912"/>
            <a:ext cx="1127760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46" name="Picture 45" descr="137_4_605E5C.png"/>
          <p:cNvPicPr>
            <a:picLocks noChangeAspect="1"/>
          </p:cNvPicPr>
          <p:nvPr/>
        </p:nvPicPr>
        <p:blipFill>
          <a:blip r:embed="rId4"/>
          <a:stretch>
            <a:fillRect/>
          </a:stretch>
        </p:blipFill>
        <p:spPr>
          <a:xfrm>
            <a:off x="2897811" y="2286582"/>
            <a:ext cx="1195728" cy="361950"/>
          </a:xfrm>
          <a:prstGeom prst="rect">
            <a:avLst/>
          </a:prstGeom>
        </p:spPr>
      </p:pic>
      <p:pic>
        <p:nvPicPr>
          <p:cNvPr id="47" name="Picture 46" descr="155_9_605E5C.png"/>
          <p:cNvPicPr>
            <a:picLocks noChangeAspect="1"/>
          </p:cNvPicPr>
          <p:nvPr/>
        </p:nvPicPr>
        <p:blipFill>
          <a:blip r:embed="rId5"/>
          <a:stretch>
            <a:fillRect/>
          </a:stretch>
        </p:blipFill>
        <p:spPr>
          <a:xfrm>
            <a:off x="2897811" y="2779432"/>
            <a:ext cx="1195728" cy="361950"/>
          </a:xfrm>
          <a:prstGeom prst="rect">
            <a:avLst/>
          </a:prstGeom>
        </p:spPr>
      </p:pic>
      <p:pic>
        <p:nvPicPr>
          <p:cNvPr id="48" name="Picture 47" descr="1_3__605E5C.png"/>
          <p:cNvPicPr>
            <a:picLocks noChangeAspect="1"/>
          </p:cNvPicPr>
          <p:nvPr/>
        </p:nvPicPr>
        <p:blipFill>
          <a:blip r:embed="rId6"/>
          <a:stretch>
            <a:fillRect/>
          </a:stretch>
        </p:blipFill>
        <p:spPr>
          <a:xfrm>
            <a:off x="3004457" y="3272281"/>
            <a:ext cx="982436" cy="361950"/>
          </a:xfrm>
          <a:prstGeom prst="rect">
            <a:avLst/>
          </a:prstGeom>
        </p:spPr>
      </p:pic>
      <p:pic>
        <p:nvPicPr>
          <p:cNvPr id="49" name="Picture 48" descr="119_1_605E5C.png"/>
          <p:cNvPicPr>
            <a:picLocks noChangeAspect="1"/>
          </p:cNvPicPr>
          <p:nvPr/>
        </p:nvPicPr>
        <p:blipFill>
          <a:blip r:embed="rId7"/>
          <a:stretch>
            <a:fillRect/>
          </a:stretch>
        </p:blipFill>
        <p:spPr>
          <a:xfrm>
            <a:off x="6269661" y="2286582"/>
            <a:ext cx="1195728" cy="361950"/>
          </a:xfrm>
          <a:prstGeom prst="rect">
            <a:avLst/>
          </a:prstGeom>
        </p:spPr>
      </p:pic>
      <p:pic>
        <p:nvPicPr>
          <p:cNvPr id="50" name="Picture 49" descr="242_7_605E5C.png"/>
          <p:cNvPicPr>
            <a:picLocks noChangeAspect="1"/>
          </p:cNvPicPr>
          <p:nvPr/>
        </p:nvPicPr>
        <p:blipFill>
          <a:blip r:embed="rId8"/>
          <a:stretch>
            <a:fillRect/>
          </a:stretch>
        </p:blipFill>
        <p:spPr>
          <a:xfrm>
            <a:off x="6269661" y="2779432"/>
            <a:ext cx="1195728" cy="361950"/>
          </a:xfrm>
          <a:prstGeom prst="rect">
            <a:avLst/>
          </a:prstGeom>
        </p:spPr>
      </p:pic>
      <p:pic>
        <p:nvPicPr>
          <p:cNvPr id="51" name="Picture 50" descr="7_4__605E5C.png"/>
          <p:cNvPicPr>
            <a:picLocks noChangeAspect="1"/>
          </p:cNvPicPr>
          <p:nvPr/>
        </p:nvPicPr>
        <p:blipFill>
          <a:blip r:embed="rId9"/>
          <a:stretch>
            <a:fillRect/>
          </a:stretch>
        </p:blipFill>
        <p:spPr>
          <a:xfrm>
            <a:off x="6376307" y="3272281"/>
            <a:ext cx="982436" cy="361950"/>
          </a:xfrm>
          <a:prstGeom prst="rect">
            <a:avLst/>
          </a:prstGeom>
        </p:spPr>
      </p:pic>
      <p:pic>
        <p:nvPicPr>
          <p:cNvPr id="52" name="Picture 51" descr="32_8_605E5C.png"/>
          <p:cNvPicPr>
            <a:picLocks noChangeAspect="1"/>
          </p:cNvPicPr>
          <p:nvPr/>
        </p:nvPicPr>
        <p:blipFill>
          <a:blip r:embed="rId10"/>
          <a:stretch>
            <a:fillRect/>
          </a:stretch>
        </p:blipFill>
        <p:spPr>
          <a:xfrm>
            <a:off x="9748157" y="2286582"/>
            <a:ext cx="982436" cy="361950"/>
          </a:xfrm>
          <a:prstGeom prst="rect">
            <a:avLst/>
          </a:prstGeom>
        </p:spPr>
      </p:pic>
      <p:pic>
        <p:nvPicPr>
          <p:cNvPr id="53" name="Picture 52" descr="65_5_605E5C.png"/>
          <p:cNvPicPr>
            <a:picLocks noChangeAspect="1"/>
          </p:cNvPicPr>
          <p:nvPr/>
        </p:nvPicPr>
        <p:blipFill>
          <a:blip r:embed="rId11"/>
          <a:stretch>
            <a:fillRect/>
          </a:stretch>
        </p:blipFill>
        <p:spPr>
          <a:xfrm>
            <a:off x="9748157" y="2779432"/>
            <a:ext cx="982436" cy="361950"/>
          </a:xfrm>
          <a:prstGeom prst="rect">
            <a:avLst/>
          </a:prstGeom>
        </p:spPr>
      </p:pic>
      <p:pic>
        <p:nvPicPr>
          <p:cNvPr id="54" name="Picture 53" descr="7_2__605E5C.png"/>
          <p:cNvPicPr>
            <a:picLocks noChangeAspect="1"/>
          </p:cNvPicPr>
          <p:nvPr/>
        </p:nvPicPr>
        <p:blipFill>
          <a:blip r:embed="rId12"/>
          <a:stretch>
            <a:fillRect/>
          </a:stretch>
        </p:blipFill>
        <p:spPr>
          <a:xfrm>
            <a:off x="9748157" y="3272281"/>
            <a:ext cx="982436" cy="361950"/>
          </a:xfrm>
          <a:prstGeom prst="rect">
            <a:avLst/>
          </a:prstGeom>
        </p:spPr>
      </p:pic>
      <p:pic>
        <p:nvPicPr>
          <p:cNvPr id="55" name="Picture 54" descr="lock.png"/>
          <p:cNvPicPr>
            <a:picLocks noChangeAspect="1"/>
          </p:cNvPicPr>
          <p:nvPr/>
        </p:nvPicPr>
        <p:blipFill>
          <a:blip r:embed="rId13"/>
          <a:stretch>
            <a:fillRect/>
          </a:stretch>
        </p:blipFill>
        <p:spPr>
          <a:xfrm>
            <a:off x="3402330" y="2827057"/>
            <a:ext cx="183356" cy="266700"/>
          </a:xfrm>
          <a:prstGeom prst="rect">
            <a:avLst/>
          </a:prstGeom>
        </p:spPr>
      </p:pic>
      <p:pic>
        <p:nvPicPr>
          <p:cNvPr id="56" name="Picture 55" descr="lock.png"/>
          <p:cNvPicPr>
            <a:picLocks noChangeAspect="1"/>
          </p:cNvPicPr>
          <p:nvPr/>
        </p:nvPicPr>
        <p:blipFill>
          <a:blip r:embed="rId13"/>
          <a:stretch>
            <a:fillRect/>
          </a:stretch>
        </p:blipFill>
        <p:spPr>
          <a:xfrm>
            <a:off x="6774180" y="2827057"/>
            <a:ext cx="183356" cy="266700"/>
          </a:xfrm>
          <a:prstGeom prst="rect">
            <a:avLst/>
          </a:prstGeom>
        </p:spPr>
      </p:pic>
      <p:pic>
        <p:nvPicPr>
          <p:cNvPr id="57" name="Picture 56" descr="lock.png"/>
          <p:cNvPicPr>
            <a:picLocks noChangeAspect="1"/>
          </p:cNvPicPr>
          <p:nvPr/>
        </p:nvPicPr>
        <p:blipFill>
          <a:blip r:embed="rId13"/>
          <a:stretch>
            <a:fillRect/>
          </a:stretch>
        </p:blipFill>
        <p:spPr>
          <a:xfrm>
            <a:off x="10146030" y="2827057"/>
            <a:ext cx="183356" cy="266700"/>
          </a:xfrm>
          <a:prstGeom prst="rect">
            <a:avLst/>
          </a:prstGeom>
        </p:spPr>
      </p:pic>
      <p:sp>
        <p:nvSpPr>
          <p:cNvPr id="58" name="TextBox 57"/>
          <p:cNvSpPr txBox="1"/>
          <p:nvPr/>
        </p:nvSpPr>
        <p:spPr>
          <a:xfrm>
            <a:off x="485775" y="4229437"/>
            <a:ext cx="1942504" cy="186689"/>
          </a:xfrm>
          <a:prstGeom prst="rect">
            <a:avLst/>
          </a:prstGeom>
          <a:noFill/>
        </p:spPr>
        <p:txBody>
          <a:bodyPr wrap="none" lIns="0" tIns="0" rIns="0" bIns="0">
            <a:spAutoFit/>
          </a:bodyPr>
          <a:lstStyle/>
          <a:p>
            <a:r>
              <a:rPr sz="1100" b="0">
                <a:solidFill>
                  <a:srgbClr val="2E2E2E"/>
                </a:solidFill>
                <a:latin typeface="Calibri"/>
              </a:rPr>
              <a:t>● Pharmaceuticals &amp; Healthcare:</a:t>
            </a:r>
          </a:p>
        </p:txBody>
      </p:sp>
      <p:pic>
        <p:nvPicPr>
          <p:cNvPr id="59" name="Picture 58" descr="lock.png"/>
          <p:cNvPicPr>
            <a:picLocks noChangeAspect="1"/>
          </p:cNvPicPr>
          <p:nvPr/>
        </p:nvPicPr>
        <p:blipFill>
          <a:blip r:embed="rId13"/>
          <a:stretch>
            <a:fillRect/>
          </a:stretch>
        </p:blipFill>
        <p:spPr>
          <a:xfrm>
            <a:off x="2376331" y="4219658"/>
            <a:ext cx="128699" cy="187198"/>
          </a:xfrm>
          <a:prstGeom prst="rect">
            <a:avLst/>
          </a:prstGeom>
        </p:spPr>
      </p:pic>
      <p:sp>
        <p:nvSpPr>
          <p:cNvPr id="60" name="TextBox 59"/>
          <p:cNvSpPr txBox="1"/>
          <p:nvPr/>
        </p:nvSpPr>
        <p:spPr>
          <a:xfrm>
            <a:off x="2543827"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61" name="Picture 60" descr="lock.png"/>
          <p:cNvPicPr>
            <a:picLocks noChangeAspect="1"/>
          </p:cNvPicPr>
          <p:nvPr/>
        </p:nvPicPr>
        <p:blipFill>
          <a:blip r:embed="rId13"/>
          <a:stretch>
            <a:fillRect/>
          </a:stretch>
        </p:blipFill>
        <p:spPr>
          <a:xfrm>
            <a:off x="3403277" y="4219658"/>
            <a:ext cx="128699" cy="187198"/>
          </a:xfrm>
          <a:prstGeom prst="rect">
            <a:avLst/>
          </a:prstGeom>
        </p:spPr>
      </p:pic>
      <p:sp>
        <p:nvSpPr>
          <p:cNvPr id="62" name="TextBox 61"/>
          <p:cNvSpPr txBox="1"/>
          <p:nvPr/>
        </p:nvSpPr>
        <p:spPr>
          <a:xfrm>
            <a:off x="3570773" y="4229437"/>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
        <p:nvSpPr>
          <p:cNvPr id="63" name="TextBox 62"/>
          <p:cNvSpPr txBox="1"/>
          <p:nvPr/>
        </p:nvSpPr>
        <p:spPr>
          <a:xfrm>
            <a:off x="485775" y="4447369"/>
            <a:ext cx="1521494" cy="186689"/>
          </a:xfrm>
          <a:prstGeom prst="rect">
            <a:avLst/>
          </a:prstGeom>
          <a:noFill/>
        </p:spPr>
        <p:txBody>
          <a:bodyPr wrap="none" lIns="0" tIns="0" rIns="0" bIns="0">
            <a:spAutoFit/>
          </a:bodyPr>
          <a:lstStyle/>
          <a:p>
            <a:r>
              <a:rPr sz="1100" b="0">
                <a:solidFill>
                  <a:srgbClr val="2E2E2E"/>
                </a:solidFill>
                <a:latin typeface="Calibri"/>
              </a:rPr>
              <a:t>● Electronics &amp; Electrical:</a:t>
            </a:r>
          </a:p>
        </p:txBody>
      </p:sp>
      <p:pic>
        <p:nvPicPr>
          <p:cNvPr id="64" name="Picture 63" descr="lock.png"/>
          <p:cNvPicPr>
            <a:picLocks noChangeAspect="1"/>
          </p:cNvPicPr>
          <p:nvPr/>
        </p:nvPicPr>
        <p:blipFill>
          <a:blip r:embed="rId13"/>
          <a:stretch>
            <a:fillRect/>
          </a:stretch>
        </p:blipFill>
        <p:spPr>
          <a:xfrm>
            <a:off x="1955321" y="4437590"/>
            <a:ext cx="128699" cy="187198"/>
          </a:xfrm>
          <a:prstGeom prst="rect">
            <a:avLst/>
          </a:prstGeom>
        </p:spPr>
      </p:pic>
      <p:sp>
        <p:nvSpPr>
          <p:cNvPr id="65" name="TextBox 64"/>
          <p:cNvSpPr txBox="1"/>
          <p:nvPr/>
        </p:nvSpPr>
        <p:spPr>
          <a:xfrm>
            <a:off x="2122817" y="4447369"/>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66" name="Picture 65" descr="lock.png"/>
          <p:cNvPicPr>
            <a:picLocks noChangeAspect="1"/>
          </p:cNvPicPr>
          <p:nvPr/>
        </p:nvPicPr>
        <p:blipFill>
          <a:blip r:embed="rId13"/>
          <a:stretch>
            <a:fillRect/>
          </a:stretch>
        </p:blipFill>
        <p:spPr>
          <a:xfrm>
            <a:off x="2982267" y="4437590"/>
            <a:ext cx="128699" cy="187198"/>
          </a:xfrm>
          <a:prstGeom prst="rect">
            <a:avLst/>
          </a:prstGeom>
        </p:spPr>
      </p:pic>
      <p:sp>
        <p:nvSpPr>
          <p:cNvPr id="67" name="TextBox 66"/>
          <p:cNvSpPr txBox="1"/>
          <p:nvPr/>
        </p:nvSpPr>
        <p:spPr>
          <a:xfrm>
            <a:off x="3149763" y="4447369"/>
            <a:ext cx="1218612" cy="186689"/>
          </a:xfrm>
          <a:prstGeom prst="rect">
            <a:avLst/>
          </a:prstGeom>
          <a:noFill/>
        </p:spPr>
        <p:txBody>
          <a:bodyPr wrap="none" lIns="0" tIns="0" rIns="0" bIns="0">
            <a:spAutoFit/>
          </a:bodyPr>
          <a:lstStyle/>
          <a:p>
            <a:r>
              <a:rPr sz="1100" b="0">
                <a:solidFill>
                  <a:srgbClr val="2E2E2E"/>
                </a:solidFill>
                <a:latin typeface="Calibri"/>
              </a:rPr>
              <a:t>CAGR grows fastest.</a:t>
            </a:r>
          </a:p>
        </p:txBody>
      </p:sp>
      <p:sp>
        <p:nvSpPr>
          <p:cNvPr id="68" name="TextBox 67"/>
          <p:cNvSpPr txBox="1"/>
          <p:nvPr/>
        </p:nvSpPr>
        <p:spPr>
          <a:xfrm>
            <a:off x="485775" y="4665301"/>
            <a:ext cx="1747688" cy="186689"/>
          </a:xfrm>
          <a:prstGeom prst="rect">
            <a:avLst/>
          </a:prstGeom>
          <a:noFill/>
        </p:spPr>
        <p:txBody>
          <a:bodyPr wrap="none" lIns="0" tIns="0" rIns="0" bIns="0">
            <a:spAutoFit/>
          </a:bodyPr>
          <a:lstStyle/>
          <a:p>
            <a:r>
              <a:rPr sz="1100" b="0">
                <a:solidFill>
                  <a:srgbClr val="2E2E2E"/>
                </a:solidFill>
                <a:latin typeface="Calibri"/>
              </a:rPr>
              <a:t>● Personal Care &amp; Cosmetics:</a:t>
            </a:r>
          </a:p>
        </p:txBody>
      </p:sp>
      <p:pic>
        <p:nvPicPr>
          <p:cNvPr id="69" name="Picture 68" descr="lock.png"/>
          <p:cNvPicPr>
            <a:picLocks noChangeAspect="1"/>
          </p:cNvPicPr>
          <p:nvPr/>
        </p:nvPicPr>
        <p:blipFill>
          <a:blip r:embed="rId13"/>
          <a:stretch>
            <a:fillRect/>
          </a:stretch>
        </p:blipFill>
        <p:spPr>
          <a:xfrm>
            <a:off x="2181515" y="4655522"/>
            <a:ext cx="128699" cy="187198"/>
          </a:xfrm>
          <a:prstGeom prst="rect">
            <a:avLst/>
          </a:prstGeom>
        </p:spPr>
      </p:pic>
      <p:sp>
        <p:nvSpPr>
          <p:cNvPr id="70" name="TextBox 69"/>
          <p:cNvSpPr txBox="1"/>
          <p:nvPr/>
        </p:nvSpPr>
        <p:spPr>
          <a:xfrm>
            <a:off x="2349011" y="4665301"/>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71" name="Picture 70" descr="lock.png"/>
          <p:cNvPicPr>
            <a:picLocks noChangeAspect="1"/>
          </p:cNvPicPr>
          <p:nvPr/>
        </p:nvPicPr>
        <p:blipFill>
          <a:blip r:embed="rId13"/>
          <a:stretch>
            <a:fillRect/>
          </a:stretch>
        </p:blipFill>
        <p:spPr>
          <a:xfrm>
            <a:off x="3208461" y="4655522"/>
            <a:ext cx="128699" cy="187198"/>
          </a:xfrm>
          <a:prstGeom prst="rect">
            <a:avLst/>
          </a:prstGeom>
        </p:spPr>
      </p:pic>
      <p:sp>
        <p:nvSpPr>
          <p:cNvPr id="72" name="TextBox 71"/>
          <p:cNvSpPr txBox="1"/>
          <p:nvPr/>
        </p:nvSpPr>
        <p:spPr>
          <a:xfrm>
            <a:off x="3375957" y="4665301"/>
            <a:ext cx="1260358" cy="186689"/>
          </a:xfrm>
          <a:prstGeom prst="rect">
            <a:avLst/>
          </a:prstGeom>
          <a:noFill/>
        </p:spPr>
        <p:txBody>
          <a:bodyPr wrap="none" lIns="0" tIns="0" rIns="0" bIns="0">
            <a:spAutoFit/>
          </a:bodyPr>
          <a:lstStyle/>
          <a:p>
            <a:r>
              <a:rPr sz="1100" b="0">
                <a:solidFill>
                  <a:srgbClr val="2E2E2E"/>
                </a:solidFill>
                <a:latin typeface="Calibri"/>
              </a:rPr>
              <a:t>CAGR serves a niche.</a:t>
            </a:r>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Structure &amp; Attractiveness, By End Use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End Use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End Use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End Use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404996" cy="186689"/>
          </a:xfrm>
          <a:prstGeom prst="rect">
            <a:avLst/>
          </a:prstGeom>
          <a:noFill/>
        </p:spPr>
        <p:txBody>
          <a:bodyPr wrap="none" lIns="0" tIns="0" rIns="0" bIns="0">
            <a:spAutoFit/>
          </a:bodyPr>
          <a:lstStyle/>
          <a:p>
            <a:r>
              <a:rPr sz="1100" b="0">
                <a:solidFill>
                  <a:srgbClr val="2E2E2E"/>
                </a:solidFill>
                <a:latin typeface="Calibri"/>
              </a:rPr>
              <a:t>Electronics &amp; electrical followed by food &amp; beverage are expected to be the two most attractive end use segments in the North America corrugated partition market in terms of value over the forecast</a:t>
            </a:r>
          </a:p>
        </p:txBody>
      </p:sp>
      <p:sp>
        <p:nvSpPr>
          <p:cNvPr id="21" name="TextBox 20"/>
          <p:cNvSpPr txBox="1"/>
          <p:nvPr/>
        </p:nvSpPr>
        <p:spPr>
          <a:xfrm>
            <a:off x="257175" y="5861685"/>
            <a:ext cx="4390784" cy="186689"/>
          </a:xfrm>
          <a:prstGeom prst="rect">
            <a:avLst/>
          </a:prstGeom>
          <a:noFill/>
        </p:spPr>
        <p:txBody>
          <a:bodyPr wrap="none" lIns="0" tIns="0" rIns="0" bIns="0">
            <a:spAutoFit/>
          </a:bodyPr>
          <a:lstStyle/>
          <a:p>
            <a:r>
              <a:rPr sz="1100" b="0">
                <a:solidFill>
                  <a:srgbClr val="2E2E2E"/>
                </a:solidFill>
                <a:latin typeface="Calibri"/>
              </a:rPr>
              <a:t>period. Electronics &amp; electrical and food &amp; beverage exhibit a CAGR index of</a:t>
            </a:r>
          </a:p>
        </p:txBody>
      </p:sp>
      <p:pic>
        <p:nvPicPr>
          <p:cNvPr id="22" name="Picture 21" descr="lock.png"/>
          <p:cNvPicPr>
            <a:picLocks noChangeAspect="1"/>
          </p:cNvPicPr>
          <p:nvPr/>
        </p:nvPicPr>
        <p:blipFill>
          <a:blip r:embed="rId6"/>
          <a:stretch>
            <a:fillRect/>
          </a:stretch>
        </p:blipFill>
        <p:spPr>
          <a:xfrm>
            <a:off x="4596011" y="5851905"/>
            <a:ext cx="128699" cy="187198"/>
          </a:xfrm>
          <a:prstGeom prst="rect">
            <a:avLst/>
          </a:prstGeom>
        </p:spPr>
      </p:pic>
      <p:sp>
        <p:nvSpPr>
          <p:cNvPr id="23" name="TextBox 22"/>
          <p:cNvSpPr txBox="1"/>
          <p:nvPr/>
        </p:nvSpPr>
        <p:spPr>
          <a:xfrm>
            <a:off x="4763507" y="586168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001401" y="5851905"/>
            <a:ext cx="128699" cy="187198"/>
          </a:xfrm>
          <a:prstGeom prst="rect">
            <a:avLst/>
          </a:prstGeom>
        </p:spPr>
      </p:pic>
      <p:sp>
        <p:nvSpPr>
          <p:cNvPr id="25" name="TextBox 24"/>
          <p:cNvSpPr txBox="1"/>
          <p:nvPr/>
        </p:nvSpPr>
        <p:spPr>
          <a:xfrm>
            <a:off x="5168897" y="586168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6777870" y="5851905"/>
            <a:ext cx="128699" cy="187198"/>
          </a:xfrm>
          <a:prstGeom prst="rect">
            <a:avLst/>
          </a:prstGeom>
        </p:spPr>
      </p:pic>
      <p:sp>
        <p:nvSpPr>
          <p:cNvPr id="27" name="TextBox 26"/>
          <p:cNvSpPr txBox="1"/>
          <p:nvPr/>
        </p:nvSpPr>
        <p:spPr>
          <a:xfrm>
            <a:off x="6945366" y="586168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183260" y="5851905"/>
            <a:ext cx="128699" cy="187198"/>
          </a:xfrm>
          <a:prstGeom prst="rect">
            <a:avLst/>
          </a:prstGeom>
        </p:spPr>
      </p:pic>
      <p:sp>
        <p:nvSpPr>
          <p:cNvPr id="29" name="TextBox 28"/>
          <p:cNvSpPr txBox="1"/>
          <p:nvPr/>
        </p:nvSpPr>
        <p:spPr>
          <a:xfrm>
            <a:off x="7350756" y="586168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9905160" y="5851905"/>
            <a:ext cx="128699" cy="187198"/>
          </a:xfrm>
          <a:prstGeom prst="rect">
            <a:avLst/>
          </a:prstGeom>
        </p:spPr>
      </p:pic>
      <p:sp>
        <p:nvSpPr>
          <p:cNvPr id="31" name="TextBox 30"/>
          <p:cNvSpPr txBox="1"/>
          <p:nvPr/>
        </p:nvSpPr>
        <p:spPr>
          <a:xfrm>
            <a:off x="10072656" y="5861685"/>
            <a:ext cx="1320948" cy="186689"/>
          </a:xfrm>
          <a:prstGeom prst="rect">
            <a:avLst/>
          </a:prstGeom>
          <a:noFill/>
        </p:spPr>
        <p:txBody>
          <a:bodyPr wrap="none" lIns="0" tIns="0" rIns="0" bIns="0">
            <a:spAutoFit/>
          </a:bodyPr>
          <a:lstStyle/>
          <a:p>
            <a:r>
              <a:rPr sz="1100" b="0">
                <a:solidFill>
                  <a:srgbClr val="2E2E2E"/>
                </a:solidFill>
                <a:latin typeface="Calibri"/>
              </a:rPr>
              <a:t>. The pharmaceuticals</a:t>
            </a:r>
          </a:p>
        </p:txBody>
      </p:sp>
      <p:sp>
        <p:nvSpPr>
          <p:cNvPr id="32" name="TextBox 31"/>
          <p:cNvSpPr txBox="1"/>
          <p:nvPr/>
        </p:nvSpPr>
        <p:spPr>
          <a:xfrm>
            <a:off x="257175" y="6029325"/>
            <a:ext cx="11633612" cy="186689"/>
          </a:xfrm>
          <a:prstGeom prst="rect">
            <a:avLst/>
          </a:prstGeom>
          <a:noFill/>
        </p:spPr>
        <p:txBody>
          <a:bodyPr wrap="none" lIns="0" tIns="0" rIns="0" bIns="0">
            <a:spAutoFit/>
          </a:bodyPr>
          <a:lstStyle/>
          <a:p>
            <a:r>
              <a:rPr sz="1100" b="0">
                <a:solidFill>
                  <a:srgbClr val="2E2E2E"/>
                </a:solidFill>
                <a:latin typeface="Calibri"/>
              </a:rPr>
              <a:t>&amp; healthcare segment is expected to be less attractive as compared to other segments over the forecast period, owing to its lower CAGR and incremental opportunity. Bubbles right of the CAGR-Index line</a:t>
            </a:r>
          </a:p>
        </p:txBody>
      </p:sp>
      <p:sp>
        <p:nvSpPr>
          <p:cNvPr id="33" name="TextBox 32"/>
          <p:cNvSpPr txBox="1"/>
          <p:nvPr/>
        </p:nvSpPr>
        <p:spPr>
          <a:xfrm>
            <a:off x="257175" y="6196965"/>
            <a:ext cx="2279476" cy="186689"/>
          </a:xfrm>
          <a:prstGeom prst="rect">
            <a:avLst/>
          </a:prstGeom>
          <a:noFill/>
        </p:spPr>
        <p:txBody>
          <a:bodyPr wrap="none" lIns="0" tIns="0" rIns="0" bIns="0">
            <a:spAutoFit/>
          </a:bodyPr>
          <a:lstStyle/>
          <a:p>
            <a:r>
              <a:rPr sz="1100" b="0">
                <a:solidFill>
                  <a:srgbClr val="2E2E2E"/>
                </a:solidFill>
                <a:latin typeface="Calibri"/>
              </a:rPr>
              <a:t>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Analysis, By End Use (1/2)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End Use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Food &amp; Beverage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Pharmaceuticals &amp; Healthcare</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38125" y="39243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Personal Care &amp; Cosmetics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267450" y="3924300"/>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Electronics &amp; Electrical</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xmlns:r="http://schemas.openxmlformats.org/officeDocument/2006/relationships" r:id="rId7"/>
          </a:graphicData>
        </a:graphic>
      </p:graphicFrame>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Analysis, By End Use (2/2)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End Use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Automotive &amp; Industrial Components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xmlns:r="http://schemas.openxmlformats.org/officeDocument/2006/relationships" r:id="rId4"/>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Glassware, Ceramics &amp; Home Goods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xmlns:r="http://schemas.openxmlformats.org/officeDocument/2006/relationships" r:id="rId5"/>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Others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6"/>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305550" y="3952875"/>
            <a:ext cx="5610225" cy="209550"/>
          </a:xfrm>
          <a:prstGeom prst="rect">
            <a:avLst/>
          </a:prstGeom>
          <a:noFill/>
        </p:spPr>
        <p:txBody>
          <a:bodyPr wrap="square" lIns="0" tIns="9525" rIns="19050" bIns="9525">
            <a:spAutoFit/>
          </a:bodyPr>
          <a:lstStyle/>
          <a:p>
            <a:pPr algn="l"/>
            <a:r>
              <a:rPr sz="1300" b="1">
                <a:solidFill>
                  <a:srgbClr val="0B2E4A"/>
                </a:solidFill>
                <a:latin typeface="Calibri"/>
              </a:rPr>
              <a:t>Summary of North America Absolute $ Opportunity Analysis, By End Use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305550" y="4276725"/>
            <a:ext cx="5610225" cy="22669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7"/>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3094826" y="5123309"/>
            <a:ext cx="263506" cy="383281"/>
          </a:xfrm>
          <a:prstGeom prst="rect">
            <a:avLst/>
          </a:prstGeom>
        </p:spPr>
      </p:pic>
      <p:sp>
        <p:nvSpPr>
          <p:cNvPr id="27" name="TextBox 26"/>
          <p:cNvSpPr txBox="1"/>
          <p:nvPr/>
        </p:nvSpPr>
        <p:spPr>
          <a:xfrm>
            <a:off x="6305550" y="4286250"/>
            <a:ext cx="4492763" cy="194310"/>
          </a:xfrm>
          <a:prstGeom prst="rect">
            <a:avLst/>
          </a:prstGeom>
          <a:noFill/>
        </p:spPr>
        <p:txBody>
          <a:bodyPr wrap="none" lIns="0" tIns="0" rIns="0" bIns="0">
            <a:spAutoFit/>
          </a:bodyPr>
          <a:lstStyle/>
          <a:p>
            <a:r>
              <a:rPr sz="1150" b="0">
                <a:solidFill>
                  <a:srgbClr val="2E2E2E"/>
                </a:solidFill>
                <a:latin typeface="Calibri"/>
              </a:rPr>
              <a:t>By 2036, food &amp; beverage segment is anticipated to witness an increase of</a:t>
            </a:r>
          </a:p>
        </p:txBody>
      </p:sp>
      <p:pic>
        <p:nvPicPr>
          <p:cNvPr id="28" name="Picture 27" descr="lock.png"/>
          <p:cNvPicPr>
            <a:picLocks noChangeAspect="1"/>
          </p:cNvPicPr>
          <p:nvPr/>
        </p:nvPicPr>
        <p:blipFill>
          <a:blip r:embed="rId7"/>
          <a:stretch>
            <a:fillRect/>
          </a:stretch>
        </p:blipFill>
        <p:spPr>
          <a:xfrm>
            <a:off x="10747467" y="4276026"/>
            <a:ext cx="134549" cy="195707"/>
          </a:xfrm>
          <a:prstGeom prst="rect">
            <a:avLst/>
          </a:prstGeom>
        </p:spPr>
      </p:pic>
      <p:sp>
        <p:nvSpPr>
          <p:cNvPr id="29" name="TextBox 28"/>
          <p:cNvSpPr txBox="1"/>
          <p:nvPr/>
        </p:nvSpPr>
        <p:spPr>
          <a:xfrm>
            <a:off x="10922577" y="4286250"/>
            <a:ext cx="829840" cy="194310"/>
          </a:xfrm>
          <a:prstGeom prst="rect">
            <a:avLst/>
          </a:prstGeom>
          <a:noFill/>
        </p:spPr>
        <p:txBody>
          <a:bodyPr wrap="none" lIns="0" tIns="0" rIns="0" bIns="0">
            <a:spAutoFit/>
          </a:bodyPr>
          <a:lstStyle/>
          <a:p>
            <a:r>
              <a:rPr sz="1150" b="0">
                <a:solidFill>
                  <a:srgbClr val="2E2E2E"/>
                </a:solidFill>
                <a:latin typeface="Calibri"/>
              </a:rPr>
              <a:t>X in terms of</a:t>
            </a:r>
          </a:p>
        </p:txBody>
      </p:sp>
      <p:sp>
        <p:nvSpPr>
          <p:cNvPr id="30" name="TextBox 29"/>
          <p:cNvSpPr txBox="1"/>
          <p:nvPr/>
        </p:nvSpPr>
        <p:spPr>
          <a:xfrm>
            <a:off x="6305550" y="4461510"/>
            <a:ext cx="4994262" cy="194310"/>
          </a:xfrm>
          <a:prstGeom prst="rect">
            <a:avLst/>
          </a:prstGeom>
          <a:noFill/>
        </p:spPr>
        <p:txBody>
          <a:bodyPr wrap="none" lIns="0" tIns="0" rIns="0" bIns="0">
            <a:spAutoFit/>
          </a:bodyPr>
          <a:lstStyle/>
          <a:p>
            <a:r>
              <a:rPr sz="1150" b="0">
                <a:solidFill>
                  <a:srgbClr val="2E2E2E"/>
                </a:solidFill>
                <a:latin typeface="Calibri"/>
              </a:rPr>
              <a:t>value as compared to 2026. The food &amp; beverage segment is expected to create an</a:t>
            </a:r>
          </a:p>
        </p:txBody>
      </p:sp>
      <p:sp>
        <p:nvSpPr>
          <p:cNvPr id="31" name="TextBox 30"/>
          <p:cNvSpPr txBox="1"/>
          <p:nvPr/>
        </p:nvSpPr>
        <p:spPr>
          <a:xfrm>
            <a:off x="6305550" y="4636770"/>
            <a:ext cx="1956879" cy="194310"/>
          </a:xfrm>
          <a:prstGeom prst="rect">
            <a:avLst/>
          </a:prstGeom>
          <a:noFill/>
        </p:spPr>
        <p:txBody>
          <a:bodyPr wrap="none" lIns="0" tIns="0" rIns="0" bIns="0">
            <a:spAutoFit/>
          </a:bodyPr>
          <a:lstStyle/>
          <a:p>
            <a:r>
              <a:rPr sz="1150" b="0">
                <a:solidFill>
                  <a:srgbClr val="2E2E2E"/>
                </a:solidFill>
                <a:latin typeface="Calibri"/>
              </a:rPr>
              <a:t>incremental opportunity of US$</a:t>
            </a:r>
          </a:p>
        </p:txBody>
      </p:sp>
      <p:pic>
        <p:nvPicPr>
          <p:cNvPr id="32" name="Picture 31" descr="lock.png"/>
          <p:cNvPicPr>
            <a:picLocks noChangeAspect="1"/>
          </p:cNvPicPr>
          <p:nvPr/>
        </p:nvPicPr>
        <p:blipFill>
          <a:blip r:embed="rId7"/>
          <a:stretch>
            <a:fillRect/>
          </a:stretch>
        </p:blipFill>
        <p:spPr>
          <a:xfrm>
            <a:off x="8211582" y="4626546"/>
            <a:ext cx="134549" cy="195707"/>
          </a:xfrm>
          <a:prstGeom prst="rect">
            <a:avLst/>
          </a:prstGeom>
        </p:spPr>
      </p:pic>
      <p:sp>
        <p:nvSpPr>
          <p:cNvPr id="33" name="TextBox 32"/>
          <p:cNvSpPr txBox="1"/>
          <p:nvPr/>
        </p:nvSpPr>
        <p:spPr>
          <a:xfrm>
            <a:off x="8386692" y="4636770"/>
            <a:ext cx="3501243"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2026</a:t>
            </a:r>
          </a:p>
        </p:txBody>
      </p:sp>
      <p:sp>
        <p:nvSpPr>
          <p:cNvPr id="34" name="TextBox 33"/>
          <p:cNvSpPr txBox="1"/>
          <p:nvPr/>
        </p:nvSpPr>
        <p:spPr>
          <a:xfrm>
            <a:off x="6305550" y="4812029"/>
            <a:ext cx="568833" cy="194310"/>
          </a:xfrm>
          <a:prstGeom prst="rect">
            <a:avLst/>
          </a:prstGeom>
          <a:noFill/>
        </p:spPr>
        <p:txBody>
          <a:bodyPr wrap="none" lIns="0" tIns="0" rIns="0" bIns="0">
            <a:spAutoFit/>
          </a:bodyPr>
          <a:lstStyle/>
          <a:p>
            <a:r>
              <a:rPr sz="1150" b="0">
                <a:solidFill>
                  <a:srgbClr val="2E2E2E"/>
                </a:solidFill>
                <a:latin typeface="Calibri"/>
              </a:rPr>
              <a:t>to 2036.</a:t>
            </a:r>
          </a:p>
        </p:txBody>
      </p:sp>
      <p:sp>
        <p:nvSpPr>
          <p:cNvPr id="35" name="TextBox 34"/>
          <p:cNvSpPr txBox="1"/>
          <p:nvPr/>
        </p:nvSpPr>
        <p:spPr>
          <a:xfrm>
            <a:off x="6305550" y="5039867"/>
            <a:ext cx="5591175" cy="194310"/>
          </a:xfrm>
          <a:prstGeom prst="rect">
            <a:avLst/>
          </a:prstGeom>
          <a:noFill/>
        </p:spPr>
        <p:txBody>
          <a:bodyPr wrap="none" lIns="0" tIns="0" rIns="0" bIns="0">
            <a:spAutoFit/>
          </a:bodyPr>
          <a:lstStyle/>
          <a:p>
            <a:r>
              <a:rPr sz="1150" b="0">
                <a:solidFill>
                  <a:srgbClr val="2E2E2E"/>
                </a:solidFill>
                <a:latin typeface="Calibri"/>
              </a:rPr>
              <a:t>The electronics &amp; electrical segment is expected to create an incremental opportunity of US$</a:t>
            </a:r>
          </a:p>
        </p:txBody>
      </p:sp>
      <p:pic>
        <p:nvPicPr>
          <p:cNvPr id="36" name="Picture 35" descr="lock.png"/>
          <p:cNvPicPr>
            <a:picLocks noChangeAspect="1"/>
          </p:cNvPicPr>
          <p:nvPr/>
        </p:nvPicPr>
        <p:blipFill>
          <a:blip r:embed="rId7"/>
          <a:stretch>
            <a:fillRect/>
          </a:stretch>
        </p:blipFill>
        <p:spPr>
          <a:xfrm>
            <a:off x="6291470" y="5204904"/>
            <a:ext cx="134549" cy="195707"/>
          </a:xfrm>
          <a:prstGeom prst="rect">
            <a:avLst/>
          </a:prstGeom>
        </p:spPr>
      </p:pic>
      <p:sp>
        <p:nvSpPr>
          <p:cNvPr id="37" name="TextBox 36"/>
          <p:cNvSpPr txBox="1"/>
          <p:nvPr/>
        </p:nvSpPr>
        <p:spPr>
          <a:xfrm>
            <a:off x="6466579" y="5215127"/>
            <a:ext cx="4934929"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2026 to 2036. The glassware,</a:t>
            </a:r>
          </a:p>
        </p:txBody>
      </p:sp>
      <p:sp>
        <p:nvSpPr>
          <p:cNvPr id="38" name="TextBox 37"/>
          <p:cNvSpPr txBox="1"/>
          <p:nvPr/>
        </p:nvSpPr>
        <p:spPr>
          <a:xfrm>
            <a:off x="6305550" y="5390387"/>
            <a:ext cx="5412444" cy="194310"/>
          </a:xfrm>
          <a:prstGeom prst="rect">
            <a:avLst/>
          </a:prstGeom>
          <a:noFill/>
        </p:spPr>
        <p:txBody>
          <a:bodyPr wrap="none" lIns="0" tIns="0" rIns="0" bIns="0">
            <a:spAutoFit/>
          </a:bodyPr>
          <a:lstStyle/>
          <a:p>
            <a:r>
              <a:rPr sz="1150" b="0">
                <a:solidFill>
                  <a:srgbClr val="2E2E2E"/>
                </a:solidFill>
                <a:latin typeface="Calibri"/>
              </a:rPr>
              <a:t>ceramics &amp; home goods segment is expected to create an incremental opportunity of US$</a:t>
            </a:r>
          </a:p>
        </p:txBody>
      </p:sp>
      <p:pic>
        <p:nvPicPr>
          <p:cNvPr id="39" name="Picture 38" descr="lock.png"/>
          <p:cNvPicPr>
            <a:picLocks noChangeAspect="1"/>
          </p:cNvPicPr>
          <p:nvPr/>
        </p:nvPicPr>
        <p:blipFill>
          <a:blip r:embed="rId7"/>
          <a:stretch>
            <a:fillRect/>
          </a:stretch>
        </p:blipFill>
        <p:spPr>
          <a:xfrm>
            <a:off x="6291470" y="5555424"/>
            <a:ext cx="134549" cy="195707"/>
          </a:xfrm>
          <a:prstGeom prst="rect">
            <a:avLst/>
          </a:prstGeom>
        </p:spPr>
      </p:pic>
      <p:sp>
        <p:nvSpPr>
          <p:cNvPr id="40" name="TextBox 39"/>
          <p:cNvSpPr txBox="1"/>
          <p:nvPr/>
        </p:nvSpPr>
        <p:spPr>
          <a:xfrm>
            <a:off x="6466579" y="5565647"/>
            <a:ext cx="4026966" cy="194310"/>
          </a:xfrm>
          <a:prstGeom prst="rect">
            <a:avLst/>
          </a:prstGeom>
          <a:noFill/>
        </p:spPr>
        <p:txBody>
          <a:bodyPr wrap="none" lIns="0" tIns="0" rIns="0" bIns="0">
            <a:spAutoFit/>
          </a:bodyPr>
          <a:lstStyle/>
          <a:p>
            <a:r>
              <a:rPr sz="1150" b="0">
                <a:solidFill>
                  <a:srgbClr val="2E2E2E"/>
                </a:solidFill>
                <a:latin typeface="Calibri"/>
              </a:rPr>
              <a:t>Mn for the overall corrugated partition market from 2026 to 2036.</a:t>
            </a:r>
          </a:p>
        </p:txBody>
      </p:sp>
      <p:sp>
        <p:nvSpPr>
          <p:cNvPr id="41"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Volume Analysis, By End Use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End Use,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4229100"/>
          </a:xfrm>
          <a:prstGeom prst="roundRect">
            <a:avLst>
              <a:gd name="adj" fmla="val 18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By End Use (MT)</a:t>
            </a:r>
          </a:p>
        </p:txBody>
      </p:sp>
      <p:graphicFrame>
        <p:nvGraphicFramePr>
          <p:cNvPr id="13" name="Table 12"/>
          <p:cNvGraphicFramePr>
            <a:graphicFrameLocks noGrp="1"/>
          </p:cNvGraphicFramePr>
          <p:nvPr/>
        </p:nvGraphicFramePr>
        <p:xfrm>
          <a:off x="152400" y="1238250"/>
          <a:ext cx="11887208" cy="3762371"/>
        </p:xfrm>
        <a:graphic>
          <a:graphicData uri="http://schemas.openxmlformats.org/drawingml/2006/table">
            <a:tbl>
              <a:tblPr>
                <a:tableStyleId>{5C22544A-7EE6-4342-B048-85BDC9FD1C3A}</a:tableStyleId>
              </a:tblPr>
              <a:tblGrid>
                <a:gridCol w="1239860">
                  <a:extLst>
                    <a:ext uri="{9D8B030D-6E8A-4147-A177-3AD203B41FA5}">
                      <a16:colId xmlns:a16="http://schemas.microsoft.com/office/drawing/2014/main" val="20000"/>
                    </a:ext>
                  </a:extLst>
                </a:gridCol>
                <a:gridCol w="641033">
                  <a:extLst>
                    <a:ext uri="{9D8B030D-6E8A-4147-A177-3AD203B41FA5}">
                      <a16:colId xmlns:a16="http://schemas.microsoft.com/office/drawing/2014/main" val="20001"/>
                    </a:ext>
                  </a:extLst>
                </a:gridCol>
                <a:gridCol w="641033">
                  <a:extLst>
                    <a:ext uri="{9D8B030D-6E8A-4147-A177-3AD203B41FA5}">
                      <a16:colId xmlns:a16="http://schemas.microsoft.com/office/drawing/2014/main" val="20002"/>
                    </a:ext>
                  </a:extLst>
                </a:gridCol>
                <a:gridCol w="641033">
                  <a:extLst>
                    <a:ext uri="{9D8B030D-6E8A-4147-A177-3AD203B41FA5}">
                      <a16:colId xmlns:a16="http://schemas.microsoft.com/office/drawing/2014/main" val="20003"/>
                    </a:ext>
                  </a:extLst>
                </a:gridCol>
                <a:gridCol w="641033">
                  <a:extLst>
                    <a:ext uri="{9D8B030D-6E8A-4147-A177-3AD203B41FA5}">
                      <a16:colId xmlns:a16="http://schemas.microsoft.com/office/drawing/2014/main" val="20004"/>
                    </a:ext>
                  </a:extLst>
                </a:gridCol>
                <a:gridCol w="641033">
                  <a:extLst>
                    <a:ext uri="{9D8B030D-6E8A-4147-A177-3AD203B41FA5}">
                      <a16:colId xmlns:a16="http://schemas.microsoft.com/office/drawing/2014/main" val="20005"/>
                    </a:ext>
                  </a:extLst>
                </a:gridCol>
                <a:gridCol w="641033">
                  <a:extLst>
                    <a:ext uri="{9D8B030D-6E8A-4147-A177-3AD203B41FA5}">
                      <a16:colId xmlns:a16="http://schemas.microsoft.com/office/drawing/2014/main" val="20006"/>
                    </a:ext>
                  </a:extLst>
                </a:gridCol>
                <a:gridCol w="641033">
                  <a:extLst>
                    <a:ext uri="{9D8B030D-6E8A-4147-A177-3AD203B41FA5}">
                      <a16:colId xmlns:a16="http://schemas.microsoft.com/office/drawing/2014/main" val="20007"/>
                    </a:ext>
                  </a:extLst>
                </a:gridCol>
                <a:gridCol w="641033">
                  <a:extLst>
                    <a:ext uri="{9D8B030D-6E8A-4147-A177-3AD203B41FA5}">
                      <a16:colId xmlns:a16="http://schemas.microsoft.com/office/drawing/2014/main" val="20008"/>
                    </a:ext>
                  </a:extLst>
                </a:gridCol>
                <a:gridCol w="641033">
                  <a:extLst>
                    <a:ext uri="{9D8B030D-6E8A-4147-A177-3AD203B41FA5}">
                      <a16:colId xmlns:a16="http://schemas.microsoft.com/office/drawing/2014/main" val="20009"/>
                    </a:ext>
                  </a:extLst>
                </a:gridCol>
                <a:gridCol w="641033">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390820">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End Use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246745">
                <a:tc>
                  <a:txBody>
                    <a:bodyPr/>
                    <a:lstStyle/>
                    <a:p>
                      <a:pPr algn="l"/>
                      <a:r>
                        <a:rPr sz="1100" b="1">
                          <a:solidFill>
                            <a:srgbClr val="2E2E2E"/>
                          </a:solidFill>
                          <a:latin typeface="Calibri"/>
                        </a:rPr>
                        <a:t>Food &amp; Beverage</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439530">
                <a:tc>
                  <a:txBody>
                    <a:bodyPr/>
                    <a:lstStyle/>
                    <a:p>
                      <a:pPr algn="l"/>
                      <a:r>
                        <a:rPr sz="1100" b="1">
                          <a:solidFill>
                            <a:srgbClr val="2E2E2E"/>
                          </a:solidFill>
                          <a:latin typeface="Calibri"/>
                        </a:rPr>
                        <a:t>Pharmaceuticals &amp;</a:t>
                      </a:r>
                      <a:endParaRPr sz="1100"/>
                    </a:p>
                    <a:p>
                      <a:pPr algn="l"/>
                      <a:r>
                        <a:rPr sz="1100" b="1">
                          <a:solidFill>
                            <a:srgbClr val="2E2E2E"/>
                          </a:solidFill>
                          <a:latin typeface="Calibri"/>
                        </a:rPr>
                        <a:t>Healthcare</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439530">
                <a:tc>
                  <a:txBody>
                    <a:bodyPr/>
                    <a:lstStyle/>
                    <a:p>
                      <a:pPr algn="l"/>
                      <a:r>
                        <a:rPr sz="1100" b="1">
                          <a:solidFill>
                            <a:srgbClr val="2E2E2E"/>
                          </a:solidFill>
                          <a:latin typeface="Calibri"/>
                        </a:rPr>
                        <a:t>Personal Care &amp;</a:t>
                      </a:r>
                      <a:endParaRPr sz="1100"/>
                    </a:p>
                    <a:p>
                      <a:pPr algn="l"/>
                      <a:r>
                        <a:rPr sz="1100" b="1">
                          <a:solidFill>
                            <a:srgbClr val="2E2E2E"/>
                          </a:solidFill>
                          <a:latin typeface="Calibri"/>
                        </a:rPr>
                        <a:t>Cosmetics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3"/>
                  </a:ext>
                </a:extLst>
              </a:tr>
              <a:tr h="439530">
                <a:tc>
                  <a:txBody>
                    <a:bodyPr/>
                    <a:lstStyle/>
                    <a:p>
                      <a:pPr algn="l"/>
                      <a:r>
                        <a:rPr sz="1100" b="1">
                          <a:solidFill>
                            <a:srgbClr val="2E2E2E"/>
                          </a:solidFill>
                          <a:latin typeface="Calibri"/>
                        </a:rPr>
                        <a:t>Electronics &amp;</a:t>
                      </a:r>
                      <a:endParaRPr sz="1100"/>
                    </a:p>
                    <a:p>
                      <a:pPr algn="l"/>
                      <a:r>
                        <a:rPr sz="1100" b="1">
                          <a:solidFill>
                            <a:srgbClr val="2E2E2E"/>
                          </a:solidFill>
                          <a:latin typeface="Calibri"/>
                        </a:rPr>
                        <a:t>Electrical</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4"/>
                  </a:ext>
                </a:extLst>
              </a:tr>
              <a:tr h="632317">
                <a:tc>
                  <a:txBody>
                    <a:bodyPr/>
                    <a:lstStyle/>
                    <a:p>
                      <a:pPr algn="l"/>
                      <a:r>
                        <a:rPr sz="1100" b="1">
                          <a:solidFill>
                            <a:srgbClr val="2E2E2E"/>
                          </a:solidFill>
                          <a:latin typeface="Calibri"/>
                        </a:rPr>
                        <a:t>Automotive &amp;</a:t>
                      </a:r>
                      <a:endParaRPr sz="1100"/>
                    </a:p>
                    <a:p>
                      <a:pPr algn="l"/>
                      <a:r>
                        <a:rPr sz="1100" b="1">
                          <a:solidFill>
                            <a:srgbClr val="2E2E2E"/>
                          </a:solidFill>
                          <a:latin typeface="Calibri"/>
                        </a:rPr>
                        <a:t>Industrial</a:t>
                      </a:r>
                      <a:endParaRPr sz="1100"/>
                    </a:p>
                    <a:p>
                      <a:pPr algn="l"/>
                      <a:r>
                        <a:rPr sz="1100" b="1">
                          <a:solidFill>
                            <a:srgbClr val="2E2E2E"/>
                          </a:solidFill>
                          <a:latin typeface="Calibri"/>
                        </a:rPr>
                        <a:t>Components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5"/>
                  </a:ext>
                </a:extLst>
              </a:tr>
              <a:tr h="632317">
                <a:tc>
                  <a:txBody>
                    <a:bodyPr/>
                    <a:lstStyle/>
                    <a:p>
                      <a:pPr algn="l"/>
                      <a:r>
                        <a:rPr sz="1100" b="1">
                          <a:solidFill>
                            <a:srgbClr val="2E2E2E"/>
                          </a:solidFill>
                          <a:latin typeface="Calibri"/>
                        </a:rPr>
                        <a:t>Glassware,</a:t>
                      </a:r>
                      <a:endParaRPr sz="1100"/>
                    </a:p>
                    <a:p>
                      <a:pPr algn="l"/>
                      <a:r>
                        <a:rPr sz="1100" b="1">
                          <a:solidFill>
                            <a:srgbClr val="2E2E2E"/>
                          </a:solidFill>
                          <a:latin typeface="Calibri"/>
                        </a:rPr>
                        <a:t>Ceramics &amp; Home</a:t>
                      </a:r>
                      <a:endParaRPr sz="1100"/>
                    </a:p>
                    <a:p>
                      <a:pPr algn="l"/>
                      <a:r>
                        <a:rPr sz="1100" b="1">
                          <a:solidFill>
                            <a:srgbClr val="2E2E2E"/>
                          </a:solidFill>
                          <a:latin typeface="Calibri"/>
                        </a:rPr>
                        <a:t>Goods</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6"/>
                  </a:ext>
                </a:extLst>
              </a:tr>
              <a:tr h="246745">
                <a:tc>
                  <a:txBody>
                    <a:bodyPr/>
                    <a:lstStyle/>
                    <a:p>
                      <a:pPr algn="l"/>
                      <a:r>
                        <a:rPr sz="1100" b="1">
                          <a:solidFill>
                            <a:srgbClr val="2E2E2E"/>
                          </a:solidFill>
                          <a:latin typeface="Calibri"/>
                        </a:rPr>
                        <a:t>Others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7"/>
                  </a:ext>
                </a:extLst>
              </a:tr>
              <a:tr h="246745">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8"/>
                  </a:ext>
                </a:extLst>
              </a:tr>
            </a:tbl>
          </a:graphicData>
        </a:graphic>
      </p:graphicFrame>
      <p:sp>
        <p:nvSpPr>
          <p:cNvPr id="14" name="TextBox 13"/>
          <p:cNvSpPr txBox="1"/>
          <p:nvPr/>
        </p:nvSpPr>
        <p:spPr>
          <a:xfrm>
            <a:off x="219075" y="50101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343525"/>
            <a:ext cx="11906250"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5429250"/>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Volume Analysis, By End Use</a:t>
            </a:r>
          </a:p>
        </p:txBody>
      </p:sp>
      <p:sp>
        <p:nvSpPr>
          <p:cNvPr id="17" name="Rectangle 16"/>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5753100"/>
            <a:ext cx="11639550" cy="800100"/>
          </a:xfrm>
          <a:prstGeom prst="rect">
            <a:avLst/>
          </a:prstGeom>
          <a:noFill/>
        </p:spPr>
        <p:txBody>
          <a:bodyPr wrap="square" lIns="0" tIns="9525" rIns="19050" bIns="9525">
            <a:spAutoFit/>
          </a:bodyPr>
          <a:lstStyle/>
          <a:p>
            <a:pPr algn="l">
              <a:lnSpc>
                <a:spcPct val="100000"/>
              </a:lnSpc>
              <a:spcBef>
                <a:spcPts val="0"/>
              </a:spcBef>
              <a:spcAft>
                <a:spcPts val="300"/>
              </a:spcAft>
            </a:pPr>
            <a:endParaRPr/>
          </a:p>
          <a:p>
            <a:pPr algn="l">
              <a:lnSpc>
                <a:spcPct val="100000"/>
              </a:lnSpc>
              <a:spcBef>
                <a:spcPts val="0"/>
              </a:spcBef>
              <a:spcAft>
                <a:spcPts val="3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3072193"/>
            <a:ext cx="366712" cy="533400"/>
          </a:xfrm>
          <a:prstGeom prst="rect">
            <a:avLst/>
          </a:prstGeom>
        </p:spPr>
      </p:pic>
      <p:sp>
        <p:nvSpPr>
          <p:cNvPr id="21" name="TextBox 20"/>
          <p:cNvSpPr txBox="1"/>
          <p:nvPr/>
        </p:nvSpPr>
        <p:spPr>
          <a:xfrm>
            <a:off x="276225" y="5762625"/>
            <a:ext cx="3927226" cy="186689"/>
          </a:xfrm>
          <a:prstGeom prst="rect">
            <a:avLst/>
          </a:prstGeom>
          <a:noFill/>
        </p:spPr>
        <p:txBody>
          <a:bodyPr wrap="none" lIns="0" tIns="0" rIns="0" bIns="0">
            <a:spAutoFit/>
          </a:bodyPr>
          <a:lstStyle/>
          <a:p>
            <a:r>
              <a:rPr sz="1100" b="0">
                <a:solidFill>
                  <a:srgbClr val="2E2E2E"/>
                </a:solidFill>
                <a:latin typeface="Calibri"/>
              </a:rPr>
              <a:t>Glassware, ceramics &amp; home goods segment is projected to register</a:t>
            </a:r>
          </a:p>
        </p:txBody>
      </p:sp>
      <p:pic>
        <p:nvPicPr>
          <p:cNvPr id="22" name="Picture 21" descr="lock.png"/>
          <p:cNvPicPr>
            <a:picLocks noChangeAspect="1"/>
          </p:cNvPicPr>
          <p:nvPr/>
        </p:nvPicPr>
        <p:blipFill>
          <a:blip r:embed="rId4"/>
          <a:stretch>
            <a:fillRect/>
          </a:stretch>
        </p:blipFill>
        <p:spPr>
          <a:xfrm>
            <a:off x="4151503" y="5752845"/>
            <a:ext cx="128699" cy="187198"/>
          </a:xfrm>
          <a:prstGeom prst="rect">
            <a:avLst/>
          </a:prstGeom>
        </p:spPr>
      </p:pic>
      <p:sp>
        <p:nvSpPr>
          <p:cNvPr id="23" name="TextBox 22"/>
          <p:cNvSpPr txBox="1"/>
          <p:nvPr/>
        </p:nvSpPr>
        <p:spPr>
          <a:xfrm>
            <a:off x="4318999" y="5762625"/>
            <a:ext cx="7523683" cy="186689"/>
          </a:xfrm>
          <a:prstGeom prst="rect">
            <a:avLst/>
          </a:prstGeom>
          <a:noFill/>
        </p:spPr>
        <p:txBody>
          <a:bodyPr wrap="none" lIns="0" tIns="0" rIns="0" bIns="0">
            <a:spAutoFit/>
          </a:bodyPr>
          <a:lstStyle/>
          <a:p>
            <a:r>
              <a:rPr sz="1100" b="0">
                <a:solidFill>
                  <a:srgbClr val="2E2E2E"/>
                </a:solidFill>
                <a:latin typeface="Calibri"/>
              </a:rPr>
              <a:t>X higher volume than others segment in 2036. Among corrugated partition by end use, electronics &amp; electrical segment is expected</a:t>
            </a:r>
          </a:p>
        </p:txBody>
      </p:sp>
      <p:sp>
        <p:nvSpPr>
          <p:cNvPr id="24" name="TextBox 23"/>
          <p:cNvSpPr txBox="1"/>
          <p:nvPr/>
        </p:nvSpPr>
        <p:spPr>
          <a:xfrm>
            <a:off x="276225" y="5930265"/>
            <a:ext cx="1827344" cy="186689"/>
          </a:xfrm>
          <a:prstGeom prst="rect">
            <a:avLst/>
          </a:prstGeom>
          <a:noFill/>
        </p:spPr>
        <p:txBody>
          <a:bodyPr wrap="none" lIns="0" tIns="0" rIns="0" bIns="0">
            <a:spAutoFit/>
          </a:bodyPr>
          <a:lstStyle/>
          <a:p>
            <a:r>
              <a:rPr sz="110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051620" y="5920485"/>
            <a:ext cx="128699" cy="187198"/>
          </a:xfrm>
          <a:prstGeom prst="rect">
            <a:avLst/>
          </a:prstGeom>
        </p:spPr>
      </p:pic>
      <p:sp>
        <p:nvSpPr>
          <p:cNvPr id="26" name="TextBox 25"/>
          <p:cNvSpPr txBox="1"/>
          <p:nvPr/>
        </p:nvSpPr>
        <p:spPr>
          <a:xfrm>
            <a:off x="2219116" y="5930265"/>
            <a:ext cx="1484659" cy="186689"/>
          </a:xfrm>
          <a:prstGeom prst="rect">
            <a:avLst/>
          </a:prstGeom>
          <a:noFill/>
        </p:spPr>
        <p:txBody>
          <a:bodyPr wrap="none" lIns="0" tIns="0" rIns="0" bIns="0">
            <a:spAutoFit/>
          </a:bodyPr>
          <a:lstStyle/>
          <a:p>
            <a:r>
              <a:rPr sz="1100" b="0">
                <a:solidFill>
                  <a:srgbClr val="2E2E2E"/>
                </a:solidFill>
                <a:latin typeface="Calibri"/>
              </a:rPr>
              <a:t>over the forecast period.</a:t>
            </a:r>
          </a:p>
        </p:txBody>
      </p:sp>
      <p:sp>
        <p:nvSpPr>
          <p:cNvPr id="27" name="TextBox 26"/>
          <p:cNvSpPr txBox="1"/>
          <p:nvPr/>
        </p:nvSpPr>
        <p:spPr>
          <a:xfrm>
            <a:off x="276225" y="6148197"/>
            <a:ext cx="9353425" cy="186689"/>
          </a:xfrm>
          <a:prstGeom prst="rect">
            <a:avLst/>
          </a:prstGeom>
          <a:noFill/>
        </p:spPr>
        <p:txBody>
          <a:bodyPr wrap="none" lIns="0" tIns="0" rIns="0" bIns="0">
            <a:spAutoFit/>
          </a:bodyPr>
          <a:lstStyle/>
          <a:p>
            <a:r>
              <a:rPr sz="1100" b="0">
                <a:solidFill>
                  <a:srgbClr val="2E2E2E"/>
                </a:solidFill>
                <a:latin typeface="Calibri"/>
              </a:rPr>
              <a:t>In terms of volume share by end use, the glassware, ceramics &amp; home goods segment is expected to dominate the market, maintaining its share and accounting for</a:t>
            </a:r>
          </a:p>
        </p:txBody>
      </p:sp>
      <p:pic>
        <p:nvPicPr>
          <p:cNvPr id="28" name="Picture 27" descr="lock.png"/>
          <p:cNvPicPr>
            <a:picLocks noChangeAspect="1"/>
          </p:cNvPicPr>
          <p:nvPr/>
        </p:nvPicPr>
        <p:blipFill>
          <a:blip r:embed="rId4"/>
          <a:stretch>
            <a:fillRect/>
          </a:stretch>
        </p:blipFill>
        <p:spPr>
          <a:xfrm>
            <a:off x="9577702" y="6138417"/>
            <a:ext cx="128699" cy="187198"/>
          </a:xfrm>
          <a:prstGeom prst="rect">
            <a:avLst/>
          </a:prstGeom>
        </p:spPr>
      </p:pic>
      <p:sp>
        <p:nvSpPr>
          <p:cNvPr id="29" name="TextBox 28"/>
          <p:cNvSpPr txBox="1"/>
          <p:nvPr/>
        </p:nvSpPr>
        <p:spPr>
          <a:xfrm>
            <a:off x="9745198" y="6148197"/>
            <a:ext cx="1151235" cy="186689"/>
          </a:xfrm>
          <a:prstGeom prst="rect">
            <a:avLst/>
          </a:prstGeom>
          <a:noFill/>
        </p:spPr>
        <p:txBody>
          <a:bodyPr wrap="none" lIns="0" tIns="0" rIns="0" bIns="0">
            <a:spAutoFit/>
          </a:bodyPr>
          <a:lstStyle/>
          <a:p>
            <a:r>
              <a:rPr sz="1100" b="0">
                <a:solidFill>
                  <a:srgbClr val="2E2E2E"/>
                </a:solidFill>
                <a:latin typeface="Calibri"/>
              </a:rPr>
              <a:t>share by 2036. The</a:t>
            </a:r>
          </a:p>
        </p:txBody>
      </p:sp>
      <p:sp>
        <p:nvSpPr>
          <p:cNvPr id="30" name="TextBox 29"/>
          <p:cNvSpPr txBox="1"/>
          <p:nvPr/>
        </p:nvSpPr>
        <p:spPr>
          <a:xfrm>
            <a:off x="276225" y="6315837"/>
            <a:ext cx="3385889" cy="186689"/>
          </a:xfrm>
          <a:prstGeom prst="rect">
            <a:avLst/>
          </a:prstGeom>
          <a:noFill/>
        </p:spPr>
        <p:txBody>
          <a:bodyPr wrap="none" lIns="0" tIns="0" rIns="0" bIns="0">
            <a:spAutoFit/>
          </a:bodyPr>
          <a:lstStyle/>
          <a:p>
            <a:r>
              <a:rPr sz="1100" b="0">
                <a:solidFill>
                  <a:srgbClr val="2E2E2E"/>
                </a:solidFill>
                <a:latin typeface="Calibri"/>
              </a:rPr>
              <a:t>pharmaceuticals &amp; healthcare segment is expected to lose</a:t>
            </a:r>
          </a:p>
        </p:txBody>
      </p:sp>
      <p:pic>
        <p:nvPicPr>
          <p:cNvPr id="31" name="Picture 30" descr="lock.png"/>
          <p:cNvPicPr>
            <a:picLocks noChangeAspect="1"/>
          </p:cNvPicPr>
          <p:nvPr/>
        </p:nvPicPr>
        <p:blipFill>
          <a:blip r:embed="rId4"/>
          <a:stretch>
            <a:fillRect/>
          </a:stretch>
        </p:blipFill>
        <p:spPr>
          <a:xfrm>
            <a:off x="3610166" y="6306058"/>
            <a:ext cx="128699" cy="187198"/>
          </a:xfrm>
          <a:prstGeom prst="rect">
            <a:avLst/>
          </a:prstGeom>
        </p:spPr>
      </p:pic>
      <p:sp>
        <p:nvSpPr>
          <p:cNvPr id="32" name="TextBox 31"/>
          <p:cNvSpPr txBox="1"/>
          <p:nvPr/>
        </p:nvSpPr>
        <p:spPr>
          <a:xfrm>
            <a:off x="3777661" y="6315837"/>
            <a:ext cx="2526952" cy="186689"/>
          </a:xfrm>
          <a:prstGeom prst="rect">
            <a:avLst/>
          </a:prstGeom>
          <a:noFill/>
        </p:spPr>
        <p:txBody>
          <a:bodyPr wrap="none" lIns="0" tIns="0" rIns="0" bIns="0">
            <a:spAutoFit/>
          </a:bodyPr>
          <a:lstStyle/>
          <a:p>
            <a:r>
              <a:rPr sz="1100" b="0">
                <a:solidFill>
                  <a:srgbClr val="2E2E2E"/>
                </a:solidFill>
                <a:latin typeface="Calibri"/>
              </a:rPr>
              <a:t>BPS over the forecast period to account for</a:t>
            </a:r>
          </a:p>
        </p:txBody>
      </p:sp>
      <p:pic>
        <p:nvPicPr>
          <p:cNvPr id="33" name="Picture 32" descr="lock.png"/>
          <p:cNvPicPr>
            <a:picLocks noChangeAspect="1"/>
          </p:cNvPicPr>
          <p:nvPr/>
        </p:nvPicPr>
        <p:blipFill>
          <a:blip r:embed="rId4"/>
          <a:stretch>
            <a:fillRect/>
          </a:stretch>
        </p:blipFill>
        <p:spPr>
          <a:xfrm>
            <a:off x="6252666" y="6306058"/>
            <a:ext cx="128699" cy="187198"/>
          </a:xfrm>
          <a:prstGeom prst="rect">
            <a:avLst/>
          </a:prstGeom>
        </p:spPr>
      </p:pic>
      <p:sp>
        <p:nvSpPr>
          <p:cNvPr id="34" name="TextBox 33"/>
          <p:cNvSpPr txBox="1"/>
          <p:nvPr/>
        </p:nvSpPr>
        <p:spPr>
          <a:xfrm>
            <a:off x="6420162" y="6315837"/>
            <a:ext cx="908397" cy="186689"/>
          </a:xfrm>
          <a:prstGeom prst="rect">
            <a:avLst/>
          </a:prstGeom>
          <a:noFill/>
        </p:spPr>
        <p:txBody>
          <a:bodyPr wrap="none" lIns="0" tIns="0" rIns="0" bIns="0">
            <a:spAutoFit/>
          </a:bodyPr>
          <a:lstStyle/>
          <a:p>
            <a:r>
              <a:rPr sz="1100" b="0">
                <a:solidFill>
                  <a:srgbClr val="2E2E2E"/>
                </a:solidFill>
                <a:latin typeface="Calibri"/>
              </a:rPr>
              <a:t>share by 2036.</a:t>
            </a:r>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Analysis, By End Use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End Use,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By End Use (US$ Mn)</a:t>
            </a:r>
          </a:p>
        </p:txBody>
      </p:sp>
      <p:graphicFrame>
        <p:nvGraphicFramePr>
          <p:cNvPr id="13" name="Table 12"/>
          <p:cNvGraphicFramePr>
            <a:graphicFrameLocks noGrp="1"/>
          </p:cNvGraphicFramePr>
          <p:nvPr/>
        </p:nvGraphicFramePr>
        <p:xfrm>
          <a:off x="152400" y="1238250"/>
          <a:ext cx="11887202" cy="2219326"/>
        </p:xfrm>
        <a:graphic>
          <a:graphicData uri="http://schemas.openxmlformats.org/drawingml/2006/table">
            <a:tbl>
              <a:tblPr>
                <a:tableStyleId>{5C22544A-7EE6-4342-B048-85BDC9FD1C3A}</a:tableStyleId>
              </a:tblPr>
              <a:tblGrid>
                <a:gridCol w="2384338">
                  <a:extLst>
                    <a:ext uri="{9D8B030D-6E8A-4147-A177-3AD203B41FA5}">
                      <a16:colId xmlns:a16="http://schemas.microsoft.com/office/drawing/2014/main" val="20000"/>
                    </a:ext>
                  </a:extLst>
                </a:gridCol>
                <a:gridCol w="558992">
                  <a:extLst>
                    <a:ext uri="{9D8B030D-6E8A-4147-A177-3AD203B41FA5}">
                      <a16:colId xmlns:a16="http://schemas.microsoft.com/office/drawing/2014/main" val="20001"/>
                    </a:ext>
                  </a:extLst>
                </a:gridCol>
                <a:gridCol w="558992">
                  <a:extLst>
                    <a:ext uri="{9D8B030D-6E8A-4147-A177-3AD203B41FA5}">
                      <a16:colId xmlns:a16="http://schemas.microsoft.com/office/drawing/2014/main" val="20002"/>
                    </a:ext>
                  </a:extLst>
                </a:gridCol>
                <a:gridCol w="558992">
                  <a:extLst>
                    <a:ext uri="{9D8B030D-6E8A-4147-A177-3AD203B41FA5}">
                      <a16:colId xmlns:a16="http://schemas.microsoft.com/office/drawing/2014/main" val="20003"/>
                    </a:ext>
                  </a:extLst>
                </a:gridCol>
                <a:gridCol w="558992">
                  <a:extLst>
                    <a:ext uri="{9D8B030D-6E8A-4147-A177-3AD203B41FA5}">
                      <a16:colId xmlns:a16="http://schemas.microsoft.com/office/drawing/2014/main" val="20004"/>
                    </a:ext>
                  </a:extLst>
                </a:gridCol>
                <a:gridCol w="558992">
                  <a:extLst>
                    <a:ext uri="{9D8B030D-6E8A-4147-A177-3AD203B41FA5}">
                      <a16:colId xmlns:a16="http://schemas.microsoft.com/office/drawing/2014/main" val="20005"/>
                    </a:ext>
                  </a:extLst>
                </a:gridCol>
                <a:gridCol w="558992">
                  <a:extLst>
                    <a:ext uri="{9D8B030D-6E8A-4147-A177-3AD203B41FA5}">
                      <a16:colId xmlns:a16="http://schemas.microsoft.com/office/drawing/2014/main" val="20006"/>
                    </a:ext>
                  </a:extLst>
                </a:gridCol>
                <a:gridCol w="558992">
                  <a:extLst>
                    <a:ext uri="{9D8B030D-6E8A-4147-A177-3AD203B41FA5}">
                      <a16:colId xmlns:a16="http://schemas.microsoft.com/office/drawing/2014/main" val="20007"/>
                    </a:ext>
                  </a:extLst>
                </a:gridCol>
                <a:gridCol w="558992">
                  <a:extLst>
                    <a:ext uri="{9D8B030D-6E8A-4147-A177-3AD203B41FA5}">
                      <a16:colId xmlns:a16="http://schemas.microsoft.com/office/drawing/2014/main" val="20008"/>
                    </a:ext>
                  </a:extLst>
                </a:gridCol>
                <a:gridCol w="558992">
                  <a:extLst>
                    <a:ext uri="{9D8B030D-6E8A-4147-A177-3AD203B41FA5}">
                      <a16:colId xmlns:a16="http://schemas.microsoft.com/office/drawing/2014/main" val="20009"/>
                    </a:ext>
                  </a:extLst>
                </a:gridCol>
                <a:gridCol w="558992">
                  <a:extLst>
                    <a:ext uri="{9D8B030D-6E8A-4147-A177-3AD203B41FA5}">
                      <a16:colId xmlns:a16="http://schemas.microsoft.com/office/drawing/2014/main" val="20010"/>
                    </a:ext>
                  </a:extLst>
                </a:gridCol>
                <a:gridCol w="558992">
                  <a:extLst>
                    <a:ext uri="{9D8B030D-6E8A-4147-A177-3AD203B41FA5}">
                      <a16:colId xmlns:a16="http://schemas.microsoft.com/office/drawing/2014/main" val="20011"/>
                    </a:ext>
                  </a:extLst>
                </a:gridCol>
                <a:gridCol w="558992">
                  <a:extLst>
                    <a:ext uri="{9D8B030D-6E8A-4147-A177-3AD203B41FA5}">
                      <a16:colId xmlns:a16="http://schemas.microsoft.com/office/drawing/2014/main" val="20012"/>
                    </a:ext>
                  </a:extLst>
                </a:gridCol>
                <a:gridCol w="558992">
                  <a:extLst>
                    <a:ext uri="{9D8B030D-6E8A-4147-A177-3AD203B41FA5}">
                      <a16:colId xmlns:a16="http://schemas.microsoft.com/office/drawing/2014/main" val="20013"/>
                    </a:ext>
                  </a:extLst>
                </a:gridCol>
                <a:gridCol w="558992">
                  <a:extLst>
                    <a:ext uri="{9D8B030D-6E8A-4147-A177-3AD203B41FA5}">
                      <a16:colId xmlns:a16="http://schemas.microsoft.com/office/drawing/2014/main" val="20014"/>
                    </a:ext>
                  </a:extLst>
                </a:gridCol>
                <a:gridCol w="558992">
                  <a:extLst>
                    <a:ext uri="{9D8B030D-6E8A-4147-A177-3AD203B41FA5}">
                      <a16:colId xmlns:a16="http://schemas.microsoft.com/office/drawing/2014/main" val="20015"/>
                    </a:ext>
                  </a:extLst>
                </a:gridCol>
                <a:gridCol w="558992">
                  <a:extLst>
                    <a:ext uri="{9D8B030D-6E8A-4147-A177-3AD203B41FA5}">
                      <a16:colId xmlns:a16="http://schemas.microsoft.com/office/drawing/2014/main" val="20016"/>
                    </a:ext>
                  </a:extLst>
                </a:gridCol>
                <a:gridCol w="558992">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650">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650">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650">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650">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650">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650">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650">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r h="24665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8"/>
                  </a:ext>
                </a:extLst>
              </a:tr>
            </a:tbl>
          </a:graphicData>
        </a:graphic>
      </p:graphicFrame>
      <p:sp>
        <p:nvSpPr>
          <p:cNvPr id="14" name="TextBox 13"/>
          <p:cNvSpPr txBox="1"/>
          <p:nvPr/>
        </p:nvSpPr>
        <p:spPr>
          <a:xfrm>
            <a:off x="219075" y="34671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886200"/>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Value Analysis, By End Use</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210050"/>
            <a:ext cx="11639550" cy="23431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01480" y="2204276"/>
            <a:ext cx="366712" cy="533400"/>
          </a:xfrm>
          <a:prstGeom prst="rect">
            <a:avLst/>
          </a:prstGeom>
        </p:spPr>
      </p:pic>
      <p:sp>
        <p:nvSpPr>
          <p:cNvPr id="21" name="TextBox 20"/>
          <p:cNvSpPr txBox="1"/>
          <p:nvPr/>
        </p:nvSpPr>
        <p:spPr>
          <a:xfrm>
            <a:off x="276225" y="4219575"/>
            <a:ext cx="4102273" cy="194310"/>
          </a:xfrm>
          <a:prstGeom prst="rect">
            <a:avLst/>
          </a:prstGeom>
          <a:noFill/>
        </p:spPr>
        <p:txBody>
          <a:bodyPr wrap="none" lIns="0" tIns="0" rIns="0" bIns="0">
            <a:spAutoFit/>
          </a:bodyPr>
          <a:lstStyle/>
          <a:p>
            <a:r>
              <a:rPr sz="1150" b="0">
                <a:solidFill>
                  <a:srgbClr val="2E2E2E"/>
                </a:solidFill>
                <a:latin typeface="Calibri"/>
              </a:rPr>
              <a:t>Glassware, ceramics &amp; home goods segment is projected to register</a:t>
            </a:r>
          </a:p>
        </p:txBody>
      </p:sp>
      <p:pic>
        <p:nvPicPr>
          <p:cNvPr id="22" name="Picture 21" descr="lock.png"/>
          <p:cNvPicPr>
            <a:picLocks noChangeAspect="1"/>
          </p:cNvPicPr>
          <p:nvPr/>
        </p:nvPicPr>
        <p:blipFill>
          <a:blip r:embed="rId4"/>
          <a:stretch>
            <a:fillRect/>
          </a:stretch>
        </p:blipFill>
        <p:spPr>
          <a:xfrm>
            <a:off x="4327652" y="4209351"/>
            <a:ext cx="134549" cy="195707"/>
          </a:xfrm>
          <a:prstGeom prst="rect">
            <a:avLst/>
          </a:prstGeom>
        </p:spPr>
      </p:pic>
      <p:sp>
        <p:nvSpPr>
          <p:cNvPr id="23" name="TextBox 22"/>
          <p:cNvSpPr txBox="1"/>
          <p:nvPr/>
        </p:nvSpPr>
        <p:spPr>
          <a:xfrm>
            <a:off x="4502761" y="4219575"/>
            <a:ext cx="7096583" cy="194310"/>
          </a:xfrm>
          <a:prstGeom prst="rect">
            <a:avLst/>
          </a:prstGeom>
          <a:noFill/>
        </p:spPr>
        <p:txBody>
          <a:bodyPr wrap="none" lIns="0" tIns="0" rIns="0" bIns="0">
            <a:spAutoFit/>
          </a:bodyPr>
          <a:lstStyle/>
          <a:p>
            <a:r>
              <a:rPr sz="1150" b="0">
                <a:solidFill>
                  <a:srgbClr val="2E2E2E"/>
                </a:solidFill>
                <a:latin typeface="Calibri"/>
              </a:rPr>
              <a:t>X higher value than food &amp; beverage segment in 2036. Among corrugated partition by end use, electronics &amp; electrical</a:t>
            </a:r>
          </a:p>
        </p:txBody>
      </p:sp>
      <p:sp>
        <p:nvSpPr>
          <p:cNvPr id="24" name="TextBox 23"/>
          <p:cNvSpPr txBox="1"/>
          <p:nvPr/>
        </p:nvSpPr>
        <p:spPr>
          <a:xfrm>
            <a:off x="276225" y="43948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384611"/>
            <a:ext cx="134549" cy="195707"/>
          </a:xfrm>
          <a:prstGeom prst="rect">
            <a:avLst/>
          </a:prstGeom>
        </p:spPr>
      </p:pic>
      <p:sp>
        <p:nvSpPr>
          <p:cNvPr id="26" name="TextBox 25"/>
          <p:cNvSpPr txBox="1"/>
          <p:nvPr/>
        </p:nvSpPr>
        <p:spPr>
          <a:xfrm>
            <a:off x="3557127" y="439483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622672"/>
            <a:ext cx="7611752" cy="194310"/>
          </a:xfrm>
          <a:prstGeom prst="rect">
            <a:avLst/>
          </a:prstGeom>
          <a:noFill/>
        </p:spPr>
        <p:txBody>
          <a:bodyPr wrap="none" lIns="0" tIns="0" rIns="0" bIns="0">
            <a:spAutoFit/>
          </a:bodyPr>
          <a:lstStyle/>
          <a:p>
            <a:r>
              <a:rPr sz="1150" b="0">
                <a:solidFill>
                  <a:srgbClr val="2E2E2E"/>
                </a:solidFill>
                <a:latin typeface="Calibri"/>
              </a:rPr>
              <a:t>In terms of value share by end use, the glassware, ceramics &amp; home goods segment is expected to dominate the market, losing</a:t>
            </a:r>
          </a:p>
        </p:txBody>
      </p:sp>
      <p:pic>
        <p:nvPicPr>
          <p:cNvPr id="28" name="Picture 27" descr="lock.png"/>
          <p:cNvPicPr>
            <a:picLocks noChangeAspect="1"/>
          </p:cNvPicPr>
          <p:nvPr/>
        </p:nvPicPr>
        <p:blipFill>
          <a:blip r:embed="rId4"/>
          <a:stretch>
            <a:fillRect/>
          </a:stretch>
        </p:blipFill>
        <p:spPr>
          <a:xfrm>
            <a:off x="7837131" y="4612449"/>
            <a:ext cx="134549" cy="195707"/>
          </a:xfrm>
          <a:prstGeom prst="rect">
            <a:avLst/>
          </a:prstGeom>
        </p:spPr>
      </p:pic>
      <p:sp>
        <p:nvSpPr>
          <p:cNvPr id="29" name="TextBox 28"/>
          <p:cNvSpPr txBox="1"/>
          <p:nvPr/>
        </p:nvSpPr>
        <p:spPr>
          <a:xfrm>
            <a:off x="8012240" y="4622672"/>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07383" y="4612449"/>
            <a:ext cx="134549" cy="195707"/>
          </a:xfrm>
          <a:prstGeom prst="rect">
            <a:avLst/>
          </a:prstGeom>
        </p:spPr>
      </p:pic>
      <p:sp>
        <p:nvSpPr>
          <p:cNvPr id="31" name="TextBox 30"/>
          <p:cNvSpPr txBox="1"/>
          <p:nvPr/>
        </p:nvSpPr>
        <p:spPr>
          <a:xfrm>
            <a:off x="9582493" y="4622672"/>
            <a:ext cx="1616856" cy="194310"/>
          </a:xfrm>
          <a:prstGeom prst="rect">
            <a:avLst/>
          </a:prstGeom>
          <a:noFill/>
        </p:spPr>
        <p:txBody>
          <a:bodyPr wrap="none" lIns="0" tIns="0" rIns="0" bIns="0">
            <a:spAutoFit/>
          </a:bodyPr>
          <a:lstStyle/>
          <a:p>
            <a:r>
              <a:rPr sz="1150" b="0">
                <a:solidFill>
                  <a:srgbClr val="2E2E2E"/>
                </a:solidFill>
                <a:latin typeface="Calibri"/>
              </a:rPr>
              <a:t>share by 2036. The others</a:t>
            </a:r>
          </a:p>
        </p:txBody>
      </p:sp>
      <p:sp>
        <p:nvSpPr>
          <p:cNvPr id="32" name="TextBox 31"/>
          <p:cNvSpPr txBox="1"/>
          <p:nvPr/>
        </p:nvSpPr>
        <p:spPr>
          <a:xfrm>
            <a:off x="276225" y="4797932"/>
            <a:ext cx="1725538" cy="194310"/>
          </a:xfrm>
          <a:prstGeom prst="rect">
            <a:avLst/>
          </a:prstGeom>
          <a:noFill/>
        </p:spPr>
        <p:txBody>
          <a:bodyPr wrap="none" lIns="0" tIns="0" r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4787709"/>
            <a:ext cx="134549" cy="195707"/>
          </a:xfrm>
          <a:prstGeom prst="rect">
            <a:avLst/>
          </a:prstGeom>
        </p:spPr>
      </p:pic>
      <p:sp>
        <p:nvSpPr>
          <p:cNvPr id="34" name="TextBox 33"/>
          <p:cNvSpPr txBox="1"/>
          <p:nvPr/>
        </p:nvSpPr>
        <p:spPr>
          <a:xfrm>
            <a:off x="2126026" y="4797932"/>
            <a:ext cx="2638350" cy="194310"/>
          </a:xfrm>
          <a:prstGeom prst="rect">
            <a:avLst/>
          </a:prstGeom>
          <a:noFill/>
        </p:spPr>
        <p:txBody>
          <a:bodyPr wrap="none" lIns="0" tIns="0" r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4787709"/>
            <a:ext cx="134549" cy="195707"/>
          </a:xfrm>
          <a:prstGeom prst="rect">
            <a:avLst/>
          </a:prstGeom>
        </p:spPr>
      </p:pic>
      <p:sp>
        <p:nvSpPr>
          <p:cNvPr id="36" name="TextBox 35"/>
          <p:cNvSpPr txBox="1"/>
          <p:nvPr/>
        </p:nvSpPr>
        <p:spPr>
          <a:xfrm>
            <a:off x="4888640" y="4797932"/>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&amp; Share Shift, By End Use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End Use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Composition, By End Use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1766564"/>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5090922" y="17618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1685601"/>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Personal Care &amp; Cosmetics</a:t>
            </a:r>
          </a:p>
        </p:txBody>
      </p:sp>
      <p:sp>
        <p:nvSpPr>
          <p:cNvPr id="19" name="BPS Value 1"/>
          <p:cNvSpPr txBox="1"/>
          <p:nvPr/>
        </p:nvSpPr>
        <p:spPr>
          <a:xfrm>
            <a:off x="6896100" y="1747514"/>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928997" y="2088614"/>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208385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2007651"/>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Pharmaceuticals &amp; Healthcare</a:t>
            </a:r>
          </a:p>
        </p:txBody>
      </p:sp>
      <p:sp>
        <p:nvSpPr>
          <p:cNvPr id="23" name="BPS Value 2"/>
          <p:cNvSpPr txBox="1"/>
          <p:nvPr/>
        </p:nvSpPr>
        <p:spPr>
          <a:xfrm>
            <a:off x="6896100" y="2069564"/>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FMI Legend Chip"/>
          <p:cNvSpPr/>
          <p:nvPr/>
        </p:nvSpPr>
        <p:spPr>
          <a:xfrm>
            <a:off x="4928997" y="265084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Isosceles Triangle 24"/>
          <p:cNvSpPr/>
          <p:nvPr/>
        </p:nvSpPr>
        <p:spPr>
          <a:xfrm rot="10800000">
            <a:off x="5090922" y="264608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BPS Name 3"/>
          <p:cNvSpPr txBox="1"/>
          <p:nvPr/>
        </p:nvSpPr>
        <p:spPr>
          <a:xfrm>
            <a:off x="5233797" y="2569885"/>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Automotive &amp; Industrial Components</a:t>
            </a:r>
          </a:p>
        </p:txBody>
      </p:sp>
      <p:sp>
        <p:nvSpPr>
          <p:cNvPr id="27" name="BPS Value 3"/>
          <p:cNvSpPr txBox="1"/>
          <p:nvPr/>
        </p:nvSpPr>
        <p:spPr>
          <a:xfrm>
            <a:off x="6896100" y="2631797"/>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8" name="FMI Legend Chip"/>
          <p:cNvSpPr/>
          <p:nvPr/>
        </p:nvSpPr>
        <p:spPr>
          <a:xfrm>
            <a:off x="4928997" y="3339340"/>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Isosceles Triangle 28"/>
          <p:cNvSpPr/>
          <p:nvPr/>
        </p:nvSpPr>
        <p:spPr>
          <a:xfrm>
            <a:off x="5090922" y="333457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BPS Name 4"/>
          <p:cNvSpPr txBox="1"/>
          <p:nvPr/>
        </p:nvSpPr>
        <p:spPr>
          <a:xfrm>
            <a:off x="5233797" y="3258377"/>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Electronics &amp; Electrical</a:t>
            </a:r>
          </a:p>
        </p:txBody>
      </p:sp>
      <p:sp>
        <p:nvSpPr>
          <p:cNvPr id="31" name="BPS Value 4"/>
          <p:cNvSpPr txBox="1"/>
          <p:nvPr/>
        </p:nvSpPr>
        <p:spPr>
          <a:xfrm>
            <a:off x="6896100" y="3320290"/>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32" name="FMI Legend Chip"/>
          <p:cNvSpPr/>
          <p:nvPr/>
        </p:nvSpPr>
        <p:spPr>
          <a:xfrm>
            <a:off x="4928997" y="405467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Isosceles Triangle 32"/>
          <p:cNvSpPr/>
          <p:nvPr/>
        </p:nvSpPr>
        <p:spPr>
          <a:xfrm rot="10800000">
            <a:off x="5090922" y="40499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BPS Name 5"/>
          <p:cNvSpPr txBox="1"/>
          <p:nvPr/>
        </p:nvSpPr>
        <p:spPr>
          <a:xfrm>
            <a:off x="5233797" y="3973711"/>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Others</a:t>
            </a:r>
          </a:p>
        </p:txBody>
      </p:sp>
      <p:sp>
        <p:nvSpPr>
          <p:cNvPr id="35" name="BPS Value 5"/>
          <p:cNvSpPr txBox="1"/>
          <p:nvPr/>
        </p:nvSpPr>
        <p:spPr>
          <a:xfrm>
            <a:off x="6896100" y="4035623"/>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36" name="FMI Legend Chip"/>
          <p:cNvSpPr/>
          <p:nvPr/>
        </p:nvSpPr>
        <p:spPr>
          <a:xfrm>
            <a:off x="4928997" y="483317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Isosceles Triangle 36"/>
          <p:cNvSpPr/>
          <p:nvPr/>
        </p:nvSpPr>
        <p:spPr>
          <a:xfrm>
            <a:off x="5090922" y="48284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BPS Name 6"/>
          <p:cNvSpPr txBox="1"/>
          <p:nvPr/>
        </p:nvSpPr>
        <p:spPr>
          <a:xfrm>
            <a:off x="5233797" y="4752216"/>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Food &amp; Beverage</a:t>
            </a:r>
          </a:p>
        </p:txBody>
      </p:sp>
      <p:sp>
        <p:nvSpPr>
          <p:cNvPr id="39" name="BPS Value 6"/>
          <p:cNvSpPr txBox="1"/>
          <p:nvPr/>
        </p:nvSpPr>
        <p:spPr>
          <a:xfrm>
            <a:off x="6896100" y="4814128"/>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40" name="FMI Legend Chip"/>
          <p:cNvSpPr/>
          <p:nvPr/>
        </p:nvSpPr>
        <p:spPr>
          <a:xfrm>
            <a:off x="4928997" y="574649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Isosceles Triangle 40"/>
          <p:cNvSpPr/>
          <p:nvPr/>
        </p:nvSpPr>
        <p:spPr>
          <a:xfrm rot="10800000">
            <a:off x="5090922" y="574173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BPS Name 7"/>
          <p:cNvSpPr txBox="1"/>
          <p:nvPr/>
        </p:nvSpPr>
        <p:spPr>
          <a:xfrm>
            <a:off x="5233797" y="5665532"/>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Glassware, Ceramics &amp; Home Goods</a:t>
            </a:r>
          </a:p>
        </p:txBody>
      </p:sp>
      <p:sp>
        <p:nvSpPr>
          <p:cNvPr id="43" name="BPS Value 7"/>
          <p:cNvSpPr txBox="1"/>
          <p:nvPr/>
        </p:nvSpPr>
        <p:spPr>
          <a:xfrm>
            <a:off x="6896100" y="5727444"/>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North America Read-out, By End Use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8" name="TextBox 4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49" name="Picture 48" descr="lock.png"/>
          <p:cNvPicPr>
            <a:picLocks noChangeAspect="1"/>
          </p:cNvPicPr>
          <p:nvPr/>
        </p:nvPicPr>
        <p:blipFill>
          <a:blip r:embed="rId5"/>
          <a:stretch>
            <a:fillRect/>
          </a:stretch>
        </p:blipFill>
        <p:spPr>
          <a:xfrm>
            <a:off x="2557843" y="3833622"/>
            <a:ext cx="275034" cy="400050"/>
          </a:xfrm>
          <a:prstGeom prst="rect">
            <a:avLst/>
          </a:prstGeom>
        </p:spPr>
      </p:pic>
      <p:sp>
        <p:nvSpPr>
          <p:cNvPr id="50" name="TextBox 49"/>
          <p:cNvSpPr txBox="1"/>
          <p:nvPr/>
        </p:nvSpPr>
        <p:spPr>
          <a:xfrm>
            <a:off x="7829550" y="1400175"/>
            <a:ext cx="3835846" cy="194310"/>
          </a:xfrm>
          <a:prstGeom prst="rect">
            <a:avLst/>
          </a:prstGeom>
          <a:noFill/>
        </p:spPr>
        <p:txBody>
          <a:bodyPr wrap="none" lIns="0" tIns="0" rIns="0" bIns="0">
            <a:spAutoFit/>
          </a:bodyPr>
          <a:lstStyle/>
          <a:p>
            <a:r>
              <a:rPr sz="1150" b="0">
                <a:solidFill>
                  <a:srgbClr val="2E2E2E"/>
                </a:solidFill>
                <a:latin typeface="Calibri"/>
              </a:rPr>
              <a:t>Among corrugated partition by end use, electronics &amp; electrical</a:t>
            </a:r>
          </a:p>
        </p:txBody>
      </p:sp>
      <p:sp>
        <p:nvSpPr>
          <p:cNvPr id="51" name="TextBox 50"/>
          <p:cNvSpPr txBox="1"/>
          <p:nvPr/>
        </p:nvSpPr>
        <p:spPr>
          <a:xfrm>
            <a:off x="7829550" y="1575435"/>
            <a:ext cx="3156639" cy="194310"/>
          </a:xfrm>
          <a:prstGeom prst="rect">
            <a:avLst/>
          </a:prstGeom>
          <a:noFill/>
        </p:spPr>
        <p:txBody>
          <a:bodyPr wrap="none" lIns="0" tIns="0" rIns="0" bIns="0">
            <a:spAutoFit/>
          </a:bodyPr>
          <a:lstStyle/>
          <a:p>
            <a:r>
              <a:rPr sz="1150" b="0">
                <a:solidFill>
                  <a:srgbClr val="2E2E2E"/>
                </a:solidFill>
                <a:latin typeface="Calibri"/>
              </a:rPr>
              <a:t>segment is expected to witness the highest CAGR of</a:t>
            </a:r>
          </a:p>
        </p:txBody>
      </p:sp>
      <p:pic>
        <p:nvPicPr>
          <p:cNvPr id="52" name="Picture 51" descr="lock.png"/>
          <p:cNvPicPr>
            <a:picLocks noChangeAspect="1"/>
          </p:cNvPicPr>
          <p:nvPr/>
        </p:nvPicPr>
        <p:blipFill>
          <a:blip r:embed="rId5"/>
          <a:stretch>
            <a:fillRect/>
          </a:stretch>
        </p:blipFill>
        <p:spPr>
          <a:xfrm>
            <a:off x="10935343" y="1565211"/>
            <a:ext cx="134549" cy="195707"/>
          </a:xfrm>
          <a:prstGeom prst="rect">
            <a:avLst/>
          </a:prstGeom>
        </p:spPr>
      </p:pic>
      <p:sp>
        <p:nvSpPr>
          <p:cNvPr id="53" name="TextBox 52"/>
          <p:cNvSpPr txBox="1"/>
          <p:nvPr/>
        </p:nvSpPr>
        <p:spPr>
          <a:xfrm>
            <a:off x="11110452" y="1575435"/>
            <a:ext cx="574538" cy="194310"/>
          </a:xfrm>
          <a:prstGeom prst="rect">
            <a:avLst/>
          </a:prstGeom>
          <a:noFill/>
        </p:spPr>
        <p:txBody>
          <a:bodyPr wrap="none" lIns="0" tIns="0" rIns="0" bIns="0">
            <a:spAutoFit/>
          </a:bodyPr>
          <a:lstStyle/>
          <a:p>
            <a:r>
              <a:rPr sz="1150" b="0">
                <a:solidFill>
                  <a:srgbClr val="2E2E2E"/>
                </a:solidFill>
                <a:latin typeface="Calibri"/>
              </a:rPr>
              <a:t>over the</a:t>
            </a:r>
          </a:p>
        </p:txBody>
      </p:sp>
      <p:sp>
        <p:nvSpPr>
          <p:cNvPr id="54" name="TextBox 53"/>
          <p:cNvSpPr txBox="1"/>
          <p:nvPr/>
        </p:nvSpPr>
        <p:spPr>
          <a:xfrm>
            <a:off x="7829550" y="1750695"/>
            <a:ext cx="4007854" cy="194310"/>
          </a:xfrm>
          <a:prstGeom prst="rect">
            <a:avLst/>
          </a:prstGeom>
          <a:noFill/>
        </p:spPr>
        <p:txBody>
          <a:bodyPr wrap="none" lIns="0" tIns="0" rIns="0" bIns="0">
            <a:spAutoFit/>
          </a:bodyPr>
          <a:lstStyle/>
          <a:p>
            <a:r>
              <a:rPr sz="1150" b="0">
                <a:solidFill>
                  <a:srgbClr val="2E2E2E"/>
                </a:solidFill>
                <a:latin typeface="Calibri"/>
              </a:rPr>
              <a:t>forecast period. In terms of value share by end use, the glassware,</a:t>
            </a:r>
          </a:p>
        </p:txBody>
      </p:sp>
      <p:sp>
        <p:nvSpPr>
          <p:cNvPr id="55" name="TextBox 54"/>
          <p:cNvSpPr txBox="1"/>
          <p:nvPr/>
        </p:nvSpPr>
        <p:spPr>
          <a:xfrm>
            <a:off x="7829550" y="1925955"/>
            <a:ext cx="3745706" cy="194310"/>
          </a:xfrm>
          <a:prstGeom prst="rect">
            <a:avLst/>
          </a:prstGeom>
          <a:noFill/>
        </p:spPr>
        <p:txBody>
          <a:bodyPr wrap="none" lIns="0" tIns="0" rIns="0" bIns="0">
            <a:spAutoFit/>
          </a:bodyPr>
          <a:lstStyle/>
          <a:p>
            <a:r>
              <a:rPr sz="1150" b="0">
                <a:solidFill>
                  <a:srgbClr val="2E2E2E"/>
                </a:solidFill>
                <a:latin typeface="Calibri"/>
              </a:rPr>
              <a:t>ceramics &amp; home goods segment is expected to dominate the</a:t>
            </a:r>
          </a:p>
        </p:txBody>
      </p:sp>
      <p:sp>
        <p:nvSpPr>
          <p:cNvPr id="56" name="TextBox 55"/>
          <p:cNvSpPr txBox="1"/>
          <p:nvPr/>
        </p:nvSpPr>
        <p:spPr>
          <a:xfrm>
            <a:off x="7829550" y="2101215"/>
            <a:ext cx="918554" cy="194310"/>
          </a:xfrm>
          <a:prstGeom prst="rect">
            <a:avLst/>
          </a:prstGeom>
          <a:noFill/>
        </p:spPr>
        <p:txBody>
          <a:bodyPr wrap="none" lIns="0" tIns="0" rIns="0" bIns="0">
            <a:spAutoFit/>
          </a:bodyPr>
          <a:lstStyle/>
          <a:p>
            <a:r>
              <a:rPr sz="1150" b="0">
                <a:solidFill>
                  <a:srgbClr val="2E2E2E"/>
                </a:solidFill>
                <a:latin typeface="Calibri"/>
              </a:rPr>
              <a:t>market, losing</a:t>
            </a:r>
          </a:p>
        </p:txBody>
      </p:sp>
      <p:pic>
        <p:nvPicPr>
          <p:cNvPr id="57" name="Picture 56" descr="lock.png"/>
          <p:cNvPicPr>
            <a:picLocks noChangeAspect="1"/>
          </p:cNvPicPr>
          <p:nvPr/>
        </p:nvPicPr>
        <p:blipFill>
          <a:blip r:embed="rId5"/>
          <a:stretch>
            <a:fillRect/>
          </a:stretch>
        </p:blipFill>
        <p:spPr>
          <a:xfrm>
            <a:off x="8697258" y="2090991"/>
            <a:ext cx="134549" cy="195707"/>
          </a:xfrm>
          <a:prstGeom prst="rect">
            <a:avLst/>
          </a:prstGeom>
        </p:spPr>
      </p:pic>
      <p:sp>
        <p:nvSpPr>
          <p:cNvPr id="58" name="TextBox 57"/>
          <p:cNvSpPr txBox="1"/>
          <p:nvPr/>
        </p:nvSpPr>
        <p:spPr>
          <a:xfrm>
            <a:off x="8872367" y="2101215"/>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59" name="Picture 58" descr="lock.png"/>
          <p:cNvPicPr>
            <a:picLocks noChangeAspect="1"/>
          </p:cNvPicPr>
          <p:nvPr/>
        </p:nvPicPr>
        <p:blipFill>
          <a:blip r:embed="rId5"/>
          <a:stretch>
            <a:fillRect/>
          </a:stretch>
        </p:blipFill>
        <p:spPr>
          <a:xfrm>
            <a:off x="10267511" y="2090991"/>
            <a:ext cx="134549" cy="195707"/>
          </a:xfrm>
          <a:prstGeom prst="rect">
            <a:avLst/>
          </a:prstGeom>
        </p:spPr>
      </p:pic>
      <p:sp>
        <p:nvSpPr>
          <p:cNvPr id="60" name="TextBox 59"/>
          <p:cNvSpPr txBox="1"/>
          <p:nvPr/>
        </p:nvSpPr>
        <p:spPr>
          <a:xfrm>
            <a:off x="10442620" y="2101215"/>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61" name="TextBox 60"/>
          <p:cNvSpPr txBox="1"/>
          <p:nvPr/>
        </p:nvSpPr>
        <p:spPr>
          <a:xfrm>
            <a:off x="7829550" y="2329053"/>
            <a:ext cx="2396170" cy="194310"/>
          </a:xfrm>
          <a:prstGeom prst="rect">
            <a:avLst/>
          </a:prstGeom>
          <a:noFill/>
        </p:spPr>
        <p:txBody>
          <a:bodyPr wrap="none" lIns="0" tIns="0" rIns="0" bIns="0">
            <a:spAutoFit/>
          </a:bodyPr>
          <a:lstStyle/>
          <a:p>
            <a:r>
              <a:rPr sz="1150" b="0">
                <a:solidFill>
                  <a:srgbClr val="2E2E2E"/>
                </a:solidFill>
                <a:latin typeface="Calibri"/>
              </a:rPr>
              <a:t>The others segment is expected to lose</a:t>
            </a:r>
          </a:p>
        </p:txBody>
      </p:sp>
      <p:pic>
        <p:nvPicPr>
          <p:cNvPr id="62" name="Picture 61" descr="lock.png"/>
          <p:cNvPicPr>
            <a:picLocks noChangeAspect="1"/>
          </p:cNvPicPr>
          <p:nvPr/>
        </p:nvPicPr>
        <p:blipFill>
          <a:blip r:embed="rId5"/>
          <a:stretch>
            <a:fillRect/>
          </a:stretch>
        </p:blipFill>
        <p:spPr>
          <a:xfrm>
            <a:off x="10174873" y="2318829"/>
            <a:ext cx="134549" cy="195707"/>
          </a:xfrm>
          <a:prstGeom prst="rect">
            <a:avLst/>
          </a:prstGeom>
        </p:spPr>
      </p:pic>
      <p:sp>
        <p:nvSpPr>
          <p:cNvPr id="63" name="TextBox 62"/>
          <p:cNvSpPr txBox="1"/>
          <p:nvPr/>
        </p:nvSpPr>
        <p:spPr>
          <a:xfrm>
            <a:off x="10349983" y="2329053"/>
            <a:ext cx="1346150" cy="194310"/>
          </a:xfrm>
          <a:prstGeom prst="rect">
            <a:avLst/>
          </a:prstGeom>
          <a:noFill/>
        </p:spPr>
        <p:txBody>
          <a:bodyPr wrap="none" lIns="0" tIns="0" rIns="0" bIns="0">
            <a:spAutoFit/>
          </a:bodyPr>
          <a:lstStyle/>
          <a:p>
            <a:r>
              <a:rPr sz="1150" b="0">
                <a:solidFill>
                  <a:srgbClr val="2E2E2E"/>
                </a:solidFill>
                <a:latin typeface="Calibri"/>
              </a:rPr>
              <a:t>BPS over the forecast</a:t>
            </a:r>
          </a:p>
        </p:txBody>
      </p:sp>
      <p:sp>
        <p:nvSpPr>
          <p:cNvPr id="64" name="TextBox 63"/>
          <p:cNvSpPr txBox="1"/>
          <p:nvPr/>
        </p:nvSpPr>
        <p:spPr>
          <a:xfrm>
            <a:off x="7829550" y="2504313"/>
            <a:ext cx="1335310" cy="194310"/>
          </a:xfrm>
          <a:prstGeom prst="rect">
            <a:avLst/>
          </a:prstGeom>
          <a:noFill/>
        </p:spPr>
        <p:txBody>
          <a:bodyPr wrap="none" lIns="0" tIns="0" rIns="0" bIns="0">
            <a:spAutoFit/>
          </a:bodyPr>
          <a:lstStyle/>
          <a:p>
            <a:r>
              <a:rPr sz="1150" b="0">
                <a:solidFill>
                  <a:srgbClr val="2E2E2E"/>
                </a:solidFill>
                <a:latin typeface="Calibri"/>
              </a:rPr>
              <a:t>period to account for</a:t>
            </a:r>
          </a:p>
        </p:txBody>
      </p:sp>
      <p:pic>
        <p:nvPicPr>
          <p:cNvPr id="65" name="Picture 64" descr="lock.png"/>
          <p:cNvPicPr>
            <a:picLocks noChangeAspect="1"/>
          </p:cNvPicPr>
          <p:nvPr/>
        </p:nvPicPr>
        <p:blipFill>
          <a:blip r:embed="rId5"/>
          <a:stretch>
            <a:fillRect/>
          </a:stretch>
        </p:blipFill>
        <p:spPr>
          <a:xfrm>
            <a:off x="9114014" y="2494089"/>
            <a:ext cx="134549" cy="195707"/>
          </a:xfrm>
          <a:prstGeom prst="rect">
            <a:avLst/>
          </a:prstGeom>
        </p:spPr>
      </p:pic>
      <p:sp>
        <p:nvSpPr>
          <p:cNvPr id="66" name="TextBox 65"/>
          <p:cNvSpPr txBox="1"/>
          <p:nvPr/>
        </p:nvSpPr>
        <p:spPr>
          <a:xfrm>
            <a:off x="9289123" y="250431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6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Volume, By End Use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End Use,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Growth,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971675"/>
        </p:xfrm>
        <a:graphic>
          <a:graphicData uri="http://schemas.openxmlformats.org/drawingml/2006/table">
            <a:tbl>
              <a:tblPr>
                <a:tableStyleId>{5C22544A-7EE6-4342-B048-85BDC9FD1C3A}</a:tableStyleId>
              </a:tblPr>
              <a:tblGrid>
                <a:gridCol w="2589442">
                  <a:extLst>
                    <a:ext uri="{9D8B030D-6E8A-4147-A177-3AD203B41FA5}">
                      <a16:colId xmlns:a16="http://schemas.microsoft.com/office/drawing/2014/main" val="20000"/>
                    </a:ext>
                  </a:extLst>
                </a:gridCol>
                <a:gridCol w="619851">
                  <a:extLst>
                    <a:ext uri="{9D8B030D-6E8A-4147-A177-3AD203B41FA5}">
                      <a16:colId xmlns:a16="http://schemas.microsoft.com/office/drawing/2014/main" val="20001"/>
                    </a:ext>
                  </a:extLst>
                </a:gridCol>
                <a:gridCol w="619851">
                  <a:extLst>
                    <a:ext uri="{9D8B030D-6E8A-4147-A177-3AD203B41FA5}">
                      <a16:colId xmlns:a16="http://schemas.microsoft.com/office/drawing/2014/main" val="20002"/>
                    </a:ext>
                  </a:extLst>
                </a:gridCol>
                <a:gridCol w="619851">
                  <a:extLst>
                    <a:ext uri="{9D8B030D-6E8A-4147-A177-3AD203B41FA5}">
                      <a16:colId xmlns:a16="http://schemas.microsoft.com/office/drawing/2014/main" val="20003"/>
                    </a:ext>
                  </a:extLst>
                </a:gridCol>
                <a:gridCol w="619851">
                  <a:extLst>
                    <a:ext uri="{9D8B030D-6E8A-4147-A177-3AD203B41FA5}">
                      <a16:colId xmlns:a16="http://schemas.microsoft.com/office/drawing/2014/main" val="20004"/>
                    </a:ext>
                  </a:extLst>
                </a:gridCol>
                <a:gridCol w="619851">
                  <a:extLst>
                    <a:ext uri="{9D8B030D-6E8A-4147-A177-3AD203B41FA5}">
                      <a16:colId xmlns:a16="http://schemas.microsoft.com/office/drawing/2014/main" val="20005"/>
                    </a:ext>
                  </a:extLst>
                </a:gridCol>
                <a:gridCol w="619851">
                  <a:extLst>
                    <a:ext uri="{9D8B030D-6E8A-4147-A177-3AD203B41FA5}">
                      <a16:colId xmlns:a16="http://schemas.microsoft.com/office/drawing/2014/main" val="20006"/>
                    </a:ext>
                  </a:extLst>
                </a:gridCol>
                <a:gridCol w="619851">
                  <a:extLst>
                    <a:ext uri="{9D8B030D-6E8A-4147-A177-3AD203B41FA5}">
                      <a16:colId xmlns:a16="http://schemas.microsoft.com/office/drawing/2014/main" val="20007"/>
                    </a:ext>
                  </a:extLst>
                </a:gridCol>
                <a:gridCol w="619851">
                  <a:extLst>
                    <a:ext uri="{9D8B030D-6E8A-4147-A177-3AD203B41FA5}">
                      <a16:colId xmlns:a16="http://schemas.microsoft.com/office/drawing/2014/main" val="20008"/>
                    </a:ext>
                  </a:extLst>
                </a:gridCol>
                <a:gridCol w="619851">
                  <a:extLst>
                    <a:ext uri="{9D8B030D-6E8A-4147-A177-3AD203B41FA5}">
                      <a16:colId xmlns:a16="http://schemas.microsoft.com/office/drawing/2014/main" val="20009"/>
                    </a:ext>
                  </a:extLst>
                </a:gridCol>
                <a:gridCol w="619851">
                  <a:extLst>
                    <a:ext uri="{9D8B030D-6E8A-4147-A177-3AD203B41FA5}">
                      <a16:colId xmlns:a16="http://schemas.microsoft.com/office/drawing/2014/main" val="20010"/>
                    </a:ext>
                  </a:extLst>
                </a:gridCol>
                <a:gridCol w="619851">
                  <a:extLst>
                    <a:ext uri="{9D8B030D-6E8A-4147-A177-3AD203B41FA5}">
                      <a16:colId xmlns:a16="http://schemas.microsoft.com/office/drawing/2014/main" val="20011"/>
                    </a:ext>
                  </a:extLst>
                </a:gridCol>
                <a:gridCol w="619851">
                  <a:extLst>
                    <a:ext uri="{9D8B030D-6E8A-4147-A177-3AD203B41FA5}">
                      <a16:colId xmlns:a16="http://schemas.microsoft.com/office/drawing/2014/main" val="20012"/>
                    </a:ext>
                  </a:extLst>
                </a:gridCol>
                <a:gridCol w="619851">
                  <a:extLst>
                    <a:ext uri="{9D8B030D-6E8A-4147-A177-3AD203B41FA5}">
                      <a16:colId xmlns:a16="http://schemas.microsoft.com/office/drawing/2014/main" val="20013"/>
                    </a:ext>
                  </a:extLst>
                </a:gridCol>
                <a:gridCol w="619851">
                  <a:extLst>
                    <a:ext uri="{9D8B030D-6E8A-4147-A177-3AD203B41FA5}">
                      <a16:colId xmlns:a16="http://schemas.microsoft.com/office/drawing/2014/main" val="20014"/>
                    </a:ext>
                  </a:extLst>
                </a:gridCol>
                <a:gridCol w="6198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507">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507">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507">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507">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507">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507">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507">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bl>
          </a:graphicData>
        </a:graphic>
      </p:graphicFrame>
      <p:sp>
        <p:nvSpPr>
          <p:cNvPr id="14" name="TextBox 13"/>
          <p:cNvSpPr txBox="1"/>
          <p:nvPr/>
        </p:nvSpPr>
        <p:spPr>
          <a:xfrm>
            <a:off x="219075" y="32194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60997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Heatmap, By End Use (%)  ·  light = lower, dark = higher growth</a:t>
            </a:r>
          </a:p>
        </p:txBody>
      </p:sp>
      <p:sp>
        <p:nvSpPr>
          <p:cNvPr id="17" name="TextBox 16"/>
          <p:cNvSpPr txBox="1"/>
          <p:nvPr/>
        </p:nvSpPr>
        <p:spPr>
          <a:xfrm>
            <a:off x="185737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Food &amp; Beverage</a:t>
            </a:r>
          </a:p>
        </p:txBody>
      </p:sp>
      <p:sp>
        <p:nvSpPr>
          <p:cNvPr id="33" name="Rectangle 32"/>
          <p:cNvSpPr/>
          <p:nvPr/>
        </p:nvSpPr>
        <p:spPr>
          <a:xfrm>
            <a:off x="1857375" y="3981450"/>
            <a:ext cx="643890" cy="37011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981450"/>
            <a:ext cx="643890" cy="370114"/>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981450"/>
            <a:ext cx="643890" cy="370114"/>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981450"/>
            <a:ext cx="643890" cy="37011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981450"/>
            <a:ext cx="643890" cy="370114"/>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981450"/>
            <a:ext cx="643890" cy="37011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981450"/>
            <a:ext cx="643890" cy="37011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981450"/>
            <a:ext cx="643890" cy="37011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981450"/>
            <a:ext cx="643890"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981450"/>
            <a:ext cx="643890"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981450"/>
            <a:ext cx="643890" cy="370114"/>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981450"/>
            <a:ext cx="643890" cy="37011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351564"/>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Pharmaceuticals &amp; Healthcare</a:t>
            </a:r>
          </a:p>
        </p:txBody>
      </p:sp>
      <p:sp>
        <p:nvSpPr>
          <p:cNvPr id="49" name="Rectangle 48"/>
          <p:cNvSpPr/>
          <p:nvPr/>
        </p:nvSpPr>
        <p:spPr>
          <a:xfrm>
            <a:off x="1857375" y="4351564"/>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351564"/>
            <a:ext cx="643890"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351564"/>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351564"/>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351564"/>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351564"/>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351564"/>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351564"/>
            <a:ext cx="643890"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351564"/>
            <a:ext cx="643890" cy="37011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351564"/>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351564"/>
            <a:ext cx="643890" cy="37011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351564"/>
            <a:ext cx="643890" cy="37011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351564"/>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4721679"/>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Personal Care &amp; Cosmetics</a:t>
            </a:r>
          </a:p>
        </p:txBody>
      </p:sp>
      <p:sp>
        <p:nvSpPr>
          <p:cNvPr id="65" name="Rectangle 64"/>
          <p:cNvSpPr/>
          <p:nvPr/>
        </p:nvSpPr>
        <p:spPr>
          <a:xfrm>
            <a:off x="1857375" y="4721679"/>
            <a:ext cx="643890" cy="37011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4721679"/>
            <a:ext cx="643890" cy="370114"/>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4721679"/>
            <a:ext cx="643890" cy="37011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4721679"/>
            <a:ext cx="643890" cy="37011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4721679"/>
            <a:ext cx="643890" cy="37011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4721679"/>
            <a:ext cx="643890" cy="370114"/>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4721679"/>
            <a:ext cx="643890" cy="37011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4721679"/>
            <a:ext cx="643890" cy="370114"/>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4721679"/>
            <a:ext cx="643890" cy="37011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4721679"/>
            <a:ext cx="643890" cy="370114"/>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4721679"/>
            <a:ext cx="643890" cy="370114"/>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4721679"/>
            <a:ext cx="643890" cy="370114"/>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4721679"/>
            <a:ext cx="643890" cy="37011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4721679"/>
            <a:ext cx="643890" cy="37011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4721679"/>
            <a:ext cx="643890" cy="37011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238125" y="5091793"/>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Electronics &amp; Electrical</a:t>
            </a:r>
          </a:p>
        </p:txBody>
      </p:sp>
      <p:sp>
        <p:nvSpPr>
          <p:cNvPr id="81" name="Rectangle 80"/>
          <p:cNvSpPr/>
          <p:nvPr/>
        </p:nvSpPr>
        <p:spPr>
          <a:xfrm>
            <a:off x="1857375" y="5091793"/>
            <a:ext cx="643890" cy="37011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2501265" y="5091793"/>
            <a:ext cx="643890" cy="370114"/>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3145155" y="5091793"/>
            <a:ext cx="643890" cy="37011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3789045" y="5091793"/>
            <a:ext cx="643890" cy="370114"/>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4432935" y="5091793"/>
            <a:ext cx="643890" cy="37011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5076825" y="5091793"/>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5720715" y="5091793"/>
            <a:ext cx="643890" cy="37011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6364605" y="5091793"/>
            <a:ext cx="643890" cy="370114"/>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7008495" y="5091793"/>
            <a:ext cx="643890" cy="370114"/>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7652385" y="5091793"/>
            <a:ext cx="643890" cy="37011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8296275" y="5091793"/>
            <a:ext cx="643890" cy="37011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8940165" y="5091793"/>
            <a:ext cx="643890" cy="370114"/>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9584055" y="5091793"/>
            <a:ext cx="643890" cy="370114"/>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0227945" y="5091793"/>
            <a:ext cx="643890" cy="370114"/>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0871835" y="5091793"/>
            <a:ext cx="643890" cy="37011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TextBox 95"/>
          <p:cNvSpPr txBox="1"/>
          <p:nvPr/>
        </p:nvSpPr>
        <p:spPr>
          <a:xfrm>
            <a:off x="238125" y="5461907"/>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Automotive &amp; Industrial Components</a:t>
            </a:r>
          </a:p>
        </p:txBody>
      </p:sp>
      <p:sp>
        <p:nvSpPr>
          <p:cNvPr id="97" name="Rectangle 96"/>
          <p:cNvSpPr/>
          <p:nvPr/>
        </p:nvSpPr>
        <p:spPr>
          <a:xfrm>
            <a:off x="185737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250126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314515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378904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443293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5076825" y="5461907"/>
            <a:ext cx="643890"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5720715" y="5461907"/>
            <a:ext cx="643890"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6364605" y="5461907"/>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7008495" y="5461907"/>
            <a:ext cx="643890"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7652385" y="5461907"/>
            <a:ext cx="643890"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8296275" y="5461907"/>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894016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9584055" y="5461907"/>
            <a:ext cx="643890" cy="37011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022794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0871835" y="5461907"/>
            <a:ext cx="643890" cy="370114"/>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TextBox 111"/>
          <p:cNvSpPr txBox="1"/>
          <p:nvPr/>
        </p:nvSpPr>
        <p:spPr>
          <a:xfrm>
            <a:off x="238125" y="5832021"/>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Glassware, Ceramics &amp; Home Goods</a:t>
            </a:r>
          </a:p>
        </p:txBody>
      </p:sp>
      <p:sp>
        <p:nvSpPr>
          <p:cNvPr id="113" name="Rectangle 112"/>
          <p:cNvSpPr/>
          <p:nvPr/>
        </p:nvSpPr>
        <p:spPr>
          <a:xfrm>
            <a:off x="185737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250126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314515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378904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443293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507682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572071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636460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Rectangle 120"/>
          <p:cNvSpPr/>
          <p:nvPr/>
        </p:nvSpPr>
        <p:spPr>
          <a:xfrm>
            <a:off x="700849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Rectangle 121"/>
          <p:cNvSpPr/>
          <p:nvPr/>
        </p:nvSpPr>
        <p:spPr>
          <a:xfrm>
            <a:off x="765238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Rectangle 122"/>
          <p:cNvSpPr/>
          <p:nvPr/>
        </p:nvSpPr>
        <p:spPr>
          <a:xfrm>
            <a:off x="829627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Rectangle 123"/>
          <p:cNvSpPr/>
          <p:nvPr/>
        </p:nvSpPr>
        <p:spPr>
          <a:xfrm>
            <a:off x="894016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Rectangle 124"/>
          <p:cNvSpPr/>
          <p:nvPr/>
        </p:nvSpPr>
        <p:spPr>
          <a:xfrm>
            <a:off x="958405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Rectangle 125"/>
          <p:cNvSpPr/>
          <p:nvPr/>
        </p:nvSpPr>
        <p:spPr>
          <a:xfrm>
            <a:off x="1022794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Rectangle 126"/>
          <p:cNvSpPr/>
          <p:nvPr/>
        </p:nvSpPr>
        <p:spPr>
          <a:xfrm>
            <a:off x="1087183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TextBox 127"/>
          <p:cNvSpPr txBox="1"/>
          <p:nvPr/>
        </p:nvSpPr>
        <p:spPr>
          <a:xfrm>
            <a:off x="238125" y="6202136"/>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Others</a:t>
            </a:r>
          </a:p>
        </p:txBody>
      </p:sp>
      <p:sp>
        <p:nvSpPr>
          <p:cNvPr id="129" name="Rectangle 128"/>
          <p:cNvSpPr/>
          <p:nvPr/>
        </p:nvSpPr>
        <p:spPr>
          <a:xfrm>
            <a:off x="1857375" y="6202136"/>
            <a:ext cx="643890" cy="37011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129"/>
          <p:cNvSpPr/>
          <p:nvPr/>
        </p:nvSpPr>
        <p:spPr>
          <a:xfrm>
            <a:off x="2501265" y="6202136"/>
            <a:ext cx="643890" cy="37011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Rectangle 130"/>
          <p:cNvSpPr/>
          <p:nvPr/>
        </p:nvSpPr>
        <p:spPr>
          <a:xfrm>
            <a:off x="314515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Rectangle 131"/>
          <p:cNvSpPr/>
          <p:nvPr/>
        </p:nvSpPr>
        <p:spPr>
          <a:xfrm>
            <a:off x="3789045" y="6202136"/>
            <a:ext cx="643890" cy="37011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Rectangle 132"/>
          <p:cNvSpPr/>
          <p:nvPr/>
        </p:nvSpPr>
        <p:spPr>
          <a:xfrm>
            <a:off x="4432935" y="6202136"/>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Rectangle 133"/>
          <p:cNvSpPr/>
          <p:nvPr/>
        </p:nvSpPr>
        <p:spPr>
          <a:xfrm>
            <a:off x="5076825" y="6202136"/>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Rectangle 134"/>
          <p:cNvSpPr/>
          <p:nvPr/>
        </p:nvSpPr>
        <p:spPr>
          <a:xfrm>
            <a:off x="5720715" y="6202136"/>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Rectangle 135"/>
          <p:cNvSpPr/>
          <p:nvPr/>
        </p:nvSpPr>
        <p:spPr>
          <a:xfrm>
            <a:off x="6364605" y="6202136"/>
            <a:ext cx="643890" cy="37011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Rectangle 136"/>
          <p:cNvSpPr/>
          <p:nvPr/>
        </p:nvSpPr>
        <p:spPr>
          <a:xfrm>
            <a:off x="7008495" y="6202136"/>
            <a:ext cx="643890"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Rectangle 137"/>
          <p:cNvSpPr/>
          <p:nvPr/>
        </p:nvSpPr>
        <p:spPr>
          <a:xfrm>
            <a:off x="7652385" y="6202136"/>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9" name="Rectangle 138"/>
          <p:cNvSpPr/>
          <p:nvPr/>
        </p:nvSpPr>
        <p:spPr>
          <a:xfrm>
            <a:off x="8296275" y="6202136"/>
            <a:ext cx="643890"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Rectangle 139"/>
          <p:cNvSpPr/>
          <p:nvPr/>
        </p:nvSpPr>
        <p:spPr>
          <a:xfrm>
            <a:off x="8940165" y="6202136"/>
            <a:ext cx="643890"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Rectangle 140"/>
          <p:cNvSpPr/>
          <p:nvPr/>
        </p:nvSpPr>
        <p:spPr>
          <a:xfrm>
            <a:off x="9584055" y="6202136"/>
            <a:ext cx="643890" cy="37011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2" name="Rectangle 141"/>
          <p:cNvSpPr/>
          <p:nvPr/>
        </p:nvSpPr>
        <p:spPr>
          <a:xfrm>
            <a:off x="10227945" y="6202136"/>
            <a:ext cx="643890"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3" name="Rectangle 142"/>
          <p:cNvSpPr/>
          <p:nvPr/>
        </p:nvSpPr>
        <p:spPr>
          <a:xfrm>
            <a:off x="1087183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5" name="TextBox 184"/>
          <p:cNvSpPr txBox="1"/>
          <p:nvPr/>
        </p:nvSpPr>
        <p:spPr>
          <a:xfrm>
            <a:off x="11687175" y="39528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204034"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Value, By End Use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End Use,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Growth,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971675"/>
        </p:xfrm>
        <a:graphic>
          <a:graphicData uri="http://schemas.openxmlformats.org/drawingml/2006/table">
            <a:tbl>
              <a:tblPr>
                <a:tableStyleId>{5C22544A-7EE6-4342-B048-85BDC9FD1C3A}</a:tableStyleId>
              </a:tblPr>
              <a:tblGrid>
                <a:gridCol w="2589442">
                  <a:extLst>
                    <a:ext uri="{9D8B030D-6E8A-4147-A177-3AD203B41FA5}">
                      <a16:colId xmlns:a16="http://schemas.microsoft.com/office/drawing/2014/main" val="20000"/>
                    </a:ext>
                  </a:extLst>
                </a:gridCol>
                <a:gridCol w="619851">
                  <a:extLst>
                    <a:ext uri="{9D8B030D-6E8A-4147-A177-3AD203B41FA5}">
                      <a16:colId xmlns:a16="http://schemas.microsoft.com/office/drawing/2014/main" val="20001"/>
                    </a:ext>
                  </a:extLst>
                </a:gridCol>
                <a:gridCol w="619851">
                  <a:extLst>
                    <a:ext uri="{9D8B030D-6E8A-4147-A177-3AD203B41FA5}">
                      <a16:colId xmlns:a16="http://schemas.microsoft.com/office/drawing/2014/main" val="20002"/>
                    </a:ext>
                  </a:extLst>
                </a:gridCol>
                <a:gridCol w="619851">
                  <a:extLst>
                    <a:ext uri="{9D8B030D-6E8A-4147-A177-3AD203B41FA5}">
                      <a16:colId xmlns:a16="http://schemas.microsoft.com/office/drawing/2014/main" val="20003"/>
                    </a:ext>
                  </a:extLst>
                </a:gridCol>
                <a:gridCol w="619851">
                  <a:extLst>
                    <a:ext uri="{9D8B030D-6E8A-4147-A177-3AD203B41FA5}">
                      <a16:colId xmlns:a16="http://schemas.microsoft.com/office/drawing/2014/main" val="20004"/>
                    </a:ext>
                  </a:extLst>
                </a:gridCol>
                <a:gridCol w="619851">
                  <a:extLst>
                    <a:ext uri="{9D8B030D-6E8A-4147-A177-3AD203B41FA5}">
                      <a16:colId xmlns:a16="http://schemas.microsoft.com/office/drawing/2014/main" val="20005"/>
                    </a:ext>
                  </a:extLst>
                </a:gridCol>
                <a:gridCol w="619851">
                  <a:extLst>
                    <a:ext uri="{9D8B030D-6E8A-4147-A177-3AD203B41FA5}">
                      <a16:colId xmlns:a16="http://schemas.microsoft.com/office/drawing/2014/main" val="20006"/>
                    </a:ext>
                  </a:extLst>
                </a:gridCol>
                <a:gridCol w="619851">
                  <a:extLst>
                    <a:ext uri="{9D8B030D-6E8A-4147-A177-3AD203B41FA5}">
                      <a16:colId xmlns:a16="http://schemas.microsoft.com/office/drawing/2014/main" val="20007"/>
                    </a:ext>
                  </a:extLst>
                </a:gridCol>
                <a:gridCol w="619851">
                  <a:extLst>
                    <a:ext uri="{9D8B030D-6E8A-4147-A177-3AD203B41FA5}">
                      <a16:colId xmlns:a16="http://schemas.microsoft.com/office/drawing/2014/main" val="20008"/>
                    </a:ext>
                  </a:extLst>
                </a:gridCol>
                <a:gridCol w="619851">
                  <a:extLst>
                    <a:ext uri="{9D8B030D-6E8A-4147-A177-3AD203B41FA5}">
                      <a16:colId xmlns:a16="http://schemas.microsoft.com/office/drawing/2014/main" val="20009"/>
                    </a:ext>
                  </a:extLst>
                </a:gridCol>
                <a:gridCol w="619851">
                  <a:extLst>
                    <a:ext uri="{9D8B030D-6E8A-4147-A177-3AD203B41FA5}">
                      <a16:colId xmlns:a16="http://schemas.microsoft.com/office/drawing/2014/main" val="20010"/>
                    </a:ext>
                  </a:extLst>
                </a:gridCol>
                <a:gridCol w="619851">
                  <a:extLst>
                    <a:ext uri="{9D8B030D-6E8A-4147-A177-3AD203B41FA5}">
                      <a16:colId xmlns:a16="http://schemas.microsoft.com/office/drawing/2014/main" val="20011"/>
                    </a:ext>
                  </a:extLst>
                </a:gridCol>
                <a:gridCol w="619851">
                  <a:extLst>
                    <a:ext uri="{9D8B030D-6E8A-4147-A177-3AD203B41FA5}">
                      <a16:colId xmlns:a16="http://schemas.microsoft.com/office/drawing/2014/main" val="20012"/>
                    </a:ext>
                  </a:extLst>
                </a:gridCol>
                <a:gridCol w="619851">
                  <a:extLst>
                    <a:ext uri="{9D8B030D-6E8A-4147-A177-3AD203B41FA5}">
                      <a16:colId xmlns:a16="http://schemas.microsoft.com/office/drawing/2014/main" val="20013"/>
                    </a:ext>
                  </a:extLst>
                </a:gridCol>
                <a:gridCol w="619851">
                  <a:extLst>
                    <a:ext uri="{9D8B030D-6E8A-4147-A177-3AD203B41FA5}">
                      <a16:colId xmlns:a16="http://schemas.microsoft.com/office/drawing/2014/main" val="20014"/>
                    </a:ext>
                  </a:extLst>
                </a:gridCol>
                <a:gridCol w="6198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507">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507">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507">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507">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507">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507">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507">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bl>
          </a:graphicData>
        </a:graphic>
      </p:graphicFrame>
      <p:sp>
        <p:nvSpPr>
          <p:cNvPr id="14" name="TextBox 13"/>
          <p:cNvSpPr txBox="1"/>
          <p:nvPr/>
        </p:nvSpPr>
        <p:spPr>
          <a:xfrm>
            <a:off x="219075" y="32194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60997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Heatmap, By End Use (%)  ·  light = lower, dark = higher growth</a:t>
            </a:r>
          </a:p>
        </p:txBody>
      </p:sp>
      <p:sp>
        <p:nvSpPr>
          <p:cNvPr id="17" name="TextBox 16"/>
          <p:cNvSpPr txBox="1"/>
          <p:nvPr/>
        </p:nvSpPr>
        <p:spPr>
          <a:xfrm>
            <a:off x="185737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Food &amp; Beverage</a:t>
            </a:r>
          </a:p>
        </p:txBody>
      </p:sp>
      <p:sp>
        <p:nvSpPr>
          <p:cNvPr id="33" name="Rectangle 32"/>
          <p:cNvSpPr/>
          <p:nvPr/>
        </p:nvSpPr>
        <p:spPr>
          <a:xfrm>
            <a:off x="1857375" y="3981450"/>
            <a:ext cx="643890" cy="37011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3981450"/>
            <a:ext cx="643890" cy="370114"/>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3981450"/>
            <a:ext cx="643890" cy="370114"/>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3981450"/>
            <a:ext cx="643890" cy="370114"/>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3981450"/>
            <a:ext cx="643890" cy="370114"/>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3981450"/>
            <a:ext cx="643890" cy="370114"/>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3981450"/>
            <a:ext cx="643890" cy="370114"/>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3981450"/>
            <a:ext cx="643890" cy="370114"/>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3981450"/>
            <a:ext cx="643890"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3981450"/>
            <a:ext cx="643890" cy="370114"/>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3981450"/>
            <a:ext cx="643890" cy="370114"/>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3981450"/>
            <a:ext cx="643890" cy="370114"/>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3981450"/>
            <a:ext cx="643890" cy="370114"/>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3981450"/>
            <a:ext cx="643890" cy="370114"/>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351564"/>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Pharmaceuticals &amp; Healthcare</a:t>
            </a:r>
          </a:p>
        </p:txBody>
      </p:sp>
      <p:sp>
        <p:nvSpPr>
          <p:cNvPr id="49" name="Rectangle 48"/>
          <p:cNvSpPr/>
          <p:nvPr/>
        </p:nvSpPr>
        <p:spPr>
          <a:xfrm>
            <a:off x="1857375" y="4351564"/>
            <a:ext cx="643890"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351564"/>
            <a:ext cx="643890"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351564"/>
            <a:ext cx="643890" cy="37011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351564"/>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351564"/>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351564"/>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351564"/>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351564"/>
            <a:ext cx="643890" cy="37011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351564"/>
            <a:ext cx="643890"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351564"/>
            <a:ext cx="643890" cy="37011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351564"/>
            <a:ext cx="643890"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351564"/>
            <a:ext cx="643890" cy="37011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351564"/>
            <a:ext cx="643890" cy="37011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351564"/>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351564"/>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38125" y="4721679"/>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Personal Care &amp; Cosmetics</a:t>
            </a:r>
          </a:p>
        </p:txBody>
      </p:sp>
      <p:sp>
        <p:nvSpPr>
          <p:cNvPr id="65" name="Rectangle 64"/>
          <p:cNvSpPr/>
          <p:nvPr/>
        </p:nvSpPr>
        <p:spPr>
          <a:xfrm>
            <a:off x="1857375" y="4721679"/>
            <a:ext cx="643890" cy="370114"/>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2501265" y="4721679"/>
            <a:ext cx="643890" cy="37011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3145155" y="4721679"/>
            <a:ext cx="643890" cy="370114"/>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3789045" y="4721679"/>
            <a:ext cx="643890" cy="37011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443293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5076825" y="4721679"/>
            <a:ext cx="643890" cy="37011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5720715" y="4721679"/>
            <a:ext cx="643890" cy="370114"/>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6364605" y="4721679"/>
            <a:ext cx="643890" cy="37011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7008495" y="4721679"/>
            <a:ext cx="643890" cy="37011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7652385" y="4721679"/>
            <a:ext cx="643890" cy="370114"/>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8296275" y="4721679"/>
            <a:ext cx="643890" cy="37011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8940165" y="4721679"/>
            <a:ext cx="643890" cy="370114"/>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9584055" y="4721679"/>
            <a:ext cx="643890" cy="370114"/>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0227945" y="4721679"/>
            <a:ext cx="643890" cy="370114"/>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0871835" y="4721679"/>
            <a:ext cx="643890" cy="370114"/>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238125" y="5091793"/>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Electronics &amp; Electrical</a:t>
            </a:r>
          </a:p>
        </p:txBody>
      </p:sp>
      <p:sp>
        <p:nvSpPr>
          <p:cNvPr id="81" name="Rectangle 80"/>
          <p:cNvSpPr/>
          <p:nvPr/>
        </p:nvSpPr>
        <p:spPr>
          <a:xfrm>
            <a:off x="1857375" y="5091793"/>
            <a:ext cx="643890" cy="37011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2501265" y="5091793"/>
            <a:ext cx="643890" cy="37011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3145155" y="5091793"/>
            <a:ext cx="643890" cy="370114"/>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3789045" y="5091793"/>
            <a:ext cx="643890" cy="370114"/>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4432935" y="5091793"/>
            <a:ext cx="643890" cy="370114"/>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5076825" y="5091793"/>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5720715" y="5091793"/>
            <a:ext cx="643890" cy="370114"/>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6364605" y="5091793"/>
            <a:ext cx="643890" cy="37011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7008495" y="5091793"/>
            <a:ext cx="643890" cy="37011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7652385" y="5091793"/>
            <a:ext cx="643890" cy="37011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8296275" y="5091793"/>
            <a:ext cx="643890" cy="37011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8940165" y="5091793"/>
            <a:ext cx="643890" cy="37011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9584055" y="5091793"/>
            <a:ext cx="643890" cy="370114"/>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0227945" y="5091793"/>
            <a:ext cx="643890" cy="370114"/>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0871835" y="5091793"/>
            <a:ext cx="643890" cy="370114"/>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TextBox 95"/>
          <p:cNvSpPr txBox="1"/>
          <p:nvPr/>
        </p:nvSpPr>
        <p:spPr>
          <a:xfrm>
            <a:off x="238125" y="5461907"/>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Automotive &amp; Industrial Components</a:t>
            </a:r>
          </a:p>
        </p:txBody>
      </p:sp>
      <p:sp>
        <p:nvSpPr>
          <p:cNvPr id="97" name="Rectangle 96"/>
          <p:cNvSpPr/>
          <p:nvPr/>
        </p:nvSpPr>
        <p:spPr>
          <a:xfrm>
            <a:off x="185737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250126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3145155" y="5461907"/>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378904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4432935" y="5461907"/>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5076825" y="5461907"/>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5720715" y="5461907"/>
            <a:ext cx="643890" cy="37011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6364605" y="5461907"/>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ectangle 104"/>
          <p:cNvSpPr/>
          <p:nvPr/>
        </p:nvSpPr>
        <p:spPr>
          <a:xfrm>
            <a:off x="7008495" y="5461907"/>
            <a:ext cx="643890"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7652385" y="5461907"/>
            <a:ext cx="643890" cy="370114"/>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8296275" y="5461907"/>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Rectangle 107"/>
          <p:cNvSpPr/>
          <p:nvPr/>
        </p:nvSpPr>
        <p:spPr>
          <a:xfrm>
            <a:off x="8940165" y="5461907"/>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Rectangle 108"/>
          <p:cNvSpPr/>
          <p:nvPr/>
        </p:nvSpPr>
        <p:spPr>
          <a:xfrm>
            <a:off x="958405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0227945" y="5461907"/>
            <a:ext cx="643890" cy="37011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Rectangle 110"/>
          <p:cNvSpPr/>
          <p:nvPr/>
        </p:nvSpPr>
        <p:spPr>
          <a:xfrm>
            <a:off x="10871835" y="5461907"/>
            <a:ext cx="643890" cy="37011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TextBox 111"/>
          <p:cNvSpPr txBox="1"/>
          <p:nvPr/>
        </p:nvSpPr>
        <p:spPr>
          <a:xfrm>
            <a:off x="238125" y="5832021"/>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Glassware, Ceramics &amp; Home Goods</a:t>
            </a:r>
          </a:p>
        </p:txBody>
      </p:sp>
      <p:sp>
        <p:nvSpPr>
          <p:cNvPr id="113" name="Rectangle 112"/>
          <p:cNvSpPr/>
          <p:nvPr/>
        </p:nvSpPr>
        <p:spPr>
          <a:xfrm>
            <a:off x="185737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Rectangle 113"/>
          <p:cNvSpPr/>
          <p:nvPr/>
        </p:nvSpPr>
        <p:spPr>
          <a:xfrm>
            <a:off x="250126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Rectangle 114"/>
          <p:cNvSpPr/>
          <p:nvPr/>
        </p:nvSpPr>
        <p:spPr>
          <a:xfrm>
            <a:off x="314515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Rectangle 115"/>
          <p:cNvSpPr/>
          <p:nvPr/>
        </p:nvSpPr>
        <p:spPr>
          <a:xfrm>
            <a:off x="378904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4432935" y="5832021"/>
            <a:ext cx="643890" cy="370114"/>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Rectangle 117"/>
          <p:cNvSpPr/>
          <p:nvPr/>
        </p:nvSpPr>
        <p:spPr>
          <a:xfrm>
            <a:off x="507682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572071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Rectangle 119"/>
          <p:cNvSpPr/>
          <p:nvPr/>
        </p:nvSpPr>
        <p:spPr>
          <a:xfrm>
            <a:off x="636460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Rectangle 120"/>
          <p:cNvSpPr/>
          <p:nvPr/>
        </p:nvSpPr>
        <p:spPr>
          <a:xfrm>
            <a:off x="700849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Rectangle 121"/>
          <p:cNvSpPr/>
          <p:nvPr/>
        </p:nvSpPr>
        <p:spPr>
          <a:xfrm>
            <a:off x="765238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Rectangle 122"/>
          <p:cNvSpPr/>
          <p:nvPr/>
        </p:nvSpPr>
        <p:spPr>
          <a:xfrm>
            <a:off x="8296275" y="5832021"/>
            <a:ext cx="643890" cy="370114"/>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Rectangle 123"/>
          <p:cNvSpPr/>
          <p:nvPr/>
        </p:nvSpPr>
        <p:spPr>
          <a:xfrm>
            <a:off x="894016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Rectangle 124"/>
          <p:cNvSpPr/>
          <p:nvPr/>
        </p:nvSpPr>
        <p:spPr>
          <a:xfrm>
            <a:off x="958405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Rectangle 125"/>
          <p:cNvSpPr/>
          <p:nvPr/>
        </p:nvSpPr>
        <p:spPr>
          <a:xfrm>
            <a:off x="1022794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Rectangle 126"/>
          <p:cNvSpPr/>
          <p:nvPr/>
        </p:nvSpPr>
        <p:spPr>
          <a:xfrm>
            <a:off x="10871835" y="5832021"/>
            <a:ext cx="643890" cy="37011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TextBox 127"/>
          <p:cNvSpPr txBox="1"/>
          <p:nvPr/>
        </p:nvSpPr>
        <p:spPr>
          <a:xfrm>
            <a:off x="238125" y="6202136"/>
            <a:ext cx="1590675" cy="370114"/>
          </a:xfrm>
          <a:prstGeom prst="rect">
            <a:avLst/>
          </a:prstGeom>
          <a:noFill/>
        </p:spPr>
        <p:txBody>
          <a:bodyPr wrap="square" lIns="28575" tIns="9525" rIns="28575" bIns="9525" anchor="ctr">
            <a:spAutoFit/>
          </a:bodyPr>
          <a:lstStyle/>
          <a:p>
            <a:pPr algn="l"/>
            <a:r>
              <a:rPr sz="1100" b="0">
                <a:solidFill>
                  <a:srgbClr val="2E2E2E"/>
                </a:solidFill>
                <a:latin typeface="Calibri"/>
              </a:rPr>
              <a:t>Others</a:t>
            </a:r>
          </a:p>
        </p:txBody>
      </p:sp>
      <p:sp>
        <p:nvSpPr>
          <p:cNvPr id="129" name="Rectangle 128"/>
          <p:cNvSpPr/>
          <p:nvPr/>
        </p:nvSpPr>
        <p:spPr>
          <a:xfrm>
            <a:off x="1857375" y="6202136"/>
            <a:ext cx="643890" cy="370114"/>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Rectangle 129"/>
          <p:cNvSpPr/>
          <p:nvPr/>
        </p:nvSpPr>
        <p:spPr>
          <a:xfrm>
            <a:off x="2501265" y="6202136"/>
            <a:ext cx="643890" cy="370114"/>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Rectangle 130"/>
          <p:cNvSpPr/>
          <p:nvPr/>
        </p:nvSpPr>
        <p:spPr>
          <a:xfrm>
            <a:off x="3145155" y="6202136"/>
            <a:ext cx="643890" cy="37011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Rectangle 131"/>
          <p:cNvSpPr/>
          <p:nvPr/>
        </p:nvSpPr>
        <p:spPr>
          <a:xfrm>
            <a:off x="378904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Rectangle 132"/>
          <p:cNvSpPr/>
          <p:nvPr/>
        </p:nvSpPr>
        <p:spPr>
          <a:xfrm>
            <a:off x="4432935" y="6202136"/>
            <a:ext cx="643890" cy="37011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Rectangle 133"/>
          <p:cNvSpPr/>
          <p:nvPr/>
        </p:nvSpPr>
        <p:spPr>
          <a:xfrm>
            <a:off x="5076825" y="6202136"/>
            <a:ext cx="643890" cy="37011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Rectangle 134"/>
          <p:cNvSpPr/>
          <p:nvPr/>
        </p:nvSpPr>
        <p:spPr>
          <a:xfrm>
            <a:off x="5720715" y="6202136"/>
            <a:ext cx="643890" cy="370114"/>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Rectangle 135"/>
          <p:cNvSpPr/>
          <p:nvPr/>
        </p:nvSpPr>
        <p:spPr>
          <a:xfrm>
            <a:off x="6364605" y="6202136"/>
            <a:ext cx="643890" cy="370114"/>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Rectangle 136"/>
          <p:cNvSpPr/>
          <p:nvPr/>
        </p:nvSpPr>
        <p:spPr>
          <a:xfrm>
            <a:off x="7008495" y="6202136"/>
            <a:ext cx="643890" cy="370114"/>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Rectangle 137"/>
          <p:cNvSpPr/>
          <p:nvPr/>
        </p:nvSpPr>
        <p:spPr>
          <a:xfrm>
            <a:off x="7652385" y="6202136"/>
            <a:ext cx="643890" cy="370114"/>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9" name="Rectangle 138"/>
          <p:cNvSpPr/>
          <p:nvPr/>
        </p:nvSpPr>
        <p:spPr>
          <a:xfrm>
            <a:off x="8296275" y="6202136"/>
            <a:ext cx="643890" cy="370114"/>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Rectangle 139"/>
          <p:cNvSpPr/>
          <p:nvPr/>
        </p:nvSpPr>
        <p:spPr>
          <a:xfrm>
            <a:off x="8940165" y="6202136"/>
            <a:ext cx="643890" cy="370114"/>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Rectangle 140"/>
          <p:cNvSpPr/>
          <p:nvPr/>
        </p:nvSpPr>
        <p:spPr>
          <a:xfrm>
            <a:off x="9584055" y="6202136"/>
            <a:ext cx="643890" cy="370114"/>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2" name="Rectangle 141"/>
          <p:cNvSpPr/>
          <p:nvPr/>
        </p:nvSpPr>
        <p:spPr>
          <a:xfrm>
            <a:off x="10227945" y="6202136"/>
            <a:ext cx="643890" cy="370114"/>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3" name="Rectangle 142"/>
          <p:cNvSpPr/>
          <p:nvPr/>
        </p:nvSpPr>
        <p:spPr>
          <a:xfrm>
            <a:off x="1087183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5" name="TextBox 184"/>
          <p:cNvSpPr txBox="1"/>
          <p:nvPr/>
        </p:nvSpPr>
        <p:spPr>
          <a:xfrm>
            <a:off x="11687175" y="39528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204034"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Sales Channel</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By Sales Channel Segment Outlook</a:t>
            </a:r>
          </a:p>
          <a:p>
            <a:pPr marL="342900" indent="-323850">
              <a:lnSpc>
                <a:spcPct val="100000"/>
              </a:lnSpc>
              <a:spcAft>
                <a:spcPts val="800"/>
              </a:spcAft>
            </a:pPr>
            <a:r>
              <a:rPr sz="2000" b="0">
                <a:solidFill>
                  <a:srgbClr val="000000"/>
                </a:solidFill>
                <a:latin typeface="Calibri"/>
              </a:rPr>
              <a:t>➤	Market Structure &amp; Attractiveness</a:t>
            </a:r>
          </a:p>
          <a:p>
            <a:pPr marL="342900" indent="-323850">
              <a:lnSpc>
                <a:spcPct val="100000"/>
              </a:lnSpc>
              <a:spcAft>
                <a:spcPts val="800"/>
              </a:spcAft>
            </a:pPr>
            <a:r>
              <a:rPr sz="2000" b="0">
                <a:solidFill>
                  <a:srgbClr val="000000"/>
                </a:solidFill>
                <a:latin typeface="Calibri"/>
              </a:rPr>
              <a:t>➤	Absolute $ Analysis</a:t>
            </a:r>
          </a:p>
          <a:p>
            <a:pPr marL="342900" indent="-323850">
              <a:lnSpc>
                <a:spcPct val="100000"/>
              </a:lnSpc>
              <a:spcAft>
                <a:spcPts val="800"/>
              </a:spcAft>
            </a:pPr>
            <a:r>
              <a:rPr sz="2000" b="0">
                <a:solidFill>
                  <a:srgbClr val="000000"/>
                </a:solidFill>
                <a:latin typeface="Calibri"/>
              </a:rPr>
              <a:t>➤	Market Volume Analysis</a:t>
            </a:r>
          </a:p>
          <a:p>
            <a:pPr marL="342900" indent="-323850">
              <a:lnSpc>
                <a:spcPct val="100000"/>
              </a:lnSpc>
              <a:spcAft>
                <a:spcPts val="800"/>
              </a:spcAft>
            </a:pPr>
            <a:r>
              <a:rPr sz="2000" b="0">
                <a:solidFill>
                  <a:srgbClr val="000000"/>
                </a:solidFill>
                <a:latin typeface="Calibri"/>
              </a:rPr>
              <a:t>➤	Market Value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By Sales Channel Segment Outlook</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Segment analysis of market size, growth and share across 2 sub-segments of Sales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tIns="9525" rIns="28575" bIns="9525">
            <a:spAutoFit/>
          </a:bodyPr>
          <a:lstStyle/>
          <a:p>
            <a:pPr algn="l"/>
            <a:r>
              <a:rPr sz="1150" b="0">
                <a:solidFill>
                  <a:srgbClr val="2E2E2E"/>
                </a:solidFill>
                <a:latin typeface="Calibri"/>
              </a:rPr>
              <a:t>The Sales Channel segment categorizes the market by sales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409575" y="1773916"/>
            <a:ext cx="1295400" cy="438089"/>
          </a:xfrm>
          <a:prstGeom prst="rect">
            <a:avLst/>
          </a:prstGeom>
          <a:noFill/>
        </p:spPr>
        <p:txBody>
          <a:bodyPr wrap="square" lIns="28575" tIns="9525" rIns="2857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09575" y="22302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409575" y="272310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409575" y="3215959"/>
            <a:ext cx="1295400" cy="474596"/>
          </a:xfrm>
          <a:prstGeom prst="rect">
            <a:avLst/>
          </a:prstGeom>
          <a:noFill/>
        </p:spPr>
        <p:txBody>
          <a:bodyPr wrap="square" lIns="28575" tIns="9525" rIns="2857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905000"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Direct</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6962775" y="1773916"/>
            <a:ext cx="4867275" cy="438089"/>
          </a:xfrm>
          <a:prstGeom prst="rect">
            <a:avLst/>
          </a:prstGeom>
          <a:noFill/>
        </p:spPr>
        <p:txBody>
          <a:bodyPr wrap="square" lIns="28575" tIns="9525" rIns="28575" bIns="9525" anchor="ctr">
            <a:spAutoFit/>
          </a:bodyPr>
          <a:lstStyle/>
          <a:p>
            <a:pPr algn="ctr"/>
            <a:r>
              <a:rPr sz="1100" b="1">
                <a:solidFill>
                  <a:srgbClr val="FFFFFF"/>
                </a:solidFill>
                <a:latin typeface="Calibri"/>
              </a:rPr>
              <a:t>Indirect</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endParaRP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wrap="none" lIns="0" tIns="0" rIns="0" bIns="0" rtlCol="0" anchor="ctr"/>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457200" y="3946106"/>
            <a:ext cx="2971800" cy="182537"/>
          </a:xfrm>
          <a:prstGeom prst="rect">
            <a:avLst/>
          </a:prstGeom>
          <a:noFill/>
        </p:spPr>
        <p:txBody>
          <a:bodyPr wrap="square" lIns="28575" tIns="9525" rIns="2857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457200" y="4219912"/>
            <a:ext cx="2971800" cy="2117429"/>
          </a:xfrm>
          <a:prstGeom prst="rect">
            <a:avLst/>
          </a:prstGeom>
          <a:noFill/>
        </p:spPr>
        <p:txBody>
          <a:bodyPr wrap="square" lIns="28575" tIns="9525" rIns="28575" bIns="9525">
            <a:spAutoFit/>
          </a:bodyPr>
          <a:lstStyle/>
          <a:p>
            <a:pPr algn="l">
              <a:lnSpc>
                <a:spcPct val="105000"/>
              </a:lnSpc>
              <a:spcBef>
                <a:spcPts val="0"/>
              </a:spcBef>
              <a:spcAft>
                <a:spcPts val="300"/>
              </a:spcAft>
            </a:pPr>
            <a:endParaRPr/>
          </a:p>
          <a:p>
            <a:pPr algn="l">
              <a:lnSpc>
                <a:spcPct val="105000"/>
              </a:lnSpc>
              <a:spcBef>
                <a:spcPts val="0"/>
              </a:spcBef>
              <a:spcAft>
                <a:spcPts val="300"/>
              </a:spcAft>
            </a:pPr>
            <a:endParaRP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3810000" y="3946106"/>
            <a:ext cx="4210050" cy="182537"/>
          </a:xfrm>
          <a:prstGeom prst="rect">
            <a:avLst/>
          </a:prstGeom>
          <a:noFill/>
        </p:spPr>
        <p:txBody>
          <a:bodyPr wrap="square" lIns="28575" tIns="9525" rIns="2857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3810000" y="4219912"/>
            <a:ext cx="4210050" cy="2117429"/>
          </a:xfrm>
          <a:prstGeom prst="rect">
            <a:avLst/>
          </a:prstGeom>
          <a:noFill/>
        </p:spPr>
        <p:txBody>
          <a:bodyPr wrap="square" lIns="28575" tIns="9525" rIns="28575"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401050" y="3946106"/>
            <a:ext cx="3333750" cy="182537"/>
          </a:xfrm>
          <a:prstGeom prst="rect">
            <a:avLst/>
          </a:prstGeom>
          <a:noFill/>
        </p:spPr>
        <p:txBody>
          <a:bodyPr wrap="square" lIns="28575" tIns="9525" rIns="2857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8401050" y="4219912"/>
            <a:ext cx="3333750" cy="2117429"/>
          </a:xfrm>
          <a:prstGeom prst="rect">
            <a:avLst/>
          </a:prstGeom>
          <a:noFill/>
        </p:spPr>
        <p:txBody>
          <a:bodyPr wrap="square" lIns="28575" tIns="9525" rIns="2857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Channel split shows how demand is distributed across sales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8496300" y="5789730"/>
            <a:ext cx="3219450" cy="456342"/>
          </a:xfrm>
          <a:prstGeom prst="rect">
            <a:avLst/>
          </a:prstGeom>
          <a:noFill/>
        </p:spPr>
        <p:txBody>
          <a:bodyPr wrap="square" lIns="28575" tIns="9525" rIns="28575" bIns="9525" anchor="ctr">
            <a:spAutoFit/>
          </a:bodyPr>
          <a:lstStyle/>
          <a:p>
            <a:pPr algn="l"/>
            <a:endParaRP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0" name="Picture 49" descr="699_8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_019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8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356_2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552_7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5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41414" cy="179984"/>
          </a:xfrm>
          <a:prstGeom prst="rect">
            <a:avLst/>
          </a:prstGeom>
          <a:noFill/>
        </p:spPr>
        <p:txBody>
          <a:bodyPr wrap="none" lIns="0" tIns="0" rIns="0" bIns="0">
            <a:spAutoFit/>
          </a:bodyPr>
          <a:lstStyle/>
          <a:p>
            <a:r>
              <a:rPr sz="1055" b="0">
                <a:solidFill>
                  <a:srgbClr val="2E2E2E"/>
                </a:solidFill>
                <a:latin typeface="Calibri"/>
              </a:rPr>
              <a:t>▪ ¶ Among corrugated partition by sales channel,</a:t>
            </a:r>
          </a:p>
        </p:txBody>
      </p:sp>
      <p:sp>
        <p:nvSpPr>
          <p:cNvPr id="59" name="TextBox 58"/>
          <p:cNvSpPr txBox="1"/>
          <p:nvPr/>
        </p:nvSpPr>
        <p:spPr>
          <a:xfrm>
            <a:off x="485775" y="4390371"/>
            <a:ext cx="2659427" cy="179984"/>
          </a:xfrm>
          <a:prstGeom prst="rect">
            <a:avLst/>
          </a:prstGeom>
          <a:noFill/>
        </p:spPr>
        <p:txBody>
          <a:bodyPr wrap="none" lIns="0" tIns="0" rIns="0" bIns="0">
            <a:spAutoFit/>
          </a:bodyPr>
          <a:lstStyle/>
          <a:p>
            <a:r>
              <a:rPr sz="1055" b="0">
                <a:solidFill>
                  <a:srgbClr val="2E2E2E"/>
                </a:solidFill>
                <a:latin typeface="Calibri"/>
              </a:rPr>
              <a:t>indirect (distributors and packaging merchants)</a:t>
            </a:r>
          </a:p>
        </p:txBody>
      </p:sp>
      <p:sp>
        <p:nvSpPr>
          <p:cNvPr id="60" name="TextBox 59"/>
          <p:cNvSpPr txBox="1"/>
          <p:nvPr/>
        </p:nvSpPr>
        <p:spPr>
          <a:xfrm>
            <a:off x="485775" y="4551305"/>
            <a:ext cx="2904846" cy="179984"/>
          </a:xfrm>
          <a:prstGeom prst="rect">
            <a:avLst/>
          </a:prstGeom>
          <a:noFill/>
        </p:spPr>
        <p:txBody>
          <a:bodyPr wrap="none" lIns="0" tIns="0" rIns="0" bIns="0">
            <a:spAutoFit/>
          </a:bodyPr>
          <a:lstStyle/>
          <a:p>
            <a:r>
              <a:rPr sz="1055" b="0">
                <a:solidFill>
                  <a:srgbClr val="2E2E2E"/>
                </a:solidFill>
                <a:latin typeface="Calibri"/>
              </a:rPr>
              <a:t>segment is expected to witness the highest CAGR of</a:t>
            </a:r>
          </a:p>
        </p:txBody>
      </p:sp>
      <p:pic>
        <p:nvPicPr>
          <p:cNvPr id="61" name="Picture 60" descr="lock.png"/>
          <p:cNvPicPr>
            <a:picLocks noChangeAspect="1"/>
          </p:cNvPicPr>
          <p:nvPr/>
        </p:nvPicPr>
        <p:blipFill>
          <a:blip r:embed="rId10"/>
          <a:stretch>
            <a:fillRect/>
          </a:stretch>
        </p:blipFill>
        <p:spPr>
          <a:xfrm>
            <a:off x="472846" y="4702852"/>
            <a:ext cx="123551" cy="179710"/>
          </a:xfrm>
          <a:prstGeom prst="rect">
            <a:avLst/>
          </a:prstGeom>
        </p:spPr>
      </p:pic>
      <p:sp>
        <p:nvSpPr>
          <p:cNvPr id="62" name="TextBox 61"/>
          <p:cNvSpPr txBox="1"/>
          <p:nvPr/>
        </p:nvSpPr>
        <p:spPr>
          <a:xfrm>
            <a:off x="633642" y="4712240"/>
            <a:ext cx="2707886" cy="179984"/>
          </a:xfrm>
          <a:prstGeom prst="rect">
            <a:avLst/>
          </a:prstGeom>
          <a:noFill/>
        </p:spPr>
        <p:txBody>
          <a:bodyPr wrap="none" lIns="0" tIns="0" rIns="0" bIns="0">
            <a:spAutoFit/>
          </a:bodyPr>
          <a:lstStyle/>
          <a:p>
            <a:r>
              <a:rPr sz="1055" b="0">
                <a:solidFill>
                  <a:srgbClr val="2E2E2E"/>
                </a:solidFill>
                <a:latin typeface="Calibri"/>
              </a:rPr>
              <a:t>over the forecast period. In terms of value share</a:t>
            </a:r>
          </a:p>
        </p:txBody>
      </p:sp>
      <p:sp>
        <p:nvSpPr>
          <p:cNvPr id="63" name="TextBox 62"/>
          <p:cNvSpPr txBox="1"/>
          <p:nvPr/>
        </p:nvSpPr>
        <p:spPr>
          <a:xfrm>
            <a:off x="485775" y="4873174"/>
            <a:ext cx="2914650" cy="179984"/>
          </a:xfrm>
          <a:prstGeom prst="rect">
            <a:avLst/>
          </a:prstGeom>
          <a:noFill/>
        </p:spPr>
        <p:txBody>
          <a:bodyPr wrap="none" lIns="0" tIns="0" rIns="0" bIns="0">
            <a:spAutoFit/>
          </a:bodyPr>
          <a:lstStyle/>
          <a:p>
            <a:r>
              <a:rPr sz="1055" b="0">
                <a:solidFill>
                  <a:srgbClr val="2E2E2E"/>
                </a:solidFill>
                <a:latin typeface="Calibri"/>
              </a:rPr>
              <a:t>by sales channel, the direct (to brand owners/oems)</a:t>
            </a:r>
          </a:p>
        </p:txBody>
      </p:sp>
      <p:sp>
        <p:nvSpPr>
          <p:cNvPr id="64" name="TextBox 63"/>
          <p:cNvSpPr txBox="1"/>
          <p:nvPr/>
        </p:nvSpPr>
        <p:spPr>
          <a:xfrm>
            <a:off x="485775" y="5034109"/>
            <a:ext cx="2912197" cy="179984"/>
          </a:xfrm>
          <a:prstGeom prst="rect">
            <a:avLst/>
          </a:prstGeom>
          <a:noFill/>
        </p:spPr>
        <p:txBody>
          <a:bodyPr wrap="none" lIns="0" tIns="0" rIns="0" bIns="0">
            <a:spAutoFit/>
          </a:bodyPr>
          <a:lstStyle/>
          <a:p>
            <a:r>
              <a:rPr sz="1055" b="0">
                <a:solidFill>
                  <a:srgbClr val="2E2E2E"/>
                </a:solidFill>
                <a:latin typeface="Calibri"/>
              </a:rPr>
              <a:t>segment is expected to dominate the market, losing</a:t>
            </a:r>
          </a:p>
        </p:txBody>
      </p:sp>
      <p:pic>
        <p:nvPicPr>
          <p:cNvPr id="65" name="Picture 64" descr="lock.png"/>
          <p:cNvPicPr>
            <a:picLocks noChangeAspect="1"/>
          </p:cNvPicPr>
          <p:nvPr/>
        </p:nvPicPr>
        <p:blipFill>
          <a:blip r:embed="rId10"/>
          <a:stretch>
            <a:fillRect/>
          </a:stretch>
        </p:blipFill>
        <p:spPr>
          <a:xfrm>
            <a:off x="472846" y="5185655"/>
            <a:ext cx="123551" cy="179710"/>
          </a:xfrm>
          <a:prstGeom prst="rect">
            <a:avLst/>
          </a:prstGeom>
        </p:spPr>
      </p:pic>
      <p:sp>
        <p:nvSpPr>
          <p:cNvPr id="66" name="TextBox 65"/>
          <p:cNvSpPr txBox="1"/>
          <p:nvPr/>
        </p:nvSpPr>
        <p:spPr>
          <a:xfrm>
            <a:off x="633642" y="5195043"/>
            <a:ext cx="1334023" cy="179984"/>
          </a:xfrm>
          <a:prstGeom prst="rect">
            <a:avLst/>
          </a:prstGeom>
          <a:noFill/>
        </p:spPr>
        <p:txBody>
          <a:bodyPr wrap="none" lIns="0" tIns="0" rIns="0" bIns="0">
            <a:spAutoFit/>
          </a:bodyPr>
          <a:lstStyle/>
          <a:p>
            <a:r>
              <a:rPr sz="1055" b="0">
                <a:solidFill>
                  <a:srgbClr val="2E2E2E"/>
                </a:solidFill>
                <a:latin typeface="Calibri"/>
              </a:rPr>
              <a:t>BPS and accounting for</a:t>
            </a:r>
          </a:p>
        </p:txBody>
      </p:sp>
      <p:pic>
        <p:nvPicPr>
          <p:cNvPr id="67" name="Picture 66" descr="lock.png"/>
          <p:cNvPicPr>
            <a:picLocks noChangeAspect="1"/>
          </p:cNvPicPr>
          <p:nvPr/>
        </p:nvPicPr>
        <p:blipFill>
          <a:blip r:embed="rId10"/>
          <a:stretch>
            <a:fillRect/>
          </a:stretch>
        </p:blipFill>
        <p:spPr>
          <a:xfrm>
            <a:off x="1914747" y="5185655"/>
            <a:ext cx="123551" cy="179710"/>
          </a:xfrm>
          <a:prstGeom prst="rect">
            <a:avLst/>
          </a:prstGeom>
        </p:spPr>
      </p:pic>
      <p:sp>
        <p:nvSpPr>
          <p:cNvPr id="68" name="TextBox 67"/>
          <p:cNvSpPr txBox="1"/>
          <p:nvPr/>
        </p:nvSpPr>
        <p:spPr>
          <a:xfrm>
            <a:off x="2075543" y="5195043"/>
            <a:ext cx="875109" cy="179984"/>
          </a:xfrm>
          <a:prstGeom prst="rect">
            <a:avLst/>
          </a:prstGeom>
          <a:noFill/>
        </p:spPr>
        <p:txBody>
          <a:bodyPr wrap="none" lIns="0" tIns="0" rIns="0" bIns="0">
            <a:spAutoFit/>
          </a:bodyPr>
          <a:lstStyle/>
          <a:p>
            <a:r>
              <a:rPr sz="1055" b="0">
                <a:solidFill>
                  <a:srgbClr val="2E2E2E"/>
                </a:solidFill>
                <a:latin typeface="Calibri"/>
              </a:rPr>
              <a:t>share by 2036.</a:t>
            </a:r>
          </a:p>
        </p:txBody>
      </p:sp>
      <p:sp>
        <p:nvSpPr>
          <p:cNvPr id="69" name="TextBox 68"/>
          <p:cNvSpPr txBox="1"/>
          <p:nvPr/>
        </p:nvSpPr>
        <p:spPr>
          <a:xfrm>
            <a:off x="485775" y="5404258"/>
            <a:ext cx="2570368" cy="179984"/>
          </a:xfrm>
          <a:prstGeom prst="rect">
            <a:avLst/>
          </a:prstGeom>
          <a:noFill/>
        </p:spPr>
        <p:txBody>
          <a:bodyPr wrap="none" lIns="0" tIns="0" rIns="0" bIns="0">
            <a:spAutoFit/>
          </a:bodyPr>
          <a:lstStyle/>
          <a:p>
            <a:r>
              <a:rPr sz="1055" b="0">
                <a:solidFill>
                  <a:srgbClr val="2E2E2E"/>
                </a:solidFill>
                <a:latin typeface="Calibri"/>
              </a:rPr>
              <a:t>▪ ¶ Direct (to brand owners/oems) segment is</a:t>
            </a:r>
          </a:p>
        </p:txBody>
      </p:sp>
      <p:sp>
        <p:nvSpPr>
          <p:cNvPr id="70" name="TextBox 69"/>
          <p:cNvSpPr txBox="1"/>
          <p:nvPr/>
        </p:nvSpPr>
        <p:spPr>
          <a:xfrm>
            <a:off x="485775" y="5565192"/>
            <a:ext cx="1197816" cy="179984"/>
          </a:xfrm>
          <a:prstGeom prst="rect">
            <a:avLst/>
          </a:prstGeom>
          <a:noFill/>
        </p:spPr>
        <p:txBody>
          <a:bodyPr wrap="none" lIns="0" tIns="0" rIns="0" bIns="0">
            <a:spAutoFit/>
          </a:bodyPr>
          <a:lstStyle/>
          <a:p>
            <a:r>
              <a:rPr sz="1055" b="0">
                <a:solidFill>
                  <a:srgbClr val="2E2E2E"/>
                </a:solidFill>
                <a:latin typeface="Calibri"/>
              </a:rPr>
              <a:t>projected to register</a:t>
            </a:r>
          </a:p>
        </p:txBody>
      </p:sp>
      <p:pic>
        <p:nvPicPr>
          <p:cNvPr id="71" name="Picture 70" descr="lock.png"/>
          <p:cNvPicPr>
            <a:picLocks noChangeAspect="1"/>
          </p:cNvPicPr>
          <p:nvPr/>
        </p:nvPicPr>
        <p:blipFill>
          <a:blip r:embed="rId10"/>
          <a:stretch>
            <a:fillRect/>
          </a:stretch>
        </p:blipFill>
        <p:spPr>
          <a:xfrm>
            <a:off x="1630672" y="5555804"/>
            <a:ext cx="123551" cy="179710"/>
          </a:xfrm>
          <a:prstGeom prst="rect">
            <a:avLst/>
          </a:prstGeom>
        </p:spPr>
      </p:pic>
      <p:sp>
        <p:nvSpPr>
          <p:cNvPr id="72" name="TextBox 71"/>
          <p:cNvSpPr txBox="1"/>
          <p:nvPr/>
        </p:nvSpPr>
        <p:spPr>
          <a:xfrm>
            <a:off x="1791468" y="5565192"/>
            <a:ext cx="1577363" cy="179984"/>
          </a:xfrm>
          <a:prstGeom prst="rect">
            <a:avLst/>
          </a:prstGeom>
          <a:noFill/>
        </p:spPr>
        <p:txBody>
          <a:bodyPr wrap="none" lIns="0" tIns="0" rIns="0" bIns="0">
            <a:spAutoFit/>
          </a:bodyPr>
          <a:lstStyle/>
          <a:p>
            <a:r>
              <a:rPr sz="1055" b="0">
                <a:solidFill>
                  <a:srgbClr val="2E2E2E"/>
                </a:solidFill>
                <a:latin typeface="Calibri"/>
              </a:rPr>
              <a:t>X higher value than indirect</a:t>
            </a:r>
          </a:p>
        </p:txBody>
      </p:sp>
      <p:sp>
        <p:nvSpPr>
          <p:cNvPr id="73" name="TextBox 72"/>
          <p:cNvSpPr txBox="1"/>
          <p:nvPr/>
        </p:nvSpPr>
        <p:spPr>
          <a:xfrm>
            <a:off x="485775" y="5726126"/>
            <a:ext cx="2844617" cy="179984"/>
          </a:xfrm>
          <a:prstGeom prst="rect">
            <a:avLst/>
          </a:prstGeom>
          <a:noFill/>
        </p:spPr>
        <p:txBody>
          <a:bodyPr wrap="none" lIns="0" tIns="0" rIns="0" bIns="0">
            <a:spAutoFit/>
          </a:bodyPr>
          <a:lstStyle/>
          <a:p>
            <a:r>
              <a:rPr sz="1055" b="0">
                <a:solidFill>
                  <a:srgbClr val="2E2E2E"/>
                </a:solidFill>
                <a:latin typeface="Calibri"/>
              </a:rPr>
              <a:t>(distributors and packaging merchants) segment in</a:t>
            </a:r>
          </a:p>
        </p:txBody>
      </p:sp>
      <p:sp>
        <p:nvSpPr>
          <p:cNvPr id="74" name="TextBox 73"/>
          <p:cNvSpPr txBox="1"/>
          <p:nvPr/>
        </p:nvSpPr>
        <p:spPr>
          <a:xfrm>
            <a:off x="485775" y="5887061"/>
            <a:ext cx="382404" cy="179984"/>
          </a:xfrm>
          <a:prstGeom prst="rect">
            <a:avLst/>
          </a:prstGeom>
          <a:noFill/>
        </p:spPr>
        <p:txBody>
          <a:bodyPr wrap="none" lIns="0" tIns="0" rIns="0" bIns="0">
            <a:spAutoFit/>
          </a:bodyPr>
          <a:lstStyle/>
          <a:p>
            <a:r>
              <a:rPr sz="1055" b="0">
                <a:solidFill>
                  <a:srgbClr val="2E2E2E"/>
                </a:solidFill>
                <a:latin typeface="Calibri"/>
              </a:rPr>
              <a:t>2036.</a:t>
            </a:r>
          </a:p>
        </p:txBody>
      </p:sp>
      <p:sp>
        <p:nvSpPr>
          <p:cNvPr id="75" name="TextBox 74"/>
          <p:cNvSpPr txBox="1"/>
          <p:nvPr/>
        </p:nvSpPr>
        <p:spPr>
          <a:xfrm>
            <a:off x="3838575" y="4229437"/>
            <a:ext cx="2016993" cy="186689"/>
          </a:xfrm>
          <a:prstGeom prst="rect">
            <a:avLst/>
          </a:prstGeom>
          <a:noFill/>
        </p:spPr>
        <p:txBody>
          <a:bodyPr wrap="none" lIns="0" tIns="0" rIns="0" bIns="0">
            <a:spAutoFit/>
          </a:bodyPr>
          <a:lstStyle/>
          <a:p>
            <a:r>
              <a:rPr sz="1100" b="0">
                <a:solidFill>
                  <a:srgbClr val="2E2E2E"/>
                </a:solidFill>
                <a:latin typeface="Calibri"/>
              </a:rPr>
              <a:t>● Direct (to brand owners/OEMs):</a:t>
            </a:r>
          </a:p>
        </p:txBody>
      </p:sp>
      <p:pic>
        <p:nvPicPr>
          <p:cNvPr id="76" name="Picture 75" descr="lock.png"/>
          <p:cNvPicPr>
            <a:picLocks noChangeAspect="1"/>
          </p:cNvPicPr>
          <p:nvPr/>
        </p:nvPicPr>
        <p:blipFill>
          <a:blip r:embed="rId10"/>
          <a:stretch>
            <a:fillRect/>
          </a:stretch>
        </p:blipFill>
        <p:spPr>
          <a:xfrm>
            <a:off x="5803619" y="4219658"/>
            <a:ext cx="128699" cy="187198"/>
          </a:xfrm>
          <a:prstGeom prst="rect">
            <a:avLst/>
          </a:prstGeom>
        </p:spPr>
      </p:pic>
      <p:sp>
        <p:nvSpPr>
          <p:cNvPr id="77" name="TextBox 76"/>
          <p:cNvSpPr txBox="1"/>
          <p:nvPr/>
        </p:nvSpPr>
        <p:spPr>
          <a:xfrm>
            <a:off x="5971115" y="4229437"/>
            <a:ext cx="911398" cy="186689"/>
          </a:xfrm>
          <a:prstGeom prst="rect">
            <a:avLst/>
          </a:prstGeom>
          <a:noFill/>
        </p:spPr>
        <p:txBody>
          <a:bodyPr wrap="none" lIns="0" tIns="0" rIns="0" bIns="0">
            <a:spAutoFit/>
          </a:bodyPr>
          <a:lstStyle/>
          <a:p>
            <a:r>
              <a:rPr sz="1100" b="0">
                <a:solidFill>
                  <a:srgbClr val="2E2E2E"/>
                </a:solidFill>
                <a:latin typeface="Calibri"/>
              </a:rPr>
              <a:t>of 2026 value ·</a:t>
            </a:r>
          </a:p>
        </p:txBody>
      </p:sp>
      <p:pic>
        <p:nvPicPr>
          <p:cNvPr id="78" name="Picture 77" descr="lock.png"/>
          <p:cNvPicPr>
            <a:picLocks noChangeAspect="1"/>
          </p:cNvPicPr>
          <p:nvPr/>
        </p:nvPicPr>
        <p:blipFill>
          <a:blip r:embed="rId10"/>
          <a:stretch>
            <a:fillRect/>
          </a:stretch>
        </p:blipFill>
        <p:spPr>
          <a:xfrm>
            <a:off x="6830565" y="4219658"/>
            <a:ext cx="128699" cy="187198"/>
          </a:xfrm>
          <a:prstGeom prst="rect">
            <a:avLst/>
          </a:prstGeom>
        </p:spPr>
      </p:pic>
      <p:sp>
        <p:nvSpPr>
          <p:cNvPr id="79" name="TextBox 78"/>
          <p:cNvSpPr txBox="1"/>
          <p:nvPr/>
        </p:nvSpPr>
        <p:spPr>
          <a:xfrm>
            <a:off x="6998061" y="4229437"/>
            <a:ext cx="723659" cy="186689"/>
          </a:xfrm>
          <a:prstGeom prst="rect">
            <a:avLst/>
          </a:prstGeom>
          <a:noFill/>
        </p:spPr>
        <p:txBody>
          <a:bodyPr wrap="none" lIns="0" tIns="0" rIns="0" bIns="0">
            <a:spAutoFit/>
          </a:bodyPr>
          <a:lstStyle/>
          <a:p>
            <a:r>
              <a:rPr sz="1100" b="0">
                <a:solidFill>
                  <a:srgbClr val="2E2E2E"/>
                </a:solidFill>
                <a:latin typeface="Calibri"/>
              </a:rPr>
              <a:t>CAGR leads</a:t>
            </a:r>
          </a:p>
        </p:txBody>
      </p:sp>
      <p:sp>
        <p:nvSpPr>
          <p:cNvPr id="80" name="TextBox 79"/>
          <p:cNvSpPr txBox="1"/>
          <p:nvPr/>
        </p:nvSpPr>
        <p:spPr>
          <a:xfrm>
            <a:off x="3838575" y="4397077"/>
            <a:ext cx="824358" cy="186689"/>
          </a:xfrm>
          <a:prstGeom prst="rect">
            <a:avLst/>
          </a:prstGeom>
          <a:noFill/>
        </p:spPr>
        <p:txBody>
          <a:bodyPr wrap="none" lIns="0" tIns="0" rIns="0" bIns="0">
            <a:spAutoFit/>
          </a:bodyPr>
          <a:lstStyle/>
          <a:p>
            <a:r>
              <a:rPr sz="1100" b="0">
                <a:solidFill>
                  <a:srgbClr val="2E2E2E"/>
                </a:solidFill>
                <a:latin typeface="Calibri"/>
              </a:rPr>
              <a:t>the segment.</a:t>
            </a:r>
          </a:p>
        </p:txBody>
      </p:sp>
      <p:sp>
        <p:nvSpPr>
          <p:cNvPr id="81" name="TextBox 80"/>
          <p:cNvSpPr txBox="1"/>
          <p:nvPr/>
        </p:nvSpPr>
        <p:spPr>
          <a:xfrm>
            <a:off x="3838575" y="4615009"/>
            <a:ext cx="2985343" cy="186689"/>
          </a:xfrm>
          <a:prstGeom prst="rect">
            <a:avLst/>
          </a:prstGeom>
          <a:noFill/>
        </p:spPr>
        <p:txBody>
          <a:bodyPr wrap="none" lIns="0" tIns="0" rIns="0" bIns="0">
            <a:spAutoFit/>
          </a:bodyPr>
          <a:lstStyle/>
          <a:p>
            <a:r>
              <a:rPr sz="1100" b="1">
                <a:solidFill>
                  <a:srgbClr val="0E72AE"/>
                </a:solidFill>
                <a:latin typeface="Calibri"/>
              </a:rPr>
              <a:t>● Indirect (distributors and packaging merchants):</a:t>
            </a:r>
          </a:p>
        </p:txBody>
      </p:sp>
      <p:pic>
        <p:nvPicPr>
          <p:cNvPr id="82" name="Picture 81" descr="lock.png"/>
          <p:cNvPicPr>
            <a:picLocks noChangeAspect="1"/>
          </p:cNvPicPr>
          <p:nvPr/>
        </p:nvPicPr>
        <p:blipFill>
          <a:blip r:embed="rId10"/>
          <a:stretch>
            <a:fillRect/>
          </a:stretch>
        </p:blipFill>
        <p:spPr>
          <a:xfrm>
            <a:off x="6771969" y="4605230"/>
            <a:ext cx="128699" cy="187198"/>
          </a:xfrm>
          <a:prstGeom prst="rect">
            <a:avLst/>
          </a:prstGeom>
        </p:spPr>
      </p:pic>
      <p:sp>
        <p:nvSpPr>
          <p:cNvPr id="83" name="TextBox 82"/>
          <p:cNvSpPr txBox="1"/>
          <p:nvPr/>
        </p:nvSpPr>
        <p:spPr>
          <a:xfrm>
            <a:off x="6939465" y="4615009"/>
            <a:ext cx="926405" cy="186689"/>
          </a:xfrm>
          <a:prstGeom prst="rect">
            <a:avLst/>
          </a:prstGeom>
          <a:noFill/>
        </p:spPr>
        <p:txBody>
          <a:bodyPr wrap="none" lIns="0" tIns="0" rIns="0" bIns="0">
            <a:spAutoFit/>
          </a:bodyPr>
          <a:lstStyle/>
          <a:p>
            <a:r>
              <a:rPr sz="1100" b="1">
                <a:solidFill>
                  <a:srgbClr val="0E72AE"/>
                </a:solidFill>
                <a:latin typeface="Calibri"/>
              </a:rPr>
              <a:t>of 2026 value ·</a:t>
            </a:r>
          </a:p>
        </p:txBody>
      </p:sp>
      <p:pic>
        <p:nvPicPr>
          <p:cNvPr id="84" name="Picture 83" descr="lock.png"/>
          <p:cNvPicPr>
            <a:picLocks noChangeAspect="1"/>
          </p:cNvPicPr>
          <p:nvPr/>
        </p:nvPicPr>
        <p:blipFill>
          <a:blip r:embed="rId10"/>
          <a:stretch>
            <a:fillRect/>
          </a:stretch>
        </p:blipFill>
        <p:spPr>
          <a:xfrm>
            <a:off x="3825107" y="4772870"/>
            <a:ext cx="128699" cy="187198"/>
          </a:xfrm>
          <a:prstGeom prst="rect">
            <a:avLst/>
          </a:prstGeom>
        </p:spPr>
      </p:pic>
      <p:sp>
        <p:nvSpPr>
          <p:cNvPr id="85" name="TextBox 84"/>
          <p:cNvSpPr txBox="1"/>
          <p:nvPr/>
        </p:nvSpPr>
        <p:spPr>
          <a:xfrm>
            <a:off x="3992603" y="4782649"/>
            <a:ext cx="1245889" cy="186689"/>
          </a:xfrm>
          <a:prstGeom prst="rect">
            <a:avLst/>
          </a:prstGeom>
          <a:noFill/>
        </p:spPr>
        <p:txBody>
          <a:bodyPr wrap="none" lIns="0" tIns="0" rIns="0" bIns="0">
            <a:spAutoFit/>
          </a:bodyPr>
          <a:lstStyle/>
          <a:p>
            <a:r>
              <a:rPr sz="1100" b="1">
                <a:solidFill>
                  <a:srgbClr val="0E72AE"/>
                </a:solidFill>
                <a:latin typeface="Calibri"/>
              </a:rPr>
              <a:t>CAGR grows fastest.</a:t>
            </a:r>
          </a:p>
        </p:txBody>
      </p:sp>
      <p:sp>
        <p:nvSpPr>
          <p:cNvPr id="86" name="TextBox 85"/>
          <p:cNvSpPr txBox="1"/>
          <p:nvPr/>
        </p:nvSpPr>
        <p:spPr>
          <a:xfrm>
            <a:off x="8524875" y="5842641"/>
            <a:ext cx="3162300" cy="194310"/>
          </a:xfrm>
          <a:prstGeom prst="rect">
            <a:avLst/>
          </a:prstGeom>
          <a:noFill/>
        </p:spPr>
        <p:txBody>
          <a:bodyPr wrap="none" lIns="0" tIns="0" rIns="0" bIns="0">
            <a:spAutoFit/>
          </a:bodyPr>
          <a:lstStyle/>
          <a:p>
            <a:r>
              <a:rPr sz="1150" b="1">
                <a:solidFill>
                  <a:srgbClr val="0B2E4A"/>
                </a:solidFill>
                <a:latin typeface="Calibri"/>
              </a:rPr>
              <a:t>The Sales Channel segment is projected to grow at a</a:t>
            </a:r>
          </a:p>
        </p:txBody>
      </p:sp>
      <p:sp>
        <p:nvSpPr>
          <p:cNvPr id="87" name="TextBox 86"/>
          <p:cNvSpPr txBox="1"/>
          <p:nvPr/>
        </p:nvSpPr>
        <p:spPr>
          <a:xfrm>
            <a:off x="8524875" y="6017901"/>
            <a:ext cx="574797" cy="194310"/>
          </a:xfrm>
          <a:prstGeom prst="rect">
            <a:avLst/>
          </a:prstGeom>
          <a:noFill/>
        </p:spPr>
        <p:txBody>
          <a:bodyPr wrap="none" lIns="0" tIns="0" rIns="0" bIns="0">
            <a:spAutoFit/>
          </a:bodyPr>
          <a:lstStyle/>
          <a:p>
            <a:r>
              <a:rPr sz="1150" b="1">
                <a:solidFill>
                  <a:srgbClr val="0B2E4A"/>
                </a:solidFill>
                <a:latin typeface="Calibri"/>
              </a:rPr>
              <a:t>CAGR of</a:t>
            </a:r>
          </a:p>
        </p:txBody>
      </p:sp>
      <p:pic>
        <p:nvPicPr>
          <p:cNvPr id="88" name="Picture 87" descr="lock.png"/>
          <p:cNvPicPr>
            <a:picLocks noChangeAspect="1"/>
          </p:cNvPicPr>
          <p:nvPr/>
        </p:nvPicPr>
        <p:blipFill>
          <a:blip r:embed="rId10"/>
          <a:stretch>
            <a:fillRect/>
          </a:stretch>
        </p:blipFill>
        <p:spPr>
          <a:xfrm>
            <a:off x="9048826" y="6007677"/>
            <a:ext cx="134549" cy="195707"/>
          </a:xfrm>
          <a:prstGeom prst="rect">
            <a:avLst/>
          </a:prstGeom>
        </p:spPr>
      </p:pic>
      <p:sp>
        <p:nvSpPr>
          <p:cNvPr id="89" name="TextBox 88"/>
          <p:cNvSpPr txBox="1"/>
          <p:nvPr/>
        </p:nvSpPr>
        <p:spPr>
          <a:xfrm>
            <a:off x="9223935" y="6017901"/>
            <a:ext cx="1232619" cy="194310"/>
          </a:xfrm>
          <a:prstGeom prst="rect">
            <a:avLst/>
          </a:prstGeom>
          <a:noFill/>
        </p:spPr>
        <p:txBody>
          <a:bodyPr wrap="none" lIns="0" tIns="0" rIns="0" bIns="0">
            <a:spAutoFit/>
          </a:bodyPr>
          <a:lstStyle/>
          <a:p>
            <a:r>
              <a:rPr sz="1150" b="1">
                <a:solidFill>
                  <a:srgbClr val="0B2E4A"/>
                </a:solidFill>
                <a:latin typeface="Calibri"/>
              </a:rPr>
              <a:t>from 2026 to 2036.</a:t>
            </a:r>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Structure &amp; Attractiveness, By Sales Channel (Value)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Sales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61531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Sales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734175" y="1038225"/>
            <a:ext cx="521017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Market Attractiveness, By Sales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501859" cy="186689"/>
          </a:xfrm>
          <a:prstGeom prst="rect">
            <a:avLst/>
          </a:prstGeom>
          <a:noFill/>
        </p:spPr>
        <p:txBody>
          <a:bodyPr wrap="none" lIns="0" tIns="0" rIns="0" bIns="0">
            <a:spAutoFit/>
          </a:bodyPr>
          <a:lstStyle/>
          <a:p>
            <a:r>
              <a:rPr sz="1100" b="0">
                <a:solidFill>
                  <a:srgbClr val="2E2E2E"/>
                </a:solidFill>
                <a:latin typeface="Calibri"/>
              </a:rPr>
              <a:t>Direct (to brand owners/oems) followed by indirect (distributors and packaging merchants) are expected to be the two most attractive sales channel segments in the North America corrugated partition</a:t>
            </a:r>
          </a:p>
        </p:txBody>
      </p:sp>
      <p:sp>
        <p:nvSpPr>
          <p:cNvPr id="21" name="TextBox 20"/>
          <p:cNvSpPr txBox="1"/>
          <p:nvPr/>
        </p:nvSpPr>
        <p:spPr>
          <a:xfrm>
            <a:off x="257175" y="5945505"/>
            <a:ext cx="9053545" cy="186689"/>
          </a:xfrm>
          <a:prstGeom prst="rect">
            <a:avLst/>
          </a:prstGeom>
          <a:noFill/>
        </p:spPr>
        <p:txBody>
          <a:bodyPr wrap="none" lIns="0" tIns="0" rIns="0" bIns="0">
            <a:spAutoFit/>
          </a:bodyPr>
          <a:lstStyle/>
          <a:p>
            <a:r>
              <a:rPr sz="1100" b="0">
                <a:solidFill>
                  <a:srgbClr val="2E2E2E"/>
                </a:solidFill>
                <a:latin typeface="Calibri"/>
              </a:rPr>
              <a:t>market in terms of value over the forecast period. Direct (to brand owners/OEMs) and indirect (distributors and packaging merchants) exhibit a CAGR index of</a:t>
            </a:r>
          </a:p>
        </p:txBody>
      </p:sp>
      <p:pic>
        <p:nvPicPr>
          <p:cNvPr id="22" name="Picture 21" descr="lock.png"/>
          <p:cNvPicPr>
            <a:picLocks noChangeAspect="1"/>
          </p:cNvPicPr>
          <p:nvPr/>
        </p:nvPicPr>
        <p:blipFill>
          <a:blip r:embed="rId6"/>
          <a:stretch>
            <a:fillRect/>
          </a:stretch>
        </p:blipFill>
        <p:spPr>
          <a:xfrm>
            <a:off x="9258771" y="5935726"/>
            <a:ext cx="128699" cy="187198"/>
          </a:xfrm>
          <a:prstGeom prst="rect">
            <a:avLst/>
          </a:prstGeom>
        </p:spPr>
      </p:pic>
      <p:sp>
        <p:nvSpPr>
          <p:cNvPr id="23" name="TextBox 22"/>
          <p:cNvSpPr txBox="1"/>
          <p:nvPr/>
        </p:nvSpPr>
        <p:spPr>
          <a:xfrm>
            <a:off x="9426267" y="594550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9664161" y="5935726"/>
            <a:ext cx="128699" cy="187198"/>
          </a:xfrm>
          <a:prstGeom prst="rect">
            <a:avLst/>
          </a:prstGeom>
        </p:spPr>
      </p:pic>
      <p:sp>
        <p:nvSpPr>
          <p:cNvPr id="25" name="TextBox 24"/>
          <p:cNvSpPr txBox="1"/>
          <p:nvPr/>
        </p:nvSpPr>
        <p:spPr>
          <a:xfrm>
            <a:off x="9831657" y="5945505"/>
            <a:ext cx="1660921" cy="186689"/>
          </a:xfrm>
          <a:prstGeom prst="rect">
            <a:avLst/>
          </a:prstGeom>
          <a:noFill/>
        </p:spPr>
        <p:txBody>
          <a:bodyPr wrap="none" lIns="0" tIns="0" r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1440631" y="5935726"/>
            <a:ext cx="128699" cy="187198"/>
          </a:xfrm>
          <a:prstGeom prst="rect">
            <a:avLst/>
          </a:prstGeom>
        </p:spPr>
      </p:pic>
      <p:sp>
        <p:nvSpPr>
          <p:cNvPr id="27" name="TextBox 26"/>
          <p:cNvSpPr txBox="1"/>
          <p:nvPr/>
        </p:nvSpPr>
        <p:spPr>
          <a:xfrm>
            <a:off x="257175" y="6113145"/>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495069" y="6103366"/>
            <a:ext cx="128699" cy="187198"/>
          </a:xfrm>
          <a:prstGeom prst="rect">
            <a:avLst/>
          </a:prstGeom>
        </p:spPr>
      </p:pic>
      <p:sp>
        <p:nvSpPr>
          <p:cNvPr id="29" name="TextBox 28"/>
          <p:cNvSpPr txBox="1"/>
          <p:nvPr/>
        </p:nvSpPr>
        <p:spPr>
          <a:xfrm>
            <a:off x="662565" y="6113145"/>
            <a:ext cx="2606352" cy="186689"/>
          </a:xfrm>
          <a:prstGeom prst="rect">
            <a:avLst/>
          </a:prstGeom>
          <a:noFill/>
        </p:spPr>
        <p:txBody>
          <a:bodyPr wrap="none" lIns="0" tIns="0" r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3216969" y="6103366"/>
            <a:ext cx="128699" cy="187198"/>
          </a:xfrm>
          <a:prstGeom prst="rect">
            <a:avLst/>
          </a:prstGeom>
        </p:spPr>
      </p:pic>
      <p:sp>
        <p:nvSpPr>
          <p:cNvPr id="31" name="TextBox 30"/>
          <p:cNvSpPr txBox="1"/>
          <p:nvPr/>
        </p:nvSpPr>
        <p:spPr>
          <a:xfrm>
            <a:off x="3384465" y="6113145"/>
            <a:ext cx="4443717" cy="186689"/>
          </a:xfrm>
          <a:prstGeom prst="rect">
            <a:avLst/>
          </a:prstGeom>
          <a:noFill/>
        </p:spPr>
        <p:txBody>
          <a:bodyPr wrap="none" lIns="0" tIns="0" rIns="0" bIns="0">
            <a:spAutoFit/>
          </a:bodyPr>
          <a:lstStyle/>
          <a:p>
            <a:r>
              <a:rPr sz="1100" b="0">
                <a:solidFill>
                  <a:srgbClr val="2E2E2E"/>
                </a:solidFill>
                <a:latin typeface="Calibri"/>
              </a:rPr>
              <a:t>. Bubbles right of the CAGR-Index line grow faster than the segment average.</a:t>
            </a:r>
          </a:p>
        </p:txBody>
      </p:sp>
      <p:sp>
        <p:nvSpPr>
          <p:cNvPr id="32"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Analysis, By Sales Channel</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build-up by Sales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Direct (to brand owners/OEMs)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Incremental $ Opportunity (US$ Mn), 2026-2036, By Indirect (distributors and packaging merchants)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xmlns:r="http://schemas.openxmlformats.org/officeDocument/2006/relationships" r:id="rId5"/>
          </a:graphicData>
        </a:graphic>
      </p:graphicFrame>
      <p:sp>
        <p:nvSpPr>
          <p:cNvPr id="17" name="TextBox 1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Volume Analysis, By Sales Channel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419350"/>
          </a:xfrm>
          <a:prstGeom prst="roundRect">
            <a:avLst>
              <a:gd name="adj" fmla="val 31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By Sales Channel (MT)</a:t>
            </a:r>
          </a:p>
        </p:txBody>
      </p:sp>
      <p:graphicFrame>
        <p:nvGraphicFramePr>
          <p:cNvPr id="13" name="Table 12"/>
          <p:cNvGraphicFramePr>
            <a:graphicFrameLocks noGrp="1"/>
          </p:cNvGraphicFramePr>
          <p:nvPr/>
        </p:nvGraphicFramePr>
        <p:xfrm>
          <a:off x="152400" y="1238250"/>
          <a:ext cx="11887200" cy="1952625"/>
        </p:xfrm>
        <a:graphic>
          <a:graphicData uri="http://schemas.openxmlformats.org/drawingml/2006/table">
            <a:tbl>
              <a:tblPr>
                <a:tableStyleId>{5C22544A-7EE6-4342-B048-85BDC9FD1C3A}</a:tableStyleId>
              </a:tblPr>
              <a:tblGrid>
                <a:gridCol w="649304">
                  <a:extLst>
                    <a:ext uri="{9D8B030D-6E8A-4147-A177-3AD203B41FA5}">
                      <a16:colId xmlns:a16="http://schemas.microsoft.com/office/drawing/2014/main" val="20000"/>
                    </a:ext>
                  </a:extLst>
                </a:gridCol>
                <a:gridCol w="674370">
                  <a:extLst>
                    <a:ext uri="{9D8B030D-6E8A-4147-A177-3AD203B41FA5}">
                      <a16:colId xmlns:a16="http://schemas.microsoft.com/office/drawing/2014/main" val="20001"/>
                    </a:ext>
                  </a:extLst>
                </a:gridCol>
                <a:gridCol w="674370">
                  <a:extLst>
                    <a:ext uri="{9D8B030D-6E8A-4147-A177-3AD203B41FA5}">
                      <a16:colId xmlns:a16="http://schemas.microsoft.com/office/drawing/2014/main" val="20002"/>
                    </a:ext>
                  </a:extLst>
                </a:gridCol>
                <a:gridCol w="674370">
                  <a:extLst>
                    <a:ext uri="{9D8B030D-6E8A-4147-A177-3AD203B41FA5}">
                      <a16:colId xmlns:a16="http://schemas.microsoft.com/office/drawing/2014/main" val="20003"/>
                    </a:ext>
                  </a:extLst>
                </a:gridCol>
                <a:gridCol w="674370">
                  <a:extLst>
                    <a:ext uri="{9D8B030D-6E8A-4147-A177-3AD203B41FA5}">
                      <a16:colId xmlns:a16="http://schemas.microsoft.com/office/drawing/2014/main" val="20004"/>
                    </a:ext>
                  </a:extLst>
                </a:gridCol>
                <a:gridCol w="674370">
                  <a:extLst>
                    <a:ext uri="{9D8B030D-6E8A-4147-A177-3AD203B41FA5}">
                      <a16:colId xmlns:a16="http://schemas.microsoft.com/office/drawing/2014/main" val="20005"/>
                    </a:ext>
                  </a:extLst>
                </a:gridCol>
                <a:gridCol w="674370">
                  <a:extLst>
                    <a:ext uri="{9D8B030D-6E8A-4147-A177-3AD203B41FA5}">
                      <a16:colId xmlns:a16="http://schemas.microsoft.com/office/drawing/2014/main" val="20006"/>
                    </a:ext>
                  </a:extLst>
                </a:gridCol>
                <a:gridCol w="674370">
                  <a:extLst>
                    <a:ext uri="{9D8B030D-6E8A-4147-A177-3AD203B41FA5}">
                      <a16:colId xmlns:a16="http://schemas.microsoft.com/office/drawing/2014/main" val="20007"/>
                    </a:ext>
                  </a:extLst>
                </a:gridCol>
                <a:gridCol w="674370">
                  <a:extLst>
                    <a:ext uri="{9D8B030D-6E8A-4147-A177-3AD203B41FA5}">
                      <a16:colId xmlns:a16="http://schemas.microsoft.com/office/drawing/2014/main" val="20008"/>
                    </a:ext>
                  </a:extLst>
                </a:gridCol>
                <a:gridCol w="674370">
                  <a:extLst>
                    <a:ext uri="{9D8B030D-6E8A-4147-A177-3AD203B41FA5}">
                      <a16:colId xmlns:a16="http://schemas.microsoft.com/office/drawing/2014/main" val="20009"/>
                    </a:ext>
                  </a:extLst>
                </a:gridCol>
                <a:gridCol w="674370">
                  <a:extLst>
                    <a:ext uri="{9D8B030D-6E8A-4147-A177-3AD203B41FA5}">
                      <a16:colId xmlns:a16="http://schemas.microsoft.com/office/drawing/2014/main" val="20010"/>
                    </a:ext>
                  </a:extLst>
                </a:gridCol>
                <a:gridCol w="674370">
                  <a:extLst>
                    <a:ext uri="{9D8B030D-6E8A-4147-A177-3AD203B41FA5}">
                      <a16:colId xmlns:a16="http://schemas.microsoft.com/office/drawing/2014/main" val="20011"/>
                    </a:ext>
                  </a:extLst>
                </a:gridCol>
                <a:gridCol w="674370">
                  <a:extLst>
                    <a:ext uri="{9D8B030D-6E8A-4147-A177-3AD203B41FA5}">
                      <a16:colId xmlns:a16="http://schemas.microsoft.com/office/drawing/2014/main" val="20012"/>
                    </a:ext>
                  </a:extLst>
                </a:gridCol>
                <a:gridCol w="674370">
                  <a:extLst>
                    <a:ext uri="{9D8B030D-6E8A-4147-A177-3AD203B41FA5}">
                      <a16:colId xmlns:a16="http://schemas.microsoft.com/office/drawing/2014/main" val="20013"/>
                    </a:ext>
                  </a:extLst>
                </a:gridCol>
                <a:gridCol w="674370">
                  <a:extLst>
                    <a:ext uri="{9D8B030D-6E8A-4147-A177-3AD203B41FA5}">
                      <a16:colId xmlns:a16="http://schemas.microsoft.com/office/drawing/2014/main" val="20014"/>
                    </a:ext>
                  </a:extLst>
                </a:gridCol>
                <a:gridCol w="674370">
                  <a:extLst>
                    <a:ext uri="{9D8B030D-6E8A-4147-A177-3AD203B41FA5}">
                      <a16:colId xmlns:a16="http://schemas.microsoft.com/office/drawing/2014/main" val="20015"/>
                    </a:ext>
                  </a:extLst>
                </a:gridCol>
                <a:gridCol w="674370">
                  <a:extLst>
                    <a:ext uri="{9D8B030D-6E8A-4147-A177-3AD203B41FA5}">
                      <a16:colId xmlns:a16="http://schemas.microsoft.com/office/drawing/2014/main" val="20016"/>
                    </a:ext>
                  </a:extLst>
                </a:gridCol>
                <a:gridCol w="447976">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Sales</a:t>
                      </a:r>
                      <a:endParaRPr sz="1100"/>
                    </a:p>
                    <a:p>
                      <a:pPr algn="l"/>
                      <a:r>
                        <a:rPr sz="1100" b="1">
                          <a:solidFill>
                            <a:srgbClr val="0B2E4A"/>
                          </a:solidFill>
                          <a:latin typeface="Calibri"/>
                        </a:rPr>
                        <a:t>Channel</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a:lstStyle/>
                    <a:p>
                      <a:pPr algn="ctr"/>
                      <a:r>
                        <a:rPr sz="1100" b="1">
                          <a:solidFill>
                            <a:srgbClr val="0B2E4A"/>
                          </a:solidFill>
                          <a:latin typeface="Calibri"/>
                        </a:rPr>
                        <a:t>F-CAGR</a:t>
                      </a:r>
                      <a:endParaRPr sz="1100"/>
                    </a:p>
                  </a:txBody>
                  <a:tcPr marL="38100" marR="28575" marT="19050" marB="19050" anchor="ctr">
                    <a:solidFill>
                      <a:srgbClr val="E0E8EF"/>
                    </a:solidFill>
                  </a:tcPr>
                </a:tc>
                <a:extLst>
                  <a:ext uri="{0D108BD9-81ED-4DB2-BD59-A6C34878D82A}">
                    <a16:rowId xmlns:a16="http://schemas.microsoft.com/office/drawing/2014/main" val="10000"/>
                  </a:ext>
                </a:extLst>
              </a:tr>
              <a:tr h="504571">
                <a:tc>
                  <a:txBody>
                    <a:bodyPr/>
                    <a:lstStyle/>
                    <a:p>
                      <a:pPr algn="l"/>
                      <a:r>
                        <a:rPr sz="1100" b="1">
                          <a:solidFill>
                            <a:srgbClr val="2E2E2E"/>
                          </a:solidFill>
                          <a:latin typeface="Calibri"/>
                        </a:rPr>
                        <a:t>Direct</a:t>
                      </a:r>
                      <a:endParaRPr sz="1100"/>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extLst>
                  <a:ext uri="{0D108BD9-81ED-4DB2-BD59-A6C34878D82A}">
                    <a16:rowId xmlns:a16="http://schemas.microsoft.com/office/drawing/2014/main" val="10001"/>
                  </a:ext>
                </a:extLst>
              </a:tr>
              <a:tr h="504571">
                <a:tc>
                  <a:txBody>
                    <a:bodyPr/>
                    <a:lstStyle/>
                    <a:p>
                      <a:pPr algn="l"/>
                      <a:r>
                        <a:rPr sz="1100" b="1">
                          <a:solidFill>
                            <a:srgbClr val="2E2E2E"/>
                          </a:solidFill>
                          <a:latin typeface="Calibri"/>
                        </a:rPr>
                        <a:t>Indirect</a:t>
                      </a:r>
                      <a:endParaRPr sz="1100"/>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extLst>
                  <a:ext uri="{0D108BD9-81ED-4DB2-BD59-A6C34878D82A}">
                    <a16:rowId xmlns:a16="http://schemas.microsoft.com/office/drawing/2014/main" val="10002"/>
                  </a:ext>
                </a:extLst>
              </a:tr>
              <a:tr h="504571">
                <a:tc>
                  <a:txBody>
                    <a:bodyPr/>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32004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33775"/>
            <a:ext cx="11906250" cy="3095625"/>
          </a:xfrm>
          <a:prstGeom prst="roundRect">
            <a:avLst>
              <a:gd name="adj" fmla="val 24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619500"/>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Volume Analysis, By Sales Channel</a:t>
            </a:r>
          </a:p>
        </p:txBody>
      </p:sp>
      <p:sp>
        <p:nvSpPr>
          <p:cNvPr id="17" name="Rectangle 16"/>
          <p:cNvSpPr/>
          <p:nvPr/>
        </p:nvSpPr>
        <p:spPr>
          <a:xfrm>
            <a:off x="276225" y="3857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943350"/>
            <a:ext cx="11639550" cy="26098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33961" y="2167318"/>
            <a:ext cx="366712" cy="533400"/>
          </a:xfrm>
          <a:prstGeom prst="rect">
            <a:avLst/>
          </a:prstGeom>
        </p:spPr>
      </p:pic>
      <p:sp>
        <p:nvSpPr>
          <p:cNvPr id="21" name="TextBox 20"/>
          <p:cNvSpPr txBox="1"/>
          <p:nvPr/>
        </p:nvSpPr>
        <p:spPr>
          <a:xfrm>
            <a:off x="276225" y="3952875"/>
            <a:ext cx="3843548" cy="194310"/>
          </a:xfrm>
          <a:prstGeom prst="rect">
            <a:avLst/>
          </a:prstGeom>
          <a:noFill/>
        </p:spPr>
        <p:txBody>
          <a:bodyPr wrap="none" lIns="0" tIns="0" rIns="0" bIns="0">
            <a:spAutoFit/>
          </a:bodyPr>
          <a:lstStyle/>
          <a:p>
            <a:r>
              <a:rPr sz="1150" b="0">
                <a:solidFill>
                  <a:srgbClr val="2E2E2E"/>
                </a:solidFill>
                <a:latin typeface="Calibri"/>
              </a:rPr>
              <a:t>Direct (to brand owners/oems) segment is projected to register</a:t>
            </a:r>
          </a:p>
        </p:txBody>
      </p:sp>
      <p:pic>
        <p:nvPicPr>
          <p:cNvPr id="22" name="Picture 21" descr="lock.png"/>
          <p:cNvPicPr>
            <a:picLocks noChangeAspect="1"/>
          </p:cNvPicPr>
          <p:nvPr/>
        </p:nvPicPr>
        <p:blipFill>
          <a:blip r:embed="rId4"/>
          <a:stretch>
            <a:fillRect/>
          </a:stretch>
        </p:blipFill>
        <p:spPr>
          <a:xfrm>
            <a:off x="4068927" y="3942651"/>
            <a:ext cx="134549" cy="195707"/>
          </a:xfrm>
          <a:prstGeom prst="rect">
            <a:avLst/>
          </a:prstGeom>
        </p:spPr>
      </p:pic>
      <p:sp>
        <p:nvSpPr>
          <p:cNvPr id="23" name="TextBox 22"/>
          <p:cNvSpPr txBox="1"/>
          <p:nvPr/>
        </p:nvSpPr>
        <p:spPr>
          <a:xfrm>
            <a:off x="4244036" y="3952875"/>
            <a:ext cx="7443452" cy="194310"/>
          </a:xfrm>
          <a:prstGeom prst="rect">
            <a:avLst/>
          </a:prstGeom>
          <a:noFill/>
        </p:spPr>
        <p:txBody>
          <a:bodyPr wrap="none" lIns="0" tIns="0" rIns="0" bIns="0">
            <a:spAutoFit/>
          </a:bodyPr>
          <a:lstStyle/>
          <a:p>
            <a:r>
              <a:rPr sz="1150" b="0">
                <a:solidFill>
                  <a:srgbClr val="2E2E2E"/>
                </a:solidFill>
                <a:latin typeface="Calibri"/>
              </a:rPr>
              <a:t>X higher volume than indirect (distributors and packaging merchants) segment in 2036. Among corrugated partition by sales</a:t>
            </a:r>
          </a:p>
        </p:txBody>
      </p:sp>
      <p:sp>
        <p:nvSpPr>
          <p:cNvPr id="24" name="TextBox 23"/>
          <p:cNvSpPr txBox="1"/>
          <p:nvPr/>
        </p:nvSpPr>
        <p:spPr>
          <a:xfrm>
            <a:off x="276225" y="4128135"/>
            <a:ext cx="6540891" cy="194310"/>
          </a:xfrm>
          <a:prstGeom prst="rect">
            <a:avLst/>
          </a:prstGeom>
          <a:noFill/>
        </p:spPr>
        <p:txBody>
          <a:bodyPr wrap="none" lIns="0" tIns="0" rIns="0" bIns="0">
            <a:spAutoFit/>
          </a:bodyPr>
          <a:lstStyle/>
          <a:p>
            <a:r>
              <a:rPr sz="1150" b="0">
                <a:solidFill>
                  <a:srgbClr val="2E2E2E"/>
                </a:solidFill>
                <a:latin typeface="Calibri"/>
              </a:rPr>
              <a:t>channel, indirect (distributors and packaging merchants) segment is expected to witness the highest CAGR of</a:t>
            </a:r>
          </a:p>
        </p:txBody>
      </p:sp>
      <p:pic>
        <p:nvPicPr>
          <p:cNvPr id="25" name="Picture 24" descr="lock.png"/>
          <p:cNvPicPr>
            <a:picLocks noChangeAspect="1"/>
          </p:cNvPicPr>
          <p:nvPr/>
        </p:nvPicPr>
        <p:blipFill>
          <a:blip r:embed="rId4"/>
          <a:stretch>
            <a:fillRect/>
          </a:stretch>
        </p:blipFill>
        <p:spPr>
          <a:xfrm>
            <a:off x="6766270" y="4117911"/>
            <a:ext cx="134549" cy="195707"/>
          </a:xfrm>
          <a:prstGeom prst="rect">
            <a:avLst/>
          </a:prstGeom>
        </p:spPr>
      </p:pic>
      <p:sp>
        <p:nvSpPr>
          <p:cNvPr id="26" name="TextBox 25"/>
          <p:cNvSpPr txBox="1"/>
          <p:nvPr/>
        </p:nvSpPr>
        <p:spPr>
          <a:xfrm>
            <a:off x="6941379" y="412813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4355972"/>
            <a:ext cx="7813141" cy="194310"/>
          </a:xfrm>
          <a:prstGeom prst="rect">
            <a:avLst/>
          </a:prstGeom>
          <a:noFill/>
        </p:spPr>
        <p:txBody>
          <a:bodyPr wrap="none" lIns="0" tIns="0" rIns="0" bIns="0">
            <a:spAutoFit/>
          </a:bodyPr>
          <a:lstStyle/>
          <a:p>
            <a:r>
              <a:rPr sz="1150" b="0">
                <a:solidFill>
                  <a:srgbClr val="2E2E2E"/>
                </a:solidFill>
                <a:latin typeface="Calibri"/>
              </a:rPr>
              <a:t>In terms of volume share by sales channel, the direct (to brand owners/oems) segment is expected to dominate the market, losing</a:t>
            </a:r>
          </a:p>
        </p:txBody>
      </p:sp>
      <p:pic>
        <p:nvPicPr>
          <p:cNvPr id="28" name="Picture 27" descr="lock.png"/>
          <p:cNvPicPr>
            <a:picLocks noChangeAspect="1"/>
          </p:cNvPicPr>
          <p:nvPr/>
        </p:nvPicPr>
        <p:blipFill>
          <a:blip r:embed="rId4"/>
          <a:stretch>
            <a:fillRect/>
          </a:stretch>
        </p:blipFill>
        <p:spPr>
          <a:xfrm>
            <a:off x="8038520" y="4345749"/>
            <a:ext cx="134549" cy="195707"/>
          </a:xfrm>
          <a:prstGeom prst="rect">
            <a:avLst/>
          </a:prstGeom>
        </p:spPr>
      </p:pic>
      <p:sp>
        <p:nvSpPr>
          <p:cNvPr id="29" name="TextBox 28"/>
          <p:cNvSpPr txBox="1"/>
          <p:nvPr/>
        </p:nvSpPr>
        <p:spPr>
          <a:xfrm>
            <a:off x="8213629" y="4355972"/>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608773" y="4345749"/>
            <a:ext cx="134549" cy="195707"/>
          </a:xfrm>
          <a:prstGeom prst="rect">
            <a:avLst/>
          </a:prstGeom>
        </p:spPr>
      </p:pic>
      <p:sp>
        <p:nvSpPr>
          <p:cNvPr id="31" name="TextBox 30"/>
          <p:cNvSpPr txBox="1"/>
          <p:nvPr/>
        </p:nvSpPr>
        <p:spPr>
          <a:xfrm>
            <a:off x="9783882" y="4355972"/>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Analysis, By Sales Channel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value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By Sales Channel (US$ Mn)</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073029">
                  <a:extLst>
                    <a:ext uri="{9D8B030D-6E8A-4147-A177-3AD203B41FA5}">
                      <a16:colId xmlns:a16="http://schemas.microsoft.com/office/drawing/2014/main" val="20000"/>
                    </a:ext>
                  </a:extLst>
                </a:gridCol>
                <a:gridCol w="636128">
                  <a:extLst>
                    <a:ext uri="{9D8B030D-6E8A-4147-A177-3AD203B41FA5}">
                      <a16:colId xmlns:a16="http://schemas.microsoft.com/office/drawing/2014/main" val="20001"/>
                    </a:ext>
                  </a:extLst>
                </a:gridCol>
                <a:gridCol w="636128">
                  <a:extLst>
                    <a:ext uri="{9D8B030D-6E8A-4147-A177-3AD203B41FA5}">
                      <a16:colId xmlns:a16="http://schemas.microsoft.com/office/drawing/2014/main" val="20002"/>
                    </a:ext>
                  </a:extLst>
                </a:gridCol>
                <a:gridCol w="636128">
                  <a:extLst>
                    <a:ext uri="{9D8B030D-6E8A-4147-A177-3AD203B41FA5}">
                      <a16:colId xmlns:a16="http://schemas.microsoft.com/office/drawing/2014/main" val="20003"/>
                    </a:ext>
                  </a:extLst>
                </a:gridCol>
                <a:gridCol w="636128">
                  <a:extLst>
                    <a:ext uri="{9D8B030D-6E8A-4147-A177-3AD203B41FA5}">
                      <a16:colId xmlns:a16="http://schemas.microsoft.com/office/drawing/2014/main" val="20004"/>
                    </a:ext>
                  </a:extLst>
                </a:gridCol>
                <a:gridCol w="636128">
                  <a:extLst>
                    <a:ext uri="{9D8B030D-6E8A-4147-A177-3AD203B41FA5}">
                      <a16:colId xmlns:a16="http://schemas.microsoft.com/office/drawing/2014/main" val="20005"/>
                    </a:ext>
                  </a:extLst>
                </a:gridCol>
                <a:gridCol w="636128">
                  <a:extLst>
                    <a:ext uri="{9D8B030D-6E8A-4147-A177-3AD203B41FA5}">
                      <a16:colId xmlns:a16="http://schemas.microsoft.com/office/drawing/2014/main" val="20006"/>
                    </a:ext>
                  </a:extLst>
                </a:gridCol>
                <a:gridCol w="636128">
                  <a:extLst>
                    <a:ext uri="{9D8B030D-6E8A-4147-A177-3AD203B41FA5}">
                      <a16:colId xmlns:a16="http://schemas.microsoft.com/office/drawing/2014/main" val="20007"/>
                    </a:ext>
                  </a:extLst>
                </a:gridCol>
                <a:gridCol w="636128">
                  <a:extLst>
                    <a:ext uri="{9D8B030D-6E8A-4147-A177-3AD203B41FA5}">
                      <a16:colId xmlns:a16="http://schemas.microsoft.com/office/drawing/2014/main" val="20008"/>
                    </a:ext>
                  </a:extLst>
                </a:gridCol>
                <a:gridCol w="636128">
                  <a:extLst>
                    <a:ext uri="{9D8B030D-6E8A-4147-A177-3AD203B41FA5}">
                      <a16:colId xmlns:a16="http://schemas.microsoft.com/office/drawing/2014/main" val="20009"/>
                    </a:ext>
                  </a:extLst>
                </a:gridCol>
                <a:gridCol w="636128">
                  <a:extLst>
                    <a:ext uri="{9D8B030D-6E8A-4147-A177-3AD203B41FA5}">
                      <a16:colId xmlns:a16="http://schemas.microsoft.com/office/drawing/2014/main" val="20010"/>
                    </a:ext>
                  </a:extLst>
                </a:gridCol>
                <a:gridCol w="636128">
                  <a:extLst>
                    <a:ext uri="{9D8B030D-6E8A-4147-A177-3AD203B41FA5}">
                      <a16:colId xmlns:a16="http://schemas.microsoft.com/office/drawing/2014/main" val="20011"/>
                    </a:ext>
                  </a:extLst>
                </a:gridCol>
                <a:gridCol w="636128">
                  <a:extLst>
                    <a:ext uri="{9D8B030D-6E8A-4147-A177-3AD203B41FA5}">
                      <a16:colId xmlns:a16="http://schemas.microsoft.com/office/drawing/2014/main" val="20012"/>
                    </a:ext>
                  </a:extLst>
                </a:gridCol>
                <a:gridCol w="636128">
                  <a:extLst>
                    <a:ext uri="{9D8B030D-6E8A-4147-A177-3AD203B41FA5}">
                      <a16:colId xmlns:a16="http://schemas.microsoft.com/office/drawing/2014/main" val="20013"/>
                    </a:ext>
                  </a:extLst>
                </a:gridCol>
                <a:gridCol w="636128">
                  <a:extLst>
                    <a:ext uri="{9D8B030D-6E8A-4147-A177-3AD203B41FA5}">
                      <a16:colId xmlns:a16="http://schemas.microsoft.com/office/drawing/2014/main" val="20014"/>
                    </a:ext>
                  </a:extLst>
                </a:gridCol>
                <a:gridCol w="636128">
                  <a:extLst>
                    <a:ext uri="{9D8B030D-6E8A-4147-A177-3AD203B41FA5}">
                      <a16:colId xmlns:a16="http://schemas.microsoft.com/office/drawing/2014/main" val="20015"/>
                    </a:ext>
                  </a:extLst>
                </a:gridCol>
                <a:gridCol w="636128">
                  <a:extLst>
                    <a:ext uri="{9D8B030D-6E8A-4147-A177-3AD203B41FA5}">
                      <a16:colId xmlns:a16="http://schemas.microsoft.com/office/drawing/2014/main" val="20016"/>
                    </a:ext>
                  </a:extLst>
                </a:gridCol>
                <a:gridCol w="636128">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2657475"/>
            <a:ext cx="11639550" cy="209550"/>
          </a:xfrm>
          <a:prstGeom prst="rect">
            <a:avLst/>
          </a:prstGeom>
          <a:noFill/>
        </p:spPr>
        <p:txBody>
          <a:bodyPr wrap="square" lIns="0" tIns="9525" rIns="19050" bIns="9525">
            <a:spAutoFit/>
          </a:bodyPr>
          <a:lstStyle/>
          <a:p>
            <a:pPr algn="l"/>
            <a:r>
              <a:rPr sz="1300" b="1">
                <a:solidFill>
                  <a:srgbClr val="0B2E4A"/>
                </a:solidFill>
                <a:latin typeface="Calibri"/>
              </a:rPr>
              <a:t>North America Value Analysis, By Sales Channel</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2981325"/>
            <a:ext cx="11639550" cy="3571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45826" y="1589913"/>
            <a:ext cx="366712" cy="533400"/>
          </a:xfrm>
          <a:prstGeom prst="rect">
            <a:avLst/>
          </a:prstGeom>
        </p:spPr>
      </p:pic>
      <p:sp>
        <p:nvSpPr>
          <p:cNvPr id="21" name="TextBox 20"/>
          <p:cNvSpPr txBox="1"/>
          <p:nvPr/>
        </p:nvSpPr>
        <p:spPr>
          <a:xfrm>
            <a:off x="276225" y="2990850"/>
            <a:ext cx="3843548" cy="194310"/>
          </a:xfrm>
          <a:prstGeom prst="rect">
            <a:avLst/>
          </a:prstGeom>
          <a:noFill/>
        </p:spPr>
        <p:txBody>
          <a:bodyPr wrap="none" lIns="0" tIns="0" rIns="0" bIns="0">
            <a:spAutoFit/>
          </a:bodyPr>
          <a:lstStyle/>
          <a:p>
            <a:r>
              <a:rPr sz="1150" b="0">
                <a:solidFill>
                  <a:srgbClr val="2E2E2E"/>
                </a:solidFill>
                <a:latin typeface="Calibri"/>
              </a:rPr>
              <a:t>Direct (to brand owners/oems) segment is projected to register</a:t>
            </a:r>
          </a:p>
        </p:txBody>
      </p:sp>
      <p:pic>
        <p:nvPicPr>
          <p:cNvPr id="22" name="Picture 21" descr="lock.png"/>
          <p:cNvPicPr>
            <a:picLocks noChangeAspect="1"/>
          </p:cNvPicPr>
          <p:nvPr/>
        </p:nvPicPr>
        <p:blipFill>
          <a:blip r:embed="rId4"/>
          <a:stretch>
            <a:fillRect/>
          </a:stretch>
        </p:blipFill>
        <p:spPr>
          <a:xfrm>
            <a:off x="4068927" y="2980626"/>
            <a:ext cx="134549" cy="195707"/>
          </a:xfrm>
          <a:prstGeom prst="rect">
            <a:avLst/>
          </a:prstGeom>
        </p:spPr>
      </p:pic>
      <p:sp>
        <p:nvSpPr>
          <p:cNvPr id="23" name="TextBox 22"/>
          <p:cNvSpPr txBox="1"/>
          <p:nvPr/>
        </p:nvSpPr>
        <p:spPr>
          <a:xfrm>
            <a:off x="4244036" y="2990850"/>
            <a:ext cx="7319652" cy="194310"/>
          </a:xfrm>
          <a:prstGeom prst="rect">
            <a:avLst/>
          </a:prstGeom>
          <a:noFill/>
        </p:spPr>
        <p:txBody>
          <a:bodyPr wrap="none" lIns="0" tIns="0" rIns="0" bIns="0">
            <a:spAutoFit/>
          </a:bodyPr>
          <a:lstStyle/>
          <a:p>
            <a:r>
              <a:rPr sz="1150" b="0">
                <a:solidFill>
                  <a:srgbClr val="2E2E2E"/>
                </a:solidFill>
                <a:latin typeface="Calibri"/>
              </a:rPr>
              <a:t>X higher value than indirect (distributors and packaging merchants) segment in 2036. Among corrugated partition by sales</a:t>
            </a:r>
          </a:p>
        </p:txBody>
      </p:sp>
      <p:sp>
        <p:nvSpPr>
          <p:cNvPr id="24" name="TextBox 23"/>
          <p:cNvSpPr txBox="1"/>
          <p:nvPr/>
        </p:nvSpPr>
        <p:spPr>
          <a:xfrm>
            <a:off x="276225" y="3166110"/>
            <a:ext cx="6540891" cy="194310"/>
          </a:xfrm>
          <a:prstGeom prst="rect">
            <a:avLst/>
          </a:prstGeom>
          <a:noFill/>
        </p:spPr>
        <p:txBody>
          <a:bodyPr wrap="none" lIns="0" tIns="0" rIns="0" bIns="0">
            <a:spAutoFit/>
          </a:bodyPr>
          <a:lstStyle/>
          <a:p>
            <a:r>
              <a:rPr sz="1150" b="0">
                <a:solidFill>
                  <a:srgbClr val="2E2E2E"/>
                </a:solidFill>
                <a:latin typeface="Calibri"/>
              </a:rPr>
              <a:t>channel, indirect (distributors and packaging merchants) segment is expected to witness the highest CAGR of</a:t>
            </a:r>
          </a:p>
        </p:txBody>
      </p:sp>
      <p:pic>
        <p:nvPicPr>
          <p:cNvPr id="25" name="Picture 24" descr="lock.png"/>
          <p:cNvPicPr>
            <a:picLocks noChangeAspect="1"/>
          </p:cNvPicPr>
          <p:nvPr/>
        </p:nvPicPr>
        <p:blipFill>
          <a:blip r:embed="rId4"/>
          <a:stretch>
            <a:fillRect/>
          </a:stretch>
        </p:blipFill>
        <p:spPr>
          <a:xfrm>
            <a:off x="6766270" y="3155886"/>
            <a:ext cx="134549" cy="195707"/>
          </a:xfrm>
          <a:prstGeom prst="rect">
            <a:avLst/>
          </a:prstGeom>
        </p:spPr>
      </p:pic>
      <p:sp>
        <p:nvSpPr>
          <p:cNvPr id="26" name="TextBox 25"/>
          <p:cNvSpPr txBox="1"/>
          <p:nvPr/>
        </p:nvSpPr>
        <p:spPr>
          <a:xfrm>
            <a:off x="6941379" y="3166110"/>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689341" cy="194310"/>
          </a:xfrm>
          <a:prstGeom prst="rect">
            <a:avLst/>
          </a:prstGeom>
          <a:noFill/>
        </p:spPr>
        <p:txBody>
          <a:bodyPr wrap="none" lIns="0" tIns="0" rIns="0" bIns="0">
            <a:spAutoFit/>
          </a:bodyPr>
          <a:lstStyle/>
          <a:p>
            <a:r>
              <a:rPr sz="1150" b="0">
                <a:solidFill>
                  <a:srgbClr val="2E2E2E"/>
                </a:solidFill>
                <a:latin typeface="Calibri"/>
              </a:rPr>
              <a:t>In terms of value share by sales channel, the direct (to brand owners/oems) segment is expected to dominate the market, losing</a:t>
            </a:r>
          </a:p>
        </p:txBody>
      </p:sp>
      <p:pic>
        <p:nvPicPr>
          <p:cNvPr id="28" name="Picture 27" descr="lock.png"/>
          <p:cNvPicPr>
            <a:picLocks noChangeAspect="1"/>
          </p:cNvPicPr>
          <p:nvPr/>
        </p:nvPicPr>
        <p:blipFill>
          <a:blip r:embed="rId4"/>
          <a:stretch>
            <a:fillRect/>
          </a:stretch>
        </p:blipFill>
        <p:spPr>
          <a:xfrm>
            <a:off x="7914720" y="3383724"/>
            <a:ext cx="134549" cy="195707"/>
          </a:xfrm>
          <a:prstGeom prst="rect">
            <a:avLst/>
          </a:prstGeom>
        </p:spPr>
      </p:pic>
      <p:sp>
        <p:nvSpPr>
          <p:cNvPr id="29" name="TextBox 28"/>
          <p:cNvSpPr txBox="1"/>
          <p:nvPr/>
        </p:nvSpPr>
        <p:spPr>
          <a:xfrm>
            <a:off x="8089829" y="3393947"/>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484972" y="3383724"/>
            <a:ext cx="134549" cy="195707"/>
          </a:xfrm>
          <a:prstGeom prst="rect">
            <a:avLst/>
          </a:prstGeom>
        </p:spPr>
      </p:pic>
      <p:sp>
        <p:nvSpPr>
          <p:cNvPr id="31" name="TextBox 30"/>
          <p:cNvSpPr txBox="1"/>
          <p:nvPr/>
        </p:nvSpPr>
        <p:spPr>
          <a:xfrm>
            <a:off x="9660082" y="3393947"/>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Value &amp; Share Shift, By Sales Channel</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Value composition by Sales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7210425"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Composition, By Sales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852797" y="1590675"/>
            <a:ext cx="2595753" cy="171069"/>
          </a:xfrm>
          <a:prstGeom prst="rect">
            <a:avLst/>
          </a:prstGeom>
          <a:noFill/>
        </p:spPr>
        <p:txBody>
          <a:bodyPr wrap="square" lIns="28575" tIns="9525" rIns="2857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a:endParaRPr/>
          </a:p>
        </p:txBody>
      </p:sp>
      <p:sp>
        <p:nvSpPr>
          <p:cNvPr id="16" name="FMI Legend Chip"/>
          <p:cNvSpPr/>
          <p:nvPr/>
        </p:nvSpPr>
        <p:spPr>
          <a:xfrm>
            <a:off x="4928997" y="247528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Isosceles Triangle 16"/>
          <p:cNvSpPr/>
          <p:nvPr/>
        </p:nvSpPr>
        <p:spPr>
          <a:xfrm>
            <a:off x="5090922" y="24705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BPS Name 1"/>
          <p:cNvSpPr txBox="1"/>
          <p:nvPr/>
        </p:nvSpPr>
        <p:spPr>
          <a:xfrm>
            <a:off x="5233797" y="2394323"/>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Indirect</a:t>
            </a:r>
          </a:p>
        </p:txBody>
      </p:sp>
      <p:sp>
        <p:nvSpPr>
          <p:cNvPr id="19" name="BPS Value 1"/>
          <p:cNvSpPr txBox="1"/>
          <p:nvPr/>
        </p:nvSpPr>
        <p:spPr>
          <a:xfrm>
            <a:off x="6896100" y="2456236"/>
            <a:ext cx="514350" cy="123825"/>
          </a:xfrm>
          <a:prstGeom prst="rect">
            <a:avLst/>
          </a:prstGeom>
          <a:noFill/>
        </p:spPr>
        <p:txBody>
          <a:bodyPr wrap="none" lIns="0" tIns="0" rIns="0" bIns="0" anchor="ctr">
            <a:spAutoFit/>
          </a:bodyPr>
          <a:lstStyle/>
          <a:p>
            <a:pPr algn="r"/>
            <a:r>
              <a:rPr sz="900" b="1">
                <a:solidFill>
                  <a:srgbClr val="2E7D32"/>
                </a:solidFill>
                <a:latin typeface="Calibri"/>
              </a:rPr>
              <a:t>XX</a:t>
            </a:r>
          </a:p>
        </p:txBody>
      </p:sp>
      <p:sp>
        <p:nvSpPr>
          <p:cNvPr id="20" name="FMI Legend Chip"/>
          <p:cNvSpPr/>
          <p:nvPr/>
        </p:nvSpPr>
        <p:spPr>
          <a:xfrm>
            <a:off x="4928997" y="476147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Isosceles Triangle 20"/>
          <p:cNvSpPr/>
          <p:nvPr/>
        </p:nvSpPr>
        <p:spPr>
          <a:xfrm rot="10800000">
            <a:off x="5090922" y="475671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BPS Name 2"/>
          <p:cNvSpPr txBox="1"/>
          <p:nvPr/>
        </p:nvSpPr>
        <p:spPr>
          <a:xfrm>
            <a:off x="5233797" y="4680514"/>
            <a:ext cx="1528953" cy="247650"/>
          </a:xfrm>
          <a:prstGeom prst="rect">
            <a:avLst/>
          </a:prstGeom>
          <a:noFill/>
        </p:spPr>
        <p:txBody>
          <a:bodyPr wrap="square" lIns="19050" tIns="0" rIns="19050" bIns="0" anchor="ctr">
            <a:spAutoFit/>
          </a:bodyPr>
          <a:lstStyle/>
          <a:p>
            <a:pPr algn="l"/>
            <a:r>
              <a:rPr sz="900" b="0">
                <a:solidFill>
                  <a:srgbClr val="2E2E2E"/>
                </a:solidFill>
                <a:latin typeface="Calibri"/>
              </a:rPr>
              <a:t>Direct</a:t>
            </a:r>
          </a:p>
        </p:txBody>
      </p:sp>
      <p:sp>
        <p:nvSpPr>
          <p:cNvPr id="23" name="BPS Value 2"/>
          <p:cNvSpPr txBox="1"/>
          <p:nvPr/>
        </p:nvSpPr>
        <p:spPr>
          <a:xfrm>
            <a:off x="6896100" y="4742426"/>
            <a:ext cx="514350" cy="123825"/>
          </a:xfrm>
          <a:prstGeom prst="rect">
            <a:avLst/>
          </a:prstGeom>
          <a:noFill/>
        </p:spPr>
        <p:txBody>
          <a:bodyPr wrap="none" lIns="0" tIns="0" r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829550" y="1066800"/>
            <a:ext cx="4076700" cy="209550"/>
          </a:xfrm>
          <a:prstGeom prst="rect">
            <a:avLst/>
          </a:prstGeom>
          <a:noFill/>
        </p:spPr>
        <p:txBody>
          <a:bodyPr wrap="square" lIns="0" tIns="9525" rIns="19050" bIns="9525">
            <a:spAutoFit/>
          </a:bodyPr>
          <a:lstStyle/>
          <a:p>
            <a:pPr algn="l"/>
            <a:r>
              <a:rPr sz="1300" b="1">
                <a:solidFill>
                  <a:srgbClr val="0B2E4A"/>
                </a:solidFill>
                <a:latin typeface="Calibri"/>
              </a:rPr>
              <a:t>North America Read-out, By Sales Channel</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7829550" y="1390650"/>
            <a:ext cx="4076700" cy="516255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8" name="TextBox 2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30104" cy="194310"/>
          </a:xfrm>
          <a:prstGeom prst="rect">
            <a:avLst/>
          </a:prstGeom>
          <a:noFill/>
        </p:spPr>
        <p:txBody>
          <a:bodyPr wrap="none" lIns="0" tIns="0" rIns="0" bIns="0">
            <a:spAutoFit/>
          </a:bodyPr>
          <a:lstStyle/>
          <a:p>
            <a:r>
              <a:rPr sz="1150" b="0">
                <a:solidFill>
                  <a:srgbClr val="2E2E2E"/>
                </a:solidFill>
                <a:latin typeface="Calibri"/>
              </a:rPr>
              <a:t>Among corrugated partition by sales channel, indirect (distributors</a:t>
            </a:r>
          </a:p>
        </p:txBody>
      </p:sp>
      <p:sp>
        <p:nvSpPr>
          <p:cNvPr id="31" name="TextBox 30"/>
          <p:cNvSpPr txBox="1"/>
          <p:nvPr/>
        </p:nvSpPr>
        <p:spPr>
          <a:xfrm>
            <a:off x="7829550" y="1575435"/>
            <a:ext cx="3758827" cy="194310"/>
          </a:xfrm>
          <a:prstGeom prst="rect">
            <a:avLst/>
          </a:prstGeom>
          <a:noFill/>
        </p:spPr>
        <p:txBody>
          <a:bodyPr wrap="none" lIns="0" tIns="0" rIns="0" bIns="0">
            <a:spAutoFit/>
          </a:bodyPr>
          <a:lstStyle/>
          <a:p>
            <a:r>
              <a:rPr sz="1150" b="0">
                <a:solidFill>
                  <a:srgbClr val="2E2E2E"/>
                </a:solidFill>
                <a:latin typeface="Calibri"/>
              </a:rPr>
              <a:t>and packaging merchants) segment is expected to witness the</a:t>
            </a:r>
          </a:p>
        </p:txBody>
      </p:sp>
      <p:sp>
        <p:nvSpPr>
          <p:cNvPr id="32" name="TextBox 31"/>
          <p:cNvSpPr txBox="1"/>
          <p:nvPr/>
        </p:nvSpPr>
        <p:spPr>
          <a:xfrm>
            <a:off x="7829550" y="1750695"/>
            <a:ext cx="1032353" cy="194310"/>
          </a:xfrm>
          <a:prstGeom prst="rect">
            <a:avLst/>
          </a:prstGeom>
          <a:noFill/>
        </p:spPr>
        <p:txBody>
          <a:bodyPr wrap="none" lIns="0" tIns="0" rIns="0" bIns="0">
            <a:spAutoFit/>
          </a:bodyPr>
          <a:lstStyle/>
          <a:p>
            <a:r>
              <a:rPr sz="1150" b="0">
                <a:solidFill>
                  <a:srgbClr val="2E2E2E"/>
                </a:solidFill>
                <a:latin typeface="Calibri"/>
              </a:rPr>
              <a:t>highest CAGR of</a:t>
            </a:r>
          </a:p>
        </p:txBody>
      </p:sp>
      <p:pic>
        <p:nvPicPr>
          <p:cNvPr id="33" name="Picture 32" descr="lock.png"/>
          <p:cNvPicPr>
            <a:picLocks noChangeAspect="1"/>
          </p:cNvPicPr>
          <p:nvPr/>
        </p:nvPicPr>
        <p:blipFill>
          <a:blip r:embed="rId5"/>
          <a:stretch>
            <a:fillRect/>
          </a:stretch>
        </p:blipFill>
        <p:spPr>
          <a:xfrm>
            <a:off x="8811057" y="1740471"/>
            <a:ext cx="134549" cy="195707"/>
          </a:xfrm>
          <a:prstGeom prst="rect">
            <a:avLst/>
          </a:prstGeom>
        </p:spPr>
      </p:pic>
      <p:sp>
        <p:nvSpPr>
          <p:cNvPr id="34" name="TextBox 33"/>
          <p:cNvSpPr txBox="1"/>
          <p:nvPr/>
        </p:nvSpPr>
        <p:spPr>
          <a:xfrm>
            <a:off x="8986166" y="1750695"/>
            <a:ext cx="1548680" cy="194310"/>
          </a:xfrm>
          <a:prstGeom prst="rect">
            <a:avLst/>
          </a:prstGeom>
          <a:noFill/>
        </p:spPr>
        <p:txBody>
          <a:bodyPr wrap="none" lIns="0" tIns="0" rIns="0" bIns="0">
            <a:spAutoFit/>
          </a:bodyPr>
          <a:lstStyle/>
          <a:p>
            <a:r>
              <a:rPr sz="1150" b="0">
                <a:solidFill>
                  <a:srgbClr val="2E2E2E"/>
                </a:solidFill>
                <a:latin typeface="Calibri"/>
              </a:rPr>
              <a:t>over the forecast period.</a:t>
            </a:r>
          </a:p>
        </p:txBody>
      </p:sp>
      <p:sp>
        <p:nvSpPr>
          <p:cNvPr id="35" name="TextBox 34"/>
          <p:cNvSpPr txBox="1"/>
          <p:nvPr/>
        </p:nvSpPr>
        <p:spPr>
          <a:xfrm>
            <a:off x="7829550" y="1978533"/>
            <a:ext cx="3671540" cy="194310"/>
          </a:xfrm>
          <a:prstGeom prst="rect">
            <a:avLst/>
          </a:prstGeom>
          <a:noFill/>
        </p:spPr>
        <p:txBody>
          <a:bodyPr wrap="none" lIns="0" tIns="0" rIns="0" bIns="0">
            <a:spAutoFit/>
          </a:bodyPr>
          <a:lstStyle/>
          <a:p>
            <a:r>
              <a:rPr sz="1150" b="0">
                <a:solidFill>
                  <a:srgbClr val="2E2E2E"/>
                </a:solidFill>
                <a:latin typeface="Calibri"/>
              </a:rPr>
              <a:t>In terms of value share by sales channel, the direct (to brand</a:t>
            </a:r>
          </a:p>
        </p:txBody>
      </p:sp>
      <p:sp>
        <p:nvSpPr>
          <p:cNvPr id="36" name="TextBox 35"/>
          <p:cNvSpPr txBox="1"/>
          <p:nvPr/>
        </p:nvSpPr>
        <p:spPr>
          <a:xfrm>
            <a:off x="7829550" y="2153793"/>
            <a:ext cx="4057650" cy="194310"/>
          </a:xfrm>
          <a:prstGeom prst="rect">
            <a:avLst/>
          </a:prstGeom>
          <a:noFill/>
        </p:spPr>
        <p:txBody>
          <a:bodyPr wrap="none" lIns="0" tIns="0" rIns="0" bIns="0">
            <a:spAutoFit/>
          </a:bodyPr>
          <a:lstStyle/>
          <a:p>
            <a:r>
              <a:rPr sz="1150" b="0">
                <a:solidFill>
                  <a:srgbClr val="2E2E2E"/>
                </a:solidFill>
                <a:latin typeface="Calibri"/>
              </a:rPr>
              <a:t>owners/oems) segment is expected to dominate the market, losing</a:t>
            </a:r>
          </a:p>
        </p:txBody>
      </p:sp>
      <p:pic>
        <p:nvPicPr>
          <p:cNvPr id="37" name="Picture 36" descr="lock.png"/>
          <p:cNvPicPr>
            <a:picLocks noChangeAspect="1"/>
          </p:cNvPicPr>
          <p:nvPr/>
        </p:nvPicPr>
        <p:blipFill>
          <a:blip r:embed="rId5"/>
          <a:stretch>
            <a:fillRect/>
          </a:stretch>
        </p:blipFill>
        <p:spPr>
          <a:xfrm>
            <a:off x="7815470" y="2318829"/>
            <a:ext cx="134549" cy="195707"/>
          </a:xfrm>
          <a:prstGeom prst="rect">
            <a:avLst/>
          </a:prstGeom>
        </p:spPr>
      </p:pic>
      <p:sp>
        <p:nvSpPr>
          <p:cNvPr id="38" name="TextBox 37"/>
          <p:cNvSpPr txBox="1"/>
          <p:nvPr/>
        </p:nvSpPr>
        <p:spPr>
          <a:xfrm>
            <a:off x="7990579" y="2329053"/>
            <a:ext cx="1445989" cy="194310"/>
          </a:xfrm>
          <a:prstGeom prst="rect">
            <a:avLst/>
          </a:prstGeom>
          <a:noFill/>
        </p:spPr>
        <p:txBody>
          <a:bodyPr wrap="none" lIns="0" tIns="0" rIns="0" bIns="0">
            <a:spAutoFit/>
          </a:bodyPr>
          <a:lstStyle/>
          <a:p>
            <a:r>
              <a:rPr sz="1150" b="0">
                <a:solidFill>
                  <a:srgbClr val="2E2E2E"/>
                </a:solidFill>
                <a:latin typeface="Calibri"/>
              </a:rPr>
              <a:t>BPS and accounting for</a:t>
            </a:r>
          </a:p>
        </p:txBody>
      </p:sp>
      <p:pic>
        <p:nvPicPr>
          <p:cNvPr id="39" name="Picture 38" descr="lock.png"/>
          <p:cNvPicPr>
            <a:picLocks noChangeAspect="1"/>
          </p:cNvPicPr>
          <p:nvPr/>
        </p:nvPicPr>
        <p:blipFill>
          <a:blip r:embed="rId5"/>
          <a:stretch>
            <a:fillRect/>
          </a:stretch>
        </p:blipFill>
        <p:spPr>
          <a:xfrm>
            <a:off x="9385722" y="2318829"/>
            <a:ext cx="134549" cy="195707"/>
          </a:xfrm>
          <a:prstGeom prst="rect">
            <a:avLst/>
          </a:prstGeom>
        </p:spPr>
      </p:pic>
      <p:sp>
        <p:nvSpPr>
          <p:cNvPr id="40" name="TextBox 39"/>
          <p:cNvSpPr txBox="1"/>
          <p:nvPr/>
        </p:nvSpPr>
        <p:spPr>
          <a:xfrm>
            <a:off x="9560832" y="2329053"/>
            <a:ext cx="946224" cy="194310"/>
          </a:xfrm>
          <a:prstGeom prst="rect">
            <a:avLst/>
          </a:prstGeom>
          <a:noFill/>
        </p:spPr>
        <p:txBody>
          <a:bodyPr wrap="none" lIns="0" tIns="0" r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Volume, By Sales Channel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volume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extLst>
                    <a:ext uri="{9D8B030D-6E8A-4147-A177-3AD203B41FA5}">
                      <a16:colId xmlns:a16="http://schemas.microsoft.com/office/drawing/2014/main" val="20000"/>
                    </a:ext>
                  </a:extLst>
                </a:gridCol>
                <a:gridCol w="713858">
                  <a:extLst>
                    <a:ext uri="{9D8B030D-6E8A-4147-A177-3AD203B41FA5}">
                      <a16:colId xmlns:a16="http://schemas.microsoft.com/office/drawing/2014/main" val="20001"/>
                    </a:ext>
                  </a:extLst>
                </a:gridCol>
                <a:gridCol w="713858">
                  <a:extLst>
                    <a:ext uri="{9D8B030D-6E8A-4147-A177-3AD203B41FA5}">
                      <a16:colId xmlns:a16="http://schemas.microsoft.com/office/drawing/2014/main" val="20002"/>
                    </a:ext>
                  </a:extLst>
                </a:gridCol>
                <a:gridCol w="713858">
                  <a:extLst>
                    <a:ext uri="{9D8B030D-6E8A-4147-A177-3AD203B41FA5}">
                      <a16:colId xmlns:a16="http://schemas.microsoft.com/office/drawing/2014/main" val="20003"/>
                    </a:ext>
                  </a:extLst>
                </a:gridCol>
                <a:gridCol w="713858">
                  <a:extLst>
                    <a:ext uri="{9D8B030D-6E8A-4147-A177-3AD203B41FA5}">
                      <a16:colId xmlns:a16="http://schemas.microsoft.com/office/drawing/2014/main" val="20004"/>
                    </a:ext>
                  </a:extLst>
                </a:gridCol>
                <a:gridCol w="713858">
                  <a:extLst>
                    <a:ext uri="{9D8B030D-6E8A-4147-A177-3AD203B41FA5}">
                      <a16:colId xmlns:a16="http://schemas.microsoft.com/office/drawing/2014/main" val="20005"/>
                    </a:ext>
                  </a:extLst>
                </a:gridCol>
                <a:gridCol w="713858">
                  <a:extLst>
                    <a:ext uri="{9D8B030D-6E8A-4147-A177-3AD203B41FA5}">
                      <a16:colId xmlns:a16="http://schemas.microsoft.com/office/drawing/2014/main" val="20006"/>
                    </a:ext>
                  </a:extLst>
                </a:gridCol>
                <a:gridCol w="713858">
                  <a:extLst>
                    <a:ext uri="{9D8B030D-6E8A-4147-A177-3AD203B41FA5}">
                      <a16:colId xmlns:a16="http://schemas.microsoft.com/office/drawing/2014/main" val="20007"/>
                    </a:ext>
                  </a:extLst>
                </a:gridCol>
                <a:gridCol w="713858">
                  <a:extLst>
                    <a:ext uri="{9D8B030D-6E8A-4147-A177-3AD203B41FA5}">
                      <a16:colId xmlns:a16="http://schemas.microsoft.com/office/drawing/2014/main" val="20008"/>
                    </a:ext>
                  </a:extLst>
                </a:gridCol>
                <a:gridCol w="713858">
                  <a:extLst>
                    <a:ext uri="{9D8B030D-6E8A-4147-A177-3AD203B41FA5}">
                      <a16:colId xmlns:a16="http://schemas.microsoft.com/office/drawing/2014/main" val="20009"/>
                    </a:ext>
                  </a:extLst>
                </a:gridCol>
                <a:gridCol w="713858">
                  <a:extLst>
                    <a:ext uri="{9D8B030D-6E8A-4147-A177-3AD203B41FA5}">
                      <a16:colId xmlns:a16="http://schemas.microsoft.com/office/drawing/2014/main" val="20010"/>
                    </a:ext>
                  </a:extLst>
                </a:gridCol>
                <a:gridCol w="713858">
                  <a:extLst>
                    <a:ext uri="{9D8B030D-6E8A-4147-A177-3AD203B41FA5}">
                      <a16:colId xmlns:a16="http://schemas.microsoft.com/office/drawing/2014/main" val="20011"/>
                    </a:ext>
                  </a:extLst>
                </a:gridCol>
                <a:gridCol w="713858">
                  <a:extLst>
                    <a:ext uri="{9D8B030D-6E8A-4147-A177-3AD203B41FA5}">
                      <a16:colId xmlns:a16="http://schemas.microsoft.com/office/drawing/2014/main" val="20012"/>
                    </a:ext>
                  </a:extLst>
                </a:gridCol>
                <a:gridCol w="713858">
                  <a:extLst>
                    <a:ext uri="{9D8B030D-6E8A-4147-A177-3AD203B41FA5}">
                      <a16:colId xmlns:a16="http://schemas.microsoft.com/office/drawing/2014/main" val="20013"/>
                    </a:ext>
                  </a:extLst>
                </a:gridCol>
                <a:gridCol w="713858">
                  <a:extLst>
                    <a:ext uri="{9D8B030D-6E8A-4147-A177-3AD203B41FA5}">
                      <a16:colId xmlns:a16="http://schemas.microsoft.com/office/drawing/2014/main" val="20014"/>
                    </a:ext>
                  </a:extLst>
                </a:gridCol>
                <a:gridCol w="71385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Volume YoY Heatmap, By Sales Channel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Direct (to brand owners/OEMs)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Indirect (distributors and packaging merchants)</a:t>
            </a:r>
          </a:p>
        </p:txBody>
      </p:sp>
      <p:sp>
        <p:nvSpPr>
          <p:cNvPr id="49" name="Rectangle 48"/>
          <p:cNvSpPr/>
          <p:nvPr/>
        </p:nvSpPr>
        <p:spPr>
          <a:xfrm>
            <a:off x="1857375" y="4662488"/>
            <a:ext cx="643890" cy="190976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517645" y="1482090"/>
            <a:ext cx="330041" cy="480060"/>
          </a:xfrm>
          <a:prstGeom prst="rect">
            <a:avLst/>
          </a:prstGeom>
        </p:spPr>
      </p:pic>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YoY Analysis of North America Market Value, By Sales Channel (%)</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Year-on-year value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extLst>
                    <a:ext uri="{9D8B030D-6E8A-4147-A177-3AD203B41FA5}">
                      <a16:colId xmlns:a16="http://schemas.microsoft.com/office/drawing/2014/main" val="20000"/>
                    </a:ext>
                  </a:extLst>
                </a:gridCol>
                <a:gridCol w="713858">
                  <a:extLst>
                    <a:ext uri="{9D8B030D-6E8A-4147-A177-3AD203B41FA5}">
                      <a16:colId xmlns:a16="http://schemas.microsoft.com/office/drawing/2014/main" val="20001"/>
                    </a:ext>
                  </a:extLst>
                </a:gridCol>
                <a:gridCol w="713858">
                  <a:extLst>
                    <a:ext uri="{9D8B030D-6E8A-4147-A177-3AD203B41FA5}">
                      <a16:colId xmlns:a16="http://schemas.microsoft.com/office/drawing/2014/main" val="20002"/>
                    </a:ext>
                  </a:extLst>
                </a:gridCol>
                <a:gridCol w="713858">
                  <a:extLst>
                    <a:ext uri="{9D8B030D-6E8A-4147-A177-3AD203B41FA5}">
                      <a16:colId xmlns:a16="http://schemas.microsoft.com/office/drawing/2014/main" val="20003"/>
                    </a:ext>
                  </a:extLst>
                </a:gridCol>
                <a:gridCol w="713858">
                  <a:extLst>
                    <a:ext uri="{9D8B030D-6E8A-4147-A177-3AD203B41FA5}">
                      <a16:colId xmlns:a16="http://schemas.microsoft.com/office/drawing/2014/main" val="20004"/>
                    </a:ext>
                  </a:extLst>
                </a:gridCol>
                <a:gridCol w="713858">
                  <a:extLst>
                    <a:ext uri="{9D8B030D-6E8A-4147-A177-3AD203B41FA5}">
                      <a16:colId xmlns:a16="http://schemas.microsoft.com/office/drawing/2014/main" val="20005"/>
                    </a:ext>
                  </a:extLst>
                </a:gridCol>
                <a:gridCol w="713858">
                  <a:extLst>
                    <a:ext uri="{9D8B030D-6E8A-4147-A177-3AD203B41FA5}">
                      <a16:colId xmlns:a16="http://schemas.microsoft.com/office/drawing/2014/main" val="20006"/>
                    </a:ext>
                  </a:extLst>
                </a:gridCol>
                <a:gridCol w="713858">
                  <a:extLst>
                    <a:ext uri="{9D8B030D-6E8A-4147-A177-3AD203B41FA5}">
                      <a16:colId xmlns:a16="http://schemas.microsoft.com/office/drawing/2014/main" val="20007"/>
                    </a:ext>
                  </a:extLst>
                </a:gridCol>
                <a:gridCol w="713858">
                  <a:extLst>
                    <a:ext uri="{9D8B030D-6E8A-4147-A177-3AD203B41FA5}">
                      <a16:colId xmlns:a16="http://schemas.microsoft.com/office/drawing/2014/main" val="20008"/>
                    </a:ext>
                  </a:extLst>
                </a:gridCol>
                <a:gridCol w="713858">
                  <a:extLst>
                    <a:ext uri="{9D8B030D-6E8A-4147-A177-3AD203B41FA5}">
                      <a16:colId xmlns:a16="http://schemas.microsoft.com/office/drawing/2014/main" val="20009"/>
                    </a:ext>
                  </a:extLst>
                </a:gridCol>
                <a:gridCol w="713858">
                  <a:extLst>
                    <a:ext uri="{9D8B030D-6E8A-4147-A177-3AD203B41FA5}">
                      <a16:colId xmlns:a16="http://schemas.microsoft.com/office/drawing/2014/main" val="20010"/>
                    </a:ext>
                  </a:extLst>
                </a:gridCol>
                <a:gridCol w="713858">
                  <a:extLst>
                    <a:ext uri="{9D8B030D-6E8A-4147-A177-3AD203B41FA5}">
                      <a16:colId xmlns:a16="http://schemas.microsoft.com/office/drawing/2014/main" val="20011"/>
                    </a:ext>
                  </a:extLst>
                </a:gridCol>
                <a:gridCol w="713858">
                  <a:extLst>
                    <a:ext uri="{9D8B030D-6E8A-4147-A177-3AD203B41FA5}">
                      <a16:colId xmlns:a16="http://schemas.microsoft.com/office/drawing/2014/main" val="20012"/>
                    </a:ext>
                  </a:extLst>
                </a:gridCol>
                <a:gridCol w="713858">
                  <a:extLst>
                    <a:ext uri="{9D8B030D-6E8A-4147-A177-3AD203B41FA5}">
                      <a16:colId xmlns:a16="http://schemas.microsoft.com/office/drawing/2014/main" val="20013"/>
                    </a:ext>
                  </a:extLst>
                </a:gridCol>
                <a:gridCol w="713858">
                  <a:extLst>
                    <a:ext uri="{9D8B030D-6E8A-4147-A177-3AD203B41FA5}">
                      <a16:colId xmlns:a16="http://schemas.microsoft.com/office/drawing/2014/main" val="20014"/>
                    </a:ext>
                  </a:extLst>
                </a:gridCol>
                <a:gridCol w="71385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YoY Heatmap, By Sales Channel (%)  ·  light = lower, dark = higher growth</a:t>
            </a:r>
          </a:p>
        </p:txBody>
      </p:sp>
      <p:sp>
        <p:nvSpPr>
          <p:cNvPr id="17" name="TextBox 16"/>
          <p:cNvSpPr txBox="1"/>
          <p:nvPr/>
        </p:nvSpPr>
        <p:spPr>
          <a:xfrm>
            <a:off x="18573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tIns="0" r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Direct (to brand owners/OEMs)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378904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Rectangle 36"/>
          <p:cNvSpPr/>
          <p:nvPr/>
        </p:nvSpPr>
        <p:spPr>
          <a:xfrm>
            <a:off x="443293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Rectangle 37"/>
          <p:cNvSpPr/>
          <p:nvPr/>
        </p:nvSpPr>
        <p:spPr>
          <a:xfrm>
            <a:off x="5076825" y="2752725"/>
            <a:ext cx="643890" cy="1909762"/>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ectangle 38"/>
          <p:cNvSpPr/>
          <p:nvPr/>
        </p:nvSpPr>
        <p:spPr>
          <a:xfrm>
            <a:off x="5720715" y="2752725"/>
            <a:ext cx="643890" cy="190976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6364605" y="2752725"/>
            <a:ext cx="643890" cy="190976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ectangle 40"/>
          <p:cNvSpPr/>
          <p:nvPr/>
        </p:nvSpPr>
        <p:spPr>
          <a:xfrm>
            <a:off x="7008495" y="2752725"/>
            <a:ext cx="643890" cy="190976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ectangle 41"/>
          <p:cNvSpPr/>
          <p:nvPr/>
        </p:nvSpPr>
        <p:spPr>
          <a:xfrm>
            <a:off x="7652385" y="2752725"/>
            <a:ext cx="643890" cy="190976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8296275" y="2752725"/>
            <a:ext cx="643890" cy="1909762"/>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8940165" y="2752725"/>
            <a:ext cx="643890" cy="190976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9584055" y="2752725"/>
            <a:ext cx="643890" cy="190976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10227945" y="2752725"/>
            <a:ext cx="643890" cy="190976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871835" y="2752725"/>
            <a:ext cx="643890" cy="190976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38125" y="4662488"/>
            <a:ext cx="1590675" cy="1909762"/>
          </a:xfrm>
          <a:prstGeom prst="rect">
            <a:avLst/>
          </a:prstGeom>
          <a:noFill/>
        </p:spPr>
        <p:txBody>
          <a:bodyPr wrap="square" lIns="28575" tIns="9525" rIns="28575" bIns="9525" anchor="ctr">
            <a:spAutoFit/>
          </a:bodyPr>
          <a:lstStyle/>
          <a:p>
            <a:pPr algn="l"/>
            <a:r>
              <a:rPr sz="1100" b="0">
                <a:solidFill>
                  <a:srgbClr val="2E2E2E"/>
                </a:solidFill>
                <a:latin typeface="Calibri"/>
              </a:rPr>
              <a:t>Indirect (distributors and packaging merchants)</a:t>
            </a:r>
          </a:p>
        </p:txBody>
      </p:sp>
      <p:sp>
        <p:nvSpPr>
          <p:cNvPr id="49" name="Rectangle 48"/>
          <p:cNvSpPr/>
          <p:nvPr/>
        </p:nvSpPr>
        <p:spPr>
          <a:xfrm>
            <a:off x="1857375" y="4662488"/>
            <a:ext cx="643890" cy="190976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ectangle 49"/>
          <p:cNvSpPr/>
          <p:nvPr/>
        </p:nvSpPr>
        <p:spPr>
          <a:xfrm>
            <a:off x="2501265" y="4662488"/>
            <a:ext cx="643890" cy="190976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Rectangle 50"/>
          <p:cNvSpPr/>
          <p:nvPr/>
        </p:nvSpPr>
        <p:spPr>
          <a:xfrm>
            <a:off x="314515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Rectangle 51"/>
          <p:cNvSpPr/>
          <p:nvPr/>
        </p:nvSpPr>
        <p:spPr>
          <a:xfrm>
            <a:off x="3789045" y="4662488"/>
            <a:ext cx="643890" cy="190976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Rectangle 52"/>
          <p:cNvSpPr/>
          <p:nvPr/>
        </p:nvSpPr>
        <p:spPr>
          <a:xfrm>
            <a:off x="4432935" y="4662488"/>
            <a:ext cx="643890" cy="190976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Rectangle 54"/>
          <p:cNvSpPr/>
          <p:nvPr/>
        </p:nvSpPr>
        <p:spPr>
          <a:xfrm>
            <a:off x="5720715" y="4662488"/>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636460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700849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765238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ectangle 58"/>
          <p:cNvSpPr/>
          <p:nvPr/>
        </p:nvSpPr>
        <p:spPr>
          <a:xfrm>
            <a:off x="829627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Rectangle 59"/>
          <p:cNvSpPr/>
          <p:nvPr/>
        </p:nvSpPr>
        <p:spPr>
          <a:xfrm>
            <a:off x="8940165" y="4662488"/>
            <a:ext cx="643890" cy="1909762"/>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9584055" y="4662488"/>
            <a:ext cx="643890" cy="1909762"/>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Rectangle 61"/>
          <p:cNvSpPr/>
          <p:nvPr/>
        </p:nvSpPr>
        <p:spPr>
          <a:xfrm>
            <a:off x="10227945" y="4662488"/>
            <a:ext cx="643890" cy="1909762"/>
          </a:xfrm>
          <a:prstGeom prst="rect">
            <a:avLst/>
          </a:prstGeom>
          <a:solidFill>
            <a:srgbClr val="0C3B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ectangle 62"/>
          <p:cNvSpPr/>
          <p:nvPr/>
        </p:nvSpPr>
        <p:spPr>
          <a:xfrm>
            <a:off x="10871835" y="4662488"/>
            <a:ext cx="643890" cy="190976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687175" y="2724150"/>
            <a:ext cx="276225" cy="133350"/>
          </a:xfrm>
          <a:prstGeom prst="rect">
            <a:avLst/>
          </a:prstGeom>
          <a:noFill/>
        </p:spPr>
        <p:txBody>
          <a:bodyPr wrap="none" lIns="0" tIns="0" r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tIns="0" r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517645" y="1482090"/>
            <a:ext cx="330041" cy="480060"/>
          </a:xfrm>
          <a:prstGeom prst="rect">
            <a:avLst/>
          </a:prstGeom>
        </p:spPr>
      </p:pic>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Partition Type × End Use</a:t>
            </a:r>
          </a:p>
          <a:p>
            <a:pPr marL="342900" indent="-323850">
              <a:lnSpc>
                <a:spcPct val="100000"/>
              </a:lnSpc>
              <a:spcAft>
                <a:spcPts val="800"/>
              </a:spcAft>
            </a:pPr>
            <a:r>
              <a:rPr sz="2000" b="0">
                <a:solidFill>
                  <a:srgbClr val="000000"/>
                </a:solidFill>
                <a:latin typeface="Calibri"/>
              </a:rPr>
              <a:t>➤	Board Construction × End Use</a:t>
            </a:r>
          </a:p>
          <a:p>
            <a:pPr marL="342900" indent="-323850">
              <a:lnSpc>
                <a:spcPct val="100000"/>
              </a:lnSpc>
              <a:spcAft>
                <a:spcPts val="800"/>
              </a:spcAft>
            </a:pPr>
            <a:r>
              <a:rPr sz="2000" b="0">
                <a:solidFill>
                  <a:srgbClr val="000000"/>
                </a:solidFill>
                <a:latin typeface="Calibri"/>
              </a:rPr>
              <a:t>➤	Cell Configuration × End Use</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Partition Type × 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Snapshot</a:t>
            </a:r>
          </a:p>
          <a:p>
            <a:pPr marL="342900" indent="-323850">
              <a:lnSpc>
                <a:spcPct val="100000"/>
              </a:lnSpc>
              <a:spcAft>
                <a:spcPts val="800"/>
              </a:spcAft>
            </a:pPr>
            <a:r>
              <a:rPr sz="2000" b="0">
                <a:solidFill>
                  <a:srgbClr val="000000"/>
                </a:solidFill>
                <a:latin typeface="Calibri"/>
              </a:rPr>
              <a:t>➤	Market Share Analysis</a:t>
            </a:r>
          </a:p>
          <a:p>
            <a:pPr marL="342900" indent="-323850">
              <a:lnSpc>
                <a:spcPct val="100000"/>
              </a:lnSpc>
              <a:spcAft>
                <a:spcPts val="800"/>
              </a:spcAft>
            </a:pPr>
            <a:r>
              <a:rPr sz="2000" b="0">
                <a:solidFill>
                  <a:srgbClr val="000000"/>
                </a:solidFill>
                <a:latin typeface="Calibri"/>
              </a:rPr>
              <a:t>➤	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Snapshot: Partition Type × End Use, 2026E vs 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North America market value (US$ Mn) for each partition type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Market Value, Partition Type × End Use, 2026E and 2036F (US$ Mn)</a:t>
            </a:r>
          </a:p>
        </p:txBody>
      </p:sp>
      <p:graphicFrame>
        <p:nvGraphicFramePr>
          <p:cNvPr id="13" name="Table 12"/>
          <p:cNvGraphicFramePr>
            <a:graphicFrameLocks noGrp="1"/>
          </p:cNvGraphicFramePr>
          <p:nvPr/>
        </p:nvGraphicFramePr>
        <p:xfrm>
          <a:off x="152400" y="1238250"/>
          <a:ext cx="11887193" cy="1866897"/>
        </p:xfrm>
        <a:graphic>
          <a:graphicData uri="http://schemas.openxmlformats.org/drawingml/2006/table">
            <a:tbl>
              <a:tblPr>
                <a:tableStyleId>{5C22544A-7EE6-4342-B048-85BDC9FD1C3A}</a:tableStyleId>
              </a:tblPr>
              <a:tblGrid>
                <a:gridCol w="2760297">
                  <a:extLst>
                    <a:ext uri="{9D8B030D-6E8A-4147-A177-3AD203B41FA5}">
                      <a16:colId xmlns:a16="http://schemas.microsoft.com/office/drawing/2014/main" val="20000"/>
                    </a:ext>
                  </a:extLst>
                </a:gridCol>
                <a:gridCol w="570431">
                  <a:extLst>
                    <a:ext uri="{9D8B030D-6E8A-4147-A177-3AD203B41FA5}">
                      <a16:colId xmlns:a16="http://schemas.microsoft.com/office/drawing/2014/main" val="20001"/>
                    </a:ext>
                  </a:extLst>
                </a:gridCol>
                <a:gridCol w="570431">
                  <a:extLst>
                    <a:ext uri="{9D8B030D-6E8A-4147-A177-3AD203B41FA5}">
                      <a16:colId xmlns:a16="http://schemas.microsoft.com/office/drawing/2014/main" val="20002"/>
                    </a:ext>
                  </a:extLst>
                </a:gridCol>
                <a:gridCol w="570431">
                  <a:extLst>
                    <a:ext uri="{9D8B030D-6E8A-4147-A177-3AD203B41FA5}">
                      <a16:colId xmlns:a16="http://schemas.microsoft.com/office/drawing/2014/main" val="20003"/>
                    </a:ext>
                  </a:extLst>
                </a:gridCol>
                <a:gridCol w="570431">
                  <a:extLst>
                    <a:ext uri="{9D8B030D-6E8A-4147-A177-3AD203B41FA5}">
                      <a16:colId xmlns:a16="http://schemas.microsoft.com/office/drawing/2014/main" val="20004"/>
                    </a:ext>
                  </a:extLst>
                </a:gridCol>
                <a:gridCol w="570431">
                  <a:extLst>
                    <a:ext uri="{9D8B030D-6E8A-4147-A177-3AD203B41FA5}">
                      <a16:colId xmlns:a16="http://schemas.microsoft.com/office/drawing/2014/main" val="20005"/>
                    </a:ext>
                  </a:extLst>
                </a:gridCol>
                <a:gridCol w="570431">
                  <a:extLst>
                    <a:ext uri="{9D8B030D-6E8A-4147-A177-3AD203B41FA5}">
                      <a16:colId xmlns:a16="http://schemas.microsoft.com/office/drawing/2014/main" val="20006"/>
                    </a:ext>
                  </a:extLst>
                </a:gridCol>
                <a:gridCol w="570431">
                  <a:extLst>
                    <a:ext uri="{9D8B030D-6E8A-4147-A177-3AD203B41FA5}">
                      <a16:colId xmlns:a16="http://schemas.microsoft.com/office/drawing/2014/main" val="20007"/>
                    </a:ext>
                  </a:extLst>
                </a:gridCol>
                <a:gridCol w="570431">
                  <a:extLst>
                    <a:ext uri="{9D8B030D-6E8A-4147-A177-3AD203B41FA5}">
                      <a16:colId xmlns:a16="http://schemas.microsoft.com/office/drawing/2014/main" val="20008"/>
                    </a:ext>
                  </a:extLst>
                </a:gridCol>
                <a:gridCol w="570431">
                  <a:extLst>
                    <a:ext uri="{9D8B030D-6E8A-4147-A177-3AD203B41FA5}">
                      <a16:colId xmlns:a16="http://schemas.microsoft.com/office/drawing/2014/main" val="20009"/>
                    </a:ext>
                  </a:extLst>
                </a:gridCol>
                <a:gridCol w="570431">
                  <a:extLst>
                    <a:ext uri="{9D8B030D-6E8A-4147-A177-3AD203B41FA5}">
                      <a16:colId xmlns:a16="http://schemas.microsoft.com/office/drawing/2014/main" val="20010"/>
                    </a:ext>
                  </a:extLst>
                </a:gridCol>
                <a:gridCol w="570431">
                  <a:extLst>
                    <a:ext uri="{9D8B030D-6E8A-4147-A177-3AD203B41FA5}">
                      <a16:colId xmlns:a16="http://schemas.microsoft.com/office/drawing/2014/main" val="20011"/>
                    </a:ext>
                  </a:extLst>
                </a:gridCol>
                <a:gridCol w="570431">
                  <a:extLst>
                    <a:ext uri="{9D8B030D-6E8A-4147-A177-3AD203B41FA5}">
                      <a16:colId xmlns:a16="http://schemas.microsoft.com/office/drawing/2014/main" val="20012"/>
                    </a:ext>
                  </a:extLst>
                </a:gridCol>
                <a:gridCol w="570431">
                  <a:extLst>
                    <a:ext uri="{9D8B030D-6E8A-4147-A177-3AD203B41FA5}">
                      <a16:colId xmlns:a16="http://schemas.microsoft.com/office/drawing/2014/main" val="20013"/>
                    </a:ext>
                  </a:extLst>
                </a:gridCol>
                <a:gridCol w="570431">
                  <a:extLst>
                    <a:ext uri="{9D8B030D-6E8A-4147-A177-3AD203B41FA5}">
                      <a16:colId xmlns:a16="http://schemas.microsoft.com/office/drawing/2014/main" val="20014"/>
                    </a:ext>
                  </a:extLst>
                </a:gridCol>
                <a:gridCol w="570431">
                  <a:extLst>
                    <a:ext uri="{9D8B030D-6E8A-4147-A177-3AD203B41FA5}">
                      <a16:colId xmlns:a16="http://schemas.microsoft.com/office/drawing/2014/main" val="20015"/>
                    </a:ext>
                  </a:extLst>
                </a:gridCol>
                <a:gridCol w="570431">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a:t>
                      </a:r>
                      <a:endParaRPr sz="1100"/>
                    </a:p>
                    <a:p>
                      <a:pPr algn="ctr"/>
                      <a:r>
                        <a:rPr sz="1100" b="1">
                          <a:solidFill>
                            <a:srgbClr val="0B2E4A"/>
                          </a:solidFill>
                          <a:latin typeface="Calibri"/>
                        </a:rPr>
                        <a:t>Home 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116395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1163955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89454" y="2344368"/>
            <a:ext cx="366712" cy="533400"/>
          </a:xfrm>
          <a:prstGeom prst="rect">
            <a:avLst/>
          </a:prstGeom>
        </p:spPr>
      </p:pic>
      <p:sp>
        <p:nvSpPr>
          <p:cNvPr id="21" name="TextBox 20"/>
          <p:cNvSpPr txBox="1"/>
          <p:nvPr/>
        </p:nvSpPr>
        <p:spPr>
          <a:xfrm>
            <a:off x="276225" y="3867150"/>
            <a:ext cx="10692209" cy="194310"/>
          </a:xfrm>
          <a:prstGeom prst="rect">
            <a:avLst/>
          </a:prstGeom>
          <a:noFill/>
        </p:spPr>
        <p:txBody>
          <a:bodyPr wrap="none" lIns="0" tIns="0" rIns="0" bIns="0">
            <a:spAutoFit/>
          </a:bodyPr>
          <a:lstStyle/>
          <a:p>
            <a:r>
              <a:rPr sz="1150" b="0">
                <a:solidFill>
                  <a:srgbClr val="2E2E2E"/>
                </a:solidFill>
                <a:latin typeface="Calibri"/>
              </a:rPr>
              <a:t>Flat dividers &amp; layer pads segment is projected to account for the largest share of the North America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917588" y="3856926"/>
            <a:ext cx="134549" cy="195707"/>
          </a:xfrm>
          <a:prstGeom prst="rect">
            <a:avLst/>
          </a:prstGeom>
        </p:spPr>
      </p:pic>
      <p:sp>
        <p:nvSpPr>
          <p:cNvPr id="23" name="TextBox 22"/>
          <p:cNvSpPr txBox="1"/>
          <p:nvPr/>
        </p:nvSpPr>
        <p:spPr>
          <a:xfrm>
            <a:off x="11092697" y="3867150"/>
            <a:ext cx="787908" cy="194310"/>
          </a:xfrm>
          <a:prstGeom prst="rect">
            <a:avLst/>
          </a:prstGeom>
          <a:noFill/>
        </p:spPr>
        <p:txBody>
          <a:bodyPr wrap="none" lIns="0" tIns="0" rIns="0" bIns="0">
            <a:spAutoFit/>
          </a:bodyPr>
          <a:lstStyle/>
          <a:p>
            <a:r>
              <a:rPr sz="1150" b="0">
                <a:solidFill>
                  <a:srgbClr val="2E2E2E"/>
                </a:solidFill>
                <a:latin typeface="Calibri"/>
              </a:rPr>
              <a:t>Mn in 2036.</a:t>
            </a:r>
          </a:p>
        </p:txBody>
      </p:sp>
      <p:sp>
        <p:nvSpPr>
          <p:cNvPr id="24" name="TextBox 23"/>
          <p:cNvSpPr txBox="1"/>
          <p:nvPr/>
        </p:nvSpPr>
        <p:spPr>
          <a:xfrm>
            <a:off x="276225" y="4042410"/>
            <a:ext cx="6359202" cy="194310"/>
          </a:xfrm>
          <a:prstGeom prst="rect">
            <a:avLst/>
          </a:prstGeom>
          <a:noFill/>
        </p:spPr>
        <p:txBody>
          <a:bodyPr wrap="none" lIns="0" tIns="0" rIns="0" bIns="0">
            <a:spAutoFit/>
          </a:bodyPr>
          <a:lstStyle/>
          <a:p>
            <a:r>
              <a:rPr sz="1150" b="0">
                <a:solidFill>
                  <a:srgbClr val="2E2E2E"/>
                </a:solidFill>
                <a:latin typeface="Calibri"/>
              </a:rPr>
              <a:t>'Flat Dividers &amp; Layer Pads × 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6584581" y="4032186"/>
            <a:ext cx="134549" cy="195707"/>
          </a:xfrm>
          <a:prstGeom prst="rect">
            <a:avLst/>
          </a:prstGeom>
        </p:spPr>
      </p:pic>
      <p:sp>
        <p:nvSpPr>
          <p:cNvPr id="26" name="TextBox 25"/>
          <p:cNvSpPr txBox="1"/>
          <p:nvPr/>
        </p:nvSpPr>
        <p:spPr>
          <a:xfrm>
            <a:off x="6759690" y="4042410"/>
            <a:ext cx="5019079" cy="194310"/>
          </a:xfrm>
          <a:prstGeom prst="rect">
            <a:avLst/>
          </a:prstGeom>
          <a:noFill/>
        </p:spPr>
        <p:txBody>
          <a:bodyPr wrap="none" lIns="0" tIns="0" rIns="0" bIns="0">
            <a:spAutoFit/>
          </a:bodyPr>
          <a:lstStyle/>
          <a:p>
            <a:r>
              <a:rPr sz="1150" b="0">
                <a:solidFill>
                  <a:srgbClr val="2E2E2E"/>
                </a:solidFill>
                <a:latin typeface="Calibri"/>
              </a:rPr>
              <a:t>US$ Mn, 2026E), while 'Flat Dividers &amp; Layer Pads × Electronics &amp; Electrical' records</a:t>
            </a:r>
          </a:p>
        </p:txBody>
      </p:sp>
      <p:sp>
        <p:nvSpPr>
          <p:cNvPr id="27" name="TextBox 26"/>
          <p:cNvSpPr txBox="1"/>
          <p:nvPr/>
        </p:nvSpPr>
        <p:spPr>
          <a:xfrm>
            <a:off x="276225" y="4217670"/>
            <a:ext cx="1943739" cy="194310"/>
          </a:xfrm>
          <a:prstGeom prst="rect">
            <a:avLst/>
          </a:prstGeom>
          <a:noFill/>
        </p:spPr>
        <p:txBody>
          <a:bodyPr wrap="none" lIns="0" tIns="0" rIns="0" bIns="0">
            <a:spAutoFit/>
          </a:bodyPr>
          <a:lstStyle/>
          <a:p>
            <a:r>
              <a:rPr sz="1150" b="0">
                <a:solidFill>
                  <a:srgbClr val="2E2E2E"/>
                </a:solidFill>
                <a:latin typeface="Calibri"/>
              </a:rPr>
              <a:t>the fastest growth at a CAGR of</a:t>
            </a:r>
          </a:p>
        </p:txBody>
      </p:sp>
      <p:pic>
        <p:nvPicPr>
          <p:cNvPr id="28" name="Picture 27" descr="lock.png"/>
          <p:cNvPicPr>
            <a:picLocks noChangeAspect="1"/>
          </p:cNvPicPr>
          <p:nvPr/>
        </p:nvPicPr>
        <p:blipFill>
          <a:blip r:embed="rId4"/>
          <a:stretch>
            <a:fillRect/>
          </a:stretch>
        </p:blipFill>
        <p:spPr>
          <a:xfrm>
            <a:off x="2169118" y="4207446"/>
            <a:ext cx="134549" cy="195707"/>
          </a:xfrm>
          <a:prstGeom prst="rect">
            <a:avLst/>
          </a:prstGeom>
        </p:spPr>
      </p:pic>
      <p:sp>
        <p:nvSpPr>
          <p:cNvPr id="29" name="TextBox 28"/>
          <p:cNvSpPr txBox="1"/>
          <p:nvPr/>
        </p:nvSpPr>
        <p:spPr>
          <a:xfrm>
            <a:off x="2344227" y="4217670"/>
            <a:ext cx="1217001" cy="194310"/>
          </a:xfrm>
          <a:prstGeom prst="rect">
            <a:avLst/>
          </a:prstGeom>
          <a:noFill/>
        </p:spPr>
        <p:txBody>
          <a:bodyPr wrap="none" lIns="0" tIns="0" rIns="0" bIns="0">
            <a:spAutoFit/>
          </a:bodyPr>
          <a:lstStyle/>
          <a:p>
            <a:r>
              <a:rPr sz="1150" b="0">
                <a:solidFill>
                  <a:srgbClr val="2E2E2E"/>
                </a:solidFill>
                <a:latin typeface="Calibri"/>
              </a:rPr>
              <a:t>over 2026E–2036F.</a:t>
            </a:r>
          </a:p>
        </p:txBody>
      </p:sp>
      <p:sp>
        <p:nvSpPr>
          <p:cNvPr id="30" name="TextBox 29"/>
          <p:cNvSpPr txBox="1"/>
          <p:nvPr/>
        </p:nvSpPr>
        <p:spPr>
          <a:xfrm>
            <a:off x="276225" y="4445507"/>
            <a:ext cx="5585879" cy="194310"/>
          </a:xfrm>
          <a:prstGeom prst="rect">
            <a:avLst/>
          </a:prstGeom>
          <a:noFill/>
        </p:spPr>
        <p:txBody>
          <a:bodyPr wrap="none" lIns="0" tIns="0" rIns="0" bIns="0">
            <a:spAutoFit/>
          </a:bodyPr>
          <a:lstStyle/>
          <a:p>
            <a:r>
              <a:rPr sz="1150" b="0">
                <a:solidFill>
                  <a:srgbClr val="2E2E2E"/>
                </a:solidFill>
                <a:latin typeface="Calibri"/>
              </a:rPr>
              <a:t>Combined, the top three partition type × end use cells generate an absolute $ opportunity of</a:t>
            </a:r>
          </a:p>
        </p:txBody>
      </p:sp>
      <p:pic>
        <p:nvPicPr>
          <p:cNvPr id="31" name="Picture 30" descr="lock.png"/>
          <p:cNvPicPr>
            <a:picLocks noChangeAspect="1"/>
          </p:cNvPicPr>
          <p:nvPr/>
        </p:nvPicPr>
        <p:blipFill>
          <a:blip r:embed="rId4"/>
          <a:stretch>
            <a:fillRect/>
          </a:stretch>
        </p:blipFill>
        <p:spPr>
          <a:xfrm>
            <a:off x="5811258" y="4435284"/>
            <a:ext cx="134549" cy="195707"/>
          </a:xfrm>
          <a:prstGeom prst="rect">
            <a:avLst/>
          </a:prstGeom>
        </p:spPr>
      </p:pic>
      <p:sp>
        <p:nvSpPr>
          <p:cNvPr id="32" name="TextBox 31"/>
          <p:cNvSpPr txBox="1"/>
          <p:nvPr/>
        </p:nvSpPr>
        <p:spPr>
          <a:xfrm>
            <a:off x="5986367" y="4445507"/>
            <a:ext cx="1155386" cy="194310"/>
          </a:xfrm>
          <a:prstGeom prst="rect">
            <a:avLst/>
          </a:prstGeom>
          <a:noFill/>
        </p:spPr>
        <p:txBody>
          <a:bodyPr wrap="none" lIns="0" tIns="0" rIns="0" bIns="0">
            <a:spAutoFit/>
          </a:bodyPr>
          <a:lstStyle/>
          <a:p>
            <a:r>
              <a:rPr sz="1150" b="0">
                <a:solidFill>
                  <a:srgbClr val="2E2E2E"/>
                </a:solidFill>
                <a:latin typeface="Calibri"/>
              </a:rPr>
              <a:t>US$ Mn by 2036F.</a:t>
            </a:r>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Share Analysis: Partition Type × End Use, 2026E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 share of North America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Share, Partition Type × End Use, 2026E (% of each row)</a:t>
            </a:r>
          </a:p>
        </p:txBody>
      </p:sp>
      <p:graphicFrame>
        <p:nvGraphicFramePr>
          <p:cNvPr id="13" name="Table 12"/>
          <p:cNvGraphicFramePr>
            <a:graphicFrameLocks noGrp="1"/>
          </p:cNvGraphicFramePr>
          <p:nvPr/>
        </p:nvGraphicFramePr>
        <p:xfrm>
          <a:off x="152400" y="1238250"/>
          <a:ext cx="11887200" cy="1619249"/>
        </p:xfrm>
        <a:graphic>
          <a:graphicData uri="http://schemas.openxmlformats.org/drawingml/2006/table">
            <a:tbl>
              <a:tblPr>
                <a:tableStyleId>{5C22544A-7EE6-4342-B048-85BDC9FD1C3A}</a:tableStyleId>
              </a:tblPr>
              <a:tblGrid>
                <a:gridCol w="2275403">
                  <a:extLst>
                    <a:ext uri="{9D8B030D-6E8A-4147-A177-3AD203B41FA5}">
                      <a16:colId xmlns:a16="http://schemas.microsoft.com/office/drawing/2014/main" val="20000"/>
                    </a:ext>
                  </a:extLst>
                </a:gridCol>
                <a:gridCol w="954259">
                  <a:extLst>
                    <a:ext uri="{9D8B030D-6E8A-4147-A177-3AD203B41FA5}">
                      <a16:colId xmlns:a16="http://schemas.microsoft.com/office/drawing/2014/main" val="20001"/>
                    </a:ext>
                  </a:extLst>
                </a:gridCol>
                <a:gridCol w="1598062">
                  <a:extLst>
                    <a:ext uri="{9D8B030D-6E8A-4147-A177-3AD203B41FA5}">
                      <a16:colId xmlns:a16="http://schemas.microsoft.com/office/drawing/2014/main" val="20002"/>
                    </a:ext>
                  </a:extLst>
                </a:gridCol>
                <a:gridCol w="1323387">
                  <a:extLst>
                    <a:ext uri="{9D8B030D-6E8A-4147-A177-3AD203B41FA5}">
                      <a16:colId xmlns:a16="http://schemas.microsoft.com/office/drawing/2014/main" val="20003"/>
                    </a:ext>
                  </a:extLst>
                </a:gridCol>
                <a:gridCol w="1192720">
                  <a:extLst>
                    <a:ext uri="{9D8B030D-6E8A-4147-A177-3AD203B41FA5}">
                      <a16:colId xmlns:a16="http://schemas.microsoft.com/office/drawing/2014/main" val="20004"/>
                    </a:ext>
                  </a:extLst>
                </a:gridCol>
                <a:gridCol w="1787231">
                  <a:extLst>
                    <a:ext uri="{9D8B030D-6E8A-4147-A177-3AD203B41FA5}">
                      <a16:colId xmlns:a16="http://schemas.microsoft.com/office/drawing/2014/main" val="20005"/>
                    </a:ext>
                  </a:extLst>
                </a:gridCol>
                <a:gridCol w="1697958">
                  <a:extLst>
                    <a:ext uri="{9D8B030D-6E8A-4147-A177-3AD203B41FA5}">
                      <a16:colId xmlns:a16="http://schemas.microsoft.com/office/drawing/2014/main" val="20006"/>
                    </a:ext>
                  </a:extLst>
                </a:gridCol>
                <a:gridCol w="514374">
                  <a:extLst>
                    <a:ext uri="{9D8B030D-6E8A-4147-A177-3AD203B41FA5}">
                      <a16:colId xmlns:a16="http://schemas.microsoft.com/office/drawing/2014/main" val="20007"/>
                    </a:ext>
                  </a:extLst>
                </a:gridCol>
                <a:gridCol w="543806">
                  <a:extLst>
                    <a:ext uri="{9D8B030D-6E8A-4147-A177-3AD203B41FA5}">
                      <a16:colId xmlns:a16="http://schemas.microsoft.com/office/drawing/2014/main" val="20008"/>
                    </a:ext>
                  </a:extLst>
                </a:gridCol>
              </a:tblGrid>
              <a:tr h="631697">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88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88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88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88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867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7286625"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257550"/>
            <a:ext cx="70961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End Use Mix by Partition Type, 2026E (% share)</a:t>
            </a:r>
          </a:p>
        </p:txBody>
      </p:sp>
      <p:graphicFrame>
        <p:nvGraphicFramePr>
          <p:cNvPr id="17" name="Chart 16"/>
          <p:cNvGraphicFramePr>
            <a:graphicFrameLocks noGrp="1"/>
          </p:cNvGraphicFramePr>
          <p:nvPr/>
        </p:nvGraphicFramePr>
        <p:xfrm>
          <a:off x="238125" y="3486150"/>
          <a:ext cx="7096125" cy="3086100"/>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7581900" y="3200400"/>
            <a:ext cx="445770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715250" y="3286125"/>
            <a:ext cx="4191000" cy="209550"/>
          </a:xfrm>
          <a:prstGeom prst="rect">
            <a:avLst/>
          </a:prstGeom>
          <a:noFill/>
        </p:spPr>
        <p:txBody>
          <a:bodyPr wrap="square" lIns="0" tIns="9525" rIns="19050" bIns="9525">
            <a:spAutoFit/>
          </a:bodyPr>
          <a:lstStyle/>
          <a:p>
            <a:pPr algn="l"/>
            <a:r>
              <a:rPr sz="1300" b="1">
                <a:solidFill>
                  <a:srgbClr val="0B2E4A"/>
                </a:solidFill>
                <a:latin typeface="Calibri"/>
              </a:rPr>
              <a:t>Share Insights</a:t>
            </a:r>
          </a:p>
        </p:txBody>
      </p:sp>
      <p:sp>
        <p:nvSpPr>
          <p:cNvPr id="20" name="Rectangle 19"/>
          <p:cNvSpPr/>
          <p:nvPr/>
        </p:nvSpPr>
        <p:spPr>
          <a:xfrm>
            <a:off x="7715250" y="3524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7715250" y="3609975"/>
            <a:ext cx="4191000" cy="29432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TextBox 2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047011" y="209702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4116149"/>
            <a:ext cx="440818" cy="641190"/>
          </a:xfrm>
          <a:prstGeom prst="rect">
            <a:avLst/>
          </a:prstGeom>
        </p:spPr>
      </p:pic>
      <p:sp>
        <p:nvSpPr>
          <p:cNvPr id="25" name="TextBox 24"/>
          <p:cNvSpPr txBox="1"/>
          <p:nvPr/>
        </p:nvSpPr>
        <p:spPr>
          <a:xfrm>
            <a:off x="7715250" y="3619500"/>
            <a:ext cx="3948807" cy="194310"/>
          </a:xfrm>
          <a:prstGeom prst="rect">
            <a:avLst/>
          </a:prstGeom>
          <a:noFill/>
        </p:spPr>
        <p:txBody>
          <a:bodyPr wrap="none" lIns="0" tIns="0" rIns="0" bIns="0">
            <a:spAutoFit/>
          </a:bodyPr>
          <a:lstStyle/>
          <a:p>
            <a:r>
              <a:rPr sz="1150" b="0">
                <a:solidFill>
                  <a:srgbClr val="2E2E2E"/>
                </a:solidFill>
                <a:latin typeface="Calibri"/>
              </a:rPr>
              <a:t>▪ 'Glassware, Ceramics &amp; Home Goods' holds the highest share of</a:t>
            </a:r>
          </a:p>
        </p:txBody>
      </p:sp>
      <p:sp>
        <p:nvSpPr>
          <p:cNvPr id="26" name="TextBox 25"/>
          <p:cNvSpPr txBox="1"/>
          <p:nvPr/>
        </p:nvSpPr>
        <p:spPr>
          <a:xfrm>
            <a:off x="7715250" y="3794760"/>
            <a:ext cx="2436676" cy="194310"/>
          </a:xfrm>
          <a:prstGeom prst="rect">
            <a:avLst/>
          </a:prstGeom>
          <a:noFill/>
        </p:spPr>
        <p:txBody>
          <a:bodyPr wrap="none" lIns="0" tIns="0" rIns="0" bIns="0">
            <a:spAutoFit/>
          </a:bodyPr>
          <a:lstStyle/>
          <a:p>
            <a:r>
              <a:rPr sz="1150" b="0">
                <a:solidFill>
                  <a:srgbClr val="2E2E2E"/>
                </a:solidFill>
                <a:latin typeface="Calibri"/>
              </a:rPr>
              <a:t>'Slotted (Interlocking Grid) Partitions' at</a:t>
            </a:r>
          </a:p>
        </p:txBody>
      </p:sp>
      <p:pic>
        <p:nvPicPr>
          <p:cNvPr id="27" name="Picture 26" descr="lock.png"/>
          <p:cNvPicPr>
            <a:picLocks noChangeAspect="1"/>
          </p:cNvPicPr>
          <p:nvPr/>
        </p:nvPicPr>
        <p:blipFill>
          <a:blip r:embed="rId5"/>
          <a:stretch>
            <a:fillRect/>
          </a:stretch>
        </p:blipFill>
        <p:spPr>
          <a:xfrm>
            <a:off x="10101080" y="3784536"/>
            <a:ext cx="134549" cy="195707"/>
          </a:xfrm>
          <a:prstGeom prst="rect">
            <a:avLst/>
          </a:prstGeom>
        </p:spPr>
      </p:pic>
      <p:sp>
        <p:nvSpPr>
          <p:cNvPr id="28" name="TextBox 27"/>
          <p:cNvSpPr txBox="1"/>
          <p:nvPr/>
        </p:nvSpPr>
        <p:spPr>
          <a:xfrm>
            <a:off x="10276189" y="3794760"/>
            <a:ext cx="569404" cy="194310"/>
          </a:xfrm>
          <a:prstGeom prst="rect">
            <a:avLst/>
          </a:prstGeom>
          <a:noFill/>
        </p:spPr>
        <p:txBody>
          <a:bodyPr wrap="none" lIns="0" tIns="0" rIns="0" bIns="0">
            <a:spAutoFit/>
          </a:bodyPr>
          <a:lstStyle/>
          <a:p>
            <a:r>
              <a:rPr sz="1150" b="0">
                <a:solidFill>
                  <a:srgbClr val="2E2E2E"/>
                </a:solidFill>
                <a:latin typeface="Calibri"/>
              </a:rPr>
              <a:t>(2026E).</a:t>
            </a:r>
          </a:p>
        </p:txBody>
      </p:sp>
      <p:sp>
        <p:nvSpPr>
          <p:cNvPr id="29" name="TextBox 28"/>
          <p:cNvSpPr txBox="1"/>
          <p:nvPr/>
        </p:nvSpPr>
        <p:spPr>
          <a:xfrm>
            <a:off x="7715250" y="4022597"/>
            <a:ext cx="3886336" cy="194310"/>
          </a:xfrm>
          <a:prstGeom prst="rect">
            <a:avLst/>
          </a:prstGeom>
          <a:noFill/>
        </p:spPr>
        <p:txBody>
          <a:bodyPr wrap="none" lIns="0" tIns="0" rIns="0" bIns="0">
            <a:spAutoFit/>
          </a:bodyPr>
          <a:lstStyle/>
          <a:p>
            <a:r>
              <a:rPr sz="1150" b="0">
                <a:solidFill>
                  <a:srgbClr val="2E2E2E"/>
                </a:solidFill>
                <a:latin typeface="Calibri"/>
              </a:rPr>
              <a:t>▪ 'Slotted (Interlocking Grid) Partitions' is the most concentrated</a:t>
            </a:r>
          </a:p>
        </p:txBody>
      </p:sp>
      <p:sp>
        <p:nvSpPr>
          <p:cNvPr id="30" name="TextBox 29"/>
          <p:cNvSpPr txBox="1"/>
          <p:nvPr/>
        </p:nvSpPr>
        <p:spPr>
          <a:xfrm>
            <a:off x="7715250" y="4197857"/>
            <a:ext cx="2026480" cy="194310"/>
          </a:xfrm>
          <a:prstGeom prst="rect">
            <a:avLst/>
          </a:prstGeom>
          <a:noFill/>
        </p:spPr>
        <p:txBody>
          <a:bodyPr wrap="none" lIns="0" tIns="0" rIns="0" bIns="0">
            <a:spAutoFit/>
          </a:bodyPr>
          <a:lstStyle/>
          <a:p>
            <a:r>
              <a:rPr sz="1150" b="0">
                <a:solidFill>
                  <a:srgbClr val="2E2E2E"/>
                </a:solidFill>
                <a:latin typeface="Calibri"/>
              </a:rPr>
              <a:t>partition type sub-segment, with</a:t>
            </a:r>
          </a:p>
        </p:txBody>
      </p:sp>
      <p:pic>
        <p:nvPicPr>
          <p:cNvPr id="31" name="Picture 30" descr="lock.png"/>
          <p:cNvPicPr>
            <a:picLocks noChangeAspect="1"/>
          </p:cNvPicPr>
          <p:nvPr/>
        </p:nvPicPr>
        <p:blipFill>
          <a:blip r:embed="rId5"/>
          <a:stretch>
            <a:fillRect/>
          </a:stretch>
        </p:blipFill>
        <p:spPr>
          <a:xfrm>
            <a:off x="9690884" y="4187634"/>
            <a:ext cx="134549" cy="195707"/>
          </a:xfrm>
          <a:prstGeom prst="rect">
            <a:avLst/>
          </a:prstGeom>
        </p:spPr>
      </p:pic>
      <p:sp>
        <p:nvSpPr>
          <p:cNvPr id="32" name="TextBox 31"/>
          <p:cNvSpPr txBox="1"/>
          <p:nvPr/>
        </p:nvSpPr>
        <p:spPr>
          <a:xfrm>
            <a:off x="9865994" y="4197857"/>
            <a:ext cx="1634827" cy="194310"/>
          </a:xfrm>
          <a:prstGeom prst="rect">
            <a:avLst/>
          </a:prstGeom>
          <a:noFill/>
        </p:spPr>
        <p:txBody>
          <a:bodyPr wrap="none" lIns="0" tIns="0" rIns="0" bIns="0">
            <a:spAutoFit/>
          </a:bodyPr>
          <a:lstStyle/>
          <a:p>
            <a:r>
              <a:rPr sz="1150" b="0">
                <a:solidFill>
                  <a:srgbClr val="2E2E2E"/>
                </a:solidFill>
                <a:latin typeface="Calibri"/>
              </a:rPr>
              <a:t>of its value via 'Glassware,</a:t>
            </a:r>
          </a:p>
        </p:txBody>
      </p:sp>
      <p:sp>
        <p:nvSpPr>
          <p:cNvPr id="33" name="TextBox 32"/>
          <p:cNvSpPr txBox="1"/>
          <p:nvPr/>
        </p:nvSpPr>
        <p:spPr>
          <a:xfrm>
            <a:off x="7715250" y="4373117"/>
            <a:ext cx="1622276" cy="194310"/>
          </a:xfrm>
          <a:prstGeom prst="rect">
            <a:avLst/>
          </a:prstGeom>
          <a:noFill/>
        </p:spPr>
        <p:txBody>
          <a:bodyPr wrap="none" lIns="0" tIns="0" rIns="0" bIns="0">
            <a:spAutoFit/>
          </a:bodyPr>
          <a:lstStyle/>
          <a:p>
            <a:r>
              <a:rPr sz="1150" b="0">
                <a:solidFill>
                  <a:srgbClr val="2E2E2E"/>
                </a:solidFill>
                <a:latin typeface="Calibri"/>
              </a:rPr>
              <a:t>Ceramics &amp; Home Goods'.</a:t>
            </a:r>
          </a:p>
        </p:txBody>
      </p:sp>
      <p:sp>
        <p:nvSpPr>
          <p:cNvPr id="34" name="TextBox 33"/>
          <p:cNvSpPr txBox="1"/>
          <p:nvPr/>
        </p:nvSpPr>
        <p:spPr>
          <a:xfrm>
            <a:off x="7715250" y="4600955"/>
            <a:ext cx="2021061" cy="194310"/>
          </a:xfrm>
          <a:prstGeom prst="rect">
            <a:avLst/>
          </a:prstGeom>
          <a:noFill/>
        </p:spPr>
        <p:txBody>
          <a:bodyPr wrap="none" lIns="0" tIns="0" r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590732"/>
            <a:ext cx="134549" cy="195707"/>
          </a:xfrm>
          <a:prstGeom prst="rect">
            <a:avLst/>
          </a:prstGeom>
        </p:spPr>
      </p:pic>
      <p:sp>
        <p:nvSpPr>
          <p:cNvPr id="36" name="TextBox 35"/>
          <p:cNvSpPr txBox="1"/>
          <p:nvPr/>
        </p:nvSpPr>
        <p:spPr>
          <a:xfrm>
            <a:off x="9860574" y="4600955"/>
            <a:ext cx="1581199" cy="194310"/>
          </a:xfrm>
          <a:prstGeom prst="rect">
            <a:avLst/>
          </a:prstGeom>
          <a:noFill/>
        </p:spPr>
        <p:txBody>
          <a:bodyPr wrap="none" lIns="0" tIns="0" rIns="0" bIns="0">
            <a:spAutoFit/>
          </a:bodyPr>
          <a:lstStyle/>
          <a:p>
            <a:r>
              <a:rPr sz="1150" b="0">
                <a:solidFill>
                  <a:srgbClr val="2E2E2E"/>
                </a:solidFill>
                <a:latin typeface="Calibri"/>
              </a:rPr>
              <a:t>BPS of share of the North</a:t>
            </a:r>
          </a:p>
        </p:txBody>
      </p:sp>
      <p:sp>
        <p:nvSpPr>
          <p:cNvPr id="37" name="TextBox 36"/>
          <p:cNvSpPr txBox="1"/>
          <p:nvPr/>
        </p:nvSpPr>
        <p:spPr>
          <a:xfrm>
            <a:off x="7715250" y="4776215"/>
            <a:ext cx="1986046" cy="194310"/>
          </a:xfrm>
          <a:prstGeom prst="rect">
            <a:avLst/>
          </a:prstGeom>
          <a:noFill/>
        </p:spPr>
        <p:txBody>
          <a:bodyPr wrap="none" lIns="0" tIns="0" rIns="0" bIns="0">
            <a:spAutoFit/>
          </a:bodyPr>
          <a:lstStyle/>
          <a:p>
            <a:r>
              <a:rPr sz="1150" b="0">
                <a:solidFill>
                  <a:srgbClr val="2E2E2E"/>
                </a:solidFill>
                <a:latin typeface="Calibri"/>
              </a:rPr>
              <a:t>America cross-section by 2036F.</a:t>
            </a:r>
          </a:p>
        </p:txBody>
      </p:sp>
      <p:sp>
        <p:nvSpPr>
          <p:cNvPr id="38" name="lockshield_17"/>
          <p:cNvSpPr/>
          <p:nvPr/>
        </p:nvSpPr>
        <p:spPr>
          <a:xfrm>
            <a:off x="238125" y="3486150"/>
            <a:ext cx="7096125" cy="3086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&amp; Attractiveness: Partition Type × End Use, 2026E–2036F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 Opportunity (US$ Mn) and Value CAGR, Partition Type × End Use, 2026E–2036F</a:t>
            </a:r>
          </a:p>
        </p:txBody>
      </p:sp>
      <p:graphicFrame>
        <p:nvGraphicFramePr>
          <p:cNvPr id="13" name="Table 12"/>
          <p:cNvGraphicFramePr>
            <a:graphicFrameLocks noGrp="1"/>
          </p:cNvGraphicFramePr>
          <p:nvPr/>
        </p:nvGraphicFramePr>
        <p:xfrm>
          <a:off x="152400" y="1238250"/>
          <a:ext cx="11887207" cy="1866897"/>
        </p:xfrm>
        <a:graphic>
          <a:graphicData uri="http://schemas.openxmlformats.org/drawingml/2006/table">
            <a:tbl>
              <a:tblPr>
                <a:tableStyleId>{5C22544A-7EE6-4342-B048-85BDC9FD1C3A}</a:tableStyleId>
              </a:tblPr>
              <a:tblGrid>
                <a:gridCol w="2338807">
                  <a:extLst>
                    <a:ext uri="{9D8B030D-6E8A-4147-A177-3AD203B41FA5}">
                      <a16:colId xmlns:a16="http://schemas.microsoft.com/office/drawing/2014/main" val="20000"/>
                    </a:ext>
                  </a:extLst>
                </a:gridCol>
                <a:gridCol w="596775">
                  <a:extLst>
                    <a:ext uri="{9D8B030D-6E8A-4147-A177-3AD203B41FA5}">
                      <a16:colId xmlns:a16="http://schemas.microsoft.com/office/drawing/2014/main" val="20001"/>
                    </a:ext>
                  </a:extLst>
                </a:gridCol>
                <a:gridCol w="596775">
                  <a:extLst>
                    <a:ext uri="{9D8B030D-6E8A-4147-A177-3AD203B41FA5}">
                      <a16:colId xmlns:a16="http://schemas.microsoft.com/office/drawing/2014/main" val="20002"/>
                    </a:ext>
                  </a:extLst>
                </a:gridCol>
                <a:gridCol w="596775">
                  <a:extLst>
                    <a:ext uri="{9D8B030D-6E8A-4147-A177-3AD203B41FA5}">
                      <a16:colId xmlns:a16="http://schemas.microsoft.com/office/drawing/2014/main" val="20003"/>
                    </a:ext>
                  </a:extLst>
                </a:gridCol>
                <a:gridCol w="596775">
                  <a:extLst>
                    <a:ext uri="{9D8B030D-6E8A-4147-A177-3AD203B41FA5}">
                      <a16:colId xmlns:a16="http://schemas.microsoft.com/office/drawing/2014/main" val="20004"/>
                    </a:ext>
                  </a:extLst>
                </a:gridCol>
                <a:gridCol w="596775">
                  <a:extLst>
                    <a:ext uri="{9D8B030D-6E8A-4147-A177-3AD203B41FA5}">
                      <a16:colId xmlns:a16="http://schemas.microsoft.com/office/drawing/2014/main" val="20005"/>
                    </a:ext>
                  </a:extLst>
                </a:gridCol>
                <a:gridCol w="596775">
                  <a:extLst>
                    <a:ext uri="{9D8B030D-6E8A-4147-A177-3AD203B41FA5}">
                      <a16:colId xmlns:a16="http://schemas.microsoft.com/office/drawing/2014/main" val="20006"/>
                    </a:ext>
                  </a:extLst>
                </a:gridCol>
                <a:gridCol w="596775">
                  <a:extLst>
                    <a:ext uri="{9D8B030D-6E8A-4147-A177-3AD203B41FA5}">
                      <a16:colId xmlns:a16="http://schemas.microsoft.com/office/drawing/2014/main" val="20007"/>
                    </a:ext>
                  </a:extLst>
                </a:gridCol>
                <a:gridCol w="596775">
                  <a:extLst>
                    <a:ext uri="{9D8B030D-6E8A-4147-A177-3AD203B41FA5}">
                      <a16:colId xmlns:a16="http://schemas.microsoft.com/office/drawing/2014/main" val="20008"/>
                    </a:ext>
                  </a:extLst>
                </a:gridCol>
                <a:gridCol w="596775">
                  <a:extLst>
                    <a:ext uri="{9D8B030D-6E8A-4147-A177-3AD203B41FA5}">
                      <a16:colId xmlns:a16="http://schemas.microsoft.com/office/drawing/2014/main" val="20009"/>
                    </a:ext>
                  </a:extLst>
                </a:gridCol>
                <a:gridCol w="596775">
                  <a:extLst>
                    <a:ext uri="{9D8B030D-6E8A-4147-A177-3AD203B41FA5}">
                      <a16:colId xmlns:a16="http://schemas.microsoft.com/office/drawing/2014/main" val="20010"/>
                    </a:ext>
                  </a:extLst>
                </a:gridCol>
                <a:gridCol w="596775">
                  <a:extLst>
                    <a:ext uri="{9D8B030D-6E8A-4147-A177-3AD203B41FA5}">
                      <a16:colId xmlns:a16="http://schemas.microsoft.com/office/drawing/2014/main" val="20011"/>
                    </a:ext>
                  </a:extLst>
                </a:gridCol>
                <a:gridCol w="596775">
                  <a:extLst>
                    <a:ext uri="{9D8B030D-6E8A-4147-A177-3AD203B41FA5}">
                      <a16:colId xmlns:a16="http://schemas.microsoft.com/office/drawing/2014/main" val="20012"/>
                    </a:ext>
                  </a:extLst>
                </a:gridCol>
                <a:gridCol w="596775">
                  <a:extLst>
                    <a:ext uri="{9D8B030D-6E8A-4147-A177-3AD203B41FA5}">
                      <a16:colId xmlns:a16="http://schemas.microsoft.com/office/drawing/2014/main" val="20013"/>
                    </a:ext>
                  </a:extLst>
                </a:gridCol>
                <a:gridCol w="596775">
                  <a:extLst>
                    <a:ext uri="{9D8B030D-6E8A-4147-A177-3AD203B41FA5}">
                      <a16:colId xmlns:a16="http://schemas.microsoft.com/office/drawing/2014/main" val="20014"/>
                    </a:ext>
                  </a:extLst>
                </a:gridCol>
                <a:gridCol w="596775">
                  <a:extLst>
                    <a:ext uri="{9D8B030D-6E8A-4147-A177-3AD203B41FA5}">
                      <a16:colId xmlns:a16="http://schemas.microsoft.com/office/drawing/2014/main" val="20015"/>
                    </a:ext>
                  </a:extLst>
                </a:gridCol>
                <a:gridCol w="596775">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5334000" cy="209550"/>
          </a:xfrm>
          <a:prstGeom prst="rect">
            <a:avLst/>
          </a:prstGeom>
          <a:noFill/>
        </p:spPr>
        <p:txBody>
          <a:bodyPr wrap="square" lIns="0" tIns="9525" rIns="19050"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53340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029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029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1248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1248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220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10220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'Flat Dividers &amp; Layer Pads × Food &amp; Beverage' ranks highest (5/5); 'Slotted Partitions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078717" y="2344368"/>
            <a:ext cx="366712" cy="533400"/>
          </a:xfrm>
          <a:prstGeom prst="rect">
            <a:avLst/>
          </a:prstGeom>
        </p:spPr>
      </p:pic>
      <p:sp>
        <p:nvSpPr>
          <p:cNvPr id="33" name="TextBox 32"/>
          <p:cNvSpPr txBox="1"/>
          <p:nvPr/>
        </p:nvSpPr>
        <p:spPr>
          <a:xfrm>
            <a:off x="276225" y="3867150"/>
            <a:ext cx="3099289" cy="194310"/>
          </a:xfrm>
          <a:prstGeom prst="rect">
            <a:avLst/>
          </a:prstGeom>
          <a:noFill/>
        </p:spPr>
        <p:txBody>
          <a:bodyPr wrap="none" lIns="0" tIns="0" rIns="0" bIns="0">
            <a:spAutoFit/>
          </a:bodyPr>
          <a:lstStyle/>
          <a:p>
            <a:r>
              <a:rPr sz="1150" b="0">
                <a:solidFill>
                  <a:srgbClr val="2E2E2E"/>
                </a:solidFill>
                <a:latin typeface="Calibri"/>
              </a:rPr>
              <a:t>▪ 1. Flat Dividers &amp; Layer Pads × Food &amp; Beverage –</a:t>
            </a:r>
          </a:p>
        </p:txBody>
      </p:sp>
      <p:pic>
        <p:nvPicPr>
          <p:cNvPr id="34" name="Picture 33" descr="lock.png"/>
          <p:cNvPicPr>
            <a:picLocks noChangeAspect="1"/>
          </p:cNvPicPr>
          <p:nvPr/>
        </p:nvPicPr>
        <p:blipFill>
          <a:blip r:embed="rId4"/>
          <a:stretch>
            <a:fillRect/>
          </a:stretch>
        </p:blipFill>
        <p:spPr>
          <a:xfrm>
            <a:off x="3324668" y="3856926"/>
            <a:ext cx="134549" cy="195707"/>
          </a:xfrm>
          <a:prstGeom prst="rect">
            <a:avLst/>
          </a:prstGeom>
        </p:spPr>
      </p:pic>
      <p:sp>
        <p:nvSpPr>
          <p:cNvPr id="35" name="TextBox 34"/>
          <p:cNvSpPr txBox="1"/>
          <p:nvPr/>
        </p:nvSpPr>
        <p:spPr>
          <a:xfrm>
            <a:off x="3499777" y="3867150"/>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561929" y="3856926"/>
            <a:ext cx="134549" cy="195707"/>
          </a:xfrm>
          <a:prstGeom prst="rect">
            <a:avLst/>
          </a:prstGeom>
        </p:spPr>
      </p:pic>
      <p:sp>
        <p:nvSpPr>
          <p:cNvPr id="37" name="TextBox 36"/>
          <p:cNvSpPr txBox="1"/>
          <p:nvPr/>
        </p:nvSpPr>
        <p:spPr>
          <a:xfrm>
            <a:off x="3737038" y="3867150"/>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38" name="TextBox 37"/>
          <p:cNvSpPr txBox="1"/>
          <p:nvPr/>
        </p:nvSpPr>
        <p:spPr>
          <a:xfrm>
            <a:off x="276225" y="4094987"/>
            <a:ext cx="3433067" cy="194310"/>
          </a:xfrm>
          <a:prstGeom prst="rect">
            <a:avLst/>
          </a:prstGeom>
          <a:noFill/>
        </p:spPr>
        <p:txBody>
          <a:bodyPr wrap="none" lIns="0" tIns="0" rIns="0" bIns="0">
            <a:spAutoFit/>
          </a:bodyPr>
          <a:lstStyle/>
          <a:p>
            <a:r>
              <a:rPr sz="1150" b="0">
                <a:solidFill>
                  <a:srgbClr val="2E2E2E"/>
                </a:solidFill>
                <a:latin typeface="Calibri"/>
              </a:rPr>
              <a:t>▪ 2. Flat Dividers &amp; Layer Pads × Electronics &amp; Electrical –</a:t>
            </a:r>
          </a:p>
        </p:txBody>
      </p:sp>
      <p:pic>
        <p:nvPicPr>
          <p:cNvPr id="39" name="Picture 38" descr="lock.png"/>
          <p:cNvPicPr>
            <a:picLocks noChangeAspect="1"/>
          </p:cNvPicPr>
          <p:nvPr/>
        </p:nvPicPr>
        <p:blipFill>
          <a:blip r:embed="rId4"/>
          <a:stretch>
            <a:fillRect/>
          </a:stretch>
        </p:blipFill>
        <p:spPr>
          <a:xfrm>
            <a:off x="3658446" y="4084764"/>
            <a:ext cx="134549" cy="195707"/>
          </a:xfrm>
          <a:prstGeom prst="rect">
            <a:avLst/>
          </a:prstGeom>
        </p:spPr>
      </p:pic>
      <p:sp>
        <p:nvSpPr>
          <p:cNvPr id="40" name="TextBox 39"/>
          <p:cNvSpPr txBox="1"/>
          <p:nvPr/>
        </p:nvSpPr>
        <p:spPr>
          <a:xfrm>
            <a:off x="3833556" y="4094987"/>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95707" y="4084764"/>
            <a:ext cx="134549" cy="195707"/>
          </a:xfrm>
          <a:prstGeom prst="rect">
            <a:avLst/>
          </a:prstGeom>
        </p:spPr>
      </p:pic>
      <p:sp>
        <p:nvSpPr>
          <p:cNvPr id="42" name="TextBox 41"/>
          <p:cNvSpPr txBox="1"/>
          <p:nvPr/>
        </p:nvSpPr>
        <p:spPr>
          <a:xfrm>
            <a:off x="4070817" y="4094987"/>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3" name="TextBox 42"/>
          <p:cNvSpPr txBox="1"/>
          <p:nvPr/>
        </p:nvSpPr>
        <p:spPr>
          <a:xfrm>
            <a:off x="276225" y="4322825"/>
            <a:ext cx="4236913" cy="194310"/>
          </a:xfrm>
          <a:prstGeom prst="rect">
            <a:avLst/>
          </a:prstGeom>
          <a:noFill/>
        </p:spPr>
        <p:txBody>
          <a:bodyPr wrap="none" lIns="0" tIns="0" rIns="0" bIns="0">
            <a:spAutoFit/>
          </a:bodyPr>
          <a:lstStyle/>
          <a:p>
            <a:r>
              <a:rPr sz="1150" b="0">
                <a:solidFill>
                  <a:srgbClr val="2E2E2E"/>
                </a:solidFill>
                <a:latin typeface="Calibri"/>
              </a:rPr>
              <a:t>▪ 3. Flat Dividers &amp; Layer Pads × Glassware, Ceramics &amp; Home Goods –</a:t>
            </a:r>
          </a:p>
        </p:txBody>
      </p:sp>
      <p:pic>
        <p:nvPicPr>
          <p:cNvPr id="44" name="Picture 43" descr="lock.png"/>
          <p:cNvPicPr>
            <a:picLocks noChangeAspect="1"/>
          </p:cNvPicPr>
          <p:nvPr/>
        </p:nvPicPr>
        <p:blipFill>
          <a:blip r:embed="rId4"/>
          <a:stretch>
            <a:fillRect/>
          </a:stretch>
        </p:blipFill>
        <p:spPr>
          <a:xfrm>
            <a:off x="4462292" y="4312602"/>
            <a:ext cx="134549" cy="195707"/>
          </a:xfrm>
          <a:prstGeom prst="rect">
            <a:avLst/>
          </a:prstGeom>
        </p:spPr>
      </p:pic>
      <p:sp>
        <p:nvSpPr>
          <p:cNvPr id="45" name="TextBox 44"/>
          <p:cNvSpPr txBox="1"/>
          <p:nvPr/>
        </p:nvSpPr>
        <p:spPr>
          <a:xfrm>
            <a:off x="4637401" y="4322825"/>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699553" y="4312602"/>
            <a:ext cx="134549" cy="195707"/>
          </a:xfrm>
          <a:prstGeom prst="rect">
            <a:avLst/>
          </a:prstGeom>
        </p:spPr>
      </p:pic>
      <p:sp>
        <p:nvSpPr>
          <p:cNvPr id="47" name="TextBox 46"/>
          <p:cNvSpPr txBox="1"/>
          <p:nvPr/>
        </p:nvSpPr>
        <p:spPr>
          <a:xfrm>
            <a:off x="4874662" y="4322825"/>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48" name="TextBox 47"/>
          <p:cNvSpPr txBox="1"/>
          <p:nvPr/>
        </p:nvSpPr>
        <p:spPr>
          <a:xfrm>
            <a:off x="276225" y="4550663"/>
            <a:ext cx="4302521" cy="194310"/>
          </a:xfrm>
          <a:prstGeom prst="rect">
            <a:avLst/>
          </a:prstGeom>
          <a:noFill/>
        </p:spPr>
        <p:txBody>
          <a:bodyPr wrap="none" lIns="0" tIns="0" rIns="0" bIns="0">
            <a:spAutoFit/>
          </a:bodyPr>
          <a:lstStyle/>
          <a:p>
            <a:r>
              <a:rPr sz="1150" b="0">
                <a:solidFill>
                  <a:srgbClr val="2E2E2E"/>
                </a:solidFill>
                <a:latin typeface="Calibri"/>
              </a:rPr>
              <a:t>▪ 4. Flat Dividers &amp; Layer Pads × Automotive &amp; Industrial Components –</a:t>
            </a:r>
          </a:p>
        </p:txBody>
      </p:sp>
      <p:pic>
        <p:nvPicPr>
          <p:cNvPr id="49" name="Picture 48" descr="lock.png"/>
          <p:cNvPicPr>
            <a:picLocks noChangeAspect="1"/>
          </p:cNvPicPr>
          <p:nvPr/>
        </p:nvPicPr>
        <p:blipFill>
          <a:blip r:embed="rId4"/>
          <a:stretch>
            <a:fillRect/>
          </a:stretch>
        </p:blipFill>
        <p:spPr>
          <a:xfrm>
            <a:off x="4527900" y="4540440"/>
            <a:ext cx="134549" cy="195707"/>
          </a:xfrm>
          <a:prstGeom prst="rect">
            <a:avLst/>
          </a:prstGeom>
        </p:spPr>
      </p:pic>
      <p:sp>
        <p:nvSpPr>
          <p:cNvPr id="50" name="TextBox 49"/>
          <p:cNvSpPr txBox="1"/>
          <p:nvPr/>
        </p:nvSpPr>
        <p:spPr>
          <a:xfrm>
            <a:off x="4703010" y="4550663"/>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765161" y="4540440"/>
            <a:ext cx="134549" cy="195707"/>
          </a:xfrm>
          <a:prstGeom prst="rect">
            <a:avLst/>
          </a:prstGeom>
        </p:spPr>
      </p:pic>
      <p:sp>
        <p:nvSpPr>
          <p:cNvPr id="52" name="TextBox 51"/>
          <p:cNvSpPr txBox="1"/>
          <p:nvPr/>
        </p:nvSpPr>
        <p:spPr>
          <a:xfrm>
            <a:off x="4940271" y="4550663"/>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3" name="TextBox 52"/>
          <p:cNvSpPr txBox="1"/>
          <p:nvPr/>
        </p:nvSpPr>
        <p:spPr>
          <a:xfrm>
            <a:off x="276225" y="4778501"/>
            <a:ext cx="2485739" cy="194310"/>
          </a:xfrm>
          <a:prstGeom prst="rect">
            <a:avLst/>
          </a:prstGeom>
          <a:noFill/>
        </p:spPr>
        <p:txBody>
          <a:bodyPr wrap="none" lIns="0" tIns="0" rIns="0" bIns="0">
            <a:spAutoFit/>
          </a:bodyPr>
          <a:lstStyle/>
          <a:p>
            <a:r>
              <a:rPr sz="1150" b="0">
                <a:solidFill>
                  <a:srgbClr val="2E2E2E"/>
                </a:solidFill>
                <a:latin typeface="Calibri"/>
              </a:rPr>
              <a:t>▪ 5. Flat Dividers &amp; Layer Pads × Others –</a:t>
            </a:r>
          </a:p>
        </p:txBody>
      </p:sp>
      <p:pic>
        <p:nvPicPr>
          <p:cNvPr id="54" name="Picture 53" descr="lock.png"/>
          <p:cNvPicPr>
            <a:picLocks noChangeAspect="1"/>
          </p:cNvPicPr>
          <p:nvPr/>
        </p:nvPicPr>
        <p:blipFill>
          <a:blip r:embed="rId4"/>
          <a:stretch>
            <a:fillRect/>
          </a:stretch>
        </p:blipFill>
        <p:spPr>
          <a:xfrm>
            <a:off x="2711118" y="4768278"/>
            <a:ext cx="134549" cy="195707"/>
          </a:xfrm>
          <a:prstGeom prst="rect">
            <a:avLst/>
          </a:prstGeom>
        </p:spPr>
      </p:pic>
      <p:sp>
        <p:nvSpPr>
          <p:cNvPr id="55" name="TextBox 54"/>
          <p:cNvSpPr txBox="1"/>
          <p:nvPr/>
        </p:nvSpPr>
        <p:spPr>
          <a:xfrm>
            <a:off x="2886227" y="4778501"/>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2948379" y="4768278"/>
            <a:ext cx="134549" cy="195707"/>
          </a:xfrm>
          <a:prstGeom prst="rect">
            <a:avLst/>
          </a:prstGeom>
        </p:spPr>
      </p:pic>
      <p:sp>
        <p:nvSpPr>
          <p:cNvPr id="57" name="TextBox 56"/>
          <p:cNvSpPr txBox="1"/>
          <p:nvPr/>
        </p:nvSpPr>
        <p:spPr>
          <a:xfrm>
            <a:off x="3123488" y="4778501"/>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8" name="TextBox 57"/>
          <p:cNvSpPr txBox="1"/>
          <p:nvPr/>
        </p:nvSpPr>
        <p:spPr>
          <a:xfrm>
            <a:off x="6029325" y="3867150"/>
            <a:ext cx="1657350" cy="194310"/>
          </a:xfrm>
          <a:prstGeom prst="rect">
            <a:avLst/>
          </a:prstGeom>
          <a:noFill/>
        </p:spPr>
        <p:txBody>
          <a:bodyPr wrap="none" lIns="0" tIns="0" rIns="0" bIns="0">
            <a:spAutoFit/>
          </a:bodyPr>
          <a:lstStyle/>
          <a:p>
            <a:r>
              <a:rPr sz="1150" b="0">
                <a:solidFill>
                  <a:srgbClr val="2E2E2E"/>
                </a:solidFill>
                <a:latin typeface="Calibri"/>
              </a:rPr>
              <a:t>▪ 'Flat Dividers &amp; Layer Pads</a:t>
            </a:r>
          </a:p>
        </p:txBody>
      </p:sp>
      <p:sp>
        <p:nvSpPr>
          <p:cNvPr id="59" name="TextBox 58"/>
          <p:cNvSpPr txBox="1"/>
          <p:nvPr/>
        </p:nvSpPr>
        <p:spPr>
          <a:xfrm>
            <a:off x="6029325" y="4042410"/>
            <a:ext cx="1544655" cy="194310"/>
          </a:xfrm>
          <a:prstGeom prst="rect">
            <a:avLst/>
          </a:prstGeom>
          <a:noFill/>
        </p:spPr>
        <p:txBody>
          <a:bodyPr wrap="none" lIns="0" tIns="0" rIns="0" bIns="0">
            <a:spAutoFit/>
          </a:bodyPr>
          <a:lstStyle/>
          <a:p>
            <a:r>
              <a:rPr sz="1150" b="0">
                <a:solidFill>
                  <a:srgbClr val="2E2E2E"/>
                </a:solidFill>
                <a:latin typeface="Calibri"/>
              </a:rPr>
              <a:t>× Food &amp; Beverage' adds</a:t>
            </a:r>
          </a:p>
        </p:txBody>
      </p:sp>
      <p:pic>
        <p:nvPicPr>
          <p:cNvPr id="60" name="Picture 59" descr="lock.png"/>
          <p:cNvPicPr>
            <a:picLocks noChangeAspect="1"/>
          </p:cNvPicPr>
          <p:nvPr/>
        </p:nvPicPr>
        <p:blipFill>
          <a:blip r:embed="rId4"/>
          <a:stretch>
            <a:fillRect/>
          </a:stretch>
        </p:blipFill>
        <p:spPr>
          <a:xfrm>
            <a:off x="6015245" y="4207446"/>
            <a:ext cx="134549" cy="195707"/>
          </a:xfrm>
          <a:prstGeom prst="rect">
            <a:avLst/>
          </a:prstGeom>
        </p:spPr>
      </p:pic>
      <p:sp>
        <p:nvSpPr>
          <p:cNvPr id="61" name="TextBox 60"/>
          <p:cNvSpPr txBox="1"/>
          <p:nvPr/>
        </p:nvSpPr>
        <p:spPr>
          <a:xfrm>
            <a:off x="6190354" y="4217670"/>
            <a:ext cx="1224632" cy="194310"/>
          </a:xfrm>
          <a:prstGeom prst="rect">
            <a:avLst/>
          </a:prstGeom>
          <a:noFill/>
        </p:spPr>
        <p:txBody>
          <a:bodyPr wrap="none" lIns="0" tIns="0" rIns="0" bIns="0">
            <a:spAutoFit/>
          </a:bodyPr>
          <a:lstStyle/>
          <a:p>
            <a:r>
              <a:rPr sz="1150" b="0">
                <a:solidFill>
                  <a:srgbClr val="2E2E2E"/>
                </a:solidFill>
                <a:latin typeface="Calibri"/>
              </a:rPr>
              <a:t>US$ Mn by 2036F –</a:t>
            </a:r>
          </a:p>
        </p:txBody>
      </p:sp>
      <p:pic>
        <p:nvPicPr>
          <p:cNvPr id="62" name="Picture 61" descr="lock.png"/>
          <p:cNvPicPr>
            <a:picLocks noChangeAspect="1"/>
          </p:cNvPicPr>
          <p:nvPr/>
        </p:nvPicPr>
        <p:blipFill>
          <a:blip r:embed="rId4"/>
          <a:stretch>
            <a:fillRect/>
          </a:stretch>
        </p:blipFill>
        <p:spPr>
          <a:xfrm>
            <a:off x="6015245" y="4382706"/>
            <a:ext cx="134549" cy="195707"/>
          </a:xfrm>
          <a:prstGeom prst="rect">
            <a:avLst/>
          </a:prstGeom>
        </p:spPr>
      </p:pic>
      <p:sp>
        <p:nvSpPr>
          <p:cNvPr id="63" name="TextBox 62"/>
          <p:cNvSpPr txBox="1"/>
          <p:nvPr/>
        </p:nvSpPr>
        <p:spPr>
          <a:xfrm>
            <a:off x="6190354" y="4392929"/>
            <a:ext cx="741126" cy="194310"/>
          </a:xfrm>
          <a:prstGeom prst="rect">
            <a:avLst/>
          </a:prstGeom>
          <a:noFill/>
        </p:spPr>
        <p:txBody>
          <a:bodyPr wrap="none" lIns="0" tIns="0" rIns="0" bIns="0">
            <a:spAutoFit/>
          </a:bodyPr>
          <a:lstStyle/>
          <a:p>
            <a:r>
              <a:rPr sz="1150" b="0">
                <a:solidFill>
                  <a:srgbClr val="2E2E2E"/>
                </a:solidFill>
                <a:latin typeface="Calibri"/>
              </a:rPr>
              <a:t>of the total</a:t>
            </a:r>
          </a:p>
        </p:txBody>
      </p:sp>
      <p:sp>
        <p:nvSpPr>
          <p:cNvPr id="64" name="TextBox 63"/>
          <p:cNvSpPr txBox="1"/>
          <p:nvPr/>
        </p:nvSpPr>
        <p:spPr>
          <a:xfrm>
            <a:off x="6029325" y="4568189"/>
            <a:ext cx="822994" cy="194310"/>
          </a:xfrm>
          <a:prstGeom prst="rect">
            <a:avLst/>
          </a:prstGeom>
          <a:noFill/>
        </p:spPr>
        <p:txBody>
          <a:bodyPr wrap="none" lIns="0" tIns="0" rIns="0" bIns="0">
            <a:spAutoFit/>
          </a:bodyPr>
          <a:lstStyle/>
          <a:p>
            <a:r>
              <a:rPr sz="1150" b="0">
                <a:solidFill>
                  <a:srgbClr val="2E2E2E"/>
                </a:solidFill>
                <a:latin typeface="Calibri"/>
              </a:rPr>
              <a:t>opportunity.</a:t>
            </a:r>
          </a:p>
        </p:txBody>
      </p:sp>
      <p:sp>
        <p:nvSpPr>
          <p:cNvPr id="65" name="TextBox 64"/>
          <p:cNvSpPr txBox="1"/>
          <p:nvPr/>
        </p:nvSpPr>
        <p:spPr>
          <a:xfrm>
            <a:off x="8124825" y="3867150"/>
            <a:ext cx="1657350" cy="194310"/>
          </a:xfrm>
          <a:prstGeom prst="rect">
            <a:avLst/>
          </a:prstGeom>
          <a:noFill/>
        </p:spPr>
        <p:txBody>
          <a:bodyPr wrap="none" lIns="0" tIns="0" rIns="0" bIns="0">
            <a:spAutoFit/>
          </a:bodyPr>
          <a:lstStyle/>
          <a:p>
            <a:r>
              <a:rPr sz="1150" b="0">
                <a:solidFill>
                  <a:srgbClr val="2E2E2E"/>
                </a:solidFill>
                <a:latin typeface="Calibri"/>
              </a:rPr>
              <a:t>▪ 'Flat Dividers &amp; Layer Pads</a:t>
            </a:r>
          </a:p>
        </p:txBody>
      </p:sp>
      <p:sp>
        <p:nvSpPr>
          <p:cNvPr id="66" name="TextBox 65"/>
          <p:cNvSpPr txBox="1"/>
          <p:nvPr/>
        </p:nvSpPr>
        <p:spPr>
          <a:xfrm>
            <a:off x="8124825" y="4042410"/>
            <a:ext cx="1564940" cy="194310"/>
          </a:xfrm>
          <a:prstGeom prst="rect">
            <a:avLst/>
          </a:prstGeom>
          <a:noFill/>
        </p:spPr>
        <p:txBody>
          <a:bodyPr wrap="none" lIns="0" tIns="0" rIns="0" bIns="0">
            <a:spAutoFit/>
          </a:bodyPr>
          <a:lstStyle/>
          <a:p>
            <a:r>
              <a:rPr sz="1150" b="0">
                <a:solidFill>
                  <a:srgbClr val="2E2E2E"/>
                </a:solidFill>
                <a:latin typeface="Calibri"/>
              </a:rPr>
              <a:t>× Electronics &amp; Electrical'</a:t>
            </a:r>
          </a:p>
        </p:txBody>
      </p:sp>
      <p:sp>
        <p:nvSpPr>
          <p:cNvPr id="67" name="TextBox 66"/>
          <p:cNvSpPr txBox="1"/>
          <p:nvPr/>
        </p:nvSpPr>
        <p:spPr>
          <a:xfrm>
            <a:off x="8124825" y="4217670"/>
            <a:ext cx="689495" cy="194310"/>
          </a:xfrm>
          <a:prstGeom prst="rect">
            <a:avLst/>
          </a:prstGeom>
          <a:noFill/>
        </p:spPr>
        <p:txBody>
          <a:bodyPr wrap="none" lIns="0" tIns="0" rIns="0" bIns="0">
            <a:spAutoFit/>
          </a:bodyPr>
          <a:lstStyle/>
          <a:p>
            <a:r>
              <a:rPr sz="1150" b="0">
                <a:solidFill>
                  <a:srgbClr val="2E2E2E"/>
                </a:solidFill>
                <a:latin typeface="Calibri"/>
              </a:rPr>
              <a:t>grows at a</a:t>
            </a:r>
          </a:p>
        </p:txBody>
      </p:sp>
      <p:pic>
        <p:nvPicPr>
          <p:cNvPr id="68" name="Picture 67" descr="lock.png"/>
          <p:cNvPicPr>
            <a:picLocks noChangeAspect="1"/>
          </p:cNvPicPr>
          <p:nvPr/>
        </p:nvPicPr>
        <p:blipFill>
          <a:blip r:embed="rId4"/>
          <a:stretch>
            <a:fillRect/>
          </a:stretch>
        </p:blipFill>
        <p:spPr>
          <a:xfrm>
            <a:off x="8763474" y="4207446"/>
            <a:ext cx="134549" cy="195707"/>
          </a:xfrm>
          <a:prstGeom prst="rect">
            <a:avLst/>
          </a:prstGeom>
        </p:spPr>
      </p:pic>
      <p:sp>
        <p:nvSpPr>
          <p:cNvPr id="69" name="TextBox 68"/>
          <p:cNvSpPr txBox="1"/>
          <p:nvPr/>
        </p:nvSpPr>
        <p:spPr>
          <a:xfrm>
            <a:off x="8938584" y="4217670"/>
            <a:ext cx="446441" cy="194310"/>
          </a:xfrm>
          <a:prstGeom prst="rect">
            <a:avLst/>
          </a:prstGeom>
          <a:noFill/>
        </p:spPr>
        <p:txBody>
          <a:bodyPr wrap="none" lIns="0" tIns="0" r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9334179" y="4207446"/>
            <a:ext cx="134549" cy="195707"/>
          </a:xfrm>
          <a:prstGeom prst="rect">
            <a:avLst/>
          </a:prstGeom>
        </p:spPr>
      </p:pic>
      <p:sp>
        <p:nvSpPr>
          <p:cNvPr id="71" name="TextBox 70"/>
          <p:cNvSpPr txBox="1"/>
          <p:nvPr/>
        </p:nvSpPr>
        <p:spPr>
          <a:xfrm>
            <a:off x="8124825" y="4392929"/>
            <a:ext cx="925400" cy="194310"/>
          </a:xfrm>
          <a:prstGeom prst="rect">
            <a:avLst/>
          </a:prstGeom>
          <a:noFill/>
        </p:spPr>
        <p:txBody>
          <a:bodyPr wrap="none" lIns="0" tIns="0" rIns="0" bIns="0">
            <a:spAutoFit/>
          </a:bodyPr>
          <a:lstStyle/>
          <a:p>
            <a:r>
              <a:rPr sz="1150" b="0">
                <a:solidFill>
                  <a:srgbClr val="2E2E2E"/>
                </a:solidFill>
                <a:latin typeface="Calibri"/>
              </a:rPr>
              <a:t>BPS above the</a:t>
            </a:r>
          </a:p>
        </p:txBody>
      </p:sp>
      <p:sp>
        <p:nvSpPr>
          <p:cNvPr id="72" name="TextBox 71"/>
          <p:cNvSpPr txBox="1"/>
          <p:nvPr/>
        </p:nvSpPr>
        <p:spPr>
          <a:xfrm>
            <a:off x="8124825" y="4568189"/>
            <a:ext cx="890029" cy="194310"/>
          </a:xfrm>
          <a:prstGeom prst="rect">
            <a:avLst/>
          </a:prstGeom>
          <a:noFill/>
        </p:spPr>
        <p:txBody>
          <a:bodyPr wrap="none" lIns="0" tIns="0" rIns="0" bIns="0">
            <a:spAutoFit/>
          </a:bodyPr>
          <a:lstStyle/>
          <a:p>
            <a:r>
              <a:rPr sz="1150" b="0">
                <a:solidFill>
                  <a:srgbClr val="2E2E2E"/>
                </a:solidFill>
                <a:latin typeface="Calibri"/>
              </a:rPr>
              <a:t>cross-section.</a:t>
            </a:r>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Board Construction × 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Snapshot</a:t>
            </a:r>
          </a:p>
          <a:p>
            <a:pPr marL="342900" indent="-323850">
              <a:lnSpc>
                <a:spcPct val="100000"/>
              </a:lnSpc>
              <a:spcAft>
                <a:spcPts val="800"/>
              </a:spcAft>
            </a:pPr>
            <a:r>
              <a:rPr sz="2000" b="0">
                <a:solidFill>
                  <a:srgbClr val="000000"/>
                </a:solidFill>
                <a:latin typeface="Calibri"/>
              </a:rPr>
              <a:t>➤	Market Share Analysis</a:t>
            </a:r>
          </a:p>
          <a:p>
            <a:pPr marL="342900" indent="-323850">
              <a:lnSpc>
                <a:spcPct val="100000"/>
              </a:lnSpc>
              <a:spcAft>
                <a:spcPts val="800"/>
              </a:spcAft>
            </a:pPr>
            <a:r>
              <a:rPr sz="2000" b="0">
                <a:solidFill>
                  <a:srgbClr val="000000"/>
                </a:solidFill>
                <a:latin typeface="Calibri"/>
              </a:rPr>
              <a:t>➤	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Snapshot: Board Construction × End Use, 2026E vs 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North America market value (US$ Mn) for each board construction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Market Value, Board Construction × End Use, 2026E and 2036F (US$ Mn)</a:t>
            </a:r>
          </a:p>
        </p:txBody>
      </p:sp>
      <p:graphicFrame>
        <p:nvGraphicFramePr>
          <p:cNvPr id="13" name="Table 12"/>
          <p:cNvGraphicFramePr>
            <a:graphicFrameLocks noGrp="1"/>
          </p:cNvGraphicFramePr>
          <p:nvPr/>
        </p:nvGraphicFramePr>
        <p:xfrm>
          <a:off x="152400" y="1238250"/>
          <a:ext cx="11887196" cy="1866897"/>
        </p:xfrm>
        <a:graphic>
          <a:graphicData uri="http://schemas.openxmlformats.org/drawingml/2006/table">
            <a:tbl>
              <a:tblPr>
                <a:tableStyleId>{5C22544A-7EE6-4342-B048-85BDC9FD1C3A}</a:tableStyleId>
              </a:tblPr>
              <a:tblGrid>
                <a:gridCol w="1194636">
                  <a:extLst>
                    <a:ext uri="{9D8B030D-6E8A-4147-A177-3AD203B41FA5}">
                      <a16:colId xmlns:a16="http://schemas.microsoft.com/office/drawing/2014/main" val="20000"/>
                    </a:ext>
                  </a:extLst>
                </a:gridCol>
                <a:gridCol w="668285">
                  <a:extLst>
                    <a:ext uri="{9D8B030D-6E8A-4147-A177-3AD203B41FA5}">
                      <a16:colId xmlns:a16="http://schemas.microsoft.com/office/drawing/2014/main" val="20001"/>
                    </a:ext>
                  </a:extLst>
                </a:gridCol>
                <a:gridCol w="668285">
                  <a:extLst>
                    <a:ext uri="{9D8B030D-6E8A-4147-A177-3AD203B41FA5}">
                      <a16:colId xmlns:a16="http://schemas.microsoft.com/office/drawing/2014/main" val="20002"/>
                    </a:ext>
                  </a:extLst>
                </a:gridCol>
                <a:gridCol w="668285">
                  <a:extLst>
                    <a:ext uri="{9D8B030D-6E8A-4147-A177-3AD203B41FA5}">
                      <a16:colId xmlns:a16="http://schemas.microsoft.com/office/drawing/2014/main" val="20003"/>
                    </a:ext>
                  </a:extLst>
                </a:gridCol>
                <a:gridCol w="668285">
                  <a:extLst>
                    <a:ext uri="{9D8B030D-6E8A-4147-A177-3AD203B41FA5}">
                      <a16:colId xmlns:a16="http://schemas.microsoft.com/office/drawing/2014/main" val="20004"/>
                    </a:ext>
                  </a:extLst>
                </a:gridCol>
                <a:gridCol w="668285">
                  <a:extLst>
                    <a:ext uri="{9D8B030D-6E8A-4147-A177-3AD203B41FA5}">
                      <a16:colId xmlns:a16="http://schemas.microsoft.com/office/drawing/2014/main" val="20005"/>
                    </a:ext>
                  </a:extLst>
                </a:gridCol>
                <a:gridCol w="668285">
                  <a:extLst>
                    <a:ext uri="{9D8B030D-6E8A-4147-A177-3AD203B41FA5}">
                      <a16:colId xmlns:a16="http://schemas.microsoft.com/office/drawing/2014/main" val="20006"/>
                    </a:ext>
                  </a:extLst>
                </a:gridCol>
                <a:gridCol w="668285">
                  <a:extLst>
                    <a:ext uri="{9D8B030D-6E8A-4147-A177-3AD203B41FA5}">
                      <a16:colId xmlns:a16="http://schemas.microsoft.com/office/drawing/2014/main" val="20007"/>
                    </a:ext>
                  </a:extLst>
                </a:gridCol>
                <a:gridCol w="668285">
                  <a:extLst>
                    <a:ext uri="{9D8B030D-6E8A-4147-A177-3AD203B41FA5}">
                      <a16:colId xmlns:a16="http://schemas.microsoft.com/office/drawing/2014/main" val="20008"/>
                    </a:ext>
                  </a:extLst>
                </a:gridCol>
                <a:gridCol w="668285">
                  <a:extLst>
                    <a:ext uri="{9D8B030D-6E8A-4147-A177-3AD203B41FA5}">
                      <a16:colId xmlns:a16="http://schemas.microsoft.com/office/drawing/2014/main" val="20009"/>
                    </a:ext>
                  </a:extLst>
                </a:gridCol>
                <a:gridCol w="668285">
                  <a:extLst>
                    <a:ext uri="{9D8B030D-6E8A-4147-A177-3AD203B41FA5}">
                      <a16:colId xmlns:a16="http://schemas.microsoft.com/office/drawing/2014/main" val="20010"/>
                    </a:ext>
                  </a:extLst>
                </a:gridCol>
                <a:gridCol w="668285">
                  <a:extLst>
                    <a:ext uri="{9D8B030D-6E8A-4147-A177-3AD203B41FA5}">
                      <a16:colId xmlns:a16="http://schemas.microsoft.com/office/drawing/2014/main" val="20011"/>
                    </a:ext>
                  </a:extLst>
                </a:gridCol>
                <a:gridCol w="668285">
                  <a:extLst>
                    <a:ext uri="{9D8B030D-6E8A-4147-A177-3AD203B41FA5}">
                      <a16:colId xmlns:a16="http://schemas.microsoft.com/office/drawing/2014/main" val="20012"/>
                    </a:ext>
                  </a:extLst>
                </a:gridCol>
                <a:gridCol w="668285">
                  <a:extLst>
                    <a:ext uri="{9D8B030D-6E8A-4147-A177-3AD203B41FA5}">
                      <a16:colId xmlns:a16="http://schemas.microsoft.com/office/drawing/2014/main" val="20013"/>
                    </a:ext>
                  </a:extLst>
                </a:gridCol>
                <a:gridCol w="668285">
                  <a:extLst>
                    <a:ext uri="{9D8B030D-6E8A-4147-A177-3AD203B41FA5}">
                      <a16:colId xmlns:a16="http://schemas.microsoft.com/office/drawing/2014/main" val="20014"/>
                    </a:ext>
                  </a:extLst>
                </a:gridCol>
                <a:gridCol w="668285">
                  <a:extLst>
                    <a:ext uri="{9D8B030D-6E8A-4147-A177-3AD203B41FA5}">
                      <a16:colId xmlns:a16="http://schemas.microsoft.com/office/drawing/2014/main" val="20015"/>
                    </a:ext>
                  </a:extLst>
                </a:gridCol>
                <a:gridCol w="668285">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116395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1163955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06626" y="2344368"/>
            <a:ext cx="366712" cy="533400"/>
          </a:xfrm>
          <a:prstGeom prst="rect">
            <a:avLst/>
          </a:prstGeom>
        </p:spPr>
      </p:pic>
      <p:sp>
        <p:nvSpPr>
          <p:cNvPr id="21" name="TextBox 20"/>
          <p:cNvSpPr txBox="1"/>
          <p:nvPr/>
        </p:nvSpPr>
        <p:spPr>
          <a:xfrm>
            <a:off x="276225" y="3867150"/>
            <a:ext cx="9900629" cy="194310"/>
          </a:xfrm>
          <a:prstGeom prst="rect">
            <a:avLst/>
          </a:prstGeom>
          <a:noFill/>
        </p:spPr>
        <p:txBody>
          <a:bodyPr wrap="none" lIns="0" tIns="0" rIns="0" bIns="0">
            <a:spAutoFit/>
          </a:bodyPr>
          <a:lstStyle/>
          <a:p>
            <a:r>
              <a:rPr sz="1150" b="0">
                <a:solidFill>
                  <a:srgbClr val="2E2E2E"/>
                </a:solidFill>
                <a:latin typeface="Calibri"/>
              </a:rPr>
              <a:t>Double wall segment is projected to account for the largest share of the North America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126008" y="3856926"/>
            <a:ext cx="134549" cy="195707"/>
          </a:xfrm>
          <a:prstGeom prst="rect">
            <a:avLst/>
          </a:prstGeom>
        </p:spPr>
      </p:pic>
      <p:sp>
        <p:nvSpPr>
          <p:cNvPr id="23" name="TextBox 22"/>
          <p:cNvSpPr txBox="1"/>
          <p:nvPr/>
        </p:nvSpPr>
        <p:spPr>
          <a:xfrm>
            <a:off x="10301117" y="3867150"/>
            <a:ext cx="1492770" cy="194310"/>
          </a:xfrm>
          <a:prstGeom prst="rect">
            <a:avLst/>
          </a:prstGeom>
          <a:noFill/>
        </p:spPr>
        <p:txBody>
          <a:bodyPr wrap="none" lIns="0" tIns="0" rIns="0" bIns="0">
            <a:spAutoFit/>
          </a:bodyPr>
          <a:lstStyle/>
          <a:p>
            <a:r>
              <a:rPr sz="1150" b="0">
                <a:solidFill>
                  <a:srgbClr val="2E2E2E"/>
                </a:solidFill>
                <a:latin typeface="Calibri"/>
              </a:rPr>
              <a:t>Mn in 2036. 'Triple Wall</a:t>
            </a:r>
          </a:p>
        </p:txBody>
      </p:sp>
      <p:sp>
        <p:nvSpPr>
          <p:cNvPr id="24" name="TextBox 23"/>
          <p:cNvSpPr txBox="1"/>
          <p:nvPr/>
        </p:nvSpPr>
        <p:spPr>
          <a:xfrm>
            <a:off x="276225" y="4042410"/>
            <a:ext cx="4761210" cy="194310"/>
          </a:xfrm>
          <a:prstGeom prst="rect">
            <a:avLst/>
          </a:prstGeom>
          <a:noFill/>
        </p:spPr>
        <p:txBody>
          <a:bodyPr wrap="none" lIns="0" tIns="0" rIns="0" bIns="0">
            <a:spAutoFit/>
          </a:bodyPr>
          <a:lstStyle/>
          <a:p>
            <a:r>
              <a:rPr sz="1150" b="0">
                <a:solidFill>
                  <a:srgbClr val="2E2E2E"/>
                </a:solidFill>
                <a:latin typeface="Calibri"/>
              </a:rPr>
              <a:t>× 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4986589" y="4032186"/>
            <a:ext cx="134549" cy="195707"/>
          </a:xfrm>
          <a:prstGeom prst="rect">
            <a:avLst/>
          </a:prstGeom>
        </p:spPr>
      </p:pic>
      <p:sp>
        <p:nvSpPr>
          <p:cNvPr id="26" name="TextBox 25"/>
          <p:cNvSpPr txBox="1"/>
          <p:nvPr/>
        </p:nvSpPr>
        <p:spPr>
          <a:xfrm>
            <a:off x="5161698" y="4042410"/>
            <a:ext cx="6026578" cy="194310"/>
          </a:xfrm>
          <a:prstGeom prst="rect">
            <a:avLst/>
          </a:prstGeom>
          <a:noFill/>
        </p:spPr>
        <p:txBody>
          <a:bodyPr wrap="none" lIns="0" tIns="0" rIns="0" bIns="0">
            <a:spAutoFit/>
          </a:bodyPr>
          <a:lstStyle/>
          <a:p>
            <a:r>
              <a:rPr sz="1150" b="0">
                <a:solidFill>
                  <a:srgbClr val="2E2E2E"/>
                </a:solidFill>
                <a:latin typeface="Calibri"/>
              </a:rPr>
              <a:t>US$ Mn, 2026E), while 'Triple Wall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137430" y="4032186"/>
            <a:ext cx="134549" cy="195707"/>
          </a:xfrm>
          <a:prstGeom prst="rect">
            <a:avLst/>
          </a:prstGeom>
        </p:spPr>
      </p:pic>
      <p:sp>
        <p:nvSpPr>
          <p:cNvPr id="28" name="TextBox 27"/>
          <p:cNvSpPr txBox="1"/>
          <p:nvPr/>
        </p:nvSpPr>
        <p:spPr>
          <a:xfrm>
            <a:off x="11312540" y="4042410"/>
            <a:ext cx="342912" cy="194310"/>
          </a:xfrm>
          <a:prstGeom prst="rect">
            <a:avLst/>
          </a:prstGeom>
          <a:noFill/>
        </p:spPr>
        <p:txBody>
          <a:bodyPr wrap="none" lIns="0" tIns="0" rIns="0" bIns="0">
            <a:spAutoFit/>
          </a:bodyPr>
          <a:lstStyle/>
          <a:p>
            <a:r>
              <a:rPr sz="1150" b="0">
                <a:solidFill>
                  <a:srgbClr val="2E2E2E"/>
                </a:solidFill>
                <a:latin typeface="Calibri"/>
              </a:rPr>
              <a:t>over</a:t>
            </a:r>
          </a:p>
        </p:txBody>
      </p:sp>
      <p:sp>
        <p:nvSpPr>
          <p:cNvPr id="29" name="TextBox 28"/>
          <p:cNvSpPr txBox="1"/>
          <p:nvPr/>
        </p:nvSpPr>
        <p:spPr>
          <a:xfrm>
            <a:off x="276225" y="4217670"/>
            <a:ext cx="917199" cy="194310"/>
          </a:xfrm>
          <a:prstGeom prst="rect">
            <a:avLst/>
          </a:prstGeom>
          <a:noFill/>
        </p:spPr>
        <p:txBody>
          <a:bodyPr wrap="none" lIns="0" tIns="0" rIns="0" bIns="0">
            <a:spAutoFit/>
          </a:bodyPr>
          <a:lstStyle/>
          <a:p>
            <a:r>
              <a:rPr sz="1150" b="0">
                <a:solidFill>
                  <a:srgbClr val="2E2E2E"/>
                </a:solidFill>
                <a:latin typeface="Calibri"/>
              </a:rPr>
              <a:t>2026E–2036F.</a:t>
            </a:r>
          </a:p>
        </p:txBody>
      </p:sp>
      <p:sp>
        <p:nvSpPr>
          <p:cNvPr id="30" name="TextBox 29"/>
          <p:cNvSpPr txBox="1"/>
          <p:nvPr/>
        </p:nvSpPr>
        <p:spPr>
          <a:xfrm>
            <a:off x="276225" y="4445507"/>
            <a:ext cx="5903652" cy="194310"/>
          </a:xfrm>
          <a:prstGeom prst="rect">
            <a:avLst/>
          </a:prstGeom>
          <a:noFill/>
        </p:spPr>
        <p:txBody>
          <a:bodyPr wrap="none" lIns="0" tIns="0" rIns="0" bIns="0">
            <a:spAutoFit/>
          </a:bodyPr>
          <a:lstStyle/>
          <a:p>
            <a:r>
              <a:rPr sz="1150" b="0">
                <a:solidFill>
                  <a:srgbClr val="2E2E2E"/>
                </a:solidFill>
                <a:latin typeface="Calibri"/>
              </a:rPr>
              <a:t>Combined, the top three board construction × end use cells generate an absolute $ opportunity of</a:t>
            </a:r>
          </a:p>
        </p:txBody>
      </p:sp>
      <p:pic>
        <p:nvPicPr>
          <p:cNvPr id="31" name="Picture 30" descr="lock.png"/>
          <p:cNvPicPr>
            <a:picLocks noChangeAspect="1"/>
          </p:cNvPicPr>
          <p:nvPr/>
        </p:nvPicPr>
        <p:blipFill>
          <a:blip r:embed="rId4"/>
          <a:stretch>
            <a:fillRect/>
          </a:stretch>
        </p:blipFill>
        <p:spPr>
          <a:xfrm>
            <a:off x="6129030" y="4435284"/>
            <a:ext cx="134549" cy="195707"/>
          </a:xfrm>
          <a:prstGeom prst="rect">
            <a:avLst/>
          </a:prstGeom>
        </p:spPr>
      </p:pic>
      <p:sp>
        <p:nvSpPr>
          <p:cNvPr id="32" name="TextBox 31"/>
          <p:cNvSpPr txBox="1"/>
          <p:nvPr/>
        </p:nvSpPr>
        <p:spPr>
          <a:xfrm>
            <a:off x="6304140" y="4445507"/>
            <a:ext cx="1155386" cy="194310"/>
          </a:xfrm>
          <a:prstGeom prst="rect">
            <a:avLst/>
          </a:prstGeom>
          <a:noFill/>
        </p:spPr>
        <p:txBody>
          <a:bodyPr wrap="none" lIns="0" tIns="0" rIns="0" bIns="0">
            <a:spAutoFit/>
          </a:bodyPr>
          <a:lstStyle/>
          <a:p>
            <a:r>
              <a:rPr sz="1150" b="0">
                <a:solidFill>
                  <a:srgbClr val="2E2E2E"/>
                </a:solidFill>
                <a:latin typeface="Calibri"/>
              </a:rPr>
              <a:t>US$ Mn by 2036F.</a:t>
            </a:r>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Share Analysis: Board Construction × End Use, 2026E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 share of North America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Share, Board Construction × End Use, 2026E (% of each row)</a:t>
            </a:r>
          </a:p>
        </p:txBody>
      </p:sp>
      <p:graphicFrame>
        <p:nvGraphicFramePr>
          <p:cNvPr id="13" name="Table 12"/>
          <p:cNvGraphicFramePr>
            <a:graphicFrameLocks noGrp="1"/>
          </p:cNvGraphicFramePr>
          <p:nvPr/>
        </p:nvGraphicFramePr>
        <p:xfrm>
          <a:off x="152400" y="1238250"/>
          <a:ext cx="11887199" cy="1428752"/>
        </p:xfrm>
        <a:graphic>
          <a:graphicData uri="http://schemas.openxmlformats.org/drawingml/2006/table">
            <a:tbl>
              <a:tblPr>
                <a:tableStyleId>{5C22544A-7EE6-4342-B048-85BDC9FD1C3A}</a:tableStyleId>
              </a:tblPr>
              <a:tblGrid>
                <a:gridCol w="1189472">
                  <a:extLst>
                    <a:ext uri="{9D8B030D-6E8A-4147-A177-3AD203B41FA5}">
                      <a16:colId xmlns:a16="http://schemas.microsoft.com/office/drawing/2014/main" val="20000"/>
                    </a:ext>
                  </a:extLst>
                </a:gridCol>
                <a:gridCol w="1038980">
                  <a:extLst>
                    <a:ext uri="{9D8B030D-6E8A-4147-A177-3AD203B41FA5}">
                      <a16:colId xmlns:a16="http://schemas.microsoft.com/office/drawing/2014/main" val="20001"/>
                    </a:ext>
                  </a:extLst>
                </a:gridCol>
                <a:gridCol w="1746668">
                  <a:extLst>
                    <a:ext uri="{9D8B030D-6E8A-4147-A177-3AD203B41FA5}">
                      <a16:colId xmlns:a16="http://schemas.microsoft.com/office/drawing/2014/main" val="20002"/>
                    </a:ext>
                  </a:extLst>
                </a:gridCol>
                <a:gridCol w="1503046">
                  <a:extLst>
                    <a:ext uri="{9D8B030D-6E8A-4147-A177-3AD203B41FA5}">
                      <a16:colId xmlns:a16="http://schemas.microsoft.com/office/drawing/2014/main" val="20003"/>
                    </a:ext>
                  </a:extLst>
                </a:gridCol>
                <a:gridCol w="1320921">
                  <a:extLst>
                    <a:ext uri="{9D8B030D-6E8A-4147-A177-3AD203B41FA5}">
                      <a16:colId xmlns:a16="http://schemas.microsoft.com/office/drawing/2014/main" val="20004"/>
                    </a:ext>
                  </a:extLst>
                </a:gridCol>
                <a:gridCol w="2056497">
                  <a:extLst>
                    <a:ext uri="{9D8B030D-6E8A-4147-A177-3AD203B41FA5}">
                      <a16:colId xmlns:a16="http://schemas.microsoft.com/office/drawing/2014/main" val="20005"/>
                    </a:ext>
                  </a:extLst>
                </a:gridCol>
                <a:gridCol w="1973435">
                  <a:extLst>
                    <a:ext uri="{9D8B030D-6E8A-4147-A177-3AD203B41FA5}">
                      <a16:colId xmlns:a16="http://schemas.microsoft.com/office/drawing/2014/main" val="20006"/>
                    </a:ext>
                  </a:extLst>
                </a:gridCol>
                <a:gridCol w="514374">
                  <a:extLst>
                    <a:ext uri="{9D8B030D-6E8A-4147-A177-3AD203B41FA5}">
                      <a16:colId xmlns:a16="http://schemas.microsoft.com/office/drawing/2014/main" val="20007"/>
                    </a:ext>
                  </a:extLst>
                </a:gridCol>
                <a:gridCol w="543806">
                  <a:extLst>
                    <a:ext uri="{9D8B030D-6E8A-4147-A177-3AD203B41FA5}">
                      <a16:colId xmlns:a16="http://schemas.microsoft.com/office/drawing/2014/main" val="20008"/>
                    </a:ext>
                  </a:extLst>
                </a:gridCol>
              </a:tblGrid>
              <a:tr h="438912">
                <a:tc>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460">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460">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460">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46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6765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7286625"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067050"/>
            <a:ext cx="70961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End Use Mix by Board Construction, 2026E (% share)</a:t>
            </a:r>
          </a:p>
        </p:txBody>
      </p:sp>
      <p:graphicFrame>
        <p:nvGraphicFramePr>
          <p:cNvPr id="17" name="Chart 16"/>
          <p:cNvGraphicFramePr>
            <a:graphicFrameLocks noGrp="1"/>
          </p:cNvGraphicFramePr>
          <p:nvPr/>
        </p:nvGraphicFramePr>
        <p:xfrm>
          <a:off x="238125" y="3295650"/>
          <a:ext cx="7096125" cy="3276600"/>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7581900" y="3009900"/>
            <a:ext cx="4457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715250" y="3095625"/>
            <a:ext cx="4191000" cy="209550"/>
          </a:xfrm>
          <a:prstGeom prst="rect">
            <a:avLst/>
          </a:prstGeom>
          <a:noFill/>
        </p:spPr>
        <p:txBody>
          <a:bodyPr wrap="square" lIns="0" tIns="9525" rIns="19050" bIns="9525">
            <a:spAutoFit/>
          </a:bodyPr>
          <a:lstStyle/>
          <a:p>
            <a:pPr algn="l"/>
            <a:r>
              <a:rPr sz="1300" b="1">
                <a:solidFill>
                  <a:srgbClr val="0B2E4A"/>
                </a:solidFill>
                <a:latin typeface="Calibri"/>
              </a:rPr>
              <a:t>Share Insights</a:t>
            </a:r>
          </a:p>
        </p:txBody>
      </p:sp>
      <p:sp>
        <p:nvSpPr>
          <p:cNvPr id="20" name="Rectangle 19"/>
          <p:cNvSpPr/>
          <p:nvPr/>
        </p:nvSpPr>
        <p:spPr>
          <a:xfrm>
            <a:off x="7715250" y="33337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7715250" y="3419475"/>
            <a:ext cx="4191000" cy="31337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TextBox 2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504045" y="1905381"/>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990419"/>
            <a:ext cx="440818" cy="641190"/>
          </a:xfrm>
          <a:prstGeom prst="rect">
            <a:avLst/>
          </a:prstGeom>
        </p:spPr>
      </p:pic>
      <p:sp>
        <p:nvSpPr>
          <p:cNvPr id="25" name="TextBox 24"/>
          <p:cNvSpPr txBox="1"/>
          <p:nvPr/>
        </p:nvSpPr>
        <p:spPr>
          <a:xfrm>
            <a:off x="7715250" y="3429000"/>
            <a:ext cx="3948807" cy="194310"/>
          </a:xfrm>
          <a:prstGeom prst="rect">
            <a:avLst/>
          </a:prstGeom>
          <a:noFill/>
        </p:spPr>
        <p:txBody>
          <a:bodyPr wrap="none" lIns="0" tIns="0" rIns="0" bIns="0">
            <a:spAutoFit/>
          </a:bodyPr>
          <a:lstStyle/>
          <a:p>
            <a:r>
              <a:rPr sz="1150" b="0">
                <a:solidFill>
                  <a:srgbClr val="2E2E2E"/>
                </a:solidFill>
                <a:latin typeface="Calibri"/>
              </a:rPr>
              <a:t>▪ 'Glassware, Ceramics &amp; Home Goods' holds the highest share of</a:t>
            </a:r>
          </a:p>
        </p:txBody>
      </p:sp>
      <p:sp>
        <p:nvSpPr>
          <p:cNvPr id="26" name="TextBox 25"/>
          <p:cNvSpPr txBox="1"/>
          <p:nvPr/>
        </p:nvSpPr>
        <p:spPr>
          <a:xfrm>
            <a:off x="7715250" y="3604260"/>
            <a:ext cx="932246" cy="194310"/>
          </a:xfrm>
          <a:prstGeom prst="rect">
            <a:avLst/>
          </a:prstGeom>
          <a:noFill/>
        </p:spPr>
        <p:txBody>
          <a:bodyPr wrap="none" lIns="0" tIns="0" rIns="0" bIns="0">
            <a:spAutoFit/>
          </a:bodyPr>
          <a:lstStyle/>
          <a:p>
            <a:r>
              <a:rPr sz="1150" b="0">
                <a:solidFill>
                  <a:srgbClr val="2E2E2E"/>
                </a:solidFill>
                <a:latin typeface="Calibri"/>
              </a:rPr>
              <a:t>'Triple Wall' at</a:t>
            </a:r>
          </a:p>
        </p:txBody>
      </p:sp>
      <p:pic>
        <p:nvPicPr>
          <p:cNvPr id="27" name="Picture 26" descr="lock.png"/>
          <p:cNvPicPr>
            <a:picLocks noChangeAspect="1"/>
          </p:cNvPicPr>
          <p:nvPr/>
        </p:nvPicPr>
        <p:blipFill>
          <a:blip r:embed="rId5"/>
          <a:stretch>
            <a:fillRect/>
          </a:stretch>
        </p:blipFill>
        <p:spPr>
          <a:xfrm>
            <a:off x="8596650" y="3594036"/>
            <a:ext cx="134549" cy="195707"/>
          </a:xfrm>
          <a:prstGeom prst="rect">
            <a:avLst/>
          </a:prstGeom>
        </p:spPr>
      </p:pic>
      <p:sp>
        <p:nvSpPr>
          <p:cNvPr id="28" name="TextBox 27"/>
          <p:cNvSpPr txBox="1"/>
          <p:nvPr/>
        </p:nvSpPr>
        <p:spPr>
          <a:xfrm>
            <a:off x="8771760" y="3604260"/>
            <a:ext cx="569404" cy="194310"/>
          </a:xfrm>
          <a:prstGeom prst="rect">
            <a:avLst/>
          </a:prstGeom>
          <a:noFill/>
        </p:spPr>
        <p:txBody>
          <a:bodyPr wrap="none" lIns="0" tIns="0" rIns="0" bIns="0">
            <a:spAutoFit/>
          </a:bodyPr>
          <a:lstStyle/>
          <a:p>
            <a:r>
              <a:rPr sz="1150" b="0">
                <a:solidFill>
                  <a:srgbClr val="2E2E2E"/>
                </a:solidFill>
                <a:latin typeface="Calibri"/>
              </a:rPr>
              <a:t>(2026E).</a:t>
            </a:r>
          </a:p>
        </p:txBody>
      </p:sp>
      <p:sp>
        <p:nvSpPr>
          <p:cNvPr id="29" name="TextBox 28"/>
          <p:cNvSpPr txBox="1"/>
          <p:nvPr/>
        </p:nvSpPr>
        <p:spPr>
          <a:xfrm>
            <a:off x="7715250" y="3832097"/>
            <a:ext cx="3547454" cy="194310"/>
          </a:xfrm>
          <a:prstGeom prst="rect">
            <a:avLst/>
          </a:prstGeom>
          <a:noFill/>
        </p:spPr>
        <p:txBody>
          <a:bodyPr wrap="none" lIns="0" tIns="0" rIns="0" bIns="0">
            <a:spAutoFit/>
          </a:bodyPr>
          <a:lstStyle/>
          <a:p>
            <a:r>
              <a:rPr sz="1150" b="0">
                <a:solidFill>
                  <a:srgbClr val="2E2E2E"/>
                </a:solidFill>
                <a:latin typeface="Calibri"/>
              </a:rPr>
              <a:t>▪ 'Triple Wall' is the most concentrated board construction</a:t>
            </a:r>
          </a:p>
        </p:txBody>
      </p:sp>
      <p:sp>
        <p:nvSpPr>
          <p:cNvPr id="30" name="TextBox 29"/>
          <p:cNvSpPr txBox="1"/>
          <p:nvPr/>
        </p:nvSpPr>
        <p:spPr>
          <a:xfrm>
            <a:off x="7715250" y="4007357"/>
            <a:ext cx="1178706" cy="194310"/>
          </a:xfrm>
          <a:prstGeom prst="rect">
            <a:avLst/>
          </a:prstGeom>
          <a:noFill/>
        </p:spPr>
        <p:txBody>
          <a:bodyPr wrap="none" lIns="0" tIns="0" r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3997134"/>
            <a:ext cx="134549" cy="195707"/>
          </a:xfrm>
          <a:prstGeom prst="rect">
            <a:avLst/>
          </a:prstGeom>
        </p:spPr>
      </p:pic>
      <p:sp>
        <p:nvSpPr>
          <p:cNvPr id="32" name="TextBox 31"/>
          <p:cNvSpPr txBox="1"/>
          <p:nvPr/>
        </p:nvSpPr>
        <p:spPr>
          <a:xfrm>
            <a:off x="9018219" y="4007357"/>
            <a:ext cx="2731913" cy="194310"/>
          </a:xfrm>
          <a:prstGeom prst="rect">
            <a:avLst/>
          </a:prstGeom>
          <a:noFill/>
        </p:spPr>
        <p:txBody>
          <a:bodyPr wrap="none" lIns="0" tIns="0" rIns="0" bIns="0">
            <a:spAutoFit/>
          </a:bodyPr>
          <a:lstStyle/>
          <a:p>
            <a:r>
              <a:rPr sz="1150" b="0">
                <a:solidFill>
                  <a:srgbClr val="2E2E2E"/>
                </a:solidFill>
                <a:latin typeface="Calibri"/>
              </a:rPr>
              <a:t>of its value via 'Glassware, Ceramics &amp; Home</a:t>
            </a:r>
          </a:p>
        </p:txBody>
      </p:sp>
      <p:sp>
        <p:nvSpPr>
          <p:cNvPr id="33" name="TextBox 32"/>
          <p:cNvSpPr txBox="1"/>
          <p:nvPr/>
        </p:nvSpPr>
        <p:spPr>
          <a:xfrm>
            <a:off x="7715250" y="4182617"/>
            <a:ext cx="525189" cy="194310"/>
          </a:xfrm>
          <a:prstGeom prst="rect">
            <a:avLst/>
          </a:prstGeom>
          <a:noFill/>
        </p:spPr>
        <p:txBody>
          <a:bodyPr wrap="none" lIns="0" tIns="0" rIns="0" bIns="0">
            <a:spAutoFit/>
          </a:bodyPr>
          <a:lstStyle/>
          <a:p>
            <a:r>
              <a:rPr sz="1150" b="0">
                <a:solidFill>
                  <a:srgbClr val="2E2E2E"/>
                </a:solidFill>
                <a:latin typeface="Calibri"/>
              </a:rPr>
              <a:t>Goods'.</a:t>
            </a:r>
          </a:p>
        </p:txBody>
      </p:sp>
      <p:sp>
        <p:nvSpPr>
          <p:cNvPr id="34" name="TextBox 33"/>
          <p:cNvSpPr txBox="1"/>
          <p:nvPr/>
        </p:nvSpPr>
        <p:spPr>
          <a:xfrm>
            <a:off x="7715250" y="4410455"/>
            <a:ext cx="2021061" cy="194310"/>
          </a:xfrm>
          <a:prstGeom prst="rect">
            <a:avLst/>
          </a:prstGeom>
          <a:noFill/>
        </p:spPr>
        <p:txBody>
          <a:bodyPr wrap="none" lIns="0" tIns="0" r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400232"/>
            <a:ext cx="134549" cy="195707"/>
          </a:xfrm>
          <a:prstGeom prst="rect">
            <a:avLst/>
          </a:prstGeom>
        </p:spPr>
      </p:pic>
      <p:sp>
        <p:nvSpPr>
          <p:cNvPr id="36" name="TextBox 35"/>
          <p:cNvSpPr txBox="1"/>
          <p:nvPr/>
        </p:nvSpPr>
        <p:spPr>
          <a:xfrm>
            <a:off x="9860574" y="4410455"/>
            <a:ext cx="1581199" cy="194310"/>
          </a:xfrm>
          <a:prstGeom prst="rect">
            <a:avLst/>
          </a:prstGeom>
          <a:noFill/>
        </p:spPr>
        <p:txBody>
          <a:bodyPr wrap="none" lIns="0" tIns="0" rIns="0" bIns="0">
            <a:spAutoFit/>
          </a:bodyPr>
          <a:lstStyle/>
          <a:p>
            <a:r>
              <a:rPr sz="1150" b="0">
                <a:solidFill>
                  <a:srgbClr val="2E2E2E"/>
                </a:solidFill>
                <a:latin typeface="Calibri"/>
              </a:rPr>
              <a:t>BPS of share of the North</a:t>
            </a:r>
          </a:p>
        </p:txBody>
      </p:sp>
      <p:sp>
        <p:nvSpPr>
          <p:cNvPr id="37" name="TextBox 36"/>
          <p:cNvSpPr txBox="1"/>
          <p:nvPr/>
        </p:nvSpPr>
        <p:spPr>
          <a:xfrm>
            <a:off x="7715250" y="4585715"/>
            <a:ext cx="1986046" cy="194310"/>
          </a:xfrm>
          <a:prstGeom prst="rect">
            <a:avLst/>
          </a:prstGeom>
          <a:noFill/>
        </p:spPr>
        <p:txBody>
          <a:bodyPr wrap="none" lIns="0" tIns="0" rIns="0" bIns="0">
            <a:spAutoFit/>
          </a:bodyPr>
          <a:lstStyle/>
          <a:p>
            <a:r>
              <a:rPr sz="1150" b="0">
                <a:solidFill>
                  <a:srgbClr val="2E2E2E"/>
                </a:solidFill>
                <a:latin typeface="Calibri"/>
              </a:rPr>
              <a:t>America cross-section by 2036F.</a:t>
            </a:r>
          </a:p>
        </p:txBody>
      </p:sp>
      <p:sp>
        <p:nvSpPr>
          <p:cNvPr id="38" name="lockshield_17"/>
          <p:cNvSpPr/>
          <p:nvPr/>
        </p:nvSpPr>
        <p:spPr>
          <a:xfrm>
            <a:off x="238125" y="3295650"/>
            <a:ext cx="7096125" cy="32766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&amp; Attractiveness: Board Construction × End Use, 2026E–2036F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 Opportunity (US$ Mn) and Value CAGR, Board Construction × End Use, 2026E–2036F</a:t>
            </a:r>
          </a:p>
        </p:txBody>
      </p:sp>
      <p:graphicFrame>
        <p:nvGraphicFramePr>
          <p:cNvPr id="13" name="Table 12"/>
          <p:cNvGraphicFramePr>
            <a:graphicFrameLocks noGrp="1"/>
          </p:cNvGraphicFramePr>
          <p:nvPr/>
        </p:nvGraphicFramePr>
        <p:xfrm>
          <a:off x="152400" y="1238250"/>
          <a:ext cx="11887197" cy="1866897"/>
        </p:xfrm>
        <a:graphic>
          <a:graphicData uri="http://schemas.openxmlformats.org/drawingml/2006/table">
            <a:tbl>
              <a:tblPr>
                <a:tableStyleId>{5C22544A-7EE6-4342-B048-85BDC9FD1C3A}</a:tableStyleId>
              </a:tblPr>
              <a:tblGrid>
                <a:gridCol w="986381">
                  <a:extLst>
                    <a:ext uri="{9D8B030D-6E8A-4147-A177-3AD203B41FA5}">
                      <a16:colId xmlns:a16="http://schemas.microsoft.com/office/drawing/2014/main" val="20000"/>
                    </a:ext>
                  </a:extLst>
                </a:gridCol>
                <a:gridCol w="681301">
                  <a:extLst>
                    <a:ext uri="{9D8B030D-6E8A-4147-A177-3AD203B41FA5}">
                      <a16:colId xmlns:a16="http://schemas.microsoft.com/office/drawing/2014/main" val="20001"/>
                    </a:ext>
                  </a:extLst>
                </a:gridCol>
                <a:gridCol w="681301">
                  <a:extLst>
                    <a:ext uri="{9D8B030D-6E8A-4147-A177-3AD203B41FA5}">
                      <a16:colId xmlns:a16="http://schemas.microsoft.com/office/drawing/2014/main" val="20002"/>
                    </a:ext>
                  </a:extLst>
                </a:gridCol>
                <a:gridCol w="681301">
                  <a:extLst>
                    <a:ext uri="{9D8B030D-6E8A-4147-A177-3AD203B41FA5}">
                      <a16:colId xmlns:a16="http://schemas.microsoft.com/office/drawing/2014/main" val="20003"/>
                    </a:ext>
                  </a:extLst>
                </a:gridCol>
                <a:gridCol w="681301">
                  <a:extLst>
                    <a:ext uri="{9D8B030D-6E8A-4147-A177-3AD203B41FA5}">
                      <a16:colId xmlns:a16="http://schemas.microsoft.com/office/drawing/2014/main" val="20004"/>
                    </a:ext>
                  </a:extLst>
                </a:gridCol>
                <a:gridCol w="681301">
                  <a:extLst>
                    <a:ext uri="{9D8B030D-6E8A-4147-A177-3AD203B41FA5}">
                      <a16:colId xmlns:a16="http://schemas.microsoft.com/office/drawing/2014/main" val="20005"/>
                    </a:ext>
                  </a:extLst>
                </a:gridCol>
                <a:gridCol w="681301">
                  <a:extLst>
                    <a:ext uri="{9D8B030D-6E8A-4147-A177-3AD203B41FA5}">
                      <a16:colId xmlns:a16="http://schemas.microsoft.com/office/drawing/2014/main" val="20006"/>
                    </a:ext>
                  </a:extLst>
                </a:gridCol>
                <a:gridCol w="681301">
                  <a:extLst>
                    <a:ext uri="{9D8B030D-6E8A-4147-A177-3AD203B41FA5}">
                      <a16:colId xmlns:a16="http://schemas.microsoft.com/office/drawing/2014/main" val="20007"/>
                    </a:ext>
                  </a:extLst>
                </a:gridCol>
                <a:gridCol w="681301">
                  <a:extLst>
                    <a:ext uri="{9D8B030D-6E8A-4147-A177-3AD203B41FA5}">
                      <a16:colId xmlns:a16="http://schemas.microsoft.com/office/drawing/2014/main" val="20008"/>
                    </a:ext>
                  </a:extLst>
                </a:gridCol>
                <a:gridCol w="681301">
                  <a:extLst>
                    <a:ext uri="{9D8B030D-6E8A-4147-A177-3AD203B41FA5}">
                      <a16:colId xmlns:a16="http://schemas.microsoft.com/office/drawing/2014/main" val="20009"/>
                    </a:ext>
                  </a:extLst>
                </a:gridCol>
                <a:gridCol w="681301">
                  <a:extLst>
                    <a:ext uri="{9D8B030D-6E8A-4147-A177-3AD203B41FA5}">
                      <a16:colId xmlns:a16="http://schemas.microsoft.com/office/drawing/2014/main" val="20010"/>
                    </a:ext>
                  </a:extLst>
                </a:gridCol>
                <a:gridCol w="681301">
                  <a:extLst>
                    <a:ext uri="{9D8B030D-6E8A-4147-A177-3AD203B41FA5}">
                      <a16:colId xmlns:a16="http://schemas.microsoft.com/office/drawing/2014/main" val="20011"/>
                    </a:ext>
                  </a:extLst>
                </a:gridCol>
                <a:gridCol w="681301">
                  <a:extLst>
                    <a:ext uri="{9D8B030D-6E8A-4147-A177-3AD203B41FA5}">
                      <a16:colId xmlns:a16="http://schemas.microsoft.com/office/drawing/2014/main" val="20012"/>
                    </a:ext>
                  </a:extLst>
                </a:gridCol>
                <a:gridCol w="681301">
                  <a:extLst>
                    <a:ext uri="{9D8B030D-6E8A-4147-A177-3AD203B41FA5}">
                      <a16:colId xmlns:a16="http://schemas.microsoft.com/office/drawing/2014/main" val="20013"/>
                    </a:ext>
                  </a:extLst>
                </a:gridCol>
                <a:gridCol w="681301">
                  <a:extLst>
                    <a:ext uri="{9D8B030D-6E8A-4147-A177-3AD203B41FA5}">
                      <a16:colId xmlns:a16="http://schemas.microsoft.com/office/drawing/2014/main" val="20014"/>
                    </a:ext>
                  </a:extLst>
                </a:gridCol>
                <a:gridCol w="681301">
                  <a:extLst>
                    <a:ext uri="{9D8B030D-6E8A-4147-A177-3AD203B41FA5}">
                      <a16:colId xmlns:a16="http://schemas.microsoft.com/office/drawing/2014/main" val="20015"/>
                    </a:ext>
                  </a:extLst>
                </a:gridCol>
                <a:gridCol w="681301">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5334000" cy="209550"/>
          </a:xfrm>
          <a:prstGeom prst="rect">
            <a:avLst/>
          </a:prstGeom>
          <a:noFill/>
        </p:spPr>
        <p:txBody>
          <a:bodyPr wrap="square" lIns="0" tIns="9525" rIns="19050"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53340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029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029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1248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1248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220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10220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'Double Wall × Food &amp; Beverage' ranks highest (5/5); 'Single Wall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02499" y="2344368"/>
            <a:ext cx="366712" cy="533400"/>
          </a:xfrm>
          <a:prstGeom prst="rect">
            <a:avLst/>
          </a:prstGeom>
        </p:spPr>
      </p:pic>
      <p:sp>
        <p:nvSpPr>
          <p:cNvPr id="33" name="TextBox 32"/>
          <p:cNvSpPr txBox="1"/>
          <p:nvPr/>
        </p:nvSpPr>
        <p:spPr>
          <a:xfrm>
            <a:off x="276225" y="3867150"/>
            <a:ext cx="2293732" cy="194310"/>
          </a:xfrm>
          <a:prstGeom prst="rect">
            <a:avLst/>
          </a:prstGeom>
          <a:noFill/>
        </p:spPr>
        <p:txBody>
          <a:bodyPr wrap="none" lIns="0" tIns="0" rIns="0" bIns="0">
            <a:spAutoFit/>
          </a:bodyPr>
          <a:lstStyle/>
          <a:p>
            <a:r>
              <a:rPr sz="1150" b="0">
                <a:solidFill>
                  <a:srgbClr val="2E2E2E"/>
                </a:solidFill>
                <a:latin typeface="Calibri"/>
              </a:rPr>
              <a:t>▪ 1. Double Wall × Food &amp; Beverage –</a:t>
            </a:r>
          </a:p>
        </p:txBody>
      </p:sp>
      <p:pic>
        <p:nvPicPr>
          <p:cNvPr id="34" name="Picture 33" descr="lock.png"/>
          <p:cNvPicPr>
            <a:picLocks noChangeAspect="1"/>
          </p:cNvPicPr>
          <p:nvPr/>
        </p:nvPicPr>
        <p:blipFill>
          <a:blip r:embed="rId4"/>
          <a:stretch>
            <a:fillRect/>
          </a:stretch>
        </p:blipFill>
        <p:spPr>
          <a:xfrm>
            <a:off x="2519111" y="3856926"/>
            <a:ext cx="134549" cy="195707"/>
          </a:xfrm>
          <a:prstGeom prst="rect">
            <a:avLst/>
          </a:prstGeom>
        </p:spPr>
      </p:pic>
      <p:sp>
        <p:nvSpPr>
          <p:cNvPr id="35" name="TextBox 34"/>
          <p:cNvSpPr txBox="1"/>
          <p:nvPr/>
        </p:nvSpPr>
        <p:spPr>
          <a:xfrm>
            <a:off x="2694220" y="3867150"/>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756372" y="3856926"/>
            <a:ext cx="134549" cy="195707"/>
          </a:xfrm>
          <a:prstGeom prst="rect">
            <a:avLst/>
          </a:prstGeom>
        </p:spPr>
      </p:pic>
      <p:sp>
        <p:nvSpPr>
          <p:cNvPr id="37" name="TextBox 36"/>
          <p:cNvSpPr txBox="1"/>
          <p:nvPr/>
        </p:nvSpPr>
        <p:spPr>
          <a:xfrm>
            <a:off x="2931481" y="3867150"/>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38" name="TextBox 37"/>
          <p:cNvSpPr txBox="1"/>
          <p:nvPr/>
        </p:nvSpPr>
        <p:spPr>
          <a:xfrm>
            <a:off x="276225" y="4094987"/>
            <a:ext cx="2627510" cy="194310"/>
          </a:xfrm>
          <a:prstGeom prst="rect">
            <a:avLst/>
          </a:prstGeom>
          <a:noFill/>
        </p:spPr>
        <p:txBody>
          <a:bodyPr wrap="none" lIns="0" tIns="0" rIns="0" bIns="0">
            <a:spAutoFit/>
          </a:bodyPr>
          <a:lstStyle/>
          <a:p>
            <a:r>
              <a:rPr sz="1150" b="0">
                <a:solidFill>
                  <a:srgbClr val="2E2E2E"/>
                </a:solidFill>
                <a:latin typeface="Calibri"/>
              </a:rPr>
              <a:t>▪ 2. Double Wall × Electronics &amp; Electrical –</a:t>
            </a:r>
          </a:p>
        </p:txBody>
      </p:sp>
      <p:pic>
        <p:nvPicPr>
          <p:cNvPr id="39" name="Picture 38" descr="lock.png"/>
          <p:cNvPicPr>
            <a:picLocks noChangeAspect="1"/>
          </p:cNvPicPr>
          <p:nvPr/>
        </p:nvPicPr>
        <p:blipFill>
          <a:blip r:embed="rId4"/>
          <a:stretch>
            <a:fillRect/>
          </a:stretch>
        </p:blipFill>
        <p:spPr>
          <a:xfrm>
            <a:off x="2852889" y="4084764"/>
            <a:ext cx="134549" cy="195707"/>
          </a:xfrm>
          <a:prstGeom prst="rect">
            <a:avLst/>
          </a:prstGeom>
        </p:spPr>
      </p:pic>
      <p:sp>
        <p:nvSpPr>
          <p:cNvPr id="40" name="TextBox 39"/>
          <p:cNvSpPr txBox="1"/>
          <p:nvPr/>
        </p:nvSpPr>
        <p:spPr>
          <a:xfrm>
            <a:off x="3027999" y="4094987"/>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090150" y="4084764"/>
            <a:ext cx="134549" cy="195707"/>
          </a:xfrm>
          <a:prstGeom prst="rect">
            <a:avLst/>
          </a:prstGeom>
        </p:spPr>
      </p:pic>
      <p:sp>
        <p:nvSpPr>
          <p:cNvPr id="42" name="TextBox 41"/>
          <p:cNvSpPr txBox="1"/>
          <p:nvPr/>
        </p:nvSpPr>
        <p:spPr>
          <a:xfrm>
            <a:off x="3265260" y="4094987"/>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3" name="TextBox 42"/>
          <p:cNvSpPr txBox="1"/>
          <p:nvPr/>
        </p:nvSpPr>
        <p:spPr>
          <a:xfrm>
            <a:off x="276225" y="4322825"/>
            <a:ext cx="3343783" cy="194310"/>
          </a:xfrm>
          <a:prstGeom prst="rect">
            <a:avLst/>
          </a:prstGeom>
          <a:noFill/>
        </p:spPr>
        <p:txBody>
          <a:bodyPr wrap="none" lIns="0" tIns="0" rIns="0" bIns="0">
            <a:spAutoFit/>
          </a:bodyPr>
          <a:lstStyle/>
          <a:p>
            <a:r>
              <a:rPr sz="1150" b="0">
                <a:solidFill>
                  <a:srgbClr val="2E2E2E"/>
                </a:solidFill>
                <a:latin typeface="Calibri"/>
              </a:rPr>
              <a:t>▪ 3. Triple Wall × Glassware, Ceramics &amp; Home Goods –</a:t>
            </a:r>
          </a:p>
        </p:txBody>
      </p:sp>
      <p:pic>
        <p:nvPicPr>
          <p:cNvPr id="44" name="Picture 43" descr="lock.png"/>
          <p:cNvPicPr>
            <a:picLocks noChangeAspect="1"/>
          </p:cNvPicPr>
          <p:nvPr/>
        </p:nvPicPr>
        <p:blipFill>
          <a:blip r:embed="rId4"/>
          <a:stretch>
            <a:fillRect/>
          </a:stretch>
        </p:blipFill>
        <p:spPr>
          <a:xfrm>
            <a:off x="3569162" y="4312602"/>
            <a:ext cx="134549" cy="195707"/>
          </a:xfrm>
          <a:prstGeom prst="rect">
            <a:avLst/>
          </a:prstGeom>
        </p:spPr>
      </p:pic>
      <p:sp>
        <p:nvSpPr>
          <p:cNvPr id="45" name="TextBox 44"/>
          <p:cNvSpPr txBox="1"/>
          <p:nvPr/>
        </p:nvSpPr>
        <p:spPr>
          <a:xfrm>
            <a:off x="3744271" y="4322825"/>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806423" y="4312602"/>
            <a:ext cx="134549" cy="195707"/>
          </a:xfrm>
          <a:prstGeom prst="rect">
            <a:avLst/>
          </a:prstGeom>
        </p:spPr>
      </p:pic>
      <p:sp>
        <p:nvSpPr>
          <p:cNvPr id="47" name="TextBox 46"/>
          <p:cNvSpPr txBox="1"/>
          <p:nvPr/>
        </p:nvSpPr>
        <p:spPr>
          <a:xfrm>
            <a:off x="3981532" y="4322825"/>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48" name="TextBox 47"/>
          <p:cNvSpPr txBox="1"/>
          <p:nvPr/>
        </p:nvSpPr>
        <p:spPr>
          <a:xfrm>
            <a:off x="276225" y="4550663"/>
            <a:ext cx="2206159" cy="194310"/>
          </a:xfrm>
          <a:prstGeom prst="rect">
            <a:avLst/>
          </a:prstGeom>
          <a:noFill/>
        </p:spPr>
        <p:txBody>
          <a:bodyPr wrap="none" lIns="0" tIns="0" rIns="0" bIns="0">
            <a:spAutoFit/>
          </a:bodyPr>
          <a:lstStyle/>
          <a:p>
            <a:r>
              <a:rPr sz="1150" b="0">
                <a:solidFill>
                  <a:srgbClr val="2E2E2E"/>
                </a:solidFill>
                <a:latin typeface="Calibri"/>
              </a:rPr>
              <a:t>▪ 4. Triple Wall × Food &amp; Beverage –</a:t>
            </a:r>
          </a:p>
        </p:txBody>
      </p:sp>
      <p:pic>
        <p:nvPicPr>
          <p:cNvPr id="49" name="Picture 48" descr="lock.png"/>
          <p:cNvPicPr>
            <a:picLocks noChangeAspect="1"/>
          </p:cNvPicPr>
          <p:nvPr/>
        </p:nvPicPr>
        <p:blipFill>
          <a:blip r:embed="rId4"/>
          <a:stretch>
            <a:fillRect/>
          </a:stretch>
        </p:blipFill>
        <p:spPr>
          <a:xfrm>
            <a:off x="2431538" y="4540440"/>
            <a:ext cx="134549" cy="195707"/>
          </a:xfrm>
          <a:prstGeom prst="rect">
            <a:avLst/>
          </a:prstGeom>
        </p:spPr>
      </p:pic>
      <p:sp>
        <p:nvSpPr>
          <p:cNvPr id="50" name="TextBox 49"/>
          <p:cNvSpPr txBox="1"/>
          <p:nvPr/>
        </p:nvSpPr>
        <p:spPr>
          <a:xfrm>
            <a:off x="2606647" y="4550663"/>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668799" y="4540440"/>
            <a:ext cx="134549" cy="195707"/>
          </a:xfrm>
          <a:prstGeom prst="rect">
            <a:avLst/>
          </a:prstGeom>
        </p:spPr>
      </p:pic>
      <p:sp>
        <p:nvSpPr>
          <p:cNvPr id="52" name="TextBox 51"/>
          <p:cNvSpPr txBox="1"/>
          <p:nvPr/>
        </p:nvSpPr>
        <p:spPr>
          <a:xfrm>
            <a:off x="2843908" y="4550663"/>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3" name="TextBox 52"/>
          <p:cNvSpPr txBox="1"/>
          <p:nvPr/>
        </p:nvSpPr>
        <p:spPr>
          <a:xfrm>
            <a:off x="276225" y="4778501"/>
            <a:ext cx="2539937" cy="194310"/>
          </a:xfrm>
          <a:prstGeom prst="rect">
            <a:avLst/>
          </a:prstGeom>
          <a:noFill/>
        </p:spPr>
        <p:txBody>
          <a:bodyPr wrap="none" lIns="0" tIns="0" rIns="0" bIns="0">
            <a:spAutoFit/>
          </a:bodyPr>
          <a:lstStyle/>
          <a:p>
            <a:r>
              <a:rPr sz="1150" b="0">
                <a:solidFill>
                  <a:srgbClr val="2E2E2E"/>
                </a:solidFill>
                <a:latin typeface="Calibri"/>
              </a:rPr>
              <a:t>▪ 5. Triple Wall × Electronics &amp; Electrical –</a:t>
            </a:r>
          </a:p>
        </p:txBody>
      </p:sp>
      <p:pic>
        <p:nvPicPr>
          <p:cNvPr id="54" name="Picture 53" descr="lock.png"/>
          <p:cNvPicPr>
            <a:picLocks noChangeAspect="1"/>
          </p:cNvPicPr>
          <p:nvPr/>
        </p:nvPicPr>
        <p:blipFill>
          <a:blip r:embed="rId4"/>
          <a:stretch>
            <a:fillRect/>
          </a:stretch>
        </p:blipFill>
        <p:spPr>
          <a:xfrm>
            <a:off x="2765316" y="4768278"/>
            <a:ext cx="134549" cy="195707"/>
          </a:xfrm>
          <a:prstGeom prst="rect">
            <a:avLst/>
          </a:prstGeom>
        </p:spPr>
      </p:pic>
      <p:sp>
        <p:nvSpPr>
          <p:cNvPr id="55" name="TextBox 54"/>
          <p:cNvSpPr txBox="1"/>
          <p:nvPr/>
        </p:nvSpPr>
        <p:spPr>
          <a:xfrm>
            <a:off x="2940426" y="4778501"/>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002577" y="4768278"/>
            <a:ext cx="134549" cy="195707"/>
          </a:xfrm>
          <a:prstGeom prst="rect">
            <a:avLst/>
          </a:prstGeom>
        </p:spPr>
      </p:pic>
      <p:sp>
        <p:nvSpPr>
          <p:cNvPr id="57" name="TextBox 56"/>
          <p:cNvSpPr txBox="1"/>
          <p:nvPr/>
        </p:nvSpPr>
        <p:spPr>
          <a:xfrm>
            <a:off x="3177687" y="4778501"/>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58" name="TextBox 57"/>
          <p:cNvSpPr txBox="1"/>
          <p:nvPr/>
        </p:nvSpPr>
        <p:spPr>
          <a:xfrm>
            <a:off x="6029325" y="3867150"/>
            <a:ext cx="1489601" cy="194310"/>
          </a:xfrm>
          <a:prstGeom prst="rect">
            <a:avLst/>
          </a:prstGeom>
          <a:noFill/>
        </p:spPr>
        <p:txBody>
          <a:bodyPr wrap="none" lIns="0" tIns="0" rIns="0" bIns="0">
            <a:spAutoFit/>
          </a:bodyPr>
          <a:lstStyle/>
          <a:p>
            <a:r>
              <a:rPr sz="1150" b="0">
                <a:solidFill>
                  <a:srgbClr val="2E2E2E"/>
                </a:solidFill>
                <a:latin typeface="Calibri"/>
              </a:rPr>
              <a:t>▪ 'Double Wall × Food &amp;</a:t>
            </a:r>
          </a:p>
        </p:txBody>
      </p:sp>
      <p:sp>
        <p:nvSpPr>
          <p:cNvPr id="59" name="TextBox 58"/>
          <p:cNvSpPr txBox="1"/>
          <p:nvPr/>
        </p:nvSpPr>
        <p:spPr>
          <a:xfrm>
            <a:off x="6029325" y="4042410"/>
            <a:ext cx="975320" cy="194310"/>
          </a:xfrm>
          <a:prstGeom prst="rect">
            <a:avLst/>
          </a:prstGeom>
          <a:noFill/>
        </p:spPr>
        <p:txBody>
          <a:bodyPr wrap="none" lIns="0" tIns="0" rIns="0" bIns="0">
            <a:spAutoFit/>
          </a:bodyPr>
          <a:lstStyle/>
          <a:p>
            <a:r>
              <a:rPr sz="1150" b="0">
                <a:solidFill>
                  <a:srgbClr val="2E2E2E"/>
                </a:solidFill>
                <a:latin typeface="Calibri"/>
              </a:rPr>
              <a:t>Beverage' adds</a:t>
            </a:r>
          </a:p>
        </p:txBody>
      </p:sp>
      <p:pic>
        <p:nvPicPr>
          <p:cNvPr id="60" name="Picture 59" descr="lock.png"/>
          <p:cNvPicPr>
            <a:picLocks noChangeAspect="1"/>
          </p:cNvPicPr>
          <p:nvPr/>
        </p:nvPicPr>
        <p:blipFill>
          <a:blip r:embed="rId4"/>
          <a:stretch>
            <a:fillRect/>
          </a:stretch>
        </p:blipFill>
        <p:spPr>
          <a:xfrm>
            <a:off x="6953799" y="4032186"/>
            <a:ext cx="134549" cy="195707"/>
          </a:xfrm>
          <a:prstGeom prst="rect">
            <a:avLst/>
          </a:prstGeom>
        </p:spPr>
      </p:pic>
      <p:sp>
        <p:nvSpPr>
          <p:cNvPr id="61" name="TextBox 60"/>
          <p:cNvSpPr txBox="1"/>
          <p:nvPr/>
        </p:nvSpPr>
        <p:spPr>
          <a:xfrm>
            <a:off x="7128908" y="4042410"/>
            <a:ext cx="311249" cy="194310"/>
          </a:xfrm>
          <a:prstGeom prst="rect">
            <a:avLst/>
          </a:prstGeom>
          <a:noFill/>
        </p:spPr>
        <p:txBody>
          <a:bodyPr wrap="none" lIns="0" tIns="0" rIns="0" bIns="0">
            <a:spAutoFit/>
          </a:bodyPr>
          <a:lstStyle/>
          <a:p>
            <a:r>
              <a:rPr sz="1150" b="0">
                <a:solidFill>
                  <a:srgbClr val="2E2E2E"/>
                </a:solidFill>
                <a:latin typeface="Calibri"/>
              </a:rPr>
              <a:t>US$</a:t>
            </a:r>
          </a:p>
        </p:txBody>
      </p:sp>
      <p:sp>
        <p:nvSpPr>
          <p:cNvPr id="62" name="TextBox 61"/>
          <p:cNvSpPr txBox="1"/>
          <p:nvPr/>
        </p:nvSpPr>
        <p:spPr>
          <a:xfrm>
            <a:off x="6029325" y="4217670"/>
            <a:ext cx="956493" cy="194310"/>
          </a:xfrm>
          <a:prstGeom prst="rect">
            <a:avLst/>
          </a:prstGeom>
          <a:noFill/>
        </p:spPr>
        <p:txBody>
          <a:bodyPr wrap="none" lIns="0" tIns="0" r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207446"/>
            <a:ext cx="134549" cy="195707"/>
          </a:xfrm>
          <a:prstGeom prst="rect">
            <a:avLst/>
          </a:prstGeom>
        </p:spPr>
      </p:pic>
      <p:sp>
        <p:nvSpPr>
          <p:cNvPr id="64" name="TextBox 63"/>
          <p:cNvSpPr txBox="1"/>
          <p:nvPr/>
        </p:nvSpPr>
        <p:spPr>
          <a:xfrm>
            <a:off x="7110081" y="4217670"/>
            <a:ext cx="429344" cy="194310"/>
          </a:xfrm>
          <a:prstGeom prst="rect">
            <a:avLst/>
          </a:prstGeom>
          <a:noFill/>
        </p:spPr>
        <p:txBody>
          <a:bodyPr wrap="none" lIns="0" tIns="0" rIns="0" bIns="0">
            <a:spAutoFit/>
          </a:bodyPr>
          <a:lstStyle/>
          <a:p>
            <a:r>
              <a:rPr sz="1150" b="0">
                <a:solidFill>
                  <a:srgbClr val="2E2E2E"/>
                </a:solidFill>
                <a:latin typeface="Calibri"/>
              </a:rPr>
              <a:t>of the</a:t>
            </a:r>
          </a:p>
        </p:txBody>
      </p:sp>
      <p:sp>
        <p:nvSpPr>
          <p:cNvPr id="65" name="TextBox 64"/>
          <p:cNvSpPr txBox="1"/>
          <p:nvPr/>
        </p:nvSpPr>
        <p:spPr>
          <a:xfrm>
            <a:off x="6029325" y="4392929"/>
            <a:ext cx="1134777" cy="194310"/>
          </a:xfrm>
          <a:prstGeom prst="rect">
            <a:avLst/>
          </a:prstGeom>
          <a:noFill/>
        </p:spPr>
        <p:txBody>
          <a:bodyPr wrap="none" lIns="0" tIns="0" rIns="0" bIns="0">
            <a:spAutoFit/>
          </a:bodyPr>
          <a:lstStyle/>
          <a:p>
            <a:r>
              <a:rPr sz="1150" b="0">
                <a:solidFill>
                  <a:srgbClr val="2E2E2E"/>
                </a:solidFill>
                <a:latin typeface="Calibri"/>
              </a:rPr>
              <a:t>total opportunity.</a:t>
            </a:r>
          </a:p>
        </p:txBody>
      </p:sp>
      <p:sp>
        <p:nvSpPr>
          <p:cNvPr id="66" name="TextBox 65"/>
          <p:cNvSpPr txBox="1"/>
          <p:nvPr/>
        </p:nvSpPr>
        <p:spPr>
          <a:xfrm>
            <a:off x="8124825" y="3867150"/>
            <a:ext cx="1617712" cy="194310"/>
          </a:xfrm>
          <a:prstGeom prst="rect">
            <a:avLst/>
          </a:prstGeom>
          <a:noFill/>
        </p:spPr>
        <p:txBody>
          <a:bodyPr wrap="none" lIns="0" tIns="0" rIns="0" bIns="0">
            <a:spAutoFit/>
          </a:bodyPr>
          <a:lstStyle/>
          <a:p>
            <a:r>
              <a:rPr sz="1150" b="0">
                <a:solidFill>
                  <a:srgbClr val="2E2E2E"/>
                </a:solidFill>
                <a:latin typeface="Calibri"/>
              </a:rPr>
              <a:t>▪ 'Triple Wall × Electronics</a:t>
            </a:r>
          </a:p>
        </p:txBody>
      </p:sp>
      <p:sp>
        <p:nvSpPr>
          <p:cNvPr id="67" name="TextBox 66"/>
          <p:cNvSpPr txBox="1"/>
          <p:nvPr/>
        </p:nvSpPr>
        <p:spPr>
          <a:xfrm>
            <a:off x="8124825" y="4042410"/>
            <a:ext cx="1426306" cy="194310"/>
          </a:xfrm>
          <a:prstGeom prst="rect">
            <a:avLst/>
          </a:prstGeom>
          <a:noFill/>
        </p:spPr>
        <p:txBody>
          <a:bodyPr wrap="none" lIns="0" tIns="0" r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032186"/>
            <a:ext cx="134549" cy="195707"/>
          </a:xfrm>
          <a:prstGeom prst="rect">
            <a:avLst/>
          </a:prstGeom>
        </p:spPr>
      </p:pic>
      <p:sp>
        <p:nvSpPr>
          <p:cNvPr id="69" name="TextBox 68"/>
          <p:cNvSpPr txBox="1"/>
          <p:nvPr/>
        </p:nvSpPr>
        <p:spPr>
          <a:xfrm>
            <a:off x="8124825" y="4217670"/>
            <a:ext cx="446441" cy="194310"/>
          </a:xfrm>
          <a:prstGeom prst="rect">
            <a:avLst/>
          </a:prstGeom>
          <a:noFill/>
        </p:spPr>
        <p:txBody>
          <a:bodyPr wrap="none" lIns="0" tIns="0" r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207446"/>
            <a:ext cx="134549" cy="195707"/>
          </a:xfrm>
          <a:prstGeom prst="rect">
            <a:avLst/>
          </a:prstGeom>
        </p:spPr>
      </p:pic>
      <p:sp>
        <p:nvSpPr>
          <p:cNvPr id="71" name="TextBox 70"/>
          <p:cNvSpPr txBox="1"/>
          <p:nvPr/>
        </p:nvSpPr>
        <p:spPr>
          <a:xfrm>
            <a:off x="8695529" y="4217670"/>
            <a:ext cx="925400" cy="194310"/>
          </a:xfrm>
          <a:prstGeom prst="rect">
            <a:avLst/>
          </a:prstGeom>
          <a:noFill/>
        </p:spPr>
        <p:txBody>
          <a:bodyPr wrap="none" lIns="0" tIns="0" rIns="0" bIns="0">
            <a:spAutoFit/>
          </a:bodyPr>
          <a:lstStyle/>
          <a:p>
            <a:r>
              <a:rPr sz="1150" b="0">
                <a:solidFill>
                  <a:srgbClr val="2E2E2E"/>
                </a:solidFill>
                <a:latin typeface="Calibri"/>
              </a:rPr>
              <a:t>BPS above the</a:t>
            </a:r>
          </a:p>
        </p:txBody>
      </p:sp>
      <p:sp>
        <p:nvSpPr>
          <p:cNvPr id="72" name="TextBox 71"/>
          <p:cNvSpPr txBox="1"/>
          <p:nvPr/>
        </p:nvSpPr>
        <p:spPr>
          <a:xfrm>
            <a:off x="8124825" y="4392929"/>
            <a:ext cx="890029" cy="194310"/>
          </a:xfrm>
          <a:prstGeom prst="rect">
            <a:avLst/>
          </a:prstGeom>
          <a:noFill/>
        </p:spPr>
        <p:txBody>
          <a:bodyPr wrap="none" lIns="0" tIns="0" rIns="0" bIns="0">
            <a:spAutoFit/>
          </a:bodyPr>
          <a:lstStyle/>
          <a:p>
            <a:r>
              <a:rPr sz="1150" b="0">
                <a:solidFill>
                  <a:srgbClr val="2E2E2E"/>
                </a:solidFill>
                <a:latin typeface="Calibri"/>
              </a:rPr>
              <a:t>cross-section.</a:t>
            </a:r>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12.3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Cell Configuration × 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Snapshot</a:t>
            </a:r>
          </a:p>
          <a:p>
            <a:pPr marL="342900" indent="-323850">
              <a:lnSpc>
                <a:spcPct val="100000"/>
              </a:lnSpc>
              <a:spcAft>
                <a:spcPts val="800"/>
              </a:spcAft>
            </a:pPr>
            <a:r>
              <a:rPr sz="2000" b="0">
                <a:solidFill>
                  <a:srgbClr val="000000"/>
                </a:solidFill>
                <a:latin typeface="Calibri"/>
              </a:rPr>
              <a:t>➤	Market Share Analysis</a:t>
            </a:r>
          </a:p>
          <a:p>
            <a:pPr marL="342900" indent="-323850">
              <a:lnSpc>
                <a:spcPct val="100000"/>
              </a:lnSpc>
              <a:spcAft>
                <a:spcPts val="800"/>
              </a:spcAft>
            </a:pPr>
            <a:r>
              <a:rPr sz="2000" b="0">
                <a:solidFill>
                  <a:srgbClr val="000000"/>
                </a:solidFill>
                <a:latin typeface="Calibri"/>
              </a:rPr>
              <a:t>➤	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Snapshot: Cell Configuration × End Use, 2026E vs 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North America market value (US$ Mn) for each cell configuration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Market Value, Cell Configuration × End Use, 2026E and 2036F (US$ Mn)</a:t>
            </a:r>
          </a:p>
        </p:txBody>
      </p:sp>
      <p:graphicFrame>
        <p:nvGraphicFramePr>
          <p:cNvPr id="13" name="Table 12"/>
          <p:cNvGraphicFramePr>
            <a:graphicFrameLocks noGrp="1"/>
          </p:cNvGraphicFramePr>
          <p:nvPr/>
        </p:nvGraphicFramePr>
        <p:xfrm>
          <a:off x="152400" y="1238250"/>
          <a:ext cx="11887202" cy="2114549"/>
        </p:xfrm>
        <a:graphic>
          <a:graphicData uri="http://schemas.openxmlformats.org/drawingml/2006/table">
            <a:tbl>
              <a:tblPr>
                <a:tableStyleId>{5C22544A-7EE6-4342-B048-85BDC9FD1C3A}</a:tableStyleId>
              </a:tblPr>
              <a:tblGrid>
                <a:gridCol w="1370418">
                  <a:extLst>
                    <a:ext uri="{9D8B030D-6E8A-4147-A177-3AD203B41FA5}">
                      <a16:colId xmlns:a16="http://schemas.microsoft.com/office/drawing/2014/main" val="20000"/>
                    </a:ext>
                  </a:extLst>
                </a:gridCol>
                <a:gridCol w="657299">
                  <a:extLst>
                    <a:ext uri="{9D8B030D-6E8A-4147-A177-3AD203B41FA5}">
                      <a16:colId xmlns:a16="http://schemas.microsoft.com/office/drawing/2014/main" val="20001"/>
                    </a:ext>
                  </a:extLst>
                </a:gridCol>
                <a:gridCol w="657299">
                  <a:extLst>
                    <a:ext uri="{9D8B030D-6E8A-4147-A177-3AD203B41FA5}">
                      <a16:colId xmlns:a16="http://schemas.microsoft.com/office/drawing/2014/main" val="20002"/>
                    </a:ext>
                  </a:extLst>
                </a:gridCol>
                <a:gridCol w="657299">
                  <a:extLst>
                    <a:ext uri="{9D8B030D-6E8A-4147-A177-3AD203B41FA5}">
                      <a16:colId xmlns:a16="http://schemas.microsoft.com/office/drawing/2014/main" val="20003"/>
                    </a:ext>
                  </a:extLst>
                </a:gridCol>
                <a:gridCol w="657299">
                  <a:extLst>
                    <a:ext uri="{9D8B030D-6E8A-4147-A177-3AD203B41FA5}">
                      <a16:colId xmlns:a16="http://schemas.microsoft.com/office/drawing/2014/main" val="20004"/>
                    </a:ext>
                  </a:extLst>
                </a:gridCol>
                <a:gridCol w="657299">
                  <a:extLst>
                    <a:ext uri="{9D8B030D-6E8A-4147-A177-3AD203B41FA5}">
                      <a16:colId xmlns:a16="http://schemas.microsoft.com/office/drawing/2014/main" val="20005"/>
                    </a:ext>
                  </a:extLst>
                </a:gridCol>
                <a:gridCol w="657299">
                  <a:extLst>
                    <a:ext uri="{9D8B030D-6E8A-4147-A177-3AD203B41FA5}">
                      <a16:colId xmlns:a16="http://schemas.microsoft.com/office/drawing/2014/main" val="20006"/>
                    </a:ext>
                  </a:extLst>
                </a:gridCol>
                <a:gridCol w="657299">
                  <a:extLst>
                    <a:ext uri="{9D8B030D-6E8A-4147-A177-3AD203B41FA5}">
                      <a16:colId xmlns:a16="http://schemas.microsoft.com/office/drawing/2014/main" val="20007"/>
                    </a:ext>
                  </a:extLst>
                </a:gridCol>
                <a:gridCol w="657299">
                  <a:extLst>
                    <a:ext uri="{9D8B030D-6E8A-4147-A177-3AD203B41FA5}">
                      <a16:colId xmlns:a16="http://schemas.microsoft.com/office/drawing/2014/main" val="20008"/>
                    </a:ext>
                  </a:extLst>
                </a:gridCol>
                <a:gridCol w="657299">
                  <a:extLst>
                    <a:ext uri="{9D8B030D-6E8A-4147-A177-3AD203B41FA5}">
                      <a16:colId xmlns:a16="http://schemas.microsoft.com/office/drawing/2014/main" val="20009"/>
                    </a:ext>
                  </a:extLst>
                </a:gridCol>
                <a:gridCol w="657299">
                  <a:extLst>
                    <a:ext uri="{9D8B030D-6E8A-4147-A177-3AD203B41FA5}">
                      <a16:colId xmlns:a16="http://schemas.microsoft.com/office/drawing/2014/main" val="20010"/>
                    </a:ext>
                  </a:extLst>
                </a:gridCol>
                <a:gridCol w="657299">
                  <a:extLst>
                    <a:ext uri="{9D8B030D-6E8A-4147-A177-3AD203B41FA5}">
                      <a16:colId xmlns:a16="http://schemas.microsoft.com/office/drawing/2014/main" val="20011"/>
                    </a:ext>
                  </a:extLst>
                </a:gridCol>
                <a:gridCol w="657299">
                  <a:extLst>
                    <a:ext uri="{9D8B030D-6E8A-4147-A177-3AD203B41FA5}">
                      <a16:colId xmlns:a16="http://schemas.microsoft.com/office/drawing/2014/main" val="20012"/>
                    </a:ext>
                  </a:extLst>
                </a:gridCol>
                <a:gridCol w="657299">
                  <a:extLst>
                    <a:ext uri="{9D8B030D-6E8A-4147-A177-3AD203B41FA5}">
                      <a16:colId xmlns:a16="http://schemas.microsoft.com/office/drawing/2014/main" val="20013"/>
                    </a:ext>
                  </a:extLst>
                </a:gridCol>
                <a:gridCol w="657299">
                  <a:extLst>
                    <a:ext uri="{9D8B030D-6E8A-4147-A177-3AD203B41FA5}">
                      <a16:colId xmlns:a16="http://schemas.microsoft.com/office/drawing/2014/main" val="20014"/>
                    </a:ext>
                  </a:extLst>
                </a:gridCol>
                <a:gridCol w="657299">
                  <a:extLst>
                    <a:ext uri="{9D8B030D-6E8A-4147-A177-3AD203B41FA5}">
                      <a16:colId xmlns:a16="http://schemas.microsoft.com/office/drawing/2014/main" val="20015"/>
                    </a:ext>
                  </a:extLst>
                </a:gridCol>
                <a:gridCol w="657299">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142">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142">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142">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142">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142">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5"/>
                  </a:ext>
                </a:extLst>
              </a:tr>
              <a:tr h="247142">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6"/>
                  </a:ext>
                </a:extLst>
              </a:tr>
            </a:tbl>
          </a:graphicData>
        </a:graphic>
      </p:graphicFrame>
      <p:sp>
        <p:nvSpPr>
          <p:cNvPr id="14" name="TextBox 13"/>
          <p:cNvSpPr txBox="1"/>
          <p:nvPr/>
        </p:nvSpPr>
        <p:spPr>
          <a:xfrm>
            <a:off x="219075" y="33623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781425"/>
            <a:ext cx="116395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17" name="Rectangle 16"/>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105275"/>
            <a:ext cx="1163955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4519" y="2468245"/>
            <a:ext cx="366712" cy="533400"/>
          </a:xfrm>
          <a:prstGeom prst="rect">
            <a:avLst/>
          </a:prstGeom>
        </p:spPr>
      </p:pic>
      <p:sp>
        <p:nvSpPr>
          <p:cNvPr id="21" name="TextBox 20"/>
          <p:cNvSpPr txBox="1"/>
          <p:nvPr/>
        </p:nvSpPr>
        <p:spPr>
          <a:xfrm>
            <a:off x="276225" y="4114800"/>
            <a:ext cx="9928299" cy="194310"/>
          </a:xfrm>
          <a:prstGeom prst="rect">
            <a:avLst/>
          </a:prstGeom>
          <a:noFill/>
        </p:spPr>
        <p:txBody>
          <a:bodyPr wrap="none" lIns="0" tIns="0" rIns="0" bIns="0">
            <a:spAutoFit/>
          </a:bodyPr>
          <a:lstStyle/>
          <a:p>
            <a:r>
              <a:rPr sz="1150" b="0">
                <a:solidFill>
                  <a:srgbClr val="2E2E2E"/>
                </a:solidFill>
                <a:latin typeface="Calibri"/>
              </a:rPr>
              <a:t>Up to 4 cells segment is projected to account for the largest share of the North America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153678" y="4104576"/>
            <a:ext cx="134549" cy="195707"/>
          </a:xfrm>
          <a:prstGeom prst="rect">
            <a:avLst/>
          </a:prstGeom>
        </p:spPr>
      </p:pic>
      <p:sp>
        <p:nvSpPr>
          <p:cNvPr id="23" name="TextBox 22"/>
          <p:cNvSpPr txBox="1"/>
          <p:nvPr/>
        </p:nvSpPr>
        <p:spPr>
          <a:xfrm>
            <a:off x="10328787" y="4114800"/>
            <a:ext cx="1290240" cy="194310"/>
          </a:xfrm>
          <a:prstGeom prst="rect">
            <a:avLst/>
          </a:prstGeom>
          <a:noFill/>
        </p:spPr>
        <p:txBody>
          <a:bodyPr wrap="none" lIns="0" tIns="0" rIns="0" bIns="0">
            <a:spAutoFit/>
          </a:bodyPr>
          <a:lstStyle/>
          <a:p>
            <a:r>
              <a:rPr sz="1150" b="0">
                <a:solidFill>
                  <a:srgbClr val="2E2E2E"/>
                </a:solidFill>
                <a:latin typeface="Calibri"/>
              </a:rPr>
              <a:t>Mn in 2036. 'Up to 4</a:t>
            </a:r>
          </a:p>
        </p:txBody>
      </p:sp>
      <p:sp>
        <p:nvSpPr>
          <p:cNvPr id="24" name="TextBox 23"/>
          <p:cNvSpPr txBox="1"/>
          <p:nvPr/>
        </p:nvSpPr>
        <p:spPr>
          <a:xfrm>
            <a:off x="276225" y="4290060"/>
            <a:ext cx="5069284" cy="194310"/>
          </a:xfrm>
          <a:prstGeom prst="rect">
            <a:avLst/>
          </a:prstGeom>
          <a:noFill/>
        </p:spPr>
        <p:txBody>
          <a:bodyPr wrap="none" lIns="0" tIns="0" rIns="0" bIns="0">
            <a:spAutoFit/>
          </a:bodyPr>
          <a:lstStyle/>
          <a:p>
            <a:r>
              <a:rPr sz="1150" b="0">
                <a:solidFill>
                  <a:srgbClr val="2E2E2E"/>
                </a:solidFill>
                <a:latin typeface="Calibri"/>
              </a:rPr>
              <a:t>Cells × 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5294663" y="4279836"/>
            <a:ext cx="134549" cy="195707"/>
          </a:xfrm>
          <a:prstGeom prst="rect">
            <a:avLst/>
          </a:prstGeom>
        </p:spPr>
      </p:pic>
      <p:sp>
        <p:nvSpPr>
          <p:cNvPr id="26" name="TextBox 25"/>
          <p:cNvSpPr txBox="1"/>
          <p:nvPr/>
        </p:nvSpPr>
        <p:spPr>
          <a:xfrm>
            <a:off x="5469772" y="4290060"/>
            <a:ext cx="6109872" cy="194310"/>
          </a:xfrm>
          <a:prstGeom prst="rect">
            <a:avLst/>
          </a:prstGeom>
          <a:noFill/>
        </p:spPr>
        <p:txBody>
          <a:bodyPr wrap="none" lIns="0" tIns="0" rIns="0" bIns="0">
            <a:spAutoFit/>
          </a:bodyPr>
          <a:lstStyle/>
          <a:p>
            <a:r>
              <a:rPr sz="1150" b="0">
                <a:solidFill>
                  <a:srgbClr val="2E2E2E"/>
                </a:solidFill>
                <a:latin typeface="Calibri"/>
              </a:rPr>
              <a:t>US$ Mn, 2026E), while '6 to 12 Cells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528799" y="4279836"/>
            <a:ext cx="134549" cy="195707"/>
          </a:xfrm>
          <a:prstGeom prst="rect">
            <a:avLst/>
          </a:prstGeom>
        </p:spPr>
      </p:pic>
      <p:sp>
        <p:nvSpPr>
          <p:cNvPr id="28" name="TextBox 27"/>
          <p:cNvSpPr txBox="1"/>
          <p:nvPr/>
        </p:nvSpPr>
        <p:spPr>
          <a:xfrm>
            <a:off x="276225" y="4465320"/>
            <a:ext cx="1217001" cy="194310"/>
          </a:xfrm>
          <a:prstGeom prst="rect">
            <a:avLst/>
          </a:prstGeom>
          <a:noFill/>
        </p:spPr>
        <p:txBody>
          <a:bodyPr wrap="none" lIns="0" tIns="0" rIns="0" bIns="0">
            <a:spAutoFit/>
          </a:bodyPr>
          <a:lstStyle/>
          <a:p>
            <a:r>
              <a:rPr sz="1150" b="0">
                <a:solidFill>
                  <a:srgbClr val="2E2E2E"/>
                </a:solidFill>
                <a:latin typeface="Calibri"/>
              </a:rPr>
              <a:t>over 2026E–2036F.</a:t>
            </a:r>
          </a:p>
        </p:txBody>
      </p:sp>
      <p:sp>
        <p:nvSpPr>
          <p:cNvPr id="29" name="TextBox 28"/>
          <p:cNvSpPr txBox="1"/>
          <p:nvPr/>
        </p:nvSpPr>
        <p:spPr>
          <a:xfrm>
            <a:off x="276225" y="4693157"/>
            <a:ext cx="5802957" cy="194310"/>
          </a:xfrm>
          <a:prstGeom prst="rect">
            <a:avLst/>
          </a:prstGeom>
          <a:noFill/>
        </p:spPr>
        <p:txBody>
          <a:bodyPr wrap="none" lIns="0" tIns="0" rIns="0" bIns="0">
            <a:spAutoFit/>
          </a:bodyPr>
          <a:lstStyle/>
          <a:p>
            <a:r>
              <a:rPr sz="1150" b="0">
                <a:solidFill>
                  <a:srgbClr val="2E2E2E"/>
                </a:solidFill>
                <a:latin typeface="Calibri"/>
              </a:rPr>
              <a:t>Combined, the top three cell configuration × end use cells generate an absolute $ opportunity of</a:t>
            </a:r>
          </a:p>
        </p:txBody>
      </p:sp>
      <p:pic>
        <p:nvPicPr>
          <p:cNvPr id="30" name="Picture 29" descr="lock.png"/>
          <p:cNvPicPr>
            <a:picLocks noChangeAspect="1"/>
          </p:cNvPicPr>
          <p:nvPr/>
        </p:nvPicPr>
        <p:blipFill>
          <a:blip r:embed="rId4"/>
          <a:stretch>
            <a:fillRect/>
          </a:stretch>
        </p:blipFill>
        <p:spPr>
          <a:xfrm>
            <a:off x="6028336" y="4682934"/>
            <a:ext cx="134549" cy="195707"/>
          </a:xfrm>
          <a:prstGeom prst="rect">
            <a:avLst/>
          </a:prstGeom>
        </p:spPr>
      </p:pic>
      <p:sp>
        <p:nvSpPr>
          <p:cNvPr id="31" name="TextBox 30"/>
          <p:cNvSpPr txBox="1"/>
          <p:nvPr/>
        </p:nvSpPr>
        <p:spPr>
          <a:xfrm>
            <a:off x="6203445" y="4693157"/>
            <a:ext cx="1155386" cy="194310"/>
          </a:xfrm>
          <a:prstGeom prst="rect">
            <a:avLst/>
          </a:prstGeom>
          <a:noFill/>
        </p:spPr>
        <p:txBody>
          <a:bodyPr wrap="none" lIns="0" tIns="0" rIns="0" bIns="0">
            <a:spAutoFit/>
          </a:bodyPr>
          <a:lstStyle/>
          <a:p>
            <a:r>
              <a:rPr sz="1150" b="0">
                <a:solidFill>
                  <a:srgbClr val="2E2E2E"/>
                </a:solidFill>
                <a:latin typeface="Calibri"/>
              </a:rPr>
              <a:t>US$ Mn by 2036F.</a:t>
            </a:r>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Market Share Analysis: Cell Configuration × End Use, 2026E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 share of North America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 Value Share, Cell Configuration × End Use, 2026E (% of each row)</a:t>
            </a:r>
          </a:p>
        </p:txBody>
      </p:sp>
      <p:graphicFrame>
        <p:nvGraphicFramePr>
          <p:cNvPr id="13" name="Table 12"/>
          <p:cNvGraphicFramePr>
            <a:graphicFrameLocks noGrp="1"/>
          </p:cNvGraphicFramePr>
          <p:nvPr/>
        </p:nvGraphicFramePr>
        <p:xfrm>
          <a:off x="152400" y="1238250"/>
          <a:ext cx="11887201" cy="1676402"/>
        </p:xfrm>
        <a:graphic>
          <a:graphicData uri="http://schemas.openxmlformats.org/drawingml/2006/table">
            <a:tbl>
              <a:tblPr>
                <a:tableStyleId>{5C22544A-7EE6-4342-B048-85BDC9FD1C3A}</a:tableStyleId>
              </a:tblPr>
              <a:tblGrid>
                <a:gridCol w="1140022">
                  <a:extLst>
                    <a:ext uri="{9D8B030D-6E8A-4147-A177-3AD203B41FA5}">
                      <a16:colId xmlns:a16="http://schemas.microsoft.com/office/drawing/2014/main" val="20000"/>
                    </a:ext>
                  </a:extLst>
                </a:gridCol>
                <a:gridCol w="1042838">
                  <a:extLst>
                    <a:ext uri="{9D8B030D-6E8A-4147-A177-3AD203B41FA5}">
                      <a16:colId xmlns:a16="http://schemas.microsoft.com/office/drawing/2014/main" val="20001"/>
                    </a:ext>
                  </a:extLst>
                </a:gridCol>
                <a:gridCol w="1753436">
                  <a:extLst>
                    <a:ext uri="{9D8B030D-6E8A-4147-A177-3AD203B41FA5}">
                      <a16:colId xmlns:a16="http://schemas.microsoft.com/office/drawing/2014/main" val="20002"/>
                    </a:ext>
                  </a:extLst>
                </a:gridCol>
                <a:gridCol w="1511227">
                  <a:extLst>
                    <a:ext uri="{9D8B030D-6E8A-4147-A177-3AD203B41FA5}">
                      <a16:colId xmlns:a16="http://schemas.microsoft.com/office/drawing/2014/main" val="20003"/>
                    </a:ext>
                  </a:extLst>
                </a:gridCol>
                <a:gridCol w="1326759">
                  <a:extLst>
                    <a:ext uri="{9D8B030D-6E8A-4147-A177-3AD203B41FA5}">
                      <a16:colId xmlns:a16="http://schemas.microsoft.com/office/drawing/2014/main" val="20004"/>
                    </a:ext>
                  </a:extLst>
                </a:gridCol>
                <a:gridCol w="2068759">
                  <a:extLst>
                    <a:ext uri="{9D8B030D-6E8A-4147-A177-3AD203B41FA5}">
                      <a16:colId xmlns:a16="http://schemas.microsoft.com/office/drawing/2014/main" val="20005"/>
                    </a:ext>
                  </a:extLst>
                </a:gridCol>
                <a:gridCol w="1985980">
                  <a:extLst>
                    <a:ext uri="{9D8B030D-6E8A-4147-A177-3AD203B41FA5}">
                      <a16:colId xmlns:a16="http://schemas.microsoft.com/office/drawing/2014/main" val="20006"/>
                    </a:ext>
                  </a:extLst>
                </a:gridCol>
                <a:gridCol w="514374">
                  <a:extLst>
                    <a:ext uri="{9D8B030D-6E8A-4147-A177-3AD203B41FA5}">
                      <a16:colId xmlns:a16="http://schemas.microsoft.com/office/drawing/2014/main" val="20007"/>
                    </a:ext>
                  </a:extLst>
                </a:gridCol>
                <a:gridCol w="543806">
                  <a:extLst>
                    <a:ext uri="{9D8B030D-6E8A-4147-A177-3AD203B41FA5}">
                      <a16:colId xmlns:a16="http://schemas.microsoft.com/office/drawing/2014/main" val="20008"/>
                    </a:ext>
                  </a:extLst>
                </a:gridCol>
              </a:tblGrid>
              <a:tr h="438912">
                <a:tc>
                  <a:txBody>
                    <a:bodyPr/>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498">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498">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498">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498">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749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29241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7286625"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314700"/>
            <a:ext cx="70961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End Use Mix by Cell Configuration, 2026E (% share)</a:t>
            </a:r>
          </a:p>
        </p:txBody>
      </p:sp>
      <p:graphicFrame>
        <p:nvGraphicFramePr>
          <p:cNvPr id="17" name="Chart 16"/>
          <p:cNvGraphicFramePr>
            <a:graphicFrameLocks noGrp="1"/>
          </p:cNvGraphicFramePr>
          <p:nvPr/>
        </p:nvGraphicFramePr>
        <p:xfrm>
          <a:off x="238125" y="3543300"/>
          <a:ext cx="7096125" cy="3028950"/>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7581900" y="3257550"/>
            <a:ext cx="445770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715250" y="3343275"/>
            <a:ext cx="4191000" cy="209550"/>
          </a:xfrm>
          <a:prstGeom prst="rect">
            <a:avLst/>
          </a:prstGeom>
          <a:noFill/>
        </p:spPr>
        <p:txBody>
          <a:bodyPr wrap="square" lIns="0" tIns="9525" rIns="19050" bIns="9525">
            <a:spAutoFit/>
          </a:bodyPr>
          <a:lstStyle/>
          <a:p>
            <a:pPr algn="l"/>
            <a:r>
              <a:rPr sz="1300" b="1">
                <a:solidFill>
                  <a:srgbClr val="0B2E4A"/>
                </a:solidFill>
                <a:latin typeface="Calibri"/>
              </a:rPr>
              <a:t>Share Insights</a:t>
            </a:r>
          </a:p>
        </p:txBody>
      </p:sp>
      <p:sp>
        <p:nvSpPr>
          <p:cNvPr id="20" name="Rectangle 19"/>
          <p:cNvSpPr/>
          <p:nvPr/>
        </p:nvSpPr>
        <p:spPr>
          <a:xfrm>
            <a:off x="7715250" y="35814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7715250" y="3667125"/>
            <a:ext cx="4191000" cy="28860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TextBox 2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79321" y="2029206"/>
            <a:ext cx="366712" cy="533400"/>
          </a:xfrm>
          <a:prstGeom prst="rect">
            <a:avLst/>
          </a:prstGeom>
        </p:spPr>
      </p:pic>
      <p:pic>
        <p:nvPicPr>
          <p:cNvPr id="24" name="Picture 23" descr="lock.png"/>
          <p:cNvPicPr>
            <a:picLocks noChangeAspect="1"/>
          </p:cNvPicPr>
          <p:nvPr/>
        </p:nvPicPr>
        <p:blipFill>
          <a:blip r:embed="rId5"/>
          <a:stretch>
            <a:fillRect/>
          </a:stretch>
        </p:blipFill>
        <p:spPr>
          <a:xfrm>
            <a:off x="3737844" y="4194492"/>
            <a:ext cx="384961" cy="559943"/>
          </a:xfrm>
          <a:prstGeom prst="rect">
            <a:avLst/>
          </a:prstGeom>
        </p:spPr>
      </p:pic>
      <p:sp>
        <p:nvSpPr>
          <p:cNvPr id="25" name="TextBox 24"/>
          <p:cNvSpPr txBox="1"/>
          <p:nvPr/>
        </p:nvSpPr>
        <p:spPr>
          <a:xfrm>
            <a:off x="7715250" y="3676650"/>
            <a:ext cx="4171950" cy="194310"/>
          </a:xfrm>
          <a:prstGeom prst="rect">
            <a:avLst/>
          </a:prstGeom>
          <a:noFill/>
        </p:spPr>
        <p:txBody>
          <a:bodyPr wrap="none" lIns="0" tIns="0" rIns="0" bIns="0">
            <a:spAutoFit/>
          </a:bodyPr>
          <a:lstStyle/>
          <a:p>
            <a:r>
              <a:rPr sz="1150" b="0">
                <a:solidFill>
                  <a:srgbClr val="2E2E2E"/>
                </a:solidFill>
                <a:latin typeface="Calibri"/>
              </a:rPr>
              <a:t>▪ 'Glassware, Ceramics &amp; Home Goods' holds the highest share of 'Up</a:t>
            </a:r>
          </a:p>
        </p:txBody>
      </p:sp>
      <p:sp>
        <p:nvSpPr>
          <p:cNvPr id="26" name="TextBox 25"/>
          <p:cNvSpPr txBox="1"/>
          <p:nvPr/>
        </p:nvSpPr>
        <p:spPr>
          <a:xfrm>
            <a:off x="7715250" y="3851910"/>
            <a:ext cx="801885" cy="194310"/>
          </a:xfrm>
          <a:prstGeom prst="rect">
            <a:avLst/>
          </a:prstGeom>
          <a:noFill/>
        </p:spPr>
        <p:txBody>
          <a:bodyPr wrap="none" lIns="0" tIns="0" rIns="0" bIns="0">
            <a:spAutoFit/>
          </a:bodyPr>
          <a:lstStyle/>
          <a:p>
            <a:r>
              <a:rPr sz="1150" b="0">
                <a:solidFill>
                  <a:srgbClr val="2E2E2E"/>
                </a:solidFill>
                <a:latin typeface="Calibri"/>
              </a:rPr>
              <a:t>to 4 Cells' at</a:t>
            </a:r>
          </a:p>
        </p:txBody>
      </p:sp>
      <p:pic>
        <p:nvPicPr>
          <p:cNvPr id="27" name="Picture 26" descr="lock.png"/>
          <p:cNvPicPr>
            <a:picLocks noChangeAspect="1"/>
          </p:cNvPicPr>
          <p:nvPr/>
        </p:nvPicPr>
        <p:blipFill>
          <a:blip r:embed="rId5"/>
          <a:stretch>
            <a:fillRect/>
          </a:stretch>
        </p:blipFill>
        <p:spPr>
          <a:xfrm>
            <a:off x="8466289" y="3841686"/>
            <a:ext cx="134549" cy="195707"/>
          </a:xfrm>
          <a:prstGeom prst="rect">
            <a:avLst/>
          </a:prstGeom>
        </p:spPr>
      </p:pic>
      <p:sp>
        <p:nvSpPr>
          <p:cNvPr id="28" name="TextBox 27"/>
          <p:cNvSpPr txBox="1"/>
          <p:nvPr/>
        </p:nvSpPr>
        <p:spPr>
          <a:xfrm>
            <a:off x="8641399" y="3851910"/>
            <a:ext cx="569404" cy="194310"/>
          </a:xfrm>
          <a:prstGeom prst="rect">
            <a:avLst/>
          </a:prstGeom>
          <a:noFill/>
        </p:spPr>
        <p:txBody>
          <a:bodyPr wrap="none" lIns="0" tIns="0" rIns="0" bIns="0">
            <a:spAutoFit/>
          </a:bodyPr>
          <a:lstStyle/>
          <a:p>
            <a:r>
              <a:rPr sz="1150" b="0">
                <a:solidFill>
                  <a:srgbClr val="2E2E2E"/>
                </a:solidFill>
                <a:latin typeface="Calibri"/>
              </a:rPr>
              <a:t>(2026E).</a:t>
            </a:r>
          </a:p>
        </p:txBody>
      </p:sp>
      <p:sp>
        <p:nvSpPr>
          <p:cNvPr id="29" name="TextBox 28"/>
          <p:cNvSpPr txBox="1"/>
          <p:nvPr/>
        </p:nvSpPr>
        <p:spPr>
          <a:xfrm>
            <a:off x="7715250" y="4079747"/>
            <a:ext cx="3552304" cy="194310"/>
          </a:xfrm>
          <a:prstGeom prst="rect">
            <a:avLst/>
          </a:prstGeom>
          <a:noFill/>
        </p:spPr>
        <p:txBody>
          <a:bodyPr wrap="none" lIns="0" tIns="0" rIns="0" bIns="0">
            <a:spAutoFit/>
          </a:bodyPr>
          <a:lstStyle/>
          <a:p>
            <a:r>
              <a:rPr sz="1150" b="0">
                <a:solidFill>
                  <a:srgbClr val="2E2E2E"/>
                </a:solidFill>
                <a:latin typeface="Calibri"/>
              </a:rPr>
              <a:t>▪ 'Up to 4 Cells' is the most concentrated cell configuration</a:t>
            </a:r>
          </a:p>
        </p:txBody>
      </p:sp>
      <p:sp>
        <p:nvSpPr>
          <p:cNvPr id="30" name="TextBox 29"/>
          <p:cNvSpPr txBox="1"/>
          <p:nvPr/>
        </p:nvSpPr>
        <p:spPr>
          <a:xfrm>
            <a:off x="7715250" y="4255007"/>
            <a:ext cx="1178706" cy="194310"/>
          </a:xfrm>
          <a:prstGeom prst="rect">
            <a:avLst/>
          </a:prstGeom>
          <a:noFill/>
        </p:spPr>
        <p:txBody>
          <a:bodyPr wrap="none" lIns="0" tIns="0" r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244784"/>
            <a:ext cx="134549" cy="195707"/>
          </a:xfrm>
          <a:prstGeom prst="rect">
            <a:avLst/>
          </a:prstGeom>
        </p:spPr>
      </p:pic>
      <p:sp>
        <p:nvSpPr>
          <p:cNvPr id="32" name="TextBox 31"/>
          <p:cNvSpPr txBox="1"/>
          <p:nvPr/>
        </p:nvSpPr>
        <p:spPr>
          <a:xfrm>
            <a:off x="9018219" y="4255007"/>
            <a:ext cx="2731913" cy="194310"/>
          </a:xfrm>
          <a:prstGeom prst="rect">
            <a:avLst/>
          </a:prstGeom>
          <a:noFill/>
        </p:spPr>
        <p:txBody>
          <a:bodyPr wrap="none" lIns="0" tIns="0" rIns="0" bIns="0">
            <a:spAutoFit/>
          </a:bodyPr>
          <a:lstStyle/>
          <a:p>
            <a:r>
              <a:rPr sz="1150" b="0">
                <a:solidFill>
                  <a:srgbClr val="2E2E2E"/>
                </a:solidFill>
                <a:latin typeface="Calibri"/>
              </a:rPr>
              <a:t>of its value via 'Glassware, Ceramics &amp; Home</a:t>
            </a:r>
          </a:p>
        </p:txBody>
      </p:sp>
      <p:sp>
        <p:nvSpPr>
          <p:cNvPr id="33" name="TextBox 32"/>
          <p:cNvSpPr txBox="1"/>
          <p:nvPr/>
        </p:nvSpPr>
        <p:spPr>
          <a:xfrm>
            <a:off x="7715250" y="4430267"/>
            <a:ext cx="525189" cy="194310"/>
          </a:xfrm>
          <a:prstGeom prst="rect">
            <a:avLst/>
          </a:prstGeom>
          <a:noFill/>
        </p:spPr>
        <p:txBody>
          <a:bodyPr wrap="none" lIns="0" tIns="0" rIns="0" bIns="0">
            <a:spAutoFit/>
          </a:bodyPr>
          <a:lstStyle/>
          <a:p>
            <a:r>
              <a:rPr sz="1150" b="0">
                <a:solidFill>
                  <a:srgbClr val="2E2E2E"/>
                </a:solidFill>
                <a:latin typeface="Calibri"/>
              </a:rPr>
              <a:t>Goods'.</a:t>
            </a:r>
          </a:p>
        </p:txBody>
      </p:sp>
      <p:sp>
        <p:nvSpPr>
          <p:cNvPr id="34" name="TextBox 33"/>
          <p:cNvSpPr txBox="1"/>
          <p:nvPr/>
        </p:nvSpPr>
        <p:spPr>
          <a:xfrm>
            <a:off x="7715250" y="4658105"/>
            <a:ext cx="2021061" cy="194310"/>
          </a:xfrm>
          <a:prstGeom prst="rect">
            <a:avLst/>
          </a:prstGeom>
          <a:noFill/>
        </p:spPr>
        <p:txBody>
          <a:bodyPr wrap="none" lIns="0" tIns="0" r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647882"/>
            <a:ext cx="134549" cy="195707"/>
          </a:xfrm>
          <a:prstGeom prst="rect">
            <a:avLst/>
          </a:prstGeom>
        </p:spPr>
      </p:pic>
      <p:sp>
        <p:nvSpPr>
          <p:cNvPr id="36" name="TextBox 35"/>
          <p:cNvSpPr txBox="1"/>
          <p:nvPr/>
        </p:nvSpPr>
        <p:spPr>
          <a:xfrm>
            <a:off x="9860574" y="4658105"/>
            <a:ext cx="1581199" cy="194310"/>
          </a:xfrm>
          <a:prstGeom prst="rect">
            <a:avLst/>
          </a:prstGeom>
          <a:noFill/>
        </p:spPr>
        <p:txBody>
          <a:bodyPr wrap="none" lIns="0" tIns="0" rIns="0" bIns="0">
            <a:spAutoFit/>
          </a:bodyPr>
          <a:lstStyle/>
          <a:p>
            <a:r>
              <a:rPr sz="1150" b="0">
                <a:solidFill>
                  <a:srgbClr val="2E2E2E"/>
                </a:solidFill>
                <a:latin typeface="Calibri"/>
              </a:rPr>
              <a:t>BPS of share of the North</a:t>
            </a:r>
          </a:p>
        </p:txBody>
      </p:sp>
      <p:sp>
        <p:nvSpPr>
          <p:cNvPr id="37" name="TextBox 36"/>
          <p:cNvSpPr txBox="1"/>
          <p:nvPr/>
        </p:nvSpPr>
        <p:spPr>
          <a:xfrm>
            <a:off x="7715250" y="4833365"/>
            <a:ext cx="1986046" cy="194310"/>
          </a:xfrm>
          <a:prstGeom prst="rect">
            <a:avLst/>
          </a:prstGeom>
          <a:noFill/>
        </p:spPr>
        <p:txBody>
          <a:bodyPr wrap="none" lIns="0" tIns="0" rIns="0" bIns="0">
            <a:spAutoFit/>
          </a:bodyPr>
          <a:lstStyle/>
          <a:p>
            <a:r>
              <a:rPr sz="1150" b="0">
                <a:solidFill>
                  <a:srgbClr val="2E2E2E"/>
                </a:solidFill>
                <a:latin typeface="Calibri"/>
              </a:rPr>
              <a:t>America cross-section by 2036F.</a:t>
            </a:r>
          </a:p>
        </p:txBody>
      </p:sp>
      <p:sp>
        <p:nvSpPr>
          <p:cNvPr id="38" name="lockshield_17"/>
          <p:cNvSpPr/>
          <p:nvPr/>
        </p:nvSpPr>
        <p:spPr>
          <a:xfrm>
            <a:off x="238125" y="3543300"/>
            <a:ext cx="7096125" cy="30289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North America Absolute $ Opportunity &amp; Attractiveness: Cell Configuration × End Use, 2026E–2036F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North America</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 Opportunity (US$ Mn) and Value CAGR, Cell Configuration × End Use, 2026E–2036F</a:t>
            </a:r>
          </a:p>
        </p:txBody>
      </p:sp>
      <p:graphicFrame>
        <p:nvGraphicFramePr>
          <p:cNvPr id="13" name="Table 12"/>
          <p:cNvGraphicFramePr>
            <a:graphicFrameLocks noGrp="1"/>
          </p:cNvGraphicFramePr>
          <p:nvPr/>
        </p:nvGraphicFramePr>
        <p:xfrm>
          <a:off x="152400" y="1238250"/>
          <a:ext cx="11887204" cy="2114549"/>
        </p:xfrm>
        <a:graphic>
          <a:graphicData uri="http://schemas.openxmlformats.org/drawingml/2006/table">
            <a:tbl>
              <a:tblPr>
                <a:tableStyleId>{5C22544A-7EE6-4342-B048-85BDC9FD1C3A}</a:tableStyleId>
              </a:tblPr>
              <a:tblGrid>
                <a:gridCol w="1134772">
                  <a:extLst>
                    <a:ext uri="{9D8B030D-6E8A-4147-A177-3AD203B41FA5}">
                      <a16:colId xmlns:a16="http://schemas.microsoft.com/office/drawing/2014/main" val="20000"/>
                    </a:ext>
                  </a:extLst>
                </a:gridCol>
                <a:gridCol w="672027">
                  <a:extLst>
                    <a:ext uri="{9D8B030D-6E8A-4147-A177-3AD203B41FA5}">
                      <a16:colId xmlns:a16="http://schemas.microsoft.com/office/drawing/2014/main" val="20001"/>
                    </a:ext>
                  </a:extLst>
                </a:gridCol>
                <a:gridCol w="672027">
                  <a:extLst>
                    <a:ext uri="{9D8B030D-6E8A-4147-A177-3AD203B41FA5}">
                      <a16:colId xmlns:a16="http://schemas.microsoft.com/office/drawing/2014/main" val="20002"/>
                    </a:ext>
                  </a:extLst>
                </a:gridCol>
                <a:gridCol w="672027">
                  <a:extLst>
                    <a:ext uri="{9D8B030D-6E8A-4147-A177-3AD203B41FA5}">
                      <a16:colId xmlns:a16="http://schemas.microsoft.com/office/drawing/2014/main" val="20003"/>
                    </a:ext>
                  </a:extLst>
                </a:gridCol>
                <a:gridCol w="672027">
                  <a:extLst>
                    <a:ext uri="{9D8B030D-6E8A-4147-A177-3AD203B41FA5}">
                      <a16:colId xmlns:a16="http://schemas.microsoft.com/office/drawing/2014/main" val="20004"/>
                    </a:ext>
                  </a:extLst>
                </a:gridCol>
                <a:gridCol w="672027">
                  <a:extLst>
                    <a:ext uri="{9D8B030D-6E8A-4147-A177-3AD203B41FA5}">
                      <a16:colId xmlns:a16="http://schemas.microsoft.com/office/drawing/2014/main" val="20005"/>
                    </a:ext>
                  </a:extLst>
                </a:gridCol>
                <a:gridCol w="672027">
                  <a:extLst>
                    <a:ext uri="{9D8B030D-6E8A-4147-A177-3AD203B41FA5}">
                      <a16:colId xmlns:a16="http://schemas.microsoft.com/office/drawing/2014/main" val="20006"/>
                    </a:ext>
                  </a:extLst>
                </a:gridCol>
                <a:gridCol w="672027">
                  <a:extLst>
                    <a:ext uri="{9D8B030D-6E8A-4147-A177-3AD203B41FA5}">
                      <a16:colId xmlns:a16="http://schemas.microsoft.com/office/drawing/2014/main" val="20007"/>
                    </a:ext>
                  </a:extLst>
                </a:gridCol>
                <a:gridCol w="672027">
                  <a:extLst>
                    <a:ext uri="{9D8B030D-6E8A-4147-A177-3AD203B41FA5}">
                      <a16:colId xmlns:a16="http://schemas.microsoft.com/office/drawing/2014/main" val="20008"/>
                    </a:ext>
                  </a:extLst>
                </a:gridCol>
                <a:gridCol w="672027">
                  <a:extLst>
                    <a:ext uri="{9D8B030D-6E8A-4147-A177-3AD203B41FA5}">
                      <a16:colId xmlns:a16="http://schemas.microsoft.com/office/drawing/2014/main" val="20009"/>
                    </a:ext>
                  </a:extLst>
                </a:gridCol>
                <a:gridCol w="672027">
                  <a:extLst>
                    <a:ext uri="{9D8B030D-6E8A-4147-A177-3AD203B41FA5}">
                      <a16:colId xmlns:a16="http://schemas.microsoft.com/office/drawing/2014/main" val="20010"/>
                    </a:ext>
                  </a:extLst>
                </a:gridCol>
                <a:gridCol w="672027">
                  <a:extLst>
                    <a:ext uri="{9D8B030D-6E8A-4147-A177-3AD203B41FA5}">
                      <a16:colId xmlns:a16="http://schemas.microsoft.com/office/drawing/2014/main" val="20011"/>
                    </a:ext>
                  </a:extLst>
                </a:gridCol>
                <a:gridCol w="672027">
                  <a:extLst>
                    <a:ext uri="{9D8B030D-6E8A-4147-A177-3AD203B41FA5}">
                      <a16:colId xmlns:a16="http://schemas.microsoft.com/office/drawing/2014/main" val="20012"/>
                    </a:ext>
                  </a:extLst>
                </a:gridCol>
                <a:gridCol w="672027">
                  <a:extLst>
                    <a:ext uri="{9D8B030D-6E8A-4147-A177-3AD203B41FA5}">
                      <a16:colId xmlns:a16="http://schemas.microsoft.com/office/drawing/2014/main" val="20013"/>
                    </a:ext>
                  </a:extLst>
                </a:gridCol>
                <a:gridCol w="672027">
                  <a:extLst>
                    <a:ext uri="{9D8B030D-6E8A-4147-A177-3AD203B41FA5}">
                      <a16:colId xmlns:a16="http://schemas.microsoft.com/office/drawing/2014/main" val="20014"/>
                    </a:ext>
                  </a:extLst>
                </a:gridCol>
                <a:gridCol w="672027">
                  <a:extLst>
                    <a:ext uri="{9D8B030D-6E8A-4147-A177-3AD203B41FA5}">
                      <a16:colId xmlns:a16="http://schemas.microsoft.com/office/drawing/2014/main" val="20015"/>
                    </a:ext>
                  </a:extLst>
                </a:gridCol>
                <a:gridCol w="672027">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142">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142">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142">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142">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142">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5"/>
                  </a:ext>
                </a:extLst>
              </a:tr>
              <a:tr h="247142">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6"/>
                  </a:ext>
                </a:extLst>
              </a:tr>
            </a:tbl>
          </a:graphicData>
        </a:graphic>
      </p:graphicFrame>
      <p:sp>
        <p:nvSpPr>
          <p:cNvPr id="14" name="TextBox 13"/>
          <p:cNvSpPr txBox="1"/>
          <p:nvPr/>
        </p:nvSpPr>
        <p:spPr>
          <a:xfrm>
            <a:off x="219075" y="33623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5600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781425"/>
            <a:ext cx="5334000" cy="209550"/>
          </a:xfrm>
          <a:prstGeom prst="rect">
            <a:avLst/>
          </a:prstGeom>
          <a:noFill/>
        </p:spPr>
        <p:txBody>
          <a:bodyPr wrap="square" lIns="0" tIns="9525" rIns="19050"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40195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105275"/>
            <a:ext cx="533400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5895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029325" y="3781425"/>
            <a:ext cx="1676400" cy="209550"/>
          </a:xfrm>
          <a:prstGeom prst="rect">
            <a:avLst/>
          </a:prstGeom>
          <a:noFill/>
        </p:spPr>
        <p:txBody>
          <a:bodyPr wrap="square" lIns="0" tIns="9525" rIns="19050" bIns="9525">
            <a:spAutoFit/>
          </a:bodyPr>
          <a:lstStyle/>
          <a:p>
            <a:pPr algn="l"/>
            <a:r>
              <a:rPr sz="1300" b="1">
                <a:solidFill>
                  <a:srgbClr val="0B2E4A"/>
                </a:solidFill>
                <a:latin typeface="Calibri"/>
              </a:rPr>
              <a:t>Largest Pool</a:t>
            </a:r>
          </a:p>
        </p:txBody>
      </p:sp>
      <p:sp>
        <p:nvSpPr>
          <p:cNvPr id="21" name="Rectangle 20"/>
          <p:cNvSpPr/>
          <p:nvPr/>
        </p:nvSpPr>
        <p:spPr>
          <a:xfrm>
            <a:off x="6029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029325" y="4105275"/>
            <a:ext cx="167640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3" name="Rounded Rectangle 22"/>
          <p:cNvSpPr/>
          <p:nvPr/>
        </p:nvSpPr>
        <p:spPr>
          <a:xfrm>
            <a:off x="79914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124825" y="3781425"/>
            <a:ext cx="1676400" cy="209550"/>
          </a:xfrm>
          <a:prstGeom prst="rect">
            <a:avLst/>
          </a:prstGeom>
          <a:noFill/>
        </p:spPr>
        <p:txBody>
          <a:bodyPr wrap="square" lIns="0" tIns="9525" rIns="19050" bIns="9525">
            <a:spAutoFit/>
          </a:bodyPr>
          <a:lstStyle/>
          <a:p>
            <a:pPr algn="l"/>
            <a:r>
              <a:rPr sz="1300" b="1">
                <a:solidFill>
                  <a:srgbClr val="0B2E4A"/>
                </a:solidFill>
                <a:latin typeface="Calibri"/>
              </a:rPr>
              <a:t>Fastest Growth</a:t>
            </a:r>
          </a:p>
        </p:txBody>
      </p:sp>
      <p:sp>
        <p:nvSpPr>
          <p:cNvPr id="25" name="Rectangle 24"/>
          <p:cNvSpPr/>
          <p:nvPr/>
        </p:nvSpPr>
        <p:spPr>
          <a:xfrm>
            <a:off x="81248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124825" y="4105275"/>
            <a:ext cx="167640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7" name="Rounded Rectangle 26"/>
          <p:cNvSpPr/>
          <p:nvPr/>
        </p:nvSpPr>
        <p:spPr>
          <a:xfrm>
            <a:off x="10086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220325" y="3781425"/>
            <a:ext cx="1676400" cy="209550"/>
          </a:xfrm>
          <a:prstGeom prst="rect">
            <a:avLst/>
          </a:prstGeom>
          <a:noFill/>
        </p:spPr>
        <p:txBody>
          <a:bodyPr wrap="square" lIns="0" tIns="9525" rIns="19050" bIns="9525">
            <a:spAutoFit/>
          </a:bodyPr>
          <a:lstStyle/>
          <a:p>
            <a:pPr algn="l"/>
            <a:r>
              <a:rPr sz="1300" b="1">
                <a:solidFill>
                  <a:srgbClr val="0B2E4A"/>
                </a:solidFill>
                <a:latin typeface="Calibri"/>
              </a:rPr>
              <a:t>Where to Play</a:t>
            </a:r>
          </a:p>
        </p:txBody>
      </p:sp>
      <p:sp>
        <p:nvSpPr>
          <p:cNvPr id="29" name="Rectangle 28"/>
          <p:cNvSpPr/>
          <p:nvPr/>
        </p:nvSpPr>
        <p:spPr>
          <a:xfrm>
            <a:off x="10220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10220325" y="4105275"/>
            <a:ext cx="1676400" cy="244792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 to 4 Cells × Food &amp; Beverage' ranks highest (5/5); '13 to 24 Cells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76697" y="2468245"/>
            <a:ext cx="366712" cy="533400"/>
          </a:xfrm>
          <a:prstGeom prst="rect">
            <a:avLst/>
          </a:prstGeom>
        </p:spPr>
      </p:pic>
      <p:sp>
        <p:nvSpPr>
          <p:cNvPr id="33" name="TextBox 32"/>
          <p:cNvSpPr txBox="1"/>
          <p:nvPr/>
        </p:nvSpPr>
        <p:spPr>
          <a:xfrm>
            <a:off x="276225" y="4114800"/>
            <a:ext cx="2289453" cy="194310"/>
          </a:xfrm>
          <a:prstGeom prst="rect">
            <a:avLst/>
          </a:prstGeom>
          <a:noFill/>
        </p:spPr>
        <p:txBody>
          <a:bodyPr wrap="none" lIns="0" tIns="0" rIns="0" bIns="0">
            <a:spAutoFit/>
          </a:bodyPr>
          <a:lstStyle/>
          <a:p>
            <a:r>
              <a:rPr sz="1150" b="0">
                <a:solidFill>
                  <a:srgbClr val="2E2E2E"/>
                </a:solidFill>
                <a:latin typeface="Calibri"/>
              </a:rPr>
              <a:t>▪ 1. 6 to 12 Cells × Food &amp; Beverage –</a:t>
            </a:r>
          </a:p>
        </p:txBody>
      </p:sp>
      <p:pic>
        <p:nvPicPr>
          <p:cNvPr id="34" name="Picture 33" descr="lock.png"/>
          <p:cNvPicPr>
            <a:picLocks noChangeAspect="1"/>
          </p:cNvPicPr>
          <p:nvPr/>
        </p:nvPicPr>
        <p:blipFill>
          <a:blip r:embed="rId4"/>
          <a:stretch>
            <a:fillRect/>
          </a:stretch>
        </p:blipFill>
        <p:spPr>
          <a:xfrm>
            <a:off x="2514832" y="4104576"/>
            <a:ext cx="134549" cy="195707"/>
          </a:xfrm>
          <a:prstGeom prst="rect">
            <a:avLst/>
          </a:prstGeom>
        </p:spPr>
      </p:pic>
      <p:sp>
        <p:nvSpPr>
          <p:cNvPr id="35" name="TextBox 34"/>
          <p:cNvSpPr txBox="1"/>
          <p:nvPr/>
        </p:nvSpPr>
        <p:spPr>
          <a:xfrm>
            <a:off x="2689942" y="4114800"/>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752093" y="4104576"/>
            <a:ext cx="134549" cy="195707"/>
          </a:xfrm>
          <a:prstGeom prst="rect">
            <a:avLst/>
          </a:prstGeom>
        </p:spPr>
      </p:pic>
      <p:sp>
        <p:nvSpPr>
          <p:cNvPr id="37" name="TextBox 36"/>
          <p:cNvSpPr txBox="1"/>
          <p:nvPr/>
        </p:nvSpPr>
        <p:spPr>
          <a:xfrm>
            <a:off x="2927203" y="4114800"/>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38" name="TextBox 37"/>
          <p:cNvSpPr txBox="1"/>
          <p:nvPr/>
        </p:nvSpPr>
        <p:spPr>
          <a:xfrm>
            <a:off x="276225" y="4342638"/>
            <a:ext cx="2311703" cy="194310"/>
          </a:xfrm>
          <a:prstGeom prst="rect">
            <a:avLst/>
          </a:prstGeom>
          <a:noFill/>
        </p:spPr>
        <p:txBody>
          <a:bodyPr wrap="none" lIns="0" tIns="0" rIns="0" bIns="0">
            <a:spAutoFit/>
          </a:bodyPr>
          <a:lstStyle/>
          <a:p>
            <a:r>
              <a:rPr sz="1150" b="0">
                <a:solidFill>
                  <a:srgbClr val="2E2E2E"/>
                </a:solidFill>
                <a:latin typeface="Calibri"/>
              </a:rPr>
              <a:t>▪ 2. Up to 4 Cells × Food &amp; Beverage –</a:t>
            </a:r>
          </a:p>
        </p:txBody>
      </p:sp>
      <p:pic>
        <p:nvPicPr>
          <p:cNvPr id="39" name="Picture 38" descr="lock.png"/>
          <p:cNvPicPr>
            <a:picLocks noChangeAspect="1"/>
          </p:cNvPicPr>
          <p:nvPr/>
        </p:nvPicPr>
        <p:blipFill>
          <a:blip r:embed="rId4"/>
          <a:stretch>
            <a:fillRect/>
          </a:stretch>
        </p:blipFill>
        <p:spPr>
          <a:xfrm>
            <a:off x="2537082" y="4332414"/>
            <a:ext cx="134549" cy="195707"/>
          </a:xfrm>
          <a:prstGeom prst="rect">
            <a:avLst/>
          </a:prstGeom>
        </p:spPr>
      </p:pic>
      <p:sp>
        <p:nvSpPr>
          <p:cNvPr id="40" name="TextBox 39"/>
          <p:cNvSpPr txBox="1"/>
          <p:nvPr/>
        </p:nvSpPr>
        <p:spPr>
          <a:xfrm>
            <a:off x="2712191" y="4342638"/>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2774343" y="4332414"/>
            <a:ext cx="134549" cy="195707"/>
          </a:xfrm>
          <a:prstGeom prst="rect">
            <a:avLst/>
          </a:prstGeom>
        </p:spPr>
      </p:pic>
      <p:sp>
        <p:nvSpPr>
          <p:cNvPr id="42" name="TextBox 41"/>
          <p:cNvSpPr txBox="1"/>
          <p:nvPr/>
        </p:nvSpPr>
        <p:spPr>
          <a:xfrm>
            <a:off x="2949452" y="4342638"/>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3" name="TextBox 42"/>
          <p:cNvSpPr txBox="1"/>
          <p:nvPr/>
        </p:nvSpPr>
        <p:spPr>
          <a:xfrm>
            <a:off x="276225" y="4570475"/>
            <a:ext cx="2645481" cy="194310"/>
          </a:xfrm>
          <a:prstGeom prst="rect">
            <a:avLst/>
          </a:prstGeom>
          <a:noFill/>
        </p:spPr>
        <p:txBody>
          <a:bodyPr wrap="none" lIns="0" tIns="0" rIns="0" bIns="0">
            <a:spAutoFit/>
          </a:bodyPr>
          <a:lstStyle/>
          <a:p>
            <a:r>
              <a:rPr sz="1150" b="0">
                <a:solidFill>
                  <a:srgbClr val="2E2E2E"/>
                </a:solidFill>
                <a:latin typeface="Calibri"/>
              </a:rPr>
              <a:t>▪ 3. Up to 4 Cells × Electronics &amp; Electrical –</a:t>
            </a:r>
          </a:p>
        </p:txBody>
      </p:sp>
      <p:pic>
        <p:nvPicPr>
          <p:cNvPr id="44" name="Picture 43" descr="lock.png"/>
          <p:cNvPicPr>
            <a:picLocks noChangeAspect="1"/>
          </p:cNvPicPr>
          <p:nvPr/>
        </p:nvPicPr>
        <p:blipFill>
          <a:blip r:embed="rId4"/>
          <a:stretch>
            <a:fillRect/>
          </a:stretch>
        </p:blipFill>
        <p:spPr>
          <a:xfrm>
            <a:off x="2870860" y="4560252"/>
            <a:ext cx="134549" cy="195707"/>
          </a:xfrm>
          <a:prstGeom prst="rect">
            <a:avLst/>
          </a:prstGeom>
        </p:spPr>
      </p:pic>
      <p:sp>
        <p:nvSpPr>
          <p:cNvPr id="45" name="TextBox 44"/>
          <p:cNvSpPr txBox="1"/>
          <p:nvPr/>
        </p:nvSpPr>
        <p:spPr>
          <a:xfrm>
            <a:off x="3045970" y="4570475"/>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108121" y="4560252"/>
            <a:ext cx="134549" cy="195707"/>
          </a:xfrm>
          <a:prstGeom prst="rect">
            <a:avLst/>
          </a:prstGeom>
        </p:spPr>
      </p:pic>
      <p:sp>
        <p:nvSpPr>
          <p:cNvPr id="47" name="TextBox 46"/>
          <p:cNvSpPr txBox="1"/>
          <p:nvPr/>
        </p:nvSpPr>
        <p:spPr>
          <a:xfrm>
            <a:off x="3283231" y="4570475"/>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8" name="TextBox 47"/>
          <p:cNvSpPr txBox="1"/>
          <p:nvPr/>
        </p:nvSpPr>
        <p:spPr>
          <a:xfrm>
            <a:off x="276225" y="4798313"/>
            <a:ext cx="3449327" cy="194310"/>
          </a:xfrm>
          <a:prstGeom prst="rect">
            <a:avLst/>
          </a:prstGeom>
          <a:noFill/>
        </p:spPr>
        <p:txBody>
          <a:bodyPr wrap="none" lIns="0" tIns="0" rIns="0" bIns="0">
            <a:spAutoFit/>
          </a:bodyPr>
          <a:lstStyle/>
          <a:p>
            <a:r>
              <a:rPr sz="1150" b="0">
                <a:solidFill>
                  <a:srgbClr val="2E2E2E"/>
                </a:solidFill>
                <a:latin typeface="Calibri"/>
              </a:rPr>
              <a:t>▪ 4. Up to 4 Cells × Glassware, Ceramics &amp; Home Goods –</a:t>
            </a:r>
          </a:p>
        </p:txBody>
      </p:sp>
      <p:pic>
        <p:nvPicPr>
          <p:cNvPr id="49" name="Picture 48" descr="lock.png"/>
          <p:cNvPicPr>
            <a:picLocks noChangeAspect="1"/>
          </p:cNvPicPr>
          <p:nvPr/>
        </p:nvPicPr>
        <p:blipFill>
          <a:blip r:embed="rId4"/>
          <a:stretch>
            <a:fillRect/>
          </a:stretch>
        </p:blipFill>
        <p:spPr>
          <a:xfrm>
            <a:off x="3674706" y="4788090"/>
            <a:ext cx="134549" cy="195707"/>
          </a:xfrm>
          <a:prstGeom prst="rect">
            <a:avLst/>
          </a:prstGeom>
        </p:spPr>
      </p:pic>
      <p:sp>
        <p:nvSpPr>
          <p:cNvPr id="50" name="TextBox 49"/>
          <p:cNvSpPr txBox="1"/>
          <p:nvPr/>
        </p:nvSpPr>
        <p:spPr>
          <a:xfrm>
            <a:off x="3849815" y="4798313"/>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911967" y="4788090"/>
            <a:ext cx="134549" cy="195707"/>
          </a:xfrm>
          <a:prstGeom prst="rect">
            <a:avLst/>
          </a:prstGeom>
        </p:spPr>
      </p:pic>
      <p:sp>
        <p:nvSpPr>
          <p:cNvPr id="52" name="TextBox 51"/>
          <p:cNvSpPr txBox="1"/>
          <p:nvPr/>
        </p:nvSpPr>
        <p:spPr>
          <a:xfrm>
            <a:off x="4087076" y="4798313"/>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3" name="TextBox 52"/>
          <p:cNvSpPr txBox="1"/>
          <p:nvPr/>
        </p:nvSpPr>
        <p:spPr>
          <a:xfrm>
            <a:off x="276225" y="5026151"/>
            <a:ext cx="3427077" cy="194310"/>
          </a:xfrm>
          <a:prstGeom prst="rect">
            <a:avLst/>
          </a:prstGeom>
          <a:noFill/>
        </p:spPr>
        <p:txBody>
          <a:bodyPr wrap="none" lIns="0" tIns="0" rIns="0" bIns="0">
            <a:spAutoFit/>
          </a:bodyPr>
          <a:lstStyle/>
          <a:p>
            <a:r>
              <a:rPr sz="1150" b="0">
                <a:solidFill>
                  <a:srgbClr val="2E2E2E"/>
                </a:solidFill>
                <a:latin typeface="Calibri"/>
              </a:rPr>
              <a:t>▪ 5. 6 to 12 Cells × Glassware, Ceramics &amp; Home Goods –</a:t>
            </a:r>
          </a:p>
        </p:txBody>
      </p:sp>
      <p:pic>
        <p:nvPicPr>
          <p:cNvPr id="54" name="Picture 53" descr="lock.png"/>
          <p:cNvPicPr>
            <a:picLocks noChangeAspect="1"/>
          </p:cNvPicPr>
          <p:nvPr/>
        </p:nvPicPr>
        <p:blipFill>
          <a:blip r:embed="rId4"/>
          <a:stretch>
            <a:fillRect/>
          </a:stretch>
        </p:blipFill>
        <p:spPr>
          <a:xfrm>
            <a:off x="3652456" y="5015928"/>
            <a:ext cx="134549" cy="195707"/>
          </a:xfrm>
          <a:prstGeom prst="rect">
            <a:avLst/>
          </a:prstGeom>
        </p:spPr>
      </p:pic>
      <p:sp>
        <p:nvSpPr>
          <p:cNvPr id="55" name="TextBox 54"/>
          <p:cNvSpPr txBox="1"/>
          <p:nvPr/>
        </p:nvSpPr>
        <p:spPr>
          <a:xfrm>
            <a:off x="3827565" y="5026151"/>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889717" y="5015928"/>
            <a:ext cx="134549" cy="195707"/>
          </a:xfrm>
          <a:prstGeom prst="rect">
            <a:avLst/>
          </a:prstGeom>
        </p:spPr>
      </p:pic>
      <p:sp>
        <p:nvSpPr>
          <p:cNvPr id="57" name="TextBox 56"/>
          <p:cNvSpPr txBox="1"/>
          <p:nvPr/>
        </p:nvSpPr>
        <p:spPr>
          <a:xfrm>
            <a:off x="4064826" y="5026151"/>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8" name="TextBox 57"/>
          <p:cNvSpPr txBox="1"/>
          <p:nvPr/>
        </p:nvSpPr>
        <p:spPr>
          <a:xfrm>
            <a:off x="6029325" y="4114800"/>
            <a:ext cx="1485323" cy="194310"/>
          </a:xfrm>
          <a:prstGeom prst="rect">
            <a:avLst/>
          </a:prstGeom>
          <a:noFill/>
        </p:spPr>
        <p:txBody>
          <a:bodyPr wrap="none" lIns="0" tIns="0" rIns="0" bIns="0">
            <a:spAutoFit/>
          </a:bodyPr>
          <a:lstStyle/>
          <a:p>
            <a:r>
              <a:rPr sz="1150" b="0">
                <a:solidFill>
                  <a:srgbClr val="2E2E2E"/>
                </a:solidFill>
                <a:latin typeface="Calibri"/>
              </a:rPr>
              <a:t>▪ '6 to 12 Cells × Food &amp;</a:t>
            </a:r>
          </a:p>
        </p:txBody>
      </p:sp>
      <p:sp>
        <p:nvSpPr>
          <p:cNvPr id="59" name="TextBox 58"/>
          <p:cNvSpPr txBox="1"/>
          <p:nvPr/>
        </p:nvSpPr>
        <p:spPr>
          <a:xfrm>
            <a:off x="6029325" y="4290060"/>
            <a:ext cx="975320" cy="194310"/>
          </a:xfrm>
          <a:prstGeom prst="rect">
            <a:avLst/>
          </a:prstGeom>
          <a:noFill/>
        </p:spPr>
        <p:txBody>
          <a:bodyPr wrap="none" lIns="0" tIns="0" rIns="0" bIns="0">
            <a:spAutoFit/>
          </a:bodyPr>
          <a:lstStyle/>
          <a:p>
            <a:r>
              <a:rPr sz="1150" b="0">
                <a:solidFill>
                  <a:srgbClr val="2E2E2E"/>
                </a:solidFill>
                <a:latin typeface="Calibri"/>
              </a:rPr>
              <a:t>Beverage' adds</a:t>
            </a:r>
          </a:p>
        </p:txBody>
      </p:sp>
      <p:pic>
        <p:nvPicPr>
          <p:cNvPr id="60" name="Picture 59" descr="lock.png"/>
          <p:cNvPicPr>
            <a:picLocks noChangeAspect="1"/>
          </p:cNvPicPr>
          <p:nvPr/>
        </p:nvPicPr>
        <p:blipFill>
          <a:blip r:embed="rId4"/>
          <a:stretch>
            <a:fillRect/>
          </a:stretch>
        </p:blipFill>
        <p:spPr>
          <a:xfrm>
            <a:off x="6953799" y="4279836"/>
            <a:ext cx="134549" cy="195707"/>
          </a:xfrm>
          <a:prstGeom prst="rect">
            <a:avLst/>
          </a:prstGeom>
        </p:spPr>
      </p:pic>
      <p:sp>
        <p:nvSpPr>
          <p:cNvPr id="61" name="TextBox 60"/>
          <p:cNvSpPr txBox="1"/>
          <p:nvPr/>
        </p:nvSpPr>
        <p:spPr>
          <a:xfrm>
            <a:off x="7128908" y="4290060"/>
            <a:ext cx="311249" cy="194310"/>
          </a:xfrm>
          <a:prstGeom prst="rect">
            <a:avLst/>
          </a:prstGeom>
          <a:noFill/>
        </p:spPr>
        <p:txBody>
          <a:bodyPr wrap="none" lIns="0" tIns="0" rIns="0" bIns="0">
            <a:spAutoFit/>
          </a:bodyPr>
          <a:lstStyle/>
          <a:p>
            <a:r>
              <a:rPr sz="1150" b="0">
                <a:solidFill>
                  <a:srgbClr val="2E2E2E"/>
                </a:solidFill>
                <a:latin typeface="Calibri"/>
              </a:rPr>
              <a:t>US$</a:t>
            </a:r>
          </a:p>
        </p:txBody>
      </p:sp>
      <p:sp>
        <p:nvSpPr>
          <p:cNvPr id="62" name="TextBox 61"/>
          <p:cNvSpPr txBox="1"/>
          <p:nvPr/>
        </p:nvSpPr>
        <p:spPr>
          <a:xfrm>
            <a:off x="6029325" y="4465320"/>
            <a:ext cx="956493" cy="194310"/>
          </a:xfrm>
          <a:prstGeom prst="rect">
            <a:avLst/>
          </a:prstGeom>
          <a:noFill/>
        </p:spPr>
        <p:txBody>
          <a:bodyPr wrap="none" lIns="0" tIns="0" r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455096"/>
            <a:ext cx="134549" cy="195707"/>
          </a:xfrm>
          <a:prstGeom prst="rect">
            <a:avLst/>
          </a:prstGeom>
        </p:spPr>
      </p:pic>
      <p:sp>
        <p:nvSpPr>
          <p:cNvPr id="64" name="TextBox 63"/>
          <p:cNvSpPr txBox="1"/>
          <p:nvPr/>
        </p:nvSpPr>
        <p:spPr>
          <a:xfrm>
            <a:off x="7110081" y="4465320"/>
            <a:ext cx="429344" cy="194310"/>
          </a:xfrm>
          <a:prstGeom prst="rect">
            <a:avLst/>
          </a:prstGeom>
          <a:noFill/>
        </p:spPr>
        <p:txBody>
          <a:bodyPr wrap="none" lIns="0" tIns="0" rIns="0" bIns="0">
            <a:spAutoFit/>
          </a:bodyPr>
          <a:lstStyle/>
          <a:p>
            <a:r>
              <a:rPr sz="1150" b="0">
                <a:solidFill>
                  <a:srgbClr val="2E2E2E"/>
                </a:solidFill>
                <a:latin typeface="Calibri"/>
              </a:rPr>
              <a:t>of the</a:t>
            </a:r>
          </a:p>
        </p:txBody>
      </p:sp>
      <p:sp>
        <p:nvSpPr>
          <p:cNvPr id="65" name="TextBox 64"/>
          <p:cNvSpPr txBox="1"/>
          <p:nvPr/>
        </p:nvSpPr>
        <p:spPr>
          <a:xfrm>
            <a:off x="6029325" y="4640579"/>
            <a:ext cx="1134777" cy="194310"/>
          </a:xfrm>
          <a:prstGeom prst="rect">
            <a:avLst/>
          </a:prstGeom>
          <a:noFill/>
        </p:spPr>
        <p:txBody>
          <a:bodyPr wrap="none" lIns="0" tIns="0" rIns="0" bIns="0">
            <a:spAutoFit/>
          </a:bodyPr>
          <a:lstStyle/>
          <a:p>
            <a:r>
              <a:rPr sz="1150" b="0">
                <a:solidFill>
                  <a:srgbClr val="2E2E2E"/>
                </a:solidFill>
                <a:latin typeface="Calibri"/>
              </a:rPr>
              <a:t>total opportunity.</a:t>
            </a:r>
          </a:p>
        </p:txBody>
      </p:sp>
      <p:sp>
        <p:nvSpPr>
          <p:cNvPr id="66" name="TextBox 65"/>
          <p:cNvSpPr txBox="1"/>
          <p:nvPr/>
        </p:nvSpPr>
        <p:spPr>
          <a:xfrm>
            <a:off x="8124825" y="4114800"/>
            <a:ext cx="1657350" cy="194310"/>
          </a:xfrm>
          <a:prstGeom prst="rect">
            <a:avLst/>
          </a:prstGeom>
          <a:noFill/>
        </p:spPr>
        <p:txBody>
          <a:bodyPr wrap="none" lIns="0" tIns="0" rIns="0" bIns="0">
            <a:spAutoFit/>
          </a:bodyPr>
          <a:lstStyle/>
          <a:p>
            <a:r>
              <a:rPr sz="1150" b="0">
                <a:solidFill>
                  <a:srgbClr val="2E2E2E"/>
                </a:solidFill>
                <a:latin typeface="Calibri"/>
              </a:rPr>
              <a:t>▪ '6 to 12 Cells × Electronics</a:t>
            </a:r>
          </a:p>
        </p:txBody>
      </p:sp>
      <p:sp>
        <p:nvSpPr>
          <p:cNvPr id="67" name="TextBox 66"/>
          <p:cNvSpPr txBox="1"/>
          <p:nvPr/>
        </p:nvSpPr>
        <p:spPr>
          <a:xfrm>
            <a:off x="8124825" y="4290060"/>
            <a:ext cx="1426306" cy="194310"/>
          </a:xfrm>
          <a:prstGeom prst="rect">
            <a:avLst/>
          </a:prstGeom>
          <a:noFill/>
        </p:spPr>
        <p:txBody>
          <a:bodyPr wrap="none" lIns="0" tIns="0" r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279836"/>
            <a:ext cx="134549" cy="195707"/>
          </a:xfrm>
          <a:prstGeom prst="rect">
            <a:avLst/>
          </a:prstGeom>
        </p:spPr>
      </p:pic>
      <p:sp>
        <p:nvSpPr>
          <p:cNvPr id="69" name="TextBox 68"/>
          <p:cNvSpPr txBox="1"/>
          <p:nvPr/>
        </p:nvSpPr>
        <p:spPr>
          <a:xfrm>
            <a:off x="8124825" y="4465320"/>
            <a:ext cx="446441" cy="194310"/>
          </a:xfrm>
          <a:prstGeom prst="rect">
            <a:avLst/>
          </a:prstGeom>
          <a:noFill/>
        </p:spPr>
        <p:txBody>
          <a:bodyPr wrap="none" lIns="0" tIns="0" r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455096"/>
            <a:ext cx="134549" cy="195707"/>
          </a:xfrm>
          <a:prstGeom prst="rect">
            <a:avLst/>
          </a:prstGeom>
        </p:spPr>
      </p:pic>
      <p:sp>
        <p:nvSpPr>
          <p:cNvPr id="71" name="TextBox 70"/>
          <p:cNvSpPr txBox="1"/>
          <p:nvPr/>
        </p:nvSpPr>
        <p:spPr>
          <a:xfrm>
            <a:off x="8695529" y="4465320"/>
            <a:ext cx="925400" cy="194310"/>
          </a:xfrm>
          <a:prstGeom prst="rect">
            <a:avLst/>
          </a:prstGeom>
          <a:noFill/>
        </p:spPr>
        <p:txBody>
          <a:bodyPr wrap="none" lIns="0" tIns="0" rIns="0" bIns="0">
            <a:spAutoFit/>
          </a:bodyPr>
          <a:lstStyle/>
          <a:p>
            <a:r>
              <a:rPr sz="1150" b="0">
                <a:solidFill>
                  <a:srgbClr val="2E2E2E"/>
                </a:solidFill>
                <a:latin typeface="Calibri"/>
              </a:rPr>
              <a:t>BPS above the</a:t>
            </a:r>
          </a:p>
        </p:txBody>
      </p:sp>
      <p:sp>
        <p:nvSpPr>
          <p:cNvPr id="72" name="TextBox 71"/>
          <p:cNvSpPr txBox="1"/>
          <p:nvPr/>
        </p:nvSpPr>
        <p:spPr>
          <a:xfrm>
            <a:off x="8124825" y="4640579"/>
            <a:ext cx="890029" cy="194310"/>
          </a:xfrm>
          <a:prstGeom prst="rect">
            <a:avLst/>
          </a:prstGeom>
          <a:noFill/>
        </p:spPr>
        <p:txBody>
          <a:bodyPr wrap="none" lIns="0" tIns="0" rIns="0" bIns="0">
            <a:spAutoFit/>
          </a:bodyPr>
          <a:lstStyle/>
          <a:p>
            <a:r>
              <a:rPr sz="1150" b="0">
                <a:solidFill>
                  <a:srgbClr val="2E2E2E"/>
                </a:solidFill>
                <a:latin typeface="Calibri"/>
              </a:rPr>
              <a:t>cross-section.</a:t>
            </a:r>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bg>
      <p:bgPr>
        <a:solidFill>
          <a:srgbClr val="0A2A63"/>
        </a:solidFill>
        <a:effectLst/>
      </p:bgPr>
    </p:bg>
    <p:spTree>
      <p:nvGrpSpPr>
        <p:cNvPr id="1" name=""/>
        <p:cNvGrpSpPr/>
        <p:nvPr/>
      </p:nvGrpSpPr>
      <p:grpSpPr>
        <a:xfrm>
          <a:off x="0" y="0"/>
          <a:ext cx="0" cy="0"/>
          <a:chOff x="0" y="0"/>
          <a:chExt cx="0" cy="0"/>
        </a:xfrm>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ang="195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fmi_logo_template.png"/>
          <p:cNvPicPr>
            <a:picLocks noChangeAspect="1"/>
          </p:cNvPicPr>
          <p:nvPr/>
        </p:nvPicPr>
        <p:blipFill>
          <a:blip r:embed="rId3"/>
          <a:stretch>
            <a:fillRect/>
          </a:stretch>
        </p:blipFill>
        <p:spPr>
          <a:xfrm>
            <a:off x="411480" y="274320"/>
            <a:ext cx="1307592" cy="1325880"/>
          </a:xfrm>
          <a:prstGeom prst="rect">
            <a:avLst/>
          </a:prstGeom>
        </p:spPr>
      </p:pic>
      <p:sp>
        <p:nvSpPr>
          <p:cNvPr id="5" name="TextBox 4"/>
          <p:cNvSpPr txBox="1"/>
          <p:nvPr/>
        </p:nvSpPr>
        <p:spPr>
          <a:xfrm>
            <a:off x="914400" y="2232660"/>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2537460"/>
            <a:ext cx="7239000" cy="514350"/>
          </a:xfrm>
          <a:prstGeom prst="rect">
            <a:avLst/>
          </a:prstGeom>
          <a:noFill/>
        </p:spPr>
        <p:txBody>
          <a:bodyPr wrap="square" lIns="0" tIns="0" rIns="0">
            <a:spAutoFit/>
          </a:bodyPr>
          <a:lstStyle/>
          <a:p>
            <a:r>
              <a:rPr sz="3000" b="1" cap="all" spc="400">
                <a:solidFill>
                  <a:srgbClr val="FFFFFF"/>
                </a:solidFill>
                <a:latin typeface="Calibri"/>
              </a:rPr>
              <a:t>Country Market Outlook</a:t>
            </a:r>
          </a:p>
        </p:txBody>
      </p:sp>
      <p:sp>
        <p:nvSpPr>
          <p:cNvPr id="7" name="TextBox 6"/>
          <p:cNvSpPr txBox="1"/>
          <p:nvPr/>
        </p:nvSpPr>
        <p:spPr>
          <a:xfrm>
            <a:off x="914400" y="3242310"/>
            <a:ext cx="7124700" cy="2811780"/>
          </a:xfrm>
          <a:prstGeom prst="rect">
            <a:avLst/>
          </a:prstGeom>
          <a:noFill/>
        </p:spPr>
        <p:txBody>
          <a:bodyPr wrap="square" lIns="0" tIns="0" rIns="0" bIns="0">
            <a:spAutoFit/>
          </a:bodyPr>
          <a:lstStyle/>
          <a:p>
            <a:pPr marL="342900" indent="-323850">
              <a:lnSpc>
                <a:spcPct val="100000"/>
              </a:lnSpc>
              <a:spcAft>
                <a:spcPts val="800"/>
              </a:spcAft>
            </a:pPr>
            <a:r>
              <a:rPr sz="2000" b="0">
                <a:solidFill>
                  <a:srgbClr val="FFD447"/>
                </a:solidFill>
                <a:latin typeface="Calibri"/>
              </a:rPr>
              <a:t>➤	Overview (Volume &amp; Value)</a:t>
            </a:r>
          </a:p>
          <a:p>
            <a:pPr marL="342900" indent="-323850">
              <a:lnSpc>
                <a:spcPct val="100000"/>
              </a:lnSpc>
              <a:spcAft>
                <a:spcPts val="800"/>
              </a:spcAft>
            </a:pPr>
            <a:r>
              <a:rPr sz="2000" b="0">
                <a:solidFill>
                  <a:srgbClr val="FFD447"/>
                </a:solidFill>
                <a:latin typeface="Calibri"/>
              </a:rPr>
              <a:t>➤	Segment Overview (Volume &amp; Value)</a:t>
            </a:r>
          </a:p>
          <a:p>
            <a:pPr marL="685800" indent="-323850">
              <a:lnSpc>
                <a:spcPct val="100000"/>
              </a:lnSpc>
              <a:spcAft>
                <a:spcPts val="560"/>
              </a:spcAft>
            </a:pPr>
            <a:r>
              <a:rPr sz="1400" b="0">
                <a:solidFill>
                  <a:srgbClr val="FFD447"/>
                </a:solidFill>
                <a:latin typeface="Calibri"/>
              </a:rPr>
              <a:t>›	Partition Type</a:t>
            </a:r>
          </a:p>
          <a:p>
            <a:pPr marL="685800" indent="-323850">
              <a:lnSpc>
                <a:spcPct val="100000"/>
              </a:lnSpc>
              <a:spcAft>
                <a:spcPts val="560"/>
              </a:spcAft>
            </a:pPr>
            <a:r>
              <a:rPr sz="1400" b="0">
                <a:solidFill>
                  <a:srgbClr val="FFD447"/>
                </a:solidFill>
                <a:latin typeface="Calibri"/>
              </a:rPr>
              <a:t>›	Board Construction</a:t>
            </a:r>
          </a:p>
          <a:p>
            <a:pPr marL="685800" indent="-323850">
              <a:lnSpc>
                <a:spcPct val="100000"/>
              </a:lnSpc>
              <a:spcAft>
                <a:spcPts val="560"/>
              </a:spcAft>
            </a:pPr>
            <a:r>
              <a:rPr sz="1400" b="0">
                <a:solidFill>
                  <a:srgbClr val="FFD447"/>
                </a:solidFill>
                <a:latin typeface="Calibri"/>
              </a:rPr>
              <a:t>›	Material Source</a:t>
            </a:r>
          </a:p>
          <a:p>
            <a:pPr marL="685800" indent="-323850">
              <a:lnSpc>
                <a:spcPct val="100000"/>
              </a:lnSpc>
              <a:spcAft>
                <a:spcPts val="560"/>
              </a:spcAft>
            </a:pPr>
            <a:r>
              <a:rPr sz="1400" b="0">
                <a:solidFill>
                  <a:srgbClr val="FFD447"/>
                </a:solidFill>
                <a:latin typeface="Calibri"/>
              </a:rPr>
              <a:t>›	Cell Configuration</a:t>
            </a:r>
          </a:p>
          <a:p>
            <a:pPr marL="685800" indent="-323850">
              <a:lnSpc>
                <a:spcPct val="100000"/>
              </a:lnSpc>
              <a:spcAft>
                <a:spcPts val="560"/>
              </a:spcAft>
            </a:pPr>
            <a:r>
              <a:rPr sz="1400" b="0">
                <a:solidFill>
                  <a:srgbClr val="FFD447"/>
                </a:solidFill>
                <a:latin typeface="Calibri"/>
              </a:rPr>
              <a:t>›	Customization</a:t>
            </a:r>
          </a:p>
          <a:p>
            <a:pPr marL="685800" indent="-323850">
              <a:lnSpc>
                <a:spcPct val="100000"/>
              </a:lnSpc>
              <a:spcAft>
                <a:spcPts val="560"/>
              </a:spcAft>
            </a:pPr>
            <a:r>
              <a:rPr sz="1400" b="0">
                <a:solidFill>
                  <a:srgbClr val="FFD447"/>
                </a:solidFill>
                <a:latin typeface="Calibri"/>
              </a:rPr>
              <a:t>›	End Use</a:t>
            </a:r>
          </a:p>
          <a:p>
            <a:pPr marL="685800" indent="-323850">
              <a:lnSpc>
                <a:spcPct val="100000"/>
              </a:lnSpc>
              <a:spcAft>
                <a:spcPts val="560"/>
              </a:spcAft>
            </a:pPr>
            <a:r>
              <a:rPr sz="1400" b="0">
                <a:solidFill>
                  <a:srgbClr val="FFD447"/>
                </a:solidFill>
                <a:latin typeface="Calibri"/>
              </a:rPr>
              <a:t>›	Sales Channel</a:t>
            </a:r>
          </a:p>
        </p:txBody>
      </p:sp>
      <p:sp>
        <p:nvSpPr>
          <p:cNvPr id="8" name="TextBox 7"/>
          <p:cNvSpPr txBox="1"/>
          <p:nvPr/>
        </p:nvSpPr>
        <p:spPr>
          <a:xfrm>
            <a:off x="4000500" y="6734175"/>
            <a:ext cx="8020050" cy="123825"/>
          </a:xfrm>
          <a:prstGeom prst="rect">
            <a:avLst/>
          </a:prstGeom>
          <a:noFill/>
        </p:spPr>
        <p:txBody>
          <a:bodyPr wrap="square" lIns="28575" tIns="9525" rIns="2857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Volume Overview</a:t>
            </a:r>
          </a:p>
          <a:p>
            <a:pPr marL="342900" indent="-323850">
              <a:lnSpc>
                <a:spcPct val="100000"/>
              </a:lnSpc>
              <a:spcAft>
                <a:spcPts val="800"/>
              </a:spcAft>
            </a:pPr>
            <a:r>
              <a:rPr sz="2000" b="0">
                <a:solidFill>
                  <a:srgbClr val="000000"/>
                </a:solidFill>
                <a:latin typeface="Calibri"/>
              </a:rPr>
              <a:t>➤	Value Overview</a:t>
            </a:r>
          </a:p>
          <a:p>
            <a:pPr marL="342900" indent="-323850">
              <a:lnSpc>
                <a:spcPct val="100000"/>
              </a:lnSpc>
              <a:spcAft>
                <a:spcPts val="800"/>
              </a:spcAft>
            </a:pPr>
            <a:r>
              <a:rPr sz="2000" b="0">
                <a:solidFill>
                  <a:srgbClr val="000000"/>
                </a:solidFill>
                <a:latin typeface="Calibri"/>
              </a:rPr>
              <a:t>➤	Key Segments (Value)</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Volume Overview (MT)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2025 MARKET SIZE (MT)</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1876425"/>
            <a:ext cx="4505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086350" y="1876425"/>
            <a:ext cx="6858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p:cNvSpPr txBox="1"/>
          <p:nvPr/>
        </p:nvSpPr>
        <p:spPr>
          <a:xfrm>
            <a:off x="8042910" y="2124075"/>
            <a:ext cx="3901440" cy="704850"/>
          </a:xfrm>
          <a:prstGeom prst="rect">
            <a:avLst/>
          </a:prstGeom>
          <a:noFill/>
        </p:spPr>
        <p:txBody>
          <a:bodyPr wrap="square" lIns="28575" tIns="9525" rIns="2857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tIns="9525" rIns="28575" bIns="9525" anchor="t">
            <a:spAutoFit/>
          </a:bodyPr>
          <a:lstStyle/>
          <a:p>
            <a:pPr algn="l"/>
            <a:endParaRP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238125" y="3790950"/>
            <a:ext cx="4505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Forecast Build-up 2026–2036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xmlns:r="http://schemas.openxmlformats.org/officeDocument/2006/relationships" r:id="rId6"/>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5086350" y="3790950"/>
            <a:ext cx="6858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xmlns:r="http://schemas.openxmlformats.org/officeDocument/2006/relationships" r:id="rId7"/>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2657921" cy="186689"/>
          </a:xfrm>
          <a:prstGeom prst="rect">
            <a:avLst/>
          </a:prstGeom>
          <a:noFill/>
        </p:spPr>
        <p:txBody>
          <a:bodyPr wrap="none" lIns="0" tIns="0" rIns="0" bIns="0">
            <a:spAutoFit/>
          </a:bodyPr>
          <a:lstStyle/>
          <a:p>
            <a:r>
              <a:rPr sz="1100" b="0">
                <a:solidFill>
                  <a:srgbClr val="2E2E2E"/>
                </a:solidFill>
                <a:latin typeface="Calibri"/>
              </a:rPr>
              <a:t>U.S.'s corrugated partition market expands at</a:t>
            </a:r>
          </a:p>
        </p:txBody>
      </p:sp>
      <p:pic>
        <p:nvPicPr>
          <p:cNvPr id="42" name="Picture 41" descr="lock.png"/>
          <p:cNvPicPr>
            <a:picLocks noChangeAspect="1"/>
          </p:cNvPicPr>
          <p:nvPr/>
        </p:nvPicPr>
        <p:blipFill>
          <a:blip r:embed="rId8"/>
          <a:stretch>
            <a:fillRect/>
          </a:stretch>
        </p:blipFill>
        <p:spPr>
          <a:xfrm>
            <a:off x="10677458" y="2866771"/>
            <a:ext cx="128699" cy="187198"/>
          </a:xfrm>
          <a:prstGeom prst="rect">
            <a:avLst/>
          </a:prstGeom>
        </p:spPr>
      </p:pic>
      <p:sp>
        <p:nvSpPr>
          <p:cNvPr id="43" name="TextBox 42"/>
          <p:cNvSpPr txBox="1"/>
          <p:nvPr/>
        </p:nvSpPr>
        <p:spPr>
          <a:xfrm>
            <a:off x="10844953" y="2876550"/>
            <a:ext cx="882459" cy="186689"/>
          </a:xfrm>
          <a:prstGeom prst="rect">
            <a:avLst/>
          </a:prstGeom>
          <a:noFill/>
        </p:spPr>
        <p:txBody>
          <a:bodyPr wrap="none" lIns="0" tIns="0" rIns="0" bIns="0">
            <a:spAutoFit/>
          </a:bodyPr>
          <a:lstStyle/>
          <a:p>
            <a:r>
              <a:rPr sz="1100" b="0">
                <a:solidFill>
                  <a:srgbClr val="2E2E2E"/>
                </a:solidFill>
                <a:latin typeface="Calibri"/>
              </a:rPr>
              <a:t>CAGR through</a:t>
            </a:r>
          </a:p>
        </p:txBody>
      </p:sp>
      <p:sp>
        <p:nvSpPr>
          <p:cNvPr id="44" name="TextBox 43"/>
          <p:cNvSpPr txBox="1"/>
          <p:nvPr/>
        </p:nvSpPr>
        <p:spPr>
          <a:xfrm>
            <a:off x="8071485" y="3044190"/>
            <a:ext cx="2731318" cy="186689"/>
          </a:xfrm>
          <a:prstGeom prst="rect">
            <a:avLst/>
          </a:prstGeom>
          <a:noFill/>
        </p:spPr>
        <p:txBody>
          <a:bodyPr wrap="none" lIns="0" tIns="0" rIns="0" bIns="0">
            <a:spAutoFit/>
          </a:bodyPr>
          <a:lstStyle/>
          <a:p>
            <a:r>
              <a:rPr sz="1100" b="0">
                <a:solidFill>
                  <a:srgbClr val="2E2E2E"/>
                </a:solidFill>
                <a:latin typeface="Calibri"/>
              </a:rPr>
              <a:t>2036, trailing the North America benchmark of</a:t>
            </a:r>
          </a:p>
        </p:txBody>
      </p:sp>
      <p:pic>
        <p:nvPicPr>
          <p:cNvPr id="45" name="Picture 44" descr="lock.png"/>
          <p:cNvPicPr>
            <a:picLocks noChangeAspect="1"/>
          </p:cNvPicPr>
          <p:nvPr/>
        </p:nvPicPr>
        <p:blipFill>
          <a:blip r:embed="rId8"/>
          <a:stretch>
            <a:fillRect/>
          </a:stretch>
        </p:blipFill>
        <p:spPr>
          <a:xfrm>
            <a:off x="10750855" y="3034411"/>
            <a:ext cx="128699" cy="187198"/>
          </a:xfrm>
          <a:prstGeom prst="rect">
            <a:avLst/>
          </a:prstGeom>
        </p:spPr>
      </p:pic>
      <p:sp>
        <p:nvSpPr>
          <p:cNvPr id="46" name="TextBox 45"/>
          <p:cNvSpPr txBox="1"/>
          <p:nvPr/>
        </p:nvSpPr>
        <p:spPr>
          <a:xfrm>
            <a:off x="10918350" y="3044190"/>
            <a:ext cx="212898" cy="186689"/>
          </a:xfrm>
          <a:prstGeom prst="rect">
            <a:avLst/>
          </a:prstGeom>
          <a:noFill/>
        </p:spPr>
        <p:txBody>
          <a:bodyPr wrap="none" lIns="0" tIns="0" r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11079301" y="3034411"/>
            <a:ext cx="128699" cy="187198"/>
          </a:xfrm>
          <a:prstGeom prst="rect">
            <a:avLst/>
          </a:prstGeom>
        </p:spPr>
      </p:pic>
      <p:sp>
        <p:nvSpPr>
          <p:cNvPr id="48" name="TextBox 47"/>
          <p:cNvSpPr txBox="1"/>
          <p:nvPr/>
        </p:nvSpPr>
        <p:spPr>
          <a:xfrm>
            <a:off x="11246797" y="3044190"/>
            <a:ext cx="323949" cy="186689"/>
          </a:xfrm>
          <a:prstGeom prst="rect">
            <a:avLst/>
          </a:prstGeom>
          <a:noFill/>
        </p:spPr>
        <p:txBody>
          <a:bodyPr wrap="none" lIns="0" tIns="0" r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tIns="0" r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tIns="0" r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561060" cy="186689"/>
          </a:xfrm>
          <a:prstGeom prst="rect">
            <a:avLst/>
          </a:prstGeom>
          <a:noFill/>
        </p:spPr>
        <p:txBody>
          <a:bodyPr wrap="none" lIns="0" tIns="0" rIns="0" bIns="0">
            <a:spAutoFit/>
          </a:bodyPr>
          <a:lstStyle/>
          <a:p>
            <a:r>
              <a:rPr sz="1100" b="0">
                <a:solidFill>
                  <a:srgbClr val="2E2E2E"/>
                </a:solidFill>
                <a:latin typeface="Calibri"/>
              </a:rPr>
              <a:t>of the North America corrugated partition market in 2026; by</a:t>
            </a:r>
          </a:p>
        </p:txBody>
      </p:sp>
      <p:sp>
        <p:nvSpPr>
          <p:cNvPr id="54" name="TextBox 53"/>
          <p:cNvSpPr txBox="1"/>
          <p:nvPr/>
        </p:nvSpPr>
        <p:spPr>
          <a:xfrm>
            <a:off x="257175" y="6134100"/>
            <a:ext cx="1610990" cy="186689"/>
          </a:xfrm>
          <a:prstGeom prst="rect">
            <a:avLst/>
          </a:prstGeom>
          <a:noFill/>
        </p:spPr>
        <p:txBody>
          <a:bodyPr wrap="none" lIns="0" tIns="0" rIns="0" bIns="0">
            <a:spAutoFit/>
          </a:bodyPr>
          <a:lstStyle/>
          <a:p>
            <a:r>
              <a:rPr sz="1100" b="0">
                <a:solidFill>
                  <a:srgbClr val="2E2E2E"/>
                </a:solidFill>
                <a:latin typeface="Calibri"/>
              </a:rPr>
              <a:t>2036 those shares move to</a:t>
            </a:r>
          </a:p>
        </p:txBody>
      </p:sp>
      <p:pic>
        <p:nvPicPr>
          <p:cNvPr id="55" name="Picture 54" descr="lock.png"/>
          <p:cNvPicPr>
            <a:picLocks noChangeAspect="1"/>
          </p:cNvPicPr>
          <p:nvPr/>
        </p:nvPicPr>
        <p:blipFill>
          <a:blip r:embed="rId8"/>
          <a:stretch>
            <a:fillRect/>
          </a:stretch>
        </p:blipFill>
        <p:spPr>
          <a:xfrm>
            <a:off x="1816216" y="6124320"/>
            <a:ext cx="128699" cy="187198"/>
          </a:xfrm>
          <a:prstGeom prst="rect">
            <a:avLst/>
          </a:prstGeom>
        </p:spPr>
      </p:pic>
      <p:sp>
        <p:nvSpPr>
          <p:cNvPr id="56" name="TextBox 55"/>
          <p:cNvSpPr txBox="1"/>
          <p:nvPr/>
        </p:nvSpPr>
        <p:spPr>
          <a:xfrm>
            <a:off x="1983712" y="6134100"/>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221606" y="6124320"/>
            <a:ext cx="128699" cy="187198"/>
          </a:xfrm>
          <a:prstGeom prst="rect">
            <a:avLst/>
          </a:prstGeom>
        </p:spPr>
      </p:pic>
      <p:sp>
        <p:nvSpPr>
          <p:cNvPr id="58" name="TextBox 57"/>
          <p:cNvSpPr txBox="1"/>
          <p:nvPr/>
        </p:nvSpPr>
        <p:spPr>
          <a:xfrm>
            <a:off x="2389102" y="6134100"/>
            <a:ext cx="793799" cy="186689"/>
          </a:xfrm>
          <a:prstGeom prst="rect">
            <a:avLst/>
          </a:prstGeom>
          <a:noFill/>
        </p:spPr>
        <p:txBody>
          <a:bodyPr wrap="none" lIns="0" tIns="0" rIns="0" bIns="0">
            <a:spAutoFit/>
          </a:bodyPr>
          <a:lstStyle/>
          <a:p>
            <a:r>
              <a:rPr sz="1100" b="0">
                <a:solidFill>
                  <a:srgbClr val="2E2E2E"/>
                </a:solidFill>
                <a:latin typeface="Calibri"/>
              </a:rPr>
              <a:t>respectively.</a:t>
            </a:r>
          </a:p>
        </p:txBody>
      </p:sp>
      <p:sp>
        <p:nvSpPr>
          <p:cNvPr id="59" name="TextBox 58"/>
          <p:cNvSpPr txBox="1"/>
          <p:nvPr/>
        </p:nvSpPr>
        <p:spPr>
          <a:xfrm>
            <a:off x="6286500" y="5966460"/>
            <a:ext cx="1586979" cy="186689"/>
          </a:xfrm>
          <a:prstGeom prst="rect">
            <a:avLst/>
          </a:prstGeom>
          <a:noFill/>
        </p:spPr>
        <p:txBody>
          <a:bodyPr wrap="none" lIns="0" tIns="0" rIns="0" bIns="0">
            <a:spAutoFit/>
          </a:bodyPr>
          <a:lstStyle/>
          <a:p>
            <a:r>
              <a:rPr sz="1100" b="0">
                <a:solidFill>
                  <a:srgbClr val="2E2E2E"/>
                </a:solidFill>
                <a:latin typeface="Calibri"/>
              </a:rPr>
              <a:t>The forecast build-up adds</a:t>
            </a:r>
          </a:p>
        </p:txBody>
      </p:sp>
      <p:pic>
        <p:nvPicPr>
          <p:cNvPr id="60" name="Picture 59" descr="lock.png"/>
          <p:cNvPicPr>
            <a:picLocks noChangeAspect="1"/>
          </p:cNvPicPr>
          <p:nvPr/>
        </p:nvPicPr>
        <p:blipFill>
          <a:blip r:embed="rId8"/>
          <a:stretch>
            <a:fillRect/>
          </a:stretch>
        </p:blipFill>
        <p:spPr>
          <a:xfrm>
            <a:off x="7821530" y="5956680"/>
            <a:ext cx="128699" cy="187198"/>
          </a:xfrm>
          <a:prstGeom prst="rect">
            <a:avLst/>
          </a:prstGeom>
        </p:spPr>
      </p:pic>
      <p:sp>
        <p:nvSpPr>
          <p:cNvPr id="61" name="TextBox 60"/>
          <p:cNvSpPr txBox="1"/>
          <p:nvPr/>
        </p:nvSpPr>
        <p:spPr>
          <a:xfrm>
            <a:off x="7989026" y="5966460"/>
            <a:ext cx="3117130" cy="186689"/>
          </a:xfrm>
          <a:prstGeom prst="rect">
            <a:avLst/>
          </a:prstGeom>
          <a:noFill/>
        </p:spPr>
        <p:txBody>
          <a:bodyPr wrap="none" lIns="0" tIns="0" rIns="0" bIns="0">
            <a:spAutoFit/>
          </a:bodyPr>
          <a:lstStyle/>
          <a:p>
            <a:r>
              <a:rPr sz="1100" b="0">
                <a:solidFill>
                  <a:srgbClr val="2E2E2E"/>
                </a:solidFill>
                <a:latin typeface="Calibri"/>
              </a:rPr>
              <a:t>MT between 2026 and 2036 the U.S. market grows to</a:t>
            </a:r>
          </a:p>
        </p:txBody>
      </p:sp>
      <p:pic>
        <p:nvPicPr>
          <p:cNvPr id="62" name="Picture 61" descr="lock.png"/>
          <p:cNvPicPr>
            <a:picLocks noChangeAspect="1"/>
          </p:cNvPicPr>
          <p:nvPr/>
        </p:nvPicPr>
        <p:blipFill>
          <a:blip r:embed="rId8"/>
          <a:stretch>
            <a:fillRect/>
          </a:stretch>
        </p:blipFill>
        <p:spPr>
          <a:xfrm>
            <a:off x="11054208" y="5956680"/>
            <a:ext cx="128699" cy="187198"/>
          </a:xfrm>
          <a:prstGeom prst="rect">
            <a:avLst/>
          </a:prstGeom>
        </p:spPr>
      </p:pic>
      <p:sp>
        <p:nvSpPr>
          <p:cNvPr id="63" name="TextBox 62"/>
          <p:cNvSpPr txBox="1"/>
          <p:nvPr/>
        </p:nvSpPr>
        <p:spPr>
          <a:xfrm>
            <a:off x="11221704" y="5966460"/>
            <a:ext cx="311125" cy="186689"/>
          </a:xfrm>
          <a:prstGeom prst="rect">
            <a:avLst/>
          </a:prstGeom>
          <a:noFill/>
        </p:spPr>
        <p:txBody>
          <a:bodyPr wrap="none" lIns="0" tIns="0" rIns="0" bIns="0">
            <a:spAutoFit/>
          </a:bodyPr>
          <a:lstStyle/>
          <a:p>
            <a:r>
              <a:rPr sz="1100" b="0">
                <a:solidFill>
                  <a:srgbClr val="2E2E2E"/>
                </a:solidFill>
                <a:latin typeface="Calibri"/>
              </a:rPr>
              <a:t>× its</a:t>
            </a:r>
          </a:p>
        </p:txBody>
      </p:sp>
      <p:sp>
        <p:nvSpPr>
          <p:cNvPr id="64" name="TextBox 63"/>
          <p:cNvSpPr txBox="1"/>
          <p:nvPr/>
        </p:nvSpPr>
        <p:spPr>
          <a:xfrm>
            <a:off x="6286500" y="6134100"/>
            <a:ext cx="1590253" cy="186689"/>
          </a:xfrm>
          <a:prstGeom prst="rect">
            <a:avLst/>
          </a:prstGeom>
          <a:noFill/>
        </p:spPr>
        <p:txBody>
          <a:bodyPr wrap="none" lIns="0" tIns="0" rIns="0" bIns="0">
            <a:spAutoFit/>
          </a:bodyPr>
          <a:lstStyle/>
          <a:p>
            <a:r>
              <a:rPr sz="1100" b="0">
                <a:solidFill>
                  <a:srgbClr val="2E2E2E"/>
                </a:solidFill>
                <a:latin typeface="Calibri"/>
              </a:rPr>
              <a:t>2026 size over the decade.</a:t>
            </a:r>
          </a:p>
        </p:txBody>
      </p:sp>
      <p:sp>
        <p:nvSpPr>
          <p:cNvPr id="65"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Value Overview (US$ Mn)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1876425"/>
            <a:ext cx="4505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5086350" y="1876425"/>
            <a:ext cx="6858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p:cNvSpPr txBox="1"/>
          <p:nvPr/>
        </p:nvSpPr>
        <p:spPr>
          <a:xfrm>
            <a:off x="8042910" y="2124075"/>
            <a:ext cx="3901440" cy="704850"/>
          </a:xfrm>
          <a:prstGeom prst="rect">
            <a:avLst/>
          </a:prstGeom>
          <a:noFill/>
        </p:spPr>
        <p:txBody>
          <a:bodyPr wrap="square" lIns="28575" tIns="9525" rIns="2857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tIns="9525" rIns="28575" bIns="9525" anchor="t">
            <a:spAutoFit/>
          </a:bodyPr>
          <a:lstStyle/>
          <a:p>
            <a:pPr algn="l"/>
            <a:endParaRP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238125" y="3790950"/>
            <a:ext cx="45053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xmlns:r="http://schemas.openxmlformats.org/officeDocument/2006/relationships" r:id="rId6"/>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5086350" y="3790950"/>
            <a:ext cx="6858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xmlns:r="http://schemas.openxmlformats.org/officeDocument/2006/relationships" r:id="rId7"/>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endParaRP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2657921" cy="186689"/>
          </a:xfrm>
          <a:prstGeom prst="rect">
            <a:avLst/>
          </a:prstGeom>
          <a:noFill/>
        </p:spPr>
        <p:txBody>
          <a:bodyPr wrap="none" lIns="0" tIns="0" rIns="0" bIns="0">
            <a:spAutoFit/>
          </a:bodyPr>
          <a:lstStyle/>
          <a:p>
            <a:r>
              <a:rPr sz="1100" b="0">
                <a:solidFill>
                  <a:srgbClr val="2E2E2E"/>
                </a:solidFill>
                <a:latin typeface="Calibri"/>
              </a:rPr>
              <a:t>U.S.'s corrugated partition market expands at</a:t>
            </a:r>
          </a:p>
        </p:txBody>
      </p:sp>
      <p:pic>
        <p:nvPicPr>
          <p:cNvPr id="42" name="Picture 41" descr="lock.png"/>
          <p:cNvPicPr>
            <a:picLocks noChangeAspect="1"/>
          </p:cNvPicPr>
          <p:nvPr/>
        </p:nvPicPr>
        <p:blipFill>
          <a:blip r:embed="rId8"/>
          <a:stretch>
            <a:fillRect/>
          </a:stretch>
        </p:blipFill>
        <p:spPr>
          <a:xfrm>
            <a:off x="10677458" y="2866771"/>
            <a:ext cx="128699" cy="187198"/>
          </a:xfrm>
          <a:prstGeom prst="rect">
            <a:avLst/>
          </a:prstGeom>
        </p:spPr>
      </p:pic>
      <p:sp>
        <p:nvSpPr>
          <p:cNvPr id="43" name="TextBox 42"/>
          <p:cNvSpPr txBox="1"/>
          <p:nvPr/>
        </p:nvSpPr>
        <p:spPr>
          <a:xfrm>
            <a:off x="10844953" y="2876550"/>
            <a:ext cx="882459" cy="186689"/>
          </a:xfrm>
          <a:prstGeom prst="rect">
            <a:avLst/>
          </a:prstGeom>
          <a:noFill/>
        </p:spPr>
        <p:txBody>
          <a:bodyPr wrap="none" lIns="0" tIns="0" rIns="0" bIns="0">
            <a:spAutoFit/>
          </a:bodyPr>
          <a:lstStyle/>
          <a:p>
            <a:r>
              <a:rPr sz="1100" b="0">
                <a:solidFill>
                  <a:srgbClr val="2E2E2E"/>
                </a:solidFill>
                <a:latin typeface="Calibri"/>
              </a:rPr>
              <a:t>CAGR through</a:t>
            </a:r>
          </a:p>
        </p:txBody>
      </p:sp>
      <p:sp>
        <p:nvSpPr>
          <p:cNvPr id="44" name="TextBox 43"/>
          <p:cNvSpPr txBox="1"/>
          <p:nvPr/>
        </p:nvSpPr>
        <p:spPr>
          <a:xfrm>
            <a:off x="8071485" y="3044190"/>
            <a:ext cx="2731318" cy="186689"/>
          </a:xfrm>
          <a:prstGeom prst="rect">
            <a:avLst/>
          </a:prstGeom>
          <a:noFill/>
        </p:spPr>
        <p:txBody>
          <a:bodyPr wrap="none" lIns="0" tIns="0" rIns="0" bIns="0">
            <a:spAutoFit/>
          </a:bodyPr>
          <a:lstStyle/>
          <a:p>
            <a:r>
              <a:rPr sz="1100" b="0">
                <a:solidFill>
                  <a:srgbClr val="2E2E2E"/>
                </a:solidFill>
                <a:latin typeface="Calibri"/>
              </a:rPr>
              <a:t>2036, trailing the North America benchmark of</a:t>
            </a:r>
          </a:p>
        </p:txBody>
      </p:sp>
      <p:pic>
        <p:nvPicPr>
          <p:cNvPr id="45" name="Picture 44" descr="lock.png"/>
          <p:cNvPicPr>
            <a:picLocks noChangeAspect="1"/>
          </p:cNvPicPr>
          <p:nvPr/>
        </p:nvPicPr>
        <p:blipFill>
          <a:blip r:embed="rId8"/>
          <a:stretch>
            <a:fillRect/>
          </a:stretch>
        </p:blipFill>
        <p:spPr>
          <a:xfrm>
            <a:off x="10750855" y="3034411"/>
            <a:ext cx="128699" cy="187198"/>
          </a:xfrm>
          <a:prstGeom prst="rect">
            <a:avLst/>
          </a:prstGeom>
        </p:spPr>
      </p:pic>
      <p:sp>
        <p:nvSpPr>
          <p:cNvPr id="46" name="TextBox 45"/>
          <p:cNvSpPr txBox="1"/>
          <p:nvPr/>
        </p:nvSpPr>
        <p:spPr>
          <a:xfrm>
            <a:off x="10918350" y="3044190"/>
            <a:ext cx="212898" cy="186689"/>
          </a:xfrm>
          <a:prstGeom prst="rect">
            <a:avLst/>
          </a:prstGeom>
          <a:noFill/>
        </p:spPr>
        <p:txBody>
          <a:bodyPr wrap="none" lIns="0" tIns="0" r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11079301" y="3034411"/>
            <a:ext cx="128699" cy="187198"/>
          </a:xfrm>
          <a:prstGeom prst="rect">
            <a:avLst/>
          </a:prstGeom>
        </p:spPr>
      </p:pic>
      <p:sp>
        <p:nvSpPr>
          <p:cNvPr id="48" name="TextBox 47"/>
          <p:cNvSpPr txBox="1"/>
          <p:nvPr/>
        </p:nvSpPr>
        <p:spPr>
          <a:xfrm>
            <a:off x="11246797" y="3044190"/>
            <a:ext cx="323949" cy="186689"/>
          </a:xfrm>
          <a:prstGeom prst="rect">
            <a:avLst/>
          </a:prstGeom>
          <a:noFill/>
        </p:spPr>
        <p:txBody>
          <a:bodyPr wrap="none" lIns="0" tIns="0" r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tIns="0" r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tIns="0" r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561060" cy="186689"/>
          </a:xfrm>
          <a:prstGeom prst="rect">
            <a:avLst/>
          </a:prstGeom>
          <a:noFill/>
        </p:spPr>
        <p:txBody>
          <a:bodyPr wrap="none" lIns="0" tIns="0" rIns="0" bIns="0">
            <a:spAutoFit/>
          </a:bodyPr>
          <a:lstStyle/>
          <a:p>
            <a:r>
              <a:rPr sz="1100" b="0">
                <a:solidFill>
                  <a:srgbClr val="2E2E2E"/>
                </a:solidFill>
                <a:latin typeface="Calibri"/>
              </a:rPr>
              <a:t>of the North America corrugated partition market in 2026; by</a:t>
            </a:r>
          </a:p>
        </p:txBody>
      </p:sp>
      <p:sp>
        <p:nvSpPr>
          <p:cNvPr id="54" name="TextBox 53"/>
          <p:cNvSpPr txBox="1"/>
          <p:nvPr/>
        </p:nvSpPr>
        <p:spPr>
          <a:xfrm>
            <a:off x="257175" y="6134100"/>
            <a:ext cx="1610990" cy="186689"/>
          </a:xfrm>
          <a:prstGeom prst="rect">
            <a:avLst/>
          </a:prstGeom>
          <a:noFill/>
        </p:spPr>
        <p:txBody>
          <a:bodyPr wrap="none" lIns="0" tIns="0" rIns="0" bIns="0">
            <a:spAutoFit/>
          </a:bodyPr>
          <a:lstStyle/>
          <a:p>
            <a:r>
              <a:rPr sz="1100" b="0">
                <a:solidFill>
                  <a:srgbClr val="2E2E2E"/>
                </a:solidFill>
                <a:latin typeface="Calibri"/>
              </a:rPr>
              <a:t>2036 those shares move to</a:t>
            </a:r>
          </a:p>
        </p:txBody>
      </p:sp>
      <p:pic>
        <p:nvPicPr>
          <p:cNvPr id="55" name="Picture 54" descr="lock.png"/>
          <p:cNvPicPr>
            <a:picLocks noChangeAspect="1"/>
          </p:cNvPicPr>
          <p:nvPr/>
        </p:nvPicPr>
        <p:blipFill>
          <a:blip r:embed="rId8"/>
          <a:stretch>
            <a:fillRect/>
          </a:stretch>
        </p:blipFill>
        <p:spPr>
          <a:xfrm>
            <a:off x="1816216" y="6124320"/>
            <a:ext cx="128699" cy="187198"/>
          </a:xfrm>
          <a:prstGeom prst="rect">
            <a:avLst/>
          </a:prstGeom>
        </p:spPr>
      </p:pic>
      <p:sp>
        <p:nvSpPr>
          <p:cNvPr id="56" name="TextBox 55"/>
          <p:cNvSpPr txBox="1"/>
          <p:nvPr/>
        </p:nvSpPr>
        <p:spPr>
          <a:xfrm>
            <a:off x="1983712" y="6134100"/>
            <a:ext cx="289842" cy="186689"/>
          </a:xfrm>
          <a:prstGeom prst="rect">
            <a:avLst/>
          </a:prstGeom>
          <a:noFill/>
        </p:spPr>
        <p:txBody>
          <a:bodyPr wrap="none" lIns="0" tIns="0" r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221606" y="6124320"/>
            <a:ext cx="128699" cy="187198"/>
          </a:xfrm>
          <a:prstGeom prst="rect">
            <a:avLst/>
          </a:prstGeom>
        </p:spPr>
      </p:pic>
      <p:sp>
        <p:nvSpPr>
          <p:cNvPr id="58" name="TextBox 57"/>
          <p:cNvSpPr txBox="1"/>
          <p:nvPr/>
        </p:nvSpPr>
        <p:spPr>
          <a:xfrm>
            <a:off x="2389102" y="6134100"/>
            <a:ext cx="793799" cy="186689"/>
          </a:xfrm>
          <a:prstGeom prst="rect">
            <a:avLst/>
          </a:prstGeom>
          <a:noFill/>
        </p:spPr>
        <p:txBody>
          <a:bodyPr wrap="none" lIns="0" tIns="0" rIns="0" bIns="0">
            <a:spAutoFit/>
          </a:bodyPr>
          <a:lstStyle/>
          <a:p>
            <a:r>
              <a:rPr sz="1100" b="0">
                <a:solidFill>
                  <a:srgbClr val="2E2E2E"/>
                </a:solidFill>
                <a:latin typeface="Calibri"/>
              </a:rPr>
              <a:t>respectively.</a:t>
            </a:r>
          </a:p>
        </p:txBody>
      </p:sp>
      <p:sp>
        <p:nvSpPr>
          <p:cNvPr id="59" name="TextBox 58"/>
          <p:cNvSpPr txBox="1"/>
          <p:nvPr/>
        </p:nvSpPr>
        <p:spPr>
          <a:xfrm>
            <a:off x="6286500" y="5882640"/>
            <a:ext cx="3103215" cy="186689"/>
          </a:xfrm>
          <a:prstGeom prst="rect">
            <a:avLst/>
          </a:prstGeom>
          <a:noFill/>
        </p:spPr>
        <p:txBody>
          <a:bodyPr wrap="none" lIns="0" tIns="0" rIns="0" bIns="0">
            <a:spAutoFit/>
          </a:bodyPr>
          <a:lstStyle/>
          <a:p>
            <a:r>
              <a:rPr sz="1100" b="0">
                <a:solidFill>
                  <a:srgbClr val="2E2E2E"/>
                </a:solidFill>
                <a:latin typeface="Calibri"/>
              </a:rPr>
              <a:t>The market in the U.S. is expected to account for US$</a:t>
            </a:r>
          </a:p>
        </p:txBody>
      </p:sp>
      <p:pic>
        <p:nvPicPr>
          <p:cNvPr id="60" name="Picture 59" descr="lock.png"/>
          <p:cNvPicPr>
            <a:picLocks noChangeAspect="1"/>
          </p:cNvPicPr>
          <p:nvPr/>
        </p:nvPicPr>
        <p:blipFill>
          <a:blip r:embed="rId8"/>
          <a:stretch>
            <a:fillRect/>
          </a:stretch>
        </p:blipFill>
        <p:spPr>
          <a:xfrm>
            <a:off x="9337766" y="5872860"/>
            <a:ext cx="128699" cy="187198"/>
          </a:xfrm>
          <a:prstGeom prst="rect">
            <a:avLst/>
          </a:prstGeom>
        </p:spPr>
      </p:pic>
      <p:sp>
        <p:nvSpPr>
          <p:cNvPr id="61" name="TextBox 60"/>
          <p:cNvSpPr txBox="1"/>
          <p:nvPr/>
        </p:nvSpPr>
        <p:spPr>
          <a:xfrm>
            <a:off x="9505262" y="5882640"/>
            <a:ext cx="1495556" cy="186689"/>
          </a:xfrm>
          <a:prstGeom prst="rect">
            <a:avLst/>
          </a:prstGeom>
          <a:noFill/>
        </p:spPr>
        <p:txBody>
          <a:bodyPr wrap="none" lIns="0" tIns="0" rIns="0" bIns="0">
            <a:spAutoFit/>
          </a:bodyPr>
          <a:lstStyle/>
          <a:p>
            <a:r>
              <a:rPr sz="1100" b="0">
                <a:solidFill>
                  <a:srgbClr val="2E2E2E"/>
                </a:solidFill>
                <a:latin typeface="Calibri"/>
              </a:rPr>
              <a:t>Mn by 2036 at a CAGR of</a:t>
            </a:r>
          </a:p>
        </p:txBody>
      </p:sp>
      <p:pic>
        <p:nvPicPr>
          <p:cNvPr id="62" name="Picture 61" descr="lock.png"/>
          <p:cNvPicPr>
            <a:picLocks noChangeAspect="1"/>
          </p:cNvPicPr>
          <p:nvPr/>
        </p:nvPicPr>
        <p:blipFill>
          <a:blip r:embed="rId8"/>
          <a:stretch>
            <a:fillRect/>
          </a:stretch>
        </p:blipFill>
        <p:spPr>
          <a:xfrm>
            <a:off x="10948871" y="5872860"/>
            <a:ext cx="128699" cy="187198"/>
          </a:xfrm>
          <a:prstGeom prst="rect">
            <a:avLst/>
          </a:prstGeom>
        </p:spPr>
      </p:pic>
      <p:sp>
        <p:nvSpPr>
          <p:cNvPr id="63" name="TextBox 62"/>
          <p:cNvSpPr txBox="1"/>
          <p:nvPr/>
        </p:nvSpPr>
        <p:spPr>
          <a:xfrm>
            <a:off x="11116366" y="5882640"/>
            <a:ext cx="552871" cy="186689"/>
          </a:xfrm>
          <a:prstGeom prst="rect">
            <a:avLst/>
          </a:prstGeom>
          <a:noFill/>
        </p:spPr>
        <p:txBody>
          <a:bodyPr wrap="none" lIns="0" tIns="0" rIns="0" bIns="0">
            <a:spAutoFit/>
          </a:bodyPr>
          <a:lstStyle/>
          <a:p>
            <a:r>
              <a:rPr sz="1100" b="0">
                <a:solidFill>
                  <a:srgbClr val="2E2E2E"/>
                </a:solidFill>
                <a:latin typeface="Calibri"/>
              </a:rPr>
              <a:t>over the</a:t>
            </a:r>
          </a:p>
        </p:txBody>
      </p:sp>
      <p:sp>
        <p:nvSpPr>
          <p:cNvPr id="64" name="TextBox 63"/>
          <p:cNvSpPr txBox="1"/>
          <p:nvPr/>
        </p:nvSpPr>
        <p:spPr>
          <a:xfrm>
            <a:off x="6286500" y="6050280"/>
            <a:ext cx="4694758" cy="186689"/>
          </a:xfrm>
          <a:prstGeom prst="rect">
            <a:avLst/>
          </a:prstGeom>
          <a:noFill/>
        </p:spPr>
        <p:txBody>
          <a:bodyPr wrap="none" lIns="0" tIns="0" rIns="0" bIns="0">
            <a:spAutoFit/>
          </a:bodyPr>
          <a:lstStyle/>
          <a:p>
            <a:r>
              <a:rPr sz="1100" b="0">
                <a:solidFill>
                  <a:srgbClr val="2E2E2E"/>
                </a:solidFill>
                <a:latin typeface="Calibri"/>
              </a:rPr>
              <a:t>forecast period. The U.S. is expected to create an incremental opportunity of US$</a:t>
            </a:r>
          </a:p>
        </p:txBody>
      </p:sp>
      <p:pic>
        <p:nvPicPr>
          <p:cNvPr id="65" name="Picture 64" descr="lock.png"/>
          <p:cNvPicPr>
            <a:picLocks noChangeAspect="1"/>
          </p:cNvPicPr>
          <p:nvPr/>
        </p:nvPicPr>
        <p:blipFill>
          <a:blip r:embed="rId8"/>
          <a:stretch>
            <a:fillRect/>
          </a:stretch>
        </p:blipFill>
        <p:spPr>
          <a:xfrm>
            <a:off x="10929309" y="6040501"/>
            <a:ext cx="128699" cy="187198"/>
          </a:xfrm>
          <a:prstGeom prst="rect">
            <a:avLst/>
          </a:prstGeom>
        </p:spPr>
      </p:pic>
      <p:sp>
        <p:nvSpPr>
          <p:cNvPr id="66" name="TextBox 65"/>
          <p:cNvSpPr txBox="1"/>
          <p:nvPr/>
        </p:nvSpPr>
        <p:spPr>
          <a:xfrm>
            <a:off x="11096805" y="6050280"/>
            <a:ext cx="687387" cy="186689"/>
          </a:xfrm>
          <a:prstGeom prst="rect">
            <a:avLst/>
          </a:prstGeom>
          <a:noFill/>
        </p:spPr>
        <p:txBody>
          <a:bodyPr wrap="none" lIns="0" tIns="0" rIns="0" bIns="0">
            <a:spAutoFit/>
          </a:bodyPr>
          <a:lstStyle/>
          <a:p>
            <a:r>
              <a:rPr sz="1100" b="0">
                <a:solidFill>
                  <a:srgbClr val="2E2E2E"/>
                </a:solidFill>
                <a:latin typeface="Calibri"/>
              </a:rPr>
              <a:t>Mn for the</a:t>
            </a:r>
          </a:p>
        </p:txBody>
      </p:sp>
      <p:sp>
        <p:nvSpPr>
          <p:cNvPr id="67" name="TextBox 66"/>
          <p:cNvSpPr txBox="1"/>
          <p:nvPr/>
        </p:nvSpPr>
        <p:spPr>
          <a:xfrm>
            <a:off x="6286500" y="6217920"/>
            <a:ext cx="3212355" cy="186689"/>
          </a:xfrm>
          <a:prstGeom prst="rect">
            <a:avLst/>
          </a:prstGeom>
          <a:noFill/>
        </p:spPr>
        <p:txBody>
          <a:bodyPr wrap="none" lIns="0" tIns="0" rIns="0" bIns="0">
            <a:spAutoFit/>
          </a:bodyPr>
          <a:lstStyle/>
          <a:p>
            <a:r>
              <a:rPr sz="1100" b="0">
                <a:solidFill>
                  <a:srgbClr val="2E2E2E"/>
                </a:solidFill>
                <a:latin typeface="Calibri"/>
              </a:rPr>
              <a:t>overall corrugated partition market from 2025 to 2036.</a:t>
            </a:r>
          </a:p>
        </p:txBody>
      </p:sp>
      <p:sp>
        <p:nvSpPr>
          <p:cNvPr id="68"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2667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Partition Type  (US$ Mn)</a:t>
            </a:r>
          </a:p>
        </p:txBody>
      </p:sp>
      <p:graphicFrame>
        <p:nvGraphicFramePr>
          <p:cNvPr id="13" name="Chart 12"/>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3248025" y="1038225"/>
            <a:ext cx="2667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Board Construction  (US$ Mn)</a:t>
            </a:r>
          </a:p>
        </p:txBody>
      </p:sp>
      <p:graphicFrame>
        <p:nvGraphicFramePr>
          <p:cNvPr id="16" name="Chart 15"/>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6257925" y="1038225"/>
            <a:ext cx="2667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Material Source  (US$ Mn)</a:t>
            </a:r>
          </a:p>
        </p:txBody>
      </p:sp>
      <p:graphicFrame>
        <p:nvGraphicFramePr>
          <p:cNvPr id="19" name="Chart 18"/>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9267825" y="1038225"/>
            <a:ext cx="2667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Cell Configuration  (US$ Mn)</a:t>
            </a:r>
          </a:p>
        </p:txBody>
      </p:sp>
      <p:graphicFrame>
        <p:nvGraphicFramePr>
          <p:cNvPr id="22" name="Chart 21"/>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xmlns:r="http://schemas.openxmlformats.org/officeDocument/2006/relationships" r:id="rId7"/>
          </a:graphicData>
        </a:graphic>
      </p:graphicFrame>
      <p:sp>
        <p:nvSpPr>
          <p:cNvPr id="23" name="Rounded Rectangle 22"/>
          <p:cNvSpPr/>
          <p:nvPr/>
        </p:nvSpPr>
        <p:spPr>
          <a:xfrm>
            <a:off x="142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238125" y="3219450"/>
            <a:ext cx="27051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Customization  (US$ Mn)</a:t>
            </a:r>
          </a:p>
        </p:txBody>
      </p:sp>
      <p:graphicFrame>
        <p:nvGraphicFramePr>
          <p:cNvPr id="25" name="Chart 24"/>
          <p:cNvGraphicFramePr>
            <a:graphicFrameLocks noGrp="1"/>
          </p:cNvGraphicFramePr>
          <p:nvPr/>
        </p:nvGraphicFramePr>
        <p:xfrm>
          <a:off x="238125" y="3448050"/>
          <a:ext cx="2705100" cy="1704975"/>
        </p:xfrm>
        <a:graphic>
          <a:graphicData uri="http://schemas.openxmlformats.org/drawingml/2006/chart">
            <c:chart xmlns:c="http://schemas.openxmlformats.org/drawingml/2006/chart" xmlns:r="http://schemas.openxmlformats.org/officeDocument/2006/relationships" r:id="rId8"/>
          </a:graphicData>
        </a:graphic>
      </p:graphicFrame>
      <p:sp>
        <p:nvSpPr>
          <p:cNvPr id="26" name="Rounded Rectangle 25"/>
          <p:cNvSpPr/>
          <p:nvPr/>
        </p:nvSpPr>
        <p:spPr>
          <a:xfrm>
            <a:off x="3190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3286125" y="3219450"/>
            <a:ext cx="27051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End Use  (US$ Mn)</a:t>
            </a:r>
          </a:p>
        </p:txBody>
      </p:sp>
      <p:graphicFrame>
        <p:nvGraphicFramePr>
          <p:cNvPr id="28" name="Chart 27"/>
          <p:cNvGraphicFramePr>
            <a:graphicFrameLocks noGrp="1"/>
          </p:cNvGraphicFramePr>
          <p:nvPr/>
        </p:nvGraphicFramePr>
        <p:xfrm>
          <a:off x="3286125" y="3448050"/>
          <a:ext cx="2705100" cy="1704975"/>
        </p:xfrm>
        <a:graphic>
          <a:graphicData uri="http://schemas.openxmlformats.org/drawingml/2006/chart">
            <c:chart xmlns:c="http://schemas.openxmlformats.org/drawingml/2006/chart" xmlns:r="http://schemas.openxmlformats.org/officeDocument/2006/relationships" r:id="rId9"/>
          </a:graphicData>
        </a:graphic>
      </p:graphicFrame>
      <p:sp>
        <p:nvSpPr>
          <p:cNvPr id="29" name="Rounded Rectangle 28"/>
          <p:cNvSpPr/>
          <p:nvPr/>
        </p:nvSpPr>
        <p:spPr>
          <a:xfrm>
            <a:off x="6238875" y="3162300"/>
            <a:ext cx="28956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6334125" y="3219450"/>
            <a:ext cx="27051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By Sales Channel  (US$ Mn)</a:t>
            </a:r>
          </a:p>
        </p:txBody>
      </p:sp>
      <p:graphicFrame>
        <p:nvGraphicFramePr>
          <p:cNvPr id="31" name="Chart 30"/>
          <p:cNvGraphicFramePr>
            <a:graphicFrameLocks noGrp="1"/>
          </p:cNvGraphicFramePr>
          <p:nvPr/>
        </p:nvGraphicFramePr>
        <p:xfrm>
          <a:off x="6334125" y="3448050"/>
          <a:ext cx="2705100" cy="1704975"/>
        </p:xfrm>
        <a:graphic>
          <a:graphicData uri="http://schemas.openxmlformats.org/drawingml/2006/chart">
            <c:chart xmlns:c="http://schemas.openxmlformats.org/drawingml/2006/chart" xmlns:r="http://schemas.openxmlformats.org/officeDocument/2006/relationships" r:id="rId10"/>
          </a:graphicData>
        </a:graphic>
      </p:graphicFrame>
      <p:sp>
        <p:nvSpPr>
          <p:cNvPr id="32" name="Rounded Rectangle 31"/>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TextBox 32"/>
          <p:cNvSpPr txBox="1"/>
          <p:nvPr/>
        </p:nvSpPr>
        <p:spPr>
          <a:xfrm>
            <a:off x="276225" y="5429250"/>
            <a:ext cx="11639550" cy="209550"/>
          </a:xfrm>
          <a:prstGeom prst="rect">
            <a:avLst/>
          </a:prstGeom>
          <a:noFill/>
        </p:spPr>
        <p:txBody>
          <a:bodyPr wrap="square" lIns="0" tIns="9525" rIns="19050" bIns="9525">
            <a:spAutoFit/>
          </a:bodyPr>
          <a:lstStyle/>
          <a:p>
            <a:pPr algn="l"/>
            <a:endParaRPr/>
          </a:p>
        </p:txBody>
      </p:sp>
      <p:sp>
        <p:nvSpPr>
          <p:cNvPr id="34" name="Rectangle 33"/>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276225" y="5753100"/>
            <a:ext cx="11639550" cy="790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36" name="TextBox 35"/>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11"/>
          <a:stretch>
            <a:fillRect/>
          </a:stretch>
        </p:blipFill>
        <p:spPr>
          <a:xfrm>
            <a:off x="1811655" y="1900237"/>
            <a:ext cx="183356" cy="266700"/>
          </a:xfrm>
          <a:prstGeom prst="rect">
            <a:avLst/>
          </a:prstGeom>
        </p:spPr>
      </p:pic>
      <p:pic>
        <p:nvPicPr>
          <p:cNvPr id="38" name="Picture 37" descr="lock.png"/>
          <p:cNvPicPr>
            <a:picLocks noChangeAspect="1"/>
          </p:cNvPicPr>
          <p:nvPr/>
        </p:nvPicPr>
        <p:blipFill>
          <a:blip r:embed="rId11"/>
          <a:stretch>
            <a:fillRect/>
          </a:stretch>
        </p:blipFill>
        <p:spPr>
          <a:xfrm>
            <a:off x="4821555" y="1900237"/>
            <a:ext cx="183356" cy="266700"/>
          </a:xfrm>
          <a:prstGeom prst="rect">
            <a:avLst/>
          </a:prstGeom>
        </p:spPr>
      </p:pic>
      <p:pic>
        <p:nvPicPr>
          <p:cNvPr id="39" name="Picture 38" descr="lock.png"/>
          <p:cNvPicPr>
            <a:picLocks noChangeAspect="1"/>
          </p:cNvPicPr>
          <p:nvPr/>
        </p:nvPicPr>
        <p:blipFill>
          <a:blip r:embed="rId11"/>
          <a:stretch>
            <a:fillRect/>
          </a:stretch>
        </p:blipFill>
        <p:spPr>
          <a:xfrm>
            <a:off x="7831455" y="1900237"/>
            <a:ext cx="183356" cy="266700"/>
          </a:xfrm>
          <a:prstGeom prst="rect">
            <a:avLst/>
          </a:prstGeom>
        </p:spPr>
      </p:pic>
      <p:pic>
        <p:nvPicPr>
          <p:cNvPr id="40" name="Picture 39" descr="lock.png"/>
          <p:cNvPicPr>
            <a:picLocks noChangeAspect="1"/>
          </p:cNvPicPr>
          <p:nvPr/>
        </p:nvPicPr>
        <p:blipFill>
          <a:blip r:embed="rId11"/>
          <a:stretch>
            <a:fillRect/>
          </a:stretch>
        </p:blipFill>
        <p:spPr>
          <a:xfrm>
            <a:off x="10841355" y="1900237"/>
            <a:ext cx="183356" cy="266700"/>
          </a:xfrm>
          <a:prstGeom prst="rect">
            <a:avLst/>
          </a:prstGeom>
        </p:spPr>
      </p:pic>
      <p:pic>
        <p:nvPicPr>
          <p:cNvPr id="41" name="Picture 40" descr="lock.png"/>
          <p:cNvPicPr>
            <a:picLocks noChangeAspect="1"/>
          </p:cNvPicPr>
          <p:nvPr/>
        </p:nvPicPr>
        <p:blipFill>
          <a:blip r:embed="rId11"/>
          <a:stretch>
            <a:fillRect/>
          </a:stretch>
        </p:blipFill>
        <p:spPr>
          <a:xfrm>
            <a:off x="1830705" y="4081462"/>
            <a:ext cx="183356" cy="266700"/>
          </a:xfrm>
          <a:prstGeom prst="rect">
            <a:avLst/>
          </a:prstGeom>
        </p:spPr>
      </p:pic>
      <p:pic>
        <p:nvPicPr>
          <p:cNvPr id="42" name="Picture 41" descr="lock.png"/>
          <p:cNvPicPr>
            <a:picLocks noChangeAspect="1"/>
          </p:cNvPicPr>
          <p:nvPr/>
        </p:nvPicPr>
        <p:blipFill>
          <a:blip r:embed="rId11"/>
          <a:stretch>
            <a:fillRect/>
          </a:stretch>
        </p:blipFill>
        <p:spPr>
          <a:xfrm>
            <a:off x="4878705" y="4081462"/>
            <a:ext cx="183356" cy="266700"/>
          </a:xfrm>
          <a:prstGeom prst="rect">
            <a:avLst/>
          </a:prstGeom>
        </p:spPr>
      </p:pic>
      <p:pic>
        <p:nvPicPr>
          <p:cNvPr id="43" name="Picture 42" descr="lock.png"/>
          <p:cNvPicPr>
            <a:picLocks noChangeAspect="1"/>
          </p:cNvPicPr>
          <p:nvPr/>
        </p:nvPicPr>
        <p:blipFill>
          <a:blip r:embed="rId11"/>
          <a:stretch>
            <a:fillRect/>
          </a:stretch>
        </p:blipFill>
        <p:spPr>
          <a:xfrm>
            <a:off x="7926705" y="4081462"/>
            <a:ext cx="183356" cy="266700"/>
          </a:xfrm>
          <a:prstGeom prst="rect">
            <a:avLst/>
          </a:prstGeom>
        </p:spPr>
      </p:pic>
      <p:sp>
        <p:nvSpPr>
          <p:cNvPr id="44" name="TextBox 43"/>
          <p:cNvSpPr txBox="1"/>
          <p:nvPr/>
        </p:nvSpPr>
        <p:spPr>
          <a:xfrm>
            <a:off x="276225" y="5438775"/>
            <a:ext cx="1468037" cy="161696"/>
          </a:xfrm>
          <a:prstGeom prst="rect">
            <a:avLst/>
          </a:prstGeom>
          <a:noFill/>
        </p:spPr>
        <p:txBody>
          <a:bodyPr wrap="none" lIns="0" tIns="0" rIns="0" bIns="0">
            <a:spAutoFit/>
          </a:bodyPr>
          <a:lstStyle/>
          <a:p>
            <a:r>
              <a:rPr sz="935" b="1">
                <a:solidFill>
                  <a:srgbClr val="0B2E4A"/>
                </a:solidFill>
                <a:latin typeface="Calibri"/>
              </a:rPr>
              <a:t>Key Takeaways · 2026 Total:</a:t>
            </a:r>
          </a:p>
        </p:txBody>
      </p:sp>
      <p:pic>
        <p:nvPicPr>
          <p:cNvPr id="45" name="Picture 44" descr="lock.png"/>
          <p:cNvPicPr>
            <a:picLocks noChangeAspect="1"/>
          </p:cNvPicPr>
          <p:nvPr/>
        </p:nvPicPr>
        <p:blipFill>
          <a:blip r:embed="rId11"/>
          <a:stretch>
            <a:fillRect/>
          </a:stretch>
        </p:blipFill>
        <p:spPr>
          <a:xfrm>
            <a:off x="1688698" y="5430453"/>
            <a:ext cx="109510" cy="159288"/>
          </a:xfrm>
          <a:prstGeom prst="rect">
            <a:avLst/>
          </a:prstGeom>
        </p:spPr>
      </p:pic>
      <p:sp>
        <p:nvSpPr>
          <p:cNvPr id="46" name="TextBox 45"/>
          <p:cNvSpPr txBox="1"/>
          <p:nvPr/>
        </p:nvSpPr>
        <p:spPr>
          <a:xfrm>
            <a:off x="1831222" y="5438775"/>
            <a:ext cx="465087" cy="161696"/>
          </a:xfrm>
          <a:prstGeom prst="rect">
            <a:avLst/>
          </a:prstGeom>
          <a:noFill/>
        </p:spPr>
        <p:txBody>
          <a:bodyPr wrap="none" lIns="0" tIns="0" rIns="0" bIns="0">
            <a:spAutoFit/>
          </a:bodyPr>
          <a:lstStyle/>
          <a:p>
            <a:r>
              <a:rPr sz="935" b="1">
                <a:solidFill>
                  <a:srgbClr val="0B2E4A"/>
                </a:solidFill>
                <a:latin typeface="Calibri"/>
              </a:rPr>
              <a:t>US$ Mn</a:t>
            </a:r>
          </a:p>
        </p:txBody>
      </p:sp>
      <p:sp>
        <p:nvSpPr>
          <p:cNvPr id="47" name="TextBox 46"/>
          <p:cNvSpPr txBox="1"/>
          <p:nvPr/>
        </p:nvSpPr>
        <p:spPr>
          <a:xfrm>
            <a:off x="276225" y="5762625"/>
            <a:ext cx="3337485" cy="194310"/>
          </a:xfrm>
          <a:prstGeom prst="rect">
            <a:avLst/>
          </a:prstGeom>
          <a:noFill/>
        </p:spPr>
        <p:txBody>
          <a:bodyPr wrap="none" lIns="0" tIns="0" rIns="0" bIns="0">
            <a:spAutoFit/>
          </a:bodyPr>
          <a:lstStyle/>
          <a:p>
            <a:r>
              <a:rPr sz="1150" b="0">
                <a:solidFill>
                  <a:srgbClr val="2E2E2E"/>
                </a:solidFill>
                <a:latin typeface="Calibri"/>
              </a:rPr>
              <a:t>▪ By Partition Type, 'Flat Dividers &amp; Layer Pads' leads at</a:t>
            </a:r>
          </a:p>
        </p:txBody>
      </p:sp>
      <p:pic>
        <p:nvPicPr>
          <p:cNvPr id="48" name="Picture 47" descr="lock.png"/>
          <p:cNvPicPr>
            <a:picLocks noChangeAspect="1"/>
          </p:cNvPicPr>
          <p:nvPr/>
        </p:nvPicPr>
        <p:blipFill>
          <a:blip r:embed="rId11"/>
          <a:stretch>
            <a:fillRect/>
          </a:stretch>
        </p:blipFill>
        <p:spPr>
          <a:xfrm>
            <a:off x="3562864" y="5752401"/>
            <a:ext cx="134549" cy="195707"/>
          </a:xfrm>
          <a:prstGeom prst="rect">
            <a:avLst/>
          </a:prstGeom>
        </p:spPr>
      </p:pic>
      <p:sp>
        <p:nvSpPr>
          <p:cNvPr id="49" name="TextBox 48"/>
          <p:cNvSpPr txBox="1"/>
          <p:nvPr/>
        </p:nvSpPr>
        <p:spPr>
          <a:xfrm>
            <a:off x="3737973" y="5762625"/>
            <a:ext cx="623316" cy="194310"/>
          </a:xfrm>
          <a:prstGeom prst="rect">
            <a:avLst/>
          </a:prstGeom>
          <a:noFill/>
        </p:spPr>
        <p:txBody>
          <a:bodyPr wrap="none" lIns="0" tIns="0" rIns="0" bIns="0">
            <a:spAutoFit/>
          </a:bodyPr>
          <a:lstStyle/>
          <a:p>
            <a:r>
              <a:rPr sz="1150" b="0">
                <a:solidFill>
                  <a:srgbClr val="2E2E2E"/>
                </a:solidFill>
                <a:latin typeface="Calibri"/>
              </a:rPr>
              <a:t>US$ Mn (</a:t>
            </a:r>
          </a:p>
        </p:txBody>
      </p:sp>
      <p:pic>
        <p:nvPicPr>
          <p:cNvPr id="50" name="Picture 49" descr="lock.png"/>
          <p:cNvPicPr>
            <a:picLocks noChangeAspect="1"/>
          </p:cNvPicPr>
          <p:nvPr/>
        </p:nvPicPr>
        <p:blipFill>
          <a:blip r:embed="rId11"/>
          <a:stretch>
            <a:fillRect/>
          </a:stretch>
        </p:blipFill>
        <p:spPr>
          <a:xfrm>
            <a:off x="4310444" y="5752401"/>
            <a:ext cx="134549" cy="195707"/>
          </a:xfrm>
          <a:prstGeom prst="rect">
            <a:avLst/>
          </a:prstGeom>
        </p:spPr>
      </p:pic>
      <p:sp>
        <p:nvSpPr>
          <p:cNvPr id="51" name="TextBox 50"/>
          <p:cNvSpPr txBox="1"/>
          <p:nvPr/>
        </p:nvSpPr>
        <p:spPr>
          <a:xfrm>
            <a:off x="4485554" y="5762625"/>
            <a:ext cx="4591738" cy="194310"/>
          </a:xfrm>
          <a:prstGeom prst="rect">
            <a:avLst/>
          </a:prstGeom>
          <a:noFill/>
        </p:spPr>
        <p:txBody>
          <a:bodyPr wrap="none" lIns="0" tIns="0" rIns="0" bIns="0">
            <a:spAutoFit/>
          </a:bodyPr>
          <a:lstStyle/>
          <a:p>
            <a:r>
              <a:rPr sz="1150" b="0">
                <a:solidFill>
                  <a:srgbClr val="2E2E2E"/>
                </a:solidFill>
                <a:latin typeface="Calibri"/>
              </a:rPr>
              <a:t>share), ahead of 'Die-Cut &amp; Folded Partitions (H-dividers, tube/cell inserts)' (</a:t>
            </a:r>
          </a:p>
        </p:txBody>
      </p:sp>
      <p:pic>
        <p:nvPicPr>
          <p:cNvPr id="52" name="Picture 51" descr="lock.png"/>
          <p:cNvPicPr>
            <a:picLocks noChangeAspect="1"/>
          </p:cNvPicPr>
          <p:nvPr/>
        </p:nvPicPr>
        <p:blipFill>
          <a:blip r:embed="rId11"/>
          <a:stretch>
            <a:fillRect/>
          </a:stretch>
        </p:blipFill>
        <p:spPr>
          <a:xfrm>
            <a:off x="9026446" y="5752401"/>
            <a:ext cx="134549" cy="195707"/>
          </a:xfrm>
          <a:prstGeom prst="rect">
            <a:avLst/>
          </a:prstGeom>
        </p:spPr>
      </p:pic>
      <p:sp>
        <p:nvSpPr>
          <p:cNvPr id="53" name="TextBox 52"/>
          <p:cNvSpPr txBox="1"/>
          <p:nvPr/>
        </p:nvSpPr>
        <p:spPr>
          <a:xfrm>
            <a:off x="9201555" y="5762625"/>
            <a:ext cx="627025" cy="194310"/>
          </a:xfrm>
          <a:prstGeom prst="rect">
            <a:avLst/>
          </a:prstGeom>
          <a:noFill/>
        </p:spPr>
        <p:txBody>
          <a:bodyPr wrap="none" lIns="0" tIns="0" rIns="0" bIns="0">
            <a:spAutoFit/>
          </a:bodyPr>
          <a:lstStyle/>
          <a:p>
            <a:r>
              <a:rPr sz="1150" b="0">
                <a:solidFill>
                  <a:srgbClr val="2E2E2E"/>
                </a:solidFill>
                <a:latin typeface="Calibri"/>
              </a:rPr>
              <a:t>US$ Mn).</a:t>
            </a:r>
          </a:p>
        </p:txBody>
      </p:sp>
      <p:sp>
        <p:nvSpPr>
          <p:cNvPr id="54" name="TextBox 53"/>
          <p:cNvSpPr txBox="1"/>
          <p:nvPr/>
        </p:nvSpPr>
        <p:spPr>
          <a:xfrm>
            <a:off x="276225" y="5990463"/>
            <a:ext cx="2847419" cy="194310"/>
          </a:xfrm>
          <a:prstGeom prst="rect">
            <a:avLst/>
          </a:prstGeom>
          <a:noFill/>
        </p:spPr>
        <p:txBody>
          <a:bodyPr wrap="none" lIns="0" tIns="0" rIns="0" bIns="0">
            <a:spAutoFit/>
          </a:bodyPr>
          <a:lstStyle/>
          <a:p>
            <a:r>
              <a:rPr sz="1150" b="0">
                <a:solidFill>
                  <a:srgbClr val="2E2E2E"/>
                </a:solidFill>
                <a:latin typeface="Calibri"/>
              </a:rPr>
              <a:t>▪ By Board Construction, 'Double Wall' leads at</a:t>
            </a:r>
          </a:p>
        </p:txBody>
      </p:sp>
      <p:pic>
        <p:nvPicPr>
          <p:cNvPr id="55" name="Picture 54" descr="lock.png"/>
          <p:cNvPicPr>
            <a:picLocks noChangeAspect="1"/>
          </p:cNvPicPr>
          <p:nvPr/>
        </p:nvPicPr>
        <p:blipFill>
          <a:blip r:embed="rId11"/>
          <a:stretch>
            <a:fillRect/>
          </a:stretch>
        </p:blipFill>
        <p:spPr>
          <a:xfrm>
            <a:off x="3072798" y="5980239"/>
            <a:ext cx="134549" cy="195707"/>
          </a:xfrm>
          <a:prstGeom prst="rect">
            <a:avLst/>
          </a:prstGeom>
        </p:spPr>
      </p:pic>
      <p:sp>
        <p:nvSpPr>
          <p:cNvPr id="56" name="TextBox 55"/>
          <p:cNvSpPr txBox="1"/>
          <p:nvPr/>
        </p:nvSpPr>
        <p:spPr>
          <a:xfrm>
            <a:off x="3247907" y="5990463"/>
            <a:ext cx="623316" cy="194310"/>
          </a:xfrm>
          <a:prstGeom prst="rect">
            <a:avLst/>
          </a:prstGeom>
          <a:noFill/>
        </p:spPr>
        <p:txBody>
          <a:bodyPr wrap="none" lIns="0" tIns="0" rIns="0" bIns="0">
            <a:spAutoFit/>
          </a:bodyPr>
          <a:lstStyle/>
          <a:p>
            <a:r>
              <a:rPr sz="1150" b="0">
                <a:solidFill>
                  <a:srgbClr val="2E2E2E"/>
                </a:solidFill>
                <a:latin typeface="Calibri"/>
              </a:rPr>
              <a:t>US$ Mn (</a:t>
            </a:r>
          </a:p>
        </p:txBody>
      </p:sp>
      <p:pic>
        <p:nvPicPr>
          <p:cNvPr id="57" name="Picture 56" descr="lock.png"/>
          <p:cNvPicPr>
            <a:picLocks noChangeAspect="1"/>
          </p:cNvPicPr>
          <p:nvPr/>
        </p:nvPicPr>
        <p:blipFill>
          <a:blip r:embed="rId11"/>
          <a:stretch>
            <a:fillRect/>
          </a:stretch>
        </p:blipFill>
        <p:spPr>
          <a:xfrm>
            <a:off x="3820378" y="5980239"/>
            <a:ext cx="134549" cy="195707"/>
          </a:xfrm>
          <a:prstGeom prst="rect">
            <a:avLst/>
          </a:prstGeom>
        </p:spPr>
      </p:pic>
      <p:sp>
        <p:nvSpPr>
          <p:cNvPr id="58" name="TextBox 57"/>
          <p:cNvSpPr txBox="1"/>
          <p:nvPr/>
        </p:nvSpPr>
        <p:spPr>
          <a:xfrm>
            <a:off x="3995487" y="5990463"/>
            <a:ext cx="1852476" cy="194310"/>
          </a:xfrm>
          <a:prstGeom prst="rect">
            <a:avLst/>
          </a:prstGeom>
          <a:noFill/>
        </p:spPr>
        <p:txBody>
          <a:bodyPr wrap="none" lIns="0" tIns="0" rIns="0" bIns="0">
            <a:spAutoFit/>
          </a:bodyPr>
          <a:lstStyle/>
          <a:p>
            <a:r>
              <a:rPr sz="1150" b="0">
                <a:solidFill>
                  <a:srgbClr val="2E2E2E"/>
                </a:solidFill>
                <a:latin typeface="Calibri"/>
              </a:rPr>
              <a:t>share), ahead of 'Triple Wall' (</a:t>
            </a:r>
          </a:p>
        </p:txBody>
      </p:sp>
      <p:pic>
        <p:nvPicPr>
          <p:cNvPr id="59" name="Picture 58" descr="lock.png"/>
          <p:cNvPicPr>
            <a:picLocks noChangeAspect="1"/>
          </p:cNvPicPr>
          <p:nvPr/>
        </p:nvPicPr>
        <p:blipFill>
          <a:blip r:embed="rId11"/>
          <a:stretch>
            <a:fillRect/>
          </a:stretch>
        </p:blipFill>
        <p:spPr>
          <a:xfrm>
            <a:off x="5797117" y="5980239"/>
            <a:ext cx="134549" cy="195707"/>
          </a:xfrm>
          <a:prstGeom prst="rect">
            <a:avLst/>
          </a:prstGeom>
        </p:spPr>
      </p:pic>
      <p:sp>
        <p:nvSpPr>
          <p:cNvPr id="60" name="TextBox 59"/>
          <p:cNvSpPr txBox="1"/>
          <p:nvPr/>
        </p:nvSpPr>
        <p:spPr>
          <a:xfrm>
            <a:off x="5972227" y="5990463"/>
            <a:ext cx="627025" cy="194310"/>
          </a:xfrm>
          <a:prstGeom prst="rect">
            <a:avLst/>
          </a:prstGeom>
          <a:noFill/>
        </p:spPr>
        <p:txBody>
          <a:bodyPr wrap="none" lIns="0" tIns="0" rIns="0" bIns="0">
            <a:spAutoFit/>
          </a:bodyPr>
          <a:lstStyle/>
          <a:p>
            <a:r>
              <a:rPr sz="1150" b="0">
                <a:solidFill>
                  <a:srgbClr val="2E2E2E"/>
                </a:solidFill>
                <a:latin typeface="Calibri"/>
              </a:rPr>
              <a:t>US$ Mn).</a:t>
            </a:r>
          </a:p>
        </p:txBody>
      </p:sp>
      <p:sp>
        <p:nvSpPr>
          <p:cNvPr id="61" name="TextBox 60"/>
          <p:cNvSpPr txBox="1"/>
          <p:nvPr/>
        </p:nvSpPr>
        <p:spPr>
          <a:xfrm>
            <a:off x="276225" y="6218300"/>
            <a:ext cx="3316055" cy="194310"/>
          </a:xfrm>
          <a:prstGeom prst="rect">
            <a:avLst/>
          </a:prstGeom>
          <a:noFill/>
        </p:spPr>
        <p:txBody>
          <a:bodyPr wrap="none" lIns="0" tIns="0" rIns="0" bIns="0">
            <a:spAutoFit/>
          </a:bodyPr>
          <a:lstStyle/>
          <a:p>
            <a:r>
              <a:rPr sz="1150" b="0">
                <a:solidFill>
                  <a:srgbClr val="2E2E2E"/>
                </a:solidFill>
                <a:latin typeface="Calibri"/>
              </a:rPr>
              <a:t>▪ By Material Source, 'Virgin Kraft Fibre-based' leads at</a:t>
            </a:r>
          </a:p>
        </p:txBody>
      </p:sp>
      <p:pic>
        <p:nvPicPr>
          <p:cNvPr id="62" name="Picture 61" descr="lock.png"/>
          <p:cNvPicPr>
            <a:picLocks noChangeAspect="1"/>
          </p:cNvPicPr>
          <p:nvPr/>
        </p:nvPicPr>
        <p:blipFill>
          <a:blip r:embed="rId11"/>
          <a:stretch>
            <a:fillRect/>
          </a:stretch>
        </p:blipFill>
        <p:spPr>
          <a:xfrm>
            <a:off x="3541434" y="6208077"/>
            <a:ext cx="134549" cy="195707"/>
          </a:xfrm>
          <a:prstGeom prst="rect">
            <a:avLst/>
          </a:prstGeom>
        </p:spPr>
      </p:pic>
      <p:sp>
        <p:nvSpPr>
          <p:cNvPr id="63" name="TextBox 62"/>
          <p:cNvSpPr txBox="1"/>
          <p:nvPr/>
        </p:nvSpPr>
        <p:spPr>
          <a:xfrm>
            <a:off x="3716544" y="6218300"/>
            <a:ext cx="623316" cy="194310"/>
          </a:xfrm>
          <a:prstGeom prst="rect">
            <a:avLst/>
          </a:prstGeom>
          <a:noFill/>
        </p:spPr>
        <p:txBody>
          <a:bodyPr wrap="none" lIns="0" tIns="0" rIns="0" bIns="0">
            <a:spAutoFit/>
          </a:bodyPr>
          <a:lstStyle/>
          <a:p>
            <a:r>
              <a:rPr sz="1150" b="0">
                <a:solidFill>
                  <a:srgbClr val="2E2E2E"/>
                </a:solidFill>
                <a:latin typeface="Calibri"/>
              </a:rPr>
              <a:t>US$ Mn (</a:t>
            </a:r>
          </a:p>
        </p:txBody>
      </p:sp>
      <p:pic>
        <p:nvPicPr>
          <p:cNvPr id="64" name="Picture 63" descr="lock.png"/>
          <p:cNvPicPr>
            <a:picLocks noChangeAspect="1"/>
          </p:cNvPicPr>
          <p:nvPr/>
        </p:nvPicPr>
        <p:blipFill>
          <a:blip r:embed="rId11"/>
          <a:stretch>
            <a:fillRect/>
          </a:stretch>
        </p:blipFill>
        <p:spPr>
          <a:xfrm>
            <a:off x="4289015" y="6208077"/>
            <a:ext cx="134549" cy="195707"/>
          </a:xfrm>
          <a:prstGeom prst="rect">
            <a:avLst/>
          </a:prstGeom>
        </p:spPr>
      </p:pic>
      <p:sp>
        <p:nvSpPr>
          <p:cNvPr id="65" name="TextBox 64"/>
          <p:cNvSpPr txBox="1"/>
          <p:nvPr/>
        </p:nvSpPr>
        <p:spPr>
          <a:xfrm>
            <a:off x="4464124" y="6218300"/>
            <a:ext cx="4167311" cy="194310"/>
          </a:xfrm>
          <a:prstGeom prst="rect">
            <a:avLst/>
          </a:prstGeom>
          <a:noFill/>
        </p:spPr>
        <p:txBody>
          <a:bodyPr wrap="none" lIns="0" tIns="0" rIns="0" bIns="0">
            <a:spAutoFit/>
          </a:bodyPr>
          <a:lstStyle/>
          <a:p>
            <a:r>
              <a:rPr sz="1150" b="0">
                <a:solidFill>
                  <a:srgbClr val="2E2E2E"/>
                </a:solidFill>
                <a:latin typeface="Calibri"/>
              </a:rPr>
              <a:t>share), ahead of 'Recycled Fibre-based (testliner/recycled medium)' (</a:t>
            </a:r>
          </a:p>
        </p:txBody>
      </p:sp>
      <p:pic>
        <p:nvPicPr>
          <p:cNvPr id="66" name="Picture 65" descr="lock.png"/>
          <p:cNvPicPr>
            <a:picLocks noChangeAspect="1"/>
          </p:cNvPicPr>
          <p:nvPr/>
        </p:nvPicPr>
        <p:blipFill>
          <a:blip r:embed="rId11"/>
          <a:stretch>
            <a:fillRect/>
          </a:stretch>
        </p:blipFill>
        <p:spPr>
          <a:xfrm>
            <a:off x="8580589" y="6208077"/>
            <a:ext cx="134549" cy="195707"/>
          </a:xfrm>
          <a:prstGeom prst="rect">
            <a:avLst/>
          </a:prstGeom>
        </p:spPr>
      </p:pic>
      <p:sp>
        <p:nvSpPr>
          <p:cNvPr id="67" name="TextBox 66"/>
          <p:cNvSpPr txBox="1"/>
          <p:nvPr/>
        </p:nvSpPr>
        <p:spPr>
          <a:xfrm>
            <a:off x="8755699" y="6218300"/>
            <a:ext cx="627025" cy="194310"/>
          </a:xfrm>
          <a:prstGeom prst="rect">
            <a:avLst/>
          </a:prstGeom>
          <a:noFill/>
        </p:spPr>
        <p:txBody>
          <a:bodyPr wrap="none" lIns="0" tIns="0" rIns="0" bIns="0">
            <a:spAutoFit/>
          </a:bodyPr>
          <a:lstStyle/>
          <a:p>
            <a:r>
              <a:rPr sz="1150" b="0">
                <a:solidFill>
                  <a:srgbClr val="2E2E2E"/>
                </a:solidFill>
                <a:latin typeface="Calibri"/>
              </a:rPr>
              <a:t>US$ Mn).</a:t>
            </a:r>
          </a:p>
        </p:txBody>
      </p:sp>
      <p:sp>
        <p:nvSpPr>
          <p:cNvPr id="68" name="lockshield_13"/>
          <p:cNvSpPr/>
          <p:nvPr/>
        </p:nvSpPr>
        <p:spPr>
          <a:xfrm>
            <a:off x="2381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lockshield_16"/>
          <p:cNvSpPr/>
          <p:nvPr/>
        </p:nvSpPr>
        <p:spPr>
          <a:xfrm>
            <a:off x="32480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lockshield_19"/>
          <p:cNvSpPr/>
          <p:nvPr/>
        </p:nvSpPr>
        <p:spPr>
          <a:xfrm>
            <a:off x="62579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lockshield_22"/>
          <p:cNvSpPr/>
          <p:nvPr/>
        </p:nvSpPr>
        <p:spPr>
          <a:xfrm>
            <a:off x="92678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lockshield_25"/>
          <p:cNvSpPr/>
          <p:nvPr/>
        </p:nvSpPr>
        <p:spPr>
          <a:xfrm>
            <a:off x="238125" y="3448050"/>
            <a:ext cx="27051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lockshield_28"/>
          <p:cNvSpPr/>
          <p:nvPr/>
        </p:nvSpPr>
        <p:spPr>
          <a:xfrm>
            <a:off x="3286125" y="3448050"/>
            <a:ext cx="27051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lockshield_31"/>
          <p:cNvSpPr/>
          <p:nvPr/>
        </p:nvSpPr>
        <p:spPr>
          <a:xfrm>
            <a:off x="6334125" y="3448050"/>
            <a:ext cx="27051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42875" y="981075"/>
            <a:ext cx="119062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76225" y="1066800"/>
            <a:ext cx="11639550" cy="209550"/>
          </a:xfrm>
          <a:prstGeom prst="rect">
            <a:avLst/>
          </a:prstGeom>
          <a:noFill/>
        </p:spPr>
        <p:txBody>
          <a:bodyPr wrap="square" lIns="0" tIns="9525" rIns="19050" bIns="9525">
            <a:spAutoFit/>
          </a:bodyPr>
          <a:lstStyle/>
          <a:p>
            <a:pPr algn="l"/>
            <a:endParaRP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76225" y="1390650"/>
            <a:ext cx="11639550" cy="12858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4" name="TextBox 1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15" name="TextBox 14"/>
          <p:cNvSpPr txBox="1"/>
          <p:nvPr/>
        </p:nvSpPr>
        <p:spPr>
          <a:xfrm>
            <a:off x="276225" y="1076325"/>
            <a:ext cx="1468037" cy="161696"/>
          </a:xfrm>
          <a:prstGeom prst="rect">
            <a:avLst/>
          </a:prstGeom>
          <a:noFill/>
        </p:spPr>
        <p:txBody>
          <a:bodyPr wrap="none" lIns="0" tIns="0" rIns="0" bIns="0">
            <a:spAutoFit/>
          </a:bodyPr>
          <a:lstStyle/>
          <a:p>
            <a:r>
              <a:rPr sz="935" b="1">
                <a:solidFill>
                  <a:srgbClr val="0B2E4A"/>
                </a:solidFill>
                <a:latin typeface="Calibri"/>
              </a:rPr>
              <a:t>Key Takeaways · 2026 Total:</a:t>
            </a:r>
          </a:p>
        </p:txBody>
      </p:sp>
      <p:pic>
        <p:nvPicPr>
          <p:cNvPr id="16" name="Picture 15" descr="lock.png"/>
          <p:cNvPicPr>
            <a:picLocks noChangeAspect="1"/>
          </p:cNvPicPr>
          <p:nvPr/>
        </p:nvPicPr>
        <p:blipFill>
          <a:blip r:embed="rId4"/>
          <a:stretch>
            <a:fillRect/>
          </a:stretch>
        </p:blipFill>
        <p:spPr>
          <a:xfrm>
            <a:off x="1688698" y="1068003"/>
            <a:ext cx="109510" cy="159288"/>
          </a:xfrm>
          <a:prstGeom prst="rect">
            <a:avLst/>
          </a:prstGeom>
        </p:spPr>
      </p:pic>
      <p:sp>
        <p:nvSpPr>
          <p:cNvPr id="17" name="TextBox 16"/>
          <p:cNvSpPr txBox="1"/>
          <p:nvPr/>
        </p:nvSpPr>
        <p:spPr>
          <a:xfrm>
            <a:off x="1831222" y="1076325"/>
            <a:ext cx="465087" cy="161696"/>
          </a:xfrm>
          <a:prstGeom prst="rect">
            <a:avLst/>
          </a:prstGeom>
          <a:noFill/>
        </p:spPr>
        <p:txBody>
          <a:bodyPr wrap="none" lIns="0" tIns="0" rIns="0" bIns="0">
            <a:spAutoFit/>
          </a:bodyPr>
          <a:lstStyle/>
          <a:p>
            <a:r>
              <a:rPr sz="935" b="1">
                <a:solidFill>
                  <a:srgbClr val="0B2E4A"/>
                </a:solidFill>
                <a:latin typeface="Calibri"/>
              </a:rPr>
              <a:t>US$ Mn</a:t>
            </a:r>
          </a:p>
        </p:txBody>
      </p:sp>
      <p:sp>
        <p:nvSpPr>
          <p:cNvPr id="18" name="TextBox 17"/>
          <p:cNvSpPr txBox="1"/>
          <p:nvPr/>
        </p:nvSpPr>
        <p:spPr>
          <a:xfrm>
            <a:off x="276225" y="1400175"/>
            <a:ext cx="2660355" cy="186689"/>
          </a:xfrm>
          <a:prstGeom prst="rect">
            <a:avLst/>
          </a:prstGeom>
          <a:noFill/>
        </p:spPr>
        <p:txBody>
          <a:bodyPr wrap="none" lIns="0" tIns="0" rIns="0" bIns="0">
            <a:spAutoFit/>
          </a:bodyPr>
          <a:lstStyle/>
          <a:p>
            <a:r>
              <a:rPr sz="1100" b="0">
                <a:solidFill>
                  <a:srgbClr val="2E2E2E"/>
                </a:solidFill>
                <a:latin typeface="Calibri"/>
              </a:rPr>
              <a:t>▪ By Cell Configuration, 'Up to 4 Cells' leads at</a:t>
            </a:r>
          </a:p>
        </p:txBody>
      </p:sp>
      <p:pic>
        <p:nvPicPr>
          <p:cNvPr id="19" name="Picture 18" descr="lock.png"/>
          <p:cNvPicPr>
            <a:picLocks noChangeAspect="1"/>
          </p:cNvPicPr>
          <p:nvPr/>
        </p:nvPicPr>
        <p:blipFill>
          <a:blip r:embed="rId4"/>
          <a:stretch>
            <a:fillRect/>
          </a:stretch>
        </p:blipFill>
        <p:spPr>
          <a:xfrm>
            <a:off x="2884632" y="1390396"/>
            <a:ext cx="128699" cy="187198"/>
          </a:xfrm>
          <a:prstGeom prst="rect">
            <a:avLst/>
          </a:prstGeom>
        </p:spPr>
      </p:pic>
      <p:sp>
        <p:nvSpPr>
          <p:cNvPr id="20" name="TextBox 19"/>
          <p:cNvSpPr txBox="1"/>
          <p:nvPr/>
        </p:nvSpPr>
        <p:spPr>
          <a:xfrm>
            <a:off x="3052128" y="1400175"/>
            <a:ext cx="599529" cy="186689"/>
          </a:xfrm>
          <a:prstGeom prst="rect">
            <a:avLst/>
          </a:prstGeom>
          <a:noFill/>
        </p:spPr>
        <p:txBody>
          <a:bodyPr wrap="none" lIns="0" tIns="0" rIns="0" bIns="0">
            <a:spAutoFit/>
          </a:bodyPr>
          <a:lstStyle/>
          <a:p>
            <a:r>
              <a:rPr sz="1100" b="0">
                <a:solidFill>
                  <a:srgbClr val="2E2E2E"/>
                </a:solidFill>
                <a:latin typeface="Calibri"/>
              </a:rPr>
              <a:t>US$ Mn (</a:t>
            </a:r>
          </a:p>
        </p:txBody>
      </p:sp>
      <p:pic>
        <p:nvPicPr>
          <p:cNvPr id="21" name="Picture 20" descr="lock.png"/>
          <p:cNvPicPr>
            <a:picLocks noChangeAspect="1"/>
          </p:cNvPicPr>
          <p:nvPr/>
        </p:nvPicPr>
        <p:blipFill>
          <a:blip r:embed="rId4"/>
          <a:stretch>
            <a:fillRect/>
          </a:stretch>
        </p:blipFill>
        <p:spPr>
          <a:xfrm>
            <a:off x="3599709" y="1390396"/>
            <a:ext cx="128699" cy="187198"/>
          </a:xfrm>
          <a:prstGeom prst="rect">
            <a:avLst/>
          </a:prstGeom>
        </p:spPr>
      </p:pic>
      <p:sp>
        <p:nvSpPr>
          <p:cNvPr id="22" name="TextBox 21"/>
          <p:cNvSpPr txBox="1"/>
          <p:nvPr/>
        </p:nvSpPr>
        <p:spPr>
          <a:xfrm>
            <a:off x="3767204" y="1400175"/>
            <a:ext cx="1854919" cy="186689"/>
          </a:xfrm>
          <a:prstGeom prst="rect">
            <a:avLst/>
          </a:prstGeom>
          <a:noFill/>
        </p:spPr>
        <p:txBody>
          <a:bodyPr wrap="none" lIns="0" tIns="0" rIns="0" bIns="0">
            <a:spAutoFit/>
          </a:bodyPr>
          <a:lstStyle/>
          <a:p>
            <a:r>
              <a:rPr sz="1100" b="0">
                <a:solidFill>
                  <a:srgbClr val="2E2E2E"/>
                </a:solidFill>
                <a:latin typeface="Calibri"/>
              </a:rPr>
              <a:t>share), ahead of '6 to 12 Cells' (</a:t>
            </a:r>
          </a:p>
        </p:txBody>
      </p:sp>
      <p:pic>
        <p:nvPicPr>
          <p:cNvPr id="23" name="Picture 22" descr="lock.png"/>
          <p:cNvPicPr>
            <a:picLocks noChangeAspect="1"/>
          </p:cNvPicPr>
          <p:nvPr/>
        </p:nvPicPr>
        <p:blipFill>
          <a:blip r:embed="rId4"/>
          <a:stretch>
            <a:fillRect/>
          </a:stretch>
        </p:blipFill>
        <p:spPr>
          <a:xfrm>
            <a:off x="5570175" y="1390396"/>
            <a:ext cx="128699" cy="187198"/>
          </a:xfrm>
          <a:prstGeom prst="rect">
            <a:avLst/>
          </a:prstGeom>
        </p:spPr>
      </p:pic>
      <p:sp>
        <p:nvSpPr>
          <p:cNvPr id="24" name="TextBox 23"/>
          <p:cNvSpPr txBox="1"/>
          <p:nvPr/>
        </p:nvSpPr>
        <p:spPr>
          <a:xfrm>
            <a:off x="5737671" y="1400175"/>
            <a:ext cx="60307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25" name="TextBox 24"/>
          <p:cNvSpPr txBox="1"/>
          <p:nvPr/>
        </p:nvSpPr>
        <p:spPr>
          <a:xfrm>
            <a:off x="276225" y="1618107"/>
            <a:ext cx="2866631" cy="186689"/>
          </a:xfrm>
          <a:prstGeom prst="rect">
            <a:avLst/>
          </a:prstGeom>
          <a:noFill/>
        </p:spPr>
        <p:txBody>
          <a:bodyPr wrap="none" lIns="0" tIns="0" rIns="0" bIns="0">
            <a:spAutoFit/>
          </a:bodyPr>
          <a:lstStyle/>
          <a:p>
            <a:r>
              <a:rPr sz="1100" b="0">
                <a:solidFill>
                  <a:srgbClr val="2E2E2E"/>
                </a:solidFill>
                <a:latin typeface="Calibri"/>
              </a:rPr>
              <a:t>▪ By Customization, 'Custom-Engineered' leads at</a:t>
            </a:r>
          </a:p>
        </p:txBody>
      </p:sp>
      <p:pic>
        <p:nvPicPr>
          <p:cNvPr id="26" name="Picture 25" descr="lock.png"/>
          <p:cNvPicPr>
            <a:picLocks noChangeAspect="1"/>
          </p:cNvPicPr>
          <p:nvPr/>
        </p:nvPicPr>
        <p:blipFill>
          <a:blip r:embed="rId4"/>
          <a:stretch>
            <a:fillRect/>
          </a:stretch>
        </p:blipFill>
        <p:spPr>
          <a:xfrm>
            <a:off x="3090908" y="1608328"/>
            <a:ext cx="128699" cy="187198"/>
          </a:xfrm>
          <a:prstGeom prst="rect">
            <a:avLst/>
          </a:prstGeom>
        </p:spPr>
      </p:pic>
      <p:sp>
        <p:nvSpPr>
          <p:cNvPr id="27" name="TextBox 26"/>
          <p:cNvSpPr txBox="1"/>
          <p:nvPr/>
        </p:nvSpPr>
        <p:spPr>
          <a:xfrm>
            <a:off x="3258404" y="1618107"/>
            <a:ext cx="599529" cy="186689"/>
          </a:xfrm>
          <a:prstGeom prst="rect">
            <a:avLst/>
          </a:prstGeom>
          <a:noFill/>
        </p:spPr>
        <p:txBody>
          <a:bodyPr wrap="none" lIns="0" tIns="0" rIns="0" bIns="0">
            <a:spAutoFit/>
          </a:bodyPr>
          <a:lstStyle/>
          <a:p>
            <a:r>
              <a:rPr sz="1100" b="0">
                <a:solidFill>
                  <a:srgbClr val="2E2E2E"/>
                </a:solidFill>
                <a:latin typeface="Calibri"/>
              </a:rPr>
              <a:t>US$ Mn (</a:t>
            </a:r>
          </a:p>
        </p:txBody>
      </p:sp>
      <p:pic>
        <p:nvPicPr>
          <p:cNvPr id="28" name="Picture 27" descr="lock.png"/>
          <p:cNvPicPr>
            <a:picLocks noChangeAspect="1"/>
          </p:cNvPicPr>
          <p:nvPr/>
        </p:nvPicPr>
        <p:blipFill>
          <a:blip r:embed="rId4"/>
          <a:stretch>
            <a:fillRect/>
          </a:stretch>
        </p:blipFill>
        <p:spPr>
          <a:xfrm>
            <a:off x="3805984" y="1608328"/>
            <a:ext cx="128699" cy="187198"/>
          </a:xfrm>
          <a:prstGeom prst="rect">
            <a:avLst/>
          </a:prstGeom>
        </p:spPr>
      </p:pic>
      <p:sp>
        <p:nvSpPr>
          <p:cNvPr id="29" name="TextBox 28"/>
          <p:cNvSpPr txBox="1"/>
          <p:nvPr/>
        </p:nvSpPr>
        <p:spPr>
          <a:xfrm>
            <a:off x="3973480" y="1618107"/>
            <a:ext cx="2409353" cy="186689"/>
          </a:xfrm>
          <a:prstGeom prst="rect">
            <a:avLst/>
          </a:prstGeom>
          <a:noFill/>
        </p:spPr>
        <p:txBody>
          <a:bodyPr wrap="none" lIns="0" tIns="0" rIns="0" bIns="0">
            <a:spAutoFit/>
          </a:bodyPr>
          <a:lstStyle/>
          <a:p>
            <a:r>
              <a:rPr sz="1100" b="0">
                <a:solidFill>
                  <a:srgbClr val="2E2E2E"/>
                </a:solidFill>
                <a:latin typeface="Calibri"/>
              </a:rPr>
              <a:t>share), ahead of 'Standard / Stock Sizes' (</a:t>
            </a:r>
          </a:p>
        </p:txBody>
      </p:sp>
      <p:pic>
        <p:nvPicPr>
          <p:cNvPr id="30" name="Picture 29" descr="lock.png"/>
          <p:cNvPicPr>
            <a:picLocks noChangeAspect="1"/>
          </p:cNvPicPr>
          <p:nvPr/>
        </p:nvPicPr>
        <p:blipFill>
          <a:blip r:embed="rId4"/>
          <a:stretch>
            <a:fillRect/>
          </a:stretch>
        </p:blipFill>
        <p:spPr>
          <a:xfrm>
            <a:off x="6330886" y="1608328"/>
            <a:ext cx="128699" cy="187198"/>
          </a:xfrm>
          <a:prstGeom prst="rect">
            <a:avLst/>
          </a:prstGeom>
        </p:spPr>
      </p:pic>
      <p:sp>
        <p:nvSpPr>
          <p:cNvPr id="31" name="TextBox 30"/>
          <p:cNvSpPr txBox="1"/>
          <p:nvPr/>
        </p:nvSpPr>
        <p:spPr>
          <a:xfrm>
            <a:off x="6498381" y="1618107"/>
            <a:ext cx="60307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32" name="TextBox 31"/>
          <p:cNvSpPr txBox="1"/>
          <p:nvPr/>
        </p:nvSpPr>
        <p:spPr>
          <a:xfrm>
            <a:off x="276225" y="1836039"/>
            <a:ext cx="3451625" cy="186689"/>
          </a:xfrm>
          <a:prstGeom prst="rect">
            <a:avLst/>
          </a:prstGeom>
          <a:noFill/>
        </p:spPr>
        <p:txBody>
          <a:bodyPr wrap="none" lIns="0" tIns="0" rIns="0" bIns="0">
            <a:spAutoFit/>
          </a:bodyPr>
          <a:lstStyle/>
          <a:p>
            <a:r>
              <a:rPr sz="1100" b="0">
                <a:solidFill>
                  <a:srgbClr val="2E2E2E"/>
                </a:solidFill>
                <a:latin typeface="Calibri"/>
              </a:rPr>
              <a:t>▪ By End Use, 'Glassware, Ceramics &amp; Home Goods' leads at</a:t>
            </a:r>
          </a:p>
        </p:txBody>
      </p:sp>
      <p:pic>
        <p:nvPicPr>
          <p:cNvPr id="33" name="Picture 32" descr="lock.png"/>
          <p:cNvPicPr>
            <a:picLocks noChangeAspect="1"/>
          </p:cNvPicPr>
          <p:nvPr/>
        </p:nvPicPr>
        <p:blipFill>
          <a:blip r:embed="rId4"/>
          <a:stretch>
            <a:fillRect/>
          </a:stretch>
        </p:blipFill>
        <p:spPr>
          <a:xfrm>
            <a:off x="3675901" y="1826260"/>
            <a:ext cx="128699" cy="187198"/>
          </a:xfrm>
          <a:prstGeom prst="rect">
            <a:avLst/>
          </a:prstGeom>
        </p:spPr>
      </p:pic>
      <p:sp>
        <p:nvSpPr>
          <p:cNvPr id="34" name="TextBox 33"/>
          <p:cNvSpPr txBox="1"/>
          <p:nvPr/>
        </p:nvSpPr>
        <p:spPr>
          <a:xfrm>
            <a:off x="3843397" y="1836039"/>
            <a:ext cx="599529" cy="186689"/>
          </a:xfrm>
          <a:prstGeom prst="rect">
            <a:avLst/>
          </a:prstGeom>
          <a:noFill/>
        </p:spPr>
        <p:txBody>
          <a:bodyPr wrap="none" lIns="0" tIns="0" rIns="0" bIns="0">
            <a:spAutoFit/>
          </a:bodyPr>
          <a:lstStyle/>
          <a:p>
            <a:r>
              <a:rPr sz="1100" b="0">
                <a:solidFill>
                  <a:srgbClr val="2E2E2E"/>
                </a:solidFill>
                <a:latin typeface="Calibri"/>
              </a:rPr>
              <a:t>US$ Mn (</a:t>
            </a:r>
          </a:p>
        </p:txBody>
      </p:sp>
      <p:pic>
        <p:nvPicPr>
          <p:cNvPr id="35" name="Picture 34" descr="lock.png"/>
          <p:cNvPicPr>
            <a:picLocks noChangeAspect="1"/>
          </p:cNvPicPr>
          <p:nvPr/>
        </p:nvPicPr>
        <p:blipFill>
          <a:blip r:embed="rId4"/>
          <a:stretch>
            <a:fillRect/>
          </a:stretch>
        </p:blipFill>
        <p:spPr>
          <a:xfrm>
            <a:off x="4390978" y="1826260"/>
            <a:ext cx="128699" cy="187198"/>
          </a:xfrm>
          <a:prstGeom prst="rect">
            <a:avLst/>
          </a:prstGeom>
        </p:spPr>
      </p:pic>
      <p:sp>
        <p:nvSpPr>
          <p:cNvPr id="36" name="TextBox 35"/>
          <p:cNvSpPr txBox="1"/>
          <p:nvPr/>
        </p:nvSpPr>
        <p:spPr>
          <a:xfrm>
            <a:off x="4558474" y="1836039"/>
            <a:ext cx="3287117" cy="186689"/>
          </a:xfrm>
          <a:prstGeom prst="rect">
            <a:avLst/>
          </a:prstGeom>
          <a:noFill/>
        </p:spPr>
        <p:txBody>
          <a:bodyPr wrap="none" lIns="0" tIns="0" rIns="0" bIns="0">
            <a:spAutoFit/>
          </a:bodyPr>
          <a:lstStyle/>
          <a:p>
            <a:r>
              <a:rPr sz="1100" b="0">
                <a:solidFill>
                  <a:srgbClr val="2E2E2E"/>
                </a:solidFill>
                <a:latin typeface="Calibri"/>
              </a:rPr>
              <a:t>share), ahead of 'Automotive &amp; Industrial Components' (</a:t>
            </a:r>
          </a:p>
        </p:txBody>
      </p:sp>
      <p:pic>
        <p:nvPicPr>
          <p:cNvPr id="37" name="Picture 36" descr="lock.png"/>
          <p:cNvPicPr>
            <a:picLocks noChangeAspect="1"/>
          </p:cNvPicPr>
          <p:nvPr/>
        </p:nvPicPr>
        <p:blipFill>
          <a:blip r:embed="rId4"/>
          <a:stretch>
            <a:fillRect/>
          </a:stretch>
        </p:blipFill>
        <p:spPr>
          <a:xfrm>
            <a:off x="7793643" y="1826260"/>
            <a:ext cx="128699" cy="187198"/>
          </a:xfrm>
          <a:prstGeom prst="rect">
            <a:avLst/>
          </a:prstGeom>
        </p:spPr>
      </p:pic>
      <p:sp>
        <p:nvSpPr>
          <p:cNvPr id="38" name="TextBox 37"/>
          <p:cNvSpPr txBox="1"/>
          <p:nvPr/>
        </p:nvSpPr>
        <p:spPr>
          <a:xfrm>
            <a:off x="7961139" y="1836039"/>
            <a:ext cx="60307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39" name="TextBox 38"/>
          <p:cNvSpPr txBox="1"/>
          <p:nvPr/>
        </p:nvSpPr>
        <p:spPr>
          <a:xfrm>
            <a:off x="276225" y="2053970"/>
            <a:ext cx="3499920" cy="186689"/>
          </a:xfrm>
          <a:prstGeom prst="rect">
            <a:avLst/>
          </a:prstGeom>
          <a:noFill/>
        </p:spPr>
        <p:txBody>
          <a:bodyPr wrap="none" lIns="0" tIns="0" rIns="0" bIns="0">
            <a:spAutoFit/>
          </a:bodyPr>
          <a:lstStyle/>
          <a:p>
            <a:r>
              <a:rPr sz="1100" b="0">
                <a:solidFill>
                  <a:srgbClr val="2E2E2E"/>
                </a:solidFill>
                <a:latin typeface="Calibri"/>
              </a:rPr>
              <a:t>▪ By Sales Channel, 'Direct (to brand owners/OEMs)' leads at</a:t>
            </a:r>
          </a:p>
        </p:txBody>
      </p:sp>
      <p:pic>
        <p:nvPicPr>
          <p:cNvPr id="40" name="Picture 39" descr="lock.png"/>
          <p:cNvPicPr>
            <a:picLocks noChangeAspect="1"/>
          </p:cNvPicPr>
          <p:nvPr/>
        </p:nvPicPr>
        <p:blipFill>
          <a:blip r:embed="rId4"/>
          <a:stretch>
            <a:fillRect/>
          </a:stretch>
        </p:blipFill>
        <p:spPr>
          <a:xfrm>
            <a:off x="3724196" y="2044192"/>
            <a:ext cx="128699" cy="187198"/>
          </a:xfrm>
          <a:prstGeom prst="rect">
            <a:avLst/>
          </a:prstGeom>
        </p:spPr>
      </p:pic>
      <p:sp>
        <p:nvSpPr>
          <p:cNvPr id="41" name="TextBox 40"/>
          <p:cNvSpPr txBox="1"/>
          <p:nvPr/>
        </p:nvSpPr>
        <p:spPr>
          <a:xfrm>
            <a:off x="3891692" y="2053970"/>
            <a:ext cx="599529" cy="186689"/>
          </a:xfrm>
          <a:prstGeom prst="rect">
            <a:avLst/>
          </a:prstGeom>
          <a:noFill/>
        </p:spPr>
        <p:txBody>
          <a:bodyPr wrap="none" lIns="0" tIns="0" rIns="0" bIns="0">
            <a:spAutoFit/>
          </a:bodyPr>
          <a:lstStyle/>
          <a:p>
            <a:r>
              <a:rPr sz="1100" b="0">
                <a:solidFill>
                  <a:srgbClr val="2E2E2E"/>
                </a:solidFill>
                <a:latin typeface="Calibri"/>
              </a:rPr>
              <a:t>US$ Mn (</a:t>
            </a:r>
          </a:p>
        </p:txBody>
      </p:sp>
      <p:pic>
        <p:nvPicPr>
          <p:cNvPr id="42" name="Picture 41" descr="lock.png"/>
          <p:cNvPicPr>
            <a:picLocks noChangeAspect="1"/>
          </p:cNvPicPr>
          <p:nvPr/>
        </p:nvPicPr>
        <p:blipFill>
          <a:blip r:embed="rId4"/>
          <a:stretch>
            <a:fillRect/>
          </a:stretch>
        </p:blipFill>
        <p:spPr>
          <a:xfrm>
            <a:off x="4439273" y="2044192"/>
            <a:ext cx="128699" cy="187198"/>
          </a:xfrm>
          <a:prstGeom prst="rect">
            <a:avLst/>
          </a:prstGeom>
        </p:spPr>
      </p:pic>
      <p:sp>
        <p:nvSpPr>
          <p:cNvPr id="43" name="TextBox 42"/>
          <p:cNvSpPr txBox="1"/>
          <p:nvPr/>
        </p:nvSpPr>
        <p:spPr>
          <a:xfrm>
            <a:off x="4606769" y="2053970"/>
            <a:ext cx="3857376" cy="186689"/>
          </a:xfrm>
          <a:prstGeom prst="rect">
            <a:avLst/>
          </a:prstGeom>
          <a:noFill/>
        </p:spPr>
        <p:txBody>
          <a:bodyPr wrap="none" lIns="0" tIns="0" rIns="0" bIns="0">
            <a:spAutoFit/>
          </a:bodyPr>
          <a:lstStyle/>
          <a:p>
            <a:r>
              <a:rPr sz="1100" b="0">
                <a:solidFill>
                  <a:srgbClr val="2E2E2E"/>
                </a:solidFill>
                <a:latin typeface="Calibri"/>
              </a:rPr>
              <a:t>share), ahead of 'Indirect (distributors and packaging merchants)' (</a:t>
            </a:r>
          </a:p>
        </p:txBody>
      </p:sp>
      <p:pic>
        <p:nvPicPr>
          <p:cNvPr id="44" name="Picture 43" descr="lock.png"/>
          <p:cNvPicPr>
            <a:picLocks noChangeAspect="1"/>
          </p:cNvPicPr>
          <p:nvPr/>
        </p:nvPicPr>
        <p:blipFill>
          <a:blip r:embed="rId4"/>
          <a:stretch>
            <a:fillRect/>
          </a:stretch>
        </p:blipFill>
        <p:spPr>
          <a:xfrm>
            <a:off x="8412197" y="2044192"/>
            <a:ext cx="128699" cy="187198"/>
          </a:xfrm>
          <a:prstGeom prst="rect">
            <a:avLst/>
          </a:prstGeom>
        </p:spPr>
      </p:pic>
      <p:sp>
        <p:nvSpPr>
          <p:cNvPr id="45" name="TextBox 44"/>
          <p:cNvSpPr txBox="1"/>
          <p:nvPr/>
        </p:nvSpPr>
        <p:spPr>
          <a:xfrm>
            <a:off x="8579693" y="2053970"/>
            <a:ext cx="60307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46" name="TextBox 45"/>
          <p:cNvSpPr txBox="1"/>
          <p:nvPr/>
        </p:nvSpPr>
        <p:spPr>
          <a:xfrm>
            <a:off x="276225" y="2271903"/>
            <a:ext cx="6677843" cy="186689"/>
          </a:xfrm>
          <a:prstGeom prst="rect">
            <a:avLst/>
          </a:prstGeom>
          <a:noFill/>
        </p:spPr>
        <p:txBody>
          <a:bodyPr wrap="none" lIns="0" tIns="0" rIns="0" bIns="0">
            <a:spAutoFit/>
          </a:bodyPr>
          <a:lstStyle/>
          <a:p>
            <a:r>
              <a:rPr sz="1100" b="0">
                <a:solidFill>
                  <a:srgbClr val="2E2E2E"/>
                </a:solidFill>
                <a:latin typeface="Calibri"/>
              </a:rPr>
              <a:t>▪ Use the Country slicer in the top band to switch country the selection stays synced across every page of the report.</a:t>
            </a:r>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9653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308225"/>
            <a:ext cx="8572500" cy="514350"/>
          </a:xfrm>
          <a:prstGeom prst="rect">
            <a:avLst/>
          </a:prstGeom>
          <a:noFill/>
        </p:spPr>
        <p:txBody>
          <a:bodyPr wrap="square" lIns="0" tIns="0" rIns="0">
            <a:spAutoFit/>
          </a:bodyPr>
          <a:lstStyle/>
          <a:p>
            <a:r>
              <a:rPr sz="3000" b="1">
                <a:solidFill>
                  <a:srgbClr val="0B3C8C"/>
                </a:solidFill>
                <a:latin typeface="Calibri"/>
              </a:rPr>
              <a:t>Segment Overview (Volume &amp; Value)</a:t>
            </a:r>
          </a:p>
        </p:txBody>
      </p:sp>
      <p:sp>
        <p:nvSpPr>
          <p:cNvPr id="11" name="TextBox 10"/>
          <p:cNvSpPr txBox="1"/>
          <p:nvPr/>
        </p:nvSpPr>
        <p:spPr>
          <a:xfrm>
            <a:off x="914400" y="2994025"/>
            <a:ext cx="8458200" cy="28511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Partition Type</a:t>
            </a:r>
          </a:p>
          <a:p>
            <a:pPr marL="342900" indent="-323850">
              <a:lnSpc>
                <a:spcPct val="100000"/>
              </a:lnSpc>
              <a:spcAft>
                <a:spcPts val="800"/>
              </a:spcAft>
            </a:pPr>
            <a:r>
              <a:rPr sz="2000" b="0">
                <a:solidFill>
                  <a:srgbClr val="000000"/>
                </a:solidFill>
                <a:latin typeface="Calibri"/>
              </a:rPr>
              <a:t>➤	Board Construction</a:t>
            </a:r>
          </a:p>
          <a:p>
            <a:pPr marL="342900" indent="-323850">
              <a:lnSpc>
                <a:spcPct val="100000"/>
              </a:lnSpc>
              <a:spcAft>
                <a:spcPts val="800"/>
              </a:spcAft>
            </a:pPr>
            <a:r>
              <a:rPr sz="2000" b="0">
                <a:solidFill>
                  <a:srgbClr val="000000"/>
                </a:solidFill>
                <a:latin typeface="Calibri"/>
              </a:rPr>
              <a:t>➤	Material Source</a:t>
            </a:r>
          </a:p>
          <a:p>
            <a:pPr marL="342900" indent="-323850">
              <a:lnSpc>
                <a:spcPct val="100000"/>
              </a:lnSpc>
              <a:spcAft>
                <a:spcPts val="800"/>
              </a:spcAft>
            </a:pPr>
            <a:r>
              <a:rPr sz="2000" b="0">
                <a:solidFill>
                  <a:srgbClr val="000000"/>
                </a:solidFill>
                <a:latin typeface="Calibri"/>
              </a:rPr>
              <a:t>➤	Cell Configuration</a:t>
            </a:r>
          </a:p>
          <a:p>
            <a:pPr marL="342900" indent="-323850">
              <a:lnSpc>
                <a:spcPct val="100000"/>
              </a:lnSpc>
              <a:spcAft>
                <a:spcPts val="800"/>
              </a:spcAft>
            </a:pPr>
            <a:r>
              <a:rPr sz="2000" b="0">
                <a:solidFill>
                  <a:srgbClr val="000000"/>
                </a:solidFill>
                <a:latin typeface="Calibri"/>
              </a:rPr>
              <a:t>➤	Customization</a:t>
            </a:r>
          </a:p>
          <a:p>
            <a:pPr marL="342900" indent="-323850">
              <a:lnSpc>
                <a:spcPct val="100000"/>
              </a:lnSpc>
              <a:spcAft>
                <a:spcPts val="800"/>
              </a:spcAft>
            </a:pPr>
            <a:r>
              <a:rPr sz="2000" b="0">
                <a:solidFill>
                  <a:srgbClr val="000000"/>
                </a:solidFill>
                <a:latin typeface="Calibri"/>
              </a:rPr>
              <a:t>➤	End Use</a:t>
            </a:r>
          </a:p>
          <a:p>
            <a:pPr marL="342900" indent="-323850">
              <a:lnSpc>
                <a:spcPct val="100000"/>
              </a:lnSpc>
              <a:spcAft>
                <a:spcPts val="800"/>
              </a:spcAft>
            </a:pPr>
            <a:r>
              <a:rPr sz="2000" b="0">
                <a:solidFill>
                  <a:srgbClr val="000000"/>
                </a:solidFill>
                <a:latin typeface="Calibri"/>
              </a:rPr>
              <a:t>➤	Sales Channel</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14.1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Partition Type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Segmental</a:t>
            </a:r>
          </a:p>
          <a:p>
            <a:pPr marL="342900" indent="-323850">
              <a:lnSpc>
                <a:spcPct val="100000"/>
              </a:lnSpc>
              <a:spcAft>
                <a:spcPts val="800"/>
              </a:spcAft>
            </a:pPr>
            <a:r>
              <a:rPr sz="2000" b="0">
                <a:solidFill>
                  <a:srgbClr val="000000"/>
                </a:solidFill>
                <a:latin typeface="Calibri"/>
              </a:rPr>
              <a:t>➤	Table (Volume &amp; Value)</a:t>
            </a:r>
          </a:p>
          <a:p>
            <a:pPr marL="342900" indent="-323850">
              <a:lnSpc>
                <a:spcPct val="100000"/>
              </a:lnSpc>
              <a:spcAft>
                <a:spcPts val="800"/>
              </a:spcAft>
            </a:pPr>
            <a:r>
              <a:rPr sz="2000" b="0">
                <a:solidFill>
                  <a:srgbClr val="000000"/>
                </a:solidFill>
                <a:latin typeface="Calibri"/>
              </a:rPr>
              <a:t>➤	YoY</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Segmental Analysis Partition Type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segmental analysis by Partition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Growth Contribution 2026 → 2036, By Partition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Value Shares &amp; Variance, By Partition Type</a:t>
            </a:r>
          </a:p>
        </p:txBody>
      </p:sp>
      <p:graphicFrame>
        <p:nvGraphicFramePr>
          <p:cNvPr id="16" name="Table 15"/>
          <p:cNvGraphicFramePr>
            <a:graphicFrameLocks noGrp="1"/>
          </p:cNvGraphicFramePr>
          <p:nvPr/>
        </p:nvGraphicFramePr>
        <p:xfrm>
          <a:off x="6181725" y="1238250"/>
          <a:ext cx="5857875" cy="2286000"/>
        </p:xfrm>
        <a:graphic>
          <a:graphicData uri="http://schemas.openxmlformats.org/drawingml/2006/table">
            <a:tbl>
              <a:tblPr>
                <a:tableStyleId>{5C22544A-7EE6-4342-B048-85BDC9FD1C3A}</a:tableStyleId>
              </a:tblPr>
              <a:tblGrid>
                <a:gridCol w="2488788">
                  <a:extLst>
                    <a:ext uri="{9D8B030D-6E8A-4147-A177-3AD203B41FA5}">
                      <a16:colId xmlns:a16="http://schemas.microsoft.com/office/drawing/2014/main" val="20000"/>
                    </a:ext>
                  </a:extLst>
                </a:gridCol>
                <a:gridCol w="846977">
                  <a:extLst>
                    <a:ext uri="{9D8B030D-6E8A-4147-A177-3AD203B41FA5}">
                      <a16:colId xmlns:a16="http://schemas.microsoft.com/office/drawing/2014/main" val="20001"/>
                    </a:ext>
                  </a:extLst>
                </a:gridCol>
                <a:gridCol w="846977">
                  <a:extLst>
                    <a:ext uri="{9D8B030D-6E8A-4147-A177-3AD203B41FA5}">
                      <a16:colId xmlns:a16="http://schemas.microsoft.com/office/drawing/2014/main" val="20002"/>
                    </a:ext>
                  </a:extLst>
                </a:gridCol>
                <a:gridCol w="1069641">
                  <a:extLst>
                    <a:ext uri="{9D8B030D-6E8A-4147-A177-3AD203B41FA5}">
                      <a16:colId xmlns:a16="http://schemas.microsoft.com/office/drawing/2014/main" val="20003"/>
                    </a:ext>
                  </a:extLst>
                </a:gridCol>
                <a:gridCol w="605492">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67995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67995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67995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7" name="TextBox 16"/>
          <p:cNvSpPr txBox="1"/>
          <p:nvPr/>
        </p:nvSpPr>
        <p:spPr>
          <a:xfrm>
            <a:off x="6248400" y="3533775"/>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Absolute $ Opportunity, By Partition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267450"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Volume Shares &amp; Variance, By Partition Type</a:t>
            </a:r>
          </a:p>
        </p:txBody>
      </p:sp>
      <p:graphicFrame>
        <p:nvGraphicFramePr>
          <p:cNvPr id="23" name="Table 22"/>
          <p:cNvGraphicFramePr>
            <a:graphicFrameLocks noGrp="1"/>
          </p:cNvGraphicFramePr>
          <p:nvPr/>
        </p:nvGraphicFramePr>
        <p:xfrm>
          <a:off x="6181725" y="4124325"/>
          <a:ext cx="5857875" cy="2286000"/>
        </p:xfrm>
        <a:graphic>
          <a:graphicData uri="http://schemas.openxmlformats.org/drawingml/2006/table">
            <a:tbl>
              <a:tblPr>
                <a:tableStyleId>{5C22544A-7EE6-4342-B048-85BDC9FD1C3A}</a:tableStyleId>
              </a:tblPr>
              <a:tblGrid>
                <a:gridCol w="2488788">
                  <a:extLst>
                    <a:ext uri="{9D8B030D-6E8A-4147-A177-3AD203B41FA5}">
                      <a16:colId xmlns:a16="http://schemas.microsoft.com/office/drawing/2014/main" val="20000"/>
                    </a:ext>
                  </a:extLst>
                </a:gridCol>
                <a:gridCol w="846977">
                  <a:extLst>
                    <a:ext uri="{9D8B030D-6E8A-4147-A177-3AD203B41FA5}">
                      <a16:colId xmlns:a16="http://schemas.microsoft.com/office/drawing/2014/main" val="20001"/>
                    </a:ext>
                  </a:extLst>
                </a:gridCol>
                <a:gridCol w="846977">
                  <a:extLst>
                    <a:ext uri="{9D8B030D-6E8A-4147-A177-3AD203B41FA5}">
                      <a16:colId xmlns:a16="http://schemas.microsoft.com/office/drawing/2014/main" val="20002"/>
                    </a:ext>
                  </a:extLst>
                </a:gridCol>
                <a:gridCol w="1069641">
                  <a:extLst>
                    <a:ext uri="{9D8B030D-6E8A-4147-A177-3AD203B41FA5}">
                      <a16:colId xmlns:a16="http://schemas.microsoft.com/office/drawing/2014/main" val="20003"/>
                    </a:ext>
                  </a:extLst>
                </a:gridCol>
                <a:gridCol w="605492">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67995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67995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67995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24" name="TextBox 23"/>
          <p:cNvSpPr txBox="1"/>
          <p:nvPr/>
        </p:nvSpPr>
        <p:spPr>
          <a:xfrm>
            <a:off x="6248400" y="6419850"/>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168366"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168366"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Tables Partition Type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value of the U.S. market by Partition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By Partition Type (MT)</a:t>
            </a:r>
          </a:p>
        </p:txBody>
      </p:sp>
      <p:graphicFrame>
        <p:nvGraphicFramePr>
          <p:cNvPr id="13" name="Table 12"/>
          <p:cNvGraphicFramePr>
            <a:graphicFrameLocks noGrp="1"/>
          </p:cNvGraphicFramePr>
          <p:nvPr/>
        </p:nvGraphicFramePr>
        <p:xfrm>
          <a:off x="152400" y="1238250"/>
          <a:ext cx="11887199" cy="1619252"/>
        </p:xfrm>
        <a:graphic>
          <a:graphicData uri="http://schemas.openxmlformats.org/drawingml/2006/table">
            <a:tbl>
              <a:tblPr>
                <a:tableStyleId>{5C22544A-7EE6-4342-B048-85BDC9FD1C3A}</a:tableStyleId>
              </a:tblPr>
              <a:tblGrid>
                <a:gridCol w="2227778">
                  <a:extLst>
                    <a:ext uri="{9D8B030D-6E8A-4147-A177-3AD203B41FA5}">
                      <a16:colId xmlns:a16="http://schemas.microsoft.com/office/drawing/2014/main" val="20000"/>
                    </a:ext>
                  </a:extLst>
                </a:gridCol>
                <a:gridCol w="535424">
                  <a:extLst>
                    <a:ext uri="{9D8B030D-6E8A-4147-A177-3AD203B41FA5}">
                      <a16:colId xmlns:a16="http://schemas.microsoft.com/office/drawing/2014/main" val="20001"/>
                    </a:ext>
                  </a:extLst>
                </a:gridCol>
                <a:gridCol w="535424">
                  <a:extLst>
                    <a:ext uri="{9D8B030D-6E8A-4147-A177-3AD203B41FA5}">
                      <a16:colId xmlns:a16="http://schemas.microsoft.com/office/drawing/2014/main" val="20002"/>
                    </a:ext>
                  </a:extLst>
                </a:gridCol>
                <a:gridCol w="535424">
                  <a:extLst>
                    <a:ext uri="{9D8B030D-6E8A-4147-A177-3AD203B41FA5}">
                      <a16:colId xmlns:a16="http://schemas.microsoft.com/office/drawing/2014/main" val="20003"/>
                    </a:ext>
                  </a:extLst>
                </a:gridCol>
                <a:gridCol w="535424">
                  <a:extLst>
                    <a:ext uri="{9D8B030D-6E8A-4147-A177-3AD203B41FA5}">
                      <a16:colId xmlns:a16="http://schemas.microsoft.com/office/drawing/2014/main" val="20004"/>
                    </a:ext>
                  </a:extLst>
                </a:gridCol>
                <a:gridCol w="535424">
                  <a:extLst>
                    <a:ext uri="{9D8B030D-6E8A-4147-A177-3AD203B41FA5}">
                      <a16:colId xmlns:a16="http://schemas.microsoft.com/office/drawing/2014/main" val="20005"/>
                    </a:ext>
                  </a:extLst>
                </a:gridCol>
                <a:gridCol w="535424">
                  <a:extLst>
                    <a:ext uri="{9D8B030D-6E8A-4147-A177-3AD203B41FA5}">
                      <a16:colId xmlns:a16="http://schemas.microsoft.com/office/drawing/2014/main" val="20006"/>
                    </a:ext>
                  </a:extLst>
                </a:gridCol>
                <a:gridCol w="535424">
                  <a:extLst>
                    <a:ext uri="{9D8B030D-6E8A-4147-A177-3AD203B41FA5}">
                      <a16:colId xmlns:a16="http://schemas.microsoft.com/office/drawing/2014/main" val="20007"/>
                    </a:ext>
                  </a:extLst>
                </a:gridCol>
                <a:gridCol w="535424">
                  <a:extLst>
                    <a:ext uri="{9D8B030D-6E8A-4147-A177-3AD203B41FA5}">
                      <a16:colId xmlns:a16="http://schemas.microsoft.com/office/drawing/2014/main" val="20008"/>
                    </a:ext>
                  </a:extLst>
                </a:gridCol>
                <a:gridCol w="535424">
                  <a:extLst>
                    <a:ext uri="{9D8B030D-6E8A-4147-A177-3AD203B41FA5}">
                      <a16:colId xmlns:a16="http://schemas.microsoft.com/office/drawing/2014/main" val="20009"/>
                    </a:ext>
                  </a:extLst>
                </a:gridCol>
                <a:gridCol w="535424">
                  <a:extLst>
                    <a:ext uri="{9D8B030D-6E8A-4147-A177-3AD203B41FA5}">
                      <a16:colId xmlns:a16="http://schemas.microsoft.com/office/drawing/2014/main" val="20010"/>
                    </a:ext>
                  </a:extLst>
                </a:gridCol>
                <a:gridCol w="645795">
                  <a:extLst>
                    <a:ext uri="{9D8B030D-6E8A-4147-A177-3AD203B41FA5}">
                      <a16:colId xmlns:a16="http://schemas.microsoft.com/office/drawing/2014/main" val="20011"/>
                    </a:ext>
                  </a:extLst>
                </a:gridCol>
                <a:gridCol w="645795">
                  <a:extLst>
                    <a:ext uri="{9D8B030D-6E8A-4147-A177-3AD203B41FA5}">
                      <a16:colId xmlns:a16="http://schemas.microsoft.com/office/drawing/2014/main" val="20012"/>
                    </a:ext>
                  </a:extLst>
                </a:gridCol>
                <a:gridCol w="645795">
                  <a:extLst>
                    <a:ext uri="{9D8B030D-6E8A-4147-A177-3AD203B41FA5}">
                      <a16:colId xmlns:a16="http://schemas.microsoft.com/office/drawing/2014/main" val="20013"/>
                    </a:ext>
                  </a:extLst>
                </a:gridCol>
                <a:gridCol w="645795">
                  <a:extLst>
                    <a:ext uri="{9D8B030D-6E8A-4147-A177-3AD203B41FA5}">
                      <a16:colId xmlns:a16="http://schemas.microsoft.com/office/drawing/2014/main" val="20014"/>
                    </a:ext>
                  </a:extLst>
                </a:gridCol>
                <a:gridCol w="645795">
                  <a:extLst>
                    <a:ext uri="{9D8B030D-6E8A-4147-A177-3AD203B41FA5}">
                      <a16:colId xmlns:a16="http://schemas.microsoft.com/office/drawing/2014/main" val="20015"/>
                    </a:ext>
                  </a:extLst>
                </a:gridCol>
                <a:gridCol w="645795">
                  <a:extLst>
                    <a:ext uri="{9D8B030D-6E8A-4147-A177-3AD203B41FA5}">
                      <a16:colId xmlns:a16="http://schemas.microsoft.com/office/drawing/2014/main" val="20016"/>
                    </a:ext>
                  </a:extLst>
                </a:gridCol>
                <a:gridCol w="430411">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Partition Type</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a:lstStyle/>
                    <a:p>
                      <a:pPr algn="ctr"/>
                      <a:r>
                        <a:rPr sz="1100" b="1">
                          <a:solidFill>
                            <a:srgbClr val="0B2E4A"/>
                          </a:solidFill>
                          <a:latin typeface="Calibri"/>
                        </a:rPr>
                        <a:t>F-CAGR</a:t>
                      </a:r>
                      <a:endParaRPr sz="1100"/>
                    </a:p>
                  </a:txBody>
                  <a:tcPr marL="19050" marR="19050" marT="19050" marB="19050" anchor="ctr">
                    <a:solidFill>
                      <a:srgbClr val="E0E8EF"/>
                    </a:solidFill>
                  </a:tcPr>
                </a:tc>
                <a:extLst>
                  <a:ext uri="{0D108BD9-81ED-4DB2-BD59-A6C34878D82A}">
                    <a16:rowId xmlns:a16="http://schemas.microsoft.com/office/drawing/2014/main" val="10000"/>
                  </a:ext>
                </a:extLst>
              </a:tr>
              <a:tr h="295085">
                <a:tc>
                  <a:txBody>
                    <a:bodyPr/>
                    <a:lstStyle/>
                    <a:p>
                      <a:pPr algn="l"/>
                      <a:r>
                        <a:rPr sz="1100" b="1">
                          <a:solidFill>
                            <a:srgbClr val="2E2E2E"/>
                          </a:solidFill>
                          <a:latin typeface="Calibri"/>
                        </a:rPr>
                        <a:t>Slotted (Interlocking Grid) Partitions</a:t>
                      </a:r>
                      <a:endParaRPr sz="1100"/>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extLst>
                  <a:ext uri="{0D108BD9-81ED-4DB2-BD59-A6C34878D82A}">
                    <a16:rowId xmlns:a16="http://schemas.microsoft.com/office/drawing/2014/main" val="10001"/>
                  </a:ext>
                </a:extLst>
              </a:tr>
              <a:tr h="295085">
                <a:tc>
                  <a:txBody>
                    <a:bodyPr/>
                    <a:lstStyle/>
                    <a:p>
                      <a:pPr algn="l"/>
                      <a:r>
                        <a:rPr sz="1100" b="1">
                          <a:solidFill>
                            <a:srgbClr val="2E2E2E"/>
                          </a:solidFill>
                          <a:latin typeface="Calibri"/>
                        </a:rPr>
                        <a:t>Die-Cut &amp; Folded Partitions</a:t>
                      </a:r>
                      <a:endParaRPr sz="1100"/>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tc>
                  <a:txBody>
                    <a:bodyPr/>
                    <a:lstStyle/>
                    <a:p>
                      <a:pPr algn="ctr"/>
                      <a:r>
                        <a:rPr sz="1100"/>
                        <a:t> </a:t>
                      </a:r>
                    </a:p>
                  </a:txBody>
                  <a:tcPr marL="19050" marR="19050" marT="19050" marB="19050" anchor="ctr">
                    <a:solidFill>
                      <a:srgbClr val="F5F8FA"/>
                    </a:solidFill>
                  </a:tcPr>
                </a:tc>
                <a:extLst>
                  <a:ext uri="{0D108BD9-81ED-4DB2-BD59-A6C34878D82A}">
                    <a16:rowId xmlns:a16="http://schemas.microsoft.com/office/drawing/2014/main" val="10002"/>
                  </a:ext>
                </a:extLst>
              </a:tr>
              <a:tr h="295085">
                <a:tc>
                  <a:txBody>
                    <a:bodyPr/>
                    <a:lstStyle/>
                    <a:p>
                      <a:pPr algn="l"/>
                      <a:r>
                        <a:rPr sz="1100" b="1">
                          <a:solidFill>
                            <a:srgbClr val="2E2E2E"/>
                          </a:solidFill>
                          <a:latin typeface="Calibri"/>
                        </a:rPr>
                        <a:t>Flat Dividers &amp; Layer Pads</a:t>
                      </a:r>
                      <a:endParaRPr sz="1100"/>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tc>
                  <a:txBody>
                    <a:bodyPr/>
                    <a:lstStyle/>
                    <a:p>
                      <a:pPr algn="ctr"/>
                      <a:r>
                        <a:rPr sz="1100"/>
                        <a:t> </a:t>
                      </a:r>
                    </a:p>
                  </a:txBody>
                  <a:tcPr marL="19050" marR="19050" marT="19050" marB="19050" anchor="ctr">
                    <a:solidFill>
                      <a:srgbClr val="FFFFFF"/>
                    </a:solidFill>
                  </a:tcPr>
                </a:tc>
                <a:extLst>
                  <a:ext uri="{0D108BD9-81ED-4DB2-BD59-A6C34878D82A}">
                    <a16:rowId xmlns:a16="http://schemas.microsoft.com/office/drawing/2014/main" val="10003"/>
                  </a:ext>
                </a:extLst>
              </a:tr>
              <a:tr h="295085">
                <a:tc>
                  <a:txBody>
                    <a:bodyPr/>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tc>
                  <a:txBody>
                    <a:bodyPr/>
                    <a:lstStyle/>
                    <a:p>
                      <a:pPr algn="ctr"/>
                      <a:r>
                        <a:rPr sz="1100"/>
                        <a:t> </a:t>
                      </a:r>
                    </a:p>
                  </a:txBody>
                  <a:tcPr marL="19050" marR="1905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867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2575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By Partition Type (US$ Mn)</a:t>
            </a:r>
          </a:p>
        </p:txBody>
      </p:sp>
      <p:graphicFrame>
        <p:nvGraphicFramePr>
          <p:cNvPr id="17" name="Table 16"/>
          <p:cNvGraphicFramePr>
            <a:graphicFrameLocks noGrp="1"/>
          </p:cNvGraphicFramePr>
          <p:nvPr/>
        </p:nvGraphicFramePr>
        <p:xfrm>
          <a:off x="152400" y="3457575"/>
          <a:ext cx="11887198" cy="1238250"/>
        </p:xfrm>
        <a:graphic>
          <a:graphicData uri="http://schemas.openxmlformats.org/drawingml/2006/table">
            <a:tbl>
              <a:tblPr>
                <a:tableStyleId>{5C22544A-7EE6-4342-B048-85BDC9FD1C3A}</a:tableStyleId>
              </a:tblPr>
              <a:tblGrid>
                <a:gridCol w="2314532">
                  <a:extLst>
                    <a:ext uri="{9D8B030D-6E8A-4147-A177-3AD203B41FA5}">
                      <a16:colId xmlns:a16="http://schemas.microsoft.com/office/drawing/2014/main" val="20000"/>
                    </a:ext>
                  </a:extLst>
                </a:gridCol>
                <a:gridCol w="563098">
                  <a:extLst>
                    <a:ext uri="{9D8B030D-6E8A-4147-A177-3AD203B41FA5}">
                      <a16:colId xmlns:a16="http://schemas.microsoft.com/office/drawing/2014/main" val="20001"/>
                    </a:ext>
                  </a:extLst>
                </a:gridCol>
                <a:gridCol w="563098">
                  <a:extLst>
                    <a:ext uri="{9D8B030D-6E8A-4147-A177-3AD203B41FA5}">
                      <a16:colId xmlns:a16="http://schemas.microsoft.com/office/drawing/2014/main" val="20002"/>
                    </a:ext>
                  </a:extLst>
                </a:gridCol>
                <a:gridCol w="563098">
                  <a:extLst>
                    <a:ext uri="{9D8B030D-6E8A-4147-A177-3AD203B41FA5}">
                      <a16:colId xmlns:a16="http://schemas.microsoft.com/office/drawing/2014/main" val="20003"/>
                    </a:ext>
                  </a:extLst>
                </a:gridCol>
                <a:gridCol w="563098">
                  <a:extLst>
                    <a:ext uri="{9D8B030D-6E8A-4147-A177-3AD203B41FA5}">
                      <a16:colId xmlns:a16="http://schemas.microsoft.com/office/drawing/2014/main" val="20004"/>
                    </a:ext>
                  </a:extLst>
                </a:gridCol>
                <a:gridCol w="563098">
                  <a:extLst>
                    <a:ext uri="{9D8B030D-6E8A-4147-A177-3AD203B41FA5}">
                      <a16:colId xmlns:a16="http://schemas.microsoft.com/office/drawing/2014/main" val="20005"/>
                    </a:ext>
                  </a:extLst>
                </a:gridCol>
                <a:gridCol w="563098">
                  <a:extLst>
                    <a:ext uri="{9D8B030D-6E8A-4147-A177-3AD203B41FA5}">
                      <a16:colId xmlns:a16="http://schemas.microsoft.com/office/drawing/2014/main" val="20006"/>
                    </a:ext>
                  </a:extLst>
                </a:gridCol>
                <a:gridCol w="563098">
                  <a:extLst>
                    <a:ext uri="{9D8B030D-6E8A-4147-A177-3AD203B41FA5}">
                      <a16:colId xmlns:a16="http://schemas.microsoft.com/office/drawing/2014/main" val="20007"/>
                    </a:ext>
                  </a:extLst>
                </a:gridCol>
                <a:gridCol w="563098">
                  <a:extLst>
                    <a:ext uri="{9D8B030D-6E8A-4147-A177-3AD203B41FA5}">
                      <a16:colId xmlns:a16="http://schemas.microsoft.com/office/drawing/2014/main" val="20008"/>
                    </a:ext>
                  </a:extLst>
                </a:gridCol>
                <a:gridCol w="563098">
                  <a:extLst>
                    <a:ext uri="{9D8B030D-6E8A-4147-A177-3AD203B41FA5}">
                      <a16:colId xmlns:a16="http://schemas.microsoft.com/office/drawing/2014/main" val="20009"/>
                    </a:ext>
                  </a:extLst>
                </a:gridCol>
                <a:gridCol w="563098">
                  <a:extLst>
                    <a:ext uri="{9D8B030D-6E8A-4147-A177-3AD203B41FA5}">
                      <a16:colId xmlns:a16="http://schemas.microsoft.com/office/drawing/2014/main" val="20010"/>
                    </a:ext>
                  </a:extLst>
                </a:gridCol>
                <a:gridCol w="563098">
                  <a:extLst>
                    <a:ext uri="{9D8B030D-6E8A-4147-A177-3AD203B41FA5}">
                      <a16:colId xmlns:a16="http://schemas.microsoft.com/office/drawing/2014/main" val="20011"/>
                    </a:ext>
                  </a:extLst>
                </a:gridCol>
                <a:gridCol w="563098">
                  <a:extLst>
                    <a:ext uri="{9D8B030D-6E8A-4147-A177-3AD203B41FA5}">
                      <a16:colId xmlns:a16="http://schemas.microsoft.com/office/drawing/2014/main" val="20012"/>
                    </a:ext>
                  </a:extLst>
                </a:gridCol>
                <a:gridCol w="563098">
                  <a:extLst>
                    <a:ext uri="{9D8B030D-6E8A-4147-A177-3AD203B41FA5}">
                      <a16:colId xmlns:a16="http://schemas.microsoft.com/office/drawing/2014/main" val="20013"/>
                    </a:ext>
                  </a:extLst>
                </a:gridCol>
                <a:gridCol w="563098">
                  <a:extLst>
                    <a:ext uri="{9D8B030D-6E8A-4147-A177-3AD203B41FA5}">
                      <a16:colId xmlns:a16="http://schemas.microsoft.com/office/drawing/2014/main" val="20014"/>
                    </a:ext>
                  </a:extLst>
                </a:gridCol>
                <a:gridCol w="563098">
                  <a:extLst>
                    <a:ext uri="{9D8B030D-6E8A-4147-A177-3AD203B41FA5}">
                      <a16:colId xmlns:a16="http://schemas.microsoft.com/office/drawing/2014/main" val="20015"/>
                    </a:ext>
                  </a:extLst>
                </a:gridCol>
                <a:gridCol w="563098">
                  <a:extLst>
                    <a:ext uri="{9D8B030D-6E8A-4147-A177-3AD203B41FA5}">
                      <a16:colId xmlns:a16="http://schemas.microsoft.com/office/drawing/2014/main" val="20016"/>
                    </a:ext>
                  </a:extLst>
                </a:gridCol>
                <a:gridCol w="563098">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8" name="TextBox 17"/>
          <p:cNvSpPr txBox="1"/>
          <p:nvPr/>
        </p:nvSpPr>
        <p:spPr>
          <a:xfrm>
            <a:off x="219075" y="47053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23198" y="2000631"/>
            <a:ext cx="366712" cy="533400"/>
          </a:xfrm>
          <a:prstGeom prst="rect">
            <a:avLst/>
          </a:prstGeom>
        </p:spPr>
      </p:pic>
      <p:pic>
        <p:nvPicPr>
          <p:cNvPr id="21" name="Picture 20" descr="lock.png"/>
          <p:cNvPicPr>
            <a:picLocks noChangeAspect="1"/>
          </p:cNvPicPr>
          <p:nvPr/>
        </p:nvPicPr>
        <p:blipFill>
          <a:blip r:embed="rId4"/>
          <a:stretch>
            <a:fillRect/>
          </a:stretch>
        </p:blipFill>
        <p:spPr>
          <a:xfrm>
            <a:off x="7066574" y="3933062"/>
            <a:ext cx="366712" cy="533400"/>
          </a:xfrm>
          <a:prstGeom prst="rect">
            <a:avLst/>
          </a:prstGeom>
        </p:spPr>
      </p:pic>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YoY Analysis Partition Type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year-on-year volume and value growth by Partition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YoY,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515221">
                  <a:extLst>
                    <a:ext uri="{9D8B030D-6E8A-4147-A177-3AD203B41FA5}">
                      <a16:colId xmlns:a16="http://schemas.microsoft.com/office/drawing/2014/main" val="20000"/>
                    </a:ext>
                  </a:extLst>
                </a:gridCol>
                <a:gridCol w="624799">
                  <a:extLst>
                    <a:ext uri="{9D8B030D-6E8A-4147-A177-3AD203B41FA5}">
                      <a16:colId xmlns:a16="http://schemas.microsoft.com/office/drawing/2014/main" val="20001"/>
                    </a:ext>
                  </a:extLst>
                </a:gridCol>
                <a:gridCol w="624799">
                  <a:extLst>
                    <a:ext uri="{9D8B030D-6E8A-4147-A177-3AD203B41FA5}">
                      <a16:colId xmlns:a16="http://schemas.microsoft.com/office/drawing/2014/main" val="20002"/>
                    </a:ext>
                  </a:extLst>
                </a:gridCol>
                <a:gridCol w="624799">
                  <a:extLst>
                    <a:ext uri="{9D8B030D-6E8A-4147-A177-3AD203B41FA5}">
                      <a16:colId xmlns:a16="http://schemas.microsoft.com/office/drawing/2014/main" val="20003"/>
                    </a:ext>
                  </a:extLst>
                </a:gridCol>
                <a:gridCol w="624799">
                  <a:extLst>
                    <a:ext uri="{9D8B030D-6E8A-4147-A177-3AD203B41FA5}">
                      <a16:colId xmlns:a16="http://schemas.microsoft.com/office/drawing/2014/main" val="20004"/>
                    </a:ext>
                  </a:extLst>
                </a:gridCol>
                <a:gridCol w="624799">
                  <a:extLst>
                    <a:ext uri="{9D8B030D-6E8A-4147-A177-3AD203B41FA5}">
                      <a16:colId xmlns:a16="http://schemas.microsoft.com/office/drawing/2014/main" val="20005"/>
                    </a:ext>
                  </a:extLst>
                </a:gridCol>
                <a:gridCol w="624799">
                  <a:extLst>
                    <a:ext uri="{9D8B030D-6E8A-4147-A177-3AD203B41FA5}">
                      <a16:colId xmlns:a16="http://schemas.microsoft.com/office/drawing/2014/main" val="20006"/>
                    </a:ext>
                  </a:extLst>
                </a:gridCol>
                <a:gridCol w="624799">
                  <a:extLst>
                    <a:ext uri="{9D8B030D-6E8A-4147-A177-3AD203B41FA5}">
                      <a16:colId xmlns:a16="http://schemas.microsoft.com/office/drawing/2014/main" val="20007"/>
                    </a:ext>
                  </a:extLst>
                </a:gridCol>
                <a:gridCol w="624799">
                  <a:extLst>
                    <a:ext uri="{9D8B030D-6E8A-4147-A177-3AD203B41FA5}">
                      <a16:colId xmlns:a16="http://schemas.microsoft.com/office/drawing/2014/main" val="20008"/>
                    </a:ext>
                  </a:extLst>
                </a:gridCol>
                <a:gridCol w="624799">
                  <a:extLst>
                    <a:ext uri="{9D8B030D-6E8A-4147-A177-3AD203B41FA5}">
                      <a16:colId xmlns:a16="http://schemas.microsoft.com/office/drawing/2014/main" val="20009"/>
                    </a:ext>
                  </a:extLst>
                </a:gridCol>
                <a:gridCol w="624799">
                  <a:extLst>
                    <a:ext uri="{9D8B030D-6E8A-4147-A177-3AD203B41FA5}">
                      <a16:colId xmlns:a16="http://schemas.microsoft.com/office/drawing/2014/main" val="20010"/>
                    </a:ext>
                  </a:extLst>
                </a:gridCol>
                <a:gridCol w="624799">
                  <a:extLst>
                    <a:ext uri="{9D8B030D-6E8A-4147-A177-3AD203B41FA5}">
                      <a16:colId xmlns:a16="http://schemas.microsoft.com/office/drawing/2014/main" val="20011"/>
                    </a:ext>
                  </a:extLst>
                </a:gridCol>
                <a:gridCol w="624799">
                  <a:extLst>
                    <a:ext uri="{9D8B030D-6E8A-4147-A177-3AD203B41FA5}">
                      <a16:colId xmlns:a16="http://schemas.microsoft.com/office/drawing/2014/main" val="20012"/>
                    </a:ext>
                  </a:extLst>
                </a:gridCol>
                <a:gridCol w="624799">
                  <a:extLst>
                    <a:ext uri="{9D8B030D-6E8A-4147-A177-3AD203B41FA5}">
                      <a16:colId xmlns:a16="http://schemas.microsoft.com/office/drawing/2014/main" val="20013"/>
                    </a:ext>
                  </a:extLst>
                </a:gridCol>
                <a:gridCol w="624799">
                  <a:extLst>
                    <a:ext uri="{9D8B030D-6E8A-4147-A177-3AD203B41FA5}">
                      <a16:colId xmlns:a16="http://schemas.microsoft.com/office/drawing/2014/main" val="20014"/>
                    </a:ext>
                  </a:extLst>
                </a:gridCol>
                <a:gridCol w="62479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YoY, By Partition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206" cy="990600"/>
        </p:xfrm>
        <a:graphic>
          <a:graphicData uri="http://schemas.openxmlformats.org/drawingml/2006/table">
            <a:tbl>
              <a:tblPr>
                <a:tableStyleId>{5C22544A-7EE6-4342-B048-85BDC9FD1C3A}</a:tableStyleId>
              </a:tblPr>
              <a:tblGrid>
                <a:gridCol w="2515221">
                  <a:extLst>
                    <a:ext uri="{9D8B030D-6E8A-4147-A177-3AD203B41FA5}">
                      <a16:colId xmlns:a16="http://schemas.microsoft.com/office/drawing/2014/main" val="20000"/>
                    </a:ext>
                  </a:extLst>
                </a:gridCol>
                <a:gridCol w="624799">
                  <a:extLst>
                    <a:ext uri="{9D8B030D-6E8A-4147-A177-3AD203B41FA5}">
                      <a16:colId xmlns:a16="http://schemas.microsoft.com/office/drawing/2014/main" val="20001"/>
                    </a:ext>
                  </a:extLst>
                </a:gridCol>
                <a:gridCol w="624799">
                  <a:extLst>
                    <a:ext uri="{9D8B030D-6E8A-4147-A177-3AD203B41FA5}">
                      <a16:colId xmlns:a16="http://schemas.microsoft.com/office/drawing/2014/main" val="20002"/>
                    </a:ext>
                  </a:extLst>
                </a:gridCol>
                <a:gridCol w="624799">
                  <a:extLst>
                    <a:ext uri="{9D8B030D-6E8A-4147-A177-3AD203B41FA5}">
                      <a16:colId xmlns:a16="http://schemas.microsoft.com/office/drawing/2014/main" val="20003"/>
                    </a:ext>
                  </a:extLst>
                </a:gridCol>
                <a:gridCol w="624799">
                  <a:extLst>
                    <a:ext uri="{9D8B030D-6E8A-4147-A177-3AD203B41FA5}">
                      <a16:colId xmlns:a16="http://schemas.microsoft.com/office/drawing/2014/main" val="20004"/>
                    </a:ext>
                  </a:extLst>
                </a:gridCol>
                <a:gridCol w="624799">
                  <a:extLst>
                    <a:ext uri="{9D8B030D-6E8A-4147-A177-3AD203B41FA5}">
                      <a16:colId xmlns:a16="http://schemas.microsoft.com/office/drawing/2014/main" val="20005"/>
                    </a:ext>
                  </a:extLst>
                </a:gridCol>
                <a:gridCol w="624799">
                  <a:extLst>
                    <a:ext uri="{9D8B030D-6E8A-4147-A177-3AD203B41FA5}">
                      <a16:colId xmlns:a16="http://schemas.microsoft.com/office/drawing/2014/main" val="20006"/>
                    </a:ext>
                  </a:extLst>
                </a:gridCol>
                <a:gridCol w="624799">
                  <a:extLst>
                    <a:ext uri="{9D8B030D-6E8A-4147-A177-3AD203B41FA5}">
                      <a16:colId xmlns:a16="http://schemas.microsoft.com/office/drawing/2014/main" val="20007"/>
                    </a:ext>
                  </a:extLst>
                </a:gridCol>
                <a:gridCol w="624799">
                  <a:extLst>
                    <a:ext uri="{9D8B030D-6E8A-4147-A177-3AD203B41FA5}">
                      <a16:colId xmlns:a16="http://schemas.microsoft.com/office/drawing/2014/main" val="20008"/>
                    </a:ext>
                  </a:extLst>
                </a:gridCol>
                <a:gridCol w="624799">
                  <a:extLst>
                    <a:ext uri="{9D8B030D-6E8A-4147-A177-3AD203B41FA5}">
                      <a16:colId xmlns:a16="http://schemas.microsoft.com/office/drawing/2014/main" val="20009"/>
                    </a:ext>
                  </a:extLst>
                </a:gridCol>
                <a:gridCol w="624799">
                  <a:extLst>
                    <a:ext uri="{9D8B030D-6E8A-4147-A177-3AD203B41FA5}">
                      <a16:colId xmlns:a16="http://schemas.microsoft.com/office/drawing/2014/main" val="20010"/>
                    </a:ext>
                  </a:extLst>
                </a:gridCol>
                <a:gridCol w="624799">
                  <a:extLst>
                    <a:ext uri="{9D8B030D-6E8A-4147-A177-3AD203B41FA5}">
                      <a16:colId xmlns:a16="http://schemas.microsoft.com/office/drawing/2014/main" val="20011"/>
                    </a:ext>
                  </a:extLst>
                </a:gridCol>
                <a:gridCol w="624799">
                  <a:extLst>
                    <a:ext uri="{9D8B030D-6E8A-4147-A177-3AD203B41FA5}">
                      <a16:colId xmlns:a16="http://schemas.microsoft.com/office/drawing/2014/main" val="20012"/>
                    </a:ext>
                  </a:extLst>
                </a:gridCol>
                <a:gridCol w="624799">
                  <a:extLst>
                    <a:ext uri="{9D8B030D-6E8A-4147-A177-3AD203B41FA5}">
                      <a16:colId xmlns:a16="http://schemas.microsoft.com/office/drawing/2014/main" val="20013"/>
                    </a:ext>
                  </a:extLst>
                </a:gridCol>
                <a:gridCol w="624799">
                  <a:extLst>
                    <a:ext uri="{9D8B030D-6E8A-4147-A177-3AD203B41FA5}">
                      <a16:colId xmlns:a16="http://schemas.microsoft.com/office/drawing/2014/main" val="20014"/>
                    </a:ext>
                  </a:extLst>
                </a:gridCol>
                <a:gridCol w="62479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8" name="TextBox 17"/>
          <p:cNvSpPr txBox="1"/>
          <p:nvPr/>
        </p:nvSpPr>
        <p:spPr>
          <a:xfrm>
            <a:off x="219075" y="38290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66923"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7166923" y="3180587"/>
            <a:ext cx="366712" cy="533400"/>
          </a:xfrm>
          <a:prstGeom prst="rect">
            <a:avLst/>
          </a:prstGeom>
        </p:spPr>
      </p:pic>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14.2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Board Construction</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Segmental</a:t>
            </a:r>
          </a:p>
          <a:p>
            <a:pPr marL="342900" indent="-323850">
              <a:lnSpc>
                <a:spcPct val="100000"/>
              </a:lnSpc>
              <a:spcAft>
                <a:spcPts val="800"/>
              </a:spcAft>
            </a:pPr>
            <a:r>
              <a:rPr sz="2000" b="0">
                <a:solidFill>
                  <a:srgbClr val="000000"/>
                </a:solidFill>
                <a:latin typeface="Calibri"/>
              </a:rPr>
              <a:t>➤	Table (Volume &amp; Value)</a:t>
            </a:r>
          </a:p>
          <a:p>
            <a:pPr marL="342900" indent="-323850">
              <a:lnSpc>
                <a:spcPct val="100000"/>
              </a:lnSpc>
              <a:spcAft>
                <a:spcPts val="800"/>
              </a:spcAft>
            </a:pPr>
            <a:r>
              <a:rPr sz="2000" b="0">
                <a:solidFill>
                  <a:srgbClr val="000000"/>
                </a:solidFill>
                <a:latin typeface="Calibri"/>
              </a:rPr>
              <a:t>➤	YoY</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Segmental Analysis Board Construction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segmental analysis by Board Construction: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Growth Contribution 2026 → 2036, By Board Construction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Value Shares &amp; Variance, By Board Construction</a:t>
            </a:r>
          </a:p>
        </p:txBody>
      </p:sp>
      <p:graphicFrame>
        <p:nvGraphicFramePr>
          <p:cNvPr id="16" name="Table 15"/>
          <p:cNvGraphicFramePr>
            <a:graphicFrameLocks noGrp="1"/>
          </p:cNvGraphicFramePr>
          <p:nvPr/>
        </p:nvGraphicFramePr>
        <p:xfrm>
          <a:off x="6181725" y="1238250"/>
          <a:ext cx="5857873" cy="2286000"/>
        </p:xfrm>
        <a:graphic>
          <a:graphicData uri="http://schemas.openxmlformats.org/drawingml/2006/table">
            <a:tbl>
              <a:tblPr>
                <a:tableStyleId>{5C22544A-7EE6-4342-B048-85BDC9FD1C3A}</a:tableStyleId>
              </a:tblPr>
              <a:tblGrid>
                <a:gridCol w="1435549">
                  <a:extLst>
                    <a:ext uri="{9D8B030D-6E8A-4147-A177-3AD203B41FA5}">
                      <a16:colId xmlns:a16="http://schemas.microsoft.com/office/drawing/2014/main" val="20000"/>
                    </a:ext>
                  </a:extLst>
                </a:gridCol>
                <a:gridCol w="1105581">
                  <a:extLst>
                    <a:ext uri="{9D8B030D-6E8A-4147-A177-3AD203B41FA5}">
                      <a16:colId xmlns:a16="http://schemas.microsoft.com/office/drawing/2014/main" val="20001"/>
                    </a:ext>
                  </a:extLst>
                </a:gridCol>
                <a:gridCol w="1105581">
                  <a:extLst>
                    <a:ext uri="{9D8B030D-6E8A-4147-A177-3AD203B41FA5}">
                      <a16:colId xmlns:a16="http://schemas.microsoft.com/office/drawing/2014/main" val="20002"/>
                    </a:ext>
                  </a:extLst>
                </a:gridCol>
                <a:gridCol w="1105581">
                  <a:extLst>
                    <a:ext uri="{9D8B030D-6E8A-4147-A177-3AD203B41FA5}">
                      <a16:colId xmlns:a16="http://schemas.microsoft.com/office/drawing/2014/main" val="20003"/>
                    </a:ext>
                  </a:extLst>
                </a:gridCol>
                <a:gridCol w="1105581">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679958">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679958">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679958">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7" name="TextBox 16"/>
          <p:cNvSpPr txBox="1"/>
          <p:nvPr/>
        </p:nvSpPr>
        <p:spPr>
          <a:xfrm>
            <a:off x="6248400" y="3533775"/>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Absolute $ Opportunity, By Board Construction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267450"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Volume Shares &amp; Variance, By Board Construction</a:t>
            </a:r>
          </a:p>
        </p:txBody>
      </p:sp>
      <p:graphicFrame>
        <p:nvGraphicFramePr>
          <p:cNvPr id="23" name="Table 22"/>
          <p:cNvGraphicFramePr>
            <a:graphicFrameLocks noGrp="1"/>
          </p:cNvGraphicFramePr>
          <p:nvPr/>
        </p:nvGraphicFramePr>
        <p:xfrm>
          <a:off x="6181725" y="4124325"/>
          <a:ext cx="5857873" cy="2286000"/>
        </p:xfrm>
        <a:graphic>
          <a:graphicData uri="http://schemas.openxmlformats.org/drawingml/2006/table">
            <a:tbl>
              <a:tblPr>
                <a:tableStyleId>{5C22544A-7EE6-4342-B048-85BDC9FD1C3A}</a:tableStyleId>
              </a:tblPr>
              <a:tblGrid>
                <a:gridCol w="1435549">
                  <a:extLst>
                    <a:ext uri="{9D8B030D-6E8A-4147-A177-3AD203B41FA5}">
                      <a16:colId xmlns:a16="http://schemas.microsoft.com/office/drawing/2014/main" val="20000"/>
                    </a:ext>
                  </a:extLst>
                </a:gridCol>
                <a:gridCol w="1105581">
                  <a:extLst>
                    <a:ext uri="{9D8B030D-6E8A-4147-A177-3AD203B41FA5}">
                      <a16:colId xmlns:a16="http://schemas.microsoft.com/office/drawing/2014/main" val="20001"/>
                    </a:ext>
                  </a:extLst>
                </a:gridCol>
                <a:gridCol w="1105581">
                  <a:extLst>
                    <a:ext uri="{9D8B030D-6E8A-4147-A177-3AD203B41FA5}">
                      <a16:colId xmlns:a16="http://schemas.microsoft.com/office/drawing/2014/main" val="20002"/>
                    </a:ext>
                  </a:extLst>
                </a:gridCol>
                <a:gridCol w="1105581">
                  <a:extLst>
                    <a:ext uri="{9D8B030D-6E8A-4147-A177-3AD203B41FA5}">
                      <a16:colId xmlns:a16="http://schemas.microsoft.com/office/drawing/2014/main" val="20003"/>
                    </a:ext>
                  </a:extLst>
                </a:gridCol>
                <a:gridCol w="1105581">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679958">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679958">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679958">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24" name="TextBox 23"/>
          <p:cNvSpPr txBox="1"/>
          <p:nvPr/>
        </p:nvSpPr>
        <p:spPr>
          <a:xfrm>
            <a:off x="6248400" y="6419850"/>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641745"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641745"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Tables Board Construction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value of the U.S. market by Board Construction,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By Board Construction (MT)</a:t>
            </a:r>
          </a:p>
        </p:txBody>
      </p:sp>
      <p:graphicFrame>
        <p:nvGraphicFramePr>
          <p:cNvPr id="13" name="Table 12"/>
          <p:cNvGraphicFramePr>
            <a:graphicFrameLocks noGrp="1"/>
          </p:cNvGraphicFramePr>
          <p:nvPr/>
        </p:nvGraphicFramePr>
        <p:xfrm>
          <a:off x="152400" y="1238250"/>
          <a:ext cx="11887195" cy="1238250"/>
        </p:xfrm>
        <a:graphic>
          <a:graphicData uri="http://schemas.openxmlformats.org/drawingml/2006/table">
            <a:tbl>
              <a:tblPr>
                <a:tableStyleId>{5C22544A-7EE6-4342-B048-85BDC9FD1C3A}</a:tableStyleId>
              </a:tblPr>
              <a:tblGrid>
                <a:gridCol w="1277627">
                  <a:extLst>
                    <a:ext uri="{9D8B030D-6E8A-4147-A177-3AD203B41FA5}">
                      <a16:colId xmlns:a16="http://schemas.microsoft.com/office/drawing/2014/main" val="20000"/>
                    </a:ext>
                  </a:extLst>
                </a:gridCol>
                <a:gridCol w="586642">
                  <a:extLst>
                    <a:ext uri="{9D8B030D-6E8A-4147-A177-3AD203B41FA5}">
                      <a16:colId xmlns:a16="http://schemas.microsoft.com/office/drawing/2014/main" val="20001"/>
                    </a:ext>
                  </a:extLst>
                </a:gridCol>
                <a:gridCol w="586642">
                  <a:extLst>
                    <a:ext uri="{9D8B030D-6E8A-4147-A177-3AD203B41FA5}">
                      <a16:colId xmlns:a16="http://schemas.microsoft.com/office/drawing/2014/main" val="20002"/>
                    </a:ext>
                  </a:extLst>
                </a:gridCol>
                <a:gridCol w="586642">
                  <a:extLst>
                    <a:ext uri="{9D8B030D-6E8A-4147-A177-3AD203B41FA5}">
                      <a16:colId xmlns:a16="http://schemas.microsoft.com/office/drawing/2014/main" val="20003"/>
                    </a:ext>
                  </a:extLst>
                </a:gridCol>
                <a:gridCol w="586642">
                  <a:extLst>
                    <a:ext uri="{9D8B030D-6E8A-4147-A177-3AD203B41FA5}">
                      <a16:colId xmlns:a16="http://schemas.microsoft.com/office/drawing/2014/main" val="20004"/>
                    </a:ext>
                  </a:extLst>
                </a:gridCol>
                <a:gridCol w="586642">
                  <a:extLst>
                    <a:ext uri="{9D8B030D-6E8A-4147-A177-3AD203B41FA5}">
                      <a16:colId xmlns:a16="http://schemas.microsoft.com/office/drawing/2014/main" val="20005"/>
                    </a:ext>
                  </a:extLst>
                </a:gridCol>
                <a:gridCol w="586642">
                  <a:extLst>
                    <a:ext uri="{9D8B030D-6E8A-4147-A177-3AD203B41FA5}">
                      <a16:colId xmlns:a16="http://schemas.microsoft.com/office/drawing/2014/main" val="20006"/>
                    </a:ext>
                  </a:extLst>
                </a:gridCol>
                <a:gridCol w="586642">
                  <a:extLst>
                    <a:ext uri="{9D8B030D-6E8A-4147-A177-3AD203B41FA5}">
                      <a16:colId xmlns:a16="http://schemas.microsoft.com/office/drawing/2014/main" val="20007"/>
                    </a:ext>
                  </a:extLst>
                </a:gridCol>
                <a:gridCol w="586642">
                  <a:extLst>
                    <a:ext uri="{9D8B030D-6E8A-4147-A177-3AD203B41FA5}">
                      <a16:colId xmlns:a16="http://schemas.microsoft.com/office/drawing/2014/main" val="20008"/>
                    </a:ext>
                  </a:extLst>
                </a:gridCol>
                <a:gridCol w="586642">
                  <a:extLst>
                    <a:ext uri="{9D8B030D-6E8A-4147-A177-3AD203B41FA5}">
                      <a16:colId xmlns:a16="http://schemas.microsoft.com/office/drawing/2014/main" val="20009"/>
                    </a:ext>
                  </a:extLst>
                </a:gridCol>
                <a:gridCol w="586642">
                  <a:extLst>
                    <a:ext uri="{9D8B030D-6E8A-4147-A177-3AD203B41FA5}">
                      <a16:colId xmlns:a16="http://schemas.microsoft.com/office/drawing/2014/main" val="20010"/>
                    </a:ext>
                  </a:extLst>
                </a:gridCol>
                <a:gridCol w="697693">
                  <a:extLst>
                    <a:ext uri="{9D8B030D-6E8A-4147-A177-3AD203B41FA5}">
                      <a16:colId xmlns:a16="http://schemas.microsoft.com/office/drawing/2014/main" val="20011"/>
                    </a:ext>
                  </a:extLst>
                </a:gridCol>
                <a:gridCol w="697693">
                  <a:extLst>
                    <a:ext uri="{9D8B030D-6E8A-4147-A177-3AD203B41FA5}">
                      <a16:colId xmlns:a16="http://schemas.microsoft.com/office/drawing/2014/main" val="20012"/>
                    </a:ext>
                  </a:extLst>
                </a:gridCol>
                <a:gridCol w="697693">
                  <a:extLst>
                    <a:ext uri="{9D8B030D-6E8A-4147-A177-3AD203B41FA5}">
                      <a16:colId xmlns:a16="http://schemas.microsoft.com/office/drawing/2014/main" val="20013"/>
                    </a:ext>
                  </a:extLst>
                </a:gridCol>
                <a:gridCol w="697693">
                  <a:extLst>
                    <a:ext uri="{9D8B030D-6E8A-4147-A177-3AD203B41FA5}">
                      <a16:colId xmlns:a16="http://schemas.microsoft.com/office/drawing/2014/main" val="20014"/>
                    </a:ext>
                  </a:extLst>
                </a:gridCol>
                <a:gridCol w="697693">
                  <a:extLst>
                    <a:ext uri="{9D8B030D-6E8A-4147-A177-3AD203B41FA5}">
                      <a16:colId xmlns:a16="http://schemas.microsoft.com/office/drawing/2014/main" val="20015"/>
                    </a:ext>
                  </a:extLst>
                </a:gridCol>
                <a:gridCol w="697693">
                  <a:extLst>
                    <a:ext uri="{9D8B030D-6E8A-4147-A177-3AD203B41FA5}">
                      <a16:colId xmlns:a16="http://schemas.microsoft.com/office/drawing/2014/main" val="20016"/>
                    </a:ext>
                  </a:extLst>
                </a:gridCol>
                <a:gridCol w="556990">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8765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By Board Construction (US$ Mn)</a:t>
            </a:r>
          </a:p>
        </p:txBody>
      </p:sp>
      <p:graphicFrame>
        <p:nvGraphicFramePr>
          <p:cNvPr id="17" name="Table 16"/>
          <p:cNvGraphicFramePr>
            <a:graphicFrameLocks noGrp="1"/>
          </p:cNvGraphicFramePr>
          <p:nvPr/>
        </p:nvGraphicFramePr>
        <p:xfrm>
          <a:off x="152400" y="3076575"/>
          <a:ext cx="11887203" cy="1238250"/>
        </p:xfrm>
        <a:graphic>
          <a:graphicData uri="http://schemas.openxmlformats.org/drawingml/2006/table">
            <a:tbl>
              <a:tblPr>
                <a:tableStyleId>{5C22544A-7EE6-4342-B048-85BDC9FD1C3A}</a:tableStyleId>
              </a:tblPr>
              <a:tblGrid>
                <a:gridCol w="1413248">
                  <a:extLst>
                    <a:ext uri="{9D8B030D-6E8A-4147-A177-3AD203B41FA5}">
                      <a16:colId xmlns:a16="http://schemas.microsoft.com/office/drawing/2014/main" val="20000"/>
                    </a:ext>
                  </a:extLst>
                </a:gridCol>
                <a:gridCol w="616115">
                  <a:extLst>
                    <a:ext uri="{9D8B030D-6E8A-4147-A177-3AD203B41FA5}">
                      <a16:colId xmlns:a16="http://schemas.microsoft.com/office/drawing/2014/main" val="20001"/>
                    </a:ext>
                  </a:extLst>
                </a:gridCol>
                <a:gridCol w="616115">
                  <a:extLst>
                    <a:ext uri="{9D8B030D-6E8A-4147-A177-3AD203B41FA5}">
                      <a16:colId xmlns:a16="http://schemas.microsoft.com/office/drawing/2014/main" val="20002"/>
                    </a:ext>
                  </a:extLst>
                </a:gridCol>
                <a:gridCol w="616115">
                  <a:extLst>
                    <a:ext uri="{9D8B030D-6E8A-4147-A177-3AD203B41FA5}">
                      <a16:colId xmlns:a16="http://schemas.microsoft.com/office/drawing/2014/main" val="20003"/>
                    </a:ext>
                  </a:extLst>
                </a:gridCol>
                <a:gridCol w="616115">
                  <a:extLst>
                    <a:ext uri="{9D8B030D-6E8A-4147-A177-3AD203B41FA5}">
                      <a16:colId xmlns:a16="http://schemas.microsoft.com/office/drawing/2014/main" val="20004"/>
                    </a:ext>
                  </a:extLst>
                </a:gridCol>
                <a:gridCol w="616115">
                  <a:extLst>
                    <a:ext uri="{9D8B030D-6E8A-4147-A177-3AD203B41FA5}">
                      <a16:colId xmlns:a16="http://schemas.microsoft.com/office/drawing/2014/main" val="20005"/>
                    </a:ext>
                  </a:extLst>
                </a:gridCol>
                <a:gridCol w="616115">
                  <a:extLst>
                    <a:ext uri="{9D8B030D-6E8A-4147-A177-3AD203B41FA5}">
                      <a16:colId xmlns:a16="http://schemas.microsoft.com/office/drawing/2014/main" val="20006"/>
                    </a:ext>
                  </a:extLst>
                </a:gridCol>
                <a:gridCol w="616115">
                  <a:extLst>
                    <a:ext uri="{9D8B030D-6E8A-4147-A177-3AD203B41FA5}">
                      <a16:colId xmlns:a16="http://schemas.microsoft.com/office/drawing/2014/main" val="20007"/>
                    </a:ext>
                  </a:extLst>
                </a:gridCol>
                <a:gridCol w="616115">
                  <a:extLst>
                    <a:ext uri="{9D8B030D-6E8A-4147-A177-3AD203B41FA5}">
                      <a16:colId xmlns:a16="http://schemas.microsoft.com/office/drawing/2014/main" val="20008"/>
                    </a:ext>
                  </a:extLst>
                </a:gridCol>
                <a:gridCol w="616115">
                  <a:extLst>
                    <a:ext uri="{9D8B030D-6E8A-4147-A177-3AD203B41FA5}">
                      <a16:colId xmlns:a16="http://schemas.microsoft.com/office/drawing/2014/main" val="20009"/>
                    </a:ext>
                  </a:extLst>
                </a:gridCol>
                <a:gridCol w="616115">
                  <a:extLst>
                    <a:ext uri="{9D8B030D-6E8A-4147-A177-3AD203B41FA5}">
                      <a16:colId xmlns:a16="http://schemas.microsoft.com/office/drawing/2014/main" val="20010"/>
                    </a:ext>
                  </a:extLst>
                </a:gridCol>
                <a:gridCol w="616115">
                  <a:extLst>
                    <a:ext uri="{9D8B030D-6E8A-4147-A177-3AD203B41FA5}">
                      <a16:colId xmlns:a16="http://schemas.microsoft.com/office/drawing/2014/main" val="20011"/>
                    </a:ext>
                  </a:extLst>
                </a:gridCol>
                <a:gridCol w="616115">
                  <a:extLst>
                    <a:ext uri="{9D8B030D-6E8A-4147-A177-3AD203B41FA5}">
                      <a16:colId xmlns:a16="http://schemas.microsoft.com/office/drawing/2014/main" val="20012"/>
                    </a:ext>
                  </a:extLst>
                </a:gridCol>
                <a:gridCol w="616115">
                  <a:extLst>
                    <a:ext uri="{9D8B030D-6E8A-4147-A177-3AD203B41FA5}">
                      <a16:colId xmlns:a16="http://schemas.microsoft.com/office/drawing/2014/main" val="20013"/>
                    </a:ext>
                  </a:extLst>
                </a:gridCol>
                <a:gridCol w="616115">
                  <a:extLst>
                    <a:ext uri="{9D8B030D-6E8A-4147-A177-3AD203B41FA5}">
                      <a16:colId xmlns:a16="http://schemas.microsoft.com/office/drawing/2014/main" val="20014"/>
                    </a:ext>
                  </a:extLst>
                </a:gridCol>
                <a:gridCol w="616115">
                  <a:extLst>
                    <a:ext uri="{9D8B030D-6E8A-4147-A177-3AD203B41FA5}">
                      <a16:colId xmlns:a16="http://schemas.microsoft.com/office/drawing/2014/main" val="20015"/>
                    </a:ext>
                  </a:extLst>
                </a:gridCol>
                <a:gridCol w="616115">
                  <a:extLst>
                    <a:ext uri="{9D8B030D-6E8A-4147-A177-3AD203B41FA5}">
                      <a16:colId xmlns:a16="http://schemas.microsoft.com/office/drawing/2014/main" val="20016"/>
                    </a:ext>
                  </a:extLst>
                </a:gridCol>
                <a:gridCol w="616115">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8" name="TextBox 17"/>
          <p:cNvSpPr txBox="1"/>
          <p:nvPr/>
        </p:nvSpPr>
        <p:spPr>
          <a:xfrm>
            <a:off x="219075" y="43243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48121"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615935" y="3552062"/>
            <a:ext cx="366712" cy="533400"/>
          </a:xfrm>
          <a:prstGeom prst="rect">
            <a:avLst/>
          </a:prstGeom>
        </p:spPr>
      </p:pic>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YoY Analysis Board Construction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year-on-year volume and value growth by Board Construction,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YoY,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990600"/>
        </p:xfrm>
        <a:graphic>
          <a:graphicData uri="http://schemas.openxmlformats.org/drawingml/2006/table">
            <a:tbl>
              <a:tblPr>
                <a:tableStyleId>{5C22544A-7EE6-4342-B048-85BDC9FD1C3A}</a:tableStyleId>
              </a:tblPr>
              <a:tblGrid>
                <a:gridCol w="1548429">
                  <a:extLst>
                    <a:ext uri="{9D8B030D-6E8A-4147-A177-3AD203B41FA5}">
                      <a16:colId xmlns:a16="http://schemas.microsoft.com/office/drawing/2014/main" val="20000"/>
                    </a:ext>
                  </a:extLst>
                </a:gridCol>
                <a:gridCol w="689251">
                  <a:extLst>
                    <a:ext uri="{9D8B030D-6E8A-4147-A177-3AD203B41FA5}">
                      <a16:colId xmlns:a16="http://schemas.microsoft.com/office/drawing/2014/main" val="20001"/>
                    </a:ext>
                  </a:extLst>
                </a:gridCol>
                <a:gridCol w="689251">
                  <a:extLst>
                    <a:ext uri="{9D8B030D-6E8A-4147-A177-3AD203B41FA5}">
                      <a16:colId xmlns:a16="http://schemas.microsoft.com/office/drawing/2014/main" val="20002"/>
                    </a:ext>
                  </a:extLst>
                </a:gridCol>
                <a:gridCol w="689251">
                  <a:extLst>
                    <a:ext uri="{9D8B030D-6E8A-4147-A177-3AD203B41FA5}">
                      <a16:colId xmlns:a16="http://schemas.microsoft.com/office/drawing/2014/main" val="20003"/>
                    </a:ext>
                  </a:extLst>
                </a:gridCol>
                <a:gridCol w="689251">
                  <a:extLst>
                    <a:ext uri="{9D8B030D-6E8A-4147-A177-3AD203B41FA5}">
                      <a16:colId xmlns:a16="http://schemas.microsoft.com/office/drawing/2014/main" val="20004"/>
                    </a:ext>
                  </a:extLst>
                </a:gridCol>
                <a:gridCol w="689251">
                  <a:extLst>
                    <a:ext uri="{9D8B030D-6E8A-4147-A177-3AD203B41FA5}">
                      <a16:colId xmlns:a16="http://schemas.microsoft.com/office/drawing/2014/main" val="20005"/>
                    </a:ext>
                  </a:extLst>
                </a:gridCol>
                <a:gridCol w="689251">
                  <a:extLst>
                    <a:ext uri="{9D8B030D-6E8A-4147-A177-3AD203B41FA5}">
                      <a16:colId xmlns:a16="http://schemas.microsoft.com/office/drawing/2014/main" val="20006"/>
                    </a:ext>
                  </a:extLst>
                </a:gridCol>
                <a:gridCol w="689251">
                  <a:extLst>
                    <a:ext uri="{9D8B030D-6E8A-4147-A177-3AD203B41FA5}">
                      <a16:colId xmlns:a16="http://schemas.microsoft.com/office/drawing/2014/main" val="20007"/>
                    </a:ext>
                  </a:extLst>
                </a:gridCol>
                <a:gridCol w="689251">
                  <a:extLst>
                    <a:ext uri="{9D8B030D-6E8A-4147-A177-3AD203B41FA5}">
                      <a16:colId xmlns:a16="http://schemas.microsoft.com/office/drawing/2014/main" val="20008"/>
                    </a:ext>
                  </a:extLst>
                </a:gridCol>
                <a:gridCol w="689251">
                  <a:extLst>
                    <a:ext uri="{9D8B030D-6E8A-4147-A177-3AD203B41FA5}">
                      <a16:colId xmlns:a16="http://schemas.microsoft.com/office/drawing/2014/main" val="20009"/>
                    </a:ext>
                  </a:extLst>
                </a:gridCol>
                <a:gridCol w="689251">
                  <a:extLst>
                    <a:ext uri="{9D8B030D-6E8A-4147-A177-3AD203B41FA5}">
                      <a16:colId xmlns:a16="http://schemas.microsoft.com/office/drawing/2014/main" val="20010"/>
                    </a:ext>
                  </a:extLst>
                </a:gridCol>
                <a:gridCol w="689251">
                  <a:extLst>
                    <a:ext uri="{9D8B030D-6E8A-4147-A177-3AD203B41FA5}">
                      <a16:colId xmlns:a16="http://schemas.microsoft.com/office/drawing/2014/main" val="20011"/>
                    </a:ext>
                  </a:extLst>
                </a:gridCol>
                <a:gridCol w="689251">
                  <a:extLst>
                    <a:ext uri="{9D8B030D-6E8A-4147-A177-3AD203B41FA5}">
                      <a16:colId xmlns:a16="http://schemas.microsoft.com/office/drawing/2014/main" val="20012"/>
                    </a:ext>
                  </a:extLst>
                </a:gridCol>
                <a:gridCol w="689251">
                  <a:extLst>
                    <a:ext uri="{9D8B030D-6E8A-4147-A177-3AD203B41FA5}">
                      <a16:colId xmlns:a16="http://schemas.microsoft.com/office/drawing/2014/main" val="20013"/>
                    </a:ext>
                  </a:extLst>
                </a:gridCol>
                <a:gridCol w="689251">
                  <a:extLst>
                    <a:ext uri="{9D8B030D-6E8A-4147-A177-3AD203B41FA5}">
                      <a16:colId xmlns:a16="http://schemas.microsoft.com/office/drawing/2014/main" val="20014"/>
                    </a:ext>
                  </a:extLst>
                </a:gridCol>
                <a:gridCol w="6892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238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628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YoY, By Board Construction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194" cy="990600"/>
        </p:xfrm>
        <a:graphic>
          <a:graphicData uri="http://schemas.openxmlformats.org/drawingml/2006/table">
            <a:tbl>
              <a:tblPr>
                <a:tableStyleId>{5C22544A-7EE6-4342-B048-85BDC9FD1C3A}</a:tableStyleId>
              </a:tblPr>
              <a:tblGrid>
                <a:gridCol w="1548429">
                  <a:extLst>
                    <a:ext uri="{9D8B030D-6E8A-4147-A177-3AD203B41FA5}">
                      <a16:colId xmlns:a16="http://schemas.microsoft.com/office/drawing/2014/main" val="20000"/>
                    </a:ext>
                  </a:extLst>
                </a:gridCol>
                <a:gridCol w="689251">
                  <a:extLst>
                    <a:ext uri="{9D8B030D-6E8A-4147-A177-3AD203B41FA5}">
                      <a16:colId xmlns:a16="http://schemas.microsoft.com/office/drawing/2014/main" val="20001"/>
                    </a:ext>
                  </a:extLst>
                </a:gridCol>
                <a:gridCol w="689251">
                  <a:extLst>
                    <a:ext uri="{9D8B030D-6E8A-4147-A177-3AD203B41FA5}">
                      <a16:colId xmlns:a16="http://schemas.microsoft.com/office/drawing/2014/main" val="20002"/>
                    </a:ext>
                  </a:extLst>
                </a:gridCol>
                <a:gridCol w="689251">
                  <a:extLst>
                    <a:ext uri="{9D8B030D-6E8A-4147-A177-3AD203B41FA5}">
                      <a16:colId xmlns:a16="http://schemas.microsoft.com/office/drawing/2014/main" val="20003"/>
                    </a:ext>
                  </a:extLst>
                </a:gridCol>
                <a:gridCol w="689251">
                  <a:extLst>
                    <a:ext uri="{9D8B030D-6E8A-4147-A177-3AD203B41FA5}">
                      <a16:colId xmlns:a16="http://schemas.microsoft.com/office/drawing/2014/main" val="20004"/>
                    </a:ext>
                  </a:extLst>
                </a:gridCol>
                <a:gridCol w="689251">
                  <a:extLst>
                    <a:ext uri="{9D8B030D-6E8A-4147-A177-3AD203B41FA5}">
                      <a16:colId xmlns:a16="http://schemas.microsoft.com/office/drawing/2014/main" val="20005"/>
                    </a:ext>
                  </a:extLst>
                </a:gridCol>
                <a:gridCol w="689251">
                  <a:extLst>
                    <a:ext uri="{9D8B030D-6E8A-4147-A177-3AD203B41FA5}">
                      <a16:colId xmlns:a16="http://schemas.microsoft.com/office/drawing/2014/main" val="20006"/>
                    </a:ext>
                  </a:extLst>
                </a:gridCol>
                <a:gridCol w="689251">
                  <a:extLst>
                    <a:ext uri="{9D8B030D-6E8A-4147-A177-3AD203B41FA5}">
                      <a16:colId xmlns:a16="http://schemas.microsoft.com/office/drawing/2014/main" val="20007"/>
                    </a:ext>
                  </a:extLst>
                </a:gridCol>
                <a:gridCol w="689251">
                  <a:extLst>
                    <a:ext uri="{9D8B030D-6E8A-4147-A177-3AD203B41FA5}">
                      <a16:colId xmlns:a16="http://schemas.microsoft.com/office/drawing/2014/main" val="20008"/>
                    </a:ext>
                  </a:extLst>
                </a:gridCol>
                <a:gridCol w="689251">
                  <a:extLst>
                    <a:ext uri="{9D8B030D-6E8A-4147-A177-3AD203B41FA5}">
                      <a16:colId xmlns:a16="http://schemas.microsoft.com/office/drawing/2014/main" val="20009"/>
                    </a:ext>
                  </a:extLst>
                </a:gridCol>
                <a:gridCol w="689251">
                  <a:extLst>
                    <a:ext uri="{9D8B030D-6E8A-4147-A177-3AD203B41FA5}">
                      <a16:colId xmlns:a16="http://schemas.microsoft.com/office/drawing/2014/main" val="20010"/>
                    </a:ext>
                  </a:extLst>
                </a:gridCol>
                <a:gridCol w="689251">
                  <a:extLst>
                    <a:ext uri="{9D8B030D-6E8A-4147-A177-3AD203B41FA5}">
                      <a16:colId xmlns:a16="http://schemas.microsoft.com/office/drawing/2014/main" val="20011"/>
                    </a:ext>
                  </a:extLst>
                </a:gridCol>
                <a:gridCol w="689251">
                  <a:extLst>
                    <a:ext uri="{9D8B030D-6E8A-4147-A177-3AD203B41FA5}">
                      <a16:colId xmlns:a16="http://schemas.microsoft.com/office/drawing/2014/main" val="20012"/>
                    </a:ext>
                  </a:extLst>
                </a:gridCol>
                <a:gridCol w="689251">
                  <a:extLst>
                    <a:ext uri="{9D8B030D-6E8A-4147-A177-3AD203B41FA5}">
                      <a16:colId xmlns:a16="http://schemas.microsoft.com/office/drawing/2014/main" val="20013"/>
                    </a:ext>
                  </a:extLst>
                </a:gridCol>
                <a:gridCol w="689251">
                  <a:extLst>
                    <a:ext uri="{9D8B030D-6E8A-4147-A177-3AD203B41FA5}">
                      <a16:colId xmlns:a16="http://schemas.microsoft.com/office/drawing/2014/main" val="20014"/>
                    </a:ext>
                  </a:extLst>
                </a:gridCol>
                <a:gridCol w="6892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Board 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8" name="TextBox 17"/>
          <p:cNvSpPr txBox="1"/>
          <p:nvPr/>
        </p:nvSpPr>
        <p:spPr>
          <a:xfrm>
            <a:off x="219075" y="38290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83521"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683521" y="3180587"/>
            <a:ext cx="366712" cy="533400"/>
          </a:xfrm>
          <a:prstGeom prst="rect">
            <a:avLst/>
          </a:prstGeom>
        </p:spPr>
      </p:pic>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14.3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Material Source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Segmental</a:t>
            </a:r>
          </a:p>
          <a:p>
            <a:pPr marL="342900" indent="-323850">
              <a:lnSpc>
                <a:spcPct val="100000"/>
              </a:lnSpc>
              <a:spcAft>
                <a:spcPts val="800"/>
              </a:spcAft>
            </a:pPr>
            <a:r>
              <a:rPr sz="2000" b="0">
                <a:solidFill>
                  <a:srgbClr val="000000"/>
                </a:solidFill>
                <a:latin typeface="Calibri"/>
              </a:rPr>
              <a:t>➤	Table (Volume &amp; Value)</a:t>
            </a:r>
          </a:p>
          <a:p>
            <a:pPr marL="342900" indent="-323850">
              <a:lnSpc>
                <a:spcPct val="100000"/>
              </a:lnSpc>
              <a:spcAft>
                <a:spcPts val="800"/>
              </a:spcAft>
            </a:pPr>
            <a:r>
              <a:rPr sz="2000" b="0">
                <a:solidFill>
                  <a:srgbClr val="000000"/>
                </a:solidFill>
                <a:latin typeface="Calibri"/>
              </a:rPr>
              <a:t>➤	YoY</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Segmental Analysis Material Source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segmental analysis by Material Source: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Growth Contribution 2026 → 2036, By Material Source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Value Shares &amp; Variance, By Material Source</a:t>
            </a:r>
          </a:p>
        </p:txBody>
      </p:sp>
      <p:graphicFrame>
        <p:nvGraphicFramePr>
          <p:cNvPr id="16" name="Table 15"/>
          <p:cNvGraphicFramePr>
            <a:graphicFrameLocks noGrp="1"/>
          </p:cNvGraphicFramePr>
          <p:nvPr/>
        </p:nvGraphicFramePr>
        <p:xfrm>
          <a:off x="6181725" y="1238250"/>
          <a:ext cx="5857875" cy="2286000"/>
        </p:xfrm>
        <a:graphic>
          <a:graphicData uri="http://schemas.openxmlformats.org/drawingml/2006/table">
            <a:tbl>
              <a:tblPr>
                <a:tableStyleId>{5C22544A-7EE6-4342-B048-85BDC9FD1C3A}</a:tableStyleId>
              </a:tblPr>
              <a:tblGrid>
                <a:gridCol w="1644911">
                  <a:extLst>
                    <a:ext uri="{9D8B030D-6E8A-4147-A177-3AD203B41FA5}">
                      <a16:colId xmlns:a16="http://schemas.microsoft.com/office/drawing/2014/main" val="20000"/>
                    </a:ext>
                  </a:extLst>
                </a:gridCol>
                <a:gridCol w="1053241">
                  <a:extLst>
                    <a:ext uri="{9D8B030D-6E8A-4147-A177-3AD203B41FA5}">
                      <a16:colId xmlns:a16="http://schemas.microsoft.com/office/drawing/2014/main" val="20001"/>
                    </a:ext>
                  </a:extLst>
                </a:gridCol>
                <a:gridCol w="1053241">
                  <a:extLst>
                    <a:ext uri="{9D8B030D-6E8A-4147-A177-3AD203B41FA5}">
                      <a16:colId xmlns:a16="http://schemas.microsoft.com/office/drawing/2014/main" val="20002"/>
                    </a:ext>
                  </a:extLst>
                </a:gridCol>
                <a:gridCol w="1053241">
                  <a:extLst>
                    <a:ext uri="{9D8B030D-6E8A-4147-A177-3AD203B41FA5}">
                      <a16:colId xmlns:a16="http://schemas.microsoft.com/office/drawing/2014/main" val="20003"/>
                    </a:ext>
                  </a:extLst>
                </a:gridCol>
                <a:gridCol w="1053241">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1019937">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1019937">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7" name="TextBox 16"/>
          <p:cNvSpPr txBox="1"/>
          <p:nvPr/>
        </p:nvSpPr>
        <p:spPr>
          <a:xfrm>
            <a:off x="6248400" y="3533775"/>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Absolute $ Opportunity, By Material Source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267450"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Volume Shares &amp; Variance, By Material Source</a:t>
            </a:r>
          </a:p>
        </p:txBody>
      </p:sp>
      <p:graphicFrame>
        <p:nvGraphicFramePr>
          <p:cNvPr id="23" name="Table 22"/>
          <p:cNvGraphicFramePr>
            <a:graphicFrameLocks noGrp="1"/>
          </p:cNvGraphicFramePr>
          <p:nvPr/>
        </p:nvGraphicFramePr>
        <p:xfrm>
          <a:off x="6181725" y="4124325"/>
          <a:ext cx="5857875" cy="2286000"/>
        </p:xfrm>
        <a:graphic>
          <a:graphicData uri="http://schemas.openxmlformats.org/drawingml/2006/table">
            <a:tbl>
              <a:tblPr>
                <a:tableStyleId>{5C22544A-7EE6-4342-B048-85BDC9FD1C3A}</a:tableStyleId>
              </a:tblPr>
              <a:tblGrid>
                <a:gridCol w="1644911">
                  <a:extLst>
                    <a:ext uri="{9D8B030D-6E8A-4147-A177-3AD203B41FA5}">
                      <a16:colId xmlns:a16="http://schemas.microsoft.com/office/drawing/2014/main" val="20000"/>
                    </a:ext>
                  </a:extLst>
                </a:gridCol>
                <a:gridCol w="1053241">
                  <a:extLst>
                    <a:ext uri="{9D8B030D-6E8A-4147-A177-3AD203B41FA5}">
                      <a16:colId xmlns:a16="http://schemas.microsoft.com/office/drawing/2014/main" val="20001"/>
                    </a:ext>
                  </a:extLst>
                </a:gridCol>
                <a:gridCol w="1053241">
                  <a:extLst>
                    <a:ext uri="{9D8B030D-6E8A-4147-A177-3AD203B41FA5}">
                      <a16:colId xmlns:a16="http://schemas.microsoft.com/office/drawing/2014/main" val="20002"/>
                    </a:ext>
                  </a:extLst>
                </a:gridCol>
                <a:gridCol w="1053241">
                  <a:extLst>
                    <a:ext uri="{9D8B030D-6E8A-4147-A177-3AD203B41FA5}">
                      <a16:colId xmlns:a16="http://schemas.microsoft.com/office/drawing/2014/main" val="20003"/>
                    </a:ext>
                  </a:extLst>
                </a:gridCol>
                <a:gridCol w="1053241">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1019937">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1019937">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24" name="TextBox 23"/>
          <p:cNvSpPr txBox="1"/>
          <p:nvPr/>
        </p:nvSpPr>
        <p:spPr>
          <a:xfrm>
            <a:off x="6248400" y="6419850"/>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46428"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46428"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Tables Material Source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value of the U.S. market by Material Source,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By Material Source (MT)</a:t>
            </a:r>
          </a:p>
        </p:txBody>
      </p:sp>
      <p:graphicFrame>
        <p:nvGraphicFramePr>
          <p:cNvPr id="13" name="Table 12"/>
          <p:cNvGraphicFramePr>
            <a:graphicFrameLocks noGrp="1"/>
          </p:cNvGraphicFramePr>
          <p:nvPr/>
        </p:nvGraphicFramePr>
        <p:xfrm>
          <a:off x="152400" y="1238250"/>
          <a:ext cx="11887202" cy="1371597"/>
        </p:xfrm>
        <a:graphic>
          <a:graphicData uri="http://schemas.openxmlformats.org/drawingml/2006/table">
            <a:tbl>
              <a:tblPr>
                <a:tableStyleId>{5C22544A-7EE6-4342-B048-85BDC9FD1C3A}</a:tableStyleId>
              </a:tblPr>
              <a:tblGrid>
                <a:gridCol w="1528591">
                  <a:extLst>
                    <a:ext uri="{9D8B030D-6E8A-4147-A177-3AD203B41FA5}">
                      <a16:colId xmlns:a16="http://schemas.microsoft.com/office/drawing/2014/main" val="20000"/>
                    </a:ext>
                  </a:extLst>
                </a:gridCol>
                <a:gridCol w="571607">
                  <a:extLst>
                    <a:ext uri="{9D8B030D-6E8A-4147-A177-3AD203B41FA5}">
                      <a16:colId xmlns:a16="http://schemas.microsoft.com/office/drawing/2014/main" val="20001"/>
                    </a:ext>
                  </a:extLst>
                </a:gridCol>
                <a:gridCol w="571607">
                  <a:extLst>
                    <a:ext uri="{9D8B030D-6E8A-4147-A177-3AD203B41FA5}">
                      <a16:colId xmlns:a16="http://schemas.microsoft.com/office/drawing/2014/main" val="20002"/>
                    </a:ext>
                  </a:extLst>
                </a:gridCol>
                <a:gridCol w="571607">
                  <a:extLst>
                    <a:ext uri="{9D8B030D-6E8A-4147-A177-3AD203B41FA5}">
                      <a16:colId xmlns:a16="http://schemas.microsoft.com/office/drawing/2014/main" val="20003"/>
                    </a:ext>
                  </a:extLst>
                </a:gridCol>
                <a:gridCol w="571607">
                  <a:extLst>
                    <a:ext uri="{9D8B030D-6E8A-4147-A177-3AD203B41FA5}">
                      <a16:colId xmlns:a16="http://schemas.microsoft.com/office/drawing/2014/main" val="20004"/>
                    </a:ext>
                  </a:extLst>
                </a:gridCol>
                <a:gridCol w="571607">
                  <a:extLst>
                    <a:ext uri="{9D8B030D-6E8A-4147-A177-3AD203B41FA5}">
                      <a16:colId xmlns:a16="http://schemas.microsoft.com/office/drawing/2014/main" val="20005"/>
                    </a:ext>
                  </a:extLst>
                </a:gridCol>
                <a:gridCol w="571607">
                  <a:extLst>
                    <a:ext uri="{9D8B030D-6E8A-4147-A177-3AD203B41FA5}">
                      <a16:colId xmlns:a16="http://schemas.microsoft.com/office/drawing/2014/main" val="20006"/>
                    </a:ext>
                  </a:extLst>
                </a:gridCol>
                <a:gridCol w="571607">
                  <a:extLst>
                    <a:ext uri="{9D8B030D-6E8A-4147-A177-3AD203B41FA5}">
                      <a16:colId xmlns:a16="http://schemas.microsoft.com/office/drawing/2014/main" val="20007"/>
                    </a:ext>
                  </a:extLst>
                </a:gridCol>
                <a:gridCol w="571607">
                  <a:extLst>
                    <a:ext uri="{9D8B030D-6E8A-4147-A177-3AD203B41FA5}">
                      <a16:colId xmlns:a16="http://schemas.microsoft.com/office/drawing/2014/main" val="20008"/>
                    </a:ext>
                  </a:extLst>
                </a:gridCol>
                <a:gridCol w="571607">
                  <a:extLst>
                    <a:ext uri="{9D8B030D-6E8A-4147-A177-3AD203B41FA5}">
                      <a16:colId xmlns:a16="http://schemas.microsoft.com/office/drawing/2014/main" val="20009"/>
                    </a:ext>
                  </a:extLst>
                </a:gridCol>
                <a:gridCol w="571607">
                  <a:extLst>
                    <a:ext uri="{9D8B030D-6E8A-4147-A177-3AD203B41FA5}">
                      <a16:colId xmlns:a16="http://schemas.microsoft.com/office/drawing/2014/main" val="20010"/>
                    </a:ext>
                  </a:extLst>
                </a:gridCol>
                <a:gridCol w="683467">
                  <a:extLst>
                    <a:ext uri="{9D8B030D-6E8A-4147-A177-3AD203B41FA5}">
                      <a16:colId xmlns:a16="http://schemas.microsoft.com/office/drawing/2014/main" val="20011"/>
                    </a:ext>
                  </a:extLst>
                </a:gridCol>
                <a:gridCol w="683467">
                  <a:extLst>
                    <a:ext uri="{9D8B030D-6E8A-4147-A177-3AD203B41FA5}">
                      <a16:colId xmlns:a16="http://schemas.microsoft.com/office/drawing/2014/main" val="20012"/>
                    </a:ext>
                  </a:extLst>
                </a:gridCol>
                <a:gridCol w="683467">
                  <a:extLst>
                    <a:ext uri="{9D8B030D-6E8A-4147-A177-3AD203B41FA5}">
                      <a16:colId xmlns:a16="http://schemas.microsoft.com/office/drawing/2014/main" val="20013"/>
                    </a:ext>
                  </a:extLst>
                </a:gridCol>
                <a:gridCol w="683467">
                  <a:extLst>
                    <a:ext uri="{9D8B030D-6E8A-4147-A177-3AD203B41FA5}">
                      <a16:colId xmlns:a16="http://schemas.microsoft.com/office/drawing/2014/main" val="20014"/>
                    </a:ext>
                  </a:extLst>
                </a:gridCol>
                <a:gridCol w="683467">
                  <a:extLst>
                    <a:ext uri="{9D8B030D-6E8A-4147-A177-3AD203B41FA5}">
                      <a16:colId xmlns:a16="http://schemas.microsoft.com/office/drawing/2014/main" val="20015"/>
                    </a:ext>
                  </a:extLst>
                </a:gridCol>
                <a:gridCol w="683467">
                  <a:extLst>
                    <a:ext uri="{9D8B030D-6E8A-4147-A177-3AD203B41FA5}">
                      <a16:colId xmlns:a16="http://schemas.microsoft.com/office/drawing/2014/main" val="20016"/>
                    </a:ext>
                  </a:extLst>
                </a:gridCol>
                <a:gridCol w="541739">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Material Source</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a:lstStyle/>
                    <a:p>
                      <a:pPr algn="ctr"/>
                      <a:r>
                        <a:rPr sz="1100" b="1">
                          <a:solidFill>
                            <a:srgbClr val="0B2E4A"/>
                          </a:solidFill>
                          <a:latin typeface="Calibri"/>
                        </a:rPr>
                        <a:t>F-CAGR</a:t>
                      </a:r>
                      <a:endParaRPr sz="1100"/>
                    </a:p>
                  </a:txBody>
                  <a:tcPr marL="38100" marR="28575" marT="19050" marB="19050" anchor="ctr">
                    <a:solidFill>
                      <a:srgbClr val="E0E8EF"/>
                    </a:solidFill>
                  </a:tcPr>
                </a:tc>
                <a:extLst>
                  <a:ext uri="{0D108BD9-81ED-4DB2-BD59-A6C34878D82A}">
                    <a16:rowId xmlns:a16="http://schemas.microsoft.com/office/drawing/2014/main" val="10000"/>
                  </a:ext>
                </a:extLst>
              </a:tr>
              <a:tr h="375157">
                <a:tc>
                  <a:txBody>
                    <a:bodyPr/>
                    <a:lstStyle/>
                    <a:p>
                      <a:pPr algn="l"/>
                      <a:r>
                        <a:rPr sz="1100" b="1">
                          <a:solidFill>
                            <a:srgbClr val="2E2E2E"/>
                          </a:solidFill>
                          <a:latin typeface="Calibri"/>
                        </a:rPr>
                        <a:t>Virgin Kraft Fibre-based</a:t>
                      </a:r>
                      <a:endParaRPr sz="1100"/>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tc>
                  <a:txBody>
                    <a:bodyPr/>
                    <a:lstStyle/>
                    <a:p>
                      <a:pPr algn="ctr"/>
                      <a:r>
                        <a:rPr sz="1100"/>
                        <a:t> </a:t>
                      </a:r>
                    </a:p>
                  </a:txBody>
                  <a:tcPr marL="38100" marR="28575" marT="19050" marB="19050" anchor="ctr">
                    <a:solidFill>
                      <a:srgbClr val="FFFFFF"/>
                    </a:solidFill>
                  </a:tcPr>
                </a:tc>
                <a:extLst>
                  <a:ext uri="{0D108BD9-81ED-4DB2-BD59-A6C34878D82A}">
                    <a16:rowId xmlns:a16="http://schemas.microsoft.com/office/drawing/2014/main" val="10001"/>
                  </a:ext>
                </a:extLst>
              </a:tr>
              <a:tr h="375157">
                <a:tc>
                  <a:txBody>
                    <a:bodyPr/>
                    <a:lstStyle/>
                    <a:p>
                      <a:pPr algn="l"/>
                      <a:r>
                        <a:rPr sz="1100" b="1">
                          <a:solidFill>
                            <a:srgbClr val="2E2E2E"/>
                          </a:solidFill>
                          <a:latin typeface="Calibri"/>
                        </a:rPr>
                        <a:t>Recycled Fibre-based</a:t>
                      </a:r>
                      <a:endParaRPr sz="1100"/>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tc>
                  <a:txBody>
                    <a:bodyPr/>
                    <a:lstStyle/>
                    <a:p>
                      <a:pPr algn="ctr"/>
                      <a:r>
                        <a:rPr sz="1100"/>
                        <a:t> </a:t>
                      </a:r>
                    </a:p>
                  </a:txBody>
                  <a:tcPr marL="38100" marR="28575" marT="19050" marB="19050" anchor="ctr">
                    <a:solidFill>
                      <a:srgbClr val="F5F8FA"/>
                    </a:solidFill>
                  </a:tcPr>
                </a:tc>
                <a:extLst>
                  <a:ext uri="{0D108BD9-81ED-4DB2-BD59-A6C34878D82A}">
                    <a16:rowId xmlns:a16="http://schemas.microsoft.com/office/drawing/2014/main" val="10002"/>
                  </a:ext>
                </a:extLst>
              </a:tr>
              <a:tr h="375157">
                <a:tc>
                  <a:txBody>
                    <a:bodyPr/>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tc>
                  <a:txBody>
                    <a:bodyPr/>
                    <a:lstStyle/>
                    <a:p>
                      <a:pPr algn="ctr"/>
                      <a:r>
                        <a:rPr sz="1100"/>
                        <a:t> </a:t>
                      </a:r>
                    </a:p>
                  </a:txBody>
                  <a:tcPr marL="38100" marR="28575"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619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952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009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By Material Source (US$ Mn)</a:t>
            </a:r>
          </a:p>
        </p:txBody>
      </p:sp>
      <p:graphicFrame>
        <p:nvGraphicFramePr>
          <p:cNvPr id="17" name="Table 16"/>
          <p:cNvGraphicFramePr>
            <a:graphicFrameLocks noGrp="1"/>
          </p:cNvGraphicFramePr>
          <p:nvPr/>
        </p:nvGraphicFramePr>
        <p:xfrm>
          <a:off x="152400" y="3209925"/>
          <a:ext cx="11887201" cy="990600"/>
        </p:xfrm>
        <a:graphic>
          <a:graphicData uri="http://schemas.openxmlformats.org/drawingml/2006/table">
            <a:tbl>
              <a:tblPr>
                <a:tableStyleId>{5C22544A-7EE6-4342-B048-85BDC9FD1C3A}</a:tableStyleId>
              </a:tblPr>
              <a:tblGrid>
                <a:gridCol w="1659814">
                  <a:extLst>
                    <a:ext uri="{9D8B030D-6E8A-4147-A177-3AD203B41FA5}">
                      <a16:colId xmlns:a16="http://schemas.microsoft.com/office/drawing/2014/main" val="20000"/>
                    </a:ext>
                  </a:extLst>
                </a:gridCol>
                <a:gridCol w="601611">
                  <a:extLst>
                    <a:ext uri="{9D8B030D-6E8A-4147-A177-3AD203B41FA5}">
                      <a16:colId xmlns:a16="http://schemas.microsoft.com/office/drawing/2014/main" val="20001"/>
                    </a:ext>
                  </a:extLst>
                </a:gridCol>
                <a:gridCol w="601611">
                  <a:extLst>
                    <a:ext uri="{9D8B030D-6E8A-4147-A177-3AD203B41FA5}">
                      <a16:colId xmlns:a16="http://schemas.microsoft.com/office/drawing/2014/main" val="20002"/>
                    </a:ext>
                  </a:extLst>
                </a:gridCol>
                <a:gridCol w="601611">
                  <a:extLst>
                    <a:ext uri="{9D8B030D-6E8A-4147-A177-3AD203B41FA5}">
                      <a16:colId xmlns:a16="http://schemas.microsoft.com/office/drawing/2014/main" val="20003"/>
                    </a:ext>
                  </a:extLst>
                </a:gridCol>
                <a:gridCol w="601611">
                  <a:extLst>
                    <a:ext uri="{9D8B030D-6E8A-4147-A177-3AD203B41FA5}">
                      <a16:colId xmlns:a16="http://schemas.microsoft.com/office/drawing/2014/main" val="20004"/>
                    </a:ext>
                  </a:extLst>
                </a:gridCol>
                <a:gridCol w="601611">
                  <a:extLst>
                    <a:ext uri="{9D8B030D-6E8A-4147-A177-3AD203B41FA5}">
                      <a16:colId xmlns:a16="http://schemas.microsoft.com/office/drawing/2014/main" val="20005"/>
                    </a:ext>
                  </a:extLst>
                </a:gridCol>
                <a:gridCol w="601611">
                  <a:extLst>
                    <a:ext uri="{9D8B030D-6E8A-4147-A177-3AD203B41FA5}">
                      <a16:colId xmlns:a16="http://schemas.microsoft.com/office/drawing/2014/main" val="20006"/>
                    </a:ext>
                  </a:extLst>
                </a:gridCol>
                <a:gridCol w="601611">
                  <a:extLst>
                    <a:ext uri="{9D8B030D-6E8A-4147-A177-3AD203B41FA5}">
                      <a16:colId xmlns:a16="http://schemas.microsoft.com/office/drawing/2014/main" val="20007"/>
                    </a:ext>
                  </a:extLst>
                </a:gridCol>
                <a:gridCol w="601611">
                  <a:extLst>
                    <a:ext uri="{9D8B030D-6E8A-4147-A177-3AD203B41FA5}">
                      <a16:colId xmlns:a16="http://schemas.microsoft.com/office/drawing/2014/main" val="20008"/>
                    </a:ext>
                  </a:extLst>
                </a:gridCol>
                <a:gridCol w="601611">
                  <a:extLst>
                    <a:ext uri="{9D8B030D-6E8A-4147-A177-3AD203B41FA5}">
                      <a16:colId xmlns:a16="http://schemas.microsoft.com/office/drawing/2014/main" val="20009"/>
                    </a:ext>
                  </a:extLst>
                </a:gridCol>
                <a:gridCol w="601611">
                  <a:extLst>
                    <a:ext uri="{9D8B030D-6E8A-4147-A177-3AD203B41FA5}">
                      <a16:colId xmlns:a16="http://schemas.microsoft.com/office/drawing/2014/main" val="20010"/>
                    </a:ext>
                  </a:extLst>
                </a:gridCol>
                <a:gridCol w="601611">
                  <a:extLst>
                    <a:ext uri="{9D8B030D-6E8A-4147-A177-3AD203B41FA5}">
                      <a16:colId xmlns:a16="http://schemas.microsoft.com/office/drawing/2014/main" val="20011"/>
                    </a:ext>
                  </a:extLst>
                </a:gridCol>
                <a:gridCol w="601611">
                  <a:extLst>
                    <a:ext uri="{9D8B030D-6E8A-4147-A177-3AD203B41FA5}">
                      <a16:colId xmlns:a16="http://schemas.microsoft.com/office/drawing/2014/main" val="20012"/>
                    </a:ext>
                  </a:extLst>
                </a:gridCol>
                <a:gridCol w="601611">
                  <a:extLst>
                    <a:ext uri="{9D8B030D-6E8A-4147-A177-3AD203B41FA5}">
                      <a16:colId xmlns:a16="http://schemas.microsoft.com/office/drawing/2014/main" val="20013"/>
                    </a:ext>
                  </a:extLst>
                </a:gridCol>
                <a:gridCol w="601611">
                  <a:extLst>
                    <a:ext uri="{9D8B030D-6E8A-4147-A177-3AD203B41FA5}">
                      <a16:colId xmlns:a16="http://schemas.microsoft.com/office/drawing/2014/main" val="20014"/>
                    </a:ext>
                  </a:extLst>
                </a:gridCol>
                <a:gridCol w="601611">
                  <a:extLst>
                    <a:ext uri="{9D8B030D-6E8A-4147-A177-3AD203B41FA5}">
                      <a16:colId xmlns:a16="http://schemas.microsoft.com/office/drawing/2014/main" val="20015"/>
                    </a:ext>
                  </a:extLst>
                </a:gridCol>
                <a:gridCol w="601611">
                  <a:extLst>
                    <a:ext uri="{9D8B030D-6E8A-4147-A177-3AD203B41FA5}">
                      <a16:colId xmlns:a16="http://schemas.microsoft.com/office/drawing/2014/main" val="20016"/>
                    </a:ext>
                  </a:extLst>
                </a:gridCol>
                <a:gridCol w="601611">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8" name="TextBox 17"/>
          <p:cNvSpPr txBox="1"/>
          <p:nvPr/>
        </p:nvSpPr>
        <p:spPr>
          <a:xfrm>
            <a:off x="219075" y="42100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73606" y="1780413"/>
            <a:ext cx="366712" cy="533400"/>
          </a:xfrm>
          <a:prstGeom prst="rect">
            <a:avLst/>
          </a:prstGeom>
        </p:spPr>
      </p:pic>
      <p:pic>
        <p:nvPicPr>
          <p:cNvPr id="21" name="Picture 20" descr="lock.png"/>
          <p:cNvPicPr>
            <a:picLocks noChangeAspect="1"/>
          </p:cNvPicPr>
          <p:nvPr/>
        </p:nvPicPr>
        <p:blipFill>
          <a:blip r:embed="rId4"/>
          <a:stretch>
            <a:fillRect/>
          </a:stretch>
        </p:blipFill>
        <p:spPr>
          <a:xfrm>
            <a:off x="6739217" y="3561587"/>
            <a:ext cx="366712" cy="533400"/>
          </a:xfrm>
          <a:prstGeom prst="rect">
            <a:avLst/>
          </a:prstGeom>
        </p:spPr>
      </p:pic>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YoY Analysis Material Source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year-on-year volume and value growth by Material Source,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YoY,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814494">
                  <a:extLst>
                    <a:ext uri="{9D8B030D-6E8A-4147-A177-3AD203B41FA5}">
                      <a16:colId xmlns:a16="http://schemas.microsoft.com/office/drawing/2014/main" val="20000"/>
                    </a:ext>
                  </a:extLst>
                </a:gridCol>
                <a:gridCol w="671514">
                  <a:extLst>
                    <a:ext uri="{9D8B030D-6E8A-4147-A177-3AD203B41FA5}">
                      <a16:colId xmlns:a16="http://schemas.microsoft.com/office/drawing/2014/main" val="20001"/>
                    </a:ext>
                  </a:extLst>
                </a:gridCol>
                <a:gridCol w="671514">
                  <a:extLst>
                    <a:ext uri="{9D8B030D-6E8A-4147-A177-3AD203B41FA5}">
                      <a16:colId xmlns:a16="http://schemas.microsoft.com/office/drawing/2014/main" val="20002"/>
                    </a:ext>
                  </a:extLst>
                </a:gridCol>
                <a:gridCol w="671514">
                  <a:extLst>
                    <a:ext uri="{9D8B030D-6E8A-4147-A177-3AD203B41FA5}">
                      <a16:colId xmlns:a16="http://schemas.microsoft.com/office/drawing/2014/main" val="20003"/>
                    </a:ext>
                  </a:extLst>
                </a:gridCol>
                <a:gridCol w="671514">
                  <a:extLst>
                    <a:ext uri="{9D8B030D-6E8A-4147-A177-3AD203B41FA5}">
                      <a16:colId xmlns:a16="http://schemas.microsoft.com/office/drawing/2014/main" val="20004"/>
                    </a:ext>
                  </a:extLst>
                </a:gridCol>
                <a:gridCol w="671514">
                  <a:extLst>
                    <a:ext uri="{9D8B030D-6E8A-4147-A177-3AD203B41FA5}">
                      <a16:colId xmlns:a16="http://schemas.microsoft.com/office/drawing/2014/main" val="20005"/>
                    </a:ext>
                  </a:extLst>
                </a:gridCol>
                <a:gridCol w="671514">
                  <a:extLst>
                    <a:ext uri="{9D8B030D-6E8A-4147-A177-3AD203B41FA5}">
                      <a16:colId xmlns:a16="http://schemas.microsoft.com/office/drawing/2014/main" val="20006"/>
                    </a:ext>
                  </a:extLst>
                </a:gridCol>
                <a:gridCol w="671514">
                  <a:extLst>
                    <a:ext uri="{9D8B030D-6E8A-4147-A177-3AD203B41FA5}">
                      <a16:colId xmlns:a16="http://schemas.microsoft.com/office/drawing/2014/main" val="20007"/>
                    </a:ext>
                  </a:extLst>
                </a:gridCol>
                <a:gridCol w="671514">
                  <a:extLst>
                    <a:ext uri="{9D8B030D-6E8A-4147-A177-3AD203B41FA5}">
                      <a16:colId xmlns:a16="http://schemas.microsoft.com/office/drawing/2014/main" val="20008"/>
                    </a:ext>
                  </a:extLst>
                </a:gridCol>
                <a:gridCol w="671514">
                  <a:extLst>
                    <a:ext uri="{9D8B030D-6E8A-4147-A177-3AD203B41FA5}">
                      <a16:colId xmlns:a16="http://schemas.microsoft.com/office/drawing/2014/main" val="20009"/>
                    </a:ext>
                  </a:extLst>
                </a:gridCol>
                <a:gridCol w="671514">
                  <a:extLst>
                    <a:ext uri="{9D8B030D-6E8A-4147-A177-3AD203B41FA5}">
                      <a16:colId xmlns:a16="http://schemas.microsoft.com/office/drawing/2014/main" val="20010"/>
                    </a:ext>
                  </a:extLst>
                </a:gridCol>
                <a:gridCol w="671514">
                  <a:extLst>
                    <a:ext uri="{9D8B030D-6E8A-4147-A177-3AD203B41FA5}">
                      <a16:colId xmlns:a16="http://schemas.microsoft.com/office/drawing/2014/main" val="20011"/>
                    </a:ext>
                  </a:extLst>
                </a:gridCol>
                <a:gridCol w="671514">
                  <a:extLst>
                    <a:ext uri="{9D8B030D-6E8A-4147-A177-3AD203B41FA5}">
                      <a16:colId xmlns:a16="http://schemas.microsoft.com/office/drawing/2014/main" val="20012"/>
                    </a:ext>
                  </a:extLst>
                </a:gridCol>
                <a:gridCol w="671514">
                  <a:extLst>
                    <a:ext uri="{9D8B030D-6E8A-4147-A177-3AD203B41FA5}">
                      <a16:colId xmlns:a16="http://schemas.microsoft.com/office/drawing/2014/main" val="20013"/>
                    </a:ext>
                  </a:extLst>
                </a:gridCol>
                <a:gridCol w="671514">
                  <a:extLst>
                    <a:ext uri="{9D8B030D-6E8A-4147-A177-3AD203B41FA5}">
                      <a16:colId xmlns:a16="http://schemas.microsoft.com/office/drawing/2014/main" val="20014"/>
                    </a:ext>
                  </a:extLst>
                </a:gridCol>
                <a:gridCol w="671514">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YoY, By Material Source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4" cy="742948"/>
        </p:xfrm>
        <a:graphic>
          <a:graphicData uri="http://schemas.openxmlformats.org/drawingml/2006/table">
            <a:tbl>
              <a:tblPr>
                <a:tableStyleId>{5C22544A-7EE6-4342-B048-85BDC9FD1C3A}</a:tableStyleId>
              </a:tblPr>
              <a:tblGrid>
                <a:gridCol w="1814494">
                  <a:extLst>
                    <a:ext uri="{9D8B030D-6E8A-4147-A177-3AD203B41FA5}">
                      <a16:colId xmlns:a16="http://schemas.microsoft.com/office/drawing/2014/main" val="20000"/>
                    </a:ext>
                  </a:extLst>
                </a:gridCol>
                <a:gridCol w="671514">
                  <a:extLst>
                    <a:ext uri="{9D8B030D-6E8A-4147-A177-3AD203B41FA5}">
                      <a16:colId xmlns:a16="http://schemas.microsoft.com/office/drawing/2014/main" val="20001"/>
                    </a:ext>
                  </a:extLst>
                </a:gridCol>
                <a:gridCol w="671514">
                  <a:extLst>
                    <a:ext uri="{9D8B030D-6E8A-4147-A177-3AD203B41FA5}">
                      <a16:colId xmlns:a16="http://schemas.microsoft.com/office/drawing/2014/main" val="20002"/>
                    </a:ext>
                  </a:extLst>
                </a:gridCol>
                <a:gridCol w="671514">
                  <a:extLst>
                    <a:ext uri="{9D8B030D-6E8A-4147-A177-3AD203B41FA5}">
                      <a16:colId xmlns:a16="http://schemas.microsoft.com/office/drawing/2014/main" val="20003"/>
                    </a:ext>
                  </a:extLst>
                </a:gridCol>
                <a:gridCol w="671514">
                  <a:extLst>
                    <a:ext uri="{9D8B030D-6E8A-4147-A177-3AD203B41FA5}">
                      <a16:colId xmlns:a16="http://schemas.microsoft.com/office/drawing/2014/main" val="20004"/>
                    </a:ext>
                  </a:extLst>
                </a:gridCol>
                <a:gridCol w="671514">
                  <a:extLst>
                    <a:ext uri="{9D8B030D-6E8A-4147-A177-3AD203B41FA5}">
                      <a16:colId xmlns:a16="http://schemas.microsoft.com/office/drawing/2014/main" val="20005"/>
                    </a:ext>
                  </a:extLst>
                </a:gridCol>
                <a:gridCol w="671514">
                  <a:extLst>
                    <a:ext uri="{9D8B030D-6E8A-4147-A177-3AD203B41FA5}">
                      <a16:colId xmlns:a16="http://schemas.microsoft.com/office/drawing/2014/main" val="20006"/>
                    </a:ext>
                  </a:extLst>
                </a:gridCol>
                <a:gridCol w="671514">
                  <a:extLst>
                    <a:ext uri="{9D8B030D-6E8A-4147-A177-3AD203B41FA5}">
                      <a16:colId xmlns:a16="http://schemas.microsoft.com/office/drawing/2014/main" val="20007"/>
                    </a:ext>
                  </a:extLst>
                </a:gridCol>
                <a:gridCol w="671514">
                  <a:extLst>
                    <a:ext uri="{9D8B030D-6E8A-4147-A177-3AD203B41FA5}">
                      <a16:colId xmlns:a16="http://schemas.microsoft.com/office/drawing/2014/main" val="20008"/>
                    </a:ext>
                  </a:extLst>
                </a:gridCol>
                <a:gridCol w="671514">
                  <a:extLst>
                    <a:ext uri="{9D8B030D-6E8A-4147-A177-3AD203B41FA5}">
                      <a16:colId xmlns:a16="http://schemas.microsoft.com/office/drawing/2014/main" val="20009"/>
                    </a:ext>
                  </a:extLst>
                </a:gridCol>
                <a:gridCol w="671514">
                  <a:extLst>
                    <a:ext uri="{9D8B030D-6E8A-4147-A177-3AD203B41FA5}">
                      <a16:colId xmlns:a16="http://schemas.microsoft.com/office/drawing/2014/main" val="20010"/>
                    </a:ext>
                  </a:extLst>
                </a:gridCol>
                <a:gridCol w="671514">
                  <a:extLst>
                    <a:ext uri="{9D8B030D-6E8A-4147-A177-3AD203B41FA5}">
                      <a16:colId xmlns:a16="http://schemas.microsoft.com/office/drawing/2014/main" val="20011"/>
                    </a:ext>
                  </a:extLst>
                </a:gridCol>
                <a:gridCol w="671514">
                  <a:extLst>
                    <a:ext uri="{9D8B030D-6E8A-4147-A177-3AD203B41FA5}">
                      <a16:colId xmlns:a16="http://schemas.microsoft.com/office/drawing/2014/main" val="20012"/>
                    </a:ext>
                  </a:extLst>
                </a:gridCol>
                <a:gridCol w="671514">
                  <a:extLst>
                    <a:ext uri="{9D8B030D-6E8A-4147-A177-3AD203B41FA5}">
                      <a16:colId xmlns:a16="http://schemas.microsoft.com/office/drawing/2014/main" val="20013"/>
                    </a:ext>
                  </a:extLst>
                </a:gridCol>
                <a:gridCol w="671514">
                  <a:extLst>
                    <a:ext uri="{9D8B030D-6E8A-4147-A177-3AD203B41FA5}">
                      <a16:colId xmlns:a16="http://schemas.microsoft.com/office/drawing/2014/main" val="20014"/>
                    </a:ext>
                  </a:extLst>
                </a:gridCol>
                <a:gridCol w="671514">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Material Source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Virgin Kraft Fibre-based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Recycled Fibre-based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8" name="TextBox 17"/>
          <p:cNvSpPr txBox="1"/>
          <p:nvPr/>
        </p:nvSpPr>
        <p:spPr>
          <a:xfrm>
            <a:off x="219075" y="33337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35228"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835228" y="2825115"/>
            <a:ext cx="330041" cy="480060"/>
          </a:xfrm>
          <a:prstGeom prst="rect">
            <a:avLst/>
          </a:prstGeom>
        </p:spPr>
      </p:pic>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14.4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Cell Configuration</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Segmental</a:t>
            </a:r>
          </a:p>
          <a:p>
            <a:pPr marL="342900" indent="-323850">
              <a:lnSpc>
                <a:spcPct val="100000"/>
              </a:lnSpc>
              <a:spcAft>
                <a:spcPts val="800"/>
              </a:spcAft>
            </a:pPr>
            <a:r>
              <a:rPr sz="2000" b="0">
                <a:solidFill>
                  <a:srgbClr val="000000"/>
                </a:solidFill>
                <a:latin typeface="Calibri"/>
              </a:rPr>
              <a:t>➤	Table (Volume &amp; Value)</a:t>
            </a:r>
          </a:p>
          <a:p>
            <a:pPr marL="342900" indent="-323850">
              <a:lnSpc>
                <a:spcPct val="100000"/>
              </a:lnSpc>
              <a:spcAft>
                <a:spcPts val="800"/>
              </a:spcAft>
            </a:pPr>
            <a:r>
              <a:rPr sz="2000" b="0">
                <a:solidFill>
                  <a:srgbClr val="000000"/>
                </a:solidFill>
                <a:latin typeface="Calibri"/>
              </a:rPr>
              <a:t>➤	YoY</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Segmental Analysis Cell Configuration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segmental analysis by Cell Configuration: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Growth Contribution 2026 → 2036, By Cell Configuration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Value Shares &amp; Variance, By Cell Configuration</a:t>
            </a:r>
          </a:p>
        </p:txBody>
      </p:sp>
      <p:graphicFrame>
        <p:nvGraphicFramePr>
          <p:cNvPr id="16" name="Table 15"/>
          <p:cNvGraphicFramePr>
            <a:graphicFrameLocks noGrp="1"/>
          </p:cNvGraphicFramePr>
          <p:nvPr/>
        </p:nvGraphicFramePr>
        <p:xfrm>
          <a:off x="6181725" y="1238250"/>
          <a:ext cx="5857876" cy="2285998"/>
        </p:xfrm>
        <a:graphic>
          <a:graphicData uri="http://schemas.openxmlformats.org/drawingml/2006/table">
            <a:tbl>
              <a:tblPr>
                <a:tableStyleId>{5C22544A-7EE6-4342-B048-85BDC9FD1C3A}</a:tableStyleId>
              </a:tblPr>
              <a:tblGrid>
                <a:gridCol w="1356716">
                  <a:extLst>
                    <a:ext uri="{9D8B030D-6E8A-4147-A177-3AD203B41FA5}">
                      <a16:colId xmlns:a16="http://schemas.microsoft.com/office/drawing/2014/main" val="20000"/>
                    </a:ext>
                  </a:extLst>
                </a:gridCol>
                <a:gridCol w="1125290">
                  <a:extLst>
                    <a:ext uri="{9D8B030D-6E8A-4147-A177-3AD203B41FA5}">
                      <a16:colId xmlns:a16="http://schemas.microsoft.com/office/drawing/2014/main" val="20001"/>
                    </a:ext>
                  </a:extLst>
                </a:gridCol>
                <a:gridCol w="1125290">
                  <a:extLst>
                    <a:ext uri="{9D8B030D-6E8A-4147-A177-3AD203B41FA5}">
                      <a16:colId xmlns:a16="http://schemas.microsoft.com/office/drawing/2014/main" val="20002"/>
                    </a:ext>
                  </a:extLst>
                </a:gridCol>
                <a:gridCol w="1125290">
                  <a:extLst>
                    <a:ext uri="{9D8B030D-6E8A-4147-A177-3AD203B41FA5}">
                      <a16:colId xmlns:a16="http://schemas.microsoft.com/office/drawing/2014/main" val="20003"/>
                    </a:ext>
                  </a:extLst>
                </a:gridCol>
                <a:gridCol w="1125290">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509968">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509968">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509968">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509968">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7" name="TextBox 16"/>
          <p:cNvSpPr txBox="1"/>
          <p:nvPr/>
        </p:nvSpPr>
        <p:spPr>
          <a:xfrm>
            <a:off x="6248400" y="3533775"/>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Absolute $ Opportunity, By Cell Configuration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267450"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Volume Shares &amp; Variance, By Cell Configuration</a:t>
            </a:r>
          </a:p>
        </p:txBody>
      </p:sp>
      <p:graphicFrame>
        <p:nvGraphicFramePr>
          <p:cNvPr id="23" name="Table 22"/>
          <p:cNvGraphicFramePr>
            <a:graphicFrameLocks noGrp="1"/>
          </p:cNvGraphicFramePr>
          <p:nvPr/>
        </p:nvGraphicFramePr>
        <p:xfrm>
          <a:off x="6181725" y="4124325"/>
          <a:ext cx="5857876" cy="2285998"/>
        </p:xfrm>
        <a:graphic>
          <a:graphicData uri="http://schemas.openxmlformats.org/drawingml/2006/table">
            <a:tbl>
              <a:tblPr>
                <a:tableStyleId>{5C22544A-7EE6-4342-B048-85BDC9FD1C3A}</a:tableStyleId>
              </a:tblPr>
              <a:tblGrid>
                <a:gridCol w="1356716">
                  <a:extLst>
                    <a:ext uri="{9D8B030D-6E8A-4147-A177-3AD203B41FA5}">
                      <a16:colId xmlns:a16="http://schemas.microsoft.com/office/drawing/2014/main" val="20000"/>
                    </a:ext>
                  </a:extLst>
                </a:gridCol>
                <a:gridCol w="1125290">
                  <a:extLst>
                    <a:ext uri="{9D8B030D-6E8A-4147-A177-3AD203B41FA5}">
                      <a16:colId xmlns:a16="http://schemas.microsoft.com/office/drawing/2014/main" val="20001"/>
                    </a:ext>
                  </a:extLst>
                </a:gridCol>
                <a:gridCol w="1125290">
                  <a:extLst>
                    <a:ext uri="{9D8B030D-6E8A-4147-A177-3AD203B41FA5}">
                      <a16:colId xmlns:a16="http://schemas.microsoft.com/office/drawing/2014/main" val="20002"/>
                    </a:ext>
                  </a:extLst>
                </a:gridCol>
                <a:gridCol w="1125290">
                  <a:extLst>
                    <a:ext uri="{9D8B030D-6E8A-4147-A177-3AD203B41FA5}">
                      <a16:colId xmlns:a16="http://schemas.microsoft.com/office/drawing/2014/main" val="20003"/>
                    </a:ext>
                  </a:extLst>
                </a:gridCol>
                <a:gridCol w="1125290">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509968">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509968">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509968">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509968">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24" name="TextBox 23"/>
          <p:cNvSpPr txBox="1"/>
          <p:nvPr/>
        </p:nvSpPr>
        <p:spPr>
          <a:xfrm>
            <a:off x="6248400" y="6419850"/>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602330"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602330"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Tables Cell Configuration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value of the U.S. market by Cell Configuration,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By Cell Configuration (MT)</a:t>
            </a:r>
          </a:p>
        </p:txBody>
      </p:sp>
      <p:graphicFrame>
        <p:nvGraphicFramePr>
          <p:cNvPr id="13" name="Table 12"/>
          <p:cNvGraphicFramePr>
            <a:graphicFrameLocks noGrp="1"/>
          </p:cNvGraphicFramePr>
          <p:nvPr/>
        </p:nvGraphicFramePr>
        <p:xfrm>
          <a:off x="152400" y="1238250"/>
          <a:ext cx="11887197" cy="1485896"/>
        </p:xfrm>
        <a:graphic>
          <a:graphicData uri="http://schemas.openxmlformats.org/drawingml/2006/table">
            <a:tbl>
              <a:tblPr>
                <a:tableStyleId>{5C22544A-7EE6-4342-B048-85BDC9FD1C3A}</a:tableStyleId>
              </a:tblPr>
              <a:tblGrid>
                <a:gridCol w="1195501">
                  <a:extLst>
                    <a:ext uri="{9D8B030D-6E8A-4147-A177-3AD203B41FA5}">
                      <a16:colId xmlns:a16="http://schemas.microsoft.com/office/drawing/2014/main" val="20000"/>
                    </a:ext>
                  </a:extLst>
                </a:gridCol>
                <a:gridCol w="591183">
                  <a:extLst>
                    <a:ext uri="{9D8B030D-6E8A-4147-A177-3AD203B41FA5}">
                      <a16:colId xmlns:a16="http://schemas.microsoft.com/office/drawing/2014/main" val="20001"/>
                    </a:ext>
                  </a:extLst>
                </a:gridCol>
                <a:gridCol w="591183">
                  <a:extLst>
                    <a:ext uri="{9D8B030D-6E8A-4147-A177-3AD203B41FA5}">
                      <a16:colId xmlns:a16="http://schemas.microsoft.com/office/drawing/2014/main" val="20002"/>
                    </a:ext>
                  </a:extLst>
                </a:gridCol>
                <a:gridCol w="591183">
                  <a:extLst>
                    <a:ext uri="{9D8B030D-6E8A-4147-A177-3AD203B41FA5}">
                      <a16:colId xmlns:a16="http://schemas.microsoft.com/office/drawing/2014/main" val="20003"/>
                    </a:ext>
                  </a:extLst>
                </a:gridCol>
                <a:gridCol w="591183">
                  <a:extLst>
                    <a:ext uri="{9D8B030D-6E8A-4147-A177-3AD203B41FA5}">
                      <a16:colId xmlns:a16="http://schemas.microsoft.com/office/drawing/2014/main" val="20004"/>
                    </a:ext>
                  </a:extLst>
                </a:gridCol>
                <a:gridCol w="591183">
                  <a:extLst>
                    <a:ext uri="{9D8B030D-6E8A-4147-A177-3AD203B41FA5}">
                      <a16:colId xmlns:a16="http://schemas.microsoft.com/office/drawing/2014/main" val="20005"/>
                    </a:ext>
                  </a:extLst>
                </a:gridCol>
                <a:gridCol w="591183">
                  <a:extLst>
                    <a:ext uri="{9D8B030D-6E8A-4147-A177-3AD203B41FA5}">
                      <a16:colId xmlns:a16="http://schemas.microsoft.com/office/drawing/2014/main" val="20006"/>
                    </a:ext>
                  </a:extLst>
                </a:gridCol>
                <a:gridCol w="591183">
                  <a:extLst>
                    <a:ext uri="{9D8B030D-6E8A-4147-A177-3AD203B41FA5}">
                      <a16:colId xmlns:a16="http://schemas.microsoft.com/office/drawing/2014/main" val="20007"/>
                    </a:ext>
                  </a:extLst>
                </a:gridCol>
                <a:gridCol w="591183">
                  <a:extLst>
                    <a:ext uri="{9D8B030D-6E8A-4147-A177-3AD203B41FA5}">
                      <a16:colId xmlns:a16="http://schemas.microsoft.com/office/drawing/2014/main" val="20008"/>
                    </a:ext>
                  </a:extLst>
                </a:gridCol>
                <a:gridCol w="591183">
                  <a:extLst>
                    <a:ext uri="{9D8B030D-6E8A-4147-A177-3AD203B41FA5}">
                      <a16:colId xmlns:a16="http://schemas.microsoft.com/office/drawing/2014/main" val="20009"/>
                    </a:ext>
                  </a:extLst>
                </a:gridCol>
                <a:gridCol w="591183">
                  <a:extLst>
                    <a:ext uri="{9D8B030D-6E8A-4147-A177-3AD203B41FA5}">
                      <a16:colId xmlns:a16="http://schemas.microsoft.com/office/drawing/2014/main" val="20010"/>
                    </a:ext>
                  </a:extLst>
                </a:gridCol>
                <a:gridCol w="703094">
                  <a:extLst>
                    <a:ext uri="{9D8B030D-6E8A-4147-A177-3AD203B41FA5}">
                      <a16:colId xmlns:a16="http://schemas.microsoft.com/office/drawing/2014/main" val="20011"/>
                    </a:ext>
                  </a:extLst>
                </a:gridCol>
                <a:gridCol w="703094">
                  <a:extLst>
                    <a:ext uri="{9D8B030D-6E8A-4147-A177-3AD203B41FA5}">
                      <a16:colId xmlns:a16="http://schemas.microsoft.com/office/drawing/2014/main" val="20012"/>
                    </a:ext>
                  </a:extLst>
                </a:gridCol>
                <a:gridCol w="703094">
                  <a:extLst>
                    <a:ext uri="{9D8B030D-6E8A-4147-A177-3AD203B41FA5}">
                      <a16:colId xmlns:a16="http://schemas.microsoft.com/office/drawing/2014/main" val="20013"/>
                    </a:ext>
                  </a:extLst>
                </a:gridCol>
                <a:gridCol w="703094">
                  <a:extLst>
                    <a:ext uri="{9D8B030D-6E8A-4147-A177-3AD203B41FA5}">
                      <a16:colId xmlns:a16="http://schemas.microsoft.com/office/drawing/2014/main" val="20014"/>
                    </a:ext>
                  </a:extLst>
                </a:gridCol>
                <a:gridCol w="703094">
                  <a:extLst>
                    <a:ext uri="{9D8B030D-6E8A-4147-A177-3AD203B41FA5}">
                      <a16:colId xmlns:a16="http://schemas.microsoft.com/office/drawing/2014/main" val="20015"/>
                    </a:ext>
                  </a:extLst>
                </a:gridCol>
                <a:gridCol w="703094">
                  <a:extLst>
                    <a:ext uri="{9D8B030D-6E8A-4147-A177-3AD203B41FA5}">
                      <a16:colId xmlns:a16="http://schemas.microsoft.com/office/drawing/2014/main" val="20016"/>
                    </a:ext>
                  </a:extLst>
                </a:gridCol>
                <a:gridCol w="561302">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954">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954">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954">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954">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7954">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2733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1242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By Cell Configuration (US$ Mn)</a:t>
            </a:r>
          </a:p>
        </p:txBody>
      </p:sp>
      <p:graphicFrame>
        <p:nvGraphicFramePr>
          <p:cNvPr id="17" name="Table 16"/>
          <p:cNvGraphicFramePr>
            <a:graphicFrameLocks noGrp="1"/>
          </p:cNvGraphicFramePr>
          <p:nvPr/>
        </p:nvGraphicFramePr>
        <p:xfrm>
          <a:off x="152400" y="3324225"/>
          <a:ext cx="11887207" cy="1485896"/>
        </p:xfrm>
        <a:graphic>
          <a:graphicData uri="http://schemas.openxmlformats.org/drawingml/2006/table">
            <a:tbl>
              <a:tblPr>
                <a:tableStyleId>{5C22544A-7EE6-4342-B048-85BDC9FD1C3A}</a:tableStyleId>
              </a:tblPr>
              <a:tblGrid>
                <a:gridCol w="1323492">
                  <a:extLst>
                    <a:ext uri="{9D8B030D-6E8A-4147-A177-3AD203B41FA5}">
                      <a16:colId xmlns:a16="http://schemas.microsoft.com/office/drawing/2014/main" val="20000"/>
                    </a:ext>
                  </a:extLst>
                </a:gridCol>
                <a:gridCol w="621395">
                  <a:extLst>
                    <a:ext uri="{9D8B030D-6E8A-4147-A177-3AD203B41FA5}">
                      <a16:colId xmlns:a16="http://schemas.microsoft.com/office/drawing/2014/main" val="20001"/>
                    </a:ext>
                  </a:extLst>
                </a:gridCol>
                <a:gridCol w="621395">
                  <a:extLst>
                    <a:ext uri="{9D8B030D-6E8A-4147-A177-3AD203B41FA5}">
                      <a16:colId xmlns:a16="http://schemas.microsoft.com/office/drawing/2014/main" val="20002"/>
                    </a:ext>
                  </a:extLst>
                </a:gridCol>
                <a:gridCol w="621395">
                  <a:extLst>
                    <a:ext uri="{9D8B030D-6E8A-4147-A177-3AD203B41FA5}">
                      <a16:colId xmlns:a16="http://schemas.microsoft.com/office/drawing/2014/main" val="20003"/>
                    </a:ext>
                  </a:extLst>
                </a:gridCol>
                <a:gridCol w="621395">
                  <a:extLst>
                    <a:ext uri="{9D8B030D-6E8A-4147-A177-3AD203B41FA5}">
                      <a16:colId xmlns:a16="http://schemas.microsoft.com/office/drawing/2014/main" val="20004"/>
                    </a:ext>
                  </a:extLst>
                </a:gridCol>
                <a:gridCol w="621395">
                  <a:extLst>
                    <a:ext uri="{9D8B030D-6E8A-4147-A177-3AD203B41FA5}">
                      <a16:colId xmlns:a16="http://schemas.microsoft.com/office/drawing/2014/main" val="20005"/>
                    </a:ext>
                  </a:extLst>
                </a:gridCol>
                <a:gridCol w="621395">
                  <a:extLst>
                    <a:ext uri="{9D8B030D-6E8A-4147-A177-3AD203B41FA5}">
                      <a16:colId xmlns:a16="http://schemas.microsoft.com/office/drawing/2014/main" val="20006"/>
                    </a:ext>
                  </a:extLst>
                </a:gridCol>
                <a:gridCol w="621395">
                  <a:extLst>
                    <a:ext uri="{9D8B030D-6E8A-4147-A177-3AD203B41FA5}">
                      <a16:colId xmlns:a16="http://schemas.microsoft.com/office/drawing/2014/main" val="20007"/>
                    </a:ext>
                  </a:extLst>
                </a:gridCol>
                <a:gridCol w="621395">
                  <a:extLst>
                    <a:ext uri="{9D8B030D-6E8A-4147-A177-3AD203B41FA5}">
                      <a16:colId xmlns:a16="http://schemas.microsoft.com/office/drawing/2014/main" val="20008"/>
                    </a:ext>
                  </a:extLst>
                </a:gridCol>
                <a:gridCol w="621395">
                  <a:extLst>
                    <a:ext uri="{9D8B030D-6E8A-4147-A177-3AD203B41FA5}">
                      <a16:colId xmlns:a16="http://schemas.microsoft.com/office/drawing/2014/main" val="20009"/>
                    </a:ext>
                  </a:extLst>
                </a:gridCol>
                <a:gridCol w="621395">
                  <a:extLst>
                    <a:ext uri="{9D8B030D-6E8A-4147-A177-3AD203B41FA5}">
                      <a16:colId xmlns:a16="http://schemas.microsoft.com/office/drawing/2014/main" val="20010"/>
                    </a:ext>
                  </a:extLst>
                </a:gridCol>
                <a:gridCol w="621395">
                  <a:extLst>
                    <a:ext uri="{9D8B030D-6E8A-4147-A177-3AD203B41FA5}">
                      <a16:colId xmlns:a16="http://schemas.microsoft.com/office/drawing/2014/main" val="20011"/>
                    </a:ext>
                  </a:extLst>
                </a:gridCol>
                <a:gridCol w="621395">
                  <a:extLst>
                    <a:ext uri="{9D8B030D-6E8A-4147-A177-3AD203B41FA5}">
                      <a16:colId xmlns:a16="http://schemas.microsoft.com/office/drawing/2014/main" val="20012"/>
                    </a:ext>
                  </a:extLst>
                </a:gridCol>
                <a:gridCol w="621395">
                  <a:extLst>
                    <a:ext uri="{9D8B030D-6E8A-4147-A177-3AD203B41FA5}">
                      <a16:colId xmlns:a16="http://schemas.microsoft.com/office/drawing/2014/main" val="20013"/>
                    </a:ext>
                  </a:extLst>
                </a:gridCol>
                <a:gridCol w="621395">
                  <a:extLst>
                    <a:ext uri="{9D8B030D-6E8A-4147-A177-3AD203B41FA5}">
                      <a16:colId xmlns:a16="http://schemas.microsoft.com/office/drawing/2014/main" val="20014"/>
                    </a:ext>
                  </a:extLst>
                </a:gridCol>
                <a:gridCol w="621395">
                  <a:extLst>
                    <a:ext uri="{9D8B030D-6E8A-4147-A177-3AD203B41FA5}">
                      <a16:colId xmlns:a16="http://schemas.microsoft.com/office/drawing/2014/main" val="20015"/>
                    </a:ext>
                  </a:extLst>
                </a:gridCol>
                <a:gridCol w="621395">
                  <a:extLst>
                    <a:ext uri="{9D8B030D-6E8A-4147-A177-3AD203B41FA5}">
                      <a16:colId xmlns:a16="http://schemas.microsoft.com/office/drawing/2014/main" val="20016"/>
                    </a:ext>
                  </a:extLst>
                </a:gridCol>
                <a:gridCol w="621395">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954">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954">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954">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954">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7954">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8" name="TextBox 17"/>
          <p:cNvSpPr txBox="1"/>
          <p:nvPr/>
        </p:nvSpPr>
        <p:spPr>
          <a:xfrm>
            <a:off x="219075" y="48196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07058"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6571059" y="3923538"/>
            <a:ext cx="366712" cy="533400"/>
          </a:xfrm>
          <a:prstGeom prst="rect">
            <a:avLst/>
          </a:prstGeom>
        </p:spPr>
      </p:pic>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YoY Analysis Cell Configuration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year-on-year volume and value growth by Cell Configuration,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YoY,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451277">
                  <a:extLst>
                    <a:ext uri="{9D8B030D-6E8A-4147-A177-3AD203B41FA5}">
                      <a16:colId xmlns:a16="http://schemas.microsoft.com/office/drawing/2014/main" val="20000"/>
                    </a:ext>
                  </a:extLst>
                </a:gridCol>
                <a:gridCol w="695728">
                  <a:extLst>
                    <a:ext uri="{9D8B030D-6E8A-4147-A177-3AD203B41FA5}">
                      <a16:colId xmlns:a16="http://schemas.microsoft.com/office/drawing/2014/main" val="20001"/>
                    </a:ext>
                  </a:extLst>
                </a:gridCol>
                <a:gridCol w="695728">
                  <a:extLst>
                    <a:ext uri="{9D8B030D-6E8A-4147-A177-3AD203B41FA5}">
                      <a16:colId xmlns:a16="http://schemas.microsoft.com/office/drawing/2014/main" val="20002"/>
                    </a:ext>
                  </a:extLst>
                </a:gridCol>
                <a:gridCol w="695728">
                  <a:extLst>
                    <a:ext uri="{9D8B030D-6E8A-4147-A177-3AD203B41FA5}">
                      <a16:colId xmlns:a16="http://schemas.microsoft.com/office/drawing/2014/main" val="20003"/>
                    </a:ext>
                  </a:extLst>
                </a:gridCol>
                <a:gridCol w="695728">
                  <a:extLst>
                    <a:ext uri="{9D8B030D-6E8A-4147-A177-3AD203B41FA5}">
                      <a16:colId xmlns:a16="http://schemas.microsoft.com/office/drawing/2014/main" val="20004"/>
                    </a:ext>
                  </a:extLst>
                </a:gridCol>
                <a:gridCol w="695728">
                  <a:extLst>
                    <a:ext uri="{9D8B030D-6E8A-4147-A177-3AD203B41FA5}">
                      <a16:colId xmlns:a16="http://schemas.microsoft.com/office/drawing/2014/main" val="20005"/>
                    </a:ext>
                  </a:extLst>
                </a:gridCol>
                <a:gridCol w="695728">
                  <a:extLst>
                    <a:ext uri="{9D8B030D-6E8A-4147-A177-3AD203B41FA5}">
                      <a16:colId xmlns:a16="http://schemas.microsoft.com/office/drawing/2014/main" val="20006"/>
                    </a:ext>
                  </a:extLst>
                </a:gridCol>
                <a:gridCol w="695728">
                  <a:extLst>
                    <a:ext uri="{9D8B030D-6E8A-4147-A177-3AD203B41FA5}">
                      <a16:colId xmlns:a16="http://schemas.microsoft.com/office/drawing/2014/main" val="20007"/>
                    </a:ext>
                  </a:extLst>
                </a:gridCol>
                <a:gridCol w="695728">
                  <a:extLst>
                    <a:ext uri="{9D8B030D-6E8A-4147-A177-3AD203B41FA5}">
                      <a16:colId xmlns:a16="http://schemas.microsoft.com/office/drawing/2014/main" val="20008"/>
                    </a:ext>
                  </a:extLst>
                </a:gridCol>
                <a:gridCol w="695728">
                  <a:extLst>
                    <a:ext uri="{9D8B030D-6E8A-4147-A177-3AD203B41FA5}">
                      <a16:colId xmlns:a16="http://schemas.microsoft.com/office/drawing/2014/main" val="20009"/>
                    </a:ext>
                  </a:extLst>
                </a:gridCol>
                <a:gridCol w="695728">
                  <a:extLst>
                    <a:ext uri="{9D8B030D-6E8A-4147-A177-3AD203B41FA5}">
                      <a16:colId xmlns:a16="http://schemas.microsoft.com/office/drawing/2014/main" val="20010"/>
                    </a:ext>
                  </a:extLst>
                </a:gridCol>
                <a:gridCol w="695728">
                  <a:extLst>
                    <a:ext uri="{9D8B030D-6E8A-4147-A177-3AD203B41FA5}">
                      <a16:colId xmlns:a16="http://schemas.microsoft.com/office/drawing/2014/main" val="20011"/>
                    </a:ext>
                  </a:extLst>
                </a:gridCol>
                <a:gridCol w="695728">
                  <a:extLst>
                    <a:ext uri="{9D8B030D-6E8A-4147-A177-3AD203B41FA5}">
                      <a16:colId xmlns:a16="http://schemas.microsoft.com/office/drawing/2014/main" val="20012"/>
                    </a:ext>
                  </a:extLst>
                </a:gridCol>
                <a:gridCol w="695728">
                  <a:extLst>
                    <a:ext uri="{9D8B030D-6E8A-4147-A177-3AD203B41FA5}">
                      <a16:colId xmlns:a16="http://schemas.microsoft.com/office/drawing/2014/main" val="20013"/>
                    </a:ext>
                  </a:extLst>
                </a:gridCol>
                <a:gridCol w="695728">
                  <a:extLst>
                    <a:ext uri="{9D8B030D-6E8A-4147-A177-3AD203B41FA5}">
                      <a16:colId xmlns:a16="http://schemas.microsoft.com/office/drawing/2014/main" val="20014"/>
                    </a:ext>
                  </a:extLst>
                </a:gridCol>
                <a:gridCol w="69572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486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8765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YoY, By Cell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197" cy="1238250"/>
        </p:xfrm>
        <a:graphic>
          <a:graphicData uri="http://schemas.openxmlformats.org/drawingml/2006/table">
            <a:tbl>
              <a:tblPr>
                <a:tableStyleId>{5C22544A-7EE6-4342-B048-85BDC9FD1C3A}</a:tableStyleId>
              </a:tblPr>
              <a:tblGrid>
                <a:gridCol w="1451277">
                  <a:extLst>
                    <a:ext uri="{9D8B030D-6E8A-4147-A177-3AD203B41FA5}">
                      <a16:colId xmlns:a16="http://schemas.microsoft.com/office/drawing/2014/main" val="20000"/>
                    </a:ext>
                  </a:extLst>
                </a:gridCol>
                <a:gridCol w="695728">
                  <a:extLst>
                    <a:ext uri="{9D8B030D-6E8A-4147-A177-3AD203B41FA5}">
                      <a16:colId xmlns:a16="http://schemas.microsoft.com/office/drawing/2014/main" val="20001"/>
                    </a:ext>
                  </a:extLst>
                </a:gridCol>
                <a:gridCol w="695728">
                  <a:extLst>
                    <a:ext uri="{9D8B030D-6E8A-4147-A177-3AD203B41FA5}">
                      <a16:colId xmlns:a16="http://schemas.microsoft.com/office/drawing/2014/main" val="20002"/>
                    </a:ext>
                  </a:extLst>
                </a:gridCol>
                <a:gridCol w="695728">
                  <a:extLst>
                    <a:ext uri="{9D8B030D-6E8A-4147-A177-3AD203B41FA5}">
                      <a16:colId xmlns:a16="http://schemas.microsoft.com/office/drawing/2014/main" val="20003"/>
                    </a:ext>
                  </a:extLst>
                </a:gridCol>
                <a:gridCol w="695728">
                  <a:extLst>
                    <a:ext uri="{9D8B030D-6E8A-4147-A177-3AD203B41FA5}">
                      <a16:colId xmlns:a16="http://schemas.microsoft.com/office/drawing/2014/main" val="20004"/>
                    </a:ext>
                  </a:extLst>
                </a:gridCol>
                <a:gridCol w="695728">
                  <a:extLst>
                    <a:ext uri="{9D8B030D-6E8A-4147-A177-3AD203B41FA5}">
                      <a16:colId xmlns:a16="http://schemas.microsoft.com/office/drawing/2014/main" val="20005"/>
                    </a:ext>
                  </a:extLst>
                </a:gridCol>
                <a:gridCol w="695728">
                  <a:extLst>
                    <a:ext uri="{9D8B030D-6E8A-4147-A177-3AD203B41FA5}">
                      <a16:colId xmlns:a16="http://schemas.microsoft.com/office/drawing/2014/main" val="20006"/>
                    </a:ext>
                  </a:extLst>
                </a:gridCol>
                <a:gridCol w="695728">
                  <a:extLst>
                    <a:ext uri="{9D8B030D-6E8A-4147-A177-3AD203B41FA5}">
                      <a16:colId xmlns:a16="http://schemas.microsoft.com/office/drawing/2014/main" val="20007"/>
                    </a:ext>
                  </a:extLst>
                </a:gridCol>
                <a:gridCol w="695728">
                  <a:extLst>
                    <a:ext uri="{9D8B030D-6E8A-4147-A177-3AD203B41FA5}">
                      <a16:colId xmlns:a16="http://schemas.microsoft.com/office/drawing/2014/main" val="20008"/>
                    </a:ext>
                  </a:extLst>
                </a:gridCol>
                <a:gridCol w="695728">
                  <a:extLst>
                    <a:ext uri="{9D8B030D-6E8A-4147-A177-3AD203B41FA5}">
                      <a16:colId xmlns:a16="http://schemas.microsoft.com/office/drawing/2014/main" val="20009"/>
                    </a:ext>
                  </a:extLst>
                </a:gridCol>
                <a:gridCol w="695728">
                  <a:extLst>
                    <a:ext uri="{9D8B030D-6E8A-4147-A177-3AD203B41FA5}">
                      <a16:colId xmlns:a16="http://schemas.microsoft.com/office/drawing/2014/main" val="20010"/>
                    </a:ext>
                  </a:extLst>
                </a:gridCol>
                <a:gridCol w="695728">
                  <a:extLst>
                    <a:ext uri="{9D8B030D-6E8A-4147-A177-3AD203B41FA5}">
                      <a16:colId xmlns:a16="http://schemas.microsoft.com/office/drawing/2014/main" val="20011"/>
                    </a:ext>
                  </a:extLst>
                </a:gridCol>
                <a:gridCol w="695728">
                  <a:extLst>
                    <a:ext uri="{9D8B030D-6E8A-4147-A177-3AD203B41FA5}">
                      <a16:colId xmlns:a16="http://schemas.microsoft.com/office/drawing/2014/main" val="20012"/>
                    </a:ext>
                  </a:extLst>
                </a:gridCol>
                <a:gridCol w="695728">
                  <a:extLst>
                    <a:ext uri="{9D8B030D-6E8A-4147-A177-3AD203B41FA5}">
                      <a16:colId xmlns:a16="http://schemas.microsoft.com/office/drawing/2014/main" val="20013"/>
                    </a:ext>
                  </a:extLst>
                </a:gridCol>
                <a:gridCol w="695728">
                  <a:extLst>
                    <a:ext uri="{9D8B030D-6E8A-4147-A177-3AD203B41FA5}">
                      <a16:colId xmlns:a16="http://schemas.microsoft.com/office/drawing/2014/main" val="20014"/>
                    </a:ext>
                  </a:extLst>
                </a:gridCol>
                <a:gridCol w="69572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031">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031">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031">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8031">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8" name="TextBox 17"/>
          <p:cNvSpPr txBox="1"/>
          <p:nvPr/>
        </p:nvSpPr>
        <p:spPr>
          <a:xfrm>
            <a:off x="219075" y="43243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34947"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634947" y="3552062"/>
            <a:ext cx="366712" cy="533399"/>
          </a:xfrm>
          <a:prstGeom prst="rect">
            <a:avLst/>
          </a:prstGeom>
        </p:spPr>
      </p:pic>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14.5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Customization</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Segmental</a:t>
            </a:r>
          </a:p>
          <a:p>
            <a:pPr marL="342900" indent="-323850">
              <a:lnSpc>
                <a:spcPct val="100000"/>
              </a:lnSpc>
              <a:spcAft>
                <a:spcPts val="800"/>
              </a:spcAft>
            </a:pPr>
            <a:r>
              <a:rPr sz="2000" b="0">
                <a:solidFill>
                  <a:srgbClr val="000000"/>
                </a:solidFill>
                <a:latin typeface="Calibri"/>
              </a:rPr>
              <a:t>➤	Table (Volume &amp; Value)</a:t>
            </a:r>
          </a:p>
          <a:p>
            <a:pPr marL="342900" indent="-323850">
              <a:lnSpc>
                <a:spcPct val="100000"/>
              </a:lnSpc>
              <a:spcAft>
                <a:spcPts val="800"/>
              </a:spcAft>
            </a:pPr>
            <a:r>
              <a:rPr sz="2000" b="0">
                <a:solidFill>
                  <a:srgbClr val="000000"/>
                </a:solidFill>
                <a:latin typeface="Calibri"/>
              </a:rPr>
              <a:t>➤	YoY</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Segmental Analysis Customization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segmental analysis by Customization: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Growth Contribution 2026 → 2036, By Customization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Value Shares &amp; Variance, By Customization</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1565582">
                  <a:extLst>
                    <a:ext uri="{9D8B030D-6E8A-4147-A177-3AD203B41FA5}">
                      <a16:colId xmlns:a16="http://schemas.microsoft.com/office/drawing/2014/main" val="20000"/>
                    </a:ext>
                  </a:extLst>
                </a:gridCol>
                <a:gridCol w="1073073">
                  <a:extLst>
                    <a:ext uri="{9D8B030D-6E8A-4147-A177-3AD203B41FA5}">
                      <a16:colId xmlns:a16="http://schemas.microsoft.com/office/drawing/2014/main" val="20001"/>
                    </a:ext>
                  </a:extLst>
                </a:gridCol>
                <a:gridCol w="1073073">
                  <a:extLst>
                    <a:ext uri="{9D8B030D-6E8A-4147-A177-3AD203B41FA5}">
                      <a16:colId xmlns:a16="http://schemas.microsoft.com/office/drawing/2014/main" val="20002"/>
                    </a:ext>
                  </a:extLst>
                </a:gridCol>
                <a:gridCol w="1073073">
                  <a:extLst>
                    <a:ext uri="{9D8B030D-6E8A-4147-A177-3AD203B41FA5}">
                      <a16:colId xmlns:a16="http://schemas.microsoft.com/office/drawing/2014/main" val="20003"/>
                    </a:ext>
                  </a:extLst>
                </a:gridCol>
                <a:gridCol w="1073073">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1019937">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1019937">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7" name="TextBox 16"/>
          <p:cNvSpPr txBox="1"/>
          <p:nvPr/>
        </p:nvSpPr>
        <p:spPr>
          <a:xfrm>
            <a:off x="6248400" y="3533775"/>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Absolute $ Opportunity, By Customization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267450"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Volume Shares &amp; Variance, By Customization</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1565582">
                  <a:extLst>
                    <a:ext uri="{9D8B030D-6E8A-4147-A177-3AD203B41FA5}">
                      <a16:colId xmlns:a16="http://schemas.microsoft.com/office/drawing/2014/main" val="20000"/>
                    </a:ext>
                  </a:extLst>
                </a:gridCol>
                <a:gridCol w="1073073">
                  <a:extLst>
                    <a:ext uri="{9D8B030D-6E8A-4147-A177-3AD203B41FA5}">
                      <a16:colId xmlns:a16="http://schemas.microsoft.com/office/drawing/2014/main" val="20001"/>
                    </a:ext>
                  </a:extLst>
                </a:gridCol>
                <a:gridCol w="1073073">
                  <a:extLst>
                    <a:ext uri="{9D8B030D-6E8A-4147-A177-3AD203B41FA5}">
                      <a16:colId xmlns:a16="http://schemas.microsoft.com/office/drawing/2014/main" val="20002"/>
                    </a:ext>
                  </a:extLst>
                </a:gridCol>
                <a:gridCol w="1073073">
                  <a:extLst>
                    <a:ext uri="{9D8B030D-6E8A-4147-A177-3AD203B41FA5}">
                      <a16:colId xmlns:a16="http://schemas.microsoft.com/office/drawing/2014/main" val="20003"/>
                    </a:ext>
                  </a:extLst>
                </a:gridCol>
                <a:gridCol w="1073073">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1019937">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1019937">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24" name="TextBox 23"/>
          <p:cNvSpPr txBox="1"/>
          <p:nvPr/>
        </p:nvSpPr>
        <p:spPr>
          <a:xfrm>
            <a:off x="6248400" y="6419850"/>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06763"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06763"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Tables Customization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value of the U.S. market by Customization,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By Customization (MT)</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426774">
                  <a:extLst>
                    <a:ext uri="{9D8B030D-6E8A-4147-A177-3AD203B41FA5}">
                      <a16:colId xmlns:a16="http://schemas.microsoft.com/office/drawing/2014/main" val="20000"/>
                    </a:ext>
                  </a:extLst>
                </a:gridCol>
                <a:gridCol w="583049">
                  <a:extLst>
                    <a:ext uri="{9D8B030D-6E8A-4147-A177-3AD203B41FA5}">
                      <a16:colId xmlns:a16="http://schemas.microsoft.com/office/drawing/2014/main" val="20001"/>
                    </a:ext>
                  </a:extLst>
                </a:gridCol>
                <a:gridCol w="583049">
                  <a:extLst>
                    <a:ext uri="{9D8B030D-6E8A-4147-A177-3AD203B41FA5}">
                      <a16:colId xmlns:a16="http://schemas.microsoft.com/office/drawing/2014/main" val="20002"/>
                    </a:ext>
                  </a:extLst>
                </a:gridCol>
                <a:gridCol w="583049">
                  <a:extLst>
                    <a:ext uri="{9D8B030D-6E8A-4147-A177-3AD203B41FA5}">
                      <a16:colId xmlns:a16="http://schemas.microsoft.com/office/drawing/2014/main" val="20003"/>
                    </a:ext>
                  </a:extLst>
                </a:gridCol>
                <a:gridCol w="583049">
                  <a:extLst>
                    <a:ext uri="{9D8B030D-6E8A-4147-A177-3AD203B41FA5}">
                      <a16:colId xmlns:a16="http://schemas.microsoft.com/office/drawing/2014/main" val="20004"/>
                    </a:ext>
                  </a:extLst>
                </a:gridCol>
                <a:gridCol w="583049">
                  <a:extLst>
                    <a:ext uri="{9D8B030D-6E8A-4147-A177-3AD203B41FA5}">
                      <a16:colId xmlns:a16="http://schemas.microsoft.com/office/drawing/2014/main" val="20005"/>
                    </a:ext>
                  </a:extLst>
                </a:gridCol>
                <a:gridCol w="583049">
                  <a:extLst>
                    <a:ext uri="{9D8B030D-6E8A-4147-A177-3AD203B41FA5}">
                      <a16:colId xmlns:a16="http://schemas.microsoft.com/office/drawing/2014/main" val="20006"/>
                    </a:ext>
                  </a:extLst>
                </a:gridCol>
                <a:gridCol w="583049">
                  <a:extLst>
                    <a:ext uri="{9D8B030D-6E8A-4147-A177-3AD203B41FA5}">
                      <a16:colId xmlns:a16="http://schemas.microsoft.com/office/drawing/2014/main" val="20007"/>
                    </a:ext>
                  </a:extLst>
                </a:gridCol>
                <a:gridCol w="583049">
                  <a:extLst>
                    <a:ext uri="{9D8B030D-6E8A-4147-A177-3AD203B41FA5}">
                      <a16:colId xmlns:a16="http://schemas.microsoft.com/office/drawing/2014/main" val="20008"/>
                    </a:ext>
                  </a:extLst>
                </a:gridCol>
                <a:gridCol w="583049">
                  <a:extLst>
                    <a:ext uri="{9D8B030D-6E8A-4147-A177-3AD203B41FA5}">
                      <a16:colId xmlns:a16="http://schemas.microsoft.com/office/drawing/2014/main" val="20009"/>
                    </a:ext>
                  </a:extLst>
                </a:gridCol>
                <a:gridCol w="583049">
                  <a:extLst>
                    <a:ext uri="{9D8B030D-6E8A-4147-A177-3AD203B41FA5}">
                      <a16:colId xmlns:a16="http://schemas.microsoft.com/office/drawing/2014/main" val="20010"/>
                    </a:ext>
                  </a:extLst>
                </a:gridCol>
                <a:gridCol w="693420">
                  <a:extLst>
                    <a:ext uri="{9D8B030D-6E8A-4147-A177-3AD203B41FA5}">
                      <a16:colId xmlns:a16="http://schemas.microsoft.com/office/drawing/2014/main" val="20011"/>
                    </a:ext>
                  </a:extLst>
                </a:gridCol>
                <a:gridCol w="693420">
                  <a:extLst>
                    <a:ext uri="{9D8B030D-6E8A-4147-A177-3AD203B41FA5}">
                      <a16:colId xmlns:a16="http://schemas.microsoft.com/office/drawing/2014/main" val="20012"/>
                    </a:ext>
                  </a:extLst>
                </a:gridCol>
                <a:gridCol w="693420">
                  <a:extLst>
                    <a:ext uri="{9D8B030D-6E8A-4147-A177-3AD203B41FA5}">
                      <a16:colId xmlns:a16="http://schemas.microsoft.com/office/drawing/2014/main" val="20013"/>
                    </a:ext>
                  </a:extLst>
                </a:gridCol>
                <a:gridCol w="693420">
                  <a:extLst>
                    <a:ext uri="{9D8B030D-6E8A-4147-A177-3AD203B41FA5}">
                      <a16:colId xmlns:a16="http://schemas.microsoft.com/office/drawing/2014/main" val="20014"/>
                    </a:ext>
                  </a:extLst>
                </a:gridCol>
                <a:gridCol w="693420">
                  <a:extLst>
                    <a:ext uri="{9D8B030D-6E8A-4147-A177-3AD203B41FA5}">
                      <a16:colId xmlns:a16="http://schemas.microsoft.com/office/drawing/2014/main" val="20015"/>
                    </a:ext>
                  </a:extLst>
                </a:gridCol>
                <a:gridCol w="693420">
                  <a:extLst>
                    <a:ext uri="{9D8B030D-6E8A-4147-A177-3AD203B41FA5}">
                      <a16:colId xmlns:a16="http://schemas.microsoft.com/office/drawing/2014/main" val="20016"/>
                    </a:ext>
                  </a:extLst>
                </a:gridCol>
                <a:gridCol w="469416">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396">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396">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396">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4288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8194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By Customization (US$ Mn)</a:t>
            </a:r>
          </a:p>
        </p:txBody>
      </p:sp>
      <p:graphicFrame>
        <p:nvGraphicFramePr>
          <p:cNvPr id="17" name="Table 16"/>
          <p:cNvGraphicFramePr>
            <a:graphicFrameLocks noGrp="1"/>
          </p:cNvGraphicFramePr>
          <p:nvPr/>
        </p:nvGraphicFramePr>
        <p:xfrm>
          <a:off x="152400" y="3019425"/>
          <a:ext cx="11887200" cy="990600"/>
        </p:xfrm>
        <a:graphic>
          <a:graphicData uri="http://schemas.openxmlformats.org/drawingml/2006/table">
            <a:tbl>
              <a:tblPr>
                <a:tableStyleId>{5C22544A-7EE6-4342-B048-85BDC9FD1C3A}</a:tableStyleId>
              </a:tblPr>
              <a:tblGrid>
                <a:gridCol w="1564953">
                  <a:extLst>
                    <a:ext uri="{9D8B030D-6E8A-4147-A177-3AD203B41FA5}">
                      <a16:colId xmlns:a16="http://schemas.microsoft.com/office/drawing/2014/main" val="20000"/>
                    </a:ext>
                  </a:extLst>
                </a:gridCol>
                <a:gridCol w="607191">
                  <a:extLst>
                    <a:ext uri="{9D8B030D-6E8A-4147-A177-3AD203B41FA5}">
                      <a16:colId xmlns:a16="http://schemas.microsoft.com/office/drawing/2014/main" val="20001"/>
                    </a:ext>
                  </a:extLst>
                </a:gridCol>
                <a:gridCol w="607191">
                  <a:extLst>
                    <a:ext uri="{9D8B030D-6E8A-4147-A177-3AD203B41FA5}">
                      <a16:colId xmlns:a16="http://schemas.microsoft.com/office/drawing/2014/main" val="20002"/>
                    </a:ext>
                  </a:extLst>
                </a:gridCol>
                <a:gridCol w="607191">
                  <a:extLst>
                    <a:ext uri="{9D8B030D-6E8A-4147-A177-3AD203B41FA5}">
                      <a16:colId xmlns:a16="http://schemas.microsoft.com/office/drawing/2014/main" val="20003"/>
                    </a:ext>
                  </a:extLst>
                </a:gridCol>
                <a:gridCol w="607191">
                  <a:extLst>
                    <a:ext uri="{9D8B030D-6E8A-4147-A177-3AD203B41FA5}">
                      <a16:colId xmlns:a16="http://schemas.microsoft.com/office/drawing/2014/main" val="20004"/>
                    </a:ext>
                  </a:extLst>
                </a:gridCol>
                <a:gridCol w="607191">
                  <a:extLst>
                    <a:ext uri="{9D8B030D-6E8A-4147-A177-3AD203B41FA5}">
                      <a16:colId xmlns:a16="http://schemas.microsoft.com/office/drawing/2014/main" val="20005"/>
                    </a:ext>
                  </a:extLst>
                </a:gridCol>
                <a:gridCol w="607191">
                  <a:extLst>
                    <a:ext uri="{9D8B030D-6E8A-4147-A177-3AD203B41FA5}">
                      <a16:colId xmlns:a16="http://schemas.microsoft.com/office/drawing/2014/main" val="20006"/>
                    </a:ext>
                  </a:extLst>
                </a:gridCol>
                <a:gridCol w="607191">
                  <a:extLst>
                    <a:ext uri="{9D8B030D-6E8A-4147-A177-3AD203B41FA5}">
                      <a16:colId xmlns:a16="http://schemas.microsoft.com/office/drawing/2014/main" val="20007"/>
                    </a:ext>
                  </a:extLst>
                </a:gridCol>
                <a:gridCol w="607191">
                  <a:extLst>
                    <a:ext uri="{9D8B030D-6E8A-4147-A177-3AD203B41FA5}">
                      <a16:colId xmlns:a16="http://schemas.microsoft.com/office/drawing/2014/main" val="20008"/>
                    </a:ext>
                  </a:extLst>
                </a:gridCol>
                <a:gridCol w="607191">
                  <a:extLst>
                    <a:ext uri="{9D8B030D-6E8A-4147-A177-3AD203B41FA5}">
                      <a16:colId xmlns:a16="http://schemas.microsoft.com/office/drawing/2014/main" val="20009"/>
                    </a:ext>
                  </a:extLst>
                </a:gridCol>
                <a:gridCol w="607191">
                  <a:extLst>
                    <a:ext uri="{9D8B030D-6E8A-4147-A177-3AD203B41FA5}">
                      <a16:colId xmlns:a16="http://schemas.microsoft.com/office/drawing/2014/main" val="20010"/>
                    </a:ext>
                  </a:extLst>
                </a:gridCol>
                <a:gridCol w="607191">
                  <a:extLst>
                    <a:ext uri="{9D8B030D-6E8A-4147-A177-3AD203B41FA5}">
                      <a16:colId xmlns:a16="http://schemas.microsoft.com/office/drawing/2014/main" val="20011"/>
                    </a:ext>
                  </a:extLst>
                </a:gridCol>
                <a:gridCol w="607191">
                  <a:extLst>
                    <a:ext uri="{9D8B030D-6E8A-4147-A177-3AD203B41FA5}">
                      <a16:colId xmlns:a16="http://schemas.microsoft.com/office/drawing/2014/main" val="20012"/>
                    </a:ext>
                  </a:extLst>
                </a:gridCol>
                <a:gridCol w="607191">
                  <a:extLst>
                    <a:ext uri="{9D8B030D-6E8A-4147-A177-3AD203B41FA5}">
                      <a16:colId xmlns:a16="http://schemas.microsoft.com/office/drawing/2014/main" val="20013"/>
                    </a:ext>
                  </a:extLst>
                </a:gridCol>
                <a:gridCol w="607191">
                  <a:extLst>
                    <a:ext uri="{9D8B030D-6E8A-4147-A177-3AD203B41FA5}">
                      <a16:colId xmlns:a16="http://schemas.microsoft.com/office/drawing/2014/main" val="20014"/>
                    </a:ext>
                  </a:extLst>
                </a:gridCol>
                <a:gridCol w="607191">
                  <a:extLst>
                    <a:ext uri="{9D8B030D-6E8A-4147-A177-3AD203B41FA5}">
                      <a16:colId xmlns:a16="http://schemas.microsoft.com/office/drawing/2014/main" val="20015"/>
                    </a:ext>
                  </a:extLst>
                </a:gridCol>
                <a:gridCol w="607191">
                  <a:extLst>
                    <a:ext uri="{9D8B030D-6E8A-4147-A177-3AD203B41FA5}">
                      <a16:colId xmlns:a16="http://schemas.microsoft.com/office/drawing/2014/main" val="20016"/>
                    </a:ext>
                  </a:extLst>
                </a:gridCol>
                <a:gridCol w="607191">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8" name="TextBox 17"/>
          <p:cNvSpPr txBox="1"/>
          <p:nvPr/>
        </p:nvSpPr>
        <p:spPr>
          <a:xfrm>
            <a:off x="219075" y="40195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22696" y="1781556"/>
            <a:ext cx="366712" cy="533400"/>
          </a:xfrm>
          <a:prstGeom prst="rect">
            <a:avLst/>
          </a:prstGeom>
        </p:spPr>
      </p:pic>
      <p:pic>
        <p:nvPicPr>
          <p:cNvPr id="21" name="Picture 20" descr="lock.png"/>
          <p:cNvPicPr>
            <a:picLocks noChangeAspect="1"/>
          </p:cNvPicPr>
          <p:nvPr/>
        </p:nvPicPr>
        <p:blipFill>
          <a:blip r:embed="rId4"/>
          <a:stretch>
            <a:fillRect/>
          </a:stretch>
        </p:blipFill>
        <p:spPr>
          <a:xfrm>
            <a:off x="6691786" y="3371087"/>
            <a:ext cx="366712" cy="533400"/>
          </a:xfrm>
          <a:prstGeom prst="rect">
            <a:avLst/>
          </a:prstGeom>
        </p:spPr>
      </p:pic>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YoY Analysis Customization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year-on-year volume and value growth by Customization,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YoY,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742948"/>
        </p:xfrm>
        <a:graphic>
          <a:graphicData uri="http://schemas.openxmlformats.org/drawingml/2006/table">
            <a:tbl>
              <a:tblPr>
                <a:tableStyleId>{5C22544A-7EE6-4342-B048-85BDC9FD1C3A}</a:tableStyleId>
              </a:tblPr>
              <a:tblGrid>
                <a:gridCol w="1712272">
                  <a:extLst>
                    <a:ext uri="{9D8B030D-6E8A-4147-A177-3AD203B41FA5}">
                      <a16:colId xmlns:a16="http://schemas.microsoft.com/office/drawing/2014/main" val="20000"/>
                    </a:ext>
                  </a:extLst>
                </a:gridCol>
                <a:gridCol w="678329">
                  <a:extLst>
                    <a:ext uri="{9D8B030D-6E8A-4147-A177-3AD203B41FA5}">
                      <a16:colId xmlns:a16="http://schemas.microsoft.com/office/drawing/2014/main" val="20001"/>
                    </a:ext>
                  </a:extLst>
                </a:gridCol>
                <a:gridCol w="678329">
                  <a:extLst>
                    <a:ext uri="{9D8B030D-6E8A-4147-A177-3AD203B41FA5}">
                      <a16:colId xmlns:a16="http://schemas.microsoft.com/office/drawing/2014/main" val="20002"/>
                    </a:ext>
                  </a:extLst>
                </a:gridCol>
                <a:gridCol w="678329">
                  <a:extLst>
                    <a:ext uri="{9D8B030D-6E8A-4147-A177-3AD203B41FA5}">
                      <a16:colId xmlns:a16="http://schemas.microsoft.com/office/drawing/2014/main" val="20003"/>
                    </a:ext>
                  </a:extLst>
                </a:gridCol>
                <a:gridCol w="678329">
                  <a:extLst>
                    <a:ext uri="{9D8B030D-6E8A-4147-A177-3AD203B41FA5}">
                      <a16:colId xmlns:a16="http://schemas.microsoft.com/office/drawing/2014/main" val="20004"/>
                    </a:ext>
                  </a:extLst>
                </a:gridCol>
                <a:gridCol w="678329">
                  <a:extLst>
                    <a:ext uri="{9D8B030D-6E8A-4147-A177-3AD203B41FA5}">
                      <a16:colId xmlns:a16="http://schemas.microsoft.com/office/drawing/2014/main" val="20005"/>
                    </a:ext>
                  </a:extLst>
                </a:gridCol>
                <a:gridCol w="678329">
                  <a:extLst>
                    <a:ext uri="{9D8B030D-6E8A-4147-A177-3AD203B41FA5}">
                      <a16:colId xmlns:a16="http://schemas.microsoft.com/office/drawing/2014/main" val="20006"/>
                    </a:ext>
                  </a:extLst>
                </a:gridCol>
                <a:gridCol w="678329">
                  <a:extLst>
                    <a:ext uri="{9D8B030D-6E8A-4147-A177-3AD203B41FA5}">
                      <a16:colId xmlns:a16="http://schemas.microsoft.com/office/drawing/2014/main" val="20007"/>
                    </a:ext>
                  </a:extLst>
                </a:gridCol>
                <a:gridCol w="678329">
                  <a:extLst>
                    <a:ext uri="{9D8B030D-6E8A-4147-A177-3AD203B41FA5}">
                      <a16:colId xmlns:a16="http://schemas.microsoft.com/office/drawing/2014/main" val="20008"/>
                    </a:ext>
                  </a:extLst>
                </a:gridCol>
                <a:gridCol w="678329">
                  <a:extLst>
                    <a:ext uri="{9D8B030D-6E8A-4147-A177-3AD203B41FA5}">
                      <a16:colId xmlns:a16="http://schemas.microsoft.com/office/drawing/2014/main" val="20009"/>
                    </a:ext>
                  </a:extLst>
                </a:gridCol>
                <a:gridCol w="678329">
                  <a:extLst>
                    <a:ext uri="{9D8B030D-6E8A-4147-A177-3AD203B41FA5}">
                      <a16:colId xmlns:a16="http://schemas.microsoft.com/office/drawing/2014/main" val="20010"/>
                    </a:ext>
                  </a:extLst>
                </a:gridCol>
                <a:gridCol w="678329">
                  <a:extLst>
                    <a:ext uri="{9D8B030D-6E8A-4147-A177-3AD203B41FA5}">
                      <a16:colId xmlns:a16="http://schemas.microsoft.com/office/drawing/2014/main" val="20011"/>
                    </a:ext>
                  </a:extLst>
                </a:gridCol>
                <a:gridCol w="678329">
                  <a:extLst>
                    <a:ext uri="{9D8B030D-6E8A-4147-A177-3AD203B41FA5}">
                      <a16:colId xmlns:a16="http://schemas.microsoft.com/office/drawing/2014/main" val="20012"/>
                    </a:ext>
                  </a:extLst>
                </a:gridCol>
                <a:gridCol w="678329">
                  <a:extLst>
                    <a:ext uri="{9D8B030D-6E8A-4147-A177-3AD203B41FA5}">
                      <a16:colId xmlns:a16="http://schemas.microsoft.com/office/drawing/2014/main" val="20013"/>
                    </a:ext>
                  </a:extLst>
                </a:gridCol>
                <a:gridCol w="678329">
                  <a:extLst>
                    <a:ext uri="{9D8B030D-6E8A-4147-A177-3AD203B41FA5}">
                      <a16:colId xmlns:a16="http://schemas.microsoft.com/office/drawing/2014/main" val="20014"/>
                    </a:ext>
                  </a:extLst>
                </a:gridCol>
                <a:gridCol w="67832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YoY, By Customization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7" cy="742948"/>
        </p:xfrm>
        <a:graphic>
          <a:graphicData uri="http://schemas.openxmlformats.org/drawingml/2006/table">
            <a:tbl>
              <a:tblPr>
                <a:tableStyleId>{5C22544A-7EE6-4342-B048-85BDC9FD1C3A}</a:tableStyleId>
              </a:tblPr>
              <a:tblGrid>
                <a:gridCol w="1712272">
                  <a:extLst>
                    <a:ext uri="{9D8B030D-6E8A-4147-A177-3AD203B41FA5}">
                      <a16:colId xmlns:a16="http://schemas.microsoft.com/office/drawing/2014/main" val="20000"/>
                    </a:ext>
                  </a:extLst>
                </a:gridCol>
                <a:gridCol w="678329">
                  <a:extLst>
                    <a:ext uri="{9D8B030D-6E8A-4147-A177-3AD203B41FA5}">
                      <a16:colId xmlns:a16="http://schemas.microsoft.com/office/drawing/2014/main" val="20001"/>
                    </a:ext>
                  </a:extLst>
                </a:gridCol>
                <a:gridCol w="678329">
                  <a:extLst>
                    <a:ext uri="{9D8B030D-6E8A-4147-A177-3AD203B41FA5}">
                      <a16:colId xmlns:a16="http://schemas.microsoft.com/office/drawing/2014/main" val="20002"/>
                    </a:ext>
                  </a:extLst>
                </a:gridCol>
                <a:gridCol w="678329">
                  <a:extLst>
                    <a:ext uri="{9D8B030D-6E8A-4147-A177-3AD203B41FA5}">
                      <a16:colId xmlns:a16="http://schemas.microsoft.com/office/drawing/2014/main" val="20003"/>
                    </a:ext>
                  </a:extLst>
                </a:gridCol>
                <a:gridCol w="678329">
                  <a:extLst>
                    <a:ext uri="{9D8B030D-6E8A-4147-A177-3AD203B41FA5}">
                      <a16:colId xmlns:a16="http://schemas.microsoft.com/office/drawing/2014/main" val="20004"/>
                    </a:ext>
                  </a:extLst>
                </a:gridCol>
                <a:gridCol w="678329">
                  <a:extLst>
                    <a:ext uri="{9D8B030D-6E8A-4147-A177-3AD203B41FA5}">
                      <a16:colId xmlns:a16="http://schemas.microsoft.com/office/drawing/2014/main" val="20005"/>
                    </a:ext>
                  </a:extLst>
                </a:gridCol>
                <a:gridCol w="678329">
                  <a:extLst>
                    <a:ext uri="{9D8B030D-6E8A-4147-A177-3AD203B41FA5}">
                      <a16:colId xmlns:a16="http://schemas.microsoft.com/office/drawing/2014/main" val="20006"/>
                    </a:ext>
                  </a:extLst>
                </a:gridCol>
                <a:gridCol w="678329">
                  <a:extLst>
                    <a:ext uri="{9D8B030D-6E8A-4147-A177-3AD203B41FA5}">
                      <a16:colId xmlns:a16="http://schemas.microsoft.com/office/drawing/2014/main" val="20007"/>
                    </a:ext>
                  </a:extLst>
                </a:gridCol>
                <a:gridCol w="678329">
                  <a:extLst>
                    <a:ext uri="{9D8B030D-6E8A-4147-A177-3AD203B41FA5}">
                      <a16:colId xmlns:a16="http://schemas.microsoft.com/office/drawing/2014/main" val="20008"/>
                    </a:ext>
                  </a:extLst>
                </a:gridCol>
                <a:gridCol w="678329">
                  <a:extLst>
                    <a:ext uri="{9D8B030D-6E8A-4147-A177-3AD203B41FA5}">
                      <a16:colId xmlns:a16="http://schemas.microsoft.com/office/drawing/2014/main" val="20009"/>
                    </a:ext>
                  </a:extLst>
                </a:gridCol>
                <a:gridCol w="678329">
                  <a:extLst>
                    <a:ext uri="{9D8B030D-6E8A-4147-A177-3AD203B41FA5}">
                      <a16:colId xmlns:a16="http://schemas.microsoft.com/office/drawing/2014/main" val="20010"/>
                    </a:ext>
                  </a:extLst>
                </a:gridCol>
                <a:gridCol w="678329">
                  <a:extLst>
                    <a:ext uri="{9D8B030D-6E8A-4147-A177-3AD203B41FA5}">
                      <a16:colId xmlns:a16="http://schemas.microsoft.com/office/drawing/2014/main" val="20011"/>
                    </a:ext>
                  </a:extLst>
                </a:gridCol>
                <a:gridCol w="678329">
                  <a:extLst>
                    <a:ext uri="{9D8B030D-6E8A-4147-A177-3AD203B41FA5}">
                      <a16:colId xmlns:a16="http://schemas.microsoft.com/office/drawing/2014/main" val="20012"/>
                    </a:ext>
                  </a:extLst>
                </a:gridCol>
                <a:gridCol w="678329">
                  <a:extLst>
                    <a:ext uri="{9D8B030D-6E8A-4147-A177-3AD203B41FA5}">
                      <a16:colId xmlns:a16="http://schemas.microsoft.com/office/drawing/2014/main" val="20013"/>
                    </a:ext>
                  </a:extLst>
                </a:gridCol>
                <a:gridCol w="678329">
                  <a:extLst>
                    <a:ext uri="{9D8B030D-6E8A-4147-A177-3AD203B41FA5}">
                      <a16:colId xmlns:a16="http://schemas.microsoft.com/office/drawing/2014/main" val="20014"/>
                    </a:ext>
                  </a:extLst>
                </a:gridCol>
                <a:gridCol w="678329">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Customization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Standard / Stock Sizes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Custom-Engineered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8" name="TextBox 17"/>
          <p:cNvSpPr txBox="1"/>
          <p:nvPr/>
        </p:nvSpPr>
        <p:spPr>
          <a:xfrm>
            <a:off x="219075" y="33337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84118"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784118" y="2825115"/>
            <a:ext cx="330041" cy="480060"/>
          </a:xfrm>
          <a:prstGeom prst="rect">
            <a:avLst/>
          </a:prstGeom>
        </p:spPr>
      </p:pic>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14.6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Segmental</a:t>
            </a:r>
          </a:p>
          <a:p>
            <a:pPr marL="342900" indent="-323850">
              <a:lnSpc>
                <a:spcPct val="100000"/>
              </a:lnSpc>
              <a:spcAft>
                <a:spcPts val="800"/>
              </a:spcAft>
            </a:pPr>
            <a:r>
              <a:rPr sz="2000" b="0">
                <a:solidFill>
                  <a:srgbClr val="000000"/>
                </a:solidFill>
                <a:latin typeface="Calibri"/>
              </a:rPr>
              <a:t>➤	Table (Volume &amp; Value)</a:t>
            </a:r>
          </a:p>
          <a:p>
            <a:pPr marL="342900" indent="-323850">
              <a:lnSpc>
                <a:spcPct val="100000"/>
              </a:lnSpc>
              <a:spcAft>
                <a:spcPts val="800"/>
              </a:spcAft>
            </a:pPr>
            <a:r>
              <a:rPr sz="2000" b="0">
                <a:solidFill>
                  <a:srgbClr val="000000"/>
                </a:solidFill>
                <a:latin typeface="Calibri"/>
              </a:rPr>
              <a:t>➤	YoY</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Segmental Analysis End Use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segmental analysis by End Use: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Growth Contribution 2026 → 2036, By End Use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Value Shares &amp; Variance, By End Use</a:t>
            </a:r>
          </a:p>
        </p:txBody>
      </p:sp>
      <p:graphicFrame>
        <p:nvGraphicFramePr>
          <p:cNvPr id="16" name="Table 15"/>
          <p:cNvGraphicFramePr>
            <a:graphicFrameLocks noGrp="1"/>
          </p:cNvGraphicFramePr>
          <p:nvPr/>
        </p:nvGraphicFramePr>
        <p:xfrm>
          <a:off x="6181725" y="1238250"/>
          <a:ext cx="5857874" cy="2286003"/>
        </p:xfrm>
        <a:graphic>
          <a:graphicData uri="http://schemas.openxmlformats.org/drawingml/2006/table">
            <a:tbl>
              <a:tblPr>
                <a:tableStyleId>{5C22544A-7EE6-4342-B048-85BDC9FD1C3A}</a:tableStyleId>
              </a:tblPr>
              <a:tblGrid>
                <a:gridCol w="2541938">
                  <a:extLst>
                    <a:ext uri="{9D8B030D-6E8A-4147-A177-3AD203B41FA5}">
                      <a16:colId xmlns:a16="http://schemas.microsoft.com/office/drawing/2014/main" val="20000"/>
                    </a:ext>
                  </a:extLst>
                </a:gridCol>
                <a:gridCol w="833615">
                  <a:extLst>
                    <a:ext uri="{9D8B030D-6E8A-4147-A177-3AD203B41FA5}">
                      <a16:colId xmlns:a16="http://schemas.microsoft.com/office/drawing/2014/main" val="20001"/>
                    </a:ext>
                  </a:extLst>
                </a:gridCol>
                <a:gridCol w="833615">
                  <a:extLst>
                    <a:ext uri="{9D8B030D-6E8A-4147-A177-3AD203B41FA5}">
                      <a16:colId xmlns:a16="http://schemas.microsoft.com/office/drawing/2014/main" val="20002"/>
                    </a:ext>
                  </a:extLst>
                </a:gridCol>
                <a:gridCol w="1052766">
                  <a:extLst>
                    <a:ext uri="{9D8B030D-6E8A-4147-A177-3AD203B41FA5}">
                      <a16:colId xmlns:a16="http://schemas.microsoft.com/office/drawing/2014/main" val="20003"/>
                    </a:ext>
                  </a:extLst>
                </a:gridCol>
                <a:gridCol w="595940">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91411">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91411">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91411">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91411">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91411">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91411">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91411">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bl>
          </a:graphicData>
        </a:graphic>
      </p:graphicFrame>
      <p:sp>
        <p:nvSpPr>
          <p:cNvPr id="17" name="TextBox 16"/>
          <p:cNvSpPr txBox="1"/>
          <p:nvPr/>
        </p:nvSpPr>
        <p:spPr>
          <a:xfrm>
            <a:off x="6248400" y="3533775"/>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Absolute $ Opportunity, By End Use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267450"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Volume Shares &amp; Variance, By End Use</a:t>
            </a:r>
          </a:p>
        </p:txBody>
      </p:sp>
      <p:graphicFrame>
        <p:nvGraphicFramePr>
          <p:cNvPr id="23" name="Table 22"/>
          <p:cNvGraphicFramePr>
            <a:graphicFrameLocks noGrp="1"/>
          </p:cNvGraphicFramePr>
          <p:nvPr/>
        </p:nvGraphicFramePr>
        <p:xfrm>
          <a:off x="6181725" y="4124325"/>
          <a:ext cx="5857874" cy="2286003"/>
        </p:xfrm>
        <a:graphic>
          <a:graphicData uri="http://schemas.openxmlformats.org/drawingml/2006/table">
            <a:tbl>
              <a:tblPr>
                <a:tableStyleId>{5C22544A-7EE6-4342-B048-85BDC9FD1C3A}</a:tableStyleId>
              </a:tblPr>
              <a:tblGrid>
                <a:gridCol w="2541938">
                  <a:extLst>
                    <a:ext uri="{9D8B030D-6E8A-4147-A177-3AD203B41FA5}">
                      <a16:colId xmlns:a16="http://schemas.microsoft.com/office/drawing/2014/main" val="20000"/>
                    </a:ext>
                  </a:extLst>
                </a:gridCol>
                <a:gridCol w="833615">
                  <a:extLst>
                    <a:ext uri="{9D8B030D-6E8A-4147-A177-3AD203B41FA5}">
                      <a16:colId xmlns:a16="http://schemas.microsoft.com/office/drawing/2014/main" val="20001"/>
                    </a:ext>
                  </a:extLst>
                </a:gridCol>
                <a:gridCol w="833615">
                  <a:extLst>
                    <a:ext uri="{9D8B030D-6E8A-4147-A177-3AD203B41FA5}">
                      <a16:colId xmlns:a16="http://schemas.microsoft.com/office/drawing/2014/main" val="20002"/>
                    </a:ext>
                  </a:extLst>
                </a:gridCol>
                <a:gridCol w="1052766">
                  <a:extLst>
                    <a:ext uri="{9D8B030D-6E8A-4147-A177-3AD203B41FA5}">
                      <a16:colId xmlns:a16="http://schemas.microsoft.com/office/drawing/2014/main" val="20003"/>
                    </a:ext>
                  </a:extLst>
                </a:gridCol>
                <a:gridCol w="595940">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91411">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91411">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91411">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91411">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91411">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91411">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91411">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bl>
          </a:graphicData>
        </a:graphic>
      </p:graphicFrame>
      <p:sp>
        <p:nvSpPr>
          <p:cNvPr id="24" name="TextBox 23"/>
          <p:cNvSpPr txBox="1"/>
          <p:nvPr/>
        </p:nvSpPr>
        <p:spPr>
          <a:xfrm>
            <a:off x="6248400" y="6419850"/>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194941" y="2237614"/>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194941" y="5123689"/>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Tables End Use (1/2)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value of the U.S. market by End Use,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By End Use (MT)</a:t>
            </a:r>
          </a:p>
        </p:txBody>
      </p:sp>
      <p:graphicFrame>
        <p:nvGraphicFramePr>
          <p:cNvPr id="13" name="Table 12"/>
          <p:cNvGraphicFramePr>
            <a:graphicFrameLocks noGrp="1"/>
          </p:cNvGraphicFramePr>
          <p:nvPr/>
        </p:nvGraphicFramePr>
        <p:xfrm>
          <a:off x="152400" y="1238250"/>
          <a:ext cx="11887207" cy="2409824"/>
        </p:xfrm>
        <a:graphic>
          <a:graphicData uri="http://schemas.openxmlformats.org/drawingml/2006/table">
            <a:tbl>
              <a:tblPr>
                <a:tableStyleId>{5C22544A-7EE6-4342-B048-85BDC9FD1C3A}</a:tableStyleId>
              </a:tblPr>
              <a:tblGrid>
                <a:gridCol w="2308860">
                  <a:extLst>
                    <a:ext uri="{9D8B030D-6E8A-4147-A177-3AD203B41FA5}">
                      <a16:colId xmlns:a16="http://schemas.microsoft.com/office/drawing/2014/main" val="20000"/>
                    </a:ext>
                  </a:extLst>
                </a:gridCol>
                <a:gridCol w="530662">
                  <a:extLst>
                    <a:ext uri="{9D8B030D-6E8A-4147-A177-3AD203B41FA5}">
                      <a16:colId xmlns:a16="http://schemas.microsoft.com/office/drawing/2014/main" val="20001"/>
                    </a:ext>
                  </a:extLst>
                </a:gridCol>
                <a:gridCol w="530662">
                  <a:extLst>
                    <a:ext uri="{9D8B030D-6E8A-4147-A177-3AD203B41FA5}">
                      <a16:colId xmlns:a16="http://schemas.microsoft.com/office/drawing/2014/main" val="20002"/>
                    </a:ext>
                  </a:extLst>
                </a:gridCol>
                <a:gridCol w="530662">
                  <a:extLst>
                    <a:ext uri="{9D8B030D-6E8A-4147-A177-3AD203B41FA5}">
                      <a16:colId xmlns:a16="http://schemas.microsoft.com/office/drawing/2014/main" val="20003"/>
                    </a:ext>
                  </a:extLst>
                </a:gridCol>
                <a:gridCol w="530662">
                  <a:extLst>
                    <a:ext uri="{9D8B030D-6E8A-4147-A177-3AD203B41FA5}">
                      <a16:colId xmlns:a16="http://schemas.microsoft.com/office/drawing/2014/main" val="20004"/>
                    </a:ext>
                  </a:extLst>
                </a:gridCol>
                <a:gridCol w="530662">
                  <a:extLst>
                    <a:ext uri="{9D8B030D-6E8A-4147-A177-3AD203B41FA5}">
                      <a16:colId xmlns:a16="http://schemas.microsoft.com/office/drawing/2014/main" val="20005"/>
                    </a:ext>
                  </a:extLst>
                </a:gridCol>
                <a:gridCol w="530662">
                  <a:extLst>
                    <a:ext uri="{9D8B030D-6E8A-4147-A177-3AD203B41FA5}">
                      <a16:colId xmlns:a16="http://schemas.microsoft.com/office/drawing/2014/main" val="20006"/>
                    </a:ext>
                  </a:extLst>
                </a:gridCol>
                <a:gridCol w="530662">
                  <a:extLst>
                    <a:ext uri="{9D8B030D-6E8A-4147-A177-3AD203B41FA5}">
                      <a16:colId xmlns:a16="http://schemas.microsoft.com/office/drawing/2014/main" val="20007"/>
                    </a:ext>
                  </a:extLst>
                </a:gridCol>
                <a:gridCol w="530662">
                  <a:extLst>
                    <a:ext uri="{9D8B030D-6E8A-4147-A177-3AD203B41FA5}">
                      <a16:colId xmlns:a16="http://schemas.microsoft.com/office/drawing/2014/main" val="20008"/>
                    </a:ext>
                  </a:extLst>
                </a:gridCol>
                <a:gridCol w="530662">
                  <a:extLst>
                    <a:ext uri="{9D8B030D-6E8A-4147-A177-3AD203B41FA5}">
                      <a16:colId xmlns:a16="http://schemas.microsoft.com/office/drawing/2014/main" val="20009"/>
                    </a:ext>
                  </a:extLst>
                </a:gridCol>
                <a:gridCol w="530662">
                  <a:extLst>
                    <a:ext uri="{9D8B030D-6E8A-4147-A177-3AD203B41FA5}">
                      <a16:colId xmlns:a16="http://schemas.microsoft.com/office/drawing/2014/main" val="20010"/>
                    </a:ext>
                  </a:extLst>
                </a:gridCol>
                <a:gridCol w="641033">
                  <a:extLst>
                    <a:ext uri="{9D8B030D-6E8A-4147-A177-3AD203B41FA5}">
                      <a16:colId xmlns:a16="http://schemas.microsoft.com/office/drawing/2014/main" val="20011"/>
                    </a:ext>
                  </a:extLst>
                </a:gridCol>
                <a:gridCol w="641033">
                  <a:extLst>
                    <a:ext uri="{9D8B030D-6E8A-4147-A177-3AD203B41FA5}">
                      <a16:colId xmlns:a16="http://schemas.microsoft.com/office/drawing/2014/main" val="20012"/>
                    </a:ext>
                  </a:extLst>
                </a:gridCol>
                <a:gridCol w="641033">
                  <a:extLst>
                    <a:ext uri="{9D8B030D-6E8A-4147-A177-3AD203B41FA5}">
                      <a16:colId xmlns:a16="http://schemas.microsoft.com/office/drawing/2014/main" val="20013"/>
                    </a:ext>
                  </a:extLst>
                </a:gridCol>
                <a:gridCol w="641033">
                  <a:extLst>
                    <a:ext uri="{9D8B030D-6E8A-4147-A177-3AD203B41FA5}">
                      <a16:colId xmlns:a16="http://schemas.microsoft.com/office/drawing/2014/main" val="20014"/>
                    </a:ext>
                  </a:extLst>
                </a:gridCol>
                <a:gridCol w="641033">
                  <a:extLst>
                    <a:ext uri="{9D8B030D-6E8A-4147-A177-3AD203B41FA5}">
                      <a16:colId xmlns:a16="http://schemas.microsoft.com/office/drawing/2014/main" val="20015"/>
                    </a:ext>
                  </a:extLst>
                </a:gridCol>
                <a:gridCol w="641033">
                  <a:extLst>
                    <a:ext uri="{9D8B030D-6E8A-4147-A177-3AD203B41FA5}">
                      <a16:colId xmlns:a16="http://schemas.microsoft.com/office/drawing/2014/main" val="20016"/>
                    </a:ext>
                  </a:extLst>
                </a:gridCol>
                <a:gridCol w="425529">
                  <a:extLst>
                    <a:ext uri="{9D8B030D-6E8A-4147-A177-3AD203B41FA5}">
                      <a16:colId xmlns:a16="http://schemas.microsoft.com/office/drawing/2014/main" val="20017"/>
                    </a:ext>
                  </a:extLst>
                </a:gridCol>
              </a:tblGrid>
              <a:tr h="438912">
                <a:tc>
                  <a:txBody>
                    <a:bodyPr/>
                    <a:lstStyle/>
                    <a:p>
                      <a:pPr algn="l"/>
                      <a:r>
                        <a:rPr sz="1100" b="1">
                          <a:solidFill>
                            <a:srgbClr val="0B2E4A"/>
                          </a:solidFill>
                          <a:latin typeface="Calibri"/>
                        </a:rPr>
                        <a:t>End Use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a:lstStyle/>
                    <a:p>
                      <a:pPr algn="ctr"/>
                      <a:r>
                        <a:rPr sz="1100" b="1">
                          <a:solidFill>
                            <a:srgbClr val="0B2E4A"/>
                          </a:solidFill>
                          <a:latin typeface="Calibri"/>
                        </a:rPr>
                        <a:t>F-CAGR</a:t>
                      </a:r>
                      <a:endParaRPr sz="1100"/>
                    </a:p>
                  </a:txBody>
                  <a:tcPr marL="19050" marR="14288" marT="19050" marB="19050" anchor="ctr">
                    <a:solidFill>
                      <a:srgbClr val="E0E8EF"/>
                    </a:solidFill>
                  </a:tcPr>
                </a:tc>
                <a:extLst>
                  <a:ext uri="{0D108BD9-81ED-4DB2-BD59-A6C34878D82A}">
                    <a16:rowId xmlns:a16="http://schemas.microsoft.com/office/drawing/2014/main" val="10000"/>
                  </a:ext>
                </a:extLst>
              </a:tr>
              <a:tr h="246364">
                <a:tc>
                  <a:txBody>
                    <a:bodyPr/>
                    <a:lstStyle/>
                    <a:p>
                      <a:pPr algn="l"/>
                      <a:r>
                        <a:rPr sz="1100" b="1">
                          <a:solidFill>
                            <a:srgbClr val="2E2E2E"/>
                          </a:solidFill>
                          <a:latin typeface="Calibri"/>
                        </a:rPr>
                        <a:t>Food &amp; Beverage</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1"/>
                  </a:ext>
                </a:extLst>
              </a:tr>
              <a:tr h="246364">
                <a:tc>
                  <a:txBody>
                    <a:bodyPr/>
                    <a:lstStyle/>
                    <a:p>
                      <a:pPr algn="l"/>
                      <a:r>
                        <a:rPr sz="1100" b="1">
                          <a:solidFill>
                            <a:srgbClr val="2E2E2E"/>
                          </a:solidFill>
                          <a:latin typeface="Calibri"/>
                        </a:rPr>
                        <a:t>Pharmaceuticals &amp; Healthcare</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2"/>
                  </a:ext>
                </a:extLst>
              </a:tr>
              <a:tr h="246364">
                <a:tc>
                  <a:txBody>
                    <a:bodyPr/>
                    <a:lstStyle/>
                    <a:p>
                      <a:pPr algn="l"/>
                      <a:r>
                        <a:rPr sz="1100" b="1">
                          <a:solidFill>
                            <a:srgbClr val="2E2E2E"/>
                          </a:solidFill>
                          <a:latin typeface="Calibri"/>
                        </a:rPr>
                        <a:t>Personal Care &amp; Cosmetics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3"/>
                  </a:ext>
                </a:extLst>
              </a:tr>
              <a:tr h="246364">
                <a:tc>
                  <a:txBody>
                    <a:bodyPr/>
                    <a:lstStyle/>
                    <a:p>
                      <a:pPr algn="l"/>
                      <a:r>
                        <a:rPr sz="1100" b="1">
                          <a:solidFill>
                            <a:srgbClr val="2E2E2E"/>
                          </a:solidFill>
                          <a:latin typeface="Calibri"/>
                        </a:rPr>
                        <a:t>Electronics &amp; Electrical</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4"/>
                  </a:ext>
                </a:extLst>
              </a:tr>
              <a:tr h="246364">
                <a:tc>
                  <a:txBody>
                    <a:bodyPr/>
                    <a:lstStyle/>
                    <a:p>
                      <a:pPr algn="l"/>
                      <a:r>
                        <a:rPr sz="1100" b="1">
                          <a:solidFill>
                            <a:srgbClr val="2E2E2E"/>
                          </a:solidFill>
                          <a:latin typeface="Calibri"/>
                        </a:rPr>
                        <a:t>Automotive &amp; Industrial Components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5"/>
                  </a:ext>
                </a:extLst>
              </a:tr>
              <a:tr h="246364">
                <a:tc>
                  <a:txBody>
                    <a:bodyPr/>
                    <a:lstStyle/>
                    <a:p>
                      <a:pPr algn="l"/>
                      <a:r>
                        <a:rPr sz="1100" b="1">
                          <a:solidFill>
                            <a:srgbClr val="2E2E2E"/>
                          </a:solidFill>
                          <a:latin typeface="Calibri"/>
                        </a:rPr>
                        <a:t>Glassware, Ceramics &amp; Home Goods</a:t>
                      </a:r>
                      <a:endParaRPr sz="1100"/>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tc>
                  <a:txBody>
                    <a:bodyPr/>
                    <a:lstStyle/>
                    <a:p>
                      <a:pPr algn="ctr"/>
                      <a:r>
                        <a:rPr sz="1100"/>
                        <a:t> </a:t>
                      </a:r>
                    </a:p>
                  </a:txBody>
                  <a:tcPr marL="19050" marR="14288" marT="19050" marB="19050" anchor="ctr">
                    <a:solidFill>
                      <a:srgbClr val="F5F8FA"/>
                    </a:solidFill>
                  </a:tcPr>
                </a:tc>
                <a:extLst>
                  <a:ext uri="{0D108BD9-81ED-4DB2-BD59-A6C34878D82A}">
                    <a16:rowId xmlns:a16="http://schemas.microsoft.com/office/drawing/2014/main" val="10006"/>
                  </a:ext>
                </a:extLst>
              </a:tr>
              <a:tr h="246364">
                <a:tc>
                  <a:txBody>
                    <a:bodyPr/>
                    <a:lstStyle/>
                    <a:p>
                      <a:pPr algn="l"/>
                      <a:r>
                        <a:rPr sz="1100" b="1">
                          <a:solidFill>
                            <a:srgbClr val="2E2E2E"/>
                          </a:solidFill>
                          <a:latin typeface="Calibri"/>
                        </a:rPr>
                        <a:t>Others</a:t>
                      </a:r>
                      <a:endParaRPr sz="1100"/>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tc>
                  <a:txBody>
                    <a:bodyPr/>
                    <a:lstStyle/>
                    <a:p>
                      <a:pPr algn="ctr"/>
                      <a:r>
                        <a:rPr sz="1100"/>
                        <a:t> </a:t>
                      </a:r>
                    </a:p>
                  </a:txBody>
                  <a:tcPr marL="19050" marR="14288" marT="19050" marB="19050" anchor="ctr">
                    <a:solidFill>
                      <a:srgbClr val="FFFFFF"/>
                    </a:solidFill>
                  </a:tcPr>
                </a:tc>
                <a:extLst>
                  <a:ext uri="{0D108BD9-81ED-4DB2-BD59-A6C34878D82A}">
                    <a16:rowId xmlns:a16="http://schemas.microsoft.com/office/drawing/2014/main" val="10007"/>
                  </a:ext>
                </a:extLst>
              </a:tr>
              <a:tr h="246364">
                <a:tc>
                  <a:txBody>
                    <a:bodyPr/>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tc>
                  <a:txBody>
                    <a:bodyPr/>
                    <a:lstStyle/>
                    <a:p>
                      <a:pPr algn="ctr"/>
                      <a:r>
                        <a:rPr sz="1100"/>
                        <a:t> </a:t>
                      </a:r>
                    </a:p>
                  </a:txBody>
                  <a:tcPr marL="19050" marR="14288" marT="19050" marB="19050" anchor="ctr">
                    <a:solidFill>
                      <a:srgbClr val="E0E8EF"/>
                    </a:solidFill>
                  </a:tcPr>
                </a:tc>
                <a:extLst>
                  <a:ext uri="{0D108BD9-81ED-4DB2-BD59-A6C34878D82A}">
                    <a16:rowId xmlns:a16="http://schemas.microsoft.com/office/drawing/2014/main" val="10008"/>
                  </a:ext>
                </a:extLst>
              </a:tr>
            </a:tbl>
          </a:graphicData>
        </a:graphic>
      </p:graphicFrame>
      <p:sp>
        <p:nvSpPr>
          <p:cNvPr id="14" name="TextBox 13"/>
          <p:cNvSpPr txBox="1"/>
          <p:nvPr/>
        </p:nvSpPr>
        <p:spPr>
          <a:xfrm>
            <a:off x="219075" y="36576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063743" y="2395917"/>
            <a:ext cx="366712" cy="533399"/>
          </a:xfrm>
          <a:prstGeom prst="rect">
            <a:avLst/>
          </a:prstGeom>
        </p:spPr>
      </p:pic>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Tables End Use (2/2)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value of the U.S. market by End Use, 2021–2036</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By End Use (US$ Mn)</a:t>
            </a:r>
          </a:p>
        </p:txBody>
      </p:sp>
      <p:graphicFrame>
        <p:nvGraphicFramePr>
          <p:cNvPr id="12" name="Table 11"/>
          <p:cNvGraphicFramePr>
            <a:graphicFrameLocks noGrp="1"/>
          </p:cNvGraphicFramePr>
          <p:nvPr/>
        </p:nvGraphicFramePr>
        <p:xfrm>
          <a:off x="152400" y="1238250"/>
          <a:ext cx="11887202" cy="2219326"/>
        </p:xfrm>
        <a:graphic>
          <a:graphicData uri="http://schemas.openxmlformats.org/drawingml/2006/table">
            <a:tbl>
              <a:tblPr>
                <a:tableStyleId>{5C22544A-7EE6-4342-B048-85BDC9FD1C3A}</a:tableStyleId>
              </a:tblPr>
              <a:tblGrid>
                <a:gridCol w="2384338">
                  <a:extLst>
                    <a:ext uri="{9D8B030D-6E8A-4147-A177-3AD203B41FA5}">
                      <a16:colId xmlns:a16="http://schemas.microsoft.com/office/drawing/2014/main" val="20000"/>
                    </a:ext>
                  </a:extLst>
                </a:gridCol>
                <a:gridCol w="558992">
                  <a:extLst>
                    <a:ext uri="{9D8B030D-6E8A-4147-A177-3AD203B41FA5}">
                      <a16:colId xmlns:a16="http://schemas.microsoft.com/office/drawing/2014/main" val="20001"/>
                    </a:ext>
                  </a:extLst>
                </a:gridCol>
                <a:gridCol w="558992">
                  <a:extLst>
                    <a:ext uri="{9D8B030D-6E8A-4147-A177-3AD203B41FA5}">
                      <a16:colId xmlns:a16="http://schemas.microsoft.com/office/drawing/2014/main" val="20002"/>
                    </a:ext>
                  </a:extLst>
                </a:gridCol>
                <a:gridCol w="558992">
                  <a:extLst>
                    <a:ext uri="{9D8B030D-6E8A-4147-A177-3AD203B41FA5}">
                      <a16:colId xmlns:a16="http://schemas.microsoft.com/office/drawing/2014/main" val="20003"/>
                    </a:ext>
                  </a:extLst>
                </a:gridCol>
                <a:gridCol w="558992">
                  <a:extLst>
                    <a:ext uri="{9D8B030D-6E8A-4147-A177-3AD203B41FA5}">
                      <a16:colId xmlns:a16="http://schemas.microsoft.com/office/drawing/2014/main" val="20004"/>
                    </a:ext>
                  </a:extLst>
                </a:gridCol>
                <a:gridCol w="558992">
                  <a:extLst>
                    <a:ext uri="{9D8B030D-6E8A-4147-A177-3AD203B41FA5}">
                      <a16:colId xmlns:a16="http://schemas.microsoft.com/office/drawing/2014/main" val="20005"/>
                    </a:ext>
                  </a:extLst>
                </a:gridCol>
                <a:gridCol w="558992">
                  <a:extLst>
                    <a:ext uri="{9D8B030D-6E8A-4147-A177-3AD203B41FA5}">
                      <a16:colId xmlns:a16="http://schemas.microsoft.com/office/drawing/2014/main" val="20006"/>
                    </a:ext>
                  </a:extLst>
                </a:gridCol>
                <a:gridCol w="558992">
                  <a:extLst>
                    <a:ext uri="{9D8B030D-6E8A-4147-A177-3AD203B41FA5}">
                      <a16:colId xmlns:a16="http://schemas.microsoft.com/office/drawing/2014/main" val="20007"/>
                    </a:ext>
                  </a:extLst>
                </a:gridCol>
                <a:gridCol w="558992">
                  <a:extLst>
                    <a:ext uri="{9D8B030D-6E8A-4147-A177-3AD203B41FA5}">
                      <a16:colId xmlns:a16="http://schemas.microsoft.com/office/drawing/2014/main" val="20008"/>
                    </a:ext>
                  </a:extLst>
                </a:gridCol>
                <a:gridCol w="558992">
                  <a:extLst>
                    <a:ext uri="{9D8B030D-6E8A-4147-A177-3AD203B41FA5}">
                      <a16:colId xmlns:a16="http://schemas.microsoft.com/office/drawing/2014/main" val="20009"/>
                    </a:ext>
                  </a:extLst>
                </a:gridCol>
                <a:gridCol w="558992">
                  <a:extLst>
                    <a:ext uri="{9D8B030D-6E8A-4147-A177-3AD203B41FA5}">
                      <a16:colId xmlns:a16="http://schemas.microsoft.com/office/drawing/2014/main" val="20010"/>
                    </a:ext>
                  </a:extLst>
                </a:gridCol>
                <a:gridCol w="558992">
                  <a:extLst>
                    <a:ext uri="{9D8B030D-6E8A-4147-A177-3AD203B41FA5}">
                      <a16:colId xmlns:a16="http://schemas.microsoft.com/office/drawing/2014/main" val="20011"/>
                    </a:ext>
                  </a:extLst>
                </a:gridCol>
                <a:gridCol w="558992">
                  <a:extLst>
                    <a:ext uri="{9D8B030D-6E8A-4147-A177-3AD203B41FA5}">
                      <a16:colId xmlns:a16="http://schemas.microsoft.com/office/drawing/2014/main" val="20012"/>
                    </a:ext>
                  </a:extLst>
                </a:gridCol>
                <a:gridCol w="558992">
                  <a:extLst>
                    <a:ext uri="{9D8B030D-6E8A-4147-A177-3AD203B41FA5}">
                      <a16:colId xmlns:a16="http://schemas.microsoft.com/office/drawing/2014/main" val="20013"/>
                    </a:ext>
                  </a:extLst>
                </a:gridCol>
                <a:gridCol w="558992">
                  <a:extLst>
                    <a:ext uri="{9D8B030D-6E8A-4147-A177-3AD203B41FA5}">
                      <a16:colId xmlns:a16="http://schemas.microsoft.com/office/drawing/2014/main" val="20014"/>
                    </a:ext>
                  </a:extLst>
                </a:gridCol>
                <a:gridCol w="558992">
                  <a:extLst>
                    <a:ext uri="{9D8B030D-6E8A-4147-A177-3AD203B41FA5}">
                      <a16:colId xmlns:a16="http://schemas.microsoft.com/office/drawing/2014/main" val="20015"/>
                    </a:ext>
                  </a:extLst>
                </a:gridCol>
                <a:gridCol w="558992">
                  <a:extLst>
                    <a:ext uri="{9D8B030D-6E8A-4147-A177-3AD203B41FA5}">
                      <a16:colId xmlns:a16="http://schemas.microsoft.com/office/drawing/2014/main" val="20016"/>
                    </a:ext>
                  </a:extLst>
                </a:gridCol>
                <a:gridCol w="558992">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650">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650">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650">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650">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650">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650">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650">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r h="24665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8"/>
                  </a:ext>
                </a:extLst>
              </a:tr>
            </a:tbl>
          </a:graphicData>
        </a:graphic>
      </p:graphicFrame>
      <p:sp>
        <p:nvSpPr>
          <p:cNvPr id="13" name="TextBox 12"/>
          <p:cNvSpPr txBox="1"/>
          <p:nvPr/>
        </p:nvSpPr>
        <p:spPr>
          <a:xfrm>
            <a:off x="219075" y="34671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101480" y="2204276"/>
            <a:ext cx="366712" cy="533400"/>
          </a:xfrm>
          <a:prstGeom prst="rect">
            <a:avLst/>
          </a:prstGeom>
        </p:spPr>
      </p:pic>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YoY Analysis End Use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year-on-year volume and value growth by End Use,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YoY,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1971675"/>
        </p:xfrm>
        <a:graphic>
          <a:graphicData uri="http://schemas.openxmlformats.org/drawingml/2006/table">
            <a:tbl>
              <a:tblPr>
                <a:tableStyleId>{5C22544A-7EE6-4342-B048-85BDC9FD1C3A}</a:tableStyleId>
              </a:tblPr>
              <a:tblGrid>
                <a:gridCol w="2440354">
                  <a:extLst>
                    <a:ext uri="{9D8B030D-6E8A-4147-A177-3AD203B41FA5}">
                      <a16:colId xmlns:a16="http://schemas.microsoft.com/office/drawing/2014/main" val="20000"/>
                    </a:ext>
                  </a:extLst>
                </a:gridCol>
                <a:gridCol w="629790">
                  <a:extLst>
                    <a:ext uri="{9D8B030D-6E8A-4147-A177-3AD203B41FA5}">
                      <a16:colId xmlns:a16="http://schemas.microsoft.com/office/drawing/2014/main" val="20001"/>
                    </a:ext>
                  </a:extLst>
                </a:gridCol>
                <a:gridCol w="629790">
                  <a:extLst>
                    <a:ext uri="{9D8B030D-6E8A-4147-A177-3AD203B41FA5}">
                      <a16:colId xmlns:a16="http://schemas.microsoft.com/office/drawing/2014/main" val="20002"/>
                    </a:ext>
                  </a:extLst>
                </a:gridCol>
                <a:gridCol w="629790">
                  <a:extLst>
                    <a:ext uri="{9D8B030D-6E8A-4147-A177-3AD203B41FA5}">
                      <a16:colId xmlns:a16="http://schemas.microsoft.com/office/drawing/2014/main" val="20003"/>
                    </a:ext>
                  </a:extLst>
                </a:gridCol>
                <a:gridCol w="629790">
                  <a:extLst>
                    <a:ext uri="{9D8B030D-6E8A-4147-A177-3AD203B41FA5}">
                      <a16:colId xmlns:a16="http://schemas.microsoft.com/office/drawing/2014/main" val="20004"/>
                    </a:ext>
                  </a:extLst>
                </a:gridCol>
                <a:gridCol w="629790">
                  <a:extLst>
                    <a:ext uri="{9D8B030D-6E8A-4147-A177-3AD203B41FA5}">
                      <a16:colId xmlns:a16="http://schemas.microsoft.com/office/drawing/2014/main" val="20005"/>
                    </a:ext>
                  </a:extLst>
                </a:gridCol>
                <a:gridCol w="629790">
                  <a:extLst>
                    <a:ext uri="{9D8B030D-6E8A-4147-A177-3AD203B41FA5}">
                      <a16:colId xmlns:a16="http://schemas.microsoft.com/office/drawing/2014/main" val="20006"/>
                    </a:ext>
                  </a:extLst>
                </a:gridCol>
                <a:gridCol w="629790">
                  <a:extLst>
                    <a:ext uri="{9D8B030D-6E8A-4147-A177-3AD203B41FA5}">
                      <a16:colId xmlns:a16="http://schemas.microsoft.com/office/drawing/2014/main" val="20007"/>
                    </a:ext>
                  </a:extLst>
                </a:gridCol>
                <a:gridCol w="629790">
                  <a:extLst>
                    <a:ext uri="{9D8B030D-6E8A-4147-A177-3AD203B41FA5}">
                      <a16:colId xmlns:a16="http://schemas.microsoft.com/office/drawing/2014/main" val="20008"/>
                    </a:ext>
                  </a:extLst>
                </a:gridCol>
                <a:gridCol w="629790">
                  <a:extLst>
                    <a:ext uri="{9D8B030D-6E8A-4147-A177-3AD203B41FA5}">
                      <a16:colId xmlns:a16="http://schemas.microsoft.com/office/drawing/2014/main" val="20009"/>
                    </a:ext>
                  </a:extLst>
                </a:gridCol>
                <a:gridCol w="629790">
                  <a:extLst>
                    <a:ext uri="{9D8B030D-6E8A-4147-A177-3AD203B41FA5}">
                      <a16:colId xmlns:a16="http://schemas.microsoft.com/office/drawing/2014/main" val="20010"/>
                    </a:ext>
                  </a:extLst>
                </a:gridCol>
                <a:gridCol w="629790">
                  <a:extLst>
                    <a:ext uri="{9D8B030D-6E8A-4147-A177-3AD203B41FA5}">
                      <a16:colId xmlns:a16="http://schemas.microsoft.com/office/drawing/2014/main" val="20011"/>
                    </a:ext>
                  </a:extLst>
                </a:gridCol>
                <a:gridCol w="629790">
                  <a:extLst>
                    <a:ext uri="{9D8B030D-6E8A-4147-A177-3AD203B41FA5}">
                      <a16:colId xmlns:a16="http://schemas.microsoft.com/office/drawing/2014/main" val="20012"/>
                    </a:ext>
                  </a:extLst>
                </a:gridCol>
                <a:gridCol w="629790">
                  <a:extLst>
                    <a:ext uri="{9D8B030D-6E8A-4147-A177-3AD203B41FA5}">
                      <a16:colId xmlns:a16="http://schemas.microsoft.com/office/drawing/2014/main" val="20013"/>
                    </a:ext>
                  </a:extLst>
                </a:gridCol>
                <a:gridCol w="629790">
                  <a:extLst>
                    <a:ext uri="{9D8B030D-6E8A-4147-A177-3AD203B41FA5}">
                      <a16:colId xmlns:a16="http://schemas.microsoft.com/office/drawing/2014/main" val="20014"/>
                    </a:ext>
                  </a:extLst>
                </a:gridCol>
                <a:gridCol w="629790">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507">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507">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507">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507">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507">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507">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507">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bl>
          </a:graphicData>
        </a:graphic>
      </p:graphicFrame>
      <p:sp>
        <p:nvSpPr>
          <p:cNvPr id="14" name="TextBox 13"/>
          <p:cNvSpPr txBox="1"/>
          <p:nvPr/>
        </p:nvSpPr>
        <p:spPr>
          <a:xfrm>
            <a:off x="219075" y="32194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60997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YoY, By End Use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810000"/>
          <a:ext cx="11887207" cy="1971675"/>
        </p:xfrm>
        <a:graphic>
          <a:graphicData uri="http://schemas.openxmlformats.org/drawingml/2006/table">
            <a:tbl>
              <a:tblPr>
                <a:tableStyleId>{5C22544A-7EE6-4342-B048-85BDC9FD1C3A}</a:tableStyleId>
              </a:tblPr>
              <a:tblGrid>
                <a:gridCol w="2589442">
                  <a:extLst>
                    <a:ext uri="{9D8B030D-6E8A-4147-A177-3AD203B41FA5}">
                      <a16:colId xmlns:a16="http://schemas.microsoft.com/office/drawing/2014/main" val="20000"/>
                    </a:ext>
                  </a:extLst>
                </a:gridCol>
                <a:gridCol w="619851">
                  <a:extLst>
                    <a:ext uri="{9D8B030D-6E8A-4147-A177-3AD203B41FA5}">
                      <a16:colId xmlns:a16="http://schemas.microsoft.com/office/drawing/2014/main" val="20001"/>
                    </a:ext>
                  </a:extLst>
                </a:gridCol>
                <a:gridCol w="619851">
                  <a:extLst>
                    <a:ext uri="{9D8B030D-6E8A-4147-A177-3AD203B41FA5}">
                      <a16:colId xmlns:a16="http://schemas.microsoft.com/office/drawing/2014/main" val="20002"/>
                    </a:ext>
                  </a:extLst>
                </a:gridCol>
                <a:gridCol w="619851">
                  <a:extLst>
                    <a:ext uri="{9D8B030D-6E8A-4147-A177-3AD203B41FA5}">
                      <a16:colId xmlns:a16="http://schemas.microsoft.com/office/drawing/2014/main" val="20003"/>
                    </a:ext>
                  </a:extLst>
                </a:gridCol>
                <a:gridCol w="619851">
                  <a:extLst>
                    <a:ext uri="{9D8B030D-6E8A-4147-A177-3AD203B41FA5}">
                      <a16:colId xmlns:a16="http://schemas.microsoft.com/office/drawing/2014/main" val="20004"/>
                    </a:ext>
                  </a:extLst>
                </a:gridCol>
                <a:gridCol w="619851">
                  <a:extLst>
                    <a:ext uri="{9D8B030D-6E8A-4147-A177-3AD203B41FA5}">
                      <a16:colId xmlns:a16="http://schemas.microsoft.com/office/drawing/2014/main" val="20005"/>
                    </a:ext>
                  </a:extLst>
                </a:gridCol>
                <a:gridCol w="619851">
                  <a:extLst>
                    <a:ext uri="{9D8B030D-6E8A-4147-A177-3AD203B41FA5}">
                      <a16:colId xmlns:a16="http://schemas.microsoft.com/office/drawing/2014/main" val="20006"/>
                    </a:ext>
                  </a:extLst>
                </a:gridCol>
                <a:gridCol w="619851">
                  <a:extLst>
                    <a:ext uri="{9D8B030D-6E8A-4147-A177-3AD203B41FA5}">
                      <a16:colId xmlns:a16="http://schemas.microsoft.com/office/drawing/2014/main" val="20007"/>
                    </a:ext>
                  </a:extLst>
                </a:gridCol>
                <a:gridCol w="619851">
                  <a:extLst>
                    <a:ext uri="{9D8B030D-6E8A-4147-A177-3AD203B41FA5}">
                      <a16:colId xmlns:a16="http://schemas.microsoft.com/office/drawing/2014/main" val="20008"/>
                    </a:ext>
                  </a:extLst>
                </a:gridCol>
                <a:gridCol w="619851">
                  <a:extLst>
                    <a:ext uri="{9D8B030D-6E8A-4147-A177-3AD203B41FA5}">
                      <a16:colId xmlns:a16="http://schemas.microsoft.com/office/drawing/2014/main" val="20009"/>
                    </a:ext>
                  </a:extLst>
                </a:gridCol>
                <a:gridCol w="619851">
                  <a:extLst>
                    <a:ext uri="{9D8B030D-6E8A-4147-A177-3AD203B41FA5}">
                      <a16:colId xmlns:a16="http://schemas.microsoft.com/office/drawing/2014/main" val="20010"/>
                    </a:ext>
                  </a:extLst>
                </a:gridCol>
                <a:gridCol w="619851">
                  <a:extLst>
                    <a:ext uri="{9D8B030D-6E8A-4147-A177-3AD203B41FA5}">
                      <a16:colId xmlns:a16="http://schemas.microsoft.com/office/drawing/2014/main" val="20011"/>
                    </a:ext>
                  </a:extLst>
                </a:gridCol>
                <a:gridCol w="619851">
                  <a:extLst>
                    <a:ext uri="{9D8B030D-6E8A-4147-A177-3AD203B41FA5}">
                      <a16:colId xmlns:a16="http://schemas.microsoft.com/office/drawing/2014/main" val="20012"/>
                    </a:ext>
                  </a:extLst>
                </a:gridCol>
                <a:gridCol w="619851">
                  <a:extLst>
                    <a:ext uri="{9D8B030D-6E8A-4147-A177-3AD203B41FA5}">
                      <a16:colId xmlns:a16="http://schemas.microsoft.com/office/drawing/2014/main" val="20013"/>
                    </a:ext>
                  </a:extLst>
                </a:gridCol>
                <a:gridCol w="619851">
                  <a:extLst>
                    <a:ext uri="{9D8B030D-6E8A-4147-A177-3AD203B41FA5}">
                      <a16:colId xmlns:a16="http://schemas.microsoft.com/office/drawing/2014/main" val="20014"/>
                    </a:ext>
                  </a:extLst>
                </a:gridCol>
                <a:gridCol w="619851">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End Use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507">
                <a:tc>
                  <a:txBody>
                    <a:bodyPr/>
                    <a:lstStyle/>
                    <a:p>
                      <a:pPr algn="l"/>
                      <a:r>
                        <a:rPr sz="1100" b="1">
                          <a:solidFill>
                            <a:srgbClr val="2E2E2E"/>
                          </a:solidFill>
                          <a:latin typeface="Calibri"/>
                        </a:rPr>
                        <a:t>Food &amp; Beverage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507">
                <a:tc>
                  <a:txBody>
                    <a:bodyPr/>
                    <a:lstStyle/>
                    <a:p>
                      <a:pPr algn="l"/>
                      <a:r>
                        <a:rPr sz="1100" b="1">
                          <a:solidFill>
                            <a:srgbClr val="2E2E2E"/>
                          </a:solidFill>
                          <a:latin typeface="Calibri"/>
                        </a:rPr>
                        <a:t>Pharmaceuticals &amp; Healthcare</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507">
                <a:tc>
                  <a:txBody>
                    <a:bodyPr/>
                    <a:lstStyle/>
                    <a:p>
                      <a:pPr algn="l"/>
                      <a:r>
                        <a:rPr sz="1100" b="1">
                          <a:solidFill>
                            <a:srgbClr val="2E2E2E"/>
                          </a:solidFill>
                          <a:latin typeface="Calibri"/>
                        </a:rPr>
                        <a:t>Personal Care &amp; Cosmetics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507">
                <a:tc>
                  <a:txBody>
                    <a:bodyPr/>
                    <a:lstStyle/>
                    <a:p>
                      <a:pPr algn="l"/>
                      <a:r>
                        <a:rPr sz="1100" b="1">
                          <a:solidFill>
                            <a:srgbClr val="2E2E2E"/>
                          </a:solidFill>
                          <a:latin typeface="Calibri"/>
                        </a:rPr>
                        <a:t>Electronics &amp; Electrical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6507">
                <a:tc>
                  <a:txBody>
                    <a:bodyPr/>
                    <a:lstStyle/>
                    <a:p>
                      <a:pPr algn="l"/>
                      <a:r>
                        <a:rPr sz="1100" b="1">
                          <a:solidFill>
                            <a:srgbClr val="2E2E2E"/>
                          </a:solidFill>
                          <a:latin typeface="Calibri"/>
                        </a:rPr>
                        <a:t>Automotive &amp; Industrial Components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246507">
                <a:tc>
                  <a:txBody>
                    <a:bodyPr/>
                    <a:lstStyle/>
                    <a:p>
                      <a:pPr algn="l"/>
                      <a:r>
                        <a:rPr sz="1100" b="1">
                          <a:solidFill>
                            <a:srgbClr val="2E2E2E"/>
                          </a:solidFill>
                          <a:latin typeface="Calibri"/>
                        </a:rPr>
                        <a:t>Glassware, Ceramics &amp; Home Goods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r h="246507">
                <a:tc>
                  <a:txBody>
                    <a:bodyPr/>
                    <a:lstStyle/>
                    <a:p>
                      <a:pPr algn="l"/>
                      <a:r>
                        <a:rPr sz="1100" b="1">
                          <a:solidFill>
                            <a:srgbClr val="2E2E2E"/>
                          </a:solidFill>
                          <a:latin typeface="Calibri"/>
                        </a:rPr>
                        <a:t>Others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7"/>
                  </a:ext>
                </a:extLst>
              </a:tr>
            </a:tbl>
          </a:graphicData>
        </a:graphic>
      </p:graphicFrame>
      <p:sp>
        <p:nvSpPr>
          <p:cNvPr id="18" name="TextBox 17"/>
          <p:cNvSpPr txBox="1"/>
          <p:nvPr/>
        </p:nvSpPr>
        <p:spPr>
          <a:xfrm>
            <a:off x="219075" y="57912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29488" y="2080450"/>
            <a:ext cx="366712" cy="533400"/>
          </a:xfrm>
          <a:prstGeom prst="rect">
            <a:avLst/>
          </a:prstGeom>
        </p:spPr>
      </p:pic>
      <p:pic>
        <p:nvPicPr>
          <p:cNvPr id="21" name="Picture 20" descr="lock.png"/>
          <p:cNvPicPr>
            <a:picLocks noChangeAspect="1"/>
          </p:cNvPicPr>
          <p:nvPr/>
        </p:nvPicPr>
        <p:blipFill>
          <a:blip r:embed="rId4"/>
          <a:stretch>
            <a:fillRect/>
          </a:stretch>
        </p:blipFill>
        <p:spPr>
          <a:xfrm>
            <a:off x="7204034" y="4652200"/>
            <a:ext cx="366712" cy="533399"/>
          </a:xfrm>
          <a:prstGeom prst="rect">
            <a:avLst/>
          </a:prstGeom>
        </p:spPr>
      </p:pic>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14.7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Sales Channel</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Segmental</a:t>
            </a:r>
          </a:p>
          <a:p>
            <a:pPr marL="342900" indent="-323850">
              <a:lnSpc>
                <a:spcPct val="100000"/>
              </a:lnSpc>
              <a:spcAft>
                <a:spcPts val="800"/>
              </a:spcAft>
            </a:pPr>
            <a:r>
              <a:rPr sz="2000" b="0">
                <a:solidFill>
                  <a:srgbClr val="000000"/>
                </a:solidFill>
                <a:latin typeface="Calibri"/>
              </a:rPr>
              <a:t>➤	Table (Volume &amp; Value)</a:t>
            </a:r>
          </a:p>
          <a:p>
            <a:pPr marL="342900" indent="-323850">
              <a:lnSpc>
                <a:spcPct val="100000"/>
              </a:lnSpc>
              <a:spcAft>
                <a:spcPts val="800"/>
              </a:spcAft>
            </a:pPr>
            <a:r>
              <a:rPr sz="2000" b="0">
                <a:solidFill>
                  <a:srgbClr val="000000"/>
                </a:solidFill>
                <a:latin typeface="Calibri"/>
              </a:rPr>
              <a:t>➤	YoY</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Segmental Analysis Sales Channel</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segmental analysis by Sales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Growth Contribution 2026 → 2036, By Sales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67450" y="1038225"/>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Value Shares &amp; Variance, By Sales Channel</a:t>
            </a:r>
          </a:p>
        </p:txBody>
      </p:sp>
      <p:graphicFrame>
        <p:nvGraphicFramePr>
          <p:cNvPr id="16" name="Table 15"/>
          <p:cNvGraphicFramePr>
            <a:graphicFrameLocks noGrp="1"/>
          </p:cNvGraphicFramePr>
          <p:nvPr/>
        </p:nvGraphicFramePr>
        <p:xfrm>
          <a:off x="6181725" y="1238250"/>
          <a:ext cx="5857873" cy="2286000"/>
        </p:xfrm>
        <a:graphic>
          <a:graphicData uri="http://schemas.openxmlformats.org/drawingml/2006/table">
            <a:tbl>
              <a:tblPr>
                <a:tableStyleId>{5C22544A-7EE6-4342-B048-85BDC9FD1C3A}</a:tableStyleId>
              </a:tblPr>
              <a:tblGrid>
                <a:gridCol w="1128877">
                  <a:extLst>
                    <a:ext uri="{9D8B030D-6E8A-4147-A177-3AD203B41FA5}">
                      <a16:colId xmlns:a16="http://schemas.microsoft.com/office/drawing/2014/main" val="20000"/>
                    </a:ext>
                  </a:extLst>
                </a:gridCol>
                <a:gridCol w="1182249">
                  <a:extLst>
                    <a:ext uri="{9D8B030D-6E8A-4147-A177-3AD203B41FA5}">
                      <a16:colId xmlns:a16="http://schemas.microsoft.com/office/drawing/2014/main" val="20001"/>
                    </a:ext>
                  </a:extLst>
                </a:gridCol>
                <a:gridCol w="1182249">
                  <a:extLst>
                    <a:ext uri="{9D8B030D-6E8A-4147-A177-3AD203B41FA5}">
                      <a16:colId xmlns:a16="http://schemas.microsoft.com/office/drawing/2014/main" val="20002"/>
                    </a:ext>
                  </a:extLst>
                </a:gridCol>
                <a:gridCol w="1182249">
                  <a:extLst>
                    <a:ext uri="{9D8B030D-6E8A-4147-A177-3AD203B41FA5}">
                      <a16:colId xmlns:a16="http://schemas.microsoft.com/office/drawing/2014/main" val="20003"/>
                    </a:ext>
                  </a:extLst>
                </a:gridCol>
                <a:gridCol w="1182249">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1019937">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1019937">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7" name="TextBox 16"/>
          <p:cNvSpPr txBox="1"/>
          <p:nvPr/>
        </p:nvSpPr>
        <p:spPr>
          <a:xfrm>
            <a:off x="6248400" y="3533775"/>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38125"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Absolute $ Opportunity, By Sales Channel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xmlns:r="http://schemas.openxmlformats.org/officeDocument/2006/relationships" r:id="rId5"/>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267450" y="3924300"/>
            <a:ext cx="56864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Volume Shares &amp; Variance, By Sales Channel</a:t>
            </a:r>
          </a:p>
        </p:txBody>
      </p:sp>
      <p:graphicFrame>
        <p:nvGraphicFramePr>
          <p:cNvPr id="23" name="Table 22"/>
          <p:cNvGraphicFramePr>
            <a:graphicFrameLocks noGrp="1"/>
          </p:cNvGraphicFramePr>
          <p:nvPr/>
        </p:nvGraphicFramePr>
        <p:xfrm>
          <a:off x="6181725" y="4124325"/>
          <a:ext cx="5857873" cy="2286000"/>
        </p:xfrm>
        <a:graphic>
          <a:graphicData uri="http://schemas.openxmlformats.org/drawingml/2006/table">
            <a:tbl>
              <a:tblPr>
                <a:tableStyleId>{5C22544A-7EE6-4342-B048-85BDC9FD1C3A}</a:tableStyleId>
              </a:tblPr>
              <a:tblGrid>
                <a:gridCol w="1128877">
                  <a:extLst>
                    <a:ext uri="{9D8B030D-6E8A-4147-A177-3AD203B41FA5}">
                      <a16:colId xmlns:a16="http://schemas.microsoft.com/office/drawing/2014/main" val="20000"/>
                    </a:ext>
                  </a:extLst>
                </a:gridCol>
                <a:gridCol w="1182249">
                  <a:extLst>
                    <a:ext uri="{9D8B030D-6E8A-4147-A177-3AD203B41FA5}">
                      <a16:colId xmlns:a16="http://schemas.microsoft.com/office/drawing/2014/main" val="20001"/>
                    </a:ext>
                  </a:extLst>
                </a:gridCol>
                <a:gridCol w="1182249">
                  <a:extLst>
                    <a:ext uri="{9D8B030D-6E8A-4147-A177-3AD203B41FA5}">
                      <a16:colId xmlns:a16="http://schemas.microsoft.com/office/drawing/2014/main" val="20002"/>
                    </a:ext>
                  </a:extLst>
                </a:gridCol>
                <a:gridCol w="1182249">
                  <a:extLst>
                    <a:ext uri="{9D8B030D-6E8A-4147-A177-3AD203B41FA5}">
                      <a16:colId xmlns:a16="http://schemas.microsoft.com/office/drawing/2014/main" val="20003"/>
                    </a:ext>
                  </a:extLst>
                </a:gridCol>
                <a:gridCol w="1182249">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1019937">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1019937">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24" name="TextBox 23"/>
          <p:cNvSpPr txBox="1"/>
          <p:nvPr/>
        </p:nvSpPr>
        <p:spPr>
          <a:xfrm>
            <a:off x="6248400" y="6419850"/>
            <a:ext cx="5724525"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488410"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488410"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Corrugated Partition Market Tables Sales Channel</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Year-by-year volume and value of the U.S. market by Sales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By Sales Channel (MT)</a:t>
            </a:r>
          </a:p>
        </p:txBody>
      </p:sp>
      <p:graphicFrame>
        <p:nvGraphicFramePr>
          <p:cNvPr id="13" name="Table 12"/>
          <p:cNvGraphicFramePr>
            <a:graphicFrameLocks noGrp="1"/>
          </p:cNvGraphicFramePr>
          <p:nvPr/>
        </p:nvGraphicFramePr>
        <p:xfrm>
          <a:off x="152400" y="1238250"/>
          <a:ext cx="11887205" cy="1371597"/>
        </p:xfrm>
        <a:graphic>
          <a:graphicData uri="http://schemas.openxmlformats.org/drawingml/2006/table">
            <a:tbl>
              <a:tblPr>
                <a:tableStyleId>{5C22544A-7EE6-4342-B048-85BDC9FD1C3A}</a:tableStyleId>
              </a:tblPr>
              <a:tblGrid>
                <a:gridCol w="967042">
                  <a:extLst>
                    <a:ext uri="{9D8B030D-6E8A-4147-A177-3AD203B41FA5}">
                      <a16:colId xmlns:a16="http://schemas.microsoft.com/office/drawing/2014/main" val="20000"/>
                    </a:ext>
                  </a:extLst>
                </a:gridCol>
                <a:gridCol w="603816">
                  <a:extLst>
                    <a:ext uri="{9D8B030D-6E8A-4147-A177-3AD203B41FA5}">
                      <a16:colId xmlns:a16="http://schemas.microsoft.com/office/drawing/2014/main" val="20001"/>
                    </a:ext>
                  </a:extLst>
                </a:gridCol>
                <a:gridCol w="603816">
                  <a:extLst>
                    <a:ext uri="{9D8B030D-6E8A-4147-A177-3AD203B41FA5}">
                      <a16:colId xmlns:a16="http://schemas.microsoft.com/office/drawing/2014/main" val="20002"/>
                    </a:ext>
                  </a:extLst>
                </a:gridCol>
                <a:gridCol w="603816">
                  <a:extLst>
                    <a:ext uri="{9D8B030D-6E8A-4147-A177-3AD203B41FA5}">
                      <a16:colId xmlns:a16="http://schemas.microsoft.com/office/drawing/2014/main" val="20003"/>
                    </a:ext>
                  </a:extLst>
                </a:gridCol>
                <a:gridCol w="603816">
                  <a:extLst>
                    <a:ext uri="{9D8B030D-6E8A-4147-A177-3AD203B41FA5}">
                      <a16:colId xmlns:a16="http://schemas.microsoft.com/office/drawing/2014/main" val="20004"/>
                    </a:ext>
                  </a:extLst>
                </a:gridCol>
                <a:gridCol w="603816">
                  <a:extLst>
                    <a:ext uri="{9D8B030D-6E8A-4147-A177-3AD203B41FA5}">
                      <a16:colId xmlns:a16="http://schemas.microsoft.com/office/drawing/2014/main" val="20005"/>
                    </a:ext>
                  </a:extLst>
                </a:gridCol>
                <a:gridCol w="603816">
                  <a:extLst>
                    <a:ext uri="{9D8B030D-6E8A-4147-A177-3AD203B41FA5}">
                      <a16:colId xmlns:a16="http://schemas.microsoft.com/office/drawing/2014/main" val="20006"/>
                    </a:ext>
                  </a:extLst>
                </a:gridCol>
                <a:gridCol w="603816">
                  <a:extLst>
                    <a:ext uri="{9D8B030D-6E8A-4147-A177-3AD203B41FA5}">
                      <a16:colId xmlns:a16="http://schemas.microsoft.com/office/drawing/2014/main" val="20007"/>
                    </a:ext>
                  </a:extLst>
                </a:gridCol>
                <a:gridCol w="603816">
                  <a:extLst>
                    <a:ext uri="{9D8B030D-6E8A-4147-A177-3AD203B41FA5}">
                      <a16:colId xmlns:a16="http://schemas.microsoft.com/office/drawing/2014/main" val="20008"/>
                    </a:ext>
                  </a:extLst>
                </a:gridCol>
                <a:gridCol w="603816">
                  <a:extLst>
                    <a:ext uri="{9D8B030D-6E8A-4147-A177-3AD203B41FA5}">
                      <a16:colId xmlns:a16="http://schemas.microsoft.com/office/drawing/2014/main" val="20009"/>
                    </a:ext>
                  </a:extLst>
                </a:gridCol>
                <a:gridCol w="603816">
                  <a:extLst>
                    <a:ext uri="{9D8B030D-6E8A-4147-A177-3AD203B41FA5}">
                      <a16:colId xmlns:a16="http://schemas.microsoft.com/office/drawing/2014/main" val="20010"/>
                    </a:ext>
                  </a:extLst>
                </a:gridCol>
                <a:gridCol w="718118">
                  <a:extLst>
                    <a:ext uri="{9D8B030D-6E8A-4147-A177-3AD203B41FA5}">
                      <a16:colId xmlns:a16="http://schemas.microsoft.com/office/drawing/2014/main" val="20011"/>
                    </a:ext>
                  </a:extLst>
                </a:gridCol>
                <a:gridCol w="718118">
                  <a:extLst>
                    <a:ext uri="{9D8B030D-6E8A-4147-A177-3AD203B41FA5}">
                      <a16:colId xmlns:a16="http://schemas.microsoft.com/office/drawing/2014/main" val="20012"/>
                    </a:ext>
                  </a:extLst>
                </a:gridCol>
                <a:gridCol w="718118">
                  <a:extLst>
                    <a:ext uri="{9D8B030D-6E8A-4147-A177-3AD203B41FA5}">
                      <a16:colId xmlns:a16="http://schemas.microsoft.com/office/drawing/2014/main" val="20013"/>
                    </a:ext>
                  </a:extLst>
                </a:gridCol>
                <a:gridCol w="718118">
                  <a:extLst>
                    <a:ext uri="{9D8B030D-6E8A-4147-A177-3AD203B41FA5}">
                      <a16:colId xmlns:a16="http://schemas.microsoft.com/office/drawing/2014/main" val="20014"/>
                    </a:ext>
                  </a:extLst>
                </a:gridCol>
                <a:gridCol w="718118">
                  <a:extLst>
                    <a:ext uri="{9D8B030D-6E8A-4147-A177-3AD203B41FA5}">
                      <a16:colId xmlns:a16="http://schemas.microsoft.com/office/drawing/2014/main" val="20015"/>
                    </a:ext>
                  </a:extLst>
                </a:gridCol>
                <a:gridCol w="718118">
                  <a:extLst>
                    <a:ext uri="{9D8B030D-6E8A-4147-A177-3AD203B41FA5}">
                      <a16:colId xmlns:a16="http://schemas.microsoft.com/office/drawing/2014/main" val="20016"/>
                    </a:ext>
                  </a:extLst>
                </a:gridCol>
                <a:gridCol w="573295">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375157">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375157">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375157">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26193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952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0099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By Sales Channel (US$ Mn)</a:t>
            </a:r>
          </a:p>
        </p:txBody>
      </p:sp>
      <p:graphicFrame>
        <p:nvGraphicFramePr>
          <p:cNvPr id="17" name="Table 16"/>
          <p:cNvGraphicFramePr>
            <a:graphicFrameLocks noGrp="1"/>
          </p:cNvGraphicFramePr>
          <p:nvPr/>
        </p:nvGraphicFramePr>
        <p:xfrm>
          <a:off x="152400" y="3209925"/>
          <a:ext cx="11887205" cy="990600"/>
        </p:xfrm>
        <a:graphic>
          <a:graphicData uri="http://schemas.openxmlformats.org/drawingml/2006/table">
            <a:tbl>
              <a:tblPr>
                <a:tableStyleId>{5C22544A-7EE6-4342-B048-85BDC9FD1C3A}</a:tableStyleId>
              </a:tblPr>
              <a:tblGrid>
                <a:gridCol w="1073029">
                  <a:extLst>
                    <a:ext uri="{9D8B030D-6E8A-4147-A177-3AD203B41FA5}">
                      <a16:colId xmlns:a16="http://schemas.microsoft.com/office/drawing/2014/main" val="20000"/>
                    </a:ext>
                  </a:extLst>
                </a:gridCol>
                <a:gridCol w="636128">
                  <a:extLst>
                    <a:ext uri="{9D8B030D-6E8A-4147-A177-3AD203B41FA5}">
                      <a16:colId xmlns:a16="http://schemas.microsoft.com/office/drawing/2014/main" val="20001"/>
                    </a:ext>
                  </a:extLst>
                </a:gridCol>
                <a:gridCol w="636128">
                  <a:extLst>
                    <a:ext uri="{9D8B030D-6E8A-4147-A177-3AD203B41FA5}">
                      <a16:colId xmlns:a16="http://schemas.microsoft.com/office/drawing/2014/main" val="20002"/>
                    </a:ext>
                  </a:extLst>
                </a:gridCol>
                <a:gridCol w="636128">
                  <a:extLst>
                    <a:ext uri="{9D8B030D-6E8A-4147-A177-3AD203B41FA5}">
                      <a16:colId xmlns:a16="http://schemas.microsoft.com/office/drawing/2014/main" val="20003"/>
                    </a:ext>
                  </a:extLst>
                </a:gridCol>
                <a:gridCol w="636128">
                  <a:extLst>
                    <a:ext uri="{9D8B030D-6E8A-4147-A177-3AD203B41FA5}">
                      <a16:colId xmlns:a16="http://schemas.microsoft.com/office/drawing/2014/main" val="20004"/>
                    </a:ext>
                  </a:extLst>
                </a:gridCol>
                <a:gridCol w="636128">
                  <a:extLst>
                    <a:ext uri="{9D8B030D-6E8A-4147-A177-3AD203B41FA5}">
                      <a16:colId xmlns:a16="http://schemas.microsoft.com/office/drawing/2014/main" val="20005"/>
                    </a:ext>
                  </a:extLst>
                </a:gridCol>
                <a:gridCol w="636128">
                  <a:extLst>
                    <a:ext uri="{9D8B030D-6E8A-4147-A177-3AD203B41FA5}">
                      <a16:colId xmlns:a16="http://schemas.microsoft.com/office/drawing/2014/main" val="20006"/>
                    </a:ext>
                  </a:extLst>
                </a:gridCol>
                <a:gridCol w="636128">
                  <a:extLst>
                    <a:ext uri="{9D8B030D-6E8A-4147-A177-3AD203B41FA5}">
                      <a16:colId xmlns:a16="http://schemas.microsoft.com/office/drawing/2014/main" val="20007"/>
                    </a:ext>
                  </a:extLst>
                </a:gridCol>
                <a:gridCol w="636128">
                  <a:extLst>
                    <a:ext uri="{9D8B030D-6E8A-4147-A177-3AD203B41FA5}">
                      <a16:colId xmlns:a16="http://schemas.microsoft.com/office/drawing/2014/main" val="20008"/>
                    </a:ext>
                  </a:extLst>
                </a:gridCol>
                <a:gridCol w="636128">
                  <a:extLst>
                    <a:ext uri="{9D8B030D-6E8A-4147-A177-3AD203B41FA5}">
                      <a16:colId xmlns:a16="http://schemas.microsoft.com/office/drawing/2014/main" val="20009"/>
                    </a:ext>
                  </a:extLst>
                </a:gridCol>
                <a:gridCol w="636128">
                  <a:extLst>
                    <a:ext uri="{9D8B030D-6E8A-4147-A177-3AD203B41FA5}">
                      <a16:colId xmlns:a16="http://schemas.microsoft.com/office/drawing/2014/main" val="20010"/>
                    </a:ext>
                  </a:extLst>
                </a:gridCol>
                <a:gridCol w="636128">
                  <a:extLst>
                    <a:ext uri="{9D8B030D-6E8A-4147-A177-3AD203B41FA5}">
                      <a16:colId xmlns:a16="http://schemas.microsoft.com/office/drawing/2014/main" val="20011"/>
                    </a:ext>
                  </a:extLst>
                </a:gridCol>
                <a:gridCol w="636128">
                  <a:extLst>
                    <a:ext uri="{9D8B030D-6E8A-4147-A177-3AD203B41FA5}">
                      <a16:colId xmlns:a16="http://schemas.microsoft.com/office/drawing/2014/main" val="20012"/>
                    </a:ext>
                  </a:extLst>
                </a:gridCol>
                <a:gridCol w="636128">
                  <a:extLst>
                    <a:ext uri="{9D8B030D-6E8A-4147-A177-3AD203B41FA5}">
                      <a16:colId xmlns:a16="http://schemas.microsoft.com/office/drawing/2014/main" val="20013"/>
                    </a:ext>
                  </a:extLst>
                </a:gridCol>
                <a:gridCol w="636128">
                  <a:extLst>
                    <a:ext uri="{9D8B030D-6E8A-4147-A177-3AD203B41FA5}">
                      <a16:colId xmlns:a16="http://schemas.microsoft.com/office/drawing/2014/main" val="20014"/>
                    </a:ext>
                  </a:extLst>
                </a:gridCol>
                <a:gridCol w="636128">
                  <a:extLst>
                    <a:ext uri="{9D8B030D-6E8A-4147-A177-3AD203B41FA5}">
                      <a16:colId xmlns:a16="http://schemas.microsoft.com/office/drawing/2014/main" val="20015"/>
                    </a:ext>
                  </a:extLst>
                </a:gridCol>
                <a:gridCol w="636128">
                  <a:extLst>
                    <a:ext uri="{9D8B030D-6E8A-4147-A177-3AD203B41FA5}">
                      <a16:colId xmlns:a16="http://schemas.microsoft.com/office/drawing/2014/main" val="20016"/>
                    </a:ext>
                  </a:extLst>
                </a:gridCol>
                <a:gridCol w="636128">
                  <a:extLst>
                    <a:ext uri="{9D8B030D-6E8A-4147-A177-3AD203B41FA5}">
                      <a16:colId xmlns:a16="http://schemas.microsoft.com/office/drawing/2014/main" val="20017"/>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F-CAGR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158">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158">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815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3"/>
                  </a:ext>
                </a:extLst>
              </a:tr>
            </a:tbl>
          </a:graphicData>
        </a:graphic>
      </p:graphicFrame>
      <p:sp>
        <p:nvSpPr>
          <p:cNvPr id="18" name="TextBox 17"/>
          <p:cNvSpPr txBox="1"/>
          <p:nvPr/>
        </p:nvSpPr>
        <p:spPr>
          <a:xfrm>
            <a:off x="219075" y="42100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392833" y="1780413"/>
            <a:ext cx="366712" cy="533400"/>
          </a:xfrm>
          <a:prstGeom prst="rect">
            <a:avLst/>
          </a:prstGeom>
        </p:spPr>
      </p:pic>
      <p:pic>
        <p:nvPicPr>
          <p:cNvPr id="21" name="Picture 20" descr="lock.png"/>
          <p:cNvPicPr>
            <a:picLocks noChangeAspect="1"/>
          </p:cNvPicPr>
          <p:nvPr/>
        </p:nvPicPr>
        <p:blipFill>
          <a:blip r:embed="rId4"/>
          <a:stretch>
            <a:fillRect/>
          </a:stretch>
        </p:blipFill>
        <p:spPr>
          <a:xfrm>
            <a:off x="6445826" y="3561587"/>
            <a:ext cx="366712" cy="533400"/>
          </a:xfrm>
          <a:prstGeom prst="rect">
            <a:avLst/>
          </a:prstGeom>
        </p:spPr>
      </p:pic>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YoY Analysis Sales Channel</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year-on-year volume and value growth by Sales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Volume YoY,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742948"/>
        </p:xfrm>
        <a:graphic>
          <a:graphicData uri="http://schemas.openxmlformats.org/drawingml/2006/table">
            <a:tbl>
              <a:tblPr>
                <a:tableStyleId>{5C22544A-7EE6-4342-B048-85BDC9FD1C3A}</a:tableStyleId>
              </a:tblPr>
              <a:tblGrid>
                <a:gridCol w="1179331">
                  <a:extLst>
                    <a:ext uri="{9D8B030D-6E8A-4147-A177-3AD203B41FA5}">
                      <a16:colId xmlns:a16="http://schemas.microsoft.com/office/drawing/2014/main" val="20000"/>
                    </a:ext>
                  </a:extLst>
                </a:gridCol>
                <a:gridCol w="713858">
                  <a:extLst>
                    <a:ext uri="{9D8B030D-6E8A-4147-A177-3AD203B41FA5}">
                      <a16:colId xmlns:a16="http://schemas.microsoft.com/office/drawing/2014/main" val="20001"/>
                    </a:ext>
                  </a:extLst>
                </a:gridCol>
                <a:gridCol w="713858">
                  <a:extLst>
                    <a:ext uri="{9D8B030D-6E8A-4147-A177-3AD203B41FA5}">
                      <a16:colId xmlns:a16="http://schemas.microsoft.com/office/drawing/2014/main" val="20002"/>
                    </a:ext>
                  </a:extLst>
                </a:gridCol>
                <a:gridCol w="713858">
                  <a:extLst>
                    <a:ext uri="{9D8B030D-6E8A-4147-A177-3AD203B41FA5}">
                      <a16:colId xmlns:a16="http://schemas.microsoft.com/office/drawing/2014/main" val="20003"/>
                    </a:ext>
                  </a:extLst>
                </a:gridCol>
                <a:gridCol w="713858">
                  <a:extLst>
                    <a:ext uri="{9D8B030D-6E8A-4147-A177-3AD203B41FA5}">
                      <a16:colId xmlns:a16="http://schemas.microsoft.com/office/drawing/2014/main" val="20004"/>
                    </a:ext>
                  </a:extLst>
                </a:gridCol>
                <a:gridCol w="713858">
                  <a:extLst>
                    <a:ext uri="{9D8B030D-6E8A-4147-A177-3AD203B41FA5}">
                      <a16:colId xmlns:a16="http://schemas.microsoft.com/office/drawing/2014/main" val="20005"/>
                    </a:ext>
                  </a:extLst>
                </a:gridCol>
                <a:gridCol w="713858">
                  <a:extLst>
                    <a:ext uri="{9D8B030D-6E8A-4147-A177-3AD203B41FA5}">
                      <a16:colId xmlns:a16="http://schemas.microsoft.com/office/drawing/2014/main" val="20006"/>
                    </a:ext>
                  </a:extLst>
                </a:gridCol>
                <a:gridCol w="713858">
                  <a:extLst>
                    <a:ext uri="{9D8B030D-6E8A-4147-A177-3AD203B41FA5}">
                      <a16:colId xmlns:a16="http://schemas.microsoft.com/office/drawing/2014/main" val="20007"/>
                    </a:ext>
                  </a:extLst>
                </a:gridCol>
                <a:gridCol w="713858">
                  <a:extLst>
                    <a:ext uri="{9D8B030D-6E8A-4147-A177-3AD203B41FA5}">
                      <a16:colId xmlns:a16="http://schemas.microsoft.com/office/drawing/2014/main" val="20008"/>
                    </a:ext>
                  </a:extLst>
                </a:gridCol>
                <a:gridCol w="713858">
                  <a:extLst>
                    <a:ext uri="{9D8B030D-6E8A-4147-A177-3AD203B41FA5}">
                      <a16:colId xmlns:a16="http://schemas.microsoft.com/office/drawing/2014/main" val="20009"/>
                    </a:ext>
                  </a:extLst>
                </a:gridCol>
                <a:gridCol w="713858">
                  <a:extLst>
                    <a:ext uri="{9D8B030D-6E8A-4147-A177-3AD203B41FA5}">
                      <a16:colId xmlns:a16="http://schemas.microsoft.com/office/drawing/2014/main" val="20010"/>
                    </a:ext>
                  </a:extLst>
                </a:gridCol>
                <a:gridCol w="713858">
                  <a:extLst>
                    <a:ext uri="{9D8B030D-6E8A-4147-A177-3AD203B41FA5}">
                      <a16:colId xmlns:a16="http://schemas.microsoft.com/office/drawing/2014/main" val="20011"/>
                    </a:ext>
                  </a:extLst>
                </a:gridCol>
                <a:gridCol w="713858">
                  <a:extLst>
                    <a:ext uri="{9D8B030D-6E8A-4147-A177-3AD203B41FA5}">
                      <a16:colId xmlns:a16="http://schemas.microsoft.com/office/drawing/2014/main" val="20012"/>
                    </a:ext>
                  </a:extLst>
                </a:gridCol>
                <a:gridCol w="713858">
                  <a:extLst>
                    <a:ext uri="{9D8B030D-6E8A-4147-A177-3AD203B41FA5}">
                      <a16:colId xmlns:a16="http://schemas.microsoft.com/office/drawing/2014/main" val="20013"/>
                    </a:ext>
                  </a:extLst>
                </a:gridCol>
                <a:gridCol w="713858">
                  <a:extLst>
                    <a:ext uri="{9D8B030D-6E8A-4147-A177-3AD203B41FA5}">
                      <a16:colId xmlns:a16="http://schemas.microsoft.com/office/drawing/2014/main" val="20014"/>
                    </a:ext>
                  </a:extLst>
                </a:gridCol>
                <a:gridCol w="71385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4" name="TextBox 13"/>
          <p:cNvSpPr txBox="1"/>
          <p:nvPr/>
        </p:nvSpPr>
        <p:spPr>
          <a:xfrm>
            <a:off x="219075" y="19907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238125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YoY,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1" cy="742948"/>
        </p:xfrm>
        <a:graphic>
          <a:graphicData uri="http://schemas.openxmlformats.org/drawingml/2006/table">
            <a:tbl>
              <a:tblPr>
                <a:tableStyleId>{5C22544A-7EE6-4342-B048-85BDC9FD1C3A}</a:tableStyleId>
              </a:tblPr>
              <a:tblGrid>
                <a:gridCol w="1179331">
                  <a:extLst>
                    <a:ext uri="{9D8B030D-6E8A-4147-A177-3AD203B41FA5}">
                      <a16:colId xmlns:a16="http://schemas.microsoft.com/office/drawing/2014/main" val="20000"/>
                    </a:ext>
                  </a:extLst>
                </a:gridCol>
                <a:gridCol w="713858">
                  <a:extLst>
                    <a:ext uri="{9D8B030D-6E8A-4147-A177-3AD203B41FA5}">
                      <a16:colId xmlns:a16="http://schemas.microsoft.com/office/drawing/2014/main" val="20001"/>
                    </a:ext>
                  </a:extLst>
                </a:gridCol>
                <a:gridCol w="713858">
                  <a:extLst>
                    <a:ext uri="{9D8B030D-6E8A-4147-A177-3AD203B41FA5}">
                      <a16:colId xmlns:a16="http://schemas.microsoft.com/office/drawing/2014/main" val="20002"/>
                    </a:ext>
                  </a:extLst>
                </a:gridCol>
                <a:gridCol w="713858">
                  <a:extLst>
                    <a:ext uri="{9D8B030D-6E8A-4147-A177-3AD203B41FA5}">
                      <a16:colId xmlns:a16="http://schemas.microsoft.com/office/drawing/2014/main" val="20003"/>
                    </a:ext>
                  </a:extLst>
                </a:gridCol>
                <a:gridCol w="713858">
                  <a:extLst>
                    <a:ext uri="{9D8B030D-6E8A-4147-A177-3AD203B41FA5}">
                      <a16:colId xmlns:a16="http://schemas.microsoft.com/office/drawing/2014/main" val="20004"/>
                    </a:ext>
                  </a:extLst>
                </a:gridCol>
                <a:gridCol w="713858">
                  <a:extLst>
                    <a:ext uri="{9D8B030D-6E8A-4147-A177-3AD203B41FA5}">
                      <a16:colId xmlns:a16="http://schemas.microsoft.com/office/drawing/2014/main" val="20005"/>
                    </a:ext>
                  </a:extLst>
                </a:gridCol>
                <a:gridCol w="713858">
                  <a:extLst>
                    <a:ext uri="{9D8B030D-6E8A-4147-A177-3AD203B41FA5}">
                      <a16:colId xmlns:a16="http://schemas.microsoft.com/office/drawing/2014/main" val="20006"/>
                    </a:ext>
                  </a:extLst>
                </a:gridCol>
                <a:gridCol w="713858">
                  <a:extLst>
                    <a:ext uri="{9D8B030D-6E8A-4147-A177-3AD203B41FA5}">
                      <a16:colId xmlns:a16="http://schemas.microsoft.com/office/drawing/2014/main" val="20007"/>
                    </a:ext>
                  </a:extLst>
                </a:gridCol>
                <a:gridCol w="713858">
                  <a:extLst>
                    <a:ext uri="{9D8B030D-6E8A-4147-A177-3AD203B41FA5}">
                      <a16:colId xmlns:a16="http://schemas.microsoft.com/office/drawing/2014/main" val="20008"/>
                    </a:ext>
                  </a:extLst>
                </a:gridCol>
                <a:gridCol w="713858">
                  <a:extLst>
                    <a:ext uri="{9D8B030D-6E8A-4147-A177-3AD203B41FA5}">
                      <a16:colId xmlns:a16="http://schemas.microsoft.com/office/drawing/2014/main" val="20009"/>
                    </a:ext>
                  </a:extLst>
                </a:gridCol>
                <a:gridCol w="713858">
                  <a:extLst>
                    <a:ext uri="{9D8B030D-6E8A-4147-A177-3AD203B41FA5}">
                      <a16:colId xmlns:a16="http://schemas.microsoft.com/office/drawing/2014/main" val="20010"/>
                    </a:ext>
                  </a:extLst>
                </a:gridCol>
                <a:gridCol w="713858">
                  <a:extLst>
                    <a:ext uri="{9D8B030D-6E8A-4147-A177-3AD203B41FA5}">
                      <a16:colId xmlns:a16="http://schemas.microsoft.com/office/drawing/2014/main" val="20011"/>
                    </a:ext>
                  </a:extLst>
                </a:gridCol>
                <a:gridCol w="713858">
                  <a:extLst>
                    <a:ext uri="{9D8B030D-6E8A-4147-A177-3AD203B41FA5}">
                      <a16:colId xmlns:a16="http://schemas.microsoft.com/office/drawing/2014/main" val="20012"/>
                    </a:ext>
                  </a:extLst>
                </a:gridCol>
                <a:gridCol w="713858">
                  <a:extLst>
                    <a:ext uri="{9D8B030D-6E8A-4147-A177-3AD203B41FA5}">
                      <a16:colId xmlns:a16="http://schemas.microsoft.com/office/drawing/2014/main" val="20013"/>
                    </a:ext>
                  </a:extLst>
                </a:gridCol>
                <a:gridCol w="713858">
                  <a:extLst>
                    <a:ext uri="{9D8B030D-6E8A-4147-A177-3AD203B41FA5}">
                      <a16:colId xmlns:a16="http://schemas.microsoft.com/office/drawing/2014/main" val="20014"/>
                    </a:ext>
                  </a:extLst>
                </a:gridCol>
                <a:gridCol w="713858">
                  <a:extLst>
                    <a:ext uri="{9D8B030D-6E8A-4147-A177-3AD203B41FA5}">
                      <a16:colId xmlns:a16="http://schemas.microsoft.com/office/drawing/2014/main" val="20015"/>
                    </a:ext>
                  </a:extLst>
                </a:gridCol>
              </a:tblGrid>
              <a:tr h="246126">
                <a:tc>
                  <a:txBody>
                    <a:bodyPr/>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8411">
                <a:tc>
                  <a:txBody>
                    <a:bodyPr/>
                    <a:lstStyle/>
                    <a:p>
                      <a:pPr algn="l"/>
                      <a:r>
                        <a:rPr sz="1100" b="1">
                          <a:solidFill>
                            <a:srgbClr val="2E2E2E"/>
                          </a:solidFill>
                          <a:latin typeface="Calibri"/>
                        </a:rPr>
                        <a:t>Direct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8411">
                <a:tc>
                  <a:txBody>
                    <a:bodyPr/>
                    <a:lstStyle/>
                    <a:p>
                      <a:pPr algn="l"/>
                      <a:r>
                        <a:rPr sz="1100" b="1">
                          <a:solidFill>
                            <a:srgbClr val="2E2E2E"/>
                          </a:solidFill>
                          <a:latin typeface="Calibri"/>
                        </a:rPr>
                        <a:t>Indirect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bl>
          </a:graphicData>
        </a:graphic>
      </p:graphicFrame>
      <p:sp>
        <p:nvSpPr>
          <p:cNvPr id="18" name="TextBox 17"/>
          <p:cNvSpPr txBox="1"/>
          <p:nvPr/>
        </p:nvSpPr>
        <p:spPr>
          <a:xfrm>
            <a:off x="219075" y="333375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17645"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517645" y="2825115"/>
            <a:ext cx="330041" cy="480060"/>
          </a:xfrm>
          <a:prstGeom prst="rect">
            <a:avLst/>
          </a:prstGeom>
        </p:spPr>
      </p:pic>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Partition Type × End Use</a:t>
            </a:r>
          </a:p>
          <a:p>
            <a:pPr marL="342900" indent="-323850">
              <a:lnSpc>
                <a:spcPct val="100000"/>
              </a:lnSpc>
              <a:spcAft>
                <a:spcPts val="800"/>
              </a:spcAft>
            </a:pPr>
            <a:r>
              <a:rPr sz="2000" b="0">
                <a:solidFill>
                  <a:srgbClr val="000000"/>
                </a:solidFill>
                <a:latin typeface="Calibri"/>
              </a:rPr>
              <a:t>➤	Board Construction × End Use</a:t>
            </a:r>
          </a:p>
          <a:p>
            <a:pPr marL="342900" indent="-323850">
              <a:lnSpc>
                <a:spcPct val="100000"/>
              </a:lnSpc>
              <a:spcAft>
                <a:spcPts val="800"/>
              </a:spcAft>
            </a:pPr>
            <a:r>
              <a:rPr sz="2000" b="0">
                <a:solidFill>
                  <a:srgbClr val="000000"/>
                </a:solidFill>
                <a:latin typeface="Calibri"/>
              </a:rPr>
              <a:t>➤	Cell Configuration × End Use</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15.1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Partition Type × 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Snapshot</a:t>
            </a:r>
          </a:p>
          <a:p>
            <a:pPr marL="342900" indent="-323850">
              <a:lnSpc>
                <a:spcPct val="100000"/>
              </a:lnSpc>
              <a:spcAft>
                <a:spcPts val="800"/>
              </a:spcAft>
            </a:pPr>
            <a:r>
              <a:rPr sz="2000" b="0">
                <a:solidFill>
                  <a:srgbClr val="000000"/>
                </a:solidFill>
                <a:latin typeface="Calibri"/>
              </a:rPr>
              <a:t>➤	Market Share Analysis</a:t>
            </a:r>
          </a:p>
          <a:p>
            <a:pPr marL="342900" indent="-323850">
              <a:lnSpc>
                <a:spcPct val="100000"/>
              </a:lnSpc>
              <a:spcAft>
                <a:spcPts val="800"/>
              </a:spcAft>
            </a:pPr>
            <a:r>
              <a:rPr sz="2000" b="0">
                <a:solidFill>
                  <a:srgbClr val="000000"/>
                </a:solidFill>
                <a:latin typeface="Calibri"/>
              </a:rPr>
              <a:t>➤	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Market Snapshot: Partition Type × End Use, 2026E vs 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market value (US$ Mn) for each partition type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Market Value, Partition Type × End Use, 2026E and 2036F (US$ Mn)</a:t>
            </a:r>
          </a:p>
        </p:txBody>
      </p:sp>
      <p:graphicFrame>
        <p:nvGraphicFramePr>
          <p:cNvPr id="13" name="Table 12"/>
          <p:cNvGraphicFramePr>
            <a:graphicFrameLocks noGrp="1"/>
          </p:cNvGraphicFramePr>
          <p:nvPr/>
        </p:nvGraphicFramePr>
        <p:xfrm>
          <a:off x="152400" y="1238250"/>
          <a:ext cx="11887193" cy="1866897"/>
        </p:xfrm>
        <a:graphic>
          <a:graphicData uri="http://schemas.openxmlformats.org/drawingml/2006/table">
            <a:tbl>
              <a:tblPr>
                <a:tableStyleId>{5C22544A-7EE6-4342-B048-85BDC9FD1C3A}</a:tableStyleId>
              </a:tblPr>
              <a:tblGrid>
                <a:gridCol w="2760297">
                  <a:extLst>
                    <a:ext uri="{9D8B030D-6E8A-4147-A177-3AD203B41FA5}">
                      <a16:colId xmlns:a16="http://schemas.microsoft.com/office/drawing/2014/main" val="20000"/>
                    </a:ext>
                  </a:extLst>
                </a:gridCol>
                <a:gridCol w="570431">
                  <a:extLst>
                    <a:ext uri="{9D8B030D-6E8A-4147-A177-3AD203B41FA5}">
                      <a16:colId xmlns:a16="http://schemas.microsoft.com/office/drawing/2014/main" val="20001"/>
                    </a:ext>
                  </a:extLst>
                </a:gridCol>
                <a:gridCol w="570431">
                  <a:extLst>
                    <a:ext uri="{9D8B030D-6E8A-4147-A177-3AD203B41FA5}">
                      <a16:colId xmlns:a16="http://schemas.microsoft.com/office/drawing/2014/main" val="20002"/>
                    </a:ext>
                  </a:extLst>
                </a:gridCol>
                <a:gridCol w="570431">
                  <a:extLst>
                    <a:ext uri="{9D8B030D-6E8A-4147-A177-3AD203B41FA5}">
                      <a16:colId xmlns:a16="http://schemas.microsoft.com/office/drawing/2014/main" val="20003"/>
                    </a:ext>
                  </a:extLst>
                </a:gridCol>
                <a:gridCol w="570431">
                  <a:extLst>
                    <a:ext uri="{9D8B030D-6E8A-4147-A177-3AD203B41FA5}">
                      <a16:colId xmlns:a16="http://schemas.microsoft.com/office/drawing/2014/main" val="20004"/>
                    </a:ext>
                  </a:extLst>
                </a:gridCol>
                <a:gridCol w="570431">
                  <a:extLst>
                    <a:ext uri="{9D8B030D-6E8A-4147-A177-3AD203B41FA5}">
                      <a16:colId xmlns:a16="http://schemas.microsoft.com/office/drawing/2014/main" val="20005"/>
                    </a:ext>
                  </a:extLst>
                </a:gridCol>
                <a:gridCol w="570431">
                  <a:extLst>
                    <a:ext uri="{9D8B030D-6E8A-4147-A177-3AD203B41FA5}">
                      <a16:colId xmlns:a16="http://schemas.microsoft.com/office/drawing/2014/main" val="20006"/>
                    </a:ext>
                  </a:extLst>
                </a:gridCol>
                <a:gridCol w="570431">
                  <a:extLst>
                    <a:ext uri="{9D8B030D-6E8A-4147-A177-3AD203B41FA5}">
                      <a16:colId xmlns:a16="http://schemas.microsoft.com/office/drawing/2014/main" val="20007"/>
                    </a:ext>
                  </a:extLst>
                </a:gridCol>
                <a:gridCol w="570431">
                  <a:extLst>
                    <a:ext uri="{9D8B030D-6E8A-4147-A177-3AD203B41FA5}">
                      <a16:colId xmlns:a16="http://schemas.microsoft.com/office/drawing/2014/main" val="20008"/>
                    </a:ext>
                  </a:extLst>
                </a:gridCol>
                <a:gridCol w="570431">
                  <a:extLst>
                    <a:ext uri="{9D8B030D-6E8A-4147-A177-3AD203B41FA5}">
                      <a16:colId xmlns:a16="http://schemas.microsoft.com/office/drawing/2014/main" val="20009"/>
                    </a:ext>
                  </a:extLst>
                </a:gridCol>
                <a:gridCol w="570431">
                  <a:extLst>
                    <a:ext uri="{9D8B030D-6E8A-4147-A177-3AD203B41FA5}">
                      <a16:colId xmlns:a16="http://schemas.microsoft.com/office/drawing/2014/main" val="20010"/>
                    </a:ext>
                  </a:extLst>
                </a:gridCol>
                <a:gridCol w="570431">
                  <a:extLst>
                    <a:ext uri="{9D8B030D-6E8A-4147-A177-3AD203B41FA5}">
                      <a16:colId xmlns:a16="http://schemas.microsoft.com/office/drawing/2014/main" val="20011"/>
                    </a:ext>
                  </a:extLst>
                </a:gridCol>
                <a:gridCol w="570431">
                  <a:extLst>
                    <a:ext uri="{9D8B030D-6E8A-4147-A177-3AD203B41FA5}">
                      <a16:colId xmlns:a16="http://schemas.microsoft.com/office/drawing/2014/main" val="20012"/>
                    </a:ext>
                  </a:extLst>
                </a:gridCol>
                <a:gridCol w="570431">
                  <a:extLst>
                    <a:ext uri="{9D8B030D-6E8A-4147-A177-3AD203B41FA5}">
                      <a16:colId xmlns:a16="http://schemas.microsoft.com/office/drawing/2014/main" val="20013"/>
                    </a:ext>
                  </a:extLst>
                </a:gridCol>
                <a:gridCol w="570431">
                  <a:extLst>
                    <a:ext uri="{9D8B030D-6E8A-4147-A177-3AD203B41FA5}">
                      <a16:colId xmlns:a16="http://schemas.microsoft.com/office/drawing/2014/main" val="20014"/>
                    </a:ext>
                  </a:extLst>
                </a:gridCol>
                <a:gridCol w="570431">
                  <a:extLst>
                    <a:ext uri="{9D8B030D-6E8A-4147-A177-3AD203B41FA5}">
                      <a16:colId xmlns:a16="http://schemas.microsoft.com/office/drawing/2014/main" val="20015"/>
                    </a:ext>
                  </a:extLst>
                </a:gridCol>
                <a:gridCol w="570431">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a:t>
                      </a:r>
                      <a:endParaRPr sz="1100"/>
                    </a:p>
                    <a:p>
                      <a:pPr algn="ctr"/>
                      <a:r>
                        <a:rPr sz="1100" b="1">
                          <a:solidFill>
                            <a:srgbClr val="0B2E4A"/>
                          </a:solidFill>
                          <a:latin typeface="Calibri"/>
                        </a:rPr>
                        <a:t>Home 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116395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1163955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89454" y="2344368"/>
            <a:ext cx="366712" cy="533400"/>
          </a:xfrm>
          <a:prstGeom prst="rect">
            <a:avLst/>
          </a:prstGeom>
        </p:spPr>
      </p:pic>
      <p:sp>
        <p:nvSpPr>
          <p:cNvPr id="21" name="TextBox 20"/>
          <p:cNvSpPr txBox="1"/>
          <p:nvPr/>
        </p:nvSpPr>
        <p:spPr>
          <a:xfrm>
            <a:off x="276225" y="3867150"/>
            <a:ext cx="10054952" cy="194310"/>
          </a:xfrm>
          <a:prstGeom prst="rect">
            <a:avLst/>
          </a:prstGeom>
          <a:noFill/>
        </p:spPr>
        <p:txBody>
          <a:bodyPr wrap="none" lIns="0" tIns="0" rIns="0" bIns="0">
            <a:spAutoFit/>
          </a:bodyPr>
          <a:lstStyle/>
          <a:p>
            <a:r>
              <a:rPr sz="1150" b="0">
                <a:solidFill>
                  <a:srgbClr val="2E2E2E"/>
                </a:solidFill>
                <a:latin typeface="Calibri"/>
              </a:rPr>
              <a:t>Flat dividers &amp; layer pads segment is projected to account for the largest share of the U.S.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10280331" y="3856926"/>
            <a:ext cx="134549" cy="195707"/>
          </a:xfrm>
          <a:prstGeom prst="rect">
            <a:avLst/>
          </a:prstGeom>
        </p:spPr>
      </p:pic>
      <p:sp>
        <p:nvSpPr>
          <p:cNvPr id="23" name="TextBox 22"/>
          <p:cNvSpPr txBox="1"/>
          <p:nvPr/>
        </p:nvSpPr>
        <p:spPr>
          <a:xfrm>
            <a:off x="10455440" y="3867150"/>
            <a:ext cx="1072877" cy="194310"/>
          </a:xfrm>
          <a:prstGeom prst="rect">
            <a:avLst/>
          </a:prstGeom>
          <a:noFill/>
        </p:spPr>
        <p:txBody>
          <a:bodyPr wrap="none" lIns="0" tIns="0" rIns="0" bIns="0">
            <a:spAutoFit/>
          </a:bodyPr>
          <a:lstStyle/>
          <a:p>
            <a:r>
              <a:rPr sz="1150" b="0">
                <a:solidFill>
                  <a:srgbClr val="2E2E2E"/>
                </a:solidFill>
                <a:latin typeface="Calibri"/>
              </a:rPr>
              <a:t>Mn in 2036. 'Flat</a:t>
            </a:r>
          </a:p>
        </p:txBody>
      </p:sp>
      <p:sp>
        <p:nvSpPr>
          <p:cNvPr id="24" name="TextBox 23"/>
          <p:cNvSpPr txBox="1"/>
          <p:nvPr/>
        </p:nvSpPr>
        <p:spPr>
          <a:xfrm>
            <a:off x="276225" y="4042410"/>
            <a:ext cx="6074233" cy="194310"/>
          </a:xfrm>
          <a:prstGeom prst="rect">
            <a:avLst/>
          </a:prstGeom>
          <a:noFill/>
        </p:spPr>
        <p:txBody>
          <a:bodyPr wrap="none" lIns="0" tIns="0" rIns="0" bIns="0">
            <a:spAutoFit/>
          </a:bodyPr>
          <a:lstStyle/>
          <a:p>
            <a:r>
              <a:rPr sz="1150" b="0">
                <a:solidFill>
                  <a:srgbClr val="2E2E2E"/>
                </a:solidFill>
                <a:latin typeface="Calibri"/>
              </a:rPr>
              <a:t>Dividers &amp; Layer Pads × 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6299612" y="4032186"/>
            <a:ext cx="134549" cy="195707"/>
          </a:xfrm>
          <a:prstGeom prst="rect">
            <a:avLst/>
          </a:prstGeom>
        </p:spPr>
      </p:pic>
      <p:sp>
        <p:nvSpPr>
          <p:cNvPr id="26" name="TextBox 25"/>
          <p:cNvSpPr txBox="1"/>
          <p:nvPr/>
        </p:nvSpPr>
        <p:spPr>
          <a:xfrm>
            <a:off x="6474722" y="4042410"/>
            <a:ext cx="5250705" cy="194310"/>
          </a:xfrm>
          <a:prstGeom prst="rect">
            <a:avLst/>
          </a:prstGeom>
          <a:noFill/>
        </p:spPr>
        <p:txBody>
          <a:bodyPr wrap="none" lIns="0" tIns="0" rIns="0" bIns="0">
            <a:spAutoFit/>
          </a:bodyPr>
          <a:lstStyle/>
          <a:p>
            <a:r>
              <a:rPr sz="1150" b="0">
                <a:solidFill>
                  <a:srgbClr val="2E2E2E"/>
                </a:solidFill>
                <a:latin typeface="Calibri"/>
              </a:rPr>
              <a:t>US$ Mn, 2026E), while 'Flat Dividers &amp; Layer Pads × Electronics &amp; Electrical' records the</a:t>
            </a:r>
          </a:p>
        </p:txBody>
      </p:sp>
      <p:sp>
        <p:nvSpPr>
          <p:cNvPr id="27" name="TextBox 26"/>
          <p:cNvSpPr txBox="1"/>
          <p:nvPr/>
        </p:nvSpPr>
        <p:spPr>
          <a:xfrm>
            <a:off x="276225" y="4217670"/>
            <a:ext cx="1712113" cy="194310"/>
          </a:xfrm>
          <a:prstGeom prst="rect">
            <a:avLst/>
          </a:prstGeom>
          <a:noFill/>
        </p:spPr>
        <p:txBody>
          <a:bodyPr wrap="none" lIns="0" tIns="0" rIns="0" bIns="0">
            <a:spAutoFit/>
          </a:bodyPr>
          <a:lstStyle/>
          <a:p>
            <a:r>
              <a:rPr sz="1150" b="0">
                <a:solidFill>
                  <a:srgbClr val="2E2E2E"/>
                </a:solidFill>
                <a:latin typeface="Calibri"/>
              </a:rPr>
              <a:t>fastest growth at a CAGR of</a:t>
            </a:r>
          </a:p>
        </p:txBody>
      </p:sp>
      <p:pic>
        <p:nvPicPr>
          <p:cNvPr id="28" name="Picture 27" descr="lock.png"/>
          <p:cNvPicPr>
            <a:picLocks noChangeAspect="1"/>
          </p:cNvPicPr>
          <p:nvPr/>
        </p:nvPicPr>
        <p:blipFill>
          <a:blip r:embed="rId4"/>
          <a:stretch>
            <a:fillRect/>
          </a:stretch>
        </p:blipFill>
        <p:spPr>
          <a:xfrm>
            <a:off x="1937492" y="4207446"/>
            <a:ext cx="134549" cy="195707"/>
          </a:xfrm>
          <a:prstGeom prst="rect">
            <a:avLst/>
          </a:prstGeom>
        </p:spPr>
      </p:pic>
      <p:sp>
        <p:nvSpPr>
          <p:cNvPr id="29" name="TextBox 28"/>
          <p:cNvSpPr txBox="1"/>
          <p:nvPr/>
        </p:nvSpPr>
        <p:spPr>
          <a:xfrm>
            <a:off x="2112601" y="4217670"/>
            <a:ext cx="1217001" cy="194310"/>
          </a:xfrm>
          <a:prstGeom prst="rect">
            <a:avLst/>
          </a:prstGeom>
          <a:noFill/>
        </p:spPr>
        <p:txBody>
          <a:bodyPr wrap="none" lIns="0" tIns="0" rIns="0" bIns="0">
            <a:spAutoFit/>
          </a:bodyPr>
          <a:lstStyle/>
          <a:p>
            <a:r>
              <a:rPr sz="1150" b="0">
                <a:solidFill>
                  <a:srgbClr val="2E2E2E"/>
                </a:solidFill>
                <a:latin typeface="Calibri"/>
              </a:rPr>
              <a:t>over 2026E–2036F.</a:t>
            </a:r>
          </a:p>
        </p:txBody>
      </p:sp>
      <p:sp>
        <p:nvSpPr>
          <p:cNvPr id="30" name="TextBox 29"/>
          <p:cNvSpPr txBox="1"/>
          <p:nvPr/>
        </p:nvSpPr>
        <p:spPr>
          <a:xfrm>
            <a:off x="276225" y="4445507"/>
            <a:ext cx="5585879" cy="194310"/>
          </a:xfrm>
          <a:prstGeom prst="rect">
            <a:avLst/>
          </a:prstGeom>
          <a:noFill/>
        </p:spPr>
        <p:txBody>
          <a:bodyPr wrap="none" lIns="0" tIns="0" rIns="0" bIns="0">
            <a:spAutoFit/>
          </a:bodyPr>
          <a:lstStyle/>
          <a:p>
            <a:r>
              <a:rPr sz="1150" b="0">
                <a:solidFill>
                  <a:srgbClr val="2E2E2E"/>
                </a:solidFill>
                <a:latin typeface="Calibri"/>
              </a:rPr>
              <a:t>Combined, the top three partition type × end use cells generate an absolute $ opportunity of</a:t>
            </a:r>
          </a:p>
        </p:txBody>
      </p:sp>
      <p:pic>
        <p:nvPicPr>
          <p:cNvPr id="31" name="Picture 30" descr="lock.png"/>
          <p:cNvPicPr>
            <a:picLocks noChangeAspect="1"/>
          </p:cNvPicPr>
          <p:nvPr/>
        </p:nvPicPr>
        <p:blipFill>
          <a:blip r:embed="rId4"/>
          <a:stretch>
            <a:fillRect/>
          </a:stretch>
        </p:blipFill>
        <p:spPr>
          <a:xfrm>
            <a:off x="5811258" y="4435284"/>
            <a:ext cx="134549" cy="195707"/>
          </a:xfrm>
          <a:prstGeom prst="rect">
            <a:avLst/>
          </a:prstGeom>
        </p:spPr>
      </p:pic>
      <p:sp>
        <p:nvSpPr>
          <p:cNvPr id="32" name="TextBox 31"/>
          <p:cNvSpPr txBox="1"/>
          <p:nvPr/>
        </p:nvSpPr>
        <p:spPr>
          <a:xfrm>
            <a:off x="5986367" y="4445507"/>
            <a:ext cx="1155386" cy="194310"/>
          </a:xfrm>
          <a:prstGeom prst="rect">
            <a:avLst/>
          </a:prstGeom>
          <a:noFill/>
        </p:spPr>
        <p:txBody>
          <a:bodyPr wrap="none" lIns="0" tIns="0" rIns="0" bIns="0">
            <a:spAutoFit/>
          </a:bodyPr>
          <a:lstStyle/>
          <a:p>
            <a:r>
              <a:rPr sz="1150" b="0">
                <a:solidFill>
                  <a:srgbClr val="2E2E2E"/>
                </a:solidFill>
                <a:latin typeface="Calibri"/>
              </a:rPr>
              <a:t>US$ Mn by 2036F.</a:t>
            </a:r>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Market Share Analysis: Partition Type × End Use, 2026E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 share of U.S.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Share, Partition Type × End Use, 2026E (% of each row)</a:t>
            </a:r>
          </a:p>
        </p:txBody>
      </p:sp>
      <p:graphicFrame>
        <p:nvGraphicFramePr>
          <p:cNvPr id="13" name="Table 12"/>
          <p:cNvGraphicFramePr>
            <a:graphicFrameLocks noGrp="1"/>
          </p:cNvGraphicFramePr>
          <p:nvPr/>
        </p:nvGraphicFramePr>
        <p:xfrm>
          <a:off x="152400" y="1238250"/>
          <a:ext cx="11887200" cy="1619249"/>
        </p:xfrm>
        <a:graphic>
          <a:graphicData uri="http://schemas.openxmlformats.org/drawingml/2006/table">
            <a:tbl>
              <a:tblPr>
                <a:tableStyleId>{5C22544A-7EE6-4342-B048-85BDC9FD1C3A}</a:tableStyleId>
              </a:tblPr>
              <a:tblGrid>
                <a:gridCol w="2275403">
                  <a:extLst>
                    <a:ext uri="{9D8B030D-6E8A-4147-A177-3AD203B41FA5}">
                      <a16:colId xmlns:a16="http://schemas.microsoft.com/office/drawing/2014/main" val="20000"/>
                    </a:ext>
                  </a:extLst>
                </a:gridCol>
                <a:gridCol w="954259">
                  <a:extLst>
                    <a:ext uri="{9D8B030D-6E8A-4147-A177-3AD203B41FA5}">
                      <a16:colId xmlns:a16="http://schemas.microsoft.com/office/drawing/2014/main" val="20001"/>
                    </a:ext>
                  </a:extLst>
                </a:gridCol>
                <a:gridCol w="1598062">
                  <a:extLst>
                    <a:ext uri="{9D8B030D-6E8A-4147-A177-3AD203B41FA5}">
                      <a16:colId xmlns:a16="http://schemas.microsoft.com/office/drawing/2014/main" val="20002"/>
                    </a:ext>
                  </a:extLst>
                </a:gridCol>
                <a:gridCol w="1323387">
                  <a:extLst>
                    <a:ext uri="{9D8B030D-6E8A-4147-A177-3AD203B41FA5}">
                      <a16:colId xmlns:a16="http://schemas.microsoft.com/office/drawing/2014/main" val="20003"/>
                    </a:ext>
                  </a:extLst>
                </a:gridCol>
                <a:gridCol w="1192720">
                  <a:extLst>
                    <a:ext uri="{9D8B030D-6E8A-4147-A177-3AD203B41FA5}">
                      <a16:colId xmlns:a16="http://schemas.microsoft.com/office/drawing/2014/main" val="20004"/>
                    </a:ext>
                  </a:extLst>
                </a:gridCol>
                <a:gridCol w="1787231">
                  <a:extLst>
                    <a:ext uri="{9D8B030D-6E8A-4147-A177-3AD203B41FA5}">
                      <a16:colId xmlns:a16="http://schemas.microsoft.com/office/drawing/2014/main" val="20005"/>
                    </a:ext>
                  </a:extLst>
                </a:gridCol>
                <a:gridCol w="1697958">
                  <a:extLst>
                    <a:ext uri="{9D8B030D-6E8A-4147-A177-3AD203B41FA5}">
                      <a16:colId xmlns:a16="http://schemas.microsoft.com/office/drawing/2014/main" val="20006"/>
                    </a:ext>
                  </a:extLst>
                </a:gridCol>
                <a:gridCol w="514374">
                  <a:extLst>
                    <a:ext uri="{9D8B030D-6E8A-4147-A177-3AD203B41FA5}">
                      <a16:colId xmlns:a16="http://schemas.microsoft.com/office/drawing/2014/main" val="20007"/>
                    </a:ext>
                  </a:extLst>
                </a:gridCol>
                <a:gridCol w="543806">
                  <a:extLst>
                    <a:ext uri="{9D8B030D-6E8A-4147-A177-3AD203B41FA5}">
                      <a16:colId xmlns:a16="http://schemas.microsoft.com/office/drawing/2014/main" val="20008"/>
                    </a:ext>
                  </a:extLst>
                </a:gridCol>
              </a:tblGrid>
              <a:tr h="631697">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888">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6888">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6888">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688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8670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7286625"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257550"/>
            <a:ext cx="70961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End Use Mix by Partition Type, 2026E (% share)</a:t>
            </a:r>
          </a:p>
        </p:txBody>
      </p:sp>
      <p:graphicFrame>
        <p:nvGraphicFramePr>
          <p:cNvPr id="17" name="Chart 16"/>
          <p:cNvGraphicFramePr>
            <a:graphicFrameLocks noGrp="1"/>
          </p:cNvGraphicFramePr>
          <p:nvPr/>
        </p:nvGraphicFramePr>
        <p:xfrm>
          <a:off x="238125" y="3486150"/>
          <a:ext cx="7096125" cy="3086100"/>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7581900" y="3200400"/>
            <a:ext cx="445770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715250" y="3286125"/>
            <a:ext cx="4191000" cy="209550"/>
          </a:xfrm>
          <a:prstGeom prst="rect">
            <a:avLst/>
          </a:prstGeom>
          <a:noFill/>
        </p:spPr>
        <p:txBody>
          <a:bodyPr wrap="square" lIns="0" tIns="9525" rIns="19050" bIns="9525">
            <a:spAutoFit/>
          </a:bodyPr>
          <a:lstStyle/>
          <a:p>
            <a:pPr algn="l"/>
            <a:r>
              <a:rPr sz="1300" b="1">
                <a:solidFill>
                  <a:srgbClr val="0B2E4A"/>
                </a:solidFill>
                <a:latin typeface="Calibri"/>
              </a:rPr>
              <a:t>Share Insights</a:t>
            </a:r>
          </a:p>
        </p:txBody>
      </p:sp>
      <p:sp>
        <p:nvSpPr>
          <p:cNvPr id="20" name="Rectangle 19"/>
          <p:cNvSpPr/>
          <p:nvPr/>
        </p:nvSpPr>
        <p:spPr>
          <a:xfrm>
            <a:off x="7715250" y="3524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7715250" y="3609975"/>
            <a:ext cx="4191000" cy="29432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TextBox 2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047011" y="209702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4116149"/>
            <a:ext cx="440818" cy="641190"/>
          </a:xfrm>
          <a:prstGeom prst="rect">
            <a:avLst/>
          </a:prstGeom>
        </p:spPr>
      </p:pic>
      <p:sp>
        <p:nvSpPr>
          <p:cNvPr id="25" name="TextBox 24"/>
          <p:cNvSpPr txBox="1"/>
          <p:nvPr/>
        </p:nvSpPr>
        <p:spPr>
          <a:xfrm>
            <a:off x="7715250" y="3619500"/>
            <a:ext cx="3948807" cy="194310"/>
          </a:xfrm>
          <a:prstGeom prst="rect">
            <a:avLst/>
          </a:prstGeom>
          <a:noFill/>
        </p:spPr>
        <p:txBody>
          <a:bodyPr wrap="none" lIns="0" tIns="0" rIns="0" bIns="0">
            <a:spAutoFit/>
          </a:bodyPr>
          <a:lstStyle/>
          <a:p>
            <a:r>
              <a:rPr sz="1150" b="0">
                <a:solidFill>
                  <a:srgbClr val="2E2E2E"/>
                </a:solidFill>
                <a:latin typeface="Calibri"/>
              </a:rPr>
              <a:t>▪ 'Glassware, Ceramics &amp; Home Goods' holds the highest share of</a:t>
            </a:r>
          </a:p>
        </p:txBody>
      </p:sp>
      <p:sp>
        <p:nvSpPr>
          <p:cNvPr id="26" name="TextBox 25"/>
          <p:cNvSpPr txBox="1"/>
          <p:nvPr/>
        </p:nvSpPr>
        <p:spPr>
          <a:xfrm>
            <a:off x="7715250" y="3794760"/>
            <a:ext cx="2436676" cy="194310"/>
          </a:xfrm>
          <a:prstGeom prst="rect">
            <a:avLst/>
          </a:prstGeom>
          <a:noFill/>
        </p:spPr>
        <p:txBody>
          <a:bodyPr wrap="none" lIns="0" tIns="0" rIns="0" bIns="0">
            <a:spAutoFit/>
          </a:bodyPr>
          <a:lstStyle/>
          <a:p>
            <a:r>
              <a:rPr sz="1150" b="0">
                <a:solidFill>
                  <a:srgbClr val="2E2E2E"/>
                </a:solidFill>
                <a:latin typeface="Calibri"/>
              </a:rPr>
              <a:t>'Slotted (Interlocking Grid) Partitions' at</a:t>
            </a:r>
          </a:p>
        </p:txBody>
      </p:sp>
      <p:pic>
        <p:nvPicPr>
          <p:cNvPr id="27" name="Picture 26" descr="lock.png"/>
          <p:cNvPicPr>
            <a:picLocks noChangeAspect="1"/>
          </p:cNvPicPr>
          <p:nvPr/>
        </p:nvPicPr>
        <p:blipFill>
          <a:blip r:embed="rId5"/>
          <a:stretch>
            <a:fillRect/>
          </a:stretch>
        </p:blipFill>
        <p:spPr>
          <a:xfrm>
            <a:off x="10101080" y="3784536"/>
            <a:ext cx="134549" cy="195707"/>
          </a:xfrm>
          <a:prstGeom prst="rect">
            <a:avLst/>
          </a:prstGeom>
        </p:spPr>
      </p:pic>
      <p:sp>
        <p:nvSpPr>
          <p:cNvPr id="28" name="TextBox 27"/>
          <p:cNvSpPr txBox="1"/>
          <p:nvPr/>
        </p:nvSpPr>
        <p:spPr>
          <a:xfrm>
            <a:off x="10276189" y="3794760"/>
            <a:ext cx="569404" cy="194310"/>
          </a:xfrm>
          <a:prstGeom prst="rect">
            <a:avLst/>
          </a:prstGeom>
          <a:noFill/>
        </p:spPr>
        <p:txBody>
          <a:bodyPr wrap="none" lIns="0" tIns="0" rIns="0" bIns="0">
            <a:spAutoFit/>
          </a:bodyPr>
          <a:lstStyle/>
          <a:p>
            <a:r>
              <a:rPr sz="1150" b="0">
                <a:solidFill>
                  <a:srgbClr val="2E2E2E"/>
                </a:solidFill>
                <a:latin typeface="Calibri"/>
              </a:rPr>
              <a:t>(2026E).</a:t>
            </a:r>
          </a:p>
        </p:txBody>
      </p:sp>
      <p:sp>
        <p:nvSpPr>
          <p:cNvPr id="29" name="TextBox 28"/>
          <p:cNvSpPr txBox="1"/>
          <p:nvPr/>
        </p:nvSpPr>
        <p:spPr>
          <a:xfrm>
            <a:off x="7715250" y="4022597"/>
            <a:ext cx="3886336" cy="194310"/>
          </a:xfrm>
          <a:prstGeom prst="rect">
            <a:avLst/>
          </a:prstGeom>
          <a:noFill/>
        </p:spPr>
        <p:txBody>
          <a:bodyPr wrap="none" lIns="0" tIns="0" rIns="0" bIns="0">
            <a:spAutoFit/>
          </a:bodyPr>
          <a:lstStyle/>
          <a:p>
            <a:r>
              <a:rPr sz="1150" b="0">
                <a:solidFill>
                  <a:srgbClr val="2E2E2E"/>
                </a:solidFill>
                <a:latin typeface="Calibri"/>
              </a:rPr>
              <a:t>▪ 'Slotted (Interlocking Grid) Partitions' is the most concentrated</a:t>
            </a:r>
          </a:p>
        </p:txBody>
      </p:sp>
      <p:sp>
        <p:nvSpPr>
          <p:cNvPr id="30" name="TextBox 29"/>
          <p:cNvSpPr txBox="1"/>
          <p:nvPr/>
        </p:nvSpPr>
        <p:spPr>
          <a:xfrm>
            <a:off x="7715250" y="4197857"/>
            <a:ext cx="2026480" cy="194310"/>
          </a:xfrm>
          <a:prstGeom prst="rect">
            <a:avLst/>
          </a:prstGeom>
          <a:noFill/>
        </p:spPr>
        <p:txBody>
          <a:bodyPr wrap="none" lIns="0" tIns="0" rIns="0" bIns="0">
            <a:spAutoFit/>
          </a:bodyPr>
          <a:lstStyle/>
          <a:p>
            <a:r>
              <a:rPr sz="1150" b="0">
                <a:solidFill>
                  <a:srgbClr val="2E2E2E"/>
                </a:solidFill>
                <a:latin typeface="Calibri"/>
              </a:rPr>
              <a:t>partition type sub-segment, with</a:t>
            </a:r>
          </a:p>
        </p:txBody>
      </p:sp>
      <p:pic>
        <p:nvPicPr>
          <p:cNvPr id="31" name="Picture 30" descr="lock.png"/>
          <p:cNvPicPr>
            <a:picLocks noChangeAspect="1"/>
          </p:cNvPicPr>
          <p:nvPr/>
        </p:nvPicPr>
        <p:blipFill>
          <a:blip r:embed="rId5"/>
          <a:stretch>
            <a:fillRect/>
          </a:stretch>
        </p:blipFill>
        <p:spPr>
          <a:xfrm>
            <a:off x="9690884" y="4187634"/>
            <a:ext cx="134549" cy="195707"/>
          </a:xfrm>
          <a:prstGeom prst="rect">
            <a:avLst/>
          </a:prstGeom>
        </p:spPr>
      </p:pic>
      <p:sp>
        <p:nvSpPr>
          <p:cNvPr id="32" name="TextBox 31"/>
          <p:cNvSpPr txBox="1"/>
          <p:nvPr/>
        </p:nvSpPr>
        <p:spPr>
          <a:xfrm>
            <a:off x="9865994" y="4197857"/>
            <a:ext cx="1634827" cy="194310"/>
          </a:xfrm>
          <a:prstGeom prst="rect">
            <a:avLst/>
          </a:prstGeom>
          <a:noFill/>
        </p:spPr>
        <p:txBody>
          <a:bodyPr wrap="none" lIns="0" tIns="0" rIns="0" bIns="0">
            <a:spAutoFit/>
          </a:bodyPr>
          <a:lstStyle/>
          <a:p>
            <a:r>
              <a:rPr sz="1150" b="0">
                <a:solidFill>
                  <a:srgbClr val="2E2E2E"/>
                </a:solidFill>
                <a:latin typeface="Calibri"/>
              </a:rPr>
              <a:t>of its value via 'Glassware,</a:t>
            </a:r>
          </a:p>
        </p:txBody>
      </p:sp>
      <p:sp>
        <p:nvSpPr>
          <p:cNvPr id="33" name="TextBox 32"/>
          <p:cNvSpPr txBox="1"/>
          <p:nvPr/>
        </p:nvSpPr>
        <p:spPr>
          <a:xfrm>
            <a:off x="7715250" y="4373117"/>
            <a:ext cx="1622276" cy="194310"/>
          </a:xfrm>
          <a:prstGeom prst="rect">
            <a:avLst/>
          </a:prstGeom>
          <a:noFill/>
        </p:spPr>
        <p:txBody>
          <a:bodyPr wrap="none" lIns="0" tIns="0" rIns="0" bIns="0">
            <a:spAutoFit/>
          </a:bodyPr>
          <a:lstStyle/>
          <a:p>
            <a:r>
              <a:rPr sz="1150" b="0">
                <a:solidFill>
                  <a:srgbClr val="2E2E2E"/>
                </a:solidFill>
                <a:latin typeface="Calibri"/>
              </a:rPr>
              <a:t>Ceramics &amp; Home Goods'.</a:t>
            </a:r>
          </a:p>
        </p:txBody>
      </p:sp>
      <p:sp>
        <p:nvSpPr>
          <p:cNvPr id="34" name="TextBox 33"/>
          <p:cNvSpPr txBox="1"/>
          <p:nvPr/>
        </p:nvSpPr>
        <p:spPr>
          <a:xfrm>
            <a:off x="7715250" y="4600955"/>
            <a:ext cx="2021061" cy="194310"/>
          </a:xfrm>
          <a:prstGeom prst="rect">
            <a:avLst/>
          </a:prstGeom>
          <a:noFill/>
        </p:spPr>
        <p:txBody>
          <a:bodyPr wrap="none" lIns="0" tIns="0" r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590732"/>
            <a:ext cx="134549" cy="195707"/>
          </a:xfrm>
          <a:prstGeom prst="rect">
            <a:avLst/>
          </a:prstGeom>
        </p:spPr>
      </p:pic>
      <p:sp>
        <p:nvSpPr>
          <p:cNvPr id="36" name="TextBox 35"/>
          <p:cNvSpPr txBox="1"/>
          <p:nvPr/>
        </p:nvSpPr>
        <p:spPr>
          <a:xfrm>
            <a:off x="9860574" y="4600955"/>
            <a:ext cx="1467383" cy="194310"/>
          </a:xfrm>
          <a:prstGeom prst="rect">
            <a:avLst/>
          </a:prstGeom>
          <a:noFill/>
        </p:spPr>
        <p:txBody>
          <a:bodyPr wrap="none" lIns="0" tIns="0" rIns="0" bIns="0">
            <a:spAutoFit/>
          </a:bodyPr>
          <a:lstStyle/>
          <a:p>
            <a:r>
              <a:rPr sz="1150" b="0">
                <a:solidFill>
                  <a:srgbClr val="2E2E2E"/>
                </a:solidFill>
                <a:latin typeface="Calibri"/>
              </a:rPr>
              <a:t>BPS of share of the U.S.</a:t>
            </a:r>
          </a:p>
        </p:txBody>
      </p:sp>
      <p:sp>
        <p:nvSpPr>
          <p:cNvPr id="37" name="TextBox 36"/>
          <p:cNvSpPr txBox="1"/>
          <p:nvPr/>
        </p:nvSpPr>
        <p:spPr>
          <a:xfrm>
            <a:off x="7715250" y="4776215"/>
            <a:ext cx="1462605" cy="194310"/>
          </a:xfrm>
          <a:prstGeom prst="rect">
            <a:avLst/>
          </a:prstGeom>
          <a:noFill/>
        </p:spPr>
        <p:txBody>
          <a:bodyPr wrap="none" lIns="0" tIns="0" rIns="0" bIns="0">
            <a:spAutoFit/>
          </a:bodyPr>
          <a:lstStyle/>
          <a:p>
            <a:r>
              <a:rPr sz="1150" b="0">
                <a:solidFill>
                  <a:srgbClr val="2E2E2E"/>
                </a:solidFill>
                <a:latin typeface="Calibri"/>
              </a:rPr>
              <a:t>cross-section by 2036F.</a:t>
            </a:r>
          </a:p>
        </p:txBody>
      </p:sp>
      <p:sp>
        <p:nvSpPr>
          <p:cNvPr id="38" name="lockshield_17"/>
          <p:cNvSpPr/>
          <p:nvPr/>
        </p:nvSpPr>
        <p:spPr>
          <a:xfrm>
            <a:off x="238125" y="3486150"/>
            <a:ext cx="7096125" cy="3086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Absolute $ Opportunity &amp; Attractiveness: Partition Type × End Use, 2026E–2036F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 Opportunity (US$ Mn) and Value CAGR, Partition Type × End Use, 2026E–2036F</a:t>
            </a:r>
          </a:p>
        </p:txBody>
      </p:sp>
      <p:graphicFrame>
        <p:nvGraphicFramePr>
          <p:cNvPr id="13" name="Table 12"/>
          <p:cNvGraphicFramePr>
            <a:graphicFrameLocks noGrp="1"/>
          </p:cNvGraphicFramePr>
          <p:nvPr/>
        </p:nvGraphicFramePr>
        <p:xfrm>
          <a:off x="152400" y="1238250"/>
          <a:ext cx="11887207" cy="1866897"/>
        </p:xfrm>
        <a:graphic>
          <a:graphicData uri="http://schemas.openxmlformats.org/drawingml/2006/table">
            <a:tbl>
              <a:tblPr>
                <a:tableStyleId>{5C22544A-7EE6-4342-B048-85BDC9FD1C3A}</a:tableStyleId>
              </a:tblPr>
              <a:tblGrid>
                <a:gridCol w="2338807">
                  <a:extLst>
                    <a:ext uri="{9D8B030D-6E8A-4147-A177-3AD203B41FA5}">
                      <a16:colId xmlns:a16="http://schemas.microsoft.com/office/drawing/2014/main" val="20000"/>
                    </a:ext>
                  </a:extLst>
                </a:gridCol>
                <a:gridCol w="596775">
                  <a:extLst>
                    <a:ext uri="{9D8B030D-6E8A-4147-A177-3AD203B41FA5}">
                      <a16:colId xmlns:a16="http://schemas.microsoft.com/office/drawing/2014/main" val="20001"/>
                    </a:ext>
                  </a:extLst>
                </a:gridCol>
                <a:gridCol w="596775">
                  <a:extLst>
                    <a:ext uri="{9D8B030D-6E8A-4147-A177-3AD203B41FA5}">
                      <a16:colId xmlns:a16="http://schemas.microsoft.com/office/drawing/2014/main" val="20002"/>
                    </a:ext>
                  </a:extLst>
                </a:gridCol>
                <a:gridCol w="596775">
                  <a:extLst>
                    <a:ext uri="{9D8B030D-6E8A-4147-A177-3AD203B41FA5}">
                      <a16:colId xmlns:a16="http://schemas.microsoft.com/office/drawing/2014/main" val="20003"/>
                    </a:ext>
                  </a:extLst>
                </a:gridCol>
                <a:gridCol w="596775">
                  <a:extLst>
                    <a:ext uri="{9D8B030D-6E8A-4147-A177-3AD203B41FA5}">
                      <a16:colId xmlns:a16="http://schemas.microsoft.com/office/drawing/2014/main" val="20004"/>
                    </a:ext>
                  </a:extLst>
                </a:gridCol>
                <a:gridCol w="596775">
                  <a:extLst>
                    <a:ext uri="{9D8B030D-6E8A-4147-A177-3AD203B41FA5}">
                      <a16:colId xmlns:a16="http://schemas.microsoft.com/office/drawing/2014/main" val="20005"/>
                    </a:ext>
                  </a:extLst>
                </a:gridCol>
                <a:gridCol w="596775">
                  <a:extLst>
                    <a:ext uri="{9D8B030D-6E8A-4147-A177-3AD203B41FA5}">
                      <a16:colId xmlns:a16="http://schemas.microsoft.com/office/drawing/2014/main" val="20006"/>
                    </a:ext>
                  </a:extLst>
                </a:gridCol>
                <a:gridCol w="596775">
                  <a:extLst>
                    <a:ext uri="{9D8B030D-6E8A-4147-A177-3AD203B41FA5}">
                      <a16:colId xmlns:a16="http://schemas.microsoft.com/office/drawing/2014/main" val="20007"/>
                    </a:ext>
                  </a:extLst>
                </a:gridCol>
                <a:gridCol w="596775">
                  <a:extLst>
                    <a:ext uri="{9D8B030D-6E8A-4147-A177-3AD203B41FA5}">
                      <a16:colId xmlns:a16="http://schemas.microsoft.com/office/drawing/2014/main" val="20008"/>
                    </a:ext>
                  </a:extLst>
                </a:gridCol>
                <a:gridCol w="596775">
                  <a:extLst>
                    <a:ext uri="{9D8B030D-6E8A-4147-A177-3AD203B41FA5}">
                      <a16:colId xmlns:a16="http://schemas.microsoft.com/office/drawing/2014/main" val="20009"/>
                    </a:ext>
                  </a:extLst>
                </a:gridCol>
                <a:gridCol w="596775">
                  <a:extLst>
                    <a:ext uri="{9D8B030D-6E8A-4147-A177-3AD203B41FA5}">
                      <a16:colId xmlns:a16="http://schemas.microsoft.com/office/drawing/2014/main" val="20010"/>
                    </a:ext>
                  </a:extLst>
                </a:gridCol>
                <a:gridCol w="596775">
                  <a:extLst>
                    <a:ext uri="{9D8B030D-6E8A-4147-A177-3AD203B41FA5}">
                      <a16:colId xmlns:a16="http://schemas.microsoft.com/office/drawing/2014/main" val="20011"/>
                    </a:ext>
                  </a:extLst>
                </a:gridCol>
                <a:gridCol w="596775">
                  <a:extLst>
                    <a:ext uri="{9D8B030D-6E8A-4147-A177-3AD203B41FA5}">
                      <a16:colId xmlns:a16="http://schemas.microsoft.com/office/drawing/2014/main" val="20012"/>
                    </a:ext>
                  </a:extLst>
                </a:gridCol>
                <a:gridCol w="596775">
                  <a:extLst>
                    <a:ext uri="{9D8B030D-6E8A-4147-A177-3AD203B41FA5}">
                      <a16:colId xmlns:a16="http://schemas.microsoft.com/office/drawing/2014/main" val="20013"/>
                    </a:ext>
                  </a:extLst>
                </a:gridCol>
                <a:gridCol w="596775">
                  <a:extLst>
                    <a:ext uri="{9D8B030D-6E8A-4147-A177-3AD203B41FA5}">
                      <a16:colId xmlns:a16="http://schemas.microsoft.com/office/drawing/2014/main" val="20014"/>
                    </a:ext>
                  </a:extLst>
                </a:gridCol>
                <a:gridCol w="596775">
                  <a:extLst>
                    <a:ext uri="{9D8B030D-6E8A-4147-A177-3AD203B41FA5}">
                      <a16:colId xmlns:a16="http://schemas.microsoft.com/office/drawing/2014/main" val="20015"/>
                    </a:ext>
                  </a:extLst>
                </a:gridCol>
                <a:gridCol w="596775">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a:t>
                      </a:r>
                      <a:endParaRPr sz="1100"/>
                    </a:p>
                    <a:p>
                      <a:pPr algn="ctr"/>
                      <a:r>
                        <a:rPr sz="1100" b="1">
                          <a:solidFill>
                            <a:srgbClr val="0B2E4A"/>
                          </a:solidFill>
                          <a:latin typeface="Calibri"/>
                        </a:rPr>
                        <a:t>&amp; 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5334000" cy="209550"/>
          </a:xfrm>
          <a:prstGeom prst="rect">
            <a:avLst/>
          </a:prstGeom>
          <a:noFill/>
        </p:spPr>
        <p:txBody>
          <a:bodyPr wrap="square" lIns="0" tIns="9525" rIns="19050"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53340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029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029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1248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1248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220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10220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'Flat Dividers &amp; Layer Pads × Food &amp; Beverage' ranks highest (5/5); 'Slotted Partitions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078717" y="2344368"/>
            <a:ext cx="366712" cy="533400"/>
          </a:xfrm>
          <a:prstGeom prst="rect">
            <a:avLst/>
          </a:prstGeom>
        </p:spPr>
      </p:pic>
      <p:sp>
        <p:nvSpPr>
          <p:cNvPr id="33" name="TextBox 32"/>
          <p:cNvSpPr txBox="1"/>
          <p:nvPr/>
        </p:nvSpPr>
        <p:spPr>
          <a:xfrm>
            <a:off x="276225" y="3867150"/>
            <a:ext cx="3433067" cy="194310"/>
          </a:xfrm>
          <a:prstGeom prst="rect">
            <a:avLst/>
          </a:prstGeom>
          <a:noFill/>
        </p:spPr>
        <p:txBody>
          <a:bodyPr wrap="none" lIns="0" tIns="0" rIns="0" bIns="0">
            <a:spAutoFit/>
          </a:bodyPr>
          <a:lstStyle/>
          <a:p>
            <a:r>
              <a:rPr sz="1150" b="0">
                <a:solidFill>
                  <a:srgbClr val="2E2E2E"/>
                </a:solidFill>
                <a:latin typeface="Calibri"/>
              </a:rPr>
              <a:t>▪ 1. Flat Dividers &amp; Layer Pads × Electronics &amp; Electrical –</a:t>
            </a:r>
          </a:p>
        </p:txBody>
      </p:sp>
      <p:pic>
        <p:nvPicPr>
          <p:cNvPr id="34" name="Picture 33" descr="lock.png"/>
          <p:cNvPicPr>
            <a:picLocks noChangeAspect="1"/>
          </p:cNvPicPr>
          <p:nvPr/>
        </p:nvPicPr>
        <p:blipFill>
          <a:blip r:embed="rId4"/>
          <a:stretch>
            <a:fillRect/>
          </a:stretch>
        </p:blipFill>
        <p:spPr>
          <a:xfrm>
            <a:off x="3658446" y="3856926"/>
            <a:ext cx="134549" cy="195707"/>
          </a:xfrm>
          <a:prstGeom prst="rect">
            <a:avLst/>
          </a:prstGeom>
        </p:spPr>
      </p:pic>
      <p:sp>
        <p:nvSpPr>
          <p:cNvPr id="35" name="TextBox 34"/>
          <p:cNvSpPr txBox="1"/>
          <p:nvPr/>
        </p:nvSpPr>
        <p:spPr>
          <a:xfrm>
            <a:off x="3833556" y="3867150"/>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95707" y="3856926"/>
            <a:ext cx="134549" cy="195707"/>
          </a:xfrm>
          <a:prstGeom prst="rect">
            <a:avLst/>
          </a:prstGeom>
        </p:spPr>
      </p:pic>
      <p:sp>
        <p:nvSpPr>
          <p:cNvPr id="37" name="TextBox 36"/>
          <p:cNvSpPr txBox="1"/>
          <p:nvPr/>
        </p:nvSpPr>
        <p:spPr>
          <a:xfrm>
            <a:off x="4070817" y="3867150"/>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38" name="TextBox 37"/>
          <p:cNvSpPr txBox="1"/>
          <p:nvPr/>
        </p:nvSpPr>
        <p:spPr>
          <a:xfrm>
            <a:off x="276225" y="4094987"/>
            <a:ext cx="3099289" cy="194310"/>
          </a:xfrm>
          <a:prstGeom prst="rect">
            <a:avLst/>
          </a:prstGeom>
          <a:noFill/>
        </p:spPr>
        <p:txBody>
          <a:bodyPr wrap="none" lIns="0" tIns="0" rIns="0" bIns="0">
            <a:spAutoFit/>
          </a:bodyPr>
          <a:lstStyle/>
          <a:p>
            <a:r>
              <a:rPr sz="1150" b="0">
                <a:solidFill>
                  <a:srgbClr val="2E2E2E"/>
                </a:solidFill>
                <a:latin typeface="Calibri"/>
              </a:rPr>
              <a:t>▪ 2. Flat Dividers &amp; Layer Pads × Food &amp; Beverage –</a:t>
            </a:r>
          </a:p>
        </p:txBody>
      </p:sp>
      <p:pic>
        <p:nvPicPr>
          <p:cNvPr id="39" name="Picture 38" descr="lock.png"/>
          <p:cNvPicPr>
            <a:picLocks noChangeAspect="1"/>
          </p:cNvPicPr>
          <p:nvPr/>
        </p:nvPicPr>
        <p:blipFill>
          <a:blip r:embed="rId4"/>
          <a:stretch>
            <a:fillRect/>
          </a:stretch>
        </p:blipFill>
        <p:spPr>
          <a:xfrm>
            <a:off x="3324668" y="4084764"/>
            <a:ext cx="134549" cy="195707"/>
          </a:xfrm>
          <a:prstGeom prst="rect">
            <a:avLst/>
          </a:prstGeom>
        </p:spPr>
      </p:pic>
      <p:sp>
        <p:nvSpPr>
          <p:cNvPr id="40" name="TextBox 39"/>
          <p:cNvSpPr txBox="1"/>
          <p:nvPr/>
        </p:nvSpPr>
        <p:spPr>
          <a:xfrm>
            <a:off x="3499777" y="4094987"/>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561929" y="4084764"/>
            <a:ext cx="134549" cy="195707"/>
          </a:xfrm>
          <a:prstGeom prst="rect">
            <a:avLst/>
          </a:prstGeom>
        </p:spPr>
      </p:pic>
      <p:sp>
        <p:nvSpPr>
          <p:cNvPr id="42" name="TextBox 41"/>
          <p:cNvSpPr txBox="1"/>
          <p:nvPr/>
        </p:nvSpPr>
        <p:spPr>
          <a:xfrm>
            <a:off x="3737038" y="4094987"/>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3" name="TextBox 42"/>
          <p:cNvSpPr txBox="1"/>
          <p:nvPr/>
        </p:nvSpPr>
        <p:spPr>
          <a:xfrm>
            <a:off x="276225" y="4322825"/>
            <a:ext cx="4236913" cy="194310"/>
          </a:xfrm>
          <a:prstGeom prst="rect">
            <a:avLst/>
          </a:prstGeom>
          <a:noFill/>
        </p:spPr>
        <p:txBody>
          <a:bodyPr wrap="none" lIns="0" tIns="0" rIns="0" bIns="0">
            <a:spAutoFit/>
          </a:bodyPr>
          <a:lstStyle/>
          <a:p>
            <a:r>
              <a:rPr sz="1150" b="0">
                <a:solidFill>
                  <a:srgbClr val="2E2E2E"/>
                </a:solidFill>
                <a:latin typeface="Calibri"/>
              </a:rPr>
              <a:t>▪ 3. Flat Dividers &amp; Layer Pads × Glassware, Ceramics &amp; Home Goods –</a:t>
            </a:r>
          </a:p>
        </p:txBody>
      </p:sp>
      <p:pic>
        <p:nvPicPr>
          <p:cNvPr id="44" name="Picture 43" descr="lock.png"/>
          <p:cNvPicPr>
            <a:picLocks noChangeAspect="1"/>
          </p:cNvPicPr>
          <p:nvPr/>
        </p:nvPicPr>
        <p:blipFill>
          <a:blip r:embed="rId4"/>
          <a:stretch>
            <a:fillRect/>
          </a:stretch>
        </p:blipFill>
        <p:spPr>
          <a:xfrm>
            <a:off x="4462292" y="4312602"/>
            <a:ext cx="134549" cy="195707"/>
          </a:xfrm>
          <a:prstGeom prst="rect">
            <a:avLst/>
          </a:prstGeom>
        </p:spPr>
      </p:pic>
      <p:sp>
        <p:nvSpPr>
          <p:cNvPr id="45" name="TextBox 44"/>
          <p:cNvSpPr txBox="1"/>
          <p:nvPr/>
        </p:nvSpPr>
        <p:spPr>
          <a:xfrm>
            <a:off x="4637401" y="4322825"/>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699553" y="4312602"/>
            <a:ext cx="134549" cy="195707"/>
          </a:xfrm>
          <a:prstGeom prst="rect">
            <a:avLst/>
          </a:prstGeom>
        </p:spPr>
      </p:pic>
      <p:sp>
        <p:nvSpPr>
          <p:cNvPr id="47" name="TextBox 46"/>
          <p:cNvSpPr txBox="1"/>
          <p:nvPr/>
        </p:nvSpPr>
        <p:spPr>
          <a:xfrm>
            <a:off x="4874662" y="4322825"/>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48" name="TextBox 47"/>
          <p:cNvSpPr txBox="1"/>
          <p:nvPr/>
        </p:nvSpPr>
        <p:spPr>
          <a:xfrm>
            <a:off x="276225" y="4550663"/>
            <a:ext cx="4302521" cy="194310"/>
          </a:xfrm>
          <a:prstGeom prst="rect">
            <a:avLst/>
          </a:prstGeom>
          <a:noFill/>
        </p:spPr>
        <p:txBody>
          <a:bodyPr wrap="none" lIns="0" tIns="0" rIns="0" bIns="0">
            <a:spAutoFit/>
          </a:bodyPr>
          <a:lstStyle/>
          <a:p>
            <a:r>
              <a:rPr sz="1150" b="0">
                <a:solidFill>
                  <a:srgbClr val="2E2E2E"/>
                </a:solidFill>
                <a:latin typeface="Calibri"/>
              </a:rPr>
              <a:t>▪ 4. Flat Dividers &amp; Layer Pads × Automotive &amp; Industrial Components –</a:t>
            </a:r>
          </a:p>
        </p:txBody>
      </p:sp>
      <p:pic>
        <p:nvPicPr>
          <p:cNvPr id="49" name="Picture 48" descr="lock.png"/>
          <p:cNvPicPr>
            <a:picLocks noChangeAspect="1"/>
          </p:cNvPicPr>
          <p:nvPr/>
        </p:nvPicPr>
        <p:blipFill>
          <a:blip r:embed="rId4"/>
          <a:stretch>
            <a:fillRect/>
          </a:stretch>
        </p:blipFill>
        <p:spPr>
          <a:xfrm>
            <a:off x="4527900" y="4540440"/>
            <a:ext cx="134549" cy="195707"/>
          </a:xfrm>
          <a:prstGeom prst="rect">
            <a:avLst/>
          </a:prstGeom>
        </p:spPr>
      </p:pic>
      <p:sp>
        <p:nvSpPr>
          <p:cNvPr id="50" name="TextBox 49"/>
          <p:cNvSpPr txBox="1"/>
          <p:nvPr/>
        </p:nvSpPr>
        <p:spPr>
          <a:xfrm>
            <a:off x="4703010" y="4550663"/>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765161" y="4540440"/>
            <a:ext cx="134549" cy="195707"/>
          </a:xfrm>
          <a:prstGeom prst="rect">
            <a:avLst/>
          </a:prstGeom>
        </p:spPr>
      </p:pic>
      <p:sp>
        <p:nvSpPr>
          <p:cNvPr id="52" name="TextBox 51"/>
          <p:cNvSpPr txBox="1"/>
          <p:nvPr/>
        </p:nvSpPr>
        <p:spPr>
          <a:xfrm>
            <a:off x="4940271" y="4550663"/>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3" name="TextBox 52"/>
          <p:cNvSpPr txBox="1"/>
          <p:nvPr/>
        </p:nvSpPr>
        <p:spPr>
          <a:xfrm>
            <a:off x="276225" y="4778501"/>
            <a:ext cx="3520609" cy="194310"/>
          </a:xfrm>
          <a:prstGeom prst="rect">
            <a:avLst/>
          </a:prstGeom>
          <a:noFill/>
        </p:spPr>
        <p:txBody>
          <a:bodyPr wrap="none" lIns="0" tIns="0" rIns="0" bIns="0">
            <a:spAutoFit/>
          </a:bodyPr>
          <a:lstStyle/>
          <a:p>
            <a:r>
              <a:rPr sz="1150" b="0">
                <a:solidFill>
                  <a:srgbClr val="2E2E2E"/>
                </a:solidFill>
                <a:latin typeface="Calibri"/>
              </a:rPr>
              <a:t>▪ 5. Die-Cut &amp; Folded Partitions × Electronics &amp; Electrical –</a:t>
            </a:r>
          </a:p>
        </p:txBody>
      </p:sp>
      <p:pic>
        <p:nvPicPr>
          <p:cNvPr id="54" name="Picture 53" descr="lock.png"/>
          <p:cNvPicPr>
            <a:picLocks noChangeAspect="1"/>
          </p:cNvPicPr>
          <p:nvPr/>
        </p:nvPicPr>
        <p:blipFill>
          <a:blip r:embed="rId4"/>
          <a:stretch>
            <a:fillRect/>
          </a:stretch>
        </p:blipFill>
        <p:spPr>
          <a:xfrm>
            <a:off x="3745988" y="4768278"/>
            <a:ext cx="134549" cy="195707"/>
          </a:xfrm>
          <a:prstGeom prst="rect">
            <a:avLst/>
          </a:prstGeom>
        </p:spPr>
      </p:pic>
      <p:sp>
        <p:nvSpPr>
          <p:cNvPr id="55" name="TextBox 54"/>
          <p:cNvSpPr txBox="1"/>
          <p:nvPr/>
        </p:nvSpPr>
        <p:spPr>
          <a:xfrm>
            <a:off x="3921097" y="4778501"/>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983249" y="4768278"/>
            <a:ext cx="134549" cy="195707"/>
          </a:xfrm>
          <a:prstGeom prst="rect">
            <a:avLst/>
          </a:prstGeom>
        </p:spPr>
      </p:pic>
      <p:sp>
        <p:nvSpPr>
          <p:cNvPr id="57" name="TextBox 56"/>
          <p:cNvSpPr txBox="1"/>
          <p:nvPr/>
        </p:nvSpPr>
        <p:spPr>
          <a:xfrm>
            <a:off x="4158358" y="4778501"/>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8" name="TextBox 57"/>
          <p:cNvSpPr txBox="1"/>
          <p:nvPr/>
        </p:nvSpPr>
        <p:spPr>
          <a:xfrm>
            <a:off x="6029325" y="3867150"/>
            <a:ext cx="1657350" cy="194310"/>
          </a:xfrm>
          <a:prstGeom prst="rect">
            <a:avLst/>
          </a:prstGeom>
          <a:noFill/>
        </p:spPr>
        <p:txBody>
          <a:bodyPr wrap="none" lIns="0" tIns="0" rIns="0" bIns="0">
            <a:spAutoFit/>
          </a:bodyPr>
          <a:lstStyle/>
          <a:p>
            <a:r>
              <a:rPr sz="1150" b="0">
                <a:solidFill>
                  <a:srgbClr val="2E2E2E"/>
                </a:solidFill>
                <a:latin typeface="Calibri"/>
              </a:rPr>
              <a:t>▪ 'Flat Dividers &amp; Layer Pads</a:t>
            </a:r>
          </a:p>
        </p:txBody>
      </p:sp>
      <p:sp>
        <p:nvSpPr>
          <p:cNvPr id="59" name="TextBox 58"/>
          <p:cNvSpPr txBox="1"/>
          <p:nvPr/>
        </p:nvSpPr>
        <p:spPr>
          <a:xfrm>
            <a:off x="6029325" y="4042410"/>
            <a:ext cx="1564940" cy="194310"/>
          </a:xfrm>
          <a:prstGeom prst="rect">
            <a:avLst/>
          </a:prstGeom>
          <a:noFill/>
        </p:spPr>
        <p:txBody>
          <a:bodyPr wrap="none" lIns="0" tIns="0" rIns="0" bIns="0">
            <a:spAutoFit/>
          </a:bodyPr>
          <a:lstStyle/>
          <a:p>
            <a:r>
              <a:rPr sz="1150" b="0">
                <a:solidFill>
                  <a:srgbClr val="2E2E2E"/>
                </a:solidFill>
                <a:latin typeface="Calibri"/>
              </a:rPr>
              <a:t>× Electronics &amp; Electrical'</a:t>
            </a:r>
          </a:p>
        </p:txBody>
      </p:sp>
      <p:sp>
        <p:nvSpPr>
          <p:cNvPr id="60" name="TextBox 59"/>
          <p:cNvSpPr txBox="1"/>
          <p:nvPr/>
        </p:nvSpPr>
        <p:spPr>
          <a:xfrm>
            <a:off x="6029325" y="4217670"/>
            <a:ext cx="356604" cy="194310"/>
          </a:xfrm>
          <a:prstGeom prst="rect">
            <a:avLst/>
          </a:prstGeom>
          <a:noFill/>
        </p:spPr>
        <p:txBody>
          <a:bodyPr wrap="none" lIns="0" tIns="0" r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07446"/>
            <a:ext cx="134549" cy="195707"/>
          </a:xfrm>
          <a:prstGeom prst="rect">
            <a:avLst/>
          </a:prstGeom>
        </p:spPr>
      </p:pic>
      <p:sp>
        <p:nvSpPr>
          <p:cNvPr id="62" name="TextBox 61"/>
          <p:cNvSpPr txBox="1"/>
          <p:nvPr/>
        </p:nvSpPr>
        <p:spPr>
          <a:xfrm>
            <a:off x="6510192" y="4217670"/>
            <a:ext cx="1118803" cy="194310"/>
          </a:xfrm>
          <a:prstGeom prst="rect">
            <a:avLst/>
          </a:prstGeom>
          <a:noFill/>
        </p:spPr>
        <p:txBody>
          <a:bodyPr wrap="none" lIns="0" tIns="0" rIns="0" bIns="0">
            <a:spAutoFit/>
          </a:bodyPr>
          <a:lstStyle/>
          <a:p>
            <a:r>
              <a:rPr sz="1150" b="0">
                <a:solidFill>
                  <a:srgbClr val="2E2E2E"/>
                </a:solidFill>
                <a:latin typeface="Calibri"/>
              </a:rPr>
              <a:t>US$ Mn by 2036F</a:t>
            </a:r>
          </a:p>
        </p:txBody>
      </p:sp>
      <p:sp>
        <p:nvSpPr>
          <p:cNvPr id="63" name="TextBox 62"/>
          <p:cNvSpPr txBox="1"/>
          <p:nvPr/>
        </p:nvSpPr>
        <p:spPr>
          <a:xfrm>
            <a:off x="6029325" y="4392929"/>
            <a:ext cx="148939"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382706"/>
            <a:ext cx="134549" cy="195707"/>
          </a:xfrm>
          <a:prstGeom prst="rect">
            <a:avLst/>
          </a:prstGeom>
        </p:spPr>
      </p:pic>
      <p:sp>
        <p:nvSpPr>
          <p:cNvPr id="65" name="TextBox 64"/>
          <p:cNvSpPr txBox="1"/>
          <p:nvPr/>
        </p:nvSpPr>
        <p:spPr>
          <a:xfrm>
            <a:off x="6302527" y="4392929"/>
            <a:ext cx="741126" cy="194310"/>
          </a:xfrm>
          <a:prstGeom prst="rect">
            <a:avLst/>
          </a:prstGeom>
          <a:noFill/>
        </p:spPr>
        <p:txBody>
          <a:bodyPr wrap="none" lIns="0" tIns="0" rIns="0" bIns="0">
            <a:spAutoFit/>
          </a:bodyPr>
          <a:lstStyle/>
          <a:p>
            <a:r>
              <a:rPr sz="1150" b="0">
                <a:solidFill>
                  <a:srgbClr val="2E2E2E"/>
                </a:solidFill>
                <a:latin typeface="Calibri"/>
              </a:rPr>
              <a:t>of the total</a:t>
            </a:r>
          </a:p>
        </p:txBody>
      </p:sp>
      <p:sp>
        <p:nvSpPr>
          <p:cNvPr id="66" name="TextBox 65"/>
          <p:cNvSpPr txBox="1"/>
          <p:nvPr/>
        </p:nvSpPr>
        <p:spPr>
          <a:xfrm>
            <a:off x="6029325" y="4568189"/>
            <a:ext cx="822994" cy="194310"/>
          </a:xfrm>
          <a:prstGeom prst="rect">
            <a:avLst/>
          </a:prstGeom>
          <a:noFill/>
        </p:spPr>
        <p:txBody>
          <a:bodyPr wrap="none" lIns="0" tIns="0" rIns="0" bIns="0">
            <a:spAutoFit/>
          </a:bodyPr>
          <a:lstStyle/>
          <a:p>
            <a:r>
              <a:rPr sz="1150" b="0">
                <a:solidFill>
                  <a:srgbClr val="2E2E2E"/>
                </a:solidFill>
                <a:latin typeface="Calibri"/>
              </a:rPr>
              <a:t>opportunity.</a:t>
            </a:r>
          </a:p>
        </p:txBody>
      </p:sp>
      <p:sp>
        <p:nvSpPr>
          <p:cNvPr id="67" name="TextBox 66"/>
          <p:cNvSpPr txBox="1"/>
          <p:nvPr/>
        </p:nvSpPr>
        <p:spPr>
          <a:xfrm>
            <a:off x="8124825" y="3867150"/>
            <a:ext cx="1657350" cy="194310"/>
          </a:xfrm>
          <a:prstGeom prst="rect">
            <a:avLst/>
          </a:prstGeom>
          <a:noFill/>
        </p:spPr>
        <p:txBody>
          <a:bodyPr wrap="none" lIns="0" tIns="0" rIns="0" bIns="0">
            <a:spAutoFit/>
          </a:bodyPr>
          <a:lstStyle/>
          <a:p>
            <a:r>
              <a:rPr sz="1150" b="0">
                <a:solidFill>
                  <a:srgbClr val="2E2E2E"/>
                </a:solidFill>
                <a:latin typeface="Calibri"/>
              </a:rPr>
              <a:t>▪ 'Flat Dividers &amp; Layer Pads</a:t>
            </a:r>
          </a:p>
        </p:txBody>
      </p:sp>
      <p:sp>
        <p:nvSpPr>
          <p:cNvPr id="68" name="TextBox 67"/>
          <p:cNvSpPr txBox="1"/>
          <p:nvPr/>
        </p:nvSpPr>
        <p:spPr>
          <a:xfrm>
            <a:off x="8124825" y="4042410"/>
            <a:ext cx="1564940" cy="194310"/>
          </a:xfrm>
          <a:prstGeom prst="rect">
            <a:avLst/>
          </a:prstGeom>
          <a:noFill/>
        </p:spPr>
        <p:txBody>
          <a:bodyPr wrap="none" lIns="0" tIns="0" rIns="0" bIns="0">
            <a:spAutoFit/>
          </a:bodyPr>
          <a:lstStyle/>
          <a:p>
            <a:r>
              <a:rPr sz="1150" b="0">
                <a:solidFill>
                  <a:srgbClr val="2E2E2E"/>
                </a:solidFill>
                <a:latin typeface="Calibri"/>
              </a:rPr>
              <a:t>× Electronics &amp; Electrical'</a:t>
            </a:r>
          </a:p>
        </p:txBody>
      </p:sp>
      <p:sp>
        <p:nvSpPr>
          <p:cNvPr id="69" name="TextBox 68"/>
          <p:cNvSpPr txBox="1"/>
          <p:nvPr/>
        </p:nvSpPr>
        <p:spPr>
          <a:xfrm>
            <a:off x="8124825" y="4217670"/>
            <a:ext cx="689495" cy="194310"/>
          </a:xfrm>
          <a:prstGeom prst="rect">
            <a:avLst/>
          </a:prstGeom>
          <a:noFill/>
        </p:spPr>
        <p:txBody>
          <a:bodyPr wrap="none" lIns="0" tIns="0" r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07446"/>
            <a:ext cx="134549" cy="195707"/>
          </a:xfrm>
          <a:prstGeom prst="rect">
            <a:avLst/>
          </a:prstGeom>
        </p:spPr>
      </p:pic>
      <p:sp>
        <p:nvSpPr>
          <p:cNvPr id="71" name="TextBox 70"/>
          <p:cNvSpPr txBox="1"/>
          <p:nvPr/>
        </p:nvSpPr>
        <p:spPr>
          <a:xfrm>
            <a:off x="8938584" y="4217670"/>
            <a:ext cx="446441" cy="194310"/>
          </a:xfrm>
          <a:prstGeom prst="rect">
            <a:avLst/>
          </a:prstGeom>
          <a:noFill/>
        </p:spPr>
        <p:txBody>
          <a:bodyPr wrap="none" lIns="0" tIns="0" r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07446"/>
            <a:ext cx="134549" cy="195707"/>
          </a:xfrm>
          <a:prstGeom prst="rect">
            <a:avLst/>
          </a:prstGeom>
        </p:spPr>
      </p:pic>
      <p:sp>
        <p:nvSpPr>
          <p:cNvPr id="73" name="TextBox 72"/>
          <p:cNvSpPr txBox="1"/>
          <p:nvPr/>
        </p:nvSpPr>
        <p:spPr>
          <a:xfrm>
            <a:off x="8124825" y="4392929"/>
            <a:ext cx="925400" cy="194310"/>
          </a:xfrm>
          <a:prstGeom prst="rect">
            <a:avLst/>
          </a:prstGeom>
          <a:noFill/>
        </p:spPr>
        <p:txBody>
          <a:bodyPr wrap="none" lIns="0" tIns="0" rIns="0" bIns="0">
            <a:spAutoFit/>
          </a:bodyPr>
          <a:lstStyle/>
          <a:p>
            <a:r>
              <a:rPr sz="1150" b="0">
                <a:solidFill>
                  <a:srgbClr val="2E2E2E"/>
                </a:solidFill>
                <a:latin typeface="Calibri"/>
              </a:rPr>
              <a:t>BPS above the</a:t>
            </a:r>
          </a:p>
        </p:txBody>
      </p:sp>
      <p:sp>
        <p:nvSpPr>
          <p:cNvPr id="74" name="TextBox 73"/>
          <p:cNvSpPr txBox="1"/>
          <p:nvPr/>
        </p:nvSpPr>
        <p:spPr>
          <a:xfrm>
            <a:off x="8124825" y="4568189"/>
            <a:ext cx="890029" cy="194310"/>
          </a:xfrm>
          <a:prstGeom prst="rect">
            <a:avLst/>
          </a:prstGeom>
          <a:noFill/>
        </p:spPr>
        <p:txBody>
          <a:bodyPr wrap="none" lIns="0" tIns="0" rIns="0" bIns="0">
            <a:spAutoFit/>
          </a:bodyPr>
          <a:lstStyle/>
          <a:p>
            <a:r>
              <a:rPr sz="1150" b="0">
                <a:solidFill>
                  <a:srgbClr val="2E2E2E"/>
                </a:solidFill>
                <a:latin typeface="Calibri"/>
              </a:rPr>
              <a:t>cross-section.</a:t>
            </a:r>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15.2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Board Construction × 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Snapshot</a:t>
            </a:r>
          </a:p>
          <a:p>
            <a:pPr marL="342900" indent="-323850">
              <a:lnSpc>
                <a:spcPct val="100000"/>
              </a:lnSpc>
              <a:spcAft>
                <a:spcPts val="800"/>
              </a:spcAft>
            </a:pPr>
            <a:r>
              <a:rPr sz="2000" b="0">
                <a:solidFill>
                  <a:srgbClr val="000000"/>
                </a:solidFill>
                <a:latin typeface="Calibri"/>
              </a:rPr>
              <a:t>➤	Market Share Analysis</a:t>
            </a:r>
          </a:p>
          <a:p>
            <a:pPr marL="342900" indent="-323850">
              <a:lnSpc>
                <a:spcPct val="100000"/>
              </a:lnSpc>
              <a:spcAft>
                <a:spcPts val="800"/>
              </a:spcAft>
            </a:pPr>
            <a:r>
              <a:rPr sz="2000" b="0">
                <a:solidFill>
                  <a:srgbClr val="000000"/>
                </a:solidFill>
                <a:latin typeface="Calibri"/>
              </a:rPr>
              <a:t>➤	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Market Snapshot: Board Construction × End Use, 2026E vs 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market value (US$ Mn) for each board construction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Market Value, Board Construction × End Use, 2026E and 2036F (US$ Mn)</a:t>
            </a:r>
          </a:p>
        </p:txBody>
      </p:sp>
      <p:graphicFrame>
        <p:nvGraphicFramePr>
          <p:cNvPr id="13" name="Table 12"/>
          <p:cNvGraphicFramePr>
            <a:graphicFrameLocks noGrp="1"/>
          </p:cNvGraphicFramePr>
          <p:nvPr/>
        </p:nvGraphicFramePr>
        <p:xfrm>
          <a:off x="152400" y="1238250"/>
          <a:ext cx="11887196" cy="1866897"/>
        </p:xfrm>
        <a:graphic>
          <a:graphicData uri="http://schemas.openxmlformats.org/drawingml/2006/table">
            <a:tbl>
              <a:tblPr>
                <a:tableStyleId>{5C22544A-7EE6-4342-B048-85BDC9FD1C3A}</a:tableStyleId>
              </a:tblPr>
              <a:tblGrid>
                <a:gridCol w="1194636">
                  <a:extLst>
                    <a:ext uri="{9D8B030D-6E8A-4147-A177-3AD203B41FA5}">
                      <a16:colId xmlns:a16="http://schemas.microsoft.com/office/drawing/2014/main" val="20000"/>
                    </a:ext>
                  </a:extLst>
                </a:gridCol>
                <a:gridCol w="668285">
                  <a:extLst>
                    <a:ext uri="{9D8B030D-6E8A-4147-A177-3AD203B41FA5}">
                      <a16:colId xmlns:a16="http://schemas.microsoft.com/office/drawing/2014/main" val="20001"/>
                    </a:ext>
                  </a:extLst>
                </a:gridCol>
                <a:gridCol w="668285">
                  <a:extLst>
                    <a:ext uri="{9D8B030D-6E8A-4147-A177-3AD203B41FA5}">
                      <a16:colId xmlns:a16="http://schemas.microsoft.com/office/drawing/2014/main" val="20002"/>
                    </a:ext>
                  </a:extLst>
                </a:gridCol>
                <a:gridCol w="668285">
                  <a:extLst>
                    <a:ext uri="{9D8B030D-6E8A-4147-A177-3AD203B41FA5}">
                      <a16:colId xmlns:a16="http://schemas.microsoft.com/office/drawing/2014/main" val="20003"/>
                    </a:ext>
                  </a:extLst>
                </a:gridCol>
                <a:gridCol w="668285">
                  <a:extLst>
                    <a:ext uri="{9D8B030D-6E8A-4147-A177-3AD203B41FA5}">
                      <a16:colId xmlns:a16="http://schemas.microsoft.com/office/drawing/2014/main" val="20004"/>
                    </a:ext>
                  </a:extLst>
                </a:gridCol>
                <a:gridCol w="668285">
                  <a:extLst>
                    <a:ext uri="{9D8B030D-6E8A-4147-A177-3AD203B41FA5}">
                      <a16:colId xmlns:a16="http://schemas.microsoft.com/office/drawing/2014/main" val="20005"/>
                    </a:ext>
                  </a:extLst>
                </a:gridCol>
                <a:gridCol w="668285">
                  <a:extLst>
                    <a:ext uri="{9D8B030D-6E8A-4147-A177-3AD203B41FA5}">
                      <a16:colId xmlns:a16="http://schemas.microsoft.com/office/drawing/2014/main" val="20006"/>
                    </a:ext>
                  </a:extLst>
                </a:gridCol>
                <a:gridCol w="668285">
                  <a:extLst>
                    <a:ext uri="{9D8B030D-6E8A-4147-A177-3AD203B41FA5}">
                      <a16:colId xmlns:a16="http://schemas.microsoft.com/office/drawing/2014/main" val="20007"/>
                    </a:ext>
                  </a:extLst>
                </a:gridCol>
                <a:gridCol w="668285">
                  <a:extLst>
                    <a:ext uri="{9D8B030D-6E8A-4147-A177-3AD203B41FA5}">
                      <a16:colId xmlns:a16="http://schemas.microsoft.com/office/drawing/2014/main" val="20008"/>
                    </a:ext>
                  </a:extLst>
                </a:gridCol>
                <a:gridCol w="668285">
                  <a:extLst>
                    <a:ext uri="{9D8B030D-6E8A-4147-A177-3AD203B41FA5}">
                      <a16:colId xmlns:a16="http://schemas.microsoft.com/office/drawing/2014/main" val="20009"/>
                    </a:ext>
                  </a:extLst>
                </a:gridCol>
                <a:gridCol w="668285">
                  <a:extLst>
                    <a:ext uri="{9D8B030D-6E8A-4147-A177-3AD203B41FA5}">
                      <a16:colId xmlns:a16="http://schemas.microsoft.com/office/drawing/2014/main" val="20010"/>
                    </a:ext>
                  </a:extLst>
                </a:gridCol>
                <a:gridCol w="668285">
                  <a:extLst>
                    <a:ext uri="{9D8B030D-6E8A-4147-A177-3AD203B41FA5}">
                      <a16:colId xmlns:a16="http://schemas.microsoft.com/office/drawing/2014/main" val="20011"/>
                    </a:ext>
                  </a:extLst>
                </a:gridCol>
                <a:gridCol w="668285">
                  <a:extLst>
                    <a:ext uri="{9D8B030D-6E8A-4147-A177-3AD203B41FA5}">
                      <a16:colId xmlns:a16="http://schemas.microsoft.com/office/drawing/2014/main" val="20012"/>
                    </a:ext>
                  </a:extLst>
                </a:gridCol>
                <a:gridCol w="668285">
                  <a:extLst>
                    <a:ext uri="{9D8B030D-6E8A-4147-A177-3AD203B41FA5}">
                      <a16:colId xmlns:a16="http://schemas.microsoft.com/office/drawing/2014/main" val="20013"/>
                    </a:ext>
                  </a:extLst>
                </a:gridCol>
                <a:gridCol w="668285">
                  <a:extLst>
                    <a:ext uri="{9D8B030D-6E8A-4147-A177-3AD203B41FA5}">
                      <a16:colId xmlns:a16="http://schemas.microsoft.com/office/drawing/2014/main" val="20014"/>
                    </a:ext>
                  </a:extLst>
                </a:gridCol>
                <a:gridCol w="668285">
                  <a:extLst>
                    <a:ext uri="{9D8B030D-6E8A-4147-A177-3AD203B41FA5}">
                      <a16:colId xmlns:a16="http://schemas.microsoft.com/office/drawing/2014/main" val="20015"/>
                    </a:ext>
                  </a:extLst>
                </a:gridCol>
                <a:gridCol w="668285">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116395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1163955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06626" y="2344368"/>
            <a:ext cx="366712" cy="533400"/>
          </a:xfrm>
          <a:prstGeom prst="rect">
            <a:avLst/>
          </a:prstGeom>
        </p:spPr>
      </p:pic>
      <p:sp>
        <p:nvSpPr>
          <p:cNvPr id="21" name="TextBox 20"/>
          <p:cNvSpPr txBox="1"/>
          <p:nvPr/>
        </p:nvSpPr>
        <p:spPr>
          <a:xfrm>
            <a:off x="276225" y="3867150"/>
            <a:ext cx="9263372" cy="194310"/>
          </a:xfrm>
          <a:prstGeom prst="rect">
            <a:avLst/>
          </a:prstGeom>
          <a:noFill/>
        </p:spPr>
        <p:txBody>
          <a:bodyPr wrap="none" lIns="0" tIns="0" rIns="0" bIns="0">
            <a:spAutoFit/>
          </a:bodyPr>
          <a:lstStyle/>
          <a:p>
            <a:r>
              <a:rPr sz="1150" b="0">
                <a:solidFill>
                  <a:srgbClr val="2E2E2E"/>
                </a:solidFill>
                <a:latin typeface="Calibri"/>
              </a:rPr>
              <a:t>Double wall segment is projected to account for the largest share of the U.S.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9488751" y="3856926"/>
            <a:ext cx="134549" cy="195707"/>
          </a:xfrm>
          <a:prstGeom prst="rect">
            <a:avLst/>
          </a:prstGeom>
        </p:spPr>
      </p:pic>
      <p:sp>
        <p:nvSpPr>
          <p:cNvPr id="23" name="TextBox 22"/>
          <p:cNvSpPr txBox="1"/>
          <p:nvPr/>
        </p:nvSpPr>
        <p:spPr>
          <a:xfrm>
            <a:off x="9663860" y="3867150"/>
            <a:ext cx="1598600" cy="194310"/>
          </a:xfrm>
          <a:prstGeom prst="rect">
            <a:avLst/>
          </a:prstGeom>
          <a:noFill/>
        </p:spPr>
        <p:txBody>
          <a:bodyPr wrap="none" lIns="0" tIns="0" rIns="0" bIns="0">
            <a:spAutoFit/>
          </a:bodyPr>
          <a:lstStyle/>
          <a:p>
            <a:r>
              <a:rPr sz="1150" b="0">
                <a:solidFill>
                  <a:srgbClr val="2E2E2E"/>
                </a:solidFill>
                <a:latin typeface="Calibri"/>
              </a:rPr>
              <a:t>Mn in 2036. 'Triple Wall ×</a:t>
            </a:r>
          </a:p>
        </p:txBody>
      </p:sp>
      <p:sp>
        <p:nvSpPr>
          <p:cNvPr id="24" name="TextBox 23"/>
          <p:cNvSpPr txBox="1"/>
          <p:nvPr/>
        </p:nvSpPr>
        <p:spPr>
          <a:xfrm>
            <a:off x="276225" y="4042410"/>
            <a:ext cx="4655380" cy="194310"/>
          </a:xfrm>
          <a:prstGeom prst="rect">
            <a:avLst/>
          </a:prstGeom>
          <a:noFill/>
        </p:spPr>
        <p:txBody>
          <a:bodyPr wrap="none" lIns="0" tIns="0" rIns="0" bIns="0">
            <a:spAutoFit/>
          </a:bodyPr>
          <a:lstStyle/>
          <a:p>
            <a:r>
              <a:rPr sz="1150" b="0">
                <a:solidFill>
                  <a:srgbClr val="2E2E2E"/>
                </a:solidFill>
                <a:latin typeface="Calibri"/>
              </a:rPr>
              <a:t>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4880759" y="4032186"/>
            <a:ext cx="134549" cy="195707"/>
          </a:xfrm>
          <a:prstGeom prst="rect">
            <a:avLst/>
          </a:prstGeom>
        </p:spPr>
      </p:pic>
      <p:sp>
        <p:nvSpPr>
          <p:cNvPr id="26" name="TextBox 25"/>
          <p:cNvSpPr txBox="1"/>
          <p:nvPr/>
        </p:nvSpPr>
        <p:spPr>
          <a:xfrm>
            <a:off x="5055869" y="4042410"/>
            <a:ext cx="6026578" cy="194310"/>
          </a:xfrm>
          <a:prstGeom prst="rect">
            <a:avLst/>
          </a:prstGeom>
          <a:noFill/>
        </p:spPr>
        <p:txBody>
          <a:bodyPr wrap="none" lIns="0" tIns="0" rIns="0" bIns="0">
            <a:spAutoFit/>
          </a:bodyPr>
          <a:lstStyle/>
          <a:p>
            <a:r>
              <a:rPr sz="1150" b="0">
                <a:solidFill>
                  <a:srgbClr val="2E2E2E"/>
                </a:solidFill>
                <a:latin typeface="Calibri"/>
              </a:rPr>
              <a:t>US$ Mn, 2026E), while 'Triple Wall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031601" y="4032186"/>
            <a:ext cx="134549" cy="195707"/>
          </a:xfrm>
          <a:prstGeom prst="rect">
            <a:avLst/>
          </a:prstGeom>
        </p:spPr>
      </p:pic>
      <p:sp>
        <p:nvSpPr>
          <p:cNvPr id="28" name="TextBox 27"/>
          <p:cNvSpPr txBox="1"/>
          <p:nvPr/>
        </p:nvSpPr>
        <p:spPr>
          <a:xfrm>
            <a:off x="11206711" y="4042410"/>
            <a:ext cx="342912" cy="194310"/>
          </a:xfrm>
          <a:prstGeom prst="rect">
            <a:avLst/>
          </a:prstGeom>
          <a:noFill/>
        </p:spPr>
        <p:txBody>
          <a:bodyPr wrap="none" lIns="0" tIns="0" rIns="0" bIns="0">
            <a:spAutoFit/>
          </a:bodyPr>
          <a:lstStyle/>
          <a:p>
            <a:r>
              <a:rPr sz="1150" b="0">
                <a:solidFill>
                  <a:srgbClr val="2E2E2E"/>
                </a:solidFill>
                <a:latin typeface="Calibri"/>
              </a:rPr>
              <a:t>over</a:t>
            </a:r>
          </a:p>
        </p:txBody>
      </p:sp>
      <p:sp>
        <p:nvSpPr>
          <p:cNvPr id="29" name="TextBox 28"/>
          <p:cNvSpPr txBox="1"/>
          <p:nvPr/>
        </p:nvSpPr>
        <p:spPr>
          <a:xfrm>
            <a:off x="276225" y="4217670"/>
            <a:ext cx="917199" cy="194310"/>
          </a:xfrm>
          <a:prstGeom prst="rect">
            <a:avLst/>
          </a:prstGeom>
          <a:noFill/>
        </p:spPr>
        <p:txBody>
          <a:bodyPr wrap="none" lIns="0" tIns="0" rIns="0" bIns="0">
            <a:spAutoFit/>
          </a:bodyPr>
          <a:lstStyle/>
          <a:p>
            <a:r>
              <a:rPr sz="1150" b="0">
                <a:solidFill>
                  <a:srgbClr val="2E2E2E"/>
                </a:solidFill>
                <a:latin typeface="Calibri"/>
              </a:rPr>
              <a:t>2026E–2036F.</a:t>
            </a:r>
          </a:p>
        </p:txBody>
      </p:sp>
      <p:sp>
        <p:nvSpPr>
          <p:cNvPr id="30" name="TextBox 29"/>
          <p:cNvSpPr txBox="1"/>
          <p:nvPr/>
        </p:nvSpPr>
        <p:spPr>
          <a:xfrm>
            <a:off x="276225" y="4445507"/>
            <a:ext cx="5903652" cy="194310"/>
          </a:xfrm>
          <a:prstGeom prst="rect">
            <a:avLst/>
          </a:prstGeom>
          <a:noFill/>
        </p:spPr>
        <p:txBody>
          <a:bodyPr wrap="none" lIns="0" tIns="0" rIns="0" bIns="0">
            <a:spAutoFit/>
          </a:bodyPr>
          <a:lstStyle/>
          <a:p>
            <a:r>
              <a:rPr sz="1150" b="0">
                <a:solidFill>
                  <a:srgbClr val="2E2E2E"/>
                </a:solidFill>
                <a:latin typeface="Calibri"/>
              </a:rPr>
              <a:t>Combined, the top three board construction × end use cells generate an absolute $ opportunity of</a:t>
            </a:r>
          </a:p>
        </p:txBody>
      </p:sp>
      <p:pic>
        <p:nvPicPr>
          <p:cNvPr id="31" name="Picture 30" descr="lock.png"/>
          <p:cNvPicPr>
            <a:picLocks noChangeAspect="1"/>
          </p:cNvPicPr>
          <p:nvPr/>
        </p:nvPicPr>
        <p:blipFill>
          <a:blip r:embed="rId4"/>
          <a:stretch>
            <a:fillRect/>
          </a:stretch>
        </p:blipFill>
        <p:spPr>
          <a:xfrm>
            <a:off x="6129030" y="4435284"/>
            <a:ext cx="134549" cy="195707"/>
          </a:xfrm>
          <a:prstGeom prst="rect">
            <a:avLst/>
          </a:prstGeom>
        </p:spPr>
      </p:pic>
      <p:sp>
        <p:nvSpPr>
          <p:cNvPr id="32" name="TextBox 31"/>
          <p:cNvSpPr txBox="1"/>
          <p:nvPr/>
        </p:nvSpPr>
        <p:spPr>
          <a:xfrm>
            <a:off x="6304140" y="4445507"/>
            <a:ext cx="1155386" cy="194310"/>
          </a:xfrm>
          <a:prstGeom prst="rect">
            <a:avLst/>
          </a:prstGeom>
          <a:noFill/>
        </p:spPr>
        <p:txBody>
          <a:bodyPr wrap="none" lIns="0" tIns="0" rIns="0" bIns="0">
            <a:spAutoFit/>
          </a:bodyPr>
          <a:lstStyle/>
          <a:p>
            <a:r>
              <a:rPr sz="1150" b="0">
                <a:solidFill>
                  <a:srgbClr val="2E2E2E"/>
                </a:solidFill>
                <a:latin typeface="Calibri"/>
              </a:rPr>
              <a:t>US$ Mn by 2036F.</a:t>
            </a:r>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Market Share Analysis: Board Construction × End Use, 2026E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 share of U.S.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Share, Board Construction × End Use, 2026E (% of each row)</a:t>
            </a:r>
          </a:p>
        </p:txBody>
      </p:sp>
      <p:graphicFrame>
        <p:nvGraphicFramePr>
          <p:cNvPr id="13" name="Table 12"/>
          <p:cNvGraphicFramePr>
            <a:graphicFrameLocks noGrp="1"/>
          </p:cNvGraphicFramePr>
          <p:nvPr/>
        </p:nvGraphicFramePr>
        <p:xfrm>
          <a:off x="152400" y="1238250"/>
          <a:ext cx="11887199" cy="1428752"/>
        </p:xfrm>
        <a:graphic>
          <a:graphicData uri="http://schemas.openxmlformats.org/drawingml/2006/table">
            <a:tbl>
              <a:tblPr>
                <a:tableStyleId>{5C22544A-7EE6-4342-B048-85BDC9FD1C3A}</a:tableStyleId>
              </a:tblPr>
              <a:tblGrid>
                <a:gridCol w="1189472">
                  <a:extLst>
                    <a:ext uri="{9D8B030D-6E8A-4147-A177-3AD203B41FA5}">
                      <a16:colId xmlns:a16="http://schemas.microsoft.com/office/drawing/2014/main" val="20000"/>
                    </a:ext>
                  </a:extLst>
                </a:gridCol>
                <a:gridCol w="1038980">
                  <a:extLst>
                    <a:ext uri="{9D8B030D-6E8A-4147-A177-3AD203B41FA5}">
                      <a16:colId xmlns:a16="http://schemas.microsoft.com/office/drawing/2014/main" val="20001"/>
                    </a:ext>
                  </a:extLst>
                </a:gridCol>
                <a:gridCol w="1746668">
                  <a:extLst>
                    <a:ext uri="{9D8B030D-6E8A-4147-A177-3AD203B41FA5}">
                      <a16:colId xmlns:a16="http://schemas.microsoft.com/office/drawing/2014/main" val="20002"/>
                    </a:ext>
                  </a:extLst>
                </a:gridCol>
                <a:gridCol w="1503046">
                  <a:extLst>
                    <a:ext uri="{9D8B030D-6E8A-4147-A177-3AD203B41FA5}">
                      <a16:colId xmlns:a16="http://schemas.microsoft.com/office/drawing/2014/main" val="20003"/>
                    </a:ext>
                  </a:extLst>
                </a:gridCol>
                <a:gridCol w="1320921">
                  <a:extLst>
                    <a:ext uri="{9D8B030D-6E8A-4147-A177-3AD203B41FA5}">
                      <a16:colId xmlns:a16="http://schemas.microsoft.com/office/drawing/2014/main" val="20004"/>
                    </a:ext>
                  </a:extLst>
                </a:gridCol>
                <a:gridCol w="2056497">
                  <a:extLst>
                    <a:ext uri="{9D8B030D-6E8A-4147-A177-3AD203B41FA5}">
                      <a16:colId xmlns:a16="http://schemas.microsoft.com/office/drawing/2014/main" val="20005"/>
                    </a:ext>
                  </a:extLst>
                </a:gridCol>
                <a:gridCol w="1973435">
                  <a:extLst>
                    <a:ext uri="{9D8B030D-6E8A-4147-A177-3AD203B41FA5}">
                      <a16:colId xmlns:a16="http://schemas.microsoft.com/office/drawing/2014/main" val="20006"/>
                    </a:ext>
                  </a:extLst>
                </a:gridCol>
                <a:gridCol w="514374">
                  <a:extLst>
                    <a:ext uri="{9D8B030D-6E8A-4147-A177-3AD203B41FA5}">
                      <a16:colId xmlns:a16="http://schemas.microsoft.com/office/drawing/2014/main" val="20007"/>
                    </a:ext>
                  </a:extLst>
                </a:gridCol>
                <a:gridCol w="543806">
                  <a:extLst>
                    <a:ext uri="{9D8B030D-6E8A-4147-A177-3AD203B41FA5}">
                      <a16:colId xmlns:a16="http://schemas.microsoft.com/office/drawing/2014/main" val="20008"/>
                    </a:ext>
                  </a:extLst>
                </a:gridCol>
              </a:tblGrid>
              <a:tr h="438912">
                <a:tc>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460">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460">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460">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46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26765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7286625"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067050"/>
            <a:ext cx="70961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End Use Mix by Board Construction, 2026E (% share)</a:t>
            </a:r>
          </a:p>
        </p:txBody>
      </p:sp>
      <p:graphicFrame>
        <p:nvGraphicFramePr>
          <p:cNvPr id="17" name="Chart 16"/>
          <p:cNvGraphicFramePr>
            <a:graphicFrameLocks noGrp="1"/>
          </p:cNvGraphicFramePr>
          <p:nvPr/>
        </p:nvGraphicFramePr>
        <p:xfrm>
          <a:off x="238125" y="3295650"/>
          <a:ext cx="7096125" cy="3276600"/>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7581900" y="3009900"/>
            <a:ext cx="4457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715250" y="3095625"/>
            <a:ext cx="4191000" cy="209550"/>
          </a:xfrm>
          <a:prstGeom prst="rect">
            <a:avLst/>
          </a:prstGeom>
          <a:noFill/>
        </p:spPr>
        <p:txBody>
          <a:bodyPr wrap="square" lIns="0" tIns="9525" rIns="19050" bIns="9525">
            <a:spAutoFit/>
          </a:bodyPr>
          <a:lstStyle/>
          <a:p>
            <a:pPr algn="l"/>
            <a:r>
              <a:rPr sz="1300" b="1">
                <a:solidFill>
                  <a:srgbClr val="0B2E4A"/>
                </a:solidFill>
                <a:latin typeface="Calibri"/>
              </a:rPr>
              <a:t>Share Insights</a:t>
            </a:r>
          </a:p>
        </p:txBody>
      </p:sp>
      <p:sp>
        <p:nvSpPr>
          <p:cNvPr id="20" name="Rectangle 19"/>
          <p:cNvSpPr/>
          <p:nvPr/>
        </p:nvSpPr>
        <p:spPr>
          <a:xfrm>
            <a:off x="7715250" y="33337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7715250" y="3419475"/>
            <a:ext cx="4191000" cy="31337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TextBox 2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504045" y="1905381"/>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990419"/>
            <a:ext cx="440818" cy="641190"/>
          </a:xfrm>
          <a:prstGeom prst="rect">
            <a:avLst/>
          </a:prstGeom>
        </p:spPr>
      </p:pic>
      <p:sp>
        <p:nvSpPr>
          <p:cNvPr id="25" name="TextBox 24"/>
          <p:cNvSpPr txBox="1"/>
          <p:nvPr/>
        </p:nvSpPr>
        <p:spPr>
          <a:xfrm>
            <a:off x="7715250" y="3429000"/>
            <a:ext cx="3948807" cy="194310"/>
          </a:xfrm>
          <a:prstGeom prst="rect">
            <a:avLst/>
          </a:prstGeom>
          <a:noFill/>
        </p:spPr>
        <p:txBody>
          <a:bodyPr wrap="none" lIns="0" tIns="0" rIns="0" bIns="0">
            <a:spAutoFit/>
          </a:bodyPr>
          <a:lstStyle/>
          <a:p>
            <a:r>
              <a:rPr sz="1150" b="0">
                <a:solidFill>
                  <a:srgbClr val="2E2E2E"/>
                </a:solidFill>
                <a:latin typeface="Calibri"/>
              </a:rPr>
              <a:t>▪ 'Glassware, Ceramics &amp; Home Goods' holds the highest share of</a:t>
            </a:r>
          </a:p>
        </p:txBody>
      </p:sp>
      <p:sp>
        <p:nvSpPr>
          <p:cNvPr id="26" name="TextBox 25"/>
          <p:cNvSpPr txBox="1"/>
          <p:nvPr/>
        </p:nvSpPr>
        <p:spPr>
          <a:xfrm>
            <a:off x="7715250" y="3604260"/>
            <a:ext cx="932246" cy="194310"/>
          </a:xfrm>
          <a:prstGeom prst="rect">
            <a:avLst/>
          </a:prstGeom>
          <a:noFill/>
        </p:spPr>
        <p:txBody>
          <a:bodyPr wrap="none" lIns="0" tIns="0" rIns="0" bIns="0">
            <a:spAutoFit/>
          </a:bodyPr>
          <a:lstStyle/>
          <a:p>
            <a:r>
              <a:rPr sz="1150" b="0">
                <a:solidFill>
                  <a:srgbClr val="2E2E2E"/>
                </a:solidFill>
                <a:latin typeface="Calibri"/>
              </a:rPr>
              <a:t>'Triple Wall' at</a:t>
            </a:r>
          </a:p>
        </p:txBody>
      </p:sp>
      <p:pic>
        <p:nvPicPr>
          <p:cNvPr id="27" name="Picture 26" descr="lock.png"/>
          <p:cNvPicPr>
            <a:picLocks noChangeAspect="1"/>
          </p:cNvPicPr>
          <p:nvPr/>
        </p:nvPicPr>
        <p:blipFill>
          <a:blip r:embed="rId5"/>
          <a:stretch>
            <a:fillRect/>
          </a:stretch>
        </p:blipFill>
        <p:spPr>
          <a:xfrm>
            <a:off x="8596650" y="3594036"/>
            <a:ext cx="134549" cy="195707"/>
          </a:xfrm>
          <a:prstGeom prst="rect">
            <a:avLst/>
          </a:prstGeom>
        </p:spPr>
      </p:pic>
      <p:sp>
        <p:nvSpPr>
          <p:cNvPr id="28" name="TextBox 27"/>
          <p:cNvSpPr txBox="1"/>
          <p:nvPr/>
        </p:nvSpPr>
        <p:spPr>
          <a:xfrm>
            <a:off x="8771760" y="3604260"/>
            <a:ext cx="569404" cy="194310"/>
          </a:xfrm>
          <a:prstGeom prst="rect">
            <a:avLst/>
          </a:prstGeom>
          <a:noFill/>
        </p:spPr>
        <p:txBody>
          <a:bodyPr wrap="none" lIns="0" tIns="0" rIns="0" bIns="0">
            <a:spAutoFit/>
          </a:bodyPr>
          <a:lstStyle/>
          <a:p>
            <a:r>
              <a:rPr sz="1150" b="0">
                <a:solidFill>
                  <a:srgbClr val="2E2E2E"/>
                </a:solidFill>
                <a:latin typeface="Calibri"/>
              </a:rPr>
              <a:t>(2026E).</a:t>
            </a:r>
          </a:p>
        </p:txBody>
      </p:sp>
      <p:sp>
        <p:nvSpPr>
          <p:cNvPr id="29" name="TextBox 28"/>
          <p:cNvSpPr txBox="1"/>
          <p:nvPr/>
        </p:nvSpPr>
        <p:spPr>
          <a:xfrm>
            <a:off x="7715250" y="3832097"/>
            <a:ext cx="3547454" cy="194310"/>
          </a:xfrm>
          <a:prstGeom prst="rect">
            <a:avLst/>
          </a:prstGeom>
          <a:noFill/>
        </p:spPr>
        <p:txBody>
          <a:bodyPr wrap="none" lIns="0" tIns="0" rIns="0" bIns="0">
            <a:spAutoFit/>
          </a:bodyPr>
          <a:lstStyle/>
          <a:p>
            <a:r>
              <a:rPr sz="1150" b="0">
                <a:solidFill>
                  <a:srgbClr val="2E2E2E"/>
                </a:solidFill>
                <a:latin typeface="Calibri"/>
              </a:rPr>
              <a:t>▪ 'Triple Wall' is the most concentrated board construction</a:t>
            </a:r>
          </a:p>
        </p:txBody>
      </p:sp>
      <p:sp>
        <p:nvSpPr>
          <p:cNvPr id="30" name="TextBox 29"/>
          <p:cNvSpPr txBox="1"/>
          <p:nvPr/>
        </p:nvSpPr>
        <p:spPr>
          <a:xfrm>
            <a:off x="7715250" y="4007357"/>
            <a:ext cx="1178706" cy="194310"/>
          </a:xfrm>
          <a:prstGeom prst="rect">
            <a:avLst/>
          </a:prstGeom>
          <a:noFill/>
        </p:spPr>
        <p:txBody>
          <a:bodyPr wrap="none" lIns="0" tIns="0" r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3997134"/>
            <a:ext cx="134549" cy="195707"/>
          </a:xfrm>
          <a:prstGeom prst="rect">
            <a:avLst/>
          </a:prstGeom>
        </p:spPr>
      </p:pic>
      <p:sp>
        <p:nvSpPr>
          <p:cNvPr id="32" name="TextBox 31"/>
          <p:cNvSpPr txBox="1"/>
          <p:nvPr/>
        </p:nvSpPr>
        <p:spPr>
          <a:xfrm>
            <a:off x="9018219" y="4007357"/>
            <a:ext cx="2731913" cy="194310"/>
          </a:xfrm>
          <a:prstGeom prst="rect">
            <a:avLst/>
          </a:prstGeom>
          <a:noFill/>
        </p:spPr>
        <p:txBody>
          <a:bodyPr wrap="none" lIns="0" tIns="0" rIns="0" bIns="0">
            <a:spAutoFit/>
          </a:bodyPr>
          <a:lstStyle/>
          <a:p>
            <a:r>
              <a:rPr sz="1150" b="0">
                <a:solidFill>
                  <a:srgbClr val="2E2E2E"/>
                </a:solidFill>
                <a:latin typeface="Calibri"/>
              </a:rPr>
              <a:t>of its value via 'Glassware, Ceramics &amp; Home</a:t>
            </a:r>
          </a:p>
        </p:txBody>
      </p:sp>
      <p:sp>
        <p:nvSpPr>
          <p:cNvPr id="33" name="TextBox 32"/>
          <p:cNvSpPr txBox="1"/>
          <p:nvPr/>
        </p:nvSpPr>
        <p:spPr>
          <a:xfrm>
            <a:off x="7715250" y="4182617"/>
            <a:ext cx="525189" cy="194310"/>
          </a:xfrm>
          <a:prstGeom prst="rect">
            <a:avLst/>
          </a:prstGeom>
          <a:noFill/>
        </p:spPr>
        <p:txBody>
          <a:bodyPr wrap="none" lIns="0" tIns="0" rIns="0" bIns="0">
            <a:spAutoFit/>
          </a:bodyPr>
          <a:lstStyle/>
          <a:p>
            <a:r>
              <a:rPr sz="1150" b="0">
                <a:solidFill>
                  <a:srgbClr val="2E2E2E"/>
                </a:solidFill>
                <a:latin typeface="Calibri"/>
              </a:rPr>
              <a:t>Goods'.</a:t>
            </a:r>
          </a:p>
        </p:txBody>
      </p:sp>
      <p:sp>
        <p:nvSpPr>
          <p:cNvPr id="34" name="TextBox 33"/>
          <p:cNvSpPr txBox="1"/>
          <p:nvPr/>
        </p:nvSpPr>
        <p:spPr>
          <a:xfrm>
            <a:off x="7715250" y="4410455"/>
            <a:ext cx="2021061" cy="194310"/>
          </a:xfrm>
          <a:prstGeom prst="rect">
            <a:avLst/>
          </a:prstGeom>
          <a:noFill/>
        </p:spPr>
        <p:txBody>
          <a:bodyPr wrap="none" lIns="0" tIns="0" r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400232"/>
            <a:ext cx="134549" cy="195707"/>
          </a:xfrm>
          <a:prstGeom prst="rect">
            <a:avLst/>
          </a:prstGeom>
        </p:spPr>
      </p:pic>
      <p:sp>
        <p:nvSpPr>
          <p:cNvPr id="36" name="TextBox 35"/>
          <p:cNvSpPr txBox="1"/>
          <p:nvPr/>
        </p:nvSpPr>
        <p:spPr>
          <a:xfrm>
            <a:off x="9860574" y="4410455"/>
            <a:ext cx="1467383" cy="194310"/>
          </a:xfrm>
          <a:prstGeom prst="rect">
            <a:avLst/>
          </a:prstGeom>
          <a:noFill/>
        </p:spPr>
        <p:txBody>
          <a:bodyPr wrap="none" lIns="0" tIns="0" rIns="0" bIns="0">
            <a:spAutoFit/>
          </a:bodyPr>
          <a:lstStyle/>
          <a:p>
            <a:r>
              <a:rPr sz="1150" b="0">
                <a:solidFill>
                  <a:srgbClr val="2E2E2E"/>
                </a:solidFill>
                <a:latin typeface="Calibri"/>
              </a:rPr>
              <a:t>BPS of share of the U.S.</a:t>
            </a:r>
          </a:p>
        </p:txBody>
      </p:sp>
      <p:sp>
        <p:nvSpPr>
          <p:cNvPr id="37" name="TextBox 36"/>
          <p:cNvSpPr txBox="1"/>
          <p:nvPr/>
        </p:nvSpPr>
        <p:spPr>
          <a:xfrm>
            <a:off x="7715250" y="4585715"/>
            <a:ext cx="1462605" cy="194310"/>
          </a:xfrm>
          <a:prstGeom prst="rect">
            <a:avLst/>
          </a:prstGeom>
          <a:noFill/>
        </p:spPr>
        <p:txBody>
          <a:bodyPr wrap="none" lIns="0" tIns="0" rIns="0" bIns="0">
            <a:spAutoFit/>
          </a:bodyPr>
          <a:lstStyle/>
          <a:p>
            <a:r>
              <a:rPr sz="1150" b="0">
                <a:solidFill>
                  <a:srgbClr val="2E2E2E"/>
                </a:solidFill>
                <a:latin typeface="Calibri"/>
              </a:rPr>
              <a:t>cross-section by 2036F.</a:t>
            </a:r>
          </a:p>
        </p:txBody>
      </p:sp>
      <p:sp>
        <p:nvSpPr>
          <p:cNvPr id="38" name="lockshield_17"/>
          <p:cNvSpPr/>
          <p:nvPr/>
        </p:nvSpPr>
        <p:spPr>
          <a:xfrm>
            <a:off x="238125" y="3295650"/>
            <a:ext cx="7096125" cy="32766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Absolute $ Opportunity &amp; Attractiveness: Board Construction × End Use, 2026E–2036F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 Opportunity (US$ Mn) and Value CAGR, Board Construction × End Use, 2026E–2036F</a:t>
            </a:r>
          </a:p>
        </p:txBody>
      </p:sp>
      <p:graphicFrame>
        <p:nvGraphicFramePr>
          <p:cNvPr id="13" name="Table 12"/>
          <p:cNvGraphicFramePr>
            <a:graphicFrameLocks noGrp="1"/>
          </p:cNvGraphicFramePr>
          <p:nvPr/>
        </p:nvGraphicFramePr>
        <p:xfrm>
          <a:off x="152400" y="1238250"/>
          <a:ext cx="11887197" cy="1866897"/>
        </p:xfrm>
        <a:graphic>
          <a:graphicData uri="http://schemas.openxmlformats.org/drawingml/2006/table">
            <a:tbl>
              <a:tblPr>
                <a:tableStyleId>{5C22544A-7EE6-4342-B048-85BDC9FD1C3A}</a:tableStyleId>
              </a:tblPr>
              <a:tblGrid>
                <a:gridCol w="986381">
                  <a:extLst>
                    <a:ext uri="{9D8B030D-6E8A-4147-A177-3AD203B41FA5}">
                      <a16:colId xmlns:a16="http://schemas.microsoft.com/office/drawing/2014/main" val="20000"/>
                    </a:ext>
                  </a:extLst>
                </a:gridCol>
                <a:gridCol w="681301">
                  <a:extLst>
                    <a:ext uri="{9D8B030D-6E8A-4147-A177-3AD203B41FA5}">
                      <a16:colId xmlns:a16="http://schemas.microsoft.com/office/drawing/2014/main" val="20001"/>
                    </a:ext>
                  </a:extLst>
                </a:gridCol>
                <a:gridCol w="681301">
                  <a:extLst>
                    <a:ext uri="{9D8B030D-6E8A-4147-A177-3AD203B41FA5}">
                      <a16:colId xmlns:a16="http://schemas.microsoft.com/office/drawing/2014/main" val="20002"/>
                    </a:ext>
                  </a:extLst>
                </a:gridCol>
                <a:gridCol w="681301">
                  <a:extLst>
                    <a:ext uri="{9D8B030D-6E8A-4147-A177-3AD203B41FA5}">
                      <a16:colId xmlns:a16="http://schemas.microsoft.com/office/drawing/2014/main" val="20003"/>
                    </a:ext>
                  </a:extLst>
                </a:gridCol>
                <a:gridCol w="681301">
                  <a:extLst>
                    <a:ext uri="{9D8B030D-6E8A-4147-A177-3AD203B41FA5}">
                      <a16:colId xmlns:a16="http://schemas.microsoft.com/office/drawing/2014/main" val="20004"/>
                    </a:ext>
                  </a:extLst>
                </a:gridCol>
                <a:gridCol w="681301">
                  <a:extLst>
                    <a:ext uri="{9D8B030D-6E8A-4147-A177-3AD203B41FA5}">
                      <a16:colId xmlns:a16="http://schemas.microsoft.com/office/drawing/2014/main" val="20005"/>
                    </a:ext>
                  </a:extLst>
                </a:gridCol>
                <a:gridCol w="681301">
                  <a:extLst>
                    <a:ext uri="{9D8B030D-6E8A-4147-A177-3AD203B41FA5}">
                      <a16:colId xmlns:a16="http://schemas.microsoft.com/office/drawing/2014/main" val="20006"/>
                    </a:ext>
                  </a:extLst>
                </a:gridCol>
                <a:gridCol w="681301">
                  <a:extLst>
                    <a:ext uri="{9D8B030D-6E8A-4147-A177-3AD203B41FA5}">
                      <a16:colId xmlns:a16="http://schemas.microsoft.com/office/drawing/2014/main" val="20007"/>
                    </a:ext>
                  </a:extLst>
                </a:gridCol>
                <a:gridCol w="681301">
                  <a:extLst>
                    <a:ext uri="{9D8B030D-6E8A-4147-A177-3AD203B41FA5}">
                      <a16:colId xmlns:a16="http://schemas.microsoft.com/office/drawing/2014/main" val="20008"/>
                    </a:ext>
                  </a:extLst>
                </a:gridCol>
                <a:gridCol w="681301">
                  <a:extLst>
                    <a:ext uri="{9D8B030D-6E8A-4147-A177-3AD203B41FA5}">
                      <a16:colId xmlns:a16="http://schemas.microsoft.com/office/drawing/2014/main" val="20009"/>
                    </a:ext>
                  </a:extLst>
                </a:gridCol>
                <a:gridCol w="681301">
                  <a:extLst>
                    <a:ext uri="{9D8B030D-6E8A-4147-A177-3AD203B41FA5}">
                      <a16:colId xmlns:a16="http://schemas.microsoft.com/office/drawing/2014/main" val="20010"/>
                    </a:ext>
                  </a:extLst>
                </a:gridCol>
                <a:gridCol w="681301">
                  <a:extLst>
                    <a:ext uri="{9D8B030D-6E8A-4147-A177-3AD203B41FA5}">
                      <a16:colId xmlns:a16="http://schemas.microsoft.com/office/drawing/2014/main" val="20011"/>
                    </a:ext>
                  </a:extLst>
                </a:gridCol>
                <a:gridCol w="681301">
                  <a:extLst>
                    <a:ext uri="{9D8B030D-6E8A-4147-A177-3AD203B41FA5}">
                      <a16:colId xmlns:a16="http://schemas.microsoft.com/office/drawing/2014/main" val="20012"/>
                    </a:ext>
                  </a:extLst>
                </a:gridCol>
                <a:gridCol w="681301">
                  <a:extLst>
                    <a:ext uri="{9D8B030D-6E8A-4147-A177-3AD203B41FA5}">
                      <a16:colId xmlns:a16="http://schemas.microsoft.com/office/drawing/2014/main" val="20013"/>
                    </a:ext>
                  </a:extLst>
                </a:gridCol>
                <a:gridCol w="681301">
                  <a:extLst>
                    <a:ext uri="{9D8B030D-6E8A-4147-A177-3AD203B41FA5}">
                      <a16:colId xmlns:a16="http://schemas.microsoft.com/office/drawing/2014/main" val="20014"/>
                    </a:ext>
                  </a:extLst>
                </a:gridCol>
                <a:gridCol w="681301">
                  <a:extLst>
                    <a:ext uri="{9D8B030D-6E8A-4147-A177-3AD203B41FA5}">
                      <a16:colId xmlns:a16="http://schemas.microsoft.com/office/drawing/2014/main" val="20015"/>
                    </a:ext>
                  </a:extLst>
                </a:gridCol>
                <a:gridCol w="681301">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Board</a:t>
                      </a:r>
                      <a:endParaRPr sz="1100"/>
                    </a:p>
                    <a:p>
                      <a:pPr algn="l"/>
                      <a:r>
                        <a:rPr sz="1100" b="1">
                          <a:solidFill>
                            <a:srgbClr val="0B2E4A"/>
                          </a:solidFill>
                          <a:latin typeface="Calibri"/>
                        </a:rPr>
                        <a:t>Construction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040">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040">
                <a:tc>
                  <a:txBody>
                    <a:bodyPr/>
                    <a:lstStyle/>
                    <a:p>
                      <a:pPr algn="l"/>
                      <a:r>
                        <a:rPr sz="1100" b="1">
                          <a:solidFill>
                            <a:srgbClr val="2E2E2E"/>
                          </a:solidFill>
                          <a:latin typeface="Calibri"/>
                        </a:rPr>
                        <a:t>Single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040">
                <a:tc>
                  <a:txBody>
                    <a:bodyPr/>
                    <a:lstStyle/>
                    <a:p>
                      <a:pPr algn="l"/>
                      <a:r>
                        <a:rPr sz="1100" b="1">
                          <a:solidFill>
                            <a:srgbClr val="2E2E2E"/>
                          </a:solidFill>
                          <a:latin typeface="Calibri"/>
                        </a:rPr>
                        <a:t>Double Wall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040">
                <a:tc>
                  <a:txBody>
                    <a:bodyPr/>
                    <a:lstStyle/>
                    <a:p>
                      <a:pPr algn="l"/>
                      <a:r>
                        <a:rPr sz="1100" b="1">
                          <a:solidFill>
                            <a:srgbClr val="2E2E2E"/>
                          </a:solidFill>
                          <a:latin typeface="Calibri"/>
                        </a:rPr>
                        <a:t>Triple Wall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040">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31146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56007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533775"/>
            <a:ext cx="5334000" cy="209550"/>
          </a:xfrm>
          <a:prstGeom prst="rect">
            <a:avLst/>
          </a:prstGeom>
          <a:noFill/>
        </p:spPr>
        <p:txBody>
          <a:bodyPr wrap="square" lIns="0" tIns="9525" rIns="19050"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77190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3857625"/>
            <a:ext cx="53340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5895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029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Largest Pool</a:t>
            </a:r>
          </a:p>
        </p:txBody>
      </p:sp>
      <p:sp>
        <p:nvSpPr>
          <p:cNvPr id="21" name="Rectangle 20"/>
          <p:cNvSpPr/>
          <p:nvPr/>
        </p:nvSpPr>
        <p:spPr>
          <a:xfrm>
            <a:off x="6029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029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3" name="Rounded Rectangle 22"/>
          <p:cNvSpPr/>
          <p:nvPr/>
        </p:nvSpPr>
        <p:spPr>
          <a:xfrm>
            <a:off x="79914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1248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Fastest Growth</a:t>
            </a:r>
          </a:p>
        </p:txBody>
      </p:sp>
      <p:sp>
        <p:nvSpPr>
          <p:cNvPr id="25" name="Rectangle 24"/>
          <p:cNvSpPr/>
          <p:nvPr/>
        </p:nvSpPr>
        <p:spPr>
          <a:xfrm>
            <a:off x="81248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1248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7" name="Rounded Rectangle 26"/>
          <p:cNvSpPr/>
          <p:nvPr/>
        </p:nvSpPr>
        <p:spPr>
          <a:xfrm>
            <a:off x="10086975" y="3448050"/>
            <a:ext cx="1943100" cy="318135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220325" y="3533775"/>
            <a:ext cx="1676400" cy="209550"/>
          </a:xfrm>
          <a:prstGeom prst="rect">
            <a:avLst/>
          </a:prstGeom>
          <a:noFill/>
        </p:spPr>
        <p:txBody>
          <a:bodyPr wrap="square" lIns="0" tIns="9525" rIns="19050" bIns="9525">
            <a:spAutoFit/>
          </a:bodyPr>
          <a:lstStyle/>
          <a:p>
            <a:pPr algn="l"/>
            <a:r>
              <a:rPr sz="1300" b="1">
                <a:solidFill>
                  <a:srgbClr val="0B2E4A"/>
                </a:solidFill>
                <a:latin typeface="Calibri"/>
              </a:rPr>
              <a:t>Where to Play</a:t>
            </a:r>
          </a:p>
        </p:txBody>
      </p:sp>
      <p:sp>
        <p:nvSpPr>
          <p:cNvPr id="29" name="Rectangle 28"/>
          <p:cNvSpPr/>
          <p:nvPr/>
        </p:nvSpPr>
        <p:spPr>
          <a:xfrm>
            <a:off x="10220325" y="377190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10220325" y="3857625"/>
            <a:ext cx="1676400" cy="269557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'Double Wall × Electronics &amp; Electrical' ranks highest (5/5); 'Single Wall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02499" y="2344368"/>
            <a:ext cx="366712" cy="533400"/>
          </a:xfrm>
          <a:prstGeom prst="rect">
            <a:avLst/>
          </a:prstGeom>
        </p:spPr>
      </p:pic>
      <p:sp>
        <p:nvSpPr>
          <p:cNvPr id="33" name="TextBox 32"/>
          <p:cNvSpPr txBox="1"/>
          <p:nvPr/>
        </p:nvSpPr>
        <p:spPr>
          <a:xfrm>
            <a:off x="276225" y="3867150"/>
            <a:ext cx="2627510" cy="194310"/>
          </a:xfrm>
          <a:prstGeom prst="rect">
            <a:avLst/>
          </a:prstGeom>
          <a:noFill/>
        </p:spPr>
        <p:txBody>
          <a:bodyPr wrap="none" lIns="0" tIns="0" rIns="0" bIns="0">
            <a:spAutoFit/>
          </a:bodyPr>
          <a:lstStyle/>
          <a:p>
            <a:r>
              <a:rPr sz="1150" b="0">
                <a:solidFill>
                  <a:srgbClr val="2E2E2E"/>
                </a:solidFill>
                <a:latin typeface="Calibri"/>
              </a:rPr>
              <a:t>▪ 1. Double Wall × Electronics &amp; Electrical –</a:t>
            </a:r>
          </a:p>
        </p:txBody>
      </p:sp>
      <p:pic>
        <p:nvPicPr>
          <p:cNvPr id="34" name="Picture 33" descr="lock.png"/>
          <p:cNvPicPr>
            <a:picLocks noChangeAspect="1"/>
          </p:cNvPicPr>
          <p:nvPr/>
        </p:nvPicPr>
        <p:blipFill>
          <a:blip r:embed="rId4"/>
          <a:stretch>
            <a:fillRect/>
          </a:stretch>
        </p:blipFill>
        <p:spPr>
          <a:xfrm>
            <a:off x="2852889" y="3856926"/>
            <a:ext cx="134549" cy="195707"/>
          </a:xfrm>
          <a:prstGeom prst="rect">
            <a:avLst/>
          </a:prstGeom>
        </p:spPr>
      </p:pic>
      <p:sp>
        <p:nvSpPr>
          <p:cNvPr id="35" name="TextBox 34"/>
          <p:cNvSpPr txBox="1"/>
          <p:nvPr/>
        </p:nvSpPr>
        <p:spPr>
          <a:xfrm>
            <a:off x="3027999" y="3867150"/>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090150" y="3856926"/>
            <a:ext cx="134549" cy="195707"/>
          </a:xfrm>
          <a:prstGeom prst="rect">
            <a:avLst/>
          </a:prstGeom>
        </p:spPr>
      </p:pic>
      <p:sp>
        <p:nvSpPr>
          <p:cNvPr id="37" name="TextBox 36"/>
          <p:cNvSpPr txBox="1"/>
          <p:nvPr/>
        </p:nvSpPr>
        <p:spPr>
          <a:xfrm>
            <a:off x="3265260" y="3867150"/>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38" name="TextBox 37"/>
          <p:cNvSpPr txBox="1"/>
          <p:nvPr/>
        </p:nvSpPr>
        <p:spPr>
          <a:xfrm>
            <a:off x="276225" y="4094987"/>
            <a:ext cx="3343783" cy="194310"/>
          </a:xfrm>
          <a:prstGeom prst="rect">
            <a:avLst/>
          </a:prstGeom>
          <a:noFill/>
        </p:spPr>
        <p:txBody>
          <a:bodyPr wrap="none" lIns="0" tIns="0" rIns="0" bIns="0">
            <a:spAutoFit/>
          </a:bodyPr>
          <a:lstStyle/>
          <a:p>
            <a:r>
              <a:rPr sz="1150" b="0">
                <a:solidFill>
                  <a:srgbClr val="2E2E2E"/>
                </a:solidFill>
                <a:latin typeface="Calibri"/>
              </a:rPr>
              <a:t>▪ 2. Triple Wall × Glassware, Ceramics &amp; Home Goods –</a:t>
            </a:r>
          </a:p>
        </p:txBody>
      </p:sp>
      <p:pic>
        <p:nvPicPr>
          <p:cNvPr id="39" name="Picture 38" descr="lock.png"/>
          <p:cNvPicPr>
            <a:picLocks noChangeAspect="1"/>
          </p:cNvPicPr>
          <p:nvPr/>
        </p:nvPicPr>
        <p:blipFill>
          <a:blip r:embed="rId4"/>
          <a:stretch>
            <a:fillRect/>
          </a:stretch>
        </p:blipFill>
        <p:spPr>
          <a:xfrm>
            <a:off x="3569162" y="4084764"/>
            <a:ext cx="134549" cy="195707"/>
          </a:xfrm>
          <a:prstGeom prst="rect">
            <a:avLst/>
          </a:prstGeom>
        </p:spPr>
      </p:pic>
      <p:sp>
        <p:nvSpPr>
          <p:cNvPr id="40" name="TextBox 39"/>
          <p:cNvSpPr txBox="1"/>
          <p:nvPr/>
        </p:nvSpPr>
        <p:spPr>
          <a:xfrm>
            <a:off x="3744271" y="4094987"/>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06423" y="4084764"/>
            <a:ext cx="134549" cy="195707"/>
          </a:xfrm>
          <a:prstGeom prst="rect">
            <a:avLst/>
          </a:prstGeom>
        </p:spPr>
      </p:pic>
      <p:sp>
        <p:nvSpPr>
          <p:cNvPr id="42" name="TextBox 41"/>
          <p:cNvSpPr txBox="1"/>
          <p:nvPr/>
        </p:nvSpPr>
        <p:spPr>
          <a:xfrm>
            <a:off x="3981532" y="4094987"/>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43" name="TextBox 42"/>
          <p:cNvSpPr txBox="1"/>
          <p:nvPr/>
        </p:nvSpPr>
        <p:spPr>
          <a:xfrm>
            <a:off x="276225" y="4322825"/>
            <a:ext cx="2293732" cy="194310"/>
          </a:xfrm>
          <a:prstGeom prst="rect">
            <a:avLst/>
          </a:prstGeom>
          <a:noFill/>
        </p:spPr>
        <p:txBody>
          <a:bodyPr wrap="none" lIns="0" tIns="0" rIns="0" bIns="0">
            <a:spAutoFit/>
          </a:bodyPr>
          <a:lstStyle/>
          <a:p>
            <a:r>
              <a:rPr sz="1150" b="0">
                <a:solidFill>
                  <a:srgbClr val="2E2E2E"/>
                </a:solidFill>
                <a:latin typeface="Calibri"/>
              </a:rPr>
              <a:t>▪ 3. Double Wall × Food &amp; Beverage –</a:t>
            </a:r>
          </a:p>
        </p:txBody>
      </p:sp>
      <p:pic>
        <p:nvPicPr>
          <p:cNvPr id="44" name="Picture 43" descr="lock.png"/>
          <p:cNvPicPr>
            <a:picLocks noChangeAspect="1"/>
          </p:cNvPicPr>
          <p:nvPr/>
        </p:nvPicPr>
        <p:blipFill>
          <a:blip r:embed="rId4"/>
          <a:stretch>
            <a:fillRect/>
          </a:stretch>
        </p:blipFill>
        <p:spPr>
          <a:xfrm>
            <a:off x="2519111" y="4312602"/>
            <a:ext cx="134549" cy="195707"/>
          </a:xfrm>
          <a:prstGeom prst="rect">
            <a:avLst/>
          </a:prstGeom>
        </p:spPr>
      </p:pic>
      <p:sp>
        <p:nvSpPr>
          <p:cNvPr id="45" name="TextBox 44"/>
          <p:cNvSpPr txBox="1"/>
          <p:nvPr/>
        </p:nvSpPr>
        <p:spPr>
          <a:xfrm>
            <a:off x="2694220" y="4322825"/>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2756372" y="4312602"/>
            <a:ext cx="134549" cy="195707"/>
          </a:xfrm>
          <a:prstGeom prst="rect">
            <a:avLst/>
          </a:prstGeom>
        </p:spPr>
      </p:pic>
      <p:sp>
        <p:nvSpPr>
          <p:cNvPr id="47" name="TextBox 46"/>
          <p:cNvSpPr txBox="1"/>
          <p:nvPr/>
        </p:nvSpPr>
        <p:spPr>
          <a:xfrm>
            <a:off x="2931481" y="4322825"/>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48" name="TextBox 47"/>
          <p:cNvSpPr txBox="1"/>
          <p:nvPr/>
        </p:nvSpPr>
        <p:spPr>
          <a:xfrm>
            <a:off x="276225" y="4550663"/>
            <a:ext cx="2206159" cy="194310"/>
          </a:xfrm>
          <a:prstGeom prst="rect">
            <a:avLst/>
          </a:prstGeom>
          <a:noFill/>
        </p:spPr>
        <p:txBody>
          <a:bodyPr wrap="none" lIns="0" tIns="0" rIns="0" bIns="0">
            <a:spAutoFit/>
          </a:bodyPr>
          <a:lstStyle/>
          <a:p>
            <a:r>
              <a:rPr sz="1150" b="0">
                <a:solidFill>
                  <a:srgbClr val="2E2E2E"/>
                </a:solidFill>
                <a:latin typeface="Calibri"/>
              </a:rPr>
              <a:t>▪ 4. Triple Wall × Food &amp; Beverage –</a:t>
            </a:r>
          </a:p>
        </p:txBody>
      </p:sp>
      <p:pic>
        <p:nvPicPr>
          <p:cNvPr id="49" name="Picture 48" descr="lock.png"/>
          <p:cNvPicPr>
            <a:picLocks noChangeAspect="1"/>
          </p:cNvPicPr>
          <p:nvPr/>
        </p:nvPicPr>
        <p:blipFill>
          <a:blip r:embed="rId4"/>
          <a:stretch>
            <a:fillRect/>
          </a:stretch>
        </p:blipFill>
        <p:spPr>
          <a:xfrm>
            <a:off x="2431538" y="4540440"/>
            <a:ext cx="134549" cy="195707"/>
          </a:xfrm>
          <a:prstGeom prst="rect">
            <a:avLst/>
          </a:prstGeom>
        </p:spPr>
      </p:pic>
      <p:sp>
        <p:nvSpPr>
          <p:cNvPr id="50" name="TextBox 49"/>
          <p:cNvSpPr txBox="1"/>
          <p:nvPr/>
        </p:nvSpPr>
        <p:spPr>
          <a:xfrm>
            <a:off x="2606647" y="4550663"/>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668799" y="4540440"/>
            <a:ext cx="134549" cy="195707"/>
          </a:xfrm>
          <a:prstGeom prst="rect">
            <a:avLst/>
          </a:prstGeom>
        </p:spPr>
      </p:pic>
      <p:sp>
        <p:nvSpPr>
          <p:cNvPr id="52" name="TextBox 51"/>
          <p:cNvSpPr txBox="1"/>
          <p:nvPr/>
        </p:nvSpPr>
        <p:spPr>
          <a:xfrm>
            <a:off x="2843908" y="4550663"/>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3" name="TextBox 52"/>
          <p:cNvSpPr txBox="1"/>
          <p:nvPr/>
        </p:nvSpPr>
        <p:spPr>
          <a:xfrm>
            <a:off x="276225" y="4778501"/>
            <a:ext cx="2539937" cy="194310"/>
          </a:xfrm>
          <a:prstGeom prst="rect">
            <a:avLst/>
          </a:prstGeom>
          <a:noFill/>
        </p:spPr>
        <p:txBody>
          <a:bodyPr wrap="none" lIns="0" tIns="0" rIns="0" bIns="0">
            <a:spAutoFit/>
          </a:bodyPr>
          <a:lstStyle/>
          <a:p>
            <a:r>
              <a:rPr sz="1150" b="0">
                <a:solidFill>
                  <a:srgbClr val="2E2E2E"/>
                </a:solidFill>
                <a:latin typeface="Calibri"/>
              </a:rPr>
              <a:t>▪ 5. Triple Wall × Electronics &amp; Electrical –</a:t>
            </a:r>
          </a:p>
        </p:txBody>
      </p:sp>
      <p:pic>
        <p:nvPicPr>
          <p:cNvPr id="54" name="Picture 53" descr="lock.png"/>
          <p:cNvPicPr>
            <a:picLocks noChangeAspect="1"/>
          </p:cNvPicPr>
          <p:nvPr/>
        </p:nvPicPr>
        <p:blipFill>
          <a:blip r:embed="rId4"/>
          <a:stretch>
            <a:fillRect/>
          </a:stretch>
        </p:blipFill>
        <p:spPr>
          <a:xfrm>
            <a:off x="2765316" y="4768278"/>
            <a:ext cx="134549" cy="195707"/>
          </a:xfrm>
          <a:prstGeom prst="rect">
            <a:avLst/>
          </a:prstGeom>
        </p:spPr>
      </p:pic>
      <p:sp>
        <p:nvSpPr>
          <p:cNvPr id="55" name="TextBox 54"/>
          <p:cNvSpPr txBox="1"/>
          <p:nvPr/>
        </p:nvSpPr>
        <p:spPr>
          <a:xfrm>
            <a:off x="2940426" y="4778501"/>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002577" y="4768278"/>
            <a:ext cx="134549" cy="195707"/>
          </a:xfrm>
          <a:prstGeom prst="rect">
            <a:avLst/>
          </a:prstGeom>
        </p:spPr>
      </p:pic>
      <p:sp>
        <p:nvSpPr>
          <p:cNvPr id="57" name="TextBox 56"/>
          <p:cNvSpPr txBox="1"/>
          <p:nvPr/>
        </p:nvSpPr>
        <p:spPr>
          <a:xfrm>
            <a:off x="3177687" y="4778501"/>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58" name="TextBox 57"/>
          <p:cNvSpPr txBox="1"/>
          <p:nvPr/>
        </p:nvSpPr>
        <p:spPr>
          <a:xfrm>
            <a:off x="6029325" y="3867150"/>
            <a:ext cx="1657350" cy="194310"/>
          </a:xfrm>
          <a:prstGeom prst="rect">
            <a:avLst/>
          </a:prstGeom>
          <a:noFill/>
        </p:spPr>
        <p:txBody>
          <a:bodyPr wrap="none" lIns="0" tIns="0" rIns="0" bIns="0">
            <a:spAutoFit/>
          </a:bodyPr>
          <a:lstStyle/>
          <a:p>
            <a:r>
              <a:rPr sz="1150" b="0">
                <a:solidFill>
                  <a:srgbClr val="2E2E2E"/>
                </a:solidFill>
                <a:latin typeface="Calibri"/>
              </a:rPr>
              <a:t>▪ 'Double Wall × Electronics</a:t>
            </a:r>
          </a:p>
        </p:txBody>
      </p:sp>
      <p:sp>
        <p:nvSpPr>
          <p:cNvPr id="59" name="TextBox 58"/>
          <p:cNvSpPr txBox="1"/>
          <p:nvPr/>
        </p:nvSpPr>
        <p:spPr>
          <a:xfrm>
            <a:off x="6029325" y="4042410"/>
            <a:ext cx="1093415" cy="194310"/>
          </a:xfrm>
          <a:prstGeom prst="rect">
            <a:avLst/>
          </a:prstGeom>
          <a:noFill/>
        </p:spPr>
        <p:txBody>
          <a:bodyPr wrap="none" lIns="0" tIns="0" rIns="0" bIns="0">
            <a:spAutoFit/>
          </a:bodyPr>
          <a:lstStyle/>
          <a:p>
            <a:r>
              <a:rPr sz="1150" b="0">
                <a:solidFill>
                  <a:srgbClr val="2E2E2E"/>
                </a:solidFill>
                <a:latin typeface="Calibri"/>
              </a:rPr>
              <a:t>&amp; Electrical' adds</a:t>
            </a:r>
          </a:p>
        </p:txBody>
      </p:sp>
      <p:pic>
        <p:nvPicPr>
          <p:cNvPr id="60" name="Picture 59" descr="lock.png"/>
          <p:cNvPicPr>
            <a:picLocks noChangeAspect="1"/>
          </p:cNvPicPr>
          <p:nvPr/>
        </p:nvPicPr>
        <p:blipFill>
          <a:blip r:embed="rId4"/>
          <a:stretch>
            <a:fillRect/>
          </a:stretch>
        </p:blipFill>
        <p:spPr>
          <a:xfrm>
            <a:off x="7071894" y="4032186"/>
            <a:ext cx="134549" cy="195707"/>
          </a:xfrm>
          <a:prstGeom prst="rect">
            <a:avLst/>
          </a:prstGeom>
        </p:spPr>
      </p:pic>
      <p:sp>
        <p:nvSpPr>
          <p:cNvPr id="61" name="TextBox 60"/>
          <p:cNvSpPr txBox="1"/>
          <p:nvPr/>
        </p:nvSpPr>
        <p:spPr>
          <a:xfrm>
            <a:off x="7247003" y="4042410"/>
            <a:ext cx="311249" cy="194310"/>
          </a:xfrm>
          <a:prstGeom prst="rect">
            <a:avLst/>
          </a:prstGeom>
          <a:noFill/>
        </p:spPr>
        <p:txBody>
          <a:bodyPr wrap="none" lIns="0" tIns="0" rIns="0" bIns="0">
            <a:spAutoFit/>
          </a:bodyPr>
          <a:lstStyle/>
          <a:p>
            <a:r>
              <a:rPr sz="1150" b="0">
                <a:solidFill>
                  <a:srgbClr val="2E2E2E"/>
                </a:solidFill>
                <a:latin typeface="Calibri"/>
              </a:rPr>
              <a:t>US$</a:t>
            </a:r>
          </a:p>
        </p:txBody>
      </p:sp>
      <p:sp>
        <p:nvSpPr>
          <p:cNvPr id="62" name="TextBox 61"/>
          <p:cNvSpPr txBox="1"/>
          <p:nvPr/>
        </p:nvSpPr>
        <p:spPr>
          <a:xfrm>
            <a:off x="6029325" y="4217670"/>
            <a:ext cx="956493" cy="194310"/>
          </a:xfrm>
          <a:prstGeom prst="rect">
            <a:avLst/>
          </a:prstGeom>
          <a:noFill/>
        </p:spPr>
        <p:txBody>
          <a:bodyPr wrap="none" lIns="0" tIns="0" r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207446"/>
            <a:ext cx="134549" cy="195707"/>
          </a:xfrm>
          <a:prstGeom prst="rect">
            <a:avLst/>
          </a:prstGeom>
        </p:spPr>
      </p:pic>
      <p:sp>
        <p:nvSpPr>
          <p:cNvPr id="64" name="TextBox 63"/>
          <p:cNvSpPr txBox="1"/>
          <p:nvPr/>
        </p:nvSpPr>
        <p:spPr>
          <a:xfrm>
            <a:off x="7110081" y="4217670"/>
            <a:ext cx="429344" cy="194310"/>
          </a:xfrm>
          <a:prstGeom prst="rect">
            <a:avLst/>
          </a:prstGeom>
          <a:noFill/>
        </p:spPr>
        <p:txBody>
          <a:bodyPr wrap="none" lIns="0" tIns="0" rIns="0" bIns="0">
            <a:spAutoFit/>
          </a:bodyPr>
          <a:lstStyle/>
          <a:p>
            <a:r>
              <a:rPr sz="1150" b="0">
                <a:solidFill>
                  <a:srgbClr val="2E2E2E"/>
                </a:solidFill>
                <a:latin typeface="Calibri"/>
              </a:rPr>
              <a:t>of the</a:t>
            </a:r>
          </a:p>
        </p:txBody>
      </p:sp>
      <p:sp>
        <p:nvSpPr>
          <p:cNvPr id="65" name="TextBox 64"/>
          <p:cNvSpPr txBox="1"/>
          <p:nvPr/>
        </p:nvSpPr>
        <p:spPr>
          <a:xfrm>
            <a:off x="6029325" y="4392929"/>
            <a:ext cx="1134777" cy="194310"/>
          </a:xfrm>
          <a:prstGeom prst="rect">
            <a:avLst/>
          </a:prstGeom>
          <a:noFill/>
        </p:spPr>
        <p:txBody>
          <a:bodyPr wrap="none" lIns="0" tIns="0" rIns="0" bIns="0">
            <a:spAutoFit/>
          </a:bodyPr>
          <a:lstStyle/>
          <a:p>
            <a:r>
              <a:rPr sz="1150" b="0">
                <a:solidFill>
                  <a:srgbClr val="2E2E2E"/>
                </a:solidFill>
                <a:latin typeface="Calibri"/>
              </a:rPr>
              <a:t>total opportunity.</a:t>
            </a:r>
          </a:p>
        </p:txBody>
      </p:sp>
      <p:sp>
        <p:nvSpPr>
          <p:cNvPr id="66" name="TextBox 65"/>
          <p:cNvSpPr txBox="1"/>
          <p:nvPr/>
        </p:nvSpPr>
        <p:spPr>
          <a:xfrm>
            <a:off x="8124825" y="3867150"/>
            <a:ext cx="1617712" cy="194310"/>
          </a:xfrm>
          <a:prstGeom prst="rect">
            <a:avLst/>
          </a:prstGeom>
          <a:noFill/>
        </p:spPr>
        <p:txBody>
          <a:bodyPr wrap="none" lIns="0" tIns="0" rIns="0" bIns="0">
            <a:spAutoFit/>
          </a:bodyPr>
          <a:lstStyle/>
          <a:p>
            <a:r>
              <a:rPr sz="1150" b="0">
                <a:solidFill>
                  <a:srgbClr val="2E2E2E"/>
                </a:solidFill>
                <a:latin typeface="Calibri"/>
              </a:rPr>
              <a:t>▪ 'Triple Wall × Electronics</a:t>
            </a:r>
          </a:p>
        </p:txBody>
      </p:sp>
      <p:sp>
        <p:nvSpPr>
          <p:cNvPr id="67" name="TextBox 66"/>
          <p:cNvSpPr txBox="1"/>
          <p:nvPr/>
        </p:nvSpPr>
        <p:spPr>
          <a:xfrm>
            <a:off x="8124825" y="4042410"/>
            <a:ext cx="1426306" cy="194310"/>
          </a:xfrm>
          <a:prstGeom prst="rect">
            <a:avLst/>
          </a:prstGeom>
          <a:noFill/>
        </p:spPr>
        <p:txBody>
          <a:bodyPr wrap="none" lIns="0" tIns="0" r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032186"/>
            <a:ext cx="134549" cy="195707"/>
          </a:xfrm>
          <a:prstGeom prst="rect">
            <a:avLst/>
          </a:prstGeom>
        </p:spPr>
      </p:pic>
      <p:sp>
        <p:nvSpPr>
          <p:cNvPr id="69" name="TextBox 68"/>
          <p:cNvSpPr txBox="1"/>
          <p:nvPr/>
        </p:nvSpPr>
        <p:spPr>
          <a:xfrm>
            <a:off x="8124825" y="4217670"/>
            <a:ext cx="446441" cy="194310"/>
          </a:xfrm>
          <a:prstGeom prst="rect">
            <a:avLst/>
          </a:prstGeom>
          <a:noFill/>
        </p:spPr>
        <p:txBody>
          <a:bodyPr wrap="none" lIns="0" tIns="0" r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207446"/>
            <a:ext cx="134549" cy="195707"/>
          </a:xfrm>
          <a:prstGeom prst="rect">
            <a:avLst/>
          </a:prstGeom>
        </p:spPr>
      </p:pic>
      <p:sp>
        <p:nvSpPr>
          <p:cNvPr id="71" name="TextBox 70"/>
          <p:cNvSpPr txBox="1"/>
          <p:nvPr/>
        </p:nvSpPr>
        <p:spPr>
          <a:xfrm>
            <a:off x="8695529" y="4217670"/>
            <a:ext cx="925400" cy="194310"/>
          </a:xfrm>
          <a:prstGeom prst="rect">
            <a:avLst/>
          </a:prstGeom>
          <a:noFill/>
        </p:spPr>
        <p:txBody>
          <a:bodyPr wrap="none" lIns="0" tIns="0" rIns="0" bIns="0">
            <a:spAutoFit/>
          </a:bodyPr>
          <a:lstStyle/>
          <a:p>
            <a:r>
              <a:rPr sz="1150" b="0">
                <a:solidFill>
                  <a:srgbClr val="2E2E2E"/>
                </a:solidFill>
                <a:latin typeface="Calibri"/>
              </a:rPr>
              <a:t>BPS above the</a:t>
            </a:r>
          </a:p>
        </p:txBody>
      </p:sp>
      <p:sp>
        <p:nvSpPr>
          <p:cNvPr id="72" name="TextBox 71"/>
          <p:cNvSpPr txBox="1"/>
          <p:nvPr/>
        </p:nvSpPr>
        <p:spPr>
          <a:xfrm>
            <a:off x="8124825" y="4392929"/>
            <a:ext cx="890029" cy="194310"/>
          </a:xfrm>
          <a:prstGeom prst="rect">
            <a:avLst/>
          </a:prstGeom>
          <a:noFill/>
        </p:spPr>
        <p:txBody>
          <a:bodyPr wrap="none" lIns="0" tIns="0" rIns="0" bIns="0">
            <a:spAutoFit/>
          </a:bodyPr>
          <a:lstStyle/>
          <a:p>
            <a:r>
              <a:rPr sz="1150" b="0">
                <a:solidFill>
                  <a:srgbClr val="2E2E2E"/>
                </a:solidFill>
                <a:latin typeface="Calibri"/>
              </a:rPr>
              <a:t>cross-section.</a:t>
            </a:r>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15.3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Cell Configuration × End Use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Snapshot</a:t>
            </a:r>
          </a:p>
          <a:p>
            <a:pPr marL="342900" indent="-323850">
              <a:lnSpc>
                <a:spcPct val="100000"/>
              </a:lnSpc>
              <a:spcAft>
                <a:spcPts val="800"/>
              </a:spcAft>
            </a:pPr>
            <a:r>
              <a:rPr sz="2000" b="0">
                <a:solidFill>
                  <a:srgbClr val="000000"/>
                </a:solidFill>
                <a:latin typeface="Calibri"/>
              </a:rPr>
              <a:t>➤	Market Share Analysis</a:t>
            </a:r>
          </a:p>
          <a:p>
            <a:pPr marL="342900" indent="-323850">
              <a:lnSpc>
                <a:spcPct val="100000"/>
              </a:lnSpc>
              <a:spcAft>
                <a:spcPts val="800"/>
              </a:spcAft>
            </a:pPr>
            <a:r>
              <a:rPr sz="2000" b="0">
                <a:solidFill>
                  <a:srgbClr val="000000"/>
                </a:solidFill>
                <a:latin typeface="Calibri"/>
              </a:rPr>
              <a:t>➤	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Market Snapshot: Cell Configuration × End Use, 2026E vs 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U.S. market value (US$ Mn) for each cell configuration sub-segment across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Market Value, Cell Configuration × End Use, 2026E and 2036F (US$ Mn)</a:t>
            </a:r>
          </a:p>
        </p:txBody>
      </p:sp>
      <p:graphicFrame>
        <p:nvGraphicFramePr>
          <p:cNvPr id="13" name="Table 12"/>
          <p:cNvGraphicFramePr>
            <a:graphicFrameLocks noGrp="1"/>
          </p:cNvGraphicFramePr>
          <p:nvPr/>
        </p:nvGraphicFramePr>
        <p:xfrm>
          <a:off x="152400" y="1238250"/>
          <a:ext cx="11887202" cy="2114549"/>
        </p:xfrm>
        <a:graphic>
          <a:graphicData uri="http://schemas.openxmlformats.org/drawingml/2006/table">
            <a:tbl>
              <a:tblPr>
                <a:tableStyleId>{5C22544A-7EE6-4342-B048-85BDC9FD1C3A}</a:tableStyleId>
              </a:tblPr>
              <a:tblGrid>
                <a:gridCol w="1370418">
                  <a:extLst>
                    <a:ext uri="{9D8B030D-6E8A-4147-A177-3AD203B41FA5}">
                      <a16:colId xmlns:a16="http://schemas.microsoft.com/office/drawing/2014/main" val="20000"/>
                    </a:ext>
                  </a:extLst>
                </a:gridCol>
                <a:gridCol w="657299">
                  <a:extLst>
                    <a:ext uri="{9D8B030D-6E8A-4147-A177-3AD203B41FA5}">
                      <a16:colId xmlns:a16="http://schemas.microsoft.com/office/drawing/2014/main" val="20001"/>
                    </a:ext>
                  </a:extLst>
                </a:gridCol>
                <a:gridCol w="657299">
                  <a:extLst>
                    <a:ext uri="{9D8B030D-6E8A-4147-A177-3AD203B41FA5}">
                      <a16:colId xmlns:a16="http://schemas.microsoft.com/office/drawing/2014/main" val="20002"/>
                    </a:ext>
                  </a:extLst>
                </a:gridCol>
                <a:gridCol w="657299">
                  <a:extLst>
                    <a:ext uri="{9D8B030D-6E8A-4147-A177-3AD203B41FA5}">
                      <a16:colId xmlns:a16="http://schemas.microsoft.com/office/drawing/2014/main" val="20003"/>
                    </a:ext>
                  </a:extLst>
                </a:gridCol>
                <a:gridCol w="657299">
                  <a:extLst>
                    <a:ext uri="{9D8B030D-6E8A-4147-A177-3AD203B41FA5}">
                      <a16:colId xmlns:a16="http://schemas.microsoft.com/office/drawing/2014/main" val="20004"/>
                    </a:ext>
                  </a:extLst>
                </a:gridCol>
                <a:gridCol w="657299">
                  <a:extLst>
                    <a:ext uri="{9D8B030D-6E8A-4147-A177-3AD203B41FA5}">
                      <a16:colId xmlns:a16="http://schemas.microsoft.com/office/drawing/2014/main" val="20005"/>
                    </a:ext>
                  </a:extLst>
                </a:gridCol>
                <a:gridCol w="657299">
                  <a:extLst>
                    <a:ext uri="{9D8B030D-6E8A-4147-A177-3AD203B41FA5}">
                      <a16:colId xmlns:a16="http://schemas.microsoft.com/office/drawing/2014/main" val="20006"/>
                    </a:ext>
                  </a:extLst>
                </a:gridCol>
                <a:gridCol w="657299">
                  <a:extLst>
                    <a:ext uri="{9D8B030D-6E8A-4147-A177-3AD203B41FA5}">
                      <a16:colId xmlns:a16="http://schemas.microsoft.com/office/drawing/2014/main" val="20007"/>
                    </a:ext>
                  </a:extLst>
                </a:gridCol>
                <a:gridCol w="657299">
                  <a:extLst>
                    <a:ext uri="{9D8B030D-6E8A-4147-A177-3AD203B41FA5}">
                      <a16:colId xmlns:a16="http://schemas.microsoft.com/office/drawing/2014/main" val="20008"/>
                    </a:ext>
                  </a:extLst>
                </a:gridCol>
                <a:gridCol w="657299">
                  <a:extLst>
                    <a:ext uri="{9D8B030D-6E8A-4147-A177-3AD203B41FA5}">
                      <a16:colId xmlns:a16="http://schemas.microsoft.com/office/drawing/2014/main" val="20009"/>
                    </a:ext>
                  </a:extLst>
                </a:gridCol>
                <a:gridCol w="657299">
                  <a:extLst>
                    <a:ext uri="{9D8B030D-6E8A-4147-A177-3AD203B41FA5}">
                      <a16:colId xmlns:a16="http://schemas.microsoft.com/office/drawing/2014/main" val="20010"/>
                    </a:ext>
                  </a:extLst>
                </a:gridCol>
                <a:gridCol w="657299">
                  <a:extLst>
                    <a:ext uri="{9D8B030D-6E8A-4147-A177-3AD203B41FA5}">
                      <a16:colId xmlns:a16="http://schemas.microsoft.com/office/drawing/2014/main" val="20011"/>
                    </a:ext>
                  </a:extLst>
                </a:gridCol>
                <a:gridCol w="657299">
                  <a:extLst>
                    <a:ext uri="{9D8B030D-6E8A-4147-A177-3AD203B41FA5}">
                      <a16:colId xmlns:a16="http://schemas.microsoft.com/office/drawing/2014/main" val="20012"/>
                    </a:ext>
                  </a:extLst>
                </a:gridCol>
                <a:gridCol w="657299">
                  <a:extLst>
                    <a:ext uri="{9D8B030D-6E8A-4147-A177-3AD203B41FA5}">
                      <a16:colId xmlns:a16="http://schemas.microsoft.com/office/drawing/2014/main" val="20013"/>
                    </a:ext>
                  </a:extLst>
                </a:gridCol>
                <a:gridCol w="657299">
                  <a:extLst>
                    <a:ext uri="{9D8B030D-6E8A-4147-A177-3AD203B41FA5}">
                      <a16:colId xmlns:a16="http://schemas.microsoft.com/office/drawing/2014/main" val="20014"/>
                    </a:ext>
                  </a:extLst>
                </a:gridCol>
                <a:gridCol w="657299">
                  <a:extLst>
                    <a:ext uri="{9D8B030D-6E8A-4147-A177-3AD203B41FA5}">
                      <a16:colId xmlns:a16="http://schemas.microsoft.com/office/drawing/2014/main" val="20015"/>
                    </a:ext>
                  </a:extLst>
                </a:gridCol>
                <a:gridCol w="657299">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Cell Configuration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a:t>
                      </a:r>
                      <a:endParaRPr sz="1100"/>
                    </a:p>
                    <a:p>
                      <a:pPr algn="ctr"/>
                      <a:r>
                        <a:rPr sz="1100" b="1">
                          <a:solidFill>
                            <a:srgbClr val="0B2E4A"/>
                          </a:solidFill>
                          <a:latin typeface="Calibri"/>
                        </a:rPr>
                        <a:t>Ceramics &amp; Home</a:t>
                      </a:r>
                      <a:endParaRPr sz="1100"/>
                    </a:p>
                    <a:p>
                      <a:pPr algn="ctr"/>
                      <a:r>
                        <a:rPr sz="1100" b="1">
                          <a:solidFill>
                            <a:srgbClr val="0B2E4A"/>
                          </a:solidFill>
                          <a:latin typeface="Calibri"/>
                        </a:rPr>
                        <a:t>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142">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142">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142">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142">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142">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5"/>
                  </a:ext>
                </a:extLst>
              </a:tr>
              <a:tr h="247142">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6"/>
                  </a:ext>
                </a:extLst>
              </a:tr>
            </a:tbl>
          </a:graphicData>
        </a:graphic>
      </p:graphicFrame>
      <p:sp>
        <p:nvSpPr>
          <p:cNvPr id="14" name="TextBox 13"/>
          <p:cNvSpPr txBox="1"/>
          <p:nvPr/>
        </p:nvSpPr>
        <p:spPr>
          <a:xfrm>
            <a:off x="219075" y="33623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781425"/>
            <a:ext cx="116395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17" name="Rectangle 16"/>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105275"/>
            <a:ext cx="1163955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4519" y="2468245"/>
            <a:ext cx="366712" cy="533400"/>
          </a:xfrm>
          <a:prstGeom prst="rect">
            <a:avLst/>
          </a:prstGeom>
        </p:spPr>
      </p:pic>
      <p:sp>
        <p:nvSpPr>
          <p:cNvPr id="21" name="TextBox 20"/>
          <p:cNvSpPr txBox="1"/>
          <p:nvPr/>
        </p:nvSpPr>
        <p:spPr>
          <a:xfrm>
            <a:off x="276225" y="4114800"/>
            <a:ext cx="9291042" cy="194310"/>
          </a:xfrm>
          <a:prstGeom prst="rect">
            <a:avLst/>
          </a:prstGeom>
          <a:noFill/>
        </p:spPr>
        <p:txBody>
          <a:bodyPr wrap="none" lIns="0" tIns="0" rIns="0" bIns="0">
            <a:spAutoFit/>
          </a:bodyPr>
          <a:lstStyle/>
          <a:p>
            <a:r>
              <a:rPr sz="1150" b="0">
                <a:solidFill>
                  <a:srgbClr val="2E2E2E"/>
                </a:solidFill>
                <a:latin typeface="Calibri"/>
              </a:rPr>
              <a:t>Up to 4 cells segment is projected to account for the largest share of the U.S. corrugated partition market, led by glassware, ceramics &amp; home goods at US$</a:t>
            </a:r>
          </a:p>
        </p:txBody>
      </p:sp>
      <p:pic>
        <p:nvPicPr>
          <p:cNvPr id="22" name="Picture 21" descr="lock.png"/>
          <p:cNvPicPr>
            <a:picLocks noChangeAspect="1"/>
          </p:cNvPicPr>
          <p:nvPr/>
        </p:nvPicPr>
        <p:blipFill>
          <a:blip r:embed="rId4"/>
          <a:stretch>
            <a:fillRect/>
          </a:stretch>
        </p:blipFill>
        <p:spPr>
          <a:xfrm>
            <a:off x="9516421" y="4104576"/>
            <a:ext cx="134549" cy="195707"/>
          </a:xfrm>
          <a:prstGeom prst="rect">
            <a:avLst/>
          </a:prstGeom>
        </p:spPr>
      </p:pic>
      <p:sp>
        <p:nvSpPr>
          <p:cNvPr id="23" name="TextBox 22"/>
          <p:cNvSpPr txBox="1"/>
          <p:nvPr/>
        </p:nvSpPr>
        <p:spPr>
          <a:xfrm>
            <a:off x="9691530" y="4114800"/>
            <a:ext cx="1704144" cy="194310"/>
          </a:xfrm>
          <a:prstGeom prst="rect">
            <a:avLst/>
          </a:prstGeom>
          <a:noFill/>
        </p:spPr>
        <p:txBody>
          <a:bodyPr wrap="none" lIns="0" tIns="0" rIns="0" bIns="0">
            <a:spAutoFit/>
          </a:bodyPr>
          <a:lstStyle/>
          <a:p>
            <a:r>
              <a:rPr sz="1150" b="0">
                <a:solidFill>
                  <a:srgbClr val="2E2E2E"/>
                </a:solidFill>
                <a:latin typeface="Calibri"/>
              </a:rPr>
              <a:t>Mn in 2036. 'Up to 4 Cells ×</a:t>
            </a:r>
          </a:p>
        </p:txBody>
      </p:sp>
      <p:sp>
        <p:nvSpPr>
          <p:cNvPr id="24" name="TextBox 23"/>
          <p:cNvSpPr txBox="1"/>
          <p:nvPr/>
        </p:nvSpPr>
        <p:spPr>
          <a:xfrm>
            <a:off x="276225" y="4290060"/>
            <a:ext cx="4655380" cy="194310"/>
          </a:xfrm>
          <a:prstGeom prst="rect">
            <a:avLst/>
          </a:prstGeom>
          <a:noFill/>
        </p:spPr>
        <p:txBody>
          <a:bodyPr wrap="none" lIns="0" tIns="0" rIns="0" bIns="0">
            <a:spAutoFit/>
          </a:bodyPr>
          <a:lstStyle/>
          <a:p>
            <a:r>
              <a:rPr sz="1150" b="0">
                <a:solidFill>
                  <a:srgbClr val="2E2E2E"/>
                </a:solidFill>
                <a:latin typeface="Calibri"/>
              </a:rPr>
              <a:t>Glassware, Ceramics &amp; Home Goods' is the single largest cross-sectional cell (</a:t>
            </a:r>
          </a:p>
        </p:txBody>
      </p:sp>
      <p:pic>
        <p:nvPicPr>
          <p:cNvPr id="25" name="Picture 24" descr="lock.png"/>
          <p:cNvPicPr>
            <a:picLocks noChangeAspect="1"/>
          </p:cNvPicPr>
          <p:nvPr/>
        </p:nvPicPr>
        <p:blipFill>
          <a:blip r:embed="rId4"/>
          <a:stretch>
            <a:fillRect/>
          </a:stretch>
        </p:blipFill>
        <p:spPr>
          <a:xfrm>
            <a:off x="4880759" y="4279836"/>
            <a:ext cx="134549" cy="195707"/>
          </a:xfrm>
          <a:prstGeom prst="rect">
            <a:avLst/>
          </a:prstGeom>
        </p:spPr>
      </p:pic>
      <p:sp>
        <p:nvSpPr>
          <p:cNvPr id="26" name="TextBox 25"/>
          <p:cNvSpPr txBox="1"/>
          <p:nvPr/>
        </p:nvSpPr>
        <p:spPr>
          <a:xfrm>
            <a:off x="5055869" y="4290060"/>
            <a:ext cx="6109872" cy="194310"/>
          </a:xfrm>
          <a:prstGeom prst="rect">
            <a:avLst/>
          </a:prstGeom>
          <a:noFill/>
        </p:spPr>
        <p:txBody>
          <a:bodyPr wrap="none" lIns="0" tIns="0" rIns="0" bIns="0">
            <a:spAutoFit/>
          </a:bodyPr>
          <a:lstStyle/>
          <a:p>
            <a:r>
              <a:rPr sz="1150" b="0">
                <a:solidFill>
                  <a:srgbClr val="2E2E2E"/>
                </a:solidFill>
                <a:latin typeface="Calibri"/>
              </a:rPr>
              <a:t>US$ Mn, 2026E), while '6 to 12 Cells × Electronics &amp; Electrical' records the fastest growth at a CAGR of</a:t>
            </a:r>
          </a:p>
        </p:txBody>
      </p:sp>
      <p:pic>
        <p:nvPicPr>
          <p:cNvPr id="27" name="Picture 26" descr="lock.png"/>
          <p:cNvPicPr>
            <a:picLocks noChangeAspect="1"/>
          </p:cNvPicPr>
          <p:nvPr/>
        </p:nvPicPr>
        <p:blipFill>
          <a:blip r:embed="rId4"/>
          <a:stretch>
            <a:fillRect/>
          </a:stretch>
        </p:blipFill>
        <p:spPr>
          <a:xfrm>
            <a:off x="11114895" y="4279836"/>
            <a:ext cx="134549" cy="195707"/>
          </a:xfrm>
          <a:prstGeom prst="rect">
            <a:avLst/>
          </a:prstGeom>
        </p:spPr>
      </p:pic>
      <p:sp>
        <p:nvSpPr>
          <p:cNvPr id="28" name="TextBox 27"/>
          <p:cNvSpPr txBox="1"/>
          <p:nvPr/>
        </p:nvSpPr>
        <p:spPr>
          <a:xfrm>
            <a:off x="11290005" y="4290060"/>
            <a:ext cx="342912" cy="194310"/>
          </a:xfrm>
          <a:prstGeom prst="rect">
            <a:avLst/>
          </a:prstGeom>
          <a:noFill/>
        </p:spPr>
        <p:txBody>
          <a:bodyPr wrap="none" lIns="0" tIns="0" rIns="0" bIns="0">
            <a:spAutoFit/>
          </a:bodyPr>
          <a:lstStyle/>
          <a:p>
            <a:r>
              <a:rPr sz="1150" b="0">
                <a:solidFill>
                  <a:srgbClr val="2E2E2E"/>
                </a:solidFill>
                <a:latin typeface="Calibri"/>
              </a:rPr>
              <a:t>over</a:t>
            </a:r>
          </a:p>
        </p:txBody>
      </p:sp>
      <p:sp>
        <p:nvSpPr>
          <p:cNvPr id="29" name="TextBox 28"/>
          <p:cNvSpPr txBox="1"/>
          <p:nvPr/>
        </p:nvSpPr>
        <p:spPr>
          <a:xfrm>
            <a:off x="276225" y="4465320"/>
            <a:ext cx="917199" cy="194310"/>
          </a:xfrm>
          <a:prstGeom prst="rect">
            <a:avLst/>
          </a:prstGeom>
          <a:noFill/>
        </p:spPr>
        <p:txBody>
          <a:bodyPr wrap="none" lIns="0" tIns="0" rIns="0" bIns="0">
            <a:spAutoFit/>
          </a:bodyPr>
          <a:lstStyle/>
          <a:p>
            <a:r>
              <a:rPr sz="1150" b="0">
                <a:solidFill>
                  <a:srgbClr val="2E2E2E"/>
                </a:solidFill>
                <a:latin typeface="Calibri"/>
              </a:rPr>
              <a:t>2026E–2036F.</a:t>
            </a:r>
          </a:p>
        </p:txBody>
      </p:sp>
      <p:sp>
        <p:nvSpPr>
          <p:cNvPr id="30" name="TextBox 29"/>
          <p:cNvSpPr txBox="1"/>
          <p:nvPr/>
        </p:nvSpPr>
        <p:spPr>
          <a:xfrm>
            <a:off x="276225" y="4693157"/>
            <a:ext cx="5802957" cy="194310"/>
          </a:xfrm>
          <a:prstGeom prst="rect">
            <a:avLst/>
          </a:prstGeom>
          <a:noFill/>
        </p:spPr>
        <p:txBody>
          <a:bodyPr wrap="none" lIns="0" tIns="0" rIns="0" bIns="0">
            <a:spAutoFit/>
          </a:bodyPr>
          <a:lstStyle/>
          <a:p>
            <a:r>
              <a:rPr sz="1150" b="0">
                <a:solidFill>
                  <a:srgbClr val="2E2E2E"/>
                </a:solidFill>
                <a:latin typeface="Calibri"/>
              </a:rPr>
              <a:t>Combined, the top three cell configuration × end use cells generate an absolute $ opportunity of</a:t>
            </a:r>
          </a:p>
        </p:txBody>
      </p:sp>
      <p:pic>
        <p:nvPicPr>
          <p:cNvPr id="31" name="Picture 30" descr="lock.png"/>
          <p:cNvPicPr>
            <a:picLocks noChangeAspect="1"/>
          </p:cNvPicPr>
          <p:nvPr/>
        </p:nvPicPr>
        <p:blipFill>
          <a:blip r:embed="rId4"/>
          <a:stretch>
            <a:fillRect/>
          </a:stretch>
        </p:blipFill>
        <p:spPr>
          <a:xfrm>
            <a:off x="6028336" y="4682934"/>
            <a:ext cx="134549" cy="195707"/>
          </a:xfrm>
          <a:prstGeom prst="rect">
            <a:avLst/>
          </a:prstGeom>
        </p:spPr>
      </p:pic>
      <p:sp>
        <p:nvSpPr>
          <p:cNvPr id="32" name="TextBox 31"/>
          <p:cNvSpPr txBox="1"/>
          <p:nvPr/>
        </p:nvSpPr>
        <p:spPr>
          <a:xfrm>
            <a:off x="6203445" y="4693157"/>
            <a:ext cx="1155386" cy="194310"/>
          </a:xfrm>
          <a:prstGeom prst="rect">
            <a:avLst/>
          </a:prstGeom>
          <a:noFill/>
        </p:spPr>
        <p:txBody>
          <a:bodyPr wrap="none" lIns="0" tIns="0" rIns="0" bIns="0">
            <a:spAutoFit/>
          </a:bodyPr>
          <a:lstStyle/>
          <a:p>
            <a:r>
              <a:rPr sz="1150" b="0">
                <a:solidFill>
                  <a:srgbClr val="2E2E2E"/>
                </a:solidFill>
                <a:latin typeface="Calibri"/>
              </a:rPr>
              <a:t>US$ Mn by 2036F.</a:t>
            </a:r>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Market Share Analysis: Cell Configuration × End Use, 2026E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 share of U.S. market value, each row split across all end use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U.S. Value Share, Cell Configuration × End Use, 2026E (% of each row)</a:t>
            </a:r>
          </a:p>
        </p:txBody>
      </p:sp>
      <p:graphicFrame>
        <p:nvGraphicFramePr>
          <p:cNvPr id="13" name="Table 12"/>
          <p:cNvGraphicFramePr>
            <a:graphicFrameLocks noGrp="1"/>
          </p:cNvGraphicFramePr>
          <p:nvPr/>
        </p:nvGraphicFramePr>
        <p:xfrm>
          <a:off x="152400" y="1238250"/>
          <a:ext cx="11887201" cy="1676402"/>
        </p:xfrm>
        <a:graphic>
          <a:graphicData uri="http://schemas.openxmlformats.org/drawingml/2006/table">
            <a:tbl>
              <a:tblPr>
                <a:tableStyleId>{5C22544A-7EE6-4342-B048-85BDC9FD1C3A}</a:tableStyleId>
              </a:tblPr>
              <a:tblGrid>
                <a:gridCol w="1140022">
                  <a:extLst>
                    <a:ext uri="{9D8B030D-6E8A-4147-A177-3AD203B41FA5}">
                      <a16:colId xmlns:a16="http://schemas.microsoft.com/office/drawing/2014/main" val="20000"/>
                    </a:ext>
                  </a:extLst>
                </a:gridCol>
                <a:gridCol w="1042838">
                  <a:extLst>
                    <a:ext uri="{9D8B030D-6E8A-4147-A177-3AD203B41FA5}">
                      <a16:colId xmlns:a16="http://schemas.microsoft.com/office/drawing/2014/main" val="20001"/>
                    </a:ext>
                  </a:extLst>
                </a:gridCol>
                <a:gridCol w="1753436">
                  <a:extLst>
                    <a:ext uri="{9D8B030D-6E8A-4147-A177-3AD203B41FA5}">
                      <a16:colId xmlns:a16="http://schemas.microsoft.com/office/drawing/2014/main" val="20002"/>
                    </a:ext>
                  </a:extLst>
                </a:gridCol>
                <a:gridCol w="1511227">
                  <a:extLst>
                    <a:ext uri="{9D8B030D-6E8A-4147-A177-3AD203B41FA5}">
                      <a16:colId xmlns:a16="http://schemas.microsoft.com/office/drawing/2014/main" val="20003"/>
                    </a:ext>
                  </a:extLst>
                </a:gridCol>
                <a:gridCol w="1326759">
                  <a:extLst>
                    <a:ext uri="{9D8B030D-6E8A-4147-A177-3AD203B41FA5}">
                      <a16:colId xmlns:a16="http://schemas.microsoft.com/office/drawing/2014/main" val="20004"/>
                    </a:ext>
                  </a:extLst>
                </a:gridCol>
                <a:gridCol w="2068759">
                  <a:extLst>
                    <a:ext uri="{9D8B030D-6E8A-4147-A177-3AD203B41FA5}">
                      <a16:colId xmlns:a16="http://schemas.microsoft.com/office/drawing/2014/main" val="20005"/>
                    </a:ext>
                  </a:extLst>
                </a:gridCol>
                <a:gridCol w="1985980">
                  <a:extLst>
                    <a:ext uri="{9D8B030D-6E8A-4147-A177-3AD203B41FA5}">
                      <a16:colId xmlns:a16="http://schemas.microsoft.com/office/drawing/2014/main" val="20006"/>
                    </a:ext>
                  </a:extLst>
                </a:gridCol>
                <a:gridCol w="514374">
                  <a:extLst>
                    <a:ext uri="{9D8B030D-6E8A-4147-A177-3AD203B41FA5}">
                      <a16:colId xmlns:a16="http://schemas.microsoft.com/office/drawing/2014/main" val="20007"/>
                    </a:ext>
                  </a:extLst>
                </a:gridCol>
                <a:gridCol w="543806">
                  <a:extLst>
                    <a:ext uri="{9D8B030D-6E8A-4147-A177-3AD203B41FA5}">
                      <a16:colId xmlns:a16="http://schemas.microsoft.com/office/drawing/2014/main" val="20008"/>
                    </a:ext>
                  </a:extLst>
                </a:gridCol>
              </a:tblGrid>
              <a:tr h="438912">
                <a:tc>
                  <a:txBody>
                    <a:bodyPr/>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Pharmaceuticals &amp; Healthcare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Personal Care &amp; Cosmetics</a:t>
                      </a:r>
                      <a:endParaRPr sz="1100"/>
                    </a:p>
                  </a:txBody>
                  <a:tcPr marL="47625" marR="38100" marT="19050" marB="19050" anchor="ctr">
                    <a:solidFill>
                      <a:srgbClr val="E0E8EF"/>
                    </a:solidFill>
                  </a:tcPr>
                </a:tc>
                <a:tc>
                  <a:txBody>
                    <a:bodyPr/>
                    <a:lstStyle/>
                    <a:p>
                      <a:pPr algn="ctr"/>
                      <a:r>
                        <a:rPr sz="1100" b="1">
                          <a:solidFill>
                            <a:srgbClr val="0B2E4A"/>
                          </a:solidFill>
                          <a:latin typeface="Calibri"/>
                        </a:rPr>
                        <a:t>Electronics &amp; Electrical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Automotive &amp; Industrial Components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Glassware, Ceramics &amp; Home Goods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498">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247498">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247498">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247498">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247498">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5"/>
                  </a:ext>
                </a:extLst>
              </a:tr>
            </a:tbl>
          </a:graphicData>
        </a:graphic>
      </p:graphicFrame>
      <p:sp>
        <p:nvSpPr>
          <p:cNvPr id="14" name="TextBox 13"/>
          <p:cNvSpPr txBox="1"/>
          <p:nvPr/>
        </p:nvSpPr>
        <p:spPr>
          <a:xfrm>
            <a:off x="219075" y="29241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7286625"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314700"/>
            <a:ext cx="7096125"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End Use Mix by Cell Configuration, 2026E (% share)</a:t>
            </a:r>
          </a:p>
        </p:txBody>
      </p:sp>
      <p:graphicFrame>
        <p:nvGraphicFramePr>
          <p:cNvPr id="17" name="Chart 16"/>
          <p:cNvGraphicFramePr>
            <a:graphicFrameLocks noGrp="1"/>
          </p:cNvGraphicFramePr>
          <p:nvPr/>
        </p:nvGraphicFramePr>
        <p:xfrm>
          <a:off x="238125" y="3543300"/>
          <a:ext cx="7096125" cy="3028950"/>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a:xfrm>
            <a:off x="7581900" y="3257550"/>
            <a:ext cx="445770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715250" y="3343275"/>
            <a:ext cx="4191000" cy="209550"/>
          </a:xfrm>
          <a:prstGeom prst="rect">
            <a:avLst/>
          </a:prstGeom>
          <a:noFill/>
        </p:spPr>
        <p:txBody>
          <a:bodyPr wrap="square" lIns="0" tIns="9525" rIns="19050" bIns="9525">
            <a:spAutoFit/>
          </a:bodyPr>
          <a:lstStyle/>
          <a:p>
            <a:pPr algn="l"/>
            <a:r>
              <a:rPr sz="1300" b="1">
                <a:solidFill>
                  <a:srgbClr val="0B2E4A"/>
                </a:solidFill>
                <a:latin typeface="Calibri"/>
              </a:rPr>
              <a:t>Share Insights</a:t>
            </a:r>
          </a:p>
        </p:txBody>
      </p:sp>
      <p:sp>
        <p:nvSpPr>
          <p:cNvPr id="20" name="Rectangle 19"/>
          <p:cNvSpPr/>
          <p:nvPr/>
        </p:nvSpPr>
        <p:spPr>
          <a:xfrm>
            <a:off x="7715250" y="35814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7715250" y="3667125"/>
            <a:ext cx="4191000" cy="288607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2" name="TextBox 2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79321" y="2029206"/>
            <a:ext cx="366712" cy="533400"/>
          </a:xfrm>
          <a:prstGeom prst="rect">
            <a:avLst/>
          </a:prstGeom>
        </p:spPr>
      </p:pic>
      <p:pic>
        <p:nvPicPr>
          <p:cNvPr id="24" name="Picture 23" descr="lock.png"/>
          <p:cNvPicPr>
            <a:picLocks noChangeAspect="1"/>
          </p:cNvPicPr>
          <p:nvPr/>
        </p:nvPicPr>
        <p:blipFill>
          <a:blip r:embed="rId5"/>
          <a:stretch>
            <a:fillRect/>
          </a:stretch>
        </p:blipFill>
        <p:spPr>
          <a:xfrm>
            <a:off x="3737844" y="4194492"/>
            <a:ext cx="384961" cy="559943"/>
          </a:xfrm>
          <a:prstGeom prst="rect">
            <a:avLst/>
          </a:prstGeom>
        </p:spPr>
      </p:pic>
      <p:sp>
        <p:nvSpPr>
          <p:cNvPr id="25" name="TextBox 24"/>
          <p:cNvSpPr txBox="1"/>
          <p:nvPr/>
        </p:nvSpPr>
        <p:spPr>
          <a:xfrm>
            <a:off x="7715250" y="3676650"/>
            <a:ext cx="4171950" cy="194310"/>
          </a:xfrm>
          <a:prstGeom prst="rect">
            <a:avLst/>
          </a:prstGeom>
          <a:noFill/>
        </p:spPr>
        <p:txBody>
          <a:bodyPr wrap="none" lIns="0" tIns="0" rIns="0" bIns="0">
            <a:spAutoFit/>
          </a:bodyPr>
          <a:lstStyle/>
          <a:p>
            <a:r>
              <a:rPr sz="1150" b="0">
                <a:solidFill>
                  <a:srgbClr val="2E2E2E"/>
                </a:solidFill>
                <a:latin typeface="Calibri"/>
              </a:rPr>
              <a:t>▪ 'Glassware, Ceramics &amp; Home Goods' holds the highest share of 'Up</a:t>
            </a:r>
          </a:p>
        </p:txBody>
      </p:sp>
      <p:sp>
        <p:nvSpPr>
          <p:cNvPr id="26" name="TextBox 25"/>
          <p:cNvSpPr txBox="1"/>
          <p:nvPr/>
        </p:nvSpPr>
        <p:spPr>
          <a:xfrm>
            <a:off x="7715250" y="3851910"/>
            <a:ext cx="801885" cy="194310"/>
          </a:xfrm>
          <a:prstGeom prst="rect">
            <a:avLst/>
          </a:prstGeom>
          <a:noFill/>
        </p:spPr>
        <p:txBody>
          <a:bodyPr wrap="none" lIns="0" tIns="0" rIns="0" bIns="0">
            <a:spAutoFit/>
          </a:bodyPr>
          <a:lstStyle/>
          <a:p>
            <a:r>
              <a:rPr sz="1150" b="0">
                <a:solidFill>
                  <a:srgbClr val="2E2E2E"/>
                </a:solidFill>
                <a:latin typeface="Calibri"/>
              </a:rPr>
              <a:t>to 4 Cells' at</a:t>
            </a:r>
          </a:p>
        </p:txBody>
      </p:sp>
      <p:pic>
        <p:nvPicPr>
          <p:cNvPr id="27" name="Picture 26" descr="lock.png"/>
          <p:cNvPicPr>
            <a:picLocks noChangeAspect="1"/>
          </p:cNvPicPr>
          <p:nvPr/>
        </p:nvPicPr>
        <p:blipFill>
          <a:blip r:embed="rId5"/>
          <a:stretch>
            <a:fillRect/>
          </a:stretch>
        </p:blipFill>
        <p:spPr>
          <a:xfrm>
            <a:off x="8466289" y="3841686"/>
            <a:ext cx="134549" cy="195707"/>
          </a:xfrm>
          <a:prstGeom prst="rect">
            <a:avLst/>
          </a:prstGeom>
        </p:spPr>
      </p:pic>
      <p:sp>
        <p:nvSpPr>
          <p:cNvPr id="28" name="TextBox 27"/>
          <p:cNvSpPr txBox="1"/>
          <p:nvPr/>
        </p:nvSpPr>
        <p:spPr>
          <a:xfrm>
            <a:off x="8641399" y="3851910"/>
            <a:ext cx="569404" cy="194310"/>
          </a:xfrm>
          <a:prstGeom prst="rect">
            <a:avLst/>
          </a:prstGeom>
          <a:noFill/>
        </p:spPr>
        <p:txBody>
          <a:bodyPr wrap="none" lIns="0" tIns="0" rIns="0" bIns="0">
            <a:spAutoFit/>
          </a:bodyPr>
          <a:lstStyle/>
          <a:p>
            <a:r>
              <a:rPr sz="1150" b="0">
                <a:solidFill>
                  <a:srgbClr val="2E2E2E"/>
                </a:solidFill>
                <a:latin typeface="Calibri"/>
              </a:rPr>
              <a:t>(2026E).</a:t>
            </a:r>
          </a:p>
        </p:txBody>
      </p:sp>
      <p:sp>
        <p:nvSpPr>
          <p:cNvPr id="29" name="TextBox 28"/>
          <p:cNvSpPr txBox="1"/>
          <p:nvPr/>
        </p:nvSpPr>
        <p:spPr>
          <a:xfrm>
            <a:off x="7715250" y="4079747"/>
            <a:ext cx="3552304" cy="194310"/>
          </a:xfrm>
          <a:prstGeom prst="rect">
            <a:avLst/>
          </a:prstGeom>
          <a:noFill/>
        </p:spPr>
        <p:txBody>
          <a:bodyPr wrap="none" lIns="0" tIns="0" rIns="0" bIns="0">
            <a:spAutoFit/>
          </a:bodyPr>
          <a:lstStyle/>
          <a:p>
            <a:r>
              <a:rPr sz="1150" b="0">
                <a:solidFill>
                  <a:srgbClr val="2E2E2E"/>
                </a:solidFill>
                <a:latin typeface="Calibri"/>
              </a:rPr>
              <a:t>▪ 'Up to 4 Cells' is the most concentrated cell configuration</a:t>
            </a:r>
          </a:p>
        </p:txBody>
      </p:sp>
      <p:sp>
        <p:nvSpPr>
          <p:cNvPr id="30" name="TextBox 29"/>
          <p:cNvSpPr txBox="1"/>
          <p:nvPr/>
        </p:nvSpPr>
        <p:spPr>
          <a:xfrm>
            <a:off x="7715250" y="4255007"/>
            <a:ext cx="1178706" cy="194310"/>
          </a:xfrm>
          <a:prstGeom prst="rect">
            <a:avLst/>
          </a:prstGeom>
          <a:noFill/>
        </p:spPr>
        <p:txBody>
          <a:bodyPr wrap="none" lIns="0" tIns="0" r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244784"/>
            <a:ext cx="134549" cy="195707"/>
          </a:xfrm>
          <a:prstGeom prst="rect">
            <a:avLst/>
          </a:prstGeom>
        </p:spPr>
      </p:pic>
      <p:sp>
        <p:nvSpPr>
          <p:cNvPr id="32" name="TextBox 31"/>
          <p:cNvSpPr txBox="1"/>
          <p:nvPr/>
        </p:nvSpPr>
        <p:spPr>
          <a:xfrm>
            <a:off x="9018219" y="4255007"/>
            <a:ext cx="2731913" cy="194310"/>
          </a:xfrm>
          <a:prstGeom prst="rect">
            <a:avLst/>
          </a:prstGeom>
          <a:noFill/>
        </p:spPr>
        <p:txBody>
          <a:bodyPr wrap="none" lIns="0" tIns="0" rIns="0" bIns="0">
            <a:spAutoFit/>
          </a:bodyPr>
          <a:lstStyle/>
          <a:p>
            <a:r>
              <a:rPr sz="1150" b="0">
                <a:solidFill>
                  <a:srgbClr val="2E2E2E"/>
                </a:solidFill>
                <a:latin typeface="Calibri"/>
              </a:rPr>
              <a:t>of its value via 'Glassware, Ceramics &amp; Home</a:t>
            </a:r>
          </a:p>
        </p:txBody>
      </p:sp>
      <p:sp>
        <p:nvSpPr>
          <p:cNvPr id="33" name="TextBox 32"/>
          <p:cNvSpPr txBox="1"/>
          <p:nvPr/>
        </p:nvSpPr>
        <p:spPr>
          <a:xfrm>
            <a:off x="7715250" y="4430267"/>
            <a:ext cx="525189" cy="194310"/>
          </a:xfrm>
          <a:prstGeom prst="rect">
            <a:avLst/>
          </a:prstGeom>
          <a:noFill/>
        </p:spPr>
        <p:txBody>
          <a:bodyPr wrap="none" lIns="0" tIns="0" rIns="0" bIns="0">
            <a:spAutoFit/>
          </a:bodyPr>
          <a:lstStyle/>
          <a:p>
            <a:r>
              <a:rPr sz="1150" b="0">
                <a:solidFill>
                  <a:srgbClr val="2E2E2E"/>
                </a:solidFill>
                <a:latin typeface="Calibri"/>
              </a:rPr>
              <a:t>Goods'.</a:t>
            </a:r>
          </a:p>
        </p:txBody>
      </p:sp>
      <p:sp>
        <p:nvSpPr>
          <p:cNvPr id="34" name="TextBox 33"/>
          <p:cNvSpPr txBox="1"/>
          <p:nvPr/>
        </p:nvSpPr>
        <p:spPr>
          <a:xfrm>
            <a:off x="7715250" y="4658105"/>
            <a:ext cx="2021061" cy="194310"/>
          </a:xfrm>
          <a:prstGeom prst="rect">
            <a:avLst/>
          </a:prstGeom>
          <a:noFill/>
        </p:spPr>
        <p:txBody>
          <a:bodyPr wrap="none" lIns="0" tIns="0" rIns="0" bIns="0">
            <a:spAutoFit/>
          </a:bodyPr>
          <a:lstStyle/>
          <a:p>
            <a:r>
              <a:rPr sz="1150" b="0">
                <a:solidFill>
                  <a:srgbClr val="2E2E2E"/>
                </a:solidFill>
                <a:latin typeface="Calibri"/>
              </a:rPr>
              <a:t>▪ 'Electronics &amp; Electrical' gains +</a:t>
            </a:r>
          </a:p>
        </p:txBody>
      </p:sp>
      <p:pic>
        <p:nvPicPr>
          <p:cNvPr id="35" name="Picture 34" descr="lock.png"/>
          <p:cNvPicPr>
            <a:picLocks noChangeAspect="1"/>
          </p:cNvPicPr>
          <p:nvPr/>
        </p:nvPicPr>
        <p:blipFill>
          <a:blip r:embed="rId5"/>
          <a:stretch>
            <a:fillRect/>
          </a:stretch>
        </p:blipFill>
        <p:spPr>
          <a:xfrm>
            <a:off x="9685465" y="4647882"/>
            <a:ext cx="134549" cy="195707"/>
          </a:xfrm>
          <a:prstGeom prst="rect">
            <a:avLst/>
          </a:prstGeom>
        </p:spPr>
      </p:pic>
      <p:sp>
        <p:nvSpPr>
          <p:cNvPr id="36" name="TextBox 35"/>
          <p:cNvSpPr txBox="1"/>
          <p:nvPr/>
        </p:nvSpPr>
        <p:spPr>
          <a:xfrm>
            <a:off x="9860574" y="4658105"/>
            <a:ext cx="1467383" cy="194310"/>
          </a:xfrm>
          <a:prstGeom prst="rect">
            <a:avLst/>
          </a:prstGeom>
          <a:noFill/>
        </p:spPr>
        <p:txBody>
          <a:bodyPr wrap="none" lIns="0" tIns="0" rIns="0" bIns="0">
            <a:spAutoFit/>
          </a:bodyPr>
          <a:lstStyle/>
          <a:p>
            <a:r>
              <a:rPr sz="1150" b="0">
                <a:solidFill>
                  <a:srgbClr val="2E2E2E"/>
                </a:solidFill>
                <a:latin typeface="Calibri"/>
              </a:rPr>
              <a:t>BPS of share of the U.S.</a:t>
            </a:r>
          </a:p>
        </p:txBody>
      </p:sp>
      <p:sp>
        <p:nvSpPr>
          <p:cNvPr id="37" name="TextBox 36"/>
          <p:cNvSpPr txBox="1"/>
          <p:nvPr/>
        </p:nvSpPr>
        <p:spPr>
          <a:xfrm>
            <a:off x="7715250" y="4833365"/>
            <a:ext cx="1462605" cy="194310"/>
          </a:xfrm>
          <a:prstGeom prst="rect">
            <a:avLst/>
          </a:prstGeom>
          <a:noFill/>
        </p:spPr>
        <p:txBody>
          <a:bodyPr wrap="none" lIns="0" tIns="0" rIns="0" bIns="0">
            <a:spAutoFit/>
          </a:bodyPr>
          <a:lstStyle/>
          <a:p>
            <a:r>
              <a:rPr sz="1150" b="0">
                <a:solidFill>
                  <a:srgbClr val="2E2E2E"/>
                </a:solidFill>
                <a:latin typeface="Calibri"/>
              </a:rPr>
              <a:t>cross-section by 2036F.</a:t>
            </a:r>
          </a:p>
        </p:txBody>
      </p:sp>
      <p:sp>
        <p:nvSpPr>
          <p:cNvPr id="38" name="lockshield_17"/>
          <p:cNvSpPr/>
          <p:nvPr/>
        </p:nvSpPr>
        <p:spPr>
          <a:xfrm>
            <a:off x="238125" y="3543300"/>
            <a:ext cx="7096125" cy="30289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U.S. Absolute $ Opportunity &amp; Attractiveness: Cell Configuration × End Use, 2026E–2036F</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U.S.</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Incremental $ Opportunity (US$ Mn) and Value CAGR, Cell Configuration × End Use, 2026E–2036F</a:t>
            </a:r>
          </a:p>
        </p:txBody>
      </p:sp>
      <p:graphicFrame>
        <p:nvGraphicFramePr>
          <p:cNvPr id="13" name="Table 12"/>
          <p:cNvGraphicFramePr>
            <a:graphicFrameLocks noGrp="1"/>
          </p:cNvGraphicFramePr>
          <p:nvPr/>
        </p:nvGraphicFramePr>
        <p:xfrm>
          <a:off x="152400" y="1238250"/>
          <a:ext cx="11887204" cy="2114549"/>
        </p:xfrm>
        <a:graphic>
          <a:graphicData uri="http://schemas.openxmlformats.org/drawingml/2006/table">
            <a:tbl>
              <a:tblPr>
                <a:tableStyleId>{5C22544A-7EE6-4342-B048-85BDC9FD1C3A}</a:tableStyleId>
              </a:tblPr>
              <a:tblGrid>
                <a:gridCol w="1134772">
                  <a:extLst>
                    <a:ext uri="{9D8B030D-6E8A-4147-A177-3AD203B41FA5}">
                      <a16:colId xmlns:a16="http://schemas.microsoft.com/office/drawing/2014/main" val="20000"/>
                    </a:ext>
                  </a:extLst>
                </a:gridCol>
                <a:gridCol w="672027">
                  <a:extLst>
                    <a:ext uri="{9D8B030D-6E8A-4147-A177-3AD203B41FA5}">
                      <a16:colId xmlns:a16="http://schemas.microsoft.com/office/drawing/2014/main" val="20001"/>
                    </a:ext>
                  </a:extLst>
                </a:gridCol>
                <a:gridCol w="672027">
                  <a:extLst>
                    <a:ext uri="{9D8B030D-6E8A-4147-A177-3AD203B41FA5}">
                      <a16:colId xmlns:a16="http://schemas.microsoft.com/office/drawing/2014/main" val="20002"/>
                    </a:ext>
                  </a:extLst>
                </a:gridCol>
                <a:gridCol w="672027">
                  <a:extLst>
                    <a:ext uri="{9D8B030D-6E8A-4147-A177-3AD203B41FA5}">
                      <a16:colId xmlns:a16="http://schemas.microsoft.com/office/drawing/2014/main" val="20003"/>
                    </a:ext>
                  </a:extLst>
                </a:gridCol>
                <a:gridCol w="672027">
                  <a:extLst>
                    <a:ext uri="{9D8B030D-6E8A-4147-A177-3AD203B41FA5}">
                      <a16:colId xmlns:a16="http://schemas.microsoft.com/office/drawing/2014/main" val="20004"/>
                    </a:ext>
                  </a:extLst>
                </a:gridCol>
                <a:gridCol w="672027">
                  <a:extLst>
                    <a:ext uri="{9D8B030D-6E8A-4147-A177-3AD203B41FA5}">
                      <a16:colId xmlns:a16="http://schemas.microsoft.com/office/drawing/2014/main" val="20005"/>
                    </a:ext>
                  </a:extLst>
                </a:gridCol>
                <a:gridCol w="672027">
                  <a:extLst>
                    <a:ext uri="{9D8B030D-6E8A-4147-A177-3AD203B41FA5}">
                      <a16:colId xmlns:a16="http://schemas.microsoft.com/office/drawing/2014/main" val="20006"/>
                    </a:ext>
                  </a:extLst>
                </a:gridCol>
                <a:gridCol w="672027">
                  <a:extLst>
                    <a:ext uri="{9D8B030D-6E8A-4147-A177-3AD203B41FA5}">
                      <a16:colId xmlns:a16="http://schemas.microsoft.com/office/drawing/2014/main" val="20007"/>
                    </a:ext>
                  </a:extLst>
                </a:gridCol>
                <a:gridCol w="672027">
                  <a:extLst>
                    <a:ext uri="{9D8B030D-6E8A-4147-A177-3AD203B41FA5}">
                      <a16:colId xmlns:a16="http://schemas.microsoft.com/office/drawing/2014/main" val="20008"/>
                    </a:ext>
                  </a:extLst>
                </a:gridCol>
                <a:gridCol w="672027">
                  <a:extLst>
                    <a:ext uri="{9D8B030D-6E8A-4147-A177-3AD203B41FA5}">
                      <a16:colId xmlns:a16="http://schemas.microsoft.com/office/drawing/2014/main" val="20009"/>
                    </a:ext>
                  </a:extLst>
                </a:gridCol>
                <a:gridCol w="672027">
                  <a:extLst>
                    <a:ext uri="{9D8B030D-6E8A-4147-A177-3AD203B41FA5}">
                      <a16:colId xmlns:a16="http://schemas.microsoft.com/office/drawing/2014/main" val="20010"/>
                    </a:ext>
                  </a:extLst>
                </a:gridCol>
                <a:gridCol w="672027">
                  <a:extLst>
                    <a:ext uri="{9D8B030D-6E8A-4147-A177-3AD203B41FA5}">
                      <a16:colId xmlns:a16="http://schemas.microsoft.com/office/drawing/2014/main" val="20011"/>
                    </a:ext>
                  </a:extLst>
                </a:gridCol>
                <a:gridCol w="672027">
                  <a:extLst>
                    <a:ext uri="{9D8B030D-6E8A-4147-A177-3AD203B41FA5}">
                      <a16:colId xmlns:a16="http://schemas.microsoft.com/office/drawing/2014/main" val="20012"/>
                    </a:ext>
                  </a:extLst>
                </a:gridCol>
                <a:gridCol w="672027">
                  <a:extLst>
                    <a:ext uri="{9D8B030D-6E8A-4147-A177-3AD203B41FA5}">
                      <a16:colId xmlns:a16="http://schemas.microsoft.com/office/drawing/2014/main" val="20013"/>
                    </a:ext>
                  </a:extLst>
                </a:gridCol>
                <a:gridCol w="672027">
                  <a:extLst>
                    <a:ext uri="{9D8B030D-6E8A-4147-A177-3AD203B41FA5}">
                      <a16:colId xmlns:a16="http://schemas.microsoft.com/office/drawing/2014/main" val="20014"/>
                    </a:ext>
                  </a:extLst>
                </a:gridCol>
                <a:gridCol w="672027">
                  <a:extLst>
                    <a:ext uri="{9D8B030D-6E8A-4147-A177-3AD203B41FA5}">
                      <a16:colId xmlns:a16="http://schemas.microsoft.com/office/drawing/2014/main" val="20015"/>
                    </a:ext>
                  </a:extLst>
                </a:gridCol>
                <a:gridCol w="672027">
                  <a:extLst>
                    <a:ext uri="{9D8B030D-6E8A-4147-A177-3AD203B41FA5}">
                      <a16:colId xmlns:a16="http://schemas.microsoft.com/office/drawing/2014/main" val="20016"/>
                    </a:ext>
                  </a:extLst>
                </a:gridCol>
              </a:tblGrid>
              <a:tr h="631697">
                <a:tc rowSpan="2">
                  <a:txBody>
                    <a:bodyPr/>
                    <a:lstStyle/>
                    <a:p>
                      <a:pPr algn="l"/>
                      <a:r>
                        <a:rPr sz="1100" b="1">
                          <a:solidFill>
                            <a:srgbClr val="0B2E4A"/>
                          </a:solidFill>
                          <a:latin typeface="Calibri"/>
                        </a:rPr>
                        <a:t>Cell</a:t>
                      </a:r>
                      <a:endParaRPr sz="1100"/>
                    </a:p>
                    <a:p>
                      <a:pPr algn="l"/>
                      <a:r>
                        <a:rPr sz="1100" b="1">
                          <a:solidFill>
                            <a:srgbClr val="0B2E4A"/>
                          </a:solidFill>
                          <a:latin typeface="Calibri"/>
                        </a:rPr>
                        <a:t>Configuration</a:t>
                      </a: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Food &amp; Beverage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Pharmaceuticals &amp;</a:t>
                      </a:r>
                      <a:endParaRPr sz="1100"/>
                    </a:p>
                    <a:p>
                      <a:pPr algn="ctr"/>
                      <a:r>
                        <a:rPr sz="1100" b="1">
                          <a:solidFill>
                            <a:srgbClr val="0B2E4A"/>
                          </a:solidFill>
                          <a:latin typeface="Calibri"/>
                        </a:rPr>
                        <a:t>Healthcare</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Personal Care &amp;</a:t>
                      </a:r>
                      <a:endParaRPr sz="1100"/>
                    </a:p>
                    <a:p>
                      <a:pPr algn="ctr"/>
                      <a:r>
                        <a:rPr sz="1100" b="1">
                          <a:solidFill>
                            <a:srgbClr val="0B2E4A"/>
                          </a:solidFill>
                          <a:latin typeface="Calibri"/>
                        </a:rPr>
                        <a:t>Cosmetics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Electronics &amp;</a:t>
                      </a:r>
                      <a:endParaRPr sz="1100"/>
                    </a:p>
                    <a:p>
                      <a:pPr algn="ctr"/>
                      <a:r>
                        <a:rPr sz="1100" b="1">
                          <a:solidFill>
                            <a:srgbClr val="0B2E4A"/>
                          </a:solidFill>
                          <a:latin typeface="Calibri"/>
                        </a:rPr>
                        <a:t>Electrical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Automotive &amp;</a:t>
                      </a:r>
                      <a:endParaRPr sz="1100"/>
                    </a:p>
                    <a:p>
                      <a:pPr algn="ctr"/>
                      <a:r>
                        <a:rPr sz="1100" b="1">
                          <a:solidFill>
                            <a:srgbClr val="0B2E4A"/>
                          </a:solidFill>
                          <a:latin typeface="Calibri"/>
                        </a:rPr>
                        <a:t>Industrial</a:t>
                      </a:r>
                      <a:endParaRPr sz="1100"/>
                    </a:p>
                    <a:p>
                      <a:pPr algn="ctr"/>
                      <a:r>
                        <a:rPr sz="1100" b="1">
                          <a:solidFill>
                            <a:srgbClr val="0B2E4A"/>
                          </a:solidFill>
                          <a:latin typeface="Calibri"/>
                        </a:rPr>
                        <a:t>Components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Glassware, Ceramics</a:t>
                      </a:r>
                      <a:endParaRPr sz="1100"/>
                    </a:p>
                    <a:p>
                      <a:pPr algn="ctr"/>
                      <a:r>
                        <a:rPr sz="1100" b="1">
                          <a:solidFill>
                            <a:srgbClr val="0B2E4A"/>
                          </a:solidFill>
                          <a:latin typeface="Calibri"/>
                        </a:rPr>
                        <a:t>&amp; Home Goods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Others</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tc gridSpan="2">
                  <a:txBody>
                    <a:bodyPr/>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a:lstStyle/>
                    <a:p>
                      <a:pPr algn="ct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7142">
                <a:tc vMerge="1">
                  <a:txBody>
                    <a:bodyPr/>
                    <a:lstStyle/>
                    <a:p>
                      <a:pPr algn="l"/>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CAGR</a:t>
                      </a:r>
                      <a:endParaRPr sz="1100"/>
                    </a:p>
                  </a:txBody>
                  <a:tcPr marL="47625" marR="38100" marT="19050" marB="19050" anchor="ctr">
                    <a:solidFill>
                      <a:srgbClr val="E0E8EF"/>
                    </a:solidFill>
                  </a:tcPr>
                </a:tc>
                <a:extLst>
                  <a:ext uri="{0D108BD9-81ED-4DB2-BD59-A6C34878D82A}">
                    <a16:rowId xmlns:a16="http://schemas.microsoft.com/office/drawing/2014/main" val="10001"/>
                  </a:ext>
                </a:extLst>
              </a:tr>
              <a:tr h="247142">
                <a:tc>
                  <a:txBody>
                    <a:bodyPr/>
                    <a:lstStyle/>
                    <a:p>
                      <a:pPr algn="l"/>
                      <a:r>
                        <a:rPr sz="1100" b="1">
                          <a:solidFill>
                            <a:srgbClr val="2E2E2E"/>
                          </a:solidFill>
                          <a:latin typeface="Calibri"/>
                        </a:rPr>
                        <a:t>Up to 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2"/>
                  </a:ext>
                </a:extLst>
              </a:tr>
              <a:tr h="247142">
                <a:tc>
                  <a:txBody>
                    <a:bodyPr/>
                    <a:lstStyle/>
                    <a:p>
                      <a:pPr algn="l"/>
                      <a:r>
                        <a:rPr sz="1100" b="1">
                          <a:solidFill>
                            <a:srgbClr val="2E2E2E"/>
                          </a:solidFill>
                          <a:latin typeface="Calibri"/>
                        </a:rPr>
                        <a:t>6 to 12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3"/>
                  </a:ext>
                </a:extLst>
              </a:tr>
              <a:tr h="247142">
                <a:tc>
                  <a:txBody>
                    <a:bodyPr/>
                    <a:lstStyle/>
                    <a:p>
                      <a:pPr algn="l"/>
                      <a:r>
                        <a:rPr sz="1100" b="1">
                          <a:solidFill>
                            <a:srgbClr val="2E2E2E"/>
                          </a:solidFill>
                          <a:latin typeface="Calibri"/>
                        </a:rPr>
                        <a:t>13 to 24 Cells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4"/>
                  </a:ext>
                </a:extLst>
              </a:tr>
              <a:tr h="247142">
                <a:tc>
                  <a:txBody>
                    <a:bodyPr/>
                    <a:lstStyle/>
                    <a:p>
                      <a:pPr algn="l"/>
                      <a:r>
                        <a:rPr sz="1100" b="1">
                          <a:solidFill>
                            <a:srgbClr val="2E2E2E"/>
                          </a:solidFill>
                          <a:latin typeface="Calibri"/>
                        </a:rPr>
                        <a:t>Above 24 Cells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5"/>
                  </a:ext>
                </a:extLst>
              </a:tr>
              <a:tr h="247142">
                <a:tc>
                  <a:txBody>
                    <a:bodyPr/>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tc>
                  <a:txBody>
                    <a:bodyPr/>
                    <a:lstStyle/>
                    <a:p>
                      <a:pPr algn="ctr"/>
                      <a:r>
                        <a:rPr sz="1100"/>
                        <a:t> </a:t>
                      </a:r>
                    </a:p>
                  </a:txBody>
                  <a:tcPr marL="47625" marR="38100" marT="19050" marB="19050" anchor="ctr">
                    <a:solidFill>
                      <a:srgbClr val="E0E8EF"/>
                    </a:solidFill>
                  </a:tcPr>
                </a:tc>
                <a:extLst>
                  <a:ext uri="{0D108BD9-81ED-4DB2-BD59-A6C34878D82A}">
                    <a16:rowId xmlns:a16="http://schemas.microsoft.com/office/drawing/2014/main" val="10006"/>
                  </a:ext>
                </a:extLst>
              </a:tr>
            </a:tbl>
          </a:graphicData>
        </a:graphic>
      </p:graphicFrame>
      <p:sp>
        <p:nvSpPr>
          <p:cNvPr id="14" name="TextBox 13"/>
          <p:cNvSpPr txBox="1"/>
          <p:nvPr/>
        </p:nvSpPr>
        <p:spPr>
          <a:xfrm>
            <a:off x="219075" y="336232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5600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3781425"/>
            <a:ext cx="5334000" cy="209550"/>
          </a:xfrm>
          <a:prstGeom prst="rect">
            <a:avLst/>
          </a:prstGeom>
          <a:noFill/>
        </p:spPr>
        <p:txBody>
          <a:bodyPr wrap="square" lIns="0" tIns="9525" rIns="19050"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40195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105275"/>
            <a:ext cx="533400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5895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029325" y="3781425"/>
            <a:ext cx="1676400" cy="209550"/>
          </a:xfrm>
          <a:prstGeom prst="rect">
            <a:avLst/>
          </a:prstGeom>
          <a:noFill/>
        </p:spPr>
        <p:txBody>
          <a:bodyPr wrap="square" lIns="0" tIns="9525" rIns="19050" bIns="9525">
            <a:spAutoFit/>
          </a:bodyPr>
          <a:lstStyle/>
          <a:p>
            <a:pPr algn="l"/>
            <a:r>
              <a:rPr sz="1300" b="1">
                <a:solidFill>
                  <a:srgbClr val="0B2E4A"/>
                </a:solidFill>
                <a:latin typeface="Calibri"/>
              </a:rPr>
              <a:t>Largest Pool</a:t>
            </a:r>
          </a:p>
        </p:txBody>
      </p:sp>
      <p:sp>
        <p:nvSpPr>
          <p:cNvPr id="21" name="Rectangle 20"/>
          <p:cNvSpPr/>
          <p:nvPr/>
        </p:nvSpPr>
        <p:spPr>
          <a:xfrm>
            <a:off x="6029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029325" y="4105275"/>
            <a:ext cx="167640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3" name="Rounded Rectangle 22"/>
          <p:cNvSpPr/>
          <p:nvPr/>
        </p:nvSpPr>
        <p:spPr>
          <a:xfrm>
            <a:off x="79914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8124825" y="3781425"/>
            <a:ext cx="1676400" cy="209550"/>
          </a:xfrm>
          <a:prstGeom prst="rect">
            <a:avLst/>
          </a:prstGeom>
          <a:noFill/>
        </p:spPr>
        <p:txBody>
          <a:bodyPr wrap="square" lIns="0" tIns="9525" rIns="19050" bIns="9525">
            <a:spAutoFit/>
          </a:bodyPr>
          <a:lstStyle/>
          <a:p>
            <a:pPr algn="l"/>
            <a:r>
              <a:rPr sz="1300" b="1">
                <a:solidFill>
                  <a:srgbClr val="0B2E4A"/>
                </a:solidFill>
                <a:latin typeface="Calibri"/>
              </a:rPr>
              <a:t>Fastest Growth</a:t>
            </a:r>
          </a:p>
        </p:txBody>
      </p:sp>
      <p:sp>
        <p:nvSpPr>
          <p:cNvPr id="25" name="Rectangle 24"/>
          <p:cNvSpPr/>
          <p:nvPr/>
        </p:nvSpPr>
        <p:spPr>
          <a:xfrm>
            <a:off x="81248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8124825" y="4105275"/>
            <a:ext cx="1676400" cy="2447925"/>
          </a:xfrm>
          <a:prstGeom prst="rect">
            <a:avLst/>
          </a:prstGeom>
          <a:noFill/>
        </p:spPr>
        <p:txBody>
          <a:bodyPr wrap="square" lIns="0" tIns="9525" rIns="19050" bIns="9525">
            <a:spAutoFit/>
          </a:bodyPr>
          <a:lstStyle/>
          <a:p>
            <a:pPr algn="l">
              <a:lnSpc>
                <a:spcPct val="110000"/>
              </a:lnSpc>
              <a:spcBef>
                <a:spcPts val="0"/>
              </a:spcBef>
              <a:spcAft>
                <a:spcPts val="500"/>
              </a:spcAft>
            </a:pPr>
            <a:endParaRPr/>
          </a:p>
        </p:txBody>
      </p:sp>
      <p:sp>
        <p:nvSpPr>
          <p:cNvPr id="27" name="Rounded Rectangle 26"/>
          <p:cNvSpPr/>
          <p:nvPr/>
        </p:nvSpPr>
        <p:spPr>
          <a:xfrm>
            <a:off x="10086975" y="3695700"/>
            <a:ext cx="1943100" cy="29337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220325" y="3781425"/>
            <a:ext cx="1676400" cy="209550"/>
          </a:xfrm>
          <a:prstGeom prst="rect">
            <a:avLst/>
          </a:prstGeom>
          <a:noFill/>
        </p:spPr>
        <p:txBody>
          <a:bodyPr wrap="square" lIns="0" tIns="9525" rIns="19050" bIns="9525">
            <a:spAutoFit/>
          </a:bodyPr>
          <a:lstStyle/>
          <a:p>
            <a:pPr algn="l"/>
            <a:r>
              <a:rPr sz="1300" b="1">
                <a:solidFill>
                  <a:srgbClr val="0B2E4A"/>
                </a:solidFill>
                <a:latin typeface="Calibri"/>
              </a:rPr>
              <a:t>Where to Play</a:t>
            </a:r>
          </a:p>
        </p:txBody>
      </p:sp>
      <p:sp>
        <p:nvSpPr>
          <p:cNvPr id="29" name="Rectangle 28"/>
          <p:cNvSpPr/>
          <p:nvPr/>
        </p:nvSpPr>
        <p:spPr>
          <a:xfrm>
            <a:off x="10220325" y="40195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10220325" y="4105275"/>
            <a:ext cx="1676400" cy="244792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 to 4 Cells × Food &amp; Beverage' ranks highest (5/5); '13 to 24 Cells × Pharmaceuticals &amp; Healthcare' lowest (1/5), a deprioritised cell.</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476697" y="2468245"/>
            <a:ext cx="366712" cy="533400"/>
          </a:xfrm>
          <a:prstGeom prst="rect">
            <a:avLst/>
          </a:prstGeom>
        </p:spPr>
      </p:pic>
      <p:sp>
        <p:nvSpPr>
          <p:cNvPr id="33" name="TextBox 32"/>
          <p:cNvSpPr txBox="1"/>
          <p:nvPr/>
        </p:nvSpPr>
        <p:spPr>
          <a:xfrm>
            <a:off x="276225" y="4114800"/>
            <a:ext cx="2311703" cy="194310"/>
          </a:xfrm>
          <a:prstGeom prst="rect">
            <a:avLst/>
          </a:prstGeom>
          <a:noFill/>
        </p:spPr>
        <p:txBody>
          <a:bodyPr wrap="none" lIns="0" tIns="0" rIns="0" bIns="0">
            <a:spAutoFit/>
          </a:bodyPr>
          <a:lstStyle/>
          <a:p>
            <a:r>
              <a:rPr sz="1150" b="0">
                <a:solidFill>
                  <a:srgbClr val="2E2E2E"/>
                </a:solidFill>
                <a:latin typeface="Calibri"/>
              </a:rPr>
              <a:t>▪ 1. Up to 4 Cells × Food &amp; Beverage –</a:t>
            </a:r>
          </a:p>
        </p:txBody>
      </p:sp>
      <p:pic>
        <p:nvPicPr>
          <p:cNvPr id="34" name="Picture 33" descr="lock.png"/>
          <p:cNvPicPr>
            <a:picLocks noChangeAspect="1"/>
          </p:cNvPicPr>
          <p:nvPr/>
        </p:nvPicPr>
        <p:blipFill>
          <a:blip r:embed="rId4"/>
          <a:stretch>
            <a:fillRect/>
          </a:stretch>
        </p:blipFill>
        <p:spPr>
          <a:xfrm>
            <a:off x="2537082" y="4104576"/>
            <a:ext cx="134549" cy="195707"/>
          </a:xfrm>
          <a:prstGeom prst="rect">
            <a:avLst/>
          </a:prstGeom>
        </p:spPr>
      </p:pic>
      <p:sp>
        <p:nvSpPr>
          <p:cNvPr id="35" name="TextBox 34"/>
          <p:cNvSpPr txBox="1"/>
          <p:nvPr/>
        </p:nvSpPr>
        <p:spPr>
          <a:xfrm>
            <a:off x="2712191" y="4114800"/>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774343" y="4104576"/>
            <a:ext cx="134549" cy="195707"/>
          </a:xfrm>
          <a:prstGeom prst="rect">
            <a:avLst/>
          </a:prstGeom>
        </p:spPr>
      </p:pic>
      <p:sp>
        <p:nvSpPr>
          <p:cNvPr id="37" name="TextBox 36"/>
          <p:cNvSpPr txBox="1"/>
          <p:nvPr/>
        </p:nvSpPr>
        <p:spPr>
          <a:xfrm>
            <a:off x="2949452" y="4114800"/>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38" name="TextBox 37"/>
          <p:cNvSpPr txBox="1"/>
          <p:nvPr/>
        </p:nvSpPr>
        <p:spPr>
          <a:xfrm>
            <a:off x="276225" y="4342638"/>
            <a:ext cx="2289453" cy="194310"/>
          </a:xfrm>
          <a:prstGeom prst="rect">
            <a:avLst/>
          </a:prstGeom>
          <a:noFill/>
        </p:spPr>
        <p:txBody>
          <a:bodyPr wrap="none" lIns="0" tIns="0" rIns="0" bIns="0">
            <a:spAutoFit/>
          </a:bodyPr>
          <a:lstStyle/>
          <a:p>
            <a:r>
              <a:rPr sz="1150" b="0">
                <a:solidFill>
                  <a:srgbClr val="2E2E2E"/>
                </a:solidFill>
                <a:latin typeface="Calibri"/>
              </a:rPr>
              <a:t>▪ 2. 6 to 12 Cells × Food &amp; Beverage –</a:t>
            </a:r>
          </a:p>
        </p:txBody>
      </p:sp>
      <p:pic>
        <p:nvPicPr>
          <p:cNvPr id="39" name="Picture 38" descr="lock.png"/>
          <p:cNvPicPr>
            <a:picLocks noChangeAspect="1"/>
          </p:cNvPicPr>
          <p:nvPr/>
        </p:nvPicPr>
        <p:blipFill>
          <a:blip r:embed="rId4"/>
          <a:stretch>
            <a:fillRect/>
          </a:stretch>
        </p:blipFill>
        <p:spPr>
          <a:xfrm>
            <a:off x="2514832" y="4332414"/>
            <a:ext cx="134549" cy="195707"/>
          </a:xfrm>
          <a:prstGeom prst="rect">
            <a:avLst/>
          </a:prstGeom>
        </p:spPr>
      </p:pic>
      <p:sp>
        <p:nvSpPr>
          <p:cNvPr id="40" name="TextBox 39"/>
          <p:cNvSpPr txBox="1"/>
          <p:nvPr/>
        </p:nvSpPr>
        <p:spPr>
          <a:xfrm>
            <a:off x="2689942" y="4342638"/>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2752093" y="4332414"/>
            <a:ext cx="134549" cy="195707"/>
          </a:xfrm>
          <a:prstGeom prst="rect">
            <a:avLst/>
          </a:prstGeom>
        </p:spPr>
      </p:pic>
      <p:sp>
        <p:nvSpPr>
          <p:cNvPr id="42" name="TextBox 41"/>
          <p:cNvSpPr txBox="1"/>
          <p:nvPr/>
        </p:nvSpPr>
        <p:spPr>
          <a:xfrm>
            <a:off x="2927203" y="4342638"/>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3" name="TextBox 42"/>
          <p:cNvSpPr txBox="1"/>
          <p:nvPr/>
        </p:nvSpPr>
        <p:spPr>
          <a:xfrm>
            <a:off x="276225" y="4570475"/>
            <a:ext cx="2645481" cy="194310"/>
          </a:xfrm>
          <a:prstGeom prst="rect">
            <a:avLst/>
          </a:prstGeom>
          <a:noFill/>
        </p:spPr>
        <p:txBody>
          <a:bodyPr wrap="none" lIns="0" tIns="0" rIns="0" bIns="0">
            <a:spAutoFit/>
          </a:bodyPr>
          <a:lstStyle/>
          <a:p>
            <a:r>
              <a:rPr sz="1150" b="0">
                <a:solidFill>
                  <a:srgbClr val="2E2E2E"/>
                </a:solidFill>
                <a:latin typeface="Calibri"/>
              </a:rPr>
              <a:t>▪ 3. Up to 4 Cells × Electronics &amp; Electrical –</a:t>
            </a:r>
          </a:p>
        </p:txBody>
      </p:sp>
      <p:pic>
        <p:nvPicPr>
          <p:cNvPr id="44" name="Picture 43" descr="lock.png"/>
          <p:cNvPicPr>
            <a:picLocks noChangeAspect="1"/>
          </p:cNvPicPr>
          <p:nvPr/>
        </p:nvPicPr>
        <p:blipFill>
          <a:blip r:embed="rId4"/>
          <a:stretch>
            <a:fillRect/>
          </a:stretch>
        </p:blipFill>
        <p:spPr>
          <a:xfrm>
            <a:off x="2870860" y="4560252"/>
            <a:ext cx="134549" cy="195707"/>
          </a:xfrm>
          <a:prstGeom prst="rect">
            <a:avLst/>
          </a:prstGeom>
        </p:spPr>
      </p:pic>
      <p:sp>
        <p:nvSpPr>
          <p:cNvPr id="45" name="TextBox 44"/>
          <p:cNvSpPr txBox="1"/>
          <p:nvPr/>
        </p:nvSpPr>
        <p:spPr>
          <a:xfrm>
            <a:off x="3045970" y="4570475"/>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108121" y="4560252"/>
            <a:ext cx="134549" cy="195707"/>
          </a:xfrm>
          <a:prstGeom prst="rect">
            <a:avLst/>
          </a:prstGeom>
        </p:spPr>
      </p:pic>
      <p:sp>
        <p:nvSpPr>
          <p:cNvPr id="47" name="TextBox 46"/>
          <p:cNvSpPr txBox="1"/>
          <p:nvPr/>
        </p:nvSpPr>
        <p:spPr>
          <a:xfrm>
            <a:off x="3283231" y="4570475"/>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48" name="TextBox 47"/>
          <p:cNvSpPr txBox="1"/>
          <p:nvPr/>
        </p:nvSpPr>
        <p:spPr>
          <a:xfrm>
            <a:off x="276225" y="4798313"/>
            <a:ext cx="2623232" cy="194310"/>
          </a:xfrm>
          <a:prstGeom prst="rect">
            <a:avLst/>
          </a:prstGeom>
          <a:noFill/>
        </p:spPr>
        <p:txBody>
          <a:bodyPr wrap="none" lIns="0" tIns="0" rIns="0" bIns="0">
            <a:spAutoFit/>
          </a:bodyPr>
          <a:lstStyle/>
          <a:p>
            <a:r>
              <a:rPr sz="1150" b="0">
                <a:solidFill>
                  <a:srgbClr val="2E2E2E"/>
                </a:solidFill>
                <a:latin typeface="Calibri"/>
              </a:rPr>
              <a:t>▪ 4. 6 to 12 Cells × Electronics &amp; Electrical –</a:t>
            </a:r>
          </a:p>
        </p:txBody>
      </p:sp>
      <p:pic>
        <p:nvPicPr>
          <p:cNvPr id="49" name="Picture 48" descr="lock.png"/>
          <p:cNvPicPr>
            <a:picLocks noChangeAspect="1"/>
          </p:cNvPicPr>
          <p:nvPr/>
        </p:nvPicPr>
        <p:blipFill>
          <a:blip r:embed="rId4"/>
          <a:stretch>
            <a:fillRect/>
          </a:stretch>
        </p:blipFill>
        <p:spPr>
          <a:xfrm>
            <a:off x="2848611" y="4788090"/>
            <a:ext cx="134549" cy="195707"/>
          </a:xfrm>
          <a:prstGeom prst="rect">
            <a:avLst/>
          </a:prstGeom>
        </p:spPr>
      </p:pic>
      <p:sp>
        <p:nvSpPr>
          <p:cNvPr id="50" name="TextBox 49"/>
          <p:cNvSpPr txBox="1"/>
          <p:nvPr/>
        </p:nvSpPr>
        <p:spPr>
          <a:xfrm>
            <a:off x="3023720" y="4798313"/>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085872" y="4788090"/>
            <a:ext cx="134549" cy="195707"/>
          </a:xfrm>
          <a:prstGeom prst="rect">
            <a:avLst/>
          </a:prstGeom>
        </p:spPr>
      </p:pic>
      <p:sp>
        <p:nvSpPr>
          <p:cNvPr id="52" name="TextBox 51"/>
          <p:cNvSpPr txBox="1"/>
          <p:nvPr/>
        </p:nvSpPr>
        <p:spPr>
          <a:xfrm>
            <a:off x="3260981" y="4798313"/>
            <a:ext cx="350899" cy="194310"/>
          </a:xfrm>
          <a:prstGeom prst="rect">
            <a:avLst/>
          </a:prstGeom>
          <a:noFill/>
        </p:spPr>
        <p:txBody>
          <a:bodyPr wrap="none" lIns="0" tIns="0" rIns="0" bIns="0">
            <a:spAutoFit/>
          </a:bodyPr>
          <a:lstStyle/>
          <a:p>
            <a:r>
              <a:rPr sz="1150" b="0">
                <a:solidFill>
                  <a:srgbClr val="2E2E2E"/>
                </a:solidFill>
                <a:latin typeface="Calibri"/>
              </a:rPr>
              <a:t>· 5/5</a:t>
            </a:r>
          </a:p>
        </p:txBody>
      </p:sp>
      <p:sp>
        <p:nvSpPr>
          <p:cNvPr id="53" name="TextBox 52"/>
          <p:cNvSpPr txBox="1"/>
          <p:nvPr/>
        </p:nvSpPr>
        <p:spPr>
          <a:xfrm>
            <a:off x="276225" y="5026151"/>
            <a:ext cx="3427077" cy="194310"/>
          </a:xfrm>
          <a:prstGeom prst="rect">
            <a:avLst/>
          </a:prstGeom>
          <a:noFill/>
        </p:spPr>
        <p:txBody>
          <a:bodyPr wrap="none" lIns="0" tIns="0" rIns="0" bIns="0">
            <a:spAutoFit/>
          </a:bodyPr>
          <a:lstStyle/>
          <a:p>
            <a:r>
              <a:rPr sz="1150" b="0">
                <a:solidFill>
                  <a:srgbClr val="2E2E2E"/>
                </a:solidFill>
                <a:latin typeface="Calibri"/>
              </a:rPr>
              <a:t>▪ 5. 6 to 12 Cells × Glassware, Ceramics &amp; Home Goods –</a:t>
            </a:r>
          </a:p>
        </p:txBody>
      </p:sp>
      <p:pic>
        <p:nvPicPr>
          <p:cNvPr id="54" name="Picture 53" descr="lock.png"/>
          <p:cNvPicPr>
            <a:picLocks noChangeAspect="1"/>
          </p:cNvPicPr>
          <p:nvPr/>
        </p:nvPicPr>
        <p:blipFill>
          <a:blip r:embed="rId4"/>
          <a:stretch>
            <a:fillRect/>
          </a:stretch>
        </p:blipFill>
        <p:spPr>
          <a:xfrm>
            <a:off x="3652456" y="5015928"/>
            <a:ext cx="134549" cy="195707"/>
          </a:xfrm>
          <a:prstGeom prst="rect">
            <a:avLst/>
          </a:prstGeom>
        </p:spPr>
      </p:pic>
      <p:sp>
        <p:nvSpPr>
          <p:cNvPr id="55" name="TextBox 54"/>
          <p:cNvSpPr txBox="1"/>
          <p:nvPr/>
        </p:nvSpPr>
        <p:spPr>
          <a:xfrm>
            <a:off x="3827565" y="5026151"/>
            <a:ext cx="112997" cy="194310"/>
          </a:xfrm>
          <a:prstGeom prst="rect">
            <a:avLst/>
          </a:prstGeom>
          <a:noFill/>
        </p:spPr>
        <p:txBody>
          <a:bodyPr wrap="none" lIns="0" tIns="0" r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889717" y="5015928"/>
            <a:ext cx="134549" cy="195707"/>
          </a:xfrm>
          <a:prstGeom prst="rect">
            <a:avLst/>
          </a:prstGeom>
        </p:spPr>
      </p:pic>
      <p:sp>
        <p:nvSpPr>
          <p:cNvPr id="57" name="TextBox 56"/>
          <p:cNvSpPr txBox="1"/>
          <p:nvPr/>
        </p:nvSpPr>
        <p:spPr>
          <a:xfrm>
            <a:off x="4064826" y="5026151"/>
            <a:ext cx="350899" cy="194310"/>
          </a:xfrm>
          <a:prstGeom prst="rect">
            <a:avLst/>
          </a:prstGeom>
          <a:noFill/>
        </p:spPr>
        <p:txBody>
          <a:bodyPr wrap="none" lIns="0" tIns="0" rIns="0" bIns="0">
            <a:spAutoFit/>
          </a:bodyPr>
          <a:lstStyle/>
          <a:p>
            <a:r>
              <a:rPr sz="1150" b="0">
                <a:solidFill>
                  <a:srgbClr val="2E2E2E"/>
                </a:solidFill>
                <a:latin typeface="Calibri"/>
              </a:rPr>
              <a:t>· 4/5</a:t>
            </a:r>
          </a:p>
        </p:txBody>
      </p:sp>
      <p:sp>
        <p:nvSpPr>
          <p:cNvPr id="58" name="TextBox 57"/>
          <p:cNvSpPr txBox="1"/>
          <p:nvPr/>
        </p:nvSpPr>
        <p:spPr>
          <a:xfrm>
            <a:off x="6029325" y="4114800"/>
            <a:ext cx="1507572" cy="194310"/>
          </a:xfrm>
          <a:prstGeom prst="rect">
            <a:avLst/>
          </a:prstGeom>
          <a:noFill/>
        </p:spPr>
        <p:txBody>
          <a:bodyPr wrap="none" lIns="0" tIns="0" rIns="0" bIns="0">
            <a:spAutoFit/>
          </a:bodyPr>
          <a:lstStyle/>
          <a:p>
            <a:r>
              <a:rPr sz="1150" b="0">
                <a:solidFill>
                  <a:srgbClr val="2E2E2E"/>
                </a:solidFill>
                <a:latin typeface="Calibri"/>
              </a:rPr>
              <a:t>▪ 'Up to 4 Cells × Food &amp;</a:t>
            </a:r>
          </a:p>
        </p:txBody>
      </p:sp>
      <p:sp>
        <p:nvSpPr>
          <p:cNvPr id="59" name="TextBox 58"/>
          <p:cNvSpPr txBox="1"/>
          <p:nvPr/>
        </p:nvSpPr>
        <p:spPr>
          <a:xfrm>
            <a:off x="6029325" y="4290060"/>
            <a:ext cx="975320" cy="194310"/>
          </a:xfrm>
          <a:prstGeom prst="rect">
            <a:avLst/>
          </a:prstGeom>
          <a:noFill/>
        </p:spPr>
        <p:txBody>
          <a:bodyPr wrap="none" lIns="0" tIns="0" rIns="0" bIns="0">
            <a:spAutoFit/>
          </a:bodyPr>
          <a:lstStyle/>
          <a:p>
            <a:r>
              <a:rPr sz="1150" b="0">
                <a:solidFill>
                  <a:srgbClr val="2E2E2E"/>
                </a:solidFill>
                <a:latin typeface="Calibri"/>
              </a:rPr>
              <a:t>Beverage' adds</a:t>
            </a:r>
          </a:p>
        </p:txBody>
      </p:sp>
      <p:pic>
        <p:nvPicPr>
          <p:cNvPr id="60" name="Picture 59" descr="lock.png"/>
          <p:cNvPicPr>
            <a:picLocks noChangeAspect="1"/>
          </p:cNvPicPr>
          <p:nvPr/>
        </p:nvPicPr>
        <p:blipFill>
          <a:blip r:embed="rId4"/>
          <a:stretch>
            <a:fillRect/>
          </a:stretch>
        </p:blipFill>
        <p:spPr>
          <a:xfrm>
            <a:off x="6953799" y="4279836"/>
            <a:ext cx="134549" cy="195707"/>
          </a:xfrm>
          <a:prstGeom prst="rect">
            <a:avLst/>
          </a:prstGeom>
        </p:spPr>
      </p:pic>
      <p:sp>
        <p:nvSpPr>
          <p:cNvPr id="61" name="TextBox 60"/>
          <p:cNvSpPr txBox="1"/>
          <p:nvPr/>
        </p:nvSpPr>
        <p:spPr>
          <a:xfrm>
            <a:off x="7128908" y="4290060"/>
            <a:ext cx="311249" cy="194310"/>
          </a:xfrm>
          <a:prstGeom prst="rect">
            <a:avLst/>
          </a:prstGeom>
          <a:noFill/>
        </p:spPr>
        <p:txBody>
          <a:bodyPr wrap="none" lIns="0" tIns="0" rIns="0" bIns="0">
            <a:spAutoFit/>
          </a:bodyPr>
          <a:lstStyle/>
          <a:p>
            <a:r>
              <a:rPr sz="1150" b="0">
                <a:solidFill>
                  <a:srgbClr val="2E2E2E"/>
                </a:solidFill>
                <a:latin typeface="Calibri"/>
              </a:rPr>
              <a:t>US$</a:t>
            </a:r>
          </a:p>
        </p:txBody>
      </p:sp>
      <p:sp>
        <p:nvSpPr>
          <p:cNvPr id="62" name="TextBox 61"/>
          <p:cNvSpPr txBox="1"/>
          <p:nvPr/>
        </p:nvSpPr>
        <p:spPr>
          <a:xfrm>
            <a:off x="6029325" y="4465320"/>
            <a:ext cx="956493" cy="194310"/>
          </a:xfrm>
          <a:prstGeom prst="rect">
            <a:avLst/>
          </a:prstGeom>
          <a:noFill/>
        </p:spPr>
        <p:txBody>
          <a:bodyPr wrap="none" lIns="0" tIns="0" r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4455096"/>
            <a:ext cx="134549" cy="195707"/>
          </a:xfrm>
          <a:prstGeom prst="rect">
            <a:avLst/>
          </a:prstGeom>
        </p:spPr>
      </p:pic>
      <p:sp>
        <p:nvSpPr>
          <p:cNvPr id="64" name="TextBox 63"/>
          <p:cNvSpPr txBox="1"/>
          <p:nvPr/>
        </p:nvSpPr>
        <p:spPr>
          <a:xfrm>
            <a:off x="7110081" y="4465320"/>
            <a:ext cx="429344" cy="194310"/>
          </a:xfrm>
          <a:prstGeom prst="rect">
            <a:avLst/>
          </a:prstGeom>
          <a:noFill/>
        </p:spPr>
        <p:txBody>
          <a:bodyPr wrap="none" lIns="0" tIns="0" rIns="0" bIns="0">
            <a:spAutoFit/>
          </a:bodyPr>
          <a:lstStyle/>
          <a:p>
            <a:r>
              <a:rPr sz="1150" b="0">
                <a:solidFill>
                  <a:srgbClr val="2E2E2E"/>
                </a:solidFill>
                <a:latin typeface="Calibri"/>
              </a:rPr>
              <a:t>of the</a:t>
            </a:r>
          </a:p>
        </p:txBody>
      </p:sp>
      <p:sp>
        <p:nvSpPr>
          <p:cNvPr id="65" name="TextBox 64"/>
          <p:cNvSpPr txBox="1"/>
          <p:nvPr/>
        </p:nvSpPr>
        <p:spPr>
          <a:xfrm>
            <a:off x="6029325" y="4640579"/>
            <a:ext cx="1134777" cy="194310"/>
          </a:xfrm>
          <a:prstGeom prst="rect">
            <a:avLst/>
          </a:prstGeom>
          <a:noFill/>
        </p:spPr>
        <p:txBody>
          <a:bodyPr wrap="none" lIns="0" tIns="0" rIns="0" bIns="0">
            <a:spAutoFit/>
          </a:bodyPr>
          <a:lstStyle/>
          <a:p>
            <a:r>
              <a:rPr sz="1150" b="0">
                <a:solidFill>
                  <a:srgbClr val="2E2E2E"/>
                </a:solidFill>
                <a:latin typeface="Calibri"/>
              </a:rPr>
              <a:t>total opportunity.</a:t>
            </a:r>
          </a:p>
        </p:txBody>
      </p:sp>
      <p:sp>
        <p:nvSpPr>
          <p:cNvPr id="66" name="TextBox 65"/>
          <p:cNvSpPr txBox="1"/>
          <p:nvPr/>
        </p:nvSpPr>
        <p:spPr>
          <a:xfrm>
            <a:off x="8124825" y="4114800"/>
            <a:ext cx="1657350" cy="194310"/>
          </a:xfrm>
          <a:prstGeom prst="rect">
            <a:avLst/>
          </a:prstGeom>
          <a:noFill/>
        </p:spPr>
        <p:txBody>
          <a:bodyPr wrap="none" lIns="0" tIns="0" rIns="0" bIns="0">
            <a:spAutoFit/>
          </a:bodyPr>
          <a:lstStyle/>
          <a:p>
            <a:r>
              <a:rPr sz="1150" b="0">
                <a:solidFill>
                  <a:srgbClr val="2E2E2E"/>
                </a:solidFill>
                <a:latin typeface="Calibri"/>
              </a:rPr>
              <a:t>▪ '6 to 12 Cells × Electronics</a:t>
            </a:r>
          </a:p>
        </p:txBody>
      </p:sp>
      <p:sp>
        <p:nvSpPr>
          <p:cNvPr id="67" name="TextBox 66"/>
          <p:cNvSpPr txBox="1"/>
          <p:nvPr/>
        </p:nvSpPr>
        <p:spPr>
          <a:xfrm>
            <a:off x="8124825" y="4290060"/>
            <a:ext cx="1426306" cy="194310"/>
          </a:xfrm>
          <a:prstGeom prst="rect">
            <a:avLst/>
          </a:prstGeom>
          <a:noFill/>
        </p:spPr>
        <p:txBody>
          <a:bodyPr wrap="none" lIns="0" tIns="0" rIns="0" bIns="0">
            <a:spAutoFit/>
          </a:bodyPr>
          <a:lstStyle/>
          <a:p>
            <a:r>
              <a:rPr sz="1150" b="0">
                <a:solidFill>
                  <a:srgbClr val="2E2E2E"/>
                </a:solidFill>
                <a:latin typeface="Calibri"/>
              </a:rPr>
              <a:t>&amp; Electrical' grows at a</a:t>
            </a:r>
          </a:p>
        </p:txBody>
      </p:sp>
      <p:pic>
        <p:nvPicPr>
          <p:cNvPr id="68" name="Picture 67" descr="lock.png"/>
          <p:cNvPicPr>
            <a:picLocks noChangeAspect="1"/>
          </p:cNvPicPr>
          <p:nvPr/>
        </p:nvPicPr>
        <p:blipFill>
          <a:blip r:embed="rId4"/>
          <a:stretch>
            <a:fillRect/>
          </a:stretch>
        </p:blipFill>
        <p:spPr>
          <a:xfrm>
            <a:off x="9500285" y="4279836"/>
            <a:ext cx="134549" cy="195707"/>
          </a:xfrm>
          <a:prstGeom prst="rect">
            <a:avLst/>
          </a:prstGeom>
        </p:spPr>
      </p:pic>
      <p:sp>
        <p:nvSpPr>
          <p:cNvPr id="69" name="TextBox 68"/>
          <p:cNvSpPr txBox="1"/>
          <p:nvPr/>
        </p:nvSpPr>
        <p:spPr>
          <a:xfrm>
            <a:off x="8124825" y="4465320"/>
            <a:ext cx="446441" cy="194310"/>
          </a:xfrm>
          <a:prstGeom prst="rect">
            <a:avLst/>
          </a:prstGeom>
          <a:noFill/>
        </p:spPr>
        <p:txBody>
          <a:bodyPr wrap="none" lIns="0" tIns="0" r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8520420" y="4455096"/>
            <a:ext cx="134549" cy="195707"/>
          </a:xfrm>
          <a:prstGeom prst="rect">
            <a:avLst/>
          </a:prstGeom>
        </p:spPr>
      </p:pic>
      <p:sp>
        <p:nvSpPr>
          <p:cNvPr id="71" name="TextBox 70"/>
          <p:cNvSpPr txBox="1"/>
          <p:nvPr/>
        </p:nvSpPr>
        <p:spPr>
          <a:xfrm>
            <a:off x="8695529" y="4465320"/>
            <a:ext cx="925400" cy="194310"/>
          </a:xfrm>
          <a:prstGeom prst="rect">
            <a:avLst/>
          </a:prstGeom>
          <a:noFill/>
        </p:spPr>
        <p:txBody>
          <a:bodyPr wrap="none" lIns="0" tIns="0" rIns="0" bIns="0">
            <a:spAutoFit/>
          </a:bodyPr>
          <a:lstStyle/>
          <a:p>
            <a:r>
              <a:rPr sz="1150" b="0">
                <a:solidFill>
                  <a:srgbClr val="2E2E2E"/>
                </a:solidFill>
                <a:latin typeface="Calibri"/>
              </a:rPr>
              <a:t>BPS above the</a:t>
            </a:r>
          </a:p>
        </p:txBody>
      </p:sp>
      <p:sp>
        <p:nvSpPr>
          <p:cNvPr id="72" name="TextBox 71"/>
          <p:cNvSpPr txBox="1"/>
          <p:nvPr/>
        </p:nvSpPr>
        <p:spPr>
          <a:xfrm>
            <a:off x="8124825" y="4640579"/>
            <a:ext cx="890029" cy="194310"/>
          </a:xfrm>
          <a:prstGeom prst="rect">
            <a:avLst/>
          </a:prstGeom>
          <a:noFill/>
        </p:spPr>
        <p:txBody>
          <a:bodyPr wrap="none" lIns="0" tIns="0" rIns="0" bIns="0">
            <a:spAutoFit/>
          </a:bodyPr>
          <a:lstStyle/>
          <a:p>
            <a:r>
              <a:rPr sz="1150" b="0">
                <a:solidFill>
                  <a:srgbClr val="2E2E2E"/>
                </a:solidFill>
                <a:latin typeface="Calibri"/>
              </a:rPr>
              <a:t>cross-section.</a:t>
            </a:r>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bg>
      <p:bgPr>
        <a:solidFill>
          <a:srgbClr val="0A2A63"/>
        </a:solidFill>
        <a:effectLst/>
      </p:bgPr>
    </p:bg>
    <p:spTree>
      <p:nvGrpSpPr>
        <p:cNvPr id="1" name=""/>
        <p:cNvGrpSpPr/>
        <p:nvPr/>
      </p:nvGrpSpPr>
      <p:grpSpPr>
        <a:xfrm>
          <a:off x="0" y="0"/>
          <a:ext cx="0" cy="0"/>
          <a:chOff x="0" y="0"/>
          <a:chExt cx="0" cy="0"/>
        </a:xfrm>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ang="195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fmi_logo_template.png"/>
          <p:cNvPicPr>
            <a:picLocks noChangeAspect="1"/>
          </p:cNvPicPr>
          <p:nvPr/>
        </p:nvPicPr>
        <p:blipFill>
          <a:blip r:embed="rId3"/>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698875"/>
            <a:ext cx="7239000" cy="514350"/>
          </a:xfrm>
          <a:prstGeom prst="rect">
            <a:avLst/>
          </a:prstGeom>
          <a:noFill/>
        </p:spPr>
        <p:txBody>
          <a:bodyPr wrap="square" lIns="0" tIns="0" r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FFD447"/>
                </a:solidFill>
                <a:latin typeface="Calibri"/>
              </a:rPr>
              <a:t>➤	Market Pricing</a:t>
            </a:r>
          </a:p>
        </p:txBody>
      </p:sp>
      <p:sp>
        <p:nvSpPr>
          <p:cNvPr id="8" name="TextBox 7"/>
          <p:cNvSpPr txBox="1"/>
          <p:nvPr/>
        </p:nvSpPr>
        <p:spPr>
          <a:xfrm>
            <a:off x="4000500" y="6734175"/>
            <a:ext cx="8020050" cy="123825"/>
          </a:xfrm>
          <a:prstGeom prst="rect">
            <a:avLst/>
          </a:prstGeom>
          <a:noFill/>
        </p:spPr>
        <p:txBody>
          <a:bodyPr wrap="square" lIns="28575" tIns="9525" rIns="2857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Product Pricing &amp; Regional Price Index Trends</a:t>
            </a:r>
          </a:p>
          <a:p>
            <a:pPr marL="342900" indent="-323850">
              <a:lnSpc>
                <a:spcPct val="100000"/>
              </a:lnSpc>
              <a:spcAft>
                <a:spcPts val="800"/>
              </a:spcAft>
            </a:pPr>
            <a:r>
              <a:rPr sz="2000" b="0">
                <a:solidFill>
                  <a:srgbClr val="000000"/>
                </a:solidFill>
                <a:latin typeface="Calibri"/>
              </a:rPr>
              <a:t>➤	Global Pricing Assessment</a:t>
            </a:r>
          </a:p>
          <a:p>
            <a:pPr marL="342900" indent="-323850">
              <a:lnSpc>
                <a:spcPct val="100000"/>
              </a:lnSpc>
              <a:spcAft>
                <a:spcPts val="800"/>
              </a:spcAft>
            </a:pPr>
            <a:r>
              <a:rPr sz="2000" b="0">
                <a:solidFill>
                  <a:srgbClr val="000000"/>
                </a:solidFill>
                <a:latin typeface="Calibri"/>
              </a:rPr>
              <a:t>➤	Price Positioning &amp; Key Findings</a:t>
            </a:r>
          </a:p>
          <a:p>
            <a:pPr marL="342900" indent="-323850">
              <a:lnSpc>
                <a:spcPct val="100000"/>
              </a:lnSpc>
              <a:spcAft>
                <a:spcPts val="800"/>
              </a:spcAft>
            </a:pPr>
            <a:r>
              <a:rPr sz="2000" b="0">
                <a:solidFill>
                  <a:srgbClr val="000000"/>
                </a:solidFill>
                <a:latin typeface="Calibri"/>
              </a:rPr>
              <a:t>➤	Key Pricing Drivers</a:t>
            </a:r>
          </a:p>
          <a:p>
            <a:pPr marL="342900" indent="-323850">
              <a:lnSpc>
                <a:spcPct val="100000"/>
              </a:lnSpc>
              <a:spcAft>
                <a:spcPts val="800"/>
              </a:spcAft>
            </a:pPr>
            <a:r>
              <a:rPr sz="2000" b="0">
                <a:solidFill>
                  <a:srgbClr val="000000"/>
                </a:solidFill>
                <a:latin typeface="Calibri"/>
              </a:rPr>
              <a:t>➤	Factors Impacting Pricing</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74724"/>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219075" y="3471051"/>
            <a:ext cx="381000" cy="133350"/>
          </a:xfrm>
          <a:prstGeom prst="rect">
            <a:avLst/>
          </a:prstGeom>
          <a:noFill/>
        </p:spPr>
        <p:txBody>
          <a:bodyPr wrap="square" lIns="28575" tIns="9525" rIns="28575" bIns="9525" anchor="ctr">
            <a:spAutoFit/>
          </a:bodyPr>
          <a:lstStyle/>
          <a:p>
            <a:pPr algn="r"/>
            <a:r>
              <a:rPr sz="1100" b="0">
                <a:solidFill>
                  <a:srgbClr val="6C7A89"/>
                </a:solidFill>
                <a:latin typeface="Calibri"/>
              </a:rPr>
              <a:t> </a:t>
            </a:r>
          </a:p>
        </p:txBody>
      </p:sp>
      <p:sp>
        <p:nvSpPr>
          <p:cNvPr id="14" name="TextBox 13"/>
          <p:cNvSpPr txBox="1"/>
          <p:nvPr/>
        </p:nvSpPr>
        <p:spPr>
          <a:xfrm>
            <a:off x="219075" y="2561000"/>
            <a:ext cx="381000" cy="133350"/>
          </a:xfrm>
          <a:prstGeom prst="rect">
            <a:avLst/>
          </a:prstGeom>
          <a:noFill/>
        </p:spPr>
        <p:txBody>
          <a:bodyPr wrap="square" lIns="28575" tIns="9525" rIns="28575" bIns="9525" anchor="ctr">
            <a:spAutoFit/>
          </a:bodyPr>
          <a:lstStyle/>
          <a:p>
            <a:pPr algn="r"/>
            <a:r>
              <a:rPr sz="1100" b="0">
                <a:solidFill>
                  <a:srgbClr val="6C7A89"/>
                </a:solidFill>
                <a:latin typeface="Calibri"/>
              </a:rPr>
              <a:t> </a:t>
            </a:r>
          </a:p>
        </p:txBody>
      </p:sp>
      <p:sp>
        <p:nvSpPr>
          <p:cNvPr id="15" name="TextBox 14"/>
          <p:cNvSpPr txBox="1"/>
          <p:nvPr/>
        </p:nvSpPr>
        <p:spPr>
          <a:xfrm>
            <a:off x="111919" y="1650949"/>
            <a:ext cx="488156" cy="133350"/>
          </a:xfrm>
          <a:prstGeom prst="rect">
            <a:avLst/>
          </a:prstGeom>
          <a:noFill/>
        </p:spPr>
        <p:txBody>
          <a:bodyPr wrap="square" lIns="28575" tIns="9525" rIns="28575" bIns="9525" anchor="ctr">
            <a:spAutoFit/>
          </a:bodyPr>
          <a:lstStyle/>
          <a:p>
            <a:pPr algn="r"/>
            <a:r>
              <a:rPr sz="1100" b="0">
                <a:solidFill>
                  <a:srgbClr val="6C7A89"/>
                </a:solidFill>
                <a:latin typeface="Calibri"/>
              </a:rPr>
              <a:t> </a:t>
            </a:r>
          </a:p>
        </p:txBody>
      </p:sp>
      <p:cxnSp>
        <p:nvCxnSpPr>
          <p:cNvPr id="16" name="Connector 15"/>
          <p:cNvCxnSpPr/>
          <p:nvPr/>
        </p:nvCxnSpPr>
        <p:spPr>
          <a:xfrm>
            <a:off x="1825625" y="2903651"/>
            <a:ext cx="0" cy="424063"/>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606550" y="2903651"/>
            <a:ext cx="438150" cy="424063"/>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657225" y="2751251"/>
            <a:ext cx="2336800" cy="133350"/>
          </a:xfrm>
          <a:prstGeom prst="rect">
            <a:avLst/>
          </a:prstGeom>
          <a:noFill/>
        </p:spPr>
        <p:txBody>
          <a:bodyPr wrap="square" lIns="28575" tIns="9525" rIns="28575" bIns="9525">
            <a:spAutoFit/>
          </a:bodyPr>
          <a:lstStyle/>
          <a:p>
            <a:pPr algn="ctr"/>
            <a:r>
              <a:rPr sz="1100" b="1">
                <a:solidFill>
                  <a:srgbClr val="0B2E4A"/>
                </a:solidFill>
                <a:latin typeface="Calibri"/>
              </a:rPr>
              <a:t> </a:t>
            </a:r>
          </a:p>
        </p:txBody>
      </p:sp>
      <p:sp>
        <p:nvSpPr>
          <p:cNvPr id="19" name="TextBox 18"/>
          <p:cNvSpPr txBox="1"/>
          <p:nvPr/>
        </p:nvSpPr>
        <p:spPr>
          <a:xfrm>
            <a:off x="657225" y="3566301"/>
            <a:ext cx="2336800" cy="285750"/>
          </a:xfrm>
          <a:prstGeom prst="rect">
            <a:avLst/>
          </a:prstGeom>
          <a:noFill/>
        </p:spPr>
        <p:txBody>
          <a:bodyPr wrap="square" lIns="28575" tIns="9525" rIns="28575" bIns="9525">
            <a:spAutoFit/>
          </a:bodyPr>
          <a:lstStyle/>
          <a:p>
            <a:pPr algn="ctr"/>
            <a:r>
              <a:rPr sz="1100" b="0">
                <a:solidFill>
                  <a:srgbClr val="2E2E2E"/>
                </a:solidFill>
                <a:latin typeface="Calibri"/>
              </a:rPr>
              <a:t>Slotted (Interlocking…</a:t>
            </a:r>
          </a:p>
        </p:txBody>
      </p:sp>
      <p:cxnSp>
        <p:nvCxnSpPr>
          <p:cNvPr id="20" name="Connector 19"/>
          <p:cNvCxnSpPr/>
          <p:nvPr/>
        </p:nvCxnSpPr>
        <p:spPr>
          <a:xfrm>
            <a:off x="4162425" y="1927636"/>
            <a:ext cx="0" cy="531134"/>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943350" y="1927636"/>
            <a:ext cx="438150" cy="53113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2994025" y="1775236"/>
            <a:ext cx="2336800" cy="133350"/>
          </a:xfrm>
          <a:prstGeom prst="rect">
            <a:avLst/>
          </a:prstGeom>
          <a:noFill/>
        </p:spPr>
        <p:txBody>
          <a:bodyPr wrap="square" lIns="28575" tIns="9525" rIns="28575" bIns="9525">
            <a:spAutoFit/>
          </a:bodyPr>
          <a:lstStyle/>
          <a:p>
            <a:pPr algn="ctr"/>
            <a:r>
              <a:rPr sz="1100" b="1">
                <a:solidFill>
                  <a:srgbClr val="0B2E4A"/>
                </a:solidFill>
                <a:latin typeface="Calibri"/>
              </a:rPr>
              <a:t> </a:t>
            </a:r>
          </a:p>
        </p:txBody>
      </p:sp>
      <p:sp>
        <p:nvSpPr>
          <p:cNvPr id="23" name="TextBox 22"/>
          <p:cNvSpPr txBox="1"/>
          <p:nvPr/>
        </p:nvSpPr>
        <p:spPr>
          <a:xfrm>
            <a:off x="2994025" y="3566301"/>
            <a:ext cx="2336800" cy="285750"/>
          </a:xfrm>
          <a:prstGeom prst="rect">
            <a:avLst/>
          </a:prstGeom>
          <a:noFill/>
        </p:spPr>
        <p:txBody>
          <a:bodyPr wrap="square" lIns="28575" tIns="9525" rIns="28575" bIns="9525">
            <a:spAutoFit/>
          </a:bodyPr>
          <a:lstStyle/>
          <a:p>
            <a:pPr algn="ctr"/>
            <a:r>
              <a:rPr sz="1100" b="0">
                <a:solidFill>
                  <a:srgbClr val="2E2E2E"/>
                </a:solidFill>
                <a:latin typeface="Calibri"/>
              </a:rPr>
              <a:t>Die-Cut &amp; Folded Part…</a:t>
            </a:r>
          </a:p>
        </p:txBody>
      </p:sp>
      <p:cxnSp>
        <p:nvCxnSpPr>
          <p:cNvPr id="24" name="Connector 23"/>
          <p:cNvCxnSpPr/>
          <p:nvPr/>
        </p:nvCxnSpPr>
        <p:spPr>
          <a:xfrm>
            <a:off x="6499225" y="2413064"/>
            <a:ext cx="0" cy="477604"/>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6280150" y="2413064"/>
            <a:ext cx="438150" cy="47760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5330825" y="2260664"/>
            <a:ext cx="2336800" cy="133350"/>
          </a:xfrm>
          <a:prstGeom prst="rect">
            <a:avLst/>
          </a:prstGeom>
          <a:noFill/>
        </p:spPr>
        <p:txBody>
          <a:bodyPr wrap="square" lIns="28575" tIns="9525" rIns="28575" bIns="9525">
            <a:spAutoFit/>
          </a:bodyPr>
          <a:lstStyle/>
          <a:p>
            <a:pPr algn="ctr"/>
            <a:r>
              <a:rPr sz="1100" b="1">
                <a:solidFill>
                  <a:srgbClr val="0B2E4A"/>
                </a:solidFill>
                <a:latin typeface="Calibri"/>
              </a:rPr>
              <a:t> </a:t>
            </a:r>
          </a:p>
        </p:txBody>
      </p:sp>
      <p:sp>
        <p:nvSpPr>
          <p:cNvPr id="27" name="TextBox 26"/>
          <p:cNvSpPr txBox="1"/>
          <p:nvPr/>
        </p:nvSpPr>
        <p:spPr>
          <a:xfrm>
            <a:off x="5330825" y="3566301"/>
            <a:ext cx="2336800" cy="285750"/>
          </a:xfrm>
          <a:prstGeom prst="rect">
            <a:avLst/>
          </a:prstGeom>
          <a:noFill/>
        </p:spPr>
        <p:txBody>
          <a:bodyPr wrap="square" lIns="28575" tIns="9525" rIns="28575" bIns="9525">
            <a:spAutoFit/>
          </a:bodyPr>
          <a:lstStyle/>
          <a:p>
            <a:pPr algn="ctr"/>
            <a:r>
              <a:rPr sz="1100" b="0">
                <a:solidFill>
                  <a:srgbClr val="2E2E2E"/>
                </a:solidFill>
                <a:latin typeface="Calibri"/>
              </a:rPr>
              <a:t>Flat Dividers &amp; Layer…</a:t>
            </a:r>
          </a:p>
        </p:txBody>
      </p:sp>
      <p:sp>
        <p:nvSpPr>
          <p:cNvPr id="28" name="Rounded Rectangle 27"/>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238125" y="4048891"/>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Price Variation by Region</a:t>
            </a:r>
          </a:p>
        </p:txBody>
      </p:sp>
      <p:cxnSp>
        <p:nvCxnSpPr>
          <p:cNvPr id="30" name="Connector 29"/>
          <p:cNvCxnSpPr/>
          <p:nvPr/>
        </p:nvCxnSpPr>
        <p:spPr>
          <a:xfrm>
            <a:off x="619125" y="451706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619125" y="488318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619125" y="561541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619125" y="598152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517069"/>
            <a:ext cx="0" cy="1464458"/>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590550" y="451706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90550" y="488318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590550" y="561541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598152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1" name="FMI Scale tick"/>
          <p:cNvSpPr txBox="1"/>
          <p:nvPr/>
        </p:nvSpPr>
        <p:spPr>
          <a:xfrm>
            <a:off x="138112" y="4450394"/>
            <a:ext cx="442912" cy="133350"/>
          </a:xfrm>
          <a:prstGeom prst="rect">
            <a:avLst/>
          </a:prstGeom>
          <a:noFill/>
        </p:spPr>
        <p:txBody>
          <a:bodyPr wrap="square" lIns="28575" tIns="9525" rIns="28575" bIns="9525" anchor="ctr">
            <a:spAutoFit/>
          </a:bodyPr>
          <a:lstStyle/>
          <a:p>
            <a:pPr algn="r"/>
            <a:r>
              <a:rPr sz="1100" b="0">
                <a:solidFill>
                  <a:srgbClr val="6C7A89"/>
                </a:solidFill>
                <a:latin typeface="Calibri"/>
              </a:rPr>
              <a:t>+9.3%</a:t>
            </a:r>
          </a:p>
        </p:txBody>
      </p:sp>
      <p:sp>
        <p:nvSpPr>
          <p:cNvPr id="42" name="FMI Scale tick"/>
          <p:cNvSpPr txBox="1"/>
          <p:nvPr/>
        </p:nvSpPr>
        <p:spPr>
          <a:xfrm>
            <a:off x="138112" y="4816508"/>
            <a:ext cx="442912" cy="133350"/>
          </a:xfrm>
          <a:prstGeom prst="rect">
            <a:avLst/>
          </a:prstGeom>
          <a:noFill/>
        </p:spPr>
        <p:txBody>
          <a:bodyPr wrap="square" lIns="28575" tIns="9525" rIns="28575" bIns="9525" anchor="ctr">
            <a:spAutoFit/>
          </a:bodyPr>
          <a:lstStyle/>
          <a:p>
            <a:pPr algn="r"/>
            <a:r>
              <a:rPr sz="1100" b="0">
                <a:solidFill>
                  <a:srgbClr val="6C7A89"/>
                </a:solidFill>
                <a:latin typeface="Calibri"/>
              </a:rPr>
              <a:t>+4.7%</a:t>
            </a:r>
          </a:p>
        </p:txBody>
      </p:sp>
      <p:sp>
        <p:nvSpPr>
          <p:cNvPr id="43" name="FMI Scale tick"/>
          <p:cNvSpPr txBox="1"/>
          <p:nvPr/>
        </p:nvSpPr>
        <p:spPr>
          <a:xfrm>
            <a:off x="219075" y="5182623"/>
            <a:ext cx="361950" cy="133350"/>
          </a:xfrm>
          <a:prstGeom prst="rect">
            <a:avLst/>
          </a:prstGeom>
          <a:noFill/>
        </p:spPr>
        <p:txBody>
          <a:bodyPr wrap="none" lIns="0" tIns="0" rIns="0" bIns="0" anchor="ctr">
            <a:spAutoFit/>
          </a:bodyPr>
          <a:lstStyle/>
          <a:p>
            <a:pPr algn="r"/>
            <a:r>
              <a:rPr sz="1100" b="0">
                <a:solidFill>
                  <a:srgbClr val="6C7A89"/>
                </a:solidFill>
                <a:latin typeface="Calibri"/>
              </a:rPr>
              <a:t>0%</a:t>
            </a:r>
          </a:p>
        </p:txBody>
      </p:sp>
      <p:sp>
        <p:nvSpPr>
          <p:cNvPr id="44" name="FMI Scale tick"/>
          <p:cNvSpPr txBox="1"/>
          <p:nvPr/>
        </p:nvSpPr>
        <p:spPr>
          <a:xfrm>
            <a:off x="164306" y="5548738"/>
            <a:ext cx="416719" cy="133350"/>
          </a:xfrm>
          <a:prstGeom prst="rect">
            <a:avLst/>
          </a:prstGeom>
          <a:noFill/>
        </p:spPr>
        <p:txBody>
          <a:bodyPr wrap="square" lIns="28575" tIns="9525" rIns="28575" bIns="9525" anchor="ctr">
            <a:spAutoFit/>
          </a:bodyPr>
          <a:lstStyle/>
          <a:p>
            <a:pPr algn="r"/>
            <a:r>
              <a:rPr sz="1100" b="0">
                <a:solidFill>
                  <a:srgbClr val="6C7A89"/>
                </a:solidFill>
                <a:latin typeface="Calibri"/>
              </a:rPr>
              <a:t>-4.7%</a:t>
            </a:r>
          </a:p>
        </p:txBody>
      </p:sp>
      <p:sp>
        <p:nvSpPr>
          <p:cNvPr id="45" name="FMI Scale tick"/>
          <p:cNvSpPr txBox="1"/>
          <p:nvPr/>
        </p:nvSpPr>
        <p:spPr>
          <a:xfrm>
            <a:off x="164306" y="5914852"/>
            <a:ext cx="416719" cy="133350"/>
          </a:xfrm>
          <a:prstGeom prst="rect">
            <a:avLst/>
          </a:prstGeom>
          <a:noFill/>
        </p:spPr>
        <p:txBody>
          <a:bodyPr wrap="square" lIns="28575" tIns="9525" rIns="28575" bIns="9525" anchor="ctr">
            <a:spAutoFit/>
          </a:bodyPr>
          <a:lstStyle/>
          <a:p>
            <a:pPr algn="r"/>
            <a:r>
              <a:rPr sz="1100" b="0">
                <a:solidFill>
                  <a:srgbClr val="6C7A89"/>
                </a:solidFill>
                <a:latin typeface="Calibri"/>
              </a:rPr>
              <a:t>-9.3%</a:t>
            </a:r>
          </a:p>
        </p:txBody>
      </p:sp>
      <p:cxnSp>
        <p:nvCxnSpPr>
          <p:cNvPr id="46" name="Connector 45"/>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977900" y="4659031"/>
            <a:ext cx="457200" cy="59026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FMI Data Label"/>
          <p:cNvSpPr txBox="1"/>
          <p:nvPr/>
        </p:nvSpPr>
        <p:spPr>
          <a:xfrm>
            <a:off x="619125" y="4516156"/>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49" name="Rectangle 48"/>
          <p:cNvSpPr/>
          <p:nvPr/>
        </p:nvSpPr>
        <p:spPr>
          <a:xfrm>
            <a:off x="2152650" y="4645075"/>
            <a:ext cx="457200" cy="60422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FMI Data Label"/>
          <p:cNvSpPr txBox="1"/>
          <p:nvPr/>
        </p:nvSpPr>
        <p:spPr>
          <a:xfrm>
            <a:off x="1793875" y="4502200"/>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51" name="Rectangle 50"/>
          <p:cNvSpPr/>
          <p:nvPr/>
        </p:nvSpPr>
        <p:spPr>
          <a:xfrm>
            <a:off x="3327400" y="4663115"/>
            <a:ext cx="457200" cy="58618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FMI Data Label"/>
          <p:cNvSpPr txBox="1"/>
          <p:nvPr/>
        </p:nvSpPr>
        <p:spPr>
          <a:xfrm>
            <a:off x="2968625" y="4520240"/>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53" name="Rectangle 52"/>
          <p:cNvSpPr/>
          <p:nvPr/>
        </p:nvSpPr>
        <p:spPr>
          <a:xfrm>
            <a:off x="4502150" y="4686396"/>
            <a:ext cx="457200" cy="56290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FMI Data Label"/>
          <p:cNvSpPr txBox="1"/>
          <p:nvPr/>
        </p:nvSpPr>
        <p:spPr>
          <a:xfrm>
            <a:off x="4143375" y="4543521"/>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55" name="Rectangle 54"/>
          <p:cNvSpPr/>
          <p:nvPr/>
        </p:nvSpPr>
        <p:spPr>
          <a:xfrm>
            <a:off x="5676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FMI Data Label"/>
          <p:cNvSpPr txBox="1"/>
          <p:nvPr/>
        </p:nvSpPr>
        <p:spPr>
          <a:xfrm>
            <a:off x="5318125" y="4471232"/>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57" name="Rectangle 56"/>
          <p:cNvSpPr/>
          <p:nvPr/>
        </p:nvSpPr>
        <p:spPr>
          <a:xfrm>
            <a:off x="6851650" y="4667910"/>
            <a:ext cx="457200" cy="58138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FMI Data Label"/>
          <p:cNvSpPr txBox="1"/>
          <p:nvPr/>
        </p:nvSpPr>
        <p:spPr>
          <a:xfrm>
            <a:off x="6492875" y="4525035"/>
            <a:ext cx="1174750" cy="133350"/>
          </a:xfrm>
          <a:prstGeom prst="rect">
            <a:avLst/>
          </a:prstGeom>
          <a:noFill/>
        </p:spPr>
        <p:txBody>
          <a:bodyPr wrap="square" lIns="28575" tIns="9525" rIns="28575" bIns="9525">
            <a:spAutoFit/>
          </a:bodyPr>
          <a:lstStyle/>
          <a:p>
            <a:pPr algn="ctr"/>
            <a:r>
              <a:rPr sz="1100" b="1">
                <a:solidFill>
                  <a:srgbClr val="2E2E2E"/>
                </a:solidFill>
                <a:latin typeface="Calibri"/>
              </a:rPr>
              <a:t> </a:t>
            </a:r>
          </a:p>
        </p:txBody>
      </p:sp>
      <p:sp>
        <p:nvSpPr>
          <p:cNvPr id="59" name="TextBox 58"/>
          <p:cNvSpPr txBox="1"/>
          <p:nvPr/>
        </p:nvSpPr>
        <p:spPr>
          <a:xfrm>
            <a:off x="61912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North America</a:t>
            </a:r>
          </a:p>
        </p:txBody>
      </p:sp>
      <p:sp>
        <p:nvSpPr>
          <p:cNvPr id="60" name="TextBox 59"/>
          <p:cNvSpPr txBox="1"/>
          <p:nvPr/>
        </p:nvSpPr>
        <p:spPr>
          <a:xfrm>
            <a:off x="179387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Latin America</a:t>
            </a:r>
          </a:p>
        </p:txBody>
      </p:sp>
      <p:sp>
        <p:nvSpPr>
          <p:cNvPr id="61" name="TextBox 60"/>
          <p:cNvSpPr txBox="1"/>
          <p:nvPr/>
        </p:nvSpPr>
        <p:spPr>
          <a:xfrm>
            <a:off x="296862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Europe</a:t>
            </a:r>
          </a:p>
        </p:txBody>
      </p:sp>
      <p:sp>
        <p:nvSpPr>
          <p:cNvPr id="62" name="TextBox 61"/>
          <p:cNvSpPr txBox="1"/>
          <p:nvPr/>
        </p:nvSpPr>
        <p:spPr>
          <a:xfrm>
            <a:off x="414337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East Asia</a:t>
            </a:r>
          </a:p>
        </p:txBody>
      </p:sp>
      <p:sp>
        <p:nvSpPr>
          <p:cNvPr id="63" name="TextBox 62"/>
          <p:cNvSpPr txBox="1"/>
          <p:nvPr/>
        </p:nvSpPr>
        <p:spPr>
          <a:xfrm>
            <a:off x="531812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South Asia &amp; Pacific</a:t>
            </a:r>
          </a:p>
        </p:txBody>
      </p:sp>
      <p:sp>
        <p:nvSpPr>
          <p:cNvPr id="64" name="TextBox 63"/>
          <p:cNvSpPr txBox="1"/>
          <p:nvPr/>
        </p:nvSpPr>
        <p:spPr>
          <a:xfrm>
            <a:off x="6492875" y="6135380"/>
            <a:ext cx="1174750" cy="247650"/>
          </a:xfrm>
          <a:prstGeom prst="rect">
            <a:avLst/>
          </a:prstGeom>
          <a:noFill/>
        </p:spPr>
        <p:txBody>
          <a:bodyPr wrap="square" lIns="28575" tIns="9525" rIns="28575" bIns="9525">
            <a:spAutoFit/>
          </a:bodyPr>
          <a:lstStyle/>
          <a:p>
            <a:pPr algn="ctr"/>
            <a:r>
              <a:rPr sz="1100" b="0">
                <a:solidFill>
                  <a:srgbClr val="2E2E2E"/>
                </a:solidFill>
                <a:latin typeface="Calibri"/>
              </a:rPr>
              <a:t>Middle East &amp; Africa</a:t>
            </a:r>
          </a:p>
        </p:txBody>
      </p:sp>
      <p:sp>
        <p:nvSpPr>
          <p:cNvPr id="65" name="Rounded Rectangle 6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TextBox 65"/>
          <p:cNvSpPr txBox="1"/>
          <p:nvPr/>
        </p:nvSpPr>
        <p:spPr>
          <a:xfrm>
            <a:off x="8048625" y="1403299"/>
            <a:ext cx="38671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67" name="Rectangle 6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TextBox 67"/>
          <p:cNvSpPr txBox="1"/>
          <p:nvPr/>
        </p:nvSpPr>
        <p:spPr>
          <a:xfrm>
            <a:off x="8048625" y="1727149"/>
            <a:ext cx="3867150" cy="4753036"/>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69" name="TextBox 6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70" name="Picture 69" descr="lock.png"/>
          <p:cNvPicPr>
            <a:picLocks noChangeAspect="1"/>
          </p:cNvPicPr>
          <p:nvPr/>
        </p:nvPicPr>
        <p:blipFill>
          <a:blip r:embed="rId4"/>
          <a:stretch>
            <a:fillRect/>
          </a:stretch>
        </p:blipFill>
        <p:spPr>
          <a:xfrm>
            <a:off x="345225" y="3444127"/>
            <a:ext cx="128699" cy="187198"/>
          </a:xfrm>
          <a:prstGeom prst="rect">
            <a:avLst/>
          </a:prstGeom>
        </p:spPr>
      </p:pic>
      <p:pic>
        <p:nvPicPr>
          <p:cNvPr id="71" name="Picture 70" descr="lock.png"/>
          <p:cNvPicPr>
            <a:picLocks noChangeAspect="1"/>
          </p:cNvPicPr>
          <p:nvPr/>
        </p:nvPicPr>
        <p:blipFill>
          <a:blip r:embed="rId4"/>
          <a:stretch>
            <a:fillRect/>
          </a:stretch>
        </p:blipFill>
        <p:spPr>
          <a:xfrm>
            <a:off x="345225" y="2534076"/>
            <a:ext cx="128699" cy="187198"/>
          </a:xfrm>
          <a:prstGeom prst="rect">
            <a:avLst/>
          </a:prstGeom>
        </p:spPr>
      </p:pic>
      <p:pic>
        <p:nvPicPr>
          <p:cNvPr id="72" name="Picture 71" descr="lock.png"/>
          <p:cNvPicPr>
            <a:picLocks noChangeAspect="1"/>
          </p:cNvPicPr>
          <p:nvPr/>
        </p:nvPicPr>
        <p:blipFill>
          <a:blip r:embed="rId4"/>
          <a:stretch>
            <a:fillRect/>
          </a:stretch>
        </p:blipFill>
        <p:spPr>
          <a:xfrm>
            <a:off x="291647" y="1624025"/>
            <a:ext cx="128699" cy="187198"/>
          </a:xfrm>
          <a:prstGeom prst="rect">
            <a:avLst/>
          </a:prstGeom>
        </p:spPr>
      </p:pic>
      <p:pic>
        <p:nvPicPr>
          <p:cNvPr id="73" name="Picture 72" descr="lock.png"/>
          <p:cNvPicPr>
            <a:picLocks noChangeAspect="1"/>
          </p:cNvPicPr>
          <p:nvPr/>
        </p:nvPicPr>
        <p:blipFill>
          <a:blip r:embed="rId4"/>
          <a:stretch>
            <a:fillRect/>
          </a:stretch>
        </p:blipFill>
        <p:spPr>
          <a:xfrm>
            <a:off x="1761275" y="2724327"/>
            <a:ext cx="128699" cy="187198"/>
          </a:xfrm>
          <a:prstGeom prst="rect">
            <a:avLst/>
          </a:prstGeom>
        </p:spPr>
      </p:pic>
      <p:pic>
        <p:nvPicPr>
          <p:cNvPr id="74" name="Picture 73" descr="lock.png"/>
          <p:cNvPicPr>
            <a:picLocks noChangeAspect="1"/>
          </p:cNvPicPr>
          <p:nvPr/>
        </p:nvPicPr>
        <p:blipFill>
          <a:blip r:embed="rId4"/>
          <a:stretch>
            <a:fillRect/>
          </a:stretch>
        </p:blipFill>
        <p:spPr>
          <a:xfrm>
            <a:off x="4098075" y="1748312"/>
            <a:ext cx="128699" cy="187198"/>
          </a:xfrm>
          <a:prstGeom prst="rect">
            <a:avLst/>
          </a:prstGeom>
        </p:spPr>
      </p:pic>
      <p:pic>
        <p:nvPicPr>
          <p:cNvPr id="75" name="Picture 74" descr="lock.png"/>
          <p:cNvPicPr>
            <a:picLocks noChangeAspect="1"/>
          </p:cNvPicPr>
          <p:nvPr/>
        </p:nvPicPr>
        <p:blipFill>
          <a:blip r:embed="rId4"/>
          <a:stretch>
            <a:fillRect/>
          </a:stretch>
        </p:blipFill>
        <p:spPr>
          <a:xfrm>
            <a:off x="6434875" y="2233740"/>
            <a:ext cx="128699" cy="187198"/>
          </a:xfrm>
          <a:prstGeom prst="rect">
            <a:avLst/>
          </a:prstGeom>
        </p:spPr>
      </p:pic>
      <p:pic>
        <p:nvPicPr>
          <p:cNvPr id="76" name="Picture 75" descr="lock.png"/>
          <p:cNvPicPr>
            <a:picLocks noChangeAspect="1"/>
          </p:cNvPicPr>
          <p:nvPr/>
        </p:nvPicPr>
        <p:blipFill>
          <a:blip r:embed="rId4"/>
          <a:stretch>
            <a:fillRect/>
          </a:stretch>
        </p:blipFill>
        <p:spPr>
          <a:xfrm>
            <a:off x="1142150" y="4489232"/>
            <a:ext cx="128699" cy="187198"/>
          </a:xfrm>
          <a:prstGeom prst="rect">
            <a:avLst/>
          </a:prstGeom>
        </p:spPr>
      </p:pic>
      <p:pic>
        <p:nvPicPr>
          <p:cNvPr id="77" name="Picture 76" descr="lock.png"/>
          <p:cNvPicPr>
            <a:picLocks noChangeAspect="1"/>
          </p:cNvPicPr>
          <p:nvPr/>
        </p:nvPicPr>
        <p:blipFill>
          <a:blip r:embed="rId4"/>
          <a:stretch>
            <a:fillRect/>
          </a:stretch>
        </p:blipFill>
        <p:spPr>
          <a:xfrm>
            <a:off x="2316900" y="4475276"/>
            <a:ext cx="128699" cy="187198"/>
          </a:xfrm>
          <a:prstGeom prst="rect">
            <a:avLst/>
          </a:prstGeom>
        </p:spPr>
      </p:pic>
      <p:pic>
        <p:nvPicPr>
          <p:cNvPr id="78" name="Picture 77" descr="lock.png"/>
          <p:cNvPicPr>
            <a:picLocks noChangeAspect="1"/>
          </p:cNvPicPr>
          <p:nvPr/>
        </p:nvPicPr>
        <p:blipFill>
          <a:blip r:embed="rId4"/>
          <a:stretch>
            <a:fillRect/>
          </a:stretch>
        </p:blipFill>
        <p:spPr>
          <a:xfrm>
            <a:off x="3491650" y="4493316"/>
            <a:ext cx="128699" cy="187198"/>
          </a:xfrm>
          <a:prstGeom prst="rect">
            <a:avLst/>
          </a:prstGeom>
        </p:spPr>
      </p:pic>
      <p:pic>
        <p:nvPicPr>
          <p:cNvPr id="79" name="Picture 78" descr="lock.png"/>
          <p:cNvPicPr>
            <a:picLocks noChangeAspect="1"/>
          </p:cNvPicPr>
          <p:nvPr/>
        </p:nvPicPr>
        <p:blipFill>
          <a:blip r:embed="rId4"/>
          <a:stretch>
            <a:fillRect/>
          </a:stretch>
        </p:blipFill>
        <p:spPr>
          <a:xfrm>
            <a:off x="4666400" y="4516597"/>
            <a:ext cx="128699" cy="187198"/>
          </a:xfrm>
          <a:prstGeom prst="rect">
            <a:avLst/>
          </a:prstGeom>
        </p:spPr>
      </p:pic>
      <p:pic>
        <p:nvPicPr>
          <p:cNvPr id="80" name="Picture 79" descr="lock.png"/>
          <p:cNvPicPr>
            <a:picLocks noChangeAspect="1"/>
          </p:cNvPicPr>
          <p:nvPr/>
        </p:nvPicPr>
        <p:blipFill>
          <a:blip r:embed="rId4"/>
          <a:stretch>
            <a:fillRect/>
          </a:stretch>
        </p:blipFill>
        <p:spPr>
          <a:xfrm>
            <a:off x="5841150" y="4444308"/>
            <a:ext cx="128699" cy="187198"/>
          </a:xfrm>
          <a:prstGeom prst="rect">
            <a:avLst/>
          </a:prstGeom>
        </p:spPr>
      </p:pic>
      <p:pic>
        <p:nvPicPr>
          <p:cNvPr id="81" name="Picture 80" descr="lock.png"/>
          <p:cNvPicPr>
            <a:picLocks noChangeAspect="1"/>
          </p:cNvPicPr>
          <p:nvPr/>
        </p:nvPicPr>
        <p:blipFill>
          <a:blip r:embed="rId4"/>
          <a:stretch>
            <a:fillRect/>
          </a:stretch>
        </p:blipFill>
        <p:spPr>
          <a:xfrm>
            <a:off x="7015900" y="4498111"/>
            <a:ext cx="128699" cy="187198"/>
          </a:xfrm>
          <a:prstGeom prst="rect">
            <a:avLst/>
          </a:prstGeom>
        </p:spPr>
      </p:pic>
      <p:sp>
        <p:nvSpPr>
          <p:cNvPr id="82" name="TextBox 81"/>
          <p:cNvSpPr txBox="1"/>
          <p:nvPr/>
        </p:nvSpPr>
        <p:spPr>
          <a:xfrm>
            <a:off x="8048625" y="1736673"/>
            <a:ext cx="3702062" cy="194310"/>
          </a:xfrm>
          <a:prstGeom prst="rect">
            <a:avLst/>
          </a:prstGeom>
          <a:noFill/>
        </p:spPr>
        <p:txBody>
          <a:bodyPr wrap="none" lIns="0" tIns="0" rIns="0" bIns="0">
            <a:spAutoFit/>
          </a:bodyPr>
          <a:lstStyle/>
          <a:p>
            <a:r>
              <a:rPr sz="1150" b="0">
                <a:solidFill>
                  <a:srgbClr val="2E2E2E"/>
                </a:solidFill>
                <a:latin typeface="Calibri"/>
              </a:rPr>
              <a:t>▪ The chart shows global average pricing of key partition type</a:t>
            </a:r>
          </a:p>
        </p:txBody>
      </p:sp>
      <p:sp>
        <p:nvSpPr>
          <p:cNvPr id="83" name="TextBox 82"/>
          <p:cNvSpPr txBox="1"/>
          <p:nvPr/>
        </p:nvSpPr>
        <p:spPr>
          <a:xfrm>
            <a:off x="8048625" y="1911934"/>
            <a:ext cx="3848100" cy="194310"/>
          </a:xfrm>
          <a:prstGeom prst="rect">
            <a:avLst/>
          </a:prstGeom>
          <a:noFill/>
        </p:spPr>
        <p:txBody>
          <a:bodyPr wrap="none" lIns="0" tIns="0" rIns="0" bIns="0">
            <a:spAutoFit/>
          </a:bodyPr>
          <a:lstStyle/>
          <a:p>
            <a:r>
              <a:rPr sz="1150" b="0">
                <a:solidFill>
                  <a:srgbClr val="2E2E2E"/>
                </a:solidFill>
                <a:latin typeface="Calibri"/>
              </a:rPr>
              <a:t>types in USD, harmonised across regions. Each candlestick spans</a:t>
            </a:r>
          </a:p>
        </p:txBody>
      </p:sp>
      <p:sp>
        <p:nvSpPr>
          <p:cNvPr id="84" name="TextBox 83"/>
          <p:cNvSpPr txBox="1"/>
          <p:nvPr/>
        </p:nvSpPr>
        <p:spPr>
          <a:xfrm>
            <a:off x="8048625" y="2087194"/>
            <a:ext cx="3848100" cy="194310"/>
          </a:xfrm>
          <a:prstGeom prst="rect">
            <a:avLst/>
          </a:prstGeom>
          <a:noFill/>
        </p:spPr>
        <p:txBody>
          <a:bodyPr wrap="none" lIns="0" tIns="0" rIns="0" bIns="0">
            <a:spAutoFit/>
          </a:bodyPr>
          <a:lstStyle/>
          <a:p>
            <a:r>
              <a:rPr sz="1150" b="0">
                <a:solidFill>
                  <a:srgbClr val="2E2E2E"/>
                </a:solidFill>
                <a:latin typeface="Calibri"/>
              </a:rPr>
              <a:t>the minimum-to-maximum observed price within the base year,</a:t>
            </a:r>
          </a:p>
        </p:txBody>
      </p:sp>
      <p:sp>
        <p:nvSpPr>
          <p:cNvPr id="85" name="TextBox 84"/>
          <p:cNvSpPr txBox="1"/>
          <p:nvPr/>
        </p:nvSpPr>
        <p:spPr>
          <a:xfrm>
            <a:off x="8048625" y="2262454"/>
            <a:ext cx="3406254" cy="194310"/>
          </a:xfrm>
          <a:prstGeom prst="rect">
            <a:avLst/>
          </a:prstGeom>
          <a:noFill/>
        </p:spPr>
        <p:txBody>
          <a:bodyPr wrap="none" lIns="0" tIns="0" rIns="0" bIns="0">
            <a:spAutoFit/>
          </a:bodyPr>
          <a:lstStyle/>
          <a:p>
            <a:r>
              <a:rPr sz="1150" b="0">
                <a:solidFill>
                  <a:srgbClr val="2E2E2E"/>
                </a:solidFill>
                <a:latin typeface="Calibri"/>
              </a:rPr>
              <a:t>giving a clear read of price range and market dispersion.</a:t>
            </a:r>
          </a:p>
        </p:txBody>
      </p:sp>
      <p:sp>
        <p:nvSpPr>
          <p:cNvPr id="86" name="TextBox 85"/>
          <p:cNvSpPr txBox="1"/>
          <p:nvPr/>
        </p:nvSpPr>
        <p:spPr>
          <a:xfrm>
            <a:off x="8048625" y="2490292"/>
            <a:ext cx="3793058" cy="194310"/>
          </a:xfrm>
          <a:prstGeom prst="rect">
            <a:avLst/>
          </a:prstGeom>
          <a:noFill/>
        </p:spPr>
        <p:txBody>
          <a:bodyPr wrap="none" lIns="0" tIns="0" rIns="0" bIns="0">
            <a:spAutoFit/>
          </a:bodyPr>
          <a:lstStyle/>
          <a:p>
            <a:r>
              <a:rPr sz="1150" b="0">
                <a:solidFill>
                  <a:srgbClr val="2E2E2E"/>
                </a:solidFill>
                <a:latin typeface="Calibri"/>
              </a:rPr>
              <a:t>▪ Wider bodies mark a larger gap between opening and closing</a:t>
            </a:r>
          </a:p>
        </p:txBody>
      </p:sp>
      <p:sp>
        <p:nvSpPr>
          <p:cNvPr id="87" name="TextBox 86"/>
          <p:cNvSpPr txBox="1"/>
          <p:nvPr/>
        </p:nvSpPr>
        <p:spPr>
          <a:xfrm>
            <a:off x="8048625" y="2665551"/>
            <a:ext cx="3619624" cy="194310"/>
          </a:xfrm>
          <a:prstGeom prst="rect">
            <a:avLst/>
          </a:prstGeom>
          <a:noFill/>
        </p:spPr>
        <p:txBody>
          <a:bodyPr wrap="none" lIns="0" tIns="0" rIns="0" bIns="0">
            <a:spAutoFit/>
          </a:bodyPr>
          <a:lstStyle/>
          <a:p>
            <a:r>
              <a:rPr sz="1150" b="0">
                <a:solidFill>
                  <a:srgbClr val="2E2E2E"/>
                </a:solidFill>
                <a:latin typeface="Calibri"/>
              </a:rPr>
              <a:t>price levels 'Slotted (Interlocking Grid) Partitions' shows the</a:t>
            </a:r>
          </a:p>
        </p:txBody>
      </p:sp>
      <p:sp>
        <p:nvSpPr>
          <p:cNvPr id="88" name="TextBox 87"/>
          <p:cNvSpPr txBox="1"/>
          <p:nvPr/>
        </p:nvSpPr>
        <p:spPr>
          <a:xfrm>
            <a:off x="8048625" y="2840811"/>
            <a:ext cx="1206661" cy="194310"/>
          </a:xfrm>
          <a:prstGeom prst="rect">
            <a:avLst/>
          </a:prstGeom>
          <a:noFill/>
        </p:spPr>
        <p:txBody>
          <a:bodyPr wrap="none" lIns="0" tIns="0" rIns="0" bIns="0">
            <a:spAutoFit/>
          </a:bodyPr>
          <a:lstStyle/>
          <a:p>
            <a:r>
              <a:rPr sz="1150" b="0">
                <a:solidFill>
                  <a:srgbClr val="2E2E2E"/>
                </a:solidFill>
                <a:latin typeface="Calibri"/>
              </a:rPr>
              <a:t>most movement (+</a:t>
            </a:r>
          </a:p>
        </p:txBody>
      </p:sp>
      <p:pic>
        <p:nvPicPr>
          <p:cNvPr id="89" name="Picture 88" descr="lock.png"/>
          <p:cNvPicPr>
            <a:picLocks noChangeAspect="1"/>
          </p:cNvPicPr>
          <p:nvPr/>
        </p:nvPicPr>
        <p:blipFill>
          <a:blip r:embed="rId4"/>
          <a:stretch>
            <a:fillRect/>
          </a:stretch>
        </p:blipFill>
        <p:spPr>
          <a:xfrm>
            <a:off x="9204440" y="2830588"/>
            <a:ext cx="134549" cy="195707"/>
          </a:xfrm>
          <a:prstGeom prst="rect">
            <a:avLst/>
          </a:prstGeom>
        </p:spPr>
      </p:pic>
      <p:sp>
        <p:nvSpPr>
          <p:cNvPr id="90" name="TextBox 89"/>
          <p:cNvSpPr txBox="1"/>
          <p:nvPr/>
        </p:nvSpPr>
        <p:spPr>
          <a:xfrm>
            <a:off x="9379549" y="2840811"/>
            <a:ext cx="2062391" cy="194310"/>
          </a:xfrm>
          <a:prstGeom prst="rect">
            <a:avLst/>
          </a:prstGeom>
          <a:noFill/>
        </p:spPr>
        <p:txBody>
          <a:bodyPr wrap="none" lIns="0" tIns="0" rIns="0" bIns="0">
            <a:spAutoFit/>
          </a:bodyPr>
          <a:lstStyle/>
          <a:p>
            <a:r>
              <a:rPr sz="1150" b="0">
                <a:solidFill>
                  <a:srgbClr val="2E2E2E"/>
                </a:solidFill>
                <a:latin typeface="Calibri"/>
              </a:rPr>
              <a:t>) and 'Die-Cut &amp; Folded Partitions</a:t>
            </a:r>
          </a:p>
        </p:txBody>
      </p:sp>
      <p:sp>
        <p:nvSpPr>
          <p:cNvPr id="91" name="TextBox 90"/>
          <p:cNvSpPr txBox="1"/>
          <p:nvPr/>
        </p:nvSpPr>
        <p:spPr>
          <a:xfrm>
            <a:off x="8048625" y="3016071"/>
            <a:ext cx="2531095" cy="194310"/>
          </a:xfrm>
          <a:prstGeom prst="rect">
            <a:avLst/>
          </a:prstGeom>
          <a:noFill/>
        </p:spPr>
        <p:txBody>
          <a:bodyPr wrap="none" lIns="0" tIns="0" rIns="0" bIns="0">
            <a:spAutoFit/>
          </a:bodyPr>
          <a:lstStyle/>
          <a:p>
            <a:r>
              <a:rPr sz="1150" b="0">
                <a:solidFill>
                  <a:srgbClr val="2E2E2E"/>
                </a:solidFill>
                <a:latin typeface="Calibri"/>
              </a:rPr>
              <a:t>(H-dividers, tube/cell inserts)' the least (+</a:t>
            </a:r>
          </a:p>
        </p:txBody>
      </p:sp>
      <p:pic>
        <p:nvPicPr>
          <p:cNvPr id="92" name="Picture 91" descr="lock.png"/>
          <p:cNvPicPr>
            <a:picLocks noChangeAspect="1"/>
          </p:cNvPicPr>
          <p:nvPr/>
        </p:nvPicPr>
        <p:blipFill>
          <a:blip r:embed="rId4"/>
          <a:stretch>
            <a:fillRect/>
          </a:stretch>
        </p:blipFill>
        <p:spPr>
          <a:xfrm>
            <a:off x="10528874" y="3005848"/>
            <a:ext cx="134549" cy="195707"/>
          </a:xfrm>
          <a:prstGeom prst="rect">
            <a:avLst/>
          </a:prstGeom>
        </p:spPr>
      </p:pic>
      <p:sp>
        <p:nvSpPr>
          <p:cNvPr id="93" name="TextBox 92"/>
          <p:cNvSpPr txBox="1"/>
          <p:nvPr/>
        </p:nvSpPr>
        <p:spPr>
          <a:xfrm>
            <a:off x="10703983" y="3016071"/>
            <a:ext cx="736848" cy="194310"/>
          </a:xfrm>
          <a:prstGeom prst="rect">
            <a:avLst/>
          </a:prstGeom>
          <a:noFill/>
        </p:spPr>
        <p:txBody>
          <a:bodyPr wrap="none" lIns="0" tIns="0" rIns="0" bIns="0">
            <a:spAutoFit/>
          </a:bodyPr>
          <a:lstStyle/>
          <a:p>
            <a:r>
              <a:rPr sz="1150" b="0">
                <a:solidFill>
                  <a:srgbClr val="2E2E2E"/>
                </a:solidFill>
                <a:latin typeface="Calibri"/>
              </a:rPr>
              <a:t>) variability</a:t>
            </a:r>
          </a:p>
        </p:txBody>
      </p:sp>
      <p:sp>
        <p:nvSpPr>
          <p:cNvPr id="94" name="TextBox 93"/>
          <p:cNvSpPr txBox="1"/>
          <p:nvPr/>
        </p:nvSpPr>
        <p:spPr>
          <a:xfrm>
            <a:off x="8048625" y="3191331"/>
            <a:ext cx="3668117" cy="194310"/>
          </a:xfrm>
          <a:prstGeom prst="rect">
            <a:avLst/>
          </a:prstGeom>
          <a:noFill/>
        </p:spPr>
        <p:txBody>
          <a:bodyPr wrap="none" lIns="0" tIns="0" rIns="0" bIns="0">
            <a:spAutoFit/>
          </a:bodyPr>
          <a:lstStyle/>
          <a:p>
            <a:r>
              <a:rPr sz="1150" b="0">
                <a:solidFill>
                  <a:srgbClr val="2E2E2E"/>
                </a:solidFill>
                <a:latin typeface="Calibri"/>
              </a:rPr>
              <a:t>stakeholders should monitor when planning procurement or</a:t>
            </a:r>
          </a:p>
        </p:txBody>
      </p:sp>
      <p:sp>
        <p:nvSpPr>
          <p:cNvPr id="95" name="TextBox 94"/>
          <p:cNvSpPr txBox="1"/>
          <p:nvPr/>
        </p:nvSpPr>
        <p:spPr>
          <a:xfrm>
            <a:off x="8048625" y="3366591"/>
            <a:ext cx="515491" cy="194310"/>
          </a:xfrm>
          <a:prstGeom prst="rect">
            <a:avLst/>
          </a:prstGeom>
          <a:noFill/>
        </p:spPr>
        <p:txBody>
          <a:bodyPr wrap="none" lIns="0" tIns="0" rIns="0" bIns="0">
            <a:spAutoFit/>
          </a:bodyPr>
          <a:lstStyle/>
          <a:p>
            <a:r>
              <a:rPr sz="1150" b="0">
                <a:solidFill>
                  <a:srgbClr val="2E2E2E"/>
                </a:solidFill>
                <a:latin typeface="Calibri"/>
              </a:rPr>
              <a:t>pricing.</a:t>
            </a:r>
          </a:p>
        </p:txBody>
      </p:sp>
      <p:sp>
        <p:nvSpPr>
          <p:cNvPr id="96" name="TextBox 95"/>
          <p:cNvSpPr txBox="1"/>
          <p:nvPr/>
        </p:nvSpPr>
        <p:spPr>
          <a:xfrm>
            <a:off x="8048625" y="3594429"/>
            <a:ext cx="3718607" cy="194310"/>
          </a:xfrm>
          <a:prstGeom prst="rect">
            <a:avLst/>
          </a:prstGeom>
          <a:noFill/>
        </p:spPr>
        <p:txBody>
          <a:bodyPr wrap="none" lIns="0" tIns="0" rIns="0" bIns="0">
            <a:spAutoFit/>
          </a:bodyPr>
          <a:lstStyle/>
          <a:p>
            <a:r>
              <a:rPr sz="1150" b="0">
                <a:solidFill>
                  <a:srgbClr val="2E2E2E"/>
                </a:solidFill>
                <a:latin typeface="Calibri"/>
              </a:rPr>
              <a:t>▪ The lower chart indexes region-level price movement to the</a:t>
            </a:r>
          </a:p>
        </p:txBody>
      </p:sp>
      <p:sp>
        <p:nvSpPr>
          <p:cNvPr id="97" name="TextBox 96"/>
          <p:cNvSpPr txBox="1"/>
          <p:nvPr/>
        </p:nvSpPr>
        <p:spPr>
          <a:xfrm>
            <a:off x="8048625" y="3769689"/>
            <a:ext cx="3716610" cy="194310"/>
          </a:xfrm>
          <a:prstGeom prst="rect">
            <a:avLst/>
          </a:prstGeom>
          <a:noFill/>
        </p:spPr>
        <p:txBody>
          <a:bodyPr wrap="none" lIns="0" tIns="0" rIns="0" bIns="0">
            <a:spAutoFit/>
          </a:bodyPr>
          <a:lstStyle/>
          <a:p>
            <a:r>
              <a:rPr sz="1150" b="0">
                <a:solidFill>
                  <a:srgbClr val="2E2E2E"/>
                </a:solidFill>
                <a:latin typeface="Calibri"/>
              </a:rPr>
              <a:t>base year, applied consistently across the horizon to strip out</a:t>
            </a:r>
          </a:p>
        </p:txBody>
      </p:sp>
      <p:sp>
        <p:nvSpPr>
          <p:cNvPr id="98" name="TextBox 97"/>
          <p:cNvSpPr txBox="1"/>
          <p:nvPr/>
        </p:nvSpPr>
        <p:spPr>
          <a:xfrm>
            <a:off x="8048625" y="3944949"/>
            <a:ext cx="3693219" cy="194310"/>
          </a:xfrm>
          <a:prstGeom prst="rect">
            <a:avLst/>
          </a:prstGeom>
          <a:noFill/>
        </p:spPr>
        <p:txBody>
          <a:bodyPr wrap="none" lIns="0" tIns="0" rIns="0" bIns="0">
            <a:spAutoFit/>
          </a:bodyPr>
          <a:lstStyle/>
          <a:p>
            <a:r>
              <a:rPr sz="1150" b="0">
                <a:solidFill>
                  <a:srgbClr val="2E2E2E"/>
                </a:solidFill>
                <a:latin typeface="Calibri"/>
              </a:rPr>
              <a:t>year-on-year inflationary volatility and reveal structural price</a:t>
            </a:r>
          </a:p>
        </p:txBody>
      </p:sp>
      <p:sp>
        <p:nvSpPr>
          <p:cNvPr id="99" name="TextBox 98"/>
          <p:cNvSpPr txBox="1"/>
          <p:nvPr/>
        </p:nvSpPr>
        <p:spPr>
          <a:xfrm>
            <a:off x="8048625" y="4120209"/>
            <a:ext cx="431055" cy="194310"/>
          </a:xfrm>
          <a:prstGeom prst="rect">
            <a:avLst/>
          </a:prstGeom>
          <a:noFill/>
        </p:spPr>
        <p:txBody>
          <a:bodyPr wrap="none" lIns="0" tIns="0" rIns="0" bIns="0">
            <a:spAutoFit/>
          </a:bodyPr>
          <a:lstStyle/>
          <a:p>
            <a:r>
              <a:rPr sz="1150" b="0">
                <a:solidFill>
                  <a:srgbClr val="2E2E2E"/>
                </a:solidFill>
                <a:latin typeface="Calibri"/>
              </a:rPr>
              <a:t>shifts.</a:t>
            </a:r>
          </a:p>
        </p:txBody>
      </p:sp>
      <p:sp>
        <p:nvSpPr>
          <p:cNvPr id="100" name="TextBox 99"/>
          <p:cNvSpPr txBox="1"/>
          <p:nvPr/>
        </p:nvSpPr>
        <p:spPr>
          <a:xfrm>
            <a:off x="8048625" y="4348047"/>
            <a:ext cx="2340260" cy="194310"/>
          </a:xfrm>
          <a:prstGeom prst="rect">
            <a:avLst/>
          </a:prstGeom>
          <a:noFill/>
        </p:spPr>
        <p:txBody>
          <a:bodyPr wrap="none" lIns="0" tIns="0" rIns="0" bIns="0">
            <a:spAutoFit/>
          </a:bodyPr>
          <a:lstStyle/>
          <a:p>
            <a:r>
              <a:rPr sz="1150" b="0">
                <a:solidFill>
                  <a:srgbClr val="2E2E2E"/>
                </a:solidFill>
                <a:latin typeface="Calibri"/>
              </a:rPr>
              <a:t>▪ Region price indices diverge by up to</a:t>
            </a:r>
          </a:p>
        </p:txBody>
      </p:sp>
      <p:pic>
        <p:nvPicPr>
          <p:cNvPr id="101" name="Picture 100" descr="lock.png"/>
          <p:cNvPicPr>
            <a:picLocks noChangeAspect="1"/>
          </p:cNvPicPr>
          <p:nvPr/>
        </p:nvPicPr>
        <p:blipFill>
          <a:blip r:embed="rId4"/>
          <a:stretch>
            <a:fillRect/>
          </a:stretch>
        </p:blipFill>
        <p:spPr>
          <a:xfrm>
            <a:off x="10338039" y="4337824"/>
            <a:ext cx="134549" cy="195707"/>
          </a:xfrm>
          <a:prstGeom prst="rect">
            <a:avLst/>
          </a:prstGeom>
        </p:spPr>
      </p:pic>
      <p:sp>
        <p:nvSpPr>
          <p:cNvPr id="102" name="TextBox 101"/>
          <p:cNvSpPr txBox="1"/>
          <p:nvPr/>
        </p:nvSpPr>
        <p:spPr>
          <a:xfrm>
            <a:off x="10513148" y="4348047"/>
            <a:ext cx="1187549" cy="194310"/>
          </a:xfrm>
          <a:prstGeom prst="rect">
            <a:avLst/>
          </a:prstGeom>
          <a:noFill/>
        </p:spPr>
        <p:txBody>
          <a:bodyPr wrap="none" lIns="0" tIns="0" rIns="0" bIns="0">
            <a:spAutoFit/>
          </a:bodyPr>
          <a:lstStyle/>
          <a:p>
            <a:r>
              <a:rPr sz="1150" b="0">
                <a:solidFill>
                  <a:srgbClr val="2E2E2E"/>
                </a:solidFill>
                <a:latin typeface="Calibri"/>
              </a:rPr>
              <a:t>between 2026 and</a:t>
            </a:r>
          </a:p>
        </p:txBody>
      </p:sp>
      <p:sp>
        <p:nvSpPr>
          <p:cNvPr id="103" name="TextBox 102"/>
          <p:cNvSpPr txBox="1"/>
          <p:nvPr/>
        </p:nvSpPr>
        <p:spPr>
          <a:xfrm>
            <a:off x="8048625" y="4523307"/>
            <a:ext cx="3848100" cy="194310"/>
          </a:xfrm>
          <a:prstGeom prst="rect">
            <a:avLst/>
          </a:prstGeom>
          <a:noFill/>
        </p:spPr>
        <p:txBody>
          <a:bodyPr wrap="none" lIns="0" tIns="0" rIns="0" bIns="0">
            <a:spAutoFit/>
          </a:bodyPr>
          <a:lstStyle/>
          <a:p>
            <a:r>
              <a:rPr sz="1150" b="0">
                <a:solidFill>
                  <a:srgbClr val="2E2E2E"/>
                </a:solidFill>
                <a:latin typeface="Calibri"/>
              </a:rPr>
              <a:t>2036: higher-priced regions start higher and grow steadily, while</a:t>
            </a:r>
          </a:p>
        </p:txBody>
      </p:sp>
      <p:sp>
        <p:nvSpPr>
          <p:cNvPr id="104" name="TextBox 103"/>
          <p:cNvSpPr txBox="1"/>
          <p:nvPr/>
        </p:nvSpPr>
        <p:spPr>
          <a:xfrm>
            <a:off x="8048625" y="4698567"/>
            <a:ext cx="3454747" cy="194310"/>
          </a:xfrm>
          <a:prstGeom prst="rect">
            <a:avLst/>
          </a:prstGeom>
          <a:noFill/>
        </p:spPr>
        <p:txBody>
          <a:bodyPr wrap="none" lIns="0" tIns="0" rIns="0" bIns="0">
            <a:spAutoFit/>
          </a:bodyPr>
          <a:lstStyle/>
          <a:p>
            <a:r>
              <a:rPr sz="1150" b="0">
                <a:solidFill>
                  <a:srgbClr val="2E2E2E"/>
                </a:solidFill>
                <a:latin typeface="Calibri"/>
              </a:rPr>
              <a:t>lower-priced regions start lower and converge, reflecting</a:t>
            </a:r>
          </a:p>
        </p:txBody>
      </p:sp>
      <p:sp>
        <p:nvSpPr>
          <p:cNvPr id="105" name="TextBox 104"/>
          <p:cNvSpPr txBox="1"/>
          <p:nvPr/>
        </p:nvSpPr>
        <p:spPr>
          <a:xfrm>
            <a:off x="8048625" y="4873827"/>
            <a:ext cx="1090848" cy="194310"/>
          </a:xfrm>
          <a:prstGeom prst="rect">
            <a:avLst/>
          </a:prstGeom>
          <a:noFill/>
        </p:spPr>
        <p:txBody>
          <a:bodyPr wrap="none" lIns="0" tIns="0" rIns="0" bIns="0">
            <a:spAutoFit/>
          </a:bodyPr>
          <a:lstStyle/>
          <a:p>
            <a:r>
              <a:rPr sz="1150" b="0">
                <a:solidFill>
                  <a:srgbClr val="2E2E2E"/>
                </a:solidFill>
                <a:latin typeface="Calibri"/>
              </a:rPr>
              <a:t>catch-up growth.</a:t>
            </a:r>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Pricing Assessment: By Partition Type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Average price (US$/MT) by partition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wrap="square" lIns="137160" rtlCol="0" anchor="ctr"/>
          <a:lstStyle/>
          <a:p>
            <a:pPr algn="l"/>
            <a:endParaRP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endParaRPr/>
          </a:p>
        </p:txBody>
      </p:sp>
      <p:sp>
        <p:nvSpPr>
          <p:cNvPr id="12" name="TextBox 11"/>
          <p:cNvSpPr txBox="1"/>
          <p:nvPr/>
        </p:nvSpPr>
        <p:spPr>
          <a:xfrm>
            <a:off x="384048" y="1575435"/>
            <a:ext cx="6217920" cy="257175"/>
          </a:xfrm>
          <a:prstGeom prst="rect">
            <a:avLst/>
          </a:prstGeom>
          <a:noFill/>
        </p:spPr>
        <p:txBody>
          <a:bodyPr wrap="square" lIns="27432" tIns="27432" rIns="27432" bIns="27432" anchor="t">
            <a:spAutoFit/>
          </a:bodyPr>
          <a:lstStyle/>
          <a:p>
            <a:pPr algn="l"/>
            <a:r>
              <a:rPr sz="1150" b="1" i="0">
                <a:solidFill>
                  <a:srgbClr val="0B2E4A"/>
                </a:solidFill>
                <a:latin typeface="Calibri"/>
              </a:rPr>
              <a:t>Price Trend by Partition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4572000" y="1593723"/>
            <a:ext cx="2103120" cy="228600"/>
          </a:xfrm>
          <a:prstGeom prst="rect">
            <a:avLst/>
          </a:prstGeom>
          <a:noFill/>
        </p:spPr>
        <p:txBody>
          <a:bodyPr wrap="square" lIns="27432" tIns="27432" rIns="27432" bIns="27432" anchor="t">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endParaRPr/>
          </a:p>
        </p:txBody>
      </p:sp>
      <p:sp>
        <p:nvSpPr>
          <p:cNvPr id="16" name="TextBox 15"/>
          <p:cNvSpPr txBox="1"/>
          <p:nvPr/>
        </p:nvSpPr>
        <p:spPr>
          <a:xfrm>
            <a:off x="6967728" y="1575435"/>
            <a:ext cx="4846320" cy="257175"/>
          </a:xfrm>
          <a:prstGeom prst="rect">
            <a:avLst/>
          </a:prstGeom>
          <a:noFill/>
        </p:spPr>
        <p:txBody>
          <a:bodyPr wrap="square" lIns="27432" tIns="27432" rIns="27432" bIns="27432" anchor="t">
            <a:spAutoFit/>
          </a:bodyPr>
          <a:lstStyle/>
          <a:p>
            <a:pPr algn="l"/>
            <a:endParaRP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Table 17"/>
          <p:cNvGraphicFramePr>
            <a:graphicFrameLocks noGrp="1"/>
          </p:cNvGraphicFramePr>
          <p:nvPr/>
        </p:nvGraphicFramePr>
        <p:xfrm>
          <a:off x="6858000" y="3203067"/>
          <a:ext cx="5056632" cy="1847090"/>
        </p:xfrm>
        <a:graphic>
          <a:graphicData uri="http://schemas.openxmlformats.org/drawingml/2006/table">
            <a:tbl>
              <a:tblPr firstRow="1" bandRow="1">
                <a:tableStyleId>{5C22544A-7EE6-4342-B048-85BDC9FD1C3A}</a:tableStyleId>
              </a:tblPr>
              <a:tblGrid>
                <a:gridCol w="2130552">
                  <a:extLst>
                    <a:ext uri="{9D8B030D-6E8A-4147-A177-3AD203B41FA5}">
                      <a16:colId xmlns:a16="http://schemas.microsoft.com/office/drawing/2014/main" val="20000"/>
                    </a:ext>
                  </a:extLst>
                </a:gridCol>
                <a:gridCol w="548640">
                  <a:extLst>
                    <a:ext uri="{9D8B030D-6E8A-4147-A177-3AD203B41FA5}">
                      <a16:colId xmlns:a16="http://schemas.microsoft.com/office/drawing/2014/main" val="20001"/>
                    </a:ext>
                  </a:extLst>
                </a:gridCol>
                <a:gridCol w="548640">
                  <a:extLst>
                    <a:ext uri="{9D8B030D-6E8A-4147-A177-3AD203B41FA5}">
                      <a16:colId xmlns:a16="http://schemas.microsoft.com/office/drawing/2014/main" val="20002"/>
                    </a:ext>
                  </a:extLst>
                </a:gridCol>
                <a:gridCol w="548640">
                  <a:extLst>
                    <a:ext uri="{9D8B030D-6E8A-4147-A177-3AD203B41FA5}">
                      <a16:colId xmlns:a16="http://schemas.microsoft.com/office/drawing/2014/main" val="20003"/>
                    </a:ext>
                  </a:extLst>
                </a:gridCol>
                <a:gridCol w="777240">
                  <a:extLst>
                    <a:ext uri="{9D8B030D-6E8A-4147-A177-3AD203B41FA5}">
                      <a16:colId xmlns:a16="http://schemas.microsoft.com/office/drawing/2014/main" val="20004"/>
                    </a:ext>
                  </a:extLst>
                </a:gridCol>
                <a:gridCol w="502920">
                  <a:extLst>
                    <a:ext uri="{9D8B030D-6E8A-4147-A177-3AD203B41FA5}">
                      <a16:colId xmlns:a16="http://schemas.microsoft.com/office/drawing/2014/main" val="20005"/>
                    </a:ext>
                  </a:extLst>
                </a:gridCol>
              </a:tblGrid>
              <a:tr h="369418">
                <a:tc>
                  <a:txBody>
                    <a:bodyPr/>
                    <a:lstStyle/>
                    <a:p>
                      <a:pPr algn="l"/>
                      <a:r>
                        <a:rPr sz="850" b="1">
                          <a:solidFill>
                            <a:srgbClr val="FFFFFF"/>
                          </a:solidFill>
                          <a:latin typeface="Calibri"/>
                        </a:rPr>
                        <a:t>Partition Type</a:t>
                      </a:r>
                    </a:p>
                  </a:txBody>
                  <a:tcPr marL="36576" marR="36576" marT="9144" marB="9144" anchor="ctr">
                    <a:solidFill>
                      <a:srgbClr val="0B2E4A"/>
                    </a:solidFill>
                  </a:tcPr>
                </a:tc>
                <a:tc>
                  <a:txBody>
                    <a:bodyPr/>
                    <a:lstStyle/>
                    <a:p>
                      <a:pPr algn="ctr"/>
                      <a:r>
                        <a:rPr sz="850" b="1">
                          <a:solidFill>
                            <a:srgbClr val="FFFFFF"/>
                          </a:solidFill>
                          <a:latin typeface="Calibri"/>
                        </a:rPr>
                        <a:t>2021</a:t>
                      </a:r>
                    </a:p>
                  </a:txBody>
                  <a:tcPr marL="36576" marR="36576" marT="9144" marB="9144" anchor="ctr">
                    <a:solidFill>
                      <a:srgbClr val="0B2E4A"/>
                    </a:solidFill>
                  </a:tcPr>
                </a:tc>
                <a:tc>
                  <a:txBody>
                    <a:bodyPr/>
                    <a:lstStyle/>
                    <a:p>
                      <a:pPr algn="ctr"/>
                      <a:r>
                        <a:rPr sz="850" b="1">
                          <a:solidFill>
                            <a:srgbClr val="FFFFFF"/>
                          </a:solidFill>
                          <a:latin typeface="Calibri"/>
                        </a:rPr>
                        <a:t>2026</a:t>
                      </a:r>
                    </a:p>
                  </a:txBody>
                  <a:tcPr marL="36576" marR="36576" marT="9144" marB="9144" anchor="ctr">
                    <a:solidFill>
                      <a:srgbClr val="0B2E4A"/>
                    </a:solidFill>
                  </a:tcPr>
                </a:tc>
                <a:tc>
                  <a:txBody>
                    <a:bodyPr/>
                    <a:lstStyle/>
                    <a:p>
                      <a:pPr algn="ctr"/>
                      <a:r>
                        <a:rPr sz="850" b="1">
                          <a:solidFill>
                            <a:srgbClr val="FFFFFF"/>
                          </a:solidFill>
                          <a:latin typeface="Calibri"/>
                        </a:rPr>
                        <a:t>2036</a:t>
                      </a:r>
                    </a:p>
                  </a:txBody>
                  <a:tcPr marL="36576" marR="36576" marT="9144" marB="9144" anchor="ctr">
                    <a:solidFill>
                      <a:srgbClr val="0B2E4A"/>
                    </a:solidFill>
                  </a:tcPr>
                </a:tc>
                <a:tc>
                  <a:txBody>
                    <a:bodyPr/>
                    <a:lstStyle/>
                    <a:p>
                      <a:pPr algn="ctr"/>
                      <a:r>
                        <a:rPr sz="850" b="1">
                          <a:solidFill>
                            <a:srgbClr val="FFFFFF"/>
                          </a:solidFill>
                          <a:latin typeface="Calibri"/>
                        </a:rPr>
                        <a:t>CAGR 2026 to 2036</a:t>
                      </a:r>
                    </a:p>
                  </a:txBody>
                  <a:tcPr marL="36576" marR="36576" marT="9144" marB="9144" anchor="ctr">
                    <a:solidFill>
                      <a:srgbClr val="0B2E4A"/>
                    </a:solidFill>
                  </a:tcPr>
                </a:tc>
                <a:tc>
                  <a:txBody>
                    <a:bodyPr/>
                    <a:lstStyle/>
                    <a:p>
                      <a:pPr algn="ctr"/>
                      <a:r>
                        <a:rPr sz="850" b="1">
                          <a:solidFill>
                            <a:srgbClr val="FFFFFF"/>
                          </a:solidFill>
                          <a:latin typeface="Calibri"/>
                        </a:rPr>
                        <a:t>Index</a:t>
                      </a:r>
                    </a:p>
                  </a:txBody>
                  <a:tcPr marL="36576" marR="36576" marT="9144" marB="9144" anchor="ctr">
                    <a:solidFill>
                      <a:srgbClr val="0B2E4A"/>
                    </a:solidFill>
                  </a:tcPr>
                </a:tc>
                <a:extLst>
                  <a:ext uri="{0D108BD9-81ED-4DB2-BD59-A6C34878D82A}">
                    <a16:rowId xmlns:a16="http://schemas.microsoft.com/office/drawing/2014/main" val="10000"/>
                  </a:ext>
                </a:extLst>
              </a:tr>
              <a:tr h="369418">
                <a:tc>
                  <a:txBody>
                    <a:bodyPr/>
                    <a:lstStyle/>
                    <a:p>
                      <a:pPr algn="l"/>
                      <a:r>
                        <a:rPr sz="850" b="1">
                          <a:solidFill>
                            <a:srgbClr val="1F1F1F"/>
                          </a:solidFill>
                          <a:latin typeface="Calibri"/>
                        </a:rPr>
                        <a:t>Die-Cut &amp; Folded Partitions (H-dividers, tube/cell inserts)</a:t>
                      </a:r>
                    </a:p>
                  </a:txBody>
                  <a:tcPr marL="36576" marR="36576" marT="9144" marB="9144" anchor="ctr">
                    <a:solidFill>
                      <a:srgbClr val="FFFFFF"/>
                    </a:solidFill>
                  </a:tcPr>
                </a:tc>
                <a:tc>
                  <a:txBody>
                    <a:bodyPr/>
                    <a:lstStyle/>
                    <a:p>
                      <a:pPr algn="ctr"/>
                      <a:r>
                        <a:rPr sz="850"/>
                        <a:t> </a:t>
                      </a:r>
                    </a:p>
                  </a:txBody>
                  <a:tcPr marL="36576" marR="36576" marT="9144" marB="9144" anchor="ctr">
                    <a:solidFill>
                      <a:srgbClr val="FFFFFF"/>
                    </a:solidFill>
                  </a:tcPr>
                </a:tc>
                <a:tc>
                  <a:txBody>
                    <a:bodyPr/>
                    <a:lstStyle/>
                    <a:p>
                      <a:pPr algn="ctr"/>
                      <a:r>
                        <a:rPr sz="850"/>
                        <a:t> </a:t>
                      </a:r>
                    </a:p>
                  </a:txBody>
                  <a:tcPr marL="36576" marR="36576" marT="9144" marB="9144" anchor="ctr">
                    <a:solidFill>
                      <a:srgbClr val="FFFFFF"/>
                    </a:solidFill>
                  </a:tcPr>
                </a:tc>
                <a:tc>
                  <a:txBody>
                    <a:bodyPr/>
                    <a:lstStyle/>
                    <a:p>
                      <a:pPr algn="ctr"/>
                      <a:r>
                        <a:rPr sz="850"/>
                        <a:t> </a:t>
                      </a:r>
                    </a:p>
                  </a:txBody>
                  <a:tcPr marL="36576" marR="36576" marT="9144" marB="9144" anchor="ctr">
                    <a:solidFill>
                      <a:srgbClr val="FFFFFF"/>
                    </a:solidFill>
                  </a:tcPr>
                </a:tc>
                <a:tc>
                  <a:txBody>
                    <a:bodyPr/>
                    <a:lstStyle/>
                    <a:p>
                      <a:pPr algn="ctr"/>
                      <a:r>
                        <a:rPr sz="850"/>
                        <a:t> </a:t>
                      </a:r>
                    </a:p>
                  </a:txBody>
                  <a:tcPr marL="36576" marR="36576" marT="9144" marB="9144" anchor="ctr">
                    <a:solidFill>
                      <a:srgbClr val="FFFFFF"/>
                    </a:solidFill>
                  </a:tcPr>
                </a:tc>
                <a:tc>
                  <a:txBody>
                    <a:bodyPr/>
                    <a:lstStyle/>
                    <a:p>
                      <a:pPr algn="ctr"/>
                      <a:r>
                        <a:rPr sz="850"/>
                        <a:t> </a:t>
                      </a:r>
                    </a:p>
                  </a:txBody>
                  <a:tcPr marL="36576" marR="36576" marT="9144" marB="9144" anchor="ctr">
                    <a:solidFill>
                      <a:srgbClr val="F4B183"/>
                    </a:solidFill>
                  </a:tcPr>
                </a:tc>
                <a:extLst>
                  <a:ext uri="{0D108BD9-81ED-4DB2-BD59-A6C34878D82A}">
                    <a16:rowId xmlns:a16="http://schemas.microsoft.com/office/drawing/2014/main" val="10001"/>
                  </a:ext>
                </a:extLst>
              </a:tr>
              <a:tr h="369418">
                <a:tc>
                  <a:txBody>
                    <a:bodyPr/>
                    <a:lstStyle/>
                    <a:p>
                      <a:pPr algn="l"/>
                      <a:r>
                        <a:rPr sz="850" b="1">
                          <a:solidFill>
                            <a:srgbClr val="1F1F1F"/>
                          </a:solidFill>
                          <a:latin typeface="Calibri"/>
                        </a:rPr>
                        <a:t>Flat Dividers &amp; Layer Pads</a:t>
                      </a:r>
                    </a:p>
                  </a:txBody>
                  <a:tcPr marL="36576" marR="36576" marT="9144" marB="9144" anchor="ctr">
                    <a:solidFill>
                      <a:srgbClr val="F3F6F9"/>
                    </a:solidFill>
                  </a:tcPr>
                </a:tc>
                <a:tc>
                  <a:txBody>
                    <a:bodyPr/>
                    <a:lstStyle/>
                    <a:p>
                      <a:pPr algn="ctr"/>
                      <a:r>
                        <a:rPr sz="850"/>
                        <a:t> </a:t>
                      </a:r>
                    </a:p>
                  </a:txBody>
                  <a:tcPr marL="36576" marR="36576" marT="9144" marB="9144" anchor="ctr">
                    <a:solidFill>
                      <a:srgbClr val="F3F6F9"/>
                    </a:solidFill>
                  </a:tcPr>
                </a:tc>
                <a:tc>
                  <a:txBody>
                    <a:bodyPr/>
                    <a:lstStyle/>
                    <a:p>
                      <a:pPr algn="ctr"/>
                      <a:r>
                        <a:rPr sz="850"/>
                        <a:t> </a:t>
                      </a:r>
                    </a:p>
                  </a:txBody>
                  <a:tcPr marL="36576" marR="36576" marT="9144" marB="9144" anchor="ctr">
                    <a:solidFill>
                      <a:srgbClr val="F3F6F9"/>
                    </a:solidFill>
                  </a:tcPr>
                </a:tc>
                <a:tc>
                  <a:txBody>
                    <a:bodyPr/>
                    <a:lstStyle/>
                    <a:p>
                      <a:pPr algn="ctr"/>
                      <a:r>
                        <a:rPr sz="850"/>
                        <a:t> </a:t>
                      </a:r>
                    </a:p>
                  </a:txBody>
                  <a:tcPr marL="36576" marR="36576" marT="9144" marB="9144" anchor="ctr">
                    <a:solidFill>
                      <a:srgbClr val="F3F6F9"/>
                    </a:solidFill>
                  </a:tcPr>
                </a:tc>
                <a:tc>
                  <a:txBody>
                    <a:bodyPr/>
                    <a:lstStyle/>
                    <a:p>
                      <a:pPr algn="ctr"/>
                      <a:r>
                        <a:rPr sz="850"/>
                        <a:t> </a:t>
                      </a:r>
                    </a:p>
                  </a:txBody>
                  <a:tcPr marL="36576" marR="36576" marT="9144" marB="9144" anchor="ctr">
                    <a:solidFill>
                      <a:srgbClr val="F3F6F9"/>
                    </a:solidFill>
                  </a:tcPr>
                </a:tc>
                <a:tc>
                  <a:txBody>
                    <a:bodyPr/>
                    <a:lstStyle/>
                    <a:p>
                      <a:pPr algn="ctr"/>
                      <a:r>
                        <a:rPr sz="850"/>
                        <a:t> </a:t>
                      </a:r>
                    </a:p>
                  </a:txBody>
                  <a:tcPr marL="36576" marR="36576" marT="9144" marB="9144" anchor="ctr">
                    <a:solidFill>
                      <a:srgbClr val="D9E6F2"/>
                    </a:solidFill>
                  </a:tcPr>
                </a:tc>
                <a:extLst>
                  <a:ext uri="{0D108BD9-81ED-4DB2-BD59-A6C34878D82A}">
                    <a16:rowId xmlns:a16="http://schemas.microsoft.com/office/drawing/2014/main" val="10002"/>
                  </a:ext>
                </a:extLst>
              </a:tr>
              <a:tr h="369418">
                <a:tc>
                  <a:txBody>
                    <a:bodyPr/>
                    <a:lstStyle/>
                    <a:p>
                      <a:pPr algn="l"/>
                      <a:r>
                        <a:rPr sz="850" b="1">
                          <a:solidFill>
                            <a:srgbClr val="1F1F1F"/>
                          </a:solidFill>
                          <a:latin typeface="Calibri"/>
                        </a:rPr>
                        <a:t>Slotted (Interlocking Grid) Partitions</a:t>
                      </a:r>
                    </a:p>
                  </a:txBody>
                  <a:tcPr marL="36576" marR="36576" marT="9144" marB="9144" anchor="ctr">
                    <a:solidFill>
                      <a:srgbClr val="FFFFFF"/>
                    </a:solidFill>
                  </a:tcPr>
                </a:tc>
                <a:tc>
                  <a:txBody>
                    <a:bodyPr/>
                    <a:lstStyle/>
                    <a:p>
                      <a:pPr algn="ctr"/>
                      <a:r>
                        <a:rPr sz="850"/>
                        <a:t> </a:t>
                      </a:r>
                    </a:p>
                  </a:txBody>
                  <a:tcPr marL="36576" marR="36576" marT="9144" marB="9144" anchor="ctr">
                    <a:solidFill>
                      <a:srgbClr val="FFFFFF"/>
                    </a:solidFill>
                  </a:tcPr>
                </a:tc>
                <a:tc>
                  <a:txBody>
                    <a:bodyPr/>
                    <a:lstStyle/>
                    <a:p>
                      <a:pPr algn="ctr"/>
                      <a:r>
                        <a:rPr sz="850"/>
                        <a:t> </a:t>
                      </a:r>
                    </a:p>
                  </a:txBody>
                  <a:tcPr marL="36576" marR="36576" marT="9144" marB="9144" anchor="ctr">
                    <a:solidFill>
                      <a:srgbClr val="FFFFFF"/>
                    </a:solidFill>
                  </a:tcPr>
                </a:tc>
                <a:tc>
                  <a:txBody>
                    <a:bodyPr/>
                    <a:lstStyle/>
                    <a:p>
                      <a:pPr algn="ctr"/>
                      <a:r>
                        <a:rPr sz="850"/>
                        <a:t> </a:t>
                      </a:r>
                    </a:p>
                  </a:txBody>
                  <a:tcPr marL="36576" marR="36576" marT="9144" marB="9144" anchor="ctr">
                    <a:solidFill>
                      <a:srgbClr val="FFFFFF"/>
                    </a:solidFill>
                  </a:tcPr>
                </a:tc>
                <a:tc>
                  <a:txBody>
                    <a:bodyPr/>
                    <a:lstStyle/>
                    <a:p>
                      <a:pPr algn="ctr"/>
                      <a:r>
                        <a:rPr sz="850"/>
                        <a:t> </a:t>
                      </a:r>
                    </a:p>
                  </a:txBody>
                  <a:tcPr marL="36576" marR="36576" marT="9144" marB="9144" anchor="ctr">
                    <a:solidFill>
                      <a:srgbClr val="FFFFFF"/>
                    </a:solidFill>
                  </a:tcPr>
                </a:tc>
                <a:tc>
                  <a:txBody>
                    <a:bodyPr/>
                    <a:lstStyle/>
                    <a:p>
                      <a:pPr algn="ctr"/>
                      <a:r>
                        <a:rPr sz="850"/>
                        <a:t> </a:t>
                      </a:r>
                    </a:p>
                  </a:txBody>
                  <a:tcPr marL="36576" marR="36576" marT="9144" marB="9144" anchor="ctr">
                    <a:solidFill>
                      <a:srgbClr val="9DC0E0"/>
                    </a:solidFill>
                  </a:tcPr>
                </a:tc>
                <a:extLst>
                  <a:ext uri="{0D108BD9-81ED-4DB2-BD59-A6C34878D82A}">
                    <a16:rowId xmlns:a16="http://schemas.microsoft.com/office/drawing/2014/main" val="10003"/>
                  </a:ext>
                </a:extLst>
              </a:tr>
              <a:tr h="369418">
                <a:tc>
                  <a:txBody>
                    <a:bodyPr/>
                    <a:lstStyle/>
                    <a:p>
                      <a:pPr algn="l"/>
                      <a:r>
                        <a:rPr sz="850" b="1">
                          <a:solidFill>
                            <a:srgbClr val="1F1F1F"/>
                          </a:solidFill>
                          <a:latin typeface="Calibri"/>
                        </a:rPr>
                        <a:t>Global Average</a:t>
                      </a:r>
                    </a:p>
                  </a:txBody>
                  <a:tcPr marL="36576" marR="36576" marT="9144" marB="9144" anchor="ctr">
                    <a:solidFill>
                      <a:srgbClr val="F3F6F9"/>
                    </a:solidFill>
                  </a:tcPr>
                </a:tc>
                <a:tc>
                  <a:txBody>
                    <a:bodyPr/>
                    <a:lstStyle/>
                    <a:p>
                      <a:pPr algn="ctr"/>
                      <a:r>
                        <a:rPr sz="850"/>
                        <a:t> </a:t>
                      </a:r>
                    </a:p>
                  </a:txBody>
                  <a:tcPr marL="36576" marR="36576" marT="9144" marB="9144" anchor="ctr">
                    <a:solidFill>
                      <a:srgbClr val="F3F6F9"/>
                    </a:solidFill>
                  </a:tcPr>
                </a:tc>
                <a:tc>
                  <a:txBody>
                    <a:bodyPr/>
                    <a:lstStyle/>
                    <a:p>
                      <a:pPr algn="ctr"/>
                      <a:r>
                        <a:rPr sz="850"/>
                        <a:t> </a:t>
                      </a:r>
                    </a:p>
                  </a:txBody>
                  <a:tcPr marL="36576" marR="36576" marT="9144" marB="9144" anchor="ctr">
                    <a:solidFill>
                      <a:srgbClr val="F3F6F9"/>
                    </a:solidFill>
                  </a:tcPr>
                </a:tc>
                <a:tc>
                  <a:txBody>
                    <a:bodyPr/>
                    <a:lstStyle/>
                    <a:p>
                      <a:pPr algn="ctr"/>
                      <a:r>
                        <a:rPr sz="850"/>
                        <a:t> </a:t>
                      </a:r>
                    </a:p>
                  </a:txBody>
                  <a:tcPr marL="36576" marR="36576" marT="9144" marB="9144" anchor="ctr">
                    <a:solidFill>
                      <a:srgbClr val="F3F6F9"/>
                    </a:solidFill>
                  </a:tcPr>
                </a:tc>
                <a:tc>
                  <a:txBody>
                    <a:bodyPr/>
                    <a:lstStyle/>
                    <a:p>
                      <a:pPr algn="ctr"/>
                      <a:r>
                        <a:rPr sz="850"/>
                        <a:t> </a:t>
                      </a:r>
                    </a:p>
                  </a:txBody>
                  <a:tcPr marL="36576" marR="36576" marT="9144" marB="9144" anchor="ctr">
                    <a:solidFill>
                      <a:srgbClr val="F3F6F9"/>
                    </a:solidFill>
                  </a:tcPr>
                </a:tc>
                <a:tc>
                  <a:txBody>
                    <a:bodyPr/>
                    <a:lstStyle/>
                    <a:p>
                      <a:pPr algn="ctr"/>
                      <a:r>
                        <a:rPr sz="850"/>
                        <a:t> </a:t>
                      </a:r>
                    </a:p>
                  </a:txBody>
                  <a:tcPr marL="36576" marR="36576" marT="9144" marB="9144" anchor="ctr">
                    <a:solidFill>
                      <a:srgbClr val="F3F6F9"/>
                    </a:solidFill>
                  </a:tcPr>
                </a:tc>
                <a:extLst>
                  <a:ext uri="{0D108BD9-81ED-4DB2-BD59-A6C34878D82A}">
                    <a16:rowId xmlns:a16="http://schemas.microsoft.com/office/drawing/2014/main" val="10004"/>
                  </a:ext>
                </a:extLst>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endParaRPr/>
          </a:p>
        </p:txBody>
      </p:sp>
      <p:sp>
        <p:nvSpPr>
          <p:cNvPr id="20" name="Oval 19"/>
          <p:cNvSpPr/>
          <p:nvPr/>
        </p:nvSpPr>
        <p:spPr>
          <a:xfrm>
            <a:off x="388620" y="5265420"/>
            <a:ext cx="314325" cy="314325"/>
          </a:xfrm>
          <a:prstGeom prst="ellipse">
            <a:avLst/>
          </a:prstGeom>
          <a:solidFill>
            <a:srgbClr val="0B2E4A"/>
          </a:solidFill>
          <a:ln>
            <a:noFill/>
          </a:ln>
          <a:effectLst/>
        </p:spPr>
        <p:txBody>
          <a:bodyPr wrap="none" lIns="0" tIns="0" rIns="0" bIns="0" rtlCol="0" anchor="ctr"/>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lIns="27432" tIns="27432" rIns="27432" bIns="27432" anchor="t">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lIns="27432" tIns="27432" rIns="27432" bIns="27432" anchor="t">
            <a:spAutoFit/>
          </a:bodyPr>
          <a:lstStyle/>
          <a:p>
            <a:pPr algn="l"/>
            <a:endParaRP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endParaRPr/>
          </a:p>
        </p:txBody>
      </p:sp>
      <p:sp>
        <p:nvSpPr>
          <p:cNvPr id="24" name="Oval 23"/>
          <p:cNvSpPr/>
          <p:nvPr/>
        </p:nvSpPr>
        <p:spPr>
          <a:xfrm>
            <a:off x="4314444" y="5265420"/>
            <a:ext cx="314325" cy="314325"/>
          </a:xfrm>
          <a:prstGeom prst="ellipse">
            <a:avLst/>
          </a:prstGeom>
          <a:solidFill>
            <a:srgbClr val="0B2E4A"/>
          </a:solidFill>
          <a:ln>
            <a:noFill/>
          </a:ln>
          <a:effectLst/>
        </p:spPr>
        <p:txBody>
          <a:bodyPr wrap="none" lIns="0" tIns="0" rIns="0" bIns="0" rtlCol="0" anchor="ctr"/>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lIns="27432" tIns="27432" rIns="27432" bIns="27432" anchor="t">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lIns="27432" tIns="27432" rIns="27432" bIns="27432" anchor="t">
            <a:spAutoFit/>
          </a:bodyPr>
          <a:lstStyle/>
          <a:p>
            <a:pPr algn="l"/>
            <a:endParaRP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endParaRPr/>
          </a:p>
        </p:txBody>
      </p:sp>
      <p:sp>
        <p:nvSpPr>
          <p:cNvPr id="28" name="Oval 27"/>
          <p:cNvSpPr/>
          <p:nvPr/>
        </p:nvSpPr>
        <p:spPr>
          <a:xfrm>
            <a:off x="8240268" y="5265420"/>
            <a:ext cx="314325" cy="314325"/>
          </a:xfrm>
          <a:prstGeom prst="ellipse">
            <a:avLst/>
          </a:prstGeom>
          <a:solidFill>
            <a:srgbClr val="0B2E4A"/>
          </a:solidFill>
          <a:ln>
            <a:noFill/>
          </a:ln>
          <a:effectLst/>
        </p:spPr>
        <p:txBody>
          <a:bodyPr wrap="none" lIns="0" tIns="0" rIns="0" bIns="0" rtlCol="0" anchor="ctr"/>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lIns="27432" tIns="27432" rIns="27432" bIns="27432" anchor="t">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lIns="27432" tIns="27432" rIns="27432" bIns="27432" anchor="t">
            <a:spAutoFit/>
          </a:bodyPr>
          <a:lstStyle/>
          <a:p>
            <a:pPr algn="l"/>
            <a:endParaRPr/>
          </a:p>
        </p:txBody>
      </p:sp>
      <p:sp>
        <p:nvSpPr>
          <p:cNvPr id="31" name="TextBox 30"/>
          <p:cNvSpPr txBox="1"/>
          <p:nvPr/>
        </p:nvSpPr>
        <p:spPr>
          <a:xfrm>
            <a:off x="274320" y="6363843"/>
            <a:ext cx="11612880" cy="209550"/>
          </a:xfrm>
          <a:prstGeom prst="rect">
            <a:avLst/>
          </a:prstGeom>
          <a:noFill/>
        </p:spPr>
        <p:txBody>
          <a:bodyPr wrap="square" lIns="27432" tIns="27432" rIns="27432" bIns="27432" anchor="t">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10283571" y="4071291"/>
            <a:ext cx="330041" cy="480060"/>
          </a:xfrm>
          <a:prstGeom prst="rect">
            <a:avLst/>
          </a:prstGeom>
        </p:spPr>
      </p:pic>
      <p:sp>
        <p:nvSpPr>
          <p:cNvPr id="34" name="TextBox 33"/>
          <p:cNvSpPr txBox="1"/>
          <p:nvPr/>
        </p:nvSpPr>
        <p:spPr>
          <a:xfrm>
            <a:off x="411480" y="1114577"/>
            <a:ext cx="6934528" cy="209245"/>
          </a:xfrm>
          <a:prstGeom prst="rect">
            <a:avLst/>
          </a:prstGeom>
          <a:noFill/>
        </p:spPr>
        <p:txBody>
          <a:bodyPr wrap="none" lIns="0" tIns="0" rIns="0" bIns="0">
            <a:spAutoFit/>
          </a:bodyPr>
          <a:lstStyle/>
          <a:p>
            <a:r>
              <a:rPr sz="1248" b="1">
                <a:solidFill>
                  <a:srgbClr val="FFFFFF"/>
                </a:solidFill>
                <a:latin typeface="Calibri"/>
              </a:rPr>
              <a:t>Die-Cut &amp; Folded Partitions (H-dividers, tube/cell inserts) commands the highest 2026 price point at US$</a:t>
            </a:r>
          </a:p>
        </p:txBody>
      </p:sp>
      <p:pic>
        <p:nvPicPr>
          <p:cNvPr id="35" name="Picture 34" descr="lock.png"/>
          <p:cNvPicPr>
            <a:picLocks noChangeAspect="1"/>
          </p:cNvPicPr>
          <p:nvPr/>
        </p:nvPicPr>
        <p:blipFill>
          <a:blip r:embed="rId6"/>
          <a:stretch>
            <a:fillRect/>
          </a:stretch>
        </p:blipFill>
        <p:spPr>
          <a:xfrm>
            <a:off x="7297322" y="1103482"/>
            <a:ext cx="146014" cy="212384"/>
          </a:xfrm>
          <a:prstGeom prst="rect">
            <a:avLst/>
          </a:prstGeom>
        </p:spPr>
      </p:pic>
      <p:sp>
        <p:nvSpPr>
          <p:cNvPr id="36" name="TextBox 35"/>
          <p:cNvSpPr txBox="1"/>
          <p:nvPr/>
        </p:nvSpPr>
        <p:spPr>
          <a:xfrm>
            <a:off x="7487354" y="1114577"/>
            <a:ext cx="516707" cy="209245"/>
          </a:xfrm>
          <a:prstGeom prst="rect">
            <a:avLst/>
          </a:prstGeom>
          <a:noFill/>
        </p:spPr>
        <p:txBody>
          <a:bodyPr wrap="none" lIns="0" tIns="0" rIns="0" bIns="0">
            <a:spAutoFit/>
          </a:bodyPr>
          <a:lstStyle/>
          <a:p>
            <a:r>
              <a:rPr sz="1248" b="1">
                <a:solidFill>
                  <a:srgbClr val="FFFFFF"/>
                </a:solidFill>
                <a:latin typeface="Calibri"/>
              </a:rPr>
              <a:t>/MT, a</a:t>
            </a:r>
          </a:p>
        </p:txBody>
      </p:sp>
      <p:pic>
        <p:nvPicPr>
          <p:cNvPr id="37" name="Picture 36" descr="lock.png"/>
          <p:cNvPicPr>
            <a:picLocks noChangeAspect="1"/>
          </p:cNvPicPr>
          <p:nvPr/>
        </p:nvPicPr>
        <p:blipFill>
          <a:blip r:embed="rId6"/>
          <a:stretch>
            <a:fillRect/>
          </a:stretch>
        </p:blipFill>
        <p:spPr>
          <a:xfrm>
            <a:off x="7955376" y="1103482"/>
            <a:ext cx="146014" cy="212384"/>
          </a:xfrm>
          <a:prstGeom prst="rect">
            <a:avLst/>
          </a:prstGeom>
        </p:spPr>
      </p:pic>
      <p:sp>
        <p:nvSpPr>
          <p:cNvPr id="38" name="TextBox 37"/>
          <p:cNvSpPr txBox="1"/>
          <p:nvPr/>
        </p:nvSpPr>
        <p:spPr>
          <a:xfrm>
            <a:off x="8145407" y="1114577"/>
            <a:ext cx="3478291" cy="209245"/>
          </a:xfrm>
          <a:prstGeom prst="rect">
            <a:avLst/>
          </a:prstGeom>
          <a:noFill/>
        </p:spPr>
        <p:txBody>
          <a:bodyPr wrap="none" lIns="0" tIns="0" rIns="0" bIns="0">
            <a:spAutoFit/>
          </a:bodyPr>
          <a:lstStyle/>
          <a:p>
            <a:r>
              <a:rPr sz="1248" b="1">
                <a:solidFill>
                  <a:srgbClr val="FFFFFF"/>
                </a:solidFill>
                <a:latin typeface="Calibri"/>
              </a:rPr>
              <a:t>premium over Slotted (Interlocking Grid) Partitions.</a:t>
            </a:r>
          </a:p>
        </p:txBody>
      </p:sp>
      <p:sp>
        <p:nvSpPr>
          <p:cNvPr id="39" name="TextBox 38"/>
          <p:cNvSpPr txBox="1"/>
          <p:nvPr/>
        </p:nvSpPr>
        <p:spPr>
          <a:xfrm>
            <a:off x="6995160" y="1602867"/>
            <a:ext cx="2164334" cy="180289"/>
          </a:xfrm>
          <a:prstGeom prst="rect">
            <a:avLst/>
          </a:prstGeom>
          <a:noFill/>
        </p:spPr>
        <p:txBody>
          <a:bodyPr wrap="none" lIns="0" tIns="0" rIns="0" bIns="0">
            <a:spAutoFit/>
          </a:bodyPr>
          <a:lstStyle/>
          <a:p>
            <a:r>
              <a:rPr sz="1057" b="1">
                <a:solidFill>
                  <a:srgbClr val="0B2E4A"/>
                </a:solidFill>
                <a:latin typeface="Calibri"/>
              </a:rPr>
              <a:t>2026 Price Index vs Global Average (=</a:t>
            </a:r>
          </a:p>
        </p:txBody>
      </p:sp>
      <p:pic>
        <p:nvPicPr>
          <p:cNvPr id="40" name="Picture 39" descr="lock.png"/>
          <p:cNvPicPr>
            <a:picLocks noChangeAspect="1"/>
          </p:cNvPicPr>
          <p:nvPr/>
        </p:nvPicPr>
        <p:blipFill>
          <a:blip r:embed="rId6"/>
          <a:stretch>
            <a:fillRect/>
          </a:stretch>
        </p:blipFill>
        <p:spPr>
          <a:xfrm>
            <a:off x="9106620" y="1593461"/>
            <a:ext cx="123784" cy="180050"/>
          </a:xfrm>
          <a:prstGeom prst="rect">
            <a:avLst/>
          </a:prstGeom>
        </p:spPr>
      </p:pic>
      <p:sp>
        <p:nvSpPr>
          <p:cNvPr id="41" name="TextBox 40"/>
          <p:cNvSpPr txBox="1"/>
          <p:nvPr/>
        </p:nvSpPr>
        <p:spPr>
          <a:xfrm>
            <a:off x="9267721" y="1602867"/>
            <a:ext cx="118189" cy="180289"/>
          </a:xfrm>
          <a:prstGeom prst="rect">
            <a:avLst/>
          </a:prstGeom>
          <a:noFill/>
        </p:spPr>
        <p:txBody>
          <a:bodyPr wrap="none" lIns="0" tIns="0" rIns="0" bIns="0">
            <a:spAutoFit/>
          </a:bodyPr>
          <a:lstStyle/>
          <a:p>
            <a:r>
              <a:rPr sz="1057" b="1">
                <a:solidFill>
                  <a:srgbClr val="0B2E4A"/>
                </a:solidFill>
                <a:latin typeface="Calibri"/>
              </a:rPr>
              <a:t>)</a:t>
            </a:r>
          </a:p>
        </p:txBody>
      </p:sp>
      <p:sp>
        <p:nvSpPr>
          <p:cNvPr id="42" name="TextBox 41"/>
          <p:cNvSpPr txBox="1"/>
          <p:nvPr/>
        </p:nvSpPr>
        <p:spPr>
          <a:xfrm>
            <a:off x="806576" y="5530976"/>
            <a:ext cx="3143250" cy="179069"/>
          </a:xfrm>
          <a:prstGeom prst="rect">
            <a:avLst/>
          </a:prstGeom>
          <a:noFill/>
        </p:spPr>
        <p:txBody>
          <a:bodyPr wrap="none" lIns="0" tIns="0" rIns="0" bIns="0">
            <a:spAutoFit/>
          </a:bodyPr>
          <a:lstStyle/>
          <a:p>
            <a:r>
              <a:rPr sz="1050" b="0">
                <a:solidFill>
                  <a:srgbClr val="1F1F1F"/>
                </a:solidFill>
                <a:latin typeface="Calibri"/>
              </a:rPr>
              <a:t>Die-Cut &amp; Folded Partitions (H-dividers, tube/cell inserts)</a:t>
            </a:r>
          </a:p>
        </p:txBody>
      </p:sp>
      <p:sp>
        <p:nvSpPr>
          <p:cNvPr id="43" name="TextBox 42"/>
          <p:cNvSpPr txBox="1"/>
          <p:nvPr/>
        </p:nvSpPr>
        <p:spPr>
          <a:xfrm>
            <a:off x="806576" y="5690996"/>
            <a:ext cx="2923170" cy="179069"/>
          </a:xfrm>
          <a:prstGeom prst="rect">
            <a:avLst/>
          </a:prstGeom>
          <a:noFill/>
        </p:spPr>
        <p:txBody>
          <a:bodyPr wrap="none" lIns="0" tIns="0" rIns="0" bIns="0">
            <a:spAutoFit/>
          </a:bodyPr>
          <a:lstStyle/>
          <a:p>
            <a:r>
              <a:rPr sz="1050" b="0">
                <a:solidFill>
                  <a:srgbClr val="1F1F1F"/>
                </a:solidFill>
                <a:latin typeface="Calibri"/>
              </a:rPr>
              <a:t>sits at the top of the 2026 price ladder at an index of</a:t>
            </a:r>
          </a:p>
        </p:txBody>
      </p:sp>
      <p:pic>
        <p:nvPicPr>
          <p:cNvPr id="44" name="Picture 43" descr="lock.png"/>
          <p:cNvPicPr>
            <a:picLocks noChangeAspect="1"/>
          </p:cNvPicPr>
          <p:nvPr/>
        </p:nvPicPr>
        <p:blipFill>
          <a:blip r:embed="rId6"/>
          <a:stretch>
            <a:fillRect/>
          </a:stretch>
        </p:blipFill>
        <p:spPr>
          <a:xfrm>
            <a:off x="3676696" y="5681662"/>
            <a:ext cx="122849" cy="178689"/>
          </a:xfrm>
          <a:prstGeom prst="rect">
            <a:avLst/>
          </a:prstGeom>
        </p:spPr>
      </p:pic>
      <p:sp>
        <p:nvSpPr>
          <p:cNvPr id="45" name="TextBox 44"/>
          <p:cNvSpPr txBox="1"/>
          <p:nvPr/>
        </p:nvSpPr>
        <p:spPr>
          <a:xfrm>
            <a:off x="3836579" y="5690996"/>
            <a:ext cx="109537" cy="179069"/>
          </a:xfrm>
          <a:prstGeom prst="rect">
            <a:avLst/>
          </a:prstGeom>
          <a:noFill/>
        </p:spPr>
        <p:txBody>
          <a:bodyPr wrap="none" lIns="0" tIns="0" rIns="0" bIns="0">
            <a:spAutoFit/>
          </a:bodyPr>
          <a:lstStyle/>
          <a:p>
            <a:r>
              <a:rPr sz="1050" b="0">
                <a:solidFill>
                  <a:srgbClr val="1F1F1F"/>
                </a:solidFill>
                <a:latin typeface="Calibri"/>
              </a:rPr>
              <a:t>,</a:t>
            </a:r>
          </a:p>
        </p:txBody>
      </p:sp>
      <p:sp>
        <p:nvSpPr>
          <p:cNvPr id="46" name="TextBox 45"/>
          <p:cNvSpPr txBox="1"/>
          <p:nvPr/>
        </p:nvSpPr>
        <p:spPr>
          <a:xfrm>
            <a:off x="806576" y="5851016"/>
            <a:ext cx="2817948" cy="179069"/>
          </a:xfrm>
          <a:prstGeom prst="rect">
            <a:avLst/>
          </a:prstGeom>
          <a:noFill/>
        </p:spPr>
        <p:txBody>
          <a:bodyPr wrap="none" lIns="0" tIns="0" rIns="0" bIns="0">
            <a:spAutoFit/>
          </a:bodyPr>
          <a:lstStyle/>
          <a:p>
            <a:r>
              <a:rPr sz="1050" b="0">
                <a:solidFill>
                  <a:srgbClr val="1F1F1F"/>
                </a:solidFill>
                <a:latin typeface="Calibri"/>
              </a:rPr>
              <a:t>while Slotted (Interlocking Grid) Partitions trade at</a:t>
            </a:r>
          </a:p>
        </p:txBody>
      </p:sp>
      <p:pic>
        <p:nvPicPr>
          <p:cNvPr id="47" name="Picture 46" descr="lock.png"/>
          <p:cNvPicPr>
            <a:picLocks noChangeAspect="1"/>
          </p:cNvPicPr>
          <p:nvPr/>
        </p:nvPicPr>
        <p:blipFill>
          <a:blip r:embed="rId6"/>
          <a:stretch>
            <a:fillRect/>
          </a:stretch>
        </p:blipFill>
        <p:spPr>
          <a:xfrm>
            <a:off x="3571475" y="5841682"/>
            <a:ext cx="122849" cy="178689"/>
          </a:xfrm>
          <a:prstGeom prst="rect">
            <a:avLst/>
          </a:prstGeom>
        </p:spPr>
      </p:pic>
      <p:sp>
        <p:nvSpPr>
          <p:cNvPr id="48" name="TextBox 47"/>
          <p:cNvSpPr txBox="1"/>
          <p:nvPr/>
        </p:nvSpPr>
        <p:spPr>
          <a:xfrm>
            <a:off x="3731357" y="5851016"/>
            <a:ext cx="109537" cy="179069"/>
          </a:xfrm>
          <a:prstGeom prst="rect">
            <a:avLst/>
          </a:prstGeom>
          <a:noFill/>
        </p:spPr>
        <p:txBody>
          <a:bodyPr wrap="none" lIns="0" tIns="0" rIns="0" bIns="0">
            <a:spAutoFit/>
          </a:bodyPr>
          <a:lstStyle/>
          <a:p>
            <a:r>
              <a:rPr sz="1050" b="0">
                <a:solidFill>
                  <a:srgbClr val="1F1F1F"/>
                </a:solidFill>
                <a:latin typeface="Calibri"/>
              </a:rPr>
              <a:t>,</a:t>
            </a:r>
          </a:p>
        </p:txBody>
      </p:sp>
      <p:sp>
        <p:nvSpPr>
          <p:cNvPr id="49" name="TextBox 48"/>
          <p:cNvSpPr txBox="1"/>
          <p:nvPr/>
        </p:nvSpPr>
        <p:spPr>
          <a:xfrm>
            <a:off x="806576" y="6011036"/>
            <a:ext cx="2703872" cy="179069"/>
          </a:xfrm>
          <a:prstGeom prst="rect">
            <a:avLst/>
          </a:prstGeom>
          <a:noFill/>
        </p:spPr>
        <p:txBody>
          <a:bodyPr wrap="none" lIns="0" tIns="0" rIns="0" bIns="0">
            <a:spAutoFit/>
          </a:bodyPr>
          <a:lstStyle/>
          <a:p>
            <a:r>
              <a:rPr sz="1050" b="0">
                <a:solidFill>
                  <a:srgbClr val="1F1F1F"/>
                </a:solidFill>
                <a:latin typeface="Calibri"/>
              </a:rPr>
              <a:t>which keeps the full partition type spread within</a:t>
            </a:r>
          </a:p>
        </p:txBody>
      </p:sp>
      <p:pic>
        <p:nvPicPr>
          <p:cNvPr id="50" name="Picture 49" descr="lock.png"/>
          <p:cNvPicPr>
            <a:picLocks noChangeAspect="1"/>
          </p:cNvPicPr>
          <p:nvPr/>
        </p:nvPicPr>
        <p:blipFill>
          <a:blip r:embed="rId6"/>
          <a:stretch>
            <a:fillRect/>
          </a:stretch>
        </p:blipFill>
        <p:spPr>
          <a:xfrm>
            <a:off x="3457398" y="6001702"/>
            <a:ext cx="122849" cy="178689"/>
          </a:xfrm>
          <a:prstGeom prst="rect">
            <a:avLst/>
          </a:prstGeom>
        </p:spPr>
      </p:pic>
      <p:sp>
        <p:nvSpPr>
          <p:cNvPr id="51" name="TextBox 50"/>
          <p:cNvSpPr txBox="1"/>
          <p:nvPr/>
        </p:nvSpPr>
        <p:spPr>
          <a:xfrm>
            <a:off x="3617280" y="6011036"/>
            <a:ext cx="109797" cy="179069"/>
          </a:xfrm>
          <a:prstGeom prst="rect">
            <a:avLst/>
          </a:prstGeom>
          <a:noFill/>
        </p:spPr>
        <p:txBody>
          <a:bodyPr wrap="none" lIns="0" tIns="0" rIns="0" bIns="0">
            <a:spAutoFit/>
          </a:bodyPr>
          <a:lstStyle/>
          <a:p>
            <a:r>
              <a:rPr sz="1050" b="0">
                <a:solidFill>
                  <a:srgbClr val="1F1F1F"/>
                </a:solidFill>
                <a:latin typeface="Calibri"/>
              </a:rPr>
              <a:t>.</a:t>
            </a:r>
          </a:p>
        </p:txBody>
      </p:sp>
      <p:sp>
        <p:nvSpPr>
          <p:cNvPr id="52" name="TextBox 51"/>
          <p:cNvSpPr txBox="1"/>
          <p:nvPr/>
        </p:nvSpPr>
        <p:spPr>
          <a:xfrm>
            <a:off x="4732401" y="5530976"/>
            <a:ext cx="2959633" cy="179069"/>
          </a:xfrm>
          <a:prstGeom prst="rect">
            <a:avLst/>
          </a:prstGeom>
          <a:noFill/>
        </p:spPr>
        <p:txBody>
          <a:bodyPr wrap="none" lIns="0" tIns="0" rIns="0" bIns="0">
            <a:spAutoFit/>
          </a:bodyPr>
          <a:lstStyle/>
          <a:p>
            <a:r>
              <a:rPr sz="1050" b="0">
                <a:solidFill>
                  <a:srgbClr val="1F1F1F"/>
                </a:solidFill>
                <a:latin typeface="Calibri"/>
              </a:rPr>
              <a:t>Slotted (Interlocking Grid) Partitions posts the fastest</a:t>
            </a:r>
          </a:p>
        </p:txBody>
      </p:sp>
      <p:sp>
        <p:nvSpPr>
          <p:cNvPr id="53" name="TextBox 52"/>
          <p:cNvSpPr txBox="1"/>
          <p:nvPr/>
        </p:nvSpPr>
        <p:spPr>
          <a:xfrm>
            <a:off x="4732401" y="5690996"/>
            <a:ext cx="999492" cy="179069"/>
          </a:xfrm>
          <a:prstGeom prst="rect">
            <a:avLst/>
          </a:prstGeom>
          <a:noFill/>
        </p:spPr>
        <p:txBody>
          <a:bodyPr wrap="none" lIns="0" tIns="0" rIns="0" bIns="0">
            <a:spAutoFit/>
          </a:bodyPr>
          <a:lstStyle/>
          <a:p>
            <a:r>
              <a:rPr sz="1050" b="0">
                <a:solidFill>
                  <a:srgbClr val="1F1F1F"/>
                </a:solidFill>
                <a:latin typeface="Calibri"/>
              </a:rPr>
              <a:t>price growth at a</a:t>
            </a:r>
          </a:p>
        </p:txBody>
      </p:sp>
      <p:pic>
        <p:nvPicPr>
          <p:cNvPr id="54" name="Picture 53" descr="lock.png"/>
          <p:cNvPicPr>
            <a:picLocks noChangeAspect="1"/>
          </p:cNvPicPr>
          <p:nvPr/>
        </p:nvPicPr>
        <p:blipFill>
          <a:blip r:embed="rId6"/>
          <a:stretch>
            <a:fillRect/>
          </a:stretch>
        </p:blipFill>
        <p:spPr>
          <a:xfrm>
            <a:off x="5678842" y="5681662"/>
            <a:ext cx="122849" cy="178689"/>
          </a:xfrm>
          <a:prstGeom prst="rect">
            <a:avLst/>
          </a:prstGeom>
        </p:spPr>
      </p:pic>
      <p:sp>
        <p:nvSpPr>
          <p:cNvPr id="55" name="TextBox 54"/>
          <p:cNvSpPr txBox="1"/>
          <p:nvPr/>
        </p:nvSpPr>
        <p:spPr>
          <a:xfrm>
            <a:off x="5838725" y="5690996"/>
            <a:ext cx="1760248" cy="179069"/>
          </a:xfrm>
          <a:prstGeom prst="rect">
            <a:avLst/>
          </a:prstGeom>
          <a:noFill/>
        </p:spPr>
        <p:txBody>
          <a:bodyPr wrap="none" lIns="0" tIns="0" rIns="0" bIns="0">
            <a:spAutoFit/>
          </a:bodyPr>
          <a:lstStyle/>
          <a:p>
            <a:r>
              <a:rPr sz="1050" b="0">
                <a:solidFill>
                  <a:srgbClr val="1F1F1F"/>
                </a:solidFill>
                <a:latin typeface="Calibri"/>
              </a:rPr>
              <a:t>CAGR between 2026 and 2036,</a:t>
            </a:r>
          </a:p>
        </p:txBody>
      </p:sp>
      <p:sp>
        <p:nvSpPr>
          <p:cNvPr id="56" name="TextBox 55"/>
          <p:cNvSpPr txBox="1"/>
          <p:nvPr/>
        </p:nvSpPr>
        <p:spPr>
          <a:xfrm>
            <a:off x="4732401" y="5851016"/>
            <a:ext cx="897656" cy="179069"/>
          </a:xfrm>
          <a:prstGeom prst="rect">
            <a:avLst/>
          </a:prstGeom>
          <a:noFill/>
        </p:spPr>
        <p:txBody>
          <a:bodyPr wrap="none" lIns="0" tIns="0" rIns="0" bIns="0">
            <a:spAutoFit/>
          </a:bodyPr>
          <a:lstStyle/>
          <a:p>
            <a:r>
              <a:rPr sz="1050" b="0">
                <a:solidFill>
                  <a:srgbClr val="1F1F1F"/>
                </a:solidFill>
                <a:latin typeface="Calibri"/>
              </a:rPr>
              <a:t>compared with</a:t>
            </a:r>
          </a:p>
        </p:txBody>
      </p:sp>
      <p:pic>
        <p:nvPicPr>
          <p:cNvPr id="57" name="Picture 56" descr="lock.png"/>
          <p:cNvPicPr>
            <a:picLocks noChangeAspect="1"/>
          </p:cNvPicPr>
          <p:nvPr/>
        </p:nvPicPr>
        <p:blipFill>
          <a:blip r:embed="rId6"/>
          <a:stretch>
            <a:fillRect/>
          </a:stretch>
        </p:blipFill>
        <p:spPr>
          <a:xfrm>
            <a:off x="5577007" y="5841682"/>
            <a:ext cx="122849" cy="178689"/>
          </a:xfrm>
          <a:prstGeom prst="rect">
            <a:avLst/>
          </a:prstGeom>
        </p:spPr>
      </p:pic>
      <p:sp>
        <p:nvSpPr>
          <p:cNvPr id="58" name="TextBox 57"/>
          <p:cNvSpPr txBox="1"/>
          <p:nvPr/>
        </p:nvSpPr>
        <p:spPr>
          <a:xfrm>
            <a:off x="5736889" y="5851016"/>
            <a:ext cx="1743306" cy="179069"/>
          </a:xfrm>
          <a:prstGeom prst="rect">
            <a:avLst/>
          </a:prstGeom>
          <a:noFill/>
        </p:spPr>
        <p:txBody>
          <a:bodyPr wrap="none" lIns="0" tIns="0" rIns="0" bIns="0">
            <a:spAutoFit/>
          </a:bodyPr>
          <a:lstStyle/>
          <a:p>
            <a:r>
              <a:rPr sz="1050" b="0">
                <a:solidFill>
                  <a:srgbClr val="1F1F1F"/>
                </a:solidFill>
                <a:latin typeface="Calibri"/>
              </a:rPr>
              <a:t>for Die-Cut &amp; Folded Partitions</a:t>
            </a:r>
          </a:p>
        </p:txBody>
      </p:sp>
      <p:sp>
        <p:nvSpPr>
          <p:cNvPr id="59" name="TextBox 58"/>
          <p:cNvSpPr txBox="1"/>
          <p:nvPr/>
        </p:nvSpPr>
        <p:spPr>
          <a:xfrm>
            <a:off x="4732401" y="6011036"/>
            <a:ext cx="1685255" cy="179069"/>
          </a:xfrm>
          <a:prstGeom prst="rect">
            <a:avLst/>
          </a:prstGeom>
          <a:noFill/>
        </p:spPr>
        <p:txBody>
          <a:bodyPr wrap="none" lIns="0" tIns="0" rIns="0" bIns="0">
            <a:spAutoFit/>
          </a:bodyPr>
          <a:lstStyle/>
          <a:p>
            <a:r>
              <a:rPr sz="1050" b="0">
                <a:solidFill>
                  <a:srgbClr val="1F1F1F"/>
                </a:solidFill>
                <a:latin typeface="Calibri"/>
              </a:rPr>
              <a:t>(H-dividers, tube/cell inserts).</a:t>
            </a:r>
          </a:p>
        </p:txBody>
      </p:sp>
      <p:sp>
        <p:nvSpPr>
          <p:cNvPr id="60" name="TextBox 59"/>
          <p:cNvSpPr txBox="1"/>
          <p:nvPr/>
        </p:nvSpPr>
        <p:spPr>
          <a:xfrm>
            <a:off x="8658225" y="5530976"/>
            <a:ext cx="2235844" cy="179069"/>
          </a:xfrm>
          <a:prstGeom prst="rect">
            <a:avLst/>
          </a:prstGeom>
          <a:noFill/>
        </p:spPr>
        <p:txBody>
          <a:bodyPr wrap="none" lIns="0" tIns="0" rIns="0" bIns="0">
            <a:spAutoFit/>
          </a:bodyPr>
          <a:lstStyle/>
          <a:p>
            <a:r>
              <a:rPr sz="1050" b="0">
                <a:solidFill>
                  <a:srgbClr val="1F1F1F"/>
                </a:solidFill>
                <a:latin typeface="Calibri"/>
              </a:rPr>
              <a:t>The Global average price rises from US$</a:t>
            </a:r>
          </a:p>
        </p:txBody>
      </p:sp>
      <p:pic>
        <p:nvPicPr>
          <p:cNvPr id="61" name="Picture 60" descr="lock.png"/>
          <p:cNvPicPr>
            <a:picLocks noChangeAspect="1"/>
          </p:cNvPicPr>
          <p:nvPr/>
        </p:nvPicPr>
        <p:blipFill>
          <a:blip r:embed="rId6"/>
          <a:stretch>
            <a:fillRect/>
          </a:stretch>
        </p:blipFill>
        <p:spPr>
          <a:xfrm>
            <a:off x="10841019" y="5521642"/>
            <a:ext cx="122849" cy="178689"/>
          </a:xfrm>
          <a:prstGeom prst="rect">
            <a:avLst/>
          </a:prstGeom>
        </p:spPr>
      </p:pic>
      <p:sp>
        <p:nvSpPr>
          <p:cNvPr id="62" name="TextBox 61"/>
          <p:cNvSpPr txBox="1"/>
          <p:nvPr/>
        </p:nvSpPr>
        <p:spPr>
          <a:xfrm>
            <a:off x="11000901" y="5530976"/>
            <a:ext cx="739043" cy="179069"/>
          </a:xfrm>
          <a:prstGeom prst="rect">
            <a:avLst/>
          </a:prstGeom>
          <a:noFill/>
        </p:spPr>
        <p:txBody>
          <a:bodyPr wrap="none" lIns="0" tIns="0" rIns="0" bIns="0">
            <a:spAutoFit/>
          </a:bodyPr>
          <a:lstStyle/>
          <a:p>
            <a:r>
              <a:rPr sz="1050" b="0">
                <a:solidFill>
                  <a:srgbClr val="1F1F1F"/>
                </a:solidFill>
                <a:latin typeface="Calibri"/>
              </a:rPr>
              <a:t>/MT in 2026</a:t>
            </a:r>
          </a:p>
        </p:txBody>
      </p:sp>
      <p:sp>
        <p:nvSpPr>
          <p:cNvPr id="63" name="TextBox 62"/>
          <p:cNvSpPr txBox="1"/>
          <p:nvPr/>
        </p:nvSpPr>
        <p:spPr>
          <a:xfrm>
            <a:off x="8658225" y="5690996"/>
            <a:ext cx="436140" cy="179069"/>
          </a:xfrm>
          <a:prstGeom prst="rect">
            <a:avLst/>
          </a:prstGeom>
          <a:noFill/>
        </p:spPr>
        <p:txBody>
          <a:bodyPr wrap="none" lIns="0" tIns="0" rIns="0" bIns="0">
            <a:spAutoFit/>
          </a:bodyPr>
          <a:lstStyle/>
          <a:p>
            <a:r>
              <a:rPr sz="1050" b="0">
                <a:solidFill>
                  <a:srgbClr val="1F1F1F"/>
                </a:solidFill>
                <a:latin typeface="Calibri"/>
              </a:rPr>
              <a:t>to US$</a:t>
            </a:r>
          </a:p>
        </p:txBody>
      </p:sp>
      <p:pic>
        <p:nvPicPr>
          <p:cNvPr id="64" name="Picture 63" descr="lock.png"/>
          <p:cNvPicPr>
            <a:picLocks noChangeAspect="1"/>
          </p:cNvPicPr>
          <p:nvPr/>
        </p:nvPicPr>
        <p:blipFill>
          <a:blip r:embed="rId6"/>
          <a:stretch>
            <a:fillRect/>
          </a:stretch>
        </p:blipFill>
        <p:spPr>
          <a:xfrm>
            <a:off x="9041315" y="5681662"/>
            <a:ext cx="122849" cy="178689"/>
          </a:xfrm>
          <a:prstGeom prst="rect">
            <a:avLst/>
          </a:prstGeom>
        </p:spPr>
      </p:pic>
      <p:sp>
        <p:nvSpPr>
          <p:cNvPr id="65" name="TextBox 64"/>
          <p:cNvSpPr txBox="1"/>
          <p:nvPr/>
        </p:nvSpPr>
        <p:spPr>
          <a:xfrm>
            <a:off x="9201197" y="5690996"/>
            <a:ext cx="2593181" cy="179069"/>
          </a:xfrm>
          <a:prstGeom prst="rect">
            <a:avLst/>
          </a:prstGeom>
          <a:noFill/>
        </p:spPr>
        <p:txBody>
          <a:bodyPr wrap="none" lIns="0" tIns="0" rIns="0" bIns="0">
            <a:spAutoFit/>
          </a:bodyPr>
          <a:lstStyle/>
          <a:p>
            <a:r>
              <a:rPr sz="1050" b="0">
                <a:solidFill>
                  <a:srgbClr val="1F1F1F"/>
                </a:solidFill>
                <a:latin typeface="Calibri"/>
              </a:rPr>
              <a:t>/MT in 2036, and the gap between the highest</a:t>
            </a:r>
          </a:p>
        </p:txBody>
      </p:sp>
      <p:sp>
        <p:nvSpPr>
          <p:cNvPr id="66" name="TextBox 65"/>
          <p:cNvSpPr txBox="1"/>
          <p:nvPr/>
        </p:nvSpPr>
        <p:spPr>
          <a:xfrm>
            <a:off x="8658225" y="5851016"/>
            <a:ext cx="2494731" cy="179069"/>
          </a:xfrm>
          <a:prstGeom prst="rect">
            <a:avLst/>
          </a:prstGeom>
          <a:noFill/>
        </p:spPr>
        <p:txBody>
          <a:bodyPr wrap="none" lIns="0" tIns="0" rIns="0" bIns="0">
            <a:spAutoFit/>
          </a:bodyPr>
          <a:lstStyle/>
          <a:p>
            <a:r>
              <a:rPr sz="1050" b="0">
                <a:solidFill>
                  <a:srgbClr val="1F1F1F"/>
                </a:solidFill>
                <a:latin typeface="Calibri"/>
              </a:rPr>
              <a:t>and lowest priced partition type moves from</a:t>
            </a:r>
          </a:p>
        </p:txBody>
      </p:sp>
      <p:pic>
        <p:nvPicPr>
          <p:cNvPr id="67" name="Picture 66" descr="lock.png"/>
          <p:cNvPicPr>
            <a:picLocks noChangeAspect="1"/>
          </p:cNvPicPr>
          <p:nvPr/>
        </p:nvPicPr>
        <p:blipFill>
          <a:blip r:embed="rId6"/>
          <a:stretch>
            <a:fillRect/>
          </a:stretch>
        </p:blipFill>
        <p:spPr>
          <a:xfrm>
            <a:off x="11099905" y="5841682"/>
            <a:ext cx="122849" cy="178689"/>
          </a:xfrm>
          <a:prstGeom prst="rect">
            <a:avLst/>
          </a:prstGeom>
        </p:spPr>
      </p:pic>
      <p:sp>
        <p:nvSpPr>
          <p:cNvPr id="68" name="TextBox 67"/>
          <p:cNvSpPr txBox="1"/>
          <p:nvPr/>
        </p:nvSpPr>
        <p:spPr>
          <a:xfrm>
            <a:off x="11259788" y="5851016"/>
            <a:ext cx="478073" cy="179069"/>
          </a:xfrm>
          <a:prstGeom prst="rect">
            <a:avLst/>
          </a:prstGeom>
          <a:noFill/>
        </p:spPr>
        <p:txBody>
          <a:bodyPr wrap="none" lIns="0" tIns="0" rIns="0" bIns="0">
            <a:spAutoFit/>
          </a:bodyPr>
          <a:lstStyle/>
          <a:p>
            <a:r>
              <a:rPr sz="1050" b="0">
                <a:solidFill>
                  <a:srgbClr val="1F1F1F"/>
                </a:solidFill>
                <a:latin typeface="Calibri"/>
              </a:rPr>
              <a:t>in 2021</a:t>
            </a:r>
          </a:p>
        </p:txBody>
      </p:sp>
      <p:sp>
        <p:nvSpPr>
          <p:cNvPr id="69" name="TextBox 68"/>
          <p:cNvSpPr txBox="1"/>
          <p:nvPr/>
        </p:nvSpPr>
        <p:spPr>
          <a:xfrm>
            <a:off x="8658225" y="6011036"/>
            <a:ext cx="191318" cy="179069"/>
          </a:xfrm>
          <a:prstGeom prst="rect">
            <a:avLst/>
          </a:prstGeom>
          <a:noFill/>
        </p:spPr>
        <p:txBody>
          <a:bodyPr wrap="none" lIns="0" tIns="0" rIns="0" bIns="0">
            <a:spAutoFit/>
          </a:bodyPr>
          <a:lstStyle/>
          <a:p>
            <a:r>
              <a:rPr sz="1050" b="0">
                <a:solidFill>
                  <a:srgbClr val="1F1F1F"/>
                </a:solidFill>
                <a:latin typeface="Calibri"/>
              </a:rPr>
              <a:t>to</a:t>
            </a:r>
          </a:p>
        </p:txBody>
      </p:sp>
      <p:pic>
        <p:nvPicPr>
          <p:cNvPr id="70" name="Picture 69" descr="lock.png"/>
          <p:cNvPicPr>
            <a:picLocks noChangeAspect="1"/>
          </p:cNvPicPr>
          <p:nvPr/>
        </p:nvPicPr>
        <p:blipFill>
          <a:blip r:embed="rId6"/>
          <a:stretch>
            <a:fillRect/>
          </a:stretch>
        </p:blipFill>
        <p:spPr>
          <a:xfrm>
            <a:off x="8796492" y="6001702"/>
            <a:ext cx="122849" cy="178689"/>
          </a:xfrm>
          <a:prstGeom prst="rect">
            <a:avLst/>
          </a:prstGeom>
        </p:spPr>
      </p:pic>
      <p:sp>
        <p:nvSpPr>
          <p:cNvPr id="71" name="TextBox 70"/>
          <p:cNvSpPr txBox="1"/>
          <p:nvPr/>
        </p:nvSpPr>
        <p:spPr>
          <a:xfrm>
            <a:off x="8956375" y="6011036"/>
            <a:ext cx="511671" cy="179069"/>
          </a:xfrm>
          <a:prstGeom prst="rect">
            <a:avLst/>
          </a:prstGeom>
          <a:noFill/>
        </p:spPr>
        <p:txBody>
          <a:bodyPr wrap="none" lIns="0" tIns="0" rIns="0" bIns="0">
            <a:spAutoFit/>
          </a:bodyPr>
          <a:lstStyle/>
          <a:p>
            <a:r>
              <a:rPr sz="1050" b="0">
                <a:solidFill>
                  <a:srgbClr val="1F1F1F"/>
                </a:solidFill>
                <a:latin typeface="Calibri"/>
              </a:rPr>
              <a:t>in 2036.</a:t>
            </a:r>
          </a:p>
        </p:txBody>
      </p:sp>
      <p:pic>
        <p:nvPicPr>
          <p:cNvPr id="72" name="Picture 71" descr="lock.png"/>
          <p:cNvPicPr>
            <a:picLocks noChangeAspect="1"/>
          </p:cNvPicPr>
          <p:nvPr/>
        </p:nvPicPr>
        <p:blipFill>
          <a:blip r:embed="rId6"/>
          <a:stretch>
            <a:fillRect/>
          </a:stretch>
        </p:blipFill>
        <p:spPr>
          <a:xfrm>
            <a:off x="3418190" y="3048804"/>
            <a:ext cx="454926" cy="661711"/>
          </a:xfrm>
          <a:prstGeom prst="rect">
            <a:avLst/>
          </a:prstGeom>
        </p:spPr>
      </p:pic>
      <p:pic>
        <p:nvPicPr>
          <p:cNvPr id="73" name="Picture 72" descr="lock.png"/>
          <p:cNvPicPr>
            <a:picLocks noChangeAspect="1"/>
          </p:cNvPicPr>
          <p:nvPr/>
        </p:nvPicPr>
        <p:blipFill>
          <a:blip r:embed="rId6"/>
          <a:stretch>
            <a:fillRect/>
          </a:stretch>
        </p:blipFill>
        <p:spPr>
          <a:xfrm>
            <a:off x="9403270" y="2219134"/>
            <a:ext cx="256698" cy="373379"/>
          </a:xfrm>
          <a:prstGeom prst="rect">
            <a:avLst/>
          </a:prstGeom>
        </p:spPr>
      </p:pic>
      <p:sp>
        <p:nvSpPr>
          <p:cNvPr id="74"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Price Matrix: Partition Type × End Use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Average price (US$/MT) for every partition type and end use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wrap="square" lIns="137160" rtlCol="0" anchor="ctr"/>
          <a:lstStyle/>
          <a:p>
            <a:pPr algn="l"/>
            <a:endParaRP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endParaRPr/>
          </a:p>
        </p:txBody>
      </p:sp>
      <p:sp>
        <p:nvSpPr>
          <p:cNvPr id="12" name="TextBox 11"/>
          <p:cNvSpPr txBox="1"/>
          <p:nvPr/>
        </p:nvSpPr>
        <p:spPr>
          <a:xfrm>
            <a:off x="384048" y="1575435"/>
            <a:ext cx="7315200" cy="257175"/>
          </a:xfrm>
          <a:prstGeom prst="rect">
            <a:avLst/>
          </a:prstGeom>
          <a:noFill/>
        </p:spPr>
        <p:txBody>
          <a:bodyPr wrap="square" lIns="27432" tIns="27432" rIns="27432" bIns="27432" anchor="t">
            <a:spAutoFit/>
          </a:bodyPr>
          <a:lstStyle/>
          <a:p>
            <a:pPr algn="l"/>
            <a:r>
              <a:rPr sz="1150" b="1" i="0">
                <a:solidFill>
                  <a:srgbClr val="0B2E4A"/>
                </a:solidFill>
                <a:latin typeface="Calibri"/>
              </a:rPr>
              <a:t>2026 Price Matrix (US$/MT), Shaded by Index vs Global Average</a:t>
            </a:r>
          </a:p>
        </p:txBody>
      </p:sp>
      <p:graphicFrame>
        <p:nvGraphicFramePr>
          <p:cNvPr id="13" name="Table 12"/>
          <p:cNvGraphicFramePr>
            <a:graphicFrameLocks noGrp="1"/>
          </p:cNvGraphicFramePr>
          <p:nvPr/>
        </p:nvGraphicFramePr>
        <p:xfrm>
          <a:off x="365760" y="1868043"/>
          <a:ext cx="7360923" cy="2834640"/>
        </p:xfrm>
        <a:graphic>
          <a:graphicData uri="http://schemas.openxmlformats.org/drawingml/2006/table">
            <a:tbl>
              <a:tblPr firstRow="1" bandRow="1">
                <a:tableStyleId>{5C22544A-7EE6-4342-B048-85BDC9FD1C3A}</a:tableStyleId>
              </a:tblPr>
              <a:tblGrid>
                <a:gridCol w="1554480">
                  <a:extLst>
                    <a:ext uri="{9D8B030D-6E8A-4147-A177-3AD203B41FA5}">
                      <a16:colId xmlns:a16="http://schemas.microsoft.com/office/drawing/2014/main" val="20000"/>
                    </a:ext>
                  </a:extLst>
                </a:gridCol>
                <a:gridCol w="743277">
                  <a:extLst>
                    <a:ext uri="{9D8B030D-6E8A-4147-A177-3AD203B41FA5}">
                      <a16:colId xmlns:a16="http://schemas.microsoft.com/office/drawing/2014/main" val="20001"/>
                    </a:ext>
                  </a:extLst>
                </a:gridCol>
                <a:gridCol w="743277">
                  <a:extLst>
                    <a:ext uri="{9D8B030D-6E8A-4147-A177-3AD203B41FA5}">
                      <a16:colId xmlns:a16="http://schemas.microsoft.com/office/drawing/2014/main" val="20002"/>
                    </a:ext>
                  </a:extLst>
                </a:gridCol>
                <a:gridCol w="743277">
                  <a:extLst>
                    <a:ext uri="{9D8B030D-6E8A-4147-A177-3AD203B41FA5}">
                      <a16:colId xmlns:a16="http://schemas.microsoft.com/office/drawing/2014/main" val="20003"/>
                    </a:ext>
                  </a:extLst>
                </a:gridCol>
                <a:gridCol w="743277">
                  <a:extLst>
                    <a:ext uri="{9D8B030D-6E8A-4147-A177-3AD203B41FA5}">
                      <a16:colId xmlns:a16="http://schemas.microsoft.com/office/drawing/2014/main" val="20004"/>
                    </a:ext>
                  </a:extLst>
                </a:gridCol>
                <a:gridCol w="743277">
                  <a:extLst>
                    <a:ext uri="{9D8B030D-6E8A-4147-A177-3AD203B41FA5}">
                      <a16:colId xmlns:a16="http://schemas.microsoft.com/office/drawing/2014/main" val="20005"/>
                    </a:ext>
                  </a:extLst>
                </a:gridCol>
                <a:gridCol w="743277">
                  <a:extLst>
                    <a:ext uri="{9D8B030D-6E8A-4147-A177-3AD203B41FA5}">
                      <a16:colId xmlns:a16="http://schemas.microsoft.com/office/drawing/2014/main" val="20006"/>
                    </a:ext>
                  </a:extLst>
                </a:gridCol>
                <a:gridCol w="743277">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tblGrid>
              <a:tr h="566928">
                <a:tc>
                  <a:txBody>
                    <a:bodyPr/>
                    <a:lstStyle/>
                    <a:p>
                      <a:pPr algn="l"/>
                      <a:r>
                        <a:rPr sz="800" b="1">
                          <a:solidFill>
                            <a:srgbClr val="FFFFFF"/>
                          </a:solidFill>
                          <a:latin typeface="Calibri"/>
                        </a:rPr>
                        <a:t>Partition Type</a:t>
                      </a:r>
                    </a:p>
                  </a:txBody>
                  <a:tcPr marL="36576" marR="36576" marT="9144" marB="9144" anchor="ctr">
                    <a:solidFill>
                      <a:srgbClr val="0B2E4A"/>
                    </a:solidFill>
                  </a:tcPr>
                </a:tc>
                <a:tc>
                  <a:txBody>
                    <a:bodyPr/>
                    <a:lstStyle/>
                    <a:p>
                      <a:pPr algn="ctr"/>
                      <a:r>
                        <a:rPr sz="800" b="1">
                          <a:solidFill>
                            <a:srgbClr val="FFFFFF"/>
                          </a:solidFill>
                          <a:latin typeface="Calibri"/>
                        </a:rPr>
                        <a:t>Food &amp; Beverage</a:t>
                      </a:r>
                    </a:p>
                  </a:txBody>
                  <a:tcPr marL="36576" marR="36576" marT="9144" marB="9144" anchor="ctr">
                    <a:solidFill>
                      <a:srgbClr val="0B2E4A"/>
                    </a:solidFill>
                  </a:tcPr>
                </a:tc>
                <a:tc>
                  <a:txBody>
                    <a:bodyPr/>
                    <a:lstStyle/>
                    <a:p>
                      <a:pPr algn="ctr"/>
                      <a:r>
                        <a:rPr sz="800" b="1">
                          <a:solidFill>
                            <a:srgbClr val="FFFFFF"/>
                          </a:solidFill>
                          <a:latin typeface="Calibri"/>
                        </a:rPr>
                        <a:t>Pharmaceuticals &amp; Healthcare</a:t>
                      </a:r>
                    </a:p>
                  </a:txBody>
                  <a:tcPr marL="36576" marR="36576" marT="9144" marB="9144" anchor="ctr">
                    <a:solidFill>
                      <a:srgbClr val="0B2E4A"/>
                    </a:solidFill>
                  </a:tcPr>
                </a:tc>
                <a:tc>
                  <a:txBody>
                    <a:bodyPr/>
                    <a:lstStyle/>
                    <a:p>
                      <a:pPr algn="ctr"/>
                      <a:r>
                        <a:rPr sz="800" b="1">
                          <a:solidFill>
                            <a:srgbClr val="FFFFFF"/>
                          </a:solidFill>
                          <a:latin typeface="Calibri"/>
                        </a:rPr>
                        <a:t>Personal Care &amp; Cosmetics</a:t>
                      </a:r>
                    </a:p>
                  </a:txBody>
                  <a:tcPr marL="36576" marR="36576" marT="9144" marB="9144" anchor="ctr">
                    <a:solidFill>
                      <a:srgbClr val="0B2E4A"/>
                    </a:solidFill>
                  </a:tcPr>
                </a:tc>
                <a:tc>
                  <a:txBody>
                    <a:bodyPr/>
                    <a:lstStyle/>
                    <a:p>
                      <a:pPr algn="ctr"/>
                      <a:r>
                        <a:rPr sz="800" b="1">
                          <a:solidFill>
                            <a:srgbClr val="FFFFFF"/>
                          </a:solidFill>
                          <a:latin typeface="Calibri"/>
                        </a:rPr>
                        <a:t>Electronics &amp; Electrical</a:t>
                      </a:r>
                    </a:p>
                  </a:txBody>
                  <a:tcPr marL="36576" marR="36576" marT="9144" marB="9144" anchor="ctr">
                    <a:solidFill>
                      <a:srgbClr val="0B2E4A"/>
                    </a:solidFill>
                  </a:tcPr>
                </a:tc>
                <a:tc>
                  <a:txBody>
                    <a:bodyPr/>
                    <a:lstStyle/>
                    <a:p>
                      <a:pPr algn="ctr"/>
                      <a:r>
                        <a:rPr sz="800" b="1">
                          <a:solidFill>
                            <a:srgbClr val="FFFFFF"/>
                          </a:solidFill>
                          <a:latin typeface="Calibri"/>
                        </a:rPr>
                        <a:t>Automotive &amp; Industrial Components</a:t>
                      </a:r>
                    </a:p>
                  </a:txBody>
                  <a:tcPr marL="36576" marR="36576" marT="9144" marB="9144" anchor="ctr">
                    <a:solidFill>
                      <a:srgbClr val="0B2E4A"/>
                    </a:solidFill>
                  </a:tcPr>
                </a:tc>
                <a:tc>
                  <a:txBody>
                    <a:bodyPr/>
                    <a:lstStyle/>
                    <a:p>
                      <a:pPr algn="ctr"/>
                      <a:r>
                        <a:rPr sz="800" b="1">
                          <a:solidFill>
                            <a:srgbClr val="FFFFFF"/>
                          </a:solidFill>
                          <a:latin typeface="Calibri"/>
                        </a:rPr>
                        <a:t>Glassware, Ceramics &amp; Home Goods</a:t>
                      </a:r>
                    </a:p>
                  </a:txBody>
                  <a:tcPr marL="36576" marR="36576" marT="9144" marB="9144" anchor="ctr">
                    <a:solidFill>
                      <a:srgbClr val="0B2E4A"/>
                    </a:solidFill>
                  </a:tcPr>
                </a:tc>
                <a:tc>
                  <a:txBody>
                    <a:bodyPr/>
                    <a:lstStyle/>
                    <a:p>
                      <a:pPr algn="ctr"/>
                      <a:r>
                        <a:rPr sz="800" b="1">
                          <a:solidFill>
                            <a:srgbClr val="FFFFFF"/>
                          </a:solidFill>
                          <a:latin typeface="Calibri"/>
                        </a:rPr>
                        <a:t>Others</a:t>
                      </a:r>
                    </a:p>
                  </a:txBody>
                  <a:tcPr marL="36576" marR="36576" marT="9144" marB="9144" anchor="ctr">
                    <a:solidFill>
                      <a:srgbClr val="0B2E4A"/>
                    </a:solidFill>
                  </a:tcPr>
                </a:tc>
                <a:tc>
                  <a:txBody>
                    <a:bodyPr/>
                    <a:lstStyle/>
                    <a:p>
                      <a:pPr algn="ctr"/>
                      <a:r>
                        <a:rPr sz="800" b="1">
                          <a:solidFill>
                            <a:srgbClr val="FFFFFF"/>
                          </a:solidFill>
                          <a:latin typeface="Calibri"/>
                        </a:rPr>
                        <a:t>Row Avg.</a:t>
                      </a:r>
                    </a:p>
                  </a:txBody>
                  <a:tcPr marL="36576" marR="36576" marT="9144" marB="9144" anchor="ctr">
                    <a:solidFill>
                      <a:srgbClr val="0B2E4A"/>
                    </a:solidFill>
                  </a:tcPr>
                </a:tc>
                <a:extLst>
                  <a:ext uri="{0D108BD9-81ED-4DB2-BD59-A6C34878D82A}">
                    <a16:rowId xmlns:a16="http://schemas.microsoft.com/office/drawing/2014/main" val="10000"/>
                  </a:ext>
                </a:extLst>
              </a:tr>
              <a:tr h="566928">
                <a:tc>
                  <a:txBody>
                    <a:bodyPr/>
                    <a:lstStyle/>
                    <a:p>
                      <a:pPr algn="l"/>
                      <a:r>
                        <a:rPr sz="900" b="1">
                          <a:solidFill>
                            <a:srgbClr val="1F1F1F"/>
                          </a:solidFill>
                          <a:latin typeface="Calibri"/>
                        </a:rPr>
                        <a:t>Die-Cut &amp; Folded Partitions (H-dividers, tube/cell inserts)</a:t>
                      </a:r>
                    </a:p>
                  </a:txBody>
                  <a:tcPr marL="36576" marR="36576" marT="9144" marB="9144" anchor="ctr">
                    <a:solidFill>
                      <a:srgbClr val="FFFFFF"/>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F3F6F9"/>
                    </a:solidFill>
                  </a:tcPr>
                </a:tc>
                <a:extLst>
                  <a:ext uri="{0D108BD9-81ED-4DB2-BD59-A6C34878D82A}">
                    <a16:rowId xmlns:a16="http://schemas.microsoft.com/office/drawing/2014/main" val="10001"/>
                  </a:ext>
                </a:extLst>
              </a:tr>
              <a:tr h="566928">
                <a:tc>
                  <a:txBody>
                    <a:bodyPr/>
                    <a:lstStyle/>
                    <a:p>
                      <a:pPr algn="l"/>
                      <a:r>
                        <a:rPr sz="900" b="1">
                          <a:solidFill>
                            <a:srgbClr val="1F1F1F"/>
                          </a:solidFill>
                          <a:latin typeface="Calibri"/>
                        </a:rPr>
                        <a:t>Flat Dividers &amp; Layer Pads</a:t>
                      </a:r>
                    </a:p>
                  </a:txBody>
                  <a:tcPr marL="36576" marR="36576" marT="9144" marB="9144" anchor="ctr">
                    <a:solidFill>
                      <a:srgbClr val="FFFFFF"/>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F3F6F9"/>
                    </a:solidFill>
                  </a:tcPr>
                </a:tc>
                <a:extLst>
                  <a:ext uri="{0D108BD9-81ED-4DB2-BD59-A6C34878D82A}">
                    <a16:rowId xmlns:a16="http://schemas.microsoft.com/office/drawing/2014/main" val="10002"/>
                  </a:ext>
                </a:extLst>
              </a:tr>
              <a:tr h="566928">
                <a:tc>
                  <a:txBody>
                    <a:bodyPr/>
                    <a:lstStyle/>
                    <a:p>
                      <a:pPr algn="l"/>
                      <a:r>
                        <a:rPr sz="900" b="1">
                          <a:solidFill>
                            <a:srgbClr val="1F1F1F"/>
                          </a:solidFill>
                          <a:latin typeface="Calibri"/>
                        </a:rPr>
                        <a:t>Slotted (Interlocking Grid) Partitions</a:t>
                      </a:r>
                    </a:p>
                  </a:txBody>
                  <a:tcPr marL="36576" marR="36576" marT="9144" marB="9144" anchor="ctr">
                    <a:solidFill>
                      <a:srgbClr val="FFFFFF"/>
                    </a:solidFill>
                  </a:tcPr>
                </a:tc>
                <a:tc>
                  <a:txBody>
                    <a:bodyPr/>
                    <a:lstStyle/>
                    <a:p>
                      <a:pPr algn="ctr"/>
                      <a:r>
                        <a:rPr sz="900"/>
                        <a:t> </a:t>
                      </a:r>
                    </a:p>
                  </a:txBody>
                  <a:tcPr marL="36576" marR="36576" marT="9144" marB="9144" anchor="ctr">
                    <a:solidFill>
                      <a:srgbClr val="D9E6F2"/>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F7F7F7"/>
                    </a:solidFill>
                  </a:tcPr>
                </a:tc>
                <a:tc>
                  <a:txBody>
                    <a:bodyPr/>
                    <a:lstStyle/>
                    <a:p>
                      <a:pPr algn="ctr"/>
                      <a:r>
                        <a:rPr sz="900"/>
                        <a:t> </a:t>
                      </a:r>
                    </a:p>
                  </a:txBody>
                  <a:tcPr marL="36576" marR="36576" marT="9144" marB="9144" anchor="ctr">
                    <a:solidFill>
                      <a:srgbClr val="F7F7F7"/>
                    </a:solidFill>
                  </a:tcPr>
                </a:tc>
                <a:tc>
                  <a:txBody>
                    <a:bodyPr/>
                    <a:lstStyle/>
                    <a:p>
                      <a:pPr algn="ctr"/>
                      <a:r>
                        <a:rPr sz="900"/>
                        <a:t> </a:t>
                      </a:r>
                    </a:p>
                  </a:txBody>
                  <a:tcPr marL="36576" marR="36576" marT="9144" marB="9144" anchor="ctr">
                    <a:solidFill>
                      <a:srgbClr val="D9E6F2"/>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F3F6F9"/>
                    </a:solidFill>
                  </a:tcPr>
                </a:tc>
                <a:extLst>
                  <a:ext uri="{0D108BD9-81ED-4DB2-BD59-A6C34878D82A}">
                    <a16:rowId xmlns:a16="http://schemas.microsoft.com/office/drawing/2014/main" val="10003"/>
                  </a:ext>
                </a:extLst>
              </a:tr>
              <a:tr h="566928">
                <a:tc>
                  <a:txBody>
                    <a:bodyPr/>
                    <a:lstStyle/>
                    <a:p>
                      <a:pPr algn="l"/>
                      <a:r>
                        <a:rPr sz="900" b="1">
                          <a:solidFill>
                            <a:srgbClr val="1F1F1F"/>
                          </a:solidFill>
                          <a:latin typeface="Calibri"/>
                        </a:rPr>
                        <a:t>Column Avg.</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extLst>
                  <a:ext uri="{0D108BD9-81ED-4DB2-BD59-A6C34878D82A}">
                    <a16:rowId xmlns:a16="http://schemas.microsoft.com/office/drawing/2014/main" val="10004"/>
                  </a:ext>
                </a:extLst>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endParaRPr/>
          </a:p>
        </p:txBody>
      </p:sp>
      <p:sp>
        <p:nvSpPr>
          <p:cNvPr id="15" name="FMI Scale legend"/>
          <p:cNvSpPr txBox="1"/>
          <p:nvPr/>
        </p:nvSpPr>
        <p:spPr>
          <a:xfrm>
            <a:off x="593598" y="4739259"/>
            <a:ext cx="1276350" cy="238125"/>
          </a:xfrm>
          <a:prstGeom prst="rect">
            <a:avLst/>
          </a:prstGeom>
          <a:noFill/>
        </p:spPr>
        <p:txBody>
          <a:bodyPr wrap="square" lIns="27432" tIns="27432" rIns="27432" bIns="27432" anchor="t">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endParaRPr/>
          </a:p>
        </p:txBody>
      </p:sp>
      <p:sp>
        <p:nvSpPr>
          <p:cNvPr id="17" name="FMI Scale legend"/>
          <p:cNvSpPr txBox="1"/>
          <p:nvPr/>
        </p:nvSpPr>
        <p:spPr>
          <a:xfrm>
            <a:off x="2060448" y="4739259"/>
            <a:ext cx="1276350" cy="238125"/>
          </a:xfrm>
          <a:prstGeom prst="rect">
            <a:avLst/>
          </a:prstGeom>
          <a:noFill/>
        </p:spPr>
        <p:txBody>
          <a:bodyPr wrap="square" lIns="27432" tIns="27432" rIns="27432" bIns="27432" anchor="t">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endParaRPr/>
          </a:p>
        </p:txBody>
      </p:sp>
      <p:sp>
        <p:nvSpPr>
          <p:cNvPr id="19" name="FMI Scale legend"/>
          <p:cNvSpPr txBox="1"/>
          <p:nvPr/>
        </p:nvSpPr>
        <p:spPr>
          <a:xfrm>
            <a:off x="3527298" y="4739259"/>
            <a:ext cx="1276350" cy="238125"/>
          </a:xfrm>
          <a:prstGeom prst="rect">
            <a:avLst/>
          </a:prstGeom>
          <a:noFill/>
        </p:spPr>
        <p:txBody>
          <a:bodyPr wrap="square" lIns="27432" tIns="27432" rIns="27432" bIns="27432" anchor="t">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endParaRPr/>
          </a:p>
        </p:txBody>
      </p:sp>
      <p:sp>
        <p:nvSpPr>
          <p:cNvPr id="21" name="FMI Scale legend"/>
          <p:cNvSpPr txBox="1"/>
          <p:nvPr/>
        </p:nvSpPr>
        <p:spPr>
          <a:xfrm>
            <a:off x="4994148" y="4739259"/>
            <a:ext cx="1276350" cy="238125"/>
          </a:xfrm>
          <a:prstGeom prst="rect">
            <a:avLst/>
          </a:prstGeom>
          <a:noFill/>
        </p:spPr>
        <p:txBody>
          <a:bodyPr wrap="square" lIns="27432" tIns="27432" rIns="27432" bIns="27432" anchor="t">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endParaRPr/>
          </a:p>
        </p:txBody>
      </p:sp>
      <p:sp>
        <p:nvSpPr>
          <p:cNvPr id="23" name="FMI Scale legend"/>
          <p:cNvSpPr txBox="1"/>
          <p:nvPr/>
        </p:nvSpPr>
        <p:spPr>
          <a:xfrm>
            <a:off x="6460998" y="4739259"/>
            <a:ext cx="1276350" cy="238125"/>
          </a:xfrm>
          <a:prstGeom prst="rect">
            <a:avLst/>
          </a:prstGeom>
          <a:noFill/>
        </p:spPr>
        <p:txBody>
          <a:bodyPr wrap="square" lIns="27432" tIns="27432" rIns="27432" bIns="27432" anchor="t">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endParaRPr/>
          </a:p>
        </p:txBody>
      </p:sp>
      <p:sp>
        <p:nvSpPr>
          <p:cNvPr id="25" name="TextBox 24"/>
          <p:cNvSpPr txBox="1"/>
          <p:nvPr/>
        </p:nvSpPr>
        <p:spPr>
          <a:xfrm>
            <a:off x="8065008" y="1575435"/>
            <a:ext cx="3749040" cy="257175"/>
          </a:xfrm>
          <a:prstGeom prst="rect">
            <a:avLst/>
          </a:prstGeom>
          <a:noFill/>
        </p:spPr>
        <p:txBody>
          <a:bodyPr wrap="square" lIns="27432" tIns="27432" rIns="27432" bIns="27432" anchor="t">
            <a:spAutoFit/>
          </a:bodyPr>
          <a:lstStyle/>
          <a:p>
            <a:pPr algn="l"/>
            <a:r>
              <a:rPr sz="1150" b="1" i="0">
                <a:solidFill>
                  <a:srgbClr val="0B2E4A"/>
                </a:solidFill>
                <a:latin typeface="Calibri"/>
              </a:rPr>
              <a:t>Price Range Across All End Use Sub-Types, 2026</a:t>
            </a:r>
          </a:p>
        </p:txBody>
      </p:sp>
      <p:sp>
        <p:nvSpPr>
          <p:cNvPr id="26" name="TextBox 25"/>
          <p:cNvSpPr txBox="1"/>
          <p:nvPr/>
        </p:nvSpPr>
        <p:spPr>
          <a:xfrm>
            <a:off x="8065008" y="1965579"/>
            <a:ext cx="3749040" cy="219075"/>
          </a:xfrm>
          <a:prstGeom prst="rect">
            <a:avLst/>
          </a:prstGeom>
          <a:noFill/>
        </p:spPr>
        <p:txBody>
          <a:bodyPr wrap="square" lIns="27432" tIns="27432" rIns="27432" bIns="27432" anchor="t">
            <a:spAutoFit/>
          </a:bodyPr>
          <a:lstStyle/>
          <a:p>
            <a:pPr algn="l"/>
            <a:r>
              <a:rPr sz="850" b="0" i="1">
                <a:solidFill>
                  <a:srgbClr val="59636E"/>
                </a:solidFill>
                <a:latin typeface="Calibri"/>
              </a:rPr>
              <a:t>Bar spans lowest to highest price (US$/MT)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xmlns:r="http://schemas.openxmlformats.org/officeDocument/2006/relationships" r:id="rId4"/>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endParaRPr/>
          </a:p>
        </p:txBody>
      </p:sp>
      <p:sp>
        <p:nvSpPr>
          <p:cNvPr id="29" name="Oval 28"/>
          <p:cNvSpPr/>
          <p:nvPr/>
        </p:nvSpPr>
        <p:spPr>
          <a:xfrm>
            <a:off x="388620" y="5265420"/>
            <a:ext cx="314325" cy="314325"/>
          </a:xfrm>
          <a:prstGeom prst="ellipse">
            <a:avLst/>
          </a:prstGeom>
          <a:solidFill>
            <a:srgbClr val="0B2E4A"/>
          </a:solidFill>
          <a:ln>
            <a:noFill/>
          </a:ln>
          <a:effectLst/>
        </p:spPr>
        <p:txBody>
          <a:bodyPr wrap="none" lIns="0" tIns="0" rIns="0" bIns="0" rtlCol="0" anchor="ctr"/>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lIns="27432" tIns="27432" rIns="27432" bIns="27432" anchor="t">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lIns="27432" tIns="27432" rIns="27432" bIns="27432" anchor="t">
            <a:spAutoFit/>
          </a:bodyPr>
          <a:lstStyle/>
          <a:p>
            <a:pPr algn="l"/>
            <a:endParaRP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endParaRPr/>
          </a:p>
        </p:txBody>
      </p:sp>
      <p:sp>
        <p:nvSpPr>
          <p:cNvPr id="33" name="Oval 32"/>
          <p:cNvSpPr/>
          <p:nvPr/>
        </p:nvSpPr>
        <p:spPr>
          <a:xfrm>
            <a:off x="4314444" y="5265420"/>
            <a:ext cx="314325" cy="314325"/>
          </a:xfrm>
          <a:prstGeom prst="ellipse">
            <a:avLst/>
          </a:prstGeom>
          <a:solidFill>
            <a:srgbClr val="0B2E4A"/>
          </a:solidFill>
          <a:ln>
            <a:noFill/>
          </a:ln>
          <a:effectLst/>
        </p:spPr>
        <p:txBody>
          <a:bodyPr wrap="none" lIns="0" tIns="0" rIns="0" bIns="0" rtlCol="0" anchor="ctr"/>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lIns="27432" tIns="27432" rIns="27432" bIns="27432" anchor="t">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lIns="27432" tIns="27432" rIns="27432" bIns="27432" anchor="t">
            <a:spAutoFit/>
          </a:bodyPr>
          <a:lstStyle/>
          <a:p>
            <a:pPr algn="l"/>
            <a:endParaRP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endParaRPr/>
          </a:p>
        </p:txBody>
      </p:sp>
      <p:sp>
        <p:nvSpPr>
          <p:cNvPr id="37" name="Oval 36"/>
          <p:cNvSpPr/>
          <p:nvPr/>
        </p:nvSpPr>
        <p:spPr>
          <a:xfrm>
            <a:off x="8240268" y="5265420"/>
            <a:ext cx="314325" cy="314325"/>
          </a:xfrm>
          <a:prstGeom prst="ellipse">
            <a:avLst/>
          </a:prstGeom>
          <a:solidFill>
            <a:srgbClr val="0B2E4A"/>
          </a:solidFill>
          <a:ln>
            <a:noFill/>
          </a:ln>
          <a:effectLst/>
        </p:spPr>
        <p:txBody>
          <a:bodyPr wrap="none" lIns="0" tIns="0" rIns="0" bIns="0" rtlCol="0" anchor="ctr"/>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lIns="27432" tIns="27432" rIns="27432" bIns="27432" anchor="t">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lIns="27432" tIns="27432" rIns="27432" bIns="27432" anchor="t">
            <a:spAutoFit/>
          </a:bodyPr>
          <a:lstStyle/>
          <a:p>
            <a:pPr algn="l"/>
            <a:endParaRPr/>
          </a:p>
        </p:txBody>
      </p:sp>
      <p:sp>
        <p:nvSpPr>
          <p:cNvPr id="40" name="TextBox 39"/>
          <p:cNvSpPr txBox="1"/>
          <p:nvPr/>
        </p:nvSpPr>
        <p:spPr>
          <a:xfrm>
            <a:off x="274320" y="6363843"/>
            <a:ext cx="11612880" cy="209550"/>
          </a:xfrm>
          <a:prstGeom prst="rect">
            <a:avLst/>
          </a:prstGeom>
          <a:noFill/>
        </p:spPr>
        <p:txBody>
          <a:bodyPr wrap="square" lIns="27432" tIns="27432" rIns="27432" bIns="27432" anchor="t">
            <a:spAutoFit/>
          </a:bodyPr>
          <a:lstStyle/>
          <a:p>
            <a:pPr algn="l"/>
            <a:endParaRPr/>
          </a:p>
        </p:txBody>
      </p:sp>
      <p:sp>
        <p:nvSpPr>
          <p:cNvPr id="41" name="TextBox 4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4636771" y="3302127"/>
            <a:ext cx="366712" cy="533400"/>
          </a:xfrm>
          <a:prstGeom prst="rect">
            <a:avLst/>
          </a:prstGeom>
        </p:spPr>
      </p:pic>
      <p:sp>
        <p:nvSpPr>
          <p:cNvPr id="43" name="TextBox 42"/>
          <p:cNvSpPr txBox="1"/>
          <p:nvPr/>
        </p:nvSpPr>
        <p:spPr>
          <a:xfrm>
            <a:off x="411480" y="1126464"/>
            <a:ext cx="8563797" cy="185470"/>
          </a:xfrm>
          <a:prstGeom prst="rect">
            <a:avLst/>
          </a:prstGeom>
          <a:noFill/>
        </p:spPr>
        <p:txBody>
          <a:bodyPr wrap="none" lIns="0" tIns="0" rIns="0" bIns="0">
            <a:spAutoFit/>
          </a:bodyPr>
          <a:lstStyle/>
          <a:p>
            <a:r>
              <a:rPr sz="1091" b="1">
                <a:solidFill>
                  <a:srgbClr val="FFFFFF"/>
                </a:solidFill>
                <a:latin typeface="Calibri"/>
              </a:rPr>
              <a:t>Die-Cut &amp; Folded Partitions (H-dividers, tube/cell inserts) for Automotive &amp; Industrial Components is the highest priced combination in 2026 at US$</a:t>
            </a:r>
          </a:p>
        </p:txBody>
      </p:sp>
      <p:pic>
        <p:nvPicPr>
          <p:cNvPr id="44" name="Picture 43" descr="lock.png"/>
          <p:cNvPicPr>
            <a:picLocks noChangeAspect="1"/>
          </p:cNvPicPr>
          <p:nvPr/>
        </p:nvPicPr>
        <p:blipFill>
          <a:blip r:embed="rId5"/>
          <a:stretch>
            <a:fillRect/>
          </a:stretch>
        </p:blipFill>
        <p:spPr>
          <a:xfrm>
            <a:off x="8923153" y="1116756"/>
            <a:ext cx="127762" cy="185836"/>
          </a:xfrm>
          <a:prstGeom prst="rect">
            <a:avLst/>
          </a:prstGeom>
        </p:spPr>
      </p:pic>
      <p:sp>
        <p:nvSpPr>
          <p:cNvPr id="45" name="TextBox 44"/>
          <p:cNvSpPr txBox="1"/>
          <p:nvPr/>
        </p:nvSpPr>
        <p:spPr>
          <a:xfrm>
            <a:off x="9089430" y="1126464"/>
            <a:ext cx="462185" cy="185470"/>
          </a:xfrm>
          <a:prstGeom prst="rect">
            <a:avLst/>
          </a:prstGeom>
          <a:noFill/>
        </p:spPr>
        <p:txBody>
          <a:bodyPr wrap="none" lIns="0" tIns="0" rIns="0" bIns="0">
            <a:spAutoFit/>
          </a:bodyPr>
          <a:lstStyle/>
          <a:p>
            <a:r>
              <a:rPr sz="1091" b="1">
                <a:solidFill>
                  <a:srgbClr val="FFFFFF"/>
                </a:solidFill>
                <a:latin typeface="Calibri"/>
              </a:rPr>
              <a:t>/MT, +</a:t>
            </a:r>
          </a:p>
        </p:txBody>
      </p:sp>
      <p:pic>
        <p:nvPicPr>
          <p:cNvPr id="46" name="Picture 45" descr="lock.png"/>
          <p:cNvPicPr>
            <a:picLocks noChangeAspect="1"/>
          </p:cNvPicPr>
          <p:nvPr/>
        </p:nvPicPr>
        <p:blipFill>
          <a:blip r:embed="rId5"/>
          <a:stretch>
            <a:fillRect/>
          </a:stretch>
        </p:blipFill>
        <p:spPr>
          <a:xfrm>
            <a:off x="9499491" y="1116756"/>
            <a:ext cx="127762" cy="185836"/>
          </a:xfrm>
          <a:prstGeom prst="rect">
            <a:avLst/>
          </a:prstGeom>
        </p:spPr>
      </p:pic>
      <p:sp>
        <p:nvSpPr>
          <p:cNvPr id="47" name="TextBox 46"/>
          <p:cNvSpPr txBox="1"/>
          <p:nvPr/>
        </p:nvSpPr>
        <p:spPr>
          <a:xfrm>
            <a:off x="9665769" y="1126464"/>
            <a:ext cx="1584659" cy="185470"/>
          </a:xfrm>
          <a:prstGeom prst="rect">
            <a:avLst/>
          </a:prstGeom>
          <a:noFill/>
        </p:spPr>
        <p:txBody>
          <a:bodyPr wrap="none" lIns="0" tIns="0" rIns="0" bIns="0">
            <a:spAutoFit/>
          </a:bodyPr>
          <a:lstStyle/>
          <a:p>
            <a:r>
              <a:rPr sz="1091" b="1">
                <a:solidFill>
                  <a:srgbClr val="FFFFFF"/>
                </a:solidFill>
                <a:latin typeface="Calibri"/>
              </a:rPr>
              <a:t>above the Global average.</a:t>
            </a:r>
          </a:p>
        </p:txBody>
      </p:sp>
      <p:sp>
        <p:nvSpPr>
          <p:cNvPr id="48" name="TextBox 47"/>
          <p:cNvSpPr txBox="1"/>
          <p:nvPr/>
        </p:nvSpPr>
        <p:spPr>
          <a:xfrm>
            <a:off x="806576" y="5530976"/>
            <a:ext cx="3143250" cy="179069"/>
          </a:xfrm>
          <a:prstGeom prst="rect">
            <a:avLst/>
          </a:prstGeom>
          <a:noFill/>
        </p:spPr>
        <p:txBody>
          <a:bodyPr wrap="none" lIns="0" tIns="0" rIns="0" bIns="0">
            <a:spAutoFit/>
          </a:bodyPr>
          <a:lstStyle/>
          <a:p>
            <a:r>
              <a:rPr sz="1050" b="0">
                <a:solidFill>
                  <a:srgbClr val="1F1F1F"/>
                </a:solidFill>
                <a:latin typeface="Calibri"/>
              </a:rPr>
              <a:t>Die-Cut &amp; Folded Partitions (H-dividers, tube/cell inserts)</a:t>
            </a:r>
          </a:p>
        </p:txBody>
      </p:sp>
      <p:sp>
        <p:nvSpPr>
          <p:cNvPr id="49" name="TextBox 48"/>
          <p:cNvSpPr txBox="1"/>
          <p:nvPr/>
        </p:nvSpPr>
        <p:spPr>
          <a:xfrm>
            <a:off x="806576" y="5690996"/>
            <a:ext cx="3143250" cy="179069"/>
          </a:xfrm>
          <a:prstGeom prst="rect">
            <a:avLst/>
          </a:prstGeom>
          <a:noFill/>
        </p:spPr>
        <p:txBody>
          <a:bodyPr wrap="none" lIns="0" tIns="0" rIns="0" bIns="0">
            <a:spAutoFit/>
          </a:bodyPr>
          <a:lstStyle/>
          <a:p>
            <a:r>
              <a:rPr sz="1050" b="0">
                <a:solidFill>
                  <a:srgbClr val="1F1F1F"/>
                </a:solidFill>
                <a:latin typeface="Calibri"/>
              </a:rPr>
              <a:t>positioned on Automotive &amp; Industrial Components carry</a:t>
            </a:r>
          </a:p>
        </p:txBody>
      </p:sp>
      <p:sp>
        <p:nvSpPr>
          <p:cNvPr id="50" name="TextBox 49"/>
          <p:cNvSpPr txBox="1"/>
          <p:nvPr/>
        </p:nvSpPr>
        <p:spPr>
          <a:xfrm>
            <a:off x="806576" y="5851016"/>
            <a:ext cx="2094160" cy="179069"/>
          </a:xfrm>
          <a:prstGeom prst="rect">
            <a:avLst/>
          </a:prstGeom>
          <a:noFill/>
        </p:spPr>
        <p:txBody>
          <a:bodyPr wrap="none" lIns="0" tIns="0" rIns="0" bIns="0">
            <a:spAutoFit/>
          </a:bodyPr>
          <a:lstStyle/>
          <a:p>
            <a:r>
              <a:rPr sz="1050" b="0">
                <a:solidFill>
                  <a:srgbClr val="1F1F1F"/>
                </a:solidFill>
                <a:latin typeface="Calibri"/>
              </a:rPr>
              <a:t>the strongest premium at an index of</a:t>
            </a:r>
          </a:p>
        </p:txBody>
      </p:sp>
      <p:pic>
        <p:nvPicPr>
          <p:cNvPr id="51" name="Picture 50" descr="lock.png"/>
          <p:cNvPicPr>
            <a:picLocks noChangeAspect="1"/>
          </p:cNvPicPr>
          <p:nvPr/>
        </p:nvPicPr>
        <p:blipFill>
          <a:blip r:embed="rId5"/>
          <a:stretch>
            <a:fillRect/>
          </a:stretch>
        </p:blipFill>
        <p:spPr>
          <a:xfrm>
            <a:off x="2847686" y="5841682"/>
            <a:ext cx="122849" cy="178689"/>
          </a:xfrm>
          <a:prstGeom prst="rect">
            <a:avLst/>
          </a:prstGeom>
        </p:spPr>
      </p:pic>
      <p:sp>
        <p:nvSpPr>
          <p:cNvPr id="52" name="TextBox 51"/>
          <p:cNvSpPr txBox="1"/>
          <p:nvPr/>
        </p:nvSpPr>
        <p:spPr>
          <a:xfrm>
            <a:off x="3007569" y="5851016"/>
            <a:ext cx="854943" cy="179069"/>
          </a:xfrm>
          <a:prstGeom prst="rect">
            <a:avLst/>
          </a:prstGeom>
          <a:noFill/>
        </p:spPr>
        <p:txBody>
          <a:bodyPr wrap="none" lIns="0" tIns="0" rIns="0" bIns="0">
            <a:spAutoFit/>
          </a:bodyPr>
          <a:lstStyle/>
          <a:p>
            <a:r>
              <a:rPr sz="1050" b="0">
                <a:solidFill>
                  <a:srgbClr val="1F1F1F"/>
                </a:solidFill>
                <a:latin typeface="Calibri"/>
              </a:rPr>
              <a:t>, which signals</a:t>
            </a:r>
          </a:p>
        </p:txBody>
      </p:sp>
      <p:sp>
        <p:nvSpPr>
          <p:cNvPr id="53" name="TextBox 52"/>
          <p:cNvSpPr txBox="1"/>
          <p:nvPr/>
        </p:nvSpPr>
        <p:spPr>
          <a:xfrm>
            <a:off x="806576" y="6011036"/>
            <a:ext cx="2737730" cy="179069"/>
          </a:xfrm>
          <a:prstGeom prst="rect">
            <a:avLst/>
          </a:prstGeom>
          <a:noFill/>
        </p:spPr>
        <p:txBody>
          <a:bodyPr wrap="none" lIns="0" tIns="0" rIns="0" bIns="0">
            <a:spAutoFit/>
          </a:bodyPr>
          <a:lstStyle/>
          <a:p>
            <a:r>
              <a:rPr sz="1050" b="0">
                <a:solidFill>
                  <a:srgbClr val="1F1F1F"/>
                </a:solidFill>
                <a:latin typeface="Calibri"/>
              </a:rPr>
              <a:t>room for value-added claims in this combination.</a:t>
            </a:r>
          </a:p>
        </p:txBody>
      </p:sp>
      <p:sp>
        <p:nvSpPr>
          <p:cNvPr id="54" name="TextBox 53"/>
          <p:cNvSpPr txBox="1"/>
          <p:nvPr/>
        </p:nvSpPr>
        <p:spPr>
          <a:xfrm>
            <a:off x="4732401" y="5530976"/>
            <a:ext cx="3120070" cy="179069"/>
          </a:xfrm>
          <a:prstGeom prst="rect">
            <a:avLst/>
          </a:prstGeom>
          <a:noFill/>
        </p:spPr>
        <p:txBody>
          <a:bodyPr wrap="none" lIns="0" tIns="0" rIns="0" bIns="0">
            <a:spAutoFit/>
          </a:bodyPr>
          <a:lstStyle/>
          <a:p>
            <a:r>
              <a:rPr sz="1050" b="0">
                <a:solidFill>
                  <a:srgbClr val="1F1F1F"/>
                </a:solidFill>
                <a:latin typeface="Calibri"/>
              </a:rPr>
              <a:t>Slotted (Interlocking Grid) Partitions for Personal Care &amp;</a:t>
            </a:r>
          </a:p>
        </p:txBody>
      </p:sp>
      <p:sp>
        <p:nvSpPr>
          <p:cNvPr id="55" name="TextBox 54"/>
          <p:cNvSpPr txBox="1"/>
          <p:nvPr/>
        </p:nvSpPr>
        <p:spPr>
          <a:xfrm>
            <a:off x="4732401" y="5690996"/>
            <a:ext cx="3143249" cy="179069"/>
          </a:xfrm>
          <a:prstGeom prst="rect">
            <a:avLst/>
          </a:prstGeom>
          <a:noFill/>
        </p:spPr>
        <p:txBody>
          <a:bodyPr wrap="none" lIns="0" tIns="0" rIns="0" bIns="0">
            <a:spAutoFit/>
          </a:bodyPr>
          <a:lstStyle/>
          <a:p>
            <a:r>
              <a:rPr sz="1050" b="0">
                <a:solidFill>
                  <a:srgbClr val="1F1F1F"/>
                </a:solidFill>
                <a:latin typeface="Calibri"/>
              </a:rPr>
              <a:t>Cosmetics is the lowest priced combination at an index of</a:t>
            </a:r>
          </a:p>
        </p:txBody>
      </p:sp>
      <p:pic>
        <p:nvPicPr>
          <p:cNvPr id="56" name="Picture 55" descr="lock.png"/>
          <p:cNvPicPr>
            <a:picLocks noChangeAspect="1"/>
          </p:cNvPicPr>
          <p:nvPr/>
        </p:nvPicPr>
        <p:blipFill>
          <a:blip r:embed="rId5"/>
          <a:stretch>
            <a:fillRect/>
          </a:stretch>
        </p:blipFill>
        <p:spPr>
          <a:xfrm>
            <a:off x="4719545" y="5841682"/>
            <a:ext cx="122849" cy="178689"/>
          </a:xfrm>
          <a:prstGeom prst="rect">
            <a:avLst/>
          </a:prstGeom>
        </p:spPr>
      </p:pic>
      <p:sp>
        <p:nvSpPr>
          <p:cNvPr id="57" name="TextBox 56"/>
          <p:cNvSpPr txBox="1"/>
          <p:nvPr/>
        </p:nvSpPr>
        <p:spPr>
          <a:xfrm>
            <a:off x="4879428" y="5851016"/>
            <a:ext cx="475729" cy="179069"/>
          </a:xfrm>
          <a:prstGeom prst="rect">
            <a:avLst/>
          </a:prstGeom>
          <a:noFill/>
        </p:spPr>
        <p:txBody>
          <a:bodyPr wrap="none" lIns="0" tIns="0" rIns="0" bIns="0">
            <a:spAutoFit/>
          </a:bodyPr>
          <a:lstStyle/>
          <a:p>
            <a:r>
              <a:rPr sz="1050" b="0">
                <a:solidFill>
                  <a:srgbClr val="1F1F1F"/>
                </a:solidFill>
                <a:latin typeface="Calibri"/>
              </a:rPr>
              <a:t>, sitting</a:t>
            </a:r>
          </a:p>
        </p:txBody>
      </p:sp>
      <p:pic>
        <p:nvPicPr>
          <p:cNvPr id="58" name="Picture 57" descr="lock.png"/>
          <p:cNvPicPr>
            <a:picLocks noChangeAspect="1"/>
          </p:cNvPicPr>
          <p:nvPr/>
        </p:nvPicPr>
        <p:blipFill>
          <a:blip r:embed="rId5"/>
          <a:stretch>
            <a:fillRect/>
          </a:stretch>
        </p:blipFill>
        <p:spPr>
          <a:xfrm>
            <a:off x="5302106" y="5841682"/>
            <a:ext cx="122849" cy="178689"/>
          </a:xfrm>
          <a:prstGeom prst="rect">
            <a:avLst/>
          </a:prstGeom>
        </p:spPr>
      </p:pic>
      <p:sp>
        <p:nvSpPr>
          <p:cNvPr id="59" name="TextBox 58"/>
          <p:cNvSpPr txBox="1"/>
          <p:nvPr/>
        </p:nvSpPr>
        <p:spPr>
          <a:xfrm>
            <a:off x="5461988" y="5851016"/>
            <a:ext cx="1846733" cy="179069"/>
          </a:xfrm>
          <a:prstGeom prst="rect">
            <a:avLst/>
          </a:prstGeom>
          <a:noFill/>
        </p:spPr>
        <p:txBody>
          <a:bodyPr wrap="none" lIns="0" tIns="0" rIns="0" bIns="0">
            <a:spAutoFit/>
          </a:bodyPr>
          <a:lstStyle/>
          <a:p>
            <a:r>
              <a:rPr sz="1050" b="0">
                <a:solidFill>
                  <a:srgbClr val="1F1F1F"/>
                </a:solidFill>
                <a:latin typeface="Calibri"/>
              </a:rPr>
              <a:t>below the Global average of US$</a:t>
            </a:r>
          </a:p>
        </p:txBody>
      </p:sp>
      <p:pic>
        <p:nvPicPr>
          <p:cNvPr id="60" name="Picture 59" descr="lock.png"/>
          <p:cNvPicPr>
            <a:picLocks noChangeAspect="1"/>
          </p:cNvPicPr>
          <p:nvPr/>
        </p:nvPicPr>
        <p:blipFill>
          <a:blip r:embed="rId5"/>
          <a:stretch>
            <a:fillRect/>
          </a:stretch>
        </p:blipFill>
        <p:spPr>
          <a:xfrm>
            <a:off x="4719545" y="6001702"/>
            <a:ext cx="122849" cy="178689"/>
          </a:xfrm>
          <a:prstGeom prst="rect">
            <a:avLst/>
          </a:prstGeom>
        </p:spPr>
      </p:pic>
      <p:sp>
        <p:nvSpPr>
          <p:cNvPr id="61" name="TextBox 60"/>
          <p:cNvSpPr txBox="1"/>
          <p:nvPr/>
        </p:nvSpPr>
        <p:spPr>
          <a:xfrm>
            <a:off x="4879428" y="6011036"/>
            <a:ext cx="340555" cy="179069"/>
          </a:xfrm>
          <a:prstGeom prst="rect">
            <a:avLst/>
          </a:prstGeom>
          <a:noFill/>
        </p:spPr>
        <p:txBody>
          <a:bodyPr wrap="none" lIns="0" tIns="0" rIns="0" bIns="0">
            <a:spAutoFit/>
          </a:bodyPr>
          <a:lstStyle/>
          <a:p>
            <a:r>
              <a:rPr sz="1050" b="0">
                <a:solidFill>
                  <a:srgbClr val="1F1F1F"/>
                </a:solidFill>
                <a:latin typeface="Calibri"/>
              </a:rPr>
              <a:t>/MT.</a:t>
            </a:r>
          </a:p>
        </p:txBody>
      </p:sp>
      <p:sp>
        <p:nvSpPr>
          <p:cNvPr id="62" name="TextBox 61"/>
          <p:cNvSpPr txBox="1"/>
          <p:nvPr/>
        </p:nvSpPr>
        <p:spPr>
          <a:xfrm>
            <a:off x="8658225" y="5530976"/>
            <a:ext cx="3143250" cy="179069"/>
          </a:xfrm>
          <a:prstGeom prst="rect">
            <a:avLst/>
          </a:prstGeom>
          <a:noFill/>
        </p:spPr>
        <p:txBody>
          <a:bodyPr wrap="none" lIns="0" tIns="0" rIns="0" bIns="0">
            <a:spAutoFit/>
          </a:bodyPr>
          <a:lstStyle/>
          <a:p>
            <a:r>
              <a:rPr sz="1050" b="0">
                <a:solidFill>
                  <a:srgbClr val="1F1F1F"/>
                </a:solidFill>
                <a:latin typeface="Calibri"/>
              </a:rPr>
              <a:t>Die-Cut &amp; Folded Partitions (H-dividers, tube/cell inserts)</a:t>
            </a:r>
          </a:p>
        </p:txBody>
      </p:sp>
      <p:sp>
        <p:nvSpPr>
          <p:cNvPr id="63" name="TextBox 62"/>
          <p:cNvSpPr txBox="1"/>
          <p:nvPr/>
        </p:nvSpPr>
        <p:spPr>
          <a:xfrm>
            <a:off x="8658225" y="5690996"/>
            <a:ext cx="2257201" cy="179069"/>
          </a:xfrm>
          <a:prstGeom prst="rect">
            <a:avLst/>
          </a:prstGeom>
          <a:noFill/>
        </p:spPr>
        <p:txBody>
          <a:bodyPr wrap="none" lIns="0" tIns="0" rIns="0" bIns="0">
            <a:spAutoFit/>
          </a:bodyPr>
          <a:lstStyle/>
          <a:p>
            <a:r>
              <a:rPr sz="1050" b="0">
                <a:solidFill>
                  <a:srgbClr val="1F1F1F"/>
                </a:solidFill>
                <a:latin typeface="Calibri"/>
              </a:rPr>
              <a:t>show the widest internal price spread at</a:t>
            </a:r>
          </a:p>
        </p:txBody>
      </p:sp>
      <p:pic>
        <p:nvPicPr>
          <p:cNvPr id="64" name="Picture 63" descr="lock.png"/>
          <p:cNvPicPr>
            <a:picLocks noChangeAspect="1"/>
          </p:cNvPicPr>
          <p:nvPr/>
        </p:nvPicPr>
        <p:blipFill>
          <a:blip r:embed="rId5"/>
          <a:stretch>
            <a:fillRect/>
          </a:stretch>
        </p:blipFill>
        <p:spPr>
          <a:xfrm>
            <a:off x="10862376" y="5681662"/>
            <a:ext cx="122849" cy="178689"/>
          </a:xfrm>
          <a:prstGeom prst="rect">
            <a:avLst/>
          </a:prstGeom>
        </p:spPr>
      </p:pic>
      <p:sp>
        <p:nvSpPr>
          <p:cNvPr id="65" name="TextBox 64"/>
          <p:cNvSpPr txBox="1"/>
          <p:nvPr/>
        </p:nvSpPr>
        <p:spPr>
          <a:xfrm>
            <a:off x="11022258" y="5690996"/>
            <a:ext cx="546571" cy="179069"/>
          </a:xfrm>
          <a:prstGeom prst="rect">
            <a:avLst/>
          </a:prstGeom>
          <a:noFill/>
        </p:spPr>
        <p:txBody>
          <a:bodyPr wrap="none" lIns="0" tIns="0" rIns="0" bIns="0">
            <a:spAutoFit/>
          </a:bodyPr>
          <a:lstStyle/>
          <a:p>
            <a:r>
              <a:rPr sz="1050" b="0">
                <a:solidFill>
                  <a:srgbClr val="1F1F1F"/>
                </a:solidFill>
                <a:latin typeface="Calibri"/>
              </a:rPr>
              <a:t>, ranging</a:t>
            </a:r>
          </a:p>
        </p:txBody>
      </p:sp>
      <p:sp>
        <p:nvSpPr>
          <p:cNvPr id="66" name="TextBox 65"/>
          <p:cNvSpPr txBox="1"/>
          <p:nvPr/>
        </p:nvSpPr>
        <p:spPr>
          <a:xfrm>
            <a:off x="8658225" y="5851016"/>
            <a:ext cx="585117" cy="179069"/>
          </a:xfrm>
          <a:prstGeom prst="rect">
            <a:avLst/>
          </a:prstGeom>
          <a:noFill/>
        </p:spPr>
        <p:txBody>
          <a:bodyPr wrap="none" lIns="0" tIns="0" rIns="0" bIns="0">
            <a:spAutoFit/>
          </a:bodyPr>
          <a:lstStyle/>
          <a:p>
            <a:r>
              <a:rPr sz="1050" b="0">
                <a:solidFill>
                  <a:srgbClr val="1F1F1F"/>
                </a:solidFill>
                <a:latin typeface="Calibri"/>
              </a:rPr>
              <a:t>from US$</a:t>
            </a:r>
          </a:p>
        </p:txBody>
      </p:sp>
      <p:pic>
        <p:nvPicPr>
          <p:cNvPr id="67" name="Picture 66" descr="lock.png"/>
          <p:cNvPicPr>
            <a:picLocks noChangeAspect="1"/>
          </p:cNvPicPr>
          <p:nvPr/>
        </p:nvPicPr>
        <p:blipFill>
          <a:blip r:embed="rId5"/>
          <a:stretch>
            <a:fillRect/>
          </a:stretch>
        </p:blipFill>
        <p:spPr>
          <a:xfrm>
            <a:off x="9190292" y="5841682"/>
            <a:ext cx="122849" cy="178689"/>
          </a:xfrm>
          <a:prstGeom prst="rect">
            <a:avLst/>
          </a:prstGeom>
        </p:spPr>
      </p:pic>
      <p:sp>
        <p:nvSpPr>
          <p:cNvPr id="68" name="TextBox 67"/>
          <p:cNvSpPr txBox="1"/>
          <p:nvPr/>
        </p:nvSpPr>
        <p:spPr>
          <a:xfrm>
            <a:off x="9350174" y="5851016"/>
            <a:ext cx="697110" cy="179069"/>
          </a:xfrm>
          <a:prstGeom prst="rect">
            <a:avLst/>
          </a:prstGeom>
          <a:noFill/>
        </p:spPr>
        <p:txBody>
          <a:bodyPr wrap="none" lIns="0" tIns="0" rIns="0" bIns="0">
            <a:spAutoFit/>
          </a:bodyPr>
          <a:lstStyle/>
          <a:p>
            <a:r>
              <a:rPr sz="1050" b="0">
                <a:solidFill>
                  <a:srgbClr val="1F1F1F"/>
                </a:solidFill>
                <a:latin typeface="Calibri"/>
              </a:rPr>
              <a:t>/MT to US$</a:t>
            </a:r>
          </a:p>
        </p:txBody>
      </p:sp>
      <p:pic>
        <p:nvPicPr>
          <p:cNvPr id="69" name="Picture 68" descr="lock.png"/>
          <p:cNvPicPr>
            <a:picLocks noChangeAspect="1"/>
          </p:cNvPicPr>
          <p:nvPr/>
        </p:nvPicPr>
        <p:blipFill>
          <a:blip r:embed="rId5"/>
          <a:stretch>
            <a:fillRect/>
          </a:stretch>
        </p:blipFill>
        <p:spPr>
          <a:xfrm>
            <a:off x="9994234" y="5841682"/>
            <a:ext cx="122849" cy="178689"/>
          </a:xfrm>
          <a:prstGeom prst="rect">
            <a:avLst/>
          </a:prstGeom>
        </p:spPr>
      </p:pic>
      <p:sp>
        <p:nvSpPr>
          <p:cNvPr id="70" name="TextBox 69"/>
          <p:cNvSpPr txBox="1"/>
          <p:nvPr/>
        </p:nvSpPr>
        <p:spPr>
          <a:xfrm>
            <a:off x="10154116" y="5851016"/>
            <a:ext cx="1269317" cy="179069"/>
          </a:xfrm>
          <a:prstGeom prst="rect">
            <a:avLst/>
          </a:prstGeom>
          <a:noFill/>
        </p:spPr>
        <p:txBody>
          <a:bodyPr wrap="none" lIns="0" tIns="0" rIns="0" bIns="0">
            <a:spAutoFit/>
          </a:bodyPr>
          <a:lstStyle/>
          <a:p>
            <a:r>
              <a:rPr sz="1050" b="0">
                <a:solidFill>
                  <a:srgbClr val="1F1F1F"/>
                </a:solidFill>
                <a:latin typeface="Calibri"/>
              </a:rPr>
              <a:t>/MT across sub-types.</a:t>
            </a:r>
          </a:p>
        </p:txBody>
      </p:sp>
      <p:sp>
        <p:nvSpPr>
          <p:cNvPr id="71" name="TextBox 70"/>
          <p:cNvSpPr txBox="1"/>
          <p:nvPr/>
        </p:nvSpPr>
        <p:spPr>
          <a:xfrm>
            <a:off x="301752" y="6391275"/>
            <a:ext cx="5770697" cy="143408"/>
          </a:xfrm>
          <a:prstGeom prst="rect">
            <a:avLst/>
          </a:prstGeom>
          <a:noFill/>
        </p:spPr>
        <p:txBody>
          <a:bodyPr wrap="none" lIns="0" tIns="0" rIns="0" bIns="0">
            <a:spAutoFit/>
          </a:bodyPr>
          <a:lstStyle/>
          <a:p>
            <a:r>
              <a:rPr sz="816" b="0">
                <a:solidFill>
                  <a:srgbClr val="59636E"/>
                </a:solidFill>
                <a:latin typeface="Calibri"/>
              </a:rPr>
              <a:t>Source: FMI analysis. Cell price = combined value (US$) / combined volume (MT); shading shows the index vs the Global average of US$</a:t>
            </a:r>
          </a:p>
        </p:txBody>
      </p:sp>
      <p:pic>
        <p:nvPicPr>
          <p:cNvPr id="72" name="Picture 71" descr="lock.png"/>
          <p:cNvPicPr>
            <a:picLocks noChangeAspect="1"/>
          </p:cNvPicPr>
          <p:nvPr/>
        </p:nvPicPr>
        <p:blipFill>
          <a:blip r:embed="rId5"/>
          <a:stretch>
            <a:fillRect/>
          </a:stretch>
        </p:blipFill>
        <p:spPr>
          <a:xfrm>
            <a:off x="6014239" y="6384020"/>
            <a:ext cx="95470" cy="138866"/>
          </a:xfrm>
          <a:prstGeom prst="rect">
            <a:avLst/>
          </a:prstGeom>
        </p:spPr>
      </p:pic>
      <p:sp>
        <p:nvSpPr>
          <p:cNvPr id="73" name="TextBox 72"/>
          <p:cNvSpPr txBox="1"/>
          <p:nvPr/>
        </p:nvSpPr>
        <p:spPr>
          <a:xfrm>
            <a:off x="6138491" y="6391275"/>
            <a:ext cx="281642" cy="143408"/>
          </a:xfrm>
          <a:prstGeom prst="rect">
            <a:avLst/>
          </a:prstGeom>
          <a:noFill/>
        </p:spPr>
        <p:txBody>
          <a:bodyPr wrap="none" lIns="0" tIns="0" rIns="0" bIns="0">
            <a:spAutoFit/>
          </a:bodyPr>
          <a:lstStyle/>
          <a:p>
            <a:r>
              <a:rPr sz="816" b="0">
                <a:solidFill>
                  <a:srgbClr val="59636E"/>
                </a:solidFill>
                <a:latin typeface="Calibri"/>
              </a:rPr>
              <a:t>/MT.</a:t>
            </a:r>
          </a:p>
        </p:txBody>
      </p:sp>
      <p:pic>
        <p:nvPicPr>
          <p:cNvPr id="74" name="Picture 73" descr="lock.png"/>
          <p:cNvPicPr>
            <a:picLocks noChangeAspect="1"/>
          </p:cNvPicPr>
          <p:nvPr/>
        </p:nvPicPr>
        <p:blipFill>
          <a:blip r:embed="rId5"/>
          <a:stretch>
            <a:fillRect/>
          </a:stretch>
        </p:blipFill>
        <p:spPr>
          <a:xfrm>
            <a:off x="9913437" y="3234020"/>
            <a:ext cx="332271" cy="483303"/>
          </a:xfrm>
          <a:prstGeom prst="rect">
            <a:avLst/>
          </a:prstGeom>
        </p:spPr>
      </p:pic>
      <p:sp>
        <p:nvSpPr>
          <p:cNvPr id="75" name="lockshield_27"/>
          <p:cNvSpPr/>
          <p:nvPr/>
        </p:nvSpPr>
        <p:spPr>
          <a:xfrm>
            <a:off x="8001000" y="2032635"/>
            <a:ext cx="3867912" cy="2971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Region average price and price range across partition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wrap="square" lIns="137160" rtlCol="0" anchor="ctr"/>
          <a:lstStyle/>
          <a:p>
            <a:pPr algn="l"/>
            <a:endParaRP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endParaRPr/>
          </a:p>
        </p:txBody>
      </p:sp>
      <p:sp>
        <p:nvSpPr>
          <p:cNvPr id="12" name="TextBox 11"/>
          <p:cNvSpPr txBox="1"/>
          <p:nvPr/>
        </p:nvSpPr>
        <p:spPr>
          <a:xfrm>
            <a:off x="384048" y="1575435"/>
            <a:ext cx="7315200" cy="257175"/>
          </a:xfrm>
          <a:prstGeom prst="rect">
            <a:avLst/>
          </a:prstGeom>
          <a:noFill/>
        </p:spPr>
        <p:txBody>
          <a:bodyPr wrap="square" lIns="27432" tIns="27432" rIns="27432" bIns="27432" anchor="t">
            <a:spAutoFit/>
          </a:bodyPr>
          <a:lstStyle/>
          <a:p>
            <a:pPr algn="l"/>
            <a:r>
              <a:rPr sz="1150" b="1" i="0">
                <a:solidFill>
                  <a:srgbClr val="0B2E4A"/>
                </a:solidFill>
                <a:latin typeface="Calibri"/>
              </a:rPr>
              <a:t>2026 Price Range Across Partition Types by Region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384048" y="1804035"/>
            <a:ext cx="7223760" cy="219075"/>
          </a:xfrm>
          <a:prstGeom prst="rect">
            <a:avLst/>
          </a:prstGeom>
          <a:noFill/>
        </p:spPr>
        <p:txBody>
          <a:bodyPr wrap="square" lIns="27432" tIns="27432" rIns="27432" bIns="27432" anchor="t">
            <a:spAutoFit/>
          </a:bodyPr>
          <a:lstStyle/>
          <a:p>
            <a:pPr algn="l"/>
            <a:endParaRP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endParaRPr/>
          </a:p>
        </p:txBody>
      </p:sp>
      <p:sp>
        <p:nvSpPr>
          <p:cNvPr id="16" name="TextBox 15"/>
          <p:cNvSpPr txBox="1"/>
          <p:nvPr/>
        </p:nvSpPr>
        <p:spPr>
          <a:xfrm>
            <a:off x="8065008" y="1575435"/>
            <a:ext cx="3749040" cy="257175"/>
          </a:xfrm>
          <a:prstGeom prst="rect">
            <a:avLst/>
          </a:prstGeom>
          <a:noFill/>
        </p:spPr>
        <p:txBody>
          <a:bodyPr wrap="square" lIns="27432" tIns="27432" rIns="27432" bIns="27432" anchor="t">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extLst>
                    <a:ext uri="{9D8B030D-6E8A-4147-A177-3AD203B41FA5}">
                      <a16:colId xmlns:a16="http://schemas.microsoft.com/office/drawing/2014/main" val="20000"/>
                    </a:ext>
                  </a:extLst>
                </a:gridCol>
                <a:gridCol w="786384">
                  <a:extLst>
                    <a:ext uri="{9D8B030D-6E8A-4147-A177-3AD203B41FA5}">
                      <a16:colId xmlns:a16="http://schemas.microsoft.com/office/drawing/2014/main" val="20001"/>
                    </a:ext>
                  </a:extLst>
                </a:gridCol>
                <a:gridCol w="658368">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tblGrid>
              <a:tr h="441525">
                <a:tc>
                  <a:txBody>
                    <a:bodyPr/>
                    <a:lstStyle/>
                    <a:p>
                      <a:pPr algn="l"/>
                      <a:r>
                        <a:rPr sz="900" b="1">
                          <a:solidFill>
                            <a:srgbClr val="FFFFFF"/>
                          </a:solidFill>
                          <a:latin typeface="Calibri"/>
                        </a:rPr>
                        <a:t>Region</a:t>
                      </a:r>
                    </a:p>
                  </a:txBody>
                  <a:tcPr marL="36576" marR="36576" marT="9144" marB="9144" anchor="ctr">
                    <a:solidFill>
                      <a:srgbClr val="0B2E4A"/>
                    </a:solidFill>
                  </a:tcPr>
                </a:tc>
                <a:tc>
                  <a:txBody>
                    <a:bodyPr/>
                    <a:lstStyle/>
                    <a:p>
                      <a:pPr algn="ctr"/>
                      <a:r>
                        <a:rPr sz="900" b="1">
                          <a:solidFill>
                            <a:srgbClr val="FFFFFF"/>
                          </a:solidFill>
                          <a:latin typeface="Calibri"/>
                        </a:rPr>
                        <a:t>Avg. 2026</a:t>
                      </a:r>
                    </a:p>
                  </a:txBody>
                  <a:tcPr marL="36576" marR="36576" marT="9144" marB="9144" anchor="ctr">
                    <a:solidFill>
                      <a:srgbClr val="0B2E4A"/>
                    </a:solidFill>
                  </a:tcPr>
                </a:tc>
                <a:tc>
                  <a:txBody>
                    <a:bodyPr/>
                    <a:lstStyle/>
                    <a:p>
                      <a:pPr algn="ctr"/>
                      <a:r>
                        <a:rPr sz="900" b="1">
                          <a:solidFill>
                            <a:srgbClr val="FFFFFF"/>
                          </a:solidFill>
                          <a:latin typeface="Calibri"/>
                        </a:rPr>
                        <a:t>Index</a:t>
                      </a:r>
                    </a:p>
                  </a:txBody>
                  <a:tcPr marL="36576" marR="36576" marT="9144" marB="9144" anchor="ctr">
                    <a:solidFill>
                      <a:srgbClr val="0B2E4A"/>
                    </a:solidFill>
                  </a:tcPr>
                </a:tc>
                <a:tc>
                  <a:txBody>
                    <a:bodyPr/>
                    <a:lstStyle/>
                    <a:p>
                      <a:pPr algn="ctr"/>
                      <a:r>
                        <a:rPr sz="900" b="1">
                          <a:solidFill>
                            <a:srgbClr val="FFFFFF"/>
                          </a:solidFill>
                          <a:latin typeface="Calibri"/>
                        </a:rPr>
                        <a:t>CAGR 2026 to 2036</a:t>
                      </a:r>
                    </a:p>
                  </a:txBody>
                  <a:tcPr marL="36576" marR="36576" marT="9144" marB="9144" anchor="ctr">
                    <a:solidFill>
                      <a:srgbClr val="0B2E4A"/>
                    </a:solidFill>
                  </a:tcPr>
                </a:tc>
                <a:extLst>
                  <a:ext uri="{0D108BD9-81ED-4DB2-BD59-A6C34878D82A}">
                    <a16:rowId xmlns:a16="http://schemas.microsoft.com/office/drawing/2014/main" val="10000"/>
                  </a:ext>
                </a:extLst>
              </a:tr>
              <a:tr h="441525">
                <a:tc>
                  <a:txBody>
                    <a:bodyPr/>
                    <a:lstStyle/>
                    <a:p>
                      <a:pPr algn="l"/>
                      <a:r>
                        <a:rPr sz="900" b="1">
                          <a:solidFill>
                            <a:srgbClr val="1F1F1F"/>
                          </a:solidFill>
                          <a:latin typeface="Calibri"/>
                        </a:rPr>
                        <a:t>Europe</a:t>
                      </a:r>
                    </a:p>
                  </a:txBody>
                  <a:tcPr marL="36576" marR="36576" marT="9144" marB="9144" anchor="ctr">
                    <a:solidFill>
                      <a:srgbClr val="FFFFFF"/>
                    </a:solidFill>
                  </a:tcPr>
                </a:tc>
                <a:tc>
                  <a:txBody>
                    <a:bodyPr/>
                    <a:lstStyle/>
                    <a:p>
                      <a:pPr algn="ctr"/>
                      <a:r>
                        <a:rPr sz="900"/>
                        <a:t> </a:t>
                      </a:r>
                    </a:p>
                  </a:txBody>
                  <a:tcPr marL="36576" marR="36576" marT="9144" marB="9144" anchor="ctr">
                    <a:solidFill>
                      <a:srgbClr val="FFFFFF"/>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FFFFFF"/>
                    </a:solidFill>
                  </a:tcPr>
                </a:tc>
                <a:extLst>
                  <a:ext uri="{0D108BD9-81ED-4DB2-BD59-A6C34878D82A}">
                    <a16:rowId xmlns:a16="http://schemas.microsoft.com/office/drawing/2014/main" val="10001"/>
                  </a:ext>
                </a:extLst>
              </a:tr>
              <a:tr h="441525">
                <a:tc>
                  <a:txBody>
                    <a:bodyPr/>
                    <a:lstStyle/>
                    <a:p>
                      <a:pPr algn="l"/>
                      <a:r>
                        <a:rPr sz="900" b="1">
                          <a:solidFill>
                            <a:srgbClr val="1F1F1F"/>
                          </a:solidFill>
                          <a:latin typeface="Calibri"/>
                        </a:rPr>
                        <a:t>Middle East &amp; Africa</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4B183"/>
                    </a:solidFill>
                  </a:tcPr>
                </a:tc>
                <a:tc>
                  <a:txBody>
                    <a:bodyPr/>
                    <a:lstStyle/>
                    <a:p>
                      <a:pPr algn="ctr"/>
                      <a:r>
                        <a:rPr sz="900"/>
                        <a:t> </a:t>
                      </a:r>
                    </a:p>
                  </a:txBody>
                  <a:tcPr marL="36576" marR="36576" marT="9144" marB="9144" anchor="ctr">
                    <a:solidFill>
                      <a:srgbClr val="F3F6F9"/>
                    </a:solidFill>
                  </a:tcPr>
                </a:tc>
                <a:extLst>
                  <a:ext uri="{0D108BD9-81ED-4DB2-BD59-A6C34878D82A}">
                    <a16:rowId xmlns:a16="http://schemas.microsoft.com/office/drawing/2014/main" val="10002"/>
                  </a:ext>
                </a:extLst>
              </a:tr>
              <a:tr h="441525">
                <a:tc>
                  <a:txBody>
                    <a:bodyPr/>
                    <a:lstStyle/>
                    <a:p>
                      <a:pPr algn="l"/>
                      <a:r>
                        <a:rPr sz="900" b="1">
                          <a:solidFill>
                            <a:srgbClr val="1F1F1F"/>
                          </a:solidFill>
                          <a:latin typeface="Calibri"/>
                        </a:rPr>
                        <a:t>South Asia &amp; Pacific</a:t>
                      </a:r>
                    </a:p>
                  </a:txBody>
                  <a:tcPr marL="36576" marR="36576" marT="9144" marB="9144" anchor="ctr">
                    <a:solidFill>
                      <a:srgbClr val="FFFFFF"/>
                    </a:solidFill>
                  </a:tcPr>
                </a:tc>
                <a:tc>
                  <a:txBody>
                    <a:bodyPr/>
                    <a:lstStyle/>
                    <a:p>
                      <a:pPr algn="ctr"/>
                      <a:r>
                        <a:rPr sz="900"/>
                        <a:t> </a:t>
                      </a:r>
                    </a:p>
                  </a:txBody>
                  <a:tcPr marL="36576" marR="36576" marT="9144" marB="9144" anchor="ctr">
                    <a:solidFill>
                      <a:srgbClr val="FFFFFF"/>
                    </a:solidFill>
                  </a:tcPr>
                </a:tc>
                <a:tc>
                  <a:txBody>
                    <a:bodyPr/>
                    <a:lstStyle/>
                    <a:p>
                      <a:pPr algn="ctr"/>
                      <a:r>
                        <a:rPr sz="900"/>
                        <a:t> </a:t>
                      </a:r>
                    </a:p>
                  </a:txBody>
                  <a:tcPr marL="36576" marR="36576" marT="9144" marB="9144" anchor="ctr">
                    <a:solidFill>
                      <a:srgbClr val="FBE3D3"/>
                    </a:solidFill>
                  </a:tcPr>
                </a:tc>
                <a:tc>
                  <a:txBody>
                    <a:bodyPr/>
                    <a:lstStyle/>
                    <a:p>
                      <a:pPr algn="ctr"/>
                      <a:r>
                        <a:rPr sz="900"/>
                        <a:t> </a:t>
                      </a:r>
                    </a:p>
                  </a:txBody>
                  <a:tcPr marL="36576" marR="36576" marT="9144" marB="9144" anchor="ctr">
                    <a:solidFill>
                      <a:srgbClr val="FFFFFF"/>
                    </a:solidFill>
                  </a:tcPr>
                </a:tc>
                <a:extLst>
                  <a:ext uri="{0D108BD9-81ED-4DB2-BD59-A6C34878D82A}">
                    <a16:rowId xmlns:a16="http://schemas.microsoft.com/office/drawing/2014/main" val="10003"/>
                  </a:ext>
                </a:extLst>
              </a:tr>
              <a:tr h="441525">
                <a:tc>
                  <a:txBody>
                    <a:bodyPr/>
                    <a:lstStyle/>
                    <a:p>
                      <a:pPr algn="l"/>
                      <a:r>
                        <a:rPr sz="900" b="1">
                          <a:solidFill>
                            <a:srgbClr val="1F1F1F"/>
                          </a:solidFill>
                          <a:latin typeface="Calibri"/>
                        </a:rPr>
                        <a:t>Latin America</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7F7F7"/>
                    </a:solidFill>
                  </a:tcPr>
                </a:tc>
                <a:tc>
                  <a:txBody>
                    <a:bodyPr/>
                    <a:lstStyle/>
                    <a:p>
                      <a:pPr algn="ctr"/>
                      <a:r>
                        <a:rPr sz="900"/>
                        <a:t> </a:t>
                      </a:r>
                    </a:p>
                  </a:txBody>
                  <a:tcPr marL="36576" marR="36576" marT="9144" marB="9144" anchor="ctr">
                    <a:solidFill>
                      <a:srgbClr val="F3F6F9"/>
                    </a:solidFill>
                  </a:tcPr>
                </a:tc>
                <a:extLst>
                  <a:ext uri="{0D108BD9-81ED-4DB2-BD59-A6C34878D82A}">
                    <a16:rowId xmlns:a16="http://schemas.microsoft.com/office/drawing/2014/main" val="10004"/>
                  </a:ext>
                </a:extLst>
              </a:tr>
              <a:tr h="441525">
                <a:tc>
                  <a:txBody>
                    <a:bodyPr/>
                    <a:lstStyle/>
                    <a:p>
                      <a:pPr algn="l"/>
                      <a:r>
                        <a:rPr sz="900" b="1">
                          <a:solidFill>
                            <a:srgbClr val="1F1F1F"/>
                          </a:solidFill>
                          <a:latin typeface="Calibri"/>
                        </a:rPr>
                        <a:t>East Asia</a:t>
                      </a:r>
                    </a:p>
                  </a:txBody>
                  <a:tcPr marL="36576" marR="36576" marT="9144" marB="9144" anchor="ctr">
                    <a:solidFill>
                      <a:srgbClr val="FFFFFF"/>
                    </a:solidFill>
                  </a:tcPr>
                </a:tc>
                <a:tc>
                  <a:txBody>
                    <a:bodyPr/>
                    <a:lstStyle/>
                    <a:p>
                      <a:pPr algn="ctr"/>
                      <a:r>
                        <a:rPr sz="900"/>
                        <a:t> </a:t>
                      </a:r>
                    </a:p>
                  </a:txBody>
                  <a:tcPr marL="36576" marR="36576" marT="9144" marB="9144" anchor="ctr">
                    <a:solidFill>
                      <a:srgbClr val="FFFFFF"/>
                    </a:solidFill>
                  </a:tcPr>
                </a:tc>
                <a:tc>
                  <a:txBody>
                    <a:bodyPr/>
                    <a:lstStyle/>
                    <a:p>
                      <a:pPr algn="ctr"/>
                      <a:r>
                        <a:rPr sz="900"/>
                        <a:t> </a:t>
                      </a:r>
                    </a:p>
                  </a:txBody>
                  <a:tcPr marL="36576" marR="36576" marT="9144" marB="9144" anchor="ctr">
                    <a:solidFill>
                      <a:srgbClr val="F7F7F7"/>
                    </a:solidFill>
                  </a:tcPr>
                </a:tc>
                <a:tc>
                  <a:txBody>
                    <a:bodyPr/>
                    <a:lstStyle/>
                    <a:p>
                      <a:pPr algn="ctr"/>
                      <a:r>
                        <a:rPr sz="900"/>
                        <a:t> </a:t>
                      </a:r>
                    </a:p>
                  </a:txBody>
                  <a:tcPr marL="36576" marR="36576" marT="9144" marB="9144" anchor="ctr">
                    <a:solidFill>
                      <a:srgbClr val="FFFFFF"/>
                    </a:solidFill>
                  </a:tcPr>
                </a:tc>
                <a:extLst>
                  <a:ext uri="{0D108BD9-81ED-4DB2-BD59-A6C34878D82A}">
                    <a16:rowId xmlns:a16="http://schemas.microsoft.com/office/drawing/2014/main" val="10005"/>
                  </a:ext>
                </a:extLst>
              </a:tr>
              <a:tr h="441525">
                <a:tc>
                  <a:txBody>
                    <a:bodyPr/>
                    <a:lstStyle/>
                    <a:p>
                      <a:pPr algn="l"/>
                      <a:r>
                        <a:rPr sz="900" b="1">
                          <a:solidFill>
                            <a:srgbClr val="1F1F1F"/>
                          </a:solidFill>
                          <a:latin typeface="Calibri"/>
                        </a:rPr>
                        <a:t>North America</a:t>
                      </a:r>
                    </a:p>
                  </a:txBody>
                  <a:tcPr marL="36576" marR="36576" marT="9144" marB="9144" anchor="ctr">
                    <a:solidFill>
                      <a:srgbClr val="F3F6F9"/>
                    </a:solidFill>
                  </a:tcPr>
                </a:tc>
                <a:tc>
                  <a:txBody>
                    <a:bodyPr/>
                    <a:lstStyle/>
                    <a:p>
                      <a:pPr algn="ctr"/>
                      <a:r>
                        <a:rPr sz="900"/>
                        <a:t> </a:t>
                      </a:r>
                    </a:p>
                  </a:txBody>
                  <a:tcPr marL="36576" marR="36576" marT="9144" marB="9144" anchor="ctr">
                    <a:solidFill>
                      <a:srgbClr val="F3F6F9"/>
                    </a:solidFill>
                  </a:tcPr>
                </a:tc>
                <a:tc>
                  <a:txBody>
                    <a:bodyPr/>
                    <a:lstStyle/>
                    <a:p>
                      <a:pPr algn="ctr"/>
                      <a:r>
                        <a:rPr sz="900"/>
                        <a:t> </a:t>
                      </a:r>
                    </a:p>
                  </a:txBody>
                  <a:tcPr marL="36576" marR="36576" marT="9144" marB="9144" anchor="ctr">
                    <a:solidFill>
                      <a:srgbClr val="9DC0E0"/>
                    </a:solidFill>
                  </a:tcPr>
                </a:tc>
                <a:tc>
                  <a:txBody>
                    <a:bodyPr/>
                    <a:lstStyle/>
                    <a:p>
                      <a:pPr algn="ctr"/>
                      <a:r>
                        <a:rPr sz="900"/>
                        <a:t> </a:t>
                      </a:r>
                    </a:p>
                  </a:txBody>
                  <a:tcPr marL="36576" marR="36576" marT="9144" marB="9144" anchor="ctr">
                    <a:solidFill>
                      <a:srgbClr val="F3F6F9"/>
                    </a:solidFill>
                  </a:tcPr>
                </a:tc>
                <a:extLst>
                  <a:ext uri="{0D108BD9-81ED-4DB2-BD59-A6C34878D82A}">
                    <a16:rowId xmlns:a16="http://schemas.microsoft.com/office/drawing/2014/main" val="10006"/>
                  </a:ext>
                </a:extLst>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endParaRPr/>
          </a:p>
        </p:txBody>
      </p:sp>
      <p:sp>
        <p:nvSpPr>
          <p:cNvPr id="19" name="Oval 18"/>
          <p:cNvSpPr/>
          <p:nvPr/>
        </p:nvSpPr>
        <p:spPr>
          <a:xfrm>
            <a:off x="388620" y="5265420"/>
            <a:ext cx="314325" cy="314325"/>
          </a:xfrm>
          <a:prstGeom prst="ellipse">
            <a:avLst/>
          </a:prstGeom>
          <a:solidFill>
            <a:srgbClr val="0B2E4A"/>
          </a:solidFill>
          <a:ln>
            <a:noFill/>
          </a:ln>
          <a:effectLst/>
        </p:spPr>
        <p:txBody>
          <a:bodyPr wrap="none" lIns="0" tIns="0" rIns="0" bIns="0" rtlCol="0" anchor="ctr"/>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lIns="27432" tIns="27432" rIns="27432" bIns="27432" anchor="t">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lIns="27432" tIns="27432" rIns="27432" bIns="27432" anchor="t">
            <a:spAutoFit/>
          </a:bodyPr>
          <a:lstStyle/>
          <a:p>
            <a:pPr algn="l"/>
            <a:endParaRP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endParaRPr/>
          </a:p>
        </p:txBody>
      </p:sp>
      <p:sp>
        <p:nvSpPr>
          <p:cNvPr id="23" name="Oval 22"/>
          <p:cNvSpPr/>
          <p:nvPr/>
        </p:nvSpPr>
        <p:spPr>
          <a:xfrm>
            <a:off x="4314444" y="5265420"/>
            <a:ext cx="314325" cy="314325"/>
          </a:xfrm>
          <a:prstGeom prst="ellipse">
            <a:avLst/>
          </a:prstGeom>
          <a:solidFill>
            <a:srgbClr val="0B2E4A"/>
          </a:solidFill>
          <a:ln>
            <a:noFill/>
          </a:ln>
          <a:effectLst/>
        </p:spPr>
        <p:txBody>
          <a:bodyPr wrap="none" lIns="0" tIns="0" rIns="0" bIns="0" rtlCol="0" anchor="ctr"/>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lIns="27432" tIns="27432" rIns="27432" bIns="27432" anchor="t">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lIns="27432" tIns="27432" rIns="27432" bIns="27432" anchor="t">
            <a:spAutoFit/>
          </a:bodyPr>
          <a:lstStyle/>
          <a:p>
            <a:pPr algn="l"/>
            <a:endParaRP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endParaRPr/>
          </a:p>
        </p:txBody>
      </p:sp>
      <p:sp>
        <p:nvSpPr>
          <p:cNvPr id="27" name="Oval 26"/>
          <p:cNvSpPr/>
          <p:nvPr/>
        </p:nvSpPr>
        <p:spPr>
          <a:xfrm>
            <a:off x="8240268" y="5265420"/>
            <a:ext cx="314325" cy="314325"/>
          </a:xfrm>
          <a:prstGeom prst="ellipse">
            <a:avLst/>
          </a:prstGeom>
          <a:solidFill>
            <a:srgbClr val="0B2E4A"/>
          </a:solidFill>
          <a:ln>
            <a:noFill/>
          </a:ln>
          <a:effectLst/>
        </p:spPr>
        <p:txBody>
          <a:bodyPr wrap="none" lIns="0" tIns="0" rIns="0" bIns="0" rtlCol="0" anchor="ctr"/>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lIns="27432" tIns="27432" rIns="27432" bIns="27432" anchor="t">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lIns="27432" tIns="27432" rIns="27432" bIns="27432" anchor="t">
            <a:spAutoFit/>
          </a:bodyPr>
          <a:lstStyle/>
          <a:p>
            <a:pPr algn="l"/>
            <a:endParaRPr/>
          </a:p>
        </p:txBody>
      </p:sp>
      <p:sp>
        <p:nvSpPr>
          <p:cNvPr id="30" name="TextBox 29"/>
          <p:cNvSpPr txBox="1"/>
          <p:nvPr/>
        </p:nvSpPr>
        <p:spPr>
          <a:xfrm>
            <a:off x="274320" y="6363843"/>
            <a:ext cx="11612880" cy="209550"/>
          </a:xfrm>
          <a:prstGeom prst="rect">
            <a:avLst/>
          </a:prstGeom>
          <a:noFill/>
        </p:spPr>
        <p:txBody>
          <a:bodyPr wrap="square" lIns="27432" tIns="27432" rIns="27432" bIns="27432" anchor="t">
            <a:spAutoFit/>
          </a:bodyPr>
          <a:lstStyle/>
          <a:p>
            <a:pPr algn="l"/>
            <a:r>
              <a:rPr sz="850" b="0" i="0">
                <a:solidFill>
                  <a:srgbClr val="59636E"/>
                </a:solidFill>
                <a:latin typeface="Calibri"/>
              </a:rPr>
              <a:t>Source: FMI analysis. Range = lowest to highest partition type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10462494" y="3375398"/>
            <a:ext cx="355774" cy="517489"/>
          </a:xfrm>
          <a:prstGeom prst="rect">
            <a:avLst/>
          </a:prstGeom>
        </p:spPr>
      </p:pic>
      <p:sp>
        <p:nvSpPr>
          <p:cNvPr id="33" name="TextBox 32"/>
          <p:cNvSpPr txBox="1"/>
          <p:nvPr/>
        </p:nvSpPr>
        <p:spPr>
          <a:xfrm>
            <a:off x="411480" y="1110615"/>
            <a:ext cx="3466876" cy="217169"/>
          </a:xfrm>
          <a:prstGeom prst="rect">
            <a:avLst/>
          </a:prstGeom>
          <a:noFill/>
        </p:spPr>
        <p:txBody>
          <a:bodyPr wrap="none" lIns="0" tIns="0" rIns="0" bIns="0">
            <a:spAutoFit/>
          </a:bodyPr>
          <a:lstStyle/>
          <a:p>
            <a:r>
              <a:rPr sz="1300" b="1">
                <a:solidFill>
                  <a:srgbClr val="FFFFFF"/>
                </a:solidFill>
                <a:latin typeface="Calibri"/>
              </a:rPr>
              <a:t>Europe is the most premium Global region at US$</a:t>
            </a:r>
          </a:p>
        </p:txBody>
      </p:sp>
      <p:pic>
        <p:nvPicPr>
          <p:cNvPr id="34" name="Picture 33" descr="lock.png"/>
          <p:cNvPicPr>
            <a:picLocks noChangeAspect="1"/>
          </p:cNvPicPr>
          <p:nvPr/>
        </p:nvPicPr>
        <p:blipFill>
          <a:blip r:embed="rId5"/>
          <a:stretch>
            <a:fillRect/>
          </a:stretch>
        </p:blipFill>
        <p:spPr>
          <a:xfrm>
            <a:off x="3830817" y="1099058"/>
            <a:ext cx="152098" cy="221234"/>
          </a:xfrm>
          <a:prstGeom prst="rect">
            <a:avLst/>
          </a:prstGeom>
        </p:spPr>
      </p:pic>
      <p:sp>
        <p:nvSpPr>
          <p:cNvPr id="35" name="TextBox 34"/>
          <p:cNvSpPr txBox="1"/>
          <p:nvPr/>
        </p:nvSpPr>
        <p:spPr>
          <a:xfrm>
            <a:off x="4028767" y="1110615"/>
            <a:ext cx="1075183" cy="217169"/>
          </a:xfrm>
          <a:prstGeom prst="rect">
            <a:avLst/>
          </a:prstGeom>
          <a:noFill/>
        </p:spPr>
        <p:txBody>
          <a:bodyPr wrap="none" lIns="0" tIns="0" rIns="0" bIns="0">
            <a:spAutoFit/>
          </a:bodyPr>
          <a:lstStyle/>
          <a:p>
            <a:r>
              <a:rPr sz="1300" b="1">
                <a:solidFill>
                  <a:srgbClr val="FFFFFF"/>
                </a:solidFill>
                <a:latin typeface="Calibri"/>
              </a:rPr>
              <a:t>/MT in 2026, +</a:t>
            </a:r>
          </a:p>
        </p:txBody>
      </p:sp>
      <p:pic>
        <p:nvPicPr>
          <p:cNvPr id="36" name="Picture 35" descr="lock.png"/>
          <p:cNvPicPr>
            <a:picLocks noChangeAspect="1"/>
          </p:cNvPicPr>
          <p:nvPr/>
        </p:nvPicPr>
        <p:blipFill>
          <a:blip r:embed="rId5"/>
          <a:stretch>
            <a:fillRect/>
          </a:stretch>
        </p:blipFill>
        <p:spPr>
          <a:xfrm>
            <a:off x="5056412" y="1099058"/>
            <a:ext cx="152098" cy="221234"/>
          </a:xfrm>
          <a:prstGeom prst="rect">
            <a:avLst/>
          </a:prstGeom>
        </p:spPr>
      </p:pic>
      <p:sp>
        <p:nvSpPr>
          <p:cNvPr id="37" name="TextBox 36"/>
          <p:cNvSpPr txBox="1"/>
          <p:nvPr/>
        </p:nvSpPr>
        <p:spPr>
          <a:xfrm>
            <a:off x="5254361" y="1110615"/>
            <a:ext cx="4718992" cy="217169"/>
          </a:xfrm>
          <a:prstGeom prst="rect">
            <a:avLst/>
          </a:prstGeom>
          <a:noFill/>
        </p:spPr>
        <p:txBody>
          <a:bodyPr wrap="none" lIns="0" tIns="0" rIns="0" bIns="0">
            <a:spAutoFit/>
          </a:bodyPr>
          <a:lstStyle/>
          <a:p>
            <a:r>
              <a:rPr sz="1300" b="1">
                <a:solidFill>
                  <a:srgbClr val="FFFFFF"/>
                </a:solidFill>
                <a:latin typeface="Calibri"/>
              </a:rPr>
              <a:t>above the global average, while North America is the lowest priced.</a:t>
            </a:r>
          </a:p>
        </p:txBody>
      </p:sp>
      <p:sp>
        <p:nvSpPr>
          <p:cNvPr id="38" name="TextBox 37"/>
          <p:cNvSpPr txBox="1"/>
          <p:nvPr/>
        </p:nvSpPr>
        <p:spPr>
          <a:xfrm>
            <a:off x="411480" y="1831467"/>
            <a:ext cx="5010484" cy="148589"/>
          </a:xfrm>
          <a:prstGeom prst="rect">
            <a:avLst/>
          </a:prstGeom>
          <a:noFill/>
        </p:spPr>
        <p:txBody>
          <a:bodyPr wrap="none" lIns="0" tIns="0" rIns="0" bIns="0">
            <a:spAutoFit/>
          </a:bodyPr>
          <a:lstStyle/>
          <a:p>
            <a:r>
              <a:rPr sz="850" b="0">
                <a:solidFill>
                  <a:srgbClr val="59636E"/>
                </a:solidFill>
                <a:latin typeface="Calibri"/>
              </a:rPr>
              <a:t>Bar spans the lowest to highest partition type price in each region, read on the price index axis (Global average =</a:t>
            </a:r>
          </a:p>
        </p:txBody>
      </p:sp>
      <p:pic>
        <p:nvPicPr>
          <p:cNvPr id="39" name="Picture 38" descr="lock.png"/>
          <p:cNvPicPr>
            <a:picLocks noChangeAspect="1"/>
          </p:cNvPicPr>
          <p:nvPr/>
        </p:nvPicPr>
        <p:blipFill>
          <a:blip r:embed="rId5"/>
          <a:stretch>
            <a:fillRect/>
          </a:stretch>
        </p:blipFill>
        <p:spPr>
          <a:xfrm>
            <a:off x="5364504" y="1823910"/>
            <a:ext cx="99449" cy="144653"/>
          </a:xfrm>
          <a:prstGeom prst="rect">
            <a:avLst/>
          </a:prstGeom>
        </p:spPr>
      </p:pic>
      <p:sp>
        <p:nvSpPr>
          <p:cNvPr id="40" name="TextBox 39"/>
          <p:cNvSpPr txBox="1"/>
          <p:nvPr/>
        </p:nvSpPr>
        <p:spPr>
          <a:xfrm>
            <a:off x="5493933" y="1831467"/>
            <a:ext cx="2037010" cy="148589"/>
          </a:xfrm>
          <a:prstGeom prst="rect">
            <a:avLst/>
          </a:prstGeom>
          <a:noFill/>
        </p:spPr>
        <p:txBody>
          <a:bodyPr wrap="none" lIns="0" tIns="0" rIns="0" bIns="0">
            <a:spAutoFit/>
          </a:bodyPr>
          <a:lstStyle/>
          <a:p>
            <a:r>
              <a:rPr sz="850" b="0">
                <a:solidFill>
                  <a:srgbClr val="59636E"/>
                </a:solidFill>
                <a:latin typeface="Calibri"/>
              </a:rPr>
              <a:t>). Teal = above Global average, blue = below.</a:t>
            </a:r>
          </a:p>
        </p:txBody>
      </p:sp>
      <p:sp>
        <p:nvSpPr>
          <p:cNvPr id="41" name="TextBox 40"/>
          <p:cNvSpPr txBox="1"/>
          <p:nvPr/>
        </p:nvSpPr>
        <p:spPr>
          <a:xfrm>
            <a:off x="806576" y="5530976"/>
            <a:ext cx="2778324" cy="179069"/>
          </a:xfrm>
          <a:prstGeom prst="rect">
            <a:avLst/>
          </a:prstGeom>
          <a:noFill/>
        </p:spPr>
        <p:txBody>
          <a:bodyPr wrap="none" lIns="0" tIns="0" rIns="0" bIns="0">
            <a:spAutoFit/>
          </a:bodyPr>
          <a:lstStyle/>
          <a:p>
            <a:r>
              <a:rPr sz="1050" b="0">
                <a:solidFill>
                  <a:srgbClr val="1F1F1F"/>
                </a:solidFill>
                <a:latin typeface="Calibri"/>
              </a:rPr>
              <a:t>Average prices across the ranked regions differ by</a:t>
            </a:r>
          </a:p>
        </p:txBody>
      </p:sp>
      <p:pic>
        <p:nvPicPr>
          <p:cNvPr id="42" name="Picture 41" descr="lock.png"/>
          <p:cNvPicPr>
            <a:picLocks noChangeAspect="1"/>
          </p:cNvPicPr>
          <p:nvPr/>
        </p:nvPicPr>
        <p:blipFill>
          <a:blip r:embed="rId5"/>
          <a:stretch>
            <a:fillRect/>
          </a:stretch>
        </p:blipFill>
        <p:spPr>
          <a:xfrm>
            <a:off x="3531850" y="5521642"/>
            <a:ext cx="122849" cy="178689"/>
          </a:xfrm>
          <a:prstGeom prst="rect">
            <a:avLst/>
          </a:prstGeom>
        </p:spPr>
      </p:pic>
      <p:sp>
        <p:nvSpPr>
          <p:cNvPr id="43" name="TextBox 42"/>
          <p:cNvSpPr txBox="1"/>
          <p:nvPr/>
        </p:nvSpPr>
        <p:spPr>
          <a:xfrm>
            <a:off x="3691732" y="5530976"/>
            <a:ext cx="176993" cy="179069"/>
          </a:xfrm>
          <a:prstGeom prst="rect">
            <a:avLst/>
          </a:prstGeom>
          <a:noFill/>
        </p:spPr>
        <p:txBody>
          <a:bodyPr wrap="none" lIns="0" tIns="0" rIns="0" bIns="0">
            <a:spAutoFit/>
          </a:bodyPr>
          <a:lstStyle/>
          <a:p>
            <a:r>
              <a:rPr sz="1050" b="0">
                <a:solidFill>
                  <a:srgbClr val="1F1F1F"/>
                </a:solidFill>
                <a:latin typeface="Calibri"/>
              </a:rPr>
              <a:t>in</a:t>
            </a:r>
          </a:p>
        </p:txBody>
      </p:sp>
      <p:sp>
        <p:nvSpPr>
          <p:cNvPr id="44" name="TextBox 43"/>
          <p:cNvSpPr txBox="1"/>
          <p:nvPr/>
        </p:nvSpPr>
        <p:spPr>
          <a:xfrm>
            <a:off x="806576" y="5690996"/>
            <a:ext cx="919534" cy="179069"/>
          </a:xfrm>
          <a:prstGeom prst="rect">
            <a:avLst/>
          </a:prstGeom>
          <a:noFill/>
        </p:spPr>
        <p:txBody>
          <a:bodyPr wrap="none" lIns="0" tIns="0" rIns="0" bIns="0">
            <a:spAutoFit/>
          </a:bodyPr>
          <a:lstStyle/>
          <a:p>
            <a:r>
              <a:rPr sz="1050" b="0">
                <a:solidFill>
                  <a:srgbClr val="1F1F1F"/>
                </a:solidFill>
                <a:latin typeface="Calibri"/>
              </a:rPr>
              <a:t>2026, from US$</a:t>
            </a:r>
          </a:p>
        </p:txBody>
      </p:sp>
      <p:pic>
        <p:nvPicPr>
          <p:cNvPr id="45" name="Picture 44" descr="lock.png"/>
          <p:cNvPicPr>
            <a:picLocks noChangeAspect="1"/>
          </p:cNvPicPr>
          <p:nvPr/>
        </p:nvPicPr>
        <p:blipFill>
          <a:blip r:embed="rId5"/>
          <a:stretch>
            <a:fillRect/>
          </a:stretch>
        </p:blipFill>
        <p:spPr>
          <a:xfrm>
            <a:off x="1673060" y="5681662"/>
            <a:ext cx="122849" cy="178689"/>
          </a:xfrm>
          <a:prstGeom prst="rect">
            <a:avLst/>
          </a:prstGeom>
        </p:spPr>
      </p:pic>
      <p:sp>
        <p:nvSpPr>
          <p:cNvPr id="46" name="TextBox 45"/>
          <p:cNvSpPr txBox="1"/>
          <p:nvPr/>
        </p:nvSpPr>
        <p:spPr>
          <a:xfrm>
            <a:off x="1832943" y="5690996"/>
            <a:ext cx="1654261" cy="179069"/>
          </a:xfrm>
          <a:prstGeom prst="rect">
            <a:avLst/>
          </a:prstGeom>
          <a:noFill/>
        </p:spPr>
        <p:txBody>
          <a:bodyPr wrap="none" lIns="0" tIns="0" rIns="0" bIns="0">
            <a:spAutoFit/>
          </a:bodyPr>
          <a:lstStyle/>
          <a:p>
            <a:r>
              <a:rPr sz="1050" b="0">
                <a:solidFill>
                  <a:srgbClr val="1F1F1F"/>
                </a:solidFill>
                <a:latin typeface="Calibri"/>
              </a:rPr>
              <a:t>/MT in North America to US$</a:t>
            </a:r>
          </a:p>
        </p:txBody>
      </p:sp>
      <p:pic>
        <p:nvPicPr>
          <p:cNvPr id="47" name="Picture 46" descr="lock.png"/>
          <p:cNvPicPr>
            <a:picLocks noChangeAspect="1"/>
          </p:cNvPicPr>
          <p:nvPr/>
        </p:nvPicPr>
        <p:blipFill>
          <a:blip r:embed="rId5"/>
          <a:stretch>
            <a:fillRect/>
          </a:stretch>
        </p:blipFill>
        <p:spPr>
          <a:xfrm>
            <a:off x="793721" y="5841682"/>
            <a:ext cx="122849" cy="178689"/>
          </a:xfrm>
          <a:prstGeom prst="rect">
            <a:avLst/>
          </a:prstGeom>
        </p:spPr>
      </p:pic>
      <p:sp>
        <p:nvSpPr>
          <p:cNvPr id="48" name="TextBox 47"/>
          <p:cNvSpPr txBox="1"/>
          <p:nvPr/>
        </p:nvSpPr>
        <p:spPr>
          <a:xfrm>
            <a:off x="953604" y="5851016"/>
            <a:ext cx="890364" cy="179069"/>
          </a:xfrm>
          <a:prstGeom prst="rect">
            <a:avLst/>
          </a:prstGeom>
          <a:noFill/>
        </p:spPr>
        <p:txBody>
          <a:bodyPr wrap="none" lIns="0" tIns="0" rIns="0" bIns="0">
            <a:spAutoFit/>
          </a:bodyPr>
          <a:lstStyle/>
          <a:p>
            <a:r>
              <a:rPr sz="1050" b="0">
                <a:solidFill>
                  <a:srgbClr val="1F1F1F"/>
                </a:solidFill>
                <a:latin typeface="Calibri"/>
              </a:rPr>
              <a:t>/MT in Europe.</a:t>
            </a:r>
          </a:p>
        </p:txBody>
      </p:sp>
      <p:sp>
        <p:nvSpPr>
          <p:cNvPr id="49" name="TextBox 48"/>
          <p:cNvSpPr txBox="1"/>
          <p:nvPr/>
        </p:nvSpPr>
        <p:spPr>
          <a:xfrm>
            <a:off x="4732401" y="5530976"/>
            <a:ext cx="2951819" cy="179069"/>
          </a:xfrm>
          <a:prstGeom prst="rect">
            <a:avLst/>
          </a:prstGeom>
          <a:noFill/>
        </p:spPr>
        <p:txBody>
          <a:bodyPr wrap="none" lIns="0" tIns="0" rIns="0" bIns="0">
            <a:spAutoFit/>
          </a:bodyPr>
          <a:lstStyle/>
          <a:p>
            <a:r>
              <a:rPr sz="1050" b="0">
                <a:solidFill>
                  <a:srgbClr val="1F1F1F"/>
                </a:solidFill>
                <a:latin typeface="Calibri"/>
              </a:rPr>
              <a:t>South Asia &amp; Pacific records the fastest average price</a:t>
            </a:r>
          </a:p>
        </p:txBody>
      </p:sp>
      <p:sp>
        <p:nvSpPr>
          <p:cNvPr id="50" name="TextBox 49"/>
          <p:cNvSpPr txBox="1"/>
          <p:nvPr/>
        </p:nvSpPr>
        <p:spPr>
          <a:xfrm>
            <a:off x="4732401" y="5690996"/>
            <a:ext cx="698934" cy="179069"/>
          </a:xfrm>
          <a:prstGeom prst="rect">
            <a:avLst/>
          </a:prstGeom>
          <a:noFill/>
        </p:spPr>
        <p:txBody>
          <a:bodyPr wrap="none" lIns="0" tIns="0" rIns="0" bIns="0">
            <a:spAutoFit/>
          </a:bodyPr>
          <a:lstStyle/>
          <a:p>
            <a:r>
              <a:rPr sz="1050" b="0">
                <a:solidFill>
                  <a:srgbClr val="1F1F1F"/>
                </a:solidFill>
                <a:latin typeface="Calibri"/>
              </a:rPr>
              <a:t>growth at a</a:t>
            </a:r>
          </a:p>
        </p:txBody>
      </p:sp>
      <p:pic>
        <p:nvPicPr>
          <p:cNvPr id="51" name="Picture 50" descr="lock.png"/>
          <p:cNvPicPr>
            <a:picLocks noChangeAspect="1"/>
          </p:cNvPicPr>
          <p:nvPr/>
        </p:nvPicPr>
        <p:blipFill>
          <a:blip r:embed="rId5"/>
          <a:stretch>
            <a:fillRect/>
          </a:stretch>
        </p:blipFill>
        <p:spPr>
          <a:xfrm>
            <a:off x="5378284" y="5681662"/>
            <a:ext cx="122849" cy="178689"/>
          </a:xfrm>
          <a:prstGeom prst="rect">
            <a:avLst/>
          </a:prstGeom>
        </p:spPr>
      </p:pic>
      <p:sp>
        <p:nvSpPr>
          <p:cNvPr id="52" name="TextBox 51"/>
          <p:cNvSpPr txBox="1"/>
          <p:nvPr/>
        </p:nvSpPr>
        <p:spPr>
          <a:xfrm>
            <a:off x="5538166" y="5690996"/>
            <a:ext cx="2178529" cy="179069"/>
          </a:xfrm>
          <a:prstGeom prst="rect">
            <a:avLst/>
          </a:prstGeom>
          <a:noFill/>
        </p:spPr>
        <p:txBody>
          <a:bodyPr wrap="none" lIns="0" tIns="0" rIns="0" bIns="0">
            <a:spAutoFit/>
          </a:bodyPr>
          <a:lstStyle/>
          <a:p>
            <a:r>
              <a:rPr sz="1050" b="0">
                <a:solidFill>
                  <a:srgbClr val="1F1F1F"/>
                </a:solidFill>
                <a:latin typeface="Calibri"/>
              </a:rPr>
              <a:t>CAGR between 2026 and 2036, against</a:t>
            </a:r>
          </a:p>
        </p:txBody>
      </p:sp>
      <p:pic>
        <p:nvPicPr>
          <p:cNvPr id="53" name="Picture 52" descr="lock.png"/>
          <p:cNvPicPr>
            <a:picLocks noChangeAspect="1"/>
          </p:cNvPicPr>
          <p:nvPr/>
        </p:nvPicPr>
        <p:blipFill>
          <a:blip r:embed="rId5"/>
          <a:stretch>
            <a:fillRect/>
          </a:stretch>
        </p:blipFill>
        <p:spPr>
          <a:xfrm>
            <a:off x="4719545" y="5841682"/>
            <a:ext cx="122849" cy="178689"/>
          </a:xfrm>
          <a:prstGeom prst="rect">
            <a:avLst/>
          </a:prstGeom>
        </p:spPr>
      </p:pic>
      <p:sp>
        <p:nvSpPr>
          <p:cNvPr id="54" name="TextBox 53"/>
          <p:cNvSpPr txBox="1"/>
          <p:nvPr/>
        </p:nvSpPr>
        <p:spPr>
          <a:xfrm>
            <a:off x="4879428" y="5851016"/>
            <a:ext cx="1250565" cy="179069"/>
          </a:xfrm>
          <a:prstGeom prst="rect">
            <a:avLst/>
          </a:prstGeom>
          <a:noFill/>
        </p:spPr>
        <p:txBody>
          <a:bodyPr wrap="none" lIns="0" tIns="0" rIns="0" bIns="0">
            <a:spAutoFit/>
          </a:bodyPr>
          <a:lstStyle/>
          <a:p>
            <a:r>
              <a:rPr sz="1050" b="0">
                <a:solidFill>
                  <a:srgbClr val="1F1F1F"/>
                </a:solidFill>
                <a:latin typeface="Calibri"/>
              </a:rPr>
              <a:t>for Global as a whole.</a:t>
            </a:r>
          </a:p>
        </p:txBody>
      </p:sp>
      <p:sp>
        <p:nvSpPr>
          <p:cNvPr id="55" name="TextBox 54"/>
          <p:cNvSpPr txBox="1"/>
          <p:nvPr/>
        </p:nvSpPr>
        <p:spPr>
          <a:xfrm>
            <a:off x="8658225" y="5530976"/>
            <a:ext cx="3011462" cy="179069"/>
          </a:xfrm>
          <a:prstGeom prst="rect">
            <a:avLst/>
          </a:prstGeom>
          <a:noFill/>
        </p:spPr>
        <p:txBody>
          <a:bodyPr wrap="none" lIns="0" tIns="0" rIns="0" bIns="0">
            <a:spAutoFit/>
          </a:bodyPr>
          <a:lstStyle/>
          <a:p>
            <a:r>
              <a:rPr sz="1050" b="0">
                <a:solidFill>
                  <a:srgbClr val="1F1F1F"/>
                </a:solidFill>
                <a:latin typeface="Calibri"/>
              </a:rPr>
              <a:t>South Asia &amp; Pacific shows the widest gap between its</a:t>
            </a:r>
          </a:p>
        </p:txBody>
      </p:sp>
      <p:sp>
        <p:nvSpPr>
          <p:cNvPr id="56" name="TextBox 55"/>
          <p:cNvSpPr txBox="1"/>
          <p:nvPr/>
        </p:nvSpPr>
        <p:spPr>
          <a:xfrm>
            <a:off x="8658225" y="5690996"/>
            <a:ext cx="2587711" cy="179069"/>
          </a:xfrm>
          <a:prstGeom prst="rect">
            <a:avLst/>
          </a:prstGeom>
          <a:noFill/>
        </p:spPr>
        <p:txBody>
          <a:bodyPr wrap="none" lIns="0" tIns="0" rIns="0" bIns="0">
            <a:spAutoFit/>
          </a:bodyPr>
          <a:lstStyle/>
          <a:p>
            <a:r>
              <a:rPr sz="1050" b="0">
                <a:solidFill>
                  <a:srgbClr val="1F1F1F"/>
                </a:solidFill>
                <a:latin typeface="Calibri"/>
              </a:rPr>
              <a:t>cheapest and most expensive partition type at</a:t>
            </a:r>
          </a:p>
        </p:txBody>
      </p:sp>
      <p:pic>
        <p:nvPicPr>
          <p:cNvPr id="57" name="Picture 56" descr="lock.png"/>
          <p:cNvPicPr>
            <a:picLocks noChangeAspect="1"/>
          </p:cNvPicPr>
          <p:nvPr/>
        </p:nvPicPr>
        <p:blipFill>
          <a:blip r:embed="rId5"/>
          <a:stretch>
            <a:fillRect/>
          </a:stretch>
        </p:blipFill>
        <p:spPr>
          <a:xfrm>
            <a:off x="11192886" y="5681662"/>
            <a:ext cx="122849" cy="178689"/>
          </a:xfrm>
          <a:prstGeom prst="rect">
            <a:avLst/>
          </a:prstGeom>
        </p:spPr>
      </p:pic>
      <p:sp>
        <p:nvSpPr>
          <p:cNvPr id="58" name="TextBox 57"/>
          <p:cNvSpPr txBox="1"/>
          <p:nvPr/>
        </p:nvSpPr>
        <p:spPr>
          <a:xfrm>
            <a:off x="11352768" y="5690996"/>
            <a:ext cx="262160" cy="179069"/>
          </a:xfrm>
          <a:prstGeom prst="rect">
            <a:avLst/>
          </a:prstGeom>
          <a:noFill/>
        </p:spPr>
        <p:txBody>
          <a:bodyPr wrap="none" lIns="0" tIns="0" rIns="0" bIns="0">
            <a:spAutoFit/>
          </a:bodyPr>
          <a:lstStyle/>
          <a:p>
            <a:r>
              <a:rPr sz="1050" b="0">
                <a:solidFill>
                  <a:srgbClr val="1F1F1F"/>
                </a:solidFill>
                <a:latin typeface="Calibri"/>
              </a:rPr>
              <a:t>, so</a:t>
            </a:r>
          </a:p>
        </p:txBody>
      </p:sp>
      <p:sp>
        <p:nvSpPr>
          <p:cNvPr id="59" name="TextBox 58"/>
          <p:cNvSpPr txBox="1"/>
          <p:nvPr/>
        </p:nvSpPr>
        <p:spPr>
          <a:xfrm>
            <a:off x="8658225" y="5851016"/>
            <a:ext cx="2851807" cy="179069"/>
          </a:xfrm>
          <a:prstGeom prst="rect">
            <a:avLst/>
          </a:prstGeom>
          <a:noFill/>
        </p:spPr>
        <p:txBody>
          <a:bodyPr wrap="none" lIns="0" tIns="0" rIns="0" bIns="0">
            <a:spAutoFit/>
          </a:bodyPr>
          <a:lstStyle/>
          <a:p>
            <a:r>
              <a:rPr sz="1050" b="0">
                <a:solidFill>
                  <a:srgbClr val="1F1F1F"/>
                </a:solidFill>
                <a:latin typeface="Calibri"/>
              </a:rPr>
              <a:t>product mix shifts move its average price the most.</a:t>
            </a:r>
          </a:p>
        </p:txBody>
      </p:sp>
      <p:pic>
        <p:nvPicPr>
          <p:cNvPr id="60" name="Picture 59" descr="lock.png"/>
          <p:cNvPicPr>
            <a:picLocks noChangeAspect="1"/>
          </p:cNvPicPr>
          <p:nvPr/>
        </p:nvPicPr>
        <p:blipFill>
          <a:blip r:embed="rId5"/>
          <a:stretch>
            <a:fillRect/>
          </a:stretch>
        </p:blipFill>
        <p:spPr>
          <a:xfrm>
            <a:off x="3952821" y="3129375"/>
            <a:ext cx="482444" cy="701737"/>
          </a:xfrm>
          <a:prstGeom prst="rect">
            <a:avLst/>
          </a:prstGeom>
        </p:spPr>
      </p:pic>
      <p:sp>
        <p:nvSpPr>
          <p:cNvPr id="61" name="lockshield_13"/>
          <p:cNvSpPr/>
          <p:nvPr/>
        </p:nvSpPr>
        <p:spPr>
          <a:xfrm>
            <a:off x="347472" y="2014347"/>
            <a:ext cx="7406640" cy="301752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74724"/>
            <a:ext cx="75057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none" lIns="0" tIns="0" rIns="0" bIns="0">
            <a:spAutoFit/>
          </a:bodyPr>
          <a:lstStyle/>
          <a:p>
            <a:pPr algn="ctr"/>
            <a:r>
              <a:rPr sz="1100" b="0">
                <a:solidFill>
                  <a:srgbClr val="6C7A89"/>
                </a:solidFill>
                <a:latin typeface="Calibri"/>
              </a:rPr>
              <a:t>717</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none" lIns="0" tIns="0" rIns="0" bIns="0">
            <a:spAutoFit/>
          </a:bodyPr>
          <a:lstStyle/>
          <a:p>
            <a:pPr algn="ctr"/>
            <a:r>
              <a:rPr sz="1100" b="0">
                <a:solidFill>
                  <a:srgbClr val="6C7A89"/>
                </a:solidFill>
                <a:latin typeface="Calibri"/>
              </a:rPr>
              <a:t>812</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none" lIns="0" tIns="0" rIns="0" bIns="0">
            <a:spAutoFit/>
          </a:bodyPr>
          <a:lstStyle/>
          <a:p>
            <a:pPr algn="ctr"/>
            <a:r>
              <a:rPr sz="1100" b="0">
                <a:solidFill>
                  <a:srgbClr val="6C7A89"/>
                </a:solidFill>
                <a:latin typeface="Calibri"/>
              </a:rPr>
              <a:t>906</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tIns="9525" rIns="28575" bIns="9525">
            <a:spAutoFit/>
          </a:bodyPr>
          <a:lstStyle/>
          <a:p>
            <a:pPr algn="ctr"/>
            <a:r>
              <a:rPr sz="1100" b="0">
                <a:solidFill>
                  <a:srgbClr val="6C7A89"/>
                </a:solidFill>
                <a:latin typeface="Calibri"/>
              </a:rPr>
              <a:t>1,000</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tIns="9525" rIns="28575" bIns="9525">
            <a:spAutoFit/>
          </a:bodyPr>
          <a:lstStyle/>
          <a:p>
            <a:pPr algn="ctr"/>
            <a:r>
              <a:rPr sz="1100" b="0">
                <a:solidFill>
                  <a:srgbClr val="6C7A89"/>
                </a:solidFill>
                <a:latin typeface="Calibri"/>
              </a:rPr>
              <a:t>1,095</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tIns="9525" rIns="28575" bIns="9525">
            <a:spAutoFit/>
          </a:bodyPr>
          <a:lstStyle/>
          <a:p>
            <a:pPr algn="ctr"/>
            <a:r>
              <a:rPr sz="1100" b="0">
                <a:solidFill>
                  <a:srgbClr val="6C7A89"/>
                </a:solidFill>
                <a:latin typeface="Calibri"/>
              </a:rPr>
              <a:t>1,189</a:t>
            </a:r>
          </a:p>
        </p:txBody>
      </p:sp>
      <p:sp>
        <p:nvSpPr>
          <p:cNvPr id="25" name="TextBox 24"/>
          <p:cNvSpPr txBox="1"/>
          <p:nvPr/>
        </p:nvSpPr>
        <p:spPr>
          <a:xfrm>
            <a:off x="238125" y="2203404"/>
            <a:ext cx="1066800" cy="171450"/>
          </a:xfrm>
          <a:prstGeom prst="rect">
            <a:avLst/>
          </a:prstGeom>
          <a:noFill/>
        </p:spPr>
        <p:txBody>
          <a:bodyPr wrap="square" lIns="28575" tIns="9525" rIns="28575" bIns="9525" anchor="ctr">
            <a:spAutoFit/>
          </a:bodyPr>
          <a:lstStyle/>
          <a:p>
            <a:pPr algn="l"/>
            <a:r>
              <a:rPr sz="1100" b="1">
                <a:solidFill>
                  <a:srgbClr val="0B2E4A"/>
                </a:solidFill>
                <a:latin typeface="Calibri"/>
              </a:rPr>
              <a:t>North America</a:t>
            </a:r>
          </a:p>
        </p:txBody>
      </p:sp>
      <p:sp>
        <p:nvSpPr>
          <p:cNvPr id="26" name="Rectangle 25"/>
          <p:cNvSpPr/>
          <p:nvPr/>
        </p:nvSpPr>
        <p:spPr>
          <a:xfrm>
            <a:off x="2045494" y="2100912"/>
            <a:ext cx="2775775"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Oval 26"/>
          <p:cNvSpPr/>
          <p:nvPr/>
        </p:nvSpPr>
        <p:spPr>
          <a:xfrm>
            <a:off x="3382690"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238125" y="2927314"/>
            <a:ext cx="1066800" cy="171450"/>
          </a:xfrm>
          <a:prstGeom prst="rect">
            <a:avLst/>
          </a:prstGeom>
          <a:noFill/>
        </p:spPr>
        <p:txBody>
          <a:bodyPr wrap="square" lIns="28575" tIns="9525" rIns="28575" bIns="9525" anchor="ctr">
            <a:spAutoFit/>
          </a:bodyPr>
          <a:lstStyle/>
          <a:p>
            <a:pPr algn="l"/>
            <a:r>
              <a:rPr sz="1100" b="1">
                <a:solidFill>
                  <a:srgbClr val="0B2E4A"/>
                </a:solidFill>
                <a:latin typeface="Calibri"/>
              </a:rPr>
              <a:t>Latin America</a:t>
            </a:r>
          </a:p>
        </p:txBody>
      </p:sp>
      <p:sp>
        <p:nvSpPr>
          <p:cNvPr id="29" name="Rectangle 28"/>
          <p:cNvSpPr/>
          <p:nvPr/>
        </p:nvSpPr>
        <p:spPr>
          <a:xfrm>
            <a:off x="3080926" y="2824823"/>
            <a:ext cx="2745145"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Oval 29"/>
          <p:cNvSpPr/>
          <p:nvPr/>
        </p:nvSpPr>
        <p:spPr>
          <a:xfrm>
            <a:off x="4418913"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38125" y="3651224"/>
            <a:ext cx="1066800" cy="171450"/>
          </a:xfrm>
          <a:prstGeom prst="rect">
            <a:avLst/>
          </a:prstGeom>
          <a:noFill/>
        </p:spPr>
        <p:txBody>
          <a:bodyPr wrap="square" lIns="28575" tIns="9525" rIns="28575" bIns="9525" anchor="ctr">
            <a:spAutoFit/>
          </a:bodyPr>
          <a:lstStyle/>
          <a:p>
            <a:pPr algn="l"/>
            <a:r>
              <a:rPr sz="1100" b="1">
                <a:solidFill>
                  <a:srgbClr val="0B2E4A"/>
                </a:solidFill>
                <a:latin typeface="Calibri"/>
              </a:rPr>
              <a:t>Europe</a:t>
            </a:r>
          </a:p>
        </p:txBody>
      </p:sp>
      <p:sp>
        <p:nvSpPr>
          <p:cNvPr id="32" name="Rectangle 31"/>
          <p:cNvSpPr/>
          <p:nvPr/>
        </p:nvSpPr>
        <p:spPr>
          <a:xfrm>
            <a:off x="3819025" y="3548733"/>
            <a:ext cx="3108031"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Oval 32"/>
          <p:cNvSpPr/>
          <p:nvPr/>
        </p:nvSpPr>
        <p:spPr>
          <a:xfrm>
            <a:off x="5311682"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238125" y="4375135"/>
            <a:ext cx="1066800" cy="171450"/>
          </a:xfrm>
          <a:prstGeom prst="rect">
            <a:avLst/>
          </a:prstGeom>
          <a:noFill/>
        </p:spPr>
        <p:txBody>
          <a:bodyPr wrap="square" lIns="28575" tIns="9525" rIns="28575" bIns="9525" anchor="ctr">
            <a:spAutoFit/>
          </a:bodyPr>
          <a:lstStyle/>
          <a:p>
            <a:pPr algn="l"/>
            <a:r>
              <a:rPr sz="1100" b="1">
                <a:solidFill>
                  <a:srgbClr val="0B2E4A"/>
                </a:solidFill>
                <a:latin typeface="Calibri"/>
              </a:rPr>
              <a:t>East Asia</a:t>
            </a:r>
          </a:p>
        </p:txBody>
      </p:sp>
      <p:sp>
        <p:nvSpPr>
          <p:cNvPr id="35" name="Rectangle 34"/>
          <p:cNvSpPr/>
          <p:nvPr/>
        </p:nvSpPr>
        <p:spPr>
          <a:xfrm>
            <a:off x="2936842" y="4272643"/>
            <a:ext cx="2886635"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Oval 35"/>
          <p:cNvSpPr/>
          <p:nvPr/>
        </p:nvSpPr>
        <p:spPr>
          <a:xfrm>
            <a:off x="4317090"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238125" y="5099045"/>
            <a:ext cx="1066800" cy="171450"/>
          </a:xfrm>
          <a:prstGeom prst="rect">
            <a:avLst/>
          </a:prstGeom>
          <a:noFill/>
        </p:spPr>
        <p:txBody>
          <a:bodyPr wrap="square" lIns="28575" tIns="9525" rIns="28575" bIns="9525" anchor="ctr">
            <a:spAutoFit/>
          </a:bodyPr>
          <a:lstStyle/>
          <a:p>
            <a:pPr algn="l"/>
            <a:r>
              <a:rPr sz="1100" b="1">
                <a:solidFill>
                  <a:srgbClr val="0B2E4A"/>
                </a:solidFill>
                <a:latin typeface="Calibri"/>
              </a:rPr>
              <a:t>South Asia &amp; Pacific</a:t>
            </a:r>
          </a:p>
        </p:txBody>
      </p:sp>
      <p:sp>
        <p:nvSpPr>
          <p:cNvPr id="38" name="Rectangle 37"/>
          <p:cNvSpPr/>
          <p:nvPr/>
        </p:nvSpPr>
        <p:spPr>
          <a:xfrm>
            <a:off x="3078553" y="4996553"/>
            <a:ext cx="3062736"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Oval 38"/>
          <p:cNvSpPr/>
          <p:nvPr/>
        </p:nvSpPr>
        <p:spPr>
          <a:xfrm>
            <a:off x="4515638"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238125" y="5822955"/>
            <a:ext cx="1066800" cy="171450"/>
          </a:xfrm>
          <a:prstGeom prst="rect">
            <a:avLst/>
          </a:prstGeom>
          <a:noFill/>
        </p:spPr>
        <p:txBody>
          <a:bodyPr wrap="square" lIns="28575" tIns="9525" rIns="28575" bIns="9525" anchor="ctr">
            <a:spAutoFit/>
          </a:bodyPr>
          <a:lstStyle/>
          <a:p>
            <a:pPr algn="l"/>
            <a:r>
              <a:rPr sz="1100" b="1">
                <a:solidFill>
                  <a:srgbClr val="0B2E4A"/>
                </a:solidFill>
                <a:latin typeface="Calibri"/>
              </a:rPr>
              <a:t>Middle East &amp; Africa</a:t>
            </a:r>
          </a:p>
        </p:txBody>
      </p:sp>
      <p:sp>
        <p:nvSpPr>
          <p:cNvPr id="41" name="Rectangle 40"/>
          <p:cNvSpPr/>
          <p:nvPr/>
        </p:nvSpPr>
        <p:spPr>
          <a:xfrm>
            <a:off x="3427103" y="5720463"/>
            <a:ext cx="2971763"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Oval 41"/>
          <p:cNvSpPr/>
          <p:nvPr/>
        </p:nvSpPr>
        <p:spPr>
          <a:xfrm>
            <a:off x="4846378"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1495425" y="1717624"/>
            <a:ext cx="838200" cy="133350"/>
          </a:xfrm>
          <a:prstGeom prst="rect">
            <a:avLst/>
          </a:prstGeom>
          <a:noFill/>
        </p:spPr>
        <p:txBody>
          <a:bodyPr wrap="square" lIns="28575" tIns="9525" rIns="2857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2619375" y="1717624"/>
            <a:ext cx="800100" cy="133350"/>
          </a:xfrm>
          <a:prstGeom prst="rect">
            <a:avLst/>
          </a:prstGeom>
          <a:noFill/>
        </p:spPr>
        <p:txBody>
          <a:bodyPr wrap="square" lIns="28575" tIns="9525" rIns="2857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8048625" y="1403299"/>
            <a:ext cx="3867150" cy="209550"/>
          </a:xfrm>
          <a:prstGeom prst="rect">
            <a:avLst/>
          </a:prstGeom>
          <a:noFill/>
        </p:spPr>
        <p:txBody>
          <a:bodyPr wrap="square" lIns="0" tIns="9525" rIns="19050"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8048625" y="1727149"/>
            <a:ext cx="3867150" cy="343877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8048625" y="1736673"/>
            <a:ext cx="3403401" cy="194310"/>
          </a:xfrm>
          <a:prstGeom prst="rect">
            <a:avLst/>
          </a:prstGeom>
          <a:noFill/>
        </p:spPr>
        <p:txBody>
          <a:bodyPr wrap="none" lIns="0" tIns="0" rIns="0" bIns="0">
            <a:spAutoFit/>
          </a:bodyPr>
          <a:lstStyle/>
          <a:p>
            <a:r>
              <a:rPr sz="1150" b="0">
                <a:solidFill>
                  <a:srgbClr val="2E2E2E"/>
                </a:solidFill>
                <a:latin typeface="Calibri"/>
              </a:rPr>
              <a:t>Die-cut &amp; folded partitions (h-dividers, tube/cell inserts)</a:t>
            </a:r>
          </a:p>
        </p:txBody>
      </p:sp>
      <p:sp>
        <p:nvSpPr>
          <p:cNvPr id="54" name="TextBox 53"/>
          <p:cNvSpPr txBox="1"/>
          <p:nvPr/>
        </p:nvSpPr>
        <p:spPr>
          <a:xfrm>
            <a:off x="8048625" y="1911934"/>
            <a:ext cx="3767956" cy="194310"/>
          </a:xfrm>
          <a:prstGeom prst="rect">
            <a:avLst/>
          </a:prstGeom>
          <a:noFill/>
        </p:spPr>
        <p:txBody>
          <a:bodyPr wrap="none" lIns="0" tIns="0" rIns="0" bIns="0">
            <a:spAutoFit/>
          </a:bodyPr>
          <a:lstStyle/>
          <a:p>
            <a:r>
              <a:rPr sz="1150" b="0">
                <a:solidFill>
                  <a:srgbClr val="2E2E2E"/>
                </a:solidFill>
                <a:latin typeface="Calibri"/>
              </a:rPr>
              <a:t>segment is expected to command the highest average price of</a:t>
            </a:r>
          </a:p>
        </p:txBody>
      </p:sp>
      <p:sp>
        <p:nvSpPr>
          <p:cNvPr id="55" name="TextBox 54"/>
          <p:cNvSpPr txBox="1"/>
          <p:nvPr/>
        </p:nvSpPr>
        <p:spPr>
          <a:xfrm>
            <a:off x="8048625" y="2087194"/>
            <a:ext cx="311249" cy="194310"/>
          </a:xfrm>
          <a:prstGeom prst="rect">
            <a:avLst/>
          </a:prstGeom>
          <a:noFill/>
        </p:spPr>
        <p:txBody>
          <a:bodyPr wrap="none" lIns="0" tIns="0" rIns="0" bIns="0">
            <a:spAutoFit/>
          </a:bodyPr>
          <a:lstStyle/>
          <a:p>
            <a:r>
              <a:rPr sz="1150" b="0">
                <a:solidFill>
                  <a:srgbClr val="2E2E2E"/>
                </a:solidFill>
                <a:latin typeface="Calibri"/>
              </a:rPr>
              <a:t>US$</a:t>
            </a:r>
          </a:p>
        </p:txBody>
      </p:sp>
      <p:pic>
        <p:nvPicPr>
          <p:cNvPr id="56" name="Picture 55" descr="lock.png"/>
          <p:cNvPicPr>
            <a:picLocks noChangeAspect="1"/>
          </p:cNvPicPr>
          <p:nvPr/>
        </p:nvPicPr>
        <p:blipFill>
          <a:blip r:embed="rId4"/>
          <a:stretch>
            <a:fillRect/>
          </a:stretch>
        </p:blipFill>
        <p:spPr>
          <a:xfrm>
            <a:off x="8309028" y="2076970"/>
            <a:ext cx="134549" cy="195707"/>
          </a:xfrm>
          <a:prstGeom prst="rect">
            <a:avLst/>
          </a:prstGeom>
        </p:spPr>
      </p:pic>
      <p:sp>
        <p:nvSpPr>
          <p:cNvPr id="57" name="TextBox 56"/>
          <p:cNvSpPr txBox="1"/>
          <p:nvPr/>
        </p:nvSpPr>
        <p:spPr>
          <a:xfrm>
            <a:off x="8484137" y="2087194"/>
            <a:ext cx="3115825" cy="194310"/>
          </a:xfrm>
          <a:prstGeom prst="rect">
            <a:avLst/>
          </a:prstGeom>
          <a:noFill/>
        </p:spPr>
        <p:txBody>
          <a:bodyPr wrap="none" lIns="0" tIns="0" rIns="0" bIns="0">
            <a:spAutoFit/>
          </a:bodyPr>
          <a:lstStyle/>
          <a:p>
            <a:r>
              <a:rPr sz="1150" b="0">
                <a:solidFill>
                  <a:srgbClr val="2E2E2E"/>
                </a:solidFill>
                <a:latin typeface="Calibri"/>
              </a:rPr>
              <a:t>per MT in 2036. Average selling price of corrugated</a:t>
            </a:r>
          </a:p>
        </p:txBody>
      </p:sp>
      <p:sp>
        <p:nvSpPr>
          <p:cNvPr id="58" name="TextBox 57"/>
          <p:cNvSpPr txBox="1"/>
          <p:nvPr/>
        </p:nvSpPr>
        <p:spPr>
          <a:xfrm>
            <a:off x="8048625" y="2262454"/>
            <a:ext cx="1767755" cy="194310"/>
          </a:xfrm>
          <a:prstGeom prst="rect">
            <a:avLst/>
          </a:prstGeom>
          <a:noFill/>
        </p:spPr>
        <p:txBody>
          <a:bodyPr wrap="none" lIns="0" tIns="0" rIns="0" bIns="0">
            <a:spAutoFit/>
          </a:bodyPr>
          <a:lstStyle/>
          <a:p>
            <a:r>
              <a:rPr sz="1150" b="0">
                <a:solidFill>
                  <a:srgbClr val="2E2E2E"/>
                </a:solidFill>
                <a:latin typeface="Calibri"/>
              </a:rPr>
              <a:t>partition is estimated at US$</a:t>
            </a:r>
          </a:p>
        </p:txBody>
      </p:sp>
      <p:pic>
        <p:nvPicPr>
          <p:cNvPr id="59" name="Picture 58" descr="lock.png"/>
          <p:cNvPicPr>
            <a:picLocks noChangeAspect="1"/>
          </p:cNvPicPr>
          <p:nvPr/>
        </p:nvPicPr>
        <p:blipFill>
          <a:blip r:embed="rId4"/>
          <a:stretch>
            <a:fillRect/>
          </a:stretch>
        </p:blipFill>
        <p:spPr>
          <a:xfrm>
            <a:off x="9765534" y="2252230"/>
            <a:ext cx="134549" cy="195707"/>
          </a:xfrm>
          <a:prstGeom prst="rect">
            <a:avLst/>
          </a:prstGeom>
        </p:spPr>
      </p:pic>
      <p:sp>
        <p:nvSpPr>
          <p:cNvPr id="60" name="TextBox 59"/>
          <p:cNvSpPr txBox="1"/>
          <p:nvPr/>
        </p:nvSpPr>
        <p:spPr>
          <a:xfrm>
            <a:off x="9940643" y="2262454"/>
            <a:ext cx="1359557" cy="194310"/>
          </a:xfrm>
          <a:prstGeom prst="rect">
            <a:avLst/>
          </a:prstGeom>
          <a:noFill/>
        </p:spPr>
        <p:txBody>
          <a:bodyPr wrap="none" lIns="0" tIns="0" rIns="0" bIns="0">
            <a:spAutoFit/>
          </a:bodyPr>
          <a:lstStyle/>
          <a:p>
            <a:r>
              <a:rPr sz="1150" b="0">
                <a:solidFill>
                  <a:srgbClr val="2E2E2E"/>
                </a:solidFill>
                <a:latin typeface="Calibri"/>
              </a:rPr>
              <a:t>per MT in 2025 and is</a:t>
            </a:r>
          </a:p>
        </p:txBody>
      </p:sp>
      <p:sp>
        <p:nvSpPr>
          <p:cNvPr id="61" name="TextBox 60"/>
          <p:cNvSpPr txBox="1"/>
          <p:nvPr/>
        </p:nvSpPr>
        <p:spPr>
          <a:xfrm>
            <a:off x="8048625" y="2437714"/>
            <a:ext cx="1764617" cy="194310"/>
          </a:xfrm>
          <a:prstGeom prst="rect">
            <a:avLst/>
          </a:prstGeom>
          <a:noFill/>
        </p:spPr>
        <p:txBody>
          <a:bodyPr wrap="none" lIns="0" tIns="0" rIns="0" bIns="0">
            <a:spAutoFit/>
          </a:bodyPr>
          <a:lstStyle/>
          <a:p>
            <a:r>
              <a:rPr sz="1150" b="0">
                <a:solidFill>
                  <a:srgbClr val="2E2E2E"/>
                </a:solidFill>
                <a:latin typeface="Calibri"/>
              </a:rPr>
              <a:t>projected to increase to US$</a:t>
            </a:r>
          </a:p>
        </p:txBody>
      </p:sp>
      <p:pic>
        <p:nvPicPr>
          <p:cNvPr id="62" name="Picture 61" descr="lock.png"/>
          <p:cNvPicPr>
            <a:picLocks noChangeAspect="1"/>
          </p:cNvPicPr>
          <p:nvPr/>
        </p:nvPicPr>
        <p:blipFill>
          <a:blip r:embed="rId4"/>
          <a:stretch>
            <a:fillRect/>
          </a:stretch>
        </p:blipFill>
        <p:spPr>
          <a:xfrm>
            <a:off x="9762396" y="2427490"/>
            <a:ext cx="134549" cy="195707"/>
          </a:xfrm>
          <a:prstGeom prst="rect">
            <a:avLst/>
          </a:prstGeom>
        </p:spPr>
      </p:pic>
      <p:sp>
        <p:nvSpPr>
          <p:cNvPr id="63" name="TextBox 62"/>
          <p:cNvSpPr txBox="1"/>
          <p:nvPr/>
        </p:nvSpPr>
        <p:spPr>
          <a:xfrm>
            <a:off x="9937506" y="2437714"/>
            <a:ext cx="1048630" cy="194310"/>
          </a:xfrm>
          <a:prstGeom prst="rect">
            <a:avLst/>
          </a:prstGeom>
          <a:noFill/>
        </p:spPr>
        <p:txBody>
          <a:bodyPr wrap="none" lIns="0" tIns="0" rIns="0" bIns="0">
            <a:spAutoFit/>
          </a:bodyPr>
          <a:lstStyle/>
          <a:p>
            <a:r>
              <a:rPr sz="1150" b="0">
                <a:solidFill>
                  <a:srgbClr val="2E2E2E"/>
                </a:solidFill>
                <a:latin typeface="Calibri"/>
              </a:rPr>
              <a:t>per MT by 2036.</a:t>
            </a:r>
          </a:p>
        </p:txBody>
      </p:sp>
      <p:sp>
        <p:nvSpPr>
          <p:cNvPr id="64" name="TextBox 63"/>
          <p:cNvSpPr txBox="1"/>
          <p:nvPr/>
        </p:nvSpPr>
        <p:spPr>
          <a:xfrm>
            <a:off x="8048625" y="2665551"/>
            <a:ext cx="3806750" cy="194310"/>
          </a:xfrm>
          <a:prstGeom prst="rect">
            <a:avLst/>
          </a:prstGeom>
          <a:noFill/>
        </p:spPr>
        <p:txBody>
          <a:bodyPr wrap="none" lIns="0" tIns="0" rIns="0" bIns="0">
            <a:spAutoFit/>
          </a:bodyPr>
          <a:lstStyle/>
          <a:p>
            <a:r>
              <a:rPr sz="1150" b="0">
                <a:solidFill>
                  <a:srgbClr val="2E2E2E"/>
                </a:solidFill>
                <a:latin typeface="Calibri"/>
              </a:rPr>
              <a:t>Europe is the highest-priced region, while North America is the</a:t>
            </a:r>
          </a:p>
        </p:txBody>
      </p:sp>
      <p:sp>
        <p:nvSpPr>
          <p:cNvPr id="65" name="TextBox 64"/>
          <p:cNvSpPr txBox="1"/>
          <p:nvPr/>
        </p:nvSpPr>
        <p:spPr>
          <a:xfrm>
            <a:off x="8048625" y="2840811"/>
            <a:ext cx="3834420" cy="194310"/>
          </a:xfrm>
          <a:prstGeom prst="rect">
            <a:avLst/>
          </a:prstGeom>
          <a:noFill/>
        </p:spPr>
        <p:txBody>
          <a:bodyPr wrap="none" lIns="0" tIns="0" rIns="0" bIns="0">
            <a:spAutoFit/>
          </a:bodyPr>
          <a:lstStyle/>
          <a:p>
            <a:r>
              <a:rPr sz="1150" b="0">
                <a:solidFill>
                  <a:srgbClr val="2E2E2E"/>
                </a:solidFill>
                <a:latin typeface="Calibri"/>
              </a:rPr>
              <a:t>most price-competitive market. The orange dot is each region's</a:t>
            </a:r>
          </a:p>
        </p:txBody>
      </p:sp>
      <p:sp>
        <p:nvSpPr>
          <p:cNvPr id="66" name="TextBox 65"/>
          <p:cNvSpPr txBox="1"/>
          <p:nvPr/>
        </p:nvSpPr>
        <p:spPr>
          <a:xfrm>
            <a:off x="8048625" y="3016071"/>
            <a:ext cx="3749699" cy="194310"/>
          </a:xfrm>
          <a:prstGeom prst="rect">
            <a:avLst/>
          </a:prstGeom>
          <a:noFill/>
        </p:spPr>
        <p:txBody>
          <a:bodyPr wrap="none" lIns="0" tIns="0" rIns="0" bIns="0">
            <a:spAutoFit/>
          </a:bodyPr>
          <a:lstStyle/>
          <a:p>
            <a:r>
              <a:rPr sz="1150" b="0">
                <a:solidFill>
                  <a:srgbClr val="2E2E2E"/>
                </a:solidFill>
                <a:latin typeface="Calibri"/>
              </a:rPr>
              <a:t>average selling price; the blue band is its full low-to-high price</a:t>
            </a:r>
          </a:p>
        </p:txBody>
      </p:sp>
      <p:sp>
        <p:nvSpPr>
          <p:cNvPr id="67" name="TextBox 66"/>
          <p:cNvSpPr txBox="1"/>
          <p:nvPr/>
        </p:nvSpPr>
        <p:spPr>
          <a:xfrm>
            <a:off x="8048625" y="3191331"/>
            <a:ext cx="2269517" cy="194310"/>
          </a:xfrm>
          <a:prstGeom prst="rect">
            <a:avLst/>
          </a:prstGeom>
          <a:noFill/>
        </p:spPr>
        <p:txBody>
          <a:bodyPr wrap="none" lIns="0" tIns="0" rIns="0" bIns="0">
            <a:spAutoFit/>
          </a:bodyPr>
          <a:lstStyle/>
          <a:p>
            <a:r>
              <a:rPr sz="1150" b="0">
                <a:solidFill>
                  <a:srgbClr val="2E2E2E"/>
                </a:solidFill>
                <a:latin typeface="Calibri"/>
              </a:rPr>
              <a:t>range, all derived as Value ÷ Volume.</a:t>
            </a:r>
          </a:p>
        </p:txBody>
      </p:sp>
      <p:sp>
        <p:nvSpPr>
          <p:cNvPr id="68" name="TextBox 67"/>
          <p:cNvSpPr txBox="1"/>
          <p:nvPr/>
        </p:nvSpPr>
        <p:spPr>
          <a:xfrm>
            <a:off x="8048625" y="3419169"/>
            <a:ext cx="3691793" cy="194310"/>
          </a:xfrm>
          <a:prstGeom prst="rect">
            <a:avLst/>
          </a:prstGeom>
          <a:noFill/>
        </p:spPr>
        <p:txBody>
          <a:bodyPr wrap="none" lIns="0" tIns="0" rIns="0" bIns="0">
            <a:spAutoFit/>
          </a:bodyPr>
          <a:lstStyle/>
          <a:p>
            <a:r>
              <a:rPr sz="1150" b="0">
                <a:solidFill>
                  <a:srgbClr val="2E2E2E"/>
                </a:solidFill>
                <a:latin typeface="Calibri"/>
              </a:rPr>
              <a:t>Narrow bands point to commoditised, price-led competition;</a:t>
            </a:r>
          </a:p>
        </p:txBody>
      </p:sp>
      <p:sp>
        <p:nvSpPr>
          <p:cNvPr id="69" name="TextBox 68"/>
          <p:cNvSpPr txBox="1"/>
          <p:nvPr/>
        </p:nvSpPr>
        <p:spPr>
          <a:xfrm>
            <a:off x="8048625" y="3594429"/>
            <a:ext cx="3812170" cy="194310"/>
          </a:xfrm>
          <a:prstGeom prst="rect">
            <a:avLst/>
          </a:prstGeom>
          <a:noFill/>
        </p:spPr>
        <p:txBody>
          <a:bodyPr wrap="none" lIns="0" tIns="0" rIns="0" bIns="0">
            <a:spAutoFit/>
          </a:bodyPr>
          <a:lstStyle/>
          <a:p>
            <a:r>
              <a:rPr sz="1150" b="0">
                <a:solidFill>
                  <a:srgbClr val="2E2E2E"/>
                </a:solidFill>
                <a:latin typeface="Calibri"/>
              </a:rPr>
              <a:t>wider bands flag premiumisation headroom to trade buyers up</a:t>
            </a:r>
          </a:p>
        </p:txBody>
      </p:sp>
      <p:sp>
        <p:nvSpPr>
          <p:cNvPr id="70" name="TextBox 69"/>
          <p:cNvSpPr txBox="1"/>
          <p:nvPr/>
        </p:nvSpPr>
        <p:spPr>
          <a:xfrm>
            <a:off x="8048625" y="3769689"/>
            <a:ext cx="558279" cy="194310"/>
          </a:xfrm>
          <a:prstGeom prst="rect">
            <a:avLst/>
          </a:prstGeom>
          <a:noFill/>
        </p:spPr>
        <p:txBody>
          <a:bodyPr wrap="none" lIns="0" tIns="0" rIns="0" bIns="0">
            <a:spAutoFit/>
          </a:bodyPr>
          <a:lstStyle/>
          <a:p>
            <a:r>
              <a:rPr sz="1150" b="0">
                <a:solidFill>
                  <a:srgbClr val="2E2E2E"/>
                </a:solidFill>
                <a:latin typeface="Calibri"/>
              </a:rPr>
              <a:t>the mix.</a:t>
            </a:r>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Key Pricing Drivers Influencing Corrugated Partition Market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38125" y="1411231"/>
            <a:ext cx="68389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3686175" y="3634709"/>
            <a:ext cx="285750" cy="123825"/>
          </a:xfrm>
          <a:prstGeom prst="rect">
            <a:avLst/>
          </a:prstGeom>
          <a:noFill/>
        </p:spPr>
        <p:txBody>
          <a:bodyPr wrap="none" lIns="0" tIns="0" r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tIns="0" r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tIns="0" r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tIns="0" r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tIns="0" r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tIns="9525" rIns="28575" bIns="9525" anchor="ctr">
            <a:spAutoFit/>
          </a:bodyPr>
          <a:lstStyle/>
          <a:p>
            <a:pPr algn="ctr"/>
            <a:endParaRPr/>
          </a:p>
        </p:txBody>
      </p:sp>
      <p:sp>
        <p:nvSpPr>
          <p:cNvPr id="46" name="TextBox 45"/>
          <p:cNvSpPr txBox="1"/>
          <p:nvPr/>
        </p:nvSpPr>
        <p:spPr>
          <a:xfrm>
            <a:off x="4232331" y="2240143"/>
            <a:ext cx="1314450" cy="285750"/>
          </a:xfrm>
          <a:prstGeom prst="rect">
            <a:avLst/>
          </a:prstGeom>
          <a:noFill/>
        </p:spPr>
        <p:txBody>
          <a:bodyPr wrap="square" lIns="28575" tIns="9525" rIns="28575" bIns="9525" anchor="ctr">
            <a:spAutoFit/>
          </a:bodyPr>
          <a:lstStyle/>
          <a:p>
            <a:pPr algn="ctr"/>
            <a:endParaRPr/>
          </a:p>
        </p:txBody>
      </p:sp>
      <p:sp>
        <p:nvSpPr>
          <p:cNvPr id="47" name="TextBox 46"/>
          <p:cNvSpPr txBox="1"/>
          <p:nvPr/>
        </p:nvSpPr>
        <p:spPr>
          <a:xfrm>
            <a:off x="4993722" y="3288108"/>
            <a:ext cx="1314450" cy="285750"/>
          </a:xfrm>
          <a:prstGeom prst="rect">
            <a:avLst/>
          </a:prstGeom>
          <a:noFill/>
        </p:spPr>
        <p:txBody>
          <a:bodyPr wrap="square" lIns="28575" tIns="9525" rIns="28575" bIns="9525" anchor="ctr">
            <a:spAutoFit/>
          </a:bodyPr>
          <a:lstStyle/>
          <a:p>
            <a:pPr algn="ctr"/>
            <a:endParaRPr/>
          </a:p>
        </p:txBody>
      </p:sp>
      <p:sp>
        <p:nvSpPr>
          <p:cNvPr id="48" name="TextBox 47"/>
          <p:cNvSpPr txBox="1"/>
          <p:nvPr/>
        </p:nvSpPr>
        <p:spPr>
          <a:xfrm>
            <a:off x="4993722" y="4583463"/>
            <a:ext cx="1314450" cy="285750"/>
          </a:xfrm>
          <a:prstGeom prst="rect">
            <a:avLst/>
          </a:prstGeom>
          <a:noFill/>
        </p:spPr>
        <p:txBody>
          <a:bodyPr wrap="square" lIns="28575" tIns="9525" rIns="28575" bIns="9525" anchor="ctr">
            <a:spAutoFit/>
          </a:bodyPr>
          <a:lstStyle/>
          <a:p>
            <a:pPr algn="ctr"/>
            <a:endParaRPr/>
          </a:p>
        </p:txBody>
      </p:sp>
      <p:sp>
        <p:nvSpPr>
          <p:cNvPr id="49" name="TextBox 48"/>
          <p:cNvSpPr txBox="1"/>
          <p:nvPr/>
        </p:nvSpPr>
        <p:spPr>
          <a:xfrm>
            <a:off x="4232331" y="5631427"/>
            <a:ext cx="1314450" cy="285750"/>
          </a:xfrm>
          <a:prstGeom prst="rect">
            <a:avLst/>
          </a:prstGeom>
          <a:noFill/>
        </p:spPr>
        <p:txBody>
          <a:bodyPr wrap="square" lIns="28575" tIns="9525" rIns="28575" bIns="9525" anchor="ctr">
            <a:spAutoFit/>
          </a:bodyPr>
          <a:lstStyle/>
          <a:p>
            <a:pPr algn="ctr"/>
            <a:endParaRPr/>
          </a:p>
        </p:txBody>
      </p:sp>
      <p:sp>
        <p:nvSpPr>
          <p:cNvPr id="50" name="TextBox 49"/>
          <p:cNvSpPr txBox="1"/>
          <p:nvPr/>
        </p:nvSpPr>
        <p:spPr>
          <a:xfrm>
            <a:off x="3000375" y="6031714"/>
            <a:ext cx="1314450" cy="285750"/>
          </a:xfrm>
          <a:prstGeom prst="rect">
            <a:avLst/>
          </a:prstGeom>
          <a:noFill/>
        </p:spPr>
        <p:txBody>
          <a:bodyPr wrap="square" lIns="28575" tIns="9525" rIns="28575" bIns="9525" anchor="ctr">
            <a:spAutoFit/>
          </a:bodyPr>
          <a:lstStyle/>
          <a:p>
            <a:pPr algn="ctr"/>
            <a:endParaRPr/>
          </a:p>
        </p:txBody>
      </p:sp>
      <p:sp>
        <p:nvSpPr>
          <p:cNvPr id="51" name="TextBox 50"/>
          <p:cNvSpPr txBox="1"/>
          <p:nvPr/>
        </p:nvSpPr>
        <p:spPr>
          <a:xfrm>
            <a:off x="1768419" y="5631427"/>
            <a:ext cx="1314450" cy="285750"/>
          </a:xfrm>
          <a:prstGeom prst="rect">
            <a:avLst/>
          </a:prstGeom>
          <a:noFill/>
        </p:spPr>
        <p:txBody>
          <a:bodyPr wrap="square" lIns="28575" tIns="9525" rIns="28575" bIns="9525" anchor="ctr">
            <a:spAutoFit/>
          </a:bodyPr>
          <a:lstStyle/>
          <a:p>
            <a:pPr algn="ctr"/>
            <a:endParaRPr/>
          </a:p>
        </p:txBody>
      </p:sp>
      <p:sp>
        <p:nvSpPr>
          <p:cNvPr id="52" name="TextBox 51"/>
          <p:cNvSpPr txBox="1"/>
          <p:nvPr/>
        </p:nvSpPr>
        <p:spPr>
          <a:xfrm>
            <a:off x="1007028" y="4583463"/>
            <a:ext cx="1314450" cy="285750"/>
          </a:xfrm>
          <a:prstGeom prst="rect">
            <a:avLst/>
          </a:prstGeom>
          <a:noFill/>
        </p:spPr>
        <p:txBody>
          <a:bodyPr wrap="square" lIns="28575" tIns="9525" rIns="28575" bIns="9525" anchor="ctr">
            <a:spAutoFit/>
          </a:bodyPr>
          <a:lstStyle/>
          <a:p>
            <a:pPr algn="ctr"/>
            <a:endParaRPr/>
          </a:p>
        </p:txBody>
      </p:sp>
      <p:sp>
        <p:nvSpPr>
          <p:cNvPr id="53" name="TextBox 52"/>
          <p:cNvSpPr txBox="1"/>
          <p:nvPr/>
        </p:nvSpPr>
        <p:spPr>
          <a:xfrm>
            <a:off x="1007028" y="3288108"/>
            <a:ext cx="1314450" cy="285750"/>
          </a:xfrm>
          <a:prstGeom prst="rect">
            <a:avLst/>
          </a:prstGeom>
          <a:noFill/>
        </p:spPr>
        <p:txBody>
          <a:bodyPr wrap="square" lIns="28575" tIns="9525" rIns="28575" bIns="9525" anchor="ctr">
            <a:spAutoFit/>
          </a:bodyPr>
          <a:lstStyle/>
          <a:p>
            <a:pPr algn="ctr"/>
            <a:endParaRPr/>
          </a:p>
        </p:txBody>
      </p:sp>
      <p:sp>
        <p:nvSpPr>
          <p:cNvPr id="54" name="TextBox 53"/>
          <p:cNvSpPr txBox="1"/>
          <p:nvPr/>
        </p:nvSpPr>
        <p:spPr>
          <a:xfrm>
            <a:off x="1768419" y="2240143"/>
            <a:ext cx="1314450" cy="285750"/>
          </a:xfrm>
          <a:prstGeom prst="rect">
            <a:avLst/>
          </a:prstGeom>
          <a:noFill/>
        </p:spPr>
        <p:txBody>
          <a:bodyPr wrap="square" lIns="28575" tIns="9525" rIns="28575" bIns="9525" anchor="ctr">
            <a:spAutoFit/>
          </a:bodyPr>
          <a:lstStyle/>
          <a:p>
            <a:pPr algn="ctr"/>
            <a:endParaRP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7381875" y="1439806"/>
            <a:ext cx="453390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TextBox 57"/>
          <p:cNvSpPr txBox="1"/>
          <p:nvPr/>
        </p:nvSpPr>
        <p:spPr>
          <a:xfrm>
            <a:off x="7381875" y="1763656"/>
            <a:ext cx="4533900" cy="2993668"/>
          </a:xfrm>
          <a:prstGeom prst="rect">
            <a:avLst/>
          </a:prstGeom>
          <a:noFill/>
        </p:spPr>
        <p:txBody>
          <a:bodyPr wrap="square" lIns="0" tIns="9525" rIns="19050"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Corrugated Partition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Corrugated Partition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7381875" y="5028771"/>
            <a:ext cx="4533900" cy="209550"/>
          </a:xfrm>
          <a:prstGeom prst="rect">
            <a:avLst/>
          </a:prstGeom>
          <a:noFill/>
        </p:spPr>
        <p:txBody>
          <a:bodyPr wrap="square" lIns="0" tIns="9525" rIns="19050"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7381875" y="5352621"/>
            <a:ext cx="4533900" cy="1200579"/>
          </a:xfrm>
          <a:prstGeom prst="rect">
            <a:avLst/>
          </a:prstGeom>
          <a:noFill/>
        </p:spPr>
        <p:txBody>
          <a:bodyPr wrap="square" lIns="0" tIns="9525" rIns="19050" bIns="9525">
            <a:spAutoFit/>
          </a:bodyPr>
          <a:lstStyle/>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p:txBody>
      </p:sp>
      <p:sp>
        <p:nvSpPr>
          <p:cNvPr id="63" name="TextBox 6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3288771" y="1898910"/>
            <a:ext cx="659829" cy="186689"/>
          </a:xfrm>
          <a:prstGeom prst="rect">
            <a:avLst/>
          </a:prstGeom>
          <a:noFill/>
        </p:spPr>
        <p:txBody>
          <a:bodyPr wrap="none" lIns="0" tIns="0" rIns="0" bIns="0">
            <a:spAutoFit/>
          </a:bodyPr>
          <a:lstStyle/>
          <a:p>
            <a:r>
              <a:rPr sz="1100" b="0">
                <a:solidFill>
                  <a:srgbClr val="2E2E2E"/>
                </a:solidFill>
                <a:latin typeface="Calibri"/>
              </a:rPr>
              <a:t>Input Cost</a:t>
            </a:r>
          </a:p>
        </p:txBody>
      </p:sp>
      <p:pic>
        <p:nvPicPr>
          <p:cNvPr id="65" name="Picture 64" descr="lock.png"/>
          <p:cNvPicPr>
            <a:picLocks noChangeAspect="1"/>
          </p:cNvPicPr>
          <p:nvPr/>
        </p:nvPicPr>
        <p:blipFill>
          <a:blip r:embed="rId4"/>
          <a:stretch>
            <a:fillRect/>
          </a:stretch>
        </p:blipFill>
        <p:spPr>
          <a:xfrm>
            <a:off x="3896652" y="1889132"/>
            <a:ext cx="128699" cy="187198"/>
          </a:xfrm>
          <a:prstGeom prst="rect">
            <a:avLst/>
          </a:prstGeom>
        </p:spPr>
      </p:pic>
      <p:sp>
        <p:nvSpPr>
          <p:cNvPr id="66" name="TextBox 65"/>
          <p:cNvSpPr txBox="1"/>
          <p:nvPr/>
        </p:nvSpPr>
        <p:spPr>
          <a:xfrm>
            <a:off x="4314683" y="2322667"/>
            <a:ext cx="1115044" cy="139750"/>
          </a:xfrm>
          <a:prstGeom prst="rect">
            <a:avLst/>
          </a:prstGeom>
          <a:noFill/>
        </p:spPr>
        <p:txBody>
          <a:bodyPr wrap="none" lIns="0" tIns="0" rIns="0" bIns="0">
            <a:spAutoFit/>
          </a:bodyPr>
          <a:lstStyle/>
          <a:p>
            <a:r>
              <a:rPr sz="791" b="0">
                <a:solidFill>
                  <a:srgbClr val="2E2E2E"/>
                </a:solidFill>
                <a:latin typeface="Calibri"/>
              </a:rPr>
              <a:t>Labor &amp; Production Costs</a:t>
            </a:r>
          </a:p>
        </p:txBody>
      </p:sp>
      <p:pic>
        <p:nvPicPr>
          <p:cNvPr id="67" name="Picture 66" descr="lock.png"/>
          <p:cNvPicPr>
            <a:picLocks noChangeAspect="1"/>
          </p:cNvPicPr>
          <p:nvPr/>
        </p:nvPicPr>
        <p:blipFill>
          <a:blip r:embed="rId4"/>
          <a:stretch>
            <a:fillRect/>
          </a:stretch>
        </p:blipFill>
        <p:spPr>
          <a:xfrm>
            <a:off x="5370988" y="2315626"/>
            <a:ext cx="92663" cy="134782"/>
          </a:xfrm>
          <a:prstGeom prst="rect">
            <a:avLst/>
          </a:prstGeom>
        </p:spPr>
      </p:pic>
      <p:sp>
        <p:nvSpPr>
          <p:cNvPr id="68" name="TextBox 67"/>
          <p:cNvSpPr txBox="1"/>
          <p:nvPr/>
        </p:nvSpPr>
        <p:spPr>
          <a:xfrm>
            <a:off x="5083343" y="3370632"/>
            <a:ext cx="1100506" cy="139750"/>
          </a:xfrm>
          <a:prstGeom prst="rect">
            <a:avLst/>
          </a:prstGeom>
          <a:noFill/>
        </p:spPr>
        <p:txBody>
          <a:bodyPr wrap="none" lIns="0" tIns="0" rIns="0" bIns="0">
            <a:spAutoFit/>
          </a:bodyPr>
          <a:lstStyle/>
          <a:p>
            <a:r>
              <a:rPr sz="791" b="0">
                <a:solidFill>
                  <a:srgbClr val="2E2E2E"/>
                </a:solidFill>
                <a:latin typeface="Calibri"/>
              </a:rPr>
              <a:t>Technology &amp; Innovation</a:t>
            </a:r>
          </a:p>
        </p:txBody>
      </p:sp>
      <p:pic>
        <p:nvPicPr>
          <p:cNvPr id="69" name="Picture 68" descr="lock.png"/>
          <p:cNvPicPr>
            <a:picLocks noChangeAspect="1"/>
          </p:cNvPicPr>
          <p:nvPr/>
        </p:nvPicPr>
        <p:blipFill>
          <a:blip r:embed="rId4"/>
          <a:stretch>
            <a:fillRect/>
          </a:stretch>
        </p:blipFill>
        <p:spPr>
          <a:xfrm>
            <a:off x="6125111" y="3363591"/>
            <a:ext cx="92663" cy="134782"/>
          </a:xfrm>
          <a:prstGeom prst="rect">
            <a:avLst/>
          </a:prstGeom>
        </p:spPr>
      </p:pic>
      <p:sp>
        <p:nvSpPr>
          <p:cNvPr id="70" name="TextBox 69"/>
          <p:cNvSpPr txBox="1"/>
          <p:nvPr/>
        </p:nvSpPr>
        <p:spPr>
          <a:xfrm>
            <a:off x="5072546" y="4662634"/>
            <a:ext cx="1115939" cy="146456"/>
          </a:xfrm>
          <a:prstGeom prst="rect">
            <a:avLst/>
          </a:prstGeom>
          <a:noFill/>
        </p:spPr>
        <p:txBody>
          <a:bodyPr wrap="none" lIns="0" tIns="0" rIns="0" bIns="0">
            <a:spAutoFit/>
          </a:bodyPr>
          <a:lstStyle/>
          <a:p>
            <a:r>
              <a:rPr sz="835" b="0">
                <a:solidFill>
                  <a:srgbClr val="2E2E2E"/>
                </a:solidFill>
                <a:latin typeface="Calibri"/>
              </a:rPr>
              <a:t>Supply Chain &amp; Logistics</a:t>
            </a:r>
          </a:p>
        </p:txBody>
      </p:sp>
      <p:pic>
        <p:nvPicPr>
          <p:cNvPr id="71" name="Picture 70" descr="lock.png"/>
          <p:cNvPicPr>
            <a:picLocks noChangeAspect="1"/>
          </p:cNvPicPr>
          <p:nvPr/>
        </p:nvPicPr>
        <p:blipFill>
          <a:blip r:embed="rId4"/>
          <a:stretch>
            <a:fillRect/>
          </a:stretch>
        </p:blipFill>
        <p:spPr>
          <a:xfrm>
            <a:off x="6130716" y="4655202"/>
            <a:ext cx="97811" cy="142270"/>
          </a:xfrm>
          <a:prstGeom prst="rect">
            <a:avLst/>
          </a:prstGeom>
        </p:spPr>
      </p:pic>
      <p:sp>
        <p:nvSpPr>
          <p:cNvPr id="72" name="TextBox 71"/>
          <p:cNvSpPr txBox="1"/>
          <p:nvPr/>
        </p:nvSpPr>
        <p:spPr>
          <a:xfrm>
            <a:off x="4279667" y="5653601"/>
            <a:ext cx="1238538" cy="139750"/>
          </a:xfrm>
          <a:prstGeom prst="rect">
            <a:avLst/>
          </a:prstGeom>
          <a:noFill/>
        </p:spPr>
        <p:txBody>
          <a:bodyPr wrap="none" lIns="0" tIns="0" rIns="0" bIns="0">
            <a:spAutoFit/>
          </a:bodyPr>
          <a:lstStyle/>
          <a:p>
            <a:r>
              <a:rPr sz="791" b="0">
                <a:solidFill>
                  <a:srgbClr val="2E2E2E"/>
                </a:solidFill>
                <a:latin typeface="Calibri"/>
              </a:rPr>
              <a:t>Demand &amp; Market Conditions</a:t>
            </a:r>
          </a:p>
        </p:txBody>
      </p:sp>
      <p:pic>
        <p:nvPicPr>
          <p:cNvPr id="73" name="Picture 72" descr="lock.png"/>
          <p:cNvPicPr>
            <a:picLocks noChangeAspect="1"/>
          </p:cNvPicPr>
          <p:nvPr/>
        </p:nvPicPr>
        <p:blipFill>
          <a:blip r:embed="rId4"/>
          <a:stretch>
            <a:fillRect/>
          </a:stretch>
        </p:blipFill>
        <p:spPr>
          <a:xfrm>
            <a:off x="4837988" y="5767261"/>
            <a:ext cx="92663" cy="134782"/>
          </a:xfrm>
          <a:prstGeom prst="rect">
            <a:avLst/>
          </a:prstGeom>
        </p:spPr>
      </p:pic>
      <p:sp>
        <p:nvSpPr>
          <p:cNvPr id="74" name="TextBox 73"/>
          <p:cNvSpPr txBox="1"/>
          <p:nvPr/>
        </p:nvSpPr>
        <p:spPr>
          <a:xfrm>
            <a:off x="3097033" y="6110885"/>
            <a:ext cx="1080271" cy="146456"/>
          </a:xfrm>
          <a:prstGeom prst="rect">
            <a:avLst/>
          </a:prstGeom>
          <a:noFill/>
        </p:spPr>
        <p:txBody>
          <a:bodyPr wrap="none" lIns="0" tIns="0" rIns="0" bIns="0">
            <a:spAutoFit/>
          </a:bodyPr>
          <a:lstStyle/>
          <a:p>
            <a:r>
              <a:rPr sz="835" b="0">
                <a:solidFill>
                  <a:srgbClr val="2E2E2E"/>
                </a:solidFill>
                <a:latin typeface="Calibri"/>
              </a:rPr>
              <a:t>Competitive Landscape</a:t>
            </a:r>
          </a:p>
        </p:txBody>
      </p:sp>
      <p:pic>
        <p:nvPicPr>
          <p:cNvPr id="75" name="Picture 74" descr="lock.png"/>
          <p:cNvPicPr>
            <a:picLocks noChangeAspect="1"/>
          </p:cNvPicPr>
          <p:nvPr/>
        </p:nvPicPr>
        <p:blipFill>
          <a:blip r:embed="rId4"/>
          <a:stretch>
            <a:fillRect/>
          </a:stretch>
        </p:blipFill>
        <p:spPr>
          <a:xfrm>
            <a:off x="4119536" y="6103453"/>
            <a:ext cx="97811" cy="142270"/>
          </a:xfrm>
          <a:prstGeom prst="rect">
            <a:avLst/>
          </a:prstGeom>
        </p:spPr>
      </p:pic>
      <p:sp>
        <p:nvSpPr>
          <p:cNvPr id="76" name="TextBox 75"/>
          <p:cNvSpPr txBox="1"/>
          <p:nvPr/>
        </p:nvSpPr>
        <p:spPr>
          <a:xfrm>
            <a:off x="1906713" y="5653601"/>
            <a:ext cx="1114061" cy="139750"/>
          </a:xfrm>
          <a:prstGeom prst="rect">
            <a:avLst/>
          </a:prstGeom>
          <a:noFill/>
        </p:spPr>
        <p:txBody>
          <a:bodyPr wrap="none" lIns="0" tIns="0" rIns="0" bIns="0">
            <a:spAutoFit/>
          </a:bodyPr>
          <a:lstStyle/>
          <a:p>
            <a:r>
              <a:rPr sz="791" b="0">
                <a:solidFill>
                  <a:srgbClr val="2E2E2E"/>
                </a:solidFill>
                <a:latin typeface="Calibri"/>
              </a:rPr>
              <a:t>Regulatory &amp; Compliance</a:t>
            </a:r>
          </a:p>
        </p:txBody>
      </p:sp>
      <p:sp>
        <p:nvSpPr>
          <p:cNvPr id="77" name="TextBox 76"/>
          <p:cNvSpPr txBox="1"/>
          <p:nvPr/>
        </p:nvSpPr>
        <p:spPr>
          <a:xfrm>
            <a:off x="2260671" y="5774302"/>
            <a:ext cx="295245" cy="139750"/>
          </a:xfrm>
          <a:prstGeom prst="rect">
            <a:avLst/>
          </a:prstGeom>
          <a:noFill/>
        </p:spPr>
        <p:txBody>
          <a:bodyPr wrap="none" lIns="0" tIns="0" rIns="0" bIns="0">
            <a:spAutoFit/>
          </a:bodyPr>
          <a:lstStyle/>
          <a:p>
            <a:r>
              <a:rPr sz="791" b="0">
                <a:solidFill>
                  <a:srgbClr val="2E2E2E"/>
                </a:solidFill>
                <a:latin typeface="Calibri"/>
              </a:rPr>
              <a:t>Costs</a:t>
            </a:r>
          </a:p>
        </p:txBody>
      </p:sp>
      <p:pic>
        <p:nvPicPr>
          <p:cNvPr id="78" name="Picture 77" descr="lock.png"/>
          <p:cNvPicPr>
            <a:picLocks noChangeAspect="1"/>
          </p:cNvPicPr>
          <p:nvPr/>
        </p:nvPicPr>
        <p:blipFill>
          <a:blip r:embed="rId4"/>
          <a:stretch>
            <a:fillRect/>
          </a:stretch>
        </p:blipFill>
        <p:spPr>
          <a:xfrm>
            <a:off x="2497177" y="5767261"/>
            <a:ext cx="92663" cy="134782"/>
          </a:xfrm>
          <a:prstGeom prst="rect">
            <a:avLst/>
          </a:prstGeom>
        </p:spPr>
      </p:pic>
      <p:sp>
        <p:nvSpPr>
          <p:cNvPr id="79" name="TextBox 78"/>
          <p:cNvSpPr txBox="1"/>
          <p:nvPr/>
        </p:nvSpPr>
        <p:spPr>
          <a:xfrm>
            <a:off x="1097191" y="4605637"/>
            <a:ext cx="1195711" cy="139750"/>
          </a:xfrm>
          <a:prstGeom prst="rect">
            <a:avLst/>
          </a:prstGeom>
          <a:noFill/>
        </p:spPr>
        <p:txBody>
          <a:bodyPr wrap="none" lIns="0" tIns="0" rIns="0" bIns="0">
            <a:spAutoFit/>
          </a:bodyPr>
          <a:lstStyle/>
          <a:p>
            <a:r>
              <a:rPr sz="791" b="0">
                <a:solidFill>
                  <a:srgbClr val="2E2E2E"/>
                </a:solidFill>
                <a:latin typeface="Calibri"/>
              </a:rPr>
              <a:t>Currency &amp; Trade Dynamics</a:t>
            </a:r>
          </a:p>
        </p:txBody>
      </p:sp>
      <p:pic>
        <p:nvPicPr>
          <p:cNvPr id="80" name="Picture 79" descr="lock.png"/>
          <p:cNvPicPr>
            <a:picLocks noChangeAspect="1"/>
          </p:cNvPicPr>
          <p:nvPr/>
        </p:nvPicPr>
        <p:blipFill>
          <a:blip r:embed="rId4"/>
          <a:stretch>
            <a:fillRect/>
          </a:stretch>
        </p:blipFill>
        <p:spPr>
          <a:xfrm>
            <a:off x="1612685" y="4719297"/>
            <a:ext cx="92663" cy="134782"/>
          </a:xfrm>
          <a:prstGeom prst="rect">
            <a:avLst/>
          </a:prstGeom>
        </p:spPr>
      </p:pic>
      <p:sp>
        <p:nvSpPr>
          <p:cNvPr id="81" name="TextBox 80"/>
          <p:cNvSpPr txBox="1"/>
          <p:nvPr/>
        </p:nvSpPr>
        <p:spPr>
          <a:xfrm>
            <a:off x="1079852" y="3370632"/>
            <a:ext cx="1134100" cy="139750"/>
          </a:xfrm>
          <a:prstGeom prst="rect">
            <a:avLst/>
          </a:prstGeom>
          <a:noFill/>
        </p:spPr>
        <p:txBody>
          <a:bodyPr wrap="none" lIns="0" tIns="0" rIns="0" bIns="0">
            <a:spAutoFit/>
          </a:bodyPr>
          <a:lstStyle/>
          <a:p>
            <a:r>
              <a:rPr sz="791" b="0">
                <a:solidFill>
                  <a:srgbClr val="2E2E2E"/>
                </a:solidFill>
                <a:latin typeface="Calibri"/>
              </a:rPr>
              <a:t>Brand &amp; Value Perception</a:t>
            </a:r>
          </a:p>
        </p:txBody>
      </p:sp>
      <p:pic>
        <p:nvPicPr>
          <p:cNvPr id="82" name="Picture 81" descr="lock.png"/>
          <p:cNvPicPr>
            <a:picLocks noChangeAspect="1"/>
          </p:cNvPicPr>
          <p:nvPr/>
        </p:nvPicPr>
        <p:blipFill>
          <a:blip r:embed="rId4"/>
          <a:stretch>
            <a:fillRect/>
          </a:stretch>
        </p:blipFill>
        <p:spPr>
          <a:xfrm>
            <a:off x="2155213" y="3363591"/>
            <a:ext cx="92663" cy="134782"/>
          </a:xfrm>
          <a:prstGeom prst="rect">
            <a:avLst/>
          </a:prstGeom>
        </p:spPr>
      </p:pic>
      <p:sp>
        <p:nvSpPr>
          <p:cNvPr id="83" name="TextBox 82"/>
          <p:cNvSpPr txBox="1"/>
          <p:nvPr/>
        </p:nvSpPr>
        <p:spPr>
          <a:xfrm>
            <a:off x="1850723" y="2262317"/>
            <a:ext cx="1203570" cy="139750"/>
          </a:xfrm>
          <a:prstGeom prst="rect">
            <a:avLst/>
          </a:prstGeom>
          <a:noFill/>
        </p:spPr>
        <p:txBody>
          <a:bodyPr wrap="none" lIns="0" tIns="0" rIns="0" bIns="0">
            <a:spAutoFit/>
          </a:bodyPr>
          <a:lstStyle/>
          <a:p>
            <a:r>
              <a:rPr sz="791" b="0">
                <a:solidFill>
                  <a:srgbClr val="2E2E2E"/>
                </a:solidFill>
                <a:latin typeface="Calibri"/>
              </a:rPr>
              <a:t>Aftermarket &amp; Service Costs</a:t>
            </a:r>
          </a:p>
        </p:txBody>
      </p:sp>
      <p:pic>
        <p:nvPicPr>
          <p:cNvPr id="84" name="Picture 83" descr="lock.png"/>
          <p:cNvPicPr>
            <a:picLocks noChangeAspect="1"/>
          </p:cNvPicPr>
          <p:nvPr/>
        </p:nvPicPr>
        <p:blipFill>
          <a:blip r:embed="rId4"/>
          <a:stretch>
            <a:fillRect/>
          </a:stretch>
        </p:blipFill>
        <p:spPr>
          <a:xfrm>
            <a:off x="2374076" y="2375977"/>
            <a:ext cx="92663" cy="134782"/>
          </a:xfrm>
          <a:prstGeom prst="rect">
            <a:avLst/>
          </a:prstGeom>
        </p:spPr>
      </p:pic>
      <p:sp>
        <p:nvSpPr>
          <p:cNvPr id="85" name="TextBox 84"/>
          <p:cNvSpPr txBox="1"/>
          <p:nvPr/>
        </p:nvSpPr>
        <p:spPr>
          <a:xfrm>
            <a:off x="7381875" y="5362146"/>
            <a:ext cx="740866" cy="186689"/>
          </a:xfrm>
          <a:prstGeom prst="rect">
            <a:avLst/>
          </a:prstGeom>
          <a:noFill/>
        </p:spPr>
        <p:txBody>
          <a:bodyPr wrap="none" lIns="0" tIns="0" rIns="0" bIns="0">
            <a:spAutoFit/>
          </a:bodyPr>
          <a:lstStyle/>
          <a:p>
            <a:r>
              <a:rPr sz="1100" b="0">
                <a:solidFill>
                  <a:srgbClr val="2E2E2E"/>
                </a:solidFill>
                <a:latin typeface="Calibri"/>
              </a:rPr>
              <a:t>▪ Input Cost</a:t>
            </a:r>
          </a:p>
        </p:txBody>
      </p:sp>
      <p:pic>
        <p:nvPicPr>
          <p:cNvPr id="86" name="Picture 85" descr="lock.png"/>
          <p:cNvPicPr>
            <a:picLocks noChangeAspect="1"/>
          </p:cNvPicPr>
          <p:nvPr/>
        </p:nvPicPr>
        <p:blipFill>
          <a:blip r:embed="rId4"/>
          <a:stretch>
            <a:fillRect/>
          </a:stretch>
        </p:blipFill>
        <p:spPr>
          <a:xfrm>
            <a:off x="8070793" y="5352366"/>
            <a:ext cx="128699" cy="187198"/>
          </a:xfrm>
          <a:prstGeom prst="rect">
            <a:avLst/>
          </a:prstGeom>
        </p:spPr>
      </p:pic>
      <p:sp>
        <p:nvSpPr>
          <p:cNvPr id="87" name="TextBox 86"/>
          <p:cNvSpPr txBox="1"/>
          <p:nvPr/>
        </p:nvSpPr>
        <p:spPr>
          <a:xfrm>
            <a:off x="8238288" y="5362146"/>
            <a:ext cx="1744141" cy="186689"/>
          </a:xfrm>
          <a:prstGeom prst="rect">
            <a:avLst/>
          </a:prstGeom>
          <a:noFill/>
        </p:spPr>
        <p:txBody>
          <a:bodyPr wrap="none" lIns="0" tIns="0" rIns="0" bIns="0">
            <a:spAutoFit/>
          </a:bodyPr>
          <a:lstStyle/>
          <a:p>
            <a:r>
              <a:rPr sz="1100" b="0">
                <a:solidFill>
                  <a:srgbClr val="2E2E2E"/>
                </a:solidFill>
                <a:latin typeface="Calibri"/>
              </a:rPr>
              <a:t>/ 10 · dominant cost pressure</a:t>
            </a:r>
          </a:p>
        </p:txBody>
      </p:sp>
      <p:sp>
        <p:nvSpPr>
          <p:cNvPr id="88" name="TextBox 87"/>
          <p:cNvSpPr txBox="1"/>
          <p:nvPr/>
        </p:nvSpPr>
        <p:spPr>
          <a:xfrm>
            <a:off x="7381875" y="5580078"/>
            <a:ext cx="1851372" cy="186689"/>
          </a:xfrm>
          <a:prstGeom prst="rect">
            <a:avLst/>
          </a:prstGeom>
          <a:noFill/>
        </p:spPr>
        <p:txBody>
          <a:bodyPr wrap="none" lIns="0" tIns="0" rIns="0" bIns="0">
            <a:spAutoFit/>
          </a:bodyPr>
          <a:lstStyle/>
          <a:p>
            <a:r>
              <a:rPr sz="1100" b="0">
                <a:solidFill>
                  <a:srgbClr val="2E2E2E"/>
                </a:solidFill>
                <a:latin typeface="Calibri"/>
              </a:rPr>
              <a:t>▪ Demand &amp; Market Conditions</a:t>
            </a:r>
          </a:p>
        </p:txBody>
      </p:sp>
      <p:pic>
        <p:nvPicPr>
          <p:cNvPr id="89" name="Picture 88" descr="lock.png"/>
          <p:cNvPicPr>
            <a:picLocks noChangeAspect="1"/>
          </p:cNvPicPr>
          <p:nvPr/>
        </p:nvPicPr>
        <p:blipFill>
          <a:blip r:embed="rId4"/>
          <a:stretch>
            <a:fillRect/>
          </a:stretch>
        </p:blipFill>
        <p:spPr>
          <a:xfrm>
            <a:off x="9181298" y="5570298"/>
            <a:ext cx="128699" cy="187198"/>
          </a:xfrm>
          <a:prstGeom prst="rect">
            <a:avLst/>
          </a:prstGeom>
        </p:spPr>
      </p:pic>
      <p:sp>
        <p:nvSpPr>
          <p:cNvPr id="90" name="TextBox 89"/>
          <p:cNvSpPr txBox="1"/>
          <p:nvPr/>
        </p:nvSpPr>
        <p:spPr>
          <a:xfrm>
            <a:off x="9348794" y="5580078"/>
            <a:ext cx="1527224" cy="186689"/>
          </a:xfrm>
          <a:prstGeom prst="rect">
            <a:avLst/>
          </a:prstGeom>
          <a:noFill/>
        </p:spPr>
        <p:txBody>
          <a:bodyPr wrap="none" lIns="0" tIns="0" rIns="0" bIns="0">
            <a:spAutoFit/>
          </a:bodyPr>
          <a:lstStyle/>
          <a:p>
            <a:r>
              <a:rPr sz="1100" b="0">
                <a:solidFill>
                  <a:srgbClr val="2E2E2E"/>
                </a:solidFill>
                <a:latin typeface="Calibri"/>
              </a:rPr>
              <a:t>/ 10 · major cost pressure</a:t>
            </a:r>
          </a:p>
        </p:txBody>
      </p:sp>
      <p:sp>
        <p:nvSpPr>
          <p:cNvPr id="91" name="TextBox 90"/>
          <p:cNvSpPr txBox="1"/>
          <p:nvPr/>
        </p:nvSpPr>
        <p:spPr>
          <a:xfrm>
            <a:off x="7381875" y="5798010"/>
            <a:ext cx="1478384" cy="186689"/>
          </a:xfrm>
          <a:prstGeom prst="rect">
            <a:avLst/>
          </a:prstGeom>
          <a:noFill/>
        </p:spPr>
        <p:txBody>
          <a:bodyPr wrap="none" lIns="0" tIns="0" rIns="0" bIns="0">
            <a:spAutoFit/>
          </a:bodyPr>
          <a:lstStyle/>
          <a:p>
            <a:r>
              <a:rPr sz="1100" b="0">
                <a:solidFill>
                  <a:srgbClr val="2E2E2E"/>
                </a:solidFill>
                <a:latin typeface="Calibri"/>
              </a:rPr>
              <a:t>▪ Competitive Landscape</a:t>
            </a:r>
          </a:p>
        </p:txBody>
      </p:sp>
      <p:pic>
        <p:nvPicPr>
          <p:cNvPr id="92" name="Picture 91" descr="lock.png"/>
          <p:cNvPicPr>
            <a:picLocks noChangeAspect="1"/>
          </p:cNvPicPr>
          <p:nvPr/>
        </p:nvPicPr>
        <p:blipFill>
          <a:blip r:embed="rId4"/>
          <a:stretch>
            <a:fillRect/>
          </a:stretch>
        </p:blipFill>
        <p:spPr>
          <a:xfrm>
            <a:off x="8808310" y="5788230"/>
            <a:ext cx="128699" cy="187198"/>
          </a:xfrm>
          <a:prstGeom prst="rect">
            <a:avLst/>
          </a:prstGeom>
        </p:spPr>
      </p:pic>
      <p:sp>
        <p:nvSpPr>
          <p:cNvPr id="93" name="TextBox 92"/>
          <p:cNvSpPr txBox="1"/>
          <p:nvPr/>
        </p:nvSpPr>
        <p:spPr>
          <a:xfrm>
            <a:off x="8975806" y="5798010"/>
            <a:ext cx="1330225" cy="186689"/>
          </a:xfrm>
          <a:prstGeom prst="rect">
            <a:avLst/>
          </a:prstGeom>
          <a:noFill/>
        </p:spPr>
        <p:txBody>
          <a:bodyPr wrap="none" lIns="0" tIns="0" rIns="0" bIns="0">
            <a:spAutoFit/>
          </a:bodyPr>
          <a:lstStyle/>
          <a:p>
            <a:r>
              <a:rPr sz="1100" b="0">
                <a:solidFill>
                  <a:srgbClr val="2E2E2E"/>
                </a:solidFill>
                <a:latin typeface="Calibri"/>
              </a:rPr>
              <a:t>/ 10 · key pricing lever</a:t>
            </a:r>
          </a:p>
        </p:txBody>
      </p:sp>
      <p:sp>
        <p:nvSpPr>
          <p:cNvPr id="94" name="TextBox 93"/>
          <p:cNvSpPr txBox="1"/>
          <p:nvPr/>
        </p:nvSpPr>
        <p:spPr>
          <a:xfrm>
            <a:off x="7381875" y="6015942"/>
            <a:ext cx="1525314" cy="186689"/>
          </a:xfrm>
          <a:prstGeom prst="rect">
            <a:avLst/>
          </a:prstGeom>
          <a:noFill/>
        </p:spPr>
        <p:txBody>
          <a:bodyPr wrap="none" lIns="0" tIns="0" rIns="0" bIns="0">
            <a:spAutoFit/>
          </a:bodyPr>
          <a:lstStyle/>
          <a:p>
            <a:r>
              <a:rPr sz="1100" b="0">
                <a:solidFill>
                  <a:srgbClr val="2E2E2E"/>
                </a:solidFill>
                <a:latin typeface="Calibri"/>
              </a:rPr>
              <a:t>▪ Supply Chain &amp; Logistics</a:t>
            </a:r>
          </a:p>
        </p:txBody>
      </p:sp>
      <p:pic>
        <p:nvPicPr>
          <p:cNvPr id="95" name="Picture 94" descr="lock.png"/>
          <p:cNvPicPr>
            <a:picLocks noChangeAspect="1"/>
          </p:cNvPicPr>
          <p:nvPr/>
        </p:nvPicPr>
        <p:blipFill>
          <a:blip r:embed="rId4"/>
          <a:stretch>
            <a:fillRect/>
          </a:stretch>
        </p:blipFill>
        <p:spPr>
          <a:xfrm>
            <a:off x="8855241" y="6006162"/>
            <a:ext cx="128699" cy="187198"/>
          </a:xfrm>
          <a:prstGeom prst="rect">
            <a:avLst/>
          </a:prstGeom>
        </p:spPr>
      </p:pic>
      <p:sp>
        <p:nvSpPr>
          <p:cNvPr id="96" name="TextBox 95"/>
          <p:cNvSpPr txBox="1"/>
          <p:nvPr/>
        </p:nvSpPr>
        <p:spPr>
          <a:xfrm>
            <a:off x="9022737" y="6015942"/>
            <a:ext cx="1330225" cy="186689"/>
          </a:xfrm>
          <a:prstGeom prst="rect">
            <a:avLst/>
          </a:prstGeom>
          <a:noFill/>
        </p:spPr>
        <p:txBody>
          <a:bodyPr wrap="none" lIns="0" tIns="0" rIns="0" bIns="0">
            <a:spAutoFit/>
          </a:bodyPr>
          <a:lstStyle/>
          <a:p>
            <a:r>
              <a:rPr sz="1100" b="0">
                <a:solidFill>
                  <a:srgbClr val="2E2E2E"/>
                </a:solidFill>
                <a:latin typeface="Calibri"/>
              </a:rPr>
              <a:t>/ 10 · key pricing lever</a:t>
            </a:r>
          </a:p>
        </p:txBody>
      </p:sp>
      <p:sp>
        <p:nvSpPr>
          <p:cNvPr id="97" name="TextBox 96"/>
          <p:cNvSpPr txBox="1"/>
          <p:nvPr/>
        </p:nvSpPr>
        <p:spPr>
          <a:xfrm>
            <a:off x="7381875" y="6233874"/>
            <a:ext cx="1600075" cy="186689"/>
          </a:xfrm>
          <a:prstGeom prst="rect">
            <a:avLst/>
          </a:prstGeom>
          <a:noFill/>
        </p:spPr>
        <p:txBody>
          <a:bodyPr wrap="none" lIns="0" tIns="0" rIns="0" bIns="0">
            <a:spAutoFit/>
          </a:bodyPr>
          <a:lstStyle/>
          <a:p>
            <a:r>
              <a:rPr sz="1100" b="0">
                <a:solidFill>
                  <a:srgbClr val="2E2E2E"/>
                </a:solidFill>
                <a:latin typeface="Calibri"/>
              </a:rPr>
              <a:t>▪ Labor &amp; Production Costs</a:t>
            </a:r>
          </a:p>
        </p:txBody>
      </p:sp>
      <p:pic>
        <p:nvPicPr>
          <p:cNvPr id="98" name="Picture 97" descr="lock.png"/>
          <p:cNvPicPr>
            <a:picLocks noChangeAspect="1"/>
          </p:cNvPicPr>
          <p:nvPr/>
        </p:nvPicPr>
        <p:blipFill>
          <a:blip r:embed="rId4"/>
          <a:stretch>
            <a:fillRect/>
          </a:stretch>
        </p:blipFill>
        <p:spPr>
          <a:xfrm>
            <a:off x="8930002" y="6224094"/>
            <a:ext cx="128699" cy="187198"/>
          </a:xfrm>
          <a:prstGeom prst="rect">
            <a:avLst/>
          </a:prstGeom>
        </p:spPr>
      </p:pic>
      <p:sp>
        <p:nvSpPr>
          <p:cNvPr id="99" name="TextBox 98"/>
          <p:cNvSpPr txBox="1"/>
          <p:nvPr/>
        </p:nvSpPr>
        <p:spPr>
          <a:xfrm>
            <a:off x="9097498" y="6233874"/>
            <a:ext cx="1387524" cy="186689"/>
          </a:xfrm>
          <a:prstGeom prst="rect">
            <a:avLst/>
          </a:prstGeom>
          <a:noFill/>
        </p:spPr>
        <p:txBody>
          <a:bodyPr wrap="none" lIns="0" tIns="0" rIns="0" bIns="0">
            <a:spAutoFit/>
          </a:bodyPr>
          <a:lstStyle/>
          <a:p>
            <a:r>
              <a:rPr sz="1100" b="0">
                <a:solidFill>
                  <a:srgbClr val="2E2E2E"/>
                </a:solidFill>
                <a:latin typeface="Calibri"/>
              </a:rPr>
              <a:t>/ 10 · supporting factor</a:t>
            </a:r>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Factors Impacting Pricing</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extLst>
                    <a:ext uri="{9D8B030D-6E8A-4147-A177-3AD203B41FA5}">
                      <a16:colId xmlns:a16="http://schemas.microsoft.com/office/drawing/2014/main" val="20000"/>
                    </a:ext>
                  </a:extLst>
                </a:gridCol>
                <a:gridCol w="2697613">
                  <a:extLst>
                    <a:ext uri="{9D8B030D-6E8A-4147-A177-3AD203B41FA5}">
                      <a16:colId xmlns:a16="http://schemas.microsoft.com/office/drawing/2014/main" val="20001"/>
                    </a:ext>
                  </a:extLst>
                </a:gridCol>
                <a:gridCol w="1098187">
                  <a:extLst>
                    <a:ext uri="{9D8B030D-6E8A-4147-A177-3AD203B41FA5}">
                      <a16:colId xmlns:a16="http://schemas.microsoft.com/office/drawing/2014/main" val="20002"/>
                    </a:ext>
                  </a:extLst>
                </a:gridCol>
                <a:gridCol w="1211368">
                  <a:extLst>
                    <a:ext uri="{9D8B030D-6E8A-4147-A177-3AD203B41FA5}">
                      <a16:colId xmlns:a16="http://schemas.microsoft.com/office/drawing/2014/main" val="20003"/>
                    </a:ext>
                  </a:extLst>
                </a:gridCol>
                <a:gridCol w="1098187">
                  <a:extLst>
                    <a:ext uri="{9D8B030D-6E8A-4147-A177-3AD203B41FA5}">
                      <a16:colId xmlns:a16="http://schemas.microsoft.com/office/drawing/2014/main" val="20004"/>
                    </a:ext>
                  </a:extLst>
                </a:gridCol>
                <a:gridCol w="3220329">
                  <a:extLst>
                    <a:ext uri="{9D8B030D-6E8A-4147-A177-3AD203B41FA5}">
                      <a16:colId xmlns:a16="http://schemas.microsoft.com/office/drawing/2014/main" val="20005"/>
                    </a:ext>
                  </a:extLst>
                </a:gridCol>
              </a:tblGrid>
              <a:tr h="246126">
                <a:tc>
                  <a:txBody>
                    <a:bodyPr/>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a:lstStyle/>
                    <a:p>
                      <a:pPr algn="l"/>
                      <a:r>
                        <a:rPr sz="1100" b="1">
                          <a:solidFill>
                            <a:srgbClr val="0B2E4A"/>
                          </a:solidFill>
                          <a:latin typeface="Calibri"/>
                        </a:rPr>
                        <a:t>How It Shapes Price</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73520">
                <a:tc>
                  <a:txBody>
                    <a:bodyPr/>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extLst>
                  <a:ext uri="{0D108BD9-81ED-4DB2-BD59-A6C34878D82A}">
                    <a16:rowId xmlns:a16="http://schemas.microsoft.com/office/drawing/2014/main" val="10001"/>
                  </a:ext>
                </a:extLst>
              </a:tr>
              <a:tr h="273520">
                <a:tc>
                  <a:txBody>
                    <a:bodyPr/>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extLst>
                  <a:ext uri="{0D108BD9-81ED-4DB2-BD59-A6C34878D82A}">
                    <a16:rowId xmlns:a16="http://schemas.microsoft.com/office/drawing/2014/main" val="10002"/>
                  </a:ext>
                </a:extLst>
              </a:tr>
              <a:tr h="273520">
                <a:tc>
                  <a:txBody>
                    <a:bodyPr/>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extLst>
                  <a:ext uri="{0D108BD9-81ED-4DB2-BD59-A6C34878D82A}">
                    <a16:rowId xmlns:a16="http://schemas.microsoft.com/office/drawing/2014/main" val="10003"/>
                  </a:ext>
                </a:extLst>
              </a:tr>
              <a:tr h="273520">
                <a:tc>
                  <a:txBody>
                    <a:bodyPr/>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extLst>
                  <a:ext uri="{0D108BD9-81ED-4DB2-BD59-A6C34878D82A}">
                    <a16:rowId xmlns:a16="http://schemas.microsoft.com/office/drawing/2014/main" val="10004"/>
                  </a:ext>
                </a:extLst>
              </a:tr>
              <a:tr h="273520">
                <a:tc>
                  <a:txBody>
                    <a:bodyPr/>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Competitive intensity.</a:t>
                      </a:r>
                      <a:endParaRPr sz="1100"/>
                    </a:p>
                  </a:txBody>
                  <a:tcPr marL="47625" marR="38100" marT="19050" marB="19050" anchor="ctr">
                    <a:solidFill>
                      <a:srgbClr val="FFFFFF"/>
                    </a:solidFill>
                  </a:tcPr>
                </a:tc>
                <a:extLst>
                  <a:ext uri="{0D108BD9-81ED-4DB2-BD59-A6C34878D82A}">
                    <a16:rowId xmlns:a16="http://schemas.microsoft.com/office/drawing/2014/main" val="10005"/>
                  </a:ext>
                </a:extLst>
              </a:tr>
              <a:tr h="273520">
                <a:tc>
                  <a:txBody>
                    <a:bodyPr/>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extLst>
                  <a:ext uri="{0D108BD9-81ED-4DB2-BD59-A6C34878D82A}">
                    <a16:rowId xmlns:a16="http://schemas.microsoft.com/office/drawing/2014/main" val="10006"/>
                  </a:ext>
                </a:extLst>
              </a:tr>
              <a:tr h="273520">
                <a:tc>
                  <a:txBody>
                    <a:bodyPr/>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extLst>
                  <a:ext uri="{0D108BD9-81ED-4DB2-BD59-A6C34878D82A}">
                    <a16:rowId xmlns:a16="http://schemas.microsoft.com/office/drawing/2014/main" val="10007"/>
                  </a:ext>
                </a:extLst>
              </a:tr>
              <a:tr h="273520">
                <a:tc>
                  <a:txBody>
                    <a:bodyPr/>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extLst>
                  <a:ext uri="{0D108BD9-81ED-4DB2-BD59-A6C34878D82A}">
                    <a16:rowId xmlns:a16="http://schemas.microsoft.com/office/drawing/2014/main" val="10008"/>
                  </a:ext>
                </a:extLst>
              </a:tr>
              <a:tr h="273520">
                <a:tc>
                  <a:txBody>
                    <a:bodyPr/>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extLst>
                  <a:ext uri="{0D108BD9-81ED-4DB2-BD59-A6C34878D82A}">
                    <a16:rowId xmlns:a16="http://schemas.microsoft.com/office/drawing/2014/main" val="10009"/>
                  </a:ext>
                </a:extLst>
              </a:tr>
              <a:tr h="273520">
                <a:tc>
                  <a:txBody>
                    <a:bodyPr/>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extLst>
                  <a:ext uri="{0D108BD9-81ED-4DB2-BD59-A6C34878D82A}">
                    <a16:rowId xmlns:a16="http://schemas.microsoft.com/office/drawing/2014/main" val="10010"/>
                  </a:ext>
                </a:extLst>
              </a:tr>
            </a:tbl>
          </a:graphicData>
        </a:graphic>
      </p:graphicFrame>
      <p:sp>
        <p:nvSpPr>
          <p:cNvPr id="13" name="TextBox 12"/>
          <p:cNvSpPr txBox="1"/>
          <p:nvPr/>
        </p:nvSpPr>
        <p:spPr>
          <a:xfrm>
            <a:off x="219075" y="43815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276225" y="4838700"/>
            <a:ext cx="11639550" cy="209550"/>
          </a:xfrm>
          <a:prstGeom prst="rect">
            <a:avLst/>
          </a:prstGeom>
          <a:noFill/>
        </p:spPr>
        <p:txBody>
          <a:bodyPr wrap="square" lIns="0" tIns="9525" rIns="19050"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76225" y="5162550"/>
            <a:ext cx="11639550" cy="13049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tIns="0" r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tIns="0" r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tIns="0" r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tIns="0" r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tIns="0" r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tIns="0" r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Regional Price Assessment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74724"/>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2" cy="2271330"/>
        </p:xfrm>
        <a:graphic>
          <a:graphicData uri="http://schemas.openxmlformats.org/drawingml/2006/table">
            <a:tbl>
              <a:tblPr>
                <a:tableStyleId>{5C22544A-7EE6-4342-B048-85BDC9FD1C3A}</a:tableStyleId>
              </a:tblPr>
              <a:tblGrid>
                <a:gridCol w="1370904">
                  <a:extLst>
                    <a:ext uri="{9D8B030D-6E8A-4147-A177-3AD203B41FA5}">
                      <a16:colId xmlns:a16="http://schemas.microsoft.com/office/drawing/2014/main" val="20000"/>
                    </a:ext>
                  </a:extLst>
                </a:gridCol>
                <a:gridCol w="1128887">
                  <a:extLst>
                    <a:ext uri="{9D8B030D-6E8A-4147-A177-3AD203B41FA5}">
                      <a16:colId xmlns:a16="http://schemas.microsoft.com/office/drawing/2014/main" val="20001"/>
                    </a:ext>
                  </a:extLst>
                </a:gridCol>
                <a:gridCol w="1128887">
                  <a:extLst>
                    <a:ext uri="{9D8B030D-6E8A-4147-A177-3AD203B41FA5}">
                      <a16:colId xmlns:a16="http://schemas.microsoft.com/office/drawing/2014/main" val="20002"/>
                    </a:ext>
                  </a:extLst>
                </a:gridCol>
                <a:gridCol w="1128887">
                  <a:extLst>
                    <a:ext uri="{9D8B030D-6E8A-4147-A177-3AD203B41FA5}">
                      <a16:colId xmlns:a16="http://schemas.microsoft.com/office/drawing/2014/main" val="20003"/>
                    </a:ext>
                  </a:extLst>
                </a:gridCol>
                <a:gridCol w="1128887">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a:lstStyle/>
                    <a:p>
                      <a:pPr algn="ctr"/>
                      <a:r>
                        <a:rPr sz="1100" b="1">
                          <a:solidFill>
                            <a:srgbClr val="0B2E4A"/>
                          </a:solidFill>
                          <a:latin typeface="Calibri"/>
                        </a:rPr>
                        <a:t>Total Margin (%)</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337534">
                <a:tc>
                  <a:txBody>
                    <a:bodyPr/>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337534">
                <a:tc>
                  <a:txBody>
                    <a:bodyPr/>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337534">
                <a:tc>
                  <a:txBody>
                    <a:bodyPr/>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337534">
                <a:tc>
                  <a:txBody>
                    <a:bodyPr/>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337534">
                <a:tc>
                  <a:txBody>
                    <a:bodyPr/>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337534">
                <a:tc>
                  <a:txBody>
                    <a:bodyPr/>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bl>
          </a:graphicData>
        </a:graphic>
      </p:graphicFrame>
      <p:sp>
        <p:nvSpPr>
          <p:cNvPr id="14" name="TextBox 13"/>
          <p:cNvSpPr txBox="1"/>
          <p:nvPr/>
        </p:nvSpPr>
        <p:spPr>
          <a:xfrm>
            <a:off x="219075" y="3855604"/>
            <a:ext cx="575310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6296025" y="1374724"/>
            <a:ext cx="56578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9" cy="2271330"/>
        </p:xfrm>
        <a:graphic>
          <a:graphicData uri="http://schemas.openxmlformats.org/drawingml/2006/table">
            <a:tbl>
              <a:tblPr>
                <a:tableStyleId>{5C22544A-7EE6-4342-B048-85BDC9FD1C3A}</a:tableStyleId>
              </a:tblPr>
              <a:tblGrid>
                <a:gridCol w="2038759">
                  <a:extLst>
                    <a:ext uri="{9D8B030D-6E8A-4147-A177-3AD203B41FA5}">
                      <a16:colId xmlns:a16="http://schemas.microsoft.com/office/drawing/2014/main" val="20000"/>
                    </a:ext>
                  </a:extLst>
                </a:gridCol>
                <a:gridCol w="947635">
                  <a:extLst>
                    <a:ext uri="{9D8B030D-6E8A-4147-A177-3AD203B41FA5}">
                      <a16:colId xmlns:a16="http://schemas.microsoft.com/office/drawing/2014/main" val="20001"/>
                    </a:ext>
                  </a:extLst>
                </a:gridCol>
                <a:gridCol w="947635">
                  <a:extLst>
                    <a:ext uri="{9D8B030D-6E8A-4147-A177-3AD203B41FA5}">
                      <a16:colId xmlns:a16="http://schemas.microsoft.com/office/drawing/2014/main" val="20002"/>
                    </a:ext>
                  </a:extLst>
                </a:gridCol>
                <a:gridCol w="947635">
                  <a:extLst>
                    <a:ext uri="{9D8B030D-6E8A-4147-A177-3AD203B41FA5}">
                      <a16:colId xmlns:a16="http://schemas.microsoft.com/office/drawing/2014/main" val="20003"/>
                    </a:ext>
                  </a:extLst>
                </a:gridCol>
                <a:gridCol w="947635">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337534">
                <a:tc>
                  <a:txBody>
                    <a:bodyPr/>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337534">
                <a:tc>
                  <a:txBody>
                    <a:bodyPr/>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337534">
                <a:tc>
                  <a:txBody>
                    <a:bodyPr/>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337534">
                <a:tc>
                  <a:txBody>
                    <a:bodyPr/>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337534">
                <a:tc>
                  <a:txBody>
                    <a:bodyPr/>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337534">
                <a:tc>
                  <a:txBody>
                    <a:bodyPr/>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bl>
          </a:graphicData>
        </a:graphic>
      </p:graphicFrame>
      <p:sp>
        <p:nvSpPr>
          <p:cNvPr id="18" name="TextBox 17"/>
          <p:cNvSpPr txBox="1"/>
          <p:nvPr/>
        </p:nvSpPr>
        <p:spPr>
          <a:xfrm>
            <a:off x="6276975" y="3855604"/>
            <a:ext cx="56959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276225" y="4287383"/>
            <a:ext cx="11639550" cy="209550"/>
          </a:xfrm>
          <a:prstGeom prst="rect">
            <a:avLst/>
          </a:prstGeom>
          <a:noFill/>
        </p:spPr>
        <p:txBody>
          <a:bodyPr wrap="square" lIns="0" tIns="9525" rIns="19050"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276225" y="4611233"/>
            <a:ext cx="11639550" cy="1868952"/>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594387" y="2566777"/>
            <a:ext cx="366712" cy="533399"/>
          </a:xfrm>
          <a:prstGeom prst="rect">
            <a:avLst/>
          </a:prstGeom>
        </p:spPr>
      </p:pic>
      <p:pic>
        <p:nvPicPr>
          <p:cNvPr id="25" name="Picture 24" descr="lock.png"/>
          <p:cNvPicPr>
            <a:picLocks noChangeAspect="1"/>
          </p:cNvPicPr>
          <p:nvPr/>
        </p:nvPicPr>
        <p:blipFill>
          <a:blip r:embed="rId4"/>
          <a:stretch>
            <a:fillRect/>
          </a:stretch>
        </p:blipFill>
        <p:spPr>
          <a:xfrm>
            <a:off x="9957639" y="2566777"/>
            <a:ext cx="366712" cy="533400"/>
          </a:xfrm>
          <a:prstGeom prst="rect">
            <a:avLst/>
          </a:prstGeom>
        </p:spPr>
      </p:pic>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Global Pricing Benchmarking</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Development-stage price assumptions and manufacturer benchmarking price range by partition type type and region (US$/MT).</a:t>
            </a:r>
          </a:p>
        </p:txBody>
      </p:sp>
      <p:sp>
        <p:nvSpPr>
          <p:cNvPr id="11" name="Rounded Rectangle 10"/>
          <p:cNvSpPr/>
          <p:nvPr/>
        </p:nvSpPr>
        <p:spPr>
          <a:xfrm>
            <a:off x="142875" y="1314450"/>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71600"/>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Price Benchmarking by Region &amp; Partition Type (US$/MT)</a:t>
            </a:r>
          </a:p>
        </p:txBody>
      </p:sp>
      <p:graphicFrame>
        <p:nvGraphicFramePr>
          <p:cNvPr id="13" name="Table 12"/>
          <p:cNvGraphicFramePr>
            <a:graphicFrameLocks noGrp="1"/>
          </p:cNvGraphicFramePr>
          <p:nvPr/>
        </p:nvGraphicFramePr>
        <p:xfrm>
          <a:off x="152400" y="1571625"/>
          <a:ext cx="11887201" cy="2409822"/>
        </p:xfrm>
        <a:graphic>
          <a:graphicData uri="http://schemas.openxmlformats.org/drawingml/2006/table">
            <a:tbl>
              <a:tblPr>
                <a:tableStyleId>{5C22544A-7EE6-4342-B048-85BDC9FD1C3A}</a:tableStyleId>
              </a:tblPr>
              <a:tblGrid>
                <a:gridCol w="1627762">
                  <a:extLst>
                    <a:ext uri="{9D8B030D-6E8A-4147-A177-3AD203B41FA5}">
                      <a16:colId xmlns:a16="http://schemas.microsoft.com/office/drawing/2014/main" val="20000"/>
                    </a:ext>
                  </a:extLst>
                </a:gridCol>
                <a:gridCol w="2777446">
                  <a:extLst>
                    <a:ext uri="{9D8B030D-6E8A-4147-A177-3AD203B41FA5}">
                      <a16:colId xmlns:a16="http://schemas.microsoft.com/office/drawing/2014/main" val="20001"/>
                    </a:ext>
                  </a:extLst>
                </a:gridCol>
                <a:gridCol w="4301267">
                  <a:extLst>
                    <a:ext uri="{9D8B030D-6E8A-4147-A177-3AD203B41FA5}">
                      <a16:colId xmlns:a16="http://schemas.microsoft.com/office/drawing/2014/main" val="20002"/>
                    </a:ext>
                  </a:extLst>
                </a:gridCol>
                <a:gridCol w="2022997">
                  <a:extLst>
                    <a:ext uri="{9D8B030D-6E8A-4147-A177-3AD203B41FA5}">
                      <a16:colId xmlns:a16="http://schemas.microsoft.com/office/drawing/2014/main" val="20003"/>
                    </a:ext>
                  </a:extLst>
                </a:gridCol>
                <a:gridCol w="1157729">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Slotted (Interlocking Grid) Partitions</a:t>
                      </a:r>
                      <a:endParaRPr sz="1100"/>
                    </a:p>
                  </a:txBody>
                  <a:tcPr marL="47625" marR="38100" marT="19050" marB="19050" anchor="ctr">
                    <a:solidFill>
                      <a:srgbClr val="E0E8EF"/>
                    </a:solidFill>
                  </a:tcPr>
                </a:tc>
                <a:tc>
                  <a:txBody>
                    <a:bodyPr/>
                    <a:lstStyle/>
                    <a:p>
                      <a:pPr algn="ctr"/>
                      <a:r>
                        <a:rPr sz="1100" b="1">
                          <a:solidFill>
                            <a:srgbClr val="0B2E4A"/>
                          </a:solidFill>
                          <a:latin typeface="Calibri"/>
                        </a:rPr>
                        <a:t>Die-Cut &amp; Folded Partitions (H-dividers, tube/cell inserts)</a:t>
                      </a:r>
                      <a:endParaRPr sz="1100"/>
                    </a:p>
                  </a:txBody>
                  <a:tcPr marL="47625" marR="38100" marT="19050" marB="19050" anchor="ctr">
                    <a:solidFill>
                      <a:srgbClr val="E0E8EF"/>
                    </a:solidFill>
                  </a:tcPr>
                </a:tc>
                <a:tc>
                  <a:txBody>
                    <a:bodyPr/>
                    <a:lstStyle/>
                    <a:p>
                      <a:pPr algn="ctr"/>
                      <a:r>
                        <a:rPr sz="1100" b="1">
                          <a:solidFill>
                            <a:srgbClr val="0B2E4A"/>
                          </a:solidFill>
                          <a:latin typeface="Calibri"/>
                        </a:rPr>
                        <a:t>Flat Dividers &amp; Layer Pads</a:t>
                      </a:r>
                      <a:endParaRPr sz="1100"/>
                    </a:p>
                  </a:txBody>
                  <a:tcPr marL="47625" marR="38100" marT="19050" marB="19050" anchor="ctr">
                    <a:solidFill>
                      <a:srgbClr val="E0E8EF"/>
                    </a:solidFill>
                  </a:tcPr>
                </a:tc>
                <a:tc>
                  <a:txBody>
                    <a:bodyPr/>
                    <a:lstStyle/>
                    <a:p>
                      <a:pPr algn="ctr"/>
                      <a:r>
                        <a:rPr sz="1100" b="1">
                          <a:solidFill>
                            <a:srgbClr val="0B2E4A"/>
                          </a:solidFill>
                          <a:latin typeface="Calibri"/>
                        </a:rPr>
                        <a:t>Weighted Avg</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360616">
                <a:tc>
                  <a:txBody>
                    <a:bodyPr/>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360616">
                <a:tc>
                  <a:txBody>
                    <a:bodyPr/>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360616">
                <a:tc>
                  <a:txBody>
                    <a:bodyPr/>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360616">
                <a:tc>
                  <a:txBody>
                    <a:bodyPr/>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360616">
                <a:tc>
                  <a:txBody>
                    <a:bodyPr/>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r h="360616">
                <a:tc>
                  <a:txBody>
                    <a:bodyPr/>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6"/>
                  </a:ext>
                </a:extLst>
              </a:tr>
            </a:tbl>
          </a:graphicData>
        </a:graphic>
      </p:graphicFrame>
      <p:sp>
        <p:nvSpPr>
          <p:cNvPr id="14" name="TextBox 13"/>
          <p:cNvSpPr txBox="1"/>
          <p:nvPr/>
        </p:nvSpPr>
        <p:spPr>
          <a:xfrm>
            <a:off x="219075" y="39909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33875"/>
            <a:ext cx="11906250" cy="2209800"/>
          </a:xfrm>
          <a:prstGeom prst="roundRect">
            <a:avLst>
              <a:gd name="adj" fmla="val 34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76225" y="4419600"/>
            <a:ext cx="11639550" cy="209550"/>
          </a:xfrm>
          <a:prstGeom prst="rect">
            <a:avLst/>
          </a:prstGeom>
          <a:noFill/>
        </p:spPr>
        <p:txBody>
          <a:bodyPr wrap="square" lIns="0" tIns="9525" rIns="19050" bIns="9525">
            <a:spAutoFit/>
          </a:bodyPr>
          <a:lstStyle/>
          <a:p>
            <a:pPr algn="l"/>
            <a:r>
              <a:rPr sz="1300" b="1">
                <a:solidFill>
                  <a:srgbClr val="0B2E4A"/>
                </a:solidFill>
                <a:latin typeface="Calibri"/>
              </a:rPr>
              <a:t>Benchmarking Insights</a:t>
            </a:r>
          </a:p>
        </p:txBody>
      </p:sp>
      <p:sp>
        <p:nvSpPr>
          <p:cNvPr id="17" name="Rectangle 16"/>
          <p:cNvSpPr/>
          <p:nvPr/>
        </p:nvSpPr>
        <p:spPr>
          <a:xfrm>
            <a:off x="276225" y="4657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76225" y="4743450"/>
            <a:ext cx="11639550" cy="172402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23191" y="2632898"/>
            <a:ext cx="366712" cy="533400"/>
          </a:xfrm>
          <a:prstGeom prst="rect">
            <a:avLst/>
          </a:prstGeom>
        </p:spPr>
      </p:pic>
      <p:sp>
        <p:nvSpPr>
          <p:cNvPr id="21" name="TextBox 20"/>
          <p:cNvSpPr txBox="1"/>
          <p:nvPr/>
        </p:nvSpPr>
        <p:spPr>
          <a:xfrm>
            <a:off x="276225" y="4752975"/>
            <a:ext cx="4195551" cy="194310"/>
          </a:xfrm>
          <a:prstGeom prst="rect">
            <a:avLst/>
          </a:prstGeom>
          <a:noFill/>
        </p:spPr>
        <p:txBody>
          <a:bodyPr wrap="none" lIns="0" tIns="0" rIns="0" bIns="0">
            <a:spAutoFit/>
          </a:bodyPr>
          <a:lstStyle/>
          <a:p>
            <a:r>
              <a:rPr sz="1150" b="0">
                <a:solidFill>
                  <a:srgbClr val="2E2E2E"/>
                </a:solidFill>
                <a:latin typeface="Calibri"/>
              </a:rPr>
              <a:t>▪ On a weighted-average basis 'Europe' is the highest-priced region (~</a:t>
            </a:r>
          </a:p>
        </p:txBody>
      </p:sp>
      <p:pic>
        <p:nvPicPr>
          <p:cNvPr id="22" name="Picture 21" descr="lock.png"/>
          <p:cNvPicPr>
            <a:picLocks noChangeAspect="1"/>
          </p:cNvPicPr>
          <p:nvPr/>
        </p:nvPicPr>
        <p:blipFill>
          <a:blip r:embed="rId4"/>
          <a:stretch>
            <a:fillRect/>
          </a:stretch>
        </p:blipFill>
        <p:spPr>
          <a:xfrm>
            <a:off x="4420930" y="4742751"/>
            <a:ext cx="134549" cy="195707"/>
          </a:xfrm>
          <a:prstGeom prst="rect">
            <a:avLst/>
          </a:prstGeom>
        </p:spPr>
      </p:pic>
      <p:sp>
        <p:nvSpPr>
          <p:cNvPr id="23" name="TextBox 22"/>
          <p:cNvSpPr txBox="1"/>
          <p:nvPr/>
        </p:nvSpPr>
        <p:spPr>
          <a:xfrm>
            <a:off x="4596039" y="4752975"/>
            <a:ext cx="3290726" cy="194310"/>
          </a:xfrm>
          <a:prstGeom prst="rect">
            <a:avLst/>
          </a:prstGeom>
          <a:noFill/>
        </p:spPr>
        <p:txBody>
          <a:bodyPr wrap="none" lIns="0" tIns="0" rIns="0" bIns="0">
            <a:spAutoFit/>
          </a:bodyPr>
          <a:lstStyle/>
          <a:p>
            <a:r>
              <a:rPr sz="1150" b="0">
                <a:solidFill>
                  <a:srgbClr val="2E2E2E"/>
                </a:solidFill>
                <a:latin typeface="Calibri"/>
              </a:rPr>
              <a:t>US$/MT) and 'North America' the most competitive (~</a:t>
            </a:r>
          </a:p>
        </p:txBody>
      </p:sp>
      <p:pic>
        <p:nvPicPr>
          <p:cNvPr id="24" name="Picture 23" descr="lock.png"/>
          <p:cNvPicPr>
            <a:picLocks noChangeAspect="1"/>
          </p:cNvPicPr>
          <p:nvPr/>
        </p:nvPicPr>
        <p:blipFill>
          <a:blip r:embed="rId4"/>
          <a:stretch>
            <a:fillRect/>
          </a:stretch>
        </p:blipFill>
        <p:spPr>
          <a:xfrm>
            <a:off x="7835920" y="4742751"/>
            <a:ext cx="134549" cy="195707"/>
          </a:xfrm>
          <a:prstGeom prst="rect">
            <a:avLst/>
          </a:prstGeom>
        </p:spPr>
      </p:pic>
      <p:sp>
        <p:nvSpPr>
          <p:cNvPr id="25" name="TextBox 24"/>
          <p:cNvSpPr txBox="1"/>
          <p:nvPr/>
        </p:nvSpPr>
        <p:spPr>
          <a:xfrm>
            <a:off x="8011029" y="4752975"/>
            <a:ext cx="644996" cy="194310"/>
          </a:xfrm>
          <a:prstGeom prst="rect">
            <a:avLst/>
          </a:prstGeom>
          <a:noFill/>
        </p:spPr>
        <p:txBody>
          <a:bodyPr wrap="none" lIns="0" tIns="0" rIns="0" bIns="0">
            <a:spAutoFit/>
          </a:bodyPr>
          <a:lstStyle/>
          <a:p>
            <a:r>
              <a:rPr sz="1150" b="0">
                <a:solidFill>
                  <a:srgbClr val="2E2E2E"/>
                </a:solidFill>
                <a:latin typeface="Calibri"/>
              </a:rPr>
              <a:t>US$/MT).</a:t>
            </a:r>
          </a:p>
        </p:txBody>
      </p:sp>
      <p:sp>
        <p:nvSpPr>
          <p:cNvPr id="26" name="TextBox 25"/>
          <p:cNvSpPr txBox="1"/>
          <p:nvPr/>
        </p:nvSpPr>
        <p:spPr>
          <a:xfrm>
            <a:off x="276225" y="4980813"/>
            <a:ext cx="5977247" cy="194310"/>
          </a:xfrm>
          <a:prstGeom prst="rect">
            <a:avLst/>
          </a:prstGeom>
          <a:noFill/>
        </p:spPr>
        <p:txBody>
          <a:bodyPr wrap="none" lIns="0" tIns="0" rIns="0" bIns="0">
            <a:spAutoFit/>
          </a:bodyPr>
          <a:lstStyle/>
          <a:p>
            <a:r>
              <a:rPr sz="1150" b="0">
                <a:solidFill>
                  <a:srgbClr val="2E2E2E"/>
                </a:solidFill>
                <a:latin typeface="Calibri"/>
              </a:rPr>
              <a:t>▪ Price ranges are benchmarked per partition type type at 2026, derived as Value ÷ Volume with a ±</a:t>
            </a:r>
          </a:p>
        </p:txBody>
      </p:sp>
      <p:pic>
        <p:nvPicPr>
          <p:cNvPr id="27" name="Picture 26" descr="lock.png"/>
          <p:cNvPicPr>
            <a:picLocks noChangeAspect="1"/>
          </p:cNvPicPr>
          <p:nvPr/>
        </p:nvPicPr>
        <p:blipFill>
          <a:blip r:embed="rId4"/>
          <a:stretch>
            <a:fillRect/>
          </a:stretch>
        </p:blipFill>
        <p:spPr>
          <a:xfrm>
            <a:off x="6202626" y="4970589"/>
            <a:ext cx="134549" cy="195707"/>
          </a:xfrm>
          <a:prstGeom prst="rect">
            <a:avLst/>
          </a:prstGeom>
        </p:spPr>
      </p:pic>
      <p:sp>
        <p:nvSpPr>
          <p:cNvPr id="28" name="TextBox 27"/>
          <p:cNvSpPr txBox="1"/>
          <p:nvPr/>
        </p:nvSpPr>
        <p:spPr>
          <a:xfrm>
            <a:off x="6377735" y="4980813"/>
            <a:ext cx="1455117" cy="194310"/>
          </a:xfrm>
          <a:prstGeom prst="rect">
            <a:avLst/>
          </a:prstGeom>
          <a:noFill/>
        </p:spPr>
        <p:txBody>
          <a:bodyPr wrap="none" lIns="0" tIns="0" rIns="0" bIns="0">
            <a:spAutoFit/>
          </a:bodyPr>
          <a:lstStyle/>
          <a:p>
            <a:r>
              <a:rPr sz="1150" b="0">
                <a:solidFill>
                  <a:srgbClr val="2E2E2E"/>
                </a:solidFill>
                <a:latin typeface="Calibri"/>
              </a:rPr>
              <a:t>observed trading band.</a:t>
            </a:r>
          </a:p>
        </p:txBody>
      </p:sp>
      <p:sp>
        <p:nvSpPr>
          <p:cNvPr id="29" name="TextBox 28"/>
          <p:cNvSpPr txBox="1"/>
          <p:nvPr/>
        </p:nvSpPr>
        <p:spPr>
          <a:xfrm>
            <a:off x="276225" y="5208650"/>
            <a:ext cx="2140867" cy="194310"/>
          </a:xfrm>
          <a:prstGeom prst="rect">
            <a:avLst/>
          </a:prstGeom>
          <a:noFill/>
        </p:spPr>
        <p:txBody>
          <a:bodyPr wrap="none" lIns="0" tIns="0" rIns="0" bIns="0">
            <a:spAutoFit/>
          </a:bodyPr>
          <a:lstStyle/>
          <a:p>
            <a:r>
              <a:rPr sz="1150" b="0">
                <a:solidFill>
                  <a:srgbClr val="2E2E2E"/>
                </a:solidFill>
                <a:latin typeface="Calibri"/>
              </a:rPr>
              <a:t>▪ Cross-region price dispersion of ~</a:t>
            </a:r>
          </a:p>
        </p:txBody>
      </p:sp>
      <p:pic>
        <p:nvPicPr>
          <p:cNvPr id="30" name="Picture 29" descr="lock.png"/>
          <p:cNvPicPr>
            <a:picLocks noChangeAspect="1"/>
          </p:cNvPicPr>
          <p:nvPr/>
        </p:nvPicPr>
        <p:blipFill>
          <a:blip r:embed="rId4"/>
          <a:stretch>
            <a:fillRect/>
          </a:stretch>
        </p:blipFill>
        <p:spPr>
          <a:xfrm>
            <a:off x="2366246" y="5198427"/>
            <a:ext cx="134549" cy="195707"/>
          </a:xfrm>
          <a:prstGeom prst="rect">
            <a:avLst/>
          </a:prstGeom>
        </p:spPr>
      </p:pic>
      <p:sp>
        <p:nvSpPr>
          <p:cNvPr id="31" name="TextBox 30"/>
          <p:cNvSpPr txBox="1"/>
          <p:nvPr/>
        </p:nvSpPr>
        <p:spPr>
          <a:xfrm>
            <a:off x="2541355" y="5208650"/>
            <a:ext cx="3627040" cy="194310"/>
          </a:xfrm>
          <a:prstGeom prst="rect">
            <a:avLst/>
          </a:prstGeom>
          <a:noFill/>
        </p:spPr>
        <p:txBody>
          <a:bodyPr wrap="none" lIns="0" tIns="0" rIns="0" bIns="0">
            <a:spAutoFit/>
          </a:bodyPr>
          <a:lstStyle/>
          <a:p>
            <a:r>
              <a:rPr sz="1150" b="0">
                <a:solidFill>
                  <a:srgbClr val="2E2E2E"/>
                </a:solidFill>
                <a:latin typeface="Calibri"/>
              </a:rPr>
              <a:t>× reflects differences in mix, logistics and channel structure.</a:t>
            </a:r>
          </a:p>
        </p:txBody>
      </p:sp>
      <p:sp>
        <p:nvSpPr>
          <p:cNvPr id="32" name="TextBox 31"/>
          <p:cNvSpPr txBox="1"/>
          <p:nvPr/>
        </p:nvSpPr>
        <p:spPr>
          <a:xfrm>
            <a:off x="276225" y="5436488"/>
            <a:ext cx="5691708" cy="194310"/>
          </a:xfrm>
          <a:prstGeom prst="rect">
            <a:avLst/>
          </a:prstGeom>
          <a:noFill/>
        </p:spPr>
        <p:txBody>
          <a:bodyPr wrap="none" lIns="0" tIns="0" r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Price Forecast &amp; Dynamics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Forward price trajectory to 2036 by partition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74724"/>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Price Forecast to 2036 by Partition Type (US$/MT)</a:t>
            </a:r>
          </a:p>
        </p:txBody>
      </p:sp>
      <p:graphicFrame>
        <p:nvGraphicFramePr>
          <p:cNvPr id="13" name="Table 12"/>
          <p:cNvGraphicFramePr>
            <a:graphicFrameLocks noGrp="1"/>
          </p:cNvGraphicFramePr>
          <p:nvPr/>
        </p:nvGraphicFramePr>
        <p:xfrm>
          <a:off x="152400" y="1574749"/>
          <a:ext cx="11887198" cy="1504674"/>
        </p:xfrm>
        <a:graphic>
          <a:graphicData uri="http://schemas.openxmlformats.org/drawingml/2006/table">
            <a:tbl>
              <a:tblPr>
                <a:tableStyleId>{5C22544A-7EE6-4342-B048-85BDC9FD1C3A}</a:tableStyleId>
              </a:tblPr>
              <a:tblGrid>
                <a:gridCol w="3981736">
                  <a:extLst>
                    <a:ext uri="{9D8B030D-6E8A-4147-A177-3AD203B41FA5}">
                      <a16:colId xmlns:a16="http://schemas.microsoft.com/office/drawing/2014/main" val="20000"/>
                    </a:ext>
                  </a:extLst>
                </a:gridCol>
                <a:gridCol w="1317577">
                  <a:extLst>
                    <a:ext uri="{9D8B030D-6E8A-4147-A177-3AD203B41FA5}">
                      <a16:colId xmlns:a16="http://schemas.microsoft.com/office/drawing/2014/main" val="20001"/>
                    </a:ext>
                  </a:extLst>
                </a:gridCol>
                <a:gridCol w="1317577">
                  <a:extLst>
                    <a:ext uri="{9D8B030D-6E8A-4147-A177-3AD203B41FA5}">
                      <a16:colId xmlns:a16="http://schemas.microsoft.com/office/drawing/2014/main" val="20002"/>
                    </a:ext>
                  </a:extLst>
                </a:gridCol>
                <a:gridCol w="1317577">
                  <a:extLst>
                    <a:ext uri="{9D8B030D-6E8A-4147-A177-3AD203B41FA5}">
                      <a16:colId xmlns:a16="http://schemas.microsoft.com/office/drawing/2014/main" val="20003"/>
                    </a:ext>
                  </a:extLst>
                </a:gridCol>
                <a:gridCol w="1317577">
                  <a:extLst>
                    <a:ext uri="{9D8B030D-6E8A-4147-A177-3AD203B41FA5}">
                      <a16:colId xmlns:a16="http://schemas.microsoft.com/office/drawing/2014/main" val="20004"/>
                    </a:ext>
                  </a:extLst>
                </a:gridCol>
                <a:gridCol w="1317577">
                  <a:extLst>
                    <a:ext uri="{9D8B030D-6E8A-4147-A177-3AD203B41FA5}">
                      <a16:colId xmlns:a16="http://schemas.microsoft.com/office/drawing/2014/main" val="20005"/>
                    </a:ext>
                  </a:extLst>
                </a:gridCol>
                <a:gridCol w="1317577">
                  <a:extLst>
                    <a:ext uri="{9D8B030D-6E8A-4147-A177-3AD203B41FA5}">
                      <a16:colId xmlns:a16="http://schemas.microsoft.com/office/drawing/2014/main" val="20006"/>
                    </a:ext>
                  </a:extLst>
                </a:gridCol>
              </a:tblGrid>
              <a:tr h="246126">
                <a:tc>
                  <a:txBody>
                    <a:bodyPr/>
                    <a:lstStyle/>
                    <a:p>
                      <a:pPr algn="l"/>
                      <a:r>
                        <a:rPr sz="1100" b="1">
                          <a:solidFill>
                            <a:srgbClr val="0B2E4A"/>
                          </a:solidFill>
                          <a:latin typeface="Calibri"/>
                        </a:rPr>
                        <a:t>Partition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2036F</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419516">
                <a:tc>
                  <a:txBody>
                    <a:bodyPr/>
                    <a:lstStyle/>
                    <a:p>
                      <a:pPr algn="l"/>
                      <a:r>
                        <a:rPr sz="1100" b="1">
                          <a:solidFill>
                            <a:srgbClr val="2E2E2E"/>
                          </a:solidFill>
                          <a:latin typeface="Calibri"/>
                        </a:rPr>
                        <a:t>Slotted (Interlocking Grid) P…</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419516">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419516">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14" name="TextBox 13"/>
          <p:cNvSpPr txBox="1"/>
          <p:nvPr/>
        </p:nvSpPr>
        <p:spPr>
          <a:xfrm>
            <a:off x="219075" y="3088948"/>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455645"/>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extLst>
                    <a:ext uri="{9D8B030D-6E8A-4147-A177-3AD203B41FA5}">
                      <a16:colId xmlns:a16="http://schemas.microsoft.com/office/drawing/2014/main" val="20000"/>
                    </a:ext>
                  </a:extLst>
                </a:gridCol>
                <a:gridCol w="1509479">
                  <a:extLst>
                    <a:ext uri="{9D8B030D-6E8A-4147-A177-3AD203B41FA5}">
                      <a16:colId xmlns:a16="http://schemas.microsoft.com/office/drawing/2014/main" val="20001"/>
                    </a:ext>
                  </a:extLst>
                </a:gridCol>
                <a:gridCol w="1509479">
                  <a:extLst>
                    <a:ext uri="{9D8B030D-6E8A-4147-A177-3AD203B41FA5}">
                      <a16:colId xmlns:a16="http://schemas.microsoft.com/office/drawing/2014/main" val="20002"/>
                    </a:ext>
                  </a:extLst>
                </a:gridCol>
              </a:tblGrid>
              <a:tr h="246126">
                <a:tc>
                  <a:txBody>
                    <a:bodyPr/>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a:lstStyle/>
                    <a:p>
                      <a:pPr algn="l"/>
                      <a:r>
                        <a:rPr sz="1100" b="1">
                          <a:solidFill>
                            <a:srgbClr val="0B2E4A"/>
                          </a:solidFill>
                          <a:latin typeface="Calibri"/>
                        </a:rPr>
                        <a:t>Impact (H/M/L)</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850">
                <a:tc>
                  <a:txBody>
                    <a:bodyPr/>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a:lstStyle/>
                    <a:p>
                      <a:pPr algn="l"/>
                      <a:r>
                        <a:rPr sz="1100" b="0">
                          <a:solidFill>
                            <a:srgbClr val="2E2E2E"/>
                          </a:solidFill>
                          <a:latin typeface="Calibri"/>
                        </a:rPr>
                        <a:t>High</a:t>
                      </a:r>
                      <a:endParaRPr sz="1100"/>
                    </a:p>
                  </a:txBody>
                  <a:tcPr marL="47625" marR="38100" marT="19050" marB="19050" anchor="ctr">
                    <a:solidFill>
                      <a:srgbClr val="FFFFFF"/>
                    </a:solidFill>
                  </a:tcPr>
                </a:tc>
                <a:extLst>
                  <a:ext uri="{0D108BD9-81ED-4DB2-BD59-A6C34878D82A}">
                    <a16:rowId xmlns:a16="http://schemas.microsoft.com/office/drawing/2014/main" val="10001"/>
                  </a:ext>
                </a:extLst>
              </a:tr>
              <a:tr h="246850">
                <a:tc>
                  <a:txBody>
                    <a:bodyPr/>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a:lstStyle/>
                    <a:p>
                      <a:pPr algn="l"/>
                      <a:r>
                        <a:rPr sz="1100" b="0">
                          <a:solidFill>
                            <a:srgbClr val="2E2E2E"/>
                          </a:solidFill>
                          <a:latin typeface="Calibri"/>
                        </a:rPr>
                        <a:t>Medium</a:t>
                      </a:r>
                      <a:endParaRPr sz="1100"/>
                    </a:p>
                  </a:txBody>
                  <a:tcPr marL="47625" marR="38100" marT="19050" marB="19050" anchor="ctr">
                    <a:solidFill>
                      <a:srgbClr val="F5F8FA"/>
                    </a:solidFill>
                  </a:tcPr>
                </a:tc>
                <a:extLst>
                  <a:ext uri="{0D108BD9-81ED-4DB2-BD59-A6C34878D82A}">
                    <a16:rowId xmlns:a16="http://schemas.microsoft.com/office/drawing/2014/main" val="10002"/>
                  </a:ext>
                </a:extLst>
              </a:tr>
              <a:tr h="246850">
                <a:tc>
                  <a:txBody>
                    <a:bodyPr/>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a:lstStyle/>
                    <a:p>
                      <a:pPr algn="l"/>
                      <a:r>
                        <a:rPr sz="1100" b="0">
                          <a:solidFill>
                            <a:srgbClr val="2E2E2E"/>
                          </a:solidFill>
                          <a:latin typeface="Calibri"/>
                        </a:rPr>
                        <a:t>Medium</a:t>
                      </a:r>
                      <a:endParaRPr sz="1100"/>
                    </a:p>
                  </a:txBody>
                  <a:tcPr marL="47625" marR="38100" marT="19050" marB="19050" anchor="ctr">
                    <a:solidFill>
                      <a:srgbClr val="FFFFFF"/>
                    </a:solidFill>
                  </a:tcPr>
                </a:tc>
                <a:extLst>
                  <a:ext uri="{0D108BD9-81ED-4DB2-BD59-A6C34878D82A}">
                    <a16:rowId xmlns:a16="http://schemas.microsoft.com/office/drawing/2014/main" val="10003"/>
                  </a:ext>
                </a:extLst>
              </a:tr>
              <a:tr h="246850">
                <a:tc>
                  <a:txBody>
                    <a:bodyPr/>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a:lstStyle/>
                    <a:p>
                      <a:pPr algn="l"/>
                      <a:r>
                        <a:rPr sz="1100" b="0">
                          <a:solidFill>
                            <a:srgbClr val="2E2E2E"/>
                          </a:solidFill>
                          <a:latin typeface="Calibri"/>
                        </a:rPr>
                        <a:t>Medium</a:t>
                      </a:r>
                      <a:endParaRPr sz="1100"/>
                    </a:p>
                  </a:txBody>
                  <a:tcPr marL="47625" marR="38100" marT="19050" marB="19050" anchor="ctr">
                    <a:solidFill>
                      <a:srgbClr val="F5F8FA"/>
                    </a:solidFill>
                  </a:tcPr>
                </a:tc>
                <a:extLst>
                  <a:ext uri="{0D108BD9-81ED-4DB2-BD59-A6C34878D82A}">
                    <a16:rowId xmlns:a16="http://schemas.microsoft.com/office/drawing/2014/main" val="10004"/>
                  </a:ext>
                </a:extLst>
              </a:tr>
              <a:tr h="246850">
                <a:tc>
                  <a:txBody>
                    <a:bodyPr/>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a:lstStyle/>
                    <a:p>
                      <a:pPr algn="l"/>
                      <a:r>
                        <a:rPr sz="1100" b="0">
                          <a:solidFill>
                            <a:srgbClr val="2E2E2E"/>
                          </a:solidFill>
                          <a:latin typeface="Calibri"/>
                        </a:rPr>
                        <a:t>High</a:t>
                      </a:r>
                      <a:endParaRPr sz="1100"/>
                    </a:p>
                  </a:txBody>
                  <a:tcPr marL="47625" marR="38100" marT="19050" marB="19050" anchor="ctr">
                    <a:solidFill>
                      <a:srgbClr val="FFFFFF"/>
                    </a:solidFill>
                  </a:tcPr>
                </a:tc>
                <a:extLst>
                  <a:ext uri="{0D108BD9-81ED-4DB2-BD59-A6C34878D82A}">
                    <a16:rowId xmlns:a16="http://schemas.microsoft.com/office/drawing/2014/main" val="10005"/>
                  </a:ext>
                </a:extLst>
              </a:tr>
              <a:tr h="246850">
                <a:tc>
                  <a:txBody>
                    <a:bodyPr/>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a:lstStyle/>
                    <a:p>
                      <a:pPr algn="l"/>
                      <a:r>
                        <a:rPr sz="1100" b="0">
                          <a:solidFill>
                            <a:srgbClr val="2E2E2E"/>
                          </a:solidFill>
                          <a:latin typeface="Calibri"/>
                        </a:rPr>
                        <a:t>High</a:t>
                      </a:r>
                      <a:endParaRPr sz="1100"/>
                    </a:p>
                  </a:txBody>
                  <a:tcPr marL="47625" marR="38100" marT="19050" marB="19050" anchor="ctr">
                    <a:solidFill>
                      <a:srgbClr val="F5F8FA"/>
                    </a:solidFill>
                  </a:tcPr>
                </a:tc>
                <a:extLst>
                  <a:ext uri="{0D108BD9-81ED-4DB2-BD59-A6C34878D82A}">
                    <a16:rowId xmlns:a16="http://schemas.microsoft.com/office/drawing/2014/main" val="10006"/>
                  </a:ext>
                </a:extLst>
              </a:tr>
              <a:tr h="246850">
                <a:tc>
                  <a:txBody>
                    <a:bodyPr/>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a:lstStyle/>
                    <a:p>
                      <a:pPr algn="l"/>
                      <a:r>
                        <a:rPr sz="1100" b="0">
                          <a:solidFill>
                            <a:srgbClr val="2E2E2E"/>
                          </a:solidFill>
                          <a:latin typeface="Calibri"/>
                        </a:rPr>
                        <a:t>Medium</a:t>
                      </a:r>
                      <a:endParaRPr sz="1100"/>
                    </a:p>
                  </a:txBody>
                  <a:tcPr marL="47625" marR="38100" marT="19050" marB="19050" anchor="ctr">
                    <a:solidFill>
                      <a:srgbClr val="FFFFFF"/>
                    </a:solidFill>
                  </a:tcPr>
                </a:tc>
                <a:extLst>
                  <a:ext uri="{0D108BD9-81ED-4DB2-BD59-A6C34878D82A}">
                    <a16:rowId xmlns:a16="http://schemas.microsoft.com/office/drawing/2014/main" val="10007"/>
                  </a:ext>
                </a:extLst>
              </a:tr>
              <a:tr h="246850">
                <a:tc>
                  <a:txBody>
                    <a:bodyPr/>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a:lstStyle/>
                    <a:p>
                      <a:pPr algn="l"/>
                      <a:r>
                        <a:rPr sz="1100" b="0">
                          <a:solidFill>
                            <a:srgbClr val="2E2E2E"/>
                          </a:solidFill>
                          <a:latin typeface="Calibri"/>
                        </a:rPr>
                        <a:t>Low</a:t>
                      </a:r>
                      <a:endParaRPr sz="1100"/>
                    </a:p>
                  </a:txBody>
                  <a:tcPr marL="47625" marR="38100" marT="19050" marB="19050" anchor="ctr">
                    <a:solidFill>
                      <a:srgbClr val="F5F8FA"/>
                    </a:solidFill>
                  </a:tcPr>
                </a:tc>
                <a:extLst>
                  <a:ext uri="{0D108BD9-81ED-4DB2-BD59-A6C34878D82A}">
                    <a16:rowId xmlns:a16="http://schemas.microsoft.com/office/drawing/2014/main" val="10008"/>
                  </a:ext>
                </a:extLst>
              </a:tr>
              <a:tr h="246850">
                <a:tc>
                  <a:txBody>
                    <a:bodyPr/>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a:lstStyle/>
                    <a:p>
                      <a:pPr algn="l"/>
                      <a:r>
                        <a:rPr sz="1100" b="0">
                          <a:solidFill>
                            <a:srgbClr val="2E2E2E"/>
                          </a:solidFill>
                          <a:latin typeface="Calibri"/>
                        </a:rPr>
                        <a:t>Medium</a:t>
                      </a:r>
                      <a:endParaRPr sz="1100"/>
                    </a:p>
                  </a:txBody>
                  <a:tcPr marL="47625" marR="38100" marT="19050" marB="19050" anchor="ctr">
                    <a:solidFill>
                      <a:srgbClr val="FFFFFF"/>
                    </a:solidFill>
                  </a:tcPr>
                </a:tc>
                <a:extLst>
                  <a:ext uri="{0D108BD9-81ED-4DB2-BD59-A6C34878D82A}">
                    <a16:rowId xmlns:a16="http://schemas.microsoft.com/office/drawing/2014/main" val="10009"/>
                  </a:ext>
                </a:extLst>
              </a:tr>
              <a:tr h="246850">
                <a:tc>
                  <a:txBody>
                    <a:bodyPr/>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a:lstStyle/>
                    <a:p>
                      <a:pPr algn="l"/>
                      <a:r>
                        <a:rPr sz="1100" b="0">
                          <a:solidFill>
                            <a:srgbClr val="2E2E2E"/>
                          </a:solidFill>
                          <a:latin typeface="Calibri"/>
                        </a:rPr>
                        <a:t>Low</a:t>
                      </a:r>
                      <a:endParaRPr sz="1100"/>
                    </a:p>
                  </a:txBody>
                  <a:tcPr marL="47625" marR="38100" marT="19050" marB="19050" anchor="ctr">
                    <a:solidFill>
                      <a:srgbClr val="F5F8FA"/>
                    </a:solidFill>
                  </a:tcPr>
                </a:tc>
                <a:extLst>
                  <a:ext uri="{0D108BD9-81ED-4DB2-BD59-A6C34878D82A}">
                    <a16:rowId xmlns:a16="http://schemas.microsoft.com/office/drawing/2014/main" val="10010"/>
                  </a:ext>
                </a:extLst>
              </a:tr>
            </a:tbl>
          </a:graphicData>
        </a:graphic>
      </p:graphicFrame>
      <p:sp>
        <p:nvSpPr>
          <p:cNvPr id="18" name="TextBox 17"/>
          <p:cNvSpPr txBox="1"/>
          <p:nvPr/>
        </p:nvSpPr>
        <p:spPr>
          <a:xfrm>
            <a:off x="219075" y="6379820"/>
            <a:ext cx="575310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334125" y="3484220"/>
            <a:ext cx="5581650" cy="209550"/>
          </a:xfrm>
          <a:prstGeom prst="rect">
            <a:avLst/>
          </a:prstGeom>
          <a:noFill/>
        </p:spPr>
        <p:txBody>
          <a:bodyPr wrap="square" lIns="0" tIns="9525" rIns="19050"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6334125" y="3808070"/>
            <a:ext cx="5581650" cy="267211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7900177" y="2183449"/>
            <a:ext cx="366712" cy="533399"/>
          </a:xfrm>
          <a:prstGeom prst="rect">
            <a:avLst/>
          </a:prstGeom>
        </p:spPr>
      </p:pic>
      <p:sp>
        <p:nvSpPr>
          <p:cNvPr id="25" name="TextBox 24"/>
          <p:cNvSpPr txBox="1"/>
          <p:nvPr/>
        </p:nvSpPr>
        <p:spPr>
          <a:xfrm>
            <a:off x="6334125" y="3817595"/>
            <a:ext cx="3388242" cy="194310"/>
          </a:xfrm>
          <a:prstGeom prst="rect">
            <a:avLst/>
          </a:prstGeom>
          <a:noFill/>
        </p:spPr>
        <p:txBody>
          <a:bodyPr wrap="none" lIns="0" tIns="0" rIns="0" bIns="0">
            <a:spAutoFit/>
          </a:bodyPr>
          <a:lstStyle/>
          <a:p>
            <a:r>
              <a:rPr sz="1150" b="0">
                <a:solidFill>
                  <a:srgbClr val="2E2E2E"/>
                </a:solidFill>
                <a:latin typeface="Calibri"/>
              </a:rPr>
              <a:t>▪ Average partition type price is projected to rise from ~</a:t>
            </a:r>
          </a:p>
        </p:txBody>
      </p:sp>
      <p:pic>
        <p:nvPicPr>
          <p:cNvPr id="26" name="Picture 25" descr="lock.png"/>
          <p:cNvPicPr>
            <a:picLocks noChangeAspect="1"/>
          </p:cNvPicPr>
          <p:nvPr/>
        </p:nvPicPr>
        <p:blipFill>
          <a:blip r:embed="rId4"/>
          <a:stretch>
            <a:fillRect/>
          </a:stretch>
        </p:blipFill>
        <p:spPr>
          <a:xfrm>
            <a:off x="9671521" y="3807371"/>
            <a:ext cx="134549" cy="195707"/>
          </a:xfrm>
          <a:prstGeom prst="rect">
            <a:avLst/>
          </a:prstGeom>
        </p:spPr>
      </p:pic>
      <p:sp>
        <p:nvSpPr>
          <p:cNvPr id="27" name="TextBox 26"/>
          <p:cNvSpPr txBox="1"/>
          <p:nvPr/>
        </p:nvSpPr>
        <p:spPr>
          <a:xfrm>
            <a:off x="9846631" y="3817595"/>
            <a:ext cx="308111" cy="194310"/>
          </a:xfrm>
          <a:prstGeom prst="rect">
            <a:avLst/>
          </a:prstGeom>
          <a:noFill/>
        </p:spPr>
        <p:txBody>
          <a:bodyPr wrap="none" lIns="0" tIns="0" r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10103896" y="3807371"/>
            <a:ext cx="134549" cy="195707"/>
          </a:xfrm>
          <a:prstGeom prst="rect">
            <a:avLst/>
          </a:prstGeom>
        </p:spPr>
      </p:pic>
      <p:sp>
        <p:nvSpPr>
          <p:cNvPr id="29" name="TextBox 28"/>
          <p:cNvSpPr txBox="1"/>
          <p:nvPr/>
        </p:nvSpPr>
        <p:spPr>
          <a:xfrm>
            <a:off x="10279005" y="3817595"/>
            <a:ext cx="1278545" cy="194310"/>
          </a:xfrm>
          <a:prstGeom prst="rect">
            <a:avLst/>
          </a:prstGeom>
          <a:noFill/>
        </p:spPr>
        <p:txBody>
          <a:bodyPr wrap="none" lIns="0" tIns="0" rIns="0" bIns="0">
            <a:spAutoFit/>
          </a:bodyPr>
          <a:lstStyle/>
          <a:p>
            <a:r>
              <a:rPr sz="1150" b="0">
                <a:solidFill>
                  <a:srgbClr val="2E2E2E"/>
                </a:solidFill>
                <a:latin typeface="Calibri"/>
              </a:rPr>
              <a:t>US$/MT by 2036 a +</a:t>
            </a:r>
          </a:p>
        </p:txBody>
      </p:sp>
      <p:pic>
        <p:nvPicPr>
          <p:cNvPr id="30" name="Picture 29" descr="lock.png"/>
          <p:cNvPicPr>
            <a:picLocks noChangeAspect="1"/>
          </p:cNvPicPr>
          <p:nvPr/>
        </p:nvPicPr>
        <p:blipFill>
          <a:blip r:embed="rId4"/>
          <a:stretch>
            <a:fillRect/>
          </a:stretch>
        </p:blipFill>
        <p:spPr>
          <a:xfrm>
            <a:off x="11506704" y="3807371"/>
            <a:ext cx="134549" cy="195707"/>
          </a:xfrm>
          <a:prstGeom prst="rect">
            <a:avLst/>
          </a:prstGeom>
        </p:spPr>
      </p:pic>
      <p:sp>
        <p:nvSpPr>
          <p:cNvPr id="31" name="TextBox 30"/>
          <p:cNvSpPr txBox="1"/>
          <p:nvPr/>
        </p:nvSpPr>
        <p:spPr>
          <a:xfrm>
            <a:off x="6334125" y="3992855"/>
            <a:ext cx="446726" cy="194310"/>
          </a:xfrm>
          <a:prstGeom prst="rect">
            <a:avLst/>
          </a:prstGeom>
          <a:noFill/>
        </p:spPr>
        <p:txBody>
          <a:bodyPr wrap="none" lIns="0" tIns="0" rIns="0" bIns="0">
            <a:spAutoFit/>
          </a:bodyPr>
          <a:lstStyle/>
          <a:p>
            <a:r>
              <a:rPr sz="1150" b="0">
                <a:solidFill>
                  <a:srgbClr val="2E2E2E"/>
                </a:solidFill>
                <a:latin typeface="Calibri"/>
              </a:rPr>
              <a:t>CAGR.</a:t>
            </a:r>
          </a:p>
        </p:txBody>
      </p:sp>
      <p:sp>
        <p:nvSpPr>
          <p:cNvPr id="32" name="TextBox 31"/>
          <p:cNvSpPr txBox="1"/>
          <p:nvPr/>
        </p:nvSpPr>
        <p:spPr>
          <a:xfrm>
            <a:off x="6334125" y="4220692"/>
            <a:ext cx="4979429" cy="194310"/>
          </a:xfrm>
          <a:prstGeom prst="rect">
            <a:avLst/>
          </a:prstGeom>
          <a:noFill/>
        </p:spPr>
        <p:txBody>
          <a:bodyPr wrap="none" lIns="0" tIns="0" rIns="0" bIns="0">
            <a:spAutoFit/>
          </a:bodyPr>
          <a:lstStyle/>
          <a:p>
            <a:r>
              <a:rPr sz="1150" b="0">
                <a:solidFill>
                  <a:srgbClr val="2E2E2E"/>
                </a:solidFill>
                <a:latin typeface="Calibri"/>
              </a:rPr>
              <a:t>▪ 'Slotted (Interlocking Grid) P…' shows the strongest forecast price appreciation (+</a:t>
            </a:r>
          </a:p>
        </p:txBody>
      </p:sp>
      <p:pic>
        <p:nvPicPr>
          <p:cNvPr id="33" name="Picture 32" descr="lock.png"/>
          <p:cNvPicPr>
            <a:picLocks noChangeAspect="1"/>
          </p:cNvPicPr>
          <p:nvPr/>
        </p:nvPicPr>
        <p:blipFill>
          <a:blip r:embed="rId4"/>
          <a:stretch>
            <a:fillRect/>
          </a:stretch>
        </p:blipFill>
        <p:spPr>
          <a:xfrm>
            <a:off x="11262708" y="4210469"/>
            <a:ext cx="134549" cy="195707"/>
          </a:xfrm>
          <a:prstGeom prst="rect">
            <a:avLst/>
          </a:prstGeom>
        </p:spPr>
      </p:pic>
      <p:sp>
        <p:nvSpPr>
          <p:cNvPr id="34" name="TextBox 33"/>
          <p:cNvSpPr txBox="1"/>
          <p:nvPr/>
        </p:nvSpPr>
        <p:spPr>
          <a:xfrm>
            <a:off x="11437817" y="4220692"/>
            <a:ext cx="420216" cy="194310"/>
          </a:xfrm>
          <a:prstGeom prst="rect">
            <a:avLst/>
          </a:prstGeom>
          <a:noFill/>
        </p:spPr>
        <p:txBody>
          <a:bodyPr wrap="none" lIns="0" tIns="0" rIns="0" bIns="0">
            <a:spAutoFit/>
          </a:bodyPr>
          <a:lstStyle/>
          <a:p>
            <a:r>
              <a:rPr sz="1150" b="0">
                <a:solidFill>
                  <a:srgbClr val="2E2E2E"/>
                </a:solidFill>
                <a:latin typeface="Calibri"/>
              </a:rPr>
              <a:t>) over</a:t>
            </a:r>
          </a:p>
        </p:txBody>
      </p:sp>
      <p:sp>
        <p:nvSpPr>
          <p:cNvPr id="35" name="TextBox 34"/>
          <p:cNvSpPr txBox="1"/>
          <p:nvPr/>
        </p:nvSpPr>
        <p:spPr>
          <a:xfrm>
            <a:off x="6334125" y="4395952"/>
            <a:ext cx="794469" cy="194310"/>
          </a:xfrm>
          <a:prstGeom prst="rect">
            <a:avLst/>
          </a:prstGeom>
          <a:noFill/>
        </p:spPr>
        <p:txBody>
          <a:bodyPr wrap="none" lIns="0" tIns="0" rIns="0" bIns="0">
            <a:spAutoFit/>
          </a:bodyPr>
          <a:lstStyle/>
          <a:p>
            <a:r>
              <a:rPr sz="1150" b="0">
                <a:solidFill>
                  <a:srgbClr val="2E2E2E"/>
                </a:solidFill>
                <a:latin typeface="Calibri"/>
              </a:rPr>
              <a:t>the horizon.</a:t>
            </a:r>
          </a:p>
        </p:txBody>
      </p:sp>
      <p:sp>
        <p:nvSpPr>
          <p:cNvPr id="36" name="TextBox 35"/>
          <p:cNvSpPr txBox="1"/>
          <p:nvPr/>
        </p:nvSpPr>
        <p:spPr>
          <a:xfrm>
            <a:off x="6334125" y="4623790"/>
            <a:ext cx="5242433" cy="194310"/>
          </a:xfrm>
          <a:prstGeom prst="rect">
            <a:avLst/>
          </a:prstGeom>
          <a:noFill/>
        </p:spPr>
        <p:txBody>
          <a:bodyPr wrap="none" lIns="0" tIns="0" rIns="0" bIns="0">
            <a:spAutoFit/>
          </a:bodyPr>
          <a:lstStyle/>
          <a:p>
            <a:r>
              <a:rPr sz="1150" b="0">
                <a:solidFill>
                  <a:srgbClr val="2E2E2E"/>
                </a:solidFill>
                <a:latin typeface="Calibri"/>
              </a:rPr>
              <a:t>▪ Upward pressure is led by input cost and demand &amp; market conditions; efficiency and</a:t>
            </a:r>
          </a:p>
        </p:txBody>
      </p:sp>
      <p:sp>
        <p:nvSpPr>
          <p:cNvPr id="37" name="TextBox 36"/>
          <p:cNvSpPr txBox="1"/>
          <p:nvPr/>
        </p:nvSpPr>
        <p:spPr>
          <a:xfrm>
            <a:off x="6334125" y="4799050"/>
            <a:ext cx="2567037" cy="194310"/>
          </a:xfrm>
          <a:prstGeom prst="rect">
            <a:avLst/>
          </a:prstGeom>
          <a:noFill/>
        </p:spPr>
        <p:txBody>
          <a:bodyPr wrap="none" lIns="0" tIns="0" rIns="0" bIns="0">
            <a:spAutoFit/>
          </a:bodyPr>
          <a:lstStyle/>
          <a:p>
            <a:r>
              <a:rPr sz="1150" b="0">
                <a:solidFill>
                  <a:srgbClr val="2E2E2E"/>
                </a:solidFill>
                <a:latin typeface="Calibri"/>
              </a:rPr>
              <a:t>competitive intensity work the other way.</a:t>
            </a:r>
          </a:p>
        </p:txBody>
      </p:sp>
      <p:sp>
        <p:nvSpPr>
          <p:cNvPr id="38" name="TextBox 37"/>
          <p:cNvSpPr txBox="1"/>
          <p:nvPr/>
        </p:nvSpPr>
        <p:spPr>
          <a:xfrm>
            <a:off x="6334125" y="5026888"/>
            <a:ext cx="5203638" cy="194310"/>
          </a:xfrm>
          <a:prstGeom prst="rect">
            <a:avLst/>
          </a:prstGeom>
          <a:noFill/>
        </p:spPr>
        <p:txBody>
          <a:bodyPr wrap="none" lIns="0" tIns="0" rIns="0" bIns="0">
            <a:spAutoFit/>
          </a:bodyPr>
          <a:lstStyle/>
          <a:p>
            <a:r>
              <a:rPr sz="1150" b="0">
                <a:solidFill>
                  <a:srgbClr val="2E2E2E"/>
                </a:solidFill>
                <a:latin typeface="Calibri"/>
              </a:rPr>
              <a:t>▪ Net outlook: modest, structural price appreciation mix and geography will determine</a:t>
            </a:r>
          </a:p>
        </p:txBody>
      </p:sp>
      <p:sp>
        <p:nvSpPr>
          <p:cNvPr id="39" name="TextBox 38"/>
          <p:cNvSpPr txBox="1"/>
          <p:nvPr/>
        </p:nvSpPr>
        <p:spPr>
          <a:xfrm>
            <a:off x="6334125" y="5202148"/>
            <a:ext cx="1016111" cy="194310"/>
          </a:xfrm>
          <a:prstGeom prst="rect">
            <a:avLst/>
          </a:prstGeom>
          <a:noFill/>
        </p:spPr>
        <p:txBody>
          <a:bodyPr wrap="none" lIns="0" tIns="0" rIns="0" bIns="0">
            <a:spAutoFit/>
          </a:bodyPr>
          <a:lstStyle/>
          <a:p>
            <a:r>
              <a:rPr sz="1150" b="0">
                <a:solidFill>
                  <a:srgbClr val="2E2E2E"/>
                </a:solidFill>
                <a:latin typeface="Calibri"/>
              </a:rPr>
              <a:t>realised pricing.</a:t>
            </a:r>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Competitor Pricing Strategies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graphicFrame>
        <p:nvGraphicFramePr>
          <p:cNvPr id="12" name="Table 11"/>
          <p:cNvGraphicFramePr>
            <a:graphicFrameLocks noGrp="1"/>
          </p:cNvGraphicFramePr>
          <p:nvPr/>
        </p:nvGraphicFramePr>
        <p:xfrm>
          <a:off x="152400" y="1393774"/>
          <a:ext cx="7677151" cy="3619746"/>
        </p:xfrm>
        <a:graphic>
          <a:graphicData uri="http://schemas.openxmlformats.org/drawingml/2006/table">
            <a:tbl>
              <a:tblPr>
                <a:tableStyleId>{5C22544A-7EE6-4342-B048-85BDC9FD1C3A}</a:tableStyleId>
              </a:tblPr>
              <a:tblGrid>
                <a:gridCol w="2216375">
                  <a:extLst>
                    <a:ext uri="{9D8B030D-6E8A-4147-A177-3AD203B41FA5}">
                      <a16:colId xmlns:a16="http://schemas.microsoft.com/office/drawing/2014/main" val="20000"/>
                    </a:ext>
                  </a:extLst>
                </a:gridCol>
                <a:gridCol w="552668">
                  <a:extLst>
                    <a:ext uri="{9D8B030D-6E8A-4147-A177-3AD203B41FA5}">
                      <a16:colId xmlns:a16="http://schemas.microsoft.com/office/drawing/2014/main" val="20001"/>
                    </a:ext>
                  </a:extLst>
                </a:gridCol>
                <a:gridCol w="1161869">
                  <a:extLst>
                    <a:ext uri="{9D8B030D-6E8A-4147-A177-3AD203B41FA5}">
                      <a16:colId xmlns:a16="http://schemas.microsoft.com/office/drawing/2014/main" val="20002"/>
                    </a:ext>
                  </a:extLst>
                </a:gridCol>
                <a:gridCol w="1087652">
                  <a:extLst>
                    <a:ext uri="{9D8B030D-6E8A-4147-A177-3AD203B41FA5}">
                      <a16:colId xmlns:a16="http://schemas.microsoft.com/office/drawing/2014/main" val="20003"/>
                    </a:ext>
                  </a:extLst>
                </a:gridCol>
                <a:gridCol w="2658587">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a:lstStyle/>
                    <a:p>
                      <a:pPr algn="ctr"/>
                      <a:r>
                        <a:rPr sz="1100" b="1">
                          <a:solidFill>
                            <a:srgbClr val="0B2E4A"/>
                          </a:solidFill>
                          <a:latin typeface="Calibri"/>
                        </a:rPr>
                        <a:t>ASP vs Peers</a:t>
                      </a:r>
                      <a:endParaRPr sz="1100"/>
                    </a:p>
                  </a:txBody>
                  <a:tcPr marL="47625" marR="38100" marT="19050" marB="19050" anchor="ctr">
                    <a:solidFill>
                      <a:srgbClr val="E0E8EF"/>
                    </a:solidFill>
                  </a:tcPr>
                </a:tc>
                <a:tc>
                  <a:txBody>
                    <a:bodyPr/>
                    <a:lstStyle/>
                    <a:p>
                      <a:pPr algn="l"/>
                      <a:r>
                        <a:rPr sz="1100" b="1">
                          <a:solidFill>
                            <a:srgbClr val="0B2E4A"/>
                          </a:solidFill>
                          <a:latin typeface="Calibri"/>
                        </a:rPr>
                        <a:t>Strategy Focus</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562270">
                <a:tc>
                  <a:txBody>
                    <a:bodyPr/>
                    <a:lstStyle/>
                    <a:p>
                      <a:pPr algn="l"/>
                      <a:r>
                        <a:rPr sz="1100" b="1">
                          <a:solidFill>
                            <a:srgbClr val="2E2E2E"/>
                          </a:solidFill>
                          <a:latin typeface="Calibri"/>
                        </a:rPr>
                        <a:t>Multicell Packaging Inc.</a:t>
                      </a:r>
                      <a:endParaRPr sz="1100"/>
                    </a:p>
                  </a:txBody>
                  <a:tcPr marL="47625" marR="38100" marT="19050" marB="19050" anchor="ctr">
                    <a:solidFill>
                      <a:srgbClr val="FFFFFF"/>
                    </a:solidFill>
                  </a:tcPr>
                </a:tc>
                <a:tc>
                  <a:txBody>
                    <a:bodyPr/>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extLst>
                  <a:ext uri="{0D108BD9-81ED-4DB2-BD59-A6C34878D82A}">
                    <a16:rowId xmlns:a16="http://schemas.microsoft.com/office/drawing/2014/main" val="10001"/>
                  </a:ext>
                </a:extLst>
              </a:tr>
              <a:tr h="562270">
                <a:tc>
                  <a:txBody>
                    <a:bodyPr/>
                    <a:lstStyle/>
                    <a:p>
                      <a:pPr algn="l"/>
                      <a:r>
                        <a:rPr sz="1100" b="1">
                          <a:solidFill>
                            <a:srgbClr val="2E2E2E"/>
                          </a:solidFill>
                          <a:latin typeface="Calibri"/>
                        </a:rPr>
                        <a:t>Company</a:t>
                      </a:r>
                      <a:endParaRPr sz="1100"/>
                    </a:p>
                  </a:txBody>
                  <a:tcPr marL="47625" marR="38100" marT="19050" marB="19050" anchor="ctr">
                    <a:solidFill>
                      <a:srgbClr val="F5F8FA"/>
                    </a:solidFill>
                  </a:tcPr>
                </a:tc>
                <a:tc>
                  <a:txBody>
                    <a:bodyPr/>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extLst>
                  <a:ext uri="{0D108BD9-81ED-4DB2-BD59-A6C34878D82A}">
                    <a16:rowId xmlns:a16="http://schemas.microsoft.com/office/drawing/2014/main" val="10002"/>
                  </a:ext>
                </a:extLst>
              </a:tr>
              <a:tr h="562270">
                <a:tc>
                  <a:txBody>
                    <a:bodyPr/>
                    <a:lstStyle/>
                    <a:p>
                      <a:pPr algn="l"/>
                      <a:r>
                        <a:rPr sz="1100" b="1">
                          <a:solidFill>
                            <a:srgbClr val="2E2E2E"/>
                          </a:solidFill>
                          <a:latin typeface="Calibri"/>
                        </a:rPr>
                        <a:t>Great American Paper Inc.</a:t>
                      </a:r>
                      <a:endParaRPr sz="1100"/>
                    </a:p>
                  </a:txBody>
                  <a:tcPr marL="47625" marR="38100" marT="19050" marB="19050" anchor="ctr">
                    <a:solidFill>
                      <a:srgbClr val="FFFFFF"/>
                    </a:solidFill>
                  </a:tcPr>
                </a:tc>
                <a:tc>
                  <a:txBody>
                    <a:bodyPr/>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extLst>
                  <a:ext uri="{0D108BD9-81ED-4DB2-BD59-A6C34878D82A}">
                    <a16:rowId xmlns:a16="http://schemas.microsoft.com/office/drawing/2014/main" val="10003"/>
                  </a:ext>
                </a:extLst>
              </a:tr>
              <a:tr h="562270">
                <a:tc>
                  <a:txBody>
                    <a:bodyPr/>
                    <a:lstStyle/>
                    <a:p>
                      <a:pPr algn="l"/>
                      <a:r>
                        <a:rPr sz="1100" b="1">
                          <a:solidFill>
                            <a:srgbClr val="2E2E2E"/>
                          </a:solidFill>
                          <a:latin typeface="Calibri"/>
                        </a:rPr>
                        <a:t>Interpack Inc.</a:t>
                      </a:r>
                      <a:endParaRPr sz="1100"/>
                    </a:p>
                  </a:txBody>
                  <a:tcPr marL="47625" marR="38100" marT="19050" marB="19050" anchor="ctr">
                    <a:solidFill>
                      <a:srgbClr val="F5F8FA"/>
                    </a:solidFill>
                  </a:tcPr>
                </a:tc>
                <a:tc>
                  <a:txBody>
                    <a:bodyPr/>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extLst>
                  <a:ext uri="{0D108BD9-81ED-4DB2-BD59-A6C34878D82A}">
                    <a16:rowId xmlns:a16="http://schemas.microsoft.com/office/drawing/2014/main" val="10004"/>
                  </a:ext>
                </a:extLst>
              </a:tr>
              <a:tr h="562270">
                <a:tc>
                  <a:txBody>
                    <a:bodyPr/>
                    <a:lstStyle/>
                    <a:p>
                      <a:pPr algn="l"/>
                      <a:r>
                        <a:rPr sz="1100" b="1">
                          <a:solidFill>
                            <a:srgbClr val="2E2E2E"/>
                          </a:solidFill>
                          <a:latin typeface="Calibri"/>
                        </a:rPr>
                        <a:t>Caps Cases Ltd.</a:t>
                      </a:r>
                      <a:endParaRPr sz="1100"/>
                    </a:p>
                  </a:txBody>
                  <a:tcPr marL="47625" marR="38100" marT="19050" marB="19050" anchor="ctr">
                    <a:solidFill>
                      <a:srgbClr val="FFFFFF"/>
                    </a:solidFill>
                  </a:tcPr>
                </a:tc>
                <a:tc>
                  <a:txBody>
                    <a:bodyPr/>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extLst>
                  <a:ext uri="{0D108BD9-81ED-4DB2-BD59-A6C34878D82A}">
                    <a16:rowId xmlns:a16="http://schemas.microsoft.com/office/drawing/2014/main" val="10005"/>
                  </a:ext>
                </a:extLst>
              </a:tr>
              <a:tr h="562270">
                <a:tc>
                  <a:txBody>
                    <a:bodyPr/>
                    <a:lstStyle/>
                    <a:p>
                      <a:pPr algn="l"/>
                      <a:r>
                        <a:rPr sz="1100" b="1">
                          <a:solidFill>
                            <a:srgbClr val="2E2E2E"/>
                          </a:solidFill>
                          <a:latin typeface="Calibri"/>
                        </a:rPr>
                        <a:t>M &amp; M Box &amp; Partitions Co.</a:t>
                      </a:r>
                      <a:endParaRPr sz="1100"/>
                    </a:p>
                  </a:txBody>
                  <a:tcPr marL="47625" marR="38100" marT="19050" marB="19050" anchor="ctr">
                    <a:solidFill>
                      <a:srgbClr val="F5F8FA"/>
                    </a:solidFill>
                  </a:tcPr>
                </a:tc>
                <a:tc>
                  <a:txBody>
                    <a:bodyPr/>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extLst>
                  <a:ext uri="{0D108BD9-81ED-4DB2-BD59-A6C34878D82A}">
                    <a16:rowId xmlns:a16="http://schemas.microsoft.com/office/drawing/2014/main" val="10006"/>
                  </a:ext>
                </a:extLst>
              </a:tr>
            </a:tbl>
          </a:graphicData>
        </a:graphic>
      </p:graphicFrame>
      <p:sp>
        <p:nvSpPr>
          <p:cNvPr id="13" name="TextBox 12"/>
          <p:cNvSpPr txBox="1"/>
          <p:nvPr/>
        </p:nvSpPr>
        <p:spPr>
          <a:xfrm>
            <a:off x="219075" y="5023044"/>
            <a:ext cx="754380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8048625" y="1403299"/>
            <a:ext cx="3867150" cy="209550"/>
          </a:xfrm>
          <a:prstGeom prst="rect">
            <a:avLst/>
          </a:prstGeom>
          <a:noFill/>
        </p:spPr>
        <p:txBody>
          <a:bodyPr wrap="square" lIns="0" tIns="9525" rIns="19050"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8048625" y="1727149"/>
            <a:ext cx="3867150" cy="4753036"/>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4459117" y="3086680"/>
            <a:ext cx="330041" cy="480060"/>
          </a:xfrm>
          <a:prstGeom prst="rect">
            <a:avLst/>
          </a:prstGeom>
        </p:spPr>
      </p:pic>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bg>
      <p:bgPr>
        <a:solidFill>
          <a:srgbClr val="0A2A63"/>
        </a:solidFill>
        <a:effectLst/>
      </p:bgPr>
    </p:bg>
    <p:spTree>
      <p:nvGrpSpPr>
        <p:cNvPr id="1" name=""/>
        <p:cNvGrpSpPr/>
        <p:nvPr/>
      </p:nvGrpSpPr>
      <p:grpSpPr>
        <a:xfrm>
          <a:off x="0" y="0"/>
          <a:ext cx="0" cy="0"/>
          <a:chOff x="0" y="0"/>
          <a:chExt cx="0" cy="0"/>
        </a:xfrm>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ang="195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fmi_logo_template.png"/>
          <p:cNvPicPr>
            <a:picLocks noChangeAspect="1"/>
          </p:cNvPicPr>
          <p:nvPr/>
        </p:nvPicPr>
        <p:blipFill>
          <a:blip r:embed="rId3"/>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698875"/>
            <a:ext cx="7239000" cy="514350"/>
          </a:xfrm>
          <a:prstGeom prst="rect">
            <a:avLst/>
          </a:prstGeom>
          <a:noFill/>
        </p:spPr>
        <p:txBody>
          <a:bodyPr wrap="square" lIns="0" tIns="0" r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FFD447"/>
                </a:solidFill>
                <a:latin typeface="Calibri"/>
              </a:rPr>
              <a:t>➤	Supply Chain Analysis</a:t>
            </a:r>
          </a:p>
        </p:txBody>
      </p:sp>
      <p:sp>
        <p:nvSpPr>
          <p:cNvPr id="8" name="TextBox 7"/>
          <p:cNvSpPr txBox="1"/>
          <p:nvPr/>
        </p:nvSpPr>
        <p:spPr>
          <a:xfrm>
            <a:off x="4000500" y="6734175"/>
            <a:ext cx="8020050" cy="123825"/>
          </a:xfrm>
          <a:prstGeom prst="rect">
            <a:avLst/>
          </a:prstGeom>
          <a:noFill/>
        </p:spPr>
        <p:txBody>
          <a:bodyPr wrap="square" lIns="28575" tIns="9525" rIns="2857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Value Chain &amp; Stakeholder Mapping</a:t>
            </a:r>
          </a:p>
          <a:p>
            <a:pPr marL="342900" indent="-323850">
              <a:lnSpc>
                <a:spcPct val="100000"/>
              </a:lnSpc>
              <a:spcAft>
                <a:spcPts val="800"/>
              </a:spcAft>
            </a:pPr>
            <a:r>
              <a:rPr sz="2000" b="0">
                <a:solidFill>
                  <a:srgbClr val="000000"/>
                </a:solidFill>
                <a:latin typeface="Calibri"/>
              </a:rPr>
              <a:t>➤	Operating Margin Analysis</a:t>
            </a:r>
          </a:p>
          <a:p>
            <a:pPr marL="342900" indent="-323850">
              <a:lnSpc>
                <a:spcPct val="100000"/>
              </a:lnSpc>
              <a:spcAft>
                <a:spcPts val="800"/>
              </a:spcAft>
            </a:pPr>
            <a:r>
              <a:rPr sz="2000" b="0">
                <a:solidFill>
                  <a:srgbClr val="000000"/>
                </a:solidFill>
                <a:latin typeface="Calibri"/>
              </a:rPr>
              <a:t>➤	Buyers Assessment</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tIns="0" rIns="1905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19100" y="1262813"/>
            <a:ext cx="2209800" cy="346820"/>
          </a:xfrm>
          <a:prstGeom prst="rect">
            <a:avLst/>
          </a:prstGeom>
          <a:noFill/>
        </p:spPr>
        <p:txBody>
          <a:bodyPr wrap="square" lIns="28575" tIns="9525" rIns="2857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542925" y="3015168"/>
            <a:ext cx="1962150" cy="219044"/>
          </a:xfrm>
          <a:prstGeom prst="rect">
            <a:avLst/>
          </a:prstGeom>
          <a:noFill/>
        </p:spPr>
        <p:txBody>
          <a:bodyPr wrap="square" lIns="28575" tIns="9525" rIns="2857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tIns="9525" rIns="2857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tIns="9525" rIns="2857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tIns="9525" rIns="2857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2828925" y="3015168"/>
            <a:ext cx="1962150" cy="219044"/>
          </a:xfrm>
          <a:prstGeom prst="rect">
            <a:avLst/>
          </a:prstGeom>
          <a:noFill/>
        </p:spPr>
        <p:txBody>
          <a:bodyPr wrap="square" lIns="28575" tIns="9525" rIns="2857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tIns="9525" rIns="2857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tIns="9525" rIns="2857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tIns="9525" rIns="2857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5114925" y="3015168"/>
            <a:ext cx="1962150" cy="219044"/>
          </a:xfrm>
          <a:prstGeom prst="rect">
            <a:avLst/>
          </a:prstGeom>
          <a:noFill/>
        </p:spPr>
        <p:txBody>
          <a:bodyPr wrap="square" lIns="28575" tIns="9525" rIns="2857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tIns="9525" rIns="2857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tIns="9525" rIns="2857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tIns="9525" rIns="2857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7400925" y="3015168"/>
            <a:ext cx="1962150" cy="219044"/>
          </a:xfrm>
          <a:prstGeom prst="rect">
            <a:avLst/>
          </a:prstGeom>
          <a:noFill/>
        </p:spPr>
        <p:txBody>
          <a:bodyPr wrap="square" lIns="28575" tIns="9525" rIns="2857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tIns="9525" rIns="2857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tIns="9525" rIns="2857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tIns="9525" rIns="2857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p:cNvSpPr txBox="1"/>
          <p:nvPr/>
        </p:nvSpPr>
        <p:spPr>
          <a:xfrm>
            <a:off x="9686925" y="3015168"/>
            <a:ext cx="1962150" cy="219044"/>
          </a:xfrm>
          <a:prstGeom prst="rect">
            <a:avLst/>
          </a:prstGeom>
          <a:noFill/>
        </p:spPr>
        <p:txBody>
          <a:bodyPr wrap="square" lIns="28575" tIns="9525" rIns="2857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tIns="9525" rIns="2857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tIns="9525" rIns="2857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p:cNvSpPr txBox="1"/>
          <p:nvPr/>
        </p:nvSpPr>
        <p:spPr>
          <a:xfrm>
            <a:off x="514350" y="5397275"/>
            <a:ext cx="11163300" cy="200791"/>
          </a:xfrm>
          <a:prstGeom prst="rect">
            <a:avLst/>
          </a:prstGeom>
          <a:noFill/>
        </p:spPr>
        <p:txBody>
          <a:bodyPr wrap="square" lIns="0" tIns="9525" rIns="19050"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p:cNvSpPr txBox="1"/>
          <p:nvPr/>
        </p:nvSpPr>
        <p:spPr>
          <a:xfrm>
            <a:off x="514350" y="5707588"/>
            <a:ext cx="11163300" cy="739275"/>
          </a:xfrm>
          <a:prstGeom prst="rect">
            <a:avLst/>
          </a:prstGeom>
          <a:noFill/>
        </p:spPr>
        <p:txBody>
          <a:bodyPr wrap="square" lIns="0" tIns="9525" rIns="19050" bIns="9525">
            <a:spAutoFit/>
          </a:bodyPr>
          <a:lstStyle/>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a:p>
            <a:pPr algn="l">
              <a:lnSpc>
                <a:spcPct val="100000"/>
              </a:lnSpc>
              <a:spcBef>
                <a:spcPts val="0"/>
              </a:spcBef>
              <a:spcAft>
                <a:spcPts val="300"/>
              </a:spcAft>
            </a:pPr>
            <a:endParaRPr/>
          </a:p>
        </p:txBody>
      </p:sp>
      <p:sp>
        <p:nvSpPr>
          <p:cNvPr id="80" name="TextBox 7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6560026" cy="153161"/>
          </a:xfrm>
          <a:prstGeom prst="rect">
            <a:avLst/>
          </a:prstGeom>
          <a:noFill/>
        </p:spPr>
        <p:txBody>
          <a:bodyPr wrap="none" lIns="0" tIns="0" rIns="0" bIns="0">
            <a:spAutoFit/>
          </a:bodyPr>
          <a:lstStyle/>
          <a:p>
            <a:r>
              <a:rPr sz="879" b="0">
                <a:solidFill>
                  <a:srgbClr val="2E2E2E"/>
                </a:solidFill>
                <a:latin typeface="Calibri"/>
              </a:rPr>
              <a:t>▪ The Corrugated Partition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tIns="0" r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tIns="0" r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tIns="0" r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tIns="0" r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Corrugated Partition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extLst>
                    <a:ext uri="{9D8B030D-6E8A-4147-A177-3AD203B41FA5}">
                      <a16:colId xmlns:a16="http://schemas.microsoft.com/office/drawing/2014/main" val="20000"/>
                    </a:ext>
                  </a:extLst>
                </a:gridCol>
                <a:gridCol w="2669700">
                  <a:extLst>
                    <a:ext uri="{9D8B030D-6E8A-4147-A177-3AD203B41FA5}">
                      <a16:colId xmlns:a16="http://schemas.microsoft.com/office/drawing/2014/main" val="20001"/>
                    </a:ext>
                  </a:extLst>
                </a:gridCol>
                <a:gridCol w="2669700">
                  <a:extLst>
                    <a:ext uri="{9D8B030D-6E8A-4147-A177-3AD203B41FA5}">
                      <a16:colId xmlns:a16="http://schemas.microsoft.com/office/drawing/2014/main" val="20002"/>
                    </a:ext>
                  </a:extLst>
                </a:gridCol>
                <a:gridCol w="2669700">
                  <a:extLst>
                    <a:ext uri="{9D8B030D-6E8A-4147-A177-3AD203B41FA5}">
                      <a16:colId xmlns:a16="http://schemas.microsoft.com/office/drawing/2014/main" val="20003"/>
                    </a:ext>
                  </a:extLst>
                </a:gridCol>
                <a:gridCol w="2669700">
                  <a:extLst>
                    <a:ext uri="{9D8B030D-6E8A-4147-A177-3AD203B41FA5}">
                      <a16:colId xmlns:a16="http://schemas.microsoft.com/office/drawing/2014/main" val="20004"/>
                    </a:ext>
                  </a:extLst>
                </a:gridCol>
              </a:tblGrid>
              <a:tr h="246126">
                <a:tc>
                  <a:txBody>
                    <a:bodyPr/>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a:lstStyle/>
                    <a:p>
                      <a:pPr algn="l"/>
                      <a:r>
                        <a:rPr sz="1100" b="1">
                          <a:solidFill>
                            <a:srgbClr val="0B2E4A"/>
                          </a:solidFill>
                          <a:latin typeface="Calibri"/>
                        </a:rPr>
                        <a:t>Notes</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190">
                <a:tc>
                  <a:txBody>
                    <a:bodyPr/>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Commodity-linked</a:t>
                      </a:r>
                      <a:endParaRPr sz="1100"/>
                    </a:p>
                  </a:txBody>
                  <a:tcPr marL="47625" marR="38100" marT="19050" marB="19050" anchor="ctr">
                    <a:solidFill>
                      <a:srgbClr val="FFFFFF"/>
                    </a:solidFill>
                  </a:tcPr>
                </a:tc>
                <a:extLst>
                  <a:ext uri="{0D108BD9-81ED-4DB2-BD59-A6C34878D82A}">
                    <a16:rowId xmlns:a16="http://schemas.microsoft.com/office/drawing/2014/main" val="10001"/>
                  </a:ext>
                </a:extLst>
              </a:tr>
              <a:tr h="246190">
                <a:tc>
                  <a:txBody>
                    <a:bodyPr/>
                    <a:lstStyle/>
                    <a:p>
                      <a:pPr algn="l"/>
                      <a:endParaRPr sz="1100"/>
                    </a:p>
                  </a:txBody>
                  <a:tcPr marL="47625" marR="38100" marT="19050" marB="19050" anchor="ctr">
                    <a:solidFill>
                      <a:srgbClr val="F5F8FA"/>
                    </a:solidFill>
                  </a:tcPr>
                </a:tc>
                <a:tc>
                  <a:txBody>
                    <a:bodyPr/>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extLst>
                  <a:ext uri="{0D108BD9-81ED-4DB2-BD59-A6C34878D82A}">
                    <a16:rowId xmlns:a16="http://schemas.microsoft.com/office/drawing/2014/main" val="10002"/>
                  </a:ext>
                </a:extLst>
              </a:tr>
              <a:tr h="246190">
                <a:tc>
                  <a:txBody>
                    <a:bodyPr/>
                    <a:lstStyle/>
                    <a:p>
                      <a:pPr algn="l"/>
                      <a:endParaRPr sz="1100"/>
                    </a:p>
                  </a:txBody>
                  <a:tcPr marL="47625" marR="38100" marT="19050" marB="19050" anchor="ctr">
                    <a:solidFill>
                      <a:srgbClr val="FFFFFF"/>
                    </a:solidFill>
                  </a:tcPr>
                </a:tc>
                <a:tc>
                  <a:txBody>
                    <a:bodyPr/>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Volume-led, thin</a:t>
                      </a:r>
                      <a:endParaRPr sz="1100"/>
                    </a:p>
                  </a:txBody>
                  <a:tcPr marL="47625" marR="38100" marT="19050" marB="19050" anchor="ctr">
                    <a:solidFill>
                      <a:srgbClr val="FFFFFF"/>
                    </a:solidFill>
                  </a:tcPr>
                </a:tc>
                <a:extLst>
                  <a:ext uri="{0D108BD9-81ED-4DB2-BD59-A6C34878D82A}">
                    <a16:rowId xmlns:a16="http://schemas.microsoft.com/office/drawing/2014/main" val="10003"/>
                  </a:ext>
                </a:extLst>
              </a:tr>
              <a:tr h="246190">
                <a:tc>
                  <a:txBody>
                    <a:bodyPr/>
                    <a:lstStyle/>
                    <a:p>
                      <a:pPr algn="l"/>
                      <a:endParaRPr sz="1100"/>
                    </a:p>
                  </a:txBody>
                  <a:tcPr marL="47625" marR="38100" marT="19050" marB="19050" anchor="ctr">
                    <a:solidFill>
                      <a:srgbClr val="F5F8FA"/>
                    </a:solidFill>
                  </a:tcPr>
                </a:tc>
                <a:tc>
                  <a:txBody>
                    <a:bodyPr/>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extLst>
                  <a:ext uri="{0D108BD9-81ED-4DB2-BD59-A6C34878D82A}">
                    <a16:rowId xmlns:a16="http://schemas.microsoft.com/office/drawing/2014/main" val="10004"/>
                  </a:ext>
                </a:extLst>
              </a:tr>
              <a:tr h="246190">
                <a:tc>
                  <a:txBody>
                    <a:bodyPr/>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Commodity-linked</a:t>
                      </a:r>
                      <a:endParaRPr sz="1100"/>
                    </a:p>
                  </a:txBody>
                  <a:tcPr marL="47625" marR="38100" marT="19050" marB="19050" anchor="ctr">
                    <a:solidFill>
                      <a:srgbClr val="FFFFFF"/>
                    </a:solidFill>
                  </a:tcPr>
                </a:tc>
                <a:extLst>
                  <a:ext uri="{0D108BD9-81ED-4DB2-BD59-A6C34878D82A}">
                    <a16:rowId xmlns:a16="http://schemas.microsoft.com/office/drawing/2014/main" val="10005"/>
                  </a:ext>
                </a:extLst>
              </a:tr>
              <a:tr h="246190">
                <a:tc>
                  <a:txBody>
                    <a:bodyPr/>
                    <a:lstStyle/>
                    <a:p>
                      <a:pPr algn="l"/>
                      <a:endParaRPr sz="1100"/>
                    </a:p>
                  </a:txBody>
                  <a:tcPr marL="47625" marR="38100" marT="19050" marB="19050" anchor="ctr">
                    <a:solidFill>
                      <a:srgbClr val="F5F8FA"/>
                    </a:solidFill>
                  </a:tcPr>
                </a:tc>
                <a:tc>
                  <a:txBody>
                    <a:bodyPr/>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extLst>
                  <a:ext uri="{0D108BD9-81ED-4DB2-BD59-A6C34878D82A}">
                    <a16:rowId xmlns:a16="http://schemas.microsoft.com/office/drawing/2014/main" val="10006"/>
                  </a:ext>
                </a:extLst>
              </a:tr>
              <a:tr h="246190">
                <a:tc>
                  <a:txBody>
                    <a:bodyPr/>
                    <a:lstStyle/>
                    <a:p>
                      <a:pPr algn="l"/>
                      <a:endParaRPr sz="1100"/>
                    </a:p>
                  </a:txBody>
                  <a:tcPr marL="47625" marR="38100" marT="19050" marB="19050" anchor="ctr">
                    <a:solidFill>
                      <a:srgbClr val="FFFFFF"/>
                    </a:solidFill>
                  </a:tcPr>
                </a:tc>
                <a:tc>
                  <a:txBody>
                    <a:bodyPr/>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Volume-led, thin</a:t>
                      </a:r>
                      <a:endParaRPr sz="1100"/>
                    </a:p>
                  </a:txBody>
                  <a:tcPr marL="47625" marR="38100" marT="19050" marB="19050" anchor="ctr">
                    <a:solidFill>
                      <a:srgbClr val="FFFFFF"/>
                    </a:solidFill>
                  </a:tcPr>
                </a:tc>
                <a:extLst>
                  <a:ext uri="{0D108BD9-81ED-4DB2-BD59-A6C34878D82A}">
                    <a16:rowId xmlns:a16="http://schemas.microsoft.com/office/drawing/2014/main" val="10007"/>
                  </a:ext>
                </a:extLst>
              </a:tr>
              <a:tr h="246190">
                <a:tc>
                  <a:txBody>
                    <a:bodyPr/>
                    <a:lstStyle/>
                    <a:p>
                      <a:pPr algn="l"/>
                      <a:endParaRPr sz="1100"/>
                    </a:p>
                  </a:txBody>
                  <a:tcPr marL="47625" marR="38100" marT="19050" marB="19050" anchor="ctr">
                    <a:solidFill>
                      <a:srgbClr val="F5F8FA"/>
                    </a:solidFill>
                  </a:tcPr>
                </a:tc>
                <a:tc>
                  <a:txBody>
                    <a:bodyPr/>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extLst>
                  <a:ext uri="{0D108BD9-81ED-4DB2-BD59-A6C34878D82A}">
                    <a16:rowId xmlns:a16="http://schemas.microsoft.com/office/drawing/2014/main" val="10008"/>
                  </a:ext>
                </a:extLst>
              </a:tr>
              <a:tr h="246190">
                <a:tc>
                  <a:txBody>
                    <a:bodyPr/>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Commodity-linked</a:t>
                      </a:r>
                      <a:endParaRPr sz="1100"/>
                    </a:p>
                  </a:txBody>
                  <a:tcPr marL="47625" marR="38100" marT="19050" marB="19050" anchor="ctr">
                    <a:solidFill>
                      <a:srgbClr val="FFFFFF"/>
                    </a:solidFill>
                  </a:tcPr>
                </a:tc>
                <a:extLst>
                  <a:ext uri="{0D108BD9-81ED-4DB2-BD59-A6C34878D82A}">
                    <a16:rowId xmlns:a16="http://schemas.microsoft.com/office/drawing/2014/main" val="10009"/>
                  </a:ext>
                </a:extLst>
              </a:tr>
              <a:tr h="246190">
                <a:tc>
                  <a:txBody>
                    <a:bodyPr/>
                    <a:lstStyle/>
                    <a:p>
                      <a:pPr algn="l"/>
                      <a:endParaRPr sz="1100"/>
                    </a:p>
                  </a:txBody>
                  <a:tcPr marL="47625" marR="38100" marT="19050" marB="19050" anchor="ctr">
                    <a:solidFill>
                      <a:srgbClr val="F5F8FA"/>
                    </a:solidFill>
                  </a:tcPr>
                </a:tc>
                <a:tc>
                  <a:txBody>
                    <a:bodyPr/>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extLst>
                  <a:ext uri="{0D108BD9-81ED-4DB2-BD59-A6C34878D82A}">
                    <a16:rowId xmlns:a16="http://schemas.microsoft.com/office/drawing/2014/main" val="10010"/>
                  </a:ext>
                </a:extLst>
              </a:tr>
              <a:tr h="246190">
                <a:tc>
                  <a:txBody>
                    <a:bodyPr/>
                    <a:lstStyle/>
                    <a:p>
                      <a:pPr algn="l"/>
                      <a:endParaRPr sz="1100"/>
                    </a:p>
                  </a:txBody>
                  <a:tcPr marL="47625" marR="38100" marT="19050" marB="19050" anchor="ctr">
                    <a:solidFill>
                      <a:srgbClr val="FFFFFF"/>
                    </a:solidFill>
                  </a:tcPr>
                </a:tc>
                <a:tc>
                  <a:txBody>
                    <a:bodyPr/>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Volume-led, thin</a:t>
                      </a:r>
                      <a:endParaRPr sz="1100"/>
                    </a:p>
                  </a:txBody>
                  <a:tcPr marL="47625" marR="38100" marT="19050" marB="19050" anchor="ctr">
                    <a:solidFill>
                      <a:srgbClr val="FFFFFF"/>
                    </a:solidFill>
                  </a:tcPr>
                </a:tc>
                <a:extLst>
                  <a:ext uri="{0D108BD9-81ED-4DB2-BD59-A6C34878D82A}">
                    <a16:rowId xmlns:a16="http://schemas.microsoft.com/office/drawing/2014/main" val="10011"/>
                  </a:ext>
                </a:extLst>
              </a:tr>
              <a:tr h="246190">
                <a:tc>
                  <a:txBody>
                    <a:bodyPr/>
                    <a:lstStyle/>
                    <a:p>
                      <a:pPr algn="l"/>
                      <a:endParaRPr sz="1100"/>
                    </a:p>
                  </a:txBody>
                  <a:tcPr marL="47625" marR="38100" marT="19050" marB="19050" anchor="ctr">
                    <a:solidFill>
                      <a:srgbClr val="F5F8FA"/>
                    </a:solidFill>
                  </a:tcPr>
                </a:tc>
                <a:tc>
                  <a:txBody>
                    <a:bodyPr/>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extLst>
                  <a:ext uri="{0D108BD9-81ED-4DB2-BD59-A6C34878D82A}">
                    <a16:rowId xmlns:a16="http://schemas.microsoft.com/office/drawing/2014/main" val="10012"/>
                  </a:ext>
                </a:extLst>
              </a:tr>
            </a:tbl>
          </a:graphicData>
        </a:graphic>
      </p:graphicFrame>
      <p:sp>
        <p:nvSpPr>
          <p:cNvPr id="13" name="TextBox 12"/>
          <p:cNvSpPr txBox="1"/>
          <p:nvPr/>
        </p:nvSpPr>
        <p:spPr>
          <a:xfrm>
            <a:off x="219075" y="4448175"/>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276225" y="4867275"/>
            <a:ext cx="11639550" cy="209550"/>
          </a:xfrm>
          <a:prstGeom prst="rect">
            <a:avLst/>
          </a:prstGeom>
          <a:noFill/>
        </p:spPr>
        <p:txBody>
          <a:bodyPr wrap="square" lIns="0" tIns="9525" rIns="19050"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76225" y="5191125"/>
            <a:ext cx="11639550" cy="1362075"/>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Buyers Assessment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38125" y="1038225"/>
            <a:ext cx="117157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Corrugated Partition Market Buyers / End-User Assessment</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947929">
                  <a:extLst>
                    <a:ext uri="{9D8B030D-6E8A-4147-A177-3AD203B41FA5}">
                      <a16:colId xmlns:a16="http://schemas.microsoft.com/office/drawing/2014/main" val="20000"/>
                    </a:ext>
                  </a:extLst>
                </a:gridCol>
                <a:gridCol w="1501336">
                  <a:extLst>
                    <a:ext uri="{9D8B030D-6E8A-4147-A177-3AD203B41FA5}">
                      <a16:colId xmlns:a16="http://schemas.microsoft.com/office/drawing/2014/main" val="20001"/>
                    </a:ext>
                  </a:extLst>
                </a:gridCol>
                <a:gridCol w="1076058">
                  <a:extLst>
                    <a:ext uri="{9D8B030D-6E8A-4147-A177-3AD203B41FA5}">
                      <a16:colId xmlns:a16="http://schemas.microsoft.com/office/drawing/2014/main" val="20002"/>
                    </a:ext>
                  </a:extLst>
                </a:gridCol>
                <a:gridCol w="1141485">
                  <a:extLst>
                    <a:ext uri="{9D8B030D-6E8A-4147-A177-3AD203B41FA5}">
                      <a16:colId xmlns:a16="http://schemas.microsoft.com/office/drawing/2014/main" val="20003"/>
                    </a:ext>
                  </a:extLst>
                </a:gridCol>
                <a:gridCol w="1621286">
                  <a:extLst>
                    <a:ext uri="{9D8B030D-6E8A-4147-A177-3AD203B41FA5}">
                      <a16:colId xmlns:a16="http://schemas.microsoft.com/office/drawing/2014/main" val="20004"/>
                    </a:ext>
                  </a:extLst>
                </a:gridCol>
                <a:gridCol w="1294149">
                  <a:extLst>
                    <a:ext uri="{9D8B030D-6E8A-4147-A177-3AD203B41FA5}">
                      <a16:colId xmlns:a16="http://schemas.microsoft.com/office/drawing/2014/main" val="20005"/>
                    </a:ext>
                  </a:extLst>
                </a:gridCol>
                <a:gridCol w="1419509">
                  <a:extLst>
                    <a:ext uri="{9D8B030D-6E8A-4147-A177-3AD203B41FA5}">
                      <a16:colId xmlns:a16="http://schemas.microsoft.com/office/drawing/2014/main" val="20006"/>
                    </a:ext>
                  </a:extLst>
                </a:gridCol>
                <a:gridCol w="1365029">
                  <a:extLst>
                    <a:ext uri="{9D8B030D-6E8A-4147-A177-3AD203B41FA5}">
                      <a16:colId xmlns:a16="http://schemas.microsoft.com/office/drawing/2014/main" val="20007"/>
                    </a:ext>
                  </a:extLst>
                </a:gridCol>
                <a:gridCol w="1520419">
                  <a:extLst>
                    <a:ext uri="{9D8B030D-6E8A-4147-A177-3AD203B41FA5}">
                      <a16:colId xmlns:a16="http://schemas.microsoft.com/office/drawing/2014/main" val="20008"/>
                    </a:ext>
                  </a:extLst>
                </a:gridCol>
              </a:tblGrid>
              <a:tr h="246126">
                <a:tc>
                  <a:txBody>
                    <a:bodyPr/>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Procurement Vol.</a:t>
                      </a:r>
                      <a:endParaRPr sz="1100"/>
                    </a:p>
                  </a:txBody>
                  <a:tcPr marL="47625" marR="38100" marT="19050" marB="19050" anchor="ctr">
                    <a:solidFill>
                      <a:srgbClr val="E0E8EF"/>
                    </a:solidFill>
                  </a:tcPr>
                </a:tc>
                <a:tc>
                  <a:txBody>
                    <a:bodyPr/>
                    <a:lstStyle/>
                    <a:p>
                      <a:pPr algn="ctr"/>
                      <a:r>
                        <a:rPr sz="1100" b="1">
                          <a:solidFill>
                            <a:srgbClr val="0B2E4A"/>
                          </a:solidFill>
                          <a:latin typeface="Calibri"/>
                        </a:rPr>
                        <a:t>Avg Price (US$/MT)</a:t>
                      </a:r>
                      <a:endParaRPr sz="1100"/>
                    </a:p>
                  </a:txBody>
                  <a:tcPr marL="47625" marR="38100" marT="19050" marB="19050" anchor="ctr">
                    <a:solidFill>
                      <a:srgbClr val="E0E8EF"/>
                    </a:solidFill>
                  </a:tcPr>
                </a:tc>
                <a:tc>
                  <a:txBody>
                    <a:bodyPr/>
                    <a:lstStyle/>
                    <a:p>
                      <a:pPr algn="ctr"/>
                      <a:r>
                        <a:rPr sz="1100" b="1">
                          <a:solidFill>
                            <a:srgbClr val="0B2E4A"/>
                          </a:solidFill>
                          <a:latin typeface="Calibri"/>
                        </a:rPr>
                        <a:t>Revenue (US$ Mn)</a:t>
                      </a:r>
                      <a:endParaRPr sz="1100"/>
                    </a:p>
                  </a:txBody>
                  <a:tcPr marL="47625" marR="38100" marT="19050" marB="19050" anchor="ctr">
                    <a:solidFill>
                      <a:srgbClr val="E0E8EF"/>
                    </a:solidFill>
                  </a:tcPr>
                </a:tc>
                <a:tc>
                  <a:txBody>
                    <a:bodyPr/>
                    <a:lstStyle/>
                    <a:p>
                      <a:pPr algn="l"/>
                      <a:r>
                        <a:rPr sz="1100" b="1">
                          <a:solidFill>
                            <a:srgbClr val="0B2E4A"/>
                          </a:solidFill>
                          <a:latin typeface="Calibri"/>
                        </a:rPr>
                        <a:t>Key Selection Factor</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246850">
                <a:tc>
                  <a:txBody>
                    <a:bodyPr/>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a:lstStyle/>
                    <a:p>
                      <a:pPr algn="l"/>
                      <a:r>
                        <a:rPr sz="1100" b="0">
                          <a:solidFill>
                            <a:srgbClr val="2E2E2E"/>
                          </a:solidFill>
                          <a:latin typeface="Calibri"/>
                        </a:rPr>
                        <a:t>U.S.</a:t>
                      </a:r>
                      <a:endParaRPr sz="1100"/>
                    </a:p>
                  </a:txBody>
                  <a:tcPr marL="47625" marR="38100" marT="19050" marB="19050" anchor="ctr">
                    <a:solidFill>
                      <a:srgbClr val="FFFFFF"/>
                    </a:solidFill>
                  </a:tcPr>
                </a:tc>
                <a:tc>
                  <a:txBody>
                    <a:bodyPr/>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Price &amp; reliability</a:t>
                      </a:r>
                      <a:endParaRPr sz="1100"/>
                    </a:p>
                  </a:txBody>
                  <a:tcPr marL="47625" marR="38100" marT="19050" marB="19050" anchor="ctr">
                    <a:solidFill>
                      <a:srgbClr val="FFFFFF"/>
                    </a:solidFill>
                  </a:tcPr>
                </a:tc>
                <a:extLst>
                  <a:ext uri="{0D108BD9-81ED-4DB2-BD59-A6C34878D82A}">
                    <a16:rowId xmlns:a16="http://schemas.microsoft.com/office/drawing/2014/main" val="10001"/>
                  </a:ext>
                </a:extLst>
              </a:tr>
              <a:tr h="246850">
                <a:tc>
                  <a:txBody>
                    <a:bodyPr/>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extLst>
                  <a:ext uri="{0D108BD9-81ED-4DB2-BD59-A6C34878D82A}">
                    <a16:rowId xmlns:a16="http://schemas.microsoft.com/office/drawing/2014/main" val="10002"/>
                  </a:ext>
                </a:extLst>
              </a:tr>
              <a:tr h="246850">
                <a:tc>
                  <a:txBody>
                    <a:bodyPr/>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Lead time &amp; service</a:t>
                      </a:r>
                      <a:endParaRPr sz="1100"/>
                    </a:p>
                  </a:txBody>
                  <a:tcPr marL="47625" marR="38100" marT="19050" marB="19050" anchor="ctr">
                    <a:solidFill>
                      <a:srgbClr val="FFFFFF"/>
                    </a:solidFill>
                  </a:tcPr>
                </a:tc>
                <a:extLst>
                  <a:ext uri="{0D108BD9-81ED-4DB2-BD59-A6C34878D82A}">
                    <a16:rowId xmlns:a16="http://schemas.microsoft.com/office/drawing/2014/main" val="10003"/>
                  </a:ext>
                </a:extLst>
              </a:tr>
              <a:tr h="246850">
                <a:tc>
                  <a:txBody>
                    <a:bodyPr/>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Capacity &amp; scale</a:t>
                      </a:r>
                      <a:endParaRPr sz="1100"/>
                    </a:p>
                  </a:txBody>
                  <a:tcPr marL="47625" marR="38100" marT="19050" marB="19050" anchor="ctr">
                    <a:solidFill>
                      <a:srgbClr val="F5F8FA"/>
                    </a:solidFill>
                  </a:tcPr>
                </a:tc>
                <a:extLst>
                  <a:ext uri="{0D108BD9-81ED-4DB2-BD59-A6C34878D82A}">
                    <a16:rowId xmlns:a16="http://schemas.microsoft.com/office/drawing/2014/main" val="10004"/>
                  </a:ext>
                </a:extLst>
              </a:tr>
              <a:tr h="246850">
                <a:tc>
                  <a:txBody>
                    <a:bodyPr/>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Brand &amp; support</a:t>
                      </a:r>
                      <a:endParaRPr sz="1100"/>
                    </a:p>
                  </a:txBody>
                  <a:tcPr marL="47625" marR="38100" marT="19050" marB="19050" anchor="ctr">
                    <a:solidFill>
                      <a:srgbClr val="FFFFFF"/>
                    </a:solidFill>
                  </a:tcPr>
                </a:tc>
                <a:extLst>
                  <a:ext uri="{0D108BD9-81ED-4DB2-BD59-A6C34878D82A}">
                    <a16:rowId xmlns:a16="http://schemas.microsoft.com/office/drawing/2014/main" val="10005"/>
                  </a:ext>
                </a:extLst>
              </a:tr>
              <a:tr h="246850">
                <a:tc>
                  <a:txBody>
                    <a:bodyPr/>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Price &amp; reliability</a:t>
                      </a:r>
                      <a:endParaRPr sz="1100"/>
                    </a:p>
                  </a:txBody>
                  <a:tcPr marL="47625" marR="38100" marT="19050" marB="19050" anchor="ctr">
                    <a:solidFill>
                      <a:srgbClr val="F5F8FA"/>
                    </a:solidFill>
                  </a:tcPr>
                </a:tc>
                <a:extLst>
                  <a:ext uri="{0D108BD9-81ED-4DB2-BD59-A6C34878D82A}">
                    <a16:rowId xmlns:a16="http://schemas.microsoft.com/office/drawing/2014/main" val="10006"/>
                  </a:ext>
                </a:extLst>
              </a:tr>
              <a:tr h="246850">
                <a:tc>
                  <a:txBody>
                    <a:bodyPr/>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extLst>
                  <a:ext uri="{0D108BD9-81ED-4DB2-BD59-A6C34878D82A}">
                    <a16:rowId xmlns:a16="http://schemas.microsoft.com/office/drawing/2014/main" val="10007"/>
                  </a:ext>
                </a:extLst>
              </a:tr>
              <a:tr h="246850">
                <a:tc>
                  <a:txBody>
                    <a:bodyPr/>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a:lstStyle/>
                    <a:p>
                      <a:pPr algn="l"/>
                      <a:r>
                        <a:rPr sz="1100" b="0">
                          <a:solidFill>
                            <a:srgbClr val="2E2E2E"/>
                          </a:solidFill>
                          <a:latin typeface="Calibri"/>
                        </a:rPr>
                        <a:t>U.K.</a:t>
                      </a:r>
                      <a:endParaRPr sz="1100"/>
                    </a:p>
                  </a:txBody>
                  <a:tcPr marL="47625" marR="38100" marT="19050" marB="19050" anchor="ctr">
                    <a:solidFill>
                      <a:srgbClr val="F5F8FA"/>
                    </a:solidFill>
                  </a:tcPr>
                </a:tc>
                <a:tc>
                  <a:txBody>
                    <a:bodyPr/>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Lead time &amp; service</a:t>
                      </a:r>
                      <a:endParaRPr sz="1100"/>
                    </a:p>
                  </a:txBody>
                  <a:tcPr marL="47625" marR="38100" marT="19050" marB="19050" anchor="ctr">
                    <a:solidFill>
                      <a:srgbClr val="F5F8FA"/>
                    </a:solidFill>
                  </a:tcPr>
                </a:tc>
                <a:extLst>
                  <a:ext uri="{0D108BD9-81ED-4DB2-BD59-A6C34878D82A}">
                    <a16:rowId xmlns:a16="http://schemas.microsoft.com/office/drawing/2014/main" val="10008"/>
                  </a:ext>
                </a:extLst>
              </a:tr>
              <a:tr h="246850">
                <a:tc>
                  <a:txBody>
                    <a:bodyPr/>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l"/>
                      <a:r>
                        <a:rPr sz="1100" b="0">
                          <a:solidFill>
                            <a:srgbClr val="2E2E2E"/>
                          </a:solidFill>
                          <a:latin typeface="Calibri"/>
                        </a:rPr>
                        <a:t>Capacity &amp; scale</a:t>
                      </a:r>
                      <a:endParaRPr sz="1100"/>
                    </a:p>
                  </a:txBody>
                  <a:tcPr marL="47625" marR="38100" marT="19050" marB="19050" anchor="ctr">
                    <a:solidFill>
                      <a:srgbClr val="FFFFFF"/>
                    </a:solidFill>
                  </a:tcPr>
                </a:tc>
                <a:extLst>
                  <a:ext uri="{0D108BD9-81ED-4DB2-BD59-A6C34878D82A}">
                    <a16:rowId xmlns:a16="http://schemas.microsoft.com/office/drawing/2014/main" val="10009"/>
                  </a:ext>
                </a:extLst>
              </a:tr>
              <a:tr h="246850">
                <a:tc>
                  <a:txBody>
                    <a:bodyPr/>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l"/>
                      <a:r>
                        <a:rPr sz="1100" b="0">
                          <a:solidFill>
                            <a:srgbClr val="2E2E2E"/>
                          </a:solidFill>
                          <a:latin typeface="Calibri"/>
                        </a:rPr>
                        <a:t>Brand &amp; support</a:t>
                      </a:r>
                      <a:endParaRPr sz="1100"/>
                    </a:p>
                  </a:txBody>
                  <a:tcPr marL="47625" marR="38100" marT="19050" marB="19050" anchor="ctr">
                    <a:solidFill>
                      <a:srgbClr val="F5F8FA"/>
                    </a:solidFill>
                  </a:tcPr>
                </a:tc>
                <a:extLst>
                  <a:ext uri="{0D108BD9-81ED-4DB2-BD59-A6C34878D82A}">
                    <a16:rowId xmlns:a16="http://schemas.microsoft.com/office/drawing/2014/main" val="10010"/>
                  </a:ext>
                </a:extLst>
              </a:tr>
            </a:tbl>
          </a:graphicData>
        </a:graphic>
      </p:graphicFrame>
      <p:sp>
        <p:nvSpPr>
          <p:cNvPr id="13" name="TextBox 12"/>
          <p:cNvSpPr txBox="1"/>
          <p:nvPr/>
        </p:nvSpPr>
        <p:spPr>
          <a:xfrm>
            <a:off x="219075" y="3962400"/>
            <a:ext cx="117538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276225" y="4381500"/>
            <a:ext cx="11639550" cy="209550"/>
          </a:xfrm>
          <a:prstGeom prst="rect">
            <a:avLst/>
          </a:prstGeom>
          <a:noFill/>
        </p:spPr>
        <p:txBody>
          <a:bodyPr wrap="square" lIns="0" tIns="9525" rIns="19050" bIns="9525">
            <a:spAutoFit/>
          </a:bodyPr>
          <a:lstStyle/>
          <a:p>
            <a:pPr algn="l"/>
            <a:r>
              <a:rPr sz="1300" b="1">
                <a:solidFill>
                  <a:srgbClr val="0B2E4A"/>
                </a:solidFill>
                <a:latin typeface="Calibri"/>
              </a:rPr>
              <a:t>Notes</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76225" y="4705350"/>
            <a:ext cx="11639550" cy="1847850"/>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293147" y="2451926"/>
            <a:ext cx="366712" cy="533400"/>
          </a:xfrm>
          <a:prstGeom prst="rect">
            <a:avLst/>
          </a:prstGeom>
        </p:spPr>
      </p:pic>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bg>
      <p:bgPr>
        <a:solidFill>
          <a:srgbClr val="0A2A63"/>
        </a:solidFill>
        <a:effectLst/>
      </p:bgPr>
    </p:bg>
    <p:spTree>
      <p:nvGrpSpPr>
        <p:cNvPr id="1" name=""/>
        <p:cNvGrpSpPr/>
        <p:nvPr/>
      </p:nvGrpSpPr>
      <p:grpSpPr>
        <a:xfrm>
          <a:off x="0" y="0"/>
          <a:ext cx="0" cy="0"/>
          <a:chOff x="0" y="0"/>
          <a:chExt cx="0" cy="0"/>
        </a:xfrm>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ang="195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fmi_logo_template.png"/>
          <p:cNvPicPr>
            <a:picLocks noChangeAspect="1"/>
          </p:cNvPicPr>
          <p:nvPr/>
        </p:nvPicPr>
        <p:blipFill>
          <a:blip r:embed="rId3"/>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698875"/>
            <a:ext cx="7239000" cy="514350"/>
          </a:xfrm>
          <a:prstGeom prst="rect">
            <a:avLst/>
          </a:prstGeom>
          <a:noFill/>
        </p:spPr>
        <p:txBody>
          <a:bodyPr wrap="square" lIns="0" tIns="0" r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FFD447"/>
                </a:solidFill>
                <a:latin typeface="Calibri"/>
              </a:rPr>
              <a:t>➤	Market Dynamics &amp; Forces</a:t>
            </a:r>
          </a:p>
        </p:txBody>
      </p:sp>
      <p:sp>
        <p:nvSpPr>
          <p:cNvPr id="8" name="TextBox 7"/>
          <p:cNvSpPr txBox="1"/>
          <p:nvPr/>
        </p:nvSpPr>
        <p:spPr>
          <a:xfrm>
            <a:off x="4000500" y="6734175"/>
            <a:ext cx="8020050" cy="123825"/>
          </a:xfrm>
          <a:prstGeom prst="rect">
            <a:avLst/>
          </a:prstGeom>
          <a:noFill/>
        </p:spPr>
        <p:txBody>
          <a:bodyPr wrap="square" lIns="28575" tIns="9525" rIns="2857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Market Drivers</a:t>
            </a:r>
          </a:p>
          <a:p>
            <a:pPr marL="342900" indent="-323850">
              <a:lnSpc>
                <a:spcPct val="100000"/>
              </a:lnSpc>
              <a:spcAft>
                <a:spcPts val="800"/>
              </a:spcAft>
            </a:pPr>
            <a:r>
              <a:rPr sz="2000" b="0">
                <a:solidFill>
                  <a:srgbClr val="000000"/>
                </a:solidFill>
                <a:latin typeface="Calibri"/>
              </a:rPr>
              <a:t>➤	Market Restraints</a:t>
            </a:r>
          </a:p>
          <a:p>
            <a:pPr marL="342900" indent="-323850">
              <a:lnSpc>
                <a:spcPct val="100000"/>
              </a:lnSpc>
              <a:spcAft>
                <a:spcPts val="800"/>
              </a:spcAft>
            </a:pPr>
            <a:r>
              <a:rPr sz="2000" b="0">
                <a:solidFill>
                  <a:srgbClr val="000000"/>
                </a:solidFill>
                <a:latin typeface="Calibri"/>
              </a:rPr>
              <a:t>➤	Market Opportunities</a:t>
            </a:r>
          </a:p>
          <a:p>
            <a:pPr marL="342900" indent="-323850">
              <a:lnSpc>
                <a:spcPct val="100000"/>
              </a:lnSpc>
              <a:spcAft>
                <a:spcPts val="800"/>
              </a:spcAft>
            </a:pPr>
            <a:r>
              <a:rPr sz="2000" b="0">
                <a:solidFill>
                  <a:srgbClr val="000000"/>
                </a:solidFill>
                <a:latin typeface="Calibri"/>
              </a:rPr>
              <a:t>➤	Recent Developments &amp; Milestones</a:t>
            </a:r>
          </a:p>
          <a:p>
            <a:pPr marL="342900" indent="-323850">
              <a:lnSpc>
                <a:spcPct val="100000"/>
              </a:lnSpc>
              <a:spcAft>
                <a:spcPts val="800"/>
              </a:spcAft>
            </a:pPr>
            <a:r>
              <a:rPr sz="2000" b="0">
                <a:solidFill>
                  <a:srgbClr val="000000"/>
                </a:solidFill>
                <a:latin typeface="Calibri"/>
              </a:rPr>
              <a:t>➤	Five Forces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Dynamics by Region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180975" y="1025515"/>
            <a:ext cx="8572500" cy="219044"/>
          </a:xfrm>
          <a:prstGeom prst="rect">
            <a:avLst/>
          </a:prstGeom>
          <a:noFill/>
        </p:spPr>
        <p:txBody>
          <a:bodyPr wrap="square" lIns="28575" tIns="9525" rIns="28575" bIns="9525" anchor="ctr">
            <a:spAutoFit/>
          </a:bodyPr>
          <a:lstStyle/>
          <a:p>
            <a:pPr algn="l"/>
            <a:r>
              <a:rPr sz="1150" b="1">
                <a:solidFill>
                  <a:srgbClr val="2E2E2E"/>
                </a:solidFill>
                <a:latin typeface="Calibri"/>
              </a:rPr>
              <a:t>Demand Dynamics by Region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00025" y="1262813"/>
            <a:ext cx="1428750" cy="255552"/>
          </a:xfrm>
          <a:prstGeom prst="rect">
            <a:avLst/>
          </a:prstGeom>
          <a:noFill/>
        </p:spPr>
        <p:txBody>
          <a:bodyPr wrap="square" lIns="28575" tIns="9525" rIns="28575" bIns="9525" anchor="ctr">
            <a:spAutoFit/>
          </a:bodyPr>
          <a:lstStyle/>
          <a:p>
            <a:pPr algn="l"/>
            <a:r>
              <a:rPr sz="1100" b="1">
                <a:solidFill>
                  <a:srgbClr val="0B2E4A"/>
                </a:solidFill>
                <a:latin typeface="Calibri"/>
              </a:rPr>
              <a:t>Region</a:t>
            </a:r>
          </a:p>
        </p:txBody>
      </p:sp>
      <p:sp>
        <p:nvSpPr>
          <p:cNvPr id="14" name="TextBox 13"/>
          <p:cNvSpPr txBox="1"/>
          <p:nvPr/>
        </p:nvSpPr>
        <p:spPr>
          <a:xfrm>
            <a:off x="1724025" y="1262813"/>
            <a:ext cx="3714750" cy="255552"/>
          </a:xfrm>
          <a:prstGeom prst="rect">
            <a:avLst/>
          </a:prstGeom>
          <a:noFill/>
        </p:spPr>
        <p:txBody>
          <a:bodyPr wrap="square" lIns="28575" tIns="9525" rIns="2857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tIns="9525" rIns="2857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tIns="9525" rIns="2857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70276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200025" y="1518365"/>
            <a:ext cx="1428750" cy="702767"/>
          </a:xfrm>
          <a:prstGeom prst="rect">
            <a:avLst/>
          </a:prstGeom>
          <a:noFill/>
        </p:spPr>
        <p:txBody>
          <a:bodyPr wrap="square" lIns="28575" tIns="9525" rIns="28575" bIns="9525" anchor="ctr">
            <a:spAutoFit/>
          </a:bodyPr>
          <a:lstStyle/>
          <a:p>
            <a:pPr algn="l"/>
            <a:r>
              <a:rPr sz="1100" b="1">
                <a:solidFill>
                  <a:srgbClr val="2E2E2E"/>
                </a:solidFill>
                <a:latin typeface="Calibri"/>
              </a:rPr>
              <a:t>North America</a:t>
            </a:r>
          </a:p>
        </p:txBody>
      </p:sp>
      <p:sp>
        <p:nvSpPr>
          <p:cNvPr id="19" name="TextBox 18"/>
          <p:cNvSpPr txBox="1"/>
          <p:nvPr/>
        </p:nvSpPr>
        <p:spPr>
          <a:xfrm>
            <a:off x="1724025" y="1545745"/>
            <a:ext cx="3676650" cy="648006"/>
          </a:xfrm>
          <a:prstGeom prst="rect">
            <a:avLst/>
          </a:prstGeom>
          <a:noFill/>
        </p:spPr>
        <p:txBody>
          <a:bodyPr wrap="square" lIns="28575" tIns="9525" rIns="28575" bIns="9525" anchor="ctr">
            <a:spAutoFit/>
          </a:bodyPr>
          <a:lstStyle/>
          <a:p>
            <a:pPr algn="l">
              <a:lnSpc>
                <a:spcPct val="115000"/>
              </a:lnSpc>
            </a:pPr>
            <a:endParaRPr/>
          </a:p>
        </p:txBody>
      </p:sp>
      <p:sp>
        <p:nvSpPr>
          <p:cNvPr id="20" name="TextBox 19"/>
          <p:cNvSpPr txBox="1"/>
          <p:nvPr/>
        </p:nvSpPr>
        <p:spPr>
          <a:xfrm>
            <a:off x="5534025" y="1545745"/>
            <a:ext cx="2724150" cy="648006"/>
          </a:xfrm>
          <a:prstGeom prst="rect">
            <a:avLst/>
          </a:prstGeom>
          <a:noFill/>
        </p:spPr>
        <p:txBody>
          <a:bodyPr wrap="square" lIns="28575" tIns="9525" rIns="28575" bIns="9525" anchor="ctr">
            <a:spAutoFit/>
          </a:bodyPr>
          <a:lstStyle/>
          <a:p>
            <a:pPr algn="l">
              <a:lnSpc>
                <a:spcPct val="115000"/>
              </a:lnSpc>
            </a:pPr>
            <a:endParaRPr/>
          </a:p>
        </p:txBody>
      </p:sp>
      <p:sp>
        <p:nvSpPr>
          <p:cNvPr id="21" name="TextBox 20"/>
          <p:cNvSpPr txBox="1"/>
          <p:nvPr/>
        </p:nvSpPr>
        <p:spPr>
          <a:xfrm>
            <a:off x="8391525" y="1545745"/>
            <a:ext cx="3581400" cy="648006"/>
          </a:xfrm>
          <a:prstGeom prst="rect">
            <a:avLst/>
          </a:prstGeom>
          <a:noFill/>
        </p:spPr>
        <p:txBody>
          <a:bodyPr wrap="square" lIns="28575" tIns="9525" rIns="28575" bIns="9525" anchor="ctr">
            <a:spAutoFit/>
          </a:bodyPr>
          <a:lstStyle/>
          <a:p>
            <a:pPr algn="l">
              <a:lnSpc>
                <a:spcPct val="115000"/>
              </a:lnSpc>
            </a:pPr>
            <a:endParaRPr/>
          </a:p>
        </p:txBody>
      </p:sp>
      <p:sp>
        <p:nvSpPr>
          <p:cNvPr id="22" name="Rectangle 21"/>
          <p:cNvSpPr/>
          <p:nvPr/>
        </p:nvSpPr>
        <p:spPr>
          <a:xfrm>
            <a:off x="142875" y="222113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200025" y="2221132"/>
            <a:ext cx="1428750" cy="511104"/>
          </a:xfrm>
          <a:prstGeom prst="rect">
            <a:avLst/>
          </a:prstGeom>
          <a:noFill/>
        </p:spPr>
        <p:txBody>
          <a:bodyPr wrap="square" lIns="28575" tIns="9525" rIns="28575" bIns="9525" anchor="ctr">
            <a:spAutoFit/>
          </a:bodyPr>
          <a:lstStyle/>
          <a:p>
            <a:pPr algn="l"/>
            <a:r>
              <a:rPr sz="1100" b="1">
                <a:solidFill>
                  <a:srgbClr val="2E2E2E"/>
                </a:solidFill>
                <a:latin typeface="Calibri"/>
              </a:rPr>
              <a:t>Europe</a:t>
            </a:r>
          </a:p>
        </p:txBody>
      </p:sp>
      <p:sp>
        <p:nvSpPr>
          <p:cNvPr id="24" name="TextBox 23"/>
          <p:cNvSpPr txBox="1"/>
          <p:nvPr/>
        </p:nvSpPr>
        <p:spPr>
          <a:xfrm>
            <a:off x="1724025" y="2248513"/>
            <a:ext cx="3676650" cy="456342"/>
          </a:xfrm>
          <a:prstGeom prst="rect">
            <a:avLst/>
          </a:prstGeom>
          <a:noFill/>
        </p:spPr>
        <p:txBody>
          <a:bodyPr wrap="square" lIns="28575" tIns="9525" rIns="28575" bIns="9525" anchor="ctr">
            <a:spAutoFit/>
          </a:bodyPr>
          <a:lstStyle/>
          <a:p>
            <a:pPr algn="l">
              <a:lnSpc>
                <a:spcPct val="115000"/>
              </a:lnSpc>
            </a:pPr>
            <a:endParaRPr/>
          </a:p>
        </p:txBody>
      </p:sp>
      <p:sp>
        <p:nvSpPr>
          <p:cNvPr id="25" name="TextBox 24"/>
          <p:cNvSpPr txBox="1"/>
          <p:nvPr/>
        </p:nvSpPr>
        <p:spPr>
          <a:xfrm>
            <a:off x="5534025" y="2248513"/>
            <a:ext cx="2724150" cy="456342"/>
          </a:xfrm>
          <a:prstGeom prst="rect">
            <a:avLst/>
          </a:prstGeom>
          <a:noFill/>
        </p:spPr>
        <p:txBody>
          <a:bodyPr wrap="square" lIns="28575" tIns="9525" rIns="28575" bIns="9525" anchor="ctr">
            <a:spAutoFit/>
          </a:bodyPr>
          <a:lstStyle/>
          <a:p>
            <a:pPr algn="l">
              <a:lnSpc>
                <a:spcPct val="115000"/>
              </a:lnSpc>
            </a:pPr>
            <a:endParaRPr/>
          </a:p>
        </p:txBody>
      </p:sp>
      <p:sp>
        <p:nvSpPr>
          <p:cNvPr id="26" name="TextBox 25"/>
          <p:cNvSpPr txBox="1"/>
          <p:nvPr/>
        </p:nvSpPr>
        <p:spPr>
          <a:xfrm>
            <a:off x="8391525" y="2248513"/>
            <a:ext cx="3581400" cy="456342"/>
          </a:xfrm>
          <a:prstGeom prst="rect">
            <a:avLst/>
          </a:prstGeom>
          <a:noFill/>
        </p:spPr>
        <p:txBody>
          <a:bodyPr wrap="square" lIns="28575" tIns="9525" rIns="28575" bIns="9525" anchor="ctr">
            <a:spAutoFit/>
          </a:bodyPr>
          <a:lstStyle/>
          <a:p>
            <a:pPr algn="l">
              <a:lnSpc>
                <a:spcPct val="115000"/>
              </a:lnSpc>
            </a:pPr>
            <a:endParaRPr/>
          </a:p>
        </p:txBody>
      </p:sp>
      <p:sp>
        <p:nvSpPr>
          <p:cNvPr id="27" name="Rectangle 26"/>
          <p:cNvSpPr/>
          <p:nvPr/>
        </p:nvSpPr>
        <p:spPr>
          <a:xfrm>
            <a:off x="142875" y="2732236"/>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200025" y="2732236"/>
            <a:ext cx="1428750" cy="511104"/>
          </a:xfrm>
          <a:prstGeom prst="rect">
            <a:avLst/>
          </a:prstGeom>
          <a:noFill/>
        </p:spPr>
        <p:txBody>
          <a:bodyPr wrap="square" lIns="28575" tIns="9525" rIns="28575" bIns="9525" anchor="ctr">
            <a:spAutoFit/>
          </a:bodyPr>
          <a:lstStyle/>
          <a:p>
            <a:pPr algn="l"/>
            <a:r>
              <a:rPr sz="1100" b="1">
                <a:solidFill>
                  <a:srgbClr val="2E2E2E"/>
                </a:solidFill>
                <a:latin typeface="Calibri"/>
              </a:rPr>
              <a:t>South Asia &amp; Pacific</a:t>
            </a:r>
          </a:p>
        </p:txBody>
      </p:sp>
      <p:sp>
        <p:nvSpPr>
          <p:cNvPr id="29" name="TextBox 28"/>
          <p:cNvSpPr txBox="1"/>
          <p:nvPr/>
        </p:nvSpPr>
        <p:spPr>
          <a:xfrm>
            <a:off x="1724025" y="2759616"/>
            <a:ext cx="3676650" cy="456342"/>
          </a:xfrm>
          <a:prstGeom prst="rect">
            <a:avLst/>
          </a:prstGeom>
          <a:noFill/>
        </p:spPr>
        <p:txBody>
          <a:bodyPr wrap="square" lIns="28575" tIns="9525" rIns="28575" bIns="9525" anchor="ctr">
            <a:spAutoFit/>
          </a:bodyPr>
          <a:lstStyle/>
          <a:p>
            <a:pPr algn="l">
              <a:lnSpc>
                <a:spcPct val="115000"/>
              </a:lnSpc>
            </a:pPr>
            <a:endParaRPr/>
          </a:p>
        </p:txBody>
      </p:sp>
      <p:sp>
        <p:nvSpPr>
          <p:cNvPr id="30" name="TextBox 29"/>
          <p:cNvSpPr txBox="1"/>
          <p:nvPr/>
        </p:nvSpPr>
        <p:spPr>
          <a:xfrm>
            <a:off x="5534025" y="2759616"/>
            <a:ext cx="2724150" cy="456342"/>
          </a:xfrm>
          <a:prstGeom prst="rect">
            <a:avLst/>
          </a:prstGeom>
          <a:noFill/>
        </p:spPr>
        <p:txBody>
          <a:bodyPr wrap="square" lIns="28575" tIns="9525" rIns="28575" bIns="9525" anchor="ctr">
            <a:spAutoFit/>
          </a:bodyPr>
          <a:lstStyle/>
          <a:p>
            <a:pPr algn="l">
              <a:lnSpc>
                <a:spcPct val="115000"/>
              </a:lnSpc>
            </a:pPr>
            <a:endParaRPr/>
          </a:p>
        </p:txBody>
      </p:sp>
      <p:sp>
        <p:nvSpPr>
          <p:cNvPr id="31" name="TextBox 30"/>
          <p:cNvSpPr txBox="1"/>
          <p:nvPr/>
        </p:nvSpPr>
        <p:spPr>
          <a:xfrm>
            <a:off x="8391525" y="2759616"/>
            <a:ext cx="3581400" cy="456342"/>
          </a:xfrm>
          <a:prstGeom prst="rect">
            <a:avLst/>
          </a:prstGeom>
          <a:noFill/>
        </p:spPr>
        <p:txBody>
          <a:bodyPr wrap="square" lIns="28575" tIns="9525" rIns="28575" bIns="9525" anchor="ctr">
            <a:spAutoFit/>
          </a:bodyPr>
          <a:lstStyle/>
          <a:p>
            <a:pPr algn="l">
              <a:lnSpc>
                <a:spcPct val="115000"/>
              </a:lnSpc>
            </a:pPr>
            <a:endParaRPr/>
          </a:p>
        </p:txBody>
      </p:sp>
      <p:sp>
        <p:nvSpPr>
          <p:cNvPr id="32" name="Rectangle 31"/>
          <p:cNvSpPr/>
          <p:nvPr/>
        </p:nvSpPr>
        <p:spPr>
          <a:xfrm>
            <a:off x="142875" y="3243339"/>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TextBox 32"/>
          <p:cNvSpPr txBox="1"/>
          <p:nvPr/>
        </p:nvSpPr>
        <p:spPr>
          <a:xfrm>
            <a:off x="200025" y="3243339"/>
            <a:ext cx="1428750" cy="511104"/>
          </a:xfrm>
          <a:prstGeom prst="rect">
            <a:avLst/>
          </a:prstGeom>
          <a:noFill/>
        </p:spPr>
        <p:txBody>
          <a:bodyPr wrap="square" lIns="28575" tIns="9525" rIns="28575" bIns="9525" anchor="ctr">
            <a:spAutoFit/>
          </a:bodyPr>
          <a:lstStyle/>
          <a:p>
            <a:pPr algn="l"/>
            <a:r>
              <a:rPr sz="1100" b="1">
                <a:solidFill>
                  <a:srgbClr val="2E2E2E"/>
                </a:solidFill>
                <a:latin typeface="Calibri"/>
              </a:rPr>
              <a:t>East Asia</a:t>
            </a:r>
          </a:p>
        </p:txBody>
      </p:sp>
      <p:sp>
        <p:nvSpPr>
          <p:cNvPr id="34" name="TextBox 33"/>
          <p:cNvSpPr txBox="1"/>
          <p:nvPr/>
        </p:nvSpPr>
        <p:spPr>
          <a:xfrm>
            <a:off x="1724025" y="3270720"/>
            <a:ext cx="3676650" cy="456342"/>
          </a:xfrm>
          <a:prstGeom prst="rect">
            <a:avLst/>
          </a:prstGeom>
          <a:noFill/>
        </p:spPr>
        <p:txBody>
          <a:bodyPr wrap="square" lIns="28575" tIns="9525" rIns="28575" bIns="9525" anchor="ctr">
            <a:spAutoFit/>
          </a:bodyPr>
          <a:lstStyle/>
          <a:p>
            <a:pPr algn="l">
              <a:lnSpc>
                <a:spcPct val="115000"/>
              </a:lnSpc>
            </a:pPr>
            <a:endParaRPr/>
          </a:p>
        </p:txBody>
      </p:sp>
      <p:sp>
        <p:nvSpPr>
          <p:cNvPr id="35" name="TextBox 34"/>
          <p:cNvSpPr txBox="1"/>
          <p:nvPr/>
        </p:nvSpPr>
        <p:spPr>
          <a:xfrm>
            <a:off x="5534025" y="3270720"/>
            <a:ext cx="2724150" cy="456342"/>
          </a:xfrm>
          <a:prstGeom prst="rect">
            <a:avLst/>
          </a:prstGeom>
          <a:noFill/>
        </p:spPr>
        <p:txBody>
          <a:bodyPr wrap="square" lIns="28575" tIns="9525" rIns="28575" bIns="9525" anchor="ctr">
            <a:spAutoFit/>
          </a:bodyPr>
          <a:lstStyle/>
          <a:p>
            <a:pPr algn="l">
              <a:lnSpc>
                <a:spcPct val="115000"/>
              </a:lnSpc>
            </a:pPr>
            <a:endParaRPr/>
          </a:p>
        </p:txBody>
      </p:sp>
      <p:sp>
        <p:nvSpPr>
          <p:cNvPr id="36" name="TextBox 35"/>
          <p:cNvSpPr txBox="1"/>
          <p:nvPr/>
        </p:nvSpPr>
        <p:spPr>
          <a:xfrm>
            <a:off x="8391525" y="3270720"/>
            <a:ext cx="3581400" cy="456342"/>
          </a:xfrm>
          <a:prstGeom prst="rect">
            <a:avLst/>
          </a:prstGeom>
          <a:noFill/>
        </p:spPr>
        <p:txBody>
          <a:bodyPr wrap="square" lIns="28575" tIns="9525" rIns="28575" bIns="9525" anchor="ctr">
            <a:spAutoFit/>
          </a:bodyPr>
          <a:lstStyle/>
          <a:p>
            <a:pPr algn="l">
              <a:lnSpc>
                <a:spcPct val="115000"/>
              </a:lnSpc>
            </a:pPr>
            <a:endParaRPr/>
          </a:p>
        </p:txBody>
      </p:sp>
      <p:sp>
        <p:nvSpPr>
          <p:cNvPr id="37" name="Rectangle 36"/>
          <p:cNvSpPr/>
          <p:nvPr/>
        </p:nvSpPr>
        <p:spPr>
          <a:xfrm>
            <a:off x="142875" y="3754443"/>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200025" y="3754443"/>
            <a:ext cx="1428750" cy="511104"/>
          </a:xfrm>
          <a:prstGeom prst="rect">
            <a:avLst/>
          </a:prstGeom>
          <a:noFill/>
        </p:spPr>
        <p:txBody>
          <a:bodyPr wrap="square" lIns="28575" tIns="9525" rIns="28575" bIns="9525" anchor="ctr">
            <a:spAutoFit/>
          </a:bodyPr>
          <a:lstStyle/>
          <a:p>
            <a:pPr algn="l"/>
            <a:r>
              <a:rPr sz="1100" b="1">
                <a:solidFill>
                  <a:srgbClr val="2E2E2E"/>
                </a:solidFill>
                <a:latin typeface="Calibri"/>
              </a:rPr>
              <a:t>Latin America</a:t>
            </a:r>
          </a:p>
        </p:txBody>
      </p:sp>
      <p:sp>
        <p:nvSpPr>
          <p:cNvPr id="39" name="TextBox 38"/>
          <p:cNvSpPr txBox="1"/>
          <p:nvPr/>
        </p:nvSpPr>
        <p:spPr>
          <a:xfrm>
            <a:off x="1724025" y="3781823"/>
            <a:ext cx="3676650" cy="456342"/>
          </a:xfrm>
          <a:prstGeom prst="rect">
            <a:avLst/>
          </a:prstGeom>
          <a:noFill/>
        </p:spPr>
        <p:txBody>
          <a:bodyPr wrap="square" lIns="28575" tIns="9525" rIns="28575" bIns="9525" anchor="ctr">
            <a:spAutoFit/>
          </a:bodyPr>
          <a:lstStyle/>
          <a:p>
            <a:pPr algn="l">
              <a:lnSpc>
                <a:spcPct val="115000"/>
              </a:lnSpc>
            </a:pPr>
            <a:endParaRPr/>
          </a:p>
        </p:txBody>
      </p:sp>
      <p:sp>
        <p:nvSpPr>
          <p:cNvPr id="40" name="TextBox 39"/>
          <p:cNvSpPr txBox="1"/>
          <p:nvPr/>
        </p:nvSpPr>
        <p:spPr>
          <a:xfrm>
            <a:off x="5534025" y="3781823"/>
            <a:ext cx="2724150" cy="456342"/>
          </a:xfrm>
          <a:prstGeom prst="rect">
            <a:avLst/>
          </a:prstGeom>
          <a:noFill/>
        </p:spPr>
        <p:txBody>
          <a:bodyPr wrap="square" lIns="28575" tIns="9525" rIns="28575" bIns="9525" anchor="ctr">
            <a:spAutoFit/>
          </a:bodyPr>
          <a:lstStyle/>
          <a:p>
            <a:pPr algn="l">
              <a:lnSpc>
                <a:spcPct val="115000"/>
              </a:lnSpc>
            </a:pPr>
            <a:endParaRPr/>
          </a:p>
        </p:txBody>
      </p:sp>
      <p:sp>
        <p:nvSpPr>
          <p:cNvPr id="41" name="TextBox 40"/>
          <p:cNvSpPr txBox="1"/>
          <p:nvPr/>
        </p:nvSpPr>
        <p:spPr>
          <a:xfrm>
            <a:off x="8391525" y="3781823"/>
            <a:ext cx="3581400" cy="456342"/>
          </a:xfrm>
          <a:prstGeom prst="rect">
            <a:avLst/>
          </a:prstGeom>
          <a:noFill/>
        </p:spPr>
        <p:txBody>
          <a:bodyPr wrap="square" lIns="28575" tIns="9525" rIns="28575" bIns="9525" anchor="ctr">
            <a:spAutoFit/>
          </a:bodyPr>
          <a:lstStyle/>
          <a:p>
            <a:pPr algn="l">
              <a:lnSpc>
                <a:spcPct val="115000"/>
              </a:lnSpc>
            </a:pPr>
            <a:endParaRPr/>
          </a:p>
        </p:txBody>
      </p:sp>
      <p:sp>
        <p:nvSpPr>
          <p:cNvPr id="42" name="Rectangle 41"/>
          <p:cNvSpPr/>
          <p:nvPr/>
        </p:nvSpPr>
        <p:spPr>
          <a:xfrm>
            <a:off x="142875" y="4265546"/>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200025" y="4265546"/>
            <a:ext cx="1428750" cy="511104"/>
          </a:xfrm>
          <a:prstGeom prst="rect">
            <a:avLst/>
          </a:prstGeom>
          <a:noFill/>
        </p:spPr>
        <p:txBody>
          <a:bodyPr wrap="square" lIns="28575" tIns="9525" rIns="28575" bIns="9525" anchor="ctr">
            <a:spAutoFit/>
          </a:bodyPr>
          <a:lstStyle/>
          <a:p>
            <a:pPr algn="l"/>
            <a:r>
              <a:rPr sz="1100" b="1">
                <a:solidFill>
                  <a:srgbClr val="2E2E2E"/>
                </a:solidFill>
                <a:latin typeface="Calibri"/>
              </a:rPr>
              <a:t>Middle East &amp; Africa</a:t>
            </a:r>
          </a:p>
        </p:txBody>
      </p:sp>
      <p:sp>
        <p:nvSpPr>
          <p:cNvPr id="44" name="TextBox 43"/>
          <p:cNvSpPr txBox="1"/>
          <p:nvPr/>
        </p:nvSpPr>
        <p:spPr>
          <a:xfrm>
            <a:off x="1724025" y="4292927"/>
            <a:ext cx="3676650" cy="456342"/>
          </a:xfrm>
          <a:prstGeom prst="rect">
            <a:avLst/>
          </a:prstGeom>
          <a:noFill/>
        </p:spPr>
        <p:txBody>
          <a:bodyPr wrap="square" lIns="28575" tIns="9525" rIns="28575" bIns="9525" anchor="ctr">
            <a:spAutoFit/>
          </a:bodyPr>
          <a:lstStyle/>
          <a:p>
            <a:pPr algn="l">
              <a:lnSpc>
                <a:spcPct val="115000"/>
              </a:lnSpc>
            </a:pPr>
            <a:endParaRPr/>
          </a:p>
        </p:txBody>
      </p:sp>
      <p:sp>
        <p:nvSpPr>
          <p:cNvPr id="45" name="TextBox 44"/>
          <p:cNvSpPr txBox="1"/>
          <p:nvPr/>
        </p:nvSpPr>
        <p:spPr>
          <a:xfrm>
            <a:off x="5534025" y="4292927"/>
            <a:ext cx="2724150" cy="456342"/>
          </a:xfrm>
          <a:prstGeom prst="rect">
            <a:avLst/>
          </a:prstGeom>
          <a:noFill/>
        </p:spPr>
        <p:txBody>
          <a:bodyPr wrap="square" lIns="28575" tIns="9525" rIns="28575" bIns="9525" anchor="ctr">
            <a:spAutoFit/>
          </a:bodyPr>
          <a:lstStyle/>
          <a:p>
            <a:pPr algn="l">
              <a:lnSpc>
                <a:spcPct val="115000"/>
              </a:lnSpc>
            </a:pPr>
            <a:endParaRPr/>
          </a:p>
        </p:txBody>
      </p:sp>
      <p:sp>
        <p:nvSpPr>
          <p:cNvPr id="46" name="TextBox 45"/>
          <p:cNvSpPr txBox="1"/>
          <p:nvPr/>
        </p:nvSpPr>
        <p:spPr>
          <a:xfrm>
            <a:off x="8391525" y="4292927"/>
            <a:ext cx="3581400" cy="456342"/>
          </a:xfrm>
          <a:prstGeom prst="rect">
            <a:avLst/>
          </a:prstGeom>
          <a:noFill/>
        </p:spPr>
        <p:txBody>
          <a:bodyPr wrap="square" lIns="28575" tIns="9525" rIns="28575" bIns="9525" anchor="ctr">
            <a:spAutoFit/>
          </a:bodyPr>
          <a:lstStyle/>
          <a:p>
            <a:pPr algn="l">
              <a:lnSpc>
                <a:spcPct val="115000"/>
              </a:lnSpc>
            </a:pPr>
            <a:endParaRPr/>
          </a:p>
        </p:txBody>
      </p:sp>
      <p:cxnSp>
        <p:nvCxnSpPr>
          <p:cNvPr id="47" name="Connector 46"/>
          <p:cNvCxnSpPr/>
          <p:nvPr/>
        </p:nvCxnSpPr>
        <p:spPr>
          <a:xfrm>
            <a:off x="142875" y="4776650"/>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4794903"/>
            <a:ext cx="3810000" cy="182537"/>
          </a:xfrm>
          <a:prstGeom prst="rect">
            <a:avLst/>
          </a:prstGeom>
          <a:noFill/>
        </p:spPr>
        <p:txBody>
          <a:bodyPr wrap="square" lIns="28575" tIns="9525" rIns="28575" bIns="9525" anchor="ctr">
            <a:spAutoFit/>
          </a:bodyPr>
          <a:lstStyle/>
          <a:p>
            <a:pPr algn="l"/>
            <a:r>
              <a:rPr sz="1100" b="0">
                <a:solidFill>
                  <a:srgbClr val="6C7A89"/>
                </a:solidFill>
                <a:latin typeface="Calibri"/>
              </a:rPr>
              <a:t>Source: FMI Analysis, 2026</a:t>
            </a:r>
          </a:p>
        </p:txBody>
      </p:sp>
      <p:sp>
        <p:nvSpPr>
          <p:cNvPr id="49" name="Rounded Rectangle 48"/>
          <p:cNvSpPr/>
          <p:nvPr/>
        </p:nvSpPr>
        <p:spPr>
          <a:xfrm>
            <a:off x="142875" y="5050455"/>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276225" y="5086963"/>
            <a:ext cx="3810000" cy="219044"/>
          </a:xfrm>
          <a:prstGeom prst="rect">
            <a:avLst/>
          </a:prstGeom>
          <a:noFill/>
        </p:spPr>
        <p:txBody>
          <a:bodyPr wrap="square" lIns="28575" tIns="9525" rIns="28575" bIns="9525" anchor="ctr">
            <a:spAutoFit/>
          </a:bodyPr>
          <a:lstStyle/>
          <a:p>
            <a:pPr algn="l"/>
            <a:r>
              <a:rPr sz="1200" b="1">
                <a:solidFill>
                  <a:srgbClr val="0B2E4A"/>
                </a:solidFill>
                <a:latin typeface="Calibri"/>
              </a:rPr>
              <a:t>KEY TAKEAWAY</a:t>
            </a:r>
          </a:p>
        </p:txBody>
      </p:sp>
      <p:cxnSp>
        <p:nvCxnSpPr>
          <p:cNvPr id="51" name="Connector 50"/>
          <p:cNvCxnSpPr/>
          <p:nvPr/>
        </p:nvCxnSpPr>
        <p:spPr>
          <a:xfrm>
            <a:off x="276225" y="5324261"/>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76225" y="5379022"/>
            <a:ext cx="11525250" cy="593245"/>
          </a:xfrm>
          <a:prstGeom prst="rect">
            <a:avLst/>
          </a:prstGeom>
          <a:noFill/>
        </p:spPr>
        <p:txBody>
          <a:bodyPr wrap="square" lIns="28575" tIns="9525" rIns="28575" bIns="9525" anchor="ctr">
            <a:spAutoFit/>
          </a:bodyPr>
          <a:lstStyle/>
          <a:p>
            <a:pPr algn="l">
              <a:lnSpc>
                <a:spcPct val="115000"/>
              </a:lnSpc>
            </a:pPr>
            <a:endParaRPr/>
          </a:p>
        </p:txBody>
      </p:sp>
      <p:sp>
        <p:nvSpPr>
          <p:cNvPr id="53" name="TextBox 5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54" name="TextBox 53"/>
          <p:cNvSpPr txBox="1"/>
          <p:nvPr/>
        </p:nvSpPr>
        <p:spPr>
          <a:xfrm>
            <a:off x="1752600" y="1702107"/>
            <a:ext cx="738137" cy="186689"/>
          </a:xfrm>
          <a:prstGeom prst="rect">
            <a:avLst/>
          </a:prstGeom>
          <a:noFill/>
        </p:spPr>
        <p:txBody>
          <a:bodyPr wrap="none" lIns="0" tIns="0" rIns="0" bIns="0">
            <a:spAutoFit/>
          </a:bodyPr>
          <a:lstStyle/>
          <a:p>
            <a:r>
              <a:rPr sz="1100" b="0">
                <a:solidFill>
                  <a:srgbClr val="2E2E2E"/>
                </a:solidFill>
                <a:latin typeface="Calibri"/>
              </a:rPr>
              <a:t>Scale base (</a:t>
            </a:r>
          </a:p>
        </p:txBody>
      </p:sp>
      <p:pic>
        <p:nvPicPr>
          <p:cNvPr id="55" name="Picture 54" descr="lock.png"/>
          <p:cNvPicPr>
            <a:picLocks noChangeAspect="1"/>
          </p:cNvPicPr>
          <p:nvPr/>
        </p:nvPicPr>
        <p:blipFill>
          <a:blip r:embed="rId4"/>
          <a:stretch>
            <a:fillRect/>
          </a:stretch>
        </p:blipFill>
        <p:spPr>
          <a:xfrm>
            <a:off x="2438789" y="1692329"/>
            <a:ext cx="128699" cy="187198"/>
          </a:xfrm>
          <a:prstGeom prst="rect">
            <a:avLst/>
          </a:prstGeom>
        </p:spPr>
      </p:pic>
      <p:sp>
        <p:nvSpPr>
          <p:cNvPr id="56" name="TextBox 55"/>
          <p:cNvSpPr txBox="1"/>
          <p:nvPr/>
        </p:nvSpPr>
        <p:spPr>
          <a:xfrm>
            <a:off x="2606285" y="1702107"/>
            <a:ext cx="1556419" cy="186689"/>
          </a:xfrm>
          <a:prstGeom prst="rect">
            <a:avLst/>
          </a:prstGeom>
          <a:noFill/>
        </p:spPr>
        <p:txBody>
          <a:bodyPr wrap="none" lIns="0" tIns="0" rIns="0" bIns="0">
            <a:spAutoFit/>
          </a:bodyPr>
          <a:lstStyle/>
          <a:p>
            <a:r>
              <a:rPr sz="1100" b="0">
                <a:solidFill>
                  <a:srgbClr val="2E2E2E"/>
                </a:solidFill>
                <a:latin typeface="Calibri"/>
              </a:rPr>
              <a:t>share), Installed demand (</a:t>
            </a:r>
          </a:p>
        </p:txBody>
      </p:sp>
      <p:pic>
        <p:nvPicPr>
          <p:cNvPr id="57" name="Picture 56" descr="lock.png"/>
          <p:cNvPicPr>
            <a:picLocks noChangeAspect="1"/>
          </p:cNvPicPr>
          <p:nvPr/>
        </p:nvPicPr>
        <p:blipFill>
          <a:blip r:embed="rId4"/>
          <a:stretch>
            <a:fillRect/>
          </a:stretch>
        </p:blipFill>
        <p:spPr>
          <a:xfrm>
            <a:off x="4110756" y="1692329"/>
            <a:ext cx="128699" cy="187198"/>
          </a:xfrm>
          <a:prstGeom prst="rect">
            <a:avLst/>
          </a:prstGeom>
        </p:spPr>
      </p:pic>
      <p:sp>
        <p:nvSpPr>
          <p:cNvPr id="58" name="TextBox 57"/>
          <p:cNvSpPr txBox="1"/>
          <p:nvPr/>
        </p:nvSpPr>
        <p:spPr>
          <a:xfrm>
            <a:off x="4278252" y="1702107"/>
            <a:ext cx="714382" cy="186689"/>
          </a:xfrm>
          <a:prstGeom prst="rect">
            <a:avLst/>
          </a:prstGeom>
          <a:noFill/>
        </p:spPr>
        <p:txBody>
          <a:bodyPr wrap="none" lIns="0" tIns="0" rIns="0" bIns="0">
            <a:spAutoFit/>
          </a:bodyPr>
          <a:lstStyle/>
          <a:p>
            <a:r>
              <a:rPr sz="1100" b="0">
                <a:solidFill>
                  <a:srgbClr val="2E2E2E"/>
                </a:solidFill>
                <a:latin typeface="Calibri"/>
              </a:rPr>
              <a:t>CAGR), Flat</a:t>
            </a:r>
          </a:p>
        </p:txBody>
      </p:sp>
      <p:sp>
        <p:nvSpPr>
          <p:cNvPr id="59" name="TextBox 58"/>
          <p:cNvSpPr txBox="1"/>
          <p:nvPr/>
        </p:nvSpPr>
        <p:spPr>
          <a:xfrm>
            <a:off x="1752600" y="1869747"/>
            <a:ext cx="3180432" cy="186689"/>
          </a:xfrm>
          <a:prstGeom prst="rect">
            <a:avLst/>
          </a:prstGeom>
          <a:noFill/>
        </p:spPr>
        <p:txBody>
          <a:bodyPr wrap="none" lIns="0" tIns="0" rIns="0" bIns="0">
            <a:spAutoFit/>
          </a:bodyPr>
          <a:lstStyle/>
          <a:p>
            <a:r>
              <a:rPr sz="1100" b="0">
                <a:solidFill>
                  <a:srgbClr val="2E2E2E"/>
                </a:solidFill>
                <a:latin typeface="Calibri"/>
              </a:rPr>
              <a:t>Dividers &amp; Layer Pads demand, Accelerating vs history.</a:t>
            </a:r>
          </a:p>
        </p:txBody>
      </p:sp>
      <p:sp>
        <p:nvSpPr>
          <p:cNvPr id="60" name="TextBox 59"/>
          <p:cNvSpPr txBox="1"/>
          <p:nvPr/>
        </p:nvSpPr>
        <p:spPr>
          <a:xfrm>
            <a:off x="5562600" y="1702107"/>
            <a:ext cx="1287115" cy="186689"/>
          </a:xfrm>
          <a:prstGeom prst="rect">
            <a:avLst/>
          </a:prstGeom>
          <a:noFill/>
        </p:spPr>
        <p:txBody>
          <a:bodyPr wrap="none" lIns="0" tIns="0" rIns="0" bIns="0">
            <a:spAutoFit/>
          </a:bodyPr>
          <a:lstStyle/>
          <a:p>
            <a:r>
              <a:rPr sz="1100" b="0">
                <a:solidFill>
                  <a:srgbClr val="2E2E2E"/>
                </a:solidFill>
                <a:latin typeface="Calibri"/>
              </a:rPr>
              <a:t>Trails market pace by</a:t>
            </a:r>
          </a:p>
        </p:txBody>
      </p:sp>
      <p:pic>
        <p:nvPicPr>
          <p:cNvPr id="61" name="Picture 60" descr="lock.png"/>
          <p:cNvPicPr>
            <a:picLocks noChangeAspect="1"/>
          </p:cNvPicPr>
          <p:nvPr/>
        </p:nvPicPr>
        <p:blipFill>
          <a:blip r:embed="rId4"/>
          <a:stretch>
            <a:fillRect/>
          </a:stretch>
        </p:blipFill>
        <p:spPr>
          <a:xfrm>
            <a:off x="6797766" y="1692329"/>
            <a:ext cx="128699" cy="187198"/>
          </a:xfrm>
          <a:prstGeom prst="rect">
            <a:avLst/>
          </a:prstGeom>
        </p:spPr>
      </p:pic>
      <p:sp>
        <p:nvSpPr>
          <p:cNvPr id="62" name="TextBox 61"/>
          <p:cNvSpPr txBox="1"/>
          <p:nvPr/>
        </p:nvSpPr>
        <p:spPr>
          <a:xfrm>
            <a:off x="6965262" y="1702107"/>
            <a:ext cx="689297" cy="186689"/>
          </a:xfrm>
          <a:prstGeom prst="rect">
            <a:avLst/>
          </a:prstGeom>
          <a:noFill/>
        </p:spPr>
        <p:txBody>
          <a:bodyPr wrap="none" lIns="0" tIns="0" rIns="0" bIns="0">
            <a:spAutoFit/>
          </a:bodyPr>
          <a:lstStyle/>
          <a:p>
            <a:r>
              <a:rPr sz="1100" b="0">
                <a:solidFill>
                  <a:srgbClr val="2E2E2E"/>
                </a:solidFill>
                <a:latin typeface="Calibri"/>
              </a:rPr>
              <a:t>BPS, Rising</a:t>
            </a:r>
          </a:p>
        </p:txBody>
      </p:sp>
      <p:sp>
        <p:nvSpPr>
          <p:cNvPr id="63" name="TextBox 62"/>
          <p:cNvSpPr txBox="1"/>
          <p:nvPr/>
        </p:nvSpPr>
        <p:spPr>
          <a:xfrm>
            <a:off x="5562600" y="1869747"/>
            <a:ext cx="747414" cy="186689"/>
          </a:xfrm>
          <a:prstGeom prst="rect">
            <a:avLst/>
          </a:prstGeom>
          <a:noFill/>
        </p:spPr>
        <p:txBody>
          <a:bodyPr wrap="none" lIns="0" tIns="0" rIns="0" bIns="0">
            <a:spAutoFit/>
          </a:bodyPr>
          <a:lstStyle/>
          <a:p>
            <a:r>
              <a:rPr sz="1100" b="0">
                <a:solidFill>
                  <a:srgbClr val="2E2E2E"/>
                </a:solidFill>
                <a:latin typeface="Calibri"/>
              </a:rPr>
              <a:t>realisation (</a:t>
            </a:r>
          </a:p>
        </p:txBody>
      </p:sp>
      <p:pic>
        <p:nvPicPr>
          <p:cNvPr id="64" name="Picture 63" descr="lock.png"/>
          <p:cNvPicPr>
            <a:picLocks noChangeAspect="1"/>
          </p:cNvPicPr>
          <p:nvPr/>
        </p:nvPicPr>
        <p:blipFill>
          <a:blip r:embed="rId4"/>
          <a:stretch>
            <a:fillRect/>
          </a:stretch>
        </p:blipFill>
        <p:spPr>
          <a:xfrm>
            <a:off x="6258066" y="1859969"/>
            <a:ext cx="128699" cy="187198"/>
          </a:xfrm>
          <a:prstGeom prst="rect">
            <a:avLst/>
          </a:prstGeom>
        </p:spPr>
      </p:pic>
      <p:sp>
        <p:nvSpPr>
          <p:cNvPr id="65" name="TextBox 64"/>
          <p:cNvSpPr txBox="1"/>
          <p:nvPr/>
        </p:nvSpPr>
        <p:spPr>
          <a:xfrm>
            <a:off x="6425562" y="1869747"/>
            <a:ext cx="153689" cy="186689"/>
          </a:xfrm>
          <a:prstGeom prst="rect">
            <a:avLst/>
          </a:prstGeom>
          <a:noFill/>
        </p:spPr>
        <p:txBody>
          <a:bodyPr wrap="none" lIns="0" tIns="0" rIns="0" bIns="0">
            <a:spAutoFit/>
          </a:bodyPr>
          <a:lstStyle/>
          <a:p>
            <a:r>
              <a:rPr sz="1100" b="0">
                <a:solidFill>
                  <a:srgbClr val="2E2E2E"/>
                </a:solidFill>
                <a:latin typeface="Calibri"/>
              </a:rPr>
              <a:t>).</a:t>
            </a:r>
          </a:p>
        </p:txBody>
      </p:sp>
      <p:sp>
        <p:nvSpPr>
          <p:cNvPr id="66" name="TextBox 65"/>
          <p:cNvSpPr txBox="1"/>
          <p:nvPr/>
        </p:nvSpPr>
        <p:spPr>
          <a:xfrm>
            <a:off x="8420100" y="1702107"/>
            <a:ext cx="1939776" cy="186689"/>
          </a:xfrm>
          <a:prstGeom prst="rect">
            <a:avLst/>
          </a:prstGeom>
          <a:noFill/>
        </p:spPr>
        <p:txBody>
          <a:bodyPr wrap="none" lIns="0" tIns="0" rIns="0" bIns="0">
            <a:spAutoFit/>
          </a:bodyPr>
          <a:lstStyle/>
          <a:p>
            <a:r>
              <a:rPr sz="1100" b="0">
                <a:solidFill>
                  <a:srgbClr val="2E2E2E"/>
                </a:solidFill>
                <a:latin typeface="Calibri"/>
              </a:rPr>
              <a:t>Scale Flat Dividers &amp; Layer Pads (</a:t>
            </a:r>
          </a:p>
        </p:txBody>
      </p:sp>
      <p:pic>
        <p:nvPicPr>
          <p:cNvPr id="67" name="Picture 66" descr="lock.png"/>
          <p:cNvPicPr>
            <a:picLocks noChangeAspect="1"/>
          </p:cNvPicPr>
          <p:nvPr/>
        </p:nvPicPr>
        <p:blipFill>
          <a:blip r:embed="rId4"/>
          <a:stretch>
            <a:fillRect/>
          </a:stretch>
        </p:blipFill>
        <p:spPr>
          <a:xfrm>
            <a:off x="10307927" y="1692329"/>
            <a:ext cx="128699" cy="187198"/>
          </a:xfrm>
          <a:prstGeom prst="rect">
            <a:avLst/>
          </a:prstGeom>
        </p:spPr>
      </p:pic>
      <p:sp>
        <p:nvSpPr>
          <p:cNvPr id="68" name="TextBox 67"/>
          <p:cNvSpPr txBox="1"/>
          <p:nvPr/>
        </p:nvSpPr>
        <p:spPr>
          <a:xfrm>
            <a:off x="10475423" y="1702107"/>
            <a:ext cx="153416"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69" name="Picture 68" descr="lock.png"/>
          <p:cNvPicPr>
            <a:picLocks noChangeAspect="1"/>
          </p:cNvPicPr>
          <p:nvPr/>
        </p:nvPicPr>
        <p:blipFill>
          <a:blip r:embed="rId4"/>
          <a:stretch>
            <a:fillRect/>
          </a:stretch>
        </p:blipFill>
        <p:spPr>
          <a:xfrm>
            <a:off x="10576892" y="1692329"/>
            <a:ext cx="128699" cy="187198"/>
          </a:xfrm>
          <a:prstGeom prst="rect">
            <a:avLst/>
          </a:prstGeom>
        </p:spPr>
      </p:pic>
      <p:sp>
        <p:nvSpPr>
          <p:cNvPr id="70" name="TextBox 69"/>
          <p:cNvSpPr txBox="1"/>
          <p:nvPr/>
        </p:nvSpPr>
        <p:spPr>
          <a:xfrm>
            <a:off x="10744387" y="1702107"/>
            <a:ext cx="52558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71" name="TextBox 70"/>
          <p:cNvSpPr txBox="1"/>
          <p:nvPr/>
        </p:nvSpPr>
        <p:spPr>
          <a:xfrm>
            <a:off x="8420100" y="1869747"/>
            <a:ext cx="702394" cy="186689"/>
          </a:xfrm>
          <a:prstGeom prst="rect">
            <a:avLst/>
          </a:prstGeom>
          <a:noFill/>
        </p:spPr>
        <p:txBody>
          <a:bodyPr wrap="none" lIns="0" tIns="0" rIns="0" bIns="0">
            <a:spAutoFit/>
          </a:bodyPr>
          <a:lstStyle/>
          <a:p>
            <a:r>
              <a:rPr sz="1100" b="0">
                <a:solidFill>
                  <a:srgbClr val="2E2E2E"/>
                </a:solidFill>
                <a:latin typeface="Calibri"/>
              </a:rPr>
              <a:t>headroom.</a:t>
            </a:r>
          </a:p>
        </p:txBody>
      </p:sp>
      <p:sp>
        <p:nvSpPr>
          <p:cNvPr id="72" name="TextBox 71"/>
          <p:cNvSpPr txBox="1"/>
          <p:nvPr/>
        </p:nvSpPr>
        <p:spPr>
          <a:xfrm>
            <a:off x="1752600" y="2309044"/>
            <a:ext cx="738137" cy="186689"/>
          </a:xfrm>
          <a:prstGeom prst="rect">
            <a:avLst/>
          </a:prstGeom>
          <a:noFill/>
        </p:spPr>
        <p:txBody>
          <a:bodyPr wrap="none" lIns="0" tIns="0" rIns="0" bIns="0">
            <a:spAutoFit/>
          </a:bodyPr>
          <a:lstStyle/>
          <a:p>
            <a:r>
              <a:rPr sz="1100" b="0">
                <a:solidFill>
                  <a:srgbClr val="2E2E2E"/>
                </a:solidFill>
                <a:latin typeface="Calibri"/>
              </a:rPr>
              <a:t>Scale base (</a:t>
            </a:r>
          </a:p>
        </p:txBody>
      </p:sp>
      <p:pic>
        <p:nvPicPr>
          <p:cNvPr id="73" name="Picture 72" descr="lock.png"/>
          <p:cNvPicPr>
            <a:picLocks noChangeAspect="1"/>
          </p:cNvPicPr>
          <p:nvPr/>
        </p:nvPicPr>
        <p:blipFill>
          <a:blip r:embed="rId4"/>
          <a:stretch>
            <a:fillRect/>
          </a:stretch>
        </p:blipFill>
        <p:spPr>
          <a:xfrm>
            <a:off x="2438789" y="2299265"/>
            <a:ext cx="128699" cy="187198"/>
          </a:xfrm>
          <a:prstGeom prst="rect">
            <a:avLst/>
          </a:prstGeom>
        </p:spPr>
      </p:pic>
      <p:sp>
        <p:nvSpPr>
          <p:cNvPr id="74" name="TextBox 73"/>
          <p:cNvSpPr txBox="1"/>
          <p:nvPr/>
        </p:nvSpPr>
        <p:spPr>
          <a:xfrm>
            <a:off x="2606285" y="2309044"/>
            <a:ext cx="1683568" cy="186689"/>
          </a:xfrm>
          <a:prstGeom prst="rect">
            <a:avLst/>
          </a:prstGeom>
          <a:noFill/>
        </p:spPr>
        <p:txBody>
          <a:bodyPr wrap="none" lIns="0" tIns="0" rIns="0" bIns="0">
            <a:spAutoFit/>
          </a:bodyPr>
          <a:lstStyle/>
          <a:p>
            <a:r>
              <a:rPr sz="1100" b="0">
                <a:solidFill>
                  <a:srgbClr val="2E2E2E"/>
                </a:solidFill>
                <a:latin typeface="Calibri"/>
              </a:rPr>
              <a:t>share), Above-market pace (</a:t>
            </a:r>
          </a:p>
        </p:txBody>
      </p:sp>
      <p:pic>
        <p:nvPicPr>
          <p:cNvPr id="75" name="Picture 74" descr="lock.png"/>
          <p:cNvPicPr>
            <a:picLocks noChangeAspect="1"/>
          </p:cNvPicPr>
          <p:nvPr/>
        </p:nvPicPr>
        <p:blipFill>
          <a:blip r:embed="rId4"/>
          <a:stretch>
            <a:fillRect/>
          </a:stretch>
        </p:blipFill>
        <p:spPr>
          <a:xfrm>
            <a:off x="4237905" y="2299265"/>
            <a:ext cx="128699" cy="187198"/>
          </a:xfrm>
          <a:prstGeom prst="rect">
            <a:avLst/>
          </a:prstGeom>
        </p:spPr>
      </p:pic>
      <p:sp>
        <p:nvSpPr>
          <p:cNvPr id="76" name="TextBox 75"/>
          <p:cNvSpPr txBox="1"/>
          <p:nvPr/>
        </p:nvSpPr>
        <p:spPr>
          <a:xfrm>
            <a:off x="4405401" y="2309044"/>
            <a:ext cx="886569" cy="186689"/>
          </a:xfrm>
          <a:prstGeom prst="rect">
            <a:avLst/>
          </a:prstGeom>
          <a:noFill/>
        </p:spPr>
        <p:txBody>
          <a:bodyPr wrap="none" lIns="0" tIns="0" rIns="0" bIns="0">
            <a:spAutoFit/>
          </a:bodyPr>
          <a:lstStyle/>
          <a:p>
            <a:r>
              <a:rPr sz="1100" b="0">
                <a:solidFill>
                  <a:srgbClr val="2E2E2E"/>
                </a:solidFill>
                <a:latin typeface="Calibri"/>
              </a:rPr>
              <a:t>), Flat Dividers</a:t>
            </a:r>
          </a:p>
        </p:txBody>
      </p:sp>
      <p:sp>
        <p:nvSpPr>
          <p:cNvPr id="77" name="TextBox 76"/>
          <p:cNvSpPr txBox="1"/>
          <p:nvPr/>
        </p:nvSpPr>
        <p:spPr>
          <a:xfrm>
            <a:off x="1752600" y="2476684"/>
            <a:ext cx="2689026" cy="186689"/>
          </a:xfrm>
          <a:prstGeom prst="rect">
            <a:avLst/>
          </a:prstGeom>
          <a:noFill/>
        </p:spPr>
        <p:txBody>
          <a:bodyPr wrap="none" lIns="0" tIns="0" rIns="0" bIns="0">
            <a:spAutoFit/>
          </a:bodyPr>
          <a:lstStyle/>
          <a:p>
            <a:r>
              <a:rPr sz="1100" b="0">
                <a:solidFill>
                  <a:srgbClr val="2E2E2E"/>
                </a:solidFill>
                <a:latin typeface="Calibri"/>
              </a:rPr>
              <a:t>&amp; Layer Pads demand, Accelerating vs history.</a:t>
            </a:r>
          </a:p>
        </p:txBody>
      </p:sp>
      <p:sp>
        <p:nvSpPr>
          <p:cNvPr id="78" name="TextBox 77"/>
          <p:cNvSpPr txBox="1"/>
          <p:nvPr/>
        </p:nvSpPr>
        <p:spPr>
          <a:xfrm>
            <a:off x="5562600" y="2392864"/>
            <a:ext cx="1113035" cy="186689"/>
          </a:xfrm>
          <a:prstGeom prst="rect">
            <a:avLst/>
          </a:prstGeom>
          <a:noFill/>
        </p:spPr>
        <p:txBody>
          <a:bodyPr wrap="none" lIns="0" tIns="0" rIns="0" bIns="0">
            <a:spAutoFit/>
          </a:bodyPr>
          <a:lstStyle/>
          <a:p>
            <a:r>
              <a:rPr sz="1100" b="0">
                <a:solidFill>
                  <a:srgbClr val="2E2E2E"/>
                </a:solidFill>
                <a:latin typeface="Calibri"/>
              </a:rPr>
              <a:t>Rising realisation (</a:t>
            </a:r>
          </a:p>
        </p:txBody>
      </p:sp>
      <p:pic>
        <p:nvPicPr>
          <p:cNvPr id="79" name="Picture 78" descr="lock.png"/>
          <p:cNvPicPr>
            <a:picLocks noChangeAspect="1"/>
          </p:cNvPicPr>
          <p:nvPr/>
        </p:nvPicPr>
        <p:blipFill>
          <a:blip r:embed="rId4"/>
          <a:stretch>
            <a:fillRect/>
          </a:stretch>
        </p:blipFill>
        <p:spPr>
          <a:xfrm>
            <a:off x="6623687" y="2383085"/>
            <a:ext cx="128699" cy="187198"/>
          </a:xfrm>
          <a:prstGeom prst="rect">
            <a:avLst/>
          </a:prstGeom>
        </p:spPr>
      </p:pic>
      <p:sp>
        <p:nvSpPr>
          <p:cNvPr id="80" name="TextBox 79"/>
          <p:cNvSpPr txBox="1"/>
          <p:nvPr/>
        </p:nvSpPr>
        <p:spPr>
          <a:xfrm>
            <a:off x="6791183" y="2392864"/>
            <a:ext cx="153689" cy="186689"/>
          </a:xfrm>
          <a:prstGeom prst="rect">
            <a:avLst/>
          </a:prstGeom>
          <a:noFill/>
        </p:spPr>
        <p:txBody>
          <a:bodyPr wrap="none" lIns="0" tIns="0" rIns="0" bIns="0">
            <a:spAutoFit/>
          </a:bodyPr>
          <a:lstStyle/>
          <a:p>
            <a:r>
              <a:rPr sz="1100" b="0">
                <a:solidFill>
                  <a:srgbClr val="2E2E2E"/>
                </a:solidFill>
                <a:latin typeface="Calibri"/>
              </a:rPr>
              <a:t>).</a:t>
            </a:r>
          </a:p>
        </p:txBody>
      </p:sp>
      <p:sp>
        <p:nvSpPr>
          <p:cNvPr id="81" name="TextBox 80"/>
          <p:cNvSpPr txBox="1"/>
          <p:nvPr/>
        </p:nvSpPr>
        <p:spPr>
          <a:xfrm>
            <a:off x="8420100" y="2309044"/>
            <a:ext cx="1939776" cy="186689"/>
          </a:xfrm>
          <a:prstGeom prst="rect">
            <a:avLst/>
          </a:prstGeom>
          <a:noFill/>
        </p:spPr>
        <p:txBody>
          <a:bodyPr wrap="none" lIns="0" tIns="0" rIns="0" bIns="0">
            <a:spAutoFit/>
          </a:bodyPr>
          <a:lstStyle/>
          <a:p>
            <a:r>
              <a:rPr sz="1100" b="0">
                <a:solidFill>
                  <a:srgbClr val="2E2E2E"/>
                </a:solidFill>
                <a:latin typeface="Calibri"/>
              </a:rPr>
              <a:t>Scale Flat Dividers &amp; Layer Pads (</a:t>
            </a:r>
          </a:p>
        </p:txBody>
      </p:sp>
      <p:pic>
        <p:nvPicPr>
          <p:cNvPr id="82" name="Picture 81" descr="lock.png"/>
          <p:cNvPicPr>
            <a:picLocks noChangeAspect="1"/>
          </p:cNvPicPr>
          <p:nvPr/>
        </p:nvPicPr>
        <p:blipFill>
          <a:blip r:embed="rId4"/>
          <a:stretch>
            <a:fillRect/>
          </a:stretch>
        </p:blipFill>
        <p:spPr>
          <a:xfrm>
            <a:off x="10307927" y="2299265"/>
            <a:ext cx="128699" cy="187198"/>
          </a:xfrm>
          <a:prstGeom prst="rect">
            <a:avLst/>
          </a:prstGeom>
        </p:spPr>
      </p:pic>
      <p:sp>
        <p:nvSpPr>
          <p:cNvPr id="83" name="TextBox 82"/>
          <p:cNvSpPr txBox="1"/>
          <p:nvPr/>
        </p:nvSpPr>
        <p:spPr>
          <a:xfrm>
            <a:off x="10475423" y="2309044"/>
            <a:ext cx="153416"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84" name="Picture 83" descr="lock.png"/>
          <p:cNvPicPr>
            <a:picLocks noChangeAspect="1"/>
          </p:cNvPicPr>
          <p:nvPr/>
        </p:nvPicPr>
        <p:blipFill>
          <a:blip r:embed="rId4"/>
          <a:stretch>
            <a:fillRect/>
          </a:stretch>
        </p:blipFill>
        <p:spPr>
          <a:xfrm>
            <a:off x="10576892" y="2299265"/>
            <a:ext cx="128699" cy="187198"/>
          </a:xfrm>
          <a:prstGeom prst="rect">
            <a:avLst/>
          </a:prstGeom>
        </p:spPr>
      </p:pic>
      <p:sp>
        <p:nvSpPr>
          <p:cNvPr id="85" name="TextBox 84"/>
          <p:cNvSpPr txBox="1"/>
          <p:nvPr/>
        </p:nvSpPr>
        <p:spPr>
          <a:xfrm>
            <a:off x="10744387" y="2309044"/>
            <a:ext cx="52558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86" name="TextBox 85"/>
          <p:cNvSpPr txBox="1"/>
          <p:nvPr/>
        </p:nvSpPr>
        <p:spPr>
          <a:xfrm>
            <a:off x="8420100" y="2476684"/>
            <a:ext cx="702394" cy="186689"/>
          </a:xfrm>
          <a:prstGeom prst="rect">
            <a:avLst/>
          </a:prstGeom>
          <a:noFill/>
        </p:spPr>
        <p:txBody>
          <a:bodyPr wrap="none" lIns="0" tIns="0" rIns="0" bIns="0">
            <a:spAutoFit/>
          </a:bodyPr>
          <a:lstStyle/>
          <a:p>
            <a:r>
              <a:rPr sz="1100" b="0">
                <a:solidFill>
                  <a:srgbClr val="2E2E2E"/>
                </a:solidFill>
                <a:latin typeface="Calibri"/>
              </a:rPr>
              <a:t>headroom.</a:t>
            </a:r>
          </a:p>
        </p:txBody>
      </p:sp>
      <p:sp>
        <p:nvSpPr>
          <p:cNvPr id="87" name="TextBox 86"/>
          <p:cNvSpPr txBox="1"/>
          <p:nvPr/>
        </p:nvSpPr>
        <p:spPr>
          <a:xfrm>
            <a:off x="1752600" y="2820147"/>
            <a:ext cx="738137" cy="186689"/>
          </a:xfrm>
          <a:prstGeom prst="rect">
            <a:avLst/>
          </a:prstGeom>
          <a:noFill/>
        </p:spPr>
        <p:txBody>
          <a:bodyPr wrap="none" lIns="0" tIns="0" rIns="0" bIns="0">
            <a:spAutoFit/>
          </a:bodyPr>
          <a:lstStyle/>
          <a:p>
            <a:r>
              <a:rPr sz="1100" b="0">
                <a:solidFill>
                  <a:srgbClr val="2E2E2E"/>
                </a:solidFill>
                <a:latin typeface="Calibri"/>
              </a:rPr>
              <a:t>Scale base (</a:t>
            </a:r>
          </a:p>
        </p:txBody>
      </p:sp>
      <p:pic>
        <p:nvPicPr>
          <p:cNvPr id="88" name="Picture 87" descr="lock.png"/>
          <p:cNvPicPr>
            <a:picLocks noChangeAspect="1"/>
          </p:cNvPicPr>
          <p:nvPr/>
        </p:nvPicPr>
        <p:blipFill>
          <a:blip r:embed="rId4"/>
          <a:stretch>
            <a:fillRect/>
          </a:stretch>
        </p:blipFill>
        <p:spPr>
          <a:xfrm>
            <a:off x="2438789" y="2810368"/>
            <a:ext cx="128699" cy="187198"/>
          </a:xfrm>
          <a:prstGeom prst="rect">
            <a:avLst/>
          </a:prstGeom>
        </p:spPr>
      </p:pic>
      <p:sp>
        <p:nvSpPr>
          <p:cNvPr id="89" name="TextBox 88"/>
          <p:cNvSpPr txBox="1"/>
          <p:nvPr/>
        </p:nvSpPr>
        <p:spPr>
          <a:xfrm>
            <a:off x="2606285" y="2820147"/>
            <a:ext cx="1683568" cy="186689"/>
          </a:xfrm>
          <a:prstGeom prst="rect">
            <a:avLst/>
          </a:prstGeom>
          <a:noFill/>
        </p:spPr>
        <p:txBody>
          <a:bodyPr wrap="none" lIns="0" tIns="0" rIns="0" bIns="0">
            <a:spAutoFit/>
          </a:bodyPr>
          <a:lstStyle/>
          <a:p>
            <a:r>
              <a:rPr sz="1100" b="0">
                <a:solidFill>
                  <a:srgbClr val="2E2E2E"/>
                </a:solidFill>
                <a:latin typeface="Calibri"/>
              </a:rPr>
              <a:t>share), Above-market pace (</a:t>
            </a:r>
          </a:p>
        </p:txBody>
      </p:sp>
      <p:pic>
        <p:nvPicPr>
          <p:cNvPr id="90" name="Picture 89" descr="lock.png"/>
          <p:cNvPicPr>
            <a:picLocks noChangeAspect="1"/>
          </p:cNvPicPr>
          <p:nvPr/>
        </p:nvPicPr>
        <p:blipFill>
          <a:blip r:embed="rId4"/>
          <a:stretch>
            <a:fillRect/>
          </a:stretch>
        </p:blipFill>
        <p:spPr>
          <a:xfrm>
            <a:off x="4237905" y="2810368"/>
            <a:ext cx="128699" cy="187198"/>
          </a:xfrm>
          <a:prstGeom prst="rect">
            <a:avLst/>
          </a:prstGeom>
        </p:spPr>
      </p:pic>
      <p:sp>
        <p:nvSpPr>
          <p:cNvPr id="91" name="TextBox 90"/>
          <p:cNvSpPr txBox="1"/>
          <p:nvPr/>
        </p:nvSpPr>
        <p:spPr>
          <a:xfrm>
            <a:off x="4405401" y="2820147"/>
            <a:ext cx="886569" cy="186689"/>
          </a:xfrm>
          <a:prstGeom prst="rect">
            <a:avLst/>
          </a:prstGeom>
          <a:noFill/>
        </p:spPr>
        <p:txBody>
          <a:bodyPr wrap="none" lIns="0" tIns="0" rIns="0" bIns="0">
            <a:spAutoFit/>
          </a:bodyPr>
          <a:lstStyle/>
          <a:p>
            <a:r>
              <a:rPr sz="1100" b="0">
                <a:solidFill>
                  <a:srgbClr val="2E2E2E"/>
                </a:solidFill>
                <a:latin typeface="Calibri"/>
              </a:rPr>
              <a:t>), Flat Dividers</a:t>
            </a:r>
          </a:p>
        </p:txBody>
      </p:sp>
      <p:sp>
        <p:nvSpPr>
          <p:cNvPr id="92" name="TextBox 91"/>
          <p:cNvSpPr txBox="1"/>
          <p:nvPr/>
        </p:nvSpPr>
        <p:spPr>
          <a:xfrm>
            <a:off x="1752600" y="2987787"/>
            <a:ext cx="2689026" cy="186689"/>
          </a:xfrm>
          <a:prstGeom prst="rect">
            <a:avLst/>
          </a:prstGeom>
          <a:noFill/>
        </p:spPr>
        <p:txBody>
          <a:bodyPr wrap="none" lIns="0" tIns="0" rIns="0" bIns="0">
            <a:spAutoFit/>
          </a:bodyPr>
          <a:lstStyle/>
          <a:p>
            <a:r>
              <a:rPr sz="1100" b="0">
                <a:solidFill>
                  <a:srgbClr val="2E2E2E"/>
                </a:solidFill>
                <a:latin typeface="Calibri"/>
              </a:rPr>
              <a:t>&amp; Layer Pads demand, Accelerating vs history.</a:t>
            </a:r>
          </a:p>
        </p:txBody>
      </p:sp>
      <p:sp>
        <p:nvSpPr>
          <p:cNvPr id="93" name="TextBox 92"/>
          <p:cNvSpPr txBox="1"/>
          <p:nvPr/>
        </p:nvSpPr>
        <p:spPr>
          <a:xfrm>
            <a:off x="5562600" y="2903967"/>
            <a:ext cx="1113035" cy="186689"/>
          </a:xfrm>
          <a:prstGeom prst="rect">
            <a:avLst/>
          </a:prstGeom>
          <a:noFill/>
        </p:spPr>
        <p:txBody>
          <a:bodyPr wrap="none" lIns="0" tIns="0" rIns="0" bIns="0">
            <a:spAutoFit/>
          </a:bodyPr>
          <a:lstStyle/>
          <a:p>
            <a:r>
              <a:rPr sz="1100" b="0">
                <a:solidFill>
                  <a:srgbClr val="2E2E2E"/>
                </a:solidFill>
                <a:latin typeface="Calibri"/>
              </a:rPr>
              <a:t>Rising realisation (</a:t>
            </a:r>
          </a:p>
        </p:txBody>
      </p:sp>
      <p:pic>
        <p:nvPicPr>
          <p:cNvPr id="94" name="Picture 93" descr="lock.png"/>
          <p:cNvPicPr>
            <a:picLocks noChangeAspect="1"/>
          </p:cNvPicPr>
          <p:nvPr/>
        </p:nvPicPr>
        <p:blipFill>
          <a:blip r:embed="rId4"/>
          <a:stretch>
            <a:fillRect/>
          </a:stretch>
        </p:blipFill>
        <p:spPr>
          <a:xfrm>
            <a:off x="6623687" y="2894188"/>
            <a:ext cx="128699" cy="187198"/>
          </a:xfrm>
          <a:prstGeom prst="rect">
            <a:avLst/>
          </a:prstGeom>
        </p:spPr>
      </p:pic>
      <p:sp>
        <p:nvSpPr>
          <p:cNvPr id="95" name="TextBox 94"/>
          <p:cNvSpPr txBox="1"/>
          <p:nvPr/>
        </p:nvSpPr>
        <p:spPr>
          <a:xfrm>
            <a:off x="6791183" y="2903967"/>
            <a:ext cx="153689" cy="186689"/>
          </a:xfrm>
          <a:prstGeom prst="rect">
            <a:avLst/>
          </a:prstGeom>
          <a:noFill/>
        </p:spPr>
        <p:txBody>
          <a:bodyPr wrap="none" lIns="0" tIns="0" rIns="0" bIns="0">
            <a:spAutoFit/>
          </a:bodyPr>
          <a:lstStyle/>
          <a:p>
            <a:r>
              <a:rPr sz="1100" b="0">
                <a:solidFill>
                  <a:srgbClr val="2E2E2E"/>
                </a:solidFill>
                <a:latin typeface="Calibri"/>
              </a:rPr>
              <a:t>).</a:t>
            </a:r>
          </a:p>
        </p:txBody>
      </p:sp>
      <p:sp>
        <p:nvSpPr>
          <p:cNvPr id="96" name="TextBox 95"/>
          <p:cNvSpPr txBox="1"/>
          <p:nvPr/>
        </p:nvSpPr>
        <p:spPr>
          <a:xfrm>
            <a:off x="8420100" y="2820147"/>
            <a:ext cx="1939776" cy="186689"/>
          </a:xfrm>
          <a:prstGeom prst="rect">
            <a:avLst/>
          </a:prstGeom>
          <a:noFill/>
        </p:spPr>
        <p:txBody>
          <a:bodyPr wrap="none" lIns="0" tIns="0" rIns="0" bIns="0">
            <a:spAutoFit/>
          </a:bodyPr>
          <a:lstStyle/>
          <a:p>
            <a:r>
              <a:rPr sz="1100" b="0">
                <a:solidFill>
                  <a:srgbClr val="2E2E2E"/>
                </a:solidFill>
                <a:latin typeface="Calibri"/>
              </a:rPr>
              <a:t>Scale Flat Dividers &amp; Layer Pads (</a:t>
            </a:r>
          </a:p>
        </p:txBody>
      </p:sp>
      <p:pic>
        <p:nvPicPr>
          <p:cNvPr id="97" name="Picture 96" descr="lock.png"/>
          <p:cNvPicPr>
            <a:picLocks noChangeAspect="1"/>
          </p:cNvPicPr>
          <p:nvPr/>
        </p:nvPicPr>
        <p:blipFill>
          <a:blip r:embed="rId4"/>
          <a:stretch>
            <a:fillRect/>
          </a:stretch>
        </p:blipFill>
        <p:spPr>
          <a:xfrm>
            <a:off x="10307927" y="2810368"/>
            <a:ext cx="128699" cy="187198"/>
          </a:xfrm>
          <a:prstGeom prst="rect">
            <a:avLst/>
          </a:prstGeom>
        </p:spPr>
      </p:pic>
      <p:sp>
        <p:nvSpPr>
          <p:cNvPr id="98" name="TextBox 97"/>
          <p:cNvSpPr txBox="1"/>
          <p:nvPr/>
        </p:nvSpPr>
        <p:spPr>
          <a:xfrm>
            <a:off x="10475423" y="2820147"/>
            <a:ext cx="153416"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99" name="Picture 98" descr="lock.png"/>
          <p:cNvPicPr>
            <a:picLocks noChangeAspect="1"/>
          </p:cNvPicPr>
          <p:nvPr/>
        </p:nvPicPr>
        <p:blipFill>
          <a:blip r:embed="rId4"/>
          <a:stretch>
            <a:fillRect/>
          </a:stretch>
        </p:blipFill>
        <p:spPr>
          <a:xfrm>
            <a:off x="10576892" y="2810368"/>
            <a:ext cx="128699" cy="187198"/>
          </a:xfrm>
          <a:prstGeom prst="rect">
            <a:avLst/>
          </a:prstGeom>
        </p:spPr>
      </p:pic>
      <p:sp>
        <p:nvSpPr>
          <p:cNvPr id="100" name="TextBox 99"/>
          <p:cNvSpPr txBox="1"/>
          <p:nvPr/>
        </p:nvSpPr>
        <p:spPr>
          <a:xfrm>
            <a:off x="10744387" y="2820147"/>
            <a:ext cx="52558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101" name="TextBox 100"/>
          <p:cNvSpPr txBox="1"/>
          <p:nvPr/>
        </p:nvSpPr>
        <p:spPr>
          <a:xfrm>
            <a:off x="8420100" y="2987787"/>
            <a:ext cx="702394" cy="186689"/>
          </a:xfrm>
          <a:prstGeom prst="rect">
            <a:avLst/>
          </a:prstGeom>
          <a:noFill/>
        </p:spPr>
        <p:txBody>
          <a:bodyPr wrap="none" lIns="0" tIns="0" rIns="0" bIns="0">
            <a:spAutoFit/>
          </a:bodyPr>
          <a:lstStyle/>
          <a:p>
            <a:r>
              <a:rPr sz="1100" b="0">
                <a:solidFill>
                  <a:srgbClr val="2E2E2E"/>
                </a:solidFill>
                <a:latin typeface="Calibri"/>
              </a:rPr>
              <a:t>headroom.</a:t>
            </a:r>
          </a:p>
        </p:txBody>
      </p:sp>
      <p:sp>
        <p:nvSpPr>
          <p:cNvPr id="102" name="TextBox 101"/>
          <p:cNvSpPr txBox="1"/>
          <p:nvPr/>
        </p:nvSpPr>
        <p:spPr>
          <a:xfrm>
            <a:off x="1752600" y="3331251"/>
            <a:ext cx="1134318" cy="186689"/>
          </a:xfrm>
          <a:prstGeom prst="rect">
            <a:avLst/>
          </a:prstGeom>
          <a:noFill/>
        </p:spPr>
        <p:txBody>
          <a:bodyPr wrap="none" lIns="0" tIns="0" rIns="0" bIns="0">
            <a:spAutoFit/>
          </a:bodyPr>
          <a:lstStyle/>
          <a:p>
            <a:r>
              <a:rPr sz="1100" b="0">
                <a:solidFill>
                  <a:srgbClr val="2E2E2E"/>
                </a:solidFill>
                <a:latin typeface="Calibri"/>
              </a:rPr>
              <a:t>Installed demand (</a:t>
            </a:r>
          </a:p>
        </p:txBody>
      </p:sp>
      <p:pic>
        <p:nvPicPr>
          <p:cNvPr id="103" name="Picture 102" descr="lock.png"/>
          <p:cNvPicPr>
            <a:picLocks noChangeAspect="1"/>
          </p:cNvPicPr>
          <p:nvPr/>
        </p:nvPicPr>
        <p:blipFill>
          <a:blip r:embed="rId4"/>
          <a:stretch>
            <a:fillRect/>
          </a:stretch>
        </p:blipFill>
        <p:spPr>
          <a:xfrm>
            <a:off x="2834969" y="3321472"/>
            <a:ext cx="128699" cy="187198"/>
          </a:xfrm>
          <a:prstGeom prst="rect">
            <a:avLst/>
          </a:prstGeom>
        </p:spPr>
      </p:pic>
      <p:sp>
        <p:nvSpPr>
          <p:cNvPr id="104" name="TextBox 103"/>
          <p:cNvSpPr txBox="1"/>
          <p:nvPr/>
        </p:nvSpPr>
        <p:spPr>
          <a:xfrm>
            <a:off x="3002465" y="3331251"/>
            <a:ext cx="1970318" cy="186689"/>
          </a:xfrm>
          <a:prstGeom prst="rect">
            <a:avLst/>
          </a:prstGeom>
          <a:noFill/>
        </p:spPr>
        <p:txBody>
          <a:bodyPr wrap="none" lIns="0" tIns="0" rIns="0" bIns="0">
            <a:spAutoFit/>
          </a:bodyPr>
          <a:lstStyle/>
          <a:p>
            <a:r>
              <a:rPr sz="1100" b="0">
                <a:solidFill>
                  <a:srgbClr val="2E2E2E"/>
                </a:solidFill>
                <a:latin typeface="Calibri"/>
              </a:rPr>
              <a:t>CAGR), Flat Dividers &amp; Layer Pads</a:t>
            </a:r>
          </a:p>
        </p:txBody>
      </p:sp>
      <p:sp>
        <p:nvSpPr>
          <p:cNvPr id="105" name="TextBox 104"/>
          <p:cNvSpPr txBox="1"/>
          <p:nvPr/>
        </p:nvSpPr>
        <p:spPr>
          <a:xfrm>
            <a:off x="1752600" y="3498891"/>
            <a:ext cx="1924496" cy="186689"/>
          </a:xfrm>
          <a:prstGeom prst="rect">
            <a:avLst/>
          </a:prstGeom>
          <a:noFill/>
        </p:spPr>
        <p:txBody>
          <a:bodyPr wrap="none" lIns="0" tIns="0" rIns="0" bIns="0">
            <a:spAutoFit/>
          </a:bodyPr>
          <a:lstStyle/>
          <a:p>
            <a:r>
              <a:rPr sz="1100" b="0">
                <a:solidFill>
                  <a:srgbClr val="2E2E2E"/>
                </a:solidFill>
                <a:latin typeface="Calibri"/>
              </a:rPr>
              <a:t>demand, Accelerating vs history.</a:t>
            </a:r>
          </a:p>
        </p:txBody>
      </p:sp>
      <p:sp>
        <p:nvSpPr>
          <p:cNvPr id="106" name="TextBox 105"/>
          <p:cNvSpPr txBox="1"/>
          <p:nvPr/>
        </p:nvSpPr>
        <p:spPr>
          <a:xfrm>
            <a:off x="5562600" y="3331251"/>
            <a:ext cx="1287115" cy="186689"/>
          </a:xfrm>
          <a:prstGeom prst="rect">
            <a:avLst/>
          </a:prstGeom>
          <a:noFill/>
        </p:spPr>
        <p:txBody>
          <a:bodyPr wrap="none" lIns="0" tIns="0" rIns="0" bIns="0">
            <a:spAutoFit/>
          </a:bodyPr>
          <a:lstStyle/>
          <a:p>
            <a:r>
              <a:rPr sz="1100" b="0">
                <a:solidFill>
                  <a:srgbClr val="2E2E2E"/>
                </a:solidFill>
                <a:latin typeface="Calibri"/>
              </a:rPr>
              <a:t>Trails market pace by</a:t>
            </a:r>
          </a:p>
        </p:txBody>
      </p:sp>
      <p:pic>
        <p:nvPicPr>
          <p:cNvPr id="107" name="Picture 106" descr="lock.png"/>
          <p:cNvPicPr>
            <a:picLocks noChangeAspect="1"/>
          </p:cNvPicPr>
          <p:nvPr/>
        </p:nvPicPr>
        <p:blipFill>
          <a:blip r:embed="rId4"/>
          <a:stretch>
            <a:fillRect/>
          </a:stretch>
        </p:blipFill>
        <p:spPr>
          <a:xfrm>
            <a:off x="6797766" y="3321472"/>
            <a:ext cx="128699" cy="187198"/>
          </a:xfrm>
          <a:prstGeom prst="rect">
            <a:avLst/>
          </a:prstGeom>
        </p:spPr>
      </p:pic>
      <p:sp>
        <p:nvSpPr>
          <p:cNvPr id="108" name="TextBox 107"/>
          <p:cNvSpPr txBox="1"/>
          <p:nvPr/>
        </p:nvSpPr>
        <p:spPr>
          <a:xfrm>
            <a:off x="6965262" y="3331251"/>
            <a:ext cx="689297" cy="186689"/>
          </a:xfrm>
          <a:prstGeom prst="rect">
            <a:avLst/>
          </a:prstGeom>
          <a:noFill/>
        </p:spPr>
        <p:txBody>
          <a:bodyPr wrap="none" lIns="0" tIns="0" rIns="0" bIns="0">
            <a:spAutoFit/>
          </a:bodyPr>
          <a:lstStyle/>
          <a:p>
            <a:r>
              <a:rPr sz="1100" b="0">
                <a:solidFill>
                  <a:srgbClr val="2E2E2E"/>
                </a:solidFill>
                <a:latin typeface="Calibri"/>
              </a:rPr>
              <a:t>BPS, Rising</a:t>
            </a:r>
          </a:p>
        </p:txBody>
      </p:sp>
      <p:sp>
        <p:nvSpPr>
          <p:cNvPr id="109" name="TextBox 108"/>
          <p:cNvSpPr txBox="1"/>
          <p:nvPr/>
        </p:nvSpPr>
        <p:spPr>
          <a:xfrm>
            <a:off x="5562600" y="3498891"/>
            <a:ext cx="747414" cy="186689"/>
          </a:xfrm>
          <a:prstGeom prst="rect">
            <a:avLst/>
          </a:prstGeom>
          <a:noFill/>
        </p:spPr>
        <p:txBody>
          <a:bodyPr wrap="none" lIns="0" tIns="0" rIns="0" bIns="0">
            <a:spAutoFit/>
          </a:bodyPr>
          <a:lstStyle/>
          <a:p>
            <a:r>
              <a:rPr sz="1100" b="0">
                <a:solidFill>
                  <a:srgbClr val="2E2E2E"/>
                </a:solidFill>
                <a:latin typeface="Calibri"/>
              </a:rPr>
              <a:t>realisation (</a:t>
            </a:r>
          </a:p>
        </p:txBody>
      </p:sp>
      <p:pic>
        <p:nvPicPr>
          <p:cNvPr id="110" name="Picture 109" descr="lock.png"/>
          <p:cNvPicPr>
            <a:picLocks noChangeAspect="1"/>
          </p:cNvPicPr>
          <p:nvPr/>
        </p:nvPicPr>
        <p:blipFill>
          <a:blip r:embed="rId4"/>
          <a:stretch>
            <a:fillRect/>
          </a:stretch>
        </p:blipFill>
        <p:spPr>
          <a:xfrm>
            <a:off x="6258066" y="3489112"/>
            <a:ext cx="128699" cy="187198"/>
          </a:xfrm>
          <a:prstGeom prst="rect">
            <a:avLst/>
          </a:prstGeom>
        </p:spPr>
      </p:pic>
      <p:sp>
        <p:nvSpPr>
          <p:cNvPr id="111" name="TextBox 110"/>
          <p:cNvSpPr txBox="1"/>
          <p:nvPr/>
        </p:nvSpPr>
        <p:spPr>
          <a:xfrm>
            <a:off x="6425562" y="3498891"/>
            <a:ext cx="153689" cy="186689"/>
          </a:xfrm>
          <a:prstGeom prst="rect">
            <a:avLst/>
          </a:prstGeom>
          <a:noFill/>
        </p:spPr>
        <p:txBody>
          <a:bodyPr wrap="none" lIns="0" tIns="0" rIns="0" bIns="0">
            <a:spAutoFit/>
          </a:bodyPr>
          <a:lstStyle/>
          <a:p>
            <a:r>
              <a:rPr sz="1100" b="0">
                <a:solidFill>
                  <a:srgbClr val="2E2E2E"/>
                </a:solidFill>
                <a:latin typeface="Calibri"/>
              </a:rPr>
              <a:t>).</a:t>
            </a:r>
          </a:p>
        </p:txBody>
      </p:sp>
      <p:sp>
        <p:nvSpPr>
          <p:cNvPr id="112" name="TextBox 111"/>
          <p:cNvSpPr txBox="1"/>
          <p:nvPr/>
        </p:nvSpPr>
        <p:spPr>
          <a:xfrm>
            <a:off x="8420100" y="3331251"/>
            <a:ext cx="1939776" cy="186689"/>
          </a:xfrm>
          <a:prstGeom prst="rect">
            <a:avLst/>
          </a:prstGeom>
          <a:noFill/>
        </p:spPr>
        <p:txBody>
          <a:bodyPr wrap="none" lIns="0" tIns="0" rIns="0" bIns="0">
            <a:spAutoFit/>
          </a:bodyPr>
          <a:lstStyle/>
          <a:p>
            <a:r>
              <a:rPr sz="1100" b="0">
                <a:solidFill>
                  <a:srgbClr val="2E2E2E"/>
                </a:solidFill>
                <a:latin typeface="Calibri"/>
              </a:rPr>
              <a:t>Scale Flat Dividers &amp; Layer Pads (</a:t>
            </a:r>
          </a:p>
        </p:txBody>
      </p:sp>
      <p:pic>
        <p:nvPicPr>
          <p:cNvPr id="113" name="Picture 112" descr="lock.png"/>
          <p:cNvPicPr>
            <a:picLocks noChangeAspect="1"/>
          </p:cNvPicPr>
          <p:nvPr/>
        </p:nvPicPr>
        <p:blipFill>
          <a:blip r:embed="rId4"/>
          <a:stretch>
            <a:fillRect/>
          </a:stretch>
        </p:blipFill>
        <p:spPr>
          <a:xfrm>
            <a:off x="10307927" y="3321472"/>
            <a:ext cx="128699" cy="187198"/>
          </a:xfrm>
          <a:prstGeom prst="rect">
            <a:avLst/>
          </a:prstGeom>
        </p:spPr>
      </p:pic>
      <p:sp>
        <p:nvSpPr>
          <p:cNvPr id="114" name="TextBox 113"/>
          <p:cNvSpPr txBox="1"/>
          <p:nvPr/>
        </p:nvSpPr>
        <p:spPr>
          <a:xfrm>
            <a:off x="10475423" y="3331251"/>
            <a:ext cx="153416"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115" name="Picture 114" descr="lock.png"/>
          <p:cNvPicPr>
            <a:picLocks noChangeAspect="1"/>
          </p:cNvPicPr>
          <p:nvPr/>
        </p:nvPicPr>
        <p:blipFill>
          <a:blip r:embed="rId4"/>
          <a:stretch>
            <a:fillRect/>
          </a:stretch>
        </p:blipFill>
        <p:spPr>
          <a:xfrm>
            <a:off x="10576892" y="3321472"/>
            <a:ext cx="128699" cy="187198"/>
          </a:xfrm>
          <a:prstGeom prst="rect">
            <a:avLst/>
          </a:prstGeom>
        </p:spPr>
      </p:pic>
      <p:sp>
        <p:nvSpPr>
          <p:cNvPr id="116" name="TextBox 115"/>
          <p:cNvSpPr txBox="1"/>
          <p:nvPr/>
        </p:nvSpPr>
        <p:spPr>
          <a:xfrm>
            <a:off x="10744387" y="3331251"/>
            <a:ext cx="52558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117" name="TextBox 116"/>
          <p:cNvSpPr txBox="1"/>
          <p:nvPr/>
        </p:nvSpPr>
        <p:spPr>
          <a:xfrm>
            <a:off x="8420100" y="3498891"/>
            <a:ext cx="702394" cy="186689"/>
          </a:xfrm>
          <a:prstGeom prst="rect">
            <a:avLst/>
          </a:prstGeom>
          <a:noFill/>
        </p:spPr>
        <p:txBody>
          <a:bodyPr wrap="none" lIns="0" tIns="0" rIns="0" bIns="0">
            <a:spAutoFit/>
          </a:bodyPr>
          <a:lstStyle/>
          <a:p>
            <a:r>
              <a:rPr sz="1100" b="0">
                <a:solidFill>
                  <a:srgbClr val="2E2E2E"/>
                </a:solidFill>
                <a:latin typeface="Calibri"/>
              </a:rPr>
              <a:t>headroom.</a:t>
            </a:r>
          </a:p>
        </p:txBody>
      </p:sp>
      <p:sp>
        <p:nvSpPr>
          <p:cNvPr id="118" name="TextBox 117"/>
          <p:cNvSpPr txBox="1"/>
          <p:nvPr/>
        </p:nvSpPr>
        <p:spPr>
          <a:xfrm>
            <a:off x="1752600" y="3842354"/>
            <a:ext cx="1261467" cy="186689"/>
          </a:xfrm>
          <a:prstGeom prst="rect">
            <a:avLst/>
          </a:prstGeom>
          <a:noFill/>
        </p:spPr>
        <p:txBody>
          <a:bodyPr wrap="none" lIns="0" tIns="0" rIns="0" bIns="0">
            <a:spAutoFit/>
          </a:bodyPr>
          <a:lstStyle/>
          <a:p>
            <a:r>
              <a:rPr sz="1100" b="0">
                <a:solidFill>
                  <a:srgbClr val="2E2E2E"/>
                </a:solidFill>
                <a:latin typeface="Calibri"/>
              </a:rPr>
              <a:t>Above-market pace (</a:t>
            </a:r>
          </a:p>
        </p:txBody>
      </p:sp>
      <p:pic>
        <p:nvPicPr>
          <p:cNvPr id="119" name="Picture 118" descr="lock.png"/>
          <p:cNvPicPr>
            <a:picLocks noChangeAspect="1"/>
          </p:cNvPicPr>
          <p:nvPr/>
        </p:nvPicPr>
        <p:blipFill>
          <a:blip r:embed="rId4"/>
          <a:stretch>
            <a:fillRect/>
          </a:stretch>
        </p:blipFill>
        <p:spPr>
          <a:xfrm>
            <a:off x="2962118" y="3832575"/>
            <a:ext cx="128699" cy="187198"/>
          </a:xfrm>
          <a:prstGeom prst="rect">
            <a:avLst/>
          </a:prstGeom>
        </p:spPr>
      </p:pic>
      <p:sp>
        <p:nvSpPr>
          <p:cNvPr id="120" name="TextBox 119"/>
          <p:cNvSpPr txBox="1"/>
          <p:nvPr/>
        </p:nvSpPr>
        <p:spPr>
          <a:xfrm>
            <a:off x="3129614" y="3842354"/>
            <a:ext cx="2185888" cy="186689"/>
          </a:xfrm>
          <a:prstGeom prst="rect">
            <a:avLst/>
          </a:prstGeom>
          <a:noFill/>
        </p:spPr>
        <p:txBody>
          <a:bodyPr wrap="none" lIns="0" tIns="0" rIns="0" bIns="0">
            <a:spAutoFit/>
          </a:bodyPr>
          <a:lstStyle/>
          <a:p>
            <a:r>
              <a:rPr sz="1100" b="0">
                <a:solidFill>
                  <a:srgbClr val="2E2E2E"/>
                </a:solidFill>
                <a:latin typeface="Calibri"/>
              </a:rPr>
              <a:t>), Flat Dividers &amp; Layer Pads demand,</a:t>
            </a:r>
          </a:p>
        </p:txBody>
      </p:sp>
      <p:sp>
        <p:nvSpPr>
          <p:cNvPr id="121" name="TextBox 120"/>
          <p:cNvSpPr txBox="1"/>
          <p:nvPr/>
        </p:nvSpPr>
        <p:spPr>
          <a:xfrm>
            <a:off x="1752600" y="4009994"/>
            <a:ext cx="1389707" cy="186689"/>
          </a:xfrm>
          <a:prstGeom prst="rect">
            <a:avLst/>
          </a:prstGeom>
          <a:noFill/>
        </p:spPr>
        <p:txBody>
          <a:bodyPr wrap="none" lIns="0" tIns="0" rIns="0" bIns="0">
            <a:spAutoFit/>
          </a:bodyPr>
          <a:lstStyle/>
          <a:p>
            <a:r>
              <a:rPr sz="1100" b="0">
                <a:solidFill>
                  <a:srgbClr val="2E2E2E"/>
                </a:solidFill>
                <a:latin typeface="Calibri"/>
              </a:rPr>
              <a:t>Accelerating vs history.</a:t>
            </a:r>
          </a:p>
        </p:txBody>
      </p:sp>
      <p:sp>
        <p:nvSpPr>
          <p:cNvPr id="122" name="TextBox 121"/>
          <p:cNvSpPr txBox="1"/>
          <p:nvPr/>
        </p:nvSpPr>
        <p:spPr>
          <a:xfrm>
            <a:off x="5562600" y="3926174"/>
            <a:ext cx="1113035" cy="186689"/>
          </a:xfrm>
          <a:prstGeom prst="rect">
            <a:avLst/>
          </a:prstGeom>
          <a:noFill/>
        </p:spPr>
        <p:txBody>
          <a:bodyPr wrap="none" lIns="0" tIns="0" rIns="0" bIns="0">
            <a:spAutoFit/>
          </a:bodyPr>
          <a:lstStyle/>
          <a:p>
            <a:r>
              <a:rPr sz="1100" b="0">
                <a:solidFill>
                  <a:srgbClr val="2E2E2E"/>
                </a:solidFill>
                <a:latin typeface="Calibri"/>
              </a:rPr>
              <a:t>Rising realisation (</a:t>
            </a:r>
          </a:p>
        </p:txBody>
      </p:sp>
      <p:pic>
        <p:nvPicPr>
          <p:cNvPr id="123" name="Picture 122" descr="lock.png"/>
          <p:cNvPicPr>
            <a:picLocks noChangeAspect="1"/>
          </p:cNvPicPr>
          <p:nvPr/>
        </p:nvPicPr>
        <p:blipFill>
          <a:blip r:embed="rId4"/>
          <a:stretch>
            <a:fillRect/>
          </a:stretch>
        </p:blipFill>
        <p:spPr>
          <a:xfrm>
            <a:off x="6623687" y="3916395"/>
            <a:ext cx="128699" cy="187198"/>
          </a:xfrm>
          <a:prstGeom prst="rect">
            <a:avLst/>
          </a:prstGeom>
        </p:spPr>
      </p:pic>
      <p:sp>
        <p:nvSpPr>
          <p:cNvPr id="124" name="TextBox 123"/>
          <p:cNvSpPr txBox="1"/>
          <p:nvPr/>
        </p:nvSpPr>
        <p:spPr>
          <a:xfrm>
            <a:off x="6791183" y="3926174"/>
            <a:ext cx="153689" cy="186689"/>
          </a:xfrm>
          <a:prstGeom prst="rect">
            <a:avLst/>
          </a:prstGeom>
          <a:noFill/>
        </p:spPr>
        <p:txBody>
          <a:bodyPr wrap="none" lIns="0" tIns="0" rIns="0" bIns="0">
            <a:spAutoFit/>
          </a:bodyPr>
          <a:lstStyle/>
          <a:p>
            <a:r>
              <a:rPr sz="1100" b="0">
                <a:solidFill>
                  <a:srgbClr val="2E2E2E"/>
                </a:solidFill>
                <a:latin typeface="Calibri"/>
              </a:rPr>
              <a:t>).</a:t>
            </a:r>
          </a:p>
        </p:txBody>
      </p:sp>
      <p:sp>
        <p:nvSpPr>
          <p:cNvPr id="125" name="TextBox 124"/>
          <p:cNvSpPr txBox="1"/>
          <p:nvPr/>
        </p:nvSpPr>
        <p:spPr>
          <a:xfrm>
            <a:off x="8420100" y="3842354"/>
            <a:ext cx="1939776" cy="186689"/>
          </a:xfrm>
          <a:prstGeom prst="rect">
            <a:avLst/>
          </a:prstGeom>
          <a:noFill/>
        </p:spPr>
        <p:txBody>
          <a:bodyPr wrap="none" lIns="0" tIns="0" rIns="0" bIns="0">
            <a:spAutoFit/>
          </a:bodyPr>
          <a:lstStyle/>
          <a:p>
            <a:r>
              <a:rPr sz="1100" b="0">
                <a:solidFill>
                  <a:srgbClr val="2E2E2E"/>
                </a:solidFill>
                <a:latin typeface="Calibri"/>
              </a:rPr>
              <a:t>Scale Flat Dividers &amp; Layer Pads (</a:t>
            </a:r>
          </a:p>
        </p:txBody>
      </p:sp>
      <p:pic>
        <p:nvPicPr>
          <p:cNvPr id="126" name="Picture 125" descr="lock.png"/>
          <p:cNvPicPr>
            <a:picLocks noChangeAspect="1"/>
          </p:cNvPicPr>
          <p:nvPr/>
        </p:nvPicPr>
        <p:blipFill>
          <a:blip r:embed="rId4"/>
          <a:stretch>
            <a:fillRect/>
          </a:stretch>
        </p:blipFill>
        <p:spPr>
          <a:xfrm>
            <a:off x="10307927" y="3832575"/>
            <a:ext cx="128699" cy="187198"/>
          </a:xfrm>
          <a:prstGeom prst="rect">
            <a:avLst/>
          </a:prstGeom>
        </p:spPr>
      </p:pic>
      <p:sp>
        <p:nvSpPr>
          <p:cNvPr id="127" name="TextBox 126"/>
          <p:cNvSpPr txBox="1"/>
          <p:nvPr/>
        </p:nvSpPr>
        <p:spPr>
          <a:xfrm>
            <a:off x="10475423" y="3842354"/>
            <a:ext cx="153416"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128" name="Picture 127" descr="lock.png"/>
          <p:cNvPicPr>
            <a:picLocks noChangeAspect="1"/>
          </p:cNvPicPr>
          <p:nvPr/>
        </p:nvPicPr>
        <p:blipFill>
          <a:blip r:embed="rId4"/>
          <a:stretch>
            <a:fillRect/>
          </a:stretch>
        </p:blipFill>
        <p:spPr>
          <a:xfrm>
            <a:off x="10576892" y="3832575"/>
            <a:ext cx="128699" cy="187198"/>
          </a:xfrm>
          <a:prstGeom prst="rect">
            <a:avLst/>
          </a:prstGeom>
        </p:spPr>
      </p:pic>
      <p:sp>
        <p:nvSpPr>
          <p:cNvPr id="129" name="TextBox 128"/>
          <p:cNvSpPr txBox="1"/>
          <p:nvPr/>
        </p:nvSpPr>
        <p:spPr>
          <a:xfrm>
            <a:off x="10744387" y="3842354"/>
            <a:ext cx="52558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130" name="TextBox 129"/>
          <p:cNvSpPr txBox="1"/>
          <p:nvPr/>
        </p:nvSpPr>
        <p:spPr>
          <a:xfrm>
            <a:off x="8420100" y="4009994"/>
            <a:ext cx="702394" cy="186689"/>
          </a:xfrm>
          <a:prstGeom prst="rect">
            <a:avLst/>
          </a:prstGeom>
          <a:noFill/>
        </p:spPr>
        <p:txBody>
          <a:bodyPr wrap="none" lIns="0" tIns="0" rIns="0" bIns="0">
            <a:spAutoFit/>
          </a:bodyPr>
          <a:lstStyle/>
          <a:p>
            <a:r>
              <a:rPr sz="1100" b="0">
                <a:solidFill>
                  <a:srgbClr val="2E2E2E"/>
                </a:solidFill>
                <a:latin typeface="Calibri"/>
              </a:rPr>
              <a:t>headroom.</a:t>
            </a:r>
          </a:p>
        </p:txBody>
      </p:sp>
      <p:sp>
        <p:nvSpPr>
          <p:cNvPr id="131" name="TextBox 130"/>
          <p:cNvSpPr txBox="1"/>
          <p:nvPr/>
        </p:nvSpPr>
        <p:spPr>
          <a:xfrm>
            <a:off x="1752600" y="4353458"/>
            <a:ext cx="1134318" cy="186689"/>
          </a:xfrm>
          <a:prstGeom prst="rect">
            <a:avLst/>
          </a:prstGeom>
          <a:noFill/>
        </p:spPr>
        <p:txBody>
          <a:bodyPr wrap="none" lIns="0" tIns="0" rIns="0" bIns="0">
            <a:spAutoFit/>
          </a:bodyPr>
          <a:lstStyle/>
          <a:p>
            <a:r>
              <a:rPr sz="1100" b="0">
                <a:solidFill>
                  <a:srgbClr val="2E2E2E"/>
                </a:solidFill>
                <a:latin typeface="Calibri"/>
              </a:rPr>
              <a:t>Installed demand (</a:t>
            </a:r>
          </a:p>
        </p:txBody>
      </p:sp>
      <p:pic>
        <p:nvPicPr>
          <p:cNvPr id="132" name="Picture 131" descr="lock.png"/>
          <p:cNvPicPr>
            <a:picLocks noChangeAspect="1"/>
          </p:cNvPicPr>
          <p:nvPr/>
        </p:nvPicPr>
        <p:blipFill>
          <a:blip r:embed="rId4"/>
          <a:stretch>
            <a:fillRect/>
          </a:stretch>
        </p:blipFill>
        <p:spPr>
          <a:xfrm>
            <a:off x="2834969" y="4343679"/>
            <a:ext cx="128699" cy="187198"/>
          </a:xfrm>
          <a:prstGeom prst="rect">
            <a:avLst/>
          </a:prstGeom>
        </p:spPr>
      </p:pic>
      <p:sp>
        <p:nvSpPr>
          <p:cNvPr id="133" name="TextBox 132"/>
          <p:cNvSpPr txBox="1"/>
          <p:nvPr/>
        </p:nvSpPr>
        <p:spPr>
          <a:xfrm>
            <a:off x="3002465" y="4353458"/>
            <a:ext cx="1970318" cy="186689"/>
          </a:xfrm>
          <a:prstGeom prst="rect">
            <a:avLst/>
          </a:prstGeom>
          <a:noFill/>
        </p:spPr>
        <p:txBody>
          <a:bodyPr wrap="none" lIns="0" tIns="0" rIns="0" bIns="0">
            <a:spAutoFit/>
          </a:bodyPr>
          <a:lstStyle/>
          <a:p>
            <a:r>
              <a:rPr sz="1100" b="0">
                <a:solidFill>
                  <a:srgbClr val="2E2E2E"/>
                </a:solidFill>
                <a:latin typeface="Calibri"/>
              </a:rPr>
              <a:t>CAGR), Flat Dividers &amp; Layer Pads</a:t>
            </a:r>
          </a:p>
        </p:txBody>
      </p:sp>
      <p:sp>
        <p:nvSpPr>
          <p:cNvPr id="134" name="TextBox 133"/>
          <p:cNvSpPr txBox="1"/>
          <p:nvPr/>
        </p:nvSpPr>
        <p:spPr>
          <a:xfrm>
            <a:off x="1752600" y="4521098"/>
            <a:ext cx="1924496" cy="186689"/>
          </a:xfrm>
          <a:prstGeom prst="rect">
            <a:avLst/>
          </a:prstGeom>
          <a:noFill/>
        </p:spPr>
        <p:txBody>
          <a:bodyPr wrap="none" lIns="0" tIns="0" rIns="0" bIns="0">
            <a:spAutoFit/>
          </a:bodyPr>
          <a:lstStyle/>
          <a:p>
            <a:r>
              <a:rPr sz="1100" b="0">
                <a:solidFill>
                  <a:srgbClr val="2E2E2E"/>
                </a:solidFill>
                <a:latin typeface="Calibri"/>
              </a:rPr>
              <a:t>demand, Accelerating vs history.</a:t>
            </a:r>
          </a:p>
        </p:txBody>
      </p:sp>
      <p:sp>
        <p:nvSpPr>
          <p:cNvPr id="135" name="TextBox 134"/>
          <p:cNvSpPr txBox="1"/>
          <p:nvPr/>
        </p:nvSpPr>
        <p:spPr>
          <a:xfrm>
            <a:off x="5562600" y="4353458"/>
            <a:ext cx="1287115" cy="186689"/>
          </a:xfrm>
          <a:prstGeom prst="rect">
            <a:avLst/>
          </a:prstGeom>
          <a:noFill/>
        </p:spPr>
        <p:txBody>
          <a:bodyPr wrap="none" lIns="0" tIns="0" rIns="0" bIns="0">
            <a:spAutoFit/>
          </a:bodyPr>
          <a:lstStyle/>
          <a:p>
            <a:r>
              <a:rPr sz="1100" b="0">
                <a:solidFill>
                  <a:srgbClr val="2E2E2E"/>
                </a:solidFill>
                <a:latin typeface="Calibri"/>
              </a:rPr>
              <a:t>Trails market pace by</a:t>
            </a:r>
          </a:p>
        </p:txBody>
      </p:sp>
      <p:pic>
        <p:nvPicPr>
          <p:cNvPr id="136" name="Picture 135" descr="lock.png"/>
          <p:cNvPicPr>
            <a:picLocks noChangeAspect="1"/>
          </p:cNvPicPr>
          <p:nvPr/>
        </p:nvPicPr>
        <p:blipFill>
          <a:blip r:embed="rId4"/>
          <a:stretch>
            <a:fillRect/>
          </a:stretch>
        </p:blipFill>
        <p:spPr>
          <a:xfrm>
            <a:off x="6797766" y="4343679"/>
            <a:ext cx="128699" cy="187198"/>
          </a:xfrm>
          <a:prstGeom prst="rect">
            <a:avLst/>
          </a:prstGeom>
        </p:spPr>
      </p:pic>
      <p:sp>
        <p:nvSpPr>
          <p:cNvPr id="137" name="TextBox 136"/>
          <p:cNvSpPr txBox="1"/>
          <p:nvPr/>
        </p:nvSpPr>
        <p:spPr>
          <a:xfrm>
            <a:off x="6965262" y="4353458"/>
            <a:ext cx="689297" cy="186689"/>
          </a:xfrm>
          <a:prstGeom prst="rect">
            <a:avLst/>
          </a:prstGeom>
          <a:noFill/>
        </p:spPr>
        <p:txBody>
          <a:bodyPr wrap="none" lIns="0" tIns="0" rIns="0" bIns="0">
            <a:spAutoFit/>
          </a:bodyPr>
          <a:lstStyle/>
          <a:p>
            <a:r>
              <a:rPr sz="1100" b="0">
                <a:solidFill>
                  <a:srgbClr val="2E2E2E"/>
                </a:solidFill>
                <a:latin typeface="Calibri"/>
              </a:rPr>
              <a:t>BPS, Rising</a:t>
            </a:r>
          </a:p>
        </p:txBody>
      </p:sp>
      <p:sp>
        <p:nvSpPr>
          <p:cNvPr id="138" name="TextBox 137"/>
          <p:cNvSpPr txBox="1"/>
          <p:nvPr/>
        </p:nvSpPr>
        <p:spPr>
          <a:xfrm>
            <a:off x="5562600" y="4521098"/>
            <a:ext cx="747414" cy="186689"/>
          </a:xfrm>
          <a:prstGeom prst="rect">
            <a:avLst/>
          </a:prstGeom>
          <a:noFill/>
        </p:spPr>
        <p:txBody>
          <a:bodyPr wrap="none" lIns="0" tIns="0" rIns="0" bIns="0">
            <a:spAutoFit/>
          </a:bodyPr>
          <a:lstStyle/>
          <a:p>
            <a:r>
              <a:rPr sz="1100" b="0">
                <a:solidFill>
                  <a:srgbClr val="2E2E2E"/>
                </a:solidFill>
                <a:latin typeface="Calibri"/>
              </a:rPr>
              <a:t>realisation (</a:t>
            </a:r>
          </a:p>
        </p:txBody>
      </p:sp>
      <p:pic>
        <p:nvPicPr>
          <p:cNvPr id="139" name="Picture 138" descr="lock.png"/>
          <p:cNvPicPr>
            <a:picLocks noChangeAspect="1"/>
          </p:cNvPicPr>
          <p:nvPr/>
        </p:nvPicPr>
        <p:blipFill>
          <a:blip r:embed="rId4"/>
          <a:stretch>
            <a:fillRect/>
          </a:stretch>
        </p:blipFill>
        <p:spPr>
          <a:xfrm>
            <a:off x="6258066" y="4511319"/>
            <a:ext cx="128699" cy="187198"/>
          </a:xfrm>
          <a:prstGeom prst="rect">
            <a:avLst/>
          </a:prstGeom>
        </p:spPr>
      </p:pic>
      <p:sp>
        <p:nvSpPr>
          <p:cNvPr id="140" name="TextBox 139"/>
          <p:cNvSpPr txBox="1"/>
          <p:nvPr/>
        </p:nvSpPr>
        <p:spPr>
          <a:xfrm>
            <a:off x="6425562" y="4521098"/>
            <a:ext cx="153689" cy="186689"/>
          </a:xfrm>
          <a:prstGeom prst="rect">
            <a:avLst/>
          </a:prstGeom>
          <a:noFill/>
        </p:spPr>
        <p:txBody>
          <a:bodyPr wrap="none" lIns="0" tIns="0" rIns="0" bIns="0">
            <a:spAutoFit/>
          </a:bodyPr>
          <a:lstStyle/>
          <a:p>
            <a:r>
              <a:rPr sz="1100" b="0">
                <a:solidFill>
                  <a:srgbClr val="2E2E2E"/>
                </a:solidFill>
                <a:latin typeface="Calibri"/>
              </a:rPr>
              <a:t>).</a:t>
            </a:r>
          </a:p>
        </p:txBody>
      </p:sp>
      <p:sp>
        <p:nvSpPr>
          <p:cNvPr id="141" name="TextBox 140"/>
          <p:cNvSpPr txBox="1"/>
          <p:nvPr/>
        </p:nvSpPr>
        <p:spPr>
          <a:xfrm>
            <a:off x="8420100" y="4353458"/>
            <a:ext cx="1939776" cy="186689"/>
          </a:xfrm>
          <a:prstGeom prst="rect">
            <a:avLst/>
          </a:prstGeom>
          <a:noFill/>
        </p:spPr>
        <p:txBody>
          <a:bodyPr wrap="none" lIns="0" tIns="0" rIns="0" bIns="0">
            <a:spAutoFit/>
          </a:bodyPr>
          <a:lstStyle/>
          <a:p>
            <a:r>
              <a:rPr sz="1100" b="0">
                <a:solidFill>
                  <a:srgbClr val="2E2E2E"/>
                </a:solidFill>
                <a:latin typeface="Calibri"/>
              </a:rPr>
              <a:t>Scale Flat Dividers &amp; Layer Pads (</a:t>
            </a:r>
          </a:p>
        </p:txBody>
      </p:sp>
      <p:pic>
        <p:nvPicPr>
          <p:cNvPr id="142" name="Picture 141" descr="lock.png"/>
          <p:cNvPicPr>
            <a:picLocks noChangeAspect="1"/>
          </p:cNvPicPr>
          <p:nvPr/>
        </p:nvPicPr>
        <p:blipFill>
          <a:blip r:embed="rId4"/>
          <a:stretch>
            <a:fillRect/>
          </a:stretch>
        </p:blipFill>
        <p:spPr>
          <a:xfrm>
            <a:off x="10307927" y="4343679"/>
            <a:ext cx="128699" cy="187198"/>
          </a:xfrm>
          <a:prstGeom prst="rect">
            <a:avLst/>
          </a:prstGeom>
        </p:spPr>
      </p:pic>
      <p:sp>
        <p:nvSpPr>
          <p:cNvPr id="143" name="TextBox 142"/>
          <p:cNvSpPr txBox="1"/>
          <p:nvPr/>
        </p:nvSpPr>
        <p:spPr>
          <a:xfrm>
            <a:off x="10475423" y="4353458"/>
            <a:ext cx="153416"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144" name="Picture 143" descr="lock.png"/>
          <p:cNvPicPr>
            <a:picLocks noChangeAspect="1"/>
          </p:cNvPicPr>
          <p:nvPr/>
        </p:nvPicPr>
        <p:blipFill>
          <a:blip r:embed="rId4"/>
          <a:stretch>
            <a:fillRect/>
          </a:stretch>
        </p:blipFill>
        <p:spPr>
          <a:xfrm>
            <a:off x="10576892" y="4343679"/>
            <a:ext cx="128699" cy="187198"/>
          </a:xfrm>
          <a:prstGeom prst="rect">
            <a:avLst/>
          </a:prstGeom>
        </p:spPr>
      </p:pic>
      <p:sp>
        <p:nvSpPr>
          <p:cNvPr id="145" name="TextBox 144"/>
          <p:cNvSpPr txBox="1"/>
          <p:nvPr/>
        </p:nvSpPr>
        <p:spPr>
          <a:xfrm>
            <a:off x="10744387" y="4353458"/>
            <a:ext cx="525586" cy="186689"/>
          </a:xfrm>
          <a:prstGeom prst="rect">
            <a:avLst/>
          </a:prstGeom>
          <a:noFill/>
        </p:spPr>
        <p:txBody>
          <a:bodyPr wrap="none" lIns="0" tIns="0" rIns="0" bIns="0">
            <a:spAutoFit/>
          </a:bodyPr>
          <a:lstStyle/>
          <a:p>
            <a:r>
              <a:rPr sz="1100" b="0">
                <a:solidFill>
                  <a:srgbClr val="2E2E2E"/>
                </a:solidFill>
                <a:latin typeface="Calibri"/>
              </a:rPr>
              <a:t>US$ Mn</a:t>
            </a:r>
          </a:p>
        </p:txBody>
      </p:sp>
      <p:sp>
        <p:nvSpPr>
          <p:cNvPr id="146" name="TextBox 145"/>
          <p:cNvSpPr txBox="1"/>
          <p:nvPr/>
        </p:nvSpPr>
        <p:spPr>
          <a:xfrm>
            <a:off x="8420100" y="4521098"/>
            <a:ext cx="702394" cy="186689"/>
          </a:xfrm>
          <a:prstGeom prst="rect">
            <a:avLst/>
          </a:prstGeom>
          <a:noFill/>
        </p:spPr>
        <p:txBody>
          <a:bodyPr wrap="none" lIns="0" tIns="0" rIns="0" bIns="0">
            <a:spAutoFit/>
          </a:bodyPr>
          <a:lstStyle/>
          <a:p>
            <a:r>
              <a:rPr sz="1100" b="0">
                <a:solidFill>
                  <a:srgbClr val="2E2E2E"/>
                </a:solidFill>
                <a:latin typeface="Calibri"/>
              </a:rPr>
              <a:t>headroom.</a:t>
            </a:r>
          </a:p>
        </p:txBody>
      </p:sp>
      <p:sp>
        <p:nvSpPr>
          <p:cNvPr id="147" name="TextBox 146"/>
          <p:cNvSpPr txBox="1"/>
          <p:nvPr/>
        </p:nvSpPr>
        <p:spPr>
          <a:xfrm>
            <a:off x="304800" y="5424184"/>
            <a:ext cx="4373612" cy="186689"/>
          </a:xfrm>
          <a:prstGeom prst="rect">
            <a:avLst/>
          </a:prstGeom>
          <a:noFill/>
        </p:spPr>
        <p:txBody>
          <a:bodyPr wrap="none" lIns="0" tIns="0" rIns="0" bIns="0">
            <a:spAutoFit/>
          </a:bodyPr>
          <a:lstStyle/>
          <a:p>
            <a:r>
              <a:rPr sz="1100" b="0">
                <a:solidFill>
                  <a:srgbClr val="2E2E2E"/>
                </a:solidFill>
                <a:latin typeface="Calibri"/>
              </a:rPr>
              <a:t>▪ North America, Europe, South Asia &amp; Pacific anchor scale with a combined</a:t>
            </a:r>
          </a:p>
        </p:txBody>
      </p:sp>
      <p:pic>
        <p:nvPicPr>
          <p:cNvPr id="148" name="Picture 147" descr="lock.png"/>
          <p:cNvPicPr>
            <a:picLocks noChangeAspect="1"/>
          </p:cNvPicPr>
          <p:nvPr/>
        </p:nvPicPr>
        <p:blipFill>
          <a:blip r:embed="rId4"/>
          <a:stretch>
            <a:fillRect/>
          </a:stretch>
        </p:blipFill>
        <p:spPr>
          <a:xfrm>
            <a:off x="4626463" y="5414405"/>
            <a:ext cx="128699" cy="187198"/>
          </a:xfrm>
          <a:prstGeom prst="rect">
            <a:avLst/>
          </a:prstGeom>
        </p:spPr>
      </p:pic>
      <p:sp>
        <p:nvSpPr>
          <p:cNvPr id="149" name="TextBox 148"/>
          <p:cNvSpPr txBox="1"/>
          <p:nvPr/>
        </p:nvSpPr>
        <p:spPr>
          <a:xfrm>
            <a:off x="4793959" y="5424184"/>
            <a:ext cx="4622998" cy="186689"/>
          </a:xfrm>
          <a:prstGeom prst="rect">
            <a:avLst/>
          </a:prstGeom>
          <a:noFill/>
        </p:spPr>
        <p:txBody>
          <a:bodyPr wrap="none" lIns="0" tIns="0" rIns="0" bIns="0">
            <a:spAutoFit/>
          </a:bodyPr>
          <a:lstStyle/>
          <a:p>
            <a:r>
              <a:rPr sz="1100" b="0">
                <a:solidFill>
                  <a:srgbClr val="2E2E2E"/>
                </a:solidFill>
                <a:latin typeface="Calibri"/>
              </a:rPr>
              <a:t>of Global value in 2036, while 'South Asia &amp; Pacific' offers the steepest upside at</a:t>
            </a:r>
          </a:p>
        </p:txBody>
      </p:sp>
      <p:pic>
        <p:nvPicPr>
          <p:cNvPr id="150" name="Picture 149" descr="lock.png"/>
          <p:cNvPicPr>
            <a:picLocks noChangeAspect="1"/>
          </p:cNvPicPr>
          <p:nvPr/>
        </p:nvPicPr>
        <p:blipFill>
          <a:blip r:embed="rId4"/>
          <a:stretch>
            <a:fillRect/>
          </a:stretch>
        </p:blipFill>
        <p:spPr>
          <a:xfrm>
            <a:off x="9365009" y="5414405"/>
            <a:ext cx="128699" cy="187198"/>
          </a:xfrm>
          <a:prstGeom prst="rect">
            <a:avLst/>
          </a:prstGeom>
        </p:spPr>
      </p:pic>
      <p:sp>
        <p:nvSpPr>
          <p:cNvPr id="151" name="TextBox 150"/>
          <p:cNvSpPr txBox="1"/>
          <p:nvPr/>
        </p:nvSpPr>
        <p:spPr>
          <a:xfrm>
            <a:off x="9532505" y="5424184"/>
            <a:ext cx="1819704" cy="186689"/>
          </a:xfrm>
          <a:prstGeom prst="rect">
            <a:avLst/>
          </a:prstGeom>
          <a:noFill/>
        </p:spPr>
        <p:txBody>
          <a:bodyPr wrap="none" lIns="0" tIns="0" rIns="0" bIns="0">
            <a:spAutoFit/>
          </a:bodyPr>
          <a:lstStyle/>
          <a:p>
            <a:r>
              <a:rPr sz="1100" b="0">
                <a:solidFill>
                  <a:srgbClr val="2E2E2E"/>
                </a:solidFill>
                <a:latin typeface="Calibri"/>
              </a:rPr>
              <a:t>CAGR against a market pace of</a:t>
            </a:r>
          </a:p>
        </p:txBody>
      </p:sp>
      <p:pic>
        <p:nvPicPr>
          <p:cNvPr id="152" name="Picture 151" descr="lock.png"/>
          <p:cNvPicPr>
            <a:picLocks noChangeAspect="1"/>
          </p:cNvPicPr>
          <p:nvPr/>
        </p:nvPicPr>
        <p:blipFill>
          <a:blip r:embed="rId4"/>
          <a:stretch>
            <a:fillRect/>
          </a:stretch>
        </p:blipFill>
        <p:spPr>
          <a:xfrm>
            <a:off x="291332" y="5582045"/>
            <a:ext cx="128699" cy="187198"/>
          </a:xfrm>
          <a:prstGeom prst="rect">
            <a:avLst/>
          </a:prstGeom>
        </p:spPr>
      </p:pic>
      <p:sp>
        <p:nvSpPr>
          <p:cNvPr id="153" name="TextBox 152"/>
          <p:cNvSpPr txBox="1"/>
          <p:nvPr/>
        </p:nvSpPr>
        <p:spPr>
          <a:xfrm>
            <a:off x="458828" y="5591824"/>
            <a:ext cx="11008816" cy="186689"/>
          </a:xfrm>
          <a:prstGeom prst="rect">
            <a:avLst/>
          </a:prstGeom>
          <a:noFill/>
        </p:spPr>
        <p:txBody>
          <a:bodyPr wrap="none" lIns="0" tIns="0" rIns="0" bIns="0">
            <a:spAutoFit/>
          </a:bodyPr>
          <a:lstStyle/>
          <a:p>
            <a:r>
              <a:rPr sz="1100" b="0">
                <a:solidFill>
                  <a:srgbClr val="2E2E2E"/>
                </a:solidFill>
                <a:latin typeface="Calibri"/>
              </a:rPr>
              <a:t>. 3 of 6 regions grow at or above that pace, so entry logic has to differ by region scale defence in the leaders, mix and premiumisation in the mid-tier, and availability-led expansion in the fastest</a:t>
            </a:r>
          </a:p>
        </p:txBody>
      </p:sp>
      <p:sp>
        <p:nvSpPr>
          <p:cNvPr id="154" name="TextBox 153"/>
          <p:cNvSpPr txBox="1"/>
          <p:nvPr/>
        </p:nvSpPr>
        <p:spPr>
          <a:xfrm>
            <a:off x="304800" y="5759464"/>
            <a:ext cx="532680" cy="186689"/>
          </a:xfrm>
          <a:prstGeom prst="rect">
            <a:avLst/>
          </a:prstGeom>
          <a:noFill/>
        </p:spPr>
        <p:txBody>
          <a:bodyPr wrap="none" lIns="0" tIns="0" rIns="0" bIns="0">
            <a:spAutoFit/>
          </a:bodyPr>
          <a:lstStyle/>
          <a:p>
            <a:r>
              <a:rPr sz="1100" b="0">
                <a:solidFill>
                  <a:srgbClr val="2E2E2E"/>
                </a:solidFill>
                <a:latin typeface="Calibri"/>
              </a:rPr>
              <a:t>movers.</a:t>
            </a:r>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Global Driving Factors (1/2)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604460"/>
            <a:ext cx="2324100" cy="2829323"/>
          </a:xfrm>
          <a:custGeom>
            <a:avLst/>
            <a:gdLst/>
            <a:ahLst/>
            <a:cxnLst/>
            <a:rect l="l" t="t" r="r" b="b"/>
            <a:pathLst>
              <a:path w="244" h="310">
                <a:moveTo>
                  <a:pt x="244" y="11"/>
                </a:moveTo>
                <a:lnTo>
                  <a:pt x="176" y="0"/>
                </a:lnTo>
                <a:lnTo>
                  <a:pt x="121" y="43"/>
                </a:lnTo>
                <a:lnTo>
                  <a:pt x="96" y="107"/>
                </a:lnTo>
                <a:lnTo>
                  <a:pt x="0" y="197"/>
                </a:lnTo>
                <a:lnTo>
                  <a:pt x="130" y="232"/>
                </a:lnTo>
                <a:lnTo>
                  <a:pt x="163" y="310"/>
                </a:lnTo>
                <a:lnTo>
                  <a:pt x="244" y="25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400300" y="1281067"/>
            <a:ext cx="2286000" cy="237298"/>
          </a:xfrm>
          <a:prstGeom prst="rect">
            <a:avLst/>
          </a:prstGeom>
          <a:noFill/>
        </p:spPr>
        <p:txBody>
          <a:bodyPr wrap="square" lIns="28575" tIns="9525" rIns="28575" bIns="9525" anchor="ctr">
            <a:spAutoFit/>
          </a:bodyPr>
          <a:lstStyle/>
          <a:p>
            <a:pPr algn="r"/>
            <a:endParaRP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TextBox 32"/>
          <p:cNvSpPr txBox="1"/>
          <p:nvPr/>
        </p:nvSpPr>
        <p:spPr>
          <a:xfrm>
            <a:off x="1385456" y="1519681"/>
            <a:ext cx="2286000" cy="237298"/>
          </a:xfrm>
          <a:prstGeom prst="rect">
            <a:avLst/>
          </a:prstGeom>
          <a:noFill/>
        </p:spPr>
        <p:txBody>
          <a:bodyPr wrap="square" lIns="28575" tIns="9525" rIns="28575" bIns="9525" anchor="ctr">
            <a:spAutoFit/>
          </a:bodyPr>
          <a:lstStyle/>
          <a:p>
            <a:pPr algn="r"/>
            <a:endParaRP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510507" y="2270405"/>
            <a:ext cx="2286000" cy="237298"/>
          </a:xfrm>
          <a:prstGeom prst="rect">
            <a:avLst/>
          </a:prstGeom>
          <a:noFill/>
        </p:spPr>
        <p:txBody>
          <a:bodyPr wrap="square" lIns="28575" tIns="9525" rIns="28575" bIns="9525" anchor="ctr">
            <a:spAutoFit/>
          </a:bodyPr>
          <a:lstStyle/>
          <a:p>
            <a:pPr algn="r"/>
            <a:endParaRP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24946" y="3236535"/>
            <a:ext cx="2286000" cy="237298"/>
          </a:xfrm>
          <a:prstGeom prst="rect">
            <a:avLst/>
          </a:prstGeom>
          <a:noFill/>
        </p:spPr>
        <p:txBody>
          <a:bodyPr wrap="square" lIns="28575" tIns="9525" rIns="28575" bIns="9525" anchor="ctr">
            <a:spAutoFit/>
          </a:bodyPr>
          <a:lstStyle/>
          <a:p>
            <a:pPr algn="r"/>
            <a:endParaRP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24946" y="4308858"/>
            <a:ext cx="2286000" cy="237298"/>
          </a:xfrm>
          <a:prstGeom prst="rect">
            <a:avLst/>
          </a:prstGeom>
          <a:noFill/>
        </p:spPr>
        <p:txBody>
          <a:bodyPr wrap="square" lIns="28575" tIns="9525" rIns="28575" bIns="9525" anchor="ctr">
            <a:spAutoFit/>
          </a:bodyPr>
          <a:lstStyle/>
          <a:p>
            <a:pPr algn="r"/>
            <a:endParaRP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510507" y="5274987"/>
            <a:ext cx="2286000" cy="237298"/>
          </a:xfrm>
          <a:prstGeom prst="rect">
            <a:avLst/>
          </a:prstGeom>
          <a:noFill/>
        </p:spPr>
        <p:txBody>
          <a:bodyPr wrap="square" lIns="28575" tIns="9525" rIns="28575" bIns="9525" anchor="ctr">
            <a:spAutoFit/>
          </a:bodyPr>
          <a:lstStyle/>
          <a:p>
            <a:pPr algn="r"/>
            <a:endParaRP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1385456" y="6025711"/>
            <a:ext cx="2286000" cy="237298"/>
          </a:xfrm>
          <a:prstGeom prst="rect">
            <a:avLst/>
          </a:prstGeom>
          <a:noFill/>
        </p:spPr>
        <p:txBody>
          <a:bodyPr wrap="square" lIns="28575" tIns="9525" rIns="28575" bIns="9525" anchor="ctr">
            <a:spAutoFit/>
          </a:bodyPr>
          <a:lstStyle/>
          <a:p>
            <a:pPr algn="r"/>
            <a:endParaRP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2400300" y="6264326"/>
            <a:ext cx="2286000" cy="237298"/>
          </a:xfrm>
          <a:prstGeom prst="rect">
            <a:avLst/>
          </a:prstGeom>
          <a:noFill/>
        </p:spPr>
        <p:txBody>
          <a:bodyPr wrap="square" lIns="28575" tIns="9525" rIns="28575" bIns="9525" anchor="ctr">
            <a:spAutoFit/>
          </a:bodyPr>
          <a:lstStyle/>
          <a:p>
            <a:pPr algn="r"/>
            <a:endParaRP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FMI Scale 0"/>
          <p:cNvSpPr txBox="1"/>
          <p:nvPr/>
        </p:nvSpPr>
        <p:spPr>
          <a:xfrm>
            <a:off x="4286250" y="3818331"/>
            <a:ext cx="419100" cy="146030"/>
          </a:xfrm>
          <a:prstGeom prst="rect">
            <a:avLst/>
          </a:prstGeom>
          <a:noFill/>
        </p:spPr>
        <p:txBody>
          <a:bodyPr wrap="none" lIns="0" tIns="0" r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tIns="0" r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tIns="0" r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tIns="0" r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tIns="0" r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tIns="0" r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tIns="0" r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tIns="0" r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tIns="0" r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tIns="0" r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tIns="0" r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tIns="9525" rIns="2857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tIns="9525" rIns="28575" bIns="9525" anchor="ctr">
            <a:spAutoFit/>
          </a:bodyPr>
          <a:lstStyle/>
          <a:p>
            <a:pPr algn="l">
              <a:lnSpc>
                <a:spcPct val="115000"/>
              </a:lnSpc>
            </a:pPr>
            <a:endParaRPr/>
          </a:p>
        </p:txBody>
      </p:sp>
      <p:sp>
        <p:nvSpPr>
          <p:cNvPr id="62" name="TextBox 61"/>
          <p:cNvSpPr txBox="1"/>
          <p:nvPr/>
        </p:nvSpPr>
        <p:spPr>
          <a:xfrm>
            <a:off x="4972050" y="1883439"/>
            <a:ext cx="7077075" cy="474596"/>
          </a:xfrm>
          <a:prstGeom prst="rect">
            <a:avLst/>
          </a:prstGeom>
          <a:noFill/>
        </p:spPr>
        <p:txBody>
          <a:bodyPr wrap="square" lIns="28575" tIns="9525" rIns="28575" bIns="9525" anchor="ctr">
            <a:spAutoFit/>
          </a:bodyPr>
          <a:lstStyle/>
          <a:p>
            <a:pPr algn="l">
              <a:lnSpc>
                <a:spcPct val="115000"/>
              </a:lnSpc>
            </a:pPr>
            <a:endParaRPr/>
          </a:p>
        </p:txBody>
      </p:sp>
      <p:sp>
        <p:nvSpPr>
          <p:cNvPr id="63" name="TextBox 62"/>
          <p:cNvSpPr txBox="1"/>
          <p:nvPr/>
        </p:nvSpPr>
        <p:spPr>
          <a:xfrm>
            <a:off x="4972050" y="2339781"/>
            <a:ext cx="7077075" cy="292059"/>
          </a:xfrm>
          <a:prstGeom prst="rect">
            <a:avLst/>
          </a:prstGeom>
          <a:noFill/>
        </p:spPr>
        <p:txBody>
          <a:bodyPr wrap="square" lIns="28575" tIns="9525" rIns="28575" bIns="9525" anchor="ctr">
            <a:spAutoFit/>
          </a:bodyPr>
          <a:lstStyle/>
          <a:p>
            <a:pPr algn="l">
              <a:lnSpc>
                <a:spcPct val="115000"/>
              </a:lnSpc>
            </a:pPr>
            <a:endParaRPr/>
          </a:p>
        </p:txBody>
      </p:sp>
      <p:sp>
        <p:nvSpPr>
          <p:cNvPr id="64" name="TextBox 63"/>
          <p:cNvSpPr txBox="1"/>
          <p:nvPr/>
        </p:nvSpPr>
        <p:spPr>
          <a:xfrm>
            <a:off x="4972050" y="2613586"/>
            <a:ext cx="7077075"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  Portfolio breadth spans 3 partition type lines and 7 end use routes, giving producers wide reformulation and channel latitude.</a:t>
            </a:r>
          </a:p>
        </p:txBody>
      </p:sp>
      <p:sp>
        <p:nvSpPr>
          <p:cNvPr id="65" name="TextBox 64"/>
          <p:cNvSpPr txBox="1"/>
          <p:nvPr/>
        </p:nvSpPr>
        <p:spPr>
          <a:xfrm>
            <a:off x="4972050" y="3069929"/>
            <a:ext cx="7077075" cy="292059"/>
          </a:xfrm>
          <a:prstGeom prst="rect">
            <a:avLst/>
          </a:prstGeom>
          <a:noFill/>
        </p:spPr>
        <p:txBody>
          <a:bodyPr wrap="square" lIns="28575" tIns="9525" rIns="28575" bIns="9525" anchor="ctr">
            <a:spAutoFit/>
          </a:bodyPr>
          <a:lstStyle/>
          <a:p>
            <a:pPr algn="l">
              <a:lnSpc>
                <a:spcPct val="115000"/>
              </a:lnSpc>
            </a:pPr>
            <a:endParaRPr/>
          </a:p>
        </p:txBody>
      </p:sp>
      <p:sp>
        <p:nvSpPr>
          <p:cNvPr id="66" name="TextBox 65"/>
          <p:cNvSpPr txBox="1"/>
          <p:nvPr/>
        </p:nvSpPr>
        <p:spPr>
          <a:xfrm>
            <a:off x="4972050" y="3343734"/>
            <a:ext cx="7077075"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3466991" y="1322601"/>
            <a:ext cx="1125226" cy="173278"/>
          </a:xfrm>
          <a:prstGeom prst="rect">
            <a:avLst/>
          </a:prstGeom>
          <a:noFill/>
        </p:spPr>
        <p:txBody>
          <a:bodyPr wrap="none" lIns="0" tIns="0" rIns="0" bIns="0">
            <a:spAutoFit/>
          </a:bodyPr>
          <a:lstStyle/>
          <a:p>
            <a:r>
              <a:rPr sz="1011" b="0">
                <a:solidFill>
                  <a:srgbClr val="2E2E2E"/>
                </a:solidFill>
                <a:latin typeface="Calibri"/>
              </a:rPr>
              <a:t>Production Scale-up</a:t>
            </a:r>
          </a:p>
        </p:txBody>
      </p:sp>
      <p:pic>
        <p:nvPicPr>
          <p:cNvPr id="69" name="Picture 68" descr="lock.png"/>
          <p:cNvPicPr>
            <a:picLocks noChangeAspect="1"/>
          </p:cNvPicPr>
          <p:nvPr/>
        </p:nvPicPr>
        <p:blipFill>
          <a:blip r:embed="rId4"/>
          <a:stretch>
            <a:fillRect/>
          </a:stretch>
        </p:blipFill>
        <p:spPr>
          <a:xfrm>
            <a:off x="4538330" y="1313604"/>
            <a:ext cx="118403" cy="172222"/>
          </a:xfrm>
          <a:prstGeom prst="rect">
            <a:avLst/>
          </a:prstGeom>
        </p:spPr>
      </p:pic>
      <p:sp>
        <p:nvSpPr>
          <p:cNvPr id="70" name="TextBox 69"/>
          <p:cNvSpPr txBox="1"/>
          <p:nvPr/>
        </p:nvSpPr>
        <p:spPr>
          <a:xfrm>
            <a:off x="2482772" y="1561215"/>
            <a:ext cx="1094602" cy="173278"/>
          </a:xfrm>
          <a:prstGeom prst="rect">
            <a:avLst/>
          </a:prstGeom>
          <a:noFill/>
        </p:spPr>
        <p:txBody>
          <a:bodyPr wrap="none" lIns="0" tIns="0" rIns="0" bIns="0">
            <a:spAutoFit/>
          </a:bodyPr>
          <a:lstStyle/>
          <a:p>
            <a:r>
              <a:rPr sz="1011" b="0">
                <a:solidFill>
                  <a:srgbClr val="2E2E2E"/>
                </a:solidFill>
                <a:latin typeface="Calibri"/>
              </a:rPr>
              <a:t>Input Cost Pressure</a:t>
            </a:r>
          </a:p>
        </p:txBody>
      </p:sp>
      <p:pic>
        <p:nvPicPr>
          <p:cNvPr id="71" name="Picture 70" descr="lock.png"/>
          <p:cNvPicPr>
            <a:picLocks noChangeAspect="1"/>
          </p:cNvPicPr>
          <p:nvPr/>
        </p:nvPicPr>
        <p:blipFill>
          <a:blip r:embed="rId4"/>
          <a:stretch>
            <a:fillRect/>
          </a:stretch>
        </p:blipFill>
        <p:spPr>
          <a:xfrm>
            <a:off x="3523486" y="1552218"/>
            <a:ext cx="118403" cy="172222"/>
          </a:xfrm>
          <a:prstGeom prst="rect">
            <a:avLst/>
          </a:prstGeom>
        </p:spPr>
      </p:pic>
      <p:sp>
        <p:nvSpPr>
          <p:cNvPr id="72" name="TextBox 71"/>
          <p:cNvSpPr txBox="1"/>
          <p:nvPr/>
        </p:nvSpPr>
        <p:spPr>
          <a:xfrm>
            <a:off x="1943191" y="2311939"/>
            <a:ext cx="759234" cy="173278"/>
          </a:xfrm>
          <a:prstGeom prst="rect">
            <a:avLst/>
          </a:prstGeom>
          <a:noFill/>
        </p:spPr>
        <p:txBody>
          <a:bodyPr wrap="none" lIns="0" tIns="0" rIns="0" bIns="0">
            <a:spAutoFit/>
          </a:bodyPr>
          <a:lstStyle/>
          <a:p>
            <a:r>
              <a:rPr sz="1011" b="0">
                <a:solidFill>
                  <a:srgbClr val="2E2E2E"/>
                </a:solidFill>
                <a:latin typeface="Calibri"/>
              </a:rPr>
              <a:t>Capacity Add</a:t>
            </a:r>
          </a:p>
        </p:txBody>
      </p:sp>
      <p:pic>
        <p:nvPicPr>
          <p:cNvPr id="73" name="Picture 72" descr="lock.png"/>
          <p:cNvPicPr>
            <a:picLocks noChangeAspect="1"/>
          </p:cNvPicPr>
          <p:nvPr/>
        </p:nvPicPr>
        <p:blipFill>
          <a:blip r:embed="rId4"/>
          <a:stretch>
            <a:fillRect/>
          </a:stretch>
        </p:blipFill>
        <p:spPr>
          <a:xfrm>
            <a:off x="2648537" y="2302942"/>
            <a:ext cx="118403" cy="172222"/>
          </a:xfrm>
          <a:prstGeom prst="rect">
            <a:avLst/>
          </a:prstGeom>
        </p:spPr>
      </p:pic>
      <p:sp>
        <p:nvSpPr>
          <p:cNvPr id="74" name="TextBox 73"/>
          <p:cNvSpPr txBox="1"/>
          <p:nvPr/>
        </p:nvSpPr>
        <p:spPr>
          <a:xfrm>
            <a:off x="1014573" y="3278069"/>
            <a:ext cx="1202291" cy="173278"/>
          </a:xfrm>
          <a:prstGeom prst="rect">
            <a:avLst/>
          </a:prstGeom>
          <a:noFill/>
        </p:spPr>
        <p:txBody>
          <a:bodyPr wrap="none" lIns="0" tIns="0" rIns="0" bIns="0">
            <a:spAutoFit/>
          </a:bodyPr>
          <a:lstStyle/>
          <a:p>
            <a:r>
              <a:rPr sz="1011" b="0">
                <a:solidFill>
                  <a:srgbClr val="2E2E2E"/>
                </a:solidFill>
                <a:latin typeface="Calibri"/>
              </a:rPr>
              <a:t>Supply Concentration</a:t>
            </a:r>
          </a:p>
        </p:txBody>
      </p:sp>
      <p:pic>
        <p:nvPicPr>
          <p:cNvPr id="75" name="Picture 74" descr="lock.png"/>
          <p:cNvPicPr>
            <a:picLocks noChangeAspect="1"/>
          </p:cNvPicPr>
          <p:nvPr/>
        </p:nvPicPr>
        <p:blipFill>
          <a:blip r:embed="rId4"/>
          <a:stretch>
            <a:fillRect/>
          </a:stretch>
        </p:blipFill>
        <p:spPr>
          <a:xfrm>
            <a:off x="2162976" y="3269072"/>
            <a:ext cx="118403" cy="172222"/>
          </a:xfrm>
          <a:prstGeom prst="rect">
            <a:avLst/>
          </a:prstGeom>
        </p:spPr>
      </p:pic>
      <p:sp>
        <p:nvSpPr>
          <p:cNvPr id="76" name="TextBox 75"/>
          <p:cNvSpPr txBox="1"/>
          <p:nvPr/>
        </p:nvSpPr>
        <p:spPr>
          <a:xfrm>
            <a:off x="1148118" y="4350392"/>
            <a:ext cx="1068746" cy="173278"/>
          </a:xfrm>
          <a:prstGeom prst="rect">
            <a:avLst/>
          </a:prstGeom>
          <a:noFill/>
        </p:spPr>
        <p:txBody>
          <a:bodyPr wrap="none" lIns="0" tIns="0" rIns="0" bIns="0">
            <a:spAutoFit/>
          </a:bodyPr>
          <a:lstStyle/>
          <a:p>
            <a:r>
              <a:rPr sz="1011" b="0">
                <a:solidFill>
                  <a:srgbClr val="2E2E2E"/>
                </a:solidFill>
                <a:latin typeface="Calibri"/>
              </a:rPr>
              <a:t>Geographic Spread</a:t>
            </a:r>
          </a:p>
        </p:txBody>
      </p:sp>
      <p:pic>
        <p:nvPicPr>
          <p:cNvPr id="77" name="Picture 76" descr="lock.png"/>
          <p:cNvPicPr>
            <a:picLocks noChangeAspect="1"/>
          </p:cNvPicPr>
          <p:nvPr/>
        </p:nvPicPr>
        <p:blipFill>
          <a:blip r:embed="rId4"/>
          <a:stretch>
            <a:fillRect/>
          </a:stretch>
        </p:blipFill>
        <p:spPr>
          <a:xfrm>
            <a:off x="2162976" y="4341395"/>
            <a:ext cx="118403" cy="172222"/>
          </a:xfrm>
          <a:prstGeom prst="rect">
            <a:avLst/>
          </a:prstGeom>
        </p:spPr>
      </p:pic>
      <p:sp>
        <p:nvSpPr>
          <p:cNvPr id="78" name="TextBox 77"/>
          <p:cNvSpPr txBox="1"/>
          <p:nvPr/>
        </p:nvSpPr>
        <p:spPr>
          <a:xfrm>
            <a:off x="1722039" y="5316521"/>
            <a:ext cx="980386" cy="173278"/>
          </a:xfrm>
          <a:prstGeom prst="rect">
            <a:avLst/>
          </a:prstGeom>
          <a:noFill/>
        </p:spPr>
        <p:txBody>
          <a:bodyPr wrap="none" lIns="0" tIns="0" rIns="0" bIns="0">
            <a:spAutoFit/>
          </a:bodyPr>
          <a:lstStyle/>
          <a:p>
            <a:r>
              <a:rPr sz="1011" b="0">
                <a:solidFill>
                  <a:srgbClr val="2E2E2E"/>
                </a:solidFill>
                <a:latin typeface="Calibri"/>
              </a:rPr>
              <a:t>Portfolio Breadth</a:t>
            </a:r>
          </a:p>
        </p:txBody>
      </p:sp>
      <p:pic>
        <p:nvPicPr>
          <p:cNvPr id="79" name="Picture 78" descr="lock.png"/>
          <p:cNvPicPr>
            <a:picLocks noChangeAspect="1"/>
          </p:cNvPicPr>
          <p:nvPr/>
        </p:nvPicPr>
        <p:blipFill>
          <a:blip r:embed="rId4"/>
          <a:stretch>
            <a:fillRect/>
          </a:stretch>
        </p:blipFill>
        <p:spPr>
          <a:xfrm>
            <a:off x="2648537" y="5307524"/>
            <a:ext cx="118403" cy="172222"/>
          </a:xfrm>
          <a:prstGeom prst="rect">
            <a:avLst/>
          </a:prstGeom>
        </p:spPr>
      </p:pic>
      <p:sp>
        <p:nvSpPr>
          <p:cNvPr id="80" name="TextBox 79"/>
          <p:cNvSpPr txBox="1"/>
          <p:nvPr/>
        </p:nvSpPr>
        <p:spPr>
          <a:xfrm>
            <a:off x="2838472" y="6067245"/>
            <a:ext cx="738901" cy="173278"/>
          </a:xfrm>
          <a:prstGeom prst="rect">
            <a:avLst/>
          </a:prstGeom>
          <a:noFill/>
        </p:spPr>
        <p:txBody>
          <a:bodyPr wrap="none" lIns="0" tIns="0" rIns="0" bIns="0">
            <a:spAutoFit/>
          </a:bodyPr>
          <a:lstStyle/>
          <a:p>
            <a:r>
              <a:rPr sz="1011" b="0">
                <a:solidFill>
                  <a:srgbClr val="2E2E2E"/>
                </a:solidFill>
                <a:latin typeface="Calibri"/>
              </a:rPr>
              <a:t>Route Depth</a:t>
            </a:r>
          </a:p>
        </p:txBody>
      </p:sp>
      <p:pic>
        <p:nvPicPr>
          <p:cNvPr id="81" name="Picture 80" descr="lock.png"/>
          <p:cNvPicPr>
            <a:picLocks noChangeAspect="1"/>
          </p:cNvPicPr>
          <p:nvPr/>
        </p:nvPicPr>
        <p:blipFill>
          <a:blip r:embed="rId4"/>
          <a:stretch>
            <a:fillRect/>
          </a:stretch>
        </p:blipFill>
        <p:spPr>
          <a:xfrm>
            <a:off x="3523486" y="6058248"/>
            <a:ext cx="118403" cy="172222"/>
          </a:xfrm>
          <a:prstGeom prst="rect">
            <a:avLst/>
          </a:prstGeom>
        </p:spPr>
      </p:pic>
      <p:sp>
        <p:nvSpPr>
          <p:cNvPr id="82" name="TextBox 81"/>
          <p:cNvSpPr txBox="1"/>
          <p:nvPr/>
        </p:nvSpPr>
        <p:spPr>
          <a:xfrm>
            <a:off x="3616852" y="6305860"/>
            <a:ext cx="975365" cy="173278"/>
          </a:xfrm>
          <a:prstGeom prst="rect">
            <a:avLst/>
          </a:prstGeom>
          <a:noFill/>
        </p:spPr>
        <p:txBody>
          <a:bodyPr wrap="none" lIns="0" tIns="0" rIns="0" bIns="0">
            <a:spAutoFit/>
          </a:bodyPr>
          <a:lstStyle/>
          <a:p>
            <a:r>
              <a:rPr sz="1011" b="0">
                <a:solidFill>
                  <a:srgbClr val="2E2E2E"/>
                </a:solidFill>
                <a:latin typeface="Calibri"/>
              </a:rPr>
              <a:t>Value Realisation</a:t>
            </a:r>
          </a:p>
        </p:txBody>
      </p:sp>
      <p:pic>
        <p:nvPicPr>
          <p:cNvPr id="83" name="Picture 82" descr="lock.png"/>
          <p:cNvPicPr>
            <a:picLocks noChangeAspect="1"/>
          </p:cNvPicPr>
          <p:nvPr/>
        </p:nvPicPr>
        <p:blipFill>
          <a:blip r:embed="rId4"/>
          <a:stretch>
            <a:fillRect/>
          </a:stretch>
        </p:blipFill>
        <p:spPr>
          <a:xfrm>
            <a:off x="4538330" y="6296863"/>
            <a:ext cx="118403" cy="172222"/>
          </a:xfrm>
          <a:prstGeom prst="rect">
            <a:avLst/>
          </a:prstGeom>
        </p:spPr>
      </p:pic>
      <p:sp>
        <p:nvSpPr>
          <p:cNvPr id="84" name="TextBox 83"/>
          <p:cNvSpPr txBox="1"/>
          <p:nvPr/>
        </p:nvSpPr>
        <p:spPr>
          <a:xfrm>
            <a:off x="5000625" y="1496754"/>
            <a:ext cx="3210445" cy="186689"/>
          </a:xfrm>
          <a:prstGeom prst="rect">
            <a:avLst/>
          </a:prstGeom>
          <a:noFill/>
        </p:spPr>
        <p:txBody>
          <a:bodyPr wrap="none" lIns="0" tIns="0" rIns="0" bIns="0">
            <a:spAutoFit/>
          </a:bodyPr>
          <a:lstStyle/>
          <a:p>
            <a:r>
              <a:rPr sz="1100" b="0">
                <a:solidFill>
                  <a:srgbClr val="2E2E2E"/>
                </a:solidFill>
                <a:latin typeface="Calibri"/>
              </a:rPr>
              <a:t>▪ Supply-side conditions are led by Geographic Spread (</a:t>
            </a:r>
          </a:p>
        </p:txBody>
      </p:sp>
      <p:pic>
        <p:nvPicPr>
          <p:cNvPr id="85" name="Picture 84" descr="lock.png"/>
          <p:cNvPicPr>
            <a:picLocks noChangeAspect="1"/>
          </p:cNvPicPr>
          <p:nvPr/>
        </p:nvPicPr>
        <p:blipFill>
          <a:blip r:embed="rId4"/>
          <a:stretch>
            <a:fillRect/>
          </a:stretch>
        </p:blipFill>
        <p:spPr>
          <a:xfrm>
            <a:off x="8159122" y="1486975"/>
            <a:ext cx="128699" cy="187198"/>
          </a:xfrm>
          <a:prstGeom prst="rect">
            <a:avLst/>
          </a:prstGeom>
        </p:spPr>
      </p:pic>
      <p:sp>
        <p:nvSpPr>
          <p:cNvPr id="86" name="TextBox 85"/>
          <p:cNvSpPr txBox="1"/>
          <p:nvPr/>
        </p:nvSpPr>
        <p:spPr>
          <a:xfrm>
            <a:off x="8326618" y="1496754"/>
            <a:ext cx="1175246" cy="186689"/>
          </a:xfrm>
          <a:prstGeom prst="rect">
            <a:avLst/>
          </a:prstGeom>
          <a:noFill/>
        </p:spPr>
        <p:txBody>
          <a:bodyPr wrap="none" lIns="0" tIns="0" rIns="0" bIns="0">
            <a:spAutoFit/>
          </a:bodyPr>
          <a:lstStyle/>
          <a:p>
            <a:r>
              <a:rPr sz="1100" b="0">
                <a:solidFill>
                  <a:srgbClr val="2E2E2E"/>
                </a:solidFill>
                <a:latin typeface="Calibri"/>
              </a:rPr>
              <a:t>/10), Route Depth (</a:t>
            </a:r>
          </a:p>
        </p:txBody>
      </p:sp>
      <p:pic>
        <p:nvPicPr>
          <p:cNvPr id="87" name="Picture 86" descr="lock.png"/>
          <p:cNvPicPr>
            <a:picLocks noChangeAspect="1"/>
          </p:cNvPicPr>
          <p:nvPr/>
        </p:nvPicPr>
        <p:blipFill>
          <a:blip r:embed="rId4"/>
          <a:stretch>
            <a:fillRect/>
          </a:stretch>
        </p:blipFill>
        <p:spPr>
          <a:xfrm>
            <a:off x="9449916" y="1486975"/>
            <a:ext cx="128699" cy="187198"/>
          </a:xfrm>
          <a:prstGeom prst="rect">
            <a:avLst/>
          </a:prstGeom>
        </p:spPr>
      </p:pic>
      <p:sp>
        <p:nvSpPr>
          <p:cNvPr id="88" name="TextBox 87"/>
          <p:cNvSpPr txBox="1"/>
          <p:nvPr/>
        </p:nvSpPr>
        <p:spPr>
          <a:xfrm>
            <a:off x="9617411" y="1496754"/>
            <a:ext cx="1197347" cy="186689"/>
          </a:xfrm>
          <a:prstGeom prst="rect">
            <a:avLst/>
          </a:prstGeom>
          <a:noFill/>
        </p:spPr>
        <p:txBody>
          <a:bodyPr wrap="none" lIns="0" tIns="0" rIns="0" bIns="0">
            <a:spAutoFit/>
          </a:bodyPr>
          <a:lstStyle/>
          <a:p>
            <a:r>
              <a:rPr sz="1100" b="0">
                <a:solidFill>
                  <a:srgbClr val="2E2E2E"/>
                </a:solidFill>
                <a:latin typeface="Calibri"/>
              </a:rPr>
              <a:t>/10), Capacity Add (</a:t>
            </a:r>
          </a:p>
        </p:txBody>
      </p:sp>
      <p:pic>
        <p:nvPicPr>
          <p:cNvPr id="89" name="Picture 88" descr="lock.png"/>
          <p:cNvPicPr>
            <a:picLocks noChangeAspect="1"/>
          </p:cNvPicPr>
          <p:nvPr/>
        </p:nvPicPr>
        <p:blipFill>
          <a:blip r:embed="rId4"/>
          <a:stretch>
            <a:fillRect/>
          </a:stretch>
        </p:blipFill>
        <p:spPr>
          <a:xfrm>
            <a:off x="10762810" y="1486975"/>
            <a:ext cx="128699" cy="187198"/>
          </a:xfrm>
          <a:prstGeom prst="rect">
            <a:avLst/>
          </a:prstGeom>
        </p:spPr>
      </p:pic>
      <p:sp>
        <p:nvSpPr>
          <p:cNvPr id="90" name="TextBox 89"/>
          <p:cNvSpPr txBox="1"/>
          <p:nvPr/>
        </p:nvSpPr>
        <p:spPr>
          <a:xfrm>
            <a:off x="10930306" y="1496754"/>
            <a:ext cx="878929" cy="186689"/>
          </a:xfrm>
          <a:prstGeom prst="rect">
            <a:avLst/>
          </a:prstGeom>
          <a:noFill/>
        </p:spPr>
        <p:txBody>
          <a:bodyPr wrap="none" lIns="0" tIns="0" rIns="0" bIns="0">
            <a:spAutoFit/>
          </a:bodyPr>
          <a:lstStyle/>
          <a:p>
            <a:r>
              <a:rPr sz="1100" b="0">
                <a:solidFill>
                  <a:srgbClr val="2E2E2E"/>
                </a:solidFill>
                <a:latin typeface="Calibri"/>
              </a:rPr>
              <a:t>/10) on a 0-10</a:t>
            </a:r>
          </a:p>
        </p:txBody>
      </p:sp>
      <p:sp>
        <p:nvSpPr>
          <p:cNvPr id="91" name="TextBox 90"/>
          <p:cNvSpPr txBox="1"/>
          <p:nvPr/>
        </p:nvSpPr>
        <p:spPr>
          <a:xfrm>
            <a:off x="5000625" y="1664394"/>
            <a:ext cx="2476748" cy="186689"/>
          </a:xfrm>
          <a:prstGeom prst="rect">
            <a:avLst/>
          </a:prstGeom>
          <a:noFill/>
        </p:spPr>
        <p:txBody>
          <a:bodyPr wrap="none" lIns="0" tIns="0" rIns="0" bIns="0">
            <a:spAutoFit/>
          </a:bodyPr>
          <a:lstStyle/>
          <a:p>
            <a:r>
              <a:rPr sz="1100" b="0">
                <a:solidFill>
                  <a:srgbClr val="2E2E2E"/>
                </a:solidFill>
                <a:latin typeface="Calibri"/>
              </a:rPr>
              <a:t>scale scored from the global dataset itself.</a:t>
            </a:r>
          </a:p>
        </p:txBody>
      </p:sp>
      <p:sp>
        <p:nvSpPr>
          <p:cNvPr id="92" name="TextBox 91"/>
          <p:cNvSpPr txBox="1"/>
          <p:nvPr/>
        </p:nvSpPr>
        <p:spPr>
          <a:xfrm>
            <a:off x="5000625" y="1953097"/>
            <a:ext cx="1245914" cy="186689"/>
          </a:xfrm>
          <a:prstGeom prst="rect">
            <a:avLst/>
          </a:prstGeom>
          <a:noFill/>
        </p:spPr>
        <p:txBody>
          <a:bodyPr wrap="none" lIns="0" tIns="0" rIns="0" bIns="0">
            <a:spAutoFit/>
          </a:bodyPr>
          <a:lstStyle/>
          <a:p>
            <a:r>
              <a:rPr sz="1100" b="0">
                <a:solidFill>
                  <a:srgbClr val="2E2E2E"/>
                </a:solidFill>
                <a:latin typeface="Calibri"/>
              </a:rPr>
              <a:t>▪ Volume expands at</a:t>
            </a:r>
          </a:p>
        </p:txBody>
      </p:sp>
      <p:pic>
        <p:nvPicPr>
          <p:cNvPr id="93" name="Picture 92" descr="lock.png"/>
          <p:cNvPicPr>
            <a:picLocks noChangeAspect="1"/>
          </p:cNvPicPr>
          <p:nvPr/>
        </p:nvPicPr>
        <p:blipFill>
          <a:blip r:embed="rId4"/>
          <a:stretch>
            <a:fillRect/>
          </a:stretch>
        </p:blipFill>
        <p:spPr>
          <a:xfrm>
            <a:off x="6194591" y="1943318"/>
            <a:ext cx="128699" cy="187198"/>
          </a:xfrm>
          <a:prstGeom prst="rect">
            <a:avLst/>
          </a:prstGeom>
        </p:spPr>
      </p:pic>
      <p:sp>
        <p:nvSpPr>
          <p:cNvPr id="94" name="TextBox 93"/>
          <p:cNvSpPr txBox="1"/>
          <p:nvPr/>
        </p:nvSpPr>
        <p:spPr>
          <a:xfrm>
            <a:off x="6362087" y="1953097"/>
            <a:ext cx="3002788" cy="186689"/>
          </a:xfrm>
          <a:prstGeom prst="rect">
            <a:avLst/>
          </a:prstGeom>
          <a:noFill/>
        </p:spPr>
        <p:txBody>
          <a:bodyPr wrap="none" lIns="0" tIns="0" rIns="0" bIns="0">
            <a:spAutoFit/>
          </a:bodyPr>
          <a:lstStyle/>
          <a:p>
            <a:r>
              <a:rPr sz="1100" b="0">
                <a:solidFill>
                  <a:srgbClr val="2E2E2E"/>
                </a:solidFill>
                <a:latin typeface="Calibri"/>
              </a:rPr>
              <a:t>CAGR (2026–2036) while average realisation moves</a:t>
            </a:r>
          </a:p>
        </p:txBody>
      </p:sp>
      <p:pic>
        <p:nvPicPr>
          <p:cNvPr id="95" name="Picture 94" descr="lock.png"/>
          <p:cNvPicPr>
            <a:picLocks noChangeAspect="1"/>
          </p:cNvPicPr>
          <p:nvPr/>
        </p:nvPicPr>
        <p:blipFill>
          <a:blip r:embed="rId4"/>
          <a:stretch>
            <a:fillRect/>
          </a:stretch>
        </p:blipFill>
        <p:spPr>
          <a:xfrm>
            <a:off x="9312927" y="1943318"/>
            <a:ext cx="128699" cy="187198"/>
          </a:xfrm>
          <a:prstGeom prst="rect">
            <a:avLst/>
          </a:prstGeom>
        </p:spPr>
      </p:pic>
      <p:sp>
        <p:nvSpPr>
          <p:cNvPr id="96" name="TextBox 95"/>
          <p:cNvSpPr txBox="1"/>
          <p:nvPr/>
        </p:nvSpPr>
        <p:spPr>
          <a:xfrm>
            <a:off x="9480423" y="1953097"/>
            <a:ext cx="2346597" cy="186689"/>
          </a:xfrm>
          <a:prstGeom prst="rect">
            <a:avLst/>
          </a:prstGeom>
          <a:noFill/>
        </p:spPr>
        <p:txBody>
          <a:bodyPr wrap="none" lIns="0" tIns="0" rIns="0" bIns="0">
            <a:spAutoFit/>
          </a:bodyPr>
          <a:lstStyle/>
          <a:p>
            <a:r>
              <a:rPr sz="1100" b="0">
                <a:solidFill>
                  <a:srgbClr val="2E2E2E"/>
                </a:solidFill>
                <a:latin typeface="Calibri"/>
              </a:rPr>
              <a:t>a year the balance of those two sets the</a:t>
            </a:r>
          </a:p>
        </p:txBody>
      </p:sp>
      <p:sp>
        <p:nvSpPr>
          <p:cNvPr id="97" name="TextBox 96"/>
          <p:cNvSpPr txBox="1"/>
          <p:nvPr/>
        </p:nvSpPr>
        <p:spPr>
          <a:xfrm>
            <a:off x="5000625" y="2120737"/>
            <a:ext cx="1571426" cy="186689"/>
          </a:xfrm>
          <a:prstGeom prst="rect">
            <a:avLst/>
          </a:prstGeom>
          <a:noFill/>
        </p:spPr>
        <p:txBody>
          <a:bodyPr wrap="none" lIns="0" tIns="0" rIns="0" bIns="0">
            <a:spAutoFit/>
          </a:bodyPr>
          <a:lstStyle/>
          <a:p>
            <a:r>
              <a:rPr sz="1100" b="0">
                <a:solidFill>
                  <a:srgbClr val="2E2E2E"/>
                </a:solidFill>
                <a:latin typeface="Calibri"/>
              </a:rPr>
              <a:t>cost-pass-through picture.</a:t>
            </a:r>
          </a:p>
        </p:txBody>
      </p:sp>
      <p:sp>
        <p:nvSpPr>
          <p:cNvPr id="98" name="TextBox 97"/>
          <p:cNvSpPr txBox="1"/>
          <p:nvPr/>
        </p:nvSpPr>
        <p:spPr>
          <a:xfrm>
            <a:off x="5000625" y="2401990"/>
            <a:ext cx="2540049" cy="186689"/>
          </a:xfrm>
          <a:prstGeom prst="rect">
            <a:avLst/>
          </a:prstGeom>
          <a:noFill/>
        </p:spPr>
        <p:txBody>
          <a:bodyPr wrap="none" lIns="0" tIns="0" rIns="0" bIns="0">
            <a:spAutoFit/>
          </a:bodyPr>
          <a:lstStyle/>
          <a:p>
            <a:r>
              <a:rPr sz="1100" b="0">
                <a:solidFill>
                  <a:srgbClr val="2E2E2E"/>
                </a:solidFill>
                <a:latin typeface="Calibri"/>
              </a:rPr>
              <a:t>▪ Supply is dispersed: 'North America' holds</a:t>
            </a:r>
          </a:p>
        </p:txBody>
      </p:sp>
      <p:pic>
        <p:nvPicPr>
          <p:cNvPr id="99" name="Picture 98" descr="lock.png"/>
          <p:cNvPicPr>
            <a:picLocks noChangeAspect="1"/>
          </p:cNvPicPr>
          <p:nvPr/>
        </p:nvPicPr>
        <p:blipFill>
          <a:blip r:embed="rId4"/>
          <a:stretch>
            <a:fillRect/>
          </a:stretch>
        </p:blipFill>
        <p:spPr>
          <a:xfrm>
            <a:off x="7488726" y="2392211"/>
            <a:ext cx="128699" cy="187198"/>
          </a:xfrm>
          <a:prstGeom prst="rect">
            <a:avLst/>
          </a:prstGeom>
        </p:spPr>
      </p:pic>
      <p:sp>
        <p:nvSpPr>
          <p:cNvPr id="100" name="TextBox 99"/>
          <p:cNvSpPr txBox="1"/>
          <p:nvPr/>
        </p:nvSpPr>
        <p:spPr>
          <a:xfrm>
            <a:off x="7656222" y="2401990"/>
            <a:ext cx="1821358" cy="186689"/>
          </a:xfrm>
          <a:prstGeom prst="rect">
            <a:avLst/>
          </a:prstGeom>
          <a:noFill/>
        </p:spPr>
        <p:txBody>
          <a:bodyPr wrap="none" lIns="0" tIns="0" rIns="0" bIns="0">
            <a:spAutoFit/>
          </a:bodyPr>
          <a:lstStyle/>
          <a:p>
            <a:r>
              <a:rPr sz="1100" b="0">
                <a:solidFill>
                  <a:srgbClr val="2E2E2E"/>
                </a:solidFill>
                <a:latin typeface="Calibri"/>
              </a:rPr>
              <a:t>of 2036 value across 6 regions.</a:t>
            </a:r>
          </a:p>
        </p:txBody>
      </p:sp>
      <p:sp>
        <p:nvSpPr>
          <p:cNvPr id="101" name="TextBox 100"/>
          <p:cNvSpPr txBox="1"/>
          <p:nvPr/>
        </p:nvSpPr>
        <p:spPr>
          <a:xfrm>
            <a:off x="5000625" y="3132138"/>
            <a:ext cx="2931591" cy="186689"/>
          </a:xfrm>
          <a:prstGeom prst="rect">
            <a:avLst/>
          </a:prstGeom>
          <a:noFill/>
        </p:spPr>
        <p:txBody>
          <a:bodyPr wrap="none" lIns="0" tIns="0" rIns="0" bIns="0">
            <a:spAutoFit/>
          </a:bodyPr>
          <a:lstStyle/>
          <a:p>
            <a:r>
              <a:rPr sz="1100" b="0">
                <a:solidFill>
                  <a:srgbClr val="2E2E2E"/>
                </a:solidFill>
                <a:latin typeface="Calibri"/>
              </a:rPr>
              <a:t>▪ Capacity added between 2026 and 2036 is worth</a:t>
            </a:r>
          </a:p>
        </p:txBody>
      </p:sp>
      <p:pic>
        <p:nvPicPr>
          <p:cNvPr id="102" name="Picture 101" descr="lock.png"/>
          <p:cNvPicPr>
            <a:picLocks noChangeAspect="1"/>
          </p:cNvPicPr>
          <p:nvPr/>
        </p:nvPicPr>
        <p:blipFill>
          <a:blip r:embed="rId4"/>
          <a:stretch>
            <a:fillRect/>
          </a:stretch>
        </p:blipFill>
        <p:spPr>
          <a:xfrm>
            <a:off x="7880268" y="3122359"/>
            <a:ext cx="128699" cy="187198"/>
          </a:xfrm>
          <a:prstGeom prst="rect">
            <a:avLst/>
          </a:prstGeom>
        </p:spPr>
      </p:pic>
      <p:sp>
        <p:nvSpPr>
          <p:cNvPr id="103" name="TextBox 102"/>
          <p:cNvSpPr txBox="1"/>
          <p:nvPr/>
        </p:nvSpPr>
        <p:spPr>
          <a:xfrm>
            <a:off x="8047764" y="3132138"/>
            <a:ext cx="659010" cy="186689"/>
          </a:xfrm>
          <a:prstGeom prst="rect">
            <a:avLst/>
          </a:prstGeom>
          <a:noFill/>
        </p:spPr>
        <p:txBody>
          <a:bodyPr wrap="none" lIns="0" tIns="0" rIns="0" bIns="0">
            <a:spAutoFit/>
          </a:bodyPr>
          <a:lstStyle/>
          <a:p>
            <a:r>
              <a:rPr sz="1100" b="0">
                <a:solidFill>
                  <a:srgbClr val="2E2E2E"/>
                </a:solidFill>
                <a:latin typeface="Calibri"/>
              </a:rPr>
              <a:t>US$ Mn, a</a:t>
            </a:r>
          </a:p>
        </p:txBody>
      </p:sp>
      <p:pic>
        <p:nvPicPr>
          <p:cNvPr id="104" name="Picture 103" descr="lock.png"/>
          <p:cNvPicPr>
            <a:picLocks noChangeAspect="1"/>
          </p:cNvPicPr>
          <p:nvPr/>
        </p:nvPicPr>
        <p:blipFill>
          <a:blip r:embed="rId4"/>
          <a:stretch>
            <a:fillRect/>
          </a:stretch>
        </p:blipFill>
        <p:spPr>
          <a:xfrm>
            <a:off x="8654826" y="3122359"/>
            <a:ext cx="128699" cy="187198"/>
          </a:xfrm>
          <a:prstGeom prst="rect">
            <a:avLst/>
          </a:prstGeom>
        </p:spPr>
      </p:pic>
      <p:sp>
        <p:nvSpPr>
          <p:cNvPr id="105" name="TextBox 104"/>
          <p:cNvSpPr txBox="1"/>
          <p:nvPr/>
        </p:nvSpPr>
        <p:spPr>
          <a:xfrm>
            <a:off x="8822322" y="3132138"/>
            <a:ext cx="1801986" cy="186689"/>
          </a:xfrm>
          <a:prstGeom prst="rect">
            <a:avLst/>
          </a:prstGeom>
          <a:noFill/>
        </p:spPr>
        <p:txBody>
          <a:bodyPr wrap="none" lIns="0" tIns="0" rIns="0" bIns="0">
            <a:spAutoFit/>
          </a:bodyPr>
          <a:lstStyle/>
          <a:p>
            <a:r>
              <a:rPr sz="1100" b="0">
                <a:solidFill>
                  <a:srgbClr val="2E2E2E"/>
                </a:solidFill>
                <a:latin typeface="Calibri"/>
              </a:rPr>
              <a:t>× expansion on the 2026 base.</a:t>
            </a:r>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Global Driving Factors (2/2)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595333"/>
            <a:ext cx="1495425" cy="3413441"/>
          </a:xfrm>
          <a:custGeom>
            <a:avLst/>
            <a:gdLst/>
            <a:ahLst/>
            <a:cxnLst/>
            <a:rect l="l" t="t" r="r" b="b"/>
            <a:pathLst>
              <a:path w="157" h="374">
                <a:moveTo>
                  <a:pt x="0" y="18"/>
                </a:moveTo>
                <a:lnTo>
                  <a:pt x="69" y="0"/>
                </a:lnTo>
                <a:lnTo>
                  <a:pt x="147" y="25"/>
                </a:lnTo>
                <a:lnTo>
                  <a:pt x="97" y="120"/>
                </a:lnTo>
                <a:lnTo>
                  <a:pt x="157" y="178"/>
                </a:lnTo>
                <a:lnTo>
                  <a:pt x="99" y="221"/>
                </a:lnTo>
                <a:lnTo>
                  <a:pt x="96" y="342"/>
                </a:lnTo>
                <a:lnTo>
                  <a:pt x="0" y="374"/>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7505700" y="1281067"/>
            <a:ext cx="2286000" cy="237298"/>
          </a:xfrm>
          <a:prstGeom prst="rect">
            <a:avLst/>
          </a:prstGeom>
          <a:noFill/>
        </p:spPr>
        <p:txBody>
          <a:bodyPr wrap="square" lIns="28575" tIns="9525" rIns="28575" bIns="9525" anchor="ctr">
            <a:spAutoFit/>
          </a:bodyPr>
          <a:lstStyle/>
          <a:p>
            <a:pPr algn="l"/>
            <a:endParaRP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TextBox 32"/>
          <p:cNvSpPr txBox="1"/>
          <p:nvPr/>
        </p:nvSpPr>
        <p:spPr>
          <a:xfrm>
            <a:off x="8520544" y="1519681"/>
            <a:ext cx="2286000" cy="237298"/>
          </a:xfrm>
          <a:prstGeom prst="rect">
            <a:avLst/>
          </a:prstGeom>
          <a:noFill/>
        </p:spPr>
        <p:txBody>
          <a:bodyPr wrap="square" lIns="28575" tIns="9525" rIns="28575" bIns="9525" anchor="ctr">
            <a:spAutoFit/>
          </a:bodyPr>
          <a:lstStyle/>
          <a:p>
            <a:pPr algn="l"/>
            <a:endParaRP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9395493" y="2270405"/>
            <a:ext cx="2286000" cy="237298"/>
          </a:xfrm>
          <a:prstGeom prst="rect">
            <a:avLst/>
          </a:prstGeom>
          <a:noFill/>
        </p:spPr>
        <p:txBody>
          <a:bodyPr wrap="square" lIns="28575" tIns="9525" rIns="28575" bIns="9525" anchor="ctr">
            <a:spAutoFit/>
          </a:bodyPr>
          <a:lstStyle/>
          <a:p>
            <a:pPr algn="l"/>
            <a:endParaRP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9881054" y="3236535"/>
            <a:ext cx="2168071" cy="237298"/>
          </a:xfrm>
          <a:prstGeom prst="rect">
            <a:avLst/>
          </a:prstGeom>
          <a:noFill/>
        </p:spPr>
        <p:txBody>
          <a:bodyPr wrap="square" lIns="28575" tIns="9525" rIns="28575" bIns="9525" anchor="ctr">
            <a:spAutoFit/>
          </a:bodyPr>
          <a:lstStyle/>
          <a:p>
            <a:pPr algn="l"/>
            <a:endParaRP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9881054" y="4308858"/>
            <a:ext cx="2168071" cy="237298"/>
          </a:xfrm>
          <a:prstGeom prst="rect">
            <a:avLst/>
          </a:prstGeom>
          <a:noFill/>
        </p:spPr>
        <p:txBody>
          <a:bodyPr wrap="square" lIns="28575" tIns="9525" rIns="28575" bIns="9525" anchor="ctr">
            <a:spAutoFit/>
          </a:bodyPr>
          <a:lstStyle/>
          <a:p>
            <a:pPr algn="l"/>
            <a:endParaRP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9395493" y="5274987"/>
            <a:ext cx="2286000" cy="237298"/>
          </a:xfrm>
          <a:prstGeom prst="rect">
            <a:avLst/>
          </a:prstGeom>
          <a:noFill/>
        </p:spPr>
        <p:txBody>
          <a:bodyPr wrap="square" lIns="28575" tIns="9525" rIns="28575" bIns="9525" anchor="ctr">
            <a:spAutoFit/>
          </a:bodyPr>
          <a:lstStyle/>
          <a:p>
            <a:pPr algn="l"/>
            <a:endParaRP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8520544" y="6025711"/>
            <a:ext cx="2286000" cy="237298"/>
          </a:xfrm>
          <a:prstGeom prst="rect">
            <a:avLst/>
          </a:prstGeom>
          <a:noFill/>
        </p:spPr>
        <p:txBody>
          <a:bodyPr wrap="square" lIns="28575" tIns="9525" rIns="28575" bIns="9525" anchor="ctr">
            <a:spAutoFit/>
          </a:bodyPr>
          <a:lstStyle/>
          <a:p>
            <a:pPr algn="l"/>
            <a:endParaRP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7505700" y="6264326"/>
            <a:ext cx="2286000" cy="237298"/>
          </a:xfrm>
          <a:prstGeom prst="rect">
            <a:avLst/>
          </a:prstGeom>
          <a:noFill/>
        </p:spPr>
        <p:txBody>
          <a:bodyPr wrap="square" lIns="28575" tIns="9525" rIns="28575" bIns="9525" anchor="ctr">
            <a:spAutoFit/>
          </a:bodyPr>
          <a:lstStyle/>
          <a:p>
            <a:pPr algn="l"/>
            <a:endParaRP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FMI Scale 0"/>
          <p:cNvSpPr txBox="1"/>
          <p:nvPr/>
        </p:nvSpPr>
        <p:spPr>
          <a:xfrm>
            <a:off x="7486650" y="3818331"/>
            <a:ext cx="419100" cy="146030"/>
          </a:xfrm>
          <a:prstGeom prst="rect">
            <a:avLst/>
          </a:prstGeom>
          <a:noFill/>
        </p:spPr>
        <p:txBody>
          <a:bodyPr wrap="none" lIns="0" tIns="0" r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tIns="0" r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tIns="0" r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tIns="0" r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tIns="0" r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tIns="0" r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tIns="0" r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tIns="0" r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tIns="0" r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tIns="0" r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tIns="0" r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tIns="9525" rIns="2857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tIns="9525" rIns="28575" bIns="9525" anchor="ctr">
            <a:spAutoFit/>
          </a:bodyPr>
          <a:lstStyle/>
          <a:p>
            <a:pPr algn="l">
              <a:lnSpc>
                <a:spcPct val="115000"/>
              </a:lnSpc>
            </a:pPr>
            <a:endParaRPr/>
          </a:p>
        </p:txBody>
      </p:sp>
      <p:sp>
        <p:nvSpPr>
          <p:cNvPr id="62" name="TextBox 61"/>
          <p:cNvSpPr txBox="1"/>
          <p:nvPr/>
        </p:nvSpPr>
        <p:spPr>
          <a:xfrm>
            <a:off x="180975" y="1883439"/>
            <a:ext cx="7038975" cy="292059"/>
          </a:xfrm>
          <a:prstGeom prst="rect">
            <a:avLst/>
          </a:prstGeom>
          <a:noFill/>
        </p:spPr>
        <p:txBody>
          <a:bodyPr wrap="square" lIns="28575" tIns="9525" rIns="28575" bIns="9525" anchor="ctr">
            <a:spAutoFit/>
          </a:bodyPr>
          <a:lstStyle/>
          <a:p>
            <a:pPr algn="l">
              <a:lnSpc>
                <a:spcPct val="115000"/>
              </a:lnSpc>
            </a:pPr>
            <a:endParaRPr/>
          </a:p>
        </p:txBody>
      </p:sp>
      <p:sp>
        <p:nvSpPr>
          <p:cNvPr id="63" name="TextBox 62"/>
          <p:cNvSpPr txBox="1"/>
          <p:nvPr/>
        </p:nvSpPr>
        <p:spPr>
          <a:xfrm>
            <a:off x="180975" y="2157244"/>
            <a:ext cx="7038975" cy="474596"/>
          </a:xfrm>
          <a:prstGeom prst="rect">
            <a:avLst/>
          </a:prstGeom>
          <a:noFill/>
        </p:spPr>
        <p:txBody>
          <a:bodyPr wrap="square" lIns="28575" tIns="9525" rIns="28575" bIns="9525" anchor="ctr">
            <a:spAutoFit/>
          </a:bodyPr>
          <a:lstStyle/>
          <a:p>
            <a:pPr algn="l">
              <a:lnSpc>
                <a:spcPct val="115000"/>
              </a:lnSpc>
            </a:pPr>
            <a:endParaRPr/>
          </a:p>
        </p:txBody>
      </p:sp>
      <p:sp>
        <p:nvSpPr>
          <p:cNvPr id="64" name="TextBox 63"/>
          <p:cNvSpPr txBox="1"/>
          <p:nvPr/>
        </p:nvSpPr>
        <p:spPr>
          <a:xfrm>
            <a:off x="180975" y="2613586"/>
            <a:ext cx="7038975" cy="474596"/>
          </a:xfrm>
          <a:prstGeom prst="rect">
            <a:avLst/>
          </a:prstGeom>
          <a:noFill/>
        </p:spPr>
        <p:txBody>
          <a:bodyPr wrap="square" lIns="28575" tIns="9525" rIns="28575" bIns="9525" anchor="ctr">
            <a:spAutoFit/>
          </a:bodyPr>
          <a:lstStyle/>
          <a:p>
            <a:pPr algn="l">
              <a:lnSpc>
                <a:spcPct val="115000"/>
              </a:lnSpc>
            </a:pPr>
            <a:endParaRPr/>
          </a:p>
        </p:txBody>
      </p:sp>
      <p:sp>
        <p:nvSpPr>
          <p:cNvPr id="65" name="TextBox 64"/>
          <p:cNvSpPr txBox="1"/>
          <p:nvPr/>
        </p:nvSpPr>
        <p:spPr>
          <a:xfrm>
            <a:off x="180975" y="3069929"/>
            <a:ext cx="7038975" cy="474596"/>
          </a:xfrm>
          <a:prstGeom prst="rect">
            <a:avLst/>
          </a:prstGeom>
          <a:noFill/>
        </p:spPr>
        <p:txBody>
          <a:bodyPr wrap="square" lIns="28575" tIns="9525" rIns="28575" bIns="9525" anchor="ctr">
            <a:spAutoFit/>
          </a:bodyPr>
          <a:lstStyle/>
          <a:p>
            <a:pPr algn="l">
              <a:lnSpc>
                <a:spcPct val="115000"/>
              </a:lnSpc>
            </a:pPr>
            <a:endParaRPr/>
          </a:p>
        </p:txBody>
      </p:sp>
      <p:sp>
        <p:nvSpPr>
          <p:cNvPr id="66" name="TextBox 65"/>
          <p:cNvSpPr txBox="1"/>
          <p:nvPr/>
        </p:nvSpPr>
        <p:spPr>
          <a:xfrm>
            <a:off x="180975" y="3526271"/>
            <a:ext cx="7038975"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7534275" y="1322601"/>
            <a:ext cx="943988" cy="173278"/>
          </a:xfrm>
          <a:prstGeom prst="rect">
            <a:avLst/>
          </a:prstGeom>
          <a:noFill/>
        </p:spPr>
        <p:txBody>
          <a:bodyPr wrap="none" lIns="0" tIns="0" rIns="0" bIns="0">
            <a:spAutoFit/>
          </a:bodyPr>
          <a:lstStyle/>
          <a:p>
            <a:r>
              <a:rPr sz="1011" b="0">
                <a:solidFill>
                  <a:srgbClr val="2E2E2E"/>
                </a:solidFill>
                <a:latin typeface="Calibri"/>
              </a:rPr>
              <a:t>Demand Growth</a:t>
            </a:r>
          </a:p>
        </p:txBody>
      </p:sp>
      <p:pic>
        <p:nvPicPr>
          <p:cNvPr id="69" name="Picture 68" descr="lock.png"/>
          <p:cNvPicPr>
            <a:picLocks noChangeAspect="1"/>
          </p:cNvPicPr>
          <p:nvPr/>
        </p:nvPicPr>
        <p:blipFill>
          <a:blip r:embed="rId4"/>
          <a:stretch>
            <a:fillRect/>
          </a:stretch>
        </p:blipFill>
        <p:spPr>
          <a:xfrm>
            <a:off x="8424374" y="1313604"/>
            <a:ext cx="118403" cy="172222"/>
          </a:xfrm>
          <a:prstGeom prst="rect">
            <a:avLst/>
          </a:prstGeom>
        </p:spPr>
      </p:pic>
      <p:sp>
        <p:nvSpPr>
          <p:cNvPr id="70" name="TextBox 69"/>
          <p:cNvSpPr txBox="1"/>
          <p:nvPr/>
        </p:nvSpPr>
        <p:spPr>
          <a:xfrm>
            <a:off x="8549119" y="1561215"/>
            <a:ext cx="903573" cy="173278"/>
          </a:xfrm>
          <a:prstGeom prst="rect">
            <a:avLst/>
          </a:prstGeom>
          <a:noFill/>
        </p:spPr>
        <p:txBody>
          <a:bodyPr wrap="none" lIns="0" tIns="0" rIns="0" bIns="0">
            <a:spAutoFit/>
          </a:bodyPr>
          <a:lstStyle/>
          <a:p>
            <a:r>
              <a:rPr sz="1011" b="0">
                <a:solidFill>
                  <a:srgbClr val="2E2E2E"/>
                </a:solidFill>
                <a:latin typeface="Calibri"/>
              </a:rPr>
              <a:t>Premiumisation</a:t>
            </a:r>
          </a:p>
        </p:txBody>
      </p:sp>
      <p:pic>
        <p:nvPicPr>
          <p:cNvPr id="71" name="Picture 70" descr="lock.png"/>
          <p:cNvPicPr>
            <a:picLocks noChangeAspect="1"/>
          </p:cNvPicPr>
          <p:nvPr/>
        </p:nvPicPr>
        <p:blipFill>
          <a:blip r:embed="rId4"/>
          <a:stretch>
            <a:fillRect/>
          </a:stretch>
        </p:blipFill>
        <p:spPr>
          <a:xfrm>
            <a:off x="9398803" y="1552218"/>
            <a:ext cx="118403" cy="172222"/>
          </a:xfrm>
          <a:prstGeom prst="rect">
            <a:avLst/>
          </a:prstGeom>
        </p:spPr>
      </p:pic>
      <p:sp>
        <p:nvSpPr>
          <p:cNvPr id="72" name="TextBox 71"/>
          <p:cNvSpPr txBox="1"/>
          <p:nvPr/>
        </p:nvSpPr>
        <p:spPr>
          <a:xfrm>
            <a:off x="9424068" y="2311939"/>
            <a:ext cx="765761" cy="173278"/>
          </a:xfrm>
          <a:prstGeom prst="rect">
            <a:avLst/>
          </a:prstGeom>
          <a:noFill/>
        </p:spPr>
        <p:txBody>
          <a:bodyPr wrap="none" lIns="0" tIns="0" rIns="0" bIns="0">
            <a:spAutoFit/>
          </a:bodyPr>
          <a:lstStyle/>
          <a:p>
            <a:r>
              <a:rPr sz="1011" b="0">
                <a:solidFill>
                  <a:srgbClr val="2E2E2E"/>
                </a:solidFill>
                <a:latin typeface="Calibri"/>
              </a:rPr>
              <a:t>App. Breadth</a:t>
            </a:r>
          </a:p>
        </p:txBody>
      </p:sp>
      <p:pic>
        <p:nvPicPr>
          <p:cNvPr id="73" name="Picture 72" descr="lock.png"/>
          <p:cNvPicPr>
            <a:picLocks noChangeAspect="1"/>
          </p:cNvPicPr>
          <p:nvPr/>
        </p:nvPicPr>
        <p:blipFill>
          <a:blip r:embed="rId4"/>
          <a:stretch>
            <a:fillRect/>
          </a:stretch>
        </p:blipFill>
        <p:spPr>
          <a:xfrm>
            <a:off x="10135940" y="2302942"/>
            <a:ext cx="118403" cy="172222"/>
          </a:xfrm>
          <a:prstGeom prst="rect">
            <a:avLst/>
          </a:prstGeom>
        </p:spPr>
      </p:pic>
      <p:sp>
        <p:nvSpPr>
          <p:cNvPr id="74" name="TextBox 73"/>
          <p:cNvSpPr txBox="1"/>
          <p:nvPr/>
        </p:nvSpPr>
        <p:spPr>
          <a:xfrm>
            <a:off x="9909628" y="3278069"/>
            <a:ext cx="791114" cy="173278"/>
          </a:xfrm>
          <a:prstGeom prst="rect">
            <a:avLst/>
          </a:prstGeom>
          <a:noFill/>
        </p:spPr>
        <p:txBody>
          <a:bodyPr wrap="none" lIns="0" tIns="0" rIns="0" bIns="0">
            <a:spAutoFit/>
          </a:bodyPr>
          <a:lstStyle/>
          <a:p>
            <a:r>
              <a:rPr sz="1011" b="0">
                <a:solidFill>
                  <a:srgbClr val="2E2E2E"/>
                </a:solidFill>
                <a:latin typeface="Calibri"/>
              </a:rPr>
              <a:t>Emerging Pull</a:t>
            </a:r>
          </a:p>
        </p:txBody>
      </p:sp>
      <p:pic>
        <p:nvPicPr>
          <p:cNvPr id="75" name="Picture 74" descr="lock.png"/>
          <p:cNvPicPr>
            <a:picLocks noChangeAspect="1"/>
          </p:cNvPicPr>
          <p:nvPr/>
        </p:nvPicPr>
        <p:blipFill>
          <a:blip r:embed="rId4"/>
          <a:stretch>
            <a:fillRect/>
          </a:stretch>
        </p:blipFill>
        <p:spPr>
          <a:xfrm>
            <a:off x="10646855" y="3269072"/>
            <a:ext cx="118403" cy="172222"/>
          </a:xfrm>
          <a:prstGeom prst="rect">
            <a:avLst/>
          </a:prstGeom>
        </p:spPr>
      </p:pic>
      <p:sp>
        <p:nvSpPr>
          <p:cNvPr id="76" name="TextBox 75"/>
          <p:cNvSpPr txBox="1"/>
          <p:nvPr/>
        </p:nvSpPr>
        <p:spPr>
          <a:xfrm>
            <a:off x="9909628" y="4350392"/>
            <a:ext cx="1135267" cy="173278"/>
          </a:xfrm>
          <a:prstGeom prst="rect">
            <a:avLst/>
          </a:prstGeom>
          <a:noFill/>
        </p:spPr>
        <p:txBody>
          <a:bodyPr wrap="none" lIns="0" tIns="0" rIns="0" bIns="0">
            <a:spAutoFit/>
          </a:bodyPr>
          <a:lstStyle/>
          <a:p>
            <a:r>
              <a:rPr sz="1011" b="0">
                <a:solidFill>
                  <a:srgbClr val="2E2E2E"/>
                </a:solidFill>
                <a:latin typeface="Calibri"/>
              </a:rPr>
              <a:t>Volume Momentum</a:t>
            </a:r>
          </a:p>
        </p:txBody>
      </p:sp>
      <p:pic>
        <p:nvPicPr>
          <p:cNvPr id="77" name="Picture 76" descr="lock.png"/>
          <p:cNvPicPr>
            <a:picLocks noChangeAspect="1"/>
          </p:cNvPicPr>
          <p:nvPr/>
        </p:nvPicPr>
        <p:blipFill>
          <a:blip r:embed="rId4"/>
          <a:stretch>
            <a:fillRect/>
          </a:stretch>
        </p:blipFill>
        <p:spPr>
          <a:xfrm>
            <a:off x="10991008" y="4341395"/>
            <a:ext cx="118403" cy="172222"/>
          </a:xfrm>
          <a:prstGeom prst="rect">
            <a:avLst/>
          </a:prstGeom>
        </p:spPr>
      </p:pic>
      <p:sp>
        <p:nvSpPr>
          <p:cNvPr id="78" name="TextBox 77"/>
          <p:cNvSpPr txBox="1"/>
          <p:nvPr/>
        </p:nvSpPr>
        <p:spPr>
          <a:xfrm>
            <a:off x="9424068" y="5316521"/>
            <a:ext cx="1032097" cy="173278"/>
          </a:xfrm>
          <a:prstGeom prst="rect">
            <a:avLst/>
          </a:prstGeom>
          <a:noFill/>
        </p:spPr>
        <p:txBody>
          <a:bodyPr wrap="none" lIns="0" tIns="0" rIns="0" bIns="0">
            <a:spAutoFit/>
          </a:bodyPr>
          <a:lstStyle/>
          <a:p>
            <a:r>
              <a:rPr sz="1011" b="0">
                <a:solidFill>
                  <a:srgbClr val="2E2E2E"/>
                </a:solidFill>
                <a:latin typeface="Calibri"/>
              </a:rPr>
              <a:t>Category Maturity</a:t>
            </a:r>
          </a:p>
        </p:txBody>
      </p:sp>
      <p:pic>
        <p:nvPicPr>
          <p:cNvPr id="79" name="Picture 78" descr="lock.png"/>
          <p:cNvPicPr>
            <a:picLocks noChangeAspect="1"/>
          </p:cNvPicPr>
          <p:nvPr/>
        </p:nvPicPr>
        <p:blipFill>
          <a:blip r:embed="rId4"/>
          <a:stretch>
            <a:fillRect/>
          </a:stretch>
        </p:blipFill>
        <p:spPr>
          <a:xfrm>
            <a:off x="10402276" y="5307524"/>
            <a:ext cx="118403" cy="172222"/>
          </a:xfrm>
          <a:prstGeom prst="rect">
            <a:avLst/>
          </a:prstGeom>
        </p:spPr>
      </p:pic>
      <p:sp>
        <p:nvSpPr>
          <p:cNvPr id="80" name="TextBox 79"/>
          <p:cNvSpPr txBox="1"/>
          <p:nvPr/>
        </p:nvSpPr>
        <p:spPr>
          <a:xfrm>
            <a:off x="8549119" y="6067245"/>
            <a:ext cx="911857" cy="173278"/>
          </a:xfrm>
          <a:prstGeom prst="rect">
            <a:avLst/>
          </a:prstGeom>
          <a:noFill/>
        </p:spPr>
        <p:txBody>
          <a:bodyPr wrap="none" lIns="0" tIns="0" rIns="0" bIns="0">
            <a:spAutoFit/>
          </a:bodyPr>
          <a:lstStyle/>
          <a:p>
            <a:r>
              <a:rPr sz="1011" b="0">
                <a:solidFill>
                  <a:srgbClr val="2E2E2E"/>
                </a:solidFill>
                <a:latin typeface="Calibri"/>
              </a:rPr>
              <a:t>Adoption Depth</a:t>
            </a:r>
          </a:p>
        </p:txBody>
      </p:sp>
      <p:pic>
        <p:nvPicPr>
          <p:cNvPr id="81" name="Picture 80" descr="lock.png"/>
          <p:cNvPicPr>
            <a:picLocks noChangeAspect="1"/>
          </p:cNvPicPr>
          <p:nvPr/>
        </p:nvPicPr>
        <p:blipFill>
          <a:blip r:embed="rId4"/>
          <a:stretch>
            <a:fillRect/>
          </a:stretch>
        </p:blipFill>
        <p:spPr>
          <a:xfrm>
            <a:off x="9407087" y="6058248"/>
            <a:ext cx="118403" cy="172222"/>
          </a:xfrm>
          <a:prstGeom prst="rect">
            <a:avLst/>
          </a:prstGeom>
        </p:spPr>
      </p:pic>
      <p:sp>
        <p:nvSpPr>
          <p:cNvPr id="82" name="TextBox 81"/>
          <p:cNvSpPr txBox="1"/>
          <p:nvPr/>
        </p:nvSpPr>
        <p:spPr>
          <a:xfrm>
            <a:off x="7534275" y="6305860"/>
            <a:ext cx="955786" cy="173278"/>
          </a:xfrm>
          <a:prstGeom prst="rect">
            <a:avLst/>
          </a:prstGeom>
          <a:noFill/>
        </p:spPr>
        <p:txBody>
          <a:bodyPr wrap="none" lIns="0" tIns="0" rIns="0" bIns="0">
            <a:spAutoFit/>
          </a:bodyPr>
          <a:lstStyle/>
          <a:p>
            <a:r>
              <a:rPr sz="1011" b="0">
                <a:solidFill>
                  <a:srgbClr val="2E2E2E"/>
                </a:solidFill>
                <a:latin typeface="Calibri"/>
              </a:rPr>
              <a:t>Consumer Reach</a:t>
            </a:r>
          </a:p>
        </p:txBody>
      </p:sp>
      <p:pic>
        <p:nvPicPr>
          <p:cNvPr id="83" name="Picture 82" descr="lock.png"/>
          <p:cNvPicPr>
            <a:picLocks noChangeAspect="1"/>
          </p:cNvPicPr>
          <p:nvPr/>
        </p:nvPicPr>
        <p:blipFill>
          <a:blip r:embed="rId4"/>
          <a:stretch>
            <a:fillRect/>
          </a:stretch>
        </p:blipFill>
        <p:spPr>
          <a:xfrm>
            <a:off x="8436172" y="6296863"/>
            <a:ext cx="118403" cy="172222"/>
          </a:xfrm>
          <a:prstGeom prst="rect">
            <a:avLst/>
          </a:prstGeom>
        </p:spPr>
      </p:pic>
      <p:sp>
        <p:nvSpPr>
          <p:cNvPr id="84" name="TextBox 83"/>
          <p:cNvSpPr txBox="1"/>
          <p:nvPr/>
        </p:nvSpPr>
        <p:spPr>
          <a:xfrm>
            <a:off x="209550" y="1496754"/>
            <a:ext cx="3188617" cy="186689"/>
          </a:xfrm>
          <a:prstGeom prst="rect">
            <a:avLst/>
          </a:prstGeom>
          <a:noFill/>
        </p:spPr>
        <p:txBody>
          <a:bodyPr wrap="none" lIns="0" tIns="0" rIns="0" bIns="0">
            <a:spAutoFit/>
          </a:bodyPr>
          <a:lstStyle/>
          <a:p>
            <a:r>
              <a:rPr sz="1100" b="0">
                <a:solidFill>
                  <a:srgbClr val="2E2E2E"/>
                </a:solidFill>
                <a:latin typeface="Calibri"/>
              </a:rPr>
              <a:t>▪ Demand-side conditions are led by Consumer Reach (</a:t>
            </a:r>
          </a:p>
        </p:txBody>
      </p:sp>
      <p:pic>
        <p:nvPicPr>
          <p:cNvPr id="85" name="Picture 84" descr="lock.png"/>
          <p:cNvPicPr>
            <a:picLocks noChangeAspect="1"/>
          </p:cNvPicPr>
          <p:nvPr/>
        </p:nvPicPr>
        <p:blipFill>
          <a:blip r:embed="rId4"/>
          <a:stretch>
            <a:fillRect/>
          </a:stretch>
        </p:blipFill>
        <p:spPr>
          <a:xfrm>
            <a:off x="3346219" y="1486975"/>
            <a:ext cx="128699" cy="187198"/>
          </a:xfrm>
          <a:prstGeom prst="rect">
            <a:avLst/>
          </a:prstGeom>
        </p:spPr>
      </p:pic>
      <p:sp>
        <p:nvSpPr>
          <p:cNvPr id="86" name="TextBox 85"/>
          <p:cNvSpPr txBox="1"/>
          <p:nvPr/>
        </p:nvSpPr>
        <p:spPr>
          <a:xfrm>
            <a:off x="3513715" y="1496754"/>
            <a:ext cx="1363240" cy="186689"/>
          </a:xfrm>
          <a:prstGeom prst="rect">
            <a:avLst/>
          </a:prstGeom>
          <a:noFill/>
        </p:spPr>
        <p:txBody>
          <a:bodyPr wrap="none" lIns="0" tIns="0" rIns="0" bIns="0">
            <a:spAutoFit/>
          </a:bodyPr>
          <a:lstStyle/>
          <a:p>
            <a:r>
              <a:rPr sz="1100" b="0">
                <a:solidFill>
                  <a:srgbClr val="2E2E2E"/>
                </a:solidFill>
                <a:latin typeface="Calibri"/>
              </a:rPr>
              <a:t>/10), Adoption Depth (</a:t>
            </a:r>
          </a:p>
        </p:txBody>
      </p:sp>
      <p:pic>
        <p:nvPicPr>
          <p:cNvPr id="87" name="Picture 86" descr="lock.png"/>
          <p:cNvPicPr>
            <a:picLocks noChangeAspect="1"/>
          </p:cNvPicPr>
          <p:nvPr/>
        </p:nvPicPr>
        <p:blipFill>
          <a:blip r:embed="rId4"/>
          <a:stretch>
            <a:fillRect/>
          </a:stretch>
        </p:blipFill>
        <p:spPr>
          <a:xfrm>
            <a:off x="4825007" y="1486975"/>
            <a:ext cx="128699" cy="187198"/>
          </a:xfrm>
          <a:prstGeom prst="rect">
            <a:avLst/>
          </a:prstGeom>
        </p:spPr>
      </p:pic>
      <p:sp>
        <p:nvSpPr>
          <p:cNvPr id="88" name="TextBox 87"/>
          <p:cNvSpPr txBox="1"/>
          <p:nvPr/>
        </p:nvSpPr>
        <p:spPr>
          <a:xfrm>
            <a:off x="4992503" y="1496754"/>
            <a:ext cx="1204441" cy="186689"/>
          </a:xfrm>
          <a:prstGeom prst="rect">
            <a:avLst/>
          </a:prstGeom>
          <a:noFill/>
        </p:spPr>
        <p:txBody>
          <a:bodyPr wrap="none" lIns="0" tIns="0" rIns="0" bIns="0">
            <a:spAutoFit/>
          </a:bodyPr>
          <a:lstStyle/>
          <a:p>
            <a:r>
              <a:rPr sz="1100" b="0">
                <a:solidFill>
                  <a:srgbClr val="2E2E2E"/>
                </a:solidFill>
                <a:latin typeface="Calibri"/>
              </a:rPr>
              <a:t>/10), App. Breadth (</a:t>
            </a:r>
          </a:p>
        </p:txBody>
      </p:sp>
      <p:pic>
        <p:nvPicPr>
          <p:cNvPr id="89" name="Picture 88" descr="lock.png"/>
          <p:cNvPicPr>
            <a:picLocks noChangeAspect="1"/>
          </p:cNvPicPr>
          <p:nvPr/>
        </p:nvPicPr>
        <p:blipFill>
          <a:blip r:embed="rId4"/>
          <a:stretch>
            <a:fillRect/>
          </a:stretch>
        </p:blipFill>
        <p:spPr>
          <a:xfrm>
            <a:off x="6144996" y="1486975"/>
            <a:ext cx="128699" cy="187198"/>
          </a:xfrm>
          <a:prstGeom prst="rect">
            <a:avLst/>
          </a:prstGeom>
        </p:spPr>
      </p:pic>
      <p:sp>
        <p:nvSpPr>
          <p:cNvPr id="90" name="TextBox 89"/>
          <p:cNvSpPr txBox="1"/>
          <p:nvPr/>
        </p:nvSpPr>
        <p:spPr>
          <a:xfrm>
            <a:off x="6312492" y="1496754"/>
            <a:ext cx="591616" cy="186689"/>
          </a:xfrm>
          <a:prstGeom prst="rect">
            <a:avLst/>
          </a:prstGeom>
          <a:noFill/>
        </p:spPr>
        <p:txBody>
          <a:bodyPr wrap="none" lIns="0" tIns="0" rIns="0" bIns="0">
            <a:spAutoFit/>
          </a:bodyPr>
          <a:lstStyle/>
          <a:p>
            <a:r>
              <a:rPr sz="1100" b="0">
                <a:solidFill>
                  <a:srgbClr val="2E2E2E"/>
                </a:solidFill>
                <a:latin typeface="Calibri"/>
              </a:rPr>
              <a:t>/10) on a</a:t>
            </a:r>
          </a:p>
        </p:txBody>
      </p:sp>
      <p:sp>
        <p:nvSpPr>
          <p:cNvPr id="91" name="TextBox 90"/>
          <p:cNvSpPr txBox="1"/>
          <p:nvPr/>
        </p:nvSpPr>
        <p:spPr>
          <a:xfrm>
            <a:off x="209550" y="1664394"/>
            <a:ext cx="2764060" cy="186689"/>
          </a:xfrm>
          <a:prstGeom prst="rect">
            <a:avLst/>
          </a:prstGeom>
          <a:noFill/>
        </p:spPr>
        <p:txBody>
          <a:bodyPr wrap="none" lIns="0" tIns="0" rIns="0" bIns="0">
            <a:spAutoFit/>
          </a:bodyPr>
          <a:lstStyle/>
          <a:p>
            <a:r>
              <a:rPr sz="1100" b="0">
                <a:solidFill>
                  <a:srgbClr val="2E2E2E"/>
                </a:solidFill>
                <a:latin typeface="Calibri"/>
              </a:rPr>
              <a:t>0-10 scale scored from the global dataset itself.</a:t>
            </a:r>
          </a:p>
        </p:txBody>
      </p:sp>
      <p:sp>
        <p:nvSpPr>
          <p:cNvPr id="92" name="TextBox 91"/>
          <p:cNvSpPr txBox="1"/>
          <p:nvPr/>
        </p:nvSpPr>
        <p:spPr>
          <a:xfrm>
            <a:off x="209550" y="1945648"/>
            <a:ext cx="998438" cy="186689"/>
          </a:xfrm>
          <a:prstGeom prst="rect">
            <a:avLst/>
          </a:prstGeom>
          <a:noFill/>
        </p:spPr>
        <p:txBody>
          <a:bodyPr wrap="none" lIns="0" tIns="0" rIns="0" bIns="0">
            <a:spAutoFit/>
          </a:bodyPr>
          <a:lstStyle/>
          <a:p>
            <a:r>
              <a:rPr sz="1100" b="0">
                <a:solidFill>
                  <a:srgbClr val="2E2E2E"/>
                </a:solidFill>
                <a:latin typeface="Calibri"/>
              </a:rPr>
              <a:t>▪ Value grows at</a:t>
            </a:r>
          </a:p>
        </p:txBody>
      </p:sp>
      <p:pic>
        <p:nvPicPr>
          <p:cNvPr id="93" name="Picture 92" descr="lock.png"/>
          <p:cNvPicPr>
            <a:picLocks noChangeAspect="1"/>
          </p:cNvPicPr>
          <p:nvPr/>
        </p:nvPicPr>
        <p:blipFill>
          <a:blip r:embed="rId4"/>
          <a:stretch>
            <a:fillRect/>
          </a:stretch>
        </p:blipFill>
        <p:spPr>
          <a:xfrm>
            <a:off x="1156039" y="1935869"/>
            <a:ext cx="128699" cy="187198"/>
          </a:xfrm>
          <a:prstGeom prst="rect">
            <a:avLst/>
          </a:prstGeom>
        </p:spPr>
      </p:pic>
      <p:sp>
        <p:nvSpPr>
          <p:cNvPr id="94" name="TextBox 93"/>
          <p:cNvSpPr txBox="1"/>
          <p:nvPr/>
        </p:nvSpPr>
        <p:spPr>
          <a:xfrm>
            <a:off x="1323535" y="1945648"/>
            <a:ext cx="1083295" cy="186689"/>
          </a:xfrm>
          <a:prstGeom prst="rect">
            <a:avLst/>
          </a:prstGeom>
          <a:noFill/>
        </p:spPr>
        <p:txBody>
          <a:bodyPr wrap="none" lIns="0" tIns="0" rIns="0" bIns="0">
            <a:spAutoFit/>
          </a:bodyPr>
          <a:lstStyle/>
          <a:p>
            <a:r>
              <a:rPr sz="1100" b="0">
                <a:solidFill>
                  <a:srgbClr val="2E2E2E"/>
                </a:solidFill>
                <a:latin typeface="Calibri"/>
              </a:rPr>
              <a:t>against volume at</a:t>
            </a:r>
          </a:p>
        </p:txBody>
      </p:sp>
      <p:pic>
        <p:nvPicPr>
          <p:cNvPr id="95" name="Picture 94" descr="lock.png"/>
          <p:cNvPicPr>
            <a:picLocks noChangeAspect="1"/>
          </p:cNvPicPr>
          <p:nvPr/>
        </p:nvPicPr>
        <p:blipFill>
          <a:blip r:embed="rId4"/>
          <a:stretch>
            <a:fillRect/>
          </a:stretch>
        </p:blipFill>
        <p:spPr>
          <a:xfrm>
            <a:off x="2354882" y="1935869"/>
            <a:ext cx="128699" cy="187198"/>
          </a:xfrm>
          <a:prstGeom prst="rect">
            <a:avLst/>
          </a:prstGeom>
        </p:spPr>
      </p:pic>
      <p:sp>
        <p:nvSpPr>
          <p:cNvPr id="96" name="TextBox 95"/>
          <p:cNvSpPr txBox="1"/>
          <p:nvPr/>
        </p:nvSpPr>
        <p:spPr>
          <a:xfrm>
            <a:off x="2522378" y="1945648"/>
            <a:ext cx="2230090" cy="186689"/>
          </a:xfrm>
          <a:prstGeom prst="rect">
            <a:avLst/>
          </a:prstGeom>
          <a:noFill/>
        </p:spPr>
        <p:txBody>
          <a:bodyPr wrap="none" lIns="0" tIns="0" rIns="0" bIns="0">
            <a:spAutoFit/>
          </a:bodyPr>
          <a:lstStyle/>
          <a:p>
            <a:r>
              <a:rPr sz="1100" b="0">
                <a:solidFill>
                  <a:srgbClr val="2E2E2E"/>
                </a:solidFill>
                <a:latin typeface="Calibri"/>
              </a:rPr>
              <a:t>a premiumising market through 2036.</a:t>
            </a:r>
          </a:p>
        </p:txBody>
      </p:sp>
      <p:sp>
        <p:nvSpPr>
          <p:cNvPr id="97" name="TextBox 96"/>
          <p:cNvSpPr txBox="1"/>
          <p:nvPr/>
        </p:nvSpPr>
        <p:spPr>
          <a:xfrm>
            <a:off x="209550" y="2226902"/>
            <a:ext cx="2096665" cy="186689"/>
          </a:xfrm>
          <a:prstGeom prst="rect">
            <a:avLst/>
          </a:prstGeom>
          <a:noFill/>
        </p:spPr>
        <p:txBody>
          <a:bodyPr wrap="none" lIns="0" tIns="0" rIns="0" bIns="0">
            <a:spAutoFit/>
          </a:bodyPr>
          <a:lstStyle/>
          <a:p>
            <a:r>
              <a:rPr sz="1100" b="0">
                <a:solidFill>
                  <a:srgbClr val="2E2E2E"/>
                </a:solidFill>
                <a:latin typeface="Calibri"/>
              </a:rPr>
              <a:t>▪ 'Flat Dividers &amp; Layer Pads' carries</a:t>
            </a:r>
          </a:p>
        </p:txBody>
      </p:sp>
      <p:pic>
        <p:nvPicPr>
          <p:cNvPr id="98" name="Picture 97" descr="lock.png"/>
          <p:cNvPicPr>
            <a:picLocks noChangeAspect="1"/>
          </p:cNvPicPr>
          <p:nvPr/>
        </p:nvPicPr>
        <p:blipFill>
          <a:blip r:embed="rId4"/>
          <a:stretch>
            <a:fillRect/>
          </a:stretch>
        </p:blipFill>
        <p:spPr>
          <a:xfrm>
            <a:off x="2254267" y="2217123"/>
            <a:ext cx="128699" cy="187198"/>
          </a:xfrm>
          <a:prstGeom prst="rect">
            <a:avLst/>
          </a:prstGeom>
        </p:spPr>
      </p:pic>
      <p:sp>
        <p:nvSpPr>
          <p:cNvPr id="99" name="TextBox 98"/>
          <p:cNvSpPr txBox="1"/>
          <p:nvPr/>
        </p:nvSpPr>
        <p:spPr>
          <a:xfrm>
            <a:off x="2421763" y="2226902"/>
            <a:ext cx="4658469" cy="186689"/>
          </a:xfrm>
          <a:prstGeom prst="rect">
            <a:avLst/>
          </a:prstGeom>
          <a:noFill/>
        </p:spPr>
        <p:txBody>
          <a:bodyPr wrap="none" lIns="0" tIns="0" rIns="0" bIns="0">
            <a:spAutoFit/>
          </a:bodyPr>
          <a:lstStyle/>
          <a:p>
            <a:r>
              <a:rPr sz="1100" b="0">
                <a:solidFill>
                  <a:srgbClr val="2E2E2E"/>
                </a:solidFill>
                <a:latin typeface="Calibri"/>
              </a:rPr>
              <a:t>of partition type demand while 'Flat Dividers &amp; Layer Pads' compounds fastest at</a:t>
            </a:r>
          </a:p>
        </p:txBody>
      </p:sp>
      <p:pic>
        <p:nvPicPr>
          <p:cNvPr id="100" name="Picture 99" descr="lock.png"/>
          <p:cNvPicPr>
            <a:picLocks noChangeAspect="1"/>
          </p:cNvPicPr>
          <p:nvPr/>
        </p:nvPicPr>
        <p:blipFill>
          <a:blip r:embed="rId4"/>
          <a:stretch>
            <a:fillRect/>
          </a:stretch>
        </p:blipFill>
        <p:spPr>
          <a:xfrm>
            <a:off x="196082" y="2384763"/>
            <a:ext cx="128699" cy="187198"/>
          </a:xfrm>
          <a:prstGeom prst="rect">
            <a:avLst/>
          </a:prstGeom>
        </p:spPr>
      </p:pic>
      <p:sp>
        <p:nvSpPr>
          <p:cNvPr id="101" name="TextBox 100"/>
          <p:cNvSpPr txBox="1"/>
          <p:nvPr/>
        </p:nvSpPr>
        <p:spPr>
          <a:xfrm>
            <a:off x="363578" y="2394542"/>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102" name="TextBox 101"/>
          <p:cNvSpPr txBox="1"/>
          <p:nvPr/>
        </p:nvSpPr>
        <p:spPr>
          <a:xfrm>
            <a:off x="209550" y="2767064"/>
            <a:ext cx="2476748" cy="186689"/>
          </a:xfrm>
          <a:prstGeom prst="rect">
            <a:avLst/>
          </a:prstGeom>
          <a:noFill/>
        </p:spPr>
        <p:txBody>
          <a:bodyPr wrap="none" lIns="0" tIns="0" rIns="0" bIns="0">
            <a:spAutoFit/>
          </a:bodyPr>
          <a:lstStyle/>
          <a:p>
            <a:r>
              <a:rPr sz="1100" b="0">
                <a:solidFill>
                  <a:srgbClr val="2E2E2E"/>
                </a:solidFill>
                <a:latin typeface="Calibri"/>
              </a:rPr>
              <a:t>▪ Pull is strongest in 'South Asia &amp; Pacific' (</a:t>
            </a:r>
          </a:p>
        </p:txBody>
      </p:sp>
      <p:pic>
        <p:nvPicPr>
          <p:cNvPr id="103" name="Picture 102" descr="lock.png"/>
          <p:cNvPicPr>
            <a:picLocks noChangeAspect="1"/>
          </p:cNvPicPr>
          <p:nvPr/>
        </p:nvPicPr>
        <p:blipFill>
          <a:blip r:embed="rId4"/>
          <a:stretch>
            <a:fillRect/>
          </a:stretch>
        </p:blipFill>
        <p:spPr>
          <a:xfrm>
            <a:off x="2634349" y="2757285"/>
            <a:ext cx="128699" cy="187198"/>
          </a:xfrm>
          <a:prstGeom prst="rect">
            <a:avLst/>
          </a:prstGeom>
        </p:spPr>
      </p:pic>
      <p:sp>
        <p:nvSpPr>
          <p:cNvPr id="104" name="TextBox 103"/>
          <p:cNvSpPr txBox="1"/>
          <p:nvPr/>
        </p:nvSpPr>
        <p:spPr>
          <a:xfrm>
            <a:off x="2801845" y="2767064"/>
            <a:ext cx="531572" cy="186689"/>
          </a:xfrm>
          <a:prstGeom prst="rect">
            <a:avLst/>
          </a:prstGeom>
          <a:noFill/>
        </p:spPr>
        <p:txBody>
          <a:bodyPr wrap="none" lIns="0" tIns="0" rIns="0" bIns="0">
            <a:spAutoFit/>
          </a:bodyPr>
          <a:lstStyle/>
          <a:p>
            <a:r>
              <a:rPr sz="1100" b="0">
                <a:solidFill>
                  <a:srgbClr val="2E2E2E"/>
                </a:solidFill>
                <a:latin typeface="Calibri"/>
              </a:rPr>
              <a:t>CAGR, +</a:t>
            </a:r>
          </a:p>
        </p:txBody>
      </p:sp>
      <p:pic>
        <p:nvPicPr>
          <p:cNvPr id="105" name="Picture 104" descr="lock.png"/>
          <p:cNvPicPr>
            <a:picLocks noChangeAspect="1"/>
          </p:cNvPicPr>
          <p:nvPr/>
        </p:nvPicPr>
        <p:blipFill>
          <a:blip r:embed="rId4"/>
          <a:stretch>
            <a:fillRect/>
          </a:stretch>
        </p:blipFill>
        <p:spPr>
          <a:xfrm>
            <a:off x="3281469" y="2757285"/>
            <a:ext cx="128699" cy="187198"/>
          </a:xfrm>
          <a:prstGeom prst="rect">
            <a:avLst/>
          </a:prstGeom>
        </p:spPr>
      </p:pic>
      <p:sp>
        <p:nvSpPr>
          <p:cNvPr id="106" name="TextBox 105"/>
          <p:cNvSpPr txBox="1"/>
          <p:nvPr/>
        </p:nvSpPr>
        <p:spPr>
          <a:xfrm>
            <a:off x="3448965" y="2767064"/>
            <a:ext cx="3522588" cy="186689"/>
          </a:xfrm>
          <a:prstGeom prst="rect">
            <a:avLst/>
          </a:prstGeom>
          <a:noFill/>
        </p:spPr>
        <p:txBody>
          <a:bodyPr wrap="none" lIns="0" tIns="0" rIns="0" bIns="0">
            <a:spAutoFit/>
          </a:bodyPr>
          <a:lstStyle/>
          <a:p>
            <a:r>
              <a:rPr sz="1100" b="0">
                <a:solidFill>
                  <a:srgbClr val="2E2E2E"/>
                </a:solidFill>
                <a:latin typeface="Calibri"/>
              </a:rPr>
              <a:t>BPS versus the market), with 3 of 6 regions at or above pace.</a:t>
            </a:r>
          </a:p>
        </p:txBody>
      </p:sp>
      <p:sp>
        <p:nvSpPr>
          <p:cNvPr id="107" name="TextBox 106"/>
          <p:cNvSpPr txBox="1"/>
          <p:nvPr/>
        </p:nvSpPr>
        <p:spPr>
          <a:xfrm>
            <a:off x="209550" y="3139587"/>
            <a:ext cx="4959151" cy="186689"/>
          </a:xfrm>
          <a:prstGeom prst="rect">
            <a:avLst/>
          </a:prstGeom>
          <a:noFill/>
        </p:spPr>
        <p:txBody>
          <a:bodyPr wrap="none" lIns="0" tIns="0" rIns="0" bIns="0">
            <a:spAutoFit/>
          </a:bodyPr>
          <a:lstStyle/>
          <a:p>
            <a:r>
              <a:rPr sz="1100" b="0">
                <a:solidFill>
                  <a:srgbClr val="2E2E2E"/>
                </a:solidFill>
                <a:latin typeface="Calibri"/>
              </a:rPr>
              <a:t>▪ Reach runs through 7 end use routes, led by 'Glassware, Ceramics &amp; Home Goods' at</a:t>
            </a:r>
          </a:p>
        </p:txBody>
      </p:sp>
      <p:pic>
        <p:nvPicPr>
          <p:cNvPr id="108" name="Picture 107" descr="lock.png"/>
          <p:cNvPicPr>
            <a:picLocks noChangeAspect="1"/>
          </p:cNvPicPr>
          <p:nvPr/>
        </p:nvPicPr>
        <p:blipFill>
          <a:blip r:embed="rId4"/>
          <a:stretch>
            <a:fillRect/>
          </a:stretch>
        </p:blipFill>
        <p:spPr>
          <a:xfrm>
            <a:off x="5116753" y="3129808"/>
            <a:ext cx="128699" cy="187198"/>
          </a:xfrm>
          <a:prstGeom prst="rect">
            <a:avLst/>
          </a:prstGeom>
        </p:spPr>
      </p:pic>
      <p:sp>
        <p:nvSpPr>
          <p:cNvPr id="109" name="TextBox 108"/>
          <p:cNvSpPr txBox="1"/>
          <p:nvPr/>
        </p:nvSpPr>
        <p:spPr>
          <a:xfrm>
            <a:off x="5284248" y="3139587"/>
            <a:ext cx="1381249" cy="186689"/>
          </a:xfrm>
          <a:prstGeom prst="rect">
            <a:avLst/>
          </a:prstGeom>
          <a:noFill/>
        </p:spPr>
        <p:txBody>
          <a:bodyPr wrap="none" lIns="0" tIns="0" rIns="0" bIns="0">
            <a:spAutoFit/>
          </a:bodyPr>
          <a:lstStyle/>
          <a:p>
            <a:r>
              <a:rPr sz="1100" b="0">
                <a:solidFill>
                  <a:srgbClr val="2E2E2E"/>
                </a:solidFill>
                <a:latin typeface="Calibri"/>
              </a:rPr>
              <a:t>and with 'Electronics &amp;</a:t>
            </a:r>
          </a:p>
        </p:txBody>
      </p:sp>
      <p:sp>
        <p:nvSpPr>
          <p:cNvPr id="110" name="TextBox 109"/>
          <p:cNvSpPr txBox="1"/>
          <p:nvPr/>
        </p:nvSpPr>
        <p:spPr>
          <a:xfrm>
            <a:off x="209550" y="3307227"/>
            <a:ext cx="1672654" cy="186689"/>
          </a:xfrm>
          <a:prstGeom prst="rect">
            <a:avLst/>
          </a:prstGeom>
          <a:noFill/>
        </p:spPr>
        <p:txBody>
          <a:bodyPr wrap="none" lIns="0" tIns="0" rIns="0" bIns="0">
            <a:spAutoFit/>
          </a:bodyPr>
          <a:lstStyle/>
          <a:p>
            <a:r>
              <a:rPr sz="1100" b="0">
                <a:solidFill>
                  <a:srgbClr val="2E2E2E"/>
                </a:solidFill>
                <a:latin typeface="Calibri"/>
              </a:rPr>
              <a:t>Electrical' growing fastest at</a:t>
            </a:r>
          </a:p>
        </p:txBody>
      </p:sp>
      <p:pic>
        <p:nvPicPr>
          <p:cNvPr id="111" name="Picture 110" descr="lock.png"/>
          <p:cNvPicPr>
            <a:picLocks noChangeAspect="1"/>
          </p:cNvPicPr>
          <p:nvPr/>
        </p:nvPicPr>
        <p:blipFill>
          <a:blip r:embed="rId4"/>
          <a:stretch>
            <a:fillRect/>
          </a:stretch>
        </p:blipFill>
        <p:spPr>
          <a:xfrm>
            <a:off x="1830256" y="3297448"/>
            <a:ext cx="128699" cy="187198"/>
          </a:xfrm>
          <a:prstGeom prst="rect">
            <a:avLst/>
          </a:prstGeom>
        </p:spPr>
      </p:pic>
      <p:sp>
        <p:nvSpPr>
          <p:cNvPr id="112" name="TextBox 111"/>
          <p:cNvSpPr txBox="1"/>
          <p:nvPr/>
        </p:nvSpPr>
        <p:spPr>
          <a:xfrm>
            <a:off x="1997751" y="3307227"/>
            <a:ext cx="111397" cy="186689"/>
          </a:xfrm>
          <a:prstGeom prst="rect">
            <a:avLst/>
          </a:prstGeom>
          <a:noFill/>
        </p:spPr>
        <p:txBody>
          <a:bodyPr wrap="none" lIns="0" tIns="0" rIns="0" bIns="0">
            <a:spAutoFit/>
          </a:bodyPr>
          <a:lstStyle/>
          <a:p>
            <a:r>
              <a:rPr sz="1100" b="0">
                <a:solidFill>
                  <a:srgbClr val="2E2E2E"/>
                </a:solidFill>
                <a:latin typeface="Calibri"/>
              </a:rPr>
              <a:t>.</a:t>
            </a:r>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Restraints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142875" y="1025515"/>
            <a:ext cx="2038350" cy="255552"/>
          </a:xfrm>
          <a:prstGeom prst="rect">
            <a:avLst/>
          </a:prstGeom>
          <a:noFill/>
        </p:spPr>
        <p:txBody>
          <a:bodyPr wrap="square" lIns="28575" tIns="9525" rIns="2857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276225" y="1390589"/>
            <a:ext cx="9267825" cy="255552"/>
          </a:xfrm>
          <a:prstGeom prst="rect">
            <a:avLst/>
          </a:prstGeom>
          <a:noFill/>
        </p:spPr>
        <p:txBody>
          <a:bodyPr wrap="square" lIns="28575" tIns="9525" rIns="28575" bIns="9525" anchor="ctr">
            <a:spAutoFit/>
          </a:bodyPr>
          <a:lstStyle/>
          <a:p>
            <a:pPr algn="l"/>
            <a:r>
              <a:rPr sz="1100" b="1">
                <a:solidFill>
                  <a:srgbClr val="0B2E4A"/>
                </a:solidFill>
                <a:latin typeface="Calibri"/>
              </a:rPr>
              <a:t>Die-Cut &amp; Folded Partitions (H-dividers, tube/cell inserts)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tIns="9525" rIns="28575" bIns="9525" anchor="ctr">
            <a:spAutoFit/>
          </a:bodyPr>
          <a:lstStyle/>
          <a:p>
            <a:pPr algn="l">
              <a:lnSpc>
                <a:spcPct val="115000"/>
              </a:lnSpc>
            </a:pPr>
            <a:endParaRPr/>
          </a:p>
        </p:txBody>
      </p:sp>
      <p:sp>
        <p:nvSpPr>
          <p:cNvPr id="16" name="TextBox 15"/>
          <p:cNvSpPr txBox="1"/>
          <p:nvPr/>
        </p:nvSpPr>
        <p:spPr>
          <a:xfrm>
            <a:off x="9810750" y="1390589"/>
            <a:ext cx="2238375" cy="365074"/>
          </a:xfrm>
          <a:prstGeom prst="rect">
            <a:avLst/>
          </a:prstGeom>
          <a:noFill/>
        </p:spPr>
        <p:txBody>
          <a:bodyPr wrap="square" lIns="28575" tIns="9525" rIns="2857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9810750" y="1938200"/>
            <a:ext cx="990600" cy="310313"/>
          </a:xfrm>
          <a:prstGeom prst="rect">
            <a:avLst/>
          </a:prstGeom>
          <a:noFill/>
        </p:spPr>
        <p:txBody>
          <a:bodyPr wrap="square" lIns="28575" tIns="9525" rIns="2857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0896600" y="1938200"/>
            <a:ext cx="990600" cy="310313"/>
          </a:xfrm>
          <a:prstGeom prst="rect">
            <a:avLst/>
          </a:prstGeom>
          <a:noFill/>
        </p:spPr>
        <p:txBody>
          <a:bodyPr wrap="square" lIns="28575" tIns="9525" rIns="2857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9810750" y="2458430"/>
            <a:ext cx="990600" cy="310313"/>
          </a:xfrm>
          <a:prstGeom prst="rect">
            <a:avLst/>
          </a:prstGeom>
          <a:noFill/>
        </p:spPr>
        <p:txBody>
          <a:bodyPr wrap="square" lIns="28575" tIns="9525" rIns="2857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896600" y="2458430"/>
            <a:ext cx="990600" cy="310313"/>
          </a:xfrm>
          <a:prstGeom prst="rect">
            <a:avLst/>
          </a:prstGeom>
          <a:noFill/>
        </p:spPr>
        <p:txBody>
          <a:bodyPr wrap="square" lIns="28575" tIns="9525" rIns="2857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76225" y="3142944"/>
            <a:ext cx="9267825" cy="255552"/>
          </a:xfrm>
          <a:prstGeom prst="rect">
            <a:avLst/>
          </a:prstGeom>
          <a:noFill/>
        </p:spPr>
        <p:txBody>
          <a:bodyPr wrap="square" lIns="28575" tIns="9525" rIns="28575" bIns="9525" anchor="ctr">
            <a:spAutoFit/>
          </a:bodyPr>
          <a:lstStyle/>
          <a:p>
            <a:pPr algn="l"/>
            <a:r>
              <a:rPr sz="1100" b="1">
                <a:solidFill>
                  <a:srgbClr val="0B2E4A"/>
                </a:solidFill>
                <a:latin typeface="Calibri"/>
              </a:rPr>
              <a:t>Uneven Region Performance Caps the Blended Rate</a:t>
            </a:r>
          </a:p>
        </p:txBody>
      </p:sp>
      <p:sp>
        <p:nvSpPr>
          <p:cNvPr id="32" name="TextBox 31"/>
          <p:cNvSpPr txBox="1"/>
          <p:nvPr/>
        </p:nvSpPr>
        <p:spPr>
          <a:xfrm>
            <a:off x="161925" y="3453257"/>
            <a:ext cx="9439275" cy="593245"/>
          </a:xfrm>
          <a:prstGeom prst="rect">
            <a:avLst/>
          </a:prstGeom>
          <a:noFill/>
        </p:spPr>
        <p:txBody>
          <a:bodyPr wrap="square" lIns="28575" tIns="9525" rIns="28575" bIns="9525" anchor="ctr">
            <a:spAutoFit/>
          </a:bodyPr>
          <a:lstStyle/>
          <a:p>
            <a:pPr algn="l">
              <a:lnSpc>
                <a:spcPct val="115000"/>
              </a:lnSpc>
            </a:pPr>
            <a:endParaRPr/>
          </a:p>
        </p:txBody>
      </p:sp>
      <p:sp>
        <p:nvSpPr>
          <p:cNvPr id="33" name="TextBox 32"/>
          <p:cNvSpPr txBox="1"/>
          <p:nvPr/>
        </p:nvSpPr>
        <p:spPr>
          <a:xfrm>
            <a:off x="9810750" y="3142944"/>
            <a:ext cx="2238375" cy="365074"/>
          </a:xfrm>
          <a:prstGeom prst="rect">
            <a:avLst/>
          </a:prstGeom>
          <a:noFill/>
        </p:spPr>
        <p:txBody>
          <a:bodyPr wrap="square" lIns="28575" tIns="9525" rIns="2857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9810750" y="3690555"/>
            <a:ext cx="990600" cy="310313"/>
          </a:xfrm>
          <a:prstGeom prst="rect">
            <a:avLst/>
          </a:prstGeom>
          <a:noFill/>
        </p:spPr>
        <p:txBody>
          <a:bodyPr wrap="square" lIns="28575" tIns="9525" rIns="28575" bIns="9525" anchor="ctr">
            <a:spAutoFit/>
          </a:bodyPr>
          <a:lstStyle/>
          <a:p>
            <a:pPr algn="ctr"/>
            <a:r>
              <a:rPr sz="1100" b="1">
                <a:solidFill>
                  <a:srgbClr val="9AA0A6"/>
                </a:solidFill>
                <a:latin typeface="Calibri"/>
              </a:rPr>
              <a:t>Low</a:t>
            </a:r>
          </a:p>
        </p:txBody>
      </p:sp>
      <p:sp>
        <p:nvSpPr>
          <p:cNvPr id="37" name="TextBox 36"/>
          <p:cNvSpPr txBox="1"/>
          <p:nvPr/>
        </p:nvSpPr>
        <p:spPr>
          <a:xfrm>
            <a:off x="10896600" y="3526271"/>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10896600" y="3690555"/>
            <a:ext cx="990600" cy="310313"/>
          </a:xfrm>
          <a:prstGeom prst="rect">
            <a:avLst/>
          </a:prstGeom>
          <a:noFill/>
        </p:spPr>
        <p:txBody>
          <a:bodyPr wrap="square" lIns="28575" tIns="9525" rIns="28575" bIns="9525" anchor="ctr">
            <a:spAutoFit/>
          </a:bodyPr>
          <a:lstStyle/>
          <a:p>
            <a:pPr algn="ctr"/>
            <a:r>
              <a:rPr sz="1100" b="1">
                <a:solidFill>
                  <a:srgbClr val="9AA0A6"/>
                </a:solidFill>
                <a:latin typeface="Calibri"/>
              </a:rPr>
              <a:t>Low</a:t>
            </a:r>
          </a:p>
        </p:txBody>
      </p:sp>
      <p:sp>
        <p:nvSpPr>
          <p:cNvPr id="40" name="TextBox 39"/>
          <p:cNvSpPr txBox="1"/>
          <p:nvPr/>
        </p:nvSpPr>
        <p:spPr>
          <a:xfrm>
            <a:off x="9810750" y="4046502"/>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9810750" y="4210785"/>
            <a:ext cx="990600" cy="310313"/>
          </a:xfrm>
          <a:prstGeom prst="rect">
            <a:avLst/>
          </a:prstGeom>
          <a:noFill/>
        </p:spPr>
        <p:txBody>
          <a:bodyPr wrap="square" lIns="28575" tIns="9525" rIns="28575" bIns="9525" anchor="ctr">
            <a:spAutoFit/>
          </a:bodyPr>
          <a:lstStyle/>
          <a:p>
            <a:pPr algn="ctr"/>
            <a:r>
              <a:rPr sz="1100" b="1">
                <a:solidFill>
                  <a:srgbClr val="9AA0A6"/>
                </a:solidFill>
                <a:latin typeface="Calibri"/>
              </a:rPr>
              <a:t>Low</a:t>
            </a:r>
          </a:p>
        </p:txBody>
      </p:sp>
      <p:sp>
        <p:nvSpPr>
          <p:cNvPr id="43" name="TextBox 42"/>
          <p:cNvSpPr txBox="1"/>
          <p:nvPr/>
        </p:nvSpPr>
        <p:spPr>
          <a:xfrm>
            <a:off x="10896600" y="4046502"/>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10896600" y="4210785"/>
            <a:ext cx="990600" cy="310313"/>
          </a:xfrm>
          <a:prstGeom prst="rect">
            <a:avLst/>
          </a:prstGeom>
          <a:noFill/>
        </p:spPr>
        <p:txBody>
          <a:bodyPr wrap="square" lIns="28575" tIns="9525" rIns="28575" bIns="9525" anchor="ctr">
            <a:spAutoFit/>
          </a:bodyPr>
          <a:lstStyle/>
          <a:p>
            <a:pPr algn="ctr"/>
            <a:r>
              <a:rPr sz="1100" b="1">
                <a:solidFill>
                  <a:srgbClr val="9AA0A6"/>
                </a:solidFill>
                <a:latin typeface="Calibri"/>
              </a:rPr>
              <a:t>Low</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76225" y="4895299"/>
            <a:ext cx="9267825" cy="255552"/>
          </a:xfrm>
          <a:prstGeom prst="rect">
            <a:avLst/>
          </a:prstGeom>
          <a:noFill/>
        </p:spPr>
        <p:txBody>
          <a:bodyPr wrap="square" lIns="28575" tIns="9525" rIns="2857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tIns="9525" rIns="28575" bIns="9525" anchor="ctr">
            <a:spAutoFit/>
          </a:bodyPr>
          <a:lstStyle/>
          <a:p>
            <a:pPr algn="l">
              <a:lnSpc>
                <a:spcPct val="115000"/>
              </a:lnSpc>
            </a:pPr>
            <a:endParaRPr/>
          </a:p>
        </p:txBody>
      </p:sp>
      <p:sp>
        <p:nvSpPr>
          <p:cNvPr id="50" name="TextBox 49"/>
          <p:cNvSpPr txBox="1"/>
          <p:nvPr/>
        </p:nvSpPr>
        <p:spPr>
          <a:xfrm>
            <a:off x="9810750" y="4895299"/>
            <a:ext cx="2238375" cy="365074"/>
          </a:xfrm>
          <a:prstGeom prst="rect">
            <a:avLst/>
          </a:prstGeom>
          <a:noFill/>
        </p:spPr>
        <p:txBody>
          <a:bodyPr wrap="square" lIns="28575" tIns="9525" rIns="2857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9810750" y="5442910"/>
            <a:ext cx="990600" cy="310313"/>
          </a:xfrm>
          <a:prstGeom prst="rect">
            <a:avLst/>
          </a:prstGeom>
          <a:noFill/>
        </p:spPr>
        <p:txBody>
          <a:bodyPr wrap="square" lIns="28575" tIns="9525" rIns="2857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10896600" y="5442910"/>
            <a:ext cx="990600" cy="310313"/>
          </a:xfrm>
          <a:prstGeom prst="rect">
            <a:avLst/>
          </a:prstGeom>
          <a:noFill/>
        </p:spPr>
        <p:txBody>
          <a:bodyPr wrap="square" lIns="28575" tIns="9525" rIns="2857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9810750" y="5963140"/>
            <a:ext cx="990600" cy="310313"/>
          </a:xfrm>
          <a:prstGeom prst="rect">
            <a:avLst/>
          </a:prstGeom>
          <a:noFill/>
        </p:spPr>
        <p:txBody>
          <a:bodyPr wrap="square" lIns="28575" tIns="9525" rIns="2857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10896600" y="5963140"/>
            <a:ext cx="990600" cy="310313"/>
          </a:xfrm>
          <a:prstGeom prst="rect">
            <a:avLst/>
          </a:prstGeom>
          <a:noFill/>
        </p:spPr>
        <p:txBody>
          <a:bodyPr wrap="square" lIns="28575" tIns="9525" rIns="2857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53513"/>
            <a:ext cx="4163759" cy="186689"/>
          </a:xfrm>
          <a:prstGeom prst="rect">
            <a:avLst/>
          </a:prstGeom>
          <a:noFill/>
        </p:spPr>
        <p:txBody>
          <a:bodyPr wrap="none" lIns="0" tIns="0" rIns="0" bIns="0">
            <a:spAutoFit/>
          </a:bodyPr>
          <a:lstStyle/>
          <a:p>
            <a:r>
              <a:rPr sz="1100" b="0">
                <a:solidFill>
                  <a:srgbClr val="2E2E2E"/>
                </a:solidFill>
                <a:latin typeface="Calibri"/>
              </a:rPr>
              <a:t>'Die-Cut &amp; Folded Partitions (H-dividers, tube/cell inserts)' grows at only</a:t>
            </a:r>
          </a:p>
        </p:txBody>
      </p:sp>
      <p:pic>
        <p:nvPicPr>
          <p:cNvPr id="65" name="Picture 64" descr="lock.png"/>
          <p:cNvPicPr>
            <a:picLocks noChangeAspect="1"/>
          </p:cNvPicPr>
          <p:nvPr/>
        </p:nvPicPr>
        <p:blipFill>
          <a:blip r:embed="rId4"/>
          <a:stretch>
            <a:fillRect/>
          </a:stretch>
        </p:blipFill>
        <p:spPr>
          <a:xfrm>
            <a:off x="4302311" y="1743734"/>
            <a:ext cx="128699" cy="187198"/>
          </a:xfrm>
          <a:prstGeom prst="rect">
            <a:avLst/>
          </a:prstGeom>
        </p:spPr>
      </p:pic>
      <p:sp>
        <p:nvSpPr>
          <p:cNvPr id="66" name="TextBox 65"/>
          <p:cNvSpPr txBox="1"/>
          <p:nvPr/>
        </p:nvSpPr>
        <p:spPr>
          <a:xfrm>
            <a:off x="4469806" y="1753513"/>
            <a:ext cx="4683251" cy="186689"/>
          </a:xfrm>
          <a:prstGeom prst="rect">
            <a:avLst/>
          </a:prstGeom>
          <a:noFill/>
        </p:spPr>
        <p:txBody>
          <a:bodyPr wrap="none" lIns="0" tIns="0" rIns="0" bIns="0">
            <a:spAutoFit/>
          </a:bodyPr>
          <a:lstStyle/>
          <a:p>
            <a:r>
              <a:rPr sz="1100" b="0">
                <a:solidFill>
                  <a:srgbClr val="2E2E2E"/>
                </a:solidFill>
                <a:latin typeface="Calibri"/>
              </a:rPr>
              <a:t>CAGR against the market's 5.0%, a -141 BPS gap, and 'Die-Cut &amp; Folded Partitions</a:t>
            </a:r>
          </a:p>
        </p:txBody>
      </p:sp>
      <p:sp>
        <p:nvSpPr>
          <p:cNvPr id="67" name="TextBox 66"/>
          <p:cNvSpPr txBox="1"/>
          <p:nvPr/>
        </p:nvSpPr>
        <p:spPr>
          <a:xfrm>
            <a:off x="190500" y="1921153"/>
            <a:ext cx="2404169" cy="186689"/>
          </a:xfrm>
          <a:prstGeom prst="rect">
            <a:avLst/>
          </a:prstGeom>
          <a:noFill/>
        </p:spPr>
        <p:txBody>
          <a:bodyPr wrap="none" lIns="0" tIns="0" rIns="0" bIns="0">
            <a:spAutoFit/>
          </a:bodyPr>
          <a:lstStyle/>
          <a:p>
            <a:r>
              <a:rPr sz="1100" b="0">
                <a:solidFill>
                  <a:srgbClr val="2E2E2E"/>
                </a:solidFill>
                <a:latin typeface="Calibri"/>
              </a:rPr>
              <a:t>(H-dividers, tube/cell inserts)' surrenders</a:t>
            </a:r>
          </a:p>
        </p:txBody>
      </p:sp>
      <p:pic>
        <p:nvPicPr>
          <p:cNvPr id="68" name="Picture 67" descr="lock.png"/>
          <p:cNvPicPr>
            <a:picLocks noChangeAspect="1"/>
          </p:cNvPicPr>
          <p:nvPr/>
        </p:nvPicPr>
        <p:blipFill>
          <a:blip r:embed="rId4"/>
          <a:stretch>
            <a:fillRect/>
          </a:stretch>
        </p:blipFill>
        <p:spPr>
          <a:xfrm>
            <a:off x="2542721" y="1911374"/>
            <a:ext cx="128699" cy="187198"/>
          </a:xfrm>
          <a:prstGeom prst="rect">
            <a:avLst/>
          </a:prstGeom>
        </p:spPr>
      </p:pic>
      <p:sp>
        <p:nvSpPr>
          <p:cNvPr id="69" name="TextBox 68"/>
          <p:cNvSpPr txBox="1"/>
          <p:nvPr/>
        </p:nvSpPr>
        <p:spPr>
          <a:xfrm>
            <a:off x="2710216" y="1921153"/>
            <a:ext cx="6515496" cy="186689"/>
          </a:xfrm>
          <a:prstGeom prst="rect">
            <a:avLst/>
          </a:prstGeom>
          <a:noFill/>
        </p:spPr>
        <p:txBody>
          <a:bodyPr wrap="none" lIns="0" tIns="0" rIns="0" bIns="0">
            <a:spAutoFit/>
          </a:bodyPr>
          <a:lstStyle/>
          <a:p>
            <a:r>
              <a:rPr sz="1100" b="0">
                <a:solidFill>
                  <a:srgbClr val="2E2E2E"/>
                </a:solidFill>
                <a:latin typeface="Calibri"/>
              </a:rPr>
              <a:t>BPS of partition type share between 2026 and 2036. Because these lines still carry meaningful volume, the drag is</a:t>
            </a:r>
          </a:p>
        </p:txBody>
      </p:sp>
      <p:sp>
        <p:nvSpPr>
          <p:cNvPr id="70" name="TextBox 69"/>
          <p:cNvSpPr txBox="1"/>
          <p:nvPr/>
        </p:nvSpPr>
        <p:spPr>
          <a:xfrm>
            <a:off x="190500" y="2088793"/>
            <a:ext cx="9215363" cy="186689"/>
          </a:xfrm>
          <a:prstGeom prst="rect">
            <a:avLst/>
          </a:prstGeom>
          <a:noFill/>
        </p:spPr>
        <p:txBody>
          <a:bodyPr wrap="none" lIns="0" tIns="0" rIns="0" bIns="0">
            <a:spAutoFit/>
          </a:bodyPr>
          <a:lstStyle/>
          <a:p>
            <a:r>
              <a:rPr sz="1100" b="0">
                <a:solidFill>
                  <a:srgbClr val="2E2E2E"/>
                </a:solidFill>
                <a:latin typeface="Calibri"/>
              </a:rPr>
              <a:t>absorbed by the whole category: blended growth sits below what the leading lines achieve on their own. Rationalising or repositioning the lagging end of a 3-line</a:t>
            </a:r>
          </a:p>
        </p:txBody>
      </p:sp>
      <p:sp>
        <p:nvSpPr>
          <p:cNvPr id="71" name="TextBox 70"/>
          <p:cNvSpPr txBox="1"/>
          <p:nvPr/>
        </p:nvSpPr>
        <p:spPr>
          <a:xfrm>
            <a:off x="190500" y="2256433"/>
            <a:ext cx="4103216" cy="186689"/>
          </a:xfrm>
          <a:prstGeom prst="rect">
            <a:avLst/>
          </a:prstGeom>
          <a:noFill/>
        </p:spPr>
        <p:txBody>
          <a:bodyPr wrap="none" lIns="0" tIns="0" rIns="0" bIns="0">
            <a:spAutoFit/>
          </a:bodyPr>
          <a:lstStyle/>
          <a:p>
            <a:r>
              <a:rPr sz="1100" b="0">
                <a:solidFill>
                  <a:srgbClr val="2E2E2E"/>
                </a:solidFill>
                <a:latin typeface="Calibri"/>
              </a:rPr>
              <a:t>portfolio is therefore a precondition for realising the headline forecast.</a:t>
            </a:r>
          </a:p>
        </p:txBody>
      </p:sp>
      <p:sp>
        <p:nvSpPr>
          <p:cNvPr id="72" name="TextBox 71"/>
          <p:cNvSpPr txBox="1"/>
          <p:nvPr/>
        </p:nvSpPr>
        <p:spPr>
          <a:xfrm>
            <a:off x="190500" y="3498419"/>
            <a:ext cx="1731590" cy="186689"/>
          </a:xfrm>
          <a:prstGeom prst="rect">
            <a:avLst/>
          </a:prstGeom>
          <a:noFill/>
        </p:spPr>
        <p:txBody>
          <a:bodyPr wrap="none" lIns="0" tIns="0" rIns="0" bIns="0">
            <a:spAutoFit/>
          </a:bodyPr>
          <a:lstStyle/>
          <a:p>
            <a:r>
              <a:rPr sz="1100" b="0">
                <a:solidFill>
                  <a:srgbClr val="2E2E2E"/>
                </a:solidFill>
                <a:latin typeface="Calibri"/>
              </a:rPr>
              <a:t>'North America' grows at just</a:t>
            </a:r>
          </a:p>
        </p:txBody>
      </p:sp>
      <p:pic>
        <p:nvPicPr>
          <p:cNvPr id="73" name="Picture 72" descr="lock.png"/>
          <p:cNvPicPr>
            <a:picLocks noChangeAspect="1"/>
          </p:cNvPicPr>
          <p:nvPr/>
        </p:nvPicPr>
        <p:blipFill>
          <a:blip r:embed="rId4"/>
          <a:stretch>
            <a:fillRect/>
          </a:stretch>
        </p:blipFill>
        <p:spPr>
          <a:xfrm>
            <a:off x="1870142" y="3488640"/>
            <a:ext cx="128699" cy="187198"/>
          </a:xfrm>
          <a:prstGeom prst="rect">
            <a:avLst/>
          </a:prstGeom>
        </p:spPr>
      </p:pic>
      <p:sp>
        <p:nvSpPr>
          <p:cNvPr id="74" name="TextBox 73"/>
          <p:cNvSpPr txBox="1"/>
          <p:nvPr/>
        </p:nvSpPr>
        <p:spPr>
          <a:xfrm>
            <a:off x="2037637" y="3498419"/>
            <a:ext cx="469907" cy="186689"/>
          </a:xfrm>
          <a:prstGeom prst="rect">
            <a:avLst/>
          </a:prstGeom>
          <a:noFill/>
        </p:spPr>
        <p:txBody>
          <a:bodyPr wrap="none" lIns="0" tIns="0" rIns="0" bIns="0">
            <a:spAutoFit/>
          </a:bodyPr>
          <a:lstStyle/>
          <a:p>
            <a:r>
              <a:rPr sz="1100" b="0">
                <a:solidFill>
                  <a:srgbClr val="2E2E2E"/>
                </a:solidFill>
                <a:latin typeface="Calibri"/>
              </a:rPr>
              <a:t>CAGR -</a:t>
            </a:r>
          </a:p>
        </p:txBody>
      </p:sp>
      <p:pic>
        <p:nvPicPr>
          <p:cNvPr id="75" name="Picture 74" descr="lock.png"/>
          <p:cNvPicPr>
            <a:picLocks noChangeAspect="1"/>
          </p:cNvPicPr>
          <p:nvPr/>
        </p:nvPicPr>
        <p:blipFill>
          <a:blip r:embed="rId4"/>
          <a:stretch>
            <a:fillRect/>
          </a:stretch>
        </p:blipFill>
        <p:spPr>
          <a:xfrm>
            <a:off x="2455597" y="3488640"/>
            <a:ext cx="128699" cy="187198"/>
          </a:xfrm>
          <a:prstGeom prst="rect">
            <a:avLst/>
          </a:prstGeom>
        </p:spPr>
      </p:pic>
      <p:sp>
        <p:nvSpPr>
          <p:cNvPr id="76" name="TextBox 75"/>
          <p:cNvSpPr txBox="1"/>
          <p:nvPr/>
        </p:nvSpPr>
        <p:spPr>
          <a:xfrm>
            <a:off x="2623093" y="3498419"/>
            <a:ext cx="6616997" cy="186689"/>
          </a:xfrm>
          <a:prstGeom prst="rect">
            <a:avLst/>
          </a:prstGeom>
          <a:noFill/>
        </p:spPr>
        <p:txBody>
          <a:bodyPr wrap="none" lIns="0" tIns="0" rIns="0" bIns="0">
            <a:spAutoFit/>
          </a:bodyPr>
          <a:lstStyle/>
          <a:p>
            <a:r>
              <a:rPr sz="1100" b="0">
                <a:solidFill>
                  <a:srgbClr val="2E2E2E"/>
                </a:solidFill>
                <a:latin typeface="Calibri"/>
              </a:rPr>
              <a:t>BPS against the market and 3 of 6 regions sit below the market pace altogether. Demand is therefore not uniformly</a:t>
            </a:r>
          </a:p>
        </p:txBody>
      </p:sp>
      <p:sp>
        <p:nvSpPr>
          <p:cNvPr id="77" name="TextBox 76"/>
          <p:cNvSpPr txBox="1"/>
          <p:nvPr/>
        </p:nvSpPr>
        <p:spPr>
          <a:xfrm>
            <a:off x="190500" y="3666059"/>
            <a:ext cx="8618091" cy="186689"/>
          </a:xfrm>
          <a:prstGeom prst="rect">
            <a:avLst/>
          </a:prstGeom>
          <a:noFill/>
        </p:spPr>
        <p:txBody>
          <a:bodyPr wrap="none" lIns="0" tIns="0" rIns="0" bIns="0">
            <a:spAutoFit/>
          </a:bodyPr>
          <a:lstStyle/>
          <a:p>
            <a:r>
              <a:rPr sz="1100" b="0">
                <a:solidFill>
                  <a:srgbClr val="2E2E2E"/>
                </a:solidFill>
                <a:latin typeface="Calibri"/>
              </a:rPr>
              <a:t>available: suppliers carrying a broad geographic footprint fund presence in slow regions out of returns earned in the fast ones. With 'North America' at</a:t>
            </a:r>
          </a:p>
        </p:txBody>
      </p:sp>
      <p:pic>
        <p:nvPicPr>
          <p:cNvPr id="78" name="Picture 77" descr="lock.png"/>
          <p:cNvPicPr>
            <a:picLocks noChangeAspect="1"/>
          </p:cNvPicPr>
          <p:nvPr/>
        </p:nvPicPr>
        <p:blipFill>
          <a:blip r:embed="rId4"/>
          <a:stretch>
            <a:fillRect/>
          </a:stretch>
        </p:blipFill>
        <p:spPr>
          <a:xfrm>
            <a:off x="8756642" y="3656280"/>
            <a:ext cx="128699" cy="187198"/>
          </a:xfrm>
          <a:prstGeom prst="rect">
            <a:avLst/>
          </a:prstGeom>
        </p:spPr>
      </p:pic>
      <p:sp>
        <p:nvSpPr>
          <p:cNvPr id="79" name="TextBox 78"/>
          <p:cNvSpPr txBox="1"/>
          <p:nvPr/>
        </p:nvSpPr>
        <p:spPr>
          <a:xfrm>
            <a:off x="8924138" y="3666059"/>
            <a:ext cx="564058" cy="186689"/>
          </a:xfrm>
          <a:prstGeom prst="rect">
            <a:avLst/>
          </a:prstGeom>
          <a:noFill/>
        </p:spPr>
        <p:txBody>
          <a:bodyPr wrap="none" lIns="0" tIns="0" rIns="0" bIns="0">
            <a:spAutoFit/>
          </a:bodyPr>
          <a:lstStyle/>
          <a:p>
            <a:r>
              <a:rPr sz="1100" b="0">
                <a:solidFill>
                  <a:srgbClr val="2E2E2E"/>
                </a:solidFill>
                <a:latin typeface="Calibri"/>
              </a:rPr>
              <a:t>of value,</a:t>
            </a:r>
          </a:p>
        </p:txBody>
      </p:sp>
      <p:sp>
        <p:nvSpPr>
          <p:cNvPr id="80" name="TextBox 79"/>
          <p:cNvSpPr txBox="1"/>
          <p:nvPr/>
        </p:nvSpPr>
        <p:spPr>
          <a:xfrm>
            <a:off x="190500" y="3833699"/>
            <a:ext cx="5170338" cy="186689"/>
          </a:xfrm>
          <a:prstGeom prst="rect">
            <a:avLst/>
          </a:prstGeom>
          <a:noFill/>
        </p:spPr>
        <p:txBody>
          <a:bodyPr wrap="none" lIns="0" tIns="0" rIns="0" bIns="0">
            <a:spAutoFit/>
          </a:bodyPr>
          <a:lstStyle/>
          <a:p>
            <a:r>
              <a:rPr sz="1100" b="0">
                <a:solidFill>
                  <a:srgbClr val="2E2E2E"/>
                </a:solidFill>
                <a:latin typeface="Calibri"/>
              </a:rPr>
              <a:t>a shortfall in a single leading region is difficult to offset elsewhere in the forecast window.</a:t>
            </a:r>
          </a:p>
        </p:txBody>
      </p:sp>
      <p:sp>
        <p:nvSpPr>
          <p:cNvPr id="81" name="TextBox 80"/>
          <p:cNvSpPr txBox="1"/>
          <p:nvPr/>
        </p:nvSpPr>
        <p:spPr>
          <a:xfrm>
            <a:off x="190500" y="5250774"/>
            <a:ext cx="3337594" cy="186689"/>
          </a:xfrm>
          <a:prstGeom prst="rect">
            <a:avLst/>
          </a:prstGeom>
          <a:noFill/>
        </p:spPr>
        <p:txBody>
          <a:bodyPr wrap="none" lIns="0" tIns="0" rIns="0" bIns="0">
            <a:spAutoFit/>
          </a:bodyPr>
          <a:lstStyle/>
          <a:p>
            <a:r>
              <a:rPr sz="1100" b="0">
                <a:solidFill>
                  <a:srgbClr val="2E2E2E"/>
                </a:solidFill>
                <a:latin typeface="Calibri"/>
              </a:rPr>
              <a:t>The market is concentrated: 'North America' accounts for</a:t>
            </a:r>
          </a:p>
        </p:txBody>
      </p:sp>
      <p:pic>
        <p:nvPicPr>
          <p:cNvPr id="82" name="Picture 81" descr="lock.png"/>
          <p:cNvPicPr>
            <a:picLocks noChangeAspect="1"/>
          </p:cNvPicPr>
          <p:nvPr/>
        </p:nvPicPr>
        <p:blipFill>
          <a:blip r:embed="rId4"/>
          <a:stretch>
            <a:fillRect/>
          </a:stretch>
        </p:blipFill>
        <p:spPr>
          <a:xfrm>
            <a:off x="3476146" y="5240995"/>
            <a:ext cx="128699" cy="187198"/>
          </a:xfrm>
          <a:prstGeom prst="rect">
            <a:avLst/>
          </a:prstGeom>
        </p:spPr>
      </p:pic>
      <p:sp>
        <p:nvSpPr>
          <p:cNvPr id="83" name="TextBox 82"/>
          <p:cNvSpPr txBox="1"/>
          <p:nvPr/>
        </p:nvSpPr>
        <p:spPr>
          <a:xfrm>
            <a:off x="3643642" y="5250774"/>
            <a:ext cx="3003078" cy="186689"/>
          </a:xfrm>
          <a:prstGeom prst="rect">
            <a:avLst/>
          </a:prstGeom>
          <a:noFill/>
        </p:spPr>
        <p:txBody>
          <a:bodyPr wrap="none" lIns="0" tIns="0" rIns="0" bIns="0">
            <a:spAutoFit/>
          </a:bodyPr>
          <a:lstStyle/>
          <a:p>
            <a:r>
              <a:rPr sz="1100" b="0">
                <a:solidFill>
                  <a:srgbClr val="2E2E2E"/>
                </a:solidFill>
                <a:latin typeface="Calibri"/>
              </a:rPr>
              <a:t>of 2036 value and the leading partition type line for</a:t>
            </a:r>
          </a:p>
        </p:txBody>
      </p:sp>
      <p:pic>
        <p:nvPicPr>
          <p:cNvPr id="84" name="Picture 83" descr="lock.png"/>
          <p:cNvPicPr>
            <a:picLocks noChangeAspect="1"/>
          </p:cNvPicPr>
          <p:nvPr/>
        </p:nvPicPr>
        <p:blipFill>
          <a:blip r:embed="rId4"/>
          <a:stretch>
            <a:fillRect/>
          </a:stretch>
        </p:blipFill>
        <p:spPr>
          <a:xfrm>
            <a:off x="6594772" y="5240995"/>
            <a:ext cx="128699" cy="187198"/>
          </a:xfrm>
          <a:prstGeom prst="rect">
            <a:avLst/>
          </a:prstGeom>
        </p:spPr>
      </p:pic>
      <p:sp>
        <p:nvSpPr>
          <p:cNvPr id="85" name="TextBox 84"/>
          <p:cNvSpPr txBox="1"/>
          <p:nvPr/>
        </p:nvSpPr>
        <p:spPr>
          <a:xfrm>
            <a:off x="6762268" y="5250774"/>
            <a:ext cx="2445058" cy="186689"/>
          </a:xfrm>
          <a:prstGeom prst="rect">
            <a:avLst/>
          </a:prstGeom>
          <a:noFill/>
        </p:spPr>
        <p:txBody>
          <a:bodyPr wrap="none" lIns="0" tIns="0" rIns="0" bIns="0">
            <a:spAutoFit/>
          </a:bodyPr>
          <a:lstStyle/>
          <a:p>
            <a:r>
              <a:rPr sz="1100" b="0">
                <a:solidFill>
                  <a:srgbClr val="2E2E2E"/>
                </a:solidFill>
                <a:latin typeface="Calibri"/>
              </a:rPr>
              <a:t>of its segment. Average realisation moves</a:t>
            </a:r>
          </a:p>
        </p:txBody>
      </p:sp>
      <p:pic>
        <p:nvPicPr>
          <p:cNvPr id="86" name="Picture 85" descr="lock.png"/>
          <p:cNvPicPr>
            <a:picLocks noChangeAspect="1"/>
          </p:cNvPicPr>
          <p:nvPr/>
        </p:nvPicPr>
        <p:blipFill>
          <a:blip r:embed="rId4"/>
          <a:stretch>
            <a:fillRect/>
          </a:stretch>
        </p:blipFill>
        <p:spPr>
          <a:xfrm>
            <a:off x="177032" y="5408635"/>
            <a:ext cx="128699" cy="187198"/>
          </a:xfrm>
          <a:prstGeom prst="rect">
            <a:avLst/>
          </a:prstGeom>
        </p:spPr>
      </p:pic>
      <p:sp>
        <p:nvSpPr>
          <p:cNvPr id="87" name="TextBox 86"/>
          <p:cNvSpPr txBox="1"/>
          <p:nvPr/>
        </p:nvSpPr>
        <p:spPr>
          <a:xfrm>
            <a:off x="344528" y="5418414"/>
            <a:ext cx="9124776" cy="186689"/>
          </a:xfrm>
          <a:prstGeom prst="rect">
            <a:avLst/>
          </a:prstGeom>
          <a:noFill/>
        </p:spPr>
        <p:txBody>
          <a:bodyPr wrap="none" lIns="0" tIns="0" rIns="0" bIns="0">
            <a:spAutoFit/>
          </a:bodyPr>
          <a:lstStyle/>
          <a:p>
            <a:r>
              <a:rPr sz="1100" b="0">
                <a:solidFill>
                  <a:srgbClr val="2E2E2E"/>
                </a:solidFill>
                <a:latin typeface="Calibri"/>
              </a:rPr>
              <a:t>a year, so cost movements cannot be passed on evenly across 6 regions. The practical constraint is the same in either case commercial terms set for the market</a:t>
            </a:r>
          </a:p>
        </p:txBody>
      </p:sp>
      <p:sp>
        <p:nvSpPr>
          <p:cNvPr id="88" name="TextBox 87"/>
          <p:cNvSpPr txBox="1"/>
          <p:nvPr/>
        </p:nvSpPr>
        <p:spPr>
          <a:xfrm>
            <a:off x="190500" y="5586054"/>
            <a:ext cx="6191894" cy="186689"/>
          </a:xfrm>
          <a:prstGeom prst="rect">
            <a:avLst/>
          </a:prstGeom>
          <a:noFill/>
        </p:spPr>
        <p:txBody>
          <a:bodyPr wrap="none" lIns="0" tIns="0" rIns="0" bIns="0">
            <a:spAutoFit/>
          </a:bodyPr>
          <a:lstStyle/>
          <a:p>
            <a:r>
              <a:rPr sz="1100" b="0">
                <a:solidFill>
                  <a:srgbClr val="2E2E2E"/>
                </a:solidFill>
                <a:latin typeface="Calibri"/>
              </a:rPr>
              <a:t>as a whole underserve part of it, and margin is lost in the mismatch rather than in the headline growth rate.</a:t>
            </a:r>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Opportunities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142875" y="1025515"/>
            <a:ext cx="2038350" cy="255552"/>
          </a:xfrm>
          <a:prstGeom prst="rect">
            <a:avLst/>
          </a:prstGeom>
          <a:noFill/>
        </p:spPr>
        <p:txBody>
          <a:bodyPr wrap="square" lIns="28575" tIns="9525" rIns="2857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276225" y="1390589"/>
            <a:ext cx="9267825" cy="255552"/>
          </a:xfrm>
          <a:prstGeom prst="rect">
            <a:avLst/>
          </a:prstGeom>
          <a:noFill/>
        </p:spPr>
        <p:txBody>
          <a:bodyPr wrap="square" lIns="28575" tIns="9525" rIns="2857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tIns="9525" rIns="28575" bIns="9525" anchor="ctr">
            <a:spAutoFit/>
          </a:bodyPr>
          <a:lstStyle/>
          <a:p>
            <a:pPr algn="l">
              <a:lnSpc>
                <a:spcPct val="115000"/>
              </a:lnSpc>
            </a:pPr>
            <a:endParaRPr/>
          </a:p>
        </p:txBody>
      </p:sp>
      <p:sp>
        <p:nvSpPr>
          <p:cNvPr id="16" name="TextBox 15"/>
          <p:cNvSpPr txBox="1"/>
          <p:nvPr/>
        </p:nvSpPr>
        <p:spPr>
          <a:xfrm>
            <a:off x="9810750" y="1390589"/>
            <a:ext cx="2238375" cy="365074"/>
          </a:xfrm>
          <a:prstGeom prst="rect">
            <a:avLst/>
          </a:prstGeom>
          <a:noFill/>
        </p:spPr>
        <p:txBody>
          <a:bodyPr wrap="square" lIns="28575" tIns="9525" rIns="2857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9810750" y="1938200"/>
            <a:ext cx="990600" cy="310313"/>
          </a:xfrm>
          <a:prstGeom prst="rect">
            <a:avLst/>
          </a:prstGeom>
          <a:noFill/>
        </p:spPr>
        <p:txBody>
          <a:bodyPr wrap="square" lIns="28575" tIns="9525" rIns="2857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0896600" y="1938200"/>
            <a:ext cx="990600" cy="310313"/>
          </a:xfrm>
          <a:prstGeom prst="rect">
            <a:avLst/>
          </a:prstGeom>
          <a:noFill/>
        </p:spPr>
        <p:txBody>
          <a:bodyPr wrap="square" lIns="28575" tIns="9525" rIns="2857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9810750" y="2458430"/>
            <a:ext cx="990600" cy="310313"/>
          </a:xfrm>
          <a:prstGeom prst="rect">
            <a:avLst/>
          </a:prstGeom>
          <a:noFill/>
        </p:spPr>
        <p:txBody>
          <a:bodyPr wrap="square" lIns="28575" tIns="9525" rIns="2857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0896600" y="2458430"/>
            <a:ext cx="990600" cy="310313"/>
          </a:xfrm>
          <a:prstGeom prst="rect">
            <a:avLst/>
          </a:prstGeom>
          <a:noFill/>
        </p:spPr>
        <p:txBody>
          <a:bodyPr wrap="square" lIns="28575" tIns="9525" rIns="2857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76225" y="3142944"/>
            <a:ext cx="9267825" cy="255552"/>
          </a:xfrm>
          <a:prstGeom prst="rect">
            <a:avLst/>
          </a:prstGeom>
          <a:noFill/>
        </p:spPr>
        <p:txBody>
          <a:bodyPr wrap="square" lIns="28575" tIns="9525" rIns="28575" bIns="9525" anchor="ctr">
            <a:spAutoFit/>
          </a:bodyPr>
          <a:lstStyle/>
          <a:p>
            <a:pPr algn="l"/>
            <a:r>
              <a:rPr sz="1100" b="1">
                <a:solidFill>
                  <a:srgbClr val="0B2E4A"/>
                </a:solidFill>
                <a:latin typeface="Calibri"/>
              </a:rPr>
              <a:t>Saudi Arabia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tIns="9525" rIns="28575" bIns="9525" anchor="ctr">
            <a:spAutoFit/>
          </a:bodyPr>
          <a:lstStyle/>
          <a:p>
            <a:pPr algn="l">
              <a:lnSpc>
                <a:spcPct val="115000"/>
              </a:lnSpc>
            </a:pPr>
            <a:endParaRPr/>
          </a:p>
        </p:txBody>
      </p:sp>
      <p:sp>
        <p:nvSpPr>
          <p:cNvPr id="33" name="TextBox 32"/>
          <p:cNvSpPr txBox="1"/>
          <p:nvPr/>
        </p:nvSpPr>
        <p:spPr>
          <a:xfrm>
            <a:off x="9810750" y="3142944"/>
            <a:ext cx="2238375" cy="365074"/>
          </a:xfrm>
          <a:prstGeom prst="rect">
            <a:avLst/>
          </a:prstGeom>
          <a:noFill/>
        </p:spPr>
        <p:txBody>
          <a:bodyPr wrap="square" lIns="28575" tIns="9525" rIns="2857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9810750" y="3690555"/>
            <a:ext cx="990600" cy="310313"/>
          </a:xfrm>
          <a:prstGeom prst="rect">
            <a:avLst/>
          </a:prstGeom>
          <a:noFill/>
        </p:spPr>
        <p:txBody>
          <a:bodyPr wrap="square" lIns="28575" tIns="9525" rIns="2857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10896600" y="3690555"/>
            <a:ext cx="990600" cy="310313"/>
          </a:xfrm>
          <a:prstGeom prst="rect">
            <a:avLst/>
          </a:prstGeom>
          <a:noFill/>
        </p:spPr>
        <p:txBody>
          <a:bodyPr wrap="square" lIns="28575" tIns="9525" rIns="2857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9810750" y="4210785"/>
            <a:ext cx="990600" cy="310313"/>
          </a:xfrm>
          <a:prstGeom prst="rect">
            <a:avLst/>
          </a:prstGeom>
          <a:noFill/>
        </p:spPr>
        <p:txBody>
          <a:bodyPr wrap="square" lIns="28575" tIns="9525" rIns="2857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10896600" y="4210785"/>
            <a:ext cx="990600" cy="310313"/>
          </a:xfrm>
          <a:prstGeom prst="rect">
            <a:avLst/>
          </a:prstGeom>
          <a:noFill/>
        </p:spPr>
        <p:txBody>
          <a:bodyPr wrap="square" lIns="28575" tIns="9525" rIns="2857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76225" y="4895299"/>
            <a:ext cx="9267825" cy="255552"/>
          </a:xfrm>
          <a:prstGeom prst="rect">
            <a:avLst/>
          </a:prstGeom>
          <a:noFill/>
        </p:spPr>
        <p:txBody>
          <a:bodyPr wrap="square" lIns="28575" tIns="9525" rIns="28575" bIns="9525" anchor="ctr">
            <a:spAutoFit/>
          </a:bodyPr>
          <a:lstStyle/>
          <a:p>
            <a:pPr algn="l"/>
            <a:r>
              <a:rPr sz="1100" b="1">
                <a:solidFill>
                  <a:srgbClr val="0B2E4A"/>
                </a:solidFill>
                <a:latin typeface="Calibri"/>
              </a:rPr>
              <a:t>Electronics &amp; Electrical Opens the Fastest Route to Market</a:t>
            </a:r>
          </a:p>
        </p:txBody>
      </p:sp>
      <p:sp>
        <p:nvSpPr>
          <p:cNvPr id="49" name="TextBox 48"/>
          <p:cNvSpPr txBox="1"/>
          <p:nvPr/>
        </p:nvSpPr>
        <p:spPr>
          <a:xfrm>
            <a:off x="161925" y="5205612"/>
            <a:ext cx="9439275" cy="593245"/>
          </a:xfrm>
          <a:prstGeom prst="rect">
            <a:avLst/>
          </a:prstGeom>
          <a:noFill/>
        </p:spPr>
        <p:txBody>
          <a:bodyPr wrap="square" lIns="28575" tIns="9525" rIns="28575" bIns="9525" anchor="ctr">
            <a:spAutoFit/>
          </a:bodyPr>
          <a:lstStyle/>
          <a:p>
            <a:pPr algn="l">
              <a:lnSpc>
                <a:spcPct val="115000"/>
              </a:lnSpc>
            </a:pPr>
            <a:endParaRPr/>
          </a:p>
        </p:txBody>
      </p:sp>
      <p:sp>
        <p:nvSpPr>
          <p:cNvPr id="50" name="TextBox 49"/>
          <p:cNvSpPr txBox="1"/>
          <p:nvPr/>
        </p:nvSpPr>
        <p:spPr>
          <a:xfrm>
            <a:off x="9810750" y="4895299"/>
            <a:ext cx="2238375" cy="365074"/>
          </a:xfrm>
          <a:prstGeom prst="rect">
            <a:avLst/>
          </a:prstGeom>
          <a:noFill/>
        </p:spPr>
        <p:txBody>
          <a:bodyPr wrap="square" lIns="28575" tIns="9525" rIns="2857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9810750" y="5442910"/>
            <a:ext cx="990600" cy="310313"/>
          </a:xfrm>
          <a:prstGeom prst="rect">
            <a:avLst/>
          </a:prstGeom>
          <a:noFill/>
        </p:spPr>
        <p:txBody>
          <a:bodyPr wrap="square" lIns="28575" tIns="9525" rIns="2857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10896600" y="5442910"/>
            <a:ext cx="990600" cy="310313"/>
          </a:xfrm>
          <a:prstGeom prst="rect">
            <a:avLst/>
          </a:prstGeom>
          <a:noFill/>
        </p:spPr>
        <p:txBody>
          <a:bodyPr wrap="square" lIns="28575" tIns="9525" rIns="2857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9810750" y="5963140"/>
            <a:ext cx="990600" cy="310313"/>
          </a:xfrm>
          <a:prstGeom prst="rect">
            <a:avLst/>
          </a:prstGeom>
          <a:noFill/>
        </p:spPr>
        <p:txBody>
          <a:bodyPr wrap="square" lIns="28575" tIns="9525" rIns="2857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tIns="9525" rIns="2857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10896600" y="5963140"/>
            <a:ext cx="990600" cy="310313"/>
          </a:xfrm>
          <a:prstGeom prst="rect">
            <a:avLst/>
          </a:prstGeom>
          <a:noFill/>
        </p:spPr>
        <p:txBody>
          <a:bodyPr wrap="square" lIns="28575" tIns="9525" rIns="2857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46064"/>
            <a:ext cx="662012" cy="186689"/>
          </a:xfrm>
          <a:prstGeom prst="rect">
            <a:avLst/>
          </a:prstGeom>
          <a:noFill/>
        </p:spPr>
        <p:txBody>
          <a:bodyPr wrap="none" lIns="0" tIns="0" rIns="0" bIns="0">
            <a:spAutoFit/>
          </a:bodyPr>
          <a:lstStyle/>
          <a:p>
            <a:r>
              <a:rPr sz="1100" b="0">
                <a:solidFill>
                  <a:srgbClr val="2E2E2E"/>
                </a:solidFill>
                <a:latin typeface="Calibri"/>
              </a:rPr>
              <a:t>'U.S.' adds</a:t>
            </a:r>
          </a:p>
        </p:txBody>
      </p:sp>
      <p:pic>
        <p:nvPicPr>
          <p:cNvPr id="65" name="Picture 64" descr="lock.png"/>
          <p:cNvPicPr>
            <a:picLocks noChangeAspect="1"/>
          </p:cNvPicPr>
          <p:nvPr/>
        </p:nvPicPr>
        <p:blipFill>
          <a:blip r:embed="rId4"/>
          <a:stretch>
            <a:fillRect/>
          </a:stretch>
        </p:blipFill>
        <p:spPr>
          <a:xfrm>
            <a:off x="800563" y="1736285"/>
            <a:ext cx="128699" cy="187198"/>
          </a:xfrm>
          <a:prstGeom prst="rect">
            <a:avLst/>
          </a:prstGeom>
        </p:spPr>
      </p:pic>
      <p:sp>
        <p:nvSpPr>
          <p:cNvPr id="66" name="TextBox 65"/>
          <p:cNvSpPr txBox="1"/>
          <p:nvPr/>
        </p:nvSpPr>
        <p:spPr>
          <a:xfrm>
            <a:off x="968059" y="1746064"/>
            <a:ext cx="8433097" cy="186689"/>
          </a:xfrm>
          <a:prstGeom prst="rect">
            <a:avLst/>
          </a:prstGeom>
          <a:noFill/>
        </p:spPr>
        <p:txBody>
          <a:bodyPr wrap="none" lIns="0" tIns="0" rIns="0" bIns="0">
            <a:spAutoFit/>
          </a:bodyPr>
          <a:lstStyle/>
          <a:p>
            <a:r>
              <a:rPr sz="1100" b="0">
                <a:solidFill>
                  <a:srgbClr val="2E2E2E"/>
                </a:solidFill>
                <a:latin typeface="Calibri"/>
              </a:rPr>
              <a:t>US$ Mn between 2026 and 2036 the single largest absolute increment of any geography in the dataset. Capturing it is a question of scale execution</a:t>
            </a:r>
          </a:p>
        </p:txBody>
      </p:sp>
      <p:sp>
        <p:nvSpPr>
          <p:cNvPr id="67" name="TextBox 66"/>
          <p:cNvSpPr txBox="1"/>
          <p:nvPr/>
        </p:nvSpPr>
        <p:spPr>
          <a:xfrm>
            <a:off x="190500" y="1913704"/>
            <a:ext cx="3769245" cy="186689"/>
          </a:xfrm>
          <a:prstGeom prst="rect">
            <a:avLst/>
          </a:prstGeom>
          <a:noFill/>
        </p:spPr>
        <p:txBody>
          <a:bodyPr wrap="none" lIns="0" tIns="0" rIns="0" bIns="0">
            <a:spAutoFit/>
          </a:bodyPr>
          <a:lstStyle/>
          <a:p>
            <a:r>
              <a:rPr sz="1100" b="0">
                <a:solidFill>
                  <a:srgbClr val="2E2E2E"/>
                </a:solidFill>
                <a:latin typeface="Calibri"/>
              </a:rPr>
              <a:t>rather than market creation: demand already exists and grows at</a:t>
            </a:r>
          </a:p>
        </p:txBody>
      </p:sp>
      <p:pic>
        <p:nvPicPr>
          <p:cNvPr id="68" name="Picture 67" descr="lock.png"/>
          <p:cNvPicPr>
            <a:picLocks noChangeAspect="1"/>
          </p:cNvPicPr>
          <p:nvPr/>
        </p:nvPicPr>
        <p:blipFill>
          <a:blip r:embed="rId4"/>
          <a:stretch>
            <a:fillRect/>
          </a:stretch>
        </p:blipFill>
        <p:spPr>
          <a:xfrm>
            <a:off x="3907797" y="1903925"/>
            <a:ext cx="128699" cy="187198"/>
          </a:xfrm>
          <a:prstGeom prst="rect">
            <a:avLst/>
          </a:prstGeom>
        </p:spPr>
      </p:pic>
      <p:sp>
        <p:nvSpPr>
          <p:cNvPr id="69" name="TextBox 68"/>
          <p:cNvSpPr txBox="1"/>
          <p:nvPr/>
        </p:nvSpPr>
        <p:spPr>
          <a:xfrm>
            <a:off x="4075293" y="1913704"/>
            <a:ext cx="5402535" cy="186689"/>
          </a:xfrm>
          <a:prstGeom prst="rect">
            <a:avLst/>
          </a:prstGeom>
          <a:noFill/>
        </p:spPr>
        <p:txBody>
          <a:bodyPr wrap="none" lIns="0" tIns="0" rIns="0" bIns="0">
            <a:spAutoFit/>
          </a:bodyPr>
          <a:lstStyle/>
          <a:p>
            <a:r>
              <a:rPr sz="1100" b="0">
                <a:solidFill>
                  <a:srgbClr val="2E2E2E"/>
                </a:solidFill>
                <a:latin typeface="Calibri"/>
              </a:rPr>
              <a:t>at the market level. Prioritising supply, channel coverage and service levels there converts the</a:t>
            </a:r>
          </a:p>
        </p:txBody>
      </p:sp>
      <p:sp>
        <p:nvSpPr>
          <p:cNvPr id="70" name="TextBox 69"/>
          <p:cNvSpPr txBox="1"/>
          <p:nvPr/>
        </p:nvSpPr>
        <p:spPr>
          <a:xfrm>
            <a:off x="190500" y="2081344"/>
            <a:ext cx="1175246" cy="186689"/>
          </a:xfrm>
          <a:prstGeom prst="rect">
            <a:avLst/>
          </a:prstGeom>
          <a:noFill/>
        </p:spPr>
        <p:txBody>
          <a:bodyPr wrap="none" lIns="0" tIns="0" rIns="0" bIns="0">
            <a:spAutoFit/>
          </a:bodyPr>
          <a:lstStyle/>
          <a:p>
            <a:r>
              <a:rPr sz="1100" b="0">
                <a:solidFill>
                  <a:srgbClr val="2E2E2E"/>
                </a:solidFill>
                <a:latin typeface="Calibri"/>
              </a:rPr>
              <a:t>largest share of the</a:t>
            </a:r>
          </a:p>
        </p:txBody>
      </p:sp>
      <p:pic>
        <p:nvPicPr>
          <p:cNvPr id="71" name="Picture 70" descr="lock.png"/>
          <p:cNvPicPr>
            <a:picLocks noChangeAspect="1"/>
          </p:cNvPicPr>
          <p:nvPr/>
        </p:nvPicPr>
        <p:blipFill>
          <a:blip r:embed="rId4"/>
          <a:stretch>
            <a:fillRect/>
          </a:stretch>
        </p:blipFill>
        <p:spPr>
          <a:xfrm>
            <a:off x="1313797" y="2071565"/>
            <a:ext cx="128699" cy="187198"/>
          </a:xfrm>
          <a:prstGeom prst="rect">
            <a:avLst/>
          </a:prstGeom>
        </p:spPr>
      </p:pic>
      <p:sp>
        <p:nvSpPr>
          <p:cNvPr id="72" name="TextBox 71"/>
          <p:cNvSpPr txBox="1"/>
          <p:nvPr/>
        </p:nvSpPr>
        <p:spPr>
          <a:xfrm>
            <a:off x="1481293" y="2081344"/>
            <a:ext cx="3306489" cy="186689"/>
          </a:xfrm>
          <a:prstGeom prst="rect">
            <a:avLst/>
          </a:prstGeom>
          <a:noFill/>
        </p:spPr>
        <p:txBody>
          <a:bodyPr wrap="none" lIns="0" tIns="0" rIns="0" bIns="0">
            <a:spAutoFit/>
          </a:bodyPr>
          <a:lstStyle/>
          <a:p>
            <a:r>
              <a:rPr sz="1100" b="0">
                <a:solidFill>
                  <a:srgbClr val="2E2E2E"/>
                </a:solidFill>
                <a:latin typeface="Calibri"/>
              </a:rPr>
              <a:t>US$ Mn the whole market adds over the forecast period.</a:t>
            </a:r>
          </a:p>
        </p:txBody>
      </p:sp>
      <p:sp>
        <p:nvSpPr>
          <p:cNvPr id="73" name="TextBox 72"/>
          <p:cNvSpPr txBox="1"/>
          <p:nvPr/>
        </p:nvSpPr>
        <p:spPr>
          <a:xfrm>
            <a:off x="190500" y="3498419"/>
            <a:ext cx="1691754" cy="186689"/>
          </a:xfrm>
          <a:prstGeom prst="rect">
            <a:avLst/>
          </a:prstGeom>
          <a:noFill/>
        </p:spPr>
        <p:txBody>
          <a:bodyPr wrap="none" lIns="0" tIns="0" rIns="0" bIns="0">
            <a:spAutoFit/>
          </a:bodyPr>
          <a:lstStyle/>
          <a:p>
            <a:r>
              <a:rPr sz="1100" b="0">
                <a:solidFill>
                  <a:srgbClr val="2E2E2E"/>
                </a:solidFill>
                <a:latin typeface="Calibri"/>
              </a:rPr>
              <a:t>'Saudi Arabia' compounds at</a:t>
            </a:r>
          </a:p>
        </p:txBody>
      </p:sp>
      <p:pic>
        <p:nvPicPr>
          <p:cNvPr id="74" name="Picture 73" descr="lock.png"/>
          <p:cNvPicPr>
            <a:picLocks noChangeAspect="1"/>
          </p:cNvPicPr>
          <p:nvPr/>
        </p:nvPicPr>
        <p:blipFill>
          <a:blip r:embed="rId4"/>
          <a:stretch>
            <a:fillRect/>
          </a:stretch>
        </p:blipFill>
        <p:spPr>
          <a:xfrm>
            <a:off x="1830305" y="3488640"/>
            <a:ext cx="128699" cy="187198"/>
          </a:xfrm>
          <a:prstGeom prst="rect">
            <a:avLst/>
          </a:prstGeom>
        </p:spPr>
      </p:pic>
      <p:sp>
        <p:nvSpPr>
          <p:cNvPr id="75" name="TextBox 74"/>
          <p:cNvSpPr txBox="1"/>
          <p:nvPr/>
        </p:nvSpPr>
        <p:spPr>
          <a:xfrm>
            <a:off x="1997801" y="3498419"/>
            <a:ext cx="7315207" cy="186689"/>
          </a:xfrm>
          <a:prstGeom prst="rect">
            <a:avLst/>
          </a:prstGeom>
          <a:noFill/>
        </p:spPr>
        <p:txBody>
          <a:bodyPr wrap="none" lIns="0" tIns="0" rIns="0" bIns="0">
            <a:spAutoFit/>
          </a:bodyPr>
          <a:lstStyle/>
          <a:p>
            <a:r>
              <a:rPr sz="1100" b="0">
                <a:solidFill>
                  <a:srgbClr val="2E2E2E"/>
                </a:solidFill>
                <a:latin typeface="Calibri"/>
              </a:rPr>
              <a:t>CAGR from a below-median base one of 8 geographies in the dataset combining above-median growth with below-median size.</a:t>
            </a:r>
          </a:p>
        </p:txBody>
      </p:sp>
      <p:sp>
        <p:nvSpPr>
          <p:cNvPr id="76" name="TextBox 75"/>
          <p:cNvSpPr txBox="1"/>
          <p:nvPr/>
        </p:nvSpPr>
        <p:spPr>
          <a:xfrm>
            <a:off x="190500" y="3666059"/>
            <a:ext cx="7425456" cy="186689"/>
          </a:xfrm>
          <a:prstGeom prst="rect">
            <a:avLst/>
          </a:prstGeom>
          <a:noFill/>
        </p:spPr>
        <p:txBody>
          <a:bodyPr wrap="none" lIns="0" tIns="0" rIns="0" bIns="0">
            <a:spAutoFit/>
          </a:bodyPr>
          <a:lstStyle/>
          <a:p>
            <a:r>
              <a:rPr sz="1100" b="0">
                <a:solidFill>
                  <a:srgbClr val="2E2E2E"/>
                </a:solidFill>
                <a:latin typeface="Calibri"/>
              </a:rPr>
              <a:t>That profile is where share is cheapest to buy: competitive intensity is lower than in the 30.3%-share leaders, while growth runs +</a:t>
            </a:r>
          </a:p>
        </p:txBody>
      </p:sp>
      <p:pic>
        <p:nvPicPr>
          <p:cNvPr id="77" name="Picture 76" descr="lock.png"/>
          <p:cNvPicPr>
            <a:picLocks noChangeAspect="1"/>
          </p:cNvPicPr>
          <p:nvPr/>
        </p:nvPicPr>
        <p:blipFill>
          <a:blip r:embed="rId4"/>
          <a:stretch>
            <a:fillRect/>
          </a:stretch>
        </p:blipFill>
        <p:spPr>
          <a:xfrm>
            <a:off x="7564008" y="3656280"/>
            <a:ext cx="128699" cy="187198"/>
          </a:xfrm>
          <a:prstGeom prst="rect">
            <a:avLst/>
          </a:prstGeom>
        </p:spPr>
      </p:pic>
      <p:sp>
        <p:nvSpPr>
          <p:cNvPr id="78" name="TextBox 77"/>
          <p:cNvSpPr txBox="1"/>
          <p:nvPr/>
        </p:nvSpPr>
        <p:spPr>
          <a:xfrm>
            <a:off x="7731504" y="3666059"/>
            <a:ext cx="1825144" cy="186689"/>
          </a:xfrm>
          <a:prstGeom prst="rect">
            <a:avLst/>
          </a:prstGeom>
          <a:noFill/>
        </p:spPr>
        <p:txBody>
          <a:bodyPr wrap="none" lIns="0" tIns="0" rIns="0" bIns="0">
            <a:spAutoFit/>
          </a:bodyPr>
          <a:lstStyle/>
          <a:p>
            <a:r>
              <a:rPr sz="1100" b="0">
                <a:solidFill>
                  <a:srgbClr val="2E2E2E"/>
                </a:solidFill>
                <a:latin typeface="Calibri"/>
              </a:rPr>
              <a:t>BPS ahead of the market. Early</a:t>
            </a:r>
          </a:p>
        </p:txBody>
      </p:sp>
      <p:sp>
        <p:nvSpPr>
          <p:cNvPr id="79" name="TextBox 78"/>
          <p:cNvSpPr txBox="1"/>
          <p:nvPr/>
        </p:nvSpPr>
        <p:spPr>
          <a:xfrm>
            <a:off x="190500" y="3833699"/>
            <a:ext cx="4556695" cy="186689"/>
          </a:xfrm>
          <a:prstGeom prst="rect">
            <a:avLst/>
          </a:prstGeom>
          <a:noFill/>
        </p:spPr>
        <p:txBody>
          <a:bodyPr wrap="none" lIns="0" tIns="0" rIns="0" bIns="0">
            <a:spAutoFit/>
          </a:bodyPr>
          <a:lstStyle/>
          <a:p>
            <a:r>
              <a:rPr sz="1100" b="0">
                <a:solidFill>
                  <a:srgbClr val="2E2E2E"/>
                </a:solidFill>
                <a:latin typeface="Calibri"/>
              </a:rPr>
              <a:t>distribution and reference accounts established here compound through 2036.</a:t>
            </a:r>
          </a:p>
        </p:txBody>
      </p:sp>
      <p:sp>
        <p:nvSpPr>
          <p:cNvPr id="80" name="TextBox 79"/>
          <p:cNvSpPr txBox="1"/>
          <p:nvPr/>
        </p:nvSpPr>
        <p:spPr>
          <a:xfrm>
            <a:off x="190500" y="5250774"/>
            <a:ext cx="1949598" cy="186689"/>
          </a:xfrm>
          <a:prstGeom prst="rect">
            <a:avLst/>
          </a:prstGeom>
          <a:noFill/>
        </p:spPr>
        <p:txBody>
          <a:bodyPr wrap="none" lIns="0" tIns="0" rIns="0" bIns="0">
            <a:spAutoFit/>
          </a:bodyPr>
          <a:lstStyle/>
          <a:p>
            <a:r>
              <a:rPr sz="1100" b="0">
                <a:solidFill>
                  <a:srgbClr val="2E2E2E"/>
                </a:solidFill>
                <a:latin typeface="Calibri"/>
              </a:rPr>
              <a:t>'Electronics &amp; Electrical' grows at</a:t>
            </a:r>
          </a:p>
        </p:txBody>
      </p:sp>
      <p:pic>
        <p:nvPicPr>
          <p:cNvPr id="81" name="Picture 80" descr="lock.png"/>
          <p:cNvPicPr>
            <a:picLocks noChangeAspect="1"/>
          </p:cNvPicPr>
          <p:nvPr/>
        </p:nvPicPr>
        <p:blipFill>
          <a:blip r:embed="rId4"/>
          <a:stretch>
            <a:fillRect/>
          </a:stretch>
        </p:blipFill>
        <p:spPr>
          <a:xfrm>
            <a:off x="2088150" y="5240995"/>
            <a:ext cx="128699" cy="187198"/>
          </a:xfrm>
          <a:prstGeom prst="rect">
            <a:avLst/>
          </a:prstGeom>
        </p:spPr>
      </p:pic>
      <p:sp>
        <p:nvSpPr>
          <p:cNvPr id="82" name="TextBox 81"/>
          <p:cNvSpPr txBox="1"/>
          <p:nvPr/>
        </p:nvSpPr>
        <p:spPr>
          <a:xfrm>
            <a:off x="2255646" y="5250774"/>
            <a:ext cx="2771956" cy="186689"/>
          </a:xfrm>
          <a:prstGeom prst="rect">
            <a:avLst/>
          </a:prstGeom>
          <a:noFill/>
        </p:spPr>
        <p:txBody>
          <a:bodyPr wrap="none" lIns="0" tIns="0" rIns="0" bIns="0">
            <a:spAutoFit/>
          </a:bodyPr>
          <a:lstStyle/>
          <a:p>
            <a:r>
              <a:rPr sz="1100" b="0">
                <a:solidFill>
                  <a:srgbClr val="2E2E2E"/>
                </a:solidFill>
                <a:latin typeface="Calibri"/>
              </a:rPr>
              <a:t>CAGR, the fastest of 7 end use routes, and adds</a:t>
            </a:r>
          </a:p>
        </p:txBody>
      </p:sp>
      <p:pic>
        <p:nvPicPr>
          <p:cNvPr id="83" name="Picture 82" descr="lock.png"/>
          <p:cNvPicPr>
            <a:picLocks noChangeAspect="1"/>
          </p:cNvPicPr>
          <p:nvPr/>
        </p:nvPicPr>
        <p:blipFill>
          <a:blip r:embed="rId4"/>
          <a:stretch>
            <a:fillRect/>
          </a:stretch>
        </p:blipFill>
        <p:spPr>
          <a:xfrm>
            <a:off x="4975654" y="5240995"/>
            <a:ext cx="128699" cy="187198"/>
          </a:xfrm>
          <a:prstGeom prst="rect">
            <a:avLst/>
          </a:prstGeom>
        </p:spPr>
      </p:pic>
      <p:sp>
        <p:nvSpPr>
          <p:cNvPr id="84" name="TextBox 83"/>
          <p:cNvSpPr txBox="1"/>
          <p:nvPr/>
        </p:nvSpPr>
        <p:spPr>
          <a:xfrm>
            <a:off x="5143150" y="5250774"/>
            <a:ext cx="3997622" cy="186689"/>
          </a:xfrm>
          <a:prstGeom prst="rect">
            <a:avLst/>
          </a:prstGeom>
          <a:noFill/>
        </p:spPr>
        <p:txBody>
          <a:bodyPr wrap="none" lIns="0" tIns="0" rIns="0" bIns="0">
            <a:spAutoFit/>
          </a:bodyPr>
          <a:lstStyle/>
          <a:p>
            <a:r>
              <a:rPr sz="1100" b="0">
                <a:solidFill>
                  <a:srgbClr val="2E2E2E"/>
                </a:solidFill>
                <a:latin typeface="Calibri"/>
              </a:rPr>
              <a:t>US$ Mn over the forecast period while 'Glassware, Ceramics &amp; Home</a:t>
            </a:r>
          </a:p>
        </p:txBody>
      </p:sp>
      <p:sp>
        <p:nvSpPr>
          <p:cNvPr id="85" name="TextBox 84"/>
          <p:cNvSpPr txBox="1"/>
          <p:nvPr/>
        </p:nvSpPr>
        <p:spPr>
          <a:xfrm>
            <a:off x="190500" y="5418414"/>
            <a:ext cx="1111944" cy="186689"/>
          </a:xfrm>
          <a:prstGeom prst="rect">
            <a:avLst/>
          </a:prstGeom>
          <a:noFill/>
        </p:spPr>
        <p:txBody>
          <a:bodyPr wrap="none" lIns="0" tIns="0" rIns="0" bIns="0">
            <a:spAutoFit/>
          </a:bodyPr>
          <a:lstStyle/>
          <a:p>
            <a:r>
              <a:rPr sz="1100" b="0">
                <a:solidFill>
                  <a:srgbClr val="2E2E2E"/>
                </a:solidFill>
                <a:latin typeface="Calibri"/>
              </a:rPr>
              <a:t>Goods' still carries</a:t>
            </a:r>
          </a:p>
        </p:txBody>
      </p:sp>
      <p:pic>
        <p:nvPicPr>
          <p:cNvPr id="86" name="Picture 85" descr="lock.png"/>
          <p:cNvPicPr>
            <a:picLocks noChangeAspect="1"/>
          </p:cNvPicPr>
          <p:nvPr/>
        </p:nvPicPr>
        <p:blipFill>
          <a:blip r:embed="rId4"/>
          <a:stretch>
            <a:fillRect/>
          </a:stretch>
        </p:blipFill>
        <p:spPr>
          <a:xfrm>
            <a:off x="1250496" y="5408635"/>
            <a:ext cx="128699" cy="187198"/>
          </a:xfrm>
          <a:prstGeom prst="rect">
            <a:avLst/>
          </a:prstGeom>
        </p:spPr>
      </p:pic>
      <p:sp>
        <p:nvSpPr>
          <p:cNvPr id="87" name="TextBox 86"/>
          <p:cNvSpPr txBox="1"/>
          <p:nvPr/>
        </p:nvSpPr>
        <p:spPr>
          <a:xfrm>
            <a:off x="1417991" y="5418414"/>
            <a:ext cx="7947967" cy="186689"/>
          </a:xfrm>
          <a:prstGeom prst="rect">
            <a:avLst/>
          </a:prstGeom>
          <a:noFill/>
        </p:spPr>
        <p:txBody>
          <a:bodyPr wrap="none" lIns="0" tIns="0" rIns="0" bIns="0">
            <a:spAutoFit/>
          </a:bodyPr>
          <a:lstStyle/>
          <a:p>
            <a:r>
              <a:rPr sz="1100" b="0">
                <a:solidFill>
                  <a:srgbClr val="2E2E2E"/>
                </a:solidFill>
                <a:latin typeface="Calibri"/>
              </a:rPr>
              <a:t>of demand today. Pairing the incumbent route for volume with the fastest route for growth and leading with 'Flat Dividers &amp; Layer Pads' at</a:t>
            </a:r>
          </a:p>
        </p:txBody>
      </p:sp>
      <p:pic>
        <p:nvPicPr>
          <p:cNvPr id="88" name="Picture 87" descr="lock.png"/>
          <p:cNvPicPr>
            <a:picLocks noChangeAspect="1"/>
          </p:cNvPicPr>
          <p:nvPr/>
        </p:nvPicPr>
        <p:blipFill>
          <a:blip r:embed="rId4"/>
          <a:stretch>
            <a:fillRect/>
          </a:stretch>
        </p:blipFill>
        <p:spPr>
          <a:xfrm>
            <a:off x="177032" y="5576275"/>
            <a:ext cx="128699" cy="187198"/>
          </a:xfrm>
          <a:prstGeom prst="rect">
            <a:avLst/>
          </a:prstGeom>
        </p:spPr>
      </p:pic>
      <p:sp>
        <p:nvSpPr>
          <p:cNvPr id="89" name="TextBox 88"/>
          <p:cNvSpPr txBox="1"/>
          <p:nvPr/>
        </p:nvSpPr>
        <p:spPr>
          <a:xfrm>
            <a:off x="344528" y="5586054"/>
            <a:ext cx="3137594" cy="186689"/>
          </a:xfrm>
          <a:prstGeom prst="rect">
            <a:avLst/>
          </a:prstGeom>
          <a:noFill/>
        </p:spPr>
        <p:txBody>
          <a:bodyPr wrap="none" lIns="0" tIns="0" rIns="0" bIns="0">
            <a:spAutoFit/>
          </a:bodyPr>
          <a:lstStyle/>
          <a:p>
            <a:r>
              <a:rPr sz="1100" b="0">
                <a:solidFill>
                  <a:srgbClr val="2E2E2E"/>
                </a:solidFill>
                <a:latin typeface="Calibri"/>
              </a:rPr>
              <a:t>is the highest-yield combination the dataset supports.</a:t>
            </a:r>
          </a:p>
        </p:txBody>
      </p:sp>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Global Corrugated Partition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142875" y="1025515"/>
            <a:ext cx="1428750" cy="292059"/>
          </a:xfrm>
          <a:prstGeom prst="rect">
            <a:avLst/>
          </a:prstGeom>
          <a:noFill/>
        </p:spPr>
        <p:txBody>
          <a:bodyPr wrap="square" lIns="28575" tIns="9525" rIns="2857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tIns="9525" rIns="2857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296013"/>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142875" y="1317574"/>
            <a:ext cx="1428750" cy="1296013"/>
          </a:xfrm>
          <a:prstGeom prst="rect">
            <a:avLst/>
          </a:prstGeom>
          <a:noFill/>
        </p:spPr>
        <p:txBody>
          <a:bodyPr wrap="square" lIns="28575" tIns="9525" rIns="2857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296013"/>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68957"/>
            <a:ext cx="10210800" cy="593245"/>
          </a:xfrm>
          <a:prstGeom prst="rect">
            <a:avLst/>
          </a:prstGeom>
          <a:noFill/>
        </p:spPr>
        <p:txBody>
          <a:bodyPr wrap="square" lIns="28575" tIns="9525" rIns="28575" bIns="9525" anchor="ctr">
            <a:spAutoFit/>
          </a:bodyPr>
          <a:lstStyle/>
          <a:p>
            <a:pPr algn="l">
              <a:lnSpc>
                <a:spcPct val="115000"/>
              </a:lnSpc>
            </a:pPr>
            <a:endParaRPr/>
          </a:p>
        </p:txBody>
      </p:sp>
      <p:sp>
        <p:nvSpPr>
          <p:cNvPr id="18" name="Rectangle 17"/>
          <p:cNvSpPr/>
          <p:nvPr/>
        </p:nvSpPr>
        <p:spPr>
          <a:xfrm>
            <a:off x="142875" y="26135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142875" y="2613586"/>
            <a:ext cx="1428750" cy="985700"/>
          </a:xfrm>
          <a:prstGeom prst="rect">
            <a:avLst/>
          </a:prstGeom>
          <a:noFill/>
        </p:spPr>
        <p:txBody>
          <a:bodyPr wrap="square" lIns="28575" tIns="9525" rIns="2857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6135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905646"/>
            <a:ext cx="10210800" cy="401581"/>
          </a:xfrm>
          <a:prstGeom prst="rect">
            <a:avLst/>
          </a:prstGeom>
          <a:noFill/>
        </p:spPr>
        <p:txBody>
          <a:bodyPr wrap="square" lIns="28575" tIns="9525" rIns="28575" bIns="9525" anchor="ctr">
            <a:spAutoFit/>
          </a:bodyPr>
          <a:lstStyle/>
          <a:p>
            <a:pPr algn="l">
              <a:lnSpc>
                <a:spcPct val="115000"/>
              </a:lnSpc>
            </a:pPr>
            <a:endParaRPr/>
          </a:p>
        </p:txBody>
      </p:sp>
      <p:sp>
        <p:nvSpPr>
          <p:cNvPr id="22" name="Rectangle 21"/>
          <p:cNvSpPr/>
          <p:nvPr/>
        </p:nvSpPr>
        <p:spPr>
          <a:xfrm>
            <a:off x="142875" y="35992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142875" y="3599286"/>
            <a:ext cx="1428750" cy="985700"/>
          </a:xfrm>
          <a:prstGeom prst="rect">
            <a:avLst/>
          </a:prstGeom>
          <a:noFill/>
        </p:spPr>
        <p:txBody>
          <a:bodyPr wrap="square" lIns="28575" tIns="9525" rIns="28575" bIns="9525" anchor="ctr">
            <a:spAutoFit/>
          </a:bodyPr>
          <a:lstStyle/>
          <a:p>
            <a:pPr algn="ctr"/>
            <a:r>
              <a:rPr sz="1250" b="1">
                <a:solidFill>
                  <a:srgbClr val="0B2E4A"/>
                </a:solidFill>
                <a:latin typeface="Calibri"/>
              </a:rPr>
              <a:t>2035</a:t>
            </a:r>
          </a:p>
        </p:txBody>
      </p:sp>
      <p:cxnSp>
        <p:nvCxnSpPr>
          <p:cNvPr id="24" name="Connector 23"/>
          <p:cNvCxnSpPr/>
          <p:nvPr/>
        </p:nvCxnSpPr>
        <p:spPr>
          <a:xfrm>
            <a:off x="1571625" y="35992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891345"/>
            <a:ext cx="10210800" cy="401581"/>
          </a:xfrm>
          <a:prstGeom prst="rect">
            <a:avLst/>
          </a:prstGeom>
          <a:noFill/>
        </p:spPr>
        <p:txBody>
          <a:bodyPr wrap="square" lIns="28575" tIns="9525" rIns="28575" bIns="9525" anchor="ctr">
            <a:spAutoFit/>
          </a:bodyPr>
          <a:lstStyle/>
          <a:p>
            <a:pPr algn="l">
              <a:lnSpc>
                <a:spcPct val="115000"/>
              </a:lnSpc>
            </a:pPr>
            <a:endParaRPr/>
          </a:p>
        </p:txBody>
      </p:sp>
      <p:sp>
        <p:nvSpPr>
          <p:cNvPr id="26" name="Rectangle 25"/>
          <p:cNvSpPr/>
          <p:nvPr/>
        </p:nvSpPr>
        <p:spPr>
          <a:xfrm>
            <a:off x="142875" y="45849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142875" y="4584986"/>
            <a:ext cx="1428750" cy="985700"/>
          </a:xfrm>
          <a:prstGeom prst="rect">
            <a:avLst/>
          </a:prstGeom>
          <a:noFill/>
        </p:spPr>
        <p:txBody>
          <a:bodyPr wrap="square" lIns="28575" tIns="9525" rIns="2857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5849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877045"/>
            <a:ext cx="10210800" cy="401581"/>
          </a:xfrm>
          <a:prstGeom prst="rect">
            <a:avLst/>
          </a:prstGeom>
          <a:noFill/>
        </p:spPr>
        <p:txBody>
          <a:bodyPr wrap="square" lIns="28575" tIns="9525" rIns="28575" bIns="9525" anchor="ctr">
            <a:spAutoFit/>
          </a:bodyPr>
          <a:lstStyle/>
          <a:p>
            <a:pPr algn="l">
              <a:lnSpc>
                <a:spcPct val="115000"/>
              </a:lnSpc>
            </a:pPr>
            <a:endParaRPr/>
          </a:p>
        </p:txBody>
      </p:sp>
      <p:sp>
        <p:nvSpPr>
          <p:cNvPr id="30" name="Rectangle 29"/>
          <p:cNvSpPr/>
          <p:nvPr/>
        </p:nvSpPr>
        <p:spPr>
          <a:xfrm>
            <a:off x="142875" y="55706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142875" y="5570686"/>
            <a:ext cx="1428750" cy="985700"/>
          </a:xfrm>
          <a:prstGeom prst="rect">
            <a:avLst/>
          </a:prstGeom>
          <a:noFill/>
        </p:spPr>
        <p:txBody>
          <a:bodyPr wrap="square" lIns="28575" tIns="9525" rIns="2857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706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62745"/>
            <a:ext cx="10210800" cy="401581"/>
          </a:xfrm>
          <a:prstGeom prst="rect">
            <a:avLst/>
          </a:prstGeom>
          <a:noFill/>
        </p:spPr>
        <p:txBody>
          <a:bodyPr wrap="square" lIns="28575" tIns="9525" rIns="28575" bIns="9525" anchor="ctr">
            <a:spAutoFit/>
          </a:bodyPr>
          <a:lstStyle/>
          <a:p>
            <a:pPr algn="l">
              <a:lnSpc>
                <a:spcPct val="115000"/>
              </a:lnSpc>
            </a:pPr>
            <a:endParaRPr/>
          </a:p>
        </p:txBody>
      </p:sp>
      <p:sp>
        <p:nvSpPr>
          <p:cNvPr id="34" name="TextBox 3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35" name="TextBox 34"/>
          <p:cNvSpPr txBox="1"/>
          <p:nvPr/>
        </p:nvSpPr>
        <p:spPr>
          <a:xfrm>
            <a:off x="1743075" y="1797939"/>
            <a:ext cx="3516585" cy="186689"/>
          </a:xfrm>
          <a:prstGeom prst="rect">
            <a:avLst/>
          </a:prstGeom>
          <a:noFill/>
        </p:spPr>
        <p:txBody>
          <a:bodyPr wrap="none" lIns="0" tIns="0" rIns="0" bIns="0">
            <a:spAutoFit/>
          </a:bodyPr>
          <a:lstStyle/>
          <a:p>
            <a:r>
              <a:rPr sz="1100" b="0">
                <a:solidFill>
                  <a:srgbClr val="2E2E2E"/>
                </a:solidFill>
                <a:latin typeface="Calibri"/>
              </a:rPr>
              <a:t>Strongest historical expansion on record: Global value rose +</a:t>
            </a:r>
          </a:p>
        </p:txBody>
      </p:sp>
      <p:pic>
        <p:nvPicPr>
          <p:cNvPr id="36" name="Picture 35" descr="lock.png"/>
          <p:cNvPicPr>
            <a:picLocks noChangeAspect="1"/>
          </p:cNvPicPr>
          <p:nvPr/>
        </p:nvPicPr>
        <p:blipFill>
          <a:blip r:embed="rId4"/>
          <a:stretch>
            <a:fillRect/>
          </a:stretch>
        </p:blipFill>
        <p:spPr>
          <a:xfrm>
            <a:off x="5207711" y="1788160"/>
            <a:ext cx="128699" cy="187198"/>
          </a:xfrm>
          <a:prstGeom prst="rect">
            <a:avLst/>
          </a:prstGeom>
        </p:spPr>
      </p:pic>
      <p:sp>
        <p:nvSpPr>
          <p:cNvPr id="37" name="TextBox 36"/>
          <p:cNvSpPr txBox="1"/>
          <p:nvPr/>
        </p:nvSpPr>
        <p:spPr>
          <a:xfrm>
            <a:off x="5375207" y="1797939"/>
            <a:ext cx="935955" cy="186689"/>
          </a:xfrm>
          <a:prstGeom prst="rect">
            <a:avLst/>
          </a:prstGeom>
          <a:noFill/>
        </p:spPr>
        <p:txBody>
          <a:bodyPr wrap="none" lIns="0" tIns="0" rIns="0" bIns="0">
            <a:spAutoFit/>
          </a:bodyPr>
          <a:lstStyle/>
          <a:p>
            <a:r>
              <a:rPr sz="1100" b="0">
                <a:solidFill>
                  <a:srgbClr val="2E2E2E"/>
                </a:solidFill>
                <a:latin typeface="Calibri"/>
              </a:rPr>
              <a:t>year on year to</a:t>
            </a:r>
          </a:p>
        </p:txBody>
      </p:sp>
      <p:pic>
        <p:nvPicPr>
          <p:cNvPr id="38" name="Picture 37" descr="lock.png"/>
          <p:cNvPicPr>
            <a:picLocks noChangeAspect="1"/>
          </p:cNvPicPr>
          <p:nvPr/>
        </p:nvPicPr>
        <p:blipFill>
          <a:blip r:embed="rId4"/>
          <a:stretch>
            <a:fillRect/>
          </a:stretch>
        </p:blipFill>
        <p:spPr>
          <a:xfrm>
            <a:off x="6259214" y="1788160"/>
            <a:ext cx="128699" cy="187198"/>
          </a:xfrm>
          <a:prstGeom prst="rect">
            <a:avLst/>
          </a:prstGeom>
        </p:spPr>
      </p:pic>
      <p:sp>
        <p:nvSpPr>
          <p:cNvPr id="39" name="TextBox 38"/>
          <p:cNvSpPr txBox="1"/>
          <p:nvPr/>
        </p:nvSpPr>
        <p:spPr>
          <a:xfrm>
            <a:off x="6426710" y="1797939"/>
            <a:ext cx="5248374" cy="186689"/>
          </a:xfrm>
          <a:prstGeom prst="rect">
            <a:avLst/>
          </a:prstGeom>
          <a:noFill/>
        </p:spPr>
        <p:txBody>
          <a:bodyPr wrap="none" lIns="0" tIns="0" rIns="0" bIns="0">
            <a:spAutoFit/>
          </a:bodyPr>
          <a:lstStyle/>
          <a:p>
            <a:r>
              <a:rPr sz="1100" b="0">
                <a:solidFill>
                  <a:srgbClr val="2E2E2E"/>
                </a:solidFill>
                <a:latin typeface="Calibri"/>
              </a:rPr>
              <a:t>US$ Mn, the steepest single-year move of the 2021–2025 period. Demand for 'Flat Dividers</a:t>
            </a:r>
          </a:p>
        </p:txBody>
      </p:sp>
      <p:sp>
        <p:nvSpPr>
          <p:cNvPr id="40" name="TextBox 39"/>
          <p:cNvSpPr txBox="1"/>
          <p:nvPr/>
        </p:nvSpPr>
        <p:spPr>
          <a:xfrm>
            <a:off x="1743075" y="1965579"/>
            <a:ext cx="839911" cy="186689"/>
          </a:xfrm>
          <a:prstGeom prst="rect">
            <a:avLst/>
          </a:prstGeom>
          <a:noFill/>
        </p:spPr>
        <p:txBody>
          <a:bodyPr wrap="none" lIns="0" tIns="0" rIns="0" bIns="0">
            <a:spAutoFit/>
          </a:bodyPr>
          <a:lstStyle/>
          <a:p>
            <a:r>
              <a:rPr sz="1100" b="0">
                <a:solidFill>
                  <a:srgbClr val="2E2E2E"/>
                </a:solidFill>
                <a:latin typeface="Calibri"/>
              </a:rPr>
              <a:t>&amp; Layer Pads'</a:t>
            </a:r>
          </a:p>
        </p:txBody>
      </p:sp>
      <p:pic>
        <p:nvPicPr>
          <p:cNvPr id="41" name="Picture 40" descr="lock.png"/>
          <p:cNvPicPr>
            <a:picLocks noChangeAspect="1"/>
          </p:cNvPicPr>
          <p:nvPr/>
        </p:nvPicPr>
        <p:blipFill>
          <a:blip r:embed="rId4"/>
          <a:stretch>
            <a:fillRect/>
          </a:stretch>
        </p:blipFill>
        <p:spPr>
          <a:xfrm>
            <a:off x="2531038" y="1955800"/>
            <a:ext cx="128699" cy="187198"/>
          </a:xfrm>
          <a:prstGeom prst="rect">
            <a:avLst/>
          </a:prstGeom>
        </p:spPr>
      </p:pic>
      <p:sp>
        <p:nvSpPr>
          <p:cNvPr id="42" name="TextBox 41"/>
          <p:cNvSpPr txBox="1"/>
          <p:nvPr/>
        </p:nvSpPr>
        <p:spPr>
          <a:xfrm>
            <a:off x="2698533" y="1965579"/>
            <a:ext cx="6854651" cy="186689"/>
          </a:xfrm>
          <a:prstGeom prst="rect">
            <a:avLst/>
          </a:prstGeom>
          <a:noFill/>
        </p:spPr>
        <p:txBody>
          <a:bodyPr wrap="none" lIns="0" tIns="0" rIns="0" bIns="0">
            <a:spAutoFit/>
          </a:bodyPr>
          <a:lstStyle/>
          <a:p>
            <a:r>
              <a:rPr sz="1100" b="0">
                <a:solidFill>
                  <a:srgbClr val="2E2E2E"/>
                </a:solidFill>
                <a:latin typeface="Calibri"/>
              </a:rPr>
              <a:t>of partition type value by 2036 set the pace, and the 7 end use routes tracked here all carried volume through the year.</a:t>
            </a:r>
          </a:p>
        </p:txBody>
      </p:sp>
      <p:sp>
        <p:nvSpPr>
          <p:cNvPr id="43" name="TextBox 42"/>
          <p:cNvSpPr txBox="1"/>
          <p:nvPr/>
        </p:nvSpPr>
        <p:spPr>
          <a:xfrm>
            <a:off x="1743075" y="2945502"/>
            <a:ext cx="3340465" cy="179984"/>
          </a:xfrm>
          <a:prstGeom prst="rect">
            <a:avLst/>
          </a:prstGeom>
          <a:noFill/>
        </p:spPr>
        <p:txBody>
          <a:bodyPr wrap="none" lIns="0" tIns="0" rIns="0" bIns="0">
            <a:spAutoFit/>
          </a:bodyPr>
          <a:lstStyle/>
          <a:p>
            <a:r>
              <a:rPr sz="1055" b="0">
                <a:solidFill>
                  <a:srgbClr val="2E2E2E"/>
                </a:solidFill>
                <a:latin typeface="Calibri"/>
              </a:rPr>
              <a:t>Base year for the forecast: the global market is estimated at</a:t>
            </a:r>
          </a:p>
        </p:txBody>
      </p:sp>
      <p:pic>
        <p:nvPicPr>
          <p:cNvPr id="44" name="Picture 43" descr="lock.png"/>
          <p:cNvPicPr>
            <a:picLocks noChangeAspect="1"/>
          </p:cNvPicPr>
          <p:nvPr/>
        </p:nvPicPr>
        <p:blipFill>
          <a:blip r:embed="rId4"/>
          <a:stretch>
            <a:fillRect/>
          </a:stretch>
        </p:blipFill>
        <p:spPr>
          <a:xfrm>
            <a:off x="5030621" y="2936114"/>
            <a:ext cx="123551" cy="179710"/>
          </a:xfrm>
          <a:prstGeom prst="rect">
            <a:avLst/>
          </a:prstGeom>
        </p:spPr>
      </p:pic>
      <p:sp>
        <p:nvSpPr>
          <p:cNvPr id="45" name="TextBox 44"/>
          <p:cNvSpPr txBox="1"/>
          <p:nvPr/>
        </p:nvSpPr>
        <p:spPr>
          <a:xfrm>
            <a:off x="5191417" y="2945502"/>
            <a:ext cx="1825680" cy="179984"/>
          </a:xfrm>
          <a:prstGeom prst="rect">
            <a:avLst/>
          </a:prstGeom>
          <a:noFill/>
        </p:spPr>
        <p:txBody>
          <a:bodyPr wrap="none" lIns="0" tIns="0" rIns="0" bIns="0">
            <a:spAutoFit/>
          </a:bodyPr>
          <a:lstStyle/>
          <a:p>
            <a:r>
              <a:rPr sz="1055" b="0">
                <a:solidFill>
                  <a:srgbClr val="2E2E2E"/>
                </a:solidFill>
                <a:latin typeface="Calibri"/>
              </a:rPr>
              <a:t>US$ Mn, having compounded at</a:t>
            </a:r>
          </a:p>
        </p:txBody>
      </p:sp>
      <p:pic>
        <p:nvPicPr>
          <p:cNvPr id="46" name="Picture 45" descr="lock.png"/>
          <p:cNvPicPr>
            <a:picLocks noChangeAspect="1"/>
          </p:cNvPicPr>
          <p:nvPr/>
        </p:nvPicPr>
        <p:blipFill>
          <a:blip r:embed="rId4"/>
          <a:stretch>
            <a:fillRect/>
          </a:stretch>
        </p:blipFill>
        <p:spPr>
          <a:xfrm>
            <a:off x="6964179" y="2936114"/>
            <a:ext cx="123551" cy="179710"/>
          </a:xfrm>
          <a:prstGeom prst="rect">
            <a:avLst/>
          </a:prstGeom>
        </p:spPr>
      </p:pic>
      <p:sp>
        <p:nvSpPr>
          <p:cNvPr id="47" name="TextBox 46"/>
          <p:cNvSpPr txBox="1"/>
          <p:nvPr/>
        </p:nvSpPr>
        <p:spPr>
          <a:xfrm>
            <a:off x="7124975" y="2945502"/>
            <a:ext cx="2310788" cy="179984"/>
          </a:xfrm>
          <a:prstGeom prst="rect">
            <a:avLst/>
          </a:prstGeom>
          <a:noFill/>
        </p:spPr>
        <p:txBody>
          <a:bodyPr wrap="none" lIns="0" tIns="0" rIns="0" bIns="0">
            <a:spAutoFit/>
          </a:bodyPr>
          <a:lstStyle/>
          <a:p>
            <a:r>
              <a:rPr sz="1055" b="0">
                <a:solidFill>
                  <a:srgbClr val="2E2E2E"/>
                </a:solidFill>
                <a:latin typeface="Calibri"/>
              </a:rPr>
              <a:t>across 2021–2025. 'North America' holds</a:t>
            </a:r>
          </a:p>
        </p:txBody>
      </p:sp>
      <p:pic>
        <p:nvPicPr>
          <p:cNvPr id="48" name="Picture 47" descr="lock.png"/>
          <p:cNvPicPr>
            <a:picLocks noChangeAspect="1"/>
          </p:cNvPicPr>
          <p:nvPr/>
        </p:nvPicPr>
        <p:blipFill>
          <a:blip r:embed="rId4"/>
          <a:stretch>
            <a:fillRect/>
          </a:stretch>
        </p:blipFill>
        <p:spPr>
          <a:xfrm>
            <a:off x="9382846" y="2936114"/>
            <a:ext cx="123551" cy="179710"/>
          </a:xfrm>
          <a:prstGeom prst="rect">
            <a:avLst/>
          </a:prstGeom>
        </p:spPr>
      </p:pic>
      <p:sp>
        <p:nvSpPr>
          <p:cNvPr id="49" name="TextBox 48"/>
          <p:cNvSpPr txBox="1"/>
          <p:nvPr/>
        </p:nvSpPr>
        <p:spPr>
          <a:xfrm>
            <a:off x="9543642" y="2945502"/>
            <a:ext cx="1896665" cy="179984"/>
          </a:xfrm>
          <a:prstGeom prst="rect">
            <a:avLst/>
          </a:prstGeom>
          <a:noFill/>
        </p:spPr>
        <p:txBody>
          <a:bodyPr wrap="none" lIns="0" tIns="0" rIns="0" bIns="0">
            <a:spAutoFit/>
          </a:bodyPr>
          <a:lstStyle/>
          <a:p>
            <a:r>
              <a:rPr sz="1055" b="0">
                <a:solidFill>
                  <a:srgbClr val="2E2E2E"/>
                </a:solidFill>
                <a:latin typeface="Calibri"/>
              </a:rPr>
              <a:t>of value across 6 regions, and the</a:t>
            </a:r>
          </a:p>
        </p:txBody>
      </p:sp>
      <p:sp>
        <p:nvSpPr>
          <p:cNvPr id="50" name="TextBox 49"/>
          <p:cNvSpPr txBox="1"/>
          <p:nvPr/>
        </p:nvSpPr>
        <p:spPr>
          <a:xfrm>
            <a:off x="1743075" y="3106436"/>
            <a:ext cx="4265366" cy="179984"/>
          </a:xfrm>
          <a:prstGeom prst="rect">
            <a:avLst/>
          </a:prstGeom>
          <a:noFill/>
        </p:spPr>
        <p:txBody>
          <a:bodyPr wrap="none" lIns="0" tIns="0" rIns="0" bIns="0">
            <a:spAutoFit/>
          </a:bodyPr>
          <a:lstStyle/>
          <a:p>
            <a:r>
              <a:rPr sz="1055" b="0">
                <a:solidFill>
                  <a:srgbClr val="2E2E2E"/>
                </a:solidFill>
                <a:latin typeface="Calibri"/>
              </a:rPr>
              <a:t>forecast is built from 10 segment breakdowns covering 3 partition type lines.</a:t>
            </a:r>
          </a:p>
        </p:txBody>
      </p:sp>
      <p:sp>
        <p:nvSpPr>
          <p:cNvPr id="51" name="TextBox 50"/>
          <p:cNvSpPr txBox="1"/>
          <p:nvPr/>
        </p:nvSpPr>
        <p:spPr>
          <a:xfrm>
            <a:off x="1743075" y="3931201"/>
            <a:ext cx="1089374" cy="179984"/>
          </a:xfrm>
          <a:prstGeom prst="rect">
            <a:avLst/>
          </a:prstGeom>
          <a:noFill/>
        </p:spPr>
        <p:txBody>
          <a:bodyPr wrap="none" lIns="0" tIns="0" rIns="0" bIns="0">
            <a:spAutoFit/>
          </a:bodyPr>
          <a:lstStyle/>
          <a:p>
            <a:r>
              <a:rPr sz="1055" b="0">
                <a:solidFill>
                  <a:srgbClr val="2E2E2E"/>
                </a:solidFill>
                <a:latin typeface="Calibri"/>
              </a:rPr>
              <a:t>The market passes</a:t>
            </a:r>
          </a:p>
        </p:txBody>
      </p:sp>
      <p:pic>
        <p:nvPicPr>
          <p:cNvPr id="52" name="Picture 51" descr="lock.png"/>
          <p:cNvPicPr>
            <a:picLocks noChangeAspect="1"/>
          </p:cNvPicPr>
          <p:nvPr/>
        </p:nvPicPr>
        <p:blipFill>
          <a:blip r:embed="rId4"/>
          <a:stretch>
            <a:fillRect/>
          </a:stretch>
        </p:blipFill>
        <p:spPr>
          <a:xfrm>
            <a:off x="2779530" y="3921813"/>
            <a:ext cx="123551" cy="179710"/>
          </a:xfrm>
          <a:prstGeom prst="rect">
            <a:avLst/>
          </a:prstGeom>
        </p:spPr>
      </p:pic>
      <p:sp>
        <p:nvSpPr>
          <p:cNvPr id="53" name="TextBox 52"/>
          <p:cNvSpPr txBox="1"/>
          <p:nvPr/>
        </p:nvSpPr>
        <p:spPr>
          <a:xfrm>
            <a:off x="2940326" y="3931201"/>
            <a:ext cx="2945201" cy="179984"/>
          </a:xfrm>
          <a:prstGeom prst="rect">
            <a:avLst/>
          </a:prstGeom>
          <a:noFill/>
        </p:spPr>
        <p:txBody>
          <a:bodyPr wrap="none" lIns="0" tIns="0" rIns="0" bIns="0">
            <a:spAutoFit/>
          </a:bodyPr>
          <a:lstStyle/>
          <a:p>
            <a:r>
              <a:rPr sz="1055" b="0">
                <a:solidFill>
                  <a:srgbClr val="2E2E2E"/>
                </a:solidFill>
                <a:latin typeface="Calibri"/>
              </a:rPr>
              <a:t>US$ Mn one and a half times the 2026 base reaching</a:t>
            </a:r>
          </a:p>
        </p:txBody>
      </p:sp>
      <p:pic>
        <p:nvPicPr>
          <p:cNvPr id="54" name="Picture 53" descr="lock.png"/>
          <p:cNvPicPr>
            <a:picLocks noChangeAspect="1"/>
          </p:cNvPicPr>
          <p:nvPr/>
        </p:nvPicPr>
        <p:blipFill>
          <a:blip r:embed="rId4"/>
          <a:stretch>
            <a:fillRect/>
          </a:stretch>
        </p:blipFill>
        <p:spPr>
          <a:xfrm>
            <a:off x="5832609" y="3921813"/>
            <a:ext cx="123551" cy="179710"/>
          </a:xfrm>
          <a:prstGeom prst="rect">
            <a:avLst/>
          </a:prstGeom>
        </p:spPr>
      </p:pic>
      <p:sp>
        <p:nvSpPr>
          <p:cNvPr id="55" name="TextBox 54"/>
          <p:cNvSpPr txBox="1"/>
          <p:nvPr/>
        </p:nvSpPr>
        <p:spPr>
          <a:xfrm>
            <a:off x="5993405" y="3931201"/>
            <a:ext cx="3804618" cy="179984"/>
          </a:xfrm>
          <a:prstGeom prst="rect">
            <a:avLst/>
          </a:prstGeom>
          <a:noFill/>
        </p:spPr>
        <p:txBody>
          <a:bodyPr wrap="none" lIns="0" tIns="0" rIns="0" bIns="0">
            <a:spAutoFit/>
          </a:bodyPr>
          <a:lstStyle/>
          <a:p>
            <a:r>
              <a:rPr sz="1055" b="0">
                <a:solidFill>
                  <a:srgbClr val="2E2E2E"/>
                </a:solidFill>
                <a:latin typeface="Calibri"/>
              </a:rPr>
              <a:t>US$ Mn. Growth by this point is led by 'Flat Dividers &amp; Layer Pads' at</a:t>
            </a:r>
          </a:p>
        </p:txBody>
      </p:sp>
      <p:pic>
        <p:nvPicPr>
          <p:cNvPr id="56" name="Picture 55" descr="lock.png"/>
          <p:cNvPicPr>
            <a:picLocks noChangeAspect="1"/>
          </p:cNvPicPr>
          <p:nvPr/>
        </p:nvPicPr>
        <p:blipFill>
          <a:blip r:embed="rId4"/>
          <a:stretch>
            <a:fillRect/>
          </a:stretch>
        </p:blipFill>
        <p:spPr>
          <a:xfrm>
            <a:off x="9745105" y="3921813"/>
            <a:ext cx="123551" cy="179710"/>
          </a:xfrm>
          <a:prstGeom prst="rect">
            <a:avLst/>
          </a:prstGeom>
        </p:spPr>
      </p:pic>
      <p:sp>
        <p:nvSpPr>
          <p:cNvPr id="57" name="TextBox 56"/>
          <p:cNvSpPr txBox="1"/>
          <p:nvPr/>
        </p:nvSpPr>
        <p:spPr>
          <a:xfrm>
            <a:off x="9905901" y="3931201"/>
            <a:ext cx="1535175" cy="179984"/>
          </a:xfrm>
          <a:prstGeom prst="rect">
            <a:avLst/>
          </a:prstGeom>
          <a:noFill/>
        </p:spPr>
        <p:txBody>
          <a:bodyPr wrap="none" lIns="0" tIns="0" rIns="0" bIns="0">
            <a:spAutoFit/>
          </a:bodyPr>
          <a:lstStyle/>
          <a:p>
            <a:r>
              <a:rPr sz="1055" b="0">
                <a:solidFill>
                  <a:srgbClr val="2E2E2E"/>
                </a:solidFill>
                <a:latin typeface="Calibri"/>
              </a:rPr>
              <a:t>CAGR and by 'South Asia &amp;</a:t>
            </a:r>
          </a:p>
        </p:txBody>
      </p:sp>
      <p:sp>
        <p:nvSpPr>
          <p:cNvPr id="58" name="TextBox 57"/>
          <p:cNvSpPr txBox="1"/>
          <p:nvPr/>
        </p:nvSpPr>
        <p:spPr>
          <a:xfrm>
            <a:off x="1743075" y="4092135"/>
            <a:ext cx="1433036" cy="179984"/>
          </a:xfrm>
          <a:prstGeom prst="rect">
            <a:avLst/>
          </a:prstGeom>
          <a:noFill/>
        </p:spPr>
        <p:txBody>
          <a:bodyPr wrap="none" lIns="0" tIns="0" rIns="0" bIns="0">
            <a:spAutoFit/>
          </a:bodyPr>
          <a:lstStyle/>
          <a:p>
            <a:r>
              <a:rPr sz="1055" b="0">
                <a:solidFill>
                  <a:srgbClr val="2E2E2E"/>
                </a:solidFill>
                <a:latin typeface="Calibri"/>
              </a:rPr>
              <a:t>Pacific' among regions at</a:t>
            </a:r>
          </a:p>
        </p:txBody>
      </p:sp>
      <p:pic>
        <p:nvPicPr>
          <p:cNvPr id="59" name="Picture 58" descr="lock.png"/>
          <p:cNvPicPr>
            <a:picLocks noChangeAspect="1"/>
          </p:cNvPicPr>
          <p:nvPr/>
        </p:nvPicPr>
        <p:blipFill>
          <a:blip r:embed="rId4"/>
          <a:stretch>
            <a:fillRect/>
          </a:stretch>
        </p:blipFill>
        <p:spPr>
          <a:xfrm>
            <a:off x="3123192" y="4082747"/>
            <a:ext cx="123551" cy="179710"/>
          </a:xfrm>
          <a:prstGeom prst="rect">
            <a:avLst/>
          </a:prstGeom>
        </p:spPr>
      </p:pic>
      <p:sp>
        <p:nvSpPr>
          <p:cNvPr id="60" name="TextBox 59"/>
          <p:cNvSpPr txBox="1"/>
          <p:nvPr/>
        </p:nvSpPr>
        <p:spPr>
          <a:xfrm>
            <a:off x="3283988" y="4092135"/>
            <a:ext cx="3178063" cy="179984"/>
          </a:xfrm>
          <a:prstGeom prst="rect">
            <a:avLst/>
          </a:prstGeom>
          <a:noFill/>
        </p:spPr>
        <p:txBody>
          <a:bodyPr wrap="none" lIns="0" tIns="0" rIns="0" bIns="0">
            <a:spAutoFit/>
          </a:bodyPr>
          <a:lstStyle/>
          <a:p>
            <a:r>
              <a:rPr sz="1055" b="0">
                <a:solidFill>
                  <a:srgbClr val="2E2E2E"/>
                </a:solidFill>
                <a:latin typeface="Calibri"/>
              </a:rPr>
              <a:t>, with 3 of 6 regions running at or above the market rate.</a:t>
            </a:r>
          </a:p>
        </p:txBody>
      </p:sp>
      <p:sp>
        <p:nvSpPr>
          <p:cNvPr id="61" name="TextBox 60"/>
          <p:cNvSpPr txBox="1"/>
          <p:nvPr/>
        </p:nvSpPr>
        <p:spPr>
          <a:xfrm>
            <a:off x="1743075" y="4916901"/>
            <a:ext cx="2190297" cy="179984"/>
          </a:xfrm>
          <a:prstGeom prst="rect">
            <a:avLst/>
          </a:prstGeom>
          <a:noFill/>
        </p:spPr>
        <p:txBody>
          <a:bodyPr wrap="none" lIns="0" tIns="0" rIns="0" bIns="0">
            <a:spAutoFit/>
          </a:bodyPr>
          <a:lstStyle/>
          <a:p>
            <a:r>
              <a:rPr sz="1055" b="0">
                <a:solidFill>
                  <a:srgbClr val="2E2E2E"/>
                </a:solidFill>
                <a:latin typeface="Calibri"/>
              </a:rPr>
              <a:t>Mid-horizon checkpoint: value reaches</a:t>
            </a:r>
          </a:p>
        </p:txBody>
      </p:sp>
      <p:pic>
        <p:nvPicPr>
          <p:cNvPr id="62" name="Picture 61" descr="lock.png"/>
          <p:cNvPicPr>
            <a:picLocks noChangeAspect="1"/>
          </p:cNvPicPr>
          <p:nvPr/>
        </p:nvPicPr>
        <p:blipFill>
          <a:blip r:embed="rId4"/>
          <a:stretch>
            <a:fillRect/>
          </a:stretch>
        </p:blipFill>
        <p:spPr>
          <a:xfrm>
            <a:off x="3880454" y="4907513"/>
            <a:ext cx="123551" cy="179710"/>
          </a:xfrm>
          <a:prstGeom prst="rect">
            <a:avLst/>
          </a:prstGeom>
        </p:spPr>
      </p:pic>
      <p:sp>
        <p:nvSpPr>
          <p:cNvPr id="63" name="TextBox 62"/>
          <p:cNvSpPr txBox="1"/>
          <p:nvPr/>
        </p:nvSpPr>
        <p:spPr>
          <a:xfrm>
            <a:off x="4041250" y="4916901"/>
            <a:ext cx="541139" cy="179984"/>
          </a:xfrm>
          <a:prstGeom prst="rect">
            <a:avLst/>
          </a:prstGeom>
          <a:noFill/>
        </p:spPr>
        <p:txBody>
          <a:bodyPr wrap="none" lIns="0" tIns="0" rIns="0" bIns="0">
            <a:spAutoFit/>
          </a:bodyPr>
          <a:lstStyle/>
          <a:p>
            <a:r>
              <a:rPr sz="1055" b="0">
                <a:solidFill>
                  <a:srgbClr val="2E2E2E"/>
                </a:solidFill>
                <a:latin typeface="Calibri"/>
              </a:rPr>
              <a:t>US$ Mn,</a:t>
            </a:r>
          </a:p>
        </p:txBody>
      </p:sp>
      <p:pic>
        <p:nvPicPr>
          <p:cNvPr id="64" name="Picture 63" descr="lock.png"/>
          <p:cNvPicPr>
            <a:picLocks noChangeAspect="1"/>
          </p:cNvPicPr>
          <p:nvPr/>
        </p:nvPicPr>
        <p:blipFill>
          <a:blip r:embed="rId4"/>
          <a:stretch>
            <a:fillRect/>
          </a:stretch>
        </p:blipFill>
        <p:spPr>
          <a:xfrm>
            <a:off x="4529470" y="4907513"/>
            <a:ext cx="123551" cy="179710"/>
          </a:xfrm>
          <a:prstGeom prst="rect">
            <a:avLst/>
          </a:prstGeom>
        </p:spPr>
      </p:pic>
      <p:sp>
        <p:nvSpPr>
          <p:cNvPr id="65" name="TextBox 64"/>
          <p:cNvSpPr txBox="1"/>
          <p:nvPr/>
        </p:nvSpPr>
        <p:spPr>
          <a:xfrm>
            <a:off x="4690266" y="4916901"/>
            <a:ext cx="2581333" cy="179984"/>
          </a:xfrm>
          <a:prstGeom prst="rect">
            <a:avLst/>
          </a:prstGeom>
          <a:noFill/>
        </p:spPr>
        <p:txBody>
          <a:bodyPr wrap="none" lIns="0" tIns="0" rIns="0" bIns="0">
            <a:spAutoFit/>
          </a:bodyPr>
          <a:lstStyle/>
          <a:p>
            <a:r>
              <a:rPr sz="1055" b="0">
                <a:solidFill>
                  <a:srgbClr val="2E2E2E"/>
                </a:solidFill>
                <a:latin typeface="Calibri"/>
              </a:rPr>
              <a:t>× the 2026 base. Average realisation stands at</a:t>
            </a:r>
          </a:p>
        </p:txBody>
      </p:sp>
      <p:pic>
        <p:nvPicPr>
          <p:cNvPr id="66" name="Picture 65" descr="lock.png"/>
          <p:cNvPicPr>
            <a:picLocks noChangeAspect="1"/>
          </p:cNvPicPr>
          <p:nvPr/>
        </p:nvPicPr>
        <p:blipFill>
          <a:blip r:embed="rId4"/>
          <a:stretch>
            <a:fillRect/>
          </a:stretch>
        </p:blipFill>
        <p:spPr>
          <a:xfrm>
            <a:off x="7218681" y="4907513"/>
            <a:ext cx="123551" cy="179710"/>
          </a:xfrm>
          <a:prstGeom prst="rect">
            <a:avLst/>
          </a:prstGeom>
        </p:spPr>
      </p:pic>
      <p:sp>
        <p:nvSpPr>
          <p:cNvPr id="67" name="TextBox 66"/>
          <p:cNvSpPr txBox="1"/>
          <p:nvPr/>
        </p:nvSpPr>
        <p:spPr>
          <a:xfrm>
            <a:off x="7379477" y="4916901"/>
            <a:ext cx="1740288" cy="179984"/>
          </a:xfrm>
          <a:prstGeom prst="rect">
            <a:avLst/>
          </a:prstGeom>
          <a:noFill/>
        </p:spPr>
        <p:txBody>
          <a:bodyPr wrap="none" lIns="0" tIns="0" rIns="0" bIns="0">
            <a:spAutoFit/>
          </a:bodyPr>
          <a:lstStyle/>
          <a:p>
            <a:r>
              <a:rPr sz="1055" b="0">
                <a:solidFill>
                  <a:srgbClr val="2E2E2E"/>
                </a:solidFill>
                <a:latin typeface="Calibri"/>
              </a:rPr>
              <a:t>US$/MT, and mix has moved +</a:t>
            </a:r>
          </a:p>
        </p:txBody>
      </p:sp>
      <p:pic>
        <p:nvPicPr>
          <p:cNvPr id="68" name="Picture 67" descr="lock.png"/>
          <p:cNvPicPr>
            <a:picLocks noChangeAspect="1"/>
          </p:cNvPicPr>
          <p:nvPr/>
        </p:nvPicPr>
        <p:blipFill>
          <a:blip r:embed="rId4"/>
          <a:stretch>
            <a:fillRect/>
          </a:stretch>
        </p:blipFill>
        <p:spPr>
          <a:xfrm>
            <a:off x="9066848" y="4907513"/>
            <a:ext cx="123551" cy="179710"/>
          </a:xfrm>
          <a:prstGeom prst="rect">
            <a:avLst/>
          </a:prstGeom>
        </p:spPr>
      </p:pic>
      <p:sp>
        <p:nvSpPr>
          <p:cNvPr id="69" name="TextBox 68"/>
          <p:cNvSpPr txBox="1"/>
          <p:nvPr/>
        </p:nvSpPr>
        <p:spPr>
          <a:xfrm>
            <a:off x="9227644" y="4916901"/>
            <a:ext cx="2200775" cy="179984"/>
          </a:xfrm>
          <a:prstGeom prst="rect">
            <a:avLst/>
          </a:prstGeom>
          <a:noFill/>
        </p:spPr>
        <p:txBody>
          <a:bodyPr wrap="none" lIns="0" tIns="0" rIns="0" bIns="0">
            <a:spAutoFit/>
          </a:bodyPr>
          <a:lstStyle/>
          <a:p>
            <a:r>
              <a:rPr sz="1055" b="0">
                <a:solidFill>
                  <a:srgbClr val="2E2E2E"/>
                </a:solidFill>
                <a:latin typeface="Calibri"/>
              </a:rPr>
              <a:t>BPS toward 'Flat Dividers &amp; Layer Pads'</a:t>
            </a:r>
          </a:p>
        </p:txBody>
      </p:sp>
      <p:sp>
        <p:nvSpPr>
          <p:cNvPr id="70" name="TextBox 69"/>
          <p:cNvSpPr txBox="1"/>
          <p:nvPr/>
        </p:nvSpPr>
        <p:spPr>
          <a:xfrm>
            <a:off x="1743075" y="5077835"/>
            <a:ext cx="4038761" cy="179984"/>
          </a:xfrm>
          <a:prstGeom prst="rect">
            <a:avLst/>
          </a:prstGeom>
          <a:noFill/>
        </p:spPr>
        <p:txBody>
          <a:bodyPr wrap="none" lIns="0" tIns="0" rIns="0" bIns="0">
            <a:spAutoFit/>
          </a:bodyPr>
          <a:lstStyle/>
          <a:p>
            <a:r>
              <a:rPr sz="1055" b="0">
                <a:solidFill>
                  <a:srgbClr val="2E2E2E"/>
                </a:solidFill>
                <a:latin typeface="Calibri"/>
              </a:rPr>
              <a:t>while 'Die-Cut &amp; Folded Partitions (H-dividers, tube/cell inserts)' gives up</a:t>
            </a:r>
          </a:p>
        </p:txBody>
      </p:sp>
      <p:pic>
        <p:nvPicPr>
          <p:cNvPr id="71" name="Picture 70" descr="lock.png"/>
          <p:cNvPicPr>
            <a:picLocks noChangeAspect="1"/>
          </p:cNvPicPr>
          <p:nvPr/>
        </p:nvPicPr>
        <p:blipFill>
          <a:blip r:embed="rId4"/>
          <a:stretch>
            <a:fillRect/>
          </a:stretch>
        </p:blipFill>
        <p:spPr>
          <a:xfrm>
            <a:off x="5728918" y="5068447"/>
            <a:ext cx="123551" cy="179710"/>
          </a:xfrm>
          <a:prstGeom prst="rect">
            <a:avLst/>
          </a:prstGeom>
        </p:spPr>
      </p:pic>
      <p:sp>
        <p:nvSpPr>
          <p:cNvPr id="72" name="TextBox 71"/>
          <p:cNvSpPr txBox="1"/>
          <p:nvPr/>
        </p:nvSpPr>
        <p:spPr>
          <a:xfrm>
            <a:off x="5889714" y="5077835"/>
            <a:ext cx="314039" cy="179984"/>
          </a:xfrm>
          <a:prstGeom prst="rect">
            <a:avLst/>
          </a:prstGeom>
          <a:noFill/>
        </p:spPr>
        <p:txBody>
          <a:bodyPr wrap="none" lIns="0" tIns="0" rIns="0" bIns="0">
            <a:spAutoFit/>
          </a:bodyPr>
          <a:lstStyle/>
          <a:p>
            <a:r>
              <a:rPr sz="1055" b="0">
                <a:solidFill>
                  <a:srgbClr val="2E2E2E"/>
                </a:solidFill>
                <a:latin typeface="Calibri"/>
              </a:rPr>
              <a:t>BPS.</a:t>
            </a:r>
          </a:p>
        </p:txBody>
      </p:sp>
      <p:sp>
        <p:nvSpPr>
          <p:cNvPr id="73" name="TextBox 72"/>
          <p:cNvSpPr txBox="1"/>
          <p:nvPr/>
        </p:nvSpPr>
        <p:spPr>
          <a:xfrm>
            <a:off x="1743075" y="5902601"/>
            <a:ext cx="2544146" cy="179984"/>
          </a:xfrm>
          <a:prstGeom prst="rect">
            <a:avLst/>
          </a:prstGeom>
          <a:noFill/>
        </p:spPr>
        <p:txBody>
          <a:bodyPr wrap="none" lIns="0" tIns="0" rIns="0" bIns="0">
            <a:spAutoFit/>
          </a:bodyPr>
          <a:lstStyle/>
          <a:p>
            <a:r>
              <a:rPr sz="1055" b="0">
                <a:solidFill>
                  <a:srgbClr val="2E2E2E"/>
                </a:solidFill>
                <a:latin typeface="Calibri"/>
              </a:rPr>
              <a:t>Forecast outcome: the global market reaches</a:t>
            </a:r>
          </a:p>
        </p:txBody>
      </p:sp>
      <p:pic>
        <p:nvPicPr>
          <p:cNvPr id="74" name="Picture 73" descr="lock.png"/>
          <p:cNvPicPr>
            <a:picLocks noChangeAspect="1"/>
          </p:cNvPicPr>
          <p:nvPr/>
        </p:nvPicPr>
        <p:blipFill>
          <a:blip r:embed="rId4"/>
          <a:stretch>
            <a:fillRect/>
          </a:stretch>
        </p:blipFill>
        <p:spPr>
          <a:xfrm>
            <a:off x="4234303" y="5893213"/>
            <a:ext cx="123551" cy="179710"/>
          </a:xfrm>
          <a:prstGeom prst="rect">
            <a:avLst/>
          </a:prstGeom>
        </p:spPr>
      </p:pic>
      <p:sp>
        <p:nvSpPr>
          <p:cNvPr id="75" name="TextBox 74"/>
          <p:cNvSpPr txBox="1"/>
          <p:nvPr/>
        </p:nvSpPr>
        <p:spPr>
          <a:xfrm>
            <a:off x="4395098" y="5902601"/>
            <a:ext cx="635698" cy="179984"/>
          </a:xfrm>
          <a:prstGeom prst="rect">
            <a:avLst/>
          </a:prstGeom>
          <a:noFill/>
        </p:spPr>
        <p:txBody>
          <a:bodyPr wrap="none" lIns="0" tIns="0" rIns="0" bIns="0">
            <a:spAutoFit/>
          </a:bodyPr>
          <a:lstStyle/>
          <a:p>
            <a:r>
              <a:rPr sz="1055" b="0">
                <a:solidFill>
                  <a:srgbClr val="2E2E2E"/>
                </a:solidFill>
                <a:latin typeface="Calibri"/>
              </a:rPr>
              <a:t>US$ Mn, a</a:t>
            </a:r>
          </a:p>
        </p:txBody>
      </p:sp>
      <p:pic>
        <p:nvPicPr>
          <p:cNvPr id="76" name="Picture 75" descr="lock.png"/>
          <p:cNvPicPr>
            <a:picLocks noChangeAspect="1"/>
          </p:cNvPicPr>
          <p:nvPr/>
        </p:nvPicPr>
        <p:blipFill>
          <a:blip r:embed="rId4"/>
          <a:stretch>
            <a:fillRect/>
          </a:stretch>
        </p:blipFill>
        <p:spPr>
          <a:xfrm>
            <a:off x="4977879" y="5893213"/>
            <a:ext cx="123551" cy="179710"/>
          </a:xfrm>
          <a:prstGeom prst="rect">
            <a:avLst/>
          </a:prstGeom>
        </p:spPr>
      </p:pic>
      <p:sp>
        <p:nvSpPr>
          <p:cNvPr id="77" name="TextBox 76"/>
          <p:cNvSpPr txBox="1"/>
          <p:nvPr/>
        </p:nvSpPr>
        <p:spPr>
          <a:xfrm>
            <a:off x="5138675" y="5902601"/>
            <a:ext cx="1437751" cy="179984"/>
          </a:xfrm>
          <a:prstGeom prst="rect">
            <a:avLst/>
          </a:prstGeom>
          <a:noFill/>
        </p:spPr>
        <p:txBody>
          <a:bodyPr wrap="none" lIns="0" tIns="0" rIns="0" bIns="0">
            <a:spAutoFit/>
          </a:bodyPr>
          <a:lstStyle/>
          <a:p>
            <a:r>
              <a:rPr sz="1055" b="0">
                <a:solidFill>
                  <a:srgbClr val="2E2E2E"/>
                </a:solidFill>
                <a:latin typeface="Calibri"/>
              </a:rPr>
              <a:t>× expansion on 2026 and</a:t>
            </a:r>
          </a:p>
        </p:txBody>
      </p:sp>
      <p:pic>
        <p:nvPicPr>
          <p:cNvPr id="78" name="Picture 77" descr="lock.png"/>
          <p:cNvPicPr>
            <a:picLocks noChangeAspect="1"/>
          </p:cNvPicPr>
          <p:nvPr/>
        </p:nvPicPr>
        <p:blipFill>
          <a:blip r:embed="rId4"/>
          <a:stretch>
            <a:fillRect/>
          </a:stretch>
        </p:blipFill>
        <p:spPr>
          <a:xfrm>
            <a:off x="6523507" y="5893213"/>
            <a:ext cx="123551" cy="179710"/>
          </a:xfrm>
          <a:prstGeom prst="rect">
            <a:avLst/>
          </a:prstGeom>
        </p:spPr>
      </p:pic>
      <p:sp>
        <p:nvSpPr>
          <p:cNvPr id="79" name="TextBox 78"/>
          <p:cNvSpPr txBox="1"/>
          <p:nvPr/>
        </p:nvSpPr>
        <p:spPr>
          <a:xfrm>
            <a:off x="6684303" y="5902601"/>
            <a:ext cx="1799224" cy="179984"/>
          </a:xfrm>
          <a:prstGeom prst="rect">
            <a:avLst/>
          </a:prstGeom>
          <a:noFill/>
        </p:spPr>
        <p:txBody>
          <a:bodyPr wrap="none" lIns="0" tIns="0" rIns="0" bIns="0">
            <a:spAutoFit/>
          </a:bodyPr>
          <a:lstStyle/>
          <a:p>
            <a:r>
              <a:rPr sz="1055" b="0">
                <a:solidFill>
                  <a:srgbClr val="2E2E2E"/>
                </a:solidFill>
                <a:latin typeface="Calibri"/>
              </a:rPr>
              <a:t>US$ Mn of incremental value at</a:t>
            </a:r>
          </a:p>
        </p:txBody>
      </p:sp>
      <p:pic>
        <p:nvPicPr>
          <p:cNvPr id="80" name="Picture 79" descr="lock.png"/>
          <p:cNvPicPr>
            <a:picLocks noChangeAspect="1"/>
          </p:cNvPicPr>
          <p:nvPr/>
        </p:nvPicPr>
        <p:blipFill>
          <a:blip r:embed="rId4"/>
          <a:stretch>
            <a:fillRect/>
          </a:stretch>
        </p:blipFill>
        <p:spPr>
          <a:xfrm>
            <a:off x="8430610" y="5893213"/>
            <a:ext cx="123551" cy="179710"/>
          </a:xfrm>
          <a:prstGeom prst="rect">
            <a:avLst/>
          </a:prstGeom>
        </p:spPr>
      </p:pic>
      <p:sp>
        <p:nvSpPr>
          <p:cNvPr id="81" name="TextBox 80"/>
          <p:cNvSpPr txBox="1"/>
          <p:nvPr/>
        </p:nvSpPr>
        <p:spPr>
          <a:xfrm>
            <a:off x="8591406" y="5902601"/>
            <a:ext cx="1678717" cy="179984"/>
          </a:xfrm>
          <a:prstGeom prst="rect">
            <a:avLst/>
          </a:prstGeom>
          <a:noFill/>
        </p:spPr>
        <p:txBody>
          <a:bodyPr wrap="none" lIns="0" tIns="0" rIns="0" bIns="0">
            <a:spAutoFit/>
          </a:bodyPr>
          <a:lstStyle/>
          <a:p>
            <a:r>
              <a:rPr sz="1055" b="0">
                <a:solidFill>
                  <a:srgbClr val="2E2E2E"/>
                </a:solidFill>
                <a:latin typeface="Calibri"/>
              </a:rPr>
              <a:t>CAGR. Volume compounds at</a:t>
            </a:r>
          </a:p>
        </p:txBody>
      </p:sp>
      <p:pic>
        <p:nvPicPr>
          <p:cNvPr id="82" name="Picture 81" descr="lock.png"/>
          <p:cNvPicPr>
            <a:picLocks noChangeAspect="1"/>
          </p:cNvPicPr>
          <p:nvPr/>
        </p:nvPicPr>
        <p:blipFill>
          <a:blip r:embed="rId4"/>
          <a:stretch>
            <a:fillRect/>
          </a:stretch>
        </p:blipFill>
        <p:spPr>
          <a:xfrm>
            <a:off x="10217204" y="5893213"/>
            <a:ext cx="123551" cy="179710"/>
          </a:xfrm>
          <a:prstGeom prst="rect">
            <a:avLst/>
          </a:prstGeom>
        </p:spPr>
      </p:pic>
      <p:sp>
        <p:nvSpPr>
          <p:cNvPr id="83" name="TextBox 82"/>
          <p:cNvSpPr txBox="1"/>
          <p:nvPr/>
        </p:nvSpPr>
        <p:spPr>
          <a:xfrm>
            <a:off x="10378000" y="5902601"/>
            <a:ext cx="854678" cy="179984"/>
          </a:xfrm>
          <a:prstGeom prst="rect">
            <a:avLst/>
          </a:prstGeom>
          <a:noFill/>
        </p:spPr>
        <p:txBody>
          <a:bodyPr wrap="none" lIns="0" tIns="0" rIns="0" bIns="0">
            <a:spAutoFit/>
          </a:bodyPr>
          <a:lstStyle/>
          <a:p>
            <a:r>
              <a:rPr sz="1055" b="0">
                <a:solidFill>
                  <a:srgbClr val="2E2E2E"/>
                </a:solidFill>
                <a:latin typeface="Calibri"/>
              </a:rPr>
              <a:t>over the same</a:t>
            </a:r>
          </a:p>
        </p:txBody>
      </p:sp>
      <p:sp>
        <p:nvSpPr>
          <p:cNvPr id="84" name="TextBox 83"/>
          <p:cNvSpPr txBox="1"/>
          <p:nvPr/>
        </p:nvSpPr>
        <p:spPr>
          <a:xfrm>
            <a:off x="1743075" y="6063535"/>
            <a:ext cx="1565052" cy="179984"/>
          </a:xfrm>
          <a:prstGeom prst="rect">
            <a:avLst/>
          </a:prstGeom>
          <a:noFill/>
        </p:spPr>
        <p:txBody>
          <a:bodyPr wrap="none" lIns="0" tIns="0" rIns="0" bIns="0">
            <a:spAutoFit/>
          </a:bodyPr>
          <a:lstStyle/>
          <a:p>
            <a:r>
              <a:rPr sz="1055" b="0">
                <a:solidFill>
                  <a:srgbClr val="2E2E2E"/>
                </a:solidFill>
                <a:latin typeface="Calibri"/>
              </a:rPr>
              <a:t>window, leaving realisation</a:t>
            </a:r>
          </a:p>
        </p:txBody>
      </p:sp>
      <p:pic>
        <p:nvPicPr>
          <p:cNvPr id="85" name="Picture 84" descr="lock.png"/>
          <p:cNvPicPr>
            <a:picLocks noChangeAspect="1"/>
          </p:cNvPicPr>
          <p:nvPr/>
        </p:nvPicPr>
        <p:blipFill>
          <a:blip r:embed="rId4"/>
          <a:stretch>
            <a:fillRect/>
          </a:stretch>
        </p:blipFill>
        <p:spPr>
          <a:xfrm>
            <a:off x="3255209" y="6054147"/>
            <a:ext cx="123551" cy="179710"/>
          </a:xfrm>
          <a:prstGeom prst="rect">
            <a:avLst/>
          </a:prstGeom>
        </p:spPr>
      </p:pic>
      <p:sp>
        <p:nvSpPr>
          <p:cNvPr id="86" name="TextBox 85"/>
          <p:cNvSpPr txBox="1"/>
          <p:nvPr/>
        </p:nvSpPr>
        <p:spPr>
          <a:xfrm>
            <a:off x="3416005" y="6063535"/>
            <a:ext cx="4255412" cy="179984"/>
          </a:xfrm>
          <a:prstGeom prst="rect">
            <a:avLst/>
          </a:prstGeom>
          <a:noFill/>
        </p:spPr>
        <p:txBody>
          <a:bodyPr wrap="none" lIns="0" tIns="0" rIns="0" bIns="0">
            <a:spAutoFit/>
          </a:bodyPr>
          <a:lstStyle/>
          <a:p>
            <a:r>
              <a:rPr sz="1055" b="0">
                <a:solidFill>
                  <a:srgbClr val="2E2E2E"/>
                </a:solidFill>
                <a:latin typeface="Calibri"/>
              </a:rPr>
              <a:t>a year the gap between the two is the premiumisation the forecast assumes.</a:t>
            </a:r>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Porter's Five Forces Analysis Global Corrugated Partition Market</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TextBox 10"/>
          <p:cNvSpPr txBox="1"/>
          <p:nvPr/>
        </p:nvSpPr>
        <p:spPr>
          <a:xfrm>
            <a:off x="142875" y="989007"/>
            <a:ext cx="11906250" cy="328567"/>
          </a:xfrm>
          <a:prstGeom prst="rect">
            <a:avLst/>
          </a:prstGeom>
          <a:noFill/>
        </p:spPr>
        <p:txBody>
          <a:bodyPr wrap="square" lIns="28575" tIns="9525" rIns="28575" bIns="9525" anchor="ctr">
            <a:spAutoFit/>
          </a:bodyPr>
          <a:lstStyle/>
          <a:p>
            <a:pPr algn="l">
              <a:lnSpc>
                <a:spcPct val="115000"/>
              </a:lnSpc>
            </a:pPr>
            <a:endParaRP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1047750" y="1664394"/>
            <a:ext cx="571500" cy="401581"/>
          </a:xfrm>
          <a:prstGeom prst="rect">
            <a:avLst/>
          </a:prstGeom>
          <a:noFill/>
        </p:spPr>
        <p:txBody>
          <a:bodyPr wrap="none" lIns="0" tIns="0" r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tIns="9525" rIns="2857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tIns="9525" rIns="28575" bIns="9525" anchor="ctr">
            <a:spAutoFit/>
          </a:bodyPr>
          <a:lstStyle/>
          <a:p>
            <a:pPr algn="l">
              <a:lnSpc>
                <a:spcPct val="115000"/>
              </a:lnSpc>
            </a:pPr>
            <a:endParaRPr/>
          </a:p>
        </p:txBody>
      </p:sp>
      <p:sp>
        <p:nvSpPr>
          <p:cNvPr id="16" name="TextBox 15"/>
          <p:cNvSpPr txBox="1"/>
          <p:nvPr/>
        </p:nvSpPr>
        <p:spPr>
          <a:xfrm>
            <a:off x="247650" y="3663174"/>
            <a:ext cx="2171700" cy="775782"/>
          </a:xfrm>
          <a:prstGeom prst="rect">
            <a:avLst/>
          </a:prstGeom>
          <a:noFill/>
        </p:spPr>
        <p:txBody>
          <a:bodyPr wrap="square" lIns="28575" tIns="9525" rIns="28575" bIns="9525" anchor="ctr">
            <a:spAutoFit/>
          </a:bodyPr>
          <a:lstStyle/>
          <a:p>
            <a:pPr algn="l">
              <a:lnSpc>
                <a:spcPct val="115000"/>
              </a:lnSpc>
            </a:pPr>
            <a:endParaRPr/>
          </a:p>
        </p:txBody>
      </p:sp>
      <p:sp>
        <p:nvSpPr>
          <p:cNvPr id="17" name="TextBox 16"/>
          <p:cNvSpPr txBox="1"/>
          <p:nvPr/>
        </p:nvSpPr>
        <p:spPr>
          <a:xfrm>
            <a:off x="247650" y="4530225"/>
            <a:ext cx="2171700" cy="775782"/>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  Buyers can rebalance across 3 partition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2600325" y="2376288"/>
            <a:ext cx="2228850" cy="365074"/>
          </a:xfrm>
          <a:prstGeom prst="rect">
            <a:avLst/>
          </a:prstGeom>
          <a:noFill/>
        </p:spPr>
        <p:txBody>
          <a:bodyPr wrap="square" lIns="28575" tIns="9525" rIns="2857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967446"/>
          </a:xfrm>
          <a:prstGeom prst="rect">
            <a:avLst/>
          </a:prstGeom>
          <a:noFill/>
        </p:spPr>
        <p:txBody>
          <a:bodyPr wrap="square" lIns="28575" tIns="9525" rIns="28575" bIns="9525" anchor="ctr">
            <a:spAutoFit/>
          </a:bodyPr>
          <a:lstStyle/>
          <a:p>
            <a:pPr algn="l">
              <a:lnSpc>
                <a:spcPct val="115000"/>
              </a:lnSpc>
            </a:pPr>
            <a:endParaRPr/>
          </a:p>
        </p:txBody>
      </p:sp>
      <p:sp>
        <p:nvSpPr>
          <p:cNvPr id="25" name="TextBox 24"/>
          <p:cNvSpPr txBox="1"/>
          <p:nvPr/>
        </p:nvSpPr>
        <p:spPr>
          <a:xfrm>
            <a:off x="2628900" y="3854838"/>
            <a:ext cx="2171700" cy="593245"/>
          </a:xfrm>
          <a:prstGeom prst="rect">
            <a:avLst/>
          </a:prstGeom>
          <a:noFill/>
        </p:spPr>
        <p:txBody>
          <a:bodyPr wrap="square" lIns="28575" tIns="9525" rIns="28575" bIns="9525" anchor="ctr">
            <a:spAutoFit/>
          </a:bodyPr>
          <a:lstStyle/>
          <a:p>
            <a:pPr algn="l">
              <a:lnSpc>
                <a:spcPct val="115000"/>
              </a:lnSpc>
            </a:pPr>
            <a:endParaRPr/>
          </a:p>
        </p:txBody>
      </p:sp>
      <p:sp>
        <p:nvSpPr>
          <p:cNvPr id="26" name="TextBox 25"/>
          <p:cNvSpPr txBox="1"/>
          <p:nvPr/>
        </p:nvSpPr>
        <p:spPr>
          <a:xfrm>
            <a:off x="2628900" y="4539352"/>
            <a:ext cx="2171700" cy="593245"/>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  Switching is easiest where 3 comparable partition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4981575" y="2376288"/>
            <a:ext cx="2228850" cy="365074"/>
          </a:xfrm>
          <a:prstGeom prst="rect">
            <a:avLst/>
          </a:prstGeom>
          <a:noFill/>
        </p:spPr>
        <p:txBody>
          <a:bodyPr wrap="square" lIns="28575" tIns="9525" rIns="2857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tIns="9525" rIns="28575" bIns="9525" anchor="ctr">
            <a:spAutoFit/>
          </a:bodyPr>
          <a:lstStyle/>
          <a:p>
            <a:pPr algn="l">
              <a:lnSpc>
                <a:spcPct val="115000"/>
              </a:lnSpc>
            </a:pPr>
            <a:endParaRPr/>
          </a:p>
        </p:txBody>
      </p:sp>
      <p:sp>
        <p:nvSpPr>
          <p:cNvPr id="36" name="TextBox 35"/>
          <p:cNvSpPr txBox="1"/>
          <p:nvPr/>
        </p:nvSpPr>
        <p:spPr>
          <a:xfrm>
            <a:off x="5010150" y="3480637"/>
            <a:ext cx="2171700" cy="967446"/>
          </a:xfrm>
          <a:prstGeom prst="rect">
            <a:avLst/>
          </a:prstGeom>
          <a:noFill/>
        </p:spPr>
        <p:txBody>
          <a:bodyPr wrap="square" lIns="28575" tIns="9525" rIns="28575" bIns="9525" anchor="ctr">
            <a:spAutoFit/>
          </a:bodyPr>
          <a:lstStyle/>
          <a:p>
            <a:pPr algn="l">
              <a:lnSpc>
                <a:spcPct val="115000"/>
              </a:lnSpc>
            </a:pPr>
            <a:endParaRPr/>
          </a:p>
        </p:txBody>
      </p:sp>
      <p:sp>
        <p:nvSpPr>
          <p:cNvPr id="37" name="TextBox 36"/>
          <p:cNvSpPr txBox="1"/>
          <p:nvPr/>
        </p:nvSpPr>
        <p:spPr>
          <a:xfrm>
            <a:off x="5010150" y="4539352"/>
            <a:ext cx="2171700" cy="593245"/>
          </a:xfrm>
          <a:prstGeom prst="rect">
            <a:avLst/>
          </a:prstGeom>
          <a:noFill/>
        </p:spPr>
        <p:txBody>
          <a:bodyPr wrap="square" lIns="28575" tIns="9525" rIns="28575" bIns="9525" anchor="ctr">
            <a:spAutoFit/>
          </a:bodyPr>
          <a:lstStyle/>
          <a:p>
            <a:pPr algn="l">
              <a:lnSpc>
                <a:spcPct val="115000"/>
              </a:lnSpc>
            </a:pPr>
            <a:endParaRP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7362825" y="2376288"/>
            <a:ext cx="2228850" cy="365074"/>
          </a:xfrm>
          <a:prstGeom prst="rect">
            <a:avLst/>
          </a:prstGeom>
          <a:noFill/>
        </p:spPr>
        <p:txBody>
          <a:bodyPr wrap="square" lIns="28575" tIns="9525" rIns="2857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1341647"/>
          </a:xfrm>
          <a:prstGeom prst="rect">
            <a:avLst/>
          </a:prstGeom>
          <a:noFill/>
        </p:spPr>
        <p:txBody>
          <a:bodyPr wrap="square" lIns="28575" tIns="9525" rIns="28575" bIns="9525" anchor="ctr">
            <a:spAutoFit/>
          </a:bodyPr>
          <a:lstStyle/>
          <a:p>
            <a:pPr algn="l">
              <a:lnSpc>
                <a:spcPct val="115000"/>
              </a:lnSpc>
            </a:pPr>
            <a:endParaRPr/>
          </a:p>
        </p:txBody>
      </p:sp>
      <p:sp>
        <p:nvSpPr>
          <p:cNvPr id="44" name="TextBox 43"/>
          <p:cNvSpPr txBox="1"/>
          <p:nvPr/>
        </p:nvSpPr>
        <p:spPr>
          <a:xfrm>
            <a:off x="7391400" y="4229039"/>
            <a:ext cx="2171700" cy="401581"/>
          </a:xfrm>
          <a:prstGeom prst="rect">
            <a:avLst/>
          </a:prstGeom>
          <a:noFill/>
        </p:spPr>
        <p:txBody>
          <a:bodyPr wrap="square" lIns="28575" tIns="9525" rIns="28575" bIns="9525" anchor="ctr">
            <a:spAutoFit/>
          </a:bodyPr>
          <a:lstStyle/>
          <a:p>
            <a:pPr algn="l">
              <a:lnSpc>
                <a:spcPct val="115000"/>
              </a:lnSpc>
            </a:pPr>
            <a:endParaRPr/>
          </a:p>
        </p:txBody>
      </p:sp>
      <p:sp>
        <p:nvSpPr>
          <p:cNvPr id="45" name="TextBox 44"/>
          <p:cNvSpPr txBox="1"/>
          <p:nvPr/>
        </p:nvSpPr>
        <p:spPr>
          <a:xfrm>
            <a:off x="7391400" y="4721889"/>
            <a:ext cx="2171700" cy="593245"/>
          </a:xfrm>
          <a:prstGeom prst="rect">
            <a:avLst/>
          </a:prstGeom>
          <a:noFill/>
        </p:spPr>
        <p:txBody>
          <a:bodyPr wrap="square" lIns="28575" tIns="9525" rIns="28575" bIns="9525" anchor="ctr">
            <a:spAutoFit/>
          </a:bodyPr>
          <a:lstStyle/>
          <a:p>
            <a:pPr algn="l">
              <a:lnSpc>
                <a:spcPct val="115000"/>
              </a:lnSpc>
            </a:pPr>
            <a:endParaRP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9744075" y="2376288"/>
            <a:ext cx="2228850" cy="365074"/>
          </a:xfrm>
          <a:prstGeom prst="rect">
            <a:avLst/>
          </a:prstGeom>
          <a:noFill/>
        </p:spPr>
        <p:txBody>
          <a:bodyPr wrap="square" lIns="28575" tIns="9525" rIns="2857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tIns="9525" rIns="28575" bIns="9525" anchor="ctr">
            <a:spAutoFit/>
          </a:bodyPr>
          <a:lstStyle/>
          <a:p>
            <a:pPr algn="l">
              <a:lnSpc>
                <a:spcPct val="115000"/>
              </a:lnSpc>
            </a:pPr>
            <a:endParaRPr/>
          </a:p>
        </p:txBody>
      </p:sp>
      <p:sp>
        <p:nvSpPr>
          <p:cNvPr id="55" name="TextBox 54"/>
          <p:cNvSpPr txBox="1"/>
          <p:nvPr/>
        </p:nvSpPr>
        <p:spPr>
          <a:xfrm>
            <a:off x="9772650" y="3663174"/>
            <a:ext cx="2171700" cy="593245"/>
          </a:xfrm>
          <a:prstGeom prst="rect">
            <a:avLst/>
          </a:prstGeom>
          <a:noFill/>
        </p:spPr>
        <p:txBody>
          <a:bodyPr wrap="square" lIns="28575" tIns="9525" rIns="28575" bIns="9525" anchor="ctr">
            <a:spAutoFit/>
          </a:bodyPr>
          <a:lstStyle/>
          <a:p>
            <a:pPr algn="l">
              <a:lnSpc>
                <a:spcPct val="115000"/>
              </a:lnSpc>
            </a:pPr>
            <a:endParaRPr/>
          </a:p>
        </p:txBody>
      </p:sp>
      <p:sp>
        <p:nvSpPr>
          <p:cNvPr id="56" name="TextBox 55"/>
          <p:cNvSpPr txBox="1"/>
          <p:nvPr/>
        </p:nvSpPr>
        <p:spPr>
          <a:xfrm>
            <a:off x="9772650" y="4347688"/>
            <a:ext cx="2171700" cy="775782"/>
          </a:xfrm>
          <a:prstGeom prst="rect">
            <a:avLst/>
          </a:prstGeom>
          <a:noFill/>
        </p:spPr>
        <p:txBody>
          <a:bodyPr wrap="square" lIns="28575" tIns="9525" rIns="28575" bIns="9525" anchor="ctr">
            <a:spAutoFit/>
          </a:bodyPr>
          <a:lstStyle/>
          <a:p>
            <a:pPr algn="l">
              <a:lnSpc>
                <a:spcPct val="115000"/>
              </a:lnSpc>
            </a:pPr>
            <a:endParaRPr/>
          </a:p>
        </p:txBody>
      </p:sp>
      <p:sp>
        <p:nvSpPr>
          <p:cNvPr id="57" name="TextBox 5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171450" y="1069470"/>
            <a:ext cx="9740056" cy="186689"/>
          </a:xfrm>
          <a:prstGeom prst="rect">
            <a:avLst/>
          </a:prstGeom>
          <a:noFill/>
        </p:spPr>
        <p:txBody>
          <a:bodyPr wrap="none" lIns="0" tIns="0" rIns="0" bIns="0">
            <a:spAutoFit/>
          </a:bodyPr>
          <a:lstStyle/>
          <a:p>
            <a:r>
              <a:rPr sz="1100" b="0">
                <a:solidFill>
                  <a:srgbClr val="6C7A89"/>
                </a:solidFill>
                <a:latin typeface="Calibri"/>
              </a:rPr>
              <a:t>Supplier power, buyer power, competitive intensity, substitution and entry barriers scored from the global dataset 3 partition type lines, 7 end use routes and 6 regions at</a:t>
            </a:r>
          </a:p>
        </p:txBody>
      </p:sp>
      <p:pic>
        <p:nvPicPr>
          <p:cNvPr id="59" name="Picture 58" descr="lock.png"/>
          <p:cNvPicPr>
            <a:picLocks noChangeAspect="1"/>
          </p:cNvPicPr>
          <p:nvPr/>
        </p:nvPicPr>
        <p:blipFill>
          <a:blip r:embed="rId4"/>
          <a:stretch>
            <a:fillRect/>
          </a:stretch>
        </p:blipFill>
        <p:spPr>
          <a:xfrm>
            <a:off x="9859558" y="1059691"/>
            <a:ext cx="128699" cy="187198"/>
          </a:xfrm>
          <a:prstGeom prst="rect">
            <a:avLst/>
          </a:prstGeom>
        </p:spPr>
      </p:pic>
      <p:sp>
        <p:nvSpPr>
          <p:cNvPr id="60" name="TextBox 59"/>
          <p:cNvSpPr txBox="1"/>
          <p:nvPr/>
        </p:nvSpPr>
        <p:spPr>
          <a:xfrm>
            <a:off x="10027054" y="1069470"/>
            <a:ext cx="430617" cy="186689"/>
          </a:xfrm>
          <a:prstGeom prst="rect">
            <a:avLst/>
          </a:prstGeom>
          <a:noFill/>
        </p:spPr>
        <p:txBody>
          <a:bodyPr wrap="none" lIns="0" tIns="0" rIns="0" bIns="0">
            <a:spAutoFit/>
          </a:bodyPr>
          <a:lstStyle/>
          <a:p>
            <a:r>
              <a:rPr sz="1100" b="0">
                <a:solidFill>
                  <a:srgbClr val="6C7A89"/>
                </a:solidFill>
                <a:latin typeface="Calibri"/>
              </a:rPr>
              <a:t>CAGR.</a:t>
            </a:r>
          </a:p>
        </p:txBody>
      </p:sp>
      <p:sp>
        <p:nvSpPr>
          <p:cNvPr id="61" name="TextBox 60"/>
          <p:cNvSpPr txBox="1"/>
          <p:nvPr/>
        </p:nvSpPr>
        <p:spPr>
          <a:xfrm>
            <a:off x="276225" y="2848734"/>
            <a:ext cx="2114550" cy="186689"/>
          </a:xfrm>
          <a:prstGeom prst="rect">
            <a:avLst/>
          </a:prstGeom>
          <a:noFill/>
        </p:spPr>
        <p:txBody>
          <a:bodyPr wrap="none" lIns="0" tIns="0" rIns="0" bIns="0">
            <a:spAutoFit/>
          </a:bodyPr>
          <a:lstStyle/>
          <a:p>
            <a:r>
              <a:rPr sz="1100" b="0">
                <a:solidFill>
                  <a:srgbClr val="2E2E2E"/>
                </a:solidFill>
                <a:latin typeface="Calibri"/>
              </a:rPr>
              <a:t>▸ Assessed moderate to high. 'North</a:t>
            </a:r>
          </a:p>
        </p:txBody>
      </p:sp>
      <p:sp>
        <p:nvSpPr>
          <p:cNvPr id="62" name="TextBox 61"/>
          <p:cNvSpPr txBox="1"/>
          <p:nvPr/>
        </p:nvSpPr>
        <p:spPr>
          <a:xfrm>
            <a:off x="276225" y="3016374"/>
            <a:ext cx="1071016" cy="186689"/>
          </a:xfrm>
          <a:prstGeom prst="rect">
            <a:avLst/>
          </a:prstGeom>
          <a:noFill/>
        </p:spPr>
        <p:txBody>
          <a:bodyPr wrap="none" lIns="0" tIns="0" rIns="0" bIns="0">
            <a:spAutoFit/>
          </a:bodyPr>
          <a:lstStyle/>
          <a:p>
            <a:r>
              <a:rPr sz="1100" b="0">
                <a:solidFill>
                  <a:srgbClr val="2E2E2E"/>
                </a:solidFill>
                <a:latin typeface="Calibri"/>
              </a:rPr>
              <a:t>America' supplies</a:t>
            </a:r>
          </a:p>
        </p:txBody>
      </p:sp>
      <p:pic>
        <p:nvPicPr>
          <p:cNvPr id="63" name="Picture 62" descr="lock.png"/>
          <p:cNvPicPr>
            <a:picLocks noChangeAspect="1"/>
          </p:cNvPicPr>
          <p:nvPr/>
        </p:nvPicPr>
        <p:blipFill>
          <a:blip r:embed="rId4"/>
          <a:stretch>
            <a:fillRect/>
          </a:stretch>
        </p:blipFill>
        <p:spPr>
          <a:xfrm>
            <a:off x="1295293" y="3006595"/>
            <a:ext cx="128699" cy="187198"/>
          </a:xfrm>
          <a:prstGeom prst="rect">
            <a:avLst/>
          </a:prstGeom>
        </p:spPr>
      </p:pic>
      <p:sp>
        <p:nvSpPr>
          <p:cNvPr id="64" name="TextBox 63"/>
          <p:cNvSpPr txBox="1"/>
          <p:nvPr/>
        </p:nvSpPr>
        <p:spPr>
          <a:xfrm>
            <a:off x="1462789" y="3016374"/>
            <a:ext cx="844549" cy="186689"/>
          </a:xfrm>
          <a:prstGeom prst="rect">
            <a:avLst/>
          </a:prstGeom>
          <a:noFill/>
        </p:spPr>
        <p:txBody>
          <a:bodyPr wrap="none" lIns="0" tIns="0" rIns="0" bIns="0">
            <a:spAutoFit/>
          </a:bodyPr>
          <a:lstStyle/>
          <a:p>
            <a:r>
              <a:rPr sz="1100" b="0">
                <a:solidFill>
                  <a:srgbClr val="2E2E2E"/>
                </a:solidFill>
                <a:latin typeface="Calibri"/>
              </a:rPr>
              <a:t>of 2036 value</a:t>
            </a:r>
          </a:p>
        </p:txBody>
      </p:sp>
      <p:sp>
        <p:nvSpPr>
          <p:cNvPr id="65" name="TextBox 64"/>
          <p:cNvSpPr txBox="1"/>
          <p:nvPr/>
        </p:nvSpPr>
        <p:spPr>
          <a:xfrm>
            <a:off x="276225" y="3184014"/>
            <a:ext cx="1842095" cy="186689"/>
          </a:xfrm>
          <a:prstGeom prst="rect">
            <a:avLst/>
          </a:prstGeom>
          <a:noFill/>
        </p:spPr>
        <p:txBody>
          <a:bodyPr wrap="none" lIns="0" tIns="0" rIns="0" bIns="0">
            <a:spAutoFit/>
          </a:bodyPr>
          <a:lstStyle/>
          <a:p>
            <a:r>
              <a:rPr sz="1100" b="0">
                <a:solidFill>
                  <a:srgbClr val="2E2E2E"/>
                </a:solidFill>
                <a:latin typeface="Calibri"/>
              </a:rPr>
              <a:t>across 6 regions, concentrating</a:t>
            </a:r>
          </a:p>
        </p:txBody>
      </p:sp>
      <p:sp>
        <p:nvSpPr>
          <p:cNvPr id="66" name="TextBox 65"/>
          <p:cNvSpPr txBox="1"/>
          <p:nvPr/>
        </p:nvSpPr>
        <p:spPr>
          <a:xfrm>
            <a:off x="276225" y="3351654"/>
            <a:ext cx="1173608" cy="186689"/>
          </a:xfrm>
          <a:prstGeom prst="rect">
            <a:avLst/>
          </a:prstGeom>
          <a:noFill/>
        </p:spPr>
        <p:txBody>
          <a:bodyPr wrap="none" lIns="0" tIns="0" rIns="0" bIns="0">
            <a:spAutoFit/>
          </a:bodyPr>
          <a:lstStyle/>
          <a:p>
            <a:r>
              <a:rPr sz="1100" b="0">
                <a:solidFill>
                  <a:srgbClr val="2E2E2E"/>
                </a:solidFill>
                <a:latin typeface="Calibri"/>
              </a:rPr>
              <a:t>upstream leverage.</a:t>
            </a:r>
          </a:p>
        </p:txBody>
      </p:sp>
      <p:sp>
        <p:nvSpPr>
          <p:cNvPr id="67" name="TextBox 66"/>
          <p:cNvSpPr txBox="1"/>
          <p:nvPr/>
        </p:nvSpPr>
        <p:spPr>
          <a:xfrm>
            <a:off x="276225" y="3799605"/>
            <a:ext cx="1676163" cy="186689"/>
          </a:xfrm>
          <a:prstGeom prst="rect">
            <a:avLst/>
          </a:prstGeom>
          <a:noFill/>
        </p:spPr>
        <p:txBody>
          <a:bodyPr wrap="none" lIns="0" tIns="0" rIns="0" bIns="0">
            <a:spAutoFit/>
          </a:bodyPr>
          <a:lstStyle/>
          <a:p>
            <a:r>
              <a:rPr sz="1100" b="0">
                <a:solidFill>
                  <a:srgbClr val="2E2E2E"/>
                </a:solidFill>
                <a:latin typeface="Calibri"/>
              </a:rPr>
              <a:t>▸ Average realisation moves</a:t>
            </a:r>
          </a:p>
        </p:txBody>
      </p:sp>
      <p:pic>
        <p:nvPicPr>
          <p:cNvPr id="68" name="Picture 67" descr="lock.png"/>
          <p:cNvPicPr>
            <a:picLocks noChangeAspect="1"/>
          </p:cNvPicPr>
          <p:nvPr/>
        </p:nvPicPr>
        <p:blipFill>
          <a:blip r:embed="rId4"/>
          <a:stretch>
            <a:fillRect/>
          </a:stretch>
        </p:blipFill>
        <p:spPr>
          <a:xfrm>
            <a:off x="1900439" y="3789826"/>
            <a:ext cx="128699" cy="187198"/>
          </a:xfrm>
          <a:prstGeom prst="rect">
            <a:avLst/>
          </a:prstGeom>
        </p:spPr>
      </p:pic>
      <p:sp>
        <p:nvSpPr>
          <p:cNvPr id="69" name="TextBox 68"/>
          <p:cNvSpPr txBox="1"/>
          <p:nvPr/>
        </p:nvSpPr>
        <p:spPr>
          <a:xfrm>
            <a:off x="2067935" y="3799605"/>
            <a:ext cx="143048" cy="186689"/>
          </a:xfrm>
          <a:prstGeom prst="rect">
            <a:avLst/>
          </a:prstGeom>
          <a:noFill/>
        </p:spPr>
        <p:txBody>
          <a:bodyPr wrap="none" lIns="0" tIns="0" rIns="0" bIns="0">
            <a:spAutoFit/>
          </a:bodyPr>
          <a:lstStyle/>
          <a:p>
            <a:r>
              <a:rPr sz="1100" b="0">
                <a:solidFill>
                  <a:srgbClr val="2E2E2E"/>
                </a:solidFill>
                <a:latin typeface="Calibri"/>
              </a:rPr>
              <a:t>a</a:t>
            </a:r>
          </a:p>
        </p:txBody>
      </p:sp>
      <p:sp>
        <p:nvSpPr>
          <p:cNvPr id="70" name="TextBox 69"/>
          <p:cNvSpPr txBox="1"/>
          <p:nvPr/>
        </p:nvSpPr>
        <p:spPr>
          <a:xfrm>
            <a:off x="276225" y="3967245"/>
            <a:ext cx="2031181" cy="186689"/>
          </a:xfrm>
          <a:prstGeom prst="rect">
            <a:avLst/>
          </a:prstGeom>
          <a:noFill/>
        </p:spPr>
        <p:txBody>
          <a:bodyPr wrap="none" lIns="0" tIns="0" rIns="0" bIns="0">
            <a:spAutoFit/>
          </a:bodyPr>
          <a:lstStyle/>
          <a:p>
            <a:r>
              <a:rPr sz="1100" b="0">
                <a:solidFill>
                  <a:srgbClr val="2E2E2E"/>
                </a:solidFill>
                <a:latin typeface="Calibri"/>
              </a:rPr>
              <a:t>year (2026–2036), indicating input</a:t>
            </a:r>
          </a:p>
        </p:txBody>
      </p:sp>
      <p:sp>
        <p:nvSpPr>
          <p:cNvPr id="71" name="TextBox 70"/>
          <p:cNvSpPr txBox="1"/>
          <p:nvPr/>
        </p:nvSpPr>
        <p:spPr>
          <a:xfrm>
            <a:off x="276225" y="4134885"/>
            <a:ext cx="1874291" cy="186689"/>
          </a:xfrm>
          <a:prstGeom prst="rect">
            <a:avLst/>
          </a:prstGeom>
          <a:noFill/>
        </p:spPr>
        <p:txBody>
          <a:bodyPr wrap="none" lIns="0" tIns="0" rIns="0" bIns="0">
            <a:spAutoFit/>
          </a:bodyPr>
          <a:lstStyle/>
          <a:p>
            <a:r>
              <a:rPr sz="1100" b="0">
                <a:solidFill>
                  <a:srgbClr val="2E2E2E"/>
                </a:solidFill>
                <a:latin typeface="Calibri"/>
              </a:rPr>
              <a:t>costs are being passed through.</a:t>
            </a:r>
          </a:p>
        </p:txBody>
      </p:sp>
      <p:sp>
        <p:nvSpPr>
          <p:cNvPr id="72" name="TextBox 71"/>
          <p:cNvSpPr txBox="1"/>
          <p:nvPr/>
        </p:nvSpPr>
        <p:spPr>
          <a:xfrm>
            <a:off x="2657475" y="2860746"/>
            <a:ext cx="1746324" cy="186689"/>
          </a:xfrm>
          <a:prstGeom prst="rect">
            <a:avLst/>
          </a:prstGeom>
          <a:noFill/>
        </p:spPr>
        <p:txBody>
          <a:bodyPr wrap="none" lIns="0" tIns="0" rIns="0" bIns="0">
            <a:spAutoFit/>
          </a:bodyPr>
          <a:lstStyle/>
          <a:p>
            <a:r>
              <a:rPr sz="1100" b="0">
                <a:solidFill>
                  <a:srgbClr val="2E2E2E"/>
                </a:solidFill>
                <a:latin typeface="Calibri"/>
              </a:rPr>
              <a:t>▸ Assessed moderate to high.</a:t>
            </a:r>
          </a:p>
        </p:txBody>
      </p:sp>
      <p:sp>
        <p:nvSpPr>
          <p:cNvPr id="73" name="TextBox 72"/>
          <p:cNvSpPr txBox="1"/>
          <p:nvPr/>
        </p:nvSpPr>
        <p:spPr>
          <a:xfrm>
            <a:off x="2657475" y="3028386"/>
            <a:ext cx="2022450" cy="186689"/>
          </a:xfrm>
          <a:prstGeom prst="rect">
            <a:avLst/>
          </a:prstGeom>
          <a:noFill/>
        </p:spPr>
        <p:txBody>
          <a:bodyPr wrap="none" lIns="0" tIns="0" rIns="0" bIns="0">
            <a:spAutoFit/>
          </a:bodyPr>
          <a:lstStyle/>
          <a:p>
            <a:r>
              <a:rPr sz="1100" b="0">
                <a:solidFill>
                  <a:srgbClr val="2E2E2E"/>
                </a:solidFill>
                <a:latin typeface="Calibri"/>
              </a:rPr>
              <a:t>Demand routes through 7 end use</a:t>
            </a:r>
          </a:p>
        </p:txBody>
      </p:sp>
      <p:sp>
        <p:nvSpPr>
          <p:cNvPr id="74" name="TextBox 73"/>
          <p:cNvSpPr txBox="1"/>
          <p:nvPr/>
        </p:nvSpPr>
        <p:spPr>
          <a:xfrm>
            <a:off x="2657475" y="3196026"/>
            <a:ext cx="2114550" cy="186689"/>
          </a:xfrm>
          <a:prstGeom prst="rect">
            <a:avLst/>
          </a:prstGeom>
          <a:noFill/>
        </p:spPr>
        <p:txBody>
          <a:bodyPr wrap="none" lIns="0" tIns="0" rIns="0" bIns="0">
            <a:spAutoFit/>
          </a:bodyPr>
          <a:lstStyle/>
          <a:p>
            <a:r>
              <a:rPr sz="1100" b="0">
                <a:solidFill>
                  <a:srgbClr val="2E2E2E"/>
                </a:solidFill>
                <a:latin typeface="Calibri"/>
              </a:rPr>
              <a:t>channels led by 'Glassware, Ceramics</a:t>
            </a:r>
          </a:p>
        </p:txBody>
      </p:sp>
      <p:sp>
        <p:nvSpPr>
          <p:cNvPr id="75" name="TextBox 74"/>
          <p:cNvSpPr txBox="1"/>
          <p:nvPr/>
        </p:nvSpPr>
        <p:spPr>
          <a:xfrm>
            <a:off x="2657475" y="3363666"/>
            <a:ext cx="1116310" cy="186689"/>
          </a:xfrm>
          <a:prstGeom prst="rect">
            <a:avLst/>
          </a:prstGeom>
          <a:noFill/>
        </p:spPr>
        <p:txBody>
          <a:bodyPr wrap="none" lIns="0" tIns="0" rIns="0" bIns="0">
            <a:spAutoFit/>
          </a:bodyPr>
          <a:lstStyle/>
          <a:p>
            <a:r>
              <a:rPr sz="1100" b="0">
                <a:solidFill>
                  <a:srgbClr val="2E2E2E"/>
                </a:solidFill>
                <a:latin typeface="Calibri"/>
              </a:rPr>
              <a:t>&amp; Home Goods' at</a:t>
            </a:r>
          </a:p>
        </p:txBody>
      </p:sp>
      <p:pic>
        <p:nvPicPr>
          <p:cNvPr id="76" name="Picture 75" descr="lock.png"/>
          <p:cNvPicPr>
            <a:picLocks noChangeAspect="1"/>
          </p:cNvPicPr>
          <p:nvPr/>
        </p:nvPicPr>
        <p:blipFill>
          <a:blip r:embed="rId4"/>
          <a:stretch>
            <a:fillRect/>
          </a:stretch>
        </p:blipFill>
        <p:spPr>
          <a:xfrm>
            <a:off x="3721836" y="3353887"/>
            <a:ext cx="128699" cy="187198"/>
          </a:xfrm>
          <a:prstGeom prst="rect">
            <a:avLst/>
          </a:prstGeom>
        </p:spPr>
      </p:pic>
      <p:sp>
        <p:nvSpPr>
          <p:cNvPr id="77" name="TextBox 76"/>
          <p:cNvSpPr txBox="1"/>
          <p:nvPr/>
        </p:nvSpPr>
        <p:spPr>
          <a:xfrm>
            <a:off x="3889332" y="3363666"/>
            <a:ext cx="789979" cy="186689"/>
          </a:xfrm>
          <a:prstGeom prst="rect">
            <a:avLst/>
          </a:prstGeom>
          <a:noFill/>
        </p:spPr>
        <p:txBody>
          <a:bodyPr wrap="none" lIns="0" tIns="0" rIns="0" bIns="0">
            <a:spAutoFit/>
          </a:bodyPr>
          <a:lstStyle/>
          <a:p>
            <a:r>
              <a:rPr sz="1100" b="0">
                <a:solidFill>
                  <a:srgbClr val="2E2E2E"/>
                </a:solidFill>
                <a:latin typeface="Calibri"/>
              </a:rPr>
              <a:t>, giving large</a:t>
            </a:r>
          </a:p>
        </p:txBody>
      </p:sp>
      <p:sp>
        <p:nvSpPr>
          <p:cNvPr id="78" name="TextBox 77"/>
          <p:cNvSpPr txBox="1"/>
          <p:nvPr/>
        </p:nvSpPr>
        <p:spPr>
          <a:xfrm>
            <a:off x="2657475" y="3531306"/>
            <a:ext cx="808533" cy="186689"/>
          </a:xfrm>
          <a:prstGeom prst="rect">
            <a:avLst/>
          </a:prstGeom>
          <a:noFill/>
        </p:spPr>
        <p:txBody>
          <a:bodyPr wrap="none" lIns="0" tIns="0" rIns="0" bIns="0">
            <a:spAutoFit/>
          </a:bodyPr>
          <a:lstStyle/>
          <a:p>
            <a:r>
              <a:rPr sz="1100" b="0">
                <a:solidFill>
                  <a:srgbClr val="2E2E2E"/>
                </a:solidFill>
                <a:latin typeface="Calibri"/>
              </a:rPr>
              <a:t>buyers scale.</a:t>
            </a:r>
          </a:p>
        </p:txBody>
      </p:sp>
      <p:sp>
        <p:nvSpPr>
          <p:cNvPr id="79" name="TextBox 78"/>
          <p:cNvSpPr txBox="1"/>
          <p:nvPr/>
        </p:nvSpPr>
        <p:spPr>
          <a:xfrm>
            <a:off x="2657475" y="3900000"/>
            <a:ext cx="2062013" cy="186689"/>
          </a:xfrm>
          <a:prstGeom prst="rect">
            <a:avLst/>
          </a:prstGeom>
          <a:noFill/>
        </p:spPr>
        <p:txBody>
          <a:bodyPr wrap="none" lIns="0" tIns="0" rIns="0" bIns="0">
            <a:spAutoFit/>
          </a:bodyPr>
          <a:lstStyle/>
          <a:p>
            <a:r>
              <a:rPr sz="1100" b="0">
                <a:solidFill>
                  <a:srgbClr val="2E2E2E"/>
                </a:solidFill>
                <a:latin typeface="Calibri"/>
              </a:rPr>
              <a:t>▸ Price sensitivity tracks realisation</a:t>
            </a:r>
          </a:p>
        </p:txBody>
      </p:sp>
      <p:sp>
        <p:nvSpPr>
          <p:cNvPr id="80" name="TextBox 79"/>
          <p:cNvSpPr txBox="1"/>
          <p:nvPr/>
        </p:nvSpPr>
        <p:spPr>
          <a:xfrm>
            <a:off x="2657475" y="4067640"/>
            <a:ext cx="495845" cy="186689"/>
          </a:xfrm>
          <a:prstGeom prst="rect">
            <a:avLst/>
          </a:prstGeom>
          <a:noFill/>
        </p:spPr>
        <p:txBody>
          <a:bodyPr wrap="none" lIns="0" tIns="0" rIns="0" bIns="0">
            <a:spAutoFit/>
          </a:bodyPr>
          <a:lstStyle/>
          <a:p>
            <a:r>
              <a:rPr sz="1100" b="0">
                <a:solidFill>
                  <a:srgbClr val="2E2E2E"/>
                </a:solidFill>
                <a:latin typeface="Calibri"/>
              </a:rPr>
              <a:t>moving</a:t>
            </a:r>
          </a:p>
        </p:txBody>
      </p:sp>
      <p:pic>
        <p:nvPicPr>
          <p:cNvPr id="81" name="Picture 80" descr="lock.png"/>
          <p:cNvPicPr>
            <a:picLocks noChangeAspect="1"/>
          </p:cNvPicPr>
          <p:nvPr/>
        </p:nvPicPr>
        <p:blipFill>
          <a:blip r:embed="rId4"/>
          <a:stretch>
            <a:fillRect/>
          </a:stretch>
        </p:blipFill>
        <p:spPr>
          <a:xfrm>
            <a:off x="3101372" y="4057861"/>
            <a:ext cx="128699" cy="187198"/>
          </a:xfrm>
          <a:prstGeom prst="rect">
            <a:avLst/>
          </a:prstGeom>
        </p:spPr>
      </p:pic>
      <p:sp>
        <p:nvSpPr>
          <p:cNvPr id="82" name="TextBox 81"/>
          <p:cNvSpPr txBox="1"/>
          <p:nvPr/>
        </p:nvSpPr>
        <p:spPr>
          <a:xfrm>
            <a:off x="3268868" y="4067640"/>
            <a:ext cx="1316583" cy="186689"/>
          </a:xfrm>
          <a:prstGeom prst="rect">
            <a:avLst/>
          </a:prstGeom>
          <a:noFill/>
        </p:spPr>
        <p:txBody>
          <a:bodyPr wrap="none" lIns="0" tIns="0" rIns="0" bIns="0">
            <a:spAutoFit/>
          </a:bodyPr>
          <a:lstStyle/>
          <a:p>
            <a:r>
              <a:rPr sz="1100" b="0">
                <a:solidFill>
                  <a:srgbClr val="2E2E2E"/>
                </a:solidFill>
                <a:latin typeface="Calibri"/>
              </a:rPr>
              <a:t>a year against volume</a:t>
            </a:r>
          </a:p>
        </p:txBody>
      </p:sp>
      <p:sp>
        <p:nvSpPr>
          <p:cNvPr id="83" name="TextBox 82"/>
          <p:cNvSpPr txBox="1"/>
          <p:nvPr/>
        </p:nvSpPr>
        <p:spPr>
          <a:xfrm>
            <a:off x="2657475" y="4235280"/>
            <a:ext cx="632544" cy="186689"/>
          </a:xfrm>
          <a:prstGeom prst="rect">
            <a:avLst/>
          </a:prstGeom>
          <a:noFill/>
        </p:spPr>
        <p:txBody>
          <a:bodyPr wrap="none" lIns="0" tIns="0" rIns="0" bIns="0">
            <a:spAutoFit/>
          </a:bodyPr>
          <a:lstStyle/>
          <a:p>
            <a:r>
              <a:rPr sz="1100" b="0">
                <a:solidFill>
                  <a:srgbClr val="2E2E2E"/>
                </a:solidFill>
                <a:latin typeface="Calibri"/>
              </a:rPr>
              <a:t>growth of</a:t>
            </a:r>
          </a:p>
        </p:txBody>
      </p:sp>
      <p:pic>
        <p:nvPicPr>
          <p:cNvPr id="84" name="Picture 83" descr="lock.png"/>
          <p:cNvPicPr>
            <a:picLocks noChangeAspect="1"/>
          </p:cNvPicPr>
          <p:nvPr/>
        </p:nvPicPr>
        <p:blipFill>
          <a:blip r:embed="rId4"/>
          <a:stretch>
            <a:fillRect/>
          </a:stretch>
        </p:blipFill>
        <p:spPr>
          <a:xfrm>
            <a:off x="3238070" y="4225501"/>
            <a:ext cx="128699" cy="187198"/>
          </a:xfrm>
          <a:prstGeom prst="rect">
            <a:avLst/>
          </a:prstGeom>
        </p:spPr>
      </p:pic>
      <p:sp>
        <p:nvSpPr>
          <p:cNvPr id="85" name="TextBox 84"/>
          <p:cNvSpPr txBox="1"/>
          <p:nvPr/>
        </p:nvSpPr>
        <p:spPr>
          <a:xfrm>
            <a:off x="3405566" y="4235280"/>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86" name="TextBox 85"/>
          <p:cNvSpPr txBox="1"/>
          <p:nvPr/>
        </p:nvSpPr>
        <p:spPr>
          <a:xfrm>
            <a:off x="5038725" y="2841285"/>
            <a:ext cx="1946324" cy="186689"/>
          </a:xfrm>
          <a:prstGeom prst="rect">
            <a:avLst/>
          </a:prstGeom>
          <a:noFill/>
        </p:spPr>
        <p:txBody>
          <a:bodyPr wrap="none" lIns="0" tIns="0" rIns="0" bIns="0">
            <a:spAutoFit/>
          </a:bodyPr>
          <a:lstStyle/>
          <a:p>
            <a:r>
              <a:rPr sz="1100" b="0">
                <a:solidFill>
                  <a:srgbClr val="2E2E2E"/>
                </a:solidFill>
                <a:latin typeface="Calibri"/>
              </a:rPr>
              <a:t>▸ Assessed moderate. 3 partition</a:t>
            </a:r>
          </a:p>
        </p:txBody>
      </p:sp>
      <p:sp>
        <p:nvSpPr>
          <p:cNvPr id="87" name="TextBox 86"/>
          <p:cNvSpPr txBox="1"/>
          <p:nvPr/>
        </p:nvSpPr>
        <p:spPr>
          <a:xfrm>
            <a:off x="5038725" y="3008925"/>
            <a:ext cx="1747142" cy="186689"/>
          </a:xfrm>
          <a:prstGeom prst="rect">
            <a:avLst/>
          </a:prstGeom>
          <a:noFill/>
        </p:spPr>
        <p:txBody>
          <a:bodyPr wrap="none" lIns="0" tIns="0" rIns="0" bIns="0">
            <a:spAutoFit/>
          </a:bodyPr>
          <a:lstStyle/>
          <a:p>
            <a:r>
              <a:rPr sz="1100" b="0">
                <a:solidFill>
                  <a:srgbClr val="2E2E2E"/>
                </a:solidFill>
                <a:latin typeface="Calibri"/>
              </a:rPr>
              <a:t>type lines compete inside the</a:t>
            </a:r>
          </a:p>
        </p:txBody>
      </p:sp>
      <p:sp>
        <p:nvSpPr>
          <p:cNvPr id="88" name="TextBox 87"/>
          <p:cNvSpPr txBox="1"/>
          <p:nvPr/>
        </p:nvSpPr>
        <p:spPr>
          <a:xfrm>
            <a:off x="5038725" y="3176565"/>
            <a:ext cx="1557511" cy="186689"/>
          </a:xfrm>
          <a:prstGeom prst="rect">
            <a:avLst/>
          </a:prstGeom>
          <a:noFill/>
        </p:spPr>
        <p:txBody>
          <a:bodyPr wrap="none" lIns="0" tIns="0" rIns="0" bIns="0">
            <a:spAutoFit/>
          </a:bodyPr>
          <a:lstStyle/>
          <a:p>
            <a:r>
              <a:rPr sz="1100" b="0">
                <a:solidFill>
                  <a:srgbClr val="2E2E2E"/>
                </a:solidFill>
                <a:latin typeface="Calibri"/>
              </a:rPr>
              <a:t>segment; the leader holds</a:t>
            </a:r>
          </a:p>
        </p:txBody>
      </p:sp>
      <p:pic>
        <p:nvPicPr>
          <p:cNvPr id="89" name="Picture 88" descr="lock.png"/>
          <p:cNvPicPr>
            <a:picLocks noChangeAspect="1"/>
          </p:cNvPicPr>
          <p:nvPr/>
        </p:nvPicPr>
        <p:blipFill>
          <a:blip r:embed="rId4"/>
          <a:stretch>
            <a:fillRect/>
          </a:stretch>
        </p:blipFill>
        <p:spPr>
          <a:xfrm>
            <a:off x="6544287" y="3166786"/>
            <a:ext cx="128699" cy="187198"/>
          </a:xfrm>
          <a:prstGeom prst="rect">
            <a:avLst/>
          </a:prstGeom>
        </p:spPr>
      </p:pic>
      <p:sp>
        <p:nvSpPr>
          <p:cNvPr id="90" name="TextBox 89"/>
          <p:cNvSpPr txBox="1"/>
          <p:nvPr/>
        </p:nvSpPr>
        <p:spPr>
          <a:xfrm>
            <a:off x="6711783" y="3176565"/>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91" name="TextBox 90"/>
          <p:cNvSpPr txBox="1"/>
          <p:nvPr/>
        </p:nvSpPr>
        <p:spPr>
          <a:xfrm>
            <a:off x="5038725" y="3545260"/>
            <a:ext cx="1934046" cy="186689"/>
          </a:xfrm>
          <a:prstGeom prst="rect">
            <a:avLst/>
          </a:prstGeom>
          <a:noFill/>
        </p:spPr>
        <p:txBody>
          <a:bodyPr wrap="none" lIns="0" tIns="0" rIns="0" bIns="0">
            <a:spAutoFit/>
          </a:bodyPr>
          <a:lstStyle/>
          <a:p>
            <a:r>
              <a:rPr sz="1100" b="0">
                <a:solidFill>
                  <a:srgbClr val="2E2E2E"/>
                </a:solidFill>
                <a:latin typeface="Calibri"/>
              </a:rPr>
              <a:t>▸ Growth is unevenly distributed</a:t>
            </a:r>
          </a:p>
        </p:txBody>
      </p:sp>
      <p:sp>
        <p:nvSpPr>
          <p:cNvPr id="92" name="TextBox 91"/>
          <p:cNvSpPr txBox="1"/>
          <p:nvPr/>
        </p:nvSpPr>
        <p:spPr>
          <a:xfrm>
            <a:off x="5038725" y="3712900"/>
            <a:ext cx="1749325" cy="186689"/>
          </a:xfrm>
          <a:prstGeom prst="rect">
            <a:avLst/>
          </a:prstGeom>
          <a:noFill/>
        </p:spPr>
        <p:txBody>
          <a:bodyPr wrap="none" lIns="0" tIns="0" rIns="0" bIns="0">
            <a:spAutoFit/>
          </a:bodyPr>
          <a:lstStyle/>
          <a:p>
            <a:r>
              <a:rPr sz="1100" b="0">
                <a:solidFill>
                  <a:srgbClr val="2E2E2E"/>
                </a:solidFill>
                <a:latin typeface="Calibri"/>
              </a:rPr>
              <a:t>'Flat Dividers &amp; Layer Pads' at</a:t>
            </a:r>
          </a:p>
        </p:txBody>
      </p:sp>
      <p:pic>
        <p:nvPicPr>
          <p:cNvPr id="93" name="Picture 92" descr="lock.png"/>
          <p:cNvPicPr>
            <a:picLocks noChangeAspect="1"/>
          </p:cNvPicPr>
          <p:nvPr/>
        </p:nvPicPr>
        <p:blipFill>
          <a:blip r:embed="rId4"/>
          <a:stretch>
            <a:fillRect/>
          </a:stretch>
        </p:blipFill>
        <p:spPr>
          <a:xfrm>
            <a:off x="6736102" y="3703121"/>
            <a:ext cx="128699" cy="187198"/>
          </a:xfrm>
          <a:prstGeom prst="rect">
            <a:avLst/>
          </a:prstGeom>
        </p:spPr>
      </p:pic>
      <p:sp>
        <p:nvSpPr>
          <p:cNvPr id="94" name="TextBox 93"/>
          <p:cNvSpPr txBox="1"/>
          <p:nvPr/>
        </p:nvSpPr>
        <p:spPr>
          <a:xfrm>
            <a:off x="5038725" y="3880540"/>
            <a:ext cx="2094998" cy="186689"/>
          </a:xfrm>
          <a:prstGeom prst="rect">
            <a:avLst/>
          </a:prstGeom>
          <a:noFill/>
        </p:spPr>
        <p:txBody>
          <a:bodyPr wrap="none" lIns="0" tIns="0" rIns="0" bIns="0">
            <a:spAutoFit/>
          </a:bodyPr>
          <a:lstStyle/>
          <a:p>
            <a:r>
              <a:rPr sz="1100" b="0">
                <a:solidFill>
                  <a:srgbClr val="2E2E2E"/>
                </a:solidFill>
                <a:latin typeface="Calibri"/>
              </a:rPr>
              <a:t>against 'Die-Cut &amp; Folded Partitions</a:t>
            </a:r>
          </a:p>
        </p:txBody>
      </p:sp>
      <p:sp>
        <p:nvSpPr>
          <p:cNvPr id="95" name="TextBox 94"/>
          <p:cNvSpPr txBox="1"/>
          <p:nvPr/>
        </p:nvSpPr>
        <p:spPr>
          <a:xfrm>
            <a:off x="5038725" y="4048180"/>
            <a:ext cx="1902941" cy="186689"/>
          </a:xfrm>
          <a:prstGeom prst="rect">
            <a:avLst/>
          </a:prstGeom>
          <a:noFill/>
        </p:spPr>
        <p:txBody>
          <a:bodyPr wrap="none" lIns="0" tIns="0" rIns="0" bIns="0">
            <a:spAutoFit/>
          </a:bodyPr>
          <a:lstStyle/>
          <a:p>
            <a:r>
              <a:rPr sz="1100" b="0">
                <a:solidFill>
                  <a:srgbClr val="2E2E2E"/>
                </a:solidFill>
                <a:latin typeface="Calibri"/>
              </a:rPr>
              <a:t>(H-dividers, tube/cell inserts)' at</a:t>
            </a:r>
          </a:p>
        </p:txBody>
      </p:sp>
      <p:pic>
        <p:nvPicPr>
          <p:cNvPr id="96" name="Picture 95" descr="lock.png"/>
          <p:cNvPicPr>
            <a:picLocks noChangeAspect="1"/>
          </p:cNvPicPr>
          <p:nvPr/>
        </p:nvPicPr>
        <p:blipFill>
          <a:blip r:embed="rId4"/>
          <a:stretch>
            <a:fillRect/>
          </a:stretch>
        </p:blipFill>
        <p:spPr>
          <a:xfrm>
            <a:off x="5025257" y="4206041"/>
            <a:ext cx="128699" cy="187198"/>
          </a:xfrm>
          <a:prstGeom prst="rect">
            <a:avLst/>
          </a:prstGeom>
        </p:spPr>
      </p:pic>
      <p:sp>
        <p:nvSpPr>
          <p:cNvPr id="97" name="TextBox 96"/>
          <p:cNvSpPr txBox="1"/>
          <p:nvPr/>
        </p:nvSpPr>
        <p:spPr>
          <a:xfrm>
            <a:off x="5192753" y="4215820"/>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98" name="TextBox 97"/>
          <p:cNvSpPr txBox="1"/>
          <p:nvPr/>
        </p:nvSpPr>
        <p:spPr>
          <a:xfrm>
            <a:off x="5038725" y="4584514"/>
            <a:ext cx="2114550" cy="186689"/>
          </a:xfrm>
          <a:prstGeom prst="rect">
            <a:avLst/>
          </a:prstGeom>
          <a:noFill/>
        </p:spPr>
        <p:txBody>
          <a:bodyPr wrap="none" lIns="0" tIns="0" rIns="0" bIns="0">
            <a:spAutoFit/>
          </a:bodyPr>
          <a:lstStyle/>
          <a:p>
            <a:r>
              <a:rPr sz="1100" b="0">
                <a:solidFill>
                  <a:srgbClr val="2E2E2E"/>
                </a:solidFill>
                <a:latin typeface="Calibri"/>
              </a:rPr>
              <a:t>▸ 3 of 6 regions grow at or above the</a:t>
            </a:r>
          </a:p>
        </p:txBody>
      </p:sp>
      <p:pic>
        <p:nvPicPr>
          <p:cNvPr id="99" name="Picture 98" descr="lock.png"/>
          <p:cNvPicPr>
            <a:picLocks noChangeAspect="1"/>
          </p:cNvPicPr>
          <p:nvPr/>
        </p:nvPicPr>
        <p:blipFill>
          <a:blip r:embed="rId4"/>
          <a:stretch>
            <a:fillRect/>
          </a:stretch>
        </p:blipFill>
        <p:spPr>
          <a:xfrm>
            <a:off x="5025257" y="4742375"/>
            <a:ext cx="128699" cy="187198"/>
          </a:xfrm>
          <a:prstGeom prst="rect">
            <a:avLst/>
          </a:prstGeom>
        </p:spPr>
      </p:pic>
      <p:sp>
        <p:nvSpPr>
          <p:cNvPr id="100" name="TextBox 99"/>
          <p:cNvSpPr txBox="1"/>
          <p:nvPr/>
        </p:nvSpPr>
        <p:spPr>
          <a:xfrm>
            <a:off x="5192753" y="4752154"/>
            <a:ext cx="1643186" cy="186689"/>
          </a:xfrm>
          <a:prstGeom prst="rect">
            <a:avLst/>
          </a:prstGeom>
          <a:noFill/>
        </p:spPr>
        <p:txBody>
          <a:bodyPr wrap="none" lIns="0" tIns="0" rIns="0" bIns="0">
            <a:spAutoFit/>
          </a:bodyPr>
          <a:lstStyle/>
          <a:p>
            <a:r>
              <a:rPr sz="1100" b="0">
                <a:solidFill>
                  <a:srgbClr val="2E2E2E"/>
                </a:solidFill>
                <a:latin typeface="Calibri"/>
              </a:rPr>
              <a:t>market pace, keeping share</a:t>
            </a:r>
          </a:p>
        </p:txBody>
      </p:sp>
      <p:sp>
        <p:nvSpPr>
          <p:cNvPr id="101" name="TextBox 100"/>
          <p:cNvSpPr txBox="1"/>
          <p:nvPr/>
        </p:nvSpPr>
        <p:spPr>
          <a:xfrm>
            <a:off x="5038725" y="4919794"/>
            <a:ext cx="678656" cy="186689"/>
          </a:xfrm>
          <a:prstGeom prst="rect">
            <a:avLst/>
          </a:prstGeom>
          <a:noFill/>
        </p:spPr>
        <p:txBody>
          <a:bodyPr wrap="none" lIns="0" tIns="0" rIns="0" bIns="0">
            <a:spAutoFit/>
          </a:bodyPr>
          <a:lstStyle/>
          <a:p>
            <a:r>
              <a:rPr sz="1100" b="0">
                <a:solidFill>
                  <a:srgbClr val="2E2E2E"/>
                </a:solidFill>
                <a:latin typeface="Calibri"/>
              </a:rPr>
              <a:t>contested.</a:t>
            </a:r>
          </a:p>
        </p:txBody>
      </p:sp>
      <p:sp>
        <p:nvSpPr>
          <p:cNvPr id="102" name="TextBox 101"/>
          <p:cNvSpPr txBox="1"/>
          <p:nvPr/>
        </p:nvSpPr>
        <p:spPr>
          <a:xfrm>
            <a:off x="7419975" y="2964026"/>
            <a:ext cx="1746324" cy="186689"/>
          </a:xfrm>
          <a:prstGeom prst="rect">
            <a:avLst/>
          </a:prstGeom>
          <a:noFill/>
        </p:spPr>
        <p:txBody>
          <a:bodyPr wrap="none" lIns="0" tIns="0" rIns="0" bIns="0">
            <a:spAutoFit/>
          </a:bodyPr>
          <a:lstStyle/>
          <a:p>
            <a:r>
              <a:rPr sz="1100" b="0">
                <a:solidFill>
                  <a:srgbClr val="2E2E2E"/>
                </a:solidFill>
                <a:latin typeface="Calibri"/>
              </a:rPr>
              <a:t>▸ Assessed moderate to high.</a:t>
            </a:r>
          </a:p>
        </p:txBody>
      </p:sp>
      <p:sp>
        <p:nvSpPr>
          <p:cNvPr id="103" name="TextBox 102"/>
          <p:cNvSpPr txBox="1"/>
          <p:nvPr/>
        </p:nvSpPr>
        <p:spPr>
          <a:xfrm>
            <a:off x="7419975" y="3131666"/>
            <a:ext cx="1656799" cy="186689"/>
          </a:xfrm>
          <a:prstGeom prst="rect">
            <a:avLst/>
          </a:prstGeom>
          <a:noFill/>
        </p:spPr>
        <p:txBody>
          <a:bodyPr wrap="none" lIns="0" tIns="0" rIns="0" bIns="0">
            <a:spAutoFit/>
          </a:bodyPr>
          <a:lstStyle/>
          <a:p>
            <a:r>
              <a:rPr sz="1100" b="0">
                <a:solidFill>
                  <a:srgbClr val="2E2E2E"/>
                </a:solidFill>
                <a:latin typeface="Calibri"/>
              </a:rPr>
              <a:t>'Die-Cut &amp; Folded Partitions</a:t>
            </a:r>
          </a:p>
        </p:txBody>
      </p:sp>
      <p:sp>
        <p:nvSpPr>
          <p:cNvPr id="104" name="TextBox 103"/>
          <p:cNvSpPr txBox="1"/>
          <p:nvPr/>
        </p:nvSpPr>
        <p:spPr>
          <a:xfrm>
            <a:off x="7419975" y="3299306"/>
            <a:ext cx="2073746" cy="186689"/>
          </a:xfrm>
          <a:prstGeom prst="rect">
            <a:avLst/>
          </a:prstGeom>
          <a:noFill/>
        </p:spPr>
        <p:txBody>
          <a:bodyPr wrap="none" lIns="0" tIns="0" rIns="0" bIns="0">
            <a:spAutoFit/>
          </a:bodyPr>
          <a:lstStyle/>
          <a:p>
            <a:r>
              <a:rPr sz="1100" b="0">
                <a:solidFill>
                  <a:srgbClr val="2E2E2E"/>
                </a:solidFill>
                <a:latin typeface="Calibri"/>
              </a:rPr>
              <a:t>(H-dividers, tube/cell inserts)' loses</a:t>
            </a:r>
          </a:p>
        </p:txBody>
      </p:sp>
      <p:pic>
        <p:nvPicPr>
          <p:cNvPr id="105" name="Picture 104" descr="lock.png"/>
          <p:cNvPicPr>
            <a:picLocks noChangeAspect="1"/>
          </p:cNvPicPr>
          <p:nvPr/>
        </p:nvPicPr>
        <p:blipFill>
          <a:blip r:embed="rId4"/>
          <a:stretch>
            <a:fillRect/>
          </a:stretch>
        </p:blipFill>
        <p:spPr>
          <a:xfrm>
            <a:off x="7406507" y="3457167"/>
            <a:ext cx="128699" cy="187198"/>
          </a:xfrm>
          <a:prstGeom prst="rect">
            <a:avLst/>
          </a:prstGeom>
        </p:spPr>
      </p:pic>
      <p:sp>
        <p:nvSpPr>
          <p:cNvPr id="106" name="TextBox 105"/>
          <p:cNvSpPr txBox="1"/>
          <p:nvPr/>
        </p:nvSpPr>
        <p:spPr>
          <a:xfrm>
            <a:off x="7574003" y="3466946"/>
            <a:ext cx="1824632" cy="186689"/>
          </a:xfrm>
          <a:prstGeom prst="rect">
            <a:avLst/>
          </a:prstGeom>
          <a:noFill/>
        </p:spPr>
        <p:txBody>
          <a:bodyPr wrap="none" lIns="0" tIns="0" rIns="0" bIns="0">
            <a:spAutoFit/>
          </a:bodyPr>
          <a:lstStyle/>
          <a:p>
            <a:r>
              <a:rPr sz="1100" b="0">
                <a:solidFill>
                  <a:srgbClr val="2E2E2E"/>
                </a:solidFill>
                <a:latin typeface="Calibri"/>
              </a:rPr>
              <a:t>BPS of share to 'Flat Dividers &amp;</a:t>
            </a:r>
          </a:p>
        </p:txBody>
      </p:sp>
      <p:sp>
        <p:nvSpPr>
          <p:cNvPr id="107" name="TextBox 106"/>
          <p:cNvSpPr txBox="1"/>
          <p:nvPr/>
        </p:nvSpPr>
        <p:spPr>
          <a:xfrm>
            <a:off x="7419975" y="3634586"/>
            <a:ext cx="856555" cy="186689"/>
          </a:xfrm>
          <a:prstGeom prst="rect">
            <a:avLst/>
          </a:prstGeom>
          <a:noFill/>
        </p:spPr>
        <p:txBody>
          <a:bodyPr wrap="none" lIns="0" tIns="0" rIns="0" bIns="0">
            <a:spAutoFit/>
          </a:bodyPr>
          <a:lstStyle/>
          <a:p>
            <a:r>
              <a:rPr sz="1100" b="0">
                <a:solidFill>
                  <a:srgbClr val="2E2E2E"/>
                </a:solidFill>
                <a:latin typeface="Calibri"/>
              </a:rPr>
              <a:t>Layer Pads' (+</a:t>
            </a:r>
          </a:p>
        </p:txBody>
      </p:sp>
      <p:pic>
        <p:nvPicPr>
          <p:cNvPr id="108" name="Picture 107" descr="lock.png"/>
          <p:cNvPicPr>
            <a:picLocks noChangeAspect="1"/>
          </p:cNvPicPr>
          <p:nvPr/>
        </p:nvPicPr>
        <p:blipFill>
          <a:blip r:embed="rId4"/>
          <a:stretch>
            <a:fillRect/>
          </a:stretch>
        </p:blipFill>
        <p:spPr>
          <a:xfrm>
            <a:off x="8224582" y="3624807"/>
            <a:ext cx="128699" cy="187198"/>
          </a:xfrm>
          <a:prstGeom prst="rect">
            <a:avLst/>
          </a:prstGeom>
        </p:spPr>
      </p:pic>
      <p:sp>
        <p:nvSpPr>
          <p:cNvPr id="109" name="TextBox 108"/>
          <p:cNvSpPr txBox="1"/>
          <p:nvPr/>
        </p:nvSpPr>
        <p:spPr>
          <a:xfrm>
            <a:off x="8392077" y="3634586"/>
            <a:ext cx="814809" cy="186689"/>
          </a:xfrm>
          <a:prstGeom prst="rect">
            <a:avLst/>
          </a:prstGeom>
          <a:noFill/>
        </p:spPr>
        <p:txBody>
          <a:bodyPr wrap="none" lIns="0" tIns="0" rIns="0" bIns="0">
            <a:spAutoFit/>
          </a:bodyPr>
          <a:lstStyle/>
          <a:p>
            <a:r>
              <a:rPr sz="1100" b="0">
                <a:solidFill>
                  <a:srgbClr val="2E2E2E"/>
                </a:solidFill>
                <a:latin typeface="Calibri"/>
              </a:rPr>
              <a:t>BPS) by 2036</a:t>
            </a:r>
          </a:p>
        </p:txBody>
      </p:sp>
      <p:sp>
        <p:nvSpPr>
          <p:cNvPr id="110" name="TextBox 109"/>
          <p:cNvSpPr txBox="1"/>
          <p:nvPr/>
        </p:nvSpPr>
        <p:spPr>
          <a:xfrm>
            <a:off x="7419975" y="3802226"/>
            <a:ext cx="2114550" cy="186689"/>
          </a:xfrm>
          <a:prstGeom prst="rect">
            <a:avLst/>
          </a:prstGeom>
          <a:noFill/>
        </p:spPr>
        <p:txBody>
          <a:bodyPr wrap="none" lIns="0" tIns="0" rIns="0" bIns="0">
            <a:spAutoFit/>
          </a:bodyPr>
          <a:lstStyle/>
          <a:p>
            <a:r>
              <a:rPr sz="1100" b="0">
                <a:solidFill>
                  <a:srgbClr val="2E2E2E"/>
                </a:solidFill>
                <a:latin typeface="Calibri"/>
              </a:rPr>
              <a:t>substitution is visible inside the mix.</a:t>
            </a:r>
          </a:p>
        </p:txBody>
      </p:sp>
      <p:sp>
        <p:nvSpPr>
          <p:cNvPr id="111" name="TextBox 110"/>
          <p:cNvSpPr txBox="1"/>
          <p:nvPr/>
        </p:nvSpPr>
        <p:spPr>
          <a:xfrm>
            <a:off x="7419975" y="4268895"/>
            <a:ext cx="1550384" cy="179984"/>
          </a:xfrm>
          <a:prstGeom prst="rect">
            <a:avLst/>
          </a:prstGeom>
          <a:noFill/>
        </p:spPr>
        <p:txBody>
          <a:bodyPr wrap="none" lIns="0" tIns="0" rIns="0" bIns="0">
            <a:spAutoFit/>
          </a:bodyPr>
          <a:lstStyle/>
          <a:p>
            <a:r>
              <a:rPr sz="1055" b="0">
                <a:solidFill>
                  <a:srgbClr val="2E2E2E"/>
                </a:solidFill>
                <a:latin typeface="Calibri"/>
              </a:rPr>
              <a:t>▸ The slowest line grows at</a:t>
            </a:r>
          </a:p>
        </p:txBody>
      </p:sp>
      <p:pic>
        <p:nvPicPr>
          <p:cNvPr id="112" name="Picture 111" descr="lock.png"/>
          <p:cNvPicPr>
            <a:picLocks noChangeAspect="1"/>
          </p:cNvPicPr>
          <p:nvPr/>
        </p:nvPicPr>
        <p:blipFill>
          <a:blip r:embed="rId4"/>
          <a:stretch>
            <a:fillRect/>
          </a:stretch>
        </p:blipFill>
        <p:spPr>
          <a:xfrm>
            <a:off x="8917440" y="4259507"/>
            <a:ext cx="123551" cy="179710"/>
          </a:xfrm>
          <a:prstGeom prst="rect">
            <a:avLst/>
          </a:prstGeom>
        </p:spPr>
      </p:pic>
      <p:sp>
        <p:nvSpPr>
          <p:cNvPr id="113" name="TextBox 112"/>
          <p:cNvSpPr txBox="1"/>
          <p:nvPr/>
        </p:nvSpPr>
        <p:spPr>
          <a:xfrm>
            <a:off x="9078236" y="4268895"/>
            <a:ext cx="181236" cy="179984"/>
          </a:xfrm>
          <a:prstGeom prst="rect">
            <a:avLst/>
          </a:prstGeom>
          <a:noFill/>
        </p:spPr>
        <p:txBody>
          <a:bodyPr wrap="none" lIns="0" tIns="0" rIns="0" bIns="0">
            <a:spAutoFit/>
          </a:bodyPr>
          <a:lstStyle/>
          <a:p>
            <a:r>
              <a:rPr sz="1055" b="0">
                <a:solidFill>
                  <a:srgbClr val="2E2E2E"/>
                </a:solidFill>
                <a:latin typeface="Calibri"/>
              </a:rPr>
              <a:t>, -</a:t>
            </a:r>
          </a:p>
        </p:txBody>
      </p:sp>
      <p:pic>
        <p:nvPicPr>
          <p:cNvPr id="114" name="Picture 113" descr="lock.png"/>
          <p:cNvPicPr>
            <a:picLocks noChangeAspect="1"/>
          </p:cNvPicPr>
          <p:nvPr/>
        </p:nvPicPr>
        <p:blipFill>
          <a:blip r:embed="rId4"/>
          <a:stretch>
            <a:fillRect/>
          </a:stretch>
        </p:blipFill>
        <p:spPr>
          <a:xfrm>
            <a:off x="9206555" y="4259507"/>
            <a:ext cx="123551" cy="179710"/>
          </a:xfrm>
          <a:prstGeom prst="rect">
            <a:avLst/>
          </a:prstGeom>
        </p:spPr>
      </p:pic>
      <p:sp>
        <p:nvSpPr>
          <p:cNvPr id="115" name="TextBox 114"/>
          <p:cNvSpPr txBox="1"/>
          <p:nvPr/>
        </p:nvSpPr>
        <p:spPr>
          <a:xfrm>
            <a:off x="7419975" y="4429829"/>
            <a:ext cx="1368861" cy="179984"/>
          </a:xfrm>
          <a:prstGeom prst="rect">
            <a:avLst/>
          </a:prstGeom>
          <a:noFill/>
        </p:spPr>
        <p:txBody>
          <a:bodyPr wrap="none" lIns="0" tIns="0" rIns="0" bIns="0">
            <a:spAutoFit/>
          </a:bodyPr>
          <a:lstStyle/>
          <a:p>
            <a:r>
              <a:rPr sz="1055" b="0">
                <a:solidFill>
                  <a:srgbClr val="2E2E2E"/>
                </a:solidFill>
                <a:latin typeface="Calibri"/>
              </a:rPr>
              <a:t>BPS against the market.</a:t>
            </a:r>
          </a:p>
        </p:txBody>
      </p:sp>
      <p:sp>
        <p:nvSpPr>
          <p:cNvPr id="116" name="TextBox 115"/>
          <p:cNvSpPr txBox="1"/>
          <p:nvPr/>
        </p:nvSpPr>
        <p:spPr>
          <a:xfrm>
            <a:off x="7419975" y="4767051"/>
            <a:ext cx="1254373" cy="186689"/>
          </a:xfrm>
          <a:prstGeom prst="rect">
            <a:avLst/>
          </a:prstGeom>
          <a:noFill/>
        </p:spPr>
        <p:txBody>
          <a:bodyPr wrap="none" lIns="0" tIns="0" rIns="0" bIns="0">
            <a:spAutoFit/>
          </a:bodyPr>
          <a:lstStyle/>
          <a:p>
            <a:r>
              <a:rPr sz="1100" b="0">
                <a:solidFill>
                  <a:srgbClr val="2E2E2E"/>
                </a:solidFill>
                <a:latin typeface="Calibri"/>
              </a:rPr>
              <a:t>▸ Realisation moving</a:t>
            </a:r>
          </a:p>
        </p:txBody>
      </p:sp>
      <p:pic>
        <p:nvPicPr>
          <p:cNvPr id="117" name="Picture 116" descr="lock.png"/>
          <p:cNvPicPr>
            <a:picLocks noChangeAspect="1"/>
          </p:cNvPicPr>
          <p:nvPr/>
        </p:nvPicPr>
        <p:blipFill>
          <a:blip r:embed="rId4"/>
          <a:stretch>
            <a:fillRect/>
          </a:stretch>
        </p:blipFill>
        <p:spPr>
          <a:xfrm>
            <a:off x="8622399" y="4757272"/>
            <a:ext cx="128699" cy="187198"/>
          </a:xfrm>
          <a:prstGeom prst="rect">
            <a:avLst/>
          </a:prstGeom>
        </p:spPr>
      </p:pic>
      <p:sp>
        <p:nvSpPr>
          <p:cNvPr id="118" name="TextBox 117"/>
          <p:cNvSpPr txBox="1"/>
          <p:nvPr/>
        </p:nvSpPr>
        <p:spPr>
          <a:xfrm>
            <a:off x="8789895" y="4767051"/>
            <a:ext cx="423267" cy="186689"/>
          </a:xfrm>
          <a:prstGeom prst="rect">
            <a:avLst/>
          </a:prstGeom>
          <a:noFill/>
        </p:spPr>
        <p:txBody>
          <a:bodyPr wrap="none" lIns="0" tIns="0" rIns="0" bIns="0">
            <a:spAutoFit/>
          </a:bodyPr>
          <a:lstStyle/>
          <a:p>
            <a:r>
              <a:rPr sz="1100" b="0">
                <a:solidFill>
                  <a:srgbClr val="2E2E2E"/>
                </a:solidFill>
                <a:latin typeface="Calibri"/>
              </a:rPr>
              <a:t>a year</a:t>
            </a:r>
          </a:p>
        </p:txBody>
      </p:sp>
      <p:sp>
        <p:nvSpPr>
          <p:cNvPr id="119" name="TextBox 118"/>
          <p:cNvSpPr txBox="1"/>
          <p:nvPr/>
        </p:nvSpPr>
        <p:spPr>
          <a:xfrm>
            <a:off x="7419975" y="4934691"/>
            <a:ext cx="1911399" cy="186689"/>
          </a:xfrm>
          <a:prstGeom prst="rect">
            <a:avLst/>
          </a:prstGeom>
          <a:noFill/>
        </p:spPr>
        <p:txBody>
          <a:bodyPr wrap="none" lIns="0" tIns="0" rIns="0" bIns="0">
            <a:spAutoFit/>
          </a:bodyPr>
          <a:lstStyle/>
          <a:p>
            <a:r>
              <a:rPr sz="1100" b="0">
                <a:solidFill>
                  <a:srgbClr val="2E2E2E"/>
                </a:solidFill>
                <a:latin typeface="Calibri"/>
              </a:rPr>
              <a:t>widens the price gap substitutes</a:t>
            </a:r>
          </a:p>
        </p:txBody>
      </p:sp>
      <p:sp>
        <p:nvSpPr>
          <p:cNvPr id="120" name="TextBox 119"/>
          <p:cNvSpPr txBox="1"/>
          <p:nvPr/>
        </p:nvSpPr>
        <p:spPr>
          <a:xfrm>
            <a:off x="7419975" y="5102331"/>
            <a:ext cx="718765" cy="186689"/>
          </a:xfrm>
          <a:prstGeom prst="rect">
            <a:avLst/>
          </a:prstGeom>
          <a:noFill/>
        </p:spPr>
        <p:txBody>
          <a:bodyPr wrap="none" lIns="0" tIns="0" rIns="0" bIns="0">
            <a:spAutoFit/>
          </a:bodyPr>
          <a:lstStyle/>
          <a:p>
            <a:r>
              <a:rPr sz="1100" b="0">
                <a:solidFill>
                  <a:srgbClr val="2E2E2E"/>
                </a:solidFill>
                <a:latin typeface="Calibri"/>
              </a:rPr>
              <a:t>must close.</a:t>
            </a:r>
          </a:p>
        </p:txBody>
      </p:sp>
      <p:sp>
        <p:nvSpPr>
          <p:cNvPr id="121" name="TextBox 120"/>
          <p:cNvSpPr txBox="1"/>
          <p:nvPr/>
        </p:nvSpPr>
        <p:spPr>
          <a:xfrm>
            <a:off x="9801225" y="2848734"/>
            <a:ext cx="1989162" cy="186689"/>
          </a:xfrm>
          <a:prstGeom prst="rect">
            <a:avLst/>
          </a:prstGeom>
          <a:noFill/>
        </p:spPr>
        <p:txBody>
          <a:bodyPr wrap="none" lIns="0" tIns="0" rIns="0" bIns="0">
            <a:spAutoFit/>
          </a:bodyPr>
          <a:lstStyle/>
          <a:p>
            <a:r>
              <a:rPr sz="1100" b="0">
                <a:solidFill>
                  <a:srgbClr val="2E2E2E"/>
                </a:solidFill>
                <a:latin typeface="Calibri"/>
              </a:rPr>
              <a:t>▸ Assessed moderate to high. The</a:t>
            </a:r>
          </a:p>
        </p:txBody>
      </p:sp>
      <p:sp>
        <p:nvSpPr>
          <p:cNvPr id="122" name="TextBox 121"/>
          <p:cNvSpPr txBox="1"/>
          <p:nvPr/>
        </p:nvSpPr>
        <p:spPr>
          <a:xfrm>
            <a:off x="9801225" y="3016374"/>
            <a:ext cx="1003349" cy="186689"/>
          </a:xfrm>
          <a:prstGeom prst="rect">
            <a:avLst/>
          </a:prstGeom>
          <a:noFill/>
        </p:spPr>
        <p:txBody>
          <a:bodyPr wrap="none" lIns="0" tIns="0" rIns="0" bIns="0">
            <a:spAutoFit/>
          </a:bodyPr>
          <a:lstStyle/>
          <a:p>
            <a:r>
              <a:rPr sz="1100" b="0">
                <a:solidFill>
                  <a:srgbClr val="2E2E2E"/>
                </a:solidFill>
                <a:latin typeface="Calibri"/>
              </a:rPr>
              <a:t>market grows at</a:t>
            </a:r>
          </a:p>
        </p:txBody>
      </p:sp>
      <p:pic>
        <p:nvPicPr>
          <p:cNvPr id="123" name="Picture 122" descr="lock.png"/>
          <p:cNvPicPr>
            <a:picLocks noChangeAspect="1"/>
          </p:cNvPicPr>
          <p:nvPr/>
        </p:nvPicPr>
        <p:blipFill>
          <a:blip r:embed="rId4"/>
          <a:stretch>
            <a:fillRect/>
          </a:stretch>
        </p:blipFill>
        <p:spPr>
          <a:xfrm>
            <a:off x="10752626" y="3006595"/>
            <a:ext cx="128699" cy="187198"/>
          </a:xfrm>
          <a:prstGeom prst="rect">
            <a:avLst/>
          </a:prstGeom>
        </p:spPr>
      </p:pic>
      <p:sp>
        <p:nvSpPr>
          <p:cNvPr id="124" name="TextBox 123"/>
          <p:cNvSpPr txBox="1"/>
          <p:nvPr/>
        </p:nvSpPr>
        <p:spPr>
          <a:xfrm>
            <a:off x="10920122" y="3016374"/>
            <a:ext cx="940576" cy="186689"/>
          </a:xfrm>
          <a:prstGeom prst="rect">
            <a:avLst/>
          </a:prstGeom>
          <a:noFill/>
        </p:spPr>
        <p:txBody>
          <a:bodyPr wrap="none" lIns="0" tIns="0" rIns="0" bIns="0">
            <a:spAutoFit/>
          </a:bodyPr>
          <a:lstStyle/>
          <a:p>
            <a:r>
              <a:rPr sz="1100" b="0">
                <a:solidFill>
                  <a:srgbClr val="2E2E2E"/>
                </a:solidFill>
                <a:latin typeface="Calibri"/>
              </a:rPr>
              <a:t>CAGR and adds</a:t>
            </a:r>
          </a:p>
        </p:txBody>
      </p:sp>
      <p:pic>
        <p:nvPicPr>
          <p:cNvPr id="125" name="Picture 124" descr="lock.png"/>
          <p:cNvPicPr>
            <a:picLocks noChangeAspect="1"/>
          </p:cNvPicPr>
          <p:nvPr/>
        </p:nvPicPr>
        <p:blipFill>
          <a:blip r:embed="rId4"/>
          <a:stretch>
            <a:fillRect/>
          </a:stretch>
        </p:blipFill>
        <p:spPr>
          <a:xfrm>
            <a:off x="9787757" y="3174235"/>
            <a:ext cx="128699" cy="187198"/>
          </a:xfrm>
          <a:prstGeom prst="rect">
            <a:avLst/>
          </a:prstGeom>
        </p:spPr>
      </p:pic>
      <p:sp>
        <p:nvSpPr>
          <p:cNvPr id="126" name="TextBox 125"/>
          <p:cNvSpPr txBox="1"/>
          <p:nvPr/>
        </p:nvSpPr>
        <p:spPr>
          <a:xfrm>
            <a:off x="9955253" y="3184014"/>
            <a:ext cx="1629816" cy="186689"/>
          </a:xfrm>
          <a:prstGeom prst="rect">
            <a:avLst/>
          </a:prstGeom>
          <a:noFill/>
        </p:spPr>
        <p:txBody>
          <a:bodyPr wrap="none" lIns="0" tIns="0" rIns="0" bIns="0">
            <a:spAutoFit/>
          </a:bodyPr>
          <a:lstStyle/>
          <a:p>
            <a:r>
              <a:rPr sz="1100" b="0">
                <a:solidFill>
                  <a:srgbClr val="2E2E2E"/>
                </a:solidFill>
                <a:latin typeface="Calibri"/>
              </a:rPr>
              <a:t>US$ Mn by 2036, attracting</a:t>
            </a:r>
          </a:p>
        </p:txBody>
      </p:sp>
      <p:sp>
        <p:nvSpPr>
          <p:cNvPr id="127" name="TextBox 126"/>
          <p:cNvSpPr txBox="1"/>
          <p:nvPr/>
        </p:nvSpPr>
        <p:spPr>
          <a:xfrm>
            <a:off x="9801225" y="3351654"/>
            <a:ext cx="413444" cy="186689"/>
          </a:xfrm>
          <a:prstGeom prst="rect">
            <a:avLst/>
          </a:prstGeom>
          <a:noFill/>
        </p:spPr>
        <p:txBody>
          <a:bodyPr wrap="none" lIns="0" tIns="0" rIns="0" bIns="0">
            <a:spAutoFit/>
          </a:bodyPr>
          <a:lstStyle/>
          <a:p>
            <a:r>
              <a:rPr sz="1100" b="0">
                <a:solidFill>
                  <a:srgbClr val="2E2E2E"/>
                </a:solidFill>
                <a:latin typeface="Calibri"/>
              </a:rPr>
              <a:t>entry.</a:t>
            </a:r>
          </a:p>
        </p:txBody>
      </p:sp>
      <p:sp>
        <p:nvSpPr>
          <p:cNvPr id="128" name="TextBox 127"/>
          <p:cNvSpPr txBox="1"/>
          <p:nvPr/>
        </p:nvSpPr>
        <p:spPr>
          <a:xfrm>
            <a:off x="9801225" y="3708336"/>
            <a:ext cx="1971426" cy="186689"/>
          </a:xfrm>
          <a:prstGeom prst="rect">
            <a:avLst/>
          </a:prstGeom>
          <a:noFill/>
        </p:spPr>
        <p:txBody>
          <a:bodyPr wrap="none" lIns="0" tIns="0" rIns="0" bIns="0">
            <a:spAutoFit/>
          </a:bodyPr>
          <a:lstStyle/>
          <a:p>
            <a:r>
              <a:rPr sz="1100" b="0">
                <a:solidFill>
                  <a:srgbClr val="2E2E2E"/>
                </a:solidFill>
                <a:latin typeface="Calibri"/>
              </a:rPr>
              <a:t>▸ Demand spreads over 6 regions</a:t>
            </a:r>
          </a:p>
        </p:txBody>
      </p:sp>
      <p:sp>
        <p:nvSpPr>
          <p:cNvPr id="129" name="TextBox 128"/>
          <p:cNvSpPr txBox="1"/>
          <p:nvPr/>
        </p:nvSpPr>
        <p:spPr>
          <a:xfrm>
            <a:off x="9801225" y="3875976"/>
            <a:ext cx="1493118" cy="186689"/>
          </a:xfrm>
          <a:prstGeom prst="rect">
            <a:avLst/>
          </a:prstGeom>
          <a:noFill/>
        </p:spPr>
        <p:txBody>
          <a:bodyPr wrap="none" lIns="0" tIns="0" rIns="0" bIns="0">
            <a:spAutoFit/>
          </a:bodyPr>
          <a:lstStyle/>
          <a:p>
            <a:r>
              <a:rPr sz="1100" b="0">
                <a:solidFill>
                  <a:srgbClr val="2E2E2E"/>
                </a:solidFill>
                <a:latin typeface="Calibri"/>
              </a:rPr>
              <a:t>with no single one above</a:t>
            </a:r>
          </a:p>
        </p:txBody>
      </p:sp>
      <p:pic>
        <p:nvPicPr>
          <p:cNvPr id="130" name="Picture 129" descr="lock.png"/>
          <p:cNvPicPr>
            <a:picLocks noChangeAspect="1"/>
          </p:cNvPicPr>
          <p:nvPr/>
        </p:nvPicPr>
        <p:blipFill>
          <a:blip r:embed="rId4"/>
          <a:stretch>
            <a:fillRect/>
          </a:stretch>
        </p:blipFill>
        <p:spPr>
          <a:xfrm>
            <a:off x="11242394" y="3866197"/>
            <a:ext cx="128699" cy="187198"/>
          </a:xfrm>
          <a:prstGeom prst="rect">
            <a:avLst/>
          </a:prstGeom>
        </p:spPr>
      </p:pic>
      <p:sp>
        <p:nvSpPr>
          <p:cNvPr id="131" name="TextBox 130"/>
          <p:cNvSpPr txBox="1"/>
          <p:nvPr/>
        </p:nvSpPr>
        <p:spPr>
          <a:xfrm>
            <a:off x="11409890" y="3875976"/>
            <a:ext cx="271016" cy="186689"/>
          </a:xfrm>
          <a:prstGeom prst="rect">
            <a:avLst/>
          </a:prstGeom>
          <a:noFill/>
        </p:spPr>
        <p:txBody>
          <a:bodyPr wrap="none" lIns="0" tIns="0" rIns="0" bIns="0">
            <a:spAutoFit/>
          </a:bodyPr>
          <a:lstStyle/>
          <a:p>
            <a:r>
              <a:rPr sz="1100" b="0">
                <a:solidFill>
                  <a:srgbClr val="2E2E2E"/>
                </a:solidFill>
                <a:latin typeface="Calibri"/>
              </a:rPr>
              <a:t>, so</a:t>
            </a:r>
          </a:p>
        </p:txBody>
      </p:sp>
      <p:sp>
        <p:nvSpPr>
          <p:cNvPr id="132" name="TextBox 131"/>
          <p:cNvSpPr txBox="1"/>
          <p:nvPr/>
        </p:nvSpPr>
        <p:spPr>
          <a:xfrm>
            <a:off x="9801225" y="4043616"/>
            <a:ext cx="1498575" cy="186689"/>
          </a:xfrm>
          <a:prstGeom prst="rect">
            <a:avLst/>
          </a:prstGeom>
          <a:noFill/>
        </p:spPr>
        <p:txBody>
          <a:bodyPr wrap="none" lIns="0" tIns="0" rIns="0" bIns="0">
            <a:spAutoFit/>
          </a:bodyPr>
          <a:lstStyle/>
          <a:p>
            <a:r>
              <a:rPr sz="1100" b="0">
                <a:solidFill>
                  <a:srgbClr val="2E2E2E"/>
                </a:solidFill>
                <a:latin typeface="Calibri"/>
              </a:rPr>
              <a:t>regional entry is feasible.</a:t>
            </a:r>
          </a:p>
        </p:txBody>
      </p:sp>
      <p:sp>
        <p:nvSpPr>
          <p:cNvPr id="133" name="TextBox 132"/>
          <p:cNvSpPr txBox="1"/>
          <p:nvPr/>
        </p:nvSpPr>
        <p:spPr>
          <a:xfrm>
            <a:off x="9801225" y="4400299"/>
            <a:ext cx="2114550" cy="186689"/>
          </a:xfrm>
          <a:prstGeom prst="rect">
            <a:avLst/>
          </a:prstGeom>
          <a:noFill/>
        </p:spPr>
        <p:txBody>
          <a:bodyPr wrap="none" lIns="0" tIns="0" rIns="0" bIns="0">
            <a:spAutoFit/>
          </a:bodyPr>
          <a:lstStyle/>
          <a:p>
            <a:r>
              <a:rPr sz="1100" b="0">
                <a:solidFill>
                  <a:srgbClr val="2E2E2E"/>
                </a:solidFill>
                <a:latin typeface="Calibri"/>
              </a:rPr>
              <a:t>▸ Incumbent scale in 'North America'</a:t>
            </a:r>
          </a:p>
        </p:txBody>
      </p:sp>
      <p:sp>
        <p:nvSpPr>
          <p:cNvPr id="134" name="TextBox 133"/>
          <p:cNvSpPr txBox="1"/>
          <p:nvPr/>
        </p:nvSpPr>
        <p:spPr>
          <a:xfrm>
            <a:off x="9801225" y="4567939"/>
            <a:ext cx="1923132" cy="186689"/>
          </a:xfrm>
          <a:prstGeom prst="rect">
            <a:avLst/>
          </a:prstGeom>
          <a:noFill/>
        </p:spPr>
        <p:txBody>
          <a:bodyPr wrap="none" lIns="0" tIns="0" rIns="0" bIns="0">
            <a:spAutoFit/>
          </a:bodyPr>
          <a:lstStyle/>
          <a:p>
            <a:r>
              <a:rPr sz="1100" b="0">
                <a:solidFill>
                  <a:srgbClr val="2E2E2E"/>
                </a:solidFill>
                <a:latin typeface="Calibri"/>
              </a:rPr>
              <a:t>and 'Flat Dividers &amp; Layer Pads' (</a:t>
            </a:r>
          </a:p>
        </p:txBody>
      </p:sp>
      <p:pic>
        <p:nvPicPr>
          <p:cNvPr id="135" name="Picture 134" descr="lock.png"/>
          <p:cNvPicPr>
            <a:picLocks noChangeAspect="1"/>
          </p:cNvPicPr>
          <p:nvPr/>
        </p:nvPicPr>
        <p:blipFill>
          <a:blip r:embed="rId4"/>
          <a:stretch>
            <a:fillRect/>
          </a:stretch>
        </p:blipFill>
        <p:spPr>
          <a:xfrm>
            <a:off x="11672408" y="4558160"/>
            <a:ext cx="128699" cy="187198"/>
          </a:xfrm>
          <a:prstGeom prst="rect">
            <a:avLst/>
          </a:prstGeom>
        </p:spPr>
      </p:pic>
      <p:sp>
        <p:nvSpPr>
          <p:cNvPr id="136" name="TextBox 135"/>
          <p:cNvSpPr txBox="1"/>
          <p:nvPr/>
        </p:nvSpPr>
        <p:spPr>
          <a:xfrm>
            <a:off x="9801225" y="4735579"/>
            <a:ext cx="1991345" cy="186689"/>
          </a:xfrm>
          <a:prstGeom prst="rect">
            <a:avLst/>
          </a:prstGeom>
          <a:noFill/>
        </p:spPr>
        <p:txBody>
          <a:bodyPr wrap="none" lIns="0" tIns="0" rIns="0" bIns="0">
            <a:spAutoFit/>
          </a:bodyPr>
          <a:lstStyle/>
          <a:p>
            <a:r>
              <a:rPr sz="1100" b="0">
                <a:solidFill>
                  <a:srgbClr val="2E2E2E"/>
                </a:solidFill>
                <a:latin typeface="Calibri"/>
              </a:rPr>
              <a:t>of segment) remains the principal</a:t>
            </a:r>
          </a:p>
        </p:txBody>
      </p:sp>
      <p:sp>
        <p:nvSpPr>
          <p:cNvPr id="137" name="TextBox 136"/>
          <p:cNvSpPr txBox="1"/>
          <p:nvPr/>
        </p:nvSpPr>
        <p:spPr>
          <a:xfrm>
            <a:off x="9801225" y="4903219"/>
            <a:ext cx="499938" cy="186689"/>
          </a:xfrm>
          <a:prstGeom prst="rect">
            <a:avLst/>
          </a:prstGeom>
          <a:noFill/>
        </p:spPr>
        <p:txBody>
          <a:bodyPr wrap="none" lIns="0" tIns="0" rIns="0" bIns="0">
            <a:spAutoFit/>
          </a:bodyPr>
          <a:lstStyle/>
          <a:p>
            <a:r>
              <a:rPr sz="1100" b="0">
                <a:solidFill>
                  <a:srgbClr val="2E2E2E"/>
                </a:solidFill>
                <a:latin typeface="Calibri"/>
              </a:rPr>
              <a:t>barrier.</a:t>
            </a:r>
          </a:p>
        </p:txBody>
      </p:sp>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bg>
      <p:bgPr>
        <a:solidFill>
          <a:srgbClr val="0A2A63"/>
        </a:solidFill>
        <a:effectLst/>
      </p:bgPr>
    </p:bg>
    <p:spTree>
      <p:nvGrpSpPr>
        <p:cNvPr id="1" name=""/>
        <p:cNvGrpSpPr/>
        <p:nvPr/>
      </p:nvGrpSpPr>
      <p:grpSpPr>
        <a:xfrm>
          <a:off x="0" y="0"/>
          <a:ext cx="0" cy="0"/>
          <a:chOff x="0" y="0"/>
          <a:chExt cx="0" cy="0"/>
        </a:xfrm>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ang="195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4" name="Picture 3" descr="fmi_logo_template.png"/>
          <p:cNvPicPr>
            <a:picLocks noChangeAspect="1"/>
          </p:cNvPicPr>
          <p:nvPr/>
        </p:nvPicPr>
        <p:blipFill>
          <a:blip r:embed="rId3"/>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Corrugated Partition Market</a:t>
            </a:r>
          </a:p>
        </p:txBody>
      </p:sp>
      <p:sp>
        <p:nvSpPr>
          <p:cNvPr id="6" name="FMI Breaker Title"/>
          <p:cNvSpPr txBox="1"/>
          <p:nvPr/>
        </p:nvSpPr>
        <p:spPr>
          <a:xfrm>
            <a:off x="914400" y="3305175"/>
            <a:ext cx="7239000" cy="514350"/>
          </a:xfrm>
          <a:prstGeom prst="rect">
            <a:avLst/>
          </a:prstGeom>
          <a:noFill/>
        </p:spPr>
        <p:txBody>
          <a:bodyPr wrap="square" lIns="0" tIns="0" r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FFD447"/>
                </a:solidFill>
                <a:latin typeface="Calibri"/>
              </a:rPr>
              <a:t>➤	Competitive Landscape</a:t>
            </a:r>
          </a:p>
          <a:p>
            <a:pPr marL="342900" indent="-323850">
              <a:lnSpc>
                <a:spcPct val="100000"/>
              </a:lnSpc>
              <a:spcAft>
                <a:spcPts val="800"/>
              </a:spcAft>
            </a:pPr>
            <a:r>
              <a:rPr sz="2000" b="0">
                <a:solidFill>
                  <a:srgbClr val="FFD447"/>
                </a:solidFill>
                <a:latin typeface="Calibri"/>
              </a:rPr>
              <a:t>➤	Market Share by Leading Players</a:t>
            </a:r>
          </a:p>
          <a:p>
            <a:pPr marL="342900" indent="-323850">
              <a:lnSpc>
                <a:spcPct val="100000"/>
              </a:lnSpc>
              <a:spcAft>
                <a:spcPts val="800"/>
              </a:spcAft>
            </a:pPr>
            <a:r>
              <a:rPr sz="2000" b="0">
                <a:solidFill>
                  <a:srgbClr val="FFD447"/>
                </a:solidFill>
                <a:latin typeface="Calibri"/>
              </a:rPr>
              <a:t>➤	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tIns="9525" rIns="2857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3095625"/>
            <a:ext cx="8572500" cy="514350"/>
          </a:xfrm>
          <a:prstGeom prst="rect">
            <a:avLst/>
          </a:prstGeom>
          <a:noFill/>
        </p:spPr>
        <p:txBody>
          <a:bodyPr wrap="square" lIns="0" tIns="0" r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Pipeline Assessment</a:t>
            </a:r>
          </a:p>
          <a:p>
            <a:pPr marL="342900" indent="-323850">
              <a:lnSpc>
                <a:spcPct val="100000"/>
              </a:lnSpc>
              <a:spcAft>
                <a:spcPts val="800"/>
              </a:spcAft>
            </a:pPr>
            <a:r>
              <a:rPr sz="2000" b="0">
                <a:solidFill>
                  <a:srgbClr val="000000"/>
                </a:solidFill>
                <a:latin typeface="Calibri"/>
              </a:rPr>
              <a:t>➤	Strategic Outlook</a:t>
            </a:r>
          </a:p>
          <a:p>
            <a:pPr marL="342900" indent="-323850">
              <a:lnSpc>
                <a:spcPct val="100000"/>
              </a:lnSpc>
              <a:spcAft>
                <a:spcPts val="800"/>
              </a:spcAft>
            </a:pPr>
            <a:r>
              <a:rPr sz="2000" b="0">
                <a:solidFill>
                  <a:srgbClr val="000000"/>
                </a:solidFill>
                <a:latin typeface="Calibri"/>
              </a:rPr>
              <a:t>➤	Competition Dashboard</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tIns="9525" rIns="2857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tIns="9525" rIns="2857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tIns="9525" rIns="2857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tIns="9525" rIns="2857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tIns="9525" rIns="2857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tIns="9525" rIns="2857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tIns="9525" rIns="2857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tIns="9525" rIns="28575" bIns="9525" anchor="t">
            <a:spAutoFit/>
          </a:bodyPr>
          <a:lstStyle/>
          <a:p>
            <a:pPr algn="l">
              <a:lnSpc>
                <a:spcPct val="115000"/>
              </a:lnSpc>
            </a:pPr>
            <a:endParaRP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tIns="9525" rIns="2857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tIns="9525" rIns="28575" bIns="9525" anchor="t">
            <a:spAutoFit/>
          </a:bodyPr>
          <a:lstStyle/>
          <a:p>
            <a:pPr algn="l">
              <a:lnSpc>
                <a:spcPct val="115000"/>
              </a:lnSpc>
            </a:pPr>
            <a:r>
              <a:rPr sz="1100" b="1">
                <a:solidFill>
                  <a:srgbClr val="0F2D52"/>
                </a:solidFill>
                <a:latin typeface="Calibri"/>
              </a:rPr>
              <a:t>10</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tIns="9525" rIns="2857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tIns="9525" rIns="28575" bIns="9525" anchor="t">
            <a:spAutoFit/>
          </a:bodyPr>
          <a:lstStyle/>
          <a:p>
            <a:pPr algn="l">
              <a:lnSpc>
                <a:spcPct val="115000"/>
              </a:lnSpc>
            </a:pPr>
            <a:r>
              <a:rPr sz="1100" b="1">
                <a:solidFill>
                  <a:srgbClr val="0F2D52"/>
                </a:solidFill>
                <a:latin typeface="Calibri"/>
              </a:rPr>
              <a:t>50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tIns="9525" rIns="2857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tIns="9525" rIns="28575" bIns="9525" anchor="t">
            <a:spAutoFit/>
          </a:bodyPr>
          <a:lstStyle/>
          <a:p>
            <a:pPr algn="l">
              <a:lnSpc>
                <a:spcPct val="115000"/>
              </a:lnSpc>
            </a:pPr>
            <a:r>
              <a:rPr sz="1100" b="1">
                <a:solidFill>
                  <a:srgbClr val="0F2D52"/>
                </a:solidFill>
                <a:latin typeface="Calibri"/>
              </a:rPr>
              <a:t>Multicell Packaging Inc.</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tIns="9525" rIns="2857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tIns="9525" rIns="2857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190500" y="1924050"/>
            <a:ext cx="209550" cy="209550"/>
          </a:xfrm>
          <a:prstGeom prst="rect">
            <a:avLst/>
          </a:prstGeom>
          <a:noFill/>
        </p:spPr>
        <p:txBody>
          <a:bodyPr wrap="none" lIns="0" tIns="0" r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tIns="9525" rIns="2857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tIns="9525" rIns="28575" bIns="9525" anchor="t">
            <a:spAutoFit/>
          </a:bodyPr>
          <a:lstStyle/>
          <a:p>
            <a:pPr algn="l">
              <a:lnSpc>
                <a:spcPct val="115000"/>
              </a:lnSpc>
            </a:pPr>
            <a:endParaRP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190500" y="3028950"/>
            <a:ext cx="209550" cy="209550"/>
          </a:xfrm>
          <a:prstGeom prst="rect">
            <a:avLst/>
          </a:prstGeom>
          <a:noFill/>
        </p:spPr>
        <p:txBody>
          <a:bodyPr wrap="none" lIns="0" tIns="0" r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tIns="9525" rIns="2857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tIns="9525" rIns="28575" bIns="9525" anchor="t">
            <a:spAutoFit/>
          </a:bodyPr>
          <a:lstStyle/>
          <a:p>
            <a:pPr algn="l">
              <a:lnSpc>
                <a:spcPct val="115000"/>
              </a:lnSpc>
            </a:pPr>
            <a:endParaRP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190500" y="4133850"/>
            <a:ext cx="209550" cy="209550"/>
          </a:xfrm>
          <a:prstGeom prst="rect">
            <a:avLst/>
          </a:prstGeom>
          <a:noFill/>
        </p:spPr>
        <p:txBody>
          <a:bodyPr wrap="none" lIns="0" tIns="0" r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tIns="9525" rIns="2857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tIns="9525" rIns="28575" bIns="9525" anchor="t">
            <a:spAutoFit/>
          </a:bodyPr>
          <a:lstStyle/>
          <a:p>
            <a:pPr algn="l">
              <a:lnSpc>
                <a:spcPct val="115000"/>
              </a:lnSpc>
            </a:pPr>
            <a:endParaRP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6286500" y="1924050"/>
            <a:ext cx="209550" cy="209550"/>
          </a:xfrm>
          <a:prstGeom prst="rect">
            <a:avLst/>
          </a:prstGeom>
          <a:noFill/>
        </p:spPr>
        <p:txBody>
          <a:bodyPr wrap="none" lIns="0" tIns="0" r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tIns="9525" rIns="2857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4 players compete globally, 2 regionally and 4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6286500" y="3028950"/>
            <a:ext cx="209550" cy="209550"/>
          </a:xfrm>
          <a:prstGeom prst="rect">
            <a:avLst/>
          </a:prstGeom>
          <a:noFill/>
        </p:spPr>
        <p:txBody>
          <a:bodyPr wrap="none" lIns="0" tIns="0" r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tIns="9525" rIns="2857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Acquisition is an active strategy at 5 of 10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6286500" y="4133850"/>
            <a:ext cx="209550" cy="209550"/>
          </a:xfrm>
          <a:prstGeom prst="rect">
            <a:avLst/>
          </a:prstGeom>
          <a:noFill/>
        </p:spPr>
        <p:txBody>
          <a:bodyPr wrap="none" lIns="0" tIns="0" r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tIns="9525" rIns="2857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Multicell Packaging Inc., Company, Interpack Inc..</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tIns="9525" rIns="2857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505941" cy="186689"/>
          </a:xfrm>
          <a:prstGeom prst="rect">
            <a:avLst/>
          </a:prstGeom>
          <a:noFill/>
        </p:spPr>
        <p:txBody>
          <a:bodyPr wrap="none" lIns="0" tIns="0" rIns="0" bIns="0">
            <a:spAutoFit/>
          </a:bodyPr>
          <a:lstStyle/>
          <a:p>
            <a:r>
              <a:rPr sz="1100" b="1">
                <a:solidFill>
                  <a:srgbClr val="0F2D52"/>
                </a:solidFill>
                <a:latin typeface="Calibri"/>
              </a:rPr>
              <a:t>Others,</a:t>
            </a:r>
          </a:p>
        </p:txBody>
      </p:sp>
      <p:pic>
        <p:nvPicPr>
          <p:cNvPr id="68" name="Picture 67" descr="lock.png"/>
          <p:cNvPicPr>
            <a:picLocks noChangeAspect="1"/>
          </p:cNvPicPr>
          <p:nvPr/>
        </p:nvPicPr>
        <p:blipFill>
          <a:blip r:embed="rId4"/>
          <a:stretch>
            <a:fillRect/>
          </a:stretch>
        </p:blipFill>
        <p:spPr>
          <a:xfrm>
            <a:off x="5159342" y="1295146"/>
            <a:ext cx="128699" cy="187198"/>
          </a:xfrm>
          <a:prstGeom prst="rect">
            <a:avLst/>
          </a:prstGeom>
        </p:spPr>
      </p:pic>
      <p:sp>
        <p:nvSpPr>
          <p:cNvPr id="69" name="TextBox 68"/>
          <p:cNvSpPr txBox="1"/>
          <p:nvPr/>
        </p:nvSpPr>
        <p:spPr>
          <a:xfrm>
            <a:off x="523875" y="2124075"/>
            <a:ext cx="1137319" cy="186689"/>
          </a:xfrm>
          <a:prstGeom prst="rect">
            <a:avLst/>
          </a:prstGeom>
          <a:noFill/>
        </p:spPr>
        <p:txBody>
          <a:bodyPr wrap="none" lIns="0" tIns="0" rIns="0" bIns="0">
            <a:spAutoFit/>
          </a:bodyPr>
          <a:lstStyle/>
          <a:p>
            <a:r>
              <a:rPr sz="1100" b="0">
                <a:solidFill>
                  <a:srgbClr val="1F2933"/>
                </a:solidFill>
                <a:latin typeface="Calibri"/>
              </a:rPr>
              <a:t>The top three hold</a:t>
            </a:r>
          </a:p>
        </p:txBody>
      </p:sp>
      <p:pic>
        <p:nvPicPr>
          <p:cNvPr id="70" name="Picture 69" descr="lock.png"/>
          <p:cNvPicPr>
            <a:picLocks noChangeAspect="1"/>
          </p:cNvPicPr>
          <p:nvPr/>
        </p:nvPicPr>
        <p:blipFill>
          <a:blip r:embed="rId4"/>
          <a:stretch>
            <a:fillRect/>
          </a:stretch>
        </p:blipFill>
        <p:spPr>
          <a:xfrm>
            <a:off x="1609246" y="2114296"/>
            <a:ext cx="128699" cy="187198"/>
          </a:xfrm>
          <a:prstGeom prst="rect">
            <a:avLst/>
          </a:prstGeom>
        </p:spPr>
      </p:pic>
      <p:sp>
        <p:nvSpPr>
          <p:cNvPr id="71" name="TextBox 70"/>
          <p:cNvSpPr txBox="1"/>
          <p:nvPr/>
        </p:nvSpPr>
        <p:spPr>
          <a:xfrm>
            <a:off x="1776742" y="2124075"/>
            <a:ext cx="3949327" cy="186689"/>
          </a:xfrm>
          <a:prstGeom prst="rect">
            <a:avLst/>
          </a:prstGeom>
          <a:noFill/>
        </p:spPr>
        <p:txBody>
          <a:bodyPr wrap="none" lIns="0" tIns="0" rIns="0" bIns="0">
            <a:spAutoFit/>
          </a:bodyPr>
          <a:lstStyle/>
          <a:p>
            <a:r>
              <a:rPr sz="1100" b="0">
                <a:solidFill>
                  <a:srgbClr val="1F2933"/>
                </a:solidFill>
                <a:latin typeface="Calibri"/>
              </a:rPr>
              <a:t>of 2026 value, but 3 companies lead the 7 sub-segments tracked; no</a:t>
            </a:r>
          </a:p>
        </p:txBody>
      </p:sp>
      <p:sp>
        <p:nvSpPr>
          <p:cNvPr id="72" name="TextBox 71"/>
          <p:cNvSpPr txBox="1"/>
          <p:nvPr/>
        </p:nvSpPr>
        <p:spPr>
          <a:xfrm>
            <a:off x="523875" y="2291715"/>
            <a:ext cx="1386433" cy="186689"/>
          </a:xfrm>
          <a:prstGeom prst="rect">
            <a:avLst/>
          </a:prstGeom>
          <a:noFill/>
        </p:spPr>
        <p:txBody>
          <a:bodyPr wrap="none" lIns="0" tIns="0" rIns="0" bIns="0">
            <a:spAutoFit/>
          </a:bodyPr>
          <a:lstStyle/>
          <a:p>
            <a:r>
              <a:rPr sz="1100" b="0">
                <a:solidFill>
                  <a:srgbClr val="1F2933"/>
                </a:solidFill>
                <a:latin typeface="Calibri"/>
              </a:rPr>
              <a:t>one leads more than 4.</a:t>
            </a:r>
          </a:p>
        </p:txBody>
      </p:sp>
      <p:sp>
        <p:nvSpPr>
          <p:cNvPr id="73" name="TextBox 72"/>
          <p:cNvSpPr txBox="1"/>
          <p:nvPr/>
        </p:nvSpPr>
        <p:spPr>
          <a:xfrm>
            <a:off x="523875" y="3228975"/>
            <a:ext cx="1364059" cy="186689"/>
          </a:xfrm>
          <a:prstGeom prst="rect">
            <a:avLst/>
          </a:prstGeom>
          <a:noFill/>
        </p:spPr>
        <p:txBody>
          <a:bodyPr wrap="none" lIns="0" tIns="0" rIns="0" bIns="0">
            <a:spAutoFit/>
          </a:bodyPr>
          <a:lstStyle/>
          <a:p>
            <a:r>
              <a:rPr sz="1100" b="0">
                <a:solidFill>
                  <a:srgbClr val="1F2933"/>
                </a:solidFill>
                <a:latin typeface="Calibri"/>
              </a:rPr>
              <a:t>Tier 1 (4 players) holds</a:t>
            </a:r>
          </a:p>
        </p:txBody>
      </p:sp>
      <p:pic>
        <p:nvPicPr>
          <p:cNvPr id="74" name="Picture 73" descr="lock.png"/>
          <p:cNvPicPr>
            <a:picLocks noChangeAspect="1"/>
          </p:cNvPicPr>
          <p:nvPr/>
        </p:nvPicPr>
        <p:blipFill>
          <a:blip r:embed="rId4"/>
          <a:stretch>
            <a:fillRect/>
          </a:stretch>
        </p:blipFill>
        <p:spPr>
          <a:xfrm>
            <a:off x="1835985" y="3219196"/>
            <a:ext cx="128699" cy="187198"/>
          </a:xfrm>
          <a:prstGeom prst="rect">
            <a:avLst/>
          </a:prstGeom>
        </p:spPr>
      </p:pic>
      <p:sp>
        <p:nvSpPr>
          <p:cNvPr id="75" name="TextBox 74"/>
          <p:cNvSpPr txBox="1"/>
          <p:nvPr/>
        </p:nvSpPr>
        <p:spPr>
          <a:xfrm>
            <a:off x="2003481" y="3228975"/>
            <a:ext cx="1875656" cy="186689"/>
          </a:xfrm>
          <a:prstGeom prst="rect">
            <a:avLst/>
          </a:prstGeom>
          <a:noFill/>
        </p:spPr>
        <p:txBody>
          <a:bodyPr wrap="none" lIns="0" tIns="0" rIns="0" bIns="0">
            <a:spAutoFit/>
          </a:bodyPr>
          <a:lstStyle/>
          <a:p>
            <a:r>
              <a:rPr sz="1100" b="0">
                <a:solidFill>
                  <a:srgbClr val="1F2933"/>
                </a:solidFill>
                <a:latin typeface="Calibri"/>
              </a:rPr>
              <a:t>; Tier 2 and Tier 3 together hold</a:t>
            </a:r>
          </a:p>
        </p:txBody>
      </p:sp>
      <p:pic>
        <p:nvPicPr>
          <p:cNvPr id="76" name="Picture 75" descr="lock.png"/>
          <p:cNvPicPr>
            <a:picLocks noChangeAspect="1"/>
          </p:cNvPicPr>
          <p:nvPr/>
        </p:nvPicPr>
        <p:blipFill>
          <a:blip r:embed="rId4"/>
          <a:stretch>
            <a:fillRect/>
          </a:stretch>
        </p:blipFill>
        <p:spPr>
          <a:xfrm>
            <a:off x="3827189" y="3219196"/>
            <a:ext cx="128699" cy="187198"/>
          </a:xfrm>
          <a:prstGeom prst="rect">
            <a:avLst/>
          </a:prstGeom>
        </p:spPr>
      </p:pic>
      <p:sp>
        <p:nvSpPr>
          <p:cNvPr id="77" name="TextBox 76"/>
          <p:cNvSpPr txBox="1"/>
          <p:nvPr/>
        </p:nvSpPr>
        <p:spPr>
          <a:xfrm>
            <a:off x="3994685" y="3228975"/>
            <a:ext cx="111397" cy="186689"/>
          </a:xfrm>
          <a:prstGeom prst="rect">
            <a:avLst/>
          </a:prstGeom>
          <a:noFill/>
        </p:spPr>
        <p:txBody>
          <a:bodyPr wrap="none" lIns="0" tIns="0" rIns="0" bIns="0">
            <a:spAutoFit/>
          </a:bodyPr>
          <a:lstStyle/>
          <a:p>
            <a:r>
              <a:rPr sz="1100" b="0">
                <a:solidFill>
                  <a:srgbClr val="1F2933"/>
                </a:solidFill>
                <a:latin typeface="Calibri"/>
              </a:rPr>
              <a:t>.</a:t>
            </a:r>
          </a:p>
        </p:txBody>
      </p:sp>
      <p:sp>
        <p:nvSpPr>
          <p:cNvPr id="78" name="TextBox 77"/>
          <p:cNvSpPr txBox="1"/>
          <p:nvPr/>
        </p:nvSpPr>
        <p:spPr>
          <a:xfrm>
            <a:off x="523875" y="4333875"/>
            <a:ext cx="5307583" cy="186689"/>
          </a:xfrm>
          <a:prstGeom prst="rect">
            <a:avLst/>
          </a:prstGeom>
          <a:noFill/>
        </p:spPr>
        <p:txBody>
          <a:bodyPr wrap="none" lIns="0" tIns="0" rIns="0" bIns="0">
            <a:spAutoFit/>
          </a:bodyPr>
          <a:lstStyle/>
          <a:p>
            <a:r>
              <a:rPr sz="1100" b="0">
                <a:solidFill>
                  <a:srgbClr val="1F2933"/>
                </a:solidFill>
                <a:latin typeface="Calibri"/>
              </a:rPr>
              <a:t>'Flat Dividers &amp; Layer Pads' is the largest line; 'Flat Dividers &amp; Layer Pads' compounds fastest</a:t>
            </a:r>
          </a:p>
        </p:txBody>
      </p:sp>
      <p:sp>
        <p:nvSpPr>
          <p:cNvPr id="79" name="TextBox 78"/>
          <p:cNvSpPr txBox="1"/>
          <p:nvPr/>
        </p:nvSpPr>
        <p:spPr>
          <a:xfrm>
            <a:off x="523875" y="4501515"/>
            <a:ext cx="189979" cy="186689"/>
          </a:xfrm>
          <a:prstGeom prst="rect">
            <a:avLst/>
          </a:prstGeom>
          <a:noFill/>
        </p:spPr>
        <p:txBody>
          <a:bodyPr wrap="none" lIns="0" tIns="0" rIns="0" bIns="0">
            <a:spAutoFit/>
          </a:bodyPr>
          <a:lstStyle/>
          <a:p>
            <a:r>
              <a:rPr sz="1100" b="0">
                <a:solidFill>
                  <a:srgbClr val="1F2933"/>
                </a:solidFill>
                <a:latin typeface="Calibri"/>
              </a:rPr>
              <a:t>at</a:t>
            </a:r>
          </a:p>
        </p:txBody>
      </p:sp>
      <p:pic>
        <p:nvPicPr>
          <p:cNvPr id="80" name="Picture 79" descr="lock.png"/>
          <p:cNvPicPr>
            <a:picLocks noChangeAspect="1"/>
          </p:cNvPicPr>
          <p:nvPr/>
        </p:nvPicPr>
        <p:blipFill>
          <a:blip r:embed="rId4"/>
          <a:stretch>
            <a:fillRect/>
          </a:stretch>
        </p:blipFill>
        <p:spPr>
          <a:xfrm>
            <a:off x="661905" y="4491736"/>
            <a:ext cx="128699" cy="187198"/>
          </a:xfrm>
          <a:prstGeom prst="rect">
            <a:avLst/>
          </a:prstGeom>
        </p:spPr>
      </p:pic>
      <p:sp>
        <p:nvSpPr>
          <p:cNvPr id="81" name="TextBox 80"/>
          <p:cNvSpPr txBox="1"/>
          <p:nvPr/>
        </p:nvSpPr>
        <p:spPr>
          <a:xfrm>
            <a:off x="829401" y="4501515"/>
            <a:ext cx="430617" cy="186689"/>
          </a:xfrm>
          <a:prstGeom prst="rect">
            <a:avLst/>
          </a:prstGeom>
          <a:noFill/>
        </p:spPr>
        <p:txBody>
          <a:bodyPr wrap="none" lIns="0" tIns="0" rIns="0" bIns="0">
            <a:spAutoFit/>
          </a:bodyPr>
          <a:lstStyle/>
          <a:p>
            <a:r>
              <a:rPr sz="1100" b="0">
                <a:solidFill>
                  <a:srgbClr val="1F2933"/>
                </a:solidFill>
                <a:latin typeface="Calibri"/>
              </a:rPr>
              <a:t>CAGR.</a:t>
            </a:r>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Segment Leadership Map</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tIns="9525" rIns="2857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509884"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47650" y="1257300"/>
            <a:ext cx="4433684" cy="266700"/>
          </a:xfrm>
          <a:prstGeom prst="rect">
            <a:avLst/>
          </a:prstGeom>
          <a:noFill/>
        </p:spPr>
        <p:txBody>
          <a:bodyPr wrap="square" lIns="28575" tIns="9525" rIns="28575" bIns="9525" anchor="ctr">
            <a:spAutoFit/>
          </a:bodyPr>
          <a:lstStyle/>
          <a:p>
            <a:pPr algn="l"/>
            <a:endParaRPr/>
          </a:p>
        </p:txBody>
      </p:sp>
      <p:sp>
        <p:nvSpPr>
          <p:cNvPr id="13" name="Rectangle 12"/>
          <p:cNvSpPr/>
          <p:nvPr/>
        </p:nvSpPr>
        <p:spPr>
          <a:xfrm>
            <a:off x="4700384" y="1257300"/>
            <a:ext cx="1536162"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4757534" y="1257300"/>
            <a:ext cx="1459962" cy="266700"/>
          </a:xfrm>
          <a:prstGeom prst="rect">
            <a:avLst/>
          </a:prstGeom>
          <a:noFill/>
        </p:spPr>
        <p:txBody>
          <a:bodyPr wrap="square" lIns="28575" tIns="9525" rIns="28575" bIns="9525" anchor="ctr">
            <a:spAutoFit/>
          </a:bodyPr>
          <a:lstStyle/>
          <a:p>
            <a:pPr algn="l"/>
            <a:endParaRPr/>
          </a:p>
        </p:txBody>
      </p:sp>
      <p:sp>
        <p:nvSpPr>
          <p:cNvPr id="15" name="Rectangle 14"/>
          <p:cNvSpPr/>
          <p:nvPr/>
        </p:nvSpPr>
        <p:spPr>
          <a:xfrm>
            <a:off x="6236546" y="1257300"/>
            <a:ext cx="224241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6293696" y="1257300"/>
            <a:ext cx="2166216" cy="266700"/>
          </a:xfrm>
          <a:prstGeom prst="rect">
            <a:avLst/>
          </a:prstGeom>
          <a:noFill/>
        </p:spPr>
        <p:txBody>
          <a:bodyPr wrap="square" lIns="28575" tIns="9525" rIns="28575" bIns="9525" anchor="ctr">
            <a:spAutoFit/>
          </a:bodyPr>
          <a:lstStyle/>
          <a:p>
            <a:pPr algn="l"/>
            <a:endParaRP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8536112" y="1257300"/>
            <a:ext cx="3446338" cy="266700"/>
          </a:xfrm>
          <a:prstGeom prst="rect">
            <a:avLst/>
          </a:prstGeom>
          <a:noFill/>
        </p:spPr>
        <p:txBody>
          <a:bodyPr wrap="square" lIns="28575" tIns="9525" rIns="28575" bIns="9525" anchor="ctr">
            <a:spAutoFit/>
          </a:bodyPr>
          <a:lstStyle/>
          <a:p>
            <a:pPr algn="l"/>
            <a:endParaRP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314325" y="1543050"/>
            <a:ext cx="2762250"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Multicell Packaging Inc., Company, Great American Paper Inc.</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3267075" y="1543050"/>
            <a:ext cx="2762250"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Interpack Inc., Caps Cases Ltd.</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6219825" y="1543050"/>
            <a:ext cx="2762250"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M &amp; M Box &amp; Partitions Co., Martin Partitions, Buckeye Corrugated Inc., Cactus Corrugated Containers Inc., Jarrett Industries Inc.</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9172575" y="1543050"/>
            <a:ext cx="2762250"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tIns="9525" rIns="2857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377043" cy="476250"/>
          </a:xfrm>
          <a:prstGeom prst="rect">
            <a:avLst/>
          </a:prstGeom>
          <a:noFill/>
        </p:spPr>
        <p:txBody>
          <a:bodyPr wrap="square" lIns="28575" tIns="9525" rIns="28575" bIns="9525" anchor="ctr">
            <a:spAutoFit/>
          </a:bodyPr>
          <a:lstStyle/>
          <a:p>
            <a:pPr algn="ctr">
              <a:lnSpc>
                <a:spcPct val="115000"/>
              </a:lnSpc>
            </a:pPr>
            <a:r>
              <a:rPr sz="1100" b="1">
                <a:solidFill>
                  <a:srgbClr val="0F2D52"/>
                </a:solidFill>
                <a:latin typeface="Calibri"/>
              </a:rPr>
              <a:t>Flat Dividers &amp; Layer Pads</a:t>
            </a:r>
          </a:p>
        </p:txBody>
      </p:sp>
      <p:sp>
        <p:nvSpPr>
          <p:cNvPr id="30" name="TextBox 29"/>
          <p:cNvSpPr txBox="1"/>
          <p:nvPr/>
        </p:nvSpPr>
        <p:spPr>
          <a:xfrm>
            <a:off x="3529693" y="2114550"/>
            <a:ext cx="1377043" cy="476250"/>
          </a:xfrm>
          <a:prstGeom prst="rect">
            <a:avLst/>
          </a:prstGeom>
          <a:noFill/>
        </p:spPr>
        <p:txBody>
          <a:bodyPr wrap="square" lIns="28575" tIns="9525" rIns="28575" bIns="9525" anchor="ctr">
            <a:spAutoFit/>
          </a:bodyPr>
          <a:lstStyle/>
          <a:p>
            <a:pPr algn="ctr">
              <a:lnSpc>
                <a:spcPct val="115000"/>
              </a:lnSpc>
            </a:pPr>
            <a:r>
              <a:rPr sz="1100" b="1">
                <a:solidFill>
                  <a:srgbClr val="0F2D52"/>
                </a:solidFill>
                <a:latin typeface="Calibri"/>
              </a:rPr>
              <a:t>Die-Cut &amp; Folded Partitions</a:t>
            </a:r>
          </a:p>
        </p:txBody>
      </p:sp>
      <p:sp>
        <p:nvSpPr>
          <p:cNvPr id="31" name="TextBox 30"/>
          <p:cNvSpPr txBox="1"/>
          <p:nvPr/>
        </p:nvSpPr>
        <p:spPr>
          <a:xfrm>
            <a:off x="4944836" y="2114550"/>
            <a:ext cx="1377043" cy="476250"/>
          </a:xfrm>
          <a:prstGeom prst="rect">
            <a:avLst/>
          </a:prstGeom>
          <a:noFill/>
        </p:spPr>
        <p:txBody>
          <a:bodyPr wrap="square" lIns="28575" tIns="9525" rIns="28575" bIns="9525" anchor="ctr">
            <a:spAutoFit/>
          </a:bodyPr>
          <a:lstStyle/>
          <a:p>
            <a:pPr algn="ctr">
              <a:lnSpc>
                <a:spcPct val="115000"/>
              </a:lnSpc>
            </a:pPr>
            <a:r>
              <a:rPr sz="1100" b="1">
                <a:solidFill>
                  <a:srgbClr val="0F2D52"/>
                </a:solidFill>
                <a:latin typeface="Calibri"/>
              </a:rPr>
              <a:t>Slotted Partitions</a:t>
            </a:r>
          </a:p>
        </p:txBody>
      </p:sp>
      <p:sp>
        <p:nvSpPr>
          <p:cNvPr id="32" name="TextBox 31"/>
          <p:cNvSpPr txBox="1"/>
          <p:nvPr/>
        </p:nvSpPr>
        <p:spPr>
          <a:xfrm>
            <a:off x="6359979" y="2114550"/>
            <a:ext cx="1377043" cy="476250"/>
          </a:xfrm>
          <a:prstGeom prst="rect">
            <a:avLst/>
          </a:prstGeom>
          <a:noFill/>
        </p:spPr>
        <p:txBody>
          <a:bodyPr wrap="square" lIns="28575" tIns="9525" rIns="28575" bIns="9525" anchor="ctr">
            <a:spAutoFit/>
          </a:bodyPr>
          <a:lstStyle/>
          <a:p>
            <a:pPr algn="ctr">
              <a:lnSpc>
                <a:spcPct val="115000"/>
              </a:lnSpc>
            </a:pPr>
            <a:r>
              <a:rPr sz="1100" b="1">
                <a:solidFill>
                  <a:srgbClr val="0F2D52"/>
                </a:solidFill>
                <a:latin typeface="Calibri"/>
              </a:rPr>
              <a:t>Others</a:t>
            </a:r>
          </a:p>
        </p:txBody>
      </p:sp>
      <p:sp>
        <p:nvSpPr>
          <p:cNvPr id="33" name="TextBox 32"/>
          <p:cNvSpPr txBox="1"/>
          <p:nvPr/>
        </p:nvSpPr>
        <p:spPr>
          <a:xfrm>
            <a:off x="7775121" y="2114550"/>
            <a:ext cx="1377043" cy="476250"/>
          </a:xfrm>
          <a:prstGeom prst="rect">
            <a:avLst/>
          </a:prstGeom>
          <a:noFill/>
        </p:spPr>
        <p:txBody>
          <a:bodyPr wrap="square" lIns="28575" tIns="9525" rIns="28575" bIns="9525" anchor="ctr">
            <a:spAutoFit/>
          </a:bodyPr>
          <a:lstStyle/>
          <a:p>
            <a:pPr algn="ctr">
              <a:lnSpc>
                <a:spcPct val="115000"/>
              </a:lnSpc>
            </a:pPr>
            <a:r>
              <a:rPr sz="1100" b="1">
                <a:solidFill>
                  <a:srgbClr val="0F2D52"/>
                </a:solidFill>
                <a:latin typeface="Calibri"/>
              </a:rPr>
              <a:t>Glassware, Ceramics &amp; Home Goods</a:t>
            </a:r>
          </a:p>
        </p:txBody>
      </p:sp>
      <p:sp>
        <p:nvSpPr>
          <p:cNvPr id="34" name="TextBox 33"/>
          <p:cNvSpPr txBox="1"/>
          <p:nvPr/>
        </p:nvSpPr>
        <p:spPr>
          <a:xfrm>
            <a:off x="9190264" y="2114550"/>
            <a:ext cx="1377043" cy="476250"/>
          </a:xfrm>
          <a:prstGeom prst="rect">
            <a:avLst/>
          </a:prstGeom>
          <a:noFill/>
        </p:spPr>
        <p:txBody>
          <a:bodyPr wrap="square" lIns="28575" tIns="9525" rIns="28575" bIns="9525" anchor="ctr">
            <a:spAutoFit/>
          </a:bodyPr>
          <a:lstStyle/>
          <a:p>
            <a:pPr algn="ctr">
              <a:lnSpc>
                <a:spcPct val="115000"/>
              </a:lnSpc>
            </a:pPr>
            <a:r>
              <a:rPr sz="1100" b="1">
                <a:solidFill>
                  <a:srgbClr val="0F2D52"/>
                </a:solidFill>
                <a:latin typeface="Calibri"/>
              </a:rPr>
              <a:t>Automotive &amp; Industrial Components</a:t>
            </a:r>
          </a:p>
        </p:txBody>
      </p:sp>
      <p:sp>
        <p:nvSpPr>
          <p:cNvPr id="35" name="TextBox 34"/>
          <p:cNvSpPr txBox="1"/>
          <p:nvPr/>
        </p:nvSpPr>
        <p:spPr>
          <a:xfrm>
            <a:off x="10605407" y="2114550"/>
            <a:ext cx="1377043" cy="476250"/>
          </a:xfrm>
          <a:prstGeom prst="rect">
            <a:avLst/>
          </a:prstGeom>
          <a:noFill/>
        </p:spPr>
        <p:txBody>
          <a:bodyPr wrap="square" lIns="28575" tIns="9525" rIns="28575" bIns="9525" anchor="ctr">
            <a:spAutoFit/>
          </a:bodyPr>
          <a:lstStyle/>
          <a:p>
            <a:pPr algn="ctr">
              <a:lnSpc>
                <a:spcPct val="115000"/>
              </a:lnSpc>
            </a:pPr>
            <a:r>
              <a:rPr sz="1100" b="1">
                <a:solidFill>
                  <a:srgbClr val="0F2D52"/>
                </a:solidFill>
                <a:latin typeface="Calibri"/>
              </a:rPr>
              <a:t>Food &amp; Beverage</a:t>
            </a:r>
          </a:p>
        </p:txBody>
      </p:sp>
      <p:cxnSp>
        <p:nvCxnSpPr>
          <p:cNvPr id="36" name="Connector 35"/>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7" name="Rectangle 36"/>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285750" y="26289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Multicell Packaging Inc.</a:t>
            </a:r>
          </a:p>
        </p:txBody>
      </p:sp>
      <p:sp>
        <p:nvSpPr>
          <p:cNvPr id="39" name="TextBox 38"/>
          <p:cNvSpPr txBox="1"/>
          <p:nvPr/>
        </p:nvSpPr>
        <p:spPr>
          <a:xfrm>
            <a:off x="285750" y="27908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40" name="Oval 39"/>
          <p:cNvSpPr/>
          <p:nvPr/>
        </p:nvSpPr>
        <p:spPr>
          <a:xfrm>
            <a:off x="2726871"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Freeform 40"/>
          <p:cNvSpPr/>
          <p:nvPr/>
        </p:nvSpPr>
        <p:spPr>
          <a:xfrm>
            <a:off x="2800350" y="27051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Oval 41"/>
          <p:cNvSpPr/>
          <p:nvPr/>
        </p:nvSpPr>
        <p:spPr>
          <a:xfrm>
            <a:off x="4142014"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Oval 42"/>
          <p:cNvSpPr/>
          <p:nvPr/>
        </p:nvSpPr>
        <p:spPr>
          <a:xfrm>
            <a:off x="5557157"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Oval 43"/>
          <p:cNvSpPr/>
          <p:nvPr/>
        </p:nvSpPr>
        <p:spPr>
          <a:xfrm>
            <a:off x="69723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Oval 44"/>
          <p:cNvSpPr/>
          <p:nvPr/>
        </p:nvSpPr>
        <p:spPr>
          <a:xfrm>
            <a:off x="8387443"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Freeform 45"/>
          <p:cNvSpPr/>
          <p:nvPr/>
        </p:nvSpPr>
        <p:spPr>
          <a:xfrm>
            <a:off x="8467725" y="2705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Oval 46"/>
          <p:cNvSpPr/>
          <p:nvPr/>
        </p:nvSpPr>
        <p:spPr>
          <a:xfrm>
            <a:off x="9802586"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Oval 47"/>
          <p:cNvSpPr/>
          <p:nvPr/>
        </p:nvSpPr>
        <p:spPr>
          <a:xfrm>
            <a:off x="11217729"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9" name="Connector 48"/>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285750" y="29718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Company</a:t>
            </a:r>
          </a:p>
        </p:txBody>
      </p:sp>
      <p:sp>
        <p:nvSpPr>
          <p:cNvPr id="52" name="TextBox 51"/>
          <p:cNvSpPr txBox="1"/>
          <p:nvPr/>
        </p:nvSpPr>
        <p:spPr>
          <a:xfrm>
            <a:off x="285750" y="31337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53" name="Oval 52"/>
          <p:cNvSpPr/>
          <p:nvPr/>
        </p:nvSpPr>
        <p:spPr>
          <a:xfrm>
            <a:off x="2726871"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Freeform 53"/>
          <p:cNvSpPr/>
          <p:nvPr/>
        </p:nvSpPr>
        <p:spPr>
          <a:xfrm>
            <a:off x="2800350" y="3048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Oval 54"/>
          <p:cNvSpPr/>
          <p:nvPr/>
        </p:nvSpPr>
        <p:spPr>
          <a:xfrm>
            <a:off x="4142014"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Freeform 55"/>
          <p:cNvSpPr/>
          <p:nvPr/>
        </p:nvSpPr>
        <p:spPr>
          <a:xfrm>
            <a:off x="42195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Oval 56"/>
          <p:cNvSpPr/>
          <p:nvPr/>
        </p:nvSpPr>
        <p:spPr>
          <a:xfrm>
            <a:off x="5557157"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Oval 57"/>
          <p:cNvSpPr/>
          <p:nvPr/>
        </p:nvSpPr>
        <p:spPr>
          <a:xfrm>
            <a:off x="69723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Freeform 58"/>
          <p:cNvSpPr/>
          <p:nvPr/>
        </p:nvSpPr>
        <p:spPr>
          <a:xfrm>
            <a:off x="70485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Oval 59"/>
          <p:cNvSpPr/>
          <p:nvPr/>
        </p:nvSpPr>
        <p:spPr>
          <a:xfrm>
            <a:off x="8387443"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Oval 60"/>
          <p:cNvSpPr/>
          <p:nvPr/>
        </p:nvSpPr>
        <p:spPr>
          <a:xfrm>
            <a:off x="9802586"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Oval 61"/>
          <p:cNvSpPr/>
          <p:nvPr/>
        </p:nvSpPr>
        <p:spPr>
          <a:xfrm>
            <a:off x="11217729"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Freeform 62"/>
          <p:cNvSpPr/>
          <p:nvPr/>
        </p:nvSpPr>
        <p:spPr>
          <a:xfrm>
            <a:off x="11296650" y="30480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64" name="Connector 63"/>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TextBox 65"/>
          <p:cNvSpPr txBox="1"/>
          <p:nvPr/>
        </p:nvSpPr>
        <p:spPr>
          <a:xfrm>
            <a:off x="285750" y="33147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Great American Paper Inc.</a:t>
            </a:r>
          </a:p>
        </p:txBody>
      </p:sp>
      <p:sp>
        <p:nvSpPr>
          <p:cNvPr id="67" name="TextBox 66"/>
          <p:cNvSpPr txBox="1"/>
          <p:nvPr/>
        </p:nvSpPr>
        <p:spPr>
          <a:xfrm>
            <a:off x="285750" y="34766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68" name="Oval 67"/>
          <p:cNvSpPr/>
          <p:nvPr/>
        </p:nvSpPr>
        <p:spPr>
          <a:xfrm>
            <a:off x="2726871"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Oval 68"/>
          <p:cNvSpPr/>
          <p:nvPr/>
        </p:nvSpPr>
        <p:spPr>
          <a:xfrm>
            <a:off x="4142014"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Oval 69"/>
          <p:cNvSpPr/>
          <p:nvPr/>
        </p:nvSpPr>
        <p:spPr>
          <a:xfrm>
            <a:off x="5557157"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Freeform 70"/>
          <p:cNvSpPr/>
          <p:nvPr/>
        </p:nvSpPr>
        <p:spPr>
          <a:xfrm>
            <a:off x="5629275" y="33909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Oval 71"/>
          <p:cNvSpPr/>
          <p:nvPr/>
        </p:nvSpPr>
        <p:spPr>
          <a:xfrm>
            <a:off x="69723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Oval 72"/>
          <p:cNvSpPr/>
          <p:nvPr/>
        </p:nvSpPr>
        <p:spPr>
          <a:xfrm>
            <a:off x="8387443"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Oval 73"/>
          <p:cNvSpPr/>
          <p:nvPr/>
        </p:nvSpPr>
        <p:spPr>
          <a:xfrm>
            <a:off x="9802586"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Freeform 74"/>
          <p:cNvSpPr/>
          <p:nvPr/>
        </p:nvSpPr>
        <p:spPr>
          <a:xfrm>
            <a:off x="9877425" y="3390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Oval 75"/>
          <p:cNvSpPr/>
          <p:nvPr/>
        </p:nvSpPr>
        <p:spPr>
          <a:xfrm>
            <a:off x="11217729"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Freeform 76"/>
          <p:cNvSpPr/>
          <p:nvPr/>
        </p:nvSpPr>
        <p:spPr>
          <a:xfrm>
            <a:off x="11296650" y="3390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78" name="Connector 77"/>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9" name="Rectangle 78"/>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285750" y="36576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Interpack Inc.</a:t>
            </a:r>
          </a:p>
        </p:txBody>
      </p:sp>
      <p:sp>
        <p:nvSpPr>
          <p:cNvPr id="81" name="TextBox 80"/>
          <p:cNvSpPr txBox="1"/>
          <p:nvPr/>
        </p:nvSpPr>
        <p:spPr>
          <a:xfrm>
            <a:off x="285750" y="38195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82" name="Oval 81"/>
          <p:cNvSpPr/>
          <p:nvPr/>
        </p:nvSpPr>
        <p:spPr>
          <a:xfrm>
            <a:off x="2726871"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Oval 82"/>
          <p:cNvSpPr/>
          <p:nvPr/>
        </p:nvSpPr>
        <p:spPr>
          <a:xfrm>
            <a:off x="4142014"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Freeform 83"/>
          <p:cNvSpPr/>
          <p:nvPr/>
        </p:nvSpPr>
        <p:spPr>
          <a:xfrm>
            <a:off x="42195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Oval 84"/>
          <p:cNvSpPr/>
          <p:nvPr/>
        </p:nvSpPr>
        <p:spPr>
          <a:xfrm>
            <a:off x="5557157"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Freeform 85"/>
          <p:cNvSpPr/>
          <p:nvPr/>
        </p:nvSpPr>
        <p:spPr>
          <a:xfrm>
            <a:off x="5629275" y="37338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Oval 86"/>
          <p:cNvSpPr/>
          <p:nvPr/>
        </p:nvSpPr>
        <p:spPr>
          <a:xfrm>
            <a:off x="69723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Freeform 87"/>
          <p:cNvSpPr/>
          <p:nvPr/>
        </p:nvSpPr>
        <p:spPr>
          <a:xfrm>
            <a:off x="70485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Oval 88"/>
          <p:cNvSpPr/>
          <p:nvPr/>
        </p:nvSpPr>
        <p:spPr>
          <a:xfrm>
            <a:off x="8387443"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Freeform 89"/>
          <p:cNvSpPr/>
          <p:nvPr/>
        </p:nvSpPr>
        <p:spPr>
          <a:xfrm>
            <a:off x="8467725" y="37338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Oval 90"/>
          <p:cNvSpPr/>
          <p:nvPr/>
        </p:nvSpPr>
        <p:spPr>
          <a:xfrm>
            <a:off x="9802586"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Oval 91"/>
          <p:cNvSpPr/>
          <p:nvPr/>
        </p:nvSpPr>
        <p:spPr>
          <a:xfrm>
            <a:off x="11217729"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3" name="Connector 92"/>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4" name="Rectangle 93"/>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TextBox 94"/>
          <p:cNvSpPr txBox="1"/>
          <p:nvPr/>
        </p:nvSpPr>
        <p:spPr>
          <a:xfrm>
            <a:off x="285750" y="40005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Caps Cases Ltd.</a:t>
            </a:r>
          </a:p>
        </p:txBody>
      </p:sp>
      <p:sp>
        <p:nvSpPr>
          <p:cNvPr id="96" name="TextBox 95"/>
          <p:cNvSpPr txBox="1"/>
          <p:nvPr/>
        </p:nvSpPr>
        <p:spPr>
          <a:xfrm>
            <a:off x="285750" y="41624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2</a:t>
            </a:r>
          </a:p>
        </p:txBody>
      </p:sp>
      <p:sp>
        <p:nvSpPr>
          <p:cNvPr id="97" name="Oval 96"/>
          <p:cNvSpPr/>
          <p:nvPr/>
        </p:nvSpPr>
        <p:spPr>
          <a:xfrm>
            <a:off x="2726871"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Freeform 97"/>
          <p:cNvSpPr/>
          <p:nvPr/>
        </p:nvSpPr>
        <p:spPr>
          <a:xfrm>
            <a:off x="2800350" y="4076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Oval 98"/>
          <p:cNvSpPr/>
          <p:nvPr/>
        </p:nvSpPr>
        <p:spPr>
          <a:xfrm>
            <a:off x="4142014"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0" name="Freeform 99"/>
          <p:cNvSpPr/>
          <p:nvPr/>
        </p:nvSpPr>
        <p:spPr>
          <a:xfrm>
            <a:off x="42195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Oval 100"/>
          <p:cNvSpPr/>
          <p:nvPr/>
        </p:nvSpPr>
        <p:spPr>
          <a:xfrm>
            <a:off x="5557157"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Freeform 101"/>
          <p:cNvSpPr/>
          <p:nvPr/>
        </p:nvSpPr>
        <p:spPr>
          <a:xfrm>
            <a:off x="5629275" y="40767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Oval 102"/>
          <p:cNvSpPr/>
          <p:nvPr/>
        </p:nvSpPr>
        <p:spPr>
          <a:xfrm>
            <a:off x="69723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Freeform 103"/>
          <p:cNvSpPr/>
          <p:nvPr/>
        </p:nvSpPr>
        <p:spPr>
          <a:xfrm>
            <a:off x="70485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Oval 104"/>
          <p:cNvSpPr/>
          <p:nvPr/>
        </p:nvSpPr>
        <p:spPr>
          <a:xfrm>
            <a:off x="8387443"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Oval 105"/>
          <p:cNvSpPr/>
          <p:nvPr/>
        </p:nvSpPr>
        <p:spPr>
          <a:xfrm>
            <a:off x="9802586"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Freeform 106"/>
          <p:cNvSpPr/>
          <p:nvPr/>
        </p:nvSpPr>
        <p:spPr>
          <a:xfrm>
            <a:off x="9877425" y="4076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Oval 107"/>
          <p:cNvSpPr/>
          <p:nvPr/>
        </p:nvSpPr>
        <p:spPr>
          <a:xfrm>
            <a:off x="11217729"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9" name="Connector 108"/>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0" name="Rectangle 109"/>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TextBox 110"/>
          <p:cNvSpPr txBox="1"/>
          <p:nvPr/>
        </p:nvSpPr>
        <p:spPr>
          <a:xfrm>
            <a:off x="285750" y="43434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M &amp; M Box &amp; Partitions Co.</a:t>
            </a:r>
          </a:p>
        </p:txBody>
      </p:sp>
      <p:sp>
        <p:nvSpPr>
          <p:cNvPr id="112" name="TextBox 111"/>
          <p:cNvSpPr txBox="1"/>
          <p:nvPr/>
        </p:nvSpPr>
        <p:spPr>
          <a:xfrm>
            <a:off x="285750" y="45053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2</a:t>
            </a:r>
          </a:p>
        </p:txBody>
      </p:sp>
      <p:sp>
        <p:nvSpPr>
          <p:cNvPr id="113" name="Oval 112"/>
          <p:cNvSpPr/>
          <p:nvPr/>
        </p:nvSpPr>
        <p:spPr>
          <a:xfrm>
            <a:off x="2726871"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Freeform 113"/>
          <p:cNvSpPr/>
          <p:nvPr/>
        </p:nvSpPr>
        <p:spPr>
          <a:xfrm>
            <a:off x="2800350" y="4419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Oval 114"/>
          <p:cNvSpPr/>
          <p:nvPr/>
        </p:nvSpPr>
        <p:spPr>
          <a:xfrm>
            <a:off x="4142014"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Freeform 115"/>
          <p:cNvSpPr/>
          <p:nvPr/>
        </p:nvSpPr>
        <p:spPr>
          <a:xfrm>
            <a:off x="42195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Oval 116"/>
          <p:cNvSpPr/>
          <p:nvPr/>
        </p:nvSpPr>
        <p:spPr>
          <a:xfrm>
            <a:off x="5557157"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Oval 117"/>
          <p:cNvSpPr/>
          <p:nvPr/>
        </p:nvSpPr>
        <p:spPr>
          <a:xfrm>
            <a:off x="69723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Oval 118"/>
          <p:cNvSpPr/>
          <p:nvPr/>
        </p:nvSpPr>
        <p:spPr>
          <a:xfrm>
            <a:off x="8387443"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Freeform 119"/>
          <p:cNvSpPr/>
          <p:nvPr/>
        </p:nvSpPr>
        <p:spPr>
          <a:xfrm>
            <a:off x="8467725" y="44196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Oval 120"/>
          <p:cNvSpPr/>
          <p:nvPr/>
        </p:nvSpPr>
        <p:spPr>
          <a:xfrm>
            <a:off x="9802586"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Freeform 121"/>
          <p:cNvSpPr/>
          <p:nvPr/>
        </p:nvSpPr>
        <p:spPr>
          <a:xfrm>
            <a:off x="9877425" y="4419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Oval 122"/>
          <p:cNvSpPr/>
          <p:nvPr/>
        </p:nvSpPr>
        <p:spPr>
          <a:xfrm>
            <a:off x="11217729"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24" name="Connector 123"/>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5" name="Rectangle 124"/>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TextBox 125"/>
          <p:cNvSpPr txBox="1"/>
          <p:nvPr/>
        </p:nvSpPr>
        <p:spPr>
          <a:xfrm>
            <a:off x="285750" y="46863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Martin Partitions</a:t>
            </a:r>
          </a:p>
        </p:txBody>
      </p:sp>
      <p:sp>
        <p:nvSpPr>
          <p:cNvPr id="127" name="TextBox 126"/>
          <p:cNvSpPr txBox="1"/>
          <p:nvPr/>
        </p:nvSpPr>
        <p:spPr>
          <a:xfrm>
            <a:off x="285750" y="48482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28" name="Oval 127"/>
          <p:cNvSpPr/>
          <p:nvPr/>
        </p:nvSpPr>
        <p:spPr>
          <a:xfrm>
            <a:off x="2726871"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Freeform 128"/>
          <p:cNvSpPr/>
          <p:nvPr/>
        </p:nvSpPr>
        <p:spPr>
          <a:xfrm>
            <a:off x="2800350" y="4762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Oval 129"/>
          <p:cNvSpPr/>
          <p:nvPr/>
        </p:nvSpPr>
        <p:spPr>
          <a:xfrm>
            <a:off x="4142014"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Oval 130"/>
          <p:cNvSpPr/>
          <p:nvPr/>
        </p:nvSpPr>
        <p:spPr>
          <a:xfrm>
            <a:off x="5557157"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Freeform 131"/>
          <p:cNvSpPr/>
          <p:nvPr/>
        </p:nvSpPr>
        <p:spPr>
          <a:xfrm>
            <a:off x="5629275" y="47625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Oval 132"/>
          <p:cNvSpPr/>
          <p:nvPr/>
        </p:nvSpPr>
        <p:spPr>
          <a:xfrm>
            <a:off x="69723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Freeform 133"/>
          <p:cNvSpPr/>
          <p:nvPr/>
        </p:nvSpPr>
        <p:spPr>
          <a:xfrm>
            <a:off x="70485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Oval 134"/>
          <p:cNvSpPr/>
          <p:nvPr/>
        </p:nvSpPr>
        <p:spPr>
          <a:xfrm>
            <a:off x="8387443"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Freeform 135"/>
          <p:cNvSpPr/>
          <p:nvPr/>
        </p:nvSpPr>
        <p:spPr>
          <a:xfrm>
            <a:off x="8467725" y="4762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Oval 136"/>
          <p:cNvSpPr/>
          <p:nvPr/>
        </p:nvSpPr>
        <p:spPr>
          <a:xfrm>
            <a:off x="9802586"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Oval 137"/>
          <p:cNvSpPr/>
          <p:nvPr/>
        </p:nvSpPr>
        <p:spPr>
          <a:xfrm>
            <a:off x="11217729"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39" name="Connector 138"/>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0" name="Rectangle 139"/>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TextBox 140"/>
          <p:cNvSpPr txBox="1"/>
          <p:nvPr/>
        </p:nvSpPr>
        <p:spPr>
          <a:xfrm>
            <a:off x="285750" y="50292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Buckeye Corrugated Inc.</a:t>
            </a:r>
          </a:p>
        </p:txBody>
      </p:sp>
      <p:sp>
        <p:nvSpPr>
          <p:cNvPr id="142" name="TextBox 141"/>
          <p:cNvSpPr txBox="1"/>
          <p:nvPr/>
        </p:nvSpPr>
        <p:spPr>
          <a:xfrm>
            <a:off x="285750" y="51911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43" name="Oval 142"/>
          <p:cNvSpPr/>
          <p:nvPr/>
        </p:nvSpPr>
        <p:spPr>
          <a:xfrm>
            <a:off x="2726871"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4" name="Oval 143"/>
          <p:cNvSpPr/>
          <p:nvPr/>
        </p:nvSpPr>
        <p:spPr>
          <a:xfrm>
            <a:off x="4142014"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Freeform 144"/>
          <p:cNvSpPr/>
          <p:nvPr/>
        </p:nvSpPr>
        <p:spPr>
          <a:xfrm>
            <a:off x="42195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6" name="Oval 145"/>
          <p:cNvSpPr/>
          <p:nvPr/>
        </p:nvSpPr>
        <p:spPr>
          <a:xfrm>
            <a:off x="5557157"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7" name="Freeform 146"/>
          <p:cNvSpPr/>
          <p:nvPr/>
        </p:nvSpPr>
        <p:spPr>
          <a:xfrm>
            <a:off x="5629275" y="51054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8" name="Oval 147"/>
          <p:cNvSpPr/>
          <p:nvPr/>
        </p:nvSpPr>
        <p:spPr>
          <a:xfrm>
            <a:off x="69723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9" name="Freeform 148"/>
          <p:cNvSpPr/>
          <p:nvPr/>
        </p:nvSpPr>
        <p:spPr>
          <a:xfrm>
            <a:off x="70485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0" name="Oval 149"/>
          <p:cNvSpPr/>
          <p:nvPr/>
        </p:nvSpPr>
        <p:spPr>
          <a:xfrm>
            <a:off x="8387443"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1" name="Oval 150"/>
          <p:cNvSpPr/>
          <p:nvPr/>
        </p:nvSpPr>
        <p:spPr>
          <a:xfrm>
            <a:off x="9802586"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Freeform 151"/>
          <p:cNvSpPr/>
          <p:nvPr/>
        </p:nvSpPr>
        <p:spPr>
          <a:xfrm>
            <a:off x="9877425" y="5105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3" name="Oval 152"/>
          <p:cNvSpPr/>
          <p:nvPr/>
        </p:nvSpPr>
        <p:spPr>
          <a:xfrm>
            <a:off x="11217729"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54" name="Connector 153"/>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5" name="Rectangle 154"/>
          <p:cNvSpPr/>
          <p:nvPr/>
        </p:nvSpPr>
        <p:spPr>
          <a:xfrm>
            <a:off x="190500" y="5381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6" name="TextBox 155"/>
          <p:cNvSpPr txBox="1"/>
          <p:nvPr/>
        </p:nvSpPr>
        <p:spPr>
          <a:xfrm>
            <a:off x="285750" y="53721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Cactus Corrugated Containers Inc.</a:t>
            </a:r>
          </a:p>
        </p:txBody>
      </p:sp>
      <p:sp>
        <p:nvSpPr>
          <p:cNvPr id="157" name="TextBox 156"/>
          <p:cNvSpPr txBox="1"/>
          <p:nvPr/>
        </p:nvSpPr>
        <p:spPr>
          <a:xfrm>
            <a:off x="285750" y="55340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58" name="Oval 157"/>
          <p:cNvSpPr/>
          <p:nvPr/>
        </p:nvSpPr>
        <p:spPr>
          <a:xfrm>
            <a:off x="2726871"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9" name="Freeform 158"/>
          <p:cNvSpPr/>
          <p:nvPr/>
        </p:nvSpPr>
        <p:spPr>
          <a:xfrm>
            <a:off x="2800350" y="54483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Oval 159"/>
          <p:cNvSpPr/>
          <p:nvPr/>
        </p:nvSpPr>
        <p:spPr>
          <a:xfrm>
            <a:off x="4142014"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1" name="Freeform 160"/>
          <p:cNvSpPr/>
          <p:nvPr/>
        </p:nvSpPr>
        <p:spPr>
          <a:xfrm>
            <a:off x="421957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2" name="Oval 161"/>
          <p:cNvSpPr/>
          <p:nvPr/>
        </p:nvSpPr>
        <p:spPr>
          <a:xfrm>
            <a:off x="5557157"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3" name="Freeform 162"/>
          <p:cNvSpPr/>
          <p:nvPr/>
        </p:nvSpPr>
        <p:spPr>
          <a:xfrm>
            <a:off x="5629275" y="5448300"/>
            <a:ext cx="76200" cy="152400"/>
          </a:xfrm>
          <a:custGeom>
            <a:avLst/>
            <a:gdLst/>
            <a:ahLst/>
            <a:cxnLst/>
            <a:rect l="l" t="t" r="r" b="b"/>
            <a:pathLst>
              <a:path w="8" h="16">
                <a:moveTo>
                  <a:pt x="0" y="8"/>
                </a:moveTo>
                <a:lnTo>
                  <a:pt x="0" y="0"/>
                </a:lnTo>
                <a:lnTo>
                  <a:pt x="2" y="0"/>
                </a:lnTo>
                <a:lnTo>
                  <a:pt x="3" y="0"/>
                </a:lnTo>
                <a:lnTo>
                  <a:pt x="4" y="1"/>
                </a:lnTo>
                <a:lnTo>
                  <a:pt x="6" y="2"/>
                </a:lnTo>
                <a:lnTo>
                  <a:pt x="7" y="3"/>
                </a:lnTo>
                <a:lnTo>
                  <a:pt x="7" y="4"/>
                </a:lnTo>
                <a:lnTo>
                  <a:pt x="8" y="5"/>
                </a:lnTo>
                <a:lnTo>
                  <a:pt x="8" y="7"/>
                </a:lnTo>
                <a:lnTo>
                  <a:pt x="8" y="8"/>
                </a:lnTo>
                <a:lnTo>
                  <a:pt x="8" y="9"/>
                </a:lnTo>
                <a:lnTo>
                  <a:pt x="8" y="11"/>
                </a:lnTo>
                <a:lnTo>
                  <a:pt x="7" y="12"/>
                </a:lnTo>
                <a:lnTo>
                  <a:pt x="7" y="13"/>
                </a:lnTo>
                <a:lnTo>
                  <a:pt x="6"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Oval 163"/>
          <p:cNvSpPr/>
          <p:nvPr/>
        </p:nvSpPr>
        <p:spPr>
          <a:xfrm>
            <a:off x="69723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5" name="Oval 164"/>
          <p:cNvSpPr/>
          <p:nvPr/>
        </p:nvSpPr>
        <p:spPr>
          <a:xfrm>
            <a:off x="8387443"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Freeform 165"/>
          <p:cNvSpPr/>
          <p:nvPr/>
        </p:nvSpPr>
        <p:spPr>
          <a:xfrm>
            <a:off x="8467725" y="5448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7" name="Oval 166"/>
          <p:cNvSpPr/>
          <p:nvPr/>
        </p:nvSpPr>
        <p:spPr>
          <a:xfrm>
            <a:off x="9802586"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8" name="Freeform 167"/>
          <p:cNvSpPr/>
          <p:nvPr/>
        </p:nvSpPr>
        <p:spPr>
          <a:xfrm>
            <a:off x="9877425" y="54483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9" name="Oval 168"/>
          <p:cNvSpPr/>
          <p:nvPr/>
        </p:nvSpPr>
        <p:spPr>
          <a:xfrm>
            <a:off x="11217729"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70" name="Connector 169"/>
          <p:cNvCxnSpPr/>
          <p:nvPr/>
        </p:nvCxnSpPr>
        <p:spPr>
          <a:xfrm>
            <a:off x="190500" y="5695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1" name="Rectangle 170"/>
          <p:cNvSpPr/>
          <p:nvPr/>
        </p:nvSpPr>
        <p:spPr>
          <a:xfrm>
            <a:off x="190500" y="5724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2" name="TextBox 171"/>
          <p:cNvSpPr txBox="1"/>
          <p:nvPr/>
        </p:nvSpPr>
        <p:spPr>
          <a:xfrm>
            <a:off x="285750" y="5715000"/>
            <a:ext cx="1790700" cy="171450"/>
          </a:xfrm>
          <a:prstGeom prst="rect">
            <a:avLst/>
          </a:prstGeom>
          <a:noFill/>
        </p:spPr>
        <p:txBody>
          <a:bodyPr wrap="square" lIns="28575" tIns="9525" rIns="28575" bIns="9525" anchor="t">
            <a:spAutoFit/>
          </a:bodyPr>
          <a:lstStyle/>
          <a:p>
            <a:pPr algn="l"/>
            <a:r>
              <a:rPr sz="1100" b="1">
                <a:solidFill>
                  <a:srgbClr val="1F2933"/>
                </a:solidFill>
                <a:latin typeface="Calibri"/>
              </a:rPr>
              <a:t>Jarrett Industries Inc.</a:t>
            </a:r>
          </a:p>
        </p:txBody>
      </p:sp>
      <p:sp>
        <p:nvSpPr>
          <p:cNvPr id="173" name="TextBox 172"/>
          <p:cNvSpPr txBox="1"/>
          <p:nvPr/>
        </p:nvSpPr>
        <p:spPr>
          <a:xfrm>
            <a:off x="285750" y="5876925"/>
            <a:ext cx="179070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74" name="Oval 173"/>
          <p:cNvSpPr/>
          <p:nvPr/>
        </p:nvSpPr>
        <p:spPr>
          <a:xfrm>
            <a:off x="2726871"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5" name="Freeform 174"/>
          <p:cNvSpPr/>
          <p:nvPr/>
        </p:nvSpPr>
        <p:spPr>
          <a:xfrm>
            <a:off x="2800350" y="5791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Oval 175"/>
          <p:cNvSpPr/>
          <p:nvPr/>
        </p:nvSpPr>
        <p:spPr>
          <a:xfrm>
            <a:off x="4142014"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7" name="Freeform 176"/>
          <p:cNvSpPr/>
          <p:nvPr/>
        </p:nvSpPr>
        <p:spPr>
          <a:xfrm>
            <a:off x="421957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8" name="Oval 177"/>
          <p:cNvSpPr/>
          <p:nvPr/>
        </p:nvSpPr>
        <p:spPr>
          <a:xfrm>
            <a:off x="5557157"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9" name="Oval 178"/>
          <p:cNvSpPr/>
          <p:nvPr/>
        </p:nvSpPr>
        <p:spPr>
          <a:xfrm>
            <a:off x="69723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0" name="Freeform 179"/>
          <p:cNvSpPr/>
          <p:nvPr/>
        </p:nvSpPr>
        <p:spPr>
          <a:xfrm>
            <a:off x="70485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1" name="Oval 180"/>
          <p:cNvSpPr/>
          <p:nvPr/>
        </p:nvSpPr>
        <p:spPr>
          <a:xfrm>
            <a:off x="8387443"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Freeform 181"/>
          <p:cNvSpPr/>
          <p:nvPr/>
        </p:nvSpPr>
        <p:spPr>
          <a:xfrm>
            <a:off x="8467725" y="5791200"/>
            <a:ext cx="76200" cy="152400"/>
          </a:xfrm>
          <a:custGeom>
            <a:avLst/>
            <a:gdLst/>
            <a:ahLst/>
            <a:cxnLst/>
            <a:rect l="l" t="t" r="r" b="b"/>
            <a:pathLst>
              <a:path w="8" h="16">
                <a:moveTo>
                  <a:pt x="0" y="8"/>
                </a:moveTo>
                <a:lnTo>
                  <a:pt x="0" y="0"/>
                </a:lnTo>
                <a:lnTo>
                  <a:pt x="1" y="0"/>
                </a:lnTo>
                <a:lnTo>
                  <a:pt x="2" y="0"/>
                </a:lnTo>
                <a:lnTo>
                  <a:pt x="4" y="1"/>
                </a:lnTo>
                <a:lnTo>
                  <a:pt x="5" y="2"/>
                </a:lnTo>
                <a:lnTo>
                  <a:pt x="6" y="3"/>
                </a:lnTo>
                <a:lnTo>
                  <a:pt x="6" y="4"/>
                </a:lnTo>
                <a:lnTo>
                  <a:pt x="7" y="5"/>
                </a:lnTo>
                <a:lnTo>
                  <a:pt x="7" y="7"/>
                </a:lnTo>
                <a:lnTo>
                  <a:pt x="8" y="8"/>
                </a:lnTo>
                <a:lnTo>
                  <a:pt x="7" y="9"/>
                </a:lnTo>
                <a:lnTo>
                  <a:pt x="7" y="11"/>
                </a:lnTo>
                <a:lnTo>
                  <a:pt x="6"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3" name="Oval 182"/>
          <p:cNvSpPr/>
          <p:nvPr/>
        </p:nvSpPr>
        <p:spPr>
          <a:xfrm>
            <a:off x="9802586"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Oval 183"/>
          <p:cNvSpPr/>
          <p:nvPr/>
        </p:nvSpPr>
        <p:spPr>
          <a:xfrm>
            <a:off x="11217729"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85" name="Connector 184"/>
          <p:cNvCxnSpPr/>
          <p:nvPr/>
        </p:nvCxnSpPr>
        <p:spPr>
          <a:xfrm>
            <a:off x="190500" y="6038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86" name="Rectangle 185"/>
          <p:cNvSpPr/>
          <p:nvPr/>
        </p:nvSpPr>
        <p:spPr>
          <a:xfrm>
            <a:off x="190500" y="61245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7" name="TextBox 186"/>
          <p:cNvSpPr txBox="1"/>
          <p:nvPr/>
        </p:nvSpPr>
        <p:spPr>
          <a:xfrm>
            <a:off x="314325" y="6076950"/>
            <a:ext cx="2095500" cy="171450"/>
          </a:xfrm>
          <a:prstGeom prst="rect">
            <a:avLst/>
          </a:prstGeom>
          <a:noFill/>
        </p:spPr>
        <p:txBody>
          <a:bodyPr wrap="square" lIns="28575" tIns="9525" rIns="28575" bIns="9525" anchor="t">
            <a:spAutoFit/>
          </a:bodyPr>
          <a:lstStyle/>
          <a:p>
            <a:pPr algn="l"/>
            <a:r>
              <a:rPr sz="1100" b="0">
                <a:solidFill>
                  <a:srgbClr val="1F2933"/>
                </a:solidFill>
                <a:latin typeface="Calibri"/>
              </a:rPr>
              <a:t>Tier 1</a:t>
            </a:r>
          </a:p>
        </p:txBody>
      </p:sp>
      <p:sp>
        <p:nvSpPr>
          <p:cNvPr id="188" name="Rectangle 187"/>
          <p:cNvSpPr/>
          <p:nvPr/>
        </p:nvSpPr>
        <p:spPr>
          <a:xfrm>
            <a:off x="847725" y="61245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9" name="TextBox 188"/>
          <p:cNvSpPr txBox="1"/>
          <p:nvPr/>
        </p:nvSpPr>
        <p:spPr>
          <a:xfrm>
            <a:off x="971550" y="6076950"/>
            <a:ext cx="2095500" cy="171450"/>
          </a:xfrm>
          <a:prstGeom prst="rect">
            <a:avLst/>
          </a:prstGeom>
          <a:noFill/>
        </p:spPr>
        <p:txBody>
          <a:bodyPr wrap="square" lIns="28575" tIns="9525" rIns="28575" bIns="9525" anchor="t">
            <a:spAutoFit/>
          </a:bodyPr>
          <a:lstStyle/>
          <a:p>
            <a:pPr algn="l"/>
            <a:r>
              <a:rPr sz="1100" b="0">
                <a:solidFill>
                  <a:srgbClr val="1F2933"/>
                </a:solidFill>
                <a:latin typeface="Calibri"/>
              </a:rPr>
              <a:t>Tier 2</a:t>
            </a:r>
          </a:p>
        </p:txBody>
      </p:sp>
      <p:sp>
        <p:nvSpPr>
          <p:cNvPr id="190" name="Rectangle 189"/>
          <p:cNvSpPr/>
          <p:nvPr/>
        </p:nvSpPr>
        <p:spPr>
          <a:xfrm>
            <a:off x="1504950" y="61245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1" name="TextBox 190"/>
          <p:cNvSpPr txBox="1"/>
          <p:nvPr/>
        </p:nvSpPr>
        <p:spPr>
          <a:xfrm>
            <a:off x="1628775" y="6076950"/>
            <a:ext cx="2095500" cy="171450"/>
          </a:xfrm>
          <a:prstGeom prst="rect">
            <a:avLst/>
          </a:prstGeom>
          <a:noFill/>
        </p:spPr>
        <p:txBody>
          <a:bodyPr wrap="square" lIns="28575" tIns="9525" rIns="28575" bIns="9525" anchor="t">
            <a:spAutoFit/>
          </a:bodyPr>
          <a:lstStyle/>
          <a:p>
            <a:pPr algn="l"/>
            <a:r>
              <a:rPr sz="1100" b="0">
                <a:solidFill>
                  <a:srgbClr val="1F2933"/>
                </a:solidFill>
                <a:latin typeface="Calibri"/>
              </a:rPr>
              <a:t>Tier 3</a:t>
            </a:r>
          </a:p>
        </p:txBody>
      </p:sp>
      <p:sp>
        <p:nvSpPr>
          <p:cNvPr id="192" name="TextBox 191"/>
          <p:cNvSpPr txBox="1"/>
          <p:nvPr/>
        </p:nvSpPr>
        <p:spPr>
          <a:xfrm>
            <a:off x="190500" y="6286500"/>
            <a:ext cx="2857500" cy="152400"/>
          </a:xfrm>
          <a:prstGeom prst="rect">
            <a:avLst/>
          </a:prstGeom>
          <a:noFill/>
        </p:spPr>
        <p:txBody>
          <a:bodyPr wrap="square" lIns="28575" tIns="9525" rIns="28575" bIns="9525" anchor="t">
            <a:spAutoFit/>
          </a:bodyPr>
          <a:lstStyle/>
          <a:p>
            <a:pPr algn="l"/>
            <a:r>
              <a:rPr sz="1100" b="1">
                <a:solidFill>
                  <a:srgbClr val="0F2D52"/>
                </a:solidFill>
                <a:latin typeface="Calibri"/>
              </a:rPr>
              <a:t>READING</a:t>
            </a:r>
          </a:p>
        </p:txBody>
      </p:sp>
      <p:sp>
        <p:nvSpPr>
          <p:cNvPr id="193" name="TextBox 192"/>
          <p:cNvSpPr txBox="1"/>
          <p:nvPr/>
        </p:nvSpPr>
        <p:spPr>
          <a:xfrm>
            <a:off x="190500" y="6400800"/>
            <a:ext cx="11811000" cy="2286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Read across a row to see breadth; down a column to see contestability.  'Flat Dividers &amp; Layer Pads' is the most contested column (8 players active); 'Food &amp; Beverage' is the most open (3).</a:t>
            </a:r>
          </a:p>
        </p:txBody>
      </p:sp>
      <p:sp>
        <p:nvSpPr>
          <p:cNvPr id="194" name="TextBox 19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195" name="TextBox 194"/>
          <p:cNvSpPr txBox="1"/>
          <p:nvPr/>
        </p:nvSpPr>
        <p:spPr>
          <a:xfrm>
            <a:off x="276225" y="1306830"/>
            <a:ext cx="398164" cy="186689"/>
          </a:xfrm>
          <a:prstGeom prst="rect">
            <a:avLst/>
          </a:prstGeom>
          <a:noFill/>
        </p:spPr>
        <p:txBody>
          <a:bodyPr wrap="none" lIns="0" tIns="0" rIns="0" bIns="0">
            <a:spAutoFit/>
          </a:bodyPr>
          <a:lstStyle/>
          <a:p>
            <a:r>
              <a:rPr sz="1100" b="1">
                <a:solidFill>
                  <a:srgbClr val="FFFFFF"/>
                </a:solidFill>
                <a:latin typeface="Calibri"/>
              </a:rPr>
              <a:t>Top 3</a:t>
            </a:r>
          </a:p>
        </p:txBody>
      </p:sp>
      <p:pic>
        <p:nvPicPr>
          <p:cNvPr id="196" name="Picture 195" descr="lock.png"/>
          <p:cNvPicPr>
            <a:picLocks noChangeAspect="1"/>
          </p:cNvPicPr>
          <p:nvPr/>
        </p:nvPicPr>
        <p:blipFill>
          <a:blip r:embed="rId4"/>
          <a:stretch>
            <a:fillRect/>
          </a:stretch>
        </p:blipFill>
        <p:spPr>
          <a:xfrm>
            <a:off x="622441" y="1297051"/>
            <a:ext cx="128699" cy="187198"/>
          </a:xfrm>
          <a:prstGeom prst="rect">
            <a:avLst/>
          </a:prstGeom>
        </p:spPr>
      </p:pic>
      <p:sp>
        <p:nvSpPr>
          <p:cNvPr id="197" name="TextBox 196"/>
          <p:cNvSpPr txBox="1"/>
          <p:nvPr/>
        </p:nvSpPr>
        <p:spPr>
          <a:xfrm>
            <a:off x="4786109" y="1306830"/>
            <a:ext cx="813172" cy="186689"/>
          </a:xfrm>
          <a:prstGeom prst="rect">
            <a:avLst/>
          </a:prstGeom>
          <a:noFill/>
        </p:spPr>
        <p:txBody>
          <a:bodyPr wrap="none" lIns="0" tIns="0" rIns="0" bIns="0">
            <a:spAutoFit/>
          </a:bodyPr>
          <a:lstStyle/>
          <a:p>
            <a:r>
              <a:rPr sz="1100" b="1">
                <a:solidFill>
                  <a:srgbClr val="FFFFFF"/>
                </a:solidFill>
                <a:latin typeface="Calibri"/>
              </a:rPr>
              <a:t>Rest of top 5</a:t>
            </a:r>
          </a:p>
        </p:txBody>
      </p:sp>
      <p:pic>
        <p:nvPicPr>
          <p:cNvPr id="198" name="Picture 197" descr="lock.png"/>
          <p:cNvPicPr>
            <a:picLocks noChangeAspect="1"/>
          </p:cNvPicPr>
          <p:nvPr/>
        </p:nvPicPr>
        <p:blipFill>
          <a:blip r:embed="rId4"/>
          <a:stretch>
            <a:fillRect/>
          </a:stretch>
        </p:blipFill>
        <p:spPr>
          <a:xfrm>
            <a:off x="5547332" y="1297051"/>
            <a:ext cx="128699" cy="187198"/>
          </a:xfrm>
          <a:prstGeom prst="rect">
            <a:avLst/>
          </a:prstGeom>
        </p:spPr>
      </p:pic>
      <p:sp>
        <p:nvSpPr>
          <p:cNvPr id="199" name="TextBox 198"/>
          <p:cNvSpPr txBox="1"/>
          <p:nvPr/>
        </p:nvSpPr>
        <p:spPr>
          <a:xfrm>
            <a:off x="6322271" y="1306830"/>
            <a:ext cx="620266" cy="186689"/>
          </a:xfrm>
          <a:prstGeom prst="rect">
            <a:avLst/>
          </a:prstGeom>
          <a:noFill/>
        </p:spPr>
        <p:txBody>
          <a:bodyPr wrap="none" lIns="0" tIns="0" rIns="0" bIns="0">
            <a:spAutoFit/>
          </a:bodyPr>
          <a:lstStyle/>
          <a:p>
            <a:r>
              <a:rPr sz="1100" b="1">
                <a:solidFill>
                  <a:srgbClr val="FFFFFF"/>
                </a:solidFill>
                <a:latin typeface="Calibri"/>
              </a:rPr>
              <a:t>Emerging</a:t>
            </a:r>
          </a:p>
        </p:txBody>
      </p:sp>
      <p:pic>
        <p:nvPicPr>
          <p:cNvPr id="200" name="Picture 199" descr="lock.png"/>
          <p:cNvPicPr>
            <a:picLocks noChangeAspect="1"/>
          </p:cNvPicPr>
          <p:nvPr/>
        </p:nvPicPr>
        <p:blipFill>
          <a:blip r:embed="rId4"/>
          <a:stretch>
            <a:fillRect/>
          </a:stretch>
        </p:blipFill>
        <p:spPr>
          <a:xfrm>
            <a:off x="6890588" y="1297051"/>
            <a:ext cx="128699" cy="187198"/>
          </a:xfrm>
          <a:prstGeom prst="rect">
            <a:avLst/>
          </a:prstGeom>
        </p:spPr>
      </p:pic>
      <p:sp>
        <p:nvSpPr>
          <p:cNvPr id="201" name="TextBox 200"/>
          <p:cNvSpPr txBox="1"/>
          <p:nvPr/>
        </p:nvSpPr>
        <p:spPr>
          <a:xfrm>
            <a:off x="8564687" y="1306830"/>
            <a:ext cx="469924" cy="186689"/>
          </a:xfrm>
          <a:prstGeom prst="rect">
            <a:avLst/>
          </a:prstGeom>
          <a:noFill/>
        </p:spPr>
        <p:txBody>
          <a:bodyPr wrap="none" lIns="0" tIns="0" rIns="0" bIns="0">
            <a:spAutoFit/>
          </a:bodyPr>
          <a:lstStyle/>
          <a:p>
            <a:r>
              <a:rPr sz="1100" b="1">
                <a:solidFill>
                  <a:srgbClr val="0F2D52"/>
                </a:solidFill>
                <a:latin typeface="Calibri"/>
              </a:rPr>
              <a:t>Others</a:t>
            </a:r>
          </a:p>
        </p:txBody>
      </p:sp>
      <p:pic>
        <p:nvPicPr>
          <p:cNvPr id="202" name="Picture 201"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266950" cy="171450"/>
          </a:xfrm>
          <a:prstGeom prst="rect">
            <a:avLst/>
          </a:prstGeom>
          <a:noFill/>
        </p:spPr>
        <p:txBody>
          <a:bodyPr wrap="square" lIns="28575" tIns="9525" rIns="2857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266950" cy="228600"/>
          </a:xfrm>
          <a:prstGeom prst="rect">
            <a:avLst/>
          </a:prstGeom>
          <a:noFill/>
        </p:spPr>
        <p:txBody>
          <a:bodyPr wrap="square" lIns="28575" tIns="9525" rIns="28575" bIns="9525" anchor="t">
            <a:spAutoFit/>
          </a:bodyPr>
          <a:lstStyle/>
          <a:p>
            <a:pPr algn="l"/>
            <a:r>
              <a:rPr sz="1100" b="1">
                <a:solidFill>
                  <a:srgbClr val="E87722"/>
                </a:solidFill>
                <a:latin typeface="Calibri"/>
              </a:rPr>
              <a:t> </a:t>
            </a:r>
          </a:p>
        </p:txBody>
      </p:sp>
      <p:cxnSp>
        <p:nvCxnSpPr>
          <p:cNvPr id="12" name="Connector 11"/>
          <p:cNvCxnSpPr/>
          <p:nvPr/>
        </p:nvCxnSpPr>
        <p:spPr>
          <a:xfrm>
            <a:off x="25527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609850" y="1047750"/>
            <a:ext cx="2266950" cy="171450"/>
          </a:xfrm>
          <a:prstGeom prst="rect">
            <a:avLst/>
          </a:prstGeom>
          <a:noFill/>
        </p:spPr>
        <p:txBody>
          <a:bodyPr wrap="square" lIns="28575" tIns="9525" rIns="28575" bIns="9525" anchor="t">
            <a:spAutoFit/>
          </a:bodyPr>
          <a:lstStyle/>
          <a:p>
            <a:pPr algn="l"/>
            <a:r>
              <a:rPr sz="1100" b="0">
                <a:solidFill>
                  <a:srgbClr val="5F6B7A"/>
                </a:solidFill>
                <a:latin typeface="Calibri"/>
              </a:rPr>
              <a:t>Top 5 share</a:t>
            </a:r>
          </a:p>
        </p:txBody>
      </p:sp>
      <p:sp>
        <p:nvSpPr>
          <p:cNvPr id="14" name="TextBox 13"/>
          <p:cNvSpPr txBox="1"/>
          <p:nvPr/>
        </p:nvSpPr>
        <p:spPr>
          <a:xfrm>
            <a:off x="2609850" y="1238250"/>
            <a:ext cx="2266950" cy="228600"/>
          </a:xfrm>
          <a:prstGeom prst="rect">
            <a:avLst/>
          </a:prstGeom>
          <a:noFill/>
        </p:spPr>
        <p:txBody>
          <a:bodyPr wrap="square" lIns="28575" tIns="9525" rIns="28575" bIns="9525" anchor="t">
            <a:spAutoFit/>
          </a:bodyPr>
          <a:lstStyle/>
          <a:p>
            <a:pPr algn="l"/>
            <a:r>
              <a:rPr sz="1100" b="1">
                <a:solidFill>
                  <a:srgbClr val="0F2D52"/>
                </a:solidFill>
                <a:latin typeface="Calibri"/>
              </a:rPr>
              <a:t> </a:t>
            </a:r>
          </a:p>
        </p:txBody>
      </p:sp>
      <p:cxnSp>
        <p:nvCxnSpPr>
          <p:cNvPr id="15" name="Connector 14"/>
          <p:cNvCxnSpPr/>
          <p:nvPr/>
        </p:nvCxnSpPr>
        <p:spPr>
          <a:xfrm>
            <a:off x="49149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4972050" y="1047750"/>
            <a:ext cx="2266950" cy="171450"/>
          </a:xfrm>
          <a:prstGeom prst="rect">
            <a:avLst/>
          </a:prstGeom>
          <a:noFill/>
        </p:spPr>
        <p:txBody>
          <a:bodyPr wrap="square" lIns="28575" tIns="9525" rIns="28575" bIns="9525" anchor="t">
            <a:spAutoFit/>
          </a:bodyPr>
          <a:lstStyle/>
          <a:p>
            <a:pPr algn="l"/>
            <a:r>
              <a:rPr sz="1100" b="0">
                <a:solidFill>
                  <a:srgbClr val="5F6B7A"/>
                </a:solidFill>
                <a:latin typeface="Calibri"/>
              </a:rPr>
              <a:t>Flat Dividers &amp; Layer Pads, share</a:t>
            </a:r>
          </a:p>
        </p:txBody>
      </p:sp>
      <p:sp>
        <p:nvSpPr>
          <p:cNvPr id="17" name="TextBox 16"/>
          <p:cNvSpPr txBox="1"/>
          <p:nvPr/>
        </p:nvSpPr>
        <p:spPr>
          <a:xfrm>
            <a:off x="4972050" y="1238250"/>
            <a:ext cx="2266950" cy="228600"/>
          </a:xfrm>
          <a:prstGeom prst="rect">
            <a:avLst/>
          </a:prstGeom>
          <a:noFill/>
        </p:spPr>
        <p:txBody>
          <a:bodyPr wrap="square" lIns="28575" tIns="9525" rIns="28575" bIns="9525" anchor="t">
            <a:spAutoFit/>
          </a:bodyPr>
          <a:lstStyle/>
          <a:p>
            <a:pPr algn="l"/>
            <a:r>
              <a:rPr sz="1100" b="1">
                <a:solidFill>
                  <a:srgbClr val="0F2D52"/>
                </a:solidFill>
                <a:latin typeface="Calibri"/>
              </a:rPr>
              <a:t> </a:t>
            </a:r>
          </a:p>
        </p:txBody>
      </p:sp>
      <p:cxnSp>
        <p:nvCxnSpPr>
          <p:cNvPr id="18" name="Connector 17"/>
          <p:cNvCxnSpPr/>
          <p:nvPr/>
        </p:nvCxnSpPr>
        <p:spPr>
          <a:xfrm>
            <a:off x="72771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7334250" y="1047750"/>
            <a:ext cx="2266950" cy="171450"/>
          </a:xfrm>
          <a:prstGeom prst="rect">
            <a:avLst/>
          </a:prstGeom>
          <a:noFill/>
        </p:spPr>
        <p:txBody>
          <a:bodyPr wrap="square" lIns="28575" tIns="9525" rIns="28575" bIns="9525" anchor="t">
            <a:spAutoFit/>
          </a:bodyPr>
          <a:lstStyle/>
          <a:p>
            <a:pPr algn="l"/>
            <a:r>
              <a:rPr sz="1100" b="0">
                <a:solidFill>
                  <a:srgbClr val="5F6B7A"/>
                </a:solidFill>
                <a:latin typeface="Calibri"/>
              </a:rPr>
              <a:t>Die-Cut &amp; Folded Partitions, share</a:t>
            </a:r>
          </a:p>
        </p:txBody>
      </p:sp>
      <p:sp>
        <p:nvSpPr>
          <p:cNvPr id="20" name="TextBox 19"/>
          <p:cNvSpPr txBox="1"/>
          <p:nvPr/>
        </p:nvSpPr>
        <p:spPr>
          <a:xfrm>
            <a:off x="7334250" y="1238250"/>
            <a:ext cx="2266950" cy="228600"/>
          </a:xfrm>
          <a:prstGeom prst="rect">
            <a:avLst/>
          </a:prstGeom>
          <a:noFill/>
        </p:spPr>
        <p:txBody>
          <a:bodyPr wrap="square" lIns="28575" tIns="9525" rIns="28575" bIns="9525" anchor="t">
            <a:spAutoFit/>
          </a:bodyPr>
          <a:lstStyle/>
          <a:p>
            <a:pPr algn="l"/>
            <a:r>
              <a:rPr sz="1100" b="1">
                <a:solidFill>
                  <a:srgbClr val="0F2D52"/>
                </a:solidFill>
                <a:latin typeface="Calibri"/>
              </a:rPr>
              <a:t> </a:t>
            </a:r>
          </a:p>
        </p:txBody>
      </p:sp>
      <p:cxnSp>
        <p:nvCxnSpPr>
          <p:cNvPr id="21" name="Connector 20"/>
          <p:cNvCxnSpPr/>
          <p:nvPr/>
        </p:nvCxnSpPr>
        <p:spPr>
          <a:xfrm>
            <a:off x="96393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9696450" y="1047750"/>
            <a:ext cx="2266950" cy="171450"/>
          </a:xfrm>
          <a:prstGeom prst="rect">
            <a:avLst/>
          </a:prstGeom>
          <a:noFill/>
        </p:spPr>
        <p:txBody>
          <a:bodyPr wrap="square" lIns="28575" tIns="9525" rIns="28575" bIns="9525" anchor="t">
            <a:spAutoFit/>
          </a:bodyPr>
          <a:lstStyle/>
          <a:p>
            <a:pPr algn="l"/>
            <a:r>
              <a:rPr sz="1100" b="0">
                <a:solidFill>
                  <a:srgbClr val="5F6B7A"/>
                </a:solidFill>
                <a:latin typeface="Calibri"/>
              </a:rPr>
              <a:t>Slotted Partitions, share</a:t>
            </a:r>
          </a:p>
        </p:txBody>
      </p:sp>
      <p:sp>
        <p:nvSpPr>
          <p:cNvPr id="23" name="TextBox 22"/>
          <p:cNvSpPr txBox="1"/>
          <p:nvPr/>
        </p:nvSpPr>
        <p:spPr>
          <a:xfrm>
            <a:off x="9696450" y="1238250"/>
            <a:ext cx="2266950" cy="228600"/>
          </a:xfrm>
          <a:prstGeom prst="rect">
            <a:avLst/>
          </a:prstGeom>
          <a:noFill/>
        </p:spPr>
        <p:txBody>
          <a:bodyPr wrap="square" lIns="28575" tIns="9525" rIns="28575" bIns="9525" anchor="t">
            <a:spAutoFit/>
          </a:bodyPr>
          <a:lstStyle/>
          <a:p>
            <a:pPr algn="l"/>
            <a:r>
              <a:rPr sz="1100" b="1">
                <a:solidFill>
                  <a:srgbClr val="0F2D52"/>
                </a:solidFill>
                <a:latin typeface="Calibri"/>
              </a:rPr>
              <a:t> </a:t>
            </a:r>
          </a:p>
        </p:txBody>
      </p:sp>
      <p:cxnSp>
        <p:nvCxnSpPr>
          <p:cNvPr id="24" name="Connector 23"/>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Rectangle 25"/>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285750" y="1733550"/>
            <a:ext cx="2576512" cy="171450"/>
          </a:xfrm>
          <a:prstGeom prst="rect">
            <a:avLst/>
          </a:prstGeom>
          <a:noFill/>
        </p:spPr>
        <p:txBody>
          <a:bodyPr wrap="square" lIns="28575" tIns="9525" rIns="28575" bIns="9525" anchor="t">
            <a:spAutoFit/>
          </a:bodyPr>
          <a:lstStyle/>
          <a:p>
            <a:pPr algn="l"/>
            <a:r>
              <a:rPr sz="1100" b="1">
                <a:solidFill>
                  <a:srgbClr val="0F2D52"/>
                </a:solidFill>
                <a:latin typeface="Calibri"/>
              </a:rPr>
              <a:t>1. Flat Dividers &amp; Layer Pads</a:t>
            </a:r>
          </a:p>
        </p:txBody>
      </p:sp>
      <p:sp>
        <p:nvSpPr>
          <p:cNvPr id="28" name="TextBox 27"/>
          <p:cNvSpPr txBox="1"/>
          <p:nvPr/>
        </p:nvSpPr>
        <p:spPr>
          <a:xfrm>
            <a:off x="285750" y="1924050"/>
            <a:ext cx="666750" cy="190500"/>
          </a:xfrm>
          <a:prstGeom prst="rect">
            <a:avLst/>
          </a:prstGeom>
          <a:noFill/>
        </p:spPr>
        <p:txBody>
          <a:bodyPr wrap="none" lIns="0" tIns="0" rIns="0" bIns="0" anchor="t">
            <a:spAutoFit/>
          </a:bodyPr>
          <a:lstStyle/>
          <a:p>
            <a:pPr algn="l"/>
            <a:r>
              <a:rPr sz="1100" b="1">
                <a:solidFill>
                  <a:srgbClr val="1F2933"/>
                </a:solidFill>
                <a:latin typeface="Calibri"/>
              </a:rPr>
              <a:t> </a:t>
            </a:r>
          </a:p>
        </p:txBody>
      </p:sp>
      <p:sp>
        <p:nvSpPr>
          <p:cNvPr id="29" name="TextBox 28"/>
          <p:cNvSpPr txBox="1"/>
          <p:nvPr/>
        </p:nvSpPr>
        <p:spPr>
          <a:xfrm>
            <a:off x="971550" y="1924050"/>
            <a:ext cx="1890712" cy="190500"/>
          </a:xfrm>
          <a:prstGeom prst="rect">
            <a:avLst/>
          </a:prstGeom>
          <a:noFill/>
        </p:spPr>
        <p:txBody>
          <a:bodyPr wrap="square" lIns="28575" tIns="9525" rIns="28575" bIns="9525" anchor="t">
            <a:spAutoFit/>
          </a:bodyPr>
          <a:lstStyle/>
          <a:p>
            <a:pPr algn="l"/>
            <a:r>
              <a:rPr sz="1100" b="1">
                <a:solidFill>
                  <a:srgbClr val="1F2933"/>
                </a:solidFill>
                <a:latin typeface="Calibri"/>
              </a:rPr>
              <a:t>of market</a:t>
            </a:r>
          </a:p>
        </p:txBody>
      </p:sp>
      <p:sp>
        <p:nvSpPr>
          <p:cNvPr id="30" name="TextBox 29"/>
          <p:cNvSpPr txBox="1"/>
          <p:nvPr/>
        </p:nvSpPr>
        <p:spPr>
          <a:xfrm>
            <a:off x="285750" y="2133600"/>
            <a:ext cx="666750" cy="190500"/>
          </a:xfrm>
          <a:prstGeom prst="rect">
            <a:avLst/>
          </a:prstGeom>
          <a:noFill/>
        </p:spPr>
        <p:txBody>
          <a:bodyPr wrap="none" lIns="0" tIns="0" rIns="0" bIns="0" anchor="t">
            <a:spAutoFit/>
          </a:bodyPr>
          <a:lstStyle/>
          <a:p>
            <a:pPr algn="l"/>
            <a:r>
              <a:rPr sz="1100" b="0">
                <a:solidFill>
                  <a:srgbClr val="5F6B7A"/>
                </a:solidFill>
                <a:latin typeface="Calibri"/>
              </a:rPr>
              <a:t> </a:t>
            </a:r>
          </a:p>
        </p:txBody>
      </p:sp>
      <p:sp>
        <p:nvSpPr>
          <p:cNvPr id="31" name="TextBox 30"/>
          <p:cNvSpPr txBox="1"/>
          <p:nvPr/>
        </p:nvSpPr>
        <p:spPr>
          <a:xfrm>
            <a:off x="971550" y="2133600"/>
            <a:ext cx="1890712" cy="190500"/>
          </a:xfrm>
          <a:prstGeom prst="rect">
            <a:avLst/>
          </a:prstGeom>
          <a:noFill/>
        </p:spPr>
        <p:txBody>
          <a:bodyPr wrap="square" lIns="28575" tIns="9525" rIns="28575" bIns="9525" anchor="t">
            <a:spAutoFit/>
          </a:bodyPr>
          <a:lstStyle/>
          <a:p>
            <a:pPr algn="l"/>
            <a:r>
              <a:rPr sz="1100" b="0">
                <a:solidFill>
                  <a:srgbClr val="5F6B7A"/>
                </a:solidFill>
                <a:latin typeface="Calibri"/>
              </a:rPr>
              <a:t>CAGR 2026–2036</a:t>
            </a:r>
          </a:p>
        </p:txBody>
      </p:sp>
      <p:cxnSp>
        <p:nvCxnSpPr>
          <p:cNvPr id="32" name="Connector 31"/>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85750" y="241935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LEADS</a:t>
            </a:r>
          </a:p>
        </p:txBody>
      </p:sp>
      <p:sp>
        <p:nvSpPr>
          <p:cNvPr id="34" name="TextBox 33"/>
          <p:cNvSpPr txBox="1"/>
          <p:nvPr/>
        </p:nvSpPr>
        <p:spPr>
          <a:xfrm>
            <a:off x="285750" y="2590800"/>
            <a:ext cx="2576512" cy="171450"/>
          </a:xfrm>
          <a:prstGeom prst="rect">
            <a:avLst/>
          </a:prstGeom>
          <a:noFill/>
        </p:spPr>
        <p:txBody>
          <a:bodyPr wrap="square" lIns="28575" tIns="9525" rIns="28575" bIns="9525" anchor="t">
            <a:spAutoFit/>
          </a:bodyPr>
          <a:lstStyle/>
          <a:p>
            <a:pPr algn="l"/>
            <a:r>
              <a:rPr sz="1100" b="1">
                <a:solidFill>
                  <a:srgbClr val="1F2933"/>
                </a:solidFill>
                <a:latin typeface="Calibri"/>
              </a:rPr>
              <a:t>●  Great American Paper Inc.</a:t>
            </a:r>
          </a:p>
        </p:txBody>
      </p:sp>
      <p:sp>
        <p:nvSpPr>
          <p:cNvPr id="35" name="TextBox 34"/>
          <p:cNvSpPr txBox="1"/>
          <p:nvPr/>
        </p:nvSpPr>
        <p:spPr>
          <a:xfrm>
            <a:off x="285750" y="281940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ALSO ACTIVE</a:t>
            </a:r>
          </a:p>
        </p:txBody>
      </p:sp>
      <p:sp>
        <p:nvSpPr>
          <p:cNvPr id="36" name="TextBox 35"/>
          <p:cNvSpPr txBox="1"/>
          <p:nvPr/>
        </p:nvSpPr>
        <p:spPr>
          <a:xfrm>
            <a:off x="285750" y="299085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Multicell Packaging Inc.</a:t>
            </a:r>
          </a:p>
        </p:txBody>
      </p:sp>
      <p:sp>
        <p:nvSpPr>
          <p:cNvPr id="37" name="TextBox 36"/>
          <p:cNvSpPr txBox="1"/>
          <p:nvPr/>
        </p:nvSpPr>
        <p:spPr>
          <a:xfrm>
            <a:off x="285750" y="316230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Company</a:t>
            </a:r>
          </a:p>
        </p:txBody>
      </p:sp>
      <p:sp>
        <p:nvSpPr>
          <p:cNvPr id="38" name="TextBox 37"/>
          <p:cNvSpPr txBox="1"/>
          <p:nvPr/>
        </p:nvSpPr>
        <p:spPr>
          <a:xfrm>
            <a:off x="285750" y="333375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Caps Cases Ltd.</a:t>
            </a:r>
          </a:p>
        </p:txBody>
      </p:sp>
      <p:sp>
        <p:nvSpPr>
          <p:cNvPr id="39" name="TextBox 38"/>
          <p:cNvSpPr txBox="1"/>
          <p:nvPr/>
        </p:nvSpPr>
        <p:spPr>
          <a:xfrm>
            <a:off x="285750" y="350520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M &amp; M Box &amp; Partitions Co.</a:t>
            </a:r>
          </a:p>
        </p:txBody>
      </p:sp>
      <p:cxnSp>
        <p:nvCxnSpPr>
          <p:cNvPr id="40" name="Connector 39"/>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285750" y="449580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WHAT TO WATCH</a:t>
            </a:r>
          </a:p>
        </p:txBody>
      </p:sp>
      <p:sp>
        <p:nvSpPr>
          <p:cNvPr id="42" name="TextBox 41"/>
          <p:cNvSpPr txBox="1"/>
          <p:nvPr/>
        </p:nvSpPr>
        <p:spPr>
          <a:xfrm>
            <a:off x="285750" y="4667250"/>
            <a:ext cx="2576512" cy="666750"/>
          </a:xfrm>
          <a:prstGeom prst="rect">
            <a:avLst/>
          </a:prstGeom>
          <a:noFill/>
        </p:spPr>
        <p:txBody>
          <a:bodyPr wrap="square" lIns="28575" tIns="9525" rIns="28575" bIns="9525" anchor="t">
            <a:spAutoFit/>
          </a:bodyPr>
          <a:lstStyle/>
          <a:p>
            <a:pPr algn="l">
              <a:lnSpc>
                <a:spcPct val="115000"/>
              </a:lnSpc>
            </a:pPr>
            <a:endParaRPr/>
          </a:p>
        </p:txBody>
      </p:sp>
      <p:cxnSp>
        <p:nvCxnSpPr>
          <p:cNvPr id="43" name="Connector 42"/>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Rectangle 44"/>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3300412" y="1733550"/>
            <a:ext cx="2576512" cy="171450"/>
          </a:xfrm>
          <a:prstGeom prst="rect">
            <a:avLst/>
          </a:prstGeom>
          <a:noFill/>
        </p:spPr>
        <p:txBody>
          <a:bodyPr wrap="square" lIns="28575" tIns="9525" rIns="28575" bIns="9525" anchor="t">
            <a:spAutoFit/>
          </a:bodyPr>
          <a:lstStyle/>
          <a:p>
            <a:pPr algn="l"/>
            <a:r>
              <a:rPr sz="1100" b="1">
                <a:solidFill>
                  <a:srgbClr val="0F2D52"/>
                </a:solidFill>
                <a:latin typeface="Calibri"/>
              </a:rPr>
              <a:t>2. Die-Cut &amp; Folded Partitions</a:t>
            </a:r>
          </a:p>
        </p:txBody>
      </p:sp>
      <p:sp>
        <p:nvSpPr>
          <p:cNvPr id="48" name="TextBox 47"/>
          <p:cNvSpPr txBox="1"/>
          <p:nvPr/>
        </p:nvSpPr>
        <p:spPr>
          <a:xfrm>
            <a:off x="3300412" y="1924050"/>
            <a:ext cx="666750" cy="190500"/>
          </a:xfrm>
          <a:prstGeom prst="rect">
            <a:avLst/>
          </a:prstGeom>
          <a:noFill/>
        </p:spPr>
        <p:txBody>
          <a:bodyPr wrap="none" lIns="0" tIns="0" rIns="0" bIns="0" anchor="t">
            <a:spAutoFit/>
          </a:bodyPr>
          <a:lstStyle/>
          <a:p>
            <a:pPr algn="l"/>
            <a:r>
              <a:rPr sz="1100" b="1">
                <a:solidFill>
                  <a:srgbClr val="1F2933"/>
                </a:solidFill>
                <a:latin typeface="Calibri"/>
              </a:rPr>
              <a:t> </a:t>
            </a:r>
          </a:p>
        </p:txBody>
      </p:sp>
      <p:sp>
        <p:nvSpPr>
          <p:cNvPr id="49" name="TextBox 48"/>
          <p:cNvSpPr txBox="1"/>
          <p:nvPr/>
        </p:nvSpPr>
        <p:spPr>
          <a:xfrm>
            <a:off x="3986212" y="1924050"/>
            <a:ext cx="1890712" cy="190500"/>
          </a:xfrm>
          <a:prstGeom prst="rect">
            <a:avLst/>
          </a:prstGeom>
          <a:noFill/>
        </p:spPr>
        <p:txBody>
          <a:bodyPr wrap="square" lIns="28575" tIns="9525" rIns="28575" bIns="9525" anchor="t">
            <a:spAutoFit/>
          </a:bodyPr>
          <a:lstStyle/>
          <a:p>
            <a:pPr algn="l"/>
            <a:r>
              <a:rPr sz="1100" b="1">
                <a:solidFill>
                  <a:srgbClr val="1F2933"/>
                </a:solidFill>
                <a:latin typeface="Calibri"/>
              </a:rPr>
              <a:t>of market</a:t>
            </a:r>
          </a:p>
        </p:txBody>
      </p:sp>
      <p:sp>
        <p:nvSpPr>
          <p:cNvPr id="50" name="TextBox 49"/>
          <p:cNvSpPr txBox="1"/>
          <p:nvPr/>
        </p:nvSpPr>
        <p:spPr>
          <a:xfrm>
            <a:off x="3300412" y="2133600"/>
            <a:ext cx="666750" cy="190500"/>
          </a:xfrm>
          <a:prstGeom prst="rect">
            <a:avLst/>
          </a:prstGeom>
          <a:noFill/>
        </p:spPr>
        <p:txBody>
          <a:bodyPr wrap="none" lIns="0" tIns="0" rIns="0" bIns="0" anchor="t">
            <a:spAutoFit/>
          </a:bodyPr>
          <a:lstStyle/>
          <a:p>
            <a:pPr algn="l"/>
            <a:r>
              <a:rPr sz="1100" b="0">
                <a:solidFill>
                  <a:srgbClr val="5F6B7A"/>
                </a:solidFill>
                <a:latin typeface="Calibri"/>
              </a:rPr>
              <a:t> </a:t>
            </a:r>
          </a:p>
        </p:txBody>
      </p:sp>
      <p:sp>
        <p:nvSpPr>
          <p:cNvPr id="51" name="TextBox 50"/>
          <p:cNvSpPr txBox="1"/>
          <p:nvPr/>
        </p:nvSpPr>
        <p:spPr>
          <a:xfrm>
            <a:off x="3986212" y="2133600"/>
            <a:ext cx="1890712" cy="190500"/>
          </a:xfrm>
          <a:prstGeom prst="rect">
            <a:avLst/>
          </a:prstGeom>
          <a:noFill/>
        </p:spPr>
        <p:txBody>
          <a:bodyPr wrap="square" lIns="28575" tIns="9525" rIns="28575" bIns="9525" anchor="t">
            <a:spAutoFit/>
          </a:bodyPr>
          <a:lstStyle/>
          <a:p>
            <a:pPr algn="l"/>
            <a:r>
              <a:rPr sz="1100" b="0">
                <a:solidFill>
                  <a:srgbClr val="5F6B7A"/>
                </a:solidFill>
                <a:latin typeface="Calibri"/>
              </a:rPr>
              <a:t>CAGR 2026–2036</a:t>
            </a:r>
          </a:p>
        </p:txBody>
      </p:sp>
      <p:cxnSp>
        <p:nvCxnSpPr>
          <p:cNvPr id="52" name="Connector 51"/>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00412" y="241935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LEADS</a:t>
            </a:r>
          </a:p>
        </p:txBody>
      </p:sp>
      <p:sp>
        <p:nvSpPr>
          <p:cNvPr id="54" name="TextBox 53"/>
          <p:cNvSpPr txBox="1"/>
          <p:nvPr/>
        </p:nvSpPr>
        <p:spPr>
          <a:xfrm>
            <a:off x="3300412" y="2590800"/>
            <a:ext cx="2576512" cy="171450"/>
          </a:xfrm>
          <a:prstGeom prst="rect">
            <a:avLst/>
          </a:prstGeom>
          <a:noFill/>
        </p:spPr>
        <p:txBody>
          <a:bodyPr wrap="square" lIns="28575" tIns="9525" rIns="28575" bIns="9525" anchor="t">
            <a:spAutoFit/>
          </a:bodyPr>
          <a:lstStyle/>
          <a:p>
            <a:pPr algn="l"/>
            <a:r>
              <a:rPr sz="1100" b="1">
                <a:solidFill>
                  <a:srgbClr val="1F2933"/>
                </a:solidFill>
                <a:latin typeface="Calibri"/>
              </a:rPr>
              <a:t>●  Multicell Packaging Inc.</a:t>
            </a:r>
          </a:p>
        </p:txBody>
      </p:sp>
      <p:sp>
        <p:nvSpPr>
          <p:cNvPr id="55" name="TextBox 54"/>
          <p:cNvSpPr txBox="1"/>
          <p:nvPr/>
        </p:nvSpPr>
        <p:spPr>
          <a:xfrm>
            <a:off x="3300412" y="281940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ALSO ACTIVE</a:t>
            </a:r>
          </a:p>
        </p:txBody>
      </p:sp>
      <p:sp>
        <p:nvSpPr>
          <p:cNvPr id="56" name="TextBox 55"/>
          <p:cNvSpPr txBox="1"/>
          <p:nvPr/>
        </p:nvSpPr>
        <p:spPr>
          <a:xfrm>
            <a:off x="3300412" y="299085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Company</a:t>
            </a:r>
          </a:p>
        </p:txBody>
      </p:sp>
      <p:sp>
        <p:nvSpPr>
          <p:cNvPr id="57" name="TextBox 56"/>
          <p:cNvSpPr txBox="1"/>
          <p:nvPr/>
        </p:nvSpPr>
        <p:spPr>
          <a:xfrm>
            <a:off x="3300412" y="316230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Interpack Inc.</a:t>
            </a:r>
          </a:p>
        </p:txBody>
      </p:sp>
      <p:sp>
        <p:nvSpPr>
          <p:cNvPr id="58" name="TextBox 57"/>
          <p:cNvSpPr txBox="1"/>
          <p:nvPr/>
        </p:nvSpPr>
        <p:spPr>
          <a:xfrm>
            <a:off x="3300412" y="333375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Caps Cases Ltd.</a:t>
            </a:r>
          </a:p>
        </p:txBody>
      </p:sp>
      <p:sp>
        <p:nvSpPr>
          <p:cNvPr id="59" name="TextBox 58"/>
          <p:cNvSpPr txBox="1"/>
          <p:nvPr/>
        </p:nvSpPr>
        <p:spPr>
          <a:xfrm>
            <a:off x="3300412" y="350520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M &amp; M Box &amp; Partitions Co.</a:t>
            </a:r>
          </a:p>
        </p:txBody>
      </p:sp>
      <p:cxnSp>
        <p:nvCxnSpPr>
          <p:cNvPr id="60" name="Connector 59"/>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300412" y="449580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WHAT TO WATCH</a:t>
            </a:r>
          </a:p>
        </p:txBody>
      </p:sp>
      <p:sp>
        <p:nvSpPr>
          <p:cNvPr id="62" name="TextBox 61"/>
          <p:cNvSpPr txBox="1"/>
          <p:nvPr/>
        </p:nvSpPr>
        <p:spPr>
          <a:xfrm>
            <a:off x="3300412" y="4667250"/>
            <a:ext cx="2576512" cy="666750"/>
          </a:xfrm>
          <a:prstGeom prst="rect">
            <a:avLst/>
          </a:prstGeom>
          <a:noFill/>
        </p:spPr>
        <p:txBody>
          <a:bodyPr wrap="square" lIns="28575" tIns="9525" rIns="28575" bIns="9525" anchor="t">
            <a:spAutoFit/>
          </a:bodyPr>
          <a:lstStyle/>
          <a:p>
            <a:pPr algn="l">
              <a:lnSpc>
                <a:spcPct val="115000"/>
              </a:lnSpc>
            </a:pPr>
            <a:endParaRPr/>
          </a:p>
        </p:txBody>
      </p:sp>
      <p:cxnSp>
        <p:nvCxnSpPr>
          <p:cNvPr id="63" name="Connector 62"/>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4" name="Freeform 63"/>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Rectangle 64"/>
          <p:cNvSpPr/>
          <p:nvPr/>
        </p:nvSpPr>
        <p:spPr>
          <a:xfrm>
            <a:off x="6219825"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Rectangle 65"/>
          <p:cNvSpPr/>
          <p:nvPr/>
        </p:nvSpPr>
        <p:spPr>
          <a:xfrm>
            <a:off x="6219825"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TextBox 66"/>
          <p:cNvSpPr txBox="1"/>
          <p:nvPr/>
        </p:nvSpPr>
        <p:spPr>
          <a:xfrm>
            <a:off x="6315075" y="1733550"/>
            <a:ext cx="2576512" cy="171450"/>
          </a:xfrm>
          <a:prstGeom prst="rect">
            <a:avLst/>
          </a:prstGeom>
          <a:noFill/>
        </p:spPr>
        <p:txBody>
          <a:bodyPr wrap="square" lIns="28575" tIns="9525" rIns="28575" bIns="9525" anchor="t">
            <a:spAutoFit/>
          </a:bodyPr>
          <a:lstStyle/>
          <a:p>
            <a:pPr algn="l"/>
            <a:r>
              <a:rPr sz="1100" b="1">
                <a:solidFill>
                  <a:srgbClr val="0F2D52"/>
                </a:solidFill>
                <a:latin typeface="Calibri"/>
              </a:rPr>
              <a:t>3. Slotted Partitions</a:t>
            </a:r>
          </a:p>
        </p:txBody>
      </p:sp>
      <p:sp>
        <p:nvSpPr>
          <p:cNvPr id="68" name="TextBox 67"/>
          <p:cNvSpPr txBox="1"/>
          <p:nvPr/>
        </p:nvSpPr>
        <p:spPr>
          <a:xfrm>
            <a:off x="6315075" y="1924050"/>
            <a:ext cx="666750" cy="190500"/>
          </a:xfrm>
          <a:prstGeom prst="rect">
            <a:avLst/>
          </a:prstGeom>
          <a:noFill/>
        </p:spPr>
        <p:txBody>
          <a:bodyPr wrap="none" lIns="0" tIns="0" rIns="0" bIns="0" anchor="t">
            <a:spAutoFit/>
          </a:bodyPr>
          <a:lstStyle/>
          <a:p>
            <a:pPr algn="l"/>
            <a:r>
              <a:rPr sz="1100" b="1">
                <a:solidFill>
                  <a:srgbClr val="1F2933"/>
                </a:solidFill>
                <a:latin typeface="Calibri"/>
              </a:rPr>
              <a:t> </a:t>
            </a:r>
          </a:p>
        </p:txBody>
      </p:sp>
      <p:sp>
        <p:nvSpPr>
          <p:cNvPr id="69" name="TextBox 68"/>
          <p:cNvSpPr txBox="1"/>
          <p:nvPr/>
        </p:nvSpPr>
        <p:spPr>
          <a:xfrm>
            <a:off x="7000875" y="1924050"/>
            <a:ext cx="1890712" cy="190500"/>
          </a:xfrm>
          <a:prstGeom prst="rect">
            <a:avLst/>
          </a:prstGeom>
          <a:noFill/>
        </p:spPr>
        <p:txBody>
          <a:bodyPr wrap="square" lIns="28575" tIns="9525" rIns="28575" bIns="9525" anchor="t">
            <a:spAutoFit/>
          </a:bodyPr>
          <a:lstStyle/>
          <a:p>
            <a:pPr algn="l"/>
            <a:r>
              <a:rPr sz="1100" b="1">
                <a:solidFill>
                  <a:srgbClr val="1F2933"/>
                </a:solidFill>
                <a:latin typeface="Calibri"/>
              </a:rPr>
              <a:t>of market</a:t>
            </a:r>
          </a:p>
        </p:txBody>
      </p:sp>
      <p:sp>
        <p:nvSpPr>
          <p:cNvPr id="70" name="TextBox 69"/>
          <p:cNvSpPr txBox="1"/>
          <p:nvPr/>
        </p:nvSpPr>
        <p:spPr>
          <a:xfrm>
            <a:off x="6315075" y="2133600"/>
            <a:ext cx="666750" cy="190500"/>
          </a:xfrm>
          <a:prstGeom prst="rect">
            <a:avLst/>
          </a:prstGeom>
          <a:noFill/>
        </p:spPr>
        <p:txBody>
          <a:bodyPr wrap="none" lIns="0" tIns="0" rIns="0" bIns="0" anchor="t">
            <a:spAutoFit/>
          </a:bodyPr>
          <a:lstStyle/>
          <a:p>
            <a:pPr algn="l"/>
            <a:r>
              <a:rPr sz="1100" b="0">
                <a:solidFill>
                  <a:srgbClr val="5F6B7A"/>
                </a:solidFill>
                <a:latin typeface="Calibri"/>
              </a:rPr>
              <a:t> </a:t>
            </a:r>
          </a:p>
        </p:txBody>
      </p:sp>
      <p:sp>
        <p:nvSpPr>
          <p:cNvPr id="71" name="TextBox 70"/>
          <p:cNvSpPr txBox="1"/>
          <p:nvPr/>
        </p:nvSpPr>
        <p:spPr>
          <a:xfrm>
            <a:off x="7000875" y="2133600"/>
            <a:ext cx="1890712" cy="190500"/>
          </a:xfrm>
          <a:prstGeom prst="rect">
            <a:avLst/>
          </a:prstGeom>
          <a:noFill/>
        </p:spPr>
        <p:txBody>
          <a:bodyPr wrap="square" lIns="28575" tIns="9525" rIns="28575" bIns="9525" anchor="t">
            <a:spAutoFit/>
          </a:bodyPr>
          <a:lstStyle/>
          <a:p>
            <a:pPr algn="l"/>
            <a:r>
              <a:rPr sz="1100" b="0">
                <a:solidFill>
                  <a:srgbClr val="5F6B7A"/>
                </a:solidFill>
                <a:latin typeface="Calibri"/>
              </a:rPr>
              <a:t>CAGR 2026–2036</a:t>
            </a:r>
          </a:p>
        </p:txBody>
      </p:sp>
      <p:cxnSp>
        <p:nvCxnSpPr>
          <p:cNvPr id="72" name="Connector 71"/>
          <p:cNvCxnSpPr/>
          <p:nvPr/>
        </p:nvCxnSpPr>
        <p:spPr>
          <a:xfrm>
            <a:off x="6315075"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315075" y="241935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LEADS</a:t>
            </a:r>
          </a:p>
        </p:txBody>
      </p:sp>
      <p:sp>
        <p:nvSpPr>
          <p:cNvPr id="74" name="TextBox 73"/>
          <p:cNvSpPr txBox="1"/>
          <p:nvPr/>
        </p:nvSpPr>
        <p:spPr>
          <a:xfrm>
            <a:off x="6315075" y="2590800"/>
            <a:ext cx="2576512" cy="171450"/>
          </a:xfrm>
          <a:prstGeom prst="rect">
            <a:avLst/>
          </a:prstGeom>
          <a:noFill/>
        </p:spPr>
        <p:txBody>
          <a:bodyPr wrap="square" lIns="28575" tIns="9525" rIns="28575" bIns="9525" anchor="t">
            <a:spAutoFit/>
          </a:bodyPr>
          <a:lstStyle/>
          <a:p>
            <a:pPr algn="l"/>
            <a:r>
              <a:rPr sz="1100" b="1">
                <a:solidFill>
                  <a:srgbClr val="1F2933"/>
                </a:solidFill>
                <a:latin typeface="Calibri"/>
              </a:rPr>
              <a:t>●  Multicell Packaging Inc.</a:t>
            </a:r>
          </a:p>
        </p:txBody>
      </p:sp>
      <p:sp>
        <p:nvSpPr>
          <p:cNvPr id="75" name="TextBox 74"/>
          <p:cNvSpPr txBox="1"/>
          <p:nvPr/>
        </p:nvSpPr>
        <p:spPr>
          <a:xfrm>
            <a:off x="6315075" y="281940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ALSO ACTIVE</a:t>
            </a:r>
          </a:p>
        </p:txBody>
      </p:sp>
      <p:sp>
        <p:nvSpPr>
          <p:cNvPr id="76" name="TextBox 75"/>
          <p:cNvSpPr txBox="1"/>
          <p:nvPr/>
        </p:nvSpPr>
        <p:spPr>
          <a:xfrm>
            <a:off x="6315075" y="299085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Great American Paper Inc.</a:t>
            </a:r>
          </a:p>
        </p:txBody>
      </p:sp>
      <p:sp>
        <p:nvSpPr>
          <p:cNvPr id="77" name="TextBox 76"/>
          <p:cNvSpPr txBox="1"/>
          <p:nvPr/>
        </p:nvSpPr>
        <p:spPr>
          <a:xfrm>
            <a:off x="6315075" y="316230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Interpack Inc.</a:t>
            </a:r>
          </a:p>
        </p:txBody>
      </p:sp>
      <p:sp>
        <p:nvSpPr>
          <p:cNvPr id="78" name="TextBox 77"/>
          <p:cNvSpPr txBox="1"/>
          <p:nvPr/>
        </p:nvSpPr>
        <p:spPr>
          <a:xfrm>
            <a:off x="6315075" y="333375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Caps Cases Ltd.</a:t>
            </a:r>
          </a:p>
        </p:txBody>
      </p:sp>
      <p:sp>
        <p:nvSpPr>
          <p:cNvPr id="79" name="TextBox 78"/>
          <p:cNvSpPr txBox="1"/>
          <p:nvPr/>
        </p:nvSpPr>
        <p:spPr>
          <a:xfrm>
            <a:off x="6315075" y="3505200"/>
            <a:ext cx="2576512" cy="171450"/>
          </a:xfrm>
          <a:prstGeom prst="rect">
            <a:avLst/>
          </a:prstGeom>
          <a:noFill/>
        </p:spPr>
        <p:txBody>
          <a:bodyPr wrap="square" lIns="28575" tIns="9525" rIns="28575" bIns="9525" anchor="t">
            <a:spAutoFit/>
          </a:bodyPr>
          <a:lstStyle/>
          <a:p>
            <a:pPr algn="l"/>
            <a:r>
              <a:rPr sz="1100" b="0">
                <a:solidFill>
                  <a:srgbClr val="1F2933"/>
                </a:solidFill>
                <a:latin typeface="Calibri"/>
              </a:rPr>
              <a:t>●  Martin Partitions</a:t>
            </a:r>
          </a:p>
        </p:txBody>
      </p:sp>
      <p:cxnSp>
        <p:nvCxnSpPr>
          <p:cNvPr id="80" name="Connector 79"/>
          <p:cNvCxnSpPr/>
          <p:nvPr/>
        </p:nvCxnSpPr>
        <p:spPr>
          <a:xfrm>
            <a:off x="6315075"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315075" y="449580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WHAT TO WATCH</a:t>
            </a:r>
          </a:p>
        </p:txBody>
      </p:sp>
      <p:sp>
        <p:nvSpPr>
          <p:cNvPr id="82" name="TextBox 81"/>
          <p:cNvSpPr txBox="1"/>
          <p:nvPr/>
        </p:nvSpPr>
        <p:spPr>
          <a:xfrm>
            <a:off x="6315075" y="4667250"/>
            <a:ext cx="2576512" cy="666750"/>
          </a:xfrm>
          <a:prstGeom prst="rect">
            <a:avLst/>
          </a:prstGeom>
          <a:noFill/>
        </p:spPr>
        <p:txBody>
          <a:bodyPr wrap="square" lIns="28575" tIns="9525" rIns="28575" bIns="9525" anchor="t">
            <a:spAutoFit/>
          </a:bodyPr>
          <a:lstStyle/>
          <a:p>
            <a:pPr algn="l">
              <a:lnSpc>
                <a:spcPct val="115000"/>
              </a:lnSpc>
            </a:pPr>
            <a:endParaRPr/>
          </a:p>
        </p:txBody>
      </p:sp>
      <p:cxnSp>
        <p:nvCxnSpPr>
          <p:cNvPr id="83" name="Connector 82"/>
          <p:cNvCxnSpPr/>
          <p:nvPr/>
        </p:nvCxnSpPr>
        <p:spPr>
          <a:xfrm>
            <a:off x="9024938"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84" name="Freeform 83"/>
          <p:cNvSpPr/>
          <p:nvPr/>
        </p:nvSpPr>
        <p:spPr>
          <a:xfrm>
            <a:off x="9124950" y="3448050"/>
            <a:ext cx="76200" cy="95250"/>
          </a:xfrm>
          <a:custGeom>
            <a:avLst/>
            <a:gdLst/>
            <a:ahLst/>
            <a:cxnLst/>
            <a:rect l="l" t="t" r="r" b="b"/>
            <a:pathLst>
              <a:path w="8" h="10">
                <a:moveTo>
                  <a:pt x="8"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Rectangle 84"/>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Rectangle 85"/>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9329738" y="1733550"/>
            <a:ext cx="2576512" cy="171450"/>
          </a:xfrm>
          <a:prstGeom prst="rect">
            <a:avLst/>
          </a:prstGeom>
          <a:noFill/>
        </p:spPr>
        <p:txBody>
          <a:bodyPr wrap="square" lIns="28575" tIns="9525" rIns="28575" bIns="9525" anchor="t">
            <a:spAutoFit/>
          </a:bodyPr>
          <a:lstStyle/>
          <a:p>
            <a:pPr algn="l"/>
            <a:r>
              <a:rPr sz="1100" b="1">
                <a:solidFill>
                  <a:srgbClr val="0F2D52"/>
                </a:solidFill>
                <a:latin typeface="Calibri"/>
              </a:rPr>
              <a:t> </a:t>
            </a:r>
          </a:p>
        </p:txBody>
      </p:sp>
      <p:sp>
        <p:nvSpPr>
          <p:cNvPr id="88" name="TextBox 87"/>
          <p:cNvSpPr txBox="1"/>
          <p:nvPr/>
        </p:nvSpPr>
        <p:spPr>
          <a:xfrm>
            <a:off x="9329738" y="1924050"/>
            <a:ext cx="2576512" cy="190500"/>
          </a:xfrm>
          <a:prstGeom prst="rect">
            <a:avLst/>
          </a:prstGeom>
          <a:noFill/>
        </p:spPr>
        <p:txBody>
          <a:bodyPr wrap="square" lIns="28575" tIns="9525" rIns="28575" bIns="9525" anchor="t">
            <a:spAutoFit/>
          </a:bodyPr>
          <a:lstStyle/>
          <a:p>
            <a:pPr algn="l"/>
            <a:r>
              <a:rPr sz="1100" b="1">
                <a:solidFill>
                  <a:srgbClr val="1F2933"/>
                </a:solidFill>
                <a:latin typeface="Calibri"/>
              </a:rPr>
              <a:t>By application</a:t>
            </a:r>
          </a:p>
        </p:txBody>
      </p:sp>
      <p:sp>
        <p:nvSpPr>
          <p:cNvPr id="89" name="TextBox 88"/>
          <p:cNvSpPr txBox="1"/>
          <p:nvPr/>
        </p:nvSpPr>
        <p:spPr>
          <a:xfrm>
            <a:off x="9329738" y="2133600"/>
            <a:ext cx="2576512" cy="190500"/>
          </a:xfrm>
          <a:prstGeom prst="rect">
            <a:avLst/>
          </a:prstGeom>
          <a:noFill/>
        </p:spPr>
        <p:txBody>
          <a:bodyPr wrap="square" lIns="28575" tIns="9525" rIns="28575" bIns="9525" anchor="t">
            <a:spAutoFit/>
          </a:bodyPr>
          <a:lstStyle/>
          <a:p>
            <a:pPr algn="l"/>
            <a:r>
              <a:rPr sz="1100" b="0">
                <a:solidFill>
                  <a:srgbClr val="5F6B7A"/>
                </a:solidFill>
                <a:latin typeface="Calibri"/>
              </a:rPr>
              <a:t>Who buys the output.</a:t>
            </a:r>
          </a:p>
        </p:txBody>
      </p:sp>
      <p:cxnSp>
        <p:nvCxnSpPr>
          <p:cNvPr id="90" name="Connector 89"/>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9329738" y="2419350"/>
            <a:ext cx="1333500" cy="32385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Others</a:t>
            </a:r>
          </a:p>
        </p:txBody>
      </p:sp>
      <p:sp>
        <p:nvSpPr>
          <p:cNvPr id="92" name="Rectangle 91"/>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TextBox 92"/>
          <p:cNvSpPr txBox="1"/>
          <p:nvPr/>
        </p:nvSpPr>
        <p:spPr>
          <a:xfrm>
            <a:off x="11487150" y="2486025"/>
            <a:ext cx="476250" cy="190500"/>
          </a:xfrm>
          <a:prstGeom prst="rect">
            <a:avLst/>
          </a:prstGeom>
          <a:noFill/>
        </p:spPr>
        <p:txBody>
          <a:bodyPr wrap="none" lIns="0" tIns="0" rIns="0" bIns="0" anchor="ctr">
            <a:spAutoFit/>
          </a:bodyPr>
          <a:lstStyle/>
          <a:p>
            <a:pPr algn="l"/>
            <a:r>
              <a:rPr sz="1100" b="1">
                <a:solidFill>
                  <a:srgbClr val="1F2933"/>
                </a:solidFill>
                <a:latin typeface="Calibri"/>
              </a:rPr>
              <a:t> </a:t>
            </a:r>
          </a:p>
        </p:txBody>
      </p:sp>
      <p:sp>
        <p:nvSpPr>
          <p:cNvPr id="94" name="TextBox 93"/>
          <p:cNvSpPr txBox="1"/>
          <p:nvPr/>
        </p:nvSpPr>
        <p:spPr>
          <a:xfrm>
            <a:off x="9329738" y="2743200"/>
            <a:ext cx="1333500" cy="32385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Glassware, Ceramics &amp; Home Goods</a:t>
            </a:r>
          </a:p>
        </p:txBody>
      </p:sp>
      <p:sp>
        <p:nvSpPr>
          <p:cNvPr id="95" name="Rectangle 94"/>
          <p:cNvSpPr/>
          <p:nvPr/>
        </p:nvSpPr>
        <p:spPr>
          <a:xfrm>
            <a:off x="10682288" y="2847975"/>
            <a:ext cx="747501"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TextBox 95"/>
          <p:cNvSpPr txBox="1"/>
          <p:nvPr/>
        </p:nvSpPr>
        <p:spPr>
          <a:xfrm>
            <a:off x="11467889" y="2809875"/>
            <a:ext cx="476250" cy="190500"/>
          </a:xfrm>
          <a:prstGeom prst="rect">
            <a:avLst/>
          </a:prstGeom>
          <a:noFill/>
        </p:spPr>
        <p:txBody>
          <a:bodyPr wrap="none" lIns="0" tIns="0" rIns="0" bIns="0" anchor="ctr">
            <a:spAutoFit/>
          </a:bodyPr>
          <a:lstStyle/>
          <a:p>
            <a:pPr algn="l"/>
            <a:r>
              <a:rPr sz="1100" b="1">
                <a:solidFill>
                  <a:srgbClr val="1F2933"/>
                </a:solidFill>
                <a:latin typeface="Calibri"/>
              </a:rPr>
              <a:t> </a:t>
            </a:r>
          </a:p>
        </p:txBody>
      </p:sp>
      <p:sp>
        <p:nvSpPr>
          <p:cNvPr id="97" name="TextBox 96"/>
          <p:cNvSpPr txBox="1"/>
          <p:nvPr/>
        </p:nvSpPr>
        <p:spPr>
          <a:xfrm>
            <a:off x="9329738" y="3067050"/>
            <a:ext cx="1333500" cy="32385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Automotive &amp; Industrial Components</a:t>
            </a:r>
          </a:p>
        </p:txBody>
      </p:sp>
      <p:sp>
        <p:nvSpPr>
          <p:cNvPr id="98" name="Rectangle 97"/>
          <p:cNvSpPr/>
          <p:nvPr/>
        </p:nvSpPr>
        <p:spPr>
          <a:xfrm>
            <a:off x="10682288" y="3171825"/>
            <a:ext cx="567906"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TextBox 98"/>
          <p:cNvSpPr txBox="1"/>
          <p:nvPr/>
        </p:nvSpPr>
        <p:spPr>
          <a:xfrm>
            <a:off x="11288293" y="3133725"/>
            <a:ext cx="476250" cy="190500"/>
          </a:xfrm>
          <a:prstGeom prst="rect">
            <a:avLst/>
          </a:prstGeom>
          <a:noFill/>
        </p:spPr>
        <p:txBody>
          <a:bodyPr wrap="none" lIns="0" tIns="0" rIns="0" bIns="0" anchor="ctr">
            <a:spAutoFit/>
          </a:bodyPr>
          <a:lstStyle/>
          <a:p>
            <a:pPr algn="l"/>
            <a:r>
              <a:rPr sz="1100" b="1">
                <a:solidFill>
                  <a:srgbClr val="1F2933"/>
                </a:solidFill>
                <a:latin typeface="Calibri"/>
              </a:rPr>
              <a:t> </a:t>
            </a:r>
          </a:p>
        </p:txBody>
      </p:sp>
      <p:sp>
        <p:nvSpPr>
          <p:cNvPr id="100" name="TextBox 99"/>
          <p:cNvSpPr txBox="1"/>
          <p:nvPr/>
        </p:nvSpPr>
        <p:spPr>
          <a:xfrm>
            <a:off x="9329738" y="3390900"/>
            <a:ext cx="1333500" cy="32385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Food &amp; Beverage</a:t>
            </a:r>
          </a:p>
        </p:txBody>
      </p:sp>
      <p:sp>
        <p:nvSpPr>
          <p:cNvPr id="101" name="Rectangle 100"/>
          <p:cNvSpPr/>
          <p:nvPr/>
        </p:nvSpPr>
        <p:spPr>
          <a:xfrm>
            <a:off x="10682288" y="3495675"/>
            <a:ext cx="550586"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2" name="TextBox 101"/>
          <p:cNvSpPr txBox="1"/>
          <p:nvPr/>
        </p:nvSpPr>
        <p:spPr>
          <a:xfrm>
            <a:off x="11270973" y="3457575"/>
            <a:ext cx="476250" cy="190500"/>
          </a:xfrm>
          <a:prstGeom prst="rect">
            <a:avLst/>
          </a:prstGeom>
          <a:noFill/>
        </p:spPr>
        <p:txBody>
          <a:bodyPr wrap="none" lIns="0" tIns="0" rIns="0" bIns="0" anchor="ctr">
            <a:spAutoFit/>
          </a:bodyPr>
          <a:lstStyle/>
          <a:p>
            <a:pPr algn="l"/>
            <a:r>
              <a:rPr sz="1100" b="1">
                <a:solidFill>
                  <a:srgbClr val="1F2933"/>
                </a:solidFill>
                <a:latin typeface="Calibri"/>
              </a:rPr>
              <a:t> </a:t>
            </a:r>
          </a:p>
        </p:txBody>
      </p:sp>
      <p:sp>
        <p:nvSpPr>
          <p:cNvPr id="103" name="TextBox 102"/>
          <p:cNvSpPr txBox="1"/>
          <p:nvPr/>
        </p:nvSpPr>
        <p:spPr>
          <a:xfrm>
            <a:off x="9329738" y="3714750"/>
            <a:ext cx="1333500" cy="32385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Pharmaceuticals &amp; Healthcare</a:t>
            </a:r>
          </a:p>
        </p:txBody>
      </p:sp>
      <p:sp>
        <p:nvSpPr>
          <p:cNvPr id="104" name="Rectangle 103"/>
          <p:cNvSpPr/>
          <p:nvPr/>
        </p:nvSpPr>
        <p:spPr>
          <a:xfrm>
            <a:off x="10682288" y="3819525"/>
            <a:ext cx="541483"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11261871" y="3781425"/>
            <a:ext cx="476250" cy="190500"/>
          </a:xfrm>
          <a:prstGeom prst="rect">
            <a:avLst/>
          </a:prstGeom>
          <a:noFill/>
        </p:spPr>
        <p:txBody>
          <a:bodyPr wrap="none" lIns="0" tIns="0" rIns="0" bIns="0" anchor="ctr">
            <a:spAutoFit/>
          </a:bodyPr>
          <a:lstStyle/>
          <a:p>
            <a:pPr algn="l"/>
            <a:r>
              <a:rPr sz="1100" b="1">
                <a:solidFill>
                  <a:srgbClr val="1F2933"/>
                </a:solidFill>
                <a:latin typeface="Calibri"/>
              </a:rPr>
              <a:t> </a:t>
            </a:r>
          </a:p>
        </p:txBody>
      </p:sp>
      <p:sp>
        <p:nvSpPr>
          <p:cNvPr id="106" name="TextBox 105"/>
          <p:cNvSpPr txBox="1"/>
          <p:nvPr/>
        </p:nvSpPr>
        <p:spPr>
          <a:xfrm>
            <a:off x="9329738" y="4038600"/>
            <a:ext cx="1333500" cy="32385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Electronics &amp; Electrical</a:t>
            </a:r>
          </a:p>
        </p:txBody>
      </p:sp>
      <p:sp>
        <p:nvSpPr>
          <p:cNvPr id="107" name="Rectangle 106"/>
          <p:cNvSpPr/>
          <p:nvPr/>
        </p:nvSpPr>
        <p:spPr>
          <a:xfrm>
            <a:off x="10682288" y="4143375"/>
            <a:ext cx="439484"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TextBox 107"/>
          <p:cNvSpPr txBox="1"/>
          <p:nvPr/>
        </p:nvSpPr>
        <p:spPr>
          <a:xfrm>
            <a:off x="11159871" y="4105275"/>
            <a:ext cx="476250" cy="1905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109" name="Connector 108"/>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9329738" y="4495800"/>
            <a:ext cx="2576512" cy="152400"/>
          </a:xfrm>
          <a:prstGeom prst="rect">
            <a:avLst/>
          </a:prstGeom>
          <a:noFill/>
        </p:spPr>
        <p:txBody>
          <a:bodyPr wrap="square" lIns="28575" tIns="9525" rIns="28575" bIns="9525" anchor="t">
            <a:spAutoFit/>
          </a:bodyPr>
          <a:lstStyle/>
          <a:p>
            <a:pPr algn="l"/>
            <a:r>
              <a:rPr sz="1100" b="1">
                <a:solidFill>
                  <a:srgbClr val="0F2D52"/>
                </a:solidFill>
                <a:latin typeface="Calibri"/>
              </a:rPr>
              <a:t>WHAT TO WATCH</a:t>
            </a:r>
          </a:p>
        </p:txBody>
      </p:sp>
      <p:sp>
        <p:nvSpPr>
          <p:cNvPr id="111" name="TextBox 110"/>
          <p:cNvSpPr txBox="1"/>
          <p:nvPr/>
        </p:nvSpPr>
        <p:spPr>
          <a:xfrm>
            <a:off x="9329738" y="4667250"/>
            <a:ext cx="2576512" cy="666750"/>
          </a:xfrm>
          <a:prstGeom prst="rect">
            <a:avLst/>
          </a:prstGeom>
          <a:noFill/>
        </p:spPr>
        <p:txBody>
          <a:bodyPr wrap="square" lIns="28575" tIns="9525" rIns="28575" bIns="9525" anchor="t">
            <a:spAutoFit/>
          </a:bodyPr>
          <a:lstStyle/>
          <a:p>
            <a:pPr algn="l">
              <a:lnSpc>
                <a:spcPct val="115000"/>
              </a:lnSpc>
            </a:pPr>
            <a:endParaRPr/>
          </a:p>
        </p:txBody>
      </p:sp>
      <p:sp>
        <p:nvSpPr>
          <p:cNvPr id="112" name="Rectangle 111"/>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Rectangle 112"/>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TextBox 113"/>
          <p:cNvSpPr txBox="1"/>
          <p:nvPr/>
        </p:nvSpPr>
        <p:spPr>
          <a:xfrm>
            <a:off x="304800" y="5467350"/>
            <a:ext cx="1047750" cy="400050"/>
          </a:xfrm>
          <a:prstGeom prst="rect">
            <a:avLst/>
          </a:prstGeom>
          <a:noFill/>
        </p:spPr>
        <p:txBody>
          <a:bodyPr wrap="square" lIns="28575" tIns="9525" rIns="28575" bIns="9525" anchor="ctr">
            <a:spAutoFit/>
          </a:bodyPr>
          <a:lstStyle/>
          <a:p>
            <a:pPr algn="l"/>
            <a:r>
              <a:rPr sz="1100" b="1">
                <a:solidFill>
                  <a:srgbClr val="0F2D52"/>
                </a:solidFill>
                <a:latin typeface="Calibri"/>
              </a:rPr>
              <a:t>ENABLERS</a:t>
            </a:r>
          </a:p>
        </p:txBody>
      </p:sp>
      <p:sp>
        <p:nvSpPr>
          <p:cNvPr id="115" name="TextBox 114"/>
          <p:cNvSpPr txBox="1"/>
          <p:nvPr/>
        </p:nvSpPr>
        <p:spPr>
          <a:xfrm>
            <a:off x="1428750" y="5467350"/>
            <a:ext cx="10477500" cy="40005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Flat Dividers &amp; Layer Pads Compounds Fastest Across the Partition Type Mix  |  South Asia &amp; Pacific Emerges as the Growth Engine Among Regions  |  Premiumisation Lifts Average Realisation</a:t>
            </a:r>
          </a:p>
        </p:txBody>
      </p:sp>
      <p:sp>
        <p:nvSpPr>
          <p:cNvPr id="116" name="Rectangle 115"/>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Rectangle 116"/>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TextBox 117"/>
          <p:cNvSpPr txBox="1"/>
          <p:nvPr/>
        </p:nvSpPr>
        <p:spPr>
          <a:xfrm>
            <a:off x="304800" y="5924550"/>
            <a:ext cx="1047750" cy="400050"/>
          </a:xfrm>
          <a:prstGeom prst="rect">
            <a:avLst/>
          </a:prstGeom>
          <a:noFill/>
        </p:spPr>
        <p:txBody>
          <a:bodyPr wrap="square" lIns="28575" tIns="9525" rIns="28575" bIns="9525" anchor="ctr">
            <a:spAutoFit/>
          </a:bodyPr>
          <a:lstStyle/>
          <a:p>
            <a:pPr algn="l"/>
            <a:r>
              <a:rPr sz="1100" b="1">
                <a:solidFill>
                  <a:srgbClr val="8B1E2D"/>
                </a:solidFill>
                <a:latin typeface="Calibri"/>
              </a:rPr>
              <a:t>CONSTRAINTS</a:t>
            </a:r>
          </a:p>
        </p:txBody>
      </p:sp>
      <p:sp>
        <p:nvSpPr>
          <p:cNvPr id="119" name="TextBox 118"/>
          <p:cNvSpPr txBox="1"/>
          <p:nvPr/>
        </p:nvSpPr>
        <p:spPr>
          <a:xfrm>
            <a:off x="1428750" y="5924550"/>
            <a:ext cx="10477500" cy="40005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Die-Cut &amp; Folded Partitions (H-dividers, tube/cell inserts) Lags the Category and Dilutes Blended Growth  |  Uneven Region Performance Caps the Blended Rate  |  Concentration Risk Limits Pricing and Sourcing Flexibility</a:t>
            </a:r>
          </a:p>
        </p:txBody>
      </p:sp>
      <p:sp>
        <p:nvSpPr>
          <p:cNvPr id="120" name="TextBox 11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21" name="Picture 120" descr="lock.png"/>
          <p:cNvPicPr>
            <a:picLocks noChangeAspect="1"/>
          </p:cNvPicPr>
          <p:nvPr/>
        </p:nvPicPr>
        <p:blipFill>
          <a:blip r:embed="rId4"/>
          <a:stretch>
            <a:fillRect/>
          </a:stretch>
        </p:blipFill>
        <p:spPr>
          <a:xfrm>
            <a:off x="1316775" y="1258951"/>
            <a:ext cx="128699" cy="187198"/>
          </a:xfrm>
          <a:prstGeom prst="rect">
            <a:avLst/>
          </a:prstGeom>
        </p:spPr>
      </p:pic>
      <p:pic>
        <p:nvPicPr>
          <p:cNvPr id="122" name="Picture 121" descr="lock.png"/>
          <p:cNvPicPr>
            <a:picLocks noChangeAspect="1"/>
          </p:cNvPicPr>
          <p:nvPr/>
        </p:nvPicPr>
        <p:blipFill>
          <a:blip r:embed="rId4"/>
          <a:stretch>
            <a:fillRect/>
          </a:stretch>
        </p:blipFill>
        <p:spPr>
          <a:xfrm>
            <a:off x="3678975" y="1258951"/>
            <a:ext cx="128699" cy="187198"/>
          </a:xfrm>
          <a:prstGeom prst="rect">
            <a:avLst/>
          </a:prstGeom>
        </p:spPr>
      </p:pic>
      <p:pic>
        <p:nvPicPr>
          <p:cNvPr id="123" name="Picture 122" descr="lock.png"/>
          <p:cNvPicPr>
            <a:picLocks noChangeAspect="1"/>
          </p:cNvPicPr>
          <p:nvPr/>
        </p:nvPicPr>
        <p:blipFill>
          <a:blip r:embed="rId4"/>
          <a:stretch>
            <a:fillRect/>
          </a:stretch>
        </p:blipFill>
        <p:spPr>
          <a:xfrm>
            <a:off x="6041175" y="1258951"/>
            <a:ext cx="128699" cy="187198"/>
          </a:xfrm>
          <a:prstGeom prst="rect">
            <a:avLst/>
          </a:prstGeom>
        </p:spPr>
      </p:pic>
      <p:pic>
        <p:nvPicPr>
          <p:cNvPr id="124" name="Picture 123" descr="lock.png"/>
          <p:cNvPicPr>
            <a:picLocks noChangeAspect="1"/>
          </p:cNvPicPr>
          <p:nvPr/>
        </p:nvPicPr>
        <p:blipFill>
          <a:blip r:embed="rId4"/>
          <a:stretch>
            <a:fillRect/>
          </a:stretch>
        </p:blipFill>
        <p:spPr>
          <a:xfrm>
            <a:off x="8403375" y="1258951"/>
            <a:ext cx="128699" cy="187198"/>
          </a:xfrm>
          <a:prstGeom prst="rect">
            <a:avLst/>
          </a:prstGeom>
        </p:spPr>
      </p:pic>
      <p:pic>
        <p:nvPicPr>
          <p:cNvPr id="125" name="Picture 124" descr="lock.png"/>
          <p:cNvPicPr>
            <a:picLocks noChangeAspect="1"/>
          </p:cNvPicPr>
          <p:nvPr/>
        </p:nvPicPr>
        <p:blipFill>
          <a:blip r:embed="rId4"/>
          <a:stretch>
            <a:fillRect/>
          </a:stretch>
        </p:blipFill>
        <p:spPr>
          <a:xfrm>
            <a:off x="10765575" y="1258951"/>
            <a:ext cx="128699" cy="187198"/>
          </a:xfrm>
          <a:prstGeom prst="rect">
            <a:avLst/>
          </a:prstGeom>
        </p:spPr>
      </p:pic>
      <p:pic>
        <p:nvPicPr>
          <p:cNvPr id="126" name="Picture 125" descr="lock.png"/>
          <p:cNvPicPr>
            <a:picLocks noChangeAspect="1"/>
          </p:cNvPicPr>
          <p:nvPr/>
        </p:nvPicPr>
        <p:blipFill>
          <a:blip r:embed="rId4"/>
          <a:stretch>
            <a:fillRect/>
          </a:stretch>
        </p:blipFill>
        <p:spPr>
          <a:xfrm>
            <a:off x="554775" y="1925701"/>
            <a:ext cx="128699" cy="187198"/>
          </a:xfrm>
          <a:prstGeom prst="rect">
            <a:avLst/>
          </a:prstGeom>
        </p:spPr>
      </p:pic>
      <p:pic>
        <p:nvPicPr>
          <p:cNvPr id="127" name="Picture 126" descr="lock.png"/>
          <p:cNvPicPr>
            <a:picLocks noChangeAspect="1"/>
          </p:cNvPicPr>
          <p:nvPr/>
        </p:nvPicPr>
        <p:blipFill>
          <a:blip r:embed="rId4"/>
          <a:stretch>
            <a:fillRect/>
          </a:stretch>
        </p:blipFill>
        <p:spPr>
          <a:xfrm>
            <a:off x="554775" y="2135251"/>
            <a:ext cx="128699" cy="187198"/>
          </a:xfrm>
          <a:prstGeom prst="rect">
            <a:avLst/>
          </a:prstGeom>
        </p:spPr>
      </p:pic>
      <p:pic>
        <p:nvPicPr>
          <p:cNvPr id="128" name="Picture 127" descr="lock.png"/>
          <p:cNvPicPr>
            <a:picLocks noChangeAspect="1"/>
          </p:cNvPicPr>
          <p:nvPr/>
        </p:nvPicPr>
        <p:blipFill>
          <a:blip r:embed="rId4"/>
          <a:stretch>
            <a:fillRect/>
          </a:stretch>
        </p:blipFill>
        <p:spPr>
          <a:xfrm>
            <a:off x="3569437" y="1925701"/>
            <a:ext cx="128699" cy="187198"/>
          </a:xfrm>
          <a:prstGeom prst="rect">
            <a:avLst/>
          </a:prstGeom>
        </p:spPr>
      </p:pic>
      <p:pic>
        <p:nvPicPr>
          <p:cNvPr id="129" name="Picture 128" descr="lock.png"/>
          <p:cNvPicPr>
            <a:picLocks noChangeAspect="1"/>
          </p:cNvPicPr>
          <p:nvPr/>
        </p:nvPicPr>
        <p:blipFill>
          <a:blip r:embed="rId4"/>
          <a:stretch>
            <a:fillRect/>
          </a:stretch>
        </p:blipFill>
        <p:spPr>
          <a:xfrm>
            <a:off x="3569437" y="2135251"/>
            <a:ext cx="128699" cy="187198"/>
          </a:xfrm>
          <a:prstGeom prst="rect">
            <a:avLst/>
          </a:prstGeom>
        </p:spPr>
      </p:pic>
      <p:pic>
        <p:nvPicPr>
          <p:cNvPr id="130" name="Picture 129" descr="lock.png"/>
          <p:cNvPicPr>
            <a:picLocks noChangeAspect="1"/>
          </p:cNvPicPr>
          <p:nvPr/>
        </p:nvPicPr>
        <p:blipFill>
          <a:blip r:embed="rId4"/>
          <a:stretch>
            <a:fillRect/>
          </a:stretch>
        </p:blipFill>
        <p:spPr>
          <a:xfrm>
            <a:off x="6584100" y="1925701"/>
            <a:ext cx="128699" cy="187198"/>
          </a:xfrm>
          <a:prstGeom prst="rect">
            <a:avLst/>
          </a:prstGeom>
        </p:spPr>
      </p:pic>
      <p:pic>
        <p:nvPicPr>
          <p:cNvPr id="131" name="Picture 130" descr="lock.png"/>
          <p:cNvPicPr>
            <a:picLocks noChangeAspect="1"/>
          </p:cNvPicPr>
          <p:nvPr/>
        </p:nvPicPr>
        <p:blipFill>
          <a:blip r:embed="rId4"/>
          <a:stretch>
            <a:fillRect/>
          </a:stretch>
        </p:blipFill>
        <p:spPr>
          <a:xfrm>
            <a:off x="6584100" y="2135251"/>
            <a:ext cx="128699" cy="187198"/>
          </a:xfrm>
          <a:prstGeom prst="rect">
            <a:avLst/>
          </a:prstGeom>
        </p:spPr>
      </p:pic>
      <p:pic>
        <p:nvPicPr>
          <p:cNvPr id="132" name="Picture 131" descr="lock.png"/>
          <p:cNvPicPr>
            <a:picLocks noChangeAspect="1"/>
          </p:cNvPicPr>
          <p:nvPr/>
        </p:nvPicPr>
        <p:blipFill>
          <a:blip r:embed="rId4"/>
          <a:stretch>
            <a:fillRect/>
          </a:stretch>
        </p:blipFill>
        <p:spPr>
          <a:xfrm>
            <a:off x="10553644" y="1725676"/>
            <a:ext cx="128699" cy="187198"/>
          </a:xfrm>
          <a:prstGeom prst="rect">
            <a:avLst/>
          </a:prstGeom>
        </p:spPr>
      </p:pic>
      <p:pic>
        <p:nvPicPr>
          <p:cNvPr id="133" name="Picture 132" descr="lock.png"/>
          <p:cNvPicPr>
            <a:picLocks noChangeAspect="1"/>
          </p:cNvPicPr>
          <p:nvPr/>
        </p:nvPicPr>
        <p:blipFill>
          <a:blip r:embed="rId4"/>
          <a:stretch>
            <a:fillRect/>
          </a:stretch>
        </p:blipFill>
        <p:spPr>
          <a:xfrm>
            <a:off x="11660925" y="2487676"/>
            <a:ext cx="128699" cy="187198"/>
          </a:xfrm>
          <a:prstGeom prst="rect">
            <a:avLst/>
          </a:prstGeom>
        </p:spPr>
      </p:pic>
      <p:pic>
        <p:nvPicPr>
          <p:cNvPr id="134" name="Picture 133" descr="lock.png"/>
          <p:cNvPicPr>
            <a:picLocks noChangeAspect="1"/>
          </p:cNvPicPr>
          <p:nvPr/>
        </p:nvPicPr>
        <p:blipFill>
          <a:blip r:embed="rId4"/>
          <a:stretch>
            <a:fillRect/>
          </a:stretch>
        </p:blipFill>
        <p:spPr>
          <a:xfrm>
            <a:off x="11641664" y="2811526"/>
            <a:ext cx="128699" cy="187198"/>
          </a:xfrm>
          <a:prstGeom prst="rect">
            <a:avLst/>
          </a:prstGeom>
        </p:spPr>
      </p:pic>
      <p:pic>
        <p:nvPicPr>
          <p:cNvPr id="135" name="Picture 134" descr="lock.png"/>
          <p:cNvPicPr>
            <a:picLocks noChangeAspect="1"/>
          </p:cNvPicPr>
          <p:nvPr/>
        </p:nvPicPr>
        <p:blipFill>
          <a:blip r:embed="rId4"/>
          <a:stretch>
            <a:fillRect/>
          </a:stretch>
        </p:blipFill>
        <p:spPr>
          <a:xfrm>
            <a:off x="11462068" y="3135376"/>
            <a:ext cx="128699" cy="187198"/>
          </a:xfrm>
          <a:prstGeom prst="rect">
            <a:avLst/>
          </a:prstGeom>
        </p:spPr>
      </p:pic>
      <p:pic>
        <p:nvPicPr>
          <p:cNvPr id="136" name="Picture 135" descr="lock.png"/>
          <p:cNvPicPr>
            <a:picLocks noChangeAspect="1"/>
          </p:cNvPicPr>
          <p:nvPr/>
        </p:nvPicPr>
        <p:blipFill>
          <a:blip r:embed="rId4"/>
          <a:stretch>
            <a:fillRect/>
          </a:stretch>
        </p:blipFill>
        <p:spPr>
          <a:xfrm>
            <a:off x="11444748" y="3459226"/>
            <a:ext cx="128699" cy="187198"/>
          </a:xfrm>
          <a:prstGeom prst="rect">
            <a:avLst/>
          </a:prstGeom>
        </p:spPr>
      </p:pic>
      <p:pic>
        <p:nvPicPr>
          <p:cNvPr id="137" name="Picture 136" descr="lock.png"/>
          <p:cNvPicPr>
            <a:picLocks noChangeAspect="1"/>
          </p:cNvPicPr>
          <p:nvPr/>
        </p:nvPicPr>
        <p:blipFill>
          <a:blip r:embed="rId4"/>
          <a:stretch>
            <a:fillRect/>
          </a:stretch>
        </p:blipFill>
        <p:spPr>
          <a:xfrm>
            <a:off x="11435646" y="3783076"/>
            <a:ext cx="128699" cy="187198"/>
          </a:xfrm>
          <a:prstGeom prst="rect">
            <a:avLst/>
          </a:prstGeom>
        </p:spPr>
      </p:pic>
      <p:pic>
        <p:nvPicPr>
          <p:cNvPr id="138" name="Picture 137" descr="lock.png"/>
          <p:cNvPicPr>
            <a:picLocks noChangeAspect="1"/>
          </p:cNvPicPr>
          <p:nvPr/>
        </p:nvPicPr>
        <p:blipFill>
          <a:blip r:embed="rId4"/>
          <a:stretch>
            <a:fillRect/>
          </a:stretch>
        </p:blipFill>
        <p:spPr>
          <a:xfrm>
            <a:off x="11333646" y="4106926"/>
            <a:ext cx="128699" cy="187198"/>
          </a:xfrm>
          <a:prstGeom prst="rect">
            <a:avLst/>
          </a:prstGeom>
        </p:spPr>
      </p:pic>
      <p:sp>
        <p:nvSpPr>
          <p:cNvPr id="139" name="TextBox 138"/>
          <p:cNvSpPr txBox="1"/>
          <p:nvPr/>
        </p:nvSpPr>
        <p:spPr>
          <a:xfrm>
            <a:off x="314325" y="4676775"/>
            <a:ext cx="2152600" cy="186689"/>
          </a:xfrm>
          <a:prstGeom prst="rect">
            <a:avLst/>
          </a:prstGeom>
          <a:noFill/>
        </p:spPr>
        <p:txBody>
          <a:bodyPr wrap="none" lIns="0" tIns="0" rIns="0" bIns="0">
            <a:spAutoFit/>
          </a:bodyPr>
          <a:lstStyle/>
          <a:p>
            <a:r>
              <a:rPr sz="1100" b="0">
                <a:solidFill>
                  <a:srgbClr val="1F2933"/>
                </a:solidFill>
                <a:latin typeface="Calibri"/>
              </a:rPr>
              <a:t>5 named players compete here; 'Flat</a:t>
            </a:r>
          </a:p>
        </p:txBody>
      </p:sp>
      <p:sp>
        <p:nvSpPr>
          <p:cNvPr id="140" name="TextBox 139"/>
          <p:cNvSpPr txBox="1"/>
          <p:nvPr/>
        </p:nvSpPr>
        <p:spPr>
          <a:xfrm>
            <a:off x="314325" y="4844415"/>
            <a:ext cx="1631181" cy="186689"/>
          </a:xfrm>
          <a:prstGeom prst="rect">
            <a:avLst/>
          </a:prstGeom>
          <a:noFill/>
        </p:spPr>
        <p:txBody>
          <a:bodyPr wrap="none" lIns="0" tIns="0" rIns="0" bIns="0">
            <a:spAutoFit/>
          </a:bodyPr>
          <a:lstStyle/>
          <a:p>
            <a:r>
              <a:rPr sz="1100" b="0">
                <a:solidFill>
                  <a:srgbClr val="1F2933"/>
                </a:solidFill>
                <a:latin typeface="Calibri"/>
              </a:rPr>
              <a:t>Dividers &amp; Layer Pads' adds</a:t>
            </a:r>
          </a:p>
        </p:txBody>
      </p:sp>
      <p:pic>
        <p:nvPicPr>
          <p:cNvPr id="141" name="Picture 140" descr="lock.png"/>
          <p:cNvPicPr>
            <a:picLocks noChangeAspect="1"/>
          </p:cNvPicPr>
          <p:nvPr/>
        </p:nvPicPr>
        <p:blipFill>
          <a:blip r:embed="rId4"/>
          <a:stretch>
            <a:fillRect/>
          </a:stretch>
        </p:blipFill>
        <p:spPr>
          <a:xfrm>
            <a:off x="1893557" y="4834636"/>
            <a:ext cx="128699" cy="187198"/>
          </a:xfrm>
          <a:prstGeom prst="rect">
            <a:avLst/>
          </a:prstGeom>
        </p:spPr>
      </p:pic>
      <p:sp>
        <p:nvSpPr>
          <p:cNvPr id="142" name="TextBox 141"/>
          <p:cNvSpPr txBox="1"/>
          <p:nvPr/>
        </p:nvSpPr>
        <p:spPr>
          <a:xfrm>
            <a:off x="2061053" y="4844415"/>
            <a:ext cx="693935" cy="186689"/>
          </a:xfrm>
          <a:prstGeom prst="rect">
            <a:avLst/>
          </a:prstGeom>
          <a:noFill/>
        </p:spPr>
        <p:txBody>
          <a:bodyPr wrap="none" lIns="0" tIns="0" rIns="0" bIns="0">
            <a:spAutoFit/>
          </a:bodyPr>
          <a:lstStyle/>
          <a:p>
            <a:r>
              <a:rPr sz="1100" b="0">
                <a:solidFill>
                  <a:srgbClr val="1F2933"/>
                </a:solidFill>
                <a:latin typeface="Calibri"/>
              </a:rPr>
              <a:t>US$ Mn by</a:t>
            </a:r>
          </a:p>
        </p:txBody>
      </p:sp>
      <p:sp>
        <p:nvSpPr>
          <p:cNvPr id="143" name="TextBox 142"/>
          <p:cNvSpPr txBox="1"/>
          <p:nvPr/>
        </p:nvSpPr>
        <p:spPr>
          <a:xfrm>
            <a:off x="314325" y="5012055"/>
            <a:ext cx="395163" cy="186689"/>
          </a:xfrm>
          <a:prstGeom prst="rect">
            <a:avLst/>
          </a:prstGeom>
          <a:noFill/>
        </p:spPr>
        <p:txBody>
          <a:bodyPr wrap="none" lIns="0" tIns="0" rIns="0" bIns="0">
            <a:spAutoFit/>
          </a:bodyPr>
          <a:lstStyle/>
          <a:p>
            <a:r>
              <a:rPr sz="1100" b="0">
                <a:solidFill>
                  <a:srgbClr val="1F2933"/>
                </a:solidFill>
                <a:latin typeface="Calibri"/>
              </a:rPr>
              <a:t>2036.</a:t>
            </a:r>
          </a:p>
        </p:txBody>
      </p:sp>
      <p:sp>
        <p:nvSpPr>
          <p:cNvPr id="144" name="TextBox 143"/>
          <p:cNvSpPr txBox="1"/>
          <p:nvPr/>
        </p:nvSpPr>
        <p:spPr>
          <a:xfrm>
            <a:off x="3328987" y="4676775"/>
            <a:ext cx="2494756" cy="186689"/>
          </a:xfrm>
          <a:prstGeom prst="rect">
            <a:avLst/>
          </a:prstGeom>
          <a:noFill/>
        </p:spPr>
        <p:txBody>
          <a:bodyPr wrap="none" lIns="0" tIns="0" rIns="0" bIns="0">
            <a:spAutoFit/>
          </a:bodyPr>
          <a:lstStyle/>
          <a:p>
            <a:r>
              <a:rPr sz="1100" b="0">
                <a:solidFill>
                  <a:srgbClr val="1F2933"/>
                </a:solidFill>
                <a:latin typeface="Calibri"/>
              </a:rPr>
              <a:t>5 named players compete here; 'Die-Cut &amp;</a:t>
            </a:r>
          </a:p>
        </p:txBody>
      </p:sp>
      <p:sp>
        <p:nvSpPr>
          <p:cNvPr id="145" name="TextBox 144"/>
          <p:cNvSpPr txBox="1"/>
          <p:nvPr/>
        </p:nvSpPr>
        <p:spPr>
          <a:xfrm>
            <a:off x="3328987" y="4844415"/>
            <a:ext cx="1372760" cy="186689"/>
          </a:xfrm>
          <a:prstGeom prst="rect">
            <a:avLst/>
          </a:prstGeom>
          <a:noFill/>
        </p:spPr>
        <p:txBody>
          <a:bodyPr wrap="none" lIns="0" tIns="0" rIns="0" bIns="0">
            <a:spAutoFit/>
          </a:bodyPr>
          <a:lstStyle/>
          <a:p>
            <a:r>
              <a:rPr sz="1100" b="0">
                <a:solidFill>
                  <a:srgbClr val="1F2933"/>
                </a:solidFill>
                <a:latin typeface="Calibri"/>
              </a:rPr>
              <a:t>Folded Partitions' adds</a:t>
            </a:r>
          </a:p>
        </p:txBody>
      </p:sp>
      <p:pic>
        <p:nvPicPr>
          <p:cNvPr id="146" name="Picture 145" descr="lock.png"/>
          <p:cNvPicPr>
            <a:picLocks noChangeAspect="1"/>
          </p:cNvPicPr>
          <p:nvPr/>
        </p:nvPicPr>
        <p:blipFill>
          <a:blip r:embed="rId4"/>
          <a:stretch>
            <a:fillRect/>
          </a:stretch>
        </p:blipFill>
        <p:spPr>
          <a:xfrm>
            <a:off x="4649799" y="4834636"/>
            <a:ext cx="128699" cy="187198"/>
          </a:xfrm>
          <a:prstGeom prst="rect">
            <a:avLst/>
          </a:prstGeom>
        </p:spPr>
      </p:pic>
      <p:sp>
        <p:nvSpPr>
          <p:cNvPr id="147" name="TextBox 146"/>
          <p:cNvSpPr txBox="1"/>
          <p:nvPr/>
        </p:nvSpPr>
        <p:spPr>
          <a:xfrm>
            <a:off x="4817295" y="4844415"/>
            <a:ext cx="693935" cy="186689"/>
          </a:xfrm>
          <a:prstGeom prst="rect">
            <a:avLst/>
          </a:prstGeom>
          <a:noFill/>
        </p:spPr>
        <p:txBody>
          <a:bodyPr wrap="none" lIns="0" tIns="0" rIns="0" bIns="0">
            <a:spAutoFit/>
          </a:bodyPr>
          <a:lstStyle/>
          <a:p>
            <a:r>
              <a:rPr sz="1100" b="0">
                <a:solidFill>
                  <a:srgbClr val="1F2933"/>
                </a:solidFill>
                <a:latin typeface="Calibri"/>
              </a:rPr>
              <a:t>US$ Mn by</a:t>
            </a:r>
          </a:p>
        </p:txBody>
      </p:sp>
      <p:sp>
        <p:nvSpPr>
          <p:cNvPr id="148" name="TextBox 147"/>
          <p:cNvSpPr txBox="1"/>
          <p:nvPr/>
        </p:nvSpPr>
        <p:spPr>
          <a:xfrm>
            <a:off x="3328987" y="5012055"/>
            <a:ext cx="395163" cy="186689"/>
          </a:xfrm>
          <a:prstGeom prst="rect">
            <a:avLst/>
          </a:prstGeom>
          <a:noFill/>
        </p:spPr>
        <p:txBody>
          <a:bodyPr wrap="none" lIns="0" tIns="0" rIns="0" bIns="0">
            <a:spAutoFit/>
          </a:bodyPr>
          <a:lstStyle/>
          <a:p>
            <a:r>
              <a:rPr sz="1100" b="0">
                <a:solidFill>
                  <a:srgbClr val="1F2933"/>
                </a:solidFill>
                <a:latin typeface="Calibri"/>
              </a:rPr>
              <a:t>2036.</a:t>
            </a:r>
          </a:p>
        </p:txBody>
      </p:sp>
      <p:sp>
        <p:nvSpPr>
          <p:cNvPr id="149" name="TextBox 148"/>
          <p:cNvSpPr txBox="1"/>
          <p:nvPr/>
        </p:nvSpPr>
        <p:spPr>
          <a:xfrm>
            <a:off x="6343650" y="4676775"/>
            <a:ext cx="2349326" cy="186689"/>
          </a:xfrm>
          <a:prstGeom prst="rect">
            <a:avLst/>
          </a:prstGeom>
          <a:noFill/>
        </p:spPr>
        <p:txBody>
          <a:bodyPr wrap="none" lIns="0" tIns="0" rIns="0" bIns="0">
            <a:spAutoFit/>
          </a:bodyPr>
          <a:lstStyle/>
          <a:p>
            <a:r>
              <a:rPr sz="1100" b="0">
                <a:solidFill>
                  <a:srgbClr val="1F2933"/>
                </a:solidFill>
                <a:latin typeface="Calibri"/>
              </a:rPr>
              <a:t>5 named players compete here; 'Slotted</a:t>
            </a:r>
          </a:p>
        </p:txBody>
      </p:sp>
      <p:sp>
        <p:nvSpPr>
          <p:cNvPr id="150" name="TextBox 149"/>
          <p:cNvSpPr txBox="1"/>
          <p:nvPr/>
        </p:nvSpPr>
        <p:spPr>
          <a:xfrm>
            <a:off x="6343650" y="4844415"/>
            <a:ext cx="954782" cy="186689"/>
          </a:xfrm>
          <a:prstGeom prst="rect">
            <a:avLst/>
          </a:prstGeom>
          <a:noFill/>
        </p:spPr>
        <p:txBody>
          <a:bodyPr wrap="none" lIns="0" tIns="0" rIns="0" bIns="0">
            <a:spAutoFit/>
          </a:bodyPr>
          <a:lstStyle/>
          <a:p>
            <a:r>
              <a:rPr sz="1100" b="0">
                <a:solidFill>
                  <a:srgbClr val="1F2933"/>
                </a:solidFill>
                <a:latin typeface="Calibri"/>
              </a:rPr>
              <a:t>Partitions' adds</a:t>
            </a:r>
          </a:p>
        </p:txBody>
      </p:sp>
      <p:pic>
        <p:nvPicPr>
          <p:cNvPr id="151" name="Picture 150" descr="lock.png"/>
          <p:cNvPicPr>
            <a:picLocks noChangeAspect="1"/>
          </p:cNvPicPr>
          <p:nvPr/>
        </p:nvPicPr>
        <p:blipFill>
          <a:blip r:embed="rId4"/>
          <a:stretch>
            <a:fillRect/>
          </a:stretch>
        </p:blipFill>
        <p:spPr>
          <a:xfrm>
            <a:off x="7246483" y="4834636"/>
            <a:ext cx="128699" cy="187198"/>
          </a:xfrm>
          <a:prstGeom prst="rect">
            <a:avLst/>
          </a:prstGeom>
        </p:spPr>
      </p:pic>
      <p:sp>
        <p:nvSpPr>
          <p:cNvPr id="152" name="TextBox 151"/>
          <p:cNvSpPr txBox="1"/>
          <p:nvPr/>
        </p:nvSpPr>
        <p:spPr>
          <a:xfrm>
            <a:off x="7413979" y="4844415"/>
            <a:ext cx="1044550" cy="186689"/>
          </a:xfrm>
          <a:prstGeom prst="rect">
            <a:avLst/>
          </a:prstGeom>
          <a:noFill/>
        </p:spPr>
        <p:txBody>
          <a:bodyPr wrap="none" lIns="0" tIns="0" rIns="0" bIns="0">
            <a:spAutoFit/>
          </a:bodyPr>
          <a:lstStyle/>
          <a:p>
            <a:r>
              <a:rPr sz="1100" b="0">
                <a:solidFill>
                  <a:srgbClr val="1F2933"/>
                </a:solidFill>
                <a:latin typeface="Calibri"/>
              </a:rPr>
              <a:t>US$ Mn by 2036.</a:t>
            </a:r>
          </a:p>
        </p:txBody>
      </p:sp>
      <p:sp>
        <p:nvSpPr>
          <p:cNvPr id="153" name="TextBox 152"/>
          <p:cNvSpPr txBox="1"/>
          <p:nvPr/>
        </p:nvSpPr>
        <p:spPr>
          <a:xfrm>
            <a:off x="9358313" y="4676775"/>
            <a:ext cx="1728861" cy="186689"/>
          </a:xfrm>
          <a:prstGeom prst="rect">
            <a:avLst/>
          </a:prstGeom>
          <a:noFill/>
        </p:spPr>
        <p:txBody>
          <a:bodyPr wrap="none" lIns="0" tIns="0" rIns="0" bIns="0">
            <a:spAutoFit/>
          </a:bodyPr>
          <a:lstStyle/>
          <a:p>
            <a:r>
              <a:rPr sz="1100" b="0">
                <a:solidFill>
                  <a:srgbClr val="1F2933"/>
                </a:solidFill>
                <a:latin typeface="Calibri"/>
              </a:rPr>
              <a:t>The top two end uses pay for</a:t>
            </a:r>
          </a:p>
        </p:txBody>
      </p:sp>
      <p:pic>
        <p:nvPicPr>
          <p:cNvPr id="154" name="Picture 153" descr="lock.png"/>
          <p:cNvPicPr>
            <a:picLocks noChangeAspect="1"/>
          </p:cNvPicPr>
          <p:nvPr/>
        </p:nvPicPr>
        <p:blipFill>
          <a:blip r:embed="rId4"/>
          <a:stretch>
            <a:fillRect/>
          </a:stretch>
        </p:blipFill>
        <p:spPr>
          <a:xfrm>
            <a:off x="11035226" y="4666996"/>
            <a:ext cx="128699" cy="187198"/>
          </a:xfrm>
          <a:prstGeom prst="rect">
            <a:avLst/>
          </a:prstGeom>
        </p:spPr>
      </p:pic>
      <p:sp>
        <p:nvSpPr>
          <p:cNvPr id="155" name="TextBox 154"/>
          <p:cNvSpPr txBox="1"/>
          <p:nvPr/>
        </p:nvSpPr>
        <p:spPr>
          <a:xfrm>
            <a:off x="11202722" y="4676775"/>
            <a:ext cx="413990" cy="186689"/>
          </a:xfrm>
          <a:prstGeom prst="rect">
            <a:avLst/>
          </a:prstGeom>
          <a:noFill/>
        </p:spPr>
        <p:txBody>
          <a:bodyPr wrap="none" lIns="0" tIns="0" rIns="0" bIns="0">
            <a:spAutoFit/>
          </a:bodyPr>
          <a:lstStyle/>
          <a:p>
            <a:r>
              <a:rPr sz="1100" b="0">
                <a:solidFill>
                  <a:srgbClr val="1F2933"/>
                </a:solidFill>
                <a:latin typeface="Calibri"/>
              </a:rPr>
              <a:t>of the</a:t>
            </a:r>
          </a:p>
        </p:txBody>
      </p:sp>
      <p:sp>
        <p:nvSpPr>
          <p:cNvPr id="156" name="TextBox 155"/>
          <p:cNvSpPr txBox="1"/>
          <p:nvPr/>
        </p:nvSpPr>
        <p:spPr>
          <a:xfrm>
            <a:off x="9358313" y="4844415"/>
            <a:ext cx="2519361" cy="186689"/>
          </a:xfrm>
          <a:prstGeom prst="rect">
            <a:avLst/>
          </a:prstGeom>
          <a:noFill/>
        </p:spPr>
        <p:txBody>
          <a:bodyPr wrap="none" lIns="0" tIns="0" rIns="0" bIns="0">
            <a:spAutoFit/>
          </a:bodyPr>
          <a:lstStyle/>
          <a:p>
            <a:r>
              <a:rPr sz="1100" b="0">
                <a:solidFill>
                  <a:srgbClr val="1F2933"/>
                </a:solidFill>
                <a:latin typeface="Calibri"/>
              </a:rPr>
              <a:t>market; vendors package for one vertical at</a:t>
            </a:r>
          </a:p>
        </p:txBody>
      </p:sp>
      <p:sp>
        <p:nvSpPr>
          <p:cNvPr id="157" name="TextBox 156"/>
          <p:cNvSpPr txBox="1"/>
          <p:nvPr/>
        </p:nvSpPr>
        <p:spPr>
          <a:xfrm>
            <a:off x="9358313" y="5012055"/>
            <a:ext cx="470197" cy="186689"/>
          </a:xfrm>
          <a:prstGeom prst="rect">
            <a:avLst/>
          </a:prstGeom>
          <a:noFill/>
        </p:spPr>
        <p:txBody>
          <a:bodyPr wrap="none" lIns="0" tIns="0" rIns="0" bIns="0">
            <a:spAutoFit/>
          </a:bodyPr>
          <a:lstStyle/>
          <a:p>
            <a:r>
              <a:rPr sz="1100" b="0">
                <a:solidFill>
                  <a:srgbClr val="1F2933"/>
                </a:solidFill>
                <a:latin typeface="Calibri"/>
              </a:rPr>
              <a:t>a time.</a:t>
            </a:r>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1714500" y="1047750"/>
            <a:ext cx="3308350" cy="266700"/>
          </a:xfrm>
          <a:prstGeom prst="rect">
            <a:avLst/>
          </a:prstGeom>
          <a:noFill/>
        </p:spPr>
        <p:txBody>
          <a:bodyPr wrap="square" lIns="28575" tIns="9525" rIns="2857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5175250" y="1047750"/>
            <a:ext cx="3308350" cy="266700"/>
          </a:xfrm>
          <a:prstGeom prst="rect">
            <a:avLst/>
          </a:prstGeom>
          <a:noFill/>
        </p:spPr>
        <p:txBody>
          <a:bodyPr wrap="square" lIns="28575" tIns="9525" rIns="2857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8636000" y="1047750"/>
            <a:ext cx="3308350" cy="266700"/>
          </a:xfrm>
          <a:prstGeom prst="rect">
            <a:avLst/>
          </a:prstGeom>
          <a:noFill/>
        </p:spPr>
        <p:txBody>
          <a:bodyPr wrap="square" lIns="28575" tIns="9525" rIns="28575" bIns="9525" anchor="ctr">
            <a:spAutoFit/>
          </a:bodyPr>
          <a:lstStyle/>
          <a:p>
            <a:pPr algn="l"/>
            <a:r>
              <a:rPr sz="1100" b="1">
                <a:solidFill>
                  <a:srgbClr val="FFFFFF"/>
                </a:solidFill>
                <a:latin typeface="Calibri"/>
              </a:rPr>
              <a:t>Tier 3  (4)</a:t>
            </a:r>
          </a:p>
        </p:txBody>
      </p:sp>
      <p:sp>
        <p:nvSpPr>
          <p:cNvPr id="16" name="TextBox 15"/>
          <p:cNvSpPr txBox="1"/>
          <p:nvPr/>
        </p:nvSpPr>
        <p:spPr>
          <a:xfrm>
            <a:off x="190500" y="1409700"/>
            <a:ext cx="1381125" cy="171450"/>
          </a:xfrm>
          <a:prstGeom prst="rect">
            <a:avLst/>
          </a:prstGeom>
          <a:noFill/>
        </p:spPr>
        <p:txBody>
          <a:bodyPr wrap="square" lIns="28575" tIns="9525" rIns="2857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1733550" y="1438275"/>
            <a:ext cx="142875" cy="161925"/>
          </a:xfrm>
          <a:prstGeom prst="rect">
            <a:avLst/>
          </a:prstGeom>
          <a:noFill/>
        </p:spPr>
        <p:txBody>
          <a:bodyPr wrap="none" lIns="0" tIns="0" r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tIns="9525" rIns="28575" bIns="9525" anchor="t">
            <a:spAutoFit/>
          </a:bodyPr>
          <a:lstStyle/>
          <a:p>
            <a:pPr algn="l"/>
            <a:r>
              <a:rPr sz="1100" b="1">
                <a:solidFill>
                  <a:srgbClr val="1F2933"/>
                </a:solidFill>
                <a:latin typeface="Calibri"/>
              </a:rPr>
              <a:t>Multicell Packaging Inc.</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1733550" y="1628775"/>
            <a:ext cx="142875" cy="161925"/>
          </a:xfrm>
          <a:prstGeom prst="rect">
            <a:avLst/>
          </a:prstGeom>
          <a:noFill/>
        </p:spPr>
        <p:txBody>
          <a:bodyPr wrap="none" lIns="0" tIns="0" r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tIns="9525" rIns="28575" bIns="9525" anchor="t">
            <a:spAutoFit/>
          </a:bodyPr>
          <a:lstStyle/>
          <a:p>
            <a:pPr algn="l"/>
            <a:r>
              <a:rPr sz="1100" b="1">
                <a:solidFill>
                  <a:srgbClr val="1F2933"/>
                </a:solidFill>
                <a:latin typeface="Calibri"/>
              </a:rPr>
              <a:t>Company</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1733550" y="1819275"/>
            <a:ext cx="142875" cy="161925"/>
          </a:xfrm>
          <a:prstGeom prst="rect">
            <a:avLst/>
          </a:prstGeom>
          <a:noFill/>
        </p:spPr>
        <p:txBody>
          <a:bodyPr wrap="none" lIns="0" tIns="0" r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tIns="9525" rIns="28575" bIns="9525" anchor="t">
            <a:spAutoFit/>
          </a:bodyPr>
          <a:lstStyle/>
          <a:p>
            <a:pPr algn="l"/>
            <a:r>
              <a:rPr sz="1100" b="1">
                <a:solidFill>
                  <a:srgbClr val="1F2933"/>
                </a:solidFill>
                <a:latin typeface="Calibri"/>
              </a:rPr>
              <a:t>Great American Paper Inc.</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1733550" y="2009775"/>
            <a:ext cx="142875" cy="161925"/>
          </a:xfrm>
          <a:prstGeom prst="rect">
            <a:avLst/>
          </a:prstGeom>
          <a:noFill/>
        </p:spPr>
        <p:txBody>
          <a:bodyPr wrap="none" lIns="0" tIns="0" r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tIns="9525" rIns="28575" bIns="9525" anchor="t">
            <a:spAutoFit/>
          </a:bodyPr>
          <a:lstStyle/>
          <a:p>
            <a:pPr algn="l"/>
            <a:r>
              <a:rPr sz="1100" b="1">
                <a:solidFill>
                  <a:srgbClr val="1F2933"/>
                </a:solidFill>
                <a:latin typeface="Calibri"/>
              </a:rPr>
              <a:t>Interpack Inc.</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tIns="9525" rIns="2857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TextBox 38"/>
          <p:cNvSpPr txBox="1"/>
          <p:nvPr/>
        </p:nvSpPr>
        <p:spPr>
          <a:xfrm>
            <a:off x="5194300" y="2466975"/>
            <a:ext cx="142875" cy="161925"/>
          </a:xfrm>
          <a:prstGeom prst="rect">
            <a:avLst/>
          </a:prstGeom>
          <a:noFill/>
        </p:spPr>
        <p:txBody>
          <a:bodyPr wrap="none" lIns="0" tIns="0" r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tIns="9525" rIns="28575" bIns="9525" anchor="t">
            <a:spAutoFit/>
          </a:bodyPr>
          <a:lstStyle/>
          <a:p>
            <a:pPr algn="l"/>
            <a:r>
              <a:rPr sz="1100" b="0">
                <a:solidFill>
                  <a:srgbClr val="1F2933"/>
                </a:solidFill>
                <a:latin typeface="Calibri"/>
              </a:rPr>
              <a:t>Caps Cases Ltd.</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5194300" y="2657475"/>
            <a:ext cx="142875" cy="161925"/>
          </a:xfrm>
          <a:prstGeom prst="rect">
            <a:avLst/>
          </a:prstGeom>
          <a:noFill/>
        </p:spPr>
        <p:txBody>
          <a:bodyPr wrap="none" lIns="0" tIns="0" r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tIns="9525" rIns="28575" bIns="9525" anchor="t">
            <a:spAutoFit/>
          </a:bodyPr>
          <a:lstStyle/>
          <a:p>
            <a:pPr algn="l"/>
            <a:r>
              <a:rPr sz="1100" b="0">
                <a:solidFill>
                  <a:srgbClr val="1F2933"/>
                </a:solidFill>
                <a:latin typeface="Calibri"/>
              </a:rPr>
              <a:t>M &amp; M Box &amp; Partitions Co.</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tIns="9525" rIns="28575" bIns="9525" anchor="t">
            <a:spAutoFit/>
          </a:bodyPr>
          <a:lstStyle/>
          <a:p>
            <a:pPr algn="l"/>
            <a:r>
              <a:rPr sz="1100" b="1">
                <a:solidFill>
                  <a:srgbClr val="0F2D52"/>
                </a:solidFill>
                <a:latin typeface="Calibri"/>
              </a:rPr>
              <a:t>Local or niche (4)</a:t>
            </a:r>
          </a:p>
        </p:txBody>
      </p:sp>
      <p:sp>
        <p:nvSpPr>
          <p:cNvPr id="46" name="TextBox 45"/>
          <p:cNvSpPr txBox="1"/>
          <p:nvPr/>
        </p:nvSpPr>
        <p:spPr>
          <a:xfrm>
            <a:off x="190500" y="3638550"/>
            <a:ext cx="1333500" cy="38100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8655050" y="3495675"/>
            <a:ext cx="142875" cy="161925"/>
          </a:xfrm>
          <a:prstGeom prst="rect">
            <a:avLst/>
          </a:prstGeom>
          <a:noFill/>
        </p:spPr>
        <p:txBody>
          <a:bodyPr wrap="none" lIns="0" tIns="0" r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tIns="9525" rIns="28575" bIns="9525" anchor="t">
            <a:spAutoFit/>
          </a:bodyPr>
          <a:lstStyle/>
          <a:p>
            <a:pPr algn="l"/>
            <a:r>
              <a:rPr sz="1100" b="0">
                <a:solidFill>
                  <a:srgbClr val="1F2933"/>
                </a:solidFill>
                <a:latin typeface="Calibri"/>
              </a:rPr>
              <a:t>Martin Partitions</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8655050" y="3686175"/>
            <a:ext cx="142875" cy="161925"/>
          </a:xfrm>
          <a:prstGeom prst="rect">
            <a:avLst/>
          </a:prstGeom>
          <a:noFill/>
        </p:spPr>
        <p:txBody>
          <a:bodyPr wrap="none" lIns="0" tIns="0" r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tIns="9525" rIns="28575" bIns="9525" anchor="t">
            <a:spAutoFit/>
          </a:bodyPr>
          <a:lstStyle/>
          <a:p>
            <a:pPr algn="l"/>
            <a:r>
              <a:rPr sz="1100" b="0">
                <a:solidFill>
                  <a:srgbClr val="1F2933"/>
                </a:solidFill>
                <a:latin typeface="Calibri"/>
              </a:rPr>
              <a:t>Buckeye Corrugated Inc.</a:t>
            </a:r>
          </a:p>
        </p:txBody>
      </p:sp>
      <p:sp>
        <p:nvSpPr>
          <p:cNvPr id="57" name="Rectangle 56"/>
          <p:cNvSpPr/>
          <p:nvPr/>
        </p:nvSpPr>
        <p:spPr>
          <a:xfrm>
            <a:off x="8655050" y="3886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TextBox 57"/>
          <p:cNvSpPr txBox="1"/>
          <p:nvPr/>
        </p:nvSpPr>
        <p:spPr>
          <a:xfrm>
            <a:off x="8655050" y="3876675"/>
            <a:ext cx="142875" cy="161925"/>
          </a:xfrm>
          <a:prstGeom prst="rect">
            <a:avLst/>
          </a:prstGeom>
          <a:noFill/>
        </p:spPr>
        <p:txBody>
          <a:bodyPr wrap="none" lIns="0" tIns="0" rIns="0" bIns="0" anchor="ctr">
            <a:spAutoFit/>
          </a:bodyPr>
          <a:lstStyle/>
          <a:p>
            <a:pPr algn="ctr"/>
            <a:r>
              <a:rPr sz="1100" b="1">
                <a:solidFill>
                  <a:srgbClr val="0F2D52"/>
                </a:solidFill>
                <a:latin typeface="Calibri"/>
              </a:rPr>
              <a:t>3</a:t>
            </a:r>
          </a:p>
        </p:txBody>
      </p:sp>
      <p:sp>
        <p:nvSpPr>
          <p:cNvPr id="59" name="TextBox 58"/>
          <p:cNvSpPr txBox="1"/>
          <p:nvPr/>
        </p:nvSpPr>
        <p:spPr>
          <a:xfrm>
            <a:off x="8845550" y="3867150"/>
            <a:ext cx="3079750" cy="171450"/>
          </a:xfrm>
          <a:prstGeom prst="rect">
            <a:avLst/>
          </a:prstGeom>
          <a:noFill/>
        </p:spPr>
        <p:txBody>
          <a:bodyPr wrap="square" lIns="28575" tIns="9525" rIns="28575" bIns="9525" anchor="t">
            <a:spAutoFit/>
          </a:bodyPr>
          <a:lstStyle/>
          <a:p>
            <a:pPr algn="l"/>
            <a:r>
              <a:rPr sz="1100" b="0">
                <a:solidFill>
                  <a:srgbClr val="1F2933"/>
                </a:solidFill>
                <a:latin typeface="Calibri"/>
              </a:rPr>
              <a:t>Cactus Corrugated Containers Inc.</a:t>
            </a:r>
          </a:p>
        </p:txBody>
      </p:sp>
      <p:sp>
        <p:nvSpPr>
          <p:cNvPr id="60" name="Rectangle 59"/>
          <p:cNvSpPr/>
          <p:nvPr/>
        </p:nvSpPr>
        <p:spPr>
          <a:xfrm>
            <a:off x="8655050" y="4076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8655050" y="4067175"/>
            <a:ext cx="142875" cy="161925"/>
          </a:xfrm>
          <a:prstGeom prst="rect">
            <a:avLst/>
          </a:prstGeom>
          <a:noFill/>
        </p:spPr>
        <p:txBody>
          <a:bodyPr wrap="none" lIns="0" tIns="0" rIns="0" bIns="0" anchor="ctr">
            <a:spAutoFit/>
          </a:bodyPr>
          <a:lstStyle/>
          <a:p>
            <a:pPr algn="ctr"/>
            <a:r>
              <a:rPr sz="1100" b="1">
                <a:solidFill>
                  <a:srgbClr val="0F2D52"/>
                </a:solidFill>
                <a:latin typeface="Calibri"/>
              </a:rPr>
              <a:t>3</a:t>
            </a:r>
          </a:p>
        </p:txBody>
      </p:sp>
      <p:sp>
        <p:nvSpPr>
          <p:cNvPr id="62" name="TextBox 61"/>
          <p:cNvSpPr txBox="1"/>
          <p:nvPr/>
        </p:nvSpPr>
        <p:spPr>
          <a:xfrm>
            <a:off x="8845550" y="4057650"/>
            <a:ext cx="3079750" cy="171450"/>
          </a:xfrm>
          <a:prstGeom prst="rect">
            <a:avLst/>
          </a:prstGeom>
          <a:noFill/>
        </p:spPr>
        <p:txBody>
          <a:bodyPr wrap="square" lIns="28575" tIns="9525" rIns="28575" bIns="9525" anchor="t">
            <a:spAutoFit/>
          </a:bodyPr>
          <a:lstStyle/>
          <a:p>
            <a:pPr algn="l"/>
            <a:r>
              <a:rPr sz="1100" b="0">
                <a:solidFill>
                  <a:srgbClr val="1F2933"/>
                </a:solidFill>
                <a:latin typeface="Calibri"/>
              </a:rPr>
              <a:t>Jarrett Industries Inc.</a:t>
            </a:r>
          </a:p>
        </p:txBody>
      </p:sp>
      <p:sp>
        <p:nvSpPr>
          <p:cNvPr id="63" name="Rectangle 62"/>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361950" y="4476750"/>
            <a:ext cx="476250" cy="209550"/>
          </a:xfrm>
          <a:prstGeom prst="rect">
            <a:avLst/>
          </a:prstGeom>
          <a:noFill/>
        </p:spPr>
        <p:txBody>
          <a:bodyPr wrap="square" lIns="28575" tIns="9525" rIns="28575" bIns="9525" anchor="ctr">
            <a:spAutoFit/>
          </a:bodyPr>
          <a:lstStyle/>
          <a:p>
            <a:pPr algn="l"/>
            <a:r>
              <a:rPr sz="1100" b="0">
                <a:solidFill>
                  <a:srgbClr val="1F2933"/>
                </a:solidFill>
                <a:latin typeface="Calibri"/>
              </a:rPr>
              <a:t>Tier 1</a:t>
            </a:r>
          </a:p>
        </p:txBody>
      </p:sp>
      <p:sp>
        <p:nvSpPr>
          <p:cNvPr id="65" name="TextBox 64"/>
          <p:cNvSpPr txBox="1"/>
          <p:nvPr/>
        </p:nvSpPr>
        <p:spPr>
          <a:xfrm>
            <a:off x="819150" y="4476750"/>
            <a:ext cx="609600" cy="209550"/>
          </a:xfrm>
          <a:prstGeom prst="rect">
            <a:avLst/>
          </a:prstGeom>
          <a:noFill/>
        </p:spPr>
        <p:txBody>
          <a:bodyPr wrap="square" lIns="28575" tIns="9525" rIns="28575" bIns="9525" anchor="ctr">
            <a:spAutoFit/>
          </a:bodyPr>
          <a:lstStyle/>
          <a:p>
            <a:pPr algn="l"/>
            <a:r>
              <a:rPr sz="1100" b="1">
                <a:solidFill>
                  <a:srgbClr val="1F2933"/>
                </a:solidFill>
                <a:latin typeface="Calibri"/>
              </a:rPr>
              <a:t> </a:t>
            </a:r>
          </a:p>
        </p:txBody>
      </p:sp>
      <p:sp>
        <p:nvSpPr>
          <p:cNvPr id="66" name="TextBox 65"/>
          <p:cNvSpPr txBox="1"/>
          <p:nvPr/>
        </p:nvSpPr>
        <p:spPr>
          <a:xfrm>
            <a:off x="1447800" y="4476750"/>
            <a:ext cx="1238250" cy="209550"/>
          </a:xfrm>
          <a:prstGeom prst="rect">
            <a:avLst/>
          </a:prstGeom>
          <a:noFill/>
        </p:spPr>
        <p:txBody>
          <a:bodyPr wrap="square" lIns="28575" tIns="9525" rIns="28575" bIns="9525" anchor="ctr">
            <a:spAutoFit/>
          </a:bodyPr>
          <a:lstStyle/>
          <a:p>
            <a:pPr algn="l"/>
            <a:r>
              <a:rPr sz="1100" b="0">
                <a:solidFill>
                  <a:srgbClr val="1F2933"/>
                </a:solidFill>
                <a:latin typeface="Calibri"/>
              </a:rPr>
              <a:t>combined share</a:t>
            </a:r>
          </a:p>
        </p:txBody>
      </p:sp>
      <p:sp>
        <p:nvSpPr>
          <p:cNvPr id="67" name="Rectangle 66"/>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TextBox 67"/>
          <p:cNvSpPr txBox="1"/>
          <p:nvPr/>
        </p:nvSpPr>
        <p:spPr>
          <a:xfrm>
            <a:off x="3124200" y="4476750"/>
            <a:ext cx="476250" cy="209550"/>
          </a:xfrm>
          <a:prstGeom prst="rect">
            <a:avLst/>
          </a:prstGeom>
          <a:noFill/>
        </p:spPr>
        <p:txBody>
          <a:bodyPr wrap="square" lIns="28575" tIns="9525" rIns="28575" bIns="9525" anchor="ctr">
            <a:spAutoFit/>
          </a:bodyPr>
          <a:lstStyle/>
          <a:p>
            <a:pPr algn="l"/>
            <a:r>
              <a:rPr sz="1100" b="0">
                <a:solidFill>
                  <a:srgbClr val="1F2933"/>
                </a:solidFill>
                <a:latin typeface="Calibri"/>
              </a:rPr>
              <a:t>Tier 2</a:t>
            </a:r>
          </a:p>
        </p:txBody>
      </p:sp>
      <p:sp>
        <p:nvSpPr>
          <p:cNvPr id="69" name="TextBox 68"/>
          <p:cNvSpPr txBox="1"/>
          <p:nvPr/>
        </p:nvSpPr>
        <p:spPr>
          <a:xfrm>
            <a:off x="3581400" y="4476750"/>
            <a:ext cx="609600" cy="209550"/>
          </a:xfrm>
          <a:prstGeom prst="rect">
            <a:avLst/>
          </a:prstGeom>
          <a:noFill/>
        </p:spPr>
        <p:txBody>
          <a:bodyPr wrap="square" lIns="28575" tIns="9525" rIns="28575" bIns="9525" anchor="ctr">
            <a:spAutoFit/>
          </a:bodyPr>
          <a:lstStyle/>
          <a:p>
            <a:pPr algn="l"/>
            <a:r>
              <a:rPr sz="1100" b="1">
                <a:solidFill>
                  <a:srgbClr val="1F2933"/>
                </a:solidFill>
                <a:latin typeface="Calibri"/>
              </a:rPr>
              <a:t> </a:t>
            </a:r>
          </a:p>
        </p:txBody>
      </p:sp>
      <p:sp>
        <p:nvSpPr>
          <p:cNvPr id="70" name="TextBox 69"/>
          <p:cNvSpPr txBox="1"/>
          <p:nvPr/>
        </p:nvSpPr>
        <p:spPr>
          <a:xfrm>
            <a:off x="4210050" y="4476750"/>
            <a:ext cx="1238250" cy="209550"/>
          </a:xfrm>
          <a:prstGeom prst="rect">
            <a:avLst/>
          </a:prstGeom>
          <a:noFill/>
        </p:spPr>
        <p:txBody>
          <a:bodyPr wrap="square" lIns="28575" tIns="9525" rIns="28575" bIns="9525" anchor="ctr">
            <a:spAutoFit/>
          </a:bodyPr>
          <a:lstStyle/>
          <a:p>
            <a:pPr algn="l"/>
            <a:r>
              <a:rPr sz="1100" b="0">
                <a:solidFill>
                  <a:srgbClr val="1F2933"/>
                </a:solidFill>
                <a:latin typeface="Calibri"/>
              </a:rPr>
              <a:t>combined share</a:t>
            </a:r>
          </a:p>
        </p:txBody>
      </p:sp>
      <p:sp>
        <p:nvSpPr>
          <p:cNvPr id="71" name="Rectangle 70"/>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2" name="TextBox 71"/>
          <p:cNvSpPr txBox="1"/>
          <p:nvPr/>
        </p:nvSpPr>
        <p:spPr>
          <a:xfrm>
            <a:off x="5886450" y="4476750"/>
            <a:ext cx="476250" cy="209550"/>
          </a:xfrm>
          <a:prstGeom prst="rect">
            <a:avLst/>
          </a:prstGeom>
          <a:noFill/>
        </p:spPr>
        <p:txBody>
          <a:bodyPr wrap="square" lIns="28575" tIns="9525" rIns="28575" bIns="9525" anchor="ctr">
            <a:spAutoFit/>
          </a:bodyPr>
          <a:lstStyle/>
          <a:p>
            <a:pPr algn="l"/>
            <a:r>
              <a:rPr sz="1100" b="0">
                <a:solidFill>
                  <a:srgbClr val="1F2933"/>
                </a:solidFill>
                <a:latin typeface="Calibri"/>
              </a:rPr>
              <a:t>Tier 3</a:t>
            </a:r>
          </a:p>
        </p:txBody>
      </p:sp>
      <p:sp>
        <p:nvSpPr>
          <p:cNvPr id="73" name="TextBox 72"/>
          <p:cNvSpPr txBox="1"/>
          <p:nvPr/>
        </p:nvSpPr>
        <p:spPr>
          <a:xfrm>
            <a:off x="6343650" y="4476750"/>
            <a:ext cx="609600" cy="209550"/>
          </a:xfrm>
          <a:prstGeom prst="rect">
            <a:avLst/>
          </a:prstGeom>
          <a:noFill/>
        </p:spPr>
        <p:txBody>
          <a:bodyPr wrap="square" lIns="28575" tIns="9525" rIns="28575" bIns="9525" anchor="ctr">
            <a:spAutoFit/>
          </a:bodyPr>
          <a:lstStyle/>
          <a:p>
            <a:pPr algn="l"/>
            <a:r>
              <a:rPr sz="1100" b="1">
                <a:solidFill>
                  <a:srgbClr val="1F2933"/>
                </a:solidFill>
                <a:latin typeface="Calibri"/>
              </a:rPr>
              <a:t> </a:t>
            </a:r>
          </a:p>
        </p:txBody>
      </p:sp>
      <p:sp>
        <p:nvSpPr>
          <p:cNvPr id="74" name="TextBox 73"/>
          <p:cNvSpPr txBox="1"/>
          <p:nvPr/>
        </p:nvSpPr>
        <p:spPr>
          <a:xfrm>
            <a:off x="6972300" y="4476750"/>
            <a:ext cx="1238250" cy="209550"/>
          </a:xfrm>
          <a:prstGeom prst="rect">
            <a:avLst/>
          </a:prstGeom>
          <a:noFill/>
        </p:spPr>
        <p:txBody>
          <a:bodyPr wrap="square" lIns="28575" tIns="9525" rIns="28575" bIns="9525" anchor="ctr">
            <a:spAutoFit/>
          </a:bodyPr>
          <a:lstStyle/>
          <a:p>
            <a:pPr algn="l"/>
            <a:r>
              <a:rPr sz="1100" b="0">
                <a:solidFill>
                  <a:srgbClr val="1F2933"/>
                </a:solidFill>
                <a:latin typeface="Calibri"/>
              </a:rPr>
              <a:t>combined share</a:t>
            </a:r>
          </a:p>
        </p:txBody>
      </p:sp>
      <p:sp>
        <p:nvSpPr>
          <p:cNvPr id="75" name="TextBox 74"/>
          <p:cNvSpPr txBox="1"/>
          <p:nvPr/>
        </p:nvSpPr>
        <p:spPr>
          <a:xfrm>
            <a:off x="190500" y="4705350"/>
            <a:ext cx="11811000" cy="171450"/>
          </a:xfrm>
          <a:prstGeom prst="rect">
            <a:avLst/>
          </a:prstGeom>
          <a:noFill/>
        </p:spPr>
        <p:txBody>
          <a:bodyPr wrap="square" lIns="28575" tIns="9525" rIns="28575" bIns="9525" anchor="t">
            <a:spAutoFit/>
          </a:bodyPr>
          <a:lstStyle/>
          <a:p>
            <a:pPr algn="l"/>
            <a:r>
              <a:rPr sz="1100" b="0">
                <a:solidFill>
                  <a:srgbClr val="1F2933"/>
                </a:solidFill>
                <a:latin typeface="Calibri"/>
              </a:rPr>
              <a:t>BY TYPE   Tier 1 4   |   Tier 2 2   |   Tier 3 4      BY REACH   Global 4   |   Regional 2   |   Local or niche 4</a:t>
            </a:r>
          </a:p>
        </p:txBody>
      </p:sp>
      <p:sp>
        <p:nvSpPr>
          <p:cNvPr id="76" name="Rectangle 75"/>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p:cNvSpPr txBox="1"/>
          <p:nvPr/>
        </p:nvSpPr>
        <p:spPr>
          <a:xfrm>
            <a:off x="190500" y="5048250"/>
            <a:ext cx="2809875" cy="171450"/>
          </a:xfrm>
          <a:prstGeom prst="rect">
            <a:avLst/>
          </a:prstGeom>
          <a:noFill/>
        </p:spPr>
        <p:txBody>
          <a:bodyPr wrap="square" lIns="28575" tIns="9525" rIns="28575" bIns="9525" anchor="t">
            <a:spAutoFit/>
          </a:bodyPr>
          <a:lstStyle/>
          <a:p>
            <a:pPr algn="l"/>
            <a:r>
              <a:rPr sz="1100" b="1">
                <a:solidFill>
                  <a:srgbClr val="1F2933"/>
                </a:solidFill>
                <a:latin typeface="Calibri"/>
              </a:rPr>
              <a:t>Tier 1</a:t>
            </a:r>
          </a:p>
        </p:txBody>
      </p:sp>
      <p:sp>
        <p:nvSpPr>
          <p:cNvPr id="78" name="TextBox 77"/>
          <p:cNvSpPr txBox="1"/>
          <p:nvPr/>
        </p:nvSpPr>
        <p:spPr>
          <a:xfrm>
            <a:off x="190500" y="5219700"/>
            <a:ext cx="2809875" cy="152400"/>
          </a:xfrm>
          <a:prstGeom prst="rect">
            <a:avLst/>
          </a:prstGeom>
          <a:noFill/>
        </p:spPr>
        <p:txBody>
          <a:bodyPr wrap="square" lIns="28575" tIns="9525" rIns="28575" bIns="9525" anchor="t">
            <a:spAutoFit/>
          </a:bodyPr>
          <a:lstStyle/>
          <a:p>
            <a:pPr algn="l"/>
            <a:r>
              <a:rPr sz="1100" b="1">
                <a:solidFill>
                  <a:srgbClr val="0F2D52"/>
                </a:solidFill>
                <a:latin typeface="Calibri"/>
              </a:rPr>
              <a:t>HOW IT EARNS</a:t>
            </a:r>
          </a:p>
        </p:txBody>
      </p:sp>
      <p:sp>
        <p:nvSpPr>
          <p:cNvPr id="79" name="TextBox 78"/>
          <p:cNvSpPr txBox="1"/>
          <p:nvPr/>
        </p:nvSpPr>
        <p:spPr>
          <a:xfrm>
            <a:off x="190500" y="5372100"/>
            <a:ext cx="2809875"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Direct + key accounts; premium / bundled positioning.</a:t>
            </a:r>
          </a:p>
        </p:txBody>
      </p:sp>
      <p:sp>
        <p:nvSpPr>
          <p:cNvPr id="80" name="TextBox 79"/>
          <p:cNvSpPr txBox="1"/>
          <p:nvPr/>
        </p:nvSpPr>
        <p:spPr>
          <a:xfrm>
            <a:off x="190500" y="5715000"/>
            <a:ext cx="2809875" cy="152400"/>
          </a:xfrm>
          <a:prstGeom prst="rect">
            <a:avLst/>
          </a:prstGeom>
          <a:noFill/>
        </p:spPr>
        <p:txBody>
          <a:bodyPr wrap="square" lIns="28575" tIns="9525" rIns="28575" bIns="9525" anchor="t">
            <a:spAutoFit/>
          </a:bodyPr>
          <a:lstStyle/>
          <a:p>
            <a:pPr algn="l"/>
            <a:r>
              <a:rPr sz="1100" b="1">
                <a:solidFill>
                  <a:srgbClr val="0F2D52"/>
                </a:solidFill>
                <a:latin typeface="Calibri"/>
              </a:rPr>
              <a:t>DOMINANT STRATEGY</a:t>
            </a:r>
          </a:p>
        </p:txBody>
      </p:sp>
      <p:sp>
        <p:nvSpPr>
          <p:cNvPr id="81" name="TextBox 80"/>
          <p:cNvSpPr txBox="1"/>
          <p:nvPr/>
        </p:nvSpPr>
        <p:spPr>
          <a:xfrm>
            <a:off x="190500" y="5867400"/>
            <a:ext cx="2809875" cy="342900"/>
          </a:xfrm>
          <a:prstGeom prst="rect">
            <a:avLst/>
          </a:prstGeom>
          <a:noFill/>
        </p:spPr>
        <p:txBody>
          <a:bodyPr wrap="square" lIns="28575" tIns="9525" rIns="28575" bIns="9525" anchor="t">
            <a:spAutoFit/>
          </a:bodyPr>
          <a:lstStyle/>
          <a:p>
            <a:pPr algn="l">
              <a:lnSpc>
                <a:spcPct val="115000"/>
              </a:lnSpc>
            </a:pPr>
            <a:endParaRPr/>
          </a:p>
        </p:txBody>
      </p:sp>
      <p:sp>
        <p:nvSpPr>
          <p:cNvPr id="82" name="Rectangle 81"/>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p:cNvSpPr txBox="1"/>
          <p:nvPr/>
        </p:nvSpPr>
        <p:spPr>
          <a:xfrm>
            <a:off x="3190875" y="5048250"/>
            <a:ext cx="2809875" cy="171450"/>
          </a:xfrm>
          <a:prstGeom prst="rect">
            <a:avLst/>
          </a:prstGeom>
          <a:noFill/>
        </p:spPr>
        <p:txBody>
          <a:bodyPr wrap="square" lIns="28575" tIns="9525" rIns="28575" bIns="9525" anchor="t">
            <a:spAutoFit/>
          </a:bodyPr>
          <a:lstStyle/>
          <a:p>
            <a:pPr algn="l"/>
            <a:r>
              <a:rPr sz="1100" b="1">
                <a:solidFill>
                  <a:srgbClr val="1F2933"/>
                </a:solidFill>
                <a:latin typeface="Calibri"/>
              </a:rPr>
              <a:t>Tier 2</a:t>
            </a:r>
          </a:p>
        </p:txBody>
      </p:sp>
      <p:sp>
        <p:nvSpPr>
          <p:cNvPr id="84" name="TextBox 83"/>
          <p:cNvSpPr txBox="1"/>
          <p:nvPr/>
        </p:nvSpPr>
        <p:spPr>
          <a:xfrm>
            <a:off x="3190875" y="5219700"/>
            <a:ext cx="2809875" cy="152400"/>
          </a:xfrm>
          <a:prstGeom prst="rect">
            <a:avLst/>
          </a:prstGeom>
          <a:noFill/>
        </p:spPr>
        <p:txBody>
          <a:bodyPr wrap="square" lIns="28575" tIns="9525" rIns="28575" bIns="9525" anchor="t">
            <a:spAutoFit/>
          </a:bodyPr>
          <a:lstStyle/>
          <a:p>
            <a:pPr algn="l"/>
            <a:r>
              <a:rPr sz="1100" b="1">
                <a:solidFill>
                  <a:srgbClr val="0F2D52"/>
                </a:solidFill>
                <a:latin typeface="Calibri"/>
              </a:rPr>
              <a:t>HOW IT EARNS</a:t>
            </a:r>
          </a:p>
        </p:txBody>
      </p:sp>
      <p:sp>
        <p:nvSpPr>
          <p:cNvPr id="85" name="TextBox 84"/>
          <p:cNvSpPr txBox="1"/>
          <p:nvPr/>
        </p:nvSpPr>
        <p:spPr>
          <a:xfrm>
            <a:off x="3190875" y="5372100"/>
            <a:ext cx="2809875"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Distributors; mid / value-added positioning.</a:t>
            </a:r>
          </a:p>
        </p:txBody>
      </p:sp>
      <p:sp>
        <p:nvSpPr>
          <p:cNvPr id="86" name="TextBox 85"/>
          <p:cNvSpPr txBox="1"/>
          <p:nvPr/>
        </p:nvSpPr>
        <p:spPr>
          <a:xfrm>
            <a:off x="3190875" y="5715000"/>
            <a:ext cx="2809875" cy="152400"/>
          </a:xfrm>
          <a:prstGeom prst="rect">
            <a:avLst/>
          </a:prstGeom>
          <a:noFill/>
        </p:spPr>
        <p:txBody>
          <a:bodyPr wrap="square" lIns="28575" tIns="9525" rIns="28575" bIns="9525" anchor="t">
            <a:spAutoFit/>
          </a:bodyPr>
          <a:lstStyle/>
          <a:p>
            <a:pPr algn="l"/>
            <a:r>
              <a:rPr sz="1100" b="1">
                <a:solidFill>
                  <a:srgbClr val="0F2D52"/>
                </a:solidFill>
                <a:latin typeface="Calibri"/>
              </a:rPr>
              <a:t>DOMINANT STRATEGY</a:t>
            </a:r>
          </a:p>
        </p:txBody>
      </p:sp>
      <p:sp>
        <p:nvSpPr>
          <p:cNvPr id="87" name="TextBox 86"/>
          <p:cNvSpPr txBox="1"/>
          <p:nvPr/>
        </p:nvSpPr>
        <p:spPr>
          <a:xfrm>
            <a:off x="3190875" y="5867400"/>
            <a:ext cx="2809875" cy="342900"/>
          </a:xfrm>
          <a:prstGeom prst="rect">
            <a:avLst/>
          </a:prstGeom>
          <a:noFill/>
        </p:spPr>
        <p:txBody>
          <a:bodyPr wrap="square" lIns="28575" tIns="9525" rIns="28575" bIns="9525" anchor="t">
            <a:spAutoFit/>
          </a:bodyPr>
          <a:lstStyle/>
          <a:p>
            <a:pPr algn="l">
              <a:lnSpc>
                <a:spcPct val="115000"/>
              </a:lnSpc>
            </a:pPr>
            <a:endParaRPr/>
          </a:p>
        </p:txBody>
      </p:sp>
      <p:sp>
        <p:nvSpPr>
          <p:cNvPr id="88" name="Rectangle 87"/>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TextBox 88"/>
          <p:cNvSpPr txBox="1"/>
          <p:nvPr/>
        </p:nvSpPr>
        <p:spPr>
          <a:xfrm>
            <a:off x="6191250" y="5048250"/>
            <a:ext cx="2809875" cy="171450"/>
          </a:xfrm>
          <a:prstGeom prst="rect">
            <a:avLst/>
          </a:prstGeom>
          <a:noFill/>
        </p:spPr>
        <p:txBody>
          <a:bodyPr wrap="square" lIns="28575" tIns="9525" rIns="28575" bIns="9525" anchor="t">
            <a:spAutoFit/>
          </a:bodyPr>
          <a:lstStyle/>
          <a:p>
            <a:pPr algn="l"/>
            <a:r>
              <a:rPr sz="1100" b="1">
                <a:solidFill>
                  <a:srgbClr val="1F2933"/>
                </a:solidFill>
                <a:latin typeface="Calibri"/>
              </a:rPr>
              <a:t>Tier 3</a:t>
            </a:r>
          </a:p>
        </p:txBody>
      </p:sp>
      <p:sp>
        <p:nvSpPr>
          <p:cNvPr id="90" name="TextBox 89"/>
          <p:cNvSpPr txBox="1"/>
          <p:nvPr/>
        </p:nvSpPr>
        <p:spPr>
          <a:xfrm>
            <a:off x="6191250" y="5219700"/>
            <a:ext cx="2809875" cy="152400"/>
          </a:xfrm>
          <a:prstGeom prst="rect">
            <a:avLst/>
          </a:prstGeom>
          <a:noFill/>
        </p:spPr>
        <p:txBody>
          <a:bodyPr wrap="square" lIns="28575" tIns="9525" rIns="28575" bIns="9525" anchor="t">
            <a:spAutoFit/>
          </a:bodyPr>
          <a:lstStyle/>
          <a:p>
            <a:pPr algn="l"/>
            <a:r>
              <a:rPr sz="1100" b="1">
                <a:solidFill>
                  <a:srgbClr val="0F2D52"/>
                </a:solidFill>
                <a:latin typeface="Calibri"/>
              </a:rPr>
              <a:t>HOW IT EARNS</a:t>
            </a:r>
          </a:p>
        </p:txBody>
      </p:sp>
      <p:sp>
        <p:nvSpPr>
          <p:cNvPr id="91" name="TextBox 90"/>
          <p:cNvSpPr txBox="1"/>
          <p:nvPr/>
        </p:nvSpPr>
        <p:spPr>
          <a:xfrm>
            <a:off x="6191250" y="5372100"/>
            <a:ext cx="2809875"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Regional partners; value / entry positioning.</a:t>
            </a:r>
          </a:p>
        </p:txBody>
      </p:sp>
      <p:sp>
        <p:nvSpPr>
          <p:cNvPr id="92" name="TextBox 91"/>
          <p:cNvSpPr txBox="1"/>
          <p:nvPr/>
        </p:nvSpPr>
        <p:spPr>
          <a:xfrm>
            <a:off x="6191250" y="5715000"/>
            <a:ext cx="2809875" cy="152400"/>
          </a:xfrm>
          <a:prstGeom prst="rect">
            <a:avLst/>
          </a:prstGeom>
          <a:noFill/>
        </p:spPr>
        <p:txBody>
          <a:bodyPr wrap="square" lIns="28575" tIns="9525" rIns="28575" bIns="9525" anchor="t">
            <a:spAutoFit/>
          </a:bodyPr>
          <a:lstStyle/>
          <a:p>
            <a:pPr algn="l"/>
            <a:r>
              <a:rPr sz="1100" b="1">
                <a:solidFill>
                  <a:srgbClr val="0F2D52"/>
                </a:solidFill>
                <a:latin typeface="Calibri"/>
              </a:rPr>
              <a:t>DOMINANT STRATEGY</a:t>
            </a:r>
          </a:p>
        </p:txBody>
      </p:sp>
      <p:sp>
        <p:nvSpPr>
          <p:cNvPr id="93" name="TextBox 92"/>
          <p:cNvSpPr txBox="1"/>
          <p:nvPr/>
        </p:nvSpPr>
        <p:spPr>
          <a:xfrm>
            <a:off x="6191250" y="5867400"/>
            <a:ext cx="2809875" cy="342900"/>
          </a:xfrm>
          <a:prstGeom prst="rect">
            <a:avLst/>
          </a:prstGeom>
          <a:noFill/>
        </p:spPr>
        <p:txBody>
          <a:bodyPr wrap="square" lIns="28575" tIns="9525" rIns="28575" bIns="9525" anchor="t">
            <a:spAutoFit/>
          </a:bodyPr>
          <a:lstStyle/>
          <a:p>
            <a:pPr algn="l">
              <a:lnSpc>
                <a:spcPct val="115000"/>
              </a:lnSpc>
            </a:pPr>
            <a:endParaRPr/>
          </a:p>
        </p:txBody>
      </p:sp>
      <p:sp>
        <p:nvSpPr>
          <p:cNvPr id="94" name="TextBox 9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95" name="Picture 94" descr="lock.png"/>
          <p:cNvPicPr>
            <a:picLocks noChangeAspect="1"/>
          </p:cNvPicPr>
          <p:nvPr/>
        </p:nvPicPr>
        <p:blipFill>
          <a:blip r:embed="rId4"/>
          <a:stretch>
            <a:fillRect/>
          </a:stretch>
        </p:blipFill>
        <p:spPr>
          <a:xfrm>
            <a:off x="1059600" y="4487926"/>
            <a:ext cx="128699" cy="187198"/>
          </a:xfrm>
          <a:prstGeom prst="rect">
            <a:avLst/>
          </a:prstGeom>
        </p:spPr>
      </p:pic>
      <p:pic>
        <p:nvPicPr>
          <p:cNvPr id="96" name="Picture 95" descr="lock.png"/>
          <p:cNvPicPr>
            <a:picLocks noChangeAspect="1"/>
          </p:cNvPicPr>
          <p:nvPr/>
        </p:nvPicPr>
        <p:blipFill>
          <a:blip r:embed="rId4"/>
          <a:stretch>
            <a:fillRect/>
          </a:stretch>
        </p:blipFill>
        <p:spPr>
          <a:xfrm>
            <a:off x="3821850" y="4487926"/>
            <a:ext cx="128699" cy="187198"/>
          </a:xfrm>
          <a:prstGeom prst="rect">
            <a:avLst/>
          </a:prstGeom>
        </p:spPr>
      </p:pic>
      <p:pic>
        <p:nvPicPr>
          <p:cNvPr id="97" name="Picture 96" descr="lock.png"/>
          <p:cNvPicPr>
            <a:picLocks noChangeAspect="1"/>
          </p:cNvPicPr>
          <p:nvPr/>
        </p:nvPicPr>
        <p:blipFill>
          <a:blip r:embed="rId4"/>
          <a:stretch>
            <a:fillRect/>
          </a:stretch>
        </p:blipFill>
        <p:spPr>
          <a:xfrm>
            <a:off x="6584100" y="4487926"/>
            <a:ext cx="128699" cy="187198"/>
          </a:xfrm>
          <a:prstGeom prst="rect">
            <a:avLst/>
          </a:prstGeom>
        </p:spPr>
      </p:pic>
      <p:sp>
        <p:nvSpPr>
          <p:cNvPr id="98" name="TextBox 97"/>
          <p:cNvSpPr txBox="1"/>
          <p:nvPr/>
        </p:nvSpPr>
        <p:spPr>
          <a:xfrm>
            <a:off x="219075" y="5876925"/>
            <a:ext cx="792708" cy="186689"/>
          </a:xfrm>
          <a:prstGeom prst="rect">
            <a:avLst/>
          </a:prstGeom>
          <a:noFill/>
        </p:spPr>
        <p:txBody>
          <a:bodyPr wrap="none" lIns="0" tIns="0" rIns="0" bIns="0">
            <a:spAutoFit/>
          </a:bodyPr>
          <a:lstStyle/>
          <a:p>
            <a:r>
              <a:rPr sz="1100" b="0">
                <a:solidFill>
                  <a:srgbClr val="1F2933"/>
                </a:solidFill>
                <a:latin typeface="Calibri"/>
              </a:rPr>
              <a:t>Buy to scale;</a:t>
            </a:r>
          </a:p>
        </p:txBody>
      </p:sp>
      <p:pic>
        <p:nvPicPr>
          <p:cNvPr id="99" name="Picture 98" descr="lock.png"/>
          <p:cNvPicPr>
            <a:picLocks noChangeAspect="1"/>
          </p:cNvPicPr>
          <p:nvPr/>
        </p:nvPicPr>
        <p:blipFill>
          <a:blip r:embed="rId4"/>
          <a:stretch>
            <a:fillRect/>
          </a:stretch>
        </p:blipFill>
        <p:spPr>
          <a:xfrm>
            <a:off x="959834" y="5867145"/>
            <a:ext cx="128699" cy="187198"/>
          </a:xfrm>
          <a:prstGeom prst="rect">
            <a:avLst/>
          </a:prstGeom>
        </p:spPr>
      </p:pic>
      <p:sp>
        <p:nvSpPr>
          <p:cNvPr id="100" name="TextBox 99"/>
          <p:cNvSpPr txBox="1"/>
          <p:nvPr/>
        </p:nvSpPr>
        <p:spPr>
          <a:xfrm>
            <a:off x="1127330" y="5876925"/>
            <a:ext cx="1022722" cy="186689"/>
          </a:xfrm>
          <a:prstGeom prst="rect">
            <a:avLst/>
          </a:prstGeom>
          <a:noFill/>
        </p:spPr>
        <p:txBody>
          <a:bodyPr wrap="none" lIns="0" tIns="0" rIns="0" bIns="0">
            <a:spAutoFit/>
          </a:bodyPr>
          <a:lstStyle/>
          <a:p>
            <a:r>
              <a:rPr sz="1100" b="0">
                <a:solidFill>
                  <a:srgbClr val="1F2933"/>
                </a:solidFill>
                <a:latin typeface="Calibri"/>
              </a:rPr>
              <a:t>combined share.</a:t>
            </a:r>
          </a:p>
        </p:txBody>
      </p:sp>
      <p:sp>
        <p:nvSpPr>
          <p:cNvPr id="101" name="TextBox 100"/>
          <p:cNvSpPr txBox="1"/>
          <p:nvPr/>
        </p:nvSpPr>
        <p:spPr>
          <a:xfrm>
            <a:off x="3219450" y="5876925"/>
            <a:ext cx="792708" cy="186689"/>
          </a:xfrm>
          <a:prstGeom prst="rect">
            <a:avLst/>
          </a:prstGeom>
          <a:noFill/>
        </p:spPr>
        <p:txBody>
          <a:bodyPr wrap="none" lIns="0" tIns="0" rIns="0" bIns="0">
            <a:spAutoFit/>
          </a:bodyPr>
          <a:lstStyle/>
          <a:p>
            <a:r>
              <a:rPr sz="1100" b="0">
                <a:solidFill>
                  <a:srgbClr val="1F2933"/>
                </a:solidFill>
                <a:latin typeface="Calibri"/>
              </a:rPr>
              <a:t>Buy to scale;</a:t>
            </a:r>
          </a:p>
        </p:txBody>
      </p:sp>
      <p:pic>
        <p:nvPicPr>
          <p:cNvPr id="102" name="Picture 101" descr="lock.png"/>
          <p:cNvPicPr>
            <a:picLocks noChangeAspect="1"/>
          </p:cNvPicPr>
          <p:nvPr/>
        </p:nvPicPr>
        <p:blipFill>
          <a:blip r:embed="rId4"/>
          <a:stretch>
            <a:fillRect/>
          </a:stretch>
        </p:blipFill>
        <p:spPr>
          <a:xfrm>
            <a:off x="3960209" y="5867145"/>
            <a:ext cx="128699" cy="187198"/>
          </a:xfrm>
          <a:prstGeom prst="rect">
            <a:avLst/>
          </a:prstGeom>
        </p:spPr>
      </p:pic>
      <p:sp>
        <p:nvSpPr>
          <p:cNvPr id="103" name="TextBox 102"/>
          <p:cNvSpPr txBox="1"/>
          <p:nvPr/>
        </p:nvSpPr>
        <p:spPr>
          <a:xfrm>
            <a:off x="4127705" y="5876925"/>
            <a:ext cx="1022722" cy="186689"/>
          </a:xfrm>
          <a:prstGeom prst="rect">
            <a:avLst/>
          </a:prstGeom>
          <a:noFill/>
        </p:spPr>
        <p:txBody>
          <a:bodyPr wrap="none" lIns="0" tIns="0" rIns="0" bIns="0">
            <a:spAutoFit/>
          </a:bodyPr>
          <a:lstStyle/>
          <a:p>
            <a:r>
              <a:rPr sz="1100" b="0">
                <a:solidFill>
                  <a:srgbClr val="1F2933"/>
                </a:solidFill>
                <a:latin typeface="Calibri"/>
              </a:rPr>
              <a:t>combined share.</a:t>
            </a:r>
          </a:p>
        </p:txBody>
      </p:sp>
      <p:sp>
        <p:nvSpPr>
          <p:cNvPr id="104" name="TextBox 103"/>
          <p:cNvSpPr txBox="1"/>
          <p:nvPr/>
        </p:nvSpPr>
        <p:spPr>
          <a:xfrm>
            <a:off x="6219825" y="5876925"/>
            <a:ext cx="792708" cy="186689"/>
          </a:xfrm>
          <a:prstGeom prst="rect">
            <a:avLst/>
          </a:prstGeom>
          <a:noFill/>
        </p:spPr>
        <p:txBody>
          <a:bodyPr wrap="none" lIns="0" tIns="0" rIns="0" bIns="0">
            <a:spAutoFit/>
          </a:bodyPr>
          <a:lstStyle/>
          <a:p>
            <a:r>
              <a:rPr sz="1100" b="0">
                <a:solidFill>
                  <a:srgbClr val="1F2933"/>
                </a:solidFill>
                <a:latin typeface="Calibri"/>
              </a:rPr>
              <a:t>Buy to scale;</a:t>
            </a:r>
          </a:p>
        </p:txBody>
      </p:sp>
      <p:pic>
        <p:nvPicPr>
          <p:cNvPr id="105" name="Picture 104" descr="lock.png"/>
          <p:cNvPicPr>
            <a:picLocks noChangeAspect="1"/>
          </p:cNvPicPr>
          <p:nvPr/>
        </p:nvPicPr>
        <p:blipFill>
          <a:blip r:embed="rId4"/>
          <a:stretch>
            <a:fillRect/>
          </a:stretch>
        </p:blipFill>
        <p:spPr>
          <a:xfrm>
            <a:off x="6960584" y="5867145"/>
            <a:ext cx="128699" cy="187198"/>
          </a:xfrm>
          <a:prstGeom prst="rect">
            <a:avLst/>
          </a:prstGeom>
        </p:spPr>
      </p:pic>
      <p:sp>
        <p:nvSpPr>
          <p:cNvPr id="106" name="TextBox 105"/>
          <p:cNvSpPr txBox="1"/>
          <p:nvPr/>
        </p:nvSpPr>
        <p:spPr>
          <a:xfrm>
            <a:off x="7128080" y="5876925"/>
            <a:ext cx="1022722" cy="186689"/>
          </a:xfrm>
          <a:prstGeom prst="rect">
            <a:avLst/>
          </a:prstGeom>
          <a:noFill/>
        </p:spPr>
        <p:txBody>
          <a:bodyPr wrap="none" lIns="0" tIns="0" rIns="0" bIns="0">
            <a:spAutoFit/>
          </a:bodyPr>
          <a:lstStyle/>
          <a:p>
            <a:r>
              <a:rPr sz="1100" b="0">
                <a:solidFill>
                  <a:srgbClr val="1F2933"/>
                </a:solidFill>
                <a:latin typeface="Calibri"/>
              </a:rPr>
              <a:t>combined share.</a:t>
            </a:r>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66700" y="1047750"/>
            <a:ext cx="6667500" cy="209550"/>
          </a:xfrm>
          <a:prstGeom prst="rect">
            <a:avLst/>
          </a:prstGeom>
          <a:noFill/>
        </p:spPr>
        <p:txBody>
          <a:bodyPr wrap="square" lIns="28575" tIns="9525" rIns="2857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tIns="9525" rIns="28575" bIns="9525" anchor="t">
            <a:spAutoFit/>
          </a:bodyPr>
          <a:lstStyle/>
          <a:p>
            <a:pPr algn="l">
              <a:lnSpc>
                <a:spcPct val="115000"/>
              </a:lnSpc>
            </a:pPr>
            <a:endParaRPr/>
          </a:p>
        </p:txBody>
      </p:sp>
      <p:sp>
        <p:nvSpPr>
          <p:cNvPr id="24" name="TextBox 23"/>
          <p:cNvSpPr txBox="1"/>
          <p:nvPr/>
        </p:nvSpPr>
        <p:spPr>
          <a:xfrm>
            <a:off x="9922933" y="1295400"/>
            <a:ext cx="982133"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TextBox 29"/>
          <p:cNvSpPr txBox="1"/>
          <p:nvPr/>
        </p:nvSpPr>
        <p:spPr>
          <a:xfrm>
            <a:off x="285750" y="22479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Multicell Packaging Inc.</a:t>
            </a:r>
          </a:p>
        </p:txBody>
      </p:sp>
      <p:sp>
        <p:nvSpPr>
          <p:cNvPr id="31" name="TextBox 30"/>
          <p:cNvSpPr txBox="1"/>
          <p:nvPr/>
        </p:nvSpPr>
        <p:spPr>
          <a:xfrm>
            <a:off x="285750" y="24098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tIns="9525" rIns="28575" bIns="9525" anchor="ctr">
            <a:spAutoFit/>
          </a:bodyPr>
          <a:lstStyle/>
          <a:p>
            <a:pPr algn="ctr"/>
            <a:endParaRPr/>
          </a:p>
        </p:txBody>
      </p:sp>
      <p:sp>
        <p:nvSpPr>
          <p:cNvPr id="33" name="TextBox 32"/>
          <p:cNvSpPr txBox="1"/>
          <p:nvPr/>
        </p:nvSpPr>
        <p:spPr>
          <a:xfrm>
            <a:off x="4419600" y="22288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Oval 34"/>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Oval 35"/>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Oval 36"/>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9884833" y="2228850"/>
            <a:ext cx="1058333" cy="342900"/>
          </a:xfrm>
          <a:prstGeom prst="rect">
            <a:avLst/>
          </a:prstGeom>
          <a:noFill/>
        </p:spPr>
        <p:txBody>
          <a:bodyPr wrap="square" lIns="28575" tIns="9525" rIns="28575" bIns="9525" anchor="ctr">
            <a:spAutoFit/>
          </a:bodyPr>
          <a:lstStyle/>
          <a:p>
            <a:pPr algn="ctr"/>
            <a:endParaRPr/>
          </a:p>
        </p:txBody>
      </p:sp>
      <p:sp>
        <p:nvSpPr>
          <p:cNvPr id="39" name="TextBox 38"/>
          <p:cNvSpPr txBox="1"/>
          <p:nvPr/>
        </p:nvSpPr>
        <p:spPr>
          <a:xfrm>
            <a:off x="10943167" y="2228850"/>
            <a:ext cx="1058333" cy="342900"/>
          </a:xfrm>
          <a:prstGeom prst="rect">
            <a:avLst/>
          </a:prstGeom>
          <a:noFill/>
        </p:spPr>
        <p:txBody>
          <a:bodyPr wrap="square" lIns="28575" tIns="9525" rIns="28575" bIns="9525" anchor="ctr">
            <a:spAutoFit/>
          </a:bodyPr>
          <a:lstStyle/>
          <a:p>
            <a:pPr algn="ctr"/>
            <a:endParaRPr/>
          </a:p>
        </p:txBody>
      </p:sp>
      <p:cxnSp>
        <p:nvCxnSpPr>
          <p:cNvPr id="40" name="Connector 39"/>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285750" y="25908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Company</a:t>
            </a:r>
          </a:p>
        </p:txBody>
      </p:sp>
      <p:sp>
        <p:nvSpPr>
          <p:cNvPr id="43" name="TextBox 42"/>
          <p:cNvSpPr txBox="1"/>
          <p:nvPr/>
        </p:nvSpPr>
        <p:spPr>
          <a:xfrm>
            <a:off x="285750" y="27527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44" name="TextBox 43"/>
          <p:cNvSpPr txBox="1"/>
          <p:nvPr/>
        </p:nvSpPr>
        <p:spPr>
          <a:xfrm>
            <a:off x="2000250" y="2571750"/>
            <a:ext cx="2381250" cy="342900"/>
          </a:xfrm>
          <a:prstGeom prst="rect">
            <a:avLst/>
          </a:prstGeom>
          <a:noFill/>
        </p:spPr>
        <p:txBody>
          <a:bodyPr wrap="square" lIns="28575" tIns="9525" rIns="28575" bIns="9525" anchor="ctr">
            <a:spAutoFit/>
          </a:bodyPr>
          <a:lstStyle/>
          <a:p>
            <a:pPr algn="ctr"/>
            <a:endParaRPr/>
          </a:p>
        </p:txBody>
      </p:sp>
      <p:sp>
        <p:nvSpPr>
          <p:cNvPr id="45" name="TextBox 44"/>
          <p:cNvSpPr txBox="1"/>
          <p:nvPr/>
        </p:nvSpPr>
        <p:spPr>
          <a:xfrm>
            <a:off x="4419600" y="25717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Launch-led growth</a:t>
            </a:r>
          </a:p>
        </p:txBody>
      </p:sp>
      <p:sp>
        <p:nvSpPr>
          <p:cNvPr id="46" name="Oval 45"/>
          <p:cNvSpPr/>
          <p:nvPr/>
        </p:nvSpPr>
        <p:spPr>
          <a:xfrm>
            <a:off x="6104467"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Freeform 46"/>
          <p:cNvSpPr/>
          <p:nvPr/>
        </p:nvSpPr>
        <p:spPr>
          <a:xfrm>
            <a:off x="6181725" y="2667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Oval 47"/>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Oval 48"/>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Oval 49"/>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9884833" y="2571750"/>
            <a:ext cx="1058333" cy="342900"/>
          </a:xfrm>
          <a:prstGeom prst="rect">
            <a:avLst/>
          </a:prstGeom>
          <a:noFill/>
        </p:spPr>
        <p:txBody>
          <a:bodyPr wrap="square" lIns="28575" tIns="9525" rIns="28575" bIns="9525" anchor="ctr">
            <a:spAutoFit/>
          </a:bodyPr>
          <a:lstStyle/>
          <a:p>
            <a:pPr algn="ctr"/>
            <a:endParaRPr/>
          </a:p>
        </p:txBody>
      </p:sp>
      <p:sp>
        <p:nvSpPr>
          <p:cNvPr id="52" name="TextBox 51"/>
          <p:cNvSpPr txBox="1"/>
          <p:nvPr/>
        </p:nvSpPr>
        <p:spPr>
          <a:xfrm>
            <a:off x="10943167" y="2571750"/>
            <a:ext cx="1058333" cy="342900"/>
          </a:xfrm>
          <a:prstGeom prst="rect">
            <a:avLst/>
          </a:prstGeom>
          <a:noFill/>
        </p:spPr>
        <p:txBody>
          <a:bodyPr wrap="square" lIns="28575" tIns="9525" rIns="28575" bIns="9525" anchor="ctr">
            <a:spAutoFit/>
          </a:bodyPr>
          <a:lstStyle/>
          <a:p>
            <a:pPr algn="ctr"/>
            <a:endParaRPr/>
          </a:p>
        </p:txBody>
      </p:sp>
      <p:cxnSp>
        <p:nvCxnSpPr>
          <p:cNvPr id="53" name="Connector 52"/>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285750" y="29337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Great American Paper Inc.</a:t>
            </a:r>
          </a:p>
        </p:txBody>
      </p:sp>
      <p:sp>
        <p:nvSpPr>
          <p:cNvPr id="56" name="TextBox 55"/>
          <p:cNvSpPr txBox="1"/>
          <p:nvPr/>
        </p:nvSpPr>
        <p:spPr>
          <a:xfrm>
            <a:off x="285750" y="30956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57" name="TextBox 56"/>
          <p:cNvSpPr txBox="1"/>
          <p:nvPr/>
        </p:nvSpPr>
        <p:spPr>
          <a:xfrm>
            <a:off x="2000250" y="2914650"/>
            <a:ext cx="2381250" cy="342900"/>
          </a:xfrm>
          <a:prstGeom prst="rect">
            <a:avLst/>
          </a:prstGeom>
          <a:noFill/>
        </p:spPr>
        <p:txBody>
          <a:bodyPr wrap="square" lIns="28575" tIns="9525" rIns="28575" bIns="9525" anchor="ctr">
            <a:spAutoFit/>
          </a:bodyPr>
          <a:lstStyle/>
          <a:p>
            <a:pPr algn="ctr"/>
            <a:endParaRPr/>
          </a:p>
        </p:txBody>
      </p:sp>
      <p:sp>
        <p:nvSpPr>
          <p:cNvPr id="58" name="TextBox 57"/>
          <p:cNvSpPr txBox="1"/>
          <p:nvPr/>
        </p:nvSpPr>
        <p:spPr>
          <a:xfrm>
            <a:off x="4419600" y="29146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Buy to scale</a:t>
            </a:r>
          </a:p>
        </p:txBody>
      </p:sp>
      <p:sp>
        <p:nvSpPr>
          <p:cNvPr id="59" name="Oval 58"/>
          <p:cNvSpPr/>
          <p:nvPr/>
        </p:nvSpPr>
        <p:spPr>
          <a:xfrm>
            <a:off x="6104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Freeform 59"/>
          <p:cNvSpPr/>
          <p:nvPr/>
        </p:nvSpPr>
        <p:spPr>
          <a:xfrm>
            <a:off x="6181725" y="3009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Oval 60"/>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Oval 61"/>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Oval 62"/>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Freeform 63"/>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TextBox 64"/>
          <p:cNvSpPr txBox="1"/>
          <p:nvPr/>
        </p:nvSpPr>
        <p:spPr>
          <a:xfrm>
            <a:off x="9884833" y="2914650"/>
            <a:ext cx="1058333" cy="342900"/>
          </a:xfrm>
          <a:prstGeom prst="rect">
            <a:avLst/>
          </a:prstGeom>
          <a:noFill/>
        </p:spPr>
        <p:txBody>
          <a:bodyPr wrap="square" lIns="28575" tIns="9525" rIns="28575" bIns="9525" anchor="ctr">
            <a:spAutoFit/>
          </a:bodyPr>
          <a:lstStyle/>
          <a:p>
            <a:pPr algn="ctr"/>
            <a:endParaRPr/>
          </a:p>
        </p:txBody>
      </p:sp>
      <p:sp>
        <p:nvSpPr>
          <p:cNvPr id="66" name="TextBox 65"/>
          <p:cNvSpPr txBox="1"/>
          <p:nvPr/>
        </p:nvSpPr>
        <p:spPr>
          <a:xfrm>
            <a:off x="10943167" y="2914650"/>
            <a:ext cx="1058333" cy="342900"/>
          </a:xfrm>
          <a:prstGeom prst="rect">
            <a:avLst/>
          </a:prstGeom>
          <a:noFill/>
        </p:spPr>
        <p:txBody>
          <a:bodyPr wrap="square" lIns="28575" tIns="9525" rIns="28575" bIns="9525" anchor="ctr">
            <a:spAutoFit/>
          </a:bodyPr>
          <a:lstStyle/>
          <a:p>
            <a:pPr algn="ctr"/>
            <a:endParaRPr/>
          </a:p>
        </p:txBody>
      </p:sp>
      <p:cxnSp>
        <p:nvCxnSpPr>
          <p:cNvPr id="67" name="Connector 66"/>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8" name="Rectangle 67"/>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TextBox 68"/>
          <p:cNvSpPr txBox="1"/>
          <p:nvPr/>
        </p:nvSpPr>
        <p:spPr>
          <a:xfrm>
            <a:off x="285750" y="32766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Interpack Inc.</a:t>
            </a:r>
          </a:p>
        </p:txBody>
      </p:sp>
      <p:sp>
        <p:nvSpPr>
          <p:cNvPr id="70" name="TextBox 69"/>
          <p:cNvSpPr txBox="1"/>
          <p:nvPr/>
        </p:nvSpPr>
        <p:spPr>
          <a:xfrm>
            <a:off x="285750" y="34385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71" name="TextBox 70"/>
          <p:cNvSpPr txBox="1"/>
          <p:nvPr/>
        </p:nvSpPr>
        <p:spPr>
          <a:xfrm>
            <a:off x="2000250" y="3257550"/>
            <a:ext cx="2381250" cy="342900"/>
          </a:xfrm>
          <a:prstGeom prst="rect">
            <a:avLst/>
          </a:prstGeom>
          <a:noFill/>
        </p:spPr>
        <p:txBody>
          <a:bodyPr wrap="square" lIns="28575" tIns="9525" rIns="28575" bIns="9525" anchor="ctr">
            <a:spAutoFit/>
          </a:bodyPr>
          <a:lstStyle/>
          <a:p>
            <a:pPr algn="ctr"/>
            <a:endParaRPr/>
          </a:p>
        </p:txBody>
      </p:sp>
      <p:sp>
        <p:nvSpPr>
          <p:cNvPr id="72" name="TextBox 71"/>
          <p:cNvSpPr txBox="1"/>
          <p:nvPr/>
        </p:nvSpPr>
        <p:spPr>
          <a:xfrm>
            <a:off x="4419600" y="32575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Launch-led growth</a:t>
            </a:r>
          </a:p>
        </p:txBody>
      </p:sp>
      <p:sp>
        <p:nvSpPr>
          <p:cNvPr id="73" name="Oval 72"/>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Freeform 73"/>
          <p:cNvSpPr/>
          <p:nvPr/>
        </p:nvSpPr>
        <p:spPr>
          <a:xfrm>
            <a:off x="6181725" y="3352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Oval 74"/>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Oval 75"/>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Oval 76"/>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Freeform 77"/>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p:cNvSpPr txBox="1"/>
          <p:nvPr/>
        </p:nvSpPr>
        <p:spPr>
          <a:xfrm>
            <a:off x="9884833" y="3257550"/>
            <a:ext cx="1058333" cy="342900"/>
          </a:xfrm>
          <a:prstGeom prst="rect">
            <a:avLst/>
          </a:prstGeom>
          <a:noFill/>
        </p:spPr>
        <p:txBody>
          <a:bodyPr wrap="square" lIns="28575" tIns="9525" rIns="28575" bIns="9525" anchor="ctr">
            <a:spAutoFit/>
          </a:bodyPr>
          <a:lstStyle/>
          <a:p>
            <a:pPr algn="ctr"/>
            <a:endParaRPr/>
          </a:p>
        </p:txBody>
      </p:sp>
      <p:sp>
        <p:nvSpPr>
          <p:cNvPr id="80" name="TextBox 79"/>
          <p:cNvSpPr txBox="1"/>
          <p:nvPr/>
        </p:nvSpPr>
        <p:spPr>
          <a:xfrm>
            <a:off x="10943167" y="3257550"/>
            <a:ext cx="1058333" cy="342900"/>
          </a:xfrm>
          <a:prstGeom prst="rect">
            <a:avLst/>
          </a:prstGeom>
          <a:noFill/>
        </p:spPr>
        <p:txBody>
          <a:bodyPr wrap="square" lIns="28575" tIns="9525" rIns="28575" bIns="9525" anchor="ctr">
            <a:spAutoFit/>
          </a:bodyPr>
          <a:lstStyle/>
          <a:p>
            <a:pPr algn="ctr"/>
            <a:endParaRPr/>
          </a:p>
        </p:txBody>
      </p:sp>
      <p:cxnSp>
        <p:nvCxnSpPr>
          <p:cNvPr id="81" name="Connector 80"/>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2" name="Rectangle 81"/>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p:cNvSpPr txBox="1"/>
          <p:nvPr/>
        </p:nvSpPr>
        <p:spPr>
          <a:xfrm>
            <a:off x="285750" y="36195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Caps Cases Ltd.</a:t>
            </a:r>
          </a:p>
        </p:txBody>
      </p:sp>
      <p:sp>
        <p:nvSpPr>
          <p:cNvPr id="84" name="TextBox 83"/>
          <p:cNvSpPr txBox="1"/>
          <p:nvPr/>
        </p:nvSpPr>
        <p:spPr>
          <a:xfrm>
            <a:off x="285750" y="37814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2</a:t>
            </a:r>
          </a:p>
        </p:txBody>
      </p:sp>
      <p:sp>
        <p:nvSpPr>
          <p:cNvPr id="85" name="TextBox 84"/>
          <p:cNvSpPr txBox="1"/>
          <p:nvPr/>
        </p:nvSpPr>
        <p:spPr>
          <a:xfrm>
            <a:off x="2000250" y="3600450"/>
            <a:ext cx="2381250" cy="342900"/>
          </a:xfrm>
          <a:prstGeom prst="rect">
            <a:avLst/>
          </a:prstGeom>
          <a:noFill/>
        </p:spPr>
        <p:txBody>
          <a:bodyPr wrap="square" lIns="28575" tIns="9525" rIns="28575" bIns="9525" anchor="ctr">
            <a:spAutoFit/>
          </a:bodyPr>
          <a:lstStyle/>
          <a:p>
            <a:pPr algn="ctr"/>
            <a:endParaRPr/>
          </a:p>
        </p:txBody>
      </p:sp>
      <p:sp>
        <p:nvSpPr>
          <p:cNvPr id="86" name="TextBox 85"/>
          <p:cNvSpPr txBox="1"/>
          <p:nvPr/>
        </p:nvSpPr>
        <p:spPr>
          <a:xfrm>
            <a:off x="4419600" y="36004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Buy to scale</a:t>
            </a:r>
          </a:p>
        </p:txBody>
      </p:sp>
      <p:sp>
        <p:nvSpPr>
          <p:cNvPr id="87" name="Oval 86"/>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Freeform 87"/>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Oval 88"/>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Freeform 89"/>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Oval 90"/>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Freeform 91"/>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Oval 92"/>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Freeform 93"/>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TextBox 94"/>
          <p:cNvSpPr txBox="1"/>
          <p:nvPr/>
        </p:nvSpPr>
        <p:spPr>
          <a:xfrm>
            <a:off x="9884833" y="3600450"/>
            <a:ext cx="1058333" cy="342900"/>
          </a:xfrm>
          <a:prstGeom prst="rect">
            <a:avLst/>
          </a:prstGeom>
          <a:noFill/>
        </p:spPr>
        <p:txBody>
          <a:bodyPr wrap="square" lIns="28575" tIns="9525" rIns="28575" bIns="9525" anchor="ctr">
            <a:spAutoFit/>
          </a:bodyPr>
          <a:lstStyle/>
          <a:p>
            <a:pPr algn="ctr"/>
            <a:endParaRPr/>
          </a:p>
        </p:txBody>
      </p:sp>
      <p:sp>
        <p:nvSpPr>
          <p:cNvPr id="96" name="TextBox 95"/>
          <p:cNvSpPr txBox="1"/>
          <p:nvPr/>
        </p:nvSpPr>
        <p:spPr>
          <a:xfrm>
            <a:off x="10943167" y="3600450"/>
            <a:ext cx="1058333" cy="342900"/>
          </a:xfrm>
          <a:prstGeom prst="rect">
            <a:avLst/>
          </a:prstGeom>
          <a:noFill/>
        </p:spPr>
        <p:txBody>
          <a:bodyPr wrap="square" lIns="28575" tIns="9525" rIns="28575" bIns="9525" anchor="ctr">
            <a:spAutoFit/>
          </a:bodyPr>
          <a:lstStyle/>
          <a:p>
            <a:pPr algn="ctr"/>
            <a:endParaRPr/>
          </a:p>
        </p:txBody>
      </p:sp>
      <p:cxnSp>
        <p:nvCxnSpPr>
          <p:cNvPr id="97" name="Connector 96"/>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TextBox 98"/>
          <p:cNvSpPr txBox="1"/>
          <p:nvPr/>
        </p:nvSpPr>
        <p:spPr>
          <a:xfrm>
            <a:off x="285750" y="39624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M &amp; M Box &amp; Partitions Co.</a:t>
            </a:r>
          </a:p>
        </p:txBody>
      </p:sp>
      <p:sp>
        <p:nvSpPr>
          <p:cNvPr id="100" name="TextBox 99"/>
          <p:cNvSpPr txBox="1"/>
          <p:nvPr/>
        </p:nvSpPr>
        <p:spPr>
          <a:xfrm>
            <a:off x="285750" y="41243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2</a:t>
            </a:r>
          </a:p>
        </p:txBody>
      </p:sp>
      <p:sp>
        <p:nvSpPr>
          <p:cNvPr id="101" name="TextBox 100"/>
          <p:cNvSpPr txBox="1"/>
          <p:nvPr/>
        </p:nvSpPr>
        <p:spPr>
          <a:xfrm>
            <a:off x="2000250" y="3943350"/>
            <a:ext cx="2381250" cy="342900"/>
          </a:xfrm>
          <a:prstGeom prst="rect">
            <a:avLst/>
          </a:prstGeom>
          <a:noFill/>
        </p:spPr>
        <p:txBody>
          <a:bodyPr wrap="square" lIns="28575" tIns="9525" rIns="28575" bIns="9525" anchor="ctr">
            <a:spAutoFit/>
          </a:bodyPr>
          <a:lstStyle/>
          <a:p>
            <a:pPr algn="ctr"/>
            <a:endParaRPr/>
          </a:p>
        </p:txBody>
      </p:sp>
      <p:sp>
        <p:nvSpPr>
          <p:cNvPr id="102" name="TextBox 101"/>
          <p:cNvSpPr txBox="1"/>
          <p:nvPr/>
        </p:nvSpPr>
        <p:spPr>
          <a:xfrm>
            <a:off x="4419600" y="39433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Launch-led growth</a:t>
            </a:r>
          </a:p>
        </p:txBody>
      </p:sp>
      <p:sp>
        <p:nvSpPr>
          <p:cNvPr id="103" name="Oval 102"/>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Freeform 103"/>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Oval 104"/>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Freeform 105"/>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Oval 106"/>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Freeform 107"/>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Oval 108"/>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Freeform 109"/>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TextBox 110"/>
          <p:cNvSpPr txBox="1"/>
          <p:nvPr/>
        </p:nvSpPr>
        <p:spPr>
          <a:xfrm>
            <a:off x="9884833" y="3943350"/>
            <a:ext cx="1058333" cy="342900"/>
          </a:xfrm>
          <a:prstGeom prst="rect">
            <a:avLst/>
          </a:prstGeom>
          <a:noFill/>
        </p:spPr>
        <p:txBody>
          <a:bodyPr wrap="square" lIns="28575" tIns="9525" rIns="28575" bIns="9525" anchor="ctr">
            <a:spAutoFit/>
          </a:bodyPr>
          <a:lstStyle/>
          <a:p>
            <a:pPr algn="ctr"/>
            <a:endParaRPr/>
          </a:p>
        </p:txBody>
      </p:sp>
      <p:sp>
        <p:nvSpPr>
          <p:cNvPr id="112" name="TextBox 111"/>
          <p:cNvSpPr txBox="1"/>
          <p:nvPr/>
        </p:nvSpPr>
        <p:spPr>
          <a:xfrm>
            <a:off x="10943167" y="3943350"/>
            <a:ext cx="1058333" cy="342900"/>
          </a:xfrm>
          <a:prstGeom prst="rect">
            <a:avLst/>
          </a:prstGeom>
          <a:noFill/>
        </p:spPr>
        <p:txBody>
          <a:bodyPr wrap="square" lIns="28575" tIns="9525" rIns="28575" bIns="9525" anchor="ctr">
            <a:spAutoFit/>
          </a:bodyPr>
          <a:lstStyle/>
          <a:p>
            <a:pPr algn="ctr"/>
            <a:endParaRPr/>
          </a:p>
        </p:txBody>
      </p:sp>
      <p:cxnSp>
        <p:nvCxnSpPr>
          <p:cNvPr id="113" name="Connector 112"/>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4" name="Rectangle 113"/>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p:cNvSpPr txBox="1"/>
          <p:nvPr/>
        </p:nvSpPr>
        <p:spPr>
          <a:xfrm>
            <a:off x="285750" y="43053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Martin Partitions</a:t>
            </a:r>
          </a:p>
        </p:txBody>
      </p:sp>
      <p:sp>
        <p:nvSpPr>
          <p:cNvPr id="116" name="TextBox 115"/>
          <p:cNvSpPr txBox="1"/>
          <p:nvPr/>
        </p:nvSpPr>
        <p:spPr>
          <a:xfrm>
            <a:off x="285750" y="44672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17" name="TextBox 116"/>
          <p:cNvSpPr txBox="1"/>
          <p:nvPr/>
        </p:nvSpPr>
        <p:spPr>
          <a:xfrm>
            <a:off x="2000250" y="4286250"/>
            <a:ext cx="2381250" cy="342900"/>
          </a:xfrm>
          <a:prstGeom prst="rect">
            <a:avLst/>
          </a:prstGeom>
          <a:noFill/>
        </p:spPr>
        <p:txBody>
          <a:bodyPr wrap="square" lIns="28575" tIns="9525" rIns="28575" bIns="9525" anchor="ctr">
            <a:spAutoFit/>
          </a:bodyPr>
          <a:lstStyle/>
          <a:p>
            <a:pPr algn="ctr"/>
            <a:endParaRPr/>
          </a:p>
        </p:txBody>
      </p:sp>
      <p:sp>
        <p:nvSpPr>
          <p:cNvPr id="118" name="TextBox 117"/>
          <p:cNvSpPr txBox="1"/>
          <p:nvPr/>
        </p:nvSpPr>
        <p:spPr>
          <a:xfrm>
            <a:off x="4419600" y="42862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Buy to scale</a:t>
            </a:r>
          </a:p>
        </p:txBody>
      </p:sp>
      <p:sp>
        <p:nvSpPr>
          <p:cNvPr id="119" name="Oval 118"/>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Freeform 119"/>
          <p:cNvSpPr/>
          <p:nvPr/>
        </p:nvSpPr>
        <p:spPr>
          <a:xfrm>
            <a:off x="618172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Oval 120"/>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Freeform 121"/>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Oval 122"/>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Freeform 123"/>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Oval 124"/>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Freeform 125"/>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TextBox 126"/>
          <p:cNvSpPr txBox="1"/>
          <p:nvPr/>
        </p:nvSpPr>
        <p:spPr>
          <a:xfrm>
            <a:off x="9884833" y="4286250"/>
            <a:ext cx="1058333" cy="342900"/>
          </a:xfrm>
          <a:prstGeom prst="rect">
            <a:avLst/>
          </a:prstGeom>
          <a:noFill/>
        </p:spPr>
        <p:txBody>
          <a:bodyPr wrap="square" lIns="28575" tIns="9525" rIns="28575" bIns="9525" anchor="ctr">
            <a:spAutoFit/>
          </a:bodyPr>
          <a:lstStyle/>
          <a:p>
            <a:pPr algn="ctr"/>
            <a:endParaRPr/>
          </a:p>
        </p:txBody>
      </p:sp>
      <p:sp>
        <p:nvSpPr>
          <p:cNvPr id="128" name="TextBox 127"/>
          <p:cNvSpPr txBox="1"/>
          <p:nvPr/>
        </p:nvSpPr>
        <p:spPr>
          <a:xfrm>
            <a:off x="10943167" y="4286250"/>
            <a:ext cx="1058333" cy="342900"/>
          </a:xfrm>
          <a:prstGeom prst="rect">
            <a:avLst/>
          </a:prstGeom>
          <a:noFill/>
        </p:spPr>
        <p:txBody>
          <a:bodyPr wrap="square" lIns="28575" tIns="9525" rIns="28575" bIns="9525" anchor="ctr">
            <a:spAutoFit/>
          </a:bodyPr>
          <a:lstStyle/>
          <a:p>
            <a:pPr algn="ctr"/>
            <a:endParaRPr/>
          </a:p>
        </p:txBody>
      </p:sp>
      <p:cxnSp>
        <p:nvCxnSpPr>
          <p:cNvPr id="129" name="Connector 128"/>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0" name="Rectangle 129"/>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TextBox 130"/>
          <p:cNvSpPr txBox="1"/>
          <p:nvPr/>
        </p:nvSpPr>
        <p:spPr>
          <a:xfrm>
            <a:off x="285750" y="46482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Buckeye Corrugated Inc.</a:t>
            </a:r>
          </a:p>
        </p:txBody>
      </p:sp>
      <p:sp>
        <p:nvSpPr>
          <p:cNvPr id="132" name="TextBox 131"/>
          <p:cNvSpPr txBox="1"/>
          <p:nvPr/>
        </p:nvSpPr>
        <p:spPr>
          <a:xfrm>
            <a:off x="285750" y="48101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33" name="TextBox 132"/>
          <p:cNvSpPr txBox="1"/>
          <p:nvPr/>
        </p:nvSpPr>
        <p:spPr>
          <a:xfrm>
            <a:off x="2000250" y="4629150"/>
            <a:ext cx="2381250" cy="342900"/>
          </a:xfrm>
          <a:prstGeom prst="rect">
            <a:avLst/>
          </a:prstGeom>
          <a:noFill/>
        </p:spPr>
        <p:txBody>
          <a:bodyPr wrap="square" lIns="28575" tIns="9525" rIns="28575" bIns="9525" anchor="ctr">
            <a:spAutoFit/>
          </a:bodyPr>
          <a:lstStyle/>
          <a:p>
            <a:pPr algn="ctr"/>
            <a:endParaRPr/>
          </a:p>
        </p:txBody>
      </p:sp>
      <p:sp>
        <p:nvSpPr>
          <p:cNvPr id="134" name="TextBox 133"/>
          <p:cNvSpPr txBox="1"/>
          <p:nvPr/>
        </p:nvSpPr>
        <p:spPr>
          <a:xfrm>
            <a:off x="4419600" y="46291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Launch-led growth</a:t>
            </a:r>
          </a:p>
        </p:txBody>
      </p:sp>
      <p:sp>
        <p:nvSpPr>
          <p:cNvPr id="135" name="Oval 134"/>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Freeform 135"/>
          <p:cNvSpPr/>
          <p:nvPr/>
        </p:nvSpPr>
        <p:spPr>
          <a:xfrm>
            <a:off x="618172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Oval 136"/>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Freeform 137"/>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9" name="Oval 138"/>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Freeform 139"/>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Oval 140"/>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2" name="Freeform 141"/>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3" name="TextBox 142"/>
          <p:cNvSpPr txBox="1"/>
          <p:nvPr/>
        </p:nvSpPr>
        <p:spPr>
          <a:xfrm>
            <a:off x="9884833" y="4629150"/>
            <a:ext cx="1058333" cy="342900"/>
          </a:xfrm>
          <a:prstGeom prst="rect">
            <a:avLst/>
          </a:prstGeom>
          <a:noFill/>
        </p:spPr>
        <p:txBody>
          <a:bodyPr wrap="square" lIns="28575" tIns="9525" rIns="28575" bIns="9525" anchor="ctr">
            <a:spAutoFit/>
          </a:bodyPr>
          <a:lstStyle/>
          <a:p>
            <a:pPr algn="ctr"/>
            <a:endParaRPr/>
          </a:p>
        </p:txBody>
      </p:sp>
      <p:sp>
        <p:nvSpPr>
          <p:cNvPr id="144" name="TextBox 143"/>
          <p:cNvSpPr txBox="1"/>
          <p:nvPr/>
        </p:nvSpPr>
        <p:spPr>
          <a:xfrm>
            <a:off x="10943167" y="4629150"/>
            <a:ext cx="1058333" cy="342900"/>
          </a:xfrm>
          <a:prstGeom prst="rect">
            <a:avLst/>
          </a:prstGeom>
          <a:noFill/>
        </p:spPr>
        <p:txBody>
          <a:bodyPr wrap="square" lIns="28575" tIns="9525" rIns="28575" bIns="9525" anchor="ctr">
            <a:spAutoFit/>
          </a:bodyPr>
          <a:lstStyle/>
          <a:p>
            <a:pPr algn="ctr"/>
            <a:endParaRPr/>
          </a:p>
        </p:txBody>
      </p:sp>
      <p:cxnSp>
        <p:nvCxnSpPr>
          <p:cNvPr id="145" name="Connector 144"/>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6" name="Rectangle 145"/>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7" name="TextBox 146"/>
          <p:cNvSpPr txBox="1"/>
          <p:nvPr/>
        </p:nvSpPr>
        <p:spPr>
          <a:xfrm>
            <a:off x="285750" y="49911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Cactus Corrugated Containers Inc.</a:t>
            </a:r>
          </a:p>
        </p:txBody>
      </p:sp>
      <p:sp>
        <p:nvSpPr>
          <p:cNvPr id="148" name="TextBox 147"/>
          <p:cNvSpPr txBox="1"/>
          <p:nvPr/>
        </p:nvSpPr>
        <p:spPr>
          <a:xfrm>
            <a:off x="285750" y="51530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49" name="TextBox 148"/>
          <p:cNvSpPr txBox="1"/>
          <p:nvPr/>
        </p:nvSpPr>
        <p:spPr>
          <a:xfrm>
            <a:off x="2000250" y="4972050"/>
            <a:ext cx="2381250" cy="342900"/>
          </a:xfrm>
          <a:prstGeom prst="rect">
            <a:avLst/>
          </a:prstGeom>
          <a:noFill/>
        </p:spPr>
        <p:txBody>
          <a:bodyPr wrap="square" lIns="28575" tIns="9525" rIns="28575" bIns="9525" anchor="ctr">
            <a:spAutoFit/>
          </a:bodyPr>
          <a:lstStyle/>
          <a:p>
            <a:pPr algn="ctr"/>
            <a:endParaRPr/>
          </a:p>
        </p:txBody>
      </p:sp>
      <p:sp>
        <p:nvSpPr>
          <p:cNvPr id="150" name="TextBox 149"/>
          <p:cNvSpPr txBox="1"/>
          <p:nvPr/>
        </p:nvSpPr>
        <p:spPr>
          <a:xfrm>
            <a:off x="4419600" y="49720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Buy to scale</a:t>
            </a:r>
          </a:p>
        </p:txBody>
      </p:sp>
      <p:sp>
        <p:nvSpPr>
          <p:cNvPr id="151" name="Oval 150"/>
          <p:cNvSpPr/>
          <p:nvPr/>
        </p:nvSpPr>
        <p:spPr>
          <a:xfrm>
            <a:off x="6104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Freeform 151"/>
          <p:cNvSpPr/>
          <p:nvPr/>
        </p:nvSpPr>
        <p:spPr>
          <a:xfrm>
            <a:off x="618172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3" name="Oval 152"/>
          <p:cNvSpPr/>
          <p:nvPr/>
        </p:nvSpPr>
        <p:spPr>
          <a:xfrm>
            <a:off x="7162800"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4" name="Freeform 153"/>
          <p:cNvSpPr/>
          <p:nvPr/>
        </p:nvSpPr>
        <p:spPr>
          <a:xfrm>
            <a:off x="7239000" y="50673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5" name="Oval 154"/>
          <p:cNvSpPr/>
          <p:nvPr/>
        </p:nvSpPr>
        <p:spPr>
          <a:xfrm>
            <a:off x="8221133"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6" name="Freeform 155"/>
          <p:cNvSpPr/>
          <p:nvPr/>
        </p:nvSpPr>
        <p:spPr>
          <a:xfrm>
            <a:off x="8296275"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7" name="Oval 156"/>
          <p:cNvSpPr/>
          <p:nvPr/>
        </p:nvSpPr>
        <p:spPr>
          <a:xfrm>
            <a:off x="9279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8" name="Freeform 157"/>
          <p:cNvSpPr/>
          <p:nvPr/>
        </p:nvSpPr>
        <p:spPr>
          <a:xfrm>
            <a:off x="9353550"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9" name="TextBox 158"/>
          <p:cNvSpPr txBox="1"/>
          <p:nvPr/>
        </p:nvSpPr>
        <p:spPr>
          <a:xfrm>
            <a:off x="9884833" y="4972050"/>
            <a:ext cx="1058333" cy="342900"/>
          </a:xfrm>
          <a:prstGeom prst="rect">
            <a:avLst/>
          </a:prstGeom>
          <a:noFill/>
        </p:spPr>
        <p:txBody>
          <a:bodyPr wrap="square" lIns="28575" tIns="9525" rIns="28575" bIns="9525" anchor="ctr">
            <a:spAutoFit/>
          </a:bodyPr>
          <a:lstStyle/>
          <a:p>
            <a:pPr algn="ctr"/>
            <a:endParaRPr/>
          </a:p>
        </p:txBody>
      </p:sp>
      <p:sp>
        <p:nvSpPr>
          <p:cNvPr id="160" name="TextBox 159"/>
          <p:cNvSpPr txBox="1"/>
          <p:nvPr/>
        </p:nvSpPr>
        <p:spPr>
          <a:xfrm>
            <a:off x="10943167" y="4972050"/>
            <a:ext cx="1058333" cy="342900"/>
          </a:xfrm>
          <a:prstGeom prst="rect">
            <a:avLst/>
          </a:prstGeom>
          <a:noFill/>
        </p:spPr>
        <p:txBody>
          <a:bodyPr wrap="square" lIns="28575" tIns="9525" rIns="28575" bIns="9525" anchor="ctr">
            <a:spAutoFit/>
          </a:bodyPr>
          <a:lstStyle/>
          <a:p>
            <a:pPr algn="ctr"/>
            <a:endParaRPr/>
          </a:p>
        </p:txBody>
      </p:sp>
      <p:cxnSp>
        <p:nvCxnSpPr>
          <p:cNvPr id="161" name="Connector 160"/>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2" name="Rectangle 161"/>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3" name="TextBox 162"/>
          <p:cNvSpPr txBox="1"/>
          <p:nvPr/>
        </p:nvSpPr>
        <p:spPr>
          <a:xfrm>
            <a:off x="285750" y="53340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Jarrett Industries Inc.</a:t>
            </a:r>
          </a:p>
        </p:txBody>
      </p:sp>
      <p:sp>
        <p:nvSpPr>
          <p:cNvPr id="164" name="TextBox 163"/>
          <p:cNvSpPr txBox="1"/>
          <p:nvPr/>
        </p:nvSpPr>
        <p:spPr>
          <a:xfrm>
            <a:off x="285750" y="54959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65" name="TextBox 164"/>
          <p:cNvSpPr txBox="1"/>
          <p:nvPr/>
        </p:nvSpPr>
        <p:spPr>
          <a:xfrm>
            <a:off x="2000250" y="5314950"/>
            <a:ext cx="2381250" cy="342900"/>
          </a:xfrm>
          <a:prstGeom prst="rect">
            <a:avLst/>
          </a:prstGeom>
          <a:noFill/>
        </p:spPr>
        <p:txBody>
          <a:bodyPr wrap="square" lIns="28575" tIns="9525" rIns="28575" bIns="9525" anchor="ctr">
            <a:spAutoFit/>
          </a:bodyPr>
          <a:lstStyle/>
          <a:p>
            <a:pPr algn="ctr"/>
            <a:endParaRPr/>
          </a:p>
        </p:txBody>
      </p:sp>
      <p:sp>
        <p:nvSpPr>
          <p:cNvPr id="166" name="TextBox 165"/>
          <p:cNvSpPr txBox="1"/>
          <p:nvPr/>
        </p:nvSpPr>
        <p:spPr>
          <a:xfrm>
            <a:off x="4419600" y="5314950"/>
            <a:ext cx="1193800"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Launch-led growth</a:t>
            </a:r>
          </a:p>
        </p:txBody>
      </p:sp>
      <p:sp>
        <p:nvSpPr>
          <p:cNvPr id="167" name="Oval 166"/>
          <p:cNvSpPr/>
          <p:nvPr/>
        </p:nvSpPr>
        <p:spPr>
          <a:xfrm>
            <a:off x="6104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8" name="Freeform 167"/>
          <p:cNvSpPr/>
          <p:nvPr/>
        </p:nvSpPr>
        <p:spPr>
          <a:xfrm>
            <a:off x="618172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9" name="Oval 168"/>
          <p:cNvSpPr/>
          <p:nvPr/>
        </p:nvSpPr>
        <p:spPr>
          <a:xfrm>
            <a:off x="7162800"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0" name="Freeform 169"/>
          <p:cNvSpPr/>
          <p:nvPr/>
        </p:nvSpPr>
        <p:spPr>
          <a:xfrm>
            <a:off x="7239000" y="54102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1" name="Oval 170"/>
          <p:cNvSpPr/>
          <p:nvPr/>
        </p:nvSpPr>
        <p:spPr>
          <a:xfrm>
            <a:off x="8221133"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2" name="Freeform 171"/>
          <p:cNvSpPr/>
          <p:nvPr/>
        </p:nvSpPr>
        <p:spPr>
          <a:xfrm>
            <a:off x="8296275"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3" name="Oval 172"/>
          <p:cNvSpPr/>
          <p:nvPr/>
        </p:nvSpPr>
        <p:spPr>
          <a:xfrm>
            <a:off x="9279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4" name="Freeform 173"/>
          <p:cNvSpPr/>
          <p:nvPr/>
        </p:nvSpPr>
        <p:spPr>
          <a:xfrm>
            <a:off x="9353550"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5" name="TextBox 174"/>
          <p:cNvSpPr txBox="1"/>
          <p:nvPr/>
        </p:nvSpPr>
        <p:spPr>
          <a:xfrm>
            <a:off x="9884833" y="5314950"/>
            <a:ext cx="1058333" cy="342900"/>
          </a:xfrm>
          <a:prstGeom prst="rect">
            <a:avLst/>
          </a:prstGeom>
          <a:noFill/>
        </p:spPr>
        <p:txBody>
          <a:bodyPr wrap="square" lIns="28575" tIns="9525" rIns="28575" bIns="9525" anchor="ctr">
            <a:spAutoFit/>
          </a:bodyPr>
          <a:lstStyle/>
          <a:p>
            <a:pPr algn="ctr"/>
            <a:endParaRPr/>
          </a:p>
        </p:txBody>
      </p:sp>
      <p:sp>
        <p:nvSpPr>
          <p:cNvPr id="176" name="TextBox 175"/>
          <p:cNvSpPr txBox="1"/>
          <p:nvPr/>
        </p:nvSpPr>
        <p:spPr>
          <a:xfrm>
            <a:off x="10943167" y="5314950"/>
            <a:ext cx="1058333" cy="342900"/>
          </a:xfrm>
          <a:prstGeom prst="rect">
            <a:avLst/>
          </a:prstGeom>
          <a:noFill/>
        </p:spPr>
        <p:txBody>
          <a:bodyPr wrap="square" lIns="28575" tIns="9525" rIns="28575" bIns="9525" anchor="ctr">
            <a:spAutoFit/>
          </a:bodyPr>
          <a:lstStyle/>
          <a:p>
            <a:pPr algn="ctr"/>
            <a:endParaRPr/>
          </a:p>
        </p:txBody>
      </p:sp>
      <p:cxnSp>
        <p:nvCxnSpPr>
          <p:cNvPr id="177" name="Connector 176"/>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8" name="Oval 177"/>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9" name="TextBox 178"/>
          <p:cNvSpPr txBox="1"/>
          <p:nvPr/>
        </p:nvSpPr>
        <p:spPr>
          <a:xfrm>
            <a:off x="381000"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Strong, direct evidence</a:t>
            </a:r>
          </a:p>
        </p:txBody>
      </p:sp>
      <p:sp>
        <p:nvSpPr>
          <p:cNvPr id="180" name="Oval 179"/>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1" name="Freeform 180"/>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TextBox 181"/>
          <p:cNvSpPr txBox="1"/>
          <p:nvPr/>
        </p:nvSpPr>
        <p:spPr>
          <a:xfrm>
            <a:off x="2245995"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Moderate or partial</a:t>
            </a:r>
          </a:p>
        </p:txBody>
      </p:sp>
      <p:sp>
        <p:nvSpPr>
          <p:cNvPr id="183" name="Oval 182"/>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Freeform 183"/>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5" name="TextBox 184"/>
          <p:cNvSpPr txBox="1"/>
          <p:nvPr/>
        </p:nvSpPr>
        <p:spPr>
          <a:xfrm>
            <a:off x="3859530"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Weak or indirect</a:t>
            </a:r>
          </a:p>
        </p:txBody>
      </p:sp>
      <p:sp>
        <p:nvSpPr>
          <p:cNvPr id="186" name="Oval 185"/>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7" name="TextBox 186"/>
          <p:cNvSpPr txBox="1"/>
          <p:nvPr/>
        </p:nvSpPr>
        <p:spPr>
          <a:xfrm>
            <a:off x="5284470"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None found</a:t>
            </a:r>
          </a:p>
        </p:txBody>
      </p:sp>
      <p:sp>
        <p:nvSpPr>
          <p:cNvPr id="188" name="TextBox 187"/>
          <p:cNvSpPr txBox="1"/>
          <p:nvPr/>
        </p:nvSpPr>
        <p:spPr>
          <a:xfrm>
            <a:off x="190500" y="5943600"/>
            <a:ext cx="2857500" cy="152400"/>
          </a:xfrm>
          <a:prstGeom prst="rect">
            <a:avLst/>
          </a:prstGeom>
          <a:noFill/>
        </p:spPr>
        <p:txBody>
          <a:bodyPr wrap="square" lIns="28575" tIns="9525" rIns="28575" bIns="9525" anchor="t">
            <a:spAutoFit/>
          </a:bodyPr>
          <a:lstStyle/>
          <a:p>
            <a:pPr algn="l"/>
            <a:r>
              <a:rPr sz="1100" b="1">
                <a:solidFill>
                  <a:srgbClr val="0F2D52"/>
                </a:solidFill>
                <a:latin typeface="Calibri"/>
              </a:rPr>
              <a:t>READING</a:t>
            </a:r>
          </a:p>
        </p:txBody>
      </p:sp>
      <p:sp>
        <p:nvSpPr>
          <p:cNvPr id="189" name="TextBox 188"/>
          <p:cNvSpPr txBox="1"/>
          <p:nvPr/>
        </p:nvSpPr>
        <p:spPr>
          <a:xfrm>
            <a:off x="190500" y="6096000"/>
            <a:ext cx="11811000" cy="2286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4 of 10 named players compete globally; scale and share follow the tier structure.</a:t>
            </a:r>
          </a:p>
        </p:txBody>
      </p:sp>
      <p:sp>
        <p:nvSpPr>
          <p:cNvPr id="190" name="TextBox 18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191" name="TextBox 190"/>
          <p:cNvSpPr txBox="1"/>
          <p:nvPr/>
        </p:nvSpPr>
        <p:spPr>
          <a:xfrm>
            <a:off x="8893175" y="1666875"/>
            <a:ext cx="398983" cy="186689"/>
          </a:xfrm>
          <a:prstGeom prst="rect">
            <a:avLst/>
          </a:prstGeom>
          <a:noFill/>
        </p:spPr>
        <p:txBody>
          <a:bodyPr wrap="none" lIns="0" tIns="0" rIns="0" bIns="0">
            <a:spAutoFit/>
          </a:bodyPr>
          <a:lstStyle/>
          <a:p>
            <a:r>
              <a:rPr sz="1100" b="0">
                <a:solidFill>
                  <a:srgbClr val="5F6B7A"/>
                </a:solidFill>
                <a:latin typeface="Calibri"/>
              </a:rPr>
              <a:t>Share</a:t>
            </a:r>
          </a:p>
        </p:txBody>
      </p:sp>
      <p:pic>
        <p:nvPicPr>
          <p:cNvPr id="192" name="Picture 191" descr="lock.png"/>
          <p:cNvPicPr>
            <a:picLocks noChangeAspect="1"/>
          </p:cNvPicPr>
          <p:nvPr/>
        </p:nvPicPr>
        <p:blipFill>
          <a:blip r:embed="rId4"/>
          <a:stretch>
            <a:fillRect/>
          </a:stretch>
        </p:blipFill>
        <p:spPr>
          <a:xfrm>
            <a:off x="9240209" y="1657096"/>
            <a:ext cx="128699" cy="187198"/>
          </a:xfrm>
          <a:prstGeom prst="rect">
            <a:avLst/>
          </a:prstGeom>
        </p:spPr>
      </p:pic>
      <p:sp>
        <p:nvSpPr>
          <p:cNvPr id="193" name="TextBox 192"/>
          <p:cNvSpPr txBox="1"/>
          <p:nvPr/>
        </p:nvSpPr>
        <p:spPr>
          <a:xfrm>
            <a:off x="9407705" y="1666875"/>
            <a:ext cx="384522" cy="186689"/>
          </a:xfrm>
          <a:prstGeom prst="rect">
            <a:avLst/>
          </a:prstGeom>
          <a:noFill/>
        </p:spPr>
        <p:txBody>
          <a:bodyPr wrap="none" lIns="0" tIns="0" rIns="0" bIns="0">
            <a:spAutoFit/>
          </a:bodyPr>
          <a:lstStyle/>
          <a:p>
            <a:r>
              <a:rPr sz="1100" b="0">
                <a:solidFill>
                  <a:srgbClr val="5F6B7A"/>
                </a:solidFill>
                <a:latin typeface="Calibri"/>
              </a:rPr>
              <a:t>+ = 3,</a:t>
            </a:r>
          </a:p>
        </p:txBody>
      </p:sp>
      <p:pic>
        <p:nvPicPr>
          <p:cNvPr id="194" name="Picture 193" descr="lock.png"/>
          <p:cNvPicPr>
            <a:picLocks noChangeAspect="1"/>
          </p:cNvPicPr>
          <p:nvPr/>
        </p:nvPicPr>
        <p:blipFill>
          <a:blip r:embed="rId4"/>
          <a:stretch>
            <a:fillRect/>
          </a:stretch>
        </p:blipFill>
        <p:spPr>
          <a:xfrm>
            <a:off x="8879707" y="1824736"/>
            <a:ext cx="128699" cy="187198"/>
          </a:xfrm>
          <a:prstGeom prst="rect">
            <a:avLst/>
          </a:prstGeom>
        </p:spPr>
      </p:pic>
      <p:sp>
        <p:nvSpPr>
          <p:cNvPr id="195" name="TextBox 194"/>
          <p:cNvSpPr txBox="1"/>
          <p:nvPr/>
        </p:nvSpPr>
        <p:spPr>
          <a:xfrm>
            <a:off x="9047203" y="1834515"/>
            <a:ext cx="643458" cy="186689"/>
          </a:xfrm>
          <a:prstGeom prst="rect">
            <a:avLst/>
          </a:prstGeom>
          <a:noFill/>
        </p:spPr>
        <p:txBody>
          <a:bodyPr wrap="none" lIns="0" tIns="0" rIns="0" bIns="0">
            <a:spAutoFit/>
          </a:bodyPr>
          <a:lstStyle/>
          <a:p>
            <a:r>
              <a:rPr sz="1100" b="0">
                <a:solidFill>
                  <a:srgbClr val="5F6B7A"/>
                </a:solidFill>
                <a:latin typeface="Calibri"/>
              </a:rPr>
              <a:t>= 2, else 1</a:t>
            </a:r>
          </a:p>
        </p:txBody>
      </p:sp>
      <p:pic>
        <p:nvPicPr>
          <p:cNvPr id="196" name="Picture 195" descr="lock.png"/>
          <p:cNvPicPr>
            <a:picLocks noChangeAspect="1"/>
          </p:cNvPicPr>
          <p:nvPr/>
        </p:nvPicPr>
        <p:blipFill>
          <a:blip r:embed="rId4"/>
          <a:stretch>
            <a:fillRect/>
          </a:stretch>
        </p:blipFill>
        <p:spPr>
          <a:xfrm>
            <a:off x="3126525" y="2306701"/>
            <a:ext cx="128699" cy="187198"/>
          </a:xfrm>
          <a:prstGeom prst="rect">
            <a:avLst/>
          </a:prstGeom>
        </p:spPr>
      </p:pic>
      <p:pic>
        <p:nvPicPr>
          <p:cNvPr id="197" name="Picture 196" descr="lock.png"/>
          <p:cNvPicPr>
            <a:picLocks noChangeAspect="1"/>
          </p:cNvPicPr>
          <p:nvPr/>
        </p:nvPicPr>
        <p:blipFill>
          <a:blip r:embed="rId4"/>
          <a:stretch>
            <a:fillRect/>
          </a:stretch>
        </p:blipFill>
        <p:spPr>
          <a:xfrm>
            <a:off x="10349650" y="2306701"/>
            <a:ext cx="128699" cy="187198"/>
          </a:xfrm>
          <a:prstGeom prst="rect">
            <a:avLst/>
          </a:prstGeom>
        </p:spPr>
      </p:pic>
      <p:pic>
        <p:nvPicPr>
          <p:cNvPr id="198" name="Picture 197" descr="lock.png"/>
          <p:cNvPicPr>
            <a:picLocks noChangeAspect="1"/>
          </p:cNvPicPr>
          <p:nvPr/>
        </p:nvPicPr>
        <p:blipFill>
          <a:blip r:embed="rId4"/>
          <a:stretch>
            <a:fillRect/>
          </a:stretch>
        </p:blipFill>
        <p:spPr>
          <a:xfrm>
            <a:off x="11407984" y="2306701"/>
            <a:ext cx="128699" cy="187198"/>
          </a:xfrm>
          <a:prstGeom prst="rect">
            <a:avLst/>
          </a:prstGeom>
        </p:spPr>
      </p:pic>
      <p:pic>
        <p:nvPicPr>
          <p:cNvPr id="199" name="Picture 198" descr="lock.png"/>
          <p:cNvPicPr>
            <a:picLocks noChangeAspect="1"/>
          </p:cNvPicPr>
          <p:nvPr/>
        </p:nvPicPr>
        <p:blipFill>
          <a:blip r:embed="rId4"/>
          <a:stretch>
            <a:fillRect/>
          </a:stretch>
        </p:blipFill>
        <p:spPr>
          <a:xfrm>
            <a:off x="3126525" y="2649601"/>
            <a:ext cx="128699" cy="187198"/>
          </a:xfrm>
          <a:prstGeom prst="rect">
            <a:avLst/>
          </a:prstGeom>
        </p:spPr>
      </p:pic>
      <p:pic>
        <p:nvPicPr>
          <p:cNvPr id="200" name="Picture 199" descr="lock.png"/>
          <p:cNvPicPr>
            <a:picLocks noChangeAspect="1"/>
          </p:cNvPicPr>
          <p:nvPr/>
        </p:nvPicPr>
        <p:blipFill>
          <a:blip r:embed="rId4"/>
          <a:stretch>
            <a:fillRect/>
          </a:stretch>
        </p:blipFill>
        <p:spPr>
          <a:xfrm>
            <a:off x="10349650" y="2649601"/>
            <a:ext cx="128699" cy="187198"/>
          </a:xfrm>
          <a:prstGeom prst="rect">
            <a:avLst/>
          </a:prstGeom>
        </p:spPr>
      </p:pic>
      <p:pic>
        <p:nvPicPr>
          <p:cNvPr id="201" name="Picture 200" descr="lock.png"/>
          <p:cNvPicPr>
            <a:picLocks noChangeAspect="1"/>
          </p:cNvPicPr>
          <p:nvPr/>
        </p:nvPicPr>
        <p:blipFill>
          <a:blip r:embed="rId4"/>
          <a:stretch>
            <a:fillRect/>
          </a:stretch>
        </p:blipFill>
        <p:spPr>
          <a:xfrm>
            <a:off x="11407984" y="2649601"/>
            <a:ext cx="128699" cy="187198"/>
          </a:xfrm>
          <a:prstGeom prst="rect">
            <a:avLst/>
          </a:prstGeom>
        </p:spPr>
      </p:pic>
      <p:pic>
        <p:nvPicPr>
          <p:cNvPr id="202" name="Picture 201" descr="lock.png"/>
          <p:cNvPicPr>
            <a:picLocks noChangeAspect="1"/>
          </p:cNvPicPr>
          <p:nvPr/>
        </p:nvPicPr>
        <p:blipFill>
          <a:blip r:embed="rId4"/>
          <a:stretch>
            <a:fillRect/>
          </a:stretch>
        </p:blipFill>
        <p:spPr>
          <a:xfrm>
            <a:off x="3126525" y="2992501"/>
            <a:ext cx="128699" cy="187198"/>
          </a:xfrm>
          <a:prstGeom prst="rect">
            <a:avLst/>
          </a:prstGeom>
        </p:spPr>
      </p:pic>
      <p:pic>
        <p:nvPicPr>
          <p:cNvPr id="203" name="Picture 202" descr="lock.png"/>
          <p:cNvPicPr>
            <a:picLocks noChangeAspect="1"/>
          </p:cNvPicPr>
          <p:nvPr/>
        </p:nvPicPr>
        <p:blipFill>
          <a:blip r:embed="rId4"/>
          <a:stretch>
            <a:fillRect/>
          </a:stretch>
        </p:blipFill>
        <p:spPr>
          <a:xfrm>
            <a:off x="10349650" y="2992501"/>
            <a:ext cx="128699" cy="187198"/>
          </a:xfrm>
          <a:prstGeom prst="rect">
            <a:avLst/>
          </a:prstGeom>
        </p:spPr>
      </p:pic>
      <p:pic>
        <p:nvPicPr>
          <p:cNvPr id="204" name="Picture 203" descr="lock.png"/>
          <p:cNvPicPr>
            <a:picLocks noChangeAspect="1"/>
          </p:cNvPicPr>
          <p:nvPr/>
        </p:nvPicPr>
        <p:blipFill>
          <a:blip r:embed="rId4"/>
          <a:stretch>
            <a:fillRect/>
          </a:stretch>
        </p:blipFill>
        <p:spPr>
          <a:xfrm>
            <a:off x="11407984" y="2992501"/>
            <a:ext cx="128699" cy="187198"/>
          </a:xfrm>
          <a:prstGeom prst="rect">
            <a:avLst/>
          </a:prstGeom>
        </p:spPr>
      </p:pic>
      <p:pic>
        <p:nvPicPr>
          <p:cNvPr id="205" name="Picture 204" descr="lock.png"/>
          <p:cNvPicPr>
            <a:picLocks noChangeAspect="1"/>
          </p:cNvPicPr>
          <p:nvPr/>
        </p:nvPicPr>
        <p:blipFill>
          <a:blip r:embed="rId4"/>
          <a:stretch>
            <a:fillRect/>
          </a:stretch>
        </p:blipFill>
        <p:spPr>
          <a:xfrm>
            <a:off x="3126525" y="3335401"/>
            <a:ext cx="128699" cy="187198"/>
          </a:xfrm>
          <a:prstGeom prst="rect">
            <a:avLst/>
          </a:prstGeom>
        </p:spPr>
      </p:pic>
      <p:pic>
        <p:nvPicPr>
          <p:cNvPr id="206" name="Picture 205" descr="lock.png"/>
          <p:cNvPicPr>
            <a:picLocks noChangeAspect="1"/>
          </p:cNvPicPr>
          <p:nvPr/>
        </p:nvPicPr>
        <p:blipFill>
          <a:blip r:embed="rId4"/>
          <a:stretch>
            <a:fillRect/>
          </a:stretch>
        </p:blipFill>
        <p:spPr>
          <a:xfrm>
            <a:off x="10349650" y="33354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1407984" y="3335401"/>
            <a:ext cx="128699" cy="187198"/>
          </a:xfrm>
          <a:prstGeom prst="rect">
            <a:avLst/>
          </a:prstGeom>
        </p:spPr>
      </p:pic>
      <p:pic>
        <p:nvPicPr>
          <p:cNvPr id="208" name="Picture 207" descr="lock.png"/>
          <p:cNvPicPr>
            <a:picLocks noChangeAspect="1"/>
          </p:cNvPicPr>
          <p:nvPr/>
        </p:nvPicPr>
        <p:blipFill>
          <a:blip r:embed="rId4"/>
          <a:stretch>
            <a:fillRect/>
          </a:stretch>
        </p:blipFill>
        <p:spPr>
          <a:xfrm>
            <a:off x="3126525" y="3678301"/>
            <a:ext cx="128699" cy="187198"/>
          </a:xfrm>
          <a:prstGeom prst="rect">
            <a:avLst/>
          </a:prstGeom>
        </p:spPr>
      </p:pic>
      <p:pic>
        <p:nvPicPr>
          <p:cNvPr id="209" name="Picture 208" descr="lock.png"/>
          <p:cNvPicPr>
            <a:picLocks noChangeAspect="1"/>
          </p:cNvPicPr>
          <p:nvPr/>
        </p:nvPicPr>
        <p:blipFill>
          <a:blip r:embed="rId4"/>
          <a:stretch>
            <a:fillRect/>
          </a:stretch>
        </p:blipFill>
        <p:spPr>
          <a:xfrm>
            <a:off x="10349650" y="3678301"/>
            <a:ext cx="128699" cy="187198"/>
          </a:xfrm>
          <a:prstGeom prst="rect">
            <a:avLst/>
          </a:prstGeom>
        </p:spPr>
      </p:pic>
      <p:pic>
        <p:nvPicPr>
          <p:cNvPr id="210" name="Picture 209" descr="lock.png"/>
          <p:cNvPicPr>
            <a:picLocks noChangeAspect="1"/>
          </p:cNvPicPr>
          <p:nvPr/>
        </p:nvPicPr>
        <p:blipFill>
          <a:blip r:embed="rId4"/>
          <a:stretch>
            <a:fillRect/>
          </a:stretch>
        </p:blipFill>
        <p:spPr>
          <a:xfrm>
            <a:off x="11407984" y="3678301"/>
            <a:ext cx="128699" cy="187198"/>
          </a:xfrm>
          <a:prstGeom prst="rect">
            <a:avLst/>
          </a:prstGeom>
        </p:spPr>
      </p:pic>
      <p:pic>
        <p:nvPicPr>
          <p:cNvPr id="211" name="Picture 210" descr="lock.png"/>
          <p:cNvPicPr>
            <a:picLocks noChangeAspect="1"/>
          </p:cNvPicPr>
          <p:nvPr/>
        </p:nvPicPr>
        <p:blipFill>
          <a:blip r:embed="rId4"/>
          <a:stretch>
            <a:fillRect/>
          </a:stretch>
        </p:blipFill>
        <p:spPr>
          <a:xfrm>
            <a:off x="3126525" y="4021201"/>
            <a:ext cx="128699" cy="187198"/>
          </a:xfrm>
          <a:prstGeom prst="rect">
            <a:avLst/>
          </a:prstGeom>
        </p:spPr>
      </p:pic>
      <p:pic>
        <p:nvPicPr>
          <p:cNvPr id="212" name="Picture 211" descr="lock.png"/>
          <p:cNvPicPr>
            <a:picLocks noChangeAspect="1"/>
          </p:cNvPicPr>
          <p:nvPr/>
        </p:nvPicPr>
        <p:blipFill>
          <a:blip r:embed="rId4"/>
          <a:stretch>
            <a:fillRect/>
          </a:stretch>
        </p:blipFill>
        <p:spPr>
          <a:xfrm>
            <a:off x="10349650" y="4021201"/>
            <a:ext cx="128699" cy="187198"/>
          </a:xfrm>
          <a:prstGeom prst="rect">
            <a:avLst/>
          </a:prstGeom>
        </p:spPr>
      </p:pic>
      <p:pic>
        <p:nvPicPr>
          <p:cNvPr id="213" name="Picture 212" descr="lock.png"/>
          <p:cNvPicPr>
            <a:picLocks noChangeAspect="1"/>
          </p:cNvPicPr>
          <p:nvPr/>
        </p:nvPicPr>
        <p:blipFill>
          <a:blip r:embed="rId4"/>
          <a:stretch>
            <a:fillRect/>
          </a:stretch>
        </p:blipFill>
        <p:spPr>
          <a:xfrm>
            <a:off x="11407984" y="4021201"/>
            <a:ext cx="128699" cy="187198"/>
          </a:xfrm>
          <a:prstGeom prst="rect">
            <a:avLst/>
          </a:prstGeom>
        </p:spPr>
      </p:pic>
      <p:pic>
        <p:nvPicPr>
          <p:cNvPr id="214" name="Picture 213" descr="lock.png"/>
          <p:cNvPicPr>
            <a:picLocks noChangeAspect="1"/>
          </p:cNvPicPr>
          <p:nvPr/>
        </p:nvPicPr>
        <p:blipFill>
          <a:blip r:embed="rId4"/>
          <a:stretch>
            <a:fillRect/>
          </a:stretch>
        </p:blipFill>
        <p:spPr>
          <a:xfrm>
            <a:off x="3126525" y="4364101"/>
            <a:ext cx="128699" cy="187198"/>
          </a:xfrm>
          <a:prstGeom prst="rect">
            <a:avLst/>
          </a:prstGeom>
        </p:spPr>
      </p:pic>
      <p:pic>
        <p:nvPicPr>
          <p:cNvPr id="215" name="Picture 214" descr="lock.png"/>
          <p:cNvPicPr>
            <a:picLocks noChangeAspect="1"/>
          </p:cNvPicPr>
          <p:nvPr/>
        </p:nvPicPr>
        <p:blipFill>
          <a:blip r:embed="rId4"/>
          <a:stretch>
            <a:fillRect/>
          </a:stretch>
        </p:blipFill>
        <p:spPr>
          <a:xfrm>
            <a:off x="10349650" y="4364101"/>
            <a:ext cx="128699" cy="187198"/>
          </a:xfrm>
          <a:prstGeom prst="rect">
            <a:avLst/>
          </a:prstGeom>
        </p:spPr>
      </p:pic>
      <p:pic>
        <p:nvPicPr>
          <p:cNvPr id="216" name="Picture 215" descr="lock.png"/>
          <p:cNvPicPr>
            <a:picLocks noChangeAspect="1"/>
          </p:cNvPicPr>
          <p:nvPr/>
        </p:nvPicPr>
        <p:blipFill>
          <a:blip r:embed="rId4"/>
          <a:stretch>
            <a:fillRect/>
          </a:stretch>
        </p:blipFill>
        <p:spPr>
          <a:xfrm>
            <a:off x="11407984" y="4364101"/>
            <a:ext cx="128699" cy="187198"/>
          </a:xfrm>
          <a:prstGeom prst="rect">
            <a:avLst/>
          </a:prstGeom>
        </p:spPr>
      </p:pic>
      <p:pic>
        <p:nvPicPr>
          <p:cNvPr id="217" name="Picture 216" descr="lock.png"/>
          <p:cNvPicPr>
            <a:picLocks noChangeAspect="1"/>
          </p:cNvPicPr>
          <p:nvPr/>
        </p:nvPicPr>
        <p:blipFill>
          <a:blip r:embed="rId4"/>
          <a:stretch>
            <a:fillRect/>
          </a:stretch>
        </p:blipFill>
        <p:spPr>
          <a:xfrm>
            <a:off x="3126525" y="4707001"/>
            <a:ext cx="128699" cy="187198"/>
          </a:xfrm>
          <a:prstGeom prst="rect">
            <a:avLst/>
          </a:prstGeom>
        </p:spPr>
      </p:pic>
      <p:pic>
        <p:nvPicPr>
          <p:cNvPr id="218" name="Picture 217" descr="lock.png"/>
          <p:cNvPicPr>
            <a:picLocks noChangeAspect="1"/>
          </p:cNvPicPr>
          <p:nvPr/>
        </p:nvPicPr>
        <p:blipFill>
          <a:blip r:embed="rId4"/>
          <a:stretch>
            <a:fillRect/>
          </a:stretch>
        </p:blipFill>
        <p:spPr>
          <a:xfrm>
            <a:off x="10349650" y="4707001"/>
            <a:ext cx="128699" cy="187198"/>
          </a:xfrm>
          <a:prstGeom prst="rect">
            <a:avLst/>
          </a:prstGeom>
        </p:spPr>
      </p:pic>
      <p:pic>
        <p:nvPicPr>
          <p:cNvPr id="219" name="Picture 218" descr="lock.png"/>
          <p:cNvPicPr>
            <a:picLocks noChangeAspect="1"/>
          </p:cNvPicPr>
          <p:nvPr/>
        </p:nvPicPr>
        <p:blipFill>
          <a:blip r:embed="rId4"/>
          <a:stretch>
            <a:fillRect/>
          </a:stretch>
        </p:blipFill>
        <p:spPr>
          <a:xfrm>
            <a:off x="11407984" y="4707001"/>
            <a:ext cx="128699" cy="187198"/>
          </a:xfrm>
          <a:prstGeom prst="rect">
            <a:avLst/>
          </a:prstGeom>
        </p:spPr>
      </p:pic>
      <p:pic>
        <p:nvPicPr>
          <p:cNvPr id="220" name="Picture 219" descr="lock.png"/>
          <p:cNvPicPr>
            <a:picLocks noChangeAspect="1"/>
          </p:cNvPicPr>
          <p:nvPr/>
        </p:nvPicPr>
        <p:blipFill>
          <a:blip r:embed="rId4"/>
          <a:stretch>
            <a:fillRect/>
          </a:stretch>
        </p:blipFill>
        <p:spPr>
          <a:xfrm>
            <a:off x="3126525" y="5049901"/>
            <a:ext cx="128699" cy="187198"/>
          </a:xfrm>
          <a:prstGeom prst="rect">
            <a:avLst/>
          </a:prstGeom>
        </p:spPr>
      </p:pic>
      <p:pic>
        <p:nvPicPr>
          <p:cNvPr id="221" name="Picture 220" descr="lock.png"/>
          <p:cNvPicPr>
            <a:picLocks noChangeAspect="1"/>
          </p:cNvPicPr>
          <p:nvPr/>
        </p:nvPicPr>
        <p:blipFill>
          <a:blip r:embed="rId4"/>
          <a:stretch>
            <a:fillRect/>
          </a:stretch>
        </p:blipFill>
        <p:spPr>
          <a:xfrm>
            <a:off x="10349650" y="5049901"/>
            <a:ext cx="128699" cy="187198"/>
          </a:xfrm>
          <a:prstGeom prst="rect">
            <a:avLst/>
          </a:prstGeom>
        </p:spPr>
      </p:pic>
      <p:pic>
        <p:nvPicPr>
          <p:cNvPr id="222" name="Picture 221" descr="lock.png"/>
          <p:cNvPicPr>
            <a:picLocks noChangeAspect="1"/>
          </p:cNvPicPr>
          <p:nvPr/>
        </p:nvPicPr>
        <p:blipFill>
          <a:blip r:embed="rId4"/>
          <a:stretch>
            <a:fillRect/>
          </a:stretch>
        </p:blipFill>
        <p:spPr>
          <a:xfrm>
            <a:off x="11407984" y="5049901"/>
            <a:ext cx="128699" cy="187198"/>
          </a:xfrm>
          <a:prstGeom prst="rect">
            <a:avLst/>
          </a:prstGeom>
        </p:spPr>
      </p:pic>
      <p:pic>
        <p:nvPicPr>
          <p:cNvPr id="223" name="Picture 222" descr="lock.png"/>
          <p:cNvPicPr>
            <a:picLocks noChangeAspect="1"/>
          </p:cNvPicPr>
          <p:nvPr/>
        </p:nvPicPr>
        <p:blipFill>
          <a:blip r:embed="rId4"/>
          <a:stretch>
            <a:fillRect/>
          </a:stretch>
        </p:blipFill>
        <p:spPr>
          <a:xfrm>
            <a:off x="3126525" y="5392801"/>
            <a:ext cx="128699" cy="187198"/>
          </a:xfrm>
          <a:prstGeom prst="rect">
            <a:avLst/>
          </a:prstGeom>
        </p:spPr>
      </p:pic>
      <p:pic>
        <p:nvPicPr>
          <p:cNvPr id="224" name="Picture 223" descr="lock.png"/>
          <p:cNvPicPr>
            <a:picLocks noChangeAspect="1"/>
          </p:cNvPicPr>
          <p:nvPr/>
        </p:nvPicPr>
        <p:blipFill>
          <a:blip r:embed="rId4"/>
          <a:stretch>
            <a:fillRect/>
          </a:stretch>
        </p:blipFill>
        <p:spPr>
          <a:xfrm>
            <a:off x="10349650" y="5392801"/>
            <a:ext cx="128699" cy="187198"/>
          </a:xfrm>
          <a:prstGeom prst="rect">
            <a:avLst/>
          </a:prstGeom>
        </p:spPr>
      </p:pic>
      <p:pic>
        <p:nvPicPr>
          <p:cNvPr id="225" name="Picture 224" descr="lock.png"/>
          <p:cNvPicPr>
            <a:picLocks noChangeAspect="1"/>
          </p:cNvPicPr>
          <p:nvPr/>
        </p:nvPicPr>
        <p:blipFill>
          <a:blip r:embed="rId4"/>
          <a:stretch>
            <a:fillRect/>
          </a:stretch>
        </p:blipFill>
        <p:spPr>
          <a:xfrm>
            <a:off x="11407984" y="5392801"/>
            <a:ext cx="128699" cy="187198"/>
          </a:xfrm>
          <a:prstGeom prst="rect">
            <a:avLst/>
          </a:prstGeom>
        </p:spPr>
      </p:pic>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66700" y="1047750"/>
            <a:ext cx="6667500" cy="209550"/>
          </a:xfrm>
          <a:prstGeom prst="rect">
            <a:avLst/>
          </a:prstGeom>
          <a:noFill/>
        </p:spPr>
        <p:txBody>
          <a:bodyPr wrap="square" lIns="28575" tIns="9525" rIns="2857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285750" y="22479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Multicell Packaging Inc.</a:t>
            </a:r>
          </a:p>
        </p:txBody>
      </p:sp>
      <p:sp>
        <p:nvSpPr>
          <p:cNvPr id="27" name="TextBox 26"/>
          <p:cNvSpPr txBox="1"/>
          <p:nvPr/>
        </p:nvSpPr>
        <p:spPr>
          <a:xfrm>
            <a:off x="285750" y="24098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4979894" y="22288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Others, Glassware, Ceramics &amp; Home Goods</a:t>
            </a:r>
          </a:p>
        </p:txBody>
      </p:sp>
      <p:sp>
        <p:nvSpPr>
          <p:cNvPr id="33" name="TextBox 32"/>
          <p:cNvSpPr txBox="1"/>
          <p:nvPr/>
        </p:nvSpPr>
        <p:spPr>
          <a:xfrm>
            <a:off x="8471647" y="2228850"/>
            <a:ext cx="1764926" cy="342900"/>
          </a:xfrm>
          <a:prstGeom prst="rect">
            <a:avLst/>
          </a:prstGeom>
          <a:noFill/>
        </p:spPr>
        <p:txBody>
          <a:bodyPr wrap="square" lIns="28575" tIns="9525" rIns="28575" bIns="9525" anchor="ctr">
            <a:spAutoFit/>
          </a:bodyPr>
          <a:lstStyle/>
          <a:p>
            <a:pPr algn="ctr"/>
            <a:endParaRPr/>
          </a:p>
        </p:txBody>
      </p:sp>
      <p:sp>
        <p:nvSpPr>
          <p:cNvPr id="34" name="TextBox 33"/>
          <p:cNvSpPr txBox="1"/>
          <p:nvPr/>
        </p:nvSpPr>
        <p:spPr>
          <a:xfrm>
            <a:off x="10236574" y="2228850"/>
            <a:ext cx="1764926" cy="342900"/>
          </a:xfrm>
          <a:prstGeom prst="rect">
            <a:avLst/>
          </a:prstGeom>
          <a:noFill/>
        </p:spPr>
        <p:txBody>
          <a:bodyPr wrap="square" lIns="28575" tIns="9525" rIns="28575" bIns="9525" anchor="ctr">
            <a:spAutoFit/>
          </a:bodyPr>
          <a:lstStyle/>
          <a:p>
            <a:pPr algn="ctr"/>
            <a:endParaRP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285750" y="25908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Company</a:t>
            </a:r>
          </a:p>
        </p:txBody>
      </p:sp>
      <p:sp>
        <p:nvSpPr>
          <p:cNvPr id="38" name="TextBox 37"/>
          <p:cNvSpPr txBox="1"/>
          <p:nvPr/>
        </p:nvSpPr>
        <p:spPr>
          <a:xfrm>
            <a:off x="285750" y="27527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4979894" y="25717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Others, Automotive &amp; Industrial Components</a:t>
            </a:r>
          </a:p>
        </p:txBody>
      </p:sp>
      <p:sp>
        <p:nvSpPr>
          <p:cNvPr id="44" name="TextBox 43"/>
          <p:cNvSpPr txBox="1"/>
          <p:nvPr/>
        </p:nvSpPr>
        <p:spPr>
          <a:xfrm>
            <a:off x="8471647" y="2571750"/>
            <a:ext cx="1764926" cy="342900"/>
          </a:xfrm>
          <a:prstGeom prst="rect">
            <a:avLst/>
          </a:prstGeom>
          <a:noFill/>
        </p:spPr>
        <p:txBody>
          <a:bodyPr wrap="square" lIns="28575" tIns="9525" rIns="28575" bIns="9525" anchor="ctr">
            <a:spAutoFit/>
          </a:bodyPr>
          <a:lstStyle/>
          <a:p>
            <a:pPr algn="ctr"/>
            <a:endParaRPr/>
          </a:p>
        </p:txBody>
      </p:sp>
      <p:sp>
        <p:nvSpPr>
          <p:cNvPr id="45" name="TextBox 44"/>
          <p:cNvSpPr txBox="1"/>
          <p:nvPr/>
        </p:nvSpPr>
        <p:spPr>
          <a:xfrm>
            <a:off x="10236574" y="2571750"/>
            <a:ext cx="1764926" cy="342900"/>
          </a:xfrm>
          <a:prstGeom prst="rect">
            <a:avLst/>
          </a:prstGeom>
          <a:noFill/>
        </p:spPr>
        <p:txBody>
          <a:bodyPr wrap="square" lIns="28575" tIns="9525" rIns="28575" bIns="9525" anchor="ctr">
            <a:spAutoFit/>
          </a:bodyPr>
          <a:lstStyle/>
          <a:p>
            <a:pPr algn="ctr"/>
            <a:endParaRP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285750" y="29337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Great American Paper Inc.</a:t>
            </a:r>
          </a:p>
        </p:txBody>
      </p:sp>
      <p:sp>
        <p:nvSpPr>
          <p:cNvPr id="49" name="TextBox 48"/>
          <p:cNvSpPr txBox="1"/>
          <p:nvPr/>
        </p:nvSpPr>
        <p:spPr>
          <a:xfrm>
            <a:off x="285750" y="30956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TextBox 53"/>
          <p:cNvSpPr txBox="1"/>
          <p:nvPr/>
        </p:nvSpPr>
        <p:spPr>
          <a:xfrm>
            <a:off x="4979894" y="29146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Glassware, Ceramics &amp; Home Goods, Automotive &amp; Industrial Components</a:t>
            </a:r>
          </a:p>
        </p:txBody>
      </p:sp>
      <p:sp>
        <p:nvSpPr>
          <p:cNvPr id="56" name="TextBox 55"/>
          <p:cNvSpPr txBox="1"/>
          <p:nvPr/>
        </p:nvSpPr>
        <p:spPr>
          <a:xfrm>
            <a:off x="8471647" y="2914650"/>
            <a:ext cx="1764926" cy="342900"/>
          </a:xfrm>
          <a:prstGeom prst="rect">
            <a:avLst/>
          </a:prstGeom>
          <a:noFill/>
        </p:spPr>
        <p:txBody>
          <a:bodyPr wrap="square" lIns="28575" tIns="9525" rIns="28575" bIns="9525" anchor="ctr">
            <a:spAutoFit/>
          </a:bodyPr>
          <a:lstStyle/>
          <a:p>
            <a:pPr algn="ctr"/>
            <a:endParaRPr/>
          </a:p>
        </p:txBody>
      </p:sp>
      <p:sp>
        <p:nvSpPr>
          <p:cNvPr id="57" name="TextBox 56"/>
          <p:cNvSpPr txBox="1"/>
          <p:nvPr/>
        </p:nvSpPr>
        <p:spPr>
          <a:xfrm>
            <a:off x="10236574" y="2914650"/>
            <a:ext cx="1764926" cy="342900"/>
          </a:xfrm>
          <a:prstGeom prst="rect">
            <a:avLst/>
          </a:prstGeom>
          <a:noFill/>
        </p:spPr>
        <p:txBody>
          <a:bodyPr wrap="square" lIns="28575" tIns="9525" rIns="28575" bIns="9525" anchor="ctr">
            <a:spAutoFit/>
          </a:bodyPr>
          <a:lstStyle/>
          <a:p>
            <a:pPr algn="ctr"/>
            <a:endParaRP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285750" y="32766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Interpack Inc.</a:t>
            </a:r>
          </a:p>
        </p:txBody>
      </p:sp>
      <p:sp>
        <p:nvSpPr>
          <p:cNvPr id="61" name="TextBox 60"/>
          <p:cNvSpPr txBox="1"/>
          <p:nvPr/>
        </p:nvSpPr>
        <p:spPr>
          <a:xfrm>
            <a:off x="285750" y="34385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TextBox 64"/>
          <p:cNvSpPr txBox="1"/>
          <p:nvPr/>
        </p:nvSpPr>
        <p:spPr>
          <a:xfrm>
            <a:off x="4979894" y="32575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Others, Glassware, Ceramics &amp; Home Goods</a:t>
            </a:r>
          </a:p>
        </p:txBody>
      </p:sp>
      <p:sp>
        <p:nvSpPr>
          <p:cNvPr id="67" name="TextBox 66"/>
          <p:cNvSpPr txBox="1"/>
          <p:nvPr/>
        </p:nvSpPr>
        <p:spPr>
          <a:xfrm>
            <a:off x="8471647" y="3257550"/>
            <a:ext cx="1764926" cy="342900"/>
          </a:xfrm>
          <a:prstGeom prst="rect">
            <a:avLst/>
          </a:prstGeom>
          <a:noFill/>
        </p:spPr>
        <p:txBody>
          <a:bodyPr wrap="square" lIns="28575" tIns="9525" rIns="28575" bIns="9525" anchor="ctr">
            <a:spAutoFit/>
          </a:bodyPr>
          <a:lstStyle/>
          <a:p>
            <a:pPr algn="ctr"/>
            <a:endParaRPr/>
          </a:p>
        </p:txBody>
      </p:sp>
      <p:sp>
        <p:nvSpPr>
          <p:cNvPr id="68" name="TextBox 67"/>
          <p:cNvSpPr txBox="1"/>
          <p:nvPr/>
        </p:nvSpPr>
        <p:spPr>
          <a:xfrm>
            <a:off x="10236574" y="3257550"/>
            <a:ext cx="1764926" cy="342900"/>
          </a:xfrm>
          <a:prstGeom prst="rect">
            <a:avLst/>
          </a:prstGeom>
          <a:noFill/>
        </p:spPr>
        <p:txBody>
          <a:bodyPr wrap="square" lIns="28575" tIns="9525" rIns="28575" bIns="9525" anchor="ctr">
            <a:spAutoFit/>
          </a:bodyPr>
          <a:lstStyle/>
          <a:p>
            <a:pPr algn="ctr"/>
            <a:endParaRP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285750" y="36195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Caps Cases Ltd.</a:t>
            </a:r>
          </a:p>
        </p:txBody>
      </p:sp>
      <p:sp>
        <p:nvSpPr>
          <p:cNvPr id="72" name="TextBox 71"/>
          <p:cNvSpPr txBox="1"/>
          <p:nvPr/>
        </p:nvSpPr>
        <p:spPr>
          <a:xfrm>
            <a:off x="285750" y="37814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TextBox 75"/>
          <p:cNvSpPr txBox="1"/>
          <p:nvPr/>
        </p:nvSpPr>
        <p:spPr>
          <a:xfrm>
            <a:off x="4979894" y="36004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Others, Automotive &amp; Industrial Components</a:t>
            </a:r>
          </a:p>
        </p:txBody>
      </p:sp>
      <p:sp>
        <p:nvSpPr>
          <p:cNvPr id="78" name="TextBox 77"/>
          <p:cNvSpPr txBox="1"/>
          <p:nvPr/>
        </p:nvSpPr>
        <p:spPr>
          <a:xfrm>
            <a:off x="8471647" y="3600450"/>
            <a:ext cx="1764926" cy="342900"/>
          </a:xfrm>
          <a:prstGeom prst="rect">
            <a:avLst/>
          </a:prstGeom>
          <a:noFill/>
        </p:spPr>
        <p:txBody>
          <a:bodyPr wrap="square" lIns="28575" tIns="9525" rIns="28575" bIns="9525" anchor="ctr">
            <a:spAutoFit/>
          </a:bodyPr>
          <a:lstStyle/>
          <a:p>
            <a:pPr algn="ctr"/>
            <a:endParaRPr/>
          </a:p>
        </p:txBody>
      </p:sp>
      <p:sp>
        <p:nvSpPr>
          <p:cNvPr id="79" name="TextBox 78"/>
          <p:cNvSpPr txBox="1"/>
          <p:nvPr/>
        </p:nvSpPr>
        <p:spPr>
          <a:xfrm>
            <a:off x="10236574" y="3600450"/>
            <a:ext cx="1764926" cy="342900"/>
          </a:xfrm>
          <a:prstGeom prst="rect">
            <a:avLst/>
          </a:prstGeom>
          <a:noFill/>
        </p:spPr>
        <p:txBody>
          <a:bodyPr wrap="square" lIns="28575" tIns="9525" rIns="28575" bIns="9525" anchor="ctr">
            <a:spAutoFit/>
          </a:bodyPr>
          <a:lstStyle/>
          <a:p>
            <a:pPr algn="ctr"/>
            <a:endParaRP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TextBox 81"/>
          <p:cNvSpPr txBox="1"/>
          <p:nvPr/>
        </p:nvSpPr>
        <p:spPr>
          <a:xfrm>
            <a:off x="285750" y="39624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M &amp; M Box &amp; Partitions Co.</a:t>
            </a:r>
          </a:p>
        </p:txBody>
      </p:sp>
      <p:sp>
        <p:nvSpPr>
          <p:cNvPr id="83" name="TextBox 82"/>
          <p:cNvSpPr txBox="1"/>
          <p:nvPr/>
        </p:nvSpPr>
        <p:spPr>
          <a:xfrm>
            <a:off x="285750" y="41243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4979894" y="39433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Glassware, Ceramics &amp; Home Goods, Automotive &amp; Industrial Components</a:t>
            </a:r>
          </a:p>
        </p:txBody>
      </p:sp>
      <p:sp>
        <p:nvSpPr>
          <p:cNvPr id="89" name="TextBox 88"/>
          <p:cNvSpPr txBox="1"/>
          <p:nvPr/>
        </p:nvSpPr>
        <p:spPr>
          <a:xfrm>
            <a:off x="8471647" y="3943350"/>
            <a:ext cx="1764926" cy="342900"/>
          </a:xfrm>
          <a:prstGeom prst="rect">
            <a:avLst/>
          </a:prstGeom>
          <a:noFill/>
        </p:spPr>
        <p:txBody>
          <a:bodyPr wrap="square" lIns="28575" tIns="9525" rIns="28575" bIns="9525" anchor="ctr">
            <a:spAutoFit/>
          </a:bodyPr>
          <a:lstStyle/>
          <a:p>
            <a:pPr algn="ctr"/>
            <a:endParaRPr/>
          </a:p>
        </p:txBody>
      </p:sp>
      <p:sp>
        <p:nvSpPr>
          <p:cNvPr id="90" name="TextBox 89"/>
          <p:cNvSpPr txBox="1"/>
          <p:nvPr/>
        </p:nvSpPr>
        <p:spPr>
          <a:xfrm>
            <a:off x="10236574" y="3943350"/>
            <a:ext cx="1764926" cy="342900"/>
          </a:xfrm>
          <a:prstGeom prst="rect">
            <a:avLst/>
          </a:prstGeom>
          <a:noFill/>
        </p:spPr>
        <p:txBody>
          <a:bodyPr wrap="square" lIns="28575" tIns="9525" rIns="28575" bIns="9525" anchor="ctr">
            <a:spAutoFit/>
          </a:bodyPr>
          <a:lstStyle/>
          <a:p>
            <a:pPr algn="ctr"/>
            <a:endParaRP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TextBox 92"/>
          <p:cNvSpPr txBox="1"/>
          <p:nvPr/>
        </p:nvSpPr>
        <p:spPr>
          <a:xfrm>
            <a:off x="285750" y="43053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Martin Partitions</a:t>
            </a:r>
          </a:p>
        </p:txBody>
      </p:sp>
      <p:sp>
        <p:nvSpPr>
          <p:cNvPr id="94" name="TextBox 93"/>
          <p:cNvSpPr txBox="1"/>
          <p:nvPr/>
        </p:nvSpPr>
        <p:spPr>
          <a:xfrm>
            <a:off x="285750" y="44672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TextBox 98"/>
          <p:cNvSpPr txBox="1"/>
          <p:nvPr/>
        </p:nvSpPr>
        <p:spPr>
          <a:xfrm>
            <a:off x="4979894" y="42862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Others, Glassware, Ceramics &amp; Home Goods</a:t>
            </a:r>
          </a:p>
        </p:txBody>
      </p:sp>
      <p:sp>
        <p:nvSpPr>
          <p:cNvPr id="101" name="TextBox 100"/>
          <p:cNvSpPr txBox="1"/>
          <p:nvPr/>
        </p:nvSpPr>
        <p:spPr>
          <a:xfrm>
            <a:off x="8471647" y="4286250"/>
            <a:ext cx="1764926" cy="342900"/>
          </a:xfrm>
          <a:prstGeom prst="rect">
            <a:avLst/>
          </a:prstGeom>
          <a:noFill/>
        </p:spPr>
        <p:txBody>
          <a:bodyPr wrap="square" lIns="28575" tIns="9525" rIns="28575" bIns="9525" anchor="ctr">
            <a:spAutoFit/>
          </a:bodyPr>
          <a:lstStyle/>
          <a:p>
            <a:pPr algn="ctr"/>
            <a:endParaRPr/>
          </a:p>
        </p:txBody>
      </p:sp>
      <p:sp>
        <p:nvSpPr>
          <p:cNvPr id="102" name="TextBox 101"/>
          <p:cNvSpPr txBox="1"/>
          <p:nvPr/>
        </p:nvSpPr>
        <p:spPr>
          <a:xfrm>
            <a:off x="10236574" y="4286250"/>
            <a:ext cx="1764926" cy="342900"/>
          </a:xfrm>
          <a:prstGeom prst="rect">
            <a:avLst/>
          </a:prstGeom>
          <a:noFill/>
        </p:spPr>
        <p:txBody>
          <a:bodyPr wrap="square" lIns="28575" tIns="9525" rIns="28575" bIns="9525" anchor="ctr">
            <a:spAutoFit/>
          </a:bodyPr>
          <a:lstStyle/>
          <a:p>
            <a:pPr algn="ctr"/>
            <a:endParaRP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285750" y="46482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Buckeye Corrugated Inc.</a:t>
            </a:r>
          </a:p>
        </p:txBody>
      </p:sp>
      <p:sp>
        <p:nvSpPr>
          <p:cNvPr id="106" name="TextBox 105"/>
          <p:cNvSpPr txBox="1"/>
          <p:nvPr/>
        </p:nvSpPr>
        <p:spPr>
          <a:xfrm>
            <a:off x="285750" y="48101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TextBox 109"/>
          <p:cNvSpPr txBox="1"/>
          <p:nvPr/>
        </p:nvSpPr>
        <p:spPr>
          <a:xfrm>
            <a:off x="4979894" y="46291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Others, Automotive &amp; Industrial Components</a:t>
            </a:r>
          </a:p>
        </p:txBody>
      </p:sp>
      <p:sp>
        <p:nvSpPr>
          <p:cNvPr id="112" name="TextBox 111"/>
          <p:cNvSpPr txBox="1"/>
          <p:nvPr/>
        </p:nvSpPr>
        <p:spPr>
          <a:xfrm>
            <a:off x="8471647" y="4629150"/>
            <a:ext cx="1764926" cy="342900"/>
          </a:xfrm>
          <a:prstGeom prst="rect">
            <a:avLst/>
          </a:prstGeom>
          <a:noFill/>
        </p:spPr>
        <p:txBody>
          <a:bodyPr wrap="square" lIns="28575" tIns="9525" rIns="28575" bIns="9525" anchor="ctr">
            <a:spAutoFit/>
          </a:bodyPr>
          <a:lstStyle/>
          <a:p>
            <a:pPr algn="ctr"/>
            <a:endParaRPr/>
          </a:p>
        </p:txBody>
      </p:sp>
      <p:sp>
        <p:nvSpPr>
          <p:cNvPr id="113" name="TextBox 112"/>
          <p:cNvSpPr txBox="1"/>
          <p:nvPr/>
        </p:nvSpPr>
        <p:spPr>
          <a:xfrm>
            <a:off x="10236574" y="4629150"/>
            <a:ext cx="1764926" cy="342900"/>
          </a:xfrm>
          <a:prstGeom prst="rect">
            <a:avLst/>
          </a:prstGeom>
          <a:noFill/>
        </p:spPr>
        <p:txBody>
          <a:bodyPr wrap="square" lIns="28575" tIns="9525" rIns="28575" bIns="9525" anchor="ctr">
            <a:spAutoFit/>
          </a:bodyPr>
          <a:lstStyle/>
          <a:p>
            <a:pPr algn="ctr"/>
            <a:endParaRP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TextBox 115"/>
          <p:cNvSpPr txBox="1"/>
          <p:nvPr/>
        </p:nvSpPr>
        <p:spPr>
          <a:xfrm>
            <a:off x="285750" y="49911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Cactus Corrugated Containers Inc.</a:t>
            </a:r>
          </a:p>
        </p:txBody>
      </p:sp>
      <p:sp>
        <p:nvSpPr>
          <p:cNvPr id="117" name="TextBox 116"/>
          <p:cNvSpPr txBox="1"/>
          <p:nvPr/>
        </p:nvSpPr>
        <p:spPr>
          <a:xfrm>
            <a:off x="285750" y="51530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18" name="Oval 117"/>
          <p:cNvSpPr/>
          <p:nvPr/>
        </p:nvSpPr>
        <p:spPr>
          <a:xfrm>
            <a:off x="2659436"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Oval 118"/>
          <p:cNvSpPr/>
          <p:nvPr/>
        </p:nvSpPr>
        <p:spPr>
          <a:xfrm>
            <a:off x="4130208"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Freeform 119"/>
          <p:cNvSpPr/>
          <p:nvPr/>
        </p:nvSpPr>
        <p:spPr>
          <a:xfrm>
            <a:off x="4210050" y="5067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4979894" y="49720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Value / entry</a:t>
            </a:r>
          </a:p>
        </p:txBody>
      </p:sp>
      <p:sp>
        <p:nvSpPr>
          <p:cNvPr id="122" name="TextBox 121"/>
          <p:cNvSpPr txBox="1"/>
          <p:nvPr/>
        </p:nvSpPr>
        <p:spPr>
          <a:xfrm>
            <a:off x="6744821" y="49720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Glassware, Ceramics &amp; Home Goods, Automotive &amp; Industrial Components</a:t>
            </a:r>
          </a:p>
        </p:txBody>
      </p:sp>
      <p:sp>
        <p:nvSpPr>
          <p:cNvPr id="123" name="TextBox 122"/>
          <p:cNvSpPr txBox="1"/>
          <p:nvPr/>
        </p:nvSpPr>
        <p:spPr>
          <a:xfrm>
            <a:off x="8471647" y="4972050"/>
            <a:ext cx="1764926" cy="342900"/>
          </a:xfrm>
          <a:prstGeom prst="rect">
            <a:avLst/>
          </a:prstGeom>
          <a:noFill/>
        </p:spPr>
        <p:txBody>
          <a:bodyPr wrap="square" lIns="28575" tIns="9525" rIns="28575" bIns="9525" anchor="ctr">
            <a:spAutoFit/>
          </a:bodyPr>
          <a:lstStyle/>
          <a:p>
            <a:pPr algn="ctr"/>
            <a:endParaRPr/>
          </a:p>
        </p:txBody>
      </p:sp>
      <p:sp>
        <p:nvSpPr>
          <p:cNvPr id="124" name="TextBox 123"/>
          <p:cNvSpPr txBox="1"/>
          <p:nvPr/>
        </p:nvSpPr>
        <p:spPr>
          <a:xfrm>
            <a:off x="10236574" y="4972050"/>
            <a:ext cx="1764926" cy="342900"/>
          </a:xfrm>
          <a:prstGeom prst="rect">
            <a:avLst/>
          </a:prstGeom>
          <a:noFill/>
        </p:spPr>
        <p:txBody>
          <a:bodyPr wrap="square" lIns="28575" tIns="9525" rIns="28575" bIns="9525" anchor="ctr">
            <a:spAutoFit/>
          </a:bodyPr>
          <a:lstStyle/>
          <a:p>
            <a:pPr algn="ctr"/>
            <a:endParaRPr/>
          </a:p>
        </p:txBody>
      </p:sp>
      <p:cxnSp>
        <p:nvCxnSpPr>
          <p:cNvPr id="125" name="Connector 124"/>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TextBox 126"/>
          <p:cNvSpPr txBox="1"/>
          <p:nvPr/>
        </p:nvSpPr>
        <p:spPr>
          <a:xfrm>
            <a:off x="285750" y="53340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Jarrett Industries Inc.</a:t>
            </a:r>
          </a:p>
        </p:txBody>
      </p:sp>
      <p:sp>
        <p:nvSpPr>
          <p:cNvPr id="128" name="TextBox 127"/>
          <p:cNvSpPr txBox="1"/>
          <p:nvPr/>
        </p:nvSpPr>
        <p:spPr>
          <a:xfrm>
            <a:off x="285750" y="54959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29" name="Oval 128"/>
          <p:cNvSpPr/>
          <p:nvPr/>
        </p:nvSpPr>
        <p:spPr>
          <a:xfrm>
            <a:off x="2659436"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Freeform 129"/>
          <p:cNvSpPr/>
          <p:nvPr/>
        </p:nvSpPr>
        <p:spPr>
          <a:xfrm>
            <a:off x="2733675" y="5410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Oval 130"/>
          <p:cNvSpPr/>
          <p:nvPr/>
        </p:nvSpPr>
        <p:spPr>
          <a:xfrm>
            <a:off x="4130208"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TextBox 131"/>
          <p:cNvSpPr txBox="1"/>
          <p:nvPr/>
        </p:nvSpPr>
        <p:spPr>
          <a:xfrm>
            <a:off x="4979894" y="53149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Value / entry</a:t>
            </a:r>
          </a:p>
        </p:txBody>
      </p:sp>
      <p:sp>
        <p:nvSpPr>
          <p:cNvPr id="133" name="TextBox 132"/>
          <p:cNvSpPr txBox="1"/>
          <p:nvPr/>
        </p:nvSpPr>
        <p:spPr>
          <a:xfrm>
            <a:off x="6744821" y="53149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Others, Glassware, Ceramics &amp; Home Goods</a:t>
            </a:r>
          </a:p>
        </p:txBody>
      </p:sp>
      <p:sp>
        <p:nvSpPr>
          <p:cNvPr id="134" name="TextBox 133"/>
          <p:cNvSpPr txBox="1"/>
          <p:nvPr/>
        </p:nvSpPr>
        <p:spPr>
          <a:xfrm>
            <a:off x="8471647" y="5314950"/>
            <a:ext cx="1764926" cy="342900"/>
          </a:xfrm>
          <a:prstGeom prst="rect">
            <a:avLst/>
          </a:prstGeom>
          <a:noFill/>
        </p:spPr>
        <p:txBody>
          <a:bodyPr wrap="square" lIns="28575" tIns="9525" rIns="28575" bIns="9525" anchor="ctr">
            <a:spAutoFit/>
          </a:bodyPr>
          <a:lstStyle/>
          <a:p>
            <a:pPr algn="ctr"/>
            <a:endParaRPr/>
          </a:p>
        </p:txBody>
      </p:sp>
      <p:sp>
        <p:nvSpPr>
          <p:cNvPr id="135" name="TextBox 134"/>
          <p:cNvSpPr txBox="1"/>
          <p:nvPr/>
        </p:nvSpPr>
        <p:spPr>
          <a:xfrm>
            <a:off x="10236574" y="5314950"/>
            <a:ext cx="1764926" cy="342900"/>
          </a:xfrm>
          <a:prstGeom prst="rect">
            <a:avLst/>
          </a:prstGeom>
          <a:noFill/>
        </p:spPr>
        <p:txBody>
          <a:bodyPr wrap="square" lIns="28575" tIns="9525" rIns="28575" bIns="9525" anchor="ctr">
            <a:spAutoFit/>
          </a:bodyPr>
          <a:lstStyle/>
          <a:p>
            <a:pPr algn="ctr"/>
            <a:endParaRPr/>
          </a:p>
        </p:txBody>
      </p:sp>
      <p:cxnSp>
        <p:nvCxnSpPr>
          <p:cNvPr id="136" name="Connector 135"/>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Oval 136"/>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TextBox 137"/>
          <p:cNvSpPr txBox="1"/>
          <p:nvPr/>
        </p:nvSpPr>
        <p:spPr>
          <a:xfrm>
            <a:off x="381000"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Strong, direct evidence</a:t>
            </a:r>
          </a:p>
        </p:txBody>
      </p:sp>
      <p:sp>
        <p:nvSpPr>
          <p:cNvPr id="139" name="Oval 138"/>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Freeform 139"/>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TextBox 140"/>
          <p:cNvSpPr txBox="1"/>
          <p:nvPr/>
        </p:nvSpPr>
        <p:spPr>
          <a:xfrm>
            <a:off x="2245995"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Moderate or partial</a:t>
            </a:r>
          </a:p>
        </p:txBody>
      </p:sp>
      <p:sp>
        <p:nvSpPr>
          <p:cNvPr id="142" name="Oval 141"/>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3" name="Freeform 142"/>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4" name="TextBox 143"/>
          <p:cNvSpPr txBox="1"/>
          <p:nvPr/>
        </p:nvSpPr>
        <p:spPr>
          <a:xfrm>
            <a:off x="3859530"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Weak or indirect</a:t>
            </a:r>
          </a:p>
        </p:txBody>
      </p:sp>
      <p:sp>
        <p:nvSpPr>
          <p:cNvPr id="145" name="Oval 144"/>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6" name="TextBox 145"/>
          <p:cNvSpPr txBox="1"/>
          <p:nvPr/>
        </p:nvSpPr>
        <p:spPr>
          <a:xfrm>
            <a:off x="5284470"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None found</a:t>
            </a:r>
          </a:p>
        </p:txBody>
      </p:sp>
      <p:sp>
        <p:nvSpPr>
          <p:cNvPr id="147" name="TextBox 146"/>
          <p:cNvSpPr txBox="1"/>
          <p:nvPr/>
        </p:nvSpPr>
        <p:spPr>
          <a:xfrm>
            <a:off x="190500" y="5943600"/>
            <a:ext cx="2857500" cy="152400"/>
          </a:xfrm>
          <a:prstGeom prst="rect">
            <a:avLst/>
          </a:prstGeom>
          <a:noFill/>
        </p:spPr>
        <p:txBody>
          <a:bodyPr wrap="square" lIns="28575" tIns="9525" rIns="28575" bIns="9525" anchor="t">
            <a:spAutoFit/>
          </a:bodyPr>
          <a:lstStyle/>
          <a:p>
            <a:pPr algn="l"/>
            <a:r>
              <a:rPr sz="1100" b="1">
                <a:solidFill>
                  <a:srgbClr val="0F2D52"/>
                </a:solidFill>
                <a:latin typeface="Calibri"/>
              </a:rPr>
              <a:t>READING</a:t>
            </a:r>
          </a:p>
        </p:txBody>
      </p:sp>
      <p:sp>
        <p:nvSpPr>
          <p:cNvPr id="148" name="TextBox 147"/>
          <p:cNvSpPr txBox="1"/>
          <p:nvPr/>
        </p:nvSpPr>
        <p:spPr>
          <a:xfrm>
            <a:off x="190500" y="6096000"/>
            <a:ext cx="11811000" cy="2286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49" name="TextBox 14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50" name="Picture 149" descr="lock.png"/>
          <p:cNvPicPr>
            <a:picLocks noChangeAspect="1"/>
          </p:cNvPicPr>
          <p:nvPr/>
        </p:nvPicPr>
        <p:blipFill>
          <a:blip r:embed="rId4"/>
          <a:stretch>
            <a:fillRect/>
          </a:stretch>
        </p:blipFill>
        <p:spPr>
          <a:xfrm>
            <a:off x="9289760" y="2306701"/>
            <a:ext cx="128699" cy="187198"/>
          </a:xfrm>
          <a:prstGeom prst="rect">
            <a:avLst/>
          </a:prstGeom>
        </p:spPr>
      </p:pic>
      <p:pic>
        <p:nvPicPr>
          <p:cNvPr id="151" name="Picture 150" descr="lock.png"/>
          <p:cNvPicPr>
            <a:picLocks noChangeAspect="1"/>
          </p:cNvPicPr>
          <p:nvPr/>
        </p:nvPicPr>
        <p:blipFill>
          <a:blip r:embed="rId4"/>
          <a:stretch>
            <a:fillRect/>
          </a:stretch>
        </p:blipFill>
        <p:spPr>
          <a:xfrm>
            <a:off x="11054687" y="2306701"/>
            <a:ext cx="128699" cy="187198"/>
          </a:xfrm>
          <a:prstGeom prst="rect">
            <a:avLst/>
          </a:prstGeom>
        </p:spPr>
      </p:pic>
      <p:pic>
        <p:nvPicPr>
          <p:cNvPr id="152" name="Picture 151" descr="lock.png"/>
          <p:cNvPicPr>
            <a:picLocks noChangeAspect="1"/>
          </p:cNvPicPr>
          <p:nvPr/>
        </p:nvPicPr>
        <p:blipFill>
          <a:blip r:embed="rId4"/>
          <a:stretch>
            <a:fillRect/>
          </a:stretch>
        </p:blipFill>
        <p:spPr>
          <a:xfrm>
            <a:off x="9289760" y="2649601"/>
            <a:ext cx="128699" cy="187198"/>
          </a:xfrm>
          <a:prstGeom prst="rect">
            <a:avLst/>
          </a:prstGeom>
        </p:spPr>
      </p:pic>
      <p:pic>
        <p:nvPicPr>
          <p:cNvPr id="153" name="Picture 152" descr="lock.png"/>
          <p:cNvPicPr>
            <a:picLocks noChangeAspect="1"/>
          </p:cNvPicPr>
          <p:nvPr/>
        </p:nvPicPr>
        <p:blipFill>
          <a:blip r:embed="rId4"/>
          <a:stretch>
            <a:fillRect/>
          </a:stretch>
        </p:blipFill>
        <p:spPr>
          <a:xfrm>
            <a:off x="11054687" y="2649601"/>
            <a:ext cx="128699" cy="187198"/>
          </a:xfrm>
          <a:prstGeom prst="rect">
            <a:avLst/>
          </a:prstGeom>
        </p:spPr>
      </p:pic>
      <p:pic>
        <p:nvPicPr>
          <p:cNvPr id="154" name="Picture 153" descr="lock.png"/>
          <p:cNvPicPr>
            <a:picLocks noChangeAspect="1"/>
          </p:cNvPicPr>
          <p:nvPr/>
        </p:nvPicPr>
        <p:blipFill>
          <a:blip r:embed="rId4"/>
          <a:stretch>
            <a:fillRect/>
          </a:stretch>
        </p:blipFill>
        <p:spPr>
          <a:xfrm>
            <a:off x="9289760" y="2992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11054687" y="29925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289760" y="3335401"/>
            <a:ext cx="128699" cy="187198"/>
          </a:xfrm>
          <a:prstGeom prst="rect">
            <a:avLst/>
          </a:prstGeom>
        </p:spPr>
      </p:pic>
      <p:pic>
        <p:nvPicPr>
          <p:cNvPr id="157" name="Picture 156" descr="lock.png"/>
          <p:cNvPicPr>
            <a:picLocks noChangeAspect="1"/>
          </p:cNvPicPr>
          <p:nvPr/>
        </p:nvPicPr>
        <p:blipFill>
          <a:blip r:embed="rId4"/>
          <a:stretch>
            <a:fillRect/>
          </a:stretch>
        </p:blipFill>
        <p:spPr>
          <a:xfrm>
            <a:off x="11054687" y="3335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289760" y="3678301"/>
            <a:ext cx="128699" cy="187198"/>
          </a:xfrm>
          <a:prstGeom prst="rect">
            <a:avLst/>
          </a:prstGeom>
        </p:spPr>
      </p:pic>
      <p:pic>
        <p:nvPicPr>
          <p:cNvPr id="159" name="Picture 158" descr="lock.png"/>
          <p:cNvPicPr>
            <a:picLocks noChangeAspect="1"/>
          </p:cNvPicPr>
          <p:nvPr/>
        </p:nvPicPr>
        <p:blipFill>
          <a:blip r:embed="rId4"/>
          <a:stretch>
            <a:fillRect/>
          </a:stretch>
        </p:blipFill>
        <p:spPr>
          <a:xfrm>
            <a:off x="11054687" y="3678301"/>
            <a:ext cx="128699" cy="187198"/>
          </a:xfrm>
          <a:prstGeom prst="rect">
            <a:avLst/>
          </a:prstGeom>
        </p:spPr>
      </p:pic>
      <p:pic>
        <p:nvPicPr>
          <p:cNvPr id="160" name="Picture 159" descr="lock.png"/>
          <p:cNvPicPr>
            <a:picLocks noChangeAspect="1"/>
          </p:cNvPicPr>
          <p:nvPr/>
        </p:nvPicPr>
        <p:blipFill>
          <a:blip r:embed="rId4"/>
          <a:stretch>
            <a:fillRect/>
          </a:stretch>
        </p:blipFill>
        <p:spPr>
          <a:xfrm>
            <a:off x="9289760" y="4021201"/>
            <a:ext cx="128699" cy="187198"/>
          </a:xfrm>
          <a:prstGeom prst="rect">
            <a:avLst/>
          </a:prstGeom>
        </p:spPr>
      </p:pic>
      <p:pic>
        <p:nvPicPr>
          <p:cNvPr id="161" name="Picture 160" descr="lock.png"/>
          <p:cNvPicPr>
            <a:picLocks noChangeAspect="1"/>
          </p:cNvPicPr>
          <p:nvPr/>
        </p:nvPicPr>
        <p:blipFill>
          <a:blip r:embed="rId4"/>
          <a:stretch>
            <a:fillRect/>
          </a:stretch>
        </p:blipFill>
        <p:spPr>
          <a:xfrm>
            <a:off x="11054687" y="4021201"/>
            <a:ext cx="128699" cy="187198"/>
          </a:xfrm>
          <a:prstGeom prst="rect">
            <a:avLst/>
          </a:prstGeom>
        </p:spPr>
      </p:pic>
      <p:pic>
        <p:nvPicPr>
          <p:cNvPr id="162" name="Picture 161" descr="lock.png"/>
          <p:cNvPicPr>
            <a:picLocks noChangeAspect="1"/>
          </p:cNvPicPr>
          <p:nvPr/>
        </p:nvPicPr>
        <p:blipFill>
          <a:blip r:embed="rId4"/>
          <a:stretch>
            <a:fillRect/>
          </a:stretch>
        </p:blipFill>
        <p:spPr>
          <a:xfrm>
            <a:off x="9289760" y="4364101"/>
            <a:ext cx="128699" cy="187198"/>
          </a:xfrm>
          <a:prstGeom prst="rect">
            <a:avLst/>
          </a:prstGeom>
        </p:spPr>
      </p:pic>
      <p:pic>
        <p:nvPicPr>
          <p:cNvPr id="163" name="Picture 162" descr="lock.png"/>
          <p:cNvPicPr>
            <a:picLocks noChangeAspect="1"/>
          </p:cNvPicPr>
          <p:nvPr/>
        </p:nvPicPr>
        <p:blipFill>
          <a:blip r:embed="rId4"/>
          <a:stretch>
            <a:fillRect/>
          </a:stretch>
        </p:blipFill>
        <p:spPr>
          <a:xfrm>
            <a:off x="11054687" y="4364101"/>
            <a:ext cx="128699" cy="187198"/>
          </a:xfrm>
          <a:prstGeom prst="rect">
            <a:avLst/>
          </a:prstGeom>
        </p:spPr>
      </p:pic>
      <p:pic>
        <p:nvPicPr>
          <p:cNvPr id="164" name="Picture 163" descr="lock.png"/>
          <p:cNvPicPr>
            <a:picLocks noChangeAspect="1"/>
          </p:cNvPicPr>
          <p:nvPr/>
        </p:nvPicPr>
        <p:blipFill>
          <a:blip r:embed="rId4"/>
          <a:stretch>
            <a:fillRect/>
          </a:stretch>
        </p:blipFill>
        <p:spPr>
          <a:xfrm>
            <a:off x="9289760" y="4707001"/>
            <a:ext cx="128699" cy="187198"/>
          </a:xfrm>
          <a:prstGeom prst="rect">
            <a:avLst/>
          </a:prstGeom>
        </p:spPr>
      </p:pic>
      <p:pic>
        <p:nvPicPr>
          <p:cNvPr id="165" name="Picture 164" descr="lock.png"/>
          <p:cNvPicPr>
            <a:picLocks noChangeAspect="1"/>
          </p:cNvPicPr>
          <p:nvPr/>
        </p:nvPicPr>
        <p:blipFill>
          <a:blip r:embed="rId4"/>
          <a:stretch>
            <a:fillRect/>
          </a:stretch>
        </p:blipFill>
        <p:spPr>
          <a:xfrm>
            <a:off x="11054687" y="47070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289760"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11054687" y="50499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289760" y="5392801"/>
            <a:ext cx="128699" cy="187198"/>
          </a:xfrm>
          <a:prstGeom prst="rect">
            <a:avLst/>
          </a:prstGeom>
        </p:spPr>
      </p:pic>
      <p:pic>
        <p:nvPicPr>
          <p:cNvPr id="169" name="Picture 168" descr="lock.png"/>
          <p:cNvPicPr>
            <a:picLocks noChangeAspect="1"/>
          </p:cNvPicPr>
          <p:nvPr/>
        </p:nvPicPr>
        <p:blipFill>
          <a:blip r:embed="rId4"/>
          <a:stretch>
            <a:fillRect/>
          </a:stretch>
        </p:blipFill>
        <p:spPr>
          <a:xfrm>
            <a:off x="11054687" y="5392801"/>
            <a:ext cx="128699" cy="187198"/>
          </a:xfrm>
          <a:prstGeom prst="rect">
            <a:avLst/>
          </a:prstGeom>
        </p:spPr>
      </p:pic>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66700" y="1047750"/>
            <a:ext cx="6667500" cy="209550"/>
          </a:xfrm>
          <a:prstGeom prst="rect">
            <a:avLst/>
          </a:prstGeom>
          <a:noFill/>
        </p:spPr>
        <p:txBody>
          <a:bodyPr wrap="square" lIns="28575" tIns="9525" rIns="2857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tIns="9525" rIns="2857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285750" y="22479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Multicell Packaging Inc.</a:t>
            </a:r>
          </a:p>
        </p:txBody>
      </p:sp>
      <p:sp>
        <p:nvSpPr>
          <p:cNvPr id="27" name="TextBox 26"/>
          <p:cNvSpPr txBox="1"/>
          <p:nvPr/>
        </p:nvSpPr>
        <p:spPr>
          <a:xfrm>
            <a:off x="285750" y="24098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tIns="9525" rIns="28575" bIns="9525" anchor="ctr">
            <a:spAutoFit/>
          </a:bodyPr>
          <a:lstStyle/>
          <a:p>
            <a:pPr algn="ctr"/>
            <a:endParaRP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7000875" y="2228850"/>
            <a:ext cx="1764926" cy="342900"/>
          </a:xfrm>
          <a:prstGeom prst="rect">
            <a:avLst/>
          </a:prstGeom>
          <a:noFill/>
        </p:spPr>
        <p:txBody>
          <a:bodyPr wrap="square" lIns="28575" tIns="9525" rIns="28575" bIns="9525" anchor="ctr">
            <a:spAutoFit/>
          </a:bodyPr>
          <a:lstStyle/>
          <a:p>
            <a:pPr algn="ctr"/>
            <a:endParaRPr/>
          </a:p>
        </p:txBody>
      </p:sp>
      <p:sp>
        <p:nvSpPr>
          <p:cNvPr id="32" name="TextBox 31"/>
          <p:cNvSpPr txBox="1"/>
          <p:nvPr/>
        </p:nvSpPr>
        <p:spPr>
          <a:xfrm>
            <a:off x="8765801" y="2228850"/>
            <a:ext cx="1764926" cy="342900"/>
          </a:xfrm>
          <a:prstGeom prst="rect">
            <a:avLst/>
          </a:prstGeom>
          <a:noFill/>
        </p:spPr>
        <p:txBody>
          <a:bodyPr wrap="square" lIns="28575" tIns="9525" rIns="28575" bIns="9525" anchor="ctr">
            <a:spAutoFit/>
          </a:bodyPr>
          <a:lstStyle/>
          <a:p>
            <a:pPr algn="ctr"/>
            <a:endParaRP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285750" y="25908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Company</a:t>
            </a:r>
          </a:p>
        </p:txBody>
      </p:sp>
      <p:sp>
        <p:nvSpPr>
          <p:cNvPr id="37" name="TextBox 36"/>
          <p:cNvSpPr txBox="1"/>
          <p:nvPr/>
        </p:nvSpPr>
        <p:spPr>
          <a:xfrm>
            <a:off x="285750" y="27527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tIns="9525" rIns="28575" bIns="9525" anchor="ctr">
            <a:spAutoFit/>
          </a:bodyPr>
          <a:lstStyle/>
          <a:p>
            <a:pPr algn="ctr"/>
            <a:endParaRP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7038975" y="25717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tIns="9525" rIns="28575" bIns="9525" anchor="ctr">
            <a:spAutoFit/>
          </a:bodyPr>
          <a:lstStyle/>
          <a:p>
            <a:pPr algn="ctr"/>
            <a:endParaRP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285750" y="29337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Great American Paper Inc.</a:t>
            </a:r>
          </a:p>
        </p:txBody>
      </p:sp>
      <p:sp>
        <p:nvSpPr>
          <p:cNvPr id="47" name="TextBox 46"/>
          <p:cNvSpPr txBox="1"/>
          <p:nvPr/>
        </p:nvSpPr>
        <p:spPr>
          <a:xfrm>
            <a:off x="285750" y="30956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tIns="9525" rIns="28575" bIns="9525" anchor="ctr">
            <a:spAutoFit/>
          </a:bodyPr>
          <a:lstStyle/>
          <a:p>
            <a:pPr algn="ctr"/>
            <a:endParaRP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7000875" y="2914650"/>
            <a:ext cx="1764926" cy="342900"/>
          </a:xfrm>
          <a:prstGeom prst="rect">
            <a:avLst/>
          </a:prstGeom>
          <a:noFill/>
        </p:spPr>
        <p:txBody>
          <a:bodyPr wrap="square" lIns="28575" tIns="9525" rIns="28575" bIns="9525" anchor="ctr">
            <a:spAutoFit/>
          </a:bodyPr>
          <a:lstStyle/>
          <a:p>
            <a:pPr algn="ctr"/>
            <a:endParaRPr/>
          </a:p>
        </p:txBody>
      </p:sp>
      <p:sp>
        <p:nvSpPr>
          <p:cNvPr id="52" name="TextBox 51"/>
          <p:cNvSpPr txBox="1"/>
          <p:nvPr/>
        </p:nvSpPr>
        <p:spPr>
          <a:xfrm>
            <a:off x="8765801" y="2914650"/>
            <a:ext cx="1764926" cy="342900"/>
          </a:xfrm>
          <a:prstGeom prst="rect">
            <a:avLst/>
          </a:prstGeom>
          <a:noFill/>
        </p:spPr>
        <p:txBody>
          <a:bodyPr wrap="square" lIns="28575" tIns="9525" rIns="28575" bIns="9525" anchor="ctr">
            <a:spAutoFit/>
          </a:bodyPr>
          <a:lstStyle/>
          <a:p>
            <a:pPr algn="ctr"/>
            <a:endParaRP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285750" y="32766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Interpack Inc.</a:t>
            </a:r>
          </a:p>
        </p:txBody>
      </p:sp>
      <p:sp>
        <p:nvSpPr>
          <p:cNvPr id="57" name="TextBox 56"/>
          <p:cNvSpPr txBox="1"/>
          <p:nvPr/>
        </p:nvSpPr>
        <p:spPr>
          <a:xfrm>
            <a:off x="285750" y="34385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tIns="9525" rIns="28575" bIns="9525" anchor="ctr">
            <a:spAutoFit/>
          </a:bodyPr>
          <a:lstStyle/>
          <a:p>
            <a:pPr algn="ctr"/>
            <a:endParaRP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7038975" y="32575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tIns="9525" rIns="28575" bIns="9525" anchor="ctr">
            <a:spAutoFit/>
          </a:bodyPr>
          <a:lstStyle/>
          <a:p>
            <a:pPr algn="ctr"/>
            <a:endParaRP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TextBox 65"/>
          <p:cNvSpPr txBox="1"/>
          <p:nvPr/>
        </p:nvSpPr>
        <p:spPr>
          <a:xfrm>
            <a:off x="285750" y="36195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Caps Cases Ltd.</a:t>
            </a:r>
          </a:p>
        </p:txBody>
      </p:sp>
      <p:sp>
        <p:nvSpPr>
          <p:cNvPr id="67" name="TextBox 66"/>
          <p:cNvSpPr txBox="1"/>
          <p:nvPr/>
        </p:nvSpPr>
        <p:spPr>
          <a:xfrm>
            <a:off x="285750" y="37814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tIns="9525" rIns="28575" bIns="9525" anchor="ctr">
            <a:spAutoFit/>
          </a:bodyPr>
          <a:lstStyle/>
          <a:p>
            <a:pPr algn="ctr"/>
            <a:endParaRP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7000875" y="3600450"/>
            <a:ext cx="1764926" cy="342900"/>
          </a:xfrm>
          <a:prstGeom prst="rect">
            <a:avLst/>
          </a:prstGeom>
          <a:noFill/>
        </p:spPr>
        <p:txBody>
          <a:bodyPr wrap="square" lIns="28575" tIns="9525" rIns="28575" bIns="9525" anchor="ctr">
            <a:spAutoFit/>
          </a:bodyPr>
          <a:lstStyle/>
          <a:p>
            <a:pPr algn="ctr"/>
            <a:endParaRPr/>
          </a:p>
        </p:txBody>
      </p:sp>
      <p:sp>
        <p:nvSpPr>
          <p:cNvPr id="72" name="TextBox 71"/>
          <p:cNvSpPr txBox="1"/>
          <p:nvPr/>
        </p:nvSpPr>
        <p:spPr>
          <a:xfrm>
            <a:off x="8765801" y="3600450"/>
            <a:ext cx="1764926" cy="342900"/>
          </a:xfrm>
          <a:prstGeom prst="rect">
            <a:avLst/>
          </a:prstGeom>
          <a:noFill/>
        </p:spPr>
        <p:txBody>
          <a:bodyPr wrap="square" lIns="28575" tIns="9525" rIns="28575" bIns="9525" anchor="ctr">
            <a:spAutoFit/>
          </a:bodyPr>
          <a:lstStyle/>
          <a:p>
            <a:pPr algn="ctr"/>
            <a:endParaRP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p:cNvSpPr txBox="1"/>
          <p:nvPr/>
        </p:nvSpPr>
        <p:spPr>
          <a:xfrm>
            <a:off x="285750" y="39624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M &amp; M Box &amp; Partitions Co.</a:t>
            </a:r>
          </a:p>
        </p:txBody>
      </p:sp>
      <p:sp>
        <p:nvSpPr>
          <p:cNvPr id="78" name="TextBox 77"/>
          <p:cNvSpPr txBox="1"/>
          <p:nvPr/>
        </p:nvSpPr>
        <p:spPr>
          <a:xfrm>
            <a:off x="285750" y="41243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tIns="9525" rIns="28575" bIns="9525" anchor="ctr">
            <a:spAutoFit/>
          </a:bodyPr>
          <a:lstStyle/>
          <a:p>
            <a:pPr algn="ctr"/>
            <a:endParaRP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TextBox 81"/>
          <p:cNvSpPr txBox="1"/>
          <p:nvPr/>
        </p:nvSpPr>
        <p:spPr>
          <a:xfrm>
            <a:off x="7038975" y="39433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tIns="9525" rIns="28575" bIns="9525" anchor="ctr">
            <a:spAutoFit/>
          </a:bodyPr>
          <a:lstStyle/>
          <a:p>
            <a:pPr algn="ctr"/>
            <a:endParaRP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8" name="TextBox 87"/>
          <p:cNvSpPr txBox="1"/>
          <p:nvPr/>
        </p:nvSpPr>
        <p:spPr>
          <a:xfrm>
            <a:off x="285750" y="43053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Martin Partitions</a:t>
            </a:r>
          </a:p>
        </p:txBody>
      </p:sp>
      <p:sp>
        <p:nvSpPr>
          <p:cNvPr id="89" name="TextBox 88"/>
          <p:cNvSpPr txBox="1"/>
          <p:nvPr/>
        </p:nvSpPr>
        <p:spPr>
          <a:xfrm>
            <a:off x="285750" y="44672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tIns="9525" rIns="28575" bIns="9525" anchor="ctr">
            <a:spAutoFit/>
          </a:bodyPr>
          <a:lstStyle/>
          <a:p>
            <a:pPr algn="ctr"/>
            <a:endParaRP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TextBox 92"/>
          <p:cNvSpPr txBox="1"/>
          <p:nvPr/>
        </p:nvSpPr>
        <p:spPr>
          <a:xfrm>
            <a:off x="7000875" y="4286250"/>
            <a:ext cx="1764926" cy="342900"/>
          </a:xfrm>
          <a:prstGeom prst="rect">
            <a:avLst/>
          </a:prstGeom>
          <a:noFill/>
        </p:spPr>
        <p:txBody>
          <a:bodyPr wrap="square" lIns="28575" tIns="9525" rIns="28575" bIns="9525" anchor="ctr">
            <a:spAutoFit/>
          </a:bodyPr>
          <a:lstStyle/>
          <a:p>
            <a:pPr algn="ctr"/>
            <a:endParaRPr/>
          </a:p>
        </p:txBody>
      </p:sp>
      <p:sp>
        <p:nvSpPr>
          <p:cNvPr id="94" name="TextBox 93"/>
          <p:cNvSpPr txBox="1"/>
          <p:nvPr/>
        </p:nvSpPr>
        <p:spPr>
          <a:xfrm>
            <a:off x="8765801" y="4286250"/>
            <a:ext cx="1764926" cy="342900"/>
          </a:xfrm>
          <a:prstGeom prst="rect">
            <a:avLst/>
          </a:prstGeom>
          <a:noFill/>
        </p:spPr>
        <p:txBody>
          <a:bodyPr wrap="square" lIns="28575" tIns="9525" rIns="28575" bIns="9525" anchor="ctr">
            <a:spAutoFit/>
          </a:bodyPr>
          <a:lstStyle/>
          <a:p>
            <a:pPr algn="ctr"/>
            <a:endParaRP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Freeform 95"/>
          <p:cNvSpPr/>
          <p:nvPr/>
        </p:nvSpPr>
        <p:spPr>
          <a:xfrm>
            <a:off x="1126807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TextBox 98"/>
          <p:cNvSpPr txBox="1"/>
          <p:nvPr/>
        </p:nvSpPr>
        <p:spPr>
          <a:xfrm>
            <a:off x="285750" y="46482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Buckeye Corrugated Inc.</a:t>
            </a:r>
          </a:p>
        </p:txBody>
      </p:sp>
      <p:sp>
        <p:nvSpPr>
          <p:cNvPr id="100" name="TextBox 99"/>
          <p:cNvSpPr txBox="1"/>
          <p:nvPr/>
        </p:nvSpPr>
        <p:spPr>
          <a:xfrm>
            <a:off x="285750" y="48101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tIns="9525" rIns="28575" bIns="9525" anchor="ctr">
            <a:spAutoFit/>
          </a:bodyPr>
          <a:lstStyle/>
          <a:p>
            <a:pPr algn="ctr"/>
            <a:endParaRP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TextBox 103"/>
          <p:cNvSpPr txBox="1"/>
          <p:nvPr/>
        </p:nvSpPr>
        <p:spPr>
          <a:xfrm>
            <a:off x="7038975" y="46291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tIns="9525" rIns="28575" bIns="9525" anchor="ctr">
            <a:spAutoFit/>
          </a:bodyPr>
          <a:lstStyle/>
          <a:p>
            <a:pPr algn="ctr"/>
            <a:endParaRP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Freeform 106"/>
          <p:cNvSpPr/>
          <p:nvPr/>
        </p:nvSpPr>
        <p:spPr>
          <a:xfrm>
            <a:off x="1126807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Rectangle 108"/>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TextBox 109"/>
          <p:cNvSpPr txBox="1"/>
          <p:nvPr/>
        </p:nvSpPr>
        <p:spPr>
          <a:xfrm>
            <a:off x="285750" y="49911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Cactus Corrugated Containers Inc.</a:t>
            </a:r>
          </a:p>
        </p:txBody>
      </p:sp>
      <p:sp>
        <p:nvSpPr>
          <p:cNvPr id="111" name="TextBox 110"/>
          <p:cNvSpPr txBox="1"/>
          <p:nvPr/>
        </p:nvSpPr>
        <p:spPr>
          <a:xfrm>
            <a:off x="285750" y="51530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12" name="TextBox 111"/>
          <p:cNvSpPr txBox="1"/>
          <p:nvPr/>
        </p:nvSpPr>
        <p:spPr>
          <a:xfrm>
            <a:off x="2038350" y="49720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Regional partners</a:t>
            </a:r>
          </a:p>
        </p:txBody>
      </p:sp>
      <p:sp>
        <p:nvSpPr>
          <p:cNvPr id="113" name="TextBox 112"/>
          <p:cNvSpPr txBox="1"/>
          <p:nvPr/>
        </p:nvSpPr>
        <p:spPr>
          <a:xfrm>
            <a:off x="3765176" y="4972050"/>
            <a:ext cx="1764926" cy="342900"/>
          </a:xfrm>
          <a:prstGeom prst="rect">
            <a:avLst/>
          </a:prstGeom>
          <a:noFill/>
        </p:spPr>
        <p:txBody>
          <a:bodyPr wrap="square" lIns="28575" tIns="9525" rIns="28575" bIns="9525" anchor="ctr">
            <a:spAutoFit/>
          </a:bodyPr>
          <a:lstStyle/>
          <a:p>
            <a:pPr algn="ctr"/>
            <a:endParaRPr/>
          </a:p>
        </p:txBody>
      </p:sp>
      <p:sp>
        <p:nvSpPr>
          <p:cNvPr id="114" name="Oval 113"/>
          <p:cNvSpPr/>
          <p:nvPr/>
        </p:nvSpPr>
        <p:spPr>
          <a:xfrm>
            <a:off x="6189289"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p:cNvSpPr txBox="1"/>
          <p:nvPr/>
        </p:nvSpPr>
        <p:spPr>
          <a:xfrm>
            <a:off x="7000875" y="4972050"/>
            <a:ext cx="1764926" cy="342900"/>
          </a:xfrm>
          <a:prstGeom prst="rect">
            <a:avLst/>
          </a:prstGeom>
          <a:noFill/>
        </p:spPr>
        <p:txBody>
          <a:bodyPr wrap="square" lIns="28575" tIns="9525" rIns="28575" bIns="9525" anchor="ctr">
            <a:spAutoFit/>
          </a:bodyPr>
          <a:lstStyle/>
          <a:p>
            <a:pPr algn="ctr"/>
            <a:endParaRPr/>
          </a:p>
        </p:txBody>
      </p:sp>
      <p:sp>
        <p:nvSpPr>
          <p:cNvPr id="116" name="TextBox 115"/>
          <p:cNvSpPr txBox="1"/>
          <p:nvPr/>
        </p:nvSpPr>
        <p:spPr>
          <a:xfrm>
            <a:off x="8765801" y="4972050"/>
            <a:ext cx="1764926" cy="342900"/>
          </a:xfrm>
          <a:prstGeom prst="rect">
            <a:avLst/>
          </a:prstGeom>
          <a:noFill/>
        </p:spPr>
        <p:txBody>
          <a:bodyPr wrap="square" lIns="28575" tIns="9525" rIns="28575" bIns="9525" anchor="ctr">
            <a:spAutoFit/>
          </a:bodyPr>
          <a:lstStyle/>
          <a:p>
            <a:pPr algn="ctr"/>
            <a:endParaRPr/>
          </a:p>
        </p:txBody>
      </p:sp>
      <p:sp>
        <p:nvSpPr>
          <p:cNvPr id="117" name="Oval 116"/>
          <p:cNvSpPr/>
          <p:nvPr/>
        </p:nvSpPr>
        <p:spPr>
          <a:xfrm>
            <a:off x="11189914"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Freeform 117"/>
          <p:cNvSpPr/>
          <p:nvPr/>
        </p:nvSpPr>
        <p:spPr>
          <a:xfrm>
            <a:off x="1126807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19" name="Connector 11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0" name="Rectangle 11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285750" y="5334000"/>
            <a:ext cx="1695450" cy="171450"/>
          </a:xfrm>
          <a:prstGeom prst="rect">
            <a:avLst/>
          </a:prstGeom>
          <a:noFill/>
        </p:spPr>
        <p:txBody>
          <a:bodyPr wrap="square" lIns="28575" tIns="9525" rIns="28575" bIns="9525" anchor="t">
            <a:spAutoFit/>
          </a:bodyPr>
          <a:lstStyle/>
          <a:p>
            <a:pPr algn="l"/>
            <a:r>
              <a:rPr sz="1100" b="1">
                <a:solidFill>
                  <a:srgbClr val="1F2933"/>
                </a:solidFill>
                <a:latin typeface="Calibri"/>
              </a:rPr>
              <a:t>Jarrett Industries Inc.</a:t>
            </a:r>
          </a:p>
        </p:txBody>
      </p:sp>
      <p:sp>
        <p:nvSpPr>
          <p:cNvPr id="122" name="TextBox 121"/>
          <p:cNvSpPr txBox="1"/>
          <p:nvPr/>
        </p:nvSpPr>
        <p:spPr>
          <a:xfrm>
            <a:off x="285750" y="5495925"/>
            <a:ext cx="1695450" cy="152400"/>
          </a:xfrm>
          <a:prstGeom prst="rect">
            <a:avLst/>
          </a:prstGeom>
          <a:noFill/>
        </p:spPr>
        <p:txBody>
          <a:bodyPr wrap="square" lIns="28575" tIns="9525" rIns="28575" bIns="9525" anchor="t">
            <a:spAutoFit/>
          </a:bodyPr>
          <a:lstStyle/>
          <a:p>
            <a:pPr algn="l"/>
            <a:r>
              <a:rPr sz="1100" b="0">
                <a:solidFill>
                  <a:srgbClr val="5F6B7A"/>
                </a:solidFill>
                <a:latin typeface="Calibri"/>
              </a:rPr>
              <a:t>Tier 3</a:t>
            </a:r>
          </a:p>
        </p:txBody>
      </p:sp>
      <p:sp>
        <p:nvSpPr>
          <p:cNvPr id="123" name="TextBox 122"/>
          <p:cNvSpPr txBox="1"/>
          <p:nvPr/>
        </p:nvSpPr>
        <p:spPr>
          <a:xfrm>
            <a:off x="2038350" y="53149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Regional partners</a:t>
            </a:r>
          </a:p>
        </p:txBody>
      </p:sp>
      <p:sp>
        <p:nvSpPr>
          <p:cNvPr id="124" name="TextBox 123"/>
          <p:cNvSpPr txBox="1"/>
          <p:nvPr/>
        </p:nvSpPr>
        <p:spPr>
          <a:xfrm>
            <a:off x="3765176" y="5314950"/>
            <a:ext cx="1764926" cy="342900"/>
          </a:xfrm>
          <a:prstGeom prst="rect">
            <a:avLst/>
          </a:prstGeom>
          <a:noFill/>
        </p:spPr>
        <p:txBody>
          <a:bodyPr wrap="square" lIns="28575" tIns="9525" rIns="28575" bIns="9525" anchor="ctr">
            <a:spAutoFit/>
          </a:bodyPr>
          <a:lstStyle/>
          <a:p>
            <a:pPr algn="ctr"/>
            <a:endParaRPr/>
          </a:p>
        </p:txBody>
      </p:sp>
      <p:sp>
        <p:nvSpPr>
          <p:cNvPr id="125" name="Oval 124"/>
          <p:cNvSpPr/>
          <p:nvPr/>
        </p:nvSpPr>
        <p:spPr>
          <a:xfrm>
            <a:off x="6189289"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TextBox 125"/>
          <p:cNvSpPr txBox="1"/>
          <p:nvPr/>
        </p:nvSpPr>
        <p:spPr>
          <a:xfrm>
            <a:off x="7038975" y="5314950"/>
            <a:ext cx="1688726" cy="342900"/>
          </a:xfrm>
          <a:prstGeom prst="rect">
            <a:avLst/>
          </a:prstGeom>
          <a:noFill/>
        </p:spPr>
        <p:txBody>
          <a:bodyPr wrap="square" lIns="28575" tIns="9525" rIns="28575" bIns="9525" anchor="ctr">
            <a:spAutoFit/>
          </a:bodyPr>
          <a:lstStyle/>
          <a:p>
            <a:pPr algn="l">
              <a:lnSpc>
                <a:spcPct val="115000"/>
              </a:lnSpc>
            </a:pPr>
            <a:r>
              <a:rPr sz="1100" b="0">
                <a:solidFill>
                  <a:srgbClr val="1F2933"/>
                </a:solidFill>
                <a:latin typeface="Calibri"/>
              </a:rPr>
              <a:t>Launch pipeline</a:t>
            </a:r>
          </a:p>
        </p:txBody>
      </p:sp>
      <p:sp>
        <p:nvSpPr>
          <p:cNvPr id="127" name="TextBox 126"/>
          <p:cNvSpPr txBox="1"/>
          <p:nvPr/>
        </p:nvSpPr>
        <p:spPr>
          <a:xfrm>
            <a:off x="8765801" y="5314950"/>
            <a:ext cx="1764926" cy="342900"/>
          </a:xfrm>
          <a:prstGeom prst="rect">
            <a:avLst/>
          </a:prstGeom>
          <a:noFill/>
        </p:spPr>
        <p:txBody>
          <a:bodyPr wrap="square" lIns="28575" tIns="9525" rIns="28575" bIns="9525" anchor="ctr">
            <a:spAutoFit/>
          </a:bodyPr>
          <a:lstStyle/>
          <a:p>
            <a:pPr algn="ctr"/>
            <a:endParaRPr/>
          </a:p>
        </p:txBody>
      </p:sp>
      <p:sp>
        <p:nvSpPr>
          <p:cNvPr id="128" name="Oval 127"/>
          <p:cNvSpPr/>
          <p:nvPr/>
        </p:nvSpPr>
        <p:spPr>
          <a:xfrm>
            <a:off x="11189914"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Freeform 128"/>
          <p:cNvSpPr/>
          <p:nvPr/>
        </p:nvSpPr>
        <p:spPr>
          <a:xfrm>
            <a:off x="1126807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30" name="Connector 129"/>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Oval 130"/>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TextBox 131"/>
          <p:cNvSpPr txBox="1"/>
          <p:nvPr/>
        </p:nvSpPr>
        <p:spPr>
          <a:xfrm>
            <a:off x="381000"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Strong, direct evidence</a:t>
            </a:r>
          </a:p>
        </p:txBody>
      </p:sp>
      <p:sp>
        <p:nvSpPr>
          <p:cNvPr id="133" name="Oval 132"/>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Freeform 133"/>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TextBox 134"/>
          <p:cNvSpPr txBox="1"/>
          <p:nvPr/>
        </p:nvSpPr>
        <p:spPr>
          <a:xfrm>
            <a:off x="2245995"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Moderate or partial</a:t>
            </a:r>
          </a:p>
        </p:txBody>
      </p:sp>
      <p:sp>
        <p:nvSpPr>
          <p:cNvPr id="136" name="Oval 135"/>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Freeform 136"/>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TextBox 137"/>
          <p:cNvSpPr txBox="1"/>
          <p:nvPr/>
        </p:nvSpPr>
        <p:spPr>
          <a:xfrm>
            <a:off x="3859530"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Weak or indirect</a:t>
            </a:r>
          </a:p>
        </p:txBody>
      </p:sp>
      <p:sp>
        <p:nvSpPr>
          <p:cNvPr id="139" name="Oval 138"/>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TextBox 139"/>
          <p:cNvSpPr txBox="1"/>
          <p:nvPr/>
        </p:nvSpPr>
        <p:spPr>
          <a:xfrm>
            <a:off x="5284470" y="57150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None found</a:t>
            </a:r>
          </a:p>
        </p:txBody>
      </p:sp>
      <p:sp>
        <p:nvSpPr>
          <p:cNvPr id="141" name="TextBox 140"/>
          <p:cNvSpPr txBox="1"/>
          <p:nvPr/>
        </p:nvSpPr>
        <p:spPr>
          <a:xfrm>
            <a:off x="190500" y="5943600"/>
            <a:ext cx="2857500" cy="152400"/>
          </a:xfrm>
          <a:prstGeom prst="rect">
            <a:avLst/>
          </a:prstGeom>
          <a:noFill/>
        </p:spPr>
        <p:txBody>
          <a:bodyPr wrap="square" lIns="28575" tIns="9525" rIns="28575" bIns="9525" anchor="t">
            <a:spAutoFit/>
          </a:bodyPr>
          <a:lstStyle/>
          <a:p>
            <a:pPr algn="l"/>
            <a:r>
              <a:rPr sz="1100" b="1">
                <a:solidFill>
                  <a:srgbClr val="0F2D52"/>
                </a:solidFill>
                <a:latin typeface="Calibri"/>
              </a:rPr>
              <a:t>READING</a:t>
            </a:r>
          </a:p>
        </p:txBody>
      </p:sp>
      <p:sp>
        <p:nvSpPr>
          <p:cNvPr id="142" name="TextBox 141"/>
          <p:cNvSpPr txBox="1"/>
          <p:nvPr/>
        </p:nvSpPr>
        <p:spPr>
          <a:xfrm>
            <a:off x="190500" y="6096000"/>
            <a:ext cx="11811000" cy="2286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43" name="TextBox 14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44" name="Picture 143" descr="lock.png"/>
          <p:cNvPicPr>
            <a:picLocks noChangeAspect="1"/>
          </p:cNvPicPr>
          <p:nvPr/>
        </p:nvPicPr>
        <p:blipFill>
          <a:blip r:embed="rId4"/>
          <a:stretch>
            <a:fillRect/>
          </a:stretch>
        </p:blipFill>
        <p:spPr>
          <a:xfrm>
            <a:off x="4583289" y="2306701"/>
            <a:ext cx="128699" cy="187198"/>
          </a:xfrm>
          <a:prstGeom prst="rect">
            <a:avLst/>
          </a:prstGeom>
        </p:spPr>
      </p:pic>
      <p:pic>
        <p:nvPicPr>
          <p:cNvPr id="145" name="Picture 144" descr="lock.png"/>
          <p:cNvPicPr>
            <a:picLocks noChangeAspect="1"/>
          </p:cNvPicPr>
          <p:nvPr/>
        </p:nvPicPr>
        <p:blipFill>
          <a:blip r:embed="rId4"/>
          <a:stretch>
            <a:fillRect/>
          </a:stretch>
        </p:blipFill>
        <p:spPr>
          <a:xfrm>
            <a:off x="7818988" y="2306701"/>
            <a:ext cx="128699" cy="187198"/>
          </a:xfrm>
          <a:prstGeom prst="rect">
            <a:avLst/>
          </a:prstGeom>
        </p:spPr>
      </p:pic>
      <p:pic>
        <p:nvPicPr>
          <p:cNvPr id="146" name="Picture 145" descr="lock.png"/>
          <p:cNvPicPr>
            <a:picLocks noChangeAspect="1"/>
          </p:cNvPicPr>
          <p:nvPr/>
        </p:nvPicPr>
        <p:blipFill>
          <a:blip r:embed="rId4"/>
          <a:stretch>
            <a:fillRect/>
          </a:stretch>
        </p:blipFill>
        <p:spPr>
          <a:xfrm>
            <a:off x="9583914" y="2306701"/>
            <a:ext cx="128699" cy="187198"/>
          </a:xfrm>
          <a:prstGeom prst="rect">
            <a:avLst/>
          </a:prstGeom>
        </p:spPr>
      </p:pic>
      <p:pic>
        <p:nvPicPr>
          <p:cNvPr id="147" name="Picture 146" descr="lock.png"/>
          <p:cNvPicPr>
            <a:picLocks noChangeAspect="1"/>
          </p:cNvPicPr>
          <p:nvPr/>
        </p:nvPicPr>
        <p:blipFill>
          <a:blip r:embed="rId4"/>
          <a:stretch>
            <a:fillRect/>
          </a:stretch>
        </p:blipFill>
        <p:spPr>
          <a:xfrm>
            <a:off x="4583289" y="2649601"/>
            <a:ext cx="128699" cy="187198"/>
          </a:xfrm>
          <a:prstGeom prst="rect">
            <a:avLst/>
          </a:prstGeom>
        </p:spPr>
      </p:pic>
      <p:pic>
        <p:nvPicPr>
          <p:cNvPr id="148" name="Picture 147" descr="lock.png"/>
          <p:cNvPicPr>
            <a:picLocks noChangeAspect="1"/>
          </p:cNvPicPr>
          <p:nvPr/>
        </p:nvPicPr>
        <p:blipFill>
          <a:blip r:embed="rId4"/>
          <a:stretch>
            <a:fillRect/>
          </a:stretch>
        </p:blipFill>
        <p:spPr>
          <a:xfrm>
            <a:off x="9583914" y="2649601"/>
            <a:ext cx="128699" cy="187198"/>
          </a:xfrm>
          <a:prstGeom prst="rect">
            <a:avLst/>
          </a:prstGeom>
        </p:spPr>
      </p:pic>
      <p:pic>
        <p:nvPicPr>
          <p:cNvPr id="149" name="Picture 148" descr="lock.png"/>
          <p:cNvPicPr>
            <a:picLocks noChangeAspect="1"/>
          </p:cNvPicPr>
          <p:nvPr/>
        </p:nvPicPr>
        <p:blipFill>
          <a:blip r:embed="rId4"/>
          <a:stretch>
            <a:fillRect/>
          </a:stretch>
        </p:blipFill>
        <p:spPr>
          <a:xfrm>
            <a:off x="4583289" y="2992501"/>
            <a:ext cx="128699" cy="187198"/>
          </a:xfrm>
          <a:prstGeom prst="rect">
            <a:avLst/>
          </a:prstGeom>
        </p:spPr>
      </p:pic>
      <p:pic>
        <p:nvPicPr>
          <p:cNvPr id="150" name="Picture 149" descr="lock.png"/>
          <p:cNvPicPr>
            <a:picLocks noChangeAspect="1"/>
          </p:cNvPicPr>
          <p:nvPr/>
        </p:nvPicPr>
        <p:blipFill>
          <a:blip r:embed="rId4"/>
          <a:stretch>
            <a:fillRect/>
          </a:stretch>
        </p:blipFill>
        <p:spPr>
          <a:xfrm>
            <a:off x="7818988" y="29925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583914" y="29925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583289" y="33354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583914"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583289"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7818988" y="36783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583914" y="36783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583289" y="40212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583914" y="4021201"/>
            <a:ext cx="128699" cy="187198"/>
          </a:xfrm>
          <a:prstGeom prst="rect">
            <a:avLst/>
          </a:prstGeom>
        </p:spPr>
      </p:pic>
      <p:pic>
        <p:nvPicPr>
          <p:cNvPr id="159" name="Picture 158" descr="lock.png"/>
          <p:cNvPicPr>
            <a:picLocks noChangeAspect="1"/>
          </p:cNvPicPr>
          <p:nvPr/>
        </p:nvPicPr>
        <p:blipFill>
          <a:blip r:embed="rId4"/>
          <a:stretch>
            <a:fillRect/>
          </a:stretch>
        </p:blipFill>
        <p:spPr>
          <a:xfrm>
            <a:off x="4583289" y="4364101"/>
            <a:ext cx="128699" cy="187198"/>
          </a:xfrm>
          <a:prstGeom prst="rect">
            <a:avLst/>
          </a:prstGeom>
        </p:spPr>
      </p:pic>
      <p:pic>
        <p:nvPicPr>
          <p:cNvPr id="160" name="Picture 159" descr="lock.png"/>
          <p:cNvPicPr>
            <a:picLocks noChangeAspect="1"/>
          </p:cNvPicPr>
          <p:nvPr/>
        </p:nvPicPr>
        <p:blipFill>
          <a:blip r:embed="rId4"/>
          <a:stretch>
            <a:fillRect/>
          </a:stretch>
        </p:blipFill>
        <p:spPr>
          <a:xfrm>
            <a:off x="7818988" y="4364101"/>
            <a:ext cx="128699" cy="187198"/>
          </a:xfrm>
          <a:prstGeom prst="rect">
            <a:avLst/>
          </a:prstGeom>
        </p:spPr>
      </p:pic>
      <p:pic>
        <p:nvPicPr>
          <p:cNvPr id="161" name="Picture 160" descr="lock.png"/>
          <p:cNvPicPr>
            <a:picLocks noChangeAspect="1"/>
          </p:cNvPicPr>
          <p:nvPr/>
        </p:nvPicPr>
        <p:blipFill>
          <a:blip r:embed="rId4"/>
          <a:stretch>
            <a:fillRect/>
          </a:stretch>
        </p:blipFill>
        <p:spPr>
          <a:xfrm>
            <a:off x="9583914" y="4364101"/>
            <a:ext cx="128699" cy="187198"/>
          </a:xfrm>
          <a:prstGeom prst="rect">
            <a:avLst/>
          </a:prstGeom>
        </p:spPr>
      </p:pic>
      <p:pic>
        <p:nvPicPr>
          <p:cNvPr id="162" name="Picture 161" descr="lock.png"/>
          <p:cNvPicPr>
            <a:picLocks noChangeAspect="1"/>
          </p:cNvPicPr>
          <p:nvPr/>
        </p:nvPicPr>
        <p:blipFill>
          <a:blip r:embed="rId4"/>
          <a:stretch>
            <a:fillRect/>
          </a:stretch>
        </p:blipFill>
        <p:spPr>
          <a:xfrm>
            <a:off x="4583289" y="4707001"/>
            <a:ext cx="128699" cy="187198"/>
          </a:xfrm>
          <a:prstGeom prst="rect">
            <a:avLst/>
          </a:prstGeom>
        </p:spPr>
      </p:pic>
      <p:pic>
        <p:nvPicPr>
          <p:cNvPr id="163" name="Picture 162" descr="lock.png"/>
          <p:cNvPicPr>
            <a:picLocks noChangeAspect="1"/>
          </p:cNvPicPr>
          <p:nvPr/>
        </p:nvPicPr>
        <p:blipFill>
          <a:blip r:embed="rId4"/>
          <a:stretch>
            <a:fillRect/>
          </a:stretch>
        </p:blipFill>
        <p:spPr>
          <a:xfrm>
            <a:off x="9583914" y="4707001"/>
            <a:ext cx="128699" cy="187198"/>
          </a:xfrm>
          <a:prstGeom prst="rect">
            <a:avLst/>
          </a:prstGeom>
        </p:spPr>
      </p:pic>
      <p:pic>
        <p:nvPicPr>
          <p:cNvPr id="164" name="Picture 163" descr="lock.png"/>
          <p:cNvPicPr>
            <a:picLocks noChangeAspect="1"/>
          </p:cNvPicPr>
          <p:nvPr/>
        </p:nvPicPr>
        <p:blipFill>
          <a:blip r:embed="rId4"/>
          <a:stretch>
            <a:fillRect/>
          </a:stretch>
        </p:blipFill>
        <p:spPr>
          <a:xfrm>
            <a:off x="4583289" y="5049901"/>
            <a:ext cx="128699" cy="187198"/>
          </a:xfrm>
          <a:prstGeom prst="rect">
            <a:avLst/>
          </a:prstGeom>
        </p:spPr>
      </p:pic>
      <p:pic>
        <p:nvPicPr>
          <p:cNvPr id="165" name="Picture 164" descr="lock.png"/>
          <p:cNvPicPr>
            <a:picLocks noChangeAspect="1"/>
          </p:cNvPicPr>
          <p:nvPr/>
        </p:nvPicPr>
        <p:blipFill>
          <a:blip r:embed="rId4"/>
          <a:stretch>
            <a:fillRect/>
          </a:stretch>
        </p:blipFill>
        <p:spPr>
          <a:xfrm>
            <a:off x="7818988" y="50499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583914"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4583289" y="53928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583914" y="5392801"/>
            <a:ext cx="128699" cy="187198"/>
          </a:xfrm>
          <a:prstGeom prst="rect">
            <a:avLst/>
          </a:prstGeom>
        </p:spPr>
      </p:pic>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tIns="9525" rIns="2857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tIns="9525" rIns="28575" bIns="9525" anchor="t">
            <a:spAutoFit/>
          </a:bodyPr>
          <a:lstStyle/>
          <a:p>
            <a:pPr algn="l"/>
            <a:endParaRPr/>
          </a:p>
        </p:txBody>
      </p:sp>
      <p:sp>
        <p:nvSpPr>
          <p:cNvPr id="12" name="TextBox 11"/>
          <p:cNvSpPr txBox="1"/>
          <p:nvPr/>
        </p:nvSpPr>
        <p:spPr>
          <a:xfrm>
            <a:off x="2133600" y="1371600"/>
            <a:ext cx="1581150" cy="34290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tIns="9525" rIns="2857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tIns="9525" rIns="28575" bIns="9525" anchor="t">
            <a:spAutoFit/>
          </a:bodyPr>
          <a:lstStyle/>
          <a:p>
            <a:pPr algn="l"/>
            <a:endParaRPr/>
          </a:p>
        </p:txBody>
      </p:sp>
      <p:sp>
        <p:nvSpPr>
          <p:cNvPr id="15" name="TextBox 14"/>
          <p:cNvSpPr txBox="1"/>
          <p:nvPr/>
        </p:nvSpPr>
        <p:spPr>
          <a:xfrm>
            <a:off x="3790950" y="1371600"/>
            <a:ext cx="1581150" cy="34290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tIns="9525" rIns="2857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tIns="9525" rIns="28575" bIns="9525" anchor="t">
            <a:spAutoFit/>
          </a:bodyPr>
          <a:lstStyle/>
          <a:p>
            <a:pPr algn="l"/>
            <a:endParaRPr/>
          </a:p>
        </p:txBody>
      </p:sp>
      <p:sp>
        <p:nvSpPr>
          <p:cNvPr id="18" name="TextBox 17"/>
          <p:cNvSpPr txBox="1"/>
          <p:nvPr/>
        </p:nvSpPr>
        <p:spPr>
          <a:xfrm>
            <a:off x="5448300" y="1371600"/>
            <a:ext cx="1581150" cy="34290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tIns="9525" rIns="2857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tIns="9525" rIns="28575" bIns="9525" anchor="t">
            <a:spAutoFit/>
          </a:bodyPr>
          <a:lstStyle/>
          <a:p>
            <a:pPr algn="l"/>
            <a:endParaRPr/>
          </a:p>
        </p:txBody>
      </p:sp>
      <p:sp>
        <p:nvSpPr>
          <p:cNvPr id="21" name="TextBox 20"/>
          <p:cNvSpPr txBox="1"/>
          <p:nvPr/>
        </p:nvSpPr>
        <p:spPr>
          <a:xfrm>
            <a:off x="7105650" y="1371600"/>
            <a:ext cx="1581150" cy="34290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tIns="9525" rIns="2857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tIns="9525" rIns="28575" bIns="9525" anchor="t">
            <a:spAutoFit/>
          </a:bodyPr>
          <a:lstStyle/>
          <a:p>
            <a:pPr algn="l"/>
            <a:endParaRPr/>
          </a:p>
        </p:txBody>
      </p:sp>
      <p:sp>
        <p:nvSpPr>
          <p:cNvPr id="24" name="TextBox 23"/>
          <p:cNvSpPr txBox="1"/>
          <p:nvPr/>
        </p:nvSpPr>
        <p:spPr>
          <a:xfrm>
            <a:off x="8763000" y="1371600"/>
            <a:ext cx="1581150" cy="34290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tIns="9525" rIns="2857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tIns="9525" rIns="2857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285750" y="18097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Multicell Packaging Inc.</a:t>
            </a:r>
          </a:p>
        </p:txBody>
      </p:sp>
      <p:sp>
        <p:nvSpPr>
          <p:cNvPr id="30" name="Oval 29"/>
          <p:cNvSpPr/>
          <p:nvPr/>
        </p:nvSpPr>
        <p:spPr>
          <a:xfrm>
            <a:off x="28479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Oval 30"/>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Oval 31"/>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Oval 32"/>
          <p:cNvSpPr/>
          <p:nvPr/>
        </p:nvSpPr>
        <p:spPr>
          <a:xfrm>
            <a:off x="7820025" y="1885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Freeform 33"/>
          <p:cNvSpPr/>
          <p:nvPr/>
        </p:nvSpPr>
        <p:spPr>
          <a:xfrm>
            <a:off x="7896225" y="1885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Oval 34"/>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Rectangle 35"/>
          <p:cNvSpPr/>
          <p:nvPr/>
        </p:nvSpPr>
        <p:spPr>
          <a:xfrm>
            <a:off x="10420350" y="18954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 name="TextBox 36"/>
          <p:cNvSpPr txBox="1"/>
          <p:nvPr/>
        </p:nvSpPr>
        <p:spPr>
          <a:xfrm>
            <a:off x="11544300" y="18097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38" name="Connector 37"/>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285750" y="21145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Company</a:t>
            </a:r>
          </a:p>
        </p:txBody>
      </p:sp>
      <p:sp>
        <p:nvSpPr>
          <p:cNvPr id="41" name="Oval 40"/>
          <p:cNvSpPr/>
          <p:nvPr/>
        </p:nvSpPr>
        <p:spPr>
          <a:xfrm>
            <a:off x="284797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Freeform 41"/>
          <p:cNvSpPr/>
          <p:nvPr/>
        </p:nvSpPr>
        <p:spPr>
          <a:xfrm>
            <a:off x="292417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Oval 42"/>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Oval 43"/>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Oval 44"/>
          <p:cNvSpPr/>
          <p:nvPr/>
        </p:nvSpPr>
        <p:spPr>
          <a:xfrm>
            <a:off x="78200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Oval 45"/>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Rectangle 46"/>
          <p:cNvSpPr/>
          <p:nvPr/>
        </p:nvSpPr>
        <p:spPr>
          <a:xfrm>
            <a:off x="10420350" y="22002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11487150" y="21145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49" name="Connector 48"/>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285750" y="24193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Interpack Inc.</a:t>
            </a:r>
          </a:p>
        </p:txBody>
      </p:sp>
      <p:sp>
        <p:nvSpPr>
          <p:cNvPr id="52" name="Oval 51"/>
          <p:cNvSpPr/>
          <p:nvPr/>
        </p:nvSpPr>
        <p:spPr>
          <a:xfrm>
            <a:off x="284797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Freeform 52"/>
          <p:cNvSpPr/>
          <p:nvPr/>
        </p:nvSpPr>
        <p:spPr>
          <a:xfrm>
            <a:off x="292417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Oval 53"/>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Oval 54"/>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Oval 55"/>
          <p:cNvSpPr/>
          <p:nvPr/>
        </p:nvSpPr>
        <p:spPr>
          <a:xfrm>
            <a:off x="78200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Oval 56"/>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Rectangle 57"/>
          <p:cNvSpPr/>
          <p:nvPr/>
        </p:nvSpPr>
        <p:spPr>
          <a:xfrm>
            <a:off x="10420350" y="25050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11487150" y="24193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60" name="Connector 59"/>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1" name="Rectangle 60"/>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285750" y="27241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Great American Paper Inc.</a:t>
            </a:r>
          </a:p>
        </p:txBody>
      </p:sp>
      <p:sp>
        <p:nvSpPr>
          <p:cNvPr id="63" name="Oval 62"/>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Freeform 63"/>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Oval 64"/>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Oval 65"/>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Oval 66"/>
          <p:cNvSpPr/>
          <p:nvPr/>
        </p:nvSpPr>
        <p:spPr>
          <a:xfrm>
            <a:off x="782002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Freeform 67"/>
          <p:cNvSpPr/>
          <p:nvPr/>
        </p:nvSpPr>
        <p:spPr>
          <a:xfrm>
            <a:off x="789622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Oval 68"/>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10420350" y="2809875"/>
            <a:ext cx="9715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11430000" y="27241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72" name="Connector 71"/>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3" name="Rectangle 72"/>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4" name="TextBox 73"/>
          <p:cNvSpPr txBox="1"/>
          <p:nvPr/>
        </p:nvSpPr>
        <p:spPr>
          <a:xfrm>
            <a:off x="285750" y="30289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M &amp; M Box &amp; Partitions Co.</a:t>
            </a:r>
          </a:p>
        </p:txBody>
      </p:sp>
      <p:sp>
        <p:nvSpPr>
          <p:cNvPr id="75" name="Oval 74"/>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6" name="Freeform 75"/>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Oval 76"/>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Freeform 77"/>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Oval 78"/>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Freeform 79"/>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Oval 80"/>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Oval 81"/>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Rectangle 82"/>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TextBox 83"/>
          <p:cNvSpPr txBox="1"/>
          <p:nvPr/>
        </p:nvSpPr>
        <p:spPr>
          <a:xfrm>
            <a:off x="11334750" y="30289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85" name="Connector 84"/>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6" name="Rectangle 85"/>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285750" y="33337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Caps Cases Ltd.</a:t>
            </a:r>
          </a:p>
        </p:txBody>
      </p:sp>
      <p:sp>
        <p:nvSpPr>
          <p:cNvPr id="88" name="Oval 87"/>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Freeform 88"/>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Oval 89"/>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Freeform 90"/>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Oval 91"/>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Freeform 92"/>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Oval 93"/>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Freeform 94"/>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Oval 95"/>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Rectangle 96"/>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TextBox 97"/>
          <p:cNvSpPr txBox="1"/>
          <p:nvPr/>
        </p:nvSpPr>
        <p:spPr>
          <a:xfrm>
            <a:off x="11277600" y="33337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99" name="Connector 98"/>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0" name="Rectangle 99"/>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TextBox 100"/>
          <p:cNvSpPr txBox="1"/>
          <p:nvPr/>
        </p:nvSpPr>
        <p:spPr>
          <a:xfrm>
            <a:off x="285750" y="36385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Buckeye Corrugated Inc.</a:t>
            </a:r>
          </a:p>
        </p:txBody>
      </p:sp>
      <p:sp>
        <p:nvSpPr>
          <p:cNvPr id="102" name="Oval 101"/>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Freeform 102"/>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Oval 103"/>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Freeform 104"/>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Oval 105"/>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Freeform 106"/>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Oval 107"/>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Oval 108"/>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Rectangle 109"/>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TextBox 110"/>
          <p:cNvSpPr txBox="1"/>
          <p:nvPr/>
        </p:nvSpPr>
        <p:spPr>
          <a:xfrm>
            <a:off x="11182350" y="36385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112" name="Connector 111"/>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3" name="Rectangle 112"/>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TextBox 113"/>
          <p:cNvSpPr txBox="1"/>
          <p:nvPr/>
        </p:nvSpPr>
        <p:spPr>
          <a:xfrm>
            <a:off x="285750" y="39433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Jarrett Industries Inc.</a:t>
            </a:r>
          </a:p>
        </p:txBody>
      </p:sp>
      <p:sp>
        <p:nvSpPr>
          <p:cNvPr id="115" name="Oval 114"/>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Freeform 115"/>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Oval 116"/>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Freeform 117"/>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Oval 118"/>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Freeform 119"/>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Oval 120"/>
          <p:cNvSpPr/>
          <p:nvPr/>
        </p:nvSpPr>
        <p:spPr>
          <a:xfrm>
            <a:off x="782002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Oval 121"/>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Rectangle 122"/>
          <p:cNvSpPr/>
          <p:nvPr/>
        </p:nvSpPr>
        <p:spPr>
          <a:xfrm>
            <a:off x="10420350" y="40290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TextBox 123"/>
          <p:cNvSpPr txBox="1"/>
          <p:nvPr/>
        </p:nvSpPr>
        <p:spPr>
          <a:xfrm>
            <a:off x="11182350" y="39433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125" name="Connector 124"/>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42862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TextBox 126"/>
          <p:cNvSpPr txBox="1"/>
          <p:nvPr/>
        </p:nvSpPr>
        <p:spPr>
          <a:xfrm>
            <a:off x="285750" y="42481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Martin Partitions</a:t>
            </a:r>
          </a:p>
        </p:txBody>
      </p:sp>
      <p:sp>
        <p:nvSpPr>
          <p:cNvPr id="128" name="Oval 127"/>
          <p:cNvSpPr/>
          <p:nvPr/>
        </p:nvSpPr>
        <p:spPr>
          <a:xfrm>
            <a:off x="28479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Freeform 128"/>
          <p:cNvSpPr/>
          <p:nvPr/>
        </p:nvSpPr>
        <p:spPr>
          <a:xfrm>
            <a:off x="292417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Oval 129"/>
          <p:cNvSpPr/>
          <p:nvPr/>
        </p:nvSpPr>
        <p:spPr>
          <a:xfrm>
            <a:off x="45053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Freeform 130"/>
          <p:cNvSpPr/>
          <p:nvPr/>
        </p:nvSpPr>
        <p:spPr>
          <a:xfrm>
            <a:off x="458152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2" name="Oval 131"/>
          <p:cNvSpPr/>
          <p:nvPr/>
        </p:nvSpPr>
        <p:spPr>
          <a:xfrm>
            <a:off x="61626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Freeform 132"/>
          <p:cNvSpPr/>
          <p:nvPr/>
        </p:nvSpPr>
        <p:spPr>
          <a:xfrm>
            <a:off x="62388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Oval 133"/>
          <p:cNvSpPr/>
          <p:nvPr/>
        </p:nvSpPr>
        <p:spPr>
          <a:xfrm>
            <a:off x="78200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Freeform 134"/>
          <p:cNvSpPr/>
          <p:nvPr/>
        </p:nvSpPr>
        <p:spPr>
          <a:xfrm>
            <a:off x="789622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Oval 135"/>
          <p:cNvSpPr/>
          <p:nvPr/>
        </p:nvSpPr>
        <p:spPr>
          <a:xfrm>
            <a:off x="947737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Rectangle 136"/>
          <p:cNvSpPr/>
          <p:nvPr/>
        </p:nvSpPr>
        <p:spPr>
          <a:xfrm>
            <a:off x="10420350" y="43338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TextBox 137"/>
          <p:cNvSpPr txBox="1"/>
          <p:nvPr/>
        </p:nvSpPr>
        <p:spPr>
          <a:xfrm>
            <a:off x="11125200" y="42481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139" name="Connector 138"/>
          <p:cNvCxnSpPr/>
          <p:nvPr/>
        </p:nvCxnSpPr>
        <p:spPr>
          <a:xfrm>
            <a:off x="190500" y="4552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0" name="Rectangle 139"/>
          <p:cNvSpPr/>
          <p:nvPr/>
        </p:nvSpPr>
        <p:spPr>
          <a:xfrm>
            <a:off x="190500" y="45910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TextBox 140"/>
          <p:cNvSpPr txBox="1"/>
          <p:nvPr/>
        </p:nvSpPr>
        <p:spPr>
          <a:xfrm>
            <a:off x="285750" y="4552950"/>
            <a:ext cx="1809750" cy="304800"/>
          </a:xfrm>
          <a:prstGeom prst="rect">
            <a:avLst/>
          </a:prstGeom>
          <a:noFill/>
        </p:spPr>
        <p:txBody>
          <a:bodyPr wrap="square" lIns="28575" tIns="9525" rIns="28575" bIns="9525" anchor="ctr">
            <a:spAutoFit/>
          </a:bodyPr>
          <a:lstStyle/>
          <a:p>
            <a:pPr algn="l"/>
            <a:r>
              <a:rPr sz="1100" b="1">
                <a:solidFill>
                  <a:srgbClr val="1F2933"/>
                </a:solidFill>
                <a:latin typeface="Calibri"/>
              </a:rPr>
              <a:t>Cactus Corrugated Containers Inc.</a:t>
            </a:r>
          </a:p>
        </p:txBody>
      </p:sp>
      <p:sp>
        <p:nvSpPr>
          <p:cNvPr id="142" name="Oval 141"/>
          <p:cNvSpPr/>
          <p:nvPr/>
        </p:nvSpPr>
        <p:spPr>
          <a:xfrm>
            <a:off x="28479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3" name="Freeform 142"/>
          <p:cNvSpPr/>
          <p:nvPr/>
        </p:nvSpPr>
        <p:spPr>
          <a:xfrm>
            <a:off x="292417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4" name="Oval 143"/>
          <p:cNvSpPr/>
          <p:nvPr/>
        </p:nvSpPr>
        <p:spPr>
          <a:xfrm>
            <a:off x="45053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Freeform 144"/>
          <p:cNvSpPr/>
          <p:nvPr/>
        </p:nvSpPr>
        <p:spPr>
          <a:xfrm>
            <a:off x="458152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6" name="Oval 145"/>
          <p:cNvSpPr/>
          <p:nvPr/>
        </p:nvSpPr>
        <p:spPr>
          <a:xfrm>
            <a:off x="61626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7" name="Freeform 146"/>
          <p:cNvSpPr/>
          <p:nvPr/>
        </p:nvSpPr>
        <p:spPr>
          <a:xfrm>
            <a:off x="62388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8" name="Oval 147"/>
          <p:cNvSpPr/>
          <p:nvPr/>
        </p:nvSpPr>
        <p:spPr>
          <a:xfrm>
            <a:off x="78200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9" name="Freeform 148"/>
          <p:cNvSpPr/>
          <p:nvPr/>
        </p:nvSpPr>
        <p:spPr>
          <a:xfrm>
            <a:off x="789622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0" name="Oval 149"/>
          <p:cNvSpPr/>
          <p:nvPr/>
        </p:nvSpPr>
        <p:spPr>
          <a:xfrm>
            <a:off x="9477375" y="4629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1" name="Rectangle 150"/>
          <p:cNvSpPr/>
          <p:nvPr/>
        </p:nvSpPr>
        <p:spPr>
          <a:xfrm>
            <a:off x="10420350" y="46386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TextBox 151"/>
          <p:cNvSpPr txBox="1"/>
          <p:nvPr/>
        </p:nvSpPr>
        <p:spPr>
          <a:xfrm>
            <a:off x="11125200" y="4552950"/>
            <a:ext cx="419100" cy="304800"/>
          </a:xfrm>
          <a:prstGeom prst="rect">
            <a:avLst/>
          </a:prstGeom>
          <a:noFill/>
        </p:spPr>
        <p:txBody>
          <a:bodyPr wrap="none" lIns="0" tIns="0" rIns="0" bIns="0" anchor="ctr">
            <a:spAutoFit/>
          </a:bodyPr>
          <a:lstStyle/>
          <a:p>
            <a:pPr algn="l"/>
            <a:r>
              <a:rPr sz="1100" b="1">
                <a:solidFill>
                  <a:srgbClr val="1F2933"/>
                </a:solidFill>
                <a:latin typeface="Calibri"/>
              </a:rPr>
              <a:t> </a:t>
            </a:r>
          </a:p>
        </p:txBody>
      </p:sp>
      <p:cxnSp>
        <p:nvCxnSpPr>
          <p:cNvPr id="153" name="Connector 152"/>
          <p:cNvCxnSpPr/>
          <p:nvPr/>
        </p:nvCxnSpPr>
        <p:spPr>
          <a:xfrm>
            <a:off x="190500" y="4857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4" name="Oval 153"/>
          <p:cNvSpPr/>
          <p:nvPr/>
        </p:nvSpPr>
        <p:spPr>
          <a:xfrm>
            <a:off x="200025" y="49339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5" name="TextBox 154"/>
          <p:cNvSpPr txBox="1"/>
          <p:nvPr/>
        </p:nvSpPr>
        <p:spPr>
          <a:xfrm>
            <a:off x="381000" y="49149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Strong, direct evidence</a:t>
            </a:r>
          </a:p>
        </p:txBody>
      </p:sp>
      <p:sp>
        <p:nvSpPr>
          <p:cNvPr id="156" name="Oval 155"/>
          <p:cNvSpPr/>
          <p:nvPr/>
        </p:nvSpPr>
        <p:spPr>
          <a:xfrm>
            <a:off x="2065020"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7" name="Freeform 156"/>
          <p:cNvSpPr/>
          <p:nvPr/>
        </p:nvSpPr>
        <p:spPr>
          <a:xfrm>
            <a:off x="2133600" y="49339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8" name="TextBox 157"/>
          <p:cNvSpPr txBox="1"/>
          <p:nvPr/>
        </p:nvSpPr>
        <p:spPr>
          <a:xfrm>
            <a:off x="2245995" y="49149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Moderate or partial</a:t>
            </a:r>
          </a:p>
        </p:txBody>
      </p:sp>
      <p:sp>
        <p:nvSpPr>
          <p:cNvPr id="159" name="Oval 158"/>
          <p:cNvSpPr/>
          <p:nvPr/>
        </p:nvSpPr>
        <p:spPr>
          <a:xfrm>
            <a:off x="367855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Freeform 159"/>
          <p:cNvSpPr/>
          <p:nvPr/>
        </p:nvSpPr>
        <p:spPr>
          <a:xfrm>
            <a:off x="3743325" y="49339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1" name="TextBox 160"/>
          <p:cNvSpPr txBox="1"/>
          <p:nvPr/>
        </p:nvSpPr>
        <p:spPr>
          <a:xfrm>
            <a:off x="3859530" y="49149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Weak or indirect</a:t>
            </a:r>
          </a:p>
        </p:txBody>
      </p:sp>
      <p:sp>
        <p:nvSpPr>
          <p:cNvPr id="162" name="Oval 161"/>
          <p:cNvSpPr/>
          <p:nvPr/>
        </p:nvSpPr>
        <p:spPr>
          <a:xfrm>
            <a:off x="510349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3" name="TextBox 162"/>
          <p:cNvSpPr txBox="1"/>
          <p:nvPr/>
        </p:nvSpPr>
        <p:spPr>
          <a:xfrm>
            <a:off x="5284470" y="4914900"/>
            <a:ext cx="1619250" cy="171450"/>
          </a:xfrm>
          <a:prstGeom prst="rect">
            <a:avLst/>
          </a:prstGeom>
          <a:noFill/>
        </p:spPr>
        <p:txBody>
          <a:bodyPr wrap="square" lIns="28575" tIns="9525" rIns="28575" bIns="9525" anchor="ctr">
            <a:spAutoFit/>
          </a:bodyPr>
          <a:lstStyle/>
          <a:p>
            <a:pPr algn="l"/>
            <a:r>
              <a:rPr sz="1100" b="0">
                <a:solidFill>
                  <a:srgbClr val="1F2933"/>
                </a:solidFill>
                <a:latin typeface="Calibri"/>
              </a:rPr>
              <a:t>None found</a:t>
            </a:r>
          </a:p>
        </p:txBody>
      </p:sp>
      <p:sp>
        <p:nvSpPr>
          <p:cNvPr id="164" name="TextBox 163"/>
          <p:cNvSpPr txBox="1"/>
          <p:nvPr/>
        </p:nvSpPr>
        <p:spPr>
          <a:xfrm>
            <a:off x="190500" y="5143500"/>
            <a:ext cx="2857500" cy="152400"/>
          </a:xfrm>
          <a:prstGeom prst="rect">
            <a:avLst/>
          </a:prstGeom>
          <a:noFill/>
        </p:spPr>
        <p:txBody>
          <a:bodyPr wrap="square" lIns="28575" tIns="9525" rIns="28575" bIns="9525" anchor="t">
            <a:spAutoFit/>
          </a:bodyPr>
          <a:lstStyle/>
          <a:p>
            <a:pPr algn="l"/>
            <a:r>
              <a:rPr sz="1100" b="1">
                <a:solidFill>
                  <a:srgbClr val="0F2D52"/>
                </a:solidFill>
                <a:latin typeface="Calibri"/>
              </a:rPr>
              <a:t>STRATEGIC GROUPS</a:t>
            </a:r>
          </a:p>
        </p:txBody>
      </p:sp>
      <p:sp>
        <p:nvSpPr>
          <p:cNvPr id="165" name="Rectangle 164"/>
          <p:cNvSpPr/>
          <p:nvPr/>
        </p:nvSpPr>
        <p:spPr>
          <a:xfrm>
            <a:off x="190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TextBox 165"/>
          <p:cNvSpPr txBox="1"/>
          <p:nvPr/>
        </p:nvSpPr>
        <p:spPr>
          <a:xfrm>
            <a:off x="190500" y="5391150"/>
            <a:ext cx="3810000" cy="171450"/>
          </a:xfrm>
          <a:prstGeom prst="rect">
            <a:avLst/>
          </a:prstGeom>
          <a:noFill/>
        </p:spPr>
        <p:txBody>
          <a:bodyPr wrap="square" lIns="28575" tIns="9525" rIns="28575" bIns="9525" anchor="t">
            <a:spAutoFit/>
          </a:bodyPr>
          <a:lstStyle/>
          <a:p>
            <a:pPr algn="l"/>
            <a:r>
              <a:rPr sz="1100" b="1">
                <a:solidFill>
                  <a:srgbClr val="1F2933"/>
                </a:solidFill>
                <a:latin typeface="Calibri"/>
              </a:rPr>
              <a:t>Tier 1</a:t>
            </a:r>
          </a:p>
        </p:txBody>
      </p:sp>
      <p:sp>
        <p:nvSpPr>
          <p:cNvPr id="167" name="TextBox 166"/>
          <p:cNvSpPr txBox="1"/>
          <p:nvPr/>
        </p:nvSpPr>
        <p:spPr>
          <a:xfrm>
            <a:off x="190500" y="5562600"/>
            <a:ext cx="3810000" cy="3238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Multicell Packaging Inc., Company, Interpack Inc., Great American Paper Inc.</a:t>
            </a:r>
          </a:p>
        </p:txBody>
      </p:sp>
      <p:sp>
        <p:nvSpPr>
          <p:cNvPr id="168" name="TextBox 167"/>
          <p:cNvSpPr txBox="1"/>
          <p:nvPr/>
        </p:nvSpPr>
        <p:spPr>
          <a:xfrm>
            <a:off x="190500" y="5924550"/>
            <a:ext cx="3810000"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Wins on scale and share; weakest on segment breadth.</a:t>
            </a:r>
          </a:p>
        </p:txBody>
      </p:sp>
      <p:sp>
        <p:nvSpPr>
          <p:cNvPr id="169" name="Rectangle 168"/>
          <p:cNvSpPr/>
          <p:nvPr/>
        </p:nvSpPr>
        <p:spPr>
          <a:xfrm>
            <a:off x="41910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0" name="TextBox 169"/>
          <p:cNvSpPr txBox="1"/>
          <p:nvPr/>
        </p:nvSpPr>
        <p:spPr>
          <a:xfrm>
            <a:off x="4191000" y="5391150"/>
            <a:ext cx="3810000" cy="171450"/>
          </a:xfrm>
          <a:prstGeom prst="rect">
            <a:avLst/>
          </a:prstGeom>
          <a:noFill/>
        </p:spPr>
        <p:txBody>
          <a:bodyPr wrap="square" lIns="28575" tIns="9525" rIns="28575" bIns="9525" anchor="t">
            <a:spAutoFit/>
          </a:bodyPr>
          <a:lstStyle/>
          <a:p>
            <a:pPr algn="l"/>
            <a:r>
              <a:rPr sz="1100" b="1">
                <a:solidFill>
                  <a:srgbClr val="1F2933"/>
                </a:solidFill>
                <a:latin typeface="Calibri"/>
              </a:rPr>
              <a:t>Tier 2</a:t>
            </a:r>
          </a:p>
        </p:txBody>
      </p:sp>
      <p:sp>
        <p:nvSpPr>
          <p:cNvPr id="171" name="TextBox 170"/>
          <p:cNvSpPr txBox="1"/>
          <p:nvPr/>
        </p:nvSpPr>
        <p:spPr>
          <a:xfrm>
            <a:off x="4191000" y="5562600"/>
            <a:ext cx="3810000" cy="3238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M &amp; M Box &amp; Partitions Co., Caps Cases Ltd.</a:t>
            </a:r>
          </a:p>
        </p:txBody>
      </p:sp>
      <p:sp>
        <p:nvSpPr>
          <p:cNvPr id="172" name="TextBox 171"/>
          <p:cNvSpPr txBox="1"/>
          <p:nvPr/>
        </p:nvSpPr>
        <p:spPr>
          <a:xfrm>
            <a:off x="4191000" y="5924550"/>
            <a:ext cx="3810000"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73" name="Rectangle 172"/>
          <p:cNvSpPr/>
          <p:nvPr/>
        </p:nvSpPr>
        <p:spPr>
          <a:xfrm>
            <a:off x="8191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4" name="TextBox 173"/>
          <p:cNvSpPr txBox="1"/>
          <p:nvPr/>
        </p:nvSpPr>
        <p:spPr>
          <a:xfrm>
            <a:off x="8191500" y="5391150"/>
            <a:ext cx="3810000" cy="171450"/>
          </a:xfrm>
          <a:prstGeom prst="rect">
            <a:avLst/>
          </a:prstGeom>
          <a:noFill/>
        </p:spPr>
        <p:txBody>
          <a:bodyPr wrap="square" lIns="28575" tIns="9525" rIns="28575" bIns="9525" anchor="t">
            <a:spAutoFit/>
          </a:bodyPr>
          <a:lstStyle/>
          <a:p>
            <a:pPr algn="l"/>
            <a:r>
              <a:rPr sz="1100" b="1">
                <a:solidFill>
                  <a:srgbClr val="1F2933"/>
                </a:solidFill>
                <a:latin typeface="Calibri"/>
              </a:rPr>
              <a:t>Tier 3</a:t>
            </a:r>
          </a:p>
        </p:txBody>
      </p:sp>
      <p:sp>
        <p:nvSpPr>
          <p:cNvPr id="175" name="TextBox 174"/>
          <p:cNvSpPr txBox="1"/>
          <p:nvPr/>
        </p:nvSpPr>
        <p:spPr>
          <a:xfrm>
            <a:off x="8191500" y="5562600"/>
            <a:ext cx="3810000" cy="3238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Buckeye Corrugated Inc., Jarrett Industries Inc., Martin Partitions, Cactus Corrugated Containers Inc.</a:t>
            </a:r>
          </a:p>
        </p:txBody>
      </p:sp>
      <p:sp>
        <p:nvSpPr>
          <p:cNvPr id="176" name="TextBox 175"/>
          <p:cNvSpPr txBox="1"/>
          <p:nvPr/>
        </p:nvSpPr>
        <p:spPr>
          <a:xfrm>
            <a:off x="8191500" y="5924550"/>
            <a:ext cx="3810000" cy="34290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77" name="TextBox 17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78" name="Picture 177" descr="lock.png"/>
          <p:cNvPicPr>
            <a:picLocks noChangeAspect="1"/>
          </p:cNvPicPr>
          <p:nvPr/>
        </p:nvPicPr>
        <p:blipFill>
          <a:blip r:embed="rId4"/>
          <a:stretch>
            <a:fillRect/>
          </a:stretch>
        </p:blipFill>
        <p:spPr>
          <a:xfrm>
            <a:off x="11689500" y="1868551"/>
            <a:ext cx="128699" cy="187198"/>
          </a:xfrm>
          <a:prstGeom prst="rect">
            <a:avLst/>
          </a:prstGeom>
        </p:spPr>
      </p:pic>
      <p:pic>
        <p:nvPicPr>
          <p:cNvPr id="179" name="Picture 178" descr="lock.png"/>
          <p:cNvPicPr>
            <a:picLocks noChangeAspect="1"/>
          </p:cNvPicPr>
          <p:nvPr/>
        </p:nvPicPr>
        <p:blipFill>
          <a:blip r:embed="rId4"/>
          <a:stretch>
            <a:fillRect/>
          </a:stretch>
        </p:blipFill>
        <p:spPr>
          <a:xfrm>
            <a:off x="11632350" y="2173351"/>
            <a:ext cx="128699" cy="187198"/>
          </a:xfrm>
          <a:prstGeom prst="rect">
            <a:avLst/>
          </a:prstGeom>
        </p:spPr>
      </p:pic>
      <p:pic>
        <p:nvPicPr>
          <p:cNvPr id="180" name="Picture 179" descr="lock.png"/>
          <p:cNvPicPr>
            <a:picLocks noChangeAspect="1"/>
          </p:cNvPicPr>
          <p:nvPr/>
        </p:nvPicPr>
        <p:blipFill>
          <a:blip r:embed="rId4"/>
          <a:stretch>
            <a:fillRect/>
          </a:stretch>
        </p:blipFill>
        <p:spPr>
          <a:xfrm>
            <a:off x="11632350" y="2478151"/>
            <a:ext cx="128699" cy="187198"/>
          </a:xfrm>
          <a:prstGeom prst="rect">
            <a:avLst/>
          </a:prstGeom>
        </p:spPr>
      </p:pic>
      <p:pic>
        <p:nvPicPr>
          <p:cNvPr id="181" name="Picture 180" descr="lock.png"/>
          <p:cNvPicPr>
            <a:picLocks noChangeAspect="1"/>
          </p:cNvPicPr>
          <p:nvPr/>
        </p:nvPicPr>
        <p:blipFill>
          <a:blip r:embed="rId4"/>
          <a:stretch>
            <a:fillRect/>
          </a:stretch>
        </p:blipFill>
        <p:spPr>
          <a:xfrm>
            <a:off x="11575200" y="278295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479950" y="3087751"/>
            <a:ext cx="128699" cy="187198"/>
          </a:xfrm>
          <a:prstGeom prst="rect">
            <a:avLst/>
          </a:prstGeom>
        </p:spPr>
      </p:pic>
      <p:pic>
        <p:nvPicPr>
          <p:cNvPr id="183" name="Picture 182" descr="lock.png"/>
          <p:cNvPicPr>
            <a:picLocks noChangeAspect="1"/>
          </p:cNvPicPr>
          <p:nvPr/>
        </p:nvPicPr>
        <p:blipFill>
          <a:blip r:embed="rId4"/>
          <a:stretch>
            <a:fillRect/>
          </a:stretch>
        </p:blipFill>
        <p:spPr>
          <a:xfrm>
            <a:off x="11422800" y="3392551"/>
            <a:ext cx="128699" cy="187198"/>
          </a:xfrm>
          <a:prstGeom prst="rect">
            <a:avLst/>
          </a:prstGeom>
        </p:spPr>
      </p:pic>
      <p:pic>
        <p:nvPicPr>
          <p:cNvPr id="184" name="Picture 183" descr="lock.png"/>
          <p:cNvPicPr>
            <a:picLocks noChangeAspect="1"/>
          </p:cNvPicPr>
          <p:nvPr/>
        </p:nvPicPr>
        <p:blipFill>
          <a:blip r:embed="rId4"/>
          <a:stretch>
            <a:fillRect/>
          </a:stretch>
        </p:blipFill>
        <p:spPr>
          <a:xfrm>
            <a:off x="11327550" y="369735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327550" y="4002151"/>
            <a:ext cx="128699" cy="187198"/>
          </a:xfrm>
          <a:prstGeom prst="rect">
            <a:avLst/>
          </a:prstGeom>
        </p:spPr>
      </p:pic>
      <p:pic>
        <p:nvPicPr>
          <p:cNvPr id="186" name="Picture 185" descr="lock.png"/>
          <p:cNvPicPr>
            <a:picLocks noChangeAspect="1"/>
          </p:cNvPicPr>
          <p:nvPr/>
        </p:nvPicPr>
        <p:blipFill>
          <a:blip r:embed="rId4"/>
          <a:stretch>
            <a:fillRect/>
          </a:stretch>
        </p:blipFill>
        <p:spPr>
          <a:xfrm>
            <a:off x="11270400" y="4306951"/>
            <a:ext cx="128699" cy="187198"/>
          </a:xfrm>
          <a:prstGeom prst="rect">
            <a:avLst/>
          </a:prstGeom>
        </p:spPr>
      </p:pic>
      <p:pic>
        <p:nvPicPr>
          <p:cNvPr id="187" name="Picture 186" descr="lock.png"/>
          <p:cNvPicPr>
            <a:picLocks noChangeAspect="1"/>
          </p:cNvPicPr>
          <p:nvPr/>
        </p:nvPicPr>
        <p:blipFill>
          <a:blip r:embed="rId4"/>
          <a:stretch>
            <a:fillRect/>
          </a:stretch>
        </p:blipFill>
        <p:spPr>
          <a:xfrm>
            <a:off x="11270400" y="4611751"/>
            <a:ext cx="128699" cy="187198"/>
          </a:xfrm>
          <a:prstGeom prst="rect">
            <a:avLst/>
          </a:prstGeom>
        </p:spPr>
      </p:pic>
      <p:sp>
        <p:nvSpPr>
          <p:cNvPr id="188" name="TextBox 187"/>
          <p:cNvSpPr txBox="1"/>
          <p:nvPr/>
        </p:nvSpPr>
        <p:spPr>
          <a:xfrm>
            <a:off x="2162175" y="1219200"/>
            <a:ext cx="379523" cy="139750"/>
          </a:xfrm>
          <a:prstGeom prst="rect">
            <a:avLst/>
          </a:prstGeom>
          <a:noFill/>
        </p:spPr>
        <p:txBody>
          <a:bodyPr wrap="none" lIns="0" tIns="0" rIns="0" bIns="0">
            <a:spAutoFit/>
          </a:bodyPr>
          <a:lstStyle/>
          <a:p>
            <a:r>
              <a:rPr sz="791" b="1">
                <a:solidFill>
                  <a:srgbClr val="1F2933"/>
                </a:solidFill>
                <a:latin typeface="Calibri"/>
              </a:rPr>
              <a:t>Weight</a:t>
            </a:r>
          </a:p>
        </p:txBody>
      </p:sp>
      <p:pic>
        <p:nvPicPr>
          <p:cNvPr id="189" name="Picture 188" descr="lock.png"/>
          <p:cNvPicPr>
            <a:picLocks noChangeAspect="1"/>
          </p:cNvPicPr>
          <p:nvPr/>
        </p:nvPicPr>
        <p:blipFill>
          <a:blip r:embed="rId4"/>
          <a:stretch>
            <a:fillRect/>
          </a:stretch>
        </p:blipFill>
        <p:spPr>
          <a:xfrm>
            <a:off x="2482959" y="1212159"/>
            <a:ext cx="92663" cy="134782"/>
          </a:xfrm>
          <a:prstGeom prst="rect">
            <a:avLst/>
          </a:prstGeom>
        </p:spPr>
      </p:pic>
      <p:sp>
        <p:nvSpPr>
          <p:cNvPr id="190" name="TextBox 189"/>
          <p:cNvSpPr txBox="1"/>
          <p:nvPr/>
        </p:nvSpPr>
        <p:spPr>
          <a:xfrm>
            <a:off x="3819525" y="1219200"/>
            <a:ext cx="379523" cy="139750"/>
          </a:xfrm>
          <a:prstGeom prst="rect">
            <a:avLst/>
          </a:prstGeom>
          <a:noFill/>
        </p:spPr>
        <p:txBody>
          <a:bodyPr wrap="none" lIns="0" tIns="0" rIns="0" bIns="0">
            <a:spAutoFit/>
          </a:bodyPr>
          <a:lstStyle/>
          <a:p>
            <a:r>
              <a:rPr sz="791" b="1">
                <a:solidFill>
                  <a:srgbClr val="1F2933"/>
                </a:solidFill>
                <a:latin typeface="Calibri"/>
              </a:rPr>
              <a:t>Weight</a:t>
            </a:r>
          </a:p>
        </p:txBody>
      </p:sp>
      <p:pic>
        <p:nvPicPr>
          <p:cNvPr id="191" name="Picture 190" descr="lock.png"/>
          <p:cNvPicPr>
            <a:picLocks noChangeAspect="1"/>
          </p:cNvPicPr>
          <p:nvPr/>
        </p:nvPicPr>
        <p:blipFill>
          <a:blip r:embed="rId4"/>
          <a:stretch>
            <a:fillRect/>
          </a:stretch>
        </p:blipFill>
        <p:spPr>
          <a:xfrm>
            <a:off x="4140309" y="1212159"/>
            <a:ext cx="92663" cy="134782"/>
          </a:xfrm>
          <a:prstGeom prst="rect">
            <a:avLst/>
          </a:prstGeom>
        </p:spPr>
      </p:pic>
      <p:sp>
        <p:nvSpPr>
          <p:cNvPr id="192" name="TextBox 191"/>
          <p:cNvSpPr txBox="1"/>
          <p:nvPr/>
        </p:nvSpPr>
        <p:spPr>
          <a:xfrm>
            <a:off x="5476875" y="1219200"/>
            <a:ext cx="379523" cy="139750"/>
          </a:xfrm>
          <a:prstGeom prst="rect">
            <a:avLst/>
          </a:prstGeom>
          <a:noFill/>
        </p:spPr>
        <p:txBody>
          <a:bodyPr wrap="none" lIns="0" tIns="0" rIns="0" bIns="0">
            <a:spAutoFit/>
          </a:bodyPr>
          <a:lstStyle/>
          <a:p>
            <a:r>
              <a:rPr sz="791" b="1">
                <a:solidFill>
                  <a:srgbClr val="1F2933"/>
                </a:solidFill>
                <a:latin typeface="Calibri"/>
              </a:rPr>
              <a:t>Weight</a:t>
            </a:r>
          </a:p>
        </p:txBody>
      </p:sp>
      <p:pic>
        <p:nvPicPr>
          <p:cNvPr id="193" name="Picture 192" descr="lock.png"/>
          <p:cNvPicPr>
            <a:picLocks noChangeAspect="1"/>
          </p:cNvPicPr>
          <p:nvPr/>
        </p:nvPicPr>
        <p:blipFill>
          <a:blip r:embed="rId4"/>
          <a:stretch>
            <a:fillRect/>
          </a:stretch>
        </p:blipFill>
        <p:spPr>
          <a:xfrm>
            <a:off x="5797659" y="1212159"/>
            <a:ext cx="92663" cy="134782"/>
          </a:xfrm>
          <a:prstGeom prst="rect">
            <a:avLst/>
          </a:prstGeom>
        </p:spPr>
      </p:pic>
      <p:sp>
        <p:nvSpPr>
          <p:cNvPr id="194" name="TextBox 193"/>
          <p:cNvSpPr txBox="1"/>
          <p:nvPr/>
        </p:nvSpPr>
        <p:spPr>
          <a:xfrm>
            <a:off x="7134225" y="1219200"/>
            <a:ext cx="379523" cy="139750"/>
          </a:xfrm>
          <a:prstGeom prst="rect">
            <a:avLst/>
          </a:prstGeom>
          <a:noFill/>
        </p:spPr>
        <p:txBody>
          <a:bodyPr wrap="none" lIns="0" tIns="0" rIns="0" bIns="0">
            <a:spAutoFit/>
          </a:bodyPr>
          <a:lstStyle/>
          <a:p>
            <a:r>
              <a:rPr sz="791" b="1">
                <a:solidFill>
                  <a:srgbClr val="1F2933"/>
                </a:solidFill>
                <a:latin typeface="Calibri"/>
              </a:rPr>
              <a:t>Weight</a:t>
            </a:r>
          </a:p>
        </p:txBody>
      </p:sp>
      <p:pic>
        <p:nvPicPr>
          <p:cNvPr id="195" name="Picture 194" descr="lock.png"/>
          <p:cNvPicPr>
            <a:picLocks noChangeAspect="1"/>
          </p:cNvPicPr>
          <p:nvPr/>
        </p:nvPicPr>
        <p:blipFill>
          <a:blip r:embed="rId4"/>
          <a:stretch>
            <a:fillRect/>
          </a:stretch>
        </p:blipFill>
        <p:spPr>
          <a:xfrm>
            <a:off x="7455009" y="1212159"/>
            <a:ext cx="92663" cy="134782"/>
          </a:xfrm>
          <a:prstGeom prst="rect">
            <a:avLst/>
          </a:prstGeom>
        </p:spPr>
      </p:pic>
      <p:sp>
        <p:nvSpPr>
          <p:cNvPr id="196" name="TextBox 195"/>
          <p:cNvSpPr txBox="1"/>
          <p:nvPr/>
        </p:nvSpPr>
        <p:spPr>
          <a:xfrm>
            <a:off x="8791575" y="1219200"/>
            <a:ext cx="379523" cy="139750"/>
          </a:xfrm>
          <a:prstGeom prst="rect">
            <a:avLst/>
          </a:prstGeom>
          <a:noFill/>
        </p:spPr>
        <p:txBody>
          <a:bodyPr wrap="none" lIns="0" tIns="0" rIns="0" bIns="0">
            <a:spAutoFit/>
          </a:bodyPr>
          <a:lstStyle/>
          <a:p>
            <a:r>
              <a:rPr sz="791" b="1">
                <a:solidFill>
                  <a:srgbClr val="1F2933"/>
                </a:solidFill>
                <a:latin typeface="Calibri"/>
              </a:rPr>
              <a:t>Weight</a:t>
            </a:r>
          </a:p>
        </p:txBody>
      </p:sp>
      <p:pic>
        <p:nvPicPr>
          <p:cNvPr id="197" name="Picture 196"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Strategic Activity Tracker</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tIns="9525" rIns="2857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tIns="9525" rIns="2857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tIns="0" r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tIns="0" r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tIns="9525" rIns="2857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tIns="9525" rIns="2857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tIns="9525" rIns="2857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tIns="9525" rIns="2857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266700" y="12858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Multicell Packaging Inc.</a:t>
            </a:r>
          </a:p>
        </p:txBody>
      </p:sp>
      <p:sp>
        <p:nvSpPr>
          <p:cNvPr id="21" name="TextBox 20"/>
          <p:cNvSpPr txBox="1"/>
          <p:nvPr/>
        </p:nvSpPr>
        <p:spPr>
          <a:xfrm>
            <a:off x="1543050" y="12858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tIns="0" rIns="0" bIns="0" anchor="t">
            <a:spAutoFit/>
          </a:bodyPr>
          <a:lstStyle/>
          <a:p>
            <a:pPr algn="l"/>
            <a:endParaRP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4514850" y="1314450"/>
            <a:ext cx="285750" cy="171450"/>
          </a:xfrm>
          <a:prstGeom prst="rect">
            <a:avLst/>
          </a:prstGeom>
          <a:noFill/>
        </p:spPr>
        <p:txBody>
          <a:bodyPr wrap="none" lIns="0" tIns="0" r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66700" y="17811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Company</a:t>
            </a:r>
          </a:p>
        </p:txBody>
      </p:sp>
      <p:sp>
        <p:nvSpPr>
          <p:cNvPr id="32" name="TextBox 31"/>
          <p:cNvSpPr txBox="1"/>
          <p:nvPr/>
        </p:nvSpPr>
        <p:spPr>
          <a:xfrm>
            <a:off x="1543050" y="17811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development programme in Flat Dividers &amp; Layer Pads</a:t>
            </a:r>
          </a:p>
        </p:txBody>
      </p:sp>
      <p:sp>
        <p:nvSpPr>
          <p:cNvPr id="33" name="TextBox 32"/>
          <p:cNvSpPr txBox="1"/>
          <p:nvPr/>
        </p:nvSpPr>
        <p:spPr>
          <a:xfrm>
            <a:off x="3924300" y="1781175"/>
            <a:ext cx="533400" cy="171450"/>
          </a:xfrm>
          <a:prstGeom prst="rect">
            <a:avLst/>
          </a:prstGeom>
          <a:noFill/>
        </p:spPr>
        <p:txBody>
          <a:bodyPr wrap="none" lIns="0" tIns="0" rIns="0" bIns="0" anchor="t">
            <a:spAutoFit/>
          </a:bodyPr>
          <a:lstStyle/>
          <a:p>
            <a:pPr algn="l"/>
            <a:endParaRP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 name="TextBox 34"/>
          <p:cNvSpPr txBox="1"/>
          <p:nvPr/>
        </p:nvSpPr>
        <p:spPr>
          <a:xfrm>
            <a:off x="4514850" y="1809750"/>
            <a:ext cx="285750" cy="171450"/>
          </a:xfrm>
          <a:prstGeom prst="rect">
            <a:avLst/>
          </a:prstGeom>
          <a:noFill/>
        </p:spPr>
        <p:txBody>
          <a:bodyPr wrap="none" lIns="0" tIns="0" r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266700" y="22764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Great American Paper Inc.</a:t>
            </a:r>
          </a:p>
        </p:txBody>
      </p:sp>
      <p:sp>
        <p:nvSpPr>
          <p:cNvPr id="43" name="TextBox 42"/>
          <p:cNvSpPr txBox="1"/>
          <p:nvPr/>
        </p:nvSpPr>
        <p:spPr>
          <a:xfrm>
            <a:off x="1543050" y="22764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tIns="0" rIns="0" bIns="0" anchor="t">
            <a:spAutoFit/>
          </a:bodyPr>
          <a:lstStyle/>
          <a:p>
            <a:pPr algn="l"/>
            <a:endParaRP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TextBox 45"/>
          <p:cNvSpPr txBox="1"/>
          <p:nvPr/>
        </p:nvSpPr>
        <p:spPr>
          <a:xfrm>
            <a:off x="4514850" y="2305050"/>
            <a:ext cx="285750" cy="171450"/>
          </a:xfrm>
          <a:prstGeom prst="rect">
            <a:avLst/>
          </a:prstGeom>
          <a:noFill/>
        </p:spPr>
        <p:txBody>
          <a:bodyPr wrap="none" lIns="0" tIns="0" r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266700" y="27717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Interpack Inc.</a:t>
            </a:r>
          </a:p>
        </p:txBody>
      </p:sp>
      <p:sp>
        <p:nvSpPr>
          <p:cNvPr id="54" name="TextBox 53"/>
          <p:cNvSpPr txBox="1"/>
          <p:nvPr/>
        </p:nvSpPr>
        <p:spPr>
          <a:xfrm>
            <a:off x="1543050" y="27717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development programme in Die-Cut &amp; Folded Partitions (H-dividers, tube/cell inserts)</a:t>
            </a:r>
          </a:p>
        </p:txBody>
      </p:sp>
      <p:sp>
        <p:nvSpPr>
          <p:cNvPr id="55" name="TextBox 54"/>
          <p:cNvSpPr txBox="1"/>
          <p:nvPr/>
        </p:nvSpPr>
        <p:spPr>
          <a:xfrm>
            <a:off x="3924300" y="2771775"/>
            <a:ext cx="533400" cy="171450"/>
          </a:xfrm>
          <a:prstGeom prst="rect">
            <a:avLst/>
          </a:prstGeom>
          <a:noFill/>
        </p:spPr>
        <p:txBody>
          <a:bodyPr wrap="none" lIns="0" tIns="0" rIns="0" bIns="0" anchor="t">
            <a:spAutoFit/>
          </a:bodyPr>
          <a:lstStyle/>
          <a:p>
            <a:pPr algn="l"/>
            <a:endParaRP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4514850" y="2800350"/>
            <a:ext cx="285750" cy="171450"/>
          </a:xfrm>
          <a:prstGeom prst="rect">
            <a:avLst/>
          </a:prstGeom>
          <a:noFill/>
        </p:spPr>
        <p:txBody>
          <a:bodyPr wrap="none" lIns="0" tIns="0" r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66700" y="32670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Caps Cases Ltd.</a:t>
            </a:r>
          </a:p>
        </p:txBody>
      </p:sp>
      <p:sp>
        <p:nvSpPr>
          <p:cNvPr id="65" name="TextBox 64"/>
          <p:cNvSpPr txBox="1"/>
          <p:nvPr/>
        </p:nvSpPr>
        <p:spPr>
          <a:xfrm>
            <a:off x="1543050" y="32670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tIns="0" rIns="0" bIns="0" anchor="t">
            <a:spAutoFit/>
          </a:bodyPr>
          <a:lstStyle/>
          <a:p>
            <a:pPr algn="l"/>
            <a:endParaRP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TextBox 67"/>
          <p:cNvSpPr txBox="1"/>
          <p:nvPr/>
        </p:nvSpPr>
        <p:spPr>
          <a:xfrm>
            <a:off x="4514850" y="3295650"/>
            <a:ext cx="285750" cy="171450"/>
          </a:xfrm>
          <a:prstGeom prst="rect">
            <a:avLst/>
          </a:prstGeom>
          <a:noFill/>
        </p:spPr>
        <p:txBody>
          <a:bodyPr wrap="none" lIns="0" tIns="0" r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TextBox 74"/>
          <p:cNvSpPr txBox="1"/>
          <p:nvPr/>
        </p:nvSpPr>
        <p:spPr>
          <a:xfrm>
            <a:off x="266700" y="37623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M &amp; M Box &amp; Partitions Co.</a:t>
            </a:r>
          </a:p>
        </p:txBody>
      </p:sp>
      <p:sp>
        <p:nvSpPr>
          <p:cNvPr id="76" name="TextBox 75"/>
          <p:cNvSpPr txBox="1"/>
          <p:nvPr/>
        </p:nvSpPr>
        <p:spPr>
          <a:xfrm>
            <a:off x="1543050" y="37623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development programme in Flat Dividers &amp; Layer Pads</a:t>
            </a:r>
          </a:p>
        </p:txBody>
      </p:sp>
      <p:sp>
        <p:nvSpPr>
          <p:cNvPr id="77" name="TextBox 76"/>
          <p:cNvSpPr txBox="1"/>
          <p:nvPr/>
        </p:nvSpPr>
        <p:spPr>
          <a:xfrm>
            <a:off x="3924300" y="3762375"/>
            <a:ext cx="533400" cy="171450"/>
          </a:xfrm>
          <a:prstGeom prst="rect">
            <a:avLst/>
          </a:prstGeom>
          <a:noFill/>
        </p:spPr>
        <p:txBody>
          <a:bodyPr wrap="none" lIns="0" tIns="0" rIns="0" bIns="0" anchor="t">
            <a:spAutoFit/>
          </a:bodyPr>
          <a:lstStyle/>
          <a:p>
            <a:pPr algn="l"/>
            <a:endParaRP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p:cNvSpPr txBox="1"/>
          <p:nvPr/>
        </p:nvSpPr>
        <p:spPr>
          <a:xfrm>
            <a:off x="4514850" y="3790950"/>
            <a:ext cx="285750" cy="171450"/>
          </a:xfrm>
          <a:prstGeom prst="rect">
            <a:avLst/>
          </a:prstGeom>
          <a:noFill/>
        </p:spPr>
        <p:txBody>
          <a:bodyPr wrap="none" lIns="0" tIns="0" r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TextBox 85"/>
          <p:cNvSpPr txBox="1"/>
          <p:nvPr/>
        </p:nvSpPr>
        <p:spPr>
          <a:xfrm>
            <a:off x="266700" y="42576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Martin Partitions</a:t>
            </a:r>
          </a:p>
        </p:txBody>
      </p:sp>
      <p:sp>
        <p:nvSpPr>
          <p:cNvPr id="87" name="TextBox 86"/>
          <p:cNvSpPr txBox="1"/>
          <p:nvPr/>
        </p:nvSpPr>
        <p:spPr>
          <a:xfrm>
            <a:off x="1543050" y="42576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tIns="0" rIns="0" bIns="0" anchor="t">
            <a:spAutoFit/>
          </a:bodyPr>
          <a:lstStyle/>
          <a:p>
            <a:pPr algn="l"/>
            <a:endParaRP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0" name="TextBox 89"/>
          <p:cNvSpPr txBox="1"/>
          <p:nvPr/>
        </p:nvSpPr>
        <p:spPr>
          <a:xfrm>
            <a:off x="4514850" y="4286250"/>
            <a:ext cx="285750" cy="171450"/>
          </a:xfrm>
          <a:prstGeom prst="rect">
            <a:avLst/>
          </a:prstGeom>
          <a:noFill/>
        </p:spPr>
        <p:txBody>
          <a:bodyPr wrap="none" lIns="0" tIns="0" r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TextBox 96"/>
          <p:cNvSpPr txBox="1"/>
          <p:nvPr/>
        </p:nvSpPr>
        <p:spPr>
          <a:xfrm>
            <a:off x="266700" y="47529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Buckeye Corrugated Inc.</a:t>
            </a:r>
          </a:p>
        </p:txBody>
      </p:sp>
      <p:sp>
        <p:nvSpPr>
          <p:cNvPr id="98" name="TextBox 97"/>
          <p:cNvSpPr txBox="1"/>
          <p:nvPr/>
        </p:nvSpPr>
        <p:spPr>
          <a:xfrm>
            <a:off x="1543050" y="47529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development programme in Die-Cut &amp; Folded Partitions (H-dividers, tube/cell inserts)</a:t>
            </a:r>
          </a:p>
        </p:txBody>
      </p:sp>
      <p:sp>
        <p:nvSpPr>
          <p:cNvPr id="99" name="TextBox 98"/>
          <p:cNvSpPr txBox="1"/>
          <p:nvPr/>
        </p:nvSpPr>
        <p:spPr>
          <a:xfrm>
            <a:off x="3924300" y="4752975"/>
            <a:ext cx="533400" cy="171450"/>
          </a:xfrm>
          <a:prstGeom prst="rect">
            <a:avLst/>
          </a:prstGeom>
          <a:noFill/>
        </p:spPr>
        <p:txBody>
          <a:bodyPr wrap="none" lIns="0" tIns="0" rIns="0" bIns="0" anchor="t">
            <a:spAutoFit/>
          </a:bodyPr>
          <a:lstStyle/>
          <a:p>
            <a:pPr algn="l"/>
            <a:endParaRP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TextBox 100"/>
          <p:cNvSpPr txBox="1"/>
          <p:nvPr/>
        </p:nvSpPr>
        <p:spPr>
          <a:xfrm>
            <a:off x="4514850" y="4781550"/>
            <a:ext cx="285750" cy="171450"/>
          </a:xfrm>
          <a:prstGeom prst="rect">
            <a:avLst/>
          </a:prstGeom>
          <a:noFill/>
        </p:spPr>
        <p:txBody>
          <a:bodyPr wrap="none" lIns="0" tIns="0" r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578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TextBox 107"/>
          <p:cNvSpPr txBox="1"/>
          <p:nvPr/>
        </p:nvSpPr>
        <p:spPr>
          <a:xfrm>
            <a:off x="266700" y="52482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Cactus Corrugated Containers Inc.</a:t>
            </a:r>
          </a:p>
        </p:txBody>
      </p:sp>
      <p:sp>
        <p:nvSpPr>
          <p:cNvPr id="109" name="TextBox 108"/>
          <p:cNvSpPr txBox="1"/>
          <p:nvPr/>
        </p:nvSpPr>
        <p:spPr>
          <a:xfrm>
            <a:off x="1543050" y="52482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110" name="TextBox 109"/>
          <p:cNvSpPr txBox="1"/>
          <p:nvPr/>
        </p:nvSpPr>
        <p:spPr>
          <a:xfrm>
            <a:off x="3924300" y="5248275"/>
            <a:ext cx="533400" cy="171450"/>
          </a:xfrm>
          <a:prstGeom prst="rect">
            <a:avLst/>
          </a:prstGeom>
          <a:noFill/>
        </p:spPr>
        <p:txBody>
          <a:bodyPr wrap="none" lIns="0" tIns="0" rIns="0" bIns="0" anchor="t">
            <a:spAutoFit/>
          </a:bodyPr>
          <a:lstStyle/>
          <a:p>
            <a:pPr algn="l"/>
            <a:endParaRPr/>
          </a:p>
        </p:txBody>
      </p:sp>
      <p:sp>
        <p:nvSpPr>
          <p:cNvPr id="111" name="Rectangle 110"/>
          <p:cNvSpPr/>
          <p:nvPr/>
        </p:nvSpPr>
        <p:spPr>
          <a:xfrm>
            <a:off x="4514850" y="52768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TextBox 111"/>
          <p:cNvSpPr txBox="1"/>
          <p:nvPr/>
        </p:nvSpPr>
        <p:spPr>
          <a:xfrm>
            <a:off x="4514850" y="5276850"/>
            <a:ext cx="285750" cy="171450"/>
          </a:xfrm>
          <a:prstGeom prst="rect">
            <a:avLst/>
          </a:prstGeom>
          <a:noFill/>
        </p:spPr>
        <p:txBody>
          <a:bodyPr wrap="none" lIns="0" tIns="0" rIns="0" bIns="0" anchor="ctr">
            <a:spAutoFit/>
          </a:bodyPr>
          <a:lstStyle/>
          <a:p>
            <a:pPr algn="ctr"/>
            <a:r>
              <a:rPr sz="1100" b="1">
                <a:solidFill>
                  <a:srgbClr val="FFFFFF"/>
                </a:solidFill>
                <a:latin typeface="Calibri"/>
              </a:rPr>
              <a:t>MA</a:t>
            </a:r>
          </a:p>
        </p:txBody>
      </p:sp>
      <p:sp>
        <p:nvSpPr>
          <p:cNvPr id="113" name="TextBox 112"/>
          <p:cNvSpPr txBox="1"/>
          <p:nvPr/>
        </p:nvSpPr>
        <p:spPr>
          <a:xfrm>
            <a:off x="4972050" y="52482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a:t>
            </a:r>
          </a:p>
        </p:txBody>
      </p:sp>
      <p:sp>
        <p:nvSpPr>
          <p:cNvPr id="114" name="TextBox 113"/>
          <p:cNvSpPr txBox="1"/>
          <p:nvPr/>
        </p:nvSpPr>
        <p:spPr>
          <a:xfrm>
            <a:off x="6210300" y="52482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115" name="TextBox 114"/>
          <p:cNvSpPr txBox="1"/>
          <p:nvPr/>
        </p:nvSpPr>
        <p:spPr>
          <a:xfrm>
            <a:off x="7162800" y="52482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116" name="TextBox 115"/>
          <p:cNvSpPr txBox="1"/>
          <p:nvPr/>
        </p:nvSpPr>
        <p:spPr>
          <a:xfrm>
            <a:off x="9353550" y="52482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117" name="Connector 116"/>
          <p:cNvCxnSpPr/>
          <p:nvPr/>
        </p:nvCxnSpPr>
        <p:spPr>
          <a:xfrm>
            <a:off x="190500" y="5715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7531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TextBox 118"/>
          <p:cNvSpPr txBox="1"/>
          <p:nvPr/>
        </p:nvSpPr>
        <p:spPr>
          <a:xfrm>
            <a:off x="266700" y="5743575"/>
            <a:ext cx="1238250" cy="438150"/>
          </a:xfrm>
          <a:prstGeom prst="rect">
            <a:avLst/>
          </a:prstGeom>
          <a:noFill/>
        </p:spPr>
        <p:txBody>
          <a:bodyPr wrap="square" lIns="28575" tIns="9525" rIns="28575" bIns="9525" anchor="t">
            <a:spAutoFit/>
          </a:bodyPr>
          <a:lstStyle/>
          <a:p>
            <a:pPr algn="l">
              <a:lnSpc>
                <a:spcPct val="115000"/>
              </a:lnSpc>
            </a:pPr>
            <a:r>
              <a:rPr sz="1100" b="1">
                <a:solidFill>
                  <a:srgbClr val="1F2933"/>
                </a:solidFill>
                <a:latin typeface="Calibri"/>
              </a:rPr>
              <a:t>Jarrett Industries Inc.</a:t>
            </a:r>
          </a:p>
        </p:txBody>
      </p:sp>
      <p:sp>
        <p:nvSpPr>
          <p:cNvPr id="120" name="TextBox 119"/>
          <p:cNvSpPr txBox="1"/>
          <p:nvPr/>
        </p:nvSpPr>
        <p:spPr>
          <a:xfrm>
            <a:off x="1543050" y="5743575"/>
            <a:ext cx="2324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development programme in Flat Dividers &amp; Layer Pads</a:t>
            </a:r>
          </a:p>
        </p:txBody>
      </p:sp>
      <p:sp>
        <p:nvSpPr>
          <p:cNvPr id="121" name="TextBox 120"/>
          <p:cNvSpPr txBox="1"/>
          <p:nvPr/>
        </p:nvSpPr>
        <p:spPr>
          <a:xfrm>
            <a:off x="3924300" y="5743575"/>
            <a:ext cx="533400" cy="171450"/>
          </a:xfrm>
          <a:prstGeom prst="rect">
            <a:avLst/>
          </a:prstGeom>
          <a:noFill/>
        </p:spPr>
        <p:txBody>
          <a:bodyPr wrap="none" lIns="0" tIns="0" rIns="0" bIns="0" anchor="t">
            <a:spAutoFit/>
          </a:bodyPr>
          <a:lstStyle/>
          <a:p>
            <a:pPr algn="l"/>
            <a:endParaRPr/>
          </a:p>
        </p:txBody>
      </p:sp>
      <p:sp>
        <p:nvSpPr>
          <p:cNvPr id="122" name="Rectangle 121"/>
          <p:cNvSpPr/>
          <p:nvPr/>
        </p:nvSpPr>
        <p:spPr>
          <a:xfrm>
            <a:off x="4514850" y="57721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3" name="TextBox 122"/>
          <p:cNvSpPr txBox="1"/>
          <p:nvPr/>
        </p:nvSpPr>
        <p:spPr>
          <a:xfrm>
            <a:off x="4514850" y="5772150"/>
            <a:ext cx="285750" cy="171450"/>
          </a:xfrm>
          <a:prstGeom prst="rect">
            <a:avLst/>
          </a:prstGeom>
          <a:noFill/>
        </p:spPr>
        <p:txBody>
          <a:bodyPr wrap="none" lIns="0" tIns="0" rIns="0" bIns="0" anchor="ctr">
            <a:spAutoFit/>
          </a:bodyPr>
          <a:lstStyle/>
          <a:p>
            <a:pPr algn="ctr"/>
            <a:r>
              <a:rPr sz="1100" b="1">
                <a:solidFill>
                  <a:srgbClr val="FFFFFF"/>
                </a:solidFill>
                <a:latin typeface="Calibri"/>
              </a:rPr>
              <a:t>PR</a:t>
            </a:r>
          </a:p>
        </p:txBody>
      </p:sp>
      <p:sp>
        <p:nvSpPr>
          <p:cNvPr id="124" name="TextBox 123"/>
          <p:cNvSpPr txBox="1"/>
          <p:nvPr/>
        </p:nvSpPr>
        <p:spPr>
          <a:xfrm>
            <a:off x="4972050" y="5743575"/>
            <a:ext cx="11811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and R&amp;D</a:t>
            </a:r>
          </a:p>
        </p:txBody>
      </p:sp>
      <p:sp>
        <p:nvSpPr>
          <p:cNvPr id="125" name="TextBox 124"/>
          <p:cNvSpPr txBox="1"/>
          <p:nvPr/>
        </p:nvSpPr>
        <p:spPr>
          <a:xfrm>
            <a:off x="6210300" y="5743575"/>
            <a:ext cx="895350" cy="438150"/>
          </a:xfrm>
          <a:prstGeom prst="rect">
            <a:avLst/>
          </a:prstGeom>
          <a:noFill/>
        </p:spPr>
        <p:txBody>
          <a:bodyPr wrap="square" lIns="28575" tIns="9525" rIns="28575" bIns="9525" anchor="t">
            <a:spAutoFit/>
          </a:bodyPr>
          <a:lstStyle/>
          <a:p>
            <a:pPr algn="l">
              <a:lnSpc>
                <a:spcPct val="115000"/>
              </a:lnSpc>
            </a:pPr>
            <a:r>
              <a:rPr sz="1100" b="0">
                <a:solidFill>
                  <a:srgbClr val="5F6B7A"/>
                </a:solidFill>
                <a:latin typeface="Calibri"/>
              </a:rPr>
              <a:t>FMI company profiling</a:t>
            </a:r>
          </a:p>
        </p:txBody>
      </p:sp>
      <p:sp>
        <p:nvSpPr>
          <p:cNvPr id="126" name="TextBox 125"/>
          <p:cNvSpPr txBox="1"/>
          <p:nvPr/>
        </p:nvSpPr>
        <p:spPr>
          <a:xfrm>
            <a:off x="7162800" y="5743575"/>
            <a:ext cx="21336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Capability build ahead of demand</a:t>
            </a:r>
          </a:p>
        </p:txBody>
      </p:sp>
      <p:sp>
        <p:nvSpPr>
          <p:cNvPr id="127" name="TextBox 126"/>
          <p:cNvSpPr txBox="1"/>
          <p:nvPr/>
        </p:nvSpPr>
        <p:spPr>
          <a:xfrm>
            <a:off x="9353550" y="5743575"/>
            <a:ext cx="2628900" cy="4381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Product: watch the roadmap</a:t>
            </a:r>
          </a:p>
        </p:txBody>
      </p:sp>
      <p:cxnSp>
        <p:nvCxnSpPr>
          <p:cNvPr id="128" name="Connector 127"/>
          <p:cNvCxnSpPr/>
          <p:nvPr/>
        </p:nvCxnSpPr>
        <p:spPr>
          <a:xfrm>
            <a:off x="190500" y="621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9" name="Rectangle 128"/>
          <p:cNvSpPr/>
          <p:nvPr/>
        </p:nvSpPr>
        <p:spPr>
          <a:xfrm>
            <a:off x="190500" y="62769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TextBox 129"/>
          <p:cNvSpPr txBox="1"/>
          <p:nvPr/>
        </p:nvSpPr>
        <p:spPr>
          <a:xfrm>
            <a:off x="190500" y="6276975"/>
            <a:ext cx="285750" cy="152400"/>
          </a:xfrm>
          <a:prstGeom prst="rect">
            <a:avLst/>
          </a:prstGeom>
          <a:noFill/>
        </p:spPr>
        <p:txBody>
          <a:bodyPr wrap="none" lIns="0" tIns="0" rIns="0" bIns="0" anchor="ctr">
            <a:spAutoFit/>
          </a:bodyPr>
          <a:lstStyle/>
          <a:p>
            <a:pPr algn="ctr"/>
            <a:r>
              <a:rPr sz="1100" b="1">
                <a:solidFill>
                  <a:srgbClr val="FFFFFF"/>
                </a:solidFill>
                <a:latin typeface="Calibri"/>
              </a:rPr>
              <a:t>MA</a:t>
            </a:r>
          </a:p>
        </p:txBody>
      </p:sp>
      <p:sp>
        <p:nvSpPr>
          <p:cNvPr id="131" name="TextBox 130"/>
          <p:cNvSpPr txBox="1"/>
          <p:nvPr/>
        </p:nvSpPr>
        <p:spPr>
          <a:xfrm>
            <a:off x="514350" y="6257925"/>
            <a:ext cx="1619250" cy="190500"/>
          </a:xfrm>
          <a:prstGeom prst="rect">
            <a:avLst/>
          </a:prstGeom>
          <a:noFill/>
        </p:spPr>
        <p:txBody>
          <a:bodyPr wrap="square" lIns="28575" tIns="9525" rIns="28575" bIns="9525" anchor="t">
            <a:spAutoFit/>
          </a:bodyPr>
          <a:lstStyle/>
          <a:p>
            <a:pPr algn="l"/>
            <a:r>
              <a:rPr sz="1100" b="0">
                <a:solidFill>
                  <a:srgbClr val="1F2933"/>
                </a:solidFill>
                <a:latin typeface="Calibri"/>
              </a:rPr>
              <a:t>M&amp;A</a:t>
            </a:r>
          </a:p>
        </p:txBody>
      </p:sp>
      <p:sp>
        <p:nvSpPr>
          <p:cNvPr id="132" name="Rectangle 131"/>
          <p:cNvSpPr/>
          <p:nvPr/>
        </p:nvSpPr>
        <p:spPr>
          <a:xfrm>
            <a:off x="923925" y="62769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TextBox 132"/>
          <p:cNvSpPr txBox="1"/>
          <p:nvPr/>
        </p:nvSpPr>
        <p:spPr>
          <a:xfrm>
            <a:off x="923925" y="6276975"/>
            <a:ext cx="285750" cy="152400"/>
          </a:xfrm>
          <a:prstGeom prst="rect">
            <a:avLst/>
          </a:prstGeom>
          <a:noFill/>
        </p:spPr>
        <p:txBody>
          <a:bodyPr wrap="none" lIns="0" tIns="0" rIns="0" bIns="0" anchor="ctr">
            <a:spAutoFit/>
          </a:bodyPr>
          <a:lstStyle/>
          <a:p>
            <a:pPr algn="ctr"/>
            <a:r>
              <a:rPr sz="1100" b="1">
                <a:solidFill>
                  <a:srgbClr val="FFFFFF"/>
                </a:solidFill>
                <a:latin typeface="Calibri"/>
              </a:rPr>
              <a:t>PR</a:t>
            </a:r>
          </a:p>
        </p:txBody>
      </p:sp>
      <p:sp>
        <p:nvSpPr>
          <p:cNvPr id="134" name="TextBox 133"/>
          <p:cNvSpPr txBox="1"/>
          <p:nvPr/>
        </p:nvSpPr>
        <p:spPr>
          <a:xfrm>
            <a:off x="1247775" y="6257925"/>
            <a:ext cx="1619250" cy="190500"/>
          </a:xfrm>
          <a:prstGeom prst="rect">
            <a:avLst/>
          </a:prstGeom>
          <a:noFill/>
        </p:spPr>
        <p:txBody>
          <a:bodyPr wrap="square" lIns="28575" tIns="9525" rIns="28575" bIns="9525" anchor="t">
            <a:spAutoFit/>
          </a:bodyPr>
          <a:lstStyle/>
          <a:p>
            <a:pPr algn="l"/>
            <a:r>
              <a:rPr sz="1100" b="0">
                <a:solidFill>
                  <a:srgbClr val="1F2933"/>
                </a:solidFill>
                <a:latin typeface="Calibri"/>
              </a:rPr>
              <a:t>Product / portfolio</a:t>
            </a:r>
          </a:p>
        </p:txBody>
      </p:sp>
      <p:sp>
        <p:nvSpPr>
          <p:cNvPr id="135" name="Rectangle 134"/>
          <p:cNvSpPr/>
          <p:nvPr/>
        </p:nvSpPr>
        <p:spPr>
          <a:xfrm>
            <a:off x="2724150" y="62769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TextBox 135"/>
          <p:cNvSpPr txBox="1"/>
          <p:nvPr/>
        </p:nvSpPr>
        <p:spPr>
          <a:xfrm>
            <a:off x="2724150" y="6276975"/>
            <a:ext cx="285750" cy="152400"/>
          </a:xfrm>
          <a:prstGeom prst="rect">
            <a:avLst/>
          </a:prstGeom>
          <a:noFill/>
        </p:spPr>
        <p:txBody>
          <a:bodyPr wrap="none" lIns="0" tIns="0" rIns="0" bIns="0" anchor="ctr">
            <a:spAutoFit/>
          </a:bodyPr>
          <a:lstStyle/>
          <a:p>
            <a:pPr algn="ctr"/>
            <a:r>
              <a:rPr sz="1100" b="1">
                <a:solidFill>
                  <a:srgbClr val="FFFFFF"/>
                </a:solidFill>
                <a:latin typeface="Calibri"/>
              </a:rPr>
              <a:t>EX</a:t>
            </a:r>
          </a:p>
        </p:txBody>
      </p:sp>
      <p:sp>
        <p:nvSpPr>
          <p:cNvPr id="137" name="TextBox 136"/>
          <p:cNvSpPr txBox="1"/>
          <p:nvPr/>
        </p:nvSpPr>
        <p:spPr>
          <a:xfrm>
            <a:off x="3048000" y="6257925"/>
            <a:ext cx="1619250" cy="190500"/>
          </a:xfrm>
          <a:prstGeom prst="rect">
            <a:avLst/>
          </a:prstGeom>
          <a:noFill/>
        </p:spPr>
        <p:txBody>
          <a:bodyPr wrap="square" lIns="28575" tIns="9525" rIns="28575" bIns="9525" anchor="t">
            <a:spAutoFit/>
          </a:bodyPr>
          <a:lstStyle/>
          <a:p>
            <a:pPr algn="l"/>
            <a:r>
              <a:rPr sz="1100" b="0">
                <a:solidFill>
                  <a:srgbClr val="1F2933"/>
                </a:solidFill>
                <a:latin typeface="Calibri"/>
              </a:rPr>
              <a:t>Expansion</a:t>
            </a:r>
          </a:p>
        </p:txBody>
      </p:sp>
      <p:sp>
        <p:nvSpPr>
          <p:cNvPr id="138" name="Rectangle 137"/>
          <p:cNvSpPr/>
          <p:nvPr/>
        </p:nvSpPr>
        <p:spPr>
          <a:xfrm>
            <a:off x="3857625" y="62769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9" name="TextBox 138"/>
          <p:cNvSpPr txBox="1"/>
          <p:nvPr/>
        </p:nvSpPr>
        <p:spPr>
          <a:xfrm>
            <a:off x="3857625" y="6276975"/>
            <a:ext cx="285750" cy="152400"/>
          </a:xfrm>
          <a:prstGeom prst="rect">
            <a:avLst/>
          </a:prstGeom>
          <a:noFill/>
        </p:spPr>
        <p:txBody>
          <a:bodyPr wrap="none" lIns="0" tIns="0" rIns="0" bIns="0" anchor="ctr">
            <a:spAutoFit/>
          </a:bodyPr>
          <a:lstStyle/>
          <a:p>
            <a:pPr algn="ctr"/>
            <a:r>
              <a:rPr sz="1100" b="1">
                <a:solidFill>
                  <a:srgbClr val="FFFFFF"/>
                </a:solidFill>
                <a:latin typeface="Calibri"/>
              </a:rPr>
              <a:t>RD</a:t>
            </a:r>
          </a:p>
        </p:txBody>
      </p:sp>
      <p:sp>
        <p:nvSpPr>
          <p:cNvPr id="140" name="TextBox 139"/>
          <p:cNvSpPr txBox="1"/>
          <p:nvPr/>
        </p:nvSpPr>
        <p:spPr>
          <a:xfrm>
            <a:off x="4181475" y="6257925"/>
            <a:ext cx="1619250" cy="190500"/>
          </a:xfrm>
          <a:prstGeom prst="rect">
            <a:avLst/>
          </a:prstGeom>
          <a:noFill/>
        </p:spPr>
        <p:txBody>
          <a:bodyPr wrap="square" lIns="28575" tIns="9525" rIns="28575" bIns="9525" anchor="t">
            <a:spAutoFit/>
          </a:bodyPr>
          <a:lstStyle/>
          <a:p>
            <a:pPr algn="l"/>
            <a:r>
              <a:rPr sz="1100" b="0">
                <a:solidFill>
                  <a:srgbClr val="1F2933"/>
                </a:solidFill>
                <a:latin typeface="Calibri"/>
              </a:rPr>
              <a:t>R&amp;D / technology</a:t>
            </a:r>
          </a:p>
        </p:txBody>
      </p:sp>
      <p:sp>
        <p:nvSpPr>
          <p:cNvPr id="141" name="Rectangle 140"/>
          <p:cNvSpPr/>
          <p:nvPr/>
        </p:nvSpPr>
        <p:spPr>
          <a:xfrm>
            <a:off x="5457825" y="62769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2" name="TextBox 141"/>
          <p:cNvSpPr txBox="1"/>
          <p:nvPr/>
        </p:nvSpPr>
        <p:spPr>
          <a:xfrm>
            <a:off x="5457825" y="6276975"/>
            <a:ext cx="285750" cy="152400"/>
          </a:xfrm>
          <a:prstGeom prst="rect">
            <a:avLst/>
          </a:prstGeom>
          <a:noFill/>
        </p:spPr>
        <p:txBody>
          <a:bodyPr wrap="none" lIns="0" tIns="0" rIns="0" bIns="0" anchor="ctr">
            <a:spAutoFit/>
          </a:bodyPr>
          <a:lstStyle/>
          <a:p>
            <a:pPr algn="ctr"/>
            <a:r>
              <a:rPr sz="1100" b="1">
                <a:solidFill>
                  <a:srgbClr val="FFFFFF"/>
                </a:solidFill>
                <a:latin typeface="Calibri"/>
              </a:rPr>
              <a:t>RG</a:t>
            </a:r>
          </a:p>
        </p:txBody>
      </p:sp>
      <p:sp>
        <p:nvSpPr>
          <p:cNvPr id="143" name="TextBox 142"/>
          <p:cNvSpPr txBox="1"/>
          <p:nvPr/>
        </p:nvSpPr>
        <p:spPr>
          <a:xfrm>
            <a:off x="5781675" y="6257925"/>
            <a:ext cx="1619250" cy="190500"/>
          </a:xfrm>
          <a:prstGeom prst="rect">
            <a:avLst/>
          </a:prstGeom>
          <a:noFill/>
        </p:spPr>
        <p:txBody>
          <a:bodyPr wrap="square" lIns="28575" tIns="9525" rIns="28575" bIns="9525" anchor="t">
            <a:spAutoFit/>
          </a:bodyPr>
          <a:lstStyle/>
          <a:p>
            <a:pPr algn="l"/>
            <a:r>
              <a:rPr sz="1100" b="0">
                <a:solidFill>
                  <a:srgbClr val="1F2933"/>
                </a:solidFill>
                <a:latin typeface="Calibri"/>
              </a:rPr>
              <a:t>Regulation / compliance</a:t>
            </a:r>
          </a:p>
        </p:txBody>
      </p:sp>
      <p:sp>
        <p:nvSpPr>
          <p:cNvPr id="144" name="Rectangle 143"/>
          <p:cNvSpPr/>
          <p:nvPr/>
        </p:nvSpPr>
        <p:spPr>
          <a:xfrm>
            <a:off x="7524750" y="62769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TextBox 144"/>
          <p:cNvSpPr txBox="1"/>
          <p:nvPr/>
        </p:nvSpPr>
        <p:spPr>
          <a:xfrm>
            <a:off x="7524750" y="6276975"/>
            <a:ext cx="285750" cy="152400"/>
          </a:xfrm>
          <a:prstGeom prst="rect">
            <a:avLst/>
          </a:prstGeom>
          <a:noFill/>
        </p:spPr>
        <p:txBody>
          <a:bodyPr wrap="none" lIns="0" tIns="0" rIns="0" bIns="0" anchor="ctr">
            <a:spAutoFit/>
          </a:bodyPr>
          <a:lstStyle/>
          <a:p>
            <a:pPr algn="ctr"/>
            <a:r>
              <a:rPr sz="1100" b="1">
                <a:solidFill>
                  <a:srgbClr val="FFFFFF"/>
                </a:solidFill>
                <a:latin typeface="Calibri"/>
              </a:rPr>
              <a:t>CP</a:t>
            </a:r>
          </a:p>
        </p:txBody>
      </p:sp>
      <p:sp>
        <p:nvSpPr>
          <p:cNvPr id="146" name="TextBox 145"/>
          <p:cNvSpPr txBox="1"/>
          <p:nvPr/>
        </p:nvSpPr>
        <p:spPr>
          <a:xfrm>
            <a:off x="7848600" y="6257925"/>
            <a:ext cx="1619250" cy="190500"/>
          </a:xfrm>
          <a:prstGeom prst="rect">
            <a:avLst/>
          </a:prstGeom>
          <a:noFill/>
        </p:spPr>
        <p:txBody>
          <a:bodyPr wrap="square" lIns="28575" tIns="9525" rIns="28575" bIns="9525" anchor="t">
            <a:spAutoFit/>
          </a:bodyPr>
          <a:lstStyle/>
          <a:p>
            <a:pPr algn="l"/>
            <a:r>
              <a:rPr sz="1100" b="0">
                <a:solidFill>
                  <a:srgbClr val="1F2933"/>
                </a:solidFill>
                <a:latin typeface="Calibri"/>
              </a:rPr>
              <a:t>Capital / funding</a:t>
            </a:r>
          </a:p>
        </p:txBody>
      </p:sp>
      <p:sp>
        <p:nvSpPr>
          <p:cNvPr id="147" name="TextBox 146"/>
          <p:cNvSpPr txBox="1"/>
          <p:nvPr/>
        </p:nvSpPr>
        <p:spPr>
          <a:xfrm>
            <a:off x="190500" y="6457950"/>
            <a:ext cx="11811000" cy="171450"/>
          </a:xfrm>
          <a:prstGeom prst="rect">
            <a:avLst/>
          </a:prstGeom>
          <a:noFill/>
        </p:spPr>
        <p:txBody>
          <a:bodyPr wrap="square" lIns="28575" tIns="9525" rIns="2857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48" name="TextBox 147"/>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4126650" y="1278001"/>
            <a:ext cx="128699" cy="187198"/>
          </a:xfrm>
          <a:prstGeom prst="rect">
            <a:avLst/>
          </a:prstGeom>
        </p:spPr>
      </p:pic>
      <p:pic>
        <p:nvPicPr>
          <p:cNvPr id="150" name="Picture 149" descr="lock.png"/>
          <p:cNvPicPr>
            <a:picLocks noChangeAspect="1"/>
          </p:cNvPicPr>
          <p:nvPr/>
        </p:nvPicPr>
        <p:blipFill>
          <a:blip r:embed="rId4"/>
          <a:stretch>
            <a:fillRect/>
          </a:stretch>
        </p:blipFill>
        <p:spPr>
          <a:xfrm>
            <a:off x="4126650" y="1773301"/>
            <a:ext cx="128699" cy="187198"/>
          </a:xfrm>
          <a:prstGeom prst="rect">
            <a:avLst/>
          </a:prstGeom>
        </p:spPr>
      </p:pic>
      <p:pic>
        <p:nvPicPr>
          <p:cNvPr id="151" name="Picture 150" descr="lock.png"/>
          <p:cNvPicPr>
            <a:picLocks noChangeAspect="1"/>
          </p:cNvPicPr>
          <p:nvPr/>
        </p:nvPicPr>
        <p:blipFill>
          <a:blip r:embed="rId4"/>
          <a:stretch>
            <a:fillRect/>
          </a:stretch>
        </p:blipFill>
        <p:spPr>
          <a:xfrm>
            <a:off x="4126650" y="2268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126650" y="2763901"/>
            <a:ext cx="128699" cy="187198"/>
          </a:xfrm>
          <a:prstGeom prst="rect">
            <a:avLst/>
          </a:prstGeom>
        </p:spPr>
      </p:pic>
      <p:pic>
        <p:nvPicPr>
          <p:cNvPr id="153" name="Picture 152" descr="lock.png"/>
          <p:cNvPicPr>
            <a:picLocks noChangeAspect="1"/>
          </p:cNvPicPr>
          <p:nvPr/>
        </p:nvPicPr>
        <p:blipFill>
          <a:blip r:embed="rId4"/>
          <a:stretch>
            <a:fillRect/>
          </a:stretch>
        </p:blipFill>
        <p:spPr>
          <a:xfrm>
            <a:off x="4126650" y="32592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126650" y="3754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4126650" y="4249801"/>
            <a:ext cx="128699" cy="187198"/>
          </a:xfrm>
          <a:prstGeom prst="rect">
            <a:avLst/>
          </a:prstGeom>
        </p:spPr>
      </p:pic>
      <p:pic>
        <p:nvPicPr>
          <p:cNvPr id="156" name="Picture 155" descr="lock.png"/>
          <p:cNvPicPr>
            <a:picLocks noChangeAspect="1"/>
          </p:cNvPicPr>
          <p:nvPr/>
        </p:nvPicPr>
        <p:blipFill>
          <a:blip r:embed="rId4"/>
          <a:stretch>
            <a:fillRect/>
          </a:stretch>
        </p:blipFill>
        <p:spPr>
          <a:xfrm>
            <a:off x="4126650" y="4745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126650" y="5240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4126650" y="5735701"/>
            <a:ext cx="128699" cy="187198"/>
          </a:xfrm>
          <a:prstGeom prst="rect">
            <a:avLst/>
          </a:prstGeom>
        </p:spPr>
      </p:pic>
    </p:spTree>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Strategic Activity by Function</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85750" y="160020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Multicell Packaging Inc.</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85750" y="184785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Company</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285750" y="209550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Great American Paper Inc.</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85750" y="234315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Interpack Inc.</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85750" y="259080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Caps Cases Ltd.</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85750" y="283845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M &amp; M Box &amp; Partitions Co.</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285750" y="308610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Martin Partitions</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285750" y="333375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Buckeye Corrugated Inc.</a:t>
            </a:r>
          </a:p>
        </p:txBody>
      </p:sp>
      <p:sp>
        <p:nvSpPr>
          <p:cNvPr id="26" name="Rectangle 25"/>
          <p:cNvSpPr/>
          <p:nvPr/>
        </p:nvSpPr>
        <p:spPr>
          <a:xfrm>
            <a:off x="190500" y="36195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285750" y="358140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Cactus Corrugated Containers Inc.</a:t>
            </a:r>
          </a:p>
        </p:txBody>
      </p:sp>
      <p:sp>
        <p:nvSpPr>
          <p:cNvPr id="28" name="Rectangle 27"/>
          <p:cNvSpPr/>
          <p:nvPr/>
        </p:nvSpPr>
        <p:spPr>
          <a:xfrm>
            <a:off x="190500" y="38671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285750" y="3829050"/>
            <a:ext cx="1409700" cy="247650"/>
          </a:xfrm>
          <a:prstGeom prst="rect">
            <a:avLst/>
          </a:prstGeom>
          <a:noFill/>
        </p:spPr>
        <p:txBody>
          <a:bodyPr wrap="square" lIns="28575" tIns="9525" rIns="28575" bIns="9525" anchor="ctr">
            <a:spAutoFit/>
          </a:bodyPr>
          <a:lstStyle/>
          <a:p>
            <a:pPr algn="l"/>
            <a:r>
              <a:rPr sz="1100" b="1">
                <a:solidFill>
                  <a:srgbClr val="1F2933"/>
                </a:solidFill>
                <a:latin typeface="Calibri"/>
              </a:rPr>
              <a:t>Jarrett Industries Inc.</a:t>
            </a:r>
          </a:p>
        </p:txBody>
      </p:sp>
      <p:sp>
        <p:nvSpPr>
          <p:cNvPr id="30" name="TextBox 29"/>
          <p:cNvSpPr txBox="1"/>
          <p:nvPr/>
        </p:nvSpPr>
        <p:spPr>
          <a:xfrm>
            <a:off x="1714500" y="1047750"/>
            <a:ext cx="3302000" cy="171450"/>
          </a:xfrm>
          <a:prstGeom prst="rect">
            <a:avLst/>
          </a:prstGeom>
          <a:noFill/>
        </p:spPr>
        <p:txBody>
          <a:bodyPr wrap="square" lIns="28575" tIns="9525" rIns="28575" bIns="9525" anchor="t">
            <a:spAutoFit/>
          </a:bodyPr>
          <a:lstStyle/>
          <a:p>
            <a:pPr algn="l"/>
            <a:r>
              <a:rPr sz="1100" b="1">
                <a:solidFill>
                  <a:srgbClr val="0F2D52"/>
                </a:solidFill>
                <a:latin typeface="Calibri"/>
              </a:rPr>
              <a:t>Moves by type (count)</a:t>
            </a:r>
          </a:p>
        </p:txBody>
      </p:sp>
      <p:sp>
        <p:nvSpPr>
          <p:cNvPr id="31" name="TextBox 30"/>
          <p:cNvSpPr txBox="1"/>
          <p:nvPr/>
        </p:nvSpPr>
        <p:spPr>
          <a:xfrm>
            <a:off x="1714500" y="1219200"/>
            <a:ext cx="550333" cy="342900"/>
          </a:xfrm>
          <a:prstGeom prst="rect">
            <a:avLst/>
          </a:prstGeom>
          <a:noFill/>
        </p:spPr>
        <p:txBody>
          <a:bodyPr wrap="none" lIns="0" tIns="0" rIns="0" bIns="0" anchor="ctr">
            <a:spAutoFit/>
          </a:bodyPr>
          <a:lstStyle/>
          <a:p>
            <a:pPr algn="ctr">
              <a:lnSpc>
                <a:spcPct val="115000"/>
              </a:lnSpc>
            </a:pPr>
            <a:r>
              <a:rPr sz="1100" b="1">
                <a:solidFill>
                  <a:srgbClr val="1F2933"/>
                </a:solidFill>
                <a:latin typeface="Calibri"/>
              </a:rPr>
              <a:t>MA</a:t>
            </a:r>
          </a:p>
        </p:txBody>
      </p:sp>
      <p:sp>
        <p:nvSpPr>
          <p:cNvPr id="32" name="TextBox 31"/>
          <p:cNvSpPr txBox="1"/>
          <p:nvPr/>
        </p:nvSpPr>
        <p:spPr>
          <a:xfrm>
            <a:off x="2264833" y="1219200"/>
            <a:ext cx="550333" cy="342900"/>
          </a:xfrm>
          <a:prstGeom prst="rect">
            <a:avLst/>
          </a:prstGeom>
          <a:noFill/>
        </p:spPr>
        <p:txBody>
          <a:bodyPr wrap="none" lIns="0" tIns="0" rIns="0" bIns="0" anchor="ctr">
            <a:spAutoFit/>
          </a:bodyPr>
          <a:lstStyle/>
          <a:p>
            <a:pPr algn="ctr">
              <a:lnSpc>
                <a:spcPct val="115000"/>
              </a:lnSpc>
            </a:pPr>
            <a:r>
              <a:rPr sz="1100" b="1">
                <a:solidFill>
                  <a:srgbClr val="1F2933"/>
                </a:solidFill>
                <a:latin typeface="Calibri"/>
              </a:rPr>
              <a:t>PR</a:t>
            </a:r>
          </a:p>
        </p:txBody>
      </p:sp>
      <p:sp>
        <p:nvSpPr>
          <p:cNvPr id="33" name="TextBox 32"/>
          <p:cNvSpPr txBox="1"/>
          <p:nvPr/>
        </p:nvSpPr>
        <p:spPr>
          <a:xfrm>
            <a:off x="2815167" y="1219200"/>
            <a:ext cx="550333" cy="342900"/>
          </a:xfrm>
          <a:prstGeom prst="rect">
            <a:avLst/>
          </a:prstGeom>
          <a:noFill/>
        </p:spPr>
        <p:txBody>
          <a:bodyPr wrap="none" lIns="0" tIns="0" rIns="0" bIns="0" anchor="ctr">
            <a:spAutoFit/>
          </a:bodyPr>
          <a:lstStyle/>
          <a:p>
            <a:pPr algn="ctr">
              <a:lnSpc>
                <a:spcPct val="115000"/>
              </a:lnSpc>
            </a:pPr>
            <a:r>
              <a:rPr sz="1100" b="1">
                <a:solidFill>
                  <a:srgbClr val="1F2933"/>
                </a:solidFill>
                <a:latin typeface="Calibri"/>
              </a:rPr>
              <a:t>EX</a:t>
            </a:r>
          </a:p>
        </p:txBody>
      </p:sp>
      <p:sp>
        <p:nvSpPr>
          <p:cNvPr id="34" name="TextBox 33"/>
          <p:cNvSpPr txBox="1"/>
          <p:nvPr/>
        </p:nvSpPr>
        <p:spPr>
          <a:xfrm>
            <a:off x="3365500" y="1219200"/>
            <a:ext cx="550333" cy="342900"/>
          </a:xfrm>
          <a:prstGeom prst="rect">
            <a:avLst/>
          </a:prstGeom>
          <a:noFill/>
        </p:spPr>
        <p:txBody>
          <a:bodyPr wrap="none" lIns="0" tIns="0" rIns="0" bIns="0" anchor="ctr">
            <a:spAutoFit/>
          </a:bodyPr>
          <a:lstStyle/>
          <a:p>
            <a:pPr algn="ctr">
              <a:lnSpc>
                <a:spcPct val="115000"/>
              </a:lnSpc>
            </a:pPr>
            <a:r>
              <a:rPr sz="1100" b="1">
                <a:solidFill>
                  <a:srgbClr val="1F2933"/>
                </a:solidFill>
                <a:latin typeface="Calibri"/>
              </a:rPr>
              <a:t>RD</a:t>
            </a:r>
          </a:p>
        </p:txBody>
      </p:sp>
      <p:sp>
        <p:nvSpPr>
          <p:cNvPr id="35" name="TextBox 34"/>
          <p:cNvSpPr txBox="1"/>
          <p:nvPr/>
        </p:nvSpPr>
        <p:spPr>
          <a:xfrm>
            <a:off x="3915833" y="1219200"/>
            <a:ext cx="550333" cy="342900"/>
          </a:xfrm>
          <a:prstGeom prst="rect">
            <a:avLst/>
          </a:prstGeom>
          <a:noFill/>
        </p:spPr>
        <p:txBody>
          <a:bodyPr wrap="none" lIns="0" tIns="0" rIns="0" bIns="0" anchor="ctr">
            <a:spAutoFit/>
          </a:bodyPr>
          <a:lstStyle/>
          <a:p>
            <a:pPr algn="ctr">
              <a:lnSpc>
                <a:spcPct val="115000"/>
              </a:lnSpc>
            </a:pPr>
            <a:r>
              <a:rPr sz="1100" b="1">
                <a:solidFill>
                  <a:srgbClr val="1F2933"/>
                </a:solidFill>
                <a:latin typeface="Calibri"/>
              </a:rPr>
              <a:t>RG</a:t>
            </a:r>
          </a:p>
        </p:txBody>
      </p:sp>
      <p:sp>
        <p:nvSpPr>
          <p:cNvPr id="36" name="TextBox 35"/>
          <p:cNvSpPr txBox="1"/>
          <p:nvPr/>
        </p:nvSpPr>
        <p:spPr>
          <a:xfrm>
            <a:off x="4466167" y="1219200"/>
            <a:ext cx="550333" cy="342900"/>
          </a:xfrm>
          <a:prstGeom prst="rect">
            <a:avLst/>
          </a:prstGeom>
          <a:noFill/>
        </p:spPr>
        <p:txBody>
          <a:bodyPr wrap="none" lIns="0" tIns="0" rIns="0" bIns="0" anchor="ctr">
            <a:spAutoFit/>
          </a:bodyPr>
          <a:lstStyle/>
          <a:p>
            <a:pPr algn="ctr">
              <a:lnSpc>
                <a:spcPct val="115000"/>
              </a:lnSpc>
            </a:pPr>
            <a:r>
              <a:rPr sz="1100" b="1">
                <a:solidFill>
                  <a:srgbClr val="1F2933"/>
                </a:solidFill>
                <a:latin typeface="Calibri"/>
              </a:rPr>
              <a:t>CP</a:t>
            </a:r>
          </a:p>
        </p:txBody>
      </p:sp>
      <p:sp>
        <p:nvSpPr>
          <p:cNvPr id="37" name="Rectangle 36"/>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1714500" y="16097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39" name="Rectangle 38"/>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Rectangle 39"/>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2815167" y="16097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42" name="Rectangle 41"/>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3365500" y="16097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44" name="Rectangle 43"/>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5" name="TextBox 44"/>
          <p:cNvSpPr txBox="1"/>
          <p:nvPr/>
        </p:nvSpPr>
        <p:spPr>
          <a:xfrm>
            <a:off x="3915833" y="16097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46" name="Rectangle 45"/>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4466167" y="16097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48" name="Rectangle 47"/>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2264833" y="18573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51" name="Rectangle 50"/>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2815167" y="18573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53" name="Rectangle 52"/>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TextBox 53"/>
          <p:cNvSpPr txBox="1"/>
          <p:nvPr/>
        </p:nvSpPr>
        <p:spPr>
          <a:xfrm>
            <a:off x="3365500" y="18573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55" name="Rectangle 54"/>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Rectangle 55"/>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4466167" y="18573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58" name="Rectangle 57"/>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1714500" y="21050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60" name="Rectangle 59"/>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Rectangle 60"/>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2815167" y="21050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63" name="Rectangle 62"/>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3365500" y="21050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65" name="Rectangle 64"/>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TextBox 65"/>
          <p:cNvSpPr txBox="1"/>
          <p:nvPr/>
        </p:nvSpPr>
        <p:spPr>
          <a:xfrm>
            <a:off x="3915833" y="21050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67" name="Rectangle 66"/>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TextBox 67"/>
          <p:cNvSpPr txBox="1"/>
          <p:nvPr/>
        </p:nvSpPr>
        <p:spPr>
          <a:xfrm>
            <a:off x="4466167" y="21050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69" name="Rectangle 68"/>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Rectangle 69"/>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2264833" y="23526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72" name="Rectangle 71"/>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p:cNvSpPr txBox="1"/>
          <p:nvPr/>
        </p:nvSpPr>
        <p:spPr>
          <a:xfrm>
            <a:off x="2815167" y="23526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74" name="Rectangle 73"/>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TextBox 74"/>
          <p:cNvSpPr txBox="1"/>
          <p:nvPr/>
        </p:nvSpPr>
        <p:spPr>
          <a:xfrm>
            <a:off x="3365500" y="23526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76" name="Rectangle 75"/>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TextBox 77"/>
          <p:cNvSpPr txBox="1"/>
          <p:nvPr/>
        </p:nvSpPr>
        <p:spPr>
          <a:xfrm>
            <a:off x="4466167" y="23526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79" name="Rectangle 78"/>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0" name="TextBox 79"/>
          <p:cNvSpPr txBox="1"/>
          <p:nvPr/>
        </p:nvSpPr>
        <p:spPr>
          <a:xfrm>
            <a:off x="1714500" y="26003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81" name="Rectangle 80"/>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Rectangle 81"/>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p:cNvSpPr txBox="1"/>
          <p:nvPr/>
        </p:nvSpPr>
        <p:spPr>
          <a:xfrm>
            <a:off x="2815167" y="26003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84" name="Rectangle 83"/>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TextBox 84"/>
          <p:cNvSpPr txBox="1"/>
          <p:nvPr/>
        </p:nvSpPr>
        <p:spPr>
          <a:xfrm>
            <a:off x="3365500" y="26003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86" name="Rectangle 85"/>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3915833" y="26003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88" name="Rectangle 87"/>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TextBox 88"/>
          <p:cNvSpPr txBox="1"/>
          <p:nvPr/>
        </p:nvSpPr>
        <p:spPr>
          <a:xfrm>
            <a:off x="4466167" y="26003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90" name="Rectangle 89"/>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Rectangle 90"/>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TextBox 91"/>
          <p:cNvSpPr txBox="1"/>
          <p:nvPr/>
        </p:nvSpPr>
        <p:spPr>
          <a:xfrm>
            <a:off x="2264833" y="28479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93" name="Rectangle 92"/>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4" name="TextBox 93"/>
          <p:cNvSpPr txBox="1"/>
          <p:nvPr/>
        </p:nvSpPr>
        <p:spPr>
          <a:xfrm>
            <a:off x="2815167" y="28479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95" name="Rectangle 94"/>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6" name="TextBox 95"/>
          <p:cNvSpPr txBox="1"/>
          <p:nvPr/>
        </p:nvSpPr>
        <p:spPr>
          <a:xfrm>
            <a:off x="3365500" y="28479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97" name="Rectangle 96"/>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Rectangle 97"/>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TextBox 98"/>
          <p:cNvSpPr txBox="1"/>
          <p:nvPr/>
        </p:nvSpPr>
        <p:spPr>
          <a:xfrm>
            <a:off x="4466167" y="28479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00" name="Rectangle 99"/>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TextBox 100"/>
          <p:cNvSpPr txBox="1"/>
          <p:nvPr/>
        </p:nvSpPr>
        <p:spPr>
          <a:xfrm>
            <a:off x="1714500" y="30956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02" name="Rectangle 101"/>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Rectangle 102"/>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4" name="TextBox 103"/>
          <p:cNvSpPr txBox="1"/>
          <p:nvPr/>
        </p:nvSpPr>
        <p:spPr>
          <a:xfrm>
            <a:off x="2815167" y="30956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05" name="Rectangle 104"/>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TextBox 105"/>
          <p:cNvSpPr txBox="1"/>
          <p:nvPr/>
        </p:nvSpPr>
        <p:spPr>
          <a:xfrm>
            <a:off x="3365500" y="30956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07" name="Rectangle 106"/>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TextBox 107"/>
          <p:cNvSpPr txBox="1"/>
          <p:nvPr/>
        </p:nvSpPr>
        <p:spPr>
          <a:xfrm>
            <a:off x="3915833" y="30956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09" name="Rectangle 108"/>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0" name="TextBox 109"/>
          <p:cNvSpPr txBox="1"/>
          <p:nvPr/>
        </p:nvSpPr>
        <p:spPr>
          <a:xfrm>
            <a:off x="4466167" y="30956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11" name="Rectangle 110"/>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Rectangle 111"/>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TextBox 112"/>
          <p:cNvSpPr txBox="1"/>
          <p:nvPr/>
        </p:nvSpPr>
        <p:spPr>
          <a:xfrm>
            <a:off x="2264833" y="33432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114" name="Rectangle 113"/>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p:cNvSpPr txBox="1"/>
          <p:nvPr/>
        </p:nvSpPr>
        <p:spPr>
          <a:xfrm>
            <a:off x="2815167" y="33432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16" name="Rectangle 115"/>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TextBox 116"/>
          <p:cNvSpPr txBox="1"/>
          <p:nvPr/>
        </p:nvSpPr>
        <p:spPr>
          <a:xfrm>
            <a:off x="3365500" y="33432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18" name="Rectangle 117"/>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Rectangle 118"/>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p:cNvSpPr txBox="1"/>
          <p:nvPr/>
        </p:nvSpPr>
        <p:spPr>
          <a:xfrm>
            <a:off x="4466167" y="33432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21" name="Rectangle 120"/>
          <p:cNvSpPr/>
          <p:nvPr/>
        </p:nvSpPr>
        <p:spPr>
          <a:xfrm>
            <a:off x="1724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TextBox 121"/>
          <p:cNvSpPr txBox="1"/>
          <p:nvPr/>
        </p:nvSpPr>
        <p:spPr>
          <a:xfrm>
            <a:off x="1714500" y="35909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23" name="Rectangle 122"/>
          <p:cNvSpPr/>
          <p:nvPr/>
        </p:nvSpPr>
        <p:spPr>
          <a:xfrm>
            <a:off x="2274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Rectangle 123"/>
          <p:cNvSpPr/>
          <p:nvPr/>
        </p:nvSpPr>
        <p:spPr>
          <a:xfrm>
            <a:off x="2824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5" name="TextBox 124"/>
          <p:cNvSpPr txBox="1"/>
          <p:nvPr/>
        </p:nvSpPr>
        <p:spPr>
          <a:xfrm>
            <a:off x="2815167" y="35909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26" name="Rectangle 125"/>
          <p:cNvSpPr/>
          <p:nvPr/>
        </p:nvSpPr>
        <p:spPr>
          <a:xfrm>
            <a:off x="3375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TextBox 126"/>
          <p:cNvSpPr txBox="1"/>
          <p:nvPr/>
        </p:nvSpPr>
        <p:spPr>
          <a:xfrm>
            <a:off x="3365500" y="35909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28" name="Rectangle 127"/>
          <p:cNvSpPr/>
          <p:nvPr/>
        </p:nvSpPr>
        <p:spPr>
          <a:xfrm>
            <a:off x="3925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9" name="TextBox 128"/>
          <p:cNvSpPr txBox="1"/>
          <p:nvPr/>
        </p:nvSpPr>
        <p:spPr>
          <a:xfrm>
            <a:off x="3915833" y="35909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30" name="Rectangle 129"/>
          <p:cNvSpPr/>
          <p:nvPr/>
        </p:nvSpPr>
        <p:spPr>
          <a:xfrm>
            <a:off x="4475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1" name="TextBox 130"/>
          <p:cNvSpPr txBox="1"/>
          <p:nvPr/>
        </p:nvSpPr>
        <p:spPr>
          <a:xfrm>
            <a:off x="4466167" y="35909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32" name="Rectangle 131"/>
          <p:cNvSpPr/>
          <p:nvPr/>
        </p:nvSpPr>
        <p:spPr>
          <a:xfrm>
            <a:off x="1724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Rectangle 132"/>
          <p:cNvSpPr/>
          <p:nvPr/>
        </p:nvSpPr>
        <p:spPr>
          <a:xfrm>
            <a:off x="2274358"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4" name="TextBox 133"/>
          <p:cNvSpPr txBox="1"/>
          <p:nvPr/>
        </p:nvSpPr>
        <p:spPr>
          <a:xfrm>
            <a:off x="2264833" y="38385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135" name="Rectangle 134"/>
          <p:cNvSpPr/>
          <p:nvPr/>
        </p:nvSpPr>
        <p:spPr>
          <a:xfrm>
            <a:off x="2824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TextBox 135"/>
          <p:cNvSpPr txBox="1"/>
          <p:nvPr/>
        </p:nvSpPr>
        <p:spPr>
          <a:xfrm>
            <a:off x="2815167" y="38385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37" name="Rectangle 136"/>
          <p:cNvSpPr/>
          <p:nvPr/>
        </p:nvSpPr>
        <p:spPr>
          <a:xfrm>
            <a:off x="3375025"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8" name="TextBox 137"/>
          <p:cNvSpPr txBox="1"/>
          <p:nvPr/>
        </p:nvSpPr>
        <p:spPr>
          <a:xfrm>
            <a:off x="3365500" y="38385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39" name="Rectangle 138"/>
          <p:cNvSpPr/>
          <p:nvPr/>
        </p:nvSpPr>
        <p:spPr>
          <a:xfrm>
            <a:off x="3925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Rectangle 139"/>
          <p:cNvSpPr/>
          <p:nvPr/>
        </p:nvSpPr>
        <p:spPr>
          <a:xfrm>
            <a:off x="4475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TextBox 140"/>
          <p:cNvSpPr txBox="1"/>
          <p:nvPr/>
        </p:nvSpPr>
        <p:spPr>
          <a:xfrm>
            <a:off x="4466167" y="38385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142" name="TextBox 141"/>
          <p:cNvSpPr txBox="1"/>
          <p:nvPr/>
        </p:nvSpPr>
        <p:spPr>
          <a:xfrm>
            <a:off x="5207000" y="1047750"/>
            <a:ext cx="3302000" cy="171450"/>
          </a:xfrm>
          <a:prstGeom prst="rect">
            <a:avLst/>
          </a:prstGeom>
          <a:noFill/>
        </p:spPr>
        <p:txBody>
          <a:bodyPr wrap="square" lIns="28575" tIns="9525" rIns="28575" bIns="9525" anchor="t">
            <a:spAutoFit/>
          </a:bodyPr>
          <a:lstStyle/>
          <a:p>
            <a:pPr algn="l"/>
            <a:r>
              <a:rPr sz="1100" b="1">
                <a:solidFill>
                  <a:srgbClr val="0F2D52"/>
                </a:solidFill>
                <a:latin typeface="Calibri"/>
              </a:rPr>
              <a:t>By department</a:t>
            </a:r>
          </a:p>
        </p:txBody>
      </p:sp>
      <p:sp>
        <p:nvSpPr>
          <p:cNvPr id="143" name="TextBox 142"/>
          <p:cNvSpPr txBox="1"/>
          <p:nvPr/>
        </p:nvSpPr>
        <p:spPr>
          <a:xfrm>
            <a:off x="5207000" y="1219200"/>
            <a:ext cx="825500" cy="342900"/>
          </a:xfrm>
          <a:prstGeom prst="rect">
            <a:avLst/>
          </a:prstGeom>
          <a:noFill/>
        </p:spPr>
        <p:txBody>
          <a:bodyPr wrap="square" lIns="28575" tIns="9525" rIns="28575" bIns="9525" anchor="ctr">
            <a:spAutoFit/>
          </a:bodyPr>
          <a:lstStyle/>
          <a:p>
            <a:pPr algn="ctr">
              <a:lnSpc>
                <a:spcPct val="115000"/>
              </a:lnSpc>
            </a:pPr>
            <a:r>
              <a:rPr sz="1100" b="1">
                <a:solidFill>
                  <a:srgbClr val="1F2933"/>
                </a:solidFill>
                <a:latin typeface="Calibri"/>
              </a:rPr>
              <a:t>Product &amp; R&amp;D</a:t>
            </a:r>
          </a:p>
        </p:txBody>
      </p:sp>
      <p:sp>
        <p:nvSpPr>
          <p:cNvPr id="144" name="TextBox 143"/>
          <p:cNvSpPr txBox="1"/>
          <p:nvPr/>
        </p:nvSpPr>
        <p:spPr>
          <a:xfrm>
            <a:off x="6032500" y="1219200"/>
            <a:ext cx="825500" cy="342900"/>
          </a:xfrm>
          <a:prstGeom prst="rect">
            <a:avLst/>
          </a:prstGeom>
          <a:noFill/>
        </p:spPr>
        <p:txBody>
          <a:bodyPr wrap="square" lIns="28575" tIns="9525" rIns="28575" bIns="9525" anchor="ctr">
            <a:spAutoFit/>
          </a:bodyPr>
          <a:lstStyle/>
          <a:p>
            <a:pPr algn="ctr">
              <a:lnSpc>
                <a:spcPct val="115000"/>
              </a:lnSpc>
            </a:pPr>
            <a:r>
              <a:rPr sz="1100" b="1">
                <a:solidFill>
                  <a:srgbClr val="1F2933"/>
                </a:solidFill>
                <a:latin typeface="Calibri"/>
              </a:rPr>
              <a:t>Corp. dev.</a:t>
            </a:r>
          </a:p>
        </p:txBody>
      </p:sp>
      <p:sp>
        <p:nvSpPr>
          <p:cNvPr id="145" name="TextBox 144"/>
          <p:cNvSpPr txBox="1"/>
          <p:nvPr/>
        </p:nvSpPr>
        <p:spPr>
          <a:xfrm>
            <a:off x="6858000" y="1219200"/>
            <a:ext cx="825500" cy="342900"/>
          </a:xfrm>
          <a:prstGeom prst="rect">
            <a:avLst/>
          </a:prstGeom>
          <a:noFill/>
        </p:spPr>
        <p:txBody>
          <a:bodyPr wrap="square" lIns="28575" tIns="9525" rIns="28575" bIns="9525" anchor="ctr">
            <a:spAutoFit/>
          </a:bodyPr>
          <a:lstStyle/>
          <a:p>
            <a:pPr algn="ctr">
              <a:lnSpc>
                <a:spcPct val="115000"/>
              </a:lnSpc>
            </a:pPr>
            <a:r>
              <a:rPr sz="1100" b="1">
                <a:solidFill>
                  <a:srgbClr val="1F2933"/>
                </a:solidFill>
                <a:latin typeface="Calibri"/>
              </a:rPr>
              <a:t>Operations</a:t>
            </a:r>
          </a:p>
        </p:txBody>
      </p:sp>
      <p:sp>
        <p:nvSpPr>
          <p:cNvPr id="146" name="TextBox 145"/>
          <p:cNvSpPr txBox="1"/>
          <p:nvPr/>
        </p:nvSpPr>
        <p:spPr>
          <a:xfrm>
            <a:off x="7683500" y="1219200"/>
            <a:ext cx="825500" cy="342900"/>
          </a:xfrm>
          <a:prstGeom prst="rect">
            <a:avLst/>
          </a:prstGeom>
          <a:noFill/>
        </p:spPr>
        <p:txBody>
          <a:bodyPr wrap="square" lIns="28575" tIns="9525" rIns="28575" bIns="9525" anchor="ctr">
            <a:spAutoFit/>
          </a:bodyPr>
          <a:lstStyle/>
          <a:p>
            <a:pPr algn="ctr">
              <a:lnSpc>
                <a:spcPct val="115000"/>
              </a:lnSpc>
            </a:pPr>
            <a:r>
              <a:rPr sz="1100" b="1">
                <a:solidFill>
                  <a:srgbClr val="1F2933"/>
                </a:solidFill>
                <a:latin typeface="Calibri"/>
              </a:rPr>
              <a:t>Legal &amp; reg.</a:t>
            </a:r>
          </a:p>
        </p:txBody>
      </p:sp>
      <p:sp>
        <p:nvSpPr>
          <p:cNvPr id="147" name="Rectangle 146"/>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8" name="TextBox 147"/>
          <p:cNvSpPr txBox="1"/>
          <p:nvPr/>
        </p:nvSpPr>
        <p:spPr>
          <a:xfrm>
            <a:off x="5207000" y="16097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49" name="Rectangle 148"/>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0" name="TextBox 149"/>
          <p:cNvSpPr txBox="1"/>
          <p:nvPr/>
        </p:nvSpPr>
        <p:spPr>
          <a:xfrm>
            <a:off x="6032500" y="16097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51" name="Rectangle 150"/>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TextBox 151"/>
          <p:cNvSpPr txBox="1"/>
          <p:nvPr/>
        </p:nvSpPr>
        <p:spPr>
          <a:xfrm>
            <a:off x="6858000" y="16097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53" name="Rectangle 152"/>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4" name="TextBox 153"/>
          <p:cNvSpPr txBox="1"/>
          <p:nvPr/>
        </p:nvSpPr>
        <p:spPr>
          <a:xfrm>
            <a:off x="7683500" y="16097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55" name="Rectangle 154"/>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6" name="TextBox 155"/>
          <p:cNvSpPr txBox="1"/>
          <p:nvPr/>
        </p:nvSpPr>
        <p:spPr>
          <a:xfrm>
            <a:off x="5207000" y="1857375"/>
            <a:ext cx="825500" cy="228600"/>
          </a:xfrm>
          <a:prstGeom prst="rect">
            <a:avLst/>
          </a:prstGeom>
          <a:noFill/>
        </p:spPr>
        <p:txBody>
          <a:bodyPr wrap="square" lIns="28575" tIns="9525" rIns="28575" bIns="9525" anchor="ctr">
            <a:spAutoFit/>
          </a:bodyPr>
          <a:lstStyle/>
          <a:p>
            <a:pPr algn="ctr"/>
            <a:r>
              <a:rPr sz="1100" b="1">
                <a:solidFill>
                  <a:srgbClr val="FFFFFF"/>
                </a:solidFill>
                <a:latin typeface="Calibri"/>
              </a:rPr>
              <a:t>3</a:t>
            </a:r>
          </a:p>
        </p:txBody>
      </p:sp>
      <p:sp>
        <p:nvSpPr>
          <p:cNvPr id="157" name="Rectangle 156"/>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8" name="Rectangle 157"/>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9" name="TextBox 158"/>
          <p:cNvSpPr txBox="1"/>
          <p:nvPr/>
        </p:nvSpPr>
        <p:spPr>
          <a:xfrm>
            <a:off x="6858000" y="185737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60" name="Rectangle 159"/>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1" name="Rectangle 160"/>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2" name="TextBox 161"/>
          <p:cNvSpPr txBox="1"/>
          <p:nvPr/>
        </p:nvSpPr>
        <p:spPr>
          <a:xfrm>
            <a:off x="5207000" y="21050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63" name="Rectangle 162"/>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TextBox 163"/>
          <p:cNvSpPr txBox="1"/>
          <p:nvPr/>
        </p:nvSpPr>
        <p:spPr>
          <a:xfrm>
            <a:off x="6032500" y="21050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65" name="Rectangle 164"/>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TextBox 165"/>
          <p:cNvSpPr txBox="1"/>
          <p:nvPr/>
        </p:nvSpPr>
        <p:spPr>
          <a:xfrm>
            <a:off x="6858000" y="21050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67" name="Rectangle 166"/>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8" name="TextBox 167"/>
          <p:cNvSpPr txBox="1"/>
          <p:nvPr/>
        </p:nvSpPr>
        <p:spPr>
          <a:xfrm>
            <a:off x="7683500" y="21050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69" name="Rectangle 168"/>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0" name="TextBox 169"/>
          <p:cNvSpPr txBox="1"/>
          <p:nvPr/>
        </p:nvSpPr>
        <p:spPr>
          <a:xfrm>
            <a:off x="5207000" y="2352675"/>
            <a:ext cx="825500" cy="228600"/>
          </a:xfrm>
          <a:prstGeom prst="rect">
            <a:avLst/>
          </a:prstGeom>
          <a:noFill/>
        </p:spPr>
        <p:txBody>
          <a:bodyPr wrap="square" lIns="28575" tIns="9525" rIns="28575" bIns="9525" anchor="ctr">
            <a:spAutoFit/>
          </a:bodyPr>
          <a:lstStyle/>
          <a:p>
            <a:pPr algn="ctr"/>
            <a:r>
              <a:rPr sz="1100" b="1">
                <a:solidFill>
                  <a:srgbClr val="FFFFFF"/>
                </a:solidFill>
                <a:latin typeface="Calibri"/>
              </a:rPr>
              <a:t>3</a:t>
            </a:r>
          </a:p>
        </p:txBody>
      </p:sp>
      <p:sp>
        <p:nvSpPr>
          <p:cNvPr id="171" name="Rectangle 170"/>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2" name="Rectangle 171"/>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3" name="TextBox 172"/>
          <p:cNvSpPr txBox="1"/>
          <p:nvPr/>
        </p:nvSpPr>
        <p:spPr>
          <a:xfrm>
            <a:off x="6858000" y="235267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74" name="Rectangle 173"/>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5" name="Rectangle 174"/>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TextBox 175"/>
          <p:cNvSpPr txBox="1"/>
          <p:nvPr/>
        </p:nvSpPr>
        <p:spPr>
          <a:xfrm>
            <a:off x="5207000" y="26003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77" name="Rectangle 176"/>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8" name="TextBox 177"/>
          <p:cNvSpPr txBox="1"/>
          <p:nvPr/>
        </p:nvSpPr>
        <p:spPr>
          <a:xfrm>
            <a:off x="6032500" y="26003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79" name="Rectangle 178"/>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0" name="TextBox 179"/>
          <p:cNvSpPr txBox="1"/>
          <p:nvPr/>
        </p:nvSpPr>
        <p:spPr>
          <a:xfrm>
            <a:off x="6858000" y="26003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81" name="Rectangle 180"/>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TextBox 181"/>
          <p:cNvSpPr txBox="1"/>
          <p:nvPr/>
        </p:nvSpPr>
        <p:spPr>
          <a:xfrm>
            <a:off x="7683500" y="26003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83" name="Rectangle 182"/>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TextBox 183"/>
          <p:cNvSpPr txBox="1"/>
          <p:nvPr/>
        </p:nvSpPr>
        <p:spPr>
          <a:xfrm>
            <a:off x="5207000" y="2847975"/>
            <a:ext cx="825500" cy="228600"/>
          </a:xfrm>
          <a:prstGeom prst="rect">
            <a:avLst/>
          </a:prstGeom>
          <a:noFill/>
        </p:spPr>
        <p:txBody>
          <a:bodyPr wrap="square" lIns="28575" tIns="9525" rIns="28575" bIns="9525" anchor="ctr">
            <a:spAutoFit/>
          </a:bodyPr>
          <a:lstStyle/>
          <a:p>
            <a:pPr algn="ctr"/>
            <a:r>
              <a:rPr sz="1100" b="1">
                <a:solidFill>
                  <a:srgbClr val="FFFFFF"/>
                </a:solidFill>
                <a:latin typeface="Calibri"/>
              </a:rPr>
              <a:t>3</a:t>
            </a:r>
          </a:p>
        </p:txBody>
      </p:sp>
      <p:sp>
        <p:nvSpPr>
          <p:cNvPr id="185" name="Rectangle 184"/>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6" name="Rectangle 185"/>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7" name="TextBox 186"/>
          <p:cNvSpPr txBox="1"/>
          <p:nvPr/>
        </p:nvSpPr>
        <p:spPr>
          <a:xfrm>
            <a:off x="6858000" y="284797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88" name="Rectangle 187"/>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9" name="Rectangle 188"/>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0" name="TextBox 189"/>
          <p:cNvSpPr txBox="1"/>
          <p:nvPr/>
        </p:nvSpPr>
        <p:spPr>
          <a:xfrm>
            <a:off x="5207000" y="30956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91" name="Rectangle 190"/>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2" name="TextBox 191"/>
          <p:cNvSpPr txBox="1"/>
          <p:nvPr/>
        </p:nvSpPr>
        <p:spPr>
          <a:xfrm>
            <a:off x="6032500" y="30956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93" name="Rectangle 192"/>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4" name="TextBox 193"/>
          <p:cNvSpPr txBox="1"/>
          <p:nvPr/>
        </p:nvSpPr>
        <p:spPr>
          <a:xfrm>
            <a:off x="6858000" y="30956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95" name="Rectangle 194"/>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6" name="TextBox 195"/>
          <p:cNvSpPr txBox="1"/>
          <p:nvPr/>
        </p:nvSpPr>
        <p:spPr>
          <a:xfrm>
            <a:off x="7683500" y="30956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197" name="Rectangle 196"/>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8" name="TextBox 197"/>
          <p:cNvSpPr txBox="1"/>
          <p:nvPr/>
        </p:nvSpPr>
        <p:spPr>
          <a:xfrm>
            <a:off x="5207000" y="3343275"/>
            <a:ext cx="825500" cy="228600"/>
          </a:xfrm>
          <a:prstGeom prst="rect">
            <a:avLst/>
          </a:prstGeom>
          <a:noFill/>
        </p:spPr>
        <p:txBody>
          <a:bodyPr wrap="square" lIns="28575" tIns="9525" rIns="28575" bIns="9525" anchor="ctr">
            <a:spAutoFit/>
          </a:bodyPr>
          <a:lstStyle/>
          <a:p>
            <a:pPr algn="ctr"/>
            <a:r>
              <a:rPr sz="1100" b="1">
                <a:solidFill>
                  <a:srgbClr val="FFFFFF"/>
                </a:solidFill>
                <a:latin typeface="Calibri"/>
              </a:rPr>
              <a:t>3</a:t>
            </a:r>
          </a:p>
        </p:txBody>
      </p:sp>
      <p:sp>
        <p:nvSpPr>
          <p:cNvPr id="199" name="Rectangle 198"/>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0" name="Rectangle 199"/>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1" name="TextBox 200"/>
          <p:cNvSpPr txBox="1"/>
          <p:nvPr/>
        </p:nvSpPr>
        <p:spPr>
          <a:xfrm>
            <a:off x="6858000" y="334327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202" name="Rectangle 201"/>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3" name="Rectangle 202"/>
          <p:cNvSpPr/>
          <p:nvPr/>
        </p:nvSpPr>
        <p:spPr>
          <a:xfrm>
            <a:off x="5216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4" name="TextBox 203"/>
          <p:cNvSpPr txBox="1"/>
          <p:nvPr/>
        </p:nvSpPr>
        <p:spPr>
          <a:xfrm>
            <a:off x="5207000" y="35909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205" name="Rectangle 204"/>
          <p:cNvSpPr/>
          <p:nvPr/>
        </p:nvSpPr>
        <p:spPr>
          <a:xfrm>
            <a:off x="6042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6" name="TextBox 205"/>
          <p:cNvSpPr txBox="1"/>
          <p:nvPr/>
        </p:nvSpPr>
        <p:spPr>
          <a:xfrm>
            <a:off x="6032500" y="35909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207" name="Rectangle 206"/>
          <p:cNvSpPr/>
          <p:nvPr/>
        </p:nvSpPr>
        <p:spPr>
          <a:xfrm>
            <a:off x="6867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8" name="TextBox 207"/>
          <p:cNvSpPr txBox="1"/>
          <p:nvPr/>
        </p:nvSpPr>
        <p:spPr>
          <a:xfrm>
            <a:off x="6858000" y="35909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209" name="Rectangle 208"/>
          <p:cNvSpPr/>
          <p:nvPr/>
        </p:nvSpPr>
        <p:spPr>
          <a:xfrm>
            <a:off x="7693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0" name="TextBox 209"/>
          <p:cNvSpPr txBox="1"/>
          <p:nvPr/>
        </p:nvSpPr>
        <p:spPr>
          <a:xfrm>
            <a:off x="7683500" y="359092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211" name="Rectangle 210"/>
          <p:cNvSpPr/>
          <p:nvPr/>
        </p:nvSpPr>
        <p:spPr>
          <a:xfrm>
            <a:off x="5216525" y="38385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2" name="TextBox 211"/>
          <p:cNvSpPr txBox="1"/>
          <p:nvPr/>
        </p:nvSpPr>
        <p:spPr>
          <a:xfrm>
            <a:off x="5207000" y="3838575"/>
            <a:ext cx="825500" cy="228600"/>
          </a:xfrm>
          <a:prstGeom prst="rect">
            <a:avLst/>
          </a:prstGeom>
          <a:noFill/>
        </p:spPr>
        <p:txBody>
          <a:bodyPr wrap="square" lIns="28575" tIns="9525" rIns="28575" bIns="9525" anchor="ctr">
            <a:spAutoFit/>
          </a:bodyPr>
          <a:lstStyle/>
          <a:p>
            <a:pPr algn="ctr"/>
            <a:r>
              <a:rPr sz="1100" b="1">
                <a:solidFill>
                  <a:srgbClr val="FFFFFF"/>
                </a:solidFill>
                <a:latin typeface="Calibri"/>
              </a:rPr>
              <a:t>3</a:t>
            </a:r>
          </a:p>
        </p:txBody>
      </p:sp>
      <p:sp>
        <p:nvSpPr>
          <p:cNvPr id="213" name="Rectangle 212"/>
          <p:cNvSpPr/>
          <p:nvPr/>
        </p:nvSpPr>
        <p:spPr>
          <a:xfrm>
            <a:off x="6042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4" name="Rectangle 213"/>
          <p:cNvSpPr/>
          <p:nvPr/>
        </p:nvSpPr>
        <p:spPr>
          <a:xfrm>
            <a:off x="6867525" y="38385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5" name="TextBox 214"/>
          <p:cNvSpPr txBox="1"/>
          <p:nvPr/>
        </p:nvSpPr>
        <p:spPr>
          <a:xfrm>
            <a:off x="6858000" y="3838575"/>
            <a:ext cx="825500" cy="228600"/>
          </a:xfrm>
          <a:prstGeom prst="rect">
            <a:avLst/>
          </a:prstGeom>
          <a:noFill/>
        </p:spPr>
        <p:txBody>
          <a:bodyPr wrap="square" lIns="28575" tIns="9525" rIns="28575" bIns="9525" anchor="ctr">
            <a:spAutoFit/>
          </a:bodyPr>
          <a:lstStyle/>
          <a:p>
            <a:pPr algn="ctr"/>
            <a:r>
              <a:rPr sz="1100" b="1">
                <a:solidFill>
                  <a:srgbClr val="0F2D52"/>
                </a:solidFill>
                <a:latin typeface="Calibri"/>
              </a:rPr>
              <a:t>1</a:t>
            </a:r>
          </a:p>
        </p:txBody>
      </p:sp>
      <p:sp>
        <p:nvSpPr>
          <p:cNvPr id="216" name="Rectangle 215"/>
          <p:cNvSpPr/>
          <p:nvPr/>
        </p:nvSpPr>
        <p:spPr>
          <a:xfrm>
            <a:off x="7693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7" name="TextBox 216"/>
          <p:cNvSpPr txBox="1"/>
          <p:nvPr/>
        </p:nvSpPr>
        <p:spPr>
          <a:xfrm>
            <a:off x="8699500" y="1047750"/>
            <a:ext cx="3302000" cy="171450"/>
          </a:xfrm>
          <a:prstGeom prst="rect">
            <a:avLst/>
          </a:prstGeom>
          <a:noFill/>
        </p:spPr>
        <p:txBody>
          <a:bodyPr wrap="square" lIns="28575" tIns="9525" rIns="28575" bIns="9525" anchor="t">
            <a:spAutoFit/>
          </a:bodyPr>
          <a:lstStyle/>
          <a:p>
            <a:pPr algn="l"/>
            <a:r>
              <a:rPr sz="1100" b="1">
                <a:solidFill>
                  <a:srgbClr val="0F2D52"/>
                </a:solidFill>
                <a:latin typeface="Calibri"/>
              </a:rPr>
              <a:t>By region of activity</a:t>
            </a:r>
          </a:p>
        </p:txBody>
      </p:sp>
      <p:sp>
        <p:nvSpPr>
          <p:cNvPr id="218" name="TextBox 217"/>
          <p:cNvSpPr txBox="1"/>
          <p:nvPr/>
        </p:nvSpPr>
        <p:spPr>
          <a:xfrm>
            <a:off x="8699500" y="1219200"/>
            <a:ext cx="550333" cy="342900"/>
          </a:xfrm>
          <a:prstGeom prst="rect">
            <a:avLst/>
          </a:prstGeom>
          <a:noFill/>
        </p:spPr>
        <p:txBody>
          <a:bodyPr wrap="square" lIns="28575" tIns="9525" rIns="28575" bIns="9525" anchor="ctr">
            <a:spAutoFit/>
          </a:bodyPr>
          <a:lstStyle/>
          <a:p>
            <a:pPr algn="ctr">
              <a:lnSpc>
                <a:spcPct val="115000"/>
              </a:lnSpc>
            </a:pPr>
            <a:r>
              <a:rPr sz="1100" b="1">
                <a:solidFill>
                  <a:srgbClr val="1F2933"/>
                </a:solidFill>
                <a:latin typeface="Calibri"/>
              </a:rPr>
              <a:t>N. America</a:t>
            </a:r>
          </a:p>
        </p:txBody>
      </p:sp>
      <p:sp>
        <p:nvSpPr>
          <p:cNvPr id="219" name="TextBox 218"/>
          <p:cNvSpPr txBox="1"/>
          <p:nvPr/>
        </p:nvSpPr>
        <p:spPr>
          <a:xfrm>
            <a:off x="9249833" y="1219200"/>
            <a:ext cx="550333" cy="342900"/>
          </a:xfrm>
          <a:prstGeom prst="rect">
            <a:avLst/>
          </a:prstGeom>
          <a:noFill/>
        </p:spPr>
        <p:txBody>
          <a:bodyPr wrap="square" lIns="28575" tIns="9525" rIns="28575" bIns="9525" anchor="ctr">
            <a:spAutoFit/>
          </a:bodyPr>
          <a:lstStyle/>
          <a:p>
            <a:pPr algn="ctr">
              <a:lnSpc>
                <a:spcPct val="115000"/>
              </a:lnSpc>
            </a:pPr>
            <a:r>
              <a:rPr sz="1100" b="1">
                <a:solidFill>
                  <a:srgbClr val="1F2933"/>
                </a:solidFill>
                <a:latin typeface="Calibri"/>
              </a:rPr>
              <a:t>Europe</a:t>
            </a:r>
          </a:p>
        </p:txBody>
      </p:sp>
      <p:sp>
        <p:nvSpPr>
          <p:cNvPr id="220" name="TextBox 219"/>
          <p:cNvSpPr txBox="1"/>
          <p:nvPr/>
        </p:nvSpPr>
        <p:spPr>
          <a:xfrm>
            <a:off x="9800167" y="1219200"/>
            <a:ext cx="550333" cy="342900"/>
          </a:xfrm>
          <a:prstGeom prst="rect">
            <a:avLst/>
          </a:prstGeom>
          <a:noFill/>
        </p:spPr>
        <p:txBody>
          <a:bodyPr wrap="square" lIns="28575" tIns="9525" rIns="28575" bIns="9525" anchor="ctr">
            <a:spAutoFit/>
          </a:bodyPr>
          <a:lstStyle/>
          <a:p>
            <a:pPr algn="ctr">
              <a:lnSpc>
                <a:spcPct val="115000"/>
              </a:lnSpc>
            </a:pPr>
            <a:r>
              <a:rPr sz="1100" b="1">
                <a:solidFill>
                  <a:srgbClr val="1F2933"/>
                </a:solidFill>
                <a:latin typeface="Calibri"/>
              </a:rPr>
              <a:t>S. Asia &amp; Pac.</a:t>
            </a:r>
          </a:p>
        </p:txBody>
      </p:sp>
      <p:sp>
        <p:nvSpPr>
          <p:cNvPr id="221" name="TextBox 220"/>
          <p:cNvSpPr txBox="1"/>
          <p:nvPr/>
        </p:nvSpPr>
        <p:spPr>
          <a:xfrm>
            <a:off x="10350500" y="1219200"/>
            <a:ext cx="550333" cy="342900"/>
          </a:xfrm>
          <a:prstGeom prst="rect">
            <a:avLst/>
          </a:prstGeom>
          <a:noFill/>
        </p:spPr>
        <p:txBody>
          <a:bodyPr wrap="square" lIns="28575" tIns="9525" rIns="28575" bIns="9525" anchor="ctr">
            <a:spAutoFit/>
          </a:bodyPr>
          <a:lstStyle/>
          <a:p>
            <a:pPr algn="ctr">
              <a:lnSpc>
                <a:spcPct val="115000"/>
              </a:lnSpc>
            </a:pPr>
            <a:r>
              <a:rPr sz="1100" b="1">
                <a:solidFill>
                  <a:srgbClr val="1F2933"/>
                </a:solidFill>
                <a:latin typeface="Calibri"/>
              </a:rPr>
              <a:t>E. Asia</a:t>
            </a:r>
          </a:p>
        </p:txBody>
      </p:sp>
      <p:sp>
        <p:nvSpPr>
          <p:cNvPr id="222" name="TextBox 221"/>
          <p:cNvSpPr txBox="1"/>
          <p:nvPr/>
        </p:nvSpPr>
        <p:spPr>
          <a:xfrm>
            <a:off x="10900833" y="1219200"/>
            <a:ext cx="550333" cy="342900"/>
          </a:xfrm>
          <a:prstGeom prst="rect">
            <a:avLst/>
          </a:prstGeom>
          <a:noFill/>
        </p:spPr>
        <p:txBody>
          <a:bodyPr wrap="square" lIns="28575" tIns="9525" rIns="28575" bIns="9525" anchor="ctr">
            <a:spAutoFit/>
          </a:bodyPr>
          <a:lstStyle/>
          <a:p>
            <a:pPr algn="ctr">
              <a:lnSpc>
                <a:spcPct val="115000"/>
              </a:lnSpc>
            </a:pPr>
            <a:r>
              <a:rPr sz="1100" b="1">
                <a:solidFill>
                  <a:srgbClr val="1F2933"/>
                </a:solidFill>
                <a:latin typeface="Calibri"/>
              </a:rPr>
              <a:t>LATAM</a:t>
            </a:r>
          </a:p>
        </p:txBody>
      </p:sp>
      <p:sp>
        <p:nvSpPr>
          <p:cNvPr id="223" name="TextBox 222"/>
          <p:cNvSpPr txBox="1"/>
          <p:nvPr/>
        </p:nvSpPr>
        <p:spPr>
          <a:xfrm>
            <a:off x="11451167" y="1219200"/>
            <a:ext cx="550333" cy="342900"/>
          </a:xfrm>
          <a:prstGeom prst="rect">
            <a:avLst/>
          </a:prstGeom>
          <a:noFill/>
        </p:spPr>
        <p:txBody>
          <a:bodyPr wrap="none" lIns="0" tIns="0" rIns="0" bIns="0" anchor="ctr">
            <a:spAutoFit/>
          </a:bodyPr>
          <a:lstStyle/>
          <a:p>
            <a:pPr algn="ctr">
              <a:lnSpc>
                <a:spcPct val="115000"/>
              </a:lnSpc>
            </a:pPr>
            <a:r>
              <a:rPr sz="1100" b="1">
                <a:solidFill>
                  <a:srgbClr val="1F2933"/>
                </a:solidFill>
                <a:latin typeface="Calibri"/>
              </a:rPr>
              <a:t>MEA</a:t>
            </a:r>
          </a:p>
        </p:txBody>
      </p:sp>
      <p:sp>
        <p:nvSpPr>
          <p:cNvPr id="224" name="Rectangle 223"/>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5" name="TextBox 224"/>
          <p:cNvSpPr txBox="1"/>
          <p:nvPr/>
        </p:nvSpPr>
        <p:spPr>
          <a:xfrm>
            <a:off x="8699500" y="160972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226" name="Rectangle 225"/>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7" name="TextBox 226"/>
          <p:cNvSpPr txBox="1"/>
          <p:nvPr/>
        </p:nvSpPr>
        <p:spPr>
          <a:xfrm>
            <a:off x="9249833" y="16097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28" name="Rectangle 227"/>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9" name="TextBox 228"/>
          <p:cNvSpPr txBox="1"/>
          <p:nvPr/>
        </p:nvSpPr>
        <p:spPr>
          <a:xfrm>
            <a:off x="9800167" y="16097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30" name="Rectangle 229"/>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1" name="Rectangle 230"/>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2" name="Rectangle 231"/>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3" name="Rectangle 232"/>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4" name="Rectangle 233"/>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5" name="TextBox 234"/>
          <p:cNvSpPr txBox="1"/>
          <p:nvPr/>
        </p:nvSpPr>
        <p:spPr>
          <a:xfrm>
            <a:off x="9249833" y="18573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236" name="Rectangle 235"/>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7" name="TextBox 236"/>
          <p:cNvSpPr txBox="1"/>
          <p:nvPr/>
        </p:nvSpPr>
        <p:spPr>
          <a:xfrm>
            <a:off x="9800167" y="18573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38" name="Rectangle 237"/>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9" name="TextBox 238"/>
          <p:cNvSpPr txBox="1"/>
          <p:nvPr/>
        </p:nvSpPr>
        <p:spPr>
          <a:xfrm>
            <a:off x="10350500" y="18573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40" name="Rectangle 239"/>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1" name="Rectangle 240"/>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2" name="Rectangle 241"/>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3" name="Rectangle 242"/>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4" name="Rectangle 243"/>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5" name="TextBox 244"/>
          <p:cNvSpPr txBox="1"/>
          <p:nvPr/>
        </p:nvSpPr>
        <p:spPr>
          <a:xfrm>
            <a:off x="9800167" y="210502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246" name="Rectangle 245"/>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7" name="TextBox 246"/>
          <p:cNvSpPr txBox="1"/>
          <p:nvPr/>
        </p:nvSpPr>
        <p:spPr>
          <a:xfrm>
            <a:off x="10350500" y="21050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48" name="Rectangle 247"/>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9" name="TextBox 248"/>
          <p:cNvSpPr txBox="1"/>
          <p:nvPr/>
        </p:nvSpPr>
        <p:spPr>
          <a:xfrm>
            <a:off x="10900833" y="21050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50" name="Rectangle 249"/>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1" name="Rectangle 250"/>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2" name="Rectangle 251"/>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3" name="Rectangle 252"/>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4" name="Rectangle 253"/>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5" name="TextBox 254"/>
          <p:cNvSpPr txBox="1"/>
          <p:nvPr/>
        </p:nvSpPr>
        <p:spPr>
          <a:xfrm>
            <a:off x="10350500" y="23526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256" name="Rectangle 255"/>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7" name="TextBox 256"/>
          <p:cNvSpPr txBox="1"/>
          <p:nvPr/>
        </p:nvSpPr>
        <p:spPr>
          <a:xfrm>
            <a:off x="10900833" y="23526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58" name="Rectangle 257"/>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9" name="TextBox 258"/>
          <p:cNvSpPr txBox="1"/>
          <p:nvPr/>
        </p:nvSpPr>
        <p:spPr>
          <a:xfrm>
            <a:off x="11451167" y="23526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60" name="Rectangle 259"/>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1" name="TextBox 260"/>
          <p:cNvSpPr txBox="1"/>
          <p:nvPr/>
        </p:nvSpPr>
        <p:spPr>
          <a:xfrm>
            <a:off x="8699500" y="26003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62" name="Rectangle 261"/>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3" name="Rectangle 262"/>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4" name="Rectangle 263"/>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5" name="Rectangle 264"/>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6" name="TextBox 265"/>
          <p:cNvSpPr txBox="1"/>
          <p:nvPr/>
        </p:nvSpPr>
        <p:spPr>
          <a:xfrm>
            <a:off x="10900833" y="260032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267" name="Rectangle 266"/>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8" name="TextBox 267"/>
          <p:cNvSpPr txBox="1"/>
          <p:nvPr/>
        </p:nvSpPr>
        <p:spPr>
          <a:xfrm>
            <a:off x="11451167" y="26003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69" name="Rectangle 268"/>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0" name="TextBox 269"/>
          <p:cNvSpPr txBox="1"/>
          <p:nvPr/>
        </p:nvSpPr>
        <p:spPr>
          <a:xfrm>
            <a:off x="8699500" y="28479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71" name="Rectangle 270"/>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2" name="TextBox 271"/>
          <p:cNvSpPr txBox="1"/>
          <p:nvPr/>
        </p:nvSpPr>
        <p:spPr>
          <a:xfrm>
            <a:off x="9249833" y="28479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73" name="Rectangle 272"/>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4" name="Rectangle 273"/>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5" name="Rectangle 274"/>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6" name="Rectangle 275"/>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7" name="TextBox 276"/>
          <p:cNvSpPr txBox="1"/>
          <p:nvPr/>
        </p:nvSpPr>
        <p:spPr>
          <a:xfrm>
            <a:off x="11451167" y="28479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278" name="Rectangle 277"/>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9" name="TextBox 278"/>
          <p:cNvSpPr txBox="1"/>
          <p:nvPr/>
        </p:nvSpPr>
        <p:spPr>
          <a:xfrm>
            <a:off x="8699500" y="309562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280" name="Rectangle 279"/>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1" name="TextBox 280"/>
          <p:cNvSpPr txBox="1"/>
          <p:nvPr/>
        </p:nvSpPr>
        <p:spPr>
          <a:xfrm>
            <a:off x="9249833" y="30956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82" name="Rectangle 281"/>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3" name="TextBox 282"/>
          <p:cNvSpPr txBox="1"/>
          <p:nvPr/>
        </p:nvSpPr>
        <p:spPr>
          <a:xfrm>
            <a:off x="9800167" y="30956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84" name="Rectangle 283"/>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5" name="Rectangle 284"/>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6" name="Rectangle 285"/>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7" name="Rectangle 286"/>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8" name="Rectangle 287"/>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9" name="TextBox 288"/>
          <p:cNvSpPr txBox="1"/>
          <p:nvPr/>
        </p:nvSpPr>
        <p:spPr>
          <a:xfrm>
            <a:off x="9249833" y="33432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290" name="Rectangle 289"/>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1" name="TextBox 290"/>
          <p:cNvSpPr txBox="1"/>
          <p:nvPr/>
        </p:nvSpPr>
        <p:spPr>
          <a:xfrm>
            <a:off x="9800167" y="33432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92" name="Rectangle 291"/>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3" name="TextBox 292"/>
          <p:cNvSpPr txBox="1"/>
          <p:nvPr/>
        </p:nvSpPr>
        <p:spPr>
          <a:xfrm>
            <a:off x="10350500" y="33432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294" name="Rectangle 293"/>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5" name="Rectangle 294"/>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6" name="Rectangle 295"/>
          <p:cNvSpPr/>
          <p:nvPr/>
        </p:nvSpPr>
        <p:spPr>
          <a:xfrm>
            <a:off x="8709025"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7" name="Rectangle 296"/>
          <p:cNvSpPr/>
          <p:nvPr/>
        </p:nvSpPr>
        <p:spPr>
          <a:xfrm>
            <a:off x="9259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8" name="Rectangle 297"/>
          <p:cNvSpPr/>
          <p:nvPr/>
        </p:nvSpPr>
        <p:spPr>
          <a:xfrm>
            <a:off x="9809692" y="35909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9" name="TextBox 298"/>
          <p:cNvSpPr txBox="1"/>
          <p:nvPr/>
        </p:nvSpPr>
        <p:spPr>
          <a:xfrm>
            <a:off x="9800167" y="359092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300" name="Rectangle 299"/>
          <p:cNvSpPr/>
          <p:nvPr/>
        </p:nvSpPr>
        <p:spPr>
          <a:xfrm>
            <a:off x="10360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1" name="TextBox 300"/>
          <p:cNvSpPr txBox="1"/>
          <p:nvPr/>
        </p:nvSpPr>
        <p:spPr>
          <a:xfrm>
            <a:off x="10350500" y="35909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302" name="Rectangle 301"/>
          <p:cNvSpPr/>
          <p:nvPr/>
        </p:nvSpPr>
        <p:spPr>
          <a:xfrm>
            <a:off x="10910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3" name="TextBox 302"/>
          <p:cNvSpPr txBox="1"/>
          <p:nvPr/>
        </p:nvSpPr>
        <p:spPr>
          <a:xfrm>
            <a:off x="10900833" y="359092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304" name="Rectangle 303"/>
          <p:cNvSpPr/>
          <p:nvPr/>
        </p:nvSpPr>
        <p:spPr>
          <a:xfrm>
            <a:off x="11460692"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5" name="Rectangle 304"/>
          <p:cNvSpPr/>
          <p:nvPr/>
        </p:nvSpPr>
        <p:spPr>
          <a:xfrm>
            <a:off x="8709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6" name="Rectangle 305"/>
          <p:cNvSpPr/>
          <p:nvPr/>
        </p:nvSpPr>
        <p:spPr>
          <a:xfrm>
            <a:off x="9259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7" name="Rectangle 306"/>
          <p:cNvSpPr/>
          <p:nvPr/>
        </p:nvSpPr>
        <p:spPr>
          <a:xfrm>
            <a:off x="9809692"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8" name="Rectangle 307"/>
          <p:cNvSpPr/>
          <p:nvPr/>
        </p:nvSpPr>
        <p:spPr>
          <a:xfrm>
            <a:off x="10360025"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9" name="TextBox 308"/>
          <p:cNvSpPr txBox="1"/>
          <p:nvPr/>
        </p:nvSpPr>
        <p:spPr>
          <a:xfrm>
            <a:off x="10350500" y="3838575"/>
            <a:ext cx="550333" cy="228600"/>
          </a:xfrm>
          <a:prstGeom prst="rect">
            <a:avLst/>
          </a:prstGeom>
          <a:noFill/>
        </p:spPr>
        <p:txBody>
          <a:bodyPr wrap="none" lIns="0" tIns="0" rIns="0" bIns="0" anchor="ctr">
            <a:spAutoFit/>
          </a:bodyPr>
          <a:lstStyle/>
          <a:p>
            <a:pPr algn="ctr"/>
            <a:r>
              <a:rPr sz="1100" b="1">
                <a:solidFill>
                  <a:srgbClr val="0F2D52"/>
                </a:solidFill>
                <a:latin typeface="Calibri"/>
              </a:rPr>
              <a:t>2</a:t>
            </a:r>
          </a:p>
        </p:txBody>
      </p:sp>
      <p:sp>
        <p:nvSpPr>
          <p:cNvPr id="310" name="Rectangle 309"/>
          <p:cNvSpPr/>
          <p:nvPr/>
        </p:nvSpPr>
        <p:spPr>
          <a:xfrm>
            <a:off x="10910358"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1" name="TextBox 310"/>
          <p:cNvSpPr txBox="1"/>
          <p:nvPr/>
        </p:nvSpPr>
        <p:spPr>
          <a:xfrm>
            <a:off x="10900833" y="38385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312" name="Rectangle 311"/>
          <p:cNvSpPr/>
          <p:nvPr/>
        </p:nvSpPr>
        <p:spPr>
          <a:xfrm>
            <a:off x="11460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3" name="TextBox 312"/>
          <p:cNvSpPr txBox="1"/>
          <p:nvPr/>
        </p:nvSpPr>
        <p:spPr>
          <a:xfrm>
            <a:off x="11451167" y="3838575"/>
            <a:ext cx="550333" cy="228600"/>
          </a:xfrm>
          <a:prstGeom prst="rect">
            <a:avLst/>
          </a:prstGeom>
          <a:noFill/>
        </p:spPr>
        <p:txBody>
          <a:bodyPr wrap="none" lIns="0" tIns="0" rIns="0" bIns="0" anchor="ctr">
            <a:spAutoFit/>
          </a:bodyPr>
          <a:lstStyle/>
          <a:p>
            <a:pPr algn="ctr"/>
            <a:r>
              <a:rPr sz="1100" b="1">
                <a:solidFill>
                  <a:srgbClr val="0F2D52"/>
                </a:solidFill>
                <a:latin typeface="Calibri"/>
              </a:rPr>
              <a:t>1</a:t>
            </a:r>
          </a:p>
        </p:txBody>
      </p:sp>
      <p:sp>
        <p:nvSpPr>
          <p:cNvPr id="314" name="Rectangle 313"/>
          <p:cNvSpPr/>
          <p:nvPr/>
        </p:nvSpPr>
        <p:spPr>
          <a:xfrm>
            <a:off x="190500" y="41719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5" name="TextBox 314"/>
          <p:cNvSpPr txBox="1"/>
          <p:nvPr/>
        </p:nvSpPr>
        <p:spPr>
          <a:xfrm>
            <a:off x="438150" y="4133850"/>
            <a:ext cx="1047750" cy="190500"/>
          </a:xfrm>
          <a:prstGeom prst="rect">
            <a:avLst/>
          </a:prstGeom>
          <a:noFill/>
        </p:spPr>
        <p:txBody>
          <a:bodyPr wrap="square" lIns="28575" tIns="9525" rIns="28575" bIns="9525" anchor="ctr">
            <a:spAutoFit/>
          </a:bodyPr>
          <a:lstStyle/>
          <a:p>
            <a:pPr algn="l"/>
            <a:r>
              <a:rPr sz="1100" b="0">
                <a:solidFill>
                  <a:srgbClr val="1F2933"/>
                </a:solidFill>
                <a:latin typeface="Calibri"/>
              </a:rPr>
              <a:t>1 move</a:t>
            </a:r>
          </a:p>
        </p:txBody>
      </p:sp>
      <p:sp>
        <p:nvSpPr>
          <p:cNvPr id="316" name="Rectangle 315"/>
          <p:cNvSpPr/>
          <p:nvPr/>
        </p:nvSpPr>
        <p:spPr>
          <a:xfrm>
            <a:off x="1238250" y="41719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7" name="TextBox 316"/>
          <p:cNvSpPr txBox="1"/>
          <p:nvPr/>
        </p:nvSpPr>
        <p:spPr>
          <a:xfrm>
            <a:off x="1485900" y="4133850"/>
            <a:ext cx="1047750" cy="190500"/>
          </a:xfrm>
          <a:prstGeom prst="rect">
            <a:avLst/>
          </a:prstGeom>
          <a:noFill/>
        </p:spPr>
        <p:txBody>
          <a:bodyPr wrap="square" lIns="28575" tIns="9525" rIns="28575" bIns="9525" anchor="ctr">
            <a:spAutoFit/>
          </a:bodyPr>
          <a:lstStyle/>
          <a:p>
            <a:pPr algn="l"/>
            <a:r>
              <a:rPr sz="1100" b="0">
                <a:solidFill>
                  <a:srgbClr val="1F2933"/>
                </a:solidFill>
                <a:latin typeface="Calibri"/>
              </a:rPr>
              <a:t>2 moves</a:t>
            </a:r>
          </a:p>
        </p:txBody>
      </p:sp>
      <p:sp>
        <p:nvSpPr>
          <p:cNvPr id="318" name="Rectangle 317"/>
          <p:cNvSpPr/>
          <p:nvPr/>
        </p:nvSpPr>
        <p:spPr>
          <a:xfrm>
            <a:off x="2286000" y="41719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9" name="TextBox 318"/>
          <p:cNvSpPr txBox="1"/>
          <p:nvPr/>
        </p:nvSpPr>
        <p:spPr>
          <a:xfrm>
            <a:off x="2533650" y="4133850"/>
            <a:ext cx="1047750" cy="190500"/>
          </a:xfrm>
          <a:prstGeom prst="rect">
            <a:avLst/>
          </a:prstGeom>
          <a:noFill/>
        </p:spPr>
        <p:txBody>
          <a:bodyPr wrap="square" lIns="28575" tIns="9525" rIns="28575" bIns="9525" anchor="ctr">
            <a:spAutoFit/>
          </a:bodyPr>
          <a:lstStyle/>
          <a:p>
            <a:pPr algn="l"/>
            <a:r>
              <a:rPr sz="1100" b="0">
                <a:solidFill>
                  <a:srgbClr val="1F2933"/>
                </a:solidFill>
                <a:latin typeface="Calibri"/>
              </a:rPr>
              <a:t>3+ moves</a:t>
            </a:r>
          </a:p>
        </p:txBody>
      </p:sp>
      <p:sp>
        <p:nvSpPr>
          <p:cNvPr id="320" name="TextBox 319"/>
          <p:cNvSpPr txBox="1"/>
          <p:nvPr/>
        </p:nvSpPr>
        <p:spPr>
          <a:xfrm>
            <a:off x="3524250" y="4133850"/>
            <a:ext cx="8477250" cy="190500"/>
          </a:xfrm>
          <a:prstGeom prst="rect">
            <a:avLst/>
          </a:prstGeom>
          <a:noFill/>
        </p:spPr>
        <p:txBody>
          <a:bodyPr wrap="square" lIns="28575" tIns="9525" rIns="2857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321" name="Connector 320"/>
          <p:cNvCxnSpPr/>
          <p:nvPr/>
        </p:nvCxnSpPr>
        <p:spPr>
          <a:xfrm>
            <a:off x="190500" y="4400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22" name="TextBox 321"/>
          <p:cNvSpPr txBox="1"/>
          <p:nvPr/>
        </p:nvSpPr>
        <p:spPr>
          <a:xfrm>
            <a:off x="190500" y="4457700"/>
            <a:ext cx="5715000" cy="171450"/>
          </a:xfrm>
          <a:prstGeom prst="rect">
            <a:avLst/>
          </a:prstGeom>
          <a:noFill/>
        </p:spPr>
        <p:txBody>
          <a:bodyPr wrap="square" lIns="28575" tIns="9525" rIns="28575" bIns="9525" anchor="t">
            <a:spAutoFit/>
          </a:bodyPr>
          <a:lstStyle/>
          <a:p>
            <a:pPr algn="l"/>
            <a:r>
              <a:rPr sz="1100" b="1">
                <a:solidFill>
                  <a:srgbClr val="0F2D52"/>
                </a:solidFill>
                <a:latin typeface="Calibri"/>
              </a:rPr>
              <a:t>WHAT IT MEANS FOR EACH OF YOUR DEPARTMENTS</a:t>
            </a:r>
          </a:p>
        </p:txBody>
      </p:sp>
      <p:sp>
        <p:nvSpPr>
          <p:cNvPr id="323" name="Rectangle 322"/>
          <p:cNvSpPr/>
          <p:nvPr/>
        </p:nvSpPr>
        <p:spPr>
          <a:xfrm>
            <a:off x="1905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4" name="TextBox 323"/>
          <p:cNvSpPr txBox="1"/>
          <p:nvPr/>
        </p:nvSpPr>
        <p:spPr>
          <a:xfrm>
            <a:off x="266700" y="4686300"/>
            <a:ext cx="1758950" cy="228600"/>
          </a:xfrm>
          <a:prstGeom prst="rect">
            <a:avLst/>
          </a:prstGeom>
          <a:noFill/>
        </p:spPr>
        <p:txBody>
          <a:bodyPr wrap="square" lIns="28575" tIns="9525" rIns="28575" bIns="9525" anchor="ctr">
            <a:spAutoFit/>
          </a:bodyPr>
          <a:lstStyle/>
          <a:p>
            <a:pPr algn="l"/>
            <a:r>
              <a:rPr sz="1100" b="1">
                <a:solidFill>
                  <a:srgbClr val="FFFFFF"/>
                </a:solidFill>
                <a:latin typeface="Calibri"/>
              </a:rPr>
              <a:t>Sales</a:t>
            </a:r>
          </a:p>
        </p:txBody>
      </p:sp>
      <p:sp>
        <p:nvSpPr>
          <p:cNvPr id="325" name="TextBox 324"/>
          <p:cNvSpPr txBox="1"/>
          <p:nvPr/>
        </p:nvSpPr>
        <p:spPr>
          <a:xfrm>
            <a:off x="190500" y="4953000"/>
            <a:ext cx="1873250" cy="8572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10 expansion moves target new regions and volume tiers: defend key accounts where rivals expand.</a:t>
            </a:r>
          </a:p>
        </p:txBody>
      </p:sp>
      <p:sp>
        <p:nvSpPr>
          <p:cNvPr id="326" name="Rectangle 325"/>
          <p:cNvSpPr/>
          <p:nvPr/>
        </p:nvSpPr>
        <p:spPr>
          <a:xfrm>
            <a:off x="21780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7" name="TextBox 326"/>
          <p:cNvSpPr txBox="1"/>
          <p:nvPr/>
        </p:nvSpPr>
        <p:spPr>
          <a:xfrm>
            <a:off x="2254250" y="4686300"/>
            <a:ext cx="1758950" cy="228600"/>
          </a:xfrm>
          <a:prstGeom prst="rect">
            <a:avLst/>
          </a:prstGeom>
          <a:noFill/>
        </p:spPr>
        <p:txBody>
          <a:bodyPr wrap="square" lIns="28575" tIns="9525" rIns="28575" bIns="9525" anchor="ctr">
            <a:spAutoFit/>
          </a:bodyPr>
          <a:lstStyle/>
          <a:p>
            <a:pPr algn="l"/>
            <a:r>
              <a:rPr sz="1100" b="1">
                <a:solidFill>
                  <a:srgbClr val="FFFFFF"/>
                </a:solidFill>
                <a:latin typeface="Calibri"/>
              </a:rPr>
              <a:t>Marketing</a:t>
            </a:r>
          </a:p>
        </p:txBody>
      </p:sp>
      <p:sp>
        <p:nvSpPr>
          <p:cNvPr id="328" name="TextBox 327"/>
          <p:cNvSpPr txBox="1"/>
          <p:nvPr/>
        </p:nvSpPr>
        <p:spPr>
          <a:xfrm>
            <a:off x="2178050" y="4953000"/>
            <a:ext cx="1873250" cy="8572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329" name="Rectangle 328"/>
          <p:cNvSpPr/>
          <p:nvPr/>
        </p:nvSpPr>
        <p:spPr>
          <a:xfrm>
            <a:off x="41656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0" name="TextBox 329"/>
          <p:cNvSpPr txBox="1"/>
          <p:nvPr/>
        </p:nvSpPr>
        <p:spPr>
          <a:xfrm>
            <a:off x="4241800" y="4686300"/>
            <a:ext cx="1758950" cy="228600"/>
          </a:xfrm>
          <a:prstGeom prst="rect">
            <a:avLst/>
          </a:prstGeom>
          <a:noFill/>
        </p:spPr>
        <p:txBody>
          <a:bodyPr wrap="square" lIns="28575" tIns="9525" rIns="28575" bIns="9525" anchor="ctr">
            <a:spAutoFit/>
          </a:bodyPr>
          <a:lstStyle/>
          <a:p>
            <a:pPr algn="l"/>
            <a:r>
              <a:rPr sz="1100" b="1">
                <a:solidFill>
                  <a:srgbClr val="FFFFFF"/>
                </a:solidFill>
                <a:latin typeface="Calibri"/>
              </a:rPr>
              <a:t>Product and R&amp;D</a:t>
            </a:r>
          </a:p>
        </p:txBody>
      </p:sp>
      <p:sp>
        <p:nvSpPr>
          <p:cNvPr id="331" name="TextBox 330"/>
          <p:cNvSpPr txBox="1"/>
          <p:nvPr/>
        </p:nvSpPr>
        <p:spPr>
          <a:xfrm>
            <a:off x="4165600" y="4953000"/>
            <a:ext cx="1873250" cy="8572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20 product and R&amp;D moves: benchmark launches and the technology roadmap.</a:t>
            </a:r>
          </a:p>
        </p:txBody>
      </p:sp>
      <p:sp>
        <p:nvSpPr>
          <p:cNvPr id="332" name="Rectangle 331"/>
          <p:cNvSpPr/>
          <p:nvPr/>
        </p:nvSpPr>
        <p:spPr>
          <a:xfrm>
            <a:off x="61531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3" name="TextBox 332"/>
          <p:cNvSpPr txBox="1"/>
          <p:nvPr/>
        </p:nvSpPr>
        <p:spPr>
          <a:xfrm>
            <a:off x="6229350" y="4686300"/>
            <a:ext cx="1758950" cy="228600"/>
          </a:xfrm>
          <a:prstGeom prst="rect">
            <a:avLst/>
          </a:prstGeom>
          <a:noFill/>
        </p:spPr>
        <p:txBody>
          <a:bodyPr wrap="square" lIns="28575" tIns="9525" rIns="28575" bIns="9525" anchor="ctr">
            <a:spAutoFit/>
          </a:bodyPr>
          <a:lstStyle/>
          <a:p>
            <a:pPr algn="l"/>
            <a:r>
              <a:rPr sz="1100" b="1">
                <a:solidFill>
                  <a:srgbClr val="FFFFFF"/>
                </a:solidFill>
                <a:latin typeface="Calibri"/>
              </a:rPr>
              <a:t>Corporate development</a:t>
            </a:r>
          </a:p>
        </p:txBody>
      </p:sp>
      <p:sp>
        <p:nvSpPr>
          <p:cNvPr id="334" name="TextBox 333"/>
          <p:cNvSpPr txBox="1"/>
          <p:nvPr/>
        </p:nvSpPr>
        <p:spPr>
          <a:xfrm>
            <a:off x="6153150" y="4953000"/>
            <a:ext cx="1873250" cy="8572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5 players are acquiring; the independent target list is shrinking.</a:t>
            </a:r>
          </a:p>
        </p:txBody>
      </p:sp>
      <p:sp>
        <p:nvSpPr>
          <p:cNvPr id="335" name="Rectangle 334"/>
          <p:cNvSpPr/>
          <p:nvPr/>
        </p:nvSpPr>
        <p:spPr>
          <a:xfrm>
            <a:off x="81407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6" name="TextBox 335"/>
          <p:cNvSpPr txBox="1"/>
          <p:nvPr/>
        </p:nvSpPr>
        <p:spPr>
          <a:xfrm>
            <a:off x="8216900" y="4686300"/>
            <a:ext cx="1758950" cy="228600"/>
          </a:xfrm>
          <a:prstGeom prst="rect">
            <a:avLst/>
          </a:prstGeom>
          <a:noFill/>
        </p:spPr>
        <p:txBody>
          <a:bodyPr wrap="square" lIns="28575" tIns="9525" rIns="28575" bIns="9525" anchor="ctr">
            <a:spAutoFit/>
          </a:bodyPr>
          <a:lstStyle/>
          <a:p>
            <a:pPr algn="l"/>
            <a:r>
              <a:rPr sz="1100" b="1">
                <a:solidFill>
                  <a:srgbClr val="FFFFFF"/>
                </a:solidFill>
                <a:latin typeface="Calibri"/>
              </a:rPr>
              <a:t>Operations</a:t>
            </a:r>
          </a:p>
        </p:txBody>
      </p:sp>
      <p:sp>
        <p:nvSpPr>
          <p:cNvPr id="337" name="TextBox 336"/>
          <p:cNvSpPr txBox="1"/>
          <p:nvPr/>
        </p:nvSpPr>
        <p:spPr>
          <a:xfrm>
            <a:off x="8140700" y="4953000"/>
            <a:ext cx="1873250" cy="8572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338" name="Rectangle 337"/>
          <p:cNvSpPr/>
          <p:nvPr/>
        </p:nvSpPr>
        <p:spPr>
          <a:xfrm>
            <a:off x="101282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9" name="TextBox 338"/>
          <p:cNvSpPr txBox="1"/>
          <p:nvPr/>
        </p:nvSpPr>
        <p:spPr>
          <a:xfrm>
            <a:off x="10204450" y="4686300"/>
            <a:ext cx="1758950" cy="228600"/>
          </a:xfrm>
          <a:prstGeom prst="rect">
            <a:avLst/>
          </a:prstGeom>
          <a:noFill/>
        </p:spPr>
        <p:txBody>
          <a:bodyPr wrap="square" lIns="28575" tIns="9525" rIns="28575" bIns="9525" anchor="ctr">
            <a:spAutoFit/>
          </a:bodyPr>
          <a:lstStyle/>
          <a:p>
            <a:pPr algn="l"/>
            <a:r>
              <a:rPr sz="1100" b="1">
                <a:solidFill>
                  <a:srgbClr val="FFFFFF"/>
                </a:solidFill>
                <a:latin typeface="Calibri"/>
              </a:rPr>
              <a:t>Legal and regulatory</a:t>
            </a:r>
          </a:p>
        </p:txBody>
      </p:sp>
      <p:sp>
        <p:nvSpPr>
          <p:cNvPr id="340" name="TextBox 339"/>
          <p:cNvSpPr txBox="1"/>
          <p:nvPr/>
        </p:nvSpPr>
        <p:spPr>
          <a:xfrm>
            <a:off x="10128250" y="4953000"/>
            <a:ext cx="1873250" cy="857250"/>
          </a:xfrm>
          <a:prstGeom prst="rect">
            <a:avLst/>
          </a:prstGeom>
          <a:noFill/>
        </p:spPr>
        <p:txBody>
          <a:bodyPr wrap="square" lIns="28575" tIns="9525" rIns="28575" bIns="9525" anchor="t">
            <a:spAutoFit/>
          </a:bodyPr>
          <a:lstStyle/>
          <a:p>
            <a:pPr algn="l">
              <a:lnSpc>
                <a:spcPct val="115000"/>
              </a:lnSpc>
            </a:pPr>
            <a:r>
              <a:rPr sz="1100" b="0">
                <a:solidFill>
                  <a:srgbClr val="1F2933"/>
                </a:solidFill>
                <a:latin typeface="Calibri"/>
              </a:rPr>
              <a:t>5 players lean on certification; audit your own compliance position.</a:t>
            </a:r>
          </a:p>
        </p:txBody>
      </p:sp>
      <p:sp>
        <p:nvSpPr>
          <p:cNvPr id="341" name="TextBox 34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Industry Structure Landscape – Corrugated Partition Market, Global 2026 (1/2)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38125" y="1104900"/>
            <a:ext cx="5619750" cy="209550"/>
          </a:xfrm>
          <a:prstGeom prst="rect">
            <a:avLst/>
          </a:prstGeom>
          <a:noFill/>
        </p:spPr>
        <p:txBody>
          <a:bodyPr wrap="square" lIns="28575" tIns="9525" rIns="2857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tIns="9525" rIns="28575" bIns="9525" anchor="ctr">
            <a:spAutoFit/>
          </a:bodyPr>
          <a:lstStyle/>
          <a:p>
            <a:pPr algn="l"/>
            <a:endParaRPr/>
          </a:p>
        </p:txBody>
      </p:sp>
      <p:sp>
        <p:nvSpPr>
          <p:cNvPr id="13" name="TextBox 12"/>
          <p:cNvSpPr txBox="1"/>
          <p:nvPr/>
        </p:nvSpPr>
        <p:spPr>
          <a:xfrm>
            <a:off x="257175" y="1600200"/>
            <a:ext cx="990600" cy="209550"/>
          </a:xfrm>
          <a:prstGeom prst="rect">
            <a:avLst/>
          </a:prstGeom>
          <a:noFill/>
        </p:spPr>
        <p:txBody>
          <a:bodyPr wrap="square" lIns="28575" tIns="9525" rIns="2857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1362075" y="1609725"/>
            <a:ext cx="666750" cy="209550"/>
          </a:xfrm>
          <a:prstGeom prst="rect">
            <a:avLst/>
          </a:prstGeom>
          <a:noFill/>
        </p:spPr>
        <p:txBody>
          <a:bodyPr wrap="square" lIns="28575" tIns="9525" rIns="2857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tIns="9525" rIns="28575" bIns="9525" anchor="ctr">
            <a:spAutoFit/>
          </a:bodyPr>
          <a:lstStyle/>
          <a:p>
            <a:pPr algn="l"/>
            <a:endParaRPr/>
          </a:p>
        </p:txBody>
      </p:sp>
      <p:sp>
        <p:nvSpPr>
          <p:cNvPr id="18" name="TextBox 17"/>
          <p:cNvSpPr txBox="1"/>
          <p:nvPr/>
        </p:nvSpPr>
        <p:spPr>
          <a:xfrm>
            <a:off x="1266825" y="2066925"/>
            <a:ext cx="4533900" cy="34290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Multicell Packaging Inc. · Company · Great American Paper Inc. · Interpack Inc.</a:t>
            </a:r>
          </a:p>
        </p:txBody>
      </p:sp>
      <p:sp>
        <p:nvSpPr>
          <p:cNvPr id="19" name="TextBox 18"/>
          <p:cNvSpPr txBox="1"/>
          <p:nvPr/>
        </p:nvSpPr>
        <p:spPr>
          <a:xfrm>
            <a:off x="257175" y="2457450"/>
            <a:ext cx="990600" cy="209550"/>
          </a:xfrm>
          <a:prstGeom prst="rect">
            <a:avLst/>
          </a:prstGeom>
          <a:noFill/>
        </p:spPr>
        <p:txBody>
          <a:bodyPr wrap="square" lIns="28575" tIns="9525" rIns="2857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1362075" y="2466975"/>
            <a:ext cx="666750" cy="209550"/>
          </a:xfrm>
          <a:prstGeom prst="rect">
            <a:avLst/>
          </a:prstGeom>
          <a:noFill/>
        </p:spPr>
        <p:txBody>
          <a:bodyPr wrap="square" lIns="28575" tIns="9525" rIns="2857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tIns="9525" rIns="28575" bIns="9525" anchor="ctr">
            <a:spAutoFit/>
          </a:bodyPr>
          <a:lstStyle/>
          <a:p>
            <a:pPr algn="l"/>
            <a:endParaRPr/>
          </a:p>
        </p:txBody>
      </p:sp>
      <p:sp>
        <p:nvSpPr>
          <p:cNvPr id="24" name="TextBox 23"/>
          <p:cNvSpPr txBox="1"/>
          <p:nvPr/>
        </p:nvSpPr>
        <p:spPr>
          <a:xfrm>
            <a:off x="1266825" y="2924175"/>
            <a:ext cx="4533900" cy="34290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Caps Cases Ltd. · M &amp; M Box &amp; Partitions Co.</a:t>
            </a:r>
          </a:p>
        </p:txBody>
      </p:sp>
      <p:sp>
        <p:nvSpPr>
          <p:cNvPr id="25" name="TextBox 24"/>
          <p:cNvSpPr txBox="1"/>
          <p:nvPr/>
        </p:nvSpPr>
        <p:spPr>
          <a:xfrm>
            <a:off x="257175" y="3314700"/>
            <a:ext cx="990600" cy="209550"/>
          </a:xfrm>
          <a:prstGeom prst="rect">
            <a:avLst/>
          </a:prstGeom>
          <a:noFill/>
        </p:spPr>
        <p:txBody>
          <a:bodyPr wrap="square" lIns="28575" tIns="9525" rIns="2857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1362075" y="3324225"/>
            <a:ext cx="666750" cy="209550"/>
          </a:xfrm>
          <a:prstGeom prst="rect">
            <a:avLst/>
          </a:prstGeom>
          <a:noFill/>
        </p:spPr>
        <p:txBody>
          <a:bodyPr wrap="square" lIns="28575" tIns="9525" rIns="2857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tIns="9525" rIns="28575" bIns="9525" anchor="ctr">
            <a:spAutoFit/>
          </a:bodyPr>
          <a:lstStyle/>
          <a:p>
            <a:pPr algn="l"/>
            <a:endParaRPr/>
          </a:p>
        </p:txBody>
      </p:sp>
      <p:sp>
        <p:nvSpPr>
          <p:cNvPr id="30" name="TextBox 29"/>
          <p:cNvSpPr txBox="1"/>
          <p:nvPr/>
        </p:nvSpPr>
        <p:spPr>
          <a:xfrm>
            <a:off x="1266825" y="3781425"/>
            <a:ext cx="4533900" cy="34290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Martin Partitions · Buckeye Corrugated Inc. · Cactus Corrugated Containers Inc. · Jarrett Industries Inc.</a:t>
            </a:r>
          </a:p>
        </p:txBody>
      </p:sp>
      <p:sp>
        <p:nvSpPr>
          <p:cNvPr id="31" name="TextBox 30"/>
          <p:cNvSpPr txBox="1"/>
          <p:nvPr/>
        </p:nvSpPr>
        <p:spPr>
          <a:xfrm>
            <a:off x="257175" y="4171950"/>
            <a:ext cx="990600" cy="209550"/>
          </a:xfrm>
          <a:prstGeom prst="rect">
            <a:avLst/>
          </a:prstGeom>
          <a:noFill/>
        </p:spPr>
        <p:txBody>
          <a:bodyPr wrap="square" lIns="28575" tIns="9525" rIns="2857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1362075" y="4181475"/>
            <a:ext cx="666750" cy="209550"/>
          </a:xfrm>
          <a:prstGeom prst="rect">
            <a:avLst/>
          </a:prstGeom>
          <a:noFill/>
        </p:spPr>
        <p:txBody>
          <a:bodyPr wrap="square" lIns="28575" tIns="9525" rIns="2857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tIns="9525" rIns="28575" bIns="9525" anchor="ctr">
            <a:spAutoFit/>
          </a:bodyPr>
          <a:lstStyle/>
          <a:p>
            <a:pPr algn="l"/>
            <a:endParaRPr/>
          </a:p>
        </p:txBody>
      </p:sp>
      <p:sp>
        <p:nvSpPr>
          <p:cNvPr id="36" name="TextBox 35"/>
          <p:cNvSpPr txBox="1"/>
          <p:nvPr/>
        </p:nvSpPr>
        <p:spPr>
          <a:xfrm>
            <a:off x="1266825" y="4638675"/>
            <a:ext cx="4533900" cy="34290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238125" y="5219700"/>
            <a:ext cx="5619750" cy="209550"/>
          </a:xfrm>
          <a:prstGeom prst="rect">
            <a:avLst/>
          </a:prstGeom>
          <a:noFill/>
        </p:spPr>
        <p:txBody>
          <a:bodyPr wrap="square" lIns="28575" tIns="9525" rIns="2857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276225" y="5505450"/>
            <a:ext cx="1847850" cy="247650"/>
          </a:xfrm>
          <a:prstGeom prst="rect">
            <a:avLst/>
          </a:prstGeom>
          <a:noFill/>
        </p:spPr>
        <p:txBody>
          <a:bodyPr wrap="square" lIns="28575" tIns="9525" rIns="2857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2124075" y="5505450"/>
            <a:ext cx="1847850" cy="247650"/>
          </a:xfrm>
          <a:prstGeom prst="rect">
            <a:avLst/>
          </a:prstGeom>
          <a:noFill/>
        </p:spPr>
        <p:txBody>
          <a:bodyPr wrap="square" lIns="28575" tIns="9525" rIns="2857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3971925" y="5505450"/>
            <a:ext cx="1847850" cy="247650"/>
          </a:xfrm>
          <a:prstGeom prst="rect">
            <a:avLst/>
          </a:prstGeom>
          <a:noFill/>
        </p:spPr>
        <p:txBody>
          <a:bodyPr wrap="square" lIns="28575" tIns="9525" rIns="2857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669665" y="5762625"/>
            <a:ext cx="1714500" cy="247650"/>
          </a:xfrm>
          <a:prstGeom prst="rect">
            <a:avLst/>
          </a:prstGeom>
          <a:noFill/>
        </p:spPr>
        <p:txBody>
          <a:bodyPr wrap="square" lIns="28575" tIns="9525" rIns="28575" bIns="9525" anchor="ctr">
            <a:spAutoFit/>
          </a:bodyPr>
          <a:lstStyle/>
          <a:p>
            <a:pPr algn="ctr"/>
            <a:endParaRPr/>
          </a:p>
        </p:txBody>
      </p:sp>
      <p:sp>
        <p:nvSpPr>
          <p:cNvPr id="46" name="TextBox 45"/>
          <p:cNvSpPr txBox="1"/>
          <p:nvPr/>
        </p:nvSpPr>
        <p:spPr>
          <a:xfrm>
            <a:off x="238125" y="5981700"/>
            <a:ext cx="5619750" cy="419100"/>
          </a:xfrm>
          <a:prstGeom prst="rect">
            <a:avLst/>
          </a:prstGeom>
          <a:noFill/>
        </p:spPr>
        <p:txBody>
          <a:bodyPr wrap="square" lIns="28575" tIns="9525" rIns="28575" bIns="9525" anchor="ctr">
            <a:spAutoFit/>
          </a:bodyPr>
          <a:lstStyle/>
          <a:p>
            <a:pPr algn="ctr"/>
            <a:endParaRP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6191250" y="1104900"/>
            <a:ext cx="5762625" cy="209550"/>
          </a:xfrm>
          <a:prstGeom prst="rect">
            <a:avLst/>
          </a:prstGeom>
          <a:noFill/>
        </p:spPr>
        <p:txBody>
          <a:bodyPr wrap="square" lIns="28575" tIns="9525" rIns="2857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tIns="9525" rIns="2857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6248400" y="1562100"/>
            <a:ext cx="1543050" cy="247650"/>
          </a:xfrm>
          <a:prstGeom prst="rect">
            <a:avLst/>
          </a:prstGeom>
          <a:noFill/>
        </p:spPr>
        <p:txBody>
          <a:bodyPr wrap="square" lIns="28575" tIns="9525" rIns="2857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7810500" y="1562100"/>
            <a:ext cx="828675" cy="247650"/>
          </a:xfrm>
          <a:prstGeom prst="rect">
            <a:avLst/>
          </a:prstGeom>
          <a:noFill/>
        </p:spPr>
        <p:txBody>
          <a:bodyPr wrap="square" lIns="28575" tIns="9525" rIns="2857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8639175" y="1562100"/>
            <a:ext cx="828675" cy="247650"/>
          </a:xfrm>
          <a:prstGeom prst="rect">
            <a:avLst/>
          </a:prstGeom>
          <a:noFill/>
        </p:spPr>
        <p:txBody>
          <a:bodyPr wrap="square" lIns="28575" tIns="9525" rIns="2857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7" name="TextBox 56"/>
          <p:cNvSpPr txBox="1"/>
          <p:nvPr/>
        </p:nvSpPr>
        <p:spPr>
          <a:xfrm>
            <a:off x="9467850" y="1562100"/>
            <a:ext cx="828675" cy="247650"/>
          </a:xfrm>
          <a:prstGeom prst="rect">
            <a:avLst/>
          </a:prstGeom>
          <a:noFill/>
        </p:spPr>
        <p:txBody>
          <a:bodyPr wrap="square" lIns="28575" tIns="9525" rIns="2857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TextBox 58"/>
          <p:cNvSpPr txBox="1"/>
          <p:nvPr/>
        </p:nvSpPr>
        <p:spPr>
          <a:xfrm>
            <a:off x="10296525" y="1562100"/>
            <a:ext cx="828675" cy="247650"/>
          </a:xfrm>
          <a:prstGeom prst="rect">
            <a:avLst/>
          </a:prstGeom>
          <a:noFill/>
        </p:spPr>
        <p:txBody>
          <a:bodyPr wrap="square" lIns="28575" tIns="9525" rIns="2857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11125200" y="1562100"/>
            <a:ext cx="828675" cy="247650"/>
          </a:xfrm>
          <a:prstGeom prst="rect">
            <a:avLst/>
          </a:prstGeom>
          <a:noFill/>
        </p:spPr>
        <p:txBody>
          <a:bodyPr wrap="square" lIns="28575" tIns="9525" rIns="2857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TextBox 62"/>
          <p:cNvSpPr txBox="1"/>
          <p:nvPr/>
        </p:nvSpPr>
        <p:spPr>
          <a:xfrm>
            <a:off x="6248400" y="1809750"/>
            <a:ext cx="1543050" cy="22860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TextBox 64"/>
          <p:cNvSpPr txBox="1"/>
          <p:nvPr/>
        </p:nvSpPr>
        <p:spPr>
          <a:xfrm>
            <a:off x="7829550" y="18097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TextBox 66"/>
          <p:cNvSpPr txBox="1"/>
          <p:nvPr/>
        </p:nvSpPr>
        <p:spPr>
          <a:xfrm>
            <a:off x="8658225" y="18097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TextBox 68"/>
          <p:cNvSpPr txBox="1"/>
          <p:nvPr/>
        </p:nvSpPr>
        <p:spPr>
          <a:xfrm>
            <a:off x="9486900" y="18097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4</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10315575" y="18097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p:cNvSpPr txBox="1"/>
          <p:nvPr/>
        </p:nvSpPr>
        <p:spPr>
          <a:xfrm>
            <a:off x="11144250" y="1809750"/>
            <a:ext cx="790575" cy="228600"/>
          </a:xfrm>
          <a:prstGeom prst="rect">
            <a:avLst/>
          </a:prstGeom>
          <a:noFill/>
        </p:spPr>
        <p:txBody>
          <a:bodyPr wrap="square" lIns="28575" tIns="9525" rIns="2857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TextBox 74"/>
          <p:cNvSpPr txBox="1"/>
          <p:nvPr/>
        </p:nvSpPr>
        <p:spPr>
          <a:xfrm>
            <a:off x="6248400" y="2038350"/>
            <a:ext cx="1543050" cy="22860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p:cNvSpPr txBox="1"/>
          <p:nvPr/>
        </p:nvSpPr>
        <p:spPr>
          <a:xfrm>
            <a:off x="7829550" y="20383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p:cNvSpPr txBox="1"/>
          <p:nvPr/>
        </p:nvSpPr>
        <p:spPr>
          <a:xfrm>
            <a:off x="8658225" y="20383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TextBox 80"/>
          <p:cNvSpPr txBox="1"/>
          <p:nvPr/>
        </p:nvSpPr>
        <p:spPr>
          <a:xfrm>
            <a:off x="9486900" y="20383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p:cNvSpPr txBox="1"/>
          <p:nvPr/>
        </p:nvSpPr>
        <p:spPr>
          <a:xfrm>
            <a:off x="10315575" y="20383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TextBox 84"/>
          <p:cNvSpPr txBox="1"/>
          <p:nvPr/>
        </p:nvSpPr>
        <p:spPr>
          <a:xfrm>
            <a:off x="11144250" y="2038350"/>
            <a:ext cx="790575" cy="228600"/>
          </a:xfrm>
          <a:prstGeom prst="rect">
            <a:avLst/>
          </a:prstGeom>
          <a:noFill/>
        </p:spPr>
        <p:txBody>
          <a:bodyPr wrap="square" lIns="28575" tIns="9525" rIns="28575" bIns="9525" anchor="ctr">
            <a:spAutoFit/>
          </a:bodyPr>
          <a:lstStyle/>
          <a:p>
            <a:pPr algn="ctr"/>
            <a:r>
              <a:rPr sz="1100" b="1">
                <a:solidFill>
                  <a:srgbClr val="14213D"/>
                </a:solidFill>
                <a:latin typeface="Calibri"/>
              </a:rPr>
              <a:t> </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6248400" y="2266950"/>
            <a:ext cx="1543050" cy="22860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TextBox 88"/>
          <p:cNvSpPr txBox="1"/>
          <p:nvPr/>
        </p:nvSpPr>
        <p:spPr>
          <a:xfrm>
            <a:off x="8076248" y="2266950"/>
            <a:ext cx="29718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2" name="TextBox 91"/>
          <p:cNvSpPr txBox="1"/>
          <p:nvPr/>
        </p:nvSpPr>
        <p:spPr>
          <a:xfrm>
            <a:off x="8904922" y="2266950"/>
            <a:ext cx="29718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TextBox 94"/>
          <p:cNvSpPr txBox="1"/>
          <p:nvPr/>
        </p:nvSpPr>
        <p:spPr>
          <a:xfrm>
            <a:off x="9733598" y="2266950"/>
            <a:ext cx="29718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8" name="TextBox 97"/>
          <p:cNvSpPr txBox="1"/>
          <p:nvPr/>
        </p:nvSpPr>
        <p:spPr>
          <a:xfrm>
            <a:off x="10562272" y="2266950"/>
            <a:ext cx="29718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TextBox 100"/>
          <p:cNvSpPr txBox="1"/>
          <p:nvPr/>
        </p:nvSpPr>
        <p:spPr>
          <a:xfrm>
            <a:off x="11144250" y="2266950"/>
            <a:ext cx="790575" cy="228600"/>
          </a:xfrm>
          <a:prstGeom prst="rect">
            <a:avLst/>
          </a:prstGeom>
          <a:noFill/>
        </p:spPr>
        <p:txBody>
          <a:bodyPr wrap="square" lIns="28575" tIns="9525" rIns="2857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TextBox 102"/>
          <p:cNvSpPr txBox="1"/>
          <p:nvPr/>
        </p:nvSpPr>
        <p:spPr>
          <a:xfrm>
            <a:off x="6248400" y="2495550"/>
            <a:ext cx="1543050" cy="22860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8076248" y="2495550"/>
            <a:ext cx="29718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TextBox 107"/>
          <p:cNvSpPr txBox="1"/>
          <p:nvPr/>
        </p:nvSpPr>
        <p:spPr>
          <a:xfrm>
            <a:off x="8904922" y="2495550"/>
            <a:ext cx="29718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TextBox 110"/>
          <p:cNvSpPr txBox="1"/>
          <p:nvPr/>
        </p:nvSpPr>
        <p:spPr>
          <a:xfrm>
            <a:off x="9733598" y="2495550"/>
            <a:ext cx="29718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4" name="TextBox 113"/>
          <p:cNvSpPr txBox="1"/>
          <p:nvPr/>
        </p:nvSpPr>
        <p:spPr>
          <a:xfrm>
            <a:off x="10562272" y="2495550"/>
            <a:ext cx="29718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TextBox 116"/>
          <p:cNvSpPr txBox="1"/>
          <p:nvPr/>
        </p:nvSpPr>
        <p:spPr>
          <a:xfrm>
            <a:off x="11144250" y="2495550"/>
            <a:ext cx="790575" cy="228600"/>
          </a:xfrm>
          <a:prstGeom prst="rect">
            <a:avLst/>
          </a:prstGeom>
          <a:noFill/>
        </p:spPr>
        <p:txBody>
          <a:bodyPr wrap="square" lIns="28575" tIns="9525" rIns="2857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TextBox 118"/>
          <p:cNvSpPr txBox="1"/>
          <p:nvPr/>
        </p:nvSpPr>
        <p:spPr>
          <a:xfrm>
            <a:off x="6248400" y="2724150"/>
            <a:ext cx="1543050" cy="22860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7975282" y="2724150"/>
            <a:ext cx="133350" cy="228600"/>
          </a:xfrm>
          <a:prstGeom prst="rect">
            <a:avLst/>
          </a:prstGeom>
          <a:noFill/>
        </p:spPr>
        <p:txBody>
          <a:bodyPr wrap="none" lIns="0" tIns="0" r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TextBox 123"/>
          <p:cNvSpPr txBox="1"/>
          <p:nvPr/>
        </p:nvSpPr>
        <p:spPr>
          <a:xfrm>
            <a:off x="8803958" y="2724150"/>
            <a:ext cx="133350" cy="228600"/>
          </a:xfrm>
          <a:prstGeom prst="rect">
            <a:avLst/>
          </a:prstGeom>
          <a:noFill/>
        </p:spPr>
        <p:txBody>
          <a:bodyPr wrap="none" lIns="0" tIns="0" r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7" name="TextBox 126"/>
          <p:cNvSpPr txBox="1"/>
          <p:nvPr/>
        </p:nvSpPr>
        <p:spPr>
          <a:xfrm>
            <a:off x="9632632" y="2724150"/>
            <a:ext cx="133350" cy="228600"/>
          </a:xfrm>
          <a:prstGeom prst="rect">
            <a:avLst/>
          </a:prstGeom>
          <a:noFill/>
        </p:spPr>
        <p:txBody>
          <a:bodyPr wrap="none" lIns="0" tIns="0" r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TextBox 129"/>
          <p:cNvSpPr txBox="1"/>
          <p:nvPr/>
        </p:nvSpPr>
        <p:spPr>
          <a:xfrm>
            <a:off x="10461308" y="2724150"/>
            <a:ext cx="133350" cy="228600"/>
          </a:xfrm>
          <a:prstGeom prst="rect">
            <a:avLst/>
          </a:prstGeom>
          <a:noFill/>
        </p:spPr>
        <p:txBody>
          <a:bodyPr wrap="none" lIns="0" tIns="0" r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TextBox 132"/>
          <p:cNvSpPr txBox="1"/>
          <p:nvPr/>
        </p:nvSpPr>
        <p:spPr>
          <a:xfrm>
            <a:off x="11144250" y="2724150"/>
            <a:ext cx="790575" cy="228600"/>
          </a:xfrm>
          <a:prstGeom prst="rect">
            <a:avLst/>
          </a:prstGeom>
          <a:noFill/>
        </p:spPr>
        <p:txBody>
          <a:bodyPr wrap="square" lIns="28575" tIns="9525" rIns="2857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TextBox 134"/>
          <p:cNvSpPr txBox="1"/>
          <p:nvPr/>
        </p:nvSpPr>
        <p:spPr>
          <a:xfrm>
            <a:off x="6248400" y="2952750"/>
            <a:ext cx="1543050" cy="22860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TextBox 136"/>
          <p:cNvSpPr txBox="1"/>
          <p:nvPr/>
        </p:nvSpPr>
        <p:spPr>
          <a:xfrm>
            <a:off x="8108632" y="2952750"/>
            <a:ext cx="23241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TextBox 139"/>
          <p:cNvSpPr txBox="1"/>
          <p:nvPr/>
        </p:nvSpPr>
        <p:spPr>
          <a:xfrm>
            <a:off x="8937308" y="2952750"/>
            <a:ext cx="23241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3" name="TextBox 142"/>
          <p:cNvSpPr txBox="1"/>
          <p:nvPr/>
        </p:nvSpPr>
        <p:spPr>
          <a:xfrm>
            <a:off x="9765982" y="2952750"/>
            <a:ext cx="23241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6" name="TextBox 145"/>
          <p:cNvSpPr txBox="1"/>
          <p:nvPr/>
        </p:nvSpPr>
        <p:spPr>
          <a:xfrm>
            <a:off x="10594658" y="2952750"/>
            <a:ext cx="232410" cy="22860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9" name="TextBox 148"/>
          <p:cNvSpPr txBox="1"/>
          <p:nvPr/>
        </p:nvSpPr>
        <p:spPr>
          <a:xfrm>
            <a:off x="11423332" y="2952750"/>
            <a:ext cx="232410" cy="228600"/>
          </a:xfrm>
          <a:prstGeom prst="rect">
            <a:avLst/>
          </a:prstGeom>
          <a:noFill/>
        </p:spPr>
        <p:txBody>
          <a:bodyPr wrap="none" lIns="0" tIns="0" r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tIns="0" r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2" name="TextBox 151"/>
          <p:cNvSpPr txBox="1"/>
          <p:nvPr/>
        </p:nvSpPr>
        <p:spPr>
          <a:xfrm>
            <a:off x="6248400" y="3181350"/>
            <a:ext cx="1543050" cy="22860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4" name="TextBox 153"/>
          <p:cNvSpPr txBox="1"/>
          <p:nvPr/>
        </p:nvSpPr>
        <p:spPr>
          <a:xfrm>
            <a:off x="7829550" y="31813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6" name="TextBox 155"/>
          <p:cNvSpPr txBox="1"/>
          <p:nvPr/>
        </p:nvSpPr>
        <p:spPr>
          <a:xfrm>
            <a:off x="8658225" y="31813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8" name="TextBox 157"/>
          <p:cNvSpPr txBox="1"/>
          <p:nvPr/>
        </p:nvSpPr>
        <p:spPr>
          <a:xfrm>
            <a:off x="9486900" y="31813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TextBox 159"/>
          <p:cNvSpPr txBox="1"/>
          <p:nvPr/>
        </p:nvSpPr>
        <p:spPr>
          <a:xfrm>
            <a:off x="10315575" y="3181350"/>
            <a:ext cx="790575" cy="228600"/>
          </a:xfrm>
          <a:prstGeom prst="rect">
            <a:avLst/>
          </a:prstGeom>
          <a:noFill/>
        </p:spPr>
        <p:txBody>
          <a:bodyPr wrap="square" lIns="28575" tIns="9525" rIns="2857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2" name="TextBox 161"/>
          <p:cNvSpPr txBox="1"/>
          <p:nvPr/>
        </p:nvSpPr>
        <p:spPr>
          <a:xfrm>
            <a:off x="11144250" y="3181350"/>
            <a:ext cx="790575" cy="228600"/>
          </a:xfrm>
          <a:prstGeom prst="rect">
            <a:avLst/>
          </a:prstGeom>
          <a:noFill/>
        </p:spPr>
        <p:txBody>
          <a:bodyPr wrap="square" lIns="28575" tIns="9525" rIns="2857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TextBox 163"/>
          <p:cNvSpPr txBox="1"/>
          <p:nvPr/>
        </p:nvSpPr>
        <p:spPr>
          <a:xfrm>
            <a:off x="6248400" y="3409950"/>
            <a:ext cx="1543050" cy="32385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TextBox 165"/>
          <p:cNvSpPr txBox="1"/>
          <p:nvPr/>
        </p:nvSpPr>
        <p:spPr>
          <a:xfrm>
            <a:off x="8076248" y="3409950"/>
            <a:ext cx="297180" cy="32385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9" name="TextBox 168"/>
          <p:cNvSpPr txBox="1"/>
          <p:nvPr/>
        </p:nvSpPr>
        <p:spPr>
          <a:xfrm>
            <a:off x="8904922" y="3409950"/>
            <a:ext cx="297180" cy="32385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2" name="TextBox 171"/>
          <p:cNvSpPr txBox="1"/>
          <p:nvPr/>
        </p:nvSpPr>
        <p:spPr>
          <a:xfrm>
            <a:off x="9733598" y="3409950"/>
            <a:ext cx="297180" cy="32385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5" name="TextBox 174"/>
          <p:cNvSpPr txBox="1"/>
          <p:nvPr/>
        </p:nvSpPr>
        <p:spPr>
          <a:xfrm>
            <a:off x="10562272" y="3409950"/>
            <a:ext cx="297180" cy="323850"/>
          </a:xfrm>
          <a:prstGeom prst="rect">
            <a:avLst/>
          </a:prstGeom>
          <a:noFill/>
        </p:spPr>
        <p:txBody>
          <a:bodyPr wrap="none" lIns="0" tIns="0" r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tIns="0" r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8" name="TextBox 177"/>
          <p:cNvSpPr txBox="1"/>
          <p:nvPr/>
        </p:nvSpPr>
        <p:spPr>
          <a:xfrm>
            <a:off x="11144250" y="3409950"/>
            <a:ext cx="790575" cy="323850"/>
          </a:xfrm>
          <a:prstGeom prst="rect">
            <a:avLst/>
          </a:prstGeom>
          <a:noFill/>
        </p:spPr>
        <p:txBody>
          <a:bodyPr wrap="square" lIns="28575" tIns="9525" rIns="2857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0" name="TextBox 179"/>
          <p:cNvSpPr txBox="1"/>
          <p:nvPr/>
        </p:nvSpPr>
        <p:spPr>
          <a:xfrm>
            <a:off x="6248400" y="3733800"/>
            <a:ext cx="1543050" cy="32385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TextBox 181"/>
          <p:cNvSpPr txBox="1"/>
          <p:nvPr/>
        </p:nvSpPr>
        <p:spPr>
          <a:xfrm>
            <a:off x="7829550" y="373380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TextBox 183"/>
          <p:cNvSpPr txBox="1"/>
          <p:nvPr/>
        </p:nvSpPr>
        <p:spPr>
          <a:xfrm>
            <a:off x="8658225" y="373380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6" name="TextBox 185"/>
          <p:cNvSpPr txBox="1"/>
          <p:nvPr/>
        </p:nvSpPr>
        <p:spPr>
          <a:xfrm>
            <a:off x="9486900" y="373380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8" name="TextBox 187"/>
          <p:cNvSpPr txBox="1"/>
          <p:nvPr/>
        </p:nvSpPr>
        <p:spPr>
          <a:xfrm>
            <a:off x="10315575" y="373380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0" name="TextBox 189"/>
          <p:cNvSpPr txBox="1"/>
          <p:nvPr/>
        </p:nvSpPr>
        <p:spPr>
          <a:xfrm>
            <a:off x="11144250" y="3733800"/>
            <a:ext cx="790575" cy="323850"/>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2" name="TextBox 191"/>
          <p:cNvSpPr txBox="1"/>
          <p:nvPr/>
        </p:nvSpPr>
        <p:spPr>
          <a:xfrm>
            <a:off x="6248400" y="4057650"/>
            <a:ext cx="1543050" cy="32385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4" name="TextBox 193"/>
          <p:cNvSpPr txBox="1"/>
          <p:nvPr/>
        </p:nvSpPr>
        <p:spPr>
          <a:xfrm>
            <a:off x="7829550" y="405765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6" name="TextBox 195"/>
          <p:cNvSpPr txBox="1"/>
          <p:nvPr/>
        </p:nvSpPr>
        <p:spPr>
          <a:xfrm>
            <a:off x="8658225" y="405765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8" name="TextBox 197"/>
          <p:cNvSpPr txBox="1"/>
          <p:nvPr/>
        </p:nvSpPr>
        <p:spPr>
          <a:xfrm>
            <a:off x="9486900" y="405765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0" name="TextBox 199"/>
          <p:cNvSpPr txBox="1"/>
          <p:nvPr/>
        </p:nvSpPr>
        <p:spPr>
          <a:xfrm>
            <a:off x="10315575" y="405765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2" name="TextBox 201"/>
          <p:cNvSpPr txBox="1"/>
          <p:nvPr/>
        </p:nvSpPr>
        <p:spPr>
          <a:xfrm>
            <a:off x="11144250" y="4057650"/>
            <a:ext cx="790575" cy="323850"/>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4" name="TextBox 203"/>
          <p:cNvSpPr txBox="1"/>
          <p:nvPr/>
        </p:nvSpPr>
        <p:spPr>
          <a:xfrm>
            <a:off x="6248400" y="4381500"/>
            <a:ext cx="1543050" cy="32385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6" name="TextBox 205"/>
          <p:cNvSpPr txBox="1"/>
          <p:nvPr/>
        </p:nvSpPr>
        <p:spPr>
          <a:xfrm>
            <a:off x="7829550" y="438150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8" name="TextBox 207"/>
          <p:cNvSpPr txBox="1"/>
          <p:nvPr/>
        </p:nvSpPr>
        <p:spPr>
          <a:xfrm>
            <a:off x="8658225" y="438150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0" name="TextBox 209"/>
          <p:cNvSpPr txBox="1"/>
          <p:nvPr/>
        </p:nvSpPr>
        <p:spPr>
          <a:xfrm>
            <a:off x="9486900" y="438150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2" name="TextBox 211"/>
          <p:cNvSpPr txBox="1"/>
          <p:nvPr/>
        </p:nvSpPr>
        <p:spPr>
          <a:xfrm>
            <a:off x="10315575" y="4381500"/>
            <a:ext cx="790575" cy="323850"/>
          </a:xfrm>
          <a:prstGeom prst="rect">
            <a:avLst/>
          </a:prstGeom>
          <a:noFill/>
        </p:spPr>
        <p:txBody>
          <a:bodyPr wrap="square" lIns="28575" tIns="9525" rIns="2857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4" name="TextBox 213"/>
          <p:cNvSpPr txBox="1"/>
          <p:nvPr/>
        </p:nvSpPr>
        <p:spPr>
          <a:xfrm>
            <a:off x="11144250" y="4381500"/>
            <a:ext cx="790575" cy="323850"/>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6" name="TextBox 215"/>
          <p:cNvSpPr txBox="1"/>
          <p:nvPr/>
        </p:nvSpPr>
        <p:spPr>
          <a:xfrm>
            <a:off x="6248400" y="4705350"/>
            <a:ext cx="1543050" cy="323850"/>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8" name="TextBox 217"/>
          <p:cNvSpPr txBox="1"/>
          <p:nvPr/>
        </p:nvSpPr>
        <p:spPr>
          <a:xfrm>
            <a:off x="7829550" y="4705350"/>
            <a:ext cx="790575" cy="323850"/>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0" name="TextBox 219"/>
          <p:cNvSpPr txBox="1"/>
          <p:nvPr/>
        </p:nvSpPr>
        <p:spPr>
          <a:xfrm>
            <a:off x="8658225" y="4705350"/>
            <a:ext cx="790575" cy="323850"/>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2" name="TextBox 221"/>
          <p:cNvSpPr txBox="1"/>
          <p:nvPr/>
        </p:nvSpPr>
        <p:spPr>
          <a:xfrm>
            <a:off x="9486900" y="4705350"/>
            <a:ext cx="790575" cy="323850"/>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4" name="TextBox 223"/>
          <p:cNvSpPr txBox="1"/>
          <p:nvPr/>
        </p:nvSpPr>
        <p:spPr>
          <a:xfrm>
            <a:off x="10315575" y="4705350"/>
            <a:ext cx="790575" cy="323850"/>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6" name="TextBox 225"/>
          <p:cNvSpPr txBox="1"/>
          <p:nvPr/>
        </p:nvSpPr>
        <p:spPr>
          <a:xfrm>
            <a:off x="11144250" y="4705350"/>
            <a:ext cx="790575" cy="323850"/>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8" name="TextBox 227"/>
          <p:cNvSpPr txBox="1"/>
          <p:nvPr/>
        </p:nvSpPr>
        <p:spPr>
          <a:xfrm>
            <a:off x="6191250" y="5219700"/>
            <a:ext cx="5762625" cy="209550"/>
          </a:xfrm>
          <a:prstGeom prst="rect">
            <a:avLst/>
          </a:prstGeom>
          <a:noFill/>
        </p:spPr>
        <p:txBody>
          <a:bodyPr wrap="square" lIns="28575" tIns="9525" rIns="2857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tIns="0" r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tIns="9525" rIns="28575" bIns="9525" anchor="t">
            <a:spAutoFit/>
          </a:bodyPr>
          <a:lstStyle/>
          <a:p>
            <a:pPr algn="l">
              <a:lnSpc>
                <a:spcPct val="115000"/>
              </a:lnSpc>
            </a:pPr>
            <a:endParaRPr/>
          </a:p>
        </p:txBody>
      </p:sp>
      <p:sp>
        <p:nvSpPr>
          <p:cNvPr id="231" name="TextBox 230"/>
          <p:cNvSpPr txBox="1"/>
          <p:nvPr/>
        </p:nvSpPr>
        <p:spPr>
          <a:xfrm>
            <a:off x="6210300" y="5848350"/>
            <a:ext cx="114300" cy="161925"/>
          </a:xfrm>
          <a:prstGeom prst="rect">
            <a:avLst/>
          </a:prstGeom>
          <a:noFill/>
        </p:spPr>
        <p:txBody>
          <a:bodyPr wrap="none" lIns="0" tIns="0" r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tIns="9525" rIns="28575" bIns="9525" anchor="t">
            <a:spAutoFit/>
          </a:bodyPr>
          <a:lstStyle/>
          <a:p>
            <a:pPr algn="l">
              <a:lnSpc>
                <a:spcPct val="115000"/>
              </a:lnSpc>
            </a:pPr>
            <a:endParaRPr/>
          </a:p>
        </p:txBody>
      </p:sp>
      <p:sp>
        <p:nvSpPr>
          <p:cNvPr id="233" name="TextBox 232"/>
          <p:cNvSpPr txBox="1"/>
          <p:nvPr/>
        </p:nvSpPr>
        <p:spPr>
          <a:xfrm>
            <a:off x="6210300" y="6067425"/>
            <a:ext cx="114300" cy="161925"/>
          </a:xfrm>
          <a:prstGeom prst="rect">
            <a:avLst/>
          </a:prstGeom>
          <a:noFill/>
        </p:spPr>
        <p:txBody>
          <a:bodyPr wrap="none" lIns="0" tIns="0" r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tIns="9525" rIns="28575" bIns="9525" anchor="t">
            <a:spAutoFit/>
          </a:bodyPr>
          <a:lstStyle/>
          <a:p>
            <a:pPr algn="l">
              <a:lnSpc>
                <a:spcPct val="115000"/>
              </a:lnSpc>
            </a:pPr>
            <a:endParaRPr/>
          </a:p>
        </p:txBody>
      </p:sp>
      <p:sp>
        <p:nvSpPr>
          <p:cNvPr id="235" name="TextBox 23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11475188" y="20590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160488"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8989162"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9817838"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10646512" y="22876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160488"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8989162"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9817838"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10646512" y="25162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160487"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8989163"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9817837"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10646513" y="27448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160487"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8989163"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9817837"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0646513"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11475187" y="29734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160488"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8989163"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9817838" y="3202051"/>
            <a:ext cx="128699" cy="187198"/>
          </a:xfrm>
          <a:prstGeom prst="rect">
            <a:avLst/>
          </a:prstGeom>
        </p:spPr>
      </p:pic>
      <p:pic>
        <p:nvPicPr>
          <p:cNvPr id="266" name="Picture 265" descr="lock.png"/>
          <p:cNvPicPr>
            <a:picLocks noChangeAspect="1"/>
          </p:cNvPicPr>
          <p:nvPr/>
        </p:nvPicPr>
        <p:blipFill>
          <a:blip r:embed="rId4"/>
          <a:stretch>
            <a:fillRect/>
          </a:stretch>
        </p:blipFill>
        <p:spPr>
          <a:xfrm>
            <a:off x="8160488"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8989162"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9817838" y="3478276"/>
            <a:ext cx="128699" cy="187198"/>
          </a:xfrm>
          <a:prstGeom prst="rect">
            <a:avLst/>
          </a:prstGeom>
        </p:spPr>
      </p:pic>
      <p:pic>
        <p:nvPicPr>
          <p:cNvPr id="269" name="Picture 268" descr="lock.png"/>
          <p:cNvPicPr>
            <a:picLocks noChangeAspect="1"/>
          </p:cNvPicPr>
          <p:nvPr/>
        </p:nvPicPr>
        <p:blipFill>
          <a:blip r:embed="rId4"/>
          <a:stretch>
            <a:fillRect/>
          </a:stretch>
        </p:blipFill>
        <p:spPr>
          <a:xfrm>
            <a:off x="10646512" y="3478276"/>
            <a:ext cx="128699" cy="187198"/>
          </a:xfrm>
          <a:prstGeom prst="rect">
            <a:avLst/>
          </a:prstGeom>
        </p:spPr>
      </p:pic>
      <p:sp>
        <p:nvSpPr>
          <p:cNvPr id="270" name="TextBox 269"/>
          <p:cNvSpPr txBox="1"/>
          <p:nvPr/>
        </p:nvSpPr>
        <p:spPr>
          <a:xfrm>
            <a:off x="266700" y="1344930"/>
            <a:ext cx="491480" cy="186689"/>
          </a:xfrm>
          <a:prstGeom prst="rect">
            <a:avLst/>
          </a:prstGeom>
          <a:noFill/>
        </p:spPr>
        <p:txBody>
          <a:bodyPr wrap="none" lIns="0" tIns="0" rIns="0" bIns="0">
            <a:spAutoFit/>
          </a:bodyPr>
          <a:lstStyle/>
          <a:p>
            <a:r>
              <a:rPr sz="1100" b="0">
                <a:solidFill>
                  <a:srgbClr val="6B7280"/>
                </a:solidFill>
                <a:latin typeface="Calibri"/>
              </a:rPr>
              <a:t>Market</a:t>
            </a:r>
          </a:p>
        </p:txBody>
      </p:sp>
      <p:pic>
        <p:nvPicPr>
          <p:cNvPr id="271" name="Picture 270" descr="lock.png"/>
          <p:cNvPicPr>
            <a:picLocks noChangeAspect="1"/>
          </p:cNvPicPr>
          <p:nvPr/>
        </p:nvPicPr>
        <p:blipFill>
          <a:blip r:embed="rId4"/>
          <a:stretch>
            <a:fillRect/>
          </a:stretch>
        </p:blipFill>
        <p:spPr>
          <a:xfrm>
            <a:off x="706231" y="1335151"/>
            <a:ext cx="128699" cy="187198"/>
          </a:xfrm>
          <a:prstGeom prst="rect">
            <a:avLst/>
          </a:prstGeom>
        </p:spPr>
      </p:pic>
      <p:sp>
        <p:nvSpPr>
          <p:cNvPr id="272" name="TextBox 271"/>
          <p:cNvSpPr txBox="1"/>
          <p:nvPr/>
        </p:nvSpPr>
        <p:spPr>
          <a:xfrm>
            <a:off x="873727" y="1344930"/>
            <a:ext cx="1290389" cy="186689"/>
          </a:xfrm>
          <a:prstGeom prst="rect">
            <a:avLst/>
          </a:prstGeom>
          <a:noFill/>
        </p:spPr>
        <p:txBody>
          <a:bodyPr wrap="none" lIns="0" tIns="0" rIns="0" bIns="0">
            <a:spAutoFit/>
          </a:bodyPr>
          <a:lstStyle/>
          <a:p>
            <a:r>
              <a:rPr sz="1100" b="0">
                <a:solidFill>
                  <a:srgbClr val="6B7280"/>
                </a:solidFill>
                <a:latin typeface="Calibri"/>
              </a:rPr>
              <a:t>US$ Mn · Tier 1 share</a:t>
            </a:r>
          </a:p>
        </p:txBody>
      </p:sp>
      <p:pic>
        <p:nvPicPr>
          <p:cNvPr id="273" name="Picture 272" descr="lock.png"/>
          <p:cNvPicPr>
            <a:picLocks noChangeAspect="1"/>
          </p:cNvPicPr>
          <p:nvPr/>
        </p:nvPicPr>
        <p:blipFill>
          <a:blip r:embed="rId4"/>
          <a:stretch>
            <a:fillRect/>
          </a:stretch>
        </p:blipFill>
        <p:spPr>
          <a:xfrm>
            <a:off x="2112168" y="1335151"/>
            <a:ext cx="128699" cy="187198"/>
          </a:xfrm>
          <a:prstGeom prst="rect">
            <a:avLst/>
          </a:prstGeom>
        </p:spPr>
      </p:pic>
      <p:sp>
        <p:nvSpPr>
          <p:cNvPr id="274" name="TextBox 273"/>
          <p:cNvSpPr txBox="1"/>
          <p:nvPr/>
        </p:nvSpPr>
        <p:spPr>
          <a:xfrm>
            <a:off x="2279664" y="1344930"/>
            <a:ext cx="202803" cy="186689"/>
          </a:xfrm>
          <a:prstGeom prst="rect">
            <a:avLst/>
          </a:prstGeom>
          <a:noFill/>
        </p:spPr>
        <p:txBody>
          <a:bodyPr wrap="none" lIns="0" tIns="0" rIns="0" bIns="0">
            <a:spAutoFit/>
          </a:bodyPr>
          <a:lstStyle/>
          <a:p>
            <a:r>
              <a:rPr sz="1100" b="0">
                <a:solidFill>
                  <a:srgbClr val="6B7280"/>
                </a:solidFill>
                <a:latin typeface="Calibri"/>
              </a:rPr>
              <a:t>→</a:t>
            </a:r>
          </a:p>
        </p:txBody>
      </p:sp>
      <p:pic>
        <p:nvPicPr>
          <p:cNvPr id="275" name="Picture 274" descr="lock.png"/>
          <p:cNvPicPr>
            <a:picLocks noChangeAspect="1"/>
          </p:cNvPicPr>
          <p:nvPr/>
        </p:nvPicPr>
        <p:blipFill>
          <a:blip r:embed="rId4"/>
          <a:stretch>
            <a:fillRect/>
          </a:stretch>
        </p:blipFill>
        <p:spPr>
          <a:xfrm>
            <a:off x="2430519" y="1335151"/>
            <a:ext cx="128699" cy="187198"/>
          </a:xfrm>
          <a:prstGeom prst="rect">
            <a:avLst/>
          </a:prstGeom>
        </p:spPr>
      </p:pic>
      <p:sp>
        <p:nvSpPr>
          <p:cNvPr id="276" name="TextBox 275"/>
          <p:cNvSpPr txBox="1"/>
          <p:nvPr/>
        </p:nvSpPr>
        <p:spPr>
          <a:xfrm>
            <a:off x="2598014" y="1344930"/>
            <a:ext cx="528315" cy="186689"/>
          </a:xfrm>
          <a:prstGeom prst="rect">
            <a:avLst/>
          </a:prstGeom>
          <a:noFill/>
        </p:spPr>
        <p:txBody>
          <a:bodyPr wrap="none" lIns="0" tIns="0" rIns="0" bIns="0">
            <a:spAutoFit/>
          </a:bodyPr>
          <a:lstStyle/>
          <a:p>
            <a:r>
              <a:rPr sz="1100" b="0">
                <a:solidFill>
                  <a:srgbClr val="6B7280"/>
                </a:solidFill>
                <a:latin typeface="Calibri"/>
              </a:rPr>
              <a:t>by 2036</a:t>
            </a:r>
          </a:p>
        </p:txBody>
      </p:sp>
      <p:pic>
        <p:nvPicPr>
          <p:cNvPr id="277" name="Picture 276" descr="lock.png"/>
          <p:cNvPicPr>
            <a:picLocks noChangeAspect="1"/>
          </p:cNvPicPr>
          <p:nvPr/>
        </p:nvPicPr>
        <p:blipFill>
          <a:blip r:embed="rId4"/>
          <a:stretch>
            <a:fillRect/>
          </a:stretch>
        </p:blipFill>
        <p:spPr>
          <a:xfrm>
            <a:off x="1377182" y="1839976"/>
            <a:ext cx="128699" cy="187198"/>
          </a:xfrm>
          <a:prstGeom prst="rect">
            <a:avLst/>
          </a:prstGeom>
        </p:spPr>
      </p:pic>
      <p:sp>
        <p:nvSpPr>
          <p:cNvPr id="278" name="TextBox 277"/>
          <p:cNvSpPr txBox="1"/>
          <p:nvPr/>
        </p:nvSpPr>
        <p:spPr>
          <a:xfrm>
            <a:off x="1544678" y="1849755"/>
            <a:ext cx="1429543" cy="186689"/>
          </a:xfrm>
          <a:prstGeom prst="rect">
            <a:avLst/>
          </a:prstGeom>
          <a:noFill/>
        </p:spPr>
        <p:txBody>
          <a:bodyPr wrap="none" lIns="0" tIns="0" rIns="0" bIns="0">
            <a:spAutoFit/>
          </a:bodyPr>
          <a:lstStyle/>
          <a:p>
            <a:r>
              <a:rPr sz="1100" b="0">
                <a:solidFill>
                  <a:srgbClr val="FFFFFF"/>
                </a:solidFill>
                <a:latin typeface="Calibri"/>
              </a:rPr>
              <a:t>US$ Mn · 4 players · avg</a:t>
            </a:r>
          </a:p>
        </p:txBody>
      </p:sp>
      <p:pic>
        <p:nvPicPr>
          <p:cNvPr id="279" name="Picture 278" descr="lock.png"/>
          <p:cNvPicPr>
            <a:picLocks noChangeAspect="1"/>
          </p:cNvPicPr>
          <p:nvPr/>
        </p:nvPicPr>
        <p:blipFill>
          <a:blip r:embed="rId4"/>
          <a:stretch>
            <a:fillRect/>
          </a:stretch>
        </p:blipFill>
        <p:spPr>
          <a:xfrm>
            <a:off x="2922273" y="1839976"/>
            <a:ext cx="128699" cy="187198"/>
          </a:xfrm>
          <a:prstGeom prst="rect">
            <a:avLst/>
          </a:prstGeom>
        </p:spPr>
      </p:pic>
      <p:sp>
        <p:nvSpPr>
          <p:cNvPr id="280" name="TextBox 279"/>
          <p:cNvSpPr txBox="1"/>
          <p:nvPr/>
        </p:nvSpPr>
        <p:spPr>
          <a:xfrm>
            <a:off x="3089769" y="1849755"/>
            <a:ext cx="997074" cy="186689"/>
          </a:xfrm>
          <a:prstGeom prst="rect">
            <a:avLst/>
          </a:prstGeom>
          <a:noFill/>
        </p:spPr>
        <p:txBody>
          <a:bodyPr wrap="none" lIns="0" tIns="0" rIns="0" bIns="0">
            <a:spAutoFit/>
          </a:bodyPr>
          <a:lstStyle/>
          <a:p>
            <a:r>
              <a:rPr sz="1100" b="0">
                <a:solidFill>
                  <a:srgbClr val="FFFFFF"/>
                </a:solidFill>
                <a:latin typeface="Calibri"/>
              </a:rPr>
              <a:t>US$ Mn / player</a:t>
            </a:r>
          </a:p>
        </p:txBody>
      </p:sp>
      <p:pic>
        <p:nvPicPr>
          <p:cNvPr id="281" name="Picture 280" descr="lock.png"/>
          <p:cNvPicPr>
            <a:picLocks noChangeAspect="1"/>
          </p:cNvPicPr>
          <p:nvPr/>
        </p:nvPicPr>
        <p:blipFill>
          <a:blip r:embed="rId4"/>
          <a:stretch>
            <a:fillRect/>
          </a:stretch>
        </p:blipFill>
        <p:spPr>
          <a:xfrm>
            <a:off x="1377182" y="2697226"/>
            <a:ext cx="128699" cy="187198"/>
          </a:xfrm>
          <a:prstGeom prst="rect">
            <a:avLst/>
          </a:prstGeom>
        </p:spPr>
      </p:pic>
      <p:sp>
        <p:nvSpPr>
          <p:cNvPr id="282" name="TextBox 281"/>
          <p:cNvSpPr txBox="1"/>
          <p:nvPr/>
        </p:nvSpPr>
        <p:spPr>
          <a:xfrm>
            <a:off x="1544678" y="2707005"/>
            <a:ext cx="1429543" cy="186689"/>
          </a:xfrm>
          <a:prstGeom prst="rect">
            <a:avLst/>
          </a:prstGeom>
          <a:noFill/>
        </p:spPr>
        <p:txBody>
          <a:bodyPr wrap="none" lIns="0" tIns="0" rIns="0" bIns="0">
            <a:spAutoFit/>
          </a:bodyPr>
          <a:lstStyle/>
          <a:p>
            <a:r>
              <a:rPr sz="1100" b="0">
                <a:solidFill>
                  <a:srgbClr val="FFFFFF"/>
                </a:solidFill>
                <a:latin typeface="Calibri"/>
              </a:rPr>
              <a:t>US$ Mn · 2 players · avg</a:t>
            </a:r>
          </a:p>
        </p:txBody>
      </p:sp>
      <p:pic>
        <p:nvPicPr>
          <p:cNvPr id="283" name="Picture 282" descr="lock.png"/>
          <p:cNvPicPr>
            <a:picLocks noChangeAspect="1"/>
          </p:cNvPicPr>
          <p:nvPr/>
        </p:nvPicPr>
        <p:blipFill>
          <a:blip r:embed="rId4"/>
          <a:stretch>
            <a:fillRect/>
          </a:stretch>
        </p:blipFill>
        <p:spPr>
          <a:xfrm>
            <a:off x="2922273" y="2697226"/>
            <a:ext cx="128699" cy="187198"/>
          </a:xfrm>
          <a:prstGeom prst="rect">
            <a:avLst/>
          </a:prstGeom>
        </p:spPr>
      </p:pic>
      <p:sp>
        <p:nvSpPr>
          <p:cNvPr id="284" name="TextBox 283"/>
          <p:cNvSpPr txBox="1"/>
          <p:nvPr/>
        </p:nvSpPr>
        <p:spPr>
          <a:xfrm>
            <a:off x="3089769" y="2707005"/>
            <a:ext cx="997074" cy="186689"/>
          </a:xfrm>
          <a:prstGeom prst="rect">
            <a:avLst/>
          </a:prstGeom>
          <a:noFill/>
        </p:spPr>
        <p:txBody>
          <a:bodyPr wrap="none" lIns="0" tIns="0" rIns="0" bIns="0">
            <a:spAutoFit/>
          </a:bodyPr>
          <a:lstStyle/>
          <a:p>
            <a:r>
              <a:rPr sz="1100" b="0">
                <a:solidFill>
                  <a:srgbClr val="FFFFFF"/>
                </a:solidFill>
                <a:latin typeface="Calibri"/>
              </a:rPr>
              <a:t>US$ Mn / player</a:t>
            </a:r>
          </a:p>
        </p:txBody>
      </p:sp>
      <p:pic>
        <p:nvPicPr>
          <p:cNvPr id="285" name="Picture 284" descr="lock.png"/>
          <p:cNvPicPr>
            <a:picLocks noChangeAspect="1"/>
          </p:cNvPicPr>
          <p:nvPr/>
        </p:nvPicPr>
        <p:blipFill>
          <a:blip r:embed="rId4"/>
          <a:stretch>
            <a:fillRect/>
          </a:stretch>
        </p:blipFill>
        <p:spPr>
          <a:xfrm>
            <a:off x="1377182" y="3554476"/>
            <a:ext cx="128699" cy="187198"/>
          </a:xfrm>
          <a:prstGeom prst="rect">
            <a:avLst/>
          </a:prstGeom>
        </p:spPr>
      </p:pic>
      <p:sp>
        <p:nvSpPr>
          <p:cNvPr id="286" name="TextBox 285"/>
          <p:cNvSpPr txBox="1"/>
          <p:nvPr/>
        </p:nvSpPr>
        <p:spPr>
          <a:xfrm>
            <a:off x="1544678" y="3564255"/>
            <a:ext cx="1429543" cy="186689"/>
          </a:xfrm>
          <a:prstGeom prst="rect">
            <a:avLst/>
          </a:prstGeom>
          <a:noFill/>
        </p:spPr>
        <p:txBody>
          <a:bodyPr wrap="none" lIns="0" tIns="0" rIns="0" bIns="0">
            <a:spAutoFit/>
          </a:bodyPr>
          <a:lstStyle/>
          <a:p>
            <a:r>
              <a:rPr sz="1100" b="0">
                <a:solidFill>
                  <a:srgbClr val="FFFFFF"/>
                </a:solidFill>
                <a:latin typeface="Calibri"/>
              </a:rPr>
              <a:t>US$ Mn · 4 players · avg</a:t>
            </a:r>
          </a:p>
        </p:txBody>
      </p:sp>
      <p:pic>
        <p:nvPicPr>
          <p:cNvPr id="287" name="Picture 286" descr="lock.png"/>
          <p:cNvPicPr>
            <a:picLocks noChangeAspect="1"/>
          </p:cNvPicPr>
          <p:nvPr/>
        </p:nvPicPr>
        <p:blipFill>
          <a:blip r:embed="rId4"/>
          <a:stretch>
            <a:fillRect/>
          </a:stretch>
        </p:blipFill>
        <p:spPr>
          <a:xfrm>
            <a:off x="2922273" y="3554476"/>
            <a:ext cx="128699" cy="187198"/>
          </a:xfrm>
          <a:prstGeom prst="rect">
            <a:avLst/>
          </a:prstGeom>
        </p:spPr>
      </p:pic>
      <p:sp>
        <p:nvSpPr>
          <p:cNvPr id="288" name="TextBox 287"/>
          <p:cNvSpPr txBox="1"/>
          <p:nvPr/>
        </p:nvSpPr>
        <p:spPr>
          <a:xfrm>
            <a:off x="3089769" y="3564255"/>
            <a:ext cx="997074" cy="186689"/>
          </a:xfrm>
          <a:prstGeom prst="rect">
            <a:avLst/>
          </a:prstGeom>
          <a:noFill/>
        </p:spPr>
        <p:txBody>
          <a:bodyPr wrap="none" lIns="0" tIns="0" rIns="0" bIns="0">
            <a:spAutoFit/>
          </a:bodyPr>
          <a:lstStyle/>
          <a:p>
            <a:r>
              <a:rPr sz="1100" b="0">
                <a:solidFill>
                  <a:srgbClr val="FFFFFF"/>
                </a:solidFill>
                <a:latin typeface="Calibri"/>
              </a:rPr>
              <a:t>US$ Mn / player</a:t>
            </a:r>
          </a:p>
        </p:txBody>
      </p:sp>
      <p:pic>
        <p:nvPicPr>
          <p:cNvPr id="289" name="Picture 288" descr="lock.png"/>
          <p:cNvPicPr>
            <a:picLocks noChangeAspect="1"/>
          </p:cNvPicPr>
          <p:nvPr/>
        </p:nvPicPr>
        <p:blipFill>
          <a:blip r:embed="rId4"/>
          <a:stretch>
            <a:fillRect/>
          </a:stretch>
        </p:blipFill>
        <p:spPr>
          <a:xfrm>
            <a:off x="1377182" y="4411726"/>
            <a:ext cx="128699" cy="187198"/>
          </a:xfrm>
          <a:prstGeom prst="rect">
            <a:avLst/>
          </a:prstGeom>
        </p:spPr>
      </p:pic>
      <p:sp>
        <p:nvSpPr>
          <p:cNvPr id="290" name="TextBox 289"/>
          <p:cNvSpPr txBox="1"/>
          <p:nvPr/>
        </p:nvSpPr>
        <p:spPr>
          <a:xfrm>
            <a:off x="1544678" y="4421505"/>
            <a:ext cx="1247006" cy="186689"/>
          </a:xfrm>
          <a:prstGeom prst="rect">
            <a:avLst/>
          </a:prstGeom>
          <a:noFill/>
        </p:spPr>
        <p:txBody>
          <a:bodyPr wrap="none" lIns="0" tIns="0" rIns="0" bIns="0">
            <a:spAutoFit/>
          </a:bodyPr>
          <a:lstStyle/>
          <a:p>
            <a:r>
              <a:rPr sz="1100" b="0">
                <a:solidFill>
                  <a:srgbClr val="14213D"/>
                </a:solidFill>
                <a:latin typeface="Calibri"/>
              </a:rPr>
              <a:t>US$ Mn · – · long tail</a:t>
            </a:r>
          </a:p>
        </p:txBody>
      </p:sp>
      <p:sp>
        <p:nvSpPr>
          <p:cNvPr id="291" name="TextBox 290"/>
          <p:cNvSpPr txBox="1"/>
          <p:nvPr/>
        </p:nvSpPr>
        <p:spPr>
          <a:xfrm>
            <a:off x="1241169" y="5802630"/>
            <a:ext cx="493662" cy="186689"/>
          </a:xfrm>
          <a:prstGeom prst="rect">
            <a:avLst/>
          </a:prstGeom>
          <a:noFill/>
        </p:spPr>
        <p:txBody>
          <a:bodyPr wrap="none" lIns="0" tIns="0" rIns="0" bIns="0">
            <a:spAutoFit/>
          </a:bodyPr>
          <a:lstStyle/>
          <a:p>
            <a:r>
              <a:rPr sz="1100" b="1">
                <a:solidFill>
                  <a:srgbClr val="2E7D32"/>
                </a:solidFill>
                <a:latin typeface="Calibri"/>
              </a:rPr>
              <a:t>▲</a:t>
            </a:r>
            <a:r>
              <a:rPr sz="1100" b="1">
                <a:solidFill>
                  <a:srgbClr val="14213D"/>
                </a:solidFill>
                <a:latin typeface="Calibri"/>
              </a:rPr>
              <a:t> HHI =</a:t>
            </a:r>
          </a:p>
        </p:txBody>
      </p:sp>
      <p:pic>
        <p:nvPicPr>
          <p:cNvPr id="292" name="Picture 291" descr="lock.png"/>
          <p:cNvPicPr>
            <a:picLocks noChangeAspect="1"/>
          </p:cNvPicPr>
          <p:nvPr/>
        </p:nvPicPr>
        <p:blipFill>
          <a:blip r:embed="rId4"/>
          <a:stretch>
            <a:fillRect/>
          </a:stretch>
        </p:blipFill>
        <p:spPr>
          <a:xfrm>
            <a:off x="1682883" y="5792851"/>
            <a:ext cx="128699" cy="187198"/>
          </a:xfrm>
          <a:prstGeom prst="rect">
            <a:avLst/>
          </a:prstGeom>
        </p:spPr>
      </p:pic>
      <p:sp>
        <p:nvSpPr>
          <p:cNvPr id="293" name="TextBox 292"/>
          <p:cNvSpPr txBox="1"/>
          <p:nvPr/>
        </p:nvSpPr>
        <p:spPr>
          <a:xfrm>
            <a:off x="876202" y="6107430"/>
            <a:ext cx="400893" cy="186689"/>
          </a:xfrm>
          <a:prstGeom prst="rect">
            <a:avLst/>
          </a:prstGeom>
          <a:noFill/>
        </p:spPr>
        <p:txBody>
          <a:bodyPr wrap="none" lIns="0" tIns="0" rIns="0" bIns="0">
            <a:spAutoFit/>
          </a:bodyPr>
          <a:lstStyle/>
          <a:p>
            <a:r>
              <a:rPr sz="1100" b="1">
                <a:solidFill>
                  <a:srgbClr val="14213D"/>
                </a:solidFill>
                <a:latin typeface="Calibri"/>
              </a:rPr>
              <a:t>CR4 =</a:t>
            </a:r>
          </a:p>
        </p:txBody>
      </p:sp>
      <p:pic>
        <p:nvPicPr>
          <p:cNvPr id="294" name="Picture 293" descr="lock.png"/>
          <p:cNvPicPr>
            <a:picLocks noChangeAspect="1"/>
          </p:cNvPicPr>
          <p:nvPr/>
        </p:nvPicPr>
        <p:blipFill>
          <a:blip r:embed="rId4"/>
          <a:stretch>
            <a:fillRect/>
          </a:stretch>
        </p:blipFill>
        <p:spPr>
          <a:xfrm>
            <a:off x="1225147" y="6097651"/>
            <a:ext cx="128699" cy="187198"/>
          </a:xfrm>
          <a:prstGeom prst="rect">
            <a:avLst/>
          </a:prstGeom>
        </p:spPr>
      </p:pic>
      <p:sp>
        <p:nvSpPr>
          <p:cNvPr id="295" name="TextBox 294"/>
          <p:cNvSpPr txBox="1"/>
          <p:nvPr/>
        </p:nvSpPr>
        <p:spPr>
          <a:xfrm>
            <a:off x="1392643" y="6107430"/>
            <a:ext cx="1068288" cy="186689"/>
          </a:xfrm>
          <a:prstGeom prst="rect">
            <a:avLst/>
          </a:prstGeom>
          <a:noFill/>
        </p:spPr>
        <p:txBody>
          <a:bodyPr wrap="none" lIns="0" tIns="0" rIns="0" bIns="0">
            <a:spAutoFit/>
          </a:bodyPr>
          <a:lstStyle/>
          <a:p>
            <a:r>
              <a:rPr sz="1100" b="1">
                <a:solidFill>
                  <a:srgbClr val="14213D"/>
                </a:solidFill>
                <a:latin typeface="Calibri"/>
              </a:rPr>
              <a:t>· Tier 1 : Others =</a:t>
            </a:r>
          </a:p>
        </p:txBody>
      </p:sp>
      <p:pic>
        <p:nvPicPr>
          <p:cNvPr id="296" name="Picture 295" descr="lock.png"/>
          <p:cNvPicPr>
            <a:picLocks noChangeAspect="1"/>
          </p:cNvPicPr>
          <p:nvPr/>
        </p:nvPicPr>
        <p:blipFill>
          <a:blip r:embed="rId4"/>
          <a:stretch>
            <a:fillRect/>
          </a:stretch>
        </p:blipFill>
        <p:spPr>
          <a:xfrm>
            <a:off x="2408983" y="6097651"/>
            <a:ext cx="128699" cy="187198"/>
          </a:xfrm>
          <a:prstGeom prst="rect">
            <a:avLst/>
          </a:prstGeom>
        </p:spPr>
      </p:pic>
      <p:sp>
        <p:nvSpPr>
          <p:cNvPr id="297" name="TextBox 296"/>
          <p:cNvSpPr txBox="1"/>
          <p:nvPr/>
        </p:nvSpPr>
        <p:spPr>
          <a:xfrm>
            <a:off x="2576478" y="6107430"/>
            <a:ext cx="1397620" cy="186689"/>
          </a:xfrm>
          <a:prstGeom prst="rect">
            <a:avLst/>
          </a:prstGeom>
          <a:noFill/>
        </p:spPr>
        <p:txBody>
          <a:bodyPr wrap="none" lIns="0" tIns="0" rIns="0" bIns="0">
            <a:spAutoFit/>
          </a:bodyPr>
          <a:lstStyle/>
          <a:p>
            <a:r>
              <a:rPr sz="1100" b="1">
                <a:solidFill>
                  <a:srgbClr val="14213D"/>
                </a:solidFill>
                <a:latin typeface="Calibri"/>
              </a:rPr>
              <a:t>: 1 · Top-player share =</a:t>
            </a:r>
          </a:p>
        </p:txBody>
      </p:sp>
      <p:pic>
        <p:nvPicPr>
          <p:cNvPr id="298" name="Picture 297" descr="lock.png"/>
          <p:cNvPicPr>
            <a:picLocks noChangeAspect="1"/>
          </p:cNvPicPr>
          <p:nvPr/>
        </p:nvPicPr>
        <p:blipFill>
          <a:blip r:embed="rId4"/>
          <a:stretch>
            <a:fillRect/>
          </a:stretch>
        </p:blipFill>
        <p:spPr>
          <a:xfrm>
            <a:off x="3922150" y="6097651"/>
            <a:ext cx="128699" cy="187198"/>
          </a:xfrm>
          <a:prstGeom prst="rect">
            <a:avLst/>
          </a:prstGeom>
        </p:spPr>
      </p:pic>
      <p:sp>
        <p:nvSpPr>
          <p:cNvPr id="299" name="TextBox 298"/>
          <p:cNvSpPr txBox="1"/>
          <p:nvPr/>
        </p:nvSpPr>
        <p:spPr>
          <a:xfrm>
            <a:off x="4089646" y="6107430"/>
            <a:ext cx="1206351" cy="186689"/>
          </a:xfrm>
          <a:prstGeom prst="rect">
            <a:avLst/>
          </a:prstGeom>
          <a:noFill/>
        </p:spPr>
        <p:txBody>
          <a:bodyPr wrap="none" lIns="0" tIns="0" rIns="0" bIns="0">
            <a:spAutoFit/>
          </a:bodyPr>
          <a:lstStyle/>
          <a:p>
            <a:r>
              <a:rPr sz="1100" b="1">
                <a:solidFill>
                  <a:srgbClr val="14213D"/>
                </a:solidFill>
                <a:latin typeface="Calibri"/>
              </a:rPr>
              <a:t>· Class: Fragmented</a:t>
            </a:r>
          </a:p>
        </p:txBody>
      </p:sp>
      <p:sp>
        <p:nvSpPr>
          <p:cNvPr id="300" name="TextBox 299"/>
          <p:cNvSpPr txBox="1"/>
          <p:nvPr/>
        </p:nvSpPr>
        <p:spPr>
          <a:xfrm>
            <a:off x="6372225" y="5476875"/>
            <a:ext cx="471561" cy="186689"/>
          </a:xfrm>
          <a:prstGeom prst="rect">
            <a:avLst/>
          </a:prstGeom>
          <a:noFill/>
        </p:spPr>
        <p:txBody>
          <a:bodyPr wrap="none" lIns="0" tIns="0" rIns="0" bIns="0">
            <a:spAutoFit/>
          </a:bodyPr>
          <a:lstStyle/>
          <a:p>
            <a:r>
              <a:rPr sz="1100" b="0">
                <a:solidFill>
                  <a:srgbClr val="14213D"/>
                </a:solidFill>
                <a:latin typeface="Calibri"/>
              </a:rPr>
              <a:t>Tier 1 (</a:t>
            </a:r>
          </a:p>
        </p:txBody>
      </p:sp>
      <p:pic>
        <p:nvPicPr>
          <p:cNvPr id="301" name="Picture 300" descr="lock.png"/>
          <p:cNvPicPr>
            <a:picLocks noChangeAspect="1"/>
          </p:cNvPicPr>
          <p:nvPr/>
        </p:nvPicPr>
        <p:blipFill>
          <a:blip r:embed="rId4"/>
          <a:stretch>
            <a:fillRect/>
          </a:stretch>
        </p:blipFill>
        <p:spPr>
          <a:xfrm>
            <a:off x="6791838" y="5467095"/>
            <a:ext cx="128699" cy="187198"/>
          </a:xfrm>
          <a:prstGeom prst="rect">
            <a:avLst/>
          </a:prstGeom>
        </p:spPr>
      </p:pic>
      <p:sp>
        <p:nvSpPr>
          <p:cNvPr id="302" name="TextBox 301"/>
          <p:cNvSpPr txBox="1"/>
          <p:nvPr/>
        </p:nvSpPr>
        <p:spPr>
          <a:xfrm>
            <a:off x="6959334" y="5476875"/>
            <a:ext cx="2550145" cy="186689"/>
          </a:xfrm>
          <a:prstGeom prst="rect">
            <a:avLst/>
          </a:prstGeom>
          <a:noFill/>
        </p:spPr>
        <p:txBody>
          <a:bodyPr wrap="none" lIns="0" tIns="0" rIns="0" bIns="0">
            <a:spAutoFit/>
          </a:bodyPr>
          <a:lstStyle/>
          <a:p>
            <a:r>
              <a:rPr sz="1100" b="0">
                <a:solidFill>
                  <a:srgbClr val="14213D"/>
                </a:solidFill>
                <a:latin typeface="Calibri"/>
              </a:rPr>
              <a:t>) holds the largest single block of value on a</a:t>
            </a:r>
          </a:p>
        </p:txBody>
      </p:sp>
      <p:pic>
        <p:nvPicPr>
          <p:cNvPr id="303" name="Picture 302" descr="lock.png"/>
          <p:cNvPicPr>
            <a:picLocks noChangeAspect="1"/>
          </p:cNvPicPr>
          <p:nvPr/>
        </p:nvPicPr>
        <p:blipFill>
          <a:blip r:embed="rId4"/>
          <a:stretch>
            <a:fillRect/>
          </a:stretch>
        </p:blipFill>
        <p:spPr>
          <a:xfrm>
            <a:off x="9457531" y="5467095"/>
            <a:ext cx="128699" cy="187198"/>
          </a:xfrm>
          <a:prstGeom prst="rect">
            <a:avLst/>
          </a:prstGeom>
        </p:spPr>
      </p:pic>
      <p:sp>
        <p:nvSpPr>
          <p:cNvPr id="304" name="TextBox 303"/>
          <p:cNvSpPr txBox="1"/>
          <p:nvPr/>
        </p:nvSpPr>
        <p:spPr>
          <a:xfrm>
            <a:off x="9625026" y="5476875"/>
            <a:ext cx="1259830" cy="186689"/>
          </a:xfrm>
          <a:prstGeom prst="rect">
            <a:avLst/>
          </a:prstGeom>
          <a:noFill/>
        </p:spPr>
        <p:txBody>
          <a:bodyPr wrap="none" lIns="0" tIns="0" rIns="0" bIns="0">
            <a:spAutoFit/>
          </a:bodyPr>
          <a:lstStyle/>
          <a:p>
            <a:r>
              <a:rPr sz="1100" b="0">
                <a:solidFill>
                  <a:srgbClr val="14213D"/>
                </a:solidFill>
                <a:latin typeface="Calibri"/>
              </a:rPr>
              <a:t>US$ Mn base; CR4 of</a:t>
            </a:r>
          </a:p>
        </p:txBody>
      </p:sp>
      <p:pic>
        <p:nvPicPr>
          <p:cNvPr id="305" name="Picture 304" descr="lock.png"/>
          <p:cNvPicPr>
            <a:picLocks noChangeAspect="1"/>
          </p:cNvPicPr>
          <p:nvPr/>
        </p:nvPicPr>
        <p:blipFill>
          <a:blip r:embed="rId4"/>
          <a:stretch>
            <a:fillRect/>
          </a:stretch>
        </p:blipFill>
        <p:spPr>
          <a:xfrm>
            <a:off x="10832908" y="5467095"/>
            <a:ext cx="128699" cy="187198"/>
          </a:xfrm>
          <a:prstGeom prst="rect">
            <a:avLst/>
          </a:prstGeom>
        </p:spPr>
      </p:pic>
      <p:sp>
        <p:nvSpPr>
          <p:cNvPr id="306" name="TextBox 305"/>
          <p:cNvSpPr txBox="1"/>
          <p:nvPr/>
        </p:nvSpPr>
        <p:spPr>
          <a:xfrm>
            <a:off x="11000404" y="5476875"/>
            <a:ext cx="678656" cy="186689"/>
          </a:xfrm>
          <a:prstGeom prst="rect">
            <a:avLst/>
          </a:prstGeom>
          <a:noFill/>
        </p:spPr>
        <p:txBody>
          <a:bodyPr wrap="none" lIns="0" tIns="0" rIns="0" bIns="0">
            <a:spAutoFit/>
          </a:bodyPr>
          <a:lstStyle/>
          <a:p>
            <a:r>
              <a:rPr sz="1100" b="0">
                <a:solidFill>
                  <a:srgbClr val="14213D"/>
                </a:solidFill>
                <a:latin typeface="Calibri"/>
              </a:rPr>
              <a:t>and HHI of</a:t>
            </a:r>
          </a:p>
        </p:txBody>
      </p:sp>
      <p:pic>
        <p:nvPicPr>
          <p:cNvPr id="307" name="Picture 306" descr="lock.png"/>
          <p:cNvPicPr>
            <a:picLocks noChangeAspect="1"/>
          </p:cNvPicPr>
          <p:nvPr/>
        </p:nvPicPr>
        <p:blipFill>
          <a:blip r:embed="rId4"/>
          <a:stretch>
            <a:fillRect/>
          </a:stretch>
        </p:blipFill>
        <p:spPr>
          <a:xfrm>
            <a:off x="6358757" y="5634735"/>
            <a:ext cx="128699" cy="187198"/>
          </a:xfrm>
          <a:prstGeom prst="rect">
            <a:avLst/>
          </a:prstGeom>
        </p:spPr>
      </p:pic>
      <p:sp>
        <p:nvSpPr>
          <p:cNvPr id="308" name="TextBox 307"/>
          <p:cNvSpPr txBox="1"/>
          <p:nvPr/>
        </p:nvSpPr>
        <p:spPr>
          <a:xfrm>
            <a:off x="6526253" y="5644515"/>
            <a:ext cx="2030635" cy="186689"/>
          </a:xfrm>
          <a:prstGeom prst="rect">
            <a:avLst/>
          </a:prstGeom>
          <a:noFill/>
        </p:spPr>
        <p:txBody>
          <a:bodyPr wrap="none" lIns="0" tIns="0" rIns="0" bIns="0">
            <a:spAutoFit/>
          </a:bodyPr>
          <a:lstStyle/>
          <a:p>
            <a:r>
              <a:rPr sz="1100" b="0">
                <a:solidFill>
                  <a:srgbClr val="14213D"/>
                </a:solidFill>
                <a:latin typeface="Calibri"/>
              </a:rPr>
              <a:t>classify the market as fragmented.</a:t>
            </a:r>
          </a:p>
        </p:txBody>
      </p:sp>
      <p:sp>
        <p:nvSpPr>
          <p:cNvPr id="309" name="TextBox 308"/>
          <p:cNvSpPr txBox="1"/>
          <p:nvPr/>
        </p:nvSpPr>
        <p:spPr>
          <a:xfrm>
            <a:off x="6372225" y="5857875"/>
            <a:ext cx="1331044" cy="186689"/>
          </a:xfrm>
          <a:prstGeom prst="rect">
            <a:avLst/>
          </a:prstGeom>
          <a:noFill/>
        </p:spPr>
        <p:txBody>
          <a:bodyPr wrap="none" lIns="0" tIns="0" rIns="0" bIns="0">
            <a:spAutoFit/>
          </a:bodyPr>
          <a:lstStyle/>
          <a:p>
            <a:r>
              <a:rPr sz="1100" b="0">
                <a:solidFill>
                  <a:srgbClr val="14213D"/>
                </a:solidFill>
                <a:latin typeface="Calibri"/>
              </a:rPr>
              <a:t>Tier 2 grows fastest at</a:t>
            </a:r>
          </a:p>
        </p:txBody>
      </p:sp>
      <p:pic>
        <p:nvPicPr>
          <p:cNvPr id="310" name="Picture 309" descr="lock.png"/>
          <p:cNvPicPr>
            <a:picLocks noChangeAspect="1"/>
          </p:cNvPicPr>
          <p:nvPr/>
        </p:nvPicPr>
        <p:blipFill>
          <a:blip r:embed="rId4"/>
          <a:stretch>
            <a:fillRect/>
          </a:stretch>
        </p:blipFill>
        <p:spPr>
          <a:xfrm>
            <a:off x="7651320" y="5848095"/>
            <a:ext cx="128699" cy="187198"/>
          </a:xfrm>
          <a:prstGeom prst="rect">
            <a:avLst/>
          </a:prstGeom>
        </p:spPr>
      </p:pic>
      <p:sp>
        <p:nvSpPr>
          <p:cNvPr id="311" name="TextBox 310"/>
          <p:cNvSpPr txBox="1"/>
          <p:nvPr/>
        </p:nvSpPr>
        <p:spPr>
          <a:xfrm>
            <a:off x="7818816" y="5857875"/>
            <a:ext cx="982868" cy="186689"/>
          </a:xfrm>
          <a:prstGeom prst="rect">
            <a:avLst/>
          </a:prstGeom>
          <a:noFill/>
        </p:spPr>
        <p:txBody>
          <a:bodyPr wrap="none" lIns="0" tIns="0" rIns="0" bIns="0">
            <a:spAutoFit/>
          </a:bodyPr>
          <a:lstStyle/>
          <a:p>
            <a:r>
              <a:rPr sz="1100" b="0">
                <a:solidFill>
                  <a:srgbClr val="14213D"/>
                </a:solidFill>
                <a:latin typeface="Calibri"/>
              </a:rPr>
              <a:t>CAGR, moving +</a:t>
            </a:r>
          </a:p>
        </p:txBody>
      </p:sp>
      <p:pic>
        <p:nvPicPr>
          <p:cNvPr id="312" name="Picture 311" descr="lock.png"/>
          <p:cNvPicPr>
            <a:picLocks noChangeAspect="1"/>
          </p:cNvPicPr>
          <p:nvPr/>
        </p:nvPicPr>
        <p:blipFill>
          <a:blip r:embed="rId4"/>
          <a:stretch>
            <a:fillRect/>
          </a:stretch>
        </p:blipFill>
        <p:spPr>
          <a:xfrm>
            <a:off x="8749737" y="5848095"/>
            <a:ext cx="128699" cy="187198"/>
          </a:xfrm>
          <a:prstGeom prst="rect">
            <a:avLst/>
          </a:prstGeom>
        </p:spPr>
      </p:pic>
      <p:sp>
        <p:nvSpPr>
          <p:cNvPr id="313" name="TextBox 312"/>
          <p:cNvSpPr txBox="1"/>
          <p:nvPr/>
        </p:nvSpPr>
        <p:spPr>
          <a:xfrm>
            <a:off x="8917232" y="5857875"/>
            <a:ext cx="1234727" cy="186689"/>
          </a:xfrm>
          <a:prstGeom prst="rect">
            <a:avLst/>
          </a:prstGeom>
          <a:noFill/>
        </p:spPr>
        <p:txBody>
          <a:bodyPr wrap="none" lIns="0" tIns="0" rIns="0" bIns="0">
            <a:spAutoFit/>
          </a:bodyPr>
          <a:lstStyle/>
          <a:p>
            <a:r>
              <a:rPr sz="1100" b="0">
                <a:solidFill>
                  <a:srgbClr val="14213D"/>
                </a:solidFill>
                <a:latin typeface="Calibri"/>
              </a:rPr>
              <a:t>pp of share by 2036.</a:t>
            </a:r>
          </a:p>
        </p:txBody>
      </p:sp>
      <p:sp>
        <p:nvSpPr>
          <p:cNvPr id="314" name="TextBox 313"/>
          <p:cNvSpPr txBox="1"/>
          <p:nvPr/>
        </p:nvSpPr>
        <p:spPr>
          <a:xfrm>
            <a:off x="6372225" y="6076950"/>
            <a:ext cx="2161604" cy="186689"/>
          </a:xfrm>
          <a:prstGeom prst="rect">
            <a:avLst/>
          </a:prstGeom>
          <a:noFill/>
        </p:spPr>
        <p:txBody>
          <a:bodyPr wrap="none" lIns="0" tIns="0" rIns="0" bIns="0">
            <a:spAutoFit/>
          </a:bodyPr>
          <a:lstStyle/>
          <a:p>
            <a:r>
              <a:rPr sz="1100" b="0">
                <a:solidFill>
                  <a:srgbClr val="14213D"/>
                </a:solidFill>
                <a:latin typeface="Calibri"/>
              </a:rPr>
              <a:t>Tier 3 and the long tail together hold</a:t>
            </a:r>
          </a:p>
        </p:txBody>
      </p:sp>
      <p:pic>
        <p:nvPicPr>
          <p:cNvPr id="315" name="Picture 314" descr="lock.png"/>
          <p:cNvPicPr>
            <a:picLocks noChangeAspect="1"/>
          </p:cNvPicPr>
          <p:nvPr/>
        </p:nvPicPr>
        <p:blipFill>
          <a:blip r:embed="rId4"/>
          <a:stretch>
            <a:fillRect/>
          </a:stretch>
        </p:blipFill>
        <p:spPr>
          <a:xfrm>
            <a:off x="8481881" y="6067170"/>
            <a:ext cx="128699" cy="187198"/>
          </a:xfrm>
          <a:prstGeom prst="rect">
            <a:avLst/>
          </a:prstGeom>
        </p:spPr>
      </p:pic>
      <p:sp>
        <p:nvSpPr>
          <p:cNvPr id="316" name="TextBox 315"/>
          <p:cNvSpPr txBox="1"/>
          <p:nvPr/>
        </p:nvSpPr>
        <p:spPr>
          <a:xfrm>
            <a:off x="8649376" y="6076950"/>
            <a:ext cx="2127498" cy="186689"/>
          </a:xfrm>
          <a:prstGeom prst="rect">
            <a:avLst/>
          </a:prstGeom>
          <a:noFill/>
        </p:spPr>
        <p:txBody>
          <a:bodyPr wrap="none" lIns="0" tIns="0" rIns="0" bIns="0">
            <a:spAutoFit/>
          </a:bodyPr>
          <a:lstStyle/>
          <a:p>
            <a:r>
              <a:rPr sz="1100" b="0">
                <a:solidFill>
                  <a:srgbClr val="14213D"/>
                </a:solidFill>
                <a:latin typeface="Calibri"/>
              </a:rPr>
              <a:t>of value; the average Tier 3 player is</a:t>
            </a:r>
          </a:p>
        </p:txBody>
      </p:sp>
      <p:pic>
        <p:nvPicPr>
          <p:cNvPr id="317" name="Picture 316" descr="lock.png"/>
          <p:cNvPicPr>
            <a:picLocks noChangeAspect="1"/>
          </p:cNvPicPr>
          <p:nvPr/>
        </p:nvPicPr>
        <p:blipFill>
          <a:blip r:embed="rId4"/>
          <a:stretch>
            <a:fillRect/>
          </a:stretch>
        </p:blipFill>
        <p:spPr>
          <a:xfrm>
            <a:off x="10724926" y="6067170"/>
            <a:ext cx="128699" cy="187198"/>
          </a:xfrm>
          <a:prstGeom prst="rect">
            <a:avLst/>
          </a:prstGeom>
        </p:spPr>
      </p:pic>
      <p:sp>
        <p:nvSpPr>
          <p:cNvPr id="318" name="TextBox 317"/>
          <p:cNvSpPr txBox="1"/>
          <p:nvPr/>
        </p:nvSpPr>
        <p:spPr>
          <a:xfrm>
            <a:off x="10892422" y="6076950"/>
            <a:ext cx="876473" cy="186689"/>
          </a:xfrm>
          <a:prstGeom prst="rect">
            <a:avLst/>
          </a:prstGeom>
          <a:noFill/>
        </p:spPr>
        <p:txBody>
          <a:bodyPr wrap="none" lIns="0" tIns="0" rIns="0" bIns="0">
            <a:spAutoFit/>
          </a:bodyPr>
          <a:lstStyle/>
          <a:p>
            <a:r>
              <a:rPr sz="1100" b="0">
                <a:solidFill>
                  <a:srgbClr val="14213D"/>
                </a:solidFill>
                <a:latin typeface="Calibri"/>
              </a:rPr>
              <a:t>x smaller than</a:t>
            </a:r>
          </a:p>
        </p:txBody>
      </p:sp>
      <p:sp>
        <p:nvSpPr>
          <p:cNvPr id="319" name="TextBox 318"/>
          <p:cNvSpPr txBox="1"/>
          <p:nvPr/>
        </p:nvSpPr>
        <p:spPr>
          <a:xfrm>
            <a:off x="6372225" y="6244590"/>
            <a:ext cx="1020539" cy="186689"/>
          </a:xfrm>
          <a:prstGeom prst="rect">
            <a:avLst/>
          </a:prstGeom>
          <a:noFill/>
        </p:spPr>
        <p:txBody>
          <a:bodyPr wrap="none" lIns="0" tIns="0" rIns="0" bIns="0">
            <a:spAutoFit/>
          </a:bodyPr>
          <a:lstStyle/>
          <a:p>
            <a:r>
              <a:rPr sz="1100" b="0">
                <a:solidFill>
                  <a:srgbClr val="14213D"/>
                </a:solidFill>
                <a:latin typeface="Calibri"/>
              </a:rPr>
              <a:t>a Tier 1 supplier.</a:t>
            </a:r>
          </a:p>
        </p:txBody>
      </p:sp>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Industry Structure Landscape – Corrugated Partition Market, Global 2026 (2/2)</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 name="TextBox 10"/>
          <p:cNvSpPr txBox="1"/>
          <p:nvPr/>
        </p:nvSpPr>
        <p:spPr>
          <a:xfrm>
            <a:off x="238125" y="1104900"/>
            <a:ext cx="11715750" cy="209550"/>
          </a:xfrm>
          <a:prstGeom prst="rect">
            <a:avLst/>
          </a:prstGeom>
          <a:noFill/>
        </p:spPr>
        <p:txBody>
          <a:bodyPr wrap="square" lIns="28575" tIns="9525" rIns="2857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57175" y="1447800"/>
            <a:ext cx="1905000" cy="209550"/>
          </a:xfrm>
          <a:prstGeom prst="rect">
            <a:avLst/>
          </a:prstGeom>
          <a:noFill/>
        </p:spPr>
        <p:txBody>
          <a:bodyPr wrap="square" lIns="28575" tIns="9525" rIns="2857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tIns="9525" rIns="2857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tIns="9525" rIns="28575" bIns="9525" anchor="ctr">
            <a:spAutoFit/>
          </a:bodyPr>
          <a:lstStyle/>
          <a:p>
            <a:pPr algn="ctr">
              <a:lnSpc>
                <a:spcPct val="115000"/>
              </a:lnSpc>
            </a:pPr>
            <a:endParaRPr/>
          </a:p>
        </p:txBody>
      </p:sp>
      <p:sp>
        <p:nvSpPr>
          <p:cNvPr id="16" name="TextBox 15"/>
          <p:cNvSpPr txBox="1"/>
          <p:nvPr/>
        </p:nvSpPr>
        <p:spPr>
          <a:xfrm>
            <a:off x="2238375" y="1466850"/>
            <a:ext cx="1200150" cy="171450"/>
          </a:xfrm>
          <a:prstGeom prst="rect">
            <a:avLst/>
          </a:prstGeom>
          <a:noFill/>
        </p:spPr>
        <p:txBody>
          <a:bodyPr wrap="square" lIns="28575" tIns="9525" rIns="2857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238375" y="2019300"/>
            <a:ext cx="1200150" cy="171450"/>
          </a:xfrm>
          <a:prstGeom prst="rect">
            <a:avLst/>
          </a:prstGeom>
          <a:noFill/>
        </p:spPr>
        <p:txBody>
          <a:bodyPr wrap="square" lIns="28575" tIns="9525" rIns="2857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3514725" y="1447800"/>
            <a:ext cx="1905000" cy="209550"/>
          </a:xfrm>
          <a:prstGeom prst="rect">
            <a:avLst/>
          </a:prstGeom>
          <a:noFill/>
        </p:spPr>
        <p:txBody>
          <a:bodyPr wrap="square" lIns="28575" tIns="9525" rIns="2857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tIns="9525" rIns="2857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tIns="9525" rIns="28575" bIns="9525" anchor="ctr">
            <a:spAutoFit/>
          </a:bodyPr>
          <a:lstStyle/>
          <a:p>
            <a:pPr algn="ctr">
              <a:lnSpc>
                <a:spcPct val="115000"/>
              </a:lnSpc>
            </a:pPr>
            <a:endParaRPr/>
          </a:p>
        </p:txBody>
      </p:sp>
      <p:sp>
        <p:nvSpPr>
          <p:cNvPr id="26" name="TextBox 25"/>
          <p:cNvSpPr txBox="1"/>
          <p:nvPr/>
        </p:nvSpPr>
        <p:spPr>
          <a:xfrm>
            <a:off x="5495925" y="1466850"/>
            <a:ext cx="1200150" cy="171450"/>
          </a:xfrm>
          <a:prstGeom prst="rect">
            <a:avLst/>
          </a:prstGeom>
          <a:noFill/>
        </p:spPr>
        <p:txBody>
          <a:bodyPr wrap="square" lIns="28575" tIns="9525" rIns="2857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5495925" y="2019300"/>
            <a:ext cx="1200150" cy="171450"/>
          </a:xfrm>
          <a:prstGeom prst="rect">
            <a:avLst/>
          </a:prstGeom>
          <a:noFill/>
        </p:spPr>
        <p:txBody>
          <a:bodyPr wrap="square" lIns="28575" tIns="9525" rIns="2857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 name="TextBox 32"/>
          <p:cNvSpPr txBox="1"/>
          <p:nvPr/>
        </p:nvSpPr>
        <p:spPr>
          <a:xfrm>
            <a:off x="6772275" y="1447800"/>
            <a:ext cx="1905000" cy="209550"/>
          </a:xfrm>
          <a:prstGeom prst="rect">
            <a:avLst/>
          </a:prstGeom>
          <a:noFill/>
        </p:spPr>
        <p:txBody>
          <a:bodyPr wrap="square" lIns="28575" tIns="9525" rIns="2857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tIns="9525" rIns="2857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tIns="9525" rIns="28575" bIns="9525" anchor="ctr">
            <a:spAutoFit/>
          </a:bodyPr>
          <a:lstStyle/>
          <a:p>
            <a:pPr algn="ctr">
              <a:lnSpc>
                <a:spcPct val="115000"/>
              </a:lnSpc>
            </a:pPr>
            <a:endParaRPr/>
          </a:p>
        </p:txBody>
      </p:sp>
      <p:sp>
        <p:nvSpPr>
          <p:cNvPr id="36" name="TextBox 35"/>
          <p:cNvSpPr txBox="1"/>
          <p:nvPr/>
        </p:nvSpPr>
        <p:spPr>
          <a:xfrm>
            <a:off x="8753475" y="1466850"/>
            <a:ext cx="1200150" cy="171450"/>
          </a:xfrm>
          <a:prstGeom prst="rect">
            <a:avLst/>
          </a:prstGeom>
          <a:noFill/>
        </p:spPr>
        <p:txBody>
          <a:bodyPr wrap="square" lIns="28575" tIns="9525" rIns="2857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1" name="TextBox 40"/>
          <p:cNvSpPr txBox="1"/>
          <p:nvPr/>
        </p:nvSpPr>
        <p:spPr>
          <a:xfrm>
            <a:off x="8753475" y="2019300"/>
            <a:ext cx="1200150" cy="171450"/>
          </a:xfrm>
          <a:prstGeom prst="rect">
            <a:avLst/>
          </a:prstGeom>
          <a:noFill/>
        </p:spPr>
        <p:txBody>
          <a:bodyPr wrap="square" lIns="28575" tIns="9525" rIns="2857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TextBox 42"/>
          <p:cNvSpPr txBox="1"/>
          <p:nvPr/>
        </p:nvSpPr>
        <p:spPr>
          <a:xfrm>
            <a:off x="10029825" y="1447800"/>
            <a:ext cx="1905000" cy="209550"/>
          </a:xfrm>
          <a:prstGeom prst="rect">
            <a:avLst/>
          </a:prstGeom>
          <a:noFill/>
        </p:spPr>
        <p:txBody>
          <a:bodyPr wrap="square" lIns="28575" tIns="9525" rIns="2857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tIns="9525" rIns="2857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tIns="9525" rIns="28575" bIns="9525" anchor="ctr">
            <a:spAutoFit/>
          </a:bodyPr>
          <a:lstStyle/>
          <a:p>
            <a:pPr algn="ctr">
              <a:lnSpc>
                <a:spcPct val="115000"/>
              </a:lnSpc>
            </a:pPr>
            <a:endParaRP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FMI KPI Value"/>
          <p:cNvSpPr txBox="1"/>
          <p:nvPr/>
        </p:nvSpPr>
        <p:spPr>
          <a:xfrm>
            <a:off x="352425" y="2457450"/>
            <a:ext cx="762000" cy="342900"/>
          </a:xfrm>
          <a:prstGeom prst="rect">
            <a:avLst/>
          </a:prstGeom>
          <a:noFill/>
        </p:spPr>
        <p:txBody>
          <a:bodyPr wrap="square" lIns="28575" tIns="9525" rIns="2857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tIns="9525" rIns="2857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FMI KPI Value"/>
          <p:cNvSpPr txBox="1"/>
          <p:nvPr/>
        </p:nvSpPr>
        <p:spPr>
          <a:xfrm>
            <a:off x="3305175" y="2457450"/>
            <a:ext cx="762000" cy="342900"/>
          </a:xfrm>
          <a:prstGeom prst="rect">
            <a:avLst/>
          </a:prstGeom>
          <a:noFill/>
        </p:spPr>
        <p:txBody>
          <a:bodyPr wrap="square" lIns="28575" tIns="9525" rIns="2857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tIns="9525" rIns="2857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FMI KPI Value"/>
          <p:cNvSpPr txBox="1"/>
          <p:nvPr/>
        </p:nvSpPr>
        <p:spPr>
          <a:xfrm>
            <a:off x="6257925" y="2457450"/>
            <a:ext cx="762000" cy="342900"/>
          </a:xfrm>
          <a:prstGeom prst="rect">
            <a:avLst/>
          </a:prstGeom>
          <a:noFill/>
        </p:spPr>
        <p:txBody>
          <a:bodyPr wrap="square" lIns="28575" tIns="9525" rIns="2857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tIns="9525" rIns="2857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FMI KPI Value"/>
          <p:cNvSpPr txBox="1"/>
          <p:nvPr/>
        </p:nvSpPr>
        <p:spPr>
          <a:xfrm>
            <a:off x="9210675" y="2457450"/>
            <a:ext cx="762000" cy="342900"/>
          </a:xfrm>
          <a:prstGeom prst="rect">
            <a:avLst/>
          </a:prstGeom>
          <a:noFill/>
        </p:spPr>
        <p:txBody>
          <a:bodyPr wrap="square" lIns="28575" tIns="9525" rIns="2857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tIns="9525" rIns="2857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tIns="9525" rIns="2857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TextBox 62"/>
          <p:cNvSpPr txBox="1"/>
          <p:nvPr/>
        </p:nvSpPr>
        <p:spPr>
          <a:xfrm>
            <a:off x="238125" y="3600450"/>
            <a:ext cx="6905625" cy="209550"/>
          </a:xfrm>
          <a:prstGeom prst="rect">
            <a:avLst/>
          </a:prstGeom>
          <a:noFill/>
        </p:spPr>
        <p:txBody>
          <a:bodyPr wrap="square" lIns="28575" tIns="9525" rIns="2857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TextBox 64"/>
          <p:cNvSpPr txBox="1"/>
          <p:nvPr/>
        </p:nvSpPr>
        <p:spPr>
          <a:xfrm>
            <a:off x="295275" y="3867150"/>
            <a:ext cx="1352550" cy="247650"/>
          </a:xfrm>
          <a:prstGeom prst="rect">
            <a:avLst/>
          </a:prstGeom>
          <a:noFill/>
        </p:spPr>
        <p:txBody>
          <a:bodyPr wrap="square" lIns="28575" tIns="9525" rIns="2857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7" name="TextBox 66"/>
          <p:cNvSpPr txBox="1"/>
          <p:nvPr/>
        </p:nvSpPr>
        <p:spPr>
          <a:xfrm>
            <a:off x="1724025" y="3867150"/>
            <a:ext cx="2257425" cy="247650"/>
          </a:xfrm>
          <a:prstGeom prst="rect">
            <a:avLst/>
          </a:prstGeom>
          <a:noFill/>
        </p:spPr>
        <p:txBody>
          <a:bodyPr wrap="square" lIns="28575" tIns="9525" rIns="2857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9" name="TextBox 68"/>
          <p:cNvSpPr txBox="1"/>
          <p:nvPr/>
        </p:nvSpPr>
        <p:spPr>
          <a:xfrm>
            <a:off x="4057650" y="3867150"/>
            <a:ext cx="590550" cy="247650"/>
          </a:xfrm>
          <a:prstGeom prst="rect">
            <a:avLst/>
          </a:prstGeom>
          <a:noFill/>
        </p:spPr>
        <p:txBody>
          <a:bodyPr wrap="square" lIns="28575" tIns="9525" rIns="2857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1" name="TextBox 70"/>
          <p:cNvSpPr txBox="1"/>
          <p:nvPr/>
        </p:nvSpPr>
        <p:spPr>
          <a:xfrm>
            <a:off x="4724400" y="3867150"/>
            <a:ext cx="2400300" cy="247650"/>
          </a:xfrm>
          <a:prstGeom prst="rect">
            <a:avLst/>
          </a:prstGeom>
          <a:noFill/>
        </p:spPr>
        <p:txBody>
          <a:bodyPr wrap="square" lIns="28575" tIns="9525" rIns="2857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3" name="TextBox 72"/>
          <p:cNvSpPr txBox="1"/>
          <p:nvPr/>
        </p:nvSpPr>
        <p:spPr>
          <a:xfrm>
            <a:off x="295275" y="4114800"/>
            <a:ext cx="1333500" cy="409575"/>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5" name="TextBox 74"/>
          <p:cNvSpPr txBox="1"/>
          <p:nvPr/>
        </p:nvSpPr>
        <p:spPr>
          <a:xfrm>
            <a:off x="1724025" y="4114800"/>
            <a:ext cx="2238375"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TextBox 76"/>
          <p:cNvSpPr txBox="1"/>
          <p:nvPr/>
        </p:nvSpPr>
        <p:spPr>
          <a:xfrm>
            <a:off x="4057650" y="4114800"/>
            <a:ext cx="571500" cy="409575"/>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 </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p:cNvSpPr txBox="1"/>
          <p:nvPr/>
        </p:nvSpPr>
        <p:spPr>
          <a:xfrm>
            <a:off x="4724400" y="4114800"/>
            <a:ext cx="2381250"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1" name="TextBox 80"/>
          <p:cNvSpPr txBox="1"/>
          <p:nvPr/>
        </p:nvSpPr>
        <p:spPr>
          <a:xfrm>
            <a:off x="295275" y="4524375"/>
            <a:ext cx="1333500" cy="409575"/>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TextBox 82"/>
          <p:cNvSpPr txBox="1"/>
          <p:nvPr/>
        </p:nvSpPr>
        <p:spPr>
          <a:xfrm>
            <a:off x="1724025" y="4524375"/>
            <a:ext cx="2238375"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TextBox 84"/>
          <p:cNvSpPr txBox="1"/>
          <p:nvPr/>
        </p:nvSpPr>
        <p:spPr>
          <a:xfrm>
            <a:off x="4057650" y="4524375"/>
            <a:ext cx="571500" cy="409575"/>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 </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4724400" y="4524375"/>
            <a:ext cx="2381250"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TextBox 88"/>
          <p:cNvSpPr txBox="1"/>
          <p:nvPr/>
        </p:nvSpPr>
        <p:spPr>
          <a:xfrm>
            <a:off x="295275" y="4933950"/>
            <a:ext cx="1333500" cy="409575"/>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TextBox 90"/>
          <p:cNvSpPr txBox="1"/>
          <p:nvPr/>
        </p:nvSpPr>
        <p:spPr>
          <a:xfrm>
            <a:off x="1724025" y="4933950"/>
            <a:ext cx="2238375"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TextBox 92"/>
          <p:cNvSpPr txBox="1"/>
          <p:nvPr/>
        </p:nvSpPr>
        <p:spPr>
          <a:xfrm>
            <a:off x="4057650" y="4933950"/>
            <a:ext cx="571500" cy="409575"/>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 </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TextBox 94"/>
          <p:cNvSpPr txBox="1"/>
          <p:nvPr/>
        </p:nvSpPr>
        <p:spPr>
          <a:xfrm>
            <a:off x="4724400" y="4933950"/>
            <a:ext cx="2381250"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TextBox 96"/>
          <p:cNvSpPr txBox="1"/>
          <p:nvPr/>
        </p:nvSpPr>
        <p:spPr>
          <a:xfrm>
            <a:off x="295275" y="5343525"/>
            <a:ext cx="1333500" cy="409575"/>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TextBox 98"/>
          <p:cNvSpPr txBox="1"/>
          <p:nvPr/>
        </p:nvSpPr>
        <p:spPr>
          <a:xfrm>
            <a:off x="1724025" y="5343525"/>
            <a:ext cx="2238375"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1" name="TextBox 100"/>
          <p:cNvSpPr txBox="1"/>
          <p:nvPr/>
        </p:nvSpPr>
        <p:spPr>
          <a:xfrm>
            <a:off x="4057650" y="5343525"/>
            <a:ext cx="571500" cy="409575"/>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 </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TextBox 102"/>
          <p:cNvSpPr txBox="1"/>
          <p:nvPr/>
        </p:nvSpPr>
        <p:spPr>
          <a:xfrm>
            <a:off x="4724400" y="5343525"/>
            <a:ext cx="2381250"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TextBox 104"/>
          <p:cNvSpPr txBox="1"/>
          <p:nvPr/>
        </p:nvSpPr>
        <p:spPr>
          <a:xfrm>
            <a:off x="295275" y="5753100"/>
            <a:ext cx="1333500" cy="409575"/>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TextBox 106"/>
          <p:cNvSpPr txBox="1"/>
          <p:nvPr/>
        </p:nvSpPr>
        <p:spPr>
          <a:xfrm>
            <a:off x="1724025" y="5753100"/>
            <a:ext cx="2238375"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9" name="TextBox 108"/>
          <p:cNvSpPr txBox="1"/>
          <p:nvPr/>
        </p:nvSpPr>
        <p:spPr>
          <a:xfrm>
            <a:off x="4057650" y="5753100"/>
            <a:ext cx="571500" cy="409575"/>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 </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TextBox 110"/>
          <p:cNvSpPr txBox="1"/>
          <p:nvPr/>
        </p:nvSpPr>
        <p:spPr>
          <a:xfrm>
            <a:off x="4724400" y="5753100"/>
            <a:ext cx="2381250" cy="409575"/>
          </a:xfrm>
          <a:prstGeom prst="rect">
            <a:avLst/>
          </a:prstGeom>
          <a:noFill/>
        </p:spPr>
        <p:txBody>
          <a:bodyPr wrap="square" lIns="28575" tIns="9525" rIns="2857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TextBox 112"/>
          <p:cNvSpPr txBox="1"/>
          <p:nvPr/>
        </p:nvSpPr>
        <p:spPr>
          <a:xfrm>
            <a:off x="295275" y="6162675"/>
            <a:ext cx="1333500" cy="409575"/>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5" name="TextBox 114"/>
          <p:cNvSpPr txBox="1"/>
          <p:nvPr/>
        </p:nvSpPr>
        <p:spPr>
          <a:xfrm>
            <a:off x="1724025" y="6162675"/>
            <a:ext cx="2238375" cy="409575"/>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7" name="TextBox 116"/>
          <p:cNvSpPr txBox="1"/>
          <p:nvPr/>
        </p:nvSpPr>
        <p:spPr>
          <a:xfrm>
            <a:off x="4057650" y="6162675"/>
            <a:ext cx="571500" cy="409575"/>
          </a:xfrm>
          <a:prstGeom prst="rect">
            <a:avLst/>
          </a:prstGeom>
          <a:noFill/>
        </p:spPr>
        <p:txBody>
          <a:bodyPr wrap="square" lIns="28575" tIns="9525" rIns="28575" bIns="9525" anchor="ctr">
            <a:spAutoFit/>
          </a:bodyPr>
          <a:lstStyle/>
          <a:p>
            <a:pPr algn="ctr">
              <a:lnSpc>
                <a:spcPct val="115000"/>
              </a:lnSpc>
            </a:pPr>
            <a:r>
              <a:rPr sz="1100" b="1">
                <a:solidFill>
                  <a:srgbClr val="14213D"/>
                </a:solidFill>
                <a:latin typeface="Calibri"/>
              </a:rPr>
              <a:t> </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9" name="TextBox 118"/>
          <p:cNvSpPr txBox="1"/>
          <p:nvPr/>
        </p:nvSpPr>
        <p:spPr>
          <a:xfrm>
            <a:off x="4724400" y="6162675"/>
            <a:ext cx="2381250" cy="409575"/>
          </a:xfrm>
          <a:prstGeom prst="rect">
            <a:avLst/>
          </a:prstGeom>
          <a:noFill/>
        </p:spPr>
        <p:txBody>
          <a:bodyPr wrap="square" lIns="28575" tIns="9525" rIns="28575" bIns="9525" anchor="ctr">
            <a:spAutoFit/>
          </a:bodyPr>
          <a:lstStyle/>
          <a:p>
            <a:pPr algn="l">
              <a:lnSpc>
                <a:spcPct val="115000"/>
              </a:lnSpc>
            </a:pPr>
            <a:r>
              <a:rPr sz="1100" b="1">
                <a:solidFill>
                  <a:srgbClr val="14213D"/>
                </a:solidFill>
                <a:latin typeface="Calibri"/>
              </a:rPr>
              <a:t>Consolidation towards Tier 1–2</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1" name="TextBox 120"/>
          <p:cNvSpPr txBox="1"/>
          <p:nvPr/>
        </p:nvSpPr>
        <p:spPr>
          <a:xfrm>
            <a:off x="7477125" y="3600450"/>
            <a:ext cx="4476750" cy="209550"/>
          </a:xfrm>
          <a:prstGeom prst="rect">
            <a:avLst/>
          </a:prstGeom>
          <a:noFill/>
        </p:spPr>
        <p:txBody>
          <a:bodyPr wrap="square" lIns="28575" tIns="9525" rIns="2857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tIns="0" r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tIns="9525" rIns="28575" bIns="9525" anchor="t">
            <a:spAutoFit/>
          </a:bodyPr>
          <a:lstStyle/>
          <a:p>
            <a:pPr algn="l">
              <a:lnSpc>
                <a:spcPct val="115000"/>
              </a:lnSpc>
            </a:pPr>
            <a:endParaRPr/>
          </a:p>
        </p:txBody>
      </p:sp>
      <p:sp>
        <p:nvSpPr>
          <p:cNvPr id="124" name="TextBox 123"/>
          <p:cNvSpPr txBox="1"/>
          <p:nvPr/>
        </p:nvSpPr>
        <p:spPr>
          <a:xfrm>
            <a:off x="7496175" y="4429125"/>
            <a:ext cx="114300" cy="161925"/>
          </a:xfrm>
          <a:prstGeom prst="rect">
            <a:avLst/>
          </a:prstGeom>
          <a:noFill/>
        </p:spPr>
        <p:txBody>
          <a:bodyPr wrap="none" lIns="0" tIns="0" r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tIns="9525" rIns="2857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tIns="0" r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tIns="9525" rIns="28575" bIns="9525" anchor="t">
            <a:spAutoFit/>
          </a:bodyPr>
          <a:lstStyle/>
          <a:p>
            <a:pPr algn="l">
              <a:lnSpc>
                <a:spcPct val="115000"/>
              </a:lnSpc>
            </a:pPr>
            <a:endParaRPr/>
          </a:p>
        </p:txBody>
      </p:sp>
      <p:sp>
        <p:nvSpPr>
          <p:cNvPr id="128" name="TextBox 127"/>
          <p:cNvSpPr txBox="1"/>
          <p:nvPr/>
        </p:nvSpPr>
        <p:spPr>
          <a:xfrm>
            <a:off x="7496175" y="5429250"/>
            <a:ext cx="114300" cy="161925"/>
          </a:xfrm>
          <a:prstGeom prst="rect">
            <a:avLst/>
          </a:prstGeom>
          <a:noFill/>
        </p:spPr>
        <p:txBody>
          <a:bodyPr wrap="none" lIns="0" tIns="0" r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tIns="9525" rIns="28575" bIns="9525" anchor="t">
            <a:spAutoFit/>
          </a:bodyPr>
          <a:lstStyle/>
          <a:p>
            <a:pPr algn="l">
              <a:lnSpc>
                <a:spcPct val="115000"/>
              </a:lnSpc>
            </a:pPr>
            <a:r>
              <a:rPr sz="1100" b="0">
                <a:solidFill>
                  <a:srgbClr val="14213D"/>
                </a:solidFill>
                <a:latin typeface="Calibri"/>
              </a:rPr>
              <a:t>Buyer power (4 / 5) and technology substitution (4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pic>
        <p:nvPicPr>
          <p:cNvPr id="135" name="Picture 134" descr="lock.png"/>
          <p:cNvPicPr>
            <a:picLocks noChangeAspect="1"/>
          </p:cNvPicPr>
          <p:nvPr/>
        </p:nvPicPr>
        <p:blipFill>
          <a:blip r:embed="rId4"/>
          <a:stretch>
            <a:fillRect/>
          </a:stretch>
        </p:blipFill>
        <p:spPr>
          <a:xfrm>
            <a:off x="4279050" y="4225988"/>
            <a:ext cx="128699" cy="187198"/>
          </a:xfrm>
          <a:prstGeom prst="rect">
            <a:avLst/>
          </a:prstGeom>
        </p:spPr>
      </p:pic>
      <p:pic>
        <p:nvPicPr>
          <p:cNvPr id="136" name="Picture 135" descr="lock.png"/>
          <p:cNvPicPr>
            <a:picLocks noChangeAspect="1"/>
          </p:cNvPicPr>
          <p:nvPr/>
        </p:nvPicPr>
        <p:blipFill>
          <a:blip r:embed="rId4"/>
          <a:stretch>
            <a:fillRect/>
          </a:stretch>
        </p:blipFill>
        <p:spPr>
          <a:xfrm>
            <a:off x="4279050" y="4635563"/>
            <a:ext cx="128699" cy="187198"/>
          </a:xfrm>
          <a:prstGeom prst="rect">
            <a:avLst/>
          </a:prstGeom>
        </p:spPr>
      </p:pic>
      <p:pic>
        <p:nvPicPr>
          <p:cNvPr id="137" name="Picture 136" descr="lock.png"/>
          <p:cNvPicPr>
            <a:picLocks noChangeAspect="1"/>
          </p:cNvPicPr>
          <p:nvPr/>
        </p:nvPicPr>
        <p:blipFill>
          <a:blip r:embed="rId4"/>
          <a:stretch>
            <a:fillRect/>
          </a:stretch>
        </p:blipFill>
        <p:spPr>
          <a:xfrm>
            <a:off x="4279050" y="5045138"/>
            <a:ext cx="128699" cy="187198"/>
          </a:xfrm>
          <a:prstGeom prst="rect">
            <a:avLst/>
          </a:prstGeom>
        </p:spPr>
      </p:pic>
      <p:pic>
        <p:nvPicPr>
          <p:cNvPr id="138" name="Picture 137" descr="lock.png"/>
          <p:cNvPicPr>
            <a:picLocks noChangeAspect="1"/>
          </p:cNvPicPr>
          <p:nvPr/>
        </p:nvPicPr>
        <p:blipFill>
          <a:blip r:embed="rId4"/>
          <a:stretch>
            <a:fillRect/>
          </a:stretch>
        </p:blipFill>
        <p:spPr>
          <a:xfrm>
            <a:off x="4279050" y="5454713"/>
            <a:ext cx="128699" cy="187198"/>
          </a:xfrm>
          <a:prstGeom prst="rect">
            <a:avLst/>
          </a:prstGeom>
        </p:spPr>
      </p:pic>
      <p:pic>
        <p:nvPicPr>
          <p:cNvPr id="139" name="Picture 138" descr="lock.png"/>
          <p:cNvPicPr>
            <a:picLocks noChangeAspect="1"/>
          </p:cNvPicPr>
          <p:nvPr/>
        </p:nvPicPr>
        <p:blipFill>
          <a:blip r:embed="rId4"/>
          <a:stretch>
            <a:fillRect/>
          </a:stretch>
        </p:blipFill>
        <p:spPr>
          <a:xfrm>
            <a:off x="4279050" y="5864288"/>
            <a:ext cx="128699" cy="187198"/>
          </a:xfrm>
          <a:prstGeom prst="rect">
            <a:avLst/>
          </a:prstGeom>
        </p:spPr>
      </p:pic>
      <p:pic>
        <p:nvPicPr>
          <p:cNvPr id="140" name="Picture 139" descr="lock.png"/>
          <p:cNvPicPr>
            <a:picLocks noChangeAspect="1"/>
          </p:cNvPicPr>
          <p:nvPr/>
        </p:nvPicPr>
        <p:blipFill>
          <a:blip r:embed="rId4"/>
          <a:stretch>
            <a:fillRect/>
          </a:stretch>
        </p:blipFill>
        <p:spPr>
          <a:xfrm>
            <a:off x="4279050" y="6273863"/>
            <a:ext cx="128699" cy="187198"/>
          </a:xfrm>
          <a:prstGeom prst="rect">
            <a:avLst/>
          </a:prstGeom>
        </p:spPr>
      </p:pic>
      <p:sp>
        <p:nvSpPr>
          <p:cNvPr id="141" name="TextBox 140"/>
          <p:cNvSpPr txBox="1"/>
          <p:nvPr/>
        </p:nvSpPr>
        <p:spPr>
          <a:xfrm>
            <a:off x="547018" y="1870710"/>
            <a:ext cx="929133" cy="186689"/>
          </a:xfrm>
          <a:prstGeom prst="rect">
            <a:avLst/>
          </a:prstGeom>
          <a:noFill/>
        </p:spPr>
        <p:txBody>
          <a:bodyPr wrap="none" lIns="0" tIns="0" rIns="0" bIns="0">
            <a:spAutoFit/>
          </a:bodyPr>
          <a:lstStyle/>
          <a:p>
            <a:r>
              <a:rPr sz="1100" b="1">
                <a:solidFill>
                  <a:srgbClr val="FFFFFF"/>
                </a:solidFill>
                <a:latin typeface="Calibri"/>
              </a:rPr>
              <a:t>4 → 5 players ·</a:t>
            </a:r>
          </a:p>
        </p:txBody>
      </p:sp>
      <p:pic>
        <p:nvPicPr>
          <p:cNvPr id="142" name="Picture 141" descr="lock.png"/>
          <p:cNvPicPr>
            <a:picLocks noChangeAspect="1"/>
          </p:cNvPicPr>
          <p:nvPr/>
        </p:nvPicPr>
        <p:blipFill>
          <a:blip r:embed="rId4"/>
          <a:stretch>
            <a:fillRect/>
          </a:stretch>
        </p:blipFill>
        <p:spPr>
          <a:xfrm>
            <a:off x="1424204" y="1860931"/>
            <a:ext cx="128699" cy="187198"/>
          </a:xfrm>
          <a:prstGeom prst="rect">
            <a:avLst/>
          </a:prstGeom>
        </p:spPr>
      </p:pic>
      <p:sp>
        <p:nvSpPr>
          <p:cNvPr id="143" name="TextBox 142"/>
          <p:cNvSpPr txBox="1"/>
          <p:nvPr/>
        </p:nvSpPr>
        <p:spPr>
          <a:xfrm>
            <a:off x="1591699" y="1870710"/>
            <a:ext cx="202803" cy="186689"/>
          </a:xfrm>
          <a:prstGeom prst="rect">
            <a:avLst/>
          </a:prstGeom>
          <a:noFill/>
        </p:spPr>
        <p:txBody>
          <a:bodyPr wrap="none" lIns="0" tIns="0" rIns="0" bIns="0">
            <a:spAutoFit/>
          </a:bodyPr>
          <a:lstStyle/>
          <a:p>
            <a:r>
              <a:rPr sz="1100" b="1">
                <a:solidFill>
                  <a:srgbClr val="FFFFFF"/>
                </a:solidFill>
                <a:latin typeface="Calibri"/>
              </a:rPr>
              <a:t>→</a:t>
            </a:r>
          </a:p>
        </p:txBody>
      </p:sp>
      <p:pic>
        <p:nvPicPr>
          <p:cNvPr id="144" name="Picture 143" descr="lock.png"/>
          <p:cNvPicPr>
            <a:picLocks noChangeAspect="1"/>
          </p:cNvPicPr>
          <p:nvPr/>
        </p:nvPicPr>
        <p:blipFill>
          <a:blip r:embed="rId4"/>
          <a:stretch>
            <a:fillRect/>
          </a:stretch>
        </p:blipFill>
        <p:spPr>
          <a:xfrm>
            <a:off x="1742554" y="1860931"/>
            <a:ext cx="128699" cy="187198"/>
          </a:xfrm>
          <a:prstGeom prst="rect">
            <a:avLst/>
          </a:prstGeom>
        </p:spPr>
      </p:pic>
      <p:sp>
        <p:nvSpPr>
          <p:cNvPr id="145" name="TextBox 144"/>
          <p:cNvSpPr txBox="1"/>
          <p:nvPr/>
        </p:nvSpPr>
        <p:spPr>
          <a:xfrm>
            <a:off x="1049783" y="2038350"/>
            <a:ext cx="395982" cy="186689"/>
          </a:xfrm>
          <a:prstGeom prst="rect">
            <a:avLst/>
          </a:prstGeom>
          <a:noFill/>
        </p:spPr>
        <p:txBody>
          <a:bodyPr wrap="none" lIns="0" tIns="0" rIns="0" bIns="0">
            <a:spAutoFit/>
          </a:bodyPr>
          <a:lstStyle/>
          <a:p>
            <a:r>
              <a:rPr sz="1100" b="1">
                <a:solidFill>
                  <a:srgbClr val="FFFFFF"/>
                </a:solidFill>
                <a:latin typeface="Calibri"/>
              </a:rPr>
              <a:t>share</a:t>
            </a:r>
          </a:p>
        </p:txBody>
      </p:sp>
      <p:sp>
        <p:nvSpPr>
          <p:cNvPr id="146" name="TextBox 145"/>
          <p:cNvSpPr txBox="1"/>
          <p:nvPr/>
        </p:nvSpPr>
        <p:spPr>
          <a:xfrm>
            <a:off x="3804568" y="1870710"/>
            <a:ext cx="929133" cy="186689"/>
          </a:xfrm>
          <a:prstGeom prst="rect">
            <a:avLst/>
          </a:prstGeom>
          <a:noFill/>
        </p:spPr>
        <p:txBody>
          <a:bodyPr wrap="none" lIns="0" tIns="0" rIns="0" bIns="0">
            <a:spAutoFit/>
          </a:bodyPr>
          <a:lstStyle/>
          <a:p>
            <a:r>
              <a:rPr sz="1100" b="1">
                <a:solidFill>
                  <a:srgbClr val="FFFFFF"/>
                </a:solidFill>
                <a:latin typeface="Calibri"/>
              </a:rPr>
              <a:t>2 → 2 players ·</a:t>
            </a:r>
          </a:p>
        </p:txBody>
      </p:sp>
      <p:pic>
        <p:nvPicPr>
          <p:cNvPr id="147" name="Picture 146" descr="lock.png"/>
          <p:cNvPicPr>
            <a:picLocks noChangeAspect="1"/>
          </p:cNvPicPr>
          <p:nvPr/>
        </p:nvPicPr>
        <p:blipFill>
          <a:blip r:embed="rId4"/>
          <a:stretch>
            <a:fillRect/>
          </a:stretch>
        </p:blipFill>
        <p:spPr>
          <a:xfrm>
            <a:off x="4681754" y="1860931"/>
            <a:ext cx="128699" cy="187198"/>
          </a:xfrm>
          <a:prstGeom prst="rect">
            <a:avLst/>
          </a:prstGeom>
        </p:spPr>
      </p:pic>
      <p:sp>
        <p:nvSpPr>
          <p:cNvPr id="148" name="TextBox 147"/>
          <p:cNvSpPr txBox="1"/>
          <p:nvPr/>
        </p:nvSpPr>
        <p:spPr>
          <a:xfrm>
            <a:off x="4849249" y="1870710"/>
            <a:ext cx="202803" cy="186689"/>
          </a:xfrm>
          <a:prstGeom prst="rect">
            <a:avLst/>
          </a:prstGeom>
          <a:noFill/>
        </p:spPr>
        <p:txBody>
          <a:bodyPr wrap="none" lIns="0" tIns="0" rIns="0" bIns="0">
            <a:spAutoFit/>
          </a:bodyPr>
          <a:lstStyle/>
          <a:p>
            <a:r>
              <a:rPr sz="1100" b="1">
                <a:solidFill>
                  <a:srgbClr val="FFFFFF"/>
                </a:solidFill>
                <a:latin typeface="Calibri"/>
              </a:rPr>
              <a:t>→</a:t>
            </a:r>
          </a:p>
        </p:txBody>
      </p:sp>
      <p:pic>
        <p:nvPicPr>
          <p:cNvPr id="149" name="Picture 148" descr="lock.png"/>
          <p:cNvPicPr>
            <a:picLocks noChangeAspect="1"/>
          </p:cNvPicPr>
          <p:nvPr/>
        </p:nvPicPr>
        <p:blipFill>
          <a:blip r:embed="rId4"/>
          <a:stretch>
            <a:fillRect/>
          </a:stretch>
        </p:blipFill>
        <p:spPr>
          <a:xfrm>
            <a:off x="5000104" y="1860931"/>
            <a:ext cx="128699" cy="187198"/>
          </a:xfrm>
          <a:prstGeom prst="rect">
            <a:avLst/>
          </a:prstGeom>
        </p:spPr>
      </p:pic>
      <p:sp>
        <p:nvSpPr>
          <p:cNvPr id="150" name="TextBox 149"/>
          <p:cNvSpPr txBox="1"/>
          <p:nvPr/>
        </p:nvSpPr>
        <p:spPr>
          <a:xfrm>
            <a:off x="4307333" y="2038350"/>
            <a:ext cx="395982" cy="186689"/>
          </a:xfrm>
          <a:prstGeom prst="rect">
            <a:avLst/>
          </a:prstGeom>
          <a:noFill/>
        </p:spPr>
        <p:txBody>
          <a:bodyPr wrap="none" lIns="0" tIns="0" rIns="0" bIns="0">
            <a:spAutoFit/>
          </a:bodyPr>
          <a:lstStyle/>
          <a:p>
            <a:r>
              <a:rPr sz="1100" b="1">
                <a:solidFill>
                  <a:srgbClr val="FFFFFF"/>
                </a:solidFill>
                <a:latin typeface="Calibri"/>
              </a:rPr>
              <a:t>share</a:t>
            </a:r>
          </a:p>
        </p:txBody>
      </p:sp>
      <p:sp>
        <p:nvSpPr>
          <p:cNvPr id="151" name="TextBox 150"/>
          <p:cNvSpPr txBox="1"/>
          <p:nvPr/>
        </p:nvSpPr>
        <p:spPr>
          <a:xfrm>
            <a:off x="7062118" y="1870710"/>
            <a:ext cx="929133" cy="186689"/>
          </a:xfrm>
          <a:prstGeom prst="rect">
            <a:avLst/>
          </a:prstGeom>
          <a:noFill/>
        </p:spPr>
        <p:txBody>
          <a:bodyPr wrap="none" lIns="0" tIns="0" rIns="0" bIns="0">
            <a:spAutoFit/>
          </a:bodyPr>
          <a:lstStyle/>
          <a:p>
            <a:r>
              <a:rPr sz="1100" b="1">
                <a:solidFill>
                  <a:srgbClr val="FFFFFF"/>
                </a:solidFill>
                <a:latin typeface="Calibri"/>
              </a:rPr>
              <a:t>4 → 4 players ·</a:t>
            </a:r>
          </a:p>
        </p:txBody>
      </p:sp>
      <p:pic>
        <p:nvPicPr>
          <p:cNvPr id="152" name="Picture 151" descr="lock.png"/>
          <p:cNvPicPr>
            <a:picLocks noChangeAspect="1"/>
          </p:cNvPicPr>
          <p:nvPr/>
        </p:nvPicPr>
        <p:blipFill>
          <a:blip r:embed="rId4"/>
          <a:stretch>
            <a:fillRect/>
          </a:stretch>
        </p:blipFill>
        <p:spPr>
          <a:xfrm>
            <a:off x="7939304" y="1860931"/>
            <a:ext cx="128699" cy="187198"/>
          </a:xfrm>
          <a:prstGeom prst="rect">
            <a:avLst/>
          </a:prstGeom>
        </p:spPr>
      </p:pic>
      <p:sp>
        <p:nvSpPr>
          <p:cNvPr id="153" name="TextBox 152"/>
          <p:cNvSpPr txBox="1"/>
          <p:nvPr/>
        </p:nvSpPr>
        <p:spPr>
          <a:xfrm>
            <a:off x="8106799" y="1870710"/>
            <a:ext cx="202803" cy="186689"/>
          </a:xfrm>
          <a:prstGeom prst="rect">
            <a:avLst/>
          </a:prstGeom>
          <a:noFill/>
        </p:spPr>
        <p:txBody>
          <a:bodyPr wrap="none" lIns="0" tIns="0" rIns="0" bIns="0">
            <a:spAutoFit/>
          </a:bodyPr>
          <a:lstStyle/>
          <a:p>
            <a:r>
              <a:rPr sz="1100" b="1">
                <a:solidFill>
                  <a:srgbClr val="FFFFFF"/>
                </a:solidFill>
                <a:latin typeface="Calibri"/>
              </a:rPr>
              <a:t>→</a:t>
            </a:r>
          </a:p>
        </p:txBody>
      </p:sp>
      <p:pic>
        <p:nvPicPr>
          <p:cNvPr id="154" name="Picture 153" descr="lock.png"/>
          <p:cNvPicPr>
            <a:picLocks noChangeAspect="1"/>
          </p:cNvPicPr>
          <p:nvPr/>
        </p:nvPicPr>
        <p:blipFill>
          <a:blip r:embed="rId4"/>
          <a:stretch>
            <a:fillRect/>
          </a:stretch>
        </p:blipFill>
        <p:spPr>
          <a:xfrm>
            <a:off x="8257654" y="1860931"/>
            <a:ext cx="128699" cy="187198"/>
          </a:xfrm>
          <a:prstGeom prst="rect">
            <a:avLst/>
          </a:prstGeom>
        </p:spPr>
      </p:pic>
      <p:sp>
        <p:nvSpPr>
          <p:cNvPr id="155" name="TextBox 154"/>
          <p:cNvSpPr txBox="1"/>
          <p:nvPr/>
        </p:nvSpPr>
        <p:spPr>
          <a:xfrm>
            <a:off x="7564883" y="2038350"/>
            <a:ext cx="395982" cy="186689"/>
          </a:xfrm>
          <a:prstGeom prst="rect">
            <a:avLst/>
          </a:prstGeom>
          <a:noFill/>
        </p:spPr>
        <p:txBody>
          <a:bodyPr wrap="none" lIns="0" tIns="0" rIns="0" bIns="0">
            <a:spAutoFit/>
          </a:bodyPr>
          <a:lstStyle/>
          <a:p>
            <a:r>
              <a:rPr sz="1100" b="1">
                <a:solidFill>
                  <a:srgbClr val="FFFFFF"/>
                </a:solidFill>
                <a:latin typeface="Calibri"/>
              </a:rPr>
              <a:t>share</a:t>
            </a:r>
          </a:p>
        </p:txBody>
      </p:sp>
      <p:sp>
        <p:nvSpPr>
          <p:cNvPr id="156" name="TextBox 155"/>
          <p:cNvSpPr txBox="1"/>
          <p:nvPr/>
        </p:nvSpPr>
        <p:spPr>
          <a:xfrm>
            <a:off x="10286075" y="1954530"/>
            <a:ext cx="638819" cy="186689"/>
          </a:xfrm>
          <a:prstGeom prst="rect">
            <a:avLst/>
          </a:prstGeom>
          <a:noFill/>
        </p:spPr>
        <p:txBody>
          <a:bodyPr wrap="none" lIns="0" tIns="0" rIns="0" bIns="0">
            <a:spAutoFit/>
          </a:bodyPr>
          <a:lstStyle/>
          <a:p>
            <a:r>
              <a:rPr sz="1100" b="1">
                <a:solidFill>
                  <a:srgbClr val="14213D"/>
                </a:solidFill>
                <a:latin typeface="Calibri"/>
              </a:rPr>
              <a:t>Long tail ·</a:t>
            </a:r>
          </a:p>
        </p:txBody>
      </p:sp>
      <p:pic>
        <p:nvPicPr>
          <p:cNvPr id="157" name="Picture 156" descr="lock.png"/>
          <p:cNvPicPr>
            <a:picLocks noChangeAspect="1"/>
          </p:cNvPicPr>
          <p:nvPr/>
        </p:nvPicPr>
        <p:blipFill>
          <a:blip r:embed="rId4"/>
          <a:stretch>
            <a:fillRect/>
          </a:stretch>
        </p:blipFill>
        <p:spPr>
          <a:xfrm>
            <a:off x="10872946" y="1944751"/>
            <a:ext cx="128699" cy="187198"/>
          </a:xfrm>
          <a:prstGeom prst="rect">
            <a:avLst/>
          </a:prstGeom>
        </p:spPr>
      </p:pic>
      <p:sp>
        <p:nvSpPr>
          <p:cNvPr id="158" name="TextBox 157"/>
          <p:cNvSpPr txBox="1"/>
          <p:nvPr/>
        </p:nvSpPr>
        <p:spPr>
          <a:xfrm>
            <a:off x="11040442" y="1954530"/>
            <a:ext cx="202803" cy="186689"/>
          </a:xfrm>
          <a:prstGeom prst="rect">
            <a:avLst/>
          </a:prstGeom>
          <a:noFill/>
        </p:spPr>
        <p:txBody>
          <a:bodyPr wrap="none" lIns="0" tIns="0" rIns="0" bIns="0">
            <a:spAutoFit/>
          </a:bodyPr>
          <a:lstStyle/>
          <a:p>
            <a:r>
              <a:rPr sz="1100" b="1">
                <a:solidFill>
                  <a:srgbClr val="14213D"/>
                </a:solidFill>
                <a:latin typeface="Calibri"/>
              </a:rPr>
              <a:t>→</a:t>
            </a:r>
          </a:p>
        </p:txBody>
      </p:sp>
      <p:pic>
        <p:nvPicPr>
          <p:cNvPr id="159" name="Picture 158" descr="lock.png"/>
          <p:cNvPicPr>
            <a:picLocks noChangeAspect="1"/>
          </p:cNvPicPr>
          <p:nvPr/>
        </p:nvPicPr>
        <p:blipFill>
          <a:blip r:embed="rId4"/>
          <a:stretch>
            <a:fillRect/>
          </a:stretch>
        </p:blipFill>
        <p:spPr>
          <a:xfrm>
            <a:off x="11191297" y="1944751"/>
            <a:ext cx="128699" cy="187198"/>
          </a:xfrm>
          <a:prstGeom prst="rect">
            <a:avLst/>
          </a:prstGeom>
        </p:spPr>
      </p:pic>
      <p:sp>
        <p:nvSpPr>
          <p:cNvPr id="160" name="TextBox 159"/>
          <p:cNvSpPr txBox="1"/>
          <p:nvPr/>
        </p:nvSpPr>
        <p:spPr>
          <a:xfrm>
            <a:off x="11358792" y="1954530"/>
            <a:ext cx="395982" cy="186689"/>
          </a:xfrm>
          <a:prstGeom prst="rect">
            <a:avLst/>
          </a:prstGeom>
          <a:noFill/>
        </p:spPr>
        <p:txBody>
          <a:bodyPr wrap="none" lIns="0" tIns="0" rIns="0" bIns="0">
            <a:spAutoFit/>
          </a:bodyPr>
          <a:lstStyle/>
          <a:p>
            <a:r>
              <a:rPr sz="1100" b="1">
                <a:solidFill>
                  <a:srgbClr val="14213D"/>
                </a:solidFill>
                <a:latin typeface="Calibri"/>
              </a:rPr>
              <a:t>share</a:t>
            </a:r>
          </a:p>
        </p:txBody>
      </p:sp>
      <p:sp>
        <p:nvSpPr>
          <p:cNvPr id="161" name="TextBox 160"/>
          <p:cNvSpPr txBox="1"/>
          <p:nvPr/>
        </p:nvSpPr>
        <p:spPr>
          <a:xfrm>
            <a:off x="7658100" y="3857625"/>
            <a:ext cx="1828179" cy="186689"/>
          </a:xfrm>
          <a:prstGeom prst="rect">
            <a:avLst/>
          </a:prstGeom>
          <a:noFill/>
        </p:spPr>
        <p:txBody>
          <a:bodyPr wrap="none" lIns="0" tIns="0" rIns="0" bIns="0">
            <a:spAutoFit/>
          </a:bodyPr>
          <a:lstStyle/>
          <a:p>
            <a:r>
              <a:rPr sz="1100" b="0">
                <a:solidFill>
                  <a:srgbClr val="14213D"/>
                </a:solidFill>
                <a:latin typeface="Calibri"/>
              </a:rPr>
              <a:t>The market is fragmented (HHI</a:t>
            </a:r>
          </a:p>
        </p:txBody>
      </p:sp>
      <p:pic>
        <p:nvPicPr>
          <p:cNvPr id="162" name="Picture 161" descr="lock.png"/>
          <p:cNvPicPr>
            <a:picLocks noChangeAspect="1"/>
          </p:cNvPicPr>
          <p:nvPr/>
        </p:nvPicPr>
        <p:blipFill>
          <a:blip r:embed="rId4"/>
          <a:stretch>
            <a:fillRect/>
          </a:stretch>
        </p:blipFill>
        <p:spPr>
          <a:xfrm>
            <a:off x="9434331" y="3847846"/>
            <a:ext cx="128699" cy="187198"/>
          </a:xfrm>
          <a:prstGeom prst="rect">
            <a:avLst/>
          </a:prstGeom>
        </p:spPr>
      </p:pic>
      <p:sp>
        <p:nvSpPr>
          <p:cNvPr id="163" name="TextBox 162"/>
          <p:cNvSpPr txBox="1"/>
          <p:nvPr/>
        </p:nvSpPr>
        <p:spPr>
          <a:xfrm>
            <a:off x="9601827" y="3857625"/>
            <a:ext cx="2068562" cy="186689"/>
          </a:xfrm>
          <a:prstGeom prst="rect">
            <a:avLst/>
          </a:prstGeom>
          <a:noFill/>
        </p:spPr>
        <p:txBody>
          <a:bodyPr wrap="none" lIns="0" tIns="0" rIns="0" bIns="0">
            <a:spAutoFit/>
          </a:bodyPr>
          <a:lstStyle/>
          <a:p>
            <a:r>
              <a:rPr sz="1100" b="0">
                <a:solidFill>
                  <a:srgbClr val="14213D"/>
                </a:solidFill>
                <a:latin typeface="Calibri"/>
              </a:rPr>
              <a:t>); Tier 1 sets pricing and innovation</a:t>
            </a:r>
          </a:p>
        </p:txBody>
      </p:sp>
      <p:sp>
        <p:nvSpPr>
          <p:cNvPr id="164" name="TextBox 163"/>
          <p:cNvSpPr txBox="1"/>
          <p:nvPr/>
        </p:nvSpPr>
        <p:spPr>
          <a:xfrm>
            <a:off x="7658100" y="4025265"/>
            <a:ext cx="2124769" cy="186689"/>
          </a:xfrm>
          <a:prstGeom prst="rect">
            <a:avLst/>
          </a:prstGeom>
          <a:noFill/>
        </p:spPr>
        <p:txBody>
          <a:bodyPr wrap="none" lIns="0" tIns="0" rIns="0" bIns="0">
            <a:spAutoFit/>
          </a:bodyPr>
          <a:lstStyle/>
          <a:p>
            <a:r>
              <a:rPr sz="1100" b="0">
                <a:solidFill>
                  <a:srgbClr val="14213D"/>
                </a:solidFill>
                <a:latin typeface="Calibri"/>
              </a:rPr>
              <a:t>benchmarks and is expected to hold</a:t>
            </a:r>
          </a:p>
        </p:txBody>
      </p:sp>
      <p:pic>
        <p:nvPicPr>
          <p:cNvPr id="165" name="Picture 164" descr="lock.png"/>
          <p:cNvPicPr>
            <a:picLocks noChangeAspect="1"/>
          </p:cNvPicPr>
          <p:nvPr/>
        </p:nvPicPr>
        <p:blipFill>
          <a:blip r:embed="rId4"/>
          <a:stretch>
            <a:fillRect/>
          </a:stretch>
        </p:blipFill>
        <p:spPr>
          <a:xfrm>
            <a:off x="9730921" y="4015486"/>
            <a:ext cx="128699" cy="187198"/>
          </a:xfrm>
          <a:prstGeom prst="rect">
            <a:avLst/>
          </a:prstGeom>
        </p:spPr>
      </p:pic>
      <p:sp>
        <p:nvSpPr>
          <p:cNvPr id="166" name="TextBox 165"/>
          <p:cNvSpPr txBox="1"/>
          <p:nvPr/>
        </p:nvSpPr>
        <p:spPr>
          <a:xfrm>
            <a:off x="9898416" y="4025265"/>
            <a:ext cx="1016992" cy="186689"/>
          </a:xfrm>
          <a:prstGeom prst="rect">
            <a:avLst/>
          </a:prstGeom>
          <a:noFill/>
        </p:spPr>
        <p:txBody>
          <a:bodyPr wrap="none" lIns="0" tIns="0" rIns="0" bIns="0">
            <a:spAutoFit/>
          </a:bodyPr>
          <a:lstStyle/>
          <a:p>
            <a:r>
              <a:rPr sz="1100" b="0">
                <a:solidFill>
                  <a:srgbClr val="14213D"/>
                </a:solidFill>
                <a:latin typeface="Calibri"/>
              </a:rPr>
              <a:t>of value in 2036.</a:t>
            </a:r>
          </a:p>
        </p:txBody>
      </p:sp>
      <p:sp>
        <p:nvSpPr>
          <p:cNvPr id="167" name="TextBox 166"/>
          <p:cNvSpPr txBox="1"/>
          <p:nvPr/>
        </p:nvSpPr>
        <p:spPr>
          <a:xfrm>
            <a:off x="7658100" y="5019675"/>
            <a:ext cx="3471019" cy="186689"/>
          </a:xfrm>
          <a:prstGeom prst="rect">
            <a:avLst/>
          </a:prstGeom>
          <a:noFill/>
        </p:spPr>
        <p:txBody>
          <a:bodyPr wrap="none" lIns="0" tIns="0" rIns="0" bIns="0">
            <a:spAutoFit/>
          </a:bodyPr>
          <a:lstStyle/>
          <a:p>
            <a:r>
              <a:rPr sz="1100" b="0">
                <a:solidFill>
                  <a:srgbClr val="14213D"/>
                </a:solidFill>
                <a:latin typeface="Calibri"/>
              </a:rPr>
              <a:t>Tier 3 and the long tail face the highest structural pressure (</a:t>
            </a:r>
          </a:p>
        </p:txBody>
      </p:sp>
      <p:pic>
        <p:nvPicPr>
          <p:cNvPr id="168" name="Picture 167" descr="lock.png"/>
          <p:cNvPicPr>
            <a:picLocks noChangeAspect="1"/>
          </p:cNvPicPr>
          <p:nvPr/>
        </p:nvPicPr>
        <p:blipFill>
          <a:blip r:embed="rId4"/>
          <a:stretch>
            <a:fillRect/>
          </a:stretch>
        </p:blipFill>
        <p:spPr>
          <a:xfrm>
            <a:off x="11077170" y="5009895"/>
            <a:ext cx="128699" cy="187198"/>
          </a:xfrm>
          <a:prstGeom prst="rect">
            <a:avLst/>
          </a:prstGeom>
        </p:spPr>
      </p:pic>
      <p:sp>
        <p:nvSpPr>
          <p:cNvPr id="169" name="TextBox 168"/>
          <p:cNvSpPr txBox="1"/>
          <p:nvPr/>
        </p:nvSpPr>
        <p:spPr>
          <a:xfrm>
            <a:off x="11244666" y="5019675"/>
            <a:ext cx="415081" cy="186689"/>
          </a:xfrm>
          <a:prstGeom prst="rect">
            <a:avLst/>
          </a:prstGeom>
          <a:noFill/>
        </p:spPr>
        <p:txBody>
          <a:bodyPr wrap="none" lIns="0" tIns="0" rIns="0" bIns="0">
            <a:spAutoFit/>
          </a:bodyPr>
          <a:lstStyle/>
          <a:p>
            <a:r>
              <a:rPr sz="1100" b="0">
                <a:solidFill>
                  <a:srgbClr val="14213D"/>
                </a:solidFill>
                <a:latin typeface="Calibri"/>
              </a:rPr>
              <a:t>/ 5); 2</a:t>
            </a:r>
          </a:p>
        </p:txBody>
      </p:sp>
      <p:sp>
        <p:nvSpPr>
          <p:cNvPr id="170" name="TextBox 169"/>
          <p:cNvSpPr txBox="1"/>
          <p:nvPr/>
        </p:nvSpPr>
        <p:spPr>
          <a:xfrm>
            <a:off x="7658100" y="5187315"/>
            <a:ext cx="2541413" cy="186689"/>
          </a:xfrm>
          <a:prstGeom prst="rect">
            <a:avLst/>
          </a:prstGeom>
          <a:noFill/>
        </p:spPr>
        <p:txBody>
          <a:bodyPr wrap="none" lIns="0" tIns="0" r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Competitive Dashboard View (2026)</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tIns="0" rIns="1905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3717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4480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45243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6007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775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88296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99060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09823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71450" y="1536618"/>
            <a:ext cx="1085850" cy="255552"/>
          </a:xfrm>
          <a:prstGeom prst="rect">
            <a:avLst/>
          </a:prstGeom>
          <a:noFill/>
        </p:spPr>
        <p:txBody>
          <a:bodyPr wrap="square" lIns="19050" tIns="9525" rIns="19050" bIns="9525" anchor="ctr">
            <a:spAutoFit/>
          </a:bodyPr>
          <a:lstStyle/>
          <a:p>
            <a:pPr algn="l">
              <a:lnSpc>
                <a:spcPct val="100000"/>
              </a:lnSpc>
            </a:pPr>
            <a:r>
              <a:rPr sz="1100" b="1">
                <a:solidFill>
                  <a:srgbClr val="0B2E4A"/>
                </a:solidFill>
                <a:latin typeface="Calibri"/>
              </a:rPr>
              <a:t>Company / Brand</a:t>
            </a:r>
          </a:p>
        </p:txBody>
      </p:sp>
      <p:sp>
        <p:nvSpPr>
          <p:cNvPr id="36" name="TextBox 35"/>
          <p:cNvSpPr txBox="1"/>
          <p:nvPr/>
        </p:nvSpPr>
        <p:spPr>
          <a:xfrm>
            <a:off x="171450" y="1792170"/>
            <a:ext cx="1085850" cy="839670"/>
          </a:xfrm>
          <a:prstGeom prst="rect">
            <a:avLst/>
          </a:prstGeom>
          <a:noFill/>
        </p:spPr>
        <p:txBody>
          <a:bodyPr wrap="square" lIns="19050" tIns="9525" rIns="19050" bIns="9525" anchor="ctr">
            <a:spAutoFit/>
          </a:bodyPr>
          <a:lstStyle/>
          <a:p>
            <a:pPr algn="l">
              <a:lnSpc>
                <a:spcPct val="100000"/>
              </a:lnSpc>
            </a:pPr>
            <a:r>
              <a:rPr sz="1100" b="1">
                <a:solidFill>
                  <a:srgbClr val="0B2E4A"/>
                </a:solidFill>
                <a:latin typeface="Calibri"/>
              </a:rPr>
              <a:t>Product Portfolio</a:t>
            </a:r>
          </a:p>
        </p:txBody>
      </p:sp>
      <p:sp>
        <p:nvSpPr>
          <p:cNvPr id="37" name="TextBox 36"/>
          <p:cNvSpPr txBox="1"/>
          <p:nvPr/>
        </p:nvSpPr>
        <p:spPr>
          <a:xfrm>
            <a:off x="171450" y="2631840"/>
            <a:ext cx="1085850" cy="328567"/>
          </a:xfrm>
          <a:prstGeom prst="rect">
            <a:avLst/>
          </a:prstGeom>
          <a:noFill/>
        </p:spPr>
        <p:txBody>
          <a:bodyPr wrap="square" lIns="19050" tIns="9525" rIns="19050" bIns="9525" anchor="ctr">
            <a:spAutoFit/>
          </a:bodyPr>
          <a:lstStyle/>
          <a:p>
            <a:pPr algn="l">
              <a:lnSpc>
                <a:spcPct val="100000"/>
              </a:lnSpc>
            </a:pPr>
            <a:r>
              <a:rPr sz="1100" b="1">
                <a:solidFill>
                  <a:srgbClr val="0B2E4A"/>
                </a:solidFill>
                <a:latin typeface="Calibri"/>
              </a:rPr>
              <a:t>Overall Rev (US$ Mn)</a:t>
            </a:r>
          </a:p>
        </p:txBody>
      </p:sp>
      <p:sp>
        <p:nvSpPr>
          <p:cNvPr id="38" name="TextBox 37"/>
          <p:cNvSpPr txBox="1"/>
          <p:nvPr/>
        </p:nvSpPr>
        <p:spPr>
          <a:xfrm>
            <a:off x="171450" y="2960407"/>
            <a:ext cx="1085850" cy="328567"/>
          </a:xfrm>
          <a:prstGeom prst="rect">
            <a:avLst/>
          </a:prstGeom>
          <a:noFill/>
        </p:spPr>
        <p:txBody>
          <a:bodyPr wrap="square" lIns="19050" tIns="9525" rIns="19050" bIns="9525" anchor="ctr">
            <a:spAutoFit/>
          </a:bodyPr>
          <a:lstStyle/>
          <a:p>
            <a:pPr algn="l">
              <a:lnSpc>
                <a:spcPct val="100000"/>
              </a:lnSpc>
            </a:pPr>
            <a:r>
              <a:rPr sz="1100" b="1">
                <a:solidFill>
                  <a:srgbClr val="0B2E4A"/>
                </a:solidFill>
                <a:latin typeface="Calibri"/>
              </a:rPr>
              <a:t>Target Rev (US$ Mn)</a:t>
            </a:r>
          </a:p>
        </p:txBody>
      </p:sp>
      <p:sp>
        <p:nvSpPr>
          <p:cNvPr id="39" name="TextBox 38"/>
          <p:cNvSpPr txBox="1"/>
          <p:nvPr/>
        </p:nvSpPr>
        <p:spPr>
          <a:xfrm>
            <a:off x="171450" y="3288973"/>
            <a:ext cx="1085850" cy="766655"/>
          </a:xfrm>
          <a:prstGeom prst="rect">
            <a:avLst/>
          </a:prstGeom>
          <a:noFill/>
        </p:spPr>
        <p:txBody>
          <a:bodyPr wrap="square" lIns="19050" tIns="9525" rIns="19050" bIns="9525" anchor="ctr">
            <a:spAutoFit/>
          </a:bodyPr>
          <a:lstStyle/>
          <a:p>
            <a:pPr algn="l">
              <a:lnSpc>
                <a:spcPct val="100000"/>
              </a:lnSpc>
            </a:pPr>
            <a:r>
              <a:rPr sz="1100" b="1">
                <a:solidFill>
                  <a:srgbClr val="0B2E4A"/>
                </a:solidFill>
                <a:latin typeface="Calibri"/>
              </a:rPr>
              <a:t>Market Share (%)</a:t>
            </a:r>
          </a:p>
        </p:txBody>
      </p:sp>
      <p:sp>
        <p:nvSpPr>
          <p:cNvPr id="40" name="TextBox 39"/>
          <p:cNvSpPr txBox="1"/>
          <p:nvPr/>
        </p:nvSpPr>
        <p:spPr>
          <a:xfrm>
            <a:off x="171450" y="4055629"/>
            <a:ext cx="1085850" cy="985700"/>
          </a:xfrm>
          <a:prstGeom prst="rect">
            <a:avLst/>
          </a:prstGeom>
          <a:noFill/>
        </p:spPr>
        <p:txBody>
          <a:bodyPr wrap="square" lIns="19050" tIns="9525" rIns="19050" bIns="9525" anchor="ctr">
            <a:spAutoFit/>
          </a:bodyPr>
          <a:lstStyle/>
          <a:p>
            <a:pPr algn="l">
              <a:lnSpc>
                <a:spcPct val="100000"/>
              </a:lnSpc>
            </a:pPr>
            <a:r>
              <a:rPr sz="1100" b="1">
                <a:solidFill>
                  <a:srgbClr val="0B2E4A"/>
                </a:solidFill>
                <a:latin typeface="Calibri"/>
              </a:rPr>
              <a:t>Regional Presence</a:t>
            </a:r>
          </a:p>
        </p:txBody>
      </p:sp>
      <p:sp>
        <p:nvSpPr>
          <p:cNvPr id="41" name="TextBox 40"/>
          <p:cNvSpPr txBox="1"/>
          <p:nvPr/>
        </p:nvSpPr>
        <p:spPr>
          <a:xfrm>
            <a:off x="171450" y="5041328"/>
            <a:ext cx="1085850" cy="657133"/>
          </a:xfrm>
          <a:prstGeom prst="rect">
            <a:avLst/>
          </a:prstGeom>
          <a:noFill/>
        </p:spPr>
        <p:txBody>
          <a:bodyPr wrap="square" lIns="19050" tIns="9525" rIns="19050" bIns="9525" anchor="ctr">
            <a:spAutoFit/>
          </a:bodyPr>
          <a:lstStyle/>
          <a:p>
            <a:pPr algn="l">
              <a:lnSpc>
                <a:spcPct val="100000"/>
              </a:lnSpc>
            </a:pPr>
            <a:r>
              <a:rPr sz="1100" b="1">
                <a:solidFill>
                  <a:srgbClr val="0B2E4A"/>
                </a:solidFill>
                <a:latin typeface="Calibri"/>
              </a:rPr>
              <a:t>Strategies</a:t>
            </a:r>
          </a:p>
        </p:txBody>
      </p:sp>
      <p:sp>
        <p:nvSpPr>
          <p:cNvPr id="42" name="TextBox 41"/>
          <p:cNvSpPr txBox="1"/>
          <p:nvPr/>
        </p:nvSpPr>
        <p:spPr>
          <a:xfrm>
            <a:off x="1323975"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Multicell Packaging Inc.</a:t>
            </a:r>
          </a:p>
        </p:txBody>
      </p:sp>
      <p:cxnSp>
        <p:nvCxnSpPr>
          <p:cNvPr id="43" name="Connector 42"/>
          <p:cNvCxnSpPr/>
          <p:nvPr/>
        </p:nvCxnSpPr>
        <p:spPr>
          <a:xfrm>
            <a:off x="16049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323975"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A</a:t>
            </a:r>
          </a:p>
        </p:txBody>
      </p:sp>
      <p:sp>
        <p:nvSpPr>
          <p:cNvPr id="45" name="TextBox 44"/>
          <p:cNvSpPr txBox="1"/>
          <p:nvPr/>
        </p:nvSpPr>
        <p:spPr>
          <a:xfrm>
            <a:off x="1314450"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 </a:t>
            </a:r>
          </a:p>
        </p:txBody>
      </p:sp>
      <p:sp>
        <p:nvSpPr>
          <p:cNvPr id="46" name="TextBox 45"/>
          <p:cNvSpPr txBox="1"/>
          <p:nvPr/>
        </p:nvSpPr>
        <p:spPr>
          <a:xfrm>
            <a:off x="1314450" y="2047722"/>
            <a:ext cx="1038225" cy="182537"/>
          </a:xfrm>
          <a:prstGeom prst="rect">
            <a:avLst/>
          </a:prstGeom>
          <a:noFill/>
        </p:spPr>
        <p:txBody>
          <a:bodyPr wrap="square" lIns="28575" tIns="9525" rIns="28575" bIns="9525" anchor="ctr">
            <a:spAutoFit/>
          </a:bodyPr>
          <a:lstStyle/>
          <a:p>
            <a:pPr algn="ctr"/>
            <a:r>
              <a:rPr sz="1100" b="1">
                <a:solidFill>
                  <a:srgbClr val="008189"/>
                </a:solidFill>
                <a:latin typeface="Calibri"/>
              </a:rPr>
              <a:t>✔ ✔ </a:t>
            </a:r>
            <a:r>
              <a:rPr sz="1100" b="1">
                <a:solidFill>
                  <a:srgbClr val="E44D3A"/>
                </a:solidFill>
                <a:latin typeface="Calibri"/>
              </a:rPr>
              <a:t>✘ </a:t>
            </a:r>
          </a:p>
        </p:txBody>
      </p:sp>
      <p:sp>
        <p:nvSpPr>
          <p:cNvPr id="47" name="Rectangle 46"/>
          <p:cNvSpPr/>
          <p:nvPr/>
        </p:nvSpPr>
        <p:spPr>
          <a:xfrm>
            <a:off x="16049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Rectangle 47"/>
          <p:cNvSpPr/>
          <p:nvPr/>
        </p:nvSpPr>
        <p:spPr>
          <a:xfrm>
            <a:off x="17764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19478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1323975"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51" name="TextBox 50"/>
          <p:cNvSpPr txBox="1"/>
          <p:nvPr/>
        </p:nvSpPr>
        <p:spPr>
          <a:xfrm>
            <a:off x="1323975"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52" name="Oval 51"/>
          <p:cNvSpPr/>
          <p:nvPr/>
        </p:nvSpPr>
        <p:spPr>
          <a:xfrm>
            <a:off x="15859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Freeform 52"/>
          <p:cNvSpPr/>
          <p:nvPr/>
        </p:nvSpPr>
        <p:spPr>
          <a:xfrm>
            <a:off x="1828800" y="3416749"/>
            <a:ext cx="209550" cy="237298"/>
          </a:xfrm>
          <a:custGeom>
            <a:avLst/>
            <a:gdLst/>
            <a:ahLst/>
            <a:cxnLst/>
            <a:rect l="l" t="t" r="r" b="b"/>
            <a:pathLst>
              <a:path w="22" h="26">
                <a:moveTo>
                  <a:pt x="0" y="26"/>
                </a:moveTo>
                <a:lnTo>
                  <a:pt x="0" y="0"/>
                </a:lnTo>
                <a:lnTo>
                  <a:pt x="4" y="0"/>
                </a:lnTo>
                <a:lnTo>
                  <a:pt x="8" y="1"/>
                </a:lnTo>
                <a:lnTo>
                  <a:pt x="11" y="2"/>
                </a:lnTo>
                <a:lnTo>
                  <a:pt x="14" y="4"/>
                </a:lnTo>
                <a:lnTo>
                  <a:pt x="17" y="6"/>
                </a:lnTo>
                <a:lnTo>
                  <a:pt x="20" y="8"/>
                </a:lnTo>
                <a:lnTo>
                  <a:pt x="22" y="1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4" name="Oval 53"/>
          <p:cNvSpPr/>
          <p:nvPr/>
        </p:nvSpPr>
        <p:spPr>
          <a:xfrm>
            <a:off x="16948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TextBox 54"/>
          <p:cNvSpPr txBox="1"/>
          <p:nvPr/>
        </p:nvSpPr>
        <p:spPr>
          <a:xfrm>
            <a:off x="1585912" y="3590159"/>
            <a:ext cx="495300" cy="127776"/>
          </a:xfrm>
          <a:prstGeom prst="rect">
            <a:avLst/>
          </a:prstGeom>
          <a:noFill/>
        </p:spPr>
        <p:txBody>
          <a:bodyPr wrap="square" lIns="28575" tIns="9525" rIns="28575" bIns="9525" anchor="ctr">
            <a:spAutoFit/>
          </a:bodyPr>
          <a:lstStyle/>
          <a:p>
            <a:pPr algn="ctr"/>
            <a:r>
              <a:rPr sz="1100" b="1">
                <a:solidFill>
                  <a:srgbClr val="0B2E4A"/>
                </a:solidFill>
                <a:latin typeface="Calibri"/>
              </a:rPr>
              <a:t> </a:t>
            </a:r>
          </a:p>
        </p:txBody>
      </p:sp>
      <p:sp>
        <p:nvSpPr>
          <p:cNvPr id="56" name="TextBox 55"/>
          <p:cNvSpPr txBox="1"/>
          <p:nvPr/>
        </p:nvSpPr>
        <p:spPr>
          <a:xfrm>
            <a:off x="1343025"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7" name="Oval 56"/>
          <p:cNvSpPr/>
          <p:nvPr/>
        </p:nvSpPr>
        <p:spPr>
          <a:xfrm>
            <a:off x="14287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TextBox 57"/>
          <p:cNvSpPr txBox="1"/>
          <p:nvPr/>
        </p:nvSpPr>
        <p:spPr>
          <a:xfrm>
            <a:off x="14287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59" name="Oval 58"/>
          <p:cNvSpPr/>
          <p:nvPr/>
        </p:nvSpPr>
        <p:spPr>
          <a:xfrm>
            <a:off x="16383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16383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61" name="Oval 60"/>
          <p:cNvSpPr/>
          <p:nvPr/>
        </p:nvSpPr>
        <p:spPr>
          <a:xfrm>
            <a:off x="18478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2" name="TextBox 61"/>
          <p:cNvSpPr txBox="1"/>
          <p:nvPr/>
        </p:nvSpPr>
        <p:spPr>
          <a:xfrm>
            <a:off x="18478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63" name="Oval 62"/>
          <p:cNvSpPr/>
          <p:nvPr/>
        </p:nvSpPr>
        <p:spPr>
          <a:xfrm>
            <a:off x="20574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TextBox 63"/>
          <p:cNvSpPr txBox="1"/>
          <p:nvPr/>
        </p:nvSpPr>
        <p:spPr>
          <a:xfrm>
            <a:off x="20574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65" name="Oval 64"/>
          <p:cNvSpPr/>
          <p:nvPr/>
        </p:nvSpPr>
        <p:spPr>
          <a:xfrm>
            <a:off x="15335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6" name="TextBox 65"/>
          <p:cNvSpPr txBox="1"/>
          <p:nvPr/>
        </p:nvSpPr>
        <p:spPr>
          <a:xfrm>
            <a:off x="153352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67" name="Oval 66"/>
          <p:cNvSpPr/>
          <p:nvPr/>
        </p:nvSpPr>
        <p:spPr>
          <a:xfrm>
            <a:off x="17430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8" name="TextBox 67"/>
          <p:cNvSpPr txBox="1"/>
          <p:nvPr/>
        </p:nvSpPr>
        <p:spPr>
          <a:xfrm>
            <a:off x="174307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69" name="Oval 68"/>
          <p:cNvSpPr/>
          <p:nvPr/>
        </p:nvSpPr>
        <p:spPr>
          <a:xfrm>
            <a:off x="19526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0" name="TextBox 69"/>
          <p:cNvSpPr txBox="1"/>
          <p:nvPr/>
        </p:nvSpPr>
        <p:spPr>
          <a:xfrm>
            <a:off x="195262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71" name="TextBox 70"/>
          <p:cNvSpPr txBox="1"/>
          <p:nvPr/>
        </p:nvSpPr>
        <p:spPr>
          <a:xfrm>
            <a:off x="2400300"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Company</a:t>
            </a:r>
          </a:p>
        </p:txBody>
      </p:sp>
      <p:cxnSp>
        <p:nvCxnSpPr>
          <p:cNvPr id="72" name="Connector 71"/>
          <p:cNvCxnSpPr/>
          <p:nvPr/>
        </p:nvCxnSpPr>
        <p:spPr>
          <a:xfrm>
            <a:off x="26812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2400300"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B</a:t>
            </a:r>
          </a:p>
        </p:txBody>
      </p:sp>
      <p:sp>
        <p:nvSpPr>
          <p:cNvPr id="74" name="TextBox 73"/>
          <p:cNvSpPr txBox="1"/>
          <p:nvPr/>
        </p:nvSpPr>
        <p:spPr>
          <a:xfrm>
            <a:off x="2390775"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5" name="TextBox 74"/>
          <p:cNvSpPr txBox="1"/>
          <p:nvPr/>
        </p:nvSpPr>
        <p:spPr>
          <a:xfrm>
            <a:off x="2390775" y="2047722"/>
            <a:ext cx="1038225" cy="182537"/>
          </a:xfrm>
          <a:prstGeom prst="rect">
            <a:avLst/>
          </a:prstGeom>
          <a:noFill/>
        </p:spPr>
        <p:txBody>
          <a:bodyPr wrap="square" lIns="28575" tIns="9525" rIns="2857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6" name="Rectangle 75"/>
          <p:cNvSpPr/>
          <p:nvPr/>
        </p:nvSpPr>
        <p:spPr>
          <a:xfrm>
            <a:off x="26812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7" name="Rectangle 76"/>
          <p:cNvSpPr/>
          <p:nvPr/>
        </p:nvSpPr>
        <p:spPr>
          <a:xfrm>
            <a:off x="28527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8" name="Rectangle 77"/>
          <p:cNvSpPr/>
          <p:nvPr/>
        </p:nvSpPr>
        <p:spPr>
          <a:xfrm>
            <a:off x="30241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9" name="TextBox 78"/>
          <p:cNvSpPr txBox="1"/>
          <p:nvPr/>
        </p:nvSpPr>
        <p:spPr>
          <a:xfrm>
            <a:off x="2400300"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80" name="TextBox 79"/>
          <p:cNvSpPr txBox="1"/>
          <p:nvPr/>
        </p:nvSpPr>
        <p:spPr>
          <a:xfrm>
            <a:off x="2400300"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81" name="Oval 80"/>
          <p:cNvSpPr/>
          <p:nvPr/>
        </p:nvSpPr>
        <p:spPr>
          <a:xfrm>
            <a:off x="26622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Freeform 81"/>
          <p:cNvSpPr/>
          <p:nvPr/>
        </p:nvSpPr>
        <p:spPr>
          <a:xfrm>
            <a:off x="2914650" y="3416749"/>
            <a:ext cx="180975" cy="237298"/>
          </a:xfrm>
          <a:custGeom>
            <a:avLst/>
            <a:gdLst/>
            <a:ahLst/>
            <a:cxnLst/>
            <a:rect l="l" t="t" r="r" b="b"/>
            <a:pathLst>
              <a:path w="19" h="26">
                <a:moveTo>
                  <a:pt x="0" y="26"/>
                </a:moveTo>
                <a:lnTo>
                  <a:pt x="0" y="0"/>
                </a:lnTo>
                <a:lnTo>
                  <a:pt x="3" y="0"/>
                </a:lnTo>
                <a:lnTo>
                  <a:pt x="7" y="1"/>
                </a:lnTo>
                <a:lnTo>
                  <a:pt x="10" y="2"/>
                </a:lnTo>
                <a:lnTo>
                  <a:pt x="13" y="4"/>
                </a:lnTo>
                <a:lnTo>
                  <a:pt x="16" y="6"/>
                </a:lnTo>
                <a:lnTo>
                  <a:pt x="19" y="9"/>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3" name="Oval 82"/>
          <p:cNvSpPr/>
          <p:nvPr/>
        </p:nvSpPr>
        <p:spPr>
          <a:xfrm>
            <a:off x="27712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TextBox 83"/>
          <p:cNvSpPr txBox="1"/>
          <p:nvPr/>
        </p:nvSpPr>
        <p:spPr>
          <a:xfrm>
            <a:off x="2662238" y="3590159"/>
            <a:ext cx="495300" cy="127776"/>
          </a:xfrm>
          <a:prstGeom prst="rect">
            <a:avLst/>
          </a:prstGeom>
          <a:noFill/>
        </p:spPr>
        <p:txBody>
          <a:bodyPr wrap="square" lIns="28575" tIns="9525" rIns="28575" bIns="9525" anchor="ctr">
            <a:spAutoFit/>
          </a:bodyPr>
          <a:lstStyle/>
          <a:p>
            <a:pPr algn="ctr"/>
            <a:r>
              <a:rPr sz="1100" b="1">
                <a:solidFill>
                  <a:srgbClr val="0B2E4A"/>
                </a:solidFill>
                <a:latin typeface="Calibri"/>
              </a:rPr>
              <a:t> </a:t>
            </a:r>
          </a:p>
        </p:txBody>
      </p:sp>
      <p:sp>
        <p:nvSpPr>
          <p:cNvPr id="85" name="TextBox 84"/>
          <p:cNvSpPr txBox="1"/>
          <p:nvPr/>
        </p:nvSpPr>
        <p:spPr>
          <a:xfrm>
            <a:off x="2419350"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6" name="Oval 85"/>
          <p:cNvSpPr/>
          <p:nvPr/>
        </p:nvSpPr>
        <p:spPr>
          <a:xfrm>
            <a:off x="25050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7" name="TextBox 86"/>
          <p:cNvSpPr txBox="1"/>
          <p:nvPr/>
        </p:nvSpPr>
        <p:spPr>
          <a:xfrm>
            <a:off x="25050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88" name="Oval 87"/>
          <p:cNvSpPr/>
          <p:nvPr/>
        </p:nvSpPr>
        <p:spPr>
          <a:xfrm>
            <a:off x="27146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9" name="TextBox 88"/>
          <p:cNvSpPr txBox="1"/>
          <p:nvPr/>
        </p:nvSpPr>
        <p:spPr>
          <a:xfrm>
            <a:off x="27146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90" name="Oval 89"/>
          <p:cNvSpPr/>
          <p:nvPr/>
        </p:nvSpPr>
        <p:spPr>
          <a:xfrm>
            <a:off x="29241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1" name="TextBox 90"/>
          <p:cNvSpPr txBox="1"/>
          <p:nvPr/>
        </p:nvSpPr>
        <p:spPr>
          <a:xfrm>
            <a:off x="29241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92" name="Oval 91"/>
          <p:cNvSpPr/>
          <p:nvPr/>
        </p:nvSpPr>
        <p:spPr>
          <a:xfrm>
            <a:off x="3133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3" name="TextBox 92"/>
          <p:cNvSpPr txBox="1"/>
          <p:nvPr/>
        </p:nvSpPr>
        <p:spPr>
          <a:xfrm>
            <a:off x="31337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94" name="Oval 93"/>
          <p:cNvSpPr/>
          <p:nvPr/>
        </p:nvSpPr>
        <p:spPr>
          <a:xfrm>
            <a:off x="26098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5" name="TextBox 94"/>
          <p:cNvSpPr txBox="1"/>
          <p:nvPr/>
        </p:nvSpPr>
        <p:spPr>
          <a:xfrm>
            <a:off x="260985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96" name="Oval 95"/>
          <p:cNvSpPr/>
          <p:nvPr/>
        </p:nvSpPr>
        <p:spPr>
          <a:xfrm>
            <a:off x="28194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7" name="TextBox 96"/>
          <p:cNvSpPr txBox="1"/>
          <p:nvPr/>
        </p:nvSpPr>
        <p:spPr>
          <a:xfrm>
            <a:off x="281940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98" name="Oval 97"/>
          <p:cNvSpPr/>
          <p:nvPr/>
        </p:nvSpPr>
        <p:spPr>
          <a:xfrm>
            <a:off x="30289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99" name="TextBox 98"/>
          <p:cNvSpPr txBox="1"/>
          <p:nvPr/>
        </p:nvSpPr>
        <p:spPr>
          <a:xfrm>
            <a:off x="302895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100" name="TextBox 99"/>
          <p:cNvSpPr txBox="1"/>
          <p:nvPr/>
        </p:nvSpPr>
        <p:spPr>
          <a:xfrm>
            <a:off x="3476625"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Great American Paper Inc.</a:t>
            </a:r>
          </a:p>
        </p:txBody>
      </p:sp>
      <p:cxnSp>
        <p:nvCxnSpPr>
          <p:cNvPr id="101" name="Connector 100"/>
          <p:cNvCxnSpPr/>
          <p:nvPr/>
        </p:nvCxnSpPr>
        <p:spPr>
          <a:xfrm>
            <a:off x="37576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476625"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C</a:t>
            </a:r>
          </a:p>
        </p:txBody>
      </p:sp>
      <p:sp>
        <p:nvSpPr>
          <p:cNvPr id="103" name="TextBox 102"/>
          <p:cNvSpPr txBox="1"/>
          <p:nvPr/>
        </p:nvSpPr>
        <p:spPr>
          <a:xfrm>
            <a:off x="3467100"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4" name="TextBox 103"/>
          <p:cNvSpPr txBox="1"/>
          <p:nvPr/>
        </p:nvSpPr>
        <p:spPr>
          <a:xfrm>
            <a:off x="3467100" y="2047722"/>
            <a:ext cx="1038225" cy="182537"/>
          </a:xfrm>
          <a:prstGeom prst="rect">
            <a:avLst/>
          </a:prstGeom>
          <a:noFill/>
        </p:spPr>
        <p:txBody>
          <a:bodyPr wrap="square" lIns="28575" tIns="9525" rIns="28575" bIns="9525" anchor="ctr">
            <a:spAutoFit/>
          </a:bodyPr>
          <a:lstStyle/>
          <a:p>
            <a:pPr algn="ctr"/>
            <a:r>
              <a:rPr sz="1100" b="1">
                <a:solidFill>
                  <a:srgbClr val="E44D3A"/>
                </a:solidFill>
                <a:latin typeface="Calibri"/>
              </a:rPr>
              <a:t>✘ </a:t>
            </a:r>
            <a:r>
              <a:rPr sz="1100" b="1">
                <a:solidFill>
                  <a:srgbClr val="008189"/>
                </a:solidFill>
                <a:latin typeface="Calibri"/>
              </a:rPr>
              <a:t>✔ ✔ </a:t>
            </a:r>
          </a:p>
        </p:txBody>
      </p:sp>
      <p:sp>
        <p:nvSpPr>
          <p:cNvPr id="105" name="Rectangle 104"/>
          <p:cNvSpPr/>
          <p:nvPr/>
        </p:nvSpPr>
        <p:spPr>
          <a:xfrm>
            <a:off x="37576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Rectangle 105"/>
          <p:cNvSpPr/>
          <p:nvPr/>
        </p:nvSpPr>
        <p:spPr>
          <a:xfrm>
            <a:off x="39290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Rectangle 106"/>
          <p:cNvSpPr/>
          <p:nvPr/>
        </p:nvSpPr>
        <p:spPr>
          <a:xfrm>
            <a:off x="41005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8" name="TextBox 107"/>
          <p:cNvSpPr txBox="1"/>
          <p:nvPr/>
        </p:nvSpPr>
        <p:spPr>
          <a:xfrm>
            <a:off x="3476625"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109" name="TextBox 108"/>
          <p:cNvSpPr txBox="1"/>
          <p:nvPr/>
        </p:nvSpPr>
        <p:spPr>
          <a:xfrm>
            <a:off x="3476625"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110" name="Oval 109"/>
          <p:cNvSpPr/>
          <p:nvPr/>
        </p:nvSpPr>
        <p:spPr>
          <a:xfrm>
            <a:off x="37385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1" name="Freeform 110"/>
          <p:cNvSpPr/>
          <p:nvPr/>
        </p:nvSpPr>
        <p:spPr>
          <a:xfrm>
            <a:off x="3981450" y="3416749"/>
            <a:ext cx="142875" cy="237298"/>
          </a:xfrm>
          <a:custGeom>
            <a:avLst/>
            <a:gdLst/>
            <a:ahLst/>
            <a:cxnLst/>
            <a:rect l="l" t="t" r="r" b="b"/>
            <a:pathLst>
              <a:path w="15" h="26">
                <a:moveTo>
                  <a:pt x="0" y="26"/>
                </a:moveTo>
                <a:lnTo>
                  <a:pt x="0" y="0"/>
                </a:lnTo>
                <a:lnTo>
                  <a:pt x="4" y="0"/>
                </a:lnTo>
                <a:lnTo>
                  <a:pt x="8" y="1"/>
                </a:lnTo>
                <a:lnTo>
                  <a:pt x="12" y="2"/>
                </a:lnTo>
                <a:lnTo>
                  <a:pt x="15" y="4"/>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2" name="Oval 111"/>
          <p:cNvSpPr/>
          <p:nvPr/>
        </p:nvSpPr>
        <p:spPr>
          <a:xfrm>
            <a:off x="384752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3" name="TextBox 112"/>
          <p:cNvSpPr txBox="1"/>
          <p:nvPr/>
        </p:nvSpPr>
        <p:spPr>
          <a:xfrm>
            <a:off x="3738562" y="3590159"/>
            <a:ext cx="495300" cy="127776"/>
          </a:xfrm>
          <a:prstGeom prst="rect">
            <a:avLst/>
          </a:prstGeom>
          <a:noFill/>
        </p:spPr>
        <p:txBody>
          <a:bodyPr wrap="none" lIns="0" tIns="0" rIns="0" bIns="0" anchor="ctr">
            <a:spAutoFit/>
          </a:bodyPr>
          <a:lstStyle/>
          <a:p>
            <a:pPr algn="ctr"/>
            <a:r>
              <a:rPr sz="1100" b="1">
                <a:solidFill>
                  <a:srgbClr val="0B2E4A"/>
                </a:solidFill>
                <a:latin typeface="Calibri"/>
              </a:rPr>
              <a:t> </a:t>
            </a:r>
          </a:p>
        </p:txBody>
      </p:sp>
      <p:sp>
        <p:nvSpPr>
          <p:cNvPr id="114" name="TextBox 113"/>
          <p:cNvSpPr txBox="1"/>
          <p:nvPr/>
        </p:nvSpPr>
        <p:spPr>
          <a:xfrm>
            <a:off x="3495675"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5" name="Oval 114"/>
          <p:cNvSpPr/>
          <p:nvPr/>
        </p:nvSpPr>
        <p:spPr>
          <a:xfrm>
            <a:off x="35814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6" name="TextBox 115"/>
          <p:cNvSpPr txBox="1"/>
          <p:nvPr/>
        </p:nvSpPr>
        <p:spPr>
          <a:xfrm>
            <a:off x="35814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117" name="Oval 116"/>
          <p:cNvSpPr/>
          <p:nvPr/>
        </p:nvSpPr>
        <p:spPr>
          <a:xfrm>
            <a:off x="37909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18" name="TextBox 117"/>
          <p:cNvSpPr txBox="1"/>
          <p:nvPr/>
        </p:nvSpPr>
        <p:spPr>
          <a:xfrm>
            <a:off x="37909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119" name="Oval 118"/>
          <p:cNvSpPr/>
          <p:nvPr/>
        </p:nvSpPr>
        <p:spPr>
          <a:xfrm>
            <a:off x="40005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0" name="TextBox 119"/>
          <p:cNvSpPr txBox="1"/>
          <p:nvPr/>
        </p:nvSpPr>
        <p:spPr>
          <a:xfrm>
            <a:off x="40005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121" name="Oval 120"/>
          <p:cNvSpPr/>
          <p:nvPr/>
        </p:nvSpPr>
        <p:spPr>
          <a:xfrm>
            <a:off x="42100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2" name="TextBox 121"/>
          <p:cNvSpPr txBox="1"/>
          <p:nvPr/>
        </p:nvSpPr>
        <p:spPr>
          <a:xfrm>
            <a:off x="42100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123" name="Oval 122"/>
          <p:cNvSpPr/>
          <p:nvPr/>
        </p:nvSpPr>
        <p:spPr>
          <a:xfrm>
            <a:off x="36861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TextBox 123"/>
          <p:cNvSpPr txBox="1"/>
          <p:nvPr/>
        </p:nvSpPr>
        <p:spPr>
          <a:xfrm>
            <a:off x="368617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125" name="Oval 124"/>
          <p:cNvSpPr/>
          <p:nvPr/>
        </p:nvSpPr>
        <p:spPr>
          <a:xfrm>
            <a:off x="38957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TextBox 125"/>
          <p:cNvSpPr txBox="1"/>
          <p:nvPr/>
        </p:nvSpPr>
        <p:spPr>
          <a:xfrm>
            <a:off x="389572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127" name="Oval 126"/>
          <p:cNvSpPr/>
          <p:nvPr/>
        </p:nvSpPr>
        <p:spPr>
          <a:xfrm>
            <a:off x="41052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8" name="TextBox 127"/>
          <p:cNvSpPr txBox="1"/>
          <p:nvPr/>
        </p:nvSpPr>
        <p:spPr>
          <a:xfrm>
            <a:off x="410527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129" name="TextBox 128"/>
          <p:cNvSpPr txBox="1"/>
          <p:nvPr/>
        </p:nvSpPr>
        <p:spPr>
          <a:xfrm>
            <a:off x="4552950"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Interpack Inc.</a:t>
            </a:r>
          </a:p>
        </p:txBody>
      </p:sp>
      <p:cxnSp>
        <p:nvCxnSpPr>
          <p:cNvPr id="130" name="Connector 129"/>
          <p:cNvCxnSpPr/>
          <p:nvPr/>
        </p:nvCxnSpPr>
        <p:spPr>
          <a:xfrm>
            <a:off x="48339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4552950"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D</a:t>
            </a:r>
          </a:p>
        </p:txBody>
      </p:sp>
      <p:sp>
        <p:nvSpPr>
          <p:cNvPr id="132" name="TextBox 131"/>
          <p:cNvSpPr txBox="1"/>
          <p:nvPr/>
        </p:nvSpPr>
        <p:spPr>
          <a:xfrm>
            <a:off x="4543425"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 </a:t>
            </a:r>
          </a:p>
        </p:txBody>
      </p:sp>
      <p:sp>
        <p:nvSpPr>
          <p:cNvPr id="133" name="TextBox 132"/>
          <p:cNvSpPr txBox="1"/>
          <p:nvPr/>
        </p:nvSpPr>
        <p:spPr>
          <a:xfrm>
            <a:off x="4543425" y="2047722"/>
            <a:ext cx="1038225" cy="182537"/>
          </a:xfrm>
          <a:prstGeom prst="rect">
            <a:avLst/>
          </a:prstGeom>
          <a:noFill/>
        </p:spPr>
        <p:txBody>
          <a:bodyPr wrap="square" lIns="28575" tIns="9525" rIns="28575" bIns="9525" anchor="ctr">
            <a:spAutoFit/>
          </a:bodyPr>
          <a:lstStyle/>
          <a:p>
            <a:pPr algn="ctr"/>
            <a:r>
              <a:rPr sz="1100" b="1">
                <a:solidFill>
                  <a:srgbClr val="008189"/>
                </a:solidFill>
                <a:latin typeface="Calibri"/>
              </a:rPr>
              <a:t>✔ ✔ </a:t>
            </a:r>
            <a:r>
              <a:rPr sz="1100" b="1">
                <a:solidFill>
                  <a:srgbClr val="E44D3A"/>
                </a:solidFill>
                <a:latin typeface="Calibri"/>
              </a:rPr>
              <a:t>✘ </a:t>
            </a:r>
          </a:p>
        </p:txBody>
      </p:sp>
      <p:sp>
        <p:nvSpPr>
          <p:cNvPr id="134" name="Rectangle 133"/>
          <p:cNvSpPr/>
          <p:nvPr/>
        </p:nvSpPr>
        <p:spPr>
          <a:xfrm>
            <a:off x="48339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5" name="Rectangle 134"/>
          <p:cNvSpPr/>
          <p:nvPr/>
        </p:nvSpPr>
        <p:spPr>
          <a:xfrm>
            <a:off x="50053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6" name="Rectangle 135"/>
          <p:cNvSpPr/>
          <p:nvPr/>
        </p:nvSpPr>
        <p:spPr>
          <a:xfrm>
            <a:off x="51768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TextBox 136"/>
          <p:cNvSpPr txBox="1"/>
          <p:nvPr/>
        </p:nvSpPr>
        <p:spPr>
          <a:xfrm>
            <a:off x="4552950"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138" name="TextBox 137"/>
          <p:cNvSpPr txBox="1"/>
          <p:nvPr/>
        </p:nvSpPr>
        <p:spPr>
          <a:xfrm>
            <a:off x="4552950"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139" name="Oval 138"/>
          <p:cNvSpPr/>
          <p:nvPr/>
        </p:nvSpPr>
        <p:spPr>
          <a:xfrm>
            <a:off x="48148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Freeform 139"/>
          <p:cNvSpPr/>
          <p:nvPr/>
        </p:nvSpPr>
        <p:spPr>
          <a:xfrm>
            <a:off x="5067300" y="3416749"/>
            <a:ext cx="95250" cy="237298"/>
          </a:xfrm>
          <a:custGeom>
            <a:avLst/>
            <a:gdLst/>
            <a:ahLst/>
            <a:cxnLst/>
            <a:rect l="l" t="t" r="r" b="b"/>
            <a:pathLst>
              <a:path w="10" h="26">
                <a:moveTo>
                  <a:pt x="0" y="26"/>
                </a:moveTo>
                <a:lnTo>
                  <a:pt x="0" y="0"/>
                </a:lnTo>
                <a:lnTo>
                  <a:pt x="3" y="0"/>
                </a:lnTo>
                <a:lnTo>
                  <a:pt x="7"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1" name="Oval 140"/>
          <p:cNvSpPr/>
          <p:nvPr/>
        </p:nvSpPr>
        <p:spPr>
          <a:xfrm>
            <a:off x="49238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2" name="TextBox 141"/>
          <p:cNvSpPr txBox="1"/>
          <p:nvPr/>
        </p:nvSpPr>
        <p:spPr>
          <a:xfrm>
            <a:off x="4814888" y="3590159"/>
            <a:ext cx="495300" cy="127776"/>
          </a:xfrm>
          <a:prstGeom prst="rect">
            <a:avLst/>
          </a:prstGeom>
          <a:noFill/>
        </p:spPr>
        <p:txBody>
          <a:bodyPr wrap="none" lIns="0" tIns="0" rIns="0" bIns="0" anchor="ctr">
            <a:spAutoFit/>
          </a:bodyPr>
          <a:lstStyle/>
          <a:p>
            <a:pPr algn="ctr"/>
            <a:r>
              <a:rPr sz="1100" b="1">
                <a:solidFill>
                  <a:srgbClr val="0B2E4A"/>
                </a:solidFill>
                <a:latin typeface="Calibri"/>
              </a:rPr>
              <a:t> </a:t>
            </a:r>
          </a:p>
        </p:txBody>
      </p:sp>
      <p:sp>
        <p:nvSpPr>
          <p:cNvPr id="143" name="TextBox 142"/>
          <p:cNvSpPr txBox="1"/>
          <p:nvPr/>
        </p:nvSpPr>
        <p:spPr>
          <a:xfrm>
            <a:off x="4572000"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4" name="Oval 143"/>
          <p:cNvSpPr/>
          <p:nvPr/>
        </p:nvSpPr>
        <p:spPr>
          <a:xfrm>
            <a:off x="4657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5" name="TextBox 144"/>
          <p:cNvSpPr txBox="1"/>
          <p:nvPr/>
        </p:nvSpPr>
        <p:spPr>
          <a:xfrm>
            <a:off x="46577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146" name="Oval 145"/>
          <p:cNvSpPr/>
          <p:nvPr/>
        </p:nvSpPr>
        <p:spPr>
          <a:xfrm>
            <a:off x="48672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7" name="TextBox 146"/>
          <p:cNvSpPr txBox="1"/>
          <p:nvPr/>
        </p:nvSpPr>
        <p:spPr>
          <a:xfrm>
            <a:off x="48672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148" name="Oval 147"/>
          <p:cNvSpPr/>
          <p:nvPr/>
        </p:nvSpPr>
        <p:spPr>
          <a:xfrm>
            <a:off x="50768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9" name="TextBox 148"/>
          <p:cNvSpPr txBox="1"/>
          <p:nvPr/>
        </p:nvSpPr>
        <p:spPr>
          <a:xfrm>
            <a:off x="50768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150" name="Oval 149"/>
          <p:cNvSpPr/>
          <p:nvPr/>
        </p:nvSpPr>
        <p:spPr>
          <a:xfrm>
            <a:off x="5286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1" name="TextBox 150"/>
          <p:cNvSpPr txBox="1"/>
          <p:nvPr/>
        </p:nvSpPr>
        <p:spPr>
          <a:xfrm>
            <a:off x="52863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152" name="Oval 151"/>
          <p:cNvSpPr/>
          <p:nvPr/>
        </p:nvSpPr>
        <p:spPr>
          <a:xfrm>
            <a:off x="47625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3" name="TextBox 152"/>
          <p:cNvSpPr txBox="1"/>
          <p:nvPr/>
        </p:nvSpPr>
        <p:spPr>
          <a:xfrm>
            <a:off x="476250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154" name="Oval 153"/>
          <p:cNvSpPr/>
          <p:nvPr/>
        </p:nvSpPr>
        <p:spPr>
          <a:xfrm>
            <a:off x="49720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5" name="TextBox 154"/>
          <p:cNvSpPr txBox="1"/>
          <p:nvPr/>
        </p:nvSpPr>
        <p:spPr>
          <a:xfrm>
            <a:off x="497205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156" name="Oval 155"/>
          <p:cNvSpPr/>
          <p:nvPr/>
        </p:nvSpPr>
        <p:spPr>
          <a:xfrm>
            <a:off x="51816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7" name="TextBox 156"/>
          <p:cNvSpPr txBox="1"/>
          <p:nvPr/>
        </p:nvSpPr>
        <p:spPr>
          <a:xfrm>
            <a:off x="518160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158" name="TextBox 157"/>
          <p:cNvSpPr txBox="1"/>
          <p:nvPr/>
        </p:nvSpPr>
        <p:spPr>
          <a:xfrm>
            <a:off x="5629275"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Caps Cases Ltd.</a:t>
            </a:r>
          </a:p>
        </p:txBody>
      </p:sp>
      <p:cxnSp>
        <p:nvCxnSpPr>
          <p:cNvPr id="159" name="Connector 158"/>
          <p:cNvCxnSpPr/>
          <p:nvPr/>
        </p:nvCxnSpPr>
        <p:spPr>
          <a:xfrm>
            <a:off x="59102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5629275"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E</a:t>
            </a:r>
          </a:p>
        </p:txBody>
      </p:sp>
      <p:sp>
        <p:nvSpPr>
          <p:cNvPr id="161" name="TextBox 160"/>
          <p:cNvSpPr txBox="1"/>
          <p:nvPr/>
        </p:nvSpPr>
        <p:spPr>
          <a:xfrm>
            <a:off x="5619750"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2" name="TextBox 161"/>
          <p:cNvSpPr txBox="1"/>
          <p:nvPr/>
        </p:nvSpPr>
        <p:spPr>
          <a:xfrm>
            <a:off x="5619750" y="2047722"/>
            <a:ext cx="1038225" cy="182537"/>
          </a:xfrm>
          <a:prstGeom prst="rect">
            <a:avLst/>
          </a:prstGeom>
          <a:noFill/>
        </p:spPr>
        <p:txBody>
          <a:bodyPr wrap="square" lIns="28575" tIns="9525" rIns="2857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3" name="Rectangle 162"/>
          <p:cNvSpPr/>
          <p:nvPr/>
        </p:nvSpPr>
        <p:spPr>
          <a:xfrm>
            <a:off x="59102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4" name="Rectangle 163"/>
          <p:cNvSpPr/>
          <p:nvPr/>
        </p:nvSpPr>
        <p:spPr>
          <a:xfrm>
            <a:off x="60817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5" name="Rectangle 164"/>
          <p:cNvSpPr/>
          <p:nvPr/>
        </p:nvSpPr>
        <p:spPr>
          <a:xfrm>
            <a:off x="62531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TextBox 165"/>
          <p:cNvSpPr txBox="1"/>
          <p:nvPr/>
        </p:nvSpPr>
        <p:spPr>
          <a:xfrm>
            <a:off x="5629275"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167" name="TextBox 166"/>
          <p:cNvSpPr txBox="1"/>
          <p:nvPr/>
        </p:nvSpPr>
        <p:spPr>
          <a:xfrm>
            <a:off x="5629275"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168" name="Oval 167"/>
          <p:cNvSpPr/>
          <p:nvPr/>
        </p:nvSpPr>
        <p:spPr>
          <a:xfrm>
            <a:off x="58912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9" name="Freeform 168"/>
          <p:cNvSpPr/>
          <p:nvPr/>
        </p:nvSpPr>
        <p:spPr>
          <a:xfrm>
            <a:off x="6134100"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0" name="Oval 169"/>
          <p:cNvSpPr/>
          <p:nvPr/>
        </p:nvSpPr>
        <p:spPr>
          <a:xfrm>
            <a:off x="600017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1" name="TextBox 170"/>
          <p:cNvSpPr txBox="1"/>
          <p:nvPr/>
        </p:nvSpPr>
        <p:spPr>
          <a:xfrm>
            <a:off x="5891212" y="3590159"/>
            <a:ext cx="495300" cy="127776"/>
          </a:xfrm>
          <a:prstGeom prst="rect">
            <a:avLst/>
          </a:prstGeom>
          <a:noFill/>
        </p:spPr>
        <p:txBody>
          <a:bodyPr wrap="none" lIns="0" tIns="0" rIns="0" bIns="0" anchor="ctr">
            <a:spAutoFit/>
          </a:bodyPr>
          <a:lstStyle/>
          <a:p>
            <a:pPr algn="ctr"/>
            <a:r>
              <a:rPr sz="1100" b="1">
                <a:solidFill>
                  <a:srgbClr val="0B2E4A"/>
                </a:solidFill>
                <a:latin typeface="Calibri"/>
              </a:rPr>
              <a:t> </a:t>
            </a:r>
          </a:p>
        </p:txBody>
      </p:sp>
      <p:sp>
        <p:nvSpPr>
          <p:cNvPr id="172" name="TextBox 171"/>
          <p:cNvSpPr txBox="1"/>
          <p:nvPr/>
        </p:nvSpPr>
        <p:spPr>
          <a:xfrm>
            <a:off x="5648325"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3" name="Oval 172"/>
          <p:cNvSpPr/>
          <p:nvPr/>
        </p:nvSpPr>
        <p:spPr>
          <a:xfrm>
            <a:off x="57340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4" name="TextBox 173"/>
          <p:cNvSpPr txBox="1"/>
          <p:nvPr/>
        </p:nvSpPr>
        <p:spPr>
          <a:xfrm>
            <a:off x="57340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175" name="Oval 174"/>
          <p:cNvSpPr/>
          <p:nvPr/>
        </p:nvSpPr>
        <p:spPr>
          <a:xfrm>
            <a:off x="59436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6" name="TextBox 175"/>
          <p:cNvSpPr txBox="1"/>
          <p:nvPr/>
        </p:nvSpPr>
        <p:spPr>
          <a:xfrm>
            <a:off x="59436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177" name="Oval 176"/>
          <p:cNvSpPr/>
          <p:nvPr/>
        </p:nvSpPr>
        <p:spPr>
          <a:xfrm>
            <a:off x="61531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8" name="TextBox 177"/>
          <p:cNvSpPr txBox="1"/>
          <p:nvPr/>
        </p:nvSpPr>
        <p:spPr>
          <a:xfrm>
            <a:off x="61531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179" name="Oval 178"/>
          <p:cNvSpPr/>
          <p:nvPr/>
        </p:nvSpPr>
        <p:spPr>
          <a:xfrm>
            <a:off x="63627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0" name="TextBox 179"/>
          <p:cNvSpPr txBox="1"/>
          <p:nvPr/>
        </p:nvSpPr>
        <p:spPr>
          <a:xfrm>
            <a:off x="63627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181" name="Oval 180"/>
          <p:cNvSpPr/>
          <p:nvPr/>
        </p:nvSpPr>
        <p:spPr>
          <a:xfrm>
            <a:off x="58388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2" name="TextBox 181"/>
          <p:cNvSpPr txBox="1"/>
          <p:nvPr/>
        </p:nvSpPr>
        <p:spPr>
          <a:xfrm>
            <a:off x="583882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183" name="Oval 182"/>
          <p:cNvSpPr/>
          <p:nvPr/>
        </p:nvSpPr>
        <p:spPr>
          <a:xfrm>
            <a:off x="60483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4" name="TextBox 183"/>
          <p:cNvSpPr txBox="1"/>
          <p:nvPr/>
        </p:nvSpPr>
        <p:spPr>
          <a:xfrm>
            <a:off x="604837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185" name="Oval 184"/>
          <p:cNvSpPr/>
          <p:nvPr/>
        </p:nvSpPr>
        <p:spPr>
          <a:xfrm>
            <a:off x="62579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6" name="TextBox 185"/>
          <p:cNvSpPr txBox="1"/>
          <p:nvPr/>
        </p:nvSpPr>
        <p:spPr>
          <a:xfrm>
            <a:off x="625792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187" name="TextBox 186"/>
          <p:cNvSpPr txBox="1"/>
          <p:nvPr/>
        </p:nvSpPr>
        <p:spPr>
          <a:xfrm>
            <a:off x="6705600"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M &amp; M Box &amp; Partitions Co.</a:t>
            </a:r>
          </a:p>
        </p:txBody>
      </p:sp>
      <p:cxnSp>
        <p:nvCxnSpPr>
          <p:cNvPr id="188" name="Connector 187"/>
          <p:cNvCxnSpPr/>
          <p:nvPr/>
        </p:nvCxnSpPr>
        <p:spPr>
          <a:xfrm>
            <a:off x="69865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05600"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F</a:t>
            </a:r>
          </a:p>
        </p:txBody>
      </p:sp>
      <p:sp>
        <p:nvSpPr>
          <p:cNvPr id="190" name="TextBox 189"/>
          <p:cNvSpPr txBox="1"/>
          <p:nvPr/>
        </p:nvSpPr>
        <p:spPr>
          <a:xfrm>
            <a:off x="6696075"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91" name="TextBox 190"/>
          <p:cNvSpPr txBox="1"/>
          <p:nvPr/>
        </p:nvSpPr>
        <p:spPr>
          <a:xfrm>
            <a:off x="6696075" y="2047722"/>
            <a:ext cx="1038225" cy="182537"/>
          </a:xfrm>
          <a:prstGeom prst="rect">
            <a:avLst/>
          </a:prstGeom>
          <a:noFill/>
        </p:spPr>
        <p:txBody>
          <a:bodyPr wrap="square" lIns="28575" tIns="9525" rIns="28575" bIns="9525" anchor="ctr">
            <a:spAutoFit/>
          </a:bodyPr>
          <a:lstStyle/>
          <a:p>
            <a:pPr algn="ctr"/>
            <a:r>
              <a:rPr sz="1100" b="1">
                <a:solidFill>
                  <a:srgbClr val="E44D3A"/>
                </a:solidFill>
                <a:latin typeface="Calibri"/>
              </a:rPr>
              <a:t>✘ </a:t>
            </a:r>
            <a:r>
              <a:rPr sz="1100" b="1">
                <a:solidFill>
                  <a:srgbClr val="008189"/>
                </a:solidFill>
                <a:latin typeface="Calibri"/>
              </a:rPr>
              <a:t>✔ ✔ </a:t>
            </a:r>
          </a:p>
        </p:txBody>
      </p:sp>
      <p:sp>
        <p:nvSpPr>
          <p:cNvPr id="192" name="Rectangle 191"/>
          <p:cNvSpPr/>
          <p:nvPr/>
        </p:nvSpPr>
        <p:spPr>
          <a:xfrm>
            <a:off x="69865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3" name="Rectangle 192"/>
          <p:cNvSpPr/>
          <p:nvPr/>
        </p:nvSpPr>
        <p:spPr>
          <a:xfrm>
            <a:off x="71580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4" name="Rectangle 193"/>
          <p:cNvSpPr/>
          <p:nvPr/>
        </p:nvSpPr>
        <p:spPr>
          <a:xfrm>
            <a:off x="73294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5" name="TextBox 194"/>
          <p:cNvSpPr txBox="1"/>
          <p:nvPr/>
        </p:nvSpPr>
        <p:spPr>
          <a:xfrm>
            <a:off x="6705600"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196" name="TextBox 195"/>
          <p:cNvSpPr txBox="1"/>
          <p:nvPr/>
        </p:nvSpPr>
        <p:spPr>
          <a:xfrm>
            <a:off x="6705600"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197" name="Oval 196"/>
          <p:cNvSpPr/>
          <p:nvPr/>
        </p:nvSpPr>
        <p:spPr>
          <a:xfrm>
            <a:off x="69675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8" name="Freeform 197"/>
          <p:cNvSpPr/>
          <p:nvPr/>
        </p:nvSpPr>
        <p:spPr>
          <a:xfrm>
            <a:off x="7219950" y="3416749"/>
            <a:ext cx="95250" cy="237298"/>
          </a:xfrm>
          <a:custGeom>
            <a:avLst/>
            <a:gdLst/>
            <a:ahLst/>
            <a:cxnLst/>
            <a:rect l="l" t="t" r="r" b="b"/>
            <a:pathLst>
              <a:path w="10" h="26">
                <a:moveTo>
                  <a:pt x="0" y="26"/>
                </a:moveTo>
                <a:lnTo>
                  <a:pt x="0" y="0"/>
                </a:lnTo>
                <a:lnTo>
                  <a:pt x="3" y="0"/>
                </a:lnTo>
                <a:lnTo>
                  <a:pt x="6"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9" name="Oval 198"/>
          <p:cNvSpPr/>
          <p:nvPr/>
        </p:nvSpPr>
        <p:spPr>
          <a:xfrm>
            <a:off x="70765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0" name="TextBox 199"/>
          <p:cNvSpPr txBox="1"/>
          <p:nvPr/>
        </p:nvSpPr>
        <p:spPr>
          <a:xfrm>
            <a:off x="6967538" y="3590159"/>
            <a:ext cx="495300" cy="127776"/>
          </a:xfrm>
          <a:prstGeom prst="rect">
            <a:avLst/>
          </a:prstGeom>
          <a:noFill/>
        </p:spPr>
        <p:txBody>
          <a:bodyPr wrap="none" lIns="0" tIns="0" rIns="0" bIns="0" anchor="ctr">
            <a:spAutoFit/>
          </a:bodyPr>
          <a:lstStyle/>
          <a:p>
            <a:pPr algn="ctr"/>
            <a:r>
              <a:rPr sz="1100" b="1">
                <a:solidFill>
                  <a:srgbClr val="0B2E4A"/>
                </a:solidFill>
                <a:latin typeface="Calibri"/>
              </a:rPr>
              <a:t> </a:t>
            </a:r>
          </a:p>
        </p:txBody>
      </p:sp>
      <p:sp>
        <p:nvSpPr>
          <p:cNvPr id="201" name="TextBox 200"/>
          <p:cNvSpPr txBox="1"/>
          <p:nvPr/>
        </p:nvSpPr>
        <p:spPr>
          <a:xfrm>
            <a:off x="6724650"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2" name="Oval 201"/>
          <p:cNvSpPr/>
          <p:nvPr/>
        </p:nvSpPr>
        <p:spPr>
          <a:xfrm>
            <a:off x="6810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3" name="TextBox 202"/>
          <p:cNvSpPr txBox="1"/>
          <p:nvPr/>
        </p:nvSpPr>
        <p:spPr>
          <a:xfrm>
            <a:off x="68103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204" name="Oval 203"/>
          <p:cNvSpPr/>
          <p:nvPr/>
        </p:nvSpPr>
        <p:spPr>
          <a:xfrm>
            <a:off x="70199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5" name="TextBox 204"/>
          <p:cNvSpPr txBox="1"/>
          <p:nvPr/>
        </p:nvSpPr>
        <p:spPr>
          <a:xfrm>
            <a:off x="70199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206" name="Oval 205"/>
          <p:cNvSpPr/>
          <p:nvPr/>
        </p:nvSpPr>
        <p:spPr>
          <a:xfrm>
            <a:off x="72294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7" name="TextBox 206"/>
          <p:cNvSpPr txBox="1"/>
          <p:nvPr/>
        </p:nvSpPr>
        <p:spPr>
          <a:xfrm>
            <a:off x="72294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208" name="Oval 207"/>
          <p:cNvSpPr/>
          <p:nvPr/>
        </p:nvSpPr>
        <p:spPr>
          <a:xfrm>
            <a:off x="7439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9" name="TextBox 208"/>
          <p:cNvSpPr txBox="1"/>
          <p:nvPr/>
        </p:nvSpPr>
        <p:spPr>
          <a:xfrm>
            <a:off x="74390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210" name="Oval 209"/>
          <p:cNvSpPr/>
          <p:nvPr/>
        </p:nvSpPr>
        <p:spPr>
          <a:xfrm>
            <a:off x="69151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1" name="TextBox 210"/>
          <p:cNvSpPr txBox="1"/>
          <p:nvPr/>
        </p:nvSpPr>
        <p:spPr>
          <a:xfrm>
            <a:off x="691515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212" name="Oval 211"/>
          <p:cNvSpPr/>
          <p:nvPr/>
        </p:nvSpPr>
        <p:spPr>
          <a:xfrm>
            <a:off x="71247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3" name="TextBox 212"/>
          <p:cNvSpPr txBox="1"/>
          <p:nvPr/>
        </p:nvSpPr>
        <p:spPr>
          <a:xfrm>
            <a:off x="712470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214" name="Oval 213"/>
          <p:cNvSpPr/>
          <p:nvPr/>
        </p:nvSpPr>
        <p:spPr>
          <a:xfrm>
            <a:off x="73342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5" name="TextBox 214"/>
          <p:cNvSpPr txBox="1"/>
          <p:nvPr/>
        </p:nvSpPr>
        <p:spPr>
          <a:xfrm>
            <a:off x="733425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216" name="TextBox 215"/>
          <p:cNvSpPr txBox="1"/>
          <p:nvPr/>
        </p:nvSpPr>
        <p:spPr>
          <a:xfrm>
            <a:off x="7781925"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Martin Partitions</a:t>
            </a:r>
          </a:p>
        </p:txBody>
      </p:sp>
      <p:cxnSp>
        <p:nvCxnSpPr>
          <p:cNvPr id="217" name="Connector 216"/>
          <p:cNvCxnSpPr/>
          <p:nvPr/>
        </p:nvCxnSpPr>
        <p:spPr>
          <a:xfrm>
            <a:off x="80629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7781925"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G</a:t>
            </a:r>
          </a:p>
        </p:txBody>
      </p:sp>
      <p:sp>
        <p:nvSpPr>
          <p:cNvPr id="219" name="TextBox 218"/>
          <p:cNvSpPr txBox="1"/>
          <p:nvPr/>
        </p:nvSpPr>
        <p:spPr>
          <a:xfrm>
            <a:off x="7772400"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 </a:t>
            </a:r>
          </a:p>
        </p:txBody>
      </p:sp>
      <p:sp>
        <p:nvSpPr>
          <p:cNvPr id="220" name="TextBox 219"/>
          <p:cNvSpPr txBox="1"/>
          <p:nvPr/>
        </p:nvSpPr>
        <p:spPr>
          <a:xfrm>
            <a:off x="7772400" y="2047722"/>
            <a:ext cx="1038225" cy="182537"/>
          </a:xfrm>
          <a:prstGeom prst="rect">
            <a:avLst/>
          </a:prstGeom>
          <a:noFill/>
        </p:spPr>
        <p:txBody>
          <a:bodyPr wrap="square" lIns="28575" tIns="9525" rIns="28575" bIns="9525" anchor="ctr">
            <a:spAutoFit/>
          </a:bodyPr>
          <a:lstStyle/>
          <a:p>
            <a:pPr algn="ctr"/>
            <a:r>
              <a:rPr sz="1100" b="1">
                <a:solidFill>
                  <a:srgbClr val="008189"/>
                </a:solidFill>
                <a:latin typeface="Calibri"/>
              </a:rPr>
              <a:t>✔ ✔ </a:t>
            </a:r>
            <a:r>
              <a:rPr sz="1100" b="1">
                <a:solidFill>
                  <a:srgbClr val="E44D3A"/>
                </a:solidFill>
                <a:latin typeface="Calibri"/>
              </a:rPr>
              <a:t>✘ </a:t>
            </a:r>
          </a:p>
        </p:txBody>
      </p:sp>
      <p:sp>
        <p:nvSpPr>
          <p:cNvPr id="221" name="Rectangle 220"/>
          <p:cNvSpPr/>
          <p:nvPr/>
        </p:nvSpPr>
        <p:spPr>
          <a:xfrm>
            <a:off x="80629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2" name="Rectangle 221"/>
          <p:cNvSpPr/>
          <p:nvPr/>
        </p:nvSpPr>
        <p:spPr>
          <a:xfrm>
            <a:off x="82343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3" name="Rectangle 222"/>
          <p:cNvSpPr/>
          <p:nvPr/>
        </p:nvSpPr>
        <p:spPr>
          <a:xfrm>
            <a:off x="84058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4" name="TextBox 223"/>
          <p:cNvSpPr txBox="1"/>
          <p:nvPr/>
        </p:nvSpPr>
        <p:spPr>
          <a:xfrm>
            <a:off x="7781925"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225" name="TextBox 224"/>
          <p:cNvSpPr txBox="1"/>
          <p:nvPr/>
        </p:nvSpPr>
        <p:spPr>
          <a:xfrm>
            <a:off x="7781925"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226" name="Oval 225"/>
          <p:cNvSpPr/>
          <p:nvPr/>
        </p:nvSpPr>
        <p:spPr>
          <a:xfrm>
            <a:off x="80438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7" name="Freeform 226"/>
          <p:cNvSpPr/>
          <p:nvPr/>
        </p:nvSpPr>
        <p:spPr>
          <a:xfrm>
            <a:off x="8286750" y="3416749"/>
            <a:ext cx="85725" cy="237298"/>
          </a:xfrm>
          <a:custGeom>
            <a:avLst/>
            <a:gdLst/>
            <a:ahLst/>
            <a:cxnLst/>
            <a:rect l="l" t="t" r="r" b="b"/>
            <a:pathLst>
              <a:path w="9" h="26">
                <a:moveTo>
                  <a:pt x="0" y="26"/>
                </a:moveTo>
                <a:lnTo>
                  <a:pt x="0" y="0"/>
                </a:lnTo>
                <a:lnTo>
                  <a:pt x="5" y="0"/>
                </a:lnTo>
                <a:lnTo>
                  <a:pt x="9"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8" name="Oval 227"/>
          <p:cNvSpPr/>
          <p:nvPr/>
        </p:nvSpPr>
        <p:spPr>
          <a:xfrm>
            <a:off x="815282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9" name="TextBox 228"/>
          <p:cNvSpPr txBox="1"/>
          <p:nvPr/>
        </p:nvSpPr>
        <p:spPr>
          <a:xfrm>
            <a:off x="8043862" y="3590159"/>
            <a:ext cx="495300" cy="127776"/>
          </a:xfrm>
          <a:prstGeom prst="rect">
            <a:avLst/>
          </a:prstGeom>
          <a:noFill/>
        </p:spPr>
        <p:txBody>
          <a:bodyPr wrap="none" lIns="0" tIns="0" rIns="0" bIns="0" anchor="ctr">
            <a:spAutoFit/>
          </a:bodyPr>
          <a:lstStyle/>
          <a:p>
            <a:pPr algn="ctr"/>
            <a:r>
              <a:rPr sz="1100" b="1">
                <a:solidFill>
                  <a:srgbClr val="0B2E4A"/>
                </a:solidFill>
                <a:latin typeface="Calibri"/>
              </a:rPr>
              <a:t> </a:t>
            </a:r>
          </a:p>
        </p:txBody>
      </p:sp>
      <p:sp>
        <p:nvSpPr>
          <p:cNvPr id="230" name="TextBox 229"/>
          <p:cNvSpPr txBox="1"/>
          <p:nvPr/>
        </p:nvSpPr>
        <p:spPr>
          <a:xfrm>
            <a:off x="7800975"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31" name="Oval 230"/>
          <p:cNvSpPr/>
          <p:nvPr/>
        </p:nvSpPr>
        <p:spPr>
          <a:xfrm>
            <a:off x="78867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2" name="TextBox 231"/>
          <p:cNvSpPr txBox="1"/>
          <p:nvPr/>
        </p:nvSpPr>
        <p:spPr>
          <a:xfrm>
            <a:off x="78867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233" name="Oval 232"/>
          <p:cNvSpPr/>
          <p:nvPr/>
        </p:nvSpPr>
        <p:spPr>
          <a:xfrm>
            <a:off x="80962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4" name="TextBox 233"/>
          <p:cNvSpPr txBox="1"/>
          <p:nvPr/>
        </p:nvSpPr>
        <p:spPr>
          <a:xfrm>
            <a:off x="80962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235" name="Oval 234"/>
          <p:cNvSpPr/>
          <p:nvPr/>
        </p:nvSpPr>
        <p:spPr>
          <a:xfrm>
            <a:off x="83058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6" name="TextBox 235"/>
          <p:cNvSpPr txBox="1"/>
          <p:nvPr/>
        </p:nvSpPr>
        <p:spPr>
          <a:xfrm>
            <a:off x="83058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237" name="Oval 236"/>
          <p:cNvSpPr/>
          <p:nvPr/>
        </p:nvSpPr>
        <p:spPr>
          <a:xfrm>
            <a:off x="85153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8" name="TextBox 237"/>
          <p:cNvSpPr txBox="1"/>
          <p:nvPr/>
        </p:nvSpPr>
        <p:spPr>
          <a:xfrm>
            <a:off x="85153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239" name="Oval 238"/>
          <p:cNvSpPr/>
          <p:nvPr/>
        </p:nvSpPr>
        <p:spPr>
          <a:xfrm>
            <a:off x="79914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0" name="TextBox 239"/>
          <p:cNvSpPr txBox="1"/>
          <p:nvPr/>
        </p:nvSpPr>
        <p:spPr>
          <a:xfrm>
            <a:off x="799147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241" name="Oval 240"/>
          <p:cNvSpPr/>
          <p:nvPr/>
        </p:nvSpPr>
        <p:spPr>
          <a:xfrm>
            <a:off x="82010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2" name="TextBox 241"/>
          <p:cNvSpPr txBox="1"/>
          <p:nvPr/>
        </p:nvSpPr>
        <p:spPr>
          <a:xfrm>
            <a:off x="820102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243" name="Oval 242"/>
          <p:cNvSpPr/>
          <p:nvPr/>
        </p:nvSpPr>
        <p:spPr>
          <a:xfrm>
            <a:off x="84105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4" name="TextBox 243"/>
          <p:cNvSpPr txBox="1"/>
          <p:nvPr/>
        </p:nvSpPr>
        <p:spPr>
          <a:xfrm>
            <a:off x="841057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245" name="TextBox 244"/>
          <p:cNvSpPr txBox="1"/>
          <p:nvPr/>
        </p:nvSpPr>
        <p:spPr>
          <a:xfrm>
            <a:off x="8858250"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Buckeye Corrugated Inc.</a:t>
            </a:r>
          </a:p>
        </p:txBody>
      </p:sp>
      <p:cxnSp>
        <p:nvCxnSpPr>
          <p:cNvPr id="246" name="Connector 245"/>
          <p:cNvCxnSpPr/>
          <p:nvPr/>
        </p:nvCxnSpPr>
        <p:spPr>
          <a:xfrm>
            <a:off x="91392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8858250"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H</a:t>
            </a:r>
          </a:p>
        </p:txBody>
      </p:sp>
      <p:sp>
        <p:nvSpPr>
          <p:cNvPr id="248" name="TextBox 247"/>
          <p:cNvSpPr txBox="1"/>
          <p:nvPr/>
        </p:nvSpPr>
        <p:spPr>
          <a:xfrm>
            <a:off x="8848725"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9" name="TextBox 248"/>
          <p:cNvSpPr txBox="1"/>
          <p:nvPr/>
        </p:nvSpPr>
        <p:spPr>
          <a:xfrm>
            <a:off x="8848725" y="2047722"/>
            <a:ext cx="1038225" cy="182537"/>
          </a:xfrm>
          <a:prstGeom prst="rect">
            <a:avLst/>
          </a:prstGeom>
          <a:noFill/>
        </p:spPr>
        <p:txBody>
          <a:bodyPr wrap="square" lIns="28575" tIns="9525" rIns="2857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50" name="Rectangle 249"/>
          <p:cNvSpPr/>
          <p:nvPr/>
        </p:nvSpPr>
        <p:spPr>
          <a:xfrm>
            <a:off x="91392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1" name="Rectangle 250"/>
          <p:cNvSpPr/>
          <p:nvPr/>
        </p:nvSpPr>
        <p:spPr>
          <a:xfrm>
            <a:off x="93106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2" name="Rectangle 251"/>
          <p:cNvSpPr/>
          <p:nvPr/>
        </p:nvSpPr>
        <p:spPr>
          <a:xfrm>
            <a:off x="94821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3" name="TextBox 252"/>
          <p:cNvSpPr txBox="1"/>
          <p:nvPr/>
        </p:nvSpPr>
        <p:spPr>
          <a:xfrm>
            <a:off x="8858250"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254" name="TextBox 253"/>
          <p:cNvSpPr txBox="1"/>
          <p:nvPr/>
        </p:nvSpPr>
        <p:spPr>
          <a:xfrm>
            <a:off x="8858250"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255" name="Oval 254"/>
          <p:cNvSpPr/>
          <p:nvPr/>
        </p:nvSpPr>
        <p:spPr>
          <a:xfrm>
            <a:off x="91201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6" name="Freeform 255"/>
          <p:cNvSpPr/>
          <p:nvPr/>
        </p:nvSpPr>
        <p:spPr>
          <a:xfrm>
            <a:off x="9372600" y="3416749"/>
            <a:ext cx="47625" cy="237298"/>
          </a:xfrm>
          <a:custGeom>
            <a:avLst/>
            <a:gdLst/>
            <a:ahLst/>
            <a:cxnLst/>
            <a:rect l="l" t="t" r="r" b="b"/>
            <a:pathLst>
              <a:path w="5" h="26">
                <a:moveTo>
                  <a:pt x="0" y="26"/>
                </a:moveTo>
                <a:lnTo>
                  <a:pt x="0" y="0"/>
                </a:lnTo>
                <a:lnTo>
                  <a:pt x="2" y="0"/>
                </a:lnTo>
                <a:lnTo>
                  <a:pt x="5"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7" name="Oval 256"/>
          <p:cNvSpPr/>
          <p:nvPr/>
        </p:nvSpPr>
        <p:spPr>
          <a:xfrm>
            <a:off x="92291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8" name="TextBox 257"/>
          <p:cNvSpPr txBox="1"/>
          <p:nvPr/>
        </p:nvSpPr>
        <p:spPr>
          <a:xfrm>
            <a:off x="9120188" y="3590159"/>
            <a:ext cx="495300" cy="127776"/>
          </a:xfrm>
          <a:prstGeom prst="rect">
            <a:avLst/>
          </a:prstGeom>
          <a:noFill/>
        </p:spPr>
        <p:txBody>
          <a:bodyPr wrap="none" lIns="0" tIns="0" rIns="0" bIns="0" anchor="ctr">
            <a:spAutoFit/>
          </a:bodyPr>
          <a:lstStyle/>
          <a:p>
            <a:pPr algn="ctr"/>
            <a:r>
              <a:rPr sz="1100" b="1">
                <a:solidFill>
                  <a:srgbClr val="0B2E4A"/>
                </a:solidFill>
                <a:latin typeface="Calibri"/>
              </a:rPr>
              <a:t> </a:t>
            </a:r>
          </a:p>
        </p:txBody>
      </p:sp>
      <p:sp>
        <p:nvSpPr>
          <p:cNvPr id="259" name="TextBox 258"/>
          <p:cNvSpPr txBox="1"/>
          <p:nvPr/>
        </p:nvSpPr>
        <p:spPr>
          <a:xfrm>
            <a:off x="8877300"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60" name="Oval 259"/>
          <p:cNvSpPr/>
          <p:nvPr/>
        </p:nvSpPr>
        <p:spPr>
          <a:xfrm>
            <a:off x="8963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1" name="TextBox 260"/>
          <p:cNvSpPr txBox="1"/>
          <p:nvPr/>
        </p:nvSpPr>
        <p:spPr>
          <a:xfrm>
            <a:off x="89630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262" name="Oval 261"/>
          <p:cNvSpPr/>
          <p:nvPr/>
        </p:nvSpPr>
        <p:spPr>
          <a:xfrm>
            <a:off x="91725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3" name="TextBox 262"/>
          <p:cNvSpPr txBox="1"/>
          <p:nvPr/>
        </p:nvSpPr>
        <p:spPr>
          <a:xfrm>
            <a:off x="91725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264" name="Oval 263"/>
          <p:cNvSpPr/>
          <p:nvPr/>
        </p:nvSpPr>
        <p:spPr>
          <a:xfrm>
            <a:off x="93821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5" name="TextBox 264"/>
          <p:cNvSpPr txBox="1"/>
          <p:nvPr/>
        </p:nvSpPr>
        <p:spPr>
          <a:xfrm>
            <a:off x="93821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266" name="Oval 265"/>
          <p:cNvSpPr/>
          <p:nvPr/>
        </p:nvSpPr>
        <p:spPr>
          <a:xfrm>
            <a:off x="9591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7" name="TextBox 266"/>
          <p:cNvSpPr txBox="1"/>
          <p:nvPr/>
        </p:nvSpPr>
        <p:spPr>
          <a:xfrm>
            <a:off x="95916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268" name="Oval 267"/>
          <p:cNvSpPr/>
          <p:nvPr/>
        </p:nvSpPr>
        <p:spPr>
          <a:xfrm>
            <a:off x="90678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9" name="TextBox 268"/>
          <p:cNvSpPr txBox="1"/>
          <p:nvPr/>
        </p:nvSpPr>
        <p:spPr>
          <a:xfrm>
            <a:off x="906780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270" name="Oval 269"/>
          <p:cNvSpPr/>
          <p:nvPr/>
        </p:nvSpPr>
        <p:spPr>
          <a:xfrm>
            <a:off x="92773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1" name="TextBox 270"/>
          <p:cNvSpPr txBox="1"/>
          <p:nvPr/>
        </p:nvSpPr>
        <p:spPr>
          <a:xfrm>
            <a:off x="927735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272" name="Oval 271"/>
          <p:cNvSpPr/>
          <p:nvPr/>
        </p:nvSpPr>
        <p:spPr>
          <a:xfrm>
            <a:off x="94869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3" name="TextBox 272"/>
          <p:cNvSpPr txBox="1"/>
          <p:nvPr/>
        </p:nvSpPr>
        <p:spPr>
          <a:xfrm>
            <a:off x="948690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274" name="TextBox 273"/>
          <p:cNvSpPr txBox="1"/>
          <p:nvPr/>
        </p:nvSpPr>
        <p:spPr>
          <a:xfrm>
            <a:off x="9934575"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Cactus Corrugated Containers Inc.</a:t>
            </a:r>
          </a:p>
        </p:txBody>
      </p:sp>
      <p:cxnSp>
        <p:nvCxnSpPr>
          <p:cNvPr id="275" name="Connector 274"/>
          <p:cNvCxnSpPr/>
          <p:nvPr/>
        </p:nvCxnSpPr>
        <p:spPr>
          <a:xfrm>
            <a:off x="102155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934575"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I</a:t>
            </a:r>
          </a:p>
        </p:txBody>
      </p:sp>
      <p:sp>
        <p:nvSpPr>
          <p:cNvPr id="277" name="TextBox 276"/>
          <p:cNvSpPr txBox="1"/>
          <p:nvPr/>
        </p:nvSpPr>
        <p:spPr>
          <a:xfrm>
            <a:off x="9925050"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278" name="TextBox 277"/>
          <p:cNvSpPr txBox="1"/>
          <p:nvPr/>
        </p:nvSpPr>
        <p:spPr>
          <a:xfrm>
            <a:off x="9925050" y="2047722"/>
            <a:ext cx="1038225" cy="182537"/>
          </a:xfrm>
          <a:prstGeom prst="rect">
            <a:avLst/>
          </a:prstGeom>
          <a:noFill/>
        </p:spPr>
        <p:txBody>
          <a:bodyPr wrap="square" lIns="28575" tIns="9525" rIns="28575" bIns="9525" anchor="ctr">
            <a:spAutoFit/>
          </a:bodyPr>
          <a:lstStyle/>
          <a:p>
            <a:pPr algn="ctr"/>
            <a:r>
              <a:rPr sz="1100" b="1">
                <a:solidFill>
                  <a:srgbClr val="E44D3A"/>
                </a:solidFill>
                <a:latin typeface="Calibri"/>
              </a:rPr>
              <a:t>✘ </a:t>
            </a:r>
            <a:r>
              <a:rPr sz="1100" b="1">
                <a:solidFill>
                  <a:srgbClr val="008189"/>
                </a:solidFill>
                <a:latin typeface="Calibri"/>
              </a:rPr>
              <a:t>✔ ✔ </a:t>
            </a:r>
          </a:p>
        </p:txBody>
      </p:sp>
      <p:sp>
        <p:nvSpPr>
          <p:cNvPr id="279" name="Rectangle 278"/>
          <p:cNvSpPr/>
          <p:nvPr/>
        </p:nvSpPr>
        <p:spPr>
          <a:xfrm>
            <a:off x="102155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0" name="Rectangle 279"/>
          <p:cNvSpPr/>
          <p:nvPr/>
        </p:nvSpPr>
        <p:spPr>
          <a:xfrm>
            <a:off x="103870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1" name="Rectangle 280"/>
          <p:cNvSpPr/>
          <p:nvPr/>
        </p:nvSpPr>
        <p:spPr>
          <a:xfrm>
            <a:off x="105584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2" name="TextBox 281"/>
          <p:cNvSpPr txBox="1"/>
          <p:nvPr/>
        </p:nvSpPr>
        <p:spPr>
          <a:xfrm>
            <a:off x="9934575"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283" name="TextBox 282"/>
          <p:cNvSpPr txBox="1"/>
          <p:nvPr/>
        </p:nvSpPr>
        <p:spPr>
          <a:xfrm>
            <a:off x="9934575"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284" name="Oval 283"/>
          <p:cNvSpPr/>
          <p:nvPr/>
        </p:nvSpPr>
        <p:spPr>
          <a:xfrm>
            <a:off x="101965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5" name="Freeform 284"/>
          <p:cNvSpPr/>
          <p:nvPr/>
        </p:nvSpPr>
        <p:spPr>
          <a:xfrm>
            <a:off x="10439400" y="3416749"/>
            <a:ext cx="38100" cy="237298"/>
          </a:xfrm>
          <a:custGeom>
            <a:avLst/>
            <a:gdLst/>
            <a:ahLst/>
            <a:cxnLst/>
            <a:rect l="l" t="t" r="r" b="b"/>
            <a:pathLst>
              <a:path w="4" h="26">
                <a:moveTo>
                  <a:pt x="0" y="26"/>
                </a:moveTo>
                <a:lnTo>
                  <a:pt x="0" y="0"/>
                </a:lnTo>
                <a:lnTo>
                  <a:pt x="2" y="0"/>
                </a:lnTo>
                <a:lnTo>
                  <a:pt x="4"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6" name="Oval 285"/>
          <p:cNvSpPr/>
          <p:nvPr/>
        </p:nvSpPr>
        <p:spPr>
          <a:xfrm>
            <a:off x="103054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7" name="TextBox 286"/>
          <p:cNvSpPr txBox="1"/>
          <p:nvPr/>
        </p:nvSpPr>
        <p:spPr>
          <a:xfrm>
            <a:off x="10196512" y="3590159"/>
            <a:ext cx="495300" cy="127776"/>
          </a:xfrm>
          <a:prstGeom prst="rect">
            <a:avLst/>
          </a:prstGeom>
          <a:noFill/>
        </p:spPr>
        <p:txBody>
          <a:bodyPr wrap="none" lIns="0" tIns="0" rIns="0" bIns="0" anchor="ctr">
            <a:spAutoFit/>
          </a:bodyPr>
          <a:lstStyle/>
          <a:p>
            <a:pPr algn="ctr"/>
            <a:r>
              <a:rPr sz="1100" b="1">
                <a:solidFill>
                  <a:srgbClr val="0B2E4A"/>
                </a:solidFill>
                <a:latin typeface="Calibri"/>
              </a:rPr>
              <a:t> </a:t>
            </a:r>
          </a:p>
        </p:txBody>
      </p:sp>
      <p:sp>
        <p:nvSpPr>
          <p:cNvPr id="288" name="TextBox 287"/>
          <p:cNvSpPr txBox="1"/>
          <p:nvPr/>
        </p:nvSpPr>
        <p:spPr>
          <a:xfrm>
            <a:off x="9953625"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289" name="Oval 288"/>
          <p:cNvSpPr/>
          <p:nvPr/>
        </p:nvSpPr>
        <p:spPr>
          <a:xfrm>
            <a:off x="100393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0" name="TextBox 289"/>
          <p:cNvSpPr txBox="1"/>
          <p:nvPr/>
        </p:nvSpPr>
        <p:spPr>
          <a:xfrm>
            <a:off x="100393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291" name="Oval 290"/>
          <p:cNvSpPr/>
          <p:nvPr/>
        </p:nvSpPr>
        <p:spPr>
          <a:xfrm>
            <a:off x="102489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2" name="TextBox 291"/>
          <p:cNvSpPr txBox="1"/>
          <p:nvPr/>
        </p:nvSpPr>
        <p:spPr>
          <a:xfrm>
            <a:off x="102489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293" name="Oval 292"/>
          <p:cNvSpPr/>
          <p:nvPr/>
        </p:nvSpPr>
        <p:spPr>
          <a:xfrm>
            <a:off x="104584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4" name="TextBox 293"/>
          <p:cNvSpPr txBox="1"/>
          <p:nvPr/>
        </p:nvSpPr>
        <p:spPr>
          <a:xfrm>
            <a:off x="1045845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295" name="Oval 294"/>
          <p:cNvSpPr/>
          <p:nvPr/>
        </p:nvSpPr>
        <p:spPr>
          <a:xfrm>
            <a:off x="106680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6" name="TextBox 295"/>
          <p:cNvSpPr txBox="1"/>
          <p:nvPr/>
        </p:nvSpPr>
        <p:spPr>
          <a:xfrm>
            <a:off x="10668000"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297" name="Oval 296"/>
          <p:cNvSpPr/>
          <p:nvPr/>
        </p:nvSpPr>
        <p:spPr>
          <a:xfrm>
            <a:off x="101441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8" name="TextBox 297"/>
          <p:cNvSpPr txBox="1"/>
          <p:nvPr/>
        </p:nvSpPr>
        <p:spPr>
          <a:xfrm>
            <a:off x="1014412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299" name="Oval 298"/>
          <p:cNvSpPr/>
          <p:nvPr/>
        </p:nvSpPr>
        <p:spPr>
          <a:xfrm>
            <a:off x="103536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0" name="TextBox 299"/>
          <p:cNvSpPr txBox="1"/>
          <p:nvPr/>
        </p:nvSpPr>
        <p:spPr>
          <a:xfrm>
            <a:off x="1035367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301" name="Oval 300"/>
          <p:cNvSpPr/>
          <p:nvPr/>
        </p:nvSpPr>
        <p:spPr>
          <a:xfrm>
            <a:off x="105632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2" name="TextBox 301"/>
          <p:cNvSpPr txBox="1"/>
          <p:nvPr/>
        </p:nvSpPr>
        <p:spPr>
          <a:xfrm>
            <a:off x="10563225"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303" name="TextBox 302"/>
          <p:cNvSpPr txBox="1"/>
          <p:nvPr/>
        </p:nvSpPr>
        <p:spPr>
          <a:xfrm>
            <a:off x="11010900" y="1189798"/>
            <a:ext cx="1019175" cy="328567"/>
          </a:xfrm>
          <a:prstGeom prst="rect">
            <a:avLst/>
          </a:prstGeom>
          <a:noFill/>
        </p:spPr>
        <p:txBody>
          <a:bodyPr wrap="square" lIns="9525" tIns="9525" rIns="9525" bIns="9525" anchor="ctr">
            <a:spAutoFit/>
          </a:bodyPr>
          <a:lstStyle/>
          <a:p>
            <a:pPr algn="ctr">
              <a:lnSpc>
                <a:spcPct val="95000"/>
              </a:lnSpc>
            </a:pPr>
            <a:r>
              <a:rPr sz="1100" b="1">
                <a:solidFill>
                  <a:srgbClr val="2E2E2E"/>
                </a:solidFill>
                <a:latin typeface="Calibri"/>
              </a:rPr>
              <a:t>Jarrett Industries Inc.</a:t>
            </a:r>
          </a:p>
        </p:txBody>
      </p:sp>
      <p:cxnSp>
        <p:nvCxnSpPr>
          <p:cNvPr id="304" name="Connector 303"/>
          <p:cNvCxnSpPr/>
          <p:nvPr/>
        </p:nvCxnSpPr>
        <p:spPr>
          <a:xfrm>
            <a:off x="112918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05" name="TextBox 304"/>
          <p:cNvSpPr txBox="1"/>
          <p:nvPr/>
        </p:nvSpPr>
        <p:spPr>
          <a:xfrm>
            <a:off x="11010900" y="1536618"/>
            <a:ext cx="1019175" cy="255552"/>
          </a:xfrm>
          <a:prstGeom prst="rect">
            <a:avLst/>
          </a:prstGeom>
          <a:noFill/>
        </p:spPr>
        <p:txBody>
          <a:bodyPr wrap="square" lIns="28575" tIns="9525" rIns="28575" bIns="9525" anchor="ctr">
            <a:spAutoFit/>
          </a:bodyPr>
          <a:lstStyle/>
          <a:p>
            <a:pPr algn="ctr"/>
            <a:r>
              <a:rPr sz="1100" b="0">
                <a:solidFill>
                  <a:srgbClr val="AFB4B9"/>
                </a:solidFill>
                <a:latin typeface="Calibri"/>
              </a:rPr>
              <a:t>Brand J</a:t>
            </a:r>
          </a:p>
        </p:txBody>
      </p:sp>
      <p:sp>
        <p:nvSpPr>
          <p:cNvPr id="306" name="TextBox 305"/>
          <p:cNvSpPr txBox="1"/>
          <p:nvPr/>
        </p:nvSpPr>
        <p:spPr>
          <a:xfrm>
            <a:off x="11001375" y="1828677"/>
            <a:ext cx="1038225" cy="200791"/>
          </a:xfrm>
          <a:prstGeom prst="rect">
            <a:avLst/>
          </a:prstGeom>
          <a:noFill/>
        </p:spPr>
        <p:txBody>
          <a:bodyPr wrap="square" lIns="0" tIns="0" r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 </a:t>
            </a:r>
          </a:p>
        </p:txBody>
      </p:sp>
      <p:sp>
        <p:nvSpPr>
          <p:cNvPr id="307" name="TextBox 306"/>
          <p:cNvSpPr txBox="1"/>
          <p:nvPr/>
        </p:nvSpPr>
        <p:spPr>
          <a:xfrm>
            <a:off x="11001375" y="2047722"/>
            <a:ext cx="1038225" cy="182537"/>
          </a:xfrm>
          <a:prstGeom prst="rect">
            <a:avLst/>
          </a:prstGeom>
          <a:noFill/>
        </p:spPr>
        <p:txBody>
          <a:bodyPr wrap="square" lIns="28575" tIns="9525" rIns="28575" bIns="9525" anchor="ctr">
            <a:spAutoFit/>
          </a:bodyPr>
          <a:lstStyle/>
          <a:p>
            <a:pPr algn="ctr"/>
            <a:r>
              <a:rPr sz="1100" b="1">
                <a:solidFill>
                  <a:srgbClr val="008189"/>
                </a:solidFill>
                <a:latin typeface="Calibri"/>
              </a:rPr>
              <a:t>✔ ✔ </a:t>
            </a:r>
            <a:r>
              <a:rPr sz="1100" b="1">
                <a:solidFill>
                  <a:srgbClr val="E44D3A"/>
                </a:solidFill>
                <a:latin typeface="Calibri"/>
              </a:rPr>
              <a:t>✘ </a:t>
            </a:r>
          </a:p>
        </p:txBody>
      </p:sp>
      <p:sp>
        <p:nvSpPr>
          <p:cNvPr id="308" name="Rectangle 307"/>
          <p:cNvSpPr/>
          <p:nvPr/>
        </p:nvSpPr>
        <p:spPr>
          <a:xfrm>
            <a:off x="112918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09" name="Rectangle 308"/>
          <p:cNvSpPr/>
          <p:nvPr/>
        </p:nvSpPr>
        <p:spPr>
          <a:xfrm>
            <a:off x="114633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0" name="Rectangle 309"/>
          <p:cNvSpPr/>
          <p:nvPr/>
        </p:nvSpPr>
        <p:spPr>
          <a:xfrm>
            <a:off x="116347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1" name="TextBox 310"/>
          <p:cNvSpPr txBox="1"/>
          <p:nvPr/>
        </p:nvSpPr>
        <p:spPr>
          <a:xfrm>
            <a:off x="11010900" y="2631840"/>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312" name="TextBox 311"/>
          <p:cNvSpPr txBox="1"/>
          <p:nvPr/>
        </p:nvSpPr>
        <p:spPr>
          <a:xfrm>
            <a:off x="11010900" y="2960407"/>
            <a:ext cx="1019175" cy="328567"/>
          </a:xfrm>
          <a:prstGeom prst="rect">
            <a:avLst/>
          </a:prstGeom>
          <a:noFill/>
        </p:spPr>
        <p:txBody>
          <a:bodyPr wrap="square" lIns="28575" tIns="9525" rIns="28575" bIns="9525" anchor="ctr">
            <a:spAutoFit/>
          </a:bodyPr>
          <a:lstStyle/>
          <a:p>
            <a:pPr algn="ctr"/>
            <a:r>
              <a:rPr sz="1100" b="0">
                <a:solidFill>
                  <a:srgbClr val="2E2E2E"/>
                </a:solidFill>
                <a:latin typeface="Calibri"/>
              </a:rPr>
              <a:t> </a:t>
            </a:r>
          </a:p>
        </p:txBody>
      </p:sp>
      <p:sp>
        <p:nvSpPr>
          <p:cNvPr id="313" name="Oval 312"/>
          <p:cNvSpPr/>
          <p:nvPr/>
        </p:nvSpPr>
        <p:spPr>
          <a:xfrm>
            <a:off x="112728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4" name="Freeform 313"/>
          <p:cNvSpPr/>
          <p:nvPr/>
        </p:nvSpPr>
        <p:spPr>
          <a:xfrm>
            <a:off x="11525250" y="3416749"/>
            <a:ext cx="28575" cy="237298"/>
          </a:xfrm>
          <a:custGeom>
            <a:avLst/>
            <a:gdLst/>
            <a:ahLst/>
            <a:cxnLst/>
            <a:rect l="l" t="t" r="r" b="b"/>
            <a:pathLst>
              <a:path w="3" h="26">
                <a:moveTo>
                  <a:pt x="0" y="26"/>
                </a:moveTo>
                <a:lnTo>
                  <a:pt x="0" y="0"/>
                </a:lnTo>
                <a:lnTo>
                  <a:pt x="1" y="0"/>
                </a:lnTo>
                <a:lnTo>
                  <a:pt x="3"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5" name="Oval 314"/>
          <p:cNvSpPr/>
          <p:nvPr/>
        </p:nvSpPr>
        <p:spPr>
          <a:xfrm>
            <a:off x="113818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6" name="TextBox 315"/>
          <p:cNvSpPr txBox="1"/>
          <p:nvPr/>
        </p:nvSpPr>
        <p:spPr>
          <a:xfrm>
            <a:off x="11272838" y="3590159"/>
            <a:ext cx="495300" cy="127776"/>
          </a:xfrm>
          <a:prstGeom prst="rect">
            <a:avLst/>
          </a:prstGeom>
          <a:noFill/>
        </p:spPr>
        <p:txBody>
          <a:bodyPr wrap="none" lIns="0" tIns="0" rIns="0" bIns="0" anchor="ctr">
            <a:spAutoFit/>
          </a:bodyPr>
          <a:lstStyle/>
          <a:p>
            <a:pPr algn="ctr"/>
            <a:r>
              <a:rPr sz="1100" b="1">
                <a:solidFill>
                  <a:srgbClr val="0B2E4A"/>
                </a:solidFill>
                <a:latin typeface="Calibri"/>
              </a:rPr>
              <a:t> </a:t>
            </a:r>
          </a:p>
        </p:txBody>
      </p:sp>
      <p:sp>
        <p:nvSpPr>
          <p:cNvPr id="317" name="TextBox 316"/>
          <p:cNvSpPr txBox="1"/>
          <p:nvPr/>
        </p:nvSpPr>
        <p:spPr>
          <a:xfrm>
            <a:off x="11029950" y="4092136"/>
            <a:ext cx="990600" cy="912685"/>
          </a:xfrm>
          <a:prstGeom prst="rect">
            <a:avLst/>
          </a:prstGeom>
          <a:noFill/>
        </p:spPr>
        <p:txBody>
          <a:bodyPr wrap="square" lIns="28575" tIns="9525" rIns="2857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318" name="Oval 317"/>
          <p:cNvSpPr/>
          <p:nvPr/>
        </p:nvSpPr>
        <p:spPr>
          <a:xfrm>
            <a:off x="11115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9" name="TextBox 318"/>
          <p:cNvSpPr txBox="1"/>
          <p:nvPr/>
        </p:nvSpPr>
        <p:spPr>
          <a:xfrm>
            <a:off x="111156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320" name="Oval 319"/>
          <p:cNvSpPr/>
          <p:nvPr/>
        </p:nvSpPr>
        <p:spPr>
          <a:xfrm>
            <a:off x="113252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1" name="TextBox 320"/>
          <p:cNvSpPr txBox="1"/>
          <p:nvPr/>
        </p:nvSpPr>
        <p:spPr>
          <a:xfrm>
            <a:off x="113252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322" name="Oval 321"/>
          <p:cNvSpPr/>
          <p:nvPr/>
        </p:nvSpPr>
        <p:spPr>
          <a:xfrm>
            <a:off x="115347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3" name="TextBox 322"/>
          <p:cNvSpPr txBox="1"/>
          <p:nvPr/>
        </p:nvSpPr>
        <p:spPr>
          <a:xfrm>
            <a:off x="1153477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324" name="Oval 323"/>
          <p:cNvSpPr/>
          <p:nvPr/>
        </p:nvSpPr>
        <p:spPr>
          <a:xfrm>
            <a:off x="117443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5" name="TextBox 324"/>
          <p:cNvSpPr txBox="1"/>
          <p:nvPr/>
        </p:nvSpPr>
        <p:spPr>
          <a:xfrm>
            <a:off x="11744325" y="5173667"/>
            <a:ext cx="180975" cy="173410"/>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326" name="Oval 325"/>
          <p:cNvSpPr/>
          <p:nvPr/>
        </p:nvSpPr>
        <p:spPr>
          <a:xfrm>
            <a:off x="112204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7" name="TextBox 326"/>
          <p:cNvSpPr txBox="1"/>
          <p:nvPr/>
        </p:nvSpPr>
        <p:spPr>
          <a:xfrm>
            <a:off x="1122045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328" name="Oval 327"/>
          <p:cNvSpPr/>
          <p:nvPr/>
        </p:nvSpPr>
        <p:spPr>
          <a:xfrm>
            <a:off x="114300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9" name="TextBox 328"/>
          <p:cNvSpPr txBox="1"/>
          <p:nvPr/>
        </p:nvSpPr>
        <p:spPr>
          <a:xfrm>
            <a:off x="1143000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330" name="Oval 329"/>
          <p:cNvSpPr/>
          <p:nvPr/>
        </p:nvSpPr>
        <p:spPr>
          <a:xfrm>
            <a:off x="116395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1" name="TextBox 330"/>
          <p:cNvSpPr txBox="1"/>
          <p:nvPr/>
        </p:nvSpPr>
        <p:spPr>
          <a:xfrm>
            <a:off x="11639550" y="5392711"/>
            <a:ext cx="180975" cy="173410"/>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332" name="TextBox 331"/>
          <p:cNvSpPr txBox="1"/>
          <p:nvPr/>
        </p:nvSpPr>
        <p:spPr>
          <a:xfrm>
            <a:off x="285750" y="5716715"/>
            <a:ext cx="1116806" cy="164283"/>
          </a:xfrm>
          <a:prstGeom prst="rect">
            <a:avLst/>
          </a:prstGeom>
          <a:noFill/>
        </p:spPr>
        <p:txBody>
          <a:bodyPr wrap="square" lIns="0" tIns="0" rIns="0" bIns="0" anchor="ctr">
            <a:spAutoFit/>
          </a:bodyPr>
          <a:lstStyle/>
          <a:p>
            <a:pPr algn="l"/>
            <a:r>
              <a:rPr sz="1100" b="1">
                <a:solidFill>
                  <a:srgbClr val="2E2E2E"/>
                </a:solidFill>
                <a:latin typeface="Calibri"/>
              </a:rPr>
              <a:t>Product Portfolio:</a:t>
            </a:r>
          </a:p>
        </p:txBody>
      </p:sp>
      <p:sp>
        <p:nvSpPr>
          <p:cNvPr id="333" name="Rectangle 33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4" name="TextBox 333"/>
          <p:cNvSpPr txBox="1"/>
          <p:nvPr/>
        </p:nvSpPr>
        <p:spPr>
          <a:xfrm>
            <a:off x="1535906" y="5716715"/>
            <a:ext cx="1547812" cy="164283"/>
          </a:xfrm>
          <a:prstGeom prst="rect">
            <a:avLst/>
          </a:prstGeom>
          <a:noFill/>
        </p:spPr>
        <p:txBody>
          <a:bodyPr wrap="square" lIns="0" tIns="0" rIns="0" bIns="0" anchor="ctr">
            <a:spAutoFit/>
          </a:bodyPr>
          <a:lstStyle/>
          <a:p>
            <a:pPr algn="l"/>
            <a:r>
              <a:rPr sz="1100" b="0">
                <a:solidFill>
                  <a:srgbClr val="2E2E2E"/>
                </a:solidFill>
                <a:latin typeface="Calibri"/>
              </a:rPr>
              <a:t>Flat Dividers &amp; Layer Pads</a:t>
            </a:r>
          </a:p>
        </p:txBody>
      </p:sp>
      <p:sp>
        <p:nvSpPr>
          <p:cNvPr id="335" name="Rectangle 334"/>
          <p:cNvSpPr/>
          <p:nvPr/>
        </p:nvSpPr>
        <p:spPr>
          <a:xfrm>
            <a:off x="3140869"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6" name="TextBox 335"/>
          <p:cNvSpPr txBox="1"/>
          <p:nvPr/>
        </p:nvSpPr>
        <p:spPr>
          <a:xfrm>
            <a:off x="3293269" y="5716715"/>
            <a:ext cx="3326569" cy="164283"/>
          </a:xfrm>
          <a:prstGeom prst="rect">
            <a:avLst/>
          </a:prstGeom>
          <a:noFill/>
        </p:spPr>
        <p:txBody>
          <a:bodyPr wrap="square" lIns="0" tIns="0" rIns="0" bIns="0" anchor="ctr">
            <a:spAutoFit/>
          </a:bodyPr>
          <a:lstStyle/>
          <a:p>
            <a:pPr algn="l"/>
            <a:r>
              <a:rPr sz="1100" b="0">
                <a:solidFill>
                  <a:srgbClr val="2E2E2E"/>
                </a:solidFill>
                <a:latin typeface="Calibri"/>
              </a:rPr>
              <a:t>Die-Cut &amp; Folded Partitions (H-dividers, tube/cell inserts)</a:t>
            </a:r>
          </a:p>
        </p:txBody>
      </p:sp>
      <p:sp>
        <p:nvSpPr>
          <p:cNvPr id="337" name="Rectangle 336"/>
          <p:cNvSpPr/>
          <p:nvPr/>
        </p:nvSpPr>
        <p:spPr>
          <a:xfrm>
            <a:off x="6676988" y="5744096"/>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38" name="TextBox 337"/>
          <p:cNvSpPr txBox="1"/>
          <p:nvPr/>
        </p:nvSpPr>
        <p:spPr>
          <a:xfrm>
            <a:off x="6829388" y="5716715"/>
            <a:ext cx="2143125" cy="164283"/>
          </a:xfrm>
          <a:prstGeom prst="rect">
            <a:avLst/>
          </a:prstGeom>
          <a:noFill/>
        </p:spPr>
        <p:txBody>
          <a:bodyPr wrap="square" lIns="0" tIns="0" rIns="0" bIns="0" anchor="ctr">
            <a:spAutoFit/>
          </a:bodyPr>
          <a:lstStyle/>
          <a:p>
            <a:pPr algn="l"/>
            <a:r>
              <a:rPr sz="1100" b="0">
                <a:solidFill>
                  <a:srgbClr val="2E2E2E"/>
                </a:solidFill>
                <a:latin typeface="Calibri"/>
              </a:rPr>
              <a:t>Slotted (Interlocking Grid) Partitions</a:t>
            </a:r>
          </a:p>
        </p:txBody>
      </p:sp>
      <p:sp>
        <p:nvSpPr>
          <p:cNvPr id="339" name="Rectangle 338"/>
          <p:cNvSpPr/>
          <p:nvPr/>
        </p:nvSpPr>
        <p:spPr>
          <a:xfrm>
            <a:off x="9029663"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0" name="TextBox 339"/>
          <p:cNvSpPr txBox="1"/>
          <p:nvPr/>
        </p:nvSpPr>
        <p:spPr>
          <a:xfrm>
            <a:off x="9182063" y="5716715"/>
            <a:ext cx="740569" cy="164283"/>
          </a:xfrm>
          <a:prstGeom prst="rect">
            <a:avLst/>
          </a:prstGeom>
          <a:noFill/>
        </p:spPr>
        <p:txBody>
          <a:bodyPr wrap="square" lIns="0" tIns="0" rIns="0" bIns="0" anchor="ctr">
            <a:spAutoFit/>
          </a:bodyPr>
          <a:lstStyle/>
          <a:p>
            <a:pPr algn="l"/>
            <a:r>
              <a:rPr sz="1100" b="0">
                <a:solidFill>
                  <a:srgbClr val="2E2E2E"/>
                </a:solidFill>
                <a:latin typeface="Calibri"/>
              </a:rPr>
              <a:t>Not offered</a:t>
            </a:r>
          </a:p>
        </p:txBody>
      </p:sp>
      <p:sp>
        <p:nvSpPr>
          <p:cNvPr id="341" name="TextBox 340"/>
          <p:cNvSpPr txBox="1"/>
          <p:nvPr/>
        </p:nvSpPr>
        <p:spPr>
          <a:xfrm>
            <a:off x="285750" y="5890125"/>
            <a:ext cx="208915" cy="164283"/>
          </a:xfrm>
          <a:prstGeom prst="rect">
            <a:avLst/>
          </a:prstGeom>
          <a:noFill/>
        </p:spPr>
        <p:txBody>
          <a:bodyPr wrap="none" lIns="0" tIns="0" rIns="0" bIns="0" anchor="ctr">
            <a:spAutoFit/>
          </a:bodyPr>
          <a:lstStyle/>
          <a:p>
            <a:pPr algn="l"/>
            <a:r>
              <a:rPr sz="1100" b="1">
                <a:solidFill>
                  <a:srgbClr val="008189"/>
                </a:solidFill>
                <a:latin typeface="Calibri"/>
              </a:rPr>
              <a:t>✔</a:t>
            </a:r>
          </a:p>
        </p:txBody>
      </p:sp>
      <p:sp>
        <p:nvSpPr>
          <p:cNvPr id="342" name="TextBox 341"/>
          <p:cNvSpPr txBox="1"/>
          <p:nvPr/>
        </p:nvSpPr>
        <p:spPr>
          <a:xfrm>
            <a:off x="475615" y="5890125"/>
            <a:ext cx="457200" cy="164283"/>
          </a:xfrm>
          <a:prstGeom prst="rect">
            <a:avLst/>
          </a:prstGeom>
          <a:noFill/>
        </p:spPr>
        <p:txBody>
          <a:bodyPr wrap="square" lIns="0" tIns="0" rIns="0" bIns="0" anchor="ctr">
            <a:spAutoFit/>
          </a:bodyPr>
          <a:lstStyle/>
          <a:p>
            <a:pPr algn="l"/>
            <a:r>
              <a:rPr sz="1100" b="0">
                <a:solidFill>
                  <a:srgbClr val="2E2E2E"/>
                </a:solidFill>
                <a:latin typeface="Calibri"/>
              </a:rPr>
              <a:t>served</a:t>
            </a:r>
          </a:p>
        </p:txBody>
      </p:sp>
      <p:sp>
        <p:nvSpPr>
          <p:cNvPr id="343" name="TextBox 342"/>
          <p:cNvSpPr txBox="1"/>
          <p:nvPr/>
        </p:nvSpPr>
        <p:spPr>
          <a:xfrm>
            <a:off x="913765" y="5890125"/>
            <a:ext cx="208915" cy="164283"/>
          </a:xfrm>
          <a:prstGeom prst="rect">
            <a:avLst/>
          </a:prstGeom>
          <a:noFill/>
        </p:spPr>
        <p:txBody>
          <a:bodyPr wrap="none" lIns="0" tIns="0" rIns="0" bIns="0" anchor="ctr">
            <a:spAutoFit/>
          </a:bodyPr>
          <a:lstStyle/>
          <a:p>
            <a:pPr algn="l"/>
            <a:r>
              <a:rPr sz="1100" b="1">
                <a:solidFill>
                  <a:srgbClr val="E44D3A"/>
                </a:solidFill>
                <a:latin typeface="Calibri"/>
              </a:rPr>
              <a:t>✘</a:t>
            </a:r>
          </a:p>
        </p:txBody>
      </p:sp>
      <p:sp>
        <p:nvSpPr>
          <p:cNvPr id="344" name="TextBox 343"/>
          <p:cNvSpPr txBox="1"/>
          <p:nvPr/>
        </p:nvSpPr>
        <p:spPr>
          <a:xfrm>
            <a:off x="1103630" y="5890125"/>
            <a:ext cx="683419" cy="164283"/>
          </a:xfrm>
          <a:prstGeom prst="rect">
            <a:avLst/>
          </a:prstGeom>
          <a:noFill/>
        </p:spPr>
        <p:txBody>
          <a:bodyPr wrap="square" lIns="0" tIns="0" rIns="0" bIns="0" anchor="ctr">
            <a:spAutoFit/>
          </a:bodyPr>
          <a:lstStyle/>
          <a:p>
            <a:pPr algn="l"/>
            <a:r>
              <a:rPr sz="1100" b="0">
                <a:solidFill>
                  <a:srgbClr val="2E2E2E"/>
                </a:solidFill>
                <a:latin typeface="Calibri"/>
              </a:rPr>
              <a:t>not served</a:t>
            </a:r>
          </a:p>
        </p:txBody>
      </p:sp>
      <p:sp>
        <p:nvSpPr>
          <p:cNvPr id="345" name="TextBox 344"/>
          <p:cNvSpPr txBox="1"/>
          <p:nvPr/>
        </p:nvSpPr>
        <p:spPr>
          <a:xfrm>
            <a:off x="1939449" y="5890125"/>
            <a:ext cx="1183481" cy="164283"/>
          </a:xfrm>
          <a:prstGeom prst="rect">
            <a:avLst/>
          </a:prstGeom>
          <a:noFill/>
        </p:spPr>
        <p:txBody>
          <a:bodyPr wrap="square" lIns="0" tIns="0" rIns="0" bIns="0" anchor="ctr">
            <a:spAutoFit/>
          </a:bodyPr>
          <a:lstStyle/>
          <a:p>
            <a:pPr algn="l"/>
            <a:r>
              <a:rPr sz="1100" b="1">
                <a:solidFill>
                  <a:srgbClr val="2E2E2E"/>
                </a:solidFill>
                <a:latin typeface="Calibri"/>
              </a:rPr>
              <a:t>Regional presence:</a:t>
            </a:r>
          </a:p>
        </p:txBody>
      </p:sp>
      <p:sp>
        <p:nvSpPr>
          <p:cNvPr id="346" name="TextBox 345"/>
          <p:cNvSpPr txBox="1"/>
          <p:nvPr/>
        </p:nvSpPr>
        <p:spPr>
          <a:xfrm>
            <a:off x="3103880" y="5890125"/>
            <a:ext cx="208915" cy="164283"/>
          </a:xfrm>
          <a:prstGeom prst="rect">
            <a:avLst/>
          </a:prstGeom>
          <a:noFill/>
        </p:spPr>
        <p:txBody>
          <a:bodyPr wrap="none" lIns="0" tIns="0" rIns="0" bIns="0" anchor="ctr">
            <a:spAutoFit/>
          </a:bodyPr>
          <a:lstStyle/>
          <a:p>
            <a:pPr algn="l"/>
            <a:r>
              <a:rPr sz="1100" b="1">
                <a:solidFill>
                  <a:srgbClr val="0E72AE"/>
                </a:solidFill>
                <a:latin typeface="Calibri"/>
              </a:rPr>
              <a:t>▲</a:t>
            </a:r>
          </a:p>
        </p:txBody>
      </p:sp>
      <p:sp>
        <p:nvSpPr>
          <p:cNvPr id="347" name="TextBox 346"/>
          <p:cNvSpPr txBox="1"/>
          <p:nvPr/>
        </p:nvSpPr>
        <p:spPr>
          <a:xfrm>
            <a:off x="3293745" y="5890125"/>
            <a:ext cx="338138" cy="164283"/>
          </a:xfrm>
          <a:prstGeom prst="rect">
            <a:avLst/>
          </a:prstGeom>
          <a:noFill/>
        </p:spPr>
        <p:txBody>
          <a:bodyPr wrap="none" lIns="0" tIns="0" rIns="0" bIns="0" anchor="ctr">
            <a:spAutoFit/>
          </a:bodyPr>
          <a:lstStyle/>
          <a:p>
            <a:pPr algn="l"/>
            <a:r>
              <a:rPr sz="1100" b="0">
                <a:solidFill>
                  <a:srgbClr val="2E2E2E"/>
                </a:solidFill>
                <a:latin typeface="Calibri"/>
              </a:rPr>
              <a:t>High</a:t>
            </a:r>
          </a:p>
        </p:txBody>
      </p:sp>
      <p:sp>
        <p:nvSpPr>
          <p:cNvPr id="348" name="TextBox 347"/>
          <p:cNvSpPr txBox="1"/>
          <p:nvPr/>
        </p:nvSpPr>
        <p:spPr>
          <a:xfrm>
            <a:off x="3612832" y="5890125"/>
            <a:ext cx="208915" cy="164283"/>
          </a:xfrm>
          <a:prstGeom prst="rect">
            <a:avLst/>
          </a:prstGeom>
          <a:noFill/>
        </p:spPr>
        <p:txBody>
          <a:bodyPr wrap="none" lIns="0" tIns="0" rIns="0" bIns="0" anchor="ctr">
            <a:spAutoFit/>
          </a:bodyPr>
          <a:lstStyle/>
          <a:p>
            <a:pPr algn="l"/>
            <a:r>
              <a:rPr sz="1100" b="1">
                <a:solidFill>
                  <a:srgbClr val="A86F00"/>
                </a:solidFill>
                <a:latin typeface="Calibri"/>
              </a:rPr>
              <a:t>▲</a:t>
            </a:r>
          </a:p>
        </p:txBody>
      </p:sp>
      <p:sp>
        <p:nvSpPr>
          <p:cNvPr id="349" name="TextBox 348"/>
          <p:cNvSpPr txBox="1"/>
          <p:nvPr/>
        </p:nvSpPr>
        <p:spPr>
          <a:xfrm>
            <a:off x="3802698" y="5890125"/>
            <a:ext cx="576262" cy="164283"/>
          </a:xfrm>
          <a:prstGeom prst="rect">
            <a:avLst/>
          </a:prstGeom>
          <a:noFill/>
        </p:spPr>
        <p:txBody>
          <a:bodyPr wrap="square" lIns="0" tIns="0" rIns="0" bIns="0" anchor="ctr">
            <a:spAutoFit/>
          </a:bodyPr>
          <a:lstStyle/>
          <a:p>
            <a:pPr algn="l"/>
            <a:r>
              <a:rPr sz="1100" b="0">
                <a:solidFill>
                  <a:srgbClr val="2E2E2E"/>
                </a:solidFill>
                <a:latin typeface="Calibri"/>
              </a:rPr>
              <a:t>Medium</a:t>
            </a:r>
          </a:p>
        </p:txBody>
      </p:sp>
      <p:sp>
        <p:nvSpPr>
          <p:cNvPr id="350" name="TextBox 349"/>
          <p:cNvSpPr txBox="1"/>
          <p:nvPr/>
        </p:nvSpPr>
        <p:spPr>
          <a:xfrm>
            <a:off x="4340860" y="5890125"/>
            <a:ext cx="208915" cy="164283"/>
          </a:xfrm>
          <a:prstGeom prst="rect">
            <a:avLst/>
          </a:prstGeom>
          <a:noFill/>
        </p:spPr>
        <p:txBody>
          <a:bodyPr wrap="none" lIns="0" tIns="0" rIns="0" bIns="0" anchor="ctr">
            <a:spAutoFit/>
          </a:bodyPr>
          <a:lstStyle/>
          <a:p>
            <a:pPr algn="l"/>
            <a:r>
              <a:rPr sz="1100" b="1">
                <a:solidFill>
                  <a:srgbClr val="9AA3A8"/>
                </a:solidFill>
                <a:latin typeface="Calibri"/>
              </a:rPr>
              <a:t>▲</a:t>
            </a:r>
          </a:p>
        </p:txBody>
      </p:sp>
      <p:sp>
        <p:nvSpPr>
          <p:cNvPr id="351" name="TextBox 350"/>
          <p:cNvSpPr txBox="1"/>
          <p:nvPr/>
        </p:nvSpPr>
        <p:spPr>
          <a:xfrm>
            <a:off x="4530725" y="5890125"/>
            <a:ext cx="309562" cy="164283"/>
          </a:xfrm>
          <a:prstGeom prst="rect">
            <a:avLst/>
          </a:prstGeom>
          <a:noFill/>
        </p:spPr>
        <p:txBody>
          <a:bodyPr wrap="none" lIns="0" tIns="0" rIns="0" bIns="0" anchor="ctr">
            <a:spAutoFit/>
          </a:bodyPr>
          <a:lstStyle/>
          <a:p>
            <a:pPr algn="l"/>
            <a:r>
              <a:rPr sz="1100" b="0">
                <a:solidFill>
                  <a:srgbClr val="2E2E2E"/>
                </a:solidFill>
                <a:latin typeface="Calibri"/>
              </a:rPr>
              <a:t>Low</a:t>
            </a:r>
          </a:p>
        </p:txBody>
      </p:sp>
      <p:sp>
        <p:nvSpPr>
          <p:cNvPr id="352" name="Oval 351"/>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3" name="TextBox 352"/>
          <p:cNvSpPr txBox="1"/>
          <p:nvPr/>
        </p:nvSpPr>
        <p:spPr>
          <a:xfrm>
            <a:off x="285750" y="6081789"/>
            <a:ext cx="171450" cy="164283"/>
          </a:xfrm>
          <a:prstGeom prst="rect">
            <a:avLst/>
          </a:prstGeom>
          <a:noFill/>
        </p:spPr>
        <p:txBody>
          <a:bodyPr wrap="none" lIns="0" tIns="0" rIns="0" bIns="0" anchor="ctr">
            <a:spAutoFit/>
          </a:bodyPr>
          <a:lstStyle/>
          <a:p>
            <a:pPr algn="ctr"/>
            <a:r>
              <a:rPr sz="1100" b="1">
                <a:solidFill>
                  <a:srgbClr val="FFFFFF"/>
                </a:solidFill>
                <a:latin typeface="Calibri"/>
              </a:rPr>
              <a:t>E</a:t>
            </a:r>
          </a:p>
        </p:txBody>
      </p:sp>
      <p:sp>
        <p:nvSpPr>
          <p:cNvPr id="354" name="TextBox 353"/>
          <p:cNvSpPr txBox="1"/>
          <p:nvPr/>
        </p:nvSpPr>
        <p:spPr>
          <a:xfrm>
            <a:off x="495300" y="6072662"/>
            <a:ext cx="657225" cy="182537"/>
          </a:xfrm>
          <a:prstGeom prst="rect">
            <a:avLst/>
          </a:prstGeom>
          <a:noFill/>
        </p:spPr>
        <p:txBody>
          <a:bodyPr wrap="square" lIns="0" tIns="0" rIns="0" bIns="0" anchor="ctr">
            <a:spAutoFit/>
          </a:bodyPr>
          <a:lstStyle/>
          <a:p>
            <a:pPr algn="l"/>
            <a:r>
              <a:rPr sz="1100" b="0">
                <a:solidFill>
                  <a:srgbClr val="2E2E2E"/>
                </a:solidFill>
                <a:latin typeface="Calibri"/>
              </a:rPr>
              <a:t>Expansion</a:t>
            </a:r>
          </a:p>
        </p:txBody>
      </p:sp>
      <p:sp>
        <p:nvSpPr>
          <p:cNvPr id="355" name="Oval 354"/>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6" name="TextBox 355"/>
          <p:cNvSpPr txBox="1"/>
          <p:nvPr/>
        </p:nvSpPr>
        <p:spPr>
          <a:xfrm>
            <a:off x="1247775" y="6081789"/>
            <a:ext cx="171450" cy="164283"/>
          </a:xfrm>
          <a:prstGeom prst="rect">
            <a:avLst/>
          </a:prstGeom>
          <a:noFill/>
        </p:spPr>
        <p:txBody>
          <a:bodyPr wrap="none" lIns="0" tIns="0" rIns="0" bIns="0" anchor="ctr">
            <a:spAutoFit/>
          </a:bodyPr>
          <a:lstStyle/>
          <a:p>
            <a:pPr algn="ctr"/>
            <a:r>
              <a:rPr sz="1100" b="1">
                <a:solidFill>
                  <a:srgbClr val="FFFFFF"/>
                </a:solidFill>
                <a:latin typeface="Calibri"/>
              </a:rPr>
              <a:t>I</a:t>
            </a:r>
          </a:p>
        </p:txBody>
      </p:sp>
      <p:sp>
        <p:nvSpPr>
          <p:cNvPr id="357" name="TextBox 356"/>
          <p:cNvSpPr txBox="1"/>
          <p:nvPr/>
        </p:nvSpPr>
        <p:spPr>
          <a:xfrm>
            <a:off x="1457325" y="6072662"/>
            <a:ext cx="1012031" cy="182537"/>
          </a:xfrm>
          <a:prstGeom prst="rect">
            <a:avLst/>
          </a:prstGeom>
          <a:noFill/>
        </p:spPr>
        <p:txBody>
          <a:bodyPr wrap="square" lIns="0" tIns="0" rIns="0" bIns="0" anchor="ctr">
            <a:spAutoFit/>
          </a:bodyPr>
          <a:lstStyle/>
          <a:p>
            <a:pPr algn="l"/>
            <a:r>
              <a:rPr sz="1100" b="0">
                <a:solidFill>
                  <a:srgbClr val="2E2E2E"/>
                </a:solidFill>
                <a:latin typeface="Calibri"/>
              </a:rPr>
              <a:t>R&amp;D Investment</a:t>
            </a:r>
          </a:p>
        </p:txBody>
      </p:sp>
      <p:sp>
        <p:nvSpPr>
          <p:cNvPr id="358" name="Oval 357"/>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59" name="TextBox 358"/>
          <p:cNvSpPr txBox="1"/>
          <p:nvPr/>
        </p:nvSpPr>
        <p:spPr>
          <a:xfrm>
            <a:off x="2564606" y="6081789"/>
            <a:ext cx="171450" cy="164283"/>
          </a:xfrm>
          <a:prstGeom prst="rect">
            <a:avLst/>
          </a:prstGeom>
          <a:noFill/>
        </p:spPr>
        <p:txBody>
          <a:bodyPr wrap="none" lIns="0" tIns="0" rIns="0" bIns="0" anchor="ctr">
            <a:spAutoFit/>
          </a:bodyPr>
          <a:lstStyle/>
          <a:p>
            <a:pPr algn="ctr"/>
            <a:r>
              <a:rPr sz="1100" b="1">
                <a:solidFill>
                  <a:srgbClr val="FFFFFF"/>
                </a:solidFill>
                <a:latin typeface="Calibri"/>
              </a:rPr>
              <a:t>F</a:t>
            </a:r>
          </a:p>
        </p:txBody>
      </p:sp>
      <p:sp>
        <p:nvSpPr>
          <p:cNvPr id="360" name="TextBox 359"/>
          <p:cNvSpPr txBox="1"/>
          <p:nvPr/>
        </p:nvSpPr>
        <p:spPr>
          <a:xfrm>
            <a:off x="2774156" y="6072662"/>
            <a:ext cx="800100" cy="182537"/>
          </a:xfrm>
          <a:prstGeom prst="rect">
            <a:avLst/>
          </a:prstGeom>
          <a:noFill/>
        </p:spPr>
        <p:txBody>
          <a:bodyPr wrap="square" lIns="0" tIns="0" rIns="0" bIns="0" anchor="ctr">
            <a:spAutoFit/>
          </a:bodyPr>
          <a:lstStyle/>
          <a:p>
            <a:pPr algn="l"/>
            <a:r>
              <a:rPr sz="1100" b="0">
                <a:solidFill>
                  <a:srgbClr val="2E2E2E"/>
                </a:solidFill>
                <a:latin typeface="Calibri"/>
              </a:rPr>
              <a:t>Financial Aid</a:t>
            </a:r>
          </a:p>
        </p:txBody>
      </p:sp>
      <p:sp>
        <p:nvSpPr>
          <p:cNvPr id="361" name="Oval 360"/>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2" name="TextBox 361"/>
          <p:cNvSpPr txBox="1"/>
          <p:nvPr/>
        </p:nvSpPr>
        <p:spPr>
          <a:xfrm>
            <a:off x="3669506" y="6081789"/>
            <a:ext cx="171450" cy="164283"/>
          </a:xfrm>
          <a:prstGeom prst="rect">
            <a:avLst/>
          </a:prstGeom>
          <a:noFill/>
        </p:spPr>
        <p:txBody>
          <a:bodyPr wrap="none" lIns="0" tIns="0" rIns="0" bIns="0" anchor="ctr">
            <a:spAutoFit/>
          </a:bodyPr>
          <a:lstStyle/>
          <a:p>
            <a:pPr algn="ctr"/>
            <a:r>
              <a:rPr sz="1100" b="1">
                <a:solidFill>
                  <a:srgbClr val="FFFFFF"/>
                </a:solidFill>
                <a:latin typeface="Calibri"/>
              </a:rPr>
              <a:t>P</a:t>
            </a:r>
          </a:p>
        </p:txBody>
      </p:sp>
      <p:sp>
        <p:nvSpPr>
          <p:cNvPr id="363" name="TextBox 362"/>
          <p:cNvSpPr txBox="1"/>
          <p:nvPr/>
        </p:nvSpPr>
        <p:spPr>
          <a:xfrm>
            <a:off x="3879056" y="6072662"/>
            <a:ext cx="1328738" cy="182537"/>
          </a:xfrm>
          <a:prstGeom prst="rect">
            <a:avLst/>
          </a:prstGeom>
          <a:noFill/>
        </p:spPr>
        <p:txBody>
          <a:bodyPr wrap="square" lIns="0" tIns="0" rIns="0" bIns="0" anchor="ctr">
            <a:spAutoFit/>
          </a:bodyPr>
          <a:lstStyle/>
          <a:p>
            <a:pPr algn="l"/>
            <a:r>
              <a:rPr sz="1100" b="0">
                <a:solidFill>
                  <a:srgbClr val="2E2E2E"/>
                </a:solidFill>
                <a:latin typeface="Calibri"/>
              </a:rPr>
              <a:t>Product Development</a:t>
            </a:r>
          </a:p>
        </p:txBody>
      </p:sp>
      <p:sp>
        <p:nvSpPr>
          <p:cNvPr id="364" name="Oval 363"/>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5" name="TextBox 364"/>
          <p:cNvSpPr txBox="1"/>
          <p:nvPr/>
        </p:nvSpPr>
        <p:spPr>
          <a:xfrm>
            <a:off x="5303044" y="6081789"/>
            <a:ext cx="171450" cy="164283"/>
          </a:xfrm>
          <a:prstGeom prst="rect">
            <a:avLst/>
          </a:prstGeom>
          <a:noFill/>
        </p:spPr>
        <p:txBody>
          <a:bodyPr wrap="none" lIns="0" tIns="0" rIns="0" bIns="0" anchor="ctr">
            <a:spAutoFit/>
          </a:bodyPr>
          <a:lstStyle/>
          <a:p>
            <a:pPr algn="ctr"/>
            <a:r>
              <a:rPr sz="1100" b="1">
                <a:solidFill>
                  <a:srgbClr val="FFFFFF"/>
                </a:solidFill>
                <a:latin typeface="Calibri"/>
              </a:rPr>
              <a:t>A</a:t>
            </a:r>
          </a:p>
        </p:txBody>
      </p:sp>
      <p:sp>
        <p:nvSpPr>
          <p:cNvPr id="366" name="TextBox 365"/>
          <p:cNvSpPr txBox="1"/>
          <p:nvPr/>
        </p:nvSpPr>
        <p:spPr>
          <a:xfrm>
            <a:off x="5512594" y="6072662"/>
            <a:ext cx="714375" cy="182537"/>
          </a:xfrm>
          <a:prstGeom prst="rect">
            <a:avLst/>
          </a:prstGeom>
          <a:noFill/>
        </p:spPr>
        <p:txBody>
          <a:bodyPr wrap="square" lIns="0" tIns="0" rIns="0" bIns="0" anchor="ctr">
            <a:spAutoFit/>
          </a:bodyPr>
          <a:lstStyle/>
          <a:p>
            <a:pPr algn="l"/>
            <a:r>
              <a:rPr sz="1100" b="0">
                <a:solidFill>
                  <a:srgbClr val="2E2E2E"/>
                </a:solidFill>
                <a:latin typeface="Calibri"/>
              </a:rPr>
              <a:t>Acquisition</a:t>
            </a:r>
          </a:p>
        </p:txBody>
      </p:sp>
      <p:sp>
        <p:nvSpPr>
          <p:cNvPr id="367" name="Oval 366"/>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8" name="TextBox 367"/>
          <p:cNvSpPr txBox="1"/>
          <p:nvPr/>
        </p:nvSpPr>
        <p:spPr>
          <a:xfrm>
            <a:off x="6322219" y="6081789"/>
            <a:ext cx="171450" cy="164283"/>
          </a:xfrm>
          <a:prstGeom prst="rect">
            <a:avLst/>
          </a:prstGeom>
          <a:noFill/>
        </p:spPr>
        <p:txBody>
          <a:bodyPr wrap="none" lIns="0" tIns="0" rIns="0" bIns="0" anchor="ctr">
            <a:spAutoFit/>
          </a:bodyPr>
          <a:lstStyle/>
          <a:p>
            <a:pPr algn="ctr"/>
            <a:r>
              <a:rPr sz="1100" b="1">
                <a:solidFill>
                  <a:srgbClr val="FFFFFF"/>
                </a:solidFill>
                <a:latin typeface="Calibri"/>
              </a:rPr>
              <a:t>L</a:t>
            </a:r>
          </a:p>
        </p:txBody>
      </p:sp>
      <p:sp>
        <p:nvSpPr>
          <p:cNvPr id="369" name="TextBox 368"/>
          <p:cNvSpPr txBox="1"/>
          <p:nvPr/>
        </p:nvSpPr>
        <p:spPr>
          <a:xfrm>
            <a:off x="6531769" y="6072662"/>
            <a:ext cx="964406" cy="182537"/>
          </a:xfrm>
          <a:prstGeom prst="rect">
            <a:avLst/>
          </a:prstGeom>
          <a:noFill/>
        </p:spPr>
        <p:txBody>
          <a:bodyPr wrap="square" lIns="0" tIns="0" rIns="0" bIns="0" anchor="ctr">
            <a:spAutoFit/>
          </a:bodyPr>
          <a:lstStyle/>
          <a:p>
            <a:pPr algn="l"/>
            <a:r>
              <a:rPr sz="1100" b="0">
                <a:solidFill>
                  <a:srgbClr val="2E2E2E"/>
                </a:solidFill>
                <a:latin typeface="Calibri"/>
              </a:rPr>
              <a:t>Product Launch</a:t>
            </a:r>
          </a:p>
        </p:txBody>
      </p:sp>
      <p:sp>
        <p:nvSpPr>
          <p:cNvPr id="370" name="Oval 369"/>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71" name="TextBox 370"/>
          <p:cNvSpPr txBox="1"/>
          <p:nvPr/>
        </p:nvSpPr>
        <p:spPr>
          <a:xfrm>
            <a:off x="7591425" y="6081789"/>
            <a:ext cx="171450" cy="164283"/>
          </a:xfrm>
          <a:prstGeom prst="rect">
            <a:avLst/>
          </a:prstGeom>
          <a:noFill/>
        </p:spPr>
        <p:txBody>
          <a:bodyPr wrap="none" lIns="0" tIns="0" rIns="0" bIns="0" anchor="ctr">
            <a:spAutoFit/>
          </a:bodyPr>
          <a:lstStyle/>
          <a:p>
            <a:pPr algn="ctr"/>
            <a:r>
              <a:rPr sz="1100" b="1">
                <a:solidFill>
                  <a:srgbClr val="FFFFFF"/>
                </a:solidFill>
                <a:latin typeface="Calibri"/>
              </a:rPr>
              <a:t>C</a:t>
            </a:r>
          </a:p>
        </p:txBody>
      </p:sp>
      <p:sp>
        <p:nvSpPr>
          <p:cNvPr id="372" name="TextBox 371"/>
          <p:cNvSpPr txBox="1"/>
          <p:nvPr/>
        </p:nvSpPr>
        <p:spPr>
          <a:xfrm>
            <a:off x="7800975" y="6072662"/>
            <a:ext cx="781050" cy="182537"/>
          </a:xfrm>
          <a:prstGeom prst="rect">
            <a:avLst/>
          </a:prstGeom>
          <a:noFill/>
        </p:spPr>
        <p:txBody>
          <a:bodyPr wrap="square" lIns="0" tIns="0" rIns="0" bIns="0" anchor="ctr">
            <a:spAutoFit/>
          </a:bodyPr>
          <a:lstStyle/>
          <a:p>
            <a:pPr algn="l"/>
            <a:r>
              <a:rPr sz="1100" b="0">
                <a:solidFill>
                  <a:srgbClr val="2E2E2E"/>
                </a:solidFill>
                <a:latin typeface="Calibri"/>
              </a:rPr>
              <a:t>Certification</a:t>
            </a:r>
          </a:p>
        </p:txBody>
      </p:sp>
      <p:sp>
        <p:nvSpPr>
          <p:cNvPr id="373" name="TextBox 372"/>
          <p:cNvSpPr txBox="1"/>
          <p:nvPr/>
        </p:nvSpPr>
        <p:spPr>
          <a:xfrm>
            <a:off x="285750" y="6273453"/>
            <a:ext cx="11620500" cy="155156"/>
          </a:xfrm>
          <a:prstGeom prst="rect">
            <a:avLst/>
          </a:prstGeom>
          <a:noFill/>
        </p:spPr>
        <p:txBody>
          <a:bodyPr wrap="square" lIns="0" tIns="0" rIns="0" bIns="0">
            <a:spAutoFit/>
          </a:bodyPr>
          <a:lstStyle/>
          <a:p>
            <a:pPr algn="l"/>
            <a:r>
              <a:rPr sz="1100" b="1">
                <a:solidFill>
                  <a:srgbClr val="A35313"/>
                </a:solidFill>
                <a:latin typeface="Calibri"/>
              </a:rPr>
              <a:t>Note: Market Share indicates the contribution of target revenue in Market</a:t>
            </a:r>
          </a:p>
        </p:txBody>
      </p:sp>
      <p:sp>
        <p:nvSpPr>
          <p:cNvPr id="374" name="TextBox 373"/>
          <p:cNvSpPr txBox="1"/>
          <p:nvPr/>
        </p:nvSpPr>
        <p:spPr>
          <a:xfrm>
            <a:off x="285750" y="6428609"/>
            <a:ext cx="11620500" cy="155156"/>
          </a:xfrm>
          <a:prstGeom prst="rect">
            <a:avLst/>
          </a:prstGeom>
          <a:noFill/>
        </p:spPr>
        <p:txBody>
          <a:bodyPr wrap="square" lIns="0" tIns="0" rIns="0" bIns="0">
            <a:spAutoFit/>
          </a:bodyPr>
          <a:lstStyle/>
          <a:p>
            <a:pPr algn="l"/>
            <a:r>
              <a:rPr sz="1100" b="1">
                <a:solidFill>
                  <a:srgbClr val="A35313"/>
                </a:solidFill>
                <a:latin typeface="Calibri"/>
              </a:rPr>
              <a:t>Revenue represents sales of the company from target market</a:t>
            </a:r>
          </a:p>
        </p:txBody>
      </p:sp>
      <p:sp>
        <p:nvSpPr>
          <p:cNvPr id="375" name="TextBox 374"/>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76" name="Picture 375" descr="lock.png"/>
          <p:cNvPicPr>
            <a:picLocks noChangeAspect="1"/>
          </p:cNvPicPr>
          <p:nvPr/>
        </p:nvPicPr>
        <p:blipFill>
          <a:blip r:embed="rId4"/>
          <a:stretch>
            <a:fillRect/>
          </a:stretch>
        </p:blipFill>
        <p:spPr>
          <a:xfrm>
            <a:off x="1769213" y="2702524"/>
            <a:ext cx="128699" cy="187198"/>
          </a:xfrm>
          <a:prstGeom prst="rect">
            <a:avLst/>
          </a:prstGeom>
        </p:spPr>
      </p:pic>
      <p:pic>
        <p:nvPicPr>
          <p:cNvPr id="377" name="Picture 376" descr="lock.png"/>
          <p:cNvPicPr>
            <a:picLocks noChangeAspect="1"/>
          </p:cNvPicPr>
          <p:nvPr/>
        </p:nvPicPr>
        <p:blipFill>
          <a:blip r:embed="rId4"/>
          <a:stretch>
            <a:fillRect/>
          </a:stretch>
        </p:blipFill>
        <p:spPr>
          <a:xfrm>
            <a:off x="1769213" y="3031091"/>
            <a:ext cx="128699" cy="187198"/>
          </a:xfrm>
          <a:prstGeom prst="rect">
            <a:avLst/>
          </a:prstGeom>
        </p:spPr>
      </p:pic>
      <p:pic>
        <p:nvPicPr>
          <p:cNvPr id="378" name="Picture 377" descr="lock.png"/>
          <p:cNvPicPr>
            <a:picLocks noChangeAspect="1"/>
          </p:cNvPicPr>
          <p:nvPr/>
        </p:nvPicPr>
        <p:blipFill>
          <a:blip r:embed="rId4"/>
          <a:stretch>
            <a:fillRect/>
          </a:stretch>
        </p:blipFill>
        <p:spPr>
          <a:xfrm>
            <a:off x="1769212" y="3560448"/>
            <a:ext cx="128699" cy="187198"/>
          </a:xfrm>
          <a:prstGeom prst="rect">
            <a:avLst/>
          </a:prstGeom>
        </p:spPr>
      </p:pic>
      <p:pic>
        <p:nvPicPr>
          <p:cNvPr id="379" name="Picture 378" descr="lock.png"/>
          <p:cNvPicPr>
            <a:picLocks noChangeAspect="1"/>
          </p:cNvPicPr>
          <p:nvPr/>
        </p:nvPicPr>
        <p:blipFill>
          <a:blip r:embed="rId4"/>
          <a:stretch>
            <a:fillRect/>
          </a:stretch>
        </p:blipFill>
        <p:spPr>
          <a:xfrm>
            <a:off x="2845538" y="2702524"/>
            <a:ext cx="128699" cy="187198"/>
          </a:xfrm>
          <a:prstGeom prst="rect">
            <a:avLst/>
          </a:prstGeom>
        </p:spPr>
      </p:pic>
      <p:pic>
        <p:nvPicPr>
          <p:cNvPr id="380" name="Picture 379" descr="lock.png"/>
          <p:cNvPicPr>
            <a:picLocks noChangeAspect="1"/>
          </p:cNvPicPr>
          <p:nvPr/>
        </p:nvPicPr>
        <p:blipFill>
          <a:blip r:embed="rId4"/>
          <a:stretch>
            <a:fillRect/>
          </a:stretch>
        </p:blipFill>
        <p:spPr>
          <a:xfrm>
            <a:off x="2845538" y="3031091"/>
            <a:ext cx="128699" cy="187198"/>
          </a:xfrm>
          <a:prstGeom prst="rect">
            <a:avLst/>
          </a:prstGeom>
        </p:spPr>
      </p:pic>
      <p:pic>
        <p:nvPicPr>
          <p:cNvPr id="381" name="Picture 380" descr="lock.png"/>
          <p:cNvPicPr>
            <a:picLocks noChangeAspect="1"/>
          </p:cNvPicPr>
          <p:nvPr/>
        </p:nvPicPr>
        <p:blipFill>
          <a:blip r:embed="rId4"/>
          <a:stretch>
            <a:fillRect/>
          </a:stretch>
        </p:blipFill>
        <p:spPr>
          <a:xfrm>
            <a:off x="2845538" y="3560448"/>
            <a:ext cx="128699" cy="187198"/>
          </a:xfrm>
          <a:prstGeom prst="rect">
            <a:avLst/>
          </a:prstGeom>
        </p:spPr>
      </p:pic>
      <p:pic>
        <p:nvPicPr>
          <p:cNvPr id="382" name="Picture 381" descr="lock.png"/>
          <p:cNvPicPr>
            <a:picLocks noChangeAspect="1"/>
          </p:cNvPicPr>
          <p:nvPr/>
        </p:nvPicPr>
        <p:blipFill>
          <a:blip r:embed="rId4"/>
          <a:stretch>
            <a:fillRect/>
          </a:stretch>
        </p:blipFill>
        <p:spPr>
          <a:xfrm>
            <a:off x="3921863" y="2702524"/>
            <a:ext cx="128699" cy="187198"/>
          </a:xfrm>
          <a:prstGeom prst="rect">
            <a:avLst/>
          </a:prstGeom>
        </p:spPr>
      </p:pic>
      <p:pic>
        <p:nvPicPr>
          <p:cNvPr id="383" name="Picture 382" descr="lock.png"/>
          <p:cNvPicPr>
            <a:picLocks noChangeAspect="1"/>
          </p:cNvPicPr>
          <p:nvPr/>
        </p:nvPicPr>
        <p:blipFill>
          <a:blip r:embed="rId4"/>
          <a:stretch>
            <a:fillRect/>
          </a:stretch>
        </p:blipFill>
        <p:spPr>
          <a:xfrm>
            <a:off x="3921863" y="3031091"/>
            <a:ext cx="128699" cy="187198"/>
          </a:xfrm>
          <a:prstGeom prst="rect">
            <a:avLst/>
          </a:prstGeom>
        </p:spPr>
      </p:pic>
      <p:pic>
        <p:nvPicPr>
          <p:cNvPr id="384" name="Picture 383" descr="lock.png"/>
          <p:cNvPicPr>
            <a:picLocks noChangeAspect="1"/>
          </p:cNvPicPr>
          <p:nvPr/>
        </p:nvPicPr>
        <p:blipFill>
          <a:blip r:embed="rId4"/>
          <a:stretch>
            <a:fillRect/>
          </a:stretch>
        </p:blipFill>
        <p:spPr>
          <a:xfrm>
            <a:off x="3921862" y="3560448"/>
            <a:ext cx="128699" cy="187198"/>
          </a:xfrm>
          <a:prstGeom prst="rect">
            <a:avLst/>
          </a:prstGeom>
        </p:spPr>
      </p:pic>
      <p:pic>
        <p:nvPicPr>
          <p:cNvPr id="385" name="Picture 384" descr="lock.png"/>
          <p:cNvPicPr>
            <a:picLocks noChangeAspect="1"/>
          </p:cNvPicPr>
          <p:nvPr/>
        </p:nvPicPr>
        <p:blipFill>
          <a:blip r:embed="rId4"/>
          <a:stretch>
            <a:fillRect/>
          </a:stretch>
        </p:blipFill>
        <p:spPr>
          <a:xfrm>
            <a:off x="4998188" y="2702524"/>
            <a:ext cx="128699" cy="187198"/>
          </a:xfrm>
          <a:prstGeom prst="rect">
            <a:avLst/>
          </a:prstGeom>
        </p:spPr>
      </p:pic>
      <p:pic>
        <p:nvPicPr>
          <p:cNvPr id="386" name="Picture 385" descr="lock.png"/>
          <p:cNvPicPr>
            <a:picLocks noChangeAspect="1"/>
          </p:cNvPicPr>
          <p:nvPr/>
        </p:nvPicPr>
        <p:blipFill>
          <a:blip r:embed="rId4"/>
          <a:stretch>
            <a:fillRect/>
          </a:stretch>
        </p:blipFill>
        <p:spPr>
          <a:xfrm>
            <a:off x="4998188" y="3031091"/>
            <a:ext cx="128699" cy="187198"/>
          </a:xfrm>
          <a:prstGeom prst="rect">
            <a:avLst/>
          </a:prstGeom>
        </p:spPr>
      </p:pic>
      <p:pic>
        <p:nvPicPr>
          <p:cNvPr id="387" name="Picture 386" descr="lock.png"/>
          <p:cNvPicPr>
            <a:picLocks noChangeAspect="1"/>
          </p:cNvPicPr>
          <p:nvPr/>
        </p:nvPicPr>
        <p:blipFill>
          <a:blip r:embed="rId4"/>
          <a:stretch>
            <a:fillRect/>
          </a:stretch>
        </p:blipFill>
        <p:spPr>
          <a:xfrm>
            <a:off x="4998188" y="3560448"/>
            <a:ext cx="128699" cy="187198"/>
          </a:xfrm>
          <a:prstGeom prst="rect">
            <a:avLst/>
          </a:prstGeom>
        </p:spPr>
      </p:pic>
      <p:pic>
        <p:nvPicPr>
          <p:cNvPr id="388" name="Picture 387" descr="lock.png"/>
          <p:cNvPicPr>
            <a:picLocks noChangeAspect="1"/>
          </p:cNvPicPr>
          <p:nvPr/>
        </p:nvPicPr>
        <p:blipFill>
          <a:blip r:embed="rId4"/>
          <a:stretch>
            <a:fillRect/>
          </a:stretch>
        </p:blipFill>
        <p:spPr>
          <a:xfrm>
            <a:off x="6074513" y="2702524"/>
            <a:ext cx="128699" cy="187198"/>
          </a:xfrm>
          <a:prstGeom prst="rect">
            <a:avLst/>
          </a:prstGeom>
        </p:spPr>
      </p:pic>
      <p:pic>
        <p:nvPicPr>
          <p:cNvPr id="389" name="Picture 388" descr="lock.png"/>
          <p:cNvPicPr>
            <a:picLocks noChangeAspect="1"/>
          </p:cNvPicPr>
          <p:nvPr/>
        </p:nvPicPr>
        <p:blipFill>
          <a:blip r:embed="rId4"/>
          <a:stretch>
            <a:fillRect/>
          </a:stretch>
        </p:blipFill>
        <p:spPr>
          <a:xfrm>
            <a:off x="6074513" y="3031091"/>
            <a:ext cx="128699" cy="187198"/>
          </a:xfrm>
          <a:prstGeom prst="rect">
            <a:avLst/>
          </a:prstGeom>
        </p:spPr>
      </p:pic>
      <p:pic>
        <p:nvPicPr>
          <p:cNvPr id="390" name="Picture 389" descr="lock.png"/>
          <p:cNvPicPr>
            <a:picLocks noChangeAspect="1"/>
          </p:cNvPicPr>
          <p:nvPr/>
        </p:nvPicPr>
        <p:blipFill>
          <a:blip r:embed="rId4"/>
          <a:stretch>
            <a:fillRect/>
          </a:stretch>
        </p:blipFill>
        <p:spPr>
          <a:xfrm>
            <a:off x="6074512" y="3560448"/>
            <a:ext cx="128699" cy="187198"/>
          </a:xfrm>
          <a:prstGeom prst="rect">
            <a:avLst/>
          </a:prstGeom>
        </p:spPr>
      </p:pic>
      <p:pic>
        <p:nvPicPr>
          <p:cNvPr id="391" name="Picture 390" descr="lock.png"/>
          <p:cNvPicPr>
            <a:picLocks noChangeAspect="1"/>
          </p:cNvPicPr>
          <p:nvPr/>
        </p:nvPicPr>
        <p:blipFill>
          <a:blip r:embed="rId4"/>
          <a:stretch>
            <a:fillRect/>
          </a:stretch>
        </p:blipFill>
        <p:spPr>
          <a:xfrm>
            <a:off x="7150838" y="2702524"/>
            <a:ext cx="128699" cy="187198"/>
          </a:xfrm>
          <a:prstGeom prst="rect">
            <a:avLst/>
          </a:prstGeom>
        </p:spPr>
      </p:pic>
      <p:pic>
        <p:nvPicPr>
          <p:cNvPr id="392" name="Picture 391" descr="lock.png"/>
          <p:cNvPicPr>
            <a:picLocks noChangeAspect="1"/>
          </p:cNvPicPr>
          <p:nvPr/>
        </p:nvPicPr>
        <p:blipFill>
          <a:blip r:embed="rId4"/>
          <a:stretch>
            <a:fillRect/>
          </a:stretch>
        </p:blipFill>
        <p:spPr>
          <a:xfrm>
            <a:off x="7150838" y="3031091"/>
            <a:ext cx="128699" cy="187198"/>
          </a:xfrm>
          <a:prstGeom prst="rect">
            <a:avLst/>
          </a:prstGeom>
        </p:spPr>
      </p:pic>
      <p:pic>
        <p:nvPicPr>
          <p:cNvPr id="393" name="Picture 392" descr="lock.png"/>
          <p:cNvPicPr>
            <a:picLocks noChangeAspect="1"/>
          </p:cNvPicPr>
          <p:nvPr/>
        </p:nvPicPr>
        <p:blipFill>
          <a:blip r:embed="rId4"/>
          <a:stretch>
            <a:fillRect/>
          </a:stretch>
        </p:blipFill>
        <p:spPr>
          <a:xfrm>
            <a:off x="7150838" y="3560448"/>
            <a:ext cx="128699" cy="187198"/>
          </a:xfrm>
          <a:prstGeom prst="rect">
            <a:avLst/>
          </a:prstGeom>
        </p:spPr>
      </p:pic>
      <p:pic>
        <p:nvPicPr>
          <p:cNvPr id="394" name="Picture 393" descr="lock.png"/>
          <p:cNvPicPr>
            <a:picLocks noChangeAspect="1"/>
          </p:cNvPicPr>
          <p:nvPr/>
        </p:nvPicPr>
        <p:blipFill>
          <a:blip r:embed="rId4"/>
          <a:stretch>
            <a:fillRect/>
          </a:stretch>
        </p:blipFill>
        <p:spPr>
          <a:xfrm>
            <a:off x="8227163" y="2702524"/>
            <a:ext cx="128699" cy="187198"/>
          </a:xfrm>
          <a:prstGeom prst="rect">
            <a:avLst/>
          </a:prstGeom>
        </p:spPr>
      </p:pic>
      <p:pic>
        <p:nvPicPr>
          <p:cNvPr id="395" name="Picture 394" descr="lock.png"/>
          <p:cNvPicPr>
            <a:picLocks noChangeAspect="1"/>
          </p:cNvPicPr>
          <p:nvPr/>
        </p:nvPicPr>
        <p:blipFill>
          <a:blip r:embed="rId4"/>
          <a:stretch>
            <a:fillRect/>
          </a:stretch>
        </p:blipFill>
        <p:spPr>
          <a:xfrm>
            <a:off x="8227163" y="3031091"/>
            <a:ext cx="128699" cy="187198"/>
          </a:xfrm>
          <a:prstGeom prst="rect">
            <a:avLst/>
          </a:prstGeom>
        </p:spPr>
      </p:pic>
      <p:pic>
        <p:nvPicPr>
          <p:cNvPr id="396" name="Picture 395" descr="lock.png"/>
          <p:cNvPicPr>
            <a:picLocks noChangeAspect="1"/>
          </p:cNvPicPr>
          <p:nvPr/>
        </p:nvPicPr>
        <p:blipFill>
          <a:blip r:embed="rId4"/>
          <a:stretch>
            <a:fillRect/>
          </a:stretch>
        </p:blipFill>
        <p:spPr>
          <a:xfrm>
            <a:off x="8227162" y="3560448"/>
            <a:ext cx="128699" cy="187198"/>
          </a:xfrm>
          <a:prstGeom prst="rect">
            <a:avLst/>
          </a:prstGeom>
        </p:spPr>
      </p:pic>
      <p:pic>
        <p:nvPicPr>
          <p:cNvPr id="397" name="Picture 396" descr="lock.png"/>
          <p:cNvPicPr>
            <a:picLocks noChangeAspect="1"/>
          </p:cNvPicPr>
          <p:nvPr/>
        </p:nvPicPr>
        <p:blipFill>
          <a:blip r:embed="rId4"/>
          <a:stretch>
            <a:fillRect/>
          </a:stretch>
        </p:blipFill>
        <p:spPr>
          <a:xfrm>
            <a:off x="9303488" y="2702524"/>
            <a:ext cx="128699" cy="187198"/>
          </a:xfrm>
          <a:prstGeom prst="rect">
            <a:avLst/>
          </a:prstGeom>
        </p:spPr>
      </p:pic>
      <p:pic>
        <p:nvPicPr>
          <p:cNvPr id="398" name="Picture 397" descr="lock.png"/>
          <p:cNvPicPr>
            <a:picLocks noChangeAspect="1"/>
          </p:cNvPicPr>
          <p:nvPr/>
        </p:nvPicPr>
        <p:blipFill>
          <a:blip r:embed="rId4"/>
          <a:stretch>
            <a:fillRect/>
          </a:stretch>
        </p:blipFill>
        <p:spPr>
          <a:xfrm>
            <a:off x="9303488" y="3031091"/>
            <a:ext cx="128699" cy="187198"/>
          </a:xfrm>
          <a:prstGeom prst="rect">
            <a:avLst/>
          </a:prstGeom>
        </p:spPr>
      </p:pic>
      <p:pic>
        <p:nvPicPr>
          <p:cNvPr id="399" name="Picture 398" descr="lock.png"/>
          <p:cNvPicPr>
            <a:picLocks noChangeAspect="1"/>
          </p:cNvPicPr>
          <p:nvPr/>
        </p:nvPicPr>
        <p:blipFill>
          <a:blip r:embed="rId4"/>
          <a:stretch>
            <a:fillRect/>
          </a:stretch>
        </p:blipFill>
        <p:spPr>
          <a:xfrm>
            <a:off x="9303488" y="3560448"/>
            <a:ext cx="128699" cy="187198"/>
          </a:xfrm>
          <a:prstGeom prst="rect">
            <a:avLst/>
          </a:prstGeom>
        </p:spPr>
      </p:pic>
      <p:pic>
        <p:nvPicPr>
          <p:cNvPr id="400" name="Picture 399" descr="lock.png"/>
          <p:cNvPicPr>
            <a:picLocks noChangeAspect="1"/>
          </p:cNvPicPr>
          <p:nvPr/>
        </p:nvPicPr>
        <p:blipFill>
          <a:blip r:embed="rId4"/>
          <a:stretch>
            <a:fillRect/>
          </a:stretch>
        </p:blipFill>
        <p:spPr>
          <a:xfrm>
            <a:off x="10379813" y="2702524"/>
            <a:ext cx="128699" cy="187198"/>
          </a:xfrm>
          <a:prstGeom prst="rect">
            <a:avLst/>
          </a:prstGeom>
        </p:spPr>
      </p:pic>
      <p:pic>
        <p:nvPicPr>
          <p:cNvPr id="401" name="Picture 400" descr="lock.png"/>
          <p:cNvPicPr>
            <a:picLocks noChangeAspect="1"/>
          </p:cNvPicPr>
          <p:nvPr/>
        </p:nvPicPr>
        <p:blipFill>
          <a:blip r:embed="rId4"/>
          <a:stretch>
            <a:fillRect/>
          </a:stretch>
        </p:blipFill>
        <p:spPr>
          <a:xfrm>
            <a:off x="10379813" y="3031091"/>
            <a:ext cx="128699" cy="187198"/>
          </a:xfrm>
          <a:prstGeom prst="rect">
            <a:avLst/>
          </a:prstGeom>
        </p:spPr>
      </p:pic>
      <p:pic>
        <p:nvPicPr>
          <p:cNvPr id="402" name="Picture 401" descr="lock.png"/>
          <p:cNvPicPr>
            <a:picLocks noChangeAspect="1"/>
          </p:cNvPicPr>
          <p:nvPr/>
        </p:nvPicPr>
        <p:blipFill>
          <a:blip r:embed="rId4"/>
          <a:stretch>
            <a:fillRect/>
          </a:stretch>
        </p:blipFill>
        <p:spPr>
          <a:xfrm>
            <a:off x="10379812" y="3560448"/>
            <a:ext cx="128699" cy="187198"/>
          </a:xfrm>
          <a:prstGeom prst="rect">
            <a:avLst/>
          </a:prstGeom>
        </p:spPr>
      </p:pic>
      <p:pic>
        <p:nvPicPr>
          <p:cNvPr id="403" name="Picture 402" descr="lock.png"/>
          <p:cNvPicPr>
            <a:picLocks noChangeAspect="1"/>
          </p:cNvPicPr>
          <p:nvPr/>
        </p:nvPicPr>
        <p:blipFill>
          <a:blip r:embed="rId4"/>
          <a:stretch>
            <a:fillRect/>
          </a:stretch>
        </p:blipFill>
        <p:spPr>
          <a:xfrm>
            <a:off x="11456138" y="2702524"/>
            <a:ext cx="128699" cy="187198"/>
          </a:xfrm>
          <a:prstGeom prst="rect">
            <a:avLst/>
          </a:prstGeom>
        </p:spPr>
      </p:pic>
      <p:pic>
        <p:nvPicPr>
          <p:cNvPr id="404" name="Picture 403" descr="lock.png"/>
          <p:cNvPicPr>
            <a:picLocks noChangeAspect="1"/>
          </p:cNvPicPr>
          <p:nvPr/>
        </p:nvPicPr>
        <p:blipFill>
          <a:blip r:embed="rId4"/>
          <a:stretch>
            <a:fillRect/>
          </a:stretch>
        </p:blipFill>
        <p:spPr>
          <a:xfrm>
            <a:off x="11456138" y="3031091"/>
            <a:ext cx="128699" cy="187198"/>
          </a:xfrm>
          <a:prstGeom prst="rect">
            <a:avLst/>
          </a:prstGeom>
        </p:spPr>
      </p:pic>
      <p:pic>
        <p:nvPicPr>
          <p:cNvPr id="405" name="Picture 404" descr="lock.png"/>
          <p:cNvPicPr>
            <a:picLocks noChangeAspect="1"/>
          </p:cNvPicPr>
          <p:nvPr/>
        </p:nvPicPr>
        <p:blipFill>
          <a:blip r:embed="rId4"/>
          <a:stretch>
            <a:fillRect/>
          </a:stretch>
        </p:blipFill>
        <p:spPr>
          <a:xfrm>
            <a:off x="11456138" y="3560448"/>
            <a:ext cx="128699" cy="187198"/>
          </a:xfrm>
          <a:prstGeom prst="rect">
            <a:avLst/>
          </a:prstGeom>
        </p:spPr>
      </p:pic>
    </p:spTree>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Advice for Vendors &amp; Suppliers</a:t>
            </a:r>
          </a:p>
          <a:p>
            <a:pPr marL="342900" indent="-323850">
              <a:lnSpc>
                <a:spcPct val="100000"/>
              </a:lnSpc>
              <a:spcAft>
                <a:spcPts val="800"/>
              </a:spcAft>
            </a:pPr>
            <a:r>
              <a:rPr sz="2000" b="0">
                <a:solidFill>
                  <a:srgbClr val="000000"/>
                </a:solidFill>
                <a:latin typeface="Calibri"/>
              </a:rPr>
              <a:t>➤	Company Value Share</a:t>
            </a:r>
          </a:p>
          <a:p>
            <a:pPr marL="342900" indent="-323850">
              <a:lnSpc>
                <a:spcPct val="100000"/>
              </a:lnSpc>
              <a:spcAft>
                <a:spcPts val="800"/>
              </a:spcAft>
            </a:pPr>
            <a:r>
              <a:rPr sz="2000" b="0">
                <a:solidFill>
                  <a:srgbClr val="000000"/>
                </a:solidFill>
                <a:latin typeface="Calibri"/>
              </a:rPr>
              <a:t>➤	Company Share by Product Type</a:t>
            </a:r>
          </a:p>
          <a:p>
            <a:pPr marL="342900" indent="-323850">
              <a:lnSpc>
                <a:spcPct val="100000"/>
              </a:lnSpc>
              <a:spcAft>
                <a:spcPts val="800"/>
              </a:spcAft>
            </a:pPr>
            <a:r>
              <a:rPr sz="2000" b="0">
                <a:solidFill>
                  <a:srgbClr val="000000"/>
                </a:solidFill>
                <a:latin typeface="Calibri"/>
              </a:rPr>
              <a:t>➤	Company Share by Region</a:t>
            </a:r>
          </a:p>
          <a:p>
            <a:pPr marL="342900" indent="-323850">
              <a:lnSpc>
                <a:spcPct val="100000"/>
              </a:lnSpc>
              <a:spcAft>
                <a:spcPts val="800"/>
              </a:spcAft>
            </a:pPr>
            <a:r>
              <a:rPr sz="2000" b="0">
                <a:solidFill>
                  <a:srgbClr val="000000"/>
                </a:solidFill>
                <a:latin typeface="Calibri"/>
              </a:rPr>
              <a:t>➤	Who Shaped Growth</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Strategic advice for vendors and suppliers where to compete, how to price, and which risks to manage across the Corrugated Partition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76225" y="1439806"/>
            <a:ext cx="5591175" cy="209550"/>
          </a:xfrm>
          <a:prstGeom prst="rect">
            <a:avLst/>
          </a:prstGeom>
          <a:noFill/>
        </p:spPr>
        <p:txBody>
          <a:bodyPr wrap="square" lIns="0" tIns="9525" rIns="19050"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TextBox 13"/>
          <p:cNvSpPr txBox="1"/>
          <p:nvPr/>
        </p:nvSpPr>
        <p:spPr>
          <a:xfrm>
            <a:off x="276225" y="1763656"/>
            <a:ext cx="5591175" cy="2115377"/>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6324600" y="1439806"/>
            <a:ext cx="5591175" cy="209550"/>
          </a:xfrm>
          <a:prstGeom prst="rect">
            <a:avLst/>
          </a:prstGeom>
          <a:noFill/>
        </p:spPr>
        <p:txBody>
          <a:bodyPr wrap="square" lIns="0" tIns="9525" rIns="19050"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6324600" y="1763656"/>
            <a:ext cx="5591175" cy="2115377"/>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276225" y="4132227"/>
            <a:ext cx="5591175" cy="209550"/>
          </a:xfrm>
          <a:prstGeom prst="rect">
            <a:avLst/>
          </a:prstGeom>
          <a:noFill/>
        </p:spPr>
        <p:txBody>
          <a:bodyPr wrap="square" lIns="0" tIns="9525" rIns="19050"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TextBox 21"/>
          <p:cNvSpPr txBox="1"/>
          <p:nvPr/>
        </p:nvSpPr>
        <p:spPr>
          <a:xfrm>
            <a:off x="276225" y="4456077"/>
            <a:ext cx="5591175" cy="2024108"/>
          </a:xfrm>
          <a:prstGeom prst="rect">
            <a:avLst/>
          </a:prstGeom>
          <a:noFill/>
        </p:spPr>
        <p:txBody>
          <a:bodyPr wrap="square" lIns="0" tIns="9525" rIns="19050"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TextBox 23"/>
          <p:cNvSpPr txBox="1"/>
          <p:nvPr/>
        </p:nvSpPr>
        <p:spPr>
          <a:xfrm>
            <a:off x="6324600" y="4132227"/>
            <a:ext cx="5591175" cy="209550"/>
          </a:xfrm>
          <a:prstGeom prst="rect">
            <a:avLst/>
          </a:prstGeom>
          <a:noFill/>
        </p:spPr>
        <p:txBody>
          <a:bodyPr wrap="square" lIns="0" tIns="9525" rIns="19050"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6324600" y="4456077"/>
            <a:ext cx="5591175" cy="2024108"/>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7" name="TextBox 26"/>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tIns="0" r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tIns="0" r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tIns="0" r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221324" cy="194310"/>
          </a:xfrm>
          <a:prstGeom prst="rect">
            <a:avLst/>
          </a:prstGeom>
          <a:noFill/>
        </p:spPr>
        <p:txBody>
          <a:bodyPr wrap="none" lIns="0" tIns="0" rIns="0" bIns="0">
            <a:spAutoFit/>
          </a:bodyPr>
          <a:lstStyle/>
          <a:p>
            <a:r>
              <a:rPr sz="1150" b="0">
                <a:solidFill>
                  <a:srgbClr val="2E2E2E"/>
                </a:solidFill>
                <a:latin typeface="Calibri"/>
              </a:rPr>
              <a:t>▪ Premiumise toward higher-value formulations (e.g. 'Flat Dividers &amp; Layer Pads') to lift</a:t>
            </a:r>
          </a:p>
        </p:txBody>
      </p:sp>
      <p:sp>
        <p:nvSpPr>
          <p:cNvPr id="33" name="TextBox 32"/>
          <p:cNvSpPr txBox="1"/>
          <p:nvPr/>
        </p:nvSpPr>
        <p:spPr>
          <a:xfrm>
            <a:off x="276225" y="2351539"/>
            <a:ext cx="3225403" cy="194310"/>
          </a:xfrm>
          <a:prstGeom prst="rect">
            <a:avLst/>
          </a:prstGeom>
          <a:noFill/>
        </p:spPr>
        <p:txBody>
          <a:bodyPr wrap="none" lIns="0" tIns="0" rIns="0" bIns="0">
            <a:spAutoFit/>
          </a:bodyPr>
          <a:lstStyle/>
          <a:p>
            <a:r>
              <a:rPr sz="1150" b="0">
                <a:solidFill>
                  <a:srgbClr val="2E2E2E"/>
                </a:solidFill>
                <a:latin typeface="Calibri"/>
              </a:rPr>
              <a:t>blended ASP and defend margin as input costs move.</a:t>
            </a:r>
          </a:p>
        </p:txBody>
      </p:sp>
      <p:sp>
        <p:nvSpPr>
          <p:cNvPr id="34" name="TextBox 33"/>
          <p:cNvSpPr txBox="1"/>
          <p:nvPr/>
        </p:nvSpPr>
        <p:spPr>
          <a:xfrm>
            <a:off x="276225" y="2579377"/>
            <a:ext cx="4816264" cy="194310"/>
          </a:xfrm>
          <a:prstGeom prst="rect">
            <a:avLst/>
          </a:prstGeom>
          <a:noFill/>
        </p:spPr>
        <p:txBody>
          <a:bodyPr wrap="none" lIns="0" tIns="0" r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tIns="0" r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tIns="0" r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tIns="0" r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tIns="0" r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tIns="0" r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tIns="0" r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3637880" cy="194310"/>
          </a:xfrm>
          <a:prstGeom prst="rect">
            <a:avLst/>
          </a:prstGeom>
          <a:noFill/>
        </p:spPr>
        <p:txBody>
          <a:bodyPr wrap="none" lIns="0" tIns="0" rIns="0" bIns="0">
            <a:spAutoFit/>
          </a:bodyPr>
          <a:lstStyle/>
          <a:p>
            <a:r>
              <a:rPr sz="1150" b="0">
                <a:solidFill>
                  <a:srgbClr val="2E2E2E"/>
                </a:solidFill>
                <a:latin typeface="Calibri"/>
              </a:rPr>
              <a:t>▪ Benchmark relentlessly against 'Multicell Packaging Inc.' (~</a:t>
            </a:r>
          </a:p>
        </p:txBody>
      </p:sp>
      <p:pic>
        <p:nvPicPr>
          <p:cNvPr id="43" name="Picture 42" descr="lock.png"/>
          <p:cNvPicPr>
            <a:picLocks noChangeAspect="1"/>
          </p:cNvPicPr>
          <p:nvPr/>
        </p:nvPicPr>
        <p:blipFill>
          <a:blip r:embed="rId4"/>
          <a:stretch>
            <a:fillRect/>
          </a:stretch>
        </p:blipFill>
        <p:spPr>
          <a:xfrm>
            <a:off x="9911634" y="4455378"/>
            <a:ext cx="134549" cy="195707"/>
          </a:xfrm>
          <a:prstGeom prst="rect">
            <a:avLst/>
          </a:prstGeom>
        </p:spPr>
      </p:pic>
      <p:sp>
        <p:nvSpPr>
          <p:cNvPr id="44" name="TextBox 43"/>
          <p:cNvSpPr txBox="1"/>
          <p:nvPr/>
        </p:nvSpPr>
        <p:spPr>
          <a:xfrm>
            <a:off x="10086743" y="4465602"/>
            <a:ext cx="1746646" cy="194310"/>
          </a:xfrm>
          <a:prstGeom prst="rect">
            <a:avLst/>
          </a:prstGeom>
          <a:noFill/>
        </p:spPr>
        <p:txBody>
          <a:bodyPr wrap="none" lIns="0" tIns="0" rIns="0" bIns="0">
            <a:spAutoFit/>
          </a:bodyPr>
          <a:lstStyle/>
          <a:p>
            <a:r>
              <a:rPr sz="1150" b="0">
                <a:solidFill>
                  <a:srgbClr val="2E2E2E"/>
                </a:solidFill>
                <a:latin typeface="Calibri"/>
              </a:rPr>
              <a:t>share) match on service and</a:t>
            </a:r>
          </a:p>
        </p:txBody>
      </p:sp>
      <p:sp>
        <p:nvSpPr>
          <p:cNvPr id="45" name="TextBox 44"/>
          <p:cNvSpPr txBox="1"/>
          <p:nvPr/>
        </p:nvSpPr>
        <p:spPr>
          <a:xfrm>
            <a:off x="6324600" y="4640861"/>
            <a:ext cx="2033327" cy="194310"/>
          </a:xfrm>
          <a:prstGeom prst="rect">
            <a:avLst/>
          </a:prstGeom>
          <a:noFill/>
        </p:spPr>
        <p:txBody>
          <a:bodyPr wrap="none" lIns="0" tIns="0" rIns="0" bIns="0">
            <a:spAutoFit/>
          </a:bodyPr>
          <a:lstStyle/>
          <a:p>
            <a:r>
              <a:rPr sz="1150" b="0">
                <a:solidFill>
                  <a:srgbClr val="2E2E2E"/>
                </a:solidFill>
                <a:latin typeface="Calibri"/>
              </a:rPr>
              <a:t>lead on innovation to take share.</a:t>
            </a:r>
          </a:p>
        </p:txBody>
      </p:sp>
      <p:sp>
        <p:nvSpPr>
          <p:cNvPr id="46" name="TextBox 45"/>
          <p:cNvSpPr txBox="1"/>
          <p:nvPr/>
        </p:nvSpPr>
        <p:spPr>
          <a:xfrm>
            <a:off x="6324600" y="4868699"/>
            <a:ext cx="5455518" cy="194310"/>
          </a:xfrm>
          <a:prstGeom prst="rect">
            <a:avLst/>
          </a:prstGeom>
          <a:noFill/>
        </p:spPr>
        <p:txBody>
          <a:bodyPr wrap="none" lIns="0" tIns="0" r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tIns="0" r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tIns="0" r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tIns="0" rIns="0" bIns="0">
            <a:spAutoFit/>
          </a:bodyPr>
          <a:lstStyle/>
          <a:p>
            <a:r>
              <a:rPr sz="1150" b="0">
                <a:solidFill>
                  <a:srgbClr val="2E2E2E"/>
                </a:solidFill>
                <a:latin typeface="Calibri"/>
              </a:rPr>
              <a:t>sourcing.</a:t>
            </a:r>
          </a:p>
        </p:txBody>
      </p:sp>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Company Value Share (Global)</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wrap="square" lIns="28575" tIns="9525" rIns="28575" bIns="9525" rtlCol="0" anchor="ctr"/>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 name="TextBox 12"/>
          <p:cNvSpPr txBox="1"/>
          <p:nvPr/>
        </p:nvSpPr>
        <p:spPr>
          <a:xfrm>
            <a:off x="238125" y="1411231"/>
            <a:ext cx="73533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xmlns:r="http://schemas.openxmlformats.org/officeDocument/2006/relationships" r:id="rId4"/>
          </a:graphicData>
        </a:graphic>
      </p:graphicFrame>
      <p:sp>
        <p:nvSpPr>
          <p:cNvPr id="15" name="TextBox 14"/>
          <p:cNvSpPr txBox="1"/>
          <p:nvPr/>
        </p:nvSpPr>
        <p:spPr>
          <a:xfrm>
            <a:off x="2049780" y="3878635"/>
            <a:ext cx="1524000" cy="400050"/>
          </a:xfrm>
          <a:prstGeom prst="rect">
            <a:avLst/>
          </a:prstGeom>
          <a:noFill/>
        </p:spPr>
        <p:txBody>
          <a:bodyPr wrap="square" lIns="28575" tIns="9525" rIns="28575" bIns="9525" anchor="ctr">
            <a:spAutoFit/>
          </a:bodyPr>
          <a:lstStyle/>
          <a:p>
            <a:pPr algn="ctr"/>
            <a:endParaRPr/>
          </a:p>
          <a:p>
            <a:pPr algn="ctr"/>
            <a:endParaRP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7934325" y="1439806"/>
            <a:ext cx="39814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7934325" y="1763656"/>
            <a:ext cx="3981450" cy="4734783"/>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0" name="TextBox 19"/>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5"/>
          <a:stretch>
            <a:fillRect/>
          </a:stretch>
        </p:blipFill>
        <p:spPr>
          <a:xfrm>
            <a:off x="2533173" y="3678610"/>
            <a:ext cx="523875" cy="762000"/>
          </a:xfrm>
          <a:prstGeom prst="rect">
            <a:avLst/>
          </a:prstGeom>
        </p:spPr>
      </p:pic>
      <p:sp>
        <p:nvSpPr>
          <p:cNvPr id="22" name="TextBox 21"/>
          <p:cNvSpPr txBox="1"/>
          <p:nvPr/>
        </p:nvSpPr>
        <p:spPr>
          <a:xfrm>
            <a:off x="2634865" y="3914616"/>
            <a:ext cx="430029" cy="161696"/>
          </a:xfrm>
          <a:prstGeom prst="rect">
            <a:avLst/>
          </a:prstGeom>
          <a:noFill/>
        </p:spPr>
        <p:txBody>
          <a:bodyPr wrap="none" lIns="0" tIns="0" rIns="0" bIns="0">
            <a:spAutoFit/>
          </a:bodyPr>
          <a:lstStyle/>
          <a:p>
            <a:r>
              <a:rPr sz="935" b="1">
                <a:solidFill>
                  <a:srgbClr val="2E2E2E"/>
                </a:solidFill>
                <a:latin typeface="Calibri"/>
              </a:rPr>
              <a:t>100% =</a:t>
            </a:r>
          </a:p>
        </p:txBody>
      </p:sp>
      <p:pic>
        <p:nvPicPr>
          <p:cNvPr id="23" name="Picture 22" descr="lock.png"/>
          <p:cNvPicPr>
            <a:picLocks noChangeAspect="1"/>
          </p:cNvPicPr>
          <p:nvPr/>
        </p:nvPicPr>
        <p:blipFill>
          <a:blip r:embed="rId5"/>
          <a:stretch>
            <a:fillRect/>
          </a:stretch>
        </p:blipFill>
        <p:spPr>
          <a:xfrm>
            <a:off x="2540344" y="4091735"/>
            <a:ext cx="109510" cy="159288"/>
          </a:xfrm>
          <a:prstGeom prst="rect">
            <a:avLst/>
          </a:prstGeom>
        </p:spPr>
      </p:pic>
      <p:sp>
        <p:nvSpPr>
          <p:cNvPr id="24" name="TextBox 23"/>
          <p:cNvSpPr txBox="1"/>
          <p:nvPr/>
        </p:nvSpPr>
        <p:spPr>
          <a:xfrm>
            <a:off x="2682868" y="4100056"/>
            <a:ext cx="465087" cy="161696"/>
          </a:xfrm>
          <a:prstGeom prst="rect">
            <a:avLst/>
          </a:prstGeom>
          <a:noFill/>
        </p:spPr>
        <p:txBody>
          <a:bodyPr wrap="none" lIns="0" tIns="0" rIns="0" bIns="0">
            <a:spAutoFit/>
          </a:bodyPr>
          <a:lstStyle/>
          <a:p>
            <a:r>
              <a:rPr sz="935" b="1">
                <a:solidFill>
                  <a:srgbClr val="2E2E2E"/>
                </a:solidFill>
                <a:latin typeface="Calibri"/>
              </a:rPr>
              <a:t>US$ Mn</a:t>
            </a:r>
          </a:p>
        </p:txBody>
      </p:sp>
      <p:sp>
        <p:nvSpPr>
          <p:cNvPr id="25" name="TextBox 24"/>
          <p:cNvSpPr txBox="1"/>
          <p:nvPr/>
        </p:nvSpPr>
        <p:spPr>
          <a:xfrm>
            <a:off x="7934325" y="1773181"/>
            <a:ext cx="3741427" cy="194310"/>
          </a:xfrm>
          <a:prstGeom prst="rect">
            <a:avLst/>
          </a:prstGeom>
          <a:noFill/>
        </p:spPr>
        <p:txBody>
          <a:bodyPr wrap="none" lIns="0" tIns="0" rIns="0" bIns="0">
            <a:spAutoFit/>
          </a:bodyPr>
          <a:lstStyle/>
          <a:p>
            <a:r>
              <a:rPr sz="1150" b="0">
                <a:solidFill>
                  <a:srgbClr val="2E2E2E"/>
                </a:solidFill>
                <a:latin typeface="Calibri"/>
              </a:rPr>
              <a:t>Multicell Packaging Inc. accounted for the largest share of the</a:t>
            </a:r>
          </a:p>
        </p:txBody>
      </p:sp>
      <p:sp>
        <p:nvSpPr>
          <p:cNvPr id="26" name="TextBox 25"/>
          <p:cNvSpPr txBox="1"/>
          <p:nvPr/>
        </p:nvSpPr>
        <p:spPr>
          <a:xfrm>
            <a:off x="7934325" y="1948441"/>
            <a:ext cx="3962400" cy="194310"/>
          </a:xfrm>
          <a:prstGeom prst="rect">
            <a:avLst/>
          </a:prstGeom>
          <a:noFill/>
        </p:spPr>
        <p:txBody>
          <a:bodyPr wrap="none" lIns="0" tIns="0" rIns="0" bIns="0">
            <a:spAutoFit/>
          </a:bodyPr>
          <a:lstStyle/>
          <a:p>
            <a:r>
              <a:rPr sz="1150" b="0">
                <a:solidFill>
                  <a:srgbClr val="2E2E2E"/>
                </a:solidFill>
                <a:latin typeface="Calibri"/>
              </a:rPr>
              <a:t>global corrugated partition market in 2026. The global corrugated</a:t>
            </a:r>
          </a:p>
        </p:txBody>
      </p:sp>
      <p:sp>
        <p:nvSpPr>
          <p:cNvPr id="27" name="TextBox 26"/>
          <p:cNvSpPr txBox="1"/>
          <p:nvPr/>
        </p:nvSpPr>
        <p:spPr>
          <a:xfrm>
            <a:off x="7934325" y="2123701"/>
            <a:ext cx="3524634" cy="194310"/>
          </a:xfrm>
          <a:prstGeom prst="rect">
            <a:avLst/>
          </a:prstGeom>
          <a:noFill/>
        </p:spPr>
        <p:txBody>
          <a:bodyPr wrap="none" lIns="0" tIns="0" rIns="0" bIns="0">
            <a:spAutoFit/>
          </a:bodyPr>
          <a:lstStyle/>
          <a:p>
            <a:r>
              <a:rPr sz="1150" b="0">
                <a:solidFill>
                  <a:srgbClr val="2E2E2E"/>
                </a:solidFill>
                <a:latin typeface="Calibri"/>
              </a:rPr>
              <a:t>partition market is fragmented, with the top three players</a:t>
            </a:r>
          </a:p>
        </p:txBody>
      </p:sp>
      <p:sp>
        <p:nvSpPr>
          <p:cNvPr id="28" name="TextBox 27"/>
          <p:cNvSpPr txBox="1"/>
          <p:nvPr/>
        </p:nvSpPr>
        <p:spPr>
          <a:xfrm>
            <a:off x="7934325" y="2298961"/>
            <a:ext cx="1744650" cy="194310"/>
          </a:xfrm>
          <a:prstGeom prst="rect">
            <a:avLst/>
          </a:prstGeom>
          <a:noFill/>
        </p:spPr>
        <p:txBody>
          <a:bodyPr wrap="none" lIns="0" tIns="0" rIns="0" bIns="0">
            <a:spAutoFit/>
          </a:bodyPr>
          <a:lstStyle/>
          <a:p>
            <a:r>
              <a:rPr sz="1150" b="0">
                <a:solidFill>
                  <a:srgbClr val="2E2E2E"/>
                </a:solidFill>
                <a:latin typeface="Calibri"/>
              </a:rPr>
              <a:t>accounting for an estimated</a:t>
            </a:r>
          </a:p>
        </p:txBody>
      </p:sp>
      <p:pic>
        <p:nvPicPr>
          <p:cNvPr id="29" name="Picture 28" descr="lock.png"/>
          <p:cNvPicPr>
            <a:picLocks noChangeAspect="1"/>
          </p:cNvPicPr>
          <p:nvPr/>
        </p:nvPicPr>
        <p:blipFill>
          <a:blip r:embed="rId5"/>
          <a:stretch>
            <a:fillRect/>
          </a:stretch>
        </p:blipFill>
        <p:spPr>
          <a:xfrm>
            <a:off x="9628129" y="2288737"/>
            <a:ext cx="134549" cy="195707"/>
          </a:xfrm>
          <a:prstGeom prst="rect">
            <a:avLst/>
          </a:prstGeom>
        </p:spPr>
      </p:pic>
      <p:sp>
        <p:nvSpPr>
          <p:cNvPr id="30" name="TextBox 29"/>
          <p:cNvSpPr txBox="1"/>
          <p:nvPr/>
        </p:nvSpPr>
        <p:spPr>
          <a:xfrm>
            <a:off x="9803238" y="2298961"/>
            <a:ext cx="1758912" cy="194310"/>
          </a:xfrm>
          <a:prstGeom prst="rect">
            <a:avLst/>
          </a:prstGeom>
          <a:noFill/>
        </p:spPr>
        <p:txBody>
          <a:bodyPr wrap="none" lIns="0" tIns="0" rIns="0" bIns="0">
            <a:spAutoFit/>
          </a:bodyPr>
          <a:lstStyle/>
          <a:p>
            <a:r>
              <a:rPr sz="1150" b="0">
                <a:solidFill>
                  <a:srgbClr val="2E2E2E"/>
                </a:solidFill>
                <a:latin typeface="Calibri"/>
              </a:rPr>
              <a:t>share of the market in 2026.</a:t>
            </a:r>
          </a:p>
        </p:txBody>
      </p:sp>
      <p:sp>
        <p:nvSpPr>
          <p:cNvPr id="31" name="TextBox 30"/>
          <p:cNvSpPr txBox="1"/>
          <p:nvPr/>
        </p:nvSpPr>
        <p:spPr>
          <a:xfrm>
            <a:off x="7934325" y="2526799"/>
            <a:ext cx="3138115" cy="194310"/>
          </a:xfrm>
          <a:prstGeom prst="rect">
            <a:avLst/>
          </a:prstGeom>
          <a:noFill/>
        </p:spPr>
        <p:txBody>
          <a:bodyPr wrap="none" lIns="0" tIns="0" rIns="0" bIns="0">
            <a:spAutoFit/>
          </a:bodyPr>
          <a:lstStyle/>
          <a:p>
            <a:r>
              <a:rPr sz="1150" b="0">
                <a:solidFill>
                  <a:srgbClr val="2E2E2E"/>
                </a:solidFill>
                <a:latin typeface="Calibri"/>
              </a:rPr>
              <a:t>Multicell Packaging Inc. accounted for an estimated</a:t>
            </a:r>
          </a:p>
        </p:txBody>
      </p:sp>
      <p:pic>
        <p:nvPicPr>
          <p:cNvPr id="32" name="Picture 31" descr="lock.png"/>
          <p:cNvPicPr>
            <a:picLocks noChangeAspect="1"/>
          </p:cNvPicPr>
          <p:nvPr/>
        </p:nvPicPr>
        <p:blipFill>
          <a:blip r:embed="rId5"/>
          <a:stretch>
            <a:fillRect/>
          </a:stretch>
        </p:blipFill>
        <p:spPr>
          <a:xfrm>
            <a:off x="11021594" y="2516575"/>
            <a:ext cx="134549" cy="195707"/>
          </a:xfrm>
          <a:prstGeom prst="rect">
            <a:avLst/>
          </a:prstGeom>
        </p:spPr>
      </p:pic>
      <p:sp>
        <p:nvSpPr>
          <p:cNvPr id="33" name="TextBox 32"/>
          <p:cNvSpPr txBox="1"/>
          <p:nvPr/>
        </p:nvSpPr>
        <p:spPr>
          <a:xfrm>
            <a:off x="11196703" y="2526799"/>
            <a:ext cx="558279" cy="194310"/>
          </a:xfrm>
          <a:prstGeom prst="rect">
            <a:avLst/>
          </a:prstGeom>
          <a:noFill/>
        </p:spPr>
        <p:txBody>
          <a:bodyPr wrap="none" lIns="0" tIns="0" rIns="0" bIns="0">
            <a:spAutoFit/>
          </a:bodyPr>
          <a:lstStyle/>
          <a:p>
            <a:r>
              <a:rPr sz="1150" b="0">
                <a:solidFill>
                  <a:srgbClr val="2E2E2E"/>
                </a:solidFill>
                <a:latin typeface="Calibri"/>
              </a:rPr>
              <a:t>share of</a:t>
            </a:r>
          </a:p>
        </p:txBody>
      </p:sp>
      <p:sp>
        <p:nvSpPr>
          <p:cNvPr id="34" name="TextBox 33"/>
          <p:cNvSpPr txBox="1"/>
          <p:nvPr/>
        </p:nvSpPr>
        <p:spPr>
          <a:xfrm>
            <a:off x="7934325" y="2702058"/>
            <a:ext cx="2390179" cy="194310"/>
          </a:xfrm>
          <a:prstGeom prst="rect">
            <a:avLst/>
          </a:prstGeom>
          <a:noFill/>
        </p:spPr>
        <p:txBody>
          <a:bodyPr wrap="none" lIns="0" tIns="0" rIns="0" bIns="0">
            <a:spAutoFit/>
          </a:bodyPr>
          <a:lstStyle/>
          <a:p>
            <a:r>
              <a:rPr sz="1150" b="0">
                <a:solidFill>
                  <a:srgbClr val="2E2E2E"/>
                </a:solidFill>
                <a:latin typeface="Calibri"/>
              </a:rPr>
              <a:t>the market, followed by Company with</a:t>
            </a:r>
          </a:p>
        </p:txBody>
      </p:sp>
      <p:pic>
        <p:nvPicPr>
          <p:cNvPr id="35" name="Picture 34" descr="lock.png"/>
          <p:cNvPicPr>
            <a:picLocks noChangeAspect="1"/>
          </p:cNvPicPr>
          <p:nvPr/>
        </p:nvPicPr>
        <p:blipFill>
          <a:blip r:embed="rId5"/>
          <a:stretch>
            <a:fillRect/>
          </a:stretch>
        </p:blipFill>
        <p:spPr>
          <a:xfrm>
            <a:off x="10273658" y="2691835"/>
            <a:ext cx="134549" cy="195707"/>
          </a:xfrm>
          <a:prstGeom prst="rect">
            <a:avLst/>
          </a:prstGeom>
        </p:spPr>
      </p:pic>
      <p:sp>
        <p:nvSpPr>
          <p:cNvPr id="36" name="TextBox 35"/>
          <p:cNvSpPr txBox="1"/>
          <p:nvPr/>
        </p:nvSpPr>
        <p:spPr>
          <a:xfrm>
            <a:off x="10448767" y="2702058"/>
            <a:ext cx="1048019" cy="194310"/>
          </a:xfrm>
          <a:prstGeom prst="rect">
            <a:avLst/>
          </a:prstGeom>
          <a:noFill/>
        </p:spPr>
        <p:txBody>
          <a:bodyPr wrap="none" lIns="0" tIns="0" rIns="0" bIns="0">
            <a:spAutoFit/>
          </a:bodyPr>
          <a:lstStyle/>
          <a:p>
            <a:r>
              <a:rPr sz="1150" b="0">
                <a:solidFill>
                  <a:srgbClr val="2E2E2E"/>
                </a:solidFill>
                <a:latin typeface="Calibri"/>
              </a:rPr>
              <a:t>. Key players are</a:t>
            </a:r>
          </a:p>
        </p:txBody>
      </p:sp>
      <p:sp>
        <p:nvSpPr>
          <p:cNvPr id="37" name="TextBox 36"/>
          <p:cNvSpPr txBox="1"/>
          <p:nvPr/>
        </p:nvSpPr>
        <p:spPr>
          <a:xfrm>
            <a:off x="7934325" y="2877318"/>
            <a:ext cx="3551448" cy="194310"/>
          </a:xfrm>
          <a:prstGeom prst="rect">
            <a:avLst/>
          </a:prstGeom>
          <a:noFill/>
        </p:spPr>
        <p:txBody>
          <a:bodyPr wrap="none" lIns="0" tIns="0" rIns="0" bIns="0">
            <a:spAutoFit/>
          </a:bodyPr>
          <a:lstStyle/>
          <a:p>
            <a:r>
              <a:rPr sz="1150" b="0">
                <a:solidFill>
                  <a:srgbClr val="2E2E2E"/>
                </a:solidFill>
                <a:latin typeface="Calibri"/>
              </a:rPr>
              <a:t>focusing on product innovation, geographic expansion and</a:t>
            </a:r>
          </a:p>
        </p:txBody>
      </p:sp>
      <p:sp>
        <p:nvSpPr>
          <p:cNvPr id="38" name="TextBox 37"/>
          <p:cNvSpPr txBox="1"/>
          <p:nvPr/>
        </p:nvSpPr>
        <p:spPr>
          <a:xfrm>
            <a:off x="7934325" y="3052578"/>
            <a:ext cx="3540038" cy="194310"/>
          </a:xfrm>
          <a:prstGeom prst="rect">
            <a:avLst/>
          </a:prstGeom>
          <a:noFill/>
        </p:spPr>
        <p:txBody>
          <a:bodyPr wrap="none" lIns="0" tIns="0" rIns="0" bIns="0">
            <a:spAutoFit/>
          </a:bodyPr>
          <a:lstStyle/>
          <a:p>
            <a:r>
              <a:rPr sz="1150" b="0">
                <a:solidFill>
                  <a:srgbClr val="2E2E2E"/>
                </a:solidFill>
                <a:latin typeface="Calibri"/>
              </a:rPr>
              <a:t>strategic partnerships to strengthen their market position.</a:t>
            </a:r>
          </a:p>
        </p:txBody>
      </p:sp>
      <p:sp>
        <p:nvSpPr>
          <p:cNvPr id="39" name="TextBox 38"/>
          <p:cNvSpPr txBox="1"/>
          <p:nvPr/>
        </p:nvSpPr>
        <p:spPr>
          <a:xfrm>
            <a:off x="7934325" y="3280416"/>
            <a:ext cx="3647864" cy="194310"/>
          </a:xfrm>
          <a:prstGeom prst="rect">
            <a:avLst/>
          </a:prstGeom>
          <a:noFill/>
        </p:spPr>
        <p:txBody>
          <a:bodyPr wrap="none" lIns="0" tIns="0" rIns="0" bIns="0">
            <a:spAutoFit/>
          </a:bodyPr>
          <a:lstStyle/>
          <a:p>
            <a:r>
              <a:rPr sz="1150" b="0">
                <a:solidFill>
                  <a:srgbClr val="2E2E2E"/>
                </a:solidFill>
                <a:latin typeface="Calibri"/>
              </a:rPr>
              <a:t>Regional share differs from the global picture use the region</a:t>
            </a:r>
          </a:p>
        </p:txBody>
      </p:sp>
      <p:sp>
        <p:nvSpPr>
          <p:cNvPr id="40" name="TextBox 39"/>
          <p:cNvSpPr txBox="1"/>
          <p:nvPr/>
        </p:nvSpPr>
        <p:spPr>
          <a:xfrm>
            <a:off x="7934325" y="3455676"/>
            <a:ext cx="3444763" cy="194310"/>
          </a:xfrm>
          <a:prstGeom prst="rect">
            <a:avLst/>
          </a:prstGeom>
          <a:noFill/>
        </p:spPr>
        <p:txBody>
          <a:bodyPr wrap="none" lIns="0" tIns="0" rIns="0" bIns="0">
            <a:spAutoFit/>
          </a:bodyPr>
          <a:lstStyle/>
          <a:p>
            <a:r>
              <a:rPr sz="1150" b="0">
                <a:solidFill>
                  <a:srgbClr val="2E2E2E"/>
                </a:solidFill>
                <a:latin typeface="Calibri"/>
              </a:rPr>
              <a:t>selector to see how leadership shifts across geographies.</a:t>
            </a:r>
          </a:p>
        </p:txBody>
      </p:sp>
      <p:sp>
        <p:nvSpPr>
          <p:cNvPr id="41" name="lockshield_14"/>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Company Share by Product Type (Top 3)</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company value share within each leading partition type,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56470"/>
            <a:ext cx="36385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Flat Dividers &amp; Layer Pads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219575" y="1356470"/>
            <a:ext cx="3638550" cy="38100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Die-Cut &amp; Folded Partitions (H-dividers, tube/cell inserts)</a:t>
            </a:r>
          </a:p>
        </p:txBody>
      </p:sp>
      <p:graphicFrame>
        <p:nvGraphicFramePr>
          <p:cNvPr id="16" name="Chart 15"/>
          <p:cNvGraphicFramePr>
            <a:graphicFrameLocks noGrp="1"/>
          </p:cNvGraphicFramePr>
          <p:nvPr/>
        </p:nvGraphicFramePr>
        <p:xfrm>
          <a:off x="4219575" y="1756520"/>
          <a:ext cx="3638550" cy="2698301"/>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8201025" y="1356470"/>
            <a:ext cx="37528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Slotted (Interlocking Grid) Partitions</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76225" y="4688965"/>
            <a:ext cx="11639550" cy="209550"/>
          </a:xfrm>
          <a:prstGeom prst="rect">
            <a:avLst/>
          </a:prstGeom>
          <a:noFill/>
        </p:spPr>
        <p:txBody>
          <a:bodyPr wrap="square" lIns="0" tIns="9525" rIns="19050"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276225" y="5012815"/>
            <a:ext cx="11639550" cy="1485624"/>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4" name="TextBox 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705620"/>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3658468" cy="186689"/>
          </a:xfrm>
          <a:prstGeom prst="rect">
            <a:avLst/>
          </a:prstGeom>
          <a:noFill/>
        </p:spPr>
        <p:txBody>
          <a:bodyPr wrap="none" lIns="0" tIns="0" rIns="0" bIns="0">
            <a:spAutoFit/>
          </a:bodyPr>
          <a:lstStyle/>
          <a:p>
            <a:r>
              <a:rPr sz="1100" b="0">
                <a:solidFill>
                  <a:srgbClr val="2E2E2E"/>
                </a:solidFill>
                <a:latin typeface="Calibri"/>
              </a:rPr>
              <a:t>▪ Flat Dividers &amp; Layer Pads: 'Multicell Packaging Inc.' leads at ~</a:t>
            </a:r>
          </a:p>
        </p:txBody>
      </p:sp>
      <p:pic>
        <p:nvPicPr>
          <p:cNvPr id="29" name="Picture 28" descr="lock.png"/>
          <p:cNvPicPr>
            <a:picLocks noChangeAspect="1"/>
          </p:cNvPicPr>
          <p:nvPr/>
        </p:nvPicPr>
        <p:blipFill>
          <a:blip r:embed="rId7"/>
          <a:stretch>
            <a:fillRect/>
          </a:stretch>
        </p:blipFill>
        <p:spPr>
          <a:xfrm>
            <a:off x="3882744" y="5012560"/>
            <a:ext cx="128699" cy="187198"/>
          </a:xfrm>
          <a:prstGeom prst="rect">
            <a:avLst/>
          </a:prstGeom>
        </p:spPr>
      </p:pic>
      <p:sp>
        <p:nvSpPr>
          <p:cNvPr id="30" name="TextBox 29"/>
          <p:cNvSpPr txBox="1"/>
          <p:nvPr/>
        </p:nvSpPr>
        <p:spPr>
          <a:xfrm>
            <a:off x="4050240" y="5022340"/>
            <a:ext cx="1649189" cy="186689"/>
          </a:xfrm>
          <a:prstGeom prst="rect">
            <a:avLst/>
          </a:prstGeom>
          <a:noFill/>
        </p:spPr>
        <p:txBody>
          <a:bodyPr wrap="none" lIns="0" tIns="0" rIns="0" bIns="0">
            <a:spAutoFit/>
          </a:bodyPr>
          <a:lstStyle/>
          <a:p>
            <a:r>
              <a:rPr sz="1100" b="0">
                <a:solidFill>
                  <a:srgbClr val="2E2E2E"/>
                </a:solidFill>
                <a:latin typeface="Calibri"/>
              </a:rPr>
              <a:t>, ahead of 'Interpack Inc.' (~</a:t>
            </a:r>
          </a:p>
        </p:txBody>
      </p:sp>
      <p:pic>
        <p:nvPicPr>
          <p:cNvPr id="31" name="Picture 30" descr="lock.png"/>
          <p:cNvPicPr>
            <a:picLocks noChangeAspect="1"/>
          </p:cNvPicPr>
          <p:nvPr/>
        </p:nvPicPr>
        <p:blipFill>
          <a:blip r:embed="rId7"/>
          <a:stretch>
            <a:fillRect/>
          </a:stretch>
        </p:blipFill>
        <p:spPr>
          <a:xfrm>
            <a:off x="5647481" y="5012560"/>
            <a:ext cx="128699" cy="187198"/>
          </a:xfrm>
          <a:prstGeom prst="rect">
            <a:avLst/>
          </a:prstGeom>
        </p:spPr>
      </p:pic>
      <p:sp>
        <p:nvSpPr>
          <p:cNvPr id="32" name="TextBox 31"/>
          <p:cNvSpPr txBox="1"/>
          <p:nvPr/>
        </p:nvSpPr>
        <p:spPr>
          <a:xfrm>
            <a:off x="5814977" y="5022340"/>
            <a:ext cx="1328588" cy="186689"/>
          </a:xfrm>
          <a:prstGeom prst="rect">
            <a:avLst/>
          </a:prstGeom>
          <a:noFill/>
        </p:spPr>
        <p:txBody>
          <a:bodyPr wrap="none" lIns="0" tIns="0" rIns="0" bIns="0">
            <a:spAutoFit/>
          </a:bodyPr>
          <a:lstStyle/>
          <a:p>
            <a:r>
              <a:rPr sz="110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7091617" y="5012560"/>
            <a:ext cx="128699" cy="187198"/>
          </a:xfrm>
          <a:prstGeom prst="rect">
            <a:avLst/>
          </a:prstGeom>
        </p:spPr>
      </p:pic>
      <p:sp>
        <p:nvSpPr>
          <p:cNvPr id="34" name="TextBox 33"/>
          <p:cNvSpPr txBox="1"/>
          <p:nvPr/>
        </p:nvSpPr>
        <p:spPr>
          <a:xfrm>
            <a:off x="7259113" y="5022340"/>
            <a:ext cx="1539775" cy="186689"/>
          </a:xfrm>
          <a:prstGeom prst="rect">
            <a:avLst/>
          </a:prstGeom>
          <a:noFill/>
        </p:spPr>
        <p:txBody>
          <a:bodyPr wrap="none" lIns="0" tIns="0" rIns="0" bIns="0">
            <a:spAutoFit/>
          </a:bodyPr>
          <a:lstStyle/>
          <a:p>
            <a:r>
              <a:rPr sz="110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746940" y="5012560"/>
            <a:ext cx="128699" cy="187198"/>
          </a:xfrm>
          <a:prstGeom prst="rect">
            <a:avLst/>
          </a:prstGeom>
        </p:spPr>
      </p:pic>
      <p:sp>
        <p:nvSpPr>
          <p:cNvPr id="36" name="TextBox 35"/>
          <p:cNvSpPr txBox="1"/>
          <p:nvPr/>
        </p:nvSpPr>
        <p:spPr>
          <a:xfrm>
            <a:off x="8914436" y="5022340"/>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37" name="TextBox 36"/>
          <p:cNvSpPr txBox="1"/>
          <p:nvPr/>
        </p:nvSpPr>
        <p:spPr>
          <a:xfrm>
            <a:off x="276225" y="5240272"/>
            <a:ext cx="5586407" cy="186689"/>
          </a:xfrm>
          <a:prstGeom prst="rect">
            <a:avLst/>
          </a:prstGeom>
          <a:noFill/>
        </p:spPr>
        <p:txBody>
          <a:bodyPr wrap="none" lIns="0" tIns="0" rIns="0" bIns="0">
            <a:spAutoFit/>
          </a:bodyPr>
          <a:lstStyle/>
          <a:p>
            <a:r>
              <a:rPr sz="1100" b="0">
                <a:solidFill>
                  <a:srgbClr val="2E2E2E"/>
                </a:solidFill>
                <a:latin typeface="Calibri"/>
              </a:rPr>
              <a:t>▪ Die-Cut &amp; Folded Partitions (H-dividers, tube/cell inserts): 'Great American Paper Inc.' leads at ~</a:t>
            </a:r>
          </a:p>
        </p:txBody>
      </p:sp>
      <p:pic>
        <p:nvPicPr>
          <p:cNvPr id="38" name="Picture 37" descr="lock.png"/>
          <p:cNvPicPr>
            <a:picLocks noChangeAspect="1"/>
          </p:cNvPicPr>
          <p:nvPr/>
        </p:nvPicPr>
        <p:blipFill>
          <a:blip r:embed="rId7"/>
          <a:stretch>
            <a:fillRect/>
          </a:stretch>
        </p:blipFill>
        <p:spPr>
          <a:xfrm>
            <a:off x="5810684" y="5230492"/>
            <a:ext cx="128699" cy="187198"/>
          </a:xfrm>
          <a:prstGeom prst="rect">
            <a:avLst/>
          </a:prstGeom>
        </p:spPr>
      </p:pic>
      <p:sp>
        <p:nvSpPr>
          <p:cNvPr id="39" name="TextBox 38"/>
          <p:cNvSpPr txBox="1"/>
          <p:nvPr/>
        </p:nvSpPr>
        <p:spPr>
          <a:xfrm>
            <a:off x="5978179" y="5240272"/>
            <a:ext cx="1414264" cy="186689"/>
          </a:xfrm>
          <a:prstGeom prst="rect">
            <a:avLst/>
          </a:prstGeom>
          <a:noFill/>
        </p:spPr>
        <p:txBody>
          <a:bodyPr wrap="none" lIns="0" tIns="0" rIns="0" bIns="0">
            <a:spAutoFit/>
          </a:bodyPr>
          <a:lstStyle/>
          <a:p>
            <a:r>
              <a:rPr sz="1100" b="0">
                <a:solidFill>
                  <a:srgbClr val="2E2E2E"/>
                </a:solidFill>
                <a:latin typeface="Calibri"/>
              </a:rPr>
              <a:t>, ahead of 'Company' (~</a:t>
            </a:r>
          </a:p>
        </p:txBody>
      </p:sp>
      <p:pic>
        <p:nvPicPr>
          <p:cNvPr id="40" name="Picture 39" descr="lock.png"/>
          <p:cNvPicPr>
            <a:picLocks noChangeAspect="1"/>
          </p:cNvPicPr>
          <p:nvPr/>
        </p:nvPicPr>
        <p:blipFill>
          <a:blip r:embed="rId7"/>
          <a:stretch>
            <a:fillRect/>
          </a:stretch>
        </p:blipFill>
        <p:spPr>
          <a:xfrm>
            <a:off x="7340495" y="5230492"/>
            <a:ext cx="128699" cy="187198"/>
          </a:xfrm>
          <a:prstGeom prst="rect">
            <a:avLst/>
          </a:prstGeom>
        </p:spPr>
      </p:pic>
      <p:sp>
        <p:nvSpPr>
          <p:cNvPr id="41" name="TextBox 40"/>
          <p:cNvSpPr txBox="1"/>
          <p:nvPr/>
        </p:nvSpPr>
        <p:spPr>
          <a:xfrm>
            <a:off x="7507991" y="5240272"/>
            <a:ext cx="1328588" cy="186689"/>
          </a:xfrm>
          <a:prstGeom prst="rect">
            <a:avLst/>
          </a:prstGeom>
          <a:noFill/>
        </p:spPr>
        <p:txBody>
          <a:bodyPr wrap="none" lIns="0" tIns="0" rIns="0" bIns="0">
            <a:spAutoFit/>
          </a:bodyPr>
          <a:lstStyle/>
          <a:p>
            <a:r>
              <a:rPr sz="110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8784631" y="5230492"/>
            <a:ext cx="128699" cy="187198"/>
          </a:xfrm>
          <a:prstGeom prst="rect">
            <a:avLst/>
          </a:prstGeom>
        </p:spPr>
      </p:pic>
      <p:sp>
        <p:nvSpPr>
          <p:cNvPr id="43" name="TextBox 42"/>
          <p:cNvSpPr txBox="1"/>
          <p:nvPr/>
        </p:nvSpPr>
        <p:spPr>
          <a:xfrm>
            <a:off x="8952127" y="5240272"/>
            <a:ext cx="1539775" cy="186689"/>
          </a:xfrm>
          <a:prstGeom prst="rect">
            <a:avLst/>
          </a:prstGeom>
          <a:noFill/>
        </p:spPr>
        <p:txBody>
          <a:bodyPr wrap="none" lIns="0" tIns="0" rIns="0" bIns="0">
            <a:spAutoFit/>
          </a:bodyPr>
          <a:lstStyle/>
          <a:p>
            <a:r>
              <a:rPr sz="110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10439954" y="5230492"/>
            <a:ext cx="128699" cy="187198"/>
          </a:xfrm>
          <a:prstGeom prst="rect">
            <a:avLst/>
          </a:prstGeom>
        </p:spPr>
      </p:pic>
      <p:sp>
        <p:nvSpPr>
          <p:cNvPr id="45" name="TextBox 44"/>
          <p:cNvSpPr txBox="1"/>
          <p:nvPr/>
        </p:nvSpPr>
        <p:spPr>
          <a:xfrm>
            <a:off x="10607450" y="5240272"/>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46" name="TextBox 45"/>
          <p:cNvSpPr txBox="1"/>
          <p:nvPr/>
        </p:nvSpPr>
        <p:spPr>
          <a:xfrm>
            <a:off x="276225" y="5458204"/>
            <a:ext cx="4243189" cy="186689"/>
          </a:xfrm>
          <a:prstGeom prst="rect">
            <a:avLst/>
          </a:prstGeom>
          <a:noFill/>
        </p:spPr>
        <p:txBody>
          <a:bodyPr wrap="none" lIns="0" tIns="0" rIns="0" bIns="0">
            <a:spAutoFit/>
          </a:bodyPr>
          <a:lstStyle/>
          <a:p>
            <a:r>
              <a:rPr sz="1100" b="0">
                <a:solidFill>
                  <a:srgbClr val="2E2E2E"/>
                </a:solidFill>
                <a:latin typeface="Calibri"/>
              </a:rPr>
              <a:t>▪ Slotted (Interlocking Grid) Partitions: 'Multicell Packaging Inc.' leads at ~</a:t>
            </a:r>
          </a:p>
        </p:txBody>
      </p:sp>
      <p:pic>
        <p:nvPicPr>
          <p:cNvPr id="47" name="Picture 46" descr="lock.png"/>
          <p:cNvPicPr>
            <a:picLocks noChangeAspect="1"/>
          </p:cNvPicPr>
          <p:nvPr/>
        </p:nvPicPr>
        <p:blipFill>
          <a:blip r:embed="rId7"/>
          <a:stretch>
            <a:fillRect/>
          </a:stretch>
        </p:blipFill>
        <p:spPr>
          <a:xfrm>
            <a:off x="4467465" y="5448424"/>
            <a:ext cx="128699" cy="187198"/>
          </a:xfrm>
          <a:prstGeom prst="rect">
            <a:avLst/>
          </a:prstGeom>
        </p:spPr>
      </p:pic>
      <p:sp>
        <p:nvSpPr>
          <p:cNvPr id="48" name="TextBox 47"/>
          <p:cNvSpPr txBox="1"/>
          <p:nvPr/>
        </p:nvSpPr>
        <p:spPr>
          <a:xfrm>
            <a:off x="4634961" y="5458204"/>
            <a:ext cx="1414264" cy="186689"/>
          </a:xfrm>
          <a:prstGeom prst="rect">
            <a:avLst/>
          </a:prstGeom>
          <a:noFill/>
        </p:spPr>
        <p:txBody>
          <a:bodyPr wrap="none" lIns="0" tIns="0" rIns="0" bIns="0">
            <a:spAutoFit/>
          </a:bodyPr>
          <a:lstStyle/>
          <a:p>
            <a:r>
              <a:rPr sz="1100" b="0">
                <a:solidFill>
                  <a:srgbClr val="2E2E2E"/>
                </a:solidFill>
                <a:latin typeface="Calibri"/>
              </a:rPr>
              <a:t>, ahead of 'Company' (~</a:t>
            </a:r>
          </a:p>
        </p:txBody>
      </p:sp>
      <p:pic>
        <p:nvPicPr>
          <p:cNvPr id="49" name="Picture 48" descr="lock.png"/>
          <p:cNvPicPr>
            <a:picLocks noChangeAspect="1"/>
          </p:cNvPicPr>
          <p:nvPr/>
        </p:nvPicPr>
        <p:blipFill>
          <a:blip r:embed="rId7"/>
          <a:stretch>
            <a:fillRect/>
          </a:stretch>
        </p:blipFill>
        <p:spPr>
          <a:xfrm>
            <a:off x="5997277" y="5448424"/>
            <a:ext cx="128699" cy="187198"/>
          </a:xfrm>
          <a:prstGeom prst="rect">
            <a:avLst/>
          </a:prstGeom>
        </p:spPr>
      </p:pic>
      <p:sp>
        <p:nvSpPr>
          <p:cNvPr id="50" name="TextBox 49"/>
          <p:cNvSpPr txBox="1"/>
          <p:nvPr/>
        </p:nvSpPr>
        <p:spPr>
          <a:xfrm>
            <a:off x="6164772" y="5458204"/>
            <a:ext cx="1328588" cy="186689"/>
          </a:xfrm>
          <a:prstGeom prst="rect">
            <a:avLst/>
          </a:prstGeom>
          <a:noFill/>
        </p:spPr>
        <p:txBody>
          <a:bodyPr wrap="none" lIns="0" tIns="0" rIns="0" bIns="0">
            <a:spAutoFit/>
          </a:bodyPr>
          <a:lstStyle/>
          <a:p>
            <a:r>
              <a:rPr sz="110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7441413" y="5448424"/>
            <a:ext cx="128699" cy="187198"/>
          </a:xfrm>
          <a:prstGeom prst="rect">
            <a:avLst/>
          </a:prstGeom>
        </p:spPr>
      </p:pic>
      <p:sp>
        <p:nvSpPr>
          <p:cNvPr id="52" name="TextBox 51"/>
          <p:cNvSpPr txBox="1"/>
          <p:nvPr/>
        </p:nvSpPr>
        <p:spPr>
          <a:xfrm>
            <a:off x="7608909" y="5458204"/>
            <a:ext cx="1539775" cy="186689"/>
          </a:xfrm>
          <a:prstGeom prst="rect">
            <a:avLst/>
          </a:prstGeom>
          <a:noFill/>
        </p:spPr>
        <p:txBody>
          <a:bodyPr wrap="none" lIns="0" tIns="0" rIns="0" bIns="0">
            <a:spAutoFit/>
          </a:bodyPr>
          <a:lstStyle/>
          <a:p>
            <a:r>
              <a:rPr sz="110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9096736" y="5448424"/>
            <a:ext cx="128699" cy="187198"/>
          </a:xfrm>
          <a:prstGeom prst="rect">
            <a:avLst/>
          </a:prstGeom>
        </p:spPr>
      </p:pic>
      <p:sp>
        <p:nvSpPr>
          <p:cNvPr id="54" name="TextBox 53"/>
          <p:cNvSpPr txBox="1"/>
          <p:nvPr/>
        </p:nvSpPr>
        <p:spPr>
          <a:xfrm>
            <a:off x="9264232" y="5458204"/>
            <a:ext cx="111397" cy="186689"/>
          </a:xfrm>
          <a:prstGeom prst="rect">
            <a:avLst/>
          </a:prstGeom>
          <a:noFill/>
        </p:spPr>
        <p:txBody>
          <a:bodyPr wrap="none" lIns="0" tIns="0" rIns="0" bIns="0">
            <a:spAutoFit/>
          </a:bodyPr>
          <a:lstStyle/>
          <a:p>
            <a:r>
              <a:rPr sz="1100" b="0">
                <a:solidFill>
                  <a:srgbClr val="2E2E2E"/>
                </a:solidFill>
                <a:latin typeface="Calibri"/>
              </a:rPr>
              <a:t>.</a:t>
            </a:r>
          </a:p>
        </p:txBody>
      </p:sp>
      <p:sp>
        <p:nvSpPr>
          <p:cNvPr id="55" name="TextBox 54"/>
          <p:cNvSpPr txBox="1"/>
          <p:nvPr/>
        </p:nvSpPr>
        <p:spPr>
          <a:xfrm>
            <a:off x="276225" y="5676136"/>
            <a:ext cx="8524502" cy="186689"/>
          </a:xfrm>
          <a:prstGeom prst="rect">
            <a:avLst/>
          </a:prstGeom>
          <a:noFill/>
        </p:spPr>
        <p:txBody>
          <a:bodyPr wrap="none" lIns="0" tIns="0" rIns="0" bIns="0">
            <a:spAutoFit/>
          </a:bodyPr>
          <a:lstStyle/>
          <a:p>
            <a:r>
              <a:rPr sz="1100" b="0">
                <a:solidFill>
                  <a:srgbClr val="2E2E2E"/>
                </a:solidFill>
                <a:latin typeface="Calibri"/>
              </a:rPr>
              <a:t>▪ Leadership shifts across formulations a strong position in one product type does not carry over to the others, so product-level targeting is essential.</a:t>
            </a:r>
          </a:p>
        </p:txBody>
      </p:sp>
      <p:sp>
        <p:nvSpPr>
          <p:cNvPr id="56" name="TextBox 55"/>
          <p:cNvSpPr txBox="1"/>
          <p:nvPr/>
        </p:nvSpPr>
        <p:spPr>
          <a:xfrm>
            <a:off x="276225" y="5894068"/>
            <a:ext cx="6908403" cy="186689"/>
          </a:xfrm>
          <a:prstGeom prst="rect">
            <a:avLst/>
          </a:prstGeom>
          <a:noFill/>
        </p:spPr>
        <p:txBody>
          <a:bodyPr wrap="none" lIns="0" tIns="0" rIns="0" bIns="0">
            <a:spAutoFit/>
          </a:bodyPr>
          <a:lstStyle/>
          <a:p>
            <a:r>
              <a:rPr sz="110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lockshield_16"/>
          <p:cNvSpPr/>
          <p:nvPr/>
        </p:nvSpPr>
        <p:spPr>
          <a:xfrm>
            <a:off x="4219575" y="1756520"/>
            <a:ext cx="3638550" cy="269830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Company Share by Region (Top 3)</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56470"/>
            <a:ext cx="36385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4219575" y="1356470"/>
            <a:ext cx="36385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xmlns:r="http://schemas.openxmlformats.org/officeDocument/2006/relationships" r:id="rId5"/>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TextBox 17"/>
          <p:cNvSpPr txBox="1"/>
          <p:nvPr/>
        </p:nvSpPr>
        <p:spPr>
          <a:xfrm>
            <a:off x="8201025" y="1356470"/>
            <a:ext cx="37528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xmlns:r="http://schemas.openxmlformats.org/officeDocument/2006/relationships" r:id="rId6"/>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276225" y="4688965"/>
            <a:ext cx="11639550" cy="209550"/>
          </a:xfrm>
          <a:prstGeom prst="rect">
            <a:avLst/>
          </a:prstGeom>
          <a:noFill/>
        </p:spPr>
        <p:txBody>
          <a:bodyPr wrap="square" lIns="0" tIns="9525" rIns="19050"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276225" y="5012815"/>
            <a:ext cx="11639550" cy="1485624"/>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4" name="TextBox 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3160365" cy="194310"/>
          </a:xfrm>
          <a:prstGeom prst="rect">
            <a:avLst/>
          </a:prstGeom>
          <a:noFill/>
        </p:spPr>
        <p:txBody>
          <a:bodyPr wrap="none" lIns="0" tIns="0" rIns="0" bIns="0">
            <a:spAutoFit/>
          </a:bodyPr>
          <a:lstStyle/>
          <a:p>
            <a:r>
              <a:rPr sz="1150" b="0">
                <a:solidFill>
                  <a:srgbClr val="2E2E2E"/>
                </a:solidFill>
                <a:latin typeface="Calibri"/>
              </a:rPr>
              <a:t>▪ North America: 'Multicell Packaging Inc.' leads at ~</a:t>
            </a:r>
          </a:p>
        </p:txBody>
      </p:sp>
      <p:pic>
        <p:nvPicPr>
          <p:cNvPr id="29" name="Picture 28" descr="lock.png"/>
          <p:cNvPicPr>
            <a:picLocks noChangeAspect="1"/>
          </p:cNvPicPr>
          <p:nvPr/>
        </p:nvPicPr>
        <p:blipFill>
          <a:blip r:embed="rId7"/>
          <a:stretch>
            <a:fillRect/>
          </a:stretch>
        </p:blipFill>
        <p:spPr>
          <a:xfrm>
            <a:off x="3385744" y="5012116"/>
            <a:ext cx="134549" cy="195707"/>
          </a:xfrm>
          <a:prstGeom prst="rect">
            <a:avLst/>
          </a:prstGeom>
        </p:spPr>
      </p:pic>
      <p:sp>
        <p:nvSpPr>
          <p:cNvPr id="30" name="TextBox 29"/>
          <p:cNvSpPr txBox="1"/>
          <p:nvPr/>
        </p:nvSpPr>
        <p:spPr>
          <a:xfrm>
            <a:off x="3560853" y="5022340"/>
            <a:ext cx="1475085" cy="194310"/>
          </a:xfrm>
          <a:prstGeom prst="rect">
            <a:avLst/>
          </a:prstGeom>
          <a:noFill/>
        </p:spPr>
        <p:txBody>
          <a:bodyPr wrap="none" lIns="0" tIns="0" rIns="0" bIns="0">
            <a:spAutoFit/>
          </a:bodyPr>
          <a:lstStyle/>
          <a:p>
            <a:r>
              <a:rPr sz="1150" b="0">
                <a:solidFill>
                  <a:srgbClr val="2E2E2E"/>
                </a:solidFill>
                <a:latin typeface="Calibri"/>
              </a:rPr>
              <a:t>, ahead of 'Company' (~</a:t>
            </a:r>
          </a:p>
        </p:txBody>
      </p:sp>
      <p:pic>
        <p:nvPicPr>
          <p:cNvPr id="31" name="Picture 30" descr="lock.png"/>
          <p:cNvPicPr>
            <a:picLocks noChangeAspect="1"/>
          </p:cNvPicPr>
          <p:nvPr/>
        </p:nvPicPr>
        <p:blipFill>
          <a:blip r:embed="rId7"/>
          <a:stretch>
            <a:fillRect/>
          </a:stretch>
        </p:blipFill>
        <p:spPr>
          <a:xfrm>
            <a:off x="4985092" y="5012116"/>
            <a:ext cx="134549" cy="195707"/>
          </a:xfrm>
          <a:prstGeom prst="rect">
            <a:avLst/>
          </a:prstGeom>
        </p:spPr>
      </p:pic>
      <p:sp>
        <p:nvSpPr>
          <p:cNvPr id="32" name="TextBox 31"/>
          <p:cNvSpPr txBox="1"/>
          <p:nvPr/>
        </p:nvSpPr>
        <p:spPr>
          <a:xfrm>
            <a:off x="5160201" y="5022340"/>
            <a:ext cx="1385515" cy="194310"/>
          </a:xfrm>
          <a:prstGeom prst="rect">
            <a:avLst/>
          </a:prstGeom>
          <a:noFill/>
        </p:spPr>
        <p:txBody>
          <a:bodyPr wrap="none" lIns="0" tIns="0" rIns="0" bIns="0">
            <a:spAutoFit/>
          </a:bodyPr>
          <a:lstStyle/>
          <a:p>
            <a:r>
              <a:rPr sz="115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6494871" y="5012116"/>
            <a:ext cx="134549" cy="195707"/>
          </a:xfrm>
          <a:prstGeom prst="rect">
            <a:avLst/>
          </a:prstGeom>
        </p:spPr>
      </p:pic>
      <p:sp>
        <p:nvSpPr>
          <p:cNvPr id="34" name="TextBox 33"/>
          <p:cNvSpPr txBox="1"/>
          <p:nvPr/>
        </p:nvSpPr>
        <p:spPr>
          <a:xfrm>
            <a:off x="6669980" y="5022340"/>
            <a:ext cx="1606301" cy="194310"/>
          </a:xfrm>
          <a:prstGeom prst="rect">
            <a:avLst/>
          </a:prstGeom>
          <a:noFill/>
        </p:spPr>
        <p:txBody>
          <a:bodyPr wrap="none" lIns="0" tIns="0" rIns="0" bIns="0">
            <a:spAutoFit/>
          </a:bodyPr>
          <a:lstStyle/>
          <a:p>
            <a:r>
              <a:rPr sz="115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225436" y="5012116"/>
            <a:ext cx="134549" cy="195707"/>
          </a:xfrm>
          <a:prstGeom prst="rect">
            <a:avLst/>
          </a:prstGeom>
        </p:spPr>
      </p:pic>
      <p:sp>
        <p:nvSpPr>
          <p:cNvPr id="36" name="TextBox 35"/>
          <p:cNvSpPr txBox="1"/>
          <p:nvPr/>
        </p:nvSpPr>
        <p:spPr>
          <a:xfrm>
            <a:off x="8400545" y="5022340"/>
            <a:ext cx="112997" cy="194310"/>
          </a:xfrm>
          <a:prstGeom prst="rect">
            <a:avLst/>
          </a:prstGeom>
          <a:noFill/>
        </p:spPr>
        <p:txBody>
          <a:bodyPr wrap="none" lIns="0" tIns="0" rIns="0" bIns="0">
            <a:spAutoFit/>
          </a:bodyPr>
          <a:lstStyle/>
          <a:p>
            <a:r>
              <a:rPr sz="1150" b="0">
                <a:solidFill>
                  <a:srgbClr val="2E2E2E"/>
                </a:solidFill>
                <a:latin typeface="Calibri"/>
              </a:rPr>
              <a:t>.</a:t>
            </a:r>
          </a:p>
        </p:txBody>
      </p:sp>
      <p:sp>
        <p:nvSpPr>
          <p:cNvPr id="37" name="TextBox 36"/>
          <p:cNvSpPr txBox="1"/>
          <p:nvPr/>
        </p:nvSpPr>
        <p:spPr>
          <a:xfrm>
            <a:off x="276225" y="5250177"/>
            <a:ext cx="2714228" cy="194310"/>
          </a:xfrm>
          <a:prstGeom prst="rect">
            <a:avLst/>
          </a:prstGeom>
          <a:noFill/>
        </p:spPr>
        <p:txBody>
          <a:bodyPr wrap="none" lIns="0" tIns="0" rIns="0" bIns="0">
            <a:spAutoFit/>
          </a:bodyPr>
          <a:lstStyle/>
          <a:p>
            <a:r>
              <a:rPr sz="1150" b="0">
                <a:solidFill>
                  <a:srgbClr val="2E2E2E"/>
                </a:solidFill>
                <a:latin typeface="Calibri"/>
              </a:rPr>
              <a:t>▪ Europe: 'Multicell Packaging Inc.' leads at ~</a:t>
            </a:r>
          </a:p>
        </p:txBody>
      </p:sp>
      <p:pic>
        <p:nvPicPr>
          <p:cNvPr id="38" name="Picture 37" descr="lock.png"/>
          <p:cNvPicPr>
            <a:picLocks noChangeAspect="1"/>
          </p:cNvPicPr>
          <p:nvPr/>
        </p:nvPicPr>
        <p:blipFill>
          <a:blip r:embed="rId7"/>
          <a:stretch>
            <a:fillRect/>
          </a:stretch>
        </p:blipFill>
        <p:spPr>
          <a:xfrm>
            <a:off x="2939607" y="5239954"/>
            <a:ext cx="134549" cy="195707"/>
          </a:xfrm>
          <a:prstGeom prst="rect">
            <a:avLst/>
          </a:prstGeom>
        </p:spPr>
      </p:pic>
      <p:sp>
        <p:nvSpPr>
          <p:cNvPr id="39" name="TextBox 38"/>
          <p:cNvSpPr txBox="1"/>
          <p:nvPr/>
        </p:nvSpPr>
        <p:spPr>
          <a:xfrm>
            <a:off x="3114716" y="5250177"/>
            <a:ext cx="1720688" cy="194310"/>
          </a:xfrm>
          <a:prstGeom prst="rect">
            <a:avLst/>
          </a:prstGeom>
          <a:noFill/>
        </p:spPr>
        <p:txBody>
          <a:bodyPr wrap="none" lIns="0" tIns="0" rIns="0" bIns="0">
            <a:spAutoFit/>
          </a:bodyPr>
          <a:lstStyle/>
          <a:p>
            <a:r>
              <a:rPr sz="1150" b="0">
                <a:solidFill>
                  <a:srgbClr val="2E2E2E"/>
                </a:solidFill>
                <a:latin typeface="Calibri"/>
              </a:rPr>
              <a:t>, ahead of 'Interpack Inc.' (~</a:t>
            </a:r>
          </a:p>
        </p:txBody>
      </p:sp>
      <p:pic>
        <p:nvPicPr>
          <p:cNvPr id="40" name="Picture 39" descr="lock.png"/>
          <p:cNvPicPr>
            <a:picLocks noChangeAspect="1"/>
          </p:cNvPicPr>
          <p:nvPr/>
        </p:nvPicPr>
        <p:blipFill>
          <a:blip r:embed="rId7"/>
          <a:stretch>
            <a:fillRect/>
          </a:stretch>
        </p:blipFill>
        <p:spPr>
          <a:xfrm>
            <a:off x="4784559" y="5239954"/>
            <a:ext cx="134549" cy="195707"/>
          </a:xfrm>
          <a:prstGeom prst="rect">
            <a:avLst/>
          </a:prstGeom>
        </p:spPr>
      </p:pic>
      <p:sp>
        <p:nvSpPr>
          <p:cNvPr id="41" name="TextBox 40"/>
          <p:cNvSpPr txBox="1"/>
          <p:nvPr/>
        </p:nvSpPr>
        <p:spPr>
          <a:xfrm>
            <a:off x="4959668" y="5250177"/>
            <a:ext cx="1385515" cy="194310"/>
          </a:xfrm>
          <a:prstGeom prst="rect">
            <a:avLst/>
          </a:prstGeom>
          <a:noFill/>
        </p:spPr>
        <p:txBody>
          <a:bodyPr wrap="none" lIns="0" tIns="0" rIns="0" bIns="0">
            <a:spAutoFit/>
          </a:bodyPr>
          <a:lstStyle/>
          <a:p>
            <a:r>
              <a:rPr sz="115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6294337" y="5239954"/>
            <a:ext cx="134549" cy="195707"/>
          </a:xfrm>
          <a:prstGeom prst="rect">
            <a:avLst/>
          </a:prstGeom>
        </p:spPr>
      </p:pic>
      <p:sp>
        <p:nvSpPr>
          <p:cNvPr id="43" name="TextBox 42"/>
          <p:cNvSpPr txBox="1"/>
          <p:nvPr/>
        </p:nvSpPr>
        <p:spPr>
          <a:xfrm>
            <a:off x="6469446" y="5250177"/>
            <a:ext cx="1606301" cy="194310"/>
          </a:xfrm>
          <a:prstGeom prst="rect">
            <a:avLst/>
          </a:prstGeom>
          <a:noFill/>
        </p:spPr>
        <p:txBody>
          <a:bodyPr wrap="none" lIns="0" tIns="0" rIns="0" bIns="0">
            <a:spAutoFit/>
          </a:bodyPr>
          <a:lstStyle/>
          <a:p>
            <a:r>
              <a:rPr sz="115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8024902" y="5239954"/>
            <a:ext cx="134549" cy="195707"/>
          </a:xfrm>
          <a:prstGeom prst="rect">
            <a:avLst/>
          </a:prstGeom>
        </p:spPr>
      </p:pic>
      <p:sp>
        <p:nvSpPr>
          <p:cNvPr id="45" name="TextBox 44"/>
          <p:cNvSpPr txBox="1"/>
          <p:nvPr/>
        </p:nvSpPr>
        <p:spPr>
          <a:xfrm>
            <a:off x="8200012" y="5250177"/>
            <a:ext cx="112997" cy="194310"/>
          </a:xfrm>
          <a:prstGeom prst="rect">
            <a:avLst/>
          </a:prstGeom>
          <a:noFill/>
        </p:spPr>
        <p:txBody>
          <a:bodyPr wrap="none" lIns="0" tIns="0" rIns="0" bIns="0">
            <a:spAutoFit/>
          </a:bodyPr>
          <a:lstStyle/>
          <a:p>
            <a:r>
              <a:rPr sz="1150" b="0">
                <a:solidFill>
                  <a:srgbClr val="2E2E2E"/>
                </a:solidFill>
                <a:latin typeface="Calibri"/>
              </a:rPr>
              <a:t>.</a:t>
            </a:r>
          </a:p>
        </p:txBody>
      </p:sp>
      <p:sp>
        <p:nvSpPr>
          <p:cNvPr id="46" name="TextBox 45"/>
          <p:cNvSpPr txBox="1"/>
          <p:nvPr/>
        </p:nvSpPr>
        <p:spPr>
          <a:xfrm>
            <a:off x="276225" y="5478015"/>
            <a:ext cx="3629607" cy="194310"/>
          </a:xfrm>
          <a:prstGeom prst="rect">
            <a:avLst/>
          </a:prstGeom>
          <a:noFill/>
        </p:spPr>
        <p:txBody>
          <a:bodyPr wrap="none" lIns="0" tIns="0" rIns="0" bIns="0">
            <a:spAutoFit/>
          </a:bodyPr>
          <a:lstStyle/>
          <a:p>
            <a:r>
              <a:rPr sz="1150" b="0">
                <a:solidFill>
                  <a:srgbClr val="2E2E2E"/>
                </a:solidFill>
                <a:latin typeface="Calibri"/>
              </a:rPr>
              <a:t>▪ South Asia &amp; Pacific: 'Great American Paper Inc.' leads at ~</a:t>
            </a:r>
          </a:p>
        </p:txBody>
      </p:sp>
      <p:pic>
        <p:nvPicPr>
          <p:cNvPr id="47" name="Picture 46" descr="lock.png"/>
          <p:cNvPicPr>
            <a:picLocks noChangeAspect="1"/>
          </p:cNvPicPr>
          <p:nvPr/>
        </p:nvPicPr>
        <p:blipFill>
          <a:blip r:embed="rId7"/>
          <a:stretch>
            <a:fillRect/>
          </a:stretch>
        </p:blipFill>
        <p:spPr>
          <a:xfrm>
            <a:off x="3854986" y="5467792"/>
            <a:ext cx="134549" cy="195707"/>
          </a:xfrm>
          <a:prstGeom prst="rect">
            <a:avLst/>
          </a:prstGeom>
        </p:spPr>
      </p:pic>
      <p:sp>
        <p:nvSpPr>
          <p:cNvPr id="48" name="TextBox 47"/>
          <p:cNvSpPr txBox="1"/>
          <p:nvPr/>
        </p:nvSpPr>
        <p:spPr>
          <a:xfrm>
            <a:off x="4030096" y="5478015"/>
            <a:ext cx="1475085" cy="194310"/>
          </a:xfrm>
          <a:prstGeom prst="rect">
            <a:avLst/>
          </a:prstGeom>
          <a:noFill/>
        </p:spPr>
        <p:txBody>
          <a:bodyPr wrap="none" lIns="0" tIns="0" rIns="0" bIns="0">
            <a:spAutoFit/>
          </a:bodyPr>
          <a:lstStyle/>
          <a:p>
            <a:r>
              <a:rPr sz="1150" b="0">
                <a:solidFill>
                  <a:srgbClr val="2E2E2E"/>
                </a:solidFill>
                <a:latin typeface="Calibri"/>
              </a:rPr>
              <a:t>, ahead of 'Company' (~</a:t>
            </a:r>
          </a:p>
        </p:txBody>
      </p:sp>
      <p:pic>
        <p:nvPicPr>
          <p:cNvPr id="49" name="Picture 48" descr="lock.png"/>
          <p:cNvPicPr>
            <a:picLocks noChangeAspect="1"/>
          </p:cNvPicPr>
          <p:nvPr/>
        </p:nvPicPr>
        <p:blipFill>
          <a:blip r:embed="rId7"/>
          <a:stretch>
            <a:fillRect/>
          </a:stretch>
        </p:blipFill>
        <p:spPr>
          <a:xfrm>
            <a:off x="5454335" y="5467792"/>
            <a:ext cx="134549" cy="195707"/>
          </a:xfrm>
          <a:prstGeom prst="rect">
            <a:avLst/>
          </a:prstGeom>
        </p:spPr>
      </p:pic>
      <p:sp>
        <p:nvSpPr>
          <p:cNvPr id="50" name="TextBox 49"/>
          <p:cNvSpPr txBox="1"/>
          <p:nvPr/>
        </p:nvSpPr>
        <p:spPr>
          <a:xfrm>
            <a:off x="5629444" y="5478015"/>
            <a:ext cx="1385515" cy="194310"/>
          </a:xfrm>
          <a:prstGeom prst="rect">
            <a:avLst/>
          </a:prstGeom>
          <a:noFill/>
        </p:spPr>
        <p:txBody>
          <a:bodyPr wrap="none" lIns="0" tIns="0" rIns="0" bIns="0">
            <a:spAutoFit/>
          </a:bodyPr>
          <a:lstStyle/>
          <a:p>
            <a:r>
              <a:rPr sz="115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6964113" y="5467792"/>
            <a:ext cx="134549" cy="195707"/>
          </a:xfrm>
          <a:prstGeom prst="rect">
            <a:avLst/>
          </a:prstGeom>
        </p:spPr>
      </p:pic>
      <p:sp>
        <p:nvSpPr>
          <p:cNvPr id="52" name="TextBox 51"/>
          <p:cNvSpPr txBox="1"/>
          <p:nvPr/>
        </p:nvSpPr>
        <p:spPr>
          <a:xfrm>
            <a:off x="7139223" y="5478015"/>
            <a:ext cx="1606301" cy="194310"/>
          </a:xfrm>
          <a:prstGeom prst="rect">
            <a:avLst/>
          </a:prstGeom>
          <a:noFill/>
        </p:spPr>
        <p:txBody>
          <a:bodyPr wrap="none" lIns="0" tIns="0" rIns="0" bIns="0">
            <a:spAutoFit/>
          </a:bodyPr>
          <a:lstStyle/>
          <a:p>
            <a:r>
              <a:rPr sz="115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8694679" y="5467792"/>
            <a:ext cx="134549" cy="195707"/>
          </a:xfrm>
          <a:prstGeom prst="rect">
            <a:avLst/>
          </a:prstGeom>
        </p:spPr>
      </p:pic>
      <p:sp>
        <p:nvSpPr>
          <p:cNvPr id="54" name="TextBox 53"/>
          <p:cNvSpPr txBox="1"/>
          <p:nvPr/>
        </p:nvSpPr>
        <p:spPr>
          <a:xfrm>
            <a:off x="8869788" y="5478015"/>
            <a:ext cx="112997" cy="194310"/>
          </a:xfrm>
          <a:prstGeom prst="rect">
            <a:avLst/>
          </a:prstGeom>
          <a:noFill/>
        </p:spPr>
        <p:txBody>
          <a:bodyPr wrap="none" lIns="0" tIns="0" rIns="0" bIns="0">
            <a:spAutoFit/>
          </a:bodyPr>
          <a:lstStyle/>
          <a:p>
            <a:r>
              <a:rPr sz="1150" b="0">
                <a:solidFill>
                  <a:srgbClr val="2E2E2E"/>
                </a:solidFill>
                <a:latin typeface="Calibri"/>
              </a:rPr>
              <a:t>.</a:t>
            </a:r>
          </a:p>
        </p:txBody>
      </p:sp>
      <p:sp>
        <p:nvSpPr>
          <p:cNvPr id="55" name="TextBox 54"/>
          <p:cNvSpPr txBox="1"/>
          <p:nvPr/>
        </p:nvSpPr>
        <p:spPr>
          <a:xfrm>
            <a:off x="276225" y="5705853"/>
            <a:ext cx="9705801" cy="194310"/>
          </a:xfrm>
          <a:prstGeom prst="rect">
            <a:avLst/>
          </a:prstGeom>
          <a:noFill/>
        </p:spPr>
        <p:txBody>
          <a:bodyPr wrap="none" lIns="0" tIns="0" rIns="0" bIns="0">
            <a:spAutoFit/>
          </a:bodyPr>
          <a:lstStyle/>
          <a:p>
            <a:r>
              <a:rPr sz="1150" b="0">
                <a:solidFill>
                  <a:srgbClr val="2E2E2E"/>
                </a:solidFill>
                <a:latin typeface="Calibri"/>
              </a:rPr>
              <a:t>▪ Leadership is not uniform across geographies a strong position in one region does not carry over to the others, so region-level go-to-market planning is essential.</a:t>
            </a:r>
          </a:p>
        </p:txBody>
      </p:sp>
      <p:sp>
        <p:nvSpPr>
          <p:cNvPr id="56" name="TextBox 55"/>
          <p:cNvSpPr txBox="1"/>
          <p:nvPr/>
        </p:nvSpPr>
        <p:spPr>
          <a:xfrm>
            <a:off x="276225" y="5933691"/>
            <a:ext cx="7218957" cy="194310"/>
          </a:xfrm>
          <a:prstGeom prst="rect">
            <a:avLst/>
          </a:prstGeom>
          <a:noFill/>
        </p:spPr>
        <p:txBody>
          <a:bodyPr wrap="none" lIns="0" tIns="0" r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Corrugated Partition Market Who Shaped Growth</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tIns="9525" rIns="28575" bIns="9525" anchor="ctr">
            <a:spAutoFit/>
          </a:bodyPr>
          <a:lstStyle/>
          <a:p>
            <a:pPr algn="l"/>
            <a:r>
              <a:rPr sz="1100" b="0">
                <a:solidFill>
                  <a:srgbClr val="6C7A89"/>
                </a:solidFill>
                <a:latin typeface="Calibri"/>
              </a:rPr>
              <a:t>A framework to identify the companies that most influenced annual Corrugated Partition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3733800" y="1226305"/>
            <a:ext cx="4724400" cy="173410"/>
          </a:xfrm>
          <a:prstGeom prst="rect">
            <a:avLst/>
          </a:prstGeom>
          <a:noFill/>
        </p:spPr>
        <p:txBody>
          <a:bodyPr wrap="square" lIns="28575" tIns="9525" rIns="2857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tIns="9525" rIns="2857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1152525" y="1710028"/>
            <a:ext cx="285750" cy="164283"/>
          </a:xfrm>
          <a:prstGeom prst="rect">
            <a:avLst/>
          </a:prstGeom>
          <a:noFill/>
        </p:spPr>
        <p:txBody>
          <a:bodyPr wrap="none" lIns="0" tIns="0" r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257175" y="2065976"/>
            <a:ext cx="228600" cy="164283"/>
          </a:xfrm>
          <a:prstGeom prst="rect">
            <a:avLst/>
          </a:prstGeom>
          <a:noFill/>
        </p:spPr>
        <p:txBody>
          <a:bodyPr wrap="none" lIns="0" tIns="0" r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tIns="9525" rIns="28575" bIns="9525" anchor="ctr">
            <a:spAutoFit/>
          </a:bodyPr>
          <a:lstStyle/>
          <a:p>
            <a:pPr algn="ctr"/>
            <a:r>
              <a:rPr sz="1100" b="1">
                <a:solidFill>
                  <a:srgbClr val="FFFFFF"/>
                </a:solidFill>
                <a:latin typeface="Calibri"/>
              </a:rPr>
              <a:t>Multicell Packaging Inc.</a:t>
            </a:r>
          </a:p>
        </p:txBody>
      </p:sp>
      <p:sp>
        <p:nvSpPr>
          <p:cNvPr id="25" name="TextBox 24"/>
          <p:cNvSpPr txBox="1"/>
          <p:nvPr/>
        </p:nvSpPr>
        <p:spPr>
          <a:xfrm>
            <a:off x="238125" y="2376288"/>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tIns="9525" rIns="28575" bIns="9525" anchor="ctr">
            <a:spAutoFit/>
          </a:bodyPr>
          <a:lstStyle/>
          <a:p>
            <a:pPr algn="l"/>
            <a:endParaRP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tIns="9525" rIns="2857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tIns="9525" rIns="2857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3552825" y="1710028"/>
            <a:ext cx="285750" cy="164283"/>
          </a:xfrm>
          <a:prstGeom prst="rect">
            <a:avLst/>
          </a:prstGeom>
          <a:noFill/>
        </p:spPr>
        <p:txBody>
          <a:bodyPr wrap="none" lIns="0" tIns="0" r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2657475" y="2065976"/>
            <a:ext cx="228600" cy="164283"/>
          </a:xfrm>
          <a:prstGeom prst="rect">
            <a:avLst/>
          </a:prstGeom>
          <a:noFill/>
        </p:spPr>
        <p:txBody>
          <a:bodyPr wrap="none" lIns="0" tIns="0" r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tIns="9525" rIns="28575" bIns="9525" anchor="ctr">
            <a:spAutoFit/>
          </a:bodyPr>
          <a:lstStyle/>
          <a:p>
            <a:pPr algn="ctr"/>
            <a:r>
              <a:rPr sz="1100" b="1">
                <a:solidFill>
                  <a:srgbClr val="FFFFFF"/>
                </a:solidFill>
                <a:latin typeface="Calibri"/>
              </a:rPr>
              <a:t>Company</a:t>
            </a:r>
          </a:p>
        </p:txBody>
      </p:sp>
      <p:sp>
        <p:nvSpPr>
          <p:cNvPr id="46" name="TextBox 45"/>
          <p:cNvSpPr txBox="1"/>
          <p:nvPr/>
        </p:nvSpPr>
        <p:spPr>
          <a:xfrm>
            <a:off x="2638425" y="2376288"/>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tIns="9525" rIns="28575" bIns="9525" anchor="ctr">
            <a:spAutoFit/>
          </a:bodyPr>
          <a:lstStyle/>
          <a:p>
            <a:pPr algn="l"/>
            <a:endParaRP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tIns="9525" rIns="2857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tIns="9525" rIns="2857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TextBox 60"/>
          <p:cNvSpPr txBox="1"/>
          <p:nvPr/>
        </p:nvSpPr>
        <p:spPr>
          <a:xfrm>
            <a:off x="5953125" y="1710028"/>
            <a:ext cx="285750" cy="164283"/>
          </a:xfrm>
          <a:prstGeom prst="rect">
            <a:avLst/>
          </a:prstGeom>
          <a:noFill/>
        </p:spPr>
        <p:txBody>
          <a:bodyPr wrap="none" lIns="0" tIns="0" r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5" name="TextBox 64"/>
          <p:cNvSpPr txBox="1"/>
          <p:nvPr/>
        </p:nvSpPr>
        <p:spPr>
          <a:xfrm>
            <a:off x="5057775" y="2065976"/>
            <a:ext cx="228600" cy="164283"/>
          </a:xfrm>
          <a:prstGeom prst="rect">
            <a:avLst/>
          </a:prstGeom>
          <a:noFill/>
        </p:spPr>
        <p:txBody>
          <a:bodyPr wrap="none" lIns="0" tIns="0" r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tIns="9525" rIns="28575" bIns="9525" anchor="ctr">
            <a:spAutoFit/>
          </a:bodyPr>
          <a:lstStyle/>
          <a:p>
            <a:pPr algn="ctr"/>
            <a:r>
              <a:rPr sz="1100" b="1">
                <a:solidFill>
                  <a:srgbClr val="FFFFFF"/>
                </a:solidFill>
                <a:latin typeface="Calibri"/>
              </a:rPr>
              <a:t>Great American Paper Inc.</a:t>
            </a:r>
          </a:p>
        </p:txBody>
      </p:sp>
      <p:sp>
        <p:nvSpPr>
          <p:cNvPr id="67" name="TextBox 66"/>
          <p:cNvSpPr txBox="1"/>
          <p:nvPr/>
        </p:nvSpPr>
        <p:spPr>
          <a:xfrm>
            <a:off x="5038725" y="2376288"/>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tIns="9525" rIns="28575" bIns="9525" anchor="ctr">
            <a:spAutoFit/>
          </a:bodyPr>
          <a:lstStyle/>
          <a:p>
            <a:pPr algn="l"/>
            <a:endParaRP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tIns="9525" rIns="2857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tIns="9525" rIns="2857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2" name="TextBox 81"/>
          <p:cNvSpPr txBox="1"/>
          <p:nvPr/>
        </p:nvSpPr>
        <p:spPr>
          <a:xfrm>
            <a:off x="8353425" y="1710028"/>
            <a:ext cx="285750" cy="164283"/>
          </a:xfrm>
          <a:prstGeom prst="rect">
            <a:avLst/>
          </a:prstGeom>
          <a:noFill/>
        </p:spPr>
        <p:txBody>
          <a:bodyPr wrap="none" lIns="0" tIns="0" r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86" name="TextBox 85"/>
          <p:cNvSpPr txBox="1"/>
          <p:nvPr/>
        </p:nvSpPr>
        <p:spPr>
          <a:xfrm>
            <a:off x="7458075" y="2065976"/>
            <a:ext cx="228600" cy="164283"/>
          </a:xfrm>
          <a:prstGeom prst="rect">
            <a:avLst/>
          </a:prstGeom>
          <a:noFill/>
        </p:spPr>
        <p:txBody>
          <a:bodyPr wrap="none" lIns="0" tIns="0" r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tIns="9525" rIns="28575" bIns="9525" anchor="ctr">
            <a:spAutoFit/>
          </a:bodyPr>
          <a:lstStyle/>
          <a:p>
            <a:pPr algn="ctr"/>
            <a:r>
              <a:rPr sz="1100" b="1">
                <a:solidFill>
                  <a:srgbClr val="FFFFFF"/>
                </a:solidFill>
                <a:latin typeface="Calibri"/>
              </a:rPr>
              <a:t>Interpack Inc.</a:t>
            </a:r>
          </a:p>
        </p:txBody>
      </p:sp>
      <p:sp>
        <p:nvSpPr>
          <p:cNvPr id="88" name="TextBox 87"/>
          <p:cNvSpPr txBox="1"/>
          <p:nvPr/>
        </p:nvSpPr>
        <p:spPr>
          <a:xfrm>
            <a:off x="7439025" y="2376288"/>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tIns="9525" rIns="28575" bIns="9525" anchor="ctr">
            <a:spAutoFit/>
          </a:bodyPr>
          <a:lstStyle/>
          <a:p>
            <a:pPr algn="l"/>
            <a:endParaRP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tIns="9525" rIns="2857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tIns="9525" rIns="2857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3" name="TextBox 102"/>
          <p:cNvSpPr txBox="1"/>
          <p:nvPr/>
        </p:nvSpPr>
        <p:spPr>
          <a:xfrm>
            <a:off x="10753725" y="1710028"/>
            <a:ext cx="285750" cy="164283"/>
          </a:xfrm>
          <a:prstGeom prst="rect">
            <a:avLst/>
          </a:prstGeom>
          <a:noFill/>
        </p:spPr>
        <p:txBody>
          <a:bodyPr wrap="none" lIns="0" tIns="0" r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07" name="TextBox 106"/>
          <p:cNvSpPr txBox="1"/>
          <p:nvPr/>
        </p:nvSpPr>
        <p:spPr>
          <a:xfrm>
            <a:off x="9858375" y="2065976"/>
            <a:ext cx="228600" cy="164283"/>
          </a:xfrm>
          <a:prstGeom prst="rect">
            <a:avLst/>
          </a:prstGeom>
          <a:noFill/>
        </p:spPr>
        <p:txBody>
          <a:bodyPr wrap="none" lIns="0" tIns="0" r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tIns="9525" rIns="28575" bIns="9525" anchor="ctr">
            <a:spAutoFit/>
          </a:bodyPr>
          <a:lstStyle/>
          <a:p>
            <a:pPr algn="ctr"/>
            <a:r>
              <a:rPr sz="1100" b="1">
                <a:solidFill>
                  <a:srgbClr val="FFFFFF"/>
                </a:solidFill>
                <a:latin typeface="Calibri"/>
              </a:rPr>
              <a:t>Caps Cases Ltd.</a:t>
            </a:r>
          </a:p>
        </p:txBody>
      </p:sp>
      <p:sp>
        <p:nvSpPr>
          <p:cNvPr id="109" name="TextBox 108"/>
          <p:cNvSpPr txBox="1"/>
          <p:nvPr/>
        </p:nvSpPr>
        <p:spPr>
          <a:xfrm>
            <a:off x="9839325" y="2376288"/>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tIns="9525" rIns="28575" bIns="9525" anchor="ctr">
            <a:spAutoFit/>
          </a:bodyPr>
          <a:lstStyle/>
          <a:p>
            <a:pPr algn="l"/>
            <a:endParaRP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tIns="9525" rIns="2857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tIns="9525" rIns="2857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tIns="0" r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tIns="9525" rIns="2857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4" name="TextBox 123"/>
          <p:cNvSpPr txBox="1"/>
          <p:nvPr/>
        </p:nvSpPr>
        <p:spPr>
          <a:xfrm>
            <a:off x="142875" y="4311180"/>
            <a:ext cx="7886700" cy="182537"/>
          </a:xfrm>
          <a:prstGeom prst="rect">
            <a:avLst/>
          </a:prstGeom>
          <a:noFill/>
        </p:spPr>
        <p:txBody>
          <a:bodyPr wrap="square" lIns="28575" tIns="9525" rIns="2857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6" name="TextBox 125"/>
          <p:cNvSpPr txBox="1"/>
          <p:nvPr/>
        </p:nvSpPr>
        <p:spPr>
          <a:xfrm>
            <a:off x="815340" y="4630620"/>
            <a:ext cx="400050" cy="200791"/>
          </a:xfrm>
          <a:prstGeom prst="rect">
            <a:avLst/>
          </a:prstGeom>
          <a:noFill/>
        </p:spPr>
        <p:txBody>
          <a:bodyPr wrap="none" lIns="0" tIns="0" r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tIns="9525" rIns="2857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tIns="9525" rIns="2857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0" name="TextBox 129"/>
          <p:cNvSpPr txBox="1"/>
          <p:nvPr/>
        </p:nvSpPr>
        <p:spPr>
          <a:xfrm>
            <a:off x="520065" y="6036155"/>
            <a:ext cx="990600" cy="219044"/>
          </a:xfrm>
          <a:prstGeom prst="rect">
            <a:avLst/>
          </a:prstGeom>
          <a:noFill/>
        </p:spPr>
        <p:txBody>
          <a:bodyPr wrap="square" lIns="28575" tIns="9525" rIns="2857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tIns="0" r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3" name="TextBox 132"/>
          <p:cNvSpPr txBox="1"/>
          <p:nvPr/>
        </p:nvSpPr>
        <p:spPr>
          <a:xfrm>
            <a:off x="2350770" y="4630620"/>
            <a:ext cx="400050" cy="200791"/>
          </a:xfrm>
          <a:prstGeom prst="rect">
            <a:avLst/>
          </a:prstGeom>
          <a:noFill/>
        </p:spPr>
        <p:txBody>
          <a:bodyPr wrap="none" lIns="0" tIns="0" r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tIns="9525" rIns="2857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tIns="9525" rIns="2857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37" name="TextBox 136"/>
          <p:cNvSpPr txBox="1"/>
          <p:nvPr/>
        </p:nvSpPr>
        <p:spPr>
          <a:xfrm>
            <a:off x="2055495" y="6036155"/>
            <a:ext cx="990600" cy="219044"/>
          </a:xfrm>
          <a:prstGeom prst="rect">
            <a:avLst/>
          </a:prstGeom>
          <a:noFill/>
        </p:spPr>
        <p:txBody>
          <a:bodyPr wrap="square" lIns="28575" tIns="9525" rIns="2857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tIns="0" r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0" name="TextBox 139"/>
          <p:cNvSpPr txBox="1"/>
          <p:nvPr/>
        </p:nvSpPr>
        <p:spPr>
          <a:xfrm>
            <a:off x="3886200" y="4630620"/>
            <a:ext cx="400050" cy="200791"/>
          </a:xfrm>
          <a:prstGeom prst="rect">
            <a:avLst/>
          </a:prstGeom>
          <a:noFill/>
        </p:spPr>
        <p:txBody>
          <a:bodyPr wrap="none" lIns="0" tIns="0" r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tIns="9525" rIns="2857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tIns="9525" rIns="2857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4" name="TextBox 143"/>
          <p:cNvSpPr txBox="1"/>
          <p:nvPr/>
        </p:nvSpPr>
        <p:spPr>
          <a:xfrm>
            <a:off x="3590925" y="6036155"/>
            <a:ext cx="990600" cy="219044"/>
          </a:xfrm>
          <a:prstGeom prst="rect">
            <a:avLst/>
          </a:prstGeom>
          <a:noFill/>
        </p:spPr>
        <p:txBody>
          <a:bodyPr wrap="square" lIns="28575" tIns="9525" rIns="2857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tIns="0" r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7" name="TextBox 146"/>
          <p:cNvSpPr txBox="1"/>
          <p:nvPr/>
        </p:nvSpPr>
        <p:spPr>
          <a:xfrm>
            <a:off x="5421630" y="4630620"/>
            <a:ext cx="400050" cy="200791"/>
          </a:xfrm>
          <a:prstGeom prst="rect">
            <a:avLst/>
          </a:prstGeom>
          <a:noFill/>
        </p:spPr>
        <p:txBody>
          <a:bodyPr wrap="none" lIns="0" tIns="0" r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tIns="9525" rIns="2857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tIns="9525" rIns="2857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1" name="TextBox 150"/>
          <p:cNvSpPr txBox="1"/>
          <p:nvPr/>
        </p:nvSpPr>
        <p:spPr>
          <a:xfrm>
            <a:off x="5126355" y="6036155"/>
            <a:ext cx="990600" cy="219044"/>
          </a:xfrm>
          <a:prstGeom prst="rect">
            <a:avLst/>
          </a:prstGeom>
          <a:noFill/>
        </p:spPr>
        <p:txBody>
          <a:bodyPr wrap="square" lIns="28575" tIns="9525" rIns="2857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tIns="0" r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4" name="TextBox 153"/>
          <p:cNvSpPr txBox="1"/>
          <p:nvPr/>
        </p:nvSpPr>
        <p:spPr>
          <a:xfrm>
            <a:off x="6957060" y="4630620"/>
            <a:ext cx="400050" cy="200791"/>
          </a:xfrm>
          <a:prstGeom prst="rect">
            <a:avLst/>
          </a:prstGeom>
          <a:noFill/>
        </p:spPr>
        <p:txBody>
          <a:bodyPr wrap="none" lIns="0" tIns="0" r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tIns="9525" rIns="2857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tIns="9525" rIns="2857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8" name="TextBox 157"/>
          <p:cNvSpPr txBox="1"/>
          <p:nvPr/>
        </p:nvSpPr>
        <p:spPr>
          <a:xfrm>
            <a:off x="6661785" y="6036155"/>
            <a:ext cx="990600" cy="219044"/>
          </a:xfrm>
          <a:prstGeom prst="rect">
            <a:avLst/>
          </a:prstGeom>
          <a:noFill/>
        </p:spPr>
        <p:txBody>
          <a:bodyPr wrap="square" lIns="28575" tIns="9525" rIns="2857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0" name="TextBox 159"/>
          <p:cNvSpPr txBox="1"/>
          <p:nvPr/>
        </p:nvSpPr>
        <p:spPr>
          <a:xfrm>
            <a:off x="8191500" y="4311180"/>
            <a:ext cx="3857625" cy="182537"/>
          </a:xfrm>
          <a:prstGeom prst="rect">
            <a:avLst/>
          </a:prstGeom>
          <a:noFill/>
        </p:spPr>
        <p:txBody>
          <a:bodyPr wrap="square" lIns="28575" tIns="9525" rIns="2857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3" name="TextBox 162"/>
          <p:cNvSpPr txBox="1"/>
          <p:nvPr/>
        </p:nvSpPr>
        <p:spPr>
          <a:xfrm>
            <a:off x="8372475" y="4767523"/>
            <a:ext cx="285750" cy="182537"/>
          </a:xfrm>
          <a:prstGeom prst="rect">
            <a:avLst/>
          </a:prstGeom>
          <a:noFill/>
        </p:spPr>
        <p:txBody>
          <a:bodyPr wrap="none" lIns="0" tIns="0" r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6" name="TextBox 165"/>
          <p:cNvSpPr txBox="1"/>
          <p:nvPr/>
        </p:nvSpPr>
        <p:spPr>
          <a:xfrm>
            <a:off x="8372475" y="5406402"/>
            <a:ext cx="285750" cy="182537"/>
          </a:xfrm>
          <a:prstGeom prst="rect">
            <a:avLst/>
          </a:prstGeom>
          <a:noFill/>
        </p:spPr>
        <p:txBody>
          <a:bodyPr wrap="none" lIns="0" tIns="0" r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9" name="TextBox 168"/>
          <p:cNvSpPr txBox="1"/>
          <p:nvPr/>
        </p:nvSpPr>
        <p:spPr>
          <a:xfrm>
            <a:off x="8372475" y="6045282"/>
            <a:ext cx="285750" cy="182537"/>
          </a:xfrm>
          <a:prstGeom prst="rect">
            <a:avLst/>
          </a:prstGeom>
          <a:noFill/>
        </p:spPr>
        <p:txBody>
          <a:bodyPr wrap="none" lIns="0" tIns="0" r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tIns="0" r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tIns="0" r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tIns="0" r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tIns="0" r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tIns="0" r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bg>
      <p:bgPr>
        <a:solidFill>
          <a:srgbClr val="F1F8FE"/>
        </a:solidFill>
        <a:effectLst/>
      </p:bgPr>
    </p:bg>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gradFill rotWithShape="1">
            <a:gsLst>
              <a:gs pos="0">
                <a:srgbClr val="F1F8FE"/>
              </a:gs>
              <a:gs pos="100000">
                <a:srgbClr val="DAEAF9"/>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ang="162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7" name="FMI Section Bar"/>
          <p:cNvSpPr txBox="1"/>
          <p:nvPr/>
        </p:nvSpPr>
        <p:spPr>
          <a:xfrm>
            <a:off x="285750" y="6238875"/>
            <a:ext cx="3810000" cy="400050"/>
          </a:xfrm>
          <a:prstGeom prst="rect">
            <a:avLst/>
          </a:prstGeom>
          <a:noFill/>
        </p:spPr>
        <p:txBody>
          <a:bodyPr wrap="none" lIns="0" tIns="0" bIns="0" anchor="ctr">
            <a:spAutoFit/>
          </a:bodyPr>
          <a:lstStyle/>
          <a:p>
            <a:r>
              <a:rPr sz="1500" b="1">
                <a:solidFill>
                  <a:srgbClr val="FFFFFF"/>
                </a:solidFill>
                <a:latin typeface="Calibri"/>
              </a:rPr>
              <a:t>Section 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Corrugated Partition Market</a:t>
            </a:r>
          </a:p>
        </p:txBody>
      </p:sp>
      <p:sp>
        <p:nvSpPr>
          <p:cNvPr id="10" name="FMI Section Title"/>
          <p:cNvSpPr txBox="1"/>
          <p:nvPr/>
        </p:nvSpPr>
        <p:spPr>
          <a:xfrm>
            <a:off x="914400" y="2701925"/>
            <a:ext cx="8572500" cy="514350"/>
          </a:xfrm>
          <a:prstGeom prst="rect">
            <a:avLst/>
          </a:prstGeom>
          <a:noFill/>
        </p:spPr>
        <p:txBody>
          <a:bodyPr wrap="square" lIns="0" tIns="0" r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tIns="0" rIns="0" bIns="0">
            <a:spAutoFit/>
          </a:bodyPr>
          <a:lstStyle/>
          <a:p>
            <a:pPr marL="342900" indent="-323850">
              <a:lnSpc>
                <a:spcPct val="100000"/>
              </a:lnSpc>
              <a:spcAft>
                <a:spcPts val="800"/>
              </a:spcAft>
            </a:pPr>
            <a:r>
              <a:rPr sz="2000" b="0">
                <a:solidFill>
                  <a:srgbClr val="000000"/>
                </a:solidFill>
                <a:latin typeface="Calibri"/>
              </a:rPr>
              <a:t>➤	Multicell Packaging Inc. Snapshot</a:t>
            </a:r>
          </a:p>
          <a:p>
            <a:pPr marL="342900" indent="-323850">
              <a:lnSpc>
                <a:spcPct val="100000"/>
              </a:lnSpc>
              <a:spcAft>
                <a:spcPts val="800"/>
              </a:spcAft>
            </a:pPr>
            <a:r>
              <a:rPr sz="2000" b="0">
                <a:solidFill>
                  <a:srgbClr val="000000"/>
                </a:solidFill>
                <a:latin typeface="Calibri"/>
              </a:rPr>
              <a:t>➤	Multicell Packaging Inc. Penetration &amp; Win</a:t>
            </a:r>
          </a:p>
          <a:p>
            <a:pPr marL="342900" indent="-323850">
              <a:lnSpc>
                <a:spcPct val="100000"/>
              </a:lnSpc>
              <a:spcAft>
                <a:spcPts val="800"/>
              </a:spcAft>
            </a:pPr>
            <a:r>
              <a:rPr sz="2000" b="0">
                <a:solidFill>
                  <a:srgbClr val="000000"/>
                </a:solidFill>
                <a:latin typeface="Calibri"/>
              </a:rPr>
              <a:t>➤	Multicell Packaging Inc. SWOT Analysis</a:t>
            </a:r>
          </a:p>
          <a:p>
            <a:pPr marL="342900" indent="-323850">
              <a:lnSpc>
                <a:spcPct val="100000"/>
              </a:lnSpc>
              <a:spcAft>
                <a:spcPts val="800"/>
              </a:spcAft>
            </a:pPr>
            <a:r>
              <a:rPr sz="2000" b="0">
                <a:solidFill>
                  <a:srgbClr val="000000"/>
                </a:solidFill>
                <a:latin typeface="Calibri"/>
              </a:rPr>
              <a:t>➤	Multicell Packaging Inc. Key Financials</a:t>
            </a:r>
          </a:p>
          <a:p>
            <a:pPr marL="342900" indent="-323850">
              <a:lnSpc>
                <a:spcPct val="100000"/>
              </a:lnSpc>
              <a:spcAft>
                <a:spcPts val="800"/>
              </a:spcAft>
            </a:pPr>
            <a:r>
              <a:rPr sz="2000" b="0">
                <a:solidFill>
                  <a:srgbClr val="000000"/>
                </a:solidFill>
                <a:latin typeface="Calibri"/>
              </a:rPr>
              <a:t>➤	Multicell Packaging Inc. Strategy Analysis</a:t>
            </a:r>
          </a:p>
        </p:txBody>
      </p:sp>
      <p:sp>
        <p:nvSpPr>
          <p:cNvPr id="12" name="TextBox 1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Multicell Packaging Inc. Executive Market Snapshot (1/5)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Executive snapshot and strategic positioning Multicell Packaging Inc.: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a:p>
            <a:pPr algn="ctr">
              <a:lnSpc>
                <a:spcPct val="95000"/>
              </a:lnSpc>
            </a:pPr>
            <a:endParaRP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38125" y="2123126"/>
            <a:ext cx="36385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xmlns:r="http://schemas.openxmlformats.org/officeDocument/2006/relationships" r:id="rId4"/>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4219575" y="2123126"/>
            <a:ext cx="36385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xmlns:r="http://schemas.openxmlformats.org/officeDocument/2006/relationships" r:id="rId5"/>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8201025" y="2123126"/>
            <a:ext cx="37528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xmlns:r="http://schemas.openxmlformats.org/officeDocument/2006/relationships" r:id="rId6"/>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276225" y="4871502"/>
            <a:ext cx="116395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276225" y="5195352"/>
            <a:ext cx="11639550" cy="1321341"/>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9" name="TextBox 2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210462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6086073" y="3299104"/>
            <a:ext cx="197242" cy="286897"/>
          </a:xfrm>
          <a:prstGeom prst="rect">
            <a:avLst/>
          </a:prstGeom>
        </p:spPr>
      </p:pic>
      <p:pic>
        <p:nvPicPr>
          <p:cNvPr id="36" name="Picture 35" descr="lock.png"/>
          <p:cNvPicPr>
            <a:picLocks noChangeAspect="1"/>
          </p:cNvPicPr>
          <p:nvPr/>
        </p:nvPicPr>
        <p:blipFill>
          <a:blip r:embed="rId7"/>
          <a:stretch>
            <a:fillRect/>
          </a:stretch>
        </p:blipFill>
        <p:spPr>
          <a:xfrm>
            <a:off x="9278088" y="3145920"/>
            <a:ext cx="444576" cy="646656"/>
          </a:xfrm>
          <a:prstGeom prst="rect">
            <a:avLst/>
          </a:prstGeom>
        </p:spPr>
      </p:pic>
      <p:sp>
        <p:nvSpPr>
          <p:cNvPr id="37" name="TextBox 36"/>
          <p:cNvSpPr txBox="1"/>
          <p:nvPr/>
        </p:nvSpPr>
        <p:spPr>
          <a:xfrm>
            <a:off x="5758516" y="1377568"/>
            <a:ext cx="741641" cy="146456"/>
          </a:xfrm>
          <a:prstGeom prst="rect">
            <a:avLst/>
          </a:prstGeom>
          <a:noFill/>
        </p:spPr>
        <p:txBody>
          <a:bodyPr wrap="none" lIns="0" tIns="0" rIns="0" bIns="0">
            <a:spAutoFit/>
          </a:bodyPr>
          <a:lstStyle/>
          <a:p>
            <a:r>
              <a:rPr sz="835" b="1">
                <a:solidFill>
                  <a:srgbClr val="6C7A89"/>
                </a:solidFill>
                <a:latin typeface="Calibri"/>
              </a:rPr>
              <a:t>SOM (US$ MN)</a:t>
            </a:r>
          </a:p>
        </p:txBody>
      </p:sp>
      <p:pic>
        <p:nvPicPr>
          <p:cNvPr id="38" name="Picture 37" descr="lock.png"/>
          <p:cNvPicPr>
            <a:picLocks noChangeAspect="1"/>
          </p:cNvPicPr>
          <p:nvPr/>
        </p:nvPicPr>
        <p:blipFill>
          <a:blip r:embed="rId7"/>
          <a:stretch>
            <a:fillRect/>
          </a:stretch>
        </p:blipFill>
        <p:spPr>
          <a:xfrm>
            <a:off x="6017010" y="1533061"/>
            <a:ext cx="133378" cy="194005"/>
          </a:xfrm>
          <a:prstGeom prst="rect">
            <a:avLst/>
          </a:prstGeom>
        </p:spPr>
      </p:pic>
      <p:pic>
        <p:nvPicPr>
          <p:cNvPr id="39" name="Picture 38" descr="lock.png"/>
          <p:cNvPicPr>
            <a:picLocks noChangeAspect="1"/>
          </p:cNvPicPr>
          <p:nvPr/>
        </p:nvPicPr>
        <p:blipFill>
          <a:blip r:embed="rId7"/>
          <a:stretch>
            <a:fillRect/>
          </a:stretch>
        </p:blipFill>
        <p:spPr>
          <a:xfrm>
            <a:off x="5865805" y="1761621"/>
            <a:ext cx="97811" cy="142270"/>
          </a:xfrm>
          <a:prstGeom prst="rect">
            <a:avLst/>
          </a:prstGeom>
        </p:spPr>
      </p:pic>
      <p:sp>
        <p:nvSpPr>
          <p:cNvPr id="40" name="TextBox 39"/>
          <p:cNvSpPr txBox="1"/>
          <p:nvPr/>
        </p:nvSpPr>
        <p:spPr>
          <a:xfrm>
            <a:off x="5993102" y="1769053"/>
            <a:ext cx="389531" cy="146456"/>
          </a:xfrm>
          <a:prstGeom prst="rect">
            <a:avLst/>
          </a:prstGeom>
          <a:noFill/>
        </p:spPr>
        <p:txBody>
          <a:bodyPr wrap="none" lIns="0" tIns="0" rIns="0" bIns="0">
            <a:spAutoFit/>
          </a:bodyPr>
          <a:lstStyle/>
          <a:p>
            <a:r>
              <a:rPr sz="835" b="0">
                <a:solidFill>
                  <a:srgbClr val="6C7A89"/>
                </a:solidFill>
                <a:latin typeface="Calibri"/>
              </a:rPr>
              <a:t>of SAM</a:t>
            </a:r>
          </a:p>
        </p:txBody>
      </p:sp>
      <p:sp>
        <p:nvSpPr>
          <p:cNvPr id="41" name="TextBox 40"/>
          <p:cNvSpPr txBox="1"/>
          <p:nvPr/>
        </p:nvSpPr>
        <p:spPr>
          <a:xfrm>
            <a:off x="276225" y="5204877"/>
            <a:ext cx="3224262" cy="194310"/>
          </a:xfrm>
          <a:prstGeom prst="rect">
            <a:avLst/>
          </a:prstGeom>
          <a:noFill/>
        </p:spPr>
        <p:txBody>
          <a:bodyPr wrap="none" lIns="0" tIns="0" rIns="0" bIns="0">
            <a:spAutoFit/>
          </a:bodyPr>
          <a:lstStyle/>
          <a:p>
            <a:r>
              <a:rPr sz="1150" b="0">
                <a:solidFill>
                  <a:srgbClr val="2E2E2E"/>
                </a:solidFill>
                <a:latin typeface="Calibri"/>
              </a:rPr>
              <a:t>▪ Market Position: Multicell Packaging Inc. captures ~</a:t>
            </a:r>
          </a:p>
        </p:txBody>
      </p:sp>
      <p:pic>
        <p:nvPicPr>
          <p:cNvPr id="42" name="Picture 41" descr="lock.png"/>
          <p:cNvPicPr>
            <a:picLocks noChangeAspect="1"/>
          </p:cNvPicPr>
          <p:nvPr/>
        </p:nvPicPr>
        <p:blipFill>
          <a:blip r:embed="rId7"/>
          <a:stretch>
            <a:fillRect/>
          </a:stretch>
        </p:blipFill>
        <p:spPr>
          <a:xfrm>
            <a:off x="3449641" y="5194653"/>
            <a:ext cx="134549" cy="195707"/>
          </a:xfrm>
          <a:prstGeom prst="rect">
            <a:avLst/>
          </a:prstGeom>
        </p:spPr>
      </p:pic>
      <p:sp>
        <p:nvSpPr>
          <p:cNvPr id="43" name="TextBox 42"/>
          <p:cNvSpPr txBox="1"/>
          <p:nvPr/>
        </p:nvSpPr>
        <p:spPr>
          <a:xfrm>
            <a:off x="3624750" y="5204877"/>
            <a:ext cx="4569519" cy="194310"/>
          </a:xfrm>
          <a:prstGeom prst="rect">
            <a:avLst/>
          </a:prstGeom>
          <a:noFill/>
        </p:spPr>
        <p:txBody>
          <a:bodyPr wrap="none" lIns="0" tIns="0" rIns="0" bIns="0">
            <a:spAutoFit/>
          </a:bodyPr>
          <a:lstStyle/>
          <a:p>
            <a:r>
              <a:rPr sz="1150" b="0">
                <a:solidFill>
                  <a:srgbClr val="2E2E2E"/>
                </a:solidFill>
                <a:latin typeface="Calibri"/>
              </a:rPr>
              <a:t>of a US$ Mn SAM, with its strongest end-market in 'Electronics &amp; Electrical'.</a:t>
            </a:r>
          </a:p>
        </p:txBody>
      </p:sp>
      <p:sp>
        <p:nvSpPr>
          <p:cNvPr id="44" name="TextBox 43"/>
          <p:cNvSpPr txBox="1"/>
          <p:nvPr/>
        </p:nvSpPr>
        <p:spPr>
          <a:xfrm>
            <a:off x="276225" y="5432715"/>
            <a:ext cx="7358446" cy="194310"/>
          </a:xfrm>
          <a:prstGeom prst="rect">
            <a:avLst/>
          </a:prstGeom>
          <a:noFill/>
        </p:spPr>
        <p:txBody>
          <a:bodyPr wrap="none" lIns="0" tIns="0" rIns="0" bIns="0">
            <a:spAutoFit/>
          </a:bodyPr>
          <a:lstStyle/>
          <a:p>
            <a:r>
              <a:rPr sz="1150" b="0">
                <a:solidFill>
                  <a:srgbClr val="2E2E2E"/>
                </a:solidFill>
                <a:latin typeface="Calibri"/>
              </a:rPr>
              <a:t>▪ Geographic Balance: 'North America' is the largest SOM region; 'Rest of the World' shows the highest SAM penetration (~</a:t>
            </a:r>
          </a:p>
        </p:txBody>
      </p:sp>
      <p:pic>
        <p:nvPicPr>
          <p:cNvPr id="45" name="Picture 44" descr="lock.png"/>
          <p:cNvPicPr>
            <a:picLocks noChangeAspect="1"/>
          </p:cNvPicPr>
          <p:nvPr/>
        </p:nvPicPr>
        <p:blipFill>
          <a:blip r:embed="rId7"/>
          <a:stretch>
            <a:fillRect/>
          </a:stretch>
        </p:blipFill>
        <p:spPr>
          <a:xfrm>
            <a:off x="7583825" y="5422491"/>
            <a:ext cx="134549" cy="195707"/>
          </a:xfrm>
          <a:prstGeom prst="rect">
            <a:avLst/>
          </a:prstGeom>
        </p:spPr>
      </p:pic>
      <p:sp>
        <p:nvSpPr>
          <p:cNvPr id="46" name="TextBox 45"/>
          <p:cNvSpPr txBox="1"/>
          <p:nvPr/>
        </p:nvSpPr>
        <p:spPr>
          <a:xfrm>
            <a:off x="7758935" y="5432715"/>
            <a:ext cx="157212" cy="194310"/>
          </a:xfrm>
          <a:prstGeom prst="rect">
            <a:avLst/>
          </a:prstGeom>
          <a:noFill/>
        </p:spPr>
        <p:txBody>
          <a:bodyPr wrap="none" lIns="0" tIns="0" rIns="0" bIns="0">
            <a:spAutoFit/>
          </a:bodyPr>
          <a:lstStyle/>
          <a:p>
            <a:r>
              <a:rPr sz="1150" b="0">
                <a:solidFill>
                  <a:srgbClr val="2E2E2E"/>
                </a:solidFill>
                <a:latin typeface="Calibri"/>
              </a:rPr>
              <a:t>).</a:t>
            </a:r>
          </a:p>
        </p:txBody>
      </p:sp>
      <p:sp>
        <p:nvSpPr>
          <p:cNvPr id="47" name="TextBox 46"/>
          <p:cNvSpPr txBox="1"/>
          <p:nvPr/>
        </p:nvSpPr>
        <p:spPr>
          <a:xfrm>
            <a:off x="276225" y="5660552"/>
            <a:ext cx="1391791" cy="194310"/>
          </a:xfrm>
          <a:prstGeom prst="rect">
            <a:avLst/>
          </a:prstGeom>
          <a:noFill/>
        </p:spPr>
        <p:txBody>
          <a:bodyPr wrap="none" lIns="0" tIns="0" rIns="0" bIns="0">
            <a:spAutoFit/>
          </a:bodyPr>
          <a:lstStyle/>
          <a:p>
            <a:r>
              <a:rPr sz="1150" b="0">
                <a:solidFill>
                  <a:srgbClr val="2E2E2E"/>
                </a:solidFill>
                <a:latin typeface="Calibri"/>
              </a:rPr>
              <a:t>▪ Growth Trajectory: a</a:t>
            </a:r>
          </a:p>
        </p:txBody>
      </p:sp>
      <p:pic>
        <p:nvPicPr>
          <p:cNvPr id="48" name="Picture 47" descr="lock.png"/>
          <p:cNvPicPr>
            <a:picLocks noChangeAspect="1"/>
          </p:cNvPicPr>
          <p:nvPr/>
        </p:nvPicPr>
        <p:blipFill>
          <a:blip r:embed="rId7"/>
          <a:stretch>
            <a:fillRect/>
          </a:stretch>
        </p:blipFill>
        <p:spPr>
          <a:xfrm>
            <a:off x="1617169" y="5650329"/>
            <a:ext cx="134549" cy="195707"/>
          </a:xfrm>
          <a:prstGeom prst="rect">
            <a:avLst/>
          </a:prstGeom>
        </p:spPr>
      </p:pic>
      <p:sp>
        <p:nvSpPr>
          <p:cNvPr id="49" name="TextBox 48"/>
          <p:cNvSpPr txBox="1"/>
          <p:nvPr/>
        </p:nvSpPr>
        <p:spPr>
          <a:xfrm>
            <a:off x="1792279" y="5660552"/>
            <a:ext cx="1129072" cy="194310"/>
          </a:xfrm>
          <a:prstGeom prst="rect">
            <a:avLst/>
          </a:prstGeom>
          <a:noFill/>
        </p:spPr>
        <p:txBody>
          <a:bodyPr wrap="none" lIns="0" tIns="0" rIns="0" bIns="0">
            <a:spAutoFit/>
          </a:bodyPr>
          <a:lstStyle/>
          <a:p>
            <a:r>
              <a:rPr sz="1150" b="0">
                <a:solidFill>
                  <a:srgbClr val="2E2E2E"/>
                </a:solidFill>
                <a:latin typeface="Calibri"/>
              </a:rPr>
              <a:t>book-to-bill and ~</a:t>
            </a:r>
          </a:p>
        </p:txBody>
      </p:sp>
      <p:pic>
        <p:nvPicPr>
          <p:cNvPr id="50" name="Picture 49" descr="lock.png"/>
          <p:cNvPicPr>
            <a:picLocks noChangeAspect="1"/>
          </p:cNvPicPr>
          <p:nvPr/>
        </p:nvPicPr>
        <p:blipFill>
          <a:blip r:embed="rId7"/>
          <a:stretch>
            <a:fillRect/>
          </a:stretch>
        </p:blipFill>
        <p:spPr>
          <a:xfrm>
            <a:off x="2870505" y="5650329"/>
            <a:ext cx="134549" cy="195707"/>
          </a:xfrm>
          <a:prstGeom prst="rect">
            <a:avLst/>
          </a:prstGeom>
        </p:spPr>
      </p:pic>
      <p:sp>
        <p:nvSpPr>
          <p:cNvPr id="51" name="TextBox 50"/>
          <p:cNvSpPr txBox="1"/>
          <p:nvPr/>
        </p:nvSpPr>
        <p:spPr>
          <a:xfrm>
            <a:off x="3045614" y="5660552"/>
            <a:ext cx="4503594" cy="194310"/>
          </a:xfrm>
          <a:prstGeom prst="rect">
            <a:avLst/>
          </a:prstGeom>
          <a:noFill/>
        </p:spPr>
        <p:txBody>
          <a:bodyPr wrap="none" lIns="0" tIns="0" rIns="0" bIns="0">
            <a:spAutoFit/>
          </a:bodyPr>
          <a:lstStyle/>
          <a:p>
            <a:r>
              <a:rPr sz="1150" b="0">
                <a:solidFill>
                  <a:srgbClr val="2E2E2E"/>
                </a:solidFill>
                <a:latin typeface="Calibri"/>
              </a:rPr>
              <a:t>EBITDA margin point to a path to capture more of the addressable market.</a:t>
            </a:r>
          </a:p>
        </p:txBody>
      </p:sp>
      <p:sp>
        <p:nvSpPr>
          <p:cNvPr id="52" name="TextBox 51"/>
          <p:cNvSpPr txBox="1"/>
          <p:nvPr/>
        </p:nvSpPr>
        <p:spPr>
          <a:xfrm>
            <a:off x="276225" y="5888390"/>
            <a:ext cx="1353535" cy="194310"/>
          </a:xfrm>
          <a:prstGeom prst="rect">
            <a:avLst/>
          </a:prstGeom>
          <a:noFill/>
        </p:spPr>
        <p:txBody>
          <a:bodyPr wrap="none" lIns="0" tIns="0" rIns="0" bIns="0">
            <a:spAutoFit/>
          </a:bodyPr>
          <a:lstStyle/>
          <a:p>
            <a:r>
              <a:rPr sz="1150" b="0">
                <a:solidFill>
                  <a:srgbClr val="2E2E2E"/>
                </a:solidFill>
                <a:latin typeface="Calibri"/>
              </a:rPr>
              <a:t>▪ Competitive Edge: ~</a:t>
            </a:r>
          </a:p>
        </p:txBody>
      </p:sp>
      <p:pic>
        <p:nvPicPr>
          <p:cNvPr id="53" name="Picture 52" descr="lock.png"/>
          <p:cNvPicPr>
            <a:picLocks noChangeAspect="1"/>
          </p:cNvPicPr>
          <p:nvPr/>
        </p:nvPicPr>
        <p:blipFill>
          <a:blip r:embed="rId7"/>
          <a:stretch>
            <a:fillRect/>
          </a:stretch>
        </p:blipFill>
        <p:spPr>
          <a:xfrm>
            <a:off x="1578914" y="5878167"/>
            <a:ext cx="134549" cy="195707"/>
          </a:xfrm>
          <a:prstGeom prst="rect">
            <a:avLst/>
          </a:prstGeom>
        </p:spPr>
      </p:pic>
      <p:sp>
        <p:nvSpPr>
          <p:cNvPr id="54" name="TextBox 53"/>
          <p:cNvSpPr txBox="1"/>
          <p:nvPr/>
        </p:nvSpPr>
        <p:spPr>
          <a:xfrm>
            <a:off x="1754024" y="5888390"/>
            <a:ext cx="1072591" cy="194310"/>
          </a:xfrm>
          <a:prstGeom prst="rect">
            <a:avLst/>
          </a:prstGeom>
          <a:noFill/>
        </p:spPr>
        <p:txBody>
          <a:bodyPr wrap="none" lIns="0" tIns="0" rIns="0" bIns="0">
            <a:spAutoFit/>
          </a:bodyPr>
          <a:lstStyle/>
          <a:p>
            <a:r>
              <a:rPr sz="1150" b="0">
                <a:solidFill>
                  <a:srgbClr val="2E2E2E"/>
                </a:solidFill>
                <a:latin typeface="Calibri"/>
              </a:rPr>
              <a:t>win rate with a +</a:t>
            </a:r>
          </a:p>
        </p:txBody>
      </p:sp>
      <p:pic>
        <p:nvPicPr>
          <p:cNvPr id="55" name="Picture 54" descr="lock.png"/>
          <p:cNvPicPr>
            <a:picLocks noChangeAspect="1"/>
          </p:cNvPicPr>
          <p:nvPr/>
        </p:nvPicPr>
        <p:blipFill>
          <a:blip r:embed="rId7"/>
          <a:stretch>
            <a:fillRect/>
          </a:stretch>
        </p:blipFill>
        <p:spPr>
          <a:xfrm>
            <a:off x="2775769" y="5878167"/>
            <a:ext cx="134549" cy="195707"/>
          </a:xfrm>
          <a:prstGeom prst="rect">
            <a:avLst/>
          </a:prstGeom>
        </p:spPr>
      </p:pic>
      <p:sp>
        <p:nvSpPr>
          <p:cNvPr id="56" name="TextBox 55"/>
          <p:cNvSpPr txBox="1"/>
          <p:nvPr/>
        </p:nvSpPr>
        <p:spPr>
          <a:xfrm>
            <a:off x="2950879" y="5888390"/>
            <a:ext cx="1137059" cy="194310"/>
          </a:xfrm>
          <a:prstGeom prst="rect">
            <a:avLst/>
          </a:prstGeom>
          <a:noFill/>
        </p:spPr>
        <p:txBody>
          <a:bodyPr wrap="none" lIns="0" tIns="0" rIns="0" bIns="0">
            <a:spAutoFit/>
          </a:bodyPr>
          <a:lstStyle/>
          <a:p>
            <a:r>
              <a:rPr sz="1150" b="0">
                <a:solidFill>
                  <a:srgbClr val="2E2E2E"/>
                </a:solidFill>
                <a:latin typeface="Calibri"/>
              </a:rPr>
              <a:t>ASP premium and</a:t>
            </a:r>
          </a:p>
        </p:txBody>
      </p:sp>
      <p:pic>
        <p:nvPicPr>
          <p:cNvPr id="57" name="Picture 56" descr="lock.png"/>
          <p:cNvPicPr>
            <a:picLocks noChangeAspect="1"/>
          </p:cNvPicPr>
          <p:nvPr/>
        </p:nvPicPr>
        <p:blipFill>
          <a:blip r:embed="rId7"/>
          <a:stretch>
            <a:fillRect/>
          </a:stretch>
        </p:blipFill>
        <p:spPr>
          <a:xfrm>
            <a:off x="4037092" y="5878167"/>
            <a:ext cx="134549" cy="195707"/>
          </a:xfrm>
          <a:prstGeom prst="rect">
            <a:avLst/>
          </a:prstGeom>
        </p:spPr>
      </p:pic>
      <p:sp>
        <p:nvSpPr>
          <p:cNvPr id="58" name="TextBox 57"/>
          <p:cNvSpPr txBox="1"/>
          <p:nvPr/>
        </p:nvSpPr>
        <p:spPr>
          <a:xfrm>
            <a:off x="4212201" y="5888390"/>
            <a:ext cx="1259147" cy="194310"/>
          </a:xfrm>
          <a:prstGeom prst="rect">
            <a:avLst/>
          </a:prstGeom>
          <a:noFill/>
        </p:spPr>
        <p:txBody>
          <a:bodyPr wrap="none" lIns="0" tIns="0" rIns="0" bIns="0">
            <a:spAutoFit/>
          </a:bodyPr>
          <a:lstStyle/>
          <a:p>
            <a:r>
              <a:rPr sz="1150" b="0">
                <a:solidFill>
                  <a:srgbClr val="2E2E2E"/>
                </a:solidFill>
                <a:latin typeface="Calibri"/>
              </a:rPr>
              <a:t>x pipeline coverage.</a:t>
            </a:r>
          </a:p>
        </p:txBody>
      </p:sp>
      <p:sp>
        <p:nvSpPr>
          <p:cNvPr id="59"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Multicell Packaging Inc.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Regional penetration and competitive positioning Multicell Packaging Inc.: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56470"/>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57925" y="1356470"/>
            <a:ext cx="56959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tIns="0" r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tIns="0" r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tIns="0" r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tIns="0" r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tIns="9525" rIns="2857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tIns="9525" rIns="2857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645037" y="2017974"/>
            <a:ext cx="1428750" cy="171450"/>
          </a:xfrm>
          <a:prstGeom prst="rect">
            <a:avLst/>
          </a:prstGeom>
          <a:noFill/>
        </p:spPr>
        <p:txBody>
          <a:bodyPr wrap="square" lIns="28575" tIns="9525" rIns="28575" bIns="9525" anchor="ctr">
            <a:spAutoFit/>
          </a:bodyPr>
          <a:lstStyle/>
          <a:p>
            <a:pPr algn="l"/>
            <a:r>
              <a:rPr sz="1100" b="1">
                <a:solidFill>
                  <a:srgbClr val="2E2E2E"/>
                </a:solidFill>
                <a:latin typeface="Calibri"/>
              </a:rPr>
              <a:t>Multicell Packaging Inc.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9626509" y="1979485"/>
            <a:ext cx="1428750" cy="171450"/>
          </a:xfrm>
          <a:prstGeom prst="rect">
            <a:avLst/>
          </a:prstGeom>
          <a:noFill/>
        </p:spPr>
        <p:txBody>
          <a:bodyPr wrap="square" lIns="28575" tIns="9525" rIns="2857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10706100" y="2749264"/>
            <a:ext cx="1428750" cy="171450"/>
          </a:xfrm>
          <a:prstGeom prst="rect">
            <a:avLst/>
          </a:prstGeom>
          <a:noFill/>
        </p:spPr>
        <p:txBody>
          <a:bodyPr wrap="square" lIns="28575" tIns="9525" rIns="2857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38125" y="3692944"/>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114300" tIns="19050" rIns="57150" bIns="19050" rtlCol="0" anchor="ctr"/>
          <a:lstStyle/>
          <a:p>
            <a:pPr algn="l"/>
            <a:endParaRP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114300" tIns="19050" rIns="57150" bIns="19050" rtlCol="0" anchor="ctr"/>
          <a:lstStyle/>
          <a:p>
            <a:pPr algn="l"/>
            <a:endParaRP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114300" tIns="19050" rIns="57150" bIns="19050" rtlCol="0" anchor="ctr"/>
          <a:lstStyle/>
          <a:p>
            <a:pPr algn="l"/>
            <a:endParaRP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6257925" y="3692944"/>
            <a:ext cx="56959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10506075" y="3912019"/>
            <a:ext cx="571500" cy="133350"/>
          </a:xfrm>
          <a:prstGeom prst="rect">
            <a:avLst/>
          </a:prstGeom>
          <a:noFill/>
        </p:spPr>
        <p:txBody>
          <a:bodyPr wrap="square" lIns="28575" tIns="9525" rIns="2857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11249025" y="3912019"/>
            <a:ext cx="571500" cy="133350"/>
          </a:xfrm>
          <a:prstGeom prst="rect">
            <a:avLst/>
          </a:prstGeom>
          <a:noFill/>
        </p:spPr>
        <p:txBody>
          <a:bodyPr wrap="square" lIns="28575" tIns="9525" rIns="2857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tIns="9525" rIns="2857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6276975" y="4466337"/>
            <a:ext cx="1066800" cy="228600"/>
          </a:xfrm>
          <a:prstGeom prst="rect">
            <a:avLst/>
          </a:prstGeom>
          <a:noFill/>
        </p:spPr>
        <p:txBody>
          <a:bodyPr wrap="square" lIns="28575" tIns="9525" rIns="2857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6276975" y="4778732"/>
            <a:ext cx="1066800" cy="228600"/>
          </a:xfrm>
          <a:prstGeom prst="rect">
            <a:avLst/>
          </a:prstGeom>
          <a:noFill/>
        </p:spPr>
        <p:txBody>
          <a:bodyPr wrap="square" lIns="28575" tIns="9525" rIns="2857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276225" y="5455620"/>
            <a:ext cx="116395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276225" y="5779470"/>
            <a:ext cx="11639550" cy="77373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4" name="TextBox 5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tIns="0" r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tIns="0" r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tIns="0" r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tIns="0" r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tIns="0" r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tIns="0" r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tIns="0" r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tIns="0" r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tIns="0" r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tIns="0" r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tIns="0" r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tIns="0" r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tIns="0" r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tIns="0" rIns="0" bIns="0">
            <a:spAutoFit/>
          </a:bodyPr>
          <a:lstStyle/>
          <a:p>
            <a:r>
              <a:rPr sz="1100" b="0">
                <a:solidFill>
                  <a:srgbClr val="2E2E2E"/>
                </a:solidFill>
                <a:latin typeface="Calibri"/>
              </a:rPr>
              <a:t>▪ Sales Efficiency: a ~95-day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tIns="0" r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Multicell Packaging Inc. SWOT Analysis (3/5)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SWOT assessment of Multicell Packaging Inc.: strengths, weaknesses, opportunities and threats shaping its competitive…</a:t>
            </a:r>
          </a:p>
        </p:txBody>
      </p:sp>
      <p:sp>
        <p:nvSpPr>
          <p:cNvPr id="10" name="TextBox 9"/>
          <p:cNvSpPr txBox="1"/>
          <p:nvPr/>
        </p:nvSpPr>
        <p:spPr>
          <a:xfrm>
            <a:off x="142875" y="1007261"/>
            <a:ext cx="11906250" cy="164283"/>
          </a:xfrm>
          <a:prstGeom prst="rect">
            <a:avLst/>
          </a:prstGeom>
          <a:noFill/>
        </p:spPr>
        <p:txBody>
          <a:bodyPr wrap="square" lIns="28575" tIns="9525" rIns="28575" bIns="9525" anchor="ctr">
            <a:spAutoFit/>
          </a:bodyPr>
          <a:lstStyle/>
          <a:p>
            <a:pPr algn="l"/>
            <a:r>
              <a:rPr sz="1150" b="0">
                <a:solidFill>
                  <a:srgbClr val="2E2E2E"/>
                </a:solidFill>
                <a:latin typeface="Calibri"/>
              </a:rPr>
              <a:t>SWOT assessment Multicell Packaging Inc.: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5886450" y="3243339"/>
            <a:ext cx="419100" cy="273805"/>
          </a:xfrm>
          <a:prstGeom prst="rect">
            <a:avLst/>
          </a:prstGeom>
          <a:noFill/>
        </p:spPr>
        <p:txBody>
          <a:bodyPr wrap="none" lIns="0" tIns="0" r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tIns="0" r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tIns="0" r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tIns="0" r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tIns="9525" rIns="2857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TextBox 31"/>
          <p:cNvSpPr txBox="1"/>
          <p:nvPr/>
        </p:nvSpPr>
        <p:spPr>
          <a:xfrm>
            <a:off x="333375" y="1573126"/>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333375" y="2084229"/>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333375" y="2595333"/>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37" name="TextBox 36"/>
          <p:cNvSpPr txBox="1"/>
          <p:nvPr/>
        </p:nvSpPr>
        <p:spPr>
          <a:xfrm>
            <a:off x="8334375" y="1299320"/>
            <a:ext cx="3667125" cy="182537"/>
          </a:xfrm>
          <a:prstGeom prst="rect">
            <a:avLst/>
          </a:prstGeom>
          <a:noFill/>
        </p:spPr>
        <p:txBody>
          <a:bodyPr wrap="square" lIns="28575" tIns="9525" rIns="2857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8477250" y="1573126"/>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8477250" y="2084229"/>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8477250" y="2595333"/>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tIns="9525" rIns="2857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333375" y="4329434"/>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333375" y="4840538"/>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333375" y="5351641"/>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tIns="9525" rIns="2857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8477250" y="4329434"/>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Premiumisation headroom in 'Flat Dividers &amp; Layer Pads'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TextBox 57"/>
          <p:cNvSpPr txBox="1"/>
          <p:nvPr/>
        </p:nvSpPr>
        <p:spPr>
          <a:xfrm>
            <a:off x="8477250" y="4840538"/>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8477250" y="5351641"/>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tIns="9525" rIns="2857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tIns="0" r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tIns="0" r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tIns="0" r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tIns="0" r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tIns="0" r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tIns="0" r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tIns="0" r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tIns="0" r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tIns="0" rIns="0" bIns="0">
            <a:spAutoFit/>
          </a:bodyPr>
          <a:lstStyle/>
          <a:p>
            <a:r>
              <a:rPr sz="1100" b="0">
                <a:solidFill>
                  <a:srgbClr val="2E2E2E"/>
                </a:solidFill>
                <a:latin typeface="Calibri"/>
              </a:rPr>
              <a:t>x pipeline needed to convert.</a:t>
            </a:r>
          </a:p>
        </p:txBody>
      </p:sp>
    </p:spTree>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Multicell Packaging Inc. Key Financials (4/5)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Multicell Packaging Inc.'s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Key financials and pricing Multicell Packaging Inc.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411231"/>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Multicell Packaging Inc.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extLst>
                    <a:ext uri="{9D8B030D-6E8A-4147-A177-3AD203B41FA5}">
                      <a16:colId xmlns:a16="http://schemas.microsoft.com/office/drawing/2014/main" val="20000"/>
                    </a:ext>
                  </a:extLst>
                </a:gridCol>
                <a:gridCol w="687960">
                  <a:extLst>
                    <a:ext uri="{9D8B030D-6E8A-4147-A177-3AD203B41FA5}">
                      <a16:colId xmlns:a16="http://schemas.microsoft.com/office/drawing/2014/main" val="20001"/>
                    </a:ext>
                  </a:extLst>
                </a:gridCol>
                <a:gridCol w="687960">
                  <a:extLst>
                    <a:ext uri="{9D8B030D-6E8A-4147-A177-3AD203B41FA5}">
                      <a16:colId xmlns:a16="http://schemas.microsoft.com/office/drawing/2014/main" val="20002"/>
                    </a:ext>
                  </a:extLst>
                </a:gridCol>
                <a:gridCol w="687960">
                  <a:extLst>
                    <a:ext uri="{9D8B030D-6E8A-4147-A177-3AD203B41FA5}">
                      <a16:colId xmlns:a16="http://schemas.microsoft.com/office/drawing/2014/main" val="20003"/>
                    </a:ext>
                  </a:extLst>
                </a:gridCol>
                <a:gridCol w="687960">
                  <a:extLst>
                    <a:ext uri="{9D8B030D-6E8A-4147-A177-3AD203B41FA5}">
                      <a16:colId xmlns:a16="http://schemas.microsoft.com/office/drawing/2014/main" val="20004"/>
                    </a:ext>
                  </a:extLst>
                </a:gridCol>
                <a:gridCol w="687960">
                  <a:extLst>
                    <a:ext uri="{9D8B030D-6E8A-4147-A177-3AD203B41FA5}">
                      <a16:colId xmlns:a16="http://schemas.microsoft.com/office/drawing/2014/main" val="20005"/>
                    </a:ext>
                  </a:extLst>
                </a:gridCol>
              </a:tblGrid>
              <a:tr h="246126">
                <a:tc>
                  <a:txBody>
                    <a:bodyPr/>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300947">
                <a:tc>
                  <a:txBody>
                    <a:bodyPr/>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300947">
                <a:tc>
                  <a:txBody>
                    <a:bodyPr/>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300947">
                <a:tc>
                  <a:txBody>
                    <a:bodyPr/>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300947">
                <a:tc>
                  <a:txBody>
                    <a:bodyPr/>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3070695"/>
            <a:ext cx="575310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455645"/>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Multicell Packaging Inc.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extLst>
                    <a:ext uri="{9D8B030D-6E8A-4147-A177-3AD203B41FA5}">
                      <a16:colId xmlns:a16="http://schemas.microsoft.com/office/drawing/2014/main" val="20000"/>
                    </a:ext>
                  </a:extLst>
                </a:gridCol>
                <a:gridCol w="805438">
                  <a:extLst>
                    <a:ext uri="{9D8B030D-6E8A-4147-A177-3AD203B41FA5}">
                      <a16:colId xmlns:a16="http://schemas.microsoft.com/office/drawing/2014/main" val="20001"/>
                    </a:ext>
                  </a:extLst>
                </a:gridCol>
                <a:gridCol w="805438">
                  <a:extLst>
                    <a:ext uri="{9D8B030D-6E8A-4147-A177-3AD203B41FA5}">
                      <a16:colId xmlns:a16="http://schemas.microsoft.com/office/drawing/2014/main" val="20002"/>
                    </a:ext>
                  </a:extLst>
                </a:gridCol>
                <a:gridCol w="805438">
                  <a:extLst>
                    <a:ext uri="{9D8B030D-6E8A-4147-A177-3AD203B41FA5}">
                      <a16:colId xmlns:a16="http://schemas.microsoft.com/office/drawing/2014/main" val="20003"/>
                    </a:ext>
                  </a:extLst>
                </a:gridCol>
                <a:gridCol w="805438">
                  <a:extLst>
                    <a:ext uri="{9D8B030D-6E8A-4147-A177-3AD203B41FA5}">
                      <a16:colId xmlns:a16="http://schemas.microsoft.com/office/drawing/2014/main" val="20004"/>
                    </a:ext>
                  </a:extLst>
                </a:gridCol>
                <a:gridCol w="805438">
                  <a:extLst>
                    <a:ext uri="{9D8B030D-6E8A-4147-A177-3AD203B41FA5}">
                      <a16:colId xmlns:a16="http://schemas.microsoft.com/office/drawing/2014/main" val="20005"/>
                    </a:ext>
                  </a:extLst>
                </a:gridCol>
              </a:tblGrid>
              <a:tr h="246126">
                <a:tc>
                  <a:txBody>
                    <a:bodyPr/>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496309">
                <a:tc>
                  <a:txBody>
                    <a:bodyPr/>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496309">
                <a:tc>
                  <a:txBody>
                    <a:bodyPr/>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496309">
                <a:tc>
                  <a:txBody>
                    <a:bodyPr/>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496309">
                <a:tc>
                  <a:txBody>
                    <a:bodyPr/>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496309">
                <a:tc>
                  <a:txBody>
                    <a:bodyPr/>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bl>
          </a:graphicData>
        </a:graphic>
      </p:graphicFrame>
      <p:sp>
        <p:nvSpPr>
          <p:cNvPr id="18" name="TextBox 17"/>
          <p:cNvSpPr txBox="1"/>
          <p:nvPr/>
        </p:nvSpPr>
        <p:spPr>
          <a:xfrm>
            <a:off x="219075" y="6392868"/>
            <a:ext cx="575310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296025" y="1411231"/>
            <a:ext cx="56578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Multicell Packaging Inc. Pricing Analysis (US$/MT)</a:t>
            </a:r>
          </a:p>
        </p:txBody>
      </p:sp>
      <p:graphicFrame>
        <p:nvGraphicFramePr>
          <p:cNvPr id="21" name="Table 20"/>
          <p:cNvGraphicFramePr>
            <a:graphicFrameLocks noGrp="1"/>
          </p:cNvGraphicFramePr>
          <p:nvPr/>
        </p:nvGraphicFramePr>
        <p:xfrm>
          <a:off x="6210300" y="1611256"/>
          <a:ext cx="5829301" cy="4772085"/>
        </p:xfrm>
        <a:graphic>
          <a:graphicData uri="http://schemas.openxmlformats.org/drawingml/2006/table">
            <a:tbl>
              <a:tblPr>
                <a:tableStyleId>{5C22544A-7EE6-4342-B048-85BDC9FD1C3A}</a:tableStyleId>
              </a:tblPr>
              <a:tblGrid>
                <a:gridCol w="4080993">
                  <a:extLst>
                    <a:ext uri="{9D8B030D-6E8A-4147-A177-3AD203B41FA5}">
                      <a16:colId xmlns:a16="http://schemas.microsoft.com/office/drawing/2014/main" val="20000"/>
                    </a:ext>
                  </a:extLst>
                </a:gridCol>
                <a:gridCol w="874154">
                  <a:extLst>
                    <a:ext uri="{9D8B030D-6E8A-4147-A177-3AD203B41FA5}">
                      <a16:colId xmlns:a16="http://schemas.microsoft.com/office/drawing/2014/main" val="20001"/>
                    </a:ext>
                  </a:extLst>
                </a:gridCol>
                <a:gridCol w="874154">
                  <a:extLst>
                    <a:ext uri="{9D8B030D-6E8A-4147-A177-3AD203B41FA5}">
                      <a16:colId xmlns:a16="http://schemas.microsoft.com/office/drawing/2014/main" val="20002"/>
                    </a:ext>
                  </a:extLst>
                </a:gridCol>
              </a:tblGrid>
              <a:tr h="246126">
                <a:tc>
                  <a:txBody>
                    <a:bodyPr/>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1508653">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1508653">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1508653">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22" name="TextBox 21"/>
          <p:cNvSpPr txBox="1"/>
          <p:nvPr/>
        </p:nvSpPr>
        <p:spPr>
          <a:xfrm>
            <a:off x="6276975" y="6392868"/>
            <a:ext cx="56959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978757" y="3853661"/>
            <a:ext cx="366712" cy="533399"/>
          </a:xfrm>
          <a:prstGeom prst="rect">
            <a:avLst/>
          </a:prstGeom>
        </p:spPr>
      </p:pic>
    </p:spTree>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Multicell Packaging Inc. Strategy Analysis (5/5)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Multicell Packaging Inc.'s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Strategy analysis Multicell Packaging Inc.: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76225" y="2169954"/>
            <a:ext cx="5638800" cy="209550"/>
          </a:xfrm>
          <a:prstGeom prst="rect">
            <a:avLst/>
          </a:prstGeom>
          <a:noFill/>
        </p:spPr>
        <p:txBody>
          <a:bodyPr wrap="square" lIns="0" tIns="9525" rIns="19050"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76225" y="2493804"/>
            <a:ext cx="5638800" cy="400463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334125" y="2169954"/>
            <a:ext cx="5581650" cy="209550"/>
          </a:xfrm>
          <a:prstGeom prst="rect">
            <a:avLst/>
          </a:prstGeom>
          <a:noFill/>
        </p:spPr>
        <p:txBody>
          <a:bodyPr wrap="square" lIns="0" tIns="9525" rIns="19050"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34125" y="2493804"/>
            <a:ext cx="5581650" cy="400463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4" name="TextBox 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619750" cy="194310"/>
          </a:xfrm>
          <a:prstGeom prst="rect">
            <a:avLst/>
          </a:prstGeom>
          <a:noFill/>
        </p:spPr>
        <p:txBody>
          <a:bodyPr wrap="none" lIns="0" tIns="0" rIns="0" bIns="0">
            <a:spAutoFit/>
          </a:bodyPr>
          <a:lstStyle/>
          <a:p>
            <a:r>
              <a:rPr sz="1150" b="0">
                <a:solidFill>
                  <a:srgbClr val="2E2E2E"/>
                </a:solidFill>
                <a:latin typeface="Calibri"/>
              </a:rPr>
              <a:t>▪ Defend and extend leadership in 'Electronics &amp; Electrical' Multicell Packaging Inc.'s strongest</a:t>
            </a:r>
          </a:p>
        </p:txBody>
      </p:sp>
      <p:sp>
        <p:nvSpPr>
          <p:cNvPr id="31" name="TextBox 30"/>
          <p:cNvSpPr txBox="1"/>
          <p:nvPr/>
        </p:nvSpPr>
        <p:spPr>
          <a:xfrm>
            <a:off x="276225" y="2678589"/>
            <a:ext cx="3174913" cy="194310"/>
          </a:xfrm>
          <a:prstGeom prst="rect">
            <a:avLst/>
          </a:prstGeom>
          <a:noFill/>
        </p:spPr>
        <p:txBody>
          <a:bodyPr wrap="none" lIns="0" tIns="0" rIns="0" bIns="0">
            <a:spAutoFit/>
          </a:bodyPr>
          <a:lstStyle/>
          <a:p>
            <a:r>
              <a:rPr sz="1150" b="0">
                <a:solidFill>
                  <a:srgbClr val="2E2E2E"/>
                </a:solidFill>
                <a:latin typeface="Calibri"/>
              </a:rPr>
              <a:t>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tIns="0" r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tIns="0" r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tIns="0" r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tIns="0" r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tIns="0" r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tIns="0" r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tIns="0" r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tIns="0" r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tIns="0" r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04581" cy="194310"/>
          </a:xfrm>
          <a:prstGeom prst="rect">
            <a:avLst/>
          </a:prstGeom>
          <a:noFill/>
        </p:spPr>
        <p:txBody>
          <a:bodyPr wrap="none" lIns="0" tIns="0" rIns="0" bIns="0">
            <a:spAutoFit/>
          </a:bodyPr>
          <a:lstStyle/>
          <a:p>
            <a:r>
              <a:rPr sz="1150" b="0">
                <a:solidFill>
                  <a:srgbClr val="2E2E2E"/>
                </a:solidFill>
                <a:latin typeface="Calibri"/>
              </a:rPr>
              <a:t>▪ Premiumise the portfolio around 'Flat Dividers &amp; Layer Pads' and adjacent high-value lines</a:t>
            </a:r>
          </a:p>
        </p:txBody>
      </p:sp>
      <p:sp>
        <p:nvSpPr>
          <p:cNvPr id="46" name="TextBox 45"/>
          <p:cNvSpPr txBox="1"/>
          <p:nvPr/>
        </p:nvSpPr>
        <p:spPr>
          <a:xfrm>
            <a:off x="6334125" y="2678589"/>
            <a:ext cx="1387797" cy="194310"/>
          </a:xfrm>
          <a:prstGeom prst="rect">
            <a:avLst/>
          </a:prstGeom>
          <a:noFill/>
        </p:spPr>
        <p:txBody>
          <a:bodyPr wrap="none" lIns="0" tIns="0" rIns="0" bIns="0">
            <a:spAutoFit/>
          </a:bodyPr>
          <a:lstStyle/>
          <a:p>
            <a:r>
              <a:rPr sz="1150" b="0">
                <a:solidFill>
                  <a:srgbClr val="2E2E2E"/>
                </a:solidFill>
                <a:latin typeface="Calibri"/>
              </a:rPr>
              <a:t>to lift blended pricing.</a:t>
            </a:r>
          </a:p>
        </p:txBody>
      </p:sp>
      <p:sp>
        <p:nvSpPr>
          <p:cNvPr id="47" name="TextBox 46"/>
          <p:cNvSpPr txBox="1"/>
          <p:nvPr/>
        </p:nvSpPr>
        <p:spPr>
          <a:xfrm>
            <a:off x="6334125" y="2906426"/>
            <a:ext cx="5219613" cy="194310"/>
          </a:xfrm>
          <a:prstGeom prst="rect">
            <a:avLst/>
          </a:prstGeom>
          <a:noFill/>
        </p:spPr>
        <p:txBody>
          <a:bodyPr wrap="none" lIns="0" tIns="0" rIns="0" bIns="0">
            <a:spAutoFit/>
          </a:bodyPr>
          <a:lstStyle/>
          <a:p>
            <a:r>
              <a:rPr sz="1150" b="0">
                <a:solidFill>
                  <a:srgbClr val="2E2E2E"/>
                </a:solidFill>
                <a:latin typeface="Calibri"/>
              </a:rPr>
              <a:t>▪ Deepen presence in 'North America'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tIns="0" r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tIns="0" r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tIns="0" r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tIns="0" r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tIns="0" r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tIns="0" rIns="0" bIns="0">
            <a:spAutoFit/>
          </a:bodyPr>
          <a:lstStyle/>
          <a:p>
            <a:r>
              <a:rPr sz="1150" b="0">
                <a:solidFill>
                  <a:srgbClr val="2E2E2E"/>
                </a:solidFill>
                <a:latin typeface="Calibri"/>
              </a:rPr>
              <a:t>▪ Sharpen go-to-market a ~95-day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tIns="0" rIns="0" bIns="0">
            <a:spAutoFit/>
          </a:bodyPr>
          <a:lstStyle/>
          <a:p>
            <a:r>
              <a:rPr sz="1150" b="0">
                <a:solidFill>
                  <a:srgbClr val="2E2E2E"/>
                </a:solidFill>
                <a:latin typeface="Calibri"/>
              </a:rPr>
              <a:t>conversion speed share capture.</a:t>
            </a:r>
          </a:p>
        </p:txBody>
      </p:sp>
    </p:spTree>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Company Executive Market Snapshot (1/5)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Executive snapshot and strategic positioning Company: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a:p>
            <a:pPr algn="ctr">
              <a:lnSpc>
                <a:spcPct val="95000"/>
              </a:lnSpc>
            </a:pPr>
            <a:endParaRP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38125" y="2123126"/>
            <a:ext cx="36385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xmlns:r="http://schemas.openxmlformats.org/officeDocument/2006/relationships" r:id="rId4"/>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4219575" y="2123126"/>
            <a:ext cx="36385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xmlns:r="http://schemas.openxmlformats.org/officeDocument/2006/relationships" r:id="rId5"/>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8201025" y="2123126"/>
            <a:ext cx="37528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xmlns:r="http://schemas.openxmlformats.org/officeDocument/2006/relationships" r:id="rId6"/>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276225" y="4871502"/>
            <a:ext cx="116395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276225" y="5195352"/>
            <a:ext cx="11639550" cy="1321341"/>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9" name="TextBox 2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210462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6086073" y="3299104"/>
            <a:ext cx="197242" cy="286897"/>
          </a:xfrm>
          <a:prstGeom prst="rect">
            <a:avLst/>
          </a:prstGeom>
        </p:spPr>
      </p:pic>
      <p:pic>
        <p:nvPicPr>
          <p:cNvPr id="36" name="Picture 35" descr="lock.png"/>
          <p:cNvPicPr>
            <a:picLocks noChangeAspect="1"/>
          </p:cNvPicPr>
          <p:nvPr/>
        </p:nvPicPr>
        <p:blipFill>
          <a:blip r:embed="rId7"/>
          <a:stretch>
            <a:fillRect/>
          </a:stretch>
        </p:blipFill>
        <p:spPr>
          <a:xfrm>
            <a:off x="9278088" y="3145920"/>
            <a:ext cx="444576" cy="646656"/>
          </a:xfrm>
          <a:prstGeom prst="rect">
            <a:avLst/>
          </a:prstGeom>
        </p:spPr>
      </p:pic>
      <p:sp>
        <p:nvSpPr>
          <p:cNvPr id="37" name="TextBox 36"/>
          <p:cNvSpPr txBox="1"/>
          <p:nvPr/>
        </p:nvSpPr>
        <p:spPr>
          <a:xfrm>
            <a:off x="5758516" y="1377568"/>
            <a:ext cx="741641" cy="146456"/>
          </a:xfrm>
          <a:prstGeom prst="rect">
            <a:avLst/>
          </a:prstGeom>
          <a:noFill/>
        </p:spPr>
        <p:txBody>
          <a:bodyPr wrap="none" lIns="0" tIns="0" rIns="0" bIns="0">
            <a:spAutoFit/>
          </a:bodyPr>
          <a:lstStyle/>
          <a:p>
            <a:r>
              <a:rPr sz="835" b="1">
                <a:solidFill>
                  <a:srgbClr val="6C7A89"/>
                </a:solidFill>
                <a:latin typeface="Calibri"/>
              </a:rPr>
              <a:t>SOM (US$ MN)</a:t>
            </a:r>
          </a:p>
        </p:txBody>
      </p:sp>
      <p:pic>
        <p:nvPicPr>
          <p:cNvPr id="38" name="Picture 37" descr="lock.png"/>
          <p:cNvPicPr>
            <a:picLocks noChangeAspect="1"/>
          </p:cNvPicPr>
          <p:nvPr/>
        </p:nvPicPr>
        <p:blipFill>
          <a:blip r:embed="rId7"/>
          <a:stretch>
            <a:fillRect/>
          </a:stretch>
        </p:blipFill>
        <p:spPr>
          <a:xfrm>
            <a:off x="6017010" y="1533061"/>
            <a:ext cx="133378" cy="194005"/>
          </a:xfrm>
          <a:prstGeom prst="rect">
            <a:avLst/>
          </a:prstGeom>
        </p:spPr>
      </p:pic>
      <p:pic>
        <p:nvPicPr>
          <p:cNvPr id="39" name="Picture 38" descr="lock.png"/>
          <p:cNvPicPr>
            <a:picLocks noChangeAspect="1"/>
          </p:cNvPicPr>
          <p:nvPr/>
        </p:nvPicPr>
        <p:blipFill>
          <a:blip r:embed="rId7"/>
          <a:stretch>
            <a:fillRect/>
          </a:stretch>
        </p:blipFill>
        <p:spPr>
          <a:xfrm>
            <a:off x="5865805" y="1761621"/>
            <a:ext cx="97811" cy="142270"/>
          </a:xfrm>
          <a:prstGeom prst="rect">
            <a:avLst/>
          </a:prstGeom>
        </p:spPr>
      </p:pic>
      <p:sp>
        <p:nvSpPr>
          <p:cNvPr id="40" name="TextBox 39"/>
          <p:cNvSpPr txBox="1"/>
          <p:nvPr/>
        </p:nvSpPr>
        <p:spPr>
          <a:xfrm>
            <a:off x="5993102" y="1769053"/>
            <a:ext cx="389531" cy="146456"/>
          </a:xfrm>
          <a:prstGeom prst="rect">
            <a:avLst/>
          </a:prstGeom>
          <a:noFill/>
        </p:spPr>
        <p:txBody>
          <a:bodyPr wrap="none" lIns="0" tIns="0" rIns="0" bIns="0">
            <a:spAutoFit/>
          </a:bodyPr>
          <a:lstStyle/>
          <a:p>
            <a:r>
              <a:rPr sz="835" b="0">
                <a:solidFill>
                  <a:srgbClr val="6C7A89"/>
                </a:solidFill>
                <a:latin typeface="Calibri"/>
              </a:rPr>
              <a:t>of SAM</a:t>
            </a:r>
          </a:p>
        </p:txBody>
      </p:sp>
      <p:sp>
        <p:nvSpPr>
          <p:cNvPr id="41" name="TextBox 40"/>
          <p:cNvSpPr txBox="1"/>
          <p:nvPr/>
        </p:nvSpPr>
        <p:spPr>
          <a:xfrm>
            <a:off x="276225" y="5204877"/>
            <a:ext cx="2395314" cy="194310"/>
          </a:xfrm>
          <a:prstGeom prst="rect">
            <a:avLst/>
          </a:prstGeom>
          <a:noFill/>
        </p:spPr>
        <p:txBody>
          <a:bodyPr wrap="none" lIns="0" tIns="0" rIns="0" bIns="0">
            <a:spAutoFit/>
          </a:bodyPr>
          <a:lstStyle/>
          <a:p>
            <a:r>
              <a:rPr sz="1150" b="0">
                <a:solidFill>
                  <a:srgbClr val="2E2E2E"/>
                </a:solidFill>
                <a:latin typeface="Calibri"/>
              </a:rPr>
              <a:t>▪ Market Position: Company captures ~</a:t>
            </a:r>
          </a:p>
        </p:txBody>
      </p:sp>
      <p:pic>
        <p:nvPicPr>
          <p:cNvPr id="42" name="Picture 41" descr="lock.png"/>
          <p:cNvPicPr>
            <a:picLocks noChangeAspect="1"/>
          </p:cNvPicPr>
          <p:nvPr/>
        </p:nvPicPr>
        <p:blipFill>
          <a:blip r:embed="rId7"/>
          <a:stretch>
            <a:fillRect/>
          </a:stretch>
        </p:blipFill>
        <p:spPr>
          <a:xfrm>
            <a:off x="2620693" y="5194653"/>
            <a:ext cx="134549" cy="195707"/>
          </a:xfrm>
          <a:prstGeom prst="rect">
            <a:avLst/>
          </a:prstGeom>
        </p:spPr>
      </p:pic>
      <p:sp>
        <p:nvSpPr>
          <p:cNvPr id="43" name="TextBox 42"/>
          <p:cNvSpPr txBox="1"/>
          <p:nvPr/>
        </p:nvSpPr>
        <p:spPr>
          <a:xfrm>
            <a:off x="2795802" y="5204877"/>
            <a:ext cx="4569519" cy="194310"/>
          </a:xfrm>
          <a:prstGeom prst="rect">
            <a:avLst/>
          </a:prstGeom>
          <a:noFill/>
        </p:spPr>
        <p:txBody>
          <a:bodyPr wrap="none" lIns="0" tIns="0" rIns="0" bIns="0">
            <a:spAutoFit/>
          </a:bodyPr>
          <a:lstStyle/>
          <a:p>
            <a:r>
              <a:rPr sz="1150" b="0">
                <a:solidFill>
                  <a:srgbClr val="2E2E2E"/>
                </a:solidFill>
                <a:latin typeface="Calibri"/>
              </a:rPr>
              <a:t>of a US$ Mn SAM, with its strongest end-market in 'Electronics &amp; Electrical'.</a:t>
            </a:r>
          </a:p>
        </p:txBody>
      </p:sp>
      <p:sp>
        <p:nvSpPr>
          <p:cNvPr id="44" name="TextBox 43"/>
          <p:cNvSpPr txBox="1"/>
          <p:nvPr/>
        </p:nvSpPr>
        <p:spPr>
          <a:xfrm>
            <a:off x="276225" y="5432715"/>
            <a:ext cx="7532737" cy="194310"/>
          </a:xfrm>
          <a:prstGeom prst="rect">
            <a:avLst/>
          </a:prstGeom>
          <a:noFill/>
        </p:spPr>
        <p:txBody>
          <a:bodyPr wrap="none" lIns="0" tIns="0" r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5" name="Picture 44" descr="lock.png"/>
          <p:cNvPicPr>
            <a:picLocks noChangeAspect="1"/>
          </p:cNvPicPr>
          <p:nvPr/>
        </p:nvPicPr>
        <p:blipFill>
          <a:blip r:embed="rId7"/>
          <a:stretch>
            <a:fillRect/>
          </a:stretch>
        </p:blipFill>
        <p:spPr>
          <a:xfrm>
            <a:off x="7758116" y="5422491"/>
            <a:ext cx="134549" cy="195707"/>
          </a:xfrm>
          <a:prstGeom prst="rect">
            <a:avLst/>
          </a:prstGeom>
        </p:spPr>
      </p:pic>
      <p:sp>
        <p:nvSpPr>
          <p:cNvPr id="46" name="TextBox 45"/>
          <p:cNvSpPr txBox="1"/>
          <p:nvPr/>
        </p:nvSpPr>
        <p:spPr>
          <a:xfrm>
            <a:off x="7933225" y="5432715"/>
            <a:ext cx="157212" cy="194310"/>
          </a:xfrm>
          <a:prstGeom prst="rect">
            <a:avLst/>
          </a:prstGeom>
          <a:noFill/>
        </p:spPr>
        <p:txBody>
          <a:bodyPr wrap="none" lIns="0" tIns="0" rIns="0" bIns="0">
            <a:spAutoFit/>
          </a:bodyPr>
          <a:lstStyle/>
          <a:p>
            <a:r>
              <a:rPr sz="1150" b="0">
                <a:solidFill>
                  <a:srgbClr val="2E2E2E"/>
                </a:solidFill>
                <a:latin typeface="Calibri"/>
              </a:rPr>
              <a:t>).</a:t>
            </a:r>
          </a:p>
        </p:txBody>
      </p:sp>
      <p:sp>
        <p:nvSpPr>
          <p:cNvPr id="47" name="TextBox 46"/>
          <p:cNvSpPr txBox="1"/>
          <p:nvPr/>
        </p:nvSpPr>
        <p:spPr>
          <a:xfrm>
            <a:off x="276225" y="5660552"/>
            <a:ext cx="1391791" cy="194310"/>
          </a:xfrm>
          <a:prstGeom prst="rect">
            <a:avLst/>
          </a:prstGeom>
          <a:noFill/>
        </p:spPr>
        <p:txBody>
          <a:bodyPr wrap="none" lIns="0" tIns="0" rIns="0" bIns="0">
            <a:spAutoFit/>
          </a:bodyPr>
          <a:lstStyle/>
          <a:p>
            <a:r>
              <a:rPr sz="1150" b="0">
                <a:solidFill>
                  <a:srgbClr val="2E2E2E"/>
                </a:solidFill>
                <a:latin typeface="Calibri"/>
              </a:rPr>
              <a:t>▪ Growth Trajectory: a</a:t>
            </a:r>
          </a:p>
        </p:txBody>
      </p:sp>
      <p:pic>
        <p:nvPicPr>
          <p:cNvPr id="48" name="Picture 47" descr="lock.png"/>
          <p:cNvPicPr>
            <a:picLocks noChangeAspect="1"/>
          </p:cNvPicPr>
          <p:nvPr/>
        </p:nvPicPr>
        <p:blipFill>
          <a:blip r:embed="rId7"/>
          <a:stretch>
            <a:fillRect/>
          </a:stretch>
        </p:blipFill>
        <p:spPr>
          <a:xfrm>
            <a:off x="1617169" y="5650329"/>
            <a:ext cx="134549" cy="195707"/>
          </a:xfrm>
          <a:prstGeom prst="rect">
            <a:avLst/>
          </a:prstGeom>
        </p:spPr>
      </p:pic>
      <p:sp>
        <p:nvSpPr>
          <p:cNvPr id="49" name="TextBox 48"/>
          <p:cNvSpPr txBox="1"/>
          <p:nvPr/>
        </p:nvSpPr>
        <p:spPr>
          <a:xfrm>
            <a:off x="1792279" y="5660552"/>
            <a:ext cx="1129072" cy="194310"/>
          </a:xfrm>
          <a:prstGeom prst="rect">
            <a:avLst/>
          </a:prstGeom>
          <a:noFill/>
        </p:spPr>
        <p:txBody>
          <a:bodyPr wrap="none" lIns="0" tIns="0" rIns="0" bIns="0">
            <a:spAutoFit/>
          </a:bodyPr>
          <a:lstStyle/>
          <a:p>
            <a:r>
              <a:rPr sz="1150" b="0">
                <a:solidFill>
                  <a:srgbClr val="2E2E2E"/>
                </a:solidFill>
                <a:latin typeface="Calibri"/>
              </a:rPr>
              <a:t>book-to-bill and ~</a:t>
            </a:r>
          </a:p>
        </p:txBody>
      </p:sp>
      <p:pic>
        <p:nvPicPr>
          <p:cNvPr id="50" name="Picture 49" descr="lock.png"/>
          <p:cNvPicPr>
            <a:picLocks noChangeAspect="1"/>
          </p:cNvPicPr>
          <p:nvPr/>
        </p:nvPicPr>
        <p:blipFill>
          <a:blip r:embed="rId7"/>
          <a:stretch>
            <a:fillRect/>
          </a:stretch>
        </p:blipFill>
        <p:spPr>
          <a:xfrm>
            <a:off x="2870505" y="5650329"/>
            <a:ext cx="134549" cy="195707"/>
          </a:xfrm>
          <a:prstGeom prst="rect">
            <a:avLst/>
          </a:prstGeom>
        </p:spPr>
      </p:pic>
      <p:sp>
        <p:nvSpPr>
          <p:cNvPr id="51" name="TextBox 50"/>
          <p:cNvSpPr txBox="1"/>
          <p:nvPr/>
        </p:nvSpPr>
        <p:spPr>
          <a:xfrm>
            <a:off x="3045614" y="5660552"/>
            <a:ext cx="4503594" cy="194310"/>
          </a:xfrm>
          <a:prstGeom prst="rect">
            <a:avLst/>
          </a:prstGeom>
          <a:noFill/>
        </p:spPr>
        <p:txBody>
          <a:bodyPr wrap="none" lIns="0" tIns="0" rIns="0" bIns="0">
            <a:spAutoFit/>
          </a:bodyPr>
          <a:lstStyle/>
          <a:p>
            <a:r>
              <a:rPr sz="1150" b="0">
                <a:solidFill>
                  <a:srgbClr val="2E2E2E"/>
                </a:solidFill>
                <a:latin typeface="Calibri"/>
              </a:rPr>
              <a:t>EBITDA margin point to a path to capture more of the addressable market.</a:t>
            </a:r>
          </a:p>
        </p:txBody>
      </p:sp>
      <p:sp>
        <p:nvSpPr>
          <p:cNvPr id="52" name="TextBox 51"/>
          <p:cNvSpPr txBox="1"/>
          <p:nvPr/>
        </p:nvSpPr>
        <p:spPr>
          <a:xfrm>
            <a:off x="276225" y="5888390"/>
            <a:ext cx="1353535" cy="194310"/>
          </a:xfrm>
          <a:prstGeom prst="rect">
            <a:avLst/>
          </a:prstGeom>
          <a:noFill/>
        </p:spPr>
        <p:txBody>
          <a:bodyPr wrap="none" lIns="0" tIns="0" rIns="0" bIns="0">
            <a:spAutoFit/>
          </a:bodyPr>
          <a:lstStyle/>
          <a:p>
            <a:r>
              <a:rPr sz="1150" b="0">
                <a:solidFill>
                  <a:srgbClr val="2E2E2E"/>
                </a:solidFill>
                <a:latin typeface="Calibri"/>
              </a:rPr>
              <a:t>▪ Competitive Edge: ~</a:t>
            </a:r>
          </a:p>
        </p:txBody>
      </p:sp>
      <p:pic>
        <p:nvPicPr>
          <p:cNvPr id="53" name="Picture 52" descr="lock.png"/>
          <p:cNvPicPr>
            <a:picLocks noChangeAspect="1"/>
          </p:cNvPicPr>
          <p:nvPr/>
        </p:nvPicPr>
        <p:blipFill>
          <a:blip r:embed="rId7"/>
          <a:stretch>
            <a:fillRect/>
          </a:stretch>
        </p:blipFill>
        <p:spPr>
          <a:xfrm>
            <a:off x="1578914" y="5878167"/>
            <a:ext cx="134549" cy="195707"/>
          </a:xfrm>
          <a:prstGeom prst="rect">
            <a:avLst/>
          </a:prstGeom>
        </p:spPr>
      </p:pic>
      <p:sp>
        <p:nvSpPr>
          <p:cNvPr id="54" name="TextBox 53"/>
          <p:cNvSpPr txBox="1"/>
          <p:nvPr/>
        </p:nvSpPr>
        <p:spPr>
          <a:xfrm>
            <a:off x="1754024" y="5888390"/>
            <a:ext cx="1072591" cy="194310"/>
          </a:xfrm>
          <a:prstGeom prst="rect">
            <a:avLst/>
          </a:prstGeom>
          <a:noFill/>
        </p:spPr>
        <p:txBody>
          <a:bodyPr wrap="none" lIns="0" tIns="0" rIns="0" bIns="0">
            <a:spAutoFit/>
          </a:bodyPr>
          <a:lstStyle/>
          <a:p>
            <a:r>
              <a:rPr sz="1150" b="0">
                <a:solidFill>
                  <a:srgbClr val="2E2E2E"/>
                </a:solidFill>
                <a:latin typeface="Calibri"/>
              </a:rPr>
              <a:t>win rate with a +</a:t>
            </a:r>
          </a:p>
        </p:txBody>
      </p:sp>
      <p:pic>
        <p:nvPicPr>
          <p:cNvPr id="55" name="Picture 54" descr="lock.png"/>
          <p:cNvPicPr>
            <a:picLocks noChangeAspect="1"/>
          </p:cNvPicPr>
          <p:nvPr/>
        </p:nvPicPr>
        <p:blipFill>
          <a:blip r:embed="rId7"/>
          <a:stretch>
            <a:fillRect/>
          </a:stretch>
        </p:blipFill>
        <p:spPr>
          <a:xfrm>
            <a:off x="2775769" y="5878167"/>
            <a:ext cx="134549" cy="195707"/>
          </a:xfrm>
          <a:prstGeom prst="rect">
            <a:avLst/>
          </a:prstGeom>
        </p:spPr>
      </p:pic>
      <p:sp>
        <p:nvSpPr>
          <p:cNvPr id="56" name="TextBox 55"/>
          <p:cNvSpPr txBox="1"/>
          <p:nvPr/>
        </p:nvSpPr>
        <p:spPr>
          <a:xfrm>
            <a:off x="2950879" y="5888390"/>
            <a:ext cx="1137059" cy="194310"/>
          </a:xfrm>
          <a:prstGeom prst="rect">
            <a:avLst/>
          </a:prstGeom>
          <a:noFill/>
        </p:spPr>
        <p:txBody>
          <a:bodyPr wrap="none" lIns="0" tIns="0" rIns="0" bIns="0">
            <a:spAutoFit/>
          </a:bodyPr>
          <a:lstStyle/>
          <a:p>
            <a:r>
              <a:rPr sz="1150" b="0">
                <a:solidFill>
                  <a:srgbClr val="2E2E2E"/>
                </a:solidFill>
                <a:latin typeface="Calibri"/>
              </a:rPr>
              <a:t>ASP premium and</a:t>
            </a:r>
          </a:p>
        </p:txBody>
      </p:sp>
      <p:pic>
        <p:nvPicPr>
          <p:cNvPr id="57" name="Picture 56" descr="lock.png"/>
          <p:cNvPicPr>
            <a:picLocks noChangeAspect="1"/>
          </p:cNvPicPr>
          <p:nvPr/>
        </p:nvPicPr>
        <p:blipFill>
          <a:blip r:embed="rId7"/>
          <a:stretch>
            <a:fillRect/>
          </a:stretch>
        </p:blipFill>
        <p:spPr>
          <a:xfrm>
            <a:off x="4037092" y="5878167"/>
            <a:ext cx="134549" cy="195707"/>
          </a:xfrm>
          <a:prstGeom prst="rect">
            <a:avLst/>
          </a:prstGeom>
        </p:spPr>
      </p:pic>
      <p:sp>
        <p:nvSpPr>
          <p:cNvPr id="58" name="TextBox 57"/>
          <p:cNvSpPr txBox="1"/>
          <p:nvPr/>
        </p:nvSpPr>
        <p:spPr>
          <a:xfrm>
            <a:off x="4212201" y="5888390"/>
            <a:ext cx="1259147" cy="194310"/>
          </a:xfrm>
          <a:prstGeom prst="rect">
            <a:avLst/>
          </a:prstGeom>
          <a:noFill/>
        </p:spPr>
        <p:txBody>
          <a:bodyPr wrap="none" lIns="0" tIns="0" rIns="0" bIns="0">
            <a:spAutoFit/>
          </a:bodyPr>
          <a:lstStyle/>
          <a:p>
            <a:r>
              <a:rPr sz="1150" b="0">
                <a:solidFill>
                  <a:srgbClr val="2E2E2E"/>
                </a:solidFill>
                <a:latin typeface="Calibri"/>
              </a:rPr>
              <a:t>x pipeline coverage.</a:t>
            </a:r>
          </a:p>
        </p:txBody>
      </p:sp>
      <p:sp>
        <p:nvSpPr>
          <p:cNvPr id="59"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Company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Regional penetration and competitive positioning Company: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56470"/>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57925" y="1356470"/>
            <a:ext cx="56959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tIns="0" r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tIns="0" r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tIns="0" r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tIns="0" r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tIns="9525" rIns="2857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tIns="9525" rIns="2857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7915438" y="2017974"/>
            <a:ext cx="1428750" cy="171450"/>
          </a:xfrm>
          <a:prstGeom prst="rect">
            <a:avLst/>
          </a:prstGeom>
          <a:noFill/>
        </p:spPr>
        <p:txBody>
          <a:bodyPr wrap="square" lIns="28575" tIns="9525" rIns="28575" bIns="9525" anchor="ctr">
            <a:spAutoFit/>
          </a:bodyPr>
          <a:lstStyle/>
          <a:p>
            <a:pPr algn="l"/>
            <a:r>
              <a:rPr sz="1100" b="1">
                <a:solidFill>
                  <a:srgbClr val="2E2E2E"/>
                </a:solidFill>
                <a:latin typeface="Calibri"/>
              </a:rPr>
              <a:t>Company</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9626509" y="1979485"/>
            <a:ext cx="1428750" cy="171450"/>
          </a:xfrm>
          <a:prstGeom prst="rect">
            <a:avLst/>
          </a:prstGeom>
          <a:noFill/>
        </p:spPr>
        <p:txBody>
          <a:bodyPr wrap="square" lIns="28575" tIns="9525" rIns="2857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10706100" y="2749264"/>
            <a:ext cx="1428750" cy="171450"/>
          </a:xfrm>
          <a:prstGeom prst="rect">
            <a:avLst/>
          </a:prstGeom>
          <a:noFill/>
        </p:spPr>
        <p:txBody>
          <a:bodyPr wrap="square" lIns="28575" tIns="9525" rIns="2857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38125" y="3692944"/>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114300" tIns="19050" rIns="57150" bIns="19050" rtlCol="0" anchor="ctr"/>
          <a:lstStyle/>
          <a:p>
            <a:pPr algn="l"/>
            <a:endParaRP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114300" tIns="19050" rIns="57150" bIns="19050" rtlCol="0" anchor="ctr"/>
          <a:lstStyle/>
          <a:p>
            <a:pPr algn="l"/>
            <a:endParaRP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114300" tIns="19050" rIns="57150" bIns="19050" rtlCol="0" anchor="ctr"/>
          <a:lstStyle/>
          <a:p>
            <a:pPr algn="l"/>
            <a:endParaRP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6257925" y="3692944"/>
            <a:ext cx="56959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10506075" y="3912019"/>
            <a:ext cx="571500" cy="133350"/>
          </a:xfrm>
          <a:prstGeom prst="rect">
            <a:avLst/>
          </a:prstGeom>
          <a:noFill/>
        </p:spPr>
        <p:txBody>
          <a:bodyPr wrap="square" lIns="28575" tIns="9525" rIns="2857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11249025" y="3912019"/>
            <a:ext cx="571500" cy="133350"/>
          </a:xfrm>
          <a:prstGeom prst="rect">
            <a:avLst/>
          </a:prstGeom>
          <a:noFill/>
        </p:spPr>
        <p:txBody>
          <a:bodyPr wrap="square" lIns="28575" tIns="9525" rIns="2857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tIns="9525" rIns="2857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6276975" y="4466337"/>
            <a:ext cx="1066800" cy="228600"/>
          </a:xfrm>
          <a:prstGeom prst="rect">
            <a:avLst/>
          </a:prstGeom>
          <a:noFill/>
        </p:spPr>
        <p:txBody>
          <a:bodyPr wrap="square" lIns="28575" tIns="9525" rIns="2857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6276975" y="4778732"/>
            <a:ext cx="1066800" cy="228600"/>
          </a:xfrm>
          <a:prstGeom prst="rect">
            <a:avLst/>
          </a:prstGeom>
          <a:noFill/>
        </p:spPr>
        <p:txBody>
          <a:bodyPr wrap="square" lIns="28575" tIns="9525" rIns="2857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276225" y="5455620"/>
            <a:ext cx="116395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276225" y="5779470"/>
            <a:ext cx="11639550" cy="77373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4" name="TextBox 5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tIns="0" r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tIns="0" r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tIns="0" r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tIns="0" r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tIns="0" r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tIns="0" r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tIns="0" r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tIns="0" r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tIns="0" r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tIns="0" r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tIns="0" r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tIns="0" r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tIns="0" r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tIns="0" rIns="0" bIns="0">
            <a:spAutoFit/>
          </a:bodyPr>
          <a:lstStyle/>
          <a:p>
            <a:r>
              <a:rPr sz="1100" b="0">
                <a:solidFill>
                  <a:srgbClr val="2E2E2E"/>
                </a:solidFill>
                <a:latin typeface="Calibri"/>
              </a:rPr>
              <a:t>▪ Sales Efficiency: a ~90-day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tIns="0" r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Company SWOT Analysis (3/5)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SWOT assessment of Company: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tIns="9525" rIns="28575" bIns="9525" anchor="ctr">
            <a:spAutoFit/>
          </a:bodyPr>
          <a:lstStyle/>
          <a:p>
            <a:pPr algn="l"/>
            <a:r>
              <a:rPr sz="1150" b="0">
                <a:solidFill>
                  <a:srgbClr val="2E2E2E"/>
                </a:solidFill>
                <a:latin typeface="Calibri"/>
              </a:rPr>
              <a:t>SWOT assessment Company: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5886450" y="3243339"/>
            <a:ext cx="419100" cy="273805"/>
          </a:xfrm>
          <a:prstGeom prst="rect">
            <a:avLst/>
          </a:prstGeom>
          <a:noFill/>
        </p:spPr>
        <p:txBody>
          <a:bodyPr wrap="none" lIns="0" tIns="0" r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tIns="0" r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tIns="0" r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tIns="0" r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tIns="9525" rIns="2857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TextBox 31"/>
          <p:cNvSpPr txBox="1"/>
          <p:nvPr/>
        </p:nvSpPr>
        <p:spPr>
          <a:xfrm>
            <a:off x="333375" y="1573126"/>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333375" y="2084229"/>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333375" y="2595333"/>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37" name="TextBox 36"/>
          <p:cNvSpPr txBox="1"/>
          <p:nvPr/>
        </p:nvSpPr>
        <p:spPr>
          <a:xfrm>
            <a:off x="8334375" y="1299320"/>
            <a:ext cx="3667125" cy="182537"/>
          </a:xfrm>
          <a:prstGeom prst="rect">
            <a:avLst/>
          </a:prstGeom>
          <a:noFill/>
        </p:spPr>
        <p:txBody>
          <a:bodyPr wrap="square" lIns="28575" tIns="9525" rIns="2857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8477250" y="1573126"/>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8477250" y="2084229"/>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8477250" y="2595333"/>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tIns="9525" rIns="2857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333375" y="4329434"/>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333375" y="4840538"/>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333375" y="5351641"/>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tIns="9525" rIns="2857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8477250" y="4329434"/>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Premiumisation headroom in 'Flat Dividers &amp; Layer Pads'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TextBox 57"/>
          <p:cNvSpPr txBox="1"/>
          <p:nvPr/>
        </p:nvSpPr>
        <p:spPr>
          <a:xfrm>
            <a:off x="8477250" y="4840538"/>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8477250" y="5351641"/>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tIns="9525" rIns="2857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tIns="0" r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tIns="0" r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tIns="0" r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tIns="0" r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tIns="0" r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tIns="0" r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tIns="0" r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tIns="0" r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tIns="0" rIns="0" bIns="0">
            <a:spAutoFit/>
          </a:bodyPr>
          <a:lstStyle/>
          <a:p>
            <a:r>
              <a:rPr sz="1100" b="0">
                <a:solidFill>
                  <a:srgbClr val="2E2E2E"/>
                </a:solidFill>
                <a:latin typeface="Calibri"/>
              </a:rPr>
              <a:t>x pipeline needed to convert.</a:t>
            </a:r>
          </a:p>
        </p:txBody>
      </p:sp>
    </p:spTree>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Company Key Financials (4/5)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Company's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Key financials and pricing Company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411231"/>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Company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extLst>
                    <a:ext uri="{9D8B030D-6E8A-4147-A177-3AD203B41FA5}">
                      <a16:colId xmlns:a16="http://schemas.microsoft.com/office/drawing/2014/main" val="20000"/>
                    </a:ext>
                  </a:extLst>
                </a:gridCol>
                <a:gridCol w="687960">
                  <a:extLst>
                    <a:ext uri="{9D8B030D-6E8A-4147-A177-3AD203B41FA5}">
                      <a16:colId xmlns:a16="http://schemas.microsoft.com/office/drawing/2014/main" val="20001"/>
                    </a:ext>
                  </a:extLst>
                </a:gridCol>
                <a:gridCol w="687960">
                  <a:extLst>
                    <a:ext uri="{9D8B030D-6E8A-4147-A177-3AD203B41FA5}">
                      <a16:colId xmlns:a16="http://schemas.microsoft.com/office/drawing/2014/main" val="20002"/>
                    </a:ext>
                  </a:extLst>
                </a:gridCol>
                <a:gridCol w="687960">
                  <a:extLst>
                    <a:ext uri="{9D8B030D-6E8A-4147-A177-3AD203B41FA5}">
                      <a16:colId xmlns:a16="http://schemas.microsoft.com/office/drawing/2014/main" val="20003"/>
                    </a:ext>
                  </a:extLst>
                </a:gridCol>
                <a:gridCol w="687960">
                  <a:extLst>
                    <a:ext uri="{9D8B030D-6E8A-4147-A177-3AD203B41FA5}">
                      <a16:colId xmlns:a16="http://schemas.microsoft.com/office/drawing/2014/main" val="20004"/>
                    </a:ext>
                  </a:extLst>
                </a:gridCol>
                <a:gridCol w="687960">
                  <a:extLst>
                    <a:ext uri="{9D8B030D-6E8A-4147-A177-3AD203B41FA5}">
                      <a16:colId xmlns:a16="http://schemas.microsoft.com/office/drawing/2014/main" val="20005"/>
                    </a:ext>
                  </a:extLst>
                </a:gridCol>
              </a:tblGrid>
              <a:tr h="246126">
                <a:tc>
                  <a:txBody>
                    <a:bodyPr/>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300947">
                <a:tc>
                  <a:txBody>
                    <a:bodyPr/>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300947">
                <a:tc>
                  <a:txBody>
                    <a:bodyPr/>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300947">
                <a:tc>
                  <a:txBody>
                    <a:bodyPr/>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300947">
                <a:tc>
                  <a:txBody>
                    <a:bodyPr/>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3070695"/>
            <a:ext cx="575310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455645"/>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Company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extLst>
                    <a:ext uri="{9D8B030D-6E8A-4147-A177-3AD203B41FA5}">
                      <a16:colId xmlns:a16="http://schemas.microsoft.com/office/drawing/2014/main" val="20000"/>
                    </a:ext>
                  </a:extLst>
                </a:gridCol>
                <a:gridCol w="805438">
                  <a:extLst>
                    <a:ext uri="{9D8B030D-6E8A-4147-A177-3AD203B41FA5}">
                      <a16:colId xmlns:a16="http://schemas.microsoft.com/office/drawing/2014/main" val="20001"/>
                    </a:ext>
                  </a:extLst>
                </a:gridCol>
                <a:gridCol w="805438">
                  <a:extLst>
                    <a:ext uri="{9D8B030D-6E8A-4147-A177-3AD203B41FA5}">
                      <a16:colId xmlns:a16="http://schemas.microsoft.com/office/drawing/2014/main" val="20002"/>
                    </a:ext>
                  </a:extLst>
                </a:gridCol>
                <a:gridCol w="805438">
                  <a:extLst>
                    <a:ext uri="{9D8B030D-6E8A-4147-A177-3AD203B41FA5}">
                      <a16:colId xmlns:a16="http://schemas.microsoft.com/office/drawing/2014/main" val="20003"/>
                    </a:ext>
                  </a:extLst>
                </a:gridCol>
                <a:gridCol w="805438">
                  <a:extLst>
                    <a:ext uri="{9D8B030D-6E8A-4147-A177-3AD203B41FA5}">
                      <a16:colId xmlns:a16="http://schemas.microsoft.com/office/drawing/2014/main" val="20004"/>
                    </a:ext>
                  </a:extLst>
                </a:gridCol>
                <a:gridCol w="805438">
                  <a:extLst>
                    <a:ext uri="{9D8B030D-6E8A-4147-A177-3AD203B41FA5}">
                      <a16:colId xmlns:a16="http://schemas.microsoft.com/office/drawing/2014/main" val="20005"/>
                    </a:ext>
                  </a:extLst>
                </a:gridCol>
              </a:tblGrid>
              <a:tr h="246126">
                <a:tc>
                  <a:txBody>
                    <a:bodyPr/>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496309">
                <a:tc>
                  <a:txBody>
                    <a:bodyPr/>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496309">
                <a:tc>
                  <a:txBody>
                    <a:bodyPr/>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496309">
                <a:tc>
                  <a:txBody>
                    <a:bodyPr/>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496309">
                <a:tc>
                  <a:txBody>
                    <a:bodyPr/>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496309">
                <a:tc>
                  <a:txBody>
                    <a:bodyPr/>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bl>
          </a:graphicData>
        </a:graphic>
      </p:graphicFrame>
      <p:sp>
        <p:nvSpPr>
          <p:cNvPr id="18" name="TextBox 17"/>
          <p:cNvSpPr txBox="1"/>
          <p:nvPr/>
        </p:nvSpPr>
        <p:spPr>
          <a:xfrm>
            <a:off x="219075" y="6392868"/>
            <a:ext cx="575310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296025" y="1411231"/>
            <a:ext cx="56578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Company Pricing Analysis (US$/MT)</a:t>
            </a:r>
          </a:p>
        </p:txBody>
      </p:sp>
      <p:graphicFrame>
        <p:nvGraphicFramePr>
          <p:cNvPr id="21" name="Table 20"/>
          <p:cNvGraphicFramePr>
            <a:graphicFrameLocks noGrp="1"/>
          </p:cNvGraphicFramePr>
          <p:nvPr/>
        </p:nvGraphicFramePr>
        <p:xfrm>
          <a:off x="6210300" y="1611256"/>
          <a:ext cx="5829301" cy="4772085"/>
        </p:xfrm>
        <a:graphic>
          <a:graphicData uri="http://schemas.openxmlformats.org/drawingml/2006/table">
            <a:tbl>
              <a:tblPr>
                <a:tableStyleId>{5C22544A-7EE6-4342-B048-85BDC9FD1C3A}</a:tableStyleId>
              </a:tblPr>
              <a:tblGrid>
                <a:gridCol w="4080993">
                  <a:extLst>
                    <a:ext uri="{9D8B030D-6E8A-4147-A177-3AD203B41FA5}">
                      <a16:colId xmlns:a16="http://schemas.microsoft.com/office/drawing/2014/main" val="20000"/>
                    </a:ext>
                  </a:extLst>
                </a:gridCol>
                <a:gridCol w="874154">
                  <a:extLst>
                    <a:ext uri="{9D8B030D-6E8A-4147-A177-3AD203B41FA5}">
                      <a16:colId xmlns:a16="http://schemas.microsoft.com/office/drawing/2014/main" val="20001"/>
                    </a:ext>
                  </a:extLst>
                </a:gridCol>
                <a:gridCol w="874154">
                  <a:extLst>
                    <a:ext uri="{9D8B030D-6E8A-4147-A177-3AD203B41FA5}">
                      <a16:colId xmlns:a16="http://schemas.microsoft.com/office/drawing/2014/main" val="20002"/>
                    </a:ext>
                  </a:extLst>
                </a:gridCol>
              </a:tblGrid>
              <a:tr h="246126">
                <a:tc>
                  <a:txBody>
                    <a:bodyPr/>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1508653">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1508653">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1508653">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22" name="TextBox 21"/>
          <p:cNvSpPr txBox="1"/>
          <p:nvPr/>
        </p:nvSpPr>
        <p:spPr>
          <a:xfrm>
            <a:off x="6276975" y="6392868"/>
            <a:ext cx="56959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978757" y="3853661"/>
            <a:ext cx="366712" cy="533399"/>
          </a:xfrm>
          <a:prstGeom prst="rect">
            <a:avLst/>
          </a:prstGeom>
        </p:spPr>
      </p:pic>
    </p:spTree>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Company Strategy Analysis (5/5)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Company's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Strategy analysis Company: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76225" y="2169954"/>
            <a:ext cx="5638800" cy="209550"/>
          </a:xfrm>
          <a:prstGeom prst="rect">
            <a:avLst/>
          </a:prstGeom>
          <a:noFill/>
        </p:spPr>
        <p:txBody>
          <a:bodyPr wrap="square" lIns="0" tIns="9525" rIns="19050"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76225" y="2493804"/>
            <a:ext cx="5638800" cy="400463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334125" y="2169954"/>
            <a:ext cx="5581650" cy="209550"/>
          </a:xfrm>
          <a:prstGeom prst="rect">
            <a:avLst/>
          </a:prstGeom>
          <a:noFill/>
        </p:spPr>
        <p:txBody>
          <a:bodyPr wrap="square" lIns="0" tIns="9525" rIns="19050"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34125" y="2493804"/>
            <a:ext cx="5581650" cy="400463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4" name="TextBox 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545943" cy="194310"/>
          </a:xfrm>
          <a:prstGeom prst="rect">
            <a:avLst/>
          </a:prstGeom>
          <a:noFill/>
        </p:spPr>
        <p:txBody>
          <a:bodyPr wrap="none" lIns="0" tIns="0" rIns="0" bIns="0">
            <a:spAutoFit/>
          </a:bodyPr>
          <a:lstStyle/>
          <a:p>
            <a:r>
              <a:rPr sz="1150" b="0">
                <a:solidFill>
                  <a:srgbClr val="2E2E2E"/>
                </a:solidFill>
                <a:latin typeface="Calibri"/>
              </a:rPr>
              <a:t>▪ Defend and extend leadership in 'Electronics &amp; Electrical' Company's strongest end-market</a:t>
            </a:r>
          </a:p>
        </p:txBody>
      </p:sp>
      <p:sp>
        <p:nvSpPr>
          <p:cNvPr id="31" name="TextBox 30"/>
          <p:cNvSpPr txBox="1"/>
          <p:nvPr/>
        </p:nvSpPr>
        <p:spPr>
          <a:xfrm>
            <a:off x="276225" y="2678589"/>
            <a:ext cx="2444948" cy="194310"/>
          </a:xfrm>
          <a:prstGeom prst="rect">
            <a:avLst/>
          </a:prstGeom>
          <a:noFill/>
        </p:spPr>
        <p:txBody>
          <a:bodyPr wrap="none" lIns="0" tIns="0" rIns="0" bIns="0">
            <a:spAutoFit/>
          </a:bodyPr>
          <a:lstStyle/>
          <a:p>
            <a:r>
              <a:rPr sz="1150" b="0">
                <a:solidFill>
                  <a:srgbClr val="2E2E2E"/>
                </a:solidFill>
                <a:latin typeface="Calibri"/>
              </a:rPr>
              <a:t>while scaling the next-best applications.</a:t>
            </a:r>
          </a:p>
        </p:txBody>
      </p:sp>
      <p:sp>
        <p:nvSpPr>
          <p:cNvPr id="32" name="TextBox 31"/>
          <p:cNvSpPr txBox="1"/>
          <p:nvPr/>
        </p:nvSpPr>
        <p:spPr>
          <a:xfrm>
            <a:off x="276225" y="2906426"/>
            <a:ext cx="909997" cy="194310"/>
          </a:xfrm>
          <a:prstGeom prst="rect">
            <a:avLst/>
          </a:prstGeom>
          <a:noFill/>
        </p:spPr>
        <p:txBody>
          <a:bodyPr wrap="none" lIns="0" tIns="0" r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tIns="0" r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tIns="0" r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tIns="0" r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tIns="0" r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tIns="0" r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tIns="0" r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tIns="0" r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tIns="0" r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04581" cy="194310"/>
          </a:xfrm>
          <a:prstGeom prst="rect">
            <a:avLst/>
          </a:prstGeom>
          <a:noFill/>
        </p:spPr>
        <p:txBody>
          <a:bodyPr wrap="none" lIns="0" tIns="0" rIns="0" bIns="0">
            <a:spAutoFit/>
          </a:bodyPr>
          <a:lstStyle/>
          <a:p>
            <a:r>
              <a:rPr sz="1150" b="0">
                <a:solidFill>
                  <a:srgbClr val="2E2E2E"/>
                </a:solidFill>
                <a:latin typeface="Calibri"/>
              </a:rPr>
              <a:t>▪ Premiumise the portfolio around 'Flat Dividers &amp; Layer Pads' and adjacent high-value lines</a:t>
            </a:r>
          </a:p>
        </p:txBody>
      </p:sp>
      <p:sp>
        <p:nvSpPr>
          <p:cNvPr id="46" name="TextBox 45"/>
          <p:cNvSpPr txBox="1"/>
          <p:nvPr/>
        </p:nvSpPr>
        <p:spPr>
          <a:xfrm>
            <a:off x="6334125" y="2678589"/>
            <a:ext cx="1387797" cy="194310"/>
          </a:xfrm>
          <a:prstGeom prst="rect">
            <a:avLst/>
          </a:prstGeom>
          <a:noFill/>
        </p:spPr>
        <p:txBody>
          <a:bodyPr wrap="none" lIns="0" tIns="0" rIns="0" bIns="0">
            <a:spAutoFit/>
          </a:bodyPr>
          <a:lstStyle/>
          <a:p>
            <a:r>
              <a:rPr sz="1150" b="0">
                <a:solidFill>
                  <a:srgbClr val="2E2E2E"/>
                </a:solidFill>
                <a:latin typeface="Calibri"/>
              </a:rPr>
              <a:t>to lift blended pricing.</a:t>
            </a:r>
          </a:p>
        </p:txBody>
      </p:sp>
      <p:sp>
        <p:nvSpPr>
          <p:cNvPr id="47" name="TextBox 46"/>
          <p:cNvSpPr txBox="1"/>
          <p:nvPr/>
        </p:nvSpPr>
        <p:spPr>
          <a:xfrm>
            <a:off x="6334125" y="2906426"/>
            <a:ext cx="5393903" cy="194310"/>
          </a:xfrm>
          <a:prstGeom prst="rect">
            <a:avLst/>
          </a:prstGeom>
          <a:noFill/>
        </p:spPr>
        <p:txBody>
          <a:bodyPr wrap="none" lIns="0" tIns="0" r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tIns="0" r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tIns="0" r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tIns="0" r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tIns="0" r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tIns="0" r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tIns="0" rIns="0" bIns="0">
            <a:spAutoFit/>
          </a:bodyPr>
          <a:lstStyle/>
          <a:p>
            <a:r>
              <a:rPr sz="1150" b="0">
                <a:solidFill>
                  <a:srgbClr val="2E2E2E"/>
                </a:solidFill>
                <a:latin typeface="Calibri"/>
              </a:rPr>
              <a:t>▪ Sharpen go-to-market a ~90-day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tIns="0" rIns="0" bIns="0">
            <a:spAutoFit/>
          </a:bodyPr>
          <a:lstStyle/>
          <a:p>
            <a:r>
              <a:rPr sz="1150" b="0">
                <a:solidFill>
                  <a:srgbClr val="2E2E2E"/>
                </a:solidFill>
                <a:latin typeface="Calibri"/>
              </a:rPr>
              <a:t>conversion speed share capture.</a:t>
            </a:r>
          </a:p>
        </p:txBody>
      </p:sp>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Great American Paper Inc. Executive Market Snapshot (1/5)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Executive snapshot and strategic positioning Great American Paper Inc.: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endParaRPr/>
          </a:p>
          <a:p>
            <a:pPr algn="ctr">
              <a:lnSpc>
                <a:spcPct val="95000"/>
              </a:lnSpc>
            </a:pPr>
            <a:endParaRPr/>
          </a:p>
          <a:p>
            <a:pPr algn="ctr">
              <a:lnSpc>
                <a:spcPct val="95000"/>
              </a:lnSpc>
            </a:pPr>
            <a:endParaRP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38125" y="2123126"/>
            <a:ext cx="36385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xmlns:r="http://schemas.openxmlformats.org/officeDocument/2006/relationships" r:id="rId4"/>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4219575" y="2123126"/>
            <a:ext cx="36385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xmlns:r="http://schemas.openxmlformats.org/officeDocument/2006/relationships" r:id="rId5"/>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8201025" y="2123126"/>
            <a:ext cx="37528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xmlns:r="http://schemas.openxmlformats.org/officeDocument/2006/relationships" r:id="rId6"/>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6" name="TextBox 25"/>
          <p:cNvSpPr txBox="1"/>
          <p:nvPr/>
        </p:nvSpPr>
        <p:spPr>
          <a:xfrm>
            <a:off x="276225" y="4871502"/>
            <a:ext cx="116395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8" name="TextBox 27"/>
          <p:cNvSpPr txBox="1"/>
          <p:nvPr/>
        </p:nvSpPr>
        <p:spPr>
          <a:xfrm>
            <a:off x="276225" y="5195352"/>
            <a:ext cx="11639550" cy="1321341"/>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9" name="TextBox 28"/>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210462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6086073" y="3299104"/>
            <a:ext cx="197242" cy="286897"/>
          </a:xfrm>
          <a:prstGeom prst="rect">
            <a:avLst/>
          </a:prstGeom>
        </p:spPr>
      </p:pic>
      <p:pic>
        <p:nvPicPr>
          <p:cNvPr id="36" name="Picture 35" descr="lock.png"/>
          <p:cNvPicPr>
            <a:picLocks noChangeAspect="1"/>
          </p:cNvPicPr>
          <p:nvPr/>
        </p:nvPicPr>
        <p:blipFill>
          <a:blip r:embed="rId7"/>
          <a:stretch>
            <a:fillRect/>
          </a:stretch>
        </p:blipFill>
        <p:spPr>
          <a:xfrm>
            <a:off x="9278088" y="3145920"/>
            <a:ext cx="444576" cy="646656"/>
          </a:xfrm>
          <a:prstGeom prst="rect">
            <a:avLst/>
          </a:prstGeom>
        </p:spPr>
      </p:pic>
      <p:sp>
        <p:nvSpPr>
          <p:cNvPr id="37" name="TextBox 36"/>
          <p:cNvSpPr txBox="1"/>
          <p:nvPr/>
        </p:nvSpPr>
        <p:spPr>
          <a:xfrm>
            <a:off x="5758516" y="1377568"/>
            <a:ext cx="741641" cy="146456"/>
          </a:xfrm>
          <a:prstGeom prst="rect">
            <a:avLst/>
          </a:prstGeom>
          <a:noFill/>
        </p:spPr>
        <p:txBody>
          <a:bodyPr wrap="none" lIns="0" tIns="0" rIns="0" bIns="0">
            <a:spAutoFit/>
          </a:bodyPr>
          <a:lstStyle/>
          <a:p>
            <a:r>
              <a:rPr sz="835" b="1">
                <a:solidFill>
                  <a:srgbClr val="6C7A89"/>
                </a:solidFill>
                <a:latin typeface="Calibri"/>
              </a:rPr>
              <a:t>SOM (US$ MN)</a:t>
            </a:r>
          </a:p>
        </p:txBody>
      </p:sp>
      <p:pic>
        <p:nvPicPr>
          <p:cNvPr id="38" name="Picture 37" descr="lock.png"/>
          <p:cNvPicPr>
            <a:picLocks noChangeAspect="1"/>
          </p:cNvPicPr>
          <p:nvPr/>
        </p:nvPicPr>
        <p:blipFill>
          <a:blip r:embed="rId7"/>
          <a:stretch>
            <a:fillRect/>
          </a:stretch>
        </p:blipFill>
        <p:spPr>
          <a:xfrm>
            <a:off x="6017010" y="1533061"/>
            <a:ext cx="133378" cy="194005"/>
          </a:xfrm>
          <a:prstGeom prst="rect">
            <a:avLst/>
          </a:prstGeom>
        </p:spPr>
      </p:pic>
      <p:pic>
        <p:nvPicPr>
          <p:cNvPr id="39" name="Picture 38" descr="lock.png"/>
          <p:cNvPicPr>
            <a:picLocks noChangeAspect="1"/>
          </p:cNvPicPr>
          <p:nvPr/>
        </p:nvPicPr>
        <p:blipFill>
          <a:blip r:embed="rId7"/>
          <a:stretch>
            <a:fillRect/>
          </a:stretch>
        </p:blipFill>
        <p:spPr>
          <a:xfrm>
            <a:off x="5865805" y="1761621"/>
            <a:ext cx="97811" cy="142270"/>
          </a:xfrm>
          <a:prstGeom prst="rect">
            <a:avLst/>
          </a:prstGeom>
        </p:spPr>
      </p:pic>
      <p:sp>
        <p:nvSpPr>
          <p:cNvPr id="40" name="TextBox 39"/>
          <p:cNvSpPr txBox="1"/>
          <p:nvPr/>
        </p:nvSpPr>
        <p:spPr>
          <a:xfrm>
            <a:off x="5993102" y="1769053"/>
            <a:ext cx="389531" cy="146456"/>
          </a:xfrm>
          <a:prstGeom prst="rect">
            <a:avLst/>
          </a:prstGeom>
          <a:noFill/>
        </p:spPr>
        <p:txBody>
          <a:bodyPr wrap="none" lIns="0" tIns="0" rIns="0" bIns="0">
            <a:spAutoFit/>
          </a:bodyPr>
          <a:lstStyle/>
          <a:p>
            <a:r>
              <a:rPr sz="835" b="0">
                <a:solidFill>
                  <a:srgbClr val="6C7A89"/>
                </a:solidFill>
                <a:latin typeface="Calibri"/>
              </a:rPr>
              <a:t>of SAM</a:t>
            </a:r>
          </a:p>
        </p:txBody>
      </p:sp>
      <p:sp>
        <p:nvSpPr>
          <p:cNvPr id="41" name="TextBox 40"/>
          <p:cNvSpPr txBox="1"/>
          <p:nvPr/>
        </p:nvSpPr>
        <p:spPr>
          <a:xfrm>
            <a:off x="276225" y="5204877"/>
            <a:ext cx="3393702" cy="194310"/>
          </a:xfrm>
          <a:prstGeom prst="rect">
            <a:avLst/>
          </a:prstGeom>
          <a:noFill/>
        </p:spPr>
        <p:txBody>
          <a:bodyPr wrap="none" lIns="0" tIns="0" rIns="0" bIns="0">
            <a:spAutoFit/>
          </a:bodyPr>
          <a:lstStyle/>
          <a:p>
            <a:r>
              <a:rPr sz="1150" b="0">
                <a:solidFill>
                  <a:srgbClr val="2E2E2E"/>
                </a:solidFill>
                <a:latin typeface="Calibri"/>
              </a:rPr>
              <a:t>▪ Market Position: Great American Paper Inc. captures ~</a:t>
            </a:r>
          </a:p>
        </p:txBody>
      </p:sp>
      <p:pic>
        <p:nvPicPr>
          <p:cNvPr id="42" name="Picture 41" descr="lock.png"/>
          <p:cNvPicPr>
            <a:picLocks noChangeAspect="1"/>
          </p:cNvPicPr>
          <p:nvPr/>
        </p:nvPicPr>
        <p:blipFill>
          <a:blip r:embed="rId7"/>
          <a:stretch>
            <a:fillRect/>
          </a:stretch>
        </p:blipFill>
        <p:spPr>
          <a:xfrm>
            <a:off x="3619081" y="5194653"/>
            <a:ext cx="134549" cy="195707"/>
          </a:xfrm>
          <a:prstGeom prst="rect">
            <a:avLst/>
          </a:prstGeom>
        </p:spPr>
      </p:pic>
      <p:sp>
        <p:nvSpPr>
          <p:cNvPr id="43" name="TextBox 42"/>
          <p:cNvSpPr txBox="1"/>
          <p:nvPr/>
        </p:nvSpPr>
        <p:spPr>
          <a:xfrm>
            <a:off x="3794191" y="5204877"/>
            <a:ext cx="4569519" cy="194310"/>
          </a:xfrm>
          <a:prstGeom prst="rect">
            <a:avLst/>
          </a:prstGeom>
          <a:noFill/>
        </p:spPr>
        <p:txBody>
          <a:bodyPr wrap="none" lIns="0" tIns="0" rIns="0" bIns="0">
            <a:spAutoFit/>
          </a:bodyPr>
          <a:lstStyle/>
          <a:p>
            <a:r>
              <a:rPr sz="1150" b="0">
                <a:solidFill>
                  <a:srgbClr val="2E2E2E"/>
                </a:solidFill>
                <a:latin typeface="Calibri"/>
              </a:rPr>
              <a:t>of a US$ Mn SAM, with its strongest end-market in 'Electronics &amp; Electrical'.</a:t>
            </a:r>
          </a:p>
        </p:txBody>
      </p:sp>
      <p:sp>
        <p:nvSpPr>
          <p:cNvPr id="44" name="TextBox 43"/>
          <p:cNvSpPr txBox="1"/>
          <p:nvPr/>
        </p:nvSpPr>
        <p:spPr>
          <a:xfrm>
            <a:off x="276225" y="5432715"/>
            <a:ext cx="7532737" cy="194310"/>
          </a:xfrm>
          <a:prstGeom prst="rect">
            <a:avLst/>
          </a:prstGeom>
          <a:noFill/>
        </p:spPr>
        <p:txBody>
          <a:bodyPr wrap="none" lIns="0" tIns="0" r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5" name="Picture 44" descr="lock.png"/>
          <p:cNvPicPr>
            <a:picLocks noChangeAspect="1"/>
          </p:cNvPicPr>
          <p:nvPr/>
        </p:nvPicPr>
        <p:blipFill>
          <a:blip r:embed="rId7"/>
          <a:stretch>
            <a:fillRect/>
          </a:stretch>
        </p:blipFill>
        <p:spPr>
          <a:xfrm>
            <a:off x="7758116" y="5422491"/>
            <a:ext cx="134549" cy="195707"/>
          </a:xfrm>
          <a:prstGeom prst="rect">
            <a:avLst/>
          </a:prstGeom>
        </p:spPr>
      </p:pic>
      <p:sp>
        <p:nvSpPr>
          <p:cNvPr id="46" name="TextBox 45"/>
          <p:cNvSpPr txBox="1"/>
          <p:nvPr/>
        </p:nvSpPr>
        <p:spPr>
          <a:xfrm>
            <a:off x="7933225" y="5432715"/>
            <a:ext cx="157212" cy="194310"/>
          </a:xfrm>
          <a:prstGeom prst="rect">
            <a:avLst/>
          </a:prstGeom>
          <a:noFill/>
        </p:spPr>
        <p:txBody>
          <a:bodyPr wrap="none" lIns="0" tIns="0" rIns="0" bIns="0">
            <a:spAutoFit/>
          </a:bodyPr>
          <a:lstStyle/>
          <a:p>
            <a:r>
              <a:rPr sz="1150" b="0">
                <a:solidFill>
                  <a:srgbClr val="2E2E2E"/>
                </a:solidFill>
                <a:latin typeface="Calibri"/>
              </a:rPr>
              <a:t>).</a:t>
            </a:r>
          </a:p>
        </p:txBody>
      </p:sp>
      <p:sp>
        <p:nvSpPr>
          <p:cNvPr id="47" name="TextBox 46"/>
          <p:cNvSpPr txBox="1"/>
          <p:nvPr/>
        </p:nvSpPr>
        <p:spPr>
          <a:xfrm>
            <a:off x="276225" y="5660552"/>
            <a:ext cx="1391791" cy="194310"/>
          </a:xfrm>
          <a:prstGeom prst="rect">
            <a:avLst/>
          </a:prstGeom>
          <a:noFill/>
        </p:spPr>
        <p:txBody>
          <a:bodyPr wrap="none" lIns="0" tIns="0" rIns="0" bIns="0">
            <a:spAutoFit/>
          </a:bodyPr>
          <a:lstStyle/>
          <a:p>
            <a:r>
              <a:rPr sz="1150" b="0">
                <a:solidFill>
                  <a:srgbClr val="2E2E2E"/>
                </a:solidFill>
                <a:latin typeface="Calibri"/>
              </a:rPr>
              <a:t>▪ Growth Trajectory: a</a:t>
            </a:r>
          </a:p>
        </p:txBody>
      </p:sp>
      <p:pic>
        <p:nvPicPr>
          <p:cNvPr id="48" name="Picture 47" descr="lock.png"/>
          <p:cNvPicPr>
            <a:picLocks noChangeAspect="1"/>
          </p:cNvPicPr>
          <p:nvPr/>
        </p:nvPicPr>
        <p:blipFill>
          <a:blip r:embed="rId7"/>
          <a:stretch>
            <a:fillRect/>
          </a:stretch>
        </p:blipFill>
        <p:spPr>
          <a:xfrm>
            <a:off x="1617169" y="5650329"/>
            <a:ext cx="134549" cy="195707"/>
          </a:xfrm>
          <a:prstGeom prst="rect">
            <a:avLst/>
          </a:prstGeom>
        </p:spPr>
      </p:pic>
      <p:sp>
        <p:nvSpPr>
          <p:cNvPr id="49" name="TextBox 48"/>
          <p:cNvSpPr txBox="1"/>
          <p:nvPr/>
        </p:nvSpPr>
        <p:spPr>
          <a:xfrm>
            <a:off x="1792279" y="5660552"/>
            <a:ext cx="1129072" cy="194310"/>
          </a:xfrm>
          <a:prstGeom prst="rect">
            <a:avLst/>
          </a:prstGeom>
          <a:noFill/>
        </p:spPr>
        <p:txBody>
          <a:bodyPr wrap="none" lIns="0" tIns="0" rIns="0" bIns="0">
            <a:spAutoFit/>
          </a:bodyPr>
          <a:lstStyle/>
          <a:p>
            <a:r>
              <a:rPr sz="1150" b="0">
                <a:solidFill>
                  <a:srgbClr val="2E2E2E"/>
                </a:solidFill>
                <a:latin typeface="Calibri"/>
              </a:rPr>
              <a:t>book-to-bill and ~</a:t>
            </a:r>
          </a:p>
        </p:txBody>
      </p:sp>
      <p:pic>
        <p:nvPicPr>
          <p:cNvPr id="50" name="Picture 49" descr="lock.png"/>
          <p:cNvPicPr>
            <a:picLocks noChangeAspect="1"/>
          </p:cNvPicPr>
          <p:nvPr/>
        </p:nvPicPr>
        <p:blipFill>
          <a:blip r:embed="rId7"/>
          <a:stretch>
            <a:fillRect/>
          </a:stretch>
        </p:blipFill>
        <p:spPr>
          <a:xfrm>
            <a:off x="2870505" y="5650329"/>
            <a:ext cx="134549" cy="195707"/>
          </a:xfrm>
          <a:prstGeom prst="rect">
            <a:avLst/>
          </a:prstGeom>
        </p:spPr>
      </p:pic>
      <p:sp>
        <p:nvSpPr>
          <p:cNvPr id="51" name="TextBox 50"/>
          <p:cNvSpPr txBox="1"/>
          <p:nvPr/>
        </p:nvSpPr>
        <p:spPr>
          <a:xfrm>
            <a:off x="3045614" y="5660552"/>
            <a:ext cx="4503594" cy="194310"/>
          </a:xfrm>
          <a:prstGeom prst="rect">
            <a:avLst/>
          </a:prstGeom>
          <a:noFill/>
        </p:spPr>
        <p:txBody>
          <a:bodyPr wrap="none" lIns="0" tIns="0" rIns="0" bIns="0">
            <a:spAutoFit/>
          </a:bodyPr>
          <a:lstStyle/>
          <a:p>
            <a:r>
              <a:rPr sz="1150" b="0">
                <a:solidFill>
                  <a:srgbClr val="2E2E2E"/>
                </a:solidFill>
                <a:latin typeface="Calibri"/>
              </a:rPr>
              <a:t>EBITDA margin point to a path to capture more of the addressable market.</a:t>
            </a:r>
          </a:p>
        </p:txBody>
      </p:sp>
      <p:sp>
        <p:nvSpPr>
          <p:cNvPr id="52" name="TextBox 51"/>
          <p:cNvSpPr txBox="1"/>
          <p:nvPr/>
        </p:nvSpPr>
        <p:spPr>
          <a:xfrm>
            <a:off x="276225" y="5888390"/>
            <a:ext cx="1353535" cy="194310"/>
          </a:xfrm>
          <a:prstGeom prst="rect">
            <a:avLst/>
          </a:prstGeom>
          <a:noFill/>
        </p:spPr>
        <p:txBody>
          <a:bodyPr wrap="none" lIns="0" tIns="0" rIns="0" bIns="0">
            <a:spAutoFit/>
          </a:bodyPr>
          <a:lstStyle/>
          <a:p>
            <a:r>
              <a:rPr sz="1150" b="0">
                <a:solidFill>
                  <a:srgbClr val="2E2E2E"/>
                </a:solidFill>
                <a:latin typeface="Calibri"/>
              </a:rPr>
              <a:t>▪ Competitive Edge: ~</a:t>
            </a:r>
          </a:p>
        </p:txBody>
      </p:sp>
      <p:pic>
        <p:nvPicPr>
          <p:cNvPr id="53" name="Picture 52" descr="lock.png"/>
          <p:cNvPicPr>
            <a:picLocks noChangeAspect="1"/>
          </p:cNvPicPr>
          <p:nvPr/>
        </p:nvPicPr>
        <p:blipFill>
          <a:blip r:embed="rId7"/>
          <a:stretch>
            <a:fillRect/>
          </a:stretch>
        </p:blipFill>
        <p:spPr>
          <a:xfrm>
            <a:off x="1578914" y="5878167"/>
            <a:ext cx="134549" cy="195707"/>
          </a:xfrm>
          <a:prstGeom prst="rect">
            <a:avLst/>
          </a:prstGeom>
        </p:spPr>
      </p:pic>
      <p:sp>
        <p:nvSpPr>
          <p:cNvPr id="54" name="TextBox 53"/>
          <p:cNvSpPr txBox="1"/>
          <p:nvPr/>
        </p:nvSpPr>
        <p:spPr>
          <a:xfrm>
            <a:off x="1754024" y="5888390"/>
            <a:ext cx="1072591" cy="194310"/>
          </a:xfrm>
          <a:prstGeom prst="rect">
            <a:avLst/>
          </a:prstGeom>
          <a:noFill/>
        </p:spPr>
        <p:txBody>
          <a:bodyPr wrap="none" lIns="0" tIns="0" rIns="0" bIns="0">
            <a:spAutoFit/>
          </a:bodyPr>
          <a:lstStyle/>
          <a:p>
            <a:r>
              <a:rPr sz="1150" b="0">
                <a:solidFill>
                  <a:srgbClr val="2E2E2E"/>
                </a:solidFill>
                <a:latin typeface="Calibri"/>
              </a:rPr>
              <a:t>win rate with a +</a:t>
            </a:r>
          </a:p>
        </p:txBody>
      </p:sp>
      <p:pic>
        <p:nvPicPr>
          <p:cNvPr id="55" name="Picture 54" descr="lock.png"/>
          <p:cNvPicPr>
            <a:picLocks noChangeAspect="1"/>
          </p:cNvPicPr>
          <p:nvPr/>
        </p:nvPicPr>
        <p:blipFill>
          <a:blip r:embed="rId7"/>
          <a:stretch>
            <a:fillRect/>
          </a:stretch>
        </p:blipFill>
        <p:spPr>
          <a:xfrm>
            <a:off x="2775769" y="5878167"/>
            <a:ext cx="134549" cy="195707"/>
          </a:xfrm>
          <a:prstGeom prst="rect">
            <a:avLst/>
          </a:prstGeom>
        </p:spPr>
      </p:pic>
      <p:sp>
        <p:nvSpPr>
          <p:cNvPr id="56" name="TextBox 55"/>
          <p:cNvSpPr txBox="1"/>
          <p:nvPr/>
        </p:nvSpPr>
        <p:spPr>
          <a:xfrm>
            <a:off x="2950879" y="5888390"/>
            <a:ext cx="1137059" cy="194310"/>
          </a:xfrm>
          <a:prstGeom prst="rect">
            <a:avLst/>
          </a:prstGeom>
          <a:noFill/>
        </p:spPr>
        <p:txBody>
          <a:bodyPr wrap="none" lIns="0" tIns="0" rIns="0" bIns="0">
            <a:spAutoFit/>
          </a:bodyPr>
          <a:lstStyle/>
          <a:p>
            <a:r>
              <a:rPr sz="1150" b="0">
                <a:solidFill>
                  <a:srgbClr val="2E2E2E"/>
                </a:solidFill>
                <a:latin typeface="Calibri"/>
              </a:rPr>
              <a:t>ASP premium and</a:t>
            </a:r>
          </a:p>
        </p:txBody>
      </p:sp>
      <p:pic>
        <p:nvPicPr>
          <p:cNvPr id="57" name="Picture 56" descr="lock.png"/>
          <p:cNvPicPr>
            <a:picLocks noChangeAspect="1"/>
          </p:cNvPicPr>
          <p:nvPr/>
        </p:nvPicPr>
        <p:blipFill>
          <a:blip r:embed="rId7"/>
          <a:stretch>
            <a:fillRect/>
          </a:stretch>
        </p:blipFill>
        <p:spPr>
          <a:xfrm>
            <a:off x="4037092" y="5878167"/>
            <a:ext cx="134549" cy="195707"/>
          </a:xfrm>
          <a:prstGeom prst="rect">
            <a:avLst/>
          </a:prstGeom>
        </p:spPr>
      </p:pic>
      <p:sp>
        <p:nvSpPr>
          <p:cNvPr id="58" name="TextBox 57"/>
          <p:cNvSpPr txBox="1"/>
          <p:nvPr/>
        </p:nvSpPr>
        <p:spPr>
          <a:xfrm>
            <a:off x="4212201" y="5888390"/>
            <a:ext cx="1259147" cy="194310"/>
          </a:xfrm>
          <a:prstGeom prst="rect">
            <a:avLst/>
          </a:prstGeom>
          <a:noFill/>
        </p:spPr>
        <p:txBody>
          <a:bodyPr wrap="none" lIns="0" tIns="0" rIns="0" bIns="0">
            <a:spAutoFit/>
          </a:bodyPr>
          <a:lstStyle/>
          <a:p>
            <a:r>
              <a:rPr sz="1150" b="0">
                <a:solidFill>
                  <a:srgbClr val="2E2E2E"/>
                </a:solidFill>
                <a:latin typeface="Calibri"/>
              </a:rPr>
              <a:t>x pipeline coverage.</a:t>
            </a:r>
          </a:p>
        </p:txBody>
      </p:sp>
      <p:sp>
        <p:nvSpPr>
          <p:cNvPr id="59"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1"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Great American Paper Inc.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Regional penetration and competitive positioning Great American Paper Inc.: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356470"/>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xmlns:r="http://schemas.openxmlformats.org/officeDocument/2006/relationships" r:id="rId4"/>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TextBox 14"/>
          <p:cNvSpPr txBox="1"/>
          <p:nvPr/>
        </p:nvSpPr>
        <p:spPr>
          <a:xfrm>
            <a:off x="6257925" y="1356470"/>
            <a:ext cx="56959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tIns="0" r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tIns="0" r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tIns="0" r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tIns="0" r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tIns="9525" rIns="2857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tIns="9525" rIns="2857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8185839" y="2017974"/>
            <a:ext cx="1428750" cy="171450"/>
          </a:xfrm>
          <a:prstGeom prst="rect">
            <a:avLst/>
          </a:prstGeom>
          <a:noFill/>
        </p:spPr>
        <p:txBody>
          <a:bodyPr wrap="square" lIns="28575" tIns="9525" rIns="28575" bIns="9525" anchor="ctr">
            <a:spAutoFit/>
          </a:bodyPr>
          <a:lstStyle/>
          <a:p>
            <a:pPr algn="l"/>
            <a:r>
              <a:rPr sz="1100" b="1">
                <a:solidFill>
                  <a:srgbClr val="2E2E2E"/>
                </a:solidFill>
                <a:latin typeface="Calibri"/>
              </a:rPr>
              <a:t>Great American Paper Inc.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7" name="TextBox 26"/>
          <p:cNvSpPr txBox="1"/>
          <p:nvPr/>
        </p:nvSpPr>
        <p:spPr>
          <a:xfrm>
            <a:off x="9626509" y="1979485"/>
            <a:ext cx="1428750" cy="171450"/>
          </a:xfrm>
          <a:prstGeom prst="rect">
            <a:avLst/>
          </a:prstGeom>
          <a:noFill/>
        </p:spPr>
        <p:txBody>
          <a:bodyPr wrap="square" lIns="28575" tIns="9525" rIns="2857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9" name="TextBox 28"/>
          <p:cNvSpPr txBox="1"/>
          <p:nvPr/>
        </p:nvSpPr>
        <p:spPr>
          <a:xfrm>
            <a:off x="10706100" y="2749264"/>
            <a:ext cx="1428750" cy="171450"/>
          </a:xfrm>
          <a:prstGeom prst="rect">
            <a:avLst/>
          </a:prstGeom>
          <a:noFill/>
        </p:spPr>
        <p:txBody>
          <a:bodyPr wrap="square" lIns="28575" tIns="9525" rIns="2857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TextBox 30"/>
          <p:cNvSpPr txBox="1"/>
          <p:nvPr/>
        </p:nvSpPr>
        <p:spPr>
          <a:xfrm>
            <a:off x="238125" y="3692944"/>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114300" tIns="19050" rIns="57150" bIns="19050" rtlCol="0" anchor="ctr"/>
          <a:lstStyle/>
          <a:p>
            <a:pPr algn="l"/>
            <a:endParaRP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114300" tIns="19050" rIns="57150" bIns="19050" rtlCol="0" anchor="ctr"/>
          <a:lstStyle/>
          <a:p>
            <a:pPr algn="l"/>
            <a:endParaRP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wrap="square" lIns="114300" tIns="19050" rIns="57150" bIns="19050" rtlCol="0" anchor="ctr"/>
          <a:lstStyle/>
          <a:p>
            <a:pPr algn="l"/>
            <a:endParaRP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6257925" y="3692944"/>
            <a:ext cx="56959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8" name="TextBox 37"/>
          <p:cNvSpPr txBox="1"/>
          <p:nvPr/>
        </p:nvSpPr>
        <p:spPr>
          <a:xfrm>
            <a:off x="10506075" y="3912019"/>
            <a:ext cx="571500" cy="133350"/>
          </a:xfrm>
          <a:prstGeom prst="rect">
            <a:avLst/>
          </a:prstGeom>
          <a:noFill/>
        </p:spPr>
        <p:txBody>
          <a:bodyPr wrap="square" lIns="28575" tIns="9525" rIns="2857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11249025" y="3912019"/>
            <a:ext cx="571500" cy="133350"/>
          </a:xfrm>
          <a:prstGeom prst="rect">
            <a:avLst/>
          </a:prstGeom>
          <a:noFill/>
        </p:spPr>
        <p:txBody>
          <a:bodyPr wrap="square" lIns="28575" tIns="9525" rIns="2857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tIns="9525" rIns="2857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6276975" y="4466337"/>
            <a:ext cx="1066800" cy="228600"/>
          </a:xfrm>
          <a:prstGeom prst="rect">
            <a:avLst/>
          </a:prstGeom>
          <a:noFill/>
        </p:spPr>
        <p:txBody>
          <a:bodyPr wrap="square" lIns="28575" tIns="9525" rIns="2857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TextBox 46"/>
          <p:cNvSpPr txBox="1"/>
          <p:nvPr/>
        </p:nvSpPr>
        <p:spPr>
          <a:xfrm>
            <a:off x="6276975" y="4778732"/>
            <a:ext cx="1066800" cy="228600"/>
          </a:xfrm>
          <a:prstGeom prst="rect">
            <a:avLst/>
          </a:prstGeom>
          <a:noFill/>
        </p:spPr>
        <p:txBody>
          <a:bodyPr wrap="square" lIns="28575" tIns="9525" rIns="2857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1" name="TextBox 50"/>
          <p:cNvSpPr txBox="1"/>
          <p:nvPr/>
        </p:nvSpPr>
        <p:spPr>
          <a:xfrm>
            <a:off x="276225" y="5455620"/>
            <a:ext cx="11639550" cy="209550"/>
          </a:xfrm>
          <a:prstGeom prst="rect">
            <a:avLst/>
          </a:prstGeom>
          <a:noFill/>
        </p:spPr>
        <p:txBody>
          <a:bodyPr wrap="square" lIns="0" tIns="9525" rIns="19050"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3" name="TextBox 52"/>
          <p:cNvSpPr txBox="1"/>
          <p:nvPr/>
        </p:nvSpPr>
        <p:spPr>
          <a:xfrm>
            <a:off x="276225" y="5779470"/>
            <a:ext cx="11639550" cy="773730"/>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54" name="TextBox 5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tIns="0" r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tIns="0" r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tIns="0" r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tIns="0" r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tIns="0" r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tIns="0" r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tIns="0" r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tIns="0" r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tIns="0" r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tIns="0" r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tIns="0" r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tIns="0" r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tIns="0" r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tIns="0" rIns="0" bIns="0">
            <a:spAutoFit/>
          </a:bodyPr>
          <a:lstStyle/>
          <a:p>
            <a:r>
              <a:rPr sz="1100" b="0">
                <a:solidFill>
                  <a:srgbClr val="2E2E2E"/>
                </a:solidFill>
                <a:latin typeface="Calibri"/>
              </a:rPr>
              <a:t>▪ Sales Efficiency: a ~85-day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tIns="0" r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Tree>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Great American Paper Inc. SWOT Analysis (3/5)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SWOT assessment of Great American Paper Inc.: strengths, weaknesses, opportunities and threats shaping its competitive…</a:t>
            </a:r>
          </a:p>
        </p:txBody>
      </p:sp>
      <p:sp>
        <p:nvSpPr>
          <p:cNvPr id="10" name="TextBox 9"/>
          <p:cNvSpPr txBox="1"/>
          <p:nvPr/>
        </p:nvSpPr>
        <p:spPr>
          <a:xfrm>
            <a:off x="142875" y="1007261"/>
            <a:ext cx="11906250" cy="164283"/>
          </a:xfrm>
          <a:prstGeom prst="rect">
            <a:avLst/>
          </a:prstGeom>
          <a:noFill/>
        </p:spPr>
        <p:txBody>
          <a:bodyPr wrap="square" lIns="28575" tIns="9525" rIns="28575" bIns="9525" anchor="ctr">
            <a:spAutoFit/>
          </a:bodyPr>
          <a:lstStyle/>
          <a:p>
            <a:pPr algn="l"/>
            <a:r>
              <a:rPr sz="1150" b="0">
                <a:solidFill>
                  <a:srgbClr val="2E2E2E"/>
                </a:solidFill>
                <a:latin typeface="Calibri"/>
              </a:rPr>
              <a:t>SWOT assessment Great American Paper Inc.: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5" name="TextBox 24"/>
          <p:cNvSpPr txBox="1"/>
          <p:nvPr/>
        </p:nvSpPr>
        <p:spPr>
          <a:xfrm>
            <a:off x="5886450" y="3243339"/>
            <a:ext cx="419100" cy="273805"/>
          </a:xfrm>
          <a:prstGeom prst="rect">
            <a:avLst/>
          </a:prstGeom>
          <a:noFill/>
        </p:spPr>
        <p:txBody>
          <a:bodyPr wrap="none" lIns="0" tIns="0" r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tIns="0" r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tIns="0" r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tIns="0" r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tIns="9525" rIns="2857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2" name="TextBox 31"/>
          <p:cNvSpPr txBox="1"/>
          <p:nvPr/>
        </p:nvSpPr>
        <p:spPr>
          <a:xfrm>
            <a:off x="333375" y="1573126"/>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4" name="TextBox 33"/>
          <p:cNvSpPr txBox="1"/>
          <p:nvPr/>
        </p:nvSpPr>
        <p:spPr>
          <a:xfrm>
            <a:off x="333375" y="2084229"/>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6" name="TextBox 35"/>
          <p:cNvSpPr txBox="1"/>
          <p:nvPr/>
        </p:nvSpPr>
        <p:spPr>
          <a:xfrm>
            <a:off x="333375" y="2595333"/>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37" name="TextBox 36"/>
          <p:cNvSpPr txBox="1"/>
          <p:nvPr/>
        </p:nvSpPr>
        <p:spPr>
          <a:xfrm>
            <a:off x="8334375" y="1299320"/>
            <a:ext cx="3667125" cy="182537"/>
          </a:xfrm>
          <a:prstGeom prst="rect">
            <a:avLst/>
          </a:prstGeom>
          <a:noFill/>
        </p:spPr>
        <p:txBody>
          <a:bodyPr wrap="square" lIns="28575" tIns="9525" rIns="2857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0" name="TextBox 39"/>
          <p:cNvSpPr txBox="1"/>
          <p:nvPr/>
        </p:nvSpPr>
        <p:spPr>
          <a:xfrm>
            <a:off x="8477250" y="1573126"/>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2" name="TextBox 41"/>
          <p:cNvSpPr txBox="1"/>
          <p:nvPr/>
        </p:nvSpPr>
        <p:spPr>
          <a:xfrm>
            <a:off x="8477250" y="2084229"/>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4" name="TextBox 43"/>
          <p:cNvSpPr txBox="1"/>
          <p:nvPr/>
        </p:nvSpPr>
        <p:spPr>
          <a:xfrm>
            <a:off x="8477250" y="2595333"/>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tIns="9525" rIns="2857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8" name="TextBox 47"/>
          <p:cNvSpPr txBox="1"/>
          <p:nvPr/>
        </p:nvSpPr>
        <p:spPr>
          <a:xfrm>
            <a:off x="333375" y="4329434"/>
            <a:ext cx="3505200" cy="474596"/>
          </a:xfrm>
          <a:prstGeom prst="rect">
            <a:avLst/>
          </a:prstGeom>
          <a:noFill/>
        </p:spPr>
        <p:txBody>
          <a:bodyPr wrap="square" lIns="28575" tIns="9525" rIns="28575" bIns="9525" anchor="ctr">
            <a:spAutoFit/>
          </a:bodyPr>
          <a:lstStyle/>
          <a:p>
            <a:pPr algn="l">
              <a:lnSpc>
                <a:spcPct val="115000"/>
              </a:lnSpc>
            </a:pPr>
            <a:endParaRP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0" name="TextBox 49"/>
          <p:cNvSpPr txBox="1"/>
          <p:nvPr/>
        </p:nvSpPr>
        <p:spPr>
          <a:xfrm>
            <a:off x="333375" y="4840538"/>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2" name="TextBox 51"/>
          <p:cNvSpPr txBox="1"/>
          <p:nvPr/>
        </p:nvSpPr>
        <p:spPr>
          <a:xfrm>
            <a:off x="333375" y="5351641"/>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tIns="9525" rIns="2857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6" name="TextBox 55"/>
          <p:cNvSpPr txBox="1"/>
          <p:nvPr/>
        </p:nvSpPr>
        <p:spPr>
          <a:xfrm>
            <a:off x="8477250" y="4329434"/>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Premiumisation headroom in 'Flat Dividers &amp; Layer Pads'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8" name="TextBox 57"/>
          <p:cNvSpPr txBox="1"/>
          <p:nvPr/>
        </p:nvSpPr>
        <p:spPr>
          <a:xfrm>
            <a:off x="8477250" y="4840538"/>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0" name="TextBox 59"/>
          <p:cNvSpPr txBox="1"/>
          <p:nvPr/>
        </p:nvSpPr>
        <p:spPr>
          <a:xfrm>
            <a:off x="8477250" y="5351641"/>
            <a:ext cx="3505200" cy="474596"/>
          </a:xfrm>
          <a:prstGeom prst="rect">
            <a:avLst/>
          </a:prstGeom>
          <a:noFill/>
        </p:spPr>
        <p:txBody>
          <a:bodyPr wrap="square" lIns="28575" tIns="9525" rIns="2857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tIns="9525" rIns="2857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tIns="0" r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tIns="0" r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tIns="0" r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tIns="0" r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tIns="0" r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tIns="0" r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tIns="0" r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tIns="0" r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tIns="0" r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tIns="0" rIns="0" bIns="0">
            <a:spAutoFit/>
          </a:bodyPr>
          <a:lstStyle/>
          <a:p>
            <a:r>
              <a:rPr sz="1100" b="0">
                <a:solidFill>
                  <a:srgbClr val="2E2E2E"/>
                </a:solidFill>
                <a:latin typeface="Calibri"/>
              </a:rPr>
              <a:t>x pipeline needed to convert.</a:t>
            </a:r>
          </a:p>
        </p:txBody>
      </p:sp>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Great American Paper Inc. Key Financials (4/5)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Great American Paper Inc.'s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Key financials and pricing Great American Paper Inc.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2" name="TextBox 11"/>
          <p:cNvSpPr txBox="1"/>
          <p:nvPr/>
        </p:nvSpPr>
        <p:spPr>
          <a:xfrm>
            <a:off x="238125" y="1411231"/>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Great American Paper Inc.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extLst>
                    <a:ext uri="{9D8B030D-6E8A-4147-A177-3AD203B41FA5}">
                      <a16:colId xmlns:a16="http://schemas.microsoft.com/office/drawing/2014/main" val="20000"/>
                    </a:ext>
                  </a:extLst>
                </a:gridCol>
                <a:gridCol w="687960">
                  <a:extLst>
                    <a:ext uri="{9D8B030D-6E8A-4147-A177-3AD203B41FA5}">
                      <a16:colId xmlns:a16="http://schemas.microsoft.com/office/drawing/2014/main" val="20001"/>
                    </a:ext>
                  </a:extLst>
                </a:gridCol>
                <a:gridCol w="687960">
                  <a:extLst>
                    <a:ext uri="{9D8B030D-6E8A-4147-A177-3AD203B41FA5}">
                      <a16:colId xmlns:a16="http://schemas.microsoft.com/office/drawing/2014/main" val="20002"/>
                    </a:ext>
                  </a:extLst>
                </a:gridCol>
                <a:gridCol w="687960">
                  <a:extLst>
                    <a:ext uri="{9D8B030D-6E8A-4147-A177-3AD203B41FA5}">
                      <a16:colId xmlns:a16="http://schemas.microsoft.com/office/drawing/2014/main" val="20003"/>
                    </a:ext>
                  </a:extLst>
                </a:gridCol>
                <a:gridCol w="687960">
                  <a:extLst>
                    <a:ext uri="{9D8B030D-6E8A-4147-A177-3AD203B41FA5}">
                      <a16:colId xmlns:a16="http://schemas.microsoft.com/office/drawing/2014/main" val="20004"/>
                    </a:ext>
                  </a:extLst>
                </a:gridCol>
                <a:gridCol w="687960">
                  <a:extLst>
                    <a:ext uri="{9D8B030D-6E8A-4147-A177-3AD203B41FA5}">
                      <a16:colId xmlns:a16="http://schemas.microsoft.com/office/drawing/2014/main" val="20005"/>
                    </a:ext>
                  </a:extLst>
                </a:gridCol>
              </a:tblGrid>
              <a:tr h="246126">
                <a:tc>
                  <a:txBody>
                    <a:bodyPr/>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300947">
                <a:tc>
                  <a:txBody>
                    <a:bodyPr/>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300947">
                <a:tc>
                  <a:txBody>
                    <a:bodyPr/>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300947">
                <a:tc>
                  <a:txBody>
                    <a:bodyPr/>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300947">
                <a:tc>
                  <a:txBody>
                    <a:bodyPr/>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bl>
          </a:graphicData>
        </a:graphic>
      </p:graphicFrame>
      <p:sp>
        <p:nvSpPr>
          <p:cNvPr id="14" name="TextBox 13"/>
          <p:cNvSpPr txBox="1"/>
          <p:nvPr/>
        </p:nvSpPr>
        <p:spPr>
          <a:xfrm>
            <a:off x="219075" y="3070695"/>
            <a:ext cx="575310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6" name="TextBox 15"/>
          <p:cNvSpPr txBox="1"/>
          <p:nvPr/>
        </p:nvSpPr>
        <p:spPr>
          <a:xfrm>
            <a:off x="238125" y="3455645"/>
            <a:ext cx="571500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Great American Paper Inc.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extLst>
                    <a:ext uri="{9D8B030D-6E8A-4147-A177-3AD203B41FA5}">
                      <a16:colId xmlns:a16="http://schemas.microsoft.com/office/drawing/2014/main" val="20000"/>
                    </a:ext>
                  </a:extLst>
                </a:gridCol>
                <a:gridCol w="805438">
                  <a:extLst>
                    <a:ext uri="{9D8B030D-6E8A-4147-A177-3AD203B41FA5}">
                      <a16:colId xmlns:a16="http://schemas.microsoft.com/office/drawing/2014/main" val="20001"/>
                    </a:ext>
                  </a:extLst>
                </a:gridCol>
                <a:gridCol w="805438">
                  <a:extLst>
                    <a:ext uri="{9D8B030D-6E8A-4147-A177-3AD203B41FA5}">
                      <a16:colId xmlns:a16="http://schemas.microsoft.com/office/drawing/2014/main" val="20002"/>
                    </a:ext>
                  </a:extLst>
                </a:gridCol>
                <a:gridCol w="805438">
                  <a:extLst>
                    <a:ext uri="{9D8B030D-6E8A-4147-A177-3AD203B41FA5}">
                      <a16:colId xmlns:a16="http://schemas.microsoft.com/office/drawing/2014/main" val="20003"/>
                    </a:ext>
                  </a:extLst>
                </a:gridCol>
                <a:gridCol w="805438">
                  <a:extLst>
                    <a:ext uri="{9D8B030D-6E8A-4147-A177-3AD203B41FA5}">
                      <a16:colId xmlns:a16="http://schemas.microsoft.com/office/drawing/2014/main" val="20004"/>
                    </a:ext>
                  </a:extLst>
                </a:gridCol>
                <a:gridCol w="805438">
                  <a:extLst>
                    <a:ext uri="{9D8B030D-6E8A-4147-A177-3AD203B41FA5}">
                      <a16:colId xmlns:a16="http://schemas.microsoft.com/office/drawing/2014/main" val="20005"/>
                    </a:ext>
                  </a:extLst>
                </a:gridCol>
              </a:tblGrid>
              <a:tr h="246126">
                <a:tc>
                  <a:txBody>
                    <a:bodyPr/>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496309">
                <a:tc>
                  <a:txBody>
                    <a:bodyPr/>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496309">
                <a:tc>
                  <a:txBody>
                    <a:bodyPr/>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496309">
                <a:tc>
                  <a:txBody>
                    <a:bodyPr/>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r h="496309">
                <a:tc>
                  <a:txBody>
                    <a:bodyPr/>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4"/>
                  </a:ext>
                </a:extLst>
              </a:tr>
              <a:tr h="496309">
                <a:tc>
                  <a:txBody>
                    <a:bodyPr/>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5"/>
                  </a:ext>
                </a:extLst>
              </a:tr>
            </a:tbl>
          </a:graphicData>
        </a:graphic>
      </p:graphicFrame>
      <p:sp>
        <p:nvSpPr>
          <p:cNvPr id="18" name="TextBox 17"/>
          <p:cNvSpPr txBox="1"/>
          <p:nvPr/>
        </p:nvSpPr>
        <p:spPr>
          <a:xfrm>
            <a:off x="219075" y="6392868"/>
            <a:ext cx="575310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0" name="TextBox 19"/>
          <p:cNvSpPr txBox="1"/>
          <p:nvPr/>
        </p:nvSpPr>
        <p:spPr>
          <a:xfrm>
            <a:off x="6296025" y="1411231"/>
            <a:ext cx="5657850" cy="209550"/>
          </a:xfrm>
          <a:prstGeom prst="rect">
            <a:avLst/>
          </a:prstGeom>
          <a:noFill/>
        </p:spPr>
        <p:txBody>
          <a:bodyPr wrap="square" lIns="0" tIns="9525" rIns="19050" bIns="9525">
            <a:spAutoFit/>
          </a:bodyPr>
          <a:lstStyle/>
          <a:p>
            <a:pPr algn="l">
              <a:lnSpc>
                <a:spcPct val="100000"/>
              </a:lnSpc>
            </a:pPr>
            <a:r>
              <a:rPr sz="1200" b="1">
                <a:solidFill>
                  <a:srgbClr val="2E2E2E"/>
                </a:solidFill>
                <a:latin typeface="Calibri"/>
              </a:rPr>
              <a:t>Great American Paper Inc. Pricing Analysis (US$/MT)</a:t>
            </a:r>
          </a:p>
        </p:txBody>
      </p:sp>
      <p:graphicFrame>
        <p:nvGraphicFramePr>
          <p:cNvPr id="21" name="Table 20"/>
          <p:cNvGraphicFramePr>
            <a:graphicFrameLocks noGrp="1"/>
          </p:cNvGraphicFramePr>
          <p:nvPr/>
        </p:nvGraphicFramePr>
        <p:xfrm>
          <a:off x="6210300" y="1611256"/>
          <a:ext cx="5829301" cy="4772085"/>
        </p:xfrm>
        <a:graphic>
          <a:graphicData uri="http://schemas.openxmlformats.org/drawingml/2006/table">
            <a:tbl>
              <a:tblPr>
                <a:tableStyleId>{5C22544A-7EE6-4342-B048-85BDC9FD1C3A}</a:tableStyleId>
              </a:tblPr>
              <a:tblGrid>
                <a:gridCol w="4080993">
                  <a:extLst>
                    <a:ext uri="{9D8B030D-6E8A-4147-A177-3AD203B41FA5}">
                      <a16:colId xmlns:a16="http://schemas.microsoft.com/office/drawing/2014/main" val="20000"/>
                    </a:ext>
                  </a:extLst>
                </a:gridCol>
                <a:gridCol w="874154">
                  <a:extLst>
                    <a:ext uri="{9D8B030D-6E8A-4147-A177-3AD203B41FA5}">
                      <a16:colId xmlns:a16="http://schemas.microsoft.com/office/drawing/2014/main" val="20001"/>
                    </a:ext>
                  </a:extLst>
                </a:gridCol>
                <a:gridCol w="874154">
                  <a:extLst>
                    <a:ext uri="{9D8B030D-6E8A-4147-A177-3AD203B41FA5}">
                      <a16:colId xmlns:a16="http://schemas.microsoft.com/office/drawing/2014/main" val="20002"/>
                    </a:ext>
                  </a:extLst>
                </a:gridCol>
              </a:tblGrid>
              <a:tr h="246126">
                <a:tc>
                  <a:txBody>
                    <a:bodyPr/>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a:lstStyle/>
                    <a:p>
                      <a:pPr algn="ctr"/>
                      <a:r>
                        <a:rPr sz="1100" b="1">
                          <a:solidFill>
                            <a:srgbClr val="0B2E4A"/>
                          </a:solidFill>
                          <a:latin typeface="Calibri"/>
                        </a:rPr>
                        <a:t>2024A</a:t>
                      </a:r>
                      <a:endParaRPr sz="1100"/>
                    </a:p>
                  </a:txBody>
                  <a:tcPr marL="47625" marR="38100" marT="19050" marB="19050" anchor="ctr">
                    <a:solidFill>
                      <a:srgbClr val="E0E8EF"/>
                    </a:solidFill>
                  </a:tcPr>
                </a:tc>
                <a:extLst>
                  <a:ext uri="{0D108BD9-81ED-4DB2-BD59-A6C34878D82A}">
                    <a16:rowId xmlns:a16="http://schemas.microsoft.com/office/drawing/2014/main" val="10000"/>
                  </a:ext>
                </a:extLst>
              </a:tr>
              <a:tr h="1508653">
                <a:tc>
                  <a:txBody>
                    <a:bodyPr/>
                    <a:lstStyle/>
                    <a:p>
                      <a:pPr algn="l"/>
                      <a:r>
                        <a:rPr sz="1100" b="1">
                          <a:solidFill>
                            <a:srgbClr val="2E2E2E"/>
                          </a:solidFill>
                          <a:latin typeface="Calibri"/>
                        </a:rPr>
                        <a:t>Flat Dividers &amp; Layer Pads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1"/>
                  </a:ext>
                </a:extLst>
              </a:tr>
              <a:tr h="1508653">
                <a:tc>
                  <a:txBody>
                    <a:bodyPr/>
                    <a:lstStyle/>
                    <a:p>
                      <a:pPr algn="l"/>
                      <a:r>
                        <a:rPr sz="1100" b="1">
                          <a:solidFill>
                            <a:srgbClr val="2E2E2E"/>
                          </a:solidFill>
                          <a:latin typeface="Calibri"/>
                        </a:rPr>
                        <a:t>Die-Cut &amp; Folded Partitions</a:t>
                      </a:r>
                      <a:endParaRPr sz="1100"/>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tc>
                  <a:txBody>
                    <a:bodyPr/>
                    <a:lstStyle/>
                    <a:p>
                      <a:pPr algn="ctr"/>
                      <a:r>
                        <a:rPr sz="1100"/>
                        <a:t> </a:t>
                      </a:r>
                    </a:p>
                  </a:txBody>
                  <a:tcPr marL="47625" marR="38100" marT="19050" marB="19050" anchor="ctr">
                    <a:solidFill>
                      <a:srgbClr val="F5F8FA"/>
                    </a:solidFill>
                  </a:tcPr>
                </a:tc>
                <a:extLst>
                  <a:ext uri="{0D108BD9-81ED-4DB2-BD59-A6C34878D82A}">
                    <a16:rowId xmlns:a16="http://schemas.microsoft.com/office/drawing/2014/main" val="10002"/>
                  </a:ext>
                </a:extLst>
              </a:tr>
              <a:tr h="1508653">
                <a:tc>
                  <a:txBody>
                    <a:bodyPr/>
                    <a:lstStyle/>
                    <a:p>
                      <a:pPr algn="l"/>
                      <a:r>
                        <a:rPr sz="1100" b="1">
                          <a:solidFill>
                            <a:srgbClr val="2E2E2E"/>
                          </a:solidFill>
                          <a:latin typeface="Calibri"/>
                        </a:rPr>
                        <a:t>Slotted (Interlocking Grid) Partitions</a:t>
                      </a:r>
                      <a:endParaRPr sz="1100"/>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tc>
                  <a:txBody>
                    <a:bodyPr/>
                    <a:lstStyle/>
                    <a:p>
                      <a:pPr algn="ctr"/>
                      <a:r>
                        <a:rPr sz="1100"/>
                        <a:t> </a:t>
                      </a:r>
                    </a:p>
                  </a:txBody>
                  <a:tcPr marL="47625" marR="38100" marT="19050" marB="19050" anchor="ctr">
                    <a:solidFill>
                      <a:srgbClr val="FFFFFF"/>
                    </a:solidFill>
                  </a:tcPr>
                </a:tc>
                <a:extLst>
                  <a:ext uri="{0D108BD9-81ED-4DB2-BD59-A6C34878D82A}">
                    <a16:rowId xmlns:a16="http://schemas.microsoft.com/office/drawing/2014/main" val="10003"/>
                  </a:ext>
                </a:extLst>
              </a:tr>
            </a:tbl>
          </a:graphicData>
        </a:graphic>
      </p:graphicFrame>
      <p:sp>
        <p:nvSpPr>
          <p:cNvPr id="22" name="TextBox 21"/>
          <p:cNvSpPr txBox="1"/>
          <p:nvPr/>
        </p:nvSpPr>
        <p:spPr>
          <a:xfrm>
            <a:off x="6276975" y="6392868"/>
            <a:ext cx="5695950" cy="171450"/>
          </a:xfrm>
          <a:prstGeom prst="rect">
            <a:avLst/>
          </a:prstGeom>
          <a:noFill/>
        </p:spPr>
        <p:txBody>
          <a:bodyPr wrap="square" lIns="0" tIns="0" r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978757" y="3853661"/>
            <a:ext cx="366712" cy="533399"/>
          </a:xfrm>
          <a:prstGeom prst="rect">
            <a:avLst/>
          </a:prstGeom>
        </p:spPr>
      </p:pic>
    </p:spTree>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pic>
        <p:nvPicPr>
          <p:cNvPr id="7" name="Picture 6" descr="fmi_logo_template.png"/>
          <p:cNvPicPr>
            <a:picLocks noChangeAspect="1"/>
          </p:cNvPicPr>
          <p:nvPr/>
        </p:nvPicPr>
        <p:blipFill>
          <a:blip r:embed="rId3"/>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tIns="0" rIns="28575" bIns="0" anchor="b">
            <a:spAutoFit/>
          </a:bodyPr>
          <a:lstStyle/>
          <a:p>
            <a:pPr algn="l">
              <a:lnSpc>
                <a:spcPct val="90000"/>
              </a:lnSpc>
            </a:pPr>
            <a:r>
              <a:rPr sz="2100" b="1">
                <a:solidFill>
                  <a:srgbClr val="000000"/>
                </a:solidFill>
                <a:latin typeface="Calibri"/>
              </a:rPr>
              <a:t>Great American Paper Inc. Strategy Analysis (5/5)</a:t>
            </a:r>
          </a:p>
        </p:txBody>
      </p:sp>
      <p:sp>
        <p:nvSpPr>
          <p:cNvPr id="9" name="TextBox 8"/>
          <p:cNvSpPr txBox="1"/>
          <p:nvPr/>
        </p:nvSpPr>
        <p:spPr>
          <a:xfrm>
            <a:off x="1543050" y="647700"/>
            <a:ext cx="10506075" cy="247650"/>
          </a:xfrm>
          <a:prstGeom prst="rect">
            <a:avLst/>
          </a:prstGeom>
          <a:noFill/>
        </p:spPr>
        <p:txBody>
          <a:bodyPr wrap="square" lIns="28575" tIns="0" rIns="28575" bIns="0" anchor="t">
            <a:spAutoFit/>
          </a:bodyPr>
          <a:lstStyle/>
          <a:p>
            <a:pPr algn="l"/>
            <a:r>
              <a:rPr sz="1400" b="0" i="1">
                <a:solidFill>
                  <a:srgbClr val="252423"/>
                </a:solidFill>
                <a:latin typeface="Calibri"/>
              </a:rPr>
              <a:t>Analysis of Great American Paper Inc.'s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114300" tIns="57150" rIns="114300" bIns="57150" rtlCol="0" anchor="ctr"/>
          <a:lstStyle/>
          <a:p>
            <a:pPr algn="l">
              <a:lnSpc>
                <a:spcPct val="112000"/>
              </a:lnSpc>
            </a:pPr>
            <a:r>
              <a:rPr sz="1100" b="0">
                <a:solidFill>
                  <a:srgbClr val="2E2E2E"/>
                </a:solidFill>
                <a:latin typeface="Calibri"/>
              </a:rPr>
              <a:t>Strategy analysis Great American Paper Inc.: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wrap="square" lIns="57150" tIns="9525" rIns="57150" bIns="9525" rtlCol="0" anchor="ctr"/>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7" name="TextBox 16"/>
          <p:cNvSpPr txBox="1"/>
          <p:nvPr/>
        </p:nvSpPr>
        <p:spPr>
          <a:xfrm>
            <a:off x="276225" y="2169954"/>
            <a:ext cx="5638800" cy="209550"/>
          </a:xfrm>
          <a:prstGeom prst="rect">
            <a:avLst/>
          </a:prstGeom>
          <a:noFill/>
        </p:spPr>
        <p:txBody>
          <a:bodyPr wrap="square" lIns="0" tIns="9525" rIns="19050"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19" name="TextBox 18"/>
          <p:cNvSpPr txBox="1"/>
          <p:nvPr/>
        </p:nvSpPr>
        <p:spPr>
          <a:xfrm>
            <a:off x="276225" y="2493804"/>
            <a:ext cx="5638800" cy="400463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1" name="TextBox 20"/>
          <p:cNvSpPr txBox="1"/>
          <p:nvPr/>
        </p:nvSpPr>
        <p:spPr>
          <a:xfrm>
            <a:off x="6334125" y="2169954"/>
            <a:ext cx="5581650" cy="209550"/>
          </a:xfrm>
          <a:prstGeom prst="rect">
            <a:avLst/>
          </a:prstGeom>
          <a:noFill/>
        </p:spPr>
        <p:txBody>
          <a:bodyPr wrap="square" lIns="0" tIns="9525" rIns="19050"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a:p>
        </p:txBody>
      </p:sp>
      <p:sp>
        <p:nvSpPr>
          <p:cNvPr id="23" name="TextBox 22"/>
          <p:cNvSpPr txBox="1"/>
          <p:nvPr/>
        </p:nvSpPr>
        <p:spPr>
          <a:xfrm>
            <a:off x="6334125" y="2493804"/>
            <a:ext cx="5581650" cy="4004635"/>
          </a:xfrm>
          <a:prstGeom prst="rect">
            <a:avLst/>
          </a:prstGeom>
          <a:noFill/>
        </p:spPr>
        <p:txBody>
          <a:bodyPr wrap="square" lIns="0" tIns="9525" rIns="19050" bIns="9525">
            <a:spAutoFit/>
          </a:bodyPr>
          <a:lstStyle/>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a:p>
            <a:pPr algn="l">
              <a:lnSpc>
                <a:spcPct val="110000"/>
              </a:lnSpc>
              <a:spcBef>
                <a:spcPts val="0"/>
              </a:spcBef>
              <a:spcAft>
                <a:spcPts val="500"/>
              </a:spcAft>
            </a:pPr>
            <a:endParaRPr/>
          </a:p>
        </p:txBody>
      </p:sp>
      <p:sp>
        <p:nvSpPr>
          <p:cNvPr id="24" name="TextBox 23"/>
          <p:cNvSpPr txBox="1"/>
          <p:nvPr/>
        </p:nvSpPr>
        <p:spPr>
          <a:xfrm>
            <a:off x="152400" y="6686550"/>
            <a:ext cx="11887200" cy="152400"/>
          </a:xfrm>
          <a:prstGeom prst="rect">
            <a:avLst/>
          </a:prstGeom>
          <a:noFill/>
        </p:spPr>
        <p:txBody>
          <a:bodyPr wrap="square" lIns="28575" tIns="0" rIns="28575"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222750" cy="194310"/>
          </a:xfrm>
          <a:prstGeom prst="rect">
            <a:avLst/>
          </a:prstGeom>
          <a:noFill/>
        </p:spPr>
        <p:txBody>
          <a:bodyPr wrap="none" lIns="0" tIns="0" rIns="0" bIns="0">
            <a:spAutoFit/>
          </a:bodyPr>
          <a:lstStyle/>
          <a:p>
            <a:r>
              <a:rPr sz="1150" b="0">
                <a:solidFill>
                  <a:srgbClr val="2E2E2E"/>
                </a:solidFill>
                <a:latin typeface="Calibri"/>
              </a:rPr>
              <a:t>▪ Defend and extend leadership in 'Electronics &amp; Electrical' Great American Paper Inc.'s</a:t>
            </a:r>
          </a:p>
        </p:txBody>
      </p:sp>
      <p:sp>
        <p:nvSpPr>
          <p:cNvPr id="31" name="TextBox 30"/>
          <p:cNvSpPr txBox="1"/>
          <p:nvPr/>
        </p:nvSpPr>
        <p:spPr>
          <a:xfrm>
            <a:off x="276225" y="2678589"/>
            <a:ext cx="3766529" cy="194310"/>
          </a:xfrm>
          <a:prstGeom prst="rect">
            <a:avLst/>
          </a:prstGeom>
          <a:noFill/>
        </p:spPr>
        <p:txBody>
          <a:bodyPr wrap="none" lIns="0" tIns="0" rIns="0" bIns="0">
            <a:spAutoFit/>
          </a:bodyPr>
          <a:lstStyle/>
          <a:p>
            <a:r>
              <a:rPr sz="1150" b="0">
                <a:solidFill>
                  <a:srgbClr val="2E2E2E"/>
                </a:solidFill>
                <a:latin typeface="Calibri"/>
              </a:rPr>
              <a:t>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tIns="0" r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tIns="0" r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tIns="0" r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tIns="0" r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tIns="0" r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tIns="0" r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tIns="0" r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tIns="0" r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tIns="0" r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04581" cy="194310"/>
          </a:xfrm>
          <a:prstGeom prst="rect">
            <a:avLst/>
          </a:prstGeom>
          <a:noFill/>
        </p:spPr>
        <p:txBody>
          <a:bodyPr wrap="none" lIns="0" tIns="0" rIns="0" bIns="0">
            <a:spAutoFit/>
          </a:bodyPr>
          <a:lstStyle/>
          <a:p>
            <a:r>
              <a:rPr sz="1150" b="0">
                <a:solidFill>
                  <a:srgbClr val="2E2E2E"/>
                </a:solidFill>
                <a:latin typeface="Calibri"/>
              </a:rPr>
              <a:t>▪ Premiumise the portfolio around 'Flat Dividers &amp; Layer Pads' and adjacent high-value lines</a:t>
            </a:r>
          </a:p>
        </p:txBody>
      </p:sp>
      <p:sp>
        <p:nvSpPr>
          <p:cNvPr id="46" name="TextBox 45"/>
          <p:cNvSpPr txBox="1"/>
          <p:nvPr/>
        </p:nvSpPr>
        <p:spPr>
          <a:xfrm>
            <a:off x="6334125" y="2678589"/>
            <a:ext cx="1387797" cy="194310"/>
          </a:xfrm>
          <a:prstGeom prst="rect">
            <a:avLst/>
          </a:prstGeom>
          <a:noFill/>
        </p:spPr>
        <p:txBody>
          <a:bodyPr wrap="none" lIns="0" tIns="0" rIns="0" bIns="0">
            <a:spAutoFit/>
          </a:bodyPr>
          <a:lstStyle/>
          <a:p>
            <a:r>
              <a:rPr sz="1150" b="0">
                <a:solidFill>
                  <a:srgbClr val="2E2E2E"/>
                </a:solidFill>
                <a:latin typeface="Calibri"/>
              </a:rPr>
              <a:t>to lift blended pricing.</a:t>
            </a:r>
          </a:p>
        </p:txBody>
      </p:sp>
      <p:sp>
        <p:nvSpPr>
          <p:cNvPr id="47" name="TextBox 46"/>
          <p:cNvSpPr txBox="1"/>
          <p:nvPr/>
        </p:nvSpPr>
        <p:spPr>
          <a:xfrm>
            <a:off x="6334125" y="2906426"/>
            <a:ext cx="5393903" cy="194310"/>
          </a:xfrm>
          <a:prstGeom prst="rect">
            <a:avLst/>
          </a:prstGeom>
          <a:noFill/>
        </p:spPr>
        <p:txBody>
          <a:bodyPr wrap="none" lIns="0" tIns="0" r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tIns="0" r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tIns="0" r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tIns="0" r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tIns="0" r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tIns="0" r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tIns="0" rIns="0" bIns="0">
            <a:spAutoFit/>
          </a:bodyPr>
          <a:lstStyle/>
          <a:p>
            <a:r>
              <a:rPr sz="1150" b="0">
                <a:solidFill>
                  <a:srgbClr val="2E2E2E"/>
                </a:solidFill>
                <a:latin typeface="Calibri"/>
              </a:rPr>
              <a:t>▪ Sharpen go-to-market a ~85-day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tIns="0" rIns="0" bIns="0">
            <a:spAutoFit/>
          </a:bodyPr>
          <a:lstStyle/>
          <a:p>
            <a:r>
              <a:rPr sz="1150" b="0">
                <a:solidFill>
                  <a:srgbClr val="2E2E2E"/>
                </a:solidFill>
                <a:latin typeface="Calibri"/>
              </a:rPr>
              <a:t>conversion speed share capture.</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2</TotalTime>
  <Words>73553</Words>
  <Application>Microsoft Office PowerPoint</Application>
  <PresentationFormat>Widescreen</PresentationFormat>
  <Paragraphs>19966</Paragraphs>
  <Slides>336</Slides>
  <Notes>283</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336</vt:i4>
      </vt:variant>
    </vt:vector>
  </HeadingPairs>
  <TitlesOfParts>
    <vt:vector size="344" baseType="lpstr">
      <vt:lpstr>Aptos</vt:lpstr>
      <vt:lpstr>Arial</vt:lpstr>
      <vt:lpstr>Calibri</vt:lpstr>
      <vt:lpstr>Calibri Light</vt:lpstr>
      <vt:lpstr>Courier New</vt:lpstr>
      <vt:lpstr>Symbol</vt:lpstr>
      <vt:lpstr>Times New Roman</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Anurag Sharma</cp:lastModifiedBy>
  <cp:revision>1</cp:revision>
  <dcterms:created xsi:type="dcterms:W3CDTF">2013-01-27T09:14:16Z</dcterms:created>
  <dcterms:modified xsi:type="dcterms:W3CDTF">2026-10-12T07:15:27Z</dcterms:modified>
  <cp:category/>
</cp:coreProperties>
</file>