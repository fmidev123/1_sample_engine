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0.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5.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1.xml" ContentType="application/vnd.openxmlformats-officedocument.presentationml.notesSlide+xml"/>
  <Override PartName="/ppt/notesSlides/notesSlide173.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31" r:id="rId283"/>
    <p:sldId id="525" r:id="rId277"/>
    <p:sldId id="526" r:id="rId278"/>
    <p:sldId id="527" r:id="rId279"/>
    <p:sldId id="528" r:id="rId280"/>
    <p:sldId id="529" r:id="rId281"/>
    <p:sldId id="530" r:id="rId282"/>
    <p:sldId id="540" r:id="rId292"/>
    <p:sldId id="532" r:id="rId284"/>
    <p:sldId id="533" r:id="rId285"/>
    <p:sldId id="534" r:id="rId286"/>
    <p:sldId id="535" r:id="rId287"/>
    <p:sldId id="536" r:id="rId288"/>
    <p:sldId id="537" r:id="rId289"/>
    <p:sldId id="538" r:id="rId290"/>
    <p:sldId id="539" r:id="rId291"/>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2" r:id="rId44"/>
    <p:sldId id="293" r:id="rId45"/>
    <p:sldId id="296" r:id="rId48"/>
    <p:sldId id="297" r:id="rId49"/>
    <p:sldId id="298" r:id="rId50"/>
    <p:sldId id="299" r:id="rId51"/>
    <p:sldId id="301" r:id="rId53"/>
    <p:sldId id="302" r:id="rId54"/>
    <p:sldId id="305" r:id="rId57"/>
    <p:sldId id="306" r:id="rId58"/>
    <p:sldId id="307" r:id="rId59"/>
    <p:sldId id="308" r:id="rId60"/>
    <p:sldId id="309" r:id="rId61"/>
    <p:sldId id="311" r:id="rId63"/>
    <p:sldId id="312" r:id="rId64"/>
    <p:sldId id="315" r:id="rId67"/>
    <p:sldId id="316" r:id="rId68"/>
    <p:sldId id="317" r:id="rId69"/>
    <p:sldId id="318" r:id="rId70"/>
    <p:sldId id="320" r:id="rId72"/>
    <p:sldId id="321" r:id="rId73"/>
    <p:sldId id="324" r:id="rId76"/>
    <p:sldId id="325" r:id="rId77"/>
    <p:sldId id="326" r:id="rId78"/>
    <p:sldId id="327" r:id="rId79"/>
    <p:sldId id="328" r:id="rId80"/>
    <p:sldId id="330" r:id="rId82"/>
    <p:sldId id="331" r:id="rId83"/>
    <p:sldId id="334" r:id="rId86"/>
    <p:sldId id="335" r:id="rId87"/>
    <p:sldId id="336" r:id="rId88"/>
    <p:sldId id="337" r:id="rId89"/>
    <p:sldId id="340" r:id="rId92"/>
    <p:sldId id="341" r:id="rId93"/>
    <p:sldId id="342" r:id="rId94"/>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4" r:id="rId126"/>
    <p:sldId id="375" r:id="rId127"/>
    <p:sldId id="378" r:id="rId130"/>
    <p:sldId id="379" r:id="rId131"/>
    <p:sldId id="380" r:id="rId132"/>
    <p:sldId id="381" r:id="rId133"/>
    <p:sldId id="383" r:id="rId135"/>
    <p:sldId id="384" r:id="rId136"/>
    <p:sldId id="387" r:id="rId139"/>
    <p:sldId id="388" r:id="rId140"/>
    <p:sldId id="389" r:id="rId141"/>
    <p:sldId id="390" r:id="rId142"/>
    <p:sldId id="391" r:id="rId143"/>
    <p:sldId id="393" r:id="rId145"/>
    <p:sldId id="394" r:id="rId146"/>
    <p:sldId id="397" r:id="rId149"/>
    <p:sldId id="398" r:id="rId150"/>
    <p:sldId id="399" r:id="rId151"/>
    <p:sldId id="400" r:id="rId152"/>
    <p:sldId id="402" r:id="rId154"/>
    <p:sldId id="403" r:id="rId155"/>
    <p:sldId id="406" r:id="rId158"/>
    <p:sldId id="407" r:id="rId159"/>
    <p:sldId id="408" r:id="rId160"/>
    <p:sldId id="409" r:id="rId161"/>
    <p:sldId id="410" r:id="rId162"/>
    <p:sldId id="412" r:id="rId164"/>
    <p:sldId id="413" r:id="rId165"/>
    <p:sldId id="416" r:id="rId168"/>
    <p:sldId id="417" r:id="rId169"/>
    <p:sldId id="418" r:id="rId170"/>
    <p:sldId id="419" r:id="rId171"/>
    <p:sldId id="422" r:id="rId174"/>
    <p:sldId id="423" r:id="rId175"/>
    <p:sldId id="424" r:id="rId176"/>
    <p:sldId id="429" r:id="rId181"/>
    <p:sldId id="430" r:id="rId182"/>
    <p:sldId id="431" r:id="rId183"/>
    <p:sldId id="432" r:id="rId184"/>
    <p:sldId id="433" r:id="rId185"/>
    <p:sldId id="434" r:id="rId186"/>
    <p:sldId id="435" r:id="rId187"/>
    <p:sldId id="436" r:id="rId188"/>
    <p:sldId id="437" r:id="rId189"/>
    <p:sldId id="439" r:id="rId191"/>
    <p:sldId id="440" r:id="rId192"/>
    <p:sldId id="441" r:id="rId193"/>
    <p:sldId id="443" r:id="rId195"/>
    <p:sldId id="444" r:id="rId196"/>
    <p:sldId id="445" r:id="rId197"/>
    <p:sldId id="447" r:id="rId199"/>
    <p:sldId id="448" r:id="rId200"/>
    <p:sldId id="449" r:id="rId201"/>
    <p:sldId id="451" r:id="rId203"/>
    <p:sldId id="452" r:id="rId204"/>
    <p:sldId id="453" r:id="rId205"/>
    <p:sldId id="455" r:id="rId207"/>
    <p:sldId id="456" r:id="rId208"/>
    <p:sldId id="458" r:id="rId210"/>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41" r:id="rId2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49.xml"/><Relationship Id="rId41" Type="http://schemas.openxmlformats.org/officeDocument/2006/relationships/slide" Target="slides/slide50.xml"/><Relationship Id="rId42"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8" Type="http://schemas.openxmlformats.org/officeDocument/2006/relationships/slide" Target="slides/slide54.xml"/><Relationship Id="rId49" Type="http://schemas.openxmlformats.org/officeDocument/2006/relationships/slide" Target="slides/slide55.xml"/><Relationship Id="rId50" Type="http://schemas.openxmlformats.org/officeDocument/2006/relationships/slide" Target="slides/slide56.xml"/><Relationship Id="rId51" Type="http://schemas.openxmlformats.org/officeDocument/2006/relationships/slide" Target="slides/slide57.xml"/><Relationship Id="rId53" Type="http://schemas.openxmlformats.org/officeDocument/2006/relationships/slide" Target="slides/slide58.xml"/><Relationship Id="rId54" Type="http://schemas.openxmlformats.org/officeDocument/2006/relationships/slide" Target="slides/slide59.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1" Type="http://schemas.openxmlformats.org/officeDocument/2006/relationships/slide" Target="slides/slide64.xml"/><Relationship Id="rId63" Type="http://schemas.openxmlformats.org/officeDocument/2006/relationships/slide" Target="slides/slide65.xml"/><Relationship Id="rId64"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30" Type="http://schemas.openxmlformats.org/officeDocument/2006/relationships/slide" Target="slides/slide115.xml"/><Relationship Id="rId131" Type="http://schemas.openxmlformats.org/officeDocument/2006/relationships/slide" Target="slides/slide116.xml"/><Relationship Id="rId132" Type="http://schemas.openxmlformats.org/officeDocument/2006/relationships/slide" Target="slides/slide117.xml"/><Relationship Id="rId133" Type="http://schemas.openxmlformats.org/officeDocument/2006/relationships/slide" Target="slides/slide118.xml"/><Relationship Id="rId135" Type="http://schemas.openxmlformats.org/officeDocument/2006/relationships/slide" Target="slides/slide119.xml"/><Relationship Id="rId136" Type="http://schemas.openxmlformats.org/officeDocument/2006/relationships/slide" Target="slides/slide120.xml"/><Relationship Id="rId139" Type="http://schemas.openxmlformats.org/officeDocument/2006/relationships/slide" Target="slides/slide121.xml"/><Relationship Id="rId140" Type="http://schemas.openxmlformats.org/officeDocument/2006/relationships/slide" Target="slides/slide122.xml"/><Relationship Id="rId141" Type="http://schemas.openxmlformats.org/officeDocument/2006/relationships/slide" Target="slides/slide123.xml"/><Relationship Id="rId142" Type="http://schemas.openxmlformats.org/officeDocument/2006/relationships/slide" Target="slides/slide124.xml"/><Relationship Id="rId143" Type="http://schemas.openxmlformats.org/officeDocument/2006/relationships/slide" Target="slides/slide125.xml"/><Relationship Id="rId145" Type="http://schemas.openxmlformats.org/officeDocument/2006/relationships/slide" Target="slides/slide126.xml"/><Relationship Id="rId146" Type="http://schemas.openxmlformats.org/officeDocument/2006/relationships/slide" Target="slides/slide127.xml"/><Relationship Id="rId149" Type="http://schemas.openxmlformats.org/officeDocument/2006/relationships/slide" Target="slides/slide128.xml"/><Relationship Id="rId150" Type="http://schemas.openxmlformats.org/officeDocument/2006/relationships/slide" Target="slides/slide129.xml"/><Relationship Id="rId151" Type="http://schemas.openxmlformats.org/officeDocument/2006/relationships/slide" Target="slides/slide130.xml"/><Relationship Id="rId152" Type="http://schemas.openxmlformats.org/officeDocument/2006/relationships/slide" Target="slides/slide131.xml"/><Relationship Id="rId154" Type="http://schemas.openxmlformats.org/officeDocument/2006/relationships/slide" Target="slides/slide132.xml"/><Relationship Id="rId155" Type="http://schemas.openxmlformats.org/officeDocument/2006/relationships/slide" Target="slides/slide133.xml"/><Relationship Id="rId158" Type="http://schemas.openxmlformats.org/officeDocument/2006/relationships/slide" Target="slides/slide134.xml"/><Relationship Id="rId159" Type="http://schemas.openxmlformats.org/officeDocument/2006/relationships/slide" Target="slides/slide135.xml"/><Relationship Id="rId160" Type="http://schemas.openxmlformats.org/officeDocument/2006/relationships/slide" Target="slides/slide136.xml"/><Relationship Id="rId161" Type="http://schemas.openxmlformats.org/officeDocument/2006/relationships/slide" Target="slides/slide137.xml"/><Relationship Id="rId162" Type="http://schemas.openxmlformats.org/officeDocument/2006/relationships/slide" Target="slides/slide138.xml"/><Relationship Id="rId164" Type="http://schemas.openxmlformats.org/officeDocument/2006/relationships/slide" Target="slides/slide139.xml"/><Relationship Id="rId165" Type="http://schemas.openxmlformats.org/officeDocument/2006/relationships/slide" Target="slides/slide140.xml"/><Relationship Id="rId168" Type="http://schemas.openxmlformats.org/officeDocument/2006/relationships/slide" Target="slides/slide141.xml"/><Relationship Id="rId169" Type="http://schemas.openxmlformats.org/officeDocument/2006/relationships/slide" Target="slides/slide142.xml"/><Relationship Id="rId170" Type="http://schemas.openxmlformats.org/officeDocument/2006/relationships/slide" Target="slides/slide143.xml"/><Relationship Id="rId171" Type="http://schemas.openxmlformats.org/officeDocument/2006/relationships/slide" Target="slides/slide144.xml"/><Relationship Id="rId174" Type="http://schemas.openxmlformats.org/officeDocument/2006/relationships/slide" Target="slides/slide145.xml"/><Relationship Id="rId175" Type="http://schemas.openxmlformats.org/officeDocument/2006/relationships/slide" Target="slides/slide146.xml"/><Relationship Id="rId176" Type="http://schemas.openxmlformats.org/officeDocument/2006/relationships/slide" Target="slides/slide147.xml"/><Relationship Id="rId181" Type="http://schemas.openxmlformats.org/officeDocument/2006/relationships/slide" Target="slides/slide148.xml"/><Relationship Id="rId182" Type="http://schemas.openxmlformats.org/officeDocument/2006/relationships/slide" Target="slides/slide149.xml"/><Relationship Id="rId183" Type="http://schemas.openxmlformats.org/officeDocument/2006/relationships/slide" Target="slides/slide150.xml"/><Relationship Id="rId184" Type="http://schemas.openxmlformats.org/officeDocument/2006/relationships/slide" Target="slides/slide151.xml"/><Relationship Id="rId185" Type="http://schemas.openxmlformats.org/officeDocument/2006/relationships/slide" Target="slides/slide152.xml"/><Relationship Id="rId186" Type="http://schemas.openxmlformats.org/officeDocument/2006/relationships/slide" Target="slides/slide153.xml"/><Relationship Id="rId187" Type="http://schemas.openxmlformats.org/officeDocument/2006/relationships/slide" Target="slides/slide154.xml"/><Relationship Id="rId188" Type="http://schemas.openxmlformats.org/officeDocument/2006/relationships/slide" Target="slides/slide155.xml"/><Relationship Id="rId189" Type="http://schemas.openxmlformats.org/officeDocument/2006/relationships/slide" Target="slides/slide156.xml"/><Relationship Id="rId191" Type="http://schemas.openxmlformats.org/officeDocument/2006/relationships/slide" Target="slides/slide157.xml"/><Relationship Id="rId192" Type="http://schemas.openxmlformats.org/officeDocument/2006/relationships/slide" Target="slides/slide158.xml"/><Relationship Id="rId193" Type="http://schemas.openxmlformats.org/officeDocument/2006/relationships/slide" Target="slides/slide159.xml"/><Relationship Id="rId195" Type="http://schemas.openxmlformats.org/officeDocument/2006/relationships/slide" Target="slides/slide160.xml"/><Relationship Id="rId196" Type="http://schemas.openxmlformats.org/officeDocument/2006/relationships/slide" Target="slides/slide161.xml"/><Relationship Id="rId197" Type="http://schemas.openxmlformats.org/officeDocument/2006/relationships/slide" Target="slides/slide162.xml"/><Relationship Id="rId199" Type="http://schemas.openxmlformats.org/officeDocument/2006/relationships/slide" Target="slides/slide163.xml"/><Relationship Id="rId200" Type="http://schemas.openxmlformats.org/officeDocument/2006/relationships/slide" Target="slides/slide164.xml"/><Relationship Id="rId201" Type="http://schemas.openxmlformats.org/officeDocument/2006/relationships/slide" Target="slides/slide165.xml"/><Relationship Id="rId203" Type="http://schemas.openxmlformats.org/officeDocument/2006/relationships/slide" Target="slides/slide166.xml"/><Relationship Id="rId204" Type="http://schemas.openxmlformats.org/officeDocument/2006/relationships/slide" Target="slides/slide167.xml"/><Relationship Id="rId205" Type="http://schemas.openxmlformats.org/officeDocument/2006/relationships/slide" Target="slides/slide168.xml"/><Relationship Id="rId207" Type="http://schemas.openxmlformats.org/officeDocument/2006/relationships/slide" Target="slides/slide169.xml"/><Relationship Id="rId208" Type="http://schemas.openxmlformats.org/officeDocument/2006/relationships/slide" Target="slides/slide170.xml"/><Relationship Id="rId210" Type="http://schemas.openxmlformats.org/officeDocument/2006/relationships/slide" Target="slides/slide171.xml"/><Relationship Id="rId212" Type="http://schemas.openxmlformats.org/officeDocument/2006/relationships/slide" Target="slides/slide226.xml"/><Relationship Id="rId213" Type="http://schemas.openxmlformats.org/officeDocument/2006/relationships/slide" Target="slides/slide172.xml"/><Relationship Id="rId214" Type="http://schemas.openxmlformats.org/officeDocument/2006/relationships/slide" Target="slides/slide173.xml"/><Relationship Id="rId215" Type="http://schemas.openxmlformats.org/officeDocument/2006/relationships/slide" Target="slides/slide174.xml"/><Relationship Id="rId216" Type="http://schemas.openxmlformats.org/officeDocument/2006/relationships/slide" Target="slides/slide175.xml"/><Relationship Id="rId217" Type="http://schemas.openxmlformats.org/officeDocument/2006/relationships/slide" Target="slides/slide176.xml"/><Relationship Id="rId218" Type="http://schemas.openxmlformats.org/officeDocument/2006/relationships/slide" Target="slides/slide177.xml"/><Relationship Id="rId219" Type="http://schemas.openxmlformats.org/officeDocument/2006/relationships/slide" Target="slides/slide178.xml"/><Relationship Id="rId220" Type="http://schemas.openxmlformats.org/officeDocument/2006/relationships/slide" Target="slides/slide179.xml"/><Relationship Id="rId221" Type="http://schemas.openxmlformats.org/officeDocument/2006/relationships/slide" Target="slides/slide180.xml"/><Relationship Id="rId222" Type="http://schemas.openxmlformats.org/officeDocument/2006/relationships/slide" Target="slides/slide181.xml"/><Relationship Id="rId223" Type="http://schemas.openxmlformats.org/officeDocument/2006/relationships/slide" Target="slides/slide182.xml"/><Relationship Id="rId224" Type="http://schemas.openxmlformats.org/officeDocument/2006/relationships/slide" Target="slides/slide183.xml"/><Relationship Id="rId225" Type="http://schemas.openxmlformats.org/officeDocument/2006/relationships/slide" Target="slides/slide184.xml"/><Relationship Id="rId226" Type="http://schemas.openxmlformats.org/officeDocument/2006/relationships/slide" Target="slides/slide185.xml"/><Relationship Id="rId227" Type="http://schemas.openxmlformats.org/officeDocument/2006/relationships/slide" Target="slides/slide186.xml"/><Relationship Id="rId228" Type="http://schemas.openxmlformats.org/officeDocument/2006/relationships/slide" Target="slides/slide187.xml"/><Relationship Id="rId229" Type="http://schemas.openxmlformats.org/officeDocument/2006/relationships/slide" Target="slides/slide188.xml"/><Relationship Id="rId230" Type="http://schemas.openxmlformats.org/officeDocument/2006/relationships/slide" Target="slides/slide189.xml"/><Relationship Id="rId231" Type="http://schemas.openxmlformats.org/officeDocument/2006/relationships/slide" Target="slides/slide190.xml"/><Relationship Id="rId232" Type="http://schemas.openxmlformats.org/officeDocument/2006/relationships/slide" Target="slides/slide191.xml"/><Relationship Id="rId233" Type="http://schemas.openxmlformats.org/officeDocument/2006/relationships/slide" Target="slides/slide192.xml"/><Relationship Id="rId234" Type="http://schemas.openxmlformats.org/officeDocument/2006/relationships/slide" Target="slides/slide193.xml"/><Relationship Id="rId235" Type="http://schemas.openxmlformats.org/officeDocument/2006/relationships/slide" Target="slides/slide194.xml"/><Relationship Id="rId236" Type="http://schemas.openxmlformats.org/officeDocument/2006/relationships/slide" Target="slides/slide195.xml"/><Relationship Id="rId237" Type="http://schemas.openxmlformats.org/officeDocument/2006/relationships/slide" Target="slides/slide196.xml"/><Relationship Id="rId238" Type="http://schemas.openxmlformats.org/officeDocument/2006/relationships/slide" Target="slides/slide197.xml"/><Relationship Id="rId239" Type="http://schemas.openxmlformats.org/officeDocument/2006/relationships/slide" Target="slides/slide198.xml"/><Relationship Id="rId240" Type="http://schemas.openxmlformats.org/officeDocument/2006/relationships/slide" Target="slides/slide199.xml"/><Relationship Id="rId241" Type="http://schemas.openxmlformats.org/officeDocument/2006/relationships/slide" Target="slides/slide212.xml"/><Relationship Id="rId242" Type="http://schemas.openxmlformats.org/officeDocument/2006/relationships/slide" Target="slides/slide213.xml"/><Relationship Id="rId243" Type="http://schemas.openxmlformats.org/officeDocument/2006/relationships/slide" Target="slides/slide214.xml"/><Relationship Id="rId244" Type="http://schemas.openxmlformats.org/officeDocument/2006/relationships/slide" Target="slides/slide215.xml"/><Relationship Id="rId245" Type="http://schemas.openxmlformats.org/officeDocument/2006/relationships/slide" Target="slides/slide216.xml"/><Relationship Id="rId246" Type="http://schemas.openxmlformats.org/officeDocument/2006/relationships/slide" Target="slides/slide217.xml"/><Relationship Id="rId247" Type="http://schemas.openxmlformats.org/officeDocument/2006/relationships/slide" Target="slides/slide218.xml"/><Relationship Id="rId248" Type="http://schemas.openxmlformats.org/officeDocument/2006/relationships/slide" Target="slides/slide219.xml"/><Relationship Id="rId249" Type="http://schemas.openxmlformats.org/officeDocument/2006/relationships/slide" Target="slides/slide220.xml"/><Relationship Id="rId250" Type="http://schemas.openxmlformats.org/officeDocument/2006/relationships/slide" Target="slides/slide221.xml"/><Relationship Id="rId251" Type="http://schemas.openxmlformats.org/officeDocument/2006/relationships/slide" Target="slides/slide222.xml"/><Relationship Id="rId252" Type="http://schemas.openxmlformats.org/officeDocument/2006/relationships/slide" Target="slides/slide223.xml"/><Relationship Id="rId253" Type="http://schemas.openxmlformats.org/officeDocument/2006/relationships/slide" Target="slides/slide224.xml"/><Relationship Id="rId254" Type="http://schemas.openxmlformats.org/officeDocument/2006/relationships/slide" Target="slides/slide225.xml"/><Relationship Id="rId255" Type="http://schemas.openxmlformats.org/officeDocument/2006/relationships/slide" Target="slides/slide200.xml"/><Relationship Id="rId256" Type="http://schemas.openxmlformats.org/officeDocument/2006/relationships/slide" Target="slides/slide201.xml"/><Relationship Id="rId257" Type="http://schemas.openxmlformats.org/officeDocument/2006/relationships/slide" Target="slides/slide202.xml"/><Relationship Id="rId258" Type="http://schemas.openxmlformats.org/officeDocument/2006/relationships/slide" Target="slides/slide203.xml"/><Relationship Id="rId259" Type="http://schemas.openxmlformats.org/officeDocument/2006/relationships/slide" Target="slides/slide204.xml"/><Relationship Id="rId260" Type="http://schemas.openxmlformats.org/officeDocument/2006/relationships/slide" Target="slides/slide205.xml"/><Relationship Id="rId261" Type="http://schemas.openxmlformats.org/officeDocument/2006/relationships/slide" Target="slides/slide206.xml"/><Relationship Id="rId262" Type="http://schemas.openxmlformats.org/officeDocument/2006/relationships/slide" Target="slides/slide207.xml"/><Relationship Id="rId263" Type="http://schemas.openxmlformats.org/officeDocument/2006/relationships/slide" Target="slides/slide208.xml"/><Relationship Id="rId264" Type="http://schemas.openxmlformats.org/officeDocument/2006/relationships/slide" Target="slides/slide209.xml"/><Relationship Id="rId265" Type="http://schemas.openxmlformats.org/officeDocument/2006/relationships/slide" Target="slides/slide210.xml"/><Relationship Id="rId266" Type="http://schemas.openxmlformats.org/officeDocument/2006/relationships/slide" Target="slides/slide211.xml"/><Relationship Id="rId277" Type="http://schemas.openxmlformats.org/officeDocument/2006/relationships/slide" Target="slides/slide11.xml"/><Relationship Id="rId278" Type="http://schemas.openxmlformats.org/officeDocument/2006/relationships/slide" Target="slides/slide12.xml"/><Relationship Id="rId279" Type="http://schemas.openxmlformats.org/officeDocument/2006/relationships/slide" Target="slides/slide13.xml"/><Relationship Id="rId280" Type="http://schemas.openxmlformats.org/officeDocument/2006/relationships/slide" Target="slides/slide14.xml"/><Relationship Id="rId281" Type="http://schemas.openxmlformats.org/officeDocument/2006/relationships/slide" Target="slides/slide15.xml"/><Relationship Id="rId282" Type="http://schemas.openxmlformats.org/officeDocument/2006/relationships/slide" Target="slides/slide16.xml"/><Relationship Id="rId283" Type="http://schemas.openxmlformats.org/officeDocument/2006/relationships/slide" Target="slides/slide10.xml"/><Relationship Id="rId284" Type="http://schemas.openxmlformats.org/officeDocument/2006/relationships/slide" Target="slides/slide18.xml"/><Relationship Id="rId285" Type="http://schemas.openxmlformats.org/officeDocument/2006/relationships/slide" Target="slides/slide19.xml"/><Relationship Id="rId286" Type="http://schemas.openxmlformats.org/officeDocument/2006/relationships/slide" Target="slides/slide20.xml"/><Relationship Id="rId287" Type="http://schemas.openxmlformats.org/officeDocument/2006/relationships/slide" Target="slides/slide21.xml"/><Relationship Id="rId288" Type="http://schemas.openxmlformats.org/officeDocument/2006/relationships/slide" Target="slides/slide22.xml"/><Relationship Id="rId289" Type="http://schemas.openxmlformats.org/officeDocument/2006/relationships/slide" Target="slides/slide23.xml"/><Relationship Id="rId290" Type="http://schemas.openxmlformats.org/officeDocument/2006/relationships/slide" Target="slides/slide24.xml"/><Relationship Id="rId291" Type="http://schemas.openxmlformats.org/officeDocument/2006/relationships/slide" Target="slides/slide25.xml"/><Relationship Id="rId292" Type="http://schemas.openxmlformats.org/officeDocument/2006/relationships/slide" Target="slides/slide17.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s>
</file>

<file path=ppt/charts/_rels/chart7.xml.rels><?xml version='1.0' encoding='UTF-8' standalone='yes'?>
<Relationships xmlns="http://schemas.openxmlformats.org/package/2006/relationships"><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s>
</file>

<file path=ppt/charts/_rels/chart8.xml.rels><?xml version='1.0' encoding='UTF-8' standalone='yes'?>
<Relationships xmlns="http://schemas.openxmlformats.org/package/2006/relationships"><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s>
</file>

<file path=ppt/charts/_rels/chart9.xml.rels><?xml version='1.0' encoding='UTF-8' standalone='yes'?>
<Relationships xmlns="http://schemas.openxmlformats.org/package/2006/relationships"><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charts/_rels/chart11.xml.rels><?xml version='1.0' encoding='UTF-8' standalone='yes'?>
<Relationships xmlns="http://schemas.openxmlformats.org/package/2006/relationships"><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88.png"/><Relationship Id="rId12" Type="http://schemas.openxmlformats.org/officeDocument/2006/relationships/image" Target="../media/image89.png"/></Relationships>
</file>

<file path=ppt/charts/_rels/chart12.xml.rels><?xml version='1.0' encoding='UTF-8' standalone='yes'?>
<Relationships xmlns="http://schemas.openxmlformats.org/package/2006/relationships"><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 Id="rId12" Type="http://schemas.openxmlformats.org/officeDocument/2006/relationships/image" Target="../media/image101.png"/></Relationships>
</file>

<file path=ppt/charts/_rels/chart13.xml.rels><?xml version='1.0' encoding='UTF-8' standalone='yes'?>
<Relationships xmlns="http://schemas.openxmlformats.org/package/2006/relationships"><Relationship Id="rId2" Type="http://schemas.openxmlformats.org/officeDocument/2006/relationships/image" Target="../media/image102.png"/></Relationships>
</file>

<file path=ppt/charts/_rels/chart14.xml.rels><?xml version='1.0' encoding='UTF-8' standalone='yes'?>
<Relationships xmlns="http://schemas.openxmlformats.org/package/2006/relationships"><Relationship Id="rId2" Type="http://schemas.openxmlformats.org/officeDocument/2006/relationships/image" Target="../media/image103.png"/></Relationships>
</file>

<file path=ppt/charts/_rels/chart15.xml.rels><?xml version='1.0' encoding='UTF-8' standalone='yes'?>
<Relationships xmlns="http://schemas.openxmlformats.org/package/2006/relationships"><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image" Target="../media/image130.png"/><Relationship Id="rId12" Type="http://schemas.openxmlformats.org/officeDocument/2006/relationships/image" Target="../media/image131.png"/><Relationship Id="rId13" Type="http://schemas.openxmlformats.org/officeDocument/2006/relationships/image" Target="../media/image132.png"/><Relationship Id="rId14" Type="http://schemas.openxmlformats.org/officeDocument/2006/relationships/image" Target="../media/image133.png"/><Relationship Id="rId15" Type="http://schemas.openxmlformats.org/officeDocument/2006/relationships/image" Target="../media/image134.png"/><Relationship Id="rId16" Type="http://schemas.openxmlformats.org/officeDocument/2006/relationships/image" Target="../media/image135.png"/><Relationship Id="rId17" Type="http://schemas.openxmlformats.org/officeDocument/2006/relationships/image" Target="../media/image136.png"/><Relationship Id="rId18" Type="http://schemas.openxmlformats.org/officeDocument/2006/relationships/image" Target="../media/image137.png"/><Relationship Id="rId19" Type="http://schemas.openxmlformats.org/officeDocument/2006/relationships/image" Target="../media/image138.png"/><Relationship Id="rId20" Type="http://schemas.openxmlformats.org/officeDocument/2006/relationships/image" Target="../media/image139.png"/><Relationship Id="rId21" Type="http://schemas.openxmlformats.org/officeDocument/2006/relationships/image" Target="../media/image140.png"/><Relationship Id="rId22" Type="http://schemas.openxmlformats.org/officeDocument/2006/relationships/image" Target="../media/image141.png"/><Relationship Id="rId23" Type="http://schemas.openxmlformats.org/officeDocument/2006/relationships/image" Target="../media/image142.png"/><Relationship Id="rId24" Type="http://schemas.openxmlformats.org/officeDocument/2006/relationships/image" Target="../media/image143.png"/><Relationship Id="rId25" Type="http://schemas.openxmlformats.org/officeDocument/2006/relationships/image" Target="../media/image144.png"/><Relationship Id="rId26" Type="http://schemas.openxmlformats.org/officeDocument/2006/relationships/image" Target="../media/image145.png"/><Relationship Id="rId27" Type="http://schemas.openxmlformats.org/officeDocument/2006/relationships/image" Target="../media/image146.png"/><Relationship Id="rId28" Type="http://schemas.openxmlformats.org/officeDocument/2006/relationships/image" Target="../media/image147.png"/><Relationship Id="rId29" Type="http://schemas.openxmlformats.org/officeDocument/2006/relationships/image" Target="../media/image148.png"/><Relationship Id="rId30" Type="http://schemas.openxmlformats.org/officeDocument/2006/relationships/image" Target="../media/image149.png"/><Relationship Id="rId31" Type="http://schemas.openxmlformats.org/officeDocument/2006/relationships/image" Target="../media/image150.png"/><Relationship Id="rId32" Type="http://schemas.openxmlformats.org/officeDocument/2006/relationships/image" Target="../media/image151.png"/><Relationship Id="rId33" Type="http://schemas.openxmlformats.org/officeDocument/2006/relationships/image" Target="../media/image152.png"/><Relationship Id="rId34" Type="http://schemas.openxmlformats.org/officeDocument/2006/relationships/image" Target="../media/image153.png"/></Relationships>
</file>

<file path=ppt/charts/_rels/chart23.xml.rels><?xml version='1.0' encoding='UTF-8' standalone='yes'?>
<Relationships xmlns="http://schemas.openxmlformats.org/package/2006/relationships"><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image" Target="../media/image158.png"/><Relationship Id="rId7" Type="http://schemas.openxmlformats.org/officeDocument/2006/relationships/image" Target="../media/image159.png"/><Relationship Id="rId8" Type="http://schemas.openxmlformats.org/officeDocument/2006/relationships/image" Target="../media/image160.png"/><Relationship Id="rId9" Type="http://schemas.openxmlformats.org/officeDocument/2006/relationships/image" Target="../media/image161.png"/><Relationship Id="rId10" Type="http://schemas.openxmlformats.org/officeDocument/2006/relationships/image" Target="../media/image162.png"/><Relationship Id="rId11" Type="http://schemas.openxmlformats.org/officeDocument/2006/relationships/image" Target="../media/image163.png"/><Relationship Id="rId12" Type="http://schemas.openxmlformats.org/officeDocument/2006/relationships/image" Target="../media/image164.png"/><Relationship Id="rId13" Type="http://schemas.openxmlformats.org/officeDocument/2006/relationships/image" Target="../media/image165.png"/><Relationship Id="rId14" Type="http://schemas.openxmlformats.org/officeDocument/2006/relationships/image" Target="../media/image166.png"/><Relationship Id="rId15" Type="http://schemas.openxmlformats.org/officeDocument/2006/relationships/image" Target="../media/image167.png"/><Relationship Id="rId16" Type="http://schemas.openxmlformats.org/officeDocument/2006/relationships/image" Target="../media/image168.png"/><Relationship Id="rId17" Type="http://schemas.openxmlformats.org/officeDocument/2006/relationships/image" Target="../media/image169.png"/></Relationships>
</file>

<file path=ppt/charts/_rels/chart24.xml.rels><?xml version='1.0' encoding='UTF-8' standalone='yes'?>
<Relationships xmlns="http://schemas.openxmlformats.org/package/2006/relationships"><Relationship Id="rId2" Type="http://schemas.openxmlformats.org/officeDocument/2006/relationships/image" Target="../media/image178.png"/><Relationship Id="rId3" Type="http://schemas.openxmlformats.org/officeDocument/2006/relationships/image" Target="../media/image179.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184.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89.png"/><Relationship Id="rId14" Type="http://schemas.openxmlformats.org/officeDocument/2006/relationships/image" Target="../media/image190.png"/><Relationship Id="rId15" Type="http://schemas.openxmlformats.org/officeDocument/2006/relationships/image" Target="../media/image191.png"/><Relationship Id="rId16" Type="http://schemas.openxmlformats.org/officeDocument/2006/relationships/image" Target="../media/image192.png"/><Relationship Id="rId17" Type="http://schemas.openxmlformats.org/officeDocument/2006/relationships/image" Target="../media/image193.png"/></Relationships>
</file>

<file path=ppt/charts/_rels/chart29.xml.rels><?xml version='1.0' encoding='UTF-8' standalone='yes'?>
<Relationships xmlns="http://schemas.openxmlformats.org/package/2006/relationships"><Relationship Id="rId2" Type="http://schemas.openxmlformats.org/officeDocument/2006/relationships/image" Target="../media/image194.png"/><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image" Target="../media/image199.png"/><Relationship Id="rId8" Type="http://schemas.openxmlformats.org/officeDocument/2006/relationships/image" Target="../media/image200.png"/><Relationship Id="rId9" Type="http://schemas.openxmlformats.org/officeDocument/2006/relationships/image" Target="../media/image201.png"/><Relationship Id="rId10" Type="http://schemas.openxmlformats.org/officeDocument/2006/relationships/image" Target="../media/image202.png"/></Relationships>
</file>

<file path=ppt/charts/_rels/chart30.xml.rels><?xml version='1.0' encoding='UTF-8' standalone='yes'?>
<Relationships xmlns="http://schemas.openxmlformats.org/package/2006/relationships"><Relationship Id="rId2" Type="http://schemas.openxmlformats.org/officeDocument/2006/relationships/image" Target="../media/image220.pn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image" Target="../media/image228.png"/><Relationship Id="rId11" Type="http://schemas.openxmlformats.org/officeDocument/2006/relationships/image" Target="../media/image229.png"/><Relationship Id="rId12" Type="http://schemas.openxmlformats.org/officeDocument/2006/relationships/image" Target="../media/image230.png"/><Relationship Id="rId13" Type="http://schemas.openxmlformats.org/officeDocument/2006/relationships/image" Target="../media/image231.png"/><Relationship Id="rId14" Type="http://schemas.openxmlformats.org/officeDocument/2006/relationships/image" Target="../media/image232.png"/><Relationship Id="rId15" Type="http://schemas.openxmlformats.org/officeDocument/2006/relationships/image" Target="../media/image233.png"/><Relationship Id="rId16" Type="http://schemas.openxmlformats.org/officeDocument/2006/relationships/image" Target="../media/image234.png"/><Relationship Id="rId17" Type="http://schemas.openxmlformats.org/officeDocument/2006/relationships/image" Target="../media/image235.png"/><Relationship Id="rId18" Type="http://schemas.openxmlformats.org/officeDocument/2006/relationships/image" Target="../media/image236.png"/><Relationship Id="rId19" Type="http://schemas.openxmlformats.org/officeDocument/2006/relationships/image" Target="../media/image237.png"/><Relationship Id="rId20" Type="http://schemas.openxmlformats.org/officeDocument/2006/relationships/image" Target="../media/image238.png"/><Relationship Id="rId21" Type="http://schemas.openxmlformats.org/officeDocument/2006/relationships/image" Target="../media/image239.png"/><Relationship Id="rId22" Type="http://schemas.openxmlformats.org/officeDocument/2006/relationships/image" Target="../media/image240.png"/><Relationship Id="rId23" Type="http://schemas.openxmlformats.org/officeDocument/2006/relationships/image" Target="../media/image241.png"/><Relationship Id="rId24" Type="http://schemas.openxmlformats.org/officeDocument/2006/relationships/image" Target="../media/image242.png"/><Relationship Id="rId25" Type="http://schemas.openxmlformats.org/officeDocument/2006/relationships/image" Target="../media/image243.png"/><Relationship Id="rId26" Type="http://schemas.openxmlformats.org/officeDocument/2006/relationships/image" Target="../media/image244.png"/><Relationship Id="rId27" Type="http://schemas.openxmlformats.org/officeDocument/2006/relationships/image" Target="../media/image245.png"/><Relationship Id="rId28" Type="http://schemas.openxmlformats.org/officeDocument/2006/relationships/image" Target="../media/image246.png"/><Relationship Id="rId29" Type="http://schemas.openxmlformats.org/officeDocument/2006/relationships/image" Target="../media/image247.png"/><Relationship Id="rId30" Type="http://schemas.openxmlformats.org/officeDocument/2006/relationships/image" Target="../media/image248.png"/><Relationship Id="rId31" Type="http://schemas.openxmlformats.org/officeDocument/2006/relationships/image" Target="../media/image249.png"/><Relationship Id="rId32" Type="http://schemas.openxmlformats.org/officeDocument/2006/relationships/image" Target="../media/image250.png"/><Relationship Id="rId33" Type="http://schemas.openxmlformats.org/officeDocument/2006/relationships/image" Target="../media/image251.png"/></Relationships>
</file>

<file path=ppt/charts/_rels/chart38.xml.rels><?xml version='1.0' encoding='UTF-8' standalone='yes'?>
<Relationships xmlns="http://schemas.openxmlformats.org/package/2006/relationships"><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60.png"/><Relationship Id="rId11" Type="http://schemas.openxmlformats.org/officeDocument/2006/relationships/image" Target="../media/image261.png"/><Relationship Id="rId12" Type="http://schemas.openxmlformats.org/officeDocument/2006/relationships/image" Target="../media/image262.png"/><Relationship Id="rId13" Type="http://schemas.openxmlformats.org/officeDocument/2006/relationships/image" Target="../media/image263.png"/><Relationship Id="rId14" Type="http://schemas.openxmlformats.org/officeDocument/2006/relationships/image" Target="../media/image264.png"/><Relationship Id="rId15" Type="http://schemas.openxmlformats.org/officeDocument/2006/relationships/image" Target="../media/image265.png"/><Relationship Id="rId16" Type="http://schemas.openxmlformats.org/officeDocument/2006/relationships/image" Target="../media/image266.png"/><Relationship Id="rId17" Type="http://schemas.openxmlformats.org/officeDocument/2006/relationships/image" Target="../media/image267.png"/><Relationship Id="rId18" Type="http://schemas.openxmlformats.org/officeDocument/2006/relationships/image" Target="../media/image268.png"/></Relationships>
</file>

<file path=ppt/charts/_rels/chart39.xml.rels><?xml version='1.0' encoding='UTF-8' standalone='yes'?>
<Relationships xmlns="http://schemas.openxmlformats.org/package/2006/relationships"><Relationship Id="rId2" Type="http://schemas.openxmlformats.org/officeDocument/2006/relationships/image" Target="../media/image280.png"/><Relationship Id="rId3" Type="http://schemas.openxmlformats.org/officeDocument/2006/relationships/image" Target="../media/image281.png"/><Relationship Id="rId4" Type="http://schemas.openxmlformats.org/officeDocument/2006/relationships/image" Target="../media/image282.png"/><Relationship Id="rId5" Type="http://schemas.openxmlformats.org/officeDocument/2006/relationships/image" Target="../media/image283.png"/><Relationship Id="rId6" Type="http://schemas.openxmlformats.org/officeDocument/2006/relationships/image" Target="../media/image284.png"/><Relationship Id="rId7" Type="http://schemas.openxmlformats.org/officeDocument/2006/relationships/image" Target="../media/image285.png"/><Relationship Id="rId8" Type="http://schemas.openxmlformats.org/officeDocument/2006/relationships/image" Target="../media/image286.png"/><Relationship Id="rId9" Type="http://schemas.openxmlformats.org/officeDocument/2006/relationships/image" Target="../media/image287.png"/><Relationship Id="rId10" Type="http://schemas.openxmlformats.org/officeDocument/2006/relationships/image" Target="../media/image288.png"/><Relationship Id="rId11" Type="http://schemas.openxmlformats.org/officeDocument/2006/relationships/image" Target="../media/image289.png"/><Relationship Id="rId12" Type="http://schemas.openxmlformats.org/officeDocument/2006/relationships/image" Target="../media/image290.png"/><Relationship Id="rId13" Type="http://schemas.openxmlformats.org/officeDocument/2006/relationships/image" Target="../media/image291.png"/><Relationship Id="rId14" Type="http://schemas.openxmlformats.org/officeDocument/2006/relationships/image" Target="../media/image292.png"/><Relationship Id="rId15" Type="http://schemas.openxmlformats.org/officeDocument/2006/relationships/image" Target="../media/image293.png"/><Relationship Id="rId16" Type="http://schemas.openxmlformats.org/officeDocument/2006/relationships/image" Target="../media/image294.png"/><Relationship Id="rId17" Type="http://schemas.openxmlformats.org/officeDocument/2006/relationships/image" Target="../media/image295.png"/><Relationship Id="rId18" Type="http://schemas.openxmlformats.org/officeDocument/2006/relationships/image" Target="../media/image296.png"/><Relationship Id="rId19" Type="http://schemas.openxmlformats.org/officeDocument/2006/relationships/image" Target="../media/image297.png"/><Relationship Id="rId20" Type="http://schemas.openxmlformats.org/officeDocument/2006/relationships/image" Target="../media/image298.png"/><Relationship Id="rId21" Type="http://schemas.openxmlformats.org/officeDocument/2006/relationships/image" Target="../media/image299.png"/><Relationship Id="rId22" Type="http://schemas.openxmlformats.org/officeDocument/2006/relationships/image" Target="../media/image300.png"/><Relationship Id="rId23" Type="http://schemas.openxmlformats.org/officeDocument/2006/relationships/image" Target="../media/image301.png"/><Relationship Id="rId24" Type="http://schemas.openxmlformats.org/officeDocument/2006/relationships/image" Target="../media/image302.png"/><Relationship Id="rId25" Type="http://schemas.openxmlformats.org/officeDocument/2006/relationships/image" Target="../media/image303.png"/></Relationships>
</file>

<file path=ppt/charts/_rels/chart45.xml.rels><?xml version='1.0' encoding='UTF-8' standalone='yes'?>
<Relationships xmlns="http://schemas.openxmlformats.org/package/2006/relationships"><Relationship Id="rId2" Type="http://schemas.openxmlformats.org/officeDocument/2006/relationships/image" Target="../media/image304.png"/><Relationship Id="rId3" Type="http://schemas.openxmlformats.org/officeDocument/2006/relationships/image" Target="../media/image305.png"/><Relationship Id="rId4" Type="http://schemas.openxmlformats.org/officeDocument/2006/relationships/image" Target="../media/image306.png"/><Relationship Id="rId5" Type="http://schemas.openxmlformats.org/officeDocument/2006/relationships/image" Target="../media/image307.png"/><Relationship Id="rId6" Type="http://schemas.openxmlformats.org/officeDocument/2006/relationships/image" Target="../media/image308.png"/><Relationship Id="rId7" Type="http://schemas.openxmlformats.org/officeDocument/2006/relationships/image" Target="../media/image309.png"/><Relationship Id="rId8" Type="http://schemas.openxmlformats.org/officeDocument/2006/relationships/image" Target="../media/image310.png"/><Relationship Id="rId9" Type="http://schemas.openxmlformats.org/officeDocument/2006/relationships/image" Target="../media/image311.png"/><Relationship Id="rId10" Type="http://schemas.openxmlformats.org/officeDocument/2006/relationships/image" Target="../media/image312.png"/><Relationship Id="rId11" Type="http://schemas.openxmlformats.org/officeDocument/2006/relationships/image" Target="../media/image313.png"/><Relationship Id="rId12" Type="http://schemas.openxmlformats.org/officeDocument/2006/relationships/image" Target="../media/image314.png"/></Relationships>
</file>

<file path=ppt/charts/_rels/chart46.xml.rels><?xml version='1.0' encoding='UTF-8' standalone='yes'?>
<Relationships xmlns="http://schemas.openxmlformats.org/package/2006/relationships"><Relationship Id="rId2" Type="http://schemas.openxmlformats.org/officeDocument/2006/relationships/image" Target="../media/image329.png"/><Relationship Id="rId3" Type="http://schemas.openxmlformats.org/officeDocument/2006/relationships/image" Target="../media/image330.png"/><Relationship Id="rId4" Type="http://schemas.openxmlformats.org/officeDocument/2006/relationships/image" Target="../media/image331.png"/><Relationship Id="rId5" Type="http://schemas.openxmlformats.org/officeDocument/2006/relationships/image" Target="../media/image332.png"/><Relationship Id="rId6" Type="http://schemas.openxmlformats.org/officeDocument/2006/relationships/image" Target="../media/image333.png"/><Relationship Id="rId7" Type="http://schemas.openxmlformats.org/officeDocument/2006/relationships/image" Target="../media/image334.png"/><Relationship Id="rId8" Type="http://schemas.openxmlformats.org/officeDocument/2006/relationships/image" Target="../media/image335.png"/><Relationship Id="rId9" Type="http://schemas.openxmlformats.org/officeDocument/2006/relationships/image" Target="../media/image336.png"/><Relationship Id="rId10" Type="http://schemas.openxmlformats.org/officeDocument/2006/relationships/image" Target="../media/image337.png"/><Relationship Id="rId11" Type="http://schemas.openxmlformats.org/officeDocument/2006/relationships/image" Target="../media/image338.png"/><Relationship Id="rId12" Type="http://schemas.openxmlformats.org/officeDocument/2006/relationships/image" Target="../media/image339.png"/><Relationship Id="rId13" Type="http://schemas.openxmlformats.org/officeDocument/2006/relationships/image" Target="../media/image340.png"/><Relationship Id="rId14" Type="http://schemas.openxmlformats.org/officeDocument/2006/relationships/image" Target="../media/image341.png"/><Relationship Id="rId15" Type="http://schemas.openxmlformats.org/officeDocument/2006/relationships/image" Target="../media/image342.png"/><Relationship Id="rId16" Type="http://schemas.openxmlformats.org/officeDocument/2006/relationships/image" Target="../media/image343.png"/><Relationship Id="rId17" Type="http://schemas.openxmlformats.org/officeDocument/2006/relationships/image" Target="../media/image344.png"/><Relationship Id="rId18" Type="http://schemas.openxmlformats.org/officeDocument/2006/relationships/image" Target="../media/image345.png"/><Relationship Id="rId19" Type="http://schemas.openxmlformats.org/officeDocument/2006/relationships/image" Target="../media/image346.png"/><Relationship Id="rId20" Type="http://schemas.openxmlformats.org/officeDocument/2006/relationships/image" Target="../media/image347.png"/><Relationship Id="rId21" Type="http://schemas.openxmlformats.org/officeDocument/2006/relationships/image" Target="../media/image348.png"/><Relationship Id="rId22" Type="http://schemas.openxmlformats.org/officeDocument/2006/relationships/image" Target="../media/image349.png"/><Relationship Id="rId23" Type="http://schemas.openxmlformats.org/officeDocument/2006/relationships/image" Target="../media/image350.png"/><Relationship Id="rId24" Type="http://schemas.openxmlformats.org/officeDocument/2006/relationships/image" Target="../media/image351.png"/><Relationship Id="rId25" Type="http://schemas.openxmlformats.org/officeDocument/2006/relationships/image" Target="../media/image352.png"/><Relationship Id="rId26" Type="http://schemas.openxmlformats.org/officeDocument/2006/relationships/image" Target="../media/image353.png"/><Relationship Id="rId27" Type="http://schemas.openxmlformats.org/officeDocument/2006/relationships/image" Target="../media/image354.png"/><Relationship Id="rId28" Type="http://schemas.openxmlformats.org/officeDocument/2006/relationships/image" Target="../media/image355.png"/></Relationships>
</file>

<file path=ppt/charts/_rels/chart53.xml.rels><?xml version='1.0' encoding='UTF-8' standalone='yes'?>
<Relationships xmlns="http://schemas.openxmlformats.org/package/2006/relationships"><Relationship Id="rId2" Type="http://schemas.openxmlformats.org/officeDocument/2006/relationships/image" Target="../media/image356.png"/><Relationship Id="rId3" Type="http://schemas.openxmlformats.org/officeDocument/2006/relationships/image" Target="../media/image357.png"/><Relationship Id="rId4" Type="http://schemas.openxmlformats.org/officeDocument/2006/relationships/image" Target="../media/image358.png"/><Relationship Id="rId5" Type="http://schemas.openxmlformats.org/officeDocument/2006/relationships/image" Target="../media/image359.png"/><Relationship Id="rId6" Type="http://schemas.openxmlformats.org/officeDocument/2006/relationships/image" Target="../media/image360.png"/><Relationship Id="rId7" Type="http://schemas.openxmlformats.org/officeDocument/2006/relationships/image" Target="../media/image361.png"/><Relationship Id="rId8" Type="http://schemas.openxmlformats.org/officeDocument/2006/relationships/image" Target="../media/image362.png"/><Relationship Id="rId9" Type="http://schemas.openxmlformats.org/officeDocument/2006/relationships/image" Target="../media/image363.png"/><Relationship Id="rId10" Type="http://schemas.openxmlformats.org/officeDocument/2006/relationships/image" Target="../media/image364.png"/><Relationship Id="rId11" Type="http://schemas.openxmlformats.org/officeDocument/2006/relationships/image" Target="../media/image365.png"/><Relationship Id="rId12" Type="http://schemas.openxmlformats.org/officeDocument/2006/relationships/image" Target="../media/image366.png"/><Relationship Id="rId13" Type="http://schemas.openxmlformats.org/officeDocument/2006/relationships/image" Target="../media/image367.png"/><Relationship Id="rId14" Type="http://schemas.openxmlformats.org/officeDocument/2006/relationships/image" Target="../media/image368.png"/><Relationship Id="rId15" Type="http://schemas.openxmlformats.org/officeDocument/2006/relationships/image" Target="../media/image369.png"/><Relationship Id="rId16" Type="http://schemas.openxmlformats.org/officeDocument/2006/relationships/image" Target="../media/image370.png"/></Relationships>
</file>

<file path=ppt/charts/_rels/chart54.xml.rels><?xml version='1.0' encoding='UTF-8' standalone='yes'?>
<Relationships xmlns="http://schemas.openxmlformats.org/package/2006/relationships"><Relationship Id="rId2" Type="http://schemas.openxmlformats.org/officeDocument/2006/relationships/image" Target="../media/image383.png"/><Relationship Id="rId3" Type="http://schemas.openxmlformats.org/officeDocument/2006/relationships/image" Target="../media/image384.png"/><Relationship Id="rId4" Type="http://schemas.openxmlformats.org/officeDocument/2006/relationships/image" Target="../media/image385.png"/><Relationship Id="rId5" Type="http://schemas.openxmlformats.org/officeDocument/2006/relationships/image" Target="../media/image386.png"/><Relationship Id="rId6" Type="http://schemas.openxmlformats.org/officeDocument/2006/relationships/image" Target="../media/image387.png"/><Relationship Id="rId7" Type="http://schemas.openxmlformats.org/officeDocument/2006/relationships/image" Target="../media/image388.png"/><Relationship Id="rId8" Type="http://schemas.openxmlformats.org/officeDocument/2006/relationships/image" Target="../media/image389.png"/><Relationship Id="rId9" Type="http://schemas.openxmlformats.org/officeDocument/2006/relationships/image" Target="../media/image390.png"/><Relationship Id="rId10" Type="http://schemas.openxmlformats.org/officeDocument/2006/relationships/image" Target="../media/image391.png"/><Relationship Id="rId11" Type="http://schemas.openxmlformats.org/officeDocument/2006/relationships/image" Target="../media/image392.png"/><Relationship Id="rId12" Type="http://schemas.openxmlformats.org/officeDocument/2006/relationships/image" Target="../media/image393.png"/><Relationship Id="rId13" Type="http://schemas.openxmlformats.org/officeDocument/2006/relationships/image" Target="../media/image394.png"/><Relationship Id="rId14" Type="http://schemas.openxmlformats.org/officeDocument/2006/relationships/image" Target="../media/image395.png"/><Relationship Id="rId15" Type="http://schemas.openxmlformats.org/officeDocument/2006/relationships/image" Target="../media/image396.png"/><Relationship Id="rId16" Type="http://schemas.openxmlformats.org/officeDocument/2006/relationships/image" Target="../media/image397.png"/><Relationship Id="rId17" Type="http://schemas.openxmlformats.org/officeDocument/2006/relationships/image" Target="../media/image398.png"/><Relationship Id="rId18" Type="http://schemas.openxmlformats.org/officeDocument/2006/relationships/image" Target="../media/image399.png"/><Relationship Id="rId19" Type="http://schemas.openxmlformats.org/officeDocument/2006/relationships/image" Target="../media/image400.png"/><Relationship Id="rId20" Type="http://schemas.openxmlformats.org/officeDocument/2006/relationships/image" Target="../media/image401.png"/><Relationship Id="rId21" Type="http://schemas.openxmlformats.org/officeDocument/2006/relationships/image" Target="../media/image402.png"/><Relationship Id="rId22" Type="http://schemas.openxmlformats.org/officeDocument/2006/relationships/image" Target="../media/image403.png"/></Relationships>
</file>

<file path=ppt/charts/_rels/chart60.xml.rels><?xml version='1.0' encoding='UTF-8' standalone='yes'?>
<Relationships xmlns="http://schemas.openxmlformats.org/package/2006/relationships"><Relationship Id="rId2" Type="http://schemas.openxmlformats.org/officeDocument/2006/relationships/image" Target="../media/image404.png"/><Relationship Id="rId3" Type="http://schemas.openxmlformats.org/officeDocument/2006/relationships/image" Target="../media/image405.png"/><Relationship Id="rId4" Type="http://schemas.openxmlformats.org/officeDocument/2006/relationships/image" Target="../media/image406.png"/><Relationship Id="rId5" Type="http://schemas.openxmlformats.org/officeDocument/2006/relationships/image" Target="../media/image407.png"/><Relationship Id="rId6" Type="http://schemas.openxmlformats.org/officeDocument/2006/relationships/image" Target="../media/image408.png"/><Relationship Id="rId7" Type="http://schemas.openxmlformats.org/officeDocument/2006/relationships/image" Target="../media/image409.png"/><Relationship Id="rId8" Type="http://schemas.openxmlformats.org/officeDocument/2006/relationships/image" Target="../media/image410.png"/><Relationship Id="rId9" Type="http://schemas.openxmlformats.org/officeDocument/2006/relationships/image" Target="../media/image411.png"/><Relationship Id="rId10" Type="http://schemas.openxmlformats.org/officeDocument/2006/relationships/image" Target="../media/image412.png"/><Relationship Id="rId11" Type="http://schemas.openxmlformats.org/officeDocument/2006/relationships/image" Target="../media/image413.png"/><Relationship Id="rId12" Type="http://schemas.openxmlformats.org/officeDocument/2006/relationships/image" Target="../media/image414.png"/></Relationships>
</file>

<file path=ppt/charts/_rels/chart61.xml.rels><?xml version='1.0' encoding='UTF-8' standalone='yes'?>
<Relationships xmlns="http://schemas.openxmlformats.org/package/2006/relationships"><Relationship Id="rId2" Type="http://schemas.openxmlformats.org/officeDocument/2006/relationships/image" Target="../media/image415.png"/></Relationships>
</file>

<file path=ppt/charts/_rels/chart63.xml.rels><?xml version='1.0' encoding='UTF-8' standalone='yes'?>
<Relationships xmlns="http://schemas.openxmlformats.org/package/2006/relationships"><Relationship Id="rId2" Type="http://schemas.openxmlformats.org/officeDocument/2006/relationships/image" Target="../media/image416.png"/></Relationships>
</file>

<file path=ppt/charts/_rels/chart65.xml.rels><?xml version='1.0' encoding='UTF-8' standalone='yes'?>
<Relationships xmlns="http://schemas.openxmlformats.org/package/2006/relationships"><Relationship Id="rId2" Type="http://schemas.openxmlformats.org/officeDocument/2006/relationships/image" Target="../media/image417.png"/><Relationship Id="rId3" Type="http://schemas.openxmlformats.org/officeDocument/2006/relationships/image" Target="../media/image418.png"/><Relationship Id="rId4" Type="http://schemas.openxmlformats.org/officeDocument/2006/relationships/image" Target="../media/image419.png"/><Relationship Id="rId5" Type="http://schemas.openxmlformats.org/officeDocument/2006/relationships/image" Target="../media/image420.png"/><Relationship Id="rId6" Type="http://schemas.openxmlformats.org/officeDocument/2006/relationships/image" Target="../media/image421.png"/><Relationship Id="rId7" Type="http://schemas.openxmlformats.org/officeDocument/2006/relationships/image" Target="../media/image422.png"/><Relationship Id="rId8" Type="http://schemas.openxmlformats.org/officeDocument/2006/relationships/image" Target="../media/image423.png"/><Relationship Id="rId9" Type="http://schemas.openxmlformats.org/officeDocument/2006/relationships/image" Target="../media/image424.png"/><Relationship Id="rId10" Type="http://schemas.openxmlformats.org/officeDocument/2006/relationships/image" Target="../media/image425.png"/><Relationship Id="rId11" Type="http://schemas.openxmlformats.org/officeDocument/2006/relationships/image" Target="../media/image426.png"/></Relationships>
</file>

<file path=ppt/charts/_rels/chart66.xml.rels><?xml version='1.0' encoding='UTF-8' standalone='yes'?>
<Relationships xmlns="http://schemas.openxmlformats.org/package/2006/relationships"><Relationship Id="rId2" Type="http://schemas.openxmlformats.org/officeDocument/2006/relationships/image" Target="../media/image427.png"/><Relationship Id="rId3" Type="http://schemas.openxmlformats.org/officeDocument/2006/relationships/image" Target="../media/image428.png"/><Relationship Id="rId4" Type="http://schemas.openxmlformats.org/officeDocument/2006/relationships/image" Target="../media/image429.png"/><Relationship Id="rId5" Type="http://schemas.openxmlformats.org/officeDocument/2006/relationships/image" Target="../media/image430.png"/><Relationship Id="rId6" Type="http://schemas.openxmlformats.org/officeDocument/2006/relationships/image" Target="../media/image431.png"/><Relationship Id="rId7" Type="http://schemas.openxmlformats.org/officeDocument/2006/relationships/image" Target="../media/image432.png"/><Relationship Id="rId8" Type="http://schemas.openxmlformats.org/officeDocument/2006/relationships/image" Target="../media/image433.png"/><Relationship Id="rId9" Type="http://schemas.openxmlformats.org/officeDocument/2006/relationships/image" Target="../media/image434.png"/><Relationship Id="rId10" Type="http://schemas.openxmlformats.org/officeDocument/2006/relationships/image" Target="../media/image435.png"/><Relationship Id="rId11" Type="http://schemas.openxmlformats.org/officeDocument/2006/relationships/image" Target="../media/image436.png"/><Relationship Id="rId12" Type="http://schemas.openxmlformats.org/officeDocument/2006/relationships/image" Target="../media/image437.png"/><Relationship Id="rId13" Type="http://schemas.openxmlformats.org/officeDocument/2006/relationships/image" Target="../media/image438.png"/><Relationship Id="rId14" Type="http://schemas.openxmlformats.org/officeDocument/2006/relationships/image" Target="../media/image439.png"/><Relationship Id="rId15" Type="http://schemas.openxmlformats.org/officeDocument/2006/relationships/image" Target="../media/image440.png"/><Relationship Id="rId16" Type="http://schemas.openxmlformats.org/officeDocument/2006/relationships/image" Target="../media/image441.png"/><Relationship Id="rId17" Type="http://schemas.openxmlformats.org/officeDocument/2006/relationships/image" Target="../media/image442.png"/><Relationship Id="rId18" Type="http://schemas.openxmlformats.org/officeDocument/2006/relationships/image" Target="../media/image443.png"/><Relationship Id="rId19" Type="http://schemas.openxmlformats.org/officeDocument/2006/relationships/image" Target="../media/image444.png"/><Relationship Id="rId20" Type="http://schemas.openxmlformats.org/officeDocument/2006/relationships/image" Target="../media/image445.png"/><Relationship Id="rId21" Type="http://schemas.openxmlformats.org/officeDocument/2006/relationships/image" Target="../media/image446.png"/><Relationship Id="rId22" Type="http://schemas.openxmlformats.org/officeDocument/2006/relationships/image" Target="../media/image447.png"/><Relationship Id="rId23" Type="http://schemas.openxmlformats.org/officeDocument/2006/relationships/image" Target="../media/image448.png"/></Relationships>
</file>

<file path=ppt/charts/_rels/chart67.xml.rels><?xml version='1.0' encoding='UTF-8' standalone='yes'?>
<Relationships xmlns="http://schemas.openxmlformats.org/package/2006/relationships"><Relationship Id="rId2" Type="http://schemas.openxmlformats.org/officeDocument/2006/relationships/image" Target="../media/image449.png"/><Relationship Id="rId3" Type="http://schemas.openxmlformats.org/officeDocument/2006/relationships/image" Target="../media/image450.png"/><Relationship Id="rId4" Type="http://schemas.openxmlformats.org/officeDocument/2006/relationships/image" Target="../media/image451.png"/><Relationship Id="rId5" Type="http://schemas.openxmlformats.org/officeDocument/2006/relationships/image" Target="../media/image452.png"/><Relationship Id="rId6" Type="http://schemas.openxmlformats.org/officeDocument/2006/relationships/image" Target="../media/image453.png"/><Relationship Id="rId7" Type="http://schemas.openxmlformats.org/officeDocument/2006/relationships/image" Target="../media/image454.png"/><Relationship Id="rId8" Type="http://schemas.openxmlformats.org/officeDocument/2006/relationships/image" Target="../media/image455.png"/><Relationship Id="rId9" Type="http://schemas.openxmlformats.org/officeDocument/2006/relationships/image" Target="../media/image456.png"/><Relationship Id="rId10" Type="http://schemas.openxmlformats.org/officeDocument/2006/relationships/image" Target="../media/image457.png"/><Relationship Id="rId11" Type="http://schemas.openxmlformats.org/officeDocument/2006/relationships/image" Target="../media/image458.png"/></Relationships>
</file>

<file path=ppt/charts/_rels/chart68.xml.rels><?xml version='1.0' encoding='UTF-8' standalone='yes'?>
<Relationships xmlns="http://schemas.openxmlformats.org/package/2006/relationships"><Relationship Id="rId2" Type="http://schemas.openxmlformats.org/officeDocument/2006/relationships/image" Target="../media/image459.png"/><Relationship Id="rId3" Type="http://schemas.openxmlformats.org/officeDocument/2006/relationships/image" Target="../media/image460.png"/><Relationship Id="rId4" Type="http://schemas.openxmlformats.org/officeDocument/2006/relationships/image" Target="../media/image461.png"/><Relationship Id="rId5" Type="http://schemas.openxmlformats.org/officeDocument/2006/relationships/image" Target="../media/image462.png"/><Relationship Id="rId6" Type="http://schemas.openxmlformats.org/officeDocument/2006/relationships/image" Target="../media/image463.png"/><Relationship Id="rId7" Type="http://schemas.openxmlformats.org/officeDocument/2006/relationships/image" Target="../media/image464.png"/><Relationship Id="rId8" Type="http://schemas.openxmlformats.org/officeDocument/2006/relationships/image" Target="../media/image465.png"/><Relationship Id="rId9" Type="http://schemas.openxmlformats.org/officeDocument/2006/relationships/image" Target="../media/image466.png"/><Relationship Id="rId10" Type="http://schemas.openxmlformats.org/officeDocument/2006/relationships/image" Target="../media/image467.png"/></Relationships>
</file>

<file path=ppt/charts/_rels/chart69.xml.rels><?xml version='1.0' encoding='UTF-8' standalone='yes'?>
<Relationships xmlns="http://schemas.openxmlformats.org/package/2006/relationships"><Relationship Id="rId2" Type="http://schemas.openxmlformats.org/officeDocument/2006/relationships/image" Target="../media/image468.png"/><Relationship Id="rId3" Type="http://schemas.openxmlformats.org/officeDocument/2006/relationships/image" Target="../media/image469.png"/><Relationship Id="rId4" Type="http://schemas.openxmlformats.org/officeDocument/2006/relationships/image" Target="../media/image470.png"/><Relationship Id="rId5" Type="http://schemas.openxmlformats.org/officeDocument/2006/relationships/image" Target="../media/image471.png"/><Relationship Id="rId6" Type="http://schemas.openxmlformats.org/officeDocument/2006/relationships/image" Target="../media/image472.png"/><Relationship Id="rId7" Type="http://schemas.openxmlformats.org/officeDocument/2006/relationships/image" Target="../media/image473.png"/></Relationships>
</file>

<file path=ppt/charts/_rels/chart71.xml.rels><?xml version='1.0' encoding='UTF-8' standalone='yes'?>
<Relationships xmlns="http://schemas.openxmlformats.org/package/2006/relationships"><Relationship Id="rId2" Type="http://schemas.openxmlformats.org/officeDocument/2006/relationships/image" Target="../media/image474.png"/><Relationship Id="rId3" Type="http://schemas.openxmlformats.org/officeDocument/2006/relationships/image" Target="../media/image475.png"/><Relationship Id="rId4" Type="http://schemas.openxmlformats.org/officeDocument/2006/relationships/image" Target="../media/image476.png"/><Relationship Id="rId5" Type="http://schemas.openxmlformats.org/officeDocument/2006/relationships/image" Target="../media/image477.png"/><Relationship Id="rId6" Type="http://schemas.openxmlformats.org/officeDocument/2006/relationships/image" Target="../media/image478.png"/><Relationship Id="rId7" Type="http://schemas.openxmlformats.org/officeDocument/2006/relationships/image" Target="../media/image479.png"/><Relationship Id="rId8" Type="http://schemas.openxmlformats.org/officeDocument/2006/relationships/image" Target="../media/image480.png"/><Relationship Id="rId9" Type="http://schemas.openxmlformats.org/officeDocument/2006/relationships/image" Target="../media/image481.png"/><Relationship Id="rId10" Type="http://schemas.openxmlformats.org/officeDocument/2006/relationships/image" Target="../media/image482.png"/><Relationship Id="rId11" Type="http://schemas.openxmlformats.org/officeDocument/2006/relationships/image" Target="../media/image483.png"/><Relationship Id="rId12" Type="http://schemas.openxmlformats.org/officeDocument/2006/relationships/image" Target="../media/image484.png"/><Relationship Id="rId13" Type="http://schemas.openxmlformats.org/officeDocument/2006/relationships/image" Target="../media/image485.png"/><Relationship Id="rId14" Type="http://schemas.openxmlformats.org/officeDocument/2006/relationships/image" Target="../media/image486.png"/><Relationship Id="rId15" Type="http://schemas.openxmlformats.org/officeDocument/2006/relationships/image" Target="../media/image487.png"/><Relationship Id="rId16" Type="http://schemas.openxmlformats.org/officeDocument/2006/relationships/image" Target="../media/image488.png"/><Relationship Id="rId17" Type="http://schemas.openxmlformats.org/officeDocument/2006/relationships/image" Target="../media/image489.png"/><Relationship Id="rId18" Type="http://schemas.openxmlformats.org/officeDocument/2006/relationships/image" Target="../media/image490.png"/><Relationship Id="rId19" Type="http://schemas.openxmlformats.org/officeDocument/2006/relationships/image" Target="../media/image491.png"/><Relationship Id="rId20" Type="http://schemas.openxmlformats.org/officeDocument/2006/relationships/image" Target="../media/image492.png"/><Relationship Id="rId21" Type="http://schemas.openxmlformats.org/officeDocument/2006/relationships/image" Target="../media/image493.png"/><Relationship Id="rId22" Type="http://schemas.openxmlformats.org/officeDocument/2006/relationships/image" Target="../media/image494.png"/><Relationship Id="rId23" Type="http://schemas.openxmlformats.org/officeDocument/2006/relationships/image" Target="../media/image495.png"/><Relationship Id="rId24" Type="http://schemas.openxmlformats.org/officeDocument/2006/relationships/image" Target="../media/image496.png"/></Relationships>
</file>

<file path=ppt/charts/_rels/chart72.xml.rels><?xml version='1.0' encoding='UTF-8' standalone='yes'?>
<Relationships xmlns="http://schemas.openxmlformats.org/package/2006/relationships"><Relationship Id="rId2" Type="http://schemas.openxmlformats.org/officeDocument/2006/relationships/image" Target="../media/image497.png"/><Relationship Id="rId3" Type="http://schemas.openxmlformats.org/officeDocument/2006/relationships/image" Target="../media/image498.png"/><Relationship Id="rId4" Type="http://schemas.openxmlformats.org/officeDocument/2006/relationships/image" Target="../media/image499.png"/><Relationship Id="rId5" Type="http://schemas.openxmlformats.org/officeDocument/2006/relationships/image" Target="../media/image500.png"/><Relationship Id="rId6" Type="http://schemas.openxmlformats.org/officeDocument/2006/relationships/image" Target="../media/image501.png"/><Relationship Id="rId7" Type="http://schemas.openxmlformats.org/officeDocument/2006/relationships/image" Target="../media/image502.png"/><Relationship Id="rId8" Type="http://schemas.openxmlformats.org/officeDocument/2006/relationships/image" Target="../media/image503.png"/><Relationship Id="rId9" Type="http://schemas.openxmlformats.org/officeDocument/2006/relationships/image" Target="../media/image504.png"/><Relationship Id="rId10" Type="http://schemas.openxmlformats.org/officeDocument/2006/relationships/image" Target="../media/image505.png"/><Relationship Id="rId11" Type="http://schemas.openxmlformats.org/officeDocument/2006/relationships/image" Target="../media/image506.png"/><Relationship Id="rId12" Type="http://schemas.openxmlformats.org/officeDocument/2006/relationships/image" Target="../media/image507.png"/><Relationship Id="rId13" Type="http://schemas.openxmlformats.org/officeDocument/2006/relationships/image" Target="../media/image508.png"/><Relationship Id="rId14" Type="http://schemas.openxmlformats.org/officeDocument/2006/relationships/image" Target="../media/image509.png"/><Relationship Id="rId15" Type="http://schemas.openxmlformats.org/officeDocument/2006/relationships/image" Target="../media/image510.png"/><Relationship Id="rId16" Type="http://schemas.openxmlformats.org/officeDocument/2006/relationships/image" Target="../media/image511.png"/><Relationship Id="rId17" Type="http://schemas.openxmlformats.org/officeDocument/2006/relationships/image" Target="../media/image512.png"/><Relationship Id="rId18" Type="http://schemas.openxmlformats.org/officeDocument/2006/relationships/image" Target="../media/image513.png"/><Relationship Id="rId19" Type="http://schemas.openxmlformats.org/officeDocument/2006/relationships/image" Target="../media/image514.png"/><Relationship Id="rId20" Type="http://schemas.openxmlformats.org/officeDocument/2006/relationships/image" Target="../media/image515.png"/><Relationship Id="rId21" Type="http://schemas.openxmlformats.org/officeDocument/2006/relationships/image" Target="../media/image516.png"/><Relationship Id="rId22" Type="http://schemas.openxmlformats.org/officeDocument/2006/relationships/image" Target="../media/image517.png"/><Relationship Id="rId23" Type="http://schemas.openxmlformats.org/officeDocument/2006/relationships/image" Target="../media/image518.png"/><Relationship Id="rId24" Type="http://schemas.openxmlformats.org/officeDocument/2006/relationships/image" Target="../media/image519.png"/><Relationship Id="rId25" Type="http://schemas.openxmlformats.org/officeDocument/2006/relationships/image" Target="../media/image520.png"/></Relationships>
</file>

<file path=ppt/charts/_rels/chart83.xml.rels><?xml version='1.0' encoding='UTF-8' standalone='yes'?>
<Relationships xmlns="http://schemas.openxmlformats.org/package/2006/relationships"><Relationship Id="rId2" Type="http://schemas.openxmlformats.org/officeDocument/2006/relationships/image" Target="../media/image537.png"/><Relationship Id="rId3" Type="http://schemas.openxmlformats.org/officeDocument/2006/relationships/image" Target="../media/image538.png"/><Relationship Id="rId4" Type="http://schemas.openxmlformats.org/officeDocument/2006/relationships/image" Target="../media/image539.png"/><Relationship Id="rId5" Type="http://schemas.openxmlformats.org/officeDocument/2006/relationships/image" Target="../media/image540.png"/><Relationship Id="rId6" Type="http://schemas.openxmlformats.org/officeDocument/2006/relationships/image" Target="../media/image541.png"/><Relationship Id="rId7" Type="http://schemas.openxmlformats.org/officeDocument/2006/relationships/image" Target="../media/image542.png"/><Relationship Id="rId8" Type="http://schemas.openxmlformats.org/officeDocument/2006/relationships/image" Target="../media/image543.png"/><Relationship Id="rId9" Type="http://schemas.openxmlformats.org/officeDocument/2006/relationships/image" Target="../media/image544.png"/><Relationship Id="rId10" Type="http://schemas.openxmlformats.org/officeDocument/2006/relationships/image" Target="../media/image545.png"/><Relationship Id="rId11" Type="http://schemas.openxmlformats.org/officeDocument/2006/relationships/image" Target="../media/image546.png"/><Relationship Id="rId12" Type="http://schemas.openxmlformats.org/officeDocument/2006/relationships/image" Target="../media/image547.png"/><Relationship Id="rId13" Type="http://schemas.openxmlformats.org/officeDocument/2006/relationships/image" Target="../media/image548.png"/><Relationship Id="rId14" Type="http://schemas.openxmlformats.org/officeDocument/2006/relationships/image" Target="../media/image549.png"/><Relationship Id="rId15" Type="http://schemas.openxmlformats.org/officeDocument/2006/relationships/image" Target="../media/image550.png"/><Relationship Id="rId16" Type="http://schemas.openxmlformats.org/officeDocument/2006/relationships/image" Target="../media/image551.png"/><Relationship Id="rId17" Type="http://schemas.openxmlformats.org/officeDocument/2006/relationships/image" Target="../media/image552.png"/><Relationship Id="rId18" Type="http://schemas.openxmlformats.org/officeDocument/2006/relationships/image" Target="../media/image553.png"/><Relationship Id="rId19" Type="http://schemas.openxmlformats.org/officeDocument/2006/relationships/image" Target="../media/image554.png"/></Relationships>
</file>

<file path=ppt/charts/_rels/chart84.xml.rels><?xml version='1.0' encoding='UTF-8' standalone='yes'?>
<Relationships xmlns="http://schemas.openxmlformats.org/package/2006/relationships"><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70.png"/><Relationship Id="rId11" Type="http://schemas.openxmlformats.org/officeDocument/2006/relationships/image" Target="../media/image571.png"/><Relationship Id="rId12" Type="http://schemas.openxmlformats.org/officeDocument/2006/relationships/image" Target="../media/image572.png"/><Relationship Id="rId13" Type="http://schemas.openxmlformats.org/officeDocument/2006/relationships/image" Target="../media/image573.png"/><Relationship Id="rId14" Type="http://schemas.openxmlformats.org/officeDocument/2006/relationships/image" Target="../media/image574.png"/><Relationship Id="rId15" Type="http://schemas.openxmlformats.org/officeDocument/2006/relationships/image" Target="../media/image575.png"/><Relationship Id="rId16" Type="http://schemas.openxmlformats.org/officeDocument/2006/relationships/image" Target="../media/image576.png"/><Relationship Id="rId17" Type="http://schemas.openxmlformats.org/officeDocument/2006/relationships/image" Target="../media/image577.png"/><Relationship Id="rId18" Type="http://schemas.openxmlformats.org/officeDocument/2006/relationships/image" Target="../media/image578.png"/><Relationship Id="rId19" Type="http://schemas.openxmlformats.org/officeDocument/2006/relationships/image" Target="../media/image579.png"/><Relationship Id="rId20" Type="http://schemas.openxmlformats.org/officeDocument/2006/relationships/image" Target="../media/image580.png"/><Relationship Id="rId21" Type="http://schemas.openxmlformats.org/officeDocument/2006/relationships/image" Target="../media/image581.png"/><Relationship Id="rId22" Type="http://schemas.openxmlformats.org/officeDocument/2006/relationships/image" Target="../media/image582.png"/><Relationship Id="rId23" Type="http://schemas.openxmlformats.org/officeDocument/2006/relationships/image" Target="../media/image583.png"/><Relationship Id="rId24" Type="http://schemas.openxmlformats.org/officeDocument/2006/relationships/image" Target="../media/image584.png"/><Relationship Id="rId25" Type="http://schemas.openxmlformats.org/officeDocument/2006/relationships/image" Target="../media/image585.png"/><Relationship Id="rId26" Type="http://schemas.openxmlformats.org/officeDocument/2006/relationships/image" Target="../media/image586.png"/><Relationship Id="rId27" Type="http://schemas.openxmlformats.org/officeDocument/2006/relationships/image" Target="../media/image587.png"/><Relationship Id="rId28" Type="http://schemas.openxmlformats.org/officeDocument/2006/relationships/image" Target="../media/image588.png"/><Relationship Id="rId29" Type="http://schemas.openxmlformats.org/officeDocument/2006/relationships/image" Target="../media/image589.png"/><Relationship Id="rId30" Type="http://schemas.openxmlformats.org/officeDocument/2006/relationships/image" Target="../media/image590.png"/><Relationship Id="rId31" Type="http://schemas.openxmlformats.org/officeDocument/2006/relationships/image" Target="../media/image591.png"/><Relationship Id="rId32" Type="http://schemas.openxmlformats.org/officeDocument/2006/relationships/image" Target="../media/image592.png"/><Relationship Id="rId33" Type="http://schemas.openxmlformats.org/officeDocument/2006/relationships/image" Target="../media/image593.png"/><Relationship Id="rId34" Type="http://schemas.openxmlformats.org/officeDocument/2006/relationships/image" Target="../media/image594.png"/><Relationship Id="rId35" Type="http://schemas.openxmlformats.org/officeDocument/2006/relationships/image" Target="../media/image595.png"/></Relationships>
</file>

<file path=ppt/charts/_rels/chart89.xml.rels><?xml version='1.0' encoding='UTF-8' standalone='yes'?>
<Relationships xmlns="http://schemas.openxmlformats.org/package/2006/relationships"><Relationship Id="rId2" Type="http://schemas.openxmlformats.org/officeDocument/2006/relationships/image" Target="../media/image596.png"/><Relationship Id="rId3" Type="http://schemas.openxmlformats.org/officeDocument/2006/relationships/image" Target="../media/image597.png"/><Relationship Id="rId4" Type="http://schemas.openxmlformats.org/officeDocument/2006/relationships/image" Target="../media/image598.png"/><Relationship Id="rId5" Type="http://schemas.openxmlformats.org/officeDocument/2006/relationships/image" Target="../media/image599.png"/><Relationship Id="rId6" Type="http://schemas.openxmlformats.org/officeDocument/2006/relationships/image" Target="../media/image600.png"/><Relationship Id="rId7" Type="http://schemas.openxmlformats.org/officeDocument/2006/relationships/image" Target="../media/image601.png"/><Relationship Id="rId8" Type="http://schemas.openxmlformats.org/officeDocument/2006/relationships/image" Target="../media/image602.png"/><Relationship Id="rId9" Type="http://schemas.openxmlformats.org/officeDocument/2006/relationships/image" Target="../media/image603.png"/><Relationship Id="rId10" Type="http://schemas.openxmlformats.org/officeDocument/2006/relationships/image" Target="../media/image604.png"/></Relationships>
</file>

<file path=ppt/charts/_rels/chart98.xml.rels><?xml version='1.0' encoding='UTF-8' standalone='yes'?>
<Relationships xmlns="http://schemas.openxmlformats.org/package/2006/relationships"><Relationship Id="rId2" Type="http://schemas.openxmlformats.org/officeDocument/2006/relationships/image" Target="../media/image616.png"/><Relationship Id="rId3" Type="http://schemas.openxmlformats.org/officeDocument/2006/relationships/image" Target="../media/image617.png"/><Relationship Id="rId4" Type="http://schemas.openxmlformats.org/officeDocument/2006/relationships/image" Target="../media/image618.png"/><Relationship Id="rId5" Type="http://schemas.openxmlformats.org/officeDocument/2006/relationships/image" Target="../media/image619.png"/><Relationship Id="rId6" Type="http://schemas.openxmlformats.org/officeDocument/2006/relationships/image" Target="../media/image620.png"/><Relationship Id="rId7" Type="http://schemas.openxmlformats.org/officeDocument/2006/relationships/image" Target="../media/image621.png"/><Relationship Id="rId8" Type="http://schemas.openxmlformats.org/officeDocument/2006/relationships/image" Target="../media/image622.png"/><Relationship Id="rId9" Type="http://schemas.openxmlformats.org/officeDocument/2006/relationships/image" Target="../media/image623.png"/><Relationship Id="rId10" Type="http://schemas.openxmlformats.org/officeDocument/2006/relationships/image" Target="../media/image624.png"/><Relationship Id="rId11" Type="http://schemas.openxmlformats.org/officeDocument/2006/relationships/image" Target="../media/image625.png"/><Relationship Id="rId12" Type="http://schemas.openxmlformats.org/officeDocument/2006/relationships/image" Target="../media/image626.png"/><Relationship Id="rId13" Type="http://schemas.openxmlformats.org/officeDocument/2006/relationships/image" Target="../media/image627.png"/><Relationship Id="rId14" Type="http://schemas.openxmlformats.org/officeDocument/2006/relationships/image" Target="../media/image628.png"/><Relationship Id="rId15" Type="http://schemas.openxmlformats.org/officeDocument/2006/relationships/image" Target="../media/image629.png"/><Relationship Id="rId16" Type="http://schemas.openxmlformats.org/officeDocument/2006/relationships/image" Target="../media/image630.png"/><Relationship Id="rId17" Type="http://schemas.openxmlformats.org/officeDocument/2006/relationships/image" Target="../media/image631.png"/><Relationship Id="rId18" Type="http://schemas.openxmlformats.org/officeDocument/2006/relationships/image" Target="../media/image632.png"/><Relationship Id="rId19" Type="http://schemas.openxmlformats.org/officeDocument/2006/relationships/image" Target="../media/image633.png"/></Relationships>
</file>

<file path=ppt/charts/_rels/chart99.xml.rels><?xml version='1.0' encoding='UTF-8' standalone='yes'?>
<Relationships xmlns="http://schemas.openxmlformats.org/package/2006/relationships"><Relationship Id="rId2" Type="http://schemas.openxmlformats.org/officeDocument/2006/relationships/image" Target="../media/image644.png"/><Relationship Id="rId3" Type="http://schemas.openxmlformats.org/officeDocument/2006/relationships/image" Target="../media/image645.png"/><Relationship Id="rId4" Type="http://schemas.openxmlformats.org/officeDocument/2006/relationships/image" Target="../media/image646.png"/><Relationship Id="rId5" Type="http://schemas.openxmlformats.org/officeDocument/2006/relationships/image" Target="../media/image647.png"/><Relationship Id="rId6" Type="http://schemas.openxmlformats.org/officeDocument/2006/relationships/image" Target="../media/image648.png"/><Relationship Id="rId7" Type="http://schemas.openxmlformats.org/officeDocument/2006/relationships/image" Target="../media/image649.png"/><Relationship Id="rId8" Type="http://schemas.openxmlformats.org/officeDocument/2006/relationships/image" Target="../media/image650.png"/><Relationship Id="rId9" Type="http://schemas.openxmlformats.org/officeDocument/2006/relationships/image" Target="../media/image651.png"/><Relationship Id="rId10" Type="http://schemas.openxmlformats.org/officeDocument/2006/relationships/image" Target="../media/image652.png"/><Relationship Id="rId11" Type="http://schemas.openxmlformats.org/officeDocument/2006/relationships/image" Target="../media/image653.png"/><Relationship Id="rId12" Type="http://schemas.openxmlformats.org/officeDocument/2006/relationships/image" Target="../media/image654.png"/><Relationship Id="rId13" Type="http://schemas.openxmlformats.org/officeDocument/2006/relationships/image" Target="../media/image655.png"/><Relationship Id="rId14" Type="http://schemas.openxmlformats.org/officeDocument/2006/relationships/image" Target="../media/image656.png"/><Relationship Id="rId15" Type="http://schemas.openxmlformats.org/officeDocument/2006/relationships/image" Target="../media/image657.png"/><Relationship Id="rId16" Type="http://schemas.openxmlformats.org/officeDocument/2006/relationships/image" Target="../media/image658.png"/><Relationship Id="rId17" Type="http://schemas.openxmlformats.org/officeDocument/2006/relationships/image" Target="../media/image659.png"/><Relationship Id="rId18" Type="http://schemas.openxmlformats.org/officeDocument/2006/relationships/image" Target="../media/image660.png"/><Relationship Id="rId19" Type="http://schemas.openxmlformats.org/officeDocument/2006/relationships/image" Target="../media/image661.png"/><Relationship Id="rId20" Type="http://schemas.openxmlformats.org/officeDocument/2006/relationships/image" Target="../media/image662.png"/><Relationship Id="rId21" Type="http://schemas.openxmlformats.org/officeDocument/2006/relationships/image" Target="../media/image663.png"/><Relationship Id="rId22" Type="http://schemas.openxmlformats.org/officeDocument/2006/relationships/image" Target="../media/image664.png"/><Relationship Id="rId23" Type="http://schemas.openxmlformats.org/officeDocument/2006/relationships/image" Target="../media/image665.png"/><Relationship Id="rId24" Type="http://schemas.openxmlformats.org/officeDocument/2006/relationships/image" Target="../media/image666.png"/><Relationship Id="rId25" Type="http://schemas.openxmlformats.org/officeDocument/2006/relationships/image" Target="../media/image667.png"/><Relationship Id="rId26" Type="http://schemas.openxmlformats.org/officeDocument/2006/relationships/image" Target="../media/image668.png"/><Relationship Id="rId27" Type="http://schemas.openxmlformats.org/officeDocument/2006/relationships/image" Target="../media/image669.png"/><Relationship Id="rId28" Type="http://schemas.openxmlformats.org/officeDocument/2006/relationships/image" Target="../media/image670.png"/><Relationship Id="rId29" Type="http://schemas.openxmlformats.org/officeDocument/2006/relationships/image" Target="../media/image671.png"/><Relationship Id="rId30" Type="http://schemas.openxmlformats.org/officeDocument/2006/relationships/image" Target="../media/image672.png"/><Relationship Id="rId31" Type="http://schemas.openxmlformats.org/officeDocument/2006/relationships/image" Target="../media/image673.png"/><Relationship Id="rId32" Type="http://schemas.openxmlformats.org/officeDocument/2006/relationships/image" Target="../media/image674.png"/><Relationship Id="rId33" Type="http://schemas.openxmlformats.org/officeDocument/2006/relationships/image" Target="../media/image675.png"/><Relationship Id="rId34" Type="http://schemas.openxmlformats.org/officeDocument/2006/relationships/image" Target="../media/image676.png"/><Relationship Id="rId35" Type="http://schemas.openxmlformats.org/officeDocument/2006/relationships/image" Target="../media/image677.png"/><Relationship Id="rId36" Type="http://schemas.openxmlformats.org/officeDocument/2006/relationships/image" Target="../media/image678.png"/><Relationship Id="rId37" Type="http://schemas.openxmlformats.org/officeDocument/2006/relationships/image" Target="../media/image679.png"/><Relationship Id="rId38" Type="http://schemas.openxmlformats.org/officeDocument/2006/relationships/image" Target="../media/image680.png"/><Relationship Id="rId39" Type="http://schemas.openxmlformats.org/officeDocument/2006/relationships/image" Target="../media/image681.png"/><Relationship Id="rId40" Type="http://schemas.openxmlformats.org/officeDocument/2006/relationships/image" Target="../media/image682.png"/><Relationship Id="rId41" Type="http://schemas.openxmlformats.org/officeDocument/2006/relationships/image" Target="../media/image683.png"/><Relationship Id="rId42" Type="http://schemas.openxmlformats.org/officeDocument/2006/relationships/image" Target="../media/image684.png"/><Relationship Id="rId43" Type="http://schemas.openxmlformats.org/officeDocument/2006/relationships/image" Target="../media/image685.png"/><Relationship Id="rId44" Type="http://schemas.openxmlformats.org/officeDocument/2006/relationships/image" Target="../media/image686.png"/><Relationship Id="rId45" Type="http://schemas.openxmlformats.org/officeDocument/2006/relationships/image" Target="../media/image687.png"/></Relationships>
</file>

<file path=ppt/charts/_rels/chart105.xml.rels><?xml version='1.0' encoding='UTF-8' standalone='yes'?>
<Relationships xmlns="http://schemas.openxmlformats.org/package/2006/relationships"><Relationship Id="rId2" Type="http://schemas.openxmlformats.org/officeDocument/2006/relationships/image" Target="../media/image688.png"/><Relationship Id="rId3" Type="http://schemas.openxmlformats.org/officeDocument/2006/relationships/image" Target="../media/image689.png"/><Relationship Id="rId4" Type="http://schemas.openxmlformats.org/officeDocument/2006/relationships/image" Target="../media/image690.png"/><Relationship Id="rId5" Type="http://schemas.openxmlformats.org/officeDocument/2006/relationships/image" Target="../media/image691.png"/><Relationship Id="rId6" Type="http://schemas.openxmlformats.org/officeDocument/2006/relationships/image" Target="../media/image692.png"/><Relationship Id="rId7" Type="http://schemas.openxmlformats.org/officeDocument/2006/relationships/image" Target="../media/image693.png"/><Relationship Id="rId8" Type="http://schemas.openxmlformats.org/officeDocument/2006/relationships/image" Target="../media/image694.png"/><Relationship Id="rId9" Type="http://schemas.openxmlformats.org/officeDocument/2006/relationships/image" Target="../media/image695.png"/><Relationship Id="rId10" Type="http://schemas.openxmlformats.org/officeDocument/2006/relationships/image" Target="../media/image696.png"/><Relationship Id="rId11" Type="http://schemas.openxmlformats.org/officeDocument/2006/relationships/image" Target="../media/image697.png"/></Relationships>
</file>

<file path=ppt/charts/_rels/chart106.xml.rels><?xml version='1.0' encoding='UTF-8' standalone='yes'?>
<Relationships xmlns="http://schemas.openxmlformats.org/package/2006/relationships"><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image" Target="../media/image717.png"/><Relationship Id="rId8" Type="http://schemas.openxmlformats.org/officeDocument/2006/relationships/image" Target="../media/image718.png"/><Relationship Id="rId9" Type="http://schemas.openxmlformats.org/officeDocument/2006/relationships/image" Target="../media/image719.png"/><Relationship Id="rId10" Type="http://schemas.openxmlformats.org/officeDocument/2006/relationships/image" Target="../media/image720.png"/><Relationship Id="rId11" Type="http://schemas.openxmlformats.org/officeDocument/2006/relationships/image" Target="../media/image721.png"/><Relationship Id="rId12" Type="http://schemas.openxmlformats.org/officeDocument/2006/relationships/image" Target="../media/image722.png"/><Relationship Id="rId13" Type="http://schemas.openxmlformats.org/officeDocument/2006/relationships/image" Target="../media/image723.png"/><Relationship Id="rId14" Type="http://schemas.openxmlformats.org/officeDocument/2006/relationships/image" Target="../media/image724.png"/><Relationship Id="rId15" Type="http://schemas.openxmlformats.org/officeDocument/2006/relationships/image" Target="../media/image725.png"/><Relationship Id="rId16" Type="http://schemas.openxmlformats.org/officeDocument/2006/relationships/image" Target="../media/image726.png"/><Relationship Id="rId17" Type="http://schemas.openxmlformats.org/officeDocument/2006/relationships/image" Target="../media/image727.png"/><Relationship Id="rId18" Type="http://schemas.openxmlformats.org/officeDocument/2006/relationships/image" Target="../media/image728.png"/><Relationship Id="rId19" Type="http://schemas.openxmlformats.org/officeDocument/2006/relationships/image" Target="../media/image729.png"/><Relationship Id="rId20" Type="http://schemas.openxmlformats.org/officeDocument/2006/relationships/image" Target="../media/image730.png"/><Relationship Id="rId21" Type="http://schemas.openxmlformats.org/officeDocument/2006/relationships/image" Target="../media/image731.png"/><Relationship Id="rId22" Type="http://schemas.openxmlformats.org/officeDocument/2006/relationships/image" Target="../media/image732.png"/><Relationship Id="rId23" Type="http://schemas.openxmlformats.org/officeDocument/2006/relationships/image" Target="../media/image733.png"/><Relationship Id="rId24" Type="http://schemas.openxmlformats.org/officeDocument/2006/relationships/image" Target="../media/image734.png"/><Relationship Id="rId25" Type="http://schemas.openxmlformats.org/officeDocument/2006/relationships/image" Target="../media/image735.png"/><Relationship Id="rId26" Type="http://schemas.openxmlformats.org/officeDocument/2006/relationships/image" Target="../media/image736.png"/><Relationship Id="rId27" Type="http://schemas.openxmlformats.org/officeDocument/2006/relationships/image" Target="../media/image737.png"/><Relationship Id="rId28" Type="http://schemas.openxmlformats.org/officeDocument/2006/relationships/image" Target="../media/image738.png"/><Relationship Id="rId29" Type="http://schemas.openxmlformats.org/officeDocument/2006/relationships/image" Target="../media/image739.png"/><Relationship Id="rId30" Type="http://schemas.openxmlformats.org/officeDocument/2006/relationships/image" Target="../media/image740.png"/><Relationship Id="rId31" Type="http://schemas.openxmlformats.org/officeDocument/2006/relationships/image" Target="../media/image741.png"/><Relationship Id="rId32" Type="http://schemas.openxmlformats.org/officeDocument/2006/relationships/image" Target="../media/image742.png"/><Relationship Id="rId33" Type="http://schemas.openxmlformats.org/officeDocument/2006/relationships/image" Target="../media/image743.png"/><Relationship Id="rId34" Type="http://schemas.openxmlformats.org/officeDocument/2006/relationships/image" Target="../media/image744.png"/><Relationship Id="rId35" Type="http://schemas.openxmlformats.org/officeDocument/2006/relationships/image" Target="../media/image745.png"/><Relationship Id="rId36" Type="http://schemas.openxmlformats.org/officeDocument/2006/relationships/image" Target="../media/image746.png"/><Relationship Id="rId37" Type="http://schemas.openxmlformats.org/officeDocument/2006/relationships/image" Target="../media/image747.png"/><Relationship Id="rId38" Type="http://schemas.openxmlformats.org/officeDocument/2006/relationships/image" Target="../media/image748.png"/><Relationship Id="rId39" Type="http://schemas.openxmlformats.org/officeDocument/2006/relationships/image" Target="../media/image749.png"/><Relationship Id="rId40" Type="http://schemas.openxmlformats.org/officeDocument/2006/relationships/image" Target="../media/image750.png"/><Relationship Id="rId41" Type="http://schemas.openxmlformats.org/officeDocument/2006/relationships/image" Target="../media/image751.png"/><Relationship Id="rId42" Type="http://schemas.openxmlformats.org/officeDocument/2006/relationships/image" Target="../media/image752.png"/><Relationship Id="rId43" Type="http://schemas.openxmlformats.org/officeDocument/2006/relationships/image" Target="../media/image753.png"/><Relationship Id="rId44" Type="http://schemas.openxmlformats.org/officeDocument/2006/relationships/image" Target="../media/image754.png"/><Relationship Id="rId45" Type="http://schemas.openxmlformats.org/officeDocument/2006/relationships/image" Target="../media/image755.png"/><Relationship Id="rId46" Type="http://schemas.openxmlformats.org/officeDocument/2006/relationships/image" Target="../media/image756.png"/><Relationship Id="rId47" Type="http://schemas.openxmlformats.org/officeDocument/2006/relationships/image" Target="../media/image757.png"/><Relationship Id="rId48" Type="http://schemas.openxmlformats.org/officeDocument/2006/relationships/image" Target="../media/image758.png"/><Relationship Id="rId49" Type="http://schemas.openxmlformats.org/officeDocument/2006/relationships/image" Target="../media/image759.png"/><Relationship Id="rId50" Type="http://schemas.openxmlformats.org/officeDocument/2006/relationships/image" Target="../media/image760.png"/><Relationship Id="rId51" Type="http://schemas.openxmlformats.org/officeDocument/2006/relationships/image" Target="../media/image761.png"/></Relationships>
</file>

<file path=ppt/charts/_rels/chart113.xml.rels><?xml version='1.0' encoding='UTF-8' standalone='yes'?>
<Relationships xmlns="http://schemas.openxmlformats.org/package/2006/relationships"><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8" Type="http://schemas.openxmlformats.org/officeDocument/2006/relationships/image" Target="../media/image768.png"/><Relationship Id="rId9" Type="http://schemas.openxmlformats.org/officeDocument/2006/relationships/image" Target="../media/image769.png"/><Relationship Id="rId10" Type="http://schemas.openxmlformats.org/officeDocument/2006/relationships/image" Target="../media/image770.png"/><Relationship Id="rId11" Type="http://schemas.openxmlformats.org/officeDocument/2006/relationships/image" Target="../media/image771.png"/><Relationship Id="rId12" Type="http://schemas.openxmlformats.org/officeDocument/2006/relationships/image" Target="../media/image772.png"/><Relationship Id="rId13" Type="http://schemas.openxmlformats.org/officeDocument/2006/relationships/image" Target="../media/image773.png"/><Relationship Id="rId14" Type="http://schemas.openxmlformats.org/officeDocument/2006/relationships/image" Target="../media/image774.png"/><Relationship Id="rId15" Type="http://schemas.openxmlformats.org/officeDocument/2006/relationships/image" Target="../media/image775.png"/><Relationship Id="rId16" Type="http://schemas.openxmlformats.org/officeDocument/2006/relationships/image" Target="../media/image776.png"/></Relationships>
</file>

<file path=ppt/charts/_rels/chart114.xml.rels><?xml version='1.0' encoding='UTF-8' standalone='yes'?>
<Relationships xmlns="http://schemas.openxmlformats.org/package/2006/relationships"><Relationship Id="rId2" Type="http://schemas.openxmlformats.org/officeDocument/2006/relationships/image" Target="../media/image785.png"/><Relationship Id="rId3" Type="http://schemas.openxmlformats.org/officeDocument/2006/relationships/image" Target="../media/image786.png"/><Relationship Id="rId4" Type="http://schemas.openxmlformats.org/officeDocument/2006/relationships/image" Target="../media/image787.png"/><Relationship Id="rId5" Type="http://schemas.openxmlformats.org/officeDocument/2006/relationships/image" Target="../media/image788.png"/><Relationship Id="rId6" Type="http://schemas.openxmlformats.org/officeDocument/2006/relationships/image" Target="../media/image789.png"/><Relationship Id="rId7" Type="http://schemas.openxmlformats.org/officeDocument/2006/relationships/image" Target="../media/image790.png"/><Relationship Id="rId8" Type="http://schemas.openxmlformats.org/officeDocument/2006/relationships/image" Target="../media/image791.png"/><Relationship Id="rId9" Type="http://schemas.openxmlformats.org/officeDocument/2006/relationships/image" Target="../media/image792.png"/><Relationship Id="rId10" Type="http://schemas.openxmlformats.org/officeDocument/2006/relationships/image" Target="../media/image793.png"/><Relationship Id="rId11" Type="http://schemas.openxmlformats.org/officeDocument/2006/relationships/image" Target="../media/image794.png"/><Relationship Id="rId12" Type="http://schemas.openxmlformats.org/officeDocument/2006/relationships/image" Target="../media/image795.png"/><Relationship Id="rId13" Type="http://schemas.openxmlformats.org/officeDocument/2006/relationships/image" Target="../media/image796.png"/><Relationship Id="rId14" Type="http://schemas.openxmlformats.org/officeDocument/2006/relationships/image" Target="../media/image797.png"/><Relationship Id="rId15" Type="http://schemas.openxmlformats.org/officeDocument/2006/relationships/image" Target="../media/image798.png"/><Relationship Id="rId16" Type="http://schemas.openxmlformats.org/officeDocument/2006/relationships/image" Target="../media/image799.png"/><Relationship Id="rId17" Type="http://schemas.openxmlformats.org/officeDocument/2006/relationships/image" Target="../media/image800.png"/><Relationship Id="rId18" Type="http://schemas.openxmlformats.org/officeDocument/2006/relationships/image" Target="../media/image801.png"/><Relationship Id="rId19" Type="http://schemas.openxmlformats.org/officeDocument/2006/relationships/image" Target="../media/image802.png"/><Relationship Id="rId20" Type="http://schemas.openxmlformats.org/officeDocument/2006/relationships/image" Target="../media/image803.png"/><Relationship Id="rId21" Type="http://schemas.openxmlformats.org/officeDocument/2006/relationships/image" Target="../media/image804.png"/><Relationship Id="rId22" Type="http://schemas.openxmlformats.org/officeDocument/2006/relationships/image" Target="../media/image805.png"/><Relationship Id="rId23" Type="http://schemas.openxmlformats.org/officeDocument/2006/relationships/image" Target="../media/image806.png"/><Relationship Id="rId24" Type="http://schemas.openxmlformats.org/officeDocument/2006/relationships/image" Target="../media/image807.png"/><Relationship Id="rId25" Type="http://schemas.openxmlformats.org/officeDocument/2006/relationships/image" Target="../media/image808.png"/><Relationship Id="rId26" Type="http://schemas.openxmlformats.org/officeDocument/2006/relationships/image" Target="../media/image809.png"/><Relationship Id="rId27" Type="http://schemas.openxmlformats.org/officeDocument/2006/relationships/image" Target="../media/image810.png"/><Relationship Id="rId28" Type="http://schemas.openxmlformats.org/officeDocument/2006/relationships/image" Target="../media/image811.png"/><Relationship Id="rId29" Type="http://schemas.openxmlformats.org/officeDocument/2006/relationships/image" Target="../media/image812.png"/><Relationship Id="rId30" Type="http://schemas.openxmlformats.org/officeDocument/2006/relationships/image" Target="../media/image813.png"/><Relationship Id="rId31" Type="http://schemas.openxmlformats.org/officeDocument/2006/relationships/image" Target="../media/image814.png"/><Relationship Id="rId32" Type="http://schemas.openxmlformats.org/officeDocument/2006/relationships/image" Target="../media/image815.png"/><Relationship Id="rId33" Type="http://schemas.openxmlformats.org/officeDocument/2006/relationships/image" Target="../media/image816.png"/><Relationship Id="rId34" Type="http://schemas.openxmlformats.org/officeDocument/2006/relationships/image" Target="../media/image817.png"/><Relationship Id="rId35" Type="http://schemas.openxmlformats.org/officeDocument/2006/relationships/image" Target="../media/image818.png"/><Relationship Id="rId36" Type="http://schemas.openxmlformats.org/officeDocument/2006/relationships/image" Target="../media/image819.png"/><Relationship Id="rId37" Type="http://schemas.openxmlformats.org/officeDocument/2006/relationships/image" Target="../media/image820.png"/></Relationships>
</file>

<file path=ppt/charts/_rels/chart120.xml.rels><?xml version='1.0' encoding='UTF-8' standalone='yes'?>
<Relationships xmlns="http://schemas.openxmlformats.org/package/2006/relationships"><Relationship Id="rId2" Type="http://schemas.openxmlformats.org/officeDocument/2006/relationships/image" Target="../media/image821.png"/><Relationship Id="rId3" Type="http://schemas.openxmlformats.org/officeDocument/2006/relationships/image" Target="../media/image822.png"/><Relationship Id="rId4" Type="http://schemas.openxmlformats.org/officeDocument/2006/relationships/image" Target="../media/image823.png"/><Relationship Id="rId5" Type="http://schemas.openxmlformats.org/officeDocument/2006/relationships/image" Target="../media/image824.png"/><Relationship Id="rId6" Type="http://schemas.openxmlformats.org/officeDocument/2006/relationships/image" Target="../media/image825.png"/><Relationship Id="rId7" Type="http://schemas.openxmlformats.org/officeDocument/2006/relationships/image" Target="../media/image826.png"/><Relationship Id="rId8" Type="http://schemas.openxmlformats.org/officeDocument/2006/relationships/image" Target="../media/image827.png"/><Relationship Id="rId9" Type="http://schemas.openxmlformats.org/officeDocument/2006/relationships/image" Target="../media/image828.png"/><Relationship Id="rId10" Type="http://schemas.openxmlformats.org/officeDocument/2006/relationships/image" Target="../media/image829.png"/><Relationship Id="rId11" Type="http://schemas.openxmlformats.org/officeDocument/2006/relationships/image" Target="../media/image830.png"/><Relationship Id="rId12" Type="http://schemas.openxmlformats.org/officeDocument/2006/relationships/image" Target="../media/image831.png"/><Relationship Id="rId13" Type="http://schemas.openxmlformats.org/officeDocument/2006/relationships/image" Target="../media/image832.png"/></Relationships>
</file>

<file path=ppt/charts/_rels/chart150.xml.rels><?xml version='1.0' encoding='UTF-8' standalone='yes'?>
<Relationships xmlns="http://schemas.openxmlformats.org/package/2006/relationships"><Relationship Id="rId2" Type="http://schemas.openxmlformats.org/officeDocument/2006/relationships/image" Target="../media/image833.png"/><Relationship Id="rId3" Type="http://schemas.openxmlformats.org/officeDocument/2006/relationships/image" Target="../media/image834.png"/><Relationship Id="rId4" Type="http://schemas.openxmlformats.org/officeDocument/2006/relationships/image" Target="../media/image835.png"/><Relationship Id="rId5" Type="http://schemas.openxmlformats.org/officeDocument/2006/relationships/image" Target="../media/image836.png"/><Relationship Id="rId6" Type="http://schemas.openxmlformats.org/officeDocument/2006/relationships/image" Target="../media/image837.png"/><Relationship Id="rId7" Type="http://schemas.openxmlformats.org/officeDocument/2006/relationships/image" Target="../media/image838.png"/><Relationship Id="rId8" Type="http://schemas.openxmlformats.org/officeDocument/2006/relationships/image" Target="../media/image839.png"/><Relationship Id="rId9" Type="http://schemas.openxmlformats.org/officeDocument/2006/relationships/image" Target="../media/image840.png"/><Relationship Id="rId10" Type="http://schemas.openxmlformats.org/officeDocument/2006/relationships/image" Target="../media/image841.png"/><Relationship Id="rId11" Type="http://schemas.openxmlformats.org/officeDocument/2006/relationships/image" Target="../media/image842.png"/></Relationships>
</file>

<file path=ppt/charts/_rels/chart151.xml.rels><?xml version='1.0' encoding='UTF-8' standalone='yes'?>
<Relationships xmlns="http://schemas.openxmlformats.org/package/2006/relationships"><Relationship Id="rId2" Type="http://schemas.openxmlformats.org/officeDocument/2006/relationships/image" Target="../media/image843.png"/><Relationship Id="rId3" Type="http://schemas.openxmlformats.org/officeDocument/2006/relationships/image" Target="../media/image844.png"/><Relationship Id="rId4" Type="http://schemas.openxmlformats.org/officeDocument/2006/relationships/image" Target="../media/image845.png"/><Relationship Id="rId5" Type="http://schemas.openxmlformats.org/officeDocument/2006/relationships/image" Target="../media/image846.png"/><Relationship Id="rId6" Type="http://schemas.openxmlformats.org/officeDocument/2006/relationships/image" Target="../media/image847.png"/><Relationship Id="rId7" Type="http://schemas.openxmlformats.org/officeDocument/2006/relationships/image" Target="../media/image848.png"/><Relationship Id="rId8" Type="http://schemas.openxmlformats.org/officeDocument/2006/relationships/image" Target="../media/image849.png"/><Relationship Id="rId9" Type="http://schemas.openxmlformats.org/officeDocument/2006/relationships/image" Target="../media/image850.png"/><Relationship Id="rId10" Type="http://schemas.openxmlformats.org/officeDocument/2006/relationships/image" Target="../media/image851.png"/><Relationship Id="rId11" Type="http://schemas.openxmlformats.org/officeDocument/2006/relationships/image" Target="../media/image852.png"/><Relationship Id="rId12" Type="http://schemas.openxmlformats.org/officeDocument/2006/relationships/image" Target="../media/image853.png"/></Relationships>
</file>

<file path=ppt/charts/_rels/chart152.xml.rels><?xml version='1.0' encoding='UTF-8' standalone='yes'?>
<Relationships xmlns="http://schemas.openxmlformats.org/package/2006/relationships"><Relationship Id="rId2" Type="http://schemas.openxmlformats.org/officeDocument/2006/relationships/image" Target="../media/image854.png"/><Relationship Id="rId3" Type="http://schemas.openxmlformats.org/officeDocument/2006/relationships/image" Target="../media/image855.png"/><Relationship Id="rId4" Type="http://schemas.openxmlformats.org/officeDocument/2006/relationships/image" Target="../media/image856.png"/><Relationship Id="rId5" Type="http://schemas.openxmlformats.org/officeDocument/2006/relationships/image" Target="../media/image857.png"/><Relationship Id="rId6" Type="http://schemas.openxmlformats.org/officeDocument/2006/relationships/image" Target="../media/image858.png"/><Relationship Id="rId7" Type="http://schemas.openxmlformats.org/officeDocument/2006/relationships/image" Target="../media/image859.png"/><Relationship Id="rId8" Type="http://schemas.openxmlformats.org/officeDocument/2006/relationships/image" Target="../media/image860.png"/><Relationship Id="rId9" Type="http://schemas.openxmlformats.org/officeDocument/2006/relationships/image" Target="../media/image861.png"/><Relationship Id="rId10" Type="http://schemas.openxmlformats.org/officeDocument/2006/relationships/image" Target="../media/image862.png"/><Relationship Id="rId11" Type="http://schemas.openxmlformats.org/officeDocument/2006/relationships/image" Target="../media/image863.png"/></Relationships>
</file>

<file path=ppt/charts/_rels/chart153.xml.rels><?xml version='1.0' encoding='UTF-8' standalone='yes'?>
<Relationships xmlns="http://schemas.openxmlformats.org/package/2006/relationships"><Relationship Id="rId2" Type="http://schemas.openxmlformats.org/officeDocument/2006/relationships/image" Target="../media/image864.png"/><Relationship Id="rId3" Type="http://schemas.openxmlformats.org/officeDocument/2006/relationships/image" Target="../media/image865.png"/><Relationship Id="rId4" Type="http://schemas.openxmlformats.org/officeDocument/2006/relationships/image" Target="../media/image866.png"/><Relationship Id="rId5" Type="http://schemas.openxmlformats.org/officeDocument/2006/relationships/image" Target="../media/image867.png"/><Relationship Id="rId6" Type="http://schemas.openxmlformats.org/officeDocument/2006/relationships/image" Target="../media/image868.png"/><Relationship Id="rId7" Type="http://schemas.openxmlformats.org/officeDocument/2006/relationships/image" Target="../media/image869.png"/><Relationship Id="rId8" Type="http://schemas.openxmlformats.org/officeDocument/2006/relationships/image" Target="../media/image870.png"/><Relationship Id="rId9" Type="http://schemas.openxmlformats.org/officeDocument/2006/relationships/image" Target="../media/image871.png"/><Relationship Id="rId10" Type="http://schemas.openxmlformats.org/officeDocument/2006/relationships/image" Target="../media/image872.png"/><Relationship Id="rId11" Type="http://schemas.openxmlformats.org/officeDocument/2006/relationships/image" Target="../media/image873.png"/><Relationship Id="rId12" Type="http://schemas.openxmlformats.org/officeDocument/2006/relationships/image" Target="../media/image874.png"/></Relationships>
</file>

<file path=ppt/charts/_rels/chart154.xml.rels><?xml version='1.0' encoding='UTF-8' standalone='yes'?>
<Relationships xmlns="http://schemas.openxmlformats.org/package/2006/relationships"><Relationship Id="rId2" Type="http://schemas.openxmlformats.org/officeDocument/2006/relationships/image" Target="../media/image875.png"/><Relationship Id="rId3" Type="http://schemas.openxmlformats.org/officeDocument/2006/relationships/image" Target="../media/image876.png"/><Relationship Id="rId4" Type="http://schemas.openxmlformats.org/officeDocument/2006/relationships/image" Target="../media/image877.png"/><Relationship Id="rId5" Type="http://schemas.openxmlformats.org/officeDocument/2006/relationships/image" Target="../media/image878.png"/><Relationship Id="rId6" Type="http://schemas.openxmlformats.org/officeDocument/2006/relationships/image" Target="../media/image879.png"/><Relationship Id="rId7" Type="http://schemas.openxmlformats.org/officeDocument/2006/relationships/image" Target="../media/image880.png"/><Relationship Id="rId8" Type="http://schemas.openxmlformats.org/officeDocument/2006/relationships/image" Target="../media/image881.png"/><Relationship Id="rId9" Type="http://schemas.openxmlformats.org/officeDocument/2006/relationships/image" Target="../media/image882.png"/><Relationship Id="rId10" Type="http://schemas.openxmlformats.org/officeDocument/2006/relationships/image" Target="../media/image883.png"/><Relationship Id="rId11" Type="http://schemas.openxmlformats.org/officeDocument/2006/relationships/image" Target="../media/image884.png"/></Relationships>
</file>

<file path=ppt/charts/_rels/chart155.xml.rels><?xml version='1.0' encoding='UTF-8' standalone='yes'?>
<Relationships xmlns="http://schemas.openxmlformats.org/package/2006/relationships"><Relationship Id="rId2" Type="http://schemas.openxmlformats.org/officeDocument/2006/relationships/image" Target="../media/image885.png"/><Relationship Id="rId3" Type="http://schemas.openxmlformats.org/officeDocument/2006/relationships/image" Target="../media/image886.png"/><Relationship Id="rId4" Type="http://schemas.openxmlformats.org/officeDocument/2006/relationships/image" Target="../media/image887.png"/><Relationship Id="rId5" Type="http://schemas.openxmlformats.org/officeDocument/2006/relationships/image" Target="../media/image888.png"/><Relationship Id="rId6" Type="http://schemas.openxmlformats.org/officeDocument/2006/relationships/image" Target="../media/image889.png"/><Relationship Id="rId7" Type="http://schemas.openxmlformats.org/officeDocument/2006/relationships/image" Target="../media/image890.png"/><Relationship Id="rId8" Type="http://schemas.openxmlformats.org/officeDocument/2006/relationships/image" Target="../media/image891.png"/><Relationship Id="rId9" Type="http://schemas.openxmlformats.org/officeDocument/2006/relationships/image" Target="../media/image892.png"/><Relationship Id="rId10" Type="http://schemas.openxmlformats.org/officeDocument/2006/relationships/image" Target="../media/image893.png"/></Relationships>
</file>

<file path=ppt/charts/_rels/chart156.xml.rels><?xml version='1.0' encoding='UTF-8' standalone='yes'?>
<Relationships xmlns="http://schemas.openxmlformats.org/package/2006/relationships"><Relationship Id="rId2" Type="http://schemas.openxmlformats.org/officeDocument/2006/relationships/image" Target="../media/image894.png"/><Relationship Id="rId3" Type="http://schemas.openxmlformats.org/officeDocument/2006/relationships/image" Target="../media/image895.png"/><Relationship Id="rId4" Type="http://schemas.openxmlformats.org/officeDocument/2006/relationships/image" Target="../media/image896.png"/><Relationship Id="rId5" Type="http://schemas.openxmlformats.org/officeDocument/2006/relationships/image" Target="../media/image897.png"/><Relationship Id="rId6" Type="http://schemas.openxmlformats.org/officeDocument/2006/relationships/image" Target="../media/image898.png"/><Relationship Id="rId7" Type="http://schemas.openxmlformats.org/officeDocument/2006/relationships/image" Target="../media/image899.png"/><Relationship Id="rId8" Type="http://schemas.openxmlformats.org/officeDocument/2006/relationships/image" Target="../media/image900.png"/><Relationship Id="rId9" Type="http://schemas.openxmlformats.org/officeDocument/2006/relationships/image" Target="../media/image901.png"/><Relationship Id="rId10" Type="http://schemas.openxmlformats.org/officeDocument/2006/relationships/image" Target="../media/image902.png"/><Relationship Id="rId11" Type="http://schemas.openxmlformats.org/officeDocument/2006/relationships/image" Target="../media/image903.png"/><Relationship Id="rId12" Type="http://schemas.openxmlformats.org/officeDocument/2006/relationships/image" Target="../media/image904.png"/></Relationships>
</file>

<file path=ppt/charts/_rels/chart157.xml.rels><?xml version='1.0' encoding='UTF-8' standalone='yes'?>
<Relationships xmlns="http://schemas.openxmlformats.org/package/2006/relationships"><Relationship Id="rId2" Type="http://schemas.openxmlformats.org/officeDocument/2006/relationships/image" Target="../media/image905.png"/><Relationship Id="rId3" Type="http://schemas.openxmlformats.org/officeDocument/2006/relationships/image" Target="../media/image906.png"/><Relationship Id="rId4" Type="http://schemas.openxmlformats.org/officeDocument/2006/relationships/image" Target="../media/image907.png"/><Relationship Id="rId5" Type="http://schemas.openxmlformats.org/officeDocument/2006/relationships/image" Target="../media/image908.png"/></Relationships>
</file>

<file path=ppt/charts/_rels/chart158.xml.rels><?xml version='1.0' encoding='UTF-8' standalone='yes'?>
<Relationships xmlns="http://schemas.openxmlformats.org/package/2006/relationships"><Relationship Id="rId2" Type="http://schemas.openxmlformats.org/officeDocument/2006/relationships/image" Target="../media/image909.png"/><Relationship Id="rId3" Type="http://schemas.openxmlformats.org/officeDocument/2006/relationships/image" Target="../media/image910.png"/><Relationship Id="rId4" Type="http://schemas.openxmlformats.org/officeDocument/2006/relationships/image" Target="../media/image911.png"/><Relationship Id="rId5" Type="http://schemas.openxmlformats.org/officeDocument/2006/relationships/image" Target="../media/image912.png"/><Relationship Id="rId6" Type="http://schemas.openxmlformats.org/officeDocument/2006/relationships/image" Target="../media/image913.png"/></Relationships>
</file>

<file path=ppt/charts/_rels/chart159.xml.rels><?xml version='1.0' encoding='UTF-8' standalone='yes'?>
<Relationships xmlns="http://schemas.openxmlformats.org/package/2006/relationships"><Relationship Id="rId2" Type="http://schemas.openxmlformats.org/officeDocument/2006/relationships/image" Target="../media/image914.png"/><Relationship Id="rId3" Type="http://schemas.openxmlformats.org/officeDocument/2006/relationships/image" Target="../media/image915.png"/><Relationship Id="rId4" Type="http://schemas.openxmlformats.org/officeDocument/2006/relationships/image" Target="../media/image916.png"/><Relationship Id="rId5" Type="http://schemas.openxmlformats.org/officeDocument/2006/relationships/image" Target="../media/image917.png"/></Relationships>
</file>

<file path=ppt/charts/_rels/chart160.xml.rels><?xml version='1.0' encoding='UTF-8' standalone='yes'?>
<Relationships xmlns="http://schemas.openxmlformats.org/package/2006/relationships"><Relationship Id="rId2" Type="http://schemas.openxmlformats.org/officeDocument/2006/relationships/image" Target="../media/image918.png"/><Relationship Id="rId3" Type="http://schemas.openxmlformats.org/officeDocument/2006/relationships/image" Target="../media/image919.png"/><Relationship Id="rId4" Type="http://schemas.openxmlformats.org/officeDocument/2006/relationships/image" Target="../media/image920.png"/><Relationship Id="rId5" Type="http://schemas.openxmlformats.org/officeDocument/2006/relationships/image" Target="../media/image921.png"/><Relationship Id="rId6" Type="http://schemas.openxmlformats.org/officeDocument/2006/relationships/image" Target="../media/image922.png"/><Relationship Id="rId7" Type="http://schemas.openxmlformats.org/officeDocument/2006/relationships/image" Target="../media/image923.png"/><Relationship Id="rId8" Type="http://schemas.openxmlformats.org/officeDocument/2006/relationships/image" Target="../media/image924.png"/><Relationship Id="rId9" Type="http://schemas.openxmlformats.org/officeDocument/2006/relationships/image" Target="../media/image925.png"/><Relationship Id="rId10" Type="http://schemas.openxmlformats.org/officeDocument/2006/relationships/image" Target="../media/image926.png"/><Relationship Id="rId11" Type="http://schemas.openxmlformats.org/officeDocument/2006/relationships/image" Target="../media/image927.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3.612844430357387</c:v>
                </c:pt>
                <c:pt idx="1">
                  <c:v>4.226683269811593</c:v>
                </c:pt>
                <c:pt idx="2">
                  <c:v>4.0216673172970285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579221916151303"/>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2961530.804</c:v>
                </c:pt>
                <c:pt idx="2">
                  <c:v>0.0</c:v>
                </c:pt>
                <c:pt idx="3">
                  <c:v>3536586.102</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2961530.804</c:v>
                </c:pt>
                <c:pt idx="1">
                  <c:v>575055.298</c:v>
                </c:pt>
                <c:pt idx="2">
                  <c:v>3536586.102</c:v>
                </c:pt>
                <c:pt idx="3">
                  <c:v>1813655.739</c:v>
                </c:pt>
                <c:pt idx="4">
                  <c:v>5350241.841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4.24874675458895</c:v>
                </c:pt>
                <c:pt idx="1">
                  <c:v>4.812240392581946</c:v>
                </c:pt>
                <c:pt idx="2">
                  <c:v>4.624071563632648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35215731820816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11776.431999999999</c:v>
                </c:pt>
                <c:pt idx="2">
                  <c:v>0.0</c:v>
                </c:pt>
                <c:pt idx="3">
                  <c:v>14499.998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11776.431999999999</c:v>
                </c:pt>
                <c:pt idx="1">
                  <c:v>2723.5660000000007</c:v>
                </c:pt>
                <c:pt idx="2">
                  <c:v>14499.998</c:v>
                </c:pt>
                <c:pt idx="3">
                  <c:v>8700.002</c:v>
                </c:pt>
                <c:pt idx="4">
                  <c:v>23200.0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11776.431999999999</c:v>
                </c:pt>
                <c:pt idx="1">
                  <c:v>12258.38</c:v>
                </c:pt>
                <c:pt idx="2">
                  <c:v>12761.343</c:v>
                </c:pt>
                <c:pt idx="3">
                  <c:v>13286.299</c:v>
                </c:pt>
                <c:pt idx="4">
                  <c:v>13834.259999999998</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2961530.804</c:v>
                </c:pt>
                <c:pt idx="1">
                  <c:v>3063484.0129999993</c:v>
                </c:pt>
                <c:pt idx="2">
                  <c:v>3169498.2359999996</c:v>
                </c:pt>
                <c:pt idx="3">
                  <c:v>3279751.8430000003</c:v>
                </c:pt>
                <c:pt idx="4">
                  <c:v>3394431.5609999998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632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66506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1"/>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14499.998</c:v>
                </c:pt>
                <c:pt idx="1">
                  <c:v>15197.775</c:v>
                </c:pt>
                <c:pt idx="2">
                  <c:v>15929.126999999999</c:v>
                </c:pt>
                <c:pt idx="3">
                  <c:v>16695.677</c:v>
                </c:pt>
                <c:pt idx="4">
                  <c:v>17499.109</c:v>
                </c:pt>
                <c:pt idx="5">
                  <c:v>18341.211999999996</c:v>
                </c:pt>
                <c:pt idx="6">
                  <c:v>19223.835</c:v>
                </c:pt>
                <c:pt idx="7">
                  <c:v>20148.929</c:v>
                </c:pt>
                <c:pt idx="8">
                  <c:v>21118.542999999998</c:v>
                </c:pt>
                <c:pt idx="9">
                  <c:v>22134.818</c:v>
                </c:pt>
                <c:pt idx="10">
                  <c:v>23200.0</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3536586.102</c:v>
                </c:pt>
                <c:pt idx="1">
                  <c:v>3684923.6070000003</c:v>
                </c:pt>
                <c:pt idx="2">
                  <c:v>3839754.327</c:v>
                </c:pt>
                <c:pt idx="3">
                  <c:v>4001367.7450000006</c:v>
                </c:pt>
                <c:pt idx="4">
                  <c:v>4170073.4110000003</c:v>
                </c:pt>
                <c:pt idx="5">
                  <c:v>4346190.633</c:v>
                </c:pt>
                <c:pt idx="6">
                  <c:v>4530054.857</c:v>
                </c:pt>
                <c:pt idx="7">
                  <c:v>4722016.313</c:v>
                </c:pt>
                <c:pt idx="8">
                  <c:v>4922442.73</c:v>
                </c:pt>
                <c:pt idx="9">
                  <c:v>5131717.600000001</c:v>
                </c:pt>
                <c:pt idx="10">
                  <c:v>5350241.841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737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758758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China</c:v>
                </c:pt>
                <c:pt idx="1">
                  <c:v>Malaysia</c:v>
                </c:pt>
                <c:pt idx="2">
                  <c:v>Spain</c:v>
                </c:pt>
                <c:pt idx="3">
                  <c:v>Thailand</c:v>
                </c:pt>
                <c:pt idx="4">
                  <c:v>Brazil</c:v>
                </c:pt>
                <c:pt idx="5">
                  <c:v>France</c:v>
                </c:pt>
                <c:pt idx="6">
                  <c:v>Netherlands</c:v>
                </c:pt>
                <c:pt idx="7">
                  <c:v>Germany</c:v>
                </c:pt>
                <c:pt idx="8">
                  <c:v>Saudi Arabia</c:v>
                </c:pt>
                <c:pt idx="9">
                  <c:v>India</c:v>
                </c:pt>
              </c:strCache>
            </c:strRef>
          </c:cat>
          <c:val>
            <c:numRef>
              <c:numCache>
                <c:formatCode>General</c:formatCode>
                <c:ptCount val="10"/>
                <c:pt idx="0">
                  <c:v>101.65613967448097</c:v>
                </c:pt>
                <c:pt idx="1">
                  <c:v>106.16226510766411</c:v>
                </c:pt>
                <c:pt idx="2">
                  <c:v>114.91880940016968</c:v>
                </c:pt>
                <c:pt idx="3">
                  <c:v>118.68544356930192</c:v>
                </c:pt>
                <c:pt idx="4">
                  <c:v>119.23087982488023</c:v>
                </c:pt>
                <c:pt idx="5">
                  <c:v>123.80245598349823</c:v>
                </c:pt>
                <c:pt idx="6">
                  <c:v>128.6897441863613</c:v>
                </c:pt>
                <c:pt idx="7">
                  <c:v>132.16171867100758</c:v>
                </c:pt>
                <c:pt idx="8">
                  <c:v>132.55819907116796</c:v>
                </c:pt>
                <c:pt idx="9">
                  <c:v>136.69439060854342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UAE</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2.761861434054841</c:v>
                </c:pt>
                <c:pt idx="1">
                  <c:v>3.0331142452610926</c:v>
                </c:pt>
                <c:pt idx="2">
                  <c:v>3.3295739472243784</c:v>
                </c:pt>
                <c:pt idx="3">
                  <c:v>3.7412290250048232</c:v>
                </c:pt>
                <c:pt idx="4">
                  <c:v>6.2014928272430305</c:v>
                </c:pt>
                <c:pt idx="5">
                  <c:v>7.234550061022974</c:v>
                </c:pt>
                <c:pt idx="6">
                  <c:v>7.652676401683586</c:v>
                </c:pt>
                <c:pt idx="7">
                  <c:v>9.119204800182805</c:v>
                </c:pt>
                <c:pt idx="8">
                  <c:v>14.397674851109233</c:v>
                </c:pt>
                <c:pt idx="9">
                  <c:v>16.32529509763331</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Jumbo Lump</c:v>
                </c:pt>
                <c:pt idx="1">
                  <c:v>Lump</c:v>
                </c:pt>
                <c:pt idx="2">
                  <c:v>Backfin</c:v>
                </c:pt>
                <c:pt idx="3">
                  <c:v>Special Meat</c:v>
                </c:pt>
                <c:pt idx="4">
                  <c:v>Claw Meat</c:v>
                </c:pt>
                <c:pt idx="5">
                  <c:v>Crab Leg Meat</c:v>
                </c:pt>
              </c:strCache>
            </c:strRef>
          </c:cat>
          <c:val>
            <c:numRef>
              <c:numCache>
                <c:formatCode>General</c:formatCode>
                <c:ptCount val="6"/>
                <c:pt idx="0">
                  <c:v>2189.04</c:v>
                </c:pt>
                <c:pt idx="1">
                  <c:v>2673.595</c:v>
                </c:pt>
                <c:pt idx="2">
                  <c:v>2186.791</c:v>
                </c:pt>
                <c:pt idx="3">
                  <c:v>7048.198</c:v>
                </c:pt>
                <c:pt idx="4">
                  <c:v>6260.126</c:v>
                </c:pt>
                <c:pt idx="5">
                  <c:v>2842.25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0.05474474236258265</c:v>
                </c:pt>
                <c:pt idx="1">
                  <c:v>0.05536704118903282</c:v>
                </c:pt>
                <c:pt idx="2">
                  <c:v>0.056741985217743686</c:v>
                </c:pt>
                <c:pt idx="3">
                  <c:v>0.05812533869005523</c:v>
                </c:pt>
                <c:pt idx="4">
                  <c:v>0.05961381020737524</c:v>
                </c:pt>
                <c:pt idx="5">
                  <c:v>0.060585100943253554</c:v>
                </c:pt>
                <c:pt idx="6">
                  <c:v>0.06120319504790339</c:v>
                </c:pt>
                <c:pt idx="7">
                  <c:v>0.06253609185861086</c:v>
                </c:pt>
                <c:pt idx="8">
                  <c:v>0.06310372930165663</c:v>
                </c:pt>
                <c:pt idx="9">
                  <c:v>0.06455435832277359</c:v>
                </c:pt>
                <c:pt idx="10">
                  <c:v>0.06516824770562309</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0.042711804484293577</c:v>
                </c:pt>
                <c:pt idx="1">
                  <c:v>0.044193401253779054</c:v>
                </c:pt>
                <c:pt idx="2">
                  <c:v>0.04632864365686107</c:v>
                </c:pt>
                <c:pt idx="3">
                  <c:v>0.04767951129962724</c:v>
                </c:pt>
                <c:pt idx="4">
                  <c:v>0.04826692084235266</c:v>
                </c:pt>
                <c:pt idx="5">
                  <c:v>0.04884387205494053</c:v>
                </c:pt>
                <c:pt idx="6">
                  <c:v>0.049433024652688874</c:v>
                </c:pt>
                <c:pt idx="7">
                  <c:v>0.05002043419541429</c:v>
                </c:pt>
                <c:pt idx="8">
                  <c:v>0.05054335070229152</c:v>
                </c:pt>
                <c:pt idx="9">
                  <c:v>0.05084838533130324</c:v>
                </c:pt>
                <c:pt idx="10">
                  <c:v>0.05051197571187888</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0.030682832090174424</c:v>
                </c:pt>
                <c:pt idx="1">
                  <c:v>0.03211702433246668</c:v>
                </c:pt>
                <c:pt idx="2">
                  <c:v>0.033035600632665946</c:v>
                </c:pt>
                <c:pt idx="3">
                  <c:v>0.034461127060805376</c:v>
                </c:pt>
                <c:pt idx="4">
                  <c:v>0.03509373149396148</c:v>
                </c:pt>
                <c:pt idx="5">
                  <c:v>0.03620295570552286</c:v>
                </c:pt>
                <c:pt idx="6">
                  <c:v>0.0377064744610377</c:v>
                </c:pt>
                <c:pt idx="7">
                  <c:v>0.038330413080040975</c:v>
                </c:pt>
                <c:pt idx="8">
                  <c:v>0.038902356814127306</c:v>
                </c:pt>
                <c:pt idx="9">
                  <c:v>0.03958262322512394</c:v>
                </c:pt>
                <c:pt idx="10">
                  <c:v>0.0409474889541936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19.46917807573288</c:v>
                </c:pt>
                <c:pt idx="1">
                  <c:v>22.36165253001691</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22.160651583084235</c:v>
                </c:pt>
                <c:pt idx="1">
                  <c:v>21.89531906806379</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24.127871806017748</c:v>
                </c:pt>
                <c:pt idx="1">
                  <c:v>20.233050209141005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18.297036190750717</c:v>
                </c:pt>
                <c:pt idx="1">
                  <c:v>18.9750728877379</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8.332804051719366</c:v>
                </c:pt>
                <c:pt idx="1">
                  <c:v>8.906388536465412</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7.612458292695061</c:v>
                </c:pt>
                <c:pt idx="1">
                  <c:v>7.628516768574986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33.00001144827745</c:v>
                </c:pt>
                <c:pt idx="1">
                  <c:v>30.16669396551724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26.999996827585772</c:v>
                </c:pt>
                <c:pt idx="1">
                  <c:v>28.493387931034487</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11.999994758619966</c:v>
                </c:pt>
                <c:pt idx="1">
                  <c:v>13.041788793103448</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13.000001793103696</c:v>
                </c:pt>
                <c:pt idx="1">
                  <c:v>12.755469827586206</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8.00000110344843</c:v>
                </c:pt>
                <c:pt idx="1">
                  <c:v>8.604150862068966</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6.999994068964699</c:v>
                </c:pt>
                <c:pt idx="1">
                  <c:v>6.938508620689656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775731.742</c:v>
                </c:pt>
                <c:pt idx="1">
                  <c:v>789626.093</c:v>
                </c:pt>
                <c:pt idx="2">
                  <c:v>803774.214</c:v>
                </c:pt>
                <c:pt idx="3">
                  <c:v>818180.837</c:v>
                </c:pt>
                <c:pt idx="4">
                  <c:v>832850.783</c:v>
                </c:pt>
                <c:pt idx="5">
                  <c:v>853302.961</c:v>
                </c:pt>
                <c:pt idx="6">
                  <c:v>874230.267</c:v>
                </c:pt>
                <c:pt idx="7">
                  <c:v>895585.257</c:v>
                </c:pt>
                <c:pt idx="8">
                  <c:v>917373.02</c:v>
                </c:pt>
                <c:pt idx="9">
                  <c:v>939600.198</c:v>
                </c:pt>
                <c:pt idx="10">
                  <c:v>962272.424</c:v>
                </c:pt>
                <c:pt idx="11">
                  <c:v>985395.664</c:v>
                </c:pt>
                <c:pt idx="12">
                  <c:v>1008975.739</c:v>
                </c:pt>
                <c:pt idx="13">
                  <c:v>1033018.769</c:v>
                </c:pt>
                <c:pt idx="14">
                  <c:v>1057530.621</c:v>
                </c:pt>
                <c:pt idx="15">
                  <c:v>1082517.118</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658603.171</c:v>
                </c:pt>
                <c:pt idx="1">
                  <c:v>680878.538</c:v>
                </c:pt>
                <c:pt idx="2">
                  <c:v>703988.579</c:v>
                </c:pt>
                <c:pt idx="3">
                  <c:v>727966.542</c:v>
                </c:pt>
                <c:pt idx="4">
                  <c:v>752847.037</c:v>
                </c:pt>
                <c:pt idx="5">
                  <c:v>783730.524</c:v>
                </c:pt>
                <c:pt idx="6">
                  <c:v>815855.252</c:v>
                </c:pt>
                <c:pt idx="7">
                  <c:v>849303.895</c:v>
                </c:pt>
                <c:pt idx="8">
                  <c:v>884129.431</c:v>
                </c:pt>
                <c:pt idx="9">
                  <c:v>920388.39</c:v>
                </c:pt>
                <c:pt idx="10">
                  <c:v>958138.547</c:v>
                </c:pt>
                <c:pt idx="11">
                  <c:v>997440.236</c:v>
                </c:pt>
                <c:pt idx="12">
                  <c:v>1038356.02</c:v>
                </c:pt>
                <c:pt idx="13">
                  <c:v>1080951.187</c:v>
                </c:pt>
                <c:pt idx="14">
                  <c:v>1125293.306</c:v>
                </c:pt>
                <c:pt idx="15">
                  <c:v>1171452.522</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536299.786</c:v>
                </c:pt>
                <c:pt idx="1">
                  <c:v>562940.591</c:v>
                </c:pt>
                <c:pt idx="2">
                  <c:v>590964.297</c:v>
                </c:pt>
                <c:pt idx="3">
                  <c:v>620445.054</c:v>
                </c:pt>
                <c:pt idx="4">
                  <c:v>651461.083</c:v>
                </c:pt>
                <c:pt idx="5">
                  <c:v>688544.246</c:v>
                </c:pt>
                <c:pt idx="6">
                  <c:v>727688.417</c:v>
                </c:pt>
                <c:pt idx="7">
                  <c:v>769053.159</c:v>
                </c:pt>
                <c:pt idx="8">
                  <c:v>812762.44</c:v>
                </c:pt>
                <c:pt idx="9">
                  <c:v>858948.432</c:v>
                </c:pt>
                <c:pt idx="10">
                  <c:v>907749.691</c:v>
                </c:pt>
                <c:pt idx="11">
                  <c:v>959312.709</c:v>
                </c:pt>
                <c:pt idx="12">
                  <c:v>1013791.885</c:v>
                </c:pt>
                <c:pt idx="13">
                  <c:v>1071350.413</c:v>
                </c:pt>
                <c:pt idx="14">
                  <c:v>1132160.194</c:v>
                </c:pt>
                <c:pt idx="15">
                  <c:v>1196402.49</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529112.989</c:v>
                </c:pt>
                <c:pt idx="1">
                  <c:v>550111.394</c:v>
                </c:pt>
                <c:pt idx="2">
                  <c:v>571955.044</c:v>
                </c:pt>
                <c:pt idx="3">
                  <c:v>594678.376</c:v>
                </c:pt>
                <c:pt idx="4">
                  <c:v>618317.243</c:v>
                </c:pt>
                <c:pt idx="5">
                  <c:v>647090.439</c:v>
                </c:pt>
                <c:pt idx="6">
                  <c:v>677152.717</c:v>
                </c:pt>
                <c:pt idx="7">
                  <c:v>708553.902</c:v>
                </c:pt>
                <c:pt idx="8">
                  <c:v>741349.78</c:v>
                </c:pt>
                <c:pt idx="9">
                  <c:v>775599.578</c:v>
                </c:pt>
                <c:pt idx="10">
                  <c:v>811364.034</c:v>
                </c:pt>
                <c:pt idx="11">
                  <c:v>848706.526</c:v>
                </c:pt>
                <c:pt idx="12">
                  <c:v>887692.79</c:v>
                </c:pt>
                <c:pt idx="13">
                  <c:v>928391.385</c:v>
                </c:pt>
                <c:pt idx="14">
                  <c:v>970873.316</c:v>
                </c:pt>
                <c:pt idx="15">
                  <c:v>1015212.289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237326.038</c:v>
                </c:pt>
                <c:pt idx="1">
                  <c:v>247494.749</c:v>
                </c:pt>
                <c:pt idx="2">
                  <c:v>258105.781</c:v>
                </c:pt>
                <c:pt idx="3">
                  <c:v>269178.66</c:v>
                </c:pt>
                <c:pt idx="4">
                  <c:v>280733.787</c:v>
                </c:pt>
                <c:pt idx="5">
                  <c:v>294696.79</c:v>
                </c:pt>
                <c:pt idx="6">
                  <c:v>309312.117</c:v>
                </c:pt>
                <c:pt idx="7">
                  <c:v>324627.555</c:v>
                </c:pt>
                <c:pt idx="8">
                  <c:v>340674.924</c:v>
                </c:pt>
                <c:pt idx="9">
                  <c:v>357488.01</c:v>
                </c:pt>
                <c:pt idx="10">
                  <c:v>375101.681</c:v>
                </c:pt>
                <c:pt idx="11">
                  <c:v>393552.457</c:v>
                </c:pt>
                <c:pt idx="12">
                  <c:v>412878.377</c:v>
                </c:pt>
                <c:pt idx="13">
                  <c:v>433119.248</c:v>
                </c:pt>
                <c:pt idx="14">
                  <c:v>454316.5</c:v>
                </c:pt>
                <c:pt idx="15">
                  <c:v>476513.326</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224457.078</c:v>
                </c:pt>
                <c:pt idx="1">
                  <c:v>232432.648</c:v>
                </c:pt>
                <c:pt idx="2">
                  <c:v>240710.321</c:v>
                </c:pt>
                <c:pt idx="3">
                  <c:v>249302.374</c:v>
                </c:pt>
                <c:pt idx="4">
                  <c:v>258221.628</c:v>
                </c:pt>
                <c:pt idx="5">
                  <c:v>269221.142</c:v>
                </c:pt>
                <c:pt idx="6">
                  <c:v>280684.837</c:v>
                </c:pt>
                <c:pt idx="7">
                  <c:v>292630.559</c:v>
                </c:pt>
                <c:pt idx="8">
                  <c:v>305078.15</c:v>
                </c:pt>
                <c:pt idx="9">
                  <c:v>318048.803</c:v>
                </c:pt>
                <c:pt idx="10">
                  <c:v>331564.256</c:v>
                </c:pt>
                <c:pt idx="11">
                  <c:v>345647.265</c:v>
                </c:pt>
                <c:pt idx="12">
                  <c:v>360321.502</c:v>
                </c:pt>
                <c:pt idx="13">
                  <c:v>375611.728</c:v>
                </c:pt>
                <c:pt idx="14">
                  <c:v>391543.663</c:v>
                </c:pt>
                <c:pt idx="15">
                  <c:v>408144.096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4051.906</c:v>
                </c:pt>
                <c:pt idx="1">
                  <c:v>4183.423</c:v>
                </c:pt>
                <c:pt idx="2">
                  <c:v>4319.254</c:v>
                </c:pt>
                <c:pt idx="3">
                  <c:v>4459.54</c:v>
                </c:pt>
                <c:pt idx="4">
                  <c:v>4604.431</c:v>
                </c:pt>
                <c:pt idx="5">
                  <c:v>4785.001</c:v>
                </c:pt>
                <c:pt idx="6">
                  <c:v>4972.516</c:v>
                </c:pt>
                <c:pt idx="7">
                  <c:v>5166.909</c:v>
                </c:pt>
                <c:pt idx="8">
                  <c:v>5368.405</c:v>
                </c:pt>
                <c:pt idx="9">
                  <c:v>5577.245</c:v>
                </c:pt>
                <c:pt idx="10">
                  <c:v>5793.673</c:v>
                </c:pt>
                <c:pt idx="11">
                  <c:v>6017.937</c:v>
                </c:pt>
                <c:pt idx="12">
                  <c:v>6250.298</c:v>
                </c:pt>
                <c:pt idx="13">
                  <c:v>6491.025</c:v>
                </c:pt>
                <c:pt idx="14">
                  <c:v>6740.39</c:v>
                </c:pt>
                <c:pt idx="15">
                  <c:v>6998.673</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3096.53</c:v>
                </c:pt>
                <c:pt idx="1">
                  <c:v>3240.226</c:v>
                </c:pt>
                <c:pt idx="2">
                  <c:v>3391.014</c:v>
                </c:pt>
                <c:pt idx="3">
                  <c:v>3549.263</c:v>
                </c:pt>
                <c:pt idx="4">
                  <c:v>3715.355</c:v>
                </c:pt>
                <c:pt idx="5">
                  <c:v>3914.999</c:v>
                </c:pt>
                <c:pt idx="6">
                  <c:v>4125.282</c:v>
                </c:pt>
                <c:pt idx="7">
                  <c:v>4346.933</c:v>
                </c:pt>
                <c:pt idx="8">
                  <c:v>4580.572</c:v>
                </c:pt>
                <c:pt idx="9">
                  <c:v>4826.84</c:v>
                </c:pt>
                <c:pt idx="10">
                  <c:v>5086.421</c:v>
                </c:pt>
                <c:pt idx="11">
                  <c:v>5360.034</c:v>
                </c:pt>
                <c:pt idx="12">
                  <c:v>5648.427</c:v>
                </c:pt>
                <c:pt idx="13">
                  <c:v>5952.398</c:v>
                </c:pt>
                <c:pt idx="14">
                  <c:v>6272.785</c:v>
                </c:pt>
                <c:pt idx="15">
                  <c:v>6610.466</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1540.379</c:v>
                </c:pt>
                <c:pt idx="1">
                  <c:v>1601.734</c:v>
                </c:pt>
                <c:pt idx="2">
                  <c:v>1665.553</c:v>
                </c:pt>
                <c:pt idx="3">
                  <c:v>1731.939</c:v>
                </c:pt>
                <c:pt idx="4">
                  <c:v>1800.992</c:v>
                </c:pt>
                <c:pt idx="5">
                  <c:v>1885.0</c:v>
                </c:pt>
                <c:pt idx="6">
                  <c:v>1972.77</c:v>
                </c:pt>
                <c:pt idx="7">
                  <c:v>2064.442</c:v>
                </c:pt>
                <c:pt idx="8">
                  <c:v>2160.179</c:v>
                </c:pt>
                <c:pt idx="9">
                  <c:v>2260.151</c:v>
                </c:pt>
                <c:pt idx="10">
                  <c:v>2364.53</c:v>
                </c:pt>
                <c:pt idx="11">
                  <c:v>2473.506</c:v>
                </c:pt>
                <c:pt idx="12">
                  <c:v>2587.266</c:v>
                </c:pt>
                <c:pt idx="13">
                  <c:v>2706.007</c:v>
                </c:pt>
                <c:pt idx="14">
                  <c:v>2829.938</c:v>
                </c:pt>
                <c:pt idx="15">
                  <c:v>2959.269</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1354.809</c:v>
                </c:pt>
                <c:pt idx="1">
                  <c:v>1422.199</c:v>
                </c:pt>
                <c:pt idx="2">
                  <c:v>1493.096</c:v>
                </c:pt>
                <c:pt idx="3">
                  <c:v>1567.686</c:v>
                </c:pt>
                <c:pt idx="4">
                  <c:v>1646.171</c:v>
                </c:pt>
                <c:pt idx="5">
                  <c:v>1739.999</c:v>
                </c:pt>
                <c:pt idx="6">
                  <c:v>1839.052</c:v>
                </c:pt>
                <c:pt idx="7">
                  <c:v>1943.732</c:v>
                </c:pt>
                <c:pt idx="8">
                  <c:v>2054.359</c:v>
                </c:pt>
                <c:pt idx="9">
                  <c:v>2171.262</c:v>
                </c:pt>
                <c:pt idx="10">
                  <c:v>2294.799</c:v>
                </c:pt>
                <c:pt idx="11">
                  <c:v>2425.337</c:v>
                </c:pt>
                <c:pt idx="12">
                  <c:v>2563.269</c:v>
                </c:pt>
                <c:pt idx="13">
                  <c:v>2709.013</c:v>
                </c:pt>
                <c:pt idx="14">
                  <c:v>2863.0</c:v>
                </c:pt>
                <c:pt idx="15">
                  <c:v>3025.695</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905.403</c:v>
                </c:pt>
                <c:pt idx="1">
                  <c:v>950.131</c:v>
                </c:pt>
                <c:pt idx="2">
                  <c:v>997.089</c:v>
                </c:pt>
                <c:pt idx="3">
                  <c:v>1046.392</c:v>
                </c:pt>
                <c:pt idx="4">
                  <c:v>1098.156</c:v>
                </c:pt>
                <c:pt idx="5">
                  <c:v>1160.0</c:v>
                </c:pt>
                <c:pt idx="6">
                  <c:v>1225.157</c:v>
                </c:pt>
                <c:pt idx="7">
                  <c:v>1293.868</c:v>
                </c:pt>
                <c:pt idx="8">
                  <c:v>1366.324</c:v>
                </c:pt>
                <c:pt idx="9">
                  <c:v>1442.716</c:v>
                </c:pt>
                <c:pt idx="10">
                  <c:v>1523.259</c:v>
                </c:pt>
                <c:pt idx="11">
                  <c:v>1608.162</c:v>
                </c:pt>
                <c:pt idx="12">
                  <c:v>1697.66</c:v>
                </c:pt>
                <c:pt idx="13">
                  <c:v>1791.989</c:v>
                </c:pt>
                <c:pt idx="14">
                  <c:v>1891.401</c:v>
                </c:pt>
                <c:pt idx="15">
                  <c:v>1996.163</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827.405</c:v>
                </c:pt>
                <c:pt idx="1">
                  <c:v>860.667</c:v>
                </c:pt>
                <c:pt idx="2">
                  <c:v>895.337</c:v>
                </c:pt>
                <c:pt idx="3">
                  <c:v>931.479</c:v>
                </c:pt>
                <c:pt idx="4">
                  <c:v>969.155</c:v>
                </c:pt>
                <c:pt idx="5">
                  <c:v>1014.999</c:v>
                </c:pt>
                <c:pt idx="6">
                  <c:v>1062.998</c:v>
                </c:pt>
                <c:pt idx="7">
                  <c:v>1113.243</c:v>
                </c:pt>
                <c:pt idx="8">
                  <c:v>1165.838</c:v>
                </c:pt>
                <c:pt idx="9">
                  <c:v>1220.895</c:v>
                </c:pt>
                <c:pt idx="10">
                  <c:v>1278.53</c:v>
                </c:pt>
                <c:pt idx="11">
                  <c:v>1338.859</c:v>
                </c:pt>
                <c:pt idx="12">
                  <c:v>1402.009</c:v>
                </c:pt>
                <c:pt idx="13">
                  <c:v>1468.111</c:v>
                </c:pt>
                <c:pt idx="14">
                  <c:v>1537.304</c:v>
                </c:pt>
                <c:pt idx="15">
                  <c:v>1609.734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Blue Crab</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7.759418636867956</c:v>
                </c:pt>
                <c:pt idx="1">
                  <c:v>8.671436150254264</c:v>
                </c:pt>
                <c:pt idx="2">
                  <c:v>8.486960800116515</c:v>
                </c:pt>
                <c:pt idx="3">
                  <c:v>9.927933912704354</c:v>
                </c:pt>
                <c:pt idx="4">
                  <c:v>9.412135241297664</c:v>
                </c:pt>
                <c:pt idx="5">
                  <c:v>9.842823060885971</c:v>
                </c:pt>
              </c:numCache>
            </c:numRef>
          </c:val>
        </c:ser>
        <c:ser>
          <c:idx val="1"/>
          <c:order val="1"/>
          <c:tx>
            <c:strRef>
              <c:strCache>
                <c:ptCount val="1"/>
                <c:pt idx="0">
                  <c:v>King Crab</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27.571387570865745</c:v>
                </c:pt>
                <c:pt idx="1">
                  <c:v>25.405590625615243</c:v>
                </c:pt>
                <c:pt idx="2">
                  <c:v>30.280180679755713</c:v>
                </c:pt>
                <c:pt idx="3">
                  <c:v>25.2016809361155</c:v>
                </c:pt>
                <c:pt idx="4">
                  <c:v>27.723779231297762</c:v>
                </c:pt>
                <c:pt idx="5">
                  <c:v>21.106386882198958</c:v>
                </c:pt>
              </c:numCache>
            </c:numRef>
          </c:val>
        </c:ser>
        <c:ser>
          <c:idx val="2"/>
          <c:order val="2"/>
          <c:tx>
            <c:strRef>
              <c:strCache>
                <c:ptCount val="1"/>
                <c:pt idx="0">
                  <c:v>Snow Crab</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10.631445940757915</c:v>
                </c:pt>
                <c:pt idx="1">
                  <c:v>12.059085355254053</c:v>
                </c:pt>
                <c:pt idx="2">
                  <c:v>10.428994457752912</c:v>
                </c:pt>
                <c:pt idx="3">
                  <c:v>12.502185448301962</c:v>
                </c:pt>
                <c:pt idx="4">
                  <c:v>11.768096228011762</c:v>
                </c:pt>
                <c:pt idx="5">
                  <c:v>13.069520464808114</c:v>
                </c:pt>
              </c:numCache>
            </c:numRef>
          </c:val>
        </c:ser>
        <c:ser>
          <c:idx val="3"/>
          <c:order val="3"/>
          <c:tx>
            <c:strRef>
              <c:strCache>
                <c:ptCount val="1"/>
                <c:pt idx="0">
                  <c:v>Dungeness Crab</c:v>
                </c:pt>
              </c:strCache>
            </c:strRef>
          </c:tx>
          <c:spPr>
            <a:solidFill>
              <a:srgbClr val="40315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5.501095212003971</c:v>
                </c:pt>
                <c:pt idx="1">
                  <c:v>4.565358640551899</c:v>
                </c:pt>
                <c:pt idx="2">
                  <c:v>5.935486094707849</c:v>
                </c:pt>
                <c:pt idx="3">
                  <c:v>6.490839294773597</c:v>
                </c:pt>
                <c:pt idx="4">
                  <c:v>6.545105897224189</c:v>
                </c:pt>
                <c:pt idx="5">
                  <c:v>6.520907606341947</c:v>
                </c:pt>
              </c:numCache>
            </c:numRef>
          </c:val>
        </c:ser>
        <c:ser>
          <c:idx val="4"/>
          <c:order val="4"/>
          <c:tx>
            <c:strRef>
              <c:strCache>
                <c:ptCount val="1"/>
                <c:pt idx="0">
                  <c:v>Mud Crab</c:v>
                </c:pt>
              </c:strCache>
            </c:strRef>
          </c:tx>
          <c:spPr>
            <a:solidFill>
              <a:srgbClr val="A35313"/>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33.21331350397022</c:v>
                </c:pt>
                <c:pt idx="1">
                  <c:v>33.994518483711</c:v>
                </c:pt>
                <c:pt idx="2">
                  <c:v>30.62793548001213</c:v>
                </c:pt>
                <c:pt idx="3">
                  <c:v>29.86817904646701</c:v>
                </c:pt>
                <c:pt idx="4">
                  <c:v>27.28223698601581</c:v>
                </c:pt>
                <c:pt idx="5">
                  <c:v>32.07010814764457</c:v>
                </c:pt>
              </c:numCache>
            </c:numRef>
          </c:val>
        </c:ser>
        <c:ser>
          <c:idx val="5"/>
          <c:order val="5"/>
          <c:tx>
            <c:strRef>
              <c:strCache>
                <c:ptCount val="1"/>
                <c:pt idx="0">
                  <c:v>Other commercially traded crab species</c:v>
                </c:pt>
              </c:strCache>
            </c:strRef>
          </c:tx>
          <c:spPr>
            <a:solidFill>
              <a:srgbClr val="808080"/>
            </a:solidFill>
            <a:ln>
              <a:noFill/>
            </a:ln>
          </c:spPr>
          <c:dLbls>
            <c:dLbl>
              <c:idx val="0"/>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15.323339135534194</c:v>
                </c:pt>
                <c:pt idx="1">
                  <c:v>15.304010744613542</c:v>
                </c:pt>
                <c:pt idx="2">
                  <c:v>14.240442487654892</c:v>
                </c:pt>
                <c:pt idx="3">
                  <c:v>16.009181361637573</c:v>
                </c:pt>
                <c:pt idx="4">
                  <c:v>17.26864641615281</c:v>
                </c:pt>
                <c:pt idx="5">
                  <c:v>17.390253838120458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Blue Crab</c:v>
                </c:pt>
              </c:strCache>
            </c:strRef>
          </c:tx>
          <c:spPr>
            <a:solidFill>
              <a:srgbClr val="3D85C6"/>
            </a:solidFill>
          </c:spPr>
          <c:invertIfNegative val="0"/>
          <c:xVal>
            <c:numRef>
              <c:numCache>
                <c:formatCode>General</c:formatCode>
                <c:ptCount val="1"/>
                <c:pt idx="0">
                  <c:v>64.669204430064</c:v>
                </c:pt>
              </c:numCache>
            </c:numRef>
          </c:xVal>
          <c:yVal>
            <c:numRef>
              <c:numCache>
                <c:formatCode>General</c:formatCode>
                <c:ptCount val="1"/>
                <c:pt idx="0">
                  <c:v>65.8056504559518</c:v>
                </c:pt>
              </c:numCache>
            </c:numRef>
          </c:yVal>
          <c:bubbleSize>
            <c:numRef>
              <c:numCache>
                <c:formatCode>General</c:formatCode>
                <c:ptCount val="1"/>
                <c:pt idx="0">
                  <c:v>2160.596</c:v>
                </c:pt>
              </c:numCache>
            </c:numRef>
          </c:bubbleSize>
          <c:bubble3D val="0"/>
        </c:ser>
        <c:ser>
          <c:idx val="1"/>
          <c:order val="1"/>
          <c:tx>
            <c:strRef>
              <c:strCache>
                <c:ptCount val="1"/>
                <c:pt idx="0">
                  <c:v>King Crab</c:v>
                </c:pt>
              </c:strCache>
            </c:strRef>
          </c:tx>
          <c:spPr>
            <a:solidFill>
              <a:srgbClr val="9E7E0A"/>
            </a:solidFill>
          </c:spPr>
          <c:invertIfNegative val="0"/>
          <c:xVal>
            <c:numRef>
              <c:numCache>
                <c:formatCode>General</c:formatCode>
                <c:ptCount val="1"/>
                <c:pt idx="0">
                  <c:v>120.72207917717304</c:v>
                </c:pt>
              </c:numCache>
            </c:numRef>
          </c:xVal>
          <c:yVal>
            <c:numRef>
              <c:numCache>
                <c:formatCode>General</c:formatCode>
                <c:ptCount val="1"/>
                <c:pt idx="0">
                  <c:v>139.25695713889067</c:v>
                </c:pt>
              </c:numCache>
            </c:numRef>
          </c:yVal>
          <c:bubbleSize>
            <c:numRef>
              <c:numCache>
                <c:formatCode>General</c:formatCode>
                <c:ptCount val="1"/>
                <c:pt idx="0">
                  <c:v>5919.399</c:v>
                </c:pt>
              </c:numCache>
            </c:numRef>
          </c:bubbleSize>
          <c:bubble3D val="0"/>
        </c:ser>
        <c:ser>
          <c:idx val="2"/>
          <c:order val="2"/>
          <c:tx>
            <c:strRef>
              <c:strCache>
                <c:ptCount val="1"/>
                <c:pt idx="0">
                  <c:v>Snow Crab</c:v>
                </c:pt>
              </c:strCache>
            </c:strRef>
          </c:tx>
          <c:spPr>
            <a:solidFill>
              <a:srgbClr val="008189"/>
            </a:solidFill>
          </c:spPr>
          <c:invertIfNegative val="0"/>
          <c:xVal>
            <c:numRef>
              <c:numCache>
                <c:formatCode>General</c:formatCode>
                <c:ptCount val="1"/>
                <c:pt idx="0">
                  <c:v>120.08997678912169</c:v>
                </c:pt>
              </c:numCache>
            </c:numRef>
          </c:xVal>
          <c:yVal>
            <c:numRef>
              <c:numCache>
                <c:formatCode>General</c:formatCode>
                <c:ptCount val="1"/>
                <c:pt idx="0">
                  <c:v>65.85766425622955</c:v>
                </c:pt>
              </c:numCache>
            </c:numRef>
          </c:yVal>
          <c:bubbleSize>
            <c:numRef>
              <c:numCache>
                <c:formatCode>General</c:formatCode>
                <c:ptCount val="1"/>
                <c:pt idx="0">
                  <c:v>2791.376</c:v>
                </c:pt>
              </c:numCache>
            </c:numRef>
          </c:bubbleSize>
          <c:bubble3D val="0"/>
        </c:ser>
        <c:ser>
          <c:idx val="3"/>
          <c:order val="3"/>
          <c:tx>
            <c:strRef>
              <c:strCache>
                <c:ptCount val="1"/>
                <c:pt idx="0">
                  <c:v>Dungeness Crab</c:v>
                </c:pt>
              </c:strCache>
            </c:strRef>
          </c:tx>
          <c:spPr>
            <a:solidFill>
              <a:srgbClr val="40315E"/>
            </a:solidFill>
          </c:spPr>
          <c:invertIfNegative val="0"/>
          <c:xVal>
            <c:numRef>
              <c:numCache>
                <c:formatCode>General</c:formatCode>
                <c:ptCount val="1"/>
                <c:pt idx="0">
                  <c:v>22.62442743335658</c:v>
                </c:pt>
              </c:numCache>
            </c:numRef>
          </c:xVal>
          <c:yVal>
            <c:numRef>
              <c:numCache>
                <c:formatCode>General</c:formatCode>
                <c:ptCount val="1"/>
                <c:pt idx="0">
                  <c:v>53.499317724043834</c:v>
                </c:pt>
              </c:numCache>
            </c:numRef>
          </c:yVal>
          <c:bubbleSize>
            <c:numRef>
              <c:numCache>
                <c:formatCode>General</c:formatCode>
                <c:ptCount val="1"/>
                <c:pt idx="0">
                  <c:v>1440.764</c:v>
                </c:pt>
              </c:numCache>
            </c:numRef>
          </c:bubbleSize>
          <c:bubble3D val="0"/>
        </c:ser>
        <c:ser>
          <c:idx val="4"/>
          <c:order val="4"/>
          <c:tx>
            <c:strRef>
              <c:strCache>
                <c:ptCount val="1"/>
                <c:pt idx="0">
                  <c:v>Mud Crab</c:v>
                </c:pt>
              </c:strCache>
            </c:strRef>
          </c:tx>
          <c:spPr>
            <a:solidFill>
              <a:srgbClr val="A35313"/>
            </a:solidFill>
          </c:spPr>
          <c:invertIfNegative val="0"/>
          <c:xVal>
            <c:numRef>
              <c:numCache>
                <c:formatCode>General</c:formatCode>
                <c:ptCount val="1"/>
                <c:pt idx="0">
                  <c:v>122.16037691035775</c:v>
                </c:pt>
              </c:numCache>
            </c:numRef>
          </c:xVal>
          <c:yVal>
            <c:numRef>
              <c:numCache>
                <c:formatCode>General</c:formatCode>
                <c:ptCount val="1"/>
                <c:pt idx="0">
                  <c:v>165.2712641753468</c:v>
                </c:pt>
              </c:numCache>
            </c:numRef>
          </c:yVal>
          <c:bubbleSize>
            <c:numRef>
              <c:numCache>
                <c:formatCode>General</c:formatCode>
                <c:ptCount val="1"/>
                <c:pt idx="0">
                  <c:v>7071.28</c:v>
                </c:pt>
              </c:numCache>
            </c:numRef>
          </c:bubbleSize>
          <c:bubble3D val="0"/>
        </c:ser>
        <c:ser>
          <c:idx val="5"/>
          <c:order val="5"/>
          <c:tx>
            <c:strRef>
              <c:strCache>
                <c:ptCount val="1"/>
                <c:pt idx="0">
                  <c:v>Other commercially traded crab species</c:v>
                </c:pt>
              </c:strCache>
            </c:strRef>
          </c:tx>
          <c:spPr>
            <a:solidFill>
              <a:srgbClr val="808080"/>
            </a:solidFill>
          </c:spPr>
          <c:invertIfNegative val="0"/>
          <c:xVal>
            <c:numRef>
              <c:numCache>
                <c:formatCode>General</c:formatCode>
                <c:ptCount val="1"/>
                <c:pt idx="0">
                  <c:v>75.92445618013434</c:v>
                </c:pt>
              </c:numCache>
            </c:numRef>
          </c:xVal>
          <c:yVal>
            <c:numRef>
              <c:numCache>
                <c:formatCode>General</c:formatCode>
                <c:ptCount val="1"/>
                <c:pt idx="0">
                  <c:v>110.30914624953742</c:v>
                </c:pt>
              </c:numCache>
            </c:numRef>
          </c:yVal>
          <c:bubbleSize>
            <c:numRef>
              <c:numCache>
                <c:formatCode>General</c:formatCode>
                <c:ptCount val="1"/>
                <c:pt idx="0">
                  <c:v>3816.585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1590.303</c:v>
                </c:pt>
                <c:pt idx="2">
                  <c:v>1688.05</c:v>
                </c:pt>
                <c:pt idx="3">
                  <c:v>1793.361</c:v>
                </c:pt>
                <c:pt idx="4">
                  <c:v>1906.805</c:v>
                </c:pt>
                <c:pt idx="5">
                  <c:v>2028.992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1590.303</c:v>
                </c:pt>
                <c:pt idx="1">
                  <c:v>97.74699999999984</c:v>
                </c:pt>
                <c:pt idx="2">
                  <c:v>105.31100000000015</c:v>
                </c:pt>
                <c:pt idx="3">
                  <c:v>113.44399999999996</c:v>
                </c:pt>
                <c:pt idx="4">
                  <c:v>122.1869999999999</c:v>
                </c:pt>
                <c:pt idx="5">
                  <c:v>131.60400000000004</c:v>
                </c:pt>
                <c:pt idx="6">
                  <c:v>2160.596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3365.376</c:v>
                </c:pt>
                <c:pt idx="2">
                  <c:v>3778.269</c:v>
                </c:pt>
                <c:pt idx="3">
                  <c:v>4235.235</c:v>
                </c:pt>
                <c:pt idx="4">
                  <c:v>4740.918</c:v>
                </c:pt>
                <c:pt idx="5">
                  <c:v>5300.421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3365.376</c:v>
                </c:pt>
                <c:pt idx="1">
                  <c:v>412.8929999999996</c:v>
                </c:pt>
                <c:pt idx="2">
                  <c:v>456.9659999999999</c:v>
                </c:pt>
                <c:pt idx="3">
                  <c:v>505.683</c:v>
                </c:pt>
                <c:pt idx="4">
                  <c:v>559.5030000000006</c:v>
                </c:pt>
                <c:pt idx="5">
                  <c:v>618.9780000000001</c:v>
                </c:pt>
                <c:pt idx="6">
                  <c:v>5919.399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1591.56</c:v>
                </c:pt>
                <c:pt idx="2">
                  <c:v>1785.94</c:v>
                </c:pt>
                <c:pt idx="3">
                  <c:v>2000.856</c:v>
                </c:pt>
                <c:pt idx="4">
                  <c:v>2238.454</c:v>
                </c:pt>
                <c:pt idx="5">
                  <c:v>2501.089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1591.56</c:v>
                </c:pt>
                <c:pt idx="1">
                  <c:v>194.3800000000001</c:v>
                </c:pt>
                <c:pt idx="2">
                  <c:v>214.91599999999994</c:v>
                </c:pt>
                <c:pt idx="3">
                  <c:v>237.59800000000018</c:v>
                </c:pt>
                <c:pt idx="4">
                  <c:v>262.63499999999976</c:v>
                </c:pt>
                <c:pt idx="5">
                  <c:v>290.28700000000026</c:v>
                </c:pt>
                <c:pt idx="6">
                  <c:v>2791.376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1292.9</c:v>
                </c:pt>
                <c:pt idx="2">
                  <c:v>1323.997</c:v>
                </c:pt>
                <c:pt idx="3">
                  <c:v>1354.697</c:v>
                </c:pt>
                <c:pt idx="4">
                  <c:v>1384.666</c:v>
                </c:pt>
                <c:pt idx="5">
                  <c:v>1413.501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1292.9</c:v>
                </c:pt>
                <c:pt idx="1">
                  <c:v>31.09699999999998</c:v>
                </c:pt>
                <c:pt idx="2">
                  <c:v>30.699999999999818</c:v>
                </c:pt>
                <c:pt idx="3">
                  <c:v>29.96900000000005</c:v>
                </c:pt>
                <c:pt idx="4">
                  <c:v>28.835000000000036</c:v>
                </c:pt>
                <c:pt idx="5">
                  <c:v>27.26299999999992</c:v>
                </c:pt>
                <c:pt idx="6">
                  <c:v>1440.764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3994.055</c:v>
                </c:pt>
                <c:pt idx="2">
                  <c:v>4493.36</c:v>
                </c:pt>
                <c:pt idx="3">
                  <c:v>5045.029</c:v>
                </c:pt>
                <c:pt idx="4">
                  <c:v>5654.488</c:v>
                </c:pt>
                <c:pt idx="5">
                  <c:v>6327.724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3994.055</c:v>
                </c:pt>
                <c:pt idx="1">
                  <c:v>499.30499999999984</c:v>
                </c:pt>
                <c:pt idx="2">
                  <c:v>551.6690000000008</c:v>
                </c:pt>
                <c:pt idx="3">
                  <c:v>609.4589999999998</c:v>
                </c:pt>
                <c:pt idx="4">
                  <c:v>673.2359999999999</c:v>
                </c:pt>
                <c:pt idx="5">
                  <c:v>743.5559999999996</c:v>
                </c:pt>
                <c:pt idx="6">
                  <c:v>7071.28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2665.804</c:v>
                </c:pt>
                <c:pt idx="2">
                  <c:v>2859.511</c:v>
                </c:pt>
                <c:pt idx="3">
                  <c:v>3069.931</c:v>
                </c:pt>
                <c:pt idx="4">
                  <c:v>3298.504</c:v>
                </c:pt>
                <c:pt idx="5">
                  <c:v>3546.816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2665.804</c:v>
                </c:pt>
                <c:pt idx="1">
                  <c:v>193.70699999999988</c:v>
                </c:pt>
                <c:pt idx="2">
                  <c:v>210.42000000000007</c:v>
                </c:pt>
                <c:pt idx="3">
                  <c:v>228.57299999999987</c:v>
                </c:pt>
                <c:pt idx="4">
                  <c:v>248.3119999999999</c:v>
                </c:pt>
                <c:pt idx="5">
                  <c:v>269.76900000000023</c:v>
                </c:pt>
                <c:pt idx="6">
                  <c:v>3816.585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Mud Crab</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25.679475752927544</c:v>
                </c:pt>
                <c:pt idx="1">
                  <c:v>27.545210695891132</c:v>
                </c:pt>
                <c:pt idx="2">
                  <c:v>30.479655172413793</c:v>
                </c:pt>
              </c:numCache>
            </c:numRef>
          </c:val>
        </c:ser>
        <c:ser>
          <c:idx val="1"/>
          <c:order val="1"/>
          <c:tx>
            <c:strRef>
              <c:strCache>
                <c:ptCount val="1"/>
                <c:pt idx="0">
                  <c:v>King Crab</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21.80163737199858</c:v>
                </c:pt>
                <c:pt idx="1">
                  <c:v>23.209492856481777</c:v>
                </c:pt>
                <c:pt idx="2">
                  <c:v>25.514650862068965</c:v>
                </c:pt>
              </c:numCache>
            </c:numRef>
          </c:val>
        </c:ser>
        <c:ser>
          <c:idx val="2"/>
          <c:order val="2"/>
          <c:tx>
            <c:strRef>
              <c:strCache>
                <c:ptCount val="1"/>
                <c:pt idx="0">
                  <c:v>Other commercially traded crab species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19.59534093178647</c:v>
                </c:pt>
                <c:pt idx="1">
                  <c:v>18.384857708256234</c:v>
                </c:pt>
                <c:pt idx="2">
                  <c:v>16.450797413793104</c:v>
                </c:pt>
              </c:numCache>
            </c:numRef>
          </c:val>
        </c:ser>
        <c:ser>
          <c:idx val="3"/>
          <c:order val="3"/>
          <c:tx>
            <c:strRef>
              <c:strCache>
                <c:ptCount val="1"/>
                <c:pt idx="0">
                  <c:v>Snow Crab</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10.320791560635682</c:v>
                </c:pt>
                <c:pt idx="1">
                  <c:v>10.976277376038258</c:v>
                </c:pt>
                <c:pt idx="2">
                  <c:v>12.031793103448276</c:v>
                </c:pt>
              </c:numCache>
            </c:numRef>
          </c:val>
        </c:ser>
        <c:ser>
          <c:idx val="4"/>
          <c:order val="4"/>
          <c:tx>
            <c:strRef>
              <c:strCache>
                <c:ptCount val="1"/>
                <c:pt idx="0">
                  <c:v>Blue Crab</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12.001037326076354</c:v>
                </c:pt>
                <c:pt idx="1">
                  <c:v>10.9676084093253</c:v>
                </c:pt>
                <c:pt idx="2">
                  <c:v>9.312913793103448</c:v>
                </c:pt>
              </c:numCache>
            </c:numRef>
          </c:val>
        </c:ser>
        <c:ser>
          <c:idx val="5"/>
          <c:order val="5"/>
          <c:tx>
            <c:strRef>
              <c:strCache>
                <c:ptCount val="1"/>
                <c:pt idx="0">
                  <c:v>Dungeness Crab</c:v>
                </c:pt>
              </c:strCache>
            </c:strRef>
          </c:tx>
          <c:spPr>
            <a:solidFill>
              <a:srgbClr val="808080"/>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10.60171705657537</c:v>
                </c:pt>
                <c:pt idx="1">
                  <c:v>8.916552954007305</c:v>
                </c:pt>
                <c:pt idx="2">
                  <c:v>6.210189655172414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Wild-caught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43.03245132425605</c:v>
                </c:pt>
                <c:pt idx="1">
                  <c:v>37.73304083884933</c:v>
                </c:pt>
                <c:pt idx="2">
                  <c:v>38.58287300005508</c:v>
                </c:pt>
                <c:pt idx="3">
                  <c:v>43.62954626953477</c:v>
                </c:pt>
                <c:pt idx="4">
                  <c:v>38.64052851947201</c:v>
                </c:pt>
                <c:pt idx="5">
                  <c:v>36.62582892499764</c:v>
                </c:pt>
              </c:numCache>
            </c:numRef>
          </c:val>
        </c:ser>
        <c:ser>
          <c:idx val="1"/>
          <c:order val="1"/>
          <c:tx>
            <c:strRef>
              <c:strCache>
                <c:ptCount val="1"/>
                <c:pt idx="0">
                  <c:v>Aquaculture / fattened / cultured supply</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21.668797453492317</c:v>
                </c:pt>
                <c:pt idx="1">
                  <c:v>21.257231999591216</c:v>
                </c:pt>
                <c:pt idx="2">
                  <c:v>20.743737727121122</c:v>
                </c:pt>
                <c:pt idx="3">
                  <c:v>20.239118615723</c:v>
                </c:pt>
                <c:pt idx="4">
                  <c:v>21.858610270440842</c:v>
                </c:pt>
                <c:pt idx="5">
                  <c:v>21.94058788001668</c:v>
                </c:pt>
              </c:numCache>
            </c:numRef>
          </c:val>
        </c:ser>
        <c:ser>
          <c:idx val="2"/>
          <c:order val="2"/>
          <c:tx>
            <c:strRef>
              <c:strCache>
                <c:ptCount val="1"/>
                <c:pt idx="0">
                  <c:v>Imported processed crab meat</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35.29875122225163</c:v>
                </c:pt>
                <c:pt idx="1">
                  <c:v>41.009727161559454</c:v>
                </c:pt>
                <c:pt idx="2">
                  <c:v>40.67338927282379</c:v>
                </c:pt>
                <c:pt idx="3">
                  <c:v>36.131335114742235</c:v>
                </c:pt>
                <c:pt idx="4">
                  <c:v>39.50086121008716</c:v>
                </c:pt>
                <c:pt idx="5">
                  <c:v>41.43358319498567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Wild-caught</c:v>
                </c:pt>
              </c:strCache>
            </c:strRef>
          </c:tx>
          <c:spPr>
            <a:solidFill>
              <a:srgbClr val="3D85C6"/>
            </a:solidFill>
          </c:spPr>
          <c:invertIfNegative val="0"/>
          <c:xVal>
            <c:numRef>
              <c:numCache>
                <c:formatCode>General</c:formatCode>
                <c:ptCount val="1"/>
                <c:pt idx="0">
                  <c:v>90.5352720337277</c:v>
                </c:pt>
              </c:numCache>
            </c:numRef>
          </c:xVal>
          <c:yVal>
            <c:numRef>
              <c:numCache>
                <c:formatCode>General</c:formatCode>
                <c:ptCount val="1"/>
                <c:pt idx="0">
                  <c:v>121.90309267628865</c:v>
                </c:pt>
              </c:numCache>
            </c:numRef>
          </c:yVal>
          <c:bubbleSize>
            <c:numRef>
              <c:numCache>
                <c:formatCode>General</c:formatCode>
                <c:ptCount val="1"/>
                <c:pt idx="0">
                  <c:v>9025.43</c:v>
                </c:pt>
              </c:numCache>
            </c:numRef>
          </c:bubbleSize>
          <c:bubble3D val="0"/>
        </c:ser>
        <c:ser>
          <c:idx val="1"/>
          <c:order val="1"/>
          <c:tx>
            <c:strRef>
              <c:strCache>
                <c:ptCount val="1"/>
                <c:pt idx="0">
                  <c:v>Aquaculture / fattened / cultured supply</c:v>
                </c:pt>
              </c:strCache>
            </c:strRef>
          </c:tx>
          <c:spPr>
            <a:solidFill>
              <a:srgbClr val="9E7E0A"/>
            </a:solidFill>
          </c:spPr>
          <c:invertIfNegative val="0"/>
          <c:xVal>
            <c:numRef>
              <c:numCache>
                <c:formatCode>General</c:formatCode>
                <c:ptCount val="1"/>
                <c:pt idx="0">
                  <c:v>146.87611178499006</c:v>
                </c:pt>
              </c:numCache>
            </c:numRef>
          </c:xVal>
          <c:yVal>
            <c:numRef>
              <c:numCache>
                <c:formatCode>General</c:formatCode>
                <c:ptCount val="1"/>
                <c:pt idx="0">
                  <c:v>52.04442097164428</c:v>
                </c:pt>
              </c:numCache>
            </c:numRef>
          </c:yVal>
          <c:bubbleSize>
            <c:numRef>
              <c:numCache>
                <c:formatCode>General</c:formatCode>
                <c:ptCount val="1"/>
                <c:pt idx="0">
                  <c:v>4979.882</c:v>
                </c:pt>
              </c:numCache>
            </c:numRef>
          </c:bubbleSize>
          <c:bubble3D val="0"/>
        </c:ser>
        <c:ser>
          <c:idx val="2"/>
          <c:order val="2"/>
          <c:tx>
            <c:strRef>
              <c:strCache>
                <c:ptCount val="1"/>
                <c:pt idx="0">
                  <c:v>Imported processed crab meat</c:v>
                </c:pt>
              </c:strCache>
            </c:strRef>
          </c:tx>
          <c:spPr>
            <a:solidFill>
              <a:srgbClr val="008189"/>
            </a:solidFill>
          </c:spPr>
          <c:invertIfNegative val="0"/>
          <c:xVal>
            <c:numRef>
              <c:numCache>
                <c:formatCode>General</c:formatCode>
                <c:ptCount val="1"/>
                <c:pt idx="0">
                  <c:v>87.30819977848685</c:v>
                </c:pt>
              </c:numCache>
            </c:numRef>
          </c:xVal>
          <c:yVal>
            <c:numRef>
              <c:numCache>
                <c:formatCode>General</c:formatCode>
                <c:ptCount val="1"/>
                <c:pt idx="0">
                  <c:v>126.05248635206709</c:v>
                </c:pt>
              </c:numCache>
            </c:numRef>
          </c:yVal>
          <c:bubbleSize>
            <c:numRef>
              <c:numCache>
                <c:formatCode>General</c:formatCode>
                <c:ptCount val="1"/>
                <c:pt idx="0">
                  <c:v>9194.688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5.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5891.982</c:v>
                </c:pt>
                <c:pt idx="2">
                  <c:v>6422.678</c:v>
                </c:pt>
                <c:pt idx="3">
                  <c:v>6998.12</c:v>
                </c:pt>
                <c:pt idx="4">
                  <c:v>7621.501</c:v>
                </c:pt>
                <c:pt idx="5">
                  <c:v>8296.136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5891.982</c:v>
                </c:pt>
                <c:pt idx="1">
                  <c:v>530.6959999999999</c:v>
                </c:pt>
                <c:pt idx="2">
                  <c:v>575.442</c:v>
                </c:pt>
                <c:pt idx="3">
                  <c:v>623.3810000000003</c:v>
                </c:pt>
                <c:pt idx="4">
                  <c:v>674.6350000000002</c:v>
                </c:pt>
                <c:pt idx="5">
                  <c:v>729.2939999999999</c:v>
                </c:pt>
                <c:pt idx="6">
                  <c:v>9025.43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2515.48</c:v>
                </c:pt>
                <c:pt idx="2">
                  <c:v>2883.563</c:v>
                </c:pt>
                <c:pt idx="3">
                  <c:v>3305.41</c:v>
                </c:pt>
                <c:pt idx="4">
                  <c:v>3789.023</c:v>
                </c:pt>
                <c:pt idx="5">
                  <c:v>4343.623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2515.48</c:v>
                </c:pt>
                <c:pt idx="1">
                  <c:v>368.0830000000001</c:v>
                </c:pt>
                <c:pt idx="2">
                  <c:v>421.84699999999975</c:v>
                </c:pt>
                <c:pt idx="3">
                  <c:v>483.6130000000003</c:v>
                </c:pt>
                <c:pt idx="4">
                  <c:v>554.5999999999995</c:v>
                </c:pt>
                <c:pt idx="5">
                  <c:v>636.259</c:v>
                </c:pt>
                <c:pt idx="6">
                  <c:v>4979.882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6092.536</c:v>
                </c:pt>
                <c:pt idx="2">
                  <c:v>6622.886</c:v>
                </c:pt>
                <c:pt idx="3">
                  <c:v>7195.579</c:v>
                </c:pt>
                <c:pt idx="4">
                  <c:v>7813.311</c:v>
                </c:pt>
                <c:pt idx="5">
                  <c:v>8478.784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6092.536</c:v>
                </c:pt>
                <c:pt idx="1">
                  <c:v>530.3500000000004</c:v>
                </c:pt>
                <c:pt idx="2">
                  <c:v>572.6929999999993</c:v>
                </c:pt>
                <c:pt idx="3">
                  <c:v>617.732</c:v>
                </c:pt>
                <c:pt idx="4">
                  <c:v>665.473</c:v>
                </c:pt>
                <c:pt idx="5">
                  <c:v>715.9040000000005</c:v>
                </c:pt>
                <c:pt idx="6">
                  <c:v>9194.688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Imported processed crab meat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43.05032288217688</c:v>
                </c:pt>
                <c:pt idx="1">
                  <c:v>42.01749545068903</c:v>
                </c:pt>
                <c:pt idx="2">
                  <c:v>39.632275862068965</c:v>
                </c:pt>
              </c:numCache>
            </c:numRef>
          </c:val>
        </c:ser>
        <c:ser>
          <c:idx val="1"/>
          <c:order val="1"/>
          <c:tx>
            <c:strRef>
              <c:strCache>
                <c:ptCount val="1"/>
                <c:pt idx="0">
                  <c:v>Wild-caught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41.35863901731865</c:v>
                </c:pt>
                <c:pt idx="1">
                  <c:v>40.63436422542955</c:v>
                </c:pt>
                <c:pt idx="2">
                  <c:v>38.90271551724138</c:v>
                </c:pt>
              </c:numCache>
            </c:numRef>
          </c:val>
        </c:ser>
        <c:ser>
          <c:idx val="2"/>
          <c:order val="2"/>
          <c:tx>
            <c:strRef>
              <c:strCache>
                <c:ptCount val="1"/>
                <c:pt idx="0">
                  <c:v>Aquaculture / fattened / cultured supply</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15.591038100504464</c:v>
                </c:pt>
                <c:pt idx="1">
                  <c:v>17.348140323881424</c:v>
                </c:pt>
                <c:pt idx="2">
                  <c:v>21.465008620689655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Jumbo Lump</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9.59369684680823</c:v>
                </c:pt>
                <c:pt idx="1">
                  <c:v>7.3700895167378615</c:v>
                </c:pt>
                <c:pt idx="2">
                  <c:v>8.6901528722127</c:v>
                </c:pt>
                <c:pt idx="3">
                  <c:v>10.380391943008135</c:v>
                </c:pt>
                <c:pt idx="4">
                  <c:v>9.344772365518557</c:v>
                </c:pt>
                <c:pt idx="5">
                  <c:v>9.980620611936004</c:v>
                </c:pt>
              </c:numCache>
            </c:numRef>
          </c:val>
        </c:ser>
        <c:ser>
          <c:idx val="1"/>
          <c:order val="1"/>
          <c:tx>
            <c:strRef>
              <c:strCache>
                <c:ptCount val="1"/>
                <c:pt idx="0">
                  <c:v>Lump</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12.076467292111616</c:v>
                </c:pt>
                <c:pt idx="1">
                  <c:v>11.328032830986247</c:v>
                </c:pt>
                <c:pt idx="2">
                  <c:v>12.846719916303654</c:v>
                </c:pt>
                <c:pt idx="3">
                  <c:v>11.359010078676139</c:v>
                </c:pt>
                <c:pt idx="4">
                  <c:v>11.215941508510898</c:v>
                </c:pt>
                <c:pt idx="5">
                  <c:v>11.256219571910272</c:v>
                </c:pt>
              </c:numCache>
            </c:numRef>
          </c:val>
        </c:ser>
        <c:ser>
          <c:idx val="2"/>
          <c:order val="2"/>
          <c:tx>
            <c:strRef>
              <c:strCache>
                <c:ptCount val="1"/>
                <c:pt idx="0">
                  <c:v>Backfin</c:v>
                </c:pt>
              </c:strCache>
            </c:strRef>
          </c:tx>
          <c:spPr>
            <a:solidFill>
              <a:srgbClr val="008189"/>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8.913398114222598</c:v>
                </c:pt>
                <c:pt idx="1">
                  <c:v>7.999847707827466</c:v>
                </c:pt>
                <c:pt idx="2">
                  <c:v>8.197531214634424</c:v>
                </c:pt>
                <c:pt idx="3">
                  <c:v>10.563556472149372</c:v>
                </c:pt>
                <c:pt idx="4">
                  <c:v>9.602621055762182</c:v>
                </c:pt>
                <c:pt idx="5">
                  <c:v>9.81090272398782</c:v>
                </c:pt>
              </c:numCache>
            </c:numRef>
          </c:val>
        </c:ser>
        <c:ser>
          <c:idx val="3"/>
          <c:order val="3"/>
          <c:tx>
            <c:strRef>
              <c:strCache>
                <c:ptCount val="1"/>
                <c:pt idx="0">
                  <c:v>Special Meat</c:v>
                </c:pt>
              </c:strCache>
            </c:strRef>
          </c:tx>
          <c:spPr>
            <a:solidFill>
              <a:srgbClr val="40315E"/>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32.97513750719063</c:v>
                </c:pt>
                <c:pt idx="1">
                  <c:v>33.556428007131686</c:v>
                </c:pt>
                <c:pt idx="2">
                  <c:v>33.83987734808833</c:v>
                </c:pt>
                <c:pt idx="3">
                  <c:v>29.477789400451798</c:v>
                </c:pt>
                <c:pt idx="4">
                  <c:v>29.530641258876457</c:v>
                </c:pt>
                <c:pt idx="5">
                  <c:v>28.607008785808397</c:v>
                </c:pt>
              </c:numCache>
            </c:numRef>
          </c:val>
        </c:ser>
        <c:ser>
          <c:idx val="4"/>
          <c:order val="4"/>
          <c:tx>
            <c:strRef>
              <c:strCache>
                <c:ptCount val="1"/>
                <c:pt idx="0">
                  <c:v>Claw Meat</c:v>
                </c:pt>
              </c:strCache>
            </c:strRef>
          </c:tx>
          <c:spPr>
            <a:solidFill>
              <a:srgbClr val="A35313"/>
            </a:solidFill>
            <a:ln>
              <a:noFill/>
            </a:ln>
          </c:spPr>
          <c:dLbls>
            <c:dLbl>
              <c:idx val="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24.562256869768547</c:v>
                </c:pt>
                <c:pt idx="1">
                  <c:v>27.27748184892717</c:v>
                </c:pt>
                <c:pt idx="2">
                  <c:v>26.763332431083487</c:v>
                </c:pt>
                <c:pt idx="3">
                  <c:v>23.54381390060796</c:v>
                </c:pt>
                <c:pt idx="4">
                  <c:v>28.166380403439028</c:v>
                </c:pt>
                <c:pt idx="5">
                  <c:v>27.918778316975228</c:v>
                </c:pt>
              </c:numCache>
            </c:numRef>
          </c:val>
        </c:ser>
        <c:ser>
          <c:idx val="5"/>
          <c:order val="5"/>
          <c:tx>
            <c:strRef>
              <c:strCache>
                <c:ptCount val="1"/>
                <c:pt idx="0">
                  <c:v>Crab Leg Meat</c:v>
                </c:pt>
              </c:strCache>
            </c:strRef>
          </c:tx>
          <c:spPr>
            <a:solidFill>
              <a:srgbClr val="80808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11.879043369898381</c:v>
                </c:pt>
                <c:pt idx="1">
                  <c:v>12.468120088389574</c:v>
                </c:pt>
                <c:pt idx="2">
                  <c:v>9.662386217677405</c:v>
                </c:pt>
                <c:pt idx="3">
                  <c:v>14.675438205106595</c:v>
                </c:pt>
                <c:pt idx="4">
                  <c:v>12.139643407892876</c:v>
                </c:pt>
                <c:pt idx="5">
                  <c:v>12.426469989382271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Jumbo Lump</c:v>
                </c:pt>
              </c:strCache>
            </c:strRef>
          </c:tx>
          <c:spPr>
            <a:solidFill>
              <a:srgbClr val="3D85C6"/>
            </a:solidFill>
          </c:spPr>
          <c:invertIfNegative val="0"/>
          <c:xVal>
            <c:numRef>
              <c:numCache>
                <c:formatCode>General</c:formatCode>
                <c:ptCount val="1"/>
                <c:pt idx="0">
                  <c:v>120.30315942372414</c:v>
                </c:pt>
              </c:numCache>
            </c:numRef>
          </c:xVal>
          <c:yVal>
            <c:numRef>
              <c:numCache>
                <c:formatCode>General</c:formatCode>
                <c:ptCount val="1"/>
                <c:pt idx="0">
                  <c:v>51.596531254693964</c:v>
                </c:pt>
              </c:numCache>
            </c:numRef>
          </c:yVal>
          <c:bubbleSize>
            <c:numRef>
              <c:numCache>
                <c:formatCode>General</c:formatCode>
                <c:ptCount val="1"/>
                <c:pt idx="0">
                  <c:v>2189.04</c:v>
                </c:pt>
              </c:numCache>
            </c:numRef>
          </c:bubbleSize>
          <c:bubble3D val="0"/>
        </c:ser>
        <c:ser>
          <c:idx val="1"/>
          <c:order val="1"/>
          <c:tx>
            <c:strRef>
              <c:strCache>
                <c:ptCount val="1"/>
                <c:pt idx="0">
                  <c:v>Lump</c:v>
                </c:pt>
              </c:strCache>
            </c:strRef>
          </c:tx>
          <c:spPr>
            <a:solidFill>
              <a:srgbClr val="9E7E0A"/>
            </a:solidFill>
          </c:spPr>
          <c:invertIfNegative val="0"/>
          <c:xVal>
            <c:numRef>
              <c:numCache>
                <c:formatCode>General</c:formatCode>
                <c:ptCount val="1"/>
                <c:pt idx="0">
                  <c:v>60.94649742602349</c:v>
                </c:pt>
              </c:numCache>
            </c:numRef>
          </c:xVal>
          <c:yVal>
            <c:numRef>
              <c:numCache>
                <c:formatCode>General</c:formatCode>
                <c:ptCount val="1"/>
                <c:pt idx="0">
                  <c:v>82.85852177358922</c:v>
                </c:pt>
              </c:numCache>
            </c:numRef>
          </c:yVal>
          <c:bubbleSize>
            <c:numRef>
              <c:numCache>
                <c:formatCode>General</c:formatCode>
                <c:ptCount val="1"/>
                <c:pt idx="0">
                  <c:v>2673.595</c:v>
                </c:pt>
              </c:numCache>
            </c:numRef>
          </c:bubbleSize>
          <c:bubble3D val="0"/>
        </c:ser>
        <c:ser>
          <c:idx val="2"/>
          <c:order val="2"/>
          <c:tx>
            <c:strRef>
              <c:strCache>
                <c:ptCount val="1"/>
                <c:pt idx="0">
                  <c:v>Backfin</c:v>
                </c:pt>
              </c:strCache>
            </c:strRef>
          </c:tx>
          <c:spPr>
            <a:solidFill>
              <a:srgbClr val="008189"/>
            </a:solidFill>
          </c:spPr>
          <c:invertIfNegative val="0"/>
          <c:xVal>
            <c:numRef>
              <c:numCache>
                <c:formatCode>General</c:formatCode>
                <c:ptCount val="1"/>
                <c:pt idx="0">
                  <c:v>83.04906147842999</c:v>
                </c:pt>
              </c:numCache>
            </c:numRef>
          </c:xVal>
          <c:yVal>
            <c:numRef>
              <c:numCache>
                <c:formatCode>General</c:formatCode>
                <c:ptCount val="1"/>
                <c:pt idx="0">
                  <c:v>61.15084981391033</c:v>
                </c:pt>
              </c:numCache>
            </c:numRef>
          </c:yVal>
          <c:bubbleSize>
            <c:numRef>
              <c:numCache>
                <c:formatCode>General</c:formatCode>
                <c:ptCount val="1"/>
                <c:pt idx="0">
                  <c:v>2186.791</c:v>
                </c:pt>
              </c:numCache>
            </c:numRef>
          </c:bubbleSize>
          <c:bubble3D val="0"/>
        </c:ser>
        <c:ser>
          <c:idx val="3"/>
          <c:order val="3"/>
          <c:tx>
            <c:strRef>
              <c:strCache>
                <c:ptCount val="1"/>
                <c:pt idx="0">
                  <c:v>Special Meat</c:v>
                </c:pt>
              </c:strCache>
            </c:strRef>
          </c:tx>
          <c:spPr>
            <a:solidFill>
              <a:srgbClr val="40315E"/>
            </a:solidFill>
          </c:spPr>
          <c:invertIfNegative val="0"/>
          <c:xVal>
            <c:numRef>
              <c:numCache>
                <c:formatCode>General</c:formatCode>
                <c:ptCount val="1"/>
                <c:pt idx="0">
                  <c:v>130.29388281739276</c:v>
                </c:pt>
              </c:numCache>
            </c:numRef>
          </c:xVal>
          <c:yVal>
            <c:numRef>
              <c:numCache>
                <c:formatCode>General</c:formatCode>
                <c:ptCount val="1"/>
                <c:pt idx="0">
                  <c:v>158.76411845022324</c:v>
                </c:pt>
              </c:numCache>
            </c:numRef>
          </c:yVal>
          <c:bubbleSize>
            <c:numRef>
              <c:numCache>
                <c:formatCode>General</c:formatCode>
                <c:ptCount val="1"/>
                <c:pt idx="0">
                  <c:v>7048.198</c:v>
                </c:pt>
              </c:numCache>
            </c:numRef>
          </c:bubbleSize>
          <c:bubble3D val="0"/>
        </c:ser>
        <c:ser>
          <c:idx val="4"/>
          <c:order val="4"/>
          <c:tx>
            <c:strRef>
              <c:strCache>
                <c:ptCount val="1"/>
                <c:pt idx="0">
                  <c:v>Claw Meat</c:v>
                </c:pt>
              </c:strCache>
            </c:strRef>
          </c:tx>
          <c:spPr>
            <a:solidFill>
              <a:srgbClr val="A35313"/>
            </a:solidFill>
          </c:spPr>
          <c:invertIfNegative val="0"/>
          <c:xVal>
            <c:numRef>
              <c:numCache>
                <c:formatCode>General</c:formatCode>
                <c:ptCount val="1"/>
                <c:pt idx="0">
                  <c:v>70.19927486712675</c:v>
                </c:pt>
              </c:numCache>
            </c:numRef>
          </c:xVal>
          <c:yVal>
            <c:numRef>
              <c:numCache>
                <c:formatCode>General</c:formatCode>
                <c:ptCount val="1"/>
                <c:pt idx="0">
                  <c:v>185.81402562952078</c:v>
                </c:pt>
              </c:numCache>
            </c:numRef>
          </c:yVal>
          <c:bubbleSize>
            <c:numRef>
              <c:numCache>
                <c:formatCode>General</c:formatCode>
                <c:ptCount val="1"/>
                <c:pt idx="0">
                  <c:v>6260.126</c:v>
                </c:pt>
              </c:numCache>
            </c:numRef>
          </c:bubbleSize>
          <c:bubble3D val="0"/>
        </c:ser>
        <c:ser>
          <c:idx val="5"/>
          <c:order val="5"/>
          <c:tx>
            <c:strRef>
              <c:strCache>
                <c:ptCount val="1"/>
                <c:pt idx="0">
                  <c:v>Crab Leg Meat</c:v>
                </c:pt>
              </c:strCache>
            </c:strRef>
          </c:tx>
          <c:spPr>
            <a:solidFill>
              <a:srgbClr val="808080"/>
            </a:solidFill>
          </c:spPr>
          <c:invertIfNegative val="0"/>
          <c:xVal>
            <c:numRef>
              <c:numCache>
                <c:formatCode>General</c:formatCode>
                <c:ptCount val="1"/>
                <c:pt idx="0">
                  <c:v>145.3552783578951</c:v>
                </c:pt>
              </c:numCache>
            </c:numRef>
          </c:xVal>
          <c:yVal>
            <c:numRef>
              <c:numCache>
                <c:formatCode>General</c:formatCode>
                <c:ptCount val="1"/>
                <c:pt idx="0">
                  <c:v>59.8159530780625</c:v>
                </c:pt>
              </c:numCache>
            </c:numRef>
          </c:yVal>
          <c:bubbleSize>
            <c:numRef>
              <c:numCache>
                <c:formatCode>General</c:formatCode>
                <c:ptCount val="1"/>
                <c:pt idx="0">
                  <c:v>2842.25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1246.916</c:v>
                </c:pt>
                <c:pt idx="2">
                  <c:v>1397.195</c:v>
                </c:pt>
                <c:pt idx="3">
                  <c:v>1564.554</c:v>
                </c:pt>
                <c:pt idx="4">
                  <c:v>1750.889</c:v>
                </c:pt>
                <c:pt idx="5">
                  <c:v>1958.278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1246.916</c:v>
                </c:pt>
                <c:pt idx="1">
                  <c:v>150.279</c:v>
                </c:pt>
                <c:pt idx="2">
                  <c:v>167.35900000000015</c:v>
                </c:pt>
                <c:pt idx="3">
                  <c:v>186.3349999999998</c:v>
                </c:pt>
                <c:pt idx="4">
                  <c:v>207.38900000000012</c:v>
                </c:pt>
                <c:pt idx="5">
                  <c:v>230.76199999999994</c:v>
                </c:pt>
                <c:pt idx="6">
                  <c:v>2189.04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2002.414</c:v>
                </c:pt>
                <c:pt idx="2">
                  <c:v>2124.777</c:v>
                </c:pt>
                <c:pt idx="3">
                  <c:v>2253.035</c:v>
                </c:pt>
                <c:pt idx="4">
                  <c:v>2387.254</c:v>
                </c:pt>
                <c:pt idx="5">
                  <c:v>2527.45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2002.414</c:v>
                </c:pt>
                <c:pt idx="1">
                  <c:v>122.36300000000006</c:v>
                </c:pt>
                <c:pt idx="2">
                  <c:v>128.2579999999998</c:v>
                </c:pt>
                <c:pt idx="3">
                  <c:v>134.21900000000005</c:v>
                </c:pt>
                <c:pt idx="4">
                  <c:v>140.1959999999999</c:v>
                </c:pt>
                <c:pt idx="5">
                  <c:v>146.14499999999998</c:v>
                </c:pt>
                <c:pt idx="6">
                  <c:v>2673.595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1477.812</c:v>
                </c:pt>
                <c:pt idx="2">
                  <c:v>1598.141</c:v>
                </c:pt>
                <c:pt idx="3">
                  <c:v>1728.355</c:v>
                </c:pt>
                <c:pt idx="4">
                  <c:v>1869.27</c:v>
                </c:pt>
                <c:pt idx="5">
                  <c:v>2021.763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1477.812</c:v>
                </c:pt>
                <c:pt idx="1">
                  <c:v>120.32900000000018</c:v>
                </c:pt>
                <c:pt idx="2">
                  <c:v>130.21399999999994</c:v>
                </c:pt>
                <c:pt idx="3">
                  <c:v>140.91499999999996</c:v>
                </c:pt>
                <c:pt idx="4">
                  <c:v>152.49299999999994</c:v>
                </c:pt>
                <c:pt idx="5">
                  <c:v>165.02800000000025</c:v>
                </c:pt>
                <c:pt idx="6">
                  <c:v>2186.791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3836.799</c:v>
                </c:pt>
                <c:pt idx="2">
                  <c:v>4343.705</c:v>
                </c:pt>
                <c:pt idx="3">
                  <c:v>4911.068</c:v>
                </c:pt>
                <c:pt idx="4">
                  <c:v>5545.736</c:v>
                </c:pt>
                <c:pt idx="5">
                  <c:v>6255.308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3836.799</c:v>
                </c:pt>
                <c:pt idx="1">
                  <c:v>506.90599999999995</c:v>
                </c:pt>
                <c:pt idx="2">
                  <c:v>567.3630000000003</c:v>
                </c:pt>
                <c:pt idx="3">
                  <c:v>634.6679999999997</c:v>
                </c:pt>
                <c:pt idx="4">
                  <c:v>709.5720000000001</c:v>
                </c:pt>
                <c:pt idx="5">
                  <c:v>792.8900000000003</c:v>
                </c:pt>
                <c:pt idx="6">
                  <c:v>7048.198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4490.505</c:v>
                </c:pt>
                <c:pt idx="2">
                  <c:v>4802.502</c:v>
                </c:pt>
                <c:pt idx="3">
                  <c:v>5134.431</c:v>
                </c:pt>
                <c:pt idx="4">
                  <c:v>5487.308</c:v>
                </c:pt>
                <c:pt idx="5">
                  <c:v>5862.183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4490.505</c:v>
                </c:pt>
                <c:pt idx="1">
                  <c:v>311.9970000000003</c:v>
                </c:pt>
                <c:pt idx="2">
                  <c:v>331.9289999999992</c:v>
                </c:pt>
                <c:pt idx="3">
                  <c:v>352.8770000000004</c:v>
                </c:pt>
                <c:pt idx="4">
                  <c:v>374.875</c:v>
                </c:pt>
                <c:pt idx="5">
                  <c:v>397.9430000000002</c:v>
                </c:pt>
                <c:pt idx="6">
                  <c:v>6260.126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1445.552</c:v>
                </c:pt>
                <c:pt idx="2">
                  <c:v>1662.807</c:v>
                </c:pt>
                <c:pt idx="3">
                  <c:v>1907.666</c:v>
                </c:pt>
                <c:pt idx="4">
                  <c:v>2183.378</c:v>
                </c:pt>
                <c:pt idx="5">
                  <c:v>2493.561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1445.552</c:v>
                </c:pt>
                <c:pt idx="1">
                  <c:v>217.2550000000001</c:v>
                </c:pt>
                <c:pt idx="2">
                  <c:v>244.85899999999992</c:v>
                </c:pt>
                <c:pt idx="3">
                  <c:v>275.7120000000002</c:v>
                </c:pt>
                <c:pt idx="4">
                  <c:v>310.183</c:v>
                </c:pt>
                <c:pt idx="5">
                  <c:v>348.68899999999985</c:v>
                </c:pt>
                <c:pt idx="6">
                  <c:v>2842.25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Special Meat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24.38329368351976</c:v>
                </c:pt>
                <c:pt idx="1">
                  <c:v>26.460686408370538</c:v>
                </c:pt>
                <c:pt idx="2">
                  <c:v>30.380163793103442</c:v>
                </c:pt>
              </c:numCache>
            </c:numRef>
          </c:val>
        </c:ser>
        <c:ser>
          <c:idx val="1"/>
          <c:order val="1"/>
          <c:tx>
            <c:strRef>
              <c:strCache>
                <c:ptCount val="1"/>
                <c:pt idx="0">
                  <c:v>Claw Meat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33.071349624402366</c:v>
                </c:pt>
                <c:pt idx="1">
                  <c:v>30.969004271586797</c:v>
                </c:pt>
                <c:pt idx="2">
                  <c:v>26.983301724137927</c:v>
                </c:pt>
              </c:numCache>
            </c:numRef>
          </c:val>
        </c:ser>
        <c:ser>
          <c:idx val="2"/>
          <c:order val="2"/>
          <c:tx>
            <c:strRef>
              <c:strCache>
                <c:ptCount val="1"/>
                <c:pt idx="0">
                  <c:v>Crab Leg Meat</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8.764717530742757</c:v>
                </c:pt>
                <c:pt idx="1">
                  <c:v>9.969325513010416</c:v>
                </c:pt>
                <c:pt idx="2">
                  <c:v>12.251077586206895</c:v>
                </c:pt>
              </c:numCache>
            </c:numRef>
          </c:val>
        </c:ser>
        <c:ser>
          <c:idx val="3"/>
          <c:order val="3"/>
          <c:tx>
            <c:strRef>
              <c:strCache>
                <c:ptCount val="1"/>
                <c:pt idx="0">
                  <c:v>Lump</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15.01887838353756</c:v>
                </c:pt>
                <c:pt idx="1">
                  <c:v>13.809753628931535</c:v>
                </c:pt>
                <c:pt idx="2">
                  <c:v>11.524116379310342</c:v>
                </c:pt>
              </c:numCache>
            </c:numRef>
          </c:val>
        </c:ser>
        <c:ser>
          <c:idx val="4"/>
          <c:order val="4"/>
          <c:tx>
            <c:strRef>
              <c:strCache>
                <c:ptCount val="1"/>
                <c:pt idx="0">
                  <c:v>Jumbo Lump</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8.158753007702161</c:v>
                </c:pt>
                <c:pt idx="1">
                  <c:v>8.599421875782328</c:v>
                </c:pt>
                <c:pt idx="2">
                  <c:v>9.435517241379308</c:v>
                </c:pt>
              </c:numCache>
            </c:numRef>
          </c:val>
        </c:ser>
        <c:ser>
          <c:idx val="5"/>
          <c:order val="5"/>
          <c:tx>
            <c:strRef>
              <c:strCache>
                <c:ptCount val="1"/>
                <c:pt idx="0">
                  <c:v>Backfin</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10.60300777009539</c:v>
                </c:pt>
                <c:pt idx="1">
                  <c:v>10.191808302318387</c:v>
                </c:pt>
                <c:pt idx="2">
                  <c:v>9.425823275862069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Fresh</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37.4522126015851</c:v>
                </c:pt>
                <c:pt idx="1">
                  <c:v>44.416713464782184</c:v>
                </c:pt>
                <c:pt idx="2">
                  <c:v>46.38855068599712</c:v>
                </c:pt>
                <c:pt idx="3">
                  <c:v>39.31387664652254</c:v>
                </c:pt>
                <c:pt idx="4">
                  <c:v>43.791995904676014</c:v>
                </c:pt>
                <c:pt idx="5">
                  <c:v>39.711142383706175</c:v>
                </c:pt>
              </c:numCache>
            </c:numRef>
          </c:val>
        </c:ser>
        <c:ser>
          <c:idx val="1"/>
          <c:order val="1"/>
          <c:tx>
            <c:strRef>
              <c:strCache>
                <c:ptCount val="1"/>
                <c:pt idx="0">
                  <c:v>Frozen</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7.174042419430789</c:v>
                </c:pt>
                <c:pt idx="1">
                  <c:v>6.195836712733379</c:v>
                </c:pt>
                <c:pt idx="2">
                  <c:v>7.142304400174504</c:v>
                </c:pt>
                <c:pt idx="3">
                  <c:v>9.411754985218273</c:v>
                </c:pt>
                <c:pt idx="4">
                  <c:v>7.785169759590323</c:v>
                </c:pt>
                <c:pt idx="5">
                  <c:v>7.635947557486969</c:v>
                </c:pt>
              </c:numCache>
            </c:numRef>
          </c:val>
        </c:ser>
        <c:ser>
          <c:idx val="2"/>
          <c:order val="2"/>
          <c:tx>
            <c:strRef>
              <c:strCache>
                <c:ptCount val="1"/>
                <c:pt idx="0">
                  <c:v>Canned</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31.065443110476643</c:v>
                </c:pt>
                <c:pt idx="1">
                  <c:v>26.96588404854714</c:v>
                </c:pt>
                <c:pt idx="2">
                  <c:v>23.31552150210069</c:v>
                </c:pt>
                <c:pt idx="3">
                  <c:v>28.138989554465997</c:v>
                </c:pt>
                <c:pt idx="4">
                  <c:v>24.068272947777057</c:v>
                </c:pt>
                <c:pt idx="5">
                  <c:v>26.747384825666238</c:v>
                </c:pt>
              </c:numCache>
            </c:numRef>
          </c:val>
        </c:ser>
        <c:ser>
          <c:idx val="3"/>
          <c:order val="3"/>
          <c:tx>
            <c:strRef>
              <c:strCache>
                <c:ptCount val="1"/>
                <c:pt idx="0">
                  <c:v>Pasteurized</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24.308301868507467</c:v>
                </c:pt>
                <c:pt idx="1">
                  <c:v>22.4215657739373</c:v>
                </c:pt>
                <c:pt idx="2">
                  <c:v>23.153623411727693</c:v>
                </c:pt>
                <c:pt idx="3">
                  <c:v>23.135378813793196</c:v>
                </c:pt>
                <c:pt idx="4">
                  <c:v>24.354561387956615</c:v>
                </c:pt>
                <c:pt idx="5">
                  <c:v>25.905525233140626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Fresh</c:v>
                </c:pt>
              </c:strCache>
            </c:strRef>
          </c:tx>
          <c:spPr>
            <a:solidFill>
              <a:srgbClr val="3D85C6"/>
            </a:solidFill>
          </c:spPr>
          <c:invertIfNegative val="0"/>
          <c:xVal>
            <c:numRef>
              <c:numCache>
                <c:formatCode>General</c:formatCode>
                <c:ptCount val="1"/>
                <c:pt idx="0">
                  <c:v>127.61709254627476</c:v>
                </c:pt>
              </c:numCache>
            </c:numRef>
          </c:xVal>
          <c:yVal>
            <c:numRef>
              <c:numCache>
                <c:formatCode>General</c:formatCode>
                <c:ptCount val="1"/>
                <c:pt idx="0">
                  <c:v>147.83599280496452</c:v>
                </c:pt>
              </c:numCache>
            </c:numRef>
          </c:yVal>
          <c:bubbleSize>
            <c:numRef>
              <c:numCache>
                <c:formatCode>General</c:formatCode>
                <c:ptCount val="1"/>
                <c:pt idx="0">
                  <c:v>9725.899</c:v>
                </c:pt>
              </c:numCache>
            </c:numRef>
          </c:bubbleSize>
          <c:bubble3D val="0"/>
        </c:ser>
        <c:ser>
          <c:idx val="1"/>
          <c:order val="1"/>
          <c:tx>
            <c:strRef>
              <c:strCache>
                <c:ptCount val="1"/>
                <c:pt idx="0">
                  <c:v>Frozen</c:v>
                </c:pt>
              </c:strCache>
            </c:strRef>
          </c:tx>
          <c:spPr>
            <a:solidFill>
              <a:srgbClr val="9E7E0A"/>
            </a:solidFill>
          </c:spPr>
          <c:invertIfNegative val="0"/>
          <c:xVal>
            <c:numRef>
              <c:numCache>
                <c:formatCode>General</c:formatCode>
                <c:ptCount val="1"/>
                <c:pt idx="0">
                  <c:v>101.55972103049461</c:v>
                </c:pt>
              </c:numCache>
            </c:numRef>
          </c:xVal>
          <c:yVal>
            <c:numRef>
              <c:numCache>
                <c:formatCode>General</c:formatCode>
                <c:ptCount val="1"/>
                <c:pt idx="0">
                  <c:v>30.545107661394162</c:v>
                </c:pt>
              </c:numCache>
            </c:numRef>
          </c:yVal>
          <c:bubbleSize>
            <c:numRef>
              <c:numCache>
                <c:formatCode>General</c:formatCode>
                <c:ptCount val="1"/>
                <c:pt idx="0">
                  <c:v>1784.344</c:v>
                </c:pt>
              </c:numCache>
            </c:numRef>
          </c:bubbleSize>
          <c:bubble3D val="0"/>
        </c:ser>
        <c:ser>
          <c:idx val="2"/>
          <c:order val="2"/>
          <c:tx>
            <c:strRef>
              <c:strCache>
                <c:ptCount val="1"/>
                <c:pt idx="0">
                  <c:v>Canned</c:v>
                </c:pt>
              </c:strCache>
            </c:strRef>
          </c:tx>
          <c:spPr>
            <a:solidFill>
              <a:srgbClr val="008189"/>
            </a:solidFill>
          </c:spPr>
          <c:invertIfNegative val="0"/>
          <c:xVal>
            <c:numRef>
              <c:numCache>
                <c:formatCode>General</c:formatCode>
                <c:ptCount val="1"/>
                <c:pt idx="0">
                  <c:v>95.93296457853921</c:v>
                </c:pt>
              </c:numCache>
            </c:numRef>
          </c:xVal>
          <c:yVal>
            <c:numRef>
              <c:numCache>
                <c:formatCode>General</c:formatCode>
                <c:ptCount val="1"/>
                <c:pt idx="0">
                  <c:v>106.15022153796161</c:v>
                </c:pt>
              </c:numCache>
            </c:numRef>
          </c:yVal>
          <c:bubbleSize>
            <c:numRef>
              <c:numCache>
                <c:formatCode>General</c:formatCode>
                <c:ptCount val="1"/>
                <c:pt idx="0">
                  <c:v>6042.71</c:v>
                </c:pt>
              </c:numCache>
            </c:numRef>
          </c:bubbleSize>
          <c:bubble3D val="0"/>
        </c:ser>
        <c:ser>
          <c:idx val="3"/>
          <c:order val="3"/>
          <c:tx>
            <c:strRef>
              <c:strCache>
                <c:ptCount val="1"/>
                <c:pt idx="0">
                  <c:v>Pasteurized</c:v>
                </c:pt>
              </c:strCache>
            </c:strRef>
          </c:tx>
          <c:spPr>
            <a:solidFill>
              <a:srgbClr val="40315E"/>
            </a:solidFill>
          </c:spPr>
          <c:invertIfNegative val="0"/>
          <c:xVal>
            <c:numRef>
              <c:numCache>
                <c:formatCode>General</c:formatCode>
                <c:ptCount val="1"/>
                <c:pt idx="0">
                  <c:v>63.16768217354751</c:v>
                </c:pt>
              </c:numCache>
            </c:numRef>
          </c:xVal>
          <c:yVal>
            <c:numRef>
              <c:numCache>
                <c:formatCode>General</c:formatCode>
                <c:ptCount val="1"/>
                <c:pt idx="0">
                  <c:v>115.46867799567973</c:v>
                </c:pt>
              </c:numCache>
            </c:numRef>
          </c:yVal>
          <c:bubbleSize>
            <c:numRef>
              <c:numCache>
                <c:formatCode>General</c:formatCode>
                <c:ptCount val="1"/>
                <c:pt idx="0">
                  <c:v>5647.047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5359.054</c:v>
                </c:pt>
                <c:pt idx="2">
                  <c:v>6061.955</c:v>
                </c:pt>
                <c:pt idx="3">
                  <c:v>6841.511</c:v>
                </c:pt>
                <c:pt idx="4">
                  <c:v>7705.876</c:v>
                </c:pt>
                <c:pt idx="5">
                  <c:v>8664.039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5359.054</c:v>
                </c:pt>
                <c:pt idx="1">
                  <c:v>702.9009999999998</c:v>
                </c:pt>
                <c:pt idx="2">
                  <c:v>779.5560000000005</c:v>
                </c:pt>
                <c:pt idx="3">
                  <c:v>864.3649999999998</c:v>
                </c:pt>
                <c:pt idx="4">
                  <c:v>958.1630000000005</c:v>
                </c:pt>
                <c:pt idx="5">
                  <c:v>1061.8599999999988</c:v>
                </c:pt>
                <c:pt idx="6">
                  <c:v>9725.899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1107.26</c:v>
                </c:pt>
                <c:pt idx="2">
                  <c:v>1218.293</c:v>
                </c:pt>
                <c:pt idx="3">
                  <c:v>1340.369</c:v>
                </c:pt>
                <c:pt idx="4">
                  <c:v>1474.579</c:v>
                </c:pt>
                <c:pt idx="5">
                  <c:v>1622.129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1107.26</c:v>
                </c:pt>
                <c:pt idx="1">
                  <c:v>111.0329999999999</c:v>
                </c:pt>
                <c:pt idx="2">
                  <c:v>122.07600000000002</c:v>
                </c:pt>
                <c:pt idx="3">
                  <c:v>134.21000000000004</c:v>
                </c:pt>
                <c:pt idx="4">
                  <c:v>147.54999999999995</c:v>
                </c:pt>
                <c:pt idx="5">
                  <c:v>162.21500000000015</c:v>
                </c:pt>
                <c:pt idx="6">
                  <c:v>1784.344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3847.945</c:v>
                </c:pt>
                <c:pt idx="2">
                  <c:v>4210.438</c:v>
                </c:pt>
                <c:pt idx="3">
                  <c:v>4607.668</c:v>
                </c:pt>
                <c:pt idx="4">
                  <c:v>5042.97</c:v>
                </c:pt>
                <c:pt idx="5">
                  <c:v>5519.982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3847.945</c:v>
                </c:pt>
                <c:pt idx="1">
                  <c:v>362.49299999999994</c:v>
                </c:pt>
                <c:pt idx="2">
                  <c:v>397.22999999999956</c:v>
                </c:pt>
                <c:pt idx="3">
                  <c:v>435.3020000000006</c:v>
                </c:pt>
                <c:pt idx="4">
                  <c:v>477.0119999999997</c:v>
                </c:pt>
                <c:pt idx="5">
                  <c:v>522.7280000000001</c:v>
                </c:pt>
                <c:pt idx="6">
                  <c:v>6042.71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4185.739</c:v>
                </c:pt>
                <c:pt idx="2">
                  <c:v>4438.441</c:v>
                </c:pt>
                <c:pt idx="3">
                  <c:v>4709.561</c:v>
                </c:pt>
                <c:pt idx="4">
                  <c:v>5000.41</c:v>
                </c:pt>
                <c:pt idx="5">
                  <c:v>5312.393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4185.739</c:v>
                </c:pt>
                <c:pt idx="1">
                  <c:v>252.70200000000023</c:v>
                </c:pt>
                <c:pt idx="2">
                  <c:v>271.1199999999999</c:v>
                </c:pt>
                <c:pt idx="3">
                  <c:v>290.84900000000016</c:v>
                </c:pt>
                <c:pt idx="4">
                  <c:v>311.9830000000002</c:v>
                </c:pt>
                <c:pt idx="5">
                  <c:v>334.65399999999954</c:v>
                </c:pt>
                <c:pt idx="6">
                  <c:v>5647.047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Fresh</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33.93736744711811</c:v>
                </c:pt>
                <c:pt idx="1">
                  <c:v>36.95899820124113</c:v>
                </c:pt>
                <c:pt idx="2">
                  <c:v>41.92197844827586</c:v>
                </c:pt>
              </c:numCache>
            </c:numRef>
          </c:val>
        </c:ser>
        <c:ser>
          <c:idx val="1"/>
          <c:order val="1"/>
          <c:tx>
            <c:strRef>
              <c:strCache>
                <c:ptCount val="1"/>
                <c:pt idx="0">
                  <c:v>Canned</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26.81994852091024</c:v>
                </c:pt>
                <c:pt idx="1">
                  <c:v>26.537555384490403</c:v>
                </c:pt>
                <c:pt idx="2">
                  <c:v>26.04616379310345</c:v>
                </c:pt>
              </c:numCache>
            </c:numRef>
          </c:val>
        </c:ser>
        <c:ser>
          <c:idx val="2"/>
          <c:order val="2"/>
          <c:tx>
            <c:strRef>
              <c:strCache>
                <c:ptCount val="1"/>
                <c:pt idx="0">
                  <c:v>Pasteurized</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31.6389208548056</c:v>
                </c:pt>
                <c:pt idx="1">
                  <c:v>28.86716949891993</c:v>
                </c:pt>
                <c:pt idx="2">
                  <c:v>24.340719827586206</c:v>
                </c:pt>
              </c:numCache>
            </c:numRef>
          </c:val>
        </c:ser>
        <c:ser>
          <c:idx val="3"/>
          <c:order val="3"/>
          <c:tx>
            <c:strRef>
              <c:strCache>
                <c:ptCount val="1"/>
                <c:pt idx="0">
                  <c:v>Frozen</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7.603763177166057</c:v>
                </c:pt>
                <c:pt idx="1">
                  <c:v>7.636276915348541</c:v>
                </c:pt>
                <c:pt idx="2">
                  <c:v>7.691137931034484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Organic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61.037103024474845</c:v>
                </c:pt>
                <c:pt idx="1">
                  <c:v>61.90075660154007</c:v>
                </c:pt>
                <c:pt idx="2">
                  <c:v>59.79165800743359</c:v>
                </c:pt>
                <c:pt idx="3">
                  <c:v>54.96195089062182</c:v>
                </c:pt>
                <c:pt idx="4">
                  <c:v>57.420036650971355</c:v>
                </c:pt>
                <c:pt idx="5">
                  <c:v>57.88151553873142</c:v>
                </c:pt>
              </c:numCache>
            </c:numRef>
          </c:val>
        </c:ser>
        <c:ser>
          <c:idx val="1"/>
          <c:order val="1"/>
          <c:tx>
            <c:strRef>
              <c:strCache>
                <c:ptCount val="1"/>
                <c:pt idx="0">
                  <c:v>Sustainably Sourced</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9.907972373075303</c:v>
                </c:pt>
                <c:pt idx="1">
                  <c:v>10.169760685875854</c:v>
                </c:pt>
                <c:pt idx="2">
                  <c:v>8.785277715543941</c:v>
                </c:pt>
                <c:pt idx="3">
                  <c:v>10.953880017648837</c:v>
                </c:pt>
                <c:pt idx="4">
                  <c:v>9.041026759686835</c:v>
                </c:pt>
                <c:pt idx="5">
                  <c:v>10.014184117474842</c:v>
                </c:pt>
              </c:numCache>
            </c:numRef>
          </c:val>
        </c:ser>
        <c:ser>
          <c:idx val="2"/>
          <c:order val="2"/>
          <c:tx>
            <c:strRef>
              <c:strCache>
                <c:ptCount val="1"/>
                <c:pt idx="0">
                  <c:v>100% Pure Crab Meat</c:v>
                </c:pt>
              </c:strCache>
            </c:strRef>
          </c:tx>
          <c:spPr>
            <a:solidFill>
              <a:srgbClr val="008189"/>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5.100097283153613</c:v>
                </c:pt>
                <c:pt idx="1">
                  <c:v>4.041102855828909</c:v>
                </c:pt>
                <c:pt idx="2">
                  <c:v>5.331316619070453</c:v>
                </c:pt>
                <c:pt idx="3">
                  <c:v>5.009328435285116</c:v>
                </c:pt>
                <c:pt idx="4">
                  <c:v>5.048433801792491</c:v>
                </c:pt>
                <c:pt idx="5">
                  <c:v>5.073833282395106</c:v>
                </c:pt>
              </c:numCache>
            </c:numRef>
          </c:val>
        </c:ser>
        <c:ser>
          <c:idx val="3"/>
          <c:order val="3"/>
          <c:tx>
            <c:strRef>
              <c:strCache>
                <c:ptCount val="1"/>
                <c:pt idx="0">
                  <c:v>High Protein / Omega-3 Rich</c:v>
                </c:pt>
              </c:strCache>
            </c:strRef>
          </c:tx>
          <c:spPr>
            <a:solidFill>
              <a:srgbClr val="40315E"/>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12.47367577500382</c:v>
                </c:pt>
                <c:pt idx="1">
                  <c:v>13.439934514365811</c:v>
                </c:pt>
                <c:pt idx="2">
                  <c:v>14.59228613552874</c:v>
                </c:pt>
                <c:pt idx="3">
                  <c:v>15.863231422863178</c:v>
                </c:pt>
                <c:pt idx="4">
                  <c:v>14.280430456793816</c:v>
                </c:pt>
                <c:pt idx="5">
                  <c:v>12.060357727814974</c:v>
                </c:pt>
              </c:numCache>
            </c:numRef>
          </c:val>
        </c:ser>
        <c:ser>
          <c:idx val="4"/>
          <c:order val="4"/>
          <c:tx>
            <c:strRef>
              <c:strCache>
                <c:ptCount val="1"/>
                <c:pt idx="0">
                  <c:v>Freshly Pasteurized for Extended Shelf Life</c:v>
                </c:pt>
              </c:strCache>
            </c:strRef>
          </c:tx>
          <c:spPr>
            <a:solidFill>
              <a:srgbClr val="A35313"/>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11.48115154429241</c:v>
                </c:pt>
                <c:pt idx="1">
                  <c:v>10.448445342389375</c:v>
                </c:pt>
                <c:pt idx="2">
                  <c:v>11.499461522423275</c:v>
                </c:pt>
                <c:pt idx="3">
                  <c:v>13.211609233581045</c:v>
                </c:pt>
                <c:pt idx="4">
                  <c:v>14.210072330755501</c:v>
                </c:pt>
                <c:pt idx="5">
                  <c:v>14.970109333583666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Organic</c:v>
                </c:pt>
              </c:strCache>
            </c:strRef>
          </c:tx>
          <c:spPr>
            <a:solidFill>
              <a:srgbClr val="3D85C6"/>
            </a:solidFill>
          </c:spPr>
          <c:invertIfNegative val="0"/>
          <c:xVal>
            <c:numRef>
              <c:numCache>
                <c:formatCode>General</c:formatCode>
                <c:ptCount val="1"/>
                <c:pt idx="0">
                  <c:v>138.15331331318114</c:v>
                </c:pt>
              </c:numCache>
            </c:numRef>
          </c:xVal>
          <c:yVal>
            <c:numRef>
              <c:numCache>
                <c:formatCode>General</c:formatCode>
                <c:ptCount val="1"/>
                <c:pt idx="0">
                  <c:v>244.5165854505635</c:v>
                </c:pt>
              </c:numCache>
            </c:numRef>
          </c:yVal>
          <c:bubbleSize>
            <c:numRef>
              <c:numCache>
                <c:formatCode>General</c:formatCode>
                <c:ptCount val="1"/>
                <c:pt idx="0">
                  <c:v>13497.222</c:v>
                </c:pt>
              </c:numCache>
            </c:numRef>
          </c:bubbleSize>
          <c:bubble3D val="0"/>
        </c:ser>
        <c:ser>
          <c:idx val="1"/>
          <c:order val="1"/>
          <c:tx>
            <c:strRef>
              <c:strCache>
                <c:ptCount val="1"/>
                <c:pt idx="0">
                  <c:v>Sustainably Sourced</c:v>
                </c:pt>
              </c:strCache>
            </c:strRef>
          </c:tx>
          <c:spPr>
            <a:solidFill>
              <a:srgbClr val="9E7E0A"/>
            </a:solidFill>
          </c:spPr>
          <c:invertIfNegative val="0"/>
          <c:xVal>
            <c:numRef>
              <c:numCache>
                <c:formatCode>General</c:formatCode>
                <c:ptCount val="1"/>
                <c:pt idx="0">
                  <c:v>15.378207877544058</c:v>
                </c:pt>
              </c:numCache>
            </c:numRef>
          </c:xVal>
          <c:yVal>
            <c:numRef>
              <c:numCache>
                <c:formatCode>General</c:formatCode>
                <c:ptCount val="1"/>
                <c:pt idx="0">
                  <c:v>72.14907891711432</c:v>
                </c:pt>
              </c:numCache>
            </c:numRef>
          </c:yVal>
          <c:bubbleSize>
            <c:numRef>
              <c:numCache>
                <c:formatCode>General</c:formatCode>
                <c:ptCount val="1"/>
                <c:pt idx="0">
                  <c:v>2252.422</c:v>
                </c:pt>
              </c:numCache>
            </c:numRef>
          </c:bubbleSize>
          <c:bubble3D val="0"/>
        </c:ser>
        <c:ser>
          <c:idx val="2"/>
          <c:order val="2"/>
          <c:tx>
            <c:strRef>
              <c:strCache>
                <c:ptCount val="1"/>
                <c:pt idx="0">
                  <c:v>100% Pure Crab Meat</c:v>
                </c:pt>
              </c:strCache>
            </c:strRef>
          </c:tx>
          <c:spPr>
            <a:solidFill>
              <a:srgbClr val="008189"/>
            </a:solidFill>
          </c:spPr>
          <c:invertIfNegative val="0"/>
          <c:xVal>
            <c:numRef>
              <c:numCache>
                <c:formatCode>General</c:formatCode>
                <c:ptCount val="1"/>
                <c:pt idx="0">
                  <c:v>52.583789177799865</c:v>
                </c:pt>
              </c:numCache>
            </c:numRef>
          </c:xVal>
          <c:yVal>
            <c:numRef>
              <c:numCache>
                <c:formatCode>General</c:formatCode>
                <c:ptCount val="1"/>
                <c:pt idx="0">
                  <c:v>31.18010774898038</c:v>
                </c:pt>
              </c:numCache>
            </c:numRef>
          </c:yVal>
          <c:bubbleSize>
            <c:numRef>
              <c:numCache>
                <c:formatCode>General</c:formatCode>
                <c:ptCount val="1"/>
                <c:pt idx="0">
                  <c:v>1160.926</c:v>
                </c:pt>
              </c:numCache>
            </c:numRef>
          </c:bubbleSize>
          <c:bubble3D val="0"/>
        </c:ser>
        <c:ser>
          <c:idx val="3"/>
          <c:order val="3"/>
          <c:tx>
            <c:strRef>
              <c:strCache>
                <c:ptCount val="1"/>
                <c:pt idx="0">
                  <c:v>High Protein / Omega-3 Rich</c:v>
                </c:pt>
              </c:strCache>
            </c:strRef>
          </c:tx>
          <c:spPr>
            <a:solidFill>
              <a:srgbClr val="40315E"/>
            </a:solidFill>
          </c:spPr>
          <c:invertIfNegative val="0"/>
          <c:xVal>
            <c:numRef>
              <c:numCache>
                <c:formatCode>General</c:formatCode>
                <c:ptCount val="1"/>
                <c:pt idx="0">
                  <c:v>111.48349888376086</c:v>
                </c:pt>
              </c:numCache>
            </c:numRef>
          </c:xVal>
          <c:yVal>
            <c:numRef>
              <c:numCache>
                <c:formatCode>General</c:formatCode>
                <c:ptCount val="1"/>
                <c:pt idx="0">
                  <c:v>64.7975606617325</c:v>
                </c:pt>
              </c:numCache>
            </c:numRef>
          </c:yVal>
          <c:bubbleSize>
            <c:numRef>
              <c:numCache>
                <c:formatCode>General</c:formatCode>
                <c:ptCount val="1"/>
                <c:pt idx="0">
                  <c:v>3168.942</c:v>
                </c:pt>
              </c:numCache>
            </c:numRef>
          </c:bubbleSize>
          <c:bubble3D val="0"/>
        </c:ser>
        <c:ser>
          <c:idx val="4"/>
          <c:order val="4"/>
          <c:tx>
            <c:strRef>
              <c:strCache>
                <c:ptCount val="1"/>
                <c:pt idx="0">
                  <c:v>Freshly Pasteurized for Extended Shelf Life</c:v>
                </c:pt>
              </c:strCache>
            </c:strRef>
          </c:tx>
          <c:spPr>
            <a:solidFill>
              <a:srgbClr val="A35313"/>
            </a:solidFill>
          </c:spPr>
          <c:invertIfNegative val="0"/>
          <c:xVal>
            <c:numRef>
              <c:numCache>
                <c:formatCode>General</c:formatCode>
                <c:ptCount val="1"/>
                <c:pt idx="0">
                  <c:v>43.77116378867988</c:v>
                </c:pt>
              </c:numCache>
            </c:numRef>
          </c:xVal>
          <c:yVal>
            <c:numRef>
              <c:numCache>
                <c:formatCode>General</c:formatCode>
                <c:ptCount val="1"/>
                <c:pt idx="0">
                  <c:v>87.35666722160926</c:v>
                </c:pt>
              </c:numCache>
            </c:numRef>
          </c:yVal>
          <c:bubbleSize>
            <c:numRef>
              <c:numCache>
                <c:formatCode>General</c:formatCode>
                <c:ptCount val="1"/>
                <c:pt idx="0">
                  <c:v>3120.488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7090.98</c:v>
                </c:pt>
                <c:pt idx="2">
                  <c:v>8105.512</c:v>
                </c:pt>
                <c:pt idx="3">
                  <c:v>9239.51</c:v>
                </c:pt>
                <c:pt idx="4">
                  <c:v>10506.148</c:v>
                </c:pt>
                <c:pt idx="5">
                  <c:v>11920.002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7090.98</c:v>
                </c:pt>
                <c:pt idx="1">
                  <c:v>1014.5320000000002</c:v>
                </c:pt>
                <c:pt idx="2">
                  <c:v>1133.9980000000005</c:v>
                </c:pt>
                <c:pt idx="3">
                  <c:v>1266.637999999999</c:v>
                </c:pt>
                <c:pt idx="4">
                  <c:v>1413.8540000000012</c:v>
                </c:pt>
                <c:pt idx="5">
                  <c:v>1577.2199999999993</c:v>
                </c:pt>
                <c:pt idx="6">
                  <c:v>13497.222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2092.323</c:v>
                </c:pt>
                <c:pt idx="2">
                  <c:v>2138.009</c:v>
                </c:pt>
                <c:pt idx="3">
                  <c:v>2178.218</c:v>
                </c:pt>
                <c:pt idx="4">
                  <c:v>2211.689</c:v>
                </c:pt>
                <c:pt idx="5">
                  <c:v>2236.974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2092.323</c:v>
                </c:pt>
                <c:pt idx="1">
                  <c:v>45.68600000000015</c:v>
                </c:pt>
                <c:pt idx="2">
                  <c:v>40.20899999999983</c:v>
                </c:pt>
                <c:pt idx="3">
                  <c:v>33.471000000000004</c:v>
                </c:pt>
                <c:pt idx="4">
                  <c:v>25.28500000000031</c:v>
                </c:pt>
                <c:pt idx="5">
                  <c:v>15.447999999999865</c:v>
                </c:pt>
                <c:pt idx="6">
                  <c:v>2252.422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904.223</c:v>
                </c:pt>
                <c:pt idx="2">
                  <c:v>951.508</c:v>
                </c:pt>
                <c:pt idx="3">
                  <c:v>1000.813</c:v>
                </c:pt>
                <c:pt idx="4">
                  <c:v>1052.163</c:v>
                </c:pt>
                <c:pt idx="5">
                  <c:v>1105.543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904.223</c:v>
                </c:pt>
                <c:pt idx="1">
                  <c:v>47.28500000000008</c:v>
                </c:pt>
                <c:pt idx="2">
                  <c:v>49.30499999999995</c:v>
                </c:pt>
                <c:pt idx="3">
                  <c:v>51.35000000000002</c:v>
                </c:pt>
                <c:pt idx="4">
                  <c:v>53.37999999999988</c:v>
                </c:pt>
                <c:pt idx="5">
                  <c:v>55.38300000000004</c:v>
                </c:pt>
                <c:pt idx="6">
                  <c:v>1160.926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1879.129</c:v>
                </c:pt>
                <c:pt idx="2">
                  <c:v>2087.578</c:v>
                </c:pt>
                <c:pt idx="3">
                  <c:v>2318.318</c:v>
                </c:pt>
                <c:pt idx="4">
                  <c:v>2573.685</c:v>
                </c:pt>
                <c:pt idx="5">
                  <c:v>2856.269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1879.129</c:v>
                </c:pt>
                <c:pt idx="1">
                  <c:v>208.44900000000007</c:v>
                </c:pt>
                <c:pt idx="2">
                  <c:v>230.74000000000024</c:v>
                </c:pt>
                <c:pt idx="3">
                  <c:v>255.36699999999973</c:v>
                </c:pt>
                <c:pt idx="4">
                  <c:v>282.58399999999983</c:v>
                </c:pt>
                <c:pt idx="5">
                  <c:v>312.67300000000023</c:v>
                </c:pt>
                <c:pt idx="6">
                  <c:v>3168.942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2533.343</c:v>
                </c:pt>
                <c:pt idx="2">
                  <c:v>2646.52</c:v>
                </c:pt>
                <c:pt idx="3">
                  <c:v>2762.25</c:v>
                </c:pt>
                <c:pt idx="4">
                  <c:v>2880.15</c:v>
                </c:pt>
                <c:pt idx="5">
                  <c:v>2999.755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2533.343</c:v>
                </c:pt>
                <c:pt idx="1">
                  <c:v>113.17700000000013</c:v>
                </c:pt>
                <c:pt idx="2">
                  <c:v>115.73000000000002</c:v>
                </c:pt>
                <c:pt idx="3">
                  <c:v>117.90000000000009</c:v>
                </c:pt>
                <c:pt idx="4">
                  <c:v>119.60500000000002</c:v>
                </c:pt>
                <c:pt idx="5">
                  <c:v>120.73299999999972</c:v>
                </c:pt>
                <c:pt idx="6">
                  <c:v>3120.488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43.635084039036606</c:v>
                </c:pt>
                <c:pt idx="1">
                  <c:v>48.903317090112694</c:v>
                </c:pt>
                <c:pt idx="2">
                  <c:v>58.17768103448275</c:v>
                </c:pt>
              </c:numCache>
            </c:numRef>
          </c:val>
        </c:ser>
        <c:ser>
          <c:idx val="1"/>
          <c:order val="1"/>
          <c:tx>
            <c:strRef>
              <c:strCache>
                <c:ptCount val="1"/>
                <c:pt idx="0">
                  <c:v>High Protein / Omega-3 Rich</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12.579327932263354</c:v>
                </c:pt>
                <c:pt idx="1">
                  <c:v>12.959512132346498</c:v>
                </c:pt>
                <c:pt idx="2">
                  <c:v>13.659232758620691</c:v>
                </c:pt>
              </c:numCache>
            </c:numRef>
          </c:val>
        </c:ser>
        <c:ser>
          <c:idx val="2"/>
          <c:order val="2"/>
          <c:tx>
            <c:strRef>
              <c:strCache>
                <c:ptCount val="1"/>
                <c:pt idx="0">
                  <c:v>Freshly Pasteurized for Extended Shelf Life</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19.745072191645143</c:v>
                </c:pt>
                <c:pt idx="1">
                  <c:v>17.47133344432185</c:v>
                </c:pt>
                <c:pt idx="2">
                  <c:v>13.450379310344825</c:v>
                </c:pt>
              </c:numCache>
            </c:numRef>
          </c:val>
        </c:ser>
        <c:ser>
          <c:idx val="3"/>
          <c:order val="3"/>
          <c:tx>
            <c:strRef>
              <c:strCache>
                <c:ptCount val="1"/>
                <c:pt idx="0">
                  <c:v>Sustainably Sourced</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17.107592520383083</c:v>
                </c:pt>
                <c:pt idx="1">
                  <c:v>14.429815783422864</c:v>
                </c:pt>
                <c:pt idx="2">
                  <c:v>9.70871551724138</c:v>
                </c:pt>
              </c:numCache>
            </c:numRef>
          </c:val>
        </c:ser>
        <c:ser>
          <c:idx val="4"/>
          <c:order val="4"/>
          <c:tx>
            <c:strRef>
              <c:strCache>
                <c:ptCount val="1"/>
                <c:pt idx="0">
                  <c:v>100% Pure Crab Meat</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6.932923316671806</c:v>
                </c:pt>
                <c:pt idx="1">
                  <c:v>6.236021549796075</c:v>
                </c:pt>
                <c:pt idx="2">
                  <c:v>5.003991379310344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Industrial / B2B processing</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5.309635008019958</c:v>
                </c:pt>
                <c:pt idx="1">
                  <c:v>6.161070012819595</c:v>
                </c:pt>
                <c:pt idx="2">
                  <c:v>6.213054642886469</c:v>
                </c:pt>
                <c:pt idx="3">
                  <c:v>5.788323013390312</c:v>
                </c:pt>
                <c:pt idx="4">
                  <c:v>5.430071041890239</c:v>
                </c:pt>
                <c:pt idx="5">
                  <c:v>6.107929317457753</c:v>
                </c:pt>
              </c:numCache>
            </c:numRef>
          </c:val>
        </c:ser>
        <c:ser>
          <c:idx val="1"/>
          <c:order val="1"/>
          <c:tx>
            <c:strRef>
              <c:strCache>
                <c:ptCount val="1"/>
                <c:pt idx="0">
                  <c:v>Food Service</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31.596648887331696</c:v>
                </c:pt>
                <c:pt idx="1">
                  <c:v>33.547661187989156</c:v>
                </c:pt>
                <c:pt idx="2">
                  <c:v>32.915595033773535</c:v>
                </c:pt>
                <c:pt idx="3">
                  <c:v>31.08753526049387</c:v>
                </c:pt>
                <c:pt idx="4">
                  <c:v>31.465784711698085</c:v>
                </c:pt>
                <c:pt idx="5">
                  <c:v>31.850995181515124</c:v>
                </c:pt>
              </c:numCache>
            </c:numRef>
          </c:val>
        </c:ser>
        <c:ser>
          <c:idx val="2"/>
          <c:order val="2"/>
          <c:tx>
            <c:strRef>
              <c:strCache>
                <c:ptCount val="1"/>
                <c:pt idx="0">
                  <c:v>Retail</c:v>
                </c:pt>
              </c:strCache>
            </c:strRef>
          </c:tx>
          <c:spPr>
            <a:solidFill>
              <a:srgbClr val="008189"/>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57.350406961647074</c:v>
                </c:pt>
                <c:pt idx="1">
                  <c:v>53.10668517550921</c:v>
                </c:pt>
                <c:pt idx="2">
                  <c:v>53.72870800187478</c:v>
                </c:pt>
                <c:pt idx="3">
                  <c:v>56.0126516387144</c:v>
                </c:pt>
                <c:pt idx="4">
                  <c:v>56.580322779059756</c:v>
                </c:pt>
                <c:pt idx="5">
                  <c:v>56.246391280175544</c:v>
                </c:pt>
              </c:numCache>
            </c:numRef>
          </c:val>
        </c:ser>
        <c:ser>
          <c:idx val="3"/>
          <c:order val="3"/>
          <c:tx>
            <c:strRef>
              <c:strCache>
                <c:ptCount val="1"/>
                <c:pt idx="0">
                  <c:v>Travel Retail</c:v>
                </c:pt>
              </c:strCache>
            </c:strRef>
          </c:tx>
          <c:spPr>
            <a:solidFill>
              <a:srgbClr val="40315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5.743309143001266</c:v>
                </c:pt>
                <c:pt idx="1">
                  <c:v>7.184583623682035</c:v>
                </c:pt>
                <c:pt idx="2">
                  <c:v>7.1426423214652</c:v>
                </c:pt>
                <c:pt idx="3">
                  <c:v>7.111490087401407</c:v>
                </c:pt>
                <c:pt idx="4">
                  <c:v>6.523821467351924</c:v>
                </c:pt>
                <c:pt idx="5">
                  <c:v>5.794684220851582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Industrial / B2B processing</c:v>
                </c:pt>
              </c:strCache>
            </c:strRef>
          </c:tx>
          <c:spPr>
            <a:solidFill>
              <a:srgbClr val="3D85C6"/>
            </a:solidFill>
          </c:spPr>
          <c:invertIfNegative val="0"/>
          <c:xVal>
            <c:numRef>
              <c:numCache>
                <c:formatCode>General</c:formatCode>
                <c:ptCount val="1"/>
                <c:pt idx="0">
                  <c:v>54.66305695457544</c:v>
                </c:pt>
              </c:numCache>
            </c:numRef>
          </c:xVal>
          <c:yVal>
            <c:numRef>
              <c:numCache>
                <c:formatCode>General</c:formatCode>
                <c:ptCount val="1"/>
                <c:pt idx="0">
                  <c:v>28.807617766567972</c:v>
                </c:pt>
              </c:numCache>
            </c:numRef>
          </c:yVal>
          <c:bubbleSize>
            <c:numRef>
              <c:numCache>
                <c:formatCode>General</c:formatCode>
                <c:ptCount val="1"/>
                <c:pt idx="0">
                  <c:v>1353.881</c:v>
                </c:pt>
              </c:numCache>
            </c:numRef>
          </c:bubbleSize>
          <c:bubble3D val="0"/>
        </c:ser>
        <c:ser>
          <c:idx val="1"/>
          <c:order val="1"/>
          <c:tx>
            <c:strRef>
              <c:strCache>
                <c:ptCount val="1"/>
                <c:pt idx="0">
                  <c:v>Food Service</c:v>
                </c:pt>
              </c:strCache>
            </c:strRef>
          </c:tx>
          <c:spPr>
            <a:solidFill>
              <a:srgbClr val="9E7E0A"/>
            </a:solidFill>
          </c:spPr>
          <c:invertIfNegative val="0"/>
          <c:xVal>
            <c:numRef>
              <c:numCache>
                <c:formatCode>General</c:formatCode>
                <c:ptCount val="1"/>
                <c:pt idx="0">
                  <c:v>99.21303951025013</c:v>
                </c:pt>
              </c:numCache>
            </c:numRef>
          </c:xVal>
          <c:yVal>
            <c:numRef>
              <c:numCache>
                <c:formatCode>General</c:formatCode>
                <c:ptCount val="1"/>
                <c:pt idx="0">
                  <c:v>128.08523146003193</c:v>
                </c:pt>
              </c:numCache>
            </c:numRef>
          </c:yVal>
          <c:bubbleSize>
            <c:numRef>
              <c:numCache>
                <c:formatCode>General</c:formatCode>
                <c:ptCount val="1"/>
                <c:pt idx="0">
                  <c:v>7402.145</c:v>
                </c:pt>
              </c:numCache>
            </c:numRef>
          </c:bubbleSize>
          <c:bubble3D val="0"/>
        </c:ser>
        <c:ser>
          <c:idx val="2"/>
          <c:order val="2"/>
          <c:tx>
            <c:strRef>
              <c:strCache>
                <c:ptCount val="1"/>
                <c:pt idx="0">
                  <c:v>Retail</c:v>
                </c:pt>
              </c:strCache>
            </c:strRef>
          </c:tx>
          <c:spPr>
            <a:solidFill>
              <a:srgbClr val="008189"/>
            </a:solidFill>
          </c:spPr>
          <c:invertIfNegative val="0"/>
          <c:xVal>
            <c:numRef>
              <c:numCache>
                <c:formatCode>General</c:formatCode>
                <c:ptCount val="1"/>
                <c:pt idx="0">
                  <c:v>105.40038391710253</c:v>
                </c:pt>
              </c:numCache>
            </c:numRef>
          </c:xVal>
          <c:yVal>
            <c:numRef>
              <c:numCache>
                <c:formatCode>General</c:formatCode>
                <c:ptCount val="1"/>
                <c:pt idx="0">
                  <c:v>217.72637485881035</c:v>
                </c:pt>
              </c:numCache>
            </c:numRef>
          </c:yVal>
          <c:bubbleSize>
            <c:numRef>
              <c:numCache>
                <c:formatCode>General</c:formatCode>
                <c:ptCount val="1"/>
                <c:pt idx="0">
                  <c:v>12944.758</c:v>
                </c:pt>
              </c:numCache>
            </c:numRef>
          </c:bubbleSize>
          <c:bubble3D val="0"/>
        </c:ser>
        <c:ser>
          <c:idx val="3"/>
          <c:order val="3"/>
          <c:tx>
            <c:strRef>
              <c:strCache>
                <c:ptCount val="1"/>
                <c:pt idx="0">
                  <c:v>Travel Retail</c:v>
                </c:pt>
              </c:strCache>
            </c:strRef>
          </c:tx>
          <c:spPr>
            <a:solidFill>
              <a:srgbClr val="40315E"/>
            </a:solidFill>
          </c:spPr>
          <c:invertIfNegative val="0"/>
          <c:xVal>
            <c:numRef>
              <c:numCache>
                <c:formatCode>General</c:formatCode>
                <c:ptCount val="1"/>
                <c:pt idx="0">
                  <c:v>103.98127782967039</c:v>
                </c:pt>
              </c:numCache>
            </c:numRef>
          </c:xVal>
          <c:yVal>
            <c:numRef>
              <c:numCache>
                <c:formatCode>General</c:formatCode>
                <c:ptCount val="1"/>
                <c:pt idx="0">
                  <c:v>25.380775914589783</c:v>
                </c:pt>
              </c:numCache>
            </c:numRef>
          </c:yVal>
          <c:bubbleSize>
            <c:numRef>
              <c:numCache>
                <c:formatCode>General</c:formatCode>
                <c:ptCount val="1"/>
                <c:pt idx="0">
                  <c:v>1499.216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1044.276</c:v>
                </c:pt>
                <c:pt idx="2">
                  <c:v>1102.931</c:v>
                </c:pt>
                <c:pt idx="3">
                  <c:v>1163.411</c:v>
                </c:pt>
                <c:pt idx="4">
                  <c:v>1225.552</c:v>
                </c:pt>
                <c:pt idx="5">
                  <c:v>1289.14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1044.276</c:v>
                </c:pt>
                <c:pt idx="1">
                  <c:v>58.65499999999997</c:v>
                </c:pt>
                <c:pt idx="2">
                  <c:v>60.48000000000002</c:v>
                </c:pt>
                <c:pt idx="3">
                  <c:v>62.14099999999985</c:v>
                </c:pt>
                <c:pt idx="4">
                  <c:v>63.58800000000019</c:v>
                </c:pt>
                <c:pt idx="5">
                  <c:v>64.74099999999999</c:v>
                </c:pt>
                <c:pt idx="6">
                  <c:v>1353.881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4643.089</c:v>
                </c:pt>
                <c:pt idx="2">
                  <c:v>5097.266</c:v>
                </c:pt>
                <c:pt idx="3">
                  <c:v>5595.743</c:v>
                </c:pt>
                <c:pt idx="4">
                  <c:v>6142.826</c:v>
                </c:pt>
                <c:pt idx="5">
                  <c:v>6743.238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4643.089</c:v>
                </c:pt>
                <c:pt idx="1">
                  <c:v>454.1769999999997</c:v>
                </c:pt>
                <c:pt idx="2">
                  <c:v>498.47700000000077</c:v>
                </c:pt>
                <c:pt idx="3">
                  <c:v>547.0829999999996</c:v>
                </c:pt>
                <c:pt idx="4">
                  <c:v>600.4120000000003</c:v>
                </c:pt>
                <c:pt idx="5">
                  <c:v>658.9070000000002</c:v>
                </c:pt>
                <c:pt idx="6">
                  <c:v>7402.145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7892.58</c:v>
                </c:pt>
                <c:pt idx="2">
                  <c:v>8714.515</c:v>
                </c:pt>
                <c:pt idx="3">
                  <c:v>9621.486</c:v>
                </c:pt>
                <c:pt idx="4">
                  <c:v>10622.257</c:v>
                </c:pt>
                <c:pt idx="5">
                  <c:v>11726.449999999999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7892.58</c:v>
                </c:pt>
                <c:pt idx="1">
                  <c:v>821.9349999999995</c:v>
                </c:pt>
                <c:pt idx="2">
                  <c:v>906.9710000000014</c:v>
                </c:pt>
                <c:pt idx="3">
                  <c:v>1000.7709999999988</c:v>
                </c:pt>
                <c:pt idx="4">
                  <c:v>1104.1929999999993</c:v>
                </c:pt>
                <c:pt idx="5">
                  <c:v>1218.308000000001</c:v>
                </c:pt>
                <c:pt idx="6">
                  <c:v>12944.758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920.053</c:v>
                </c:pt>
                <c:pt idx="2">
                  <c:v>1014.415</c:v>
                </c:pt>
                <c:pt idx="3">
                  <c:v>1118.469</c:v>
                </c:pt>
                <c:pt idx="4">
                  <c:v>1233.2</c:v>
                </c:pt>
                <c:pt idx="5">
                  <c:v>1359.715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920.053</c:v>
                </c:pt>
                <c:pt idx="1">
                  <c:v>94.36199999999997</c:v>
                </c:pt>
                <c:pt idx="2">
                  <c:v>104.05400000000009</c:v>
                </c:pt>
                <c:pt idx="3">
                  <c:v>114.731</c:v>
                </c:pt>
                <c:pt idx="4">
                  <c:v>126.51499999999987</c:v>
                </c:pt>
                <c:pt idx="5">
                  <c:v>139.50099999999998</c:v>
                </c:pt>
                <c:pt idx="6">
                  <c:v>1499.216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Retail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53.73171602400456</c:v>
                </c:pt>
                <c:pt idx="1">
                  <c:v>54.431593714702586</c:v>
                </c:pt>
                <c:pt idx="2">
                  <c:v>55.79637068965517</c:v>
                </c:pt>
              </c:numCache>
            </c:numRef>
          </c:val>
        </c:ser>
        <c:ser>
          <c:idx val="1"/>
          <c:order val="1"/>
          <c:tx>
            <c:strRef>
              <c:strCache>
                <c:ptCount val="1"/>
                <c:pt idx="0">
                  <c:v>Food Service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32.072787411331376</c:v>
                </c:pt>
                <c:pt idx="1">
                  <c:v>32.021307865007984</c:v>
                </c:pt>
                <c:pt idx="2">
                  <c:v>31.905797413793106</c:v>
                </c:pt>
              </c:numCache>
            </c:numRef>
          </c:val>
        </c:ser>
        <c:ser>
          <c:idx val="2"/>
          <c:order val="2"/>
          <c:tx>
            <c:strRef>
              <c:strCache>
                <c:ptCount val="1"/>
                <c:pt idx="0">
                  <c:v>Travel Retail</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6.287940184259545</c:v>
                </c:pt>
                <c:pt idx="1">
                  <c:v>6.345193978647446</c:v>
                </c:pt>
                <c:pt idx="2">
                  <c:v>6.462137931034483</c:v>
                </c:pt>
              </c:numCache>
            </c:numRef>
          </c:val>
        </c:ser>
        <c:ser>
          <c:idx val="3"/>
          <c:order val="3"/>
          <c:tx>
            <c:strRef>
              <c:strCache>
                <c:ptCount val="1"/>
                <c:pt idx="0">
                  <c:v>Industrial / B2B processing</c:v>
                </c:pt>
              </c:strCache>
            </c:strRef>
          </c:tx>
          <c:spPr>
            <a:solidFill>
              <a:srgbClr val="40315E"/>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7.9075563804045235</c:v>
                </c:pt>
                <c:pt idx="1">
                  <c:v>7.201904441641993</c:v>
                </c:pt>
                <c:pt idx="2">
                  <c:v>5.835693965517242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3.5401020855210907</c:v>
                </c:pt>
                <c:pt idx="1">
                  <c:v>4.101213723464681</c:v>
                </c:pt>
                <c:pt idx="2">
                  <c:v>3.9138394537247434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41360211497337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658603.171</c:v>
                </c:pt>
                <c:pt idx="2">
                  <c:v>0.0</c:v>
                </c:pt>
                <c:pt idx="3">
                  <c:v>783730.524</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658603.171</c:v>
                </c:pt>
                <c:pt idx="1">
                  <c:v>125127.353</c:v>
                </c:pt>
                <c:pt idx="2">
                  <c:v>783730.524</c:v>
                </c:pt>
                <c:pt idx="3">
                  <c:v>387721.9979999999</c:v>
                </c:pt>
                <c:pt idx="4">
                  <c:v>1171452.5219999999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4.802410738223584</c:v>
                </c:pt>
                <c:pt idx="1">
                  <c:v>5.378021916641984</c:v>
                </c:pt>
                <c:pt idx="2">
                  <c:v>5.185801105662424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09898892996741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3096.5299999999997</c:v>
                </c:pt>
                <c:pt idx="2">
                  <c:v>0.0</c:v>
                </c:pt>
                <c:pt idx="3">
                  <c:v>3914.999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3096.5299999999997</c:v>
                </c:pt>
                <c:pt idx="1">
                  <c:v>818.469</c:v>
                </c:pt>
                <c:pt idx="2">
                  <c:v>3914.999</c:v>
                </c:pt>
                <c:pt idx="3">
                  <c:v>2695.4670000000006</c:v>
                </c:pt>
                <c:pt idx="4">
                  <c:v>6610.466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3096.5299999999997</c:v>
                </c:pt>
                <c:pt idx="1">
                  <c:v>3240.226</c:v>
                </c:pt>
                <c:pt idx="2">
                  <c:v>3391.014</c:v>
                </c:pt>
                <c:pt idx="3">
                  <c:v>3549.263</c:v>
                </c:pt>
                <c:pt idx="4">
                  <c:v>3715.355</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658603.171</c:v>
                </c:pt>
                <c:pt idx="1">
                  <c:v>680878.538</c:v>
                </c:pt>
                <c:pt idx="2">
                  <c:v>703988.5790000001</c:v>
                </c:pt>
                <c:pt idx="3">
                  <c:v>727966.5420000001</c:v>
                </c:pt>
                <c:pt idx="4">
                  <c:v>752847.037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38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59615"/>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3914.999</c:v>
                </c:pt>
                <c:pt idx="1">
                  <c:v>4125.282</c:v>
                </c:pt>
                <c:pt idx="2">
                  <c:v>4346.933</c:v>
                </c:pt>
                <c:pt idx="3">
                  <c:v>4580.572</c:v>
                </c:pt>
                <c:pt idx="4">
                  <c:v>4826.839999999999</c:v>
                </c:pt>
                <c:pt idx="5">
                  <c:v>5086.420999999999</c:v>
                </c:pt>
                <c:pt idx="6">
                  <c:v>5360.034</c:v>
                </c:pt>
                <c:pt idx="7">
                  <c:v>5648.427</c:v>
                </c:pt>
                <c:pt idx="8">
                  <c:v>5952.397999999999</c:v>
                </c:pt>
                <c:pt idx="9">
                  <c:v>6272.785</c:v>
                </c:pt>
                <c:pt idx="10">
                  <c:v>6610.466</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783730.524</c:v>
                </c:pt>
                <c:pt idx="1">
                  <c:v>815855.252</c:v>
                </c:pt>
                <c:pt idx="2">
                  <c:v>849303.895</c:v>
                </c:pt>
                <c:pt idx="3">
                  <c:v>884129.4309999999</c:v>
                </c:pt>
                <c:pt idx="4">
                  <c:v>920388.39</c:v>
                </c:pt>
                <c:pt idx="5">
                  <c:v>958138.547</c:v>
                </c:pt>
                <c:pt idx="6">
                  <c:v>997440.2359999998</c:v>
                </c:pt>
                <c:pt idx="7">
                  <c:v>1038356.02</c:v>
                </c:pt>
                <c:pt idx="8">
                  <c:v>1080951.187</c:v>
                </c:pt>
                <c:pt idx="9">
                  <c:v>1125293.306</c:v>
                </c:pt>
                <c:pt idx="10">
                  <c:v>1171452.5219999999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780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774461"/>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U.K.</c:v>
                </c:pt>
                <c:pt idx="1">
                  <c:v>Belgium</c:v>
                </c:pt>
                <c:pt idx="2">
                  <c:v>Nordic</c:v>
                </c:pt>
                <c:pt idx="3">
                  <c:v>Switzerland</c:v>
                </c:pt>
                <c:pt idx="4">
                  <c:v>Spain</c:v>
                </c:pt>
                <c:pt idx="5">
                  <c:v>Russia</c:v>
                </c:pt>
                <c:pt idx="6">
                  <c:v>Poland</c:v>
                </c:pt>
                <c:pt idx="7">
                  <c:v>France</c:v>
                </c:pt>
                <c:pt idx="8">
                  <c:v>Netherlands</c:v>
                </c:pt>
                <c:pt idx="9">
                  <c:v>Germany</c:v>
                </c:pt>
              </c:strCache>
            </c:strRef>
          </c:cat>
          <c:val>
            <c:numRef>
              <c:numCache>
                <c:formatCode>General</c:formatCode>
                <c:ptCount val="10"/>
                <c:pt idx="0">
                  <c:v>68.72500976193594</c:v>
                </c:pt>
                <c:pt idx="1">
                  <c:v>71.5368235800994</c:v>
                </c:pt>
                <c:pt idx="2">
                  <c:v>89.61956939513335</c:v>
                </c:pt>
                <c:pt idx="3">
                  <c:v>90.51794657225018</c:v>
                </c:pt>
                <c:pt idx="4">
                  <c:v>102.8290596495419</c:v>
                </c:pt>
                <c:pt idx="5">
                  <c:v>106.4904027540187</c:v>
                </c:pt>
                <c:pt idx="6">
                  <c:v>107.33256355595178</c:v>
                </c:pt>
                <c:pt idx="7">
                  <c:v>110.77812411680044</c:v>
                </c:pt>
                <c:pt idx="8">
                  <c:v>115.15125722494737</c:v>
                </c:pt>
                <c:pt idx="9">
                  <c:v>118.25797120194453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Poland</c:v>
                </c:pt>
                <c:pt idx="1">
                  <c:v>Nordic</c:v>
                </c:pt>
                <c:pt idx="2">
                  <c:v>Belgium</c:v>
                </c:pt>
                <c:pt idx="3">
                  <c:v>Russia</c:v>
                </c:pt>
                <c:pt idx="4">
                  <c:v>Italy</c:v>
                </c:pt>
                <c:pt idx="5">
                  <c:v>Netherlands</c:v>
                </c:pt>
                <c:pt idx="6">
                  <c:v>Spain</c:v>
                </c:pt>
                <c:pt idx="7">
                  <c:v>U.K.</c:v>
                </c:pt>
                <c:pt idx="8">
                  <c:v>France</c:v>
                </c:pt>
                <c:pt idx="9">
                  <c:v>Germany</c:v>
                </c:pt>
              </c:strCache>
            </c:strRef>
          </c:cat>
          <c:val>
            <c:numRef>
              <c:numCache>
                <c:formatCode>General</c:formatCode>
                <c:ptCount val="10"/>
                <c:pt idx="0">
                  <c:v>2.9046172704024937</c:v>
                </c:pt>
                <c:pt idx="1">
                  <c:v>2.9982188615182435</c:v>
                </c:pt>
                <c:pt idx="2">
                  <c:v>3.184494560682807</c:v>
                </c:pt>
                <c:pt idx="3">
                  <c:v>3.246153634973084</c:v>
                </c:pt>
                <c:pt idx="4">
                  <c:v>4.54132808897308</c:v>
                </c:pt>
                <c:pt idx="5">
                  <c:v>4.790041948204151</c:v>
                </c:pt>
                <c:pt idx="6">
                  <c:v>6.10562102967686</c:v>
                </c:pt>
                <c:pt idx="7">
                  <c:v>10.746672098007501</c:v>
                </c:pt>
                <c:pt idx="8">
                  <c:v>12.075347240385435</c:v>
                </c:pt>
                <c:pt idx="9">
                  <c:v>46.47053738739891</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Jumbo Lump</c:v>
                </c:pt>
                <c:pt idx="1">
                  <c:v>Lump</c:v>
                </c:pt>
                <c:pt idx="2">
                  <c:v>Backfin</c:v>
                </c:pt>
                <c:pt idx="3">
                  <c:v>Special Meat</c:v>
                </c:pt>
                <c:pt idx="4">
                  <c:v>Claw Meat</c:v>
                </c:pt>
                <c:pt idx="5">
                  <c:v>Crab Leg Meat</c:v>
                </c:pt>
              </c:strCache>
            </c:strRef>
          </c:cat>
          <c:val>
            <c:numRef>
              <c:numCache>
                <c:formatCode>General</c:formatCode>
                <c:ptCount val="6"/>
                <c:pt idx="0">
                  <c:v>617.733</c:v>
                </c:pt>
                <c:pt idx="1">
                  <c:v>741.426</c:v>
                </c:pt>
                <c:pt idx="2">
                  <c:v>634.778</c:v>
                </c:pt>
                <c:pt idx="3">
                  <c:v>1952.113</c:v>
                </c:pt>
                <c:pt idx="4">
                  <c:v>1861.929</c:v>
                </c:pt>
                <c:pt idx="5">
                  <c:v>802.487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0.061176330661972124</c:v>
                </c:pt>
                <c:pt idx="1">
                  <c:v>0.0626121684375304</c:v>
                </c:pt>
                <c:pt idx="2">
                  <c:v>0.06416011366703617</c:v>
                </c:pt>
                <c:pt idx="3">
                  <c:v>0.06481982291526565</c:v>
                </c:pt>
                <c:pt idx="4">
                  <c:v>0.06590640285352597</c:v>
                </c:pt>
                <c:pt idx="5">
                  <c:v>0.06695848819057168</c:v>
                </c:pt>
                <c:pt idx="6">
                  <c:v>0.06842019691704092</c:v>
                </c:pt>
                <c:pt idx="7">
                  <c:v>0.06942485217741652</c:v>
                </c:pt>
                <c:pt idx="8">
                  <c:v>0.07078738892539375</c:v>
                </c:pt>
                <c:pt idx="9">
                  <c:v>0.07212836654761184</c:v>
                </c:pt>
                <c:pt idx="10">
                  <c:v>0.07309852720677285</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0.05144880860060802</c:v>
                </c:pt>
                <c:pt idx="1">
                  <c:v>0.05144880860060802</c:v>
                </c:pt>
                <c:pt idx="2">
                  <c:v>0.05277880860060802</c:v>
                </c:pt>
                <c:pt idx="3">
                  <c:v>0.05511880860060802</c:v>
                </c:pt>
                <c:pt idx="4">
                  <c:v>0.05744880860060802</c:v>
                </c:pt>
                <c:pt idx="5">
                  <c:v>0.057668808600608024</c:v>
                </c:pt>
                <c:pt idx="6">
                  <c:v>0.056038808600608024</c:v>
                </c:pt>
                <c:pt idx="7">
                  <c:v>0.05411880860060802</c:v>
                </c:pt>
                <c:pt idx="8">
                  <c:v>0.05330880860060802</c:v>
                </c:pt>
                <c:pt idx="9">
                  <c:v>0.05174880860060802</c:v>
                </c:pt>
                <c:pt idx="10">
                  <c:v>0.05043880860060802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0.03428741975598024</c:v>
                </c:pt>
                <c:pt idx="1">
                  <c:v>0.03551228441445903</c:v>
                </c:pt>
                <c:pt idx="2">
                  <c:v>0.036939251741586805</c:v>
                </c:pt>
                <c:pt idx="3">
                  <c:v>0.03837234339200697</c:v>
                </c:pt>
                <c:pt idx="4">
                  <c:v>0.04082207270896454</c:v>
                </c:pt>
                <c:pt idx="5">
                  <c:v>0.0434739046945711</c:v>
                </c:pt>
                <c:pt idx="6">
                  <c:v>0.04469876935304988</c:v>
                </c:pt>
                <c:pt idx="7">
                  <c:v>0.04408633702381049</c:v>
                </c:pt>
                <c:pt idx="8">
                  <c:v>0.043106445297027465</c:v>
                </c:pt>
                <c:pt idx="9">
                  <c:v>0.04190607793171826</c:v>
                </c:pt>
                <c:pt idx="10">
                  <c:v>0.040509732221052454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37.00308436627894</c:v>
                </c:pt>
                <c:pt idx="1">
                  <c:v>40.30271369376078</c:v>
                </c:pt>
              </c:numCache>
            </c:numRef>
          </c:val>
        </c:ser>
        <c:ser>
          <c:idx val="1"/>
          <c:order val="1"/>
          <c:tx>
            <c:strRef>
              <c:strCache>
                <c:ptCount val="1"/>
                <c:pt idx="0">
                  <c:v>U.K.</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17.211848954347985</c:v>
                </c:pt>
                <c:pt idx="1">
                  <c:v>14.899328288782323</c:v>
                </c:pt>
              </c:numCache>
            </c:numRef>
          </c:val>
        </c:ser>
        <c:ser>
          <c:idx val="2"/>
          <c:order val="2"/>
          <c:tx>
            <c:strRef>
              <c:strCache>
                <c:ptCount val="1"/>
                <c:pt idx="0">
                  <c:v>France</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10.678403282401696</c:v>
                </c:pt>
                <c:pt idx="1">
                  <c:v>11.42674777561322</c:v>
                </c:pt>
              </c:numCache>
            </c:numRef>
          </c:val>
        </c:ser>
        <c:ser>
          <c:idx val="3"/>
          <c:order val="3"/>
          <c:tx>
            <c:strRef>
              <c:strCache>
                <c:ptCount val="1"/>
                <c:pt idx="0">
                  <c:v>Italy</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7.595298789204745</c:v>
                </c:pt>
                <c:pt idx="1">
                  <c:v>6.287938914864531</c:v>
                </c:pt>
              </c:numCache>
            </c:numRef>
          </c:val>
        </c:ser>
        <c:ser>
          <c:idx val="4"/>
          <c:order val="4"/>
          <c:tx>
            <c:strRef>
              <c:strCache>
                <c:ptCount val="1"/>
                <c:pt idx="0">
                  <c:v>Spain</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5.898791432040741</c:v>
                </c:pt>
                <c:pt idx="1">
                  <c:v>6.088385970455916</c:v>
                </c:pt>
              </c:numCache>
            </c:numRef>
          </c:val>
        </c:ser>
        <c:ser>
          <c:idx val="5"/>
          <c:order val="5"/>
          <c:tx>
            <c:strRef>
              <c:strCache>
                <c:ptCount val="1"/>
                <c:pt idx="0">
                  <c:v>Netherlands</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4.24465629209052</c:v>
                </c:pt>
                <c:pt idx="1">
                  <c:v>4.52678815437302</c:v>
                </c:pt>
              </c:numCache>
            </c:numRef>
          </c:val>
        </c:ser>
        <c:ser>
          <c:idx val="6"/>
          <c:order val="6"/>
          <c:tx>
            <c:strRef>
              <c:strCache>
                <c:ptCount val="1"/>
                <c:pt idx="0">
                  <c:v>Belgium</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4.779524830654676</c:v>
                </c:pt>
                <c:pt idx="1">
                  <c:v>4.1349558851348815</c:v>
                </c:pt>
              </c:numCache>
            </c:numRef>
          </c:val>
        </c:ser>
        <c:ser>
          <c:idx val="7"/>
          <c:order val="7"/>
          <c:tx>
            <c:strRef>
              <c:strCache>
                <c:ptCount val="1"/>
                <c:pt idx="0">
                  <c:v>Nordic</c:v>
                </c:pt>
              </c:strCache>
            </c:strRef>
          </c:tx>
          <c:spPr>
            <a:solidFill>
              <a:srgbClr val="A86F0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3.521428367896514</c:v>
                </c:pt>
                <c:pt idx="1">
                  <c:v>3.3776078207973668</c:v>
                </c:pt>
              </c:numCache>
            </c:numRef>
          </c:val>
        </c:ser>
        <c:ser>
          <c:idx val="8"/>
          <c:order val="8"/>
          <c:tx>
            <c:strRef>
              <c:strCache>
                <c:ptCount val="1"/>
                <c:pt idx="0">
                  <c:v>Russia</c:v>
                </c:pt>
              </c:strCache>
            </c:strRef>
          </c:tx>
          <c:spPr>
            <a:solidFill>
              <a:srgbClr val="0B2E4A"/>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2.906175694644758</c:v>
                </c:pt>
                <c:pt idx="1">
                  <c:v>2.989506048457677</c:v>
                </c:pt>
              </c:numCache>
            </c:numRef>
          </c:val>
        </c:ser>
        <c:ser>
          <c:idx val="9"/>
          <c:order val="9"/>
          <c:tx>
            <c:strRef>
              <c:strCache>
                <c:ptCount val="1"/>
                <c:pt idx="0">
                  <c:v>Poland</c:v>
                </c:pt>
              </c:strCache>
            </c:strRef>
          </c:tx>
          <c:spPr>
            <a:solidFill>
              <a:srgbClr val="6C7A89"/>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2.681159704327147</c:v>
                </c:pt>
                <c:pt idx="1">
                  <c:v>2.7483662713903825</c:v>
                </c:pt>
              </c:numCache>
            </c:numRef>
          </c:val>
        </c:ser>
        <c:ser>
          <c:idx val="10"/>
          <c:order val="10"/>
          <c:tx>
            <c:strRef>
              <c:strCache>
                <c:ptCount val="1"/>
                <c:pt idx="0">
                  <c:v>Switzerland</c:v>
                </c:pt>
              </c:strCache>
            </c:strRef>
          </c:tx>
          <c:spPr>
            <a:solidFill>
              <a:srgbClr val="B2B2B2"/>
            </a:solidFill>
            <a:ln>
              <a:noFill/>
            </a:ln>
          </c:spPr>
          <c:dLbls>
            <c:dLbl>
              <c:idx val="0"/>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2.319182224424884</c:v>
                </c:pt>
                <c:pt idx="1">
                  <c:v>2.2086564768179313</c:v>
                </c:pt>
              </c:numCache>
            </c:numRef>
          </c:val>
        </c:ser>
        <c:ser>
          <c:idx val="11"/>
          <c:order val="11"/>
          <c:tx>
            <c:strRef>
              <c:strCache>
                <c:ptCount val="1"/>
                <c:pt idx="0">
                  <c:v>Rest of Europe</c:v>
                </c:pt>
              </c:strCache>
            </c:strRef>
          </c:tx>
          <c:spPr>
            <a:solidFill>
              <a:srgbClr val="5F5F5F"/>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1.160446061687397</c:v>
                </c:pt>
                <c:pt idx="1">
                  <c:v>1.0090046995519635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37.52636973853634</c:v>
                </c:pt>
                <c:pt idx="1">
                  <c:v>41.17342105685135</c:v>
                </c:pt>
              </c:numCache>
            </c:numRef>
          </c:val>
        </c:ser>
        <c:ser>
          <c:idx val="1"/>
          <c:order val="1"/>
          <c:tx>
            <c:strRef>
              <c:strCache>
                <c:ptCount val="1"/>
                <c:pt idx="0">
                  <c:v>U.K.</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16.910323604169506</c:v>
                </c:pt>
                <c:pt idx="1">
                  <c:v>14.39704855905771</c:v>
                </c:pt>
              </c:numCache>
            </c:numRef>
          </c:val>
        </c:ser>
        <c:ser>
          <c:idx val="2"/>
          <c:order val="2"/>
          <c:tx>
            <c:strRef>
              <c:strCache>
                <c:ptCount val="1"/>
                <c:pt idx="0">
                  <c:v>France</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10.608329657300041</c:v>
                </c:pt>
                <c:pt idx="1">
                  <c:v>11.206517059462977</c:v>
                </c:pt>
              </c:numCache>
            </c:numRef>
          </c:val>
        </c:ser>
        <c:ser>
          <c:idx val="3"/>
          <c:order val="3"/>
          <c:tx>
            <c:strRef>
              <c:strCache>
                <c:ptCount val="1"/>
                <c:pt idx="0">
                  <c:v>Italy</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7.6202318314768425</c:v>
                </c:pt>
                <c:pt idx="1">
                  <c:v>6.364785780609111</c:v>
                </c:pt>
              </c:numCache>
            </c:numRef>
          </c:val>
        </c:ser>
        <c:ser>
          <c:idx val="4"/>
          <c:order val="4"/>
          <c:tx>
            <c:strRef>
              <c:strCache>
                <c:ptCount val="1"/>
                <c:pt idx="0">
                  <c:v>Spain</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5.895505975863596</c:v>
                </c:pt>
                <c:pt idx="1">
                  <c:v>5.981181962058347</c:v>
                </c:pt>
              </c:numCache>
            </c:numRef>
          </c:val>
        </c:ser>
        <c:ser>
          <c:idx val="5"/>
          <c:order val="5"/>
          <c:tx>
            <c:strRef>
              <c:strCache>
                <c:ptCount val="1"/>
                <c:pt idx="0">
                  <c:v>Netherlands</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4.003806897524112</c:v>
                </c:pt>
                <c:pt idx="1">
                  <c:v>4.324400125497959</c:v>
                </c:pt>
              </c:numCache>
            </c:numRef>
          </c:val>
        </c:ser>
        <c:ser>
          <c:idx val="6"/>
          <c:order val="6"/>
          <c:tx>
            <c:strRef>
              <c:strCache>
                <c:ptCount val="1"/>
                <c:pt idx="0">
                  <c:v>Belgium</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4.780384362805712</c:v>
                </c:pt>
                <c:pt idx="1">
                  <c:v>4.129648348543052</c:v>
                </c:pt>
              </c:numCache>
            </c:numRef>
          </c:val>
        </c:ser>
        <c:ser>
          <c:idx val="7"/>
          <c:order val="7"/>
          <c:tx>
            <c:strRef>
              <c:strCache>
                <c:ptCount val="1"/>
                <c:pt idx="0">
                  <c:v>Nordic</c:v>
                </c:pt>
              </c:strCache>
            </c:strRef>
          </c:tx>
          <c:spPr>
            <a:solidFill>
              <a:srgbClr val="A86F0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3.4338706089069246</c:v>
                </c:pt>
                <c:pt idx="1">
                  <c:v>3.256230347452055</c:v>
                </c:pt>
              </c:numCache>
            </c:numRef>
          </c:val>
        </c:ser>
        <c:ser>
          <c:idx val="8"/>
          <c:order val="8"/>
          <c:tx>
            <c:strRef>
              <c:strCache>
                <c:ptCount val="1"/>
                <c:pt idx="0">
                  <c:v>Russia</c:v>
                </c:pt>
              </c:strCache>
            </c:strRef>
          </c:tx>
          <c:spPr>
            <a:solidFill>
              <a:srgbClr val="0B2E4A"/>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2.9988768834934576</c:v>
                </c:pt>
                <c:pt idx="1">
                  <c:v>3.099705830118481</c:v>
                </c:pt>
              </c:numCache>
            </c:numRef>
          </c:val>
        </c:ser>
        <c:ser>
          <c:idx val="9"/>
          <c:order val="9"/>
          <c:tx>
            <c:strRef>
              <c:strCache>
                <c:ptCount val="1"/>
                <c:pt idx="0">
                  <c:v>Poland</c:v>
                </c:pt>
              </c:strCache>
            </c:strRef>
          </c:tx>
          <c:spPr>
            <a:solidFill>
              <a:srgbClr val="6C7A89"/>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2.656654573858129</c:v>
                </c:pt>
                <c:pt idx="1">
                  <c:v>2.757763219718549</c:v>
                </c:pt>
              </c:numCache>
            </c:numRef>
          </c:val>
        </c:ser>
        <c:ser>
          <c:idx val="10"/>
          <c:order val="10"/>
          <c:tx>
            <c:strRef>
              <c:strCache>
                <c:ptCount val="1"/>
                <c:pt idx="0">
                  <c:v>Switzerland</c:v>
                </c:pt>
              </c:strCache>
            </c:strRef>
          </c:tx>
          <c:spPr>
            <a:solidFill>
              <a:srgbClr val="B2B2B2"/>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2.3808690628018043</c:v>
                </c:pt>
                <c:pt idx="1">
                  <c:v>2.2681305674970567</c:v>
                </c:pt>
              </c:numCache>
            </c:numRef>
          </c:val>
        </c:ser>
        <c:ser>
          <c:idx val="11"/>
          <c:order val="11"/>
          <c:tx>
            <c:strRef>
              <c:strCache>
                <c:ptCount val="1"/>
                <c:pt idx="0">
                  <c:v>Rest of Europe</c:v>
                </c:pt>
              </c:strCache>
            </c:strRef>
          </c:tx>
          <c:spPr>
            <a:solidFill>
              <a:srgbClr val="5F5F5F"/>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1.1847768032635515</c:v>
                </c:pt>
                <c:pt idx="1">
                  <c:v>1.0411671431333278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232464.787</c:v>
                </c:pt>
                <c:pt idx="1">
                  <c:v>242663.01</c:v>
                </c:pt>
                <c:pt idx="2">
                  <c:v>253308.629</c:v>
                </c:pt>
                <c:pt idx="3">
                  <c:v>264421.271</c:v>
                </c:pt>
                <c:pt idx="4">
                  <c:v>276021.423</c:v>
                </c:pt>
                <c:pt idx="5">
                  <c:v>290004.467</c:v>
                </c:pt>
                <c:pt idx="6">
                  <c:v>304629.131</c:v>
                </c:pt>
                <c:pt idx="7">
                  <c:v>319958.802</c:v>
                </c:pt>
                <c:pt idx="8">
                  <c:v>336025.312</c:v>
                </c:pt>
                <c:pt idx="9">
                  <c:v>352862.408</c:v>
                </c:pt>
                <c:pt idx="10">
                  <c:v>370504.903</c:v>
                </c:pt>
                <c:pt idx="11">
                  <c:v>388989.197</c:v>
                </c:pt>
                <c:pt idx="12">
                  <c:v>408353.178</c:v>
                </c:pt>
                <c:pt idx="13">
                  <c:v>428636.442</c:v>
                </c:pt>
                <c:pt idx="14">
                  <c:v>449880.149</c:v>
                </c:pt>
                <c:pt idx="15">
                  <c:v>472127.156</c:v>
                </c:pt>
              </c:numCache>
            </c:numRef>
          </c:val>
        </c:ser>
        <c:ser>
          <c:idx val="1"/>
          <c:order val="1"/>
          <c:tx>
            <c:strRef>
              <c:strCache>
                <c:ptCount val="1"/>
                <c:pt idx="0">
                  <c:v>U.K.</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121408.04</c:v>
                </c:pt>
                <c:pt idx="1">
                  <c:v>123832.237</c:v>
                </c:pt>
                <c:pt idx="2">
                  <c:v>126304.837</c:v>
                </c:pt>
                <c:pt idx="3">
                  <c:v>128826.811</c:v>
                </c:pt>
                <c:pt idx="4">
                  <c:v>131399.14</c:v>
                </c:pt>
                <c:pt idx="5">
                  <c:v>134894.514</c:v>
                </c:pt>
                <c:pt idx="6">
                  <c:v>138479.444</c:v>
                </c:pt>
                <c:pt idx="7">
                  <c:v>142145.207</c:v>
                </c:pt>
                <c:pt idx="8">
                  <c:v>145892.992</c:v>
                </c:pt>
                <c:pt idx="9">
                  <c:v>149724.238</c:v>
                </c:pt>
                <c:pt idx="10">
                  <c:v>153640.234</c:v>
                </c:pt>
                <c:pt idx="11">
                  <c:v>157642.321</c:v>
                </c:pt>
                <c:pt idx="12">
                  <c:v>161731.829</c:v>
                </c:pt>
                <c:pt idx="13">
                  <c:v>165910.14</c:v>
                </c:pt>
                <c:pt idx="14">
                  <c:v>170178.601</c:v>
                </c:pt>
                <c:pt idx="15">
                  <c:v>174538.557</c:v>
                </c:pt>
              </c:numCache>
            </c:numRef>
          </c:val>
        </c:ser>
        <c:ser>
          <c:idx val="2"/>
          <c:order val="2"/>
          <c:tx>
            <c:strRef>
              <c:strCache>
                <c:ptCount val="1"/>
                <c:pt idx="0">
                  <c:v>France</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67690.538</c:v>
                </c:pt>
                <c:pt idx="1">
                  <c:v>70533.249</c:v>
                </c:pt>
                <c:pt idx="2">
                  <c:v>73495.342</c:v>
                </c:pt>
                <c:pt idx="3">
                  <c:v>76581.83</c:v>
                </c:pt>
                <c:pt idx="4">
                  <c:v>79797.937</c:v>
                </c:pt>
                <c:pt idx="5">
                  <c:v>83689.906</c:v>
                </c:pt>
                <c:pt idx="6">
                  <c:v>87754.99</c:v>
                </c:pt>
                <c:pt idx="7">
                  <c:v>92008.182</c:v>
                </c:pt>
                <c:pt idx="8">
                  <c:v>96457.583</c:v>
                </c:pt>
                <c:pt idx="9">
                  <c:v>101111.784</c:v>
                </c:pt>
                <c:pt idx="10">
                  <c:v>105979.613</c:v>
                </c:pt>
                <c:pt idx="11">
                  <c:v>111070.291</c:v>
                </c:pt>
                <c:pt idx="12">
                  <c:v>116393.387</c:v>
                </c:pt>
                <c:pt idx="13">
                  <c:v>121958.887</c:v>
                </c:pt>
                <c:pt idx="14">
                  <c:v>127777.147</c:v>
                </c:pt>
                <c:pt idx="15">
                  <c:v>133858.925</c:v>
                </c:pt>
              </c:numCache>
            </c:numRef>
          </c:val>
        </c:ser>
        <c:ser>
          <c:idx val="3"/>
          <c:order val="3"/>
          <c:tx>
            <c:strRef>
              <c:strCache>
                <c:ptCount val="1"/>
                <c:pt idx="0">
                  <c:v>Italy</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54787.932</c:v>
                </c:pt>
                <c:pt idx="1">
                  <c:v>55632.318</c:v>
                </c:pt>
                <c:pt idx="2">
                  <c:v>56489.717</c:v>
                </c:pt>
                <c:pt idx="3">
                  <c:v>57360.33</c:v>
                </c:pt>
                <c:pt idx="4">
                  <c:v>58244.362</c:v>
                </c:pt>
                <c:pt idx="5">
                  <c:v>59526.675</c:v>
                </c:pt>
                <c:pt idx="6">
                  <c:v>60836.621</c:v>
                </c:pt>
                <c:pt idx="7">
                  <c:v>62169.077</c:v>
                </c:pt>
                <c:pt idx="8">
                  <c:v>63524.179</c:v>
                </c:pt>
                <c:pt idx="9">
                  <c:v>64902.163</c:v>
                </c:pt>
                <c:pt idx="10">
                  <c:v>66303.193</c:v>
                </c:pt>
                <c:pt idx="11">
                  <c:v>67727.451</c:v>
                </c:pt>
                <c:pt idx="12">
                  <c:v>69175.106</c:v>
                </c:pt>
                <c:pt idx="13">
                  <c:v>70646.345</c:v>
                </c:pt>
                <c:pt idx="14">
                  <c:v>72141.33</c:v>
                </c:pt>
                <c:pt idx="15">
                  <c:v>73660.219</c:v>
                </c:pt>
              </c:numCache>
            </c:numRef>
          </c:val>
        </c:ser>
        <c:ser>
          <c:idx val="4"/>
          <c:order val="4"/>
          <c:tx>
            <c:strRef>
              <c:strCache>
                <c:ptCount val="1"/>
                <c:pt idx="0">
                  <c:v>Spain</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38079.399</c:v>
                </c:pt>
                <c:pt idx="1">
                  <c:v>39534.38</c:v>
                </c:pt>
                <c:pt idx="2">
                  <c:v>41044.954</c:v>
                </c:pt>
                <c:pt idx="3">
                  <c:v>42613.247</c:v>
                </c:pt>
                <c:pt idx="4">
                  <c:v>44241.461</c:v>
                </c:pt>
                <c:pt idx="5">
                  <c:v>46230.629</c:v>
                </c:pt>
                <c:pt idx="6">
                  <c:v>48301.523</c:v>
                </c:pt>
                <c:pt idx="7">
                  <c:v>50460.056</c:v>
                </c:pt>
                <c:pt idx="8">
                  <c:v>52709.627</c:v>
                </c:pt>
                <c:pt idx="9">
                  <c:v>55053.84</c:v>
                </c:pt>
                <c:pt idx="10">
                  <c:v>57496.374</c:v>
                </c:pt>
                <c:pt idx="11">
                  <c:v>60041.055</c:v>
                </c:pt>
                <c:pt idx="12">
                  <c:v>62691.836</c:v>
                </c:pt>
                <c:pt idx="13">
                  <c:v>65452.829</c:v>
                </c:pt>
                <c:pt idx="14">
                  <c:v>68328.272</c:v>
                </c:pt>
                <c:pt idx="15">
                  <c:v>71322.551</c:v>
                </c:pt>
              </c:numCache>
            </c:numRef>
          </c:val>
        </c:ser>
        <c:ser>
          <c:idx val="5"/>
          <c:order val="5"/>
          <c:tx>
            <c:strRef>
              <c:strCache>
                <c:ptCount val="1"/>
                <c:pt idx="0">
                  <c:v>Belgium</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33721.477</c:v>
                </c:pt>
                <c:pt idx="1">
                  <c:v>34393.191</c:v>
                </c:pt>
                <c:pt idx="2">
                  <c:v>35078.284</c:v>
                </c:pt>
                <c:pt idx="3">
                  <c:v>35777.025</c:v>
                </c:pt>
                <c:pt idx="4">
                  <c:v>36489.684</c:v>
                </c:pt>
                <c:pt idx="5">
                  <c:v>37458.595</c:v>
                </c:pt>
                <c:pt idx="6">
                  <c:v>38451.847</c:v>
                </c:pt>
                <c:pt idx="7">
                  <c:v>39467.427</c:v>
                </c:pt>
                <c:pt idx="8">
                  <c:v>40505.661</c:v>
                </c:pt>
                <c:pt idx="9">
                  <c:v>41566.945</c:v>
                </c:pt>
                <c:pt idx="10">
                  <c:v>42651.632</c:v>
                </c:pt>
                <c:pt idx="11">
                  <c:v>43760.091</c:v>
                </c:pt>
                <c:pt idx="12">
                  <c:v>44892.687</c:v>
                </c:pt>
                <c:pt idx="13">
                  <c:v>46049.798</c:v>
                </c:pt>
                <c:pt idx="14">
                  <c:v>47231.794</c:v>
                </c:pt>
                <c:pt idx="15">
                  <c:v>48439.045</c:v>
                </c:pt>
              </c:numCache>
            </c:numRef>
          </c:val>
        </c:ser>
        <c:ser>
          <c:idx val="6"/>
          <c:order val="6"/>
          <c:tx>
            <c:strRef>
              <c:strCache>
                <c:ptCount val="1"/>
                <c:pt idx="0">
                  <c:v>Netherlands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26950.199</c:v>
                </c:pt>
                <c:pt idx="1">
                  <c:v>28072.969</c:v>
                </c:pt>
                <c:pt idx="2">
                  <c:v>29242.514</c:v>
                </c:pt>
                <c:pt idx="3">
                  <c:v>30460.783</c:v>
                </c:pt>
                <c:pt idx="4">
                  <c:v>31729.807</c:v>
                </c:pt>
                <c:pt idx="5">
                  <c:v>33266.667</c:v>
                </c:pt>
                <c:pt idx="6">
                  <c:v>34870.739</c:v>
                </c:pt>
                <c:pt idx="7">
                  <c:v>36548.446</c:v>
                </c:pt>
                <c:pt idx="8">
                  <c:v>38302.928</c:v>
                </c:pt>
                <c:pt idx="9">
                  <c:v>40137.517</c:v>
                </c:pt>
                <c:pt idx="10">
                  <c:v>42055.635</c:v>
                </c:pt>
                <c:pt idx="11">
                  <c:v>44060.854</c:v>
                </c:pt>
                <c:pt idx="12">
                  <c:v>46156.879</c:v>
                </c:pt>
                <c:pt idx="13">
                  <c:v>48347.577</c:v>
                </c:pt>
                <c:pt idx="14">
                  <c:v>50636.955</c:v>
                </c:pt>
                <c:pt idx="15">
                  <c:v>53029.174</c:v>
                </c:pt>
              </c:numCache>
            </c:numRef>
          </c:val>
        </c:ser>
        <c:ser>
          <c:idx val="7"/>
          <c:order val="7"/>
          <c:tx>
            <c:strRef>
              <c:strCache>
                <c:ptCount val="1"/>
                <c:pt idx="0">
                  <c:v>Nordic</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23587.531</c:v>
                </c:pt>
                <c:pt idx="1">
                  <c:v>24308.604</c:v>
                </c:pt>
                <c:pt idx="2">
                  <c:v>25051.72</c:v>
                </c:pt>
                <c:pt idx="3">
                  <c:v>25817.552</c:v>
                </c:pt>
                <c:pt idx="4">
                  <c:v>26606.797</c:v>
                </c:pt>
                <c:pt idx="5">
                  <c:v>27598.509</c:v>
                </c:pt>
                <c:pt idx="6">
                  <c:v>28624.095</c:v>
                </c:pt>
                <c:pt idx="7">
                  <c:v>29684.777</c:v>
                </c:pt>
                <c:pt idx="8">
                  <c:v>30781.595</c:v>
                </c:pt>
                <c:pt idx="9">
                  <c:v>31915.667</c:v>
                </c:pt>
                <c:pt idx="10">
                  <c:v>33088.104</c:v>
                </c:pt>
                <c:pt idx="11">
                  <c:v>34300.059</c:v>
                </c:pt>
                <c:pt idx="12">
                  <c:v>35552.706</c:v>
                </c:pt>
                <c:pt idx="13">
                  <c:v>36847.262</c:v>
                </c:pt>
                <c:pt idx="14">
                  <c:v>38184.962</c:v>
                </c:pt>
                <c:pt idx="15">
                  <c:v>39567.072</c:v>
                </c:pt>
              </c:numCache>
            </c:numRef>
          </c:val>
        </c:ser>
        <c:ser>
          <c:idx val="8"/>
          <c:order val="8"/>
          <c:tx>
            <c:strRef>
              <c:strCache>
                <c:ptCount val="1"/>
                <c:pt idx="0">
                  <c:v>Russia</c:v>
                </c:pt>
              </c:strCache>
            </c:strRef>
          </c:tx>
          <c:spPr>
            <a:solidFill>
              <a:srgbClr val="0B2E4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18790.954</c:v>
                </c:pt>
                <c:pt idx="1">
                  <c:v>19502.652</c:v>
                </c:pt>
                <c:pt idx="2">
                  <c:v>20241.306</c:v>
                </c:pt>
                <c:pt idx="3">
                  <c:v>21007.936</c:v>
                </c:pt>
                <c:pt idx="4">
                  <c:v>21803.603</c:v>
                </c:pt>
                <c:pt idx="5">
                  <c:v>22776.586</c:v>
                </c:pt>
                <c:pt idx="6">
                  <c:v>23788.852</c:v>
                </c:pt>
                <c:pt idx="7">
                  <c:v>24843.583</c:v>
                </c:pt>
                <c:pt idx="8">
                  <c:v>25942.409</c:v>
                </c:pt>
                <c:pt idx="9">
                  <c:v>27087.056</c:v>
                </c:pt>
                <c:pt idx="10">
                  <c:v>28279.29</c:v>
                </c:pt>
                <c:pt idx="11">
                  <c:v>29520.941</c:v>
                </c:pt>
                <c:pt idx="12">
                  <c:v>30813.904</c:v>
                </c:pt>
                <c:pt idx="13">
                  <c:v>32160.145</c:v>
                </c:pt>
                <c:pt idx="14">
                  <c:v>33561.692</c:v>
                </c:pt>
                <c:pt idx="15">
                  <c:v>35020.644</c:v>
                </c:pt>
              </c:numCache>
            </c:numRef>
          </c:val>
        </c:ser>
        <c:ser>
          <c:idx val="9"/>
          <c:order val="9"/>
          <c:tx>
            <c:strRef>
              <c:strCache>
                <c:ptCount val="1"/>
                <c:pt idx="0">
                  <c:v>Poland</c:v>
                </c:pt>
              </c:strCache>
            </c:strRef>
          </c:tx>
          <c:spPr>
            <a:solidFill>
              <a:srgbClr val="6C7A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17366.225</c:v>
                </c:pt>
                <c:pt idx="1">
                  <c:v>18017.691</c:v>
                </c:pt>
                <c:pt idx="2">
                  <c:v>18693.595</c:v>
                </c:pt>
                <c:pt idx="3">
                  <c:v>19394.855</c:v>
                </c:pt>
                <c:pt idx="4">
                  <c:v>20122.423</c:v>
                </c:pt>
                <c:pt idx="5">
                  <c:v>21013.067</c:v>
                </c:pt>
                <c:pt idx="6">
                  <c:v>21939.249</c:v>
                </c:pt>
                <c:pt idx="7">
                  <c:v>22903.926</c:v>
                </c:pt>
                <c:pt idx="8">
                  <c:v>23908.56</c:v>
                </c:pt>
                <c:pt idx="9">
                  <c:v>24954.702</c:v>
                </c:pt>
                <c:pt idx="10">
                  <c:v>26043.929</c:v>
                </c:pt>
                <c:pt idx="11">
                  <c:v>27177.883</c:v>
                </c:pt>
                <c:pt idx="12">
                  <c:v>28358.26</c:v>
                </c:pt>
                <c:pt idx="13">
                  <c:v>29586.821</c:v>
                </c:pt>
                <c:pt idx="14">
                  <c:v>30865.377</c:v>
                </c:pt>
                <c:pt idx="15">
                  <c:v>32195.806</c:v>
                </c:pt>
              </c:numCache>
            </c:numRef>
          </c:val>
        </c:ser>
        <c:ser>
          <c:idx val="10"/>
          <c:order val="10"/>
          <c:tx>
            <c:strRef>
              <c:strCache>
                <c:ptCount val="1"/>
                <c:pt idx="0">
                  <c:v>Switzerland</c:v>
                </c:pt>
              </c:strCache>
            </c:strRef>
          </c:tx>
          <c:spPr>
            <a:solidFill>
              <a:srgbClr val="B2B2B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15589.757</c:v>
                </c:pt>
                <c:pt idx="1">
                  <c:v>16054.94</c:v>
                </c:pt>
                <c:pt idx="2">
                  <c:v>16534.005</c:v>
                </c:pt>
                <c:pt idx="3">
                  <c:v>17027.364</c:v>
                </c:pt>
                <c:pt idx="4">
                  <c:v>17535.445</c:v>
                </c:pt>
                <c:pt idx="5">
                  <c:v>18176.139</c:v>
                </c:pt>
                <c:pt idx="6">
                  <c:v>18838.142</c:v>
                </c:pt>
                <c:pt idx="7">
                  <c:v>19522.273</c:v>
                </c:pt>
                <c:pt idx="8">
                  <c:v>20229.167</c:v>
                </c:pt>
                <c:pt idx="9">
                  <c:v>20959.509</c:v>
                </c:pt>
                <c:pt idx="10">
                  <c:v>21713.977</c:v>
                </c:pt>
                <c:pt idx="11">
                  <c:v>22493.272</c:v>
                </c:pt>
                <c:pt idx="12">
                  <c:v>23298.113</c:v>
                </c:pt>
                <c:pt idx="13">
                  <c:v>24129.237</c:v>
                </c:pt>
                <c:pt idx="14">
                  <c:v>24987.397</c:v>
                </c:pt>
                <c:pt idx="15">
                  <c:v>25873.362</c:v>
                </c:pt>
              </c:numCache>
            </c:numRef>
          </c:val>
        </c:ser>
        <c:ser>
          <c:idx val="11"/>
          <c:order val="11"/>
          <c:tx>
            <c:strRef>
              <c:strCache>
                <c:ptCount val="1"/>
                <c:pt idx="0">
                  <c:v>Rest of Europe</c:v>
                </c:pt>
              </c:strCache>
            </c:strRef>
          </c:tx>
          <c:spPr>
            <a:solidFill>
              <a:srgbClr val="5F5F5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8166.332</c:v>
                </c:pt>
                <c:pt idx="1">
                  <c:v>8333.297</c:v>
                </c:pt>
                <c:pt idx="2">
                  <c:v>8503.676</c:v>
                </c:pt>
                <c:pt idx="3">
                  <c:v>8677.538</c:v>
                </c:pt>
                <c:pt idx="4">
                  <c:v>8854.955</c:v>
                </c:pt>
                <c:pt idx="5">
                  <c:v>9094.77</c:v>
                </c:pt>
                <c:pt idx="6">
                  <c:v>9340.619</c:v>
                </c:pt>
                <c:pt idx="7">
                  <c:v>9592.139</c:v>
                </c:pt>
                <c:pt idx="8">
                  <c:v>9849.418</c:v>
                </c:pt>
                <c:pt idx="9">
                  <c:v>10112.561</c:v>
                </c:pt>
                <c:pt idx="10">
                  <c:v>10381.663</c:v>
                </c:pt>
                <c:pt idx="11">
                  <c:v>10656.821</c:v>
                </c:pt>
                <c:pt idx="12">
                  <c:v>10938.135</c:v>
                </c:pt>
                <c:pt idx="13">
                  <c:v>11225.704</c:v>
                </c:pt>
                <c:pt idx="14">
                  <c:v>11519.63</c:v>
                </c:pt>
                <c:pt idx="15">
                  <c:v>11820.011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1103.971</c:v>
                </c:pt>
                <c:pt idx="1">
                  <c:v>1167.393</c:v>
                </c:pt>
                <c:pt idx="2">
                  <c:v>1234.456</c:v>
                </c:pt>
                <c:pt idx="3">
                  <c:v>1305.373</c:v>
                </c:pt>
                <c:pt idx="4">
                  <c:v>1380.364</c:v>
                </c:pt>
                <c:pt idx="5">
                  <c:v>1469.157</c:v>
                </c:pt>
                <c:pt idx="6">
                  <c:v>1563.32</c:v>
                </c:pt>
                <c:pt idx="7">
                  <c:v>1663.347</c:v>
                </c:pt>
                <c:pt idx="8">
                  <c:v>1769.594</c:v>
                </c:pt>
                <c:pt idx="9">
                  <c:v>1882.433</c:v>
                </c:pt>
                <c:pt idx="10">
                  <c:v>2002.261</c:v>
                </c:pt>
                <c:pt idx="11">
                  <c:v>2129.497</c:v>
                </c:pt>
                <c:pt idx="12">
                  <c:v>2264.582</c:v>
                </c:pt>
                <c:pt idx="13">
                  <c:v>2407.985</c:v>
                </c:pt>
                <c:pt idx="14">
                  <c:v>2560.202</c:v>
                </c:pt>
                <c:pt idx="15">
                  <c:v>2721.755</c:v>
                </c:pt>
              </c:numCache>
            </c:numRef>
          </c:val>
        </c:ser>
        <c:ser>
          <c:idx val="1"/>
          <c:order val="1"/>
          <c:tx>
            <c:strRef>
              <c:strCache>
                <c:ptCount val="1"/>
                <c:pt idx="0">
                  <c:v>U.K.</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565.294</c:v>
                </c:pt>
                <c:pt idx="1">
                  <c:v>582.684</c:v>
                </c:pt>
                <c:pt idx="2">
                  <c:v>600.61</c:v>
                </c:pt>
                <c:pt idx="3">
                  <c:v>619.086</c:v>
                </c:pt>
                <c:pt idx="4">
                  <c:v>638.131</c:v>
                </c:pt>
                <c:pt idx="5">
                  <c:v>662.039</c:v>
                </c:pt>
                <c:pt idx="6">
                  <c:v>686.827</c:v>
                </c:pt>
                <c:pt idx="7">
                  <c:v>712.47</c:v>
                </c:pt>
                <c:pt idx="8">
                  <c:v>738.995</c:v>
                </c:pt>
                <c:pt idx="9">
                  <c:v>766.428</c:v>
                </c:pt>
                <c:pt idx="10">
                  <c:v>794.798</c:v>
                </c:pt>
                <c:pt idx="11">
                  <c:v>824.132</c:v>
                </c:pt>
                <c:pt idx="12">
                  <c:v>854.461</c:v>
                </c:pt>
                <c:pt idx="13">
                  <c:v>885.813</c:v>
                </c:pt>
                <c:pt idx="14">
                  <c:v>918.219</c:v>
                </c:pt>
                <c:pt idx="15">
                  <c:v>951.712</c:v>
                </c:pt>
              </c:numCache>
            </c:numRef>
          </c:val>
        </c:ser>
        <c:ser>
          <c:idx val="2"/>
          <c:order val="2"/>
          <c:tx>
            <c:strRef>
              <c:strCache>
                <c:ptCount val="1"/>
                <c:pt idx="0">
                  <c:v>France</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318.097</c:v>
                </c:pt>
                <c:pt idx="1">
                  <c:v>335.089</c:v>
                </c:pt>
                <c:pt idx="2">
                  <c:v>352.989</c:v>
                </c:pt>
                <c:pt idx="3">
                  <c:v>371.845</c:v>
                </c:pt>
                <c:pt idx="4">
                  <c:v>391.708</c:v>
                </c:pt>
                <c:pt idx="5">
                  <c:v>415.316</c:v>
                </c:pt>
                <c:pt idx="6">
                  <c:v>440.263</c:v>
                </c:pt>
                <c:pt idx="7">
                  <c:v>466.662</c:v>
                </c:pt>
                <c:pt idx="8">
                  <c:v>494.592</c:v>
                </c:pt>
                <c:pt idx="9">
                  <c:v>524.14</c:v>
                </c:pt>
                <c:pt idx="10">
                  <c:v>555.396</c:v>
                </c:pt>
                <c:pt idx="11">
                  <c:v>588.455</c:v>
                </c:pt>
                <c:pt idx="12">
                  <c:v>623.418</c:v>
                </c:pt>
                <c:pt idx="13">
                  <c:v>660.388</c:v>
                </c:pt>
                <c:pt idx="14">
                  <c:v>699.477</c:v>
                </c:pt>
                <c:pt idx="15">
                  <c:v>740.803</c:v>
                </c:pt>
              </c:numCache>
            </c:numRef>
          </c:val>
        </c:ser>
        <c:ser>
          <c:idx val="3"/>
          <c:order val="3"/>
          <c:tx>
            <c:strRef>
              <c:strCache>
                <c:ptCount val="1"/>
                <c:pt idx="0">
                  <c:v>Italy</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257.202</c:v>
                </c:pt>
                <c:pt idx="1">
                  <c:v>264.604</c:v>
                </c:pt>
                <c:pt idx="2">
                  <c:v>272.22</c:v>
                </c:pt>
                <c:pt idx="3">
                  <c:v>280.054</c:v>
                </c:pt>
                <c:pt idx="4">
                  <c:v>288.112</c:v>
                </c:pt>
                <c:pt idx="5">
                  <c:v>298.332</c:v>
                </c:pt>
                <c:pt idx="6">
                  <c:v>308.911</c:v>
                </c:pt>
                <c:pt idx="7">
                  <c:v>319.831</c:v>
                </c:pt>
                <c:pt idx="8">
                  <c:v>331.104</c:v>
                </c:pt>
                <c:pt idx="9">
                  <c:v>342.74</c:v>
                </c:pt>
                <c:pt idx="10">
                  <c:v>354.747</c:v>
                </c:pt>
                <c:pt idx="11">
                  <c:v>367.138</c:v>
                </c:pt>
                <c:pt idx="12">
                  <c:v>379.921</c:v>
                </c:pt>
                <c:pt idx="13">
                  <c:v>393.11</c:v>
                </c:pt>
                <c:pt idx="14">
                  <c:v>406.712</c:v>
                </c:pt>
                <c:pt idx="15">
                  <c:v>420.742</c:v>
                </c:pt>
              </c:numCache>
            </c:numRef>
          </c:val>
        </c:ser>
        <c:ser>
          <c:idx val="4"/>
          <c:order val="4"/>
          <c:tx>
            <c:strRef>
              <c:strCache>
                <c:ptCount val="1"/>
                <c:pt idx="0">
                  <c:v>Spain</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180.418</c:v>
                </c:pt>
                <c:pt idx="1">
                  <c:v>189.283</c:v>
                </c:pt>
                <c:pt idx="2">
                  <c:v>198.583</c:v>
                </c:pt>
                <c:pt idx="3">
                  <c:v>208.341</c:v>
                </c:pt>
                <c:pt idx="4">
                  <c:v>218.577</c:v>
                </c:pt>
                <c:pt idx="5">
                  <c:v>230.809</c:v>
                </c:pt>
                <c:pt idx="6">
                  <c:v>243.687</c:v>
                </c:pt>
                <c:pt idx="7">
                  <c:v>257.255</c:v>
                </c:pt>
                <c:pt idx="8">
                  <c:v>271.552</c:v>
                </c:pt>
                <c:pt idx="9">
                  <c:v>286.615</c:v>
                </c:pt>
                <c:pt idx="10">
                  <c:v>302.481</c:v>
                </c:pt>
                <c:pt idx="11">
                  <c:v>319.193</c:v>
                </c:pt>
                <c:pt idx="12">
                  <c:v>336.792</c:v>
                </c:pt>
                <c:pt idx="13">
                  <c:v>355.325</c:v>
                </c:pt>
                <c:pt idx="14">
                  <c:v>374.84</c:v>
                </c:pt>
                <c:pt idx="15">
                  <c:v>395.384</c:v>
                </c:pt>
              </c:numCache>
            </c:numRef>
          </c:val>
        </c:ser>
        <c:ser>
          <c:idx val="5"/>
          <c:order val="5"/>
          <c:tx>
            <c:strRef>
              <c:strCache>
                <c:ptCount val="1"/>
                <c:pt idx="0">
                  <c:v>Belgium</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158.634</c:v>
                </c:pt>
                <c:pt idx="1">
                  <c:v>163.754</c:v>
                </c:pt>
                <c:pt idx="2">
                  <c:v>169.04</c:v>
                </c:pt>
                <c:pt idx="3">
                  <c:v>174.496</c:v>
                </c:pt>
                <c:pt idx="4">
                  <c:v>180.128</c:v>
                </c:pt>
                <c:pt idx="5">
                  <c:v>187.152</c:v>
                </c:pt>
                <c:pt idx="6">
                  <c:v>194.442</c:v>
                </c:pt>
                <c:pt idx="7">
                  <c:v>201.996</c:v>
                </c:pt>
                <c:pt idx="8">
                  <c:v>209.822</c:v>
                </c:pt>
                <c:pt idx="9">
                  <c:v>217.928</c:v>
                </c:pt>
                <c:pt idx="10">
                  <c:v>226.325</c:v>
                </c:pt>
                <c:pt idx="11">
                  <c:v>235.021</c:v>
                </c:pt>
                <c:pt idx="12">
                  <c:v>244.024</c:v>
                </c:pt>
                <c:pt idx="13">
                  <c:v>253.347</c:v>
                </c:pt>
                <c:pt idx="14">
                  <c:v>262.998</c:v>
                </c:pt>
                <c:pt idx="15">
                  <c:v>272.989</c:v>
                </c:pt>
              </c:numCache>
            </c:numRef>
          </c:val>
        </c:ser>
        <c:ser>
          <c:idx val="6"/>
          <c:order val="6"/>
          <c:tx>
            <c:strRef>
              <c:strCache>
                <c:ptCount val="1"/>
                <c:pt idx="0">
                  <c:v>Netherlands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118.723</c:v>
                </c:pt>
                <c:pt idx="1">
                  <c:v>125.345</c:v>
                </c:pt>
                <c:pt idx="2">
                  <c:v>132.335</c:v>
                </c:pt>
                <c:pt idx="3">
                  <c:v>139.716</c:v>
                </c:pt>
                <c:pt idx="4">
                  <c:v>147.51</c:v>
                </c:pt>
                <c:pt idx="5">
                  <c:v>156.749</c:v>
                </c:pt>
                <c:pt idx="6">
                  <c:v>166.534</c:v>
                </c:pt>
                <c:pt idx="7">
                  <c:v>176.911</c:v>
                </c:pt>
                <c:pt idx="8">
                  <c:v>187.915</c:v>
                </c:pt>
                <c:pt idx="9">
                  <c:v>199.584</c:v>
                </c:pt>
                <c:pt idx="10">
                  <c:v>211.955</c:v>
                </c:pt>
                <c:pt idx="11">
                  <c:v>225.069</c:v>
                </c:pt>
                <c:pt idx="12">
                  <c:v>238.971</c:v>
                </c:pt>
                <c:pt idx="13">
                  <c:v>253.704</c:v>
                </c:pt>
                <c:pt idx="14">
                  <c:v>269.319</c:v>
                </c:pt>
                <c:pt idx="15">
                  <c:v>285.863</c:v>
                </c:pt>
              </c:numCache>
            </c:numRef>
          </c:val>
        </c:ser>
        <c:ser>
          <c:idx val="7"/>
          <c:order val="7"/>
          <c:tx>
            <c:strRef>
              <c:strCache>
                <c:ptCount val="1"/>
                <c:pt idx="0">
                  <c:v>Nordic</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108.723</c:v>
                </c:pt>
                <c:pt idx="1">
                  <c:v>113.291</c:v>
                </c:pt>
                <c:pt idx="2">
                  <c:v>118.051</c:v>
                </c:pt>
                <c:pt idx="3">
                  <c:v>123.012</c:v>
                </c:pt>
                <c:pt idx="4">
                  <c:v>128.181</c:v>
                </c:pt>
                <c:pt idx="5">
                  <c:v>134.436</c:v>
                </c:pt>
                <c:pt idx="6">
                  <c:v>140.98</c:v>
                </c:pt>
                <c:pt idx="7">
                  <c:v>147.829</c:v>
                </c:pt>
                <c:pt idx="8">
                  <c:v>154.994</c:v>
                </c:pt>
                <c:pt idx="9">
                  <c:v>162.49</c:v>
                </c:pt>
                <c:pt idx="10">
                  <c:v>170.331</c:v>
                </c:pt>
                <c:pt idx="11">
                  <c:v>178.531</c:v>
                </c:pt>
                <c:pt idx="12">
                  <c:v>187.108</c:v>
                </c:pt>
                <c:pt idx="13">
                  <c:v>196.075</c:v>
                </c:pt>
                <c:pt idx="14">
                  <c:v>205.451</c:v>
                </c:pt>
                <c:pt idx="15">
                  <c:v>215.252</c:v>
                </c:pt>
              </c:numCache>
            </c:numRef>
          </c:val>
        </c:ser>
        <c:ser>
          <c:idx val="8"/>
          <c:order val="8"/>
          <c:tx>
            <c:strRef>
              <c:strCache>
                <c:ptCount val="1"/>
                <c:pt idx="0">
                  <c:v>Russia</c:v>
                </c:pt>
              </c:strCache>
            </c:strRef>
          </c:tx>
          <c:spPr>
            <a:solidFill>
              <a:srgbClr val="0B2E4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90.915</c:v>
                </c:pt>
                <c:pt idx="1">
                  <c:v>95.561</c:v>
                </c:pt>
                <c:pt idx="2">
                  <c:v>100.446</c:v>
                </c:pt>
                <c:pt idx="3">
                  <c:v>105.579</c:v>
                </c:pt>
                <c:pt idx="4">
                  <c:v>110.975</c:v>
                </c:pt>
                <c:pt idx="5">
                  <c:v>117.406</c:v>
                </c:pt>
                <c:pt idx="6">
                  <c:v>124.188</c:v>
                </c:pt>
                <c:pt idx="7">
                  <c:v>131.347</c:v>
                </c:pt>
                <c:pt idx="8">
                  <c:v>138.906</c:v>
                </c:pt>
                <c:pt idx="9">
                  <c:v>146.884</c:v>
                </c:pt>
                <c:pt idx="10">
                  <c:v>155.304</c:v>
                </c:pt>
                <c:pt idx="11">
                  <c:v>164.191</c:v>
                </c:pt>
                <c:pt idx="12">
                  <c:v>173.568</c:v>
                </c:pt>
                <c:pt idx="13">
                  <c:v>183.461</c:v>
                </c:pt>
                <c:pt idx="14">
                  <c:v>193.897</c:v>
                </c:pt>
                <c:pt idx="15">
                  <c:v>204.905</c:v>
                </c:pt>
              </c:numCache>
            </c:numRef>
          </c:val>
        </c:ser>
        <c:ser>
          <c:idx val="9"/>
          <c:order val="9"/>
          <c:tx>
            <c:strRef>
              <c:strCache>
                <c:ptCount val="1"/>
                <c:pt idx="0">
                  <c:v>Poland</c:v>
                </c:pt>
              </c:strCache>
            </c:strRef>
          </c:tx>
          <c:spPr>
            <a:solidFill>
              <a:srgbClr val="6C7A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80.367</c:v>
                </c:pt>
                <c:pt idx="1">
                  <c:v>84.511</c:v>
                </c:pt>
                <c:pt idx="2">
                  <c:v>88.869</c:v>
                </c:pt>
                <c:pt idx="3">
                  <c:v>93.451</c:v>
                </c:pt>
                <c:pt idx="4">
                  <c:v>98.269</c:v>
                </c:pt>
                <c:pt idx="5">
                  <c:v>104.008</c:v>
                </c:pt>
                <c:pt idx="6">
                  <c:v>110.063</c:v>
                </c:pt>
                <c:pt idx="7">
                  <c:v>116.458</c:v>
                </c:pt>
                <c:pt idx="8">
                  <c:v>123.213</c:v>
                </c:pt>
                <c:pt idx="9">
                  <c:v>130.345</c:v>
                </c:pt>
                <c:pt idx="10">
                  <c:v>137.877</c:v>
                </c:pt>
                <c:pt idx="11">
                  <c:v>145.829</c:v>
                </c:pt>
                <c:pt idx="12">
                  <c:v>154.223</c:v>
                </c:pt>
                <c:pt idx="13">
                  <c:v>163.083</c:v>
                </c:pt>
                <c:pt idx="14">
                  <c:v>172.434</c:v>
                </c:pt>
                <c:pt idx="15">
                  <c:v>182.301</c:v>
                </c:pt>
              </c:numCache>
            </c:numRef>
          </c:val>
        </c:ser>
        <c:ser>
          <c:idx val="10"/>
          <c:order val="10"/>
          <c:tx>
            <c:strRef>
              <c:strCache>
                <c:ptCount val="1"/>
                <c:pt idx="0">
                  <c:v>Switzerland</c:v>
                </c:pt>
              </c:strCache>
            </c:strRef>
          </c:tx>
          <c:spPr>
            <a:solidFill>
              <a:srgbClr val="B2B2B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75.208</c:v>
                </c:pt>
                <c:pt idx="1">
                  <c:v>78.404</c:v>
                </c:pt>
                <c:pt idx="2">
                  <c:v>81.736</c:v>
                </c:pt>
                <c:pt idx="3">
                  <c:v>85.211</c:v>
                </c:pt>
                <c:pt idx="4">
                  <c:v>88.833</c:v>
                </c:pt>
                <c:pt idx="5">
                  <c:v>93.211</c:v>
                </c:pt>
                <c:pt idx="6">
                  <c:v>97.793</c:v>
                </c:pt>
                <c:pt idx="7">
                  <c:v>102.592</c:v>
                </c:pt>
                <c:pt idx="8">
                  <c:v>107.614</c:v>
                </c:pt>
                <c:pt idx="9">
                  <c:v>112.87</c:v>
                </c:pt>
                <c:pt idx="10">
                  <c:v>118.371</c:v>
                </c:pt>
                <c:pt idx="11">
                  <c:v>124.128</c:v>
                </c:pt>
                <c:pt idx="12">
                  <c:v>130.15</c:v>
                </c:pt>
                <c:pt idx="13">
                  <c:v>136.451</c:v>
                </c:pt>
                <c:pt idx="14">
                  <c:v>143.042</c:v>
                </c:pt>
                <c:pt idx="15">
                  <c:v>149.934</c:v>
                </c:pt>
              </c:numCache>
            </c:numRef>
          </c:val>
        </c:ser>
        <c:ser>
          <c:idx val="11"/>
          <c:order val="11"/>
          <c:tx>
            <c:strRef>
              <c:strCache>
                <c:ptCount val="1"/>
                <c:pt idx="0">
                  <c:v>Rest of Europe</c:v>
                </c:pt>
              </c:strCache>
            </c:strRef>
          </c:tx>
          <c:spPr>
            <a:solidFill>
              <a:srgbClr val="5F5F5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38.978</c:v>
                </c:pt>
                <c:pt idx="1">
                  <c:v>40.307</c:v>
                </c:pt>
                <c:pt idx="2">
                  <c:v>41.679</c:v>
                </c:pt>
                <c:pt idx="3">
                  <c:v>43.099</c:v>
                </c:pt>
                <c:pt idx="4">
                  <c:v>44.567</c:v>
                </c:pt>
                <c:pt idx="5">
                  <c:v>46.384</c:v>
                </c:pt>
                <c:pt idx="6">
                  <c:v>48.274</c:v>
                </c:pt>
                <c:pt idx="7">
                  <c:v>50.235</c:v>
                </c:pt>
                <c:pt idx="8">
                  <c:v>52.271</c:v>
                </c:pt>
                <c:pt idx="9">
                  <c:v>54.383</c:v>
                </c:pt>
                <c:pt idx="10">
                  <c:v>56.575</c:v>
                </c:pt>
                <c:pt idx="11">
                  <c:v>58.85</c:v>
                </c:pt>
                <c:pt idx="12">
                  <c:v>61.209</c:v>
                </c:pt>
                <c:pt idx="13">
                  <c:v>63.656</c:v>
                </c:pt>
                <c:pt idx="14">
                  <c:v>66.194</c:v>
                </c:pt>
                <c:pt idx="15">
                  <c:v>68.826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Blue Crab</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8.198936448435184</c:v>
                </c:pt>
                <c:pt idx="1">
                  <c:v>8.847226112822975</c:v>
                </c:pt>
                <c:pt idx="2">
                  <c:v>10.169993582042885</c:v>
                </c:pt>
                <c:pt idx="3">
                  <c:v>9.092506283399626</c:v>
                </c:pt>
                <c:pt idx="4">
                  <c:v>9.449854124468066</c:v>
                </c:pt>
                <c:pt idx="5">
                  <c:v>9.13956239995018</c:v>
                </c:pt>
                <c:pt idx="6">
                  <c:v>9.654274949888583</c:v>
                </c:pt>
                <c:pt idx="7">
                  <c:v>6.916820104000161</c:v>
                </c:pt>
                <c:pt idx="8">
                  <c:v>10.389264680017684</c:v>
                </c:pt>
                <c:pt idx="9">
                  <c:v>11.626437797903085</c:v>
                </c:pt>
                <c:pt idx="10">
                  <c:v>6.58360932719142</c:v>
                </c:pt>
                <c:pt idx="11">
                  <c:v>10.04396060629998</c:v>
                </c:pt>
              </c:numCache>
            </c:numRef>
          </c:val>
        </c:ser>
        <c:ser>
          <c:idx val="1"/>
          <c:order val="1"/>
          <c:tx>
            <c:strRef>
              <c:strCache>
                <c:ptCount val="1"/>
                <c:pt idx="0">
                  <c:v>King Crab</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26.266236596634997</c:v>
                </c:pt>
                <c:pt idx="1">
                  <c:v>22.862726266223802</c:v>
                </c:pt>
                <c:pt idx="2">
                  <c:v>26.729968568466433</c:v>
                </c:pt>
                <c:pt idx="3">
                  <c:v>28.400478270418006</c:v>
                </c:pt>
                <c:pt idx="4">
                  <c:v>30.361622656235483</c:v>
                </c:pt>
                <c:pt idx="5">
                  <c:v>29.98472465923535</c:v>
                </c:pt>
                <c:pt idx="6">
                  <c:v>24.490052927451263</c:v>
                </c:pt>
                <c:pt idx="7">
                  <c:v>29.16481192966837</c:v>
                </c:pt>
                <c:pt idx="8">
                  <c:v>23.69195373887085</c:v>
                </c:pt>
                <c:pt idx="9">
                  <c:v>23.88678231594634</c:v>
                </c:pt>
                <c:pt idx="10">
                  <c:v>30.589085773847557</c:v>
                </c:pt>
                <c:pt idx="11">
                  <c:v>28.40465067575884</c:v>
                </c:pt>
              </c:numCache>
            </c:numRef>
          </c:val>
        </c:ser>
        <c:ser>
          <c:idx val="2"/>
          <c:order val="2"/>
          <c:tx>
            <c:strRef>
              <c:strCache>
                <c:ptCount val="1"/>
                <c:pt idx="0">
                  <c:v>Snow Crab</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11.178914944933602</c:v>
                </c:pt>
                <c:pt idx="1">
                  <c:v>15.144663652006882</c:v>
                </c:pt>
                <c:pt idx="2">
                  <c:v>10.74651263569591</c:v>
                </c:pt>
                <c:pt idx="3">
                  <c:v>12.334008442936973</c:v>
                </c:pt>
                <c:pt idx="4">
                  <c:v>9.861464701837846</c:v>
                </c:pt>
                <c:pt idx="5">
                  <c:v>10.045093392041435</c:v>
                </c:pt>
                <c:pt idx="6">
                  <c:v>13.118521809398207</c:v>
                </c:pt>
                <c:pt idx="7">
                  <c:v>9.266940493292598</c:v>
                </c:pt>
                <c:pt idx="8">
                  <c:v>13.879051770443645</c:v>
                </c:pt>
                <c:pt idx="9">
                  <c:v>11.414640599457613</c:v>
                </c:pt>
                <c:pt idx="10">
                  <c:v>10.385074476312163</c:v>
                </c:pt>
                <c:pt idx="11">
                  <c:v>12.421397223482641</c:v>
                </c:pt>
              </c:numCache>
            </c:numRef>
          </c:val>
        </c:ser>
        <c:ser>
          <c:idx val="3"/>
          <c:order val="3"/>
          <c:tx>
            <c:strRef>
              <c:strCache>
                <c:ptCount val="1"/>
                <c:pt idx="0">
                  <c:v>Dungeness Crab</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5.152122744311742</c:v>
                </c:pt>
                <c:pt idx="1">
                  <c:v>7.1191324182640345</c:v>
                </c:pt>
                <c:pt idx="2">
                  <c:v>6.2347436382685775</c:v>
                </c:pt>
                <c:pt idx="3">
                  <c:v>5.490349186208244</c:v>
                </c:pt>
                <c:pt idx="4">
                  <c:v>6.961143218181482</c:v>
                </c:pt>
                <c:pt idx="5">
                  <c:v>5.988153368817058</c:v>
                </c:pt>
                <c:pt idx="6">
                  <c:v>6.171137922711228</c:v>
                </c:pt>
                <c:pt idx="7">
                  <c:v>4.627400198288246</c:v>
                </c:pt>
                <c:pt idx="8">
                  <c:v>5.138540958592201</c:v>
                </c:pt>
                <c:pt idx="9">
                  <c:v>7.425725867740815</c:v>
                </c:pt>
                <c:pt idx="10">
                  <c:v>6.988878988601595</c:v>
                </c:pt>
                <c:pt idx="11">
                  <c:v>6.8122957430040545</c:v>
                </c:pt>
              </c:numCache>
            </c:numRef>
          </c:val>
        </c:ser>
        <c:ser>
          <c:idx val="4"/>
          <c:order val="4"/>
          <c:tx>
            <c:strRef>
              <c:strCache>
                <c:ptCount val="1"/>
                <c:pt idx="0">
                  <c:v>Mud Crab</c:v>
                </c:pt>
              </c:strCache>
            </c:strRef>
          </c:tx>
          <c:spPr>
            <a:solidFill>
              <a:srgbClr val="A35313"/>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32.356958126289484</c:v>
                </c:pt>
                <c:pt idx="1">
                  <c:v>24.908959942374644</c:v>
                </c:pt>
                <c:pt idx="2">
                  <c:v>30.172078046746858</c:v>
                </c:pt>
                <c:pt idx="3">
                  <c:v>28.029574680949707</c:v>
                </c:pt>
                <c:pt idx="4">
                  <c:v>27.814375708471932</c:v>
                </c:pt>
                <c:pt idx="5">
                  <c:v>30.688416016762577</c:v>
                </c:pt>
                <c:pt idx="6">
                  <c:v>29.184609410801677</c:v>
                </c:pt>
                <c:pt idx="7">
                  <c:v>31.48154705299152</c:v>
                </c:pt>
                <c:pt idx="8">
                  <c:v>26.723740439509246</c:v>
                </c:pt>
                <c:pt idx="9">
                  <c:v>25.25691715611303</c:v>
                </c:pt>
                <c:pt idx="10">
                  <c:v>33.186510204767835</c:v>
                </c:pt>
                <c:pt idx="11">
                  <c:v>24.414320906914842</c:v>
                </c:pt>
              </c:numCache>
            </c:numRef>
          </c:val>
        </c:ser>
        <c:ser>
          <c:idx val="5"/>
          <c:order val="5"/>
          <c:tx>
            <c:strRef>
              <c:strCache>
                <c:ptCount val="1"/>
                <c:pt idx="0">
                  <c:v>Other commercially traded crab species</c:v>
                </c:pt>
              </c:strCache>
            </c:strRef>
          </c:tx>
          <c:spPr>
            <a:solidFill>
              <a:srgbClr val="808080"/>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16.846831139395</c:v>
                </c:pt>
                <c:pt idx="1">
                  <c:v>21.11729160830765</c:v>
                </c:pt>
                <c:pt idx="2">
                  <c:v>15.946703528779327</c:v>
                </c:pt>
                <c:pt idx="3">
                  <c:v>16.653083136087456</c:v>
                </c:pt>
                <c:pt idx="4">
                  <c:v>15.551539590805197</c:v>
                </c:pt>
                <c:pt idx="5">
                  <c:v>14.154050163193387</c:v>
                </c:pt>
                <c:pt idx="6">
                  <c:v>17.38140297974904</c:v>
                </c:pt>
                <c:pt idx="7">
                  <c:v>18.542480221759096</c:v>
                </c:pt>
                <c:pt idx="8">
                  <c:v>20.177448412566367</c:v>
                </c:pt>
                <c:pt idx="9">
                  <c:v>20.389496262839106</c:v>
                </c:pt>
                <c:pt idx="10">
                  <c:v>12.266841229279448</c:v>
                </c:pt>
                <c:pt idx="11">
                  <c:v>17.903374844539645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Blue Crab</c:v>
                </c:pt>
              </c:strCache>
            </c:strRef>
          </c:tx>
          <c:spPr>
            <a:solidFill>
              <a:srgbClr val="3D85C6"/>
            </a:solidFill>
          </c:spPr>
          <c:invertIfNegative val="0"/>
          <c:xVal>
            <c:numRef>
              <c:numCache>
                <c:formatCode>General</c:formatCode>
                <c:ptCount val="1"/>
                <c:pt idx="0">
                  <c:v>70.44139353545835</c:v>
                </c:pt>
              </c:numCache>
            </c:numRef>
          </c:xVal>
          <c:yVal>
            <c:numRef>
              <c:numCache>
                <c:formatCode>General</c:formatCode>
                <c:ptCount val="1"/>
                <c:pt idx="0">
                  <c:v>65.74361832531758</c:v>
                </c:pt>
              </c:numCache>
            </c:numRef>
          </c:yVal>
          <c:bubbleSize>
            <c:numRef>
              <c:numCache>
                <c:formatCode>General</c:formatCode>
                <c:ptCount val="1"/>
                <c:pt idx="0">
                  <c:v>622.186</c:v>
                </c:pt>
              </c:numCache>
            </c:numRef>
          </c:bubbleSize>
          <c:bubble3D val="0"/>
        </c:ser>
        <c:ser>
          <c:idx val="1"/>
          <c:order val="1"/>
          <c:tx>
            <c:strRef>
              <c:strCache>
                <c:ptCount val="1"/>
                <c:pt idx="0">
                  <c:v>King Crab</c:v>
                </c:pt>
              </c:strCache>
            </c:strRef>
          </c:tx>
          <c:spPr>
            <a:solidFill>
              <a:srgbClr val="9E7E0A"/>
            </a:solidFill>
          </c:spPr>
          <c:invertIfNegative val="0"/>
          <c:xVal>
            <c:numRef>
              <c:numCache>
                <c:formatCode>General</c:formatCode>
                <c:ptCount val="1"/>
                <c:pt idx="0">
                  <c:v>117.97802365569352</c:v>
                </c:pt>
              </c:numCache>
            </c:numRef>
          </c:xVal>
          <c:yVal>
            <c:numRef>
              <c:numCache>
                <c:formatCode>General</c:formatCode>
                <c:ptCount val="1"/>
                <c:pt idx="0">
                  <c:v>151.82318054231942</c:v>
                </c:pt>
              </c:numCache>
            </c:numRef>
          </c:yVal>
          <c:bubbleSize>
            <c:numRef>
              <c:numCache>
                <c:formatCode>General</c:formatCode>
                <c:ptCount val="1"/>
                <c:pt idx="0">
                  <c:v>1832.671</c:v>
                </c:pt>
              </c:numCache>
            </c:numRef>
          </c:bubbleSize>
          <c:bubble3D val="0"/>
        </c:ser>
        <c:ser>
          <c:idx val="2"/>
          <c:order val="2"/>
          <c:tx>
            <c:strRef>
              <c:strCache>
                <c:ptCount val="1"/>
                <c:pt idx="0">
                  <c:v>Snow Crab</c:v>
                </c:pt>
              </c:strCache>
            </c:strRef>
          </c:tx>
          <c:spPr>
            <a:solidFill>
              <a:srgbClr val="008189"/>
            </a:solidFill>
          </c:spPr>
          <c:invertIfNegative val="0"/>
          <c:xVal>
            <c:numRef>
              <c:numCache>
                <c:formatCode>General</c:formatCode>
                <c:ptCount val="1"/>
                <c:pt idx="0">
                  <c:v>119.58403155314858</c:v>
                </c:pt>
              </c:numCache>
            </c:numRef>
          </c:xVal>
          <c:yVal>
            <c:numRef>
              <c:numCache>
                <c:formatCode>General</c:formatCode>
                <c:ptCount val="1"/>
                <c:pt idx="0">
                  <c:v>63.92430751578737</c:v>
                </c:pt>
              </c:numCache>
            </c:numRef>
          </c:yVal>
          <c:bubbleSize>
            <c:numRef>
              <c:numCache>
                <c:formatCode>General</c:formatCode>
                <c:ptCount val="1"/>
                <c:pt idx="0">
                  <c:v>777.926</c:v>
                </c:pt>
              </c:numCache>
            </c:numRef>
          </c:bubbleSize>
          <c:bubble3D val="0"/>
        </c:ser>
        <c:ser>
          <c:idx val="3"/>
          <c:order val="3"/>
          <c:tx>
            <c:strRef>
              <c:strCache>
                <c:ptCount val="1"/>
                <c:pt idx="0">
                  <c:v>Dungeness Crab</c:v>
                </c:pt>
              </c:strCache>
            </c:strRef>
          </c:tx>
          <c:spPr>
            <a:solidFill>
              <a:srgbClr val="40315E"/>
            </a:solidFill>
          </c:spPr>
          <c:invertIfNegative val="0"/>
          <c:xVal>
            <c:numRef>
              <c:numCache>
                <c:formatCode>General</c:formatCode>
                <c:ptCount val="1"/>
                <c:pt idx="0">
                  <c:v>31.47859665236631</c:v>
                </c:pt>
              </c:numCache>
            </c:numRef>
          </c:xVal>
          <c:yVal>
            <c:numRef>
              <c:numCache>
                <c:formatCode>General</c:formatCode>
                <c:ptCount val="1"/>
                <c:pt idx="0">
                  <c:v>56.0610104881253</c:v>
                </c:pt>
              </c:numCache>
            </c:numRef>
          </c:yVal>
          <c:bubbleSize>
            <c:numRef>
              <c:numCache>
                <c:formatCode>General</c:formatCode>
                <c:ptCount val="1"/>
                <c:pt idx="0">
                  <c:v>432.662</c:v>
                </c:pt>
              </c:numCache>
            </c:numRef>
          </c:bubbleSize>
          <c:bubble3D val="0"/>
        </c:ser>
        <c:ser>
          <c:idx val="4"/>
          <c:order val="4"/>
          <c:tx>
            <c:strRef>
              <c:strCache>
                <c:ptCount val="1"/>
                <c:pt idx="0">
                  <c:v>Mud Crab</c:v>
                </c:pt>
              </c:strCache>
            </c:strRef>
          </c:tx>
          <c:spPr>
            <a:solidFill>
              <a:srgbClr val="A35313"/>
            </a:solidFill>
          </c:spPr>
          <c:invertIfNegative val="0"/>
          <c:xVal>
            <c:numRef>
              <c:numCache>
                <c:formatCode>General</c:formatCode>
                <c:ptCount val="1"/>
                <c:pt idx="0">
                  <c:v>119.75234591212909</c:v>
                </c:pt>
              </c:numCache>
            </c:numRef>
          </c:xVal>
          <c:yVal>
            <c:numRef>
              <c:numCache>
                <c:formatCode>General</c:formatCode>
                <c:ptCount val="1"/>
                <c:pt idx="0">
                  <c:v>148.07114893260513</c:v>
                </c:pt>
              </c:numCache>
            </c:numRef>
          </c:yVal>
          <c:bubbleSize>
            <c:numRef>
              <c:numCache>
                <c:formatCode>General</c:formatCode>
                <c:ptCount val="1"/>
                <c:pt idx="0">
                  <c:v>1803.483</c:v>
                </c:pt>
              </c:numCache>
            </c:numRef>
          </c:bubbleSize>
          <c:bubble3D val="0"/>
        </c:ser>
        <c:ser>
          <c:idx val="5"/>
          <c:order val="5"/>
          <c:tx>
            <c:strRef>
              <c:strCache>
                <c:ptCount val="1"/>
                <c:pt idx="0">
                  <c:v>Other commercially traded crab species</c:v>
                </c:pt>
              </c:strCache>
            </c:strRef>
          </c:tx>
          <c:spPr>
            <a:solidFill>
              <a:srgbClr val="808080"/>
            </a:solidFill>
          </c:spPr>
          <c:invertIfNegative val="0"/>
          <c:xVal>
            <c:numRef>
              <c:numCache>
                <c:formatCode>General</c:formatCode>
                <c:ptCount val="1"/>
                <c:pt idx="0">
                  <c:v>80.72738527185437</c:v>
                </c:pt>
              </c:numCache>
            </c:numRef>
          </c:xVal>
          <c:yVal>
            <c:numRef>
              <c:numCache>
                <c:formatCode>General</c:formatCode>
                <c:ptCount val="1"/>
                <c:pt idx="0">
                  <c:v>114.37673419584529</c:v>
                </c:pt>
              </c:numCache>
            </c:numRef>
          </c:yVal>
          <c:bubbleSize>
            <c:numRef>
              <c:numCache>
                <c:formatCode>General</c:formatCode>
                <c:ptCount val="1"/>
                <c:pt idx="0">
                  <c:v>1141.538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428.977</c:v>
                </c:pt>
                <c:pt idx="2">
                  <c:v>461.342</c:v>
                </c:pt>
                <c:pt idx="3">
                  <c:v>496.582</c:v>
                </c:pt>
                <c:pt idx="4">
                  <c:v>534.953</c:v>
                </c:pt>
                <c:pt idx="5">
                  <c:v>576.72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428.977</c:v>
                </c:pt>
                <c:pt idx="1">
                  <c:v>32.36500000000001</c:v>
                </c:pt>
                <c:pt idx="2">
                  <c:v>35.24000000000001</c:v>
                </c:pt>
                <c:pt idx="3">
                  <c:v>38.37099999999998</c:v>
                </c:pt>
                <c:pt idx="4">
                  <c:v>41.76700000000005</c:v>
                </c:pt>
                <c:pt idx="5">
                  <c:v>45.46600000000001</c:v>
                </c:pt>
                <c:pt idx="6">
                  <c:v>622.186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990.646</c:v>
                </c:pt>
                <c:pt idx="2">
                  <c:v>1123.294</c:v>
                </c:pt>
                <c:pt idx="3">
                  <c:v>1271.841</c:v>
                </c:pt>
                <c:pt idx="4">
                  <c:v>1438.16</c:v>
                </c:pt>
                <c:pt idx="5">
                  <c:v>1624.328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990.646</c:v>
                </c:pt>
                <c:pt idx="1">
                  <c:v>132.64800000000014</c:v>
                </c:pt>
                <c:pt idx="2">
                  <c:v>148.5469999999998</c:v>
                </c:pt>
                <c:pt idx="3">
                  <c:v>166.3190000000002</c:v>
                </c:pt>
                <c:pt idx="4">
                  <c:v>186.1679999999999</c:v>
                </c:pt>
                <c:pt idx="5">
                  <c:v>208.34300000000007</c:v>
                </c:pt>
                <c:pt idx="6">
                  <c:v>1832.671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417.106</c:v>
                </c:pt>
                <c:pt idx="2">
                  <c:v>473.781</c:v>
                </c:pt>
                <c:pt idx="3">
                  <c:v>537.338</c:v>
                </c:pt>
                <c:pt idx="4">
                  <c:v>608.59</c:v>
                </c:pt>
                <c:pt idx="5">
                  <c:v>688.447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417.106</c:v>
                </c:pt>
                <c:pt idx="1">
                  <c:v>56.67500000000001</c:v>
                </c:pt>
                <c:pt idx="2">
                  <c:v>63.55699999999996</c:v>
                </c:pt>
                <c:pt idx="3">
                  <c:v>71.25200000000007</c:v>
                </c:pt>
                <c:pt idx="4">
                  <c:v>79.85699999999997</c:v>
                </c:pt>
                <c:pt idx="5">
                  <c:v>89.47900000000004</c:v>
                </c:pt>
                <c:pt idx="6">
                  <c:v>777.926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365.798</c:v>
                </c:pt>
                <c:pt idx="2">
                  <c:v>379.04</c:v>
                </c:pt>
                <c:pt idx="3">
                  <c:v>392.46</c:v>
                </c:pt>
                <c:pt idx="4">
                  <c:v>405.958</c:v>
                </c:pt>
                <c:pt idx="5">
                  <c:v>419.406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365.798</c:v>
                </c:pt>
                <c:pt idx="1">
                  <c:v>13.242000000000019</c:v>
                </c:pt>
                <c:pt idx="2">
                  <c:v>13.419999999999959</c:v>
                </c:pt>
                <c:pt idx="3">
                  <c:v>13.498000000000047</c:v>
                </c:pt>
                <c:pt idx="4">
                  <c:v>13.447999999999979</c:v>
                </c:pt>
                <c:pt idx="5">
                  <c:v>13.255999999999972</c:v>
                </c:pt>
                <c:pt idx="6">
                  <c:v>432.662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966.164</c:v>
                </c:pt>
                <c:pt idx="2">
                  <c:v>1098.276</c:v>
                </c:pt>
                <c:pt idx="3">
                  <c:v>1246.116</c:v>
                </c:pt>
                <c:pt idx="4">
                  <c:v>1411.524</c:v>
                </c:pt>
                <c:pt idx="5">
                  <c:v>1596.557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966.164</c:v>
                </c:pt>
                <c:pt idx="1">
                  <c:v>132.11200000000008</c:v>
                </c:pt>
                <c:pt idx="2">
                  <c:v>147.83999999999992</c:v>
                </c:pt>
                <c:pt idx="3">
                  <c:v>165.4079999999999</c:v>
                </c:pt>
                <c:pt idx="4">
                  <c:v>185.03300000000013</c:v>
                </c:pt>
                <c:pt idx="5">
                  <c:v>206.92599999999993</c:v>
                </c:pt>
                <c:pt idx="6">
                  <c:v>1803.483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746.308</c:v>
                </c:pt>
                <c:pt idx="2">
                  <c:v>811.2</c:v>
                </c:pt>
                <c:pt idx="3">
                  <c:v>882.503</c:v>
                </c:pt>
                <c:pt idx="4">
                  <c:v>960.849</c:v>
                </c:pt>
                <c:pt idx="5">
                  <c:v>1046.94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746.308</c:v>
                </c:pt>
                <c:pt idx="1">
                  <c:v>64.89200000000005</c:v>
                </c:pt>
                <c:pt idx="2">
                  <c:v>71.303</c:v>
                </c:pt>
                <c:pt idx="3">
                  <c:v>78.346</c:v>
                </c:pt>
                <c:pt idx="4">
                  <c:v>86.09100000000001</c:v>
                </c:pt>
                <c:pt idx="5">
                  <c:v>94.59799999999996</c:v>
                </c:pt>
                <c:pt idx="6">
                  <c:v>1141.538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King Crab</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23.81530293586692</c:v>
                </c:pt>
                <c:pt idx="1">
                  <c:v>25.303863423719903</c:v>
                </c:pt>
                <c:pt idx="2">
                  <c:v>27.723779231297762</c:v>
                </c:pt>
              </c:numCache>
            </c:numRef>
          </c:val>
        </c:ser>
        <c:ser>
          <c:idx val="1"/>
          <c:order val="1"/>
          <c:tx>
            <c:strRef>
              <c:strCache>
                <c:ptCount val="1"/>
                <c:pt idx="0">
                  <c:v>Mud Crab</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23.03019831876326</c:v>
                </c:pt>
                <c:pt idx="1">
                  <c:v>24.67852482210085</c:v>
                </c:pt>
                <c:pt idx="2">
                  <c:v>27.28223698601581</c:v>
                </c:pt>
              </c:numCache>
            </c:numRef>
          </c:val>
        </c:ser>
        <c:ser>
          <c:idx val="2"/>
          <c:order val="2"/>
          <c:tx>
            <c:strRef>
              <c:strCache>
                <c:ptCount val="1"/>
                <c:pt idx="0">
                  <c:v>Other commercially traded crab species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20.182430010366446</c:v>
                </c:pt>
                <c:pt idx="1">
                  <c:v>19.06278903264088</c:v>
                </c:pt>
                <c:pt idx="2">
                  <c:v>17.26864641615281</c:v>
                </c:pt>
              </c:numCache>
            </c:numRef>
          </c:val>
        </c:ser>
        <c:ser>
          <c:idx val="3"/>
          <c:order val="3"/>
          <c:tx>
            <c:strRef>
              <c:strCache>
                <c:ptCount val="1"/>
                <c:pt idx="0">
                  <c:v>Snow Crab</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9.97988070517644</c:v>
                </c:pt>
                <c:pt idx="1">
                  <c:v>10.654051252631227</c:v>
                </c:pt>
                <c:pt idx="2">
                  <c:v>11.768096228011762</c:v>
                </c:pt>
              </c:numCache>
            </c:numRef>
          </c:val>
        </c:ser>
        <c:ser>
          <c:idx val="4"/>
          <c:order val="4"/>
          <c:tx>
            <c:strRef>
              <c:strCache>
                <c:ptCount val="1"/>
                <c:pt idx="0">
                  <c:v>Blue Crab</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11.913819662654651</c:v>
                </c:pt>
                <c:pt idx="1">
                  <c:v>10.957269720886263</c:v>
                </c:pt>
                <c:pt idx="2">
                  <c:v>9.412135241297664</c:v>
                </c:pt>
              </c:numCache>
            </c:numRef>
          </c:val>
        </c:ser>
        <c:ser>
          <c:idx val="5"/>
          <c:order val="5"/>
          <c:tx>
            <c:strRef>
              <c:strCache>
                <c:ptCount val="1"/>
                <c:pt idx="0">
                  <c:v>Dungeness Crab</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11.078368367172288</c:v>
                </c:pt>
                <c:pt idx="1">
                  <c:v>9.34350174802088</c:v>
                </c:pt>
                <c:pt idx="2">
                  <c:v>6.545105897224189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Wild-caught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45.581611600267344</c:v>
                </c:pt>
                <c:pt idx="1">
                  <c:v>45.04381928048342</c:v>
                </c:pt>
                <c:pt idx="2">
                  <c:v>38.52968442301468</c:v>
                </c:pt>
                <c:pt idx="3">
                  <c:v>40.805739245015985</c:v>
                </c:pt>
                <c:pt idx="4">
                  <c:v>45.04162562949473</c:v>
                </c:pt>
                <c:pt idx="5">
                  <c:v>42.22880775415859</c:v>
                </c:pt>
                <c:pt idx="6">
                  <c:v>39.11908851442824</c:v>
                </c:pt>
                <c:pt idx="7">
                  <c:v>42.80244015943994</c:v>
                </c:pt>
                <c:pt idx="8">
                  <c:v>34.177001582917796</c:v>
                </c:pt>
                <c:pt idx="9">
                  <c:v>36.395505957724254</c:v>
                </c:pt>
                <c:pt idx="10">
                  <c:v>34.20751235667933</c:v>
                </c:pt>
                <c:pt idx="11">
                  <c:v>39.28682045224497</c:v>
                </c:pt>
              </c:numCache>
            </c:numRef>
          </c:val>
        </c:ser>
        <c:ser>
          <c:idx val="1"/>
          <c:order val="1"/>
          <c:tx>
            <c:strRef>
              <c:strCache>
                <c:ptCount val="1"/>
                <c:pt idx="0">
                  <c:v>Aquaculture / fattened / cultured supply</c:v>
                </c:pt>
              </c:strCache>
            </c:strRef>
          </c:tx>
          <c:spPr>
            <a:solidFill>
              <a:srgbClr val="9E7E0A"/>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24.3890390259495</c:v>
                </c:pt>
                <c:pt idx="1">
                  <c:v>16.956794322835382</c:v>
                </c:pt>
                <c:pt idx="2">
                  <c:v>24.478198144826415</c:v>
                </c:pt>
                <c:pt idx="3">
                  <c:v>25.361508991971892</c:v>
                </c:pt>
                <c:pt idx="4">
                  <c:v>25.72659022912679</c:v>
                </c:pt>
                <c:pt idx="5">
                  <c:v>22.834253394825428</c:v>
                </c:pt>
                <c:pt idx="6">
                  <c:v>28.18517961401091</c:v>
                </c:pt>
                <c:pt idx="7">
                  <c:v>26.977824089998588</c:v>
                </c:pt>
                <c:pt idx="8">
                  <c:v>21.252216322591995</c:v>
                </c:pt>
                <c:pt idx="9">
                  <c:v>18.911235510655327</c:v>
                </c:pt>
                <c:pt idx="10">
                  <c:v>18.955944655526043</c:v>
                </c:pt>
                <c:pt idx="11">
                  <c:v>21.724512309153468</c:v>
                </c:pt>
              </c:numCache>
            </c:numRef>
          </c:val>
        </c:ser>
        <c:ser>
          <c:idx val="2"/>
          <c:order val="2"/>
          <c:tx>
            <c:strRef>
              <c:strCache>
                <c:ptCount val="1"/>
                <c:pt idx="0">
                  <c:v>Imported processed crab meat</c:v>
                </c:pt>
              </c:strCache>
            </c:strRef>
          </c:tx>
          <c:spPr>
            <a:solidFill>
              <a:srgbClr val="008189"/>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30.029349373783166</c:v>
                </c:pt>
                <c:pt idx="1">
                  <c:v>37.9993863966812</c:v>
                </c:pt>
                <c:pt idx="2">
                  <c:v>36.992117432158906</c:v>
                </c:pt>
                <c:pt idx="3">
                  <c:v>33.83275176301213</c:v>
                </c:pt>
                <c:pt idx="4">
                  <c:v>29.231784141378476</c:v>
                </c:pt>
                <c:pt idx="5">
                  <c:v>34.93693885101597</c:v>
                </c:pt>
                <c:pt idx="6">
                  <c:v>32.69573187156085</c:v>
                </c:pt>
                <c:pt idx="7">
                  <c:v>30.219735750561483</c:v>
                </c:pt>
                <c:pt idx="8">
                  <c:v>44.57078209449021</c:v>
                </c:pt>
                <c:pt idx="9">
                  <c:v>44.69325853162041</c:v>
                </c:pt>
                <c:pt idx="10">
                  <c:v>46.83654298779463</c:v>
                </c:pt>
                <c:pt idx="11">
                  <c:v>38.98866723860156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Wild-caught</c:v>
                </c:pt>
              </c:strCache>
            </c:strRef>
          </c:tx>
          <c:spPr>
            <a:solidFill>
              <a:srgbClr val="3D85C6"/>
            </a:solidFill>
          </c:spPr>
          <c:invertIfNegative val="0"/>
          <c:xVal>
            <c:numRef>
              <c:numCache>
                <c:formatCode>General</c:formatCode>
                <c:ptCount val="1"/>
                <c:pt idx="0">
                  <c:v>91.07490256957654</c:v>
                </c:pt>
              </c:numCache>
            </c:numRef>
          </c:xVal>
          <c:yVal>
            <c:numRef>
              <c:numCache>
                <c:formatCode>General</c:formatCode>
                <c:ptCount val="1"/>
                <c:pt idx="0">
                  <c:v>121.33650608850732</c:v>
                </c:pt>
              </c:numCache>
            </c:numRef>
          </c:yVal>
          <c:bubbleSize>
            <c:numRef>
              <c:numCache>
                <c:formatCode>General</c:formatCode>
                <c:ptCount val="1"/>
                <c:pt idx="0">
                  <c:v>2554.319</c:v>
                </c:pt>
              </c:numCache>
            </c:numRef>
          </c:bubbleSize>
          <c:bubble3D val="0"/>
        </c:ser>
        <c:ser>
          <c:idx val="1"/>
          <c:order val="1"/>
          <c:tx>
            <c:strRef>
              <c:strCache>
                <c:ptCount val="1"/>
                <c:pt idx="0">
                  <c:v>Aquaculture / fattened / cultured supply</c:v>
                </c:pt>
              </c:strCache>
            </c:strRef>
          </c:tx>
          <c:spPr>
            <a:solidFill>
              <a:srgbClr val="9E7E0A"/>
            </a:solidFill>
          </c:spPr>
          <c:invertIfNegative val="0"/>
          <c:xVal>
            <c:numRef>
              <c:numCache>
                <c:formatCode>General</c:formatCode>
                <c:ptCount val="1"/>
                <c:pt idx="0">
                  <c:v>143.2364206772274</c:v>
                </c:pt>
              </c:numCache>
            </c:numRef>
          </c:xVal>
          <c:yVal>
            <c:numRef>
              <c:numCache>
                <c:formatCode>General</c:formatCode>
                <c:ptCount val="1"/>
                <c:pt idx="0">
                  <c:v>52.71748472988116</c:v>
                </c:pt>
              </c:numCache>
            </c:numRef>
          </c:yVal>
          <c:bubbleSize>
            <c:numRef>
              <c:numCache>
                <c:formatCode>General</c:formatCode>
                <c:ptCount val="1"/>
                <c:pt idx="0">
                  <c:v>1444.956</c:v>
                </c:pt>
              </c:numCache>
            </c:numRef>
          </c:bubbleSize>
          <c:bubble3D val="0"/>
        </c:ser>
        <c:ser>
          <c:idx val="2"/>
          <c:order val="2"/>
          <c:tx>
            <c:strRef>
              <c:strCache>
                <c:ptCount val="1"/>
                <c:pt idx="0">
                  <c:v>Imported processed crab meat</c:v>
                </c:pt>
              </c:strCache>
            </c:strRef>
          </c:tx>
          <c:spPr>
            <a:solidFill>
              <a:srgbClr val="008189"/>
            </a:solidFill>
          </c:spPr>
          <c:invertIfNegative val="0"/>
          <c:xVal>
            <c:numRef>
              <c:numCache>
                <c:formatCode>General</c:formatCode>
                <c:ptCount val="1"/>
                <c:pt idx="0">
                  <c:v>88.09978251931626</c:v>
                </c:pt>
              </c:numCache>
            </c:numRef>
          </c:xVal>
          <c:yVal>
            <c:numRef>
              <c:numCache>
                <c:formatCode>General</c:formatCode>
                <c:ptCount val="1"/>
                <c:pt idx="0">
                  <c:v>125.94600918161156</c:v>
                </c:pt>
              </c:numCache>
            </c:numRef>
          </c:yVal>
          <c:bubbleSize>
            <c:numRef>
              <c:numCache>
                <c:formatCode>General</c:formatCode>
                <c:ptCount val="1"/>
                <c:pt idx="0">
                  <c:v>2611.191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1583.441</c:v>
                </c:pt>
                <c:pt idx="2">
                  <c:v>1744.022</c:v>
                </c:pt>
                <c:pt idx="3">
                  <c:v>1920.068</c:v>
                </c:pt>
                <c:pt idx="4">
                  <c:v>2112.875</c:v>
                </c:pt>
                <c:pt idx="5">
                  <c:v>2323.816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1583.441</c:v>
                </c:pt>
                <c:pt idx="1">
                  <c:v>160.5809999999999</c:v>
                </c:pt>
                <c:pt idx="2">
                  <c:v>176.04600000000005</c:v>
                </c:pt>
                <c:pt idx="3">
                  <c:v>192.80700000000002</c:v>
                </c:pt>
                <c:pt idx="4">
                  <c:v>210.9409999999998</c:v>
                </c:pt>
                <c:pt idx="5">
                  <c:v>230.50300000000016</c:v>
                </c:pt>
                <c:pt idx="6">
                  <c:v>2554.319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687.963</c:v>
                </c:pt>
                <c:pt idx="2">
                  <c:v>798.014</c:v>
                </c:pt>
                <c:pt idx="3">
                  <c:v>925.654</c:v>
                </c:pt>
                <c:pt idx="4">
                  <c:v>1073.727</c:v>
                </c:pt>
                <c:pt idx="5">
                  <c:v>1245.542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687.963</c:v>
                </c:pt>
                <c:pt idx="1">
                  <c:v>110.05100000000004</c:v>
                </c:pt>
                <c:pt idx="2">
                  <c:v>127.63999999999999</c:v>
                </c:pt>
                <c:pt idx="3">
                  <c:v>148.0730000000001</c:v>
                </c:pt>
                <c:pt idx="4">
                  <c:v>171.81499999999983</c:v>
                </c:pt>
                <c:pt idx="5">
                  <c:v>199.414</c:v>
                </c:pt>
                <c:pt idx="6">
                  <c:v>1444.956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1643.595</c:v>
                </c:pt>
                <c:pt idx="2">
                  <c:v>1804.897</c:v>
                </c:pt>
                <c:pt idx="3">
                  <c:v>1981.118</c:v>
                </c:pt>
                <c:pt idx="4">
                  <c:v>2173.432</c:v>
                </c:pt>
                <c:pt idx="5">
                  <c:v>2383.04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1643.595</c:v>
                </c:pt>
                <c:pt idx="1">
                  <c:v>161.3019999999999</c:v>
                </c:pt>
                <c:pt idx="2">
                  <c:v>176.221</c:v>
                </c:pt>
                <c:pt idx="3">
                  <c:v>192.31399999999985</c:v>
                </c:pt>
                <c:pt idx="4">
                  <c:v>209.60800000000017</c:v>
                </c:pt>
                <c:pt idx="5">
                  <c:v>228.15099999999984</c:v>
                </c:pt>
                <c:pt idx="6">
                  <c:v>2611.191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Imported processed crab meat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43.06982331835958</c:v>
                </c:pt>
                <c:pt idx="1">
                  <c:v>41.98200306053718</c:v>
                </c:pt>
                <c:pt idx="2">
                  <c:v>39.50086121008715</c:v>
                </c:pt>
              </c:numCache>
            </c:numRef>
          </c:val>
        </c:ser>
        <c:ser>
          <c:idx val="1"/>
          <c:order val="1"/>
          <c:tx>
            <c:strRef>
              <c:strCache>
                <c:ptCount val="1"/>
                <c:pt idx="0">
                  <c:v>Wild-caught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41.18784574992007</c:v>
                </c:pt>
                <c:pt idx="1">
                  <c:v>40.44550202950244</c:v>
                </c:pt>
                <c:pt idx="2">
                  <c:v>38.640528519472</c:v>
                </c:pt>
              </c:numCache>
            </c:numRef>
          </c:val>
        </c:ser>
        <c:ser>
          <c:idx val="2"/>
          <c:order val="2"/>
          <c:tx>
            <c:strRef>
              <c:strCache>
                <c:ptCount val="1"/>
                <c:pt idx="0">
                  <c:v>Aquaculture / fattened / cultured supply</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15.742330931720344</c:v>
                </c:pt>
                <c:pt idx="1">
                  <c:v>17.572494909960383</c:v>
                </c:pt>
                <c:pt idx="2">
                  <c:v>21.85861027044084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Jumbo Lump</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9.040188300932789</c:v>
                </c:pt>
                <c:pt idx="1">
                  <c:v>9.18537489828858</c:v>
                </c:pt>
                <c:pt idx="2">
                  <c:v>8.21663073707769</c:v>
                </c:pt>
                <c:pt idx="3">
                  <c:v>10.530245723628024</c:v>
                </c:pt>
                <c:pt idx="4">
                  <c:v>8.773437645178674</c:v>
                </c:pt>
                <c:pt idx="5">
                  <c:v>11.937477334251561</c:v>
                </c:pt>
                <c:pt idx="6">
                  <c:v>9.73123489223859</c:v>
                </c:pt>
                <c:pt idx="7">
                  <c:v>11.842664346559296</c:v>
                </c:pt>
                <c:pt idx="8">
                  <c:v>8.822508805871529</c:v>
                </c:pt>
                <c:pt idx="9">
                  <c:v>8.705958264207894</c:v>
                </c:pt>
                <c:pt idx="10">
                  <c:v>8.218347567331294</c:v>
                </c:pt>
                <c:pt idx="11">
                  <c:v>9.377736056331303</c:v>
                </c:pt>
              </c:numCache>
            </c:numRef>
          </c:val>
        </c:ser>
        <c:ser>
          <c:idx val="1"/>
          <c:order val="1"/>
          <c:tx>
            <c:strRef>
              <c:strCache>
                <c:ptCount val="1"/>
                <c:pt idx="0">
                  <c:v>Lump</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10.087757533490251</c:v>
                </c:pt>
                <c:pt idx="1">
                  <c:v>11.645790814625101</c:v>
                </c:pt>
                <c:pt idx="2">
                  <c:v>10.050411133235693</c:v>
                </c:pt>
                <c:pt idx="3">
                  <c:v>13.04458163539201</c:v>
                </c:pt>
                <c:pt idx="4">
                  <c:v>15.054447810008734</c:v>
                </c:pt>
                <c:pt idx="5">
                  <c:v>12.341889233632122</c:v>
                </c:pt>
                <c:pt idx="6">
                  <c:v>13.511367333303017</c:v>
                </c:pt>
                <c:pt idx="7">
                  <c:v>14.040274770855676</c:v>
                </c:pt>
                <c:pt idx="8">
                  <c:v>11.901830575507079</c:v>
                </c:pt>
                <c:pt idx="9">
                  <c:v>8.608226478564477</c:v>
                </c:pt>
                <c:pt idx="10">
                  <c:v>12.812174271208097</c:v>
                </c:pt>
                <c:pt idx="11">
                  <c:v>10.138899349868009</c:v>
                </c:pt>
              </c:numCache>
            </c:numRef>
          </c:val>
        </c:ser>
        <c:ser>
          <c:idx val="2"/>
          <c:order val="2"/>
          <c:tx>
            <c:strRef>
              <c:strCache>
                <c:ptCount val="1"/>
                <c:pt idx="0">
                  <c:v>Backfin</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7.8298898672013495</c:v>
                </c:pt>
                <c:pt idx="1">
                  <c:v>8.15425453866368</c:v>
                </c:pt>
                <c:pt idx="2">
                  <c:v>10.614313689996216</c:v>
                </c:pt>
                <c:pt idx="3">
                  <c:v>7.142334252458456</c:v>
                </c:pt>
                <c:pt idx="4">
                  <c:v>8.245684128370467</c:v>
                </c:pt>
                <c:pt idx="5">
                  <c:v>8.978383744399956</c:v>
                </c:pt>
                <c:pt idx="6">
                  <c:v>9.667218212920176</c:v>
                </c:pt>
                <c:pt idx="7">
                  <c:v>8.44014932318961</c:v>
                </c:pt>
                <c:pt idx="8">
                  <c:v>9.846176516725212</c:v>
                </c:pt>
                <c:pt idx="9">
                  <c:v>9.076637108651017</c:v>
                </c:pt>
                <c:pt idx="10">
                  <c:v>9.0870977774789</c:v>
                </c:pt>
                <c:pt idx="11">
                  <c:v>10.462477335395729</c:v>
                </c:pt>
              </c:numCache>
            </c:numRef>
          </c:val>
        </c:ser>
        <c:ser>
          <c:idx val="3"/>
          <c:order val="3"/>
          <c:tx>
            <c:strRef>
              <c:strCache>
                <c:ptCount val="1"/>
                <c:pt idx="0">
                  <c:v>Special Meat</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32.50806381309389</c:v>
                </c:pt>
                <c:pt idx="1">
                  <c:v>26.432963837421795</c:v>
                </c:pt>
                <c:pt idx="2">
                  <c:v>27.51438554917417</c:v>
                </c:pt>
                <c:pt idx="3">
                  <c:v>27.29508796759474</c:v>
                </c:pt>
                <c:pt idx="4">
                  <c:v>25.473398621151023</c:v>
                </c:pt>
                <c:pt idx="5">
                  <c:v>31.086966874123128</c:v>
                </c:pt>
                <c:pt idx="6">
                  <c:v>36.44403088192596</c:v>
                </c:pt>
                <c:pt idx="7">
                  <c:v>25.763561499706615</c:v>
                </c:pt>
                <c:pt idx="8">
                  <c:v>37.4740339685603</c:v>
                </c:pt>
                <c:pt idx="9">
                  <c:v>29.103688834953424</c:v>
                </c:pt>
                <c:pt idx="10">
                  <c:v>33.44541205742914</c:v>
                </c:pt>
                <c:pt idx="11">
                  <c:v>27.43465153917234</c:v>
                </c:pt>
              </c:numCache>
            </c:numRef>
          </c:val>
        </c:ser>
        <c:ser>
          <c:idx val="4"/>
          <c:order val="4"/>
          <c:tx>
            <c:strRef>
              <c:strCache>
                <c:ptCount val="1"/>
                <c:pt idx="0">
                  <c:v>Claw Meat</c:v>
                </c:pt>
              </c:strCache>
            </c:strRef>
          </c:tx>
          <c:spPr>
            <a:solidFill>
              <a:srgbClr val="A35313"/>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26.28948362537414</c:v>
                </c:pt>
                <c:pt idx="1">
                  <c:v>32.44761028185735</c:v>
                </c:pt>
                <c:pt idx="2">
                  <c:v>29.82320448050203</c:v>
                </c:pt>
                <c:pt idx="3">
                  <c:v>27.95929821136624</c:v>
                </c:pt>
                <c:pt idx="4">
                  <c:v>31.328396484120937</c:v>
                </c:pt>
                <c:pt idx="5">
                  <c:v>21.582554608427444</c:v>
                </c:pt>
                <c:pt idx="6">
                  <c:v>19.30994917145626</c:v>
                </c:pt>
                <c:pt idx="7">
                  <c:v>28.596250733464178</c:v>
                </c:pt>
                <c:pt idx="8">
                  <c:v>22.738875605477936</c:v>
                </c:pt>
                <c:pt idx="9">
                  <c:v>30.21181069731089</c:v>
                </c:pt>
                <c:pt idx="10">
                  <c:v>21.613366228438856</c:v>
                </c:pt>
                <c:pt idx="11">
                  <c:v>31.734303785608926</c:v>
                </c:pt>
              </c:numCache>
            </c:numRef>
          </c:val>
        </c:ser>
        <c:ser>
          <c:idx val="5"/>
          <c:order val="5"/>
          <c:tx>
            <c:strRef>
              <c:strCache>
                <c:ptCount val="1"/>
                <c:pt idx="0">
                  <c:v>Crab Leg Meat</c:v>
                </c:pt>
              </c:strCache>
            </c:strRef>
          </c:tx>
          <c:spPr>
            <a:solidFill>
              <a:srgbClr val="808080"/>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14.244616859907595</c:v>
                </c:pt>
                <c:pt idx="1">
                  <c:v>12.134005629143491</c:v>
                </c:pt>
                <c:pt idx="2">
                  <c:v>13.78105441001421</c:v>
                </c:pt>
                <c:pt idx="3">
                  <c:v>14.02845220956053</c:v>
                </c:pt>
                <c:pt idx="4">
                  <c:v>11.124635311170165</c:v>
                </c:pt>
                <c:pt idx="5">
                  <c:v>14.072728205165774</c:v>
                </c:pt>
                <c:pt idx="6">
                  <c:v>11.336199508156005</c:v>
                </c:pt>
                <c:pt idx="7">
                  <c:v>11.317099326224636</c:v>
                </c:pt>
                <c:pt idx="8">
                  <c:v>9.216574527857926</c:v>
                </c:pt>
                <c:pt idx="9">
                  <c:v>14.293678616312299</c:v>
                </c:pt>
                <c:pt idx="10">
                  <c:v>14.823602098113717</c:v>
                </c:pt>
                <c:pt idx="11">
                  <c:v>10.85193193362371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Jumbo Lump</c:v>
                </c:pt>
              </c:strCache>
            </c:strRef>
          </c:tx>
          <c:spPr>
            <a:solidFill>
              <a:srgbClr val="3D85C6"/>
            </a:solidFill>
          </c:spPr>
          <c:invertIfNegative val="0"/>
          <c:xVal>
            <c:numRef>
              <c:numCache>
                <c:formatCode>General</c:formatCode>
                <c:ptCount val="1"/>
                <c:pt idx="0">
                  <c:v>119.88494715024191</c:v>
                </c:pt>
              </c:numCache>
            </c:numRef>
          </c:xVal>
          <c:yVal>
            <c:numRef>
              <c:numCache>
                <c:formatCode>General</c:formatCode>
                <c:ptCount val="1"/>
                <c:pt idx="0">
                  <c:v>50.683691106945375</c:v>
                </c:pt>
              </c:numCache>
            </c:numRef>
          </c:yVal>
          <c:bubbleSize>
            <c:numRef>
              <c:numCache>
                <c:formatCode>General</c:formatCode>
                <c:ptCount val="1"/>
                <c:pt idx="0">
                  <c:v>617.733</c:v>
                </c:pt>
              </c:numCache>
            </c:numRef>
          </c:bubbleSize>
          <c:bubble3D val="0"/>
        </c:ser>
        <c:ser>
          <c:idx val="1"/>
          <c:order val="1"/>
          <c:tx>
            <c:strRef>
              <c:strCache>
                <c:ptCount val="1"/>
                <c:pt idx="0">
                  <c:v>Lump</c:v>
                </c:pt>
              </c:strCache>
            </c:strRef>
          </c:tx>
          <c:spPr>
            <a:solidFill>
              <a:srgbClr val="9E7E0A"/>
            </a:solidFill>
          </c:spPr>
          <c:invertIfNegative val="0"/>
          <c:xVal>
            <c:numRef>
              <c:numCache>
                <c:formatCode>General</c:formatCode>
                <c:ptCount val="1"/>
                <c:pt idx="0">
                  <c:v>63.23052200156836</c:v>
                </c:pt>
              </c:numCache>
            </c:numRef>
          </c:xVal>
          <c:yVal>
            <c:numRef>
              <c:numCache>
                <c:formatCode>General</c:formatCode>
                <c:ptCount val="1"/>
                <c:pt idx="0">
                  <c:v>81.33151502720689</c:v>
                </c:pt>
              </c:numCache>
            </c:numRef>
          </c:yVal>
          <c:bubbleSize>
            <c:numRef>
              <c:numCache>
                <c:formatCode>General</c:formatCode>
                <c:ptCount val="1"/>
                <c:pt idx="0">
                  <c:v>741.426</c:v>
                </c:pt>
              </c:numCache>
            </c:numRef>
          </c:bubbleSize>
          <c:bubble3D val="0"/>
        </c:ser>
        <c:ser>
          <c:idx val="2"/>
          <c:order val="2"/>
          <c:tx>
            <c:strRef>
              <c:strCache>
                <c:ptCount val="1"/>
                <c:pt idx="0">
                  <c:v>Backfin</c:v>
                </c:pt>
              </c:strCache>
            </c:strRef>
          </c:tx>
          <c:spPr>
            <a:solidFill>
              <a:srgbClr val="008189"/>
            </a:solidFill>
          </c:spPr>
          <c:invertIfNegative val="0"/>
          <c:xVal>
            <c:numRef>
              <c:numCache>
                <c:formatCode>General</c:formatCode>
                <c:ptCount val="1"/>
                <c:pt idx="0">
                  <c:v>86.07128056794446</c:v>
                </c:pt>
              </c:numCache>
            </c:numRef>
          </c:xVal>
          <c:yVal>
            <c:numRef>
              <c:numCache>
                <c:formatCode>General</c:formatCode>
                <c:ptCount val="1"/>
                <c:pt idx="0">
                  <c:v>61.8761843872757</c:v>
                </c:pt>
              </c:numCache>
            </c:numRef>
          </c:yVal>
          <c:bubbleSize>
            <c:numRef>
              <c:numCache>
                <c:formatCode>General</c:formatCode>
                <c:ptCount val="1"/>
                <c:pt idx="0">
                  <c:v>634.778</c:v>
                </c:pt>
              </c:numCache>
            </c:numRef>
          </c:bubbleSize>
          <c:bubble3D val="0"/>
        </c:ser>
        <c:ser>
          <c:idx val="3"/>
          <c:order val="3"/>
          <c:tx>
            <c:strRef>
              <c:strCache>
                <c:ptCount val="1"/>
                <c:pt idx="0">
                  <c:v>Special Meat</c:v>
                </c:pt>
              </c:strCache>
            </c:strRef>
          </c:tx>
          <c:spPr>
            <a:solidFill>
              <a:srgbClr val="40315E"/>
            </a:solidFill>
          </c:spPr>
          <c:invertIfNegative val="0"/>
          <c:xVal>
            <c:numRef>
              <c:numCache>
                <c:formatCode>General</c:formatCode>
                <c:ptCount val="1"/>
                <c:pt idx="0">
                  <c:v>126.3472875344934</c:v>
                </c:pt>
              </c:numCache>
            </c:numRef>
          </c:xVal>
          <c:yVal>
            <c:numRef>
              <c:numCache>
                <c:formatCode>General</c:formatCode>
                <c:ptCount val="1"/>
                <c:pt idx="0">
                  <c:v>155.03007791317444</c:v>
                </c:pt>
              </c:numCache>
            </c:numRef>
          </c:yVal>
          <c:bubbleSize>
            <c:numRef>
              <c:numCache>
                <c:formatCode>General</c:formatCode>
                <c:ptCount val="1"/>
                <c:pt idx="0">
                  <c:v>1952.113</c:v>
                </c:pt>
              </c:numCache>
            </c:numRef>
          </c:bubbleSize>
          <c:bubble3D val="0"/>
        </c:ser>
        <c:ser>
          <c:idx val="4"/>
          <c:order val="4"/>
          <c:tx>
            <c:strRef>
              <c:strCache>
                <c:ptCount val="1"/>
                <c:pt idx="0">
                  <c:v>Claw Meat</c:v>
                </c:pt>
              </c:strCache>
            </c:strRef>
          </c:tx>
          <c:spPr>
            <a:solidFill>
              <a:srgbClr val="A35313"/>
            </a:solidFill>
          </c:spPr>
          <c:invertIfNegative val="0"/>
          <c:xVal>
            <c:numRef>
              <c:numCache>
                <c:formatCode>General</c:formatCode>
                <c:ptCount val="1"/>
                <c:pt idx="0">
                  <c:v>75.59870858945222</c:v>
                </c:pt>
              </c:numCache>
            </c:numRef>
          </c:xVal>
          <c:yVal>
            <c:numRef>
              <c:numCache>
                <c:formatCode>General</c:formatCode>
                <c:ptCount val="1"/>
                <c:pt idx="0">
                  <c:v>191.5605087000022</c:v>
                </c:pt>
              </c:numCache>
            </c:numRef>
          </c:yVal>
          <c:bubbleSize>
            <c:numRef>
              <c:numCache>
                <c:formatCode>General</c:formatCode>
                <c:ptCount val="1"/>
                <c:pt idx="0">
                  <c:v>1861.929</c:v>
                </c:pt>
              </c:numCache>
            </c:numRef>
          </c:bubbleSize>
          <c:bubble3D val="0"/>
        </c:ser>
        <c:ser>
          <c:idx val="5"/>
          <c:order val="5"/>
          <c:tx>
            <c:strRef>
              <c:strCache>
                <c:ptCount val="1"/>
                <c:pt idx="0">
                  <c:v>Crab Leg Meat</c:v>
                </c:pt>
              </c:strCache>
            </c:strRef>
          </c:tx>
          <c:spPr>
            <a:solidFill>
              <a:srgbClr val="808080"/>
            </a:solidFill>
          </c:spPr>
          <c:invertIfNegative val="0"/>
          <c:xVal>
            <c:numRef>
              <c:numCache>
                <c:formatCode>General</c:formatCode>
                <c:ptCount val="1"/>
                <c:pt idx="0">
                  <c:v>139.97408893203013</c:v>
                </c:pt>
              </c:numCache>
            </c:numRef>
          </c:xVal>
          <c:yVal>
            <c:numRef>
              <c:numCache>
                <c:formatCode>General</c:formatCode>
                <c:ptCount val="1"/>
                <c:pt idx="0">
                  <c:v>59.51802286539537</c:v>
                </c:pt>
              </c:numCache>
            </c:numRef>
          </c:yVal>
          <c:bubbleSize>
            <c:numRef>
              <c:numCache>
                <c:formatCode>General</c:formatCode>
                <c:ptCount val="1"/>
                <c:pt idx="0">
                  <c:v>802.487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330.711</c:v>
                </c:pt>
                <c:pt idx="2">
                  <c:v>375.147</c:v>
                </c:pt>
                <c:pt idx="3">
                  <c:v>425.303</c:v>
                </c:pt>
                <c:pt idx="4">
                  <c:v>481.904</c:v>
                </c:pt>
                <c:pt idx="5">
                  <c:v>545.746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330.711</c:v>
                </c:pt>
                <c:pt idx="1">
                  <c:v>44.43599999999998</c:v>
                </c:pt>
                <c:pt idx="2">
                  <c:v>50.156000000000006</c:v>
                </c:pt>
                <c:pt idx="3">
                  <c:v>56.601</c:v>
                </c:pt>
                <c:pt idx="4">
                  <c:v>63.841999999999985</c:v>
                </c:pt>
                <c:pt idx="5">
                  <c:v>71.98699999999997</c:v>
                </c:pt>
                <c:pt idx="6">
                  <c:v>617.733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530.688</c:v>
                </c:pt>
                <c:pt idx="2">
                  <c:v>568.092</c:v>
                </c:pt>
                <c:pt idx="3">
                  <c:v>607.796</c:v>
                </c:pt>
                <c:pt idx="4">
                  <c:v>649.878</c:v>
                </c:pt>
                <c:pt idx="5">
                  <c:v>694.403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530.688</c:v>
                </c:pt>
                <c:pt idx="1">
                  <c:v>37.403999999999996</c:v>
                </c:pt>
                <c:pt idx="2">
                  <c:v>39.704000000000065</c:v>
                </c:pt>
                <c:pt idx="3">
                  <c:v>42.081999999999994</c:v>
                </c:pt>
                <c:pt idx="4">
                  <c:v>44.52499999999998</c:v>
                </c:pt>
                <c:pt idx="5">
                  <c:v>47.023000000000025</c:v>
                </c:pt>
                <c:pt idx="6">
                  <c:v>741.426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403.742</c:v>
                </c:pt>
                <c:pt idx="2">
                  <c:v>441.883</c:v>
                </c:pt>
                <c:pt idx="3">
                  <c:v>483.687</c:v>
                </c:pt>
                <c:pt idx="4">
                  <c:v>529.514</c:v>
                </c:pt>
                <c:pt idx="5">
                  <c:v>579.736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403.742</c:v>
                </c:pt>
                <c:pt idx="1">
                  <c:v>38.14099999999996</c:v>
                </c:pt>
                <c:pt idx="2">
                  <c:v>41.80400000000003</c:v>
                </c:pt>
                <c:pt idx="3">
                  <c:v>45.827</c:v>
                </c:pt>
                <c:pt idx="4">
                  <c:v>50.22199999999998</c:v>
                </c:pt>
                <c:pt idx="5">
                  <c:v>55.04200000000003</c:v>
                </c:pt>
                <c:pt idx="6">
                  <c:v>634.778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1011.571</c:v>
                </c:pt>
                <c:pt idx="2">
                  <c:v>1156.218</c:v>
                </c:pt>
                <c:pt idx="3">
                  <c:v>1320.01</c:v>
                </c:pt>
                <c:pt idx="4">
                  <c:v>1505.373</c:v>
                </c:pt>
                <c:pt idx="5">
                  <c:v>1715.056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1011.571</c:v>
                </c:pt>
                <c:pt idx="1">
                  <c:v>144.64700000000005</c:v>
                </c:pt>
                <c:pt idx="2">
                  <c:v>163.79199999999992</c:v>
                </c:pt>
                <c:pt idx="3">
                  <c:v>185.36300000000006</c:v>
                </c:pt>
                <c:pt idx="4">
                  <c:v>209.683</c:v>
                </c:pt>
                <c:pt idx="5">
                  <c:v>237.05700000000002</c:v>
                </c:pt>
                <c:pt idx="6">
                  <c:v>1952.113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1249.932</c:v>
                </c:pt>
                <c:pt idx="2">
                  <c:v>1354.504</c:v>
                </c:pt>
                <c:pt idx="3">
                  <c:v>1467.409</c:v>
                </c:pt>
                <c:pt idx="4">
                  <c:v>1589.213</c:v>
                </c:pt>
                <c:pt idx="5">
                  <c:v>1720.511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1249.932</c:v>
                </c:pt>
                <c:pt idx="1">
                  <c:v>104.57199999999989</c:v>
                </c:pt>
                <c:pt idx="2">
                  <c:v>112.9050000000002</c:v>
                </c:pt>
                <c:pt idx="3">
                  <c:v>121.80399999999986</c:v>
                </c:pt>
                <c:pt idx="4">
                  <c:v>131.298</c:v>
                </c:pt>
                <c:pt idx="5">
                  <c:v>141.41800000000012</c:v>
                </c:pt>
                <c:pt idx="6">
                  <c:v>1861.929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388.355</c:v>
                </c:pt>
                <c:pt idx="2">
                  <c:v>451.089</c:v>
                </c:pt>
                <c:pt idx="3">
                  <c:v>522.635</c:v>
                </c:pt>
                <c:pt idx="4">
                  <c:v>604.152</c:v>
                </c:pt>
                <c:pt idx="5">
                  <c:v>696.946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388.355</c:v>
                </c:pt>
                <c:pt idx="1">
                  <c:v>62.73399999999998</c:v>
                </c:pt>
                <c:pt idx="2">
                  <c:v>71.54599999999999</c:v>
                </c:pt>
                <c:pt idx="3">
                  <c:v>81.51700000000005</c:v>
                </c:pt>
                <c:pt idx="4">
                  <c:v>92.79399999999998</c:v>
                </c:pt>
                <c:pt idx="5">
                  <c:v>105.54099999999994</c:v>
                </c:pt>
                <c:pt idx="6">
                  <c:v>802.487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Special Meat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23.885801203282384</c:v>
                </c:pt>
                <c:pt idx="1">
                  <c:v>25.838346318862403</c:v>
                </c:pt>
                <c:pt idx="2">
                  <c:v>29.53064125887645</c:v>
                </c:pt>
              </c:numCache>
            </c:numRef>
          </c:val>
        </c:ser>
        <c:ser>
          <c:idx val="1"/>
          <c:order val="1"/>
          <c:tx>
            <c:strRef>
              <c:strCache>
                <c:ptCount val="1"/>
                <c:pt idx="0">
                  <c:v>Claw Meat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33.877533884703205</c:v>
                </c:pt>
                <c:pt idx="1">
                  <c:v>31.926751450000364</c:v>
                </c:pt>
                <c:pt idx="2">
                  <c:v>28.166380403439028</c:v>
                </c:pt>
              </c:numCache>
            </c:numRef>
          </c:val>
        </c:ser>
        <c:ser>
          <c:idx val="2"/>
          <c:order val="2"/>
          <c:tx>
            <c:strRef>
              <c:strCache>
                <c:ptCount val="1"/>
                <c:pt idx="0">
                  <c:v>Crab Leg Meat</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8.743496752816863</c:v>
                </c:pt>
                <c:pt idx="1">
                  <c:v>9.919670477565894</c:v>
                </c:pt>
                <c:pt idx="2">
                  <c:v>12.139643407892875</c:v>
                </c:pt>
              </c:numCache>
            </c:numRef>
          </c:val>
        </c:ser>
        <c:ser>
          <c:idx val="3"/>
          <c:order val="3"/>
          <c:tx>
            <c:strRef>
              <c:strCache>
                <c:ptCount val="1"/>
                <c:pt idx="0">
                  <c:v>Lump</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14.81655272191776</c:v>
                </c:pt>
                <c:pt idx="1">
                  <c:v>13.555252504534481</c:v>
                </c:pt>
                <c:pt idx="2">
                  <c:v>11.215941508510896</c:v>
                </c:pt>
              </c:numCache>
            </c:numRef>
          </c:val>
        </c:ser>
        <c:ser>
          <c:idx val="4"/>
          <c:order val="4"/>
          <c:tx>
            <c:strRef>
              <c:strCache>
                <c:ptCount val="1"/>
                <c:pt idx="0">
                  <c:v>Backfin</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10.69413181851944</c:v>
                </c:pt>
                <c:pt idx="1">
                  <c:v>10.312697397879283</c:v>
                </c:pt>
                <c:pt idx="2">
                  <c:v>9.60262105576218</c:v>
                </c:pt>
              </c:numCache>
            </c:numRef>
          </c:val>
        </c:ser>
        <c:ser>
          <c:idx val="5"/>
          <c:order val="5"/>
          <c:tx>
            <c:strRef>
              <c:strCache>
                <c:ptCount val="1"/>
                <c:pt idx="0">
                  <c:v>Jumbo Lump</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7.982483618760355</c:v>
                </c:pt>
                <c:pt idx="1">
                  <c:v>8.447281851157559</c:v>
                </c:pt>
                <c:pt idx="2">
                  <c:v>9.344772365518555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Fresh</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46.181675529596376</c:v>
                </c:pt>
                <c:pt idx="1">
                  <c:v>41.25815358757853</c:v>
                </c:pt>
                <c:pt idx="2">
                  <c:v>46.07983499816238</c:v>
                </c:pt>
                <c:pt idx="3">
                  <c:v>35.4442302530441</c:v>
                </c:pt>
                <c:pt idx="4">
                  <c:v>46.88736922305019</c:v>
                </c:pt>
                <c:pt idx="5">
                  <c:v>33.030268618882076</c:v>
                </c:pt>
                <c:pt idx="6">
                  <c:v>41.64687280270619</c:v>
                </c:pt>
                <c:pt idx="7">
                  <c:v>35.741962244299216</c:v>
                </c:pt>
                <c:pt idx="8">
                  <c:v>48.693736303958254</c:v>
                </c:pt>
                <c:pt idx="9">
                  <c:v>43.47944055302151</c:v>
                </c:pt>
                <c:pt idx="10">
                  <c:v>34.97223950102552</c:v>
                </c:pt>
                <c:pt idx="11">
                  <c:v>48.98699552310917</c:v>
                </c:pt>
              </c:numCache>
            </c:numRef>
          </c:val>
        </c:ser>
        <c:ser>
          <c:idx val="1"/>
          <c:order val="1"/>
          <c:tx>
            <c:strRef>
              <c:strCache>
                <c:ptCount val="1"/>
                <c:pt idx="0">
                  <c:v>Frozen</c:v>
                </c:pt>
              </c:strCache>
            </c:strRef>
          </c:tx>
          <c:spPr>
            <a:solidFill>
              <a:srgbClr val="9E7E0A"/>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8.012960218522071</c:v>
                </c:pt>
                <c:pt idx="1">
                  <c:v>7.928822015019941</c:v>
                </c:pt>
                <c:pt idx="2">
                  <c:v>6.699908393261694</c:v>
                </c:pt>
                <c:pt idx="3">
                  <c:v>8.471730802079014</c:v>
                </c:pt>
                <c:pt idx="4">
                  <c:v>8.387843086243102</c:v>
                </c:pt>
                <c:pt idx="5">
                  <c:v>8.038419130441152</c:v>
                </c:pt>
                <c:pt idx="6">
                  <c:v>6.676974634702637</c:v>
                </c:pt>
                <c:pt idx="7">
                  <c:v>9.286668150456267</c:v>
                </c:pt>
                <c:pt idx="8">
                  <c:v>7.475364950492226</c:v>
                </c:pt>
                <c:pt idx="9">
                  <c:v>8.166813579318658</c:v>
                </c:pt>
                <c:pt idx="10">
                  <c:v>8.819895094314248</c:v>
                </c:pt>
                <c:pt idx="11">
                  <c:v>7.199913291240394</c:v>
                </c:pt>
              </c:numCache>
            </c:numRef>
          </c:val>
        </c:ser>
        <c:ser>
          <c:idx val="2"/>
          <c:order val="2"/>
          <c:tx>
            <c:strRef>
              <c:strCache>
                <c:ptCount val="1"/>
                <c:pt idx="0">
                  <c:v>Canned</c:v>
                </c:pt>
              </c:strCache>
            </c:strRef>
          </c:tx>
          <c:spPr>
            <a:solidFill>
              <a:srgbClr val="008189"/>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19.848603725336357</c:v>
                </c:pt>
                <c:pt idx="1">
                  <c:v>23.316926114156896</c:v>
                </c:pt>
                <c:pt idx="2">
                  <c:v>29.321835864860862</c:v>
                </c:pt>
                <c:pt idx="3">
                  <c:v>27.242380615407143</c:v>
                </c:pt>
                <c:pt idx="4">
                  <c:v>20.852303346774946</c:v>
                </c:pt>
                <c:pt idx="5">
                  <c:v>32.269798416786024</c:v>
                </c:pt>
                <c:pt idx="6">
                  <c:v>22.98338714698999</c:v>
                </c:pt>
                <c:pt idx="7">
                  <c:v>23.753616737146675</c:v>
                </c:pt>
                <c:pt idx="8">
                  <c:v>23.382738115044376</c:v>
                </c:pt>
                <c:pt idx="9">
                  <c:v>24.16175420455911</c:v>
                </c:pt>
                <c:pt idx="10">
                  <c:v>31.94327695773512</c:v>
                </c:pt>
                <c:pt idx="11">
                  <c:v>20.543803538525694</c:v>
                </c:pt>
              </c:numCache>
            </c:numRef>
          </c:val>
        </c:ser>
        <c:ser>
          <c:idx val="3"/>
          <c:order val="3"/>
          <c:tx>
            <c:strRef>
              <c:strCache>
                <c:ptCount val="1"/>
                <c:pt idx="0">
                  <c:v>Pasteurized</c:v>
                </c:pt>
              </c:strCache>
            </c:strRef>
          </c:tx>
          <c:spPr>
            <a:solidFill>
              <a:srgbClr val="40315E"/>
            </a:solidFill>
            <a:ln>
              <a:noFill/>
            </a:ln>
          </c:spPr>
          <c:dLbls>
            <c:dLbl>
              <c:idx val="0"/>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25.956760526545203</c:v>
                </c:pt>
                <c:pt idx="1">
                  <c:v>27.49609828324463</c:v>
                </c:pt>
                <c:pt idx="2">
                  <c:v>17.898420743715064</c:v>
                </c:pt>
                <c:pt idx="3">
                  <c:v>28.84165832946976</c:v>
                </c:pt>
                <c:pt idx="4">
                  <c:v>23.872484343931767</c:v>
                </c:pt>
                <c:pt idx="5">
                  <c:v>26.661513833890737</c:v>
                </c:pt>
                <c:pt idx="6">
                  <c:v>28.69276541560118</c:v>
                </c:pt>
                <c:pt idx="7">
                  <c:v>31.217752868097847</c:v>
                </c:pt>
                <c:pt idx="8">
                  <c:v>20.448160630505157</c:v>
                </c:pt>
                <c:pt idx="9">
                  <c:v>24.19199166310072</c:v>
                </c:pt>
                <c:pt idx="10">
                  <c:v>24.264588446925124</c:v>
                </c:pt>
                <c:pt idx="11">
                  <c:v>23.269287647124738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Fresh</c:v>
                </c:pt>
              </c:strCache>
            </c:strRef>
          </c:tx>
          <c:spPr>
            <a:solidFill>
              <a:srgbClr val="3D85C6"/>
            </a:solidFill>
          </c:spPr>
          <c:invertIfNegative val="0"/>
          <c:xVal>
            <c:numRef>
              <c:numCache>
                <c:formatCode>General</c:formatCode>
                <c:ptCount val="1"/>
                <c:pt idx="0">
                  <c:v>125.22757721498697</c:v>
                </c:pt>
              </c:numCache>
            </c:numRef>
          </c:xVal>
          <c:yVal>
            <c:numRef>
              <c:numCache>
                <c:formatCode>General</c:formatCode>
                <c:ptCount val="1"/>
                <c:pt idx="0">
                  <c:v>154.13316836096257</c:v>
                </c:pt>
              </c:numCache>
            </c:numRef>
          </c:yVal>
          <c:bubbleSize>
            <c:numRef>
              <c:numCache>
                <c:formatCode>General</c:formatCode>
                <c:ptCount val="1"/>
                <c:pt idx="0">
                  <c:v>2894.855</c:v>
                </c:pt>
              </c:numCache>
            </c:numRef>
          </c:bubbleSize>
          <c:bubble3D val="0"/>
        </c:ser>
        <c:ser>
          <c:idx val="1"/>
          <c:order val="1"/>
          <c:tx>
            <c:strRef>
              <c:strCache>
                <c:ptCount val="1"/>
                <c:pt idx="0">
                  <c:v>Frozen</c:v>
                </c:pt>
              </c:strCache>
            </c:strRef>
          </c:tx>
          <c:spPr>
            <a:solidFill>
              <a:srgbClr val="9E7E0A"/>
            </a:solidFill>
          </c:spPr>
          <c:invertIfNegative val="0"/>
          <c:xVal>
            <c:numRef>
              <c:numCache>
                <c:formatCode>General</c:formatCode>
                <c:ptCount val="1"/>
                <c:pt idx="0">
                  <c:v>99.40653339140266</c:v>
                </c:pt>
              </c:numCache>
            </c:numRef>
          </c:xVal>
          <c:yVal>
            <c:numRef>
              <c:numCache>
                <c:formatCode>General</c:formatCode>
                <c:ptCount val="1"/>
                <c:pt idx="0">
                  <c:v>31.23515484933713</c:v>
                </c:pt>
              </c:numCache>
            </c:numRef>
          </c:yVal>
          <c:bubbleSize>
            <c:numRef>
              <c:numCache>
                <c:formatCode>General</c:formatCode>
                <c:ptCount val="1"/>
                <c:pt idx="0">
                  <c:v>514.636</c:v>
                </c:pt>
              </c:numCache>
            </c:numRef>
          </c:bubbleSize>
          <c:bubble3D val="0"/>
        </c:ser>
        <c:ser>
          <c:idx val="2"/>
          <c:order val="2"/>
          <c:tx>
            <c:strRef>
              <c:strCache>
                <c:ptCount val="1"/>
                <c:pt idx="0">
                  <c:v>Canned</c:v>
                </c:pt>
              </c:strCache>
            </c:strRef>
          </c:tx>
          <c:spPr>
            <a:solidFill>
              <a:srgbClr val="008189"/>
            </a:solidFill>
          </c:spPr>
          <c:invertIfNegative val="0"/>
          <c:xVal>
            <c:numRef>
              <c:numCache>
                <c:formatCode>General</c:formatCode>
                <c:ptCount val="1"/>
                <c:pt idx="0">
                  <c:v>93.82742885694529</c:v>
                </c:pt>
              </c:numCache>
            </c:numRef>
          </c:xVal>
          <c:yVal>
            <c:numRef>
              <c:numCache>
                <c:formatCode>General</c:formatCode>
                <c:ptCount val="1"/>
                <c:pt idx="0">
                  <c:v>99.35910583885207</c:v>
                </c:pt>
              </c:numCache>
            </c:numRef>
          </c:yVal>
          <c:bubbleSize>
            <c:numRef>
              <c:numCache>
                <c:formatCode>General</c:formatCode>
                <c:ptCount val="1"/>
                <c:pt idx="0">
                  <c:v>1591.025</c:v>
                </c:pt>
              </c:numCache>
            </c:numRef>
          </c:bubbleSize>
          <c:bubble3D val="0"/>
        </c:ser>
        <c:ser>
          <c:idx val="3"/>
          <c:order val="3"/>
          <c:tx>
            <c:strRef>
              <c:strCache>
                <c:ptCount val="1"/>
                <c:pt idx="0">
                  <c:v>Pasteurized</c:v>
                </c:pt>
              </c:strCache>
            </c:strRef>
          </c:tx>
          <c:spPr>
            <a:solidFill>
              <a:srgbClr val="40315E"/>
            </a:solidFill>
          </c:spPr>
          <c:invertIfNegative val="0"/>
          <c:xVal>
            <c:numRef>
              <c:numCache>
                <c:formatCode>General</c:formatCode>
                <c:ptCount val="1"/>
                <c:pt idx="0">
                  <c:v>67.30161752971429</c:v>
                </c:pt>
              </c:numCache>
            </c:numRef>
          </c:xVal>
          <c:yVal>
            <c:numRef>
              <c:numCache>
                <c:formatCode>General</c:formatCode>
                <c:ptCount val="1"/>
                <c:pt idx="0">
                  <c:v>115.27257095084826</c:v>
                </c:pt>
              </c:numCache>
            </c:numRef>
          </c:yVal>
          <c:bubbleSize>
            <c:numRef>
              <c:numCache>
                <c:formatCode>General</c:formatCode>
                <c:ptCount val="1"/>
                <c:pt idx="0">
                  <c:v>1609.95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1508.578</c:v>
                </c:pt>
                <c:pt idx="2">
                  <c:v>1725.35</c:v>
                </c:pt>
                <c:pt idx="3">
                  <c:v>1968.956</c:v>
                </c:pt>
                <c:pt idx="4">
                  <c:v>2242.62</c:v>
                </c:pt>
                <c:pt idx="5">
                  <c:v>2549.919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1508.578</c:v>
                </c:pt>
                <c:pt idx="1">
                  <c:v>216.77199999999993</c:v>
                </c:pt>
                <c:pt idx="2">
                  <c:v>243.606</c:v>
                </c:pt>
                <c:pt idx="3">
                  <c:v>273.664</c:v>
                </c:pt>
                <c:pt idx="4">
                  <c:v>307.299</c:v>
                </c:pt>
                <c:pt idx="5">
                  <c:v>344.93600000000015</c:v>
                </c:pt>
                <c:pt idx="6">
                  <c:v>2894.855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305.714</c:v>
                </c:pt>
                <c:pt idx="2">
                  <c:v>339.274</c:v>
                </c:pt>
                <c:pt idx="3">
                  <c:v>376.522</c:v>
                </c:pt>
                <c:pt idx="4">
                  <c:v>417.861</c:v>
                </c:pt>
                <c:pt idx="5">
                  <c:v>463.734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305.714</c:v>
                </c:pt>
                <c:pt idx="1">
                  <c:v>33.56</c:v>
                </c:pt>
                <c:pt idx="2">
                  <c:v>37.24799999999999</c:v>
                </c:pt>
                <c:pt idx="3">
                  <c:v>41.339</c:v>
                </c:pt>
                <c:pt idx="4">
                  <c:v>45.87299999999999</c:v>
                </c:pt>
                <c:pt idx="5">
                  <c:v>50.90199999999999</c:v>
                </c:pt>
                <c:pt idx="6">
                  <c:v>514.636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972.477</c:v>
                </c:pt>
                <c:pt idx="2">
                  <c:v>1072.608</c:v>
                </c:pt>
                <c:pt idx="3">
                  <c:v>1183.341</c:v>
                </c:pt>
                <c:pt idx="4">
                  <c:v>1305.803</c:v>
                </c:pt>
                <c:pt idx="5">
                  <c:v>1441.241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972.477</c:v>
                </c:pt>
                <c:pt idx="1">
                  <c:v>100.13099999999997</c:v>
                </c:pt>
                <c:pt idx="2">
                  <c:v>110.73299999999995</c:v>
                </c:pt>
                <c:pt idx="3">
                  <c:v>122.46200000000022</c:v>
                </c:pt>
                <c:pt idx="4">
                  <c:v>135.43799999999987</c:v>
                </c:pt>
                <c:pt idx="5">
                  <c:v>149.7840000000001</c:v>
                </c:pt>
                <c:pt idx="6">
                  <c:v>1591.025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1128.23</c:v>
                </c:pt>
                <c:pt idx="2">
                  <c:v>1209.701</c:v>
                </c:pt>
                <c:pt idx="3">
                  <c:v>1298.021</c:v>
                </c:pt>
                <c:pt idx="4">
                  <c:v>1393.75</c:v>
                </c:pt>
                <c:pt idx="5">
                  <c:v>1497.504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1128.23</c:v>
                </c:pt>
                <c:pt idx="1">
                  <c:v>81.471</c:v>
                </c:pt>
                <c:pt idx="2">
                  <c:v>88.31999999999994</c:v>
                </c:pt>
                <c:pt idx="3">
                  <c:v>95.72900000000004</c:v>
                </c:pt>
                <c:pt idx="4">
                  <c:v>103.7539999999999</c:v>
                </c:pt>
                <c:pt idx="5">
                  <c:v>112.44600000000014</c:v>
                </c:pt>
                <c:pt idx="6">
                  <c:v>1609.95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Fresh</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35.3536054874327</c:v>
                </c:pt>
                <c:pt idx="1">
                  <c:v>38.53329209024064</c:v>
                </c:pt>
                <c:pt idx="2">
                  <c:v>43.79199590467601</c:v>
                </c:pt>
              </c:numCache>
            </c:numRef>
          </c:val>
        </c:ser>
        <c:ser>
          <c:idx val="1"/>
          <c:order val="1"/>
          <c:tx>
            <c:strRef>
              <c:strCache>
                <c:ptCount val="1"/>
                <c:pt idx="0">
                  <c:v>Pasteurized</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31.550348293089364</c:v>
                </c:pt>
                <c:pt idx="1">
                  <c:v>28.818142737712066</c:v>
                </c:pt>
                <c:pt idx="2">
                  <c:v>24.354561387956615</c:v>
                </c:pt>
              </c:numCache>
            </c:numRef>
          </c:val>
        </c:ser>
        <c:ser>
          <c:idx val="2"/>
          <c:order val="2"/>
          <c:tx>
            <c:strRef>
              <c:strCache>
                <c:ptCount val="1"/>
                <c:pt idx="0">
                  <c:v>Canned</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25.279845504484054</c:v>
                </c:pt>
                <c:pt idx="1">
                  <c:v>24.83977645971302</c:v>
                </c:pt>
                <c:pt idx="2">
                  <c:v>24.068272947777057</c:v>
                </c:pt>
              </c:numCache>
            </c:numRef>
          </c:val>
        </c:ser>
        <c:ser>
          <c:idx val="3"/>
          <c:order val="3"/>
          <c:tx>
            <c:strRef>
              <c:strCache>
                <c:ptCount val="1"/>
                <c:pt idx="0">
                  <c:v>Frozen</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7.816200714993881</c:v>
                </c:pt>
                <c:pt idx="1">
                  <c:v>7.808788712334282</c:v>
                </c:pt>
                <c:pt idx="2">
                  <c:v>7.785169759590321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Organic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65.1265510126987</c:v>
                </c:pt>
                <c:pt idx="1">
                  <c:v>59.94370856510197</c:v>
                </c:pt>
                <c:pt idx="2">
                  <c:v>53.412762409421774</c:v>
                </c:pt>
                <c:pt idx="3">
                  <c:v>58.4607501037066</c:v>
                </c:pt>
                <c:pt idx="4">
                  <c:v>61.36946462750637</c:v>
                </c:pt>
                <c:pt idx="5">
                  <c:v>58.103806380476875</c:v>
                </c:pt>
                <c:pt idx="6">
                  <c:v>57.584577227553055</c:v>
                </c:pt>
                <c:pt idx="7">
                  <c:v>55.36389939906521</c:v>
                </c:pt>
                <c:pt idx="8">
                  <c:v>62.19821173070434</c:v>
                </c:pt>
                <c:pt idx="9">
                  <c:v>60.9511570552495</c:v>
                </c:pt>
                <c:pt idx="10">
                  <c:v>61.53353115228136</c:v>
                </c:pt>
                <c:pt idx="11">
                  <c:v>54.038589072124424</c:v>
                </c:pt>
              </c:numCache>
            </c:numRef>
          </c:val>
        </c:ser>
        <c:ser>
          <c:idx val="1"/>
          <c:order val="1"/>
          <c:tx>
            <c:strRef>
              <c:strCache>
                <c:ptCount val="1"/>
                <c:pt idx="0">
                  <c:v>Sustainably Sourced</c:v>
                </c:pt>
              </c:strCache>
            </c:strRef>
          </c:tx>
          <c:spPr>
            <a:solidFill>
              <a:srgbClr val="9E7E0A"/>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9.92357539302008</c:v>
                </c:pt>
                <c:pt idx="1">
                  <c:v>10.878786666133097</c:v>
                </c:pt>
                <c:pt idx="2">
                  <c:v>11.840308061941514</c:v>
                </c:pt>
                <c:pt idx="3">
                  <c:v>8.910470705936898</c:v>
                </c:pt>
                <c:pt idx="4">
                  <c:v>6.546745210265178</c:v>
                </c:pt>
                <c:pt idx="5">
                  <c:v>9.024173135181272</c:v>
                </c:pt>
                <c:pt idx="6">
                  <c:v>10.922364909064832</c:v>
                </c:pt>
                <c:pt idx="7">
                  <c:v>11.66258624527042</c:v>
                </c:pt>
                <c:pt idx="8">
                  <c:v>8.526840676709242</c:v>
                </c:pt>
                <c:pt idx="9">
                  <c:v>9.147236174799508</c:v>
                </c:pt>
                <c:pt idx="10">
                  <c:v>9.53628828889412</c:v>
                </c:pt>
                <c:pt idx="11">
                  <c:v>8.2377363135183</c:v>
                </c:pt>
              </c:numCache>
            </c:numRef>
          </c:val>
        </c:ser>
        <c:ser>
          <c:idx val="2"/>
          <c:order val="2"/>
          <c:tx>
            <c:strRef>
              <c:strCache>
                <c:ptCount val="1"/>
                <c:pt idx="0">
                  <c:v>100% Pure Crab Meat</c:v>
                </c:pt>
              </c:strCache>
            </c:strRef>
          </c:tx>
          <c:spPr>
            <a:solidFill>
              <a:srgbClr val="008189"/>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3.975241914392817</c:v>
                </c:pt>
                <c:pt idx="1">
                  <c:v>4.513986153907719</c:v>
                </c:pt>
                <c:pt idx="2">
                  <c:v>5.777258490079594</c:v>
                </c:pt>
                <c:pt idx="3">
                  <c:v>5.0276957614504285</c:v>
                </c:pt>
                <c:pt idx="4">
                  <c:v>5.078698455763478</c:v>
                </c:pt>
                <c:pt idx="5">
                  <c:v>5.085919212862057</c:v>
                </c:pt>
                <c:pt idx="6">
                  <c:v>5.804528742789379</c:v>
                </c:pt>
                <c:pt idx="7">
                  <c:v>4.801661169900654</c:v>
                </c:pt>
                <c:pt idx="8">
                  <c:v>4.529616724738676</c:v>
                </c:pt>
                <c:pt idx="9">
                  <c:v>5.168580580802184</c:v>
                </c:pt>
                <c:pt idx="10">
                  <c:v>4.178259809690327</c:v>
                </c:pt>
                <c:pt idx="11">
                  <c:v>5.359813796612848</c:v>
                </c:pt>
              </c:numCache>
            </c:numRef>
          </c:val>
        </c:ser>
        <c:ser>
          <c:idx val="3"/>
          <c:order val="3"/>
          <c:tx>
            <c:strRef>
              <c:strCache>
                <c:ptCount val="1"/>
                <c:pt idx="0">
                  <c:v>High Protein / Omega-3 Rich</c:v>
                </c:pt>
              </c:strCache>
            </c:strRef>
          </c:tx>
          <c:spPr>
            <a:solidFill>
              <a:srgbClr val="40315E"/>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11.832737628221894</c:v>
                </c:pt>
                <c:pt idx="1">
                  <c:v>14.440353755652485</c:v>
                </c:pt>
                <c:pt idx="2">
                  <c:v>15.440946566392943</c:v>
                </c:pt>
                <c:pt idx="3">
                  <c:v>10.968497596447136</c:v>
                </c:pt>
                <c:pt idx="4">
                  <c:v>13.950160741828183</c:v>
                </c:pt>
                <c:pt idx="5">
                  <c:v>17.282381341372734</c:v>
                </c:pt>
                <c:pt idx="6">
                  <c:v>12.923673228084784</c:v>
                </c:pt>
                <c:pt idx="7">
                  <c:v>15.481911255893005</c:v>
                </c:pt>
                <c:pt idx="8">
                  <c:v>12.082226162351276</c:v>
                </c:pt>
                <c:pt idx="9">
                  <c:v>12.454863168750666</c:v>
                </c:pt>
                <c:pt idx="10">
                  <c:v>12.923237281866784</c:v>
                </c:pt>
                <c:pt idx="11">
                  <c:v>15.509368036432376</c:v>
                </c:pt>
              </c:numCache>
            </c:numRef>
          </c:val>
        </c:ser>
        <c:ser>
          <c:idx val="4"/>
          <c:order val="4"/>
          <c:tx>
            <c:strRef>
              <c:strCache>
                <c:ptCount val="1"/>
                <c:pt idx="0">
                  <c:v>Freshly Pasteurized for Extended Shelf Life</c:v>
                </c:pt>
              </c:strCache>
            </c:strRef>
          </c:tx>
          <c:spPr>
            <a:solidFill>
              <a:srgbClr val="A35313"/>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4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4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4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5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5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9.141894051666522</c:v>
                </c:pt>
                <c:pt idx="1">
                  <c:v>10.223164859204715</c:v>
                </c:pt>
                <c:pt idx="2">
                  <c:v>13.528724472164166</c:v>
                </c:pt>
                <c:pt idx="3">
                  <c:v>16.63258583245895</c:v>
                </c:pt>
                <c:pt idx="4">
                  <c:v>13.0549309646368</c:v>
                </c:pt>
                <c:pt idx="5">
                  <c:v>10.503719930107074</c:v>
                </c:pt>
                <c:pt idx="6">
                  <c:v>12.764855892507951</c:v>
                </c:pt>
                <c:pt idx="7">
                  <c:v>12.689941929870708</c:v>
                </c:pt>
                <c:pt idx="8">
                  <c:v>12.663104705496481</c:v>
                </c:pt>
                <c:pt idx="9">
                  <c:v>12.278163020398134</c:v>
                </c:pt>
                <c:pt idx="10">
                  <c:v>11.828683467267409</c:v>
                </c:pt>
                <c:pt idx="11">
                  <c:v>16.854492781312057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Organic</c:v>
                </c:pt>
              </c:strCache>
            </c:strRef>
          </c:tx>
          <c:spPr>
            <a:solidFill>
              <a:srgbClr val="3D85C6"/>
            </a:solidFill>
          </c:spPr>
          <c:invertIfNegative val="0"/>
          <c:xVal>
            <c:numRef>
              <c:numCache>
                <c:formatCode>General</c:formatCode>
                <c:ptCount val="1"/>
                <c:pt idx="0">
                  <c:v>133.52588868420395</c:v>
                </c:pt>
              </c:numCache>
            </c:numRef>
          </c:xVal>
          <c:yVal>
            <c:numRef>
              <c:numCache>
                <c:formatCode>General</c:formatCode>
                <c:ptCount val="1"/>
                <c:pt idx="0">
                  <c:v>242.30018960413534</c:v>
                </c:pt>
              </c:numCache>
            </c:numRef>
          </c:yVal>
          <c:bubbleSize>
            <c:numRef>
              <c:numCache>
                <c:formatCode>General</c:formatCode>
                <c:ptCount val="1"/>
                <c:pt idx="0">
                  <c:v>3795.732</c:v>
                </c:pt>
              </c:numCache>
            </c:numRef>
          </c:bubbleSize>
          <c:bubble3D val="0"/>
        </c:ser>
        <c:ser>
          <c:idx val="1"/>
          <c:order val="1"/>
          <c:tx>
            <c:strRef>
              <c:strCache>
                <c:ptCount val="1"/>
                <c:pt idx="0">
                  <c:v>Sustainably Sourced</c:v>
                </c:pt>
              </c:strCache>
            </c:strRef>
          </c:tx>
          <c:spPr>
            <a:solidFill>
              <a:srgbClr val="9E7E0A"/>
            </a:solidFill>
          </c:spPr>
          <c:invertIfNegative val="0"/>
          <c:xVal>
            <c:numRef>
              <c:numCache>
                <c:formatCode>General</c:formatCode>
                <c:ptCount val="1"/>
                <c:pt idx="0">
                  <c:v>23.44924801871507</c:v>
                </c:pt>
              </c:numCache>
            </c:numRef>
          </c:xVal>
          <c:yVal>
            <c:numRef>
              <c:numCache>
                <c:formatCode>General</c:formatCode>
                <c:ptCount val="1"/>
                <c:pt idx="0">
                  <c:v>67.33820366237643</c:v>
                </c:pt>
              </c:numCache>
            </c:numRef>
          </c:yVal>
          <c:bubbleSize>
            <c:numRef>
              <c:numCache>
                <c:formatCode>General</c:formatCode>
                <c:ptCount val="1"/>
                <c:pt idx="0">
                  <c:v>597.654</c:v>
                </c:pt>
              </c:numCache>
            </c:numRef>
          </c:bubbleSize>
          <c:bubble3D val="0"/>
        </c:ser>
        <c:ser>
          <c:idx val="2"/>
          <c:order val="2"/>
          <c:tx>
            <c:strRef>
              <c:strCache>
                <c:ptCount val="1"/>
                <c:pt idx="0">
                  <c:v>100% Pure Crab Meat</c:v>
                </c:pt>
              </c:strCache>
            </c:strRef>
          </c:tx>
          <c:spPr>
            <a:solidFill>
              <a:srgbClr val="008189"/>
            </a:solidFill>
          </c:spPr>
          <c:invertIfNegative val="0"/>
          <c:xVal>
            <c:numRef>
              <c:numCache>
                <c:formatCode>General</c:formatCode>
                <c:ptCount val="1"/>
                <c:pt idx="0">
                  <c:v>58.77104321700103</c:v>
                </c:pt>
              </c:numCache>
            </c:numRef>
          </c:xVal>
          <c:yVal>
            <c:numRef>
              <c:numCache>
                <c:formatCode>General</c:formatCode>
                <c:ptCount val="1"/>
                <c:pt idx="0">
                  <c:v>31.223635050736924</c:v>
                </c:pt>
              </c:numCache>
            </c:numRef>
          </c:yVal>
          <c:bubbleSize>
            <c:numRef>
              <c:numCache>
                <c:formatCode>General</c:formatCode>
                <c:ptCount val="1"/>
                <c:pt idx="0">
                  <c:v>333.725</c:v>
                </c:pt>
              </c:numCache>
            </c:numRef>
          </c:bubbleSize>
          <c:bubble3D val="0"/>
        </c:ser>
        <c:ser>
          <c:idx val="3"/>
          <c:order val="3"/>
          <c:tx>
            <c:strRef>
              <c:strCache>
                <c:ptCount val="1"/>
                <c:pt idx="0">
                  <c:v>High Protein / Omega-3 Rich</c:v>
                </c:pt>
              </c:strCache>
            </c:strRef>
          </c:tx>
          <c:spPr>
            <a:solidFill>
              <a:srgbClr val="40315E"/>
            </a:solidFill>
          </c:spPr>
          <c:invertIfNegative val="0"/>
          <c:xVal>
            <c:numRef>
              <c:numCache>
                <c:formatCode>General</c:formatCode>
                <c:ptCount val="1"/>
                <c:pt idx="0">
                  <c:v>109.72764762736658</c:v>
                </c:pt>
              </c:numCache>
            </c:numRef>
          </c:xVal>
          <c:yVal>
            <c:numRef>
              <c:numCache>
                <c:formatCode>General</c:formatCode>
                <c:ptCount val="1"/>
                <c:pt idx="0">
                  <c:v>67.95225235051147</c:v>
                </c:pt>
              </c:numCache>
            </c:numRef>
          </c:yVal>
          <c:bubbleSize>
            <c:numRef>
              <c:numCache>
                <c:formatCode>General</c:formatCode>
                <c:ptCount val="1"/>
                <c:pt idx="0">
                  <c:v>944.003</c:v>
                </c:pt>
              </c:numCache>
            </c:numRef>
          </c:bubbleSize>
          <c:bubble3D val="0"/>
        </c:ser>
        <c:ser>
          <c:idx val="4"/>
          <c:order val="4"/>
          <c:tx>
            <c:strRef>
              <c:strCache>
                <c:ptCount val="1"/>
                <c:pt idx="0">
                  <c:v>Freshly Pasteurized for Extended Shelf Life</c:v>
                </c:pt>
              </c:strCache>
            </c:strRef>
          </c:tx>
          <c:spPr>
            <a:solidFill>
              <a:srgbClr val="A35313"/>
            </a:solidFill>
          </c:spPr>
          <c:invertIfNegative val="0"/>
          <c:xVal>
            <c:numRef>
              <c:numCache>
                <c:formatCode>General</c:formatCode>
                <c:ptCount val="1"/>
                <c:pt idx="0">
                  <c:v>51.7155215760734</c:v>
                </c:pt>
              </c:numCache>
            </c:numRef>
          </c:xVal>
          <c:yVal>
            <c:numRef>
              <c:numCache>
                <c:formatCode>General</c:formatCode>
                <c:ptCount val="1"/>
                <c:pt idx="0">
                  <c:v>91.18571933223996</c:v>
                </c:pt>
              </c:numCache>
            </c:numRef>
          </c:yVal>
          <c:bubbleSize>
            <c:numRef>
              <c:numCache>
                <c:formatCode>General</c:formatCode>
                <c:ptCount val="1"/>
                <c:pt idx="0">
                  <c:v>939.352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1897.21</c:v>
                </c:pt>
                <c:pt idx="2">
                  <c:v>2189.681</c:v>
                </c:pt>
                <c:pt idx="3">
                  <c:v>2520.668</c:v>
                </c:pt>
                <c:pt idx="4">
                  <c:v>2894.981</c:v>
                </c:pt>
                <c:pt idx="5">
                  <c:v>3317.995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1897.21</c:v>
                </c:pt>
                <c:pt idx="1">
                  <c:v>292.471</c:v>
                </c:pt>
                <c:pt idx="2">
                  <c:v>330.9870000000001</c:v>
                </c:pt>
                <c:pt idx="3">
                  <c:v>374.3130000000001</c:v>
                </c:pt>
                <c:pt idx="4">
                  <c:v>423.01399999999967</c:v>
                </c:pt>
                <c:pt idx="5">
                  <c:v>477.7370000000001</c:v>
                </c:pt>
                <c:pt idx="6">
                  <c:v>3795.732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527.258</c:v>
                </c:pt>
                <c:pt idx="2">
                  <c:v>544.223</c:v>
                </c:pt>
                <c:pt idx="3">
                  <c:v>560.15</c:v>
                </c:pt>
                <c:pt idx="4">
                  <c:v>574.665</c:v>
                </c:pt>
                <c:pt idx="5">
                  <c:v>587.337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527.258</c:v>
                </c:pt>
                <c:pt idx="1">
                  <c:v>16.964999999999918</c:v>
                </c:pt>
                <c:pt idx="2">
                  <c:v>15.927000000000021</c:v>
                </c:pt>
                <c:pt idx="3">
                  <c:v>14.514999999999986</c:v>
                </c:pt>
                <c:pt idx="4">
                  <c:v>12.672000000000025</c:v>
                </c:pt>
                <c:pt idx="5">
                  <c:v>10.317000000000007</c:v>
                </c:pt>
                <c:pt idx="6">
                  <c:v>597.654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244.481</c:v>
                </c:pt>
                <c:pt idx="2">
                  <c:v>260.383</c:v>
                </c:pt>
                <c:pt idx="3">
                  <c:v>277.228</c:v>
                </c:pt>
                <c:pt idx="4">
                  <c:v>295.053</c:v>
                </c:pt>
                <c:pt idx="5">
                  <c:v>313.878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244.481</c:v>
                </c:pt>
                <c:pt idx="1">
                  <c:v>15.901999999999987</c:v>
                </c:pt>
                <c:pt idx="2">
                  <c:v>16.845000000000027</c:v>
                </c:pt>
                <c:pt idx="3">
                  <c:v>17.82499999999999</c:v>
                </c:pt>
                <c:pt idx="4">
                  <c:v>18.82499999999999</c:v>
                </c:pt>
                <c:pt idx="5">
                  <c:v>19.847000000000037</c:v>
                </c:pt>
                <c:pt idx="6">
                  <c:v>333.725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532.066</c:v>
                </c:pt>
                <c:pt idx="2">
                  <c:v>596.996</c:v>
                </c:pt>
                <c:pt idx="3">
                  <c:v>669.691</c:v>
                </c:pt>
                <c:pt idx="4">
                  <c:v>751.058</c:v>
                </c:pt>
                <c:pt idx="5">
                  <c:v>842.115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532.066</c:v>
                </c:pt>
                <c:pt idx="1">
                  <c:v>64.92999999999995</c:v>
                </c:pt>
                <c:pt idx="2">
                  <c:v>72.69500000000005</c:v>
                </c:pt>
                <c:pt idx="3">
                  <c:v>81.36699999999996</c:v>
                </c:pt>
                <c:pt idx="4">
                  <c:v>91.05700000000002</c:v>
                </c:pt>
                <c:pt idx="5">
                  <c:v>101.88800000000003</c:v>
                </c:pt>
                <c:pt idx="6">
                  <c:v>944.003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713.984</c:v>
                </c:pt>
                <c:pt idx="2">
                  <c:v>755.65</c:v>
                </c:pt>
                <c:pt idx="3">
                  <c:v>799.103</c:v>
                </c:pt>
                <c:pt idx="4">
                  <c:v>844.277</c:v>
                </c:pt>
                <c:pt idx="5">
                  <c:v>891.073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713.984</c:v>
                </c:pt>
                <c:pt idx="1">
                  <c:v>41.66599999999994</c:v>
                </c:pt>
                <c:pt idx="2">
                  <c:v>43.452999999999975</c:v>
                </c:pt>
                <c:pt idx="3">
                  <c:v>45.17400000000009</c:v>
                </c:pt>
                <c:pt idx="4">
                  <c:v>46.795999999999935</c:v>
                </c:pt>
                <c:pt idx="5">
                  <c:v>48.278999999999996</c:v>
                </c:pt>
                <c:pt idx="6">
                  <c:v>939.352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43.37135438700739</c:v>
                </c:pt>
                <c:pt idx="1">
                  <c:v>48.46003792082706</c:v>
                </c:pt>
                <c:pt idx="2">
                  <c:v>57.420036650971355</c:v>
                </c:pt>
              </c:numCache>
            </c:numRef>
          </c:val>
        </c:ser>
        <c:ser>
          <c:idx val="1"/>
          <c:order val="1"/>
          <c:tx>
            <c:strRef>
              <c:strCache>
                <c:ptCount val="1"/>
                <c:pt idx="0">
                  <c:v>High Protein / Omega-3 Rich</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13.218957994916892</c:v>
                </c:pt>
                <c:pt idx="1">
                  <c:v>13.590450470102292</c:v>
                </c:pt>
                <c:pt idx="2">
                  <c:v>14.280430456793816</c:v>
                </c:pt>
              </c:numCache>
            </c:numRef>
          </c:val>
        </c:ser>
        <c:ser>
          <c:idx val="2"/>
          <c:order val="2"/>
          <c:tx>
            <c:strRef>
              <c:strCache>
                <c:ptCount val="1"/>
                <c:pt idx="0">
                  <c:v>Freshly Pasteurized for Extended Shelf Life</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20.492971164497035</c:v>
                </c:pt>
                <c:pt idx="1">
                  <c:v>18.237143866447987</c:v>
                </c:pt>
                <c:pt idx="2">
                  <c:v>14.210072330755501</c:v>
                </c:pt>
              </c:numCache>
            </c:numRef>
          </c:val>
        </c:ser>
        <c:ser>
          <c:idx val="3"/>
          <c:order val="3"/>
          <c:tx>
            <c:strRef>
              <c:strCache>
                <c:ptCount val="1"/>
                <c:pt idx="0">
                  <c:v>Sustainably Sourced</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15.996357212751047</c:v>
                </c:pt>
                <c:pt idx="1">
                  <c:v>13.467640732475283</c:v>
                </c:pt>
                <c:pt idx="2">
                  <c:v>9.041026759686835</c:v>
                </c:pt>
              </c:numCache>
            </c:numRef>
          </c:val>
        </c:ser>
        <c:ser>
          <c:idx val="4"/>
          <c:order val="4"/>
          <c:tx>
            <c:strRef>
              <c:strCache>
                <c:ptCount val="1"/>
                <c:pt idx="0">
                  <c:v>100% Pure Crab Meat</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6.9203592408276355</c:v>
                </c:pt>
                <c:pt idx="1">
                  <c:v>6.244727010147385</c:v>
                </c:pt>
                <c:pt idx="2">
                  <c:v>5.048433801792491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Industrial / B2B processing</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6.145933222909947</c:v>
                </c:pt>
                <c:pt idx="1">
                  <c:v>4.9648512011951915</c:v>
                </c:pt>
                <c:pt idx="2">
                  <c:v>6.560029840757867</c:v>
                </c:pt>
                <c:pt idx="3">
                  <c:v>6.396622825211683</c:v>
                </c:pt>
                <c:pt idx="4">
                  <c:v>6.736755059186442</c:v>
                </c:pt>
                <c:pt idx="5">
                  <c:v>6.159588847902297</c:v>
                </c:pt>
                <c:pt idx="6">
                  <c:v>5.133228154745456</c:v>
                </c:pt>
                <c:pt idx="7">
                  <c:v>6.098881087752666</c:v>
                </c:pt>
                <c:pt idx="8">
                  <c:v>5.791197455923107</c:v>
                </c:pt>
                <c:pt idx="9">
                  <c:v>4.65602866079106</c:v>
                </c:pt>
                <c:pt idx="10">
                  <c:v>5.534447395850845</c:v>
                </c:pt>
                <c:pt idx="11">
                  <c:v>5.165013015499191</c:v>
                </c:pt>
              </c:numCache>
            </c:numRef>
          </c:val>
        </c:ser>
        <c:ser>
          <c:idx val="1"/>
          <c:order val="1"/>
          <c:tx>
            <c:strRef>
              <c:strCache>
                <c:ptCount val="1"/>
                <c:pt idx="0">
                  <c:v>Food Service</c:v>
                </c:pt>
              </c:strCache>
            </c:strRef>
          </c:tx>
          <c:spPr>
            <a:solidFill>
              <a:srgbClr val="9E7E0A"/>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32.20875831807747</c:v>
                </c:pt>
                <c:pt idx="1">
                  <c:v>33.83155254978857</c:v>
                </c:pt>
                <c:pt idx="2">
                  <c:v>31.3596743846715</c:v>
                </c:pt>
                <c:pt idx="3">
                  <c:v>31.734706327322414</c:v>
                </c:pt>
                <c:pt idx="4">
                  <c:v>32.06938843773809</c:v>
                </c:pt>
                <c:pt idx="5">
                  <c:v>33.87865445127826</c:v>
                </c:pt>
                <c:pt idx="6">
                  <c:v>31.57946288956599</c:v>
                </c:pt>
                <c:pt idx="7">
                  <c:v>32.44921392873763</c:v>
                </c:pt>
                <c:pt idx="8">
                  <c:v>32.06097798650955</c:v>
                </c:pt>
                <c:pt idx="9">
                  <c:v>34.51079436773339</c:v>
                </c:pt>
                <c:pt idx="10">
                  <c:v>32.31576359234726</c:v>
                </c:pt>
                <c:pt idx="11">
                  <c:v>29.640985320133517</c:v>
                </c:pt>
              </c:numCache>
            </c:numRef>
          </c:val>
        </c:ser>
        <c:ser>
          <c:idx val="2"/>
          <c:order val="2"/>
          <c:tx>
            <c:strRef>
              <c:strCache>
                <c:ptCount val="1"/>
                <c:pt idx="0">
                  <c:v>Retail</c:v>
                </c:pt>
              </c:strCache>
            </c:strRef>
          </c:tx>
          <c:spPr>
            <a:solidFill>
              <a:srgbClr val="008189"/>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8"/>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9"/>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1"/>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55.93525702496148</c:v>
                </c:pt>
                <c:pt idx="1">
                  <c:v>54.46596502461083</c:v>
                </c:pt>
                <c:pt idx="2">
                  <c:v>55.87188221677336</c:v>
                </c:pt>
                <c:pt idx="3">
                  <c:v>54.66630877723823</c:v>
                </c:pt>
                <c:pt idx="4">
                  <c:v>54.12725549588389</c:v>
                </c:pt>
                <c:pt idx="5">
                  <c:v>54.6677704962471</c:v>
                </c:pt>
                <c:pt idx="6">
                  <c:v>58.22124584153949</c:v>
                </c:pt>
                <c:pt idx="7">
                  <c:v>55.91804423041904</c:v>
                </c:pt>
                <c:pt idx="8">
                  <c:v>56.670120881680454</c:v>
                </c:pt>
                <c:pt idx="9">
                  <c:v>54.643947176239834</c:v>
                </c:pt>
                <c:pt idx="10">
                  <c:v>56.73260398103628</c:v>
                </c:pt>
                <c:pt idx="11">
                  <c:v>57.67425796958212</c:v>
                </c:pt>
              </c:numCache>
            </c:numRef>
          </c:val>
        </c:ser>
        <c:ser>
          <c:idx val="3"/>
          <c:order val="3"/>
          <c:tx>
            <c:strRef>
              <c:strCache>
                <c:ptCount val="1"/>
                <c:pt idx="0">
                  <c:v>Travel Retail</c:v>
                </c:pt>
              </c:strCache>
            </c:strRef>
          </c:tx>
          <c:spPr>
            <a:solidFill>
              <a:srgbClr val="40315E"/>
            </a:solidFill>
            <a:ln>
              <a:noFill/>
            </a:ln>
          </c:spPr>
          <c:dLbls>
            <c:dLbl>
              <c:idx val="0"/>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2"/>
                <c:pt idx="0">
                  <c:v>Rest of Europe</c:v>
                </c:pt>
                <c:pt idx="1">
                  <c:v>Switzerland</c:v>
                </c:pt>
                <c:pt idx="2">
                  <c:v>Poland</c:v>
                </c:pt>
                <c:pt idx="3">
                  <c:v>Russia</c:v>
                </c:pt>
                <c:pt idx="4">
                  <c:v>Nordic</c:v>
                </c:pt>
                <c:pt idx="5">
                  <c:v>Belgium</c:v>
                </c:pt>
                <c:pt idx="6">
                  <c:v>Netherlands</c:v>
                </c:pt>
                <c:pt idx="7">
                  <c:v>Spain</c:v>
                </c:pt>
                <c:pt idx="8">
                  <c:v>Italy</c:v>
                </c:pt>
                <c:pt idx="9">
                  <c:v>France</c:v>
                </c:pt>
                <c:pt idx="10">
                  <c:v>U.K.</c:v>
                </c:pt>
                <c:pt idx="11">
                  <c:v>Germany</c:v>
                </c:pt>
              </c:strCache>
            </c:strRef>
          </c:cat>
          <c:val>
            <c:numRef>
              <c:numCache>
                <c:formatCode>General</c:formatCode>
                <c:ptCount val="12"/>
                <c:pt idx="0">
                  <c:v>5.710051434051085</c:v>
                </c:pt>
                <c:pt idx="1">
                  <c:v>6.737631224405403</c:v>
                </c:pt>
                <c:pt idx="2">
                  <c:v>6.208413557797269</c:v>
                </c:pt>
                <c:pt idx="3">
                  <c:v>7.202362070227666</c:v>
                </c:pt>
                <c:pt idx="4">
                  <c:v>7.066601007191571</c:v>
                </c:pt>
                <c:pt idx="5">
                  <c:v>5.293986204572346</c:v>
                </c:pt>
                <c:pt idx="6">
                  <c:v>5.0660631141490855</c:v>
                </c:pt>
                <c:pt idx="7">
                  <c:v>5.533860753090666</c:v>
                </c:pt>
                <c:pt idx="8">
                  <c:v>5.477703675886886</c:v>
                </c:pt>
                <c:pt idx="9">
                  <c:v>6.189229795235711</c:v>
                </c:pt>
                <c:pt idx="10">
                  <c:v>5.417185030765609</c:v>
                </c:pt>
                <c:pt idx="11">
                  <c:v>7.519743694785166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Industrial / B2B processing</c:v>
                </c:pt>
              </c:strCache>
            </c:strRef>
          </c:tx>
          <c:spPr>
            <a:solidFill>
              <a:srgbClr val="3D85C6"/>
            </a:solidFill>
          </c:spPr>
          <c:invertIfNegative val="0"/>
          <c:xVal>
            <c:numRef>
              <c:numCache>
                <c:formatCode>General</c:formatCode>
                <c:ptCount val="1"/>
                <c:pt idx="0">
                  <c:v>58.756151426600155</c:v>
                </c:pt>
              </c:numCache>
            </c:numRef>
          </c:xVal>
          <c:yVal>
            <c:numRef>
              <c:numCache>
                <c:formatCode>General</c:formatCode>
                <c:ptCount val="1"/>
                <c:pt idx="0">
                  <c:v>26.86927889381326</c:v>
                </c:pt>
              </c:numCache>
            </c:numRef>
          </c:yVal>
          <c:bubbleSize>
            <c:numRef>
              <c:numCache>
                <c:formatCode>General</c:formatCode>
                <c:ptCount val="1"/>
                <c:pt idx="0">
                  <c:v>358.953</c:v>
                </c:pt>
              </c:numCache>
            </c:numRef>
          </c:bubbleSize>
          <c:bubble3D val="0"/>
        </c:ser>
        <c:ser>
          <c:idx val="1"/>
          <c:order val="1"/>
          <c:tx>
            <c:strRef>
              <c:strCache>
                <c:ptCount val="1"/>
                <c:pt idx="0">
                  <c:v>Food Service</c:v>
                </c:pt>
              </c:strCache>
            </c:strRef>
          </c:tx>
          <c:spPr>
            <a:solidFill>
              <a:srgbClr val="9E7E0A"/>
            </a:solidFill>
          </c:spPr>
          <c:invertIfNegative val="0"/>
          <c:xVal>
            <c:numRef>
              <c:numCache>
                <c:formatCode>General</c:formatCode>
                <c:ptCount val="1"/>
                <c:pt idx="0">
                  <c:v>98.12319659653768</c:v>
                </c:pt>
              </c:numCache>
            </c:numRef>
          </c:xVal>
          <c:yVal>
            <c:numRef>
              <c:numCache>
                <c:formatCode>General</c:formatCode>
                <c:ptCount val="1"/>
                <c:pt idx="0">
                  <c:v>127.07507715838496</c:v>
                </c:pt>
              </c:numCache>
            </c:numRef>
          </c:yVal>
          <c:bubbleSize>
            <c:numRef>
              <c:numCache>
                <c:formatCode>General</c:formatCode>
                <c:ptCount val="1"/>
                <c:pt idx="0">
                  <c:v>2080.035</c:v>
                </c:pt>
              </c:numCache>
            </c:numRef>
          </c:bubbleSize>
          <c:bubble3D val="0"/>
        </c:ser>
        <c:ser>
          <c:idx val="2"/>
          <c:order val="2"/>
          <c:tx>
            <c:strRef>
              <c:strCache>
                <c:ptCount val="1"/>
                <c:pt idx="0">
                  <c:v>Retail</c:v>
                </c:pt>
              </c:strCache>
            </c:strRef>
          </c:tx>
          <c:spPr>
            <a:solidFill>
              <a:srgbClr val="008189"/>
            </a:solidFill>
          </c:spPr>
          <c:invertIfNegative val="0"/>
          <c:xVal>
            <c:numRef>
              <c:numCache>
                <c:formatCode>General</c:formatCode>
                <c:ptCount val="1"/>
                <c:pt idx="0">
                  <c:v>105.0958623056313</c:v>
                </c:pt>
              </c:numCache>
            </c:numRef>
          </c:xVal>
          <c:yVal>
            <c:numRef>
              <c:numCache>
                <c:formatCode>General</c:formatCode>
                <c:ptCount val="1"/>
                <c:pt idx="0">
                  <c:v>220.51867701626492</c:v>
                </c:pt>
              </c:numCache>
            </c:numRef>
          </c:yVal>
          <c:bubbleSize>
            <c:numRef>
              <c:numCache>
                <c:formatCode>General</c:formatCode>
                <c:ptCount val="1"/>
                <c:pt idx="0">
                  <c:v>3740.223</c:v>
                </c:pt>
              </c:numCache>
            </c:numRef>
          </c:bubbleSize>
          <c:bubble3D val="0"/>
        </c:ser>
        <c:ser>
          <c:idx val="3"/>
          <c:order val="3"/>
          <c:tx>
            <c:strRef>
              <c:strCache>
                <c:ptCount val="1"/>
                <c:pt idx="0">
                  <c:v>Travel Retail</c:v>
                </c:pt>
              </c:strCache>
            </c:strRef>
          </c:tx>
          <c:spPr>
            <a:solidFill>
              <a:srgbClr val="40315E"/>
            </a:solidFill>
          </c:spPr>
          <c:invertIfNegative val="0"/>
          <c:xVal>
            <c:numRef>
              <c:numCache>
                <c:formatCode>General</c:formatCode>
                <c:ptCount val="1"/>
                <c:pt idx="0">
                  <c:v>104.24233934290947</c:v>
                </c:pt>
              </c:numCache>
            </c:numRef>
          </c:xVal>
          <c:yVal>
            <c:numRef>
              <c:numCache>
                <c:formatCode>General</c:formatCode>
                <c:ptCount val="1"/>
                <c:pt idx="0">
                  <c:v>25.53696693153689</c:v>
                </c:pt>
              </c:numCache>
            </c:numRef>
          </c:yVal>
          <c:bubbleSize>
            <c:numRef>
              <c:numCache>
                <c:formatCode>General</c:formatCode>
                <c:ptCount val="1"/>
                <c:pt idx="0">
                  <c:v>431.255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4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262.983</c:v>
                </c:pt>
                <c:pt idx="2">
                  <c:v>280.6</c:v>
                </c:pt>
                <c:pt idx="3">
                  <c:v>299.036</c:v>
                </c:pt>
                <c:pt idx="4">
                  <c:v>318.269</c:v>
                </c:pt>
                <c:pt idx="5">
                  <c:v>338.263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262.983</c:v>
                </c:pt>
                <c:pt idx="1">
                  <c:v>17.61700000000002</c:v>
                </c:pt>
                <c:pt idx="2">
                  <c:v>18.43599999999998</c:v>
                </c:pt>
                <c:pt idx="3">
                  <c:v>19.233000000000004</c:v>
                </c:pt>
                <c:pt idx="4">
                  <c:v>19.99399999999997</c:v>
                </c:pt>
                <c:pt idx="5">
                  <c:v>20.689999999999998</c:v>
                </c:pt>
                <c:pt idx="6">
                  <c:v>358.953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1243.7469999999998</c:v>
                </c:pt>
                <c:pt idx="2">
                  <c:v>1378.368</c:v>
                </c:pt>
                <c:pt idx="3">
                  <c:v>1527.635</c:v>
                </c:pt>
                <c:pt idx="4">
                  <c:v>1693.134</c:v>
                </c:pt>
                <c:pt idx="5">
                  <c:v>1876.625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1243.7469999999998</c:v>
                </c:pt>
                <c:pt idx="1">
                  <c:v>134.6210000000001</c:v>
                </c:pt>
                <c:pt idx="2">
                  <c:v>149.26700000000005</c:v>
                </c:pt>
                <c:pt idx="3">
                  <c:v>165.49900000000002</c:v>
                </c:pt>
                <c:pt idx="4">
                  <c:v>183.49099999999999</c:v>
                </c:pt>
                <c:pt idx="5">
                  <c:v>203.40999999999985</c:v>
                </c:pt>
                <c:pt idx="6">
                  <c:v>2080.035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2158.326</c:v>
                </c:pt>
                <c:pt idx="2">
                  <c:v>2409.208</c:v>
                </c:pt>
                <c:pt idx="3">
                  <c:v>2689.2749999999996</c:v>
                </c:pt>
                <c:pt idx="4">
                  <c:v>3001.899</c:v>
                </c:pt>
                <c:pt idx="5">
                  <c:v>3350.812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2158.326</c:v>
                </c:pt>
                <c:pt idx="1">
                  <c:v>250.88200000000006</c:v>
                </c:pt>
                <c:pt idx="2">
                  <c:v>280.06699999999955</c:v>
                </c:pt>
                <c:pt idx="3">
                  <c:v>312.62400000000025</c:v>
                </c:pt>
                <c:pt idx="4">
                  <c:v>348.913</c:v>
                </c:pt>
                <c:pt idx="5">
                  <c:v>389.41100000000006</c:v>
                </c:pt>
                <c:pt idx="6">
                  <c:v>3740.223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249.943</c:v>
                </c:pt>
                <c:pt idx="2">
                  <c:v>278.757</c:v>
                </c:pt>
                <c:pt idx="3">
                  <c:v>310.894</c:v>
                </c:pt>
                <c:pt idx="4">
                  <c:v>346.732</c:v>
                </c:pt>
                <c:pt idx="5">
                  <c:v>386.698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249.943</c:v>
                </c:pt>
                <c:pt idx="1">
                  <c:v>28.813999999999993</c:v>
                </c:pt>
                <c:pt idx="2">
                  <c:v>32.137</c:v>
                </c:pt>
                <c:pt idx="3">
                  <c:v>35.83800000000002</c:v>
                </c:pt>
                <c:pt idx="4">
                  <c:v>39.96599999999995</c:v>
                </c:pt>
                <c:pt idx="5">
                  <c:v>44.557000000000016</c:v>
                </c:pt>
                <c:pt idx="6">
                  <c:v>431.255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Retail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54.38752409955661</c:v>
                </c:pt>
                <c:pt idx="1">
                  <c:v>55.129669254066215</c:v>
                </c:pt>
                <c:pt idx="2">
                  <c:v>56.58032277905974</c:v>
                </c:pt>
              </c:numCache>
            </c:numRef>
          </c:val>
        </c:ser>
        <c:ser>
          <c:idx val="1"/>
          <c:order val="1"/>
          <c:tx>
            <c:strRef>
              <c:strCache>
                <c:ptCount val="1"/>
                <c:pt idx="0">
                  <c:v>Food Service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31.917145966614246</c:v>
                </c:pt>
                <c:pt idx="1">
                  <c:v>31.76876928959624</c:v>
                </c:pt>
                <c:pt idx="2">
                  <c:v>31.46578471169808</c:v>
                </c:pt>
              </c:numCache>
            </c:numRef>
          </c:val>
        </c:ser>
        <c:ser>
          <c:idx val="2"/>
          <c:order val="2"/>
          <c:tx>
            <c:strRef>
              <c:strCache>
                <c:ptCount val="1"/>
                <c:pt idx="0">
                  <c:v>Travel Retail</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6.31161332200883</c:v>
                </c:pt>
                <c:pt idx="1">
                  <c:v>6.384241732884223</c:v>
                </c:pt>
                <c:pt idx="2">
                  <c:v>6.523821467351923</c:v>
                </c:pt>
              </c:numCache>
            </c:numRef>
          </c:val>
        </c:ser>
        <c:ser>
          <c:idx val="3"/>
          <c:order val="3"/>
          <c:tx>
            <c:strRef>
              <c:strCache>
                <c:ptCount val="1"/>
                <c:pt idx="0">
                  <c:v>Industrial / B2B processing</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7.383716611820329</c:v>
                </c:pt>
                <c:pt idx="1">
                  <c:v>6.717319723453313</c:v>
                </c:pt>
                <c:pt idx="2">
                  <c:v>5.430071041890238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(MT)</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232464.787</c:v>
                </c:pt>
                <c:pt idx="1">
                  <c:v>242663.00999999998</c:v>
                </c:pt>
                <c:pt idx="2">
                  <c:v>253308.62900000002</c:v>
                </c:pt>
                <c:pt idx="3">
                  <c:v>264421.271</c:v>
                </c:pt>
                <c:pt idx="4">
                  <c:v>276021.423</c:v>
                </c:pt>
                <c:pt idx="5">
                  <c:v>290004.467</c:v>
                </c:pt>
                <c:pt idx="6">
                  <c:v>304629.13100000005</c:v>
                </c:pt>
                <c:pt idx="7">
                  <c:v>319958.80199999997</c:v>
                </c:pt>
                <c:pt idx="8">
                  <c:v>336025.312</c:v>
                </c:pt>
                <c:pt idx="9">
                  <c:v>352862.408</c:v>
                </c:pt>
                <c:pt idx="10">
                  <c:v>370504.903</c:v>
                </c:pt>
                <c:pt idx="11">
                  <c:v>388989.197</c:v>
                </c:pt>
                <c:pt idx="12">
                  <c:v>408353.178</c:v>
                </c:pt>
                <c:pt idx="13">
                  <c:v>428636.442</c:v>
                </c:pt>
                <c:pt idx="14">
                  <c:v>449880.14900000003</c:v>
                </c:pt>
                <c:pt idx="15">
                  <c:v>472127.1560000001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Europe</c:v>
                </c:pt>
                <c:pt idx="2">
                  <c:v>Germany</c:v>
                </c:pt>
              </c:strCache>
            </c:strRef>
          </c:cat>
          <c:val>
            <c:numRef>
              <c:numCache>
                <c:formatCode>General</c:formatCode>
                <c:ptCount val="3"/>
                <c:pt idx="0">
                  <c:v>0.04226683269811593</c:v>
                </c:pt>
                <c:pt idx="1">
                  <c:v>0.041012137234646806</c:v>
                </c:pt>
                <c:pt idx="2">
                  <c:v>0.04994229144442408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742209344997252"/>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290004.467</c:v>
                </c:pt>
                <c:pt idx="2">
                  <c:v>304629.13100000005</c:v>
                </c:pt>
                <c:pt idx="3">
                  <c:v>319958.80199999997</c:v>
                </c:pt>
                <c:pt idx="4">
                  <c:v>336025.312</c:v>
                </c:pt>
                <c:pt idx="5">
                  <c:v>352862.408</c:v>
                </c:pt>
                <c:pt idx="6">
                  <c:v>370504.903</c:v>
                </c:pt>
                <c:pt idx="7">
                  <c:v>388989.197</c:v>
                </c:pt>
                <c:pt idx="8">
                  <c:v>408353.178</c:v>
                </c:pt>
                <c:pt idx="9">
                  <c:v>428636.442</c:v>
                </c:pt>
                <c:pt idx="10">
                  <c:v>449880.14900000003</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290004.467</c:v>
                </c:pt>
                <c:pt idx="1">
                  <c:v>14624.664000000048</c:v>
                </c:pt>
                <c:pt idx="2">
                  <c:v>15329.670999999915</c:v>
                </c:pt>
                <c:pt idx="3">
                  <c:v>16066.51000000001</c:v>
                </c:pt>
                <c:pt idx="4">
                  <c:v>16837.09600000002</c:v>
                </c:pt>
                <c:pt idx="5">
                  <c:v>17642.494999999995</c:v>
                </c:pt>
                <c:pt idx="6">
                  <c:v>18484.293999999994</c:v>
                </c:pt>
                <c:pt idx="7">
                  <c:v>19363.98100000003</c:v>
                </c:pt>
                <c:pt idx="8">
                  <c:v>20283.263999999966</c:v>
                </c:pt>
                <c:pt idx="9">
                  <c:v>21243.707000000053</c:v>
                </c:pt>
                <c:pt idx="10">
                  <c:v>22247.00700000004</c:v>
                </c:pt>
                <c:pt idx="11">
                  <c:v>472127.1560000001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Europe</c:v>
                </c:pt>
                <c:pt idx="1">
                  <c:v>Share of Global</c:v>
                </c:pt>
              </c:strCache>
            </c:strRef>
          </c:cat>
          <c:val>
            <c:numRef>
              <c:numCache>
                <c:formatCode>General</c:formatCode>
                <c:ptCount val="2"/>
                <c:pt idx="0">
                  <c:v>37.003084366278934</c:v>
                </c:pt>
                <c:pt idx="1">
                  <c:v>8.200124601405788</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Europe</c:v>
                </c:pt>
                <c:pt idx="1">
                  <c:v>Share of Global</c:v>
                </c:pt>
              </c:strCache>
            </c:strRef>
          </c:cat>
          <c:val>
            <c:numRef>
              <c:numCache>
                <c:formatCode>General</c:formatCode>
                <c:ptCount val="2"/>
                <c:pt idx="0">
                  <c:v>62.996915633721066</c:v>
                </c:pt>
                <c:pt idx="1">
                  <c:v>91.79987539859421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1103.971</c:v>
                </c:pt>
                <c:pt idx="1">
                  <c:v>1167.393</c:v>
                </c:pt>
                <c:pt idx="2">
                  <c:v>1234.4560000000001</c:v>
                </c:pt>
                <c:pt idx="3">
                  <c:v>1305.373</c:v>
                </c:pt>
                <c:pt idx="4">
                  <c:v>1380.364</c:v>
                </c:pt>
                <c:pt idx="5">
                  <c:v>1469.157</c:v>
                </c:pt>
                <c:pt idx="6">
                  <c:v>1563.32</c:v>
                </c:pt>
                <c:pt idx="7">
                  <c:v>1663.3470000000002</c:v>
                </c:pt>
                <c:pt idx="8">
                  <c:v>1769.594</c:v>
                </c:pt>
                <c:pt idx="9">
                  <c:v>1882.4329999999998</c:v>
                </c:pt>
                <c:pt idx="10">
                  <c:v>2002.261</c:v>
                </c:pt>
                <c:pt idx="11">
                  <c:v>2129.497</c:v>
                </c:pt>
                <c:pt idx="12">
                  <c:v>2264.582</c:v>
                </c:pt>
                <c:pt idx="13">
                  <c:v>2407.985</c:v>
                </c:pt>
                <c:pt idx="14">
                  <c:v>2560.2019999999998</c:v>
                </c:pt>
                <c:pt idx="15">
                  <c:v>2721.755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Europe</c:v>
                </c:pt>
                <c:pt idx="2">
                  <c:v>Germany</c:v>
                </c:pt>
              </c:strCache>
            </c:strRef>
          </c:cat>
          <c:val>
            <c:numRef>
              <c:numCache>
                <c:formatCode>General</c:formatCode>
                <c:ptCount val="3"/>
                <c:pt idx="0">
                  <c:v>0.04812240392581946</c:v>
                </c:pt>
                <c:pt idx="1">
                  <c:v>0.05378021916641984</c:v>
                </c:pt>
                <c:pt idx="2">
                  <c:v>0.06359939609416743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585918472712603"/>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1469.157</c:v>
                </c:pt>
                <c:pt idx="2">
                  <c:v>1563.32</c:v>
                </c:pt>
                <c:pt idx="3">
                  <c:v>1663.3470000000002</c:v>
                </c:pt>
                <c:pt idx="4">
                  <c:v>1769.594</c:v>
                </c:pt>
                <c:pt idx="5">
                  <c:v>1882.4329999999998</c:v>
                </c:pt>
                <c:pt idx="6">
                  <c:v>2002.261</c:v>
                </c:pt>
                <c:pt idx="7">
                  <c:v>2129.497</c:v>
                </c:pt>
                <c:pt idx="8">
                  <c:v>2264.582</c:v>
                </c:pt>
                <c:pt idx="9">
                  <c:v>2407.985</c:v>
                </c:pt>
                <c:pt idx="10">
                  <c:v>2560.2019999999998</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1469.157</c:v>
                </c:pt>
                <c:pt idx="1">
                  <c:v>94.16300000000001</c:v>
                </c:pt>
                <c:pt idx="2">
                  <c:v>100.02700000000027</c:v>
                </c:pt>
                <c:pt idx="3">
                  <c:v>106.24699999999984</c:v>
                </c:pt>
                <c:pt idx="4">
                  <c:v>112.83899999999971</c:v>
                </c:pt>
                <c:pt idx="5">
                  <c:v>119.8280000000002</c:v>
                </c:pt>
                <c:pt idx="6">
                  <c:v>127.23599999999988</c:v>
                </c:pt>
                <c:pt idx="7">
                  <c:v>135.08500000000004</c:v>
                </c:pt>
                <c:pt idx="8">
                  <c:v>143.40300000000025</c:v>
                </c:pt>
                <c:pt idx="9">
                  <c:v>152.21699999999964</c:v>
                </c:pt>
                <c:pt idx="10">
                  <c:v>161.55300000000034</c:v>
                </c:pt>
                <c:pt idx="11">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Europe</c:v>
                </c:pt>
                <c:pt idx="1">
                  <c:v>Share of Global</c:v>
                </c:pt>
              </c:strCache>
            </c:strRef>
          </c:cat>
          <c:val>
            <c:numRef>
              <c:numCache>
                <c:formatCode>General</c:formatCode>
                <c:ptCount val="2"/>
                <c:pt idx="0">
                  <c:v>37.52636973853634</c:v>
                </c:pt>
                <c:pt idx="1">
                  <c:v>10.132118638912916</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Europe</c:v>
                </c:pt>
                <c:pt idx="1">
                  <c:v>Share of Global</c:v>
                </c:pt>
              </c:strCache>
            </c:strRef>
          </c:cat>
          <c:val>
            <c:numRef>
              <c:numCache>
                <c:formatCode>General</c:formatCode>
                <c:ptCount val="2"/>
                <c:pt idx="0">
                  <c:v>62.47363026146366</c:v>
                </c:pt>
                <c:pt idx="1">
                  <c:v>89.86788136108709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EC6DE"/>
              </a:solidFill>
            </c:spPr>
          </c:dPt>
          <c:dPt>
            <c:idx val="1"/>
            <c:spPr>
              <a:solidFill>
                <a:srgbClr val="81B5D4"/>
              </a:solidFill>
            </c:spPr>
          </c:dPt>
          <c:dPt>
            <c:idx val="2"/>
            <c:spPr>
              <a:solidFill>
                <a:srgbClr val="64A4CB"/>
              </a:solidFill>
            </c:spPr>
          </c:dPt>
          <c:dPt>
            <c:idx val="3"/>
            <c:spPr>
              <a:solidFill>
                <a:srgbClr val="4793C1"/>
              </a:solidFill>
            </c:spPr>
          </c:dPt>
          <c:dPt>
            <c:idx val="4"/>
            <c:spPr>
              <a:solidFill>
                <a:srgbClr val="2A82B7"/>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Dungeness Crab</c:v>
                </c:pt>
                <c:pt idx="1">
                  <c:v>Snow Crab</c:v>
                </c:pt>
                <c:pt idx="2">
                  <c:v>Blue Crab</c:v>
                </c:pt>
                <c:pt idx="3">
                  <c:v>Other commercially tr…</c:v>
                </c:pt>
                <c:pt idx="4">
                  <c:v>Mud Crab</c:v>
                </c:pt>
                <c:pt idx="5">
                  <c:v>King Crab</c:v>
                </c:pt>
              </c:strCache>
            </c:strRef>
          </c:cat>
          <c:val>
            <c:numRef>
              <c:numCache>
                <c:formatCode>General</c:formatCode>
                <c:ptCount val="6"/>
                <c:pt idx="0">
                  <c:v>142.607</c:v>
                </c:pt>
                <c:pt idx="1">
                  <c:v>165.008</c:v>
                </c:pt>
                <c:pt idx="2">
                  <c:v>172.906</c:v>
                </c:pt>
                <c:pt idx="3">
                  <c:v>291.636</c:v>
                </c:pt>
                <c:pt idx="4">
                  <c:v>319.059</c:v>
                </c:pt>
                <c:pt idx="5">
                  <c:v>377.941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506.4409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9DABB6"/>
              </a:solidFill>
            </c:spPr>
          </c:dPt>
          <c:dPt>
            <c:idx val="4"/>
            <c:spPr>
              <a:solidFill>
                <a:srgbClr val="546C80"/>
              </a:solidFill>
            </c:spPr>
          </c:dPt>
          <c:dPt>
            <c:idx val="5"/>
            <c:spPr>
              <a:solidFill>
                <a:srgbClr val="0B2E4A"/>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Aquaculture / fattene…</c:v>
                </c:pt>
                <c:pt idx="4">
                  <c:v>Wild-caught</c:v>
                </c:pt>
                <c:pt idx="5">
                  <c:v>Imported processed cr…</c:v>
                </c:pt>
              </c:strCache>
            </c:strRef>
          </c:cat>
          <c:val>
            <c:numRef>
              <c:numCache>
                <c:formatCode>General</c:formatCode>
                <c:ptCount val="6"/>
                <c:pt idx="3">
                  <c:v>257.242</c:v>
                </c:pt>
                <c:pt idx="4">
                  <c:v>605.936</c:v>
                </c:pt>
                <c:pt idx="5">
                  <c:v>605.979</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812.01186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C5B1E6"/>
              </a:solidFill>
            </c:spPr>
          </c:dPt>
          <c:dPt>
            <c:idx val="1"/>
            <c:spPr>
              <a:solidFill>
                <a:srgbClr val="B499DF"/>
              </a:solidFill>
            </c:spPr>
          </c:dPt>
          <c:dPt>
            <c:idx val="2"/>
            <c:spPr>
              <a:solidFill>
                <a:srgbClr val="A282D7"/>
              </a:solidFill>
            </c:spPr>
          </c:dPt>
          <c:dPt>
            <c:idx val="3"/>
            <c:spPr>
              <a:solidFill>
                <a:srgbClr val="916AD0"/>
              </a:solidFill>
            </c:spPr>
          </c:dPt>
          <c:dPt>
            <c:idx val="4"/>
            <c:spPr>
              <a:solidFill>
                <a:srgbClr val="8053C9"/>
              </a:solidFill>
            </c:spPr>
          </c:dPt>
          <c:dPt>
            <c:idx val="5"/>
            <c:spPr>
              <a:solidFill>
                <a:srgbClr val="6F3CC2"/>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Jumbo Lump</c:v>
                </c:pt>
                <c:pt idx="1">
                  <c:v>Crab Leg Meat</c:v>
                </c:pt>
                <c:pt idx="2">
                  <c:v>Backfin</c:v>
                </c:pt>
                <c:pt idx="3">
                  <c:v>Lump</c:v>
                </c:pt>
                <c:pt idx="4">
                  <c:v>Special Meat</c:v>
                </c:pt>
                <c:pt idx="5">
                  <c:v>Claw Meat</c:v>
                </c:pt>
              </c:strCache>
            </c:strRef>
          </c:cat>
          <c:val>
            <c:numRef>
              <c:numCache>
                <c:formatCode>General</c:formatCode>
                <c:ptCount val="6"/>
                <c:pt idx="0">
                  <c:v>123.592</c:v>
                </c:pt>
                <c:pt idx="1">
                  <c:v>127.999</c:v>
                </c:pt>
                <c:pt idx="2">
                  <c:v>164.264</c:v>
                </c:pt>
                <c:pt idx="3">
                  <c:v>176.451</c:v>
                </c:pt>
                <c:pt idx="4">
                  <c:v>345.559</c:v>
                </c:pt>
                <c:pt idx="5">
                  <c:v>531.292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11.93128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ABAA0"/>
              </a:solidFill>
            </c:spPr>
          </c:dPt>
          <c:dPt>
            <c:idx val="3"/>
            <c:spPr>
              <a:solidFill>
                <a:srgbClr val="C79771"/>
              </a:solidFill>
            </c:spPr>
          </c:dPt>
          <c:dPt>
            <c:idx val="4"/>
            <c:spPr>
              <a:solidFill>
                <a:srgbClr val="B57542"/>
              </a:solidFill>
            </c:spPr>
          </c:dPt>
          <c:dPt>
            <c:idx val="5"/>
            <c:spPr>
              <a:solidFill>
                <a:srgbClr val="A35313"/>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Frozen</c:v>
                </c:pt>
                <c:pt idx="3">
                  <c:v>Canned</c:v>
                </c:pt>
                <c:pt idx="4">
                  <c:v>Pasteurized</c:v>
                </c:pt>
                <c:pt idx="5">
                  <c:v>Fresh</c:v>
                </c:pt>
              </c:strCache>
            </c:strRef>
          </c:cat>
          <c:val>
            <c:numRef>
              <c:numCache>
                <c:formatCode>General</c:formatCode>
                <c:ptCount val="6"/>
                <c:pt idx="2">
                  <c:v>106.497</c:v>
                </c:pt>
                <c:pt idx="3">
                  <c:v>310.17</c:v>
                </c:pt>
                <c:pt idx="4">
                  <c:v>408.717</c:v>
                </c:pt>
                <c:pt idx="5">
                  <c:v>643.773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862.65582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DCC599"/>
              </a:solidFill>
            </c:spPr>
          </c:dPt>
          <c:dPt>
            <c:idx val="2"/>
            <c:spPr>
              <a:solidFill>
                <a:srgbClr val="CFAF72"/>
              </a:solidFill>
            </c:spPr>
          </c:dPt>
          <c:dPt>
            <c:idx val="3"/>
            <c:spPr>
              <a:solidFill>
                <a:srgbClr val="C29A4C"/>
              </a:solidFill>
            </c:spPr>
          </c:dPt>
          <c:dPt>
            <c:idx val="4"/>
            <c:spPr>
              <a:solidFill>
                <a:srgbClr val="B58426"/>
              </a:solidFill>
            </c:spPr>
          </c:dPt>
          <c:dPt>
            <c:idx val="5"/>
            <c:spPr>
              <a:solidFill>
                <a:srgbClr val="A86F00"/>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100% Pure Crab Meat</c:v>
                </c:pt>
                <c:pt idx="2">
                  <c:v>Sustainably Sourced</c:v>
                </c:pt>
                <c:pt idx="3">
                  <c:v>High Protein / Omega-…</c:v>
                </c:pt>
                <c:pt idx="4">
                  <c:v>Freshly Pasteurized f…</c:v>
                </c:pt>
                <c:pt idx="5">
                  <c:v>Organic</c:v>
                </c:pt>
              </c:strCache>
            </c:strRef>
          </c:cat>
          <c:val>
            <c:numRef>
              <c:numCache>
                <c:formatCode>General</c:formatCode>
                <c:ptCount val="6"/>
                <c:pt idx="1">
                  <c:v>97.297</c:v>
                </c:pt>
                <c:pt idx="2">
                  <c:v>177.899</c:v>
                </c:pt>
                <c:pt idx="3">
                  <c:v>215.78</c:v>
                </c:pt>
                <c:pt idx="4">
                  <c:v>319.297</c:v>
                </c:pt>
                <c:pt idx="5">
                  <c:v>658.884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882.90456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E59999"/>
              </a:solidFill>
            </c:spPr>
          </c:dPt>
          <c:dPt>
            <c:idx val="3"/>
            <c:spPr>
              <a:solidFill>
                <a:srgbClr val="D96565"/>
              </a:solidFill>
            </c:spPr>
          </c:dPt>
          <c:dPt>
            <c:idx val="4"/>
            <c:spPr>
              <a:solidFill>
                <a:srgbClr val="CC3232"/>
              </a:solidFill>
            </c:spPr>
          </c:dPt>
          <c:dPt>
            <c:idx val="5"/>
            <c:spPr>
              <a:solidFill>
                <a:srgbClr val="C0000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Industrial / B2B proc…</c:v>
                </c:pt>
                <c:pt idx="3">
                  <c:v>Travel Retail</c:v>
                </c:pt>
                <c:pt idx="4">
                  <c:v>Food Service</c:v>
                </c:pt>
                <c:pt idx="5">
                  <c:v>Retail</c:v>
                </c:pt>
              </c:strCache>
            </c:strRef>
          </c:cat>
          <c:val>
            <c:numRef>
              <c:numCache>
                <c:formatCode>General</c:formatCode>
                <c:ptCount val="6"/>
                <c:pt idx="2">
                  <c:v>93.569</c:v>
                </c:pt>
                <c:pt idx="3">
                  <c:v>109.579</c:v>
                </c:pt>
                <c:pt idx="4">
                  <c:v>443.589</c:v>
                </c:pt>
                <c:pt idx="5">
                  <c:v>822.4200000000001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102.0428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Blue Crab</c:v>
                </c:pt>
                <c:pt idx="2">
                  <c:v>King Crab</c:v>
                </c:pt>
                <c:pt idx="3">
                  <c:v>Snow Crab</c:v>
                </c:pt>
                <c:pt idx="4">
                  <c:v>Dungeness Crab</c:v>
                </c:pt>
                <c:pt idx="5">
                  <c:v>Mud Crab</c:v>
                </c:pt>
                <c:pt idx="6">
                  <c:v>Other commercially traded crab species</c:v>
                </c:pt>
                <c:pt idx="7">
                  <c:v>2036 Total</c:v>
                </c:pt>
              </c:strCache>
            </c:strRef>
          </c:cat>
          <c:val>
            <c:numRef>
              <c:numCache>
                <c:formatCode>General</c:formatCode>
                <c:ptCount val="8"/>
                <c:pt idx="0">
                  <c:v>0.0</c:v>
                </c:pt>
                <c:pt idx="1">
                  <c:v>1469.157</c:v>
                </c:pt>
                <c:pt idx="2">
                  <c:v>1569.623</c:v>
                </c:pt>
                <c:pt idx="3">
                  <c:v>1964.787</c:v>
                </c:pt>
                <c:pt idx="4">
                  <c:v>2137.859</c:v>
                </c:pt>
                <c:pt idx="5">
                  <c:v>2180.6659999999997</c:v>
                </c:pt>
                <c:pt idx="6">
                  <c:v>2526.1049999999996</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Blue Crab</c:v>
                </c:pt>
                <c:pt idx="2">
                  <c:v>King Crab</c:v>
                </c:pt>
                <c:pt idx="3">
                  <c:v>Snow Crab</c:v>
                </c:pt>
                <c:pt idx="4">
                  <c:v>Dungeness Crab</c:v>
                </c:pt>
                <c:pt idx="5">
                  <c:v>Mud Crab</c:v>
                </c:pt>
                <c:pt idx="6">
                  <c:v>Other commercially traded crab species</c:v>
                </c:pt>
                <c:pt idx="7">
                  <c:v>2036 Total</c:v>
                </c:pt>
              </c:strCache>
            </c:strRef>
          </c:cat>
          <c:val>
            <c:numRef>
              <c:numCache>
                <c:formatCode>General</c:formatCode>
                <c:ptCount val="8"/>
                <c:pt idx="0">
                  <c:v>1469.157</c:v>
                </c:pt>
                <c:pt idx="1">
                  <c:v>100.46600000000001</c:v>
                </c:pt>
                <c:pt idx="2">
                  <c:v>395.16400000000004</c:v>
                </c:pt>
                <c:pt idx="3">
                  <c:v>173.07199999999997</c:v>
                </c:pt>
                <c:pt idx="4">
                  <c:v>42.80699999999999</c:v>
                </c:pt>
                <c:pt idx="5">
                  <c:v>345.439</c:v>
                </c:pt>
                <c:pt idx="6">
                  <c:v>195.64999999999998</c:v>
                </c:pt>
                <c:pt idx="7">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Blue Crab</c:v>
                </c:pt>
                <c:pt idx="1">
                  <c:v>King Crab</c:v>
                </c:pt>
                <c:pt idx="2">
                  <c:v>Snow Crab</c:v>
                </c:pt>
                <c:pt idx="3">
                  <c:v>Dungeness Crab</c:v>
                </c:pt>
                <c:pt idx="4">
                  <c:v>Mud Crab</c:v>
                </c:pt>
                <c:pt idx="5">
                  <c:v>Other commercially traded crab species</c:v>
                </c:pt>
                <c:pt idx="6">
                  <c:v>Total Absolute $ Opportunity</c:v>
                </c:pt>
              </c:strCache>
            </c:strRef>
          </c:cat>
          <c:val>
            <c:numRef>
              <c:numCache>
                <c:formatCode>General</c:formatCode>
                <c:ptCount val="7"/>
                <c:pt idx="0">
                  <c:v>0.0</c:v>
                </c:pt>
                <c:pt idx="1">
                  <c:v>100.46600000000001</c:v>
                </c:pt>
                <c:pt idx="2">
                  <c:v>495.63000000000005</c:v>
                </c:pt>
                <c:pt idx="3">
                  <c:v>668.702</c:v>
                </c:pt>
                <c:pt idx="4">
                  <c:v>711.509</c:v>
                </c:pt>
                <c:pt idx="5">
                  <c:v>1056.948</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Blue Crab</c:v>
                </c:pt>
                <c:pt idx="1">
                  <c:v>King Crab</c:v>
                </c:pt>
                <c:pt idx="2">
                  <c:v>Snow Crab</c:v>
                </c:pt>
                <c:pt idx="3">
                  <c:v>Dungeness Crab</c:v>
                </c:pt>
                <c:pt idx="4">
                  <c:v>Mud Crab</c:v>
                </c:pt>
                <c:pt idx="5">
                  <c:v>Other commercially traded crab species</c:v>
                </c:pt>
                <c:pt idx="6">
                  <c:v>Total Absolute $ Opportunity</c:v>
                </c:pt>
              </c:strCache>
            </c:strRef>
          </c:cat>
          <c:val>
            <c:numRef>
              <c:numCache>
                <c:formatCode>General</c:formatCode>
                <c:ptCount val="7"/>
                <c:pt idx="0">
                  <c:v>100.46600000000001</c:v>
                </c:pt>
                <c:pt idx="1">
                  <c:v>395.16400000000004</c:v>
                </c:pt>
                <c:pt idx="2">
                  <c:v>173.07199999999997</c:v>
                </c:pt>
                <c:pt idx="3">
                  <c:v>42.80699999999999</c:v>
                </c:pt>
                <c:pt idx="4">
                  <c:v>345.439</c:v>
                </c:pt>
                <c:pt idx="5">
                  <c:v>195.64999999999998</c:v>
                </c:pt>
                <c:pt idx="6">
                  <c:v>1252.598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Wild-caught</c:v>
                </c:pt>
                <c:pt idx="2">
                  <c:v>Aquaculture / fattened / cultured supply</c:v>
                </c:pt>
                <c:pt idx="3">
                  <c:v>Imported processed crab meat</c:v>
                </c:pt>
                <c:pt idx="4">
                  <c:v>2036 Total</c:v>
                </c:pt>
              </c:strCache>
            </c:strRef>
          </c:cat>
          <c:val>
            <c:numRef>
              <c:numCache>
                <c:formatCode>General</c:formatCode>
                <c:ptCount val="5"/>
                <c:pt idx="0">
                  <c:v>0.0</c:v>
                </c:pt>
                <c:pt idx="1">
                  <c:v>1469.1570000000002</c:v>
                </c:pt>
                <c:pt idx="2">
                  <c:v>1932.5120000000002</c:v>
                </c:pt>
                <c:pt idx="3">
                  <c:v>2266.558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Wild-caught</c:v>
                </c:pt>
                <c:pt idx="2">
                  <c:v>Aquaculture / fattened / cultured supply</c:v>
                </c:pt>
                <c:pt idx="3">
                  <c:v>Imported processed crab meat</c:v>
                </c:pt>
                <c:pt idx="4">
                  <c:v>2036 Total</c:v>
                </c:pt>
              </c:strCache>
            </c:strRef>
          </c:cat>
          <c:val>
            <c:numRef>
              <c:numCache>
                <c:formatCode>General</c:formatCode>
                <c:ptCount val="5"/>
                <c:pt idx="0">
                  <c:v>1469.1570000000002</c:v>
                </c:pt>
                <c:pt idx="1">
                  <c:v>463.3549999999999</c:v>
                </c:pt>
                <c:pt idx="2">
                  <c:v>334.046</c:v>
                </c:pt>
                <c:pt idx="3">
                  <c:v>455.1969999999999</c:v>
                </c:pt>
                <c:pt idx="4">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Wild-caught</c:v>
                </c:pt>
                <c:pt idx="1">
                  <c:v>Aquaculture / fattened / cultured supply</c:v>
                </c:pt>
                <c:pt idx="2">
                  <c:v>Imported processed crab meat</c:v>
                </c:pt>
                <c:pt idx="3">
                  <c:v>Total Absolute $ Opportunity</c:v>
                </c:pt>
              </c:strCache>
            </c:strRef>
          </c:cat>
          <c:val>
            <c:numRef>
              <c:numCache>
                <c:formatCode>General</c:formatCode>
                <c:ptCount val="4"/>
                <c:pt idx="0">
                  <c:v>0.0</c:v>
                </c:pt>
                <c:pt idx="1">
                  <c:v>463.3549999999999</c:v>
                </c:pt>
                <c:pt idx="2">
                  <c:v>797.4009999999998</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Wild-caught</c:v>
                </c:pt>
                <c:pt idx="1">
                  <c:v>Aquaculture / fattened / cultured supply</c:v>
                </c:pt>
                <c:pt idx="2">
                  <c:v>Imported processed crab meat</c:v>
                </c:pt>
                <c:pt idx="3">
                  <c:v>Total Absolute $ Opportunity</c:v>
                </c:pt>
              </c:strCache>
            </c:strRef>
          </c:cat>
          <c:val>
            <c:numRef>
              <c:numCache>
                <c:formatCode>General</c:formatCode>
                <c:ptCount val="4"/>
                <c:pt idx="0">
                  <c:v>463.3549999999999</c:v>
                </c:pt>
                <c:pt idx="1">
                  <c:v>334.046</c:v>
                </c:pt>
                <c:pt idx="2">
                  <c:v>455.1969999999999</c:v>
                </c:pt>
                <c:pt idx="3">
                  <c:v>1252.5979999999997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Jumbo Lump</c:v>
                </c:pt>
                <c:pt idx="2">
                  <c:v>Lump</c:v>
                </c:pt>
                <c:pt idx="3">
                  <c:v>Backfin</c:v>
                </c:pt>
                <c:pt idx="4">
                  <c:v>Special Meat</c:v>
                </c:pt>
                <c:pt idx="5">
                  <c:v>Claw Meat</c:v>
                </c:pt>
                <c:pt idx="6">
                  <c:v>Crab Leg Meat</c:v>
                </c:pt>
                <c:pt idx="7">
                  <c:v>2036 Total</c:v>
                </c:pt>
              </c:strCache>
            </c:strRef>
          </c:cat>
          <c:val>
            <c:numRef>
              <c:numCache>
                <c:formatCode>General</c:formatCode>
                <c:ptCount val="8"/>
                <c:pt idx="0">
                  <c:v>0.0</c:v>
                </c:pt>
                <c:pt idx="1">
                  <c:v>1469.157</c:v>
                </c:pt>
                <c:pt idx="2">
                  <c:v>1600.8039999999999</c:v>
                </c:pt>
                <c:pt idx="3">
                  <c:v>1700.309</c:v>
                </c:pt>
                <c:pt idx="4">
                  <c:v>1820.808</c:v>
                </c:pt>
                <c:pt idx="5">
                  <c:v>2221.953</c:v>
                </c:pt>
                <c:pt idx="6">
                  <c:v>2554.391</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Jumbo Lump</c:v>
                </c:pt>
                <c:pt idx="2">
                  <c:v>Lump</c:v>
                </c:pt>
                <c:pt idx="3">
                  <c:v>Backfin</c:v>
                </c:pt>
                <c:pt idx="4">
                  <c:v>Special Meat</c:v>
                </c:pt>
                <c:pt idx="5">
                  <c:v>Claw Meat</c:v>
                </c:pt>
                <c:pt idx="6">
                  <c:v>Crab Leg Meat</c:v>
                </c:pt>
                <c:pt idx="7">
                  <c:v>2036 Total</c:v>
                </c:pt>
              </c:strCache>
            </c:strRef>
          </c:cat>
          <c:val>
            <c:numRef>
              <c:numCache>
                <c:formatCode>General</c:formatCode>
                <c:ptCount val="8"/>
                <c:pt idx="0">
                  <c:v>1469.157</c:v>
                </c:pt>
                <c:pt idx="1">
                  <c:v>131.647</c:v>
                </c:pt>
                <c:pt idx="2">
                  <c:v>99.50500000000002</c:v>
                </c:pt>
                <c:pt idx="3">
                  <c:v>120.49899999999997</c:v>
                </c:pt>
                <c:pt idx="4">
                  <c:v>401.1449999999999</c:v>
                </c:pt>
                <c:pt idx="5">
                  <c:v>332.438</c:v>
                </c:pt>
                <c:pt idx="6">
                  <c:v>167.364</c:v>
                </c:pt>
                <c:pt idx="7">
                  <c:v>2721.7549999999997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Jumbo Lump</c:v>
                </c:pt>
                <c:pt idx="1">
                  <c:v>Lump</c:v>
                </c:pt>
                <c:pt idx="2">
                  <c:v>Backfin</c:v>
                </c:pt>
                <c:pt idx="3">
                  <c:v>Special Meat</c:v>
                </c:pt>
                <c:pt idx="4">
                  <c:v>Claw Meat</c:v>
                </c:pt>
                <c:pt idx="5">
                  <c:v>Crab Leg Meat</c:v>
                </c:pt>
                <c:pt idx="6">
                  <c:v>Total Absolute $ Opportunity</c:v>
                </c:pt>
              </c:strCache>
            </c:strRef>
          </c:cat>
          <c:val>
            <c:numRef>
              <c:numCache>
                <c:formatCode>General</c:formatCode>
                <c:ptCount val="7"/>
                <c:pt idx="0">
                  <c:v>0.0</c:v>
                </c:pt>
                <c:pt idx="1">
                  <c:v>131.647</c:v>
                </c:pt>
                <c:pt idx="2">
                  <c:v>231.15200000000002</c:v>
                </c:pt>
                <c:pt idx="3">
                  <c:v>351.65099999999995</c:v>
                </c:pt>
                <c:pt idx="4">
                  <c:v>752.7959999999998</c:v>
                </c:pt>
                <c:pt idx="5">
                  <c:v>1085.234</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Jumbo Lump</c:v>
                </c:pt>
                <c:pt idx="1">
                  <c:v>Lump</c:v>
                </c:pt>
                <c:pt idx="2">
                  <c:v>Backfin</c:v>
                </c:pt>
                <c:pt idx="3">
                  <c:v>Special Meat</c:v>
                </c:pt>
                <c:pt idx="4">
                  <c:v>Claw Meat</c:v>
                </c:pt>
                <c:pt idx="5">
                  <c:v>Crab Leg Meat</c:v>
                </c:pt>
                <c:pt idx="6">
                  <c:v>Total Absolute $ Opportunity</c:v>
                </c:pt>
              </c:strCache>
            </c:strRef>
          </c:cat>
          <c:val>
            <c:numRef>
              <c:numCache>
                <c:formatCode>General</c:formatCode>
                <c:ptCount val="7"/>
                <c:pt idx="0">
                  <c:v>131.647</c:v>
                </c:pt>
                <c:pt idx="1">
                  <c:v>99.50500000000002</c:v>
                </c:pt>
                <c:pt idx="2">
                  <c:v>120.49899999999997</c:v>
                </c:pt>
                <c:pt idx="3">
                  <c:v>401.1449999999999</c:v>
                </c:pt>
                <c:pt idx="4">
                  <c:v>332.438</c:v>
                </c:pt>
                <c:pt idx="5">
                  <c:v>167.364</c:v>
                </c:pt>
                <c:pt idx="6">
                  <c:v>1252.598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Fresh</c:v>
                </c:pt>
                <c:pt idx="2">
                  <c:v>Frozen</c:v>
                </c:pt>
                <c:pt idx="3">
                  <c:v>Canned</c:v>
                </c:pt>
                <c:pt idx="4">
                  <c:v>Pasteurized</c:v>
                </c:pt>
                <c:pt idx="5">
                  <c:v>2036 Total</c:v>
                </c:pt>
              </c:strCache>
            </c:strRef>
          </c:cat>
          <c:val>
            <c:numRef>
              <c:numCache>
                <c:formatCode>General</c:formatCode>
                <c:ptCount val="6"/>
                <c:pt idx="0">
                  <c:v>0.0</c:v>
                </c:pt>
                <c:pt idx="1">
                  <c:v>1469.1570000000002</c:v>
                </c:pt>
                <c:pt idx="2">
                  <c:v>2158.69</c:v>
                </c:pt>
                <c:pt idx="3">
                  <c:v>2248.157</c:v>
                </c:pt>
                <c:pt idx="4">
                  <c:v>2497.139</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Fresh</c:v>
                </c:pt>
                <c:pt idx="2">
                  <c:v>Frozen</c:v>
                </c:pt>
                <c:pt idx="3">
                  <c:v>Canned</c:v>
                </c:pt>
                <c:pt idx="4">
                  <c:v>Pasteurized</c:v>
                </c:pt>
                <c:pt idx="5">
                  <c:v>2036 Total</c:v>
                </c:pt>
              </c:strCache>
            </c:strRef>
          </c:cat>
          <c:val>
            <c:numRef>
              <c:numCache>
                <c:formatCode>General</c:formatCode>
                <c:ptCount val="6"/>
                <c:pt idx="0">
                  <c:v>1469.1570000000002</c:v>
                </c:pt>
                <c:pt idx="1">
                  <c:v>689.533</c:v>
                </c:pt>
                <c:pt idx="2">
                  <c:v>89.467</c:v>
                </c:pt>
                <c:pt idx="3">
                  <c:v>248.98200000000003</c:v>
                </c:pt>
                <c:pt idx="4">
                  <c:v>224.61599999999999</c:v>
                </c:pt>
                <c:pt idx="5">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Fresh</c:v>
                </c:pt>
                <c:pt idx="1">
                  <c:v>Frozen</c:v>
                </c:pt>
                <c:pt idx="2">
                  <c:v>Canned</c:v>
                </c:pt>
                <c:pt idx="3">
                  <c:v>Pasteurized</c:v>
                </c:pt>
                <c:pt idx="4">
                  <c:v>Total Absolute $ Opportunity</c:v>
                </c:pt>
              </c:strCache>
            </c:strRef>
          </c:cat>
          <c:val>
            <c:numRef>
              <c:numCache>
                <c:formatCode>General</c:formatCode>
                <c:ptCount val="5"/>
                <c:pt idx="0">
                  <c:v>0.0</c:v>
                </c:pt>
                <c:pt idx="1">
                  <c:v>689.533</c:v>
                </c:pt>
                <c:pt idx="2">
                  <c:v>779.0</c:v>
                </c:pt>
                <c:pt idx="3">
                  <c:v>1027.982</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Fresh</c:v>
                </c:pt>
                <c:pt idx="1">
                  <c:v>Frozen</c:v>
                </c:pt>
                <c:pt idx="2">
                  <c:v>Canned</c:v>
                </c:pt>
                <c:pt idx="3">
                  <c:v>Pasteurized</c:v>
                </c:pt>
                <c:pt idx="4">
                  <c:v>Total Absolute $ Opportunity</c:v>
                </c:pt>
              </c:strCache>
            </c:strRef>
          </c:cat>
          <c:val>
            <c:numRef>
              <c:numCache>
                <c:formatCode>General</c:formatCode>
                <c:ptCount val="5"/>
                <c:pt idx="0">
                  <c:v>689.533</c:v>
                </c:pt>
                <c:pt idx="1">
                  <c:v>89.467</c:v>
                </c:pt>
                <c:pt idx="2">
                  <c:v>248.98200000000003</c:v>
                </c:pt>
                <c:pt idx="3">
                  <c:v>224.61599999999999</c:v>
                </c:pt>
                <c:pt idx="4">
                  <c:v>1252.598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Organic</c:v>
                </c:pt>
                <c:pt idx="2">
                  <c:v>Sustainably Sourced</c:v>
                </c:pt>
                <c:pt idx="3">
                  <c:v>100% Pure Crab Meat</c:v>
                </c:pt>
                <c:pt idx="4">
                  <c:v>High Protein / Omega-3 Rich</c:v>
                </c:pt>
                <c:pt idx="5">
                  <c:v>Freshly Pasteurized for Extended Shelf Life</c:v>
                </c:pt>
                <c:pt idx="6">
                  <c:v>2036 Total</c:v>
                </c:pt>
              </c:strCache>
            </c:strRef>
          </c:cat>
          <c:val>
            <c:numRef>
              <c:numCache>
                <c:formatCode>General</c:formatCode>
                <c:ptCount val="7"/>
                <c:pt idx="0">
                  <c:v>0.0</c:v>
                </c:pt>
                <c:pt idx="1">
                  <c:v>1469.1570000000002</c:v>
                </c:pt>
                <c:pt idx="2">
                  <c:v>2281.071</c:v>
                </c:pt>
                <c:pt idx="3">
                  <c:v>2327.383</c:v>
                </c:pt>
                <c:pt idx="4">
                  <c:v>2375.9669999999996</c:v>
                </c:pt>
                <c:pt idx="5">
                  <c:v>2582.314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Organic</c:v>
                </c:pt>
                <c:pt idx="2">
                  <c:v>Sustainably Sourced</c:v>
                </c:pt>
                <c:pt idx="3">
                  <c:v>100% Pure Crab Meat</c:v>
                </c:pt>
                <c:pt idx="4">
                  <c:v>High Protein / Omega-3 Rich</c:v>
                </c:pt>
                <c:pt idx="5">
                  <c:v>Freshly Pasteurized for Extended Shelf Life</c:v>
                </c:pt>
                <c:pt idx="6">
                  <c:v>2036 Total</c:v>
                </c:pt>
              </c:strCache>
            </c:strRef>
          </c:cat>
          <c:val>
            <c:numRef>
              <c:numCache>
                <c:formatCode>General</c:formatCode>
                <c:ptCount val="7"/>
                <c:pt idx="0">
                  <c:v>1469.1570000000002</c:v>
                </c:pt>
                <c:pt idx="1">
                  <c:v>811.914</c:v>
                </c:pt>
                <c:pt idx="2">
                  <c:v>46.31200000000001</c:v>
                </c:pt>
                <c:pt idx="3">
                  <c:v>48.584</c:v>
                </c:pt>
                <c:pt idx="4">
                  <c:v>206.347</c:v>
                </c:pt>
                <c:pt idx="5">
                  <c:v>139.44099999999997</c:v>
                </c:pt>
                <c:pt idx="6">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Organic</c:v>
                </c:pt>
                <c:pt idx="1">
                  <c:v>Sustainably Sourced</c:v>
                </c:pt>
                <c:pt idx="2">
                  <c:v>100% Pure Crab Meat</c:v>
                </c:pt>
                <c:pt idx="3">
                  <c:v>High Protein / Omega-3 Rich</c:v>
                </c:pt>
                <c:pt idx="4">
                  <c:v>Freshly Pasteurized for Extended Shelf Life</c:v>
                </c:pt>
                <c:pt idx="5">
                  <c:v>Total Absolute $ Opportunity</c:v>
                </c:pt>
              </c:strCache>
            </c:strRef>
          </c:cat>
          <c:val>
            <c:numRef>
              <c:numCache>
                <c:formatCode>General</c:formatCode>
                <c:ptCount val="6"/>
                <c:pt idx="0">
                  <c:v>0.0</c:v>
                </c:pt>
                <c:pt idx="1">
                  <c:v>811.914</c:v>
                </c:pt>
                <c:pt idx="2">
                  <c:v>858.226</c:v>
                </c:pt>
                <c:pt idx="3">
                  <c:v>906.81</c:v>
                </c:pt>
                <c:pt idx="4">
                  <c:v>1113.157</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Organic</c:v>
                </c:pt>
                <c:pt idx="1">
                  <c:v>Sustainably Sourced</c:v>
                </c:pt>
                <c:pt idx="2">
                  <c:v>100% Pure Crab Meat</c:v>
                </c:pt>
                <c:pt idx="3">
                  <c:v>High Protein / Omega-3 Rich</c:v>
                </c:pt>
                <c:pt idx="4">
                  <c:v>Freshly Pasteurized for Extended Shelf Life</c:v>
                </c:pt>
                <c:pt idx="5">
                  <c:v>Total Absolute $ Opportunity</c:v>
                </c:pt>
              </c:strCache>
            </c:strRef>
          </c:cat>
          <c:val>
            <c:numRef>
              <c:numCache>
                <c:formatCode>General</c:formatCode>
                <c:ptCount val="6"/>
                <c:pt idx="0">
                  <c:v>811.914</c:v>
                </c:pt>
                <c:pt idx="1">
                  <c:v>46.31200000000001</c:v>
                </c:pt>
                <c:pt idx="2">
                  <c:v>48.584</c:v>
                </c:pt>
                <c:pt idx="3">
                  <c:v>206.347</c:v>
                </c:pt>
                <c:pt idx="4">
                  <c:v>139.44099999999997</c:v>
                </c:pt>
                <c:pt idx="5">
                  <c:v>1252.598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Industrial / B2B processing</c:v>
                </c:pt>
                <c:pt idx="2">
                  <c:v>Food Service</c:v>
                </c:pt>
                <c:pt idx="3">
                  <c:v>Retail</c:v>
                </c:pt>
                <c:pt idx="4">
                  <c:v>Travel Retail</c:v>
                </c:pt>
                <c:pt idx="5">
                  <c:v>2036 Total</c:v>
                </c:pt>
              </c:strCache>
            </c:strRef>
          </c:cat>
          <c:val>
            <c:numRef>
              <c:numCache>
                <c:formatCode>General</c:formatCode>
                <c:ptCount val="6"/>
                <c:pt idx="0">
                  <c:v>0.0</c:v>
                </c:pt>
                <c:pt idx="1">
                  <c:v>1469.157</c:v>
                </c:pt>
                <c:pt idx="2">
                  <c:v>1516.167</c:v>
                </c:pt>
                <c:pt idx="3">
                  <c:v>1879.3329999999999</c:v>
                </c:pt>
                <c:pt idx="4">
                  <c:v>2626.665</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Industrial / B2B processing</c:v>
                </c:pt>
                <c:pt idx="2">
                  <c:v>Food Service</c:v>
                </c:pt>
                <c:pt idx="3">
                  <c:v>Retail</c:v>
                </c:pt>
                <c:pt idx="4">
                  <c:v>Travel Retail</c:v>
                </c:pt>
                <c:pt idx="5">
                  <c:v>2036 Total</c:v>
                </c:pt>
              </c:strCache>
            </c:strRef>
          </c:cat>
          <c:val>
            <c:numRef>
              <c:numCache>
                <c:formatCode>General</c:formatCode>
                <c:ptCount val="6"/>
                <c:pt idx="0">
                  <c:v>1469.157</c:v>
                </c:pt>
                <c:pt idx="1">
                  <c:v>47.010000000000005</c:v>
                </c:pt>
                <c:pt idx="2">
                  <c:v>363.166</c:v>
                </c:pt>
                <c:pt idx="3">
                  <c:v>747.3319999999999</c:v>
                </c:pt>
                <c:pt idx="4">
                  <c:v>95.09000000000002</c:v>
                </c:pt>
                <c:pt idx="5">
                  <c:v>2721.755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Industrial / B2B processing</c:v>
                </c:pt>
                <c:pt idx="1">
                  <c:v>Food Service</c:v>
                </c:pt>
                <c:pt idx="2">
                  <c:v>Retail</c:v>
                </c:pt>
                <c:pt idx="3">
                  <c:v>Travel Retail</c:v>
                </c:pt>
                <c:pt idx="4">
                  <c:v>Total Absolute $ Opportunity</c:v>
                </c:pt>
              </c:strCache>
            </c:strRef>
          </c:cat>
          <c:val>
            <c:numRef>
              <c:numCache>
                <c:formatCode>General</c:formatCode>
                <c:ptCount val="5"/>
                <c:pt idx="0">
                  <c:v>0.0</c:v>
                </c:pt>
                <c:pt idx="1">
                  <c:v>47.010000000000005</c:v>
                </c:pt>
                <c:pt idx="2">
                  <c:v>410.176</c:v>
                </c:pt>
                <c:pt idx="3">
                  <c:v>1157.5079999999998</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Industrial / B2B processing</c:v>
                </c:pt>
                <c:pt idx="1">
                  <c:v>Food Service</c:v>
                </c:pt>
                <c:pt idx="2">
                  <c:v>Retail</c:v>
                </c:pt>
                <c:pt idx="3">
                  <c:v>Travel Retail</c:v>
                </c:pt>
                <c:pt idx="4">
                  <c:v>Total Absolute $ Opportunity</c:v>
                </c:pt>
              </c:strCache>
            </c:strRef>
          </c:cat>
          <c:val>
            <c:numRef>
              <c:numCache>
                <c:formatCode>General</c:formatCode>
                <c:ptCount val="5"/>
                <c:pt idx="0">
                  <c:v>47.010000000000005</c:v>
                </c:pt>
                <c:pt idx="1">
                  <c:v>363.166</c:v>
                </c:pt>
                <c:pt idx="2">
                  <c:v>747.3319999999999</c:v>
                </c:pt>
                <c:pt idx="3">
                  <c:v>95.09000000000002</c:v>
                </c:pt>
                <c:pt idx="4">
                  <c:v>1252.5979999999997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Snow Crab</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5218.0</c:v>
                </c:pt>
                <c:pt idx="1">
                  <c:v>5279.0</c:v>
                </c:pt>
                <c:pt idx="2">
                  <c:v>5326.0</c:v>
                </c:pt>
                <c:pt idx="3">
                  <c:v>5361.0</c:v>
                </c:pt>
                <c:pt idx="4">
                  <c:v>5388.0</c:v>
                </c:pt>
                <c:pt idx="5">
                  <c:v>5407.0</c:v>
                </c:pt>
                <c:pt idx="6">
                  <c:v>5409.0</c:v>
                </c:pt>
                <c:pt idx="7">
                  <c:v>5422.0</c:v>
                </c:pt>
                <c:pt idx="8">
                  <c:v>5443.0</c:v>
                </c:pt>
                <c:pt idx="9">
                  <c:v>5471.0</c:v>
                </c:pt>
                <c:pt idx="10">
                  <c:v>5509.0</c:v>
                </c:pt>
                <c:pt idx="11">
                  <c:v>5557.0</c:v>
                </c:pt>
                <c:pt idx="12">
                  <c:v>5613.0</c:v>
                </c:pt>
                <c:pt idx="13">
                  <c:v>5671.0</c:v>
                </c:pt>
                <c:pt idx="14">
                  <c:v>5722.0</c:v>
                </c:pt>
                <c:pt idx="15">
                  <c:v>5768.0</c:v>
                </c:pt>
              </c:numCache>
            </c:numRef>
          </c:val>
          <c:smooth val="0"/>
        </c:ser>
        <c:ser>
          <c:idx val="1"/>
          <c:order val="1"/>
          <c:tx>
            <c:strRef>
              <c:strCache>
                <c:ptCount val="1"/>
                <c:pt idx="0">
                  <c:v>Blue Crab</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5084.0</c:v>
                </c:pt>
                <c:pt idx="1">
                  <c:v>5100.0</c:v>
                </c:pt>
                <c:pt idx="2">
                  <c:v>5125.0</c:v>
                </c:pt>
                <c:pt idx="3">
                  <c:v>5168.0</c:v>
                </c:pt>
                <c:pt idx="4">
                  <c:v>5214.0</c:v>
                </c:pt>
                <c:pt idx="5">
                  <c:v>5265.0</c:v>
                </c:pt>
                <c:pt idx="6">
                  <c:v>5280.0</c:v>
                </c:pt>
                <c:pt idx="7">
                  <c:v>5299.0</c:v>
                </c:pt>
                <c:pt idx="8">
                  <c:v>5326.0</c:v>
                </c:pt>
                <c:pt idx="9">
                  <c:v>5355.0</c:v>
                </c:pt>
                <c:pt idx="10">
                  <c:v>5387.0</c:v>
                </c:pt>
                <c:pt idx="11">
                  <c:v>5424.0</c:v>
                </c:pt>
                <c:pt idx="12">
                  <c:v>5464.0</c:v>
                </c:pt>
                <c:pt idx="13">
                  <c:v>5507.0</c:v>
                </c:pt>
                <c:pt idx="14">
                  <c:v>5556.0</c:v>
                </c:pt>
                <c:pt idx="15">
                  <c:v>5609.0</c:v>
                </c:pt>
              </c:numCache>
            </c:numRef>
          </c:val>
          <c:smooth val="0"/>
        </c:ser>
        <c:ser>
          <c:idx val="2"/>
          <c:order val="2"/>
          <c:tx>
            <c:strRef>
              <c:strCache>
                <c:ptCount val="1"/>
                <c:pt idx="0">
                  <c:v>Mud Crab</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4125.0</c:v>
                </c:pt>
                <c:pt idx="1">
                  <c:v>4151.0</c:v>
                </c:pt>
                <c:pt idx="2">
                  <c:v>4181.0</c:v>
                </c:pt>
                <c:pt idx="3">
                  <c:v>4212.0</c:v>
                </c:pt>
                <c:pt idx="4">
                  <c:v>4241.0</c:v>
                </c:pt>
                <c:pt idx="5">
                  <c:v>4265.0</c:v>
                </c:pt>
                <c:pt idx="6">
                  <c:v>4296.0</c:v>
                </c:pt>
                <c:pt idx="7">
                  <c:v>4324.0</c:v>
                </c:pt>
                <c:pt idx="8">
                  <c:v>4346.0</c:v>
                </c:pt>
                <c:pt idx="9">
                  <c:v>4367.0</c:v>
                </c:pt>
                <c:pt idx="10">
                  <c:v>4388.0</c:v>
                </c:pt>
                <c:pt idx="11">
                  <c:v>4415.0</c:v>
                </c:pt>
                <c:pt idx="12">
                  <c:v>4445.0</c:v>
                </c:pt>
                <c:pt idx="13">
                  <c:v>4475.0</c:v>
                </c:pt>
                <c:pt idx="14">
                  <c:v>4504.0</c:v>
                </c:pt>
                <c:pt idx="15">
                  <c:v>4530.0</c:v>
                </c:pt>
              </c:numCache>
            </c:numRef>
          </c:val>
          <c:smooth val="0"/>
        </c:ser>
        <c:ser>
          <c:idx val="3"/>
          <c:order val="3"/>
          <c:tx>
            <c:strRef>
              <c:strCache>
                <c:ptCount val="1"/>
                <c:pt idx="0">
                  <c:v>Dungeness Crab</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3993.0</c:v>
                </c:pt>
                <c:pt idx="1">
                  <c:v>4017.0</c:v>
                </c:pt>
                <c:pt idx="2">
                  <c:v>4041.0</c:v>
                </c:pt>
                <c:pt idx="3">
                  <c:v>4070.0</c:v>
                </c:pt>
                <c:pt idx="4">
                  <c:v>4101.0</c:v>
                </c:pt>
                <c:pt idx="5">
                  <c:v>4136.0</c:v>
                </c:pt>
                <c:pt idx="6">
                  <c:v>4154.0</c:v>
                </c:pt>
                <c:pt idx="7">
                  <c:v>4175.0</c:v>
                </c:pt>
                <c:pt idx="8">
                  <c:v>4198.0</c:v>
                </c:pt>
                <c:pt idx="9">
                  <c:v>4224.0</c:v>
                </c:pt>
                <c:pt idx="10">
                  <c:v>4255.0</c:v>
                </c:pt>
                <c:pt idx="11">
                  <c:v>4288.0</c:v>
                </c:pt>
                <c:pt idx="12">
                  <c:v>4320.0</c:v>
                </c:pt>
                <c:pt idx="13">
                  <c:v>4351.0</c:v>
                </c:pt>
                <c:pt idx="14">
                  <c:v>4380.0</c:v>
                </c:pt>
                <c:pt idx="15">
                  <c:v>4408.0</c:v>
                </c:pt>
              </c:numCache>
            </c:numRef>
          </c:val>
          <c:smooth val="0"/>
        </c:ser>
        <c:ser>
          <c:idx val="4"/>
          <c:order val="4"/>
          <c:tx>
            <c:strRef>
              <c:strCache>
                <c:ptCount val="1"/>
                <c:pt idx="0">
                  <c:v>Other commercially traded crab species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3943.0</c:v>
                </c:pt>
                <c:pt idx="1">
                  <c:v>3958.0</c:v>
                </c:pt>
                <c:pt idx="2">
                  <c:v>3975.0</c:v>
                </c:pt>
                <c:pt idx="3">
                  <c:v>3996.0</c:v>
                </c:pt>
                <c:pt idx="4">
                  <c:v>4034.0</c:v>
                </c:pt>
                <c:pt idx="5">
                  <c:v>4089.0</c:v>
                </c:pt>
                <c:pt idx="6">
                  <c:v>4131.0</c:v>
                </c:pt>
                <c:pt idx="7">
                  <c:v>4167.0</c:v>
                </c:pt>
                <c:pt idx="8">
                  <c:v>4193.0</c:v>
                </c:pt>
                <c:pt idx="9">
                  <c:v>4210.0</c:v>
                </c:pt>
                <c:pt idx="10">
                  <c:v>4223.0</c:v>
                </c:pt>
                <c:pt idx="11">
                  <c:v>4238.0</c:v>
                </c:pt>
                <c:pt idx="12">
                  <c:v>4257.0</c:v>
                </c:pt>
                <c:pt idx="13">
                  <c:v>4287.0</c:v>
                </c:pt>
                <c:pt idx="14">
                  <c:v>4327.0</c:v>
                </c:pt>
                <c:pt idx="15">
                  <c:v>4369.0</c:v>
                </c:pt>
              </c:numCache>
            </c:numRef>
          </c:val>
          <c:smooth val="0"/>
        </c:ser>
        <c:ser>
          <c:idx val="5"/>
          <c:order val="5"/>
          <c:tx>
            <c:strRef>
              <c:strCache>
                <c:ptCount val="1"/>
                <c:pt idx="0">
                  <c:v>King Crab</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3133.0</c:v>
                </c:pt>
                <c:pt idx="1">
                  <c:v>3140.0</c:v>
                </c:pt>
                <c:pt idx="2">
                  <c:v>3151.0</c:v>
                </c:pt>
                <c:pt idx="3">
                  <c:v>3172.0</c:v>
                </c:pt>
                <c:pt idx="4">
                  <c:v>3201.0</c:v>
                </c:pt>
                <c:pt idx="5">
                  <c:v>3238.0</c:v>
                </c:pt>
                <c:pt idx="6">
                  <c:v>3242.0</c:v>
                </c:pt>
                <c:pt idx="7">
                  <c:v>3250.0</c:v>
                </c:pt>
                <c:pt idx="8">
                  <c:v>3260.0</c:v>
                </c:pt>
                <c:pt idx="9">
                  <c:v>3275.0</c:v>
                </c:pt>
                <c:pt idx="10">
                  <c:v>3292.0</c:v>
                </c:pt>
                <c:pt idx="11">
                  <c:v>3313.0</c:v>
                </c:pt>
                <c:pt idx="12">
                  <c:v>3339.0</c:v>
                </c:pt>
                <c:pt idx="13">
                  <c:v>3368.0</c:v>
                </c:pt>
                <c:pt idx="14">
                  <c:v>3403.0</c:v>
                </c:pt>
                <c:pt idx="15">
                  <c:v>3442.0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6000.0"/>
          <c:min val="30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C55A11"/>
              </a:solidFill>
            </c:spPr>
          </c:dPt>
          <c:dPt>
            <c:idx val="3"/>
            <c:spPr>
              <a:solidFill>
                <a:srgbClr val="C55A11"/>
              </a:solidFill>
            </c:spPr>
          </c:dPt>
          <c:dPt>
            <c:idx val="4"/>
            <c:spPr>
              <a:solidFill>
                <a:srgbClr val="C55A11"/>
              </a:solidFill>
            </c:spPr>
          </c:dPt>
          <c:dPt>
            <c:idx val="5"/>
            <c:spPr>
              <a:solidFill>
                <a:srgbClr val="C55A11"/>
              </a:solidFill>
            </c:spPr>
          </c:dPt>
          <c:cat>
            <c:strRef>
              <c:strCache>
                <c:ptCount val="6"/>
                <c:pt idx="0">
                  <c:v>King Crab</c:v>
                </c:pt>
                <c:pt idx="1">
                  <c:v>Other commercially traded crab species</c:v>
                </c:pt>
                <c:pt idx="2">
                  <c:v>Dungeness Crab</c:v>
                </c:pt>
                <c:pt idx="3">
                  <c:v>Mud Crab</c:v>
                </c:pt>
                <c:pt idx="4">
                  <c:v>Blue Crab</c:v>
                </c:pt>
                <c:pt idx="5">
                  <c:v>Snow Crab</c:v>
                </c:pt>
              </c:strCache>
            </c:strRef>
          </c:cat>
          <c:val>
            <c:numRef>
              <c:numCache>
                <c:formatCode>General</c:formatCode>
                <c:ptCount val="6"/>
                <c:pt idx="0">
                  <c:v>79.0</c:v>
                </c:pt>
                <c:pt idx="1">
                  <c:v>99.7</c:v>
                </c:pt>
                <c:pt idx="2">
                  <c:v>100.9</c:v>
                </c:pt>
                <c:pt idx="3">
                  <c:v>104.0</c:v>
                </c:pt>
                <c:pt idx="4">
                  <c:v>128.4</c:v>
                </c:pt>
                <c:pt idx="5">
                  <c:v>131.9</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34.0"/>
          <c:min val="76.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108.9</c:v>
                </c:pt>
                <c:pt idx="1">
                  <c:v>98.9</c:v>
                </c:pt>
                <c:pt idx="2">
                  <c:v>77.4</c:v>
                </c:pt>
                <c:pt idx="3">
                  <c:v>74.9</c:v>
                </c:pt>
                <c:pt idx="4">
                  <c:v>57.9</c:v>
                </c:pt>
                <c:pt idx="5">
                  <c:v>49.4</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67.3</c:v>
                </c:pt>
                <c:pt idx="1">
                  <c:v>61.0</c:v>
                </c:pt>
                <c:pt idx="2">
                  <c:v>47.9</c:v>
                </c:pt>
                <c:pt idx="3">
                  <c:v>46.2</c:v>
                </c:pt>
                <c:pt idx="4">
                  <c:v>36.6</c:v>
                </c:pt>
                <c:pt idx="5">
                  <c:v>30.7</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80.0"/>
          <c:min val="4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16.616982878130067</c:v>
                </c:pt>
                <c:pt idx="1">
                  <c:v>15.838373751146179</c:v>
                </c:pt>
                <c:pt idx="2">
                  <c:v>12.226323321243271</c:v>
                </c:pt>
                <c:pt idx="3">
                  <c:v>7.956018792951126</c:v>
                </c:pt>
                <c:pt idx="4">
                  <c:v>5.814138033935408</c:v>
                </c:pt>
                <c:pt idx="5">
                  <c:v>5.618762435113716</c:v>
                </c:pt>
                <c:pt idx="6">
                  <c:v>5.851259038190951</c:v>
                </c:pt>
                <c:pt idx="7">
                  <c:v>4.7673503513720465</c:v>
                </c:pt>
                <c:pt idx="8">
                  <c:v>3.1905899020099824</c:v>
                </c:pt>
                <c:pt idx="9">
                  <c:v>1.9266097914653113</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Phillips Foods</c:v>
                </c:pt>
                <c:pt idx="1">
                  <c:v>Phillips Foods, Inc.</c:v>
                </c:pt>
                <c:pt idx="2">
                  <c:v>Graham &amp; Rollins, Inc.</c:v>
                </c:pt>
                <c:pt idx="3">
                  <c:v>Supreme Crab and Seafood, Inc.</c:v>
                </c:pt>
                <c:pt idx="4">
                  <c:v>North Coast Seafoods</c:v>
                </c:pt>
                <c:pt idx="5">
                  <c:v>Heron Point Seafood</c:v>
                </c:pt>
                <c:pt idx="6">
                  <c:v>Phil-Union Frozen Foods, Inc.</c:v>
                </c:pt>
                <c:pt idx="7">
                  <c:v>Aqua Star</c:v>
                </c:pt>
                <c:pt idx="8">
                  <c:v>Chicken of the Sea Frozen Foods</c:v>
                </c:pt>
                <c:pt idx="9">
                  <c:v>The Crab Place</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Industrial / B2B processing</c:v>
                </c:pt>
                <c:pt idx="1">
                  <c:v>Food Service</c:v>
                </c:pt>
                <c:pt idx="2">
                  <c:v>Retail</c:v>
                </c:pt>
                <c:pt idx="3">
                  <c:v>Travel Retail</c:v>
                </c:pt>
              </c:strCache>
            </c:strRef>
          </c:cat>
          <c:val>
            <c:numRef>
              <c:numCache>
                <c:formatCode>General</c:formatCode>
                <c:ptCount val="4"/>
                <c:pt idx="0">
                  <c:v>998.21543891226</c:v>
                </c:pt>
                <c:pt idx="1">
                  <c:v>555.3426266982761</c:v>
                </c:pt>
                <c:pt idx="2">
                  <c:v>699.0182765750101</c:v>
                </c:pt>
                <c:pt idx="3">
                  <c:v>1320.5115211112816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743.0752078668918"/>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1186.1983851967307</c:v>
                </c:pt>
                <c:pt idx="1">
                  <c:v>722.0363160187783</c:v>
                </c:pt>
                <c:pt idx="2">
                  <c:v>389.37325370586706</c:v>
                </c:pt>
                <c:pt idx="3">
                  <c:v>439.96197166551804</c:v>
                </c:pt>
                <c:pt idx="4">
                  <c:v>835.5179367099335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565.7818684596846"/>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Mud Crab</c:v>
                </c:pt>
                <c:pt idx="1">
                  <c:v>King Crab</c:v>
                </c:pt>
                <c:pt idx="2">
                  <c:v>Other commercially traded crab species</c:v>
                </c:pt>
                <c:pt idx="3">
                  <c:v>Snow Crab</c:v>
                </c:pt>
              </c:strCache>
            </c:strRef>
          </c:cat>
          <c:val>
            <c:numRef>
              <c:numCache>
                <c:formatCode>General</c:formatCode>
                <c:ptCount val="4"/>
                <c:pt idx="0">
                  <c:v>411.6865916347711</c:v>
                </c:pt>
                <c:pt idx="1">
                  <c:v>572.3400425933984</c:v>
                </c:pt>
                <c:pt idx="2">
                  <c:v>1067.2292657251935</c:v>
                </c:pt>
                <c:pt idx="3">
                  <c:v>1521.8319633434644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3619.2</c:v>
                </c:pt>
                <c:pt idx="1">
                  <c:v>3253.3069741564204</c:v>
                </c:pt>
                <c:pt idx="2">
                  <c:v>2377.573696295725</c:v>
                </c:pt>
                <c:pt idx="3">
                  <c:v>1523.2082215710411</c:v>
                </c:pt>
                <c:pt idx="4">
                  <c:v>1208.4571824812097</c:v>
                </c:pt>
              </c:numCache>
            </c:numRef>
          </c:val>
        </c:ser>
        <c:ser>
          <c:idx val="1"/>
          <c:order val="1"/>
          <c:tx>
            <c:strRef>
              <c:strCache>
                <c:ptCount val="1"/>
                <c:pt idx="0">
                  <c:v>SOM</c:v>
                </c:pt>
              </c:strCache>
            </c:strRef>
          </c:tx>
          <c:spPr>
            <a:solidFill>
              <a:srgbClr val="0E72AE"/>
            </a:solidFill>
            <a:ln>
              <a:noFill/>
            </a:ln>
          </c:spPr>
          <c:dLbls>
            <c:dLbl>
              <c:idx val="0"/>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1186.1983851967307</c:v>
                </c:pt>
                <c:pt idx="1">
                  <c:v>722.0363160187783</c:v>
                </c:pt>
                <c:pt idx="2">
                  <c:v>389.37325370586706</c:v>
                </c:pt>
                <c:pt idx="3">
                  <c:v>439.96197166551804</c:v>
                </c:pt>
                <c:pt idx="4">
                  <c:v>835.5179367099335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4632.576"/>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Global Crab Meat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By Crab Species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By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By Meat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By Product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By Product Claim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Europe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Europe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Europe Crab Meat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By Crab Species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Crab Species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By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By Meat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Meat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By Product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By Product Claim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Product Claim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Crab Species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Crab Species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Source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Source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Meat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Meat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Product Format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Product Format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Product Claim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Product Claim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Country Distribution Channel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Company Profiles &amp; Strategic Benchmarking Phillips Foods Snapshot</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Company Profiles &amp; Strategic Benchmarking Phillips Foods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Company Profiles &amp; Strategic Benchmarking Phillips Foods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Company Profiles &amp; Strategic Benchmarking Phillips Foods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Competitor Company Profiles &amp; Strategic Benchmarking Phillips Foods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Crab Meat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8.jpg"/><Relationship Id="rId3" Type="http://schemas.openxmlformats.org/officeDocument/2006/relationships/image" Target="../media/image929.png"/><Relationship Id="rId4" Type="http://schemas.openxmlformats.org/officeDocument/2006/relationships/image" Target="../media/image930.png"/><Relationship Id="rId5" Type="http://schemas.openxmlformats.org/officeDocument/2006/relationships/image" Target="../media/image9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26.xml"/><Relationship Id="rId9" Type="http://schemas.openxmlformats.org/officeDocument/2006/relationships/slide" Target="slide27.xml"/><Relationship Id="rId10" Type="http://schemas.openxmlformats.org/officeDocument/2006/relationships/slide" Target="slide38.xml"/><Relationship Id="rId11" Type="http://schemas.openxmlformats.org/officeDocument/2006/relationships/slide" Target="slide46.xml"/><Relationship Id="rId12" Type="http://schemas.openxmlformats.org/officeDocument/2006/relationships/slide" Target="slide87.xml"/><Relationship Id="rId13" Type="http://schemas.openxmlformats.org/officeDocument/2006/relationships/slide" Target="slide88.xml"/><Relationship Id="rId14" Type="http://schemas.openxmlformats.org/officeDocument/2006/relationships/slide" Target="slide99.xml"/><Relationship Id="rId15" Type="http://schemas.openxmlformats.org/officeDocument/2006/relationships/slide" Target="slide107.xml"/><Relationship Id="rId16" Type="http://schemas.openxmlformats.org/officeDocument/2006/relationships/slide" Target="slide148.xml"/><Relationship Id="rId17" Type="http://schemas.openxmlformats.org/officeDocument/2006/relationships/slide" Target="slide149.xml"/><Relationship Id="rId18" Type="http://schemas.openxmlformats.org/officeDocument/2006/relationships/slide" Target="slide153.xml"/><Relationship Id="rId19" Type="http://schemas.openxmlformats.org/officeDocument/2006/relationships/slide" Target="slide172.xml"/><Relationship Id="rId20" Type="http://schemas.openxmlformats.org/officeDocument/2006/relationships/slide" Target="slide173.xml"/><Relationship Id="rId21" Type="http://schemas.openxmlformats.org/officeDocument/2006/relationships/slide" Target="slide186.xml"/><Relationship Id="rId22" Type="http://schemas.openxmlformats.org/officeDocument/2006/relationships/slide" Target="slide190.xml"/><Relationship Id="rId23" Type="http://schemas.openxmlformats.org/officeDocument/2006/relationships/slide" Target="slide191.xml"/><Relationship Id="rId24" Type="http://schemas.openxmlformats.org/officeDocument/2006/relationships/slide" Target="slide199.xml"/><Relationship Id="rId25" Type="http://schemas.openxmlformats.org/officeDocument/2006/relationships/slide" Target="slide212.xml"/><Relationship Id="rId26" Type="http://schemas.openxmlformats.org/officeDocument/2006/relationships/slide" Target="slide200.xml"/><Relationship Id="rId27" Type="http://schemas.openxmlformats.org/officeDocument/2006/relationships/slide" Target="slide20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67.png"/><Relationship Id="rId11" Type="http://schemas.openxmlformats.org/officeDocument/2006/relationships/image" Target="../media/image68.png"/><Relationship Id="rId12" Type="http://schemas.openxmlformats.org/officeDocument/2006/relationships/image" Target="../media/image69.png"/><Relationship Id="rId13" Type="http://schemas.openxmlformats.org/officeDocument/2006/relationships/image" Target="../media/image70.png"/><Relationship Id="rId14" Type="http://schemas.openxmlformats.org/officeDocument/2006/relationships/image" Target="../media/image71.png"/><Relationship Id="rId15" Type="http://schemas.openxmlformats.org/officeDocument/2006/relationships/image" Target="../media/image72.png"/><Relationship Id="rId16" Type="http://schemas.openxmlformats.org/officeDocument/2006/relationships/image" Target="../media/image73.png"/><Relationship Id="rId17" Type="http://schemas.openxmlformats.org/officeDocument/2006/relationships/image" Target="../media/image74.png"/><Relationship Id="rId18" Type="http://schemas.openxmlformats.org/officeDocument/2006/relationships/image" Target="../media/image75.png"/><Relationship Id="rId19" Type="http://schemas.openxmlformats.org/officeDocument/2006/relationships/image" Target="../media/image76.png"/><Relationship Id="rId20" Type="http://schemas.openxmlformats.org/officeDocument/2006/relationships/image" Target="../media/image77.png"/><Relationship Id="rId21" Type="http://schemas.openxmlformats.org/officeDocument/2006/relationships/image" Target="../media/image78.png"/><Relationship Id="rId2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90.png"/><Relationship Id="rId7" Type="http://schemas.openxmlformats.org/officeDocument/2006/relationships/image" Target="../media/image172.png"/><Relationship Id="rId8" Type="http://schemas.openxmlformats.org/officeDocument/2006/relationships/image" Target="../media/image173.png"/><Relationship Id="rId9" Type="http://schemas.openxmlformats.org/officeDocument/2006/relationships/image" Target="../media/image174.png"/><Relationship Id="rId10" Type="http://schemas.openxmlformats.org/officeDocument/2006/relationships/image" Target="../media/image175.png"/><Relationship Id="rId11" Type="http://schemas.openxmlformats.org/officeDocument/2006/relationships/image" Target="../media/image176.png"/><Relationship Id="rId12" Type="http://schemas.openxmlformats.org/officeDocument/2006/relationships/image" Target="../media/image177.png"/><Relationship Id="rId1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notesSlide" Target="../notesSlides/notesSlide35.xml"/><Relationship Id="rId7"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notesSlide" Target="../notesSlides/notesSlide38.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 Id="rId8" Type="http://schemas.openxmlformats.org/officeDocument/2006/relationships/image" Target="../media/image207.png"/><Relationship Id="rId9" Type="http://schemas.openxmlformats.org/officeDocument/2006/relationships/image" Target="../media/image208.png"/><Relationship Id="rId10" Type="http://schemas.openxmlformats.org/officeDocument/2006/relationships/image" Target="../media/image209.png"/><Relationship Id="rId11" Type="http://schemas.openxmlformats.org/officeDocument/2006/relationships/image" Target="../media/image210.png"/><Relationship Id="rId12"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image" Target="../media/image213.png"/><Relationship Id="rId15" Type="http://schemas.openxmlformats.org/officeDocument/2006/relationships/image" Target="../media/image214.png"/><Relationship Id="rId16" Type="http://schemas.openxmlformats.org/officeDocument/2006/relationships/image" Target="../media/image215.png"/><Relationship Id="rId17" Type="http://schemas.openxmlformats.org/officeDocument/2006/relationships/image" Target="../media/image216.png"/><Relationship Id="rId18" Type="http://schemas.openxmlformats.org/officeDocument/2006/relationships/image" Target="../media/image217.png"/><Relationship Id="rId19" Type="http://schemas.openxmlformats.org/officeDocument/2006/relationships/image" Target="../media/image218.png"/><Relationship Id="rId20" Type="http://schemas.openxmlformats.org/officeDocument/2006/relationships/image" Target="../media/image219.png"/><Relationship Id="rId21" Type="http://schemas.openxmlformats.org/officeDocument/2006/relationships/image" Target="../media/image109.png"/><Relationship Id="rId2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42.xml"/><Relationship Id="rId6"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chart" Target="../charts/chart34.xml"/><Relationship Id="rId6" Type="http://schemas.openxmlformats.org/officeDocument/2006/relationships/chart" Target="../charts/chart35.xml"/><Relationship Id="rId7" Type="http://schemas.openxmlformats.org/officeDocument/2006/relationships/notesSlide" Target="../notesSlides/notesSlide43.xml"/><Relationship Id="rId8"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notesSlide" Target="../notesSlides/notesSlide44.xml"/><Relationship Id="rId6"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notesSlide" Target="../notesSlides/notesSlide47.xml"/><Relationship Id="rId5"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 Id="rId4" Type="http://schemas.openxmlformats.org/officeDocument/2006/relationships/image" Target="../media/image269.png"/><Relationship Id="rId5" Type="http://schemas.openxmlformats.org/officeDocument/2006/relationships/image" Target="../media/image270.png"/><Relationship Id="rId6" Type="http://schemas.openxmlformats.org/officeDocument/2006/relationships/image" Target="../media/image271.png"/><Relationship Id="rId7" Type="http://schemas.openxmlformats.org/officeDocument/2006/relationships/image" Target="../media/image272.png"/><Relationship Id="rId8" Type="http://schemas.openxmlformats.org/officeDocument/2006/relationships/image" Target="../media/image273.png"/><Relationship Id="rId9" Type="http://schemas.openxmlformats.org/officeDocument/2006/relationships/image" Target="../media/image274.png"/><Relationship Id="rId10" Type="http://schemas.openxmlformats.org/officeDocument/2006/relationships/image" Target="../media/image275.png"/><Relationship Id="rId11" Type="http://schemas.openxmlformats.org/officeDocument/2006/relationships/image" Target="../media/image276.png"/><Relationship Id="rId12" Type="http://schemas.openxmlformats.org/officeDocument/2006/relationships/image" Target="../media/image69.png"/><Relationship Id="rId13" Type="http://schemas.openxmlformats.org/officeDocument/2006/relationships/image" Target="../media/image277.png"/><Relationship Id="rId14" Type="http://schemas.openxmlformats.org/officeDocument/2006/relationships/image" Target="../media/image278.png"/><Relationship Id="rId15" Type="http://schemas.openxmlformats.org/officeDocument/2006/relationships/image" Target="../media/image279.png"/><Relationship Id="rId16"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notesSlide" Target="../notesSlides/notesSlide51.xml"/><Relationship Id="rId6"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chart" Target="../charts/chart42.xml"/><Relationship Id="rId5" Type="http://schemas.openxmlformats.org/officeDocument/2006/relationships/chart" Target="../charts/chart43.xml"/><Relationship Id="rId6" Type="http://schemas.openxmlformats.org/officeDocument/2006/relationships/chart" Target="../charts/chart44.xml"/><Relationship Id="rId7" Type="http://schemas.openxmlformats.org/officeDocument/2006/relationships/notesSlide" Target="../notesSlides/notesSlide52.xml"/><Relationship Id="rId8"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 Id="rId4"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notesSlide" Target="../notesSlides/notesSlide55.xml"/><Relationship Id="rId5"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 Id="rId4" Type="http://schemas.openxmlformats.org/officeDocument/2006/relationships/image" Target="../media/image315.png"/><Relationship Id="rId5" Type="http://schemas.openxmlformats.org/officeDocument/2006/relationships/image" Target="../media/image316.png"/><Relationship Id="rId6" Type="http://schemas.openxmlformats.org/officeDocument/2006/relationships/image" Target="../media/image317.png"/><Relationship Id="rId7" Type="http://schemas.openxmlformats.org/officeDocument/2006/relationships/image" Target="../media/image318.png"/><Relationship Id="rId8" Type="http://schemas.openxmlformats.org/officeDocument/2006/relationships/image" Target="../media/image319.png"/><Relationship Id="rId9" Type="http://schemas.openxmlformats.org/officeDocument/2006/relationships/image" Target="../media/image320.png"/><Relationship Id="rId10" Type="http://schemas.openxmlformats.org/officeDocument/2006/relationships/image" Target="../media/image321.png"/><Relationship Id="rId11" Type="http://schemas.openxmlformats.org/officeDocument/2006/relationships/image" Target="../media/image322.png"/><Relationship Id="rId12" Type="http://schemas.openxmlformats.org/officeDocument/2006/relationships/image" Target="../media/image323.png"/><Relationship Id="rId13" Type="http://schemas.openxmlformats.org/officeDocument/2006/relationships/image" Target="../media/image324.png"/><Relationship Id="rId14" Type="http://schemas.openxmlformats.org/officeDocument/2006/relationships/image" Target="../media/image325.png"/><Relationship Id="rId15" Type="http://schemas.openxmlformats.org/officeDocument/2006/relationships/image" Target="../media/image66.png"/><Relationship Id="rId16" Type="http://schemas.openxmlformats.org/officeDocument/2006/relationships/image" Target="../media/image326.png"/><Relationship Id="rId17" Type="http://schemas.openxmlformats.org/officeDocument/2006/relationships/image" Target="../media/image327.png"/><Relationship Id="rId18" Type="http://schemas.openxmlformats.org/officeDocument/2006/relationships/image" Target="../media/image328.png"/><Relationship Id="rId19"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59.xml"/><Relationship Id="rId6"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chart" Target="../charts/chart50.xml"/><Relationship Id="rId6" Type="http://schemas.openxmlformats.org/officeDocument/2006/relationships/chart" Target="../charts/chart51.xml"/><Relationship Id="rId7" Type="http://schemas.openxmlformats.org/officeDocument/2006/relationships/notesSlide" Target="../notesSlides/notesSlide60.xml"/><Relationship Id="rId8"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61.xml"/><Relationship Id="rId5"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64.xml"/><Relationship Id="rId5"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image" Target="../media/image371.png"/><Relationship Id="rId5" Type="http://schemas.openxmlformats.org/officeDocument/2006/relationships/image" Target="../media/image372.png"/><Relationship Id="rId6" Type="http://schemas.openxmlformats.org/officeDocument/2006/relationships/image" Target="../media/image373.png"/><Relationship Id="rId7" Type="http://schemas.openxmlformats.org/officeDocument/2006/relationships/image" Target="../media/image374.png"/><Relationship Id="rId8" Type="http://schemas.openxmlformats.org/officeDocument/2006/relationships/image" Target="../media/image375.png"/><Relationship Id="rId9" Type="http://schemas.openxmlformats.org/officeDocument/2006/relationships/image" Target="../media/image376.png"/><Relationship Id="rId10" Type="http://schemas.openxmlformats.org/officeDocument/2006/relationships/image" Target="../media/image377.png"/><Relationship Id="rId11" Type="http://schemas.openxmlformats.org/officeDocument/2006/relationships/image" Target="../media/image378.png"/><Relationship Id="rId12" Type="http://schemas.openxmlformats.org/officeDocument/2006/relationships/image" Target="../media/image379.png"/><Relationship Id="rId13" Type="http://schemas.openxmlformats.org/officeDocument/2006/relationships/image" Target="../media/image380.png"/><Relationship Id="rId14" Type="http://schemas.openxmlformats.org/officeDocument/2006/relationships/image" Target="../media/image381.png"/><Relationship Id="rId15" Type="http://schemas.openxmlformats.org/officeDocument/2006/relationships/image" Target="../media/image382.png"/><Relationship Id="rId1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notesSlide" Target="../notesSlides/notesSlide68.xml"/><Relationship Id="rId6"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chart" Target="../charts/chart58.xml"/><Relationship Id="rId6" Type="http://schemas.openxmlformats.org/officeDocument/2006/relationships/chart" Target="../charts/chart59.xml"/><Relationship Id="rId7" Type="http://schemas.openxmlformats.org/officeDocument/2006/relationships/notesSlide" Target="../notesSlides/notesSlide69.xml"/><Relationship Id="rId8"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notesSlide" Target="../notesSlides/notesSlide80.xml"/><Relationship Id="rId6"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chart" Target="../charts/chart64.xml"/><Relationship Id="rId5" Type="http://schemas.openxmlformats.org/officeDocument/2006/relationships/notesSlide" Target="../notesSlides/notesSlide82.xml"/><Relationship Id="rId6"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83.xml"/><Relationship Id="rId6"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84.xml"/><Relationship Id="rId6"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87.xml"/><Relationship Id="rId5"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notesSlide" Target="../notesSlides/notesSlide89.xml"/><Relationship Id="rId5"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notesSlide" Target="../notesSlides/notesSlide91.xml"/><Relationship Id="rId5"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95.xml"/><Relationship Id="rId6"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521.png"/><Relationship Id="rId5" Type="http://schemas.openxmlformats.org/officeDocument/2006/relationships/image" Target="../media/image522.png"/><Relationship Id="rId6" Type="http://schemas.openxmlformats.org/officeDocument/2006/relationships/image" Target="../media/image208.png"/><Relationship Id="rId7" Type="http://schemas.openxmlformats.org/officeDocument/2006/relationships/image" Target="../media/image523.png"/><Relationship Id="rId8" Type="http://schemas.openxmlformats.org/officeDocument/2006/relationships/image" Target="../media/image524.png"/><Relationship Id="rId9" Type="http://schemas.openxmlformats.org/officeDocument/2006/relationships/image" Target="../media/image525.png"/><Relationship Id="rId10" Type="http://schemas.openxmlformats.org/officeDocument/2006/relationships/image" Target="../media/image526.png"/><Relationship Id="rId11" Type="http://schemas.openxmlformats.org/officeDocument/2006/relationships/image" Target="../media/image527.png"/><Relationship Id="rId12" Type="http://schemas.openxmlformats.org/officeDocument/2006/relationships/image" Target="../media/image528.png"/><Relationship Id="rId13" Type="http://schemas.openxmlformats.org/officeDocument/2006/relationships/image" Target="../media/image529.png"/><Relationship Id="rId14" Type="http://schemas.openxmlformats.org/officeDocument/2006/relationships/image" Target="../media/image530.png"/><Relationship Id="rId15" Type="http://schemas.openxmlformats.org/officeDocument/2006/relationships/image" Target="../media/image531.png"/><Relationship Id="rId16" Type="http://schemas.openxmlformats.org/officeDocument/2006/relationships/image" Target="../media/image532.png"/><Relationship Id="rId17" Type="http://schemas.openxmlformats.org/officeDocument/2006/relationships/image" Target="../media/image533.png"/><Relationship Id="rId18" Type="http://schemas.openxmlformats.org/officeDocument/2006/relationships/image" Target="../media/image534.png"/><Relationship Id="rId19" Type="http://schemas.openxmlformats.org/officeDocument/2006/relationships/image" Target="../media/image535.png"/><Relationship Id="rId20" Type="http://schemas.openxmlformats.org/officeDocument/2006/relationships/image" Target="../media/image536.png"/><Relationship Id="rId21"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notesSlide" Target="../notesSlides/notesSlide98.xml"/><Relationship Id="rId6"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chart" Target="../charts/chart79.xml"/><Relationship Id="rId6" Type="http://schemas.openxmlformats.org/officeDocument/2006/relationships/chart" Target="../charts/chart80.xml"/><Relationship Id="rId7" Type="http://schemas.openxmlformats.org/officeDocument/2006/relationships/notesSlide" Target="../notesSlides/notesSlide99.xml"/><Relationship Id="rId8"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notesSlide" Target="../notesSlides/notesSlide103.xml"/><Relationship Id="rId5"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555.png"/><Relationship Id="rId5" Type="http://schemas.openxmlformats.org/officeDocument/2006/relationships/image" Target="../media/image556.png"/><Relationship Id="rId6" Type="http://schemas.openxmlformats.org/officeDocument/2006/relationships/image" Target="../media/image78.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279.png"/><Relationship Id="rId10" Type="http://schemas.openxmlformats.org/officeDocument/2006/relationships/image" Target="../media/image559.png"/><Relationship Id="rId11" Type="http://schemas.openxmlformats.org/officeDocument/2006/relationships/image" Target="../media/image560.png"/><Relationship Id="rId12" Type="http://schemas.openxmlformats.org/officeDocument/2006/relationships/image" Target="../media/image561.png"/><Relationship Id="rId1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chart" Target="../charts/chart85.xml"/><Relationship Id="rId5" Type="http://schemas.openxmlformats.org/officeDocument/2006/relationships/notesSlide" Target="../notesSlides/notesSlide107.xml"/><Relationship Id="rId6"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chart" Target="../charts/chart88.xml"/><Relationship Id="rId6" Type="http://schemas.openxmlformats.org/officeDocument/2006/relationships/notesSlide" Target="../notesSlides/notesSlide108.xml"/><Relationship Id="rId7"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notesSlide" Target="../notesSlides/notesSlide111.xml"/><Relationship Id="rId5"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image" Target="../media/image605.png"/><Relationship Id="rId5" Type="http://schemas.openxmlformats.org/officeDocument/2006/relationships/image" Target="../media/image606.png"/><Relationship Id="rId6" Type="http://schemas.openxmlformats.org/officeDocument/2006/relationships/image" Target="../media/image607.png"/><Relationship Id="rId7" Type="http://schemas.openxmlformats.org/officeDocument/2006/relationships/image" Target="../media/image608.png"/><Relationship Id="rId8" Type="http://schemas.openxmlformats.org/officeDocument/2006/relationships/image" Target="../media/image609.png"/><Relationship Id="rId9" Type="http://schemas.openxmlformats.org/officeDocument/2006/relationships/image" Target="../media/image610.png"/><Relationship Id="rId10" Type="http://schemas.openxmlformats.org/officeDocument/2006/relationships/image" Target="../media/image611.png"/><Relationship Id="rId11" Type="http://schemas.openxmlformats.org/officeDocument/2006/relationships/image" Target="../media/image469.png"/><Relationship Id="rId12" Type="http://schemas.openxmlformats.org/officeDocument/2006/relationships/image" Target="../media/image205.png"/><Relationship Id="rId13" Type="http://schemas.openxmlformats.org/officeDocument/2006/relationships/image" Target="../media/image612.png"/><Relationship Id="rId14" Type="http://schemas.openxmlformats.org/officeDocument/2006/relationships/image" Target="../media/image470.png"/><Relationship Id="rId15" Type="http://schemas.openxmlformats.org/officeDocument/2006/relationships/image" Target="../media/image69.png"/><Relationship Id="rId16" Type="http://schemas.openxmlformats.org/officeDocument/2006/relationships/image" Target="../media/image613.png"/><Relationship Id="rId17" Type="http://schemas.openxmlformats.org/officeDocument/2006/relationships/image" Target="../media/image473.png"/><Relationship Id="rId18" Type="http://schemas.openxmlformats.org/officeDocument/2006/relationships/image" Target="../media/image614.png"/><Relationship Id="rId19" Type="http://schemas.openxmlformats.org/officeDocument/2006/relationships/image" Target="../media/image615.png"/><Relationship Id="rId20" Type="http://schemas.openxmlformats.org/officeDocument/2006/relationships/image" Target="../media/image468.png"/><Relationship Id="rId21" Type="http://schemas.openxmlformats.org/officeDocument/2006/relationships/image" Target="../media/image525.png"/><Relationship Id="rId22"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notesSlide" Target="../notesSlides/notesSlide115.xml"/><Relationship Id="rId6"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chart" Target="../charts/chart93.xml"/><Relationship Id="rId5" Type="http://schemas.openxmlformats.org/officeDocument/2006/relationships/chart" Target="../charts/chart94.xml"/><Relationship Id="rId6" Type="http://schemas.openxmlformats.org/officeDocument/2006/relationships/chart" Target="../charts/chart95.xml"/><Relationship Id="rId7" Type="http://schemas.openxmlformats.org/officeDocument/2006/relationships/notesSlide" Target="../notesSlides/notesSlide116.xml"/><Relationship Id="rId8"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notesSlide" Target="../notesSlides/notesSlide117.xml"/><Relationship Id="rId6"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notesSlide" Target="../notesSlides/notesSlide120.xml"/><Relationship Id="rId5"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77.png"/><Relationship Id="rId9" Type="http://schemas.openxmlformats.org/officeDocument/2006/relationships/image" Target="../media/image638.png"/><Relationship Id="rId10" Type="http://schemas.openxmlformats.org/officeDocument/2006/relationships/image" Target="../media/image639.png"/><Relationship Id="rId11" Type="http://schemas.openxmlformats.org/officeDocument/2006/relationships/image" Target="../media/image640.png"/><Relationship Id="rId12" Type="http://schemas.openxmlformats.org/officeDocument/2006/relationships/image" Target="../media/image382.png"/><Relationship Id="rId13" Type="http://schemas.openxmlformats.org/officeDocument/2006/relationships/image" Target="../media/image641.png"/><Relationship Id="rId14" Type="http://schemas.openxmlformats.org/officeDocument/2006/relationships/image" Target="../media/image642.png"/><Relationship Id="rId15" Type="http://schemas.openxmlformats.org/officeDocument/2006/relationships/image" Target="../media/image643.png"/><Relationship Id="rId16"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notesSlide" Target="../notesSlides/notesSlide124.xml"/><Relationship Id="rId6"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chart" Target="../charts/chart103.xml"/><Relationship Id="rId6" Type="http://schemas.openxmlformats.org/officeDocument/2006/relationships/chart" Target="../charts/chart104.xml"/><Relationship Id="rId7" Type="http://schemas.openxmlformats.org/officeDocument/2006/relationships/notesSlide" Target="../notesSlides/notesSlide125.xml"/><Relationship Id="rId8"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notesSlide" Target="../notesSlides/notesSlide128.xml"/><Relationship Id="rId5"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698.png"/><Relationship Id="rId5" Type="http://schemas.openxmlformats.org/officeDocument/2006/relationships/image" Target="../media/image699.png"/><Relationship Id="rId6" Type="http://schemas.openxmlformats.org/officeDocument/2006/relationships/image" Target="../media/image700.png"/><Relationship Id="rId7" Type="http://schemas.openxmlformats.org/officeDocument/2006/relationships/image" Target="../media/image701.png"/><Relationship Id="rId8" Type="http://schemas.openxmlformats.org/officeDocument/2006/relationships/image" Target="../media/image702.png"/><Relationship Id="rId9" Type="http://schemas.openxmlformats.org/officeDocument/2006/relationships/image" Target="../media/image703.png"/><Relationship Id="rId10" Type="http://schemas.openxmlformats.org/officeDocument/2006/relationships/image" Target="../media/image704.png"/><Relationship Id="rId11" Type="http://schemas.openxmlformats.org/officeDocument/2006/relationships/image" Target="../media/image705.png"/><Relationship Id="rId12" Type="http://schemas.openxmlformats.org/officeDocument/2006/relationships/image" Target="../media/image106.png"/><Relationship Id="rId13" Type="http://schemas.openxmlformats.org/officeDocument/2006/relationships/image" Target="../media/image706.png"/><Relationship Id="rId14" Type="http://schemas.openxmlformats.org/officeDocument/2006/relationships/image" Target="../media/image707.png"/><Relationship Id="rId15" Type="http://schemas.openxmlformats.org/officeDocument/2006/relationships/image" Target="../media/image708.png"/><Relationship Id="rId16" Type="http://schemas.openxmlformats.org/officeDocument/2006/relationships/image" Target="../media/image709.png"/><Relationship Id="rId17" Type="http://schemas.openxmlformats.org/officeDocument/2006/relationships/image" Target="../media/image710.png"/><Relationship Id="rId18" Type="http://schemas.openxmlformats.org/officeDocument/2006/relationships/image" Target="../media/image711.png"/><Relationship Id="rId19"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notesSlide" Target="../notesSlides/notesSlide132.xml"/><Relationship Id="rId6"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chart" Target="../charts/chart109.xml"/><Relationship Id="rId5" Type="http://schemas.openxmlformats.org/officeDocument/2006/relationships/chart" Target="../charts/chart110.xml"/><Relationship Id="rId6" Type="http://schemas.openxmlformats.org/officeDocument/2006/relationships/chart" Target="../charts/chart111.xml"/><Relationship Id="rId7" Type="http://schemas.openxmlformats.org/officeDocument/2006/relationships/notesSlide" Target="../notesSlides/notesSlide133.xml"/><Relationship Id="rId8"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notesSlide" Target="../notesSlides/notesSlide134.xml"/><Relationship Id="rId5"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notesSlide" Target="../notesSlides/notesSlide137.xml"/><Relationship Id="rId5"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777.png"/><Relationship Id="rId5" Type="http://schemas.openxmlformats.org/officeDocument/2006/relationships/image" Target="../media/image778.png"/><Relationship Id="rId6" Type="http://schemas.openxmlformats.org/officeDocument/2006/relationships/image" Target="../media/image72.png"/><Relationship Id="rId7" Type="http://schemas.openxmlformats.org/officeDocument/2006/relationships/image" Target="../media/image779.png"/><Relationship Id="rId8" Type="http://schemas.openxmlformats.org/officeDocument/2006/relationships/image" Target="../media/image780.png"/><Relationship Id="rId9" Type="http://schemas.openxmlformats.org/officeDocument/2006/relationships/image" Target="../media/image643.png"/><Relationship Id="rId10" Type="http://schemas.openxmlformats.org/officeDocument/2006/relationships/image" Target="../media/image781.png"/><Relationship Id="rId11" Type="http://schemas.openxmlformats.org/officeDocument/2006/relationships/image" Target="../media/image782.png"/><Relationship Id="rId12" Type="http://schemas.openxmlformats.org/officeDocument/2006/relationships/image" Target="../media/image711.png"/><Relationship Id="rId13" Type="http://schemas.openxmlformats.org/officeDocument/2006/relationships/image" Target="../media/image783.png"/><Relationship Id="rId14" Type="http://schemas.openxmlformats.org/officeDocument/2006/relationships/image" Target="../media/image784.png"/><Relationship Id="rId15" Type="http://schemas.openxmlformats.org/officeDocument/2006/relationships/image" Target="../media/image75.png"/><Relationship Id="rId16"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notesSlide" Target="../notesSlides/notesSlide141.xml"/><Relationship Id="rId6"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chart" Target="../charts/chart117.xml"/><Relationship Id="rId5" Type="http://schemas.openxmlformats.org/officeDocument/2006/relationships/chart" Target="../charts/chart118.xml"/><Relationship Id="rId6" Type="http://schemas.openxmlformats.org/officeDocument/2006/relationships/chart" Target="../charts/chart119.xml"/><Relationship Id="rId7" Type="http://schemas.openxmlformats.org/officeDocument/2006/relationships/notesSlide" Target="../notesSlides/notesSlide142.xml"/><Relationship Id="rId8"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 Id="rId4"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notesSlide" Target="../notesSlides/notesSlide147.xml"/><Relationship Id="rId5"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chart" Target="../charts/chart123.xml"/><Relationship Id="rId6" Type="http://schemas.openxmlformats.org/officeDocument/2006/relationships/chart" Target="../charts/chart124.xml"/><Relationship Id="rId7" Type="http://schemas.openxmlformats.org/officeDocument/2006/relationships/notesSlide" Target="../notesSlides/notesSlide153.xml"/><Relationship Id="rId8"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chart" Target="../charts/chart127.xml"/><Relationship Id="rId6" Type="http://schemas.openxmlformats.org/officeDocument/2006/relationships/chart" Target="../charts/chart128.xml"/><Relationship Id="rId7" Type="http://schemas.openxmlformats.org/officeDocument/2006/relationships/notesSlide" Target="../notesSlides/notesSlide154.xml"/><Relationship Id="rId8"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chart" Target="../charts/chart130.xml"/><Relationship Id="rId5" Type="http://schemas.openxmlformats.org/officeDocument/2006/relationships/chart" Target="../charts/chart131.xml"/><Relationship Id="rId6" Type="http://schemas.openxmlformats.org/officeDocument/2006/relationships/chart" Target="../charts/chart132.xml"/><Relationship Id="rId7" Type="http://schemas.openxmlformats.org/officeDocument/2006/relationships/chart" Target="../charts/chart133.xml"/><Relationship Id="rId8" Type="http://schemas.openxmlformats.org/officeDocument/2006/relationships/chart" Target="../charts/chart134.xml"/><Relationship Id="rId9" Type="http://schemas.openxmlformats.org/officeDocument/2006/relationships/notesSlide" Target="../notesSlides/notesSlide155.xml"/><Relationship Id="rId10"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chart" Target="../charts/chart136.xml"/><Relationship Id="rId5" Type="http://schemas.openxmlformats.org/officeDocument/2006/relationships/notesSlide" Target="../notesSlides/notesSlide156.xml"/><Relationship Id="rId6"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7.xml"/><Relationship Id="rId4" Type="http://schemas.openxmlformats.org/officeDocument/2006/relationships/chart" Target="../charts/chart138.xml"/><Relationship Id="rId5" Type="http://schemas.openxmlformats.org/officeDocument/2006/relationships/notesSlide" Target="../notesSlides/notesSlide159.xml"/><Relationship Id="rId6"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9.xml"/><Relationship Id="rId4" Type="http://schemas.openxmlformats.org/officeDocument/2006/relationships/chart" Target="../charts/chart140.xml"/><Relationship Id="rId5" Type="http://schemas.openxmlformats.org/officeDocument/2006/relationships/notesSlide" Target="../notesSlides/notesSlide162.xml"/><Relationship Id="rId6"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chart" Target="../charts/chart142.xml"/><Relationship Id="rId5" Type="http://schemas.openxmlformats.org/officeDocument/2006/relationships/notesSlide" Target="../notesSlides/notesSlide165.xml"/><Relationship Id="rId6"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3.xml"/><Relationship Id="rId4" Type="http://schemas.openxmlformats.org/officeDocument/2006/relationships/chart" Target="../charts/chart144.xml"/><Relationship Id="rId5" Type="http://schemas.openxmlformats.org/officeDocument/2006/relationships/notesSlide" Target="../notesSlides/notesSlide168.xml"/><Relationship Id="rId6"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5.xml"/><Relationship Id="rId4" Type="http://schemas.openxmlformats.org/officeDocument/2006/relationships/chart" Target="../charts/chart146.xml"/><Relationship Id="rId5" Type="http://schemas.openxmlformats.org/officeDocument/2006/relationships/notesSlide" Target="../notesSlides/notesSlide171.xml"/><Relationship Id="rId6"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chart" Target="../charts/chart148.xml"/><Relationship Id="rId5" Type="http://schemas.openxmlformats.org/officeDocument/2006/relationships/notesSlide" Target="../notesSlides/notesSlide178.xml"/><Relationship Id="rId6"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9.xml"/><Relationship Id="rId4" Type="http://schemas.openxmlformats.org/officeDocument/2006/relationships/notesSlide" Target="../notesSlides/notesSlide179.xml"/><Relationship Id="rId5"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0.xml"/><Relationship Id="rId4" Type="http://schemas.openxmlformats.org/officeDocument/2006/relationships/notesSlide" Target="../notesSlides/notesSlide215.xml"/><Relationship Id="rId5"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1.xml"/><Relationship Id="rId4" Type="http://schemas.openxmlformats.org/officeDocument/2006/relationships/chart" Target="../charts/chart152.xml"/><Relationship Id="rId5" Type="http://schemas.openxmlformats.org/officeDocument/2006/relationships/chart" Target="../charts/chart153.xml"/><Relationship Id="rId6" Type="http://schemas.openxmlformats.org/officeDocument/2006/relationships/notesSlide" Target="../notesSlides/notesSlide216.xml"/><Relationship Id="rId7"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4.xml"/><Relationship Id="rId4" Type="http://schemas.openxmlformats.org/officeDocument/2006/relationships/chart" Target="../charts/chart155.xml"/><Relationship Id="rId5" Type="http://schemas.openxmlformats.org/officeDocument/2006/relationships/chart" Target="../charts/chart156.xml"/><Relationship Id="rId6" Type="http://schemas.openxmlformats.org/officeDocument/2006/relationships/notesSlide" Target="../notesSlides/notesSlide217.xml"/><Relationship Id="rId7"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7.xml"/><Relationship Id="rId4" Type="http://schemas.openxmlformats.org/officeDocument/2006/relationships/chart" Target="../charts/chart158.xml"/><Relationship Id="rId5" Type="http://schemas.openxmlformats.org/officeDocument/2006/relationships/chart" Target="../charts/chart159.xml"/><Relationship Id="rId6" Type="http://schemas.openxmlformats.org/officeDocument/2006/relationships/notesSlide" Target="../notesSlides/notesSlide219.xml"/><Relationship Id="rId7"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0.xml"/><Relationship Id="rId4" Type="http://schemas.openxmlformats.org/officeDocument/2006/relationships/notesSlide" Target="../notesSlides/notesSlide220.xml"/><Relationship Id="rId5"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 Id="rId4"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image" Target="../media/image935.png"/><Relationship Id="rId6" Type="http://schemas.openxmlformats.org/officeDocument/2006/relationships/image" Target="../media/image936.png"/><Relationship Id="rId7" Type="http://schemas.openxmlformats.org/officeDocument/2006/relationships/image" Target="../media/image937.png"/><Relationship Id="rId8" Type="http://schemas.openxmlformats.org/officeDocument/2006/relationships/image" Target="../media/image93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Crab Meat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55943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98383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40823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83262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325702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68142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Crab Meat Market Global Overview</a:t>
            </a:r>
          </a:p>
        </p:txBody>
      </p:sp>
      <p:sp>
        <p:nvSpPr>
          <p:cNvPr id="17" name="Rounded Rectangle 16">
            <a:hlinkClick action="ppaction://hlinksldjump" r:id="rId10"/>
          </p:cNvPr>
          <p:cNvSpPr/>
          <p:nvPr/>
        </p:nvSpPr>
        <p:spPr>
          <a:xfrm>
            <a:off x="314325" y="41058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53022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142875" y="4954619"/>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Europe Market Outlook</a:t>
            </a:r>
          </a:p>
        </p:txBody>
      </p:sp>
      <p:sp>
        <p:nvSpPr>
          <p:cNvPr id="20" name="Rounded Rectangle 19">
            <a:hlinkClick action="ppaction://hlinksldjump" r:id="rId13"/>
          </p:cNvPr>
          <p:cNvSpPr/>
          <p:nvPr/>
        </p:nvSpPr>
        <p:spPr>
          <a:xfrm>
            <a:off x="314325" y="537901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Europe Overview</a:t>
            </a:r>
          </a:p>
        </p:txBody>
      </p:sp>
      <p:sp>
        <p:nvSpPr>
          <p:cNvPr id="21" name="Rounded Rectangle 20">
            <a:hlinkClick action="ppaction://hlinksldjump" r:id="rId14"/>
          </p:cNvPr>
          <p:cNvSpPr/>
          <p:nvPr/>
        </p:nvSpPr>
        <p:spPr>
          <a:xfrm>
            <a:off x="314325" y="580341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Europe Market Analysis By Country</a:t>
            </a:r>
          </a:p>
        </p:txBody>
      </p:sp>
      <p:sp>
        <p:nvSpPr>
          <p:cNvPr id="22" name="Rounded Rectangle 21">
            <a:hlinkClick action="ppaction://hlinksldjump" r:id="rId15"/>
          </p:cNvPr>
          <p:cNvSpPr/>
          <p:nvPr/>
        </p:nvSpPr>
        <p:spPr>
          <a:xfrm>
            <a:off x="314325" y="622781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Europe Market Analysis By Segments</a:t>
            </a:r>
          </a:p>
        </p:txBody>
      </p:sp>
      <p:sp>
        <p:nvSpPr>
          <p:cNvPr id="23" name="Rounded Rectangle 22">
            <a:hlinkClick action="ppaction://hlinksldjump" r:id="rId16"/>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4" name="Rounded Rectangle 23">
            <a:hlinkClick action="ppaction://hlinksldjump" r:id="rId17"/>
          </p:cNvPr>
          <p:cNvSpPr/>
          <p:nvPr/>
        </p:nvSpPr>
        <p:spPr>
          <a:xfrm>
            <a:off x="6391275" y="155943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Crab Meat Market Overview (Volume &amp; Value)</a:t>
            </a:r>
          </a:p>
        </p:txBody>
      </p:sp>
      <p:sp>
        <p:nvSpPr>
          <p:cNvPr id="25" name="Rounded Rectangle 24">
            <a:hlinkClick action="ppaction://hlinksldjump" r:id="rId18"/>
          </p:cNvPr>
          <p:cNvSpPr/>
          <p:nvPr/>
        </p:nvSpPr>
        <p:spPr>
          <a:xfrm>
            <a:off x="6391275" y="198383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Segment Overview (Volume &amp; Value)</a:t>
            </a:r>
          </a:p>
        </p:txBody>
      </p:sp>
      <p:sp>
        <p:nvSpPr>
          <p:cNvPr id="26" name="Rounded Rectangle 25">
            <a:hlinkClick action="ppaction://hlinksldjump" r:id="rId19"/>
          </p:cNvPr>
          <p:cNvSpPr/>
          <p:nvPr/>
        </p:nvSpPr>
        <p:spPr>
          <a:xfrm>
            <a:off x="6219825" y="240823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7" name="Rounded Rectangle 26">
            <a:hlinkClick action="ppaction://hlinksldjump" r:id="rId20"/>
          </p:cNvPr>
          <p:cNvSpPr/>
          <p:nvPr/>
        </p:nvSpPr>
        <p:spPr>
          <a:xfrm>
            <a:off x="6391275" y="283262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Crab Meat Market Pricing Analysis</a:t>
            </a:r>
          </a:p>
        </p:txBody>
      </p:sp>
      <p:sp>
        <p:nvSpPr>
          <p:cNvPr id="28" name="Rounded Rectangle 27">
            <a:hlinkClick action="ppaction://hlinksldjump" r:id="rId21"/>
          </p:cNvPr>
          <p:cNvSpPr/>
          <p:nvPr/>
        </p:nvSpPr>
        <p:spPr>
          <a:xfrm>
            <a:off x="6391275" y="325702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Supply Chain Analysis</a:t>
            </a:r>
          </a:p>
        </p:txBody>
      </p:sp>
      <p:sp>
        <p:nvSpPr>
          <p:cNvPr id="29" name="Rounded Rectangle 28">
            <a:hlinkClick action="ppaction://hlinksldjump" r:id="rId22"/>
          </p:cNvPr>
          <p:cNvSpPr/>
          <p:nvPr/>
        </p:nvSpPr>
        <p:spPr>
          <a:xfrm>
            <a:off x="6219825" y="36814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0" name="Rounded Rectangle 29">
            <a:hlinkClick action="ppaction://hlinksldjump" r:id="rId23"/>
          </p:cNvPr>
          <p:cNvSpPr/>
          <p:nvPr/>
        </p:nvSpPr>
        <p:spPr>
          <a:xfrm>
            <a:off x="6391275" y="41058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Market Dynamics &amp; Forces</a:t>
            </a:r>
          </a:p>
        </p:txBody>
      </p:sp>
      <p:sp>
        <p:nvSpPr>
          <p:cNvPr id="31" name="Rounded Rectangle 30">
            <a:hlinkClick action="ppaction://hlinksldjump" r:id="rId24"/>
          </p:cNvPr>
          <p:cNvSpPr/>
          <p:nvPr/>
        </p:nvSpPr>
        <p:spPr>
          <a:xfrm>
            <a:off x="6219825" y="453022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2" name="Rounded Rectangle 31">
            <a:hlinkClick action="ppaction://hlinksldjump" r:id="rId25"/>
          </p:cNvPr>
          <p:cNvSpPr/>
          <p:nvPr/>
        </p:nvSpPr>
        <p:spPr>
          <a:xfrm>
            <a:off x="6391275" y="5803415"/>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Competitive Landscape</a:t>
            </a:r>
          </a:p>
        </p:txBody>
      </p:sp>
      <p:sp>
        <p:nvSpPr>
          <p:cNvPr id="33" name="Rounded Rectangle 32">
            <a:hlinkClick action="ppaction://hlinksldjump" r:id="rId26"/>
          </p:cNvPr>
          <p:cNvSpPr/>
          <p:nvPr/>
        </p:nvSpPr>
        <p:spPr>
          <a:xfrm>
            <a:off x="6391275" y="495461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Market Share by Leading Players</a:t>
            </a:r>
          </a:p>
        </p:txBody>
      </p:sp>
      <p:sp>
        <p:nvSpPr>
          <p:cNvPr id="34" name="Rounded Rectangle 33">
            <a:hlinkClick action="ppaction://hlinksldjump" r:id="rId27"/>
          </p:cNvPr>
          <p:cNvSpPr/>
          <p:nvPr/>
        </p:nvSpPr>
        <p:spPr>
          <a:xfrm>
            <a:off x="6391275" y="537901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Company Profiles &amp; Strategic Benchmarking</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Crab Meat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Crab Meat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Crab Meat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meat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Crab Meat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4661999" cy="186689"/>
          </a:xfrm>
          <a:prstGeom prst="rect">
            <a:avLst/>
          </a:prstGeom>
          <a:noFill/>
        </p:spPr>
        <p:txBody>
          <a:bodyPr wrap="none" lIns="0" rIns="0" tIns="0" bIns="0">
            <a:spAutoFit/>
          </a:bodyPr>
          <a:lstStyle/>
          <a:p>
            <a:r>
              <a:rPr sz="1100" b="0">
                <a:solidFill>
                  <a:srgbClr val="2E2E2E"/>
                </a:solidFill>
                <a:latin typeface="Calibri"/>
              </a:rPr>
              <a:t>Global demand expands at a 4.8% forecast CAGR (2026–2036), accelerating from</a:t>
            </a:r>
          </a:p>
        </p:txBody>
      </p:sp>
      <p:pic>
        <p:nvPicPr>
          <p:cNvPr id="13" name="Picture 12" descr="lock.png"/>
          <p:cNvPicPr>
            <a:picLocks noChangeAspect="1"/>
          </p:cNvPicPr>
          <p:nvPr/>
        </p:nvPicPr>
        <p:blipFill>
          <a:blip r:embed="rId4"/>
          <a:stretch>
            <a:fillRect/>
          </a:stretch>
        </p:blipFill>
        <p:spPr>
          <a:xfrm>
            <a:off x="8394800" y="1751653"/>
            <a:ext cx="128699" cy="187198"/>
          </a:xfrm>
          <a:prstGeom prst="rect">
            <a:avLst/>
          </a:prstGeom>
        </p:spPr>
      </p:pic>
      <p:sp>
        <p:nvSpPr>
          <p:cNvPr id="14" name="TextBox 13"/>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5" name="Picture 14" descr="lock.png"/>
          <p:cNvPicPr>
            <a:picLocks noChangeAspect="1"/>
          </p:cNvPicPr>
          <p:nvPr/>
        </p:nvPicPr>
        <p:blipFill>
          <a:blip r:embed="rId4"/>
          <a:stretch>
            <a:fillRect/>
          </a:stretch>
        </p:blipFill>
        <p:spPr>
          <a:xfrm>
            <a:off x="10214228" y="1689042"/>
            <a:ext cx="330041" cy="480060"/>
          </a:xfrm>
          <a:prstGeom prst="rect">
            <a:avLst/>
          </a:prstGeom>
        </p:spPr>
      </p:pic>
      <p:sp>
        <p:nvSpPr>
          <p:cNvPr id="16" name="TextBox 15"/>
          <p:cNvSpPr txBox="1"/>
          <p:nvPr/>
        </p:nvSpPr>
        <p:spPr>
          <a:xfrm>
            <a:off x="3784750" y="2801893"/>
            <a:ext cx="1957511" cy="186689"/>
          </a:xfrm>
          <a:prstGeom prst="rect">
            <a:avLst/>
          </a:prstGeom>
          <a:noFill/>
        </p:spPr>
        <p:txBody>
          <a:bodyPr wrap="none" lIns="0" rIns="0" tIns="0" bIns="0">
            <a:spAutoFit/>
          </a:bodyPr>
          <a:lstStyle/>
          <a:p>
            <a:r>
              <a:rPr sz="1100" b="0">
                <a:solidFill>
                  <a:srgbClr val="2E2E2E"/>
                </a:solidFill>
                <a:latin typeface="Calibri"/>
              </a:rPr>
              <a:t>Special Meat leads Meat Type, at</a:t>
            </a:r>
          </a:p>
        </p:txBody>
      </p:sp>
      <p:pic>
        <p:nvPicPr>
          <p:cNvPr id="17" name="Picture 16" descr="lock.png"/>
          <p:cNvPicPr>
            <a:picLocks noChangeAspect="1"/>
          </p:cNvPicPr>
          <p:nvPr/>
        </p:nvPicPr>
        <p:blipFill>
          <a:blip r:embed="rId4"/>
          <a:stretch>
            <a:fillRect/>
          </a:stretch>
        </p:blipFill>
        <p:spPr>
          <a:xfrm>
            <a:off x="5690313" y="2792114"/>
            <a:ext cx="128699" cy="187198"/>
          </a:xfrm>
          <a:prstGeom prst="rect">
            <a:avLst/>
          </a:prstGeom>
        </p:spPr>
      </p:pic>
      <p:sp>
        <p:nvSpPr>
          <p:cNvPr id="18" name="TextBox 17"/>
          <p:cNvSpPr txBox="1"/>
          <p:nvPr/>
        </p:nvSpPr>
        <p:spPr>
          <a:xfrm>
            <a:off x="5857808" y="2801893"/>
            <a:ext cx="2314128" cy="186689"/>
          </a:xfrm>
          <a:prstGeom prst="rect">
            <a:avLst/>
          </a:prstGeom>
          <a:noFill/>
        </p:spPr>
        <p:txBody>
          <a:bodyPr wrap="none" lIns="0" rIns="0" tIns="0" bIns="0">
            <a:spAutoFit/>
          </a:bodyPr>
          <a:lstStyle/>
          <a:p>
            <a:r>
              <a:rPr sz="1100" b="0">
                <a:solidFill>
                  <a:srgbClr val="2E2E2E"/>
                </a:solidFill>
                <a:latin typeface="Calibri"/>
              </a:rPr>
              <a:t>of 2036 value, within a mix of 6 tracked</a:t>
            </a:r>
          </a:p>
        </p:txBody>
      </p:sp>
      <p:sp>
        <p:nvSpPr>
          <p:cNvPr id="19" name="TextBox 18"/>
          <p:cNvSpPr txBox="1"/>
          <p:nvPr/>
        </p:nvSpPr>
        <p:spPr>
          <a:xfrm>
            <a:off x="3784750" y="2969533"/>
            <a:ext cx="698574" cy="186689"/>
          </a:xfrm>
          <a:prstGeom prst="rect">
            <a:avLst/>
          </a:prstGeom>
          <a:noFill/>
        </p:spPr>
        <p:txBody>
          <a:bodyPr wrap="none" lIns="0" rIns="0" tIns="0" bIns="0">
            <a:spAutoFit/>
          </a:bodyPr>
          <a:lstStyle/>
          <a:p>
            <a:r>
              <a:rPr sz="1100" b="0">
                <a:solidFill>
                  <a:srgbClr val="2E2E2E"/>
                </a:solidFill>
                <a:latin typeface="Calibri"/>
              </a:rPr>
              <a:t>categories.</a:t>
            </a:r>
          </a:p>
        </p:txBody>
      </p:sp>
      <p:sp>
        <p:nvSpPr>
          <p:cNvPr id="20" name="TextBox 19"/>
          <p:cNvSpPr txBox="1"/>
          <p:nvPr/>
        </p:nvSpPr>
        <p:spPr>
          <a:xfrm>
            <a:off x="8785375" y="2885713"/>
            <a:ext cx="1212626" cy="186689"/>
          </a:xfrm>
          <a:prstGeom prst="rect">
            <a:avLst/>
          </a:prstGeom>
          <a:noFill/>
        </p:spPr>
        <p:txBody>
          <a:bodyPr wrap="none" lIns="0" rIns="0" tIns="0" bIns="0">
            <a:spAutoFit/>
          </a:bodyPr>
          <a:lstStyle/>
          <a:p>
            <a:r>
              <a:rPr sz="1100" b="0">
                <a:solidFill>
                  <a:srgbClr val="2E2E2E"/>
                </a:solidFill>
                <a:latin typeface="Calibri"/>
              </a:rPr>
              <a:t>Lead: Special Meat ·</a:t>
            </a:r>
          </a:p>
        </p:txBody>
      </p:sp>
      <p:pic>
        <p:nvPicPr>
          <p:cNvPr id="21" name="Picture 20" descr="lock.png"/>
          <p:cNvPicPr>
            <a:picLocks noChangeAspect="1"/>
          </p:cNvPicPr>
          <p:nvPr/>
        </p:nvPicPr>
        <p:blipFill>
          <a:blip r:embed="rId4"/>
          <a:stretch>
            <a:fillRect/>
          </a:stretch>
        </p:blipFill>
        <p:spPr>
          <a:xfrm>
            <a:off x="9946053" y="2875934"/>
            <a:ext cx="128699" cy="187198"/>
          </a:xfrm>
          <a:prstGeom prst="rect">
            <a:avLst/>
          </a:prstGeom>
        </p:spPr>
      </p:pic>
      <p:sp>
        <p:nvSpPr>
          <p:cNvPr id="22" name="TextBox 21"/>
          <p:cNvSpPr txBox="1"/>
          <p:nvPr/>
        </p:nvSpPr>
        <p:spPr>
          <a:xfrm>
            <a:off x="10113549"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3" name="TextBox 22"/>
          <p:cNvSpPr txBox="1"/>
          <p:nvPr/>
        </p:nvSpPr>
        <p:spPr>
          <a:xfrm>
            <a:off x="3784750" y="3842354"/>
            <a:ext cx="3550418" cy="186689"/>
          </a:xfrm>
          <a:prstGeom prst="rect">
            <a:avLst/>
          </a:prstGeom>
          <a:noFill/>
        </p:spPr>
        <p:txBody>
          <a:bodyPr wrap="none" lIns="0" rIns="0" tIns="0" bIns="0">
            <a:spAutoFit/>
          </a:bodyPr>
          <a:lstStyle/>
          <a:p>
            <a:r>
              <a:rPr sz="1100" b="0">
                <a:solidFill>
                  <a:srgbClr val="2E2E2E"/>
                </a:solidFill>
                <a:latin typeface="Calibri"/>
              </a:rPr>
              <a:t>Retail is the fastest-growing part of Distribution Channel, at a</a:t>
            </a:r>
          </a:p>
        </p:txBody>
      </p:sp>
      <p:pic>
        <p:nvPicPr>
          <p:cNvPr id="24" name="Picture 23" descr="lock.png"/>
          <p:cNvPicPr>
            <a:picLocks noChangeAspect="1"/>
          </p:cNvPicPr>
          <p:nvPr/>
        </p:nvPicPr>
        <p:blipFill>
          <a:blip r:embed="rId4"/>
          <a:stretch>
            <a:fillRect/>
          </a:stretch>
        </p:blipFill>
        <p:spPr>
          <a:xfrm>
            <a:off x="7283220" y="3832575"/>
            <a:ext cx="128699" cy="187198"/>
          </a:xfrm>
          <a:prstGeom prst="rect">
            <a:avLst/>
          </a:prstGeom>
        </p:spPr>
      </p:pic>
      <p:sp>
        <p:nvSpPr>
          <p:cNvPr id="25" name="TextBox 24"/>
          <p:cNvSpPr txBox="1"/>
          <p:nvPr/>
        </p:nvSpPr>
        <p:spPr>
          <a:xfrm>
            <a:off x="7450716" y="3842354"/>
            <a:ext cx="889280"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26" name="TextBox 25"/>
          <p:cNvSpPr txBox="1"/>
          <p:nvPr/>
        </p:nvSpPr>
        <p:spPr>
          <a:xfrm>
            <a:off x="3784750" y="4009994"/>
            <a:ext cx="1692299" cy="186689"/>
          </a:xfrm>
          <a:prstGeom prst="rect">
            <a:avLst/>
          </a:prstGeom>
          <a:noFill/>
        </p:spPr>
        <p:txBody>
          <a:bodyPr wrap="none" lIns="0" rIns="0" tIns="0" bIns="0">
            <a:spAutoFit/>
          </a:bodyPr>
          <a:lstStyle/>
          <a:p>
            <a:r>
              <a:rPr sz="1100" b="0">
                <a:solidFill>
                  <a:srgbClr val="2E2E2E"/>
                </a:solidFill>
                <a:latin typeface="Calibri"/>
              </a:rPr>
              <a:t>outpacing the wider market.</a:t>
            </a:r>
          </a:p>
        </p:txBody>
      </p:sp>
      <p:sp>
        <p:nvSpPr>
          <p:cNvPr id="27" name="TextBox 26"/>
          <p:cNvSpPr txBox="1"/>
          <p:nvPr/>
        </p:nvSpPr>
        <p:spPr>
          <a:xfrm>
            <a:off x="8785375" y="3926174"/>
            <a:ext cx="939169" cy="186689"/>
          </a:xfrm>
          <a:prstGeom prst="rect">
            <a:avLst/>
          </a:prstGeom>
          <a:noFill/>
        </p:spPr>
        <p:txBody>
          <a:bodyPr wrap="none" lIns="0" rIns="0" tIns="0" bIns="0">
            <a:spAutoFit/>
          </a:bodyPr>
          <a:lstStyle/>
          <a:p>
            <a:r>
              <a:rPr sz="1100" b="0">
                <a:solidFill>
                  <a:srgbClr val="2E2E2E"/>
                </a:solidFill>
                <a:latin typeface="Calibri"/>
              </a:rPr>
              <a:t>Fastest: Retail ·</a:t>
            </a:r>
          </a:p>
        </p:txBody>
      </p:sp>
      <p:pic>
        <p:nvPicPr>
          <p:cNvPr id="28" name="Picture 27" descr="lock.png"/>
          <p:cNvPicPr>
            <a:picLocks noChangeAspect="1"/>
          </p:cNvPicPr>
          <p:nvPr/>
        </p:nvPicPr>
        <p:blipFill>
          <a:blip r:embed="rId4"/>
          <a:stretch>
            <a:fillRect/>
          </a:stretch>
        </p:blipFill>
        <p:spPr>
          <a:xfrm>
            <a:off x="9672596" y="3916395"/>
            <a:ext cx="128699" cy="187198"/>
          </a:xfrm>
          <a:prstGeom prst="rect">
            <a:avLst/>
          </a:prstGeom>
        </p:spPr>
      </p:pic>
      <p:sp>
        <p:nvSpPr>
          <p:cNvPr id="29" name="TextBox 28"/>
          <p:cNvSpPr txBox="1"/>
          <p:nvPr/>
        </p:nvSpPr>
        <p:spPr>
          <a:xfrm>
            <a:off x="9840092"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0" name="TextBox 29"/>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1" name="Picture 30" descr="lock.png"/>
          <p:cNvPicPr>
            <a:picLocks noChangeAspect="1"/>
          </p:cNvPicPr>
          <p:nvPr/>
        </p:nvPicPr>
        <p:blipFill>
          <a:blip r:embed="rId4"/>
          <a:stretch>
            <a:fillRect/>
          </a:stretch>
        </p:blipFill>
        <p:spPr>
          <a:xfrm>
            <a:off x="6406275" y="4873036"/>
            <a:ext cx="128699" cy="187198"/>
          </a:xfrm>
          <a:prstGeom prst="rect">
            <a:avLst/>
          </a:prstGeom>
        </p:spPr>
      </p:pic>
      <p:sp>
        <p:nvSpPr>
          <p:cNvPr id="32" name="TextBox 31"/>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3" name="TextBox 32"/>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4" name="Picture 33" descr="lock.png"/>
          <p:cNvPicPr>
            <a:picLocks noChangeAspect="1"/>
          </p:cNvPicPr>
          <p:nvPr/>
        </p:nvPicPr>
        <p:blipFill>
          <a:blip r:embed="rId4"/>
          <a:stretch>
            <a:fillRect/>
          </a:stretch>
        </p:blipFill>
        <p:spPr>
          <a:xfrm>
            <a:off x="5106956" y="5040676"/>
            <a:ext cx="128699" cy="187198"/>
          </a:xfrm>
          <a:prstGeom prst="rect">
            <a:avLst/>
          </a:prstGeom>
        </p:spPr>
      </p:pic>
      <p:sp>
        <p:nvSpPr>
          <p:cNvPr id="35" name="TextBox 34"/>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6" name="TextBox 35"/>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7" name="Picture 36" descr="lock.png"/>
          <p:cNvPicPr>
            <a:picLocks noChangeAspect="1"/>
          </p:cNvPicPr>
          <p:nvPr/>
        </p:nvPicPr>
        <p:blipFill>
          <a:blip r:embed="rId4"/>
          <a:stretch>
            <a:fillRect/>
          </a:stretch>
        </p:blipFill>
        <p:spPr>
          <a:xfrm>
            <a:off x="10197622" y="4873036"/>
            <a:ext cx="128699" cy="187198"/>
          </a:xfrm>
          <a:prstGeom prst="rect">
            <a:avLst/>
          </a:prstGeom>
        </p:spPr>
      </p:pic>
      <p:sp>
        <p:nvSpPr>
          <p:cNvPr id="38" name="TextBox 37"/>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9" name="TextBox 38"/>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0" name="Picture 39" descr="lock.png"/>
          <p:cNvPicPr>
            <a:picLocks noChangeAspect="1"/>
          </p:cNvPicPr>
          <p:nvPr/>
        </p:nvPicPr>
        <p:blipFill>
          <a:blip r:embed="rId4"/>
          <a:stretch>
            <a:fillRect/>
          </a:stretch>
        </p:blipFill>
        <p:spPr>
          <a:xfrm>
            <a:off x="9248099" y="5040676"/>
            <a:ext cx="128699" cy="187198"/>
          </a:xfrm>
          <a:prstGeom prst="rect">
            <a:avLst/>
          </a:prstGeom>
        </p:spPr>
      </p:pic>
      <p:sp>
        <p:nvSpPr>
          <p:cNvPr id="41" name="TextBox 40"/>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3" name="Picture 42" descr="lock.png"/>
          <p:cNvPicPr>
            <a:picLocks noChangeAspect="1"/>
          </p:cNvPicPr>
          <p:nvPr/>
        </p:nvPicPr>
        <p:blipFill>
          <a:blip r:embed="rId4"/>
          <a:stretch>
            <a:fillRect/>
          </a:stretch>
        </p:blipFill>
        <p:spPr>
          <a:xfrm>
            <a:off x="4678579" y="5913497"/>
            <a:ext cx="128699" cy="187198"/>
          </a:xfrm>
          <a:prstGeom prst="rect">
            <a:avLst/>
          </a:prstGeom>
        </p:spPr>
      </p:pic>
      <p:sp>
        <p:nvSpPr>
          <p:cNvPr id="44" name="TextBox 43"/>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5" name="TextBox 44"/>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6" name="TextBox 45"/>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7" name="Picture 46" descr="lock.png"/>
          <p:cNvPicPr>
            <a:picLocks noChangeAspect="1"/>
          </p:cNvPicPr>
          <p:nvPr/>
        </p:nvPicPr>
        <p:blipFill>
          <a:blip r:embed="rId4"/>
          <a:stretch>
            <a:fillRect/>
          </a:stretch>
        </p:blipFill>
        <p:spPr>
          <a:xfrm>
            <a:off x="9591346" y="5997317"/>
            <a:ext cx="128699" cy="187198"/>
          </a:xfrm>
          <a:prstGeom prst="rect">
            <a:avLst/>
          </a:prstGeom>
        </p:spPr>
      </p:pic>
      <p:sp>
        <p:nvSpPr>
          <p:cNvPr id="48" name="TextBox 47"/>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9" name="Picture 48" descr="lock.png"/>
          <p:cNvPicPr>
            <a:picLocks noChangeAspect="1"/>
          </p:cNvPicPr>
          <p:nvPr/>
        </p:nvPicPr>
        <p:blipFill>
          <a:blip r:embed="rId4"/>
          <a:stretch>
            <a:fillRect/>
          </a:stretch>
        </p:blipFill>
        <p:spPr>
          <a:xfrm>
            <a:off x="11052672" y="5997317"/>
            <a:ext cx="128699" cy="187198"/>
          </a:xfrm>
          <a:prstGeom prst="rect">
            <a:avLst/>
          </a:prstGeom>
        </p:spPr>
      </p:pic>
      <p:sp>
        <p:nvSpPr>
          <p:cNvPr id="50" name="TextBox 49"/>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445350"/>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627887"/>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56795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933026"/>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298100"/>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66317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028248"/>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39332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767523"/>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1325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497671"/>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86274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622781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81315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518735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Crab Meat Market</a:t>
            </a:r>
          </a:p>
        </p:txBody>
      </p:sp>
      <p:sp>
        <p:nvSpPr>
          <p:cNvPr id="55" name="Rounded Rectangle 54"/>
          <p:cNvSpPr/>
          <p:nvPr/>
        </p:nvSpPr>
        <p:spPr>
          <a:xfrm>
            <a:off x="1428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6" name="Rounded Rectangle 55"/>
          <p:cNvSpPr/>
          <p:nvPr/>
        </p:nvSpPr>
        <p:spPr>
          <a:xfrm>
            <a:off x="2762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7" name="Rounded Rectangle 56"/>
          <p:cNvSpPr/>
          <p:nvPr/>
        </p:nvSpPr>
        <p:spPr>
          <a:xfrm>
            <a:off x="27622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8" name="Rounded Rectangle 57"/>
          <p:cNvSpPr/>
          <p:nvPr/>
        </p:nvSpPr>
        <p:spPr>
          <a:xfrm>
            <a:off x="214312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9" name="Rounded Rectangle 58"/>
          <p:cNvSpPr/>
          <p:nvPr/>
        </p:nvSpPr>
        <p:spPr>
          <a:xfrm>
            <a:off x="227647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0" name="Rounded Rectangle 59"/>
          <p:cNvSpPr/>
          <p:nvPr/>
        </p:nvSpPr>
        <p:spPr>
          <a:xfrm>
            <a:off x="227647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1" name="Rounded Rectangle 60"/>
          <p:cNvSpPr/>
          <p:nvPr/>
        </p:nvSpPr>
        <p:spPr>
          <a:xfrm>
            <a:off x="2276475"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LATAM</a:t>
            </a:r>
          </a:p>
        </p:txBody>
      </p:sp>
      <p:sp>
        <p:nvSpPr>
          <p:cNvPr id="62" name="Rounded Rectangle 61"/>
          <p:cNvSpPr/>
          <p:nvPr/>
        </p:nvSpPr>
        <p:spPr>
          <a:xfrm>
            <a:off x="41433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3" name="Rounded Rectangle 62"/>
          <p:cNvSpPr/>
          <p:nvPr/>
        </p:nvSpPr>
        <p:spPr>
          <a:xfrm>
            <a:off x="42767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4" name="Rounded Rectangle 63"/>
          <p:cNvSpPr/>
          <p:nvPr/>
        </p:nvSpPr>
        <p:spPr>
          <a:xfrm>
            <a:off x="4276725" y="263184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5" name="Rounded Rectangle 64"/>
          <p:cNvSpPr/>
          <p:nvPr/>
        </p:nvSpPr>
        <p:spPr>
          <a:xfrm>
            <a:off x="4276725" y="2996914"/>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6" name="Rounded Rectangle 65"/>
          <p:cNvSpPr/>
          <p:nvPr/>
        </p:nvSpPr>
        <p:spPr>
          <a:xfrm>
            <a:off x="4276725" y="336198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7" name="Rounded Rectangle 66"/>
          <p:cNvSpPr/>
          <p:nvPr/>
        </p:nvSpPr>
        <p:spPr>
          <a:xfrm>
            <a:off x="4276725" y="372706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68" name="Rounded Rectangle 67"/>
          <p:cNvSpPr/>
          <p:nvPr/>
        </p:nvSpPr>
        <p:spPr>
          <a:xfrm>
            <a:off x="4276725" y="409213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69" name="Rounded Rectangle 68"/>
          <p:cNvSpPr/>
          <p:nvPr/>
        </p:nvSpPr>
        <p:spPr>
          <a:xfrm>
            <a:off x="4276725" y="446633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0" name="Rounded Rectangle 69"/>
          <p:cNvSpPr/>
          <p:nvPr/>
        </p:nvSpPr>
        <p:spPr>
          <a:xfrm>
            <a:off x="4276725" y="483141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1" name="Rounded Rectangle 70"/>
          <p:cNvSpPr/>
          <p:nvPr/>
        </p:nvSpPr>
        <p:spPr>
          <a:xfrm>
            <a:off x="4276725" y="5196485"/>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2" name="Rounded Rectangle 71"/>
          <p:cNvSpPr/>
          <p:nvPr/>
        </p:nvSpPr>
        <p:spPr>
          <a:xfrm>
            <a:off x="4276725" y="556155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3" name="Rounded Rectangle 72"/>
          <p:cNvSpPr/>
          <p:nvPr/>
        </p:nvSpPr>
        <p:spPr>
          <a:xfrm>
            <a:off x="4276725" y="592663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629170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5" name="Rounded Rectangle 74"/>
          <p:cNvSpPr/>
          <p:nvPr/>
        </p:nvSpPr>
        <p:spPr>
          <a:xfrm>
            <a:off x="61531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6" name="Rounded Rectangle 75"/>
          <p:cNvSpPr/>
          <p:nvPr/>
        </p:nvSpPr>
        <p:spPr>
          <a:xfrm>
            <a:off x="62865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7" name="Rounded Rectangle 76"/>
          <p:cNvSpPr/>
          <p:nvPr/>
        </p:nvSpPr>
        <p:spPr>
          <a:xfrm>
            <a:off x="62865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78" name="Rounded Rectangle 77"/>
          <p:cNvSpPr/>
          <p:nvPr/>
        </p:nvSpPr>
        <p:spPr>
          <a:xfrm>
            <a:off x="62865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79" name="Rounded Rectangle 78"/>
          <p:cNvSpPr/>
          <p:nvPr/>
        </p:nvSpPr>
        <p:spPr>
          <a:xfrm>
            <a:off x="815340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0" name="Rounded Rectangle 79"/>
          <p:cNvSpPr/>
          <p:nvPr/>
        </p:nvSpPr>
        <p:spPr>
          <a:xfrm>
            <a:off x="828675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1" name="Rounded Rectangle 80"/>
          <p:cNvSpPr/>
          <p:nvPr/>
        </p:nvSpPr>
        <p:spPr>
          <a:xfrm>
            <a:off x="828675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2" name="Rounded Rectangle 81"/>
          <p:cNvSpPr/>
          <p:nvPr/>
        </p:nvSpPr>
        <p:spPr>
          <a:xfrm>
            <a:off x="828675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3" name="Rounded Rectangle 82"/>
          <p:cNvSpPr/>
          <p:nvPr/>
        </p:nvSpPr>
        <p:spPr>
          <a:xfrm>
            <a:off x="828675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4" name="Rounded Rectangle 83"/>
          <p:cNvSpPr/>
          <p:nvPr/>
        </p:nvSpPr>
        <p:spPr>
          <a:xfrm>
            <a:off x="828675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5" name="Rounded Rectangle 84"/>
          <p:cNvSpPr/>
          <p:nvPr/>
        </p:nvSpPr>
        <p:spPr>
          <a:xfrm>
            <a:off x="828675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6" name="Rounded Rectangle 85"/>
          <p:cNvSpPr/>
          <p:nvPr/>
        </p:nvSpPr>
        <p:spPr>
          <a:xfrm>
            <a:off x="828675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7" name="Rounded Rectangle 86"/>
          <p:cNvSpPr/>
          <p:nvPr/>
        </p:nvSpPr>
        <p:spPr>
          <a:xfrm>
            <a:off x="8286750" y="488617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88" name="Rounded Rectangle 87"/>
          <p:cNvSpPr/>
          <p:nvPr/>
        </p:nvSpPr>
        <p:spPr>
          <a:xfrm>
            <a:off x="8286750" y="526037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East Asia</a:t>
            </a:r>
          </a:p>
        </p:txBody>
      </p:sp>
      <p:sp>
        <p:nvSpPr>
          <p:cNvPr id="89" name="Rounded Rectangle 88"/>
          <p:cNvSpPr/>
          <p:nvPr/>
        </p:nvSpPr>
        <p:spPr>
          <a:xfrm>
            <a:off x="101536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0" name="Rounded Rectangle 89"/>
          <p:cNvSpPr/>
          <p:nvPr/>
        </p:nvSpPr>
        <p:spPr>
          <a:xfrm>
            <a:off x="102870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1" name="Rounded Rectangle 90"/>
          <p:cNvSpPr/>
          <p:nvPr/>
        </p:nvSpPr>
        <p:spPr>
          <a:xfrm>
            <a:off x="102870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2" name="Rounded Rectangle 91"/>
          <p:cNvSpPr/>
          <p:nvPr/>
        </p:nvSpPr>
        <p:spPr>
          <a:xfrm>
            <a:off x="102870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3" name="Rounded Rectangle 92"/>
          <p:cNvSpPr/>
          <p:nvPr/>
        </p:nvSpPr>
        <p:spPr>
          <a:xfrm>
            <a:off x="1028700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4" name="Rounded Rectangle 93"/>
          <p:cNvSpPr/>
          <p:nvPr/>
        </p:nvSpPr>
        <p:spPr>
          <a:xfrm>
            <a:off x="1028700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GCC</a:t>
            </a:r>
          </a:p>
        </p:txBody>
      </p:sp>
      <p:sp>
        <p:nvSpPr>
          <p:cNvPr id="95" name="Rounded Rectangle 94"/>
          <p:cNvSpPr/>
          <p:nvPr/>
        </p:nvSpPr>
        <p:spPr>
          <a:xfrm>
            <a:off x="1028700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6" name="Rounded Rectangle 95"/>
          <p:cNvSpPr/>
          <p:nvPr/>
        </p:nvSpPr>
        <p:spPr>
          <a:xfrm>
            <a:off x="1028700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6 axes and the sub-segments sized under each</a:t>
            </a:r>
          </a:p>
        </p:txBody>
      </p:sp>
      <p:sp>
        <p:nvSpPr>
          <p:cNvPr id="10" name="Rectangle 9"/>
          <p:cNvSpPr/>
          <p:nvPr/>
        </p:nvSpPr>
        <p:spPr>
          <a:xfrm>
            <a:off x="1428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Crab Species</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Blue Crab</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King Crab</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Snow Crab</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Dungeness Crab</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Mud Crab</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commercially traded crab species</a:t>
            </a:r>
          </a:p>
        </p:txBody>
      </p:sp>
      <p:sp>
        <p:nvSpPr>
          <p:cNvPr id="30" name="Rectangle 29"/>
          <p:cNvSpPr/>
          <p:nvPr/>
        </p:nvSpPr>
        <p:spPr>
          <a:xfrm>
            <a:off x="31527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Source</a:t>
            </a:r>
          </a:p>
        </p:txBody>
      </p:sp>
      <p:sp>
        <p:nvSpPr>
          <p:cNvPr id="33" name="TextBox 32"/>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Wild-caught</a:t>
            </a:r>
          </a:p>
        </p:txBody>
      </p:sp>
      <p:cxnSp>
        <p:nvCxnSpPr>
          <p:cNvPr id="35" name="Connector 34"/>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Aquaculture / fattened / cultured supply</a:t>
            </a:r>
          </a:p>
        </p:txBody>
      </p:sp>
      <p:cxnSp>
        <p:nvCxnSpPr>
          <p:cNvPr id="38" name="Connector 37"/>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099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4004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Imported processed crab meat</a:t>
            </a:r>
          </a:p>
        </p:txBody>
      </p:sp>
      <p:sp>
        <p:nvSpPr>
          <p:cNvPr id="41" name="Rectangle 40"/>
          <p:cNvSpPr/>
          <p:nvPr/>
        </p:nvSpPr>
        <p:spPr>
          <a:xfrm>
            <a:off x="3152775" y="1903095"/>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52775" y="190309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289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Claim</a:t>
            </a:r>
          </a:p>
        </p:txBody>
      </p:sp>
      <p:sp>
        <p:nvSpPr>
          <p:cNvPr id="44" name="TextBox 43"/>
          <p:cNvSpPr txBox="1"/>
          <p:nvPr/>
        </p:nvSpPr>
        <p:spPr>
          <a:xfrm>
            <a:off x="32099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5" name="TextBox 44"/>
          <p:cNvSpPr txBox="1"/>
          <p:nvPr/>
        </p:nvSpPr>
        <p:spPr>
          <a:xfrm>
            <a:off x="34004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Organic</a:t>
            </a:r>
          </a:p>
        </p:txBody>
      </p:sp>
      <p:cxnSp>
        <p:nvCxnSpPr>
          <p:cNvPr id="46" name="Connector 45"/>
          <p:cNvCxnSpPr/>
          <p:nvPr/>
        </p:nvCxnSpPr>
        <p:spPr>
          <a:xfrm>
            <a:off x="31623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099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8" name="TextBox 47"/>
          <p:cNvSpPr txBox="1"/>
          <p:nvPr/>
        </p:nvSpPr>
        <p:spPr>
          <a:xfrm>
            <a:off x="34004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Sustainably Sourced</a:t>
            </a:r>
          </a:p>
        </p:txBody>
      </p:sp>
      <p:cxnSp>
        <p:nvCxnSpPr>
          <p:cNvPr id="49" name="Connector 48"/>
          <p:cNvCxnSpPr/>
          <p:nvPr/>
        </p:nvCxnSpPr>
        <p:spPr>
          <a:xfrm>
            <a:off x="31623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100% Pure Crab Meat</a:t>
            </a:r>
          </a:p>
        </p:txBody>
      </p:sp>
      <p:cxnSp>
        <p:nvCxnSpPr>
          <p:cNvPr id="52" name="Connector 51"/>
          <p:cNvCxnSpPr/>
          <p:nvPr/>
        </p:nvCxnSpPr>
        <p:spPr>
          <a:xfrm>
            <a:off x="31623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2099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34004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High Protein / Omega-3 Rich</a:t>
            </a:r>
          </a:p>
        </p:txBody>
      </p:sp>
      <p:cxnSp>
        <p:nvCxnSpPr>
          <p:cNvPr id="55" name="Connector 54"/>
          <p:cNvCxnSpPr/>
          <p:nvPr/>
        </p:nvCxnSpPr>
        <p:spPr>
          <a:xfrm>
            <a:off x="31623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2099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34004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Freshly Pasteurized for Extended Shelf Life</a:t>
            </a:r>
          </a:p>
        </p:txBody>
      </p:sp>
      <p:sp>
        <p:nvSpPr>
          <p:cNvPr id="58" name="Rectangle 57"/>
          <p:cNvSpPr/>
          <p:nvPr/>
        </p:nvSpPr>
        <p:spPr>
          <a:xfrm>
            <a:off x="61626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Meat Type</a:t>
            </a:r>
          </a:p>
        </p:txBody>
      </p:sp>
      <p:sp>
        <p:nvSpPr>
          <p:cNvPr id="61" name="TextBox 60"/>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Jumbo Lump</a:t>
            </a:r>
          </a:p>
        </p:txBody>
      </p:sp>
      <p:cxnSp>
        <p:nvCxnSpPr>
          <p:cNvPr id="63" name="Connector 62"/>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Lump</a:t>
            </a:r>
          </a:p>
        </p:txBody>
      </p:sp>
      <p:cxnSp>
        <p:nvCxnSpPr>
          <p:cNvPr id="66" name="Connector 65"/>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Backfin</a:t>
            </a:r>
          </a:p>
        </p:txBody>
      </p:sp>
      <p:cxnSp>
        <p:nvCxnSpPr>
          <p:cNvPr id="69" name="Connector 68"/>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 Meat</a:t>
            </a:r>
          </a:p>
        </p:txBody>
      </p:sp>
      <p:cxnSp>
        <p:nvCxnSpPr>
          <p:cNvPr id="72" name="Connector 71"/>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2198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64103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Claw Meat</a:t>
            </a:r>
          </a:p>
        </p:txBody>
      </p:sp>
      <p:cxnSp>
        <p:nvCxnSpPr>
          <p:cNvPr id="75" name="Connector 74"/>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64103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Crab Leg Meat</a:t>
            </a:r>
          </a:p>
        </p:txBody>
      </p:sp>
      <p:sp>
        <p:nvSpPr>
          <p:cNvPr id="78" name="Rectangle 77"/>
          <p:cNvSpPr/>
          <p:nvPr/>
        </p:nvSpPr>
        <p:spPr>
          <a:xfrm>
            <a:off x="91725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Format</a:t>
            </a:r>
          </a:p>
        </p:txBody>
      </p:sp>
      <p:sp>
        <p:nvSpPr>
          <p:cNvPr id="81" name="TextBox 80"/>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Fresh</a:t>
            </a:r>
          </a:p>
        </p:txBody>
      </p:sp>
      <p:cxnSp>
        <p:nvCxnSpPr>
          <p:cNvPr id="83" name="Connector 82"/>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Frozen</a:t>
            </a:r>
          </a:p>
        </p:txBody>
      </p:sp>
      <p:cxnSp>
        <p:nvCxnSpPr>
          <p:cNvPr id="86" name="Connector 85"/>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Canned</a:t>
            </a:r>
          </a:p>
        </p:txBody>
      </p:sp>
      <p:cxnSp>
        <p:nvCxnSpPr>
          <p:cNvPr id="89" name="Connector 88"/>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Pasteurized</a:t>
            </a:r>
          </a:p>
        </p:txBody>
      </p:sp>
      <p:sp>
        <p:nvSpPr>
          <p:cNvPr id="92" name="Rectangle 91"/>
          <p:cNvSpPr/>
          <p:nvPr/>
        </p:nvSpPr>
        <p:spPr>
          <a:xfrm>
            <a:off x="9172575" y="2080260"/>
            <a:ext cx="2876550" cy="324040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172575" y="208026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248775" y="208026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Distribution Channel</a:t>
            </a:r>
          </a:p>
        </p:txBody>
      </p:sp>
      <p:sp>
        <p:nvSpPr>
          <p:cNvPr id="95" name="TextBox 94"/>
          <p:cNvSpPr txBox="1"/>
          <p:nvPr/>
        </p:nvSpPr>
        <p:spPr>
          <a:xfrm>
            <a:off x="92297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9420225" y="23088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Industrial / B2B processing</a:t>
            </a:r>
          </a:p>
        </p:txBody>
      </p:sp>
      <p:cxnSp>
        <p:nvCxnSpPr>
          <p:cNvPr id="97" name="Connector 96"/>
          <p:cNvCxnSpPr/>
          <p:nvPr/>
        </p:nvCxnSpPr>
        <p:spPr>
          <a:xfrm>
            <a:off x="91821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2297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9" name="TextBox 98"/>
          <p:cNvSpPr txBox="1"/>
          <p:nvPr/>
        </p:nvSpPr>
        <p:spPr>
          <a:xfrm>
            <a:off x="9420225" y="24860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Food Service</a:t>
            </a:r>
          </a:p>
        </p:txBody>
      </p:sp>
      <p:cxnSp>
        <p:nvCxnSpPr>
          <p:cNvPr id="100" name="Connector 99"/>
          <p:cNvCxnSpPr/>
          <p:nvPr/>
        </p:nvCxnSpPr>
        <p:spPr>
          <a:xfrm>
            <a:off x="91821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40117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2" name="TextBox 101"/>
          <p:cNvSpPr txBox="1"/>
          <p:nvPr/>
        </p:nvSpPr>
        <p:spPr>
          <a:xfrm>
            <a:off x="9591675" y="26631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HoReCa</a:t>
            </a:r>
          </a:p>
        </p:txBody>
      </p:sp>
      <p:cxnSp>
        <p:nvCxnSpPr>
          <p:cNvPr id="103" name="Connector 102"/>
          <p:cNvCxnSpPr/>
          <p:nvPr/>
        </p:nvCxnSpPr>
        <p:spPr>
          <a:xfrm>
            <a:off x="91821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40117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9591675" y="28403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Quick service restaurants</a:t>
            </a:r>
          </a:p>
        </p:txBody>
      </p:sp>
      <p:cxnSp>
        <p:nvCxnSpPr>
          <p:cNvPr id="106" name="Connector 105"/>
          <p:cNvCxnSpPr/>
          <p:nvPr/>
        </p:nvCxnSpPr>
        <p:spPr>
          <a:xfrm>
            <a:off x="91821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40117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9591675" y="30175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Sandwicheries</a:t>
            </a:r>
          </a:p>
        </p:txBody>
      </p:sp>
      <p:cxnSp>
        <p:nvCxnSpPr>
          <p:cNvPr id="109" name="Connector 108"/>
          <p:cNvCxnSpPr/>
          <p:nvPr/>
        </p:nvCxnSpPr>
        <p:spPr>
          <a:xfrm>
            <a:off x="91821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4011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95916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Fast casual</a:t>
            </a:r>
          </a:p>
        </p:txBody>
      </p:sp>
      <p:cxnSp>
        <p:nvCxnSpPr>
          <p:cNvPr id="112" name="Connector 111"/>
          <p:cNvCxnSpPr/>
          <p:nvPr/>
        </p:nvCxnSpPr>
        <p:spPr>
          <a:xfrm>
            <a:off x="91821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40117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9591675" y="33718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Cafés and Coffee shops</a:t>
            </a:r>
          </a:p>
        </p:txBody>
      </p:sp>
      <p:cxnSp>
        <p:nvCxnSpPr>
          <p:cNvPr id="115" name="Connector 114"/>
          <p:cNvCxnSpPr/>
          <p:nvPr/>
        </p:nvCxnSpPr>
        <p:spPr>
          <a:xfrm>
            <a:off x="91821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40117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9591675" y="35490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Institutional / Hospitals</a:t>
            </a:r>
          </a:p>
        </p:txBody>
      </p:sp>
      <p:cxnSp>
        <p:nvCxnSpPr>
          <p:cNvPr id="118" name="Connector 117"/>
          <p:cNvCxnSpPr/>
          <p:nvPr/>
        </p:nvCxnSpPr>
        <p:spPr>
          <a:xfrm>
            <a:off x="9182100" y="37261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9229725" y="3726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9420225" y="37261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Retail</a:t>
            </a:r>
          </a:p>
        </p:txBody>
      </p:sp>
      <p:cxnSp>
        <p:nvCxnSpPr>
          <p:cNvPr id="121" name="Connector 120"/>
          <p:cNvCxnSpPr/>
          <p:nvPr/>
        </p:nvCxnSpPr>
        <p:spPr>
          <a:xfrm>
            <a:off x="9182100" y="3903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940117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9591675" y="39033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Hypermarket / Supermarket</a:t>
            </a:r>
          </a:p>
        </p:txBody>
      </p:sp>
      <p:cxnSp>
        <p:nvCxnSpPr>
          <p:cNvPr id="124" name="Connector 123"/>
          <p:cNvCxnSpPr/>
          <p:nvPr/>
        </p:nvCxnSpPr>
        <p:spPr>
          <a:xfrm>
            <a:off x="9182100" y="4080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9401175" y="4080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6" name="TextBox 125"/>
          <p:cNvSpPr txBox="1"/>
          <p:nvPr/>
        </p:nvSpPr>
        <p:spPr>
          <a:xfrm>
            <a:off x="9591675" y="40805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Convenience Stores</a:t>
            </a:r>
          </a:p>
        </p:txBody>
      </p:sp>
      <p:cxnSp>
        <p:nvCxnSpPr>
          <p:cNvPr id="127" name="Connector 126"/>
          <p:cNvCxnSpPr/>
          <p:nvPr/>
        </p:nvCxnSpPr>
        <p:spPr>
          <a:xfrm>
            <a:off x="9182100" y="4257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9401175" y="4257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9591675" y="42576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Departmental Stores</a:t>
            </a:r>
          </a:p>
        </p:txBody>
      </p:sp>
      <p:cxnSp>
        <p:nvCxnSpPr>
          <p:cNvPr id="130" name="Connector 129"/>
          <p:cNvCxnSpPr/>
          <p:nvPr/>
        </p:nvCxnSpPr>
        <p:spPr>
          <a:xfrm>
            <a:off x="9182100" y="4434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9401175" y="4434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2" name="TextBox 131"/>
          <p:cNvSpPr txBox="1"/>
          <p:nvPr/>
        </p:nvSpPr>
        <p:spPr>
          <a:xfrm>
            <a:off x="9591675" y="44348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Grocery Retailers</a:t>
            </a:r>
          </a:p>
        </p:txBody>
      </p:sp>
      <p:cxnSp>
        <p:nvCxnSpPr>
          <p:cNvPr id="133" name="Connector 132"/>
          <p:cNvCxnSpPr/>
          <p:nvPr/>
        </p:nvCxnSpPr>
        <p:spPr>
          <a:xfrm>
            <a:off x="9182100" y="4612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9401175" y="4612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5" name="TextBox 134"/>
          <p:cNvSpPr txBox="1"/>
          <p:nvPr/>
        </p:nvSpPr>
        <p:spPr>
          <a:xfrm>
            <a:off x="9591675" y="46120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Specialty Stores</a:t>
            </a:r>
          </a:p>
        </p:txBody>
      </p:sp>
      <p:cxnSp>
        <p:nvCxnSpPr>
          <p:cNvPr id="136" name="Connector 135"/>
          <p:cNvCxnSpPr/>
          <p:nvPr/>
        </p:nvCxnSpPr>
        <p:spPr>
          <a:xfrm>
            <a:off x="9182100" y="4789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9401175" y="4789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9591675" y="47891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Discount Stores</a:t>
            </a:r>
          </a:p>
        </p:txBody>
      </p:sp>
      <p:cxnSp>
        <p:nvCxnSpPr>
          <p:cNvPr id="139" name="Connector 138"/>
          <p:cNvCxnSpPr/>
          <p:nvPr/>
        </p:nvCxnSpPr>
        <p:spPr>
          <a:xfrm>
            <a:off x="9182100" y="4966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01175" y="4966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9591675" y="49663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Retailers</a:t>
            </a:r>
          </a:p>
        </p:txBody>
      </p:sp>
      <p:cxnSp>
        <p:nvCxnSpPr>
          <p:cNvPr id="142" name="Connector 141"/>
          <p:cNvCxnSpPr/>
          <p:nvPr/>
        </p:nvCxnSpPr>
        <p:spPr>
          <a:xfrm>
            <a:off x="9182100" y="5143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9229725" y="5143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9420225" y="51435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Travel Retail</a:t>
            </a:r>
          </a:p>
        </p:txBody>
      </p:sp>
      <p:sp>
        <p:nvSpPr>
          <p:cNvPr id="145" name="TextBox 1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Crab Meat Market profiled and benchmarked in the Competition Assessment section.</a:t>
            </a:r>
          </a:p>
        </p:txBody>
      </p:sp>
      <p:sp>
        <p:nvSpPr>
          <p:cNvPr id="11" name="Rectangle 10"/>
          <p:cNvSpPr/>
          <p:nvPr/>
        </p:nvSpPr>
        <p:spPr>
          <a:xfrm>
            <a:off x="142875" y="1846931"/>
            <a:ext cx="5857875" cy="40705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846931"/>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910819"/>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212073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212073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Phillips Foods</a:t>
            </a:r>
          </a:p>
        </p:txBody>
      </p:sp>
      <p:sp>
        <p:nvSpPr>
          <p:cNvPr id="16" name="Rectangle 15"/>
          <p:cNvSpPr/>
          <p:nvPr/>
        </p:nvSpPr>
        <p:spPr>
          <a:xfrm>
            <a:off x="152400" y="259533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59533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59533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59533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Phillips Foods, Inc.</a:t>
            </a:r>
          </a:p>
        </p:txBody>
      </p:sp>
      <p:cxnSp>
        <p:nvCxnSpPr>
          <p:cNvPr id="20" name="Connector 19"/>
          <p:cNvCxnSpPr/>
          <p:nvPr/>
        </p:nvCxnSpPr>
        <p:spPr>
          <a:xfrm>
            <a:off x="152400" y="306992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Graham &amp; Rollins, Inc.</a:t>
            </a:r>
          </a:p>
        </p:txBody>
      </p:sp>
      <p:sp>
        <p:nvSpPr>
          <p:cNvPr id="23" name="Rectangle 22"/>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Supreme Crab and Seafood, Inc.</a:t>
            </a:r>
          </a:p>
        </p:txBody>
      </p:sp>
      <p:cxnSp>
        <p:nvCxnSpPr>
          <p:cNvPr id="27" name="Connector 26"/>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North Coast Seafoods</a:t>
            </a:r>
          </a:p>
        </p:txBody>
      </p:sp>
      <p:sp>
        <p:nvSpPr>
          <p:cNvPr id="30" name="Rectangle 29"/>
          <p:cNvSpPr/>
          <p:nvPr/>
        </p:nvSpPr>
        <p:spPr>
          <a:xfrm>
            <a:off x="152400" y="449371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Heron Point Seafood</a:t>
            </a:r>
          </a:p>
        </p:txBody>
      </p:sp>
      <p:cxnSp>
        <p:nvCxnSpPr>
          <p:cNvPr id="34" name="Connector 33"/>
          <p:cNvCxnSpPr/>
          <p:nvPr/>
        </p:nvCxnSpPr>
        <p:spPr>
          <a:xfrm>
            <a:off x="152400" y="49683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4968314"/>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4968314"/>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Phil-Union Frozen Foods, Inc.</a:t>
            </a:r>
          </a:p>
        </p:txBody>
      </p:sp>
      <p:sp>
        <p:nvSpPr>
          <p:cNvPr id="37" name="Rectangle 36"/>
          <p:cNvSpPr/>
          <p:nvPr/>
        </p:nvSpPr>
        <p:spPr>
          <a:xfrm>
            <a:off x="152400" y="5442910"/>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54429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5442910"/>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5442910"/>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Aqua Star</a:t>
            </a:r>
          </a:p>
        </p:txBody>
      </p:sp>
      <p:sp>
        <p:nvSpPr>
          <p:cNvPr id="41" name="Rectangle 40"/>
          <p:cNvSpPr/>
          <p:nvPr/>
        </p:nvSpPr>
        <p:spPr>
          <a:xfrm>
            <a:off x="6191250" y="1846931"/>
            <a:ext cx="5857875" cy="40705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91250" y="1846931"/>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91250" y="1910819"/>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4" name="TextBox 43"/>
          <p:cNvSpPr txBox="1"/>
          <p:nvPr/>
        </p:nvSpPr>
        <p:spPr>
          <a:xfrm>
            <a:off x="6381750" y="212073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5" name="TextBox 44"/>
          <p:cNvSpPr txBox="1"/>
          <p:nvPr/>
        </p:nvSpPr>
        <p:spPr>
          <a:xfrm>
            <a:off x="6629400" y="212073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Chicken of the Sea Frozen Foods</a:t>
            </a:r>
          </a:p>
        </p:txBody>
      </p:sp>
      <p:sp>
        <p:nvSpPr>
          <p:cNvPr id="46" name="Rectangle 45"/>
          <p:cNvSpPr/>
          <p:nvPr/>
        </p:nvSpPr>
        <p:spPr>
          <a:xfrm>
            <a:off x="6200775" y="259533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6200775" y="259533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381750" y="259533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9" name="TextBox 48"/>
          <p:cNvSpPr txBox="1"/>
          <p:nvPr/>
        </p:nvSpPr>
        <p:spPr>
          <a:xfrm>
            <a:off x="6629400" y="259533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The Crab Place</a:t>
            </a:r>
          </a:p>
        </p:txBody>
      </p:sp>
      <p:cxnSp>
        <p:nvCxnSpPr>
          <p:cNvPr id="50" name="Connector 49"/>
          <p:cNvCxnSpPr/>
          <p:nvPr/>
        </p:nvCxnSpPr>
        <p:spPr>
          <a:xfrm>
            <a:off x="6200775" y="306992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81750"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Handy Seafood</a:t>
            </a:r>
          </a:p>
        </p:txBody>
      </p:sp>
      <p:sp>
        <p:nvSpPr>
          <p:cNvPr id="53" name="Rectangle 52"/>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381750"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6" name="TextBox 55"/>
          <p:cNvSpPr txBox="1"/>
          <p:nvPr/>
        </p:nvSpPr>
        <p:spPr>
          <a:xfrm>
            <a:off x="6629400"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Bumble Bee Foods, LLC</a:t>
            </a:r>
          </a:p>
        </p:txBody>
      </p:sp>
      <p:cxnSp>
        <p:nvCxnSpPr>
          <p:cNvPr id="57" name="Connector 56"/>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GEISHA Brand</a:t>
            </a:r>
          </a:p>
        </p:txBody>
      </p:sp>
      <p:sp>
        <p:nvSpPr>
          <p:cNvPr id="60" name="Rectangle 59"/>
          <p:cNvSpPr/>
          <p:nvPr/>
        </p:nvSpPr>
        <p:spPr>
          <a:xfrm>
            <a:off x="6200775" y="449371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381750"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3" name="TextBox 62"/>
          <p:cNvSpPr txBox="1"/>
          <p:nvPr/>
        </p:nvSpPr>
        <p:spPr>
          <a:xfrm>
            <a:off x="6629400"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Crown Prince</a:t>
            </a:r>
          </a:p>
        </p:txBody>
      </p:sp>
      <p:cxnSp>
        <p:nvCxnSpPr>
          <p:cNvPr id="64" name="Connector 63"/>
          <p:cNvCxnSpPr/>
          <p:nvPr/>
        </p:nvCxnSpPr>
        <p:spPr>
          <a:xfrm>
            <a:off x="6200775" y="49683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4968314"/>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4968314"/>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MW Polar</a:t>
            </a:r>
          </a:p>
        </p:txBody>
      </p:sp>
      <p:sp>
        <p:nvSpPr>
          <p:cNvPr id="67" name="Rectangle 66"/>
          <p:cNvSpPr/>
          <p:nvPr/>
        </p:nvSpPr>
        <p:spPr>
          <a:xfrm>
            <a:off x="6200775" y="5442910"/>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6200775" y="54429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381750" y="5442910"/>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0" name="TextBox 69"/>
          <p:cNvSpPr txBox="1"/>
          <p:nvPr/>
        </p:nvSpPr>
        <p:spPr>
          <a:xfrm>
            <a:off x="6629400" y="5442910"/>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Roland Foods</a:t>
            </a:r>
          </a:p>
        </p:txBody>
      </p:sp>
      <p:sp>
        <p:nvSpPr>
          <p:cNvPr id="71" name="TextBox 70"/>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Technology Roadmap</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Crab Meat Market Outlook</a:t>
                      </a:r>
                      <a:endParaRPr sz="1100"/>
                    </a:p>
                  </a:txBody>
                  <a:tcPr marL="9525" marR="9525" marT="9525" marB="0" anchor="ctr"/>
                </a:tc>
              </a:tr>
              <a:tr h="35052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Crab Meat Market Size (in Value (US$ Mn) and Volume (MT)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Historical Market Size (in Value (US$ Mn) and Volume (MT) Analysis, 2021–2025</a:t>
                      </a:r>
                      <a:endParaRPr sz="1100"/>
                    </a:p>
                  </a:txBody>
                  <a:tcPr marL="428625" marR="9525" marT="9525" marB="0" anchor="ctr"/>
                </a:tc>
              </a:tr>
              <a:tr h="35052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Current and Future Market Size (in Value (US$ Mn) and Volume (MT) Analysis, 2026–2036</a:t>
                      </a:r>
                      <a:endParaRPr sz="1100"/>
                    </a:p>
                  </a:txBody>
                  <a:tcPr marL="428625" marR="9525" marT="9525" marB="0" anchor="ctr"/>
                </a:tc>
              </a:tr>
              <a:tr h="175260">
                <a:tc>
                  <a:txBody>
                    <a:bodyPr wrap="square"/>
                    <a:lstStyle/>
                    <a:p>
                      <a:pPr algn="l"/>
                      <a:r>
                        <a:rPr sz="1100" b="0" i="0">
                          <a:solidFill>
                            <a:srgbClr val="000000"/>
                          </a:solidFill>
                          <a:latin typeface="Calibri"/>
                        </a:rPr>
                        <a:t>3.2.1.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3.2.2.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Crab Meat Market Analysis 2021–2025 and Forecast 2026–2036, By Crab Species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Blue Crab</a:t>
                      </a:r>
                      <a:endParaRPr sz="1100"/>
                    </a:p>
                  </a:txBody>
                  <a:tcPr marL="771525"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King Crab</a:t>
                      </a:r>
                      <a:endParaRPr sz="1100"/>
                    </a:p>
                  </a:txBody>
                  <a:tcPr marL="771525"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Snow Crab</a:t>
                      </a:r>
                      <a:endParaRPr sz="1100"/>
                    </a:p>
                  </a:txBody>
                  <a:tcPr marL="771525"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Dungeness Crab</a:t>
                      </a:r>
                      <a:endParaRPr sz="1100"/>
                    </a:p>
                  </a:txBody>
                  <a:tcPr marL="771525"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Mud Crab</a:t>
                      </a:r>
                      <a:endParaRPr sz="1100"/>
                    </a:p>
                  </a:txBody>
                  <a:tcPr marL="771525" marR="9525" marT="9525" marB="0" anchor="ctr"/>
                </a:tc>
              </a:tr>
              <a:tr h="175260">
                <a:tc>
                  <a:txBody>
                    <a:bodyPr wrap="square"/>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Other commercially traded crab species</a:t>
                      </a:r>
                      <a:endParaRPr sz="1100"/>
                    </a:p>
                  </a:txBody>
                  <a:tcPr marL="7715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Crab Meat Market Analysis 2021–2025 and Forecast 2026–2036, By Source</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Wild-caught</a:t>
                      </a:r>
                      <a:endParaRPr sz="1100"/>
                    </a:p>
                  </a:txBody>
                  <a:tcPr marL="771525"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Aquaculture / fattened / cultured supply</a:t>
                      </a:r>
                      <a:endParaRPr sz="1100"/>
                    </a:p>
                  </a:txBody>
                  <a:tcPr marL="771525" marR="9525" marT="9525" marB="0" anchor="ctr"/>
                </a:tc>
              </a:tr>
              <a:tr h="175260">
                <a:tc>
                  <a:txBody>
                    <a:bodyPr wrap="square"/>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Imported processed crab meat</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Crab Meat Market Analysis 2021–2025 and Forecast 2026–2036, By Meat Type</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Jumbo Lump</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Lump</a:t>
                      </a:r>
                      <a:endParaRPr sz="1100"/>
                    </a:p>
                  </a:txBody>
                  <a:tcPr marL="771525"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Backfin</a:t>
                      </a:r>
                      <a:endParaRPr sz="1100"/>
                    </a:p>
                  </a:txBody>
                  <a:tcPr marL="771525" marR="9525" marT="9525" marB="0" anchor="ctr"/>
                </a:tc>
              </a:tr>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Special Meat</a:t>
                      </a:r>
                      <a:endParaRPr sz="1100"/>
                    </a:p>
                  </a:txBody>
                  <a:tcPr marL="771525" marR="9525" marT="9525" marB="0" anchor="ctr"/>
                </a:tc>
              </a:tr>
              <a:tr h="175260">
                <a:tc>
                  <a:txBody>
                    <a:bodyPr wrap="square"/>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Claw Meat</a:t>
                      </a:r>
                      <a:endParaRPr sz="1100"/>
                    </a:p>
                  </a:txBody>
                  <a:tcPr marL="771525" marR="9525" marT="9525" marB="0" anchor="ctr"/>
                </a:tc>
              </a:tr>
              <a:tr h="175260">
                <a:tc>
                  <a:txBody>
                    <a:bodyPr wrap="square"/>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Crab Leg Meat</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Crab Meat Market Analysis 2021–2025 and Forecast 2026–2036, By Product Format</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Fresh</a:t>
                      </a:r>
                      <a:endParaRPr sz="1100"/>
                    </a:p>
                  </a:txBody>
                  <a:tcPr marL="771525"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Frozen</a:t>
                      </a:r>
                      <a:endParaRPr sz="1100"/>
                    </a:p>
                  </a:txBody>
                  <a:tcPr marL="771525" marR="9525" marT="9525" marB="0" anchor="ctr"/>
                </a:tc>
              </a:tr>
              <a:tr h="175260">
                <a:tc>
                  <a:txBody>
                    <a:bodyPr wrap="square"/>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Canned</a:t>
                      </a:r>
                      <a:endParaRPr sz="1100"/>
                    </a:p>
                  </a:txBody>
                  <a:tcPr marL="771525" marR="9525" marT="9525" marB="0" anchor="ctr"/>
                </a:tc>
              </a:tr>
              <a:tr h="175260">
                <a:tc>
                  <a:txBody>
                    <a:bodyPr wrap="square"/>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Pasteurized</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Crab Meat Market Analysis 2021–2025 and Forecast 2026–2036, By Product Claim</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Organic</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Sustainably Sourced (MSC-Certified)</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100% Pure Crab Meat (No Fillers, No Additives)</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High Protein / Omega-3 Rich</a:t>
                      </a:r>
                      <a:endParaRPr sz="1100"/>
                    </a:p>
                  </a:txBody>
                  <a:tcPr marL="771525" marR="9525" marT="9525" marB="0" anchor="ctr"/>
                </a:tc>
              </a:tr>
              <a:tr h="175260">
                <a:tc>
                  <a:txBody>
                    <a:bodyPr wrap="square"/>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Freshly Pasteurized for Extended Shelf Life</a:t>
                      </a:r>
                      <a:endParaRPr sz="1100"/>
                    </a:p>
                  </a:txBody>
                  <a:tcPr marL="771525" marR="9525" marT="9525" marB="0" anchor="ctr"/>
                </a:tc>
              </a:tr>
              <a:tr h="35052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Crab Meat Market Analysis 2021–2025 and Forecast 2026–2036, By Distribution Channel</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9.5.1.</a:t>
                      </a:r>
                      <a:r>
                        <a:rPr sz="700" b="0" i="0">
                          <a:solidFill>
                            <a:srgbClr val="000000"/>
                          </a:solidFill>
                          <a:latin typeface="Times New Roman"/>
                        </a:rPr>
                        <a:t>   </a:t>
                      </a:r>
                      <a:r>
                        <a:rPr sz="1100" b="0" i="0">
                          <a:solidFill>
                            <a:srgbClr val="000000"/>
                          </a:solidFill>
                          <a:latin typeface="Calibri"/>
                        </a:rPr>
                        <a:t>Industrial / B2B processing</a:t>
                      </a:r>
                      <a:endParaRPr sz="1100"/>
                    </a:p>
                  </a:txBody>
                  <a:tcPr marL="771525" marR="9525" marT="9525" marB="0" anchor="ctr"/>
                </a:tc>
              </a:tr>
              <a:tr h="175260">
                <a:tc>
                  <a:txBody>
                    <a:bodyPr wrap="square"/>
                    <a:lstStyle/>
                    <a:p>
                      <a:pPr algn="l"/>
                      <a:r>
                        <a:rPr sz="1100" b="0" i="0">
                          <a:solidFill>
                            <a:srgbClr val="000000"/>
                          </a:solidFill>
                          <a:latin typeface="Calibri"/>
                        </a:rPr>
                        <a:t>9.5.2.</a:t>
                      </a:r>
                      <a:r>
                        <a:rPr sz="700" b="0" i="0">
                          <a:solidFill>
                            <a:srgbClr val="000000"/>
                          </a:solidFill>
                          <a:latin typeface="Times New Roman"/>
                        </a:rPr>
                        <a:t>   </a:t>
                      </a:r>
                      <a:r>
                        <a:rPr sz="1100" b="0" i="0">
                          <a:solidFill>
                            <a:srgbClr val="000000"/>
                          </a:solidFill>
                          <a:latin typeface="Calibri"/>
                        </a:rPr>
                        <a:t>Food Service</a:t>
                      </a:r>
                      <a:endParaRPr sz="1100"/>
                    </a:p>
                  </a:txBody>
                  <a:tcPr marL="771525" marR="9525" marT="9525" marB="0" anchor="ctr"/>
                </a:tc>
              </a:tr>
              <a:tr h="175260">
                <a:tc>
                  <a:txBody>
                    <a:bodyPr wrap="square"/>
                    <a:lstStyle/>
                    <a:p>
                      <a:pPr algn="l"/>
                      <a:r>
                        <a:rPr sz="1100" b="0" i="1">
                          <a:solidFill>
                            <a:srgbClr val="000000"/>
                          </a:solidFill>
                          <a:latin typeface="Calibri"/>
                        </a:rPr>
                        <a:t>9.5.2.1.</a:t>
                      </a:r>
                      <a:r>
                        <a:rPr sz="700" b="0" i="1">
                          <a:solidFill>
                            <a:srgbClr val="000000"/>
                          </a:solidFill>
                          <a:latin typeface="Times New Roman"/>
                        </a:rPr>
                        <a:t>    </a:t>
                      </a:r>
                      <a:r>
                        <a:rPr sz="1100" b="0" i="1">
                          <a:solidFill>
                            <a:srgbClr val="000000"/>
                          </a:solidFill>
                          <a:latin typeface="Calibri"/>
                        </a:rPr>
                        <a:t>HoReCa</a:t>
                      </a:r>
                      <a:endParaRPr sz="1100"/>
                    </a:p>
                  </a:txBody>
                  <a:tcPr marL="1028700" marR="9525" marT="9525" marB="0" anchor="ctr"/>
                </a:tc>
              </a:tr>
              <a:tr h="175260">
                <a:tc>
                  <a:txBody>
                    <a:bodyPr wrap="square"/>
                    <a:lstStyle/>
                    <a:p>
                      <a:pPr algn="l"/>
                      <a:r>
                        <a:rPr sz="1100" b="0" i="1">
                          <a:solidFill>
                            <a:srgbClr val="000000"/>
                          </a:solidFill>
                          <a:latin typeface="Calibri"/>
                        </a:rPr>
                        <a:t>9.5.2.2.</a:t>
                      </a:r>
                      <a:r>
                        <a:rPr sz="700" b="0" i="1">
                          <a:solidFill>
                            <a:srgbClr val="000000"/>
                          </a:solidFill>
                          <a:latin typeface="Times New Roman"/>
                        </a:rPr>
                        <a:t>    </a:t>
                      </a:r>
                      <a:r>
                        <a:rPr sz="1100" b="0" i="1">
                          <a:solidFill>
                            <a:srgbClr val="000000"/>
                          </a:solidFill>
                          <a:latin typeface="Calibri"/>
                        </a:rPr>
                        <a:t>Quick service restaurants</a:t>
                      </a:r>
                      <a:endParaRPr sz="1100"/>
                    </a:p>
                  </a:txBody>
                  <a:tcPr marL="1028700" marR="9525" marT="9525" marB="0" anchor="ctr"/>
                </a:tc>
              </a:tr>
              <a:tr h="175260">
                <a:tc>
                  <a:txBody>
                    <a:bodyPr wrap="square"/>
                    <a:lstStyle/>
                    <a:p>
                      <a:pPr algn="l"/>
                      <a:r>
                        <a:rPr sz="1100" b="0" i="1">
                          <a:solidFill>
                            <a:srgbClr val="000000"/>
                          </a:solidFill>
                          <a:latin typeface="Calibri"/>
                        </a:rPr>
                        <a:t>9.5.2.3.</a:t>
                      </a:r>
                      <a:r>
                        <a:rPr sz="700" b="0" i="1">
                          <a:solidFill>
                            <a:srgbClr val="000000"/>
                          </a:solidFill>
                          <a:latin typeface="Times New Roman"/>
                        </a:rPr>
                        <a:t>    </a:t>
                      </a:r>
                      <a:r>
                        <a:rPr sz="1100" b="0" i="1">
                          <a:solidFill>
                            <a:srgbClr val="000000"/>
                          </a:solidFill>
                          <a:latin typeface="Calibri"/>
                        </a:rPr>
                        <a:t>Sandwicheries</a:t>
                      </a:r>
                      <a:endParaRPr sz="1100"/>
                    </a:p>
                  </a:txBody>
                  <a:tcPr marL="1028700" marR="9525" marT="9525" marB="0" anchor="ctr"/>
                </a:tc>
              </a:tr>
              <a:tr h="175260">
                <a:tc>
                  <a:txBody>
                    <a:bodyPr wrap="square"/>
                    <a:lstStyle/>
                    <a:p>
                      <a:pPr algn="l"/>
                      <a:r>
                        <a:rPr sz="1100" b="0" i="1">
                          <a:solidFill>
                            <a:srgbClr val="000000"/>
                          </a:solidFill>
                          <a:latin typeface="Calibri"/>
                        </a:rPr>
                        <a:t>9.5.2.4.</a:t>
                      </a:r>
                      <a:r>
                        <a:rPr sz="700" b="0" i="1">
                          <a:solidFill>
                            <a:srgbClr val="000000"/>
                          </a:solidFill>
                          <a:latin typeface="Times New Roman"/>
                        </a:rPr>
                        <a:t>    </a:t>
                      </a:r>
                      <a:r>
                        <a:rPr sz="1100" b="0" i="1">
                          <a:solidFill>
                            <a:srgbClr val="000000"/>
                          </a:solidFill>
                          <a:latin typeface="Calibri"/>
                        </a:rPr>
                        <a:t>Fast casual</a:t>
                      </a:r>
                      <a:endParaRPr sz="1100"/>
                    </a:p>
                  </a:txBody>
                  <a:tcPr marL="1028700" marR="9525" marT="9525" marB="0" anchor="ctr"/>
                </a:tc>
              </a:tr>
              <a:tr h="175260">
                <a:tc>
                  <a:txBody>
                    <a:bodyPr wrap="square"/>
                    <a:lstStyle/>
                    <a:p>
                      <a:pPr algn="l"/>
                      <a:r>
                        <a:rPr sz="1100" b="0" i="1">
                          <a:solidFill>
                            <a:srgbClr val="000000"/>
                          </a:solidFill>
                          <a:latin typeface="Calibri"/>
                        </a:rPr>
                        <a:t>9.5.2.5.</a:t>
                      </a:r>
                      <a:r>
                        <a:rPr sz="700" b="0" i="1">
                          <a:solidFill>
                            <a:srgbClr val="000000"/>
                          </a:solidFill>
                          <a:latin typeface="Times New Roman"/>
                        </a:rPr>
                        <a:t>    </a:t>
                      </a:r>
                      <a:r>
                        <a:rPr sz="1100" b="0" i="1">
                          <a:solidFill>
                            <a:srgbClr val="000000"/>
                          </a:solidFill>
                          <a:latin typeface="Calibri"/>
                        </a:rPr>
                        <a:t>Cafés and Coffee shops</a:t>
                      </a:r>
                      <a:endParaRPr sz="1100"/>
                    </a:p>
                  </a:txBody>
                  <a:tcPr marL="1028700" marR="9525" marT="9525" marB="0" anchor="ctr"/>
                </a:tc>
              </a:tr>
              <a:tr h="175260">
                <a:tc>
                  <a:txBody>
                    <a:bodyPr wrap="square"/>
                    <a:lstStyle/>
                    <a:p>
                      <a:pPr algn="l"/>
                      <a:r>
                        <a:rPr sz="1100" b="0" i="1">
                          <a:solidFill>
                            <a:srgbClr val="000000"/>
                          </a:solidFill>
                          <a:latin typeface="Calibri"/>
                        </a:rPr>
                        <a:t>9.5.2.6.</a:t>
                      </a:r>
                      <a:r>
                        <a:rPr sz="700" b="0" i="1">
                          <a:solidFill>
                            <a:srgbClr val="000000"/>
                          </a:solidFill>
                          <a:latin typeface="Times New Roman"/>
                        </a:rPr>
                        <a:t>    </a:t>
                      </a:r>
                      <a:r>
                        <a:rPr sz="1100" b="0" i="1">
                          <a:solidFill>
                            <a:srgbClr val="000000"/>
                          </a:solidFill>
                          <a:latin typeface="Calibri"/>
                        </a:rPr>
                        <a:t>Institutional/Hospitals</a:t>
                      </a:r>
                      <a:endParaRPr sz="1100"/>
                    </a:p>
                  </a:txBody>
                  <a:tcPr marL="1028700" marR="9525" marT="9525" marB="0" anchor="ctr"/>
                </a:tc>
              </a:tr>
              <a:tr h="175260">
                <a:tc>
                  <a:txBody>
                    <a:bodyPr wrap="square"/>
                    <a:lstStyle/>
                    <a:p>
                      <a:pPr algn="l"/>
                      <a:r>
                        <a:rPr sz="1100" b="0" i="0">
                          <a:solidFill>
                            <a:srgbClr val="000000"/>
                          </a:solidFill>
                          <a:latin typeface="Calibri"/>
                        </a:rPr>
                        <a:t>9.5.3.</a:t>
                      </a:r>
                      <a:r>
                        <a:rPr sz="700" b="0" i="0">
                          <a:solidFill>
                            <a:srgbClr val="000000"/>
                          </a:solidFill>
                          <a:latin typeface="Times New Roman"/>
                        </a:rPr>
                        <a:t>   </a:t>
                      </a:r>
                      <a:r>
                        <a:rPr sz="1100" b="0" i="0">
                          <a:solidFill>
                            <a:srgbClr val="000000"/>
                          </a:solidFill>
                          <a:latin typeface="Calibri"/>
                        </a:rPr>
                        <a:t>Retail</a:t>
                      </a:r>
                      <a:endParaRPr sz="1100"/>
                    </a:p>
                  </a:txBody>
                  <a:tcPr marL="771525" marR="9525" marT="9525" marB="0" anchor="ctr"/>
                </a:tc>
              </a:tr>
              <a:tr h="175260">
                <a:tc>
                  <a:txBody>
                    <a:bodyPr wrap="square"/>
                    <a:lstStyle/>
                    <a:p>
                      <a:pPr algn="l"/>
                      <a:r>
                        <a:rPr sz="1100" b="0" i="1">
                          <a:solidFill>
                            <a:srgbClr val="000000"/>
                          </a:solidFill>
                          <a:latin typeface="Calibri"/>
                        </a:rPr>
                        <a:t>9.5.3.1.</a:t>
                      </a:r>
                      <a:r>
                        <a:rPr sz="700" b="0" i="1">
                          <a:solidFill>
                            <a:srgbClr val="000000"/>
                          </a:solidFill>
                          <a:latin typeface="Times New Roman"/>
                        </a:rPr>
                        <a:t>    </a:t>
                      </a:r>
                      <a:r>
                        <a:rPr sz="1100" b="0" i="1">
                          <a:solidFill>
                            <a:srgbClr val="000000"/>
                          </a:solidFill>
                          <a:latin typeface="Calibri"/>
                        </a:rPr>
                        <a:t>Hypermarket/Supermarket</a:t>
                      </a:r>
                      <a:endParaRPr sz="1100"/>
                    </a:p>
                  </a:txBody>
                  <a:tcPr marL="1028700" marR="9525" marT="9525" marB="0" anchor="ctr"/>
                </a:tc>
              </a:tr>
              <a:tr h="175260">
                <a:tc>
                  <a:txBody>
                    <a:bodyPr wrap="square"/>
                    <a:lstStyle/>
                    <a:p>
                      <a:pPr algn="l"/>
                      <a:r>
                        <a:rPr sz="1100" b="0" i="1">
                          <a:solidFill>
                            <a:srgbClr val="000000"/>
                          </a:solidFill>
                          <a:latin typeface="Calibri"/>
                        </a:rPr>
                        <a:t>9.5.3.2.</a:t>
                      </a:r>
                      <a:r>
                        <a:rPr sz="700" b="0" i="1">
                          <a:solidFill>
                            <a:srgbClr val="000000"/>
                          </a:solidFill>
                          <a:latin typeface="Times New Roman"/>
                        </a:rPr>
                        <a:t>    </a:t>
                      </a:r>
                      <a:r>
                        <a:rPr sz="1100" b="0" i="1">
                          <a:solidFill>
                            <a:srgbClr val="000000"/>
                          </a:solidFill>
                          <a:latin typeface="Calibri"/>
                        </a:rPr>
                        <a:t>Convenience Stores</a:t>
                      </a:r>
                      <a:endParaRPr sz="1100"/>
                    </a:p>
                  </a:txBody>
                  <a:tcPr marL="1028700" marR="9525" marT="9525" marB="0" anchor="ctr"/>
                </a:tc>
              </a:tr>
              <a:tr h="175260">
                <a:tc>
                  <a:txBody>
                    <a:bodyPr wrap="square"/>
                    <a:lstStyle/>
                    <a:p>
                      <a:pPr algn="l"/>
                      <a:r>
                        <a:rPr sz="1100" b="0" i="1">
                          <a:solidFill>
                            <a:srgbClr val="000000"/>
                          </a:solidFill>
                          <a:latin typeface="Calibri"/>
                        </a:rPr>
                        <a:t>9.5.3.3.</a:t>
                      </a:r>
                      <a:r>
                        <a:rPr sz="700" b="0" i="1">
                          <a:solidFill>
                            <a:srgbClr val="000000"/>
                          </a:solidFill>
                          <a:latin typeface="Times New Roman"/>
                        </a:rPr>
                        <a:t>    </a:t>
                      </a:r>
                      <a:r>
                        <a:rPr sz="1100" b="0" i="1">
                          <a:solidFill>
                            <a:srgbClr val="000000"/>
                          </a:solidFill>
                          <a:latin typeface="Calibri"/>
                        </a:rPr>
                        <a:t>Departmental Stores</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9.5.3.4.</a:t>
                      </a:r>
                      <a:r>
                        <a:rPr sz="700" b="0" i="1">
                          <a:solidFill>
                            <a:srgbClr val="000000"/>
                          </a:solidFill>
                          <a:latin typeface="Times New Roman"/>
                        </a:rPr>
                        <a:t>    </a:t>
                      </a:r>
                      <a:r>
                        <a:rPr sz="1100" b="0" i="1">
                          <a:solidFill>
                            <a:srgbClr val="000000"/>
                          </a:solidFill>
                          <a:latin typeface="Calibri"/>
                        </a:rPr>
                        <a:t>Grocery Retailers</a:t>
                      </a:r>
                      <a:endParaRPr sz="1100"/>
                    </a:p>
                  </a:txBody>
                  <a:tcPr marL="1028700" marR="9525" marT="9525" marB="0" anchor="ctr"/>
                </a:tc>
              </a:tr>
              <a:tr h="175260">
                <a:tc>
                  <a:txBody>
                    <a:bodyPr wrap="square"/>
                    <a:lstStyle/>
                    <a:p>
                      <a:pPr algn="l"/>
                      <a:r>
                        <a:rPr sz="1100" b="0" i="1">
                          <a:solidFill>
                            <a:srgbClr val="000000"/>
                          </a:solidFill>
                          <a:latin typeface="Calibri"/>
                        </a:rPr>
                        <a:t>9.5.3.5.</a:t>
                      </a:r>
                      <a:r>
                        <a:rPr sz="700" b="0" i="1">
                          <a:solidFill>
                            <a:srgbClr val="000000"/>
                          </a:solidFill>
                          <a:latin typeface="Times New Roman"/>
                        </a:rPr>
                        <a:t>    </a:t>
                      </a:r>
                      <a:r>
                        <a:rPr sz="1100" b="0" i="1">
                          <a:solidFill>
                            <a:srgbClr val="000000"/>
                          </a:solidFill>
                          <a:latin typeface="Calibri"/>
                        </a:rPr>
                        <a:t>Specialty Stores</a:t>
                      </a:r>
                      <a:endParaRPr sz="1100"/>
                    </a:p>
                  </a:txBody>
                  <a:tcPr marL="1028700" marR="9525" marT="9525" marB="0" anchor="ctr"/>
                </a:tc>
              </a:tr>
              <a:tr h="175260">
                <a:tc>
                  <a:txBody>
                    <a:bodyPr wrap="square"/>
                    <a:lstStyle/>
                    <a:p>
                      <a:pPr algn="l"/>
                      <a:r>
                        <a:rPr sz="1100" b="0" i="1">
                          <a:solidFill>
                            <a:srgbClr val="000000"/>
                          </a:solidFill>
                          <a:latin typeface="Calibri"/>
                        </a:rPr>
                        <a:t>9.5.3.6.</a:t>
                      </a:r>
                      <a:r>
                        <a:rPr sz="700" b="0" i="1">
                          <a:solidFill>
                            <a:srgbClr val="000000"/>
                          </a:solidFill>
                          <a:latin typeface="Times New Roman"/>
                        </a:rPr>
                        <a:t>    </a:t>
                      </a:r>
                      <a:r>
                        <a:rPr sz="1100" b="0" i="1">
                          <a:solidFill>
                            <a:srgbClr val="000000"/>
                          </a:solidFill>
                          <a:latin typeface="Calibri"/>
                        </a:rPr>
                        <a:t>Discount Stores</a:t>
                      </a:r>
                      <a:endParaRPr sz="1100"/>
                    </a:p>
                  </a:txBody>
                  <a:tcPr marL="1028700" marR="9525" marT="9525" marB="0" anchor="ctr"/>
                </a:tc>
              </a:tr>
              <a:tr h="175260">
                <a:tc>
                  <a:txBody>
                    <a:bodyPr wrap="square"/>
                    <a:lstStyle/>
                    <a:p>
                      <a:pPr algn="l"/>
                      <a:r>
                        <a:rPr sz="1100" b="0" i="1">
                          <a:solidFill>
                            <a:srgbClr val="000000"/>
                          </a:solidFill>
                          <a:latin typeface="Calibri"/>
                        </a:rPr>
                        <a:t>9.5.3.7.</a:t>
                      </a:r>
                      <a:r>
                        <a:rPr sz="700" b="0" i="1">
                          <a:solidFill>
                            <a:srgbClr val="000000"/>
                          </a:solidFill>
                          <a:latin typeface="Times New Roman"/>
                        </a:rPr>
                        <a:t>    </a:t>
                      </a:r>
                      <a:r>
                        <a:rPr sz="1100" b="0" i="1">
                          <a:solidFill>
                            <a:srgbClr val="000000"/>
                          </a:solidFill>
                          <a:latin typeface="Calibri"/>
                        </a:rPr>
                        <a:t>Online Retailers</a:t>
                      </a:r>
                      <a:endParaRPr sz="1100"/>
                    </a:p>
                  </a:txBody>
                  <a:tcPr marL="1028700" marR="9525" marT="9525" marB="0" anchor="ctr"/>
                </a:tc>
              </a:tr>
              <a:tr h="175260">
                <a:tc>
                  <a:txBody>
                    <a:bodyPr wrap="square"/>
                    <a:lstStyle/>
                    <a:p>
                      <a:pPr algn="l"/>
                      <a:r>
                        <a:rPr sz="1100" b="0" i="1">
                          <a:solidFill>
                            <a:srgbClr val="000000"/>
                          </a:solidFill>
                          <a:latin typeface="Calibri"/>
                        </a:rPr>
                        <a:t>9.5.3.7.1.</a:t>
                      </a:r>
                      <a:r>
                        <a:rPr sz="700" b="0" i="1">
                          <a:solidFill>
                            <a:srgbClr val="000000"/>
                          </a:solidFill>
                          <a:latin typeface="Times New Roman"/>
                        </a:rPr>
                        <a:t>    </a:t>
                      </a:r>
                      <a:r>
                        <a:rPr sz="1100" b="0" i="1">
                          <a:solidFill>
                            <a:srgbClr val="000000"/>
                          </a:solidFill>
                          <a:latin typeface="Calibri"/>
                        </a:rPr>
                        <a:t>Company Website</a:t>
                      </a:r>
                      <a:endParaRPr sz="1100"/>
                    </a:p>
                  </a:txBody>
                  <a:tcPr marL="1257300" marR="9525" marT="9525" marB="0" anchor="ctr"/>
                </a:tc>
              </a:tr>
              <a:tr h="175260">
                <a:tc>
                  <a:txBody>
                    <a:bodyPr wrap="square"/>
                    <a:lstStyle/>
                    <a:p>
                      <a:pPr algn="l"/>
                      <a:r>
                        <a:rPr sz="1100" b="0" i="1">
                          <a:solidFill>
                            <a:srgbClr val="000000"/>
                          </a:solidFill>
                          <a:latin typeface="Calibri"/>
                        </a:rPr>
                        <a:t>9.5.3.7.2.</a:t>
                      </a:r>
                      <a:r>
                        <a:rPr sz="700" b="0" i="1">
                          <a:solidFill>
                            <a:srgbClr val="000000"/>
                          </a:solidFill>
                          <a:latin typeface="Times New Roman"/>
                        </a:rPr>
                        <a:t>    </a:t>
                      </a:r>
                      <a:r>
                        <a:rPr sz="1100" b="0" i="1">
                          <a:solidFill>
                            <a:srgbClr val="000000"/>
                          </a:solidFill>
                          <a:latin typeface="Calibri"/>
                        </a:rPr>
                        <a:t>E commerce Websites</a:t>
                      </a:r>
                      <a:endParaRPr sz="1100"/>
                    </a:p>
                  </a:txBody>
                  <a:tcPr marL="1257300" marR="9525" marT="9525" marB="0" anchor="ctr"/>
                </a:tc>
              </a:tr>
              <a:tr h="175260">
                <a:tc>
                  <a:txBody>
                    <a:bodyPr wrap="square"/>
                    <a:lstStyle/>
                    <a:p>
                      <a:pPr algn="l"/>
                      <a:r>
                        <a:rPr sz="1100" b="0" i="0">
                          <a:solidFill>
                            <a:srgbClr val="000000"/>
                          </a:solidFill>
                          <a:latin typeface="Calibri"/>
                        </a:rPr>
                        <a:t>9.5.4.</a:t>
                      </a:r>
                      <a:r>
                        <a:rPr sz="700" b="0" i="0">
                          <a:solidFill>
                            <a:srgbClr val="000000"/>
                          </a:solidFill>
                          <a:latin typeface="Times New Roman"/>
                        </a:rPr>
                        <a:t>   </a:t>
                      </a:r>
                      <a:r>
                        <a:rPr sz="1100" b="0" i="0">
                          <a:solidFill>
                            <a:srgbClr val="000000"/>
                          </a:solidFill>
                          <a:latin typeface="Calibri"/>
                        </a:rPr>
                        <a:t>Travel Retail</a:t>
                      </a:r>
                      <a:endParaRPr sz="1100"/>
                    </a:p>
                  </a:txBody>
                  <a:tcPr marL="771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Crab Meat Market Analysis 2021–2025 and Forecast 2026–2036, by Region</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10.5.1.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10.5.1.1.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10.5.1.2.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10.5.2.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10.5.2.1.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10.5.2.2.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10.5.2.3.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10.5.3.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10.5.3.1.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10.5.3.2.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10.5.3.3.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10.5.4.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10.5.4.1.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10.5.4.2.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10.5.4.3.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10.5.4.4.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10.5.4.5.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10.5.4.6.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10.5.4.7.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10.5.4.8.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10.5.4.9.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10.5.5.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10.5.5.1.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10.5.5.2.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10.5.5.3.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10.5.5.4.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10.5.5.5.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10.5.5.6.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10.5.5.7.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10.5.5.8.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10.5.5.9.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10.5.5.10.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10.5.5.11.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10.5.5.12.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10.5.6.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10.5.6.1.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10.5.6.2.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10.5.6.3.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10.5.6.4.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10.5.6.5.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10.5.6.6.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10.5.6.7.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11.4.5.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11.4.6.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11.4.7.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12.4.6.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12.4.7.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13.4.7.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14.4.7.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15.4.7.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Crab Specie</a:t>
                      </a:r>
                      <a:endParaRPr sz="1100"/>
                    </a:p>
                  </a:txBody>
                  <a:tcPr marL="771525"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Meat Type</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Product Claim</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Product Format</a:t>
                      </a:r>
                      <a:endParaRPr sz="1100"/>
                    </a:p>
                  </a:txBody>
                  <a:tcPr marL="771525" marR="9525" marT="9525" marB="0" anchor="ctr"/>
                </a:tc>
              </a:tr>
              <a:tr h="175260">
                <a:tc>
                  <a:txBody>
                    <a:bodyPr wrap="square"/>
                    <a:lstStyle/>
                    <a:p>
                      <a:pPr algn="l"/>
                      <a:r>
                        <a:rPr sz="1100" b="0" i="0">
                          <a:solidFill>
                            <a:srgbClr val="000000"/>
                          </a:solidFill>
                          <a:latin typeface="Calibri"/>
                        </a:rPr>
                        <a:t>16.4.7.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Per Capita Assessment</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Per Capita Expenditure (US$) by Country</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Price comparison by species</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Price comparison by meat grade</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Price comparison by source country</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Global Crab Meat Market - Pricing Analysis</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18.1.1.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18.1.2.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18.1.3.</a:t>
                      </a:r>
                      <a:r>
                        <a:rPr sz="700" b="0" i="0">
                          <a:solidFill>
                            <a:srgbClr val="000000"/>
                          </a:solidFill>
                          <a:latin typeface="Times New Roman"/>
                        </a:rPr>
                        <a:t> </a:t>
                      </a:r>
                      <a:r>
                        <a:rPr sz="1100" b="0" i="0">
                          <a:solidFill>
                            <a:srgbClr val="000000"/>
                          </a:solidFill>
                          <a:latin typeface="Calibri"/>
                        </a:rPr>
                        <a:t>Retail Level Pricing</a:t>
                      </a:r>
                      <a:endParaRPr sz="1100"/>
                    </a:p>
                  </a:txBody>
                  <a:tcPr marL="7715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Segment-wise Price Comparison (Crab Species vs Source)</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Country-wise Price Comparison (Crab Species)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Price Point Assessment By Crab Species</a:t>
                      </a:r>
                      <a:endParaRPr sz="1100"/>
                    </a:p>
                  </a:txBody>
                  <a:tcPr marL="4286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19.1.1.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19.1.2.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20.1.1.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20.1.2.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20.1.3.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20.2.1.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20.2.2.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20.2.3.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seafood labeling</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import-export norms</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residue / safety norms</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traceability requirements</a:t>
                      </a:r>
                      <a:endParaRPr sz="1100"/>
                    </a:p>
                  </a:txBody>
                  <a:tcPr marL="4286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FDA</a:t>
                      </a:r>
                      <a:endParaRPr sz="1100"/>
                    </a:p>
                  </a:txBody>
                  <a:tcPr marL="4286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EU food safety framework</a:t>
                      </a:r>
                      <a:endParaRPr sz="1100"/>
                    </a:p>
                  </a:txBody>
                  <a:tcPr marL="4286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FSSAI</a:t>
                      </a:r>
                      <a:endParaRPr sz="1100"/>
                    </a:p>
                  </a:txBody>
                  <a:tcPr marL="4286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sustainability certifications such as MSC where relevant</a:t>
                      </a:r>
                      <a:endParaRPr sz="1100"/>
                    </a:p>
                  </a:txBody>
                  <a:tcPr marL="4286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Production Volume (MT), (2021-2026) by Region/ Country</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Exports: Key Countries, Share &amp; Value (US$ Mn / MT)</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Imports: Key Countries, Share &amp; Value (US$ Mn / MT)</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22.3.1.</a:t>
                      </a:r>
                      <a:r>
                        <a:rPr sz="700" b="0" i="0">
                          <a:solidFill>
                            <a:srgbClr val="000000"/>
                          </a:solidFill>
                          <a:latin typeface="Times New Roman"/>
                        </a:rPr>
                        <a:t> </a:t>
                      </a:r>
                      <a:r>
                        <a:rPr sz="1100" b="0" i="0">
                          <a:solidFill>
                            <a:srgbClr val="000000"/>
                          </a:solidFill>
                          <a:latin typeface="Calibri"/>
                        </a:rPr>
                        <a:t>key producing countries</a:t>
                      </a:r>
                      <a:endParaRPr sz="1100"/>
                    </a:p>
                  </a:txBody>
                  <a:tcPr marL="771525" marR="9525" marT="9525" marB="0" anchor="ctr"/>
                </a:tc>
              </a:tr>
              <a:tr h="175260">
                <a:tc>
                  <a:txBody>
                    <a:bodyPr wrap="square"/>
                    <a:lstStyle/>
                    <a:p>
                      <a:pPr algn="l"/>
                      <a:r>
                        <a:rPr sz="1100" b="0" i="0">
                          <a:solidFill>
                            <a:srgbClr val="000000"/>
                          </a:solidFill>
                          <a:latin typeface="Calibri"/>
                        </a:rPr>
                        <a:t>22.3.2.</a:t>
                      </a:r>
                      <a:r>
                        <a:rPr sz="700" b="0" i="0">
                          <a:solidFill>
                            <a:srgbClr val="000000"/>
                          </a:solidFill>
                          <a:latin typeface="Times New Roman"/>
                        </a:rPr>
                        <a:t> </a:t>
                      </a:r>
                      <a:r>
                        <a:rPr sz="1100" b="0" i="0">
                          <a:solidFill>
                            <a:srgbClr val="000000"/>
                          </a:solidFill>
                          <a:latin typeface="Calibri"/>
                        </a:rPr>
                        <a:t>key exporting countries</a:t>
                      </a:r>
                      <a:endParaRPr sz="1100"/>
                    </a:p>
                  </a:txBody>
                  <a:tcPr marL="771525" marR="9525" marT="9525" marB="0" anchor="ctr"/>
                </a:tc>
              </a:tr>
              <a:tr h="175260">
                <a:tc>
                  <a:txBody>
                    <a:bodyPr wrap="square"/>
                    <a:lstStyle/>
                    <a:p>
                      <a:pPr algn="l"/>
                      <a:r>
                        <a:rPr sz="1100" b="0" i="0">
                          <a:solidFill>
                            <a:srgbClr val="000000"/>
                          </a:solidFill>
                          <a:latin typeface="Calibri"/>
                        </a:rPr>
                        <a:t>22.3.3.</a:t>
                      </a:r>
                      <a:r>
                        <a:rPr sz="700" b="0" i="0">
                          <a:solidFill>
                            <a:srgbClr val="000000"/>
                          </a:solidFill>
                          <a:latin typeface="Times New Roman"/>
                        </a:rPr>
                        <a:t> </a:t>
                      </a:r>
                      <a:r>
                        <a:rPr sz="1100" b="0" i="0">
                          <a:solidFill>
                            <a:srgbClr val="000000"/>
                          </a:solidFill>
                          <a:latin typeface="Calibri"/>
                        </a:rPr>
                        <a:t>key importing countries</a:t>
                      </a:r>
                      <a:endParaRPr sz="1100"/>
                    </a:p>
                  </a:txBody>
                  <a:tcPr marL="771525" marR="9525" marT="9525" marB="0" anchor="ctr"/>
                </a:tc>
              </a:tr>
              <a:tr h="175260">
                <a:tc>
                  <a:txBody>
                    <a:bodyPr wrap="square"/>
                    <a:lstStyle/>
                    <a:p>
                      <a:pPr algn="l"/>
                      <a:r>
                        <a:rPr sz="1100" b="0" i="0">
                          <a:solidFill>
                            <a:srgbClr val="000000"/>
                          </a:solidFill>
                          <a:latin typeface="Calibri"/>
                        </a:rPr>
                        <a:t>22.3.4.</a:t>
                      </a:r>
                      <a:r>
                        <a:rPr sz="700" b="0" i="0">
                          <a:solidFill>
                            <a:srgbClr val="000000"/>
                          </a:solidFill>
                          <a:latin typeface="Times New Roman"/>
                        </a:rPr>
                        <a:t> </a:t>
                      </a:r>
                      <a:r>
                        <a:rPr sz="1100" b="0" i="0">
                          <a:solidFill>
                            <a:srgbClr val="000000"/>
                          </a:solidFill>
                          <a:latin typeface="Calibri"/>
                        </a:rPr>
                        <a:t>trade flow mapping</a:t>
                      </a:r>
                      <a:endParaRPr sz="1100"/>
                    </a:p>
                  </a:txBody>
                  <a:tcPr marL="771525" marR="9525" marT="9525" marB="0" anchor="ctr"/>
                </a:tc>
              </a:tr>
              <a:tr h="175260">
                <a:tc>
                  <a:txBody>
                    <a:bodyPr wrap="square"/>
                    <a:lstStyle/>
                    <a:p>
                      <a:pPr algn="l"/>
                      <a:r>
                        <a:rPr sz="1100" b="0" i="0">
                          <a:solidFill>
                            <a:srgbClr val="000000"/>
                          </a:solidFill>
                          <a:latin typeface="Calibri"/>
                        </a:rPr>
                        <a:t>22.3.5.</a:t>
                      </a:r>
                      <a:r>
                        <a:rPr sz="700" b="0" i="0">
                          <a:solidFill>
                            <a:srgbClr val="000000"/>
                          </a:solidFill>
                          <a:latin typeface="Times New Roman"/>
                        </a:rPr>
                        <a:t> </a:t>
                      </a:r>
                      <a:r>
                        <a:rPr sz="1100" b="0" i="0">
                          <a:solidFill>
                            <a:srgbClr val="000000"/>
                          </a:solidFill>
                          <a:latin typeface="Calibri"/>
                        </a:rPr>
                        <a:t>processing hubs</a:t>
                      </a:r>
                      <a:endParaRPr sz="1100"/>
                    </a:p>
                  </a:txBody>
                  <a:tcPr marL="771525" marR="9525" marT="9525" marB="0" anchor="ctr"/>
                </a:tc>
              </a:tr>
              <a:tr h="175260">
                <a:tc>
                  <a:txBody>
                    <a:bodyPr wrap="square"/>
                    <a:lstStyle/>
                    <a:p>
                      <a:pPr algn="l"/>
                      <a:r>
                        <a:rPr sz="1100" b="0" i="0">
                          <a:solidFill>
                            <a:srgbClr val="000000"/>
                          </a:solidFill>
                          <a:latin typeface="Calibri"/>
                        </a:rPr>
                        <a:t>22.3.6.</a:t>
                      </a:r>
                      <a:r>
                        <a:rPr sz="700" b="0" i="0">
                          <a:solidFill>
                            <a:srgbClr val="000000"/>
                          </a:solidFill>
                          <a:latin typeface="Times New Roman"/>
                        </a:rPr>
                        <a:t> </a:t>
                      </a:r>
                      <a:r>
                        <a:rPr sz="1100" b="0" i="0">
                          <a:solidFill>
                            <a:srgbClr val="000000"/>
                          </a:solidFill>
                          <a:latin typeface="Calibri"/>
                        </a:rPr>
                        <a:t>cold chain dependencies</a:t>
                      </a:r>
                      <a:endParaRPr sz="1100"/>
                    </a:p>
                  </a:txBody>
                  <a:tcPr marL="771525" marR="9525" marT="9525" marB="0" anchor="ctr"/>
                </a:tc>
              </a:tr>
              <a:tr h="175260">
                <a:tc>
                  <a:txBody>
                    <a:bodyPr wrap="square"/>
                    <a:lstStyle/>
                    <a:p>
                      <a:pPr algn="l"/>
                      <a:r>
                        <a:rPr sz="1100" b="0" i="0">
                          <a:solidFill>
                            <a:srgbClr val="000000"/>
                          </a:solidFill>
                          <a:latin typeface="Calibri"/>
                        </a:rPr>
                        <a:t>22.3.7.</a:t>
                      </a:r>
                      <a:r>
                        <a:rPr sz="700" b="0" i="0">
                          <a:solidFill>
                            <a:srgbClr val="000000"/>
                          </a:solidFill>
                          <a:latin typeface="Times New Roman"/>
                        </a:rPr>
                        <a:t> </a:t>
                      </a:r>
                      <a:r>
                        <a:rPr sz="1100" b="0" i="0">
                          <a:solidFill>
                            <a:srgbClr val="000000"/>
                          </a:solidFill>
                          <a:latin typeface="Calibri"/>
                        </a:rPr>
                        <a:t>sourcing risks</a:t>
                      </a:r>
                      <a:endParaRPr sz="1100"/>
                    </a:p>
                  </a:txBody>
                  <a:tcPr marL="771525" marR="9525" marT="9525" marB="0" anchor="ctr"/>
                </a:tc>
              </a:tr>
              <a:tr h="175260">
                <a:tc>
                  <a:txBody>
                    <a:bodyPr wrap="square"/>
                    <a:lstStyle/>
                    <a:p>
                      <a:pPr algn="l"/>
                      <a:r>
                        <a:rPr sz="1100" b="0" i="0">
                          <a:solidFill>
                            <a:srgbClr val="000000"/>
                          </a:solidFill>
                          <a:latin typeface="Calibri"/>
                        </a:rPr>
                        <a:t>22.3.8.</a:t>
                      </a:r>
                      <a:r>
                        <a:rPr sz="700" b="0" i="0">
                          <a:solidFill>
                            <a:srgbClr val="000000"/>
                          </a:solidFill>
                          <a:latin typeface="Times New Roman"/>
                        </a:rPr>
                        <a:t> </a:t>
                      </a:r>
                      <a:r>
                        <a:rPr sz="1100" b="0" i="0">
                          <a:solidFill>
                            <a:srgbClr val="000000"/>
                          </a:solidFill>
                          <a:latin typeface="Calibri"/>
                        </a:rPr>
                        <a:t>seasonality and catch limitations</a:t>
                      </a:r>
                      <a:endParaRPr sz="1100"/>
                    </a:p>
                  </a:txBody>
                  <a:tcPr marL="7715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23.1.1.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23.1.2.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23.3.1.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23.3.2.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r h="175260">
                <a:tc>
                  <a:txBody>
                    <a:bodyPr wrap="square"/>
                    <a:lstStyle/>
                    <a:p>
                      <a:pPr algn="l"/>
                      <a:r>
                        <a:rPr sz="1100" b="0" i="0">
                          <a:solidFill>
                            <a:srgbClr val="000000"/>
                          </a:solidFill>
                          <a:latin typeface="Calibri"/>
                        </a:rPr>
                        <a:t>23.3.3.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Tariff Outlook</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Current Tariff Rate in Top 10 Countries</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Country Wise- Local Production Vs Import Outlook</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Avg tariff, price delta, market impact (% and US$), margin bps, supply risk, alt-source</a:t>
                      </a:r>
                      <a:endParaRPr sz="1100"/>
                    </a:p>
                  </a:txBody>
                  <a:tcPr marL="428625" marR="9525" marT="9525" marB="0" anchor="ctr"/>
                </a:tc>
              </a:tr>
              <a:tr h="175260">
                <a:tc>
                  <a:txBody>
                    <a:bodyPr wrap="square"/>
                    <a:lstStyle/>
                    <a:p>
                      <a:pPr algn="l"/>
                      <a:r>
                        <a:rPr sz="1100" b="1" i="0">
                          <a:solidFill>
                            <a:srgbClr val="000000"/>
                          </a:solidFill>
                          <a:latin typeface="Calibri"/>
                        </a:rPr>
                        <a:t>Section 6: Company Profiles &amp; Strategic Benchmarking</a:t>
                      </a:r>
                      <a:endParaRPr sz="1100"/>
                    </a:p>
                  </a:txBody>
                  <a:tcPr marL="95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Company Share (%) Analysis- Crab Meat Market</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Company share analysis by company, 2023–2026</a:t>
                      </a:r>
                      <a:endParaRPr sz="1100"/>
                    </a:p>
                  </a:txBody>
                  <a:tcPr marL="428625" marR="9525" marT="9525" marB="0" anchor="ctr"/>
                </a:tc>
              </a:tr>
              <a:tr h="17526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Company share by region</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Company share by crab species / meat type</a:t>
                      </a:r>
                      <a:endParaRPr sz="1100"/>
                    </a:p>
                  </a:txBody>
                  <a:tcPr marL="428625" marR="9525" marT="9525" marB="0" anchor="ctr"/>
                </a:tc>
              </a:tr>
              <a:tr h="175260">
                <a:tc>
                  <a:txBody>
                    <a:bodyPr wrap="square"/>
                    <a:lstStyle/>
                    <a:p>
                      <a:pPr algn="l"/>
                      <a:r>
                        <a:rPr sz="1100" b="0" i="0">
                          <a:solidFill>
                            <a:srgbClr val="0070C0"/>
                          </a:solidFill>
                          <a:latin typeface="Calibri"/>
                        </a:rPr>
                        <a:t>25.4.</a:t>
                      </a:r>
                      <a:r>
                        <a:rPr sz="700" b="0" i="0">
                          <a:solidFill>
                            <a:srgbClr val="0070C0"/>
                          </a:solidFill>
                          <a:latin typeface="Times New Roman"/>
                        </a:rPr>
                        <a:t>  </a:t>
                      </a:r>
                      <a:r>
                        <a:rPr sz="1100" b="0" i="0">
                          <a:solidFill>
                            <a:srgbClr val="0070C0"/>
                          </a:solidFill>
                          <a:latin typeface="Calibri"/>
                        </a:rPr>
                        <a:t>Industry structure: Tier 1 / Tier 2 / Tier 3</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25.5.</a:t>
                      </a:r>
                      <a:r>
                        <a:rPr sz="700" b="0" i="0">
                          <a:solidFill>
                            <a:srgbClr val="0070C0"/>
                          </a:solidFill>
                          <a:latin typeface="Times New Roman"/>
                        </a:rPr>
                        <a:t>  </a:t>
                      </a:r>
                      <a:r>
                        <a:rPr sz="1100" b="0" i="0">
                          <a:solidFill>
                            <a:srgbClr val="0070C0"/>
                          </a:solidFill>
                          <a:latin typeface="Calibri"/>
                        </a:rPr>
                        <a:t>Processor vs importer vs branded marketer positioning</a:t>
                      </a:r>
                      <a:endParaRPr sz="1100"/>
                    </a:p>
                  </a:txBody>
                  <a:tcPr marL="4286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Company Profile</a:t>
                      </a:r>
                      <a:endParaRPr sz="1100"/>
                    </a:p>
                  </a:txBody>
                  <a:tcPr marL="171450" marR="9525" marT="9525" marB="0" anchor="ctr"/>
                </a:tc>
              </a:tr>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Phillips Foods, Inc.</a:t>
                      </a:r>
                      <a:endParaRPr sz="1100"/>
                    </a:p>
                  </a:txBody>
                  <a:tcPr marL="428625" marR="9525" marT="9525" marB="0" anchor="ctr"/>
                </a:tc>
              </a:tr>
              <a:tr h="175260">
                <a:tc>
                  <a:txBody>
                    <a:bodyPr wrap="square"/>
                    <a:lstStyle/>
                    <a:p>
                      <a:pPr algn="l"/>
                      <a:r>
                        <a:rPr sz="1100" b="0" i="0">
                          <a:solidFill>
                            <a:srgbClr val="000000"/>
                          </a:solidFill>
                          <a:latin typeface="Calibri"/>
                        </a:rPr>
                        <a:t>26.1.1.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26.1.2.</a:t>
                      </a:r>
                      <a:r>
                        <a:rPr sz="700" b="0" i="0">
                          <a:solidFill>
                            <a:srgbClr val="000000"/>
                          </a:solidFill>
                          <a:latin typeface="Times New Roman"/>
                        </a:rPr>
                        <a:t> </a:t>
                      </a:r>
                      <a:r>
                        <a:rPr sz="1100" b="0" i="0">
                          <a:solidFill>
                            <a:srgbClr val="000000"/>
                          </a:solidFill>
                          <a:latin typeface="Calibri"/>
                        </a:rPr>
                        <a:t>Pricing Analysis (USD Per Unit) By Crab Species</a:t>
                      </a:r>
                      <a:endParaRPr sz="1100"/>
                    </a:p>
                  </a:txBody>
                  <a:tcPr marL="771525" marR="9525" marT="9525" marB="0" anchor="ctr"/>
                </a:tc>
              </a:tr>
              <a:tr h="175260">
                <a:tc>
                  <a:txBody>
                    <a:bodyPr wrap="square"/>
                    <a:lstStyle/>
                    <a:p>
                      <a:pPr algn="l"/>
                      <a:r>
                        <a:rPr sz="1100" b="0" i="0">
                          <a:solidFill>
                            <a:srgbClr val="000000"/>
                          </a:solidFill>
                          <a:latin typeface="Calibri"/>
                        </a:rPr>
                        <a:t>26.1.3.</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tr>
              <a:tr h="175260">
                <a:tc>
                  <a:txBody>
                    <a:bodyPr wrap="square"/>
                    <a:lstStyle/>
                    <a:p>
                      <a:pPr algn="l"/>
                      <a:r>
                        <a:rPr sz="1100" b="0" i="1">
                          <a:solidFill>
                            <a:srgbClr val="000000"/>
                          </a:solidFill>
                          <a:latin typeface="Calibri"/>
                        </a:rPr>
                        <a:t>26.1.3.1.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tr>
              <a:tr h="175260">
                <a:tc>
                  <a:txBody>
                    <a:bodyPr wrap="square"/>
                    <a:lstStyle/>
                    <a:p>
                      <a:pPr algn="l"/>
                      <a:r>
                        <a:rPr sz="1100" b="0" i="1">
                          <a:solidFill>
                            <a:srgbClr val="000000"/>
                          </a:solidFill>
                          <a:latin typeface="Calibri"/>
                        </a:rPr>
                        <a:t>26.1.3.2.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tr>
              <a:tr h="175260">
                <a:tc>
                  <a:txBody>
                    <a:bodyPr wrap="square"/>
                    <a:lstStyle/>
                    <a:p>
                      <a:pPr algn="l"/>
                      <a:r>
                        <a:rPr sz="1100" b="0" i="1">
                          <a:solidFill>
                            <a:srgbClr val="000000"/>
                          </a:solidFill>
                          <a:latin typeface="Calibri"/>
                        </a:rPr>
                        <a:t>26.1.3.3.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tr>
              <a:tr h="175260">
                <a:tc>
                  <a:txBody>
                    <a:bodyPr wrap="square"/>
                    <a:lstStyle/>
                    <a:p>
                      <a:pPr algn="l"/>
                      <a:r>
                        <a:rPr sz="1100" b="0" i="0">
                          <a:solidFill>
                            <a:srgbClr val="000000"/>
                          </a:solidFill>
                          <a:latin typeface="Calibri"/>
                        </a:rPr>
                        <a:t>26.1.4.</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26.1.5.</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26.1.5.1.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26.1.5.2.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26.1.5.3.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26.1.5.4.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26.1.6.</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26.1.7.</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Graham &amp; Rollins, Inc.</a:t>
                      </a:r>
                      <a:endParaRPr sz="1100"/>
                    </a:p>
                  </a:txBody>
                  <a:tcPr marL="428625" marR="9525" marT="9525" marB="0" anchor="ctr"/>
                </a:tc>
              </a:tr>
              <a:tr h="175260">
                <a:tc>
                  <a:txBody>
                    <a:bodyPr wrap="square"/>
                    <a:lstStyle/>
                    <a:p>
                      <a:pPr algn="l"/>
                      <a:r>
                        <a:rPr sz="1100" b="0" i="0">
                          <a:solidFill>
                            <a:srgbClr val="0070C0"/>
                          </a:solidFill>
                          <a:latin typeface="Calibri"/>
                        </a:rPr>
                        <a:t>26.3.</a:t>
                      </a:r>
                      <a:r>
                        <a:rPr sz="700" b="0" i="0">
                          <a:solidFill>
                            <a:srgbClr val="0070C0"/>
                          </a:solidFill>
                          <a:latin typeface="Times New Roman"/>
                        </a:rPr>
                        <a:t>  </a:t>
                      </a:r>
                      <a:r>
                        <a:rPr sz="1100" b="0" i="0">
                          <a:solidFill>
                            <a:srgbClr val="0070C0"/>
                          </a:solidFill>
                          <a:latin typeface="Calibri"/>
                        </a:rPr>
                        <a:t>Supreme Crab and Seafood, Inc.</a:t>
                      </a:r>
                      <a:endParaRPr sz="1100"/>
                    </a:p>
                  </a:txBody>
                  <a:tcPr marL="428625" marR="9525" marT="9525" marB="0" anchor="ctr"/>
                </a:tc>
              </a:tr>
              <a:tr h="175260">
                <a:tc>
                  <a:txBody>
                    <a:bodyPr wrap="square"/>
                    <a:lstStyle/>
                    <a:p>
                      <a:pPr algn="l"/>
                      <a:r>
                        <a:rPr sz="1100" b="0" i="0">
                          <a:solidFill>
                            <a:srgbClr val="0070C0"/>
                          </a:solidFill>
                          <a:latin typeface="Calibri"/>
                        </a:rPr>
                        <a:t>26.4.</a:t>
                      </a:r>
                      <a:r>
                        <a:rPr sz="700" b="0" i="0">
                          <a:solidFill>
                            <a:srgbClr val="0070C0"/>
                          </a:solidFill>
                          <a:latin typeface="Times New Roman"/>
                        </a:rPr>
                        <a:t>  </a:t>
                      </a:r>
                      <a:r>
                        <a:rPr sz="1100" b="0" i="0">
                          <a:solidFill>
                            <a:srgbClr val="0070C0"/>
                          </a:solidFill>
                          <a:latin typeface="Calibri"/>
                        </a:rPr>
                        <a:t>North Coast Seafoods</a:t>
                      </a:r>
                      <a:endParaRPr sz="1100"/>
                    </a:p>
                  </a:txBody>
                  <a:tcPr marL="428625" marR="9525" marT="9525" marB="0" anchor="ctr"/>
                </a:tc>
              </a:tr>
              <a:tr h="175260">
                <a:tc>
                  <a:txBody>
                    <a:bodyPr wrap="square"/>
                    <a:lstStyle/>
                    <a:p>
                      <a:pPr algn="l"/>
                      <a:r>
                        <a:rPr sz="1100" b="0" i="0">
                          <a:solidFill>
                            <a:srgbClr val="0070C0"/>
                          </a:solidFill>
                          <a:latin typeface="Calibri"/>
                        </a:rPr>
                        <a:t>26.5.</a:t>
                      </a:r>
                      <a:r>
                        <a:rPr sz="700" b="0" i="0">
                          <a:solidFill>
                            <a:srgbClr val="0070C0"/>
                          </a:solidFill>
                          <a:latin typeface="Times New Roman"/>
                        </a:rPr>
                        <a:t>  </a:t>
                      </a:r>
                      <a:r>
                        <a:rPr sz="1100" b="0" i="0">
                          <a:solidFill>
                            <a:srgbClr val="0070C0"/>
                          </a:solidFill>
                          <a:latin typeface="Calibri"/>
                        </a:rPr>
                        <a:t>Heron Point Seafood</a:t>
                      </a:r>
                      <a:endParaRPr sz="1100"/>
                    </a:p>
                  </a:txBody>
                  <a:tcPr marL="428625" marR="9525" marT="9525" marB="0" anchor="ctr"/>
                </a:tc>
              </a:tr>
              <a:tr h="175260">
                <a:tc>
                  <a:txBody>
                    <a:bodyPr wrap="square"/>
                    <a:lstStyle/>
                    <a:p>
                      <a:pPr algn="l"/>
                      <a:r>
                        <a:rPr sz="1100" b="0" i="0">
                          <a:solidFill>
                            <a:srgbClr val="0070C0"/>
                          </a:solidFill>
                          <a:latin typeface="Calibri"/>
                        </a:rPr>
                        <a:t>26.6.</a:t>
                      </a:r>
                      <a:r>
                        <a:rPr sz="700" b="0" i="0">
                          <a:solidFill>
                            <a:srgbClr val="0070C0"/>
                          </a:solidFill>
                          <a:latin typeface="Times New Roman"/>
                        </a:rPr>
                        <a:t>  </a:t>
                      </a:r>
                      <a:r>
                        <a:rPr sz="1100" b="0" i="0">
                          <a:solidFill>
                            <a:srgbClr val="0070C0"/>
                          </a:solidFill>
                          <a:latin typeface="Calibri"/>
                        </a:rPr>
                        <a:t>Phil-Union Frozen Foods, Inc.</a:t>
                      </a:r>
                      <a:endParaRPr sz="1100"/>
                    </a:p>
                  </a:txBody>
                  <a:tcPr marL="428625" marR="9525" marT="9525" marB="0" anchor="ctr"/>
                </a:tc>
              </a:tr>
              <a:tr h="175260">
                <a:tc>
                  <a:txBody>
                    <a:bodyPr wrap="square"/>
                    <a:lstStyle/>
                    <a:p>
                      <a:pPr algn="l"/>
                      <a:r>
                        <a:rPr sz="1100" b="0" i="0">
                          <a:solidFill>
                            <a:srgbClr val="0070C0"/>
                          </a:solidFill>
                          <a:latin typeface="Calibri"/>
                        </a:rPr>
                        <a:t>26.7.</a:t>
                      </a:r>
                      <a:r>
                        <a:rPr sz="700" b="0" i="0">
                          <a:solidFill>
                            <a:srgbClr val="0070C0"/>
                          </a:solidFill>
                          <a:latin typeface="Times New Roman"/>
                        </a:rPr>
                        <a:t>  </a:t>
                      </a:r>
                      <a:r>
                        <a:rPr sz="1100" b="0" i="0">
                          <a:solidFill>
                            <a:srgbClr val="0070C0"/>
                          </a:solidFill>
                          <a:latin typeface="Calibri"/>
                        </a:rPr>
                        <a:t>Aqua Star</a:t>
                      </a:r>
                      <a:endParaRPr sz="1100"/>
                    </a:p>
                  </a:txBody>
                  <a:tcPr marL="428625" marR="9525" marT="9525" marB="0" anchor="ctr"/>
                </a:tc>
              </a:tr>
              <a:tr h="175260">
                <a:tc>
                  <a:txBody>
                    <a:bodyPr wrap="square"/>
                    <a:lstStyle/>
                    <a:p>
                      <a:pPr algn="l"/>
                      <a:r>
                        <a:rPr sz="1100" b="0" i="0">
                          <a:solidFill>
                            <a:srgbClr val="0070C0"/>
                          </a:solidFill>
                          <a:latin typeface="Calibri"/>
                        </a:rPr>
                        <a:t>26.8.</a:t>
                      </a:r>
                      <a:r>
                        <a:rPr sz="700" b="0" i="0">
                          <a:solidFill>
                            <a:srgbClr val="0070C0"/>
                          </a:solidFill>
                          <a:latin typeface="Times New Roman"/>
                        </a:rPr>
                        <a:t>  </a:t>
                      </a:r>
                      <a:r>
                        <a:rPr sz="1100" b="0" i="0">
                          <a:solidFill>
                            <a:srgbClr val="0070C0"/>
                          </a:solidFill>
                          <a:latin typeface="Calibri"/>
                        </a:rPr>
                        <a:t>Chicken of the Sea Frozen Foods</a:t>
                      </a:r>
                      <a:endParaRPr sz="1100"/>
                    </a:p>
                  </a:txBody>
                  <a:tcPr marL="428625" marR="9525" marT="9525" marB="0" anchor="ctr"/>
                </a:tc>
              </a:tr>
              <a:tr h="175260">
                <a:tc>
                  <a:txBody>
                    <a:bodyPr wrap="square"/>
                    <a:lstStyle/>
                    <a:p>
                      <a:pPr algn="l"/>
                      <a:r>
                        <a:rPr sz="1100" b="0" i="0">
                          <a:solidFill>
                            <a:srgbClr val="0070C0"/>
                          </a:solidFill>
                          <a:latin typeface="Calibri"/>
                        </a:rPr>
                        <a:t>26.9.</a:t>
                      </a:r>
                      <a:r>
                        <a:rPr sz="700" b="0" i="0">
                          <a:solidFill>
                            <a:srgbClr val="0070C0"/>
                          </a:solidFill>
                          <a:latin typeface="Times New Roman"/>
                        </a:rPr>
                        <a:t>  </a:t>
                      </a:r>
                      <a:r>
                        <a:rPr sz="1100" b="0" i="0">
                          <a:solidFill>
                            <a:srgbClr val="0070C0"/>
                          </a:solidFill>
                          <a:latin typeface="Calibri"/>
                        </a:rPr>
                        <a:t>The Crab Place</a:t>
                      </a:r>
                      <a:endParaRPr sz="1100"/>
                    </a:p>
                  </a:txBody>
                  <a:tcPr marL="428625" marR="9525" marT="9525" marB="0" anchor="ctr"/>
                </a:tc>
              </a:tr>
              <a:tr h="175260">
                <a:tc>
                  <a:txBody>
                    <a:bodyPr wrap="square"/>
                    <a:lstStyle/>
                    <a:p>
                      <a:pPr algn="l"/>
                      <a:r>
                        <a:rPr sz="1100" b="0" i="0">
                          <a:solidFill>
                            <a:srgbClr val="0070C0"/>
                          </a:solidFill>
                          <a:latin typeface="Calibri"/>
                        </a:rPr>
                        <a:t>26.10.</a:t>
                      </a:r>
                      <a:r>
                        <a:rPr sz="700" b="0" i="0">
                          <a:solidFill>
                            <a:srgbClr val="0070C0"/>
                          </a:solidFill>
                          <a:latin typeface="Times New Roman"/>
                        </a:rPr>
                        <a:t> </a:t>
                      </a:r>
                      <a:r>
                        <a:rPr sz="1100" b="0" i="0">
                          <a:solidFill>
                            <a:srgbClr val="0070C0"/>
                          </a:solidFill>
                          <a:latin typeface="Calibri"/>
                        </a:rPr>
                        <a:t>Handy Seafood</a:t>
                      </a:r>
                      <a:endParaRPr sz="1100"/>
                    </a:p>
                  </a:txBody>
                  <a:tcPr marL="428625" marR="9525" marT="9525" marB="0" anchor="ctr"/>
                </a:tc>
              </a:tr>
              <a:tr h="175260">
                <a:tc>
                  <a:txBody>
                    <a:bodyPr wrap="square"/>
                    <a:lstStyle/>
                    <a:p>
                      <a:pPr algn="l"/>
                      <a:r>
                        <a:rPr sz="1100" b="0" i="0">
                          <a:solidFill>
                            <a:srgbClr val="0070C0"/>
                          </a:solidFill>
                          <a:latin typeface="Calibri"/>
                        </a:rPr>
                        <a:t>26.11.</a:t>
                      </a:r>
                      <a:r>
                        <a:rPr sz="700" b="0" i="0">
                          <a:solidFill>
                            <a:srgbClr val="0070C0"/>
                          </a:solidFill>
                          <a:latin typeface="Times New Roman"/>
                        </a:rPr>
                        <a:t> </a:t>
                      </a:r>
                      <a:r>
                        <a:rPr sz="1100" b="0" i="0">
                          <a:solidFill>
                            <a:srgbClr val="0070C0"/>
                          </a:solidFill>
                          <a:latin typeface="Calibri"/>
                        </a:rPr>
                        <a:t>Bumble Bee Foods, LLC</a:t>
                      </a:r>
                      <a:endParaRPr sz="1100"/>
                    </a:p>
                  </a:txBody>
                  <a:tcPr marL="428625" marR="9525" marT="9525" marB="0" anchor="ctr"/>
                </a:tc>
              </a:tr>
              <a:tr h="175260">
                <a:tc>
                  <a:txBody>
                    <a:bodyPr wrap="square"/>
                    <a:lstStyle/>
                    <a:p>
                      <a:pPr algn="l"/>
                      <a:r>
                        <a:rPr sz="1100" b="0" i="0">
                          <a:solidFill>
                            <a:srgbClr val="0070C0"/>
                          </a:solidFill>
                          <a:latin typeface="Calibri"/>
                        </a:rPr>
                        <a:t>26.12.</a:t>
                      </a:r>
                      <a:r>
                        <a:rPr sz="700" b="0" i="0">
                          <a:solidFill>
                            <a:srgbClr val="0070C0"/>
                          </a:solidFill>
                          <a:latin typeface="Times New Roman"/>
                        </a:rPr>
                        <a:t> </a:t>
                      </a:r>
                      <a:r>
                        <a:rPr sz="1100" b="0" i="0">
                          <a:solidFill>
                            <a:srgbClr val="0070C0"/>
                          </a:solidFill>
                          <a:latin typeface="Calibri"/>
                        </a:rPr>
                        <a:t>GEISHA Brand</a:t>
                      </a:r>
                      <a:endParaRPr sz="1100"/>
                    </a:p>
                  </a:txBody>
                  <a:tcPr marL="428625" marR="9525" marT="9525" marB="0" anchor="ctr"/>
                </a:tc>
              </a:tr>
              <a:tr h="175260">
                <a:tc>
                  <a:txBody>
                    <a:bodyPr wrap="square"/>
                    <a:lstStyle/>
                    <a:p>
                      <a:pPr algn="l"/>
                      <a:r>
                        <a:rPr sz="1100" b="0" i="0">
                          <a:solidFill>
                            <a:srgbClr val="0070C0"/>
                          </a:solidFill>
                          <a:latin typeface="Calibri"/>
                        </a:rPr>
                        <a:t>26.13.</a:t>
                      </a:r>
                      <a:r>
                        <a:rPr sz="700" b="0" i="0">
                          <a:solidFill>
                            <a:srgbClr val="0070C0"/>
                          </a:solidFill>
                          <a:latin typeface="Times New Roman"/>
                        </a:rPr>
                        <a:t> </a:t>
                      </a:r>
                      <a:r>
                        <a:rPr sz="1100" b="0" i="0">
                          <a:solidFill>
                            <a:srgbClr val="0070C0"/>
                          </a:solidFill>
                          <a:latin typeface="Calibri"/>
                        </a:rPr>
                        <a:t>Crown Prince</a:t>
                      </a:r>
                      <a:endParaRPr sz="1100"/>
                    </a:p>
                  </a:txBody>
                  <a:tcPr marL="428625" marR="9525" marT="9525" marB="0" anchor="ctr"/>
                </a:tc>
              </a:tr>
              <a:tr h="175260">
                <a:tc>
                  <a:txBody>
                    <a:bodyPr wrap="square"/>
                    <a:lstStyle/>
                    <a:p>
                      <a:pPr algn="l"/>
                      <a:r>
                        <a:rPr sz="1100" b="0" i="0">
                          <a:solidFill>
                            <a:srgbClr val="0070C0"/>
                          </a:solidFill>
                          <a:latin typeface="Calibri"/>
                        </a:rPr>
                        <a:t>26.14.</a:t>
                      </a:r>
                      <a:r>
                        <a:rPr sz="700" b="0" i="0">
                          <a:solidFill>
                            <a:srgbClr val="0070C0"/>
                          </a:solidFill>
                          <a:latin typeface="Times New Roman"/>
                        </a:rPr>
                        <a:t> </a:t>
                      </a:r>
                      <a:r>
                        <a:rPr sz="1100" b="0" i="0">
                          <a:solidFill>
                            <a:srgbClr val="0070C0"/>
                          </a:solidFill>
                          <a:latin typeface="Calibri"/>
                        </a:rPr>
                        <a:t>MW Polar</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70104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26.15.</a:t>
                      </a:r>
                      <a:r>
                        <a:rPr sz="700" b="0" i="0">
                          <a:solidFill>
                            <a:srgbClr val="0070C0"/>
                          </a:solidFill>
                          <a:latin typeface="Times New Roman"/>
                        </a:rPr>
                        <a:t> </a:t>
                      </a:r>
                      <a:r>
                        <a:rPr sz="1100" b="0" i="0">
                          <a:solidFill>
                            <a:srgbClr val="0070C0"/>
                          </a:solidFill>
                          <a:latin typeface="Calibri"/>
                        </a:rPr>
                        <a:t>Roland Foods</a:t>
                      </a:r>
                      <a:endParaRPr sz="1100"/>
                    </a:p>
                  </a:txBody>
                  <a:tcPr marL="428625" marR="9525" marT="9525" marB="0" anchor="ctr"/>
                </a:tc>
              </a:tr>
              <a:tr h="175260">
                <a:tc>
                  <a:txBody>
                    <a:bodyPr wrap="square"/>
                    <a:lstStyle/>
                    <a:p>
                      <a:pPr algn="l"/>
                      <a:r>
                        <a:rPr sz="1100" b="0" i="0">
                          <a:solidFill>
                            <a:srgbClr val="0070C0"/>
                          </a:solidFill>
                          <a:latin typeface="Calibri"/>
                        </a:rPr>
                        <a:t>26.16.</a:t>
                      </a:r>
                      <a:r>
                        <a:rPr sz="700" b="0" i="0">
                          <a:solidFill>
                            <a:srgbClr val="0070C0"/>
                          </a:solidFill>
                          <a:latin typeface="Times New Roman"/>
                        </a:rPr>
                        <a:t> </a:t>
                      </a:r>
                      <a:r>
                        <a:rPr sz="1100" b="0" i="0">
                          <a:solidFill>
                            <a:srgbClr val="0070C0"/>
                          </a:solidFill>
                          <a:latin typeface="Calibri"/>
                        </a:rPr>
                        <a:t>Others (On Additional Request)</a:t>
                      </a:r>
                      <a:endParaRPr sz="1100"/>
                    </a:p>
                  </a:txBody>
                  <a:tcPr marL="428625"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Crab Species,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Source,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Meat Type,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Product Format,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Product Claim,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Distribution Channel,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Source,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Meat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Product Claim,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Crab Species,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Source,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Meat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Product Format,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Product Claim,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Distribution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Absolute $ Opportunity by Crab Species, US$ Mn, 2026–2036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Absolute $ Opportunity by Source, US$ Mn, 2026–2036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Meat Type,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Product Format,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Product Claim,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BPS Share Change by Crab Species,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BPS Share Change by Source,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BPS Share Change by Meat Type,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BPS Share Change by Product Format,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BPS Share Change by Product Claim,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YoY Growth by Crab Species, %,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YoY Growth by Source, %,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YoY Growth by Meat Type, %,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YoY Growth by Product Format, %,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YoY Growth by Product Claim, %,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YoY Growth by Distribution Channel, %,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Attractiveness by Crab Species,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Attractiveness by Source,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Attractiveness by Meat Type,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Attractiveness by Product Format,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Attractiveness by Product Claim,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Attractiveness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Volume by Crab Species, MT, 2021–2036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Volume by Source, MT, 2021–2036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Volume by Meat Type, MT, 2021–2036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Volume by Product Format, MT, 2021–2036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Volume by Product Claim, MT, 2021–2036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Volume by Distribution Channel, MT,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Average Selling Price by Crab Species, US$/MT, 2021–2036</a:t>
                      </a:r>
                      <a:endParaRPr sz="1050"/>
                    </a:p>
                  </a:txBody>
                  <a:tcPr marL="9525" marR="9525" marT="9525" marB="0" anchor="ctr"/>
                </a:tc>
              </a:tr>
              <a:tr h="169606">
                <a:tc>
                  <a:txBody>
                    <a:bodyPr wrap="square"/>
                    <a:lstStyle/>
                    <a:p>
                      <a:pPr algn="l"/>
                      <a:r>
                        <a:rPr sz="1050" b="0" i="0">
                          <a:solidFill>
                            <a:srgbClr val="000000"/>
                          </a:solidFill>
                          <a:latin typeface="Calibri"/>
                        </a:rPr>
                        <a:t>Figure 64: Crab Species × Source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Crab Species × Meat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Crab Species × Product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Crab Species × Product Claim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Crab Species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Source × Meat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Source × Product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Source × Product Claim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Source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Meat Type × Product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Meat Type × Product Claim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Meat Type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Product Format × Product Claim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Product Format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Product Claim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Region × Crab Species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Region × Source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Region × Meat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Region × Product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Region × Product Claim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Region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86: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87: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88: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89: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91: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93: Europe Market Value and YoY Growth, US$ Mn and %,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95: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98: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100: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101: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102: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106: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110: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111: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112: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Source,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Meat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Product Claim,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121: Germany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Germany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124: Germany Market Value by Source,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Germany Market Value by Meat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Germany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Germany Market Value by Product Claim,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129: Canada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Canada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132: Canada Market Value by Source,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Canada Market Value by Meat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Canada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Canada Market Value by Product Claim,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137: China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139: India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141: Brazil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U.K.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Japan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France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France Market Value by Crab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Global Market Average Selling Price Trend, US$/MT, 2021–2036</a:t>
                      </a:r>
                      <a:endParaRPr sz="1050"/>
                    </a:p>
                  </a:txBody>
                  <a:tcPr marL="9525" marR="9525" marT="9525" marB="0" anchor="ctr"/>
                </a:tc>
              </a:tr>
              <a:tr h="169606">
                <a:tc>
                  <a:txBody>
                    <a:bodyPr wrap="square"/>
                    <a:lstStyle/>
                    <a:p>
                      <a:pPr algn="l"/>
                      <a:r>
                        <a:rPr sz="1050" b="0" i="0">
                          <a:solidFill>
                            <a:srgbClr val="000000"/>
                          </a:solidFill>
                          <a:latin typeface="Calibri"/>
                        </a:rPr>
                        <a:t>Figure 149: Global Market Average Selling Price by Region,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by Crab Species,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Source,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Meat Type,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Product Format,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Product Claim,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Distribution Channel, US$/MT,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156: Global Market Value Chain Structure, 2026</a:t>
                      </a:r>
                      <a:endParaRPr sz="1050"/>
                    </a:p>
                  </a:txBody>
                  <a:tcPr marL="9525" marR="9525" marT="9525" marB="0" anchor="ctr"/>
                </a:tc>
              </a:tr>
              <a:tr h="170266">
                <a:tc>
                  <a:txBody>
                    <a:bodyPr wrap="square"/>
                    <a:lstStyle/>
                    <a:p>
                      <a:pPr algn="l"/>
                      <a:r>
                        <a:rPr sz="1050" b="0" i="0">
                          <a:solidFill>
                            <a:srgbClr val="000000"/>
                          </a:solidFill>
                          <a:latin typeface="Calibri"/>
                        </a:rPr>
                        <a:t>Figure 157: Global Market Margin Distribution across the Value Chain, %, 2026</a:t>
                      </a:r>
                      <a:endParaRPr sz="1050"/>
                    </a:p>
                  </a:txBody>
                  <a:tcPr marL="9525" marR="9525" marT="9525" marB="0" anchor="ctr"/>
                </a:tc>
              </a:tr>
              <a:tr h="170266">
                <a:tc>
                  <a:txBody>
                    <a:bodyPr wrap="square"/>
                    <a:lstStyle/>
                    <a:p>
                      <a:pPr algn="l"/>
                      <a:r>
                        <a:rPr sz="1050" b="0" i="0">
                          <a:solidFill>
                            <a:srgbClr val="000000"/>
                          </a:solidFill>
                          <a:latin typeface="Calibri"/>
                        </a:rPr>
                        <a:t>Figure 158: Global Market Cost Structure Breakdown, %, 2026</a:t>
                      </a:r>
                      <a:endParaRPr sz="1050"/>
                    </a:p>
                  </a:txBody>
                  <a:tcPr marL="9525" marR="9525" marT="9525" marB="0" anchor="ctr"/>
                </a:tc>
              </a:tr>
              <a:tr h="170266">
                <a:tc>
                  <a:txBody>
                    <a:bodyPr wrap="square"/>
                    <a:lstStyle/>
                    <a:p>
                      <a:pPr algn="l"/>
                      <a:r>
                        <a:rPr sz="1050" b="0" i="0">
                          <a:solidFill>
                            <a:srgbClr val="000000"/>
                          </a:solidFill>
                          <a:latin typeface="Calibri"/>
                        </a:rPr>
                        <a:t>Figure 159: Global Market Pricing Pressure Assessment by Crab Species, 2026–2036</a:t>
                      </a:r>
                      <a:endParaRPr sz="1050"/>
                    </a:p>
                  </a:txBody>
                  <a:tcPr marL="9525" marR="9525" marT="9525" marB="0" anchor="ctr"/>
                </a:tc>
              </a:tr>
              <a:tr h="170266">
                <a:tc>
                  <a:txBody>
                    <a:bodyPr wrap="square"/>
                    <a:lstStyle/>
                    <a:p>
                      <a:pPr algn="l"/>
                      <a:r>
                        <a:rPr sz="1050" b="0" i="0">
                          <a:solidFill>
                            <a:srgbClr val="000000"/>
                          </a:solidFill>
                          <a:latin typeface="Calibri"/>
                        </a:rPr>
                        <a:t>Figure 160: Global Market Import and Export Share by Region, %, 2025</a:t>
                      </a:r>
                      <a:endParaRPr sz="1050"/>
                    </a:p>
                  </a:txBody>
                  <a:tcPr marL="9525" marR="9525" marT="9525" marB="0" anchor="ctr"/>
                </a:tc>
              </a:tr>
              <a:tr h="170266">
                <a:tc>
                  <a:txBody>
                    <a:bodyPr wrap="square"/>
                    <a:lstStyle/>
                    <a:p>
                      <a:pPr algn="l"/>
                      <a:r>
                        <a:rPr sz="1050" b="0" i="0">
                          <a:solidFill>
                            <a:srgbClr val="000000"/>
                          </a:solidFill>
                          <a:latin typeface="Calibri"/>
                        </a:rPr>
                        <a:t>Figure 161: Global Market Trade Balance by Leading Country, US$ Mn, 2025</a:t>
                      </a:r>
                      <a:endParaRPr sz="1050"/>
                    </a:p>
                  </a:txBody>
                  <a:tcPr marL="9525" marR="9525" marT="9525" marB="0" anchor="ctr"/>
                </a:tc>
              </a:tr>
              <a:tr h="170266">
                <a:tc>
                  <a:txBody>
                    <a:bodyPr wrap="square"/>
                    <a:lstStyle/>
                    <a:p>
                      <a:pPr algn="l"/>
                      <a:r>
                        <a:rPr sz="1050" b="0" i="0">
                          <a:solidFill>
                            <a:srgbClr val="000000"/>
                          </a:solidFill>
                          <a:latin typeface="Calibri"/>
                        </a:rPr>
                        <a:t>Figure 162: Company Market Share in the Global Market, %, 2026</a:t>
                      </a:r>
                      <a:endParaRPr sz="1050"/>
                    </a:p>
                  </a:txBody>
                  <a:tcPr marL="9525" marR="9525" marT="9525" marB="0" anchor="ctr"/>
                </a:tc>
              </a:tr>
              <a:tr h="170266">
                <a:tc>
                  <a:txBody>
                    <a:bodyPr wrap="square"/>
                    <a:lstStyle/>
                    <a:p>
                      <a:pPr algn="l"/>
                      <a:r>
                        <a:rPr sz="1050" b="0" i="0">
                          <a:solidFill>
                            <a:srgbClr val="000000"/>
                          </a:solidFill>
                          <a:latin typeface="Calibri"/>
                        </a:rPr>
                        <a:t>Figure 163: Competitive Positioning of Leading Crab Meat Manufacturers, 2026</a:t>
                      </a:r>
                      <a:endParaRPr sz="1050"/>
                    </a:p>
                  </a:txBody>
                  <a:tcPr marL="9525" marR="9525" marT="9525" marB="0" anchor="ctr"/>
                </a:tc>
              </a:tr>
              <a:tr h="170266">
                <a:tc>
                  <a:txBody>
                    <a:bodyPr wrap="square"/>
                    <a:lstStyle/>
                    <a:p>
                      <a:pPr algn="l"/>
                      <a:r>
                        <a:rPr sz="1050" b="0" i="0">
                          <a:solidFill>
                            <a:srgbClr val="000000"/>
                          </a:solidFill>
                          <a:latin typeface="Calibri"/>
                        </a:rPr>
                        <a:t>Figure 164: Company Revenue from the Global Market, US$ Mn, 2026</a:t>
                      </a:r>
                      <a:endParaRPr sz="1050"/>
                    </a:p>
                  </a:txBody>
                  <a:tcPr marL="9525" marR="9525" marT="9525" marB="0" anchor="ctr"/>
                </a:tc>
              </a:tr>
              <a:tr h="170266">
                <a:tc>
                  <a:txBody>
                    <a:bodyPr wrap="square"/>
                    <a:lstStyle/>
                    <a:p>
                      <a:pPr algn="l"/>
                      <a:r>
                        <a:rPr sz="1050" b="0" i="0">
                          <a:solidFill>
                            <a:srgbClr val="000000"/>
                          </a:solidFill>
                          <a:latin typeface="Calibri"/>
                        </a:rPr>
                        <a:t>Figure 165: Global Market Concentration by Company Tier, %, 2026</a:t>
                      </a:r>
                      <a:endParaRPr sz="1050"/>
                    </a:p>
                  </a:txBody>
                  <a:tcPr marL="9525" marR="9525" marT="9525" marB="0" anchor="ctr"/>
                </a:tc>
              </a:tr>
              <a:tr h="170266">
                <a:tc>
                  <a:txBody>
                    <a:bodyPr wrap="square"/>
                    <a:lstStyle/>
                    <a:p>
                      <a:pPr algn="l"/>
                      <a:r>
                        <a:rPr sz="1050" b="0" i="0">
                          <a:solidFill>
                            <a:srgbClr val="000000"/>
                          </a:solidFill>
                          <a:latin typeface="Calibri"/>
                        </a:rPr>
                        <a:t>Figure 166: Global Market Competitive Intensity Assessment, 2026</a:t>
                      </a:r>
                      <a:endParaRPr sz="1050"/>
                    </a:p>
                  </a:txBody>
                  <a:tcPr marL="9525" marR="9525" marT="9525" marB="0" anchor="ctr"/>
                </a:tc>
              </a:tr>
              <a:tr h="170266">
                <a:tc>
                  <a:txBody>
                    <a:bodyPr wrap="square"/>
                    <a:lstStyle/>
                    <a:p>
                      <a:pPr algn="l"/>
                      <a:r>
                        <a:rPr sz="1050" b="0" i="0">
                          <a:solidFill>
                            <a:srgbClr val="000000"/>
                          </a:solidFill>
                          <a:latin typeface="Calibri"/>
                        </a:rPr>
                        <a:t>Figure 167: Company Market Share in the North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168: Company Market Share in the Latin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169: Company Market Share in the Europe Market, %, 2026</a:t>
                      </a:r>
                      <a:endParaRPr sz="1050"/>
                    </a:p>
                  </a:txBody>
                  <a:tcPr marL="9525" marR="9525" marT="9525" marB="0" anchor="ctr"/>
                </a:tc>
              </a:tr>
              <a:tr h="170266">
                <a:tc>
                  <a:txBody>
                    <a:bodyPr wrap="square"/>
                    <a:lstStyle/>
                    <a:p>
                      <a:pPr algn="l"/>
                      <a:r>
                        <a:rPr sz="1050" b="0" i="0">
                          <a:solidFill>
                            <a:srgbClr val="000000"/>
                          </a:solidFill>
                          <a:latin typeface="Calibri"/>
                        </a:rPr>
                        <a:t>Figure 170: Company Market Share in the East Asia Market, %, 2026</a:t>
                      </a:r>
                      <a:endParaRPr sz="1050"/>
                    </a:p>
                  </a:txBody>
                  <a:tcPr marL="9525" marR="9525" marT="9525" marB="0" anchor="ctr"/>
                </a:tc>
              </a:tr>
              <a:tr h="170266">
                <a:tc>
                  <a:txBody>
                    <a:bodyPr wrap="square"/>
                    <a:lstStyle/>
                    <a:p>
                      <a:pPr algn="l"/>
                      <a:r>
                        <a:rPr sz="1050" b="0" i="0">
                          <a:solidFill>
                            <a:srgbClr val="000000"/>
                          </a:solidFill>
                          <a:latin typeface="Calibri"/>
                        </a:rPr>
                        <a:t>Figure 171: Company Market Share in the South Asia &amp; Pacific Market, %, 2026</a:t>
                      </a:r>
                      <a:endParaRPr sz="1050"/>
                    </a:p>
                  </a:txBody>
                  <a:tcPr marL="9525" marR="9525" marT="9525" marB="0" anchor="ctr"/>
                </a:tc>
              </a:tr>
              <a:tr h="170266">
                <a:tc>
                  <a:txBody>
                    <a:bodyPr wrap="square"/>
                    <a:lstStyle/>
                    <a:p>
                      <a:pPr algn="l"/>
                      <a:r>
                        <a:rPr sz="1050" b="0" i="0">
                          <a:solidFill>
                            <a:srgbClr val="000000"/>
                          </a:solidFill>
                          <a:latin typeface="Calibri"/>
                        </a:rPr>
                        <a:t>Figure 172: Company Market Share in the Middle East &amp; Africa Market, %, 2026</a:t>
                      </a:r>
                      <a:endParaRPr sz="1050"/>
                    </a:p>
                  </a:txBody>
                  <a:tcPr marL="9525" marR="9525" marT="9525" marB="0" anchor="ctr"/>
                </a:tc>
              </a:tr>
              <a:tr h="170266">
                <a:tc>
                  <a:txBody>
                    <a:bodyPr wrap="square"/>
                    <a:lstStyle/>
                    <a:p>
                      <a:pPr algn="l"/>
                      <a:r>
                        <a:rPr sz="1050" b="0" i="0">
                          <a:solidFill>
                            <a:srgbClr val="000000"/>
                          </a:solidFill>
                          <a:latin typeface="Calibri"/>
                        </a:rPr>
                        <a:t>Figure 173: Phillips Foods: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174: Phillips Foods, Inc.: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175: Graham &amp; Rollins, Inc.: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176: Supreme Crab and Seafood, Inc.: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177: North Coast Seafoods: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178: Heron Point Seafood: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179: Phil-Union Frozen Foods, Inc.: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180: Aqua Star: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181: Chicken of the Sea Frozen Foods: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182: The Crab Place: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183: Global Market Strategic Developments by Type, %, 2025–2026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833696"/>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184: Global Market Company Footprint by Region, 2026</a:t>
                      </a:r>
                      <a:endParaRPr sz="1050"/>
                    </a:p>
                  </a:txBody>
                  <a:tcPr marL="9525" marR="9525" marT="9525" marB="0" anchor="ctr"/>
                </a:tc>
              </a:tr>
              <a:tr h="166688">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Crab Species,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Emerging Opportunity Pockets by Crab Species,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Crab Species,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60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60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60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606">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69606">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69606">
                <a:tc>
                  <a:txBody>
                    <a:bodyPr wrap="square"/>
                    <a:lstStyle/>
                    <a:p>
                      <a:pPr algn="l"/>
                      <a:r>
                        <a:rPr sz="1050" b="0" i="0">
                          <a:solidFill>
                            <a:srgbClr val="000000"/>
                          </a:solidFill>
                          <a:latin typeface="Calibri"/>
                        </a:rPr>
                        <a:t>Table 11: Global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Table 12: Global Market Volume Forecast, MT, 2026–2036</a:t>
                      </a:r>
                      <a:endParaRPr sz="1050"/>
                    </a:p>
                  </a:txBody>
                  <a:tcPr marL="9525" marR="9525" marT="9525" marB="0" anchor="ctr"/>
                </a:tc>
              </a:tr>
              <a:tr h="169606">
                <a:tc>
                  <a:txBody>
                    <a:bodyPr wrap="square"/>
                    <a:lstStyle/>
                    <a:p>
                      <a:pPr algn="l"/>
                      <a:r>
                        <a:rPr sz="1050" b="0" i="0">
                          <a:solidFill>
                            <a:srgbClr val="000000"/>
                          </a:solidFill>
                          <a:latin typeface="Calibri"/>
                        </a:rPr>
                        <a:t>Table 13: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69606">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69606">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69606">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69606">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69606">
                <a:tc>
                  <a:txBody>
                    <a:bodyPr wrap="square"/>
                    <a:lstStyle/>
                    <a:p>
                      <a:pPr algn="l"/>
                      <a:r>
                        <a:rPr sz="1050" b="0" i="0">
                          <a:solidFill>
                            <a:srgbClr val="000000"/>
                          </a:solidFill>
                          <a:latin typeface="Calibri"/>
                        </a:rPr>
                        <a:t>Table 21: Global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22: Global Market Value by Source, US$ Mn, 2021–2036</a:t>
                      </a:r>
                      <a:endParaRPr sz="1050"/>
                    </a:p>
                  </a:txBody>
                  <a:tcPr marL="9525" marR="9525" marT="9525" marB="0" anchor="ctr"/>
                </a:tc>
              </a:tr>
              <a:tr h="169606">
                <a:tc>
                  <a:txBody>
                    <a:bodyPr wrap="square"/>
                    <a:lstStyle/>
                    <a:p>
                      <a:pPr algn="l"/>
                      <a:r>
                        <a:rPr sz="1050" b="0" i="0">
                          <a:solidFill>
                            <a:srgbClr val="000000"/>
                          </a:solidFill>
                          <a:latin typeface="Calibri"/>
                        </a:rPr>
                        <a:t>Table 23: Global Market Value by Meat Type, US$ Mn, 2021–2036</a:t>
                      </a:r>
                      <a:endParaRPr sz="1050"/>
                    </a:p>
                  </a:txBody>
                  <a:tcPr marL="9525" marR="9525" marT="9525" marB="0" anchor="ctr"/>
                </a:tc>
              </a:tr>
              <a:tr h="169606">
                <a:tc>
                  <a:txBody>
                    <a:bodyPr wrap="square"/>
                    <a:lstStyle/>
                    <a:p>
                      <a:pPr algn="l"/>
                      <a:r>
                        <a:rPr sz="1050" b="0" i="0">
                          <a:solidFill>
                            <a:srgbClr val="000000"/>
                          </a:solidFill>
                          <a:latin typeface="Calibri"/>
                        </a:rPr>
                        <a:t>Table 24: Global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25: Global Market Value by Product Claim, US$ Mn, 2021–2036</a:t>
                      </a:r>
                      <a:endParaRPr sz="1050"/>
                    </a:p>
                  </a:txBody>
                  <a:tcPr marL="9525" marR="9525" marT="9525" marB="0" anchor="ctr"/>
                </a:tc>
              </a:tr>
              <a:tr h="169606">
                <a:tc>
                  <a:txBody>
                    <a:bodyPr wrap="square"/>
                    <a:lstStyle/>
                    <a:p>
                      <a:pPr algn="l"/>
                      <a:r>
                        <a:rPr sz="1050" b="0" i="0">
                          <a:solidFill>
                            <a:srgbClr val="000000"/>
                          </a:solidFill>
                          <a:latin typeface="Calibri"/>
                        </a:rPr>
                        <a:t>Table 26: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27: Global Market CAGR and Absolute $ Opportunity by Crab Species, %, US$ Mn, 2026–2036</a:t>
                      </a:r>
                      <a:endParaRPr sz="1050"/>
                    </a:p>
                  </a:txBody>
                  <a:tcPr marL="9525" marR="9525" marT="9525" marB="0" anchor="ctr"/>
                </a:tc>
              </a:tr>
              <a:tr h="169606">
                <a:tc>
                  <a:txBody>
                    <a:bodyPr wrap="square"/>
                    <a:lstStyle/>
                    <a:p>
                      <a:pPr algn="l"/>
                      <a:r>
                        <a:rPr sz="1050" b="0" i="0">
                          <a:solidFill>
                            <a:srgbClr val="000000"/>
                          </a:solidFill>
                          <a:latin typeface="Calibri"/>
                        </a:rPr>
                        <a:t>Table 28: Global Market CAGR and Absolute $ Opportunity by Source, %, US$ Mn, 2026–2036</a:t>
                      </a:r>
                      <a:endParaRPr sz="1050"/>
                    </a:p>
                  </a:txBody>
                  <a:tcPr marL="9525" marR="9525" marT="9525" marB="0" anchor="ctr"/>
                </a:tc>
              </a:tr>
              <a:tr h="169606">
                <a:tc>
                  <a:txBody>
                    <a:bodyPr wrap="square"/>
                    <a:lstStyle/>
                    <a:p>
                      <a:pPr algn="l"/>
                      <a:r>
                        <a:rPr sz="1050" b="0" i="0">
                          <a:solidFill>
                            <a:srgbClr val="000000"/>
                          </a:solidFill>
                          <a:latin typeface="Calibri"/>
                        </a:rPr>
                        <a:t>Table 29: Global Market CAGR and Absolute $ Opportunity by Meat Type, %, US$ Mn, 2026–2036</a:t>
                      </a:r>
                      <a:endParaRPr sz="1050"/>
                    </a:p>
                  </a:txBody>
                  <a:tcPr marL="9525" marR="9525" marT="9525" marB="0" anchor="ctr"/>
                </a:tc>
              </a:tr>
              <a:tr h="169606">
                <a:tc>
                  <a:txBody>
                    <a:bodyPr wrap="square"/>
                    <a:lstStyle/>
                    <a:p>
                      <a:pPr algn="l"/>
                      <a:r>
                        <a:rPr sz="1050" b="0" i="0">
                          <a:solidFill>
                            <a:srgbClr val="000000"/>
                          </a:solidFill>
                          <a:latin typeface="Calibri"/>
                        </a:rPr>
                        <a:t>Table 30: Global Market CAGR and Absolute $ Opportunity by Product Format, %, US$ Mn, 2026–2036</a:t>
                      </a:r>
                      <a:endParaRPr sz="1050"/>
                    </a:p>
                  </a:txBody>
                  <a:tcPr marL="9525" marR="9525" marT="9525" marB="0" anchor="ctr"/>
                </a:tc>
              </a:tr>
              <a:tr h="169606">
                <a:tc>
                  <a:txBody>
                    <a:bodyPr wrap="square"/>
                    <a:lstStyle/>
                    <a:p>
                      <a:pPr algn="l"/>
                      <a:r>
                        <a:rPr sz="1050" b="0" i="0">
                          <a:solidFill>
                            <a:srgbClr val="000000"/>
                          </a:solidFill>
                          <a:latin typeface="Calibri"/>
                        </a:rPr>
                        <a:t>Table 31: Global Market CAGR and Absolute $ Opportunity by Product Claim,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32: Global Market CAGR and Absolute $ Opportunity by Distribution Channel, %, US$ Mn, 2026–2036</a:t>
                      </a:r>
                      <a:endParaRPr sz="1050"/>
                    </a:p>
                  </a:txBody>
                  <a:tcPr marL="9525" marR="9525" marT="9525" marB="0" anchor="ctr"/>
                </a:tc>
              </a:tr>
              <a:tr h="169826">
                <a:tc>
                  <a:txBody>
                    <a:bodyPr wrap="square"/>
                    <a:lstStyle/>
                    <a:p>
                      <a:pPr algn="l"/>
                      <a:r>
                        <a:rPr sz="1050" b="0" i="0">
                          <a:solidFill>
                            <a:srgbClr val="000000"/>
                          </a:solidFill>
                          <a:latin typeface="Calibri"/>
                        </a:rPr>
                        <a:t>Table 33: Global Market Share and BPS Change by Crab Species, %, 2025, 2026 and 2036</a:t>
                      </a:r>
                      <a:endParaRPr sz="1050"/>
                    </a:p>
                  </a:txBody>
                  <a:tcPr marL="9525" marR="9525" marT="9525" marB="0" anchor="ctr"/>
                </a:tc>
              </a:tr>
              <a:tr h="169826">
                <a:tc>
                  <a:txBody>
                    <a:bodyPr wrap="square"/>
                    <a:lstStyle/>
                    <a:p>
                      <a:pPr algn="l"/>
                      <a:r>
                        <a:rPr sz="1050" b="0" i="0">
                          <a:solidFill>
                            <a:srgbClr val="000000"/>
                          </a:solidFill>
                          <a:latin typeface="Calibri"/>
                        </a:rPr>
                        <a:t>Table 34: Global Market Share and BPS Change by Source,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35: Global Market Share and BPS Change by Meat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36: Global Market Share and BPS Change by Product Format, %, 2025, 2026 and 2036</a:t>
                      </a:r>
                      <a:endParaRPr sz="1050"/>
                    </a:p>
                  </a:txBody>
                  <a:tcPr marL="9525" marR="9525" marT="9525" marB="0" anchor="ctr"/>
                </a:tc>
              </a:tr>
              <a:tr h="169826">
                <a:tc>
                  <a:txBody>
                    <a:bodyPr wrap="square"/>
                    <a:lstStyle/>
                    <a:p>
                      <a:pPr algn="l"/>
                      <a:r>
                        <a:rPr sz="1050" b="0" i="0">
                          <a:solidFill>
                            <a:srgbClr val="000000"/>
                          </a:solidFill>
                          <a:latin typeface="Calibri"/>
                        </a:rPr>
                        <a:t>Table 37: Global Market Share and BPS Change by Product Claim, %, 2025, 2026 and 2036</a:t>
                      </a:r>
                      <a:endParaRPr sz="1050"/>
                    </a:p>
                  </a:txBody>
                  <a:tcPr marL="9525" marR="9525" marT="9525" marB="0" anchor="ctr"/>
                </a:tc>
              </a:tr>
              <a:tr h="169826">
                <a:tc>
                  <a:txBody>
                    <a:bodyPr wrap="square"/>
                    <a:lstStyle/>
                    <a:p>
                      <a:pPr algn="l"/>
                      <a:r>
                        <a:rPr sz="1050" b="0" i="0">
                          <a:solidFill>
                            <a:srgbClr val="000000"/>
                          </a:solidFill>
                          <a:latin typeface="Calibri"/>
                        </a:rPr>
                        <a:t>Table 38: Global Market Share and BPS Change by Distribution Channel, %, 2025, 2026 and 2036</a:t>
                      </a:r>
                      <a:endParaRPr sz="1050"/>
                    </a:p>
                  </a:txBody>
                  <a:tcPr marL="9525" marR="9525" marT="9525" marB="0" anchor="ctr"/>
                </a:tc>
              </a:tr>
              <a:tr h="169826">
                <a:tc>
                  <a:txBody>
                    <a:bodyPr wrap="square"/>
                    <a:lstStyle/>
                    <a:p>
                      <a:pPr algn="l"/>
                      <a:r>
                        <a:rPr sz="1050" b="0" i="0">
                          <a:solidFill>
                            <a:srgbClr val="000000"/>
                          </a:solidFill>
                          <a:latin typeface="Calibri"/>
                        </a:rPr>
                        <a:t>Table 39: Global Market YoY Growth by Crab Species, %, 2026–2036</a:t>
                      </a:r>
                      <a:endParaRPr sz="1050"/>
                    </a:p>
                  </a:txBody>
                  <a:tcPr marL="9525" marR="9525" marT="9525" marB="0" anchor="ctr"/>
                </a:tc>
              </a:tr>
              <a:tr h="169826">
                <a:tc>
                  <a:txBody>
                    <a:bodyPr wrap="square"/>
                    <a:lstStyle/>
                    <a:p>
                      <a:pPr algn="l"/>
                      <a:r>
                        <a:rPr sz="1050" b="0" i="0">
                          <a:solidFill>
                            <a:srgbClr val="000000"/>
                          </a:solidFill>
                          <a:latin typeface="Calibri"/>
                        </a:rPr>
                        <a:t>Table 40: Global Market YoY Growth by Source, %, 2026–2036</a:t>
                      </a:r>
                      <a:endParaRPr sz="1050"/>
                    </a:p>
                  </a:txBody>
                  <a:tcPr marL="9525" marR="9525" marT="9525" marB="0" anchor="ctr"/>
                </a:tc>
              </a:tr>
              <a:tr h="169826">
                <a:tc>
                  <a:txBody>
                    <a:bodyPr wrap="square"/>
                    <a:lstStyle/>
                    <a:p>
                      <a:pPr algn="l"/>
                      <a:r>
                        <a:rPr sz="1050" b="0" i="0">
                          <a:solidFill>
                            <a:srgbClr val="000000"/>
                          </a:solidFill>
                          <a:latin typeface="Calibri"/>
                        </a:rPr>
                        <a:t>Table 41: Global Market YoY Growth by Meat Type, %, 2026–2036</a:t>
                      </a:r>
                      <a:endParaRPr sz="1050"/>
                    </a:p>
                  </a:txBody>
                  <a:tcPr marL="9525" marR="9525" marT="9525" marB="0" anchor="ctr"/>
                </a:tc>
              </a:tr>
              <a:tr h="169826">
                <a:tc>
                  <a:txBody>
                    <a:bodyPr wrap="square"/>
                    <a:lstStyle/>
                    <a:p>
                      <a:pPr algn="l"/>
                      <a:r>
                        <a:rPr sz="1050" b="0" i="0">
                          <a:solidFill>
                            <a:srgbClr val="000000"/>
                          </a:solidFill>
                          <a:latin typeface="Calibri"/>
                        </a:rPr>
                        <a:t>Table 42: Global Market YoY Growth by Product Format, %, 2026–2036</a:t>
                      </a:r>
                      <a:endParaRPr sz="1050"/>
                    </a:p>
                  </a:txBody>
                  <a:tcPr marL="9525" marR="9525" marT="9525" marB="0" anchor="ctr"/>
                </a:tc>
              </a:tr>
              <a:tr h="169826">
                <a:tc>
                  <a:txBody>
                    <a:bodyPr wrap="square"/>
                    <a:lstStyle/>
                    <a:p>
                      <a:pPr algn="l"/>
                      <a:r>
                        <a:rPr sz="1050" b="0" i="0">
                          <a:solidFill>
                            <a:srgbClr val="000000"/>
                          </a:solidFill>
                          <a:latin typeface="Calibri"/>
                        </a:rPr>
                        <a:t>Table 43: Global Market YoY Growth by Product Claim, %, 2026–2036</a:t>
                      </a:r>
                      <a:endParaRPr sz="1050"/>
                    </a:p>
                  </a:txBody>
                  <a:tcPr marL="9525" marR="9525" marT="9525" marB="0" anchor="ctr"/>
                </a:tc>
              </a:tr>
              <a:tr h="169826">
                <a:tc>
                  <a:txBody>
                    <a:bodyPr wrap="square"/>
                    <a:lstStyle/>
                    <a:p>
                      <a:pPr algn="l"/>
                      <a:r>
                        <a:rPr sz="1050" b="0" i="0">
                          <a:solidFill>
                            <a:srgbClr val="000000"/>
                          </a:solidFill>
                          <a:latin typeface="Calibri"/>
                        </a:rPr>
                        <a:t>Table 44: Global Market YoY Growth by Distribution Channel, %, 2026–2036</a:t>
                      </a:r>
                      <a:endParaRPr sz="1050"/>
                    </a:p>
                  </a:txBody>
                  <a:tcPr marL="9525" marR="9525" marT="9525" marB="0" anchor="ctr"/>
                </a:tc>
              </a:tr>
              <a:tr h="169826">
                <a:tc>
                  <a:txBody>
                    <a:bodyPr wrap="square"/>
                    <a:lstStyle/>
                    <a:p>
                      <a:pPr algn="l"/>
                      <a:r>
                        <a:rPr sz="1050" b="0" i="0">
                          <a:solidFill>
                            <a:srgbClr val="000000"/>
                          </a:solidFill>
                          <a:latin typeface="Calibri"/>
                        </a:rPr>
                        <a:t>Table 45: Global Market Volume by Crab Species, MT, 2021–2036</a:t>
                      </a:r>
                      <a:endParaRPr sz="1050"/>
                    </a:p>
                  </a:txBody>
                  <a:tcPr marL="9525" marR="9525" marT="9525" marB="0" anchor="ctr"/>
                </a:tc>
              </a:tr>
              <a:tr h="169826">
                <a:tc>
                  <a:txBody>
                    <a:bodyPr wrap="square"/>
                    <a:lstStyle/>
                    <a:p>
                      <a:pPr algn="l"/>
                      <a:r>
                        <a:rPr sz="1050" b="0" i="0">
                          <a:solidFill>
                            <a:srgbClr val="000000"/>
                          </a:solidFill>
                          <a:latin typeface="Calibri"/>
                        </a:rPr>
                        <a:t>Table 46: Global Market Volume by Source, MT, 2021–2036</a:t>
                      </a:r>
                      <a:endParaRPr sz="1050"/>
                    </a:p>
                  </a:txBody>
                  <a:tcPr marL="9525" marR="9525" marT="9525" marB="0" anchor="ctr"/>
                </a:tc>
              </a:tr>
              <a:tr h="169826">
                <a:tc>
                  <a:txBody>
                    <a:bodyPr wrap="square"/>
                    <a:lstStyle/>
                    <a:p>
                      <a:pPr algn="l"/>
                      <a:r>
                        <a:rPr sz="1050" b="0" i="0">
                          <a:solidFill>
                            <a:srgbClr val="000000"/>
                          </a:solidFill>
                          <a:latin typeface="Calibri"/>
                        </a:rPr>
                        <a:t>Table 47: Global Market Volume by Meat Type, MT, 2021–2036</a:t>
                      </a:r>
                      <a:endParaRPr sz="1050"/>
                    </a:p>
                  </a:txBody>
                  <a:tcPr marL="9525" marR="9525" marT="9525" marB="0" anchor="ctr"/>
                </a:tc>
              </a:tr>
              <a:tr h="169826">
                <a:tc>
                  <a:txBody>
                    <a:bodyPr wrap="square"/>
                    <a:lstStyle/>
                    <a:p>
                      <a:pPr algn="l"/>
                      <a:r>
                        <a:rPr sz="1050" b="0" i="0">
                          <a:solidFill>
                            <a:srgbClr val="000000"/>
                          </a:solidFill>
                          <a:latin typeface="Calibri"/>
                        </a:rPr>
                        <a:t>Table 48: Global Market Volume by Product Format, MT, 2021–2036</a:t>
                      </a:r>
                      <a:endParaRPr sz="1050"/>
                    </a:p>
                  </a:txBody>
                  <a:tcPr marL="9525" marR="9525" marT="9525" marB="0" anchor="ctr"/>
                </a:tc>
              </a:tr>
              <a:tr h="169826">
                <a:tc>
                  <a:txBody>
                    <a:bodyPr wrap="square"/>
                    <a:lstStyle/>
                    <a:p>
                      <a:pPr algn="l"/>
                      <a:r>
                        <a:rPr sz="1050" b="0" i="0">
                          <a:solidFill>
                            <a:srgbClr val="000000"/>
                          </a:solidFill>
                          <a:latin typeface="Calibri"/>
                        </a:rPr>
                        <a:t>Table 49: Global Market Volume by Product Claim, MT, 2021–2036</a:t>
                      </a:r>
                      <a:endParaRPr sz="1050"/>
                    </a:p>
                  </a:txBody>
                  <a:tcPr marL="9525" marR="9525" marT="9525" marB="0" anchor="ctr"/>
                </a:tc>
              </a:tr>
              <a:tr h="169826">
                <a:tc>
                  <a:txBody>
                    <a:bodyPr wrap="square"/>
                    <a:lstStyle/>
                    <a:p>
                      <a:pPr algn="l"/>
                      <a:r>
                        <a:rPr sz="1050" b="0" i="0">
                          <a:solidFill>
                            <a:srgbClr val="000000"/>
                          </a:solidFill>
                          <a:latin typeface="Calibri"/>
                        </a:rPr>
                        <a:t>Table 50: Global Market Volume by Distribution Channel, MT, 2021–2036</a:t>
                      </a:r>
                      <a:endParaRPr sz="1050"/>
                    </a:p>
                  </a:txBody>
                  <a:tcPr marL="9525" marR="9525" marT="9525" marB="0" anchor="ctr"/>
                </a:tc>
              </a:tr>
              <a:tr h="169826">
                <a:tc>
                  <a:txBody>
                    <a:bodyPr wrap="square"/>
                    <a:lstStyle/>
                    <a:p>
                      <a:pPr algn="l"/>
                      <a:r>
                        <a:rPr sz="1050" b="0" i="0">
                          <a:solidFill>
                            <a:srgbClr val="000000"/>
                          </a:solidFill>
                          <a:latin typeface="Calibri"/>
                        </a:rPr>
                        <a:t>Table 51: Global Market Average Selling Price by Crab Species, US$/MT, 2021–2036</a:t>
                      </a:r>
                      <a:endParaRPr sz="1050"/>
                    </a:p>
                  </a:txBody>
                  <a:tcPr marL="9525" marR="9525" marT="9525" marB="0" anchor="ctr"/>
                </a:tc>
              </a:tr>
              <a:tr h="169826">
                <a:tc>
                  <a:txBody>
                    <a:bodyPr wrap="square"/>
                    <a:lstStyle/>
                    <a:p>
                      <a:pPr algn="l"/>
                      <a:r>
                        <a:rPr sz="1050" b="0" i="0">
                          <a:solidFill>
                            <a:srgbClr val="000000"/>
                          </a:solidFill>
                          <a:latin typeface="Calibri"/>
                        </a:rPr>
                        <a:t>Table 52: Global Market Average Selling Price by Source, US$/MT, 2021–2036</a:t>
                      </a:r>
                      <a:endParaRPr sz="1050"/>
                    </a:p>
                  </a:txBody>
                  <a:tcPr marL="9525" marR="9525" marT="9525" marB="0" anchor="ctr"/>
                </a:tc>
              </a:tr>
              <a:tr h="169826">
                <a:tc>
                  <a:txBody>
                    <a:bodyPr wrap="square"/>
                    <a:lstStyle/>
                    <a:p>
                      <a:pPr algn="l"/>
                      <a:r>
                        <a:rPr sz="1050" b="0" i="0">
                          <a:solidFill>
                            <a:srgbClr val="000000"/>
                          </a:solidFill>
                          <a:latin typeface="Calibri"/>
                        </a:rPr>
                        <a:t>Table 53: Global Market Average Selling Price by Meat Type, US$/MT, 2021–2036</a:t>
                      </a:r>
                      <a:endParaRPr sz="1050"/>
                    </a:p>
                  </a:txBody>
                  <a:tcPr marL="9525" marR="9525" marT="9525" marB="0" anchor="ctr"/>
                </a:tc>
              </a:tr>
              <a:tr h="169826">
                <a:tc>
                  <a:txBody>
                    <a:bodyPr wrap="square"/>
                    <a:lstStyle/>
                    <a:p>
                      <a:pPr algn="l"/>
                      <a:r>
                        <a:rPr sz="1050" b="0" i="0">
                          <a:solidFill>
                            <a:srgbClr val="000000"/>
                          </a:solidFill>
                          <a:latin typeface="Calibri"/>
                        </a:rPr>
                        <a:t>Table 54: Global Market Average Selling Price by Product Format, US$/MT, 2021–2036</a:t>
                      </a:r>
                      <a:endParaRPr sz="1050"/>
                    </a:p>
                  </a:txBody>
                  <a:tcPr marL="9525" marR="9525" marT="9525" marB="0" anchor="ctr"/>
                </a:tc>
              </a:tr>
              <a:tr h="169826">
                <a:tc>
                  <a:txBody>
                    <a:bodyPr wrap="square"/>
                    <a:lstStyle/>
                    <a:p>
                      <a:pPr algn="l"/>
                      <a:r>
                        <a:rPr sz="1050" b="0" i="0">
                          <a:solidFill>
                            <a:srgbClr val="000000"/>
                          </a:solidFill>
                          <a:latin typeface="Calibri"/>
                        </a:rPr>
                        <a:t>Table 55: Global Market Average Selling Price by Product Claim, US$/MT, 2021–2036</a:t>
                      </a:r>
                      <a:endParaRPr sz="1050"/>
                    </a:p>
                  </a:txBody>
                  <a:tcPr marL="9525" marR="9525" marT="9525" marB="0" anchor="ctr"/>
                </a:tc>
              </a:tr>
              <a:tr h="169826">
                <a:tc>
                  <a:txBody>
                    <a:bodyPr wrap="square"/>
                    <a:lstStyle/>
                    <a:p>
                      <a:pPr algn="l"/>
                      <a:r>
                        <a:rPr sz="1050" b="0" i="0">
                          <a:solidFill>
                            <a:srgbClr val="000000"/>
                          </a:solidFill>
                          <a:latin typeface="Calibri"/>
                        </a:rPr>
                        <a:t>Table 56: Global Market Average Selling Price by Distribution Channel, US$/MT, 2021–2036</a:t>
                      </a:r>
                      <a:endParaRPr sz="1050"/>
                    </a:p>
                  </a:txBody>
                  <a:tcPr marL="9525" marR="9525" marT="9525" marB="0" anchor="ctr"/>
                </a:tc>
              </a:tr>
              <a:tr h="169826">
                <a:tc>
                  <a:txBody>
                    <a:bodyPr wrap="square"/>
                    <a:lstStyle/>
                    <a:p>
                      <a:pPr algn="l"/>
                      <a:r>
                        <a:rPr sz="1050" b="0" i="0">
                          <a:solidFill>
                            <a:srgbClr val="000000"/>
                          </a:solidFill>
                          <a:latin typeface="Calibri"/>
                        </a:rPr>
                        <a:t>Table 57: Global Market Attractiveness Index by Crab Species, 2026–2036</a:t>
                      </a:r>
                      <a:endParaRPr sz="1050"/>
                    </a:p>
                  </a:txBody>
                  <a:tcPr marL="9525" marR="9525" marT="9525" marB="0" anchor="ctr"/>
                </a:tc>
              </a:tr>
              <a:tr h="169826">
                <a:tc>
                  <a:txBody>
                    <a:bodyPr wrap="square"/>
                    <a:lstStyle/>
                    <a:p>
                      <a:pPr algn="l"/>
                      <a:r>
                        <a:rPr sz="1050" b="0" i="0">
                          <a:solidFill>
                            <a:srgbClr val="000000"/>
                          </a:solidFill>
                          <a:latin typeface="Calibri"/>
                        </a:rPr>
                        <a:t>Table 58: Global Market Attractiveness Index by Source, 2026–2036</a:t>
                      </a:r>
                      <a:endParaRPr sz="1050"/>
                    </a:p>
                  </a:txBody>
                  <a:tcPr marL="9525" marR="9525" marT="9525" marB="0" anchor="ctr"/>
                </a:tc>
              </a:tr>
              <a:tr h="169826">
                <a:tc>
                  <a:txBody>
                    <a:bodyPr wrap="square"/>
                    <a:lstStyle/>
                    <a:p>
                      <a:pPr algn="l"/>
                      <a:r>
                        <a:rPr sz="1050" b="0" i="0">
                          <a:solidFill>
                            <a:srgbClr val="000000"/>
                          </a:solidFill>
                          <a:latin typeface="Calibri"/>
                        </a:rPr>
                        <a:t>Table 59: Global Market Attractiveness Index by Meat Type, 2026–2036</a:t>
                      </a:r>
                      <a:endParaRPr sz="1050"/>
                    </a:p>
                  </a:txBody>
                  <a:tcPr marL="9525" marR="9525" marT="9525" marB="0" anchor="ctr"/>
                </a:tc>
              </a:tr>
              <a:tr h="169826">
                <a:tc>
                  <a:txBody>
                    <a:bodyPr wrap="square"/>
                    <a:lstStyle/>
                    <a:p>
                      <a:pPr algn="l"/>
                      <a:r>
                        <a:rPr sz="1050" b="0" i="0">
                          <a:solidFill>
                            <a:srgbClr val="000000"/>
                          </a:solidFill>
                          <a:latin typeface="Calibri"/>
                        </a:rPr>
                        <a:t>Table 60: Global Market Attractiveness Index by Product Format, 2026–2036</a:t>
                      </a:r>
                      <a:endParaRPr sz="1050"/>
                    </a:p>
                  </a:txBody>
                  <a:tcPr marL="9525" marR="9525" marT="9525" marB="0" anchor="ctr"/>
                </a:tc>
              </a:tr>
              <a:tr h="169826">
                <a:tc>
                  <a:txBody>
                    <a:bodyPr wrap="square"/>
                    <a:lstStyle/>
                    <a:p>
                      <a:pPr algn="l"/>
                      <a:r>
                        <a:rPr sz="1050" b="0" i="0">
                          <a:solidFill>
                            <a:srgbClr val="000000"/>
                          </a:solidFill>
                          <a:latin typeface="Calibri"/>
                        </a:rPr>
                        <a:t>Table 61: Global Market Attractiveness Index by Product Claim,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62: Global Market Attractiveness Index by Distribution Channel, 2026–2036</a:t>
                      </a:r>
                      <a:endParaRPr sz="1050"/>
                    </a:p>
                  </a:txBody>
                  <a:tcPr marL="9525" marR="9525" marT="9525" marB="0" anchor="ctr"/>
                </a:tc>
              </a:tr>
              <a:tr h="169826">
                <a:tc>
                  <a:txBody>
                    <a:bodyPr wrap="square"/>
                    <a:lstStyle/>
                    <a:p>
                      <a:pPr algn="l"/>
                      <a:r>
                        <a:rPr sz="1050" b="0" i="0">
                          <a:solidFill>
                            <a:srgbClr val="000000"/>
                          </a:solidFill>
                          <a:latin typeface="Calibri"/>
                        </a:rPr>
                        <a:t>Table 63: Global Market Value of Blue Crab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64: Global Market Value of Wild-caught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65: Global Market Value of Jumbo Lump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66: Global Market Value of Fresh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67: Global Market Value of Organic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68: Global Market Value of Industrial / B2B processing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69: Global Market Value of King Crab by Region, US$ Mn, 2021–2036</a:t>
                      </a:r>
                      <a:endParaRPr sz="1050"/>
                    </a:p>
                  </a:txBody>
                  <a:tcPr marL="9525" marR="9525" marT="9525" marB="0" anchor="ctr"/>
                </a:tc>
              </a:tr>
              <a:tr h="332858">
                <a:tc>
                  <a:txBody>
                    <a:bodyPr wrap="square"/>
                    <a:lstStyle/>
                    <a:p>
                      <a:pPr algn="l"/>
                      <a:r>
                        <a:rPr sz="1050" b="0" i="0">
                          <a:solidFill>
                            <a:srgbClr val="000000"/>
                          </a:solidFill>
                          <a:latin typeface="Calibri"/>
                        </a:rPr>
                        <a:t>Table 70: Global Market Value of Aquaculture / fattened / cultured supply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71: Global Market Value of Lump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72: Global Market Value of Frozen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73: Global Market Value of Sustainably Sourced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74: Global Market Value of Food Service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75: Global Market Value of Snow Crab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76: Global Market Value by Crab Species and Source, US$ Mn, 2026–2036</a:t>
                      </a:r>
                      <a:endParaRPr sz="1050"/>
                    </a:p>
                  </a:txBody>
                  <a:tcPr marL="9525" marR="9525" marT="9525" marB="0" anchor="ctr"/>
                </a:tc>
              </a:tr>
              <a:tr h="169826">
                <a:tc>
                  <a:txBody>
                    <a:bodyPr wrap="square"/>
                    <a:lstStyle/>
                    <a:p>
                      <a:pPr algn="l"/>
                      <a:r>
                        <a:rPr sz="1050" b="0" i="0">
                          <a:solidFill>
                            <a:srgbClr val="000000"/>
                          </a:solidFill>
                          <a:latin typeface="Calibri"/>
                        </a:rPr>
                        <a:t>Table 77: Global Market Value by Crab Species and Meat Type, US$ Mn, 2026–2036</a:t>
                      </a:r>
                      <a:endParaRPr sz="1050"/>
                    </a:p>
                  </a:txBody>
                  <a:tcPr marL="9525" marR="9525" marT="9525" marB="0" anchor="ctr"/>
                </a:tc>
              </a:tr>
              <a:tr h="169826">
                <a:tc>
                  <a:txBody>
                    <a:bodyPr wrap="square"/>
                    <a:lstStyle/>
                    <a:p>
                      <a:pPr algn="l"/>
                      <a:r>
                        <a:rPr sz="1050" b="0" i="0">
                          <a:solidFill>
                            <a:srgbClr val="000000"/>
                          </a:solidFill>
                          <a:latin typeface="Calibri"/>
                        </a:rPr>
                        <a:t>Table 78: Global Market Value by Crab Species and Product Format, US$ Mn, 2026–2036</a:t>
                      </a:r>
                      <a:endParaRPr sz="1050"/>
                    </a:p>
                  </a:txBody>
                  <a:tcPr marL="9525" marR="9525" marT="9525" marB="0" anchor="ctr"/>
                </a:tc>
              </a:tr>
              <a:tr h="169826">
                <a:tc>
                  <a:txBody>
                    <a:bodyPr wrap="square"/>
                    <a:lstStyle/>
                    <a:p>
                      <a:pPr algn="l"/>
                      <a:r>
                        <a:rPr sz="1050" b="0" i="0">
                          <a:solidFill>
                            <a:srgbClr val="000000"/>
                          </a:solidFill>
                          <a:latin typeface="Calibri"/>
                        </a:rPr>
                        <a:t>Table 79: Global Market Value by Crab Species and Product Claim, US$ Mn, 2026–2036</a:t>
                      </a:r>
                      <a:endParaRPr sz="1050"/>
                    </a:p>
                  </a:txBody>
                  <a:tcPr marL="9525" marR="9525" marT="9525" marB="0" anchor="ctr"/>
                </a:tc>
              </a:tr>
              <a:tr h="169826">
                <a:tc>
                  <a:txBody>
                    <a:bodyPr wrap="square"/>
                    <a:lstStyle/>
                    <a:p>
                      <a:pPr algn="l"/>
                      <a:r>
                        <a:rPr sz="1050" b="0" i="0">
                          <a:solidFill>
                            <a:srgbClr val="000000"/>
                          </a:solidFill>
                          <a:latin typeface="Calibri"/>
                        </a:rPr>
                        <a:t>Table 80: Global Market Value by Crab Species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81: Global Market Value by Source and Meat Type, US$ Mn, 2026–2036</a:t>
                      </a:r>
                      <a:endParaRPr sz="1050"/>
                    </a:p>
                  </a:txBody>
                  <a:tcPr marL="9525" marR="9525" marT="9525" marB="0" anchor="ctr"/>
                </a:tc>
              </a:tr>
              <a:tr h="169826">
                <a:tc>
                  <a:txBody>
                    <a:bodyPr wrap="square"/>
                    <a:lstStyle/>
                    <a:p>
                      <a:pPr algn="l"/>
                      <a:r>
                        <a:rPr sz="1050" b="0" i="0">
                          <a:solidFill>
                            <a:srgbClr val="000000"/>
                          </a:solidFill>
                          <a:latin typeface="Calibri"/>
                        </a:rPr>
                        <a:t>Table 82: Global Market Value by Source and Product Format, US$ Mn, 2026–2036</a:t>
                      </a:r>
                      <a:endParaRPr sz="1050"/>
                    </a:p>
                  </a:txBody>
                  <a:tcPr marL="9525" marR="9525" marT="9525" marB="0" anchor="ctr"/>
                </a:tc>
              </a:tr>
              <a:tr h="169826">
                <a:tc>
                  <a:txBody>
                    <a:bodyPr wrap="square"/>
                    <a:lstStyle/>
                    <a:p>
                      <a:pPr algn="l"/>
                      <a:r>
                        <a:rPr sz="1050" b="0" i="0">
                          <a:solidFill>
                            <a:srgbClr val="000000"/>
                          </a:solidFill>
                          <a:latin typeface="Calibri"/>
                        </a:rPr>
                        <a:t>Table 83: Global Market Value by Source and Product Claim, US$ Mn, 2026–2036</a:t>
                      </a:r>
                      <a:endParaRPr sz="1050"/>
                    </a:p>
                  </a:txBody>
                  <a:tcPr marL="9525" marR="9525" marT="9525" marB="0" anchor="ctr"/>
                </a:tc>
              </a:tr>
              <a:tr h="169826">
                <a:tc>
                  <a:txBody>
                    <a:bodyPr wrap="square"/>
                    <a:lstStyle/>
                    <a:p>
                      <a:pPr algn="l"/>
                      <a:r>
                        <a:rPr sz="1050" b="0" i="0">
                          <a:solidFill>
                            <a:srgbClr val="000000"/>
                          </a:solidFill>
                          <a:latin typeface="Calibri"/>
                        </a:rPr>
                        <a:t>Table 84: Global Market Value by Source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85: Global Market Value by Meat Type and Product Format, US$ Mn, 2026–2036</a:t>
                      </a:r>
                      <a:endParaRPr sz="1050"/>
                    </a:p>
                  </a:txBody>
                  <a:tcPr marL="9525" marR="9525" marT="9525" marB="0" anchor="ctr"/>
                </a:tc>
              </a:tr>
              <a:tr h="169826">
                <a:tc>
                  <a:txBody>
                    <a:bodyPr wrap="square"/>
                    <a:lstStyle/>
                    <a:p>
                      <a:pPr algn="l"/>
                      <a:r>
                        <a:rPr sz="1050" b="0" i="0">
                          <a:solidFill>
                            <a:srgbClr val="000000"/>
                          </a:solidFill>
                          <a:latin typeface="Calibri"/>
                        </a:rPr>
                        <a:t>Table 86: Global Market Value by Meat Type and Product Claim, US$ Mn, 2026–2036</a:t>
                      </a:r>
                      <a:endParaRPr sz="1050"/>
                    </a:p>
                  </a:txBody>
                  <a:tcPr marL="9525" marR="9525" marT="9525" marB="0" anchor="ctr"/>
                </a:tc>
              </a:tr>
              <a:tr h="169826">
                <a:tc>
                  <a:txBody>
                    <a:bodyPr wrap="square"/>
                    <a:lstStyle/>
                    <a:p>
                      <a:pPr algn="l"/>
                      <a:r>
                        <a:rPr sz="1050" b="0" i="0">
                          <a:solidFill>
                            <a:srgbClr val="000000"/>
                          </a:solidFill>
                          <a:latin typeface="Calibri"/>
                        </a:rPr>
                        <a:t>Table 87: Global Market Value by Meat Type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88: Global Market Value by Product Format and Product Claim, US$ Mn, 2026–2036</a:t>
                      </a:r>
                      <a:endParaRPr sz="1050"/>
                    </a:p>
                  </a:txBody>
                  <a:tcPr marL="9525" marR="9525" marT="9525" marB="0" anchor="ctr"/>
                </a:tc>
              </a:tr>
              <a:tr h="169826">
                <a:tc>
                  <a:txBody>
                    <a:bodyPr wrap="square"/>
                    <a:lstStyle/>
                    <a:p>
                      <a:pPr algn="l"/>
                      <a:r>
                        <a:rPr sz="1050" b="0" i="0">
                          <a:solidFill>
                            <a:srgbClr val="000000"/>
                          </a:solidFill>
                          <a:latin typeface="Calibri"/>
                        </a:rPr>
                        <a:t>Table 89: Global Market Value by Product Format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90: Global Market Value by Product Claim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91: Global Market Value by Region and Crab Species,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Table 92: Global Market Value by Region and Source, US$ Mn, 2026–2036</a:t>
                      </a:r>
                      <a:endParaRPr sz="1050"/>
                    </a:p>
                  </a:txBody>
                  <a:tcPr marL="9525" marR="9525" marT="9525" marB="0" anchor="ctr"/>
                </a:tc>
              </a:tr>
              <a:tr h="175729">
                <a:tc>
                  <a:txBody>
                    <a:bodyPr wrap="square"/>
                    <a:lstStyle/>
                    <a:p>
                      <a:pPr algn="l"/>
                      <a:r>
                        <a:rPr sz="1050" b="0" i="0">
                          <a:solidFill>
                            <a:srgbClr val="000000"/>
                          </a:solidFill>
                          <a:latin typeface="Calibri"/>
                        </a:rPr>
                        <a:t>Table 93: Global Market Value by Region and Meat Type, US$ Mn, 2026–2036</a:t>
                      </a:r>
                      <a:endParaRPr sz="1050"/>
                    </a:p>
                  </a:txBody>
                  <a:tcPr marL="9525" marR="9525" marT="9525" marB="0" anchor="ctr"/>
                </a:tc>
              </a:tr>
              <a:tr h="175729">
                <a:tc>
                  <a:txBody>
                    <a:bodyPr wrap="square"/>
                    <a:lstStyle/>
                    <a:p>
                      <a:pPr algn="l"/>
                      <a:r>
                        <a:rPr sz="1050" b="0" i="0">
                          <a:solidFill>
                            <a:srgbClr val="000000"/>
                          </a:solidFill>
                          <a:latin typeface="Calibri"/>
                        </a:rPr>
                        <a:t>Table 94: Global Market Value by Region and Product Format, US$ Mn, 2026–2036</a:t>
                      </a:r>
                      <a:endParaRPr sz="1050"/>
                    </a:p>
                  </a:txBody>
                  <a:tcPr marL="9525" marR="9525" marT="9525" marB="0" anchor="ctr"/>
                </a:tc>
              </a:tr>
              <a:tr h="175729">
                <a:tc>
                  <a:txBody>
                    <a:bodyPr wrap="square"/>
                    <a:lstStyle/>
                    <a:p>
                      <a:pPr algn="l"/>
                      <a:r>
                        <a:rPr sz="1050" b="0" i="0">
                          <a:solidFill>
                            <a:srgbClr val="000000"/>
                          </a:solidFill>
                          <a:latin typeface="Calibri"/>
                        </a:rPr>
                        <a:t>Table 95: Global Market Value by Region and Product Claim, US$ Mn, 2026–2036</a:t>
                      </a:r>
                      <a:endParaRPr sz="1050"/>
                    </a:p>
                  </a:txBody>
                  <a:tcPr marL="9525" marR="9525" marT="9525" marB="0" anchor="ctr"/>
                </a:tc>
              </a:tr>
              <a:tr h="175729">
                <a:tc>
                  <a:txBody>
                    <a:bodyPr wrap="square"/>
                    <a:lstStyle/>
                    <a:p>
                      <a:pPr algn="l"/>
                      <a:r>
                        <a:rPr sz="1050" b="0" i="0">
                          <a:solidFill>
                            <a:srgbClr val="000000"/>
                          </a:solidFill>
                          <a:latin typeface="Calibri"/>
                        </a:rPr>
                        <a:t>Table 96: Global Market Value by Region and Distribution Channel, US$ Mn, 2026–2036</a:t>
                      </a:r>
                      <a:endParaRPr sz="1050"/>
                    </a:p>
                  </a:txBody>
                  <a:tcPr marL="9525" marR="9525" marT="9525" marB="0" anchor="ctr"/>
                </a:tc>
              </a:tr>
              <a:tr h="175729">
                <a:tc>
                  <a:txBody>
                    <a:bodyPr wrap="square"/>
                    <a:lstStyle/>
                    <a:p>
                      <a:pPr algn="l"/>
                      <a:r>
                        <a:rPr sz="1050" b="0" i="0">
                          <a:solidFill>
                            <a:srgbClr val="000000"/>
                          </a:solidFill>
                          <a:latin typeface="Calibri"/>
                        </a:rPr>
                        <a:t>Table 97: Global Market CAGR by Crab Species and Source, %, 2026–2036</a:t>
                      </a:r>
                      <a:endParaRPr sz="1050"/>
                    </a:p>
                  </a:txBody>
                  <a:tcPr marL="9525" marR="9525" marT="9525" marB="0" anchor="ctr"/>
                </a:tc>
              </a:tr>
              <a:tr h="175729">
                <a:tc>
                  <a:txBody>
                    <a:bodyPr wrap="square"/>
                    <a:lstStyle/>
                    <a:p>
                      <a:pPr algn="l"/>
                      <a:r>
                        <a:rPr sz="1050" b="0" i="0">
                          <a:solidFill>
                            <a:srgbClr val="000000"/>
                          </a:solidFill>
                          <a:latin typeface="Calibri"/>
                        </a:rPr>
                        <a:t>Table 98: Global Market CAGR by Crab Species and Meat Type, %, 2026–2036</a:t>
                      </a:r>
                      <a:endParaRPr sz="1050"/>
                    </a:p>
                  </a:txBody>
                  <a:tcPr marL="9525" marR="9525" marT="9525" marB="0" anchor="ctr"/>
                </a:tc>
              </a:tr>
              <a:tr h="175729">
                <a:tc>
                  <a:txBody>
                    <a:bodyPr wrap="square"/>
                    <a:lstStyle/>
                    <a:p>
                      <a:pPr algn="l"/>
                      <a:r>
                        <a:rPr sz="1050" b="0" i="0">
                          <a:solidFill>
                            <a:srgbClr val="000000"/>
                          </a:solidFill>
                          <a:latin typeface="Calibri"/>
                        </a:rPr>
                        <a:t>Table 99: Global Market CAGR by Crab Species and Product Format, %, 2026–2036</a:t>
                      </a:r>
                      <a:endParaRPr sz="1050"/>
                    </a:p>
                  </a:txBody>
                  <a:tcPr marL="9525" marR="9525" marT="9525" marB="0" anchor="ctr"/>
                </a:tc>
              </a:tr>
              <a:tr h="175729">
                <a:tc>
                  <a:txBody>
                    <a:bodyPr wrap="square"/>
                    <a:lstStyle/>
                    <a:p>
                      <a:pPr algn="l"/>
                      <a:r>
                        <a:rPr sz="1050" b="0" i="0">
                          <a:solidFill>
                            <a:srgbClr val="000000"/>
                          </a:solidFill>
                          <a:latin typeface="Calibri"/>
                        </a:rPr>
                        <a:t>Table 100: Global Market CAGR by Crab Species and Product Claim, %, 2026–2036</a:t>
                      </a:r>
                      <a:endParaRPr sz="1050"/>
                    </a:p>
                  </a:txBody>
                  <a:tcPr marL="9525" marR="9525" marT="9525" marB="0" anchor="ctr"/>
                </a:tc>
              </a:tr>
              <a:tr h="175729">
                <a:tc>
                  <a:txBody>
                    <a:bodyPr wrap="square"/>
                    <a:lstStyle/>
                    <a:p>
                      <a:pPr algn="l"/>
                      <a:r>
                        <a:rPr sz="1050" b="0" i="0">
                          <a:solidFill>
                            <a:srgbClr val="000000"/>
                          </a:solidFill>
                          <a:latin typeface="Calibri"/>
                        </a:rPr>
                        <a:t>Table 101: Global Market CAGR by Crab Species and Distribution Channel, %, 2026–2036</a:t>
                      </a:r>
                      <a:endParaRPr sz="1050"/>
                    </a:p>
                  </a:txBody>
                  <a:tcPr marL="9525" marR="9525" marT="9525" marB="0" anchor="ctr"/>
                </a:tc>
              </a:tr>
              <a:tr h="175729">
                <a:tc>
                  <a:txBody>
                    <a:bodyPr wrap="square"/>
                    <a:lstStyle/>
                    <a:p>
                      <a:pPr algn="l"/>
                      <a:r>
                        <a:rPr sz="1050" b="0" i="0">
                          <a:solidFill>
                            <a:srgbClr val="000000"/>
                          </a:solidFill>
                          <a:latin typeface="Calibri"/>
                        </a:rPr>
                        <a:t>Table 102: Global Market CAGR by Source and Meat Type, %, 2026–2036</a:t>
                      </a:r>
                      <a:endParaRPr sz="1050"/>
                    </a:p>
                  </a:txBody>
                  <a:tcPr marL="9525" marR="9525" marT="9525" marB="0" anchor="ctr"/>
                </a:tc>
              </a:tr>
              <a:tr h="175729">
                <a:tc>
                  <a:txBody>
                    <a:bodyPr wrap="square"/>
                    <a:lstStyle/>
                    <a:p>
                      <a:pPr algn="l"/>
                      <a:r>
                        <a:rPr sz="1050" b="0" i="0">
                          <a:solidFill>
                            <a:srgbClr val="000000"/>
                          </a:solidFill>
                          <a:latin typeface="Calibri"/>
                        </a:rPr>
                        <a:t>Table 103: Global Market CAGR by Source and Product Format, %, 2026–2036</a:t>
                      </a:r>
                      <a:endParaRPr sz="1050"/>
                    </a:p>
                  </a:txBody>
                  <a:tcPr marL="9525" marR="9525" marT="9525" marB="0" anchor="ctr"/>
                </a:tc>
              </a:tr>
              <a:tr h="175729">
                <a:tc>
                  <a:txBody>
                    <a:bodyPr wrap="square"/>
                    <a:lstStyle/>
                    <a:p>
                      <a:pPr algn="l"/>
                      <a:r>
                        <a:rPr sz="1050" b="0" i="0">
                          <a:solidFill>
                            <a:srgbClr val="000000"/>
                          </a:solidFill>
                          <a:latin typeface="Calibri"/>
                        </a:rPr>
                        <a:t>Table 104: Global Market CAGR by Source and Product Claim, %, 2026–2036</a:t>
                      </a:r>
                      <a:endParaRPr sz="1050"/>
                    </a:p>
                  </a:txBody>
                  <a:tcPr marL="9525" marR="9525" marT="9525" marB="0" anchor="ctr"/>
                </a:tc>
              </a:tr>
              <a:tr h="175729">
                <a:tc>
                  <a:txBody>
                    <a:bodyPr wrap="square"/>
                    <a:lstStyle/>
                    <a:p>
                      <a:pPr algn="l"/>
                      <a:r>
                        <a:rPr sz="1050" b="0" i="0">
                          <a:solidFill>
                            <a:srgbClr val="000000"/>
                          </a:solidFill>
                          <a:latin typeface="Calibri"/>
                        </a:rPr>
                        <a:t>Table 105: Global Market Value by Region, US$ Mn, 2021–2036</a:t>
                      </a:r>
                      <a:endParaRPr sz="1050"/>
                    </a:p>
                  </a:txBody>
                  <a:tcPr marL="9525" marR="9525" marT="9525" marB="0" anchor="ctr"/>
                </a:tc>
              </a:tr>
              <a:tr h="175729">
                <a:tc>
                  <a:txBody>
                    <a:bodyPr wrap="square"/>
                    <a:lstStyle/>
                    <a:p>
                      <a:pPr algn="l"/>
                      <a:r>
                        <a:rPr sz="1050" b="0" i="0">
                          <a:solidFill>
                            <a:srgbClr val="000000"/>
                          </a:solidFill>
                          <a:latin typeface="Calibri"/>
                        </a:rPr>
                        <a:t>Table 106: Global Market CAGR and Absolute $ Opportunity by Region, %, US$ Mn, 2026–2036</a:t>
                      </a:r>
                      <a:endParaRPr sz="1050"/>
                    </a:p>
                  </a:txBody>
                  <a:tcPr marL="9525" marR="9525" marT="9525" marB="0" anchor="ctr"/>
                </a:tc>
              </a:tr>
              <a:tr h="175729">
                <a:tc>
                  <a:txBody>
                    <a:bodyPr wrap="square"/>
                    <a:lstStyle/>
                    <a:p>
                      <a:pPr algn="l"/>
                      <a:r>
                        <a:rPr sz="1050" b="0" i="0">
                          <a:solidFill>
                            <a:srgbClr val="000000"/>
                          </a:solidFill>
                          <a:latin typeface="Calibri"/>
                        </a:rPr>
                        <a:t>Table 107: Global Market Share and BPS Change by Region, %, 2026 and 2036</a:t>
                      </a:r>
                      <a:endParaRPr sz="1050"/>
                    </a:p>
                  </a:txBody>
                  <a:tcPr marL="9525" marR="9525" marT="9525" marB="0" anchor="ctr"/>
                </a:tc>
              </a:tr>
              <a:tr h="175729">
                <a:tc>
                  <a:txBody>
                    <a:bodyPr wrap="square"/>
                    <a:lstStyle/>
                    <a:p>
                      <a:pPr algn="l"/>
                      <a:r>
                        <a:rPr sz="1050" b="0" i="0">
                          <a:solidFill>
                            <a:srgbClr val="000000"/>
                          </a:solidFill>
                          <a:latin typeface="Calibri"/>
                        </a:rPr>
                        <a:t>Table 108: Global Market Volume by Region, MT, 2021–2036</a:t>
                      </a:r>
                      <a:endParaRPr sz="1050"/>
                    </a:p>
                  </a:txBody>
                  <a:tcPr marL="9525" marR="9525" marT="9525" marB="0" anchor="ctr"/>
                </a:tc>
              </a:tr>
              <a:tr h="175729">
                <a:tc>
                  <a:txBody>
                    <a:bodyPr wrap="square"/>
                    <a:lstStyle/>
                    <a:p>
                      <a:pPr algn="l"/>
                      <a:r>
                        <a:rPr sz="1050" b="0" i="0">
                          <a:solidFill>
                            <a:srgbClr val="000000"/>
                          </a:solidFill>
                          <a:latin typeface="Calibri"/>
                        </a:rPr>
                        <a:t>Table 109: North America Market Value by Country, US$ Mn, 2021–2036</a:t>
                      </a:r>
                      <a:endParaRPr sz="1050"/>
                    </a:p>
                  </a:txBody>
                  <a:tcPr marL="9525" marR="9525" marT="9525" marB="0" anchor="ctr"/>
                </a:tc>
              </a:tr>
              <a:tr h="175729">
                <a:tc>
                  <a:txBody>
                    <a:bodyPr wrap="square"/>
                    <a:lstStyle/>
                    <a:p>
                      <a:pPr algn="l"/>
                      <a:r>
                        <a:rPr sz="1050" b="0" i="0">
                          <a:solidFill>
                            <a:srgbClr val="000000"/>
                          </a:solidFill>
                          <a:latin typeface="Calibri"/>
                        </a:rPr>
                        <a:t>Table 110: Latin America Market Value by Country, US$ Mn, 2021–2036</a:t>
                      </a:r>
                      <a:endParaRPr sz="1050"/>
                    </a:p>
                  </a:txBody>
                  <a:tcPr marL="9525" marR="9525" marT="9525" marB="0" anchor="ctr"/>
                </a:tc>
              </a:tr>
              <a:tr h="175729">
                <a:tc>
                  <a:txBody>
                    <a:bodyPr wrap="square"/>
                    <a:lstStyle/>
                    <a:p>
                      <a:pPr algn="l"/>
                      <a:r>
                        <a:rPr sz="1050" b="0" i="0">
                          <a:solidFill>
                            <a:srgbClr val="000000"/>
                          </a:solidFill>
                          <a:latin typeface="Calibri"/>
                        </a:rPr>
                        <a:t>Table 111: Europe Market Value by Country, US$ Mn, 2021–2036</a:t>
                      </a:r>
                      <a:endParaRPr sz="1050"/>
                    </a:p>
                  </a:txBody>
                  <a:tcPr marL="9525" marR="9525" marT="9525" marB="0" anchor="ctr"/>
                </a:tc>
              </a:tr>
              <a:tr h="175729">
                <a:tc>
                  <a:txBody>
                    <a:bodyPr wrap="square"/>
                    <a:lstStyle/>
                    <a:p>
                      <a:pPr algn="l"/>
                      <a:r>
                        <a:rPr sz="1050" b="0" i="0">
                          <a:solidFill>
                            <a:srgbClr val="000000"/>
                          </a:solidFill>
                          <a:latin typeface="Calibri"/>
                        </a:rPr>
                        <a:t>Table 112: East Asia Market Value by Country, US$ Mn, 2021–2036</a:t>
                      </a:r>
                      <a:endParaRPr sz="1050"/>
                    </a:p>
                  </a:txBody>
                  <a:tcPr marL="9525" marR="9525" marT="9525" marB="0" anchor="ctr"/>
                </a:tc>
              </a:tr>
              <a:tr h="175729">
                <a:tc>
                  <a:txBody>
                    <a:bodyPr wrap="square"/>
                    <a:lstStyle/>
                    <a:p>
                      <a:pPr algn="l"/>
                      <a:r>
                        <a:rPr sz="1050" b="0" i="0">
                          <a:solidFill>
                            <a:srgbClr val="000000"/>
                          </a:solidFill>
                          <a:latin typeface="Calibri"/>
                        </a:rPr>
                        <a:t>Table 113: South Asia &amp; Pacific Market Value by Country, US$ Mn, 2021–2036</a:t>
                      </a:r>
                      <a:endParaRPr sz="1050"/>
                    </a:p>
                  </a:txBody>
                  <a:tcPr marL="9525" marR="9525" marT="9525" marB="0" anchor="ctr"/>
                </a:tc>
              </a:tr>
              <a:tr h="175729">
                <a:tc>
                  <a:txBody>
                    <a:bodyPr wrap="square"/>
                    <a:lstStyle/>
                    <a:p>
                      <a:pPr algn="l"/>
                      <a:r>
                        <a:rPr sz="1050" b="0" i="0">
                          <a:solidFill>
                            <a:srgbClr val="000000"/>
                          </a:solidFill>
                          <a:latin typeface="Calibri"/>
                        </a:rPr>
                        <a:t>Table 114: Middle East &amp; Africa Market Value by Country, US$ Mn, 2021–2036</a:t>
                      </a:r>
                      <a:endParaRPr sz="1050"/>
                    </a:p>
                  </a:txBody>
                  <a:tcPr marL="9525" marR="9525" marT="9525" marB="0" anchor="ctr"/>
                </a:tc>
              </a:tr>
              <a:tr h="344428">
                <a:tc>
                  <a:txBody>
                    <a:bodyPr wrap="square"/>
                    <a:lstStyle/>
                    <a:p>
                      <a:pPr algn="l"/>
                      <a:r>
                        <a:rPr sz="1050" b="0" i="0">
                          <a:solidFill>
                            <a:srgbClr val="000000"/>
                          </a:solidFill>
                          <a:latin typeface="Calibri"/>
                        </a:rPr>
                        <a:t>Table 115: North America Market CAGR and Absolute $ Opportunity by Country, %, US$ Mn, 2026–2036</a:t>
                      </a:r>
                      <a:endParaRPr sz="1050"/>
                    </a:p>
                  </a:txBody>
                  <a:tcPr marL="9525" marR="9525" marT="9525" marB="0" anchor="ctr"/>
                </a:tc>
              </a:tr>
              <a:tr h="175729">
                <a:tc>
                  <a:txBody>
                    <a:bodyPr wrap="square"/>
                    <a:lstStyle/>
                    <a:p>
                      <a:pPr algn="l"/>
                      <a:r>
                        <a:rPr sz="1050" b="0" i="0">
                          <a:solidFill>
                            <a:srgbClr val="000000"/>
                          </a:solidFill>
                          <a:latin typeface="Calibri"/>
                        </a:rPr>
                        <a:t>Table 116: Latin America Market CAGR and Absolute $ Opportunity by Country, %, US$ Mn, 2026–2036</a:t>
                      </a:r>
                      <a:endParaRPr sz="1050"/>
                    </a:p>
                  </a:txBody>
                  <a:tcPr marL="9525" marR="9525" marT="9525" marB="0" anchor="ctr"/>
                </a:tc>
              </a:tr>
              <a:tr h="175729">
                <a:tc>
                  <a:txBody>
                    <a:bodyPr wrap="square"/>
                    <a:lstStyle/>
                    <a:p>
                      <a:pPr algn="l"/>
                      <a:r>
                        <a:rPr sz="1050" b="0" i="0">
                          <a:solidFill>
                            <a:srgbClr val="000000"/>
                          </a:solidFill>
                          <a:latin typeface="Calibri"/>
                        </a:rPr>
                        <a:t>Table 117: Europe Market CAGR and Absolute $ Opportunity by Country, %, US$ Mn, 2026–2036</a:t>
                      </a:r>
                      <a:endParaRPr sz="1050"/>
                    </a:p>
                  </a:txBody>
                  <a:tcPr marL="9525" marR="9525" marT="9525" marB="0" anchor="ctr"/>
                </a:tc>
              </a:tr>
              <a:tr h="175729">
                <a:tc>
                  <a:txBody>
                    <a:bodyPr wrap="square"/>
                    <a:lstStyle/>
                    <a:p>
                      <a:pPr algn="l"/>
                      <a:r>
                        <a:rPr sz="1050" b="0" i="0">
                          <a:solidFill>
                            <a:srgbClr val="000000"/>
                          </a:solidFill>
                          <a:latin typeface="Calibri"/>
                        </a:rPr>
                        <a:t>Table 118: East Asia Market CAGR and Absolute $ Opportunity by Country, %, US$ Mn, 2026–2036</a:t>
                      </a:r>
                      <a:endParaRPr sz="1050"/>
                    </a:p>
                  </a:txBody>
                  <a:tcPr marL="9525" marR="9525" marT="9525" marB="0" anchor="ctr"/>
                </a:tc>
              </a:tr>
              <a:tr h="344428">
                <a:tc>
                  <a:txBody>
                    <a:bodyPr wrap="square"/>
                    <a:lstStyle/>
                    <a:p>
                      <a:pPr algn="l"/>
                      <a:r>
                        <a:rPr sz="1050" b="0" i="0">
                          <a:solidFill>
                            <a:srgbClr val="000000"/>
                          </a:solidFill>
                          <a:latin typeface="Calibri"/>
                        </a:rPr>
                        <a:t>Table 119: South Asia &amp; Pacific Market CAGR and Absolute $ Opportunity by Country, %, US$ Mn,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120: Middle East &amp; Africa Market CAGR and Absolute $ Opportunity by Country, %, US$ Mn, 2026–2036</a:t>
                      </a:r>
                      <a:endParaRPr sz="1050"/>
                    </a:p>
                  </a:txBody>
                  <a:tcPr marL="9525" marR="9525" marT="9525" marB="0" anchor="ctr"/>
                </a:tc>
              </a:tr>
              <a:tr h="169826">
                <a:tc>
                  <a:txBody>
                    <a:bodyPr wrap="square"/>
                    <a:lstStyle/>
                    <a:p>
                      <a:pPr algn="l"/>
                      <a:r>
                        <a:rPr sz="1050" b="0" i="0">
                          <a:solidFill>
                            <a:srgbClr val="000000"/>
                          </a:solidFill>
                          <a:latin typeface="Calibri"/>
                        </a:rPr>
                        <a:t>Table 121: North America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122: Latin America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123: Europe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124: East Asia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125: South Asia &amp; Pacific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126: Middle East &amp; Africa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127: North America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128: Latin America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129: Europe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130: U.S.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131: U.S.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132: U.S.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133: U.S. Market Share within North America, %, 2025, 2026 and 2036</a:t>
                      </a:r>
                      <a:endParaRPr sz="1050"/>
                    </a:p>
                  </a:txBody>
                  <a:tcPr marL="9525" marR="9525" marT="9525" marB="0" anchor="ctr"/>
                </a:tc>
              </a:tr>
              <a:tr h="169826">
                <a:tc>
                  <a:txBody>
                    <a:bodyPr wrap="square"/>
                    <a:lstStyle/>
                    <a:p>
                      <a:pPr algn="l"/>
                      <a:r>
                        <a:rPr sz="1050" b="0" i="0">
                          <a:solidFill>
                            <a:srgbClr val="000000"/>
                          </a:solidFill>
                          <a:latin typeface="Calibri"/>
                        </a:rPr>
                        <a:t>Table 134: U.S.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135: U.S. Market Value by Meat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136: U.S. Market Value by Product Format, US$ Mn, 2021–2036</a:t>
                      </a:r>
                      <a:endParaRPr sz="1050"/>
                    </a:p>
                  </a:txBody>
                  <a:tcPr marL="9525" marR="9525" marT="9525" marB="0" anchor="ctr"/>
                </a:tc>
              </a:tr>
              <a:tr h="169826">
                <a:tc>
                  <a:txBody>
                    <a:bodyPr wrap="square"/>
                    <a:lstStyle/>
                    <a:p>
                      <a:pPr algn="l"/>
                      <a:r>
                        <a:rPr sz="1050" b="0" i="0">
                          <a:solidFill>
                            <a:srgbClr val="000000"/>
                          </a:solidFill>
                          <a:latin typeface="Calibri"/>
                        </a:rPr>
                        <a:t>Table 137: U.S. Market Value by Product Claim, US$ Mn, 2021–2036</a:t>
                      </a:r>
                      <a:endParaRPr sz="1050"/>
                    </a:p>
                  </a:txBody>
                  <a:tcPr marL="9525" marR="9525" marT="9525" marB="0" anchor="ctr"/>
                </a:tc>
              </a:tr>
              <a:tr h="169826">
                <a:tc>
                  <a:txBody>
                    <a:bodyPr wrap="square"/>
                    <a:lstStyle/>
                    <a:p>
                      <a:pPr algn="l"/>
                      <a:r>
                        <a:rPr sz="1050" b="0" i="0">
                          <a:solidFill>
                            <a:srgbClr val="000000"/>
                          </a:solidFill>
                          <a:latin typeface="Calibri"/>
                        </a:rPr>
                        <a:t>Table 138: Germany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139: Germany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140: Germany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141: Germany Market Share within Europe,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142: Germany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143: Germany Market Value by Meat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144: Germany Market Value by Product Format, US$ Mn, 2021–2036</a:t>
                      </a:r>
                      <a:endParaRPr sz="1050"/>
                    </a:p>
                  </a:txBody>
                  <a:tcPr marL="9525" marR="9525" marT="9525" marB="0" anchor="ctr"/>
                </a:tc>
              </a:tr>
              <a:tr h="169826">
                <a:tc>
                  <a:txBody>
                    <a:bodyPr wrap="square"/>
                    <a:lstStyle/>
                    <a:p>
                      <a:pPr algn="l"/>
                      <a:r>
                        <a:rPr sz="1050" b="0" i="0">
                          <a:solidFill>
                            <a:srgbClr val="000000"/>
                          </a:solidFill>
                          <a:latin typeface="Calibri"/>
                        </a:rPr>
                        <a:t>Table 145: Germany Market Value by Product Claim, US$ Mn, 2021–2036</a:t>
                      </a:r>
                      <a:endParaRPr sz="1050"/>
                    </a:p>
                  </a:txBody>
                  <a:tcPr marL="9525" marR="9525" marT="9525" marB="0" anchor="ctr"/>
                </a:tc>
              </a:tr>
              <a:tr h="169826">
                <a:tc>
                  <a:txBody>
                    <a:bodyPr wrap="square"/>
                    <a:lstStyle/>
                    <a:p>
                      <a:pPr algn="l"/>
                      <a:r>
                        <a:rPr sz="1050" b="0" i="0">
                          <a:solidFill>
                            <a:srgbClr val="000000"/>
                          </a:solidFill>
                          <a:latin typeface="Calibri"/>
                        </a:rPr>
                        <a:t>Table 146: Canada Market Value by Crab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147: Canada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148: Canada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149: Canada Market Share within North America, %, 2025,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150: Canada Market Value by Source, US$ Mn, 2021–2036</a:t>
                      </a:r>
                      <a:endParaRPr sz="1050"/>
                    </a:p>
                  </a:txBody>
                  <a:tcPr marL="9525" marR="9525" marT="9525" marB="0" anchor="ctr"/>
                </a:tc>
              </a:tr>
              <a:tr h="169606">
                <a:tc>
                  <a:txBody>
                    <a:bodyPr wrap="square"/>
                    <a:lstStyle/>
                    <a:p>
                      <a:pPr algn="l"/>
                      <a:r>
                        <a:rPr sz="1050" b="0" i="0">
                          <a:solidFill>
                            <a:srgbClr val="000000"/>
                          </a:solidFill>
                          <a:latin typeface="Calibri"/>
                        </a:rPr>
                        <a:t>Table 151: Canada Market Value by Meat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152: Canada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153: Canada Market Value by Product Claim, US$ Mn, 2021–2036</a:t>
                      </a:r>
                      <a:endParaRPr sz="1050"/>
                    </a:p>
                  </a:txBody>
                  <a:tcPr marL="9525" marR="9525" marT="9525" marB="0" anchor="ctr"/>
                </a:tc>
              </a:tr>
              <a:tr h="169606">
                <a:tc>
                  <a:txBody>
                    <a:bodyPr wrap="square"/>
                    <a:lstStyle/>
                    <a:p>
                      <a:pPr algn="l"/>
                      <a:r>
                        <a:rPr sz="1050" b="0" i="0">
                          <a:solidFill>
                            <a:srgbClr val="000000"/>
                          </a:solidFill>
                          <a:latin typeface="Calibri"/>
                        </a:rPr>
                        <a:t>Table 154: China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155: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156: China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157: India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158: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159: Brazil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160: Brazil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161: U.K. Market Value by Crab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162: U.K.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163: Market Product Price Comparison by Company and Crab Species, US$/MT, 2026</a:t>
                      </a:r>
                      <a:endParaRPr sz="1050"/>
                    </a:p>
                  </a:txBody>
                  <a:tcPr marL="9525" marR="9525" marT="9525" marB="0" anchor="ctr"/>
                </a:tc>
              </a:tr>
              <a:tr h="169606">
                <a:tc>
                  <a:txBody>
                    <a:bodyPr wrap="square"/>
                    <a:lstStyle/>
                    <a:p>
                      <a:pPr algn="l"/>
                      <a:r>
                        <a:rPr sz="1050" b="0" i="0">
                          <a:solidFill>
                            <a:srgbClr val="000000"/>
                          </a:solidFill>
                          <a:latin typeface="Calibri"/>
                        </a:rPr>
                        <a:t>Table 164: Global Market Average Selling Price by Region, US$/MT, 2021–2036</a:t>
                      </a:r>
                      <a:endParaRPr sz="1050"/>
                    </a:p>
                  </a:txBody>
                  <a:tcPr marL="9525" marR="9525" marT="9525" marB="0" anchor="ctr"/>
                </a:tc>
              </a:tr>
              <a:tr h="169606">
                <a:tc>
                  <a:txBody>
                    <a:bodyPr wrap="square"/>
                    <a:lstStyle/>
                    <a:p>
                      <a:pPr algn="l"/>
                      <a:r>
                        <a:rPr sz="1050" b="0" i="0">
                          <a:solidFill>
                            <a:srgbClr val="000000"/>
                          </a:solidFill>
                          <a:latin typeface="Calibri"/>
                        </a:rPr>
                        <a:t>Table 165: Global Market Average Selling Price by Crab Species, US$/MT, 2021–2036</a:t>
                      </a:r>
                      <a:endParaRPr sz="1050"/>
                    </a:p>
                  </a:txBody>
                  <a:tcPr marL="9525" marR="9525" marT="9525" marB="0" anchor="ctr"/>
                </a:tc>
              </a:tr>
              <a:tr h="169606">
                <a:tc>
                  <a:txBody>
                    <a:bodyPr wrap="square"/>
                    <a:lstStyle/>
                    <a:p>
                      <a:pPr algn="l"/>
                      <a:r>
                        <a:rPr sz="1050" b="0" i="0">
                          <a:solidFill>
                            <a:srgbClr val="000000"/>
                          </a:solidFill>
                          <a:latin typeface="Calibri"/>
                        </a:rPr>
                        <a:t>Table 166: Global Market Average Selling Price by Source, US$/MT, 2021–2036</a:t>
                      </a:r>
                      <a:endParaRPr sz="1050"/>
                    </a:p>
                  </a:txBody>
                  <a:tcPr marL="9525" marR="9525" marT="9525" marB="0" anchor="ctr"/>
                </a:tc>
              </a:tr>
              <a:tr h="169606">
                <a:tc>
                  <a:txBody>
                    <a:bodyPr wrap="square"/>
                    <a:lstStyle/>
                    <a:p>
                      <a:pPr algn="l"/>
                      <a:r>
                        <a:rPr sz="1050" b="0" i="0">
                          <a:solidFill>
                            <a:srgbClr val="000000"/>
                          </a:solidFill>
                          <a:latin typeface="Calibri"/>
                        </a:rPr>
                        <a:t>Table 167: Global Market Average Selling Price by Meat Type, US$/MT, 2021–2036</a:t>
                      </a:r>
                      <a:endParaRPr sz="1050"/>
                    </a:p>
                  </a:txBody>
                  <a:tcPr marL="9525" marR="9525" marT="9525" marB="0" anchor="ctr"/>
                </a:tc>
              </a:tr>
              <a:tr h="169606">
                <a:tc>
                  <a:txBody>
                    <a:bodyPr wrap="square"/>
                    <a:lstStyle/>
                    <a:p>
                      <a:pPr algn="l"/>
                      <a:r>
                        <a:rPr sz="1050" b="0" i="0">
                          <a:solidFill>
                            <a:srgbClr val="000000"/>
                          </a:solidFill>
                          <a:latin typeface="Calibri"/>
                        </a:rPr>
                        <a:t>Table 168: Global Market Average Selling Price by Product Format, US$/MT, 2021–2036</a:t>
                      </a:r>
                      <a:endParaRPr sz="1050"/>
                    </a:p>
                  </a:txBody>
                  <a:tcPr marL="9525" marR="9525" marT="9525" marB="0" anchor="ctr"/>
                </a:tc>
              </a:tr>
              <a:tr h="169606">
                <a:tc>
                  <a:txBody>
                    <a:bodyPr wrap="square"/>
                    <a:lstStyle/>
                    <a:p>
                      <a:pPr algn="l"/>
                      <a:r>
                        <a:rPr sz="1050" b="0" i="0">
                          <a:solidFill>
                            <a:srgbClr val="000000"/>
                          </a:solidFill>
                          <a:latin typeface="Calibri"/>
                        </a:rPr>
                        <a:t>Table 169: Global Market Average Selling Price by Product Claim, US$/MT, 2021–2036</a:t>
                      </a:r>
                      <a:endParaRPr sz="1050"/>
                    </a:p>
                  </a:txBody>
                  <a:tcPr marL="9525" marR="9525" marT="9525" marB="0" anchor="ctr"/>
                </a:tc>
              </a:tr>
              <a:tr h="169606">
                <a:tc>
                  <a:txBody>
                    <a:bodyPr wrap="square"/>
                    <a:lstStyle/>
                    <a:p>
                      <a:pPr algn="l"/>
                      <a:r>
                        <a:rPr sz="1050" b="0" i="0">
                          <a:solidFill>
                            <a:srgbClr val="000000"/>
                          </a:solidFill>
                          <a:latin typeface="Calibri"/>
                        </a:rPr>
                        <a:t>Table 170: Global Market Average Selling Price by Distribution Channel, US$/MT, 2021–2036</a:t>
                      </a:r>
                      <a:endParaRPr sz="1050"/>
                    </a:p>
                  </a:txBody>
                  <a:tcPr marL="9525" marR="9525" marT="9525" marB="0" anchor="ctr"/>
                </a:tc>
              </a:tr>
              <a:tr h="169606">
                <a:tc>
                  <a:txBody>
                    <a:bodyPr wrap="square"/>
                    <a:lstStyle/>
                    <a:p>
                      <a:pPr algn="l"/>
                      <a:r>
                        <a:rPr sz="1050" b="0" i="0">
                          <a:solidFill>
                            <a:srgbClr val="000000"/>
                          </a:solidFill>
                          <a:latin typeface="Calibri"/>
                        </a:rPr>
                        <a:t>Table 171: Supplier-to-Customer Relationship Mapping in U.S., 2026</a:t>
                      </a:r>
                      <a:endParaRPr sz="1050"/>
                    </a:p>
                  </a:txBody>
                  <a:tcPr marL="9525" marR="9525" marT="9525" marB="0" anchor="ctr"/>
                </a:tc>
              </a:tr>
              <a:tr h="169606">
                <a:tc>
                  <a:txBody>
                    <a:bodyPr wrap="square"/>
                    <a:lstStyle/>
                    <a:p>
                      <a:pPr algn="l"/>
                      <a:r>
                        <a:rPr sz="1050" b="0" i="0">
                          <a:solidFill>
                            <a:srgbClr val="000000"/>
                          </a:solidFill>
                          <a:latin typeface="Calibri"/>
                        </a:rPr>
                        <a:t>Table 172: Global Market Value Chain Participants by Stage, 2026</a:t>
                      </a:r>
                      <a:endParaRPr sz="1050"/>
                    </a:p>
                  </a:txBody>
                  <a:tcPr marL="9525" marR="9525" marT="9525" marB="0" anchor="ctr"/>
                </a:tc>
              </a:tr>
              <a:tr h="169606">
                <a:tc>
                  <a:txBody>
                    <a:bodyPr wrap="square"/>
                    <a:lstStyle/>
                    <a:p>
                      <a:pPr algn="l"/>
                      <a:r>
                        <a:rPr sz="1050" b="0" i="0">
                          <a:solidFill>
                            <a:srgbClr val="000000"/>
                          </a:solidFill>
                          <a:latin typeface="Calibri"/>
                        </a:rPr>
                        <a:t>Table 173: Global Market Margin Analysis by Value Chain Stage, %, 2026</a:t>
                      </a:r>
                      <a:endParaRPr sz="1050"/>
                    </a:p>
                  </a:txBody>
                  <a:tcPr marL="9525" marR="9525" marT="9525" marB="0" anchor="ctr"/>
                </a:tc>
              </a:tr>
              <a:tr h="169606">
                <a:tc>
                  <a:txBody>
                    <a:bodyPr wrap="square"/>
                    <a:lstStyle/>
                    <a:p>
                      <a:pPr algn="l"/>
                      <a:r>
                        <a:rPr sz="1050" b="0" i="0">
                          <a:solidFill>
                            <a:srgbClr val="000000"/>
                          </a:solidFill>
                          <a:latin typeface="Calibri"/>
                        </a:rPr>
                        <a:t>Table 174: Global Market Cost Structure by Component, %, 2026</a:t>
                      </a:r>
                      <a:endParaRPr sz="1050"/>
                    </a:p>
                  </a:txBody>
                  <a:tcPr marL="9525" marR="9525" marT="9525" marB="0" anchor="ctr"/>
                </a:tc>
              </a:tr>
              <a:tr h="169606">
                <a:tc>
                  <a:txBody>
                    <a:bodyPr wrap="square"/>
                    <a:lstStyle/>
                    <a:p>
                      <a:pPr algn="l"/>
                      <a:r>
                        <a:rPr sz="1050" b="0" i="0">
                          <a:solidFill>
                            <a:srgbClr val="000000"/>
                          </a:solidFill>
                          <a:latin typeface="Calibri"/>
                        </a:rPr>
                        <a:t>Table 175: Global Market Import Value by Leading Country, US$ Mn, 2021–2025</a:t>
                      </a:r>
                      <a:endParaRPr sz="1050"/>
                    </a:p>
                  </a:txBody>
                  <a:tcPr marL="9525" marR="9525" marT="9525" marB="0" anchor="ctr"/>
                </a:tc>
              </a:tr>
              <a:tr h="169606">
                <a:tc>
                  <a:txBody>
                    <a:bodyPr wrap="square"/>
                    <a:lstStyle/>
                    <a:p>
                      <a:pPr algn="l"/>
                      <a:r>
                        <a:rPr sz="1050" b="0" i="0">
                          <a:solidFill>
                            <a:srgbClr val="000000"/>
                          </a:solidFill>
                          <a:latin typeface="Calibri"/>
                        </a:rPr>
                        <a:t>Table 176: Global Market Export Value by Leading Country, US$ Mn, 2021–2025</a:t>
                      </a:r>
                      <a:endParaRPr sz="1050"/>
                    </a:p>
                  </a:txBody>
                  <a:tcPr marL="9525" marR="9525" marT="9525" marB="0" anchor="ctr"/>
                </a:tc>
              </a:tr>
              <a:tr h="169606">
                <a:tc>
                  <a:txBody>
                    <a:bodyPr wrap="square"/>
                    <a:lstStyle/>
                    <a:p>
                      <a:pPr algn="l"/>
                      <a:r>
                        <a:rPr sz="1050" b="0" i="0">
                          <a:solidFill>
                            <a:srgbClr val="000000"/>
                          </a:solidFill>
                          <a:latin typeface="Calibri"/>
                        </a:rPr>
                        <a:t>Table 177: Global Market Trade Flow Matrix by Region, US$ Mn, 2025</a:t>
                      </a:r>
                      <a:endParaRPr sz="1050"/>
                    </a:p>
                  </a:txBody>
                  <a:tcPr marL="9525" marR="9525" marT="9525" marB="0" anchor="ctr"/>
                </a:tc>
              </a:tr>
              <a:tr h="169606">
                <a:tc>
                  <a:txBody>
                    <a:bodyPr wrap="square"/>
                    <a:lstStyle/>
                    <a:p>
                      <a:pPr algn="l"/>
                      <a:r>
                        <a:rPr sz="1050" b="0" i="0">
                          <a:solidFill>
                            <a:srgbClr val="000000"/>
                          </a:solidFill>
                          <a:latin typeface="Calibri"/>
                        </a:rPr>
                        <a:t>Table 178: Global Market Pricing Factors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179: Leading Crab Meat Manufacturers: Product Portfolio and Geographic Presence, 2026</a:t>
                      </a:r>
                      <a:endParaRPr sz="1050"/>
                    </a:p>
                  </a:txBody>
                  <a:tcPr marL="9525" marR="9525" marT="9525" marB="0" anchor="ctr"/>
                </a:tc>
              </a:tr>
              <a:tr h="169606">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33376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184: Phillips Foods: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Phillips Foods, Inc.: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Graham &amp; Rollins, Inc.: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Supreme Crab and Seafood, Inc.: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North Coast Seafoods: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Heron Point Seafood: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Phil-Union Frozen Foods, Inc.: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Aqua Star: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Chicken of the Sea Frozen Foods: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The Crab Place: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Crab Species,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Crab Species,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Crab Species,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17360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247840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183255"/>
            <a:ext cx="7124700" cy="29298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Crab Species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Meat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Claim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Summary, By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2930735" cy="194310"/>
          </a:xfrm>
          <a:prstGeom prst="rect">
            <a:avLst/>
          </a:prstGeom>
          <a:noFill/>
        </p:spPr>
        <p:txBody>
          <a:bodyPr wrap="none" lIns="0" rIns="0" tIns="0" bIns="0">
            <a:spAutoFit/>
          </a:bodyPr>
          <a:lstStyle/>
          <a:p>
            <a:r>
              <a:rPr sz="1150" b="0">
                <a:solidFill>
                  <a:srgbClr val="2E2E2E"/>
                </a:solidFill>
                <a:latin typeface="Calibri"/>
              </a:rPr>
              <a:t>Global crab meat market is projected to register</a:t>
            </a:r>
          </a:p>
        </p:txBody>
      </p:sp>
      <p:pic>
        <p:nvPicPr>
          <p:cNvPr id="35" name="Picture 34" descr="lock.png"/>
          <p:cNvPicPr>
            <a:picLocks noChangeAspect="1"/>
          </p:cNvPicPr>
          <p:nvPr/>
        </p:nvPicPr>
        <p:blipFill>
          <a:blip r:embed="rId6"/>
          <a:stretch>
            <a:fillRect/>
          </a:stretch>
        </p:blipFill>
        <p:spPr>
          <a:xfrm>
            <a:off x="10928514" y="2036763"/>
            <a:ext cx="134549" cy="195707"/>
          </a:xfrm>
          <a:prstGeom prst="rect">
            <a:avLst/>
          </a:prstGeom>
        </p:spPr>
      </p:pic>
      <p:sp>
        <p:nvSpPr>
          <p:cNvPr id="36" name="TextBox 35"/>
          <p:cNvSpPr txBox="1"/>
          <p:nvPr/>
        </p:nvSpPr>
        <p:spPr>
          <a:xfrm>
            <a:off x="11103624" y="2046987"/>
            <a:ext cx="680938" cy="194310"/>
          </a:xfrm>
          <a:prstGeom prst="rect">
            <a:avLst/>
          </a:prstGeom>
          <a:noFill/>
        </p:spPr>
        <p:txBody>
          <a:bodyPr wrap="none" lIns="0" rIns="0" tIns="0" bIns="0">
            <a:spAutoFit/>
          </a:bodyPr>
          <a:lstStyle/>
          <a:p>
            <a:r>
              <a:rPr sz="1150" b="0">
                <a:solidFill>
                  <a:srgbClr val="2E2E2E"/>
                </a:solidFill>
                <a:latin typeface="Calibri"/>
              </a:rPr>
              <a:t>X increase</a:t>
            </a:r>
          </a:p>
        </p:txBody>
      </p:sp>
      <p:sp>
        <p:nvSpPr>
          <p:cNvPr id="37" name="TextBox 36"/>
          <p:cNvSpPr txBox="1"/>
          <p:nvPr/>
        </p:nvSpPr>
        <p:spPr>
          <a:xfrm>
            <a:off x="8048625" y="2222247"/>
            <a:ext cx="3848100" cy="194310"/>
          </a:xfrm>
          <a:prstGeom prst="rect">
            <a:avLst/>
          </a:prstGeom>
          <a:noFill/>
        </p:spPr>
        <p:txBody>
          <a:bodyPr wrap="none" lIns="0" rIns="0" tIns="0" bIns="0">
            <a:spAutoFit/>
          </a:bodyPr>
          <a:lstStyle/>
          <a:p>
            <a:r>
              <a:rPr sz="1150" b="0">
                <a:solidFill>
                  <a:srgbClr val="2E2E2E"/>
                </a:solidFill>
                <a:latin typeface="Calibri"/>
              </a:rPr>
              <a:t>in volume by the end of forecast period, 2036. Global crab meat</a:t>
            </a:r>
          </a:p>
        </p:txBody>
      </p:sp>
      <p:sp>
        <p:nvSpPr>
          <p:cNvPr id="38" name="TextBox 37"/>
          <p:cNvSpPr txBox="1"/>
          <p:nvPr/>
        </p:nvSpPr>
        <p:spPr>
          <a:xfrm>
            <a:off x="8048625" y="2397507"/>
            <a:ext cx="1499902" cy="194310"/>
          </a:xfrm>
          <a:prstGeom prst="rect">
            <a:avLst/>
          </a:prstGeom>
          <a:noFill/>
        </p:spPr>
        <p:txBody>
          <a:bodyPr wrap="none" lIns="0" rIns="0" tIns="0" bIns="0">
            <a:spAutoFit/>
          </a:bodyPr>
          <a:lstStyle/>
          <a:p>
            <a:r>
              <a:rPr sz="1150" b="0">
                <a:solidFill>
                  <a:srgbClr val="2E2E2E"/>
                </a:solidFill>
                <a:latin typeface="Calibri"/>
              </a:rPr>
              <a:t>market volume stood at</a:t>
            </a:r>
          </a:p>
        </p:txBody>
      </p:sp>
      <p:pic>
        <p:nvPicPr>
          <p:cNvPr id="39" name="Picture 38" descr="lock.png"/>
          <p:cNvPicPr>
            <a:picLocks noChangeAspect="1"/>
          </p:cNvPicPr>
          <p:nvPr/>
        </p:nvPicPr>
        <p:blipFill>
          <a:blip r:embed="rId6"/>
          <a:stretch>
            <a:fillRect/>
          </a:stretch>
        </p:blipFill>
        <p:spPr>
          <a:xfrm>
            <a:off x="9497681" y="2387283"/>
            <a:ext cx="134549" cy="195707"/>
          </a:xfrm>
          <a:prstGeom prst="rect">
            <a:avLst/>
          </a:prstGeom>
        </p:spPr>
      </p:pic>
      <p:sp>
        <p:nvSpPr>
          <p:cNvPr id="40" name="TextBox 39"/>
          <p:cNvSpPr txBox="1"/>
          <p:nvPr/>
        </p:nvSpPr>
        <p:spPr>
          <a:xfrm>
            <a:off x="9672790" y="2397507"/>
            <a:ext cx="1864171" cy="194310"/>
          </a:xfrm>
          <a:prstGeom prst="rect">
            <a:avLst/>
          </a:prstGeom>
          <a:noFill/>
        </p:spPr>
        <p:txBody>
          <a:bodyPr wrap="none" lIns="0" rIns="0" tIns="0" bIns="0">
            <a:spAutoFit/>
          </a:bodyPr>
          <a:lstStyle/>
          <a:p>
            <a:r>
              <a:rPr sz="1150" b="0">
                <a:solidFill>
                  <a:srgbClr val="2E2E2E"/>
                </a:solidFill>
                <a:latin typeface="Calibri"/>
              </a:rPr>
              <a:t>MT in 2025 and is expected to</a:t>
            </a:r>
          </a:p>
        </p:txBody>
      </p:sp>
      <p:sp>
        <p:nvSpPr>
          <p:cNvPr id="41" name="TextBox 40"/>
          <p:cNvSpPr txBox="1"/>
          <p:nvPr/>
        </p:nvSpPr>
        <p:spPr>
          <a:xfrm>
            <a:off x="8048625" y="2572767"/>
            <a:ext cx="408520" cy="194310"/>
          </a:xfrm>
          <a:prstGeom prst="rect">
            <a:avLst/>
          </a:prstGeom>
          <a:noFill/>
        </p:spPr>
        <p:txBody>
          <a:bodyPr wrap="none" lIns="0" rIns="0" tIns="0" bIns="0">
            <a:spAutoFit/>
          </a:bodyPr>
          <a:lstStyle/>
          <a:p>
            <a:r>
              <a:rPr sz="1150" b="0">
                <a:solidFill>
                  <a:srgbClr val="2E2E2E"/>
                </a:solidFill>
                <a:latin typeface="Calibri"/>
              </a:rPr>
              <a:t>reach</a:t>
            </a:r>
          </a:p>
        </p:txBody>
      </p:sp>
      <p:pic>
        <p:nvPicPr>
          <p:cNvPr id="42" name="Picture 41" descr="lock.png"/>
          <p:cNvPicPr>
            <a:picLocks noChangeAspect="1"/>
          </p:cNvPicPr>
          <p:nvPr/>
        </p:nvPicPr>
        <p:blipFill>
          <a:blip r:embed="rId6"/>
          <a:stretch>
            <a:fillRect/>
          </a:stretch>
        </p:blipFill>
        <p:spPr>
          <a:xfrm>
            <a:off x="8406299" y="2562543"/>
            <a:ext cx="134549" cy="195707"/>
          </a:xfrm>
          <a:prstGeom prst="rect">
            <a:avLst/>
          </a:prstGeom>
        </p:spPr>
      </p:pic>
      <p:sp>
        <p:nvSpPr>
          <p:cNvPr id="43" name="TextBox 42"/>
          <p:cNvSpPr txBox="1"/>
          <p:nvPr/>
        </p:nvSpPr>
        <p:spPr>
          <a:xfrm>
            <a:off x="8581409" y="2572767"/>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4" name="Picture 43" descr="lock.png"/>
          <p:cNvPicPr>
            <a:picLocks noChangeAspect="1"/>
          </p:cNvPicPr>
          <p:nvPr/>
        </p:nvPicPr>
        <p:blipFill>
          <a:blip r:embed="rId6"/>
          <a:stretch>
            <a:fillRect/>
          </a:stretch>
        </p:blipFill>
        <p:spPr>
          <a:xfrm>
            <a:off x="10381024" y="2562543"/>
            <a:ext cx="134549" cy="195707"/>
          </a:xfrm>
          <a:prstGeom prst="rect">
            <a:avLst/>
          </a:prstGeom>
        </p:spPr>
      </p:pic>
      <p:sp>
        <p:nvSpPr>
          <p:cNvPr id="45" name="TextBox 44"/>
          <p:cNvSpPr txBox="1"/>
          <p:nvPr/>
        </p:nvSpPr>
        <p:spPr>
          <a:xfrm>
            <a:off x="10556133" y="257276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8048625" y="2800604"/>
            <a:ext cx="3842122"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a:t>
            </a:r>
          </a:p>
        </p:txBody>
      </p:sp>
      <p:sp>
        <p:nvSpPr>
          <p:cNvPr id="47" name="TextBox 46"/>
          <p:cNvSpPr txBox="1"/>
          <p:nvPr/>
        </p:nvSpPr>
        <p:spPr>
          <a:xfrm>
            <a:off x="8048625" y="2975864"/>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504951" cy="194310"/>
          </a:xfrm>
          <a:prstGeom prst="rect">
            <a:avLst/>
          </a:prstGeom>
          <a:noFill/>
        </p:spPr>
        <p:txBody>
          <a:bodyPr wrap="none" lIns="0" rIns="0" tIns="0" bIns="0">
            <a:spAutoFit/>
          </a:bodyPr>
          <a:lstStyle/>
          <a:p>
            <a:r>
              <a:rPr sz="1150" b="0">
                <a:solidFill>
                  <a:srgbClr val="2E2E2E"/>
                </a:solidFill>
                <a:latin typeface="Calibri"/>
              </a:rPr>
              <a:t>▪ Demand concentrates in 'King Crab' within Crab Species.</a:t>
            </a:r>
          </a:p>
        </p:txBody>
      </p:sp>
      <p:sp>
        <p:nvSpPr>
          <p:cNvPr id="52" name="TextBox 51"/>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Crab Species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241425" y="1746984"/>
            <a:ext cx="0" cy="27831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0252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17469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1813769"/>
            <a:ext cx="438150" cy="13926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22350" y="188248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94584"/>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409825" y="2894877"/>
            <a:ext cx="0" cy="16400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89487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934731"/>
            <a:ext cx="438150" cy="8201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2190750" y="297535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74247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578225" y="1662416"/>
            <a:ext cx="0" cy="29145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19538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732628"/>
            <a:ext cx="438150" cy="14583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3359150" y="180467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1001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746625" y="2383399"/>
            <a:ext cx="0" cy="21942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260282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238339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2436254"/>
            <a:ext cx="438150" cy="10978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527550" y="249049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2230999"/>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915025" y="2318620"/>
            <a:ext cx="0" cy="21473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253335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231862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2369824"/>
            <a:ext cx="438150" cy="10744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695950" y="242272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2166220"/>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7083425" y="2403970"/>
            <a:ext cx="0" cy="22548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62945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40397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458512"/>
            <a:ext cx="438150" cy="11281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64350" y="251432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251570"/>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Blue Crab</a:t>
            </a:r>
          </a:p>
        </p:txBody>
      </p:sp>
      <p:sp>
        <p:nvSpPr>
          <p:cNvPr id="63" name="TextBox 62"/>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King Crab</a:t>
            </a:r>
          </a:p>
        </p:txBody>
      </p:sp>
      <p:sp>
        <p:nvSpPr>
          <p:cNvPr id="64" name="TextBox 63"/>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Snow Crab</a:t>
            </a:r>
          </a:p>
        </p:txBody>
      </p:sp>
      <p:sp>
        <p:nvSpPr>
          <p:cNvPr id="65" name="TextBox 64"/>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Dungeness Crab</a:t>
            </a:r>
          </a:p>
        </p:txBody>
      </p:sp>
      <p:sp>
        <p:nvSpPr>
          <p:cNvPr id="66" name="TextBox 65"/>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Mud Crab</a:t>
            </a:r>
          </a:p>
        </p:txBody>
      </p:sp>
      <p:sp>
        <p:nvSpPr>
          <p:cNvPr id="67" name="TextBox 66"/>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Other commercially tr…</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70" name="Connector 69"/>
          <p:cNvCxnSpPr/>
          <p:nvPr/>
        </p:nvCxnSpPr>
        <p:spPr>
          <a:xfrm>
            <a:off x="619125" y="431847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291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55042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596108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18470"/>
            <a:ext cx="0" cy="1642611"/>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1847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291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55042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596108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219075" y="4251795"/>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82" name="FMI Scale tick"/>
          <p:cNvSpPr txBox="1"/>
          <p:nvPr/>
        </p:nvSpPr>
        <p:spPr>
          <a:xfrm>
            <a:off x="219075" y="4662448"/>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83"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84" name="FMI Scale tick"/>
          <p:cNvSpPr txBox="1"/>
          <p:nvPr/>
        </p:nvSpPr>
        <p:spPr>
          <a:xfrm>
            <a:off x="219075" y="5483754"/>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85" name="FMI Scale tick"/>
          <p:cNvSpPr txBox="1"/>
          <p:nvPr/>
        </p:nvSpPr>
        <p:spPr>
          <a:xfrm>
            <a:off x="219075" y="5894406"/>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86" name="Connector 8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Rectangle 88"/>
          <p:cNvSpPr/>
          <p:nvPr/>
        </p:nvSpPr>
        <p:spPr>
          <a:xfrm>
            <a:off x="2152650" y="5139776"/>
            <a:ext cx="457200" cy="6118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MI Data Label"/>
          <p:cNvSpPr txBox="1"/>
          <p:nvPr/>
        </p:nvSpPr>
        <p:spPr>
          <a:xfrm>
            <a:off x="1793875" y="521048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1" name="Rectangle 90"/>
          <p:cNvSpPr/>
          <p:nvPr/>
        </p:nvSpPr>
        <p:spPr>
          <a:xfrm>
            <a:off x="3327400" y="4702601"/>
            <a:ext cx="457200" cy="4371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MI Data Label"/>
          <p:cNvSpPr txBox="1"/>
          <p:nvPr/>
        </p:nvSpPr>
        <p:spPr>
          <a:xfrm>
            <a:off x="2968625" y="455972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3" name="Rectangle 92"/>
          <p:cNvSpPr/>
          <p:nvPr/>
        </p:nvSpPr>
        <p:spPr>
          <a:xfrm>
            <a:off x="4502150" y="5139776"/>
            <a:ext cx="457200" cy="51793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MI Data Label"/>
          <p:cNvSpPr txBox="1"/>
          <p:nvPr/>
        </p:nvSpPr>
        <p:spPr>
          <a:xfrm>
            <a:off x="4143375" y="566723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5" name="Rectangle 94"/>
          <p:cNvSpPr/>
          <p:nvPr/>
        </p:nvSpPr>
        <p:spPr>
          <a:xfrm>
            <a:off x="5676900" y="5139776"/>
            <a:ext cx="457200" cy="67003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MI Data Label"/>
          <p:cNvSpPr txBox="1"/>
          <p:nvPr/>
        </p:nvSpPr>
        <p:spPr>
          <a:xfrm>
            <a:off x="5318125" y="581933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7" name="Rectangle 96"/>
          <p:cNvSpPr/>
          <p:nvPr/>
        </p:nvSpPr>
        <p:spPr>
          <a:xfrm>
            <a:off x="6851650" y="5139776"/>
            <a:ext cx="457200" cy="14392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MI Data Label"/>
          <p:cNvSpPr txBox="1"/>
          <p:nvPr/>
        </p:nvSpPr>
        <p:spPr>
          <a:xfrm>
            <a:off x="6492875" y="529322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9" name="TextBox 9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00" name="TextBox 9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01" name="TextBox 10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102" name="TextBox 10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03" name="TextBox 10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04" name="TextBox 10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05" name="Rounded Rectangle 104"/>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07" name="Rectangle 106"/>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9" name="TextBox 10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0" name="Picture 109" descr="lock.png"/>
          <p:cNvPicPr>
            <a:picLocks noChangeAspect="1"/>
          </p:cNvPicPr>
          <p:nvPr/>
        </p:nvPicPr>
        <p:blipFill>
          <a:blip r:embed="rId4"/>
          <a:stretch>
            <a:fillRect/>
          </a:stretch>
        </p:blipFill>
        <p:spPr>
          <a:xfrm>
            <a:off x="1177075" y="1567660"/>
            <a:ext cx="128699" cy="187198"/>
          </a:xfrm>
          <a:prstGeom prst="rect">
            <a:avLst/>
          </a:prstGeom>
        </p:spPr>
      </p:pic>
      <p:pic>
        <p:nvPicPr>
          <p:cNvPr id="111" name="Picture 110" descr="lock.png"/>
          <p:cNvPicPr>
            <a:picLocks noChangeAspect="1"/>
          </p:cNvPicPr>
          <p:nvPr/>
        </p:nvPicPr>
        <p:blipFill>
          <a:blip r:embed="rId4"/>
          <a:stretch>
            <a:fillRect/>
          </a:stretch>
        </p:blipFill>
        <p:spPr>
          <a:xfrm>
            <a:off x="2345475" y="2715553"/>
            <a:ext cx="128699" cy="187198"/>
          </a:xfrm>
          <a:prstGeom prst="rect">
            <a:avLst/>
          </a:prstGeom>
        </p:spPr>
      </p:pic>
      <p:pic>
        <p:nvPicPr>
          <p:cNvPr id="112" name="Picture 111" descr="lock.png"/>
          <p:cNvPicPr>
            <a:picLocks noChangeAspect="1"/>
          </p:cNvPicPr>
          <p:nvPr/>
        </p:nvPicPr>
        <p:blipFill>
          <a:blip r:embed="rId4"/>
          <a:stretch>
            <a:fillRect/>
          </a:stretch>
        </p:blipFill>
        <p:spPr>
          <a:xfrm>
            <a:off x="3513875" y="1483092"/>
            <a:ext cx="128699" cy="187198"/>
          </a:xfrm>
          <a:prstGeom prst="rect">
            <a:avLst/>
          </a:prstGeom>
        </p:spPr>
      </p:pic>
      <p:pic>
        <p:nvPicPr>
          <p:cNvPr id="113" name="Picture 112" descr="lock.png"/>
          <p:cNvPicPr>
            <a:picLocks noChangeAspect="1"/>
          </p:cNvPicPr>
          <p:nvPr/>
        </p:nvPicPr>
        <p:blipFill>
          <a:blip r:embed="rId4"/>
          <a:stretch>
            <a:fillRect/>
          </a:stretch>
        </p:blipFill>
        <p:spPr>
          <a:xfrm>
            <a:off x="4682275" y="2204075"/>
            <a:ext cx="128699" cy="187198"/>
          </a:xfrm>
          <a:prstGeom prst="rect">
            <a:avLst/>
          </a:prstGeom>
        </p:spPr>
      </p:pic>
      <p:pic>
        <p:nvPicPr>
          <p:cNvPr id="114" name="Picture 113" descr="lock.png"/>
          <p:cNvPicPr>
            <a:picLocks noChangeAspect="1"/>
          </p:cNvPicPr>
          <p:nvPr/>
        </p:nvPicPr>
        <p:blipFill>
          <a:blip r:embed="rId4"/>
          <a:stretch>
            <a:fillRect/>
          </a:stretch>
        </p:blipFill>
        <p:spPr>
          <a:xfrm>
            <a:off x="5850675" y="2139296"/>
            <a:ext cx="128699" cy="187198"/>
          </a:xfrm>
          <a:prstGeom prst="rect">
            <a:avLst/>
          </a:prstGeom>
        </p:spPr>
      </p:pic>
      <p:pic>
        <p:nvPicPr>
          <p:cNvPr id="115" name="Picture 114" descr="lock.png"/>
          <p:cNvPicPr>
            <a:picLocks noChangeAspect="1"/>
          </p:cNvPicPr>
          <p:nvPr/>
        </p:nvPicPr>
        <p:blipFill>
          <a:blip r:embed="rId4"/>
          <a:stretch>
            <a:fillRect/>
          </a:stretch>
        </p:blipFill>
        <p:spPr>
          <a:xfrm>
            <a:off x="7019075" y="2224646"/>
            <a:ext cx="128699" cy="187198"/>
          </a:xfrm>
          <a:prstGeom prst="rect">
            <a:avLst/>
          </a:prstGeom>
        </p:spPr>
      </p:pic>
      <p:pic>
        <p:nvPicPr>
          <p:cNvPr id="116" name="Picture 115" descr="lock.png"/>
          <p:cNvPicPr>
            <a:picLocks noChangeAspect="1"/>
          </p:cNvPicPr>
          <p:nvPr/>
        </p:nvPicPr>
        <p:blipFill>
          <a:blip r:embed="rId4"/>
          <a:stretch>
            <a:fillRect/>
          </a:stretch>
        </p:blipFill>
        <p:spPr>
          <a:xfrm>
            <a:off x="1142150" y="4253659"/>
            <a:ext cx="128699" cy="187198"/>
          </a:xfrm>
          <a:prstGeom prst="rect">
            <a:avLst/>
          </a:prstGeom>
        </p:spPr>
      </p:pic>
      <p:pic>
        <p:nvPicPr>
          <p:cNvPr id="117" name="Picture 116" descr="lock.png"/>
          <p:cNvPicPr>
            <a:picLocks noChangeAspect="1"/>
          </p:cNvPicPr>
          <p:nvPr/>
        </p:nvPicPr>
        <p:blipFill>
          <a:blip r:embed="rId4"/>
          <a:stretch>
            <a:fillRect/>
          </a:stretch>
        </p:blipFill>
        <p:spPr>
          <a:xfrm>
            <a:off x="2316900" y="5183559"/>
            <a:ext cx="128699" cy="187198"/>
          </a:xfrm>
          <a:prstGeom prst="rect">
            <a:avLst/>
          </a:prstGeom>
        </p:spPr>
      </p:pic>
      <p:pic>
        <p:nvPicPr>
          <p:cNvPr id="118" name="Picture 117" descr="lock.png"/>
          <p:cNvPicPr>
            <a:picLocks noChangeAspect="1"/>
          </p:cNvPicPr>
          <p:nvPr/>
        </p:nvPicPr>
        <p:blipFill>
          <a:blip r:embed="rId4"/>
          <a:stretch>
            <a:fillRect/>
          </a:stretch>
        </p:blipFill>
        <p:spPr>
          <a:xfrm>
            <a:off x="3491650" y="4532802"/>
            <a:ext cx="128699" cy="187198"/>
          </a:xfrm>
          <a:prstGeom prst="rect">
            <a:avLst/>
          </a:prstGeom>
        </p:spPr>
      </p:pic>
      <p:pic>
        <p:nvPicPr>
          <p:cNvPr id="119" name="Picture 118" descr="lock.png"/>
          <p:cNvPicPr>
            <a:picLocks noChangeAspect="1"/>
          </p:cNvPicPr>
          <p:nvPr/>
        </p:nvPicPr>
        <p:blipFill>
          <a:blip r:embed="rId4"/>
          <a:stretch>
            <a:fillRect/>
          </a:stretch>
        </p:blipFill>
        <p:spPr>
          <a:xfrm>
            <a:off x="4666400" y="5640311"/>
            <a:ext cx="128699" cy="187198"/>
          </a:xfrm>
          <a:prstGeom prst="rect">
            <a:avLst/>
          </a:prstGeom>
        </p:spPr>
      </p:pic>
      <p:pic>
        <p:nvPicPr>
          <p:cNvPr id="120" name="Picture 119" descr="lock.png"/>
          <p:cNvPicPr>
            <a:picLocks noChangeAspect="1"/>
          </p:cNvPicPr>
          <p:nvPr/>
        </p:nvPicPr>
        <p:blipFill>
          <a:blip r:embed="rId4"/>
          <a:stretch>
            <a:fillRect/>
          </a:stretch>
        </p:blipFill>
        <p:spPr>
          <a:xfrm>
            <a:off x="5841150" y="5792412"/>
            <a:ext cx="128699" cy="187198"/>
          </a:xfrm>
          <a:prstGeom prst="rect">
            <a:avLst/>
          </a:prstGeom>
        </p:spPr>
      </p:pic>
      <p:pic>
        <p:nvPicPr>
          <p:cNvPr id="121" name="Picture 120" descr="lock.png"/>
          <p:cNvPicPr>
            <a:picLocks noChangeAspect="1"/>
          </p:cNvPicPr>
          <p:nvPr/>
        </p:nvPicPr>
        <p:blipFill>
          <a:blip r:embed="rId4"/>
          <a:stretch>
            <a:fillRect/>
          </a:stretch>
        </p:blipFill>
        <p:spPr>
          <a:xfrm>
            <a:off x="7015900" y="5266300"/>
            <a:ext cx="128699" cy="187198"/>
          </a:xfrm>
          <a:prstGeom prst="rect">
            <a:avLst/>
          </a:prstGeom>
        </p:spPr>
      </p:pic>
      <p:sp>
        <p:nvSpPr>
          <p:cNvPr id="122" name="TextBox 121"/>
          <p:cNvSpPr txBox="1"/>
          <p:nvPr/>
        </p:nvSpPr>
        <p:spPr>
          <a:xfrm>
            <a:off x="8048625" y="1471995"/>
            <a:ext cx="3431071" cy="194310"/>
          </a:xfrm>
          <a:prstGeom prst="rect">
            <a:avLst/>
          </a:prstGeom>
          <a:noFill/>
        </p:spPr>
        <p:txBody>
          <a:bodyPr wrap="none" lIns="0" rIns="0" tIns="0" bIns="0">
            <a:spAutoFit/>
          </a:bodyPr>
          <a:lstStyle/>
          <a:p>
            <a:r>
              <a:rPr sz="1150" b="0">
                <a:solidFill>
                  <a:srgbClr val="2E2E2E"/>
                </a:solidFill>
                <a:latin typeface="Calibri"/>
              </a:rPr>
              <a:t>Snow crab segment is expected to command the highest</a:t>
            </a:r>
          </a:p>
        </p:txBody>
      </p:sp>
      <p:sp>
        <p:nvSpPr>
          <p:cNvPr id="123" name="TextBox 122"/>
          <p:cNvSpPr txBox="1"/>
          <p:nvPr/>
        </p:nvSpPr>
        <p:spPr>
          <a:xfrm>
            <a:off x="8048625" y="1647255"/>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124" name="Picture 123" descr="lock.png"/>
          <p:cNvPicPr>
            <a:picLocks noChangeAspect="1"/>
          </p:cNvPicPr>
          <p:nvPr/>
        </p:nvPicPr>
        <p:blipFill>
          <a:blip r:embed="rId4"/>
          <a:stretch>
            <a:fillRect/>
          </a:stretch>
        </p:blipFill>
        <p:spPr>
          <a:xfrm>
            <a:off x="9296862" y="1637031"/>
            <a:ext cx="134549" cy="195707"/>
          </a:xfrm>
          <a:prstGeom prst="rect">
            <a:avLst/>
          </a:prstGeom>
        </p:spPr>
      </p:pic>
      <p:sp>
        <p:nvSpPr>
          <p:cNvPr id="125" name="TextBox 124"/>
          <p:cNvSpPr txBox="1"/>
          <p:nvPr/>
        </p:nvSpPr>
        <p:spPr>
          <a:xfrm>
            <a:off x="9471971" y="1647255"/>
            <a:ext cx="2273185" cy="194310"/>
          </a:xfrm>
          <a:prstGeom prst="rect">
            <a:avLst/>
          </a:prstGeom>
          <a:noFill/>
        </p:spPr>
        <p:txBody>
          <a:bodyPr wrap="none" lIns="0" rIns="0" tIns="0" bIns="0">
            <a:spAutoFit/>
          </a:bodyPr>
          <a:lstStyle/>
          <a:p>
            <a:r>
              <a:rPr sz="1150" b="0">
                <a:solidFill>
                  <a:srgbClr val="2E2E2E"/>
                </a:solidFill>
                <a:latin typeface="Calibri"/>
              </a:rPr>
              <a:t>per MT in 2036. Average selling price</a:t>
            </a:r>
          </a:p>
        </p:txBody>
      </p:sp>
      <p:sp>
        <p:nvSpPr>
          <p:cNvPr id="126" name="TextBox 125"/>
          <p:cNvSpPr txBox="1"/>
          <p:nvPr/>
        </p:nvSpPr>
        <p:spPr>
          <a:xfrm>
            <a:off x="8048625" y="1822515"/>
            <a:ext cx="2006513" cy="194310"/>
          </a:xfrm>
          <a:prstGeom prst="rect">
            <a:avLst/>
          </a:prstGeom>
          <a:noFill/>
        </p:spPr>
        <p:txBody>
          <a:bodyPr wrap="none" lIns="0" rIns="0" tIns="0" bIns="0">
            <a:spAutoFit/>
          </a:bodyPr>
          <a:lstStyle/>
          <a:p>
            <a:r>
              <a:rPr sz="1150" b="0">
                <a:solidFill>
                  <a:srgbClr val="2E2E2E"/>
                </a:solidFill>
                <a:latin typeface="Calibri"/>
              </a:rPr>
              <a:t>of crab meat is estimated at US$</a:t>
            </a:r>
          </a:p>
        </p:txBody>
      </p:sp>
      <p:pic>
        <p:nvPicPr>
          <p:cNvPr id="127" name="Picture 126" descr="lock.png"/>
          <p:cNvPicPr>
            <a:picLocks noChangeAspect="1"/>
          </p:cNvPicPr>
          <p:nvPr/>
        </p:nvPicPr>
        <p:blipFill>
          <a:blip r:embed="rId4"/>
          <a:stretch>
            <a:fillRect/>
          </a:stretch>
        </p:blipFill>
        <p:spPr>
          <a:xfrm>
            <a:off x="10004292" y="1812291"/>
            <a:ext cx="134549" cy="195707"/>
          </a:xfrm>
          <a:prstGeom prst="rect">
            <a:avLst/>
          </a:prstGeom>
        </p:spPr>
      </p:pic>
      <p:sp>
        <p:nvSpPr>
          <p:cNvPr id="128" name="TextBox 127"/>
          <p:cNvSpPr txBox="1"/>
          <p:nvPr/>
        </p:nvSpPr>
        <p:spPr>
          <a:xfrm>
            <a:off x="10179401" y="1822515"/>
            <a:ext cx="1359557" cy="194310"/>
          </a:xfrm>
          <a:prstGeom prst="rect">
            <a:avLst/>
          </a:prstGeom>
          <a:noFill/>
        </p:spPr>
        <p:txBody>
          <a:bodyPr wrap="none" lIns="0" rIns="0" tIns="0" bIns="0">
            <a:spAutoFit/>
          </a:bodyPr>
          <a:lstStyle/>
          <a:p>
            <a:r>
              <a:rPr sz="1150" b="0">
                <a:solidFill>
                  <a:srgbClr val="2E2E2E"/>
                </a:solidFill>
                <a:latin typeface="Calibri"/>
              </a:rPr>
              <a:t>per MT in 2025 and is</a:t>
            </a:r>
          </a:p>
        </p:txBody>
      </p:sp>
      <p:sp>
        <p:nvSpPr>
          <p:cNvPr id="129" name="TextBox 128"/>
          <p:cNvSpPr txBox="1"/>
          <p:nvPr/>
        </p:nvSpPr>
        <p:spPr>
          <a:xfrm>
            <a:off x="8048625" y="1997775"/>
            <a:ext cx="1764617" cy="194310"/>
          </a:xfrm>
          <a:prstGeom prst="rect">
            <a:avLst/>
          </a:prstGeom>
          <a:noFill/>
        </p:spPr>
        <p:txBody>
          <a:bodyPr wrap="none" lIns="0" rIns="0" tIns="0" bIns="0">
            <a:spAutoFit/>
          </a:bodyPr>
          <a:lstStyle/>
          <a:p>
            <a:r>
              <a:rPr sz="1150" b="0">
                <a:solidFill>
                  <a:srgbClr val="2E2E2E"/>
                </a:solidFill>
                <a:latin typeface="Calibri"/>
              </a:rPr>
              <a:t>projected to increase to US$</a:t>
            </a:r>
          </a:p>
        </p:txBody>
      </p:sp>
      <p:pic>
        <p:nvPicPr>
          <p:cNvPr id="130" name="Picture 129" descr="lock.png"/>
          <p:cNvPicPr>
            <a:picLocks noChangeAspect="1"/>
          </p:cNvPicPr>
          <p:nvPr/>
        </p:nvPicPr>
        <p:blipFill>
          <a:blip r:embed="rId4"/>
          <a:stretch>
            <a:fillRect/>
          </a:stretch>
        </p:blipFill>
        <p:spPr>
          <a:xfrm>
            <a:off x="9762396" y="1987551"/>
            <a:ext cx="134549" cy="195707"/>
          </a:xfrm>
          <a:prstGeom prst="rect">
            <a:avLst/>
          </a:prstGeom>
        </p:spPr>
      </p:pic>
      <p:sp>
        <p:nvSpPr>
          <p:cNvPr id="131" name="TextBox 130"/>
          <p:cNvSpPr txBox="1"/>
          <p:nvPr/>
        </p:nvSpPr>
        <p:spPr>
          <a:xfrm>
            <a:off x="9937506" y="199777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132" name="TextBox 131"/>
          <p:cNvSpPr txBox="1"/>
          <p:nvPr/>
        </p:nvSpPr>
        <p:spPr>
          <a:xfrm>
            <a:off x="8048625" y="222561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33" name="TextBox 132"/>
          <p:cNvSpPr txBox="1"/>
          <p:nvPr/>
        </p:nvSpPr>
        <p:spPr>
          <a:xfrm>
            <a:off x="8048625" y="240087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34" name="TextBox 133"/>
          <p:cNvSpPr txBox="1"/>
          <p:nvPr/>
        </p:nvSpPr>
        <p:spPr>
          <a:xfrm>
            <a:off x="8048625" y="257613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35" name="Picture 134" descr="lock.png"/>
          <p:cNvPicPr>
            <a:picLocks noChangeAspect="1"/>
          </p:cNvPicPr>
          <p:nvPr/>
        </p:nvPicPr>
        <p:blipFill>
          <a:blip r:embed="rId4"/>
          <a:stretch>
            <a:fillRect/>
          </a:stretch>
        </p:blipFill>
        <p:spPr>
          <a:xfrm>
            <a:off x="8524680" y="2565909"/>
            <a:ext cx="134549" cy="195707"/>
          </a:xfrm>
          <a:prstGeom prst="rect">
            <a:avLst/>
          </a:prstGeom>
        </p:spPr>
      </p:pic>
      <p:sp>
        <p:nvSpPr>
          <p:cNvPr id="136" name="TextBox 135"/>
          <p:cNvSpPr txBox="1"/>
          <p:nvPr/>
        </p:nvSpPr>
        <p:spPr>
          <a:xfrm>
            <a:off x="8699789" y="2576133"/>
            <a:ext cx="2962399" cy="194310"/>
          </a:xfrm>
          <a:prstGeom prst="rect">
            <a:avLst/>
          </a:prstGeom>
          <a:noFill/>
        </p:spPr>
        <p:txBody>
          <a:bodyPr wrap="none" lIns="0" rIns="0" tIns="0" bIns="0">
            <a:spAutoFit/>
          </a:bodyPr>
          <a:lstStyle/>
          <a:p>
            <a:r>
              <a:rPr sz="1150" b="0">
                <a:solidFill>
                  <a:srgbClr val="2E2E2E"/>
                </a:solidFill>
                <a:latin typeface="Calibri"/>
              </a:rPr>
              <a:t>US$/MT, 2 of 6 regions price above and 4 below.</a:t>
            </a:r>
          </a:p>
        </p:txBody>
      </p:sp>
      <p:sp>
        <p:nvSpPr>
          <p:cNvPr id="137" name="TextBox 136"/>
          <p:cNvSpPr txBox="1"/>
          <p:nvPr/>
        </p:nvSpPr>
        <p:spPr>
          <a:xfrm>
            <a:off x="8048625" y="2803971"/>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38" name="Picture 137" descr="lock.png"/>
          <p:cNvPicPr>
            <a:picLocks noChangeAspect="1"/>
          </p:cNvPicPr>
          <p:nvPr/>
        </p:nvPicPr>
        <p:blipFill>
          <a:blip r:embed="rId4"/>
          <a:stretch>
            <a:fillRect/>
          </a:stretch>
        </p:blipFill>
        <p:spPr>
          <a:xfrm>
            <a:off x="10105842" y="2793747"/>
            <a:ext cx="134549" cy="195707"/>
          </a:xfrm>
          <a:prstGeom prst="rect">
            <a:avLst/>
          </a:prstGeom>
        </p:spPr>
      </p:pic>
      <p:sp>
        <p:nvSpPr>
          <p:cNvPr id="139" name="TextBox 138"/>
          <p:cNvSpPr txBox="1"/>
          <p:nvPr/>
        </p:nvSpPr>
        <p:spPr>
          <a:xfrm>
            <a:off x="10280951" y="2803971"/>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40" name="TextBox 139"/>
          <p:cNvSpPr txBox="1"/>
          <p:nvPr/>
        </p:nvSpPr>
        <p:spPr>
          <a:xfrm>
            <a:off x="8048625" y="297923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41" name="Picture 140" descr="lock.png"/>
          <p:cNvPicPr>
            <a:picLocks noChangeAspect="1"/>
          </p:cNvPicPr>
          <p:nvPr/>
        </p:nvPicPr>
        <p:blipFill>
          <a:blip r:embed="rId4"/>
          <a:stretch>
            <a:fillRect/>
          </a:stretch>
        </p:blipFill>
        <p:spPr>
          <a:xfrm>
            <a:off x="9651433" y="2969007"/>
            <a:ext cx="134549" cy="195707"/>
          </a:xfrm>
          <a:prstGeom prst="rect">
            <a:avLst/>
          </a:prstGeom>
        </p:spPr>
      </p:pic>
      <p:sp>
        <p:nvSpPr>
          <p:cNvPr id="142" name="TextBox 141"/>
          <p:cNvSpPr txBox="1"/>
          <p:nvPr/>
        </p:nvSpPr>
        <p:spPr>
          <a:xfrm>
            <a:off x="9826542" y="297923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43" name="TextBox 142"/>
          <p:cNvSpPr txBox="1"/>
          <p:nvPr/>
        </p:nvSpPr>
        <p:spPr>
          <a:xfrm>
            <a:off x="8048625" y="315449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14,500</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23,200</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4.8%</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3991062" y="5157531"/>
            <a:ext cx="289830" cy="421571"/>
          </a:xfrm>
          <a:prstGeom prst="rect">
            <a:avLst/>
          </a:prstGeom>
        </p:spPr>
      </p:pic>
      <p:sp>
        <p:nvSpPr>
          <p:cNvPr id="31" name="TextBox 30"/>
          <p:cNvSpPr txBox="1"/>
          <p:nvPr/>
        </p:nvSpPr>
        <p:spPr>
          <a:xfrm>
            <a:off x="8048625" y="2046987"/>
            <a:ext cx="2530524" cy="194310"/>
          </a:xfrm>
          <a:prstGeom prst="rect">
            <a:avLst/>
          </a:prstGeom>
          <a:noFill/>
        </p:spPr>
        <p:txBody>
          <a:bodyPr wrap="none" lIns="0" rIns="0" tIns="0" bIns="0">
            <a:spAutoFit/>
          </a:bodyPr>
          <a:lstStyle/>
          <a:p>
            <a:r>
              <a:rPr sz="1150" b="0">
                <a:solidFill>
                  <a:srgbClr val="2E2E2E"/>
                </a:solidFill>
                <a:latin typeface="Calibri"/>
              </a:rPr>
              <a:t>Crab meat market is projected to register</a:t>
            </a:r>
          </a:p>
        </p:txBody>
      </p:sp>
      <p:pic>
        <p:nvPicPr>
          <p:cNvPr id="32" name="Picture 31" descr="lock.png"/>
          <p:cNvPicPr>
            <a:picLocks noChangeAspect="1"/>
          </p:cNvPicPr>
          <p:nvPr/>
        </p:nvPicPr>
        <p:blipFill>
          <a:blip r:embed="rId6"/>
          <a:stretch>
            <a:fillRect/>
          </a:stretch>
        </p:blipFill>
        <p:spPr>
          <a:xfrm>
            <a:off x="10528303" y="2036763"/>
            <a:ext cx="134549" cy="195707"/>
          </a:xfrm>
          <a:prstGeom prst="rect">
            <a:avLst/>
          </a:prstGeom>
        </p:spPr>
      </p:pic>
      <p:sp>
        <p:nvSpPr>
          <p:cNvPr id="33" name="TextBox 32"/>
          <p:cNvSpPr txBox="1"/>
          <p:nvPr/>
        </p:nvSpPr>
        <p:spPr>
          <a:xfrm>
            <a:off x="10703412" y="2046987"/>
            <a:ext cx="997284" cy="194310"/>
          </a:xfrm>
          <a:prstGeom prst="rect">
            <a:avLst/>
          </a:prstGeom>
          <a:noFill/>
        </p:spPr>
        <p:txBody>
          <a:bodyPr wrap="none" lIns="0" rIns="0" tIns="0" bIns="0">
            <a:spAutoFit/>
          </a:bodyPr>
          <a:lstStyle/>
          <a:p>
            <a:r>
              <a:rPr sz="1150" b="0">
                <a:solidFill>
                  <a:srgbClr val="2E2E2E"/>
                </a:solidFill>
                <a:latin typeface="Calibri"/>
              </a:rPr>
              <a:t>X increase in its</a:t>
            </a:r>
          </a:p>
        </p:txBody>
      </p:sp>
      <p:sp>
        <p:nvSpPr>
          <p:cNvPr id="34" name="TextBox 33"/>
          <p:cNvSpPr txBox="1"/>
          <p:nvPr/>
        </p:nvSpPr>
        <p:spPr>
          <a:xfrm>
            <a:off x="8048625" y="2222247"/>
            <a:ext cx="3777084" cy="194310"/>
          </a:xfrm>
          <a:prstGeom prst="rect">
            <a:avLst/>
          </a:prstGeom>
          <a:noFill/>
        </p:spPr>
        <p:txBody>
          <a:bodyPr wrap="none" lIns="0" rIns="0" tIns="0" bIns="0">
            <a:spAutoFit/>
          </a:bodyPr>
          <a:lstStyle/>
          <a:p>
            <a:r>
              <a:rPr sz="1150" b="0">
                <a:solidFill>
                  <a:srgbClr val="2E2E2E"/>
                </a:solidFill>
                <a:latin typeface="Calibri"/>
              </a:rPr>
              <a:t>revenue by the end of forecast period, 2036. Global crab meat</a:t>
            </a:r>
          </a:p>
        </p:txBody>
      </p:sp>
      <p:sp>
        <p:nvSpPr>
          <p:cNvPr id="35" name="TextBox 34"/>
          <p:cNvSpPr txBox="1"/>
          <p:nvPr/>
        </p:nvSpPr>
        <p:spPr>
          <a:xfrm>
            <a:off x="8048625" y="2397507"/>
            <a:ext cx="3848100" cy="194310"/>
          </a:xfrm>
          <a:prstGeom prst="rect">
            <a:avLst/>
          </a:prstGeom>
          <a:noFill/>
        </p:spPr>
        <p:txBody>
          <a:bodyPr wrap="none" lIns="0" rIns="0" tIns="0" bIns="0">
            <a:spAutoFit/>
          </a:bodyPr>
          <a:lstStyle/>
          <a:p>
            <a:r>
              <a:rPr sz="1150" b="0">
                <a:solidFill>
                  <a:srgbClr val="2E2E2E"/>
                </a:solidFill>
                <a:latin typeface="Calibri"/>
              </a:rPr>
              <a:t>market is expected to be valued at US$ 23,200 Mn by 2036 end.</a:t>
            </a:r>
          </a:p>
        </p:txBody>
      </p:sp>
      <p:sp>
        <p:nvSpPr>
          <p:cNvPr id="36" name="TextBox 35"/>
          <p:cNvSpPr txBox="1"/>
          <p:nvPr/>
        </p:nvSpPr>
        <p:spPr>
          <a:xfrm>
            <a:off x="8048625" y="2625345"/>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7" name="Picture 36" descr="lock.png"/>
          <p:cNvPicPr>
            <a:picLocks noChangeAspect="1"/>
          </p:cNvPicPr>
          <p:nvPr/>
        </p:nvPicPr>
        <p:blipFill>
          <a:blip r:embed="rId6"/>
          <a:stretch>
            <a:fillRect/>
          </a:stretch>
        </p:blipFill>
        <p:spPr>
          <a:xfrm>
            <a:off x="8034545" y="2790381"/>
            <a:ext cx="134549" cy="195707"/>
          </a:xfrm>
          <a:prstGeom prst="rect">
            <a:avLst/>
          </a:prstGeom>
        </p:spPr>
      </p:pic>
      <p:sp>
        <p:nvSpPr>
          <p:cNvPr id="38" name="TextBox 37"/>
          <p:cNvSpPr txBox="1"/>
          <p:nvPr/>
        </p:nvSpPr>
        <p:spPr>
          <a:xfrm>
            <a:off x="8209654" y="280060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39" name="TextBox 38"/>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0" name="Picture 39" descr="lock.png"/>
          <p:cNvPicPr>
            <a:picLocks noChangeAspect="1"/>
          </p:cNvPicPr>
          <p:nvPr/>
        </p:nvPicPr>
        <p:blipFill>
          <a:blip r:embed="rId6"/>
          <a:stretch>
            <a:fillRect/>
          </a:stretch>
        </p:blipFill>
        <p:spPr>
          <a:xfrm>
            <a:off x="10866614" y="4446251"/>
            <a:ext cx="134549" cy="195707"/>
          </a:xfrm>
          <a:prstGeom prst="rect">
            <a:avLst/>
          </a:prstGeom>
        </p:spPr>
      </p:pic>
      <p:sp>
        <p:nvSpPr>
          <p:cNvPr id="41" name="TextBox 40"/>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2" name="TextBox 41"/>
          <p:cNvSpPr txBox="1"/>
          <p:nvPr/>
        </p:nvSpPr>
        <p:spPr>
          <a:xfrm>
            <a:off x="8048625" y="4684312"/>
            <a:ext cx="3528342" cy="194310"/>
          </a:xfrm>
          <a:prstGeom prst="rect">
            <a:avLst/>
          </a:prstGeom>
          <a:noFill/>
        </p:spPr>
        <p:txBody>
          <a:bodyPr wrap="none" lIns="0" rIns="0" tIns="0" bIns="0">
            <a:spAutoFit/>
          </a:bodyPr>
          <a:lstStyle/>
          <a:p>
            <a:r>
              <a:rPr sz="1150" b="0">
                <a:solidFill>
                  <a:srgbClr val="2E2E2E"/>
                </a:solidFill>
                <a:latin typeface="Calibri"/>
              </a:rPr>
              <a:t>▪ Demand concentrates in 'Mud Crab' within Crab Species.</a:t>
            </a:r>
          </a:p>
        </p:txBody>
      </p:sp>
      <p:sp>
        <p:nvSpPr>
          <p:cNvPr id="43" name="TextBox 42"/>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4" name="TextBox 43"/>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4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4.8%</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69984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10351294" y="4022407"/>
            <a:ext cx="157162" cy="228600"/>
          </a:xfrm>
          <a:prstGeom prst="rect">
            <a:avLst/>
          </a:prstGeom>
        </p:spPr>
      </p:pic>
      <p:sp>
        <p:nvSpPr>
          <p:cNvPr id="30" name="TextBox 29"/>
          <p:cNvSpPr txBox="1"/>
          <p:nvPr/>
        </p:nvSpPr>
        <p:spPr>
          <a:xfrm>
            <a:off x="276225" y="4972050"/>
            <a:ext cx="2530524" cy="194310"/>
          </a:xfrm>
          <a:prstGeom prst="rect">
            <a:avLst/>
          </a:prstGeom>
          <a:noFill/>
        </p:spPr>
        <p:txBody>
          <a:bodyPr wrap="none" lIns="0" rIns="0" tIns="0" bIns="0">
            <a:spAutoFit/>
          </a:bodyPr>
          <a:lstStyle/>
          <a:p>
            <a:r>
              <a:rPr sz="1150" b="0">
                <a:solidFill>
                  <a:srgbClr val="2E2E2E"/>
                </a:solidFill>
                <a:latin typeface="Calibri"/>
              </a:rPr>
              <a:t>Crab meat market is projected to register</a:t>
            </a:r>
          </a:p>
        </p:txBody>
      </p:sp>
      <p:pic>
        <p:nvPicPr>
          <p:cNvPr id="31" name="Picture 30" descr="lock.png"/>
          <p:cNvPicPr>
            <a:picLocks noChangeAspect="1"/>
          </p:cNvPicPr>
          <p:nvPr/>
        </p:nvPicPr>
        <p:blipFill>
          <a:blip r:embed="rId6"/>
          <a:stretch>
            <a:fillRect/>
          </a:stretch>
        </p:blipFill>
        <p:spPr>
          <a:xfrm>
            <a:off x="2755903" y="4961826"/>
            <a:ext cx="134549" cy="195707"/>
          </a:xfrm>
          <a:prstGeom prst="rect">
            <a:avLst/>
          </a:prstGeom>
        </p:spPr>
      </p:pic>
      <p:sp>
        <p:nvSpPr>
          <p:cNvPr id="32" name="TextBox 31"/>
          <p:cNvSpPr txBox="1"/>
          <p:nvPr/>
        </p:nvSpPr>
        <p:spPr>
          <a:xfrm>
            <a:off x="2931012" y="4972050"/>
            <a:ext cx="8560792"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crab meat market is expected to be valued at US$ 23,200 Mn by 2036 end.</a:t>
            </a:r>
          </a:p>
        </p:txBody>
      </p:sp>
      <p:sp>
        <p:nvSpPr>
          <p:cNvPr id="33" name="TextBox 32"/>
          <p:cNvSpPr txBox="1"/>
          <p:nvPr/>
        </p:nvSpPr>
        <p:spPr>
          <a:xfrm>
            <a:off x="276225" y="5199888"/>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4" name="Picture 33" descr="lock.png"/>
          <p:cNvPicPr>
            <a:picLocks noChangeAspect="1"/>
          </p:cNvPicPr>
          <p:nvPr/>
        </p:nvPicPr>
        <p:blipFill>
          <a:blip r:embed="rId6"/>
          <a:stretch>
            <a:fillRect/>
          </a:stretch>
        </p:blipFill>
        <p:spPr>
          <a:xfrm>
            <a:off x="4037834" y="5189664"/>
            <a:ext cx="134549" cy="195707"/>
          </a:xfrm>
          <a:prstGeom prst="rect">
            <a:avLst/>
          </a:prstGeom>
        </p:spPr>
      </p:pic>
      <p:sp>
        <p:nvSpPr>
          <p:cNvPr id="35" name="TextBox 34"/>
          <p:cNvSpPr txBox="1"/>
          <p:nvPr/>
        </p:nvSpPr>
        <p:spPr>
          <a:xfrm>
            <a:off x="4212943" y="5199888"/>
            <a:ext cx="4343313" cy="194310"/>
          </a:xfrm>
          <a:prstGeom prst="rect">
            <a:avLst/>
          </a:prstGeom>
          <a:noFill/>
        </p:spPr>
        <p:txBody>
          <a:bodyPr wrap="none" lIns="0" rIns="0" tIns="0" bIns="0">
            <a:spAutoFit/>
          </a:bodyPr>
          <a:lstStyle/>
          <a:p>
            <a:r>
              <a:rPr sz="1150" b="0">
                <a:solidFill>
                  <a:srgbClr val="2E2E2E"/>
                </a:solidFill>
                <a:latin typeface="Calibri"/>
              </a:rPr>
              <a:t>Mn from 2025 to 2036. Global crab meat market is projected to register</a:t>
            </a:r>
          </a:p>
        </p:txBody>
      </p:sp>
      <p:pic>
        <p:nvPicPr>
          <p:cNvPr id="36" name="Picture 35" descr="lock.png"/>
          <p:cNvPicPr>
            <a:picLocks noChangeAspect="1"/>
          </p:cNvPicPr>
          <p:nvPr/>
        </p:nvPicPr>
        <p:blipFill>
          <a:blip r:embed="rId6"/>
          <a:stretch>
            <a:fillRect/>
          </a:stretch>
        </p:blipFill>
        <p:spPr>
          <a:xfrm>
            <a:off x="8505410" y="5189664"/>
            <a:ext cx="134549" cy="195707"/>
          </a:xfrm>
          <a:prstGeom prst="rect">
            <a:avLst/>
          </a:prstGeom>
        </p:spPr>
      </p:pic>
      <p:sp>
        <p:nvSpPr>
          <p:cNvPr id="37" name="TextBox 36"/>
          <p:cNvSpPr txBox="1"/>
          <p:nvPr/>
        </p:nvSpPr>
        <p:spPr>
          <a:xfrm>
            <a:off x="8680520" y="5199888"/>
            <a:ext cx="3095612"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a:t>
            </a:r>
          </a:p>
        </p:txBody>
      </p:sp>
      <p:sp>
        <p:nvSpPr>
          <p:cNvPr id="38" name="TextBox 37"/>
          <p:cNvSpPr txBox="1"/>
          <p:nvPr/>
        </p:nvSpPr>
        <p:spPr>
          <a:xfrm>
            <a:off x="276225" y="5375147"/>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39" name="TextBox 38"/>
          <p:cNvSpPr txBox="1"/>
          <p:nvPr/>
        </p:nvSpPr>
        <p:spPr>
          <a:xfrm>
            <a:off x="276225" y="5602985"/>
            <a:ext cx="2550207" cy="194310"/>
          </a:xfrm>
          <a:prstGeom prst="rect">
            <a:avLst/>
          </a:prstGeom>
          <a:noFill/>
        </p:spPr>
        <p:txBody>
          <a:bodyPr wrap="none" lIns="0" rIns="0" tIns="0" bIns="0">
            <a:spAutoFit/>
          </a:bodyPr>
          <a:lstStyle/>
          <a:p>
            <a:r>
              <a:rPr sz="1150" b="0">
                <a:solidFill>
                  <a:srgbClr val="2E2E2E"/>
                </a:solidFill>
                <a:latin typeface="Calibri"/>
              </a:rPr>
              <a:t>Global crab meat market volume stood at</a:t>
            </a:r>
          </a:p>
        </p:txBody>
      </p:sp>
      <p:pic>
        <p:nvPicPr>
          <p:cNvPr id="40" name="Picture 39" descr="lock.png"/>
          <p:cNvPicPr>
            <a:picLocks noChangeAspect="1"/>
          </p:cNvPicPr>
          <p:nvPr/>
        </p:nvPicPr>
        <p:blipFill>
          <a:blip r:embed="rId6"/>
          <a:stretch>
            <a:fillRect/>
          </a:stretch>
        </p:blipFill>
        <p:spPr>
          <a:xfrm>
            <a:off x="2775586" y="5592762"/>
            <a:ext cx="134549" cy="195707"/>
          </a:xfrm>
          <a:prstGeom prst="rect">
            <a:avLst/>
          </a:prstGeom>
        </p:spPr>
      </p:pic>
      <p:sp>
        <p:nvSpPr>
          <p:cNvPr id="41" name="TextBox 40"/>
          <p:cNvSpPr txBox="1"/>
          <p:nvPr/>
        </p:nvSpPr>
        <p:spPr>
          <a:xfrm>
            <a:off x="2950695" y="560298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42" name="Picture 41" descr="lock.png"/>
          <p:cNvPicPr>
            <a:picLocks noChangeAspect="1"/>
          </p:cNvPicPr>
          <p:nvPr/>
        </p:nvPicPr>
        <p:blipFill>
          <a:blip r:embed="rId6"/>
          <a:stretch>
            <a:fillRect/>
          </a:stretch>
        </p:blipFill>
        <p:spPr>
          <a:xfrm>
            <a:off x="5129431" y="5592762"/>
            <a:ext cx="134549" cy="195707"/>
          </a:xfrm>
          <a:prstGeom prst="rect">
            <a:avLst/>
          </a:prstGeom>
        </p:spPr>
      </p:pic>
      <p:sp>
        <p:nvSpPr>
          <p:cNvPr id="43" name="TextBox 42"/>
          <p:cNvSpPr txBox="1"/>
          <p:nvPr/>
        </p:nvSpPr>
        <p:spPr>
          <a:xfrm>
            <a:off x="5304540" y="560298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4" name="Picture 43" descr="lock.png"/>
          <p:cNvPicPr>
            <a:picLocks noChangeAspect="1"/>
          </p:cNvPicPr>
          <p:nvPr/>
        </p:nvPicPr>
        <p:blipFill>
          <a:blip r:embed="rId6"/>
          <a:stretch>
            <a:fillRect/>
          </a:stretch>
        </p:blipFill>
        <p:spPr>
          <a:xfrm>
            <a:off x="7104155" y="5592762"/>
            <a:ext cx="134549" cy="195707"/>
          </a:xfrm>
          <a:prstGeom prst="rect">
            <a:avLst/>
          </a:prstGeom>
        </p:spPr>
      </p:pic>
      <p:sp>
        <p:nvSpPr>
          <p:cNvPr id="45" name="TextBox 44"/>
          <p:cNvSpPr txBox="1"/>
          <p:nvPr/>
        </p:nvSpPr>
        <p:spPr>
          <a:xfrm>
            <a:off x="7279264" y="5602985"/>
            <a:ext cx="4369556"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 forecast period,</a:t>
            </a:r>
          </a:p>
        </p:txBody>
      </p:sp>
      <p:sp>
        <p:nvSpPr>
          <p:cNvPr id="46" name="TextBox 45"/>
          <p:cNvSpPr txBox="1"/>
          <p:nvPr/>
        </p:nvSpPr>
        <p:spPr>
          <a:xfrm>
            <a:off x="276225" y="5778245"/>
            <a:ext cx="2727349" cy="194310"/>
          </a:xfrm>
          <a:prstGeom prst="rect">
            <a:avLst/>
          </a:prstGeom>
          <a:noFill/>
        </p:spPr>
        <p:txBody>
          <a:bodyPr wrap="none" lIns="0" rIns="0" tIns="0" bIns="0">
            <a:spAutoFit/>
          </a:bodyPr>
          <a:lstStyle/>
          <a:p>
            <a:r>
              <a:rPr sz="1150" b="0">
                <a:solidFill>
                  <a:srgbClr val="2E2E2E"/>
                </a:solidFill>
                <a:latin typeface="Calibri"/>
              </a:rPr>
              <a:t>owing to an increase in average selling price.</a:t>
            </a:r>
          </a:p>
        </p:txBody>
      </p:sp>
      <p:sp>
        <p:nvSpPr>
          <p:cNvPr id="47"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26891"/>
                <a:gridCol w="965533"/>
                <a:gridCol w="658971"/>
                <a:gridCol w="12633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Saudi Arabia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1" cy="198167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1" y="1293011"/>
            <a:ext cx="1369294" cy="198167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74690"/>
            <a:ext cx="1544155" cy="1471924"/>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46614"/>
            <a:ext cx="1544155" cy="1131995"/>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54205" y="3274690"/>
            <a:ext cx="1130944" cy="117760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885149" y="3274690"/>
            <a:ext cx="1068226" cy="117760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54205" y="4452294"/>
            <a:ext cx="1192219" cy="795848"/>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54205" y="5248143"/>
            <a:ext cx="1192219" cy="630467"/>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46424" y="4452294"/>
            <a:ext cx="1006951" cy="73345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46424" y="5185752"/>
            <a:ext cx="1006951" cy="692857"/>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54153" y="4513519"/>
            <a:ext cx="332122" cy="483086"/>
          </a:xfrm>
          <a:prstGeom prst="rect">
            <a:avLst/>
          </a:prstGeom>
        </p:spPr>
      </p:pic>
      <p:pic>
        <p:nvPicPr>
          <p:cNvPr id="38" name="Picture 37" descr="lock.png"/>
          <p:cNvPicPr>
            <a:picLocks noChangeAspect="1"/>
          </p:cNvPicPr>
          <p:nvPr/>
        </p:nvPicPr>
        <p:blipFill>
          <a:blip r:embed="rId6"/>
          <a:stretch>
            <a:fillRect/>
          </a:stretch>
        </p:blipFill>
        <p:spPr>
          <a:xfrm>
            <a:off x="5339439" y="2283850"/>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83850"/>
            <a:ext cx="115252" cy="167639"/>
          </a:xfrm>
          <a:prstGeom prst="rect">
            <a:avLst/>
          </a:prstGeom>
        </p:spPr>
      </p:pic>
      <p:pic>
        <p:nvPicPr>
          <p:cNvPr id="40" name="Picture 39" descr="lock.png"/>
          <p:cNvPicPr>
            <a:picLocks noChangeAspect="1"/>
          </p:cNvPicPr>
          <p:nvPr/>
        </p:nvPicPr>
        <p:blipFill>
          <a:blip r:embed="rId6"/>
          <a:stretch>
            <a:fillRect/>
          </a:stretch>
        </p:blipFill>
        <p:spPr>
          <a:xfrm>
            <a:off x="4924501" y="4010652"/>
            <a:ext cx="115252" cy="167639"/>
          </a:xfrm>
          <a:prstGeom prst="rect">
            <a:avLst/>
          </a:prstGeom>
        </p:spPr>
      </p:pic>
      <p:pic>
        <p:nvPicPr>
          <p:cNvPr id="41" name="Picture 40" descr="lock.png"/>
          <p:cNvPicPr>
            <a:picLocks noChangeAspect="1"/>
          </p:cNvPicPr>
          <p:nvPr/>
        </p:nvPicPr>
        <p:blipFill>
          <a:blip r:embed="rId6"/>
          <a:stretch>
            <a:fillRect/>
          </a:stretch>
        </p:blipFill>
        <p:spPr>
          <a:xfrm>
            <a:off x="4924501" y="5312611"/>
            <a:ext cx="115252" cy="167639"/>
          </a:xfrm>
          <a:prstGeom prst="rect">
            <a:avLst/>
          </a:prstGeom>
        </p:spPr>
      </p:pic>
      <p:pic>
        <p:nvPicPr>
          <p:cNvPr id="42" name="Picture 41" descr="lock.png"/>
          <p:cNvPicPr>
            <a:picLocks noChangeAspect="1"/>
          </p:cNvPicPr>
          <p:nvPr/>
        </p:nvPicPr>
        <p:blipFill>
          <a:blip r:embed="rId6"/>
          <a:stretch>
            <a:fillRect/>
          </a:stretch>
        </p:blipFill>
        <p:spPr>
          <a:xfrm>
            <a:off x="6262051" y="3863491"/>
            <a:ext cx="115252" cy="167639"/>
          </a:xfrm>
          <a:prstGeom prst="rect">
            <a:avLst/>
          </a:prstGeom>
        </p:spPr>
      </p:pic>
      <p:pic>
        <p:nvPicPr>
          <p:cNvPr id="43" name="Picture 42" descr="lock.png"/>
          <p:cNvPicPr>
            <a:picLocks noChangeAspect="1"/>
          </p:cNvPicPr>
          <p:nvPr/>
        </p:nvPicPr>
        <p:blipFill>
          <a:blip r:embed="rId6"/>
          <a:stretch>
            <a:fillRect/>
          </a:stretch>
        </p:blipFill>
        <p:spPr>
          <a:xfrm>
            <a:off x="7361636" y="3863491"/>
            <a:ext cx="115252" cy="167639"/>
          </a:xfrm>
          <a:prstGeom prst="rect">
            <a:avLst/>
          </a:prstGeom>
        </p:spPr>
      </p:pic>
      <p:pic>
        <p:nvPicPr>
          <p:cNvPr id="44" name="Picture 43" descr="lock.png"/>
          <p:cNvPicPr>
            <a:picLocks noChangeAspect="1"/>
          </p:cNvPicPr>
          <p:nvPr/>
        </p:nvPicPr>
        <p:blipFill>
          <a:blip r:embed="rId6"/>
          <a:stretch>
            <a:fillRect/>
          </a:stretch>
        </p:blipFill>
        <p:spPr>
          <a:xfrm>
            <a:off x="6292688" y="4850217"/>
            <a:ext cx="115252" cy="167639"/>
          </a:xfrm>
          <a:prstGeom prst="rect">
            <a:avLst/>
          </a:prstGeom>
        </p:spPr>
      </p:pic>
      <p:pic>
        <p:nvPicPr>
          <p:cNvPr id="45" name="Picture 44" descr="lock.png"/>
          <p:cNvPicPr>
            <a:picLocks noChangeAspect="1"/>
          </p:cNvPicPr>
          <p:nvPr/>
        </p:nvPicPr>
        <p:blipFill>
          <a:blip r:embed="rId6"/>
          <a:stretch>
            <a:fillRect/>
          </a:stretch>
        </p:blipFill>
        <p:spPr>
          <a:xfrm>
            <a:off x="6292688" y="5563376"/>
            <a:ext cx="115252" cy="167639"/>
          </a:xfrm>
          <a:prstGeom prst="rect">
            <a:avLst/>
          </a:prstGeom>
        </p:spPr>
      </p:pic>
      <p:pic>
        <p:nvPicPr>
          <p:cNvPr id="46" name="Picture 45" descr="lock.png"/>
          <p:cNvPicPr>
            <a:picLocks noChangeAspect="1"/>
          </p:cNvPicPr>
          <p:nvPr/>
        </p:nvPicPr>
        <p:blipFill>
          <a:blip r:embed="rId6"/>
          <a:stretch>
            <a:fillRect/>
          </a:stretch>
        </p:blipFill>
        <p:spPr>
          <a:xfrm>
            <a:off x="7392273" y="4819023"/>
            <a:ext cx="115252" cy="167639"/>
          </a:xfrm>
          <a:prstGeom prst="rect">
            <a:avLst/>
          </a:prstGeom>
        </p:spPr>
      </p:pic>
      <p:pic>
        <p:nvPicPr>
          <p:cNvPr id="47" name="Picture 46" descr="lock.png"/>
          <p:cNvPicPr>
            <a:picLocks noChangeAspect="1"/>
          </p:cNvPicPr>
          <p:nvPr/>
        </p:nvPicPr>
        <p:blipFill>
          <a:blip r:embed="rId6"/>
          <a:stretch>
            <a:fillRect/>
          </a:stretch>
        </p:blipFill>
        <p:spPr>
          <a:xfrm>
            <a:off x="7392273" y="5532180"/>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2907307" cy="186689"/>
          </a:xfrm>
          <a:prstGeom prst="rect">
            <a:avLst/>
          </a:prstGeom>
          <a:noFill/>
        </p:spPr>
        <p:txBody>
          <a:bodyPr wrap="none" lIns="0" rIns="0" tIns="0" bIns="0">
            <a:spAutoFit/>
          </a:bodyPr>
          <a:lstStyle/>
          <a:p>
            <a:r>
              <a:rPr sz="1100" b="0">
                <a:solidFill>
                  <a:srgbClr val="2E2E2E"/>
                </a:solidFill>
                <a:latin typeface="Calibri"/>
              </a:rPr>
              <a:t>The U.S. crab meat market is projected to register</a:t>
            </a:r>
          </a:p>
        </p:txBody>
      </p:sp>
      <p:pic>
        <p:nvPicPr>
          <p:cNvPr id="51" name="Picture 50" descr="lock.png"/>
          <p:cNvPicPr>
            <a:picLocks noChangeAspect="1"/>
          </p:cNvPicPr>
          <p:nvPr/>
        </p:nvPicPr>
        <p:blipFill>
          <a:blip r:embed="rId6"/>
          <a:stretch>
            <a:fillRect/>
          </a:stretch>
        </p:blipFill>
        <p:spPr>
          <a:xfrm>
            <a:off x="3112534" y="6150795"/>
            <a:ext cx="128699" cy="187198"/>
          </a:xfrm>
          <a:prstGeom prst="rect">
            <a:avLst/>
          </a:prstGeom>
        </p:spPr>
      </p:pic>
      <p:sp>
        <p:nvSpPr>
          <p:cNvPr id="52" name="TextBox 51"/>
          <p:cNvSpPr txBox="1"/>
          <p:nvPr/>
        </p:nvSpPr>
        <p:spPr>
          <a:xfrm>
            <a:off x="3280030"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7526915" y="6150795"/>
            <a:ext cx="128699" cy="187198"/>
          </a:xfrm>
          <a:prstGeom prst="rect">
            <a:avLst/>
          </a:prstGeom>
        </p:spPr>
      </p:pic>
      <p:sp>
        <p:nvSpPr>
          <p:cNvPr id="54" name="TextBox 53"/>
          <p:cNvSpPr txBox="1"/>
          <p:nvPr/>
        </p:nvSpPr>
        <p:spPr>
          <a:xfrm>
            <a:off x="7694411"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8432442" y="6150795"/>
            <a:ext cx="128699" cy="187198"/>
          </a:xfrm>
          <a:prstGeom prst="rect">
            <a:avLst/>
          </a:prstGeom>
        </p:spPr>
      </p:pic>
      <p:sp>
        <p:nvSpPr>
          <p:cNvPr id="56" name="TextBox 55"/>
          <p:cNvSpPr txBox="1"/>
          <p:nvPr/>
        </p:nvSpPr>
        <p:spPr>
          <a:xfrm>
            <a:off x="8599938" y="6160574"/>
            <a:ext cx="2125315" cy="186689"/>
          </a:xfrm>
          <a:prstGeom prst="rect">
            <a:avLst/>
          </a:prstGeom>
          <a:noFill/>
        </p:spPr>
        <p:txBody>
          <a:bodyPr wrap="none" lIns="0" rIns="0" tIns="0" bIns="0">
            <a:spAutoFit/>
          </a:bodyPr>
          <a:lstStyle/>
          <a:p>
            <a:r>
              <a:rPr sz="1100" b="0">
                <a:solidFill>
                  <a:srgbClr val="2E2E2E"/>
                </a:solidFill>
                <a:latin typeface="Calibri"/>
              </a:rPr>
              <a:t>against the global benchmark, while</a:t>
            </a:r>
          </a:p>
        </p:txBody>
      </p:sp>
      <p:sp>
        <p:nvSpPr>
          <p:cNvPr id="57" name="TextBox 56"/>
          <p:cNvSpPr txBox="1"/>
          <p:nvPr/>
        </p:nvSpPr>
        <p:spPr>
          <a:xfrm>
            <a:off x="257175" y="6328214"/>
            <a:ext cx="2534865" cy="186689"/>
          </a:xfrm>
          <a:prstGeom prst="rect">
            <a:avLst/>
          </a:prstGeom>
          <a:noFill/>
        </p:spPr>
        <p:txBody>
          <a:bodyPr wrap="none" lIns="0" rIns="0" tIns="0" bIns="0">
            <a:spAutoFit/>
          </a:bodyPr>
          <a:lstStyle/>
          <a:p>
            <a:r>
              <a:rPr sz="1100" b="0">
                <a:solidFill>
                  <a:srgbClr val="2E2E2E"/>
                </a:solidFill>
                <a:latin typeface="Calibri"/>
              </a:rPr>
              <a:t>U.S. offers the largest absolute opportunity</a:t>
            </a:r>
          </a:p>
        </p:txBody>
      </p:sp>
      <p:pic>
        <p:nvPicPr>
          <p:cNvPr id="58" name="Picture 57" descr="lock.png"/>
          <p:cNvPicPr>
            <a:picLocks noChangeAspect="1"/>
          </p:cNvPicPr>
          <p:nvPr/>
        </p:nvPicPr>
        <p:blipFill>
          <a:blip r:embed="rId6"/>
          <a:stretch>
            <a:fillRect/>
          </a:stretch>
        </p:blipFill>
        <p:spPr>
          <a:xfrm>
            <a:off x="2740092" y="6318435"/>
            <a:ext cx="128699" cy="187198"/>
          </a:xfrm>
          <a:prstGeom prst="rect">
            <a:avLst/>
          </a:prstGeom>
        </p:spPr>
      </p:pic>
      <p:sp>
        <p:nvSpPr>
          <p:cNvPr id="59" name="TextBox 58"/>
          <p:cNvSpPr txBox="1"/>
          <p:nvPr/>
        </p:nvSpPr>
        <p:spPr>
          <a:xfrm>
            <a:off x="2907587"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6167586" y="6318435"/>
            <a:ext cx="128699" cy="187198"/>
          </a:xfrm>
          <a:prstGeom prst="rect">
            <a:avLst/>
          </a:prstGeom>
        </p:spPr>
      </p:pic>
      <p:sp>
        <p:nvSpPr>
          <p:cNvPr id="61" name="TextBox 60"/>
          <p:cNvSpPr txBox="1"/>
          <p:nvPr/>
        </p:nvSpPr>
        <p:spPr>
          <a:xfrm>
            <a:off x="6335081"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UAE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'Crab Leg Meat'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meat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2898216" cy="194310"/>
          </a:xfrm>
          <a:prstGeom prst="rect">
            <a:avLst/>
          </a:prstGeom>
          <a:noFill/>
        </p:spPr>
        <p:txBody>
          <a:bodyPr wrap="none" lIns="0" rIns="0" tIns="0" bIns="0">
            <a:spAutoFit/>
          </a:bodyPr>
          <a:lstStyle/>
          <a:p>
            <a:r>
              <a:rPr sz="1150" b="0">
                <a:solidFill>
                  <a:srgbClr val="2E2E2E"/>
                </a:solidFill>
                <a:latin typeface="Calibri"/>
              </a:rPr>
              <a:t>Global crab meat market is expected to witness</a:t>
            </a:r>
          </a:p>
        </p:txBody>
      </p:sp>
      <p:pic>
        <p:nvPicPr>
          <p:cNvPr id="32" name="Picture 31" descr="lock.png"/>
          <p:cNvPicPr>
            <a:picLocks noChangeAspect="1"/>
          </p:cNvPicPr>
          <p:nvPr/>
        </p:nvPicPr>
        <p:blipFill>
          <a:blip r:embed="rId4"/>
          <a:stretch>
            <a:fillRect/>
          </a:stretch>
        </p:blipFill>
        <p:spPr>
          <a:xfrm>
            <a:off x="3123595" y="1389951"/>
            <a:ext cx="134549" cy="195707"/>
          </a:xfrm>
          <a:prstGeom prst="rect">
            <a:avLst/>
          </a:prstGeom>
        </p:spPr>
      </p:pic>
      <p:sp>
        <p:nvSpPr>
          <p:cNvPr id="33" name="TextBox 32"/>
          <p:cNvSpPr txBox="1"/>
          <p:nvPr/>
        </p:nvSpPr>
        <p:spPr>
          <a:xfrm>
            <a:off x="3298705" y="1400175"/>
            <a:ext cx="4786883" cy="194310"/>
          </a:xfrm>
          <a:prstGeom prst="rect">
            <a:avLst/>
          </a:prstGeom>
          <a:noFill/>
        </p:spPr>
        <p:txBody>
          <a:bodyPr wrap="none" lIns="0" rIns="0" tIns="0" bIns="0">
            <a:spAutoFit/>
          </a:bodyPr>
          <a:lstStyle/>
          <a:p>
            <a:r>
              <a:rPr sz="1150" b="0">
                <a:solidFill>
                  <a:srgbClr val="2E2E2E"/>
                </a:solidFill>
                <a:latin typeface="Calibri"/>
              </a:rPr>
              <a:t>X increase in revenue by 2036 end. Global crab meat market accounted for US$</a:t>
            </a:r>
          </a:p>
        </p:txBody>
      </p:sp>
      <p:pic>
        <p:nvPicPr>
          <p:cNvPr id="34" name="Picture 33" descr="lock.png"/>
          <p:cNvPicPr>
            <a:picLocks noChangeAspect="1"/>
          </p:cNvPicPr>
          <p:nvPr/>
        </p:nvPicPr>
        <p:blipFill>
          <a:blip r:embed="rId4"/>
          <a:stretch>
            <a:fillRect/>
          </a:stretch>
        </p:blipFill>
        <p:spPr>
          <a:xfrm>
            <a:off x="8034742" y="1389951"/>
            <a:ext cx="134549" cy="195707"/>
          </a:xfrm>
          <a:prstGeom prst="rect">
            <a:avLst/>
          </a:prstGeom>
        </p:spPr>
      </p:pic>
      <p:sp>
        <p:nvSpPr>
          <p:cNvPr id="35" name="TextBox 34"/>
          <p:cNvSpPr txBox="1"/>
          <p:nvPr/>
        </p:nvSpPr>
        <p:spPr>
          <a:xfrm>
            <a:off x="8209851" y="1400175"/>
            <a:ext cx="3432782" cy="194310"/>
          </a:xfrm>
          <a:prstGeom prst="rect">
            <a:avLst/>
          </a:prstGeom>
          <a:noFill/>
        </p:spPr>
        <p:txBody>
          <a:bodyPr wrap="none" lIns="0" rIns="0" tIns="0" bIns="0">
            <a:spAutoFit/>
          </a:bodyPr>
          <a:lstStyle/>
          <a:p>
            <a:r>
              <a:rPr sz="1150" b="0">
                <a:solidFill>
                  <a:srgbClr val="2E2E2E"/>
                </a:solidFill>
                <a:latin typeface="Calibri"/>
              </a:rPr>
              <a:t>Mn in 2025, which is expected to increase to US$ 23,200</a:t>
            </a:r>
          </a:p>
        </p:txBody>
      </p:sp>
      <p:sp>
        <p:nvSpPr>
          <p:cNvPr id="36" name="TextBox 35"/>
          <p:cNvSpPr txBox="1"/>
          <p:nvPr/>
        </p:nvSpPr>
        <p:spPr>
          <a:xfrm>
            <a:off x="276225" y="1575435"/>
            <a:ext cx="1886973" cy="194310"/>
          </a:xfrm>
          <a:prstGeom prst="rect">
            <a:avLst/>
          </a:prstGeom>
          <a:noFill/>
        </p:spPr>
        <p:txBody>
          <a:bodyPr wrap="none" lIns="0" rIns="0" tIns="0" bIns="0">
            <a:spAutoFit/>
          </a:bodyPr>
          <a:lstStyle/>
          <a:p>
            <a:r>
              <a:rPr sz="1150" b="0">
                <a:solidFill>
                  <a:srgbClr val="2E2E2E"/>
                </a:solidFill>
                <a:latin typeface="Calibri"/>
              </a:rPr>
              <a:t>Mn in 2036 at a CAGR of 4.8%.</a:t>
            </a:r>
          </a:p>
        </p:txBody>
      </p:sp>
      <p:sp>
        <p:nvSpPr>
          <p:cNvPr id="37" name="TextBox 36"/>
          <p:cNvSpPr txBox="1"/>
          <p:nvPr/>
        </p:nvSpPr>
        <p:spPr>
          <a:xfrm>
            <a:off x="276225" y="1803273"/>
            <a:ext cx="11497481" cy="194310"/>
          </a:xfrm>
          <a:prstGeom prst="rect">
            <a:avLst/>
          </a:prstGeom>
          <a:noFill/>
        </p:spPr>
        <p:txBody>
          <a:bodyPr wrap="none" lIns="0" rIns="0" tIns="0" bIns="0">
            <a:spAutoFit/>
          </a:bodyPr>
          <a:lstStyle/>
          <a:p>
            <a:r>
              <a:rPr sz="1150" b="0">
                <a:solidFill>
                  <a:srgbClr val="2E2E2E"/>
                </a:solidFill>
                <a:latin typeface="Calibri"/>
              </a:rPr>
              <a:t>The global crab meat market has been analysed on the basis of crab species, source, meat type and product format across the globe. North America is expected to remain the largest market for</a:t>
            </a:r>
          </a:p>
        </p:txBody>
      </p:sp>
      <p:sp>
        <p:nvSpPr>
          <p:cNvPr id="38" name="TextBox 37"/>
          <p:cNvSpPr txBox="1"/>
          <p:nvPr/>
        </p:nvSpPr>
        <p:spPr>
          <a:xfrm>
            <a:off x="276225" y="1978533"/>
            <a:ext cx="5729629" cy="194310"/>
          </a:xfrm>
          <a:prstGeom prst="rect">
            <a:avLst/>
          </a:prstGeom>
          <a:noFill/>
        </p:spPr>
        <p:txBody>
          <a:bodyPr wrap="none" lIns="0" rIns="0" tIns="0" bIns="0">
            <a:spAutoFit/>
          </a:bodyPr>
          <a:lstStyle/>
          <a:p>
            <a:r>
              <a:rPr sz="1150" b="0">
                <a:solidFill>
                  <a:srgbClr val="2E2E2E"/>
                </a:solidFill>
                <a:latin typeface="Calibri"/>
              </a:rPr>
              <a:t>crab meat, while demand in South Asia &amp; Pacific is projected to increase at the highest CAGR of</a:t>
            </a:r>
          </a:p>
        </p:txBody>
      </p:sp>
      <p:pic>
        <p:nvPicPr>
          <p:cNvPr id="39" name="Picture 38" descr="lock.png"/>
          <p:cNvPicPr>
            <a:picLocks noChangeAspect="1"/>
          </p:cNvPicPr>
          <p:nvPr/>
        </p:nvPicPr>
        <p:blipFill>
          <a:blip r:embed="rId4"/>
          <a:stretch>
            <a:fillRect/>
          </a:stretch>
        </p:blipFill>
        <p:spPr>
          <a:xfrm>
            <a:off x="5955008" y="1968309"/>
            <a:ext cx="134549" cy="195707"/>
          </a:xfrm>
          <a:prstGeom prst="rect">
            <a:avLst/>
          </a:prstGeom>
        </p:spPr>
      </p:pic>
      <p:sp>
        <p:nvSpPr>
          <p:cNvPr id="40" name="TextBox 39"/>
          <p:cNvSpPr txBox="1"/>
          <p:nvPr/>
        </p:nvSpPr>
        <p:spPr>
          <a:xfrm>
            <a:off x="6130117"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1" name="TextBox 40"/>
          <p:cNvSpPr txBox="1"/>
          <p:nvPr/>
        </p:nvSpPr>
        <p:spPr>
          <a:xfrm>
            <a:off x="276225" y="3276600"/>
            <a:ext cx="5557353"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meat type category 'Special Meat' holds</a:t>
            </a:r>
          </a:p>
        </p:txBody>
      </p:sp>
      <p:pic>
        <p:nvPicPr>
          <p:cNvPr id="42" name="Picture 41" descr="lock.png"/>
          <p:cNvPicPr>
            <a:picLocks noChangeAspect="1"/>
          </p:cNvPicPr>
          <p:nvPr/>
        </p:nvPicPr>
        <p:blipFill>
          <a:blip r:embed="rId4"/>
          <a:stretch>
            <a:fillRect/>
          </a:stretch>
        </p:blipFill>
        <p:spPr>
          <a:xfrm>
            <a:off x="5782732" y="3266376"/>
            <a:ext cx="134549" cy="195707"/>
          </a:xfrm>
          <a:prstGeom prst="rect">
            <a:avLst/>
          </a:prstGeom>
        </p:spPr>
      </p:pic>
      <p:sp>
        <p:nvSpPr>
          <p:cNvPr id="43" name="TextBox 42"/>
          <p:cNvSpPr txBox="1"/>
          <p:nvPr/>
        </p:nvSpPr>
        <p:spPr>
          <a:xfrm>
            <a:off x="5957842"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4" name="TextBox 43"/>
          <p:cNvSpPr txBox="1"/>
          <p:nvPr/>
        </p:nvSpPr>
        <p:spPr>
          <a:xfrm>
            <a:off x="276225" y="3504437"/>
            <a:ext cx="4750085" cy="194310"/>
          </a:xfrm>
          <a:prstGeom prst="rect">
            <a:avLst/>
          </a:prstGeom>
          <a:noFill/>
        </p:spPr>
        <p:txBody>
          <a:bodyPr wrap="none" lIns="0" rIns="0" tIns="0" bIns="0">
            <a:spAutoFit/>
          </a:bodyPr>
          <a:lstStyle/>
          <a:p>
            <a:r>
              <a:rPr sz="1150" b="0">
                <a:solidFill>
                  <a:srgbClr val="2E2E2E"/>
                </a:solidFill>
                <a:latin typeface="Calibri"/>
              </a:rPr>
              <a:t>▪ Demand spans 6 regions and 6 segmentation lenses (6 meat type categories).</a:t>
            </a:r>
          </a:p>
        </p:txBody>
      </p:sp>
      <p:sp>
        <p:nvSpPr>
          <p:cNvPr id="45" name="TextBox 44"/>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6" name="Picture 45" descr="lock.png"/>
          <p:cNvPicPr>
            <a:picLocks noChangeAspect="1"/>
          </p:cNvPicPr>
          <p:nvPr/>
        </p:nvPicPr>
        <p:blipFill>
          <a:blip r:embed="rId4"/>
          <a:stretch>
            <a:fillRect/>
          </a:stretch>
        </p:blipFill>
        <p:spPr>
          <a:xfrm>
            <a:off x="3176367" y="3722052"/>
            <a:ext cx="134549" cy="195707"/>
          </a:xfrm>
          <a:prstGeom prst="rect">
            <a:avLst/>
          </a:prstGeom>
        </p:spPr>
      </p:pic>
      <p:sp>
        <p:nvSpPr>
          <p:cNvPr id="47" name="TextBox 46"/>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5038725"/>
            <a:ext cx="2532806" cy="194310"/>
          </a:xfrm>
          <a:prstGeom prst="rect">
            <a:avLst/>
          </a:prstGeom>
          <a:noFill/>
        </p:spPr>
        <p:txBody>
          <a:bodyPr wrap="none" lIns="0" rIns="0" tIns="0" bIns="0">
            <a:spAutoFit/>
          </a:bodyPr>
          <a:lstStyle/>
          <a:p>
            <a:r>
              <a:rPr sz="1150" b="0">
                <a:solidFill>
                  <a:srgbClr val="2E2E2E"/>
                </a:solidFill>
                <a:latin typeface="Calibri"/>
              </a:rPr>
              <a:t>▪ Accelerating uptake of 'Crab Leg Meat' (</a:t>
            </a:r>
          </a:p>
        </p:txBody>
      </p:sp>
      <p:pic>
        <p:nvPicPr>
          <p:cNvPr id="49" name="Picture 48" descr="lock.png"/>
          <p:cNvPicPr>
            <a:picLocks noChangeAspect="1"/>
          </p:cNvPicPr>
          <p:nvPr/>
        </p:nvPicPr>
        <p:blipFill>
          <a:blip r:embed="rId4"/>
          <a:stretch>
            <a:fillRect/>
          </a:stretch>
        </p:blipFill>
        <p:spPr>
          <a:xfrm>
            <a:off x="2758185" y="5028501"/>
            <a:ext cx="134549" cy="195707"/>
          </a:xfrm>
          <a:prstGeom prst="rect">
            <a:avLst/>
          </a:prstGeom>
        </p:spPr>
      </p:pic>
      <p:sp>
        <p:nvSpPr>
          <p:cNvPr id="50" name="TextBox 49"/>
          <p:cNvSpPr txBox="1"/>
          <p:nvPr/>
        </p:nvSpPr>
        <p:spPr>
          <a:xfrm>
            <a:off x="2933294"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276225" y="52665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2" name="Picture 51" descr="lock.png"/>
          <p:cNvPicPr>
            <a:picLocks noChangeAspect="1"/>
          </p:cNvPicPr>
          <p:nvPr/>
        </p:nvPicPr>
        <p:blipFill>
          <a:blip r:embed="rId4"/>
          <a:stretch>
            <a:fillRect/>
          </a:stretch>
        </p:blipFill>
        <p:spPr>
          <a:xfrm>
            <a:off x="3102424" y="5256339"/>
            <a:ext cx="134549" cy="195707"/>
          </a:xfrm>
          <a:prstGeom prst="rect">
            <a:avLst/>
          </a:prstGeom>
        </p:spPr>
      </p:pic>
      <p:sp>
        <p:nvSpPr>
          <p:cNvPr id="53" name="TextBox 52"/>
          <p:cNvSpPr txBox="1"/>
          <p:nvPr/>
        </p:nvSpPr>
        <p:spPr>
          <a:xfrm>
            <a:off x="3277533"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4" name="TextBox 53"/>
          <p:cNvSpPr txBox="1"/>
          <p:nvPr/>
        </p:nvSpPr>
        <p:spPr>
          <a:xfrm>
            <a:off x="276225" y="5494400"/>
            <a:ext cx="3096753" cy="194310"/>
          </a:xfrm>
          <a:prstGeom prst="rect">
            <a:avLst/>
          </a:prstGeom>
          <a:noFill/>
        </p:spPr>
        <p:txBody>
          <a:bodyPr wrap="none" lIns="0" rIns="0" tIns="0" bIns="0">
            <a:spAutoFit/>
          </a:bodyPr>
          <a:lstStyle/>
          <a:p>
            <a:r>
              <a:rPr sz="1150" b="0">
                <a:solidFill>
                  <a:srgbClr val="2E2E2E"/>
                </a:solidFill>
                <a:latin typeface="Calibri"/>
              </a:rPr>
              <a:t>▪ Momentum in Retail within distribution channel (</a:t>
            </a:r>
          </a:p>
        </p:txBody>
      </p:sp>
      <p:pic>
        <p:nvPicPr>
          <p:cNvPr id="55" name="Picture 54" descr="lock.png"/>
          <p:cNvPicPr>
            <a:picLocks noChangeAspect="1"/>
          </p:cNvPicPr>
          <p:nvPr/>
        </p:nvPicPr>
        <p:blipFill>
          <a:blip r:embed="rId4"/>
          <a:stretch>
            <a:fillRect/>
          </a:stretch>
        </p:blipFill>
        <p:spPr>
          <a:xfrm>
            <a:off x="3322132" y="5484177"/>
            <a:ext cx="134549" cy="195707"/>
          </a:xfrm>
          <a:prstGeom prst="rect">
            <a:avLst/>
          </a:prstGeom>
        </p:spPr>
      </p:pic>
      <p:sp>
        <p:nvSpPr>
          <p:cNvPr id="56" name="TextBox 55"/>
          <p:cNvSpPr txBox="1"/>
          <p:nvPr/>
        </p:nvSpPr>
        <p:spPr>
          <a:xfrm>
            <a:off x="3497241" y="54944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4371975" y="5038725"/>
            <a:ext cx="1952029" cy="194310"/>
          </a:xfrm>
          <a:prstGeom prst="rect">
            <a:avLst/>
          </a:prstGeom>
          <a:noFill/>
        </p:spPr>
        <p:txBody>
          <a:bodyPr wrap="none" lIns="0" rIns="0" tIns="0" bIns="0">
            <a:spAutoFit/>
          </a:bodyPr>
          <a:lstStyle/>
          <a:p>
            <a:r>
              <a:rPr sz="1150" b="0">
                <a:solidFill>
                  <a:srgbClr val="2E2E2E"/>
                </a:solidFill>
                <a:latin typeface="Calibri"/>
              </a:rPr>
              <a:t>▪ Slower momentum in 'Lump' (</a:t>
            </a:r>
          </a:p>
        </p:txBody>
      </p:sp>
      <p:pic>
        <p:nvPicPr>
          <p:cNvPr id="58" name="Picture 57" descr="lock.png"/>
          <p:cNvPicPr>
            <a:picLocks noChangeAspect="1"/>
          </p:cNvPicPr>
          <p:nvPr/>
        </p:nvPicPr>
        <p:blipFill>
          <a:blip r:embed="rId4"/>
          <a:stretch>
            <a:fillRect/>
          </a:stretch>
        </p:blipFill>
        <p:spPr>
          <a:xfrm>
            <a:off x="6273158" y="5028501"/>
            <a:ext cx="134549" cy="195707"/>
          </a:xfrm>
          <a:prstGeom prst="rect">
            <a:avLst/>
          </a:prstGeom>
        </p:spPr>
      </p:pic>
      <p:sp>
        <p:nvSpPr>
          <p:cNvPr id="59" name="TextBox 58"/>
          <p:cNvSpPr txBox="1"/>
          <p:nvPr/>
        </p:nvSpPr>
        <p:spPr>
          <a:xfrm>
            <a:off x="6448267"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1" name="TextBox 60"/>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2" name="Picture 61" descr="lock.png"/>
          <p:cNvPicPr>
            <a:picLocks noChangeAspect="1"/>
          </p:cNvPicPr>
          <p:nvPr/>
        </p:nvPicPr>
        <p:blipFill>
          <a:blip r:embed="rId4"/>
          <a:stretch>
            <a:fillRect/>
          </a:stretch>
        </p:blipFill>
        <p:spPr>
          <a:xfrm>
            <a:off x="4883401" y="5431599"/>
            <a:ext cx="134549" cy="195707"/>
          </a:xfrm>
          <a:prstGeom prst="rect">
            <a:avLst/>
          </a:prstGeom>
        </p:spPr>
      </p:pic>
      <p:sp>
        <p:nvSpPr>
          <p:cNvPr id="63" name="TextBox 62"/>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4" name="TextBox 63"/>
          <p:cNvSpPr txBox="1"/>
          <p:nvPr/>
        </p:nvSpPr>
        <p:spPr>
          <a:xfrm>
            <a:off x="4371975" y="5669660"/>
            <a:ext cx="3446474" cy="194310"/>
          </a:xfrm>
          <a:prstGeom prst="rect">
            <a:avLst/>
          </a:prstGeom>
          <a:noFill/>
        </p:spPr>
        <p:txBody>
          <a:bodyPr wrap="none" lIns="0" rIns="0" tIns="0" bIns="0">
            <a:spAutoFit/>
          </a:bodyPr>
          <a:lstStyle/>
          <a:p>
            <a:r>
              <a:rPr sz="1150" b="0">
                <a:solidFill>
                  <a:srgbClr val="2E2E2E"/>
                </a:solidFill>
                <a:latin typeface="Calibri"/>
              </a:rPr>
              <a:t>▪ Value concentration in 'Special Meat' raises barriers for</a:t>
            </a:r>
          </a:p>
        </p:txBody>
      </p:sp>
      <p:sp>
        <p:nvSpPr>
          <p:cNvPr id="65" name="TextBox 64"/>
          <p:cNvSpPr txBox="1"/>
          <p:nvPr/>
        </p:nvSpPr>
        <p:spPr>
          <a:xfrm>
            <a:off x="4371975" y="5844920"/>
            <a:ext cx="902295" cy="194310"/>
          </a:xfrm>
          <a:prstGeom prst="rect">
            <a:avLst/>
          </a:prstGeom>
          <a:noFill/>
        </p:spPr>
        <p:txBody>
          <a:bodyPr wrap="none" lIns="0" rIns="0" tIns="0" bIns="0">
            <a:spAutoFit/>
          </a:bodyPr>
          <a:lstStyle/>
          <a:p>
            <a:r>
              <a:rPr sz="1150" b="0">
                <a:solidFill>
                  <a:srgbClr val="2E2E2E"/>
                </a:solidFill>
                <a:latin typeface="Calibri"/>
              </a:rPr>
              <a:t>new entrants.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'Crab Leg Meat'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meat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R&amp;D aligns with the migration to 'Crab Leg Meat' and adjacent premium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Development spend targets meat type categories gaining share to 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Innovation underpins the 4.8% forecast CAGR.</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meat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2876748" cy="186689"/>
          </a:xfrm>
          <a:prstGeom prst="rect">
            <a:avLst/>
          </a:prstGeom>
          <a:noFill/>
        </p:spPr>
        <p:txBody>
          <a:bodyPr wrap="none" lIns="0" rIns="0" tIns="0" bIns="0">
            <a:spAutoFit/>
          </a:bodyPr>
          <a:lstStyle/>
          <a:p>
            <a:r>
              <a:rPr sz="1100" b="0">
                <a:solidFill>
                  <a:srgbClr val="2E2E2E"/>
                </a:solidFill>
                <a:latin typeface="Calibri"/>
              </a:rPr>
              <a:t>▪ 2026 size 14,500 US$ Mn; 2036 23,200 US$ Mn.</a:t>
            </a:r>
          </a:p>
        </p:txBody>
      </p:sp>
      <p:sp>
        <p:nvSpPr>
          <p:cNvPr id="33" name="TextBox 32"/>
          <p:cNvSpPr txBox="1"/>
          <p:nvPr/>
        </p:nvSpPr>
        <p:spPr>
          <a:xfrm>
            <a:off x="6305550" y="1618107"/>
            <a:ext cx="2088979" cy="186689"/>
          </a:xfrm>
          <a:prstGeom prst="rect">
            <a:avLst/>
          </a:prstGeom>
          <a:noFill/>
        </p:spPr>
        <p:txBody>
          <a:bodyPr wrap="none" lIns="0" rIns="0" tIns="0" bIns="0">
            <a:spAutoFit/>
          </a:bodyPr>
          <a:lstStyle/>
          <a:p>
            <a:r>
              <a:rPr sz="1100" b="0">
                <a:solidFill>
                  <a:srgbClr val="2E2E2E"/>
                </a:solidFill>
                <a:latin typeface="Calibri"/>
              </a:rPr>
              <a:t>▪ Forecast CAGR 4.8% (2026–2036).</a:t>
            </a:r>
          </a:p>
        </p:txBody>
      </p:sp>
      <p:sp>
        <p:nvSpPr>
          <p:cNvPr id="34" name="TextBox 33"/>
          <p:cNvSpPr txBox="1"/>
          <p:nvPr/>
        </p:nvSpPr>
        <p:spPr>
          <a:xfrm>
            <a:off x="6305550" y="1836039"/>
            <a:ext cx="1776883" cy="186689"/>
          </a:xfrm>
          <a:prstGeom prst="rect">
            <a:avLst/>
          </a:prstGeom>
          <a:noFill/>
        </p:spPr>
        <p:txBody>
          <a:bodyPr wrap="none" lIns="0" rIns="0" tIns="0" bIns="0">
            <a:spAutoFit/>
          </a:bodyPr>
          <a:lstStyle/>
          <a:p>
            <a:r>
              <a:rPr sz="1100" b="0">
                <a:solidFill>
                  <a:srgbClr val="2E2E2E"/>
                </a:solidFill>
                <a:latin typeface="Calibri"/>
              </a:rPr>
              <a:t>▪ Lead category 'Special Meat'</a:t>
            </a:r>
          </a:p>
        </p:txBody>
      </p:sp>
      <p:pic>
        <p:nvPicPr>
          <p:cNvPr id="35" name="Picture 34" descr="lock.png"/>
          <p:cNvPicPr>
            <a:picLocks noChangeAspect="1"/>
          </p:cNvPicPr>
          <p:nvPr/>
        </p:nvPicPr>
        <p:blipFill>
          <a:blip r:embed="rId5"/>
          <a:stretch>
            <a:fillRect/>
          </a:stretch>
        </p:blipFill>
        <p:spPr>
          <a:xfrm>
            <a:off x="8030485" y="1826260"/>
            <a:ext cx="128699" cy="187198"/>
          </a:xfrm>
          <a:prstGeom prst="rect">
            <a:avLst/>
          </a:prstGeom>
        </p:spPr>
      </p:pic>
      <p:sp>
        <p:nvSpPr>
          <p:cNvPr id="36" name="TextBox 35"/>
          <p:cNvSpPr txBox="1"/>
          <p:nvPr/>
        </p:nvSpPr>
        <p:spPr>
          <a:xfrm>
            <a:off x="8197981"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37" name="TextBox 36"/>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38" name="Picture 37" descr="lock.png"/>
          <p:cNvPicPr>
            <a:picLocks noChangeAspect="1"/>
          </p:cNvPicPr>
          <p:nvPr/>
        </p:nvPicPr>
        <p:blipFill>
          <a:blip r:embed="rId5"/>
          <a:stretch>
            <a:fillRect/>
          </a:stretch>
        </p:blipFill>
        <p:spPr>
          <a:xfrm>
            <a:off x="7939898" y="2044192"/>
            <a:ext cx="128699" cy="187198"/>
          </a:xfrm>
          <a:prstGeom prst="rect">
            <a:avLst/>
          </a:prstGeom>
        </p:spPr>
      </p:pic>
      <p:sp>
        <p:nvSpPr>
          <p:cNvPr id="39" name="TextBox 38"/>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0" name="TextBox 39"/>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1" name="Picture 40" descr="lock.png"/>
          <p:cNvPicPr>
            <a:picLocks noChangeAspect="1"/>
          </p:cNvPicPr>
          <p:nvPr/>
        </p:nvPicPr>
        <p:blipFill>
          <a:blip r:embed="rId5"/>
          <a:stretch>
            <a:fillRect/>
          </a:stretch>
        </p:blipFill>
        <p:spPr>
          <a:xfrm>
            <a:off x="7808384" y="2262124"/>
            <a:ext cx="128699" cy="187198"/>
          </a:xfrm>
          <a:prstGeom prst="rect">
            <a:avLst/>
          </a:prstGeom>
        </p:spPr>
      </p:pic>
      <p:sp>
        <p:nvSpPr>
          <p:cNvPr id="42" name="TextBox 41"/>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3" name="TextBox 42"/>
          <p:cNvSpPr txBox="1"/>
          <p:nvPr/>
        </p:nvSpPr>
        <p:spPr>
          <a:xfrm>
            <a:off x="276225" y="3314700"/>
            <a:ext cx="4356149"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'Crab Leg Meat' (</a:t>
            </a:r>
          </a:p>
        </p:txBody>
      </p:sp>
      <p:pic>
        <p:nvPicPr>
          <p:cNvPr id="44" name="Picture 43" descr="lock.png"/>
          <p:cNvPicPr>
            <a:picLocks noChangeAspect="1"/>
          </p:cNvPicPr>
          <p:nvPr/>
        </p:nvPicPr>
        <p:blipFill>
          <a:blip r:embed="rId5"/>
          <a:stretch>
            <a:fillRect/>
          </a:stretch>
        </p:blipFill>
        <p:spPr>
          <a:xfrm>
            <a:off x="4581528" y="3304476"/>
            <a:ext cx="134549" cy="195707"/>
          </a:xfrm>
          <a:prstGeom prst="rect">
            <a:avLst/>
          </a:prstGeom>
        </p:spPr>
      </p:pic>
      <p:sp>
        <p:nvSpPr>
          <p:cNvPr id="45" name="TextBox 44"/>
          <p:cNvSpPr txBox="1"/>
          <p:nvPr/>
        </p:nvSpPr>
        <p:spPr>
          <a:xfrm>
            <a:off x="4756637"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3542537"/>
            <a:ext cx="1409762" cy="194310"/>
          </a:xfrm>
          <a:prstGeom prst="rect">
            <a:avLst/>
          </a:prstGeom>
          <a:noFill/>
        </p:spPr>
        <p:txBody>
          <a:bodyPr wrap="none" lIns="0" rIns="0" tIns="0" bIns="0">
            <a:spAutoFit/>
          </a:bodyPr>
          <a:lstStyle/>
          <a:p>
            <a:r>
              <a:rPr sz="1150" b="0">
                <a:solidFill>
                  <a:srgbClr val="2E2E2E"/>
                </a:solidFill>
                <a:latin typeface="Calibri"/>
              </a:rPr>
              <a:t>▪ South Asia &amp; Pacific (</a:t>
            </a:r>
          </a:p>
        </p:txBody>
      </p:sp>
      <p:pic>
        <p:nvPicPr>
          <p:cNvPr id="47" name="Picture 46" descr="lock.png"/>
          <p:cNvPicPr>
            <a:picLocks noChangeAspect="1"/>
          </p:cNvPicPr>
          <p:nvPr/>
        </p:nvPicPr>
        <p:blipFill>
          <a:blip r:embed="rId5"/>
          <a:stretch>
            <a:fillRect/>
          </a:stretch>
        </p:blipFill>
        <p:spPr>
          <a:xfrm>
            <a:off x="1635140" y="3532314"/>
            <a:ext cx="134549" cy="195707"/>
          </a:xfrm>
          <a:prstGeom prst="rect">
            <a:avLst/>
          </a:prstGeom>
        </p:spPr>
      </p:pic>
      <p:sp>
        <p:nvSpPr>
          <p:cNvPr id="48" name="TextBox 47"/>
          <p:cNvSpPr txBox="1"/>
          <p:nvPr/>
        </p:nvSpPr>
        <p:spPr>
          <a:xfrm>
            <a:off x="1810250" y="3542537"/>
            <a:ext cx="2283494" cy="194310"/>
          </a:xfrm>
          <a:prstGeom prst="rect">
            <a:avLst/>
          </a:prstGeom>
          <a:noFill/>
        </p:spPr>
        <p:txBody>
          <a:bodyPr wrap="none" lIns="0" rIns="0" tIns="0" bIns="0">
            <a:spAutoFit/>
          </a:bodyPr>
          <a:lstStyle/>
          <a:p>
            <a:r>
              <a:rPr sz="1150" b="0">
                <a:solidFill>
                  <a:srgbClr val="2E2E2E"/>
                </a:solidFill>
                <a:latin typeface="Calibri"/>
              </a:rPr>
              <a:t>) is a priority region for new capacity.</a:t>
            </a:r>
          </a:p>
        </p:txBody>
      </p:sp>
      <p:sp>
        <p:nvSpPr>
          <p:cNvPr id="49" name="TextBox 48"/>
          <p:cNvSpPr txBox="1"/>
          <p:nvPr/>
        </p:nvSpPr>
        <p:spPr>
          <a:xfrm>
            <a:off x="276225" y="3770375"/>
            <a:ext cx="2774416" cy="194310"/>
          </a:xfrm>
          <a:prstGeom prst="rect">
            <a:avLst/>
          </a:prstGeom>
          <a:noFill/>
        </p:spPr>
        <p:txBody>
          <a:bodyPr wrap="none" lIns="0" rIns="0" tIns="0" bIns="0">
            <a:spAutoFit/>
          </a:bodyPr>
          <a:lstStyle/>
          <a:p>
            <a:r>
              <a:rPr sz="1150" b="0">
                <a:solidFill>
                  <a:srgbClr val="2E2E2E"/>
                </a:solidFill>
                <a:latin typeface="Calibri"/>
              </a:rPr>
              <a:t>▪ Scale players anchor around 'Special Meat' (</a:t>
            </a:r>
          </a:p>
        </p:txBody>
      </p:sp>
      <p:pic>
        <p:nvPicPr>
          <p:cNvPr id="50" name="Picture 49" descr="lock.png"/>
          <p:cNvPicPr>
            <a:picLocks noChangeAspect="1"/>
          </p:cNvPicPr>
          <p:nvPr/>
        </p:nvPicPr>
        <p:blipFill>
          <a:blip r:embed="rId5"/>
          <a:stretch>
            <a:fillRect/>
          </a:stretch>
        </p:blipFill>
        <p:spPr>
          <a:xfrm>
            <a:off x="2999795" y="3760152"/>
            <a:ext cx="134549" cy="195707"/>
          </a:xfrm>
          <a:prstGeom prst="rect">
            <a:avLst/>
          </a:prstGeom>
        </p:spPr>
      </p:pic>
      <p:sp>
        <p:nvSpPr>
          <p:cNvPr id="51" name="TextBox 50"/>
          <p:cNvSpPr txBox="1"/>
          <p:nvPr/>
        </p:nvSpPr>
        <p:spPr>
          <a:xfrm>
            <a:off x="3174904"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2"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'Crab Leg Meat' tier and Retail within distribution channel.</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181103" cy="194310"/>
          </a:xfrm>
          <a:prstGeom prst="rect">
            <a:avLst/>
          </a:prstGeom>
          <a:noFill/>
        </p:spPr>
        <p:txBody>
          <a:bodyPr wrap="none" lIns="0" rIns="0" tIns="0" bIns="0">
            <a:spAutoFit/>
          </a:bodyPr>
          <a:lstStyle/>
          <a:p>
            <a:r>
              <a:rPr sz="1150" b="0">
                <a:solidFill>
                  <a:srgbClr val="2E2E2E"/>
                </a:solidFill>
                <a:latin typeface="Calibri"/>
              </a:rPr>
              <a:t>▪ Balance scale in 'Special Meat' with targeted growth in 'Crab Leg Meat', pursuing the</a:t>
            </a:r>
          </a:p>
        </p:txBody>
      </p:sp>
      <p:pic>
        <p:nvPicPr>
          <p:cNvPr id="32" name="Picture 31" descr="lock.png"/>
          <p:cNvPicPr>
            <a:picLocks noChangeAspect="1"/>
          </p:cNvPicPr>
          <p:nvPr/>
        </p:nvPicPr>
        <p:blipFill>
          <a:blip r:embed="rId4"/>
          <a:stretch>
            <a:fillRect/>
          </a:stretch>
        </p:blipFill>
        <p:spPr>
          <a:xfrm>
            <a:off x="5406482" y="1389951"/>
            <a:ext cx="134549" cy="195707"/>
          </a:xfrm>
          <a:prstGeom prst="rect">
            <a:avLst/>
          </a:prstGeom>
        </p:spPr>
      </p:pic>
      <p:sp>
        <p:nvSpPr>
          <p:cNvPr id="33" name="TextBox 32"/>
          <p:cNvSpPr txBox="1"/>
          <p:nvPr/>
        </p:nvSpPr>
        <p:spPr>
          <a:xfrm>
            <a:off x="276225"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731528" cy="194310"/>
          </a:xfrm>
          <a:prstGeom prst="rect">
            <a:avLst/>
          </a:prstGeom>
          <a:noFill/>
        </p:spPr>
        <p:txBody>
          <a:bodyPr wrap="none" lIns="0" rIns="0" tIns="0" bIns="0">
            <a:spAutoFit/>
          </a:bodyPr>
          <a:lstStyle/>
          <a:p>
            <a:r>
              <a:rPr sz="1150" b="0">
                <a:solidFill>
                  <a:srgbClr val="2E2E2E"/>
                </a:solidFill>
                <a:latin typeface="Calibri"/>
              </a:rPr>
              <a:t>▪ Prioritise 'Crab Leg Meat' (</a:t>
            </a:r>
          </a:p>
        </p:txBody>
      </p:sp>
      <p:pic>
        <p:nvPicPr>
          <p:cNvPr id="35" name="Picture 34" descr="lock.png"/>
          <p:cNvPicPr>
            <a:picLocks noChangeAspect="1"/>
          </p:cNvPicPr>
          <p:nvPr/>
        </p:nvPicPr>
        <p:blipFill>
          <a:blip r:embed="rId4"/>
          <a:stretch>
            <a:fillRect/>
          </a:stretch>
        </p:blipFill>
        <p:spPr>
          <a:xfrm>
            <a:off x="1956907" y="3266376"/>
            <a:ext cx="134549" cy="195707"/>
          </a:xfrm>
          <a:prstGeom prst="rect">
            <a:avLst/>
          </a:prstGeom>
        </p:spPr>
      </p:pic>
      <p:sp>
        <p:nvSpPr>
          <p:cNvPr id="36" name="TextBox 35"/>
          <p:cNvSpPr txBox="1"/>
          <p:nvPr/>
        </p:nvSpPr>
        <p:spPr>
          <a:xfrm>
            <a:off x="2132016" y="3276600"/>
            <a:ext cx="1525860" cy="194310"/>
          </a:xfrm>
          <a:prstGeom prst="rect">
            <a:avLst/>
          </a:prstGeom>
          <a:noFill/>
        </p:spPr>
        <p:txBody>
          <a:bodyPr wrap="none" lIns="0" rIns="0" tIns="0" bIns="0">
            <a:spAutoFit/>
          </a:bodyPr>
          <a:lstStyle/>
          <a:p>
            <a:r>
              <a:rPr sz="1150" b="0">
                <a:solidFill>
                  <a:srgbClr val="2E2E2E"/>
                </a:solidFill>
                <a:latin typeface="Calibri"/>
              </a:rPr>
              <a:t>); 'Special Meat' anchors</a:t>
            </a:r>
          </a:p>
        </p:txBody>
      </p:sp>
      <p:pic>
        <p:nvPicPr>
          <p:cNvPr id="37" name="Picture 36" descr="lock.png"/>
          <p:cNvPicPr>
            <a:picLocks noChangeAspect="1"/>
          </p:cNvPicPr>
          <p:nvPr/>
        </p:nvPicPr>
        <p:blipFill>
          <a:blip r:embed="rId4"/>
          <a:stretch>
            <a:fillRect/>
          </a:stretch>
        </p:blipFill>
        <p:spPr>
          <a:xfrm>
            <a:off x="3607030" y="3266376"/>
            <a:ext cx="134549" cy="195707"/>
          </a:xfrm>
          <a:prstGeom prst="rect">
            <a:avLst/>
          </a:prstGeom>
        </p:spPr>
      </p:pic>
      <p:sp>
        <p:nvSpPr>
          <p:cNvPr id="38" name="TextBox 37"/>
          <p:cNvSpPr txBox="1"/>
          <p:nvPr/>
        </p:nvSpPr>
        <p:spPr>
          <a:xfrm>
            <a:off x="3782140"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7660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0" name="Picture 39" descr="lock.png"/>
          <p:cNvPicPr>
            <a:picLocks noChangeAspect="1"/>
          </p:cNvPicPr>
          <p:nvPr/>
        </p:nvPicPr>
        <p:blipFill>
          <a:blip r:embed="rId4"/>
          <a:stretch>
            <a:fillRect/>
          </a:stretch>
        </p:blipFill>
        <p:spPr>
          <a:xfrm>
            <a:off x="7975392" y="3266376"/>
            <a:ext cx="134549" cy="195707"/>
          </a:xfrm>
          <a:prstGeom prst="rect">
            <a:avLst/>
          </a:prstGeom>
        </p:spPr>
      </p:pic>
      <p:sp>
        <p:nvSpPr>
          <p:cNvPr id="41" name="TextBox 40"/>
          <p:cNvSpPr txBox="1"/>
          <p:nvPr/>
        </p:nvSpPr>
        <p:spPr>
          <a:xfrm>
            <a:off x="8150501" y="327660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2" name="Picture 41" descr="lock.png"/>
          <p:cNvPicPr>
            <a:picLocks noChangeAspect="1"/>
          </p:cNvPicPr>
          <p:nvPr/>
        </p:nvPicPr>
        <p:blipFill>
          <a:blip r:embed="rId4"/>
          <a:stretch>
            <a:fillRect/>
          </a:stretch>
        </p:blipFill>
        <p:spPr>
          <a:xfrm>
            <a:off x="10602510" y="3266376"/>
            <a:ext cx="134549" cy="195707"/>
          </a:xfrm>
          <a:prstGeom prst="rect">
            <a:avLst/>
          </a:prstGeom>
        </p:spPr>
      </p:pic>
      <p:sp>
        <p:nvSpPr>
          <p:cNvPr id="43" name="TextBox 42"/>
          <p:cNvSpPr txBox="1"/>
          <p:nvPr/>
        </p:nvSpPr>
        <p:spPr>
          <a:xfrm>
            <a:off x="10777620"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4972050"/>
            <a:ext cx="1099691" cy="194310"/>
          </a:xfrm>
          <a:prstGeom prst="rect">
            <a:avLst/>
          </a:prstGeom>
          <a:noFill/>
        </p:spPr>
        <p:txBody>
          <a:bodyPr wrap="none" lIns="0" rIns="0" tIns="0" bIns="0">
            <a:spAutoFit/>
          </a:bodyPr>
          <a:lstStyle/>
          <a:p>
            <a:r>
              <a:rPr sz="1150" b="0">
                <a:solidFill>
                  <a:srgbClr val="2E2E2E"/>
                </a:solidFill>
                <a:latin typeface="Calibri"/>
              </a:rPr>
              <a:t>▪ Crab Meat adds</a:t>
            </a:r>
          </a:p>
        </p:txBody>
      </p:sp>
      <p:pic>
        <p:nvPicPr>
          <p:cNvPr id="45" name="Picture 44" descr="lock.png"/>
          <p:cNvPicPr>
            <a:picLocks noChangeAspect="1"/>
          </p:cNvPicPr>
          <p:nvPr/>
        </p:nvPicPr>
        <p:blipFill>
          <a:blip r:embed="rId4"/>
          <a:stretch>
            <a:fillRect/>
          </a:stretch>
        </p:blipFill>
        <p:spPr>
          <a:xfrm>
            <a:off x="1325069" y="4961826"/>
            <a:ext cx="134549" cy="195707"/>
          </a:xfrm>
          <a:prstGeom prst="rect">
            <a:avLst/>
          </a:prstGeom>
        </p:spPr>
      </p:pic>
      <p:sp>
        <p:nvSpPr>
          <p:cNvPr id="46" name="TextBox 45"/>
          <p:cNvSpPr txBox="1"/>
          <p:nvPr/>
        </p:nvSpPr>
        <p:spPr>
          <a:xfrm>
            <a:off x="1500179"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3264440" y="4961826"/>
            <a:ext cx="134549" cy="195707"/>
          </a:xfrm>
          <a:prstGeom prst="rect">
            <a:avLst/>
          </a:prstGeom>
        </p:spPr>
      </p:pic>
      <p:sp>
        <p:nvSpPr>
          <p:cNvPr id="48" name="TextBox 47"/>
          <p:cNvSpPr txBox="1"/>
          <p:nvPr/>
        </p:nvSpPr>
        <p:spPr>
          <a:xfrm>
            <a:off x="3439550"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199888"/>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0" name="TextBox 49"/>
          <p:cNvSpPr txBox="1"/>
          <p:nvPr/>
        </p:nvSpPr>
        <p:spPr>
          <a:xfrm>
            <a:off x="276225" y="5427725"/>
            <a:ext cx="4127090" cy="194310"/>
          </a:xfrm>
          <a:prstGeom prst="rect">
            <a:avLst/>
          </a:prstGeom>
          <a:noFill/>
        </p:spPr>
        <p:txBody>
          <a:bodyPr wrap="none" lIns="0" rIns="0" tIns="0" bIns="0">
            <a:spAutoFit/>
          </a:bodyPr>
          <a:lstStyle/>
          <a:p>
            <a:r>
              <a:rPr sz="1150" b="0">
                <a:solidFill>
                  <a:srgbClr val="2E2E2E"/>
                </a:solidFill>
                <a:latin typeface="Calibri"/>
              </a:rPr>
              <a:t>▪ Defend share in 'Special Meat' as the value anchor of the portfolio.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Crab Meat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391532"/>
            <a:ext cx="635826" cy="913768"/>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2955665"/>
            <a:ext cx="635826" cy="134963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772915"/>
            <a:ext cx="635826" cy="1532385"/>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567940"/>
            <a:ext cx="635826" cy="173736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2231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1754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56514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46036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07965"/>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03190"/>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Crab Meat Market Attractiveness Analysis By Region, 2026–2036</a:t>
            </a:r>
          </a:p>
        </p:txBody>
      </p:sp>
      <p:graphicFrame>
        <p:nvGraphicFramePr>
          <p:cNvPr id="36" name="Chart 35"/>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75190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743691"/>
            <a:ext cx="108107" cy="157246"/>
          </a:xfrm>
          <a:prstGeom prst="rect">
            <a:avLst/>
          </a:prstGeom>
        </p:spPr>
      </p:pic>
      <p:sp>
        <p:nvSpPr>
          <p:cNvPr id="56" name="TextBox 55"/>
          <p:cNvSpPr txBox="1"/>
          <p:nvPr/>
        </p:nvSpPr>
        <p:spPr>
          <a:xfrm>
            <a:off x="2032418" y="249473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486516"/>
            <a:ext cx="108107" cy="157246"/>
          </a:xfrm>
          <a:prstGeom prst="rect">
            <a:avLst/>
          </a:prstGeom>
        </p:spPr>
      </p:pic>
      <p:sp>
        <p:nvSpPr>
          <p:cNvPr id="58" name="TextBox 57"/>
          <p:cNvSpPr txBox="1"/>
          <p:nvPr/>
        </p:nvSpPr>
        <p:spPr>
          <a:xfrm>
            <a:off x="2032418" y="223755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29341"/>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2543646" cy="194310"/>
          </a:xfrm>
          <a:prstGeom prst="rect">
            <a:avLst/>
          </a:prstGeom>
          <a:noFill/>
        </p:spPr>
        <p:txBody>
          <a:bodyPr wrap="none" lIns="0" rIns="0" tIns="0" bIns="0">
            <a:spAutoFit/>
          </a:bodyPr>
          <a:lstStyle/>
          <a:p>
            <a:r>
              <a:rPr sz="1150" b="0">
                <a:solidFill>
                  <a:srgbClr val="2E2E2E"/>
                </a:solidFill>
                <a:latin typeface="Calibri"/>
              </a:rPr>
              <a:t>▪ Likely (base forecast): 23,200 US$ Mn at</a:t>
            </a:r>
          </a:p>
        </p:txBody>
      </p:sp>
      <p:pic>
        <p:nvPicPr>
          <p:cNvPr id="66" name="Picture 65" descr="lock.png"/>
          <p:cNvPicPr>
            <a:picLocks noChangeAspect="1"/>
          </p:cNvPicPr>
          <p:nvPr/>
        </p:nvPicPr>
        <p:blipFill>
          <a:blip r:embed="rId5"/>
          <a:stretch>
            <a:fillRect/>
          </a:stretch>
        </p:blipFill>
        <p:spPr>
          <a:xfrm>
            <a:off x="2769025" y="5589714"/>
            <a:ext cx="134549" cy="195707"/>
          </a:xfrm>
          <a:prstGeom prst="rect">
            <a:avLst/>
          </a:prstGeom>
        </p:spPr>
      </p:pic>
      <p:sp>
        <p:nvSpPr>
          <p:cNvPr id="67" name="TextBox 66"/>
          <p:cNvSpPr txBox="1"/>
          <p:nvPr/>
        </p:nvSpPr>
        <p:spPr>
          <a:xfrm>
            <a:off x="2944134"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6"/>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Crab Meat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4.8% from 2026 to 2036.</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4_785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6_999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3_9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3_915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6_610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4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885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2_959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6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74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3_026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7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16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996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6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_015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610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06079" cy="186689"/>
          </a:xfrm>
          <a:prstGeom prst="rect">
            <a:avLst/>
          </a:prstGeom>
          <a:noFill/>
        </p:spPr>
        <p:txBody>
          <a:bodyPr wrap="none" lIns="0" rIns="0" tIns="0" bIns="0">
            <a:spAutoFit/>
          </a:bodyPr>
          <a:lstStyle/>
          <a:p>
            <a:r>
              <a:rPr sz="1100" b="0">
                <a:solidFill>
                  <a:srgbClr val="2E2E2E"/>
                </a:solidFill>
                <a:latin typeface="Calibri"/>
              </a:rPr>
              <a:t>North America crab meat market is projected to</a:t>
            </a:r>
          </a:p>
        </p:txBody>
      </p:sp>
      <p:sp>
        <p:nvSpPr>
          <p:cNvPr id="102" name="TextBox 101"/>
          <p:cNvSpPr txBox="1"/>
          <p:nvPr/>
        </p:nvSpPr>
        <p:spPr>
          <a:xfrm>
            <a:off x="485775" y="439707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3" name="Picture 102" descr="lock.png"/>
          <p:cNvPicPr>
            <a:picLocks noChangeAspect="1"/>
          </p:cNvPicPr>
          <p:nvPr/>
        </p:nvPicPr>
        <p:blipFill>
          <a:blip r:embed="rId22"/>
          <a:stretch>
            <a:fillRect/>
          </a:stretch>
        </p:blipFill>
        <p:spPr>
          <a:xfrm>
            <a:off x="946316" y="4387298"/>
            <a:ext cx="128699" cy="187198"/>
          </a:xfrm>
          <a:prstGeom prst="rect">
            <a:avLst/>
          </a:prstGeom>
        </p:spPr>
      </p:pic>
      <p:sp>
        <p:nvSpPr>
          <p:cNvPr id="104" name="TextBox 103"/>
          <p:cNvSpPr txBox="1"/>
          <p:nvPr/>
        </p:nvSpPr>
        <p:spPr>
          <a:xfrm>
            <a:off x="1113812" y="4397077"/>
            <a:ext cx="2099121" cy="186689"/>
          </a:xfrm>
          <a:prstGeom prst="rect">
            <a:avLst/>
          </a:prstGeom>
          <a:noFill/>
        </p:spPr>
        <p:txBody>
          <a:bodyPr wrap="none" lIns="0" rIns="0" tIns="0" bIns="0">
            <a:spAutoFit/>
          </a:bodyPr>
          <a:lstStyle/>
          <a:p>
            <a:r>
              <a:rPr sz="1100" b="0">
                <a:solidFill>
                  <a:srgbClr val="2E2E2E"/>
                </a:solidFill>
                <a:latin typeface="Calibri"/>
              </a:rPr>
              <a:t>X higher value than Europe in 2036.</a:t>
            </a:r>
          </a:p>
        </p:txBody>
      </p:sp>
      <p:sp>
        <p:nvSpPr>
          <p:cNvPr id="105" name="TextBox 104"/>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Among crab meat by region, South Asia &amp; Pacific is</a:t>
            </a:r>
          </a:p>
        </p:txBody>
      </p:sp>
      <p:sp>
        <p:nvSpPr>
          <p:cNvPr id="106" name="TextBox 105"/>
          <p:cNvSpPr txBox="1"/>
          <p:nvPr/>
        </p:nvSpPr>
        <p:spPr>
          <a:xfrm>
            <a:off x="485775" y="473235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7" name="Picture 106" descr="lock.png"/>
          <p:cNvPicPr>
            <a:picLocks noChangeAspect="1"/>
          </p:cNvPicPr>
          <p:nvPr/>
        </p:nvPicPr>
        <p:blipFill>
          <a:blip r:embed="rId22"/>
          <a:stretch>
            <a:fillRect/>
          </a:stretch>
        </p:blipFill>
        <p:spPr>
          <a:xfrm>
            <a:off x="2815059" y="4722578"/>
            <a:ext cx="128699" cy="187198"/>
          </a:xfrm>
          <a:prstGeom prst="rect">
            <a:avLst/>
          </a:prstGeom>
        </p:spPr>
      </p:pic>
      <p:sp>
        <p:nvSpPr>
          <p:cNvPr id="108" name="TextBox 107"/>
          <p:cNvSpPr txBox="1"/>
          <p:nvPr/>
        </p:nvSpPr>
        <p:spPr>
          <a:xfrm>
            <a:off x="2982555" y="473235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9" name="TextBox 108"/>
          <p:cNvSpPr txBox="1"/>
          <p:nvPr/>
        </p:nvSpPr>
        <p:spPr>
          <a:xfrm>
            <a:off x="485775" y="489999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110" name="TextBox 109"/>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1" name="TextBox 110"/>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2" name="Picture 111" descr="lock.png"/>
          <p:cNvPicPr>
            <a:picLocks noChangeAspect="1"/>
          </p:cNvPicPr>
          <p:nvPr/>
        </p:nvPicPr>
        <p:blipFill>
          <a:blip r:embed="rId22"/>
          <a:stretch>
            <a:fillRect/>
          </a:stretch>
        </p:blipFill>
        <p:spPr>
          <a:xfrm>
            <a:off x="2822716" y="5275790"/>
            <a:ext cx="128699" cy="187198"/>
          </a:xfrm>
          <a:prstGeom prst="rect">
            <a:avLst/>
          </a:prstGeom>
        </p:spPr>
      </p:pic>
      <p:sp>
        <p:nvSpPr>
          <p:cNvPr id="113" name="TextBox 112"/>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4" name="TextBox 113"/>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5" name="Picture 114" descr="lock.png"/>
          <p:cNvPicPr>
            <a:picLocks noChangeAspect="1"/>
          </p:cNvPicPr>
          <p:nvPr/>
        </p:nvPicPr>
        <p:blipFill>
          <a:blip r:embed="rId22"/>
          <a:stretch>
            <a:fillRect/>
          </a:stretch>
        </p:blipFill>
        <p:spPr>
          <a:xfrm>
            <a:off x="1576057" y="5443430"/>
            <a:ext cx="128699" cy="187198"/>
          </a:xfrm>
          <a:prstGeom prst="rect">
            <a:avLst/>
          </a:prstGeom>
        </p:spPr>
      </p:pic>
      <p:sp>
        <p:nvSpPr>
          <p:cNvPr id="116" name="TextBox 115"/>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7" name="TextBox 116"/>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8" name="Picture 117" descr="lock.png"/>
          <p:cNvPicPr>
            <a:picLocks noChangeAspect="1"/>
          </p:cNvPicPr>
          <p:nvPr/>
        </p:nvPicPr>
        <p:blipFill>
          <a:blip r:embed="rId22"/>
          <a:stretch>
            <a:fillRect/>
          </a:stretch>
        </p:blipFill>
        <p:spPr>
          <a:xfrm>
            <a:off x="4850003" y="4219658"/>
            <a:ext cx="128699" cy="187198"/>
          </a:xfrm>
          <a:prstGeom prst="rect">
            <a:avLst/>
          </a:prstGeom>
        </p:spPr>
      </p:pic>
      <p:sp>
        <p:nvSpPr>
          <p:cNvPr id="119" name="TextBox 118"/>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876949" y="4219658"/>
            <a:ext cx="128699" cy="187198"/>
          </a:xfrm>
          <a:prstGeom prst="rect">
            <a:avLst/>
          </a:prstGeom>
        </p:spPr>
      </p:pic>
      <p:sp>
        <p:nvSpPr>
          <p:cNvPr id="121" name="TextBox 120"/>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2" name="TextBox 121"/>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3" name="Picture 122" descr="lock.png"/>
          <p:cNvPicPr>
            <a:picLocks noChangeAspect="1"/>
          </p:cNvPicPr>
          <p:nvPr/>
        </p:nvPicPr>
        <p:blipFill>
          <a:blip r:embed="rId22"/>
          <a:stretch>
            <a:fillRect/>
          </a:stretch>
        </p:blipFill>
        <p:spPr>
          <a:xfrm>
            <a:off x="4423263" y="4437590"/>
            <a:ext cx="128699" cy="187198"/>
          </a:xfrm>
          <a:prstGeom prst="rect">
            <a:avLst/>
          </a:prstGeom>
        </p:spPr>
      </p:pic>
      <p:sp>
        <p:nvSpPr>
          <p:cNvPr id="124" name="TextBox 123"/>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5450209" y="4437590"/>
            <a:ext cx="128699" cy="187198"/>
          </a:xfrm>
          <a:prstGeom prst="rect">
            <a:avLst/>
          </a:prstGeom>
        </p:spPr>
      </p:pic>
      <p:sp>
        <p:nvSpPr>
          <p:cNvPr id="126" name="TextBox 125"/>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7" name="TextBox 126"/>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8" name="Picture 127" descr="lock.png"/>
          <p:cNvPicPr>
            <a:picLocks noChangeAspect="1"/>
          </p:cNvPicPr>
          <p:nvPr/>
        </p:nvPicPr>
        <p:blipFill>
          <a:blip r:embed="rId22"/>
          <a:stretch>
            <a:fillRect/>
          </a:stretch>
        </p:blipFill>
        <p:spPr>
          <a:xfrm>
            <a:off x="4518727" y="4655522"/>
            <a:ext cx="128699" cy="187198"/>
          </a:xfrm>
          <a:prstGeom prst="rect">
            <a:avLst/>
          </a:prstGeom>
        </p:spPr>
      </p:pic>
      <p:sp>
        <p:nvSpPr>
          <p:cNvPr id="129" name="TextBox 128"/>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5545673" y="4655522"/>
            <a:ext cx="128699" cy="187198"/>
          </a:xfrm>
          <a:prstGeom prst="rect">
            <a:avLst/>
          </a:prstGeom>
        </p:spPr>
      </p:pic>
      <p:sp>
        <p:nvSpPr>
          <p:cNvPr id="131" name="TextBox 130"/>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2" name="TextBox 131"/>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3" name="Picture 132" descr="lock.png"/>
          <p:cNvPicPr>
            <a:picLocks noChangeAspect="1"/>
          </p:cNvPicPr>
          <p:nvPr/>
        </p:nvPicPr>
        <p:blipFill>
          <a:blip r:embed="rId22"/>
          <a:stretch>
            <a:fillRect/>
          </a:stretch>
        </p:blipFill>
        <p:spPr>
          <a:xfrm>
            <a:off x="5136770" y="4873454"/>
            <a:ext cx="128699" cy="187198"/>
          </a:xfrm>
          <a:prstGeom prst="rect">
            <a:avLst/>
          </a:prstGeom>
        </p:spPr>
      </p:pic>
      <p:sp>
        <p:nvSpPr>
          <p:cNvPr id="134" name="TextBox 133"/>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163716" y="4873454"/>
            <a:ext cx="128699" cy="187198"/>
          </a:xfrm>
          <a:prstGeom prst="rect">
            <a:avLst/>
          </a:prstGeom>
        </p:spPr>
      </p:pic>
      <p:sp>
        <p:nvSpPr>
          <p:cNvPr id="136" name="TextBox 135"/>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7" name="TextBox 136"/>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8" name="Picture 137" descr="lock.png"/>
          <p:cNvPicPr>
            <a:picLocks noChangeAspect="1"/>
          </p:cNvPicPr>
          <p:nvPr/>
        </p:nvPicPr>
        <p:blipFill>
          <a:blip r:embed="rId22"/>
          <a:stretch>
            <a:fillRect/>
          </a:stretch>
        </p:blipFill>
        <p:spPr>
          <a:xfrm>
            <a:off x="4794887" y="5091385"/>
            <a:ext cx="128699" cy="187198"/>
          </a:xfrm>
          <a:prstGeom prst="rect">
            <a:avLst/>
          </a:prstGeom>
        </p:spPr>
      </p:pic>
      <p:sp>
        <p:nvSpPr>
          <p:cNvPr id="139" name="TextBox 138"/>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5821833" y="5091385"/>
            <a:ext cx="128699" cy="187198"/>
          </a:xfrm>
          <a:prstGeom prst="rect">
            <a:avLst/>
          </a:prstGeom>
        </p:spPr>
      </p:pic>
      <p:sp>
        <p:nvSpPr>
          <p:cNvPr id="141" name="TextBox 140"/>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2" name="TextBox 141"/>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3" name="Picture 142" descr="lock.png"/>
          <p:cNvPicPr>
            <a:picLocks noChangeAspect="1"/>
          </p:cNvPicPr>
          <p:nvPr/>
        </p:nvPicPr>
        <p:blipFill>
          <a:blip r:embed="rId22"/>
          <a:stretch>
            <a:fillRect/>
          </a:stretch>
        </p:blipFill>
        <p:spPr>
          <a:xfrm>
            <a:off x="5173571" y="5309317"/>
            <a:ext cx="128699" cy="187198"/>
          </a:xfrm>
          <a:prstGeom prst="rect">
            <a:avLst/>
          </a:prstGeom>
        </p:spPr>
      </p:pic>
      <p:sp>
        <p:nvSpPr>
          <p:cNvPr id="144" name="TextBox 143"/>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200517" y="5309317"/>
            <a:ext cx="128699" cy="187198"/>
          </a:xfrm>
          <a:prstGeom prst="rect">
            <a:avLst/>
          </a:prstGeom>
        </p:spPr>
      </p:pic>
      <p:sp>
        <p:nvSpPr>
          <p:cNvPr id="146" name="TextBox 145"/>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Analysis, By Region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0196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2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90513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9003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2417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60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1636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4116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354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973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352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305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543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162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77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9029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67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86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91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44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823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4_2__605E5C.png"/>
          <p:cNvPicPr>
            <a:picLocks noChangeAspect="1"/>
          </p:cNvPicPr>
          <p:nvPr/>
        </p:nvPicPr>
        <p:blipFill>
          <a:blip r:embed="rId6"/>
          <a:stretch>
            <a:fillRect/>
          </a:stretch>
        </p:blipFill>
        <p:spPr>
          <a:xfrm>
            <a:off x="9465355" y="5897562"/>
            <a:ext cx="1309912" cy="482599"/>
          </a:xfrm>
          <a:prstGeom prst="rect">
            <a:avLst/>
          </a:prstGeom>
        </p:spPr>
      </p:pic>
      <p:pic>
        <p:nvPicPr>
          <p:cNvPr id="49" name="Picture 48" descr="lock.png"/>
          <p:cNvPicPr>
            <a:picLocks noChangeAspect="1"/>
          </p:cNvPicPr>
          <p:nvPr/>
        </p:nvPicPr>
        <p:blipFill>
          <a:blip r:embed="rId5"/>
          <a:stretch>
            <a:fillRect/>
          </a:stretch>
        </p:blipFill>
        <p:spPr>
          <a:xfrm>
            <a:off x="10003631" y="5972175"/>
            <a:ext cx="229195" cy="333375"/>
          </a:xfrm>
          <a:prstGeom prst="rect">
            <a:avLst/>
          </a:prstGeom>
        </p:spPr>
      </p:pic>
      <p:sp>
        <p:nvSpPr>
          <p:cNvPr id="50" name="TextBox 49"/>
          <p:cNvSpPr txBox="1"/>
          <p:nvPr/>
        </p:nvSpPr>
        <p:spPr>
          <a:xfrm>
            <a:off x="7239000" y="1400175"/>
            <a:ext cx="3719177" cy="194310"/>
          </a:xfrm>
          <a:prstGeom prst="rect">
            <a:avLst/>
          </a:prstGeom>
          <a:noFill/>
        </p:spPr>
        <p:txBody>
          <a:bodyPr wrap="none" lIns="0" rIns="0" tIns="0" bIns="0">
            <a:spAutoFit/>
          </a:bodyPr>
          <a:lstStyle/>
          <a:p>
            <a:r>
              <a:rPr sz="1150" b="0">
                <a:solidFill>
                  <a:srgbClr val="2E2E2E"/>
                </a:solidFill>
                <a:latin typeface="Calibri"/>
              </a:rPr>
              <a:t>South Asia &amp; Pacific crab meat market is projected to register</a:t>
            </a:r>
          </a:p>
        </p:txBody>
      </p:sp>
      <p:pic>
        <p:nvPicPr>
          <p:cNvPr id="51" name="Picture 50" descr="lock.png"/>
          <p:cNvPicPr>
            <a:picLocks noChangeAspect="1"/>
          </p:cNvPicPr>
          <p:nvPr/>
        </p:nvPicPr>
        <p:blipFill>
          <a:blip r:embed="rId5"/>
          <a:stretch>
            <a:fillRect/>
          </a:stretch>
        </p:blipFill>
        <p:spPr>
          <a:xfrm>
            <a:off x="10907331" y="1389951"/>
            <a:ext cx="134549" cy="195707"/>
          </a:xfrm>
          <a:prstGeom prst="rect">
            <a:avLst/>
          </a:prstGeom>
        </p:spPr>
      </p:pic>
      <p:sp>
        <p:nvSpPr>
          <p:cNvPr id="52" name="TextBox 51"/>
          <p:cNvSpPr txBox="1"/>
          <p:nvPr/>
        </p:nvSpPr>
        <p:spPr>
          <a:xfrm>
            <a:off x="11082440"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53" name="TextBox 52"/>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volume than Europe in 2036. Among crab meat by region, South Asia &amp; Pacific</a:t>
            </a:r>
          </a:p>
        </p:txBody>
      </p:sp>
      <p:sp>
        <p:nvSpPr>
          <p:cNvPr id="54" name="TextBox 53"/>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55" name="Picture 54" descr="lock.png"/>
          <p:cNvPicPr>
            <a:picLocks noChangeAspect="1"/>
          </p:cNvPicPr>
          <p:nvPr/>
        </p:nvPicPr>
        <p:blipFill>
          <a:blip r:embed="rId5"/>
          <a:stretch>
            <a:fillRect/>
          </a:stretch>
        </p:blipFill>
        <p:spPr>
          <a:xfrm>
            <a:off x="9797961" y="1740471"/>
            <a:ext cx="134549" cy="195707"/>
          </a:xfrm>
          <a:prstGeom prst="rect">
            <a:avLst/>
          </a:prstGeom>
        </p:spPr>
      </p:pic>
      <p:sp>
        <p:nvSpPr>
          <p:cNvPr id="56" name="TextBox 55"/>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7" name="TextBox 56"/>
          <p:cNvSpPr txBox="1"/>
          <p:nvPr/>
        </p:nvSpPr>
        <p:spPr>
          <a:xfrm>
            <a:off x="7239000" y="197853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8" name="TextBox 57"/>
          <p:cNvSpPr txBox="1"/>
          <p:nvPr/>
        </p:nvSpPr>
        <p:spPr>
          <a:xfrm>
            <a:off x="7239000" y="215379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9" name="Picture 58" descr="lock.png"/>
          <p:cNvPicPr>
            <a:picLocks noChangeAspect="1"/>
          </p:cNvPicPr>
          <p:nvPr/>
        </p:nvPicPr>
        <p:blipFill>
          <a:blip r:embed="rId5"/>
          <a:stretch>
            <a:fillRect/>
          </a:stretch>
        </p:blipFill>
        <p:spPr>
          <a:xfrm>
            <a:off x="9025226" y="2143569"/>
            <a:ext cx="134549" cy="195707"/>
          </a:xfrm>
          <a:prstGeom prst="rect">
            <a:avLst/>
          </a:prstGeom>
        </p:spPr>
      </p:pic>
      <p:sp>
        <p:nvSpPr>
          <p:cNvPr id="60" name="TextBox 59"/>
          <p:cNvSpPr txBox="1"/>
          <p:nvPr/>
        </p:nvSpPr>
        <p:spPr>
          <a:xfrm>
            <a:off x="9200335"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1" name="Picture 60" descr="lock.png"/>
          <p:cNvPicPr>
            <a:picLocks noChangeAspect="1"/>
          </p:cNvPicPr>
          <p:nvPr/>
        </p:nvPicPr>
        <p:blipFill>
          <a:blip r:embed="rId5"/>
          <a:stretch>
            <a:fillRect/>
          </a:stretch>
        </p:blipFill>
        <p:spPr>
          <a:xfrm>
            <a:off x="10595478" y="2143569"/>
            <a:ext cx="134549" cy="195707"/>
          </a:xfrm>
          <a:prstGeom prst="rect">
            <a:avLst/>
          </a:prstGeom>
        </p:spPr>
      </p:pic>
      <p:sp>
        <p:nvSpPr>
          <p:cNvPr id="62" name="TextBox 61"/>
          <p:cNvSpPr txBox="1"/>
          <p:nvPr/>
        </p:nvSpPr>
        <p:spPr>
          <a:xfrm>
            <a:off x="10770588"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3" name="TextBox 62"/>
          <p:cNvSpPr txBox="1"/>
          <p:nvPr/>
        </p:nvSpPr>
        <p:spPr>
          <a:xfrm>
            <a:off x="7239000" y="232905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4" name="Picture 63" descr="lock.png"/>
          <p:cNvPicPr>
            <a:picLocks noChangeAspect="1"/>
          </p:cNvPicPr>
          <p:nvPr/>
        </p:nvPicPr>
        <p:blipFill>
          <a:blip r:embed="rId5"/>
          <a:stretch>
            <a:fillRect/>
          </a:stretch>
        </p:blipFill>
        <p:spPr>
          <a:xfrm>
            <a:off x="9271685" y="2318829"/>
            <a:ext cx="134549" cy="195707"/>
          </a:xfrm>
          <a:prstGeom prst="rect">
            <a:avLst/>
          </a:prstGeom>
        </p:spPr>
      </p:pic>
      <p:sp>
        <p:nvSpPr>
          <p:cNvPr id="65" name="TextBox 64"/>
          <p:cNvSpPr txBox="1"/>
          <p:nvPr/>
        </p:nvSpPr>
        <p:spPr>
          <a:xfrm>
            <a:off x="9446794" y="232905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6" name="TextBox 65"/>
          <p:cNvSpPr txBox="1"/>
          <p:nvPr/>
        </p:nvSpPr>
        <p:spPr>
          <a:xfrm>
            <a:off x="7239000" y="250431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7" name="Picture 66" descr="lock.png"/>
          <p:cNvPicPr>
            <a:picLocks noChangeAspect="1"/>
          </p:cNvPicPr>
          <p:nvPr/>
        </p:nvPicPr>
        <p:blipFill>
          <a:blip r:embed="rId5"/>
          <a:stretch>
            <a:fillRect/>
          </a:stretch>
        </p:blipFill>
        <p:spPr>
          <a:xfrm>
            <a:off x="7943258" y="2494089"/>
            <a:ext cx="134549" cy="195707"/>
          </a:xfrm>
          <a:prstGeom prst="rect">
            <a:avLst/>
          </a:prstGeom>
        </p:spPr>
      </p:pic>
      <p:sp>
        <p:nvSpPr>
          <p:cNvPr id="68" name="TextBox 67"/>
          <p:cNvSpPr txBox="1"/>
          <p:nvPr/>
        </p:nvSpPr>
        <p:spPr>
          <a:xfrm>
            <a:off x="8118367"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9" name="TextBox 68"/>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70" name="Picture 69" descr="lock.png"/>
          <p:cNvPicPr>
            <a:picLocks noChangeAspect="1"/>
          </p:cNvPicPr>
          <p:nvPr/>
        </p:nvPicPr>
        <p:blipFill>
          <a:blip r:embed="rId5"/>
          <a:stretch>
            <a:fillRect/>
          </a:stretch>
        </p:blipFill>
        <p:spPr>
          <a:xfrm>
            <a:off x="1984327" y="6077648"/>
            <a:ext cx="233998" cy="340360"/>
          </a:xfrm>
          <a:prstGeom prst="rect">
            <a:avLst/>
          </a:prstGeom>
        </p:spPr>
      </p:pic>
      <p:sp>
        <p:nvSpPr>
          <p:cNvPr id="71" name="TextBox 70"/>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72" name="Picture 71" descr="lock.png"/>
          <p:cNvPicPr>
            <a:picLocks noChangeAspect="1"/>
          </p:cNvPicPr>
          <p:nvPr/>
        </p:nvPicPr>
        <p:blipFill>
          <a:blip r:embed="rId5"/>
          <a:stretch>
            <a:fillRect/>
          </a:stretch>
        </p:blipFill>
        <p:spPr>
          <a:xfrm>
            <a:off x="6018165" y="6077648"/>
            <a:ext cx="233998" cy="340360"/>
          </a:xfrm>
          <a:prstGeom prst="rect">
            <a:avLst/>
          </a:prstGeom>
        </p:spPr>
      </p:pic>
      <p:sp>
        <p:nvSpPr>
          <p:cNvPr id="73"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930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45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834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2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7429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695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933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552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6593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611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8497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468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3894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341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579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989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5005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957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95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814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608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713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51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70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14,500</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23,200</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4.8%</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sp>
        <p:nvSpPr>
          <p:cNvPr id="48" name="TextBox 47"/>
          <p:cNvSpPr txBox="1"/>
          <p:nvPr/>
        </p:nvSpPr>
        <p:spPr>
          <a:xfrm>
            <a:off x="7239000" y="1400175"/>
            <a:ext cx="3419375" cy="194310"/>
          </a:xfrm>
          <a:prstGeom prst="rect">
            <a:avLst/>
          </a:prstGeom>
          <a:noFill/>
        </p:spPr>
        <p:txBody>
          <a:bodyPr wrap="none" lIns="0" rIns="0" tIns="0" bIns="0">
            <a:spAutoFit/>
          </a:bodyPr>
          <a:lstStyle/>
          <a:p>
            <a:r>
              <a:rPr sz="1150" b="0">
                <a:solidFill>
                  <a:srgbClr val="2E2E2E"/>
                </a:solidFill>
                <a:latin typeface="Calibri"/>
              </a:rPr>
              <a:t>North America crab meat market is projected to register</a:t>
            </a:r>
          </a:p>
        </p:txBody>
      </p:sp>
      <p:pic>
        <p:nvPicPr>
          <p:cNvPr id="49" name="Picture 48" descr="lock.png"/>
          <p:cNvPicPr>
            <a:picLocks noChangeAspect="1"/>
          </p:cNvPicPr>
          <p:nvPr/>
        </p:nvPicPr>
        <p:blipFill>
          <a:blip r:embed="rId5"/>
          <a:stretch>
            <a:fillRect/>
          </a:stretch>
        </p:blipFill>
        <p:spPr>
          <a:xfrm>
            <a:off x="10607529" y="1389951"/>
            <a:ext cx="134549" cy="195707"/>
          </a:xfrm>
          <a:prstGeom prst="rect">
            <a:avLst/>
          </a:prstGeom>
        </p:spPr>
      </p:pic>
      <p:sp>
        <p:nvSpPr>
          <p:cNvPr id="50" name="TextBox 49"/>
          <p:cNvSpPr txBox="1"/>
          <p:nvPr/>
        </p:nvSpPr>
        <p:spPr>
          <a:xfrm>
            <a:off x="10782638" y="1400175"/>
            <a:ext cx="916843" cy="194310"/>
          </a:xfrm>
          <a:prstGeom prst="rect">
            <a:avLst/>
          </a:prstGeom>
          <a:noFill/>
        </p:spPr>
        <p:txBody>
          <a:bodyPr wrap="none" lIns="0" rIns="0" tIns="0" bIns="0">
            <a:spAutoFit/>
          </a:bodyPr>
          <a:lstStyle/>
          <a:p>
            <a:r>
              <a:rPr sz="1150" b="0">
                <a:solidFill>
                  <a:srgbClr val="2E2E2E"/>
                </a:solidFill>
                <a:latin typeface="Calibri"/>
              </a:rPr>
              <a:t>X higher value</a:t>
            </a:r>
          </a:p>
        </p:txBody>
      </p:sp>
      <p:sp>
        <p:nvSpPr>
          <p:cNvPr id="51" name="TextBox 50"/>
          <p:cNvSpPr txBox="1"/>
          <p:nvPr/>
        </p:nvSpPr>
        <p:spPr>
          <a:xfrm>
            <a:off x="7239000" y="1575435"/>
            <a:ext cx="4362139" cy="194310"/>
          </a:xfrm>
          <a:prstGeom prst="rect">
            <a:avLst/>
          </a:prstGeom>
          <a:noFill/>
        </p:spPr>
        <p:txBody>
          <a:bodyPr wrap="none" lIns="0" rIns="0" tIns="0" bIns="0">
            <a:spAutoFit/>
          </a:bodyPr>
          <a:lstStyle/>
          <a:p>
            <a:r>
              <a:rPr sz="1150" b="0">
                <a:solidFill>
                  <a:srgbClr val="2E2E2E"/>
                </a:solidFill>
                <a:latin typeface="Calibri"/>
              </a:rPr>
              <a:t>than Europe in 2036. Among crab meat by region, South Asia &amp; Pacific is</a:t>
            </a:r>
          </a:p>
        </p:txBody>
      </p:sp>
      <p:sp>
        <p:nvSpPr>
          <p:cNvPr id="52" name="TextBox 51"/>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53" name="Picture 52" descr="lock.png"/>
          <p:cNvPicPr>
            <a:picLocks noChangeAspect="1"/>
          </p:cNvPicPr>
          <p:nvPr/>
        </p:nvPicPr>
        <p:blipFill>
          <a:blip r:embed="rId5"/>
          <a:stretch>
            <a:fillRect/>
          </a:stretch>
        </p:blipFill>
        <p:spPr>
          <a:xfrm>
            <a:off x="9674161" y="1740471"/>
            <a:ext cx="134549" cy="195707"/>
          </a:xfrm>
          <a:prstGeom prst="rect">
            <a:avLst/>
          </a:prstGeom>
        </p:spPr>
      </p:pic>
      <p:sp>
        <p:nvSpPr>
          <p:cNvPr id="54" name="TextBox 53"/>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5" name="TextBox 54"/>
          <p:cNvSpPr txBox="1"/>
          <p:nvPr/>
        </p:nvSpPr>
        <p:spPr>
          <a:xfrm>
            <a:off x="7239000" y="197853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6" name="TextBox 55"/>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57" name="Picture 56" descr="lock.png"/>
          <p:cNvPicPr>
            <a:picLocks noChangeAspect="1"/>
          </p:cNvPicPr>
          <p:nvPr/>
        </p:nvPicPr>
        <p:blipFill>
          <a:blip r:embed="rId5"/>
          <a:stretch>
            <a:fillRect/>
          </a:stretch>
        </p:blipFill>
        <p:spPr>
          <a:xfrm>
            <a:off x="8106708" y="2143569"/>
            <a:ext cx="134549" cy="195707"/>
          </a:xfrm>
          <a:prstGeom prst="rect">
            <a:avLst/>
          </a:prstGeom>
        </p:spPr>
      </p:pic>
      <p:sp>
        <p:nvSpPr>
          <p:cNvPr id="58" name="TextBox 57"/>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9" name="Picture 58" descr="lock.png"/>
          <p:cNvPicPr>
            <a:picLocks noChangeAspect="1"/>
          </p:cNvPicPr>
          <p:nvPr/>
        </p:nvPicPr>
        <p:blipFill>
          <a:blip r:embed="rId5"/>
          <a:stretch>
            <a:fillRect/>
          </a:stretch>
        </p:blipFill>
        <p:spPr>
          <a:xfrm>
            <a:off x="9676961" y="2143569"/>
            <a:ext cx="134549" cy="195707"/>
          </a:xfrm>
          <a:prstGeom prst="rect">
            <a:avLst/>
          </a:prstGeom>
        </p:spPr>
      </p:pic>
      <p:sp>
        <p:nvSpPr>
          <p:cNvPr id="60" name="TextBox 59"/>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Share Analysis, By Region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019425"/>
          </a:xfrm>
          <a:prstGeom prst="roundRect">
            <a:avLst>
              <a:gd name="adj" fmla="val 25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(MT)</a:t>
            </a:r>
          </a:p>
        </p:txBody>
      </p:sp>
      <p:graphicFrame>
        <p:nvGraphicFramePr>
          <p:cNvPr id="12" name="Table 11"/>
          <p:cNvGraphicFramePr>
            <a:graphicFrameLocks noGrp="1"/>
          </p:cNvGraphicFramePr>
          <p:nvPr/>
        </p:nvGraphicFramePr>
        <p:xfrm>
          <a:off x="152400" y="1238250"/>
          <a:ext cx="11892680" cy="255269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888">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East Asia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673">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673">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3800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133850"/>
            <a:ext cx="11906250" cy="2495550"/>
          </a:xfrm>
          <a:prstGeom prst="roundRect">
            <a:avLst>
              <a:gd name="adj" fmla="val 30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9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457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543425"/>
            <a:ext cx="11639550" cy="2009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467355"/>
            <a:ext cx="366712" cy="533400"/>
          </a:xfrm>
          <a:prstGeom prst="rect">
            <a:avLst/>
          </a:prstGeom>
        </p:spPr>
      </p:pic>
      <p:sp>
        <p:nvSpPr>
          <p:cNvPr id="20" name="TextBox 19"/>
          <p:cNvSpPr txBox="1"/>
          <p:nvPr/>
        </p:nvSpPr>
        <p:spPr>
          <a:xfrm>
            <a:off x="276225" y="4552950"/>
            <a:ext cx="3719177" cy="194310"/>
          </a:xfrm>
          <a:prstGeom prst="rect">
            <a:avLst/>
          </a:prstGeom>
          <a:noFill/>
        </p:spPr>
        <p:txBody>
          <a:bodyPr wrap="none" lIns="0" rIns="0" tIns="0" bIns="0">
            <a:spAutoFit/>
          </a:bodyPr>
          <a:lstStyle/>
          <a:p>
            <a:r>
              <a:rPr sz="1150" b="0">
                <a:solidFill>
                  <a:srgbClr val="2E2E2E"/>
                </a:solidFill>
                <a:latin typeface="Calibri"/>
              </a:rPr>
              <a:t>South Asia &amp; Pacific crab meat market is projected to register</a:t>
            </a:r>
          </a:p>
        </p:txBody>
      </p:sp>
      <p:pic>
        <p:nvPicPr>
          <p:cNvPr id="21" name="Picture 20" descr="lock.png"/>
          <p:cNvPicPr>
            <a:picLocks noChangeAspect="1"/>
          </p:cNvPicPr>
          <p:nvPr/>
        </p:nvPicPr>
        <p:blipFill>
          <a:blip r:embed="rId4"/>
          <a:stretch>
            <a:fillRect/>
          </a:stretch>
        </p:blipFill>
        <p:spPr>
          <a:xfrm>
            <a:off x="3944556" y="4542726"/>
            <a:ext cx="134549" cy="195707"/>
          </a:xfrm>
          <a:prstGeom prst="rect">
            <a:avLst/>
          </a:prstGeom>
        </p:spPr>
      </p:pic>
      <p:sp>
        <p:nvSpPr>
          <p:cNvPr id="22" name="TextBox 21"/>
          <p:cNvSpPr txBox="1"/>
          <p:nvPr/>
        </p:nvSpPr>
        <p:spPr>
          <a:xfrm>
            <a:off x="4119665" y="4552950"/>
            <a:ext cx="7647961" cy="194310"/>
          </a:xfrm>
          <a:prstGeom prst="rect">
            <a:avLst/>
          </a:prstGeom>
          <a:noFill/>
        </p:spPr>
        <p:txBody>
          <a:bodyPr wrap="none" lIns="0" rIns="0" tIns="0" bIns="0">
            <a:spAutoFit/>
          </a:bodyPr>
          <a:lstStyle/>
          <a:p>
            <a:r>
              <a:rPr sz="1150" b="0">
                <a:solidFill>
                  <a:srgbClr val="2E2E2E"/>
                </a:solidFill>
                <a:latin typeface="Calibri"/>
              </a:rPr>
              <a:t>X higher volume than Europe in 2036. Among crab meat by region, South Asia &amp; Pacific is expected to witness the highest CAGR</a:t>
            </a:r>
          </a:p>
        </p:txBody>
      </p:sp>
      <p:sp>
        <p:nvSpPr>
          <p:cNvPr id="23" name="TextBox 22"/>
          <p:cNvSpPr txBox="1"/>
          <p:nvPr/>
        </p:nvSpPr>
        <p:spPr>
          <a:xfrm>
            <a:off x="276225" y="4728210"/>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4717986"/>
            <a:ext cx="134549" cy="195707"/>
          </a:xfrm>
          <a:prstGeom prst="rect">
            <a:avLst/>
          </a:prstGeom>
        </p:spPr>
      </p:pic>
      <p:sp>
        <p:nvSpPr>
          <p:cNvPr id="25" name="TextBox 24"/>
          <p:cNvSpPr txBox="1"/>
          <p:nvPr/>
        </p:nvSpPr>
        <p:spPr>
          <a:xfrm>
            <a:off x="598206" y="47282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95604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945824"/>
            <a:ext cx="134549" cy="195707"/>
          </a:xfrm>
          <a:prstGeom prst="rect">
            <a:avLst/>
          </a:prstGeom>
        </p:spPr>
      </p:pic>
      <p:sp>
        <p:nvSpPr>
          <p:cNvPr id="28" name="TextBox 27"/>
          <p:cNvSpPr txBox="1"/>
          <p:nvPr/>
        </p:nvSpPr>
        <p:spPr>
          <a:xfrm>
            <a:off x="6447052" y="49560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945824"/>
            <a:ext cx="134549" cy="195707"/>
          </a:xfrm>
          <a:prstGeom prst="rect">
            <a:avLst/>
          </a:prstGeom>
        </p:spPr>
      </p:pic>
      <p:sp>
        <p:nvSpPr>
          <p:cNvPr id="30" name="TextBox 29"/>
          <p:cNvSpPr txBox="1"/>
          <p:nvPr/>
        </p:nvSpPr>
        <p:spPr>
          <a:xfrm>
            <a:off x="8017304" y="495604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945824"/>
            <a:ext cx="134549" cy="195707"/>
          </a:xfrm>
          <a:prstGeom prst="rect">
            <a:avLst/>
          </a:prstGeom>
        </p:spPr>
      </p:pic>
      <p:sp>
        <p:nvSpPr>
          <p:cNvPr id="32" name="TextBox 31"/>
          <p:cNvSpPr txBox="1"/>
          <p:nvPr/>
        </p:nvSpPr>
        <p:spPr>
          <a:xfrm>
            <a:off x="11128213" y="495604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513130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121084"/>
            <a:ext cx="134549" cy="195707"/>
          </a:xfrm>
          <a:prstGeom prst="rect">
            <a:avLst/>
          </a:prstGeom>
        </p:spPr>
      </p:pic>
      <p:sp>
        <p:nvSpPr>
          <p:cNvPr id="35" name="TextBox 34"/>
          <p:cNvSpPr txBox="1"/>
          <p:nvPr/>
        </p:nvSpPr>
        <p:spPr>
          <a:xfrm>
            <a:off x="2783536" y="51313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3419375" cy="194310"/>
          </a:xfrm>
          <a:prstGeom prst="rect">
            <a:avLst/>
          </a:prstGeom>
          <a:noFill/>
        </p:spPr>
        <p:txBody>
          <a:bodyPr wrap="none" lIns="0" rIns="0" tIns="0" bIns="0">
            <a:spAutoFit/>
          </a:bodyPr>
          <a:lstStyle/>
          <a:p>
            <a:r>
              <a:rPr sz="1150" b="0">
                <a:solidFill>
                  <a:srgbClr val="2E2E2E"/>
                </a:solidFill>
                <a:latin typeface="Calibri"/>
              </a:rPr>
              <a:t>North America crab meat market is projected to register</a:t>
            </a:r>
          </a:p>
        </p:txBody>
      </p:sp>
      <p:pic>
        <p:nvPicPr>
          <p:cNvPr id="21" name="Picture 20" descr="lock.png"/>
          <p:cNvPicPr>
            <a:picLocks noChangeAspect="1"/>
          </p:cNvPicPr>
          <p:nvPr/>
        </p:nvPicPr>
        <p:blipFill>
          <a:blip r:embed="rId4"/>
          <a:stretch>
            <a:fillRect/>
          </a:stretch>
        </p:blipFill>
        <p:spPr>
          <a:xfrm>
            <a:off x="3644754" y="3961701"/>
            <a:ext cx="134549" cy="195707"/>
          </a:xfrm>
          <a:prstGeom prst="rect">
            <a:avLst/>
          </a:prstGeom>
        </p:spPr>
      </p:pic>
      <p:sp>
        <p:nvSpPr>
          <p:cNvPr id="22" name="TextBox 21"/>
          <p:cNvSpPr txBox="1"/>
          <p:nvPr/>
        </p:nvSpPr>
        <p:spPr>
          <a:xfrm>
            <a:off x="3819863" y="3971925"/>
            <a:ext cx="7678769" cy="194310"/>
          </a:xfrm>
          <a:prstGeom prst="rect">
            <a:avLst/>
          </a:prstGeom>
          <a:noFill/>
        </p:spPr>
        <p:txBody>
          <a:bodyPr wrap="none" lIns="0" rIns="0" tIns="0" bIns="0">
            <a:spAutoFit/>
          </a:bodyPr>
          <a:lstStyle/>
          <a:p>
            <a:r>
              <a:rPr sz="1150" b="0">
                <a:solidFill>
                  <a:srgbClr val="2E2E2E"/>
                </a:solidFill>
                <a:latin typeface="Calibri"/>
              </a:rPr>
              <a:t>X higher value than Europe in 2036. Among crab meat by region, South Asia &amp; Pacific is expected to witness the highest CAGR of</a:t>
            </a:r>
          </a:p>
        </p:txBody>
      </p:sp>
      <p:pic>
        <p:nvPicPr>
          <p:cNvPr id="23" name="Picture 22" descr="lock.png"/>
          <p:cNvPicPr>
            <a:picLocks noChangeAspect="1"/>
          </p:cNvPicPr>
          <p:nvPr/>
        </p:nvPicPr>
        <p:blipFill>
          <a:blip r:embed="rId4"/>
          <a:stretch>
            <a:fillRect/>
          </a:stretch>
        </p:blipFill>
        <p:spPr>
          <a:xfrm>
            <a:off x="11447787" y="3961701"/>
            <a:ext cx="134549" cy="195707"/>
          </a:xfrm>
          <a:prstGeom prst="rect">
            <a:avLst/>
          </a:prstGeom>
        </p:spPr>
      </p:pic>
      <p:sp>
        <p:nvSpPr>
          <p:cNvPr id="24" name="TextBox 23"/>
          <p:cNvSpPr txBox="1"/>
          <p:nvPr/>
        </p:nvSpPr>
        <p:spPr>
          <a:xfrm>
            <a:off x="27622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6" name="Picture 25" descr="lock.png"/>
          <p:cNvPicPr>
            <a:picLocks noChangeAspect="1"/>
          </p:cNvPicPr>
          <p:nvPr/>
        </p:nvPicPr>
        <p:blipFill>
          <a:blip r:embed="rId4"/>
          <a:stretch>
            <a:fillRect/>
          </a:stretch>
        </p:blipFill>
        <p:spPr>
          <a:xfrm>
            <a:off x="5767043" y="4364799"/>
            <a:ext cx="134549" cy="195707"/>
          </a:xfrm>
          <a:prstGeom prst="rect">
            <a:avLst/>
          </a:prstGeom>
        </p:spPr>
      </p:pic>
      <p:sp>
        <p:nvSpPr>
          <p:cNvPr id="27" name="TextBox 26"/>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7337296" y="4364799"/>
            <a:ext cx="134549" cy="195707"/>
          </a:xfrm>
          <a:prstGeom prst="rect">
            <a:avLst/>
          </a:prstGeom>
        </p:spPr>
      </p:pic>
      <p:sp>
        <p:nvSpPr>
          <p:cNvPr id="29" name="TextBox 28"/>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(MT)</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10970"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49095" y="1266825"/>
            <a:ext cx="3403312" cy="288712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49095" y="4153945"/>
            <a:ext cx="3403312" cy="2418305"/>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852408" y="1266825"/>
            <a:ext cx="2895415" cy="2186057"/>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47823" y="1266825"/>
            <a:ext cx="2206052" cy="2186057"/>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852408" y="3452882"/>
            <a:ext cx="2561697" cy="1778162"/>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852408" y="5231044"/>
            <a:ext cx="2561697" cy="134120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414105" y="3452882"/>
            <a:ext cx="1281047" cy="212466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95151" y="3452882"/>
            <a:ext cx="1258724" cy="212466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414105" y="5577544"/>
            <a:ext cx="2539770" cy="994706"/>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89171"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996312" y="2710385"/>
            <a:ext cx="308877" cy="449275"/>
          </a:xfrm>
          <a:prstGeom prst="rect">
            <a:avLst/>
          </a:prstGeom>
        </p:spPr>
      </p:pic>
      <p:pic>
        <p:nvPicPr>
          <p:cNvPr id="25" name="Picture 24" descr="lock.png"/>
          <p:cNvPicPr>
            <a:picLocks noChangeAspect="1"/>
          </p:cNvPicPr>
          <p:nvPr/>
        </p:nvPicPr>
        <p:blipFill>
          <a:blip r:embed="rId4"/>
          <a:stretch>
            <a:fillRect/>
          </a:stretch>
        </p:blipFill>
        <p:spPr>
          <a:xfrm>
            <a:off x="4996312"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45677" y="2359853"/>
            <a:ext cx="308877" cy="449275"/>
          </a:xfrm>
          <a:prstGeom prst="rect">
            <a:avLst/>
          </a:prstGeom>
        </p:spPr>
      </p:pic>
      <p:pic>
        <p:nvPicPr>
          <p:cNvPr id="27" name="Picture 26" descr="lock.png"/>
          <p:cNvPicPr>
            <a:picLocks noChangeAspect="1"/>
          </p:cNvPicPr>
          <p:nvPr/>
        </p:nvPicPr>
        <p:blipFill>
          <a:blip r:embed="rId4"/>
          <a:stretch>
            <a:fillRect/>
          </a:stretch>
        </p:blipFill>
        <p:spPr>
          <a:xfrm>
            <a:off x="10696410" y="2359853"/>
            <a:ext cx="308877" cy="449275"/>
          </a:xfrm>
          <a:prstGeom prst="rect">
            <a:avLst/>
          </a:prstGeom>
        </p:spPr>
      </p:pic>
      <p:pic>
        <p:nvPicPr>
          <p:cNvPr id="28" name="Picture 27" descr="lock.png"/>
          <p:cNvPicPr>
            <a:picLocks noChangeAspect="1"/>
          </p:cNvPicPr>
          <p:nvPr/>
        </p:nvPicPr>
        <p:blipFill>
          <a:blip r:embed="rId4"/>
          <a:stretch>
            <a:fillRect/>
          </a:stretch>
        </p:blipFill>
        <p:spPr>
          <a:xfrm>
            <a:off x="7978818" y="4341963"/>
            <a:ext cx="308877" cy="449275"/>
          </a:xfrm>
          <a:prstGeom prst="rect">
            <a:avLst/>
          </a:prstGeom>
        </p:spPr>
      </p:pic>
      <p:pic>
        <p:nvPicPr>
          <p:cNvPr id="29" name="Picture 28" descr="lock.png"/>
          <p:cNvPicPr>
            <a:picLocks noChangeAspect="1"/>
          </p:cNvPicPr>
          <p:nvPr/>
        </p:nvPicPr>
        <p:blipFill>
          <a:blip r:embed="rId4"/>
          <a:stretch>
            <a:fillRect/>
          </a:stretch>
        </p:blipFill>
        <p:spPr>
          <a:xfrm>
            <a:off x="7978818" y="5901647"/>
            <a:ext cx="308877" cy="449275"/>
          </a:xfrm>
          <a:prstGeom prst="rect">
            <a:avLst/>
          </a:prstGeom>
        </p:spPr>
      </p:pic>
      <p:pic>
        <p:nvPicPr>
          <p:cNvPr id="30" name="Picture 29" descr="lock.png"/>
          <p:cNvPicPr>
            <a:picLocks noChangeAspect="1"/>
          </p:cNvPicPr>
          <p:nvPr/>
        </p:nvPicPr>
        <p:blipFill>
          <a:blip r:embed="rId4"/>
          <a:stretch>
            <a:fillRect/>
          </a:stretch>
        </p:blipFill>
        <p:spPr>
          <a:xfrm>
            <a:off x="9900190" y="4515213"/>
            <a:ext cx="308877" cy="449275"/>
          </a:xfrm>
          <a:prstGeom prst="rect">
            <a:avLst/>
          </a:prstGeom>
        </p:spPr>
      </p:pic>
      <p:pic>
        <p:nvPicPr>
          <p:cNvPr id="31" name="Picture 30" descr="lock.png"/>
          <p:cNvPicPr>
            <a:picLocks noChangeAspect="1"/>
          </p:cNvPicPr>
          <p:nvPr/>
        </p:nvPicPr>
        <p:blipFill>
          <a:blip r:embed="rId4"/>
          <a:stretch>
            <a:fillRect/>
          </a:stretch>
        </p:blipFill>
        <p:spPr>
          <a:xfrm>
            <a:off x="11170074" y="4515213"/>
            <a:ext cx="308877" cy="449275"/>
          </a:xfrm>
          <a:prstGeom prst="rect">
            <a:avLst/>
          </a:prstGeom>
        </p:spPr>
      </p:pic>
      <p:pic>
        <p:nvPicPr>
          <p:cNvPr id="32" name="Picture 31" descr="lock.png"/>
          <p:cNvPicPr>
            <a:picLocks noChangeAspect="1"/>
          </p:cNvPicPr>
          <p:nvPr/>
        </p:nvPicPr>
        <p:blipFill>
          <a:blip r:embed="rId4"/>
          <a:stretch>
            <a:fillRect/>
          </a:stretch>
        </p:blipFill>
        <p:spPr>
          <a:xfrm>
            <a:off x="10529551" y="6074897"/>
            <a:ext cx="308877" cy="44927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Crab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Meat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Claim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Crab Species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Crab Species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Crab Species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Crab Species,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Crab Species segment categorizes the market by crab species.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Mud Crab</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King Crab</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commercially traded crab sp…</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Snow Crab</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Blue Crab</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Dungeness Crab</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Crab Species split shows how demand is distributed across crab species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3_994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7_071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5_9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3_365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5_919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8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_666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817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3_7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592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791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8__605E5C.png"/>
          <p:cNvPicPr>
            <a:picLocks noChangeAspect="1"/>
          </p:cNvPicPr>
          <p:nvPr/>
        </p:nvPicPr>
        <p:blipFill>
          <a:blip r:embed="rId9"/>
          <a:stretch>
            <a:fillRect/>
          </a:stretch>
        </p:blipFill>
        <p:spPr>
          <a:xfrm>
            <a:off x="7219269" y="3272281"/>
            <a:ext cx="982436" cy="361950"/>
          </a:xfrm>
          <a:prstGeom prst="rect">
            <a:avLst/>
          </a:prstGeom>
        </p:spPr>
      </p:pic>
      <p:pic>
        <p:nvPicPr>
          <p:cNvPr id="89" name="Picture 88" descr="1_590_605E5C.png"/>
          <p:cNvPicPr>
            <a:picLocks noChangeAspect="1"/>
          </p:cNvPicPr>
          <p:nvPr/>
        </p:nvPicPr>
        <p:blipFill>
          <a:blip r:embed="rId15"/>
          <a:stretch>
            <a:fillRect/>
          </a:stretch>
        </p:blipFill>
        <p:spPr>
          <a:xfrm>
            <a:off x="8798548" y="2286582"/>
            <a:ext cx="1195728" cy="361950"/>
          </a:xfrm>
          <a:prstGeom prst="rect">
            <a:avLst/>
          </a:prstGeom>
        </p:spPr>
      </p:pic>
      <p:pic>
        <p:nvPicPr>
          <p:cNvPr id="90" name="Picture 89" descr="2_161_605E5C.png"/>
          <p:cNvPicPr>
            <a:picLocks noChangeAspect="1"/>
          </p:cNvPicPr>
          <p:nvPr/>
        </p:nvPicPr>
        <p:blipFill>
          <a:blip r:embed="rId16"/>
          <a:stretch>
            <a:fillRect/>
          </a:stretch>
        </p:blipFill>
        <p:spPr>
          <a:xfrm>
            <a:off x="8798548" y="2779432"/>
            <a:ext cx="1195728" cy="361950"/>
          </a:xfrm>
          <a:prstGeom prst="rect">
            <a:avLst/>
          </a:prstGeom>
        </p:spPr>
      </p:pic>
      <p:pic>
        <p:nvPicPr>
          <p:cNvPr id="91" name="Picture 90" descr="3_1__605E5C.png"/>
          <p:cNvPicPr>
            <a:picLocks noChangeAspect="1"/>
          </p:cNvPicPr>
          <p:nvPr/>
        </p:nvPicPr>
        <p:blipFill>
          <a:blip r:embed="rId17"/>
          <a:stretch>
            <a:fillRect/>
          </a:stretch>
        </p:blipFill>
        <p:spPr>
          <a:xfrm>
            <a:off x="8905194" y="3272281"/>
            <a:ext cx="982436" cy="361950"/>
          </a:xfrm>
          <a:prstGeom prst="rect">
            <a:avLst/>
          </a:prstGeom>
        </p:spPr>
      </p:pic>
      <p:pic>
        <p:nvPicPr>
          <p:cNvPr id="92" name="Picture 91" descr="1_293_605E5C.png"/>
          <p:cNvPicPr>
            <a:picLocks noChangeAspect="1"/>
          </p:cNvPicPr>
          <p:nvPr/>
        </p:nvPicPr>
        <p:blipFill>
          <a:blip r:embed="rId18"/>
          <a:stretch>
            <a:fillRect/>
          </a:stretch>
        </p:blipFill>
        <p:spPr>
          <a:xfrm>
            <a:off x="10484473" y="2286582"/>
            <a:ext cx="1195728" cy="361950"/>
          </a:xfrm>
          <a:prstGeom prst="rect">
            <a:avLst/>
          </a:prstGeom>
        </p:spPr>
      </p:pic>
      <p:pic>
        <p:nvPicPr>
          <p:cNvPr id="93" name="Picture 92" descr="1_441_605E5C.png"/>
          <p:cNvPicPr>
            <a:picLocks noChangeAspect="1"/>
          </p:cNvPicPr>
          <p:nvPr/>
        </p:nvPicPr>
        <p:blipFill>
          <a:blip r:embed="rId19"/>
          <a:stretch>
            <a:fillRect/>
          </a:stretch>
        </p:blipFill>
        <p:spPr>
          <a:xfrm>
            <a:off x="10484473" y="2779432"/>
            <a:ext cx="1195728" cy="361950"/>
          </a:xfrm>
          <a:prstGeom prst="rect">
            <a:avLst/>
          </a:prstGeom>
        </p:spPr>
      </p:pic>
      <p:pic>
        <p:nvPicPr>
          <p:cNvPr id="94" name="Picture 93" descr="1_1__605E5C.png"/>
          <p:cNvPicPr>
            <a:picLocks noChangeAspect="1"/>
          </p:cNvPicPr>
          <p:nvPr/>
        </p:nvPicPr>
        <p:blipFill>
          <a:blip r:embed="rId20"/>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1"/>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1"/>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1"/>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1"/>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1"/>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1"/>
          <a:stretch>
            <a:fillRect/>
          </a:stretch>
        </p:blipFill>
        <p:spPr>
          <a:xfrm>
            <a:off x="10988992" y="2827057"/>
            <a:ext cx="183356" cy="266700"/>
          </a:xfrm>
          <a:prstGeom prst="rect">
            <a:avLst/>
          </a:prstGeom>
        </p:spPr>
      </p:pic>
      <p:sp>
        <p:nvSpPr>
          <p:cNvPr id="101" name="TextBox 100"/>
          <p:cNvSpPr txBox="1"/>
          <p:nvPr/>
        </p:nvSpPr>
        <p:spPr>
          <a:xfrm>
            <a:off x="485775" y="4229437"/>
            <a:ext cx="2585888" cy="186689"/>
          </a:xfrm>
          <a:prstGeom prst="rect">
            <a:avLst/>
          </a:prstGeom>
          <a:noFill/>
        </p:spPr>
        <p:txBody>
          <a:bodyPr wrap="none" lIns="0" rIns="0" tIns="0" bIns="0">
            <a:spAutoFit/>
          </a:bodyPr>
          <a:lstStyle/>
          <a:p>
            <a:r>
              <a:rPr sz="1100" b="0">
                <a:solidFill>
                  <a:srgbClr val="2E2E2E"/>
                </a:solidFill>
                <a:latin typeface="Calibri"/>
              </a:rPr>
              <a:t>Among crab meat by crab species, mud crab</a:t>
            </a:r>
          </a:p>
        </p:txBody>
      </p:sp>
      <p:sp>
        <p:nvSpPr>
          <p:cNvPr id="102" name="TextBox 101"/>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03" name="TextBox 102"/>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04" name="Picture 103" descr="lock.png"/>
          <p:cNvPicPr>
            <a:picLocks noChangeAspect="1"/>
          </p:cNvPicPr>
          <p:nvPr/>
        </p:nvPicPr>
        <p:blipFill>
          <a:blip r:embed="rId21"/>
          <a:stretch>
            <a:fillRect/>
          </a:stretch>
        </p:blipFill>
        <p:spPr>
          <a:xfrm>
            <a:off x="626261" y="4554938"/>
            <a:ext cx="128699" cy="187198"/>
          </a:xfrm>
          <a:prstGeom prst="rect">
            <a:avLst/>
          </a:prstGeom>
        </p:spPr>
      </p:pic>
      <p:sp>
        <p:nvSpPr>
          <p:cNvPr id="105" name="TextBox 104"/>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06" name="TextBox 105"/>
          <p:cNvSpPr txBox="1"/>
          <p:nvPr/>
        </p:nvSpPr>
        <p:spPr>
          <a:xfrm>
            <a:off x="485775" y="4732357"/>
            <a:ext cx="2750418" cy="186689"/>
          </a:xfrm>
          <a:prstGeom prst="rect">
            <a:avLst/>
          </a:prstGeom>
          <a:noFill/>
        </p:spPr>
        <p:txBody>
          <a:bodyPr wrap="none" lIns="0" rIns="0" tIns="0" bIns="0">
            <a:spAutoFit/>
          </a:bodyPr>
          <a:lstStyle/>
          <a:p>
            <a:r>
              <a:rPr sz="1100" b="0">
                <a:solidFill>
                  <a:srgbClr val="2E2E2E"/>
                </a:solidFill>
                <a:latin typeface="Calibri"/>
              </a:rPr>
              <a:t>share by crab species, the mud crab segment is</a:t>
            </a:r>
          </a:p>
        </p:txBody>
      </p:sp>
      <p:sp>
        <p:nvSpPr>
          <p:cNvPr id="107" name="TextBox 106"/>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8" name="Picture 107" descr="lock.png"/>
          <p:cNvPicPr>
            <a:picLocks noChangeAspect="1"/>
          </p:cNvPicPr>
          <p:nvPr/>
        </p:nvPicPr>
        <p:blipFill>
          <a:blip r:embed="rId21"/>
          <a:stretch>
            <a:fillRect/>
          </a:stretch>
        </p:blipFill>
        <p:spPr>
          <a:xfrm>
            <a:off x="2900479" y="4890217"/>
            <a:ext cx="128699" cy="187198"/>
          </a:xfrm>
          <a:prstGeom prst="rect">
            <a:avLst/>
          </a:prstGeom>
        </p:spPr>
      </p:pic>
      <p:sp>
        <p:nvSpPr>
          <p:cNvPr id="109" name="TextBox 108"/>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0" name="TextBox 109"/>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1" name="Picture 110" descr="lock.png"/>
          <p:cNvPicPr>
            <a:picLocks noChangeAspect="1"/>
          </p:cNvPicPr>
          <p:nvPr/>
        </p:nvPicPr>
        <p:blipFill>
          <a:blip r:embed="rId21"/>
          <a:stretch>
            <a:fillRect/>
          </a:stretch>
        </p:blipFill>
        <p:spPr>
          <a:xfrm>
            <a:off x="1576057" y="5057858"/>
            <a:ext cx="128699" cy="187198"/>
          </a:xfrm>
          <a:prstGeom prst="rect">
            <a:avLst/>
          </a:prstGeom>
        </p:spPr>
      </p:pic>
      <p:sp>
        <p:nvSpPr>
          <p:cNvPr id="112" name="TextBox 111"/>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285569"/>
            <a:ext cx="2463924" cy="186689"/>
          </a:xfrm>
          <a:prstGeom prst="rect">
            <a:avLst/>
          </a:prstGeom>
          <a:noFill/>
        </p:spPr>
        <p:txBody>
          <a:bodyPr wrap="none" lIns="0" rIns="0" tIns="0" bIns="0">
            <a:spAutoFit/>
          </a:bodyPr>
          <a:lstStyle/>
          <a:p>
            <a:r>
              <a:rPr sz="1100" b="0">
                <a:solidFill>
                  <a:srgbClr val="2E2E2E"/>
                </a:solidFill>
                <a:latin typeface="Calibri"/>
              </a:rPr>
              <a:t>Mud crab segment is projected to register</a:t>
            </a:r>
          </a:p>
        </p:txBody>
      </p:sp>
      <p:pic>
        <p:nvPicPr>
          <p:cNvPr id="114" name="Picture 113" descr="lock.png"/>
          <p:cNvPicPr>
            <a:picLocks noChangeAspect="1"/>
          </p:cNvPicPr>
          <p:nvPr/>
        </p:nvPicPr>
        <p:blipFill>
          <a:blip r:embed="rId21"/>
          <a:stretch>
            <a:fillRect/>
          </a:stretch>
        </p:blipFill>
        <p:spPr>
          <a:xfrm>
            <a:off x="2897750" y="5275790"/>
            <a:ext cx="128699" cy="187198"/>
          </a:xfrm>
          <a:prstGeom prst="rect">
            <a:avLst/>
          </a:prstGeom>
        </p:spPr>
      </p:pic>
      <p:sp>
        <p:nvSpPr>
          <p:cNvPr id="115" name="TextBox 114"/>
          <p:cNvSpPr txBox="1"/>
          <p:nvPr/>
        </p:nvSpPr>
        <p:spPr>
          <a:xfrm>
            <a:off x="3065246"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6" name="TextBox 115"/>
          <p:cNvSpPr txBox="1"/>
          <p:nvPr/>
        </p:nvSpPr>
        <p:spPr>
          <a:xfrm>
            <a:off x="485775" y="5453209"/>
            <a:ext cx="2625724" cy="186689"/>
          </a:xfrm>
          <a:prstGeom prst="rect">
            <a:avLst/>
          </a:prstGeom>
          <a:noFill/>
        </p:spPr>
        <p:txBody>
          <a:bodyPr wrap="none" lIns="0" rIns="0" tIns="0" bIns="0">
            <a:spAutoFit/>
          </a:bodyPr>
          <a:lstStyle/>
          <a:p>
            <a:r>
              <a:rPr sz="1100" b="0">
                <a:solidFill>
                  <a:srgbClr val="2E2E2E"/>
                </a:solidFill>
                <a:latin typeface="Calibri"/>
              </a:rPr>
              <a:t>higher value than king crab segment in 2036.</a:t>
            </a:r>
          </a:p>
        </p:txBody>
      </p:sp>
      <p:sp>
        <p:nvSpPr>
          <p:cNvPr id="117" name="TextBox 116"/>
          <p:cNvSpPr txBox="1"/>
          <p:nvPr/>
        </p:nvSpPr>
        <p:spPr>
          <a:xfrm>
            <a:off x="3838575" y="4229437"/>
            <a:ext cx="791071" cy="186689"/>
          </a:xfrm>
          <a:prstGeom prst="rect">
            <a:avLst/>
          </a:prstGeom>
          <a:noFill/>
        </p:spPr>
        <p:txBody>
          <a:bodyPr wrap="none" lIns="0" rIns="0" tIns="0" bIns="0">
            <a:spAutoFit/>
          </a:bodyPr>
          <a:lstStyle/>
          <a:p>
            <a:r>
              <a:rPr sz="1100" b="0">
                <a:solidFill>
                  <a:srgbClr val="2E2E2E"/>
                </a:solidFill>
                <a:latin typeface="Calibri"/>
              </a:rPr>
              <a:t>● Mud Crab:</a:t>
            </a:r>
          </a:p>
        </p:txBody>
      </p:sp>
      <p:pic>
        <p:nvPicPr>
          <p:cNvPr id="118" name="Picture 117" descr="lock.png"/>
          <p:cNvPicPr>
            <a:picLocks noChangeAspect="1"/>
          </p:cNvPicPr>
          <p:nvPr/>
        </p:nvPicPr>
        <p:blipFill>
          <a:blip r:embed="rId21"/>
          <a:stretch>
            <a:fillRect/>
          </a:stretch>
        </p:blipFill>
        <p:spPr>
          <a:xfrm>
            <a:off x="4577697" y="4219658"/>
            <a:ext cx="128699" cy="187198"/>
          </a:xfrm>
          <a:prstGeom prst="rect">
            <a:avLst/>
          </a:prstGeom>
        </p:spPr>
      </p:pic>
      <p:sp>
        <p:nvSpPr>
          <p:cNvPr id="119" name="TextBox 118"/>
          <p:cNvSpPr txBox="1"/>
          <p:nvPr/>
        </p:nvSpPr>
        <p:spPr>
          <a:xfrm>
            <a:off x="474519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1"/>
          <a:stretch>
            <a:fillRect/>
          </a:stretch>
        </p:blipFill>
        <p:spPr>
          <a:xfrm>
            <a:off x="5604643" y="4219658"/>
            <a:ext cx="128699" cy="187198"/>
          </a:xfrm>
          <a:prstGeom prst="rect">
            <a:avLst/>
          </a:prstGeom>
        </p:spPr>
      </p:pic>
      <p:sp>
        <p:nvSpPr>
          <p:cNvPr id="121" name="TextBox 120"/>
          <p:cNvSpPr txBox="1"/>
          <p:nvPr/>
        </p:nvSpPr>
        <p:spPr>
          <a:xfrm>
            <a:off x="577213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2" name="TextBox 121"/>
          <p:cNvSpPr txBox="1"/>
          <p:nvPr/>
        </p:nvSpPr>
        <p:spPr>
          <a:xfrm>
            <a:off x="3838575" y="4447369"/>
            <a:ext cx="768697" cy="186689"/>
          </a:xfrm>
          <a:prstGeom prst="rect">
            <a:avLst/>
          </a:prstGeom>
          <a:noFill/>
        </p:spPr>
        <p:txBody>
          <a:bodyPr wrap="none" lIns="0" rIns="0" tIns="0" bIns="0">
            <a:spAutoFit/>
          </a:bodyPr>
          <a:lstStyle/>
          <a:p>
            <a:r>
              <a:rPr sz="1100" b="0">
                <a:solidFill>
                  <a:srgbClr val="2E2E2E"/>
                </a:solidFill>
                <a:latin typeface="Calibri"/>
              </a:rPr>
              <a:t>● King Crab:</a:t>
            </a:r>
          </a:p>
        </p:txBody>
      </p:sp>
      <p:pic>
        <p:nvPicPr>
          <p:cNvPr id="123" name="Picture 122" descr="lock.png"/>
          <p:cNvPicPr>
            <a:picLocks noChangeAspect="1"/>
          </p:cNvPicPr>
          <p:nvPr/>
        </p:nvPicPr>
        <p:blipFill>
          <a:blip r:embed="rId21"/>
          <a:stretch>
            <a:fillRect/>
          </a:stretch>
        </p:blipFill>
        <p:spPr>
          <a:xfrm>
            <a:off x="4555323" y="4437590"/>
            <a:ext cx="128699" cy="187198"/>
          </a:xfrm>
          <a:prstGeom prst="rect">
            <a:avLst/>
          </a:prstGeom>
        </p:spPr>
      </p:pic>
      <p:sp>
        <p:nvSpPr>
          <p:cNvPr id="124" name="TextBox 123"/>
          <p:cNvSpPr txBox="1"/>
          <p:nvPr/>
        </p:nvSpPr>
        <p:spPr>
          <a:xfrm>
            <a:off x="472281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1"/>
          <a:stretch>
            <a:fillRect/>
          </a:stretch>
        </p:blipFill>
        <p:spPr>
          <a:xfrm>
            <a:off x="5582269" y="4437590"/>
            <a:ext cx="128699" cy="187198"/>
          </a:xfrm>
          <a:prstGeom prst="rect">
            <a:avLst/>
          </a:prstGeom>
        </p:spPr>
      </p:pic>
      <p:sp>
        <p:nvSpPr>
          <p:cNvPr id="126" name="TextBox 125"/>
          <p:cNvSpPr txBox="1"/>
          <p:nvPr/>
        </p:nvSpPr>
        <p:spPr>
          <a:xfrm>
            <a:off x="574976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7" name="TextBox 126"/>
          <p:cNvSpPr txBox="1"/>
          <p:nvPr/>
        </p:nvSpPr>
        <p:spPr>
          <a:xfrm>
            <a:off x="3838575" y="4665301"/>
            <a:ext cx="2488207" cy="186689"/>
          </a:xfrm>
          <a:prstGeom prst="rect">
            <a:avLst/>
          </a:prstGeom>
          <a:noFill/>
        </p:spPr>
        <p:txBody>
          <a:bodyPr wrap="none" lIns="0" rIns="0" tIns="0" bIns="0">
            <a:spAutoFit/>
          </a:bodyPr>
          <a:lstStyle/>
          <a:p>
            <a:r>
              <a:rPr sz="1100" b="0">
                <a:solidFill>
                  <a:srgbClr val="2E2E2E"/>
                </a:solidFill>
                <a:latin typeface="Calibri"/>
              </a:rPr>
              <a:t>● Other commercially traded crab species:</a:t>
            </a:r>
          </a:p>
        </p:txBody>
      </p:sp>
      <p:pic>
        <p:nvPicPr>
          <p:cNvPr id="128" name="Picture 127" descr="lock.png"/>
          <p:cNvPicPr>
            <a:picLocks noChangeAspect="1"/>
          </p:cNvPicPr>
          <p:nvPr/>
        </p:nvPicPr>
        <p:blipFill>
          <a:blip r:embed="rId21"/>
          <a:stretch>
            <a:fillRect/>
          </a:stretch>
        </p:blipFill>
        <p:spPr>
          <a:xfrm>
            <a:off x="6274834" y="4655522"/>
            <a:ext cx="128699" cy="187198"/>
          </a:xfrm>
          <a:prstGeom prst="rect">
            <a:avLst/>
          </a:prstGeom>
        </p:spPr>
      </p:pic>
      <p:sp>
        <p:nvSpPr>
          <p:cNvPr id="129" name="TextBox 128"/>
          <p:cNvSpPr txBox="1"/>
          <p:nvPr/>
        </p:nvSpPr>
        <p:spPr>
          <a:xfrm>
            <a:off x="644233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1"/>
          <a:stretch>
            <a:fillRect/>
          </a:stretch>
        </p:blipFill>
        <p:spPr>
          <a:xfrm>
            <a:off x="7301780" y="4655522"/>
            <a:ext cx="128699" cy="187198"/>
          </a:xfrm>
          <a:prstGeom prst="rect">
            <a:avLst/>
          </a:prstGeom>
        </p:spPr>
      </p:pic>
      <p:sp>
        <p:nvSpPr>
          <p:cNvPr id="131" name="TextBox 130"/>
          <p:cNvSpPr txBox="1"/>
          <p:nvPr/>
        </p:nvSpPr>
        <p:spPr>
          <a:xfrm>
            <a:off x="3838575"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3838575" y="5050872"/>
            <a:ext cx="835818" cy="186689"/>
          </a:xfrm>
          <a:prstGeom prst="rect">
            <a:avLst/>
          </a:prstGeom>
          <a:noFill/>
        </p:spPr>
        <p:txBody>
          <a:bodyPr wrap="none" lIns="0" rIns="0" tIns="0" bIns="0">
            <a:spAutoFit/>
          </a:bodyPr>
          <a:lstStyle/>
          <a:p>
            <a:r>
              <a:rPr sz="1100" b="0">
                <a:solidFill>
                  <a:srgbClr val="2E2E2E"/>
                </a:solidFill>
                <a:latin typeface="Calibri"/>
              </a:rPr>
              <a:t>● Snow Crab:</a:t>
            </a:r>
          </a:p>
        </p:txBody>
      </p:sp>
      <p:pic>
        <p:nvPicPr>
          <p:cNvPr id="133" name="Picture 132" descr="lock.png"/>
          <p:cNvPicPr>
            <a:picLocks noChangeAspect="1"/>
          </p:cNvPicPr>
          <p:nvPr/>
        </p:nvPicPr>
        <p:blipFill>
          <a:blip r:embed="rId21"/>
          <a:stretch>
            <a:fillRect/>
          </a:stretch>
        </p:blipFill>
        <p:spPr>
          <a:xfrm>
            <a:off x="4622445" y="5041093"/>
            <a:ext cx="128699" cy="187198"/>
          </a:xfrm>
          <a:prstGeom prst="rect">
            <a:avLst/>
          </a:prstGeom>
        </p:spPr>
      </p:pic>
      <p:sp>
        <p:nvSpPr>
          <p:cNvPr id="134" name="TextBox 133"/>
          <p:cNvSpPr txBox="1"/>
          <p:nvPr/>
        </p:nvSpPr>
        <p:spPr>
          <a:xfrm>
            <a:off x="4789941"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1"/>
          <a:stretch>
            <a:fillRect/>
          </a:stretch>
        </p:blipFill>
        <p:spPr>
          <a:xfrm>
            <a:off x="5649391" y="5041093"/>
            <a:ext cx="128699" cy="187198"/>
          </a:xfrm>
          <a:prstGeom prst="rect">
            <a:avLst/>
          </a:prstGeom>
        </p:spPr>
      </p:pic>
      <p:sp>
        <p:nvSpPr>
          <p:cNvPr id="136" name="TextBox 135"/>
          <p:cNvSpPr txBox="1"/>
          <p:nvPr/>
        </p:nvSpPr>
        <p:spPr>
          <a:xfrm>
            <a:off x="5816887"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268804"/>
            <a:ext cx="776064" cy="186689"/>
          </a:xfrm>
          <a:prstGeom prst="rect">
            <a:avLst/>
          </a:prstGeom>
          <a:noFill/>
        </p:spPr>
        <p:txBody>
          <a:bodyPr wrap="none" lIns="0" rIns="0" tIns="0" bIns="0">
            <a:spAutoFit/>
          </a:bodyPr>
          <a:lstStyle/>
          <a:p>
            <a:r>
              <a:rPr sz="1100" b="0">
                <a:solidFill>
                  <a:srgbClr val="2E2E2E"/>
                </a:solidFill>
                <a:latin typeface="Calibri"/>
              </a:rPr>
              <a:t>● Blue Crab:</a:t>
            </a:r>
          </a:p>
        </p:txBody>
      </p:sp>
      <p:pic>
        <p:nvPicPr>
          <p:cNvPr id="138" name="Picture 137" descr="lock.png"/>
          <p:cNvPicPr>
            <a:picLocks noChangeAspect="1"/>
          </p:cNvPicPr>
          <p:nvPr/>
        </p:nvPicPr>
        <p:blipFill>
          <a:blip r:embed="rId21"/>
          <a:stretch>
            <a:fillRect/>
          </a:stretch>
        </p:blipFill>
        <p:spPr>
          <a:xfrm>
            <a:off x="4562690" y="5259025"/>
            <a:ext cx="128699" cy="187198"/>
          </a:xfrm>
          <a:prstGeom prst="rect">
            <a:avLst/>
          </a:prstGeom>
        </p:spPr>
      </p:pic>
      <p:sp>
        <p:nvSpPr>
          <p:cNvPr id="139" name="TextBox 138"/>
          <p:cNvSpPr txBox="1"/>
          <p:nvPr/>
        </p:nvSpPr>
        <p:spPr>
          <a:xfrm>
            <a:off x="4730186"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1"/>
          <a:stretch>
            <a:fillRect/>
          </a:stretch>
        </p:blipFill>
        <p:spPr>
          <a:xfrm>
            <a:off x="5589636" y="5259025"/>
            <a:ext cx="128699" cy="187198"/>
          </a:xfrm>
          <a:prstGeom prst="rect">
            <a:avLst/>
          </a:prstGeom>
        </p:spPr>
      </p:pic>
      <p:sp>
        <p:nvSpPr>
          <p:cNvPr id="141" name="TextBox 140"/>
          <p:cNvSpPr txBox="1"/>
          <p:nvPr/>
        </p:nvSpPr>
        <p:spPr>
          <a:xfrm>
            <a:off x="5757132"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2" name="TextBox 141"/>
          <p:cNvSpPr txBox="1"/>
          <p:nvPr/>
        </p:nvSpPr>
        <p:spPr>
          <a:xfrm>
            <a:off x="3838575" y="5486736"/>
            <a:ext cx="1144959" cy="186689"/>
          </a:xfrm>
          <a:prstGeom prst="rect">
            <a:avLst/>
          </a:prstGeom>
          <a:noFill/>
        </p:spPr>
        <p:txBody>
          <a:bodyPr wrap="none" lIns="0" rIns="0" tIns="0" bIns="0">
            <a:spAutoFit/>
          </a:bodyPr>
          <a:lstStyle/>
          <a:p>
            <a:r>
              <a:rPr sz="1100" b="0">
                <a:solidFill>
                  <a:srgbClr val="2E2E2E"/>
                </a:solidFill>
                <a:latin typeface="Calibri"/>
              </a:rPr>
              <a:t>● Dungeness Crab:</a:t>
            </a:r>
          </a:p>
        </p:txBody>
      </p:sp>
      <p:pic>
        <p:nvPicPr>
          <p:cNvPr id="143" name="Picture 142" descr="lock.png"/>
          <p:cNvPicPr>
            <a:picLocks noChangeAspect="1"/>
          </p:cNvPicPr>
          <p:nvPr/>
        </p:nvPicPr>
        <p:blipFill>
          <a:blip r:embed="rId21"/>
          <a:stretch>
            <a:fillRect/>
          </a:stretch>
        </p:blipFill>
        <p:spPr>
          <a:xfrm>
            <a:off x="4931586" y="5476957"/>
            <a:ext cx="128699" cy="187198"/>
          </a:xfrm>
          <a:prstGeom prst="rect">
            <a:avLst/>
          </a:prstGeom>
        </p:spPr>
      </p:pic>
      <p:sp>
        <p:nvSpPr>
          <p:cNvPr id="144" name="TextBox 143"/>
          <p:cNvSpPr txBox="1"/>
          <p:nvPr/>
        </p:nvSpPr>
        <p:spPr>
          <a:xfrm>
            <a:off x="5099081"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1"/>
          <a:stretch>
            <a:fillRect/>
          </a:stretch>
        </p:blipFill>
        <p:spPr>
          <a:xfrm>
            <a:off x="5958532" y="5476957"/>
            <a:ext cx="128699" cy="187198"/>
          </a:xfrm>
          <a:prstGeom prst="rect">
            <a:avLst/>
          </a:prstGeom>
        </p:spPr>
      </p:pic>
      <p:sp>
        <p:nvSpPr>
          <p:cNvPr id="146" name="TextBox 145"/>
          <p:cNvSpPr txBox="1"/>
          <p:nvPr/>
        </p:nvSpPr>
        <p:spPr>
          <a:xfrm>
            <a:off x="6126028"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7" name="TextBox 146"/>
          <p:cNvSpPr txBox="1"/>
          <p:nvPr/>
        </p:nvSpPr>
        <p:spPr>
          <a:xfrm>
            <a:off x="8524875" y="5842641"/>
            <a:ext cx="3161791" cy="194310"/>
          </a:xfrm>
          <a:prstGeom prst="rect">
            <a:avLst/>
          </a:prstGeom>
          <a:noFill/>
        </p:spPr>
        <p:txBody>
          <a:bodyPr wrap="none" lIns="0" rIns="0" tIns="0" bIns="0">
            <a:spAutoFit/>
          </a:bodyPr>
          <a:lstStyle/>
          <a:p>
            <a:r>
              <a:rPr sz="1150" b="1">
                <a:solidFill>
                  <a:srgbClr val="0B2E4A"/>
                </a:solidFill>
                <a:latin typeface="Calibri"/>
              </a:rPr>
              <a:t>The Crab Species segment is projected to grow at a</a:t>
            </a:r>
          </a:p>
        </p:txBody>
      </p:sp>
      <p:sp>
        <p:nvSpPr>
          <p:cNvPr id="148" name="TextBox 14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49" name="Picture 148" descr="lock.png"/>
          <p:cNvPicPr>
            <a:picLocks noChangeAspect="1"/>
          </p:cNvPicPr>
          <p:nvPr/>
        </p:nvPicPr>
        <p:blipFill>
          <a:blip r:embed="rId21"/>
          <a:stretch>
            <a:fillRect/>
          </a:stretch>
        </p:blipFill>
        <p:spPr>
          <a:xfrm>
            <a:off x="9048826" y="6007677"/>
            <a:ext cx="134549" cy="195707"/>
          </a:xfrm>
          <a:prstGeom prst="rect">
            <a:avLst/>
          </a:prstGeom>
        </p:spPr>
      </p:pic>
      <p:sp>
        <p:nvSpPr>
          <p:cNvPr id="150" name="TextBox 14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Crab Species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Crab Species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Crab Species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Crab Species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Mud crab followed by king crab are expected to be the two most attractive crab species segments in the global crab meat market in terms of value over the forecast period. Mud crab and king crab exhibit a</a:t>
            </a:r>
          </a:p>
        </p:txBody>
      </p:sp>
      <p:sp>
        <p:nvSpPr>
          <p:cNvPr id="20" name="TextBox 19"/>
          <p:cNvSpPr txBox="1"/>
          <p:nvPr/>
        </p:nvSpPr>
        <p:spPr>
          <a:xfrm>
            <a:off x="257175" y="5945505"/>
            <a:ext cx="884096" cy="186689"/>
          </a:xfrm>
          <a:prstGeom prst="rect">
            <a:avLst/>
          </a:prstGeom>
          <a:noFill/>
        </p:spPr>
        <p:txBody>
          <a:bodyPr wrap="none" lIns="0" rIns="0" tIns="0" bIns="0">
            <a:spAutoFit/>
          </a:bodyPr>
          <a:lstStyle/>
          <a:p>
            <a:r>
              <a:rPr sz="1100" b="0">
                <a:solidFill>
                  <a:srgbClr val="2E2E2E"/>
                </a:solidFill>
                <a:latin typeface="Calibri"/>
              </a:rPr>
              <a:t>CAGR index of</a:t>
            </a:r>
          </a:p>
        </p:txBody>
      </p:sp>
      <p:pic>
        <p:nvPicPr>
          <p:cNvPr id="21" name="Picture 20" descr="lock.png"/>
          <p:cNvPicPr>
            <a:picLocks noChangeAspect="1"/>
          </p:cNvPicPr>
          <p:nvPr/>
        </p:nvPicPr>
        <p:blipFill>
          <a:blip r:embed="rId6"/>
          <a:stretch>
            <a:fillRect/>
          </a:stretch>
        </p:blipFill>
        <p:spPr>
          <a:xfrm>
            <a:off x="1089323" y="5935726"/>
            <a:ext cx="128699" cy="187198"/>
          </a:xfrm>
          <a:prstGeom prst="rect">
            <a:avLst/>
          </a:prstGeom>
        </p:spPr>
      </p:pic>
      <p:sp>
        <p:nvSpPr>
          <p:cNvPr id="22" name="TextBox 21"/>
          <p:cNvSpPr txBox="1"/>
          <p:nvPr/>
        </p:nvSpPr>
        <p:spPr>
          <a:xfrm>
            <a:off x="125681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494713" y="5935726"/>
            <a:ext cx="128699" cy="187198"/>
          </a:xfrm>
          <a:prstGeom prst="rect">
            <a:avLst/>
          </a:prstGeom>
        </p:spPr>
      </p:pic>
      <p:sp>
        <p:nvSpPr>
          <p:cNvPr id="24" name="TextBox 23"/>
          <p:cNvSpPr txBox="1"/>
          <p:nvPr/>
        </p:nvSpPr>
        <p:spPr>
          <a:xfrm>
            <a:off x="166220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271182" y="5935726"/>
            <a:ext cx="128699" cy="187198"/>
          </a:xfrm>
          <a:prstGeom prst="rect">
            <a:avLst/>
          </a:prstGeom>
        </p:spPr>
      </p:pic>
      <p:sp>
        <p:nvSpPr>
          <p:cNvPr id="26" name="TextBox 25"/>
          <p:cNvSpPr txBox="1"/>
          <p:nvPr/>
        </p:nvSpPr>
        <p:spPr>
          <a:xfrm>
            <a:off x="343867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3676572" y="5935726"/>
            <a:ext cx="128699" cy="187198"/>
          </a:xfrm>
          <a:prstGeom prst="rect">
            <a:avLst/>
          </a:prstGeom>
        </p:spPr>
      </p:pic>
      <p:sp>
        <p:nvSpPr>
          <p:cNvPr id="28" name="TextBox 27"/>
          <p:cNvSpPr txBox="1"/>
          <p:nvPr/>
        </p:nvSpPr>
        <p:spPr>
          <a:xfrm>
            <a:off x="384406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398472" y="5935726"/>
            <a:ext cx="128699" cy="187198"/>
          </a:xfrm>
          <a:prstGeom prst="rect">
            <a:avLst/>
          </a:prstGeom>
        </p:spPr>
      </p:pic>
      <p:sp>
        <p:nvSpPr>
          <p:cNvPr id="30" name="TextBox 29"/>
          <p:cNvSpPr txBox="1"/>
          <p:nvPr/>
        </p:nvSpPr>
        <p:spPr>
          <a:xfrm>
            <a:off x="6565968" y="5945505"/>
            <a:ext cx="4874840" cy="186689"/>
          </a:xfrm>
          <a:prstGeom prst="rect">
            <a:avLst/>
          </a:prstGeom>
          <a:noFill/>
        </p:spPr>
        <p:txBody>
          <a:bodyPr wrap="none" lIns="0" rIns="0" tIns="0" bIns="0">
            <a:spAutoFit/>
          </a:bodyPr>
          <a:lstStyle/>
          <a:p>
            <a:r>
              <a:rPr sz="1100" b="0">
                <a:solidFill>
                  <a:srgbClr val="2E2E2E"/>
                </a:solidFill>
                <a:latin typeface="Calibri"/>
              </a:rPr>
              <a:t>. The dungeness crab segment is expected to be less attractive as compared to other</a:t>
            </a:r>
          </a:p>
        </p:txBody>
      </p:sp>
      <p:sp>
        <p:nvSpPr>
          <p:cNvPr id="31" name="TextBox 30"/>
          <p:cNvSpPr txBox="1"/>
          <p:nvPr/>
        </p:nvSpPr>
        <p:spPr>
          <a:xfrm>
            <a:off x="257175" y="6113145"/>
            <a:ext cx="9501823" cy="186689"/>
          </a:xfrm>
          <a:prstGeom prst="rect">
            <a:avLst/>
          </a:prstGeom>
          <a:noFill/>
        </p:spPr>
        <p:txBody>
          <a:bodyPr wrap="none" lIns="0" rIns="0" tIns="0" bIns="0">
            <a:spAutoFit/>
          </a:bodyPr>
          <a:lstStyle/>
          <a:p>
            <a:r>
              <a:rPr sz="1100" b="0">
                <a:solidFill>
                  <a:srgbClr val="2E2E2E"/>
                </a:solidFill>
                <a:latin typeface="Calibri"/>
              </a:rPr>
              <a:t>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Crab Species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Crab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Blue Crab</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King Crab</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Snow Crab</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Dungeness Crab</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Crab Species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Crab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Mud Crab</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commercially traded crab species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Crab Species</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400175"/>
            <a:ext cx="4064027" cy="194310"/>
          </a:xfrm>
          <a:prstGeom prst="rect">
            <a:avLst/>
          </a:prstGeom>
          <a:noFill/>
        </p:spPr>
        <p:txBody>
          <a:bodyPr wrap="none" lIns="0" rIns="0" tIns="0" bIns="0">
            <a:spAutoFit/>
          </a:bodyPr>
          <a:lstStyle/>
          <a:p>
            <a:r>
              <a:rPr sz="1150" b="0">
                <a:solidFill>
                  <a:srgbClr val="2E2E2E"/>
                </a:solidFill>
                <a:latin typeface="Calibri"/>
              </a:rPr>
              <a:t>By 2036, mud crab segment is anticipated to witness an increase of</a:t>
            </a:r>
          </a:p>
        </p:txBody>
      </p:sp>
      <p:pic>
        <p:nvPicPr>
          <p:cNvPr id="24" name="Picture 23" descr="lock.png"/>
          <p:cNvPicPr>
            <a:picLocks noChangeAspect="1"/>
          </p:cNvPicPr>
          <p:nvPr/>
        </p:nvPicPr>
        <p:blipFill>
          <a:blip r:embed="rId6"/>
          <a:stretch>
            <a:fillRect/>
          </a:stretch>
        </p:blipFill>
        <p:spPr>
          <a:xfrm>
            <a:off x="10318731" y="1389951"/>
            <a:ext cx="134549" cy="195707"/>
          </a:xfrm>
          <a:prstGeom prst="rect">
            <a:avLst/>
          </a:prstGeom>
        </p:spPr>
      </p:pic>
      <p:sp>
        <p:nvSpPr>
          <p:cNvPr id="25" name="TextBox 24"/>
          <p:cNvSpPr txBox="1"/>
          <p:nvPr/>
        </p:nvSpPr>
        <p:spPr>
          <a:xfrm>
            <a:off x="10493840"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6" name="TextBox 25"/>
          <p:cNvSpPr txBox="1"/>
          <p:nvPr/>
        </p:nvSpPr>
        <p:spPr>
          <a:xfrm>
            <a:off x="6305550" y="1575435"/>
            <a:ext cx="5544517" cy="194310"/>
          </a:xfrm>
          <a:prstGeom prst="rect">
            <a:avLst/>
          </a:prstGeom>
          <a:noFill/>
        </p:spPr>
        <p:txBody>
          <a:bodyPr wrap="none" lIns="0" rIns="0" tIns="0" bIns="0">
            <a:spAutoFit/>
          </a:bodyPr>
          <a:lstStyle/>
          <a:p>
            <a:r>
              <a:rPr sz="1150" b="0">
                <a:solidFill>
                  <a:srgbClr val="2E2E2E"/>
                </a:solidFill>
                <a:latin typeface="Calibri"/>
              </a:rPr>
              <a:t>compared to 2026. The mud crab segment is expected to create an incremental opportunity</a:t>
            </a:r>
          </a:p>
        </p:txBody>
      </p:sp>
      <p:sp>
        <p:nvSpPr>
          <p:cNvPr id="27" name="TextBox 26"/>
          <p:cNvSpPr txBox="1"/>
          <p:nvPr/>
        </p:nvSpPr>
        <p:spPr>
          <a:xfrm>
            <a:off x="6305550" y="1750695"/>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28" name="Picture 27" descr="lock.png"/>
          <p:cNvPicPr>
            <a:picLocks noChangeAspect="1"/>
          </p:cNvPicPr>
          <p:nvPr/>
        </p:nvPicPr>
        <p:blipFill>
          <a:blip r:embed="rId6"/>
          <a:stretch>
            <a:fillRect/>
          </a:stretch>
        </p:blipFill>
        <p:spPr>
          <a:xfrm>
            <a:off x="6720560" y="1740471"/>
            <a:ext cx="134549" cy="195707"/>
          </a:xfrm>
          <a:prstGeom prst="rect">
            <a:avLst/>
          </a:prstGeom>
        </p:spPr>
      </p:pic>
      <p:sp>
        <p:nvSpPr>
          <p:cNvPr id="29" name="TextBox 28"/>
          <p:cNvSpPr txBox="1"/>
          <p:nvPr/>
        </p:nvSpPr>
        <p:spPr>
          <a:xfrm>
            <a:off x="6895670"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0" name="TextBox 29"/>
          <p:cNvSpPr txBox="1"/>
          <p:nvPr/>
        </p:nvSpPr>
        <p:spPr>
          <a:xfrm>
            <a:off x="6305550" y="1978533"/>
            <a:ext cx="4781177" cy="194310"/>
          </a:xfrm>
          <a:prstGeom prst="rect">
            <a:avLst/>
          </a:prstGeom>
          <a:noFill/>
        </p:spPr>
        <p:txBody>
          <a:bodyPr wrap="none" lIns="0" rIns="0" tIns="0" bIns="0">
            <a:spAutoFit/>
          </a:bodyPr>
          <a:lstStyle/>
          <a:p>
            <a:r>
              <a:rPr sz="1150" b="0">
                <a:solidFill>
                  <a:srgbClr val="2E2E2E"/>
                </a:solidFill>
                <a:latin typeface="Calibri"/>
              </a:rPr>
              <a:t>The king crab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35881" y="1968309"/>
            <a:ext cx="134549" cy="195707"/>
          </a:xfrm>
          <a:prstGeom prst="rect">
            <a:avLst/>
          </a:prstGeom>
        </p:spPr>
      </p:pic>
      <p:sp>
        <p:nvSpPr>
          <p:cNvPr id="32" name="TextBox 31"/>
          <p:cNvSpPr txBox="1"/>
          <p:nvPr/>
        </p:nvSpPr>
        <p:spPr>
          <a:xfrm>
            <a:off x="11210991" y="197853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153793"/>
            <a:ext cx="5286362" cy="194310"/>
          </a:xfrm>
          <a:prstGeom prst="rect">
            <a:avLst/>
          </a:prstGeom>
          <a:noFill/>
        </p:spPr>
        <p:txBody>
          <a:bodyPr wrap="none" lIns="0" rIns="0" tIns="0" bIns="0">
            <a:spAutoFit/>
          </a:bodyPr>
          <a:lstStyle/>
          <a:p>
            <a:r>
              <a:rPr sz="1150" b="0">
                <a:solidFill>
                  <a:srgbClr val="2E2E2E"/>
                </a:solidFill>
                <a:latin typeface="Calibri"/>
              </a:rPr>
              <a:t>the overall crab meat market from 2026 to 2036. The snow crab segment is expected to</a:t>
            </a:r>
          </a:p>
        </p:txBody>
      </p:sp>
      <p:sp>
        <p:nvSpPr>
          <p:cNvPr id="34" name="TextBox 33"/>
          <p:cNvSpPr txBox="1"/>
          <p:nvPr/>
        </p:nvSpPr>
        <p:spPr>
          <a:xfrm>
            <a:off x="6305550" y="2329053"/>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5" name="Picture 34" descr="lock.png"/>
          <p:cNvPicPr>
            <a:picLocks noChangeAspect="1"/>
          </p:cNvPicPr>
          <p:nvPr/>
        </p:nvPicPr>
        <p:blipFill>
          <a:blip r:embed="rId6"/>
          <a:stretch>
            <a:fillRect/>
          </a:stretch>
        </p:blipFill>
        <p:spPr>
          <a:xfrm>
            <a:off x="8801773" y="2318829"/>
            <a:ext cx="134549" cy="195707"/>
          </a:xfrm>
          <a:prstGeom prst="rect">
            <a:avLst/>
          </a:prstGeom>
        </p:spPr>
      </p:pic>
      <p:sp>
        <p:nvSpPr>
          <p:cNvPr id="36" name="TextBox 35"/>
          <p:cNvSpPr txBox="1"/>
          <p:nvPr/>
        </p:nvSpPr>
        <p:spPr>
          <a:xfrm>
            <a:off x="8976882" y="2329053"/>
            <a:ext cx="2897361"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a:t>
            </a:r>
          </a:p>
        </p:txBody>
      </p:sp>
      <p:sp>
        <p:nvSpPr>
          <p:cNvPr id="37" name="TextBox 36"/>
          <p:cNvSpPr txBox="1"/>
          <p:nvPr/>
        </p:nvSpPr>
        <p:spPr>
          <a:xfrm>
            <a:off x="6305550" y="2504313"/>
            <a:ext cx="568833" cy="194310"/>
          </a:xfrm>
          <a:prstGeom prst="rect">
            <a:avLst/>
          </a:prstGeom>
          <a:noFill/>
        </p:spPr>
        <p:txBody>
          <a:bodyPr wrap="none" lIns="0" rIns="0" tIns="0" bIns="0">
            <a:spAutoFit/>
          </a:bodyPr>
          <a:lstStyle/>
          <a:p>
            <a:r>
              <a:rPr sz="1150" b="0">
                <a:solidFill>
                  <a:srgbClr val="2E2E2E"/>
                </a:solidFill>
                <a:latin typeface="Calibri"/>
              </a:rPr>
              <a:t>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Crab Species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Crab Species,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Crab Species (US$ Mn)</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2644966"/>
                <a:gridCol w="540906"/>
                <a:gridCol w="540906"/>
                <a:gridCol w="540906"/>
                <a:gridCol w="540906"/>
                <a:gridCol w="540906"/>
                <a:gridCol w="540906"/>
                <a:gridCol w="540906"/>
                <a:gridCol w="540906"/>
                <a:gridCol w="540906"/>
                <a:gridCol w="540906"/>
                <a:gridCol w="540906"/>
                <a:gridCol w="540906"/>
                <a:gridCol w="540906"/>
                <a:gridCol w="540906"/>
                <a:gridCol w="540906"/>
                <a:gridCol w="540906"/>
                <a:gridCol w="587738"/>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Blue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King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Snow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Dungeness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Mud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commercially traded crab species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Crab Species</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31793" y="2080450"/>
            <a:ext cx="366712" cy="533399"/>
          </a:xfrm>
          <a:prstGeom prst="rect">
            <a:avLst/>
          </a:prstGeom>
        </p:spPr>
      </p:pic>
      <p:sp>
        <p:nvSpPr>
          <p:cNvPr id="20" name="TextBox 19"/>
          <p:cNvSpPr txBox="1"/>
          <p:nvPr/>
        </p:nvSpPr>
        <p:spPr>
          <a:xfrm>
            <a:off x="276225" y="3971925"/>
            <a:ext cx="2572456" cy="194310"/>
          </a:xfrm>
          <a:prstGeom prst="rect">
            <a:avLst/>
          </a:prstGeom>
          <a:noFill/>
        </p:spPr>
        <p:txBody>
          <a:bodyPr wrap="none" lIns="0" rIns="0" tIns="0" bIns="0">
            <a:spAutoFit/>
          </a:bodyPr>
          <a:lstStyle/>
          <a:p>
            <a:r>
              <a:rPr sz="1150" b="0">
                <a:solidFill>
                  <a:srgbClr val="2E2E2E"/>
                </a:solidFill>
                <a:latin typeface="Calibri"/>
              </a:rPr>
              <a:t>Mud crab segment is projected to register</a:t>
            </a:r>
          </a:p>
        </p:txBody>
      </p:sp>
      <p:pic>
        <p:nvPicPr>
          <p:cNvPr id="21" name="Picture 20" descr="lock.png"/>
          <p:cNvPicPr>
            <a:picLocks noChangeAspect="1"/>
          </p:cNvPicPr>
          <p:nvPr/>
        </p:nvPicPr>
        <p:blipFill>
          <a:blip r:embed="rId4"/>
          <a:stretch>
            <a:fillRect/>
          </a:stretch>
        </p:blipFill>
        <p:spPr>
          <a:xfrm>
            <a:off x="2797835" y="3961701"/>
            <a:ext cx="134549" cy="195707"/>
          </a:xfrm>
          <a:prstGeom prst="rect">
            <a:avLst/>
          </a:prstGeom>
        </p:spPr>
      </p:pic>
      <p:sp>
        <p:nvSpPr>
          <p:cNvPr id="22" name="TextBox 21"/>
          <p:cNvSpPr txBox="1"/>
          <p:nvPr/>
        </p:nvSpPr>
        <p:spPr>
          <a:xfrm>
            <a:off x="2972945" y="3971925"/>
            <a:ext cx="8620962" cy="194310"/>
          </a:xfrm>
          <a:prstGeom prst="rect">
            <a:avLst/>
          </a:prstGeom>
          <a:noFill/>
        </p:spPr>
        <p:txBody>
          <a:bodyPr wrap="none" lIns="0" rIns="0" tIns="0" bIns="0">
            <a:spAutoFit/>
          </a:bodyPr>
          <a:lstStyle/>
          <a:p>
            <a:r>
              <a:rPr sz="1150" b="0">
                <a:solidFill>
                  <a:srgbClr val="2E2E2E"/>
                </a:solidFill>
                <a:latin typeface="Calibri"/>
              </a:rPr>
              <a:t>X higher value than king crab segment in 2036. Among crab meat by crab species, mud crab segment is expected to witness the highest CAGR of</a:t>
            </a:r>
          </a:p>
        </p:txBody>
      </p:sp>
      <p:pic>
        <p:nvPicPr>
          <p:cNvPr id="23" name="Picture 22" descr="lock.png"/>
          <p:cNvPicPr>
            <a:picLocks noChangeAspect="1"/>
          </p:cNvPicPr>
          <p:nvPr/>
        </p:nvPicPr>
        <p:blipFill>
          <a:blip r:embed="rId4"/>
          <a:stretch>
            <a:fillRect/>
          </a:stretch>
        </p:blipFill>
        <p:spPr>
          <a:xfrm>
            <a:off x="11543062" y="3961701"/>
            <a:ext cx="134549" cy="195707"/>
          </a:xfrm>
          <a:prstGeom prst="rect">
            <a:avLst/>
          </a:prstGeom>
        </p:spPr>
      </p:pic>
      <p:sp>
        <p:nvSpPr>
          <p:cNvPr id="24" name="TextBox 23"/>
          <p:cNvSpPr txBox="1"/>
          <p:nvPr/>
        </p:nvSpPr>
        <p:spPr>
          <a:xfrm>
            <a:off x="27622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375022"/>
            <a:ext cx="6437076" cy="194310"/>
          </a:xfrm>
          <a:prstGeom prst="rect">
            <a:avLst/>
          </a:prstGeom>
          <a:noFill/>
        </p:spPr>
        <p:txBody>
          <a:bodyPr wrap="none" lIns="0" rIns="0" tIns="0" bIns="0">
            <a:spAutoFit/>
          </a:bodyPr>
          <a:lstStyle/>
          <a:p>
            <a:r>
              <a:rPr sz="1150" b="0">
                <a:solidFill>
                  <a:srgbClr val="2E2E2E"/>
                </a:solidFill>
                <a:latin typeface="Calibri"/>
              </a:rPr>
              <a:t>In terms of value share by crab species, the mud crab segment is expected to dominate the market, gaining</a:t>
            </a:r>
          </a:p>
        </p:txBody>
      </p:sp>
      <p:pic>
        <p:nvPicPr>
          <p:cNvPr id="26" name="Picture 25" descr="lock.png"/>
          <p:cNvPicPr>
            <a:picLocks noChangeAspect="1"/>
          </p:cNvPicPr>
          <p:nvPr/>
        </p:nvPicPr>
        <p:blipFill>
          <a:blip r:embed="rId4"/>
          <a:stretch>
            <a:fillRect/>
          </a:stretch>
        </p:blipFill>
        <p:spPr>
          <a:xfrm>
            <a:off x="6662455" y="4364799"/>
            <a:ext cx="134549" cy="195707"/>
          </a:xfrm>
          <a:prstGeom prst="rect">
            <a:avLst/>
          </a:prstGeom>
        </p:spPr>
      </p:pic>
      <p:sp>
        <p:nvSpPr>
          <p:cNvPr id="27" name="TextBox 26"/>
          <p:cNvSpPr txBox="1"/>
          <p:nvPr/>
        </p:nvSpPr>
        <p:spPr>
          <a:xfrm>
            <a:off x="6837565"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232708" y="4364799"/>
            <a:ext cx="134549" cy="195707"/>
          </a:xfrm>
          <a:prstGeom prst="rect">
            <a:avLst/>
          </a:prstGeom>
        </p:spPr>
      </p:pic>
      <p:sp>
        <p:nvSpPr>
          <p:cNvPr id="29" name="TextBox 28"/>
          <p:cNvSpPr txBox="1"/>
          <p:nvPr/>
        </p:nvSpPr>
        <p:spPr>
          <a:xfrm>
            <a:off x="8407817" y="4375022"/>
            <a:ext cx="2831752" cy="194310"/>
          </a:xfrm>
          <a:prstGeom prst="rect">
            <a:avLst/>
          </a:prstGeom>
          <a:noFill/>
        </p:spPr>
        <p:txBody>
          <a:bodyPr wrap="none" lIns="0" rIns="0" tIns="0" bIns="0">
            <a:spAutoFit/>
          </a:bodyPr>
          <a:lstStyle/>
          <a:p>
            <a:r>
              <a:rPr sz="1150" b="0">
                <a:solidFill>
                  <a:srgbClr val="2E2E2E"/>
                </a:solidFill>
                <a:latin typeface="Calibri"/>
              </a:rPr>
              <a:t>share by 2036. The dungeness crab segment is</a:t>
            </a:r>
          </a:p>
        </p:txBody>
      </p:sp>
      <p:sp>
        <p:nvSpPr>
          <p:cNvPr id="30" name="TextBox 29"/>
          <p:cNvSpPr txBox="1"/>
          <p:nvPr/>
        </p:nvSpPr>
        <p:spPr>
          <a:xfrm>
            <a:off x="276225" y="455028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1" name="Picture 30" descr="lock.png"/>
          <p:cNvPicPr>
            <a:picLocks noChangeAspect="1"/>
          </p:cNvPicPr>
          <p:nvPr/>
        </p:nvPicPr>
        <p:blipFill>
          <a:blip r:embed="rId4"/>
          <a:stretch>
            <a:fillRect/>
          </a:stretch>
        </p:blipFill>
        <p:spPr>
          <a:xfrm>
            <a:off x="1280285" y="4540059"/>
            <a:ext cx="134549" cy="195707"/>
          </a:xfrm>
          <a:prstGeom prst="rect">
            <a:avLst/>
          </a:prstGeom>
        </p:spPr>
      </p:pic>
      <p:sp>
        <p:nvSpPr>
          <p:cNvPr id="32" name="TextBox 31"/>
          <p:cNvSpPr txBox="1"/>
          <p:nvPr/>
        </p:nvSpPr>
        <p:spPr>
          <a:xfrm>
            <a:off x="14553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4042898" y="4540059"/>
            <a:ext cx="134549" cy="195707"/>
          </a:xfrm>
          <a:prstGeom prst="rect">
            <a:avLst/>
          </a:prstGeom>
        </p:spPr>
      </p:pic>
      <p:sp>
        <p:nvSpPr>
          <p:cNvPr id="34" name="TextBox 33"/>
          <p:cNvSpPr txBox="1"/>
          <p:nvPr/>
        </p:nvSpPr>
        <p:spPr>
          <a:xfrm>
            <a:off x="42180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Crab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Crab Species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Crab Species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1323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084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322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Dungeness Crab</a:t>
            </a:r>
          </a:p>
        </p:txBody>
      </p:sp>
      <p:sp>
        <p:nvSpPr>
          <p:cNvPr id="18" name="BPS Value 1"/>
          <p:cNvSpPr txBox="1"/>
          <p:nvPr/>
        </p:nvSpPr>
        <p:spPr>
          <a:xfrm>
            <a:off x="6896100" y="17941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6812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6335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871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Blue Crab</a:t>
            </a:r>
          </a:p>
        </p:txBody>
      </p:sp>
      <p:sp>
        <p:nvSpPr>
          <p:cNvPr id="22" name="BPS Value 2"/>
          <p:cNvSpPr txBox="1"/>
          <p:nvPr/>
        </p:nvSpPr>
        <p:spPr>
          <a:xfrm>
            <a:off x="6896100" y="214907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5610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6513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751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Snow Crab</a:t>
            </a:r>
          </a:p>
        </p:txBody>
      </p:sp>
      <p:sp>
        <p:nvSpPr>
          <p:cNvPr id="26" name="BPS Value 3"/>
          <p:cNvSpPr txBox="1"/>
          <p:nvPr/>
        </p:nvSpPr>
        <p:spPr>
          <a:xfrm>
            <a:off x="6896100" y="263705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3072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30250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2263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commercially traded crab species</a:t>
            </a:r>
          </a:p>
        </p:txBody>
      </p:sp>
      <p:sp>
        <p:nvSpPr>
          <p:cNvPr id="30" name="BPS Value 4"/>
          <p:cNvSpPr txBox="1"/>
          <p:nvPr/>
        </p:nvSpPr>
        <p:spPr>
          <a:xfrm>
            <a:off x="6896100" y="32882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26667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26191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1857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King Crab</a:t>
            </a:r>
          </a:p>
        </p:txBody>
      </p:sp>
      <p:sp>
        <p:nvSpPr>
          <p:cNvPr id="34" name="BPS Value 5"/>
          <p:cNvSpPr txBox="1"/>
          <p:nvPr/>
        </p:nvSpPr>
        <p:spPr>
          <a:xfrm>
            <a:off x="6896100" y="42476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54681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54205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4658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Mud Crab</a:t>
            </a:r>
          </a:p>
        </p:txBody>
      </p:sp>
      <p:sp>
        <p:nvSpPr>
          <p:cNvPr id="38" name="BPS Value 6"/>
          <p:cNvSpPr txBox="1"/>
          <p:nvPr/>
        </p:nvSpPr>
        <p:spPr>
          <a:xfrm>
            <a:off x="6896100" y="552776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Crab Species</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crab species, mud crab segment is expected to</a:t>
            </a:r>
          </a:p>
        </p:txBody>
      </p:sp>
      <p:sp>
        <p:nvSpPr>
          <p:cNvPr id="46" name="TextBox 45"/>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7" name="Picture 46" descr="lock.png"/>
          <p:cNvPicPr>
            <a:picLocks noChangeAspect="1"/>
          </p:cNvPicPr>
          <p:nvPr/>
        </p:nvPicPr>
        <p:blipFill>
          <a:blip r:embed="rId5"/>
          <a:stretch>
            <a:fillRect/>
          </a:stretch>
        </p:blipFill>
        <p:spPr>
          <a:xfrm>
            <a:off x="9526474" y="1565211"/>
            <a:ext cx="134549" cy="195707"/>
          </a:xfrm>
          <a:prstGeom prst="rect">
            <a:avLst/>
          </a:prstGeom>
        </p:spPr>
      </p:pic>
      <p:sp>
        <p:nvSpPr>
          <p:cNvPr id="48" name="TextBox 47"/>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9" name="TextBox 48"/>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of value share by crab species, the mud crab segment is expected to</a:t>
            </a:r>
          </a:p>
        </p:txBody>
      </p:sp>
      <p:sp>
        <p:nvSpPr>
          <p:cNvPr id="50" name="TextBox 49"/>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1" name="Picture 50" descr="lock.png"/>
          <p:cNvPicPr>
            <a:picLocks noChangeAspect="1"/>
          </p:cNvPicPr>
          <p:nvPr/>
        </p:nvPicPr>
        <p:blipFill>
          <a:blip r:embed="rId5"/>
          <a:stretch>
            <a:fillRect/>
          </a:stretch>
        </p:blipFill>
        <p:spPr>
          <a:xfrm>
            <a:off x="9615776" y="1915731"/>
            <a:ext cx="134549" cy="195707"/>
          </a:xfrm>
          <a:prstGeom prst="rect">
            <a:avLst/>
          </a:prstGeom>
        </p:spPr>
      </p:pic>
      <p:sp>
        <p:nvSpPr>
          <p:cNvPr id="52" name="TextBox 51"/>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11186028" y="1915731"/>
            <a:ext cx="134549" cy="195707"/>
          </a:xfrm>
          <a:prstGeom prst="rect">
            <a:avLst/>
          </a:prstGeom>
        </p:spPr>
      </p:pic>
      <p:sp>
        <p:nvSpPr>
          <p:cNvPr id="54" name="TextBox 53"/>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940434" cy="194310"/>
          </a:xfrm>
          <a:prstGeom prst="rect">
            <a:avLst/>
          </a:prstGeom>
          <a:noFill/>
        </p:spPr>
        <p:txBody>
          <a:bodyPr wrap="none" lIns="0" rIns="0" tIns="0" bIns="0">
            <a:spAutoFit/>
          </a:bodyPr>
          <a:lstStyle/>
          <a:p>
            <a:r>
              <a:rPr sz="1150" b="0">
                <a:solidFill>
                  <a:srgbClr val="2E2E2E"/>
                </a:solidFill>
                <a:latin typeface="Calibri"/>
              </a:rPr>
              <a:t>The dungeness crab segment is expected to lose</a:t>
            </a:r>
          </a:p>
        </p:txBody>
      </p:sp>
      <p:pic>
        <p:nvPicPr>
          <p:cNvPr id="56" name="Picture 55" descr="lock.png"/>
          <p:cNvPicPr>
            <a:picLocks noChangeAspect="1"/>
          </p:cNvPicPr>
          <p:nvPr/>
        </p:nvPicPr>
        <p:blipFill>
          <a:blip r:embed="rId5"/>
          <a:stretch>
            <a:fillRect/>
          </a:stretch>
        </p:blipFill>
        <p:spPr>
          <a:xfrm>
            <a:off x="10719138" y="2318829"/>
            <a:ext cx="134549" cy="195707"/>
          </a:xfrm>
          <a:prstGeom prst="rect">
            <a:avLst/>
          </a:prstGeom>
        </p:spPr>
      </p:pic>
      <p:sp>
        <p:nvSpPr>
          <p:cNvPr id="57" name="TextBox 56"/>
          <p:cNvSpPr txBox="1"/>
          <p:nvPr/>
        </p:nvSpPr>
        <p:spPr>
          <a:xfrm>
            <a:off x="10894247"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Source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Source,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Source segment categorizes the market by source.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Imported processed crab meat</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Wild-caught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Aquaculture / fattened / cultured…</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Source split shows how demand is distributed across source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6_093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9_195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4_2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5_892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9_025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4_4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2_515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4_980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7_1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503487" cy="186689"/>
          </a:xfrm>
          <a:prstGeom prst="rect">
            <a:avLst/>
          </a:prstGeom>
          <a:noFill/>
        </p:spPr>
        <p:txBody>
          <a:bodyPr wrap="none" lIns="0" rIns="0" tIns="0" bIns="0">
            <a:spAutoFit/>
          </a:bodyPr>
          <a:lstStyle/>
          <a:p>
            <a:r>
              <a:rPr sz="1100" b="0">
                <a:solidFill>
                  <a:srgbClr val="2E2E2E"/>
                </a:solidFill>
                <a:latin typeface="Calibri"/>
              </a:rPr>
              <a:t>Among crab meat by source, aquaculture /</a:t>
            </a:r>
          </a:p>
        </p:txBody>
      </p:sp>
      <p:sp>
        <p:nvSpPr>
          <p:cNvPr id="69" name="TextBox 68"/>
          <p:cNvSpPr txBox="1"/>
          <p:nvPr/>
        </p:nvSpPr>
        <p:spPr>
          <a:xfrm>
            <a:off x="485775" y="4397077"/>
            <a:ext cx="2909217" cy="186689"/>
          </a:xfrm>
          <a:prstGeom prst="rect">
            <a:avLst/>
          </a:prstGeom>
          <a:noFill/>
        </p:spPr>
        <p:txBody>
          <a:bodyPr wrap="none" lIns="0" rIns="0" tIns="0" bIns="0">
            <a:spAutoFit/>
          </a:bodyPr>
          <a:lstStyle/>
          <a:p>
            <a:r>
              <a:rPr sz="1100" b="0">
                <a:solidFill>
                  <a:srgbClr val="2E2E2E"/>
                </a:solidFill>
                <a:latin typeface="Calibri"/>
              </a:rPr>
              <a:t>fattened / cultured supply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651100" cy="186689"/>
          </a:xfrm>
          <a:prstGeom prst="rect">
            <a:avLst/>
          </a:prstGeom>
          <a:noFill/>
        </p:spPr>
        <p:txBody>
          <a:bodyPr wrap="none" lIns="0" rIns="0" tIns="0" bIns="0">
            <a:spAutoFit/>
          </a:bodyPr>
          <a:lstStyle/>
          <a:p>
            <a:r>
              <a:rPr sz="1100" b="0">
                <a:solidFill>
                  <a:srgbClr val="2E2E2E"/>
                </a:solidFill>
                <a:latin typeface="Calibri"/>
              </a:rPr>
              <a:t>period. In terms of value share by source, the</a:t>
            </a:r>
          </a:p>
        </p:txBody>
      </p:sp>
      <p:sp>
        <p:nvSpPr>
          <p:cNvPr id="74" name="TextBox 73"/>
          <p:cNvSpPr txBox="1"/>
          <p:nvPr/>
        </p:nvSpPr>
        <p:spPr>
          <a:xfrm>
            <a:off x="485775" y="4899997"/>
            <a:ext cx="2462286" cy="186689"/>
          </a:xfrm>
          <a:prstGeom prst="rect">
            <a:avLst/>
          </a:prstGeom>
          <a:noFill/>
        </p:spPr>
        <p:txBody>
          <a:bodyPr wrap="none" lIns="0" rIns="0" tIns="0" bIns="0">
            <a:spAutoFit/>
          </a:bodyPr>
          <a:lstStyle/>
          <a:p>
            <a:r>
              <a:rPr sz="1100" b="0">
                <a:solidFill>
                  <a:srgbClr val="2E2E2E"/>
                </a:solidFill>
                <a:latin typeface="Calibri"/>
              </a:rPr>
              <a:t>imported processed crab meat segment is</a:t>
            </a:r>
          </a:p>
        </p:txBody>
      </p:sp>
      <p:sp>
        <p:nvSpPr>
          <p:cNvPr id="75" name="TextBox 7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76" name="Picture 75" descr="lock.png"/>
          <p:cNvPicPr>
            <a:picLocks noChangeAspect="1"/>
          </p:cNvPicPr>
          <p:nvPr/>
        </p:nvPicPr>
        <p:blipFill>
          <a:blip r:embed="rId13"/>
          <a:stretch>
            <a:fillRect/>
          </a:stretch>
        </p:blipFill>
        <p:spPr>
          <a:xfrm>
            <a:off x="2822716" y="5057858"/>
            <a:ext cx="128699" cy="187198"/>
          </a:xfrm>
          <a:prstGeom prst="rect">
            <a:avLst/>
          </a:prstGeom>
        </p:spPr>
      </p:pic>
      <p:sp>
        <p:nvSpPr>
          <p:cNvPr id="77" name="TextBox 7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465288" cy="186689"/>
          </a:xfrm>
          <a:prstGeom prst="rect">
            <a:avLst/>
          </a:prstGeom>
          <a:noFill/>
        </p:spPr>
        <p:txBody>
          <a:bodyPr wrap="none" lIns="0" rIns="0" tIns="0" bIns="0">
            <a:spAutoFit/>
          </a:bodyPr>
          <a:lstStyle/>
          <a:p>
            <a:r>
              <a:rPr sz="1100" b="0">
                <a:solidFill>
                  <a:srgbClr val="2E2E2E"/>
                </a:solidFill>
                <a:latin typeface="Calibri"/>
              </a:rPr>
              <a:t>Imported processed crab meat segment is</a:t>
            </a:r>
          </a:p>
        </p:txBody>
      </p:sp>
      <p:sp>
        <p:nvSpPr>
          <p:cNvPr id="82" name="TextBox 81"/>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83" name="Picture 82" descr="lock.png"/>
          <p:cNvPicPr>
            <a:picLocks noChangeAspect="1"/>
          </p:cNvPicPr>
          <p:nvPr/>
        </p:nvPicPr>
        <p:blipFill>
          <a:blip r:embed="rId13"/>
          <a:stretch>
            <a:fillRect/>
          </a:stretch>
        </p:blipFill>
        <p:spPr>
          <a:xfrm>
            <a:off x="1678376" y="5611070"/>
            <a:ext cx="128699" cy="187198"/>
          </a:xfrm>
          <a:prstGeom prst="rect">
            <a:avLst/>
          </a:prstGeom>
        </p:spPr>
      </p:pic>
      <p:sp>
        <p:nvSpPr>
          <p:cNvPr id="84" name="TextBox 83"/>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85" name="TextBox 84"/>
          <p:cNvSpPr txBox="1"/>
          <p:nvPr/>
        </p:nvSpPr>
        <p:spPr>
          <a:xfrm>
            <a:off x="485775" y="5788489"/>
            <a:ext cx="1753145" cy="186689"/>
          </a:xfrm>
          <a:prstGeom prst="rect">
            <a:avLst/>
          </a:prstGeom>
          <a:noFill/>
        </p:spPr>
        <p:txBody>
          <a:bodyPr wrap="none" lIns="0" rIns="0" tIns="0" bIns="0">
            <a:spAutoFit/>
          </a:bodyPr>
          <a:lstStyle/>
          <a:p>
            <a:r>
              <a:rPr sz="1100" b="0">
                <a:solidFill>
                  <a:srgbClr val="2E2E2E"/>
                </a:solidFill>
                <a:latin typeface="Calibri"/>
              </a:rPr>
              <a:t>wild-caught segment in 2036.</a:t>
            </a:r>
          </a:p>
        </p:txBody>
      </p:sp>
      <p:sp>
        <p:nvSpPr>
          <p:cNvPr id="86" name="TextBox 85"/>
          <p:cNvSpPr txBox="1"/>
          <p:nvPr/>
        </p:nvSpPr>
        <p:spPr>
          <a:xfrm>
            <a:off x="3838575" y="4229437"/>
            <a:ext cx="1977156" cy="186689"/>
          </a:xfrm>
          <a:prstGeom prst="rect">
            <a:avLst/>
          </a:prstGeom>
          <a:noFill/>
        </p:spPr>
        <p:txBody>
          <a:bodyPr wrap="none" lIns="0" rIns="0" tIns="0" bIns="0">
            <a:spAutoFit/>
          </a:bodyPr>
          <a:lstStyle/>
          <a:p>
            <a:r>
              <a:rPr sz="1100" b="0">
                <a:solidFill>
                  <a:srgbClr val="2E2E2E"/>
                </a:solidFill>
                <a:latin typeface="Calibri"/>
              </a:rPr>
              <a:t>● Imported processed crab meat:</a:t>
            </a:r>
          </a:p>
        </p:txBody>
      </p:sp>
      <p:pic>
        <p:nvPicPr>
          <p:cNvPr id="87" name="Picture 86" descr="lock.png"/>
          <p:cNvPicPr>
            <a:picLocks noChangeAspect="1"/>
          </p:cNvPicPr>
          <p:nvPr/>
        </p:nvPicPr>
        <p:blipFill>
          <a:blip r:embed="rId13"/>
          <a:stretch>
            <a:fillRect/>
          </a:stretch>
        </p:blipFill>
        <p:spPr>
          <a:xfrm>
            <a:off x="5763783" y="4219658"/>
            <a:ext cx="128699" cy="187198"/>
          </a:xfrm>
          <a:prstGeom prst="rect">
            <a:avLst/>
          </a:prstGeom>
        </p:spPr>
      </p:pic>
      <p:sp>
        <p:nvSpPr>
          <p:cNvPr id="88" name="TextBox 87"/>
          <p:cNvSpPr txBox="1"/>
          <p:nvPr/>
        </p:nvSpPr>
        <p:spPr>
          <a:xfrm>
            <a:off x="593127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790729" y="4219658"/>
            <a:ext cx="128699" cy="187198"/>
          </a:xfrm>
          <a:prstGeom prst="rect">
            <a:avLst/>
          </a:prstGeom>
        </p:spPr>
      </p:pic>
      <p:sp>
        <p:nvSpPr>
          <p:cNvPr id="90" name="TextBox 89"/>
          <p:cNvSpPr txBox="1"/>
          <p:nvPr/>
        </p:nvSpPr>
        <p:spPr>
          <a:xfrm>
            <a:off x="6958225"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1" name="TextBox 90"/>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2" name="TextBox 91"/>
          <p:cNvSpPr txBox="1"/>
          <p:nvPr/>
        </p:nvSpPr>
        <p:spPr>
          <a:xfrm>
            <a:off x="3838575" y="4615009"/>
            <a:ext cx="920129" cy="186689"/>
          </a:xfrm>
          <a:prstGeom prst="rect">
            <a:avLst/>
          </a:prstGeom>
          <a:noFill/>
        </p:spPr>
        <p:txBody>
          <a:bodyPr wrap="none" lIns="0" rIns="0" tIns="0" bIns="0">
            <a:spAutoFit/>
          </a:bodyPr>
          <a:lstStyle/>
          <a:p>
            <a:r>
              <a:rPr sz="1100" b="0">
                <a:solidFill>
                  <a:srgbClr val="2E2E2E"/>
                </a:solidFill>
                <a:latin typeface="Calibri"/>
              </a:rPr>
              <a:t>● Wild-caught:</a:t>
            </a:r>
          </a:p>
        </p:txBody>
      </p:sp>
      <p:pic>
        <p:nvPicPr>
          <p:cNvPr id="93" name="Picture 92" descr="lock.png"/>
          <p:cNvPicPr>
            <a:picLocks noChangeAspect="1"/>
          </p:cNvPicPr>
          <p:nvPr/>
        </p:nvPicPr>
        <p:blipFill>
          <a:blip r:embed="rId13"/>
          <a:stretch>
            <a:fillRect/>
          </a:stretch>
        </p:blipFill>
        <p:spPr>
          <a:xfrm>
            <a:off x="4706756" y="4605230"/>
            <a:ext cx="128699" cy="187198"/>
          </a:xfrm>
          <a:prstGeom prst="rect">
            <a:avLst/>
          </a:prstGeom>
        </p:spPr>
      </p:pic>
      <p:sp>
        <p:nvSpPr>
          <p:cNvPr id="94" name="TextBox 93"/>
          <p:cNvSpPr txBox="1"/>
          <p:nvPr/>
        </p:nvSpPr>
        <p:spPr>
          <a:xfrm>
            <a:off x="487425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733702" y="4605230"/>
            <a:ext cx="128699" cy="187198"/>
          </a:xfrm>
          <a:prstGeom prst="rect">
            <a:avLst/>
          </a:prstGeom>
        </p:spPr>
      </p:pic>
      <p:sp>
        <p:nvSpPr>
          <p:cNvPr id="96" name="TextBox 95"/>
          <p:cNvSpPr txBox="1"/>
          <p:nvPr/>
        </p:nvSpPr>
        <p:spPr>
          <a:xfrm>
            <a:off x="5901198"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7" name="TextBox 96"/>
          <p:cNvSpPr txBox="1"/>
          <p:nvPr/>
        </p:nvSpPr>
        <p:spPr>
          <a:xfrm>
            <a:off x="3838575" y="4832941"/>
            <a:ext cx="2530226" cy="186689"/>
          </a:xfrm>
          <a:prstGeom prst="rect">
            <a:avLst/>
          </a:prstGeom>
          <a:noFill/>
        </p:spPr>
        <p:txBody>
          <a:bodyPr wrap="none" lIns="0" rIns="0" tIns="0" bIns="0">
            <a:spAutoFit/>
          </a:bodyPr>
          <a:lstStyle/>
          <a:p>
            <a:r>
              <a:rPr sz="1100" b="0">
                <a:solidFill>
                  <a:srgbClr val="2E2E2E"/>
                </a:solidFill>
                <a:latin typeface="Calibri"/>
              </a:rPr>
              <a:t>● Aquaculture / fattened / cultured supply:</a:t>
            </a:r>
          </a:p>
        </p:txBody>
      </p:sp>
      <p:pic>
        <p:nvPicPr>
          <p:cNvPr id="98" name="Picture 97" descr="lock.png"/>
          <p:cNvPicPr>
            <a:picLocks noChangeAspect="1"/>
          </p:cNvPicPr>
          <p:nvPr/>
        </p:nvPicPr>
        <p:blipFill>
          <a:blip r:embed="rId13"/>
          <a:stretch>
            <a:fillRect/>
          </a:stretch>
        </p:blipFill>
        <p:spPr>
          <a:xfrm>
            <a:off x="6316853" y="4823162"/>
            <a:ext cx="128699" cy="187198"/>
          </a:xfrm>
          <a:prstGeom prst="rect">
            <a:avLst/>
          </a:prstGeom>
        </p:spPr>
      </p:pic>
      <p:sp>
        <p:nvSpPr>
          <p:cNvPr id="99" name="TextBox 98"/>
          <p:cNvSpPr txBox="1"/>
          <p:nvPr/>
        </p:nvSpPr>
        <p:spPr>
          <a:xfrm>
            <a:off x="6484349"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7343799" y="4823162"/>
            <a:ext cx="128699" cy="187198"/>
          </a:xfrm>
          <a:prstGeom prst="rect">
            <a:avLst/>
          </a:prstGeom>
        </p:spPr>
      </p:pic>
      <p:sp>
        <p:nvSpPr>
          <p:cNvPr id="101" name="TextBox 100"/>
          <p:cNvSpPr txBox="1"/>
          <p:nvPr/>
        </p:nvSpPr>
        <p:spPr>
          <a:xfrm>
            <a:off x="3838575"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2" name="TextBox 10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Source segment is projected to grow at a CAGR</a:t>
            </a:r>
          </a:p>
        </p:txBody>
      </p:sp>
      <p:sp>
        <p:nvSpPr>
          <p:cNvPr id="103" name="TextBox 102"/>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04" name="Picture 103" descr="lock.png"/>
          <p:cNvPicPr>
            <a:picLocks noChangeAspect="1"/>
          </p:cNvPicPr>
          <p:nvPr/>
        </p:nvPicPr>
        <p:blipFill>
          <a:blip r:embed="rId13"/>
          <a:stretch>
            <a:fillRect/>
          </a:stretch>
        </p:blipFill>
        <p:spPr>
          <a:xfrm>
            <a:off x="8674884" y="6007677"/>
            <a:ext cx="134549" cy="195707"/>
          </a:xfrm>
          <a:prstGeom prst="rect">
            <a:avLst/>
          </a:prstGeom>
        </p:spPr>
      </p:pic>
      <p:sp>
        <p:nvSpPr>
          <p:cNvPr id="105" name="TextBox 104"/>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Source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Source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Source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45378" cy="186689"/>
          </a:xfrm>
          <a:prstGeom prst="rect">
            <a:avLst/>
          </a:prstGeom>
          <a:noFill/>
        </p:spPr>
        <p:txBody>
          <a:bodyPr wrap="none" lIns="0" rIns="0" tIns="0" bIns="0">
            <a:spAutoFit/>
          </a:bodyPr>
          <a:lstStyle/>
          <a:p>
            <a:r>
              <a:rPr sz="1100" b="0">
                <a:solidFill>
                  <a:srgbClr val="2E2E2E"/>
                </a:solidFill>
                <a:latin typeface="Calibri"/>
              </a:rPr>
              <a:t>Imported processed crab meat followed by wild-caught are expected to be the two most attractive source segments in the global crab meat market in terms of value over the forecast period. Imported</a:t>
            </a:r>
          </a:p>
        </p:txBody>
      </p:sp>
      <p:sp>
        <p:nvSpPr>
          <p:cNvPr id="20" name="TextBox 19"/>
          <p:cNvSpPr txBox="1"/>
          <p:nvPr/>
        </p:nvSpPr>
        <p:spPr>
          <a:xfrm>
            <a:off x="257175" y="5861685"/>
            <a:ext cx="3560497" cy="186689"/>
          </a:xfrm>
          <a:prstGeom prst="rect">
            <a:avLst/>
          </a:prstGeom>
          <a:noFill/>
        </p:spPr>
        <p:txBody>
          <a:bodyPr wrap="none" lIns="0" rIns="0" tIns="0" bIns="0">
            <a:spAutoFit/>
          </a:bodyPr>
          <a:lstStyle/>
          <a:p>
            <a:r>
              <a:rPr sz="1100" b="0">
                <a:solidFill>
                  <a:srgbClr val="2E2E2E"/>
                </a:solidFill>
                <a:latin typeface="Calibri"/>
              </a:rPr>
              <a:t>processed crab meat and wild-caught exhibit a CAGR index of</a:t>
            </a:r>
          </a:p>
        </p:txBody>
      </p:sp>
      <p:pic>
        <p:nvPicPr>
          <p:cNvPr id="21" name="Picture 20" descr="lock.png"/>
          <p:cNvPicPr>
            <a:picLocks noChangeAspect="1"/>
          </p:cNvPicPr>
          <p:nvPr/>
        </p:nvPicPr>
        <p:blipFill>
          <a:blip r:embed="rId6"/>
          <a:stretch>
            <a:fillRect/>
          </a:stretch>
        </p:blipFill>
        <p:spPr>
          <a:xfrm>
            <a:off x="3765723" y="5851905"/>
            <a:ext cx="128699" cy="187198"/>
          </a:xfrm>
          <a:prstGeom prst="rect">
            <a:avLst/>
          </a:prstGeom>
        </p:spPr>
      </p:pic>
      <p:sp>
        <p:nvSpPr>
          <p:cNvPr id="22" name="TextBox 21"/>
          <p:cNvSpPr txBox="1"/>
          <p:nvPr/>
        </p:nvSpPr>
        <p:spPr>
          <a:xfrm>
            <a:off x="393321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171114" y="5851905"/>
            <a:ext cx="128699" cy="187198"/>
          </a:xfrm>
          <a:prstGeom prst="rect">
            <a:avLst/>
          </a:prstGeom>
        </p:spPr>
      </p:pic>
      <p:sp>
        <p:nvSpPr>
          <p:cNvPr id="24" name="TextBox 23"/>
          <p:cNvSpPr txBox="1"/>
          <p:nvPr/>
        </p:nvSpPr>
        <p:spPr>
          <a:xfrm>
            <a:off x="433861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947583" y="5851905"/>
            <a:ext cx="128699" cy="187198"/>
          </a:xfrm>
          <a:prstGeom prst="rect">
            <a:avLst/>
          </a:prstGeom>
        </p:spPr>
      </p:pic>
      <p:sp>
        <p:nvSpPr>
          <p:cNvPr id="26" name="TextBox 25"/>
          <p:cNvSpPr txBox="1"/>
          <p:nvPr/>
        </p:nvSpPr>
        <p:spPr>
          <a:xfrm>
            <a:off x="611507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352973" y="5851905"/>
            <a:ext cx="128699" cy="187198"/>
          </a:xfrm>
          <a:prstGeom prst="rect">
            <a:avLst/>
          </a:prstGeom>
        </p:spPr>
      </p:pic>
      <p:sp>
        <p:nvSpPr>
          <p:cNvPr id="28" name="TextBox 27"/>
          <p:cNvSpPr txBox="1"/>
          <p:nvPr/>
        </p:nvSpPr>
        <p:spPr>
          <a:xfrm>
            <a:off x="652046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074873" y="5851905"/>
            <a:ext cx="128699" cy="187198"/>
          </a:xfrm>
          <a:prstGeom prst="rect">
            <a:avLst/>
          </a:prstGeom>
        </p:spPr>
      </p:pic>
      <p:sp>
        <p:nvSpPr>
          <p:cNvPr id="30" name="TextBox 29"/>
          <p:cNvSpPr txBox="1"/>
          <p:nvPr/>
        </p:nvSpPr>
        <p:spPr>
          <a:xfrm>
            <a:off x="9242369" y="5861685"/>
            <a:ext cx="1762149" cy="186689"/>
          </a:xfrm>
          <a:prstGeom prst="rect">
            <a:avLst/>
          </a:prstGeom>
          <a:noFill/>
        </p:spPr>
        <p:txBody>
          <a:bodyPr wrap="none" lIns="0" rIns="0" tIns="0" bIns="0">
            <a:spAutoFit/>
          </a:bodyPr>
          <a:lstStyle/>
          <a:p>
            <a:r>
              <a:rPr sz="1100" b="0">
                <a:solidFill>
                  <a:srgbClr val="2E2E2E"/>
                </a:solidFill>
                <a:latin typeface="Calibri"/>
              </a:rPr>
              <a:t>. The aquaculture / fattened /</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cultured supply segment is expected to be less attractive as compared to other segments over the forecast period, owing to its lower CAGR and incremental opportunity. Bubbles right of the CAGR-Index</a:t>
            </a:r>
          </a:p>
        </p:txBody>
      </p:sp>
      <p:sp>
        <p:nvSpPr>
          <p:cNvPr id="32" name="TextBox 31"/>
          <p:cNvSpPr txBox="1"/>
          <p:nvPr/>
        </p:nvSpPr>
        <p:spPr>
          <a:xfrm>
            <a:off x="257175" y="6196965"/>
            <a:ext cx="2518494" cy="186689"/>
          </a:xfrm>
          <a:prstGeom prst="rect">
            <a:avLst/>
          </a:prstGeom>
          <a:noFill/>
        </p:spPr>
        <p:txBody>
          <a:bodyPr wrap="none" lIns="0" rIns="0" tIns="0" bIns="0">
            <a:spAutoFit/>
          </a:bodyPr>
          <a:lstStyle/>
          <a:p>
            <a:r>
              <a:rPr sz="1100" b="0">
                <a:solidFill>
                  <a:srgbClr val="2E2E2E"/>
                </a:solidFill>
                <a:latin typeface="Calibri"/>
              </a:rPr>
              <a:t>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Source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Wild-caught</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Aquaculture / fattened / cultured supply</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Imported processed crab meat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Source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4197526" cy="194310"/>
          </a:xfrm>
          <a:prstGeom prst="rect">
            <a:avLst/>
          </a:prstGeom>
          <a:noFill/>
        </p:spPr>
        <p:txBody>
          <a:bodyPr wrap="none" lIns="0" rIns="0" tIns="0" bIns="0">
            <a:spAutoFit/>
          </a:bodyPr>
          <a:lstStyle/>
          <a:p>
            <a:r>
              <a:rPr sz="1150" b="0">
                <a:solidFill>
                  <a:srgbClr val="2E2E2E"/>
                </a:solidFill>
                <a:latin typeface="Calibri"/>
              </a:rPr>
              <a:t>By 2036, wild-caught segment is anticipated to witness an increase of</a:t>
            </a:r>
          </a:p>
        </p:txBody>
      </p:sp>
      <p:pic>
        <p:nvPicPr>
          <p:cNvPr id="28" name="Picture 27" descr="lock.png"/>
          <p:cNvPicPr>
            <a:picLocks noChangeAspect="1"/>
          </p:cNvPicPr>
          <p:nvPr/>
        </p:nvPicPr>
        <p:blipFill>
          <a:blip r:embed="rId7"/>
          <a:stretch>
            <a:fillRect/>
          </a:stretch>
        </p:blipFill>
        <p:spPr>
          <a:xfrm>
            <a:off x="10452230" y="4276026"/>
            <a:ext cx="134549" cy="195707"/>
          </a:xfrm>
          <a:prstGeom prst="rect">
            <a:avLst/>
          </a:prstGeom>
        </p:spPr>
      </p:pic>
      <p:sp>
        <p:nvSpPr>
          <p:cNvPr id="29" name="TextBox 28"/>
          <p:cNvSpPr txBox="1"/>
          <p:nvPr/>
        </p:nvSpPr>
        <p:spPr>
          <a:xfrm>
            <a:off x="10627339" y="4286250"/>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30" name="TextBox 29"/>
          <p:cNvSpPr txBox="1"/>
          <p:nvPr/>
        </p:nvSpPr>
        <p:spPr>
          <a:xfrm>
            <a:off x="6305550" y="4461510"/>
            <a:ext cx="5094957" cy="194310"/>
          </a:xfrm>
          <a:prstGeom prst="rect">
            <a:avLst/>
          </a:prstGeom>
          <a:noFill/>
        </p:spPr>
        <p:txBody>
          <a:bodyPr wrap="none" lIns="0" rIns="0" tIns="0" bIns="0">
            <a:spAutoFit/>
          </a:bodyPr>
          <a:lstStyle/>
          <a:p>
            <a:r>
              <a:rPr sz="1150" b="0">
                <a:solidFill>
                  <a:srgbClr val="2E2E2E"/>
                </a:solidFill>
                <a:latin typeface="Calibri"/>
              </a:rPr>
              <a:t>as compared to 2026. The wild-caught segment is expected to create an incremental</a:t>
            </a:r>
          </a:p>
        </p:txBody>
      </p:sp>
      <p:sp>
        <p:nvSpPr>
          <p:cNvPr id="31" name="TextBox 30"/>
          <p:cNvSpPr txBox="1"/>
          <p:nvPr/>
        </p:nvSpPr>
        <p:spPr>
          <a:xfrm>
            <a:off x="6305550" y="463677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626546"/>
            <a:ext cx="134549" cy="195707"/>
          </a:xfrm>
          <a:prstGeom prst="rect">
            <a:avLst/>
          </a:prstGeom>
        </p:spPr>
      </p:pic>
      <p:sp>
        <p:nvSpPr>
          <p:cNvPr id="33" name="TextBox 32"/>
          <p:cNvSpPr txBox="1"/>
          <p:nvPr/>
        </p:nvSpPr>
        <p:spPr>
          <a:xfrm>
            <a:off x="7638756" y="4636770"/>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4" name="TextBox 33"/>
          <p:cNvSpPr txBox="1"/>
          <p:nvPr/>
        </p:nvSpPr>
        <p:spPr>
          <a:xfrm>
            <a:off x="6305550" y="4864607"/>
            <a:ext cx="5591175" cy="194310"/>
          </a:xfrm>
          <a:prstGeom prst="rect">
            <a:avLst/>
          </a:prstGeom>
          <a:noFill/>
        </p:spPr>
        <p:txBody>
          <a:bodyPr wrap="none" lIns="0" rIns="0" tIns="0" bIns="0">
            <a:spAutoFit/>
          </a:bodyPr>
          <a:lstStyle/>
          <a:p>
            <a:r>
              <a:rPr sz="1150" b="0">
                <a:solidFill>
                  <a:srgbClr val="2E2E2E"/>
                </a:solidFill>
                <a:latin typeface="Calibri"/>
              </a:rPr>
              <a:t>The imported processed crab meat segment is expected to create an incremental opportunity</a:t>
            </a:r>
          </a:p>
        </p:txBody>
      </p:sp>
      <p:sp>
        <p:nvSpPr>
          <p:cNvPr id="35" name="TextBox 34"/>
          <p:cNvSpPr txBox="1"/>
          <p:nvPr/>
        </p:nvSpPr>
        <p:spPr>
          <a:xfrm>
            <a:off x="6305550" y="5039867"/>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6" name="Picture 35" descr="lock.png"/>
          <p:cNvPicPr>
            <a:picLocks noChangeAspect="1"/>
          </p:cNvPicPr>
          <p:nvPr/>
        </p:nvPicPr>
        <p:blipFill>
          <a:blip r:embed="rId7"/>
          <a:stretch>
            <a:fillRect/>
          </a:stretch>
        </p:blipFill>
        <p:spPr>
          <a:xfrm>
            <a:off x="6720560" y="5029644"/>
            <a:ext cx="134549" cy="195707"/>
          </a:xfrm>
          <a:prstGeom prst="rect">
            <a:avLst/>
          </a:prstGeom>
        </p:spPr>
      </p:pic>
      <p:sp>
        <p:nvSpPr>
          <p:cNvPr id="37" name="TextBox 36"/>
          <p:cNvSpPr txBox="1"/>
          <p:nvPr/>
        </p:nvSpPr>
        <p:spPr>
          <a:xfrm>
            <a:off x="6895670" y="5039867"/>
            <a:ext cx="4514750"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 The aquaculture /</a:t>
            </a:r>
          </a:p>
        </p:txBody>
      </p:sp>
      <p:sp>
        <p:nvSpPr>
          <p:cNvPr id="38" name="TextBox 37"/>
          <p:cNvSpPr txBox="1"/>
          <p:nvPr/>
        </p:nvSpPr>
        <p:spPr>
          <a:xfrm>
            <a:off x="6305550" y="5215127"/>
            <a:ext cx="5541950" cy="194310"/>
          </a:xfrm>
          <a:prstGeom prst="rect">
            <a:avLst/>
          </a:prstGeom>
          <a:noFill/>
        </p:spPr>
        <p:txBody>
          <a:bodyPr wrap="none" lIns="0" rIns="0" tIns="0" bIns="0">
            <a:spAutoFit/>
          </a:bodyPr>
          <a:lstStyle/>
          <a:p>
            <a:r>
              <a:rPr sz="1150" b="0">
                <a:solidFill>
                  <a:srgbClr val="2E2E2E"/>
                </a:solidFill>
                <a:latin typeface="Calibri"/>
              </a:rPr>
              <a:t>fattened / cultured supply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6291470" y="5380164"/>
            <a:ext cx="134549" cy="195707"/>
          </a:xfrm>
          <a:prstGeom prst="rect">
            <a:avLst/>
          </a:prstGeom>
        </p:spPr>
      </p:pic>
      <p:sp>
        <p:nvSpPr>
          <p:cNvPr id="40" name="TextBox 39"/>
          <p:cNvSpPr txBox="1"/>
          <p:nvPr/>
        </p:nvSpPr>
        <p:spPr>
          <a:xfrm>
            <a:off x="6466579" y="5390387"/>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41"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Source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Source,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Source (US$ Mn)</a:t>
            </a:r>
          </a:p>
        </p:txBody>
      </p:sp>
      <p:graphicFrame>
        <p:nvGraphicFramePr>
          <p:cNvPr id="12" name="Table 11"/>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2695306"/>
                <a:gridCol w="537960"/>
                <a:gridCol w="537960"/>
                <a:gridCol w="537960"/>
                <a:gridCol w="537960"/>
                <a:gridCol w="537960"/>
                <a:gridCol w="537960"/>
                <a:gridCol w="537960"/>
                <a:gridCol w="537960"/>
                <a:gridCol w="537960"/>
                <a:gridCol w="537960"/>
                <a:gridCol w="537960"/>
                <a:gridCol w="537960"/>
                <a:gridCol w="537960"/>
                <a:gridCol w="537960"/>
                <a:gridCol w="537960"/>
                <a:gridCol w="537960"/>
                <a:gridCol w="584537"/>
              </a:tblGrid>
              <a:tr h="246126">
                <a:tc>
                  <a:txBody>
                    <a:bodyPr wrap="none"/>
                    <a:lstStyle/>
                    <a:p>
                      <a:pPr algn="l"/>
                      <a:r>
                        <a:rPr sz="1100" b="1">
                          <a:solidFill>
                            <a:srgbClr val="0B2E4A"/>
                          </a:solidFill>
                          <a:latin typeface="Calibri"/>
                        </a:rPr>
                        <a:t>Source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Wild-caught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Aquaculture / fattened / cultured supply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Imported processed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Source</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56964" y="1713738"/>
            <a:ext cx="366712" cy="533400"/>
          </a:xfrm>
          <a:prstGeom prst="rect">
            <a:avLst/>
          </a:prstGeom>
        </p:spPr>
      </p:pic>
      <p:sp>
        <p:nvSpPr>
          <p:cNvPr id="20" name="TextBox 19"/>
          <p:cNvSpPr txBox="1"/>
          <p:nvPr/>
        </p:nvSpPr>
        <p:spPr>
          <a:xfrm>
            <a:off x="276225" y="3238500"/>
            <a:ext cx="3828429" cy="194310"/>
          </a:xfrm>
          <a:prstGeom prst="rect">
            <a:avLst/>
          </a:prstGeom>
          <a:noFill/>
        </p:spPr>
        <p:txBody>
          <a:bodyPr wrap="none" lIns="0" rIns="0" tIns="0" bIns="0">
            <a:spAutoFit/>
          </a:bodyPr>
          <a:lstStyle/>
          <a:p>
            <a:r>
              <a:rPr sz="1150" b="0">
                <a:solidFill>
                  <a:srgbClr val="2E2E2E"/>
                </a:solidFill>
                <a:latin typeface="Calibri"/>
              </a:rPr>
              <a:t>Imported processed crab meat segment is projected to register</a:t>
            </a:r>
          </a:p>
        </p:txBody>
      </p:sp>
      <p:pic>
        <p:nvPicPr>
          <p:cNvPr id="21" name="Picture 20" descr="lock.png"/>
          <p:cNvPicPr>
            <a:picLocks noChangeAspect="1"/>
          </p:cNvPicPr>
          <p:nvPr/>
        </p:nvPicPr>
        <p:blipFill>
          <a:blip r:embed="rId4"/>
          <a:stretch>
            <a:fillRect/>
          </a:stretch>
        </p:blipFill>
        <p:spPr>
          <a:xfrm>
            <a:off x="4053808" y="3228276"/>
            <a:ext cx="134549" cy="195707"/>
          </a:xfrm>
          <a:prstGeom prst="rect">
            <a:avLst/>
          </a:prstGeom>
        </p:spPr>
      </p:pic>
      <p:sp>
        <p:nvSpPr>
          <p:cNvPr id="22" name="TextBox 21"/>
          <p:cNvSpPr txBox="1"/>
          <p:nvPr/>
        </p:nvSpPr>
        <p:spPr>
          <a:xfrm>
            <a:off x="4228918" y="3238500"/>
            <a:ext cx="7165330" cy="194310"/>
          </a:xfrm>
          <a:prstGeom prst="rect">
            <a:avLst/>
          </a:prstGeom>
          <a:noFill/>
        </p:spPr>
        <p:txBody>
          <a:bodyPr wrap="none" lIns="0" rIns="0" tIns="0" bIns="0">
            <a:spAutoFit/>
          </a:bodyPr>
          <a:lstStyle/>
          <a:p>
            <a:r>
              <a:rPr sz="1150" b="0">
                <a:solidFill>
                  <a:srgbClr val="2E2E2E"/>
                </a:solidFill>
                <a:latin typeface="Calibri"/>
              </a:rPr>
              <a:t>X higher value than wild-caught segment in 2036. Among crab meat by source, aquaculture / fattened / cultured supply</a:t>
            </a:r>
          </a:p>
        </p:txBody>
      </p:sp>
      <p:sp>
        <p:nvSpPr>
          <p:cNvPr id="23" name="TextBox 22"/>
          <p:cNvSpPr txBox="1"/>
          <p:nvPr/>
        </p:nvSpPr>
        <p:spPr>
          <a:xfrm>
            <a:off x="276225" y="341376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403536"/>
            <a:ext cx="134549" cy="195707"/>
          </a:xfrm>
          <a:prstGeom prst="rect">
            <a:avLst/>
          </a:prstGeom>
        </p:spPr>
      </p:pic>
      <p:sp>
        <p:nvSpPr>
          <p:cNvPr id="25" name="TextBox 24"/>
          <p:cNvSpPr txBox="1"/>
          <p:nvPr/>
        </p:nvSpPr>
        <p:spPr>
          <a:xfrm>
            <a:off x="3557127"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288845" cy="194310"/>
          </a:xfrm>
          <a:prstGeom prst="rect">
            <a:avLst/>
          </a:prstGeom>
          <a:noFill/>
        </p:spPr>
        <p:txBody>
          <a:bodyPr wrap="none" lIns="0" rIns="0" tIns="0" bIns="0">
            <a:spAutoFit/>
          </a:bodyPr>
          <a:lstStyle/>
          <a:p>
            <a:r>
              <a:rPr sz="1150" b="0">
                <a:solidFill>
                  <a:srgbClr val="2E2E2E"/>
                </a:solidFill>
                <a:latin typeface="Calibri"/>
              </a:rPr>
              <a:t>In terms of value share by source, the imported processed crab meat segment is expected to dominate the market, losing</a:t>
            </a:r>
          </a:p>
        </p:txBody>
      </p:sp>
      <p:pic>
        <p:nvPicPr>
          <p:cNvPr id="27" name="Picture 26" descr="lock.png"/>
          <p:cNvPicPr>
            <a:picLocks noChangeAspect="1"/>
          </p:cNvPicPr>
          <p:nvPr/>
        </p:nvPicPr>
        <p:blipFill>
          <a:blip r:embed="rId4"/>
          <a:stretch>
            <a:fillRect/>
          </a:stretch>
        </p:blipFill>
        <p:spPr>
          <a:xfrm>
            <a:off x="7514223" y="3631374"/>
            <a:ext cx="134549" cy="195707"/>
          </a:xfrm>
          <a:prstGeom prst="rect">
            <a:avLst/>
          </a:prstGeom>
        </p:spPr>
      </p:pic>
      <p:sp>
        <p:nvSpPr>
          <p:cNvPr id="28" name="TextBox 27"/>
          <p:cNvSpPr txBox="1"/>
          <p:nvPr/>
        </p:nvSpPr>
        <p:spPr>
          <a:xfrm>
            <a:off x="768933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84476" y="3631374"/>
            <a:ext cx="134549" cy="195707"/>
          </a:xfrm>
          <a:prstGeom prst="rect">
            <a:avLst/>
          </a:prstGeom>
        </p:spPr>
      </p:pic>
      <p:sp>
        <p:nvSpPr>
          <p:cNvPr id="30" name="TextBox 29"/>
          <p:cNvSpPr txBox="1"/>
          <p:nvPr/>
        </p:nvSpPr>
        <p:spPr>
          <a:xfrm>
            <a:off x="9259585"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Source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Source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201506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102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3409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Aquaculture / fattened / cultured supply</a:t>
            </a:r>
          </a:p>
        </p:txBody>
      </p:sp>
      <p:sp>
        <p:nvSpPr>
          <p:cNvPr id="18" name="BPS Value 1"/>
          <p:cNvSpPr txBox="1"/>
          <p:nvPr/>
        </p:nvSpPr>
        <p:spPr>
          <a:xfrm>
            <a:off x="6896100" y="19960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34448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344009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3638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Wild-caught</a:t>
            </a:r>
          </a:p>
        </p:txBody>
      </p:sp>
      <p:sp>
        <p:nvSpPr>
          <p:cNvPr id="22" name="BPS Value 2"/>
          <p:cNvSpPr txBox="1"/>
          <p:nvPr/>
        </p:nvSpPr>
        <p:spPr>
          <a:xfrm>
            <a:off x="6896100" y="34258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530495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3001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2239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Imported processed crab meat</a:t>
            </a:r>
          </a:p>
        </p:txBody>
      </p:sp>
      <p:sp>
        <p:nvSpPr>
          <p:cNvPr id="26" name="BPS Value 3"/>
          <p:cNvSpPr txBox="1"/>
          <p:nvPr/>
        </p:nvSpPr>
        <p:spPr>
          <a:xfrm>
            <a:off x="6896100" y="52859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Source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751325"/>
            <a:ext cx="275034" cy="400050"/>
          </a:xfrm>
          <a:prstGeom prst="rect">
            <a:avLst/>
          </a:prstGeom>
        </p:spPr>
      </p:pic>
      <p:sp>
        <p:nvSpPr>
          <p:cNvPr id="33" name="TextBox 32"/>
          <p:cNvSpPr txBox="1"/>
          <p:nvPr/>
        </p:nvSpPr>
        <p:spPr>
          <a:xfrm>
            <a:off x="7829550" y="1400175"/>
            <a:ext cx="3779651" cy="194310"/>
          </a:xfrm>
          <a:prstGeom prst="rect">
            <a:avLst/>
          </a:prstGeom>
          <a:noFill/>
        </p:spPr>
        <p:txBody>
          <a:bodyPr wrap="none" lIns="0" rIns="0" tIns="0" bIns="0">
            <a:spAutoFit/>
          </a:bodyPr>
          <a:lstStyle/>
          <a:p>
            <a:r>
              <a:rPr sz="1150" b="0">
                <a:solidFill>
                  <a:srgbClr val="2E2E2E"/>
                </a:solidFill>
                <a:latin typeface="Calibri"/>
              </a:rPr>
              <a:t>Among crab meat by source, aquaculture / fattened / cultured</a:t>
            </a:r>
          </a:p>
        </p:txBody>
      </p:sp>
      <p:sp>
        <p:nvSpPr>
          <p:cNvPr id="34" name="TextBox 33"/>
          <p:cNvSpPr txBox="1"/>
          <p:nvPr/>
        </p:nvSpPr>
        <p:spPr>
          <a:xfrm>
            <a:off x="7829550" y="1575435"/>
            <a:ext cx="3576818" cy="194310"/>
          </a:xfrm>
          <a:prstGeom prst="rect">
            <a:avLst/>
          </a:prstGeom>
          <a:noFill/>
        </p:spPr>
        <p:txBody>
          <a:bodyPr wrap="none" lIns="0" rIns="0" tIns="0" bIns="0">
            <a:spAutoFit/>
          </a:bodyPr>
          <a:lstStyle/>
          <a:p>
            <a:r>
              <a:rPr sz="1150" b="0">
                <a:solidFill>
                  <a:srgbClr val="2E2E2E"/>
                </a:solidFill>
                <a:latin typeface="Calibri"/>
              </a:rPr>
              <a:t>supply segment is expected to witness the highest CAGR of</a:t>
            </a:r>
          </a:p>
        </p:txBody>
      </p:sp>
      <p:pic>
        <p:nvPicPr>
          <p:cNvPr id="35" name="Picture 34" descr="lock.png"/>
          <p:cNvPicPr>
            <a:picLocks noChangeAspect="1"/>
          </p:cNvPicPr>
          <p:nvPr/>
        </p:nvPicPr>
        <p:blipFill>
          <a:blip r:embed="rId5"/>
          <a:stretch>
            <a:fillRect/>
          </a:stretch>
        </p:blipFill>
        <p:spPr>
          <a:xfrm>
            <a:off x="11355522" y="1565211"/>
            <a:ext cx="134549" cy="195707"/>
          </a:xfrm>
          <a:prstGeom prst="rect">
            <a:avLst/>
          </a:prstGeom>
        </p:spPr>
      </p:pic>
      <p:sp>
        <p:nvSpPr>
          <p:cNvPr id="36" name="TextBox 35"/>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7" name="TextBox 36"/>
          <p:cNvSpPr txBox="1"/>
          <p:nvPr/>
        </p:nvSpPr>
        <p:spPr>
          <a:xfrm>
            <a:off x="7829550" y="1978533"/>
            <a:ext cx="3825862" cy="194310"/>
          </a:xfrm>
          <a:prstGeom prst="rect">
            <a:avLst/>
          </a:prstGeom>
          <a:noFill/>
        </p:spPr>
        <p:txBody>
          <a:bodyPr wrap="none" lIns="0" rIns="0" tIns="0" bIns="0">
            <a:spAutoFit/>
          </a:bodyPr>
          <a:lstStyle/>
          <a:p>
            <a:r>
              <a:rPr sz="1150" b="0">
                <a:solidFill>
                  <a:srgbClr val="2E2E2E"/>
                </a:solidFill>
                <a:latin typeface="Calibri"/>
              </a:rPr>
              <a:t>In terms of value share by source, the imported processed crab</a:t>
            </a:r>
          </a:p>
        </p:txBody>
      </p:sp>
      <p:sp>
        <p:nvSpPr>
          <p:cNvPr id="38" name="TextBox 37"/>
          <p:cNvSpPr txBox="1"/>
          <p:nvPr/>
        </p:nvSpPr>
        <p:spPr>
          <a:xfrm>
            <a:off x="7829550" y="2153793"/>
            <a:ext cx="3506092" cy="194310"/>
          </a:xfrm>
          <a:prstGeom prst="rect">
            <a:avLst/>
          </a:prstGeom>
          <a:noFill/>
        </p:spPr>
        <p:txBody>
          <a:bodyPr wrap="none" lIns="0" rIns="0" tIns="0" bIns="0">
            <a:spAutoFit/>
          </a:bodyPr>
          <a:lstStyle/>
          <a:p>
            <a:r>
              <a:rPr sz="1150" b="0">
                <a:solidFill>
                  <a:srgbClr val="2E2E2E"/>
                </a:solidFill>
                <a:latin typeface="Calibri"/>
              </a:rPr>
              <a:t>meat segment is expected to dominate the market, losing</a:t>
            </a:r>
          </a:p>
        </p:txBody>
      </p:sp>
      <p:pic>
        <p:nvPicPr>
          <p:cNvPr id="39" name="Picture 38" descr="lock.png"/>
          <p:cNvPicPr>
            <a:picLocks noChangeAspect="1"/>
          </p:cNvPicPr>
          <p:nvPr/>
        </p:nvPicPr>
        <p:blipFill>
          <a:blip r:embed="rId5"/>
          <a:stretch>
            <a:fillRect/>
          </a:stretch>
        </p:blipFill>
        <p:spPr>
          <a:xfrm>
            <a:off x="11284796" y="2143569"/>
            <a:ext cx="134549" cy="195707"/>
          </a:xfrm>
          <a:prstGeom prst="rect">
            <a:avLst/>
          </a:prstGeom>
        </p:spPr>
      </p:pic>
      <p:sp>
        <p:nvSpPr>
          <p:cNvPr id="40" name="TextBox 39"/>
          <p:cNvSpPr txBox="1"/>
          <p:nvPr/>
        </p:nvSpPr>
        <p:spPr>
          <a:xfrm>
            <a:off x="11459906" y="215379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1" name="TextBox 40"/>
          <p:cNvSpPr txBox="1"/>
          <p:nvPr/>
        </p:nvSpPr>
        <p:spPr>
          <a:xfrm>
            <a:off x="7829550" y="2329053"/>
            <a:ext cx="1190687" cy="194310"/>
          </a:xfrm>
          <a:prstGeom prst="rect">
            <a:avLst/>
          </a:prstGeom>
          <a:noFill/>
        </p:spPr>
        <p:txBody>
          <a:bodyPr wrap="none" lIns="0" rIns="0" tIns="0" bIns="0">
            <a:spAutoFit/>
          </a:bodyPr>
          <a:lstStyle/>
          <a:p>
            <a:r>
              <a:rPr sz="1150" b="0">
                <a:solidFill>
                  <a:srgbClr val="2E2E2E"/>
                </a:solidFill>
                <a:latin typeface="Calibri"/>
              </a:rPr>
              <a:t>and accounting for</a:t>
            </a:r>
          </a:p>
        </p:txBody>
      </p:sp>
      <p:pic>
        <p:nvPicPr>
          <p:cNvPr id="42" name="Picture 41" descr="lock.png"/>
          <p:cNvPicPr>
            <a:picLocks noChangeAspect="1"/>
          </p:cNvPicPr>
          <p:nvPr/>
        </p:nvPicPr>
        <p:blipFill>
          <a:blip r:embed="rId5"/>
          <a:stretch>
            <a:fillRect/>
          </a:stretch>
        </p:blipFill>
        <p:spPr>
          <a:xfrm>
            <a:off x="8969390" y="2318829"/>
            <a:ext cx="134549" cy="195707"/>
          </a:xfrm>
          <a:prstGeom prst="rect">
            <a:avLst/>
          </a:prstGeom>
        </p:spPr>
      </p:pic>
      <p:sp>
        <p:nvSpPr>
          <p:cNvPr id="43" name="TextBox 42"/>
          <p:cNvSpPr txBox="1"/>
          <p:nvPr/>
        </p:nvSpPr>
        <p:spPr>
          <a:xfrm>
            <a:off x="914450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Meat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Meat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Meat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Meat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Meat Type segment categorizes the market by meat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Claw Meat</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 Meat</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Lump</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Backfin</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Crab Leg Meat</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Jumbo Lump</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Meat Type split shows how demand is distributed across meat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4_491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6_260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3_4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3_837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7_048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6_3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_002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2_67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2_9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478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187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4_0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446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2_842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7_0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_24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_189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5_8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708399" cy="186689"/>
          </a:xfrm>
          <a:prstGeom prst="rect">
            <a:avLst/>
          </a:prstGeom>
          <a:noFill/>
        </p:spPr>
        <p:txBody>
          <a:bodyPr wrap="none" lIns="0" rIns="0" tIns="0" bIns="0">
            <a:spAutoFit/>
          </a:bodyPr>
          <a:lstStyle/>
          <a:p>
            <a:r>
              <a:rPr sz="1100" b="0">
                <a:solidFill>
                  <a:srgbClr val="2E2E2E"/>
                </a:solidFill>
                <a:latin typeface="Calibri"/>
              </a:rPr>
              <a:t>Among crab meat by meat type, crab leg meat</a:t>
            </a:r>
          </a:p>
        </p:txBody>
      </p:sp>
      <p:sp>
        <p:nvSpPr>
          <p:cNvPr id="102" name="TextBox 101"/>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03" name="TextBox 102"/>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04" name="Picture 103" descr="lock.png"/>
          <p:cNvPicPr>
            <a:picLocks noChangeAspect="1"/>
          </p:cNvPicPr>
          <p:nvPr/>
        </p:nvPicPr>
        <p:blipFill>
          <a:blip r:embed="rId22"/>
          <a:stretch>
            <a:fillRect/>
          </a:stretch>
        </p:blipFill>
        <p:spPr>
          <a:xfrm>
            <a:off x="626261" y="4554938"/>
            <a:ext cx="128699" cy="187198"/>
          </a:xfrm>
          <a:prstGeom prst="rect">
            <a:avLst/>
          </a:prstGeom>
        </p:spPr>
      </p:pic>
      <p:sp>
        <p:nvSpPr>
          <p:cNvPr id="105" name="TextBox 104"/>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06" name="TextBox 105"/>
          <p:cNvSpPr txBox="1"/>
          <p:nvPr/>
        </p:nvSpPr>
        <p:spPr>
          <a:xfrm>
            <a:off x="485775" y="4732357"/>
            <a:ext cx="2813446" cy="186689"/>
          </a:xfrm>
          <a:prstGeom prst="rect">
            <a:avLst/>
          </a:prstGeom>
          <a:noFill/>
        </p:spPr>
        <p:txBody>
          <a:bodyPr wrap="none" lIns="0" rIns="0" tIns="0" bIns="0">
            <a:spAutoFit/>
          </a:bodyPr>
          <a:lstStyle/>
          <a:p>
            <a:r>
              <a:rPr sz="1100" b="0">
                <a:solidFill>
                  <a:srgbClr val="2E2E2E"/>
                </a:solidFill>
                <a:latin typeface="Calibri"/>
              </a:rPr>
              <a:t>share by meat type, the special meat segment is</a:t>
            </a:r>
          </a:p>
        </p:txBody>
      </p:sp>
      <p:sp>
        <p:nvSpPr>
          <p:cNvPr id="107" name="TextBox 106"/>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8" name="Picture 107" descr="lock.png"/>
          <p:cNvPicPr>
            <a:picLocks noChangeAspect="1"/>
          </p:cNvPicPr>
          <p:nvPr/>
        </p:nvPicPr>
        <p:blipFill>
          <a:blip r:embed="rId22"/>
          <a:stretch>
            <a:fillRect/>
          </a:stretch>
        </p:blipFill>
        <p:spPr>
          <a:xfrm>
            <a:off x="2900479" y="4890217"/>
            <a:ext cx="128699" cy="187198"/>
          </a:xfrm>
          <a:prstGeom prst="rect">
            <a:avLst/>
          </a:prstGeom>
        </p:spPr>
      </p:pic>
      <p:sp>
        <p:nvSpPr>
          <p:cNvPr id="109" name="TextBox 108"/>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0" name="TextBox 109"/>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1" name="Picture 110" descr="lock.png"/>
          <p:cNvPicPr>
            <a:picLocks noChangeAspect="1"/>
          </p:cNvPicPr>
          <p:nvPr/>
        </p:nvPicPr>
        <p:blipFill>
          <a:blip r:embed="rId22"/>
          <a:stretch>
            <a:fillRect/>
          </a:stretch>
        </p:blipFill>
        <p:spPr>
          <a:xfrm>
            <a:off x="1576057" y="5057858"/>
            <a:ext cx="128699" cy="187198"/>
          </a:xfrm>
          <a:prstGeom prst="rect">
            <a:avLst/>
          </a:prstGeom>
        </p:spPr>
      </p:pic>
      <p:sp>
        <p:nvSpPr>
          <p:cNvPr id="112" name="TextBox 111"/>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285569"/>
            <a:ext cx="2641823" cy="186689"/>
          </a:xfrm>
          <a:prstGeom prst="rect">
            <a:avLst/>
          </a:prstGeom>
          <a:noFill/>
        </p:spPr>
        <p:txBody>
          <a:bodyPr wrap="none" lIns="0" rIns="0" tIns="0" bIns="0">
            <a:spAutoFit/>
          </a:bodyPr>
          <a:lstStyle/>
          <a:p>
            <a:r>
              <a:rPr sz="1100" b="0">
                <a:solidFill>
                  <a:srgbClr val="2E2E2E"/>
                </a:solidFill>
                <a:latin typeface="Calibri"/>
              </a:rPr>
              <a:t>Special meat segment is projected to register</a:t>
            </a:r>
          </a:p>
        </p:txBody>
      </p:sp>
      <p:pic>
        <p:nvPicPr>
          <p:cNvPr id="114" name="Picture 113" descr="lock.png"/>
          <p:cNvPicPr>
            <a:picLocks noChangeAspect="1"/>
          </p:cNvPicPr>
          <p:nvPr/>
        </p:nvPicPr>
        <p:blipFill>
          <a:blip r:embed="rId22"/>
          <a:stretch>
            <a:fillRect/>
          </a:stretch>
        </p:blipFill>
        <p:spPr>
          <a:xfrm>
            <a:off x="3075649" y="5275790"/>
            <a:ext cx="128699" cy="187198"/>
          </a:xfrm>
          <a:prstGeom prst="rect">
            <a:avLst/>
          </a:prstGeom>
        </p:spPr>
      </p:pic>
      <p:sp>
        <p:nvSpPr>
          <p:cNvPr id="115" name="TextBox 114"/>
          <p:cNvSpPr txBox="1"/>
          <p:nvPr/>
        </p:nvSpPr>
        <p:spPr>
          <a:xfrm>
            <a:off x="3243145"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6" name="TextBox 115"/>
          <p:cNvSpPr txBox="1"/>
          <p:nvPr/>
        </p:nvSpPr>
        <p:spPr>
          <a:xfrm>
            <a:off x="485775" y="5453209"/>
            <a:ext cx="2695575" cy="186689"/>
          </a:xfrm>
          <a:prstGeom prst="rect">
            <a:avLst/>
          </a:prstGeom>
          <a:noFill/>
        </p:spPr>
        <p:txBody>
          <a:bodyPr wrap="none" lIns="0" rIns="0" tIns="0" bIns="0">
            <a:spAutoFit/>
          </a:bodyPr>
          <a:lstStyle/>
          <a:p>
            <a:r>
              <a:rPr sz="1100" b="0">
                <a:solidFill>
                  <a:srgbClr val="2E2E2E"/>
                </a:solidFill>
                <a:latin typeface="Calibri"/>
              </a:rPr>
              <a:t>higher value than claw meat segment in 2036.</a:t>
            </a:r>
          </a:p>
        </p:txBody>
      </p:sp>
      <p:sp>
        <p:nvSpPr>
          <p:cNvPr id="117" name="TextBox 116"/>
          <p:cNvSpPr txBox="1"/>
          <p:nvPr/>
        </p:nvSpPr>
        <p:spPr>
          <a:xfrm>
            <a:off x="3838575" y="4229437"/>
            <a:ext cx="837455" cy="186689"/>
          </a:xfrm>
          <a:prstGeom prst="rect">
            <a:avLst/>
          </a:prstGeom>
          <a:noFill/>
        </p:spPr>
        <p:txBody>
          <a:bodyPr wrap="none" lIns="0" rIns="0" tIns="0" bIns="0">
            <a:spAutoFit/>
          </a:bodyPr>
          <a:lstStyle/>
          <a:p>
            <a:r>
              <a:rPr sz="1100" b="0">
                <a:solidFill>
                  <a:srgbClr val="2E2E2E"/>
                </a:solidFill>
                <a:latin typeface="Calibri"/>
              </a:rPr>
              <a:t>● Claw Meat:</a:t>
            </a:r>
          </a:p>
        </p:txBody>
      </p:sp>
      <p:pic>
        <p:nvPicPr>
          <p:cNvPr id="118" name="Picture 117" descr="lock.png"/>
          <p:cNvPicPr>
            <a:picLocks noChangeAspect="1"/>
          </p:cNvPicPr>
          <p:nvPr/>
        </p:nvPicPr>
        <p:blipFill>
          <a:blip r:embed="rId22"/>
          <a:stretch>
            <a:fillRect/>
          </a:stretch>
        </p:blipFill>
        <p:spPr>
          <a:xfrm>
            <a:off x="4624082" y="4219658"/>
            <a:ext cx="128699" cy="187198"/>
          </a:xfrm>
          <a:prstGeom prst="rect">
            <a:avLst/>
          </a:prstGeom>
        </p:spPr>
      </p:pic>
      <p:sp>
        <p:nvSpPr>
          <p:cNvPr id="119" name="TextBox 118"/>
          <p:cNvSpPr txBox="1"/>
          <p:nvPr/>
        </p:nvSpPr>
        <p:spPr>
          <a:xfrm>
            <a:off x="479157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651028" y="4219658"/>
            <a:ext cx="128699" cy="187198"/>
          </a:xfrm>
          <a:prstGeom prst="rect">
            <a:avLst/>
          </a:prstGeom>
        </p:spPr>
      </p:pic>
      <p:sp>
        <p:nvSpPr>
          <p:cNvPr id="121" name="TextBox 120"/>
          <p:cNvSpPr txBox="1"/>
          <p:nvPr/>
        </p:nvSpPr>
        <p:spPr>
          <a:xfrm>
            <a:off x="5818524"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2" name="TextBox 121"/>
          <p:cNvSpPr txBox="1"/>
          <p:nvPr/>
        </p:nvSpPr>
        <p:spPr>
          <a:xfrm>
            <a:off x="3838575" y="4447369"/>
            <a:ext cx="961603" cy="186689"/>
          </a:xfrm>
          <a:prstGeom prst="rect">
            <a:avLst/>
          </a:prstGeom>
          <a:noFill/>
        </p:spPr>
        <p:txBody>
          <a:bodyPr wrap="none" lIns="0" rIns="0" tIns="0" bIns="0">
            <a:spAutoFit/>
          </a:bodyPr>
          <a:lstStyle/>
          <a:p>
            <a:r>
              <a:rPr sz="1100" b="0">
                <a:solidFill>
                  <a:srgbClr val="2E2E2E"/>
                </a:solidFill>
                <a:latin typeface="Calibri"/>
              </a:rPr>
              <a:t>● Special Meat:</a:t>
            </a:r>
          </a:p>
        </p:txBody>
      </p:sp>
      <p:pic>
        <p:nvPicPr>
          <p:cNvPr id="123" name="Picture 122" descr="lock.png"/>
          <p:cNvPicPr>
            <a:picLocks noChangeAspect="1"/>
          </p:cNvPicPr>
          <p:nvPr/>
        </p:nvPicPr>
        <p:blipFill>
          <a:blip r:embed="rId22"/>
          <a:stretch>
            <a:fillRect/>
          </a:stretch>
        </p:blipFill>
        <p:spPr>
          <a:xfrm>
            <a:off x="4748229" y="4437590"/>
            <a:ext cx="128699" cy="187198"/>
          </a:xfrm>
          <a:prstGeom prst="rect">
            <a:avLst/>
          </a:prstGeom>
        </p:spPr>
      </p:pic>
      <p:sp>
        <p:nvSpPr>
          <p:cNvPr id="124" name="TextBox 123"/>
          <p:cNvSpPr txBox="1"/>
          <p:nvPr/>
        </p:nvSpPr>
        <p:spPr>
          <a:xfrm>
            <a:off x="491572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5775175" y="4437590"/>
            <a:ext cx="128699" cy="187198"/>
          </a:xfrm>
          <a:prstGeom prst="rect">
            <a:avLst/>
          </a:prstGeom>
        </p:spPr>
      </p:pic>
      <p:sp>
        <p:nvSpPr>
          <p:cNvPr id="126" name="TextBox 125"/>
          <p:cNvSpPr txBox="1"/>
          <p:nvPr/>
        </p:nvSpPr>
        <p:spPr>
          <a:xfrm>
            <a:off x="594267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7" name="TextBox 126"/>
          <p:cNvSpPr txBox="1"/>
          <p:nvPr/>
        </p:nvSpPr>
        <p:spPr>
          <a:xfrm>
            <a:off x="3838575" y="4665301"/>
            <a:ext cx="546596" cy="186689"/>
          </a:xfrm>
          <a:prstGeom prst="rect">
            <a:avLst/>
          </a:prstGeom>
          <a:noFill/>
        </p:spPr>
        <p:txBody>
          <a:bodyPr wrap="none" lIns="0" rIns="0" tIns="0" bIns="0">
            <a:spAutoFit/>
          </a:bodyPr>
          <a:lstStyle/>
          <a:p>
            <a:r>
              <a:rPr sz="1100" b="0">
                <a:solidFill>
                  <a:srgbClr val="2E2E2E"/>
                </a:solidFill>
                <a:latin typeface="Calibri"/>
              </a:rPr>
              <a:t>● Lump:</a:t>
            </a:r>
          </a:p>
        </p:txBody>
      </p:sp>
      <p:pic>
        <p:nvPicPr>
          <p:cNvPr id="128" name="Picture 127" descr="lock.png"/>
          <p:cNvPicPr>
            <a:picLocks noChangeAspect="1"/>
          </p:cNvPicPr>
          <p:nvPr/>
        </p:nvPicPr>
        <p:blipFill>
          <a:blip r:embed="rId22"/>
          <a:stretch>
            <a:fillRect/>
          </a:stretch>
        </p:blipFill>
        <p:spPr>
          <a:xfrm>
            <a:off x="4333222" y="4655522"/>
            <a:ext cx="128699" cy="187198"/>
          </a:xfrm>
          <a:prstGeom prst="rect">
            <a:avLst/>
          </a:prstGeom>
        </p:spPr>
      </p:pic>
      <p:sp>
        <p:nvSpPr>
          <p:cNvPr id="129" name="TextBox 128"/>
          <p:cNvSpPr txBox="1"/>
          <p:nvPr/>
        </p:nvSpPr>
        <p:spPr>
          <a:xfrm>
            <a:off x="450071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5360168" y="4655522"/>
            <a:ext cx="128699" cy="187198"/>
          </a:xfrm>
          <a:prstGeom prst="rect">
            <a:avLst/>
          </a:prstGeom>
        </p:spPr>
      </p:pic>
      <p:sp>
        <p:nvSpPr>
          <p:cNvPr id="131" name="TextBox 130"/>
          <p:cNvSpPr txBox="1"/>
          <p:nvPr/>
        </p:nvSpPr>
        <p:spPr>
          <a:xfrm>
            <a:off x="5527664"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3838575" y="4883233"/>
            <a:ext cx="643458" cy="186689"/>
          </a:xfrm>
          <a:prstGeom prst="rect">
            <a:avLst/>
          </a:prstGeom>
          <a:noFill/>
        </p:spPr>
        <p:txBody>
          <a:bodyPr wrap="none" lIns="0" rIns="0" tIns="0" bIns="0">
            <a:spAutoFit/>
          </a:bodyPr>
          <a:lstStyle/>
          <a:p>
            <a:r>
              <a:rPr sz="1100" b="0">
                <a:solidFill>
                  <a:srgbClr val="2E2E2E"/>
                </a:solidFill>
                <a:latin typeface="Calibri"/>
              </a:rPr>
              <a:t>● Backfin:</a:t>
            </a:r>
          </a:p>
        </p:txBody>
      </p:sp>
      <p:pic>
        <p:nvPicPr>
          <p:cNvPr id="133" name="Picture 132" descr="lock.png"/>
          <p:cNvPicPr>
            <a:picLocks noChangeAspect="1"/>
          </p:cNvPicPr>
          <p:nvPr/>
        </p:nvPicPr>
        <p:blipFill>
          <a:blip r:embed="rId22"/>
          <a:stretch>
            <a:fillRect/>
          </a:stretch>
        </p:blipFill>
        <p:spPr>
          <a:xfrm>
            <a:off x="4430084" y="4873454"/>
            <a:ext cx="128699" cy="187198"/>
          </a:xfrm>
          <a:prstGeom prst="rect">
            <a:avLst/>
          </a:prstGeom>
        </p:spPr>
      </p:pic>
      <p:sp>
        <p:nvSpPr>
          <p:cNvPr id="134" name="TextBox 133"/>
          <p:cNvSpPr txBox="1"/>
          <p:nvPr/>
        </p:nvSpPr>
        <p:spPr>
          <a:xfrm>
            <a:off x="459758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5457031" y="4873454"/>
            <a:ext cx="128699" cy="187198"/>
          </a:xfrm>
          <a:prstGeom prst="rect">
            <a:avLst/>
          </a:prstGeom>
        </p:spPr>
      </p:pic>
      <p:sp>
        <p:nvSpPr>
          <p:cNvPr id="136" name="TextBox 135"/>
          <p:cNvSpPr txBox="1"/>
          <p:nvPr/>
        </p:nvSpPr>
        <p:spPr>
          <a:xfrm>
            <a:off x="562452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101165"/>
            <a:ext cx="1053281" cy="186689"/>
          </a:xfrm>
          <a:prstGeom prst="rect">
            <a:avLst/>
          </a:prstGeom>
          <a:noFill/>
        </p:spPr>
        <p:txBody>
          <a:bodyPr wrap="none" lIns="0" rIns="0" tIns="0" bIns="0">
            <a:spAutoFit/>
          </a:bodyPr>
          <a:lstStyle/>
          <a:p>
            <a:r>
              <a:rPr sz="1100" b="0">
                <a:solidFill>
                  <a:srgbClr val="2E2E2E"/>
                </a:solidFill>
                <a:latin typeface="Calibri"/>
              </a:rPr>
              <a:t>● Crab Leg Meat:</a:t>
            </a:r>
          </a:p>
        </p:txBody>
      </p:sp>
      <p:pic>
        <p:nvPicPr>
          <p:cNvPr id="138" name="Picture 137" descr="lock.png"/>
          <p:cNvPicPr>
            <a:picLocks noChangeAspect="1"/>
          </p:cNvPicPr>
          <p:nvPr/>
        </p:nvPicPr>
        <p:blipFill>
          <a:blip r:embed="rId22"/>
          <a:stretch>
            <a:fillRect/>
          </a:stretch>
        </p:blipFill>
        <p:spPr>
          <a:xfrm>
            <a:off x="4839908" y="5091385"/>
            <a:ext cx="128699" cy="187198"/>
          </a:xfrm>
          <a:prstGeom prst="rect">
            <a:avLst/>
          </a:prstGeom>
        </p:spPr>
      </p:pic>
      <p:sp>
        <p:nvSpPr>
          <p:cNvPr id="139" name="TextBox 138"/>
          <p:cNvSpPr txBox="1"/>
          <p:nvPr/>
        </p:nvSpPr>
        <p:spPr>
          <a:xfrm>
            <a:off x="500740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5866854" y="5091385"/>
            <a:ext cx="128699" cy="187198"/>
          </a:xfrm>
          <a:prstGeom prst="rect">
            <a:avLst/>
          </a:prstGeom>
        </p:spPr>
      </p:pic>
      <p:sp>
        <p:nvSpPr>
          <p:cNvPr id="141" name="TextBox 140"/>
          <p:cNvSpPr txBox="1"/>
          <p:nvPr/>
        </p:nvSpPr>
        <p:spPr>
          <a:xfrm>
            <a:off x="6034349" y="5101165"/>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2" name="TextBox 141"/>
          <p:cNvSpPr txBox="1"/>
          <p:nvPr/>
        </p:nvSpPr>
        <p:spPr>
          <a:xfrm>
            <a:off x="3838575" y="5319097"/>
            <a:ext cx="954782" cy="186689"/>
          </a:xfrm>
          <a:prstGeom prst="rect">
            <a:avLst/>
          </a:prstGeom>
          <a:noFill/>
        </p:spPr>
        <p:txBody>
          <a:bodyPr wrap="none" lIns="0" rIns="0" tIns="0" bIns="0">
            <a:spAutoFit/>
          </a:bodyPr>
          <a:lstStyle/>
          <a:p>
            <a:r>
              <a:rPr sz="1100" b="0">
                <a:solidFill>
                  <a:srgbClr val="2E2E2E"/>
                </a:solidFill>
                <a:latin typeface="Calibri"/>
              </a:rPr>
              <a:t>● Jumbo Lump:</a:t>
            </a:r>
          </a:p>
        </p:txBody>
      </p:sp>
      <p:pic>
        <p:nvPicPr>
          <p:cNvPr id="143" name="Picture 142" descr="lock.png"/>
          <p:cNvPicPr>
            <a:picLocks noChangeAspect="1"/>
          </p:cNvPicPr>
          <p:nvPr/>
        </p:nvPicPr>
        <p:blipFill>
          <a:blip r:embed="rId22"/>
          <a:stretch>
            <a:fillRect/>
          </a:stretch>
        </p:blipFill>
        <p:spPr>
          <a:xfrm>
            <a:off x="4741408" y="5309317"/>
            <a:ext cx="128699" cy="187198"/>
          </a:xfrm>
          <a:prstGeom prst="rect">
            <a:avLst/>
          </a:prstGeom>
        </p:spPr>
      </p:pic>
      <p:sp>
        <p:nvSpPr>
          <p:cNvPr id="144" name="TextBox 143"/>
          <p:cNvSpPr txBox="1"/>
          <p:nvPr/>
        </p:nvSpPr>
        <p:spPr>
          <a:xfrm>
            <a:off x="490890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5768354" y="5309317"/>
            <a:ext cx="128699" cy="187198"/>
          </a:xfrm>
          <a:prstGeom prst="rect">
            <a:avLst/>
          </a:prstGeom>
        </p:spPr>
      </p:pic>
      <p:sp>
        <p:nvSpPr>
          <p:cNvPr id="146" name="TextBox 145"/>
          <p:cNvSpPr txBox="1"/>
          <p:nvPr/>
        </p:nvSpPr>
        <p:spPr>
          <a:xfrm>
            <a:off x="5935850" y="531909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7" name="TextBox 146"/>
          <p:cNvSpPr txBox="1"/>
          <p:nvPr/>
        </p:nvSpPr>
        <p:spPr>
          <a:xfrm>
            <a:off x="8524875" y="5842641"/>
            <a:ext cx="3050257" cy="194310"/>
          </a:xfrm>
          <a:prstGeom prst="rect">
            <a:avLst/>
          </a:prstGeom>
          <a:noFill/>
        </p:spPr>
        <p:txBody>
          <a:bodyPr wrap="none" lIns="0" rIns="0" tIns="0" bIns="0">
            <a:spAutoFit/>
          </a:bodyPr>
          <a:lstStyle/>
          <a:p>
            <a:r>
              <a:rPr sz="1150" b="1">
                <a:solidFill>
                  <a:srgbClr val="0B2E4A"/>
                </a:solidFill>
                <a:latin typeface="Calibri"/>
              </a:rPr>
              <a:t>The Meat Type segment is projected to grow at a</a:t>
            </a:r>
          </a:p>
        </p:txBody>
      </p:sp>
      <p:sp>
        <p:nvSpPr>
          <p:cNvPr id="148" name="TextBox 14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49" name="Picture 148" descr="lock.png"/>
          <p:cNvPicPr>
            <a:picLocks noChangeAspect="1"/>
          </p:cNvPicPr>
          <p:nvPr/>
        </p:nvPicPr>
        <p:blipFill>
          <a:blip r:embed="rId22"/>
          <a:stretch>
            <a:fillRect/>
          </a:stretch>
        </p:blipFill>
        <p:spPr>
          <a:xfrm>
            <a:off x="9048826" y="6007677"/>
            <a:ext cx="134549" cy="195707"/>
          </a:xfrm>
          <a:prstGeom prst="rect">
            <a:avLst/>
          </a:prstGeom>
        </p:spPr>
      </p:pic>
      <p:sp>
        <p:nvSpPr>
          <p:cNvPr id="150" name="TextBox 14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Meat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Meat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Meat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Meat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94355" cy="186689"/>
          </a:xfrm>
          <a:prstGeom prst="rect">
            <a:avLst/>
          </a:prstGeom>
          <a:noFill/>
        </p:spPr>
        <p:txBody>
          <a:bodyPr wrap="none" lIns="0" rIns="0" tIns="0" bIns="0">
            <a:spAutoFit/>
          </a:bodyPr>
          <a:lstStyle/>
          <a:p>
            <a:r>
              <a:rPr sz="1100" b="0">
                <a:solidFill>
                  <a:srgbClr val="2E2E2E"/>
                </a:solidFill>
                <a:latin typeface="Calibri"/>
              </a:rPr>
              <a:t>Special meat followed by claw meat are expected to be the two most attractive meat type segments in the global crab meat market in terms of value over the forecast period. Special meat and claw meat</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277841" cy="186689"/>
          </a:xfrm>
          <a:prstGeom prst="rect">
            <a:avLst/>
          </a:prstGeom>
          <a:noFill/>
        </p:spPr>
        <p:txBody>
          <a:bodyPr wrap="none" lIns="0" rIns="0" tIns="0" bIns="0">
            <a:spAutoFit/>
          </a:bodyPr>
          <a:lstStyle/>
          <a:p>
            <a:r>
              <a:rPr sz="1100" b="0">
                <a:solidFill>
                  <a:srgbClr val="2E2E2E"/>
                </a:solidFill>
                <a:latin typeface="Calibri"/>
              </a:rPr>
              <a:t>. The lump segment is expected to be less attractive as compared to other</a:t>
            </a:r>
          </a:p>
        </p:txBody>
      </p:sp>
      <p:sp>
        <p:nvSpPr>
          <p:cNvPr id="31" name="TextBox 30"/>
          <p:cNvSpPr txBox="1"/>
          <p:nvPr/>
        </p:nvSpPr>
        <p:spPr>
          <a:xfrm>
            <a:off x="257175" y="6113145"/>
            <a:ext cx="9501823" cy="186689"/>
          </a:xfrm>
          <a:prstGeom prst="rect">
            <a:avLst/>
          </a:prstGeom>
          <a:noFill/>
        </p:spPr>
        <p:txBody>
          <a:bodyPr wrap="none" lIns="0" rIns="0" tIns="0" bIns="0">
            <a:spAutoFit/>
          </a:bodyPr>
          <a:lstStyle/>
          <a:p>
            <a:r>
              <a:rPr sz="1100" b="0">
                <a:solidFill>
                  <a:srgbClr val="2E2E2E"/>
                </a:solidFill>
                <a:latin typeface="Calibri"/>
              </a:rPr>
              <a:t>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Meat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Meat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Jumbo Lump</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Lump</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Backfin</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Special Meat</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Meat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Meat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Claw Meat</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Crab Leg Meat</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Meat Type</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248301" cy="194310"/>
          </a:xfrm>
          <a:prstGeom prst="rect">
            <a:avLst/>
          </a:prstGeom>
          <a:noFill/>
        </p:spPr>
        <p:txBody>
          <a:bodyPr wrap="none" lIns="0" rIns="0" tIns="0" bIns="0">
            <a:spAutoFit/>
          </a:bodyPr>
          <a:lstStyle/>
          <a:p>
            <a:r>
              <a:rPr sz="1150" b="0">
                <a:solidFill>
                  <a:srgbClr val="2E2E2E"/>
                </a:solidFill>
                <a:latin typeface="Calibri"/>
              </a:rPr>
              <a:t>By 2036, special meat segment is anticipated to witness an increase of</a:t>
            </a:r>
          </a:p>
        </p:txBody>
      </p:sp>
      <p:pic>
        <p:nvPicPr>
          <p:cNvPr id="24" name="Picture 23" descr="lock.png"/>
          <p:cNvPicPr>
            <a:picLocks noChangeAspect="1"/>
          </p:cNvPicPr>
          <p:nvPr/>
        </p:nvPicPr>
        <p:blipFill>
          <a:blip r:embed="rId6"/>
          <a:stretch>
            <a:fillRect/>
          </a:stretch>
        </p:blipFill>
        <p:spPr>
          <a:xfrm>
            <a:off x="10503005" y="1389951"/>
            <a:ext cx="134549" cy="195707"/>
          </a:xfrm>
          <a:prstGeom prst="rect">
            <a:avLst/>
          </a:prstGeom>
        </p:spPr>
      </p:pic>
      <p:sp>
        <p:nvSpPr>
          <p:cNvPr id="25" name="TextBox 24"/>
          <p:cNvSpPr txBox="1"/>
          <p:nvPr/>
        </p:nvSpPr>
        <p:spPr>
          <a:xfrm>
            <a:off x="10678114" y="140017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6" name="TextBox 25"/>
          <p:cNvSpPr txBox="1"/>
          <p:nvPr/>
        </p:nvSpPr>
        <p:spPr>
          <a:xfrm>
            <a:off x="6305550" y="1575435"/>
            <a:ext cx="5145732" cy="194310"/>
          </a:xfrm>
          <a:prstGeom prst="rect">
            <a:avLst/>
          </a:prstGeom>
          <a:noFill/>
        </p:spPr>
        <p:txBody>
          <a:bodyPr wrap="none" lIns="0" rIns="0" tIns="0" bIns="0">
            <a:spAutoFit/>
          </a:bodyPr>
          <a:lstStyle/>
          <a:p>
            <a:r>
              <a:rPr sz="1150" b="0">
                <a:solidFill>
                  <a:srgbClr val="2E2E2E"/>
                </a:solidFill>
                <a:latin typeface="Calibri"/>
              </a:rPr>
              <a:t>as compared to 2026. The special meat segment is expected to create an incremental</a:t>
            </a:r>
          </a:p>
        </p:txBody>
      </p:sp>
      <p:sp>
        <p:nvSpPr>
          <p:cNvPr id="27" name="TextBox 26"/>
          <p:cNvSpPr txBox="1"/>
          <p:nvPr/>
        </p:nvSpPr>
        <p:spPr>
          <a:xfrm>
            <a:off x="6305550" y="175069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8" name="Picture 27" descr="lock.png"/>
          <p:cNvPicPr>
            <a:picLocks noChangeAspect="1"/>
          </p:cNvPicPr>
          <p:nvPr/>
        </p:nvPicPr>
        <p:blipFill>
          <a:blip r:embed="rId6"/>
          <a:stretch>
            <a:fillRect/>
          </a:stretch>
        </p:blipFill>
        <p:spPr>
          <a:xfrm>
            <a:off x="7463647" y="1740471"/>
            <a:ext cx="134549" cy="195707"/>
          </a:xfrm>
          <a:prstGeom prst="rect">
            <a:avLst/>
          </a:prstGeom>
        </p:spPr>
      </p:pic>
      <p:sp>
        <p:nvSpPr>
          <p:cNvPr id="29" name="TextBox 28"/>
          <p:cNvSpPr txBox="1"/>
          <p:nvPr/>
        </p:nvSpPr>
        <p:spPr>
          <a:xfrm>
            <a:off x="7638756"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0" name="TextBox 29"/>
          <p:cNvSpPr txBox="1"/>
          <p:nvPr/>
        </p:nvSpPr>
        <p:spPr>
          <a:xfrm>
            <a:off x="6305550" y="1978533"/>
            <a:ext cx="4854202" cy="194310"/>
          </a:xfrm>
          <a:prstGeom prst="rect">
            <a:avLst/>
          </a:prstGeom>
          <a:noFill/>
        </p:spPr>
        <p:txBody>
          <a:bodyPr wrap="none" lIns="0" rIns="0" tIns="0" bIns="0">
            <a:spAutoFit/>
          </a:bodyPr>
          <a:lstStyle/>
          <a:p>
            <a:r>
              <a:rPr sz="1150" b="0">
                <a:solidFill>
                  <a:srgbClr val="2E2E2E"/>
                </a:solidFill>
                <a:latin typeface="Calibri"/>
              </a:rPr>
              <a:t>The claw meat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108906" y="1968309"/>
            <a:ext cx="134549" cy="195707"/>
          </a:xfrm>
          <a:prstGeom prst="rect">
            <a:avLst/>
          </a:prstGeom>
        </p:spPr>
      </p:pic>
      <p:sp>
        <p:nvSpPr>
          <p:cNvPr id="32" name="TextBox 31"/>
          <p:cNvSpPr txBox="1"/>
          <p:nvPr/>
        </p:nvSpPr>
        <p:spPr>
          <a:xfrm>
            <a:off x="11284016" y="197853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153793"/>
            <a:ext cx="5487751" cy="194310"/>
          </a:xfrm>
          <a:prstGeom prst="rect">
            <a:avLst/>
          </a:prstGeom>
          <a:noFill/>
        </p:spPr>
        <p:txBody>
          <a:bodyPr wrap="none" lIns="0" rIns="0" tIns="0" bIns="0">
            <a:spAutoFit/>
          </a:bodyPr>
          <a:lstStyle/>
          <a:p>
            <a:r>
              <a:rPr sz="1150" b="0">
                <a:solidFill>
                  <a:srgbClr val="2E2E2E"/>
                </a:solidFill>
                <a:latin typeface="Calibri"/>
              </a:rPr>
              <a:t>the overall crab meat market from 2026 to 2036. The crab leg meat segment is expected to</a:t>
            </a:r>
          </a:p>
        </p:txBody>
      </p:sp>
      <p:sp>
        <p:nvSpPr>
          <p:cNvPr id="34" name="TextBox 33"/>
          <p:cNvSpPr txBox="1"/>
          <p:nvPr/>
        </p:nvSpPr>
        <p:spPr>
          <a:xfrm>
            <a:off x="6305550" y="2329053"/>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5" name="Picture 34" descr="lock.png"/>
          <p:cNvPicPr>
            <a:picLocks noChangeAspect="1"/>
          </p:cNvPicPr>
          <p:nvPr/>
        </p:nvPicPr>
        <p:blipFill>
          <a:blip r:embed="rId6"/>
          <a:stretch>
            <a:fillRect/>
          </a:stretch>
        </p:blipFill>
        <p:spPr>
          <a:xfrm>
            <a:off x="8801773" y="2318829"/>
            <a:ext cx="134549" cy="195707"/>
          </a:xfrm>
          <a:prstGeom prst="rect">
            <a:avLst/>
          </a:prstGeom>
        </p:spPr>
      </p:pic>
      <p:sp>
        <p:nvSpPr>
          <p:cNvPr id="36" name="TextBox 35"/>
          <p:cNvSpPr txBox="1"/>
          <p:nvPr/>
        </p:nvSpPr>
        <p:spPr>
          <a:xfrm>
            <a:off x="8976882" y="2329053"/>
            <a:ext cx="2897361"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a:t>
            </a:r>
          </a:p>
        </p:txBody>
      </p:sp>
      <p:sp>
        <p:nvSpPr>
          <p:cNvPr id="37" name="TextBox 36"/>
          <p:cNvSpPr txBox="1"/>
          <p:nvPr/>
        </p:nvSpPr>
        <p:spPr>
          <a:xfrm>
            <a:off x="6305550" y="2504313"/>
            <a:ext cx="568833" cy="194310"/>
          </a:xfrm>
          <a:prstGeom prst="rect">
            <a:avLst/>
          </a:prstGeom>
          <a:noFill/>
        </p:spPr>
        <p:txBody>
          <a:bodyPr wrap="none" lIns="0" rIns="0" tIns="0" bIns="0">
            <a:spAutoFit/>
          </a:bodyPr>
          <a:lstStyle/>
          <a:p>
            <a:r>
              <a:rPr sz="1150" b="0">
                <a:solidFill>
                  <a:srgbClr val="2E2E2E"/>
                </a:solidFill>
                <a:latin typeface="Calibri"/>
              </a:rPr>
              <a:t>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Meat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Meat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Meat Type (US$ Mn)</a:t>
            </a:r>
          </a:p>
        </p:txBody>
      </p:sp>
      <p:graphicFrame>
        <p:nvGraphicFramePr>
          <p:cNvPr id="12" name="Table 11"/>
          <p:cNvGraphicFramePr>
            <a:graphicFrameLocks noGrp="1"/>
          </p:cNvGraphicFramePr>
          <p:nvPr/>
        </p:nvGraphicFramePr>
        <p:xfrm>
          <a:off x="152400" y="1238250"/>
          <a:ext cx="11887193" cy="1971675"/>
        </p:xfrm>
        <a:graphic>
          <a:graphicData uri="http://schemas.openxmlformats.org/drawingml/2006/table">
            <a:tbl>
              <a:tblPr>
                <a:tableStyleId>{5C22544A-7EE6-4342-B048-85BDC9FD1C3A}</a:tableStyleId>
              </a:tblPr>
              <a:tblGrid>
                <a:gridCol w="1111352"/>
                <a:gridCol w="633873"/>
                <a:gridCol w="633873"/>
                <a:gridCol w="633873"/>
                <a:gridCol w="633873"/>
                <a:gridCol w="633873"/>
                <a:gridCol w="633873"/>
                <a:gridCol w="633873"/>
                <a:gridCol w="633873"/>
                <a:gridCol w="633873"/>
                <a:gridCol w="633873"/>
                <a:gridCol w="633873"/>
                <a:gridCol w="633873"/>
                <a:gridCol w="633873"/>
                <a:gridCol w="633873"/>
                <a:gridCol w="633873"/>
                <a:gridCol w="633873"/>
                <a:gridCol w="633873"/>
              </a:tblGrid>
              <a:tr h="246126">
                <a:tc>
                  <a:txBody>
                    <a:bodyPr wrap="none"/>
                    <a:lstStyle/>
                    <a:p>
                      <a:pPr algn="l"/>
                      <a:r>
                        <a:rPr sz="1100" b="1">
                          <a:solidFill>
                            <a:srgbClr val="0B2E4A"/>
                          </a:solidFill>
                          <a:latin typeface="Calibri"/>
                        </a:rPr>
                        <a:t>Meat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Jumbo Lump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Lump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Backfin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Claw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Crab Leg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Meat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64982" y="2080450"/>
            <a:ext cx="366712" cy="533400"/>
          </a:xfrm>
          <a:prstGeom prst="rect">
            <a:avLst/>
          </a:prstGeom>
        </p:spPr>
      </p:pic>
      <p:sp>
        <p:nvSpPr>
          <p:cNvPr id="20" name="TextBox 19"/>
          <p:cNvSpPr txBox="1"/>
          <p:nvPr/>
        </p:nvSpPr>
        <p:spPr>
          <a:xfrm>
            <a:off x="276225" y="3971925"/>
            <a:ext cx="2758442" cy="194310"/>
          </a:xfrm>
          <a:prstGeom prst="rect">
            <a:avLst/>
          </a:prstGeom>
          <a:noFill/>
        </p:spPr>
        <p:txBody>
          <a:bodyPr wrap="none" lIns="0" rIns="0" tIns="0" bIns="0">
            <a:spAutoFit/>
          </a:bodyPr>
          <a:lstStyle/>
          <a:p>
            <a:r>
              <a:rPr sz="1150" b="0">
                <a:solidFill>
                  <a:srgbClr val="2E2E2E"/>
                </a:solidFill>
                <a:latin typeface="Calibri"/>
              </a:rPr>
              <a:t>Special meat segment is projected to register</a:t>
            </a:r>
          </a:p>
        </p:txBody>
      </p:sp>
      <p:pic>
        <p:nvPicPr>
          <p:cNvPr id="21" name="Picture 20" descr="lock.png"/>
          <p:cNvPicPr>
            <a:picLocks noChangeAspect="1"/>
          </p:cNvPicPr>
          <p:nvPr/>
        </p:nvPicPr>
        <p:blipFill>
          <a:blip r:embed="rId4"/>
          <a:stretch>
            <a:fillRect/>
          </a:stretch>
        </p:blipFill>
        <p:spPr>
          <a:xfrm>
            <a:off x="2983821" y="3961701"/>
            <a:ext cx="134549" cy="195707"/>
          </a:xfrm>
          <a:prstGeom prst="rect">
            <a:avLst/>
          </a:prstGeom>
        </p:spPr>
      </p:pic>
      <p:sp>
        <p:nvSpPr>
          <p:cNvPr id="22" name="TextBox 21"/>
          <p:cNvSpPr txBox="1"/>
          <p:nvPr/>
        </p:nvSpPr>
        <p:spPr>
          <a:xfrm>
            <a:off x="3158930" y="3971925"/>
            <a:ext cx="8667459" cy="194310"/>
          </a:xfrm>
          <a:prstGeom prst="rect">
            <a:avLst/>
          </a:prstGeom>
          <a:noFill/>
        </p:spPr>
        <p:txBody>
          <a:bodyPr wrap="none" lIns="0" rIns="0" tIns="0" bIns="0">
            <a:spAutoFit/>
          </a:bodyPr>
          <a:lstStyle/>
          <a:p>
            <a:r>
              <a:rPr sz="1150" b="0">
                <a:solidFill>
                  <a:srgbClr val="2E2E2E"/>
                </a:solidFill>
                <a:latin typeface="Calibri"/>
              </a:rPr>
              <a:t>X higher value than claw meat segment in 2036. Among crab meat by meat type, crab leg meat segment is expected to witness the highest CAGR</a:t>
            </a:r>
          </a:p>
        </p:txBody>
      </p:sp>
      <p:sp>
        <p:nvSpPr>
          <p:cNvPr id="23" name="TextBox 22"/>
          <p:cNvSpPr txBox="1"/>
          <p:nvPr/>
        </p:nvSpPr>
        <p:spPr>
          <a:xfrm>
            <a:off x="276225" y="414718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4136961"/>
            <a:ext cx="134549" cy="195707"/>
          </a:xfrm>
          <a:prstGeom prst="rect">
            <a:avLst/>
          </a:prstGeom>
        </p:spPr>
      </p:pic>
      <p:sp>
        <p:nvSpPr>
          <p:cNvPr id="25" name="TextBox 24"/>
          <p:cNvSpPr txBox="1"/>
          <p:nvPr/>
        </p:nvSpPr>
        <p:spPr>
          <a:xfrm>
            <a:off x="598206"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502970" cy="194310"/>
          </a:xfrm>
          <a:prstGeom prst="rect">
            <a:avLst/>
          </a:prstGeom>
          <a:noFill/>
        </p:spPr>
        <p:txBody>
          <a:bodyPr wrap="none" lIns="0" rIns="0" tIns="0" bIns="0">
            <a:spAutoFit/>
          </a:bodyPr>
          <a:lstStyle/>
          <a:p>
            <a:r>
              <a:rPr sz="1150" b="0">
                <a:solidFill>
                  <a:srgbClr val="2E2E2E"/>
                </a:solidFill>
                <a:latin typeface="Calibri"/>
              </a:rPr>
              <a:t>In terms of value share by meat type, the special meat segment is expected to dominate the market, gaining</a:t>
            </a:r>
          </a:p>
        </p:txBody>
      </p:sp>
      <p:pic>
        <p:nvPicPr>
          <p:cNvPr id="27" name="Picture 26" descr="lock.png"/>
          <p:cNvPicPr>
            <a:picLocks noChangeAspect="1"/>
          </p:cNvPicPr>
          <p:nvPr/>
        </p:nvPicPr>
        <p:blipFill>
          <a:blip r:embed="rId4"/>
          <a:stretch>
            <a:fillRect/>
          </a:stretch>
        </p:blipFill>
        <p:spPr>
          <a:xfrm>
            <a:off x="6728349" y="4364799"/>
            <a:ext cx="134549" cy="195707"/>
          </a:xfrm>
          <a:prstGeom prst="rect">
            <a:avLst/>
          </a:prstGeom>
        </p:spPr>
      </p:pic>
      <p:sp>
        <p:nvSpPr>
          <p:cNvPr id="28" name="TextBox 27"/>
          <p:cNvSpPr txBox="1"/>
          <p:nvPr/>
        </p:nvSpPr>
        <p:spPr>
          <a:xfrm>
            <a:off x="690345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298601" y="4364799"/>
            <a:ext cx="134549" cy="195707"/>
          </a:xfrm>
          <a:prstGeom prst="rect">
            <a:avLst/>
          </a:prstGeom>
        </p:spPr>
      </p:pic>
      <p:sp>
        <p:nvSpPr>
          <p:cNvPr id="30" name="TextBox 29"/>
          <p:cNvSpPr txBox="1"/>
          <p:nvPr/>
        </p:nvSpPr>
        <p:spPr>
          <a:xfrm>
            <a:off x="8473711" y="4375022"/>
            <a:ext cx="3253358" cy="194310"/>
          </a:xfrm>
          <a:prstGeom prst="rect">
            <a:avLst/>
          </a:prstGeom>
          <a:noFill/>
        </p:spPr>
        <p:txBody>
          <a:bodyPr wrap="none" lIns="0" rIns="0" tIns="0" bIns="0">
            <a:spAutoFit/>
          </a:bodyPr>
          <a:lstStyle/>
          <a:p>
            <a:r>
              <a:rPr sz="1150" b="0">
                <a:solidFill>
                  <a:srgbClr val="2E2E2E"/>
                </a:solidFill>
                <a:latin typeface="Calibri"/>
              </a:rPr>
              <a:t>share by 2036. The claw meat segment is expected to</a:t>
            </a:r>
          </a:p>
        </p:txBody>
      </p:sp>
      <p:sp>
        <p:nvSpPr>
          <p:cNvPr id="31" name="TextBox 30"/>
          <p:cNvSpPr txBox="1"/>
          <p:nvPr/>
        </p:nvSpPr>
        <p:spPr>
          <a:xfrm>
            <a:off x="276225" y="4550282"/>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Meat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Meat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Meat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72991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2515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489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Backfin</a:t>
            </a:r>
          </a:p>
        </p:txBody>
      </p:sp>
      <p:sp>
        <p:nvSpPr>
          <p:cNvPr id="18" name="BPS Value 1"/>
          <p:cNvSpPr txBox="1"/>
          <p:nvPr/>
        </p:nvSpPr>
        <p:spPr>
          <a:xfrm>
            <a:off x="6896100" y="171086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7664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1718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956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Jumbo Lump</a:t>
            </a:r>
          </a:p>
        </p:txBody>
      </p:sp>
      <p:sp>
        <p:nvSpPr>
          <p:cNvPr id="22" name="BPS Value 2"/>
          <p:cNvSpPr txBox="1"/>
          <p:nvPr/>
        </p:nvSpPr>
        <p:spPr>
          <a:xfrm>
            <a:off x="6896100" y="215759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67306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6683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9210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Lump</a:t>
            </a:r>
          </a:p>
        </p:txBody>
      </p:sp>
      <p:sp>
        <p:nvSpPr>
          <p:cNvPr id="26" name="BPS Value 3"/>
          <p:cNvSpPr txBox="1"/>
          <p:nvPr/>
        </p:nvSpPr>
        <p:spPr>
          <a:xfrm>
            <a:off x="6896100" y="26540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3618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3141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1552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Crab Leg Meat</a:t>
            </a:r>
          </a:p>
        </p:txBody>
      </p:sp>
      <p:sp>
        <p:nvSpPr>
          <p:cNvPr id="30" name="BPS Value 4"/>
          <p:cNvSpPr txBox="1"/>
          <p:nvPr/>
        </p:nvSpPr>
        <p:spPr>
          <a:xfrm>
            <a:off x="6896100" y="321713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16544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16067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08447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Claw Meat</a:t>
            </a:r>
          </a:p>
        </p:txBody>
      </p:sp>
      <p:sp>
        <p:nvSpPr>
          <p:cNvPr id="34" name="BPS Value 5"/>
          <p:cNvSpPr txBox="1"/>
          <p:nvPr/>
        </p:nvSpPr>
        <p:spPr>
          <a:xfrm>
            <a:off x="6896100" y="414639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52408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5193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4431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 Meat</a:t>
            </a:r>
          </a:p>
        </p:txBody>
      </p:sp>
      <p:sp>
        <p:nvSpPr>
          <p:cNvPr id="38" name="BPS Value 6"/>
          <p:cNvSpPr txBox="1"/>
          <p:nvPr/>
        </p:nvSpPr>
        <p:spPr>
          <a:xfrm>
            <a:off x="6896100" y="55050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Meat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751325"/>
            <a:ext cx="275034" cy="400050"/>
          </a:xfrm>
          <a:prstGeom prst="rect">
            <a:avLst/>
          </a:prstGeom>
        </p:spPr>
      </p:pic>
      <p:sp>
        <p:nvSpPr>
          <p:cNvPr id="45" name="TextBox 4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meat type, crab leg meat segment is expected</a:t>
            </a:r>
          </a:p>
        </p:txBody>
      </p:sp>
      <p:sp>
        <p:nvSpPr>
          <p:cNvPr id="46" name="TextBox 45"/>
          <p:cNvSpPr txBox="1"/>
          <p:nvPr/>
        </p:nvSpPr>
        <p:spPr>
          <a:xfrm>
            <a:off x="7829550" y="1575435"/>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47" name="Picture 46" descr="lock.png"/>
          <p:cNvPicPr>
            <a:picLocks noChangeAspect="1"/>
          </p:cNvPicPr>
          <p:nvPr/>
        </p:nvPicPr>
        <p:blipFill>
          <a:blip r:embed="rId5"/>
          <a:stretch>
            <a:fillRect/>
          </a:stretch>
        </p:blipFill>
        <p:spPr>
          <a:xfrm>
            <a:off x="9685645" y="1565211"/>
            <a:ext cx="134549" cy="195707"/>
          </a:xfrm>
          <a:prstGeom prst="rect">
            <a:avLst/>
          </a:prstGeom>
        </p:spPr>
      </p:pic>
      <p:sp>
        <p:nvSpPr>
          <p:cNvPr id="48" name="TextBox 47"/>
          <p:cNvSpPr txBox="1"/>
          <p:nvPr/>
        </p:nvSpPr>
        <p:spPr>
          <a:xfrm>
            <a:off x="9860754" y="1575435"/>
            <a:ext cx="1695301" cy="194310"/>
          </a:xfrm>
          <a:prstGeom prst="rect">
            <a:avLst/>
          </a:prstGeom>
          <a:noFill/>
        </p:spPr>
        <p:txBody>
          <a:bodyPr wrap="none" lIns="0" rIns="0" tIns="0" bIns="0">
            <a:spAutoFit/>
          </a:bodyPr>
          <a:lstStyle/>
          <a:p>
            <a:r>
              <a:rPr sz="1150" b="0">
                <a:solidFill>
                  <a:srgbClr val="2E2E2E"/>
                </a:solidFill>
                <a:latin typeface="Calibri"/>
              </a:rPr>
              <a:t>over the forecast period. In</a:t>
            </a:r>
          </a:p>
        </p:txBody>
      </p:sp>
      <p:sp>
        <p:nvSpPr>
          <p:cNvPr id="49" name="TextBox 48"/>
          <p:cNvSpPr txBox="1"/>
          <p:nvPr/>
        </p:nvSpPr>
        <p:spPr>
          <a:xfrm>
            <a:off x="7829550" y="1750695"/>
            <a:ext cx="3824151" cy="194310"/>
          </a:xfrm>
          <a:prstGeom prst="rect">
            <a:avLst/>
          </a:prstGeom>
          <a:noFill/>
        </p:spPr>
        <p:txBody>
          <a:bodyPr wrap="none" lIns="0" rIns="0" tIns="0" bIns="0">
            <a:spAutoFit/>
          </a:bodyPr>
          <a:lstStyle/>
          <a:p>
            <a:r>
              <a:rPr sz="1150" b="0">
                <a:solidFill>
                  <a:srgbClr val="2E2E2E"/>
                </a:solidFill>
                <a:latin typeface="Calibri"/>
              </a:rPr>
              <a:t>terms of value share by meat type, the special meat segment is</a:t>
            </a:r>
          </a:p>
        </p:txBody>
      </p:sp>
      <p:sp>
        <p:nvSpPr>
          <p:cNvPr id="50" name="TextBox 49"/>
          <p:cNvSpPr txBox="1"/>
          <p:nvPr/>
        </p:nvSpPr>
        <p:spPr>
          <a:xfrm>
            <a:off x="7829550" y="192595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51" name="Picture 50" descr="lock.png"/>
          <p:cNvPicPr>
            <a:picLocks noChangeAspect="1"/>
          </p:cNvPicPr>
          <p:nvPr/>
        </p:nvPicPr>
        <p:blipFill>
          <a:blip r:embed="rId5"/>
          <a:stretch>
            <a:fillRect/>
          </a:stretch>
        </p:blipFill>
        <p:spPr>
          <a:xfrm>
            <a:off x="10354013" y="1915731"/>
            <a:ext cx="134549" cy="195707"/>
          </a:xfrm>
          <a:prstGeom prst="rect">
            <a:avLst/>
          </a:prstGeom>
        </p:spPr>
      </p:pic>
      <p:sp>
        <p:nvSpPr>
          <p:cNvPr id="52" name="TextBox 51"/>
          <p:cNvSpPr txBox="1"/>
          <p:nvPr/>
        </p:nvSpPr>
        <p:spPr>
          <a:xfrm>
            <a:off x="10529122" y="192595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53" name="TextBox 52"/>
          <p:cNvSpPr txBox="1"/>
          <p:nvPr/>
        </p:nvSpPr>
        <p:spPr>
          <a:xfrm>
            <a:off x="7829550" y="210121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54" name="Picture 53" descr="lock.png"/>
          <p:cNvPicPr>
            <a:picLocks noChangeAspect="1"/>
          </p:cNvPicPr>
          <p:nvPr/>
        </p:nvPicPr>
        <p:blipFill>
          <a:blip r:embed="rId5"/>
          <a:stretch>
            <a:fillRect/>
          </a:stretch>
        </p:blipFill>
        <p:spPr>
          <a:xfrm>
            <a:off x="8027482" y="2090991"/>
            <a:ext cx="134549" cy="195707"/>
          </a:xfrm>
          <a:prstGeom prst="rect">
            <a:avLst/>
          </a:prstGeom>
        </p:spPr>
      </p:pic>
      <p:sp>
        <p:nvSpPr>
          <p:cNvPr id="55" name="TextBox 54"/>
          <p:cNvSpPr txBox="1"/>
          <p:nvPr/>
        </p:nvSpPr>
        <p:spPr>
          <a:xfrm>
            <a:off x="820259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TextBox 55"/>
          <p:cNvSpPr txBox="1"/>
          <p:nvPr/>
        </p:nvSpPr>
        <p:spPr>
          <a:xfrm>
            <a:off x="7829550" y="2329053"/>
            <a:ext cx="2623802" cy="194310"/>
          </a:xfrm>
          <a:prstGeom prst="rect">
            <a:avLst/>
          </a:prstGeom>
          <a:noFill/>
        </p:spPr>
        <p:txBody>
          <a:bodyPr wrap="none" lIns="0" rIns="0" tIns="0" bIns="0">
            <a:spAutoFit/>
          </a:bodyPr>
          <a:lstStyle/>
          <a:p>
            <a:r>
              <a:rPr sz="1150" b="0">
                <a:solidFill>
                  <a:srgbClr val="2E2E2E"/>
                </a:solidFill>
                <a:latin typeface="Calibri"/>
              </a:rPr>
              <a:t>The claw meat segment is expected to lose</a:t>
            </a:r>
          </a:p>
        </p:txBody>
      </p:sp>
      <p:pic>
        <p:nvPicPr>
          <p:cNvPr id="57" name="Picture 56" descr="lock.png"/>
          <p:cNvPicPr>
            <a:picLocks noChangeAspect="1"/>
          </p:cNvPicPr>
          <p:nvPr/>
        </p:nvPicPr>
        <p:blipFill>
          <a:blip r:embed="rId5"/>
          <a:stretch>
            <a:fillRect/>
          </a:stretch>
        </p:blipFill>
        <p:spPr>
          <a:xfrm>
            <a:off x="10402506" y="2318829"/>
            <a:ext cx="134549" cy="195707"/>
          </a:xfrm>
          <a:prstGeom prst="rect">
            <a:avLst/>
          </a:prstGeom>
        </p:spPr>
      </p:pic>
      <p:sp>
        <p:nvSpPr>
          <p:cNvPr id="58" name="TextBox 57"/>
          <p:cNvSpPr txBox="1"/>
          <p:nvPr/>
        </p:nvSpPr>
        <p:spPr>
          <a:xfrm>
            <a:off x="10577615"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9" name="TextBox 58"/>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0" name="Picture 59" descr="lock.png"/>
          <p:cNvPicPr>
            <a:picLocks noChangeAspect="1"/>
          </p:cNvPicPr>
          <p:nvPr/>
        </p:nvPicPr>
        <p:blipFill>
          <a:blip r:embed="rId5"/>
          <a:stretch>
            <a:fillRect/>
          </a:stretch>
        </p:blipFill>
        <p:spPr>
          <a:xfrm>
            <a:off x="9630324" y="2494089"/>
            <a:ext cx="134549" cy="195707"/>
          </a:xfrm>
          <a:prstGeom prst="rect">
            <a:avLst/>
          </a:prstGeom>
        </p:spPr>
      </p:pic>
      <p:sp>
        <p:nvSpPr>
          <p:cNvPr id="61" name="TextBox 60"/>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Product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Fresh</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Pasteurized</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Canned</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Frozen</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Format split shows how demand is distributed across product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5_35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9_726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6_1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4_186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5_647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3_0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_848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6_043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4_6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_107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_784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4_9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14401" cy="186689"/>
          </a:xfrm>
          <a:prstGeom prst="rect">
            <a:avLst/>
          </a:prstGeom>
          <a:noFill/>
        </p:spPr>
        <p:txBody>
          <a:bodyPr wrap="none" lIns="0" rIns="0" tIns="0" bIns="0">
            <a:spAutoFit/>
          </a:bodyPr>
          <a:lstStyle/>
          <a:p>
            <a:r>
              <a:rPr sz="1100" b="0">
                <a:solidFill>
                  <a:srgbClr val="2E2E2E"/>
                </a:solidFill>
                <a:latin typeface="Calibri"/>
              </a:rPr>
              <a:t>Among crab meat by product format, fresh</a:t>
            </a:r>
          </a:p>
        </p:txBody>
      </p:sp>
      <p:sp>
        <p:nvSpPr>
          <p:cNvPr id="80" name="TextBox 79"/>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81" name="TextBox 80"/>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82" name="Picture 81" descr="lock.png"/>
          <p:cNvPicPr>
            <a:picLocks noChangeAspect="1"/>
          </p:cNvPicPr>
          <p:nvPr/>
        </p:nvPicPr>
        <p:blipFill>
          <a:blip r:embed="rId16"/>
          <a:stretch>
            <a:fillRect/>
          </a:stretch>
        </p:blipFill>
        <p:spPr>
          <a:xfrm>
            <a:off x="626261" y="4554938"/>
            <a:ext cx="128699" cy="187198"/>
          </a:xfrm>
          <a:prstGeom prst="rect">
            <a:avLst/>
          </a:prstGeom>
        </p:spPr>
      </p:pic>
      <p:sp>
        <p:nvSpPr>
          <p:cNvPr id="83" name="TextBox 82"/>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84" name="TextBox 83"/>
          <p:cNvSpPr txBox="1"/>
          <p:nvPr/>
        </p:nvSpPr>
        <p:spPr>
          <a:xfrm>
            <a:off x="485775" y="4732357"/>
            <a:ext cx="2678931" cy="186689"/>
          </a:xfrm>
          <a:prstGeom prst="rect">
            <a:avLst/>
          </a:prstGeom>
          <a:noFill/>
        </p:spPr>
        <p:txBody>
          <a:bodyPr wrap="none" lIns="0" rIns="0" tIns="0" bIns="0">
            <a:spAutoFit/>
          </a:bodyPr>
          <a:lstStyle/>
          <a:p>
            <a:r>
              <a:rPr sz="1100" b="0">
                <a:solidFill>
                  <a:srgbClr val="2E2E2E"/>
                </a:solidFill>
                <a:latin typeface="Calibri"/>
              </a:rPr>
              <a:t>share by product format, the fresh segment is</a:t>
            </a:r>
          </a:p>
        </p:txBody>
      </p:sp>
      <p:sp>
        <p:nvSpPr>
          <p:cNvPr id="85" name="TextBox 84"/>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900479" y="4890217"/>
            <a:ext cx="128699" cy="187198"/>
          </a:xfrm>
          <a:prstGeom prst="rect">
            <a:avLst/>
          </a:prstGeom>
        </p:spPr>
      </p:pic>
      <p:sp>
        <p:nvSpPr>
          <p:cNvPr id="87" name="TextBox 86"/>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76057" y="5057858"/>
            <a:ext cx="128699" cy="187198"/>
          </a:xfrm>
          <a:prstGeom prst="rect">
            <a:avLst/>
          </a:prstGeom>
        </p:spPr>
      </p:pic>
      <p:sp>
        <p:nvSpPr>
          <p:cNvPr id="90" name="TextBox 89"/>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285569"/>
            <a:ext cx="2228180" cy="186689"/>
          </a:xfrm>
          <a:prstGeom prst="rect">
            <a:avLst/>
          </a:prstGeom>
          <a:noFill/>
        </p:spPr>
        <p:txBody>
          <a:bodyPr wrap="none" lIns="0" rIns="0" tIns="0" bIns="0">
            <a:spAutoFit/>
          </a:bodyPr>
          <a:lstStyle/>
          <a:p>
            <a:r>
              <a:rPr sz="1100" b="0">
                <a:solidFill>
                  <a:srgbClr val="2E2E2E"/>
                </a:solidFill>
                <a:latin typeface="Calibri"/>
              </a:rPr>
              <a:t>Fresh segment is projected to register</a:t>
            </a:r>
          </a:p>
        </p:txBody>
      </p:sp>
      <p:pic>
        <p:nvPicPr>
          <p:cNvPr id="92" name="Picture 91" descr="lock.png"/>
          <p:cNvPicPr>
            <a:picLocks noChangeAspect="1"/>
          </p:cNvPicPr>
          <p:nvPr/>
        </p:nvPicPr>
        <p:blipFill>
          <a:blip r:embed="rId16"/>
          <a:stretch>
            <a:fillRect/>
          </a:stretch>
        </p:blipFill>
        <p:spPr>
          <a:xfrm>
            <a:off x="2662006" y="5275790"/>
            <a:ext cx="128699" cy="187198"/>
          </a:xfrm>
          <a:prstGeom prst="rect">
            <a:avLst/>
          </a:prstGeom>
        </p:spPr>
      </p:pic>
      <p:sp>
        <p:nvSpPr>
          <p:cNvPr id="93" name="TextBox 92"/>
          <p:cNvSpPr txBox="1"/>
          <p:nvPr/>
        </p:nvSpPr>
        <p:spPr>
          <a:xfrm>
            <a:off x="2829502" y="528556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94" name="TextBox 93"/>
          <p:cNvSpPr txBox="1"/>
          <p:nvPr/>
        </p:nvSpPr>
        <p:spPr>
          <a:xfrm>
            <a:off x="485775" y="5453209"/>
            <a:ext cx="2131863" cy="186689"/>
          </a:xfrm>
          <a:prstGeom prst="rect">
            <a:avLst/>
          </a:prstGeom>
          <a:noFill/>
        </p:spPr>
        <p:txBody>
          <a:bodyPr wrap="none" lIns="0" rIns="0" tIns="0" bIns="0">
            <a:spAutoFit/>
          </a:bodyPr>
          <a:lstStyle/>
          <a:p>
            <a:r>
              <a:rPr sz="1100" b="0">
                <a:solidFill>
                  <a:srgbClr val="2E2E2E"/>
                </a:solidFill>
                <a:latin typeface="Calibri"/>
              </a:rPr>
              <a:t>value than canned segment in 2036.</a:t>
            </a:r>
          </a:p>
        </p:txBody>
      </p:sp>
      <p:sp>
        <p:nvSpPr>
          <p:cNvPr id="95" name="TextBox 94"/>
          <p:cNvSpPr txBox="1"/>
          <p:nvPr/>
        </p:nvSpPr>
        <p:spPr>
          <a:xfrm>
            <a:off x="3838575" y="4229437"/>
            <a:ext cx="540047" cy="186689"/>
          </a:xfrm>
          <a:prstGeom prst="rect">
            <a:avLst/>
          </a:prstGeom>
          <a:noFill/>
        </p:spPr>
        <p:txBody>
          <a:bodyPr wrap="none" lIns="0" rIns="0" tIns="0" bIns="0">
            <a:spAutoFit/>
          </a:bodyPr>
          <a:lstStyle/>
          <a:p>
            <a:r>
              <a:rPr sz="1100" b="0">
                <a:solidFill>
                  <a:srgbClr val="2E2E2E"/>
                </a:solidFill>
                <a:latin typeface="Calibri"/>
              </a:rPr>
              <a:t>● Fresh:</a:t>
            </a:r>
          </a:p>
        </p:txBody>
      </p:sp>
      <p:pic>
        <p:nvPicPr>
          <p:cNvPr id="96" name="Picture 95" descr="lock.png"/>
          <p:cNvPicPr>
            <a:picLocks noChangeAspect="1"/>
          </p:cNvPicPr>
          <p:nvPr/>
        </p:nvPicPr>
        <p:blipFill>
          <a:blip r:embed="rId16"/>
          <a:stretch>
            <a:fillRect/>
          </a:stretch>
        </p:blipFill>
        <p:spPr>
          <a:xfrm>
            <a:off x="4326674" y="4219658"/>
            <a:ext cx="128699" cy="187198"/>
          </a:xfrm>
          <a:prstGeom prst="rect">
            <a:avLst/>
          </a:prstGeom>
        </p:spPr>
      </p:pic>
      <p:sp>
        <p:nvSpPr>
          <p:cNvPr id="97" name="TextBox 96"/>
          <p:cNvSpPr txBox="1"/>
          <p:nvPr/>
        </p:nvSpPr>
        <p:spPr>
          <a:xfrm>
            <a:off x="449417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5353620" y="4219658"/>
            <a:ext cx="128699" cy="187198"/>
          </a:xfrm>
          <a:prstGeom prst="rect">
            <a:avLst/>
          </a:prstGeom>
        </p:spPr>
      </p:pic>
      <p:sp>
        <p:nvSpPr>
          <p:cNvPr id="99" name="TextBox 98"/>
          <p:cNvSpPr txBox="1"/>
          <p:nvPr/>
        </p:nvSpPr>
        <p:spPr>
          <a:xfrm>
            <a:off x="552111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892299" cy="186689"/>
          </a:xfrm>
          <a:prstGeom prst="rect">
            <a:avLst/>
          </a:prstGeom>
          <a:noFill/>
        </p:spPr>
        <p:txBody>
          <a:bodyPr wrap="none" lIns="0" rIns="0" tIns="0" bIns="0">
            <a:spAutoFit/>
          </a:bodyPr>
          <a:lstStyle/>
          <a:p>
            <a:r>
              <a:rPr sz="1100" b="0">
                <a:solidFill>
                  <a:srgbClr val="2E2E2E"/>
                </a:solidFill>
                <a:latin typeface="Calibri"/>
              </a:rPr>
              <a:t>● Pasteurized:</a:t>
            </a:r>
          </a:p>
        </p:txBody>
      </p:sp>
      <p:pic>
        <p:nvPicPr>
          <p:cNvPr id="101" name="Picture 100" descr="lock.png"/>
          <p:cNvPicPr>
            <a:picLocks noChangeAspect="1"/>
          </p:cNvPicPr>
          <p:nvPr/>
        </p:nvPicPr>
        <p:blipFill>
          <a:blip r:embed="rId16"/>
          <a:stretch>
            <a:fillRect/>
          </a:stretch>
        </p:blipFill>
        <p:spPr>
          <a:xfrm>
            <a:off x="4678925" y="4437590"/>
            <a:ext cx="128699" cy="187198"/>
          </a:xfrm>
          <a:prstGeom prst="rect">
            <a:avLst/>
          </a:prstGeom>
        </p:spPr>
      </p:pic>
      <p:sp>
        <p:nvSpPr>
          <p:cNvPr id="102" name="TextBox 101"/>
          <p:cNvSpPr txBox="1"/>
          <p:nvPr/>
        </p:nvSpPr>
        <p:spPr>
          <a:xfrm>
            <a:off x="4846421"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6"/>
          <a:stretch>
            <a:fillRect/>
          </a:stretch>
        </p:blipFill>
        <p:spPr>
          <a:xfrm>
            <a:off x="5705871" y="4437590"/>
            <a:ext cx="128699" cy="187198"/>
          </a:xfrm>
          <a:prstGeom prst="rect">
            <a:avLst/>
          </a:prstGeom>
        </p:spPr>
      </p:pic>
      <p:sp>
        <p:nvSpPr>
          <p:cNvPr id="104" name="TextBox 103"/>
          <p:cNvSpPr txBox="1"/>
          <p:nvPr/>
        </p:nvSpPr>
        <p:spPr>
          <a:xfrm>
            <a:off x="587336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660648" cy="186689"/>
          </a:xfrm>
          <a:prstGeom prst="rect">
            <a:avLst/>
          </a:prstGeom>
          <a:noFill/>
        </p:spPr>
        <p:txBody>
          <a:bodyPr wrap="none" lIns="0" rIns="0" tIns="0" bIns="0">
            <a:spAutoFit/>
          </a:bodyPr>
          <a:lstStyle/>
          <a:p>
            <a:r>
              <a:rPr sz="1100" b="0">
                <a:solidFill>
                  <a:srgbClr val="2E2E2E"/>
                </a:solidFill>
                <a:latin typeface="Calibri"/>
              </a:rPr>
              <a:t>● Canned:</a:t>
            </a:r>
          </a:p>
        </p:txBody>
      </p:sp>
      <p:pic>
        <p:nvPicPr>
          <p:cNvPr id="106" name="Picture 105" descr="lock.png"/>
          <p:cNvPicPr>
            <a:picLocks noChangeAspect="1"/>
          </p:cNvPicPr>
          <p:nvPr/>
        </p:nvPicPr>
        <p:blipFill>
          <a:blip r:embed="rId16"/>
          <a:stretch>
            <a:fillRect/>
          </a:stretch>
        </p:blipFill>
        <p:spPr>
          <a:xfrm>
            <a:off x="4447274" y="4655522"/>
            <a:ext cx="128699" cy="187198"/>
          </a:xfrm>
          <a:prstGeom prst="rect">
            <a:avLst/>
          </a:prstGeom>
        </p:spPr>
      </p:pic>
      <p:sp>
        <p:nvSpPr>
          <p:cNvPr id="107" name="TextBox 106"/>
          <p:cNvSpPr txBox="1"/>
          <p:nvPr/>
        </p:nvSpPr>
        <p:spPr>
          <a:xfrm>
            <a:off x="461477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6"/>
          <a:stretch>
            <a:fillRect/>
          </a:stretch>
        </p:blipFill>
        <p:spPr>
          <a:xfrm>
            <a:off x="5474220" y="4655522"/>
            <a:ext cx="128699" cy="187198"/>
          </a:xfrm>
          <a:prstGeom prst="rect">
            <a:avLst/>
          </a:prstGeom>
        </p:spPr>
      </p:pic>
      <p:sp>
        <p:nvSpPr>
          <p:cNvPr id="109" name="TextBox 108"/>
          <p:cNvSpPr txBox="1"/>
          <p:nvPr/>
        </p:nvSpPr>
        <p:spPr>
          <a:xfrm>
            <a:off x="564171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0" name="TextBox 109"/>
          <p:cNvSpPr txBox="1"/>
          <p:nvPr/>
        </p:nvSpPr>
        <p:spPr>
          <a:xfrm>
            <a:off x="3838575" y="4883233"/>
            <a:ext cx="614263" cy="186689"/>
          </a:xfrm>
          <a:prstGeom prst="rect">
            <a:avLst/>
          </a:prstGeom>
          <a:noFill/>
        </p:spPr>
        <p:txBody>
          <a:bodyPr wrap="none" lIns="0" rIns="0" tIns="0" bIns="0">
            <a:spAutoFit/>
          </a:bodyPr>
          <a:lstStyle/>
          <a:p>
            <a:r>
              <a:rPr sz="1100" b="0">
                <a:solidFill>
                  <a:srgbClr val="2E2E2E"/>
                </a:solidFill>
                <a:latin typeface="Calibri"/>
              </a:rPr>
              <a:t>● Frozen:</a:t>
            </a:r>
          </a:p>
        </p:txBody>
      </p:sp>
      <p:pic>
        <p:nvPicPr>
          <p:cNvPr id="111" name="Picture 110" descr="lock.png"/>
          <p:cNvPicPr>
            <a:picLocks noChangeAspect="1"/>
          </p:cNvPicPr>
          <p:nvPr/>
        </p:nvPicPr>
        <p:blipFill>
          <a:blip r:embed="rId16"/>
          <a:stretch>
            <a:fillRect/>
          </a:stretch>
        </p:blipFill>
        <p:spPr>
          <a:xfrm>
            <a:off x="4400889" y="4873454"/>
            <a:ext cx="128699" cy="187198"/>
          </a:xfrm>
          <a:prstGeom prst="rect">
            <a:avLst/>
          </a:prstGeom>
        </p:spPr>
      </p:pic>
      <p:sp>
        <p:nvSpPr>
          <p:cNvPr id="112" name="TextBox 111"/>
          <p:cNvSpPr txBox="1"/>
          <p:nvPr/>
        </p:nvSpPr>
        <p:spPr>
          <a:xfrm>
            <a:off x="4568385"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5427835" y="4873454"/>
            <a:ext cx="128699" cy="187198"/>
          </a:xfrm>
          <a:prstGeom prst="rect">
            <a:avLst/>
          </a:prstGeom>
        </p:spPr>
      </p:pic>
      <p:sp>
        <p:nvSpPr>
          <p:cNvPr id="114" name="TextBox 113"/>
          <p:cNvSpPr txBox="1"/>
          <p:nvPr/>
        </p:nvSpPr>
        <p:spPr>
          <a:xfrm>
            <a:off x="5595331"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5" name="TextBox 114"/>
          <p:cNvSpPr txBox="1"/>
          <p:nvPr/>
        </p:nvSpPr>
        <p:spPr>
          <a:xfrm>
            <a:off x="8524875" y="5842641"/>
            <a:ext cx="3087028" cy="194310"/>
          </a:xfrm>
          <a:prstGeom prst="rect">
            <a:avLst/>
          </a:prstGeom>
          <a:noFill/>
        </p:spPr>
        <p:txBody>
          <a:bodyPr wrap="none" lIns="0" rIns="0" tIns="0" bIns="0">
            <a:spAutoFit/>
          </a:bodyPr>
          <a:lstStyle/>
          <a:p>
            <a:r>
              <a:rPr sz="1150" b="1">
                <a:solidFill>
                  <a:srgbClr val="0B2E4A"/>
                </a:solidFill>
                <a:latin typeface="Calibri"/>
              </a:rPr>
              <a:t>The Product Format segment is projected to grow</a:t>
            </a:r>
          </a:p>
        </p:txBody>
      </p:sp>
      <p:sp>
        <p:nvSpPr>
          <p:cNvPr id="116" name="TextBox 115"/>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17" name="Picture 116" descr="lock.png"/>
          <p:cNvPicPr>
            <a:picLocks noChangeAspect="1"/>
          </p:cNvPicPr>
          <p:nvPr/>
        </p:nvPicPr>
        <p:blipFill>
          <a:blip r:embed="rId16"/>
          <a:stretch>
            <a:fillRect/>
          </a:stretch>
        </p:blipFill>
        <p:spPr>
          <a:xfrm>
            <a:off x="9310118" y="6007677"/>
            <a:ext cx="134549" cy="195707"/>
          </a:xfrm>
          <a:prstGeom prst="rect">
            <a:avLst/>
          </a:prstGeom>
        </p:spPr>
      </p:pic>
      <p:sp>
        <p:nvSpPr>
          <p:cNvPr id="118" name="TextBox 117"/>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Format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89700" cy="186689"/>
          </a:xfrm>
          <a:prstGeom prst="rect">
            <a:avLst/>
          </a:prstGeom>
          <a:noFill/>
        </p:spPr>
        <p:txBody>
          <a:bodyPr wrap="none" lIns="0" rIns="0" tIns="0" bIns="0">
            <a:spAutoFit/>
          </a:bodyPr>
          <a:lstStyle/>
          <a:p>
            <a:r>
              <a:rPr sz="1100" b="0">
                <a:solidFill>
                  <a:srgbClr val="2E2E2E"/>
                </a:solidFill>
                <a:latin typeface="Calibri"/>
              </a:rPr>
              <a:t>Fresh followed by canned are expected to be the two most attractive product format segments in the global crab meat market in terms of value over the forecast period. Fresh and canned exhibit a CAGR</a:t>
            </a:r>
          </a:p>
        </p:txBody>
      </p:sp>
      <p:sp>
        <p:nvSpPr>
          <p:cNvPr id="20" name="TextBox 19"/>
          <p:cNvSpPr txBox="1"/>
          <p:nvPr/>
        </p:nvSpPr>
        <p:spPr>
          <a:xfrm>
            <a:off x="257175" y="5945505"/>
            <a:ext cx="533226" cy="186689"/>
          </a:xfrm>
          <a:prstGeom prst="rect">
            <a:avLst/>
          </a:prstGeom>
          <a:noFill/>
        </p:spPr>
        <p:txBody>
          <a:bodyPr wrap="none" lIns="0" rIns="0" tIns="0" bIns="0">
            <a:spAutoFit/>
          </a:bodyPr>
          <a:lstStyle/>
          <a:p>
            <a:r>
              <a:rPr sz="1100" b="0">
                <a:solidFill>
                  <a:srgbClr val="2E2E2E"/>
                </a:solidFill>
                <a:latin typeface="Calibri"/>
              </a:rPr>
              <a:t>index of</a:t>
            </a:r>
          </a:p>
        </p:txBody>
      </p:sp>
      <p:pic>
        <p:nvPicPr>
          <p:cNvPr id="21" name="Picture 20" descr="lock.png"/>
          <p:cNvPicPr>
            <a:picLocks noChangeAspect="1"/>
          </p:cNvPicPr>
          <p:nvPr/>
        </p:nvPicPr>
        <p:blipFill>
          <a:blip r:embed="rId6"/>
          <a:stretch>
            <a:fillRect/>
          </a:stretch>
        </p:blipFill>
        <p:spPr>
          <a:xfrm>
            <a:off x="738452" y="5935726"/>
            <a:ext cx="128699" cy="187198"/>
          </a:xfrm>
          <a:prstGeom prst="rect">
            <a:avLst/>
          </a:prstGeom>
        </p:spPr>
      </p:pic>
      <p:sp>
        <p:nvSpPr>
          <p:cNvPr id="22" name="TextBox 21"/>
          <p:cNvSpPr txBox="1"/>
          <p:nvPr/>
        </p:nvSpPr>
        <p:spPr>
          <a:xfrm>
            <a:off x="90594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143843" y="5935726"/>
            <a:ext cx="128699" cy="187198"/>
          </a:xfrm>
          <a:prstGeom prst="rect">
            <a:avLst/>
          </a:prstGeom>
        </p:spPr>
      </p:pic>
      <p:sp>
        <p:nvSpPr>
          <p:cNvPr id="24" name="TextBox 23"/>
          <p:cNvSpPr txBox="1"/>
          <p:nvPr/>
        </p:nvSpPr>
        <p:spPr>
          <a:xfrm>
            <a:off x="131133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2920312" y="5935726"/>
            <a:ext cx="128699" cy="187198"/>
          </a:xfrm>
          <a:prstGeom prst="rect">
            <a:avLst/>
          </a:prstGeom>
        </p:spPr>
      </p:pic>
      <p:sp>
        <p:nvSpPr>
          <p:cNvPr id="26" name="TextBox 25"/>
          <p:cNvSpPr txBox="1"/>
          <p:nvPr/>
        </p:nvSpPr>
        <p:spPr>
          <a:xfrm>
            <a:off x="308780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3325702" y="5935726"/>
            <a:ext cx="128699" cy="187198"/>
          </a:xfrm>
          <a:prstGeom prst="rect">
            <a:avLst/>
          </a:prstGeom>
        </p:spPr>
      </p:pic>
      <p:sp>
        <p:nvSpPr>
          <p:cNvPr id="28" name="TextBox 27"/>
          <p:cNvSpPr txBox="1"/>
          <p:nvPr/>
        </p:nvSpPr>
        <p:spPr>
          <a:xfrm>
            <a:off x="349319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047602" y="5935726"/>
            <a:ext cx="128699" cy="187198"/>
          </a:xfrm>
          <a:prstGeom prst="rect">
            <a:avLst/>
          </a:prstGeom>
        </p:spPr>
      </p:pic>
      <p:sp>
        <p:nvSpPr>
          <p:cNvPr id="30" name="TextBox 29"/>
          <p:cNvSpPr txBox="1"/>
          <p:nvPr/>
        </p:nvSpPr>
        <p:spPr>
          <a:xfrm>
            <a:off x="6215098" y="5945505"/>
            <a:ext cx="5214813" cy="186689"/>
          </a:xfrm>
          <a:prstGeom prst="rect">
            <a:avLst/>
          </a:prstGeom>
          <a:noFill/>
        </p:spPr>
        <p:txBody>
          <a:bodyPr wrap="none" lIns="0" rIns="0" tIns="0" bIns="0">
            <a:spAutoFit/>
          </a:bodyPr>
          <a:lstStyle/>
          <a:p>
            <a:r>
              <a:rPr sz="1100" b="0">
                <a:solidFill>
                  <a:srgbClr val="2E2E2E"/>
                </a:solidFill>
                <a:latin typeface="Calibri"/>
              </a:rPr>
              <a:t>. The frozen segment is expected to be less attractive as compared to other segments over</a:t>
            </a:r>
          </a:p>
        </p:txBody>
      </p:sp>
      <p:sp>
        <p:nvSpPr>
          <p:cNvPr id="31" name="TextBox 30"/>
          <p:cNvSpPr txBox="1"/>
          <p:nvPr/>
        </p:nvSpPr>
        <p:spPr>
          <a:xfrm>
            <a:off x="257175" y="6113145"/>
            <a:ext cx="8637429" cy="186689"/>
          </a:xfrm>
          <a:prstGeom prst="rect">
            <a:avLst/>
          </a:prstGeom>
          <a:noFill/>
        </p:spPr>
        <p:txBody>
          <a:bodyPr wrap="none" lIns="0" rIns="0" tIns="0" bIns="0">
            <a:spAutoFit/>
          </a:bodyPr>
          <a:lstStyle/>
          <a:p>
            <a:r>
              <a:rPr sz="1100" b="0">
                <a:solidFill>
                  <a:srgbClr val="2E2E2E"/>
                </a:solidFill>
                <a:latin typeface="Calibri"/>
              </a:rPr>
              <a:t>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Fresh</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Frozen</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Canned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Pasteurized</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Format (US$ Mn)</a:t>
            </a:r>
          </a:p>
        </p:txBody>
      </p:sp>
      <p:graphicFrame>
        <p:nvGraphicFramePr>
          <p:cNvPr id="12" name="Table 11"/>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187152"/>
                <a:gridCol w="629415"/>
                <a:gridCol w="629415"/>
                <a:gridCol w="629415"/>
                <a:gridCol w="629415"/>
                <a:gridCol w="629415"/>
                <a:gridCol w="629415"/>
                <a:gridCol w="629415"/>
                <a:gridCol w="629415"/>
                <a:gridCol w="629415"/>
                <a:gridCol w="629415"/>
                <a:gridCol w="629415"/>
                <a:gridCol w="629415"/>
                <a:gridCol w="629415"/>
                <a:gridCol w="629415"/>
                <a:gridCol w="629415"/>
                <a:gridCol w="629415"/>
                <a:gridCol w="62941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Fresh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Frozen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Canned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Pasteurized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Format</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02889" y="1837563"/>
            <a:ext cx="366712" cy="533400"/>
          </a:xfrm>
          <a:prstGeom prst="rect">
            <a:avLst/>
          </a:prstGeom>
        </p:spPr>
      </p:pic>
      <p:sp>
        <p:nvSpPr>
          <p:cNvPr id="20" name="TextBox 19"/>
          <p:cNvSpPr txBox="1"/>
          <p:nvPr/>
        </p:nvSpPr>
        <p:spPr>
          <a:xfrm>
            <a:off x="276225" y="3486150"/>
            <a:ext cx="2325997" cy="194310"/>
          </a:xfrm>
          <a:prstGeom prst="rect">
            <a:avLst/>
          </a:prstGeom>
          <a:noFill/>
        </p:spPr>
        <p:txBody>
          <a:bodyPr wrap="none" lIns="0" rIns="0" tIns="0" bIns="0">
            <a:spAutoFit/>
          </a:bodyPr>
          <a:lstStyle/>
          <a:p>
            <a:r>
              <a:rPr sz="1150" b="0">
                <a:solidFill>
                  <a:srgbClr val="2E2E2E"/>
                </a:solidFill>
                <a:latin typeface="Calibri"/>
              </a:rPr>
              <a:t>Fresh segment is projected to register</a:t>
            </a:r>
          </a:p>
        </p:txBody>
      </p:sp>
      <p:pic>
        <p:nvPicPr>
          <p:cNvPr id="21" name="Picture 20" descr="lock.png"/>
          <p:cNvPicPr>
            <a:picLocks noChangeAspect="1"/>
          </p:cNvPicPr>
          <p:nvPr/>
        </p:nvPicPr>
        <p:blipFill>
          <a:blip r:embed="rId4"/>
          <a:stretch>
            <a:fillRect/>
          </a:stretch>
        </p:blipFill>
        <p:spPr>
          <a:xfrm>
            <a:off x="2551376" y="3475926"/>
            <a:ext cx="134549" cy="195707"/>
          </a:xfrm>
          <a:prstGeom prst="rect">
            <a:avLst/>
          </a:prstGeom>
        </p:spPr>
      </p:pic>
      <p:sp>
        <p:nvSpPr>
          <p:cNvPr id="22" name="TextBox 21"/>
          <p:cNvSpPr txBox="1"/>
          <p:nvPr/>
        </p:nvSpPr>
        <p:spPr>
          <a:xfrm>
            <a:off x="2726485" y="3486150"/>
            <a:ext cx="8442679" cy="194310"/>
          </a:xfrm>
          <a:prstGeom prst="rect">
            <a:avLst/>
          </a:prstGeom>
          <a:noFill/>
        </p:spPr>
        <p:txBody>
          <a:bodyPr wrap="none" lIns="0" rIns="0" tIns="0" bIns="0">
            <a:spAutoFit/>
          </a:bodyPr>
          <a:lstStyle/>
          <a:p>
            <a:r>
              <a:rPr sz="1150" b="0">
                <a:solidFill>
                  <a:srgbClr val="2E2E2E"/>
                </a:solidFill>
                <a:latin typeface="Calibri"/>
              </a:rPr>
              <a:t>X higher value than canned segment in 2036. Among crab meat by product format, fresh segment is expected to witness the highest CAGR of</a:t>
            </a:r>
          </a:p>
        </p:txBody>
      </p:sp>
      <p:pic>
        <p:nvPicPr>
          <p:cNvPr id="23" name="Picture 22" descr="lock.png"/>
          <p:cNvPicPr>
            <a:picLocks noChangeAspect="1"/>
          </p:cNvPicPr>
          <p:nvPr/>
        </p:nvPicPr>
        <p:blipFill>
          <a:blip r:embed="rId4"/>
          <a:stretch>
            <a:fillRect/>
          </a:stretch>
        </p:blipFill>
        <p:spPr>
          <a:xfrm>
            <a:off x="11118318" y="3475926"/>
            <a:ext cx="134549" cy="195707"/>
          </a:xfrm>
          <a:prstGeom prst="rect">
            <a:avLst/>
          </a:prstGeom>
        </p:spPr>
      </p:pic>
      <p:sp>
        <p:nvSpPr>
          <p:cNvPr id="24" name="TextBox 23"/>
          <p:cNvSpPr txBox="1"/>
          <p:nvPr/>
        </p:nvSpPr>
        <p:spPr>
          <a:xfrm>
            <a:off x="11293428" y="3486150"/>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25" name="TextBox 24"/>
          <p:cNvSpPr txBox="1"/>
          <p:nvPr/>
        </p:nvSpPr>
        <p:spPr>
          <a:xfrm>
            <a:off x="276225" y="3661410"/>
            <a:ext cx="1248878" cy="194310"/>
          </a:xfrm>
          <a:prstGeom prst="rect">
            <a:avLst/>
          </a:prstGeom>
          <a:noFill/>
        </p:spPr>
        <p:txBody>
          <a:bodyPr wrap="none" lIns="0" rIns="0" tIns="0" bIns="0">
            <a:spAutoFit/>
          </a:bodyPr>
          <a:lstStyle/>
          <a:p>
            <a:r>
              <a:rPr sz="1150" b="0">
                <a:solidFill>
                  <a:srgbClr val="2E2E2E"/>
                </a:solidFill>
                <a:latin typeface="Calibri"/>
              </a:rPr>
              <a:t>the forecast period.</a:t>
            </a:r>
          </a:p>
        </p:txBody>
      </p:sp>
      <p:sp>
        <p:nvSpPr>
          <p:cNvPr id="26" name="TextBox 25"/>
          <p:cNvSpPr txBox="1"/>
          <p:nvPr/>
        </p:nvSpPr>
        <p:spPr>
          <a:xfrm>
            <a:off x="276225" y="3889247"/>
            <a:ext cx="6362340" cy="194310"/>
          </a:xfrm>
          <a:prstGeom prst="rect">
            <a:avLst/>
          </a:prstGeom>
          <a:noFill/>
        </p:spPr>
        <p:txBody>
          <a:bodyPr wrap="none" lIns="0" rIns="0" tIns="0" bIns="0">
            <a:spAutoFit/>
          </a:bodyPr>
          <a:lstStyle/>
          <a:p>
            <a:r>
              <a:rPr sz="1150" b="0">
                <a:solidFill>
                  <a:srgbClr val="2E2E2E"/>
                </a:solidFill>
                <a:latin typeface="Calibri"/>
              </a:rPr>
              <a:t>In terms of value share by product format, the fresh segment is expected to dominate the market, gaining</a:t>
            </a:r>
          </a:p>
        </p:txBody>
      </p:sp>
      <p:pic>
        <p:nvPicPr>
          <p:cNvPr id="27" name="Picture 26" descr="lock.png"/>
          <p:cNvPicPr>
            <a:picLocks noChangeAspect="1"/>
          </p:cNvPicPr>
          <p:nvPr/>
        </p:nvPicPr>
        <p:blipFill>
          <a:blip r:embed="rId4"/>
          <a:stretch>
            <a:fillRect/>
          </a:stretch>
        </p:blipFill>
        <p:spPr>
          <a:xfrm>
            <a:off x="6587719" y="3879024"/>
            <a:ext cx="134549" cy="195707"/>
          </a:xfrm>
          <a:prstGeom prst="rect">
            <a:avLst/>
          </a:prstGeom>
        </p:spPr>
      </p:pic>
      <p:sp>
        <p:nvSpPr>
          <p:cNvPr id="28" name="TextBox 27"/>
          <p:cNvSpPr txBox="1"/>
          <p:nvPr/>
        </p:nvSpPr>
        <p:spPr>
          <a:xfrm>
            <a:off x="6762828"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157971" y="3879024"/>
            <a:ext cx="134549" cy="195707"/>
          </a:xfrm>
          <a:prstGeom prst="rect">
            <a:avLst/>
          </a:prstGeom>
        </p:spPr>
      </p:pic>
      <p:sp>
        <p:nvSpPr>
          <p:cNvPr id="30" name="TextBox 29"/>
          <p:cNvSpPr txBox="1"/>
          <p:nvPr/>
        </p:nvSpPr>
        <p:spPr>
          <a:xfrm>
            <a:off x="8333081" y="3889247"/>
            <a:ext cx="3336081" cy="194310"/>
          </a:xfrm>
          <a:prstGeom prst="rect">
            <a:avLst/>
          </a:prstGeom>
          <a:noFill/>
        </p:spPr>
        <p:txBody>
          <a:bodyPr wrap="none" lIns="0" rIns="0" tIns="0" bIns="0">
            <a:spAutoFit/>
          </a:bodyPr>
          <a:lstStyle/>
          <a:p>
            <a:r>
              <a:rPr sz="1150" b="0">
                <a:solidFill>
                  <a:srgbClr val="2E2E2E"/>
                </a:solidFill>
                <a:latin typeface="Calibri"/>
              </a:rPr>
              <a:t>share by 2036. The pasteurized segment is expected to</a:t>
            </a:r>
          </a:p>
        </p:txBody>
      </p:sp>
      <p:sp>
        <p:nvSpPr>
          <p:cNvPr id="31" name="TextBox 30"/>
          <p:cNvSpPr txBox="1"/>
          <p:nvPr/>
        </p:nvSpPr>
        <p:spPr>
          <a:xfrm>
            <a:off x="276225" y="40645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054284"/>
            <a:ext cx="134549" cy="195707"/>
          </a:xfrm>
          <a:prstGeom prst="rect">
            <a:avLst/>
          </a:prstGeom>
        </p:spPr>
      </p:pic>
      <p:sp>
        <p:nvSpPr>
          <p:cNvPr id="33" name="TextBox 32"/>
          <p:cNvSpPr txBox="1"/>
          <p:nvPr/>
        </p:nvSpPr>
        <p:spPr>
          <a:xfrm>
            <a:off x="717157"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054284"/>
            <a:ext cx="134549" cy="195707"/>
          </a:xfrm>
          <a:prstGeom prst="rect">
            <a:avLst/>
          </a:prstGeom>
        </p:spPr>
      </p:pic>
      <p:sp>
        <p:nvSpPr>
          <p:cNvPr id="35" name="TextBox 34"/>
          <p:cNvSpPr txBox="1"/>
          <p:nvPr/>
        </p:nvSpPr>
        <p:spPr>
          <a:xfrm>
            <a:off x="3479771"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709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423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661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Frozen</a:t>
            </a:r>
          </a:p>
        </p:txBody>
      </p:sp>
      <p:sp>
        <p:nvSpPr>
          <p:cNvPr id="18" name="BPS Value 1"/>
          <p:cNvSpPr txBox="1"/>
          <p:nvPr/>
        </p:nvSpPr>
        <p:spPr>
          <a:xfrm>
            <a:off x="6896100" y="18280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57940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5746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984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Pasteurized</a:t>
            </a:r>
          </a:p>
        </p:txBody>
      </p:sp>
      <p:sp>
        <p:nvSpPr>
          <p:cNvPr id="22" name="BPS Value 2"/>
          <p:cNvSpPr txBox="1"/>
          <p:nvPr/>
        </p:nvSpPr>
        <p:spPr>
          <a:xfrm>
            <a:off x="6896100" y="256035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73134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7265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6503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Canned</a:t>
            </a:r>
          </a:p>
        </p:txBody>
      </p:sp>
      <p:sp>
        <p:nvSpPr>
          <p:cNvPr id="26" name="BPS Value 3"/>
          <p:cNvSpPr txBox="1"/>
          <p:nvPr/>
        </p:nvSpPr>
        <p:spPr>
          <a:xfrm>
            <a:off x="6896100" y="371229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528522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52804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2042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Fresh</a:t>
            </a:r>
          </a:p>
        </p:txBody>
      </p:sp>
      <p:sp>
        <p:nvSpPr>
          <p:cNvPr id="30" name="BPS Value 4"/>
          <p:cNvSpPr txBox="1"/>
          <p:nvPr/>
        </p:nvSpPr>
        <p:spPr>
          <a:xfrm>
            <a:off x="6896100" y="52661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Format</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4034097" cy="194310"/>
          </a:xfrm>
          <a:prstGeom prst="rect">
            <a:avLst/>
          </a:prstGeom>
          <a:noFill/>
        </p:spPr>
        <p:txBody>
          <a:bodyPr wrap="none" lIns="0" rIns="0" tIns="0" bIns="0">
            <a:spAutoFit/>
          </a:bodyPr>
          <a:lstStyle/>
          <a:p>
            <a:r>
              <a:rPr sz="1150" b="0">
                <a:solidFill>
                  <a:srgbClr val="2E2E2E"/>
                </a:solidFill>
                <a:latin typeface="Calibri"/>
              </a:rPr>
              <a:t>Among crab meat by product format, fresh segment is expected to</a:t>
            </a:r>
          </a:p>
        </p:txBody>
      </p:sp>
      <p:sp>
        <p:nvSpPr>
          <p:cNvPr id="38" name="TextBox 37"/>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39" name="Picture 38" descr="lock.png"/>
          <p:cNvPicPr>
            <a:picLocks noChangeAspect="1"/>
          </p:cNvPicPr>
          <p:nvPr/>
        </p:nvPicPr>
        <p:blipFill>
          <a:blip r:embed="rId5"/>
          <a:stretch>
            <a:fillRect/>
          </a:stretch>
        </p:blipFill>
        <p:spPr>
          <a:xfrm>
            <a:off x="9526474" y="1565211"/>
            <a:ext cx="134549" cy="195707"/>
          </a:xfrm>
          <a:prstGeom prst="rect">
            <a:avLst/>
          </a:prstGeom>
        </p:spPr>
      </p:pic>
      <p:sp>
        <p:nvSpPr>
          <p:cNvPr id="40" name="TextBox 39"/>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1" name="TextBox 40"/>
          <p:cNvSpPr txBox="1"/>
          <p:nvPr/>
        </p:nvSpPr>
        <p:spPr>
          <a:xfrm>
            <a:off x="7829550" y="1750695"/>
            <a:ext cx="4042085" cy="194310"/>
          </a:xfrm>
          <a:prstGeom prst="rect">
            <a:avLst/>
          </a:prstGeom>
          <a:noFill/>
        </p:spPr>
        <p:txBody>
          <a:bodyPr wrap="none" lIns="0" rIns="0" tIns="0" bIns="0">
            <a:spAutoFit/>
          </a:bodyPr>
          <a:lstStyle/>
          <a:p>
            <a:r>
              <a:rPr sz="1150" b="0">
                <a:solidFill>
                  <a:srgbClr val="2E2E2E"/>
                </a:solidFill>
                <a:latin typeface="Calibri"/>
              </a:rPr>
              <a:t>of value share by product format, the fresh segment is expected to</a:t>
            </a:r>
          </a:p>
        </p:txBody>
      </p:sp>
      <p:sp>
        <p:nvSpPr>
          <p:cNvPr id="42" name="TextBox 41"/>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3" name="Picture 42" descr="lock.png"/>
          <p:cNvPicPr>
            <a:picLocks noChangeAspect="1"/>
          </p:cNvPicPr>
          <p:nvPr/>
        </p:nvPicPr>
        <p:blipFill>
          <a:blip r:embed="rId5"/>
          <a:stretch>
            <a:fillRect/>
          </a:stretch>
        </p:blipFill>
        <p:spPr>
          <a:xfrm>
            <a:off x="9615776" y="1915731"/>
            <a:ext cx="134549" cy="195707"/>
          </a:xfrm>
          <a:prstGeom prst="rect">
            <a:avLst/>
          </a:prstGeom>
        </p:spPr>
      </p:pic>
      <p:sp>
        <p:nvSpPr>
          <p:cNvPr id="44" name="TextBox 43"/>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11186028" y="1915731"/>
            <a:ext cx="134549" cy="195707"/>
          </a:xfrm>
          <a:prstGeom prst="rect">
            <a:avLst/>
          </a:prstGeom>
        </p:spPr>
      </p:pic>
      <p:sp>
        <p:nvSpPr>
          <p:cNvPr id="46" name="TextBox 45"/>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329053"/>
            <a:ext cx="2706526" cy="194310"/>
          </a:xfrm>
          <a:prstGeom prst="rect">
            <a:avLst/>
          </a:prstGeom>
          <a:noFill/>
        </p:spPr>
        <p:txBody>
          <a:bodyPr wrap="none" lIns="0" rIns="0" tIns="0" bIns="0">
            <a:spAutoFit/>
          </a:bodyPr>
          <a:lstStyle/>
          <a:p>
            <a:r>
              <a:rPr sz="1150" b="0">
                <a:solidFill>
                  <a:srgbClr val="2E2E2E"/>
                </a:solidFill>
                <a:latin typeface="Calibri"/>
              </a:rPr>
              <a:t>The pasteurized segment is expected to lose</a:t>
            </a:r>
          </a:p>
        </p:txBody>
      </p:sp>
      <p:pic>
        <p:nvPicPr>
          <p:cNvPr id="48" name="Picture 47" descr="lock.png"/>
          <p:cNvPicPr>
            <a:picLocks noChangeAspect="1"/>
          </p:cNvPicPr>
          <p:nvPr/>
        </p:nvPicPr>
        <p:blipFill>
          <a:blip r:embed="rId5"/>
          <a:stretch>
            <a:fillRect/>
          </a:stretch>
        </p:blipFill>
        <p:spPr>
          <a:xfrm>
            <a:off x="10485230" y="2318829"/>
            <a:ext cx="134549" cy="195707"/>
          </a:xfrm>
          <a:prstGeom prst="rect">
            <a:avLst/>
          </a:prstGeom>
        </p:spPr>
      </p:pic>
      <p:sp>
        <p:nvSpPr>
          <p:cNvPr id="49" name="TextBox 48"/>
          <p:cNvSpPr txBox="1"/>
          <p:nvPr/>
        </p:nvSpPr>
        <p:spPr>
          <a:xfrm>
            <a:off x="10660339"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0" name="TextBox 49"/>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1" name="Picture 50" descr="lock.png"/>
          <p:cNvPicPr>
            <a:picLocks noChangeAspect="1"/>
          </p:cNvPicPr>
          <p:nvPr/>
        </p:nvPicPr>
        <p:blipFill>
          <a:blip r:embed="rId5"/>
          <a:stretch>
            <a:fillRect/>
          </a:stretch>
        </p:blipFill>
        <p:spPr>
          <a:xfrm>
            <a:off x="9630324" y="2494089"/>
            <a:ext cx="134549" cy="195707"/>
          </a:xfrm>
          <a:prstGeom prst="rect">
            <a:avLst/>
          </a:prstGeom>
        </p:spPr>
      </p:pic>
      <p:sp>
        <p:nvSpPr>
          <p:cNvPr id="52" name="TextBox 51"/>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Claim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Claim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Claim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Product Claim,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Claim segment categorizes the market by product claim.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Organic</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Freshly Pasteurized for Extended…</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Sustainably Sourced</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High Protein / Omega-3 Rich</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100% Pure Crab Meat</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Claim split shows how demand is distributed across product claim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7_091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3_497_605E5C.png"/>
          <p:cNvPicPr>
            <a:picLocks noChangeAspect="1"/>
          </p:cNvPicPr>
          <p:nvPr/>
        </p:nvPicPr>
        <p:blipFill>
          <a:blip r:embed="rId5"/>
          <a:stretch>
            <a:fillRect/>
          </a:stretch>
        </p:blipFill>
        <p:spPr>
          <a:xfrm>
            <a:off x="2116795" y="2779432"/>
            <a:ext cx="1409020" cy="361950"/>
          </a:xfrm>
          <a:prstGeom prst="rect">
            <a:avLst/>
          </a:prstGeom>
        </p:spPr>
      </p:pic>
      <p:pic>
        <p:nvPicPr>
          <p:cNvPr id="72" name="Picture 71" descr="6_6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2_533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3_120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2_1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2_092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2_252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0_7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1_879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3_169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5_4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904_2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1_161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2_5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56966" cy="186689"/>
          </a:xfrm>
          <a:prstGeom prst="rect">
            <a:avLst/>
          </a:prstGeom>
          <a:noFill/>
        </p:spPr>
        <p:txBody>
          <a:bodyPr wrap="none" lIns="0" rIns="0" tIns="0" bIns="0">
            <a:spAutoFit/>
          </a:bodyPr>
          <a:lstStyle/>
          <a:p>
            <a:r>
              <a:rPr sz="1100" b="0">
                <a:solidFill>
                  <a:srgbClr val="2E2E2E"/>
                </a:solidFill>
                <a:latin typeface="Calibri"/>
              </a:rPr>
              <a:t>Among crab meat by product claim, organic</a:t>
            </a:r>
          </a:p>
        </p:txBody>
      </p:sp>
      <p:sp>
        <p:nvSpPr>
          <p:cNvPr id="91" name="TextBox 90"/>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92" name="TextBox 91"/>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93" name="Picture 92" descr="lock.png"/>
          <p:cNvPicPr>
            <a:picLocks noChangeAspect="1"/>
          </p:cNvPicPr>
          <p:nvPr/>
        </p:nvPicPr>
        <p:blipFill>
          <a:blip r:embed="rId19"/>
          <a:stretch>
            <a:fillRect/>
          </a:stretch>
        </p:blipFill>
        <p:spPr>
          <a:xfrm>
            <a:off x="626261" y="4554938"/>
            <a:ext cx="128699" cy="187198"/>
          </a:xfrm>
          <a:prstGeom prst="rect">
            <a:avLst/>
          </a:prstGeom>
        </p:spPr>
      </p:pic>
      <p:sp>
        <p:nvSpPr>
          <p:cNvPr id="94" name="TextBox 93"/>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95" name="TextBox 94"/>
          <p:cNvSpPr txBox="1"/>
          <p:nvPr/>
        </p:nvSpPr>
        <p:spPr>
          <a:xfrm>
            <a:off x="485775" y="4732357"/>
            <a:ext cx="2721495" cy="186689"/>
          </a:xfrm>
          <a:prstGeom prst="rect">
            <a:avLst/>
          </a:prstGeom>
          <a:noFill/>
        </p:spPr>
        <p:txBody>
          <a:bodyPr wrap="none" lIns="0" rIns="0" tIns="0" bIns="0">
            <a:spAutoFit/>
          </a:bodyPr>
          <a:lstStyle/>
          <a:p>
            <a:r>
              <a:rPr sz="1100" b="0">
                <a:solidFill>
                  <a:srgbClr val="2E2E2E"/>
                </a:solidFill>
                <a:latin typeface="Calibri"/>
              </a:rPr>
              <a:t>share by product claim, the organic segment is</a:t>
            </a:r>
          </a:p>
        </p:txBody>
      </p:sp>
      <p:sp>
        <p:nvSpPr>
          <p:cNvPr id="96" name="TextBox 95"/>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97" name="Picture 96" descr="lock.png"/>
          <p:cNvPicPr>
            <a:picLocks noChangeAspect="1"/>
          </p:cNvPicPr>
          <p:nvPr/>
        </p:nvPicPr>
        <p:blipFill>
          <a:blip r:embed="rId19"/>
          <a:stretch>
            <a:fillRect/>
          </a:stretch>
        </p:blipFill>
        <p:spPr>
          <a:xfrm>
            <a:off x="2900479" y="4890217"/>
            <a:ext cx="128699" cy="187198"/>
          </a:xfrm>
          <a:prstGeom prst="rect">
            <a:avLst/>
          </a:prstGeom>
        </p:spPr>
      </p:pic>
      <p:sp>
        <p:nvSpPr>
          <p:cNvPr id="98" name="TextBox 97"/>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9" name="TextBox 98"/>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00" name="Picture 99" descr="lock.png"/>
          <p:cNvPicPr>
            <a:picLocks noChangeAspect="1"/>
          </p:cNvPicPr>
          <p:nvPr/>
        </p:nvPicPr>
        <p:blipFill>
          <a:blip r:embed="rId19"/>
          <a:stretch>
            <a:fillRect/>
          </a:stretch>
        </p:blipFill>
        <p:spPr>
          <a:xfrm>
            <a:off x="1576057" y="5057858"/>
            <a:ext cx="128699" cy="187198"/>
          </a:xfrm>
          <a:prstGeom prst="rect">
            <a:avLst/>
          </a:prstGeom>
        </p:spPr>
      </p:pic>
      <p:sp>
        <p:nvSpPr>
          <p:cNvPr id="101" name="TextBox 100"/>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2" name="TextBox 101"/>
          <p:cNvSpPr txBox="1"/>
          <p:nvPr/>
        </p:nvSpPr>
        <p:spPr>
          <a:xfrm>
            <a:off x="485775" y="5285569"/>
            <a:ext cx="2356420" cy="186689"/>
          </a:xfrm>
          <a:prstGeom prst="rect">
            <a:avLst/>
          </a:prstGeom>
          <a:noFill/>
        </p:spPr>
        <p:txBody>
          <a:bodyPr wrap="none" lIns="0" rIns="0" tIns="0" bIns="0">
            <a:spAutoFit/>
          </a:bodyPr>
          <a:lstStyle/>
          <a:p>
            <a:r>
              <a:rPr sz="1100" b="0">
                <a:solidFill>
                  <a:srgbClr val="2E2E2E"/>
                </a:solidFill>
                <a:latin typeface="Calibri"/>
              </a:rPr>
              <a:t>Organic segment is projected to register</a:t>
            </a:r>
          </a:p>
        </p:txBody>
      </p:sp>
      <p:pic>
        <p:nvPicPr>
          <p:cNvPr id="103" name="Picture 102" descr="lock.png"/>
          <p:cNvPicPr>
            <a:picLocks noChangeAspect="1"/>
          </p:cNvPicPr>
          <p:nvPr/>
        </p:nvPicPr>
        <p:blipFill>
          <a:blip r:embed="rId19"/>
          <a:stretch>
            <a:fillRect/>
          </a:stretch>
        </p:blipFill>
        <p:spPr>
          <a:xfrm>
            <a:off x="2790247" y="5275790"/>
            <a:ext cx="128699" cy="187198"/>
          </a:xfrm>
          <a:prstGeom prst="rect">
            <a:avLst/>
          </a:prstGeom>
        </p:spPr>
      </p:pic>
      <p:sp>
        <p:nvSpPr>
          <p:cNvPr id="104" name="TextBox 103"/>
          <p:cNvSpPr txBox="1"/>
          <p:nvPr/>
        </p:nvSpPr>
        <p:spPr>
          <a:xfrm>
            <a:off x="2957742"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5" name="TextBox 104"/>
          <p:cNvSpPr txBox="1"/>
          <p:nvPr/>
        </p:nvSpPr>
        <p:spPr>
          <a:xfrm>
            <a:off x="485775" y="5453209"/>
            <a:ext cx="2677021" cy="186689"/>
          </a:xfrm>
          <a:prstGeom prst="rect">
            <a:avLst/>
          </a:prstGeom>
          <a:noFill/>
        </p:spPr>
        <p:txBody>
          <a:bodyPr wrap="none" lIns="0" rIns="0" tIns="0" bIns="0">
            <a:spAutoFit/>
          </a:bodyPr>
          <a:lstStyle/>
          <a:p>
            <a:r>
              <a:rPr sz="1100" b="0">
                <a:solidFill>
                  <a:srgbClr val="2E2E2E"/>
                </a:solidFill>
                <a:latin typeface="Calibri"/>
              </a:rPr>
              <a:t>higher value than high protein / Omega-3 rich</a:t>
            </a:r>
          </a:p>
        </p:txBody>
      </p:sp>
      <p:sp>
        <p:nvSpPr>
          <p:cNvPr id="106" name="TextBox 105"/>
          <p:cNvSpPr txBox="1"/>
          <p:nvPr/>
        </p:nvSpPr>
        <p:spPr>
          <a:xfrm>
            <a:off x="485775" y="562084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668287" cy="186689"/>
          </a:xfrm>
          <a:prstGeom prst="rect">
            <a:avLst/>
          </a:prstGeom>
          <a:noFill/>
        </p:spPr>
        <p:txBody>
          <a:bodyPr wrap="none" lIns="0" rIns="0" tIns="0" bIns="0">
            <a:spAutoFit/>
          </a:bodyPr>
          <a:lstStyle/>
          <a:p>
            <a:r>
              <a:rPr sz="1100" b="0">
                <a:solidFill>
                  <a:srgbClr val="2E2E2E"/>
                </a:solidFill>
                <a:latin typeface="Calibri"/>
              </a:rPr>
              <a:t>● Organic:</a:t>
            </a:r>
          </a:p>
        </p:txBody>
      </p:sp>
      <p:pic>
        <p:nvPicPr>
          <p:cNvPr id="108" name="Picture 107" descr="lock.png"/>
          <p:cNvPicPr>
            <a:picLocks noChangeAspect="1"/>
          </p:cNvPicPr>
          <p:nvPr/>
        </p:nvPicPr>
        <p:blipFill>
          <a:blip r:embed="rId19"/>
          <a:stretch>
            <a:fillRect/>
          </a:stretch>
        </p:blipFill>
        <p:spPr>
          <a:xfrm>
            <a:off x="4454914" y="4219658"/>
            <a:ext cx="128699" cy="187198"/>
          </a:xfrm>
          <a:prstGeom prst="rect">
            <a:avLst/>
          </a:prstGeom>
        </p:spPr>
      </p:pic>
      <p:sp>
        <p:nvSpPr>
          <p:cNvPr id="109" name="TextBox 108"/>
          <p:cNvSpPr txBox="1"/>
          <p:nvPr/>
        </p:nvSpPr>
        <p:spPr>
          <a:xfrm>
            <a:off x="462241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481860" y="4219658"/>
            <a:ext cx="128699" cy="187198"/>
          </a:xfrm>
          <a:prstGeom prst="rect">
            <a:avLst/>
          </a:prstGeom>
        </p:spPr>
      </p:pic>
      <p:sp>
        <p:nvSpPr>
          <p:cNvPr id="111" name="TextBox 110"/>
          <p:cNvSpPr txBox="1"/>
          <p:nvPr/>
        </p:nvSpPr>
        <p:spPr>
          <a:xfrm>
            <a:off x="564935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2641550" cy="186689"/>
          </a:xfrm>
          <a:prstGeom prst="rect">
            <a:avLst/>
          </a:prstGeom>
          <a:noFill/>
        </p:spPr>
        <p:txBody>
          <a:bodyPr wrap="none" lIns="0" rIns="0" tIns="0" bIns="0">
            <a:spAutoFit/>
          </a:bodyPr>
          <a:lstStyle/>
          <a:p>
            <a:r>
              <a:rPr sz="1100" b="0">
                <a:solidFill>
                  <a:srgbClr val="2E2E2E"/>
                </a:solidFill>
                <a:latin typeface="Calibri"/>
              </a:rPr>
              <a:t>● Freshly Pasteurized for Extended Shelf Life:</a:t>
            </a:r>
          </a:p>
        </p:txBody>
      </p:sp>
      <p:pic>
        <p:nvPicPr>
          <p:cNvPr id="113" name="Picture 112" descr="lock.png"/>
          <p:cNvPicPr>
            <a:picLocks noChangeAspect="1"/>
          </p:cNvPicPr>
          <p:nvPr/>
        </p:nvPicPr>
        <p:blipFill>
          <a:blip r:embed="rId19"/>
          <a:stretch>
            <a:fillRect/>
          </a:stretch>
        </p:blipFill>
        <p:spPr>
          <a:xfrm>
            <a:off x="6428176" y="4437590"/>
            <a:ext cx="128699" cy="187198"/>
          </a:xfrm>
          <a:prstGeom prst="rect">
            <a:avLst/>
          </a:prstGeom>
        </p:spPr>
      </p:pic>
      <p:sp>
        <p:nvSpPr>
          <p:cNvPr id="114" name="TextBox 113"/>
          <p:cNvSpPr txBox="1"/>
          <p:nvPr/>
        </p:nvSpPr>
        <p:spPr>
          <a:xfrm>
            <a:off x="659567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7455123" y="4437590"/>
            <a:ext cx="128699" cy="187198"/>
          </a:xfrm>
          <a:prstGeom prst="rect">
            <a:avLst/>
          </a:prstGeom>
        </p:spPr>
      </p:pic>
      <p:sp>
        <p:nvSpPr>
          <p:cNvPr id="116" name="TextBox 115"/>
          <p:cNvSpPr txBox="1"/>
          <p:nvPr/>
        </p:nvSpPr>
        <p:spPr>
          <a:xfrm>
            <a:off x="3838575"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3838575" y="4832941"/>
            <a:ext cx="1370607" cy="186689"/>
          </a:xfrm>
          <a:prstGeom prst="rect">
            <a:avLst/>
          </a:prstGeom>
          <a:noFill/>
        </p:spPr>
        <p:txBody>
          <a:bodyPr wrap="none" lIns="0" rIns="0" tIns="0" bIns="0">
            <a:spAutoFit/>
          </a:bodyPr>
          <a:lstStyle/>
          <a:p>
            <a:r>
              <a:rPr sz="1100" b="0">
                <a:solidFill>
                  <a:srgbClr val="2E2E2E"/>
                </a:solidFill>
                <a:latin typeface="Calibri"/>
              </a:rPr>
              <a:t>● Sustainably Sourced:</a:t>
            </a:r>
          </a:p>
        </p:txBody>
      </p:sp>
      <p:pic>
        <p:nvPicPr>
          <p:cNvPr id="118" name="Picture 117" descr="lock.png"/>
          <p:cNvPicPr>
            <a:picLocks noChangeAspect="1"/>
          </p:cNvPicPr>
          <p:nvPr/>
        </p:nvPicPr>
        <p:blipFill>
          <a:blip r:embed="rId19"/>
          <a:stretch>
            <a:fillRect/>
          </a:stretch>
        </p:blipFill>
        <p:spPr>
          <a:xfrm>
            <a:off x="5157234" y="4823162"/>
            <a:ext cx="128699" cy="187198"/>
          </a:xfrm>
          <a:prstGeom prst="rect">
            <a:avLst/>
          </a:prstGeom>
        </p:spPr>
      </p:pic>
      <p:sp>
        <p:nvSpPr>
          <p:cNvPr id="119" name="TextBox 118"/>
          <p:cNvSpPr txBox="1"/>
          <p:nvPr/>
        </p:nvSpPr>
        <p:spPr>
          <a:xfrm>
            <a:off x="532473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6184180" y="4823162"/>
            <a:ext cx="128699" cy="187198"/>
          </a:xfrm>
          <a:prstGeom prst="rect">
            <a:avLst/>
          </a:prstGeom>
        </p:spPr>
      </p:pic>
      <p:sp>
        <p:nvSpPr>
          <p:cNvPr id="121" name="TextBox 120"/>
          <p:cNvSpPr txBox="1"/>
          <p:nvPr/>
        </p:nvSpPr>
        <p:spPr>
          <a:xfrm>
            <a:off x="6351676"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2" name="TextBox 121"/>
          <p:cNvSpPr txBox="1"/>
          <p:nvPr/>
        </p:nvSpPr>
        <p:spPr>
          <a:xfrm>
            <a:off x="3838575" y="5050872"/>
            <a:ext cx="1846188" cy="186689"/>
          </a:xfrm>
          <a:prstGeom prst="rect">
            <a:avLst/>
          </a:prstGeom>
          <a:noFill/>
        </p:spPr>
        <p:txBody>
          <a:bodyPr wrap="none" lIns="0" rIns="0" tIns="0" bIns="0">
            <a:spAutoFit/>
          </a:bodyPr>
          <a:lstStyle/>
          <a:p>
            <a:r>
              <a:rPr sz="1100" b="0">
                <a:solidFill>
                  <a:srgbClr val="2E2E2E"/>
                </a:solidFill>
                <a:latin typeface="Calibri"/>
              </a:rPr>
              <a:t>● High Protein / Omega-3 Rich:</a:t>
            </a:r>
          </a:p>
        </p:txBody>
      </p:sp>
      <p:pic>
        <p:nvPicPr>
          <p:cNvPr id="123" name="Picture 122" descr="lock.png"/>
          <p:cNvPicPr>
            <a:picLocks noChangeAspect="1"/>
          </p:cNvPicPr>
          <p:nvPr/>
        </p:nvPicPr>
        <p:blipFill>
          <a:blip r:embed="rId19"/>
          <a:stretch>
            <a:fillRect/>
          </a:stretch>
        </p:blipFill>
        <p:spPr>
          <a:xfrm>
            <a:off x="5632814" y="5041093"/>
            <a:ext cx="128699" cy="187198"/>
          </a:xfrm>
          <a:prstGeom prst="rect">
            <a:avLst/>
          </a:prstGeom>
        </p:spPr>
      </p:pic>
      <p:sp>
        <p:nvSpPr>
          <p:cNvPr id="124" name="TextBox 123"/>
          <p:cNvSpPr txBox="1"/>
          <p:nvPr/>
        </p:nvSpPr>
        <p:spPr>
          <a:xfrm>
            <a:off x="5800310"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19"/>
          <a:stretch>
            <a:fillRect/>
          </a:stretch>
        </p:blipFill>
        <p:spPr>
          <a:xfrm>
            <a:off x="6659760" y="5041093"/>
            <a:ext cx="128699" cy="187198"/>
          </a:xfrm>
          <a:prstGeom prst="rect">
            <a:avLst/>
          </a:prstGeom>
        </p:spPr>
      </p:pic>
      <p:sp>
        <p:nvSpPr>
          <p:cNvPr id="126" name="TextBox 125"/>
          <p:cNvSpPr txBox="1"/>
          <p:nvPr/>
        </p:nvSpPr>
        <p:spPr>
          <a:xfrm>
            <a:off x="6827256" y="5050872"/>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7" name="TextBox 126"/>
          <p:cNvSpPr txBox="1"/>
          <p:nvPr/>
        </p:nvSpPr>
        <p:spPr>
          <a:xfrm>
            <a:off x="3838575" y="521851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8" name="TextBox 127"/>
          <p:cNvSpPr txBox="1"/>
          <p:nvPr/>
        </p:nvSpPr>
        <p:spPr>
          <a:xfrm>
            <a:off x="3838575" y="5436445"/>
            <a:ext cx="1467742" cy="186689"/>
          </a:xfrm>
          <a:prstGeom prst="rect">
            <a:avLst/>
          </a:prstGeom>
          <a:noFill/>
        </p:spPr>
        <p:txBody>
          <a:bodyPr wrap="none" lIns="0" rIns="0" tIns="0" bIns="0">
            <a:spAutoFit/>
          </a:bodyPr>
          <a:lstStyle/>
          <a:p>
            <a:r>
              <a:rPr sz="1100" b="0">
                <a:solidFill>
                  <a:srgbClr val="2E2E2E"/>
                </a:solidFill>
                <a:latin typeface="Calibri"/>
              </a:rPr>
              <a:t>● 100% Pure Crab Meat:</a:t>
            </a:r>
          </a:p>
        </p:txBody>
      </p:sp>
      <p:pic>
        <p:nvPicPr>
          <p:cNvPr id="129" name="Picture 128" descr="lock.png"/>
          <p:cNvPicPr>
            <a:picLocks noChangeAspect="1"/>
          </p:cNvPicPr>
          <p:nvPr/>
        </p:nvPicPr>
        <p:blipFill>
          <a:blip r:embed="rId19"/>
          <a:stretch>
            <a:fillRect/>
          </a:stretch>
        </p:blipFill>
        <p:spPr>
          <a:xfrm>
            <a:off x="5254369" y="5426665"/>
            <a:ext cx="128699" cy="187198"/>
          </a:xfrm>
          <a:prstGeom prst="rect">
            <a:avLst/>
          </a:prstGeom>
        </p:spPr>
      </p:pic>
      <p:sp>
        <p:nvSpPr>
          <p:cNvPr id="130" name="TextBox 129"/>
          <p:cNvSpPr txBox="1"/>
          <p:nvPr/>
        </p:nvSpPr>
        <p:spPr>
          <a:xfrm>
            <a:off x="5421865"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19"/>
          <a:stretch>
            <a:fillRect/>
          </a:stretch>
        </p:blipFill>
        <p:spPr>
          <a:xfrm>
            <a:off x="6281315" y="5426665"/>
            <a:ext cx="128699" cy="187198"/>
          </a:xfrm>
          <a:prstGeom prst="rect">
            <a:avLst/>
          </a:prstGeom>
        </p:spPr>
      </p:pic>
      <p:sp>
        <p:nvSpPr>
          <p:cNvPr id="132" name="TextBox 131"/>
          <p:cNvSpPr txBox="1"/>
          <p:nvPr/>
        </p:nvSpPr>
        <p:spPr>
          <a:xfrm>
            <a:off x="6448811"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8524875" y="5842641"/>
            <a:ext cx="3144105" cy="194310"/>
          </a:xfrm>
          <a:prstGeom prst="rect">
            <a:avLst/>
          </a:prstGeom>
          <a:noFill/>
        </p:spPr>
        <p:txBody>
          <a:bodyPr wrap="none" lIns="0" rIns="0" tIns="0" bIns="0">
            <a:spAutoFit/>
          </a:bodyPr>
          <a:lstStyle/>
          <a:p>
            <a:r>
              <a:rPr sz="1150" b="1">
                <a:solidFill>
                  <a:srgbClr val="0B2E4A"/>
                </a:solidFill>
                <a:latin typeface="Calibri"/>
              </a:rPr>
              <a:t>The Product Claim segment is projected to grow at</a:t>
            </a:r>
          </a:p>
        </p:txBody>
      </p:sp>
      <p:sp>
        <p:nvSpPr>
          <p:cNvPr id="134" name="TextBox 133"/>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35" name="Picture 134" descr="lock.png"/>
          <p:cNvPicPr>
            <a:picLocks noChangeAspect="1"/>
          </p:cNvPicPr>
          <p:nvPr/>
        </p:nvPicPr>
        <p:blipFill>
          <a:blip r:embed="rId19"/>
          <a:stretch>
            <a:fillRect/>
          </a:stretch>
        </p:blipFill>
        <p:spPr>
          <a:xfrm>
            <a:off x="9154084" y="6007677"/>
            <a:ext cx="134549" cy="195707"/>
          </a:xfrm>
          <a:prstGeom prst="rect">
            <a:avLst/>
          </a:prstGeom>
        </p:spPr>
      </p:pic>
      <p:sp>
        <p:nvSpPr>
          <p:cNvPr id="136" name="TextBox 135"/>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Claim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Claim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Claim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Claim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02268" cy="186689"/>
          </a:xfrm>
          <a:prstGeom prst="rect">
            <a:avLst/>
          </a:prstGeom>
          <a:noFill/>
        </p:spPr>
        <p:txBody>
          <a:bodyPr wrap="none" lIns="0" rIns="0" tIns="0" bIns="0">
            <a:spAutoFit/>
          </a:bodyPr>
          <a:lstStyle/>
          <a:p>
            <a:r>
              <a:rPr sz="1100" b="0">
                <a:solidFill>
                  <a:srgbClr val="2E2E2E"/>
                </a:solidFill>
                <a:latin typeface="Calibri"/>
              </a:rPr>
              <a:t>Organic followed by high protein / Omega-3 rich are expected to be the two most attractive product claim segments in the global crab meat market in terms of value over the forecast period. Organic and</a:t>
            </a:r>
          </a:p>
        </p:txBody>
      </p:sp>
      <p:sp>
        <p:nvSpPr>
          <p:cNvPr id="20" name="TextBox 19"/>
          <p:cNvSpPr txBox="1"/>
          <p:nvPr/>
        </p:nvSpPr>
        <p:spPr>
          <a:xfrm>
            <a:off x="257175" y="5861685"/>
            <a:ext cx="3011247" cy="186689"/>
          </a:xfrm>
          <a:prstGeom prst="rect">
            <a:avLst/>
          </a:prstGeom>
          <a:noFill/>
        </p:spPr>
        <p:txBody>
          <a:bodyPr wrap="none" lIns="0" rIns="0" tIns="0" bIns="0">
            <a:spAutoFit/>
          </a:bodyPr>
          <a:lstStyle/>
          <a:p>
            <a:r>
              <a:rPr sz="1100" b="0">
                <a:solidFill>
                  <a:srgbClr val="2E2E2E"/>
                </a:solidFill>
                <a:latin typeface="Calibri"/>
              </a:rPr>
              <a:t>high protein / Omega-3 rich exhibit a CAGR index of</a:t>
            </a:r>
          </a:p>
        </p:txBody>
      </p:sp>
      <p:pic>
        <p:nvPicPr>
          <p:cNvPr id="21" name="Picture 20" descr="lock.png"/>
          <p:cNvPicPr>
            <a:picLocks noChangeAspect="1"/>
          </p:cNvPicPr>
          <p:nvPr/>
        </p:nvPicPr>
        <p:blipFill>
          <a:blip r:embed="rId6"/>
          <a:stretch>
            <a:fillRect/>
          </a:stretch>
        </p:blipFill>
        <p:spPr>
          <a:xfrm>
            <a:off x="3216473" y="5851905"/>
            <a:ext cx="128699" cy="187198"/>
          </a:xfrm>
          <a:prstGeom prst="rect">
            <a:avLst/>
          </a:prstGeom>
        </p:spPr>
      </p:pic>
      <p:sp>
        <p:nvSpPr>
          <p:cNvPr id="22" name="TextBox 21"/>
          <p:cNvSpPr txBox="1"/>
          <p:nvPr/>
        </p:nvSpPr>
        <p:spPr>
          <a:xfrm>
            <a:off x="338396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621863" y="5851905"/>
            <a:ext cx="128699" cy="187198"/>
          </a:xfrm>
          <a:prstGeom prst="rect">
            <a:avLst/>
          </a:prstGeom>
        </p:spPr>
      </p:pic>
      <p:sp>
        <p:nvSpPr>
          <p:cNvPr id="24" name="TextBox 23"/>
          <p:cNvSpPr txBox="1"/>
          <p:nvPr/>
        </p:nvSpPr>
        <p:spPr>
          <a:xfrm>
            <a:off x="378935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398333" y="5851905"/>
            <a:ext cx="128699" cy="187198"/>
          </a:xfrm>
          <a:prstGeom prst="rect">
            <a:avLst/>
          </a:prstGeom>
        </p:spPr>
      </p:pic>
      <p:sp>
        <p:nvSpPr>
          <p:cNvPr id="26" name="TextBox 25"/>
          <p:cNvSpPr txBox="1"/>
          <p:nvPr/>
        </p:nvSpPr>
        <p:spPr>
          <a:xfrm>
            <a:off x="556582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803723" y="5851905"/>
            <a:ext cx="128699" cy="187198"/>
          </a:xfrm>
          <a:prstGeom prst="rect">
            <a:avLst/>
          </a:prstGeom>
        </p:spPr>
      </p:pic>
      <p:sp>
        <p:nvSpPr>
          <p:cNvPr id="28" name="TextBox 27"/>
          <p:cNvSpPr txBox="1"/>
          <p:nvPr/>
        </p:nvSpPr>
        <p:spPr>
          <a:xfrm>
            <a:off x="597121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525623" y="5851905"/>
            <a:ext cx="128699" cy="187198"/>
          </a:xfrm>
          <a:prstGeom prst="rect">
            <a:avLst/>
          </a:prstGeom>
        </p:spPr>
      </p:pic>
      <p:sp>
        <p:nvSpPr>
          <p:cNvPr id="30" name="TextBox 29"/>
          <p:cNvSpPr txBox="1"/>
          <p:nvPr/>
        </p:nvSpPr>
        <p:spPr>
          <a:xfrm>
            <a:off x="8693119" y="5861685"/>
            <a:ext cx="2243459" cy="186689"/>
          </a:xfrm>
          <a:prstGeom prst="rect">
            <a:avLst/>
          </a:prstGeom>
          <a:noFill/>
        </p:spPr>
        <p:txBody>
          <a:bodyPr wrap="none" lIns="0" rIns="0" tIns="0" bIns="0">
            <a:spAutoFit/>
          </a:bodyPr>
          <a:lstStyle/>
          <a:p>
            <a:r>
              <a:rPr sz="1100" b="0">
                <a:solidFill>
                  <a:srgbClr val="2E2E2E"/>
                </a:solidFill>
                <a:latin typeface="Calibri"/>
              </a:rPr>
              <a:t>. The 100% pure crab meat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Claim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Claim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Organic</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Sustainably Sourced</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100% Pure Crab Meat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High Protein / Omega-3 Rich</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Claim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Claim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Freshly Pasteurized for Extended Shelf Life</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Product Claim</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400175"/>
            <a:ext cx="3940227" cy="194310"/>
          </a:xfrm>
          <a:prstGeom prst="rect">
            <a:avLst/>
          </a:prstGeom>
          <a:noFill/>
        </p:spPr>
        <p:txBody>
          <a:bodyPr wrap="none" lIns="0" rIns="0" tIns="0" bIns="0">
            <a:spAutoFit/>
          </a:bodyPr>
          <a:lstStyle/>
          <a:p>
            <a:r>
              <a:rPr sz="1150" b="0">
                <a:solidFill>
                  <a:srgbClr val="2E2E2E"/>
                </a:solidFill>
                <a:latin typeface="Calibri"/>
              </a:rPr>
              <a:t>By 2036, organic segment is anticipated to witness an increase of</a:t>
            </a:r>
          </a:p>
        </p:txBody>
      </p:sp>
      <p:pic>
        <p:nvPicPr>
          <p:cNvPr id="20" name="Picture 19" descr="lock.png"/>
          <p:cNvPicPr>
            <a:picLocks noChangeAspect="1"/>
          </p:cNvPicPr>
          <p:nvPr/>
        </p:nvPicPr>
        <p:blipFill>
          <a:blip r:embed="rId5"/>
          <a:stretch>
            <a:fillRect/>
          </a:stretch>
        </p:blipFill>
        <p:spPr>
          <a:xfrm>
            <a:off x="10194931" y="1389951"/>
            <a:ext cx="134549" cy="195707"/>
          </a:xfrm>
          <a:prstGeom prst="rect">
            <a:avLst/>
          </a:prstGeom>
        </p:spPr>
      </p:pic>
      <p:sp>
        <p:nvSpPr>
          <p:cNvPr id="21" name="TextBox 20"/>
          <p:cNvSpPr txBox="1"/>
          <p:nvPr/>
        </p:nvSpPr>
        <p:spPr>
          <a:xfrm>
            <a:off x="10370040"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575435"/>
            <a:ext cx="5575324" cy="194310"/>
          </a:xfrm>
          <a:prstGeom prst="rect">
            <a:avLst/>
          </a:prstGeom>
          <a:noFill/>
        </p:spPr>
        <p:txBody>
          <a:bodyPr wrap="none" lIns="0" rIns="0" tIns="0" bIns="0">
            <a:spAutoFit/>
          </a:bodyPr>
          <a:lstStyle/>
          <a:p>
            <a:r>
              <a:rPr sz="1150" b="0">
                <a:solidFill>
                  <a:srgbClr val="2E2E2E"/>
                </a:solidFill>
                <a:latin typeface="Calibri"/>
              </a:rPr>
              <a:t>compared to 2026. The organic segment is expected to create an incremental opportunity of</a:t>
            </a:r>
          </a:p>
        </p:txBody>
      </p:sp>
      <p:sp>
        <p:nvSpPr>
          <p:cNvPr id="23" name="TextBox 22"/>
          <p:cNvSpPr txBox="1"/>
          <p:nvPr/>
        </p:nvSpPr>
        <p:spPr>
          <a:xfrm>
            <a:off x="6305550" y="175069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4" name="Picture 23" descr="lock.png"/>
          <p:cNvPicPr>
            <a:picLocks noChangeAspect="1"/>
          </p:cNvPicPr>
          <p:nvPr/>
        </p:nvPicPr>
        <p:blipFill>
          <a:blip r:embed="rId5"/>
          <a:stretch>
            <a:fillRect/>
          </a:stretch>
        </p:blipFill>
        <p:spPr>
          <a:xfrm>
            <a:off x="6565953" y="1740471"/>
            <a:ext cx="134549" cy="195707"/>
          </a:xfrm>
          <a:prstGeom prst="rect">
            <a:avLst/>
          </a:prstGeom>
        </p:spPr>
      </p:pic>
      <p:sp>
        <p:nvSpPr>
          <p:cNvPr id="25" name="TextBox 24"/>
          <p:cNvSpPr txBox="1"/>
          <p:nvPr/>
        </p:nvSpPr>
        <p:spPr>
          <a:xfrm>
            <a:off x="6741062"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26" name="TextBox 25"/>
          <p:cNvSpPr txBox="1"/>
          <p:nvPr/>
        </p:nvSpPr>
        <p:spPr>
          <a:xfrm>
            <a:off x="6305550" y="1978533"/>
            <a:ext cx="5591175" cy="194310"/>
          </a:xfrm>
          <a:prstGeom prst="rect">
            <a:avLst/>
          </a:prstGeom>
          <a:noFill/>
        </p:spPr>
        <p:txBody>
          <a:bodyPr wrap="none" lIns="0" rIns="0" tIns="0" bIns="0">
            <a:spAutoFit/>
          </a:bodyPr>
          <a:lstStyle/>
          <a:p>
            <a:r>
              <a:rPr sz="1150" b="0">
                <a:solidFill>
                  <a:srgbClr val="2E2E2E"/>
                </a:solidFill>
                <a:latin typeface="Calibri"/>
              </a:rPr>
              <a:t>The high protein / Omega-3 rich segment is expected to create an incremental opportunity of</a:t>
            </a:r>
          </a:p>
        </p:txBody>
      </p:sp>
      <p:sp>
        <p:nvSpPr>
          <p:cNvPr id="27" name="TextBox 26"/>
          <p:cNvSpPr txBox="1"/>
          <p:nvPr/>
        </p:nvSpPr>
        <p:spPr>
          <a:xfrm>
            <a:off x="6305550" y="215379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5"/>
          <a:stretch>
            <a:fillRect/>
          </a:stretch>
        </p:blipFill>
        <p:spPr>
          <a:xfrm>
            <a:off x="6565953" y="2143569"/>
            <a:ext cx="134549" cy="195707"/>
          </a:xfrm>
          <a:prstGeom prst="rect">
            <a:avLst/>
          </a:prstGeom>
        </p:spPr>
      </p:pic>
      <p:sp>
        <p:nvSpPr>
          <p:cNvPr id="29" name="TextBox 28"/>
          <p:cNvSpPr txBox="1"/>
          <p:nvPr/>
        </p:nvSpPr>
        <p:spPr>
          <a:xfrm>
            <a:off x="6741062" y="2153793"/>
            <a:ext cx="5044752"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 The freshly pasteurized for</a:t>
            </a:r>
          </a:p>
        </p:txBody>
      </p:sp>
      <p:sp>
        <p:nvSpPr>
          <p:cNvPr id="30" name="TextBox 29"/>
          <p:cNvSpPr txBox="1"/>
          <p:nvPr/>
        </p:nvSpPr>
        <p:spPr>
          <a:xfrm>
            <a:off x="6305550" y="2329053"/>
            <a:ext cx="5085258" cy="194310"/>
          </a:xfrm>
          <a:prstGeom prst="rect">
            <a:avLst/>
          </a:prstGeom>
          <a:noFill/>
        </p:spPr>
        <p:txBody>
          <a:bodyPr wrap="none" lIns="0" rIns="0" tIns="0" bIns="0">
            <a:spAutoFit/>
          </a:bodyPr>
          <a:lstStyle/>
          <a:p>
            <a:r>
              <a:rPr sz="1150" b="0">
                <a:solidFill>
                  <a:srgbClr val="2E2E2E"/>
                </a:solidFill>
                <a:latin typeface="Calibri"/>
              </a:rPr>
              <a:t>extended shelf life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1339962" y="2318829"/>
            <a:ext cx="134549" cy="195707"/>
          </a:xfrm>
          <a:prstGeom prst="rect">
            <a:avLst/>
          </a:prstGeom>
        </p:spPr>
      </p:pic>
      <p:sp>
        <p:nvSpPr>
          <p:cNvPr id="32" name="TextBox 31"/>
          <p:cNvSpPr txBox="1"/>
          <p:nvPr/>
        </p:nvSpPr>
        <p:spPr>
          <a:xfrm>
            <a:off x="11515071" y="232905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3" name="TextBox 32"/>
          <p:cNvSpPr txBox="1"/>
          <p:nvPr/>
        </p:nvSpPr>
        <p:spPr>
          <a:xfrm>
            <a:off x="6305550" y="2504313"/>
            <a:ext cx="3188320" cy="194310"/>
          </a:xfrm>
          <a:prstGeom prst="rect">
            <a:avLst/>
          </a:prstGeom>
          <a:noFill/>
        </p:spPr>
        <p:txBody>
          <a:bodyPr wrap="none" lIns="0" rIns="0" tIns="0" bIns="0">
            <a:spAutoFit/>
          </a:bodyPr>
          <a:lstStyle/>
          <a:p>
            <a:r>
              <a:rPr sz="1150" b="0">
                <a:solidFill>
                  <a:srgbClr val="2E2E2E"/>
                </a:solidFill>
                <a:latin typeface="Calibri"/>
              </a:rPr>
              <a:t>for the overall crab meat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Claim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Claim,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Claim (US$ Mn)</a:t>
            </a:r>
          </a:p>
        </p:txBody>
      </p:sp>
      <p:graphicFrame>
        <p:nvGraphicFramePr>
          <p:cNvPr id="12" name="Table 11"/>
          <p:cNvGraphicFramePr>
            <a:graphicFrameLocks noGrp="1"/>
          </p:cNvGraphicFramePr>
          <p:nvPr/>
        </p:nvGraphicFramePr>
        <p:xfrm>
          <a:off x="152400" y="1238250"/>
          <a:ext cx="11887203" cy="1724022"/>
        </p:xfrm>
        <a:graphic>
          <a:graphicData uri="http://schemas.openxmlformats.org/drawingml/2006/table">
            <a:tbl>
              <a:tblPr>
                <a:tableStyleId>{5C22544A-7EE6-4342-B048-85BDC9FD1C3A}</a:tableStyleId>
              </a:tblPr>
              <a:tblGrid>
                <a:gridCol w="2782585"/>
                <a:gridCol w="532852"/>
                <a:gridCol w="532852"/>
                <a:gridCol w="532852"/>
                <a:gridCol w="532852"/>
                <a:gridCol w="532852"/>
                <a:gridCol w="532852"/>
                <a:gridCol w="532852"/>
                <a:gridCol w="532852"/>
                <a:gridCol w="532852"/>
                <a:gridCol w="532852"/>
                <a:gridCol w="532852"/>
                <a:gridCol w="532852"/>
                <a:gridCol w="532852"/>
                <a:gridCol w="532852"/>
                <a:gridCol w="532852"/>
                <a:gridCol w="532852"/>
                <a:gridCol w="578986"/>
              </a:tblGrid>
              <a:tr h="246126">
                <a:tc>
                  <a:txBody>
                    <a:bodyPr wrap="none"/>
                    <a:lstStyle/>
                    <a:p>
                      <a:pPr algn="l"/>
                      <a:r>
                        <a:rPr sz="1100" b="1">
                          <a:solidFill>
                            <a:srgbClr val="0B2E4A"/>
                          </a:solidFill>
                          <a:latin typeface="Calibri"/>
                        </a:rPr>
                        <a:t>Product Claim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Organic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Sustainably Sourced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100% Pure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High Protein / Omega-3 Rich</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Freshly Pasteurized for Extended Shelf Life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Claim</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00604" y="1956623"/>
            <a:ext cx="366712" cy="533399"/>
          </a:xfrm>
          <a:prstGeom prst="rect">
            <a:avLst/>
          </a:prstGeom>
        </p:spPr>
      </p:pic>
      <p:sp>
        <p:nvSpPr>
          <p:cNvPr id="20" name="TextBox 19"/>
          <p:cNvSpPr txBox="1"/>
          <p:nvPr/>
        </p:nvSpPr>
        <p:spPr>
          <a:xfrm>
            <a:off x="276225" y="3724275"/>
            <a:ext cx="2460066" cy="194310"/>
          </a:xfrm>
          <a:prstGeom prst="rect">
            <a:avLst/>
          </a:prstGeom>
          <a:noFill/>
        </p:spPr>
        <p:txBody>
          <a:bodyPr wrap="none" lIns="0" rIns="0" tIns="0" bIns="0">
            <a:spAutoFit/>
          </a:bodyPr>
          <a:lstStyle/>
          <a:p>
            <a:r>
              <a:rPr sz="1150" b="0">
                <a:solidFill>
                  <a:srgbClr val="2E2E2E"/>
                </a:solidFill>
                <a:latin typeface="Calibri"/>
              </a:rPr>
              <a:t>Organic segment is projected to register</a:t>
            </a:r>
          </a:p>
        </p:txBody>
      </p:sp>
      <p:pic>
        <p:nvPicPr>
          <p:cNvPr id="21" name="Picture 20" descr="lock.png"/>
          <p:cNvPicPr>
            <a:picLocks noChangeAspect="1"/>
          </p:cNvPicPr>
          <p:nvPr/>
        </p:nvPicPr>
        <p:blipFill>
          <a:blip r:embed="rId4"/>
          <a:stretch>
            <a:fillRect/>
          </a:stretch>
        </p:blipFill>
        <p:spPr>
          <a:xfrm>
            <a:off x="2685445" y="3714051"/>
            <a:ext cx="134549" cy="195707"/>
          </a:xfrm>
          <a:prstGeom prst="rect">
            <a:avLst/>
          </a:prstGeom>
        </p:spPr>
      </p:pic>
      <p:sp>
        <p:nvSpPr>
          <p:cNvPr id="22" name="TextBox 21"/>
          <p:cNvSpPr txBox="1"/>
          <p:nvPr/>
        </p:nvSpPr>
        <p:spPr>
          <a:xfrm>
            <a:off x="2860555" y="3724275"/>
            <a:ext cx="8711976" cy="194310"/>
          </a:xfrm>
          <a:prstGeom prst="rect">
            <a:avLst/>
          </a:prstGeom>
          <a:noFill/>
        </p:spPr>
        <p:txBody>
          <a:bodyPr wrap="none" lIns="0" rIns="0" tIns="0" bIns="0">
            <a:spAutoFit/>
          </a:bodyPr>
          <a:lstStyle/>
          <a:p>
            <a:r>
              <a:rPr sz="1150" b="0">
                <a:solidFill>
                  <a:srgbClr val="2E2E2E"/>
                </a:solidFill>
                <a:latin typeface="Calibri"/>
              </a:rPr>
              <a:t>X higher value than high protein / Omega-3 rich segment in 2036. Among crab meat by product claim, organic segment is expected to witness the</a:t>
            </a:r>
          </a:p>
        </p:txBody>
      </p:sp>
      <p:sp>
        <p:nvSpPr>
          <p:cNvPr id="23" name="TextBox 22"/>
          <p:cNvSpPr txBox="1"/>
          <p:nvPr/>
        </p:nvSpPr>
        <p:spPr>
          <a:xfrm>
            <a:off x="276225" y="389953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3889311"/>
            <a:ext cx="134549" cy="195707"/>
          </a:xfrm>
          <a:prstGeom prst="rect">
            <a:avLst/>
          </a:prstGeom>
        </p:spPr>
      </p:pic>
      <p:sp>
        <p:nvSpPr>
          <p:cNvPr id="25" name="TextBox 24"/>
          <p:cNvSpPr txBox="1"/>
          <p:nvPr/>
        </p:nvSpPr>
        <p:spPr>
          <a:xfrm>
            <a:off x="1432841"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6406839" cy="194310"/>
          </a:xfrm>
          <a:prstGeom prst="rect">
            <a:avLst/>
          </a:prstGeom>
          <a:noFill/>
        </p:spPr>
        <p:txBody>
          <a:bodyPr wrap="none" lIns="0" rIns="0" tIns="0" bIns="0">
            <a:spAutoFit/>
          </a:bodyPr>
          <a:lstStyle/>
          <a:p>
            <a:r>
              <a:rPr sz="1150" b="0">
                <a:solidFill>
                  <a:srgbClr val="2E2E2E"/>
                </a:solidFill>
                <a:latin typeface="Calibri"/>
              </a:rPr>
              <a:t>In terms of value share by product claim, the organic segment is expected to dominate the market, gaining</a:t>
            </a:r>
          </a:p>
        </p:txBody>
      </p:sp>
      <p:pic>
        <p:nvPicPr>
          <p:cNvPr id="27" name="Picture 26" descr="lock.png"/>
          <p:cNvPicPr>
            <a:picLocks noChangeAspect="1"/>
          </p:cNvPicPr>
          <p:nvPr/>
        </p:nvPicPr>
        <p:blipFill>
          <a:blip r:embed="rId4"/>
          <a:stretch>
            <a:fillRect/>
          </a:stretch>
        </p:blipFill>
        <p:spPr>
          <a:xfrm>
            <a:off x="6632218" y="4117149"/>
            <a:ext cx="134549" cy="195707"/>
          </a:xfrm>
          <a:prstGeom prst="rect">
            <a:avLst/>
          </a:prstGeom>
        </p:spPr>
      </p:pic>
      <p:sp>
        <p:nvSpPr>
          <p:cNvPr id="28" name="TextBox 27"/>
          <p:cNvSpPr txBox="1"/>
          <p:nvPr/>
        </p:nvSpPr>
        <p:spPr>
          <a:xfrm>
            <a:off x="680732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202471" y="4117149"/>
            <a:ext cx="134549" cy="195707"/>
          </a:xfrm>
          <a:prstGeom prst="rect">
            <a:avLst/>
          </a:prstGeom>
        </p:spPr>
      </p:pic>
      <p:sp>
        <p:nvSpPr>
          <p:cNvPr id="30" name="TextBox 29"/>
          <p:cNvSpPr txBox="1"/>
          <p:nvPr/>
        </p:nvSpPr>
        <p:spPr>
          <a:xfrm>
            <a:off x="8377580" y="4127372"/>
            <a:ext cx="3076785" cy="194310"/>
          </a:xfrm>
          <a:prstGeom prst="rect">
            <a:avLst/>
          </a:prstGeom>
          <a:noFill/>
        </p:spPr>
        <p:txBody>
          <a:bodyPr wrap="none" lIns="0" rIns="0" tIns="0" bIns="0">
            <a:spAutoFit/>
          </a:bodyPr>
          <a:lstStyle/>
          <a:p>
            <a:r>
              <a:rPr sz="1150" b="0">
                <a:solidFill>
                  <a:srgbClr val="2E2E2E"/>
                </a:solidFill>
                <a:latin typeface="Calibri"/>
              </a:rPr>
              <a:t>share by 2036. The sustainably sourced segment is</a:t>
            </a:r>
          </a:p>
        </p:txBody>
      </p:sp>
      <p:sp>
        <p:nvSpPr>
          <p:cNvPr id="31" name="TextBox 30"/>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2" name="Picture 31" descr="lock.png"/>
          <p:cNvPicPr>
            <a:picLocks noChangeAspect="1"/>
          </p:cNvPicPr>
          <p:nvPr/>
        </p:nvPicPr>
        <p:blipFill>
          <a:blip r:embed="rId4"/>
          <a:stretch>
            <a:fillRect/>
          </a:stretch>
        </p:blipFill>
        <p:spPr>
          <a:xfrm>
            <a:off x="1280285" y="4292409"/>
            <a:ext cx="134549" cy="195707"/>
          </a:xfrm>
          <a:prstGeom prst="rect">
            <a:avLst/>
          </a:prstGeom>
        </p:spPr>
      </p:pic>
      <p:sp>
        <p:nvSpPr>
          <p:cNvPr id="33" name="TextBox 32"/>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042898" y="4292409"/>
            <a:ext cx="134549" cy="195707"/>
          </a:xfrm>
          <a:prstGeom prst="rect">
            <a:avLst/>
          </a:prstGeom>
        </p:spPr>
      </p:pic>
      <p:sp>
        <p:nvSpPr>
          <p:cNvPr id="35" name="TextBox 34"/>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Claim</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Claim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Claim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8565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808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046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100% Pure Crab Meat</a:t>
            </a:r>
          </a:p>
        </p:txBody>
      </p:sp>
      <p:sp>
        <p:nvSpPr>
          <p:cNvPr id="18" name="BPS Value 1"/>
          <p:cNvSpPr txBox="1"/>
          <p:nvPr/>
        </p:nvSpPr>
        <p:spPr>
          <a:xfrm>
            <a:off x="6896100" y="17666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2201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1725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410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Sustainably Sourced</a:t>
            </a:r>
          </a:p>
        </p:txBody>
      </p:sp>
      <p:sp>
        <p:nvSpPr>
          <p:cNvPr id="22" name="BPS Value 2"/>
          <p:cNvSpPr txBox="1"/>
          <p:nvPr/>
        </p:nvSpPr>
        <p:spPr>
          <a:xfrm>
            <a:off x="6896100" y="21029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5147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64671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705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Freshly Pasteurized for Extended Shelf Life</a:t>
            </a:r>
          </a:p>
        </p:txBody>
      </p:sp>
      <p:sp>
        <p:nvSpPr>
          <p:cNvPr id="26" name="BPS Value 3"/>
          <p:cNvSpPr txBox="1"/>
          <p:nvPr/>
        </p:nvSpPr>
        <p:spPr>
          <a:xfrm>
            <a:off x="6896100" y="263242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7125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6649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1902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High Protein / Omega-3 Rich</a:t>
            </a:r>
          </a:p>
        </p:txBody>
      </p:sp>
      <p:sp>
        <p:nvSpPr>
          <p:cNvPr id="30" name="BPS Value 4"/>
          <p:cNvSpPr txBox="1"/>
          <p:nvPr/>
        </p:nvSpPr>
        <p:spPr>
          <a:xfrm>
            <a:off x="6896100" y="325220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91358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90882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8326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Organic</a:t>
            </a:r>
          </a:p>
        </p:txBody>
      </p:sp>
      <p:sp>
        <p:nvSpPr>
          <p:cNvPr id="34" name="BPS Value 5"/>
          <p:cNvSpPr txBox="1"/>
          <p:nvPr/>
        </p:nvSpPr>
        <p:spPr>
          <a:xfrm>
            <a:off x="6896100" y="4894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Claim</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product claim, organic segment is expected to</a:t>
            </a:r>
          </a:p>
        </p:txBody>
      </p:sp>
      <p:sp>
        <p:nvSpPr>
          <p:cNvPr id="42" name="TextBox 41"/>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3" name="Picture 42" descr="lock.png"/>
          <p:cNvPicPr>
            <a:picLocks noChangeAspect="1"/>
          </p:cNvPicPr>
          <p:nvPr/>
        </p:nvPicPr>
        <p:blipFill>
          <a:blip r:embed="rId5"/>
          <a:stretch>
            <a:fillRect/>
          </a:stretch>
        </p:blipFill>
        <p:spPr>
          <a:xfrm>
            <a:off x="9526474" y="1565211"/>
            <a:ext cx="134549" cy="195707"/>
          </a:xfrm>
          <a:prstGeom prst="rect">
            <a:avLst/>
          </a:prstGeom>
        </p:spPr>
      </p:pic>
      <p:sp>
        <p:nvSpPr>
          <p:cNvPr id="44" name="TextBox 43"/>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5" name="TextBox 44"/>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of value share by product claim, the organic segment is expected to</a:t>
            </a:r>
          </a:p>
        </p:txBody>
      </p:sp>
      <p:sp>
        <p:nvSpPr>
          <p:cNvPr id="46" name="TextBox 45"/>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7" name="Picture 46" descr="lock.png"/>
          <p:cNvPicPr>
            <a:picLocks noChangeAspect="1"/>
          </p:cNvPicPr>
          <p:nvPr/>
        </p:nvPicPr>
        <p:blipFill>
          <a:blip r:embed="rId5"/>
          <a:stretch>
            <a:fillRect/>
          </a:stretch>
        </p:blipFill>
        <p:spPr>
          <a:xfrm>
            <a:off x="9615776" y="1915731"/>
            <a:ext cx="134549" cy="195707"/>
          </a:xfrm>
          <a:prstGeom prst="rect">
            <a:avLst/>
          </a:prstGeom>
        </p:spPr>
      </p:pic>
      <p:sp>
        <p:nvSpPr>
          <p:cNvPr id="48" name="TextBox 47"/>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11186028" y="1915731"/>
            <a:ext cx="134549" cy="195707"/>
          </a:xfrm>
          <a:prstGeom prst="rect">
            <a:avLst/>
          </a:prstGeom>
        </p:spPr>
      </p:pic>
      <p:sp>
        <p:nvSpPr>
          <p:cNvPr id="50" name="TextBox 49"/>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329053"/>
            <a:ext cx="3185467" cy="194310"/>
          </a:xfrm>
          <a:prstGeom prst="rect">
            <a:avLst/>
          </a:prstGeom>
          <a:noFill/>
        </p:spPr>
        <p:txBody>
          <a:bodyPr wrap="none" lIns="0" rIns="0" tIns="0" bIns="0">
            <a:spAutoFit/>
          </a:bodyPr>
          <a:lstStyle/>
          <a:p>
            <a:r>
              <a:rPr sz="1150" b="0">
                <a:solidFill>
                  <a:srgbClr val="2E2E2E"/>
                </a:solidFill>
                <a:latin typeface="Calibri"/>
              </a:rPr>
              <a:t>The sustainably sourced segment is expected to lose</a:t>
            </a:r>
          </a:p>
        </p:txBody>
      </p:sp>
      <p:pic>
        <p:nvPicPr>
          <p:cNvPr id="52" name="Picture 51" descr="lock.png"/>
          <p:cNvPicPr>
            <a:picLocks noChangeAspect="1"/>
          </p:cNvPicPr>
          <p:nvPr/>
        </p:nvPicPr>
        <p:blipFill>
          <a:blip r:embed="rId5"/>
          <a:stretch>
            <a:fillRect/>
          </a:stretch>
        </p:blipFill>
        <p:spPr>
          <a:xfrm>
            <a:off x="10964171" y="2318829"/>
            <a:ext cx="134549" cy="195707"/>
          </a:xfrm>
          <a:prstGeom prst="rect">
            <a:avLst/>
          </a:prstGeom>
        </p:spPr>
      </p:pic>
      <p:sp>
        <p:nvSpPr>
          <p:cNvPr id="53" name="TextBox 52"/>
          <p:cNvSpPr txBox="1"/>
          <p:nvPr/>
        </p:nvSpPr>
        <p:spPr>
          <a:xfrm>
            <a:off x="11139280"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4" name="TextBox 53"/>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5" name="Picture 54" descr="lock.png"/>
          <p:cNvPicPr>
            <a:picLocks noChangeAspect="1"/>
          </p:cNvPicPr>
          <p:nvPr/>
        </p:nvPicPr>
        <p:blipFill>
          <a:blip r:embed="rId5"/>
          <a:stretch>
            <a:fillRect/>
          </a:stretch>
        </p:blipFill>
        <p:spPr>
          <a:xfrm>
            <a:off x="9861950" y="2494089"/>
            <a:ext cx="134549" cy="195707"/>
          </a:xfrm>
          <a:prstGeom prst="rect">
            <a:avLst/>
          </a:prstGeom>
        </p:spPr>
      </p:pic>
      <p:sp>
        <p:nvSpPr>
          <p:cNvPr id="56" name="TextBox 55"/>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Service</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 B2B processing</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Travel Retail</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7_893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2_945_605E5C.png"/>
          <p:cNvPicPr>
            <a:picLocks noChangeAspect="1"/>
          </p:cNvPicPr>
          <p:nvPr/>
        </p:nvPicPr>
        <p:blipFill>
          <a:blip r:embed="rId5"/>
          <a:stretch>
            <a:fillRect/>
          </a:stretch>
        </p:blipFill>
        <p:spPr>
          <a:xfrm>
            <a:off x="2369684" y="2779432"/>
            <a:ext cx="1409020" cy="361950"/>
          </a:xfrm>
          <a:prstGeom prst="rect">
            <a:avLst/>
          </a:prstGeom>
        </p:spPr>
      </p:pic>
      <p:pic>
        <p:nvPicPr>
          <p:cNvPr id="65" name="Picture 64" descr="5_1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4_643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7_402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4_8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_044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354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2_6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920_1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_499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0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791891" cy="186689"/>
          </a:xfrm>
          <a:prstGeom prst="rect">
            <a:avLst/>
          </a:prstGeom>
          <a:noFill/>
        </p:spPr>
        <p:txBody>
          <a:bodyPr wrap="none" lIns="0" rIns="0" tIns="0" bIns="0">
            <a:spAutoFit/>
          </a:bodyPr>
          <a:lstStyle/>
          <a:p>
            <a:r>
              <a:rPr sz="1100" b="0">
                <a:solidFill>
                  <a:srgbClr val="2E2E2E"/>
                </a:solidFill>
                <a:latin typeface="Calibri"/>
              </a:rPr>
              <a:t>Among crab meat by distribution channel, retail</a:t>
            </a:r>
          </a:p>
        </p:txBody>
      </p:sp>
      <p:sp>
        <p:nvSpPr>
          <p:cNvPr id="80" name="TextBox 79"/>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81" name="TextBox 80"/>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82" name="Picture 81" descr="lock.png"/>
          <p:cNvPicPr>
            <a:picLocks noChangeAspect="1"/>
          </p:cNvPicPr>
          <p:nvPr/>
        </p:nvPicPr>
        <p:blipFill>
          <a:blip r:embed="rId16"/>
          <a:stretch>
            <a:fillRect/>
          </a:stretch>
        </p:blipFill>
        <p:spPr>
          <a:xfrm>
            <a:off x="626261" y="4554938"/>
            <a:ext cx="128699" cy="187198"/>
          </a:xfrm>
          <a:prstGeom prst="rect">
            <a:avLst/>
          </a:prstGeom>
        </p:spPr>
      </p:pic>
      <p:sp>
        <p:nvSpPr>
          <p:cNvPr id="83" name="TextBox 82"/>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share by distribution channel, the retail segment is</a:t>
            </a:r>
          </a:p>
        </p:txBody>
      </p:sp>
      <p:sp>
        <p:nvSpPr>
          <p:cNvPr id="85" name="TextBox 84"/>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900479" y="4890217"/>
            <a:ext cx="128699" cy="187198"/>
          </a:xfrm>
          <a:prstGeom prst="rect">
            <a:avLst/>
          </a:prstGeom>
        </p:spPr>
      </p:pic>
      <p:sp>
        <p:nvSpPr>
          <p:cNvPr id="87" name="TextBox 86"/>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76057" y="5057858"/>
            <a:ext cx="128699" cy="187198"/>
          </a:xfrm>
          <a:prstGeom prst="rect">
            <a:avLst/>
          </a:prstGeom>
        </p:spPr>
      </p:pic>
      <p:sp>
        <p:nvSpPr>
          <p:cNvPr id="90" name="TextBox 89"/>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285569"/>
            <a:ext cx="2241277" cy="186689"/>
          </a:xfrm>
          <a:prstGeom prst="rect">
            <a:avLst/>
          </a:prstGeom>
          <a:noFill/>
        </p:spPr>
        <p:txBody>
          <a:bodyPr wrap="none" lIns="0" rIns="0" tIns="0" bIns="0">
            <a:spAutoFit/>
          </a:bodyPr>
          <a:lstStyle/>
          <a:p>
            <a:r>
              <a:rPr sz="1100" b="0">
                <a:solidFill>
                  <a:srgbClr val="2E2E2E"/>
                </a:solidFill>
                <a:latin typeface="Calibri"/>
              </a:rPr>
              <a:t>Retail segment is projected to register</a:t>
            </a:r>
          </a:p>
        </p:txBody>
      </p:sp>
      <p:pic>
        <p:nvPicPr>
          <p:cNvPr id="92" name="Picture 91" descr="lock.png"/>
          <p:cNvPicPr>
            <a:picLocks noChangeAspect="1"/>
          </p:cNvPicPr>
          <p:nvPr/>
        </p:nvPicPr>
        <p:blipFill>
          <a:blip r:embed="rId16"/>
          <a:stretch>
            <a:fillRect/>
          </a:stretch>
        </p:blipFill>
        <p:spPr>
          <a:xfrm>
            <a:off x="2675103" y="5275790"/>
            <a:ext cx="128699" cy="187198"/>
          </a:xfrm>
          <a:prstGeom prst="rect">
            <a:avLst/>
          </a:prstGeom>
        </p:spPr>
      </p:pic>
      <p:sp>
        <p:nvSpPr>
          <p:cNvPr id="93" name="TextBox 92"/>
          <p:cNvSpPr txBox="1"/>
          <p:nvPr/>
        </p:nvSpPr>
        <p:spPr>
          <a:xfrm>
            <a:off x="2842599" y="528556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94" name="TextBox 93"/>
          <p:cNvSpPr txBox="1"/>
          <p:nvPr/>
        </p:nvSpPr>
        <p:spPr>
          <a:xfrm>
            <a:off x="485775" y="5453209"/>
            <a:ext cx="2407989" cy="186689"/>
          </a:xfrm>
          <a:prstGeom prst="rect">
            <a:avLst/>
          </a:prstGeom>
          <a:noFill/>
        </p:spPr>
        <p:txBody>
          <a:bodyPr wrap="none" lIns="0" rIns="0" tIns="0" bIns="0">
            <a:spAutoFit/>
          </a:bodyPr>
          <a:lstStyle/>
          <a:p>
            <a:r>
              <a:rPr sz="1100" b="0">
                <a:solidFill>
                  <a:srgbClr val="2E2E2E"/>
                </a:solidFill>
                <a:latin typeface="Calibri"/>
              </a:rPr>
              <a:t>value than food service segment in 2036.</a:t>
            </a:r>
          </a:p>
        </p:txBody>
      </p:sp>
      <p:sp>
        <p:nvSpPr>
          <p:cNvPr id="95" name="TextBox 94"/>
          <p:cNvSpPr txBox="1"/>
          <p:nvPr/>
        </p:nvSpPr>
        <p:spPr>
          <a:xfrm>
            <a:off x="3838575" y="4229437"/>
            <a:ext cx="553144" cy="186689"/>
          </a:xfrm>
          <a:prstGeom prst="rect">
            <a:avLst/>
          </a:prstGeom>
          <a:noFill/>
        </p:spPr>
        <p:txBody>
          <a:bodyPr wrap="none" lIns="0" rIns="0" tIns="0" bIns="0">
            <a:spAutoFit/>
          </a:bodyPr>
          <a:lstStyle/>
          <a:p>
            <a:r>
              <a:rPr sz="1100" b="0">
                <a:solidFill>
                  <a:srgbClr val="2E2E2E"/>
                </a:solidFill>
                <a:latin typeface="Calibri"/>
              </a:rPr>
              <a:t>● Retail:</a:t>
            </a:r>
          </a:p>
        </p:txBody>
      </p:sp>
      <p:pic>
        <p:nvPicPr>
          <p:cNvPr id="96" name="Picture 95" descr="lock.png"/>
          <p:cNvPicPr>
            <a:picLocks noChangeAspect="1"/>
          </p:cNvPicPr>
          <p:nvPr/>
        </p:nvPicPr>
        <p:blipFill>
          <a:blip r:embed="rId16"/>
          <a:stretch>
            <a:fillRect/>
          </a:stretch>
        </p:blipFill>
        <p:spPr>
          <a:xfrm>
            <a:off x="4339771" y="4219658"/>
            <a:ext cx="128699" cy="187198"/>
          </a:xfrm>
          <a:prstGeom prst="rect">
            <a:avLst/>
          </a:prstGeom>
        </p:spPr>
      </p:pic>
      <p:sp>
        <p:nvSpPr>
          <p:cNvPr id="97" name="TextBox 96"/>
          <p:cNvSpPr txBox="1"/>
          <p:nvPr/>
        </p:nvSpPr>
        <p:spPr>
          <a:xfrm>
            <a:off x="450726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5366717" y="4219658"/>
            <a:ext cx="128699" cy="187198"/>
          </a:xfrm>
          <a:prstGeom prst="rect">
            <a:avLst/>
          </a:prstGeom>
        </p:spPr>
      </p:pic>
      <p:sp>
        <p:nvSpPr>
          <p:cNvPr id="99" name="TextBox 98"/>
          <p:cNvSpPr txBox="1"/>
          <p:nvPr/>
        </p:nvSpPr>
        <p:spPr>
          <a:xfrm>
            <a:off x="5534212"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952569" cy="186689"/>
          </a:xfrm>
          <a:prstGeom prst="rect">
            <a:avLst/>
          </a:prstGeom>
          <a:noFill/>
        </p:spPr>
        <p:txBody>
          <a:bodyPr wrap="none" lIns="0" rIns="0" tIns="0" bIns="0">
            <a:spAutoFit/>
          </a:bodyPr>
          <a:lstStyle/>
          <a:p>
            <a:r>
              <a:rPr sz="1100" b="0">
                <a:solidFill>
                  <a:srgbClr val="2E2E2E"/>
                </a:solidFill>
                <a:latin typeface="Calibri"/>
              </a:rPr>
              <a:t>● Food Service:</a:t>
            </a:r>
          </a:p>
        </p:txBody>
      </p:sp>
      <p:pic>
        <p:nvPicPr>
          <p:cNvPr id="101" name="Picture 100" descr="lock.png"/>
          <p:cNvPicPr>
            <a:picLocks noChangeAspect="1"/>
          </p:cNvPicPr>
          <p:nvPr/>
        </p:nvPicPr>
        <p:blipFill>
          <a:blip r:embed="rId16"/>
          <a:stretch>
            <a:fillRect/>
          </a:stretch>
        </p:blipFill>
        <p:spPr>
          <a:xfrm>
            <a:off x="4739195" y="4437590"/>
            <a:ext cx="128699" cy="187198"/>
          </a:xfrm>
          <a:prstGeom prst="rect">
            <a:avLst/>
          </a:prstGeom>
        </p:spPr>
      </p:pic>
      <p:sp>
        <p:nvSpPr>
          <p:cNvPr id="102" name="TextBox 101"/>
          <p:cNvSpPr txBox="1"/>
          <p:nvPr/>
        </p:nvSpPr>
        <p:spPr>
          <a:xfrm>
            <a:off x="4906691"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6"/>
          <a:stretch>
            <a:fillRect/>
          </a:stretch>
        </p:blipFill>
        <p:spPr>
          <a:xfrm>
            <a:off x="5766142" y="4437590"/>
            <a:ext cx="128699" cy="187198"/>
          </a:xfrm>
          <a:prstGeom prst="rect">
            <a:avLst/>
          </a:prstGeom>
        </p:spPr>
      </p:pic>
      <p:sp>
        <p:nvSpPr>
          <p:cNvPr id="104" name="TextBox 103"/>
          <p:cNvSpPr txBox="1"/>
          <p:nvPr/>
        </p:nvSpPr>
        <p:spPr>
          <a:xfrm>
            <a:off x="593363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1743868" cy="186689"/>
          </a:xfrm>
          <a:prstGeom prst="rect">
            <a:avLst/>
          </a:prstGeom>
          <a:noFill/>
        </p:spPr>
        <p:txBody>
          <a:bodyPr wrap="none" lIns="0" rIns="0" tIns="0" bIns="0">
            <a:spAutoFit/>
          </a:bodyPr>
          <a:lstStyle/>
          <a:p>
            <a:r>
              <a:rPr sz="1100" b="0">
                <a:solidFill>
                  <a:srgbClr val="2E2E2E"/>
                </a:solidFill>
                <a:latin typeface="Calibri"/>
              </a:rPr>
              <a:t>● Industrial / B2B processing:</a:t>
            </a:r>
          </a:p>
        </p:txBody>
      </p:sp>
      <p:pic>
        <p:nvPicPr>
          <p:cNvPr id="106" name="Picture 105" descr="lock.png"/>
          <p:cNvPicPr>
            <a:picLocks noChangeAspect="1"/>
          </p:cNvPicPr>
          <p:nvPr/>
        </p:nvPicPr>
        <p:blipFill>
          <a:blip r:embed="rId16"/>
          <a:stretch>
            <a:fillRect/>
          </a:stretch>
        </p:blipFill>
        <p:spPr>
          <a:xfrm>
            <a:off x="5530495" y="4655522"/>
            <a:ext cx="128699" cy="187198"/>
          </a:xfrm>
          <a:prstGeom prst="rect">
            <a:avLst/>
          </a:prstGeom>
        </p:spPr>
      </p:pic>
      <p:sp>
        <p:nvSpPr>
          <p:cNvPr id="107" name="TextBox 106"/>
          <p:cNvSpPr txBox="1"/>
          <p:nvPr/>
        </p:nvSpPr>
        <p:spPr>
          <a:xfrm>
            <a:off x="569799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6"/>
          <a:stretch>
            <a:fillRect/>
          </a:stretch>
        </p:blipFill>
        <p:spPr>
          <a:xfrm>
            <a:off x="6557441" y="4655522"/>
            <a:ext cx="128699" cy="187198"/>
          </a:xfrm>
          <a:prstGeom prst="rect">
            <a:avLst/>
          </a:prstGeom>
        </p:spPr>
      </p:pic>
      <p:sp>
        <p:nvSpPr>
          <p:cNvPr id="109" name="TextBox 108"/>
          <p:cNvSpPr txBox="1"/>
          <p:nvPr/>
        </p:nvSpPr>
        <p:spPr>
          <a:xfrm>
            <a:off x="6724937" y="466530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0" name="TextBox 109"/>
          <p:cNvSpPr txBox="1"/>
          <p:nvPr/>
        </p:nvSpPr>
        <p:spPr>
          <a:xfrm>
            <a:off x="3838575" y="483294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1" name="TextBox 110"/>
          <p:cNvSpPr txBox="1"/>
          <p:nvPr/>
        </p:nvSpPr>
        <p:spPr>
          <a:xfrm>
            <a:off x="3838575" y="5050872"/>
            <a:ext cx="933499" cy="186689"/>
          </a:xfrm>
          <a:prstGeom prst="rect">
            <a:avLst/>
          </a:prstGeom>
          <a:noFill/>
        </p:spPr>
        <p:txBody>
          <a:bodyPr wrap="none" lIns="0" rIns="0" tIns="0" bIns="0">
            <a:spAutoFit/>
          </a:bodyPr>
          <a:lstStyle/>
          <a:p>
            <a:r>
              <a:rPr sz="1100" b="0">
                <a:solidFill>
                  <a:srgbClr val="2E2E2E"/>
                </a:solidFill>
                <a:latin typeface="Calibri"/>
              </a:rPr>
              <a:t>● Travel Retail:</a:t>
            </a:r>
          </a:p>
        </p:txBody>
      </p:sp>
      <p:pic>
        <p:nvPicPr>
          <p:cNvPr id="112" name="Picture 111" descr="lock.png"/>
          <p:cNvPicPr>
            <a:picLocks noChangeAspect="1"/>
          </p:cNvPicPr>
          <p:nvPr/>
        </p:nvPicPr>
        <p:blipFill>
          <a:blip r:embed="rId16"/>
          <a:stretch>
            <a:fillRect/>
          </a:stretch>
        </p:blipFill>
        <p:spPr>
          <a:xfrm>
            <a:off x="4720126" y="5041093"/>
            <a:ext cx="128699" cy="187198"/>
          </a:xfrm>
          <a:prstGeom prst="rect">
            <a:avLst/>
          </a:prstGeom>
        </p:spPr>
      </p:pic>
      <p:sp>
        <p:nvSpPr>
          <p:cNvPr id="113" name="TextBox 112"/>
          <p:cNvSpPr txBox="1"/>
          <p:nvPr/>
        </p:nvSpPr>
        <p:spPr>
          <a:xfrm>
            <a:off x="4887622"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6"/>
          <a:stretch>
            <a:fillRect/>
          </a:stretch>
        </p:blipFill>
        <p:spPr>
          <a:xfrm>
            <a:off x="5747072" y="5041093"/>
            <a:ext cx="128699" cy="187198"/>
          </a:xfrm>
          <a:prstGeom prst="rect">
            <a:avLst/>
          </a:prstGeom>
        </p:spPr>
      </p:pic>
      <p:sp>
        <p:nvSpPr>
          <p:cNvPr id="115" name="TextBox 114"/>
          <p:cNvSpPr txBox="1"/>
          <p:nvPr/>
        </p:nvSpPr>
        <p:spPr>
          <a:xfrm>
            <a:off x="5914568"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17" name="TextBox 11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18" name="Picture 117" descr="lock.png"/>
          <p:cNvPicPr>
            <a:picLocks noChangeAspect="1"/>
          </p:cNvPicPr>
          <p:nvPr/>
        </p:nvPicPr>
        <p:blipFill>
          <a:blip r:embed="rId16"/>
          <a:stretch>
            <a:fillRect/>
          </a:stretch>
        </p:blipFill>
        <p:spPr>
          <a:xfrm>
            <a:off x="9651852" y="6007677"/>
            <a:ext cx="134549" cy="195707"/>
          </a:xfrm>
          <a:prstGeom prst="rect">
            <a:avLst/>
          </a:prstGeom>
        </p:spPr>
      </p:pic>
      <p:sp>
        <p:nvSpPr>
          <p:cNvPr id="119" name="TextBox 11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68707" cy="186689"/>
          </a:xfrm>
          <a:prstGeom prst="rect">
            <a:avLst/>
          </a:prstGeom>
          <a:noFill/>
        </p:spPr>
        <p:txBody>
          <a:bodyPr wrap="none" lIns="0" rIns="0" tIns="0" bIns="0">
            <a:spAutoFit/>
          </a:bodyPr>
          <a:lstStyle/>
          <a:p>
            <a:r>
              <a:rPr sz="1100" b="0">
                <a:solidFill>
                  <a:srgbClr val="2E2E2E"/>
                </a:solidFill>
                <a:latin typeface="Calibri"/>
              </a:rPr>
              <a:t>Retail followed by food service are expected to be the two most attractive distribution channel segments in the global crab meat market in terms of value over the forecast period. Retail and food service</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394075" cy="186689"/>
          </a:xfrm>
          <a:prstGeom prst="rect">
            <a:avLst/>
          </a:prstGeom>
          <a:noFill/>
        </p:spPr>
        <p:txBody>
          <a:bodyPr wrap="none" lIns="0" rIns="0" tIns="0" bIns="0">
            <a:spAutoFit/>
          </a:bodyPr>
          <a:lstStyle/>
          <a:p>
            <a:r>
              <a:rPr sz="1100" b="0">
                <a:solidFill>
                  <a:srgbClr val="2E2E2E"/>
                </a:solidFill>
                <a:latin typeface="Calibri"/>
              </a:rPr>
              <a:t>. The industrial / B2B processing segment is expected to be less attractive as</a:t>
            </a:r>
          </a:p>
        </p:txBody>
      </p:sp>
      <p:sp>
        <p:nvSpPr>
          <p:cNvPr id="31" name="TextBox 30"/>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Industrial / B2B processing</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Food Service</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Retail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Travel Retail</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Distribution Channel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2" name="Table 11"/>
          <p:cNvGraphicFramePr>
            <a:graphicFrameLocks noGrp="1"/>
          </p:cNvGraphicFramePr>
          <p:nvPr/>
        </p:nvGraphicFramePr>
        <p:xfrm>
          <a:off x="152400" y="1238250"/>
          <a:ext cx="11887206" cy="3200406"/>
        </p:xfrm>
        <a:graphic>
          <a:graphicData uri="http://schemas.openxmlformats.org/drawingml/2006/table">
            <a:tbl>
              <a:tblPr>
                <a:tableStyleId>{5C22544A-7EE6-4342-B048-85BDC9FD1C3A}</a:tableStyleId>
              </a:tblPr>
              <a:tblGrid>
                <a:gridCol w="2005514"/>
                <a:gridCol w="581276"/>
                <a:gridCol w="581276"/>
                <a:gridCol w="581276"/>
                <a:gridCol w="581276"/>
                <a:gridCol w="581276"/>
                <a:gridCol w="581276"/>
                <a:gridCol w="581276"/>
                <a:gridCol w="581276"/>
                <a:gridCol w="581276"/>
                <a:gridCol w="581276"/>
                <a:gridCol w="581276"/>
                <a:gridCol w="581276"/>
                <a:gridCol w="581276"/>
                <a:gridCol w="581276"/>
                <a:gridCol w="581276"/>
                <a:gridCol w="581276"/>
                <a:gridCol w="58127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Industrial / B2B processing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Food Service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HoReCa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Quick service restaurants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Sandwicheries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Fast casual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Cafés and Coffee shops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Institutional / Hospitals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Hypermarket / Supermarket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Convenience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Departmental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912070" y="2694815"/>
            <a:ext cx="366712" cy="5334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Distribution Channel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2" name="Table 11"/>
          <p:cNvGraphicFramePr>
            <a:graphicFrameLocks noGrp="1"/>
          </p:cNvGraphicFramePr>
          <p:nvPr/>
        </p:nvGraphicFramePr>
        <p:xfrm>
          <a:off x="152400" y="1238250"/>
          <a:ext cx="11887194" cy="1724022"/>
        </p:xfrm>
        <a:graphic>
          <a:graphicData uri="http://schemas.openxmlformats.org/drawingml/2006/table">
            <a:tbl>
              <a:tblPr>
                <a:tableStyleId>{5C22544A-7EE6-4342-B048-85BDC9FD1C3A}</a:tableStyleId>
              </a:tblPr>
              <a:tblGrid>
                <a:gridCol w="1484911"/>
                <a:gridCol w="611899"/>
                <a:gridCol w="611899"/>
                <a:gridCol w="611899"/>
                <a:gridCol w="611899"/>
                <a:gridCol w="611899"/>
                <a:gridCol w="611899"/>
                <a:gridCol w="611899"/>
                <a:gridCol w="611899"/>
                <a:gridCol w="611899"/>
                <a:gridCol w="611899"/>
                <a:gridCol w="611899"/>
                <a:gridCol w="611899"/>
                <a:gridCol w="611899"/>
                <a:gridCol w="611899"/>
                <a:gridCol w="611899"/>
                <a:gridCol w="611899"/>
                <a:gridCol w="611899"/>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 Grocery Retailers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Specialty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Discount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Online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Travel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14,500</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23,200</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4.8%</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Distribution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51762" y="1956623"/>
            <a:ext cx="366712" cy="533400"/>
          </a:xfrm>
          <a:prstGeom prst="rect">
            <a:avLst/>
          </a:prstGeom>
        </p:spPr>
      </p:pic>
      <p:sp>
        <p:nvSpPr>
          <p:cNvPr id="20" name="TextBox 19"/>
          <p:cNvSpPr txBox="1"/>
          <p:nvPr/>
        </p:nvSpPr>
        <p:spPr>
          <a:xfrm>
            <a:off x="276225" y="3724275"/>
            <a:ext cx="2339689" cy="194310"/>
          </a:xfrm>
          <a:prstGeom prst="rect">
            <a:avLst/>
          </a:prstGeom>
          <a:noFill/>
        </p:spPr>
        <p:txBody>
          <a:bodyPr wrap="none" lIns="0" rIns="0" tIns="0" bIns="0">
            <a:spAutoFit/>
          </a:bodyPr>
          <a:lstStyle/>
          <a:p>
            <a:r>
              <a:rPr sz="1150" b="0">
                <a:solidFill>
                  <a:srgbClr val="2E2E2E"/>
                </a:solidFill>
                <a:latin typeface="Calibri"/>
              </a:rPr>
              <a:t>Retail segment is projected to register</a:t>
            </a:r>
          </a:p>
        </p:txBody>
      </p:sp>
      <p:pic>
        <p:nvPicPr>
          <p:cNvPr id="21" name="Picture 20" descr="lock.png"/>
          <p:cNvPicPr>
            <a:picLocks noChangeAspect="1"/>
          </p:cNvPicPr>
          <p:nvPr/>
        </p:nvPicPr>
        <p:blipFill>
          <a:blip r:embed="rId4"/>
          <a:stretch>
            <a:fillRect/>
          </a:stretch>
        </p:blipFill>
        <p:spPr>
          <a:xfrm>
            <a:off x="2565068" y="3714051"/>
            <a:ext cx="134549" cy="195707"/>
          </a:xfrm>
          <a:prstGeom prst="rect">
            <a:avLst/>
          </a:prstGeom>
        </p:spPr>
      </p:pic>
      <p:sp>
        <p:nvSpPr>
          <p:cNvPr id="22" name="TextBox 21"/>
          <p:cNvSpPr txBox="1"/>
          <p:nvPr/>
        </p:nvSpPr>
        <p:spPr>
          <a:xfrm>
            <a:off x="2740177" y="3724275"/>
            <a:ext cx="9021459" cy="194310"/>
          </a:xfrm>
          <a:prstGeom prst="rect">
            <a:avLst/>
          </a:prstGeom>
          <a:noFill/>
        </p:spPr>
        <p:txBody>
          <a:bodyPr wrap="none" lIns="0" rIns="0" tIns="0" bIns="0">
            <a:spAutoFit/>
          </a:bodyPr>
          <a:lstStyle/>
          <a:p>
            <a:r>
              <a:rPr sz="1150" b="0">
                <a:solidFill>
                  <a:srgbClr val="2E2E2E"/>
                </a:solidFill>
                <a:latin typeface="Calibri"/>
              </a:rPr>
              <a:t>X higher value than food service segment in 2036. Among crab meat by distribution channel, retail segment is expected to witness the highest CAGR of</a:t>
            </a:r>
          </a:p>
        </p:txBody>
      </p:sp>
      <p:pic>
        <p:nvPicPr>
          <p:cNvPr id="23" name="Picture 22" descr="lock.png"/>
          <p:cNvPicPr>
            <a:picLocks noChangeAspect="1"/>
          </p:cNvPicPr>
          <p:nvPr/>
        </p:nvPicPr>
        <p:blipFill>
          <a:blip r:embed="rId4"/>
          <a:stretch>
            <a:fillRect/>
          </a:stretch>
        </p:blipFill>
        <p:spPr>
          <a:xfrm>
            <a:off x="262145" y="3889311"/>
            <a:ext cx="134549" cy="195707"/>
          </a:xfrm>
          <a:prstGeom prst="rect">
            <a:avLst/>
          </a:prstGeom>
        </p:spPr>
      </p:pic>
      <p:sp>
        <p:nvSpPr>
          <p:cNvPr id="24" name="TextBox 23"/>
          <p:cNvSpPr txBox="1"/>
          <p:nvPr/>
        </p:nvSpPr>
        <p:spPr>
          <a:xfrm>
            <a:off x="437254"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127372"/>
            <a:ext cx="6652443"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retail segment is expected to dominate the market, gaining</a:t>
            </a:r>
          </a:p>
        </p:txBody>
      </p:sp>
      <p:pic>
        <p:nvPicPr>
          <p:cNvPr id="26" name="Picture 25" descr="lock.png"/>
          <p:cNvPicPr>
            <a:picLocks noChangeAspect="1"/>
          </p:cNvPicPr>
          <p:nvPr/>
        </p:nvPicPr>
        <p:blipFill>
          <a:blip r:embed="rId4"/>
          <a:stretch>
            <a:fillRect/>
          </a:stretch>
        </p:blipFill>
        <p:spPr>
          <a:xfrm>
            <a:off x="6877822" y="4117149"/>
            <a:ext cx="134549" cy="195707"/>
          </a:xfrm>
          <a:prstGeom prst="rect">
            <a:avLst/>
          </a:prstGeom>
        </p:spPr>
      </p:pic>
      <p:sp>
        <p:nvSpPr>
          <p:cNvPr id="27" name="TextBox 26"/>
          <p:cNvSpPr txBox="1"/>
          <p:nvPr/>
        </p:nvSpPr>
        <p:spPr>
          <a:xfrm>
            <a:off x="7052931"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448074" y="4117149"/>
            <a:ext cx="134549" cy="195707"/>
          </a:xfrm>
          <a:prstGeom prst="rect">
            <a:avLst/>
          </a:prstGeom>
        </p:spPr>
      </p:pic>
      <p:sp>
        <p:nvSpPr>
          <p:cNvPr id="29" name="TextBox 28"/>
          <p:cNvSpPr txBox="1"/>
          <p:nvPr/>
        </p:nvSpPr>
        <p:spPr>
          <a:xfrm>
            <a:off x="8623184" y="4127372"/>
            <a:ext cx="2813211" cy="194310"/>
          </a:xfrm>
          <a:prstGeom prst="rect">
            <a:avLst/>
          </a:prstGeom>
          <a:noFill/>
        </p:spPr>
        <p:txBody>
          <a:bodyPr wrap="none" lIns="0" rIns="0" tIns="0" bIns="0">
            <a:spAutoFit/>
          </a:bodyPr>
          <a:lstStyle/>
          <a:p>
            <a:r>
              <a:rPr sz="1150" b="0">
                <a:solidFill>
                  <a:srgbClr val="2E2E2E"/>
                </a:solidFill>
                <a:latin typeface="Calibri"/>
              </a:rPr>
              <a:t>share by 2036. The industrial / B2B processing</a:t>
            </a:r>
          </a:p>
        </p:txBody>
      </p:sp>
      <p:sp>
        <p:nvSpPr>
          <p:cNvPr id="30" name="TextBox 29"/>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1" name="Picture 30" descr="lock.png"/>
          <p:cNvPicPr>
            <a:picLocks noChangeAspect="1"/>
          </p:cNvPicPr>
          <p:nvPr/>
        </p:nvPicPr>
        <p:blipFill>
          <a:blip r:embed="rId4"/>
          <a:stretch>
            <a:fillRect/>
          </a:stretch>
        </p:blipFill>
        <p:spPr>
          <a:xfrm>
            <a:off x="1950917" y="4292409"/>
            <a:ext cx="134549" cy="195707"/>
          </a:xfrm>
          <a:prstGeom prst="rect">
            <a:avLst/>
          </a:prstGeom>
        </p:spPr>
      </p:pic>
      <p:sp>
        <p:nvSpPr>
          <p:cNvPr id="32" name="TextBox 31"/>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4713530" y="4292409"/>
            <a:ext cx="134549" cy="195707"/>
          </a:xfrm>
          <a:prstGeom prst="rect">
            <a:avLst/>
          </a:prstGeom>
        </p:spPr>
      </p:pic>
      <p:sp>
        <p:nvSpPr>
          <p:cNvPr id="34" name="TextBox 33"/>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0467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9990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237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 B2B processing</a:t>
            </a:r>
          </a:p>
        </p:txBody>
      </p:sp>
      <p:sp>
        <p:nvSpPr>
          <p:cNvPr id="18" name="BPS Value 1"/>
          <p:cNvSpPr txBox="1"/>
          <p:nvPr/>
        </p:nvSpPr>
        <p:spPr>
          <a:xfrm>
            <a:off x="6896100" y="178562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08582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08106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048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Travel Retail</a:t>
            </a:r>
          </a:p>
        </p:txBody>
      </p:sp>
      <p:sp>
        <p:nvSpPr>
          <p:cNvPr id="22" name="BPS Value 2"/>
          <p:cNvSpPr txBox="1"/>
          <p:nvPr/>
        </p:nvSpPr>
        <p:spPr>
          <a:xfrm>
            <a:off x="6896100" y="206677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96298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9582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8820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Service</a:t>
            </a:r>
          </a:p>
        </p:txBody>
      </p:sp>
      <p:sp>
        <p:nvSpPr>
          <p:cNvPr id="26" name="BPS Value 3"/>
          <p:cNvSpPr txBox="1"/>
          <p:nvPr/>
        </p:nvSpPr>
        <p:spPr>
          <a:xfrm>
            <a:off x="6896100" y="29439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9680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96326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88706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a:t>
            </a:r>
          </a:p>
        </p:txBody>
      </p:sp>
      <p:sp>
        <p:nvSpPr>
          <p:cNvPr id="30" name="BPS Value 4"/>
          <p:cNvSpPr txBox="1"/>
          <p:nvPr/>
        </p:nvSpPr>
        <p:spPr>
          <a:xfrm>
            <a:off x="6896100" y="494897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Distribution Channel</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585964" cy="194310"/>
          </a:xfrm>
          <a:prstGeom prst="rect">
            <a:avLst/>
          </a:prstGeom>
          <a:noFill/>
        </p:spPr>
        <p:txBody>
          <a:bodyPr wrap="none" lIns="0" rIns="0" tIns="0" bIns="0">
            <a:spAutoFit/>
          </a:bodyPr>
          <a:lstStyle/>
          <a:p>
            <a:r>
              <a:rPr sz="1150" b="0">
                <a:solidFill>
                  <a:srgbClr val="2E2E2E"/>
                </a:solidFill>
                <a:latin typeface="Calibri"/>
              </a:rPr>
              <a:t>Among crab meat by distribution channel, retail segment is</a:t>
            </a:r>
          </a:p>
        </p:txBody>
      </p:sp>
      <p:sp>
        <p:nvSpPr>
          <p:cNvPr id="38" name="TextBox 3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9" name="Picture 38" descr="lock.png"/>
          <p:cNvPicPr>
            <a:picLocks noChangeAspect="1"/>
          </p:cNvPicPr>
          <p:nvPr/>
        </p:nvPicPr>
        <p:blipFill>
          <a:blip r:embed="rId5"/>
          <a:stretch>
            <a:fillRect/>
          </a:stretch>
        </p:blipFill>
        <p:spPr>
          <a:xfrm>
            <a:off x="10264711" y="1565211"/>
            <a:ext cx="134549" cy="195707"/>
          </a:xfrm>
          <a:prstGeom prst="rect">
            <a:avLst/>
          </a:prstGeom>
        </p:spPr>
      </p:pic>
      <p:sp>
        <p:nvSpPr>
          <p:cNvPr id="40" name="TextBox 3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3907445" cy="194310"/>
          </a:xfrm>
          <a:prstGeom prst="rect">
            <a:avLst/>
          </a:prstGeom>
          <a:noFill/>
        </p:spPr>
        <p:txBody>
          <a:bodyPr wrap="none" lIns="0" rIns="0" tIns="0" bIns="0">
            <a:spAutoFit/>
          </a:bodyPr>
          <a:lstStyle/>
          <a:p>
            <a:r>
              <a:rPr sz="1150" b="0">
                <a:solidFill>
                  <a:srgbClr val="2E2E2E"/>
                </a:solidFill>
                <a:latin typeface="Calibri"/>
              </a:rPr>
              <a:t>period. In terms of value share by distribution channel, the retail</a:t>
            </a:r>
          </a:p>
        </p:txBody>
      </p:sp>
      <p:sp>
        <p:nvSpPr>
          <p:cNvPr id="42" name="TextBox 41"/>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3" name="Picture 42" descr="lock.png"/>
          <p:cNvPicPr>
            <a:picLocks noChangeAspect="1"/>
          </p:cNvPicPr>
          <p:nvPr/>
        </p:nvPicPr>
        <p:blipFill>
          <a:blip r:embed="rId5"/>
          <a:stretch>
            <a:fillRect/>
          </a:stretch>
        </p:blipFill>
        <p:spPr>
          <a:xfrm>
            <a:off x="11024645" y="1915731"/>
            <a:ext cx="134549" cy="195707"/>
          </a:xfrm>
          <a:prstGeom prst="rect">
            <a:avLst/>
          </a:prstGeom>
        </p:spPr>
      </p:pic>
      <p:sp>
        <p:nvSpPr>
          <p:cNvPr id="44" name="TextBox 43"/>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5" name="TextBox 4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6" name="Picture 45" descr="lock.png"/>
          <p:cNvPicPr>
            <a:picLocks noChangeAspect="1"/>
          </p:cNvPicPr>
          <p:nvPr/>
        </p:nvPicPr>
        <p:blipFill>
          <a:blip r:embed="rId5"/>
          <a:stretch>
            <a:fillRect/>
          </a:stretch>
        </p:blipFill>
        <p:spPr>
          <a:xfrm>
            <a:off x="8712947" y="2090991"/>
            <a:ext cx="134549" cy="195707"/>
          </a:xfrm>
          <a:prstGeom prst="rect">
            <a:avLst/>
          </a:prstGeom>
        </p:spPr>
      </p:pic>
      <p:sp>
        <p:nvSpPr>
          <p:cNvPr id="47" name="TextBox 4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329053"/>
            <a:ext cx="3592524" cy="194310"/>
          </a:xfrm>
          <a:prstGeom prst="rect">
            <a:avLst/>
          </a:prstGeom>
          <a:noFill/>
        </p:spPr>
        <p:txBody>
          <a:bodyPr wrap="none" lIns="0" rIns="0" tIns="0" bIns="0">
            <a:spAutoFit/>
          </a:bodyPr>
          <a:lstStyle/>
          <a:p>
            <a:r>
              <a:rPr sz="1150" b="0">
                <a:solidFill>
                  <a:srgbClr val="2E2E2E"/>
                </a:solidFill>
                <a:latin typeface="Calibri"/>
              </a:rPr>
              <a:t>The industrial / B2B processing segment is expected to lose</a:t>
            </a:r>
          </a:p>
        </p:txBody>
      </p:sp>
      <p:pic>
        <p:nvPicPr>
          <p:cNvPr id="49" name="Picture 48" descr="lock.png"/>
          <p:cNvPicPr>
            <a:picLocks noChangeAspect="1"/>
          </p:cNvPicPr>
          <p:nvPr/>
        </p:nvPicPr>
        <p:blipFill>
          <a:blip r:embed="rId5"/>
          <a:stretch>
            <a:fillRect/>
          </a:stretch>
        </p:blipFill>
        <p:spPr>
          <a:xfrm>
            <a:off x="11371228" y="2318829"/>
            <a:ext cx="134549" cy="195707"/>
          </a:xfrm>
          <a:prstGeom prst="rect">
            <a:avLst/>
          </a:prstGeom>
        </p:spPr>
      </p:pic>
      <p:sp>
        <p:nvSpPr>
          <p:cNvPr id="50" name="TextBox 49"/>
          <p:cNvSpPr txBox="1"/>
          <p:nvPr/>
        </p:nvSpPr>
        <p:spPr>
          <a:xfrm>
            <a:off x="11546338"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1" name="TextBox 50"/>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2" name="Picture 51" descr="lock.png"/>
          <p:cNvPicPr>
            <a:picLocks noChangeAspect="1"/>
          </p:cNvPicPr>
          <p:nvPr/>
        </p:nvPicPr>
        <p:blipFill>
          <a:blip r:embed="rId5"/>
          <a:stretch>
            <a:fillRect/>
          </a:stretch>
        </p:blipFill>
        <p:spPr>
          <a:xfrm>
            <a:off x="10161752" y="2494089"/>
            <a:ext cx="134549" cy="195707"/>
          </a:xfrm>
          <a:prstGeom prst="rect">
            <a:avLst/>
          </a:prstGeom>
        </p:spPr>
      </p:pic>
      <p:sp>
        <p:nvSpPr>
          <p:cNvPr id="53" name="TextBox 52"/>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17360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2478405"/>
            <a:ext cx="7239000" cy="514350"/>
          </a:xfrm>
          <a:prstGeom prst="rect">
            <a:avLst/>
          </a:prstGeom>
          <a:noFill/>
        </p:spPr>
        <p:txBody>
          <a:bodyPr wrap="square" lIns="0" rIns="0" tIns="0">
            <a:spAutoFit/>
          </a:bodyPr>
          <a:lstStyle/>
          <a:p>
            <a:r>
              <a:rPr sz="3000" b="1" cap="all" spc="400">
                <a:solidFill>
                  <a:srgbClr val="FFFFFF"/>
                </a:solidFill>
                <a:latin typeface="Calibri"/>
              </a:rPr>
              <a:t>Europe Market Outlook</a:t>
            </a:r>
          </a:p>
        </p:txBody>
      </p:sp>
      <p:sp>
        <p:nvSpPr>
          <p:cNvPr id="7" name="TextBox 6"/>
          <p:cNvSpPr txBox="1"/>
          <p:nvPr/>
        </p:nvSpPr>
        <p:spPr>
          <a:xfrm>
            <a:off x="914400" y="3183255"/>
            <a:ext cx="7124700" cy="29298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Europe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Europe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Europe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Crab Species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Meat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Claim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Europe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Summary, By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Europe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2973238" cy="194310"/>
          </a:xfrm>
          <a:prstGeom prst="rect">
            <a:avLst/>
          </a:prstGeom>
          <a:noFill/>
        </p:spPr>
        <p:txBody>
          <a:bodyPr wrap="none" lIns="0" rIns="0" tIns="0" bIns="0">
            <a:spAutoFit/>
          </a:bodyPr>
          <a:lstStyle/>
          <a:p>
            <a:r>
              <a:rPr sz="1150" b="0">
                <a:solidFill>
                  <a:srgbClr val="2E2E2E"/>
                </a:solidFill>
                <a:latin typeface="Calibri"/>
              </a:rPr>
              <a:t>Europe crab meat market is projected to register</a:t>
            </a:r>
          </a:p>
        </p:txBody>
      </p:sp>
      <p:pic>
        <p:nvPicPr>
          <p:cNvPr id="35" name="Picture 34" descr="lock.png"/>
          <p:cNvPicPr>
            <a:picLocks noChangeAspect="1"/>
          </p:cNvPicPr>
          <p:nvPr/>
        </p:nvPicPr>
        <p:blipFill>
          <a:blip r:embed="rId6"/>
          <a:stretch>
            <a:fillRect/>
          </a:stretch>
        </p:blipFill>
        <p:spPr>
          <a:xfrm>
            <a:off x="10971017" y="2036763"/>
            <a:ext cx="134549" cy="195707"/>
          </a:xfrm>
          <a:prstGeom prst="rect">
            <a:avLst/>
          </a:prstGeom>
        </p:spPr>
      </p:pic>
      <p:sp>
        <p:nvSpPr>
          <p:cNvPr id="36" name="TextBox 35"/>
          <p:cNvSpPr txBox="1"/>
          <p:nvPr/>
        </p:nvSpPr>
        <p:spPr>
          <a:xfrm>
            <a:off x="11146126" y="2046987"/>
            <a:ext cx="680938" cy="194310"/>
          </a:xfrm>
          <a:prstGeom prst="rect">
            <a:avLst/>
          </a:prstGeom>
          <a:noFill/>
        </p:spPr>
        <p:txBody>
          <a:bodyPr wrap="none" lIns="0" rIns="0" tIns="0" bIns="0">
            <a:spAutoFit/>
          </a:bodyPr>
          <a:lstStyle/>
          <a:p>
            <a:r>
              <a:rPr sz="1150" b="0">
                <a:solidFill>
                  <a:srgbClr val="2E2E2E"/>
                </a:solidFill>
                <a:latin typeface="Calibri"/>
              </a:rPr>
              <a:t>X increase</a:t>
            </a:r>
          </a:p>
        </p:txBody>
      </p:sp>
      <p:sp>
        <p:nvSpPr>
          <p:cNvPr id="37" name="TextBox 36"/>
          <p:cNvSpPr txBox="1"/>
          <p:nvPr/>
        </p:nvSpPr>
        <p:spPr>
          <a:xfrm>
            <a:off x="8048625" y="2222247"/>
            <a:ext cx="3848100" cy="194310"/>
          </a:xfrm>
          <a:prstGeom prst="rect">
            <a:avLst/>
          </a:prstGeom>
          <a:noFill/>
        </p:spPr>
        <p:txBody>
          <a:bodyPr wrap="none" lIns="0" rIns="0" tIns="0" bIns="0">
            <a:spAutoFit/>
          </a:bodyPr>
          <a:lstStyle/>
          <a:p>
            <a:r>
              <a:rPr sz="1150" b="0">
                <a:solidFill>
                  <a:srgbClr val="2E2E2E"/>
                </a:solidFill>
                <a:latin typeface="Calibri"/>
              </a:rPr>
              <a:t>in volume by the end of forecast period, 2036. Europe crab meat</a:t>
            </a:r>
          </a:p>
        </p:txBody>
      </p:sp>
      <p:sp>
        <p:nvSpPr>
          <p:cNvPr id="38" name="TextBox 37"/>
          <p:cNvSpPr txBox="1"/>
          <p:nvPr/>
        </p:nvSpPr>
        <p:spPr>
          <a:xfrm>
            <a:off x="8048625" y="2397507"/>
            <a:ext cx="1499902" cy="194310"/>
          </a:xfrm>
          <a:prstGeom prst="rect">
            <a:avLst/>
          </a:prstGeom>
          <a:noFill/>
        </p:spPr>
        <p:txBody>
          <a:bodyPr wrap="none" lIns="0" rIns="0" tIns="0" bIns="0">
            <a:spAutoFit/>
          </a:bodyPr>
          <a:lstStyle/>
          <a:p>
            <a:r>
              <a:rPr sz="1150" b="0">
                <a:solidFill>
                  <a:srgbClr val="2E2E2E"/>
                </a:solidFill>
                <a:latin typeface="Calibri"/>
              </a:rPr>
              <a:t>market volume stood at</a:t>
            </a:r>
          </a:p>
        </p:txBody>
      </p:sp>
      <p:pic>
        <p:nvPicPr>
          <p:cNvPr id="39" name="Picture 38" descr="lock.png"/>
          <p:cNvPicPr>
            <a:picLocks noChangeAspect="1"/>
          </p:cNvPicPr>
          <p:nvPr/>
        </p:nvPicPr>
        <p:blipFill>
          <a:blip r:embed="rId6"/>
          <a:stretch>
            <a:fillRect/>
          </a:stretch>
        </p:blipFill>
        <p:spPr>
          <a:xfrm>
            <a:off x="9497681" y="2387283"/>
            <a:ext cx="134549" cy="195707"/>
          </a:xfrm>
          <a:prstGeom prst="rect">
            <a:avLst/>
          </a:prstGeom>
        </p:spPr>
      </p:pic>
      <p:sp>
        <p:nvSpPr>
          <p:cNvPr id="40" name="TextBox 39"/>
          <p:cNvSpPr txBox="1"/>
          <p:nvPr/>
        </p:nvSpPr>
        <p:spPr>
          <a:xfrm>
            <a:off x="9672790" y="2397507"/>
            <a:ext cx="1864171" cy="194310"/>
          </a:xfrm>
          <a:prstGeom prst="rect">
            <a:avLst/>
          </a:prstGeom>
          <a:noFill/>
        </p:spPr>
        <p:txBody>
          <a:bodyPr wrap="none" lIns="0" rIns="0" tIns="0" bIns="0">
            <a:spAutoFit/>
          </a:bodyPr>
          <a:lstStyle/>
          <a:p>
            <a:r>
              <a:rPr sz="1150" b="0">
                <a:solidFill>
                  <a:srgbClr val="2E2E2E"/>
                </a:solidFill>
                <a:latin typeface="Calibri"/>
              </a:rPr>
              <a:t>MT in 2025 and is expected to</a:t>
            </a:r>
          </a:p>
        </p:txBody>
      </p:sp>
      <p:sp>
        <p:nvSpPr>
          <p:cNvPr id="41" name="TextBox 40"/>
          <p:cNvSpPr txBox="1"/>
          <p:nvPr/>
        </p:nvSpPr>
        <p:spPr>
          <a:xfrm>
            <a:off x="8048625" y="2572767"/>
            <a:ext cx="408520" cy="194310"/>
          </a:xfrm>
          <a:prstGeom prst="rect">
            <a:avLst/>
          </a:prstGeom>
          <a:noFill/>
        </p:spPr>
        <p:txBody>
          <a:bodyPr wrap="none" lIns="0" rIns="0" tIns="0" bIns="0">
            <a:spAutoFit/>
          </a:bodyPr>
          <a:lstStyle/>
          <a:p>
            <a:r>
              <a:rPr sz="1150" b="0">
                <a:solidFill>
                  <a:srgbClr val="2E2E2E"/>
                </a:solidFill>
                <a:latin typeface="Calibri"/>
              </a:rPr>
              <a:t>reach</a:t>
            </a:r>
          </a:p>
        </p:txBody>
      </p:sp>
      <p:pic>
        <p:nvPicPr>
          <p:cNvPr id="42" name="Picture 41" descr="lock.png"/>
          <p:cNvPicPr>
            <a:picLocks noChangeAspect="1"/>
          </p:cNvPicPr>
          <p:nvPr/>
        </p:nvPicPr>
        <p:blipFill>
          <a:blip r:embed="rId6"/>
          <a:stretch>
            <a:fillRect/>
          </a:stretch>
        </p:blipFill>
        <p:spPr>
          <a:xfrm>
            <a:off x="8406299" y="2562543"/>
            <a:ext cx="134549" cy="195707"/>
          </a:xfrm>
          <a:prstGeom prst="rect">
            <a:avLst/>
          </a:prstGeom>
        </p:spPr>
      </p:pic>
      <p:sp>
        <p:nvSpPr>
          <p:cNvPr id="43" name="TextBox 42"/>
          <p:cNvSpPr txBox="1"/>
          <p:nvPr/>
        </p:nvSpPr>
        <p:spPr>
          <a:xfrm>
            <a:off x="8581409" y="2572767"/>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4" name="Picture 43" descr="lock.png"/>
          <p:cNvPicPr>
            <a:picLocks noChangeAspect="1"/>
          </p:cNvPicPr>
          <p:nvPr/>
        </p:nvPicPr>
        <p:blipFill>
          <a:blip r:embed="rId6"/>
          <a:stretch>
            <a:fillRect/>
          </a:stretch>
        </p:blipFill>
        <p:spPr>
          <a:xfrm>
            <a:off x="10381024" y="2562543"/>
            <a:ext cx="134549" cy="195707"/>
          </a:xfrm>
          <a:prstGeom prst="rect">
            <a:avLst/>
          </a:prstGeom>
        </p:spPr>
      </p:pic>
      <p:sp>
        <p:nvSpPr>
          <p:cNvPr id="45" name="TextBox 44"/>
          <p:cNvSpPr txBox="1"/>
          <p:nvPr/>
        </p:nvSpPr>
        <p:spPr>
          <a:xfrm>
            <a:off x="10556133" y="257276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8048625" y="2800604"/>
            <a:ext cx="3842122"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a:t>
            </a:r>
          </a:p>
        </p:txBody>
      </p:sp>
      <p:sp>
        <p:nvSpPr>
          <p:cNvPr id="47" name="TextBox 46"/>
          <p:cNvSpPr txBox="1"/>
          <p:nvPr/>
        </p:nvSpPr>
        <p:spPr>
          <a:xfrm>
            <a:off x="8048625" y="2975864"/>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48" name="TextBox 47"/>
          <p:cNvSpPr txBox="1"/>
          <p:nvPr/>
        </p:nvSpPr>
        <p:spPr>
          <a:xfrm>
            <a:off x="8048625" y="4456475"/>
            <a:ext cx="2242703" cy="194310"/>
          </a:xfrm>
          <a:prstGeom prst="rect">
            <a:avLst/>
          </a:prstGeom>
          <a:noFill/>
        </p:spPr>
        <p:txBody>
          <a:bodyPr wrap="none" lIns="0" rIns="0" tIns="0" bIns="0">
            <a:spAutoFit/>
          </a:bodyPr>
          <a:lstStyle/>
          <a:p>
            <a:r>
              <a:rPr sz="1150" b="0">
                <a:solidFill>
                  <a:srgbClr val="2E2E2E"/>
                </a:solidFill>
                <a:latin typeface="Calibri"/>
              </a:rPr>
              <a:t>▪ 'Germany' leads regional growth at</a:t>
            </a:r>
          </a:p>
        </p:txBody>
      </p:sp>
      <p:pic>
        <p:nvPicPr>
          <p:cNvPr id="49" name="Picture 48" descr="lock.png"/>
          <p:cNvPicPr>
            <a:picLocks noChangeAspect="1"/>
          </p:cNvPicPr>
          <p:nvPr/>
        </p:nvPicPr>
        <p:blipFill>
          <a:blip r:embed="rId6"/>
          <a:stretch>
            <a:fillRect/>
          </a:stretch>
        </p:blipFill>
        <p:spPr>
          <a:xfrm>
            <a:off x="10240482" y="4446251"/>
            <a:ext cx="134549" cy="195707"/>
          </a:xfrm>
          <a:prstGeom prst="rect">
            <a:avLst/>
          </a:prstGeom>
        </p:spPr>
      </p:pic>
      <p:sp>
        <p:nvSpPr>
          <p:cNvPr id="50" name="TextBox 49"/>
          <p:cNvSpPr txBox="1"/>
          <p:nvPr/>
        </p:nvSpPr>
        <p:spPr>
          <a:xfrm>
            <a:off x="10415591"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504951" cy="194310"/>
          </a:xfrm>
          <a:prstGeom prst="rect">
            <a:avLst/>
          </a:prstGeom>
          <a:noFill/>
        </p:spPr>
        <p:txBody>
          <a:bodyPr wrap="none" lIns="0" rIns="0" tIns="0" bIns="0">
            <a:spAutoFit/>
          </a:bodyPr>
          <a:lstStyle/>
          <a:p>
            <a:r>
              <a:rPr sz="1150" b="0">
                <a:solidFill>
                  <a:srgbClr val="2E2E2E"/>
                </a:solidFill>
                <a:latin typeface="Calibri"/>
              </a:rPr>
              <a:t>▪ Demand concentrates in 'King Crab' within Crab Species.</a:t>
            </a:r>
          </a:p>
        </p:txBody>
      </p:sp>
      <p:sp>
        <p:nvSpPr>
          <p:cNvPr id="52" name="TextBox 51"/>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Crab Species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241425" y="1723436"/>
            <a:ext cx="0" cy="48895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21239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172343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1854157"/>
            <a:ext cx="438150" cy="24417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22350" y="197901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7103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409825" y="2752894"/>
            <a:ext cx="0" cy="30599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75289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834795"/>
            <a:ext cx="438150" cy="15278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2190750" y="291295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600494"/>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578225" y="1662416"/>
            <a:ext cx="0" cy="49938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216180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796035"/>
            <a:ext cx="438150" cy="24935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3359150" y="192358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1001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746625" y="2323663"/>
            <a:ext cx="0" cy="38053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27041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232366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2425496"/>
            <a:ext cx="438150" cy="19002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527550" y="252270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2171263"/>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915025" y="2243916"/>
            <a:ext cx="0" cy="39228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263620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22439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2348866"/>
            <a:ext cx="438150" cy="19587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695950" y="244905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209151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7083425" y="2372746"/>
            <a:ext cx="0" cy="37423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7469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3727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472767"/>
            <a:ext cx="438150" cy="18686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64350" y="256831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22034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Blue Crab</a:t>
            </a:r>
          </a:p>
        </p:txBody>
      </p:sp>
      <p:sp>
        <p:nvSpPr>
          <p:cNvPr id="63" name="TextBox 62"/>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King Crab</a:t>
            </a:r>
          </a:p>
        </p:txBody>
      </p:sp>
      <p:sp>
        <p:nvSpPr>
          <p:cNvPr id="64" name="TextBox 63"/>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Snow Crab</a:t>
            </a:r>
          </a:p>
        </p:txBody>
      </p:sp>
      <p:sp>
        <p:nvSpPr>
          <p:cNvPr id="65" name="TextBox 64"/>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Dungeness Crab</a:t>
            </a:r>
          </a:p>
        </p:txBody>
      </p:sp>
      <p:sp>
        <p:nvSpPr>
          <p:cNvPr id="66" name="TextBox 65"/>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Mud Crab</a:t>
            </a:r>
          </a:p>
        </p:txBody>
      </p:sp>
      <p:sp>
        <p:nvSpPr>
          <p:cNvPr id="67" name="TextBox 66"/>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Other commercially tr…</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Europe  ·  2026–2036</a:t>
            </a:r>
          </a:p>
        </p:txBody>
      </p:sp>
      <p:cxnSp>
        <p:nvCxnSpPr>
          <p:cNvPr id="70" name="Connector 69"/>
          <p:cNvCxnSpPr/>
          <p:nvPr/>
        </p:nvCxnSpPr>
        <p:spPr>
          <a:xfrm>
            <a:off x="619125" y="43250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324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54715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59545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25023"/>
            <a:ext cx="0" cy="1629505"/>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250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3240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54715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595452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138112" y="4258348"/>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+5.6%</a:t>
            </a:r>
          </a:p>
        </p:txBody>
      </p:sp>
      <p:sp>
        <p:nvSpPr>
          <p:cNvPr id="82" name="FMI Scale tick"/>
          <p:cNvSpPr txBox="1"/>
          <p:nvPr/>
        </p:nvSpPr>
        <p:spPr>
          <a:xfrm>
            <a:off x="138112" y="4665725"/>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+2.8%</a:t>
            </a:r>
          </a:p>
        </p:txBody>
      </p:sp>
      <p:sp>
        <p:nvSpPr>
          <p:cNvPr id="83" name="FMI Scale tick"/>
          <p:cNvSpPr txBox="1"/>
          <p:nvPr/>
        </p:nvSpPr>
        <p:spPr>
          <a:xfrm>
            <a:off x="66675" y="5073101"/>
            <a:ext cx="514350" cy="133350"/>
          </a:xfrm>
          <a:prstGeom prst="rect">
            <a:avLst/>
          </a:prstGeom>
          <a:noFill/>
        </p:spPr>
        <p:txBody>
          <a:bodyPr wrap="square" lIns="28575" rIns="28575" tIns="9525" bIns="9525" anchor="ctr">
            <a:spAutoFit/>
          </a:bodyPr>
          <a:lstStyle/>
          <a:p>
            <a:pPr algn="r"/>
            <a:r>
              <a:rPr sz="1100" b="1">
                <a:solidFill>
                  <a:srgbClr val="6C7A89"/>
                </a:solidFill>
                <a:latin typeface="Calibri"/>
              </a:rPr>
              <a:t>Europe</a:t>
            </a:r>
          </a:p>
        </p:txBody>
      </p:sp>
      <p:sp>
        <p:nvSpPr>
          <p:cNvPr id="84" name="FMI Scale tick"/>
          <p:cNvSpPr txBox="1"/>
          <p:nvPr/>
        </p:nvSpPr>
        <p:spPr>
          <a:xfrm>
            <a:off x="164306" y="5480477"/>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-2.8%</a:t>
            </a:r>
          </a:p>
        </p:txBody>
      </p:sp>
      <p:sp>
        <p:nvSpPr>
          <p:cNvPr id="85" name="FMI Scale tick"/>
          <p:cNvSpPr txBox="1"/>
          <p:nvPr/>
        </p:nvSpPr>
        <p:spPr>
          <a:xfrm>
            <a:off x="164306" y="5887853"/>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-5.6%</a:t>
            </a:r>
          </a:p>
        </p:txBody>
      </p:sp>
      <p:cxnSp>
        <p:nvCxnSpPr>
          <p:cNvPr id="86" name="Connector 8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718979" y="4857025"/>
            <a:ext cx="387668" cy="28275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MI Data Label"/>
          <p:cNvSpPr txBox="1"/>
          <p:nvPr/>
        </p:nvSpPr>
        <p:spPr>
          <a:xfrm>
            <a:off x="619125" y="4714150"/>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Rectangle 88"/>
          <p:cNvSpPr/>
          <p:nvPr/>
        </p:nvSpPr>
        <p:spPr>
          <a:xfrm>
            <a:off x="1306354" y="5139776"/>
            <a:ext cx="387668" cy="40556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MI Data Label"/>
          <p:cNvSpPr txBox="1"/>
          <p:nvPr/>
        </p:nvSpPr>
        <p:spPr>
          <a:xfrm>
            <a:off x="1206500" y="5554862"/>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1" name="Rectangle 90"/>
          <p:cNvSpPr/>
          <p:nvPr/>
        </p:nvSpPr>
        <p:spPr>
          <a:xfrm>
            <a:off x="1893729" y="5139776"/>
            <a:ext cx="387668" cy="18631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MI Data Label"/>
          <p:cNvSpPr txBox="1"/>
          <p:nvPr/>
        </p:nvSpPr>
        <p:spPr>
          <a:xfrm>
            <a:off x="1793875" y="5335616"/>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3" name="Rectangle 92"/>
          <p:cNvSpPr/>
          <p:nvPr/>
        </p:nvSpPr>
        <p:spPr>
          <a:xfrm>
            <a:off x="2481104" y="5055176"/>
            <a:ext cx="387668" cy="84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MI Data Label"/>
          <p:cNvSpPr txBox="1"/>
          <p:nvPr/>
        </p:nvSpPr>
        <p:spPr>
          <a:xfrm>
            <a:off x="2381250" y="4912301"/>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5" name="Rectangle 94"/>
          <p:cNvSpPr/>
          <p:nvPr/>
        </p:nvSpPr>
        <p:spPr>
          <a:xfrm>
            <a:off x="3068479" y="5139776"/>
            <a:ext cx="387668" cy="13968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MI Data Label"/>
          <p:cNvSpPr txBox="1"/>
          <p:nvPr/>
        </p:nvSpPr>
        <p:spPr>
          <a:xfrm>
            <a:off x="2968625" y="5288983"/>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7" name="Rectangle 96"/>
          <p:cNvSpPr/>
          <p:nvPr/>
        </p:nvSpPr>
        <p:spPr>
          <a:xfrm>
            <a:off x="3655854" y="5139776"/>
            <a:ext cx="387668" cy="3324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MI Data Label"/>
          <p:cNvSpPr txBox="1"/>
          <p:nvPr/>
        </p:nvSpPr>
        <p:spPr>
          <a:xfrm>
            <a:off x="3556000" y="5182546"/>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9" name="Rectangle 98"/>
          <p:cNvSpPr/>
          <p:nvPr/>
        </p:nvSpPr>
        <p:spPr>
          <a:xfrm>
            <a:off x="4243229" y="5139776"/>
            <a:ext cx="387668" cy="71631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MI Data Label"/>
          <p:cNvSpPr txBox="1"/>
          <p:nvPr/>
        </p:nvSpPr>
        <p:spPr>
          <a:xfrm>
            <a:off x="4143375" y="5865619"/>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1" name="Rectangle 100"/>
          <p:cNvSpPr/>
          <p:nvPr/>
        </p:nvSpPr>
        <p:spPr>
          <a:xfrm>
            <a:off x="4830604" y="5139776"/>
            <a:ext cx="387668" cy="45627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MI Data Label"/>
          <p:cNvSpPr txBox="1"/>
          <p:nvPr/>
        </p:nvSpPr>
        <p:spPr>
          <a:xfrm>
            <a:off x="4730750" y="5605575"/>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3" name="Rectangle 102"/>
          <p:cNvSpPr/>
          <p:nvPr/>
        </p:nvSpPr>
        <p:spPr>
          <a:xfrm>
            <a:off x="5417979" y="4629456"/>
            <a:ext cx="387668" cy="51031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MI Data Label"/>
          <p:cNvSpPr txBox="1"/>
          <p:nvPr/>
        </p:nvSpPr>
        <p:spPr>
          <a:xfrm>
            <a:off x="5318125" y="4486581"/>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5" name="Rectangle 104"/>
          <p:cNvSpPr/>
          <p:nvPr/>
        </p:nvSpPr>
        <p:spPr>
          <a:xfrm>
            <a:off x="6005354" y="5139776"/>
            <a:ext cx="387668" cy="2645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MI Data Label"/>
          <p:cNvSpPr txBox="1"/>
          <p:nvPr/>
        </p:nvSpPr>
        <p:spPr>
          <a:xfrm>
            <a:off x="5905500" y="5175753"/>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7" name="Rectangle 106"/>
          <p:cNvSpPr/>
          <p:nvPr/>
        </p:nvSpPr>
        <p:spPr>
          <a:xfrm>
            <a:off x="6592729" y="4757902"/>
            <a:ext cx="387668" cy="38187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MI Data Label"/>
          <p:cNvSpPr txBox="1"/>
          <p:nvPr/>
        </p:nvSpPr>
        <p:spPr>
          <a:xfrm>
            <a:off x="6492875" y="4615027"/>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9" name="Rectangle 108"/>
          <p:cNvSpPr/>
          <p:nvPr/>
        </p:nvSpPr>
        <p:spPr>
          <a:xfrm>
            <a:off x="7180104" y="4773485"/>
            <a:ext cx="387668" cy="3662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MI Data Label"/>
          <p:cNvSpPr txBox="1"/>
          <p:nvPr/>
        </p:nvSpPr>
        <p:spPr>
          <a:xfrm>
            <a:off x="7080250" y="4630610"/>
            <a:ext cx="587375"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1" name="TextBox 110"/>
          <p:cNvSpPr txBox="1"/>
          <p:nvPr/>
        </p:nvSpPr>
        <p:spPr>
          <a:xfrm>
            <a:off x="603250" y="6135380"/>
            <a:ext cx="619125" cy="247650"/>
          </a:xfrm>
          <a:prstGeom prst="rect">
            <a:avLst/>
          </a:prstGeom>
          <a:noFill/>
        </p:spPr>
        <p:txBody>
          <a:bodyPr wrap="square" lIns="28575" rIns="28575" tIns="9525" bIns="9525">
            <a:spAutoFit/>
          </a:bodyPr>
          <a:lstStyle/>
          <a:p>
            <a:pPr algn="ctr"/>
            <a:r>
              <a:rPr sz="1100" b="0">
                <a:solidFill>
                  <a:srgbClr val="2E2E2E"/>
                </a:solidFill>
                <a:latin typeface="Calibri"/>
              </a:rPr>
              <a:t>Germany</a:t>
            </a:r>
          </a:p>
        </p:txBody>
      </p:sp>
      <p:sp>
        <p:nvSpPr>
          <p:cNvPr id="112" name="TextBox 111"/>
          <p:cNvSpPr txBox="1"/>
          <p:nvPr/>
        </p:nvSpPr>
        <p:spPr>
          <a:xfrm>
            <a:off x="1206500" y="6135380"/>
            <a:ext cx="587375" cy="247650"/>
          </a:xfrm>
          <a:prstGeom prst="rect">
            <a:avLst/>
          </a:prstGeom>
          <a:noFill/>
        </p:spPr>
        <p:txBody>
          <a:bodyPr wrap="none" lIns="0" rIns="0" tIns="0" bIns="0">
            <a:spAutoFit/>
          </a:bodyPr>
          <a:lstStyle/>
          <a:p>
            <a:pPr algn="ctr"/>
            <a:r>
              <a:rPr sz="1100" b="0">
                <a:solidFill>
                  <a:srgbClr val="2E2E2E"/>
                </a:solidFill>
                <a:latin typeface="Calibri"/>
              </a:rPr>
              <a:t>U.K.</a:t>
            </a:r>
          </a:p>
        </p:txBody>
      </p:sp>
      <p:sp>
        <p:nvSpPr>
          <p:cNvPr id="113" name="TextBox 112"/>
          <p:cNvSpPr txBox="1"/>
          <p:nvPr/>
        </p:nvSpPr>
        <p:spPr>
          <a:xfrm>
            <a:off x="1793875"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France</a:t>
            </a:r>
          </a:p>
        </p:txBody>
      </p:sp>
      <p:sp>
        <p:nvSpPr>
          <p:cNvPr id="114" name="TextBox 113"/>
          <p:cNvSpPr txBox="1"/>
          <p:nvPr/>
        </p:nvSpPr>
        <p:spPr>
          <a:xfrm>
            <a:off x="2381250"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Italy</a:t>
            </a:r>
          </a:p>
        </p:txBody>
      </p:sp>
      <p:sp>
        <p:nvSpPr>
          <p:cNvPr id="115" name="TextBox 114"/>
          <p:cNvSpPr txBox="1"/>
          <p:nvPr/>
        </p:nvSpPr>
        <p:spPr>
          <a:xfrm>
            <a:off x="2968625"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Spain</a:t>
            </a:r>
          </a:p>
        </p:txBody>
      </p:sp>
      <p:sp>
        <p:nvSpPr>
          <p:cNvPr id="116" name="TextBox 115"/>
          <p:cNvSpPr txBox="1"/>
          <p:nvPr/>
        </p:nvSpPr>
        <p:spPr>
          <a:xfrm>
            <a:off x="3556000"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Belgium</a:t>
            </a:r>
          </a:p>
        </p:txBody>
      </p:sp>
      <p:sp>
        <p:nvSpPr>
          <p:cNvPr id="117" name="TextBox 116"/>
          <p:cNvSpPr txBox="1"/>
          <p:nvPr/>
        </p:nvSpPr>
        <p:spPr>
          <a:xfrm>
            <a:off x="4038203" y="6135380"/>
            <a:ext cx="797719" cy="247650"/>
          </a:xfrm>
          <a:prstGeom prst="rect">
            <a:avLst/>
          </a:prstGeom>
          <a:noFill/>
        </p:spPr>
        <p:txBody>
          <a:bodyPr wrap="square" lIns="28575" rIns="28575" tIns="9525" bIns="9525">
            <a:spAutoFit/>
          </a:bodyPr>
          <a:lstStyle/>
          <a:p>
            <a:pPr algn="ctr"/>
            <a:r>
              <a:rPr sz="1100" b="0">
                <a:solidFill>
                  <a:srgbClr val="2E2E2E"/>
                </a:solidFill>
                <a:latin typeface="Calibri"/>
              </a:rPr>
              <a:t>Netherlands</a:t>
            </a:r>
          </a:p>
        </p:txBody>
      </p:sp>
      <p:sp>
        <p:nvSpPr>
          <p:cNvPr id="118" name="TextBox 117"/>
          <p:cNvSpPr txBox="1"/>
          <p:nvPr/>
        </p:nvSpPr>
        <p:spPr>
          <a:xfrm>
            <a:off x="4730750"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Nordic</a:t>
            </a:r>
          </a:p>
        </p:txBody>
      </p:sp>
      <p:sp>
        <p:nvSpPr>
          <p:cNvPr id="119" name="TextBox 118"/>
          <p:cNvSpPr txBox="1"/>
          <p:nvPr/>
        </p:nvSpPr>
        <p:spPr>
          <a:xfrm>
            <a:off x="5318125"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Russia</a:t>
            </a:r>
          </a:p>
        </p:txBody>
      </p:sp>
      <p:sp>
        <p:nvSpPr>
          <p:cNvPr id="120" name="TextBox 119"/>
          <p:cNvSpPr txBox="1"/>
          <p:nvPr/>
        </p:nvSpPr>
        <p:spPr>
          <a:xfrm>
            <a:off x="5905500"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Poland</a:t>
            </a:r>
          </a:p>
        </p:txBody>
      </p:sp>
      <p:sp>
        <p:nvSpPr>
          <p:cNvPr id="121" name="TextBox 120"/>
          <p:cNvSpPr txBox="1"/>
          <p:nvPr/>
        </p:nvSpPr>
        <p:spPr>
          <a:xfrm>
            <a:off x="6405562" y="6135380"/>
            <a:ext cx="762000" cy="247650"/>
          </a:xfrm>
          <a:prstGeom prst="rect">
            <a:avLst/>
          </a:prstGeom>
          <a:noFill/>
        </p:spPr>
        <p:txBody>
          <a:bodyPr wrap="square" lIns="28575" rIns="28575" tIns="9525" bIns="9525">
            <a:spAutoFit/>
          </a:bodyPr>
          <a:lstStyle/>
          <a:p>
            <a:pPr algn="ctr"/>
            <a:r>
              <a:rPr sz="1100" b="0">
                <a:solidFill>
                  <a:srgbClr val="2E2E2E"/>
                </a:solidFill>
                <a:latin typeface="Calibri"/>
              </a:rPr>
              <a:t>Switzerland</a:t>
            </a:r>
          </a:p>
        </p:txBody>
      </p:sp>
      <p:sp>
        <p:nvSpPr>
          <p:cNvPr id="122" name="TextBox 121"/>
          <p:cNvSpPr txBox="1"/>
          <p:nvPr/>
        </p:nvSpPr>
        <p:spPr>
          <a:xfrm>
            <a:off x="7080250" y="6135380"/>
            <a:ext cx="587375" cy="247650"/>
          </a:xfrm>
          <a:prstGeom prst="rect">
            <a:avLst/>
          </a:prstGeom>
          <a:noFill/>
        </p:spPr>
        <p:txBody>
          <a:bodyPr wrap="square" lIns="28575" rIns="28575" tIns="9525" bIns="9525">
            <a:spAutoFit/>
          </a:bodyPr>
          <a:lstStyle/>
          <a:p>
            <a:pPr algn="ctr"/>
            <a:r>
              <a:rPr sz="1100" b="0">
                <a:solidFill>
                  <a:srgbClr val="2E2E2E"/>
                </a:solidFill>
                <a:latin typeface="Calibri"/>
              </a:rPr>
              <a:t>Rest of Europe</a:t>
            </a:r>
          </a:p>
        </p:txBody>
      </p:sp>
      <p:sp>
        <p:nvSpPr>
          <p:cNvPr id="123" name="Rounded Rectangle 122"/>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25" name="Rectangle 124"/>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27" name="TextBox 1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8" name="Picture 127" descr="lock.png"/>
          <p:cNvPicPr>
            <a:picLocks noChangeAspect="1"/>
          </p:cNvPicPr>
          <p:nvPr/>
        </p:nvPicPr>
        <p:blipFill>
          <a:blip r:embed="rId4"/>
          <a:stretch>
            <a:fillRect/>
          </a:stretch>
        </p:blipFill>
        <p:spPr>
          <a:xfrm>
            <a:off x="1177075" y="1544112"/>
            <a:ext cx="128699" cy="187198"/>
          </a:xfrm>
          <a:prstGeom prst="rect">
            <a:avLst/>
          </a:prstGeom>
        </p:spPr>
      </p:pic>
      <p:pic>
        <p:nvPicPr>
          <p:cNvPr id="129" name="Picture 128" descr="lock.png"/>
          <p:cNvPicPr>
            <a:picLocks noChangeAspect="1"/>
          </p:cNvPicPr>
          <p:nvPr/>
        </p:nvPicPr>
        <p:blipFill>
          <a:blip r:embed="rId4"/>
          <a:stretch>
            <a:fillRect/>
          </a:stretch>
        </p:blipFill>
        <p:spPr>
          <a:xfrm>
            <a:off x="2345475" y="2573570"/>
            <a:ext cx="128699" cy="187198"/>
          </a:xfrm>
          <a:prstGeom prst="rect">
            <a:avLst/>
          </a:prstGeom>
        </p:spPr>
      </p:pic>
      <p:pic>
        <p:nvPicPr>
          <p:cNvPr id="130" name="Picture 129" descr="lock.png"/>
          <p:cNvPicPr>
            <a:picLocks noChangeAspect="1"/>
          </p:cNvPicPr>
          <p:nvPr/>
        </p:nvPicPr>
        <p:blipFill>
          <a:blip r:embed="rId4"/>
          <a:stretch>
            <a:fillRect/>
          </a:stretch>
        </p:blipFill>
        <p:spPr>
          <a:xfrm>
            <a:off x="3513875" y="1483092"/>
            <a:ext cx="128699" cy="187198"/>
          </a:xfrm>
          <a:prstGeom prst="rect">
            <a:avLst/>
          </a:prstGeom>
        </p:spPr>
      </p:pic>
      <p:pic>
        <p:nvPicPr>
          <p:cNvPr id="131" name="Picture 130" descr="lock.png"/>
          <p:cNvPicPr>
            <a:picLocks noChangeAspect="1"/>
          </p:cNvPicPr>
          <p:nvPr/>
        </p:nvPicPr>
        <p:blipFill>
          <a:blip r:embed="rId4"/>
          <a:stretch>
            <a:fillRect/>
          </a:stretch>
        </p:blipFill>
        <p:spPr>
          <a:xfrm>
            <a:off x="4682275" y="2144339"/>
            <a:ext cx="128699" cy="187198"/>
          </a:xfrm>
          <a:prstGeom prst="rect">
            <a:avLst/>
          </a:prstGeom>
        </p:spPr>
      </p:pic>
      <p:pic>
        <p:nvPicPr>
          <p:cNvPr id="132" name="Picture 131" descr="lock.png"/>
          <p:cNvPicPr>
            <a:picLocks noChangeAspect="1"/>
          </p:cNvPicPr>
          <p:nvPr/>
        </p:nvPicPr>
        <p:blipFill>
          <a:blip r:embed="rId4"/>
          <a:stretch>
            <a:fillRect/>
          </a:stretch>
        </p:blipFill>
        <p:spPr>
          <a:xfrm>
            <a:off x="5850675" y="2064592"/>
            <a:ext cx="128699" cy="187198"/>
          </a:xfrm>
          <a:prstGeom prst="rect">
            <a:avLst/>
          </a:prstGeom>
        </p:spPr>
      </p:pic>
      <p:pic>
        <p:nvPicPr>
          <p:cNvPr id="133" name="Picture 132" descr="lock.png"/>
          <p:cNvPicPr>
            <a:picLocks noChangeAspect="1"/>
          </p:cNvPicPr>
          <p:nvPr/>
        </p:nvPicPr>
        <p:blipFill>
          <a:blip r:embed="rId4"/>
          <a:stretch>
            <a:fillRect/>
          </a:stretch>
        </p:blipFill>
        <p:spPr>
          <a:xfrm>
            <a:off x="7019075" y="2193422"/>
            <a:ext cx="128699" cy="187198"/>
          </a:xfrm>
          <a:prstGeom prst="rect">
            <a:avLst/>
          </a:prstGeom>
        </p:spPr>
      </p:pic>
      <p:pic>
        <p:nvPicPr>
          <p:cNvPr id="134" name="Picture 133" descr="lock.png"/>
          <p:cNvPicPr>
            <a:picLocks noChangeAspect="1"/>
          </p:cNvPicPr>
          <p:nvPr/>
        </p:nvPicPr>
        <p:blipFill>
          <a:blip r:embed="rId4"/>
          <a:stretch>
            <a:fillRect/>
          </a:stretch>
        </p:blipFill>
        <p:spPr>
          <a:xfrm>
            <a:off x="848463" y="4687226"/>
            <a:ext cx="128699" cy="187198"/>
          </a:xfrm>
          <a:prstGeom prst="rect">
            <a:avLst/>
          </a:prstGeom>
        </p:spPr>
      </p:pic>
      <p:pic>
        <p:nvPicPr>
          <p:cNvPr id="135" name="Picture 134" descr="lock.png"/>
          <p:cNvPicPr>
            <a:picLocks noChangeAspect="1"/>
          </p:cNvPicPr>
          <p:nvPr/>
        </p:nvPicPr>
        <p:blipFill>
          <a:blip r:embed="rId4"/>
          <a:stretch>
            <a:fillRect/>
          </a:stretch>
        </p:blipFill>
        <p:spPr>
          <a:xfrm>
            <a:off x="1435838" y="5527938"/>
            <a:ext cx="128699" cy="187198"/>
          </a:xfrm>
          <a:prstGeom prst="rect">
            <a:avLst/>
          </a:prstGeom>
        </p:spPr>
      </p:pic>
      <p:pic>
        <p:nvPicPr>
          <p:cNvPr id="136" name="Picture 135" descr="lock.png"/>
          <p:cNvPicPr>
            <a:picLocks noChangeAspect="1"/>
          </p:cNvPicPr>
          <p:nvPr/>
        </p:nvPicPr>
        <p:blipFill>
          <a:blip r:embed="rId4"/>
          <a:stretch>
            <a:fillRect/>
          </a:stretch>
        </p:blipFill>
        <p:spPr>
          <a:xfrm>
            <a:off x="2023213" y="5308692"/>
            <a:ext cx="128699" cy="187198"/>
          </a:xfrm>
          <a:prstGeom prst="rect">
            <a:avLst/>
          </a:prstGeom>
        </p:spPr>
      </p:pic>
      <p:pic>
        <p:nvPicPr>
          <p:cNvPr id="137" name="Picture 136" descr="lock.png"/>
          <p:cNvPicPr>
            <a:picLocks noChangeAspect="1"/>
          </p:cNvPicPr>
          <p:nvPr/>
        </p:nvPicPr>
        <p:blipFill>
          <a:blip r:embed="rId4"/>
          <a:stretch>
            <a:fillRect/>
          </a:stretch>
        </p:blipFill>
        <p:spPr>
          <a:xfrm>
            <a:off x="2610588" y="4885376"/>
            <a:ext cx="128699" cy="187198"/>
          </a:xfrm>
          <a:prstGeom prst="rect">
            <a:avLst/>
          </a:prstGeom>
        </p:spPr>
      </p:pic>
      <p:pic>
        <p:nvPicPr>
          <p:cNvPr id="138" name="Picture 137" descr="lock.png"/>
          <p:cNvPicPr>
            <a:picLocks noChangeAspect="1"/>
          </p:cNvPicPr>
          <p:nvPr/>
        </p:nvPicPr>
        <p:blipFill>
          <a:blip r:embed="rId4"/>
          <a:stretch>
            <a:fillRect/>
          </a:stretch>
        </p:blipFill>
        <p:spPr>
          <a:xfrm>
            <a:off x="3197963" y="5262059"/>
            <a:ext cx="128699" cy="187198"/>
          </a:xfrm>
          <a:prstGeom prst="rect">
            <a:avLst/>
          </a:prstGeom>
        </p:spPr>
      </p:pic>
      <p:pic>
        <p:nvPicPr>
          <p:cNvPr id="139" name="Picture 138" descr="lock.png"/>
          <p:cNvPicPr>
            <a:picLocks noChangeAspect="1"/>
          </p:cNvPicPr>
          <p:nvPr/>
        </p:nvPicPr>
        <p:blipFill>
          <a:blip r:embed="rId4"/>
          <a:stretch>
            <a:fillRect/>
          </a:stretch>
        </p:blipFill>
        <p:spPr>
          <a:xfrm>
            <a:off x="3785337" y="5155622"/>
            <a:ext cx="128699" cy="187198"/>
          </a:xfrm>
          <a:prstGeom prst="rect">
            <a:avLst/>
          </a:prstGeom>
        </p:spPr>
      </p:pic>
      <p:pic>
        <p:nvPicPr>
          <p:cNvPr id="140" name="Picture 139" descr="lock.png"/>
          <p:cNvPicPr>
            <a:picLocks noChangeAspect="1"/>
          </p:cNvPicPr>
          <p:nvPr/>
        </p:nvPicPr>
        <p:blipFill>
          <a:blip r:embed="rId4"/>
          <a:stretch>
            <a:fillRect/>
          </a:stretch>
        </p:blipFill>
        <p:spPr>
          <a:xfrm>
            <a:off x="4372713" y="5838694"/>
            <a:ext cx="128699" cy="187198"/>
          </a:xfrm>
          <a:prstGeom prst="rect">
            <a:avLst/>
          </a:prstGeom>
        </p:spPr>
      </p:pic>
      <p:pic>
        <p:nvPicPr>
          <p:cNvPr id="141" name="Picture 140" descr="lock.png"/>
          <p:cNvPicPr>
            <a:picLocks noChangeAspect="1"/>
          </p:cNvPicPr>
          <p:nvPr/>
        </p:nvPicPr>
        <p:blipFill>
          <a:blip r:embed="rId4"/>
          <a:stretch>
            <a:fillRect/>
          </a:stretch>
        </p:blipFill>
        <p:spPr>
          <a:xfrm>
            <a:off x="4960088" y="5578651"/>
            <a:ext cx="128699" cy="187198"/>
          </a:xfrm>
          <a:prstGeom prst="rect">
            <a:avLst/>
          </a:prstGeom>
        </p:spPr>
      </p:pic>
      <p:pic>
        <p:nvPicPr>
          <p:cNvPr id="142" name="Picture 141" descr="lock.png"/>
          <p:cNvPicPr>
            <a:picLocks noChangeAspect="1"/>
          </p:cNvPicPr>
          <p:nvPr/>
        </p:nvPicPr>
        <p:blipFill>
          <a:blip r:embed="rId4"/>
          <a:stretch>
            <a:fillRect/>
          </a:stretch>
        </p:blipFill>
        <p:spPr>
          <a:xfrm>
            <a:off x="5547463" y="4459657"/>
            <a:ext cx="128699" cy="187198"/>
          </a:xfrm>
          <a:prstGeom prst="rect">
            <a:avLst/>
          </a:prstGeom>
        </p:spPr>
      </p:pic>
      <p:pic>
        <p:nvPicPr>
          <p:cNvPr id="143" name="Picture 142" descr="lock.png"/>
          <p:cNvPicPr>
            <a:picLocks noChangeAspect="1"/>
          </p:cNvPicPr>
          <p:nvPr/>
        </p:nvPicPr>
        <p:blipFill>
          <a:blip r:embed="rId4"/>
          <a:stretch>
            <a:fillRect/>
          </a:stretch>
        </p:blipFill>
        <p:spPr>
          <a:xfrm>
            <a:off x="6134838" y="5148829"/>
            <a:ext cx="128699" cy="187198"/>
          </a:xfrm>
          <a:prstGeom prst="rect">
            <a:avLst/>
          </a:prstGeom>
        </p:spPr>
      </p:pic>
      <p:pic>
        <p:nvPicPr>
          <p:cNvPr id="144" name="Picture 143" descr="lock.png"/>
          <p:cNvPicPr>
            <a:picLocks noChangeAspect="1"/>
          </p:cNvPicPr>
          <p:nvPr/>
        </p:nvPicPr>
        <p:blipFill>
          <a:blip r:embed="rId4"/>
          <a:stretch>
            <a:fillRect/>
          </a:stretch>
        </p:blipFill>
        <p:spPr>
          <a:xfrm>
            <a:off x="6722213" y="4588103"/>
            <a:ext cx="128699" cy="187198"/>
          </a:xfrm>
          <a:prstGeom prst="rect">
            <a:avLst/>
          </a:prstGeom>
        </p:spPr>
      </p:pic>
      <p:pic>
        <p:nvPicPr>
          <p:cNvPr id="145" name="Picture 144" descr="lock.png"/>
          <p:cNvPicPr>
            <a:picLocks noChangeAspect="1"/>
          </p:cNvPicPr>
          <p:nvPr/>
        </p:nvPicPr>
        <p:blipFill>
          <a:blip r:embed="rId4"/>
          <a:stretch>
            <a:fillRect/>
          </a:stretch>
        </p:blipFill>
        <p:spPr>
          <a:xfrm>
            <a:off x="7309588" y="4603686"/>
            <a:ext cx="128699" cy="187198"/>
          </a:xfrm>
          <a:prstGeom prst="rect">
            <a:avLst/>
          </a:prstGeom>
        </p:spPr>
      </p:pic>
      <p:sp>
        <p:nvSpPr>
          <p:cNvPr id="146" name="TextBox 145"/>
          <p:cNvSpPr txBox="1"/>
          <p:nvPr/>
        </p:nvSpPr>
        <p:spPr>
          <a:xfrm>
            <a:off x="8048625" y="1471995"/>
            <a:ext cx="3431071" cy="194310"/>
          </a:xfrm>
          <a:prstGeom prst="rect">
            <a:avLst/>
          </a:prstGeom>
          <a:noFill/>
        </p:spPr>
        <p:txBody>
          <a:bodyPr wrap="none" lIns="0" rIns="0" tIns="0" bIns="0">
            <a:spAutoFit/>
          </a:bodyPr>
          <a:lstStyle/>
          <a:p>
            <a:r>
              <a:rPr sz="1150" b="0">
                <a:solidFill>
                  <a:srgbClr val="2E2E2E"/>
                </a:solidFill>
                <a:latin typeface="Calibri"/>
              </a:rPr>
              <a:t>Snow crab segment is expected to command the highest</a:t>
            </a:r>
          </a:p>
        </p:txBody>
      </p:sp>
      <p:sp>
        <p:nvSpPr>
          <p:cNvPr id="147" name="TextBox 146"/>
          <p:cNvSpPr txBox="1"/>
          <p:nvPr/>
        </p:nvSpPr>
        <p:spPr>
          <a:xfrm>
            <a:off x="8048625" y="1647255"/>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148" name="Picture 147" descr="lock.png"/>
          <p:cNvPicPr>
            <a:picLocks noChangeAspect="1"/>
          </p:cNvPicPr>
          <p:nvPr/>
        </p:nvPicPr>
        <p:blipFill>
          <a:blip r:embed="rId4"/>
          <a:stretch>
            <a:fillRect/>
          </a:stretch>
        </p:blipFill>
        <p:spPr>
          <a:xfrm>
            <a:off x="9296862" y="1637031"/>
            <a:ext cx="134549" cy="195707"/>
          </a:xfrm>
          <a:prstGeom prst="rect">
            <a:avLst/>
          </a:prstGeom>
        </p:spPr>
      </p:pic>
      <p:sp>
        <p:nvSpPr>
          <p:cNvPr id="149" name="TextBox 148"/>
          <p:cNvSpPr txBox="1"/>
          <p:nvPr/>
        </p:nvSpPr>
        <p:spPr>
          <a:xfrm>
            <a:off x="9471971" y="1647255"/>
            <a:ext cx="2273185" cy="194310"/>
          </a:xfrm>
          <a:prstGeom prst="rect">
            <a:avLst/>
          </a:prstGeom>
          <a:noFill/>
        </p:spPr>
        <p:txBody>
          <a:bodyPr wrap="none" lIns="0" rIns="0" tIns="0" bIns="0">
            <a:spAutoFit/>
          </a:bodyPr>
          <a:lstStyle/>
          <a:p>
            <a:r>
              <a:rPr sz="1150" b="0">
                <a:solidFill>
                  <a:srgbClr val="2E2E2E"/>
                </a:solidFill>
                <a:latin typeface="Calibri"/>
              </a:rPr>
              <a:t>per MT in 2036. Average selling price</a:t>
            </a:r>
          </a:p>
        </p:txBody>
      </p:sp>
      <p:sp>
        <p:nvSpPr>
          <p:cNvPr id="150" name="TextBox 149"/>
          <p:cNvSpPr txBox="1"/>
          <p:nvPr/>
        </p:nvSpPr>
        <p:spPr>
          <a:xfrm>
            <a:off x="8048625" y="1822515"/>
            <a:ext cx="2006513" cy="194310"/>
          </a:xfrm>
          <a:prstGeom prst="rect">
            <a:avLst/>
          </a:prstGeom>
          <a:noFill/>
        </p:spPr>
        <p:txBody>
          <a:bodyPr wrap="none" lIns="0" rIns="0" tIns="0" bIns="0">
            <a:spAutoFit/>
          </a:bodyPr>
          <a:lstStyle/>
          <a:p>
            <a:r>
              <a:rPr sz="1150" b="0">
                <a:solidFill>
                  <a:srgbClr val="2E2E2E"/>
                </a:solidFill>
                <a:latin typeface="Calibri"/>
              </a:rPr>
              <a:t>of crab meat is estimated at US$</a:t>
            </a:r>
          </a:p>
        </p:txBody>
      </p:sp>
      <p:pic>
        <p:nvPicPr>
          <p:cNvPr id="151" name="Picture 150" descr="lock.png"/>
          <p:cNvPicPr>
            <a:picLocks noChangeAspect="1"/>
          </p:cNvPicPr>
          <p:nvPr/>
        </p:nvPicPr>
        <p:blipFill>
          <a:blip r:embed="rId4"/>
          <a:stretch>
            <a:fillRect/>
          </a:stretch>
        </p:blipFill>
        <p:spPr>
          <a:xfrm>
            <a:off x="10004292" y="1812291"/>
            <a:ext cx="134549" cy="195707"/>
          </a:xfrm>
          <a:prstGeom prst="rect">
            <a:avLst/>
          </a:prstGeom>
        </p:spPr>
      </p:pic>
      <p:sp>
        <p:nvSpPr>
          <p:cNvPr id="152" name="TextBox 151"/>
          <p:cNvSpPr txBox="1"/>
          <p:nvPr/>
        </p:nvSpPr>
        <p:spPr>
          <a:xfrm>
            <a:off x="10179401" y="1822515"/>
            <a:ext cx="1359557" cy="194310"/>
          </a:xfrm>
          <a:prstGeom prst="rect">
            <a:avLst/>
          </a:prstGeom>
          <a:noFill/>
        </p:spPr>
        <p:txBody>
          <a:bodyPr wrap="none" lIns="0" rIns="0" tIns="0" bIns="0">
            <a:spAutoFit/>
          </a:bodyPr>
          <a:lstStyle/>
          <a:p>
            <a:r>
              <a:rPr sz="1150" b="0">
                <a:solidFill>
                  <a:srgbClr val="2E2E2E"/>
                </a:solidFill>
                <a:latin typeface="Calibri"/>
              </a:rPr>
              <a:t>per MT in 2025 and is</a:t>
            </a:r>
          </a:p>
        </p:txBody>
      </p:sp>
      <p:sp>
        <p:nvSpPr>
          <p:cNvPr id="153" name="TextBox 152"/>
          <p:cNvSpPr txBox="1"/>
          <p:nvPr/>
        </p:nvSpPr>
        <p:spPr>
          <a:xfrm>
            <a:off x="8048625" y="1997775"/>
            <a:ext cx="1764617" cy="194310"/>
          </a:xfrm>
          <a:prstGeom prst="rect">
            <a:avLst/>
          </a:prstGeom>
          <a:noFill/>
        </p:spPr>
        <p:txBody>
          <a:bodyPr wrap="none" lIns="0" rIns="0" tIns="0" bIns="0">
            <a:spAutoFit/>
          </a:bodyPr>
          <a:lstStyle/>
          <a:p>
            <a:r>
              <a:rPr sz="1150" b="0">
                <a:solidFill>
                  <a:srgbClr val="2E2E2E"/>
                </a:solidFill>
                <a:latin typeface="Calibri"/>
              </a:rPr>
              <a:t>projected to increase to US$</a:t>
            </a:r>
          </a:p>
        </p:txBody>
      </p:sp>
      <p:pic>
        <p:nvPicPr>
          <p:cNvPr id="154" name="Picture 153" descr="lock.png"/>
          <p:cNvPicPr>
            <a:picLocks noChangeAspect="1"/>
          </p:cNvPicPr>
          <p:nvPr/>
        </p:nvPicPr>
        <p:blipFill>
          <a:blip r:embed="rId4"/>
          <a:stretch>
            <a:fillRect/>
          </a:stretch>
        </p:blipFill>
        <p:spPr>
          <a:xfrm>
            <a:off x="9762396" y="1987551"/>
            <a:ext cx="134549" cy="195707"/>
          </a:xfrm>
          <a:prstGeom prst="rect">
            <a:avLst/>
          </a:prstGeom>
        </p:spPr>
      </p:pic>
      <p:sp>
        <p:nvSpPr>
          <p:cNvPr id="155" name="TextBox 154"/>
          <p:cNvSpPr txBox="1"/>
          <p:nvPr/>
        </p:nvSpPr>
        <p:spPr>
          <a:xfrm>
            <a:off x="9937506" y="199777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156" name="TextBox 155"/>
          <p:cNvSpPr txBox="1"/>
          <p:nvPr/>
        </p:nvSpPr>
        <p:spPr>
          <a:xfrm>
            <a:off x="8048625" y="2225613"/>
            <a:ext cx="3692649" cy="194310"/>
          </a:xfrm>
          <a:prstGeom prst="rect">
            <a:avLst/>
          </a:prstGeom>
          <a:noFill/>
        </p:spPr>
        <p:txBody>
          <a:bodyPr wrap="none" lIns="0" rIns="0" tIns="0" bIns="0">
            <a:spAutoFit/>
          </a:bodyPr>
          <a:lstStyle/>
          <a:p>
            <a:r>
              <a:rPr sz="1150" b="0">
                <a:solidFill>
                  <a:srgbClr val="2E2E2E"/>
                </a:solidFill>
                <a:latin typeface="Calibri"/>
              </a:rPr>
              <a:t>Russia is the highest-priced country, while Netherlands is the</a:t>
            </a:r>
          </a:p>
        </p:txBody>
      </p:sp>
      <p:sp>
        <p:nvSpPr>
          <p:cNvPr id="157" name="TextBox 156"/>
          <p:cNvSpPr txBox="1"/>
          <p:nvPr/>
        </p:nvSpPr>
        <p:spPr>
          <a:xfrm>
            <a:off x="8048625" y="2400873"/>
            <a:ext cx="3601653" cy="194310"/>
          </a:xfrm>
          <a:prstGeom prst="rect">
            <a:avLst/>
          </a:prstGeom>
          <a:noFill/>
        </p:spPr>
        <p:txBody>
          <a:bodyPr wrap="none" lIns="0" rIns="0" tIns="0" bIns="0">
            <a:spAutoFit/>
          </a:bodyPr>
          <a:lstStyle/>
          <a:p>
            <a:r>
              <a:rPr sz="1150" b="0">
                <a:solidFill>
                  <a:srgbClr val="2E2E2E"/>
                </a:solidFill>
                <a:latin typeface="Calibri"/>
              </a:rPr>
              <a:t>most price-competitive market. Against the Europe price of</a:t>
            </a:r>
          </a:p>
        </p:txBody>
      </p:sp>
      <p:pic>
        <p:nvPicPr>
          <p:cNvPr id="158" name="Picture 157" descr="lock.png"/>
          <p:cNvPicPr>
            <a:picLocks noChangeAspect="1"/>
          </p:cNvPicPr>
          <p:nvPr/>
        </p:nvPicPr>
        <p:blipFill>
          <a:blip r:embed="rId4"/>
          <a:stretch>
            <a:fillRect/>
          </a:stretch>
        </p:blipFill>
        <p:spPr>
          <a:xfrm>
            <a:off x="11599431" y="2390649"/>
            <a:ext cx="134549" cy="195707"/>
          </a:xfrm>
          <a:prstGeom prst="rect">
            <a:avLst/>
          </a:prstGeom>
        </p:spPr>
      </p:pic>
      <p:sp>
        <p:nvSpPr>
          <p:cNvPr id="159" name="TextBox 158"/>
          <p:cNvSpPr txBox="1"/>
          <p:nvPr/>
        </p:nvSpPr>
        <p:spPr>
          <a:xfrm>
            <a:off x="8048625" y="2576133"/>
            <a:ext cx="3155515" cy="194310"/>
          </a:xfrm>
          <a:prstGeom prst="rect">
            <a:avLst/>
          </a:prstGeom>
          <a:noFill/>
        </p:spPr>
        <p:txBody>
          <a:bodyPr wrap="none" lIns="0" rIns="0" tIns="0" bIns="0">
            <a:spAutoFit/>
          </a:bodyPr>
          <a:lstStyle/>
          <a:p>
            <a:r>
              <a:rPr sz="1150" b="0">
                <a:solidFill>
                  <a:srgbClr val="2E2E2E"/>
                </a:solidFill>
                <a:latin typeface="Calibri"/>
              </a:rPr>
              <a:t>US$/MT, 5 of 12 countries price above and 7 below.</a:t>
            </a:r>
          </a:p>
        </p:txBody>
      </p:sp>
      <p:sp>
        <p:nvSpPr>
          <p:cNvPr id="160" name="TextBox 159"/>
          <p:cNvSpPr txBox="1"/>
          <p:nvPr/>
        </p:nvSpPr>
        <p:spPr>
          <a:xfrm>
            <a:off x="8048625" y="2803971"/>
            <a:ext cx="1610010" cy="194310"/>
          </a:xfrm>
          <a:prstGeom prst="rect">
            <a:avLst/>
          </a:prstGeom>
          <a:noFill/>
        </p:spPr>
        <p:txBody>
          <a:bodyPr wrap="none" lIns="0" rIns="0" tIns="0" bIns="0">
            <a:spAutoFit/>
          </a:bodyPr>
          <a:lstStyle/>
          <a:p>
            <a:r>
              <a:rPr sz="1150" b="0">
                <a:solidFill>
                  <a:srgbClr val="2E2E2E"/>
                </a:solidFill>
                <a:latin typeface="Calibri"/>
              </a:rPr>
              <a:t>'Russia' is the dearest at +</a:t>
            </a:r>
          </a:p>
        </p:txBody>
      </p:sp>
      <p:pic>
        <p:nvPicPr>
          <p:cNvPr id="161" name="Picture 160" descr="lock.png"/>
          <p:cNvPicPr>
            <a:picLocks noChangeAspect="1"/>
          </p:cNvPicPr>
          <p:nvPr/>
        </p:nvPicPr>
        <p:blipFill>
          <a:blip r:embed="rId4"/>
          <a:stretch>
            <a:fillRect/>
          </a:stretch>
        </p:blipFill>
        <p:spPr>
          <a:xfrm>
            <a:off x="9607789" y="2793747"/>
            <a:ext cx="134549" cy="195707"/>
          </a:xfrm>
          <a:prstGeom prst="rect">
            <a:avLst/>
          </a:prstGeom>
        </p:spPr>
      </p:pic>
      <p:sp>
        <p:nvSpPr>
          <p:cNvPr id="162" name="TextBox 161"/>
          <p:cNvSpPr txBox="1"/>
          <p:nvPr/>
        </p:nvSpPr>
        <p:spPr>
          <a:xfrm>
            <a:off x="9782898" y="2803971"/>
            <a:ext cx="2011933" cy="194310"/>
          </a:xfrm>
          <a:prstGeom prst="rect">
            <a:avLst/>
          </a:prstGeom>
          <a:noFill/>
        </p:spPr>
        <p:txBody>
          <a:bodyPr wrap="none" lIns="0" rIns="0" tIns="0" bIns="0">
            <a:spAutoFit/>
          </a:bodyPr>
          <a:lstStyle/>
          <a:p>
            <a:r>
              <a:rPr sz="1150" b="0">
                <a:solidFill>
                  <a:srgbClr val="2E2E2E"/>
                </a:solidFill>
                <a:latin typeface="Calibri"/>
              </a:rPr>
              <a:t>versus Europe, 'Netherlands' the</a:t>
            </a:r>
          </a:p>
        </p:txBody>
      </p:sp>
      <p:sp>
        <p:nvSpPr>
          <p:cNvPr id="163" name="TextBox 162"/>
          <p:cNvSpPr txBox="1"/>
          <p:nvPr/>
        </p:nvSpPr>
        <p:spPr>
          <a:xfrm>
            <a:off x="8048625" y="297923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64" name="Picture 163" descr="lock.png"/>
          <p:cNvPicPr>
            <a:picLocks noChangeAspect="1"/>
          </p:cNvPicPr>
          <p:nvPr/>
        </p:nvPicPr>
        <p:blipFill>
          <a:blip r:embed="rId4"/>
          <a:stretch>
            <a:fillRect/>
          </a:stretch>
        </p:blipFill>
        <p:spPr>
          <a:xfrm>
            <a:off x="8840741" y="2969007"/>
            <a:ext cx="134549" cy="195707"/>
          </a:xfrm>
          <a:prstGeom prst="rect">
            <a:avLst/>
          </a:prstGeom>
        </p:spPr>
      </p:pic>
      <p:sp>
        <p:nvSpPr>
          <p:cNvPr id="165" name="TextBox 164"/>
          <p:cNvSpPr txBox="1"/>
          <p:nvPr/>
        </p:nvSpPr>
        <p:spPr>
          <a:xfrm>
            <a:off x="9015850" y="297923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66" name="TextBox 165"/>
          <p:cNvSpPr txBox="1"/>
          <p:nvPr/>
        </p:nvSpPr>
        <p:spPr>
          <a:xfrm>
            <a:off x="8048625" y="315449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Europe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46469"/>
          </a:xfrm>
          <a:prstGeom prst="roundRect">
            <a:avLst>
              <a:gd name="adj" fmla="val 25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0694"/>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729117"/>
            <a:ext cx="4133850" cy="1827269"/>
          </a:xfrm>
          <a:prstGeom prst="roundRect">
            <a:avLst>
              <a:gd name="adj" fmla="val 41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4842"/>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296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38692"/>
            <a:ext cx="3867150" cy="134149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497250" cy="194310"/>
          </a:xfrm>
          <a:prstGeom prst="rect">
            <a:avLst/>
          </a:prstGeom>
          <a:noFill/>
        </p:spPr>
        <p:txBody>
          <a:bodyPr wrap="none" lIns="0" rIns="0" tIns="0" bIns="0">
            <a:spAutoFit/>
          </a:bodyPr>
          <a:lstStyle/>
          <a:p>
            <a:r>
              <a:rPr sz="1150" b="0">
                <a:solidFill>
                  <a:srgbClr val="2E2E2E"/>
                </a:solidFill>
                <a:latin typeface="Calibri"/>
              </a:rPr>
              <a:t>Crab meat market value in Europe is expected to increase</a:t>
            </a:r>
          </a:p>
        </p:txBody>
      </p:sp>
      <p:pic>
        <p:nvPicPr>
          <p:cNvPr id="35" name="Picture 34" descr="lock.png"/>
          <p:cNvPicPr>
            <a:picLocks noChangeAspect="1"/>
          </p:cNvPicPr>
          <p:nvPr/>
        </p:nvPicPr>
        <p:blipFill>
          <a:blip r:embed="rId6"/>
          <a:stretch>
            <a:fillRect/>
          </a:stretch>
        </p:blipFill>
        <p:spPr>
          <a:xfrm>
            <a:off x="11495029" y="2036763"/>
            <a:ext cx="134549" cy="195707"/>
          </a:xfrm>
          <a:prstGeom prst="rect">
            <a:avLst/>
          </a:prstGeom>
        </p:spPr>
      </p:pic>
      <p:sp>
        <p:nvSpPr>
          <p:cNvPr id="36" name="TextBox 35"/>
          <p:cNvSpPr txBox="1"/>
          <p:nvPr/>
        </p:nvSpPr>
        <p:spPr>
          <a:xfrm>
            <a:off x="11670138"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7" name="TextBox 36"/>
          <p:cNvSpPr txBox="1"/>
          <p:nvPr/>
        </p:nvSpPr>
        <p:spPr>
          <a:xfrm>
            <a:off x="8048625" y="2222247"/>
            <a:ext cx="3535188" cy="194310"/>
          </a:xfrm>
          <a:prstGeom prst="rect">
            <a:avLst/>
          </a:prstGeom>
          <a:noFill/>
        </p:spPr>
        <p:txBody>
          <a:bodyPr wrap="none" lIns="0" rIns="0" tIns="0" bIns="0">
            <a:spAutoFit/>
          </a:bodyPr>
          <a:lstStyle/>
          <a:p>
            <a:r>
              <a:rPr sz="1150" b="0">
                <a:solidFill>
                  <a:srgbClr val="2E2E2E"/>
                </a:solidFill>
                <a:latin typeface="Calibri"/>
              </a:rPr>
              <a:t>between 2025 and 2036. In 2025, the crab meat market in</a:t>
            </a:r>
          </a:p>
        </p:txBody>
      </p:sp>
      <p:sp>
        <p:nvSpPr>
          <p:cNvPr id="38" name="TextBox 37"/>
          <p:cNvSpPr txBox="1"/>
          <p:nvPr/>
        </p:nvSpPr>
        <p:spPr>
          <a:xfrm>
            <a:off x="8048625" y="2397507"/>
            <a:ext cx="1615144" cy="194310"/>
          </a:xfrm>
          <a:prstGeom prst="rect">
            <a:avLst/>
          </a:prstGeom>
          <a:noFill/>
        </p:spPr>
        <p:txBody>
          <a:bodyPr wrap="none" lIns="0" rIns="0" tIns="0" bIns="0">
            <a:spAutoFit/>
          </a:bodyPr>
          <a:lstStyle/>
          <a:p>
            <a:r>
              <a:rPr sz="1150" b="0">
                <a:solidFill>
                  <a:srgbClr val="2E2E2E"/>
                </a:solidFill>
                <a:latin typeface="Calibri"/>
              </a:rPr>
              <a:t>Europe was valued at US$</a:t>
            </a:r>
          </a:p>
        </p:txBody>
      </p:sp>
      <p:pic>
        <p:nvPicPr>
          <p:cNvPr id="39" name="Picture 38" descr="lock.png"/>
          <p:cNvPicPr>
            <a:picLocks noChangeAspect="1"/>
          </p:cNvPicPr>
          <p:nvPr/>
        </p:nvPicPr>
        <p:blipFill>
          <a:blip r:embed="rId6"/>
          <a:stretch>
            <a:fillRect/>
          </a:stretch>
        </p:blipFill>
        <p:spPr>
          <a:xfrm>
            <a:off x="9612923" y="2387283"/>
            <a:ext cx="134549" cy="195707"/>
          </a:xfrm>
          <a:prstGeom prst="rect">
            <a:avLst/>
          </a:prstGeom>
        </p:spPr>
      </p:pic>
      <p:sp>
        <p:nvSpPr>
          <p:cNvPr id="40" name="TextBox 39"/>
          <p:cNvSpPr txBox="1"/>
          <p:nvPr/>
        </p:nvSpPr>
        <p:spPr>
          <a:xfrm>
            <a:off x="9788033" y="2397507"/>
            <a:ext cx="1954311" cy="194310"/>
          </a:xfrm>
          <a:prstGeom prst="rect">
            <a:avLst/>
          </a:prstGeom>
          <a:noFill/>
        </p:spPr>
        <p:txBody>
          <a:bodyPr wrap="none" lIns="0" rIns="0" tIns="0" bIns="0">
            <a:spAutoFit/>
          </a:bodyPr>
          <a:lstStyle/>
          <a:p>
            <a:r>
              <a:rPr sz="1150" b="0">
                <a:solidFill>
                  <a:srgbClr val="2E2E2E"/>
                </a:solidFill>
                <a:latin typeface="Calibri"/>
              </a:rPr>
              <a:t>Mn and is estimated to account</a:t>
            </a:r>
          </a:p>
        </p:txBody>
      </p:sp>
      <p:sp>
        <p:nvSpPr>
          <p:cNvPr id="41" name="TextBox 40"/>
          <p:cNvSpPr txBox="1"/>
          <p:nvPr/>
        </p:nvSpPr>
        <p:spPr>
          <a:xfrm>
            <a:off x="8048625" y="2572767"/>
            <a:ext cx="516917" cy="194310"/>
          </a:xfrm>
          <a:prstGeom prst="rect">
            <a:avLst/>
          </a:prstGeom>
          <a:noFill/>
        </p:spPr>
        <p:txBody>
          <a:bodyPr wrap="none" lIns="0" rIns="0" tIns="0" bIns="0">
            <a:spAutoFit/>
          </a:bodyPr>
          <a:lstStyle/>
          <a:p>
            <a:r>
              <a:rPr sz="1150" b="0">
                <a:solidFill>
                  <a:srgbClr val="2E2E2E"/>
                </a:solidFill>
                <a:latin typeface="Calibri"/>
              </a:rPr>
              <a:t>for US$</a:t>
            </a:r>
          </a:p>
        </p:txBody>
      </p:sp>
      <p:pic>
        <p:nvPicPr>
          <p:cNvPr id="42" name="Picture 41" descr="lock.png"/>
          <p:cNvPicPr>
            <a:picLocks noChangeAspect="1"/>
          </p:cNvPicPr>
          <p:nvPr/>
        </p:nvPicPr>
        <p:blipFill>
          <a:blip r:embed="rId6"/>
          <a:stretch>
            <a:fillRect/>
          </a:stretch>
        </p:blipFill>
        <p:spPr>
          <a:xfrm>
            <a:off x="8514696" y="2562543"/>
            <a:ext cx="134549" cy="195707"/>
          </a:xfrm>
          <a:prstGeom prst="rect">
            <a:avLst/>
          </a:prstGeom>
        </p:spPr>
      </p:pic>
      <p:sp>
        <p:nvSpPr>
          <p:cNvPr id="43" name="TextBox 42"/>
          <p:cNvSpPr txBox="1"/>
          <p:nvPr/>
        </p:nvSpPr>
        <p:spPr>
          <a:xfrm>
            <a:off x="8689805" y="2572767"/>
            <a:ext cx="2968959"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a:t>
            </a:r>
          </a:p>
        </p:txBody>
      </p:sp>
      <p:sp>
        <p:nvSpPr>
          <p:cNvPr id="44" name="TextBox 43"/>
          <p:cNvSpPr txBox="1"/>
          <p:nvPr/>
        </p:nvSpPr>
        <p:spPr>
          <a:xfrm>
            <a:off x="8048625" y="2748027"/>
            <a:ext cx="473558" cy="194310"/>
          </a:xfrm>
          <a:prstGeom prst="rect">
            <a:avLst/>
          </a:prstGeom>
          <a:noFill/>
        </p:spPr>
        <p:txBody>
          <a:bodyPr wrap="none" lIns="0" rIns="0" tIns="0" bIns="0">
            <a:spAutoFit/>
          </a:bodyPr>
          <a:lstStyle/>
          <a:p>
            <a:r>
              <a:rPr sz="1150" b="0">
                <a:solidFill>
                  <a:srgbClr val="2E2E2E"/>
                </a:solidFill>
                <a:latin typeface="Calibri"/>
              </a:rPr>
              <a:t>rate of</a:t>
            </a:r>
          </a:p>
        </p:txBody>
      </p:sp>
      <p:pic>
        <p:nvPicPr>
          <p:cNvPr id="45" name="Picture 44" descr="lock.png"/>
          <p:cNvPicPr>
            <a:picLocks noChangeAspect="1"/>
          </p:cNvPicPr>
          <p:nvPr/>
        </p:nvPicPr>
        <p:blipFill>
          <a:blip r:embed="rId6"/>
          <a:stretch>
            <a:fillRect/>
          </a:stretch>
        </p:blipFill>
        <p:spPr>
          <a:xfrm>
            <a:off x="8471337" y="2737803"/>
            <a:ext cx="134549" cy="195707"/>
          </a:xfrm>
          <a:prstGeom prst="rect">
            <a:avLst/>
          </a:prstGeom>
        </p:spPr>
      </p:pic>
      <p:sp>
        <p:nvSpPr>
          <p:cNvPr id="46" name="TextBox 45"/>
          <p:cNvSpPr txBox="1"/>
          <p:nvPr/>
        </p:nvSpPr>
        <p:spPr>
          <a:xfrm>
            <a:off x="8646446" y="274802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8048625" y="2975864"/>
            <a:ext cx="3200300" cy="194310"/>
          </a:xfrm>
          <a:prstGeom prst="rect">
            <a:avLst/>
          </a:prstGeom>
          <a:noFill/>
        </p:spPr>
        <p:txBody>
          <a:bodyPr wrap="none" lIns="0" rIns="0" tIns="0" bIns="0">
            <a:spAutoFit/>
          </a:bodyPr>
          <a:lstStyle/>
          <a:p>
            <a:r>
              <a:rPr sz="1150" b="0">
                <a:solidFill>
                  <a:srgbClr val="2E2E2E"/>
                </a:solidFill>
                <a:latin typeface="Calibri"/>
              </a:rPr>
              <a:t>The market in Europe is expected to account for US$</a:t>
            </a:r>
          </a:p>
        </p:txBody>
      </p:sp>
      <p:pic>
        <p:nvPicPr>
          <p:cNvPr id="48" name="Picture 47" descr="lock.png"/>
          <p:cNvPicPr>
            <a:picLocks noChangeAspect="1"/>
          </p:cNvPicPr>
          <p:nvPr/>
        </p:nvPicPr>
        <p:blipFill>
          <a:blip r:embed="rId6"/>
          <a:stretch>
            <a:fillRect/>
          </a:stretch>
        </p:blipFill>
        <p:spPr>
          <a:xfrm>
            <a:off x="11198079" y="2965641"/>
            <a:ext cx="134549" cy="195707"/>
          </a:xfrm>
          <a:prstGeom prst="rect">
            <a:avLst/>
          </a:prstGeom>
        </p:spPr>
      </p:pic>
      <p:sp>
        <p:nvSpPr>
          <p:cNvPr id="49" name="TextBox 48"/>
          <p:cNvSpPr txBox="1"/>
          <p:nvPr/>
        </p:nvSpPr>
        <p:spPr>
          <a:xfrm>
            <a:off x="11373188" y="2975864"/>
            <a:ext cx="453876" cy="194310"/>
          </a:xfrm>
          <a:prstGeom prst="rect">
            <a:avLst/>
          </a:prstGeom>
          <a:noFill/>
        </p:spPr>
        <p:txBody>
          <a:bodyPr wrap="none" lIns="0" rIns="0" tIns="0" bIns="0">
            <a:spAutoFit/>
          </a:bodyPr>
          <a:lstStyle/>
          <a:p>
            <a:r>
              <a:rPr sz="1150" b="0">
                <a:solidFill>
                  <a:srgbClr val="2E2E2E"/>
                </a:solidFill>
                <a:latin typeface="Calibri"/>
              </a:rPr>
              <a:t>Mn by</a:t>
            </a:r>
          </a:p>
        </p:txBody>
      </p:sp>
      <p:sp>
        <p:nvSpPr>
          <p:cNvPr id="50" name="TextBox 49"/>
          <p:cNvSpPr txBox="1"/>
          <p:nvPr/>
        </p:nvSpPr>
        <p:spPr>
          <a:xfrm>
            <a:off x="8048625" y="3151124"/>
            <a:ext cx="1149307" cy="194310"/>
          </a:xfrm>
          <a:prstGeom prst="rect">
            <a:avLst/>
          </a:prstGeom>
          <a:noFill/>
        </p:spPr>
        <p:txBody>
          <a:bodyPr wrap="none" lIns="0" rIns="0" tIns="0" bIns="0">
            <a:spAutoFit/>
          </a:bodyPr>
          <a:lstStyle/>
          <a:p>
            <a:r>
              <a:rPr sz="1150" b="0">
                <a:solidFill>
                  <a:srgbClr val="2E2E2E"/>
                </a:solidFill>
                <a:latin typeface="Calibri"/>
              </a:rPr>
              <a:t>2036 at a CAGR of</a:t>
            </a:r>
          </a:p>
        </p:txBody>
      </p:sp>
      <p:pic>
        <p:nvPicPr>
          <p:cNvPr id="51" name="Picture 50" descr="lock.png"/>
          <p:cNvPicPr>
            <a:picLocks noChangeAspect="1"/>
          </p:cNvPicPr>
          <p:nvPr/>
        </p:nvPicPr>
        <p:blipFill>
          <a:blip r:embed="rId6"/>
          <a:stretch>
            <a:fillRect/>
          </a:stretch>
        </p:blipFill>
        <p:spPr>
          <a:xfrm>
            <a:off x="9147086" y="3140901"/>
            <a:ext cx="134549" cy="195707"/>
          </a:xfrm>
          <a:prstGeom prst="rect">
            <a:avLst/>
          </a:prstGeom>
        </p:spPr>
      </p:pic>
      <p:sp>
        <p:nvSpPr>
          <p:cNvPr id="52" name="TextBox 51"/>
          <p:cNvSpPr txBox="1"/>
          <p:nvPr/>
        </p:nvSpPr>
        <p:spPr>
          <a:xfrm>
            <a:off x="9322195" y="3151124"/>
            <a:ext cx="2131169" cy="194310"/>
          </a:xfrm>
          <a:prstGeom prst="rect">
            <a:avLst/>
          </a:prstGeom>
          <a:noFill/>
        </p:spPr>
        <p:txBody>
          <a:bodyPr wrap="none" lIns="0" rIns="0" tIns="0" bIns="0">
            <a:spAutoFit/>
          </a:bodyPr>
          <a:lstStyle/>
          <a:p>
            <a:r>
              <a:rPr sz="1150" b="0">
                <a:solidFill>
                  <a:srgbClr val="2E2E2E"/>
                </a:solidFill>
                <a:latin typeface="Calibri"/>
              </a:rPr>
              <a:t>over the forecast period. Europe is</a:t>
            </a:r>
          </a:p>
        </p:txBody>
      </p:sp>
      <p:sp>
        <p:nvSpPr>
          <p:cNvPr id="53" name="TextBox 52"/>
          <p:cNvSpPr txBox="1"/>
          <p:nvPr/>
        </p:nvSpPr>
        <p:spPr>
          <a:xfrm>
            <a:off x="8048625" y="3326384"/>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54" name="Picture 53" descr="lock.png"/>
          <p:cNvPicPr>
            <a:picLocks noChangeAspect="1"/>
          </p:cNvPicPr>
          <p:nvPr/>
        </p:nvPicPr>
        <p:blipFill>
          <a:blip r:embed="rId6"/>
          <a:stretch>
            <a:fillRect/>
          </a:stretch>
        </p:blipFill>
        <p:spPr>
          <a:xfrm>
            <a:off x="11283085" y="3316161"/>
            <a:ext cx="134549" cy="195707"/>
          </a:xfrm>
          <a:prstGeom prst="rect">
            <a:avLst/>
          </a:prstGeom>
        </p:spPr>
      </p:pic>
      <p:sp>
        <p:nvSpPr>
          <p:cNvPr id="55" name="TextBox 54"/>
          <p:cNvSpPr txBox="1"/>
          <p:nvPr/>
        </p:nvSpPr>
        <p:spPr>
          <a:xfrm>
            <a:off x="11458194" y="3326384"/>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56" name="TextBox 55"/>
          <p:cNvSpPr txBox="1"/>
          <p:nvPr/>
        </p:nvSpPr>
        <p:spPr>
          <a:xfrm>
            <a:off x="8048625" y="3501644"/>
            <a:ext cx="3188320" cy="194310"/>
          </a:xfrm>
          <a:prstGeom prst="rect">
            <a:avLst/>
          </a:prstGeom>
          <a:noFill/>
        </p:spPr>
        <p:txBody>
          <a:bodyPr wrap="none" lIns="0" rIns="0" tIns="0" bIns="0">
            <a:spAutoFit/>
          </a:bodyPr>
          <a:lstStyle/>
          <a:p>
            <a:r>
              <a:rPr sz="1150" b="0">
                <a:solidFill>
                  <a:srgbClr val="2E2E2E"/>
                </a:solidFill>
                <a:latin typeface="Calibri"/>
              </a:rPr>
              <a:t>for the overall crab meat market from 2025 to 2036.</a:t>
            </a:r>
          </a:p>
        </p:txBody>
      </p:sp>
      <p:sp>
        <p:nvSpPr>
          <p:cNvPr id="57" name="TextBox 56"/>
          <p:cNvSpPr txBox="1"/>
          <p:nvPr/>
        </p:nvSpPr>
        <p:spPr>
          <a:xfrm>
            <a:off x="8048625" y="3729482"/>
            <a:ext cx="2962684" cy="194310"/>
          </a:xfrm>
          <a:prstGeom prst="rect">
            <a:avLst/>
          </a:prstGeom>
          <a:noFill/>
        </p:spPr>
        <p:txBody>
          <a:bodyPr wrap="none" lIns="0" rIns="0" tIns="0" bIns="0">
            <a:spAutoFit/>
          </a:bodyPr>
          <a:lstStyle/>
          <a:p>
            <a:r>
              <a:rPr sz="1150" b="0">
                <a:solidFill>
                  <a:srgbClr val="2E2E2E"/>
                </a:solidFill>
                <a:latin typeface="Calibri"/>
              </a:rPr>
              <a:t>Absolute $ value for 2026 is estimated to be US$</a:t>
            </a:r>
          </a:p>
        </p:txBody>
      </p:sp>
      <p:pic>
        <p:nvPicPr>
          <p:cNvPr id="58" name="Picture 57" descr="lock.png"/>
          <p:cNvPicPr>
            <a:picLocks noChangeAspect="1"/>
          </p:cNvPicPr>
          <p:nvPr/>
        </p:nvPicPr>
        <p:blipFill>
          <a:blip r:embed="rId6"/>
          <a:stretch>
            <a:fillRect/>
          </a:stretch>
        </p:blipFill>
        <p:spPr>
          <a:xfrm>
            <a:off x="10960463" y="3719259"/>
            <a:ext cx="134549" cy="195707"/>
          </a:xfrm>
          <a:prstGeom prst="rect">
            <a:avLst/>
          </a:prstGeom>
        </p:spPr>
      </p:pic>
      <p:sp>
        <p:nvSpPr>
          <p:cNvPr id="59" name="TextBox 58"/>
          <p:cNvSpPr txBox="1"/>
          <p:nvPr/>
        </p:nvSpPr>
        <p:spPr>
          <a:xfrm>
            <a:off x="11135572" y="3729482"/>
            <a:ext cx="314672"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60" name="TextBox 59"/>
          <p:cNvSpPr txBox="1"/>
          <p:nvPr/>
        </p:nvSpPr>
        <p:spPr>
          <a:xfrm>
            <a:off x="8048625" y="5148217"/>
            <a:ext cx="2242703" cy="194310"/>
          </a:xfrm>
          <a:prstGeom prst="rect">
            <a:avLst/>
          </a:prstGeom>
          <a:noFill/>
        </p:spPr>
        <p:txBody>
          <a:bodyPr wrap="none" lIns="0" rIns="0" tIns="0" bIns="0">
            <a:spAutoFit/>
          </a:bodyPr>
          <a:lstStyle/>
          <a:p>
            <a:r>
              <a:rPr sz="1150" b="0">
                <a:solidFill>
                  <a:srgbClr val="2E2E2E"/>
                </a:solidFill>
                <a:latin typeface="Calibri"/>
              </a:rPr>
              <a:t>▪ 'Germany' leads regional growth at</a:t>
            </a:r>
          </a:p>
        </p:txBody>
      </p:sp>
      <p:pic>
        <p:nvPicPr>
          <p:cNvPr id="61" name="Picture 60" descr="lock.png"/>
          <p:cNvPicPr>
            <a:picLocks noChangeAspect="1"/>
          </p:cNvPicPr>
          <p:nvPr/>
        </p:nvPicPr>
        <p:blipFill>
          <a:blip r:embed="rId6"/>
          <a:stretch>
            <a:fillRect/>
          </a:stretch>
        </p:blipFill>
        <p:spPr>
          <a:xfrm>
            <a:off x="10240482" y="5137993"/>
            <a:ext cx="134549" cy="195707"/>
          </a:xfrm>
          <a:prstGeom prst="rect">
            <a:avLst/>
          </a:prstGeom>
        </p:spPr>
      </p:pic>
      <p:sp>
        <p:nvSpPr>
          <p:cNvPr id="62" name="TextBox 61"/>
          <p:cNvSpPr txBox="1"/>
          <p:nvPr/>
        </p:nvSpPr>
        <p:spPr>
          <a:xfrm>
            <a:off x="10415591" y="5148217"/>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8048625" y="5376055"/>
            <a:ext cx="3504951" cy="194310"/>
          </a:xfrm>
          <a:prstGeom prst="rect">
            <a:avLst/>
          </a:prstGeom>
          <a:noFill/>
        </p:spPr>
        <p:txBody>
          <a:bodyPr wrap="none" lIns="0" rIns="0" tIns="0" bIns="0">
            <a:spAutoFit/>
          </a:bodyPr>
          <a:lstStyle/>
          <a:p>
            <a:r>
              <a:rPr sz="1150" b="0">
                <a:solidFill>
                  <a:srgbClr val="2E2E2E"/>
                </a:solidFill>
                <a:latin typeface="Calibri"/>
              </a:rPr>
              <a:t>▪ Demand concentrates in 'King Crab' within Crab Species.</a:t>
            </a:r>
          </a:p>
        </p:txBody>
      </p:sp>
      <p:sp>
        <p:nvSpPr>
          <p:cNvPr id="64" name="TextBox 63"/>
          <p:cNvSpPr txBox="1"/>
          <p:nvPr/>
        </p:nvSpPr>
        <p:spPr>
          <a:xfrm>
            <a:off x="8048625" y="5603893"/>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5831730"/>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Europe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497250" cy="194310"/>
          </a:xfrm>
          <a:prstGeom prst="rect">
            <a:avLst/>
          </a:prstGeom>
          <a:noFill/>
        </p:spPr>
        <p:txBody>
          <a:bodyPr wrap="none" lIns="0" rIns="0" tIns="0" bIns="0">
            <a:spAutoFit/>
          </a:bodyPr>
          <a:lstStyle/>
          <a:p>
            <a:r>
              <a:rPr sz="1150" b="0">
                <a:solidFill>
                  <a:srgbClr val="2E2E2E"/>
                </a:solidFill>
                <a:latin typeface="Calibri"/>
              </a:rPr>
              <a:t>Crab meat market value in Europe is expected to increase</a:t>
            </a:r>
          </a:p>
        </p:txBody>
      </p:sp>
      <p:pic>
        <p:nvPicPr>
          <p:cNvPr id="32" name="Picture 31" descr="lock.png"/>
          <p:cNvPicPr>
            <a:picLocks noChangeAspect="1"/>
          </p:cNvPicPr>
          <p:nvPr/>
        </p:nvPicPr>
        <p:blipFill>
          <a:blip r:embed="rId6"/>
          <a:stretch>
            <a:fillRect/>
          </a:stretch>
        </p:blipFill>
        <p:spPr>
          <a:xfrm>
            <a:off x="3722629" y="4961826"/>
            <a:ext cx="134549" cy="195707"/>
          </a:xfrm>
          <a:prstGeom prst="rect">
            <a:avLst/>
          </a:prstGeom>
        </p:spPr>
      </p:pic>
      <p:sp>
        <p:nvSpPr>
          <p:cNvPr id="33" name="TextBox 32"/>
          <p:cNvSpPr txBox="1"/>
          <p:nvPr/>
        </p:nvSpPr>
        <p:spPr>
          <a:xfrm>
            <a:off x="3897738" y="4972050"/>
            <a:ext cx="5216190" cy="194310"/>
          </a:xfrm>
          <a:prstGeom prst="rect">
            <a:avLst/>
          </a:prstGeom>
          <a:noFill/>
        </p:spPr>
        <p:txBody>
          <a:bodyPr wrap="none" lIns="0" rIns="0" tIns="0" bIns="0">
            <a:spAutoFit/>
          </a:bodyPr>
          <a:lstStyle/>
          <a:p>
            <a:r>
              <a:rPr sz="1150" b="0">
                <a:solidFill>
                  <a:srgbClr val="2E2E2E"/>
                </a:solidFill>
                <a:latin typeface="Calibri"/>
              </a:rPr>
              <a:t>X between 2025 and 2036. In 2025, the crab meat market in Europe was valued at US$</a:t>
            </a:r>
          </a:p>
        </p:txBody>
      </p:sp>
      <p:pic>
        <p:nvPicPr>
          <p:cNvPr id="34" name="Picture 33" descr="lock.png"/>
          <p:cNvPicPr>
            <a:picLocks noChangeAspect="1"/>
          </p:cNvPicPr>
          <p:nvPr/>
        </p:nvPicPr>
        <p:blipFill>
          <a:blip r:embed="rId6"/>
          <a:stretch>
            <a:fillRect/>
          </a:stretch>
        </p:blipFill>
        <p:spPr>
          <a:xfrm>
            <a:off x="9063082" y="4961826"/>
            <a:ext cx="134549" cy="195707"/>
          </a:xfrm>
          <a:prstGeom prst="rect">
            <a:avLst/>
          </a:prstGeom>
        </p:spPr>
      </p:pic>
      <p:sp>
        <p:nvSpPr>
          <p:cNvPr id="35" name="TextBox 34"/>
          <p:cNvSpPr txBox="1"/>
          <p:nvPr/>
        </p:nvSpPr>
        <p:spPr>
          <a:xfrm>
            <a:off x="9238191" y="497205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6" name="Picture 35" descr="lock.png"/>
          <p:cNvPicPr>
            <a:picLocks noChangeAspect="1"/>
          </p:cNvPicPr>
          <p:nvPr/>
        </p:nvPicPr>
        <p:blipFill>
          <a:blip r:embed="rId6"/>
          <a:stretch>
            <a:fillRect/>
          </a:stretch>
        </p:blipFill>
        <p:spPr>
          <a:xfrm>
            <a:off x="262145" y="5137086"/>
            <a:ext cx="134549" cy="195707"/>
          </a:xfrm>
          <a:prstGeom prst="rect">
            <a:avLst/>
          </a:prstGeom>
        </p:spPr>
      </p:pic>
      <p:sp>
        <p:nvSpPr>
          <p:cNvPr id="37" name="TextBox 36"/>
          <p:cNvSpPr txBox="1"/>
          <p:nvPr/>
        </p:nvSpPr>
        <p:spPr>
          <a:xfrm>
            <a:off x="437254" y="514731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8" name="Picture 37" descr="lock.png"/>
          <p:cNvPicPr>
            <a:picLocks noChangeAspect="1"/>
          </p:cNvPicPr>
          <p:nvPr/>
        </p:nvPicPr>
        <p:blipFill>
          <a:blip r:embed="rId6"/>
          <a:stretch>
            <a:fillRect/>
          </a:stretch>
        </p:blipFill>
        <p:spPr>
          <a:xfrm>
            <a:off x="3785816" y="5137086"/>
            <a:ext cx="134549" cy="195707"/>
          </a:xfrm>
          <a:prstGeom prst="rect">
            <a:avLst/>
          </a:prstGeom>
        </p:spPr>
      </p:pic>
      <p:sp>
        <p:nvSpPr>
          <p:cNvPr id="39" name="TextBox 38"/>
          <p:cNvSpPr txBox="1"/>
          <p:nvPr/>
        </p:nvSpPr>
        <p:spPr>
          <a:xfrm>
            <a:off x="3960925" y="5147310"/>
            <a:ext cx="3270187" cy="194310"/>
          </a:xfrm>
          <a:prstGeom prst="rect">
            <a:avLst/>
          </a:prstGeom>
          <a:noFill/>
        </p:spPr>
        <p:txBody>
          <a:bodyPr wrap="none" lIns="0" rIns="0" tIns="0" bIns="0">
            <a:spAutoFit/>
          </a:bodyPr>
          <a:lstStyle/>
          <a:p>
            <a:r>
              <a:rPr sz="1150" b="0">
                <a:solidFill>
                  <a:srgbClr val="2E2E2E"/>
                </a:solidFill>
                <a:latin typeface="Calibri"/>
              </a:rPr>
              <a:t>. The market in Europe is expected to account for US$</a:t>
            </a:r>
          </a:p>
        </p:txBody>
      </p:sp>
      <p:pic>
        <p:nvPicPr>
          <p:cNvPr id="40" name="Picture 39" descr="lock.png"/>
          <p:cNvPicPr>
            <a:picLocks noChangeAspect="1"/>
          </p:cNvPicPr>
          <p:nvPr/>
        </p:nvPicPr>
        <p:blipFill>
          <a:blip r:embed="rId6"/>
          <a:stretch>
            <a:fillRect/>
          </a:stretch>
        </p:blipFill>
        <p:spPr>
          <a:xfrm>
            <a:off x="7180267" y="5137086"/>
            <a:ext cx="134549" cy="195707"/>
          </a:xfrm>
          <a:prstGeom prst="rect">
            <a:avLst/>
          </a:prstGeom>
        </p:spPr>
      </p:pic>
      <p:sp>
        <p:nvSpPr>
          <p:cNvPr id="41" name="TextBox 40"/>
          <p:cNvSpPr txBox="1"/>
          <p:nvPr/>
        </p:nvSpPr>
        <p:spPr>
          <a:xfrm>
            <a:off x="7355377" y="514731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2" name="Picture 41" descr="lock.png"/>
          <p:cNvPicPr>
            <a:picLocks noChangeAspect="1"/>
          </p:cNvPicPr>
          <p:nvPr/>
        </p:nvPicPr>
        <p:blipFill>
          <a:blip r:embed="rId6"/>
          <a:stretch>
            <a:fillRect/>
          </a:stretch>
        </p:blipFill>
        <p:spPr>
          <a:xfrm>
            <a:off x="8864604" y="5137086"/>
            <a:ext cx="134549" cy="195707"/>
          </a:xfrm>
          <a:prstGeom prst="rect">
            <a:avLst/>
          </a:prstGeom>
        </p:spPr>
      </p:pic>
      <p:sp>
        <p:nvSpPr>
          <p:cNvPr id="43" name="TextBox 42"/>
          <p:cNvSpPr txBox="1"/>
          <p:nvPr/>
        </p:nvSpPr>
        <p:spPr>
          <a:xfrm>
            <a:off x="9039713" y="51473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4" name="TextBox 43"/>
          <p:cNvSpPr txBox="1"/>
          <p:nvPr/>
        </p:nvSpPr>
        <p:spPr>
          <a:xfrm>
            <a:off x="276225" y="5375147"/>
            <a:ext cx="3867794" cy="194310"/>
          </a:xfrm>
          <a:prstGeom prst="rect">
            <a:avLst/>
          </a:prstGeom>
          <a:noFill/>
        </p:spPr>
        <p:txBody>
          <a:bodyPr wrap="none" lIns="0" rIns="0" tIns="0" bIns="0">
            <a:spAutoFit/>
          </a:bodyPr>
          <a:lstStyle/>
          <a:p>
            <a:r>
              <a:rPr sz="1150" b="0">
                <a:solidFill>
                  <a:srgbClr val="2E2E2E"/>
                </a:solidFill>
                <a:latin typeface="Calibri"/>
              </a:rPr>
              <a:t>Europe is expected to create an incremental opportunity of US$</a:t>
            </a:r>
          </a:p>
        </p:txBody>
      </p:sp>
      <p:pic>
        <p:nvPicPr>
          <p:cNvPr id="45" name="Picture 44" descr="lock.png"/>
          <p:cNvPicPr>
            <a:picLocks noChangeAspect="1"/>
          </p:cNvPicPr>
          <p:nvPr/>
        </p:nvPicPr>
        <p:blipFill>
          <a:blip r:embed="rId6"/>
          <a:stretch>
            <a:fillRect/>
          </a:stretch>
        </p:blipFill>
        <p:spPr>
          <a:xfrm>
            <a:off x="4093173" y="5364924"/>
            <a:ext cx="134549" cy="195707"/>
          </a:xfrm>
          <a:prstGeom prst="rect">
            <a:avLst/>
          </a:prstGeom>
        </p:spPr>
      </p:pic>
      <p:sp>
        <p:nvSpPr>
          <p:cNvPr id="46" name="TextBox 45"/>
          <p:cNvSpPr txBox="1"/>
          <p:nvPr/>
        </p:nvSpPr>
        <p:spPr>
          <a:xfrm>
            <a:off x="4268283" y="5375147"/>
            <a:ext cx="6342657"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2025 to 2036. Absolute $ value for 2026 is estimated to be US$</a:t>
            </a:r>
          </a:p>
        </p:txBody>
      </p:sp>
      <p:pic>
        <p:nvPicPr>
          <p:cNvPr id="47" name="Picture 46" descr="lock.png"/>
          <p:cNvPicPr>
            <a:picLocks noChangeAspect="1"/>
          </p:cNvPicPr>
          <p:nvPr/>
        </p:nvPicPr>
        <p:blipFill>
          <a:blip r:embed="rId6"/>
          <a:stretch>
            <a:fillRect/>
          </a:stretch>
        </p:blipFill>
        <p:spPr>
          <a:xfrm>
            <a:off x="10560094" y="5364924"/>
            <a:ext cx="134549" cy="195707"/>
          </a:xfrm>
          <a:prstGeom prst="rect">
            <a:avLst/>
          </a:prstGeom>
        </p:spPr>
      </p:pic>
      <p:sp>
        <p:nvSpPr>
          <p:cNvPr id="48" name="TextBox 47"/>
          <p:cNvSpPr txBox="1"/>
          <p:nvPr/>
        </p:nvSpPr>
        <p:spPr>
          <a:xfrm>
            <a:off x="10735204" y="5375147"/>
            <a:ext cx="1066031" cy="194310"/>
          </a:xfrm>
          <a:prstGeom prst="rect">
            <a:avLst/>
          </a:prstGeom>
          <a:noFill/>
        </p:spPr>
        <p:txBody>
          <a:bodyPr wrap="none" lIns="0" rIns="0" tIns="0" bIns="0">
            <a:spAutoFit/>
          </a:bodyPr>
          <a:lstStyle/>
          <a:p>
            <a:r>
              <a:rPr sz="1150" b="0">
                <a:solidFill>
                  <a:srgbClr val="2E2E2E"/>
                </a:solidFill>
                <a:latin typeface="Calibri"/>
              </a:rPr>
              <a:t>Mn. Europe crab</a:t>
            </a:r>
          </a:p>
        </p:txBody>
      </p:sp>
      <p:sp>
        <p:nvSpPr>
          <p:cNvPr id="49" name="TextBox 48"/>
          <p:cNvSpPr txBox="1"/>
          <p:nvPr/>
        </p:nvSpPr>
        <p:spPr>
          <a:xfrm>
            <a:off x="276225" y="5550407"/>
            <a:ext cx="2221879" cy="194310"/>
          </a:xfrm>
          <a:prstGeom prst="rect">
            <a:avLst/>
          </a:prstGeom>
          <a:noFill/>
        </p:spPr>
        <p:txBody>
          <a:bodyPr wrap="none" lIns="0" rIns="0" tIns="0" bIns="0">
            <a:spAutoFit/>
          </a:bodyPr>
          <a:lstStyle/>
          <a:p>
            <a:r>
              <a:rPr sz="1150" b="0">
                <a:solidFill>
                  <a:srgbClr val="2E2E2E"/>
                </a:solidFill>
                <a:latin typeface="Calibri"/>
              </a:rPr>
              <a:t>meat market is projected to register</a:t>
            </a:r>
          </a:p>
        </p:txBody>
      </p:sp>
      <p:pic>
        <p:nvPicPr>
          <p:cNvPr id="50" name="Picture 49" descr="lock.png"/>
          <p:cNvPicPr>
            <a:picLocks noChangeAspect="1"/>
          </p:cNvPicPr>
          <p:nvPr/>
        </p:nvPicPr>
        <p:blipFill>
          <a:blip r:embed="rId6"/>
          <a:stretch>
            <a:fillRect/>
          </a:stretch>
        </p:blipFill>
        <p:spPr>
          <a:xfrm>
            <a:off x="2447258" y="5540184"/>
            <a:ext cx="134549" cy="195707"/>
          </a:xfrm>
          <a:prstGeom prst="rect">
            <a:avLst/>
          </a:prstGeom>
        </p:spPr>
      </p:pic>
      <p:sp>
        <p:nvSpPr>
          <p:cNvPr id="51" name="TextBox 50"/>
          <p:cNvSpPr txBox="1"/>
          <p:nvPr/>
        </p:nvSpPr>
        <p:spPr>
          <a:xfrm>
            <a:off x="2622368" y="555040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2" name="TextBox 51"/>
          <p:cNvSpPr txBox="1"/>
          <p:nvPr/>
        </p:nvSpPr>
        <p:spPr>
          <a:xfrm>
            <a:off x="276225" y="5778245"/>
            <a:ext cx="2592709" cy="194310"/>
          </a:xfrm>
          <a:prstGeom prst="rect">
            <a:avLst/>
          </a:prstGeom>
          <a:noFill/>
        </p:spPr>
        <p:txBody>
          <a:bodyPr wrap="none" lIns="0" rIns="0" tIns="0" bIns="0">
            <a:spAutoFit/>
          </a:bodyPr>
          <a:lstStyle/>
          <a:p>
            <a:r>
              <a:rPr sz="1150" b="0">
                <a:solidFill>
                  <a:srgbClr val="2E2E2E"/>
                </a:solidFill>
                <a:latin typeface="Calibri"/>
              </a:rPr>
              <a:t>Europe crab meat market volume stood at</a:t>
            </a:r>
          </a:p>
        </p:txBody>
      </p:sp>
      <p:pic>
        <p:nvPicPr>
          <p:cNvPr id="53" name="Picture 52" descr="lock.png"/>
          <p:cNvPicPr>
            <a:picLocks noChangeAspect="1"/>
          </p:cNvPicPr>
          <p:nvPr/>
        </p:nvPicPr>
        <p:blipFill>
          <a:blip r:embed="rId6"/>
          <a:stretch>
            <a:fillRect/>
          </a:stretch>
        </p:blipFill>
        <p:spPr>
          <a:xfrm>
            <a:off x="2818088" y="5768022"/>
            <a:ext cx="134549" cy="195707"/>
          </a:xfrm>
          <a:prstGeom prst="rect">
            <a:avLst/>
          </a:prstGeom>
        </p:spPr>
      </p:pic>
      <p:sp>
        <p:nvSpPr>
          <p:cNvPr id="54" name="TextBox 53"/>
          <p:cNvSpPr txBox="1"/>
          <p:nvPr/>
        </p:nvSpPr>
        <p:spPr>
          <a:xfrm>
            <a:off x="2993198" y="577824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55" name="Picture 54" descr="lock.png"/>
          <p:cNvPicPr>
            <a:picLocks noChangeAspect="1"/>
          </p:cNvPicPr>
          <p:nvPr/>
        </p:nvPicPr>
        <p:blipFill>
          <a:blip r:embed="rId6"/>
          <a:stretch>
            <a:fillRect/>
          </a:stretch>
        </p:blipFill>
        <p:spPr>
          <a:xfrm>
            <a:off x="5171933" y="5768022"/>
            <a:ext cx="134549" cy="195707"/>
          </a:xfrm>
          <a:prstGeom prst="rect">
            <a:avLst/>
          </a:prstGeom>
        </p:spPr>
      </p:pic>
      <p:sp>
        <p:nvSpPr>
          <p:cNvPr id="56" name="TextBox 55"/>
          <p:cNvSpPr txBox="1"/>
          <p:nvPr/>
        </p:nvSpPr>
        <p:spPr>
          <a:xfrm>
            <a:off x="5347043" y="577824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57" name="Picture 56" descr="lock.png"/>
          <p:cNvPicPr>
            <a:picLocks noChangeAspect="1"/>
          </p:cNvPicPr>
          <p:nvPr/>
        </p:nvPicPr>
        <p:blipFill>
          <a:blip r:embed="rId6"/>
          <a:stretch>
            <a:fillRect/>
          </a:stretch>
        </p:blipFill>
        <p:spPr>
          <a:xfrm>
            <a:off x="7146658" y="5768022"/>
            <a:ext cx="134549" cy="195707"/>
          </a:xfrm>
          <a:prstGeom prst="rect">
            <a:avLst/>
          </a:prstGeom>
        </p:spPr>
      </p:pic>
      <p:sp>
        <p:nvSpPr>
          <p:cNvPr id="58" name="TextBox 57"/>
          <p:cNvSpPr txBox="1"/>
          <p:nvPr/>
        </p:nvSpPr>
        <p:spPr>
          <a:xfrm>
            <a:off x="7321767" y="5778245"/>
            <a:ext cx="391200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 forecast</a:t>
            </a:r>
          </a:p>
        </p:txBody>
      </p:sp>
      <p:sp>
        <p:nvSpPr>
          <p:cNvPr id="59" name="TextBox 58"/>
          <p:cNvSpPr txBox="1"/>
          <p:nvPr/>
        </p:nvSpPr>
        <p:spPr>
          <a:xfrm>
            <a:off x="276225" y="5953505"/>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60"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1952667"/>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9" name="Rectangle 18"/>
          <p:cNvSpPr/>
          <p:nvPr/>
        </p:nvSpPr>
        <p:spPr>
          <a:xfrm>
            <a:off x="4210050" y="3245678"/>
            <a:ext cx="1726354" cy="1480514"/>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0" name="Rectangle 19"/>
          <p:cNvSpPr/>
          <p:nvPr/>
        </p:nvSpPr>
        <p:spPr>
          <a:xfrm>
            <a:off x="4210050" y="4726192"/>
            <a:ext cx="1726354" cy="1152417"/>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5936404" y="3245678"/>
            <a:ext cx="1039820" cy="1086661"/>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Italy</a:t>
            </a:r>
          </a:p>
          <a:p>
            <a:pPr algn="ctr"/>
            <a:r>
              <a:rPr sz="1100" b="0">
                <a:solidFill>
                  <a:srgbClr val="FFFFFF"/>
                </a:solidFill>
                <a:latin typeface="Calibri"/>
              </a:rPr>
              <a:t> </a:t>
            </a:r>
          </a:p>
        </p:txBody>
      </p:sp>
      <p:sp>
        <p:nvSpPr>
          <p:cNvPr id="22" name="Rectangle 21"/>
          <p:cNvSpPr/>
          <p:nvPr/>
        </p:nvSpPr>
        <p:spPr>
          <a:xfrm>
            <a:off x="6976224" y="3245678"/>
            <a:ext cx="977151" cy="1086661"/>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Spain</a:t>
            </a:r>
          </a:p>
          <a:p>
            <a:pPr algn="ctr"/>
            <a:r>
              <a:rPr sz="1100" b="0">
                <a:solidFill>
                  <a:srgbClr val="FFFFFF"/>
                </a:solidFill>
                <a:latin typeface="Calibri"/>
              </a:rPr>
              <a:t> </a:t>
            </a:r>
          </a:p>
        </p:txBody>
      </p:sp>
      <p:sp>
        <p:nvSpPr>
          <p:cNvPr id="23" name="Rectangle 22"/>
          <p:cNvSpPr/>
          <p:nvPr/>
        </p:nvSpPr>
        <p:spPr>
          <a:xfrm>
            <a:off x="5936404" y="4332340"/>
            <a:ext cx="970618" cy="790945"/>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Netherlands</a:t>
            </a:r>
          </a:p>
          <a:p>
            <a:pPr algn="ctr"/>
            <a:r>
              <a:rPr sz="1100" b="0">
                <a:solidFill>
                  <a:srgbClr val="FFFFFF"/>
                </a:solidFill>
                <a:latin typeface="Calibri"/>
              </a:rPr>
              <a:t> </a:t>
            </a:r>
          </a:p>
        </p:txBody>
      </p:sp>
      <p:sp>
        <p:nvSpPr>
          <p:cNvPr id="24" name="Rectangle 23"/>
          <p:cNvSpPr/>
          <p:nvPr/>
        </p:nvSpPr>
        <p:spPr>
          <a:xfrm>
            <a:off x="5936404" y="5123285"/>
            <a:ext cx="970618" cy="755324"/>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Belgium</a:t>
            </a:r>
          </a:p>
          <a:p>
            <a:pPr algn="ctr"/>
            <a:r>
              <a:rPr sz="1100" b="0">
                <a:solidFill>
                  <a:srgbClr val="FFFFFF"/>
                </a:solidFill>
                <a:latin typeface="Calibri"/>
              </a:rPr>
              <a:t> </a:t>
            </a:r>
          </a:p>
        </p:txBody>
      </p:sp>
      <p:sp>
        <p:nvSpPr>
          <p:cNvPr id="25" name="Rectangle 24"/>
          <p:cNvSpPr/>
          <p:nvPr/>
        </p:nvSpPr>
        <p:spPr>
          <a:xfrm>
            <a:off x="6907022" y="4332340"/>
            <a:ext cx="1046353" cy="5524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Nordic</a:t>
            </a:r>
          </a:p>
          <a:p>
            <a:pPr algn="ctr"/>
            <a:r>
              <a:rPr sz="1100" b="0">
                <a:solidFill>
                  <a:srgbClr val="FFFFFF"/>
                </a:solidFill>
                <a:latin typeface="Calibri"/>
              </a:rPr>
              <a:t> </a:t>
            </a:r>
          </a:p>
        </p:txBody>
      </p:sp>
      <p:sp>
        <p:nvSpPr>
          <p:cNvPr id="26" name="Rectangle 25"/>
          <p:cNvSpPr/>
          <p:nvPr/>
        </p:nvSpPr>
        <p:spPr>
          <a:xfrm>
            <a:off x="6907022" y="4884806"/>
            <a:ext cx="553718" cy="993804"/>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7" name="Rectangle 26"/>
          <p:cNvSpPr/>
          <p:nvPr/>
        </p:nvSpPr>
        <p:spPr>
          <a:xfrm>
            <a:off x="7460740" y="4884806"/>
            <a:ext cx="492635" cy="993804"/>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Poland</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14775" cy="2159451"/>
        </p:xfrm>
        <a:graphic>
          <a:graphicData uri="http://schemas.openxmlformats.org/drawingml/2006/table">
            <a:tbl>
              <a:tblPr>
                <a:tableStyleId>{5C22544A-7EE6-4342-B048-85BDC9FD1C3A}</a:tableStyleId>
              </a:tblPr>
              <a:tblGrid>
                <a:gridCol w="955219"/>
                <a:gridCol w="1140340"/>
                <a:gridCol w="623616"/>
                <a:gridCol w="119560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6024086" y="2269344"/>
            <a:ext cx="115252" cy="167639"/>
          </a:xfrm>
          <a:prstGeom prst="rect">
            <a:avLst/>
          </a:prstGeom>
        </p:spPr>
      </p:pic>
      <p:pic>
        <p:nvPicPr>
          <p:cNvPr id="39" name="Picture 38" descr="lock.png"/>
          <p:cNvPicPr>
            <a:picLocks noChangeAspect="1"/>
          </p:cNvPicPr>
          <p:nvPr/>
        </p:nvPicPr>
        <p:blipFill>
          <a:blip r:embed="rId6"/>
          <a:stretch>
            <a:fillRect/>
          </a:stretch>
        </p:blipFill>
        <p:spPr>
          <a:xfrm>
            <a:off x="5015601" y="3985934"/>
            <a:ext cx="115252" cy="167639"/>
          </a:xfrm>
          <a:prstGeom prst="rect">
            <a:avLst/>
          </a:prstGeom>
        </p:spPr>
      </p:pic>
      <p:pic>
        <p:nvPicPr>
          <p:cNvPr id="40" name="Picture 39" descr="lock.png"/>
          <p:cNvPicPr>
            <a:picLocks noChangeAspect="1"/>
          </p:cNvPicPr>
          <p:nvPr/>
        </p:nvPicPr>
        <p:blipFill>
          <a:blip r:embed="rId6"/>
          <a:stretch>
            <a:fillRect/>
          </a:stretch>
        </p:blipFill>
        <p:spPr>
          <a:xfrm>
            <a:off x="5015601" y="5302400"/>
            <a:ext cx="115252" cy="167639"/>
          </a:xfrm>
          <a:prstGeom prst="rect">
            <a:avLst/>
          </a:prstGeom>
        </p:spPr>
      </p:pic>
      <p:pic>
        <p:nvPicPr>
          <p:cNvPr id="41" name="Picture 40" descr="lock.png"/>
          <p:cNvPicPr>
            <a:picLocks noChangeAspect="1"/>
          </p:cNvPicPr>
          <p:nvPr/>
        </p:nvPicPr>
        <p:blipFill>
          <a:blip r:embed="rId6"/>
          <a:stretch>
            <a:fillRect/>
          </a:stretch>
        </p:blipFill>
        <p:spPr>
          <a:xfrm>
            <a:off x="6398688" y="3789008"/>
            <a:ext cx="115252" cy="167639"/>
          </a:xfrm>
          <a:prstGeom prst="rect">
            <a:avLst/>
          </a:prstGeom>
        </p:spPr>
      </p:pic>
      <p:pic>
        <p:nvPicPr>
          <p:cNvPr id="42" name="Picture 41" descr="lock.png"/>
          <p:cNvPicPr>
            <a:picLocks noChangeAspect="1"/>
          </p:cNvPicPr>
          <p:nvPr/>
        </p:nvPicPr>
        <p:blipFill>
          <a:blip r:embed="rId6"/>
          <a:stretch>
            <a:fillRect/>
          </a:stretch>
        </p:blipFill>
        <p:spPr>
          <a:xfrm>
            <a:off x="7407173" y="3789008"/>
            <a:ext cx="115252" cy="167639"/>
          </a:xfrm>
          <a:prstGeom prst="rect">
            <a:avLst/>
          </a:prstGeom>
        </p:spPr>
      </p:pic>
      <p:pic>
        <p:nvPicPr>
          <p:cNvPr id="43" name="Picture 42" descr="lock.png"/>
          <p:cNvPicPr>
            <a:picLocks noChangeAspect="1"/>
          </p:cNvPicPr>
          <p:nvPr/>
        </p:nvPicPr>
        <p:blipFill>
          <a:blip r:embed="rId6"/>
          <a:stretch>
            <a:fillRect/>
          </a:stretch>
        </p:blipFill>
        <p:spPr>
          <a:xfrm>
            <a:off x="6364087" y="4727812"/>
            <a:ext cx="115252" cy="167639"/>
          </a:xfrm>
          <a:prstGeom prst="rect">
            <a:avLst/>
          </a:prstGeom>
        </p:spPr>
      </p:pic>
      <p:pic>
        <p:nvPicPr>
          <p:cNvPr id="44" name="Picture 43" descr="lock.png"/>
          <p:cNvPicPr>
            <a:picLocks noChangeAspect="1"/>
          </p:cNvPicPr>
          <p:nvPr/>
        </p:nvPicPr>
        <p:blipFill>
          <a:blip r:embed="rId6"/>
          <a:stretch>
            <a:fillRect/>
          </a:stretch>
        </p:blipFill>
        <p:spPr>
          <a:xfrm>
            <a:off x="6364087" y="5500947"/>
            <a:ext cx="115252" cy="167639"/>
          </a:xfrm>
          <a:prstGeom prst="rect">
            <a:avLst/>
          </a:prstGeom>
        </p:spPr>
      </p:pic>
      <p:pic>
        <p:nvPicPr>
          <p:cNvPr id="45" name="Picture 44" descr="lock.png"/>
          <p:cNvPicPr>
            <a:picLocks noChangeAspect="1"/>
          </p:cNvPicPr>
          <p:nvPr/>
        </p:nvPicPr>
        <p:blipFill>
          <a:blip r:embed="rId6"/>
          <a:stretch>
            <a:fillRect/>
          </a:stretch>
        </p:blipFill>
        <p:spPr>
          <a:xfrm>
            <a:off x="7372572" y="4608573"/>
            <a:ext cx="115252" cy="167639"/>
          </a:xfrm>
          <a:prstGeom prst="rect">
            <a:avLst/>
          </a:prstGeom>
        </p:spPr>
      </p:pic>
      <p:pic>
        <p:nvPicPr>
          <p:cNvPr id="46" name="Picture 45" descr="lock.png"/>
          <p:cNvPicPr>
            <a:picLocks noChangeAspect="1"/>
          </p:cNvPicPr>
          <p:nvPr/>
        </p:nvPicPr>
        <p:blipFill>
          <a:blip r:embed="rId6"/>
          <a:stretch>
            <a:fillRect/>
          </a:stretch>
        </p:blipFill>
        <p:spPr>
          <a:xfrm>
            <a:off x="7126254" y="5381708"/>
            <a:ext cx="115252" cy="167639"/>
          </a:xfrm>
          <a:prstGeom prst="rect">
            <a:avLst/>
          </a:prstGeom>
        </p:spPr>
      </p:pic>
      <p:pic>
        <p:nvPicPr>
          <p:cNvPr id="47" name="Picture 46" descr="lock.png"/>
          <p:cNvPicPr>
            <a:picLocks noChangeAspect="1"/>
          </p:cNvPicPr>
          <p:nvPr/>
        </p:nvPicPr>
        <p:blipFill>
          <a:blip r:embed="rId6"/>
          <a:stretch>
            <a:fillRect/>
          </a:stretch>
        </p:blipFill>
        <p:spPr>
          <a:xfrm>
            <a:off x="7649431" y="5381708"/>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358843" y="4504207"/>
            <a:ext cx="338649" cy="492581"/>
          </a:xfrm>
          <a:prstGeom prst="rect">
            <a:avLst/>
          </a:prstGeom>
        </p:spPr>
      </p:pic>
      <p:sp>
        <p:nvSpPr>
          <p:cNvPr id="50" name="TextBox 49"/>
          <p:cNvSpPr txBox="1"/>
          <p:nvPr/>
        </p:nvSpPr>
        <p:spPr>
          <a:xfrm>
            <a:off x="257175" y="6160574"/>
            <a:ext cx="2961878" cy="186689"/>
          </a:xfrm>
          <a:prstGeom prst="rect">
            <a:avLst/>
          </a:prstGeom>
          <a:noFill/>
        </p:spPr>
        <p:txBody>
          <a:bodyPr wrap="none" lIns="0" rIns="0" tIns="0" bIns="0">
            <a:spAutoFit/>
          </a:bodyPr>
          <a:lstStyle/>
          <a:p>
            <a:r>
              <a:rPr sz="1100" b="0">
                <a:solidFill>
                  <a:srgbClr val="2E2E2E"/>
                </a:solidFill>
                <a:latin typeface="Calibri"/>
              </a:rPr>
              <a:t>Germany crab meat market is projected to register</a:t>
            </a:r>
          </a:p>
        </p:txBody>
      </p:sp>
      <p:pic>
        <p:nvPicPr>
          <p:cNvPr id="51" name="Picture 50" descr="lock.png"/>
          <p:cNvPicPr>
            <a:picLocks noChangeAspect="1"/>
          </p:cNvPicPr>
          <p:nvPr/>
        </p:nvPicPr>
        <p:blipFill>
          <a:blip r:embed="rId6"/>
          <a:stretch>
            <a:fillRect/>
          </a:stretch>
        </p:blipFill>
        <p:spPr>
          <a:xfrm>
            <a:off x="3167104" y="6150795"/>
            <a:ext cx="128699" cy="187198"/>
          </a:xfrm>
          <a:prstGeom prst="rect">
            <a:avLst/>
          </a:prstGeom>
        </p:spPr>
      </p:pic>
      <p:sp>
        <p:nvSpPr>
          <p:cNvPr id="52" name="TextBox 51"/>
          <p:cNvSpPr txBox="1"/>
          <p:nvPr/>
        </p:nvSpPr>
        <p:spPr>
          <a:xfrm>
            <a:off x="3334600" y="6160574"/>
            <a:ext cx="4472094" cy="186689"/>
          </a:xfrm>
          <a:prstGeom prst="rect">
            <a:avLst/>
          </a:prstGeom>
          <a:noFill/>
        </p:spPr>
        <p:txBody>
          <a:bodyPr wrap="none" lIns="0" rIns="0" tIns="0" bIns="0">
            <a:spAutoFit/>
          </a:bodyPr>
          <a:lstStyle/>
          <a:p>
            <a:r>
              <a:rPr sz="1100" b="0">
                <a:solidFill>
                  <a:srgbClr val="2E2E2E"/>
                </a:solidFill>
                <a:latin typeface="Calibri"/>
              </a:rPr>
              <a:t>X higher value than the U.K. in 2036. Germany posts the highest CAGR Index (</a:t>
            </a:r>
          </a:p>
        </p:txBody>
      </p:sp>
      <p:pic>
        <p:nvPicPr>
          <p:cNvPr id="53" name="Picture 52" descr="lock.png"/>
          <p:cNvPicPr>
            <a:picLocks noChangeAspect="1"/>
          </p:cNvPicPr>
          <p:nvPr/>
        </p:nvPicPr>
        <p:blipFill>
          <a:blip r:embed="rId6"/>
          <a:stretch>
            <a:fillRect/>
          </a:stretch>
        </p:blipFill>
        <p:spPr>
          <a:xfrm>
            <a:off x="7754746" y="6150795"/>
            <a:ext cx="128699" cy="187198"/>
          </a:xfrm>
          <a:prstGeom prst="rect">
            <a:avLst/>
          </a:prstGeom>
        </p:spPr>
      </p:pic>
      <p:sp>
        <p:nvSpPr>
          <p:cNvPr id="54" name="TextBox 53"/>
          <p:cNvSpPr txBox="1"/>
          <p:nvPr/>
        </p:nvSpPr>
        <p:spPr>
          <a:xfrm>
            <a:off x="7922242"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8660273" y="6150795"/>
            <a:ext cx="128699" cy="187198"/>
          </a:xfrm>
          <a:prstGeom prst="rect">
            <a:avLst/>
          </a:prstGeom>
        </p:spPr>
      </p:pic>
      <p:sp>
        <p:nvSpPr>
          <p:cNvPr id="56" name="TextBox 55"/>
          <p:cNvSpPr txBox="1"/>
          <p:nvPr/>
        </p:nvSpPr>
        <p:spPr>
          <a:xfrm>
            <a:off x="8827769" y="6160574"/>
            <a:ext cx="1849462" cy="186689"/>
          </a:xfrm>
          <a:prstGeom prst="rect">
            <a:avLst/>
          </a:prstGeom>
          <a:noFill/>
        </p:spPr>
        <p:txBody>
          <a:bodyPr wrap="none" lIns="0" rIns="0" tIns="0" bIns="0">
            <a:spAutoFit/>
          </a:bodyPr>
          <a:lstStyle/>
          <a:p>
            <a:r>
              <a:rPr sz="1100" b="0">
                <a:solidFill>
                  <a:srgbClr val="2E2E2E"/>
                </a:solidFill>
                <a:latin typeface="Calibri"/>
              </a:rPr>
              <a:t>against the Europe benchmark,</a:t>
            </a:r>
          </a:p>
        </p:txBody>
      </p:sp>
      <p:sp>
        <p:nvSpPr>
          <p:cNvPr id="57" name="TextBox 56"/>
          <p:cNvSpPr txBox="1"/>
          <p:nvPr/>
        </p:nvSpPr>
        <p:spPr>
          <a:xfrm>
            <a:off x="257175" y="6328214"/>
            <a:ext cx="3171155" cy="186689"/>
          </a:xfrm>
          <a:prstGeom prst="rect">
            <a:avLst/>
          </a:prstGeom>
          <a:noFill/>
        </p:spPr>
        <p:txBody>
          <a:bodyPr wrap="none" lIns="0" rIns="0" tIns="0" bIns="0">
            <a:spAutoFit/>
          </a:bodyPr>
          <a:lstStyle/>
          <a:p>
            <a:r>
              <a:rPr sz="1100" b="0">
                <a:solidFill>
                  <a:srgbClr val="2E2E2E"/>
                </a:solidFill>
                <a:latin typeface="Calibri"/>
              </a:rPr>
              <a:t>while Germany offers the largest absolute opportunity</a:t>
            </a:r>
          </a:p>
        </p:txBody>
      </p:sp>
      <p:pic>
        <p:nvPicPr>
          <p:cNvPr id="58" name="Picture 57" descr="lock.png"/>
          <p:cNvPicPr>
            <a:picLocks noChangeAspect="1"/>
          </p:cNvPicPr>
          <p:nvPr/>
        </p:nvPicPr>
        <p:blipFill>
          <a:blip r:embed="rId6"/>
          <a:stretch>
            <a:fillRect/>
          </a:stretch>
        </p:blipFill>
        <p:spPr>
          <a:xfrm>
            <a:off x="3376381" y="6318435"/>
            <a:ext cx="128699" cy="187198"/>
          </a:xfrm>
          <a:prstGeom prst="rect">
            <a:avLst/>
          </a:prstGeom>
        </p:spPr>
      </p:pic>
      <p:sp>
        <p:nvSpPr>
          <p:cNvPr id="59" name="TextBox 58"/>
          <p:cNvSpPr txBox="1"/>
          <p:nvPr/>
        </p:nvSpPr>
        <p:spPr>
          <a:xfrm>
            <a:off x="3543877"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6803875" y="6318435"/>
            <a:ext cx="128699" cy="187198"/>
          </a:xfrm>
          <a:prstGeom prst="rect">
            <a:avLst/>
          </a:prstGeom>
        </p:spPr>
      </p:pic>
      <p:sp>
        <p:nvSpPr>
          <p:cNvPr id="61" name="TextBox 60"/>
          <p:cNvSpPr txBox="1"/>
          <p:nvPr/>
        </p:nvSpPr>
        <p:spPr>
          <a:xfrm>
            <a:off x="6971371" y="6328214"/>
            <a:ext cx="1546597" cy="186689"/>
          </a:xfrm>
          <a:prstGeom prst="rect">
            <a:avLst/>
          </a:prstGeom>
          <a:noFill/>
        </p:spPr>
        <p:txBody>
          <a:bodyPr wrap="none" lIns="0" rIns="0" tIns="0" bIns="0">
            <a:spAutoFit/>
          </a:bodyPr>
          <a:lstStyle/>
          <a:p>
            <a:r>
              <a:rPr sz="1100" b="0">
                <a:solidFill>
                  <a:srgbClr val="2E2E2E"/>
                </a:solidFill>
                <a:latin typeface="Calibri"/>
              </a:rPr>
              <a:t>of the Europe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2407698"/>
                <a:gridCol w="3159834"/>
                <a:gridCol w="3159834"/>
                <a:gridCol w="3159834"/>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Switzerland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Nordic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1865968"/>
                <a:gridCol w="3340411"/>
                <a:gridCol w="3340411"/>
                <a:gridCol w="334041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Italy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Belgium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Poland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7113159" y="1656588"/>
            <a:ext cx="366712" cy="533399"/>
          </a:xfrm>
          <a:prstGeom prst="rect">
            <a:avLst/>
          </a:prstGeom>
        </p:spPr>
      </p:pic>
      <p:pic>
        <p:nvPicPr>
          <p:cNvPr id="18" name="Picture 17" descr="lock.png"/>
          <p:cNvPicPr>
            <a:picLocks noChangeAspect="1"/>
          </p:cNvPicPr>
          <p:nvPr/>
        </p:nvPicPr>
        <p:blipFill>
          <a:blip r:embed="rId4"/>
          <a:stretch>
            <a:fillRect/>
          </a:stretch>
        </p:blipFill>
        <p:spPr>
          <a:xfrm>
            <a:off x="6842294" y="3580638"/>
            <a:ext cx="366712" cy="5334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'Crab Leg Meat'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Germany outpacing the Europe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meat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2898216" cy="194310"/>
          </a:xfrm>
          <a:prstGeom prst="rect">
            <a:avLst/>
          </a:prstGeom>
          <a:noFill/>
        </p:spPr>
        <p:txBody>
          <a:bodyPr wrap="none" lIns="0" rIns="0" tIns="0" bIns="0">
            <a:spAutoFit/>
          </a:bodyPr>
          <a:lstStyle/>
          <a:p>
            <a:r>
              <a:rPr sz="1150" b="0">
                <a:solidFill>
                  <a:srgbClr val="2E2E2E"/>
                </a:solidFill>
                <a:latin typeface="Calibri"/>
              </a:rPr>
              <a:t>Global crab meat market is expected to witness</a:t>
            </a:r>
          </a:p>
        </p:txBody>
      </p:sp>
      <p:pic>
        <p:nvPicPr>
          <p:cNvPr id="32" name="Picture 31" descr="lock.png"/>
          <p:cNvPicPr>
            <a:picLocks noChangeAspect="1"/>
          </p:cNvPicPr>
          <p:nvPr/>
        </p:nvPicPr>
        <p:blipFill>
          <a:blip r:embed="rId4"/>
          <a:stretch>
            <a:fillRect/>
          </a:stretch>
        </p:blipFill>
        <p:spPr>
          <a:xfrm>
            <a:off x="3123595" y="1389951"/>
            <a:ext cx="134549" cy="195707"/>
          </a:xfrm>
          <a:prstGeom prst="rect">
            <a:avLst/>
          </a:prstGeom>
        </p:spPr>
      </p:pic>
      <p:sp>
        <p:nvSpPr>
          <p:cNvPr id="33" name="TextBox 32"/>
          <p:cNvSpPr txBox="1"/>
          <p:nvPr/>
        </p:nvSpPr>
        <p:spPr>
          <a:xfrm>
            <a:off x="3298705" y="1400175"/>
            <a:ext cx="4786883" cy="194310"/>
          </a:xfrm>
          <a:prstGeom prst="rect">
            <a:avLst/>
          </a:prstGeom>
          <a:noFill/>
        </p:spPr>
        <p:txBody>
          <a:bodyPr wrap="none" lIns="0" rIns="0" tIns="0" bIns="0">
            <a:spAutoFit/>
          </a:bodyPr>
          <a:lstStyle/>
          <a:p>
            <a:r>
              <a:rPr sz="1150" b="0">
                <a:solidFill>
                  <a:srgbClr val="2E2E2E"/>
                </a:solidFill>
                <a:latin typeface="Calibri"/>
              </a:rPr>
              <a:t>X increase in revenue by 2036 end. Global crab meat market accounted for US$</a:t>
            </a:r>
          </a:p>
        </p:txBody>
      </p:sp>
      <p:pic>
        <p:nvPicPr>
          <p:cNvPr id="34" name="Picture 33" descr="lock.png"/>
          <p:cNvPicPr>
            <a:picLocks noChangeAspect="1"/>
          </p:cNvPicPr>
          <p:nvPr/>
        </p:nvPicPr>
        <p:blipFill>
          <a:blip r:embed="rId4"/>
          <a:stretch>
            <a:fillRect/>
          </a:stretch>
        </p:blipFill>
        <p:spPr>
          <a:xfrm>
            <a:off x="8034742" y="1389951"/>
            <a:ext cx="134549" cy="195707"/>
          </a:xfrm>
          <a:prstGeom prst="rect">
            <a:avLst/>
          </a:prstGeom>
        </p:spPr>
      </p:pic>
      <p:sp>
        <p:nvSpPr>
          <p:cNvPr id="35" name="TextBox 34"/>
          <p:cNvSpPr txBox="1"/>
          <p:nvPr/>
        </p:nvSpPr>
        <p:spPr>
          <a:xfrm>
            <a:off x="8209851" y="1400175"/>
            <a:ext cx="2992350" cy="194310"/>
          </a:xfrm>
          <a:prstGeom prst="rect">
            <a:avLst/>
          </a:prstGeom>
          <a:noFill/>
        </p:spPr>
        <p:txBody>
          <a:bodyPr wrap="none" lIns="0" rIns="0" tIns="0" bIns="0">
            <a:spAutoFit/>
          </a:bodyPr>
          <a:lstStyle/>
          <a:p>
            <a:r>
              <a:rPr sz="1150" b="0">
                <a:solidFill>
                  <a:srgbClr val="2E2E2E"/>
                </a:solidFill>
                <a:latin typeface="Calibri"/>
              </a:rPr>
              <a:t>Mn in 2025, which is expected to increase to US$</a:t>
            </a:r>
          </a:p>
        </p:txBody>
      </p:sp>
      <p:pic>
        <p:nvPicPr>
          <p:cNvPr id="36" name="Picture 35" descr="lock.png"/>
          <p:cNvPicPr>
            <a:picLocks noChangeAspect="1"/>
          </p:cNvPicPr>
          <p:nvPr/>
        </p:nvPicPr>
        <p:blipFill>
          <a:blip r:embed="rId4"/>
          <a:stretch>
            <a:fillRect/>
          </a:stretch>
        </p:blipFill>
        <p:spPr>
          <a:xfrm>
            <a:off x="11151355" y="1389951"/>
            <a:ext cx="134549" cy="195707"/>
          </a:xfrm>
          <a:prstGeom prst="rect">
            <a:avLst/>
          </a:prstGeom>
        </p:spPr>
      </p:pic>
      <p:sp>
        <p:nvSpPr>
          <p:cNvPr id="37" name="TextBox 36"/>
          <p:cNvSpPr txBox="1"/>
          <p:nvPr/>
        </p:nvSpPr>
        <p:spPr>
          <a:xfrm>
            <a:off x="11326465" y="1400175"/>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8" name="TextBox 37"/>
          <p:cNvSpPr txBox="1"/>
          <p:nvPr/>
        </p:nvSpPr>
        <p:spPr>
          <a:xfrm>
            <a:off x="276225" y="1575435"/>
            <a:ext cx="1292790" cy="194310"/>
          </a:xfrm>
          <a:prstGeom prst="rect">
            <a:avLst/>
          </a:prstGeom>
          <a:noFill/>
        </p:spPr>
        <p:txBody>
          <a:bodyPr wrap="none" lIns="0" rIns="0" tIns="0" bIns="0">
            <a:spAutoFit/>
          </a:bodyPr>
          <a:lstStyle/>
          <a:p>
            <a:r>
              <a:rPr sz="1150" b="0">
                <a:solidFill>
                  <a:srgbClr val="2E2E2E"/>
                </a:solidFill>
                <a:latin typeface="Calibri"/>
              </a:rPr>
              <a:t>in 2036 at a CAGR of</a:t>
            </a:r>
          </a:p>
        </p:txBody>
      </p:sp>
      <p:pic>
        <p:nvPicPr>
          <p:cNvPr id="39" name="Picture 38" descr="lock.png"/>
          <p:cNvPicPr>
            <a:picLocks noChangeAspect="1"/>
          </p:cNvPicPr>
          <p:nvPr/>
        </p:nvPicPr>
        <p:blipFill>
          <a:blip r:embed="rId4"/>
          <a:stretch>
            <a:fillRect/>
          </a:stretch>
        </p:blipFill>
        <p:spPr>
          <a:xfrm>
            <a:off x="1518169" y="1565211"/>
            <a:ext cx="134549" cy="195707"/>
          </a:xfrm>
          <a:prstGeom prst="rect">
            <a:avLst/>
          </a:prstGeom>
        </p:spPr>
      </p:pic>
      <p:sp>
        <p:nvSpPr>
          <p:cNvPr id="40" name="TextBox 39"/>
          <p:cNvSpPr txBox="1"/>
          <p:nvPr/>
        </p:nvSpPr>
        <p:spPr>
          <a:xfrm>
            <a:off x="1693278"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463821" cy="194310"/>
          </a:xfrm>
          <a:prstGeom prst="rect">
            <a:avLst/>
          </a:prstGeom>
          <a:noFill/>
        </p:spPr>
        <p:txBody>
          <a:bodyPr wrap="none" lIns="0" rIns="0" tIns="0" bIns="0">
            <a:spAutoFit/>
          </a:bodyPr>
          <a:lstStyle/>
          <a:p>
            <a:r>
              <a:rPr sz="1150" b="0">
                <a:solidFill>
                  <a:srgbClr val="2E2E2E"/>
                </a:solidFill>
                <a:latin typeface="Calibri"/>
              </a:rPr>
              <a:t>The global crab meat market has been analysed on the basis of crab species, source, meat type and product format across the globe. Germany is expected to remain the largest market for crab</a:t>
            </a:r>
          </a:p>
        </p:txBody>
      </p:sp>
      <p:sp>
        <p:nvSpPr>
          <p:cNvPr id="42" name="TextBox 41"/>
          <p:cNvSpPr txBox="1"/>
          <p:nvPr/>
        </p:nvSpPr>
        <p:spPr>
          <a:xfrm>
            <a:off x="276225" y="1978533"/>
            <a:ext cx="4810826" cy="194310"/>
          </a:xfrm>
          <a:prstGeom prst="rect">
            <a:avLst/>
          </a:prstGeom>
          <a:noFill/>
        </p:spPr>
        <p:txBody>
          <a:bodyPr wrap="none" lIns="0" rIns="0" tIns="0" bIns="0">
            <a:spAutoFit/>
          </a:bodyPr>
          <a:lstStyle/>
          <a:p>
            <a:r>
              <a:rPr sz="1150" b="0">
                <a:solidFill>
                  <a:srgbClr val="2E2E2E"/>
                </a:solidFill>
                <a:latin typeface="Calibri"/>
              </a:rPr>
              <a:t>meat, while demand in Germany is projected to increase at the highest CAGR of</a:t>
            </a:r>
          </a:p>
        </p:txBody>
      </p:sp>
      <p:pic>
        <p:nvPicPr>
          <p:cNvPr id="43" name="Picture 42" descr="lock.png"/>
          <p:cNvPicPr>
            <a:picLocks noChangeAspect="1"/>
          </p:cNvPicPr>
          <p:nvPr/>
        </p:nvPicPr>
        <p:blipFill>
          <a:blip r:embed="rId4"/>
          <a:stretch>
            <a:fillRect/>
          </a:stretch>
        </p:blipFill>
        <p:spPr>
          <a:xfrm>
            <a:off x="5036205" y="1968309"/>
            <a:ext cx="134549" cy="195707"/>
          </a:xfrm>
          <a:prstGeom prst="rect">
            <a:avLst/>
          </a:prstGeom>
        </p:spPr>
      </p:pic>
      <p:sp>
        <p:nvSpPr>
          <p:cNvPr id="44" name="TextBox 43"/>
          <p:cNvSpPr txBox="1"/>
          <p:nvPr/>
        </p:nvSpPr>
        <p:spPr>
          <a:xfrm>
            <a:off x="5211314"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5557353"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meat type category 'Special Meat' holds</a:t>
            </a:r>
          </a:p>
        </p:txBody>
      </p:sp>
      <p:pic>
        <p:nvPicPr>
          <p:cNvPr id="46" name="Picture 45" descr="lock.png"/>
          <p:cNvPicPr>
            <a:picLocks noChangeAspect="1"/>
          </p:cNvPicPr>
          <p:nvPr/>
        </p:nvPicPr>
        <p:blipFill>
          <a:blip r:embed="rId4"/>
          <a:stretch>
            <a:fillRect/>
          </a:stretch>
        </p:blipFill>
        <p:spPr>
          <a:xfrm>
            <a:off x="5782732" y="3266376"/>
            <a:ext cx="134549" cy="195707"/>
          </a:xfrm>
          <a:prstGeom prst="rect">
            <a:avLst/>
          </a:prstGeom>
        </p:spPr>
      </p:pic>
      <p:sp>
        <p:nvSpPr>
          <p:cNvPr id="47" name="TextBox 46"/>
          <p:cNvSpPr txBox="1"/>
          <p:nvPr/>
        </p:nvSpPr>
        <p:spPr>
          <a:xfrm>
            <a:off x="5957842"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4943202" cy="194310"/>
          </a:xfrm>
          <a:prstGeom prst="rect">
            <a:avLst/>
          </a:prstGeom>
          <a:noFill/>
        </p:spPr>
        <p:txBody>
          <a:bodyPr wrap="none" lIns="0" rIns="0" tIns="0" bIns="0">
            <a:spAutoFit/>
          </a:bodyPr>
          <a:lstStyle/>
          <a:p>
            <a:r>
              <a:rPr sz="1150" b="0">
                <a:solidFill>
                  <a:srgbClr val="2E2E2E"/>
                </a:solidFill>
                <a:latin typeface="Calibri"/>
              </a:rPr>
              <a:t>▪ Demand spans 12 countries and 6 segmentation lenses (6 meat type categories).</a:t>
            </a:r>
          </a:p>
        </p:txBody>
      </p:sp>
      <p:sp>
        <p:nvSpPr>
          <p:cNvPr id="49" name="TextBox 48"/>
          <p:cNvSpPr txBox="1"/>
          <p:nvPr/>
        </p:nvSpPr>
        <p:spPr>
          <a:xfrm>
            <a:off x="276225" y="3732275"/>
            <a:ext cx="2599841" cy="194310"/>
          </a:xfrm>
          <a:prstGeom prst="rect">
            <a:avLst/>
          </a:prstGeom>
          <a:noFill/>
        </p:spPr>
        <p:txBody>
          <a:bodyPr wrap="none" lIns="0" rIns="0" tIns="0" bIns="0">
            <a:spAutoFit/>
          </a:bodyPr>
          <a:lstStyle/>
          <a:p>
            <a:r>
              <a:rPr sz="1150" b="0">
                <a:solidFill>
                  <a:srgbClr val="2E2E2E"/>
                </a:solidFill>
                <a:latin typeface="Calibri"/>
              </a:rPr>
              <a:t>▪ Germany is the largest country market at</a:t>
            </a:r>
          </a:p>
        </p:txBody>
      </p:sp>
      <p:pic>
        <p:nvPicPr>
          <p:cNvPr id="50" name="Picture 49" descr="lock.png"/>
          <p:cNvPicPr>
            <a:picLocks noChangeAspect="1"/>
          </p:cNvPicPr>
          <p:nvPr/>
        </p:nvPicPr>
        <p:blipFill>
          <a:blip r:embed="rId4"/>
          <a:stretch>
            <a:fillRect/>
          </a:stretch>
        </p:blipFill>
        <p:spPr>
          <a:xfrm>
            <a:off x="2825220" y="3722052"/>
            <a:ext cx="134549" cy="195707"/>
          </a:xfrm>
          <a:prstGeom prst="rect">
            <a:avLst/>
          </a:prstGeom>
        </p:spPr>
      </p:pic>
      <p:sp>
        <p:nvSpPr>
          <p:cNvPr id="51" name="TextBox 50"/>
          <p:cNvSpPr txBox="1"/>
          <p:nvPr/>
        </p:nvSpPr>
        <p:spPr>
          <a:xfrm>
            <a:off x="3000329"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532806" cy="194310"/>
          </a:xfrm>
          <a:prstGeom prst="rect">
            <a:avLst/>
          </a:prstGeom>
          <a:noFill/>
        </p:spPr>
        <p:txBody>
          <a:bodyPr wrap="none" lIns="0" rIns="0" tIns="0" bIns="0">
            <a:spAutoFit/>
          </a:bodyPr>
          <a:lstStyle/>
          <a:p>
            <a:r>
              <a:rPr sz="1150" b="0">
                <a:solidFill>
                  <a:srgbClr val="2E2E2E"/>
                </a:solidFill>
                <a:latin typeface="Calibri"/>
              </a:rPr>
              <a:t>▪ Accelerating uptake of 'Crab Leg Meat' (</a:t>
            </a:r>
          </a:p>
        </p:txBody>
      </p:sp>
      <p:pic>
        <p:nvPicPr>
          <p:cNvPr id="53" name="Picture 52" descr="lock.png"/>
          <p:cNvPicPr>
            <a:picLocks noChangeAspect="1"/>
          </p:cNvPicPr>
          <p:nvPr/>
        </p:nvPicPr>
        <p:blipFill>
          <a:blip r:embed="rId4"/>
          <a:stretch>
            <a:fillRect/>
          </a:stretch>
        </p:blipFill>
        <p:spPr>
          <a:xfrm>
            <a:off x="2758185" y="5028501"/>
            <a:ext cx="134549" cy="195707"/>
          </a:xfrm>
          <a:prstGeom prst="rect">
            <a:avLst/>
          </a:prstGeom>
        </p:spPr>
      </p:pic>
      <p:sp>
        <p:nvSpPr>
          <p:cNvPr id="54" name="TextBox 53"/>
          <p:cNvSpPr txBox="1"/>
          <p:nvPr/>
        </p:nvSpPr>
        <p:spPr>
          <a:xfrm>
            <a:off x="2933294"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250913" cy="194310"/>
          </a:xfrm>
          <a:prstGeom prst="rect">
            <a:avLst/>
          </a:prstGeom>
          <a:noFill/>
        </p:spPr>
        <p:txBody>
          <a:bodyPr wrap="none" lIns="0" rIns="0" tIns="0" bIns="0">
            <a:spAutoFit/>
          </a:bodyPr>
          <a:lstStyle/>
          <a:p>
            <a:r>
              <a:rPr sz="1150" b="0">
                <a:solidFill>
                  <a:srgbClr val="2E2E2E"/>
                </a:solidFill>
                <a:latin typeface="Calibri"/>
              </a:rPr>
              <a:t>▪ Fast-growing demand in Germany (</a:t>
            </a:r>
          </a:p>
        </p:txBody>
      </p:sp>
      <p:pic>
        <p:nvPicPr>
          <p:cNvPr id="56" name="Picture 55" descr="lock.png"/>
          <p:cNvPicPr>
            <a:picLocks noChangeAspect="1"/>
          </p:cNvPicPr>
          <p:nvPr/>
        </p:nvPicPr>
        <p:blipFill>
          <a:blip r:embed="rId4"/>
          <a:stretch>
            <a:fillRect/>
          </a:stretch>
        </p:blipFill>
        <p:spPr>
          <a:xfrm>
            <a:off x="2476292" y="5256339"/>
            <a:ext cx="134549" cy="195707"/>
          </a:xfrm>
          <a:prstGeom prst="rect">
            <a:avLst/>
          </a:prstGeom>
        </p:spPr>
      </p:pic>
      <p:sp>
        <p:nvSpPr>
          <p:cNvPr id="57" name="TextBox 56"/>
          <p:cNvSpPr txBox="1"/>
          <p:nvPr/>
        </p:nvSpPr>
        <p:spPr>
          <a:xfrm>
            <a:off x="2651401"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096753" cy="194310"/>
          </a:xfrm>
          <a:prstGeom prst="rect">
            <a:avLst/>
          </a:prstGeom>
          <a:noFill/>
        </p:spPr>
        <p:txBody>
          <a:bodyPr wrap="none" lIns="0" rIns="0" tIns="0" bIns="0">
            <a:spAutoFit/>
          </a:bodyPr>
          <a:lstStyle/>
          <a:p>
            <a:r>
              <a:rPr sz="1150" b="0">
                <a:solidFill>
                  <a:srgbClr val="2E2E2E"/>
                </a:solidFill>
                <a:latin typeface="Calibri"/>
              </a:rPr>
              <a:t>▪ Momentum in Retail within distribution channel (</a:t>
            </a:r>
          </a:p>
        </p:txBody>
      </p:sp>
      <p:pic>
        <p:nvPicPr>
          <p:cNvPr id="59" name="Picture 58" descr="lock.png"/>
          <p:cNvPicPr>
            <a:picLocks noChangeAspect="1"/>
          </p:cNvPicPr>
          <p:nvPr/>
        </p:nvPicPr>
        <p:blipFill>
          <a:blip r:embed="rId4"/>
          <a:stretch>
            <a:fillRect/>
          </a:stretch>
        </p:blipFill>
        <p:spPr>
          <a:xfrm>
            <a:off x="3322132" y="5484177"/>
            <a:ext cx="134549" cy="195707"/>
          </a:xfrm>
          <a:prstGeom prst="rect">
            <a:avLst/>
          </a:prstGeom>
        </p:spPr>
      </p:pic>
      <p:sp>
        <p:nvSpPr>
          <p:cNvPr id="60" name="TextBox 59"/>
          <p:cNvSpPr txBox="1"/>
          <p:nvPr/>
        </p:nvSpPr>
        <p:spPr>
          <a:xfrm>
            <a:off x="3497241" y="54944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5038725"/>
            <a:ext cx="1952029" cy="194310"/>
          </a:xfrm>
          <a:prstGeom prst="rect">
            <a:avLst/>
          </a:prstGeom>
          <a:noFill/>
        </p:spPr>
        <p:txBody>
          <a:bodyPr wrap="none" lIns="0" rIns="0" tIns="0" bIns="0">
            <a:spAutoFit/>
          </a:bodyPr>
          <a:lstStyle/>
          <a:p>
            <a:r>
              <a:rPr sz="1150" b="0">
                <a:solidFill>
                  <a:srgbClr val="2E2E2E"/>
                </a:solidFill>
                <a:latin typeface="Calibri"/>
              </a:rPr>
              <a:t>▪ Slower momentum in 'Lump' (</a:t>
            </a:r>
          </a:p>
        </p:txBody>
      </p:sp>
      <p:pic>
        <p:nvPicPr>
          <p:cNvPr id="62" name="Picture 61" descr="lock.png"/>
          <p:cNvPicPr>
            <a:picLocks noChangeAspect="1"/>
          </p:cNvPicPr>
          <p:nvPr/>
        </p:nvPicPr>
        <p:blipFill>
          <a:blip r:embed="rId4"/>
          <a:stretch>
            <a:fillRect/>
          </a:stretch>
        </p:blipFill>
        <p:spPr>
          <a:xfrm>
            <a:off x="6273158" y="5028501"/>
            <a:ext cx="134549" cy="195707"/>
          </a:xfrm>
          <a:prstGeom prst="rect">
            <a:avLst/>
          </a:prstGeom>
        </p:spPr>
      </p:pic>
      <p:sp>
        <p:nvSpPr>
          <p:cNvPr id="63" name="TextBox 62"/>
          <p:cNvSpPr txBox="1"/>
          <p:nvPr/>
        </p:nvSpPr>
        <p:spPr>
          <a:xfrm>
            <a:off x="6448267"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4" name="TextBox 63"/>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5" name="TextBox 64"/>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6" name="Picture 65" descr="lock.png"/>
          <p:cNvPicPr>
            <a:picLocks noChangeAspect="1"/>
          </p:cNvPicPr>
          <p:nvPr/>
        </p:nvPicPr>
        <p:blipFill>
          <a:blip r:embed="rId4"/>
          <a:stretch>
            <a:fillRect/>
          </a:stretch>
        </p:blipFill>
        <p:spPr>
          <a:xfrm>
            <a:off x="4883401" y="5431599"/>
            <a:ext cx="134549" cy="195707"/>
          </a:xfrm>
          <a:prstGeom prst="rect">
            <a:avLst/>
          </a:prstGeom>
        </p:spPr>
      </p:pic>
      <p:sp>
        <p:nvSpPr>
          <p:cNvPr id="67" name="TextBox 66"/>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4371975" y="5669660"/>
            <a:ext cx="3446474" cy="194310"/>
          </a:xfrm>
          <a:prstGeom prst="rect">
            <a:avLst/>
          </a:prstGeom>
          <a:noFill/>
        </p:spPr>
        <p:txBody>
          <a:bodyPr wrap="none" lIns="0" rIns="0" tIns="0" bIns="0">
            <a:spAutoFit/>
          </a:bodyPr>
          <a:lstStyle/>
          <a:p>
            <a:r>
              <a:rPr sz="1150" b="0">
                <a:solidFill>
                  <a:srgbClr val="2E2E2E"/>
                </a:solidFill>
                <a:latin typeface="Calibri"/>
              </a:rPr>
              <a:t>▪ Value concentration in 'Special Meat' raises barriers for</a:t>
            </a:r>
          </a:p>
        </p:txBody>
      </p:sp>
      <p:sp>
        <p:nvSpPr>
          <p:cNvPr id="69" name="TextBox 68"/>
          <p:cNvSpPr txBox="1"/>
          <p:nvPr/>
        </p:nvSpPr>
        <p:spPr>
          <a:xfrm>
            <a:off x="4371975" y="5844920"/>
            <a:ext cx="902295" cy="194310"/>
          </a:xfrm>
          <a:prstGeom prst="rect">
            <a:avLst/>
          </a:prstGeom>
          <a:noFill/>
        </p:spPr>
        <p:txBody>
          <a:bodyPr wrap="none" lIns="0" rIns="0" tIns="0" bIns="0">
            <a:spAutoFit/>
          </a:bodyPr>
          <a:lstStyle/>
          <a:p>
            <a:r>
              <a:rPr sz="1150" b="0">
                <a:solidFill>
                  <a:srgbClr val="2E2E2E"/>
                </a:solidFill>
                <a:latin typeface="Calibri"/>
              </a:rPr>
              <a:t>new entrants.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'Crab Leg Meat' and Germany.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meat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Germany and Germany.</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meat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1776883" cy="186689"/>
          </a:xfrm>
          <a:prstGeom prst="rect">
            <a:avLst/>
          </a:prstGeom>
          <a:noFill/>
        </p:spPr>
        <p:txBody>
          <a:bodyPr wrap="none" lIns="0" rIns="0" tIns="0" bIns="0">
            <a:spAutoFit/>
          </a:bodyPr>
          <a:lstStyle/>
          <a:p>
            <a:r>
              <a:rPr sz="1100" b="0">
                <a:solidFill>
                  <a:srgbClr val="2E2E2E"/>
                </a:solidFill>
                <a:latin typeface="Calibri"/>
              </a:rPr>
              <a:t>▪ Lead category 'Special Meat'</a:t>
            </a:r>
          </a:p>
        </p:txBody>
      </p:sp>
      <p:pic>
        <p:nvPicPr>
          <p:cNvPr id="41" name="Picture 40" descr="lock.png"/>
          <p:cNvPicPr>
            <a:picLocks noChangeAspect="1"/>
          </p:cNvPicPr>
          <p:nvPr/>
        </p:nvPicPr>
        <p:blipFill>
          <a:blip r:embed="rId5"/>
          <a:stretch>
            <a:fillRect/>
          </a:stretch>
        </p:blipFill>
        <p:spPr>
          <a:xfrm>
            <a:off x="8030485" y="1826260"/>
            <a:ext cx="128699" cy="187198"/>
          </a:xfrm>
          <a:prstGeom prst="rect">
            <a:avLst/>
          </a:prstGeom>
        </p:spPr>
      </p:pic>
      <p:sp>
        <p:nvSpPr>
          <p:cNvPr id="42" name="TextBox 41"/>
          <p:cNvSpPr txBox="1"/>
          <p:nvPr/>
        </p:nvSpPr>
        <p:spPr>
          <a:xfrm>
            <a:off x="8197981"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449461" cy="186689"/>
          </a:xfrm>
          <a:prstGeom prst="rect">
            <a:avLst/>
          </a:prstGeom>
          <a:noFill/>
        </p:spPr>
        <p:txBody>
          <a:bodyPr wrap="none" lIns="0" rIns="0" tIns="0" bIns="0">
            <a:spAutoFit/>
          </a:bodyPr>
          <a:lstStyle/>
          <a:p>
            <a:r>
              <a:rPr sz="1100" b="0">
                <a:solidFill>
                  <a:srgbClr val="2E2E2E"/>
                </a:solidFill>
                <a:latin typeface="Calibri"/>
              </a:rPr>
              <a:t>▪ Lead country Germany</a:t>
            </a:r>
          </a:p>
        </p:txBody>
      </p:sp>
      <p:pic>
        <p:nvPicPr>
          <p:cNvPr id="44" name="Picture 43" descr="lock.png"/>
          <p:cNvPicPr>
            <a:picLocks noChangeAspect="1"/>
          </p:cNvPicPr>
          <p:nvPr/>
        </p:nvPicPr>
        <p:blipFill>
          <a:blip r:embed="rId5"/>
          <a:stretch>
            <a:fillRect/>
          </a:stretch>
        </p:blipFill>
        <p:spPr>
          <a:xfrm>
            <a:off x="7703063" y="2044192"/>
            <a:ext cx="128699" cy="187198"/>
          </a:xfrm>
          <a:prstGeom prst="rect">
            <a:avLst/>
          </a:prstGeom>
        </p:spPr>
      </p:pic>
      <p:sp>
        <p:nvSpPr>
          <p:cNvPr id="45" name="TextBox 44"/>
          <p:cNvSpPr txBox="1"/>
          <p:nvPr/>
        </p:nvSpPr>
        <p:spPr>
          <a:xfrm>
            <a:off x="7870559"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356149"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'Crab Leg Meat' (</a:t>
            </a:r>
          </a:p>
        </p:txBody>
      </p:sp>
      <p:pic>
        <p:nvPicPr>
          <p:cNvPr id="50" name="Picture 49" descr="lock.png"/>
          <p:cNvPicPr>
            <a:picLocks noChangeAspect="1"/>
          </p:cNvPicPr>
          <p:nvPr/>
        </p:nvPicPr>
        <p:blipFill>
          <a:blip r:embed="rId5"/>
          <a:stretch>
            <a:fillRect/>
          </a:stretch>
        </p:blipFill>
        <p:spPr>
          <a:xfrm>
            <a:off x="4581528" y="3304476"/>
            <a:ext cx="134549" cy="195707"/>
          </a:xfrm>
          <a:prstGeom prst="rect">
            <a:avLst/>
          </a:prstGeom>
        </p:spPr>
      </p:pic>
      <p:sp>
        <p:nvSpPr>
          <p:cNvPr id="51" name="TextBox 50"/>
          <p:cNvSpPr txBox="1"/>
          <p:nvPr/>
        </p:nvSpPr>
        <p:spPr>
          <a:xfrm>
            <a:off x="4756637"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783629" cy="194310"/>
          </a:xfrm>
          <a:prstGeom prst="rect">
            <a:avLst/>
          </a:prstGeom>
          <a:noFill/>
        </p:spPr>
        <p:txBody>
          <a:bodyPr wrap="none" lIns="0" rIns="0" tIns="0" bIns="0">
            <a:spAutoFit/>
          </a:bodyPr>
          <a:lstStyle/>
          <a:p>
            <a:r>
              <a:rPr sz="1150" b="0">
                <a:solidFill>
                  <a:srgbClr val="2E2E2E"/>
                </a:solidFill>
                <a:latin typeface="Calibri"/>
              </a:rPr>
              <a:t>▪ Germany (</a:t>
            </a:r>
          </a:p>
        </p:txBody>
      </p:sp>
      <p:pic>
        <p:nvPicPr>
          <p:cNvPr id="53" name="Picture 52" descr="lock.png"/>
          <p:cNvPicPr>
            <a:picLocks noChangeAspect="1"/>
          </p:cNvPicPr>
          <p:nvPr/>
        </p:nvPicPr>
        <p:blipFill>
          <a:blip r:embed="rId5"/>
          <a:stretch>
            <a:fillRect/>
          </a:stretch>
        </p:blipFill>
        <p:spPr>
          <a:xfrm>
            <a:off x="1009008" y="3532314"/>
            <a:ext cx="134549" cy="195707"/>
          </a:xfrm>
          <a:prstGeom prst="rect">
            <a:avLst/>
          </a:prstGeom>
        </p:spPr>
      </p:pic>
      <p:sp>
        <p:nvSpPr>
          <p:cNvPr id="54" name="TextBox 53"/>
          <p:cNvSpPr txBox="1"/>
          <p:nvPr/>
        </p:nvSpPr>
        <p:spPr>
          <a:xfrm>
            <a:off x="1184117" y="3542537"/>
            <a:ext cx="2362224" cy="194310"/>
          </a:xfrm>
          <a:prstGeom prst="rect">
            <a:avLst/>
          </a:prstGeom>
          <a:noFill/>
        </p:spPr>
        <p:txBody>
          <a:bodyPr wrap="none" lIns="0" rIns="0" tIns="0" bIns="0">
            <a:spAutoFit/>
          </a:bodyPr>
          <a:lstStyle/>
          <a:p>
            <a:r>
              <a:rPr sz="1150" b="0">
                <a:solidFill>
                  <a:srgbClr val="2E2E2E"/>
                </a:solidFill>
                <a:latin typeface="Calibri"/>
              </a:rPr>
              <a:t>) is a priority country for new capacity.</a:t>
            </a:r>
          </a:p>
        </p:txBody>
      </p:sp>
      <p:sp>
        <p:nvSpPr>
          <p:cNvPr id="55" name="TextBox 54"/>
          <p:cNvSpPr txBox="1"/>
          <p:nvPr/>
        </p:nvSpPr>
        <p:spPr>
          <a:xfrm>
            <a:off x="276225" y="3770375"/>
            <a:ext cx="2774416" cy="194310"/>
          </a:xfrm>
          <a:prstGeom prst="rect">
            <a:avLst/>
          </a:prstGeom>
          <a:noFill/>
        </p:spPr>
        <p:txBody>
          <a:bodyPr wrap="none" lIns="0" rIns="0" tIns="0" bIns="0">
            <a:spAutoFit/>
          </a:bodyPr>
          <a:lstStyle/>
          <a:p>
            <a:r>
              <a:rPr sz="1150" b="0">
                <a:solidFill>
                  <a:srgbClr val="2E2E2E"/>
                </a:solidFill>
                <a:latin typeface="Calibri"/>
              </a:rPr>
              <a:t>▪ Scale players anchor around 'Special Meat' (</a:t>
            </a:r>
          </a:p>
        </p:txBody>
      </p:sp>
      <p:pic>
        <p:nvPicPr>
          <p:cNvPr id="56" name="Picture 55" descr="lock.png"/>
          <p:cNvPicPr>
            <a:picLocks noChangeAspect="1"/>
          </p:cNvPicPr>
          <p:nvPr/>
        </p:nvPicPr>
        <p:blipFill>
          <a:blip r:embed="rId5"/>
          <a:stretch>
            <a:fillRect/>
          </a:stretch>
        </p:blipFill>
        <p:spPr>
          <a:xfrm>
            <a:off x="2999795" y="3760152"/>
            <a:ext cx="134549" cy="195707"/>
          </a:xfrm>
          <a:prstGeom prst="rect">
            <a:avLst/>
          </a:prstGeom>
        </p:spPr>
      </p:pic>
      <p:sp>
        <p:nvSpPr>
          <p:cNvPr id="57" name="TextBox 56"/>
          <p:cNvSpPr txBox="1"/>
          <p:nvPr/>
        </p:nvSpPr>
        <p:spPr>
          <a:xfrm>
            <a:off x="3174904"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770908" cy="194310"/>
          </a:xfrm>
          <a:prstGeom prst="rect">
            <a:avLst/>
          </a:prstGeom>
          <a:noFill/>
        </p:spPr>
        <p:txBody>
          <a:bodyPr wrap="none" lIns="0" rIns="0" tIns="0" bIns="0">
            <a:spAutoFit/>
          </a:bodyPr>
          <a:lstStyle/>
          <a:p>
            <a:r>
              <a:rPr sz="1150" b="0">
                <a:solidFill>
                  <a:srgbClr val="2E2E2E"/>
                </a:solidFill>
                <a:latin typeface="Calibri"/>
              </a:rPr>
              <a:t>▪ R&amp;D aligns with the migration to 'Crab Leg Meat' and adjacent premium tiers.</a:t>
            </a:r>
          </a:p>
        </p:txBody>
      </p:sp>
      <p:sp>
        <p:nvSpPr>
          <p:cNvPr id="59" name="TextBox 58"/>
          <p:cNvSpPr txBox="1"/>
          <p:nvPr/>
        </p:nvSpPr>
        <p:spPr>
          <a:xfrm>
            <a:off x="6305550" y="3542537"/>
            <a:ext cx="4442296" cy="194310"/>
          </a:xfrm>
          <a:prstGeom prst="rect">
            <a:avLst/>
          </a:prstGeom>
          <a:noFill/>
        </p:spPr>
        <p:txBody>
          <a:bodyPr wrap="none" lIns="0" rIns="0" tIns="0" bIns="0">
            <a:spAutoFit/>
          </a:bodyPr>
          <a:lstStyle/>
          <a:p>
            <a:r>
              <a:rPr sz="1150" b="0">
                <a:solidFill>
                  <a:srgbClr val="2E2E2E"/>
                </a:solidFill>
                <a:latin typeface="Calibri"/>
              </a:rPr>
              <a:t>▪ Development spend targets meat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'Crab Leg Meat' tier and Retail within distribution channel.</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181103" cy="194310"/>
          </a:xfrm>
          <a:prstGeom prst="rect">
            <a:avLst/>
          </a:prstGeom>
          <a:noFill/>
        </p:spPr>
        <p:txBody>
          <a:bodyPr wrap="none" lIns="0" rIns="0" tIns="0" bIns="0">
            <a:spAutoFit/>
          </a:bodyPr>
          <a:lstStyle/>
          <a:p>
            <a:r>
              <a:rPr sz="1150" b="0">
                <a:solidFill>
                  <a:srgbClr val="2E2E2E"/>
                </a:solidFill>
                <a:latin typeface="Calibri"/>
              </a:rPr>
              <a:t>▪ Balance scale in 'Special Meat' with targeted growth in 'Crab Leg Meat', pursuing the</a:t>
            </a:r>
          </a:p>
        </p:txBody>
      </p:sp>
      <p:pic>
        <p:nvPicPr>
          <p:cNvPr id="32" name="Picture 31" descr="lock.png"/>
          <p:cNvPicPr>
            <a:picLocks noChangeAspect="1"/>
          </p:cNvPicPr>
          <p:nvPr/>
        </p:nvPicPr>
        <p:blipFill>
          <a:blip r:embed="rId4"/>
          <a:stretch>
            <a:fillRect/>
          </a:stretch>
        </p:blipFill>
        <p:spPr>
          <a:xfrm>
            <a:off x="5406482" y="1389951"/>
            <a:ext cx="134549" cy="195707"/>
          </a:xfrm>
          <a:prstGeom prst="rect">
            <a:avLst/>
          </a:prstGeom>
        </p:spPr>
      </p:pic>
      <p:sp>
        <p:nvSpPr>
          <p:cNvPr id="33" name="TextBox 32"/>
          <p:cNvSpPr txBox="1"/>
          <p:nvPr/>
        </p:nvSpPr>
        <p:spPr>
          <a:xfrm>
            <a:off x="276225"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731528" cy="194310"/>
          </a:xfrm>
          <a:prstGeom prst="rect">
            <a:avLst/>
          </a:prstGeom>
          <a:noFill/>
        </p:spPr>
        <p:txBody>
          <a:bodyPr wrap="none" lIns="0" rIns="0" tIns="0" bIns="0">
            <a:spAutoFit/>
          </a:bodyPr>
          <a:lstStyle/>
          <a:p>
            <a:r>
              <a:rPr sz="1150" b="0">
                <a:solidFill>
                  <a:srgbClr val="2E2E2E"/>
                </a:solidFill>
                <a:latin typeface="Calibri"/>
              </a:rPr>
              <a:t>▪ Prioritise 'Crab Leg Meat' (</a:t>
            </a:r>
          </a:p>
        </p:txBody>
      </p:sp>
      <p:pic>
        <p:nvPicPr>
          <p:cNvPr id="35" name="Picture 34" descr="lock.png"/>
          <p:cNvPicPr>
            <a:picLocks noChangeAspect="1"/>
          </p:cNvPicPr>
          <p:nvPr/>
        </p:nvPicPr>
        <p:blipFill>
          <a:blip r:embed="rId4"/>
          <a:stretch>
            <a:fillRect/>
          </a:stretch>
        </p:blipFill>
        <p:spPr>
          <a:xfrm>
            <a:off x="1956907" y="3266376"/>
            <a:ext cx="134549" cy="195707"/>
          </a:xfrm>
          <a:prstGeom prst="rect">
            <a:avLst/>
          </a:prstGeom>
        </p:spPr>
      </p:pic>
      <p:sp>
        <p:nvSpPr>
          <p:cNvPr id="36" name="TextBox 35"/>
          <p:cNvSpPr txBox="1"/>
          <p:nvPr/>
        </p:nvSpPr>
        <p:spPr>
          <a:xfrm>
            <a:off x="2132016" y="3276600"/>
            <a:ext cx="1525860" cy="194310"/>
          </a:xfrm>
          <a:prstGeom prst="rect">
            <a:avLst/>
          </a:prstGeom>
          <a:noFill/>
        </p:spPr>
        <p:txBody>
          <a:bodyPr wrap="none" lIns="0" rIns="0" tIns="0" bIns="0">
            <a:spAutoFit/>
          </a:bodyPr>
          <a:lstStyle/>
          <a:p>
            <a:r>
              <a:rPr sz="1150" b="0">
                <a:solidFill>
                  <a:srgbClr val="2E2E2E"/>
                </a:solidFill>
                <a:latin typeface="Calibri"/>
              </a:rPr>
              <a:t>); 'Special Meat' anchors</a:t>
            </a:r>
          </a:p>
        </p:txBody>
      </p:sp>
      <p:pic>
        <p:nvPicPr>
          <p:cNvPr id="37" name="Picture 36" descr="lock.png"/>
          <p:cNvPicPr>
            <a:picLocks noChangeAspect="1"/>
          </p:cNvPicPr>
          <p:nvPr/>
        </p:nvPicPr>
        <p:blipFill>
          <a:blip r:embed="rId4"/>
          <a:stretch>
            <a:fillRect/>
          </a:stretch>
        </p:blipFill>
        <p:spPr>
          <a:xfrm>
            <a:off x="3607030" y="3266376"/>
            <a:ext cx="134549" cy="195707"/>
          </a:xfrm>
          <a:prstGeom prst="rect">
            <a:avLst/>
          </a:prstGeom>
        </p:spPr>
      </p:pic>
      <p:sp>
        <p:nvSpPr>
          <p:cNvPr id="38" name="TextBox 37"/>
          <p:cNvSpPr txBox="1"/>
          <p:nvPr/>
        </p:nvSpPr>
        <p:spPr>
          <a:xfrm>
            <a:off x="3782140"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76600"/>
            <a:ext cx="1394358" cy="194310"/>
          </a:xfrm>
          <a:prstGeom prst="rect">
            <a:avLst/>
          </a:prstGeom>
          <a:noFill/>
        </p:spPr>
        <p:txBody>
          <a:bodyPr wrap="none" lIns="0" rIns="0" tIns="0" bIns="0">
            <a:spAutoFit/>
          </a:bodyPr>
          <a:lstStyle/>
          <a:p>
            <a:r>
              <a:rPr sz="1150" b="0">
                <a:solidFill>
                  <a:srgbClr val="2E2E2E"/>
                </a:solidFill>
                <a:latin typeface="Calibri"/>
              </a:rPr>
              <a:t>▪ Lead with Germany (</a:t>
            </a:r>
          </a:p>
        </p:txBody>
      </p:sp>
      <p:pic>
        <p:nvPicPr>
          <p:cNvPr id="40" name="Picture 39" descr="lock.png"/>
          <p:cNvPicPr>
            <a:picLocks noChangeAspect="1"/>
          </p:cNvPicPr>
          <p:nvPr/>
        </p:nvPicPr>
        <p:blipFill>
          <a:blip r:embed="rId4"/>
          <a:stretch>
            <a:fillRect/>
          </a:stretch>
        </p:blipFill>
        <p:spPr>
          <a:xfrm>
            <a:off x="7649062" y="3266376"/>
            <a:ext cx="134549" cy="195707"/>
          </a:xfrm>
          <a:prstGeom prst="rect">
            <a:avLst/>
          </a:prstGeom>
        </p:spPr>
      </p:pic>
      <p:sp>
        <p:nvSpPr>
          <p:cNvPr id="41" name="TextBox 40"/>
          <p:cNvSpPr txBox="1"/>
          <p:nvPr/>
        </p:nvSpPr>
        <p:spPr>
          <a:xfrm>
            <a:off x="7824171" y="3276600"/>
            <a:ext cx="1876722" cy="194310"/>
          </a:xfrm>
          <a:prstGeom prst="rect">
            <a:avLst/>
          </a:prstGeom>
          <a:noFill/>
        </p:spPr>
        <p:txBody>
          <a:bodyPr wrap="none" lIns="0" rIns="0" tIns="0" bIns="0">
            <a:spAutoFit/>
          </a:bodyPr>
          <a:lstStyle/>
          <a:p>
            <a:r>
              <a:rPr sz="1150" b="0">
                <a:solidFill>
                  <a:srgbClr val="2E2E2E"/>
                </a:solidFill>
                <a:latin typeface="Calibri"/>
              </a:rPr>
              <a:t>); capture upside in Germany (</a:t>
            </a:r>
          </a:p>
        </p:txBody>
      </p:sp>
      <p:pic>
        <p:nvPicPr>
          <p:cNvPr id="42" name="Picture 41" descr="lock.png"/>
          <p:cNvPicPr>
            <a:picLocks noChangeAspect="1"/>
          </p:cNvPicPr>
          <p:nvPr/>
        </p:nvPicPr>
        <p:blipFill>
          <a:blip r:embed="rId4"/>
          <a:stretch>
            <a:fillRect/>
          </a:stretch>
        </p:blipFill>
        <p:spPr>
          <a:xfrm>
            <a:off x="9650048" y="3266376"/>
            <a:ext cx="134549" cy="195707"/>
          </a:xfrm>
          <a:prstGeom prst="rect">
            <a:avLst/>
          </a:prstGeom>
        </p:spPr>
      </p:pic>
      <p:sp>
        <p:nvSpPr>
          <p:cNvPr id="43" name="TextBox 42"/>
          <p:cNvSpPr txBox="1"/>
          <p:nvPr/>
        </p:nvSpPr>
        <p:spPr>
          <a:xfrm>
            <a:off x="9825157"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4972050"/>
            <a:ext cx="1099691" cy="194310"/>
          </a:xfrm>
          <a:prstGeom prst="rect">
            <a:avLst/>
          </a:prstGeom>
          <a:noFill/>
        </p:spPr>
        <p:txBody>
          <a:bodyPr wrap="none" lIns="0" rIns="0" tIns="0" bIns="0">
            <a:spAutoFit/>
          </a:bodyPr>
          <a:lstStyle/>
          <a:p>
            <a:r>
              <a:rPr sz="1150" b="0">
                <a:solidFill>
                  <a:srgbClr val="2E2E2E"/>
                </a:solidFill>
                <a:latin typeface="Calibri"/>
              </a:rPr>
              <a:t>▪ Crab Meat adds</a:t>
            </a:r>
          </a:p>
        </p:txBody>
      </p:sp>
      <p:pic>
        <p:nvPicPr>
          <p:cNvPr id="45" name="Picture 44" descr="lock.png"/>
          <p:cNvPicPr>
            <a:picLocks noChangeAspect="1"/>
          </p:cNvPicPr>
          <p:nvPr/>
        </p:nvPicPr>
        <p:blipFill>
          <a:blip r:embed="rId4"/>
          <a:stretch>
            <a:fillRect/>
          </a:stretch>
        </p:blipFill>
        <p:spPr>
          <a:xfrm>
            <a:off x="1325069" y="4961826"/>
            <a:ext cx="134549" cy="195707"/>
          </a:xfrm>
          <a:prstGeom prst="rect">
            <a:avLst/>
          </a:prstGeom>
        </p:spPr>
      </p:pic>
      <p:sp>
        <p:nvSpPr>
          <p:cNvPr id="46" name="TextBox 45"/>
          <p:cNvSpPr txBox="1"/>
          <p:nvPr/>
        </p:nvSpPr>
        <p:spPr>
          <a:xfrm>
            <a:off x="1500179"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3264440" y="4961826"/>
            <a:ext cx="134549" cy="195707"/>
          </a:xfrm>
          <a:prstGeom prst="rect">
            <a:avLst/>
          </a:prstGeom>
        </p:spPr>
      </p:pic>
      <p:sp>
        <p:nvSpPr>
          <p:cNvPr id="48" name="TextBox 47"/>
          <p:cNvSpPr txBox="1"/>
          <p:nvPr/>
        </p:nvSpPr>
        <p:spPr>
          <a:xfrm>
            <a:off x="3439550"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199888"/>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27725"/>
            <a:ext cx="4127090" cy="194310"/>
          </a:xfrm>
          <a:prstGeom prst="rect">
            <a:avLst/>
          </a:prstGeom>
          <a:noFill/>
        </p:spPr>
        <p:txBody>
          <a:bodyPr wrap="none" lIns="0" rIns="0" tIns="0" bIns="0">
            <a:spAutoFit/>
          </a:bodyPr>
          <a:lstStyle/>
          <a:p>
            <a:r>
              <a:rPr sz="1150" b="0">
                <a:solidFill>
                  <a:srgbClr val="2E2E2E"/>
                </a:solidFill>
                <a:latin typeface="Calibri"/>
              </a:rPr>
              <a:t>▪ Defend share in 'Special Meat' as the value anchor of the portfolio.</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Crab Meat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02847"/>
            <a:ext cx="635826" cy="90245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2911127"/>
            <a:ext cx="635826" cy="1394173"/>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699629"/>
            <a:ext cx="635826" cy="1605671"/>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459355"/>
            <a:ext cx="635826" cy="184594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777777"/>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673002"/>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520602"/>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415827"/>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263427"/>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15865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Crab Meat Market Attractiveness Analysis By Region, 2026–2036</a:t>
            </a:r>
          </a:p>
        </p:txBody>
      </p:sp>
      <p:graphicFrame>
        <p:nvGraphicFramePr>
          <p:cNvPr id="36" name="Chart 35"/>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70736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699153"/>
            <a:ext cx="108107" cy="157246"/>
          </a:xfrm>
          <a:prstGeom prst="rect">
            <a:avLst/>
          </a:prstGeom>
        </p:spPr>
      </p:pic>
      <p:sp>
        <p:nvSpPr>
          <p:cNvPr id="56" name="TextBox 55"/>
          <p:cNvSpPr txBox="1"/>
          <p:nvPr/>
        </p:nvSpPr>
        <p:spPr>
          <a:xfrm>
            <a:off x="2032418" y="2450193"/>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441978"/>
            <a:ext cx="108107" cy="157246"/>
          </a:xfrm>
          <a:prstGeom prst="rect">
            <a:avLst/>
          </a:prstGeom>
        </p:spPr>
      </p:pic>
      <p:sp>
        <p:nvSpPr>
          <p:cNvPr id="58" name="TextBox 57"/>
          <p:cNvSpPr txBox="1"/>
          <p:nvPr/>
        </p:nvSpPr>
        <p:spPr>
          <a:xfrm>
            <a:off x="2032418" y="219301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184803"/>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Europe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Europe Crab Meat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12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Europe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Germany</a:t>
            </a:r>
          </a:p>
        </p:txBody>
      </p:sp>
      <p:sp>
        <p:nvSpPr>
          <p:cNvPr id="22" name="Rectangle 21"/>
          <p:cNvSpPr/>
          <p:nvPr/>
        </p:nvSpPr>
        <p:spPr>
          <a:xfrm>
            <a:off x="18669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2069306"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2709862"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09862"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7962" y="1773916"/>
            <a:ext cx="652462" cy="438089"/>
          </a:xfrm>
          <a:prstGeom prst="rect">
            <a:avLst/>
          </a:prstGeom>
          <a:noFill/>
        </p:spPr>
        <p:txBody>
          <a:bodyPr wrap="none" lIns="0" rIns="0" tIns="0" bIns="0" anchor="ctr">
            <a:spAutoFit/>
          </a:bodyPr>
          <a:lstStyle/>
          <a:p>
            <a:pPr algn="ctr"/>
            <a:r>
              <a:rPr sz="1100" b="1">
                <a:solidFill>
                  <a:srgbClr val="FFFFFF"/>
                </a:solidFill>
                <a:latin typeface="Calibri"/>
              </a:rPr>
              <a:t>U.K.</a:t>
            </a:r>
          </a:p>
        </p:txBody>
      </p:sp>
      <p:sp>
        <p:nvSpPr>
          <p:cNvPr id="29" name="Rectangle 28"/>
          <p:cNvSpPr/>
          <p:nvPr/>
        </p:nvSpPr>
        <p:spPr>
          <a:xfrm>
            <a:off x="27098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27098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27098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2912269"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552825"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52825"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9092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France</a:t>
            </a:r>
          </a:p>
        </p:txBody>
      </p:sp>
      <p:sp>
        <p:nvSpPr>
          <p:cNvPr id="36" name="Rectangle 35"/>
          <p:cNvSpPr/>
          <p:nvPr/>
        </p:nvSpPr>
        <p:spPr>
          <a:xfrm>
            <a:off x="35528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7" name="Rectangle 36"/>
          <p:cNvSpPr/>
          <p:nvPr/>
        </p:nvSpPr>
        <p:spPr>
          <a:xfrm>
            <a:off x="35528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8" name="Rectangle 37"/>
          <p:cNvSpPr/>
          <p:nvPr/>
        </p:nvSpPr>
        <p:spPr>
          <a:xfrm>
            <a:off x="35528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9" name="Oval 38"/>
          <p:cNvSpPr/>
          <p:nvPr/>
        </p:nvSpPr>
        <p:spPr>
          <a:xfrm>
            <a:off x="375523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4395788"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95788"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3888"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Italy</a:t>
            </a:r>
          </a:p>
        </p:txBody>
      </p:sp>
      <p:sp>
        <p:nvSpPr>
          <p:cNvPr id="43" name="Rectangle 42"/>
          <p:cNvSpPr/>
          <p:nvPr/>
        </p:nvSpPr>
        <p:spPr>
          <a:xfrm>
            <a:off x="43957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4" name="Rectangle 43"/>
          <p:cNvSpPr/>
          <p:nvPr/>
        </p:nvSpPr>
        <p:spPr>
          <a:xfrm>
            <a:off x="43957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5" name="Rectangle 44"/>
          <p:cNvSpPr/>
          <p:nvPr/>
        </p:nvSpPr>
        <p:spPr>
          <a:xfrm>
            <a:off x="43957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6" name="Oval 45"/>
          <p:cNvSpPr/>
          <p:nvPr/>
        </p:nvSpPr>
        <p:spPr>
          <a:xfrm>
            <a:off x="4598194"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5238750"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38750"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7685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Spain</a:t>
            </a:r>
          </a:p>
        </p:txBody>
      </p:sp>
      <p:sp>
        <p:nvSpPr>
          <p:cNvPr id="50" name="Rectangle 49"/>
          <p:cNvSpPr/>
          <p:nvPr/>
        </p:nvSpPr>
        <p:spPr>
          <a:xfrm>
            <a:off x="523875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51" name="Rectangle 50"/>
          <p:cNvSpPr/>
          <p:nvPr/>
        </p:nvSpPr>
        <p:spPr>
          <a:xfrm>
            <a:off x="523875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52" name="Rectangle 51"/>
          <p:cNvSpPr/>
          <p:nvPr/>
        </p:nvSpPr>
        <p:spPr>
          <a:xfrm>
            <a:off x="523875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53" name="Oval 52"/>
          <p:cNvSpPr/>
          <p:nvPr/>
        </p:nvSpPr>
        <p:spPr>
          <a:xfrm>
            <a:off x="5441156"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6081712" y="1773916"/>
            <a:ext cx="728662"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081712" y="1992961"/>
            <a:ext cx="728662"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19812"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Belgium</a:t>
            </a:r>
          </a:p>
        </p:txBody>
      </p:sp>
      <p:sp>
        <p:nvSpPr>
          <p:cNvPr id="57" name="Rectangle 56"/>
          <p:cNvSpPr/>
          <p:nvPr/>
        </p:nvSpPr>
        <p:spPr>
          <a:xfrm>
            <a:off x="608171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58" name="Rectangle 57"/>
          <p:cNvSpPr/>
          <p:nvPr/>
        </p:nvSpPr>
        <p:spPr>
          <a:xfrm>
            <a:off x="608171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59" name="Rectangle 58"/>
          <p:cNvSpPr/>
          <p:nvPr/>
        </p:nvSpPr>
        <p:spPr>
          <a:xfrm>
            <a:off x="608171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60" name="Oval 59"/>
          <p:cNvSpPr/>
          <p:nvPr/>
        </p:nvSpPr>
        <p:spPr>
          <a:xfrm>
            <a:off x="628411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6924675" y="1773916"/>
            <a:ext cx="728662"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24675" y="1992961"/>
            <a:ext cx="728662"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80622" y="1773916"/>
            <a:ext cx="816769" cy="438089"/>
          </a:xfrm>
          <a:prstGeom prst="rect">
            <a:avLst/>
          </a:prstGeom>
          <a:noFill/>
        </p:spPr>
        <p:txBody>
          <a:bodyPr wrap="square" lIns="28575" rIns="28575" tIns="9525" bIns="9525" anchor="ctr">
            <a:spAutoFit/>
          </a:bodyPr>
          <a:lstStyle/>
          <a:p>
            <a:pPr algn="ctr"/>
            <a:r>
              <a:rPr sz="1100" b="1">
                <a:solidFill>
                  <a:srgbClr val="FFFFFF"/>
                </a:solidFill>
                <a:latin typeface="Calibri"/>
              </a:rPr>
              <a:t>Netherlands</a:t>
            </a:r>
          </a:p>
        </p:txBody>
      </p:sp>
      <p:sp>
        <p:nvSpPr>
          <p:cNvPr id="64" name="Rectangle 63"/>
          <p:cNvSpPr/>
          <p:nvPr/>
        </p:nvSpPr>
        <p:spPr>
          <a:xfrm>
            <a:off x="692467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65" name="Rectangle 64"/>
          <p:cNvSpPr/>
          <p:nvPr/>
        </p:nvSpPr>
        <p:spPr>
          <a:xfrm>
            <a:off x="692467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66" name="Rectangle 65"/>
          <p:cNvSpPr/>
          <p:nvPr/>
        </p:nvSpPr>
        <p:spPr>
          <a:xfrm>
            <a:off x="692467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67" name="Oval 66"/>
          <p:cNvSpPr/>
          <p:nvPr/>
        </p:nvSpPr>
        <p:spPr>
          <a:xfrm>
            <a:off x="7127081"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7767638"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767638"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805738"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Nordic</a:t>
            </a:r>
          </a:p>
        </p:txBody>
      </p:sp>
      <p:sp>
        <p:nvSpPr>
          <p:cNvPr id="71" name="Rectangle 70"/>
          <p:cNvSpPr/>
          <p:nvPr/>
        </p:nvSpPr>
        <p:spPr>
          <a:xfrm>
            <a:off x="776763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72" name="Rectangle 71"/>
          <p:cNvSpPr/>
          <p:nvPr/>
        </p:nvSpPr>
        <p:spPr>
          <a:xfrm>
            <a:off x="776763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73" name="Rectangle 72"/>
          <p:cNvSpPr/>
          <p:nvPr/>
        </p:nvSpPr>
        <p:spPr>
          <a:xfrm>
            <a:off x="776763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74" name="Oval 73"/>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5" name="Rounded Rectangle 74"/>
          <p:cNvSpPr/>
          <p:nvPr/>
        </p:nvSpPr>
        <p:spPr>
          <a:xfrm>
            <a:off x="8610600"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610600"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4870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Russia</a:t>
            </a:r>
          </a:p>
        </p:txBody>
      </p:sp>
      <p:sp>
        <p:nvSpPr>
          <p:cNvPr id="78" name="Rectangle 77"/>
          <p:cNvSpPr/>
          <p:nvPr/>
        </p:nvSpPr>
        <p:spPr>
          <a:xfrm>
            <a:off x="86106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79" name="Rectangle 78"/>
          <p:cNvSpPr/>
          <p:nvPr/>
        </p:nvSpPr>
        <p:spPr>
          <a:xfrm>
            <a:off x="86106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80" name="Rectangle 79"/>
          <p:cNvSpPr/>
          <p:nvPr/>
        </p:nvSpPr>
        <p:spPr>
          <a:xfrm>
            <a:off x="86106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81" name="Oval 80"/>
          <p:cNvSpPr/>
          <p:nvPr/>
        </p:nvSpPr>
        <p:spPr>
          <a:xfrm>
            <a:off x="881300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82" name="Rounded Rectangle 81"/>
          <p:cNvSpPr/>
          <p:nvPr/>
        </p:nvSpPr>
        <p:spPr>
          <a:xfrm>
            <a:off x="9453562"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453562"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491662"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Poland</a:t>
            </a:r>
          </a:p>
        </p:txBody>
      </p:sp>
      <p:sp>
        <p:nvSpPr>
          <p:cNvPr id="85" name="Rectangle 84"/>
          <p:cNvSpPr/>
          <p:nvPr/>
        </p:nvSpPr>
        <p:spPr>
          <a:xfrm>
            <a:off x="94535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86" name="Rectangle 85"/>
          <p:cNvSpPr/>
          <p:nvPr/>
        </p:nvSpPr>
        <p:spPr>
          <a:xfrm>
            <a:off x="94535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87" name="Rectangle 86"/>
          <p:cNvSpPr/>
          <p:nvPr/>
        </p:nvSpPr>
        <p:spPr>
          <a:xfrm>
            <a:off x="94535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88" name="Oval 87"/>
          <p:cNvSpPr/>
          <p:nvPr/>
        </p:nvSpPr>
        <p:spPr>
          <a:xfrm>
            <a:off x="9655969"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89" name="Rounded Rectangle 88"/>
          <p:cNvSpPr/>
          <p:nvPr/>
        </p:nvSpPr>
        <p:spPr>
          <a:xfrm>
            <a:off x="10296525"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296525"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271522" y="1773916"/>
            <a:ext cx="778669" cy="438089"/>
          </a:xfrm>
          <a:prstGeom prst="rect">
            <a:avLst/>
          </a:prstGeom>
          <a:noFill/>
        </p:spPr>
        <p:txBody>
          <a:bodyPr wrap="square" lIns="28575" rIns="28575" tIns="9525" bIns="9525" anchor="ctr">
            <a:spAutoFit/>
          </a:bodyPr>
          <a:lstStyle/>
          <a:p>
            <a:pPr algn="ctr"/>
            <a:r>
              <a:rPr sz="1100" b="1">
                <a:solidFill>
                  <a:srgbClr val="FFFFFF"/>
                </a:solidFill>
                <a:latin typeface="Calibri"/>
              </a:rPr>
              <a:t>Switzerland</a:t>
            </a:r>
          </a:p>
        </p:txBody>
      </p:sp>
      <p:sp>
        <p:nvSpPr>
          <p:cNvPr id="92" name="Rectangle 91"/>
          <p:cNvSpPr/>
          <p:nvPr/>
        </p:nvSpPr>
        <p:spPr>
          <a:xfrm>
            <a:off x="102965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93" name="Rectangle 92"/>
          <p:cNvSpPr/>
          <p:nvPr/>
        </p:nvSpPr>
        <p:spPr>
          <a:xfrm>
            <a:off x="102965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94" name="Rectangle 93"/>
          <p:cNvSpPr/>
          <p:nvPr/>
        </p:nvSpPr>
        <p:spPr>
          <a:xfrm>
            <a:off x="102965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95" name="Oval 94"/>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96" name="Rounded Rectangle 95"/>
          <p:cNvSpPr/>
          <p:nvPr/>
        </p:nvSpPr>
        <p:spPr>
          <a:xfrm>
            <a:off x="11139488"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139488"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77588"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Rest of Europe</a:t>
            </a:r>
          </a:p>
        </p:txBody>
      </p:sp>
      <p:sp>
        <p:nvSpPr>
          <p:cNvPr id="99" name="Rectangle 98"/>
          <p:cNvSpPr/>
          <p:nvPr/>
        </p:nvSpPr>
        <p:spPr>
          <a:xfrm>
            <a:off x="111394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100" name="Rectangle 99"/>
          <p:cNvSpPr/>
          <p:nvPr/>
        </p:nvSpPr>
        <p:spPr>
          <a:xfrm>
            <a:off x="111394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101" name="Rectangle 100"/>
          <p:cNvSpPr/>
          <p:nvPr/>
        </p:nvSpPr>
        <p:spPr>
          <a:xfrm>
            <a:off x="111394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102" name="Oval 101"/>
          <p:cNvSpPr/>
          <p:nvPr/>
        </p:nvSpPr>
        <p:spPr>
          <a:xfrm>
            <a:off x="11341894"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12</a:t>
            </a:r>
          </a:p>
        </p:txBody>
      </p:sp>
      <p:sp>
        <p:nvSpPr>
          <p:cNvPr id="103" name="Rounded Rectangle 10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105" name="Rectangle 10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107" name="Rounded Rectangle 10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109" name="Rectangle 10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111" name="Rounded Rectangle 11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113" name="Rectangle 11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115" name="Rectangle 11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117" name="TextBox 11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9" name="Picture 118" descr="lock.png"/>
          <p:cNvPicPr>
            <a:picLocks noChangeAspect="1"/>
          </p:cNvPicPr>
          <p:nvPr/>
        </p:nvPicPr>
        <p:blipFill>
          <a:blip r:embed="rId4"/>
          <a:stretch>
            <a:fillRect/>
          </a:stretch>
        </p:blipFill>
        <p:spPr>
          <a:xfrm>
            <a:off x="2143482" y="2339922"/>
            <a:ext cx="175498" cy="255270"/>
          </a:xfrm>
          <a:prstGeom prst="rect">
            <a:avLst/>
          </a:prstGeom>
        </p:spPr>
      </p:pic>
      <p:pic>
        <p:nvPicPr>
          <p:cNvPr id="120" name="Picture 119" descr="lock.png"/>
          <p:cNvPicPr>
            <a:picLocks noChangeAspect="1"/>
          </p:cNvPicPr>
          <p:nvPr/>
        </p:nvPicPr>
        <p:blipFill>
          <a:blip r:embed="rId4"/>
          <a:stretch>
            <a:fillRect/>
          </a:stretch>
        </p:blipFill>
        <p:spPr>
          <a:xfrm>
            <a:off x="2143482" y="2832772"/>
            <a:ext cx="175498" cy="255270"/>
          </a:xfrm>
          <a:prstGeom prst="rect">
            <a:avLst/>
          </a:prstGeom>
        </p:spPr>
      </p:pic>
      <p:pic>
        <p:nvPicPr>
          <p:cNvPr id="121" name="Picture 120" descr="lock.png"/>
          <p:cNvPicPr>
            <a:picLocks noChangeAspect="1"/>
          </p:cNvPicPr>
          <p:nvPr/>
        </p:nvPicPr>
        <p:blipFill>
          <a:blip r:embed="rId4"/>
          <a:stretch>
            <a:fillRect/>
          </a:stretch>
        </p:blipFill>
        <p:spPr>
          <a:xfrm>
            <a:off x="2143482" y="3325622"/>
            <a:ext cx="175498" cy="255270"/>
          </a:xfrm>
          <a:prstGeom prst="rect">
            <a:avLst/>
          </a:prstGeom>
        </p:spPr>
      </p:pic>
      <p:pic>
        <p:nvPicPr>
          <p:cNvPr id="122" name="Picture 121" descr="lock.png"/>
          <p:cNvPicPr>
            <a:picLocks noChangeAspect="1"/>
          </p:cNvPicPr>
          <p:nvPr/>
        </p:nvPicPr>
        <p:blipFill>
          <a:blip r:embed="rId4"/>
          <a:stretch>
            <a:fillRect/>
          </a:stretch>
        </p:blipFill>
        <p:spPr>
          <a:xfrm>
            <a:off x="2986443" y="2339922"/>
            <a:ext cx="175498" cy="255270"/>
          </a:xfrm>
          <a:prstGeom prst="rect">
            <a:avLst/>
          </a:prstGeom>
        </p:spPr>
      </p:pic>
      <p:pic>
        <p:nvPicPr>
          <p:cNvPr id="123" name="Picture 122" descr="lock.png"/>
          <p:cNvPicPr>
            <a:picLocks noChangeAspect="1"/>
          </p:cNvPicPr>
          <p:nvPr/>
        </p:nvPicPr>
        <p:blipFill>
          <a:blip r:embed="rId4"/>
          <a:stretch>
            <a:fillRect/>
          </a:stretch>
        </p:blipFill>
        <p:spPr>
          <a:xfrm>
            <a:off x="2986443" y="2832772"/>
            <a:ext cx="175498" cy="255270"/>
          </a:xfrm>
          <a:prstGeom prst="rect">
            <a:avLst/>
          </a:prstGeom>
        </p:spPr>
      </p:pic>
      <p:pic>
        <p:nvPicPr>
          <p:cNvPr id="124" name="Picture 123" descr="lock.png"/>
          <p:cNvPicPr>
            <a:picLocks noChangeAspect="1"/>
          </p:cNvPicPr>
          <p:nvPr/>
        </p:nvPicPr>
        <p:blipFill>
          <a:blip r:embed="rId4"/>
          <a:stretch>
            <a:fillRect/>
          </a:stretch>
        </p:blipFill>
        <p:spPr>
          <a:xfrm>
            <a:off x="2986443" y="3325622"/>
            <a:ext cx="175498" cy="255270"/>
          </a:xfrm>
          <a:prstGeom prst="rect">
            <a:avLst/>
          </a:prstGeom>
        </p:spPr>
      </p:pic>
      <p:pic>
        <p:nvPicPr>
          <p:cNvPr id="125" name="Picture 124" descr="lock.png"/>
          <p:cNvPicPr>
            <a:picLocks noChangeAspect="1"/>
          </p:cNvPicPr>
          <p:nvPr/>
        </p:nvPicPr>
        <p:blipFill>
          <a:blip r:embed="rId4"/>
          <a:stretch>
            <a:fillRect/>
          </a:stretch>
        </p:blipFill>
        <p:spPr>
          <a:xfrm>
            <a:off x="3829407" y="2339922"/>
            <a:ext cx="175498" cy="255270"/>
          </a:xfrm>
          <a:prstGeom prst="rect">
            <a:avLst/>
          </a:prstGeom>
        </p:spPr>
      </p:pic>
      <p:pic>
        <p:nvPicPr>
          <p:cNvPr id="126" name="Picture 125" descr="lock.png"/>
          <p:cNvPicPr>
            <a:picLocks noChangeAspect="1"/>
          </p:cNvPicPr>
          <p:nvPr/>
        </p:nvPicPr>
        <p:blipFill>
          <a:blip r:embed="rId4"/>
          <a:stretch>
            <a:fillRect/>
          </a:stretch>
        </p:blipFill>
        <p:spPr>
          <a:xfrm>
            <a:off x="3829407" y="2832772"/>
            <a:ext cx="175498" cy="255270"/>
          </a:xfrm>
          <a:prstGeom prst="rect">
            <a:avLst/>
          </a:prstGeom>
        </p:spPr>
      </p:pic>
      <p:pic>
        <p:nvPicPr>
          <p:cNvPr id="127" name="Picture 126" descr="lock.png"/>
          <p:cNvPicPr>
            <a:picLocks noChangeAspect="1"/>
          </p:cNvPicPr>
          <p:nvPr/>
        </p:nvPicPr>
        <p:blipFill>
          <a:blip r:embed="rId4"/>
          <a:stretch>
            <a:fillRect/>
          </a:stretch>
        </p:blipFill>
        <p:spPr>
          <a:xfrm>
            <a:off x="3829407" y="3325622"/>
            <a:ext cx="175498" cy="255270"/>
          </a:xfrm>
          <a:prstGeom prst="rect">
            <a:avLst/>
          </a:prstGeom>
        </p:spPr>
      </p:pic>
      <p:pic>
        <p:nvPicPr>
          <p:cNvPr id="128" name="Picture 127" descr="lock.png"/>
          <p:cNvPicPr>
            <a:picLocks noChangeAspect="1"/>
          </p:cNvPicPr>
          <p:nvPr/>
        </p:nvPicPr>
        <p:blipFill>
          <a:blip r:embed="rId4"/>
          <a:stretch>
            <a:fillRect/>
          </a:stretch>
        </p:blipFill>
        <p:spPr>
          <a:xfrm>
            <a:off x="4672370" y="2339922"/>
            <a:ext cx="175498" cy="255270"/>
          </a:xfrm>
          <a:prstGeom prst="rect">
            <a:avLst/>
          </a:prstGeom>
        </p:spPr>
      </p:pic>
      <p:pic>
        <p:nvPicPr>
          <p:cNvPr id="129" name="Picture 128" descr="lock.png"/>
          <p:cNvPicPr>
            <a:picLocks noChangeAspect="1"/>
          </p:cNvPicPr>
          <p:nvPr/>
        </p:nvPicPr>
        <p:blipFill>
          <a:blip r:embed="rId4"/>
          <a:stretch>
            <a:fillRect/>
          </a:stretch>
        </p:blipFill>
        <p:spPr>
          <a:xfrm>
            <a:off x="4672370" y="2832772"/>
            <a:ext cx="175498" cy="255270"/>
          </a:xfrm>
          <a:prstGeom prst="rect">
            <a:avLst/>
          </a:prstGeom>
        </p:spPr>
      </p:pic>
      <p:pic>
        <p:nvPicPr>
          <p:cNvPr id="130" name="Picture 129" descr="lock.png"/>
          <p:cNvPicPr>
            <a:picLocks noChangeAspect="1"/>
          </p:cNvPicPr>
          <p:nvPr/>
        </p:nvPicPr>
        <p:blipFill>
          <a:blip r:embed="rId4"/>
          <a:stretch>
            <a:fillRect/>
          </a:stretch>
        </p:blipFill>
        <p:spPr>
          <a:xfrm>
            <a:off x="4672370" y="3325622"/>
            <a:ext cx="175498" cy="255270"/>
          </a:xfrm>
          <a:prstGeom prst="rect">
            <a:avLst/>
          </a:prstGeom>
        </p:spPr>
      </p:pic>
      <p:pic>
        <p:nvPicPr>
          <p:cNvPr id="131" name="Picture 130" descr="lock.png"/>
          <p:cNvPicPr>
            <a:picLocks noChangeAspect="1"/>
          </p:cNvPicPr>
          <p:nvPr/>
        </p:nvPicPr>
        <p:blipFill>
          <a:blip r:embed="rId4"/>
          <a:stretch>
            <a:fillRect/>
          </a:stretch>
        </p:blipFill>
        <p:spPr>
          <a:xfrm>
            <a:off x="5515332" y="2339922"/>
            <a:ext cx="175498" cy="255270"/>
          </a:xfrm>
          <a:prstGeom prst="rect">
            <a:avLst/>
          </a:prstGeom>
        </p:spPr>
      </p:pic>
      <p:pic>
        <p:nvPicPr>
          <p:cNvPr id="132" name="Picture 131" descr="lock.png"/>
          <p:cNvPicPr>
            <a:picLocks noChangeAspect="1"/>
          </p:cNvPicPr>
          <p:nvPr/>
        </p:nvPicPr>
        <p:blipFill>
          <a:blip r:embed="rId4"/>
          <a:stretch>
            <a:fillRect/>
          </a:stretch>
        </p:blipFill>
        <p:spPr>
          <a:xfrm>
            <a:off x="5515332" y="2832772"/>
            <a:ext cx="175498" cy="255270"/>
          </a:xfrm>
          <a:prstGeom prst="rect">
            <a:avLst/>
          </a:prstGeom>
        </p:spPr>
      </p:pic>
      <p:pic>
        <p:nvPicPr>
          <p:cNvPr id="133" name="Picture 132" descr="lock.png"/>
          <p:cNvPicPr>
            <a:picLocks noChangeAspect="1"/>
          </p:cNvPicPr>
          <p:nvPr/>
        </p:nvPicPr>
        <p:blipFill>
          <a:blip r:embed="rId4"/>
          <a:stretch>
            <a:fillRect/>
          </a:stretch>
        </p:blipFill>
        <p:spPr>
          <a:xfrm>
            <a:off x="5515332" y="3325622"/>
            <a:ext cx="175498" cy="255270"/>
          </a:xfrm>
          <a:prstGeom prst="rect">
            <a:avLst/>
          </a:prstGeom>
        </p:spPr>
      </p:pic>
      <p:pic>
        <p:nvPicPr>
          <p:cNvPr id="134" name="Picture 133" descr="lock.png"/>
          <p:cNvPicPr>
            <a:picLocks noChangeAspect="1"/>
          </p:cNvPicPr>
          <p:nvPr/>
        </p:nvPicPr>
        <p:blipFill>
          <a:blip r:embed="rId4"/>
          <a:stretch>
            <a:fillRect/>
          </a:stretch>
        </p:blipFill>
        <p:spPr>
          <a:xfrm>
            <a:off x="6358294" y="2339922"/>
            <a:ext cx="175498" cy="255270"/>
          </a:xfrm>
          <a:prstGeom prst="rect">
            <a:avLst/>
          </a:prstGeom>
        </p:spPr>
      </p:pic>
      <p:pic>
        <p:nvPicPr>
          <p:cNvPr id="135" name="Picture 134" descr="lock.png"/>
          <p:cNvPicPr>
            <a:picLocks noChangeAspect="1"/>
          </p:cNvPicPr>
          <p:nvPr/>
        </p:nvPicPr>
        <p:blipFill>
          <a:blip r:embed="rId4"/>
          <a:stretch>
            <a:fillRect/>
          </a:stretch>
        </p:blipFill>
        <p:spPr>
          <a:xfrm>
            <a:off x="6358294" y="2832772"/>
            <a:ext cx="175498" cy="255270"/>
          </a:xfrm>
          <a:prstGeom prst="rect">
            <a:avLst/>
          </a:prstGeom>
        </p:spPr>
      </p:pic>
      <p:pic>
        <p:nvPicPr>
          <p:cNvPr id="136" name="Picture 135" descr="lock.png"/>
          <p:cNvPicPr>
            <a:picLocks noChangeAspect="1"/>
          </p:cNvPicPr>
          <p:nvPr/>
        </p:nvPicPr>
        <p:blipFill>
          <a:blip r:embed="rId4"/>
          <a:stretch>
            <a:fillRect/>
          </a:stretch>
        </p:blipFill>
        <p:spPr>
          <a:xfrm>
            <a:off x="6358294" y="3325622"/>
            <a:ext cx="175498" cy="255270"/>
          </a:xfrm>
          <a:prstGeom prst="rect">
            <a:avLst/>
          </a:prstGeom>
        </p:spPr>
      </p:pic>
      <p:pic>
        <p:nvPicPr>
          <p:cNvPr id="137" name="Picture 136" descr="lock.png"/>
          <p:cNvPicPr>
            <a:picLocks noChangeAspect="1"/>
          </p:cNvPicPr>
          <p:nvPr/>
        </p:nvPicPr>
        <p:blipFill>
          <a:blip r:embed="rId4"/>
          <a:stretch>
            <a:fillRect/>
          </a:stretch>
        </p:blipFill>
        <p:spPr>
          <a:xfrm>
            <a:off x="7201257" y="2339922"/>
            <a:ext cx="175498" cy="255270"/>
          </a:xfrm>
          <a:prstGeom prst="rect">
            <a:avLst/>
          </a:prstGeom>
        </p:spPr>
      </p:pic>
      <p:pic>
        <p:nvPicPr>
          <p:cNvPr id="138" name="Picture 137" descr="lock.png"/>
          <p:cNvPicPr>
            <a:picLocks noChangeAspect="1"/>
          </p:cNvPicPr>
          <p:nvPr/>
        </p:nvPicPr>
        <p:blipFill>
          <a:blip r:embed="rId4"/>
          <a:stretch>
            <a:fillRect/>
          </a:stretch>
        </p:blipFill>
        <p:spPr>
          <a:xfrm>
            <a:off x="7201257" y="2832772"/>
            <a:ext cx="175498" cy="255270"/>
          </a:xfrm>
          <a:prstGeom prst="rect">
            <a:avLst/>
          </a:prstGeom>
        </p:spPr>
      </p:pic>
      <p:pic>
        <p:nvPicPr>
          <p:cNvPr id="139" name="Picture 138" descr="lock.png"/>
          <p:cNvPicPr>
            <a:picLocks noChangeAspect="1"/>
          </p:cNvPicPr>
          <p:nvPr/>
        </p:nvPicPr>
        <p:blipFill>
          <a:blip r:embed="rId4"/>
          <a:stretch>
            <a:fillRect/>
          </a:stretch>
        </p:blipFill>
        <p:spPr>
          <a:xfrm>
            <a:off x="7201257" y="3325622"/>
            <a:ext cx="175498" cy="255270"/>
          </a:xfrm>
          <a:prstGeom prst="rect">
            <a:avLst/>
          </a:prstGeom>
        </p:spPr>
      </p:pic>
      <p:pic>
        <p:nvPicPr>
          <p:cNvPr id="140" name="Picture 139" descr="lock.png"/>
          <p:cNvPicPr>
            <a:picLocks noChangeAspect="1"/>
          </p:cNvPicPr>
          <p:nvPr/>
        </p:nvPicPr>
        <p:blipFill>
          <a:blip r:embed="rId4"/>
          <a:stretch>
            <a:fillRect/>
          </a:stretch>
        </p:blipFill>
        <p:spPr>
          <a:xfrm>
            <a:off x="8044220" y="2339922"/>
            <a:ext cx="175498" cy="255270"/>
          </a:xfrm>
          <a:prstGeom prst="rect">
            <a:avLst/>
          </a:prstGeom>
        </p:spPr>
      </p:pic>
      <p:pic>
        <p:nvPicPr>
          <p:cNvPr id="141" name="Picture 140" descr="lock.png"/>
          <p:cNvPicPr>
            <a:picLocks noChangeAspect="1"/>
          </p:cNvPicPr>
          <p:nvPr/>
        </p:nvPicPr>
        <p:blipFill>
          <a:blip r:embed="rId4"/>
          <a:stretch>
            <a:fillRect/>
          </a:stretch>
        </p:blipFill>
        <p:spPr>
          <a:xfrm>
            <a:off x="8044220" y="2832772"/>
            <a:ext cx="175498" cy="255270"/>
          </a:xfrm>
          <a:prstGeom prst="rect">
            <a:avLst/>
          </a:prstGeom>
        </p:spPr>
      </p:pic>
      <p:pic>
        <p:nvPicPr>
          <p:cNvPr id="142" name="Picture 141" descr="lock.png"/>
          <p:cNvPicPr>
            <a:picLocks noChangeAspect="1"/>
          </p:cNvPicPr>
          <p:nvPr/>
        </p:nvPicPr>
        <p:blipFill>
          <a:blip r:embed="rId4"/>
          <a:stretch>
            <a:fillRect/>
          </a:stretch>
        </p:blipFill>
        <p:spPr>
          <a:xfrm>
            <a:off x="8044220" y="3325622"/>
            <a:ext cx="175498" cy="255270"/>
          </a:xfrm>
          <a:prstGeom prst="rect">
            <a:avLst/>
          </a:prstGeom>
        </p:spPr>
      </p:pic>
      <p:pic>
        <p:nvPicPr>
          <p:cNvPr id="143" name="Picture 142" descr="lock.png"/>
          <p:cNvPicPr>
            <a:picLocks noChangeAspect="1"/>
          </p:cNvPicPr>
          <p:nvPr/>
        </p:nvPicPr>
        <p:blipFill>
          <a:blip r:embed="rId4"/>
          <a:stretch>
            <a:fillRect/>
          </a:stretch>
        </p:blipFill>
        <p:spPr>
          <a:xfrm>
            <a:off x="8887182" y="2339922"/>
            <a:ext cx="175498" cy="255270"/>
          </a:xfrm>
          <a:prstGeom prst="rect">
            <a:avLst/>
          </a:prstGeom>
        </p:spPr>
      </p:pic>
      <p:pic>
        <p:nvPicPr>
          <p:cNvPr id="144" name="Picture 143" descr="lock.png"/>
          <p:cNvPicPr>
            <a:picLocks noChangeAspect="1"/>
          </p:cNvPicPr>
          <p:nvPr/>
        </p:nvPicPr>
        <p:blipFill>
          <a:blip r:embed="rId4"/>
          <a:stretch>
            <a:fillRect/>
          </a:stretch>
        </p:blipFill>
        <p:spPr>
          <a:xfrm>
            <a:off x="8887182" y="2832772"/>
            <a:ext cx="175498" cy="255270"/>
          </a:xfrm>
          <a:prstGeom prst="rect">
            <a:avLst/>
          </a:prstGeom>
        </p:spPr>
      </p:pic>
      <p:pic>
        <p:nvPicPr>
          <p:cNvPr id="145" name="Picture 144" descr="lock.png"/>
          <p:cNvPicPr>
            <a:picLocks noChangeAspect="1"/>
          </p:cNvPicPr>
          <p:nvPr/>
        </p:nvPicPr>
        <p:blipFill>
          <a:blip r:embed="rId4"/>
          <a:stretch>
            <a:fillRect/>
          </a:stretch>
        </p:blipFill>
        <p:spPr>
          <a:xfrm>
            <a:off x="8887182" y="3325622"/>
            <a:ext cx="175498" cy="255270"/>
          </a:xfrm>
          <a:prstGeom prst="rect">
            <a:avLst/>
          </a:prstGeom>
        </p:spPr>
      </p:pic>
      <p:pic>
        <p:nvPicPr>
          <p:cNvPr id="146" name="Picture 145" descr="lock.png"/>
          <p:cNvPicPr>
            <a:picLocks noChangeAspect="1"/>
          </p:cNvPicPr>
          <p:nvPr/>
        </p:nvPicPr>
        <p:blipFill>
          <a:blip r:embed="rId4"/>
          <a:stretch>
            <a:fillRect/>
          </a:stretch>
        </p:blipFill>
        <p:spPr>
          <a:xfrm>
            <a:off x="9730144" y="2339922"/>
            <a:ext cx="175498" cy="255270"/>
          </a:xfrm>
          <a:prstGeom prst="rect">
            <a:avLst/>
          </a:prstGeom>
        </p:spPr>
      </p:pic>
      <p:pic>
        <p:nvPicPr>
          <p:cNvPr id="147" name="Picture 146" descr="lock.png"/>
          <p:cNvPicPr>
            <a:picLocks noChangeAspect="1"/>
          </p:cNvPicPr>
          <p:nvPr/>
        </p:nvPicPr>
        <p:blipFill>
          <a:blip r:embed="rId4"/>
          <a:stretch>
            <a:fillRect/>
          </a:stretch>
        </p:blipFill>
        <p:spPr>
          <a:xfrm>
            <a:off x="9730144" y="2832772"/>
            <a:ext cx="175498" cy="255270"/>
          </a:xfrm>
          <a:prstGeom prst="rect">
            <a:avLst/>
          </a:prstGeom>
        </p:spPr>
      </p:pic>
      <p:pic>
        <p:nvPicPr>
          <p:cNvPr id="148" name="Picture 147" descr="lock.png"/>
          <p:cNvPicPr>
            <a:picLocks noChangeAspect="1"/>
          </p:cNvPicPr>
          <p:nvPr/>
        </p:nvPicPr>
        <p:blipFill>
          <a:blip r:embed="rId4"/>
          <a:stretch>
            <a:fillRect/>
          </a:stretch>
        </p:blipFill>
        <p:spPr>
          <a:xfrm>
            <a:off x="9730144" y="3325622"/>
            <a:ext cx="175498" cy="255270"/>
          </a:xfrm>
          <a:prstGeom prst="rect">
            <a:avLst/>
          </a:prstGeom>
        </p:spPr>
      </p:pic>
      <p:pic>
        <p:nvPicPr>
          <p:cNvPr id="149" name="Picture 148" descr="lock.png"/>
          <p:cNvPicPr>
            <a:picLocks noChangeAspect="1"/>
          </p:cNvPicPr>
          <p:nvPr/>
        </p:nvPicPr>
        <p:blipFill>
          <a:blip r:embed="rId4"/>
          <a:stretch>
            <a:fillRect/>
          </a:stretch>
        </p:blipFill>
        <p:spPr>
          <a:xfrm>
            <a:off x="10573106" y="2339922"/>
            <a:ext cx="175498" cy="255270"/>
          </a:xfrm>
          <a:prstGeom prst="rect">
            <a:avLst/>
          </a:prstGeom>
        </p:spPr>
      </p:pic>
      <p:pic>
        <p:nvPicPr>
          <p:cNvPr id="150" name="Picture 149" descr="lock.png"/>
          <p:cNvPicPr>
            <a:picLocks noChangeAspect="1"/>
          </p:cNvPicPr>
          <p:nvPr/>
        </p:nvPicPr>
        <p:blipFill>
          <a:blip r:embed="rId4"/>
          <a:stretch>
            <a:fillRect/>
          </a:stretch>
        </p:blipFill>
        <p:spPr>
          <a:xfrm>
            <a:off x="10573106" y="2832772"/>
            <a:ext cx="175498" cy="255270"/>
          </a:xfrm>
          <a:prstGeom prst="rect">
            <a:avLst/>
          </a:prstGeom>
        </p:spPr>
      </p:pic>
      <p:pic>
        <p:nvPicPr>
          <p:cNvPr id="151" name="Picture 150" descr="lock.png"/>
          <p:cNvPicPr>
            <a:picLocks noChangeAspect="1"/>
          </p:cNvPicPr>
          <p:nvPr/>
        </p:nvPicPr>
        <p:blipFill>
          <a:blip r:embed="rId4"/>
          <a:stretch>
            <a:fillRect/>
          </a:stretch>
        </p:blipFill>
        <p:spPr>
          <a:xfrm>
            <a:off x="10573106" y="3325622"/>
            <a:ext cx="175498" cy="255270"/>
          </a:xfrm>
          <a:prstGeom prst="rect">
            <a:avLst/>
          </a:prstGeom>
        </p:spPr>
      </p:pic>
      <p:pic>
        <p:nvPicPr>
          <p:cNvPr id="152" name="Picture 151" descr="lock.png"/>
          <p:cNvPicPr>
            <a:picLocks noChangeAspect="1"/>
          </p:cNvPicPr>
          <p:nvPr/>
        </p:nvPicPr>
        <p:blipFill>
          <a:blip r:embed="rId4"/>
          <a:stretch>
            <a:fillRect/>
          </a:stretch>
        </p:blipFill>
        <p:spPr>
          <a:xfrm>
            <a:off x="11416069" y="2339922"/>
            <a:ext cx="175498" cy="255270"/>
          </a:xfrm>
          <a:prstGeom prst="rect">
            <a:avLst/>
          </a:prstGeom>
        </p:spPr>
      </p:pic>
      <p:pic>
        <p:nvPicPr>
          <p:cNvPr id="153" name="Picture 152" descr="lock.png"/>
          <p:cNvPicPr>
            <a:picLocks noChangeAspect="1"/>
          </p:cNvPicPr>
          <p:nvPr/>
        </p:nvPicPr>
        <p:blipFill>
          <a:blip r:embed="rId4"/>
          <a:stretch>
            <a:fillRect/>
          </a:stretch>
        </p:blipFill>
        <p:spPr>
          <a:xfrm>
            <a:off x="11416069" y="2832772"/>
            <a:ext cx="175498" cy="255270"/>
          </a:xfrm>
          <a:prstGeom prst="rect">
            <a:avLst/>
          </a:prstGeom>
        </p:spPr>
      </p:pic>
      <p:pic>
        <p:nvPicPr>
          <p:cNvPr id="154" name="Picture 153" descr="lock.png"/>
          <p:cNvPicPr>
            <a:picLocks noChangeAspect="1"/>
          </p:cNvPicPr>
          <p:nvPr/>
        </p:nvPicPr>
        <p:blipFill>
          <a:blip r:embed="rId4"/>
          <a:stretch>
            <a:fillRect/>
          </a:stretch>
        </p:blipFill>
        <p:spPr>
          <a:xfrm>
            <a:off x="11416069" y="3325622"/>
            <a:ext cx="175498" cy="255270"/>
          </a:xfrm>
          <a:prstGeom prst="rect">
            <a:avLst/>
          </a:prstGeom>
        </p:spPr>
      </p:pic>
      <p:sp>
        <p:nvSpPr>
          <p:cNvPr id="155" name="TextBox 154"/>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Germany crab meat market is projected to register</a:t>
            </a:r>
          </a:p>
        </p:txBody>
      </p:sp>
      <p:pic>
        <p:nvPicPr>
          <p:cNvPr id="156" name="Picture 155" descr="lock.png"/>
          <p:cNvPicPr>
            <a:picLocks noChangeAspect="1"/>
          </p:cNvPicPr>
          <p:nvPr/>
        </p:nvPicPr>
        <p:blipFill>
          <a:blip r:embed="rId4"/>
          <a:stretch>
            <a:fillRect/>
          </a:stretch>
        </p:blipFill>
        <p:spPr>
          <a:xfrm>
            <a:off x="472307" y="4387298"/>
            <a:ext cx="128699" cy="187198"/>
          </a:xfrm>
          <a:prstGeom prst="rect">
            <a:avLst/>
          </a:prstGeom>
        </p:spPr>
      </p:pic>
      <p:sp>
        <p:nvSpPr>
          <p:cNvPr id="157" name="TextBox 156"/>
          <p:cNvSpPr txBox="1"/>
          <p:nvPr/>
        </p:nvSpPr>
        <p:spPr>
          <a:xfrm>
            <a:off x="639803" y="4397077"/>
            <a:ext cx="2583160" cy="186689"/>
          </a:xfrm>
          <a:prstGeom prst="rect">
            <a:avLst/>
          </a:prstGeom>
          <a:noFill/>
        </p:spPr>
        <p:txBody>
          <a:bodyPr wrap="none" lIns="0" rIns="0" tIns="0" bIns="0">
            <a:spAutoFit/>
          </a:bodyPr>
          <a:lstStyle/>
          <a:p>
            <a:r>
              <a:rPr sz="1100" b="0">
                <a:solidFill>
                  <a:srgbClr val="2E2E2E"/>
                </a:solidFill>
                <a:latin typeface="Calibri"/>
              </a:rPr>
              <a:t>X higher value than the U.K. in 2036. Among</a:t>
            </a:r>
          </a:p>
        </p:txBody>
      </p:sp>
      <p:sp>
        <p:nvSpPr>
          <p:cNvPr id="158" name="TextBox 157"/>
          <p:cNvSpPr txBox="1"/>
          <p:nvPr/>
        </p:nvSpPr>
        <p:spPr>
          <a:xfrm>
            <a:off x="485775" y="4564717"/>
            <a:ext cx="2702669" cy="186689"/>
          </a:xfrm>
          <a:prstGeom prst="rect">
            <a:avLst/>
          </a:prstGeom>
          <a:noFill/>
        </p:spPr>
        <p:txBody>
          <a:bodyPr wrap="none" lIns="0" rIns="0" tIns="0" bIns="0">
            <a:spAutoFit/>
          </a:bodyPr>
          <a:lstStyle/>
          <a:p>
            <a:r>
              <a:rPr sz="1100" b="0">
                <a:solidFill>
                  <a:srgbClr val="2E2E2E"/>
                </a:solidFill>
                <a:latin typeface="Calibri"/>
              </a:rPr>
              <a:t>crab meat by country, Germany is expected to</a:t>
            </a:r>
          </a:p>
        </p:txBody>
      </p:sp>
      <p:sp>
        <p:nvSpPr>
          <p:cNvPr id="159" name="TextBox 158"/>
          <p:cNvSpPr txBox="1"/>
          <p:nvPr/>
        </p:nvSpPr>
        <p:spPr>
          <a:xfrm>
            <a:off x="485775" y="473235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60" name="Picture 159" descr="lock.png"/>
          <p:cNvPicPr>
            <a:picLocks noChangeAspect="1"/>
          </p:cNvPicPr>
          <p:nvPr/>
        </p:nvPicPr>
        <p:blipFill>
          <a:blip r:embed="rId4"/>
          <a:stretch>
            <a:fillRect/>
          </a:stretch>
        </p:blipFill>
        <p:spPr>
          <a:xfrm>
            <a:off x="2108919" y="4722578"/>
            <a:ext cx="128699" cy="187198"/>
          </a:xfrm>
          <a:prstGeom prst="rect">
            <a:avLst/>
          </a:prstGeom>
        </p:spPr>
      </p:pic>
      <p:sp>
        <p:nvSpPr>
          <p:cNvPr id="161" name="TextBox 160"/>
          <p:cNvSpPr txBox="1"/>
          <p:nvPr/>
        </p:nvSpPr>
        <p:spPr>
          <a:xfrm>
            <a:off x="2276415" y="473235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62" name="TextBox 161"/>
          <p:cNvSpPr txBox="1"/>
          <p:nvPr/>
        </p:nvSpPr>
        <p:spPr>
          <a:xfrm>
            <a:off x="485775" y="489999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163" name="TextBox 162"/>
          <p:cNvSpPr txBox="1"/>
          <p:nvPr/>
        </p:nvSpPr>
        <p:spPr>
          <a:xfrm>
            <a:off x="485775" y="5117929"/>
            <a:ext cx="2722860" cy="186689"/>
          </a:xfrm>
          <a:prstGeom prst="rect">
            <a:avLst/>
          </a:prstGeom>
          <a:noFill/>
        </p:spPr>
        <p:txBody>
          <a:bodyPr wrap="none" lIns="0" rIns="0" tIns="0" bIns="0">
            <a:spAutoFit/>
          </a:bodyPr>
          <a:lstStyle/>
          <a:p>
            <a:r>
              <a:rPr sz="1100" b="0">
                <a:solidFill>
                  <a:srgbClr val="2E2E2E"/>
                </a:solidFill>
                <a:latin typeface="Calibri"/>
              </a:rPr>
              <a:t>In terms of value share by country, Germany is</a:t>
            </a:r>
          </a:p>
        </p:txBody>
      </p:sp>
      <p:sp>
        <p:nvSpPr>
          <p:cNvPr id="164" name="TextBox 163"/>
          <p:cNvSpPr txBox="1"/>
          <p:nvPr/>
        </p:nvSpPr>
        <p:spPr>
          <a:xfrm>
            <a:off x="485775" y="5285569"/>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65" name="Picture 164" descr="lock.png"/>
          <p:cNvPicPr>
            <a:picLocks noChangeAspect="1"/>
          </p:cNvPicPr>
          <p:nvPr/>
        </p:nvPicPr>
        <p:blipFill>
          <a:blip r:embed="rId4"/>
          <a:stretch>
            <a:fillRect/>
          </a:stretch>
        </p:blipFill>
        <p:spPr>
          <a:xfrm>
            <a:off x="2900479" y="5275790"/>
            <a:ext cx="128699" cy="187198"/>
          </a:xfrm>
          <a:prstGeom prst="rect">
            <a:avLst/>
          </a:prstGeom>
        </p:spPr>
      </p:pic>
      <p:sp>
        <p:nvSpPr>
          <p:cNvPr id="166" name="TextBox 165"/>
          <p:cNvSpPr txBox="1"/>
          <p:nvPr/>
        </p:nvSpPr>
        <p:spPr>
          <a:xfrm>
            <a:off x="3067974"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67" name="TextBox 166"/>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68" name="Picture 167" descr="lock.png"/>
          <p:cNvPicPr>
            <a:picLocks noChangeAspect="1"/>
          </p:cNvPicPr>
          <p:nvPr/>
        </p:nvPicPr>
        <p:blipFill>
          <a:blip r:embed="rId4"/>
          <a:stretch>
            <a:fillRect/>
          </a:stretch>
        </p:blipFill>
        <p:spPr>
          <a:xfrm>
            <a:off x="1576057" y="5443430"/>
            <a:ext cx="128699" cy="187198"/>
          </a:xfrm>
          <a:prstGeom prst="rect">
            <a:avLst/>
          </a:prstGeom>
        </p:spPr>
      </p:pic>
      <p:sp>
        <p:nvSpPr>
          <p:cNvPr id="169" name="TextBox 168"/>
          <p:cNvSpPr txBox="1"/>
          <p:nvPr/>
        </p:nvSpPr>
        <p:spPr>
          <a:xfrm>
            <a:off x="1743553" y="5453209"/>
            <a:ext cx="1291208" cy="186689"/>
          </a:xfrm>
          <a:prstGeom prst="rect">
            <a:avLst/>
          </a:prstGeom>
          <a:noFill/>
        </p:spPr>
        <p:txBody>
          <a:bodyPr wrap="none" lIns="0" rIns="0" tIns="0" bIns="0">
            <a:spAutoFit/>
          </a:bodyPr>
          <a:lstStyle/>
          <a:p>
            <a:r>
              <a:rPr sz="1100" b="0">
                <a:solidFill>
                  <a:srgbClr val="2E2E2E"/>
                </a:solidFill>
                <a:latin typeface="Calibri"/>
              </a:rPr>
              <a:t>share by 2036. U.K. is</a:t>
            </a:r>
          </a:p>
        </p:txBody>
      </p:sp>
      <p:sp>
        <p:nvSpPr>
          <p:cNvPr id="170" name="TextBox 169"/>
          <p:cNvSpPr txBox="1"/>
          <p:nvPr/>
        </p:nvSpPr>
        <p:spPr>
          <a:xfrm>
            <a:off x="485775" y="5620849"/>
            <a:ext cx="1012353" cy="186689"/>
          </a:xfrm>
          <a:prstGeom prst="rect">
            <a:avLst/>
          </a:prstGeom>
          <a:noFill/>
        </p:spPr>
        <p:txBody>
          <a:bodyPr wrap="none" lIns="0" rIns="0" tIns="0" bIns="0">
            <a:spAutoFit/>
          </a:bodyPr>
          <a:lstStyle/>
          <a:p>
            <a:r>
              <a:rPr sz="1100" b="0">
                <a:solidFill>
                  <a:srgbClr val="2E2E2E"/>
                </a:solidFill>
                <a:latin typeface="Calibri"/>
              </a:rPr>
              <a:t>expected to lose</a:t>
            </a:r>
          </a:p>
        </p:txBody>
      </p:sp>
      <p:pic>
        <p:nvPicPr>
          <p:cNvPr id="171" name="Picture 170" descr="lock.png"/>
          <p:cNvPicPr>
            <a:picLocks noChangeAspect="1"/>
          </p:cNvPicPr>
          <p:nvPr/>
        </p:nvPicPr>
        <p:blipFill>
          <a:blip r:embed="rId4"/>
          <a:stretch>
            <a:fillRect/>
          </a:stretch>
        </p:blipFill>
        <p:spPr>
          <a:xfrm>
            <a:off x="1446180" y="5611070"/>
            <a:ext cx="128699" cy="187198"/>
          </a:xfrm>
          <a:prstGeom prst="rect">
            <a:avLst/>
          </a:prstGeom>
        </p:spPr>
      </p:pic>
      <p:sp>
        <p:nvSpPr>
          <p:cNvPr id="172" name="TextBox 171"/>
          <p:cNvSpPr txBox="1"/>
          <p:nvPr/>
        </p:nvSpPr>
        <p:spPr>
          <a:xfrm>
            <a:off x="1613676" y="5620849"/>
            <a:ext cx="1693664" cy="186689"/>
          </a:xfrm>
          <a:prstGeom prst="rect">
            <a:avLst/>
          </a:prstGeom>
          <a:noFill/>
        </p:spPr>
        <p:txBody>
          <a:bodyPr wrap="none" lIns="0" rIns="0" tIns="0" bIns="0">
            <a:spAutoFit/>
          </a:bodyPr>
          <a:lstStyle/>
          <a:p>
            <a:r>
              <a:rPr sz="1100" b="0">
                <a:solidFill>
                  <a:srgbClr val="2E2E2E"/>
                </a:solidFill>
                <a:latin typeface="Calibri"/>
              </a:rPr>
              <a:t>BPS over the forecast period</a:t>
            </a:r>
          </a:p>
        </p:txBody>
      </p:sp>
      <p:sp>
        <p:nvSpPr>
          <p:cNvPr id="173" name="TextBox 172"/>
          <p:cNvSpPr txBox="1"/>
          <p:nvPr/>
        </p:nvSpPr>
        <p:spPr>
          <a:xfrm>
            <a:off x="485775" y="5788489"/>
            <a:ext cx="877837" cy="186689"/>
          </a:xfrm>
          <a:prstGeom prst="rect">
            <a:avLst/>
          </a:prstGeom>
          <a:noFill/>
        </p:spPr>
        <p:txBody>
          <a:bodyPr wrap="none" lIns="0" rIns="0" tIns="0" bIns="0">
            <a:spAutoFit/>
          </a:bodyPr>
          <a:lstStyle/>
          <a:p>
            <a:r>
              <a:rPr sz="1100" b="0">
                <a:solidFill>
                  <a:srgbClr val="2E2E2E"/>
                </a:solidFill>
                <a:latin typeface="Calibri"/>
              </a:rPr>
              <a:t>to account for</a:t>
            </a:r>
          </a:p>
        </p:txBody>
      </p:sp>
      <p:pic>
        <p:nvPicPr>
          <p:cNvPr id="174" name="Picture 173" descr="lock.png"/>
          <p:cNvPicPr>
            <a:picLocks noChangeAspect="1"/>
          </p:cNvPicPr>
          <p:nvPr/>
        </p:nvPicPr>
        <p:blipFill>
          <a:blip r:embed="rId4"/>
          <a:stretch>
            <a:fillRect/>
          </a:stretch>
        </p:blipFill>
        <p:spPr>
          <a:xfrm>
            <a:off x="1311664" y="5778710"/>
            <a:ext cx="128699" cy="187198"/>
          </a:xfrm>
          <a:prstGeom prst="rect">
            <a:avLst/>
          </a:prstGeom>
        </p:spPr>
      </p:pic>
      <p:sp>
        <p:nvSpPr>
          <p:cNvPr id="175" name="TextBox 174"/>
          <p:cNvSpPr txBox="1"/>
          <p:nvPr/>
        </p:nvSpPr>
        <p:spPr>
          <a:xfrm>
            <a:off x="1479160" y="578848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76" name="TextBox 175"/>
          <p:cNvSpPr txBox="1"/>
          <p:nvPr/>
        </p:nvSpPr>
        <p:spPr>
          <a:xfrm>
            <a:off x="3838575" y="4229437"/>
            <a:ext cx="589226" cy="146456"/>
          </a:xfrm>
          <a:prstGeom prst="rect">
            <a:avLst/>
          </a:prstGeom>
          <a:noFill/>
        </p:spPr>
        <p:txBody>
          <a:bodyPr wrap="none" lIns="0" rIns="0" tIns="0" bIns="0">
            <a:spAutoFit/>
          </a:bodyPr>
          <a:lstStyle/>
          <a:p>
            <a:r>
              <a:rPr sz="835" b="0">
                <a:solidFill>
                  <a:srgbClr val="2E2E2E"/>
                </a:solidFill>
                <a:latin typeface="Calibri"/>
              </a:rPr>
              <a:t>● Germany:</a:t>
            </a:r>
          </a:p>
        </p:txBody>
      </p:sp>
      <p:pic>
        <p:nvPicPr>
          <p:cNvPr id="177" name="Picture 176" descr="lock.png"/>
          <p:cNvPicPr>
            <a:picLocks noChangeAspect="1"/>
          </p:cNvPicPr>
          <p:nvPr/>
        </p:nvPicPr>
        <p:blipFill>
          <a:blip r:embed="rId4"/>
          <a:stretch>
            <a:fillRect/>
          </a:stretch>
        </p:blipFill>
        <p:spPr>
          <a:xfrm>
            <a:off x="4370032" y="4222004"/>
            <a:ext cx="97811" cy="142270"/>
          </a:xfrm>
          <a:prstGeom prst="rect">
            <a:avLst/>
          </a:prstGeom>
        </p:spPr>
      </p:pic>
      <p:sp>
        <p:nvSpPr>
          <p:cNvPr id="178" name="TextBox 177"/>
          <p:cNvSpPr txBox="1"/>
          <p:nvPr/>
        </p:nvSpPr>
        <p:spPr>
          <a:xfrm>
            <a:off x="4497329" y="4229437"/>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79" name="Picture 178" descr="lock.png"/>
          <p:cNvPicPr>
            <a:picLocks noChangeAspect="1"/>
          </p:cNvPicPr>
          <p:nvPr/>
        </p:nvPicPr>
        <p:blipFill>
          <a:blip r:embed="rId4"/>
          <a:stretch>
            <a:fillRect/>
          </a:stretch>
        </p:blipFill>
        <p:spPr>
          <a:xfrm>
            <a:off x="5150511" y="4222004"/>
            <a:ext cx="97811" cy="142270"/>
          </a:xfrm>
          <a:prstGeom prst="rect">
            <a:avLst/>
          </a:prstGeom>
        </p:spPr>
      </p:pic>
      <p:sp>
        <p:nvSpPr>
          <p:cNvPr id="180" name="TextBox 179"/>
          <p:cNvSpPr txBox="1"/>
          <p:nvPr/>
        </p:nvSpPr>
        <p:spPr>
          <a:xfrm>
            <a:off x="5277808" y="4229437"/>
            <a:ext cx="1097055" cy="146456"/>
          </a:xfrm>
          <a:prstGeom prst="rect">
            <a:avLst/>
          </a:prstGeom>
          <a:noFill/>
        </p:spPr>
        <p:txBody>
          <a:bodyPr wrap="none" lIns="0" rIns="0" tIns="0" bIns="0">
            <a:spAutoFit/>
          </a:bodyPr>
          <a:lstStyle/>
          <a:p>
            <a:r>
              <a:rPr sz="835" b="0">
                <a:solidFill>
                  <a:srgbClr val="2E2E2E"/>
                </a:solidFill>
                <a:latin typeface="Calibri"/>
              </a:rPr>
              <a:t>CAGR leads the market.</a:t>
            </a:r>
          </a:p>
        </p:txBody>
      </p:sp>
      <p:sp>
        <p:nvSpPr>
          <p:cNvPr id="181" name="TextBox 180"/>
          <p:cNvSpPr txBox="1"/>
          <p:nvPr/>
        </p:nvSpPr>
        <p:spPr>
          <a:xfrm>
            <a:off x="3838575" y="4395065"/>
            <a:ext cx="369624" cy="146456"/>
          </a:xfrm>
          <a:prstGeom prst="rect">
            <a:avLst/>
          </a:prstGeom>
          <a:noFill/>
        </p:spPr>
        <p:txBody>
          <a:bodyPr wrap="none" lIns="0" rIns="0" tIns="0" bIns="0">
            <a:spAutoFit/>
          </a:bodyPr>
          <a:lstStyle/>
          <a:p>
            <a:r>
              <a:rPr sz="835" b="0">
                <a:solidFill>
                  <a:srgbClr val="2E2E2E"/>
                </a:solidFill>
                <a:latin typeface="Calibri"/>
              </a:rPr>
              <a:t>● U.K.:</a:t>
            </a:r>
          </a:p>
        </p:txBody>
      </p:sp>
      <p:pic>
        <p:nvPicPr>
          <p:cNvPr id="182" name="Picture 181" descr="lock.png"/>
          <p:cNvPicPr>
            <a:picLocks noChangeAspect="1"/>
          </p:cNvPicPr>
          <p:nvPr/>
        </p:nvPicPr>
        <p:blipFill>
          <a:blip r:embed="rId4"/>
          <a:stretch>
            <a:fillRect/>
          </a:stretch>
        </p:blipFill>
        <p:spPr>
          <a:xfrm>
            <a:off x="4150430" y="4387633"/>
            <a:ext cx="97811" cy="142270"/>
          </a:xfrm>
          <a:prstGeom prst="rect">
            <a:avLst/>
          </a:prstGeom>
        </p:spPr>
      </p:pic>
      <p:sp>
        <p:nvSpPr>
          <p:cNvPr id="183" name="TextBox 182"/>
          <p:cNvSpPr txBox="1"/>
          <p:nvPr/>
        </p:nvSpPr>
        <p:spPr>
          <a:xfrm>
            <a:off x="4277727" y="439506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84" name="Picture 183" descr="lock.png"/>
          <p:cNvPicPr>
            <a:picLocks noChangeAspect="1"/>
          </p:cNvPicPr>
          <p:nvPr/>
        </p:nvPicPr>
        <p:blipFill>
          <a:blip r:embed="rId4"/>
          <a:stretch>
            <a:fillRect/>
          </a:stretch>
        </p:blipFill>
        <p:spPr>
          <a:xfrm>
            <a:off x="4930909" y="4387633"/>
            <a:ext cx="97811" cy="142270"/>
          </a:xfrm>
          <a:prstGeom prst="rect">
            <a:avLst/>
          </a:prstGeom>
        </p:spPr>
      </p:pic>
      <p:sp>
        <p:nvSpPr>
          <p:cNvPr id="185" name="TextBox 184"/>
          <p:cNvSpPr txBox="1"/>
          <p:nvPr/>
        </p:nvSpPr>
        <p:spPr>
          <a:xfrm>
            <a:off x="5058206" y="4395065"/>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186" name="TextBox 185"/>
          <p:cNvSpPr txBox="1"/>
          <p:nvPr/>
        </p:nvSpPr>
        <p:spPr>
          <a:xfrm>
            <a:off x="3838575" y="4560693"/>
            <a:ext cx="483054" cy="146456"/>
          </a:xfrm>
          <a:prstGeom prst="rect">
            <a:avLst/>
          </a:prstGeom>
          <a:noFill/>
        </p:spPr>
        <p:txBody>
          <a:bodyPr wrap="none" lIns="0" rIns="0" tIns="0" bIns="0">
            <a:spAutoFit/>
          </a:bodyPr>
          <a:lstStyle/>
          <a:p>
            <a:r>
              <a:rPr sz="835" b="0">
                <a:solidFill>
                  <a:srgbClr val="2E2E2E"/>
                </a:solidFill>
                <a:latin typeface="Calibri"/>
              </a:rPr>
              <a:t>● France:</a:t>
            </a:r>
          </a:p>
        </p:txBody>
      </p:sp>
      <p:pic>
        <p:nvPicPr>
          <p:cNvPr id="187" name="Picture 186" descr="lock.png"/>
          <p:cNvPicPr>
            <a:picLocks noChangeAspect="1"/>
          </p:cNvPicPr>
          <p:nvPr/>
        </p:nvPicPr>
        <p:blipFill>
          <a:blip r:embed="rId4"/>
          <a:stretch>
            <a:fillRect/>
          </a:stretch>
        </p:blipFill>
        <p:spPr>
          <a:xfrm>
            <a:off x="4263860" y="4553261"/>
            <a:ext cx="97811" cy="142270"/>
          </a:xfrm>
          <a:prstGeom prst="rect">
            <a:avLst/>
          </a:prstGeom>
        </p:spPr>
      </p:pic>
      <p:sp>
        <p:nvSpPr>
          <p:cNvPr id="188" name="TextBox 187"/>
          <p:cNvSpPr txBox="1"/>
          <p:nvPr/>
        </p:nvSpPr>
        <p:spPr>
          <a:xfrm>
            <a:off x="4391157" y="456069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89" name="Picture 188" descr="lock.png"/>
          <p:cNvPicPr>
            <a:picLocks noChangeAspect="1"/>
          </p:cNvPicPr>
          <p:nvPr/>
        </p:nvPicPr>
        <p:blipFill>
          <a:blip r:embed="rId4"/>
          <a:stretch>
            <a:fillRect/>
          </a:stretch>
        </p:blipFill>
        <p:spPr>
          <a:xfrm>
            <a:off x="5044339" y="4553261"/>
            <a:ext cx="97811" cy="142270"/>
          </a:xfrm>
          <a:prstGeom prst="rect">
            <a:avLst/>
          </a:prstGeom>
        </p:spPr>
      </p:pic>
      <p:sp>
        <p:nvSpPr>
          <p:cNvPr id="190" name="TextBox 189"/>
          <p:cNvSpPr txBox="1"/>
          <p:nvPr/>
        </p:nvSpPr>
        <p:spPr>
          <a:xfrm>
            <a:off x="5171636" y="4560693"/>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191" name="TextBox 190"/>
          <p:cNvSpPr txBox="1"/>
          <p:nvPr/>
        </p:nvSpPr>
        <p:spPr>
          <a:xfrm>
            <a:off x="3838575" y="4726321"/>
            <a:ext cx="378541" cy="146456"/>
          </a:xfrm>
          <a:prstGeom prst="rect">
            <a:avLst/>
          </a:prstGeom>
          <a:noFill/>
        </p:spPr>
        <p:txBody>
          <a:bodyPr wrap="none" lIns="0" rIns="0" tIns="0" bIns="0">
            <a:spAutoFit/>
          </a:bodyPr>
          <a:lstStyle/>
          <a:p>
            <a:r>
              <a:rPr sz="835" b="0">
                <a:solidFill>
                  <a:srgbClr val="2E2E2E"/>
                </a:solidFill>
                <a:latin typeface="Calibri"/>
              </a:rPr>
              <a:t>● Italy:</a:t>
            </a:r>
          </a:p>
        </p:txBody>
      </p:sp>
      <p:pic>
        <p:nvPicPr>
          <p:cNvPr id="192" name="Picture 191" descr="lock.png"/>
          <p:cNvPicPr>
            <a:picLocks noChangeAspect="1"/>
          </p:cNvPicPr>
          <p:nvPr/>
        </p:nvPicPr>
        <p:blipFill>
          <a:blip r:embed="rId4"/>
          <a:stretch>
            <a:fillRect/>
          </a:stretch>
        </p:blipFill>
        <p:spPr>
          <a:xfrm>
            <a:off x="4159347" y="4718889"/>
            <a:ext cx="97811" cy="142270"/>
          </a:xfrm>
          <a:prstGeom prst="rect">
            <a:avLst/>
          </a:prstGeom>
        </p:spPr>
      </p:pic>
      <p:sp>
        <p:nvSpPr>
          <p:cNvPr id="193" name="TextBox 192"/>
          <p:cNvSpPr txBox="1"/>
          <p:nvPr/>
        </p:nvSpPr>
        <p:spPr>
          <a:xfrm>
            <a:off x="4286644" y="472632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4" name="Picture 193" descr="lock.png"/>
          <p:cNvPicPr>
            <a:picLocks noChangeAspect="1"/>
          </p:cNvPicPr>
          <p:nvPr/>
        </p:nvPicPr>
        <p:blipFill>
          <a:blip r:embed="rId4"/>
          <a:stretch>
            <a:fillRect/>
          </a:stretch>
        </p:blipFill>
        <p:spPr>
          <a:xfrm>
            <a:off x="4939826" y="4718889"/>
            <a:ext cx="97811" cy="142270"/>
          </a:xfrm>
          <a:prstGeom prst="rect">
            <a:avLst/>
          </a:prstGeom>
        </p:spPr>
      </p:pic>
      <p:sp>
        <p:nvSpPr>
          <p:cNvPr id="195" name="TextBox 194"/>
          <p:cNvSpPr txBox="1"/>
          <p:nvPr/>
        </p:nvSpPr>
        <p:spPr>
          <a:xfrm>
            <a:off x="5067123" y="4726321"/>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196" name="TextBox 195"/>
          <p:cNvSpPr txBox="1"/>
          <p:nvPr/>
        </p:nvSpPr>
        <p:spPr>
          <a:xfrm>
            <a:off x="3838575" y="4891950"/>
            <a:ext cx="428309" cy="146456"/>
          </a:xfrm>
          <a:prstGeom prst="rect">
            <a:avLst/>
          </a:prstGeom>
          <a:noFill/>
        </p:spPr>
        <p:txBody>
          <a:bodyPr wrap="none" lIns="0" rIns="0" tIns="0" bIns="0">
            <a:spAutoFit/>
          </a:bodyPr>
          <a:lstStyle/>
          <a:p>
            <a:r>
              <a:rPr sz="835" b="0">
                <a:solidFill>
                  <a:srgbClr val="2E2E2E"/>
                </a:solidFill>
                <a:latin typeface="Calibri"/>
              </a:rPr>
              <a:t>● Spain:</a:t>
            </a:r>
          </a:p>
        </p:txBody>
      </p:sp>
      <p:pic>
        <p:nvPicPr>
          <p:cNvPr id="197" name="Picture 196" descr="lock.png"/>
          <p:cNvPicPr>
            <a:picLocks noChangeAspect="1"/>
          </p:cNvPicPr>
          <p:nvPr/>
        </p:nvPicPr>
        <p:blipFill>
          <a:blip r:embed="rId4"/>
          <a:stretch>
            <a:fillRect/>
          </a:stretch>
        </p:blipFill>
        <p:spPr>
          <a:xfrm>
            <a:off x="4209115" y="4884518"/>
            <a:ext cx="97811" cy="142270"/>
          </a:xfrm>
          <a:prstGeom prst="rect">
            <a:avLst/>
          </a:prstGeom>
        </p:spPr>
      </p:pic>
      <p:sp>
        <p:nvSpPr>
          <p:cNvPr id="198" name="TextBox 197"/>
          <p:cNvSpPr txBox="1"/>
          <p:nvPr/>
        </p:nvSpPr>
        <p:spPr>
          <a:xfrm>
            <a:off x="4336412" y="489195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9" name="Picture 198" descr="lock.png"/>
          <p:cNvPicPr>
            <a:picLocks noChangeAspect="1"/>
          </p:cNvPicPr>
          <p:nvPr/>
        </p:nvPicPr>
        <p:blipFill>
          <a:blip r:embed="rId4"/>
          <a:stretch>
            <a:fillRect/>
          </a:stretch>
        </p:blipFill>
        <p:spPr>
          <a:xfrm>
            <a:off x="4989594" y="4884518"/>
            <a:ext cx="97811" cy="142270"/>
          </a:xfrm>
          <a:prstGeom prst="rect">
            <a:avLst/>
          </a:prstGeom>
        </p:spPr>
      </p:pic>
      <p:sp>
        <p:nvSpPr>
          <p:cNvPr id="200" name="TextBox 199"/>
          <p:cNvSpPr txBox="1"/>
          <p:nvPr/>
        </p:nvSpPr>
        <p:spPr>
          <a:xfrm>
            <a:off x="5116891" y="4891950"/>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01" name="TextBox 200"/>
          <p:cNvSpPr txBox="1"/>
          <p:nvPr/>
        </p:nvSpPr>
        <p:spPr>
          <a:xfrm>
            <a:off x="3838575" y="5057578"/>
            <a:ext cx="542983" cy="146456"/>
          </a:xfrm>
          <a:prstGeom prst="rect">
            <a:avLst/>
          </a:prstGeom>
          <a:noFill/>
        </p:spPr>
        <p:txBody>
          <a:bodyPr wrap="none" lIns="0" rIns="0" tIns="0" bIns="0">
            <a:spAutoFit/>
          </a:bodyPr>
          <a:lstStyle/>
          <a:p>
            <a:r>
              <a:rPr sz="835" b="0">
                <a:solidFill>
                  <a:srgbClr val="2E2E2E"/>
                </a:solidFill>
                <a:latin typeface="Calibri"/>
              </a:rPr>
              <a:t>● Belgium:</a:t>
            </a:r>
          </a:p>
        </p:txBody>
      </p:sp>
      <p:pic>
        <p:nvPicPr>
          <p:cNvPr id="202" name="Picture 201" descr="lock.png"/>
          <p:cNvPicPr>
            <a:picLocks noChangeAspect="1"/>
          </p:cNvPicPr>
          <p:nvPr/>
        </p:nvPicPr>
        <p:blipFill>
          <a:blip r:embed="rId4"/>
          <a:stretch>
            <a:fillRect/>
          </a:stretch>
        </p:blipFill>
        <p:spPr>
          <a:xfrm>
            <a:off x="4323789" y="5050146"/>
            <a:ext cx="97811" cy="142270"/>
          </a:xfrm>
          <a:prstGeom prst="rect">
            <a:avLst/>
          </a:prstGeom>
        </p:spPr>
      </p:pic>
      <p:sp>
        <p:nvSpPr>
          <p:cNvPr id="203" name="TextBox 202"/>
          <p:cNvSpPr txBox="1"/>
          <p:nvPr/>
        </p:nvSpPr>
        <p:spPr>
          <a:xfrm>
            <a:off x="4451086" y="505757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4" name="Picture 203" descr="lock.png"/>
          <p:cNvPicPr>
            <a:picLocks noChangeAspect="1"/>
          </p:cNvPicPr>
          <p:nvPr/>
        </p:nvPicPr>
        <p:blipFill>
          <a:blip r:embed="rId4"/>
          <a:stretch>
            <a:fillRect/>
          </a:stretch>
        </p:blipFill>
        <p:spPr>
          <a:xfrm>
            <a:off x="5104268" y="5050146"/>
            <a:ext cx="97811" cy="142270"/>
          </a:xfrm>
          <a:prstGeom prst="rect">
            <a:avLst/>
          </a:prstGeom>
        </p:spPr>
      </p:pic>
      <p:sp>
        <p:nvSpPr>
          <p:cNvPr id="205" name="TextBox 204"/>
          <p:cNvSpPr txBox="1"/>
          <p:nvPr/>
        </p:nvSpPr>
        <p:spPr>
          <a:xfrm>
            <a:off x="5231565" y="5057578"/>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06" name="TextBox 205"/>
          <p:cNvSpPr txBox="1"/>
          <p:nvPr/>
        </p:nvSpPr>
        <p:spPr>
          <a:xfrm>
            <a:off x="3838575" y="5223206"/>
            <a:ext cx="724015" cy="146456"/>
          </a:xfrm>
          <a:prstGeom prst="rect">
            <a:avLst/>
          </a:prstGeom>
          <a:noFill/>
        </p:spPr>
        <p:txBody>
          <a:bodyPr wrap="none" lIns="0" rIns="0" tIns="0" bIns="0">
            <a:spAutoFit/>
          </a:bodyPr>
          <a:lstStyle/>
          <a:p>
            <a:r>
              <a:rPr sz="835" b="0">
                <a:solidFill>
                  <a:srgbClr val="2E2E2E"/>
                </a:solidFill>
                <a:latin typeface="Calibri"/>
              </a:rPr>
              <a:t>● Netherlands:</a:t>
            </a:r>
          </a:p>
        </p:txBody>
      </p:sp>
      <p:pic>
        <p:nvPicPr>
          <p:cNvPr id="207" name="Picture 206" descr="lock.png"/>
          <p:cNvPicPr>
            <a:picLocks noChangeAspect="1"/>
          </p:cNvPicPr>
          <p:nvPr/>
        </p:nvPicPr>
        <p:blipFill>
          <a:blip r:embed="rId4"/>
          <a:stretch>
            <a:fillRect/>
          </a:stretch>
        </p:blipFill>
        <p:spPr>
          <a:xfrm>
            <a:off x="4504821" y="5215774"/>
            <a:ext cx="97811" cy="142270"/>
          </a:xfrm>
          <a:prstGeom prst="rect">
            <a:avLst/>
          </a:prstGeom>
        </p:spPr>
      </p:pic>
      <p:sp>
        <p:nvSpPr>
          <p:cNvPr id="208" name="TextBox 207"/>
          <p:cNvSpPr txBox="1"/>
          <p:nvPr/>
        </p:nvSpPr>
        <p:spPr>
          <a:xfrm>
            <a:off x="4632118" y="5223206"/>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9" name="Picture 208" descr="lock.png"/>
          <p:cNvPicPr>
            <a:picLocks noChangeAspect="1"/>
          </p:cNvPicPr>
          <p:nvPr/>
        </p:nvPicPr>
        <p:blipFill>
          <a:blip r:embed="rId4"/>
          <a:stretch>
            <a:fillRect/>
          </a:stretch>
        </p:blipFill>
        <p:spPr>
          <a:xfrm>
            <a:off x="5285300" y="5215774"/>
            <a:ext cx="97811" cy="142270"/>
          </a:xfrm>
          <a:prstGeom prst="rect">
            <a:avLst/>
          </a:prstGeom>
        </p:spPr>
      </p:pic>
      <p:sp>
        <p:nvSpPr>
          <p:cNvPr id="210" name="TextBox 209"/>
          <p:cNvSpPr txBox="1"/>
          <p:nvPr/>
        </p:nvSpPr>
        <p:spPr>
          <a:xfrm>
            <a:off x="5412597" y="5223206"/>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11" name="TextBox 210"/>
          <p:cNvSpPr txBox="1"/>
          <p:nvPr/>
        </p:nvSpPr>
        <p:spPr>
          <a:xfrm>
            <a:off x="3838575" y="5388835"/>
            <a:ext cx="479736" cy="146456"/>
          </a:xfrm>
          <a:prstGeom prst="rect">
            <a:avLst/>
          </a:prstGeom>
          <a:noFill/>
        </p:spPr>
        <p:txBody>
          <a:bodyPr wrap="none" lIns="0" rIns="0" tIns="0" bIns="0">
            <a:spAutoFit/>
          </a:bodyPr>
          <a:lstStyle/>
          <a:p>
            <a:r>
              <a:rPr sz="835" b="0">
                <a:solidFill>
                  <a:srgbClr val="2E2E2E"/>
                </a:solidFill>
                <a:latin typeface="Calibri"/>
              </a:rPr>
              <a:t>● Nordic:</a:t>
            </a:r>
          </a:p>
        </p:txBody>
      </p:sp>
      <p:pic>
        <p:nvPicPr>
          <p:cNvPr id="212" name="Picture 211" descr="lock.png"/>
          <p:cNvPicPr>
            <a:picLocks noChangeAspect="1"/>
          </p:cNvPicPr>
          <p:nvPr/>
        </p:nvPicPr>
        <p:blipFill>
          <a:blip r:embed="rId4"/>
          <a:stretch>
            <a:fillRect/>
          </a:stretch>
        </p:blipFill>
        <p:spPr>
          <a:xfrm>
            <a:off x="4260542" y="5381403"/>
            <a:ext cx="97811" cy="142270"/>
          </a:xfrm>
          <a:prstGeom prst="rect">
            <a:avLst/>
          </a:prstGeom>
        </p:spPr>
      </p:pic>
      <p:sp>
        <p:nvSpPr>
          <p:cNvPr id="213" name="TextBox 212"/>
          <p:cNvSpPr txBox="1"/>
          <p:nvPr/>
        </p:nvSpPr>
        <p:spPr>
          <a:xfrm>
            <a:off x="4387839" y="538883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4" name="Picture 213" descr="lock.png"/>
          <p:cNvPicPr>
            <a:picLocks noChangeAspect="1"/>
          </p:cNvPicPr>
          <p:nvPr/>
        </p:nvPicPr>
        <p:blipFill>
          <a:blip r:embed="rId4"/>
          <a:stretch>
            <a:fillRect/>
          </a:stretch>
        </p:blipFill>
        <p:spPr>
          <a:xfrm>
            <a:off x="5041021" y="5381403"/>
            <a:ext cx="97811" cy="142270"/>
          </a:xfrm>
          <a:prstGeom prst="rect">
            <a:avLst/>
          </a:prstGeom>
        </p:spPr>
      </p:pic>
      <p:sp>
        <p:nvSpPr>
          <p:cNvPr id="215" name="TextBox 214"/>
          <p:cNvSpPr txBox="1"/>
          <p:nvPr/>
        </p:nvSpPr>
        <p:spPr>
          <a:xfrm>
            <a:off x="5168318" y="5388835"/>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16" name="TextBox 215"/>
          <p:cNvSpPr txBox="1"/>
          <p:nvPr/>
        </p:nvSpPr>
        <p:spPr>
          <a:xfrm>
            <a:off x="3838575" y="5554463"/>
            <a:ext cx="464391" cy="146456"/>
          </a:xfrm>
          <a:prstGeom prst="rect">
            <a:avLst/>
          </a:prstGeom>
          <a:noFill/>
        </p:spPr>
        <p:txBody>
          <a:bodyPr wrap="none" lIns="0" rIns="0" tIns="0" bIns="0">
            <a:spAutoFit/>
          </a:bodyPr>
          <a:lstStyle/>
          <a:p>
            <a:r>
              <a:rPr sz="835" b="0">
                <a:solidFill>
                  <a:srgbClr val="2E2E2E"/>
                </a:solidFill>
                <a:latin typeface="Calibri"/>
              </a:rPr>
              <a:t>● Russia:</a:t>
            </a:r>
          </a:p>
        </p:txBody>
      </p:sp>
      <p:pic>
        <p:nvPicPr>
          <p:cNvPr id="217" name="Picture 216" descr="lock.png"/>
          <p:cNvPicPr>
            <a:picLocks noChangeAspect="1"/>
          </p:cNvPicPr>
          <p:nvPr/>
        </p:nvPicPr>
        <p:blipFill>
          <a:blip r:embed="rId4"/>
          <a:stretch>
            <a:fillRect/>
          </a:stretch>
        </p:blipFill>
        <p:spPr>
          <a:xfrm>
            <a:off x="4245197" y="5547031"/>
            <a:ext cx="97811" cy="142270"/>
          </a:xfrm>
          <a:prstGeom prst="rect">
            <a:avLst/>
          </a:prstGeom>
        </p:spPr>
      </p:pic>
      <p:sp>
        <p:nvSpPr>
          <p:cNvPr id="218" name="TextBox 217"/>
          <p:cNvSpPr txBox="1"/>
          <p:nvPr/>
        </p:nvSpPr>
        <p:spPr>
          <a:xfrm>
            <a:off x="4372494" y="555446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9" name="Picture 218" descr="lock.png"/>
          <p:cNvPicPr>
            <a:picLocks noChangeAspect="1"/>
          </p:cNvPicPr>
          <p:nvPr/>
        </p:nvPicPr>
        <p:blipFill>
          <a:blip r:embed="rId4"/>
          <a:stretch>
            <a:fillRect/>
          </a:stretch>
        </p:blipFill>
        <p:spPr>
          <a:xfrm>
            <a:off x="5025676" y="5547031"/>
            <a:ext cx="97811" cy="142270"/>
          </a:xfrm>
          <a:prstGeom prst="rect">
            <a:avLst/>
          </a:prstGeom>
        </p:spPr>
      </p:pic>
      <p:sp>
        <p:nvSpPr>
          <p:cNvPr id="220" name="TextBox 219"/>
          <p:cNvSpPr txBox="1"/>
          <p:nvPr/>
        </p:nvSpPr>
        <p:spPr>
          <a:xfrm>
            <a:off x="5152973" y="5554463"/>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21" name="TextBox 220"/>
          <p:cNvSpPr txBox="1"/>
          <p:nvPr/>
        </p:nvSpPr>
        <p:spPr>
          <a:xfrm>
            <a:off x="3838575" y="5720091"/>
            <a:ext cx="490519" cy="146456"/>
          </a:xfrm>
          <a:prstGeom prst="rect">
            <a:avLst/>
          </a:prstGeom>
          <a:noFill/>
        </p:spPr>
        <p:txBody>
          <a:bodyPr wrap="none" lIns="0" rIns="0" tIns="0" bIns="0">
            <a:spAutoFit/>
          </a:bodyPr>
          <a:lstStyle/>
          <a:p>
            <a:r>
              <a:rPr sz="835" b="0">
                <a:solidFill>
                  <a:srgbClr val="2E2E2E"/>
                </a:solidFill>
                <a:latin typeface="Calibri"/>
              </a:rPr>
              <a:t>● Poland:</a:t>
            </a:r>
          </a:p>
        </p:txBody>
      </p:sp>
      <p:pic>
        <p:nvPicPr>
          <p:cNvPr id="222" name="Picture 221" descr="lock.png"/>
          <p:cNvPicPr>
            <a:picLocks noChangeAspect="1"/>
          </p:cNvPicPr>
          <p:nvPr/>
        </p:nvPicPr>
        <p:blipFill>
          <a:blip r:embed="rId4"/>
          <a:stretch>
            <a:fillRect/>
          </a:stretch>
        </p:blipFill>
        <p:spPr>
          <a:xfrm>
            <a:off x="4271325" y="5712659"/>
            <a:ext cx="97811" cy="142270"/>
          </a:xfrm>
          <a:prstGeom prst="rect">
            <a:avLst/>
          </a:prstGeom>
        </p:spPr>
      </p:pic>
      <p:sp>
        <p:nvSpPr>
          <p:cNvPr id="223" name="TextBox 222"/>
          <p:cNvSpPr txBox="1"/>
          <p:nvPr/>
        </p:nvSpPr>
        <p:spPr>
          <a:xfrm>
            <a:off x="4398622" y="572009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4" name="Picture 223" descr="lock.png"/>
          <p:cNvPicPr>
            <a:picLocks noChangeAspect="1"/>
          </p:cNvPicPr>
          <p:nvPr/>
        </p:nvPicPr>
        <p:blipFill>
          <a:blip r:embed="rId4"/>
          <a:stretch>
            <a:fillRect/>
          </a:stretch>
        </p:blipFill>
        <p:spPr>
          <a:xfrm>
            <a:off x="5051804" y="5712659"/>
            <a:ext cx="97811" cy="142270"/>
          </a:xfrm>
          <a:prstGeom prst="rect">
            <a:avLst/>
          </a:prstGeom>
        </p:spPr>
      </p:pic>
      <p:sp>
        <p:nvSpPr>
          <p:cNvPr id="225" name="TextBox 224"/>
          <p:cNvSpPr txBox="1"/>
          <p:nvPr/>
        </p:nvSpPr>
        <p:spPr>
          <a:xfrm>
            <a:off x="5179101" y="5720091"/>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26" name="TextBox 225"/>
          <p:cNvSpPr txBox="1"/>
          <p:nvPr/>
        </p:nvSpPr>
        <p:spPr>
          <a:xfrm>
            <a:off x="3838575" y="5885720"/>
            <a:ext cx="696227" cy="146456"/>
          </a:xfrm>
          <a:prstGeom prst="rect">
            <a:avLst/>
          </a:prstGeom>
          <a:noFill/>
        </p:spPr>
        <p:txBody>
          <a:bodyPr wrap="none" lIns="0" rIns="0" tIns="0" bIns="0">
            <a:spAutoFit/>
          </a:bodyPr>
          <a:lstStyle/>
          <a:p>
            <a:r>
              <a:rPr sz="835" b="0">
                <a:solidFill>
                  <a:srgbClr val="2E2E2E"/>
                </a:solidFill>
                <a:latin typeface="Calibri"/>
              </a:rPr>
              <a:t>● Switzerland:</a:t>
            </a:r>
          </a:p>
        </p:txBody>
      </p:sp>
      <p:pic>
        <p:nvPicPr>
          <p:cNvPr id="227" name="Picture 226" descr="lock.png"/>
          <p:cNvPicPr>
            <a:picLocks noChangeAspect="1"/>
          </p:cNvPicPr>
          <p:nvPr/>
        </p:nvPicPr>
        <p:blipFill>
          <a:blip r:embed="rId4"/>
          <a:stretch>
            <a:fillRect/>
          </a:stretch>
        </p:blipFill>
        <p:spPr>
          <a:xfrm>
            <a:off x="4477034" y="5878288"/>
            <a:ext cx="97811" cy="142270"/>
          </a:xfrm>
          <a:prstGeom prst="rect">
            <a:avLst/>
          </a:prstGeom>
        </p:spPr>
      </p:pic>
      <p:sp>
        <p:nvSpPr>
          <p:cNvPr id="228" name="TextBox 227"/>
          <p:cNvSpPr txBox="1"/>
          <p:nvPr/>
        </p:nvSpPr>
        <p:spPr>
          <a:xfrm>
            <a:off x="4604330" y="588572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9" name="Picture 228" descr="lock.png"/>
          <p:cNvPicPr>
            <a:picLocks noChangeAspect="1"/>
          </p:cNvPicPr>
          <p:nvPr/>
        </p:nvPicPr>
        <p:blipFill>
          <a:blip r:embed="rId4"/>
          <a:stretch>
            <a:fillRect/>
          </a:stretch>
        </p:blipFill>
        <p:spPr>
          <a:xfrm>
            <a:off x="5257513" y="5878288"/>
            <a:ext cx="97811" cy="142270"/>
          </a:xfrm>
          <a:prstGeom prst="rect">
            <a:avLst/>
          </a:prstGeom>
        </p:spPr>
      </p:pic>
      <p:sp>
        <p:nvSpPr>
          <p:cNvPr id="230" name="TextBox 229"/>
          <p:cNvSpPr txBox="1"/>
          <p:nvPr/>
        </p:nvSpPr>
        <p:spPr>
          <a:xfrm>
            <a:off x="5384809" y="5885720"/>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31" name="TextBox 230"/>
          <p:cNvSpPr txBox="1"/>
          <p:nvPr/>
        </p:nvSpPr>
        <p:spPr>
          <a:xfrm>
            <a:off x="3838575" y="6051348"/>
            <a:ext cx="826247" cy="146456"/>
          </a:xfrm>
          <a:prstGeom prst="rect">
            <a:avLst/>
          </a:prstGeom>
          <a:noFill/>
        </p:spPr>
        <p:txBody>
          <a:bodyPr wrap="none" lIns="0" rIns="0" tIns="0" bIns="0">
            <a:spAutoFit/>
          </a:bodyPr>
          <a:lstStyle/>
          <a:p>
            <a:r>
              <a:rPr sz="835" b="0">
                <a:solidFill>
                  <a:srgbClr val="2E2E2E"/>
                </a:solidFill>
                <a:latin typeface="Calibri"/>
              </a:rPr>
              <a:t>● Rest of Europe:</a:t>
            </a:r>
          </a:p>
        </p:txBody>
      </p:sp>
      <p:pic>
        <p:nvPicPr>
          <p:cNvPr id="232" name="Picture 231" descr="lock.png"/>
          <p:cNvPicPr>
            <a:picLocks noChangeAspect="1"/>
          </p:cNvPicPr>
          <p:nvPr/>
        </p:nvPicPr>
        <p:blipFill>
          <a:blip r:embed="rId4"/>
          <a:stretch>
            <a:fillRect/>
          </a:stretch>
        </p:blipFill>
        <p:spPr>
          <a:xfrm>
            <a:off x="4607053" y="6043916"/>
            <a:ext cx="97811" cy="142270"/>
          </a:xfrm>
          <a:prstGeom prst="rect">
            <a:avLst/>
          </a:prstGeom>
        </p:spPr>
      </p:pic>
      <p:sp>
        <p:nvSpPr>
          <p:cNvPr id="233" name="TextBox 232"/>
          <p:cNvSpPr txBox="1"/>
          <p:nvPr/>
        </p:nvSpPr>
        <p:spPr>
          <a:xfrm>
            <a:off x="4734350" y="605134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34" name="Picture 233" descr="lock.png"/>
          <p:cNvPicPr>
            <a:picLocks noChangeAspect="1"/>
          </p:cNvPicPr>
          <p:nvPr/>
        </p:nvPicPr>
        <p:blipFill>
          <a:blip r:embed="rId4"/>
          <a:stretch>
            <a:fillRect/>
          </a:stretch>
        </p:blipFill>
        <p:spPr>
          <a:xfrm>
            <a:off x="5387532" y="6043916"/>
            <a:ext cx="97811" cy="142270"/>
          </a:xfrm>
          <a:prstGeom prst="rect">
            <a:avLst/>
          </a:prstGeom>
        </p:spPr>
      </p:pic>
      <p:sp>
        <p:nvSpPr>
          <p:cNvPr id="235" name="TextBox 234"/>
          <p:cNvSpPr txBox="1"/>
          <p:nvPr/>
        </p:nvSpPr>
        <p:spPr>
          <a:xfrm>
            <a:off x="5514829" y="6051348"/>
            <a:ext cx="1094152" cy="146456"/>
          </a:xfrm>
          <a:prstGeom prst="rect">
            <a:avLst/>
          </a:prstGeom>
          <a:noFill/>
        </p:spPr>
        <p:txBody>
          <a:bodyPr wrap="none" lIns="0" rIns="0" tIns="0" bIns="0">
            <a:spAutoFit/>
          </a:bodyPr>
          <a:lstStyle/>
          <a:p>
            <a:r>
              <a:rPr sz="835" b="0">
                <a:solidFill>
                  <a:srgbClr val="2E2E2E"/>
                </a:solidFill>
                <a:latin typeface="Calibri"/>
              </a:rPr>
              <a:t>CAGR a smaller market.</a:t>
            </a:r>
          </a:p>
        </p:txBody>
      </p:sp>
      <p:sp>
        <p:nvSpPr>
          <p:cNvPr id="236" name="TextBox 235"/>
          <p:cNvSpPr txBox="1"/>
          <p:nvPr/>
        </p:nvSpPr>
        <p:spPr>
          <a:xfrm>
            <a:off x="8524875" y="5842641"/>
            <a:ext cx="3119832" cy="194310"/>
          </a:xfrm>
          <a:prstGeom prst="rect">
            <a:avLst/>
          </a:prstGeom>
          <a:noFill/>
        </p:spPr>
        <p:txBody>
          <a:bodyPr wrap="none" lIns="0" rIns="0" tIns="0" bIns="0">
            <a:spAutoFit/>
          </a:bodyPr>
          <a:lstStyle/>
          <a:p>
            <a:r>
              <a:rPr sz="1150" b="1">
                <a:solidFill>
                  <a:srgbClr val="0B2E4A"/>
                </a:solidFill>
                <a:latin typeface="Calibri"/>
              </a:rPr>
              <a:t>The Europe market is projected to grow at a CAGR</a:t>
            </a:r>
          </a:p>
        </p:txBody>
      </p:sp>
      <p:sp>
        <p:nvSpPr>
          <p:cNvPr id="237" name="TextBox 236"/>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238" name="Picture 237" descr="lock.png"/>
          <p:cNvPicPr>
            <a:picLocks noChangeAspect="1"/>
          </p:cNvPicPr>
          <p:nvPr/>
        </p:nvPicPr>
        <p:blipFill>
          <a:blip r:embed="rId4"/>
          <a:stretch>
            <a:fillRect/>
          </a:stretch>
        </p:blipFill>
        <p:spPr>
          <a:xfrm>
            <a:off x="8674884" y="6007677"/>
            <a:ext cx="134549" cy="195707"/>
          </a:xfrm>
          <a:prstGeom prst="rect">
            <a:avLst/>
          </a:prstGeom>
        </p:spPr>
      </p:pic>
      <p:sp>
        <p:nvSpPr>
          <p:cNvPr id="239" name="TextBox 238"/>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Analysis, By Country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2401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7732" y="16240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811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Germany</a:t>
            </a:r>
          </a:p>
        </p:txBody>
      </p:sp>
      <p:sp>
        <p:nvSpPr>
          <p:cNvPr id="18" name="BPS Value 1"/>
          <p:cNvSpPr txBox="1"/>
          <p:nvPr/>
        </p:nvSpPr>
        <p:spPr>
          <a:xfrm>
            <a:off x="6305550" y="15811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79546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7732" y="17954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526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France</a:t>
            </a:r>
          </a:p>
        </p:txBody>
      </p:sp>
      <p:sp>
        <p:nvSpPr>
          <p:cNvPr id="22" name="BPS Value 2"/>
          <p:cNvSpPr txBox="1"/>
          <p:nvPr/>
        </p:nvSpPr>
        <p:spPr>
          <a:xfrm>
            <a:off x="6305550" y="17526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19669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7732" y="19669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9240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Netherlands</a:t>
            </a:r>
          </a:p>
        </p:txBody>
      </p:sp>
      <p:sp>
        <p:nvSpPr>
          <p:cNvPr id="26" name="BPS Value 3"/>
          <p:cNvSpPr txBox="1"/>
          <p:nvPr/>
        </p:nvSpPr>
        <p:spPr>
          <a:xfrm>
            <a:off x="6305550" y="19240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213836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7732" y="21383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0955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Spain</a:t>
            </a:r>
          </a:p>
        </p:txBody>
      </p:sp>
      <p:sp>
        <p:nvSpPr>
          <p:cNvPr id="30" name="BPS Value 4"/>
          <p:cNvSpPr txBox="1"/>
          <p:nvPr/>
        </p:nvSpPr>
        <p:spPr>
          <a:xfrm>
            <a:off x="6305550" y="20955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30981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7732" y="23098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2669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Russia</a:t>
            </a:r>
          </a:p>
        </p:txBody>
      </p:sp>
      <p:sp>
        <p:nvSpPr>
          <p:cNvPr id="34" name="BPS Value 5"/>
          <p:cNvSpPr txBox="1"/>
          <p:nvPr/>
        </p:nvSpPr>
        <p:spPr>
          <a:xfrm>
            <a:off x="6305550" y="22669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248126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7732" y="24812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24384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Poland</a:t>
            </a:r>
          </a:p>
        </p:txBody>
      </p:sp>
      <p:sp>
        <p:nvSpPr>
          <p:cNvPr id="38" name="BPS Value 6"/>
          <p:cNvSpPr txBox="1"/>
          <p:nvPr/>
        </p:nvSpPr>
        <p:spPr>
          <a:xfrm>
            <a:off x="6305550" y="24384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265271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7732" y="26527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26098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Switzerland</a:t>
            </a:r>
          </a:p>
        </p:txBody>
      </p:sp>
      <p:sp>
        <p:nvSpPr>
          <p:cNvPr id="42" name="BPS Value 7"/>
          <p:cNvSpPr txBox="1"/>
          <p:nvPr/>
        </p:nvSpPr>
        <p:spPr>
          <a:xfrm>
            <a:off x="6305550" y="26098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551045" y="282416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4717732" y="28241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4855845" y="27813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Nordic</a:t>
            </a:r>
          </a:p>
        </p:txBody>
      </p:sp>
      <p:sp>
        <p:nvSpPr>
          <p:cNvPr id="46" name="BPS Value 8"/>
          <p:cNvSpPr txBox="1"/>
          <p:nvPr/>
        </p:nvSpPr>
        <p:spPr>
          <a:xfrm>
            <a:off x="6305550" y="27813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FMI Legend Chip"/>
          <p:cNvSpPr/>
          <p:nvPr/>
        </p:nvSpPr>
        <p:spPr>
          <a:xfrm>
            <a:off x="4551045" y="299561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4717732" y="29956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4855845" y="29527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Rest of Europe</a:t>
            </a:r>
          </a:p>
        </p:txBody>
      </p:sp>
      <p:sp>
        <p:nvSpPr>
          <p:cNvPr id="50" name="BPS Value 9"/>
          <p:cNvSpPr txBox="1"/>
          <p:nvPr/>
        </p:nvSpPr>
        <p:spPr>
          <a:xfrm>
            <a:off x="6305550" y="29527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FMI Legend Chip"/>
          <p:cNvSpPr/>
          <p:nvPr/>
        </p:nvSpPr>
        <p:spPr>
          <a:xfrm>
            <a:off x="4551045" y="316706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Isosceles Triangle 51"/>
          <p:cNvSpPr/>
          <p:nvPr/>
        </p:nvSpPr>
        <p:spPr>
          <a:xfrm rot="10800000">
            <a:off x="4717732" y="31670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PS Name 10"/>
          <p:cNvSpPr txBox="1"/>
          <p:nvPr/>
        </p:nvSpPr>
        <p:spPr>
          <a:xfrm>
            <a:off x="4855845" y="31242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Belgium</a:t>
            </a:r>
          </a:p>
        </p:txBody>
      </p:sp>
      <p:sp>
        <p:nvSpPr>
          <p:cNvPr id="54" name="BPS Value 10"/>
          <p:cNvSpPr txBox="1"/>
          <p:nvPr/>
        </p:nvSpPr>
        <p:spPr>
          <a:xfrm>
            <a:off x="6305550" y="31242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5" name="FMI Legend Chip"/>
          <p:cNvSpPr/>
          <p:nvPr/>
        </p:nvSpPr>
        <p:spPr>
          <a:xfrm>
            <a:off x="4551045" y="333851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rot="10800000">
            <a:off x="4717732" y="33385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PS Name 11"/>
          <p:cNvSpPr txBox="1"/>
          <p:nvPr/>
        </p:nvSpPr>
        <p:spPr>
          <a:xfrm>
            <a:off x="4855845" y="32956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Italy</a:t>
            </a:r>
          </a:p>
        </p:txBody>
      </p:sp>
      <p:sp>
        <p:nvSpPr>
          <p:cNvPr id="58" name="BPS Value 11"/>
          <p:cNvSpPr txBox="1"/>
          <p:nvPr/>
        </p:nvSpPr>
        <p:spPr>
          <a:xfrm>
            <a:off x="6305550" y="32956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9" name="FMI Legend Chip"/>
          <p:cNvSpPr/>
          <p:nvPr/>
        </p:nvSpPr>
        <p:spPr>
          <a:xfrm>
            <a:off x="4551045" y="35099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sosceles Triangle 59"/>
          <p:cNvSpPr/>
          <p:nvPr/>
        </p:nvSpPr>
        <p:spPr>
          <a:xfrm rot="10800000">
            <a:off x="4717732" y="35099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PS Name 12"/>
          <p:cNvSpPr txBox="1"/>
          <p:nvPr/>
        </p:nvSpPr>
        <p:spPr>
          <a:xfrm>
            <a:off x="4855845" y="34671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U.K.</a:t>
            </a:r>
          </a:p>
        </p:txBody>
      </p:sp>
      <p:sp>
        <p:nvSpPr>
          <p:cNvPr id="62" name="BPS Value 12"/>
          <p:cNvSpPr txBox="1"/>
          <p:nvPr/>
        </p:nvSpPr>
        <p:spPr>
          <a:xfrm>
            <a:off x="6305550" y="34671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63" name="Rounded Rectangle 6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65" name="Rectangle 6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7" name="Rounded Rectangle 6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68" name="Rounded Rectangle 6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69" name="Rounded Rectangle 6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lock.png"/>
          <p:cNvPicPr>
            <a:picLocks noChangeAspect="1"/>
          </p:cNvPicPr>
          <p:nvPr/>
        </p:nvPicPr>
        <p:blipFill>
          <a:blip r:embed="rId5"/>
          <a:stretch>
            <a:fillRect/>
          </a:stretch>
        </p:blipFill>
        <p:spPr>
          <a:xfrm>
            <a:off x="2368867" y="3171825"/>
            <a:ext cx="275034" cy="400050"/>
          </a:xfrm>
          <a:prstGeom prst="rect">
            <a:avLst/>
          </a:prstGeom>
        </p:spPr>
      </p:pic>
      <p:pic>
        <p:nvPicPr>
          <p:cNvPr id="72" name="Picture 71" descr="lock.png"/>
          <p:cNvPicPr>
            <a:picLocks noChangeAspect="1"/>
          </p:cNvPicPr>
          <p:nvPr/>
        </p:nvPicPr>
        <p:blipFill>
          <a:blip r:embed="rId5"/>
          <a:stretch>
            <a:fillRect/>
          </a:stretch>
        </p:blipFill>
        <p:spPr>
          <a:xfrm>
            <a:off x="10015537" y="6070282"/>
            <a:ext cx="209550" cy="304800"/>
          </a:xfrm>
          <a:prstGeom prst="rect">
            <a:avLst/>
          </a:prstGeom>
        </p:spPr>
      </p:pic>
      <p:sp>
        <p:nvSpPr>
          <p:cNvPr id="73" name="TextBox 72"/>
          <p:cNvSpPr txBox="1"/>
          <p:nvPr/>
        </p:nvSpPr>
        <p:spPr>
          <a:xfrm>
            <a:off x="7239000" y="1400175"/>
            <a:ext cx="3093045" cy="194310"/>
          </a:xfrm>
          <a:prstGeom prst="rect">
            <a:avLst/>
          </a:prstGeom>
          <a:noFill/>
        </p:spPr>
        <p:txBody>
          <a:bodyPr wrap="none" lIns="0" rIns="0" tIns="0" bIns="0">
            <a:spAutoFit/>
          </a:bodyPr>
          <a:lstStyle/>
          <a:p>
            <a:r>
              <a:rPr sz="1150" b="0">
                <a:solidFill>
                  <a:srgbClr val="2E2E2E"/>
                </a:solidFill>
                <a:latin typeface="Calibri"/>
              </a:rPr>
              <a:t>Germany crab meat market is projected to register</a:t>
            </a:r>
          </a:p>
        </p:txBody>
      </p:sp>
      <p:pic>
        <p:nvPicPr>
          <p:cNvPr id="74" name="Picture 73" descr="lock.png"/>
          <p:cNvPicPr>
            <a:picLocks noChangeAspect="1"/>
          </p:cNvPicPr>
          <p:nvPr/>
        </p:nvPicPr>
        <p:blipFill>
          <a:blip r:embed="rId5"/>
          <a:stretch>
            <a:fillRect/>
          </a:stretch>
        </p:blipFill>
        <p:spPr>
          <a:xfrm>
            <a:off x="10281199" y="1389951"/>
            <a:ext cx="134549" cy="195707"/>
          </a:xfrm>
          <a:prstGeom prst="rect">
            <a:avLst/>
          </a:prstGeom>
        </p:spPr>
      </p:pic>
      <p:sp>
        <p:nvSpPr>
          <p:cNvPr id="75" name="TextBox 74"/>
          <p:cNvSpPr txBox="1"/>
          <p:nvPr/>
        </p:nvSpPr>
        <p:spPr>
          <a:xfrm>
            <a:off x="10456308" y="1400175"/>
            <a:ext cx="1346150" cy="194310"/>
          </a:xfrm>
          <a:prstGeom prst="rect">
            <a:avLst/>
          </a:prstGeom>
          <a:noFill/>
        </p:spPr>
        <p:txBody>
          <a:bodyPr wrap="none" lIns="0" rIns="0" tIns="0" bIns="0">
            <a:spAutoFit/>
          </a:bodyPr>
          <a:lstStyle/>
          <a:p>
            <a:r>
              <a:rPr sz="1150" b="0">
                <a:solidFill>
                  <a:srgbClr val="2E2E2E"/>
                </a:solidFill>
                <a:latin typeface="Calibri"/>
              </a:rPr>
              <a:t>X higher volume than</a:t>
            </a:r>
          </a:p>
        </p:txBody>
      </p:sp>
      <p:sp>
        <p:nvSpPr>
          <p:cNvPr id="76" name="TextBox 75"/>
          <p:cNvSpPr txBox="1"/>
          <p:nvPr/>
        </p:nvSpPr>
        <p:spPr>
          <a:xfrm>
            <a:off x="7239000" y="1575435"/>
            <a:ext cx="4296816" cy="194310"/>
          </a:xfrm>
          <a:prstGeom prst="rect">
            <a:avLst/>
          </a:prstGeom>
          <a:noFill/>
        </p:spPr>
        <p:txBody>
          <a:bodyPr wrap="none" lIns="0" rIns="0" tIns="0" bIns="0">
            <a:spAutoFit/>
          </a:bodyPr>
          <a:lstStyle/>
          <a:p>
            <a:r>
              <a:rPr sz="1150" b="0">
                <a:solidFill>
                  <a:srgbClr val="2E2E2E"/>
                </a:solidFill>
                <a:latin typeface="Calibri"/>
              </a:rPr>
              <a:t>the U.K. in 2036. Among crab meat by country, Germany is expected to</a:t>
            </a:r>
          </a:p>
        </p:txBody>
      </p:sp>
      <p:sp>
        <p:nvSpPr>
          <p:cNvPr id="77" name="TextBox 76"/>
          <p:cNvSpPr txBox="1"/>
          <p:nvPr/>
        </p:nvSpPr>
        <p:spPr>
          <a:xfrm>
            <a:off x="7239000" y="175069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78" name="Picture 77" descr="lock.png"/>
          <p:cNvPicPr>
            <a:picLocks noChangeAspect="1"/>
          </p:cNvPicPr>
          <p:nvPr/>
        </p:nvPicPr>
        <p:blipFill>
          <a:blip r:embed="rId5"/>
          <a:stretch>
            <a:fillRect/>
          </a:stretch>
        </p:blipFill>
        <p:spPr>
          <a:xfrm>
            <a:off x="8935924" y="1740471"/>
            <a:ext cx="134549" cy="195707"/>
          </a:xfrm>
          <a:prstGeom prst="rect">
            <a:avLst/>
          </a:prstGeom>
        </p:spPr>
      </p:pic>
      <p:sp>
        <p:nvSpPr>
          <p:cNvPr id="79" name="TextBox 78"/>
          <p:cNvSpPr txBox="1"/>
          <p:nvPr/>
        </p:nvSpPr>
        <p:spPr>
          <a:xfrm>
            <a:off x="9111033"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80" name="TextBox 79"/>
          <p:cNvSpPr txBox="1"/>
          <p:nvPr/>
        </p:nvSpPr>
        <p:spPr>
          <a:xfrm>
            <a:off x="7239000" y="1978533"/>
            <a:ext cx="4542420" cy="194310"/>
          </a:xfrm>
          <a:prstGeom prst="rect">
            <a:avLst/>
          </a:prstGeom>
          <a:noFill/>
        </p:spPr>
        <p:txBody>
          <a:bodyPr wrap="none" lIns="0" rIns="0" tIns="0" bIns="0">
            <a:spAutoFit/>
          </a:bodyPr>
          <a:lstStyle/>
          <a:p>
            <a:r>
              <a:rPr sz="1150" b="0">
                <a:solidFill>
                  <a:srgbClr val="2E2E2E"/>
                </a:solidFill>
                <a:latin typeface="Calibri"/>
              </a:rPr>
              <a:t>In terms of volume share by country, Germany is expected to dominate the</a:t>
            </a:r>
          </a:p>
        </p:txBody>
      </p:sp>
      <p:sp>
        <p:nvSpPr>
          <p:cNvPr id="81" name="TextBox 80"/>
          <p:cNvSpPr txBox="1"/>
          <p:nvPr/>
        </p:nvSpPr>
        <p:spPr>
          <a:xfrm>
            <a:off x="7239000" y="2153793"/>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82" name="Picture 81" descr="lock.png"/>
          <p:cNvPicPr>
            <a:picLocks noChangeAspect="1"/>
          </p:cNvPicPr>
          <p:nvPr/>
        </p:nvPicPr>
        <p:blipFill>
          <a:blip r:embed="rId5"/>
          <a:stretch>
            <a:fillRect/>
          </a:stretch>
        </p:blipFill>
        <p:spPr>
          <a:xfrm>
            <a:off x="8188006" y="2143569"/>
            <a:ext cx="134549" cy="195707"/>
          </a:xfrm>
          <a:prstGeom prst="rect">
            <a:avLst/>
          </a:prstGeom>
        </p:spPr>
      </p:pic>
      <p:sp>
        <p:nvSpPr>
          <p:cNvPr id="83" name="TextBox 82"/>
          <p:cNvSpPr txBox="1"/>
          <p:nvPr/>
        </p:nvSpPr>
        <p:spPr>
          <a:xfrm>
            <a:off x="8363115"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84" name="Picture 83" descr="lock.png"/>
          <p:cNvPicPr>
            <a:picLocks noChangeAspect="1"/>
          </p:cNvPicPr>
          <p:nvPr/>
        </p:nvPicPr>
        <p:blipFill>
          <a:blip r:embed="rId5"/>
          <a:stretch>
            <a:fillRect/>
          </a:stretch>
        </p:blipFill>
        <p:spPr>
          <a:xfrm>
            <a:off x="9758258" y="2143569"/>
            <a:ext cx="134549" cy="195707"/>
          </a:xfrm>
          <a:prstGeom prst="rect">
            <a:avLst/>
          </a:prstGeom>
        </p:spPr>
      </p:pic>
      <p:sp>
        <p:nvSpPr>
          <p:cNvPr id="85" name="TextBox 84"/>
          <p:cNvSpPr txBox="1"/>
          <p:nvPr/>
        </p:nvSpPr>
        <p:spPr>
          <a:xfrm>
            <a:off x="9933367" y="2153793"/>
            <a:ext cx="1346435" cy="194310"/>
          </a:xfrm>
          <a:prstGeom prst="rect">
            <a:avLst/>
          </a:prstGeom>
          <a:noFill/>
        </p:spPr>
        <p:txBody>
          <a:bodyPr wrap="none" lIns="0" rIns="0" tIns="0" bIns="0">
            <a:spAutoFit/>
          </a:bodyPr>
          <a:lstStyle/>
          <a:p>
            <a:r>
              <a:rPr sz="1150" b="0">
                <a:solidFill>
                  <a:srgbClr val="2E2E2E"/>
                </a:solidFill>
                <a:latin typeface="Calibri"/>
              </a:rPr>
              <a:t>share by 2036. U.K. is</a:t>
            </a:r>
          </a:p>
        </p:txBody>
      </p:sp>
      <p:sp>
        <p:nvSpPr>
          <p:cNvPr id="86" name="TextBox 85"/>
          <p:cNvSpPr txBox="1"/>
          <p:nvPr/>
        </p:nvSpPr>
        <p:spPr>
          <a:xfrm>
            <a:off x="7239000" y="232905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87" name="Picture 86" descr="lock.png"/>
          <p:cNvPicPr>
            <a:picLocks noChangeAspect="1"/>
          </p:cNvPicPr>
          <p:nvPr/>
        </p:nvPicPr>
        <p:blipFill>
          <a:blip r:embed="rId5"/>
          <a:stretch>
            <a:fillRect/>
          </a:stretch>
        </p:blipFill>
        <p:spPr>
          <a:xfrm>
            <a:off x="8243060" y="2318829"/>
            <a:ext cx="134549" cy="195707"/>
          </a:xfrm>
          <a:prstGeom prst="rect">
            <a:avLst/>
          </a:prstGeom>
        </p:spPr>
      </p:pic>
      <p:sp>
        <p:nvSpPr>
          <p:cNvPr id="88" name="TextBox 87"/>
          <p:cNvSpPr txBox="1"/>
          <p:nvPr/>
        </p:nvSpPr>
        <p:spPr>
          <a:xfrm>
            <a:off x="8418169" y="232905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89" name="Picture 88" descr="lock.png"/>
          <p:cNvPicPr>
            <a:picLocks noChangeAspect="1"/>
          </p:cNvPicPr>
          <p:nvPr/>
        </p:nvPicPr>
        <p:blipFill>
          <a:blip r:embed="rId5"/>
          <a:stretch>
            <a:fillRect/>
          </a:stretch>
        </p:blipFill>
        <p:spPr>
          <a:xfrm>
            <a:off x="11005673" y="2318829"/>
            <a:ext cx="134549" cy="195707"/>
          </a:xfrm>
          <a:prstGeom prst="rect">
            <a:avLst/>
          </a:prstGeom>
        </p:spPr>
      </p:pic>
      <p:sp>
        <p:nvSpPr>
          <p:cNvPr id="90" name="TextBox 89"/>
          <p:cNvSpPr txBox="1"/>
          <p:nvPr/>
        </p:nvSpPr>
        <p:spPr>
          <a:xfrm>
            <a:off x="11180783" y="232905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91" name="TextBox 90"/>
          <p:cNvSpPr txBox="1"/>
          <p:nvPr/>
        </p:nvSpPr>
        <p:spPr>
          <a:xfrm>
            <a:off x="7239000" y="250431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92" name="TextBox 91"/>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93" name="Picture 92" descr="lock.png"/>
          <p:cNvPicPr>
            <a:picLocks noChangeAspect="1"/>
          </p:cNvPicPr>
          <p:nvPr/>
        </p:nvPicPr>
        <p:blipFill>
          <a:blip r:embed="rId5"/>
          <a:stretch>
            <a:fillRect/>
          </a:stretch>
        </p:blipFill>
        <p:spPr>
          <a:xfrm>
            <a:off x="1984327" y="6077648"/>
            <a:ext cx="233998" cy="340360"/>
          </a:xfrm>
          <a:prstGeom prst="rect">
            <a:avLst/>
          </a:prstGeom>
        </p:spPr>
      </p:pic>
      <p:sp>
        <p:nvSpPr>
          <p:cNvPr id="94" name="TextBox 93"/>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95" name="Picture 94" descr="lock.png"/>
          <p:cNvPicPr>
            <a:picLocks noChangeAspect="1"/>
          </p:cNvPicPr>
          <p:nvPr/>
        </p:nvPicPr>
        <p:blipFill>
          <a:blip r:embed="rId5"/>
          <a:stretch>
            <a:fillRect/>
          </a:stretch>
        </p:blipFill>
        <p:spPr>
          <a:xfrm>
            <a:off x="6018165" y="6077648"/>
            <a:ext cx="233998" cy="340360"/>
          </a:xfrm>
          <a:prstGeom prst="rect">
            <a:avLst/>
          </a:prstGeom>
        </p:spPr>
      </p:pic>
      <p:sp>
        <p:nvSpPr>
          <p:cNvPr id="96"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2401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7732" y="16240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811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Germany</a:t>
            </a:r>
          </a:p>
        </p:txBody>
      </p:sp>
      <p:sp>
        <p:nvSpPr>
          <p:cNvPr id="18" name="BPS Value 1"/>
          <p:cNvSpPr txBox="1"/>
          <p:nvPr/>
        </p:nvSpPr>
        <p:spPr>
          <a:xfrm>
            <a:off x="6305550" y="15811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79546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7732" y="17954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526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France</a:t>
            </a:r>
          </a:p>
        </p:txBody>
      </p:sp>
      <p:sp>
        <p:nvSpPr>
          <p:cNvPr id="22" name="BPS Value 2"/>
          <p:cNvSpPr txBox="1"/>
          <p:nvPr/>
        </p:nvSpPr>
        <p:spPr>
          <a:xfrm>
            <a:off x="6305550" y="17526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19669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7732" y="19669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9240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Netherlands</a:t>
            </a:r>
          </a:p>
        </p:txBody>
      </p:sp>
      <p:sp>
        <p:nvSpPr>
          <p:cNvPr id="26" name="BPS Value 3"/>
          <p:cNvSpPr txBox="1"/>
          <p:nvPr/>
        </p:nvSpPr>
        <p:spPr>
          <a:xfrm>
            <a:off x="6305550" y="19240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213836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7732" y="21383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0955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Poland</a:t>
            </a:r>
          </a:p>
        </p:txBody>
      </p:sp>
      <p:sp>
        <p:nvSpPr>
          <p:cNvPr id="30" name="BPS Value 4"/>
          <p:cNvSpPr txBox="1"/>
          <p:nvPr/>
        </p:nvSpPr>
        <p:spPr>
          <a:xfrm>
            <a:off x="6305550" y="20955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30981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7732" y="230981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2669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Russia</a:t>
            </a:r>
          </a:p>
        </p:txBody>
      </p:sp>
      <p:sp>
        <p:nvSpPr>
          <p:cNvPr id="34" name="BPS Value 5"/>
          <p:cNvSpPr txBox="1"/>
          <p:nvPr/>
        </p:nvSpPr>
        <p:spPr>
          <a:xfrm>
            <a:off x="6305550" y="226695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248126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7732" y="248126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24384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Spain</a:t>
            </a:r>
          </a:p>
        </p:txBody>
      </p:sp>
      <p:sp>
        <p:nvSpPr>
          <p:cNvPr id="38" name="BPS Value 6"/>
          <p:cNvSpPr txBox="1"/>
          <p:nvPr/>
        </p:nvSpPr>
        <p:spPr>
          <a:xfrm>
            <a:off x="6305550" y="2438400"/>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265271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7732" y="26527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26098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Switzerland</a:t>
            </a:r>
          </a:p>
        </p:txBody>
      </p:sp>
      <p:sp>
        <p:nvSpPr>
          <p:cNvPr id="42" name="BPS Value 7"/>
          <p:cNvSpPr txBox="1"/>
          <p:nvPr/>
        </p:nvSpPr>
        <p:spPr>
          <a:xfrm>
            <a:off x="6305550" y="26098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551045" y="282416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4717732" y="28241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4855845" y="27813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Rest of Europe</a:t>
            </a:r>
          </a:p>
        </p:txBody>
      </p:sp>
      <p:sp>
        <p:nvSpPr>
          <p:cNvPr id="46" name="BPS Value 8"/>
          <p:cNvSpPr txBox="1"/>
          <p:nvPr/>
        </p:nvSpPr>
        <p:spPr>
          <a:xfrm>
            <a:off x="6305550" y="27813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FMI Legend Chip"/>
          <p:cNvSpPr/>
          <p:nvPr/>
        </p:nvSpPr>
        <p:spPr>
          <a:xfrm>
            <a:off x="4551045" y="299561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4717732" y="29956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4855845" y="29527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Nordic</a:t>
            </a:r>
          </a:p>
        </p:txBody>
      </p:sp>
      <p:sp>
        <p:nvSpPr>
          <p:cNvPr id="50" name="BPS Value 9"/>
          <p:cNvSpPr txBox="1"/>
          <p:nvPr/>
        </p:nvSpPr>
        <p:spPr>
          <a:xfrm>
            <a:off x="6305550" y="29527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FMI Legend Chip"/>
          <p:cNvSpPr/>
          <p:nvPr/>
        </p:nvSpPr>
        <p:spPr>
          <a:xfrm>
            <a:off x="4551045" y="316706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Isosceles Triangle 51"/>
          <p:cNvSpPr/>
          <p:nvPr/>
        </p:nvSpPr>
        <p:spPr>
          <a:xfrm rot="10800000">
            <a:off x="4717732" y="31670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PS Name 10"/>
          <p:cNvSpPr txBox="1"/>
          <p:nvPr/>
        </p:nvSpPr>
        <p:spPr>
          <a:xfrm>
            <a:off x="4855845" y="31242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Belgium</a:t>
            </a:r>
          </a:p>
        </p:txBody>
      </p:sp>
      <p:sp>
        <p:nvSpPr>
          <p:cNvPr id="54" name="BPS Value 10"/>
          <p:cNvSpPr txBox="1"/>
          <p:nvPr/>
        </p:nvSpPr>
        <p:spPr>
          <a:xfrm>
            <a:off x="6305550" y="31242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5" name="FMI Legend Chip"/>
          <p:cNvSpPr/>
          <p:nvPr/>
        </p:nvSpPr>
        <p:spPr>
          <a:xfrm>
            <a:off x="4551045" y="333851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rot="10800000">
            <a:off x="4717732" y="333851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PS Name 11"/>
          <p:cNvSpPr txBox="1"/>
          <p:nvPr/>
        </p:nvSpPr>
        <p:spPr>
          <a:xfrm>
            <a:off x="4855845" y="329565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Italy</a:t>
            </a:r>
          </a:p>
        </p:txBody>
      </p:sp>
      <p:sp>
        <p:nvSpPr>
          <p:cNvPr id="58" name="BPS Value 11"/>
          <p:cNvSpPr txBox="1"/>
          <p:nvPr/>
        </p:nvSpPr>
        <p:spPr>
          <a:xfrm>
            <a:off x="6305550" y="329565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9" name="FMI Legend Chip"/>
          <p:cNvSpPr/>
          <p:nvPr/>
        </p:nvSpPr>
        <p:spPr>
          <a:xfrm>
            <a:off x="4551045" y="35099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sosceles Triangle 59"/>
          <p:cNvSpPr/>
          <p:nvPr/>
        </p:nvSpPr>
        <p:spPr>
          <a:xfrm rot="10800000">
            <a:off x="4717732" y="350996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PS Name 12"/>
          <p:cNvSpPr txBox="1"/>
          <p:nvPr/>
        </p:nvSpPr>
        <p:spPr>
          <a:xfrm>
            <a:off x="4855845" y="3467100"/>
            <a:ext cx="1449705" cy="171450"/>
          </a:xfrm>
          <a:prstGeom prst="rect">
            <a:avLst/>
          </a:prstGeom>
          <a:noFill/>
        </p:spPr>
        <p:txBody>
          <a:bodyPr wrap="none" lIns="19050" rIns="19050" tIns="0" bIns="0" anchor="ctr">
            <a:spAutoFit/>
          </a:bodyPr>
          <a:lstStyle/>
          <a:p>
            <a:pPr algn="l"/>
            <a:r>
              <a:rPr sz="900" b="0">
                <a:solidFill>
                  <a:srgbClr val="2E2E2E"/>
                </a:solidFill>
                <a:latin typeface="Calibri"/>
              </a:rPr>
              <a:t>U.K.</a:t>
            </a:r>
          </a:p>
        </p:txBody>
      </p:sp>
      <p:sp>
        <p:nvSpPr>
          <p:cNvPr id="62" name="BPS Value 12"/>
          <p:cNvSpPr txBox="1"/>
          <p:nvPr/>
        </p:nvSpPr>
        <p:spPr>
          <a:xfrm>
            <a:off x="6305550" y="3467100"/>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63" name="Rounded Rectangle 6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65" name="Rectangle 6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7" name="Rounded Rectangle 6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68" name="Rounded Rectangle 6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69" name="Rounded Rectangle 6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lock.png"/>
          <p:cNvPicPr>
            <a:picLocks noChangeAspect="1"/>
          </p:cNvPicPr>
          <p:nvPr/>
        </p:nvPicPr>
        <p:blipFill>
          <a:blip r:embed="rId5"/>
          <a:stretch>
            <a:fillRect/>
          </a:stretch>
        </p:blipFill>
        <p:spPr>
          <a:xfrm>
            <a:off x="2368867" y="3171825"/>
            <a:ext cx="275034" cy="400050"/>
          </a:xfrm>
          <a:prstGeom prst="rect">
            <a:avLst/>
          </a:prstGeom>
        </p:spPr>
      </p:pic>
      <p:pic>
        <p:nvPicPr>
          <p:cNvPr id="72" name="Picture 71" descr="lock.png"/>
          <p:cNvPicPr>
            <a:picLocks noChangeAspect="1"/>
          </p:cNvPicPr>
          <p:nvPr/>
        </p:nvPicPr>
        <p:blipFill>
          <a:blip r:embed="rId5"/>
          <a:stretch>
            <a:fillRect/>
          </a:stretch>
        </p:blipFill>
        <p:spPr>
          <a:xfrm>
            <a:off x="2009775" y="6070282"/>
            <a:ext cx="209550" cy="304800"/>
          </a:xfrm>
          <a:prstGeom prst="rect">
            <a:avLst/>
          </a:prstGeom>
        </p:spPr>
      </p:pic>
      <p:pic>
        <p:nvPicPr>
          <p:cNvPr id="73" name="Picture 72" descr="lock.png"/>
          <p:cNvPicPr>
            <a:picLocks noChangeAspect="1"/>
          </p:cNvPicPr>
          <p:nvPr/>
        </p:nvPicPr>
        <p:blipFill>
          <a:blip r:embed="rId5"/>
          <a:stretch>
            <a:fillRect/>
          </a:stretch>
        </p:blipFill>
        <p:spPr>
          <a:xfrm>
            <a:off x="6043612" y="6070282"/>
            <a:ext cx="209550" cy="304800"/>
          </a:xfrm>
          <a:prstGeom prst="rect">
            <a:avLst/>
          </a:prstGeom>
        </p:spPr>
      </p:pic>
      <p:pic>
        <p:nvPicPr>
          <p:cNvPr id="74" name="Picture 73" descr="lock.png"/>
          <p:cNvPicPr>
            <a:picLocks noChangeAspect="1"/>
          </p:cNvPicPr>
          <p:nvPr/>
        </p:nvPicPr>
        <p:blipFill>
          <a:blip r:embed="rId5"/>
          <a:stretch>
            <a:fillRect/>
          </a:stretch>
        </p:blipFill>
        <p:spPr>
          <a:xfrm>
            <a:off x="10015537" y="6070282"/>
            <a:ext cx="209550" cy="304800"/>
          </a:xfrm>
          <a:prstGeom prst="rect">
            <a:avLst/>
          </a:prstGeom>
        </p:spPr>
      </p:pic>
      <p:sp>
        <p:nvSpPr>
          <p:cNvPr id="75" name="TextBox 74"/>
          <p:cNvSpPr txBox="1"/>
          <p:nvPr/>
        </p:nvSpPr>
        <p:spPr>
          <a:xfrm>
            <a:off x="7239000" y="1400175"/>
            <a:ext cx="3093045" cy="194310"/>
          </a:xfrm>
          <a:prstGeom prst="rect">
            <a:avLst/>
          </a:prstGeom>
          <a:noFill/>
        </p:spPr>
        <p:txBody>
          <a:bodyPr wrap="none" lIns="0" rIns="0" tIns="0" bIns="0">
            <a:spAutoFit/>
          </a:bodyPr>
          <a:lstStyle/>
          <a:p>
            <a:r>
              <a:rPr sz="1150" b="0">
                <a:solidFill>
                  <a:srgbClr val="2E2E2E"/>
                </a:solidFill>
                <a:latin typeface="Calibri"/>
              </a:rPr>
              <a:t>Germany crab meat market is projected to register</a:t>
            </a:r>
          </a:p>
        </p:txBody>
      </p:sp>
      <p:pic>
        <p:nvPicPr>
          <p:cNvPr id="76" name="Picture 75" descr="lock.png"/>
          <p:cNvPicPr>
            <a:picLocks noChangeAspect="1"/>
          </p:cNvPicPr>
          <p:nvPr/>
        </p:nvPicPr>
        <p:blipFill>
          <a:blip r:embed="rId5"/>
          <a:stretch>
            <a:fillRect/>
          </a:stretch>
        </p:blipFill>
        <p:spPr>
          <a:xfrm>
            <a:off x="10281199" y="1389951"/>
            <a:ext cx="134549" cy="195707"/>
          </a:xfrm>
          <a:prstGeom prst="rect">
            <a:avLst/>
          </a:prstGeom>
        </p:spPr>
      </p:pic>
      <p:sp>
        <p:nvSpPr>
          <p:cNvPr id="77" name="TextBox 76"/>
          <p:cNvSpPr txBox="1"/>
          <p:nvPr/>
        </p:nvSpPr>
        <p:spPr>
          <a:xfrm>
            <a:off x="10456308" y="1400175"/>
            <a:ext cx="1222350" cy="194310"/>
          </a:xfrm>
          <a:prstGeom prst="rect">
            <a:avLst/>
          </a:prstGeom>
          <a:noFill/>
        </p:spPr>
        <p:txBody>
          <a:bodyPr wrap="none" lIns="0" rIns="0" tIns="0" bIns="0">
            <a:spAutoFit/>
          </a:bodyPr>
          <a:lstStyle/>
          <a:p>
            <a:r>
              <a:rPr sz="1150" b="0">
                <a:solidFill>
                  <a:srgbClr val="2E2E2E"/>
                </a:solidFill>
                <a:latin typeface="Calibri"/>
              </a:rPr>
              <a:t>X higher value than</a:t>
            </a:r>
          </a:p>
        </p:txBody>
      </p:sp>
      <p:sp>
        <p:nvSpPr>
          <p:cNvPr id="78" name="TextBox 77"/>
          <p:cNvSpPr txBox="1"/>
          <p:nvPr/>
        </p:nvSpPr>
        <p:spPr>
          <a:xfrm>
            <a:off x="7239000" y="1575435"/>
            <a:ext cx="4296816" cy="194310"/>
          </a:xfrm>
          <a:prstGeom prst="rect">
            <a:avLst/>
          </a:prstGeom>
          <a:noFill/>
        </p:spPr>
        <p:txBody>
          <a:bodyPr wrap="none" lIns="0" rIns="0" tIns="0" bIns="0">
            <a:spAutoFit/>
          </a:bodyPr>
          <a:lstStyle/>
          <a:p>
            <a:r>
              <a:rPr sz="1150" b="0">
                <a:solidFill>
                  <a:srgbClr val="2E2E2E"/>
                </a:solidFill>
                <a:latin typeface="Calibri"/>
              </a:rPr>
              <a:t>the U.K. in 2036. Among crab meat by country, Germany is expected to</a:t>
            </a:r>
          </a:p>
        </p:txBody>
      </p:sp>
      <p:sp>
        <p:nvSpPr>
          <p:cNvPr id="79" name="TextBox 78"/>
          <p:cNvSpPr txBox="1"/>
          <p:nvPr/>
        </p:nvSpPr>
        <p:spPr>
          <a:xfrm>
            <a:off x="7239000" y="175069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80" name="Picture 79" descr="lock.png"/>
          <p:cNvPicPr>
            <a:picLocks noChangeAspect="1"/>
          </p:cNvPicPr>
          <p:nvPr/>
        </p:nvPicPr>
        <p:blipFill>
          <a:blip r:embed="rId5"/>
          <a:stretch>
            <a:fillRect/>
          </a:stretch>
        </p:blipFill>
        <p:spPr>
          <a:xfrm>
            <a:off x="8935924" y="1740471"/>
            <a:ext cx="134549" cy="195707"/>
          </a:xfrm>
          <a:prstGeom prst="rect">
            <a:avLst/>
          </a:prstGeom>
        </p:spPr>
      </p:pic>
      <p:sp>
        <p:nvSpPr>
          <p:cNvPr id="81" name="TextBox 80"/>
          <p:cNvSpPr txBox="1"/>
          <p:nvPr/>
        </p:nvSpPr>
        <p:spPr>
          <a:xfrm>
            <a:off x="9111033"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82" name="TextBox 81"/>
          <p:cNvSpPr txBox="1"/>
          <p:nvPr/>
        </p:nvSpPr>
        <p:spPr>
          <a:xfrm>
            <a:off x="7239000" y="1978533"/>
            <a:ext cx="4418620" cy="194310"/>
          </a:xfrm>
          <a:prstGeom prst="rect">
            <a:avLst/>
          </a:prstGeom>
          <a:noFill/>
        </p:spPr>
        <p:txBody>
          <a:bodyPr wrap="none" lIns="0" rIns="0" tIns="0" bIns="0">
            <a:spAutoFit/>
          </a:bodyPr>
          <a:lstStyle/>
          <a:p>
            <a:r>
              <a:rPr sz="1150" b="0">
                <a:solidFill>
                  <a:srgbClr val="2E2E2E"/>
                </a:solidFill>
                <a:latin typeface="Calibri"/>
              </a:rPr>
              <a:t>In terms of value share by country, Germany is expected to dominate the</a:t>
            </a:r>
          </a:p>
        </p:txBody>
      </p:sp>
      <p:sp>
        <p:nvSpPr>
          <p:cNvPr id="83" name="TextBox 82"/>
          <p:cNvSpPr txBox="1"/>
          <p:nvPr/>
        </p:nvSpPr>
        <p:spPr>
          <a:xfrm>
            <a:off x="7239000" y="2153793"/>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84" name="Picture 83" descr="lock.png"/>
          <p:cNvPicPr>
            <a:picLocks noChangeAspect="1"/>
          </p:cNvPicPr>
          <p:nvPr/>
        </p:nvPicPr>
        <p:blipFill>
          <a:blip r:embed="rId5"/>
          <a:stretch>
            <a:fillRect/>
          </a:stretch>
        </p:blipFill>
        <p:spPr>
          <a:xfrm>
            <a:off x="8188006" y="2143569"/>
            <a:ext cx="134549" cy="195707"/>
          </a:xfrm>
          <a:prstGeom prst="rect">
            <a:avLst/>
          </a:prstGeom>
        </p:spPr>
      </p:pic>
      <p:sp>
        <p:nvSpPr>
          <p:cNvPr id="85" name="TextBox 84"/>
          <p:cNvSpPr txBox="1"/>
          <p:nvPr/>
        </p:nvSpPr>
        <p:spPr>
          <a:xfrm>
            <a:off x="8363115"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86" name="Picture 85" descr="lock.png"/>
          <p:cNvPicPr>
            <a:picLocks noChangeAspect="1"/>
          </p:cNvPicPr>
          <p:nvPr/>
        </p:nvPicPr>
        <p:blipFill>
          <a:blip r:embed="rId5"/>
          <a:stretch>
            <a:fillRect/>
          </a:stretch>
        </p:blipFill>
        <p:spPr>
          <a:xfrm>
            <a:off x="9758258" y="2143569"/>
            <a:ext cx="134549" cy="195707"/>
          </a:xfrm>
          <a:prstGeom prst="rect">
            <a:avLst/>
          </a:prstGeom>
        </p:spPr>
      </p:pic>
      <p:sp>
        <p:nvSpPr>
          <p:cNvPr id="87" name="TextBox 86"/>
          <p:cNvSpPr txBox="1"/>
          <p:nvPr/>
        </p:nvSpPr>
        <p:spPr>
          <a:xfrm>
            <a:off x="9933367" y="2153793"/>
            <a:ext cx="1346435" cy="194310"/>
          </a:xfrm>
          <a:prstGeom prst="rect">
            <a:avLst/>
          </a:prstGeom>
          <a:noFill/>
        </p:spPr>
        <p:txBody>
          <a:bodyPr wrap="none" lIns="0" rIns="0" tIns="0" bIns="0">
            <a:spAutoFit/>
          </a:bodyPr>
          <a:lstStyle/>
          <a:p>
            <a:r>
              <a:rPr sz="1150" b="0">
                <a:solidFill>
                  <a:srgbClr val="2E2E2E"/>
                </a:solidFill>
                <a:latin typeface="Calibri"/>
              </a:rPr>
              <a:t>share by 2036. U.K. is</a:t>
            </a:r>
          </a:p>
        </p:txBody>
      </p:sp>
      <p:sp>
        <p:nvSpPr>
          <p:cNvPr id="88" name="TextBox 87"/>
          <p:cNvSpPr txBox="1"/>
          <p:nvPr/>
        </p:nvSpPr>
        <p:spPr>
          <a:xfrm>
            <a:off x="7239000" y="232905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89" name="Picture 88" descr="lock.png"/>
          <p:cNvPicPr>
            <a:picLocks noChangeAspect="1"/>
          </p:cNvPicPr>
          <p:nvPr/>
        </p:nvPicPr>
        <p:blipFill>
          <a:blip r:embed="rId5"/>
          <a:stretch>
            <a:fillRect/>
          </a:stretch>
        </p:blipFill>
        <p:spPr>
          <a:xfrm>
            <a:off x="8243060" y="2318829"/>
            <a:ext cx="134549" cy="195707"/>
          </a:xfrm>
          <a:prstGeom prst="rect">
            <a:avLst/>
          </a:prstGeom>
        </p:spPr>
      </p:pic>
      <p:sp>
        <p:nvSpPr>
          <p:cNvPr id="90" name="TextBox 89"/>
          <p:cNvSpPr txBox="1"/>
          <p:nvPr/>
        </p:nvSpPr>
        <p:spPr>
          <a:xfrm>
            <a:off x="8418169" y="232905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91" name="Picture 90" descr="lock.png"/>
          <p:cNvPicPr>
            <a:picLocks noChangeAspect="1"/>
          </p:cNvPicPr>
          <p:nvPr/>
        </p:nvPicPr>
        <p:blipFill>
          <a:blip r:embed="rId5"/>
          <a:stretch>
            <a:fillRect/>
          </a:stretch>
        </p:blipFill>
        <p:spPr>
          <a:xfrm>
            <a:off x="11005673" y="2318829"/>
            <a:ext cx="134549" cy="195707"/>
          </a:xfrm>
          <a:prstGeom prst="rect">
            <a:avLst/>
          </a:prstGeom>
        </p:spPr>
      </p:pic>
      <p:sp>
        <p:nvSpPr>
          <p:cNvPr id="92" name="TextBox 91"/>
          <p:cNvSpPr txBox="1"/>
          <p:nvPr/>
        </p:nvSpPr>
        <p:spPr>
          <a:xfrm>
            <a:off x="11180783" y="232905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93" name="TextBox 92"/>
          <p:cNvSpPr txBox="1"/>
          <p:nvPr/>
        </p:nvSpPr>
        <p:spPr>
          <a:xfrm>
            <a:off x="7239000" y="250431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94"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Share Analysis, By Country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Market Size, By Country (MT)</a:t>
            </a:r>
          </a:p>
        </p:txBody>
      </p:sp>
      <p:graphicFrame>
        <p:nvGraphicFramePr>
          <p:cNvPr id="12" name="Table 11"/>
          <p:cNvGraphicFramePr>
            <a:graphicFrameLocks noGrp="1"/>
          </p:cNvGraphicFramePr>
          <p:nvPr/>
        </p:nvGraphicFramePr>
        <p:xfrm>
          <a:off x="152400" y="1238250"/>
          <a:ext cx="11887206" cy="3448052"/>
        </p:xfrm>
        <a:graphic>
          <a:graphicData uri="http://schemas.openxmlformats.org/drawingml/2006/table">
            <a:tbl>
              <a:tblPr>
                <a:tableStyleId>{5C22544A-7EE6-4342-B048-85BDC9FD1C3A}</a:tableStyleId>
              </a:tblPr>
              <a:tblGrid>
                <a:gridCol w="1038006"/>
                <a:gridCol w="612719"/>
                <a:gridCol w="612719"/>
                <a:gridCol w="612719"/>
                <a:gridCol w="612719"/>
                <a:gridCol w="612719"/>
                <a:gridCol w="612719"/>
                <a:gridCol w="612719"/>
                <a:gridCol w="612719"/>
                <a:gridCol w="612719"/>
                <a:gridCol w="612719"/>
                <a:gridCol w="612719"/>
                <a:gridCol w="612719"/>
                <a:gridCol w="728706"/>
                <a:gridCol w="728706"/>
                <a:gridCol w="728706"/>
                <a:gridCol w="728706"/>
                <a:gridCol w="581748"/>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02">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Switzerland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Rest of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14925"/>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Volume Share Read-out, By Country</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38775"/>
            <a:ext cx="11639550"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28316" y="2818639"/>
            <a:ext cx="366712" cy="533400"/>
          </a:xfrm>
          <a:prstGeom prst="rect">
            <a:avLst/>
          </a:prstGeom>
        </p:spPr>
      </p:pic>
      <p:sp>
        <p:nvSpPr>
          <p:cNvPr id="20" name="TextBox 19"/>
          <p:cNvSpPr txBox="1"/>
          <p:nvPr/>
        </p:nvSpPr>
        <p:spPr>
          <a:xfrm>
            <a:off x="276225" y="5448300"/>
            <a:ext cx="3093045" cy="194310"/>
          </a:xfrm>
          <a:prstGeom prst="rect">
            <a:avLst/>
          </a:prstGeom>
          <a:noFill/>
        </p:spPr>
        <p:txBody>
          <a:bodyPr wrap="none" lIns="0" rIns="0" tIns="0" bIns="0">
            <a:spAutoFit/>
          </a:bodyPr>
          <a:lstStyle/>
          <a:p>
            <a:r>
              <a:rPr sz="1150" b="0">
                <a:solidFill>
                  <a:srgbClr val="2E2E2E"/>
                </a:solidFill>
                <a:latin typeface="Calibri"/>
              </a:rPr>
              <a:t>Germany crab meat market is projected to register</a:t>
            </a:r>
          </a:p>
        </p:txBody>
      </p:sp>
      <p:pic>
        <p:nvPicPr>
          <p:cNvPr id="21" name="Picture 20" descr="lock.png"/>
          <p:cNvPicPr>
            <a:picLocks noChangeAspect="1"/>
          </p:cNvPicPr>
          <p:nvPr/>
        </p:nvPicPr>
        <p:blipFill>
          <a:blip r:embed="rId4"/>
          <a:stretch>
            <a:fillRect/>
          </a:stretch>
        </p:blipFill>
        <p:spPr>
          <a:xfrm>
            <a:off x="3318424" y="5438076"/>
            <a:ext cx="134549" cy="195707"/>
          </a:xfrm>
          <a:prstGeom prst="rect">
            <a:avLst/>
          </a:prstGeom>
        </p:spPr>
      </p:pic>
      <p:sp>
        <p:nvSpPr>
          <p:cNvPr id="22" name="TextBox 21"/>
          <p:cNvSpPr txBox="1"/>
          <p:nvPr/>
        </p:nvSpPr>
        <p:spPr>
          <a:xfrm>
            <a:off x="3493533" y="5448300"/>
            <a:ext cx="7304516" cy="194310"/>
          </a:xfrm>
          <a:prstGeom prst="rect">
            <a:avLst/>
          </a:prstGeom>
          <a:noFill/>
        </p:spPr>
        <p:txBody>
          <a:bodyPr wrap="none" lIns="0" rIns="0" tIns="0" bIns="0">
            <a:spAutoFit/>
          </a:bodyPr>
          <a:lstStyle/>
          <a:p>
            <a:r>
              <a:rPr sz="1150" b="0">
                <a:solidFill>
                  <a:srgbClr val="2E2E2E"/>
                </a:solidFill>
                <a:latin typeface="Calibri"/>
              </a:rPr>
              <a:t>X higher volume than the U.K. in 2036. Among crab meat by country, Germany is expected to witness the highest CAGR of</a:t>
            </a:r>
          </a:p>
        </p:txBody>
      </p:sp>
      <p:pic>
        <p:nvPicPr>
          <p:cNvPr id="23" name="Picture 22" descr="lock.png"/>
          <p:cNvPicPr>
            <a:picLocks noChangeAspect="1"/>
          </p:cNvPicPr>
          <p:nvPr/>
        </p:nvPicPr>
        <p:blipFill>
          <a:blip r:embed="rId4"/>
          <a:stretch>
            <a:fillRect/>
          </a:stretch>
        </p:blipFill>
        <p:spPr>
          <a:xfrm>
            <a:off x="10747203" y="5438076"/>
            <a:ext cx="134549" cy="195707"/>
          </a:xfrm>
          <a:prstGeom prst="rect">
            <a:avLst/>
          </a:prstGeom>
        </p:spPr>
      </p:pic>
      <p:sp>
        <p:nvSpPr>
          <p:cNvPr id="24" name="TextBox 23"/>
          <p:cNvSpPr txBox="1"/>
          <p:nvPr/>
        </p:nvSpPr>
        <p:spPr>
          <a:xfrm>
            <a:off x="10922312" y="5448300"/>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25" name="TextBox 24"/>
          <p:cNvSpPr txBox="1"/>
          <p:nvPr/>
        </p:nvSpPr>
        <p:spPr>
          <a:xfrm>
            <a:off x="276225" y="5623560"/>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26" name="TextBox 25"/>
          <p:cNvSpPr txBox="1"/>
          <p:nvPr/>
        </p:nvSpPr>
        <p:spPr>
          <a:xfrm>
            <a:off x="276225" y="5851397"/>
            <a:ext cx="5499162" cy="194310"/>
          </a:xfrm>
          <a:prstGeom prst="rect">
            <a:avLst/>
          </a:prstGeom>
          <a:noFill/>
        </p:spPr>
        <p:txBody>
          <a:bodyPr wrap="none" lIns="0" rIns="0" tIns="0" bIns="0">
            <a:spAutoFit/>
          </a:bodyPr>
          <a:lstStyle/>
          <a:p>
            <a:r>
              <a:rPr sz="1150" b="0">
                <a:solidFill>
                  <a:srgbClr val="2E2E2E"/>
                </a:solidFill>
                <a:latin typeface="Calibri"/>
              </a:rPr>
              <a:t>In terms of volume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724540" y="5841174"/>
            <a:ext cx="134549" cy="195707"/>
          </a:xfrm>
          <a:prstGeom prst="rect">
            <a:avLst/>
          </a:prstGeom>
        </p:spPr>
      </p:pic>
      <p:sp>
        <p:nvSpPr>
          <p:cNvPr id="28" name="TextBox 27"/>
          <p:cNvSpPr txBox="1"/>
          <p:nvPr/>
        </p:nvSpPr>
        <p:spPr>
          <a:xfrm>
            <a:off x="5899650" y="58513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294793" y="5841174"/>
            <a:ext cx="134549" cy="195707"/>
          </a:xfrm>
          <a:prstGeom prst="rect">
            <a:avLst/>
          </a:prstGeom>
        </p:spPr>
      </p:pic>
      <p:sp>
        <p:nvSpPr>
          <p:cNvPr id="30" name="TextBox 29"/>
          <p:cNvSpPr txBox="1"/>
          <p:nvPr/>
        </p:nvSpPr>
        <p:spPr>
          <a:xfrm>
            <a:off x="7469902" y="5851397"/>
            <a:ext cx="2358231" cy="194310"/>
          </a:xfrm>
          <a:prstGeom prst="rect">
            <a:avLst/>
          </a:prstGeom>
          <a:noFill/>
        </p:spPr>
        <p:txBody>
          <a:bodyPr wrap="none" lIns="0" rIns="0" tIns="0" bIns="0">
            <a:spAutoFit/>
          </a:bodyPr>
          <a:lstStyle/>
          <a:p>
            <a:r>
              <a:rPr sz="1150" b="0">
                <a:solidFill>
                  <a:srgbClr val="2E2E2E"/>
                </a:solidFill>
                <a:latin typeface="Calibri"/>
              </a:rPr>
              <a:t>share by 2036. U.K. is expected to lose</a:t>
            </a:r>
          </a:p>
        </p:txBody>
      </p:sp>
      <p:pic>
        <p:nvPicPr>
          <p:cNvPr id="31" name="Picture 30" descr="lock.png"/>
          <p:cNvPicPr>
            <a:picLocks noChangeAspect="1"/>
          </p:cNvPicPr>
          <p:nvPr/>
        </p:nvPicPr>
        <p:blipFill>
          <a:blip r:embed="rId4"/>
          <a:stretch>
            <a:fillRect/>
          </a:stretch>
        </p:blipFill>
        <p:spPr>
          <a:xfrm>
            <a:off x="9777287" y="5841174"/>
            <a:ext cx="134549" cy="195707"/>
          </a:xfrm>
          <a:prstGeom prst="rect">
            <a:avLst/>
          </a:prstGeom>
        </p:spPr>
      </p:pic>
      <p:sp>
        <p:nvSpPr>
          <p:cNvPr id="32" name="TextBox 31"/>
          <p:cNvSpPr txBox="1"/>
          <p:nvPr/>
        </p:nvSpPr>
        <p:spPr>
          <a:xfrm>
            <a:off x="9952397" y="5851397"/>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33" name="TextBox 32"/>
          <p:cNvSpPr txBox="1"/>
          <p:nvPr/>
        </p:nvSpPr>
        <p:spPr>
          <a:xfrm>
            <a:off x="276225" y="6026657"/>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34" name="Picture 33" descr="lock.png"/>
          <p:cNvPicPr>
            <a:picLocks noChangeAspect="1"/>
          </p:cNvPicPr>
          <p:nvPr/>
        </p:nvPicPr>
        <p:blipFill>
          <a:blip r:embed="rId4"/>
          <a:stretch>
            <a:fillRect/>
          </a:stretch>
        </p:blipFill>
        <p:spPr>
          <a:xfrm>
            <a:off x="1560689" y="6016434"/>
            <a:ext cx="134549" cy="195707"/>
          </a:xfrm>
          <a:prstGeom prst="rect">
            <a:avLst/>
          </a:prstGeom>
        </p:spPr>
      </p:pic>
      <p:sp>
        <p:nvSpPr>
          <p:cNvPr id="35" name="TextBox 34"/>
          <p:cNvSpPr txBox="1"/>
          <p:nvPr/>
        </p:nvSpPr>
        <p:spPr>
          <a:xfrm>
            <a:off x="1735798" y="60266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Market Size, By Country (US$ Mn)</a:t>
            </a:r>
          </a:p>
        </p:txBody>
      </p:sp>
      <p:graphicFrame>
        <p:nvGraphicFramePr>
          <p:cNvPr id="12" name="Table 11"/>
          <p:cNvGraphicFramePr>
            <a:graphicFrameLocks noGrp="1"/>
          </p:cNvGraphicFramePr>
          <p:nvPr/>
        </p:nvGraphicFramePr>
        <p:xfrm>
          <a:off x="152400" y="1238250"/>
          <a:ext cx="11887203" cy="3448052"/>
        </p:xfrm>
        <a:graphic>
          <a:graphicData uri="http://schemas.openxmlformats.org/drawingml/2006/table">
            <a:tbl>
              <a:tblPr>
                <a:tableStyleId>{5C22544A-7EE6-4342-B048-85BDC9FD1C3A}</a:tableStyleId>
              </a:tblPr>
              <a:tblGrid>
                <a:gridCol w="1129144"/>
                <a:gridCol w="632827"/>
                <a:gridCol w="632827"/>
                <a:gridCol w="632827"/>
                <a:gridCol w="632827"/>
                <a:gridCol w="632827"/>
                <a:gridCol w="632827"/>
                <a:gridCol w="632827"/>
                <a:gridCol w="632827"/>
                <a:gridCol w="632827"/>
                <a:gridCol w="632827"/>
                <a:gridCol w="632827"/>
                <a:gridCol w="632827"/>
                <a:gridCol w="632827"/>
                <a:gridCol w="632827"/>
                <a:gridCol w="632827"/>
                <a:gridCol w="632827"/>
                <a:gridCol w="632827"/>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02">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Belgium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Nordic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Switzerland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Rest of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14925"/>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Share Read-out, By Country</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38775"/>
            <a:ext cx="11639550"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73883" y="2818639"/>
            <a:ext cx="366712" cy="533400"/>
          </a:xfrm>
          <a:prstGeom prst="rect">
            <a:avLst/>
          </a:prstGeom>
        </p:spPr>
      </p:pic>
      <p:sp>
        <p:nvSpPr>
          <p:cNvPr id="20" name="TextBox 19"/>
          <p:cNvSpPr txBox="1"/>
          <p:nvPr/>
        </p:nvSpPr>
        <p:spPr>
          <a:xfrm>
            <a:off x="276225" y="5448300"/>
            <a:ext cx="3093045" cy="194310"/>
          </a:xfrm>
          <a:prstGeom prst="rect">
            <a:avLst/>
          </a:prstGeom>
          <a:noFill/>
        </p:spPr>
        <p:txBody>
          <a:bodyPr wrap="none" lIns="0" rIns="0" tIns="0" bIns="0">
            <a:spAutoFit/>
          </a:bodyPr>
          <a:lstStyle/>
          <a:p>
            <a:r>
              <a:rPr sz="1150" b="0">
                <a:solidFill>
                  <a:srgbClr val="2E2E2E"/>
                </a:solidFill>
                <a:latin typeface="Calibri"/>
              </a:rPr>
              <a:t>Germany crab meat market is projected to register</a:t>
            </a:r>
          </a:p>
        </p:txBody>
      </p:sp>
      <p:pic>
        <p:nvPicPr>
          <p:cNvPr id="21" name="Picture 20" descr="lock.png"/>
          <p:cNvPicPr>
            <a:picLocks noChangeAspect="1"/>
          </p:cNvPicPr>
          <p:nvPr/>
        </p:nvPicPr>
        <p:blipFill>
          <a:blip r:embed="rId4"/>
          <a:stretch>
            <a:fillRect/>
          </a:stretch>
        </p:blipFill>
        <p:spPr>
          <a:xfrm>
            <a:off x="3318424" y="5438076"/>
            <a:ext cx="134549" cy="195707"/>
          </a:xfrm>
          <a:prstGeom prst="rect">
            <a:avLst/>
          </a:prstGeom>
        </p:spPr>
      </p:pic>
      <p:sp>
        <p:nvSpPr>
          <p:cNvPr id="22" name="TextBox 21"/>
          <p:cNvSpPr txBox="1"/>
          <p:nvPr/>
        </p:nvSpPr>
        <p:spPr>
          <a:xfrm>
            <a:off x="3493533" y="5448300"/>
            <a:ext cx="7180715" cy="194310"/>
          </a:xfrm>
          <a:prstGeom prst="rect">
            <a:avLst/>
          </a:prstGeom>
          <a:noFill/>
        </p:spPr>
        <p:txBody>
          <a:bodyPr wrap="none" lIns="0" rIns="0" tIns="0" bIns="0">
            <a:spAutoFit/>
          </a:bodyPr>
          <a:lstStyle/>
          <a:p>
            <a:r>
              <a:rPr sz="1150" b="0">
                <a:solidFill>
                  <a:srgbClr val="2E2E2E"/>
                </a:solidFill>
                <a:latin typeface="Calibri"/>
              </a:rPr>
              <a:t>X higher value than the U.K. in 2036. Among crab meat by country, Germany is expected to witness the highest CAGR of</a:t>
            </a:r>
          </a:p>
        </p:txBody>
      </p:sp>
      <p:pic>
        <p:nvPicPr>
          <p:cNvPr id="23" name="Picture 22" descr="lock.png"/>
          <p:cNvPicPr>
            <a:picLocks noChangeAspect="1"/>
          </p:cNvPicPr>
          <p:nvPr/>
        </p:nvPicPr>
        <p:blipFill>
          <a:blip r:embed="rId4"/>
          <a:stretch>
            <a:fillRect/>
          </a:stretch>
        </p:blipFill>
        <p:spPr>
          <a:xfrm>
            <a:off x="10623403" y="5438076"/>
            <a:ext cx="134549" cy="195707"/>
          </a:xfrm>
          <a:prstGeom prst="rect">
            <a:avLst/>
          </a:prstGeom>
        </p:spPr>
      </p:pic>
      <p:sp>
        <p:nvSpPr>
          <p:cNvPr id="24" name="TextBox 23"/>
          <p:cNvSpPr txBox="1"/>
          <p:nvPr/>
        </p:nvSpPr>
        <p:spPr>
          <a:xfrm>
            <a:off x="10798512" y="5448300"/>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25" name="TextBox 24"/>
          <p:cNvSpPr txBox="1"/>
          <p:nvPr/>
        </p:nvSpPr>
        <p:spPr>
          <a:xfrm>
            <a:off x="276225" y="5623560"/>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26" name="TextBox 25"/>
          <p:cNvSpPr txBox="1"/>
          <p:nvPr/>
        </p:nvSpPr>
        <p:spPr>
          <a:xfrm>
            <a:off x="276225" y="5851397"/>
            <a:ext cx="5375361" cy="194310"/>
          </a:xfrm>
          <a:prstGeom prst="rect">
            <a:avLst/>
          </a:prstGeom>
          <a:noFill/>
        </p:spPr>
        <p:txBody>
          <a:bodyPr wrap="none" lIns="0" rIns="0" tIns="0" bIns="0">
            <a:spAutoFit/>
          </a:bodyPr>
          <a:lstStyle/>
          <a:p>
            <a:r>
              <a:rPr sz="1150" b="0">
                <a:solidFill>
                  <a:srgbClr val="2E2E2E"/>
                </a:solidFill>
                <a:latin typeface="Calibri"/>
              </a:rPr>
              <a:t>In terms of value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600740" y="5841174"/>
            <a:ext cx="134549" cy="195707"/>
          </a:xfrm>
          <a:prstGeom prst="rect">
            <a:avLst/>
          </a:prstGeom>
        </p:spPr>
      </p:pic>
      <p:sp>
        <p:nvSpPr>
          <p:cNvPr id="28" name="TextBox 27"/>
          <p:cNvSpPr txBox="1"/>
          <p:nvPr/>
        </p:nvSpPr>
        <p:spPr>
          <a:xfrm>
            <a:off x="5775850" y="58513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170993" y="5841174"/>
            <a:ext cx="134549" cy="195707"/>
          </a:xfrm>
          <a:prstGeom prst="rect">
            <a:avLst/>
          </a:prstGeom>
        </p:spPr>
      </p:pic>
      <p:sp>
        <p:nvSpPr>
          <p:cNvPr id="30" name="TextBox 29"/>
          <p:cNvSpPr txBox="1"/>
          <p:nvPr/>
        </p:nvSpPr>
        <p:spPr>
          <a:xfrm>
            <a:off x="7346102" y="5851397"/>
            <a:ext cx="2358231" cy="194310"/>
          </a:xfrm>
          <a:prstGeom prst="rect">
            <a:avLst/>
          </a:prstGeom>
          <a:noFill/>
        </p:spPr>
        <p:txBody>
          <a:bodyPr wrap="none" lIns="0" rIns="0" tIns="0" bIns="0">
            <a:spAutoFit/>
          </a:bodyPr>
          <a:lstStyle/>
          <a:p>
            <a:r>
              <a:rPr sz="1150" b="0">
                <a:solidFill>
                  <a:srgbClr val="2E2E2E"/>
                </a:solidFill>
                <a:latin typeface="Calibri"/>
              </a:rPr>
              <a:t>share by 2036. U.K. is expected to lose</a:t>
            </a:r>
          </a:p>
        </p:txBody>
      </p:sp>
      <p:pic>
        <p:nvPicPr>
          <p:cNvPr id="31" name="Picture 30" descr="lock.png"/>
          <p:cNvPicPr>
            <a:picLocks noChangeAspect="1"/>
          </p:cNvPicPr>
          <p:nvPr/>
        </p:nvPicPr>
        <p:blipFill>
          <a:blip r:embed="rId4"/>
          <a:stretch>
            <a:fillRect/>
          </a:stretch>
        </p:blipFill>
        <p:spPr>
          <a:xfrm>
            <a:off x="9653487" y="5841174"/>
            <a:ext cx="134549" cy="195707"/>
          </a:xfrm>
          <a:prstGeom prst="rect">
            <a:avLst/>
          </a:prstGeom>
        </p:spPr>
      </p:pic>
      <p:sp>
        <p:nvSpPr>
          <p:cNvPr id="32" name="TextBox 31"/>
          <p:cNvSpPr txBox="1"/>
          <p:nvPr/>
        </p:nvSpPr>
        <p:spPr>
          <a:xfrm>
            <a:off x="9828596" y="5851397"/>
            <a:ext cx="1767185" cy="194310"/>
          </a:xfrm>
          <a:prstGeom prst="rect">
            <a:avLst/>
          </a:prstGeom>
          <a:noFill/>
        </p:spPr>
        <p:txBody>
          <a:bodyPr wrap="none" lIns="0" rIns="0" tIns="0" bIns="0">
            <a:spAutoFit/>
          </a:bodyPr>
          <a:lstStyle/>
          <a:p>
            <a:r>
              <a:rPr sz="1150" b="0">
                <a:solidFill>
                  <a:srgbClr val="2E2E2E"/>
                </a:solidFill>
                <a:latin typeface="Calibri"/>
              </a:rPr>
              <a:t>BPS over the forecast period</a:t>
            </a:r>
          </a:p>
        </p:txBody>
      </p:sp>
      <p:sp>
        <p:nvSpPr>
          <p:cNvPr id="33" name="TextBox 32"/>
          <p:cNvSpPr txBox="1"/>
          <p:nvPr/>
        </p:nvSpPr>
        <p:spPr>
          <a:xfrm>
            <a:off x="276225" y="6026657"/>
            <a:ext cx="914275" cy="194310"/>
          </a:xfrm>
          <a:prstGeom prst="rect">
            <a:avLst/>
          </a:prstGeom>
          <a:noFill/>
        </p:spPr>
        <p:txBody>
          <a:bodyPr wrap="none" lIns="0" rIns="0" tIns="0" bIns="0">
            <a:spAutoFit/>
          </a:bodyPr>
          <a:lstStyle/>
          <a:p>
            <a:r>
              <a:rPr sz="1150" b="0">
                <a:solidFill>
                  <a:srgbClr val="2E2E2E"/>
                </a:solidFill>
                <a:latin typeface="Calibri"/>
              </a:rPr>
              <a:t>to account for</a:t>
            </a:r>
          </a:p>
        </p:txBody>
      </p:sp>
      <p:pic>
        <p:nvPicPr>
          <p:cNvPr id="34" name="Picture 33" descr="lock.png"/>
          <p:cNvPicPr>
            <a:picLocks noChangeAspect="1"/>
          </p:cNvPicPr>
          <p:nvPr/>
        </p:nvPicPr>
        <p:blipFill>
          <a:blip r:embed="rId4"/>
          <a:stretch>
            <a:fillRect/>
          </a:stretch>
        </p:blipFill>
        <p:spPr>
          <a:xfrm>
            <a:off x="1139654" y="6016434"/>
            <a:ext cx="134549" cy="195707"/>
          </a:xfrm>
          <a:prstGeom prst="rect">
            <a:avLst/>
          </a:prstGeom>
        </p:spPr>
      </p:pic>
      <p:sp>
        <p:nvSpPr>
          <p:cNvPr id="35" name="TextBox 34"/>
          <p:cNvSpPr txBox="1"/>
          <p:nvPr/>
        </p:nvSpPr>
        <p:spPr>
          <a:xfrm>
            <a:off x="1314764" y="60266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Volume By Country (MT)</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r>
              <a:rPr sz="850" b="1">
                <a:solidFill>
                  <a:srgbClr val="6C7A89"/>
                </a:solidFill>
                <a:latin typeface="Calibri"/>
              </a:rPr>
              <a:t>By segment</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220"/>
              </a:spcBef>
            </a:pPr>
            <a:r>
              <a:rPr sz="750">
                <a:solidFill>
                  <a:srgbClr val="3D85C6"/>
                </a:solidFill>
                <a:latin typeface="Calibri"/>
              </a:rPr>
              <a:t>■  </a:t>
            </a:r>
            <a:r>
              <a:rPr sz="680">
                <a:solidFill>
                  <a:srgbClr val="2E2E2E"/>
                </a:solidFill>
                <a:latin typeface="Calibri"/>
              </a:rPr>
              <a:t>   Germany</a:t>
            </a:r>
          </a:p>
          <a:p>
            <a:pPr>
              <a:spcBef>
                <a:spcPts val="220"/>
              </a:spcBef>
            </a:pPr>
            <a:r>
              <a:rPr sz="750">
                <a:solidFill>
                  <a:srgbClr val="9E7E0A"/>
                </a:solidFill>
                <a:latin typeface="Calibri"/>
              </a:rPr>
              <a:t>■  </a:t>
            </a:r>
            <a:r>
              <a:rPr sz="680">
                <a:solidFill>
                  <a:srgbClr val="2E2E2E"/>
                </a:solidFill>
                <a:latin typeface="Calibri"/>
              </a:rPr>
              <a:t>   U.K.</a:t>
            </a:r>
          </a:p>
          <a:p>
            <a:pPr>
              <a:spcBef>
                <a:spcPts val="220"/>
              </a:spcBef>
            </a:pPr>
            <a:r>
              <a:rPr sz="750">
                <a:solidFill>
                  <a:srgbClr val="008189"/>
                </a:solidFill>
                <a:latin typeface="Calibri"/>
              </a:rPr>
              <a:t>■  </a:t>
            </a:r>
            <a:r>
              <a:rPr sz="680">
                <a:solidFill>
                  <a:srgbClr val="2E2E2E"/>
                </a:solidFill>
                <a:latin typeface="Calibri"/>
              </a:rPr>
              <a:t>   France</a:t>
            </a:r>
          </a:p>
          <a:p>
            <a:pPr>
              <a:spcBef>
                <a:spcPts val="220"/>
              </a:spcBef>
            </a:pPr>
            <a:r>
              <a:rPr sz="750">
                <a:solidFill>
                  <a:srgbClr val="40315E"/>
                </a:solidFill>
                <a:latin typeface="Calibri"/>
              </a:rPr>
              <a:t>■  </a:t>
            </a:r>
            <a:r>
              <a:rPr sz="680">
                <a:solidFill>
                  <a:srgbClr val="2E2E2E"/>
                </a:solidFill>
                <a:latin typeface="Calibri"/>
              </a:rPr>
              <a:t>   Italy</a:t>
            </a:r>
          </a:p>
          <a:p>
            <a:pPr>
              <a:spcBef>
                <a:spcPts val="220"/>
              </a:spcBef>
            </a:pPr>
            <a:r>
              <a:rPr sz="750">
                <a:solidFill>
                  <a:srgbClr val="A35313"/>
                </a:solidFill>
                <a:latin typeface="Calibri"/>
              </a:rPr>
              <a:t>■  </a:t>
            </a:r>
            <a:r>
              <a:rPr sz="680">
                <a:solidFill>
                  <a:srgbClr val="2E2E2E"/>
                </a:solidFill>
                <a:latin typeface="Calibri"/>
              </a:rPr>
              <a:t>   Spain</a:t>
            </a:r>
          </a:p>
          <a:p>
            <a:pPr>
              <a:spcBef>
                <a:spcPts val="220"/>
              </a:spcBef>
            </a:pPr>
            <a:r>
              <a:rPr sz="750">
                <a:solidFill>
                  <a:srgbClr val="0E72AE"/>
                </a:solidFill>
                <a:latin typeface="Calibri"/>
              </a:rPr>
              <a:t>■  </a:t>
            </a:r>
            <a:r>
              <a:rPr sz="680">
                <a:solidFill>
                  <a:srgbClr val="2E2E2E"/>
                </a:solidFill>
                <a:latin typeface="Calibri"/>
              </a:rPr>
              <a:t>   Netherlands</a:t>
            </a:r>
          </a:p>
          <a:p>
            <a:pPr>
              <a:spcBef>
                <a:spcPts val="220"/>
              </a:spcBef>
            </a:pPr>
            <a:r>
              <a:rPr sz="750">
                <a:solidFill>
                  <a:srgbClr val="808080"/>
                </a:solidFill>
                <a:latin typeface="Calibri"/>
              </a:rPr>
              <a:t>■  </a:t>
            </a:r>
            <a:r>
              <a:rPr sz="680">
                <a:solidFill>
                  <a:srgbClr val="2E2E2E"/>
                </a:solidFill>
                <a:latin typeface="Calibri"/>
              </a:rPr>
              <a:t>   Belgium</a:t>
            </a:r>
          </a:p>
          <a:p>
            <a:pPr>
              <a:spcBef>
                <a:spcPts val="220"/>
              </a:spcBef>
            </a:pPr>
            <a:r>
              <a:rPr sz="750">
                <a:solidFill>
                  <a:srgbClr val="A86F00"/>
                </a:solidFill>
                <a:latin typeface="Calibri"/>
              </a:rPr>
              <a:t>■  </a:t>
            </a:r>
            <a:r>
              <a:rPr sz="680">
                <a:solidFill>
                  <a:srgbClr val="2E2E2E"/>
                </a:solidFill>
                <a:latin typeface="Calibri"/>
              </a:rPr>
              <a:t>   Nordic</a:t>
            </a:r>
          </a:p>
          <a:p>
            <a:pPr>
              <a:spcBef>
                <a:spcPts val="220"/>
              </a:spcBef>
            </a:pPr>
            <a:r>
              <a:rPr sz="750">
                <a:solidFill>
                  <a:srgbClr val="0B2E4A"/>
                </a:solidFill>
                <a:latin typeface="Calibri"/>
              </a:rPr>
              <a:t>■  </a:t>
            </a:r>
            <a:r>
              <a:rPr sz="680">
                <a:solidFill>
                  <a:srgbClr val="2E2E2E"/>
                </a:solidFill>
                <a:latin typeface="Calibri"/>
              </a:rPr>
              <a:t>   Russia</a:t>
            </a:r>
          </a:p>
          <a:p>
            <a:pPr>
              <a:spcBef>
                <a:spcPts val="220"/>
              </a:spcBef>
            </a:pPr>
            <a:r>
              <a:rPr sz="750">
                <a:solidFill>
                  <a:srgbClr val="6C7A89"/>
                </a:solidFill>
                <a:latin typeface="Calibri"/>
              </a:rPr>
              <a:t>■  </a:t>
            </a:r>
            <a:r>
              <a:rPr sz="680">
                <a:solidFill>
                  <a:srgbClr val="2E2E2E"/>
                </a:solidFill>
                <a:latin typeface="Calibri"/>
              </a:rPr>
              <a:t>   Poland</a:t>
            </a:r>
          </a:p>
          <a:p>
            <a:pPr>
              <a:spcBef>
                <a:spcPts val="220"/>
              </a:spcBef>
            </a:pPr>
            <a:r>
              <a:rPr sz="750">
                <a:solidFill>
                  <a:srgbClr val="B2B2B2"/>
                </a:solidFill>
                <a:latin typeface="Calibri"/>
              </a:rPr>
              <a:t>■  </a:t>
            </a:r>
            <a:r>
              <a:rPr sz="680">
                <a:solidFill>
                  <a:srgbClr val="2E2E2E"/>
                </a:solidFill>
                <a:latin typeface="Calibri"/>
              </a:rPr>
              <a:t>   Switzerland</a:t>
            </a:r>
          </a:p>
          <a:p>
            <a:pPr>
              <a:spcBef>
                <a:spcPts val="220"/>
              </a:spcBef>
            </a:pPr>
            <a:r>
              <a:rPr sz="750">
                <a:solidFill>
                  <a:srgbClr val="5F5F5F"/>
                </a:solidFill>
                <a:latin typeface="Calibri"/>
              </a:rPr>
              <a:t>■  </a:t>
            </a:r>
            <a:r>
              <a:rPr sz="680">
                <a:solidFill>
                  <a:srgbClr val="2E2E2E"/>
                </a:solidFill>
                <a:latin typeface="Calibri"/>
              </a:rPr>
              <a:t>   Rest of Europe</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Country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r>
              <a:rPr sz="850" b="1">
                <a:solidFill>
                  <a:srgbClr val="6C7A89"/>
                </a:solidFill>
                <a:latin typeface="Calibri"/>
              </a:rPr>
              <a:t>By segment</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220"/>
              </a:spcBef>
            </a:pPr>
            <a:r>
              <a:rPr sz="750">
                <a:solidFill>
                  <a:srgbClr val="3D85C6"/>
                </a:solidFill>
                <a:latin typeface="Calibri"/>
              </a:rPr>
              <a:t>■  </a:t>
            </a:r>
            <a:r>
              <a:rPr sz="680">
                <a:solidFill>
                  <a:srgbClr val="2E2E2E"/>
                </a:solidFill>
                <a:latin typeface="Calibri"/>
              </a:rPr>
              <a:t>   Germany</a:t>
            </a:r>
          </a:p>
          <a:p>
            <a:pPr>
              <a:spcBef>
                <a:spcPts val="220"/>
              </a:spcBef>
            </a:pPr>
            <a:r>
              <a:rPr sz="750">
                <a:solidFill>
                  <a:srgbClr val="9E7E0A"/>
                </a:solidFill>
                <a:latin typeface="Calibri"/>
              </a:rPr>
              <a:t>■  </a:t>
            </a:r>
            <a:r>
              <a:rPr sz="680">
                <a:solidFill>
                  <a:srgbClr val="2E2E2E"/>
                </a:solidFill>
                <a:latin typeface="Calibri"/>
              </a:rPr>
              <a:t>   U.K.</a:t>
            </a:r>
          </a:p>
          <a:p>
            <a:pPr>
              <a:spcBef>
                <a:spcPts val="220"/>
              </a:spcBef>
            </a:pPr>
            <a:r>
              <a:rPr sz="750">
                <a:solidFill>
                  <a:srgbClr val="008189"/>
                </a:solidFill>
                <a:latin typeface="Calibri"/>
              </a:rPr>
              <a:t>■  </a:t>
            </a:r>
            <a:r>
              <a:rPr sz="680">
                <a:solidFill>
                  <a:srgbClr val="2E2E2E"/>
                </a:solidFill>
                <a:latin typeface="Calibri"/>
              </a:rPr>
              <a:t>   France</a:t>
            </a:r>
          </a:p>
          <a:p>
            <a:pPr>
              <a:spcBef>
                <a:spcPts val="220"/>
              </a:spcBef>
            </a:pPr>
            <a:r>
              <a:rPr sz="750">
                <a:solidFill>
                  <a:srgbClr val="40315E"/>
                </a:solidFill>
                <a:latin typeface="Calibri"/>
              </a:rPr>
              <a:t>■  </a:t>
            </a:r>
            <a:r>
              <a:rPr sz="680">
                <a:solidFill>
                  <a:srgbClr val="2E2E2E"/>
                </a:solidFill>
                <a:latin typeface="Calibri"/>
              </a:rPr>
              <a:t>   Italy</a:t>
            </a:r>
          </a:p>
          <a:p>
            <a:pPr>
              <a:spcBef>
                <a:spcPts val="220"/>
              </a:spcBef>
            </a:pPr>
            <a:r>
              <a:rPr sz="750">
                <a:solidFill>
                  <a:srgbClr val="A35313"/>
                </a:solidFill>
                <a:latin typeface="Calibri"/>
              </a:rPr>
              <a:t>■  </a:t>
            </a:r>
            <a:r>
              <a:rPr sz="680">
                <a:solidFill>
                  <a:srgbClr val="2E2E2E"/>
                </a:solidFill>
                <a:latin typeface="Calibri"/>
              </a:rPr>
              <a:t>   Spain</a:t>
            </a:r>
          </a:p>
          <a:p>
            <a:pPr>
              <a:spcBef>
                <a:spcPts val="220"/>
              </a:spcBef>
            </a:pPr>
            <a:r>
              <a:rPr sz="750">
                <a:solidFill>
                  <a:srgbClr val="0E72AE"/>
                </a:solidFill>
                <a:latin typeface="Calibri"/>
              </a:rPr>
              <a:t>■  </a:t>
            </a:r>
            <a:r>
              <a:rPr sz="680">
                <a:solidFill>
                  <a:srgbClr val="2E2E2E"/>
                </a:solidFill>
                <a:latin typeface="Calibri"/>
              </a:rPr>
              <a:t>   Netherlands</a:t>
            </a:r>
          </a:p>
          <a:p>
            <a:pPr>
              <a:spcBef>
                <a:spcPts val="220"/>
              </a:spcBef>
            </a:pPr>
            <a:r>
              <a:rPr sz="750">
                <a:solidFill>
                  <a:srgbClr val="808080"/>
                </a:solidFill>
                <a:latin typeface="Calibri"/>
              </a:rPr>
              <a:t>■  </a:t>
            </a:r>
            <a:r>
              <a:rPr sz="680">
                <a:solidFill>
                  <a:srgbClr val="2E2E2E"/>
                </a:solidFill>
                <a:latin typeface="Calibri"/>
              </a:rPr>
              <a:t>   Belgium</a:t>
            </a:r>
          </a:p>
          <a:p>
            <a:pPr>
              <a:spcBef>
                <a:spcPts val="220"/>
              </a:spcBef>
            </a:pPr>
            <a:r>
              <a:rPr sz="750">
                <a:solidFill>
                  <a:srgbClr val="A86F00"/>
                </a:solidFill>
                <a:latin typeface="Calibri"/>
              </a:rPr>
              <a:t>■  </a:t>
            </a:r>
            <a:r>
              <a:rPr sz="680">
                <a:solidFill>
                  <a:srgbClr val="2E2E2E"/>
                </a:solidFill>
                <a:latin typeface="Calibri"/>
              </a:rPr>
              <a:t>   Nordic</a:t>
            </a:r>
          </a:p>
          <a:p>
            <a:pPr>
              <a:spcBef>
                <a:spcPts val="220"/>
              </a:spcBef>
            </a:pPr>
            <a:r>
              <a:rPr sz="750">
                <a:solidFill>
                  <a:srgbClr val="0B2E4A"/>
                </a:solidFill>
                <a:latin typeface="Calibri"/>
              </a:rPr>
              <a:t>■  </a:t>
            </a:r>
            <a:r>
              <a:rPr sz="680">
                <a:solidFill>
                  <a:srgbClr val="2E2E2E"/>
                </a:solidFill>
                <a:latin typeface="Calibri"/>
              </a:rPr>
              <a:t>   Russia</a:t>
            </a:r>
          </a:p>
          <a:p>
            <a:pPr>
              <a:spcBef>
                <a:spcPts val="220"/>
              </a:spcBef>
            </a:pPr>
            <a:r>
              <a:rPr sz="750">
                <a:solidFill>
                  <a:srgbClr val="6C7A89"/>
                </a:solidFill>
                <a:latin typeface="Calibri"/>
              </a:rPr>
              <a:t>■  </a:t>
            </a:r>
            <a:r>
              <a:rPr sz="680">
                <a:solidFill>
                  <a:srgbClr val="2E2E2E"/>
                </a:solidFill>
                <a:latin typeface="Calibri"/>
              </a:rPr>
              <a:t>   Poland</a:t>
            </a:r>
          </a:p>
          <a:p>
            <a:pPr>
              <a:spcBef>
                <a:spcPts val="220"/>
              </a:spcBef>
            </a:pPr>
            <a:r>
              <a:rPr sz="750">
                <a:solidFill>
                  <a:srgbClr val="B2B2B2"/>
                </a:solidFill>
                <a:latin typeface="Calibri"/>
              </a:rPr>
              <a:t>■  </a:t>
            </a:r>
            <a:r>
              <a:rPr sz="680">
                <a:solidFill>
                  <a:srgbClr val="2E2E2E"/>
                </a:solidFill>
                <a:latin typeface="Calibri"/>
              </a:rPr>
              <a:t>   Switzerland</a:t>
            </a:r>
          </a:p>
          <a:p>
            <a:pPr>
              <a:spcBef>
                <a:spcPts val="220"/>
              </a:spcBef>
            </a:pPr>
            <a:r>
              <a:rPr sz="750">
                <a:solidFill>
                  <a:srgbClr val="5F5F5F"/>
                </a:solidFill>
                <a:latin typeface="Calibri"/>
              </a:rPr>
              <a:t>■  </a:t>
            </a:r>
            <a:r>
              <a:rPr sz="680">
                <a:solidFill>
                  <a:srgbClr val="2E2E2E"/>
                </a:solidFill>
                <a:latin typeface="Calibri"/>
              </a:rPr>
              <a:t>   Rest of Europe</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6"/>
          <a:stretch>
            <a:fillRect/>
          </a:stretch>
        </p:blipFill>
        <p:spPr>
          <a:xfrm>
            <a:off x="4933434" y="2176405"/>
            <a:ext cx="347145" cy="504938"/>
          </a:xfrm>
          <a:prstGeom prst="rect">
            <a:avLst/>
          </a:prstGeom>
        </p:spPr>
      </p:pic>
      <p:pic>
        <p:nvPicPr>
          <p:cNvPr id="24" name="Picture 23" descr="lock.png"/>
          <p:cNvPicPr>
            <a:picLocks noChangeAspect="1"/>
          </p:cNvPicPr>
          <p:nvPr/>
        </p:nvPicPr>
        <p:blipFill>
          <a:blip r:embed="rId6"/>
          <a:stretch>
            <a:fillRect/>
          </a:stretch>
        </p:blipFill>
        <p:spPr>
          <a:xfrm>
            <a:off x="4933434" y="5062480"/>
            <a:ext cx="347145" cy="504938"/>
          </a:xfrm>
          <a:prstGeom prst="rect">
            <a:avLst/>
          </a:prstGeom>
        </p:spPr>
      </p:pic>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Crab Meat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Europe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market by country  ·  2036 (US$ Mn)  ·  tile size = market value</a:t>
            </a:r>
          </a:p>
        </p:txBody>
      </p:sp>
      <p:sp>
        <p:nvSpPr>
          <p:cNvPr id="12" name="Rectangle 11"/>
          <p:cNvSpPr/>
          <p:nvPr/>
        </p:nvSpPr>
        <p:spPr>
          <a:xfrm>
            <a:off x="238125" y="1266825"/>
            <a:ext cx="4988872"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3" name="Rectangle 12"/>
          <p:cNvSpPr/>
          <p:nvPr/>
        </p:nvSpPr>
        <p:spPr>
          <a:xfrm>
            <a:off x="5226997" y="1266825"/>
            <a:ext cx="3102315" cy="2983274"/>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4" name="Rectangle 13"/>
          <p:cNvSpPr/>
          <p:nvPr/>
        </p:nvSpPr>
        <p:spPr>
          <a:xfrm>
            <a:off x="5226997" y="4250099"/>
            <a:ext cx="3102315" cy="2322151"/>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15" name="Rectangle 14"/>
          <p:cNvSpPr/>
          <p:nvPr/>
        </p:nvSpPr>
        <p:spPr>
          <a:xfrm>
            <a:off x="8329311" y="1266825"/>
            <a:ext cx="1868592" cy="2189651"/>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Italy</a:t>
            </a:r>
          </a:p>
          <a:p>
            <a:pPr algn="ctr"/>
            <a:r>
              <a:rPr sz="1100" b="0">
                <a:solidFill>
                  <a:srgbClr val="FFFFFF"/>
                </a:solidFill>
                <a:latin typeface="Calibri"/>
              </a:rPr>
              <a:t> </a:t>
            </a:r>
          </a:p>
        </p:txBody>
      </p:sp>
      <p:sp>
        <p:nvSpPr>
          <p:cNvPr id="16" name="Rectangle 15"/>
          <p:cNvSpPr/>
          <p:nvPr/>
        </p:nvSpPr>
        <p:spPr>
          <a:xfrm>
            <a:off x="10197903" y="1266825"/>
            <a:ext cx="1755972" cy="2189651"/>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Spain</a:t>
            </a:r>
          </a:p>
          <a:p>
            <a:pPr algn="ctr"/>
            <a:r>
              <a:rPr sz="1100" b="0">
                <a:solidFill>
                  <a:srgbClr val="FFFFFF"/>
                </a:solidFill>
                <a:latin typeface="Calibri"/>
              </a:rPr>
              <a:t> </a:t>
            </a:r>
          </a:p>
        </p:txBody>
      </p:sp>
      <p:sp>
        <p:nvSpPr>
          <p:cNvPr id="17" name="Rectangle 16"/>
          <p:cNvSpPr/>
          <p:nvPr/>
        </p:nvSpPr>
        <p:spPr>
          <a:xfrm>
            <a:off x="8329311" y="3456476"/>
            <a:ext cx="1744233" cy="1593775"/>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Netherlands</a:t>
            </a:r>
          </a:p>
          <a:p>
            <a:pPr algn="ctr"/>
            <a:r>
              <a:rPr sz="1100" b="0">
                <a:solidFill>
                  <a:srgbClr val="FFFFFF"/>
                </a:solidFill>
                <a:latin typeface="Calibri"/>
              </a:rPr>
              <a:t> </a:t>
            </a:r>
          </a:p>
        </p:txBody>
      </p:sp>
      <p:sp>
        <p:nvSpPr>
          <p:cNvPr id="18" name="Rectangle 17"/>
          <p:cNvSpPr/>
          <p:nvPr/>
        </p:nvSpPr>
        <p:spPr>
          <a:xfrm>
            <a:off x="8329311" y="5050251"/>
            <a:ext cx="1744233" cy="1521999"/>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Belgium</a:t>
            </a:r>
          </a:p>
          <a:p>
            <a:pPr algn="ctr"/>
            <a:r>
              <a:rPr sz="1100" b="0">
                <a:solidFill>
                  <a:srgbClr val="FFFFFF"/>
                </a:solidFill>
                <a:latin typeface="Calibri"/>
              </a:rPr>
              <a:t> </a:t>
            </a:r>
          </a:p>
        </p:txBody>
      </p:sp>
      <p:sp>
        <p:nvSpPr>
          <p:cNvPr id="19" name="Rectangle 18"/>
          <p:cNvSpPr/>
          <p:nvPr/>
        </p:nvSpPr>
        <p:spPr>
          <a:xfrm>
            <a:off x="10073544" y="3456476"/>
            <a:ext cx="1880331" cy="1113234"/>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Nordic</a:t>
            </a:r>
          </a:p>
          <a:p>
            <a:pPr algn="ctr"/>
            <a:r>
              <a:rPr sz="1100" b="0">
                <a:solidFill>
                  <a:srgbClr val="FFFFFF"/>
                </a:solidFill>
                <a:latin typeface="Calibri"/>
              </a:rPr>
              <a:t> </a:t>
            </a:r>
          </a:p>
        </p:txBody>
      </p:sp>
      <p:sp>
        <p:nvSpPr>
          <p:cNvPr id="20" name="Rectangle 19"/>
          <p:cNvSpPr/>
          <p:nvPr/>
        </p:nvSpPr>
        <p:spPr>
          <a:xfrm>
            <a:off x="10073544" y="4569710"/>
            <a:ext cx="1880331" cy="1059721"/>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1" name="Rectangle 20"/>
          <p:cNvSpPr/>
          <p:nvPr/>
        </p:nvSpPr>
        <p:spPr>
          <a:xfrm>
            <a:off x="10073544" y="5629431"/>
            <a:ext cx="1880331" cy="94281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Poland</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2578122"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6623716" y="2758462"/>
            <a:ext cx="308877" cy="449275"/>
          </a:xfrm>
          <a:prstGeom prst="rect">
            <a:avLst/>
          </a:prstGeom>
        </p:spPr>
      </p:pic>
      <p:pic>
        <p:nvPicPr>
          <p:cNvPr id="25" name="Picture 24" descr="lock.png"/>
          <p:cNvPicPr>
            <a:picLocks noChangeAspect="1"/>
          </p:cNvPicPr>
          <p:nvPr/>
        </p:nvPicPr>
        <p:blipFill>
          <a:blip r:embed="rId4"/>
          <a:stretch>
            <a:fillRect/>
          </a:stretch>
        </p:blipFill>
        <p:spPr>
          <a:xfrm>
            <a:off x="6623716" y="5411174"/>
            <a:ext cx="308877" cy="449275"/>
          </a:xfrm>
          <a:prstGeom prst="rect">
            <a:avLst/>
          </a:prstGeom>
        </p:spPr>
      </p:pic>
      <p:pic>
        <p:nvPicPr>
          <p:cNvPr id="26" name="Picture 25" descr="lock.png"/>
          <p:cNvPicPr>
            <a:picLocks noChangeAspect="1"/>
          </p:cNvPicPr>
          <p:nvPr/>
        </p:nvPicPr>
        <p:blipFill>
          <a:blip r:embed="rId4"/>
          <a:stretch>
            <a:fillRect/>
          </a:stretch>
        </p:blipFill>
        <p:spPr>
          <a:xfrm>
            <a:off x="9109168" y="2361650"/>
            <a:ext cx="308877" cy="449275"/>
          </a:xfrm>
          <a:prstGeom prst="rect">
            <a:avLst/>
          </a:prstGeom>
        </p:spPr>
      </p:pic>
      <p:pic>
        <p:nvPicPr>
          <p:cNvPr id="27" name="Picture 26" descr="lock.png"/>
          <p:cNvPicPr>
            <a:picLocks noChangeAspect="1"/>
          </p:cNvPicPr>
          <p:nvPr/>
        </p:nvPicPr>
        <p:blipFill>
          <a:blip r:embed="rId4"/>
          <a:stretch>
            <a:fillRect/>
          </a:stretch>
        </p:blipFill>
        <p:spPr>
          <a:xfrm>
            <a:off x="10921450" y="2361650"/>
            <a:ext cx="308877" cy="449275"/>
          </a:xfrm>
          <a:prstGeom prst="rect">
            <a:avLst/>
          </a:prstGeom>
        </p:spPr>
      </p:pic>
      <p:pic>
        <p:nvPicPr>
          <p:cNvPr id="28" name="Picture 27" descr="lock.png"/>
          <p:cNvPicPr>
            <a:picLocks noChangeAspect="1"/>
          </p:cNvPicPr>
          <p:nvPr/>
        </p:nvPicPr>
        <p:blipFill>
          <a:blip r:embed="rId4"/>
          <a:stretch>
            <a:fillRect/>
          </a:stretch>
        </p:blipFill>
        <p:spPr>
          <a:xfrm>
            <a:off x="9046989" y="4253363"/>
            <a:ext cx="308877" cy="449275"/>
          </a:xfrm>
          <a:prstGeom prst="rect">
            <a:avLst/>
          </a:prstGeom>
        </p:spPr>
      </p:pic>
      <p:pic>
        <p:nvPicPr>
          <p:cNvPr id="29" name="Picture 28" descr="lock.png"/>
          <p:cNvPicPr>
            <a:picLocks noChangeAspect="1"/>
          </p:cNvPicPr>
          <p:nvPr/>
        </p:nvPicPr>
        <p:blipFill>
          <a:blip r:embed="rId4"/>
          <a:stretch>
            <a:fillRect/>
          </a:stretch>
        </p:blipFill>
        <p:spPr>
          <a:xfrm>
            <a:off x="9046989" y="5811250"/>
            <a:ext cx="308877" cy="449275"/>
          </a:xfrm>
          <a:prstGeom prst="rect">
            <a:avLst/>
          </a:prstGeom>
        </p:spPr>
      </p:pic>
      <p:pic>
        <p:nvPicPr>
          <p:cNvPr id="30" name="Picture 29" descr="lock.png"/>
          <p:cNvPicPr>
            <a:picLocks noChangeAspect="1"/>
          </p:cNvPicPr>
          <p:nvPr/>
        </p:nvPicPr>
        <p:blipFill>
          <a:blip r:embed="rId4"/>
          <a:stretch>
            <a:fillRect/>
          </a:stretch>
        </p:blipFill>
        <p:spPr>
          <a:xfrm>
            <a:off x="10859271" y="4013093"/>
            <a:ext cx="308877" cy="449275"/>
          </a:xfrm>
          <a:prstGeom prst="rect">
            <a:avLst/>
          </a:prstGeom>
        </p:spPr>
      </p:pic>
      <p:pic>
        <p:nvPicPr>
          <p:cNvPr id="31" name="Picture 30" descr="lock.png"/>
          <p:cNvPicPr>
            <a:picLocks noChangeAspect="1"/>
          </p:cNvPicPr>
          <p:nvPr/>
        </p:nvPicPr>
        <p:blipFill>
          <a:blip r:embed="rId4"/>
          <a:stretch>
            <a:fillRect/>
          </a:stretch>
        </p:blipFill>
        <p:spPr>
          <a:xfrm>
            <a:off x="10859271" y="5099570"/>
            <a:ext cx="308877" cy="449275"/>
          </a:xfrm>
          <a:prstGeom prst="rect">
            <a:avLst/>
          </a:prstGeom>
        </p:spPr>
      </p:pic>
      <p:pic>
        <p:nvPicPr>
          <p:cNvPr id="32" name="Picture 31" descr="lock.png"/>
          <p:cNvPicPr>
            <a:picLocks noChangeAspect="1"/>
          </p:cNvPicPr>
          <p:nvPr/>
        </p:nvPicPr>
        <p:blipFill>
          <a:blip r:embed="rId4"/>
          <a:stretch>
            <a:fillRect/>
          </a:stretch>
        </p:blipFill>
        <p:spPr>
          <a:xfrm>
            <a:off x="10859271" y="6100840"/>
            <a:ext cx="308877" cy="449275"/>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Europe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Crab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Meat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Claim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Crab Species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Crab Species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Crab Species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Crab Species,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Crab Species segment categorizes the market by crab species.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King Crab</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Mud Crab</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commercially traded crab sp…</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Blue Crab</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Snow Crab</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Dungeness Crab</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Crab Species split shows how demand is distributed across crab species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990_6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83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6_3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966_2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803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6_4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746_3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142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3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429_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622_2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8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417_1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777_9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6_4__605E5C.png"/>
          <p:cNvPicPr>
            <a:picLocks noChangeAspect="1"/>
          </p:cNvPicPr>
          <p:nvPr/>
        </p:nvPicPr>
        <p:blipFill>
          <a:blip r:embed="rId9"/>
          <a:stretch>
            <a:fillRect/>
          </a:stretch>
        </p:blipFill>
        <p:spPr>
          <a:xfrm>
            <a:off x="8905194" y="3272281"/>
            <a:ext cx="982436" cy="361950"/>
          </a:xfrm>
          <a:prstGeom prst="rect">
            <a:avLst/>
          </a:prstGeom>
        </p:spPr>
      </p:pic>
      <p:pic>
        <p:nvPicPr>
          <p:cNvPr id="92" name="Picture 91" descr="365_8_605E5C.png"/>
          <p:cNvPicPr>
            <a:picLocks noChangeAspect="1"/>
          </p:cNvPicPr>
          <p:nvPr/>
        </p:nvPicPr>
        <p:blipFill>
          <a:blip r:embed="rId18"/>
          <a:stretch>
            <a:fillRect/>
          </a:stretch>
        </p:blipFill>
        <p:spPr>
          <a:xfrm>
            <a:off x="10484473" y="2286582"/>
            <a:ext cx="1195728" cy="361950"/>
          </a:xfrm>
          <a:prstGeom prst="rect">
            <a:avLst/>
          </a:prstGeom>
        </p:spPr>
      </p:pic>
      <p:pic>
        <p:nvPicPr>
          <p:cNvPr id="93" name="Picture 92" descr="432_7_605E5C.png"/>
          <p:cNvPicPr>
            <a:picLocks noChangeAspect="1"/>
          </p:cNvPicPr>
          <p:nvPr/>
        </p:nvPicPr>
        <p:blipFill>
          <a:blip r:embed="rId19"/>
          <a:stretch>
            <a:fillRect/>
          </a:stretch>
        </p:blipFill>
        <p:spPr>
          <a:xfrm>
            <a:off x="10484473" y="2779432"/>
            <a:ext cx="1195728" cy="361950"/>
          </a:xfrm>
          <a:prstGeom prst="rect">
            <a:avLst/>
          </a:prstGeom>
        </p:spPr>
      </p:pic>
      <p:pic>
        <p:nvPicPr>
          <p:cNvPr id="94" name="Picture 93" descr="1_7__605E5C.png"/>
          <p:cNvPicPr>
            <a:picLocks noChangeAspect="1"/>
          </p:cNvPicPr>
          <p:nvPr/>
        </p:nvPicPr>
        <p:blipFill>
          <a:blip r:embed="rId20"/>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1"/>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1"/>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1"/>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1"/>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1"/>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1"/>
          <a:stretch>
            <a:fillRect/>
          </a:stretch>
        </p:blipFill>
        <p:spPr>
          <a:xfrm>
            <a:off x="10988992" y="2827057"/>
            <a:ext cx="183356" cy="266700"/>
          </a:xfrm>
          <a:prstGeom prst="rect">
            <a:avLst/>
          </a:prstGeom>
        </p:spPr>
      </p:pic>
      <p:sp>
        <p:nvSpPr>
          <p:cNvPr id="101" name="TextBox 100"/>
          <p:cNvSpPr txBox="1"/>
          <p:nvPr/>
        </p:nvSpPr>
        <p:spPr>
          <a:xfrm>
            <a:off x="485775" y="4229437"/>
            <a:ext cx="2585888" cy="186689"/>
          </a:xfrm>
          <a:prstGeom prst="rect">
            <a:avLst/>
          </a:prstGeom>
          <a:noFill/>
        </p:spPr>
        <p:txBody>
          <a:bodyPr wrap="none" lIns="0" rIns="0" tIns="0" bIns="0">
            <a:spAutoFit/>
          </a:bodyPr>
          <a:lstStyle/>
          <a:p>
            <a:r>
              <a:rPr sz="1100" b="0">
                <a:solidFill>
                  <a:srgbClr val="2E2E2E"/>
                </a:solidFill>
                <a:latin typeface="Calibri"/>
              </a:rPr>
              <a:t>Among crab meat by crab species, mud crab</a:t>
            </a:r>
          </a:p>
        </p:txBody>
      </p:sp>
      <p:sp>
        <p:nvSpPr>
          <p:cNvPr id="102" name="TextBox 101"/>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03" name="TextBox 102"/>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04" name="Picture 103" descr="lock.png"/>
          <p:cNvPicPr>
            <a:picLocks noChangeAspect="1"/>
          </p:cNvPicPr>
          <p:nvPr/>
        </p:nvPicPr>
        <p:blipFill>
          <a:blip r:embed="rId21"/>
          <a:stretch>
            <a:fillRect/>
          </a:stretch>
        </p:blipFill>
        <p:spPr>
          <a:xfrm>
            <a:off x="626261" y="4554938"/>
            <a:ext cx="128699" cy="187198"/>
          </a:xfrm>
          <a:prstGeom prst="rect">
            <a:avLst/>
          </a:prstGeom>
        </p:spPr>
      </p:pic>
      <p:sp>
        <p:nvSpPr>
          <p:cNvPr id="105" name="TextBox 104"/>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06" name="TextBox 105"/>
          <p:cNvSpPr txBox="1"/>
          <p:nvPr/>
        </p:nvSpPr>
        <p:spPr>
          <a:xfrm>
            <a:off x="485775" y="4732357"/>
            <a:ext cx="2726952" cy="186689"/>
          </a:xfrm>
          <a:prstGeom prst="rect">
            <a:avLst/>
          </a:prstGeom>
          <a:noFill/>
        </p:spPr>
        <p:txBody>
          <a:bodyPr wrap="none" lIns="0" rIns="0" tIns="0" bIns="0">
            <a:spAutoFit/>
          </a:bodyPr>
          <a:lstStyle/>
          <a:p>
            <a:r>
              <a:rPr sz="1100" b="0">
                <a:solidFill>
                  <a:srgbClr val="2E2E2E"/>
                </a:solidFill>
                <a:latin typeface="Calibri"/>
              </a:rPr>
              <a:t>share by crab species, the king crab segment is</a:t>
            </a:r>
          </a:p>
        </p:txBody>
      </p:sp>
      <p:sp>
        <p:nvSpPr>
          <p:cNvPr id="107" name="TextBox 106"/>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8" name="Picture 107" descr="lock.png"/>
          <p:cNvPicPr>
            <a:picLocks noChangeAspect="1"/>
          </p:cNvPicPr>
          <p:nvPr/>
        </p:nvPicPr>
        <p:blipFill>
          <a:blip r:embed="rId21"/>
          <a:stretch>
            <a:fillRect/>
          </a:stretch>
        </p:blipFill>
        <p:spPr>
          <a:xfrm>
            <a:off x="2900479" y="4890217"/>
            <a:ext cx="128699" cy="187198"/>
          </a:xfrm>
          <a:prstGeom prst="rect">
            <a:avLst/>
          </a:prstGeom>
        </p:spPr>
      </p:pic>
      <p:sp>
        <p:nvSpPr>
          <p:cNvPr id="109" name="TextBox 108"/>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0" name="TextBox 109"/>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1" name="Picture 110" descr="lock.png"/>
          <p:cNvPicPr>
            <a:picLocks noChangeAspect="1"/>
          </p:cNvPicPr>
          <p:nvPr/>
        </p:nvPicPr>
        <p:blipFill>
          <a:blip r:embed="rId21"/>
          <a:stretch>
            <a:fillRect/>
          </a:stretch>
        </p:blipFill>
        <p:spPr>
          <a:xfrm>
            <a:off x="1576057" y="5057858"/>
            <a:ext cx="128699" cy="187198"/>
          </a:xfrm>
          <a:prstGeom prst="rect">
            <a:avLst/>
          </a:prstGeom>
        </p:spPr>
      </p:pic>
      <p:sp>
        <p:nvSpPr>
          <p:cNvPr id="112" name="TextBox 111"/>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285569"/>
            <a:ext cx="2441550" cy="186689"/>
          </a:xfrm>
          <a:prstGeom prst="rect">
            <a:avLst/>
          </a:prstGeom>
          <a:noFill/>
        </p:spPr>
        <p:txBody>
          <a:bodyPr wrap="none" lIns="0" rIns="0" tIns="0" bIns="0">
            <a:spAutoFit/>
          </a:bodyPr>
          <a:lstStyle/>
          <a:p>
            <a:r>
              <a:rPr sz="1100" b="0">
                <a:solidFill>
                  <a:srgbClr val="2E2E2E"/>
                </a:solidFill>
                <a:latin typeface="Calibri"/>
              </a:rPr>
              <a:t>King crab segment is projected to register</a:t>
            </a:r>
          </a:p>
        </p:txBody>
      </p:sp>
      <p:pic>
        <p:nvPicPr>
          <p:cNvPr id="114" name="Picture 113" descr="lock.png"/>
          <p:cNvPicPr>
            <a:picLocks noChangeAspect="1"/>
          </p:cNvPicPr>
          <p:nvPr/>
        </p:nvPicPr>
        <p:blipFill>
          <a:blip r:embed="rId21"/>
          <a:stretch>
            <a:fillRect/>
          </a:stretch>
        </p:blipFill>
        <p:spPr>
          <a:xfrm>
            <a:off x="2875376" y="5275790"/>
            <a:ext cx="128699" cy="187198"/>
          </a:xfrm>
          <a:prstGeom prst="rect">
            <a:avLst/>
          </a:prstGeom>
        </p:spPr>
      </p:pic>
      <p:sp>
        <p:nvSpPr>
          <p:cNvPr id="115" name="TextBox 114"/>
          <p:cNvSpPr txBox="1"/>
          <p:nvPr/>
        </p:nvSpPr>
        <p:spPr>
          <a:xfrm>
            <a:off x="3042872"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6" name="TextBox 115"/>
          <p:cNvSpPr txBox="1"/>
          <p:nvPr/>
        </p:nvSpPr>
        <p:spPr>
          <a:xfrm>
            <a:off x="485775" y="5453209"/>
            <a:ext cx="2649190" cy="186689"/>
          </a:xfrm>
          <a:prstGeom prst="rect">
            <a:avLst/>
          </a:prstGeom>
          <a:noFill/>
        </p:spPr>
        <p:txBody>
          <a:bodyPr wrap="none" lIns="0" rIns="0" tIns="0" bIns="0">
            <a:spAutoFit/>
          </a:bodyPr>
          <a:lstStyle/>
          <a:p>
            <a:r>
              <a:rPr sz="1100" b="0">
                <a:solidFill>
                  <a:srgbClr val="2E2E2E"/>
                </a:solidFill>
                <a:latin typeface="Calibri"/>
              </a:rPr>
              <a:t>higher value than mud crab segment in 2036.</a:t>
            </a:r>
          </a:p>
        </p:txBody>
      </p:sp>
      <p:sp>
        <p:nvSpPr>
          <p:cNvPr id="117" name="TextBox 116"/>
          <p:cNvSpPr txBox="1"/>
          <p:nvPr/>
        </p:nvSpPr>
        <p:spPr>
          <a:xfrm>
            <a:off x="3838575" y="4229437"/>
            <a:ext cx="768697" cy="186689"/>
          </a:xfrm>
          <a:prstGeom prst="rect">
            <a:avLst/>
          </a:prstGeom>
          <a:noFill/>
        </p:spPr>
        <p:txBody>
          <a:bodyPr wrap="none" lIns="0" rIns="0" tIns="0" bIns="0">
            <a:spAutoFit/>
          </a:bodyPr>
          <a:lstStyle/>
          <a:p>
            <a:r>
              <a:rPr sz="1100" b="0">
                <a:solidFill>
                  <a:srgbClr val="2E2E2E"/>
                </a:solidFill>
                <a:latin typeface="Calibri"/>
              </a:rPr>
              <a:t>● King Crab:</a:t>
            </a:r>
          </a:p>
        </p:txBody>
      </p:sp>
      <p:pic>
        <p:nvPicPr>
          <p:cNvPr id="118" name="Picture 117" descr="lock.png"/>
          <p:cNvPicPr>
            <a:picLocks noChangeAspect="1"/>
          </p:cNvPicPr>
          <p:nvPr/>
        </p:nvPicPr>
        <p:blipFill>
          <a:blip r:embed="rId21"/>
          <a:stretch>
            <a:fillRect/>
          </a:stretch>
        </p:blipFill>
        <p:spPr>
          <a:xfrm>
            <a:off x="4555323" y="4219658"/>
            <a:ext cx="128699" cy="187198"/>
          </a:xfrm>
          <a:prstGeom prst="rect">
            <a:avLst/>
          </a:prstGeom>
        </p:spPr>
      </p:pic>
      <p:sp>
        <p:nvSpPr>
          <p:cNvPr id="119" name="TextBox 118"/>
          <p:cNvSpPr txBox="1"/>
          <p:nvPr/>
        </p:nvSpPr>
        <p:spPr>
          <a:xfrm>
            <a:off x="472281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1"/>
          <a:stretch>
            <a:fillRect/>
          </a:stretch>
        </p:blipFill>
        <p:spPr>
          <a:xfrm>
            <a:off x="5582269" y="4219658"/>
            <a:ext cx="128699" cy="187198"/>
          </a:xfrm>
          <a:prstGeom prst="rect">
            <a:avLst/>
          </a:prstGeom>
        </p:spPr>
      </p:pic>
      <p:sp>
        <p:nvSpPr>
          <p:cNvPr id="121" name="TextBox 120"/>
          <p:cNvSpPr txBox="1"/>
          <p:nvPr/>
        </p:nvSpPr>
        <p:spPr>
          <a:xfrm>
            <a:off x="574976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2" name="TextBox 121"/>
          <p:cNvSpPr txBox="1"/>
          <p:nvPr/>
        </p:nvSpPr>
        <p:spPr>
          <a:xfrm>
            <a:off x="3838575" y="4447369"/>
            <a:ext cx="791071" cy="186689"/>
          </a:xfrm>
          <a:prstGeom prst="rect">
            <a:avLst/>
          </a:prstGeom>
          <a:noFill/>
        </p:spPr>
        <p:txBody>
          <a:bodyPr wrap="none" lIns="0" rIns="0" tIns="0" bIns="0">
            <a:spAutoFit/>
          </a:bodyPr>
          <a:lstStyle/>
          <a:p>
            <a:r>
              <a:rPr sz="1100" b="0">
                <a:solidFill>
                  <a:srgbClr val="2E2E2E"/>
                </a:solidFill>
                <a:latin typeface="Calibri"/>
              </a:rPr>
              <a:t>● Mud Crab:</a:t>
            </a:r>
          </a:p>
        </p:txBody>
      </p:sp>
      <p:pic>
        <p:nvPicPr>
          <p:cNvPr id="123" name="Picture 122" descr="lock.png"/>
          <p:cNvPicPr>
            <a:picLocks noChangeAspect="1"/>
          </p:cNvPicPr>
          <p:nvPr/>
        </p:nvPicPr>
        <p:blipFill>
          <a:blip r:embed="rId21"/>
          <a:stretch>
            <a:fillRect/>
          </a:stretch>
        </p:blipFill>
        <p:spPr>
          <a:xfrm>
            <a:off x="4577697" y="4437590"/>
            <a:ext cx="128699" cy="187198"/>
          </a:xfrm>
          <a:prstGeom prst="rect">
            <a:avLst/>
          </a:prstGeom>
        </p:spPr>
      </p:pic>
      <p:sp>
        <p:nvSpPr>
          <p:cNvPr id="124" name="TextBox 123"/>
          <p:cNvSpPr txBox="1"/>
          <p:nvPr/>
        </p:nvSpPr>
        <p:spPr>
          <a:xfrm>
            <a:off x="47451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1"/>
          <a:stretch>
            <a:fillRect/>
          </a:stretch>
        </p:blipFill>
        <p:spPr>
          <a:xfrm>
            <a:off x="5604643" y="4437590"/>
            <a:ext cx="128699" cy="187198"/>
          </a:xfrm>
          <a:prstGeom prst="rect">
            <a:avLst/>
          </a:prstGeom>
        </p:spPr>
      </p:pic>
      <p:sp>
        <p:nvSpPr>
          <p:cNvPr id="126" name="TextBox 125"/>
          <p:cNvSpPr txBox="1"/>
          <p:nvPr/>
        </p:nvSpPr>
        <p:spPr>
          <a:xfrm>
            <a:off x="57721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7" name="TextBox 126"/>
          <p:cNvSpPr txBox="1"/>
          <p:nvPr/>
        </p:nvSpPr>
        <p:spPr>
          <a:xfrm>
            <a:off x="3838575" y="4665301"/>
            <a:ext cx="2488207" cy="186689"/>
          </a:xfrm>
          <a:prstGeom prst="rect">
            <a:avLst/>
          </a:prstGeom>
          <a:noFill/>
        </p:spPr>
        <p:txBody>
          <a:bodyPr wrap="none" lIns="0" rIns="0" tIns="0" bIns="0">
            <a:spAutoFit/>
          </a:bodyPr>
          <a:lstStyle/>
          <a:p>
            <a:r>
              <a:rPr sz="1100" b="0">
                <a:solidFill>
                  <a:srgbClr val="2E2E2E"/>
                </a:solidFill>
                <a:latin typeface="Calibri"/>
              </a:rPr>
              <a:t>● Other commercially traded crab species:</a:t>
            </a:r>
          </a:p>
        </p:txBody>
      </p:sp>
      <p:pic>
        <p:nvPicPr>
          <p:cNvPr id="128" name="Picture 127" descr="lock.png"/>
          <p:cNvPicPr>
            <a:picLocks noChangeAspect="1"/>
          </p:cNvPicPr>
          <p:nvPr/>
        </p:nvPicPr>
        <p:blipFill>
          <a:blip r:embed="rId21"/>
          <a:stretch>
            <a:fillRect/>
          </a:stretch>
        </p:blipFill>
        <p:spPr>
          <a:xfrm>
            <a:off x="6274834" y="4655522"/>
            <a:ext cx="128699" cy="187198"/>
          </a:xfrm>
          <a:prstGeom prst="rect">
            <a:avLst/>
          </a:prstGeom>
        </p:spPr>
      </p:pic>
      <p:sp>
        <p:nvSpPr>
          <p:cNvPr id="129" name="TextBox 128"/>
          <p:cNvSpPr txBox="1"/>
          <p:nvPr/>
        </p:nvSpPr>
        <p:spPr>
          <a:xfrm>
            <a:off x="644233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1"/>
          <a:stretch>
            <a:fillRect/>
          </a:stretch>
        </p:blipFill>
        <p:spPr>
          <a:xfrm>
            <a:off x="7301780" y="4655522"/>
            <a:ext cx="128699" cy="187198"/>
          </a:xfrm>
          <a:prstGeom prst="rect">
            <a:avLst/>
          </a:prstGeom>
        </p:spPr>
      </p:pic>
      <p:sp>
        <p:nvSpPr>
          <p:cNvPr id="131" name="TextBox 130"/>
          <p:cNvSpPr txBox="1"/>
          <p:nvPr/>
        </p:nvSpPr>
        <p:spPr>
          <a:xfrm>
            <a:off x="3838575"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3838575" y="5050872"/>
            <a:ext cx="776064" cy="186689"/>
          </a:xfrm>
          <a:prstGeom prst="rect">
            <a:avLst/>
          </a:prstGeom>
          <a:noFill/>
        </p:spPr>
        <p:txBody>
          <a:bodyPr wrap="none" lIns="0" rIns="0" tIns="0" bIns="0">
            <a:spAutoFit/>
          </a:bodyPr>
          <a:lstStyle/>
          <a:p>
            <a:r>
              <a:rPr sz="1100" b="0">
                <a:solidFill>
                  <a:srgbClr val="2E2E2E"/>
                </a:solidFill>
                <a:latin typeface="Calibri"/>
              </a:rPr>
              <a:t>● Blue Crab:</a:t>
            </a:r>
          </a:p>
        </p:txBody>
      </p:sp>
      <p:pic>
        <p:nvPicPr>
          <p:cNvPr id="133" name="Picture 132" descr="lock.png"/>
          <p:cNvPicPr>
            <a:picLocks noChangeAspect="1"/>
          </p:cNvPicPr>
          <p:nvPr/>
        </p:nvPicPr>
        <p:blipFill>
          <a:blip r:embed="rId21"/>
          <a:stretch>
            <a:fillRect/>
          </a:stretch>
        </p:blipFill>
        <p:spPr>
          <a:xfrm>
            <a:off x="4562690" y="5041093"/>
            <a:ext cx="128699" cy="187198"/>
          </a:xfrm>
          <a:prstGeom prst="rect">
            <a:avLst/>
          </a:prstGeom>
        </p:spPr>
      </p:pic>
      <p:sp>
        <p:nvSpPr>
          <p:cNvPr id="134" name="TextBox 133"/>
          <p:cNvSpPr txBox="1"/>
          <p:nvPr/>
        </p:nvSpPr>
        <p:spPr>
          <a:xfrm>
            <a:off x="4730186"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1"/>
          <a:stretch>
            <a:fillRect/>
          </a:stretch>
        </p:blipFill>
        <p:spPr>
          <a:xfrm>
            <a:off x="5589636" y="5041093"/>
            <a:ext cx="128699" cy="187198"/>
          </a:xfrm>
          <a:prstGeom prst="rect">
            <a:avLst/>
          </a:prstGeom>
        </p:spPr>
      </p:pic>
      <p:sp>
        <p:nvSpPr>
          <p:cNvPr id="136" name="TextBox 135"/>
          <p:cNvSpPr txBox="1"/>
          <p:nvPr/>
        </p:nvSpPr>
        <p:spPr>
          <a:xfrm>
            <a:off x="5757132"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268804"/>
            <a:ext cx="835818" cy="186689"/>
          </a:xfrm>
          <a:prstGeom prst="rect">
            <a:avLst/>
          </a:prstGeom>
          <a:noFill/>
        </p:spPr>
        <p:txBody>
          <a:bodyPr wrap="none" lIns="0" rIns="0" tIns="0" bIns="0">
            <a:spAutoFit/>
          </a:bodyPr>
          <a:lstStyle/>
          <a:p>
            <a:r>
              <a:rPr sz="1100" b="0">
                <a:solidFill>
                  <a:srgbClr val="2E2E2E"/>
                </a:solidFill>
                <a:latin typeface="Calibri"/>
              </a:rPr>
              <a:t>● Snow Crab:</a:t>
            </a:r>
          </a:p>
        </p:txBody>
      </p:sp>
      <p:pic>
        <p:nvPicPr>
          <p:cNvPr id="138" name="Picture 137" descr="lock.png"/>
          <p:cNvPicPr>
            <a:picLocks noChangeAspect="1"/>
          </p:cNvPicPr>
          <p:nvPr/>
        </p:nvPicPr>
        <p:blipFill>
          <a:blip r:embed="rId21"/>
          <a:stretch>
            <a:fillRect/>
          </a:stretch>
        </p:blipFill>
        <p:spPr>
          <a:xfrm>
            <a:off x="4622445" y="5259025"/>
            <a:ext cx="128699" cy="187198"/>
          </a:xfrm>
          <a:prstGeom prst="rect">
            <a:avLst/>
          </a:prstGeom>
        </p:spPr>
      </p:pic>
      <p:sp>
        <p:nvSpPr>
          <p:cNvPr id="139" name="TextBox 138"/>
          <p:cNvSpPr txBox="1"/>
          <p:nvPr/>
        </p:nvSpPr>
        <p:spPr>
          <a:xfrm>
            <a:off x="4789941"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1"/>
          <a:stretch>
            <a:fillRect/>
          </a:stretch>
        </p:blipFill>
        <p:spPr>
          <a:xfrm>
            <a:off x="5649391" y="5259025"/>
            <a:ext cx="128699" cy="187198"/>
          </a:xfrm>
          <a:prstGeom prst="rect">
            <a:avLst/>
          </a:prstGeom>
        </p:spPr>
      </p:pic>
      <p:sp>
        <p:nvSpPr>
          <p:cNvPr id="141" name="TextBox 140"/>
          <p:cNvSpPr txBox="1"/>
          <p:nvPr/>
        </p:nvSpPr>
        <p:spPr>
          <a:xfrm>
            <a:off x="5816887"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2" name="TextBox 141"/>
          <p:cNvSpPr txBox="1"/>
          <p:nvPr/>
        </p:nvSpPr>
        <p:spPr>
          <a:xfrm>
            <a:off x="3838575" y="5486736"/>
            <a:ext cx="1144959" cy="186689"/>
          </a:xfrm>
          <a:prstGeom prst="rect">
            <a:avLst/>
          </a:prstGeom>
          <a:noFill/>
        </p:spPr>
        <p:txBody>
          <a:bodyPr wrap="none" lIns="0" rIns="0" tIns="0" bIns="0">
            <a:spAutoFit/>
          </a:bodyPr>
          <a:lstStyle/>
          <a:p>
            <a:r>
              <a:rPr sz="1100" b="0">
                <a:solidFill>
                  <a:srgbClr val="2E2E2E"/>
                </a:solidFill>
                <a:latin typeface="Calibri"/>
              </a:rPr>
              <a:t>● Dungeness Crab:</a:t>
            </a:r>
          </a:p>
        </p:txBody>
      </p:sp>
      <p:pic>
        <p:nvPicPr>
          <p:cNvPr id="143" name="Picture 142" descr="lock.png"/>
          <p:cNvPicPr>
            <a:picLocks noChangeAspect="1"/>
          </p:cNvPicPr>
          <p:nvPr/>
        </p:nvPicPr>
        <p:blipFill>
          <a:blip r:embed="rId21"/>
          <a:stretch>
            <a:fillRect/>
          </a:stretch>
        </p:blipFill>
        <p:spPr>
          <a:xfrm>
            <a:off x="4931586" y="5476957"/>
            <a:ext cx="128699" cy="187198"/>
          </a:xfrm>
          <a:prstGeom prst="rect">
            <a:avLst/>
          </a:prstGeom>
        </p:spPr>
      </p:pic>
      <p:sp>
        <p:nvSpPr>
          <p:cNvPr id="144" name="TextBox 143"/>
          <p:cNvSpPr txBox="1"/>
          <p:nvPr/>
        </p:nvSpPr>
        <p:spPr>
          <a:xfrm>
            <a:off x="5099081"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1"/>
          <a:stretch>
            <a:fillRect/>
          </a:stretch>
        </p:blipFill>
        <p:spPr>
          <a:xfrm>
            <a:off x="5958532" y="5476957"/>
            <a:ext cx="128699" cy="187198"/>
          </a:xfrm>
          <a:prstGeom prst="rect">
            <a:avLst/>
          </a:prstGeom>
        </p:spPr>
      </p:pic>
      <p:sp>
        <p:nvSpPr>
          <p:cNvPr id="146" name="TextBox 145"/>
          <p:cNvSpPr txBox="1"/>
          <p:nvPr/>
        </p:nvSpPr>
        <p:spPr>
          <a:xfrm>
            <a:off x="6126028"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7" name="TextBox 146"/>
          <p:cNvSpPr txBox="1"/>
          <p:nvPr/>
        </p:nvSpPr>
        <p:spPr>
          <a:xfrm>
            <a:off x="8524875" y="5842641"/>
            <a:ext cx="3161791" cy="194310"/>
          </a:xfrm>
          <a:prstGeom prst="rect">
            <a:avLst/>
          </a:prstGeom>
          <a:noFill/>
        </p:spPr>
        <p:txBody>
          <a:bodyPr wrap="none" lIns="0" rIns="0" tIns="0" bIns="0">
            <a:spAutoFit/>
          </a:bodyPr>
          <a:lstStyle/>
          <a:p>
            <a:r>
              <a:rPr sz="1150" b="1">
                <a:solidFill>
                  <a:srgbClr val="0B2E4A"/>
                </a:solidFill>
                <a:latin typeface="Calibri"/>
              </a:rPr>
              <a:t>The Crab Species segment is projected to grow at a</a:t>
            </a:r>
          </a:p>
        </p:txBody>
      </p:sp>
      <p:sp>
        <p:nvSpPr>
          <p:cNvPr id="148" name="TextBox 14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49" name="Picture 148" descr="lock.png"/>
          <p:cNvPicPr>
            <a:picLocks noChangeAspect="1"/>
          </p:cNvPicPr>
          <p:nvPr/>
        </p:nvPicPr>
        <p:blipFill>
          <a:blip r:embed="rId21"/>
          <a:stretch>
            <a:fillRect/>
          </a:stretch>
        </p:blipFill>
        <p:spPr>
          <a:xfrm>
            <a:off x="9048826" y="6007677"/>
            <a:ext cx="134549" cy="195707"/>
          </a:xfrm>
          <a:prstGeom prst="rect">
            <a:avLst/>
          </a:prstGeom>
        </p:spPr>
      </p:pic>
      <p:sp>
        <p:nvSpPr>
          <p:cNvPr id="150" name="TextBox 14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Crab Species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Crab Species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Crab Species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Crab Species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King crab followed by mud crab are expected to be the two most attractive crab species segments in the Europe crab meat market in terms of value over the forecast period. King crab and mud crab exhibit</a:t>
            </a:r>
          </a:p>
        </p:txBody>
      </p:sp>
      <p:sp>
        <p:nvSpPr>
          <p:cNvPr id="20" name="TextBox 19"/>
          <p:cNvSpPr txBox="1"/>
          <p:nvPr/>
        </p:nvSpPr>
        <p:spPr>
          <a:xfrm>
            <a:off x="257175" y="5945505"/>
            <a:ext cx="982595" cy="186689"/>
          </a:xfrm>
          <a:prstGeom prst="rect">
            <a:avLst/>
          </a:prstGeom>
          <a:noFill/>
        </p:spPr>
        <p:txBody>
          <a:bodyPr wrap="none" lIns="0" rIns="0" tIns="0" bIns="0">
            <a:spAutoFit/>
          </a:bodyPr>
          <a:lstStyle/>
          <a:p>
            <a:r>
              <a:rPr sz="1100" b="0">
                <a:solidFill>
                  <a:srgbClr val="2E2E2E"/>
                </a:solidFill>
                <a:latin typeface="Calibri"/>
              </a:rPr>
              <a:t>a CAGR index of</a:t>
            </a:r>
          </a:p>
        </p:txBody>
      </p:sp>
      <p:pic>
        <p:nvPicPr>
          <p:cNvPr id="21" name="Picture 20" descr="lock.png"/>
          <p:cNvPicPr>
            <a:picLocks noChangeAspect="1"/>
          </p:cNvPicPr>
          <p:nvPr/>
        </p:nvPicPr>
        <p:blipFill>
          <a:blip r:embed="rId6"/>
          <a:stretch>
            <a:fillRect/>
          </a:stretch>
        </p:blipFill>
        <p:spPr>
          <a:xfrm>
            <a:off x="1187822" y="5935726"/>
            <a:ext cx="128699" cy="187198"/>
          </a:xfrm>
          <a:prstGeom prst="rect">
            <a:avLst/>
          </a:prstGeom>
        </p:spPr>
      </p:pic>
      <p:sp>
        <p:nvSpPr>
          <p:cNvPr id="22" name="TextBox 21"/>
          <p:cNvSpPr txBox="1"/>
          <p:nvPr/>
        </p:nvSpPr>
        <p:spPr>
          <a:xfrm>
            <a:off x="135531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593212" y="5935726"/>
            <a:ext cx="128699" cy="187198"/>
          </a:xfrm>
          <a:prstGeom prst="rect">
            <a:avLst/>
          </a:prstGeom>
        </p:spPr>
      </p:pic>
      <p:sp>
        <p:nvSpPr>
          <p:cNvPr id="24" name="TextBox 23"/>
          <p:cNvSpPr txBox="1"/>
          <p:nvPr/>
        </p:nvSpPr>
        <p:spPr>
          <a:xfrm>
            <a:off x="176070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369681" y="5935726"/>
            <a:ext cx="128699" cy="187198"/>
          </a:xfrm>
          <a:prstGeom prst="rect">
            <a:avLst/>
          </a:prstGeom>
        </p:spPr>
      </p:pic>
      <p:sp>
        <p:nvSpPr>
          <p:cNvPr id="26" name="TextBox 25"/>
          <p:cNvSpPr txBox="1"/>
          <p:nvPr/>
        </p:nvSpPr>
        <p:spPr>
          <a:xfrm>
            <a:off x="353717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3775072" y="5935726"/>
            <a:ext cx="128699" cy="187198"/>
          </a:xfrm>
          <a:prstGeom prst="rect">
            <a:avLst/>
          </a:prstGeom>
        </p:spPr>
      </p:pic>
      <p:sp>
        <p:nvSpPr>
          <p:cNvPr id="28" name="TextBox 27"/>
          <p:cNvSpPr txBox="1"/>
          <p:nvPr/>
        </p:nvSpPr>
        <p:spPr>
          <a:xfrm>
            <a:off x="3942567"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496972" y="5935726"/>
            <a:ext cx="128699" cy="187198"/>
          </a:xfrm>
          <a:prstGeom prst="rect">
            <a:avLst/>
          </a:prstGeom>
        </p:spPr>
      </p:pic>
      <p:sp>
        <p:nvSpPr>
          <p:cNvPr id="30" name="TextBox 29"/>
          <p:cNvSpPr txBox="1"/>
          <p:nvPr/>
        </p:nvSpPr>
        <p:spPr>
          <a:xfrm>
            <a:off x="6664467" y="5945505"/>
            <a:ext cx="4530774" cy="186689"/>
          </a:xfrm>
          <a:prstGeom prst="rect">
            <a:avLst/>
          </a:prstGeom>
          <a:noFill/>
        </p:spPr>
        <p:txBody>
          <a:bodyPr wrap="none" lIns="0" rIns="0" tIns="0" bIns="0">
            <a:spAutoFit/>
          </a:bodyPr>
          <a:lstStyle/>
          <a:p>
            <a:r>
              <a:rPr sz="1100" b="0">
                <a:solidFill>
                  <a:srgbClr val="2E2E2E"/>
                </a:solidFill>
                <a:latin typeface="Calibri"/>
              </a:rPr>
              <a:t>. The dungeness crab segment is expected to be less attractive as compared to</a:t>
            </a:r>
          </a:p>
        </p:txBody>
      </p:sp>
      <p:sp>
        <p:nvSpPr>
          <p:cNvPr id="31" name="TextBox 30"/>
          <p:cNvSpPr txBox="1"/>
          <p:nvPr/>
        </p:nvSpPr>
        <p:spPr>
          <a:xfrm>
            <a:off x="257175" y="6113145"/>
            <a:ext cx="9845888" cy="186689"/>
          </a:xfrm>
          <a:prstGeom prst="rect">
            <a:avLst/>
          </a:prstGeom>
          <a:noFill/>
        </p:spPr>
        <p:txBody>
          <a:bodyPr wrap="none" lIns="0" rIns="0" tIns="0" bIns="0">
            <a:spAutoFit/>
          </a:bodyPr>
          <a:lstStyle/>
          <a:p>
            <a:r>
              <a:rPr sz="1100" b="0">
                <a:solidFill>
                  <a:srgbClr val="2E2E2E"/>
                </a:solidFill>
                <a:latin typeface="Calibri"/>
              </a:rPr>
              <a:t>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Crab Species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Crab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Blue Crab</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King Crab</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Snow Crab</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Dungeness Crab</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Crab Species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Crab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Mud Crab</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Other commercially traded crab species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Europe Absolute $ Opportunity Analysis, By Crab Species</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400175"/>
            <a:ext cx="4039495" cy="194310"/>
          </a:xfrm>
          <a:prstGeom prst="rect">
            <a:avLst/>
          </a:prstGeom>
          <a:noFill/>
        </p:spPr>
        <p:txBody>
          <a:bodyPr wrap="none" lIns="0" rIns="0" tIns="0" bIns="0">
            <a:spAutoFit/>
          </a:bodyPr>
          <a:lstStyle/>
          <a:p>
            <a:r>
              <a:rPr sz="1150" b="0">
                <a:solidFill>
                  <a:srgbClr val="2E2E2E"/>
                </a:solidFill>
                <a:latin typeface="Calibri"/>
              </a:rPr>
              <a:t>By 2036, king crab segment is anticipated to witness an increase of</a:t>
            </a:r>
          </a:p>
        </p:txBody>
      </p:sp>
      <p:pic>
        <p:nvPicPr>
          <p:cNvPr id="24" name="Picture 23" descr="lock.png"/>
          <p:cNvPicPr>
            <a:picLocks noChangeAspect="1"/>
          </p:cNvPicPr>
          <p:nvPr/>
        </p:nvPicPr>
        <p:blipFill>
          <a:blip r:embed="rId6"/>
          <a:stretch>
            <a:fillRect/>
          </a:stretch>
        </p:blipFill>
        <p:spPr>
          <a:xfrm>
            <a:off x="10294199" y="1389951"/>
            <a:ext cx="134549" cy="195707"/>
          </a:xfrm>
          <a:prstGeom prst="rect">
            <a:avLst/>
          </a:prstGeom>
        </p:spPr>
      </p:pic>
      <p:sp>
        <p:nvSpPr>
          <p:cNvPr id="25" name="TextBox 24"/>
          <p:cNvSpPr txBox="1"/>
          <p:nvPr/>
        </p:nvSpPr>
        <p:spPr>
          <a:xfrm>
            <a:off x="10469308"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6" name="TextBox 25"/>
          <p:cNvSpPr txBox="1"/>
          <p:nvPr/>
        </p:nvSpPr>
        <p:spPr>
          <a:xfrm>
            <a:off x="6305550" y="1575435"/>
            <a:ext cx="5519985" cy="194310"/>
          </a:xfrm>
          <a:prstGeom prst="rect">
            <a:avLst/>
          </a:prstGeom>
          <a:noFill/>
        </p:spPr>
        <p:txBody>
          <a:bodyPr wrap="none" lIns="0" rIns="0" tIns="0" bIns="0">
            <a:spAutoFit/>
          </a:bodyPr>
          <a:lstStyle/>
          <a:p>
            <a:r>
              <a:rPr sz="1150" b="0">
                <a:solidFill>
                  <a:srgbClr val="2E2E2E"/>
                </a:solidFill>
                <a:latin typeface="Calibri"/>
              </a:rPr>
              <a:t>compared to 2026. The king crab segment is expected to create an incremental opportunity</a:t>
            </a:r>
          </a:p>
        </p:txBody>
      </p:sp>
      <p:sp>
        <p:nvSpPr>
          <p:cNvPr id="27" name="TextBox 26"/>
          <p:cNvSpPr txBox="1"/>
          <p:nvPr/>
        </p:nvSpPr>
        <p:spPr>
          <a:xfrm>
            <a:off x="6305550" y="1750695"/>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28" name="Picture 27" descr="lock.png"/>
          <p:cNvPicPr>
            <a:picLocks noChangeAspect="1"/>
          </p:cNvPicPr>
          <p:nvPr/>
        </p:nvPicPr>
        <p:blipFill>
          <a:blip r:embed="rId6"/>
          <a:stretch>
            <a:fillRect/>
          </a:stretch>
        </p:blipFill>
        <p:spPr>
          <a:xfrm>
            <a:off x="6720560" y="1740471"/>
            <a:ext cx="134549" cy="195707"/>
          </a:xfrm>
          <a:prstGeom prst="rect">
            <a:avLst/>
          </a:prstGeom>
        </p:spPr>
      </p:pic>
      <p:sp>
        <p:nvSpPr>
          <p:cNvPr id="29" name="TextBox 28"/>
          <p:cNvSpPr txBox="1"/>
          <p:nvPr/>
        </p:nvSpPr>
        <p:spPr>
          <a:xfrm>
            <a:off x="6895670"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0" name="TextBox 29"/>
          <p:cNvSpPr txBox="1"/>
          <p:nvPr/>
        </p:nvSpPr>
        <p:spPr>
          <a:xfrm>
            <a:off x="6305550" y="1978533"/>
            <a:ext cx="4805709" cy="194310"/>
          </a:xfrm>
          <a:prstGeom prst="rect">
            <a:avLst/>
          </a:prstGeom>
          <a:noFill/>
        </p:spPr>
        <p:txBody>
          <a:bodyPr wrap="none" lIns="0" rIns="0" tIns="0" bIns="0">
            <a:spAutoFit/>
          </a:bodyPr>
          <a:lstStyle/>
          <a:p>
            <a:r>
              <a:rPr sz="1150" b="0">
                <a:solidFill>
                  <a:srgbClr val="2E2E2E"/>
                </a:solidFill>
                <a:latin typeface="Calibri"/>
              </a:rPr>
              <a:t>The mud crab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60413" y="1968309"/>
            <a:ext cx="134549" cy="195707"/>
          </a:xfrm>
          <a:prstGeom prst="rect">
            <a:avLst/>
          </a:prstGeom>
        </p:spPr>
      </p:pic>
      <p:sp>
        <p:nvSpPr>
          <p:cNvPr id="32" name="TextBox 31"/>
          <p:cNvSpPr txBox="1"/>
          <p:nvPr/>
        </p:nvSpPr>
        <p:spPr>
          <a:xfrm>
            <a:off x="11235522" y="197853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153793"/>
            <a:ext cx="5591175" cy="194310"/>
          </a:xfrm>
          <a:prstGeom prst="rect">
            <a:avLst/>
          </a:prstGeom>
          <a:noFill/>
        </p:spPr>
        <p:txBody>
          <a:bodyPr wrap="none" lIns="0" rIns="0" tIns="0" bIns="0">
            <a:spAutoFit/>
          </a:bodyPr>
          <a:lstStyle/>
          <a:p>
            <a:r>
              <a:rPr sz="1150" b="0">
                <a:solidFill>
                  <a:srgbClr val="2E2E2E"/>
                </a:solidFill>
                <a:latin typeface="Calibri"/>
              </a:rPr>
              <a:t>the overall crab meat market from 2026 to 2036. The other commercially traded crab species</a:t>
            </a:r>
          </a:p>
        </p:txBody>
      </p:sp>
      <p:sp>
        <p:nvSpPr>
          <p:cNvPr id="34" name="TextBox 33"/>
          <p:cNvSpPr txBox="1"/>
          <p:nvPr/>
        </p:nvSpPr>
        <p:spPr>
          <a:xfrm>
            <a:off x="6305550" y="232905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318829"/>
            <a:ext cx="134549" cy="195707"/>
          </a:xfrm>
          <a:prstGeom prst="rect">
            <a:avLst/>
          </a:prstGeom>
        </p:spPr>
      </p:pic>
      <p:sp>
        <p:nvSpPr>
          <p:cNvPr id="36" name="TextBox 35"/>
          <p:cNvSpPr txBox="1"/>
          <p:nvPr/>
        </p:nvSpPr>
        <p:spPr>
          <a:xfrm>
            <a:off x="10385751" y="2329053"/>
            <a:ext cx="1444848" cy="194310"/>
          </a:xfrm>
          <a:prstGeom prst="rect">
            <a:avLst/>
          </a:prstGeom>
          <a:noFill/>
        </p:spPr>
        <p:txBody>
          <a:bodyPr wrap="none" lIns="0" rIns="0" tIns="0" bIns="0">
            <a:spAutoFit/>
          </a:bodyPr>
          <a:lstStyle/>
          <a:p>
            <a:r>
              <a:rPr sz="1150" b="0">
                <a:solidFill>
                  <a:srgbClr val="2E2E2E"/>
                </a:solidFill>
                <a:latin typeface="Calibri"/>
              </a:rPr>
              <a:t>Mn for the overall crab</a:t>
            </a:r>
          </a:p>
        </p:txBody>
      </p:sp>
      <p:sp>
        <p:nvSpPr>
          <p:cNvPr id="37" name="TextBox 36"/>
          <p:cNvSpPr txBox="1"/>
          <p:nvPr/>
        </p:nvSpPr>
        <p:spPr>
          <a:xfrm>
            <a:off x="6305550" y="2504313"/>
            <a:ext cx="2021346" cy="194310"/>
          </a:xfrm>
          <a:prstGeom prst="rect">
            <a:avLst/>
          </a:prstGeom>
          <a:noFill/>
        </p:spPr>
        <p:txBody>
          <a:bodyPr wrap="none" lIns="0" rIns="0" tIns="0" bIns="0">
            <a:spAutoFit/>
          </a:bodyPr>
          <a:lstStyle/>
          <a:p>
            <a:r>
              <a:rPr sz="1150" b="0">
                <a:solidFill>
                  <a:srgbClr val="2E2E2E"/>
                </a:solidFill>
                <a:latin typeface="Calibri"/>
              </a:rPr>
              <a:t>meat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Crab Species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Crab Species,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Crab Species (US$ Mn)</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2792387"/>
                <a:gridCol w="546312"/>
                <a:gridCol w="546312"/>
                <a:gridCol w="546312"/>
                <a:gridCol w="546312"/>
                <a:gridCol w="546312"/>
                <a:gridCol w="527067"/>
                <a:gridCol w="521569"/>
                <a:gridCol w="521569"/>
                <a:gridCol w="521569"/>
                <a:gridCol w="521569"/>
                <a:gridCol w="521569"/>
                <a:gridCol w="521569"/>
                <a:gridCol w="521569"/>
                <a:gridCol w="521569"/>
                <a:gridCol w="521569"/>
                <a:gridCol w="521569"/>
                <a:gridCol w="620496"/>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Blue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King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Snow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Dungeness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Mud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commercially traded crab species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Crab Species</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05503" y="2080450"/>
            <a:ext cx="366712" cy="533400"/>
          </a:xfrm>
          <a:prstGeom prst="rect">
            <a:avLst/>
          </a:prstGeom>
        </p:spPr>
      </p:pic>
      <p:sp>
        <p:nvSpPr>
          <p:cNvPr id="20" name="TextBox 19"/>
          <p:cNvSpPr txBox="1"/>
          <p:nvPr/>
        </p:nvSpPr>
        <p:spPr>
          <a:xfrm>
            <a:off x="276225" y="3971925"/>
            <a:ext cx="2549066" cy="194310"/>
          </a:xfrm>
          <a:prstGeom prst="rect">
            <a:avLst/>
          </a:prstGeom>
          <a:noFill/>
        </p:spPr>
        <p:txBody>
          <a:bodyPr wrap="none" lIns="0" rIns="0" tIns="0" bIns="0">
            <a:spAutoFit/>
          </a:bodyPr>
          <a:lstStyle/>
          <a:p>
            <a:r>
              <a:rPr sz="1150" b="0">
                <a:solidFill>
                  <a:srgbClr val="2E2E2E"/>
                </a:solidFill>
                <a:latin typeface="Calibri"/>
              </a:rPr>
              <a:t>King crab segment is projected to register</a:t>
            </a:r>
          </a:p>
        </p:txBody>
      </p:sp>
      <p:pic>
        <p:nvPicPr>
          <p:cNvPr id="21" name="Picture 20" descr="lock.png"/>
          <p:cNvPicPr>
            <a:picLocks noChangeAspect="1"/>
          </p:cNvPicPr>
          <p:nvPr/>
        </p:nvPicPr>
        <p:blipFill>
          <a:blip r:embed="rId4"/>
          <a:stretch>
            <a:fillRect/>
          </a:stretch>
        </p:blipFill>
        <p:spPr>
          <a:xfrm>
            <a:off x="2774445" y="3961701"/>
            <a:ext cx="134549" cy="195707"/>
          </a:xfrm>
          <a:prstGeom prst="rect">
            <a:avLst/>
          </a:prstGeom>
        </p:spPr>
      </p:pic>
      <p:sp>
        <p:nvSpPr>
          <p:cNvPr id="22" name="TextBox 21"/>
          <p:cNvSpPr txBox="1"/>
          <p:nvPr/>
        </p:nvSpPr>
        <p:spPr>
          <a:xfrm>
            <a:off x="2949554" y="3971925"/>
            <a:ext cx="8645494" cy="194310"/>
          </a:xfrm>
          <a:prstGeom prst="rect">
            <a:avLst/>
          </a:prstGeom>
          <a:noFill/>
        </p:spPr>
        <p:txBody>
          <a:bodyPr wrap="none" lIns="0" rIns="0" tIns="0" bIns="0">
            <a:spAutoFit/>
          </a:bodyPr>
          <a:lstStyle/>
          <a:p>
            <a:r>
              <a:rPr sz="1150" b="0">
                <a:solidFill>
                  <a:srgbClr val="2E2E2E"/>
                </a:solidFill>
                <a:latin typeface="Calibri"/>
              </a:rPr>
              <a:t>X higher value than mud crab segment in 2036. Among crab meat by crab species, mud crab segment is expected to witness the highest CAGR of</a:t>
            </a:r>
          </a:p>
        </p:txBody>
      </p:sp>
      <p:pic>
        <p:nvPicPr>
          <p:cNvPr id="23" name="Picture 22" descr="lock.png"/>
          <p:cNvPicPr>
            <a:picLocks noChangeAspect="1"/>
          </p:cNvPicPr>
          <p:nvPr/>
        </p:nvPicPr>
        <p:blipFill>
          <a:blip r:embed="rId4"/>
          <a:stretch>
            <a:fillRect/>
          </a:stretch>
        </p:blipFill>
        <p:spPr>
          <a:xfrm>
            <a:off x="11544203" y="3961701"/>
            <a:ext cx="134549" cy="195707"/>
          </a:xfrm>
          <a:prstGeom prst="rect">
            <a:avLst/>
          </a:prstGeom>
        </p:spPr>
      </p:pic>
      <p:sp>
        <p:nvSpPr>
          <p:cNvPr id="24" name="TextBox 23"/>
          <p:cNvSpPr txBox="1"/>
          <p:nvPr/>
        </p:nvSpPr>
        <p:spPr>
          <a:xfrm>
            <a:off x="27622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375022"/>
            <a:ext cx="6412545" cy="194310"/>
          </a:xfrm>
          <a:prstGeom prst="rect">
            <a:avLst/>
          </a:prstGeom>
          <a:noFill/>
        </p:spPr>
        <p:txBody>
          <a:bodyPr wrap="none" lIns="0" rIns="0" tIns="0" bIns="0">
            <a:spAutoFit/>
          </a:bodyPr>
          <a:lstStyle/>
          <a:p>
            <a:r>
              <a:rPr sz="1150" b="0">
                <a:solidFill>
                  <a:srgbClr val="2E2E2E"/>
                </a:solidFill>
                <a:latin typeface="Calibri"/>
              </a:rPr>
              <a:t>In terms of value share by crab species, the king crab segment is expected to dominate the market, gaining</a:t>
            </a:r>
          </a:p>
        </p:txBody>
      </p:sp>
      <p:pic>
        <p:nvPicPr>
          <p:cNvPr id="26" name="Picture 25" descr="lock.png"/>
          <p:cNvPicPr>
            <a:picLocks noChangeAspect="1"/>
          </p:cNvPicPr>
          <p:nvPr/>
        </p:nvPicPr>
        <p:blipFill>
          <a:blip r:embed="rId4"/>
          <a:stretch>
            <a:fillRect/>
          </a:stretch>
        </p:blipFill>
        <p:spPr>
          <a:xfrm>
            <a:off x="6637923" y="4364799"/>
            <a:ext cx="134549" cy="195707"/>
          </a:xfrm>
          <a:prstGeom prst="rect">
            <a:avLst/>
          </a:prstGeom>
        </p:spPr>
      </p:pic>
      <p:sp>
        <p:nvSpPr>
          <p:cNvPr id="27" name="TextBox 26"/>
          <p:cNvSpPr txBox="1"/>
          <p:nvPr/>
        </p:nvSpPr>
        <p:spPr>
          <a:xfrm>
            <a:off x="681303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208176" y="4364799"/>
            <a:ext cx="134549" cy="195707"/>
          </a:xfrm>
          <a:prstGeom prst="rect">
            <a:avLst/>
          </a:prstGeom>
        </p:spPr>
      </p:pic>
      <p:sp>
        <p:nvSpPr>
          <p:cNvPr id="29" name="TextBox 28"/>
          <p:cNvSpPr txBox="1"/>
          <p:nvPr/>
        </p:nvSpPr>
        <p:spPr>
          <a:xfrm>
            <a:off x="8383285" y="4375022"/>
            <a:ext cx="2831752" cy="194310"/>
          </a:xfrm>
          <a:prstGeom prst="rect">
            <a:avLst/>
          </a:prstGeom>
          <a:noFill/>
        </p:spPr>
        <p:txBody>
          <a:bodyPr wrap="none" lIns="0" rIns="0" tIns="0" bIns="0">
            <a:spAutoFit/>
          </a:bodyPr>
          <a:lstStyle/>
          <a:p>
            <a:r>
              <a:rPr sz="1150" b="0">
                <a:solidFill>
                  <a:srgbClr val="2E2E2E"/>
                </a:solidFill>
                <a:latin typeface="Calibri"/>
              </a:rPr>
              <a:t>share by 2036. The dungeness crab segment is</a:t>
            </a:r>
          </a:p>
        </p:txBody>
      </p:sp>
      <p:sp>
        <p:nvSpPr>
          <p:cNvPr id="30" name="TextBox 29"/>
          <p:cNvSpPr txBox="1"/>
          <p:nvPr/>
        </p:nvSpPr>
        <p:spPr>
          <a:xfrm>
            <a:off x="276225" y="455028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1" name="Picture 30" descr="lock.png"/>
          <p:cNvPicPr>
            <a:picLocks noChangeAspect="1"/>
          </p:cNvPicPr>
          <p:nvPr/>
        </p:nvPicPr>
        <p:blipFill>
          <a:blip r:embed="rId4"/>
          <a:stretch>
            <a:fillRect/>
          </a:stretch>
        </p:blipFill>
        <p:spPr>
          <a:xfrm>
            <a:off x="1280285" y="4540059"/>
            <a:ext cx="134549" cy="195707"/>
          </a:xfrm>
          <a:prstGeom prst="rect">
            <a:avLst/>
          </a:prstGeom>
        </p:spPr>
      </p:pic>
      <p:sp>
        <p:nvSpPr>
          <p:cNvPr id="32" name="TextBox 31"/>
          <p:cNvSpPr txBox="1"/>
          <p:nvPr/>
        </p:nvSpPr>
        <p:spPr>
          <a:xfrm>
            <a:off x="14553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4042898" y="4540059"/>
            <a:ext cx="134549" cy="195707"/>
          </a:xfrm>
          <a:prstGeom prst="rect">
            <a:avLst/>
          </a:prstGeom>
        </p:spPr>
      </p:pic>
      <p:sp>
        <p:nvSpPr>
          <p:cNvPr id="34" name="TextBox 33"/>
          <p:cNvSpPr txBox="1"/>
          <p:nvPr/>
        </p:nvSpPr>
        <p:spPr>
          <a:xfrm>
            <a:off x="42180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Crab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Crab Species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Crab Species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2089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1612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399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Dungeness Crab</a:t>
            </a:r>
          </a:p>
        </p:txBody>
      </p:sp>
      <p:sp>
        <p:nvSpPr>
          <p:cNvPr id="18" name="BPS Value 1"/>
          <p:cNvSpPr txBox="1"/>
          <p:nvPr/>
        </p:nvSpPr>
        <p:spPr>
          <a:xfrm>
            <a:off x="6896100" y="180184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8570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809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047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Blue Crab</a:t>
            </a:r>
          </a:p>
        </p:txBody>
      </p:sp>
      <p:sp>
        <p:nvSpPr>
          <p:cNvPr id="22" name="BPS Value 2"/>
          <p:cNvSpPr txBox="1"/>
          <p:nvPr/>
        </p:nvSpPr>
        <p:spPr>
          <a:xfrm>
            <a:off x="6896100" y="216665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6992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66516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889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Snow Crab</a:t>
            </a:r>
          </a:p>
        </p:txBody>
      </p:sp>
      <p:sp>
        <p:nvSpPr>
          <p:cNvPr id="26" name="BPS Value 3"/>
          <p:cNvSpPr txBox="1"/>
          <p:nvPr/>
        </p:nvSpPr>
        <p:spPr>
          <a:xfrm>
            <a:off x="6896100" y="265087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33375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3289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25279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commercially traded crab species</a:t>
            </a:r>
          </a:p>
        </p:txBody>
      </p:sp>
      <p:sp>
        <p:nvSpPr>
          <p:cNvPr id="30" name="BPS Value 4"/>
          <p:cNvSpPr txBox="1"/>
          <p:nvPr/>
        </p:nvSpPr>
        <p:spPr>
          <a:xfrm>
            <a:off x="6896100" y="33147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35227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34751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27131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Mud Crab</a:t>
            </a:r>
          </a:p>
        </p:txBody>
      </p:sp>
      <p:sp>
        <p:nvSpPr>
          <p:cNvPr id="34" name="BPS Value 5"/>
          <p:cNvSpPr txBox="1"/>
          <p:nvPr/>
        </p:nvSpPr>
        <p:spPr>
          <a:xfrm>
            <a:off x="6896100" y="433322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60981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60505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2885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King Crab</a:t>
            </a:r>
          </a:p>
        </p:txBody>
      </p:sp>
      <p:sp>
        <p:nvSpPr>
          <p:cNvPr id="38" name="BPS Value 6"/>
          <p:cNvSpPr txBox="1"/>
          <p:nvPr/>
        </p:nvSpPr>
        <p:spPr>
          <a:xfrm>
            <a:off x="6896100" y="559076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Crab Species</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crab species, mud crab segment is expected to</a:t>
            </a:r>
          </a:p>
        </p:txBody>
      </p:sp>
      <p:sp>
        <p:nvSpPr>
          <p:cNvPr id="46" name="TextBox 45"/>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7" name="Picture 46" descr="lock.png"/>
          <p:cNvPicPr>
            <a:picLocks noChangeAspect="1"/>
          </p:cNvPicPr>
          <p:nvPr/>
        </p:nvPicPr>
        <p:blipFill>
          <a:blip r:embed="rId5"/>
          <a:stretch>
            <a:fillRect/>
          </a:stretch>
        </p:blipFill>
        <p:spPr>
          <a:xfrm>
            <a:off x="9526474" y="1565211"/>
            <a:ext cx="134549" cy="195707"/>
          </a:xfrm>
          <a:prstGeom prst="rect">
            <a:avLst/>
          </a:prstGeom>
        </p:spPr>
      </p:pic>
      <p:sp>
        <p:nvSpPr>
          <p:cNvPr id="48" name="TextBox 47"/>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9" name="TextBox 48"/>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of value share by crab species, the king crab segment is expected to</a:t>
            </a:r>
          </a:p>
        </p:txBody>
      </p:sp>
      <p:sp>
        <p:nvSpPr>
          <p:cNvPr id="50" name="TextBox 49"/>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1" name="Picture 50" descr="lock.png"/>
          <p:cNvPicPr>
            <a:picLocks noChangeAspect="1"/>
          </p:cNvPicPr>
          <p:nvPr/>
        </p:nvPicPr>
        <p:blipFill>
          <a:blip r:embed="rId5"/>
          <a:stretch>
            <a:fillRect/>
          </a:stretch>
        </p:blipFill>
        <p:spPr>
          <a:xfrm>
            <a:off x="9615776" y="1915731"/>
            <a:ext cx="134549" cy="195707"/>
          </a:xfrm>
          <a:prstGeom prst="rect">
            <a:avLst/>
          </a:prstGeom>
        </p:spPr>
      </p:pic>
      <p:sp>
        <p:nvSpPr>
          <p:cNvPr id="52" name="TextBox 51"/>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11186028" y="1915731"/>
            <a:ext cx="134549" cy="195707"/>
          </a:xfrm>
          <a:prstGeom prst="rect">
            <a:avLst/>
          </a:prstGeom>
        </p:spPr>
      </p:pic>
      <p:sp>
        <p:nvSpPr>
          <p:cNvPr id="54" name="TextBox 53"/>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940434" cy="194310"/>
          </a:xfrm>
          <a:prstGeom prst="rect">
            <a:avLst/>
          </a:prstGeom>
          <a:noFill/>
        </p:spPr>
        <p:txBody>
          <a:bodyPr wrap="none" lIns="0" rIns="0" tIns="0" bIns="0">
            <a:spAutoFit/>
          </a:bodyPr>
          <a:lstStyle/>
          <a:p>
            <a:r>
              <a:rPr sz="1150" b="0">
                <a:solidFill>
                  <a:srgbClr val="2E2E2E"/>
                </a:solidFill>
                <a:latin typeface="Calibri"/>
              </a:rPr>
              <a:t>The dungeness crab segment is expected to lose</a:t>
            </a:r>
          </a:p>
        </p:txBody>
      </p:sp>
      <p:pic>
        <p:nvPicPr>
          <p:cNvPr id="56" name="Picture 55" descr="lock.png"/>
          <p:cNvPicPr>
            <a:picLocks noChangeAspect="1"/>
          </p:cNvPicPr>
          <p:nvPr/>
        </p:nvPicPr>
        <p:blipFill>
          <a:blip r:embed="rId5"/>
          <a:stretch>
            <a:fillRect/>
          </a:stretch>
        </p:blipFill>
        <p:spPr>
          <a:xfrm>
            <a:off x="10719138" y="2318829"/>
            <a:ext cx="134549" cy="195707"/>
          </a:xfrm>
          <a:prstGeom prst="rect">
            <a:avLst/>
          </a:prstGeom>
        </p:spPr>
      </p:pic>
      <p:sp>
        <p:nvSpPr>
          <p:cNvPr id="57" name="TextBox 56"/>
          <p:cNvSpPr txBox="1"/>
          <p:nvPr/>
        </p:nvSpPr>
        <p:spPr>
          <a:xfrm>
            <a:off x="10894247"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Source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Source,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Source segment categorizes the market by source.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Imported processed crab meat</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Wild-caught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Aquaculture / fattened / cultured…</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Source split shows how demand is distributed across source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1_644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2_611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4_7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1_583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2_554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4_9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688_0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1_445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7_7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503487" cy="186689"/>
          </a:xfrm>
          <a:prstGeom prst="rect">
            <a:avLst/>
          </a:prstGeom>
          <a:noFill/>
        </p:spPr>
        <p:txBody>
          <a:bodyPr wrap="none" lIns="0" rIns="0" tIns="0" bIns="0">
            <a:spAutoFit/>
          </a:bodyPr>
          <a:lstStyle/>
          <a:p>
            <a:r>
              <a:rPr sz="1100" b="0">
                <a:solidFill>
                  <a:srgbClr val="2E2E2E"/>
                </a:solidFill>
                <a:latin typeface="Calibri"/>
              </a:rPr>
              <a:t>Among crab meat by source, aquaculture /</a:t>
            </a:r>
          </a:p>
        </p:txBody>
      </p:sp>
      <p:sp>
        <p:nvSpPr>
          <p:cNvPr id="69" name="TextBox 68"/>
          <p:cNvSpPr txBox="1"/>
          <p:nvPr/>
        </p:nvSpPr>
        <p:spPr>
          <a:xfrm>
            <a:off x="485775" y="4397077"/>
            <a:ext cx="2909217" cy="186689"/>
          </a:xfrm>
          <a:prstGeom prst="rect">
            <a:avLst/>
          </a:prstGeom>
          <a:noFill/>
        </p:spPr>
        <p:txBody>
          <a:bodyPr wrap="none" lIns="0" rIns="0" tIns="0" bIns="0">
            <a:spAutoFit/>
          </a:bodyPr>
          <a:lstStyle/>
          <a:p>
            <a:r>
              <a:rPr sz="1100" b="0">
                <a:solidFill>
                  <a:srgbClr val="2E2E2E"/>
                </a:solidFill>
                <a:latin typeface="Calibri"/>
              </a:rPr>
              <a:t>fattened / cultured supply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651100" cy="186689"/>
          </a:xfrm>
          <a:prstGeom prst="rect">
            <a:avLst/>
          </a:prstGeom>
          <a:noFill/>
        </p:spPr>
        <p:txBody>
          <a:bodyPr wrap="none" lIns="0" rIns="0" tIns="0" bIns="0">
            <a:spAutoFit/>
          </a:bodyPr>
          <a:lstStyle/>
          <a:p>
            <a:r>
              <a:rPr sz="1100" b="0">
                <a:solidFill>
                  <a:srgbClr val="2E2E2E"/>
                </a:solidFill>
                <a:latin typeface="Calibri"/>
              </a:rPr>
              <a:t>period. In terms of value share by source, the</a:t>
            </a:r>
          </a:p>
        </p:txBody>
      </p:sp>
      <p:sp>
        <p:nvSpPr>
          <p:cNvPr id="74" name="TextBox 73"/>
          <p:cNvSpPr txBox="1"/>
          <p:nvPr/>
        </p:nvSpPr>
        <p:spPr>
          <a:xfrm>
            <a:off x="485775" y="4899997"/>
            <a:ext cx="2462286" cy="186689"/>
          </a:xfrm>
          <a:prstGeom prst="rect">
            <a:avLst/>
          </a:prstGeom>
          <a:noFill/>
        </p:spPr>
        <p:txBody>
          <a:bodyPr wrap="none" lIns="0" rIns="0" tIns="0" bIns="0">
            <a:spAutoFit/>
          </a:bodyPr>
          <a:lstStyle/>
          <a:p>
            <a:r>
              <a:rPr sz="1100" b="0">
                <a:solidFill>
                  <a:srgbClr val="2E2E2E"/>
                </a:solidFill>
                <a:latin typeface="Calibri"/>
              </a:rPr>
              <a:t>imported processed crab meat segment is</a:t>
            </a:r>
          </a:p>
        </p:txBody>
      </p:sp>
      <p:sp>
        <p:nvSpPr>
          <p:cNvPr id="75" name="TextBox 7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76" name="Picture 75" descr="lock.png"/>
          <p:cNvPicPr>
            <a:picLocks noChangeAspect="1"/>
          </p:cNvPicPr>
          <p:nvPr/>
        </p:nvPicPr>
        <p:blipFill>
          <a:blip r:embed="rId13"/>
          <a:stretch>
            <a:fillRect/>
          </a:stretch>
        </p:blipFill>
        <p:spPr>
          <a:xfrm>
            <a:off x="2822716" y="5057858"/>
            <a:ext cx="128699" cy="187198"/>
          </a:xfrm>
          <a:prstGeom prst="rect">
            <a:avLst/>
          </a:prstGeom>
        </p:spPr>
      </p:pic>
      <p:sp>
        <p:nvSpPr>
          <p:cNvPr id="77" name="TextBox 7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465288" cy="186689"/>
          </a:xfrm>
          <a:prstGeom prst="rect">
            <a:avLst/>
          </a:prstGeom>
          <a:noFill/>
        </p:spPr>
        <p:txBody>
          <a:bodyPr wrap="none" lIns="0" rIns="0" tIns="0" bIns="0">
            <a:spAutoFit/>
          </a:bodyPr>
          <a:lstStyle/>
          <a:p>
            <a:r>
              <a:rPr sz="1100" b="0">
                <a:solidFill>
                  <a:srgbClr val="2E2E2E"/>
                </a:solidFill>
                <a:latin typeface="Calibri"/>
              </a:rPr>
              <a:t>Imported processed crab meat segment is</a:t>
            </a:r>
          </a:p>
        </p:txBody>
      </p:sp>
      <p:sp>
        <p:nvSpPr>
          <p:cNvPr id="82" name="TextBox 81"/>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83" name="Picture 82" descr="lock.png"/>
          <p:cNvPicPr>
            <a:picLocks noChangeAspect="1"/>
          </p:cNvPicPr>
          <p:nvPr/>
        </p:nvPicPr>
        <p:blipFill>
          <a:blip r:embed="rId13"/>
          <a:stretch>
            <a:fillRect/>
          </a:stretch>
        </p:blipFill>
        <p:spPr>
          <a:xfrm>
            <a:off x="1678376" y="5611070"/>
            <a:ext cx="128699" cy="187198"/>
          </a:xfrm>
          <a:prstGeom prst="rect">
            <a:avLst/>
          </a:prstGeom>
        </p:spPr>
      </p:pic>
      <p:sp>
        <p:nvSpPr>
          <p:cNvPr id="84" name="TextBox 83"/>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85" name="TextBox 84"/>
          <p:cNvSpPr txBox="1"/>
          <p:nvPr/>
        </p:nvSpPr>
        <p:spPr>
          <a:xfrm>
            <a:off x="485775" y="5788489"/>
            <a:ext cx="1753145" cy="186689"/>
          </a:xfrm>
          <a:prstGeom prst="rect">
            <a:avLst/>
          </a:prstGeom>
          <a:noFill/>
        </p:spPr>
        <p:txBody>
          <a:bodyPr wrap="none" lIns="0" rIns="0" tIns="0" bIns="0">
            <a:spAutoFit/>
          </a:bodyPr>
          <a:lstStyle/>
          <a:p>
            <a:r>
              <a:rPr sz="1100" b="0">
                <a:solidFill>
                  <a:srgbClr val="2E2E2E"/>
                </a:solidFill>
                <a:latin typeface="Calibri"/>
              </a:rPr>
              <a:t>wild-caught segment in 2036.</a:t>
            </a:r>
          </a:p>
        </p:txBody>
      </p:sp>
      <p:sp>
        <p:nvSpPr>
          <p:cNvPr id="86" name="TextBox 85"/>
          <p:cNvSpPr txBox="1"/>
          <p:nvPr/>
        </p:nvSpPr>
        <p:spPr>
          <a:xfrm>
            <a:off x="3838575" y="4229437"/>
            <a:ext cx="1977156" cy="186689"/>
          </a:xfrm>
          <a:prstGeom prst="rect">
            <a:avLst/>
          </a:prstGeom>
          <a:noFill/>
        </p:spPr>
        <p:txBody>
          <a:bodyPr wrap="none" lIns="0" rIns="0" tIns="0" bIns="0">
            <a:spAutoFit/>
          </a:bodyPr>
          <a:lstStyle/>
          <a:p>
            <a:r>
              <a:rPr sz="1100" b="0">
                <a:solidFill>
                  <a:srgbClr val="2E2E2E"/>
                </a:solidFill>
                <a:latin typeface="Calibri"/>
              </a:rPr>
              <a:t>● Imported processed crab meat:</a:t>
            </a:r>
          </a:p>
        </p:txBody>
      </p:sp>
      <p:pic>
        <p:nvPicPr>
          <p:cNvPr id="87" name="Picture 86" descr="lock.png"/>
          <p:cNvPicPr>
            <a:picLocks noChangeAspect="1"/>
          </p:cNvPicPr>
          <p:nvPr/>
        </p:nvPicPr>
        <p:blipFill>
          <a:blip r:embed="rId13"/>
          <a:stretch>
            <a:fillRect/>
          </a:stretch>
        </p:blipFill>
        <p:spPr>
          <a:xfrm>
            <a:off x="5763783" y="4219658"/>
            <a:ext cx="128699" cy="187198"/>
          </a:xfrm>
          <a:prstGeom prst="rect">
            <a:avLst/>
          </a:prstGeom>
        </p:spPr>
      </p:pic>
      <p:sp>
        <p:nvSpPr>
          <p:cNvPr id="88" name="TextBox 87"/>
          <p:cNvSpPr txBox="1"/>
          <p:nvPr/>
        </p:nvSpPr>
        <p:spPr>
          <a:xfrm>
            <a:off x="593127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790729" y="4219658"/>
            <a:ext cx="128699" cy="187198"/>
          </a:xfrm>
          <a:prstGeom prst="rect">
            <a:avLst/>
          </a:prstGeom>
        </p:spPr>
      </p:pic>
      <p:sp>
        <p:nvSpPr>
          <p:cNvPr id="90" name="TextBox 89"/>
          <p:cNvSpPr txBox="1"/>
          <p:nvPr/>
        </p:nvSpPr>
        <p:spPr>
          <a:xfrm>
            <a:off x="6958225"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1" name="TextBox 90"/>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2" name="TextBox 91"/>
          <p:cNvSpPr txBox="1"/>
          <p:nvPr/>
        </p:nvSpPr>
        <p:spPr>
          <a:xfrm>
            <a:off x="3838575" y="4615009"/>
            <a:ext cx="920129" cy="186689"/>
          </a:xfrm>
          <a:prstGeom prst="rect">
            <a:avLst/>
          </a:prstGeom>
          <a:noFill/>
        </p:spPr>
        <p:txBody>
          <a:bodyPr wrap="none" lIns="0" rIns="0" tIns="0" bIns="0">
            <a:spAutoFit/>
          </a:bodyPr>
          <a:lstStyle/>
          <a:p>
            <a:r>
              <a:rPr sz="1100" b="0">
                <a:solidFill>
                  <a:srgbClr val="2E2E2E"/>
                </a:solidFill>
                <a:latin typeface="Calibri"/>
              </a:rPr>
              <a:t>● Wild-caught:</a:t>
            </a:r>
          </a:p>
        </p:txBody>
      </p:sp>
      <p:pic>
        <p:nvPicPr>
          <p:cNvPr id="93" name="Picture 92" descr="lock.png"/>
          <p:cNvPicPr>
            <a:picLocks noChangeAspect="1"/>
          </p:cNvPicPr>
          <p:nvPr/>
        </p:nvPicPr>
        <p:blipFill>
          <a:blip r:embed="rId13"/>
          <a:stretch>
            <a:fillRect/>
          </a:stretch>
        </p:blipFill>
        <p:spPr>
          <a:xfrm>
            <a:off x="4706756" y="4605230"/>
            <a:ext cx="128699" cy="187198"/>
          </a:xfrm>
          <a:prstGeom prst="rect">
            <a:avLst/>
          </a:prstGeom>
        </p:spPr>
      </p:pic>
      <p:sp>
        <p:nvSpPr>
          <p:cNvPr id="94" name="TextBox 93"/>
          <p:cNvSpPr txBox="1"/>
          <p:nvPr/>
        </p:nvSpPr>
        <p:spPr>
          <a:xfrm>
            <a:off x="487425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733702" y="4605230"/>
            <a:ext cx="128699" cy="187198"/>
          </a:xfrm>
          <a:prstGeom prst="rect">
            <a:avLst/>
          </a:prstGeom>
        </p:spPr>
      </p:pic>
      <p:sp>
        <p:nvSpPr>
          <p:cNvPr id="96" name="TextBox 95"/>
          <p:cNvSpPr txBox="1"/>
          <p:nvPr/>
        </p:nvSpPr>
        <p:spPr>
          <a:xfrm>
            <a:off x="5901198"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7" name="TextBox 96"/>
          <p:cNvSpPr txBox="1"/>
          <p:nvPr/>
        </p:nvSpPr>
        <p:spPr>
          <a:xfrm>
            <a:off x="3838575" y="4832941"/>
            <a:ext cx="2530226" cy="186689"/>
          </a:xfrm>
          <a:prstGeom prst="rect">
            <a:avLst/>
          </a:prstGeom>
          <a:noFill/>
        </p:spPr>
        <p:txBody>
          <a:bodyPr wrap="none" lIns="0" rIns="0" tIns="0" bIns="0">
            <a:spAutoFit/>
          </a:bodyPr>
          <a:lstStyle/>
          <a:p>
            <a:r>
              <a:rPr sz="1100" b="0">
                <a:solidFill>
                  <a:srgbClr val="2E2E2E"/>
                </a:solidFill>
                <a:latin typeface="Calibri"/>
              </a:rPr>
              <a:t>● Aquaculture / fattened / cultured supply:</a:t>
            </a:r>
          </a:p>
        </p:txBody>
      </p:sp>
      <p:pic>
        <p:nvPicPr>
          <p:cNvPr id="98" name="Picture 97" descr="lock.png"/>
          <p:cNvPicPr>
            <a:picLocks noChangeAspect="1"/>
          </p:cNvPicPr>
          <p:nvPr/>
        </p:nvPicPr>
        <p:blipFill>
          <a:blip r:embed="rId13"/>
          <a:stretch>
            <a:fillRect/>
          </a:stretch>
        </p:blipFill>
        <p:spPr>
          <a:xfrm>
            <a:off x="6316853" y="4823162"/>
            <a:ext cx="128699" cy="187198"/>
          </a:xfrm>
          <a:prstGeom prst="rect">
            <a:avLst/>
          </a:prstGeom>
        </p:spPr>
      </p:pic>
      <p:sp>
        <p:nvSpPr>
          <p:cNvPr id="99" name="TextBox 98"/>
          <p:cNvSpPr txBox="1"/>
          <p:nvPr/>
        </p:nvSpPr>
        <p:spPr>
          <a:xfrm>
            <a:off x="6484349"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7343799" y="4823162"/>
            <a:ext cx="128699" cy="187198"/>
          </a:xfrm>
          <a:prstGeom prst="rect">
            <a:avLst/>
          </a:prstGeom>
        </p:spPr>
      </p:pic>
      <p:sp>
        <p:nvSpPr>
          <p:cNvPr id="101" name="TextBox 100"/>
          <p:cNvSpPr txBox="1"/>
          <p:nvPr/>
        </p:nvSpPr>
        <p:spPr>
          <a:xfrm>
            <a:off x="3838575"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2" name="TextBox 10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Source segment is projected to grow at a CAGR</a:t>
            </a:r>
          </a:p>
        </p:txBody>
      </p:sp>
      <p:sp>
        <p:nvSpPr>
          <p:cNvPr id="103" name="TextBox 102"/>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04" name="Picture 103" descr="lock.png"/>
          <p:cNvPicPr>
            <a:picLocks noChangeAspect="1"/>
          </p:cNvPicPr>
          <p:nvPr/>
        </p:nvPicPr>
        <p:blipFill>
          <a:blip r:embed="rId13"/>
          <a:stretch>
            <a:fillRect/>
          </a:stretch>
        </p:blipFill>
        <p:spPr>
          <a:xfrm>
            <a:off x="8674884" y="6007677"/>
            <a:ext cx="134549" cy="195707"/>
          </a:xfrm>
          <a:prstGeom prst="rect">
            <a:avLst/>
          </a:prstGeom>
        </p:spPr>
      </p:pic>
      <p:sp>
        <p:nvSpPr>
          <p:cNvPr id="105" name="TextBox 104"/>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Source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Source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Source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08407" cy="186689"/>
          </a:xfrm>
          <a:prstGeom prst="rect">
            <a:avLst/>
          </a:prstGeom>
          <a:noFill/>
        </p:spPr>
        <p:txBody>
          <a:bodyPr wrap="none" lIns="0" rIns="0" tIns="0" bIns="0">
            <a:spAutoFit/>
          </a:bodyPr>
          <a:lstStyle/>
          <a:p>
            <a:r>
              <a:rPr sz="1100" b="0">
                <a:solidFill>
                  <a:srgbClr val="2E2E2E"/>
                </a:solidFill>
                <a:latin typeface="Calibri"/>
              </a:rPr>
              <a:t>Imported processed crab meat followed by wild-caught are expected to be the two most attractive source segments in the Europe crab meat market in terms of value over the forecast period. Imported</a:t>
            </a:r>
          </a:p>
        </p:txBody>
      </p:sp>
      <p:sp>
        <p:nvSpPr>
          <p:cNvPr id="20" name="TextBox 19"/>
          <p:cNvSpPr txBox="1"/>
          <p:nvPr/>
        </p:nvSpPr>
        <p:spPr>
          <a:xfrm>
            <a:off x="257175" y="5861685"/>
            <a:ext cx="3560497" cy="186689"/>
          </a:xfrm>
          <a:prstGeom prst="rect">
            <a:avLst/>
          </a:prstGeom>
          <a:noFill/>
        </p:spPr>
        <p:txBody>
          <a:bodyPr wrap="none" lIns="0" rIns="0" tIns="0" bIns="0">
            <a:spAutoFit/>
          </a:bodyPr>
          <a:lstStyle/>
          <a:p>
            <a:r>
              <a:rPr sz="1100" b="0">
                <a:solidFill>
                  <a:srgbClr val="2E2E2E"/>
                </a:solidFill>
                <a:latin typeface="Calibri"/>
              </a:rPr>
              <a:t>processed crab meat and wild-caught exhibit a CAGR index of</a:t>
            </a:r>
          </a:p>
        </p:txBody>
      </p:sp>
      <p:pic>
        <p:nvPicPr>
          <p:cNvPr id="21" name="Picture 20" descr="lock.png"/>
          <p:cNvPicPr>
            <a:picLocks noChangeAspect="1"/>
          </p:cNvPicPr>
          <p:nvPr/>
        </p:nvPicPr>
        <p:blipFill>
          <a:blip r:embed="rId6"/>
          <a:stretch>
            <a:fillRect/>
          </a:stretch>
        </p:blipFill>
        <p:spPr>
          <a:xfrm>
            <a:off x="3765723" y="5851905"/>
            <a:ext cx="128699" cy="187198"/>
          </a:xfrm>
          <a:prstGeom prst="rect">
            <a:avLst/>
          </a:prstGeom>
        </p:spPr>
      </p:pic>
      <p:sp>
        <p:nvSpPr>
          <p:cNvPr id="22" name="TextBox 21"/>
          <p:cNvSpPr txBox="1"/>
          <p:nvPr/>
        </p:nvSpPr>
        <p:spPr>
          <a:xfrm>
            <a:off x="393321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171114" y="5851905"/>
            <a:ext cx="128699" cy="187198"/>
          </a:xfrm>
          <a:prstGeom prst="rect">
            <a:avLst/>
          </a:prstGeom>
        </p:spPr>
      </p:pic>
      <p:sp>
        <p:nvSpPr>
          <p:cNvPr id="24" name="TextBox 23"/>
          <p:cNvSpPr txBox="1"/>
          <p:nvPr/>
        </p:nvSpPr>
        <p:spPr>
          <a:xfrm>
            <a:off x="433861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947583" y="5851905"/>
            <a:ext cx="128699" cy="187198"/>
          </a:xfrm>
          <a:prstGeom prst="rect">
            <a:avLst/>
          </a:prstGeom>
        </p:spPr>
      </p:pic>
      <p:sp>
        <p:nvSpPr>
          <p:cNvPr id="26" name="TextBox 25"/>
          <p:cNvSpPr txBox="1"/>
          <p:nvPr/>
        </p:nvSpPr>
        <p:spPr>
          <a:xfrm>
            <a:off x="611507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352973" y="5851905"/>
            <a:ext cx="128699" cy="187198"/>
          </a:xfrm>
          <a:prstGeom prst="rect">
            <a:avLst/>
          </a:prstGeom>
        </p:spPr>
      </p:pic>
      <p:sp>
        <p:nvSpPr>
          <p:cNvPr id="28" name="TextBox 27"/>
          <p:cNvSpPr txBox="1"/>
          <p:nvPr/>
        </p:nvSpPr>
        <p:spPr>
          <a:xfrm>
            <a:off x="652046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074873" y="5851905"/>
            <a:ext cx="128699" cy="187198"/>
          </a:xfrm>
          <a:prstGeom prst="rect">
            <a:avLst/>
          </a:prstGeom>
        </p:spPr>
      </p:pic>
      <p:sp>
        <p:nvSpPr>
          <p:cNvPr id="30" name="TextBox 29"/>
          <p:cNvSpPr txBox="1"/>
          <p:nvPr/>
        </p:nvSpPr>
        <p:spPr>
          <a:xfrm>
            <a:off x="9242369" y="5861685"/>
            <a:ext cx="1762149" cy="186689"/>
          </a:xfrm>
          <a:prstGeom prst="rect">
            <a:avLst/>
          </a:prstGeom>
          <a:noFill/>
        </p:spPr>
        <p:txBody>
          <a:bodyPr wrap="none" lIns="0" rIns="0" tIns="0" bIns="0">
            <a:spAutoFit/>
          </a:bodyPr>
          <a:lstStyle/>
          <a:p>
            <a:r>
              <a:rPr sz="1100" b="0">
                <a:solidFill>
                  <a:srgbClr val="2E2E2E"/>
                </a:solidFill>
                <a:latin typeface="Calibri"/>
              </a:rPr>
              <a:t>. The aquaculture / fattened /</a:t>
            </a:r>
          </a:p>
        </p:txBody>
      </p:sp>
      <p:sp>
        <p:nvSpPr>
          <p:cNvPr id="31" name="TextBox 30"/>
          <p:cNvSpPr txBox="1"/>
          <p:nvPr/>
        </p:nvSpPr>
        <p:spPr>
          <a:xfrm>
            <a:off x="257175" y="6029325"/>
            <a:ext cx="11539751" cy="186689"/>
          </a:xfrm>
          <a:prstGeom prst="rect">
            <a:avLst/>
          </a:prstGeom>
          <a:noFill/>
        </p:spPr>
        <p:txBody>
          <a:bodyPr wrap="none" lIns="0" rIns="0" tIns="0" bIns="0">
            <a:spAutoFit/>
          </a:bodyPr>
          <a:lstStyle/>
          <a:p>
            <a:r>
              <a:rPr sz="1100" b="0">
                <a:solidFill>
                  <a:srgbClr val="2E2E2E"/>
                </a:solidFill>
                <a:latin typeface="Calibri"/>
              </a:rPr>
              <a:t>cultured supply segment is expected to be less attractive as compared to other segments over the forecast period, owing to its lower CAGR and incremental opportunity. Bubbles right of the CAGR-Index</a:t>
            </a:r>
          </a:p>
        </p:txBody>
      </p:sp>
      <p:sp>
        <p:nvSpPr>
          <p:cNvPr id="32" name="TextBox 31"/>
          <p:cNvSpPr txBox="1"/>
          <p:nvPr/>
        </p:nvSpPr>
        <p:spPr>
          <a:xfrm>
            <a:off x="257175" y="6196965"/>
            <a:ext cx="2518494" cy="186689"/>
          </a:xfrm>
          <a:prstGeom prst="rect">
            <a:avLst/>
          </a:prstGeom>
          <a:noFill/>
        </p:spPr>
        <p:txBody>
          <a:bodyPr wrap="none" lIns="0" rIns="0" tIns="0" bIns="0">
            <a:spAutoFit/>
          </a:bodyPr>
          <a:lstStyle/>
          <a:p>
            <a:r>
              <a:rPr sz="1100" b="0">
                <a:solidFill>
                  <a:srgbClr val="2E2E2E"/>
                </a:solidFill>
                <a:latin typeface="Calibri"/>
              </a:rPr>
              <a:t>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Source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Wild-caught</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Aquaculture / fattened / cultured supply</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Imported processed crab meat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Europe Absolute $ Opportunity Analysis, By Source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4197526" cy="194310"/>
          </a:xfrm>
          <a:prstGeom prst="rect">
            <a:avLst/>
          </a:prstGeom>
          <a:noFill/>
        </p:spPr>
        <p:txBody>
          <a:bodyPr wrap="none" lIns="0" rIns="0" tIns="0" bIns="0">
            <a:spAutoFit/>
          </a:bodyPr>
          <a:lstStyle/>
          <a:p>
            <a:r>
              <a:rPr sz="1150" b="0">
                <a:solidFill>
                  <a:srgbClr val="2E2E2E"/>
                </a:solidFill>
                <a:latin typeface="Calibri"/>
              </a:rPr>
              <a:t>By 2036, wild-caught segment is anticipated to witness an increase of</a:t>
            </a:r>
          </a:p>
        </p:txBody>
      </p:sp>
      <p:pic>
        <p:nvPicPr>
          <p:cNvPr id="28" name="Picture 27" descr="lock.png"/>
          <p:cNvPicPr>
            <a:picLocks noChangeAspect="1"/>
          </p:cNvPicPr>
          <p:nvPr/>
        </p:nvPicPr>
        <p:blipFill>
          <a:blip r:embed="rId7"/>
          <a:stretch>
            <a:fillRect/>
          </a:stretch>
        </p:blipFill>
        <p:spPr>
          <a:xfrm>
            <a:off x="10452230" y="4276026"/>
            <a:ext cx="134549" cy="195707"/>
          </a:xfrm>
          <a:prstGeom prst="rect">
            <a:avLst/>
          </a:prstGeom>
        </p:spPr>
      </p:pic>
      <p:sp>
        <p:nvSpPr>
          <p:cNvPr id="29" name="TextBox 28"/>
          <p:cNvSpPr txBox="1"/>
          <p:nvPr/>
        </p:nvSpPr>
        <p:spPr>
          <a:xfrm>
            <a:off x="10627339" y="4286250"/>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30" name="TextBox 29"/>
          <p:cNvSpPr txBox="1"/>
          <p:nvPr/>
        </p:nvSpPr>
        <p:spPr>
          <a:xfrm>
            <a:off x="6305550" y="4461510"/>
            <a:ext cx="5094957" cy="194310"/>
          </a:xfrm>
          <a:prstGeom prst="rect">
            <a:avLst/>
          </a:prstGeom>
          <a:noFill/>
        </p:spPr>
        <p:txBody>
          <a:bodyPr wrap="none" lIns="0" rIns="0" tIns="0" bIns="0">
            <a:spAutoFit/>
          </a:bodyPr>
          <a:lstStyle/>
          <a:p>
            <a:r>
              <a:rPr sz="1150" b="0">
                <a:solidFill>
                  <a:srgbClr val="2E2E2E"/>
                </a:solidFill>
                <a:latin typeface="Calibri"/>
              </a:rPr>
              <a:t>as compared to 2026. The wild-caught segment is expected to create an incremental</a:t>
            </a:r>
          </a:p>
        </p:txBody>
      </p:sp>
      <p:sp>
        <p:nvSpPr>
          <p:cNvPr id="31" name="TextBox 30"/>
          <p:cNvSpPr txBox="1"/>
          <p:nvPr/>
        </p:nvSpPr>
        <p:spPr>
          <a:xfrm>
            <a:off x="6305550" y="463677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626546"/>
            <a:ext cx="134549" cy="195707"/>
          </a:xfrm>
          <a:prstGeom prst="rect">
            <a:avLst/>
          </a:prstGeom>
        </p:spPr>
      </p:pic>
      <p:sp>
        <p:nvSpPr>
          <p:cNvPr id="33" name="TextBox 32"/>
          <p:cNvSpPr txBox="1"/>
          <p:nvPr/>
        </p:nvSpPr>
        <p:spPr>
          <a:xfrm>
            <a:off x="7638756" y="4636770"/>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4" name="TextBox 33"/>
          <p:cNvSpPr txBox="1"/>
          <p:nvPr/>
        </p:nvSpPr>
        <p:spPr>
          <a:xfrm>
            <a:off x="6305550" y="4864607"/>
            <a:ext cx="5591175" cy="194310"/>
          </a:xfrm>
          <a:prstGeom prst="rect">
            <a:avLst/>
          </a:prstGeom>
          <a:noFill/>
        </p:spPr>
        <p:txBody>
          <a:bodyPr wrap="none" lIns="0" rIns="0" tIns="0" bIns="0">
            <a:spAutoFit/>
          </a:bodyPr>
          <a:lstStyle/>
          <a:p>
            <a:r>
              <a:rPr sz="1150" b="0">
                <a:solidFill>
                  <a:srgbClr val="2E2E2E"/>
                </a:solidFill>
                <a:latin typeface="Calibri"/>
              </a:rPr>
              <a:t>The imported processed crab meat segment is expected to create an incremental opportunity</a:t>
            </a:r>
          </a:p>
        </p:txBody>
      </p:sp>
      <p:sp>
        <p:nvSpPr>
          <p:cNvPr id="35" name="TextBox 34"/>
          <p:cNvSpPr txBox="1"/>
          <p:nvPr/>
        </p:nvSpPr>
        <p:spPr>
          <a:xfrm>
            <a:off x="6305550" y="5039867"/>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6" name="Picture 35" descr="lock.png"/>
          <p:cNvPicPr>
            <a:picLocks noChangeAspect="1"/>
          </p:cNvPicPr>
          <p:nvPr/>
        </p:nvPicPr>
        <p:blipFill>
          <a:blip r:embed="rId7"/>
          <a:stretch>
            <a:fillRect/>
          </a:stretch>
        </p:blipFill>
        <p:spPr>
          <a:xfrm>
            <a:off x="6720560" y="5029644"/>
            <a:ext cx="134549" cy="195707"/>
          </a:xfrm>
          <a:prstGeom prst="rect">
            <a:avLst/>
          </a:prstGeom>
        </p:spPr>
      </p:pic>
      <p:sp>
        <p:nvSpPr>
          <p:cNvPr id="37" name="TextBox 36"/>
          <p:cNvSpPr txBox="1"/>
          <p:nvPr/>
        </p:nvSpPr>
        <p:spPr>
          <a:xfrm>
            <a:off x="6895670" y="5039867"/>
            <a:ext cx="4514750"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 The aquaculture /</a:t>
            </a:r>
          </a:p>
        </p:txBody>
      </p:sp>
      <p:sp>
        <p:nvSpPr>
          <p:cNvPr id="38" name="TextBox 37"/>
          <p:cNvSpPr txBox="1"/>
          <p:nvPr/>
        </p:nvSpPr>
        <p:spPr>
          <a:xfrm>
            <a:off x="6305550" y="5215127"/>
            <a:ext cx="5541950" cy="194310"/>
          </a:xfrm>
          <a:prstGeom prst="rect">
            <a:avLst/>
          </a:prstGeom>
          <a:noFill/>
        </p:spPr>
        <p:txBody>
          <a:bodyPr wrap="none" lIns="0" rIns="0" tIns="0" bIns="0">
            <a:spAutoFit/>
          </a:bodyPr>
          <a:lstStyle/>
          <a:p>
            <a:r>
              <a:rPr sz="1150" b="0">
                <a:solidFill>
                  <a:srgbClr val="2E2E2E"/>
                </a:solidFill>
                <a:latin typeface="Calibri"/>
              </a:rPr>
              <a:t>fattened / cultured supply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6291470" y="5380164"/>
            <a:ext cx="134549" cy="195707"/>
          </a:xfrm>
          <a:prstGeom prst="rect">
            <a:avLst/>
          </a:prstGeom>
        </p:spPr>
      </p:pic>
      <p:sp>
        <p:nvSpPr>
          <p:cNvPr id="40" name="TextBox 39"/>
          <p:cNvSpPr txBox="1"/>
          <p:nvPr/>
        </p:nvSpPr>
        <p:spPr>
          <a:xfrm>
            <a:off x="6466579" y="5390387"/>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41"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Source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Source,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Source (US$ Mn)</a:t>
            </a:r>
          </a:p>
        </p:txBody>
      </p:sp>
      <p:graphicFrame>
        <p:nvGraphicFramePr>
          <p:cNvPr id="12" name="Table 11"/>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2844669"/>
                <a:gridCol w="543171"/>
                <a:gridCol w="543171"/>
                <a:gridCol w="543171"/>
                <a:gridCol w="543171"/>
                <a:gridCol w="543171"/>
                <a:gridCol w="524038"/>
                <a:gridCol w="518571"/>
                <a:gridCol w="518571"/>
                <a:gridCol w="518571"/>
                <a:gridCol w="518571"/>
                <a:gridCol w="518571"/>
                <a:gridCol w="518571"/>
                <a:gridCol w="518571"/>
                <a:gridCol w="518571"/>
                <a:gridCol w="518571"/>
                <a:gridCol w="518571"/>
                <a:gridCol w="616929"/>
              </a:tblGrid>
              <a:tr h="246126">
                <a:tc>
                  <a:txBody>
                    <a:bodyPr wrap="none"/>
                    <a:lstStyle/>
                    <a:p>
                      <a:pPr algn="l"/>
                      <a:r>
                        <a:rPr sz="1100" b="1">
                          <a:solidFill>
                            <a:srgbClr val="0B2E4A"/>
                          </a:solidFill>
                          <a:latin typeface="Calibri"/>
                        </a:rPr>
                        <a:t>Source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Wild-caught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Aquaculture / fattened / cultured supply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Imported processed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Source</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31645" y="1713738"/>
            <a:ext cx="366712" cy="533400"/>
          </a:xfrm>
          <a:prstGeom prst="rect">
            <a:avLst/>
          </a:prstGeom>
        </p:spPr>
      </p:pic>
      <p:sp>
        <p:nvSpPr>
          <p:cNvPr id="20" name="TextBox 19"/>
          <p:cNvSpPr txBox="1"/>
          <p:nvPr/>
        </p:nvSpPr>
        <p:spPr>
          <a:xfrm>
            <a:off x="276225" y="3238500"/>
            <a:ext cx="3828429" cy="194310"/>
          </a:xfrm>
          <a:prstGeom prst="rect">
            <a:avLst/>
          </a:prstGeom>
          <a:noFill/>
        </p:spPr>
        <p:txBody>
          <a:bodyPr wrap="none" lIns="0" rIns="0" tIns="0" bIns="0">
            <a:spAutoFit/>
          </a:bodyPr>
          <a:lstStyle/>
          <a:p>
            <a:r>
              <a:rPr sz="1150" b="0">
                <a:solidFill>
                  <a:srgbClr val="2E2E2E"/>
                </a:solidFill>
                <a:latin typeface="Calibri"/>
              </a:rPr>
              <a:t>Imported processed crab meat segment is projected to register</a:t>
            </a:r>
          </a:p>
        </p:txBody>
      </p:sp>
      <p:pic>
        <p:nvPicPr>
          <p:cNvPr id="21" name="Picture 20" descr="lock.png"/>
          <p:cNvPicPr>
            <a:picLocks noChangeAspect="1"/>
          </p:cNvPicPr>
          <p:nvPr/>
        </p:nvPicPr>
        <p:blipFill>
          <a:blip r:embed="rId4"/>
          <a:stretch>
            <a:fillRect/>
          </a:stretch>
        </p:blipFill>
        <p:spPr>
          <a:xfrm>
            <a:off x="4053808" y="3228276"/>
            <a:ext cx="134549" cy="195707"/>
          </a:xfrm>
          <a:prstGeom prst="rect">
            <a:avLst/>
          </a:prstGeom>
        </p:spPr>
      </p:pic>
      <p:sp>
        <p:nvSpPr>
          <p:cNvPr id="22" name="TextBox 21"/>
          <p:cNvSpPr txBox="1"/>
          <p:nvPr/>
        </p:nvSpPr>
        <p:spPr>
          <a:xfrm>
            <a:off x="4228918" y="3238500"/>
            <a:ext cx="7165330" cy="194310"/>
          </a:xfrm>
          <a:prstGeom prst="rect">
            <a:avLst/>
          </a:prstGeom>
          <a:noFill/>
        </p:spPr>
        <p:txBody>
          <a:bodyPr wrap="none" lIns="0" rIns="0" tIns="0" bIns="0">
            <a:spAutoFit/>
          </a:bodyPr>
          <a:lstStyle/>
          <a:p>
            <a:r>
              <a:rPr sz="1150" b="0">
                <a:solidFill>
                  <a:srgbClr val="2E2E2E"/>
                </a:solidFill>
                <a:latin typeface="Calibri"/>
              </a:rPr>
              <a:t>X higher value than wild-caught segment in 2036. Among crab meat by source, aquaculture / fattened / cultured supply</a:t>
            </a:r>
          </a:p>
        </p:txBody>
      </p:sp>
      <p:sp>
        <p:nvSpPr>
          <p:cNvPr id="23" name="TextBox 22"/>
          <p:cNvSpPr txBox="1"/>
          <p:nvPr/>
        </p:nvSpPr>
        <p:spPr>
          <a:xfrm>
            <a:off x="276225" y="341376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403536"/>
            <a:ext cx="134549" cy="195707"/>
          </a:xfrm>
          <a:prstGeom prst="rect">
            <a:avLst/>
          </a:prstGeom>
        </p:spPr>
      </p:pic>
      <p:sp>
        <p:nvSpPr>
          <p:cNvPr id="25" name="TextBox 24"/>
          <p:cNvSpPr txBox="1"/>
          <p:nvPr/>
        </p:nvSpPr>
        <p:spPr>
          <a:xfrm>
            <a:off x="3557127"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288845" cy="194310"/>
          </a:xfrm>
          <a:prstGeom prst="rect">
            <a:avLst/>
          </a:prstGeom>
          <a:noFill/>
        </p:spPr>
        <p:txBody>
          <a:bodyPr wrap="none" lIns="0" rIns="0" tIns="0" bIns="0">
            <a:spAutoFit/>
          </a:bodyPr>
          <a:lstStyle/>
          <a:p>
            <a:r>
              <a:rPr sz="1150" b="0">
                <a:solidFill>
                  <a:srgbClr val="2E2E2E"/>
                </a:solidFill>
                <a:latin typeface="Calibri"/>
              </a:rPr>
              <a:t>In terms of value share by source, the imported processed crab meat segment is expected to dominate the market, losing</a:t>
            </a:r>
          </a:p>
        </p:txBody>
      </p:sp>
      <p:pic>
        <p:nvPicPr>
          <p:cNvPr id="27" name="Picture 26" descr="lock.png"/>
          <p:cNvPicPr>
            <a:picLocks noChangeAspect="1"/>
          </p:cNvPicPr>
          <p:nvPr/>
        </p:nvPicPr>
        <p:blipFill>
          <a:blip r:embed="rId4"/>
          <a:stretch>
            <a:fillRect/>
          </a:stretch>
        </p:blipFill>
        <p:spPr>
          <a:xfrm>
            <a:off x="7514223" y="3631374"/>
            <a:ext cx="134549" cy="195707"/>
          </a:xfrm>
          <a:prstGeom prst="rect">
            <a:avLst/>
          </a:prstGeom>
        </p:spPr>
      </p:pic>
      <p:sp>
        <p:nvSpPr>
          <p:cNvPr id="28" name="TextBox 27"/>
          <p:cNvSpPr txBox="1"/>
          <p:nvPr/>
        </p:nvSpPr>
        <p:spPr>
          <a:xfrm>
            <a:off x="768933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084476" y="3631374"/>
            <a:ext cx="134549" cy="195707"/>
          </a:xfrm>
          <a:prstGeom prst="rect">
            <a:avLst/>
          </a:prstGeom>
        </p:spPr>
      </p:pic>
      <p:sp>
        <p:nvSpPr>
          <p:cNvPr id="30" name="TextBox 29"/>
          <p:cNvSpPr txBox="1"/>
          <p:nvPr/>
        </p:nvSpPr>
        <p:spPr>
          <a:xfrm>
            <a:off x="9259585"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Source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Source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202438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1962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434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Aquaculture / fattened / cultured supply</a:t>
            </a:r>
          </a:p>
        </p:txBody>
      </p:sp>
      <p:sp>
        <p:nvSpPr>
          <p:cNvPr id="18" name="BPS Value 1"/>
          <p:cNvSpPr txBox="1"/>
          <p:nvPr/>
        </p:nvSpPr>
        <p:spPr>
          <a:xfrm>
            <a:off x="6896100" y="200533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345729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345253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3763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Wild-caught</a:t>
            </a:r>
          </a:p>
        </p:txBody>
      </p:sp>
      <p:sp>
        <p:nvSpPr>
          <p:cNvPr id="22" name="BPS Value 2"/>
          <p:cNvSpPr txBox="1"/>
          <p:nvPr/>
        </p:nvSpPr>
        <p:spPr>
          <a:xfrm>
            <a:off x="6896100" y="343824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530806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3033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2271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Imported processed crab meat</a:t>
            </a:r>
          </a:p>
        </p:txBody>
      </p:sp>
      <p:sp>
        <p:nvSpPr>
          <p:cNvPr id="26" name="BPS Value 3"/>
          <p:cNvSpPr txBox="1"/>
          <p:nvPr/>
        </p:nvSpPr>
        <p:spPr>
          <a:xfrm>
            <a:off x="6896100" y="528901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Source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751325"/>
            <a:ext cx="275034" cy="400050"/>
          </a:xfrm>
          <a:prstGeom prst="rect">
            <a:avLst/>
          </a:prstGeom>
        </p:spPr>
      </p:pic>
      <p:sp>
        <p:nvSpPr>
          <p:cNvPr id="33" name="TextBox 32"/>
          <p:cNvSpPr txBox="1"/>
          <p:nvPr/>
        </p:nvSpPr>
        <p:spPr>
          <a:xfrm>
            <a:off x="7829550" y="1400175"/>
            <a:ext cx="3779651" cy="194310"/>
          </a:xfrm>
          <a:prstGeom prst="rect">
            <a:avLst/>
          </a:prstGeom>
          <a:noFill/>
        </p:spPr>
        <p:txBody>
          <a:bodyPr wrap="none" lIns="0" rIns="0" tIns="0" bIns="0">
            <a:spAutoFit/>
          </a:bodyPr>
          <a:lstStyle/>
          <a:p>
            <a:r>
              <a:rPr sz="1150" b="0">
                <a:solidFill>
                  <a:srgbClr val="2E2E2E"/>
                </a:solidFill>
                <a:latin typeface="Calibri"/>
              </a:rPr>
              <a:t>Among crab meat by source, aquaculture / fattened / cultured</a:t>
            </a:r>
          </a:p>
        </p:txBody>
      </p:sp>
      <p:sp>
        <p:nvSpPr>
          <p:cNvPr id="34" name="TextBox 33"/>
          <p:cNvSpPr txBox="1"/>
          <p:nvPr/>
        </p:nvSpPr>
        <p:spPr>
          <a:xfrm>
            <a:off x="7829550" y="1575435"/>
            <a:ext cx="3576818" cy="194310"/>
          </a:xfrm>
          <a:prstGeom prst="rect">
            <a:avLst/>
          </a:prstGeom>
          <a:noFill/>
        </p:spPr>
        <p:txBody>
          <a:bodyPr wrap="none" lIns="0" rIns="0" tIns="0" bIns="0">
            <a:spAutoFit/>
          </a:bodyPr>
          <a:lstStyle/>
          <a:p>
            <a:r>
              <a:rPr sz="1150" b="0">
                <a:solidFill>
                  <a:srgbClr val="2E2E2E"/>
                </a:solidFill>
                <a:latin typeface="Calibri"/>
              </a:rPr>
              <a:t>supply segment is expected to witness the highest CAGR of</a:t>
            </a:r>
          </a:p>
        </p:txBody>
      </p:sp>
      <p:pic>
        <p:nvPicPr>
          <p:cNvPr id="35" name="Picture 34" descr="lock.png"/>
          <p:cNvPicPr>
            <a:picLocks noChangeAspect="1"/>
          </p:cNvPicPr>
          <p:nvPr/>
        </p:nvPicPr>
        <p:blipFill>
          <a:blip r:embed="rId5"/>
          <a:stretch>
            <a:fillRect/>
          </a:stretch>
        </p:blipFill>
        <p:spPr>
          <a:xfrm>
            <a:off x="11355522" y="1565211"/>
            <a:ext cx="134549" cy="195707"/>
          </a:xfrm>
          <a:prstGeom prst="rect">
            <a:avLst/>
          </a:prstGeom>
        </p:spPr>
      </p:pic>
      <p:sp>
        <p:nvSpPr>
          <p:cNvPr id="36" name="TextBox 35"/>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7" name="TextBox 36"/>
          <p:cNvSpPr txBox="1"/>
          <p:nvPr/>
        </p:nvSpPr>
        <p:spPr>
          <a:xfrm>
            <a:off x="7829550" y="1978533"/>
            <a:ext cx="3825862" cy="194310"/>
          </a:xfrm>
          <a:prstGeom prst="rect">
            <a:avLst/>
          </a:prstGeom>
          <a:noFill/>
        </p:spPr>
        <p:txBody>
          <a:bodyPr wrap="none" lIns="0" rIns="0" tIns="0" bIns="0">
            <a:spAutoFit/>
          </a:bodyPr>
          <a:lstStyle/>
          <a:p>
            <a:r>
              <a:rPr sz="1150" b="0">
                <a:solidFill>
                  <a:srgbClr val="2E2E2E"/>
                </a:solidFill>
                <a:latin typeface="Calibri"/>
              </a:rPr>
              <a:t>In terms of value share by source, the imported processed crab</a:t>
            </a:r>
          </a:p>
        </p:txBody>
      </p:sp>
      <p:sp>
        <p:nvSpPr>
          <p:cNvPr id="38" name="TextBox 37"/>
          <p:cNvSpPr txBox="1"/>
          <p:nvPr/>
        </p:nvSpPr>
        <p:spPr>
          <a:xfrm>
            <a:off x="7829550" y="2153793"/>
            <a:ext cx="3506092" cy="194310"/>
          </a:xfrm>
          <a:prstGeom prst="rect">
            <a:avLst/>
          </a:prstGeom>
          <a:noFill/>
        </p:spPr>
        <p:txBody>
          <a:bodyPr wrap="none" lIns="0" rIns="0" tIns="0" bIns="0">
            <a:spAutoFit/>
          </a:bodyPr>
          <a:lstStyle/>
          <a:p>
            <a:r>
              <a:rPr sz="1150" b="0">
                <a:solidFill>
                  <a:srgbClr val="2E2E2E"/>
                </a:solidFill>
                <a:latin typeface="Calibri"/>
              </a:rPr>
              <a:t>meat segment is expected to dominate the market, losing</a:t>
            </a:r>
          </a:p>
        </p:txBody>
      </p:sp>
      <p:pic>
        <p:nvPicPr>
          <p:cNvPr id="39" name="Picture 38" descr="lock.png"/>
          <p:cNvPicPr>
            <a:picLocks noChangeAspect="1"/>
          </p:cNvPicPr>
          <p:nvPr/>
        </p:nvPicPr>
        <p:blipFill>
          <a:blip r:embed="rId5"/>
          <a:stretch>
            <a:fillRect/>
          </a:stretch>
        </p:blipFill>
        <p:spPr>
          <a:xfrm>
            <a:off x="11284796" y="2143569"/>
            <a:ext cx="134549" cy="195707"/>
          </a:xfrm>
          <a:prstGeom prst="rect">
            <a:avLst/>
          </a:prstGeom>
        </p:spPr>
      </p:pic>
      <p:sp>
        <p:nvSpPr>
          <p:cNvPr id="40" name="TextBox 39"/>
          <p:cNvSpPr txBox="1"/>
          <p:nvPr/>
        </p:nvSpPr>
        <p:spPr>
          <a:xfrm>
            <a:off x="11459906" y="215379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1" name="TextBox 40"/>
          <p:cNvSpPr txBox="1"/>
          <p:nvPr/>
        </p:nvSpPr>
        <p:spPr>
          <a:xfrm>
            <a:off x="7829550" y="2329053"/>
            <a:ext cx="1190687" cy="194310"/>
          </a:xfrm>
          <a:prstGeom prst="rect">
            <a:avLst/>
          </a:prstGeom>
          <a:noFill/>
        </p:spPr>
        <p:txBody>
          <a:bodyPr wrap="none" lIns="0" rIns="0" tIns="0" bIns="0">
            <a:spAutoFit/>
          </a:bodyPr>
          <a:lstStyle/>
          <a:p>
            <a:r>
              <a:rPr sz="1150" b="0">
                <a:solidFill>
                  <a:srgbClr val="2E2E2E"/>
                </a:solidFill>
                <a:latin typeface="Calibri"/>
              </a:rPr>
              <a:t>and accounting for</a:t>
            </a:r>
          </a:p>
        </p:txBody>
      </p:sp>
      <p:pic>
        <p:nvPicPr>
          <p:cNvPr id="42" name="Picture 41" descr="lock.png"/>
          <p:cNvPicPr>
            <a:picLocks noChangeAspect="1"/>
          </p:cNvPicPr>
          <p:nvPr/>
        </p:nvPicPr>
        <p:blipFill>
          <a:blip r:embed="rId5"/>
          <a:stretch>
            <a:fillRect/>
          </a:stretch>
        </p:blipFill>
        <p:spPr>
          <a:xfrm>
            <a:off x="8969390" y="2318829"/>
            <a:ext cx="134549" cy="195707"/>
          </a:xfrm>
          <a:prstGeom prst="rect">
            <a:avLst/>
          </a:prstGeom>
        </p:spPr>
      </p:pic>
      <p:sp>
        <p:nvSpPr>
          <p:cNvPr id="43" name="TextBox 42"/>
          <p:cNvSpPr txBox="1"/>
          <p:nvPr/>
        </p:nvSpPr>
        <p:spPr>
          <a:xfrm>
            <a:off x="914450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Meat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Meat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Meat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Meat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Meat Type segment categorizes the market by meat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Claw Meat</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 Meat</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Lump</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Backfin</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Crab Leg Meat</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Jumbo Lump</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Meat Type split shows how demand is distributed across meat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_250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862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1_012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952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6_8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530_7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741_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3_4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403_7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634_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4_6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388_4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802_5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7_5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330_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617_7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6_4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708399" cy="186689"/>
          </a:xfrm>
          <a:prstGeom prst="rect">
            <a:avLst/>
          </a:prstGeom>
          <a:noFill/>
        </p:spPr>
        <p:txBody>
          <a:bodyPr wrap="none" lIns="0" rIns="0" tIns="0" bIns="0">
            <a:spAutoFit/>
          </a:bodyPr>
          <a:lstStyle/>
          <a:p>
            <a:r>
              <a:rPr sz="1100" b="0">
                <a:solidFill>
                  <a:srgbClr val="2E2E2E"/>
                </a:solidFill>
                <a:latin typeface="Calibri"/>
              </a:rPr>
              <a:t>Among crab meat by meat type, crab leg meat</a:t>
            </a:r>
          </a:p>
        </p:txBody>
      </p:sp>
      <p:sp>
        <p:nvSpPr>
          <p:cNvPr id="102" name="TextBox 101"/>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03" name="TextBox 102"/>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04" name="Picture 103" descr="lock.png"/>
          <p:cNvPicPr>
            <a:picLocks noChangeAspect="1"/>
          </p:cNvPicPr>
          <p:nvPr/>
        </p:nvPicPr>
        <p:blipFill>
          <a:blip r:embed="rId22"/>
          <a:stretch>
            <a:fillRect/>
          </a:stretch>
        </p:blipFill>
        <p:spPr>
          <a:xfrm>
            <a:off x="626261" y="4554938"/>
            <a:ext cx="128699" cy="187198"/>
          </a:xfrm>
          <a:prstGeom prst="rect">
            <a:avLst/>
          </a:prstGeom>
        </p:spPr>
      </p:pic>
      <p:sp>
        <p:nvSpPr>
          <p:cNvPr id="105" name="TextBox 104"/>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06" name="TextBox 105"/>
          <p:cNvSpPr txBox="1"/>
          <p:nvPr/>
        </p:nvSpPr>
        <p:spPr>
          <a:xfrm>
            <a:off x="485775" y="4732357"/>
            <a:ext cx="2813446" cy="186689"/>
          </a:xfrm>
          <a:prstGeom prst="rect">
            <a:avLst/>
          </a:prstGeom>
          <a:noFill/>
        </p:spPr>
        <p:txBody>
          <a:bodyPr wrap="none" lIns="0" rIns="0" tIns="0" bIns="0">
            <a:spAutoFit/>
          </a:bodyPr>
          <a:lstStyle/>
          <a:p>
            <a:r>
              <a:rPr sz="1100" b="0">
                <a:solidFill>
                  <a:srgbClr val="2E2E2E"/>
                </a:solidFill>
                <a:latin typeface="Calibri"/>
              </a:rPr>
              <a:t>share by meat type, the special meat segment is</a:t>
            </a:r>
          </a:p>
        </p:txBody>
      </p:sp>
      <p:sp>
        <p:nvSpPr>
          <p:cNvPr id="107" name="TextBox 106"/>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08" name="Picture 107" descr="lock.png"/>
          <p:cNvPicPr>
            <a:picLocks noChangeAspect="1"/>
          </p:cNvPicPr>
          <p:nvPr/>
        </p:nvPicPr>
        <p:blipFill>
          <a:blip r:embed="rId22"/>
          <a:stretch>
            <a:fillRect/>
          </a:stretch>
        </p:blipFill>
        <p:spPr>
          <a:xfrm>
            <a:off x="2900479" y="4890217"/>
            <a:ext cx="128699" cy="187198"/>
          </a:xfrm>
          <a:prstGeom prst="rect">
            <a:avLst/>
          </a:prstGeom>
        </p:spPr>
      </p:pic>
      <p:sp>
        <p:nvSpPr>
          <p:cNvPr id="109" name="TextBox 108"/>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0" name="TextBox 109"/>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1" name="Picture 110" descr="lock.png"/>
          <p:cNvPicPr>
            <a:picLocks noChangeAspect="1"/>
          </p:cNvPicPr>
          <p:nvPr/>
        </p:nvPicPr>
        <p:blipFill>
          <a:blip r:embed="rId22"/>
          <a:stretch>
            <a:fillRect/>
          </a:stretch>
        </p:blipFill>
        <p:spPr>
          <a:xfrm>
            <a:off x="1576057" y="5057858"/>
            <a:ext cx="128699" cy="187198"/>
          </a:xfrm>
          <a:prstGeom prst="rect">
            <a:avLst/>
          </a:prstGeom>
        </p:spPr>
      </p:pic>
      <p:sp>
        <p:nvSpPr>
          <p:cNvPr id="112" name="TextBox 111"/>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285569"/>
            <a:ext cx="2641823" cy="186689"/>
          </a:xfrm>
          <a:prstGeom prst="rect">
            <a:avLst/>
          </a:prstGeom>
          <a:noFill/>
        </p:spPr>
        <p:txBody>
          <a:bodyPr wrap="none" lIns="0" rIns="0" tIns="0" bIns="0">
            <a:spAutoFit/>
          </a:bodyPr>
          <a:lstStyle/>
          <a:p>
            <a:r>
              <a:rPr sz="1100" b="0">
                <a:solidFill>
                  <a:srgbClr val="2E2E2E"/>
                </a:solidFill>
                <a:latin typeface="Calibri"/>
              </a:rPr>
              <a:t>Special meat segment is projected to register</a:t>
            </a:r>
          </a:p>
        </p:txBody>
      </p:sp>
      <p:pic>
        <p:nvPicPr>
          <p:cNvPr id="114" name="Picture 113" descr="lock.png"/>
          <p:cNvPicPr>
            <a:picLocks noChangeAspect="1"/>
          </p:cNvPicPr>
          <p:nvPr/>
        </p:nvPicPr>
        <p:blipFill>
          <a:blip r:embed="rId22"/>
          <a:stretch>
            <a:fillRect/>
          </a:stretch>
        </p:blipFill>
        <p:spPr>
          <a:xfrm>
            <a:off x="3075649" y="5275790"/>
            <a:ext cx="128699" cy="187198"/>
          </a:xfrm>
          <a:prstGeom prst="rect">
            <a:avLst/>
          </a:prstGeom>
        </p:spPr>
      </p:pic>
      <p:sp>
        <p:nvSpPr>
          <p:cNvPr id="115" name="TextBox 114"/>
          <p:cNvSpPr txBox="1"/>
          <p:nvPr/>
        </p:nvSpPr>
        <p:spPr>
          <a:xfrm>
            <a:off x="3243145"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6" name="TextBox 115"/>
          <p:cNvSpPr txBox="1"/>
          <p:nvPr/>
        </p:nvSpPr>
        <p:spPr>
          <a:xfrm>
            <a:off x="485775" y="5453209"/>
            <a:ext cx="2695575" cy="186689"/>
          </a:xfrm>
          <a:prstGeom prst="rect">
            <a:avLst/>
          </a:prstGeom>
          <a:noFill/>
        </p:spPr>
        <p:txBody>
          <a:bodyPr wrap="none" lIns="0" rIns="0" tIns="0" bIns="0">
            <a:spAutoFit/>
          </a:bodyPr>
          <a:lstStyle/>
          <a:p>
            <a:r>
              <a:rPr sz="1100" b="0">
                <a:solidFill>
                  <a:srgbClr val="2E2E2E"/>
                </a:solidFill>
                <a:latin typeface="Calibri"/>
              </a:rPr>
              <a:t>higher value than claw meat segment in 2036.</a:t>
            </a:r>
          </a:p>
        </p:txBody>
      </p:sp>
      <p:sp>
        <p:nvSpPr>
          <p:cNvPr id="117" name="TextBox 116"/>
          <p:cNvSpPr txBox="1"/>
          <p:nvPr/>
        </p:nvSpPr>
        <p:spPr>
          <a:xfrm>
            <a:off x="3838575" y="4229437"/>
            <a:ext cx="837455" cy="186689"/>
          </a:xfrm>
          <a:prstGeom prst="rect">
            <a:avLst/>
          </a:prstGeom>
          <a:noFill/>
        </p:spPr>
        <p:txBody>
          <a:bodyPr wrap="none" lIns="0" rIns="0" tIns="0" bIns="0">
            <a:spAutoFit/>
          </a:bodyPr>
          <a:lstStyle/>
          <a:p>
            <a:r>
              <a:rPr sz="1100" b="0">
                <a:solidFill>
                  <a:srgbClr val="2E2E2E"/>
                </a:solidFill>
                <a:latin typeface="Calibri"/>
              </a:rPr>
              <a:t>● Claw Meat:</a:t>
            </a:r>
          </a:p>
        </p:txBody>
      </p:sp>
      <p:pic>
        <p:nvPicPr>
          <p:cNvPr id="118" name="Picture 117" descr="lock.png"/>
          <p:cNvPicPr>
            <a:picLocks noChangeAspect="1"/>
          </p:cNvPicPr>
          <p:nvPr/>
        </p:nvPicPr>
        <p:blipFill>
          <a:blip r:embed="rId22"/>
          <a:stretch>
            <a:fillRect/>
          </a:stretch>
        </p:blipFill>
        <p:spPr>
          <a:xfrm>
            <a:off x="4624082" y="4219658"/>
            <a:ext cx="128699" cy="187198"/>
          </a:xfrm>
          <a:prstGeom prst="rect">
            <a:avLst/>
          </a:prstGeom>
        </p:spPr>
      </p:pic>
      <p:sp>
        <p:nvSpPr>
          <p:cNvPr id="119" name="TextBox 118"/>
          <p:cNvSpPr txBox="1"/>
          <p:nvPr/>
        </p:nvSpPr>
        <p:spPr>
          <a:xfrm>
            <a:off x="479157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651028" y="4219658"/>
            <a:ext cx="128699" cy="187198"/>
          </a:xfrm>
          <a:prstGeom prst="rect">
            <a:avLst/>
          </a:prstGeom>
        </p:spPr>
      </p:pic>
      <p:sp>
        <p:nvSpPr>
          <p:cNvPr id="121" name="TextBox 120"/>
          <p:cNvSpPr txBox="1"/>
          <p:nvPr/>
        </p:nvSpPr>
        <p:spPr>
          <a:xfrm>
            <a:off x="5818524"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2" name="TextBox 121"/>
          <p:cNvSpPr txBox="1"/>
          <p:nvPr/>
        </p:nvSpPr>
        <p:spPr>
          <a:xfrm>
            <a:off x="3838575" y="4447369"/>
            <a:ext cx="961603" cy="186689"/>
          </a:xfrm>
          <a:prstGeom prst="rect">
            <a:avLst/>
          </a:prstGeom>
          <a:noFill/>
        </p:spPr>
        <p:txBody>
          <a:bodyPr wrap="none" lIns="0" rIns="0" tIns="0" bIns="0">
            <a:spAutoFit/>
          </a:bodyPr>
          <a:lstStyle/>
          <a:p>
            <a:r>
              <a:rPr sz="1100" b="0">
                <a:solidFill>
                  <a:srgbClr val="2E2E2E"/>
                </a:solidFill>
                <a:latin typeface="Calibri"/>
              </a:rPr>
              <a:t>● Special Meat:</a:t>
            </a:r>
          </a:p>
        </p:txBody>
      </p:sp>
      <p:pic>
        <p:nvPicPr>
          <p:cNvPr id="123" name="Picture 122" descr="lock.png"/>
          <p:cNvPicPr>
            <a:picLocks noChangeAspect="1"/>
          </p:cNvPicPr>
          <p:nvPr/>
        </p:nvPicPr>
        <p:blipFill>
          <a:blip r:embed="rId22"/>
          <a:stretch>
            <a:fillRect/>
          </a:stretch>
        </p:blipFill>
        <p:spPr>
          <a:xfrm>
            <a:off x="4748229" y="4437590"/>
            <a:ext cx="128699" cy="187198"/>
          </a:xfrm>
          <a:prstGeom prst="rect">
            <a:avLst/>
          </a:prstGeom>
        </p:spPr>
      </p:pic>
      <p:sp>
        <p:nvSpPr>
          <p:cNvPr id="124" name="TextBox 123"/>
          <p:cNvSpPr txBox="1"/>
          <p:nvPr/>
        </p:nvSpPr>
        <p:spPr>
          <a:xfrm>
            <a:off x="491572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5775175" y="4437590"/>
            <a:ext cx="128699" cy="187198"/>
          </a:xfrm>
          <a:prstGeom prst="rect">
            <a:avLst/>
          </a:prstGeom>
        </p:spPr>
      </p:pic>
      <p:sp>
        <p:nvSpPr>
          <p:cNvPr id="126" name="TextBox 125"/>
          <p:cNvSpPr txBox="1"/>
          <p:nvPr/>
        </p:nvSpPr>
        <p:spPr>
          <a:xfrm>
            <a:off x="5942671"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7" name="TextBox 126"/>
          <p:cNvSpPr txBox="1"/>
          <p:nvPr/>
        </p:nvSpPr>
        <p:spPr>
          <a:xfrm>
            <a:off x="3838575" y="4665301"/>
            <a:ext cx="546596" cy="186689"/>
          </a:xfrm>
          <a:prstGeom prst="rect">
            <a:avLst/>
          </a:prstGeom>
          <a:noFill/>
        </p:spPr>
        <p:txBody>
          <a:bodyPr wrap="none" lIns="0" rIns="0" tIns="0" bIns="0">
            <a:spAutoFit/>
          </a:bodyPr>
          <a:lstStyle/>
          <a:p>
            <a:r>
              <a:rPr sz="1100" b="0">
                <a:solidFill>
                  <a:srgbClr val="2E2E2E"/>
                </a:solidFill>
                <a:latin typeface="Calibri"/>
              </a:rPr>
              <a:t>● Lump:</a:t>
            </a:r>
          </a:p>
        </p:txBody>
      </p:sp>
      <p:pic>
        <p:nvPicPr>
          <p:cNvPr id="128" name="Picture 127" descr="lock.png"/>
          <p:cNvPicPr>
            <a:picLocks noChangeAspect="1"/>
          </p:cNvPicPr>
          <p:nvPr/>
        </p:nvPicPr>
        <p:blipFill>
          <a:blip r:embed="rId22"/>
          <a:stretch>
            <a:fillRect/>
          </a:stretch>
        </p:blipFill>
        <p:spPr>
          <a:xfrm>
            <a:off x="4333222" y="4655522"/>
            <a:ext cx="128699" cy="187198"/>
          </a:xfrm>
          <a:prstGeom prst="rect">
            <a:avLst/>
          </a:prstGeom>
        </p:spPr>
      </p:pic>
      <p:sp>
        <p:nvSpPr>
          <p:cNvPr id="129" name="TextBox 128"/>
          <p:cNvSpPr txBox="1"/>
          <p:nvPr/>
        </p:nvSpPr>
        <p:spPr>
          <a:xfrm>
            <a:off x="450071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5360168" y="4655522"/>
            <a:ext cx="128699" cy="187198"/>
          </a:xfrm>
          <a:prstGeom prst="rect">
            <a:avLst/>
          </a:prstGeom>
        </p:spPr>
      </p:pic>
      <p:sp>
        <p:nvSpPr>
          <p:cNvPr id="131" name="TextBox 130"/>
          <p:cNvSpPr txBox="1"/>
          <p:nvPr/>
        </p:nvSpPr>
        <p:spPr>
          <a:xfrm>
            <a:off x="5527664"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3838575" y="4883233"/>
            <a:ext cx="643458" cy="186689"/>
          </a:xfrm>
          <a:prstGeom prst="rect">
            <a:avLst/>
          </a:prstGeom>
          <a:noFill/>
        </p:spPr>
        <p:txBody>
          <a:bodyPr wrap="none" lIns="0" rIns="0" tIns="0" bIns="0">
            <a:spAutoFit/>
          </a:bodyPr>
          <a:lstStyle/>
          <a:p>
            <a:r>
              <a:rPr sz="1100" b="0">
                <a:solidFill>
                  <a:srgbClr val="2E2E2E"/>
                </a:solidFill>
                <a:latin typeface="Calibri"/>
              </a:rPr>
              <a:t>● Backfin:</a:t>
            </a:r>
          </a:p>
        </p:txBody>
      </p:sp>
      <p:pic>
        <p:nvPicPr>
          <p:cNvPr id="133" name="Picture 132" descr="lock.png"/>
          <p:cNvPicPr>
            <a:picLocks noChangeAspect="1"/>
          </p:cNvPicPr>
          <p:nvPr/>
        </p:nvPicPr>
        <p:blipFill>
          <a:blip r:embed="rId22"/>
          <a:stretch>
            <a:fillRect/>
          </a:stretch>
        </p:blipFill>
        <p:spPr>
          <a:xfrm>
            <a:off x="4430084" y="4873454"/>
            <a:ext cx="128699" cy="187198"/>
          </a:xfrm>
          <a:prstGeom prst="rect">
            <a:avLst/>
          </a:prstGeom>
        </p:spPr>
      </p:pic>
      <p:sp>
        <p:nvSpPr>
          <p:cNvPr id="134" name="TextBox 133"/>
          <p:cNvSpPr txBox="1"/>
          <p:nvPr/>
        </p:nvSpPr>
        <p:spPr>
          <a:xfrm>
            <a:off x="459758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5457031" y="4873454"/>
            <a:ext cx="128699" cy="187198"/>
          </a:xfrm>
          <a:prstGeom prst="rect">
            <a:avLst/>
          </a:prstGeom>
        </p:spPr>
      </p:pic>
      <p:sp>
        <p:nvSpPr>
          <p:cNvPr id="136" name="TextBox 135"/>
          <p:cNvSpPr txBox="1"/>
          <p:nvPr/>
        </p:nvSpPr>
        <p:spPr>
          <a:xfrm>
            <a:off x="562452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101165"/>
            <a:ext cx="1053281" cy="186689"/>
          </a:xfrm>
          <a:prstGeom prst="rect">
            <a:avLst/>
          </a:prstGeom>
          <a:noFill/>
        </p:spPr>
        <p:txBody>
          <a:bodyPr wrap="none" lIns="0" rIns="0" tIns="0" bIns="0">
            <a:spAutoFit/>
          </a:bodyPr>
          <a:lstStyle/>
          <a:p>
            <a:r>
              <a:rPr sz="1100" b="0">
                <a:solidFill>
                  <a:srgbClr val="2E2E2E"/>
                </a:solidFill>
                <a:latin typeface="Calibri"/>
              </a:rPr>
              <a:t>● Crab Leg Meat:</a:t>
            </a:r>
          </a:p>
        </p:txBody>
      </p:sp>
      <p:pic>
        <p:nvPicPr>
          <p:cNvPr id="138" name="Picture 137" descr="lock.png"/>
          <p:cNvPicPr>
            <a:picLocks noChangeAspect="1"/>
          </p:cNvPicPr>
          <p:nvPr/>
        </p:nvPicPr>
        <p:blipFill>
          <a:blip r:embed="rId22"/>
          <a:stretch>
            <a:fillRect/>
          </a:stretch>
        </p:blipFill>
        <p:spPr>
          <a:xfrm>
            <a:off x="4839908" y="5091385"/>
            <a:ext cx="128699" cy="187198"/>
          </a:xfrm>
          <a:prstGeom prst="rect">
            <a:avLst/>
          </a:prstGeom>
        </p:spPr>
      </p:pic>
      <p:sp>
        <p:nvSpPr>
          <p:cNvPr id="139" name="TextBox 138"/>
          <p:cNvSpPr txBox="1"/>
          <p:nvPr/>
        </p:nvSpPr>
        <p:spPr>
          <a:xfrm>
            <a:off x="500740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5866854" y="5091385"/>
            <a:ext cx="128699" cy="187198"/>
          </a:xfrm>
          <a:prstGeom prst="rect">
            <a:avLst/>
          </a:prstGeom>
        </p:spPr>
      </p:pic>
      <p:sp>
        <p:nvSpPr>
          <p:cNvPr id="141" name="TextBox 140"/>
          <p:cNvSpPr txBox="1"/>
          <p:nvPr/>
        </p:nvSpPr>
        <p:spPr>
          <a:xfrm>
            <a:off x="6034349" y="5101165"/>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2" name="TextBox 141"/>
          <p:cNvSpPr txBox="1"/>
          <p:nvPr/>
        </p:nvSpPr>
        <p:spPr>
          <a:xfrm>
            <a:off x="3838575" y="5319097"/>
            <a:ext cx="954782" cy="186689"/>
          </a:xfrm>
          <a:prstGeom prst="rect">
            <a:avLst/>
          </a:prstGeom>
          <a:noFill/>
        </p:spPr>
        <p:txBody>
          <a:bodyPr wrap="none" lIns="0" rIns="0" tIns="0" bIns="0">
            <a:spAutoFit/>
          </a:bodyPr>
          <a:lstStyle/>
          <a:p>
            <a:r>
              <a:rPr sz="1100" b="0">
                <a:solidFill>
                  <a:srgbClr val="2E2E2E"/>
                </a:solidFill>
                <a:latin typeface="Calibri"/>
              </a:rPr>
              <a:t>● Jumbo Lump:</a:t>
            </a:r>
          </a:p>
        </p:txBody>
      </p:sp>
      <p:pic>
        <p:nvPicPr>
          <p:cNvPr id="143" name="Picture 142" descr="lock.png"/>
          <p:cNvPicPr>
            <a:picLocks noChangeAspect="1"/>
          </p:cNvPicPr>
          <p:nvPr/>
        </p:nvPicPr>
        <p:blipFill>
          <a:blip r:embed="rId22"/>
          <a:stretch>
            <a:fillRect/>
          </a:stretch>
        </p:blipFill>
        <p:spPr>
          <a:xfrm>
            <a:off x="4741408" y="5309317"/>
            <a:ext cx="128699" cy="187198"/>
          </a:xfrm>
          <a:prstGeom prst="rect">
            <a:avLst/>
          </a:prstGeom>
        </p:spPr>
      </p:pic>
      <p:sp>
        <p:nvSpPr>
          <p:cNvPr id="144" name="TextBox 143"/>
          <p:cNvSpPr txBox="1"/>
          <p:nvPr/>
        </p:nvSpPr>
        <p:spPr>
          <a:xfrm>
            <a:off x="490890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5768354" y="5309317"/>
            <a:ext cx="128699" cy="187198"/>
          </a:xfrm>
          <a:prstGeom prst="rect">
            <a:avLst/>
          </a:prstGeom>
        </p:spPr>
      </p:pic>
      <p:sp>
        <p:nvSpPr>
          <p:cNvPr id="146" name="TextBox 145"/>
          <p:cNvSpPr txBox="1"/>
          <p:nvPr/>
        </p:nvSpPr>
        <p:spPr>
          <a:xfrm>
            <a:off x="5935850" y="531909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7" name="TextBox 146"/>
          <p:cNvSpPr txBox="1"/>
          <p:nvPr/>
        </p:nvSpPr>
        <p:spPr>
          <a:xfrm>
            <a:off x="8524875" y="5842641"/>
            <a:ext cx="3050257" cy="194310"/>
          </a:xfrm>
          <a:prstGeom prst="rect">
            <a:avLst/>
          </a:prstGeom>
          <a:noFill/>
        </p:spPr>
        <p:txBody>
          <a:bodyPr wrap="none" lIns="0" rIns="0" tIns="0" bIns="0">
            <a:spAutoFit/>
          </a:bodyPr>
          <a:lstStyle/>
          <a:p>
            <a:r>
              <a:rPr sz="1150" b="1">
                <a:solidFill>
                  <a:srgbClr val="0B2E4A"/>
                </a:solidFill>
                <a:latin typeface="Calibri"/>
              </a:rPr>
              <a:t>The Meat Type segment is projected to grow at a</a:t>
            </a:r>
          </a:p>
        </p:txBody>
      </p:sp>
      <p:sp>
        <p:nvSpPr>
          <p:cNvPr id="148" name="TextBox 14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49" name="Picture 148" descr="lock.png"/>
          <p:cNvPicPr>
            <a:picLocks noChangeAspect="1"/>
          </p:cNvPicPr>
          <p:nvPr/>
        </p:nvPicPr>
        <p:blipFill>
          <a:blip r:embed="rId22"/>
          <a:stretch>
            <a:fillRect/>
          </a:stretch>
        </p:blipFill>
        <p:spPr>
          <a:xfrm>
            <a:off x="9048826" y="6007677"/>
            <a:ext cx="134549" cy="195707"/>
          </a:xfrm>
          <a:prstGeom prst="rect">
            <a:avLst/>
          </a:prstGeom>
        </p:spPr>
      </p:pic>
      <p:sp>
        <p:nvSpPr>
          <p:cNvPr id="150" name="TextBox 14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Meat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Meat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Meat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Meat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57384" cy="186689"/>
          </a:xfrm>
          <a:prstGeom prst="rect">
            <a:avLst/>
          </a:prstGeom>
          <a:noFill/>
        </p:spPr>
        <p:txBody>
          <a:bodyPr wrap="none" lIns="0" rIns="0" tIns="0" bIns="0">
            <a:spAutoFit/>
          </a:bodyPr>
          <a:lstStyle/>
          <a:p>
            <a:r>
              <a:rPr sz="1100" b="0">
                <a:solidFill>
                  <a:srgbClr val="2E2E2E"/>
                </a:solidFill>
                <a:latin typeface="Calibri"/>
              </a:rPr>
              <a:t>Special meat followed by claw meat are expected to be the two most attractive meat type segments in the Europe crab meat market in terms of value over the forecast period. Special meat and claw meat</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277841" cy="186689"/>
          </a:xfrm>
          <a:prstGeom prst="rect">
            <a:avLst/>
          </a:prstGeom>
          <a:noFill/>
        </p:spPr>
        <p:txBody>
          <a:bodyPr wrap="none" lIns="0" rIns="0" tIns="0" bIns="0">
            <a:spAutoFit/>
          </a:bodyPr>
          <a:lstStyle/>
          <a:p>
            <a:r>
              <a:rPr sz="1100" b="0">
                <a:solidFill>
                  <a:srgbClr val="2E2E2E"/>
                </a:solidFill>
                <a:latin typeface="Calibri"/>
              </a:rPr>
              <a:t>. The lump segment is expected to be less attractive as compared to other</a:t>
            </a:r>
          </a:p>
        </p:txBody>
      </p:sp>
      <p:sp>
        <p:nvSpPr>
          <p:cNvPr id="31" name="TextBox 30"/>
          <p:cNvSpPr txBox="1"/>
          <p:nvPr/>
        </p:nvSpPr>
        <p:spPr>
          <a:xfrm>
            <a:off x="257175" y="6113145"/>
            <a:ext cx="9501823" cy="186689"/>
          </a:xfrm>
          <a:prstGeom prst="rect">
            <a:avLst/>
          </a:prstGeom>
          <a:noFill/>
        </p:spPr>
        <p:txBody>
          <a:bodyPr wrap="none" lIns="0" rIns="0" tIns="0" bIns="0">
            <a:spAutoFit/>
          </a:bodyPr>
          <a:lstStyle/>
          <a:p>
            <a:r>
              <a:rPr sz="1100" b="0">
                <a:solidFill>
                  <a:srgbClr val="2E2E2E"/>
                </a:solidFill>
                <a:latin typeface="Calibri"/>
              </a:rPr>
              <a:t>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Meat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Meat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Jumbo Lump</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Lump</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Backfin</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Special Meat</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Meat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Meat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Claw Meat</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Crab Leg Meat</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Europe Absolute $ Opportunity Analysis, By Meat Type</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248301" cy="194310"/>
          </a:xfrm>
          <a:prstGeom prst="rect">
            <a:avLst/>
          </a:prstGeom>
          <a:noFill/>
        </p:spPr>
        <p:txBody>
          <a:bodyPr wrap="none" lIns="0" rIns="0" tIns="0" bIns="0">
            <a:spAutoFit/>
          </a:bodyPr>
          <a:lstStyle/>
          <a:p>
            <a:r>
              <a:rPr sz="1150" b="0">
                <a:solidFill>
                  <a:srgbClr val="2E2E2E"/>
                </a:solidFill>
                <a:latin typeface="Calibri"/>
              </a:rPr>
              <a:t>By 2036, special meat segment is anticipated to witness an increase of</a:t>
            </a:r>
          </a:p>
        </p:txBody>
      </p:sp>
      <p:pic>
        <p:nvPicPr>
          <p:cNvPr id="24" name="Picture 23" descr="lock.png"/>
          <p:cNvPicPr>
            <a:picLocks noChangeAspect="1"/>
          </p:cNvPicPr>
          <p:nvPr/>
        </p:nvPicPr>
        <p:blipFill>
          <a:blip r:embed="rId6"/>
          <a:stretch>
            <a:fillRect/>
          </a:stretch>
        </p:blipFill>
        <p:spPr>
          <a:xfrm>
            <a:off x="10503005" y="1389951"/>
            <a:ext cx="134549" cy="195707"/>
          </a:xfrm>
          <a:prstGeom prst="rect">
            <a:avLst/>
          </a:prstGeom>
        </p:spPr>
      </p:pic>
      <p:sp>
        <p:nvSpPr>
          <p:cNvPr id="25" name="TextBox 24"/>
          <p:cNvSpPr txBox="1"/>
          <p:nvPr/>
        </p:nvSpPr>
        <p:spPr>
          <a:xfrm>
            <a:off x="10678114" y="140017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6" name="TextBox 25"/>
          <p:cNvSpPr txBox="1"/>
          <p:nvPr/>
        </p:nvSpPr>
        <p:spPr>
          <a:xfrm>
            <a:off x="6305550" y="1575435"/>
            <a:ext cx="5145732" cy="194310"/>
          </a:xfrm>
          <a:prstGeom prst="rect">
            <a:avLst/>
          </a:prstGeom>
          <a:noFill/>
        </p:spPr>
        <p:txBody>
          <a:bodyPr wrap="none" lIns="0" rIns="0" tIns="0" bIns="0">
            <a:spAutoFit/>
          </a:bodyPr>
          <a:lstStyle/>
          <a:p>
            <a:r>
              <a:rPr sz="1150" b="0">
                <a:solidFill>
                  <a:srgbClr val="2E2E2E"/>
                </a:solidFill>
                <a:latin typeface="Calibri"/>
              </a:rPr>
              <a:t>as compared to 2026. The special meat segment is expected to create an incremental</a:t>
            </a:r>
          </a:p>
        </p:txBody>
      </p:sp>
      <p:sp>
        <p:nvSpPr>
          <p:cNvPr id="27" name="TextBox 26"/>
          <p:cNvSpPr txBox="1"/>
          <p:nvPr/>
        </p:nvSpPr>
        <p:spPr>
          <a:xfrm>
            <a:off x="6305550" y="175069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8" name="Picture 27" descr="lock.png"/>
          <p:cNvPicPr>
            <a:picLocks noChangeAspect="1"/>
          </p:cNvPicPr>
          <p:nvPr/>
        </p:nvPicPr>
        <p:blipFill>
          <a:blip r:embed="rId6"/>
          <a:stretch>
            <a:fillRect/>
          </a:stretch>
        </p:blipFill>
        <p:spPr>
          <a:xfrm>
            <a:off x="7463647" y="1740471"/>
            <a:ext cx="134549" cy="195707"/>
          </a:xfrm>
          <a:prstGeom prst="rect">
            <a:avLst/>
          </a:prstGeom>
        </p:spPr>
      </p:pic>
      <p:sp>
        <p:nvSpPr>
          <p:cNvPr id="29" name="TextBox 28"/>
          <p:cNvSpPr txBox="1"/>
          <p:nvPr/>
        </p:nvSpPr>
        <p:spPr>
          <a:xfrm>
            <a:off x="7638756"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30" name="TextBox 29"/>
          <p:cNvSpPr txBox="1"/>
          <p:nvPr/>
        </p:nvSpPr>
        <p:spPr>
          <a:xfrm>
            <a:off x="6305550" y="1978533"/>
            <a:ext cx="4854202" cy="194310"/>
          </a:xfrm>
          <a:prstGeom prst="rect">
            <a:avLst/>
          </a:prstGeom>
          <a:noFill/>
        </p:spPr>
        <p:txBody>
          <a:bodyPr wrap="none" lIns="0" rIns="0" tIns="0" bIns="0">
            <a:spAutoFit/>
          </a:bodyPr>
          <a:lstStyle/>
          <a:p>
            <a:r>
              <a:rPr sz="1150" b="0">
                <a:solidFill>
                  <a:srgbClr val="2E2E2E"/>
                </a:solidFill>
                <a:latin typeface="Calibri"/>
              </a:rPr>
              <a:t>The claw meat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108906" y="1968309"/>
            <a:ext cx="134549" cy="195707"/>
          </a:xfrm>
          <a:prstGeom prst="rect">
            <a:avLst/>
          </a:prstGeom>
        </p:spPr>
      </p:pic>
      <p:sp>
        <p:nvSpPr>
          <p:cNvPr id="32" name="TextBox 31"/>
          <p:cNvSpPr txBox="1"/>
          <p:nvPr/>
        </p:nvSpPr>
        <p:spPr>
          <a:xfrm>
            <a:off x="11284016" y="197853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153793"/>
            <a:ext cx="5487751" cy="194310"/>
          </a:xfrm>
          <a:prstGeom prst="rect">
            <a:avLst/>
          </a:prstGeom>
          <a:noFill/>
        </p:spPr>
        <p:txBody>
          <a:bodyPr wrap="none" lIns="0" rIns="0" tIns="0" bIns="0">
            <a:spAutoFit/>
          </a:bodyPr>
          <a:lstStyle/>
          <a:p>
            <a:r>
              <a:rPr sz="1150" b="0">
                <a:solidFill>
                  <a:srgbClr val="2E2E2E"/>
                </a:solidFill>
                <a:latin typeface="Calibri"/>
              </a:rPr>
              <a:t>the overall crab meat market from 2026 to 2036. The crab leg meat segment is expected to</a:t>
            </a:r>
          </a:p>
        </p:txBody>
      </p:sp>
      <p:sp>
        <p:nvSpPr>
          <p:cNvPr id="34" name="TextBox 33"/>
          <p:cNvSpPr txBox="1"/>
          <p:nvPr/>
        </p:nvSpPr>
        <p:spPr>
          <a:xfrm>
            <a:off x="6305550" y="2329053"/>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5" name="Picture 34" descr="lock.png"/>
          <p:cNvPicPr>
            <a:picLocks noChangeAspect="1"/>
          </p:cNvPicPr>
          <p:nvPr/>
        </p:nvPicPr>
        <p:blipFill>
          <a:blip r:embed="rId6"/>
          <a:stretch>
            <a:fillRect/>
          </a:stretch>
        </p:blipFill>
        <p:spPr>
          <a:xfrm>
            <a:off x="8801773" y="2318829"/>
            <a:ext cx="134549" cy="195707"/>
          </a:xfrm>
          <a:prstGeom prst="rect">
            <a:avLst/>
          </a:prstGeom>
        </p:spPr>
      </p:pic>
      <p:sp>
        <p:nvSpPr>
          <p:cNvPr id="36" name="TextBox 35"/>
          <p:cNvSpPr txBox="1"/>
          <p:nvPr/>
        </p:nvSpPr>
        <p:spPr>
          <a:xfrm>
            <a:off x="8976882" y="2329053"/>
            <a:ext cx="2897361"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a:t>
            </a:r>
          </a:p>
        </p:txBody>
      </p:sp>
      <p:sp>
        <p:nvSpPr>
          <p:cNvPr id="37" name="TextBox 36"/>
          <p:cNvSpPr txBox="1"/>
          <p:nvPr/>
        </p:nvSpPr>
        <p:spPr>
          <a:xfrm>
            <a:off x="6305550" y="2504313"/>
            <a:ext cx="568833" cy="194310"/>
          </a:xfrm>
          <a:prstGeom prst="rect">
            <a:avLst/>
          </a:prstGeom>
          <a:noFill/>
        </p:spPr>
        <p:txBody>
          <a:bodyPr wrap="none" lIns="0" rIns="0" tIns="0" bIns="0">
            <a:spAutoFit/>
          </a:bodyPr>
          <a:lstStyle/>
          <a:p>
            <a:r>
              <a:rPr sz="1150" b="0">
                <a:solidFill>
                  <a:srgbClr val="2E2E2E"/>
                </a:solidFill>
                <a:latin typeface="Calibri"/>
              </a:rPr>
              <a:t>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Meat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Meat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Meat Type (US$ Mn)</a:t>
            </a:r>
          </a:p>
        </p:txBody>
      </p:sp>
      <p:graphicFrame>
        <p:nvGraphicFramePr>
          <p:cNvPr id="12" name="Table 11"/>
          <p:cNvGraphicFramePr>
            <a:graphicFrameLocks noGrp="1"/>
          </p:cNvGraphicFramePr>
          <p:nvPr/>
        </p:nvGraphicFramePr>
        <p:xfrm>
          <a:off x="152400" y="1238250"/>
          <a:ext cx="11887193" cy="1971675"/>
        </p:xfrm>
        <a:graphic>
          <a:graphicData uri="http://schemas.openxmlformats.org/drawingml/2006/table">
            <a:tbl>
              <a:tblPr>
                <a:tableStyleId>{5C22544A-7EE6-4342-B048-85BDC9FD1C3A}</a:tableStyleId>
              </a:tblPr>
              <a:tblGrid>
                <a:gridCol w="1111352"/>
                <a:gridCol w="633873"/>
                <a:gridCol w="633873"/>
                <a:gridCol w="633873"/>
                <a:gridCol w="633873"/>
                <a:gridCol w="633873"/>
                <a:gridCol w="633873"/>
                <a:gridCol w="633873"/>
                <a:gridCol w="633873"/>
                <a:gridCol w="633873"/>
                <a:gridCol w="633873"/>
                <a:gridCol w="633873"/>
                <a:gridCol w="633873"/>
                <a:gridCol w="633873"/>
                <a:gridCol w="633873"/>
                <a:gridCol w="633873"/>
                <a:gridCol w="633873"/>
                <a:gridCol w="633873"/>
              </a:tblGrid>
              <a:tr h="246126">
                <a:tc>
                  <a:txBody>
                    <a:bodyPr wrap="none"/>
                    <a:lstStyle/>
                    <a:p>
                      <a:pPr algn="l"/>
                      <a:r>
                        <a:rPr sz="1100" b="1">
                          <a:solidFill>
                            <a:srgbClr val="0B2E4A"/>
                          </a:solidFill>
                          <a:latin typeface="Calibri"/>
                        </a:rPr>
                        <a:t>Meat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Jumbo Lump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Lump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Backfin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Claw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Crab Leg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Meat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64982" y="2080450"/>
            <a:ext cx="366712" cy="533400"/>
          </a:xfrm>
          <a:prstGeom prst="rect">
            <a:avLst/>
          </a:prstGeom>
        </p:spPr>
      </p:pic>
      <p:sp>
        <p:nvSpPr>
          <p:cNvPr id="20" name="TextBox 19"/>
          <p:cNvSpPr txBox="1"/>
          <p:nvPr/>
        </p:nvSpPr>
        <p:spPr>
          <a:xfrm>
            <a:off x="276225" y="3971925"/>
            <a:ext cx="2758442" cy="194310"/>
          </a:xfrm>
          <a:prstGeom prst="rect">
            <a:avLst/>
          </a:prstGeom>
          <a:noFill/>
        </p:spPr>
        <p:txBody>
          <a:bodyPr wrap="none" lIns="0" rIns="0" tIns="0" bIns="0">
            <a:spAutoFit/>
          </a:bodyPr>
          <a:lstStyle/>
          <a:p>
            <a:r>
              <a:rPr sz="1150" b="0">
                <a:solidFill>
                  <a:srgbClr val="2E2E2E"/>
                </a:solidFill>
                <a:latin typeface="Calibri"/>
              </a:rPr>
              <a:t>Special meat segment is projected to register</a:t>
            </a:r>
          </a:p>
        </p:txBody>
      </p:sp>
      <p:pic>
        <p:nvPicPr>
          <p:cNvPr id="21" name="Picture 20" descr="lock.png"/>
          <p:cNvPicPr>
            <a:picLocks noChangeAspect="1"/>
          </p:cNvPicPr>
          <p:nvPr/>
        </p:nvPicPr>
        <p:blipFill>
          <a:blip r:embed="rId4"/>
          <a:stretch>
            <a:fillRect/>
          </a:stretch>
        </p:blipFill>
        <p:spPr>
          <a:xfrm>
            <a:off x="2983821" y="3961701"/>
            <a:ext cx="134549" cy="195707"/>
          </a:xfrm>
          <a:prstGeom prst="rect">
            <a:avLst/>
          </a:prstGeom>
        </p:spPr>
      </p:pic>
      <p:sp>
        <p:nvSpPr>
          <p:cNvPr id="22" name="TextBox 21"/>
          <p:cNvSpPr txBox="1"/>
          <p:nvPr/>
        </p:nvSpPr>
        <p:spPr>
          <a:xfrm>
            <a:off x="3158930" y="3971925"/>
            <a:ext cx="8667459" cy="194310"/>
          </a:xfrm>
          <a:prstGeom prst="rect">
            <a:avLst/>
          </a:prstGeom>
          <a:noFill/>
        </p:spPr>
        <p:txBody>
          <a:bodyPr wrap="none" lIns="0" rIns="0" tIns="0" bIns="0">
            <a:spAutoFit/>
          </a:bodyPr>
          <a:lstStyle/>
          <a:p>
            <a:r>
              <a:rPr sz="1150" b="0">
                <a:solidFill>
                  <a:srgbClr val="2E2E2E"/>
                </a:solidFill>
                <a:latin typeface="Calibri"/>
              </a:rPr>
              <a:t>X higher value than claw meat segment in 2036. Among crab meat by meat type, crab leg meat segment is expected to witness the highest CAGR</a:t>
            </a:r>
          </a:p>
        </p:txBody>
      </p:sp>
      <p:sp>
        <p:nvSpPr>
          <p:cNvPr id="23" name="TextBox 22"/>
          <p:cNvSpPr txBox="1"/>
          <p:nvPr/>
        </p:nvSpPr>
        <p:spPr>
          <a:xfrm>
            <a:off x="276225" y="414718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4136961"/>
            <a:ext cx="134549" cy="195707"/>
          </a:xfrm>
          <a:prstGeom prst="rect">
            <a:avLst/>
          </a:prstGeom>
        </p:spPr>
      </p:pic>
      <p:sp>
        <p:nvSpPr>
          <p:cNvPr id="25" name="TextBox 24"/>
          <p:cNvSpPr txBox="1"/>
          <p:nvPr/>
        </p:nvSpPr>
        <p:spPr>
          <a:xfrm>
            <a:off x="598206"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502970" cy="194310"/>
          </a:xfrm>
          <a:prstGeom prst="rect">
            <a:avLst/>
          </a:prstGeom>
          <a:noFill/>
        </p:spPr>
        <p:txBody>
          <a:bodyPr wrap="none" lIns="0" rIns="0" tIns="0" bIns="0">
            <a:spAutoFit/>
          </a:bodyPr>
          <a:lstStyle/>
          <a:p>
            <a:r>
              <a:rPr sz="1150" b="0">
                <a:solidFill>
                  <a:srgbClr val="2E2E2E"/>
                </a:solidFill>
                <a:latin typeface="Calibri"/>
              </a:rPr>
              <a:t>In terms of value share by meat type, the special meat segment is expected to dominate the market, gaining</a:t>
            </a:r>
          </a:p>
        </p:txBody>
      </p:sp>
      <p:pic>
        <p:nvPicPr>
          <p:cNvPr id="27" name="Picture 26" descr="lock.png"/>
          <p:cNvPicPr>
            <a:picLocks noChangeAspect="1"/>
          </p:cNvPicPr>
          <p:nvPr/>
        </p:nvPicPr>
        <p:blipFill>
          <a:blip r:embed="rId4"/>
          <a:stretch>
            <a:fillRect/>
          </a:stretch>
        </p:blipFill>
        <p:spPr>
          <a:xfrm>
            <a:off x="6728349" y="4364799"/>
            <a:ext cx="134549" cy="195707"/>
          </a:xfrm>
          <a:prstGeom prst="rect">
            <a:avLst/>
          </a:prstGeom>
        </p:spPr>
      </p:pic>
      <p:sp>
        <p:nvSpPr>
          <p:cNvPr id="28" name="TextBox 27"/>
          <p:cNvSpPr txBox="1"/>
          <p:nvPr/>
        </p:nvSpPr>
        <p:spPr>
          <a:xfrm>
            <a:off x="690345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298601" y="4364799"/>
            <a:ext cx="134549" cy="195707"/>
          </a:xfrm>
          <a:prstGeom prst="rect">
            <a:avLst/>
          </a:prstGeom>
        </p:spPr>
      </p:pic>
      <p:sp>
        <p:nvSpPr>
          <p:cNvPr id="30" name="TextBox 29"/>
          <p:cNvSpPr txBox="1"/>
          <p:nvPr/>
        </p:nvSpPr>
        <p:spPr>
          <a:xfrm>
            <a:off x="8473711" y="4375022"/>
            <a:ext cx="3253358" cy="194310"/>
          </a:xfrm>
          <a:prstGeom prst="rect">
            <a:avLst/>
          </a:prstGeom>
          <a:noFill/>
        </p:spPr>
        <p:txBody>
          <a:bodyPr wrap="none" lIns="0" rIns="0" tIns="0" bIns="0">
            <a:spAutoFit/>
          </a:bodyPr>
          <a:lstStyle/>
          <a:p>
            <a:r>
              <a:rPr sz="1150" b="0">
                <a:solidFill>
                  <a:srgbClr val="2E2E2E"/>
                </a:solidFill>
                <a:latin typeface="Calibri"/>
              </a:rPr>
              <a:t>share by 2036. The claw meat segment is expected to</a:t>
            </a:r>
          </a:p>
        </p:txBody>
      </p:sp>
      <p:sp>
        <p:nvSpPr>
          <p:cNvPr id="31" name="TextBox 30"/>
          <p:cNvSpPr txBox="1"/>
          <p:nvPr/>
        </p:nvSpPr>
        <p:spPr>
          <a:xfrm>
            <a:off x="276225" y="4550282"/>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Meat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Meat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Meat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72799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2323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470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Jumbo Lump</a:t>
            </a:r>
          </a:p>
        </p:txBody>
      </p:sp>
      <p:sp>
        <p:nvSpPr>
          <p:cNvPr id="18" name="BPS Value 1"/>
          <p:cNvSpPr txBox="1"/>
          <p:nvPr/>
        </p:nvSpPr>
        <p:spPr>
          <a:xfrm>
            <a:off x="6896100" y="17089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17676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7199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9579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Backfin</a:t>
            </a:r>
          </a:p>
        </p:txBody>
      </p:sp>
      <p:sp>
        <p:nvSpPr>
          <p:cNvPr id="22" name="BPS Value 2"/>
          <p:cNvSpPr txBox="1"/>
          <p:nvPr/>
        </p:nvSpPr>
        <p:spPr>
          <a:xfrm>
            <a:off x="6896100" y="215771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6984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66508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8888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Lump</a:t>
            </a:r>
          </a:p>
        </p:txBody>
      </p:sp>
      <p:sp>
        <p:nvSpPr>
          <p:cNvPr id="26" name="BPS Value 3"/>
          <p:cNvSpPr txBox="1"/>
          <p:nvPr/>
        </p:nvSpPr>
        <p:spPr>
          <a:xfrm>
            <a:off x="6896100" y="26507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2301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1825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14205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Crab Leg Meat</a:t>
            </a:r>
          </a:p>
        </p:txBody>
      </p:sp>
      <p:sp>
        <p:nvSpPr>
          <p:cNvPr id="30" name="BPS Value 4"/>
          <p:cNvSpPr txBox="1"/>
          <p:nvPr/>
        </p:nvSpPr>
        <p:spPr>
          <a:xfrm>
            <a:off x="6896100" y="320396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1776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1729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0967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Claw Meat</a:t>
            </a:r>
          </a:p>
        </p:txBody>
      </p:sp>
      <p:sp>
        <p:nvSpPr>
          <p:cNvPr id="34" name="BPS Value 5"/>
          <p:cNvSpPr txBox="1"/>
          <p:nvPr/>
        </p:nvSpPr>
        <p:spPr>
          <a:xfrm>
            <a:off x="6896100" y="41586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54420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53944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4632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 Meat</a:t>
            </a:r>
          </a:p>
        </p:txBody>
      </p:sp>
      <p:sp>
        <p:nvSpPr>
          <p:cNvPr id="38" name="BPS Value 6"/>
          <p:cNvSpPr txBox="1"/>
          <p:nvPr/>
        </p:nvSpPr>
        <p:spPr>
          <a:xfrm>
            <a:off x="6896100" y="552515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Meat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751325"/>
            <a:ext cx="275034" cy="400050"/>
          </a:xfrm>
          <a:prstGeom prst="rect">
            <a:avLst/>
          </a:prstGeom>
        </p:spPr>
      </p:pic>
      <p:sp>
        <p:nvSpPr>
          <p:cNvPr id="45" name="TextBox 4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meat type, crab leg meat segment is expected</a:t>
            </a:r>
          </a:p>
        </p:txBody>
      </p:sp>
      <p:sp>
        <p:nvSpPr>
          <p:cNvPr id="46" name="TextBox 45"/>
          <p:cNvSpPr txBox="1"/>
          <p:nvPr/>
        </p:nvSpPr>
        <p:spPr>
          <a:xfrm>
            <a:off x="7829550" y="1575435"/>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47" name="Picture 46" descr="lock.png"/>
          <p:cNvPicPr>
            <a:picLocks noChangeAspect="1"/>
          </p:cNvPicPr>
          <p:nvPr/>
        </p:nvPicPr>
        <p:blipFill>
          <a:blip r:embed="rId5"/>
          <a:stretch>
            <a:fillRect/>
          </a:stretch>
        </p:blipFill>
        <p:spPr>
          <a:xfrm>
            <a:off x="9685645" y="1565211"/>
            <a:ext cx="134549" cy="195707"/>
          </a:xfrm>
          <a:prstGeom prst="rect">
            <a:avLst/>
          </a:prstGeom>
        </p:spPr>
      </p:pic>
      <p:sp>
        <p:nvSpPr>
          <p:cNvPr id="48" name="TextBox 47"/>
          <p:cNvSpPr txBox="1"/>
          <p:nvPr/>
        </p:nvSpPr>
        <p:spPr>
          <a:xfrm>
            <a:off x="9860754" y="1575435"/>
            <a:ext cx="1695301" cy="194310"/>
          </a:xfrm>
          <a:prstGeom prst="rect">
            <a:avLst/>
          </a:prstGeom>
          <a:noFill/>
        </p:spPr>
        <p:txBody>
          <a:bodyPr wrap="none" lIns="0" rIns="0" tIns="0" bIns="0">
            <a:spAutoFit/>
          </a:bodyPr>
          <a:lstStyle/>
          <a:p>
            <a:r>
              <a:rPr sz="1150" b="0">
                <a:solidFill>
                  <a:srgbClr val="2E2E2E"/>
                </a:solidFill>
                <a:latin typeface="Calibri"/>
              </a:rPr>
              <a:t>over the forecast period. In</a:t>
            </a:r>
          </a:p>
        </p:txBody>
      </p:sp>
      <p:sp>
        <p:nvSpPr>
          <p:cNvPr id="49" name="TextBox 48"/>
          <p:cNvSpPr txBox="1"/>
          <p:nvPr/>
        </p:nvSpPr>
        <p:spPr>
          <a:xfrm>
            <a:off x="7829550" y="1750695"/>
            <a:ext cx="3824151" cy="194310"/>
          </a:xfrm>
          <a:prstGeom prst="rect">
            <a:avLst/>
          </a:prstGeom>
          <a:noFill/>
        </p:spPr>
        <p:txBody>
          <a:bodyPr wrap="none" lIns="0" rIns="0" tIns="0" bIns="0">
            <a:spAutoFit/>
          </a:bodyPr>
          <a:lstStyle/>
          <a:p>
            <a:r>
              <a:rPr sz="1150" b="0">
                <a:solidFill>
                  <a:srgbClr val="2E2E2E"/>
                </a:solidFill>
                <a:latin typeface="Calibri"/>
              </a:rPr>
              <a:t>terms of value share by meat type, the special meat segment is</a:t>
            </a:r>
          </a:p>
        </p:txBody>
      </p:sp>
      <p:sp>
        <p:nvSpPr>
          <p:cNvPr id="50" name="TextBox 49"/>
          <p:cNvSpPr txBox="1"/>
          <p:nvPr/>
        </p:nvSpPr>
        <p:spPr>
          <a:xfrm>
            <a:off x="7829550" y="192595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51" name="Picture 50" descr="lock.png"/>
          <p:cNvPicPr>
            <a:picLocks noChangeAspect="1"/>
          </p:cNvPicPr>
          <p:nvPr/>
        </p:nvPicPr>
        <p:blipFill>
          <a:blip r:embed="rId5"/>
          <a:stretch>
            <a:fillRect/>
          </a:stretch>
        </p:blipFill>
        <p:spPr>
          <a:xfrm>
            <a:off x="10354013" y="1915731"/>
            <a:ext cx="134549" cy="195707"/>
          </a:xfrm>
          <a:prstGeom prst="rect">
            <a:avLst/>
          </a:prstGeom>
        </p:spPr>
      </p:pic>
      <p:sp>
        <p:nvSpPr>
          <p:cNvPr id="52" name="TextBox 51"/>
          <p:cNvSpPr txBox="1"/>
          <p:nvPr/>
        </p:nvSpPr>
        <p:spPr>
          <a:xfrm>
            <a:off x="10529122" y="192595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53" name="TextBox 52"/>
          <p:cNvSpPr txBox="1"/>
          <p:nvPr/>
        </p:nvSpPr>
        <p:spPr>
          <a:xfrm>
            <a:off x="7829550" y="210121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54" name="Picture 53" descr="lock.png"/>
          <p:cNvPicPr>
            <a:picLocks noChangeAspect="1"/>
          </p:cNvPicPr>
          <p:nvPr/>
        </p:nvPicPr>
        <p:blipFill>
          <a:blip r:embed="rId5"/>
          <a:stretch>
            <a:fillRect/>
          </a:stretch>
        </p:blipFill>
        <p:spPr>
          <a:xfrm>
            <a:off x="8027482" y="2090991"/>
            <a:ext cx="134549" cy="195707"/>
          </a:xfrm>
          <a:prstGeom prst="rect">
            <a:avLst/>
          </a:prstGeom>
        </p:spPr>
      </p:pic>
      <p:sp>
        <p:nvSpPr>
          <p:cNvPr id="55" name="TextBox 54"/>
          <p:cNvSpPr txBox="1"/>
          <p:nvPr/>
        </p:nvSpPr>
        <p:spPr>
          <a:xfrm>
            <a:off x="820259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TextBox 55"/>
          <p:cNvSpPr txBox="1"/>
          <p:nvPr/>
        </p:nvSpPr>
        <p:spPr>
          <a:xfrm>
            <a:off x="7829550" y="2329053"/>
            <a:ext cx="2623802" cy="194310"/>
          </a:xfrm>
          <a:prstGeom prst="rect">
            <a:avLst/>
          </a:prstGeom>
          <a:noFill/>
        </p:spPr>
        <p:txBody>
          <a:bodyPr wrap="none" lIns="0" rIns="0" tIns="0" bIns="0">
            <a:spAutoFit/>
          </a:bodyPr>
          <a:lstStyle/>
          <a:p>
            <a:r>
              <a:rPr sz="1150" b="0">
                <a:solidFill>
                  <a:srgbClr val="2E2E2E"/>
                </a:solidFill>
                <a:latin typeface="Calibri"/>
              </a:rPr>
              <a:t>The claw meat segment is expected to lose</a:t>
            </a:r>
          </a:p>
        </p:txBody>
      </p:sp>
      <p:pic>
        <p:nvPicPr>
          <p:cNvPr id="57" name="Picture 56" descr="lock.png"/>
          <p:cNvPicPr>
            <a:picLocks noChangeAspect="1"/>
          </p:cNvPicPr>
          <p:nvPr/>
        </p:nvPicPr>
        <p:blipFill>
          <a:blip r:embed="rId5"/>
          <a:stretch>
            <a:fillRect/>
          </a:stretch>
        </p:blipFill>
        <p:spPr>
          <a:xfrm>
            <a:off x="10402506" y="2318829"/>
            <a:ext cx="134549" cy="195707"/>
          </a:xfrm>
          <a:prstGeom prst="rect">
            <a:avLst/>
          </a:prstGeom>
        </p:spPr>
      </p:pic>
      <p:sp>
        <p:nvSpPr>
          <p:cNvPr id="58" name="TextBox 57"/>
          <p:cNvSpPr txBox="1"/>
          <p:nvPr/>
        </p:nvSpPr>
        <p:spPr>
          <a:xfrm>
            <a:off x="10577615"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9" name="TextBox 58"/>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0" name="Picture 59" descr="lock.png"/>
          <p:cNvPicPr>
            <a:picLocks noChangeAspect="1"/>
          </p:cNvPicPr>
          <p:nvPr/>
        </p:nvPicPr>
        <p:blipFill>
          <a:blip r:embed="rId5"/>
          <a:stretch>
            <a:fillRect/>
          </a:stretch>
        </p:blipFill>
        <p:spPr>
          <a:xfrm>
            <a:off x="9630324" y="2494089"/>
            <a:ext cx="134549" cy="195707"/>
          </a:xfrm>
          <a:prstGeom prst="rect">
            <a:avLst/>
          </a:prstGeom>
        </p:spPr>
      </p:pic>
      <p:sp>
        <p:nvSpPr>
          <p:cNvPr id="61" name="TextBox 60"/>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Product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Fresh</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Pasteurized</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Canned</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Frozen</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Format split shows how demand is distributed across product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_50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2_895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6_7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_128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610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3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972_5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591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5_0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305_7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514_6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3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14401" cy="186689"/>
          </a:xfrm>
          <a:prstGeom prst="rect">
            <a:avLst/>
          </a:prstGeom>
          <a:noFill/>
        </p:spPr>
        <p:txBody>
          <a:bodyPr wrap="none" lIns="0" rIns="0" tIns="0" bIns="0">
            <a:spAutoFit/>
          </a:bodyPr>
          <a:lstStyle/>
          <a:p>
            <a:r>
              <a:rPr sz="1100" b="0">
                <a:solidFill>
                  <a:srgbClr val="2E2E2E"/>
                </a:solidFill>
                <a:latin typeface="Calibri"/>
              </a:rPr>
              <a:t>Among crab meat by product format, fresh</a:t>
            </a:r>
          </a:p>
        </p:txBody>
      </p:sp>
      <p:sp>
        <p:nvSpPr>
          <p:cNvPr id="80" name="TextBox 79"/>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81" name="TextBox 80"/>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82" name="Picture 81" descr="lock.png"/>
          <p:cNvPicPr>
            <a:picLocks noChangeAspect="1"/>
          </p:cNvPicPr>
          <p:nvPr/>
        </p:nvPicPr>
        <p:blipFill>
          <a:blip r:embed="rId16"/>
          <a:stretch>
            <a:fillRect/>
          </a:stretch>
        </p:blipFill>
        <p:spPr>
          <a:xfrm>
            <a:off x="626261" y="4554938"/>
            <a:ext cx="128699" cy="187198"/>
          </a:xfrm>
          <a:prstGeom prst="rect">
            <a:avLst/>
          </a:prstGeom>
        </p:spPr>
      </p:pic>
      <p:sp>
        <p:nvSpPr>
          <p:cNvPr id="83" name="TextBox 82"/>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84" name="TextBox 83"/>
          <p:cNvSpPr txBox="1"/>
          <p:nvPr/>
        </p:nvSpPr>
        <p:spPr>
          <a:xfrm>
            <a:off x="485775" y="4732357"/>
            <a:ext cx="2678931" cy="186689"/>
          </a:xfrm>
          <a:prstGeom prst="rect">
            <a:avLst/>
          </a:prstGeom>
          <a:noFill/>
        </p:spPr>
        <p:txBody>
          <a:bodyPr wrap="none" lIns="0" rIns="0" tIns="0" bIns="0">
            <a:spAutoFit/>
          </a:bodyPr>
          <a:lstStyle/>
          <a:p>
            <a:r>
              <a:rPr sz="1100" b="0">
                <a:solidFill>
                  <a:srgbClr val="2E2E2E"/>
                </a:solidFill>
                <a:latin typeface="Calibri"/>
              </a:rPr>
              <a:t>share by product format, the fresh segment is</a:t>
            </a:r>
          </a:p>
        </p:txBody>
      </p:sp>
      <p:sp>
        <p:nvSpPr>
          <p:cNvPr id="85" name="TextBox 84"/>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900479" y="4890217"/>
            <a:ext cx="128699" cy="187198"/>
          </a:xfrm>
          <a:prstGeom prst="rect">
            <a:avLst/>
          </a:prstGeom>
        </p:spPr>
      </p:pic>
      <p:sp>
        <p:nvSpPr>
          <p:cNvPr id="87" name="TextBox 86"/>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76057" y="5057858"/>
            <a:ext cx="128699" cy="187198"/>
          </a:xfrm>
          <a:prstGeom prst="rect">
            <a:avLst/>
          </a:prstGeom>
        </p:spPr>
      </p:pic>
      <p:sp>
        <p:nvSpPr>
          <p:cNvPr id="90" name="TextBox 89"/>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285569"/>
            <a:ext cx="2228180" cy="186689"/>
          </a:xfrm>
          <a:prstGeom prst="rect">
            <a:avLst/>
          </a:prstGeom>
          <a:noFill/>
        </p:spPr>
        <p:txBody>
          <a:bodyPr wrap="none" lIns="0" rIns="0" tIns="0" bIns="0">
            <a:spAutoFit/>
          </a:bodyPr>
          <a:lstStyle/>
          <a:p>
            <a:r>
              <a:rPr sz="1100" b="0">
                <a:solidFill>
                  <a:srgbClr val="2E2E2E"/>
                </a:solidFill>
                <a:latin typeface="Calibri"/>
              </a:rPr>
              <a:t>Fresh segment is projected to register</a:t>
            </a:r>
          </a:p>
        </p:txBody>
      </p:sp>
      <p:pic>
        <p:nvPicPr>
          <p:cNvPr id="92" name="Picture 91" descr="lock.png"/>
          <p:cNvPicPr>
            <a:picLocks noChangeAspect="1"/>
          </p:cNvPicPr>
          <p:nvPr/>
        </p:nvPicPr>
        <p:blipFill>
          <a:blip r:embed="rId16"/>
          <a:stretch>
            <a:fillRect/>
          </a:stretch>
        </p:blipFill>
        <p:spPr>
          <a:xfrm>
            <a:off x="2662006" y="5275790"/>
            <a:ext cx="128699" cy="187198"/>
          </a:xfrm>
          <a:prstGeom prst="rect">
            <a:avLst/>
          </a:prstGeom>
        </p:spPr>
      </p:pic>
      <p:sp>
        <p:nvSpPr>
          <p:cNvPr id="93" name="TextBox 92"/>
          <p:cNvSpPr txBox="1"/>
          <p:nvPr/>
        </p:nvSpPr>
        <p:spPr>
          <a:xfrm>
            <a:off x="2829502" y="528556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94" name="TextBox 93"/>
          <p:cNvSpPr txBox="1"/>
          <p:nvPr/>
        </p:nvSpPr>
        <p:spPr>
          <a:xfrm>
            <a:off x="485775" y="5453209"/>
            <a:ext cx="2379885" cy="186689"/>
          </a:xfrm>
          <a:prstGeom prst="rect">
            <a:avLst/>
          </a:prstGeom>
          <a:noFill/>
        </p:spPr>
        <p:txBody>
          <a:bodyPr wrap="none" lIns="0" rIns="0" tIns="0" bIns="0">
            <a:spAutoFit/>
          </a:bodyPr>
          <a:lstStyle/>
          <a:p>
            <a:r>
              <a:rPr sz="1100" b="0">
                <a:solidFill>
                  <a:srgbClr val="2E2E2E"/>
                </a:solidFill>
                <a:latin typeface="Calibri"/>
              </a:rPr>
              <a:t>value than pasteurized segment in 2036.</a:t>
            </a:r>
          </a:p>
        </p:txBody>
      </p:sp>
      <p:sp>
        <p:nvSpPr>
          <p:cNvPr id="95" name="TextBox 94"/>
          <p:cNvSpPr txBox="1"/>
          <p:nvPr/>
        </p:nvSpPr>
        <p:spPr>
          <a:xfrm>
            <a:off x="3838575" y="4229437"/>
            <a:ext cx="540047" cy="186689"/>
          </a:xfrm>
          <a:prstGeom prst="rect">
            <a:avLst/>
          </a:prstGeom>
          <a:noFill/>
        </p:spPr>
        <p:txBody>
          <a:bodyPr wrap="none" lIns="0" rIns="0" tIns="0" bIns="0">
            <a:spAutoFit/>
          </a:bodyPr>
          <a:lstStyle/>
          <a:p>
            <a:r>
              <a:rPr sz="1100" b="0">
                <a:solidFill>
                  <a:srgbClr val="2E2E2E"/>
                </a:solidFill>
                <a:latin typeface="Calibri"/>
              </a:rPr>
              <a:t>● Fresh:</a:t>
            </a:r>
          </a:p>
        </p:txBody>
      </p:sp>
      <p:pic>
        <p:nvPicPr>
          <p:cNvPr id="96" name="Picture 95" descr="lock.png"/>
          <p:cNvPicPr>
            <a:picLocks noChangeAspect="1"/>
          </p:cNvPicPr>
          <p:nvPr/>
        </p:nvPicPr>
        <p:blipFill>
          <a:blip r:embed="rId16"/>
          <a:stretch>
            <a:fillRect/>
          </a:stretch>
        </p:blipFill>
        <p:spPr>
          <a:xfrm>
            <a:off x="4326674" y="4219658"/>
            <a:ext cx="128699" cy="187198"/>
          </a:xfrm>
          <a:prstGeom prst="rect">
            <a:avLst/>
          </a:prstGeom>
        </p:spPr>
      </p:pic>
      <p:sp>
        <p:nvSpPr>
          <p:cNvPr id="97" name="TextBox 96"/>
          <p:cNvSpPr txBox="1"/>
          <p:nvPr/>
        </p:nvSpPr>
        <p:spPr>
          <a:xfrm>
            <a:off x="449417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5353620" y="4219658"/>
            <a:ext cx="128699" cy="187198"/>
          </a:xfrm>
          <a:prstGeom prst="rect">
            <a:avLst/>
          </a:prstGeom>
        </p:spPr>
      </p:pic>
      <p:sp>
        <p:nvSpPr>
          <p:cNvPr id="99" name="TextBox 98"/>
          <p:cNvSpPr txBox="1"/>
          <p:nvPr/>
        </p:nvSpPr>
        <p:spPr>
          <a:xfrm>
            <a:off x="552111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892299" cy="186689"/>
          </a:xfrm>
          <a:prstGeom prst="rect">
            <a:avLst/>
          </a:prstGeom>
          <a:noFill/>
        </p:spPr>
        <p:txBody>
          <a:bodyPr wrap="none" lIns="0" rIns="0" tIns="0" bIns="0">
            <a:spAutoFit/>
          </a:bodyPr>
          <a:lstStyle/>
          <a:p>
            <a:r>
              <a:rPr sz="1100" b="0">
                <a:solidFill>
                  <a:srgbClr val="2E2E2E"/>
                </a:solidFill>
                <a:latin typeface="Calibri"/>
              </a:rPr>
              <a:t>● Pasteurized:</a:t>
            </a:r>
          </a:p>
        </p:txBody>
      </p:sp>
      <p:pic>
        <p:nvPicPr>
          <p:cNvPr id="101" name="Picture 100" descr="lock.png"/>
          <p:cNvPicPr>
            <a:picLocks noChangeAspect="1"/>
          </p:cNvPicPr>
          <p:nvPr/>
        </p:nvPicPr>
        <p:blipFill>
          <a:blip r:embed="rId16"/>
          <a:stretch>
            <a:fillRect/>
          </a:stretch>
        </p:blipFill>
        <p:spPr>
          <a:xfrm>
            <a:off x="4678925" y="4437590"/>
            <a:ext cx="128699" cy="187198"/>
          </a:xfrm>
          <a:prstGeom prst="rect">
            <a:avLst/>
          </a:prstGeom>
        </p:spPr>
      </p:pic>
      <p:sp>
        <p:nvSpPr>
          <p:cNvPr id="102" name="TextBox 101"/>
          <p:cNvSpPr txBox="1"/>
          <p:nvPr/>
        </p:nvSpPr>
        <p:spPr>
          <a:xfrm>
            <a:off x="4846421"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6"/>
          <a:stretch>
            <a:fillRect/>
          </a:stretch>
        </p:blipFill>
        <p:spPr>
          <a:xfrm>
            <a:off x="5705871" y="4437590"/>
            <a:ext cx="128699" cy="187198"/>
          </a:xfrm>
          <a:prstGeom prst="rect">
            <a:avLst/>
          </a:prstGeom>
        </p:spPr>
      </p:pic>
      <p:sp>
        <p:nvSpPr>
          <p:cNvPr id="104" name="TextBox 103"/>
          <p:cNvSpPr txBox="1"/>
          <p:nvPr/>
        </p:nvSpPr>
        <p:spPr>
          <a:xfrm>
            <a:off x="587336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660648" cy="186689"/>
          </a:xfrm>
          <a:prstGeom prst="rect">
            <a:avLst/>
          </a:prstGeom>
          <a:noFill/>
        </p:spPr>
        <p:txBody>
          <a:bodyPr wrap="none" lIns="0" rIns="0" tIns="0" bIns="0">
            <a:spAutoFit/>
          </a:bodyPr>
          <a:lstStyle/>
          <a:p>
            <a:r>
              <a:rPr sz="1100" b="0">
                <a:solidFill>
                  <a:srgbClr val="2E2E2E"/>
                </a:solidFill>
                <a:latin typeface="Calibri"/>
              </a:rPr>
              <a:t>● Canned:</a:t>
            </a:r>
          </a:p>
        </p:txBody>
      </p:sp>
      <p:pic>
        <p:nvPicPr>
          <p:cNvPr id="106" name="Picture 105" descr="lock.png"/>
          <p:cNvPicPr>
            <a:picLocks noChangeAspect="1"/>
          </p:cNvPicPr>
          <p:nvPr/>
        </p:nvPicPr>
        <p:blipFill>
          <a:blip r:embed="rId16"/>
          <a:stretch>
            <a:fillRect/>
          </a:stretch>
        </p:blipFill>
        <p:spPr>
          <a:xfrm>
            <a:off x="4447274" y="4655522"/>
            <a:ext cx="128699" cy="187198"/>
          </a:xfrm>
          <a:prstGeom prst="rect">
            <a:avLst/>
          </a:prstGeom>
        </p:spPr>
      </p:pic>
      <p:sp>
        <p:nvSpPr>
          <p:cNvPr id="107" name="TextBox 106"/>
          <p:cNvSpPr txBox="1"/>
          <p:nvPr/>
        </p:nvSpPr>
        <p:spPr>
          <a:xfrm>
            <a:off x="461477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6"/>
          <a:stretch>
            <a:fillRect/>
          </a:stretch>
        </p:blipFill>
        <p:spPr>
          <a:xfrm>
            <a:off x="5474220" y="4655522"/>
            <a:ext cx="128699" cy="187198"/>
          </a:xfrm>
          <a:prstGeom prst="rect">
            <a:avLst/>
          </a:prstGeom>
        </p:spPr>
      </p:pic>
      <p:sp>
        <p:nvSpPr>
          <p:cNvPr id="109" name="TextBox 108"/>
          <p:cNvSpPr txBox="1"/>
          <p:nvPr/>
        </p:nvSpPr>
        <p:spPr>
          <a:xfrm>
            <a:off x="564171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0" name="TextBox 109"/>
          <p:cNvSpPr txBox="1"/>
          <p:nvPr/>
        </p:nvSpPr>
        <p:spPr>
          <a:xfrm>
            <a:off x="3838575" y="4883233"/>
            <a:ext cx="614263" cy="186689"/>
          </a:xfrm>
          <a:prstGeom prst="rect">
            <a:avLst/>
          </a:prstGeom>
          <a:noFill/>
        </p:spPr>
        <p:txBody>
          <a:bodyPr wrap="none" lIns="0" rIns="0" tIns="0" bIns="0">
            <a:spAutoFit/>
          </a:bodyPr>
          <a:lstStyle/>
          <a:p>
            <a:r>
              <a:rPr sz="1100" b="0">
                <a:solidFill>
                  <a:srgbClr val="2E2E2E"/>
                </a:solidFill>
                <a:latin typeface="Calibri"/>
              </a:rPr>
              <a:t>● Frozen:</a:t>
            </a:r>
          </a:p>
        </p:txBody>
      </p:sp>
      <p:pic>
        <p:nvPicPr>
          <p:cNvPr id="111" name="Picture 110" descr="lock.png"/>
          <p:cNvPicPr>
            <a:picLocks noChangeAspect="1"/>
          </p:cNvPicPr>
          <p:nvPr/>
        </p:nvPicPr>
        <p:blipFill>
          <a:blip r:embed="rId16"/>
          <a:stretch>
            <a:fillRect/>
          </a:stretch>
        </p:blipFill>
        <p:spPr>
          <a:xfrm>
            <a:off x="4400889" y="4873454"/>
            <a:ext cx="128699" cy="187198"/>
          </a:xfrm>
          <a:prstGeom prst="rect">
            <a:avLst/>
          </a:prstGeom>
        </p:spPr>
      </p:pic>
      <p:sp>
        <p:nvSpPr>
          <p:cNvPr id="112" name="TextBox 111"/>
          <p:cNvSpPr txBox="1"/>
          <p:nvPr/>
        </p:nvSpPr>
        <p:spPr>
          <a:xfrm>
            <a:off x="4568385"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5427835" y="4873454"/>
            <a:ext cx="128699" cy="187198"/>
          </a:xfrm>
          <a:prstGeom prst="rect">
            <a:avLst/>
          </a:prstGeom>
        </p:spPr>
      </p:pic>
      <p:sp>
        <p:nvSpPr>
          <p:cNvPr id="114" name="TextBox 113"/>
          <p:cNvSpPr txBox="1"/>
          <p:nvPr/>
        </p:nvSpPr>
        <p:spPr>
          <a:xfrm>
            <a:off x="5595331"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5" name="TextBox 114"/>
          <p:cNvSpPr txBox="1"/>
          <p:nvPr/>
        </p:nvSpPr>
        <p:spPr>
          <a:xfrm>
            <a:off x="8524875" y="5842641"/>
            <a:ext cx="3087028" cy="194310"/>
          </a:xfrm>
          <a:prstGeom prst="rect">
            <a:avLst/>
          </a:prstGeom>
          <a:noFill/>
        </p:spPr>
        <p:txBody>
          <a:bodyPr wrap="none" lIns="0" rIns="0" tIns="0" bIns="0">
            <a:spAutoFit/>
          </a:bodyPr>
          <a:lstStyle/>
          <a:p>
            <a:r>
              <a:rPr sz="1150" b="1">
                <a:solidFill>
                  <a:srgbClr val="0B2E4A"/>
                </a:solidFill>
                <a:latin typeface="Calibri"/>
              </a:rPr>
              <a:t>The Product Format segment is projected to grow</a:t>
            </a:r>
          </a:p>
        </p:txBody>
      </p:sp>
      <p:sp>
        <p:nvSpPr>
          <p:cNvPr id="116" name="TextBox 115"/>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17" name="Picture 116" descr="lock.png"/>
          <p:cNvPicPr>
            <a:picLocks noChangeAspect="1"/>
          </p:cNvPicPr>
          <p:nvPr/>
        </p:nvPicPr>
        <p:blipFill>
          <a:blip r:embed="rId16"/>
          <a:stretch>
            <a:fillRect/>
          </a:stretch>
        </p:blipFill>
        <p:spPr>
          <a:xfrm>
            <a:off x="9310118" y="6007677"/>
            <a:ext cx="134549" cy="195707"/>
          </a:xfrm>
          <a:prstGeom prst="rect">
            <a:avLst/>
          </a:prstGeom>
        </p:spPr>
      </p:pic>
      <p:sp>
        <p:nvSpPr>
          <p:cNvPr id="118" name="TextBox 117"/>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Product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Format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52729" cy="186689"/>
          </a:xfrm>
          <a:prstGeom prst="rect">
            <a:avLst/>
          </a:prstGeom>
          <a:noFill/>
        </p:spPr>
        <p:txBody>
          <a:bodyPr wrap="none" lIns="0" rIns="0" tIns="0" bIns="0">
            <a:spAutoFit/>
          </a:bodyPr>
          <a:lstStyle/>
          <a:p>
            <a:r>
              <a:rPr sz="1100" b="0">
                <a:solidFill>
                  <a:srgbClr val="2E2E2E"/>
                </a:solidFill>
                <a:latin typeface="Calibri"/>
              </a:rPr>
              <a:t>Fresh followed by canned are expected to be the two most attractive product format segments in the Europe crab meat market in terms of value over the forecast period. Fresh and canned exhibit a CAGR</a:t>
            </a:r>
          </a:p>
        </p:txBody>
      </p:sp>
      <p:sp>
        <p:nvSpPr>
          <p:cNvPr id="20" name="TextBox 19"/>
          <p:cNvSpPr txBox="1"/>
          <p:nvPr/>
        </p:nvSpPr>
        <p:spPr>
          <a:xfrm>
            <a:off x="257175" y="5945505"/>
            <a:ext cx="533226" cy="186689"/>
          </a:xfrm>
          <a:prstGeom prst="rect">
            <a:avLst/>
          </a:prstGeom>
          <a:noFill/>
        </p:spPr>
        <p:txBody>
          <a:bodyPr wrap="none" lIns="0" rIns="0" tIns="0" bIns="0">
            <a:spAutoFit/>
          </a:bodyPr>
          <a:lstStyle/>
          <a:p>
            <a:r>
              <a:rPr sz="1100" b="0">
                <a:solidFill>
                  <a:srgbClr val="2E2E2E"/>
                </a:solidFill>
                <a:latin typeface="Calibri"/>
              </a:rPr>
              <a:t>index of</a:t>
            </a:r>
          </a:p>
        </p:txBody>
      </p:sp>
      <p:pic>
        <p:nvPicPr>
          <p:cNvPr id="21" name="Picture 20" descr="lock.png"/>
          <p:cNvPicPr>
            <a:picLocks noChangeAspect="1"/>
          </p:cNvPicPr>
          <p:nvPr/>
        </p:nvPicPr>
        <p:blipFill>
          <a:blip r:embed="rId6"/>
          <a:stretch>
            <a:fillRect/>
          </a:stretch>
        </p:blipFill>
        <p:spPr>
          <a:xfrm>
            <a:off x="738452" y="5935726"/>
            <a:ext cx="128699" cy="187198"/>
          </a:xfrm>
          <a:prstGeom prst="rect">
            <a:avLst/>
          </a:prstGeom>
        </p:spPr>
      </p:pic>
      <p:sp>
        <p:nvSpPr>
          <p:cNvPr id="22" name="TextBox 21"/>
          <p:cNvSpPr txBox="1"/>
          <p:nvPr/>
        </p:nvSpPr>
        <p:spPr>
          <a:xfrm>
            <a:off x="90594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1143843" y="5935726"/>
            <a:ext cx="128699" cy="187198"/>
          </a:xfrm>
          <a:prstGeom prst="rect">
            <a:avLst/>
          </a:prstGeom>
        </p:spPr>
      </p:pic>
      <p:sp>
        <p:nvSpPr>
          <p:cNvPr id="24" name="TextBox 23"/>
          <p:cNvSpPr txBox="1"/>
          <p:nvPr/>
        </p:nvSpPr>
        <p:spPr>
          <a:xfrm>
            <a:off x="131133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2920312" y="5935726"/>
            <a:ext cx="128699" cy="187198"/>
          </a:xfrm>
          <a:prstGeom prst="rect">
            <a:avLst/>
          </a:prstGeom>
        </p:spPr>
      </p:pic>
      <p:sp>
        <p:nvSpPr>
          <p:cNvPr id="26" name="TextBox 25"/>
          <p:cNvSpPr txBox="1"/>
          <p:nvPr/>
        </p:nvSpPr>
        <p:spPr>
          <a:xfrm>
            <a:off x="308780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3325702" y="5935726"/>
            <a:ext cx="128699" cy="187198"/>
          </a:xfrm>
          <a:prstGeom prst="rect">
            <a:avLst/>
          </a:prstGeom>
        </p:spPr>
      </p:pic>
      <p:sp>
        <p:nvSpPr>
          <p:cNvPr id="28" name="TextBox 27"/>
          <p:cNvSpPr txBox="1"/>
          <p:nvPr/>
        </p:nvSpPr>
        <p:spPr>
          <a:xfrm>
            <a:off x="349319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047602" y="5935726"/>
            <a:ext cx="128699" cy="187198"/>
          </a:xfrm>
          <a:prstGeom prst="rect">
            <a:avLst/>
          </a:prstGeom>
        </p:spPr>
      </p:pic>
      <p:sp>
        <p:nvSpPr>
          <p:cNvPr id="30" name="TextBox 29"/>
          <p:cNvSpPr txBox="1"/>
          <p:nvPr/>
        </p:nvSpPr>
        <p:spPr>
          <a:xfrm>
            <a:off x="6215098" y="5945505"/>
            <a:ext cx="5214813" cy="186689"/>
          </a:xfrm>
          <a:prstGeom prst="rect">
            <a:avLst/>
          </a:prstGeom>
          <a:noFill/>
        </p:spPr>
        <p:txBody>
          <a:bodyPr wrap="none" lIns="0" rIns="0" tIns="0" bIns="0">
            <a:spAutoFit/>
          </a:bodyPr>
          <a:lstStyle/>
          <a:p>
            <a:r>
              <a:rPr sz="1100" b="0">
                <a:solidFill>
                  <a:srgbClr val="2E2E2E"/>
                </a:solidFill>
                <a:latin typeface="Calibri"/>
              </a:rPr>
              <a:t>. The frozen segment is expected to be less attractive as compared to other segments over</a:t>
            </a:r>
          </a:p>
        </p:txBody>
      </p:sp>
      <p:sp>
        <p:nvSpPr>
          <p:cNvPr id="31" name="TextBox 30"/>
          <p:cNvSpPr txBox="1"/>
          <p:nvPr/>
        </p:nvSpPr>
        <p:spPr>
          <a:xfrm>
            <a:off x="257175" y="6113145"/>
            <a:ext cx="8637429" cy="186689"/>
          </a:xfrm>
          <a:prstGeom prst="rect">
            <a:avLst/>
          </a:prstGeom>
          <a:noFill/>
        </p:spPr>
        <p:txBody>
          <a:bodyPr wrap="none" lIns="0" rIns="0" tIns="0" bIns="0">
            <a:spAutoFit/>
          </a:bodyPr>
          <a:lstStyle/>
          <a:p>
            <a:r>
              <a:rPr sz="1100" b="0">
                <a:solidFill>
                  <a:srgbClr val="2E2E2E"/>
                </a:solidFill>
                <a:latin typeface="Calibri"/>
              </a:rPr>
              <a:t>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Fresh</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Frozen</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Canned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Pasteurized</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Product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Product Format (US$ Mn)</a:t>
            </a:r>
          </a:p>
        </p:txBody>
      </p:sp>
      <p:graphicFrame>
        <p:nvGraphicFramePr>
          <p:cNvPr id="12" name="Table 11"/>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187152"/>
                <a:gridCol w="629415"/>
                <a:gridCol w="629415"/>
                <a:gridCol w="629415"/>
                <a:gridCol w="629415"/>
                <a:gridCol w="629415"/>
                <a:gridCol w="629415"/>
                <a:gridCol w="629415"/>
                <a:gridCol w="629415"/>
                <a:gridCol w="629415"/>
                <a:gridCol w="629415"/>
                <a:gridCol w="629415"/>
                <a:gridCol w="629415"/>
                <a:gridCol w="629415"/>
                <a:gridCol w="629415"/>
                <a:gridCol w="629415"/>
                <a:gridCol w="629415"/>
                <a:gridCol w="62941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Fresh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Frozen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Canned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Pasteurized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Product Format</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02889" y="1837563"/>
            <a:ext cx="366712" cy="533400"/>
          </a:xfrm>
          <a:prstGeom prst="rect">
            <a:avLst/>
          </a:prstGeom>
        </p:spPr>
      </p:pic>
      <p:sp>
        <p:nvSpPr>
          <p:cNvPr id="20" name="TextBox 19"/>
          <p:cNvSpPr txBox="1"/>
          <p:nvPr/>
        </p:nvSpPr>
        <p:spPr>
          <a:xfrm>
            <a:off x="276225" y="3486150"/>
            <a:ext cx="2325997" cy="194310"/>
          </a:xfrm>
          <a:prstGeom prst="rect">
            <a:avLst/>
          </a:prstGeom>
          <a:noFill/>
        </p:spPr>
        <p:txBody>
          <a:bodyPr wrap="none" lIns="0" rIns="0" tIns="0" bIns="0">
            <a:spAutoFit/>
          </a:bodyPr>
          <a:lstStyle/>
          <a:p>
            <a:r>
              <a:rPr sz="1150" b="0">
                <a:solidFill>
                  <a:srgbClr val="2E2E2E"/>
                </a:solidFill>
                <a:latin typeface="Calibri"/>
              </a:rPr>
              <a:t>Fresh segment is projected to register</a:t>
            </a:r>
          </a:p>
        </p:txBody>
      </p:sp>
      <p:pic>
        <p:nvPicPr>
          <p:cNvPr id="21" name="Picture 20" descr="lock.png"/>
          <p:cNvPicPr>
            <a:picLocks noChangeAspect="1"/>
          </p:cNvPicPr>
          <p:nvPr/>
        </p:nvPicPr>
        <p:blipFill>
          <a:blip r:embed="rId4"/>
          <a:stretch>
            <a:fillRect/>
          </a:stretch>
        </p:blipFill>
        <p:spPr>
          <a:xfrm>
            <a:off x="2551376" y="3475926"/>
            <a:ext cx="134549" cy="195707"/>
          </a:xfrm>
          <a:prstGeom prst="rect">
            <a:avLst/>
          </a:prstGeom>
        </p:spPr>
      </p:pic>
      <p:sp>
        <p:nvSpPr>
          <p:cNvPr id="22" name="TextBox 21"/>
          <p:cNvSpPr txBox="1"/>
          <p:nvPr/>
        </p:nvSpPr>
        <p:spPr>
          <a:xfrm>
            <a:off x="2726485" y="3486150"/>
            <a:ext cx="8701975" cy="194310"/>
          </a:xfrm>
          <a:prstGeom prst="rect">
            <a:avLst/>
          </a:prstGeom>
          <a:noFill/>
        </p:spPr>
        <p:txBody>
          <a:bodyPr wrap="none" lIns="0" rIns="0" tIns="0" bIns="0">
            <a:spAutoFit/>
          </a:bodyPr>
          <a:lstStyle/>
          <a:p>
            <a:r>
              <a:rPr sz="1150" b="0">
                <a:solidFill>
                  <a:srgbClr val="2E2E2E"/>
                </a:solidFill>
                <a:latin typeface="Calibri"/>
              </a:rPr>
              <a:t>X higher value than pasteurized segment in 2036. Among crab meat by product format, fresh segment is expected to witness the highest CAGR of</a:t>
            </a:r>
          </a:p>
        </p:txBody>
      </p:sp>
      <p:pic>
        <p:nvPicPr>
          <p:cNvPr id="23" name="Picture 22" descr="lock.png"/>
          <p:cNvPicPr>
            <a:picLocks noChangeAspect="1"/>
          </p:cNvPicPr>
          <p:nvPr/>
        </p:nvPicPr>
        <p:blipFill>
          <a:blip r:embed="rId4"/>
          <a:stretch>
            <a:fillRect/>
          </a:stretch>
        </p:blipFill>
        <p:spPr>
          <a:xfrm>
            <a:off x="11377614" y="3475926"/>
            <a:ext cx="134549" cy="195707"/>
          </a:xfrm>
          <a:prstGeom prst="rect">
            <a:avLst/>
          </a:prstGeom>
        </p:spPr>
      </p:pic>
      <p:sp>
        <p:nvSpPr>
          <p:cNvPr id="24" name="TextBox 23"/>
          <p:cNvSpPr txBox="1"/>
          <p:nvPr/>
        </p:nvSpPr>
        <p:spPr>
          <a:xfrm>
            <a:off x="27622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3889247"/>
            <a:ext cx="6362340" cy="194310"/>
          </a:xfrm>
          <a:prstGeom prst="rect">
            <a:avLst/>
          </a:prstGeom>
          <a:noFill/>
        </p:spPr>
        <p:txBody>
          <a:bodyPr wrap="none" lIns="0" rIns="0" tIns="0" bIns="0">
            <a:spAutoFit/>
          </a:bodyPr>
          <a:lstStyle/>
          <a:p>
            <a:r>
              <a:rPr sz="1150" b="0">
                <a:solidFill>
                  <a:srgbClr val="2E2E2E"/>
                </a:solidFill>
                <a:latin typeface="Calibri"/>
              </a:rPr>
              <a:t>In terms of value share by product format, the fresh segment is expected to dominate the market, gaining</a:t>
            </a:r>
          </a:p>
        </p:txBody>
      </p:sp>
      <p:pic>
        <p:nvPicPr>
          <p:cNvPr id="26" name="Picture 25" descr="lock.png"/>
          <p:cNvPicPr>
            <a:picLocks noChangeAspect="1"/>
          </p:cNvPicPr>
          <p:nvPr/>
        </p:nvPicPr>
        <p:blipFill>
          <a:blip r:embed="rId4"/>
          <a:stretch>
            <a:fillRect/>
          </a:stretch>
        </p:blipFill>
        <p:spPr>
          <a:xfrm>
            <a:off x="6587719" y="3879024"/>
            <a:ext cx="134549" cy="195707"/>
          </a:xfrm>
          <a:prstGeom prst="rect">
            <a:avLst/>
          </a:prstGeom>
        </p:spPr>
      </p:pic>
      <p:sp>
        <p:nvSpPr>
          <p:cNvPr id="27" name="TextBox 26"/>
          <p:cNvSpPr txBox="1"/>
          <p:nvPr/>
        </p:nvSpPr>
        <p:spPr>
          <a:xfrm>
            <a:off x="6762828"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157971" y="3879024"/>
            <a:ext cx="134549" cy="195707"/>
          </a:xfrm>
          <a:prstGeom prst="rect">
            <a:avLst/>
          </a:prstGeom>
        </p:spPr>
      </p:pic>
      <p:sp>
        <p:nvSpPr>
          <p:cNvPr id="29" name="TextBox 28"/>
          <p:cNvSpPr txBox="1"/>
          <p:nvPr/>
        </p:nvSpPr>
        <p:spPr>
          <a:xfrm>
            <a:off x="8333081" y="3889247"/>
            <a:ext cx="3336081" cy="194310"/>
          </a:xfrm>
          <a:prstGeom prst="rect">
            <a:avLst/>
          </a:prstGeom>
          <a:noFill/>
        </p:spPr>
        <p:txBody>
          <a:bodyPr wrap="none" lIns="0" rIns="0" tIns="0" bIns="0">
            <a:spAutoFit/>
          </a:bodyPr>
          <a:lstStyle/>
          <a:p>
            <a:r>
              <a:rPr sz="1150" b="0">
                <a:solidFill>
                  <a:srgbClr val="2E2E2E"/>
                </a:solidFill>
                <a:latin typeface="Calibri"/>
              </a:rPr>
              <a:t>share by 2036. The pasteurized segment is expected to</a:t>
            </a:r>
          </a:p>
        </p:txBody>
      </p:sp>
      <p:sp>
        <p:nvSpPr>
          <p:cNvPr id="30" name="TextBox 29"/>
          <p:cNvSpPr txBox="1"/>
          <p:nvPr/>
        </p:nvSpPr>
        <p:spPr>
          <a:xfrm>
            <a:off x="276225" y="40645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1" name="Picture 30" descr="lock.png"/>
          <p:cNvPicPr>
            <a:picLocks noChangeAspect="1"/>
          </p:cNvPicPr>
          <p:nvPr/>
        </p:nvPicPr>
        <p:blipFill>
          <a:blip r:embed="rId4"/>
          <a:stretch>
            <a:fillRect/>
          </a:stretch>
        </p:blipFill>
        <p:spPr>
          <a:xfrm>
            <a:off x="542047" y="4054284"/>
            <a:ext cx="134549" cy="195707"/>
          </a:xfrm>
          <a:prstGeom prst="rect">
            <a:avLst/>
          </a:prstGeom>
        </p:spPr>
      </p:pic>
      <p:sp>
        <p:nvSpPr>
          <p:cNvPr id="32" name="TextBox 31"/>
          <p:cNvSpPr txBox="1"/>
          <p:nvPr/>
        </p:nvSpPr>
        <p:spPr>
          <a:xfrm>
            <a:off x="717157"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3304661" y="4054284"/>
            <a:ext cx="134549" cy="195707"/>
          </a:xfrm>
          <a:prstGeom prst="rect">
            <a:avLst/>
          </a:prstGeom>
        </p:spPr>
      </p:pic>
      <p:sp>
        <p:nvSpPr>
          <p:cNvPr id="34" name="TextBox 33"/>
          <p:cNvSpPr txBox="1"/>
          <p:nvPr/>
        </p:nvSpPr>
        <p:spPr>
          <a:xfrm>
            <a:off x="3479771"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Product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924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444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682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Frozen</a:t>
            </a:r>
          </a:p>
        </p:txBody>
      </p:sp>
      <p:sp>
        <p:nvSpPr>
          <p:cNvPr id="18" name="BPS Value 1"/>
          <p:cNvSpPr txBox="1"/>
          <p:nvPr/>
        </p:nvSpPr>
        <p:spPr>
          <a:xfrm>
            <a:off x="6896100" y="183019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57747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5727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965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Canned</a:t>
            </a:r>
          </a:p>
        </p:txBody>
      </p:sp>
      <p:sp>
        <p:nvSpPr>
          <p:cNvPr id="22" name="BPS Value 2"/>
          <p:cNvSpPr txBox="1"/>
          <p:nvPr/>
        </p:nvSpPr>
        <p:spPr>
          <a:xfrm>
            <a:off x="6896100" y="255842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68450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67974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6035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Pasteurized</a:t>
            </a:r>
          </a:p>
        </p:txBody>
      </p:sp>
      <p:sp>
        <p:nvSpPr>
          <p:cNvPr id="26" name="BPS Value 3"/>
          <p:cNvSpPr txBox="1"/>
          <p:nvPr/>
        </p:nvSpPr>
        <p:spPr>
          <a:xfrm>
            <a:off x="6896100" y="36654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524246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52377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1615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Fresh</a:t>
            </a:r>
          </a:p>
        </p:txBody>
      </p:sp>
      <p:sp>
        <p:nvSpPr>
          <p:cNvPr id="30" name="BPS Value 4"/>
          <p:cNvSpPr txBox="1"/>
          <p:nvPr/>
        </p:nvSpPr>
        <p:spPr>
          <a:xfrm>
            <a:off x="6896100" y="522341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Product Format</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4034097" cy="194310"/>
          </a:xfrm>
          <a:prstGeom prst="rect">
            <a:avLst/>
          </a:prstGeom>
          <a:noFill/>
        </p:spPr>
        <p:txBody>
          <a:bodyPr wrap="none" lIns="0" rIns="0" tIns="0" bIns="0">
            <a:spAutoFit/>
          </a:bodyPr>
          <a:lstStyle/>
          <a:p>
            <a:r>
              <a:rPr sz="1150" b="0">
                <a:solidFill>
                  <a:srgbClr val="2E2E2E"/>
                </a:solidFill>
                <a:latin typeface="Calibri"/>
              </a:rPr>
              <a:t>Among crab meat by product format, fresh segment is expected to</a:t>
            </a:r>
          </a:p>
        </p:txBody>
      </p:sp>
      <p:sp>
        <p:nvSpPr>
          <p:cNvPr id="38" name="TextBox 37"/>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39" name="Picture 38" descr="lock.png"/>
          <p:cNvPicPr>
            <a:picLocks noChangeAspect="1"/>
          </p:cNvPicPr>
          <p:nvPr/>
        </p:nvPicPr>
        <p:blipFill>
          <a:blip r:embed="rId5"/>
          <a:stretch>
            <a:fillRect/>
          </a:stretch>
        </p:blipFill>
        <p:spPr>
          <a:xfrm>
            <a:off x="9526474" y="1565211"/>
            <a:ext cx="134549" cy="195707"/>
          </a:xfrm>
          <a:prstGeom prst="rect">
            <a:avLst/>
          </a:prstGeom>
        </p:spPr>
      </p:pic>
      <p:sp>
        <p:nvSpPr>
          <p:cNvPr id="40" name="TextBox 39"/>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1" name="TextBox 40"/>
          <p:cNvSpPr txBox="1"/>
          <p:nvPr/>
        </p:nvSpPr>
        <p:spPr>
          <a:xfrm>
            <a:off x="7829550" y="1750695"/>
            <a:ext cx="4042085" cy="194310"/>
          </a:xfrm>
          <a:prstGeom prst="rect">
            <a:avLst/>
          </a:prstGeom>
          <a:noFill/>
        </p:spPr>
        <p:txBody>
          <a:bodyPr wrap="none" lIns="0" rIns="0" tIns="0" bIns="0">
            <a:spAutoFit/>
          </a:bodyPr>
          <a:lstStyle/>
          <a:p>
            <a:r>
              <a:rPr sz="1150" b="0">
                <a:solidFill>
                  <a:srgbClr val="2E2E2E"/>
                </a:solidFill>
                <a:latin typeface="Calibri"/>
              </a:rPr>
              <a:t>of value share by product format, the fresh segment is expected to</a:t>
            </a:r>
          </a:p>
        </p:txBody>
      </p:sp>
      <p:sp>
        <p:nvSpPr>
          <p:cNvPr id="42" name="TextBox 41"/>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3" name="Picture 42" descr="lock.png"/>
          <p:cNvPicPr>
            <a:picLocks noChangeAspect="1"/>
          </p:cNvPicPr>
          <p:nvPr/>
        </p:nvPicPr>
        <p:blipFill>
          <a:blip r:embed="rId5"/>
          <a:stretch>
            <a:fillRect/>
          </a:stretch>
        </p:blipFill>
        <p:spPr>
          <a:xfrm>
            <a:off x="9615776" y="1915731"/>
            <a:ext cx="134549" cy="195707"/>
          </a:xfrm>
          <a:prstGeom prst="rect">
            <a:avLst/>
          </a:prstGeom>
        </p:spPr>
      </p:pic>
      <p:sp>
        <p:nvSpPr>
          <p:cNvPr id="44" name="TextBox 43"/>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11186028" y="1915731"/>
            <a:ext cx="134549" cy="195707"/>
          </a:xfrm>
          <a:prstGeom prst="rect">
            <a:avLst/>
          </a:prstGeom>
        </p:spPr>
      </p:pic>
      <p:sp>
        <p:nvSpPr>
          <p:cNvPr id="46" name="TextBox 45"/>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329053"/>
            <a:ext cx="2706526" cy="194310"/>
          </a:xfrm>
          <a:prstGeom prst="rect">
            <a:avLst/>
          </a:prstGeom>
          <a:noFill/>
        </p:spPr>
        <p:txBody>
          <a:bodyPr wrap="none" lIns="0" rIns="0" tIns="0" bIns="0">
            <a:spAutoFit/>
          </a:bodyPr>
          <a:lstStyle/>
          <a:p>
            <a:r>
              <a:rPr sz="1150" b="0">
                <a:solidFill>
                  <a:srgbClr val="2E2E2E"/>
                </a:solidFill>
                <a:latin typeface="Calibri"/>
              </a:rPr>
              <a:t>The pasteurized segment is expected to lose</a:t>
            </a:r>
          </a:p>
        </p:txBody>
      </p:sp>
      <p:pic>
        <p:nvPicPr>
          <p:cNvPr id="48" name="Picture 47" descr="lock.png"/>
          <p:cNvPicPr>
            <a:picLocks noChangeAspect="1"/>
          </p:cNvPicPr>
          <p:nvPr/>
        </p:nvPicPr>
        <p:blipFill>
          <a:blip r:embed="rId5"/>
          <a:stretch>
            <a:fillRect/>
          </a:stretch>
        </p:blipFill>
        <p:spPr>
          <a:xfrm>
            <a:off x="10485230" y="2318829"/>
            <a:ext cx="134549" cy="195707"/>
          </a:xfrm>
          <a:prstGeom prst="rect">
            <a:avLst/>
          </a:prstGeom>
        </p:spPr>
      </p:pic>
      <p:sp>
        <p:nvSpPr>
          <p:cNvPr id="49" name="TextBox 48"/>
          <p:cNvSpPr txBox="1"/>
          <p:nvPr/>
        </p:nvSpPr>
        <p:spPr>
          <a:xfrm>
            <a:off x="10660339"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0" name="TextBox 49"/>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1" name="Picture 50" descr="lock.png"/>
          <p:cNvPicPr>
            <a:picLocks noChangeAspect="1"/>
          </p:cNvPicPr>
          <p:nvPr/>
        </p:nvPicPr>
        <p:blipFill>
          <a:blip r:embed="rId5"/>
          <a:stretch>
            <a:fillRect/>
          </a:stretch>
        </p:blipFill>
        <p:spPr>
          <a:xfrm>
            <a:off x="9630324" y="2494089"/>
            <a:ext cx="134549" cy="195707"/>
          </a:xfrm>
          <a:prstGeom prst="rect">
            <a:avLst/>
          </a:prstGeom>
        </p:spPr>
      </p:pic>
      <p:sp>
        <p:nvSpPr>
          <p:cNvPr id="52" name="TextBox 51"/>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Claim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Claim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Claim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Product Claim,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Claim segment categorizes the market by product claim.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Organic</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Freshly Pasteurized for Extended…</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High Protein / Omega-3 Rich</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Sustainably Sourced</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100% Pure Crab Meat</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Claim split shows how demand is distributed across product claim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_897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3_796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7_2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714_0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939_4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2_8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532_1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944_0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5_9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527_3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597_7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1_3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244_5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333_7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3_2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556966" cy="186689"/>
          </a:xfrm>
          <a:prstGeom prst="rect">
            <a:avLst/>
          </a:prstGeom>
          <a:noFill/>
        </p:spPr>
        <p:txBody>
          <a:bodyPr wrap="none" lIns="0" rIns="0" tIns="0" bIns="0">
            <a:spAutoFit/>
          </a:bodyPr>
          <a:lstStyle/>
          <a:p>
            <a:r>
              <a:rPr sz="1100" b="0">
                <a:solidFill>
                  <a:srgbClr val="2E2E2E"/>
                </a:solidFill>
                <a:latin typeface="Calibri"/>
              </a:rPr>
              <a:t>Among crab meat by product claim, organic</a:t>
            </a:r>
          </a:p>
        </p:txBody>
      </p:sp>
      <p:sp>
        <p:nvSpPr>
          <p:cNvPr id="91" name="TextBox 90"/>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92" name="TextBox 91"/>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93" name="Picture 92" descr="lock.png"/>
          <p:cNvPicPr>
            <a:picLocks noChangeAspect="1"/>
          </p:cNvPicPr>
          <p:nvPr/>
        </p:nvPicPr>
        <p:blipFill>
          <a:blip r:embed="rId19"/>
          <a:stretch>
            <a:fillRect/>
          </a:stretch>
        </p:blipFill>
        <p:spPr>
          <a:xfrm>
            <a:off x="626261" y="4554938"/>
            <a:ext cx="128699" cy="187198"/>
          </a:xfrm>
          <a:prstGeom prst="rect">
            <a:avLst/>
          </a:prstGeom>
        </p:spPr>
      </p:pic>
      <p:sp>
        <p:nvSpPr>
          <p:cNvPr id="94" name="TextBox 93"/>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95" name="TextBox 94"/>
          <p:cNvSpPr txBox="1"/>
          <p:nvPr/>
        </p:nvSpPr>
        <p:spPr>
          <a:xfrm>
            <a:off x="485775" y="4732357"/>
            <a:ext cx="2721495" cy="186689"/>
          </a:xfrm>
          <a:prstGeom prst="rect">
            <a:avLst/>
          </a:prstGeom>
          <a:noFill/>
        </p:spPr>
        <p:txBody>
          <a:bodyPr wrap="none" lIns="0" rIns="0" tIns="0" bIns="0">
            <a:spAutoFit/>
          </a:bodyPr>
          <a:lstStyle/>
          <a:p>
            <a:r>
              <a:rPr sz="1100" b="0">
                <a:solidFill>
                  <a:srgbClr val="2E2E2E"/>
                </a:solidFill>
                <a:latin typeface="Calibri"/>
              </a:rPr>
              <a:t>share by product claim, the organic segment is</a:t>
            </a:r>
          </a:p>
        </p:txBody>
      </p:sp>
      <p:sp>
        <p:nvSpPr>
          <p:cNvPr id="96" name="TextBox 95"/>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97" name="Picture 96" descr="lock.png"/>
          <p:cNvPicPr>
            <a:picLocks noChangeAspect="1"/>
          </p:cNvPicPr>
          <p:nvPr/>
        </p:nvPicPr>
        <p:blipFill>
          <a:blip r:embed="rId19"/>
          <a:stretch>
            <a:fillRect/>
          </a:stretch>
        </p:blipFill>
        <p:spPr>
          <a:xfrm>
            <a:off x="2900479" y="4890217"/>
            <a:ext cx="128699" cy="187198"/>
          </a:xfrm>
          <a:prstGeom prst="rect">
            <a:avLst/>
          </a:prstGeom>
        </p:spPr>
      </p:pic>
      <p:sp>
        <p:nvSpPr>
          <p:cNvPr id="98" name="TextBox 97"/>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9" name="TextBox 98"/>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00" name="Picture 99" descr="lock.png"/>
          <p:cNvPicPr>
            <a:picLocks noChangeAspect="1"/>
          </p:cNvPicPr>
          <p:nvPr/>
        </p:nvPicPr>
        <p:blipFill>
          <a:blip r:embed="rId19"/>
          <a:stretch>
            <a:fillRect/>
          </a:stretch>
        </p:blipFill>
        <p:spPr>
          <a:xfrm>
            <a:off x="1576057" y="5057858"/>
            <a:ext cx="128699" cy="187198"/>
          </a:xfrm>
          <a:prstGeom prst="rect">
            <a:avLst/>
          </a:prstGeom>
        </p:spPr>
      </p:pic>
      <p:sp>
        <p:nvSpPr>
          <p:cNvPr id="101" name="TextBox 100"/>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2" name="TextBox 101"/>
          <p:cNvSpPr txBox="1"/>
          <p:nvPr/>
        </p:nvSpPr>
        <p:spPr>
          <a:xfrm>
            <a:off x="485775" y="5285569"/>
            <a:ext cx="2356420" cy="186689"/>
          </a:xfrm>
          <a:prstGeom prst="rect">
            <a:avLst/>
          </a:prstGeom>
          <a:noFill/>
        </p:spPr>
        <p:txBody>
          <a:bodyPr wrap="none" lIns="0" rIns="0" tIns="0" bIns="0">
            <a:spAutoFit/>
          </a:bodyPr>
          <a:lstStyle/>
          <a:p>
            <a:r>
              <a:rPr sz="1100" b="0">
                <a:solidFill>
                  <a:srgbClr val="2E2E2E"/>
                </a:solidFill>
                <a:latin typeface="Calibri"/>
              </a:rPr>
              <a:t>Organic segment is projected to register</a:t>
            </a:r>
          </a:p>
        </p:txBody>
      </p:sp>
      <p:pic>
        <p:nvPicPr>
          <p:cNvPr id="103" name="Picture 102" descr="lock.png"/>
          <p:cNvPicPr>
            <a:picLocks noChangeAspect="1"/>
          </p:cNvPicPr>
          <p:nvPr/>
        </p:nvPicPr>
        <p:blipFill>
          <a:blip r:embed="rId19"/>
          <a:stretch>
            <a:fillRect/>
          </a:stretch>
        </p:blipFill>
        <p:spPr>
          <a:xfrm>
            <a:off x="2790247" y="5275790"/>
            <a:ext cx="128699" cy="187198"/>
          </a:xfrm>
          <a:prstGeom prst="rect">
            <a:avLst/>
          </a:prstGeom>
        </p:spPr>
      </p:pic>
      <p:sp>
        <p:nvSpPr>
          <p:cNvPr id="104" name="TextBox 103"/>
          <p:cNvSpPr txBox="1"/>
          <p:nvPr/>
        </p:nvSpPr>
        <p:spPr>
          <a:xfrm>
            <a:off x="2957742"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5" name="TextBox 104"/>
          <p:cNvSpPr txBox="1"/>
          <p:nvPr/>
        </p:nvSpPr>
        <p:spPr>
          <a:xfrm>
            <a:off x="485775" y="5453209"/>
            <a:ext cx="2677021" cy="186689"/>
          </a:xfrm>
          <a:prstGeom prst="rect">
            <a:avLst/>
          </a:prstGeom>
          <a:noFill/>
        </p:spPr>
        <p:txBody>
          <a:bodyPr wrap="none" lIns="0" rIns="0" tIns="0" bIns="0">
            <a:spAutoFit/>
          </a:bodyPr>
          <a:lstStyle/>
          <a:p>
            <a:r>
              <a:rPr sz="1100" b="0">
                <a:solidFill>
                  <a:srgbClr val="2E2E2E"/>
                </a:solidFill>
                <a:latin typeface="Calibri"/>
              </a:rPr>
              <a:t>higher value than high protein / Omega-3 rich</a:t>
            </a:r>
          </a:p>
        </p:txBody>
      </p:sp>
      <p:sp>
        <p:nvSpPr>
          <p:cNvPr id="106" name="TextBox 105"/>
          <p:cNvSpPr txBox="1"/>
          <p:nvPr/>
        </p:nvSpPr>
        <p:spPr>
          <a:xfrm>
            <a:off x="485775" y="562084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668287" cy="186689"/>
          </a:xfrm>
          <a:prstGeom prst="rect">
            <a:avLst/>
          </a:prstGeom>
          <a:noFill/>
        </p:spPr>
        <p:txBody>
          <a:bodyPr wrap="none" lIns="0" rIns="0" tIns="0" bIns="0">
            <a:spAutoFit/>
          </a:bodyPr>
          <a:lstStyle/>
          <a:p>
            <a:r>
              <a:rPr sz="1100" b="0">
                <a:solidFill>
                  <a:srgbClr val="2E2E2E"/>
                </a:solidFill>
                <a:latin typeface="Calibri"/>
              </a:rPr>
              <a:t>● Organic:</a:t>
            </a:r>
          </a:p>
        </p:txBody>
      </p:sp>
      <p:pic>
        <p:nvPicPr>
          <p:cNvPr id="108" name="Picture 107" descr="lock.png"/>
          <p:cNvPicPr>
            <a:picLocks noChangeAspect="1"/>
          </p:cNvPicPr>
          <p:nvPr/>
        </p:nvPicPr>
        <p:blipFill>
          <a:blip r:embed="rId19"/>
          <a:stretch>
            <a:fillRect/>
          </a:stretch>
        </p:blipFill>
        <p:spPr>
          <a:xfrm>
            <a:off x="4454914" y="4219658"/>
            <a:ext cx="128699" cy="187198"/>
          </a:xfrm>
          <a:prstGeom prst="rect">
            <a:avLst/>
          </a:prstGeom>
        </p:spPr>
      </p:pic>
      <p:sp>
        <p:nvSpPr>
          <p:cNvPr id="109" name="TextBox 108"/>
          <p:cNvSpPr txBox="1"/>
          <p:nvPr/>
        </p:nvSpPr>
        <p:spPr>
          <a:xfrm>
            <a:off x="462241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481860" y="4219658"/>
            <a:ext cx="128699" cy="187198"/>
          </a:xfrm>
          <a:prstGeom prst="rect">
            <a:avLst/>
          </a:prstGeom>
        </p:spPr>
      </p:pic>
      <p:sp>
        <p:nvSpPr>
          <p:cNvPr id="111" name="TextBox 110"/>
          <p:cNvSpPr txBox="1"/>
          <p:nvPr/>
        </p:nvSpPr>
        <p:spPr>
          <a:xfrm>
            <a:off x="564935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2641550" cy="186689"/>
          </a:xfrm>
          <a:prstGeom prst="rect">
            <a:avLst/>
          </a:prstGeom>
          <a:noFill/>
        </p:spPr>
        <p:txBody>
          <a:bodyPr wrap="none" lIns="0" rIns="0" tIns="0" bIns="0">
            <a:spAutoFit/>
          </a:bodyPr>
          <a:lstStyle/>
          <a:p>
            <a:r>
              <a:rPr sz="1100" b="0">
                <a:solidFill>
                  <a:srgbClr val="2E2E2E"/>
                </a:solidFill>
                <a:latin typeface="Calibri"/>
              </a:rPr>
              <a:t>● Freshly Pasteurized for Extended Shelf Life:</a:t>
            </a:r>
          </a:p>
        </p:txBody>
      </p:sp>
      <p:pic>
        <p:nvPicPr>
          <p:cNvPr id="113" name="Picture 112" descr="lock.png"/>
          <p:cNvPicPr>
            <a:picLocks noChangeAspect="1"/>
          </p:cNvPicPr>
          <p:nvPr/>
        </p:nvPicPr>
        <p:blipFill>
          <a:blip r:embed="rId19"/>
          <a:stretch>
            <a:fillRect/>
          </a:stretch>
        </p:blipFill>
        <p:spPr>
          <a:xfrm>
            <a:off x="6428176" y="4437590"/>
            <a:ext cx="128699" cy="187198"/>
          </a:xfrm>
          <a:prstGeom prst="rect">
            <a:avLst/>
          </a:prstGeom>
        </p:spPr>
      </p:pic>
      <p:sp>
        <p:nvSpPr>
          <p:cNvPr id="114" name="TextBox 113"/>
          <p:cNvSpPr txBox="1"/>
          <p:nvPr/>
        </p:nvSpPr>
        <p:spPr>
          <a:xfrm>
            <a:off x="659567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7455123" y="4437590"/>
            <a:ext cx="128699" cy="187198"/>
          </a:xfrm>
          <a:prstGeom prst="rect">
            <a:avLst/>
          </a:prstGeom>
        </p:spPr>
      </p:pic>
      <p:sp>
        <p:nvSpPr>
          <p:cNvPr id="116" name="TextBox 115"/>
          <p:cNvSpPr txBox="1"/>
          <p:nvPr/>
        </p:nvSpPr>
        <p:spPr>
          <a:xfrm>
            <a:off x="3838575"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3838575" y="4832941"/>
            <a:ext cx="1846188" cy="186689"/>
          </a:xfrm>
          <a:prstGeom prst="rect">
            <a:avLst/>
          </a:prstGeom>
          <a:noFill/>
        </p:spPr>
        <p:txBody>
          <a:bodyPr wrap="none" lIns="0" rIns="0" tIns="0" bIns="0">
            <a:spAutoFit/>
          </a:bodyPr>
          <a:lstStyle/>
          <a:p>
            <a:r>
              <a:rPr sz="1100" b="0">
                <a:solidFill>
                  <a:srgbClr val="2E2E2E"/>
                </a:solidFill>
                <a:latin typeface="Calibri"/>
              </a:rPr>
              <a:t>● High Protein / Omega-3 Rich:</a:t>
            </a:r>
          </a:p>
        </p:txBody>
      </p:sp>
      <p:pic>
        <p:nvPicPr>
          <p:cNvPr id="118" name="Picture 117" descr="lock.png"/>
          <p:cNvPicPr>
            <a:picLocks noChangeAspect="1"/>
          </p:cNvPicPr>
          <p:nvPr/>
        </p:nvPicPr>
        <p:blipFill>
          <a:blip r:embed="rId19"/>
          <a:stretch>
            <a:fillRect/>
          </a:stretch>
        </p:blipFill>
        <p:spPr>
          <a:xfrm>
            <a:off x="5632814" y="4823162"/>
            <a:ext cx="128699" cy="187198"/>
          </a:xfrm>
          <a:prstGeom prst="rect">
            <a:avLst/>
          </a:prstGeom>
        </p:spPr>
      </p:pic>
      <p:sp>
        <p:nvSpPr>
          <p:cNvPr id="119" name="TextBox 118"/>
          <p:cNvSpPr txBox="1"/>
          <p:nvPr/>
        </p:nvSpPr>
        <p:spPr>
          <a:xfrm>
            <a:off x="580031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6659760" y="4823162"/>
            <a:ext cx="128699" cy="187198"/>
          </a:xfrm>
          <a:prstGeom prst="rect">
            <a:avLst/>
          </a:prstGeom>
        </p:spPr>
      </p:pic>
      <p:sp>
        <p:nvSpPr>
          <p:cNvPr id="121" name="TextBox 120"/>
          <p:cNvSpPr txBox="1"/>
          <p:nvPr/>
        </p:nvSpPr>
        <p:spPr>
          <a:xfrm>
            <a:off x="6827256" y="483294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2" name="TextBox 121"/>
          <p:cNvSpPr txBox="1"/>
          <p:nvPr/>
        </p:nvSpPr>
        <p:spPr>
          <a:xfrm>
            <a:off x="3838575" y="500058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3" name="TextBox 122"/>
          <p:cNvSpPr txBox="1"/>
          <p:nvPr/>
        </p:nvSpPr>
        <p:spPr>
          <a:xfrm>
            <a:off x="3838575" y="5218513"/>
            <a:ext cx="1370607" cy="186689"/>
          </a:xfrm>
          <a:prstGeom prst="rect">
            <a:avLst/>
          </a:prstGeom>
          <a:noFill/>
        </p:spPr>
        <p:txBody>
          <a:bodyPr wrap="none" lIns="0" rIns="0" tIns="0" bIns="0">
            <a:spAutoFit/>
          </a:bodyPr>
          <a:lstStyle/>
          <a:p>
            <a:r>
              <a:rPr sz="1100" b="0">
                <a:solidFill>
                  <a:srgbClr val="2E2E2E"/>
                </a:solidFill>
                <a:latin typeface="Calibri"/>
              </a:rPr>
              <a:t>● Sustainably Sourced:</a:t>
            </a:r>
          </a:p>
        </p:txBody>
      </p:sp>
      <p:pic>
        <p:nvPicPr>
          <p:cNvPr id="124" name="Picture 123" descr="lock.png"/>
          <p:cNvPicPr>
            <a:picLocks noChangeAspect="1"/>
          </p:cNvPicPr>
          <p:nvPr/>
        </p:nvPicPr>
        <p:blipFill>
          <a:blip r:embed="rId19"/>
          <a:stretch>
            <a:fillRect/>
          </a:stretch>
        </p:blipFill>
        <p:spPr>
          <a:xfrm>
            <a:off x="5157234" y="5208733"/>
            <a:ext cx="128699" cy="187198"/>
          </a:xfrm>
          <a:prstGeom prst="rect">
            <a:avLst/>
          </a:prstGeom>
        </p:spPr>
      </p:pic>
      <p:sp>
        <p:nvSpPr>
          <p:cNvPr id="125" name="TextBox 124"/>
          <p:cNvSpPr txBox="1"/>
          <p:nvPr/>
        </p:nvSpPr>
        <p:spPr>
          <a:xfrm>
            <a:off x="5324730"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6184180" y="5208733"/>
            <a:ext cx="128699" cy="187198"/>
          </a:xfrm>
          <a:prstGeom prst="rect">
            <a:avLst/>
          </a:prstGeom>
        </p:spPr>
      </p:pic>
      <p:sp>
        <p:nvSpPr>
          <p:cNvPr id="127" name="TextBox 126"/>
          <p:cNvSpPr txBox="1"/>
          <p:nvPr/>
        </p:nvSpPr>
        <p:spPr>
          <a:xfrm>
            <a:off x="6351676" y="521851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5436445"/>
            <a:ext cx="1467742" cy="186689"/>
          </a:xfrm>
          <a:prstGeom prst="rect">
            <a:avLst/>
          </a:prstGeom>
          <a:noFill/>
        </p:spPr>
        <p:txBody>
          <a:bodyPr wrap="none" lIns="0" rIns="0" tIns="0" bIns="0">
            <a:spAutoFit/>
          </a:bodyPr>
          <a:lstStyle/>
          <a:p>
            <a:r>
              <a:rPr sz="1100" b="0">
                <a:solidFill>
                  <a:srgbClr val="2E2E2E"/>
                </a:solidFill>
                <a:latin typeface="Calibri"/>
              </a:rPr>
              <a:t>● 100% Pure Crab Meat:</a:t>
            </a:r>
          </a:p>
        </p:txBody>
      </p:sp>
      <p:pic>
        <p:nvPicPr>
          <p:cNvPr id="129" name="Picture 128" descr="lock.png"/>
          <p:cNvPicPr>
            <a:picLocks noChangeAspect="1"/>
          </p:cNvPicPr>
          <p:nvPr/>
        </p:nvPicPr>
        <p:blipFill>
          <a:blip r:embed="rId19"/>
          <a:stretch>
            <a:fillRect/>
          </a:stretch>
        </p:blipFill>
        <p:spPr>
          <a:xfrm>
            <a:off x="5254369" y="5426665"/>
            <a:ext cx="128699" cy="187198"/>
          </a:xfrm>
          <a:prstGeom prst="rect">
            <a:avLst/>
          </a:prstGeom>
        </p:spPr>
      </p:pic>
      <p:sp>
        <p:nvSpPr>
          <p:cNvPr id="130" name="TextBox 129"/>
          <p:cNvSpPr txBox="1"/>
          <p:nvPr/>
        </p:nvSpPr>
        <p:spPr>
          <a:xfrm>
            <a:off x="5421865"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19"/>
          <a:stretch>
            <a:fillRect/>
          </a:stretch>
        </p:blipFill>
        <p:spPr>
          <a:xfrm>
            <a:off x="6281315" y="5426665"/>
            <a:ext cx="128699" cy="187198"/>
          </a:xfrm>
          <a:prstGeom prst="rect">
            <a:avLst/>
          </a:prstGeom>
        </p:spPr>
      </p:pic>
      <p:sp>
        <p:nvSpPr>
          <p:cNvPr id="132" name="TextBox 131"/>
          <p:cNvSpPr txBox="1"/>
          <p:nvPr/>
        </p:nvSpPr>
        <p:spPr>
          <a:xfrm>
            <a:off x="6448811"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8524875" y="5842641"/>
            <a:ext cx="3144105" cy="194310"/>
          </a:xfrm>
          <a:prstGeom prst="rect">
            <a:avLst/>
          </a:prstGeom>
          <a:noFill/>
        </p:spPr>
        <p:txBody>
          <a:bodyPr wrap="none" lIns="0" rIns="0" tIns="0" bIns="0">
            <a:spAutoFit/>
          </a:bodyPr>
          <a:lstStyle/>
          <a:p>
            <a:r>
              <a:rPr sz="1150" b="1">
                <a:solidFill>
                  <a:srgbClr val="0B2E4A"/>
                </a:solidFill>
                <a:latin typeface="Calibri"/>
              </a:rPr>
              <a:t>The Product Claim segment is projected to grow at</a:t>
            </a:r>
          </a:p>
        </p:txBody>
      </p:sp>
      <p:sp>
        <p:nvSpPr>
          <p:cNvPr id="134" name="TextBox 133"/>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35" name="Picture 134" descr="lock.png"/>
          <p:cNvPicPr>
            <a:picLocks noChangeAspect="1"/>
          </p:cNvPicPr>
          <p:nvPr/>
        </p:nvPicPr>
        <p:blipFill>
          <a:blip r:embed="rId19"/>
          <a:stretch>
            <a:fillRect/>
          </a:stretch>
        </p:blipFill>
        <p:spPr>
          <a:xfrm>
            <a:off x="9154084" y="6007677"/>
            <a:ext cx="134549" cy="195707"/>
          </a:xfrm>
          <a:prstGeom prst="rect">
            <a:avLst/>
          </a:prstGeom>
        </p:spPr>
      </p:pic>
      <p:sp>
        <p:nvSpPr>
          <p:cNvPr id="136" name="TextBox 135"/>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Product Claim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Claim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Claim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Claim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65297" cy="186689"/>
          </a:xfrm>
          <a:prstGeom prst="rect">
            <a:avLst/>
          </a:prstGeom>
          <a:noFill/>
        </p:spPr>
        <p:txBody>
          <a:bodyPr wrap="none" lIns="0" rIns="0" tIns="0" bIns="0">
            <a:spAutoFit/>
          </a:bodyPr>
          <a:lstStyle/>
          <a:p>
            <a:r>
              <a:rPr sz="1100" b="0">
                <a:solidFill>
                  <a:srgbClr val="2E2E2E"/>
                </a:solidFill>
                <a:latin typeface="Calibri"/>
              </a:rPr>
              <a:t>Organic followed by high protein / Omega-3 rich are expected to be the two most attractive product claim segments in the Europe crab meat market in terms of value over the forecast period. Organic and</a:t>
            </a:r>
          </a:p>
        </p:txBody>
      </p:sp>
      <p:sp>
        <p:nvSpPr>
          <p:cNvPr id="20" name="TextBox 19"/>
          <p:cNvSpPr txBox="1"/>
          <p:nvPr/>
        </p:nvSpPr>
        <p:spPr>
          <a:xfrm>
            <a:off x="257175" y="5861685"/>
            <a:ext cx="3011247" cy="186689"/>
          </a:xfrm>
          <a:prstGeom prst="rect">
            <a:avLst/>
          </a:prstGeom>
          <a:noFill/>
        </p:spPr>
        <p:txBody>
          <a:bodyPr wrap="none" lIns="0" rIns="0" tIns="0" bIns="0">
            <a:spAutoFit/>
          </a:bodyPr>
          <a:lstStyle/>
          <a:p>
            <a:r>
              <a:rPr sz="1100" b="0">
                <a:solidFill>
                  <a:srgbClr val="2E2E2E"/>
                </a:solidFill>
                <a:latin typeface="Calibri"/>
              </a:rPr>
              <a:t>high protein / Omega-3 rich exhibit a CAGR index of</a:t>
            </a:r>
          </a:p>
        </p:txBody>
      </p:sp>
      <p:pic>
        <p:nvPicPr>
          <p:cNvPr id="21" name="Picture 20" descr="lock.png"/>
          <p:cNvPicPr>
            <a:picLocks noChangeAspect="1"/>
          </p:cNvPicPr>
          <p:nvPr/>
        </p:nvPicPr>
        <p:blipFill>
          <a:blip r:embed="rId6"/>
          <a:stretch>
            <a:fillRect/>
          </a:stretch>
        </p:blipFill>
        <p:spPr>
          <a:xfrm>
            <a:off x="3216473" y="5851905"/>
            <a:ext cx="128699" cy="187198"/>
          </a:xfrm>
          <a:prstGeom prst="rect">
            <a:avLst/>
          </a:prstGeom>
        </p:spPr>
      </p:pic>
      <p:sp>
        <p:nvSpPr>
          <p:cNvPr id="22" name="TextBox 21"/>
          <p:cNvSpPr txBox="1"/>
          <p:nvPr/>
        </p:nvSpPr>
        <p:spPr>
          <a:xfrm>
            <a:off x="338396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621863" y="5851905"/>
            <a:ext cx="128699" cy="187198"/>
          </a:xfrm>
          <a:prstGeom prst="rect">
            <a:avLst/>
          </a:prstGeom>
        </p:spPr>
      </p:pic>
      <p:sp>
        <p:nvSpPr>
          <p:cNvPr id="24" name="TextBox 23"/>
          <p:cNvSpPr txBox="1"/>
          <p:nvPr/>
        </p:nvSpPr>
        <p:spPr>
          <a:xfrm>
            <a:off x="378935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398333" y="5851905"/>
            <a:ext cx="128699" cy="187198"/>
          </a:xfrm>
          <a:prstGeom prst="rect">
            <a:avLst/>
          </a:prstGeom>
        </p:spPr>
      </p:pic>
      <p:sp>
        <p:nvSpPr>
          <p:cNvPr id="26" name="TextBox 25"/>
          <p:cNvSpPr txBox="1"/>
          <p:nvPr/>
        </p:nvSpPr>
        <p:spPr>
          <a:xfrm>
            <a:off x="556582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803723" y="5851905"/>
            <a:ext cx="128699" cy="187198"/>
          </a:xfrm>
          <a:prstGeom prst="rect">
            <a:avLst/>
          </a:prstGeom>
        </p:spPr>
      </p:pic>
      <p:sp>
        <p:nvSpPr>
          <p:cNvPr id="28" name="TextBox 27"/>
          <p:cNvSpPr txBox="1"/>
          <p:nvPr/>
        </p:nvSpPr>
        <p:spPr>
          <a:xfrm>
            <a:off x="597121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525623" y="5851905"/>
            <a:ext cx="128699" cy="187198"/>
          </a:xfrm>
          <a:prstGeom prst="rect">
            <a:avLst/>
          </a:prstGeom>
        </p:spPr>
      </p:pic>
      <p:sp>
        <p:nvSpPr>
          <p:cNvPr id="30" name="TextBox 29"/>
          <p:cNvSpPr txBox="1"/>
          <p:nvPr/>
        </p:nvSpPr>
        <p:spPr>
          <a:xfrm>
            <a:off x="8693119" y="5861685"/>
            <a:ext cx="2243459" cy="186689"/>
          </a:xfrm>
          <a:prstGeom prst="rect">
            <a:avLst/>
          </a:prstGeom>
          <a:noFill/>
        </p:spPr>
        <p:txBody>
          <a:bodyPr wrap="none" lIns="0" rIns="0" tIns="0" bIns="0">
            <a:spAutoFit/>
          </a:bodyPr>
          <a:lstStyle/>
          <a:p>
            <a:r>
              <a:rPr sz="1100" b="0">
                <a:solidFill>
                  <a:srgbClr val="2E2E2E"/>
                </a:solidFill>
                <a:latin typeface="Calibri"/>
              </a:rPr>
              <a:t>. The 100% pure crab meat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Product Claim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Claim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Organic</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Sustainably Sourced</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100% Pure Crab Meat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High Protein / Omega-3 Rich</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Product Claim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Claim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Freshly Pasteurized for Extended Shelf Life</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Europe Absolute $ Opportunity Analysis, By Product Claim</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400175"/>
            <a:ext cx="3940227" cy="194310"/>
          </a:xfrm>
          <a:prstGeom prst="rect">
            <a:avLst/>
          </a:prstGeom>
          <a:noFill/>
        </p:spPr>
        <p:txBody>
          <a:bodyPr wrap="none" lIns="0" rIns="0" tIns="0" bIns="0">
            <a:spAutoFit/>
          </a:bodyPr>
          <a:lstStyle/>
          <a:p>
            <a:r>
              <a:rPr sz="1150" b="0">
                <a:solidFill>
                  <a:srgbClr val="2E2E2E"/>
                </a:solidFill>
                <a:latin typeface="Calibri"/>
              </a:rPr>
              <a:t>By 2036, organic segment is anticipated to witness an increase of</a:t>
            </a:r>
          </a:p>
        </p:txBody>
      </p:sp>
      <p:pic>
        <p:nvPicPr>
          <p:cNvPr id="20" name="Picture 19" descr="lock.png"/>
          <p:cNvPicPr>
            <a:picLocks noChangeAspect="1"/>
          </p:cNvPicPr>
          <p:nvPr/>
        </p:nvPicPr>
        <p:blipFill>
          <a:blip r:embed="rId5"/>
          <a:stretch>
            <a:fillRect/>
          </a:stretch>
        </p:blipFill>
        <p:spPr>
          <a:xfrm>
            <a:off x="10194931" y="1389951"/>
            <a:ext cx="134549" cy="195707"/>
          </a:xfrm>
          <a:prstGeom prst="rect">
            <a:avLst/>
          </a:prstGeom>
        </p:spPr>
      </p:pic>
      <p:sp>
        <p:nvSpPr>
          <p:cNvPr id="21" name="TextBox 20"/>
          <p:cNvSpPr txBox="1"/>
          <p:nvPr/>
        </p:nvSpPr>
        <p:spPr>
          <a:xfrm>
            <a:off x="10370040"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575435"/>
            <a:ext cx="5575324" cy="194310"/>
          </a:xfrm>
          <a:prstGeom prst="rect">
            <a:avLst/>
          </a:prstGeom>
          <a:noFill/>
        </p:spPr>
        <p:txBody>
          <a:bodyPr wrap="none" lIns="0" rIns="0" tIns="0" bIns="0">
            <a:spAutoFit/>
          </a:bodyPr>
          <a:lstStyle/>
          <a:p>
            <a:r>
              <a:rPr sz="1150" b="0">
                <a:solidFill>
                  <a:srgbClr val="2E2E2E"/>
                </a:solidFill>
                <a:latin typeface="Calibri"/>
              </a:rPr>
              <a:t>compared to 2026. The organic segment is expected to create an incremental opportunity of</a:t>
            </a:r>
          </a:p>
        </p:txBody>
      </p:sp>
      <p:sp>
        <p:nvSpPr>
          <p:cNvPr id="23" name="TextBox 22"/>
          <p:cNvSpPr txBox="1"/>
          <p:nvPr/>
        </p:nvSpPr>
        <p:spPr>
          <a:xfrm>
            <a:off x="6305550" y="175069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4" name="Picture 23" descr="lock.png"/>
          <p:cNvPicPr>
            <a:picLocks noChangeAspect="1"/>
          </p:cNvPicPr>
          <p:nvPr/>
        </p:nvPicPr>
        <p:blipFill>
          <a:blip r:embed="rId5"/>
          <a:stretch>
            <a:fillRect/>
          </a:stretch>
        </p:blipFill>
        <p:spPr>
          <a:xfrm>
            <a:off x="6565953" y="1740471"/>
            <a:ext cx="134549" cy="195707"/>
          </a:xfrm>
          <a:prstGeom prst="rect">
            <a:avLst/>
          </a:prstGeom>
        </p:spPr>
      </p:pic>
      <p:sp>
        <p:nvSpPr>
          <p:cNvPr id="25" name="TextBox 24"/>
          <p:cNvSpPr txBox="1"/>
          <p:nvPr/>
        </p:nvSpPr>
        <p:spPr>
          <a:xfrm>
            <a:off x="6741062" y="1750695"/>
            <a:ext cx="3423084"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a:t>
            </a:r>
          </a:p>
        </p:txBody>
      </p:sp>
      <p:sp>
        <p:nvSpPr>
          <p:cNvPr id="26" name="TextBox 25"/>
          <p:cNvSpPr txBox="1"/>
          <p:nvPr/>
        </p:nvSpPr>
        <p:spPr>
          <a:xfrm>
            <a:off x="6305550" y="1978533"/>
            <a:ext cx="5591175" cy="194310"/>
          </a:xfrm>
          <a:prstGeom prst="rect">
            <a:avLst/>
          </a:prstGeom>
          <a:noFill/>
        </p:spPr>
        <p:txBody>
          <a:bodyPr wrap="none" lIns="0" rIns="0" tIns="0" bIns="0">
            <a:spAutoFit/>
          </a:bodyPr>
          <a:lstStyle/>
          <a:p>
            <a:r>
              <a:rPr sz="1150" b="0">
                <a:solidFill>
                  <a:srgbClr val="2E2E2E"/>
                </a:solidFill>
                <a:latin typeface="Calibri"/>
              </a:rPr>
              <a:t>The high protein / Omega-3 rich segment is expected to create an incremental opportunity of</a:t>
            </a:r>
          </a:p>
        </p:txBody>
      </p:sp>
      <p:sp>
        <p:nvSpPr>
          <p:cNvPr id="27" name="TextBox 26"/>
          <p:cNvSpPr txBox="1"/>
          <p:nvPr/>
        </p:nvSpPr>
        <p:spPr>
          <a:xfrm>
            <a:off x="6305550" y="215379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5"/>
          <a:stretch>
            <a:fillRect/>
          </a:stretch>
        </p:blipFill>
        <p:spPr>
          <a:xfrm>
            <a:off x="6565953" y="2143569"/>
            <a:ext cx="134549" cy="195707"/>
          </a:xfrm>
          <a:prstGeom prst="rect">
            <a:avLst/>
          </a:prstGeom>
        </p:spPr>
      </p:pic>
      <p:sp>
        <p:nvSpPr>
          <p:cNvPr id="29" name="TextBox 28"/>
          <p:cNvSpPr txBox="1"/>
          <p:nvPr/>
        </p:nvSpPr>
        <p:spPr>
          <a:xfrm>
            <a:off x="6741062" y="2153793"/>
            <a:ext cx="5044752" cy="194310"/>
          </a:xfrm>
          <a:prstGeom prst="rect">
            <a:avLst/>
          </a:prstGeom>
          <a:noFill/>
        </p:spPr>
        <p:txBody>
          <a:bodyPr wrap="none" lIns="0" rIns="0" tIns="0" bIns="0">
            <a:spAutoFit/>
          </a:bodyPr>
          <a:lstStyle/>
          <a:p>
            <a:r>
              <a:rPr sz="1150" b="0">
                <a:solidFill>
                  <a:srgbClr val="2E2E2E"/>
                </a:solidFill>
                <a:latin typeface="Calibri"/>
              </a:rPr>
              <a:t>Mn for the overall crab meat market from 2026 to 2036. The freshly pasteurized for</a:t>
            </a:r>
          </a:p>
        </p:txBody>
      </p:sp>
      <p:sp>
        <p:nvSpPr>
          <p:cNvPr id="30" name="TextBox 29"/>
          <p:cNvSpPr txBox="1"/>
          <p:nvPr/>
        </p:nvSpPr>
        <p:spPr>
          <a:xfrm>
            <a:off x="6305550" y="2329053"/>
            <a:ext cx="5085258" cy="194310"/>
          </a:xfrm>
          <a:prstGeom prst="rect">
            <a:avLst/>
          </a:prstGeom>
          <a:noFill/>
        </p:spPr>
        <p:txBody>
          <a:bodyPr wrap="none" lIns="0" rIns="0" tIns="0" bIns="0">
            <a:spAutoFit/>
          </a:bodyPr>
          <a:lstStyle/>
          <a:p>
            <a:r>
              <a:rPr sz="1150" b="0">
                <a:solidFill>
                  <a:srgbClr val="2E2E2E"/>
                </a:solidFill>
                <a:latin typeface="Calibri"/>
              </a:rPr>
              <a:t>extended shelf life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1339962" y="2318829"/>
            <a:ext cx="134549" cy="195707"/>
          </a:xfrm>
          <a:prstGeom prst="rect">
            <a:avLst/>
          </a:prstGeom>
        </p:spPr>
      </p:pic>
      <p:sp>
        <p:nvSpPr>
          <p:cNvPr id="32" name="TextBox 31"/>
          <p:cNvSpPr txBox="1"/>
          <p:nvPr/>
        </p:nvSpPr>
        <p:spPr>
          <a:xfrm>
            <a:off x="11515071" y="232905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3" name="TextBox 32"/>
          <p:cNvSpPr txBox="1"/>
          <p:nvPr/>
        </p:nvSpPr>
        <p:spPr>
          <a:xfrm>
            <a:off x="6305550" y="2504313"/>
            <a:ext cx="3188320" cy="194310"/>
          </a:xfrm>
          <a:prstGeom prst="rect">
            <a:avLst/>
          </a:prstGeom>
          <a:noFill/>
        </p:spPr>
        <p:txBody>
          <a:bodyPr wrap="none" lIns="0" rIns="0" tIns="0" bIns="0">
            <a:spAutoFit/>
          </a:bodyPr>
          <a:lstStyle/>
          <a:p>
            <a:r>
              <a:rPr sz="1150" b="0">
                <a:solidFill>
                  <a:srgbClr val="2E2E2E"/>
                </a:solidFill>
                <a:latin typeface="Calibri"/>
              </a:rPr>
              <a:t>for the overall crab meat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Product Claim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Claim,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Product Claim (US$ Mn)</a:t>
            </a:r>
          </a:p>
        </p:txBody>
      </p:sp>
      <p:graphicFrame>
        <p:nvGraphicFramePr>
          <p:cNvPr id="12" name="Table 11"/>
          <p:cNvGraphicFramePr>
            <a:graphicFrameLocks noGrp="1"/>
          </p:cNvGraphicFramePr>
          <p:nvPr/>
        </p:nvGraphicFramePr>
        <p:xfrm>
          <a:off x="152400" y="1238250"/>
          <a:ext cx="11887204" cy="1724022"/>
        </p:xfrm>
        <a:graphic>
          <a:graphicData uri="http://schemas.openxmlformats.org/drawingml/2006/table">
            <a:tbl>
              <a:tblPr>
                <a:tableStyleId>{5C22544A-7EE6-4342-B048-85BDC9FD1C3A}</a:tableStyleId>
              </a:tblPr>
              <a:tblGrid>
                <a:gridCol w="2935240"/>
                <a:gridCol w="537731"/>
                <a:gridCol w="537731"/>
                <a:gridCol w="537731"/>
                <a:gridCol w="537731"/>
                <a:gridCol w="537731"/>
                <a:gridCol w="518789"/>
                <a:gridCol w="513377"/>
                <a:gridCol w="513377"/>
                <a:gridCol w="513377"/>
                <a:gridCol w="513377"/>
                <a:gridCol w="513377"/>
                <a:gridCol w="513377"/>
                <a:gridCol w="513377"/>
                <a:gridCol w="513377"/>
                <a:gridCol w="513377"/>
                <a:gridCol w="513377"/>
                <a:gridCol w="610750"/>
              </a:tblGrid>
              <a:tr h="246126">
                <a:tc>
                  <a:txBody>
                    <a:bodyPr wrap="none"/>
                    <a:lstStyle/>
                    <a:p>
                      <a:pPr algn="l"/>
                      <a:r>
                        <a:rPr sz="1100" b="1">
                          <a:solidFill>
                            <a:srgbClr val="0B2E4A"/>
                          </a:solidFill>
                          <a:latin typeface="Calibri"/>
                        </a:rPr>
                        <a:t>Product Claim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Organic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Sustainably Sourced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100% Pure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High Protein / Omega-3 Rich</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Freshly Pasteurized for Extended Shelf Life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Product Claim</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376932" y="1956623"/>
            <a:ext cx="366712" cy="533400"/>
          </a:xfrm>
          <a:prstGeom prst="rect">
            <a:avLst/>
          </a:prstGeom>
        </p:spPr>
      </p:pic>
      <p:sp>
        <p:nvSpPr>
          <p:cNvPr id="20" name="TextBox 19"/>
          <p:cNvSpPr txBox="1"/>
          <p:nvPr/>
        </p:nvSpPr>
        <p:spPr>
          <a:xfrm>
            <a:off x="276225" y="3724275"/>
            <a:ext cx="2460066" cy="194310"/>
          </a:xfrm>
          <a:prstGeom prst="rect">
            <a:avLst/>
          </a:prstGeom>
          <a:noFill/>
        </p:spPr>
        <p:txBody>
          <a:bodyPr wrap="none" lIns="0" rIns="0" tIns="0" bIns="0">
            <a:spAutoFit/>
          </a:bodyPr>
          <a:lstStyle/>
          <a:p>
            <a:r>
              <a:rPr sz="1150" b="0">
                <a:solidFill>
                  <a:srgbClr val="2E2E2E"/>
                </a:solidFill>
                <a:latin typeface="Calibri"/>
              </a:rPr>
              <a:t>Organic segment is projected to register</a:t>
            </a:r>
          </a:p>
        </p:txBody>
      </p:sp>
      <p:pic>
        <p:nvPicPr>
          <p:cNvPr id="21" name="Picture 20" descr="lock.png"/>
          <p:cNvPicPr>
            <a:picLocks noChangeAspect="1"/>
          </p:cNvPicPr>
          <p:nvPr/>
        </p:nvPicPr>
        <p:blipFill>
          <a:blip r:embed="rId4"/>
          <a:stretch>
            <a:fillRect/>
          </a:stretch>
        </p:blipFill>
        <p:spPr>
          <a:xfrm>
            <a:off x="2685445" y="3714051"/>
            <a:ext cx="134549" cy="195707"/>
          </a:xfrm>
          <a:prstGeom prst="rect">
            <a:avLst/>
          </a:prstGeom>
        </p:spPr>
      </p:pic>
      <p:sp>
        <p:nvSpPr>
          <p:cNvPr id="22" name="TextBox 21"/>
          <p:cNvSpPr txBox="1"/>
          <p:nvPr/>
        </p:nvSpPr>
        <p:spPr>
          <a:xfrm>
            <a:off x="2860555" y="3724275"/>
            <a:ext cx="8711976" cy="194310"/>
          </a:xfrm>
          <a:prstGeom prst="rect">
            <a:avLst/>
          </a:prstGeom>
          <a:noFill/>
        </p:spPr>
        <p:txBody>
          <a:bodyPr wrap="none" lIns="0" rIns="0" tIns="0" bIns="0">
            <a:spAutoFit/>
          </a:bodyPr>
          <a:lstStyle/>
          <a:p>
            <a:r>
              <a:rPr sz="1150" b="0">
                <a:solidFill>
                  <a:srgbClr val="2E2E2E"/>
                </a:solidFill>
                <a:latin typeface="Calibri"/>
              </a:rPr>
              <a:t>X higher value than high protein / Omega-3 rich segment in 2036. Among crab meat by product claim, organic segment is expected to witness the</a:t>
            </a:r>
          </a:p>
        </p:txBody>
      </p:sp>
      <p:sp>
        <p:nvSpPr>
          <p:cNvPr id="23" name="TextBox 22"/>
          <p:cNvSpPr txBox="1"/>
          <p:nvPr/>
        </p:nvSpPr>
        <p:spPr>
          <a:xfrm>
            <a:off x="276225" y="389953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3889311"/>
            <a:ext cx="134549" cy="195707"/>
          </a:xfrm>
          <a:prstGeom prst="rect">
            <a:avLst/>
          </a:prstGeom>
        </p:spPr>
      </p:pic>
      <p:sp>
        <p:nvSpPr>
          <p:cNvPr id="25" name="TextBox 24"/>
          <p:cNvSpPr txBox="1"/>
          <p:nvPr/>
        </p:nvSpPr>
        <p:spPr>
          <a:xfrm>
            <a:off x="1432841"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6406839" cy="194310"/>
          </a:xfrm>
          <a:prstGeom prst="rect">
            <a:avLst/>
          </a:prstGeom>
          <a:noFill/>
        </p:spPr>
        <p:txBody>
          <a:bodyPr wrap="none" lIns="0" rIns="0" tIns="0" bIns="0">
            <a:spAutoFit/>
          </a:bodyPr>
          <a:lstStyle/>
          <a:p>
            <a:r>
              <a:rPr sz="1150" b="0">
                <a:solidFill>
                  <a:srgbClr val="2E2E2E"/>
                </a:solidFill>
                <a:latin typeface="Calibri"/>
              </a:rPr>
              <a:t>In terms of value share by product claim, the organic segment is expected to dominate the market, gaining</a:t>
            </a:r>
          </a:p>
        </p:txBody>
      </p:sp>
      <p:pic>
        <p:nvPicPr>
          <p:cNvPr id="27" name="Picture 26" descr="lock.png"/>
          <p:cNvPicPr>
            <a:picLocks noChangeAspect="1"/>
          </p:cNvPicPr>
          <p:nvPr/>
        </p:nvPicPr>
        <p:blipFill>
          <a:blip r:embed="rId4"/>
          <a:stretch>
            <a:fillRect/>
          </a:stretch>
        </p:blipFill>
        <p:spPr>
          <a:xfrm>
            <a:off x="6632218" y="4117149"/>
            <a:ext cx="134549" cy="195707"/>
          </a:xfrm>
          <a:prstGeom prst="rect">
            <a:avLst/>
          </a:prstGeom>
        </p:spPr>
      </p:pic>
      <p:sp>
        <p:nvSpPr>
          <p:cNvPr id="28" name="TextBox 27"/>
          <p:cNvSpPr txBox="1"/>
          <p:nvPr/>
        </p:nvSpPr>
        <p:spPr>
          <a:xfrm>
            <a:off x="680732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202471" y="4117149"/>
            <a:ext cx="134549" cy="195707"/>
          </a:xfrm>
          <a:prstGeom prst="rect">
            <a:avLst/>
          </a:prstGeom>
        </p:spPr>
      </p:pic>
      <p:sp>
        <p:nvSpPr>
          <p:cNvPr id="30" name="TextBox 29"/>
          <p:cNvSpPr txBox="1"/>
          <p:nvPr/>
        </p:nvSpPr>
        <p:spPr>
          <a:xfrm>
            <a:off x="8377580" y="4127372"/>
            <a:ext cx="3076785" cy="194310"/>
          </a:xfrm>
          <a:prstGeom prst="rect">
            <a:avLst/>
          </a:prstGeom>
          <a:noFill/>
        </p:spPr>
        <p:txBody>
          <a:bodyPr wrap="none" lIns="0" rIns="0" tIns="0" bIns="0">
            <a:spAutoFit/>
          </a:bodyPr>
          <a:lstStyle/>
          <a:p>
            <a:r>
              <a:rPr sz="1150" b="0">
                <a:solidFill>
                  <a:srgbClr val="2E2E2E"/>
                </a:solidFill>
                <a:latin typeface="Calibri"/>
              </a:rPr>
              <a:t>share by 2036. The sustainably sourced segment is</a:t>
            </a:r>
          </a:p>
        </p:txBody>
      </p:sp>
      <p:sp>
        <p:nvSpPr>
          <p:cNvPr id="31" name="TextBox 30"/>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2" name="Picture 31" descr="lock.png"/>
          <p:cNvPicPr>
            <a:picLocks noChangeAspect="1"/>
          </p:cNvPicPr>
          <p:nvPr/>
        </p:nvPicPr>
        <p:blipFill>
          <a:blip r:embed="rId4"/>
          <a:stretch>
            <a:fillRect/>
          </a:stretch>
        </p:blipFill>
        <p:spPr>
          <a:xfrm>
            <a:off x="1280285" y="4292409"/>
            <a:ext cx="134549" cy="195707"/>
          </a:xfrm>
          <a:prstGeom prst="rect">
            <a:avLst/>
          </a:prstGeom>
        </p:spPr>
      </p:pic>
      <p:sp>
        <p:nvSpPr>
          <p:cNvPr id="33" name="TextBox 32"/>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042898" y="4292409"/>
            <a:ext cx="134549" cy="195707"/>
          </a:xfrm>
          <a:prstGeom prst="rect">
            <a:avLst/>
          </a:prstGeom>
        </p:spPr>
      </p:pic>
      <p:sp>
        <p:nvSpPr>
          <p:cNvPr id="35" name="TextBox 34"/>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Product Claim</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Claim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Product Claim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8667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8191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0571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100% Pure Crab Meat</a:t>
            </a:r>
          </a:p>
        </p:txBody>
      </p:sp>
      <p:sp>
        <p:nvSpPr>
          <p:cNvPr id="18" name="BPS Value 1"/>
          <p:cNvSpPr txBox="1"/>
          <p:nvPr/>
        </p:nvSpPr>
        <p:spPr>
          <a:xfrm>
            <a:off x="6896100" y="176762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0878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040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278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Sustainably Sourced</a:t>
            </a:r>
          </a:p>
        </p:txBody>
      </p:sp>
      <p:sp>
        <p:nvSpPr>
          <p:cNvPr id="22" name="BPS Value 2"/>
          <p:cNvSpPr txBox="1"/>
          <p:nvPr/>
        </p:nvSpPr>
        <p:spPr>
          <a:xfrm>
            <a:off x="6896100" y="20897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4035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63558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5938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Freshly Pasteurized for Extended Shelf Life</a:t>
            </a:r>
          </a:p>
        </p:txBody>
      </p:sp>
      <p:sp>
        <p:nvSpPr>
          <p:cNvPr id="26" name="BPS Value 3"/>
          <p:cNvSpPr txBox="1"/>
          <p:nvPr/>
        </p:nvSpPr>
        <p:spPr>
          <a:xfrm>
            <a:off x="6896100" y="26213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29169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2869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2107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High Protein / Omega-3 Rich</a:t>
            </a:r>
          </a:p>
        </p:txBody>
      </p:sp>
      <p:sp>
        <p:nvSpPr>
          <p:cNvPr id="30" name="BPS Value 4"/>
          <p:cNvSpPr txBox="1"/>
          <p:nvPr/>
        </p:nvSpPr>
        <p:spPr>
          <a:xfrm>
            <a:off x="6896100" y="327264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93090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9261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8499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Organic</a:t>
            </a:r>
          </a:p>
        </p:txBody>
      </p:sp>
      <p:sp>
        <p:nvSpPr>
          <p:cNvPr id="34" name="BPS Value 5"/>
          <p:cNvSpPr txBox="1"/>
          <p:nvPr/>
        </p:nvSpPr>
        <p:spPr>
          <a:xfrm>
            <a:off x="6896100" y="491185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Product Claim</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crab meat by product claim, organic segment is expected to</a:t>
            </a:r>
          </a:p>
        </p:txBody>
      </p:sp>
      <p:sp>
        <p:nvSpPr>
          <p:cNvPr id="42" name="TextBox 41"/>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3" name="Picture 42" descr="lock.png"/>
          <p:cNvPicPr>
            <a:picLocks noChangeAspect="1"/>
          </p:cNvPicPr>
          <p:nvPr/>
        </p:nvPicPr>
        <p:blipFill>
          <a:blip r:embed="rId5"/>
          <a:stretch>
            <a:fillRect/>
          </a:stretch>
        </p:blipFill>
        <p:spPr>
          <a:xfrm>
            <a:off x="9526474" y="1565211"/>
            <a:ext cx="134549" cy="195707"/>
          </a:xfrm>
          <a:prstGeom prst="rect">
            <a:avLst/>
          </a:prstGeom>
        </p:spPr>
      </p:pic>
      <p:sp>
        <p:nvSpPr>
          <p:cNvPr id="44" name="TextBox 43"/>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45" name="TextBox 44"/>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of value share by product claim, the organic segment is expected to</a:t>
            </a:r>
          </a:p>
        </p:txBody>
      </p:sp>
      <p:sp>
        <p:nvSpPr>
          <p:cNvPr id="46" name="TextBox 45"/>
          <p:cNvSpPr txBox="1"/>
          <p:nvPr/>
        </p:nvSpPr>
        <p:spPr>
          <a:xfrm>
            <a:off x="7829550" y="192595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7" name="Picture 46" descr="lock.png"/>
          <p:cNvPicPr>
            <a:picLocks noChangeAspect="1"/>
          </p:cNvPicPr>
          <p:nvPr/>
        </p:nvPicPr>
        <p:blipFill>
          <a:blip r:embed="rId5"/>
          <a:stretch>
            <a:fillRect/>
          </a:stretch>
        </p:blipFill>
        <p:spPr>
          <a:xfrm>
            <a:off x="9615776" y="1915731"/>
            <a:ext cx="134549" cy="195707"/>
          </a:xfrm>
          <a:prstGeom prst="rect">
            <a:avLst/>
          </a:prstGeom>
        </p:spPr>
      </p:pic>
      <p:sp>
        <p:nvSpPr>
          <p:cNvPr id="48" name="TextBox 47"/>
          <p:cNvSpPr txBox="1"/>
          <p:nvPr/>
        </p:nvSpPr>
        <p:spPr>
          <a:xfrm>
            <a:off x="9790885"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11186028" y="1915731"/>
            <a:ext cx="134549" cy="195707"/>
          </a:xfrm>
          <a:prstGeom prst="rect">
            <a:avLst/>
          </a:prstGeom>
        </p:spPr>
      </p:pic>
      <p:sp>
        <p:nvSpPr>
          <p:cNvPr id="50" name="TextBox 49"/>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329053"/>
            <a:ext cx="3185467" cy="194310"/>
          </a:xfrm>
          <a:prstGeom prst="rect">
            <a:avLst/>
          </a:prstGeom>
          <a:noFill/>
        </p:spPr>
        <p:txBody>
          <a:bodyPr wrap="none" lIns="0" rIns="0" tIns="0" bIns="0">
            <a:spAutoFit/>
          </a:bodyPr>
          <a:lstStyle/>
          <a:p>
            <a:r>
              <a:rPr sz="1150" b="0">
                <a:solidFill>
                  <a:srgbClr val="2E2E2E"/>
                </a:solidFill>
                <a:latin typeface="Calibri"/>
              </a:rPr>
              <a:t>The sustainably sourced segment is expected to lose</a:t>
            </a:r>
          </a:p>
        </p:txBody>
      </p:sp>
      <p:pic>
        <p:nvPicPr>
          <p:cNvPr id="52" name="Picture 51" descr="lock.png"/>
          <p:cNvPicPr>
            <a:picLocks noChangeAspect="1"/>
          </p:cNvPicPr>
          <p:nvPr/>
        </p:nvPicPr>
        <p:blipFill>
          <a:blip r:embed="rId5"/>
          <a:stretch>
            <a:fillRect/>
          </a:stretch>
        </p:blipFill>
        <p:spPr>
          <a:xfrm>
            <a:off x="10964171" y="2318829"/>
            <a:ext cx="134549" cy="195707"/>
          </a:xfrm>
          <a:prstGeom prst="rect">
            <a:avLst/>
          </a:prstGeom>
        </p:spPr>
      </p:pic>
      <p:sp>
        <p:nvSpPr>
          <p:cNvPr id="53" name="TextBox 52"/>
          <p:cNvSpPr txBox="1"/>
          <p:nvPr/>
        </p:nvSpPr>
        <p:spPr>
          <a:xfrm>
            <a:off x="11139280"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4" name="TextBox 53"/>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5" name="Picture 54" descr="lock.png"/>
          <p:cNvPicPr>
            <a:picLocks noChangeAspect="1"/>
          </p:cNvPicPr>
          <p:nvPr/>
        </p:nvPicPr>
        <p:blipFill>
          <a:blip r:embed="rId5"/>
          <a:stretch>
            <a:fillRect/>
          </a:stretch>
        </p:blipFill>
        <p:spPr>
          <a:xfrm>
            <a:off x="9861950" y="2494089"/>
            <a:ext cx="134549" cy="195707"/>
          </a:xfrm>
          <a:prstGeom prst="rect">
            <a:avLst/>
          </a:prstGeom>
        </p:spPr>
      </p:pic>
      <p:sp>
        <p:nvSpPr>
          <p:cNvPr id="56" name="TextBox 55"/>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Service</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 B2B processing</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Travel Retail</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2_15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3_740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5_7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_244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2_080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3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263_0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359_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3_2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249_9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431_3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5_6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791891" cy="186689"/>
          </a:xfrm>
          <a:prstGeom prst="rect">
            <a:avLst/>
          </a:prstGeom>
          <a:noFill/>
        </p:spPr>
        <p:txBody>
          <a:bodyPr wrap="none" lIns="0" rIns="0" tIns="0" bIns="0">
            <a:spAutoFit/>
          </a:bodyPr>
          <a:lstStyle/>
          <a:p>
            <a:r>
              <a:rPr sz="1100" b="0">
                <a:solidFill>
                  <a:srgbClr val="2E2E2E"/>
                </a:solidFill>
                <a:latin typeface="Calibri"/>
              </a:rPr>
              <a:t>Among crab meat by distribution channel, retail</a:t>
            </a:r>
          </a:p>
        </p:txBody>
      </p:sp>
      <p:sp>
        <p:nvSpPr>
          <p:cNvPr id="80" name="TextBox 79"/>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81" name="TextBox 80"/>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82" name="Picture 81" descr="lock.png"/>
          <p:cNvPicPr>
            <a:picLocks noChangeAspect="1"/>
          </p:cNvPicPr>
          <p:nvPr/>
        </p:nvPicPr>
        <p:blipFill>
          <a:blip r:embed="rId16"/>
          <a:stretch>
            <a:fillRect/>
          </a:stretch>
        </p:blipFill>
        <p:spPr>
          <a:xfrm>
            <a:off x="626261" y="4554938"/>
            <a:ext cx="128699" cy="187198"/>
          </a:xfrm>
          <a:prstGeom prst="rect">
            <a:avLst/>
          </a:prstGeom>
        </p:spPr>
      </p:pic>
      <p:sp>
        <p:nvSpPr>
          <p:cNvPr id="83" name="TextBox 82"/>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share by distribution channel, the retail segment is</a:t>
            </a:r>
          </a:p>
        </p:txBody>
      </p:sp>
      <p:sp>
        <p:nvSpPr>
          <p:cNvPr id="85" name="TextBox 84"/>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900479" y="4890217"/>
            <a:ext cx="128699" cy="187198"/>
          </a:xfrm>
          <a:prstGeom prst="rect">
            <a:avLst/>
          </a:prstGeom>
        </p:spPr>
      </p:pic>
      <p:sp>
        <p:nvSpPr>
          <p:cNvPr id="87" name="TextBox 86"/>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76057" y="5057858"/>
            <a:ext cx="128699" cy="187198"/>
          </a:xfrm>
          <a:prstGeom prst="rect">
            <a:avLst/>
          </a:prstGeom>
        </p:spPr>
      </p:pic>
      <p:sp>
        <p:nvSpPr>
          <p:cNvPr id="90" name="TextBox 89"/>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285569"/>
            <a:ext cx="2241277" cy="186689"/>
          </a:xfrm>
          <a:prstGeom prst="rect">
            <a:avLst/>
          </a:prstGeom>
          <a:noFill/>
        </p:spPr>
        <p:txBody>
          <a:bodyPr wrap="none" lIns="0" rIns="0" tIns="0" bIns="0">
            <a:spAutoFit/>
          </a:bodyPr>
          <a:lstStyle/>
          <a:p>
            <a:r>
              <a:rPr sz="1100" b="0">
                <a:solidFill>
                  <a:srgbClr val="2E2E2E"/>
                </a:solidFill>
                <a:latin typeface="Calibri"/>
              </a:rPr>
              <a:t>Retail segment is projected to register</a:t>
            </a:r>
          </a:p>
        </p:txBody>
      </p:sp>
      <p:pic>
        <p:nvPicPr>
          <p:cNvPr id="92" name="Picture 91" descr="lock.png"/>
          <p:cNvPicPr>
            <a:picLocks noChangeAspect="1"/>
          </p:cNvPicPr>
          <p:nvPr/>
        </p:nvPicPr>
        <p:blipFill>
          <a:blip r:embed="rId16"/>
          <a:stretch>
            <a:fillRect/>
          </a:stretch>
        </p:blipFill>
        <p:spPr>
          <a:xfrm>
            <a:off x="2675103" y="5275790"/>
            <a:ext cx="128699" cy="187198"/>
          </a:xfrm>
          <a:prstGeom prst="rect">
            <a:avLst/>
          </a:prstGeom>
        </p:spPr>
      </p:pic>
      <p:sp>
        <p:nvSpPr>
          <p:cNvPr id="93" name="TextBox 92"/>
          <p:cNvSpPr txBox="1"/>
          <p:nvPr/>
        </p:nvSpPr>
        <p:spPr>
          <a:xfrm>
            <a:off x="2842599" y="528556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94" name="TextBox 93"/>
          <p:cNvSpPr txBox="1"/>
          <p:nvPr/>
        </p:nvSpPr>
        <p:spPr>
          <a:xfrm>
            <a:off x="485775" y="5453209"/>
            <a:ext cx="2407989" cy="186689"/>
          </a:xfrm>
          <a:prstGeom prst="rect">
            <a:avLst/>
          </a:prstGeom>
          <a:noFill/>
        </p:spPr>
        <p:txBody>
          <a:bodyPr wrap="none" lIns="0" rIns="0" tIns="0" bIns="0">
            <a:spAutoFit/>
          </a:bodyPr>
          <a:lstStyle/>
          <a:p>
            <a:r>
              <a:rPr sz="1100" b="0">
                <a:solidFill>
                  <a:srgbClr val="2E2E2E"/>
                </a:solidFill>
                <a:latin typeface="Calibri"/>
              </a:rPr>
              <a:t>value than food service segment in 2036.</a:t>
            </a:r>
          </a:p>
        </p:txBody>
      </p:sp>
      <p:sp>
        <p:nvSpPr>
          <p:cNvPr id="95" name="TextBox 94"/>
          <p:cNvSpPr txBox="1"/>
          <p:nvPr/>
        </p:nvSpPr>
        <p:spPr>
          <a:xfrm>
            <a:off x="3838575" y="4229437"/>
            <a:ext cx="553144" cy="186689"/>
          </a:xfrm>
          <a:prstGeom prst="rect">
            <a:avLst/>
          </a:prstGeom>
          <a:noFill/>
        </p:spPr>
        <p:txBody>
          <a:bodyPr wrap="none" lIns="0" rIns="0" tIns="0" bIns="0">
            <a:spAutoFit/>
          </a:bodyPr>
          <a:lstStyle/>
          <a:p>
            <a:r>
              <a:rPr sz="1100" b="0">
                <a:solidFill>
                  <a:srgbClr val="2E2E2E"/>
                </a:solidFill>
                <a:latin typeface="Calibri"/>
              </a:rPr>
              <a:t>● Retail:</a:t>
            </a:r>
          </a:p>
        </p:txBody>
      </p:sp>
      <p:pic>
        <p:nvPicPr>
          <p:cNvPr id="96" name="Picture 95" descr="lock.png"/>
          <p:cNvPicPr>
            <a:picLocks noChangeAspect="1"/>
          </p:cNvPicPr>
          <p:nvPr/>
        </p:nvPicPr>
        <p:blipFill>
          <a:blip r:embed="rId16"/>
          <a:stretch>
            <a:fillRect/>
          </a:stretch>
        </p:blipFill>
        <p:spPr>
          <a:xfrm>
            <a:off x="4339771" y="4219658"/>
            <a:ext cx="128699" cy="187198"/>
          </a:xfrm>
          <a:prstGeom prst="rect">
            <a:avLst/>
          </a:prstGeom>
        </p:spPr>
      </p:pic>
      <p:sp>
        <p:nvSpPr>
          <p:cNvPr id="97" name="TextBox 96"/>
          <p:cNvSpPr txBox="1"/>
          <p:nvPr/>
        </p:nvSpPr>
        <p:spPr>
          <a:xfrm>
            <a:off x="450726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5366717" y="4219658"/>
            <a:ext cx="128699" cy="187198"/>
          </a:xfrm>
          <a:prstGeom prst="rect">
            <a:avLst/>
          </a:prstGeom>
        </p:spPr>
      </p:pic>
      <p:sp>
        <p:nvSpPr>
          <p:cNvPr id="99" name="TextBox 98"/>
          <p:cNvSpPr txBox="1"/>
          <p:nvPr/>
        </p:nvSpPr>
        <p:spPr>
          <a:xfrm>
            <a:off x="5534212"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952569" cy="186689"/>
          </a:xfrm>
          <a:prstGeom prst="rect">
            <a:avLst/>
          </a:prstGeom>
          <a:noFill/>
        </p:spPr>
        <p:txBody>
          <a:bodyPr wrap="none" lIns="0" rIns="0" tIns="0" bIns="0">
            <a:spAutoFit/>
          </a:bodyPr>
          <a:lstStyle/>
          <a:p>
            <a:r>
              <a:rPr sz="1100" b="0">
                <a:solidFill>
                  <a:srgbClr val="2E2E2E"/>
                </a:solidFill>
                <a:latin typeface="Calibri"/>
              </a:rPr>
              <a:t>● Food Service:</a:t>
            </a:r>
          </a:p>
        </p:txBody>
      </p:sp>
      <p:pic>
        <p:nvPicPr>
          <p:cNvPr id="101" name="Picture 100" descr="lock.png"/>
          <p:cNvPicPr>
            <a:picLocks noChangeAspect="1"/>
          </p:cNvPicPr>
          <p:nvPr/>
        </p:nvPicPr>
        <p:blipFill>
          <a:blip r:embed="rId16"/>
          <a:stretch>
            <a:fillRect/>
          </a:stretch>
        </p:blipFill>
        <p:spPr>
          <a:xfrm>
            <a:off x="4739195" y="4437590"/>
            <a:ext cx="128699" cy="187198"/>
          </a:xfrm>
          <a:prstGeom prst="rect">
            <a:avLst/>
          </a:prstGeom>
        </p:spPr>
      </p:pic>
      <p:sp>
        <p:nvSpPr>
          <p:cNvPr id="102" name="TextBox 101"/>
          <p:cNvSpPr txBox="1"/>
          <p:nvPr/>
        </p:nvSpPr>
        <p:spPr>
          <a:xfrm>
            <a:off x="4906691"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6"/>
          <a:stretch>
            <a:fillRect/>
          </a:stretch>
        </p:blipFill>
        <p:spPr>
          <a:xfrm>
            <a:off x="5766142" y="4437590"/>
            <a:ext cx="128699" cy="187198"/>
          </a:xfrm>
          <a:prstGeom prst="rect">
            <a:avLst/>
          </a:prstGeom>
        </p:spPr>
      </p:pic>
      <p:sp>
        <p:nvSpPr>
          <p:cNvPr id="104" name="TextBox 103"/>
          <p:cNvSpPr txBox="1"/>
          <p:nvPr/>
        </p:nvSpPr>
        <p:spPr>
          <a:xfrm>
            <a:off x="593363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1743868" cy="186689"/>
          </a:xfrm>
          <a:prstGeom prst="rect">
            <a:avLst/>
          </a:prstGeom>
          <a:noFill/>
        </p:spPr>
        <p:txBody>
          <a:bodyPr wrap="none" lIns="0" rIns="0" tIns="0" bIns="0">
            <a:spAutoFit/>
          </a:bodyPr>
          <a:lstStyle/>
          <a:p>
            <a:r>
              <a:rPr sz="1100" b="0">
                <a:solidFill>
                  <a:srgbClr val="2E2E2E"/>
                </a:solidFill>
                <a:latin typeface="Calibri"/>
              </a:rPr>
              <a:t>● Industrial / B2B processing:</a:t>
            </a:r>
          </a:p>
        </p:txBody>
      </p:sp>
      <p:pic>
        <p:nvPicPr>
          <p:cNvPr id="106" name="Picture 105" descr="lock.png"/>
          <p:cNvPicPr>
            <a:picLocks noChangeAspect="1"/>
          </p:cNvPicPr>
          <p:nvPr/>
        </p:nvPicPr>
        <p:blipFill>
          <a:blip r:embed="rId16"/>
          <a:stretch>
            <a:fillRect/>
          </a:stretch>
        </p:blipFill>
        <p:spPr>
          <a:xfrm>
            <a:off x="5530495" y="4655522"/>
            <a:ext cx="128699" cy="187198"/>
          </a:xfrm>
          <a:prstGeom prst="rect">
            <a:avLst/>
          </a:prstGeom>
        </p:spPr>
      </p:pic>
      <p:sp>
        <p:nvSpPr>
          <p:cNvPr id="107" name="TextBox 106"/>
          <p:cNvSpPr txBox="1"/>
          <p:nvPr/>
        </p:nvSpPr>
        <p:spPr>
          <a:xfrm>
            <a:off x="569799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6"/>
          <a:stretch>
            <a:fillRect/>
          </a:stretch>
        </p:blipFill>
        <p:spPr>
          <a:xfrm>
            <a:off x="6557441" y="4655522"/>
            <a:ext cx="128699" cy="187198"/>
          </a:xfrm>
          <a:prstGeom prst="rect">
            <a:avLst/>
          </a:prstGeom>
        </p:spPr>
      </p:pic>
      <p:sp>
        <p:nvSpPr>
          <p:cNvPr id="109" name="TextBox 108"/>
          <p:cNvSpPr txBox="1"/>
          <p:nvPr/>
        </p:nvSpPr>
        <p:spPr>
          <a:xfrm>
            <a:off x="6724937" y="466530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0" name="TextBox 109"/>
          <p:cNvSpPr txBox="1"/>
          <p:nvPr/>
        </p:nvSpPr>
        <p:spPr>
          <a:xfrm>
            <a:off x="3838575" y="483294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1" name="TextBox 110"/>
          <p:cNvSpPr txBox="1"/>
          <p:nvPr/>
        </p:nvSpPr>
        <p:spPr>
          <a:xfrm>
            <a:off x="3838575" y="5050872"/>
            <a:ext cx="933499" cy="186689"/>
          </a:xfrm>
          <a:prstGeom prst="rect">
            <a:avLst/>
          </a:prstGeom>
          <a:noFill/>
        </p:spPr>
        <p:txBody>
          <a:bodyPr wrap="none" lIns="0" rIns="0" tIns="0" bIns="0">
            <a:spAutoFit/>
          </a:bodyPr>
          <a:lstStyle/>
          <a:p>
            <a:r>
              <a:rPr sz="1100" b="0">
                <a:solidFill>
                  <a:srgbClr val="2E2E2E"/>
                </a:solidFill>
                <a:latin typeface="Calibri"/>
              </a:rPr>
              <a:t>● Travel Retail:</a:t>
            </a:r>
          </a:p>
        </p:txBody>
      </p:sp>
      <p:pic>
        <p:nvPicPr>
          <p:cNvPr id="112" name="Picture 111" descr="lock.png"/>
          <p:cNvPicPr>
            <a:picLocks noChangeAspect="1"/>
          </p:cNvPicPr>
          <p:nvPr/>
        </p:nvPicPr>
        <p:blipFill>
          <a:blip r:embed="rId16"/>
          <a:stretch>
            <a:fillRect/>
          </a:stretch>
        </p:blipFill>
        <p:spPr>
          <a:xfrm>
            <a:off x="4720126" y="5041093"/>
            <a:ext cx="128699" cy="187198"/>
          </a:xfrm>
          <a:prstGeom prst="rect">
            <a:avLst/>
          </a:prstGeom>
        </p:spPr>
      </p:pic>
      <p:sp>
        <p:nvSpPr>
          <p:cNvPr id="113" name="TextBox 112"/>
          <p:cNvSpPr txBox="1"/>
          <p:nvPr/>
        </p:nvSpPr>
        <p:spPr>
          <a:xfrm>
            <a:off x="4887622"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6"/>
          <a:stretch>
            <a:fillRect/>
          </a:stretch>
        </p:blipFill>
        <p:spPr>
          <a:xfrm>
            <a:off x="5747072" y="5041093"/>
            <a:ext cx="128699" cy="187198"/>
          </a:xfrm>
          <a:prstGeom prst="rect">
            <a:avLst/>
          </a:prstGeom>
        </p:spPr>
      </p:pic>
      <p:sp>
        <p:nvSpPr>
          <p:cNvPr id="115" name="TextBox 114"/>
          <p:cNvSpPr txBox="1"/>
          <p:nvPr/>
        </p:nvSpPr>
        <p:spPr>
          <a:xfrm>
            <a:off x="5914568"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17" name="TextBox 11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18" name="Picture 117" descr="lock.png"/>
          <p:cNvPicPr>
            <a:picLocks noChangeAspect="1"/>
          </p:cNvPicPr>
          <p:nvPr/>
        </p:nvPicPr>
        <p:blipFill>
          <a:blip r:embed="rId16"/>
          <a:stretch>
            <a:fillRect/>
          </a:stretch>
        </p:blipFill>
        <p:spPr>
          <a:xfrm>
            <a:off x="9651852" y="6007677"/>
            <a:ext cx="134549" cy="195707"/>
          </a:xfrm>
          <a:prstGeom prst="rect">
            <a:avLst/>
          </a:prstGeom>
        </p:spPr>
      </p:pic>
      <p:sp>
        <p:nvSpPr>
          <p:cNvPr id="119" name="TextBox 11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31736" cy="186689"/>
          </a:xfrm>
          <a:prstGeom prst="rect">
            <a:avLst/>
          </a:prstGeom>
          <a:noFill/>
        </p:spPr>
        <p:txBody>
          <a:bodyPr wrap="none" lIns="0" rIns="0" tIns="0" bIns="0">
            <a:spAutoFit/>
          </a:bodyPr>
          <a:lstStyle/>
          <a:p>
            <a:r>
              <a:rPr sz="1100" b="0">
                <a:solidFill>
                  <a:srgbClr val="2E2E2E"/>
                </a:solidFill>
                <a:latin typeface="Calibri"/>
              </a:rPr>
              <a:t>Retail followed by food service are expected to be the two most attractive distribution channel segments in the Europe crab meat market in terms of value over the forecast period. Retail and food service</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394075" cy="186689"/>
          </a:xfrm>
          <a:prstGeom prst="rect">
            <a:avLst/>
          </a:prstGeom>
          <a:noFill/>
        </p:spPr>
        <p:txBody>
          <a:bodyPr wrap="none" lIns="0" rIns="0" tIns="0" bIns="0">
            <a:spAutoFit/>
          </a:bodyPr>
          <a:lstStyle/>
          <a:p>
            <a:r>
              <a:rPr sz="1100" b="0">
                <a:solidFill>
                  <a:srgbClr val="2E2E2E"/>
                </a:solidFill>
                <a:latin typeface="Calibri"/>
              </a:rPr>
              <a:t>. The industrial / B2B processing segment is expected to be less attractive as</a:t>
            </a:r>
          </a:p>
        </p:txBody>
      </p:sp>
      <p:sp>
        <p:nvSpPr>
          <p:cNvPr id="31" name="TextBox 30"/>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Absolute $ Opportunity Analysis,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Industrial / B2B processing</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Food Service</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Retail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Incremental $ Opportunity (US$ Mn), 2026-2036, By Travel Retail</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Distribution Channel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Distribution Channel (US$ Mn)</a:t>
            </a:r>
          </a:p>
        </p:txBody>
      </p:sp>
      <p:graphicFrame>
        <p:nvGraphicFramePr>
          <p:cNvPr id="12" name="Table 11"/>
          <p:cNvGraphicFramePr>
            <a:graphicFrameLocks noGrp="1"/>
          </p:cNvGraphicFramePr>
          <p:nvPr/>
        </p:nvGraphicFramePr>
        <p:xfrm>
          <a:off x="152400" y="1238250"/>
          <a:ext cx="11887206" cy="3200406"/>
        </p:xfrm>
        <a:graphic>
          <a:graphicData uri="http://schemas.openxmlformats.org/drawingml/2006/table">
            <a:tbl>
              <a:tblPr>
                <a:tableStyleId>{5C22544A-7EE6-4342-B048-85BDC9FD1C3A}</a:tableStyleId>
              </a:tblPr>
              <a:tblGrid>
                <a:gridCol w="2005514"/>
                <a:gridCol w="581276"/>
                <a:gridCol w="581276"/>
                <a:gridCol w="581276"/>
                <a:gridCol w="581276"/>
                <a:gridCol w="581276"/>
                <a:gridCol w="581276"/>
                <a:gridCol w="581276"/>
                <a:gridCol w="581276"/>
                <a:gridCol w="581276"/>
                <a:gridCol w="581276"/>
                <a:gridCol w="581276"/>
                <a:gridCol w="581276"/>
                <a:gridCol w="581276"/>
                <a:gridCol w="581276"/>
                <a:gridCol w="581276"/>
                <a:gridCol w="581276"/>
                <a:gridCol w="58127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Industrial / B2B processing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Food Service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HoReCa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Quick service restaurants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Sandwicheries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Fast casual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Cafés and Coffee shops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Institutional / Hospitals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Hypermarket / Supermarket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 Convenience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Departmental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912070" y="2694815"/>
            <a:ext cx="366712" cy="533400"/>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Analysis, By Distribution Channel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By Distribution Channel (US$ Mn)</a:t>
            </a:r>
          </a:p>
        </p:txBody>
      </p:sp>
      <p:graphicFrame>
        <p:nvGraphicFramePr>
          <p:cNvPr id="12" name="Table 11"/>
          <p:cNvGraphicFramePr>
            <a:graphicFrameLocks noGrp="1"/>
          </p:cNvGraphicFramePr>
          <p:nvPr/>
        </p:nvGraphicFramePr>
        <p:xfrm>
          <a:off x="152400" y="1238250"/>
          <a:ext cx="11887194" cy="1724022"/>
        </p:xfrm>
        <a:graphic>
          <a:graphicData uri="http://schemas.openxmlformats.org/drawingml/2006/table">
            <a:tbl>
              <a:tblPr>
                <a:tableStyleId>{5C22544A-7EE6-4342-B048-85BDC9FD1C3A}</a:tableStyleId>
              </a:tblPr>
              <a:tblGrid>
                <a:gridCol w="1484911"/>
                <a:gridCol w="611899"/>
                <a:gridCol w="611899"/>
                <a:gridCol w="611899"/>
                <a:gridCol w="611899"/>
                <a:gridCol w="611899"/>
                <a:gridCol w="611899"/>
                <a:gridCol w="611899"/>
                <a:gridCol w="611899"/>
                <a:gridCol w="611899"/>
                <a:gridCol w="611899"/>
                <a:gridCol w="611899"/>
                <a:gridCol w="611899"/>
                <a:gridCol w="611899"/>
                <a:gridCol w="611899"/>
                <a:gridCol w="611899"/>
                <a:gridCol w="611899"/>
                <a:gridCol w="611899"/>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 Grocery Retailers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Specialty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Discount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Online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Travel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Europe Value Analysis, By Distribution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51762" y="1956623"/>
            <a:ext cx="366712" cy="533400"/>
          </a:xfrm>
          <a:prstGeom prst="rect">
            <a:avLst/>
          </a:prstGeom>
        </p:spPr>
      </p:pic>
      <p:sp>
        <p:nvSpPr>
          <p:cNvPr id="20" name="TextBox 19"/>
          <p:cNvSpPr txBox="1"/>
          <p:nvPr/>
        </p:nvSpPr>
        <p:spPr>
          <a:xfrm>
            <a:off x="276225" y="3724275"/>
            <a:ext cx="2339689" cy="194310"/>
          </a:xfrm>
          <a:prstGeom prst="rect">
            <a:avLst/>
          </a:prstGeom>
          <a:noFill/>
        </p:spPr>
        <p:txBody>
          <a:bodyPr wrap="none" lIns="0" rIns="0" tIns="0" bIns="0">
            <a:spAutoFit/>
          </a:bodyPr>
          <a:lstStyle/>
          <a:p>
            <a:r>
              <a:rPr sz="1150" b="0">
                <a:solidFill>
                  <a:srgbClr val="2E2E2E"/>
                </a:solidFill>
                <a:latin typeface="Calibri"/>
              </a:rPr>
              <a:t>Retail segment is projected to register</a:t>
            </a:r>
          </a:p>
        </p:txBody>
      </p:sp>
      <p:pic>
        <p:nvPicPr>
          <p:cNvPr id="21" name="Picture 20" descr="lock.png"/>
          <p:cNvPicPr>
            <a:picLocks noChangeAspect="1"/>
          </p:cNvPicPr>
          <p:nvPr/>
        </p:nvPicPr>
        <p:blipFill>
          <a:blip r:embed="rId4"/>
          <a:stretch>
            <a:fillRect/>
          </a:stretch>
        </p:blipFill>
        <p:spPr>
          <a:xfrm>
            <a:off x="2565068" y="3714051"/>
            <a:ext cx="134549" cy="195707"/>
          </a:xfrm>
          <a:prstGeom prst="rect">
            <a:avLst/>
          </a:prstGeom>
        </p:spPr>
      </p:pic>
      <p:sp>
        <p:nvSpPr>
          <p:cNvPr id="22" name="TextBox 21"/>
          <p:cNvSpPr txBox="1"/>
          <p:nvPr/>
        </p:nvSpPr>
        <p:spPr>
          <a:xfrm>
            <a:off x="2740177" y="3724275"/>
            <a:ext cx="9021459" cy="194310"/>
          </a:xfrm>
          <a:prstGeom prst="rect">
            <a:avLst/>
          </a:prstGeom>
          <a:noFill/>
        </p:spPr>
        <p:txBody>
          <a:bodyPr wrap="none" lIns="0" rIns="0" tIns="0" bIns="0">
            <a:spAutoFit/>
          </a:bodyPr>
          <a:lstStyle/>
          <a:p>
            <a:r>
              <a:rPr sz="1150" b="0">
                <a:solidFill>
                  <a:srgbClr val="2E2E2E"/>
                </a:solidFill>
                <a:latin typeface="Calibri"/>
              </a:rPr>
              <a:t>X higher value than food service segment in 2036. Among crab meat by distribution channel, retail segment is expected to witness the highest CAGR of</a:t>
            </a:r>
          </a:p>
        </p:txBody>
      </p:sp>
      <p:pic>
        <p:nvPicPr>
          <p:cNvPr id="23" name="Picture 22" descr="lock.png"/>
          <p:cNvPicPr>
            <a:picLocks noChangeAspect="1"/>
          </p:cNvPicPr>
          <p:nvPr/>
        </p:nvPicPr>
        <p:blipFill>
          <a:blip r:embed="rId4"/>
          <a:stretch>
            <a:fillRect/>
          </a:stretch>
        </p:blipFill>
        <p:spPr>
          <a:xfrm>
            <a:off x="262145" y="3889311"/>
            <a:ext cx="134549" cy="195707"/>
          </a:xfrm>
          <a:prstGeom prst="rect">
            <a:avLst/>
          </a:prstGeom>
        </p:spPr>
      </p:pic>
      <p:sp>
        <p:nvSpPr>
          <p:cNvPr id="24" name="TextBox 23"/>
          <p:cNvSpPr txBox="1"/>
          <p:nvPr/>
        </p:nvSpPr>
        <p:spPr>
          <a:xfrm>
            <a:off x="437254"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127372"/>
            <a:ext cx="6652443"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retail segment is expected to dominate the market, gaining</a:t>
            </a:r>
          </a:p>
        </p:txBody>
      </p:sp>
      <p:pic>
        <p:nvPicPr>
          <p:cNvPr id="26" name="Picture 25" descr="lock.png"/>
          <p:cNvPicPr>
            <a:picLocks noChangeAspect="1"/>
          </p:cNvPicPr>
          <p:nvPr/>
        </p:nvPicPr>
        <p:blipFill>
          <a:blip r:embed="rId4"/>
          <a:stretch>
            <a:fillRect/>
          </a:stretch>
        </p:blipFill>
        <p:spPr>
          <a:xfrm>
            <a:off x="6877822" y="4117149"/>
            <a:ext cx="134549" cy="195707"/>
          </a:xfrm>
          <a:prstGeom prst="rect">
            <a:avLst/>
          </a:prstGeom>
        </p:spPr>
      </p:pic>
      <p:sp>
        <p:nvSpPr>
          <p:cNvPr id="27" name="TextBox 26"/>
          <p:cNvSpPr txBox="1"/>
          <p:nvPr/>
        </p:nvSpPr>
        <p:spPr>
          <a:xfrm>
            <a:off x="7052931"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448074" y="4117149"/>
            <a:ext cx="134549" cy="195707"/>
          </a:xfrm>
          <a:prstGeom prst="rect">
            <a:avLst/>
          </a:prstGeom>
        </p:spPr>
      </p:pic>
      <p:sp>
        <p:nvSpPr>
          <p:cNvPr id="29" name="TextBox 28"/>
          <p:cNvSpPr txBox="1"/>
          <p:nvPr/>
        </p:nvSpPr>
        <p:spPr>
          <a:xfrm>
            <a:off x="8623184" y="4127372"/>
            <a:ext cx="2813211" cy="194310"/>
          </a:xfrm>
          <a:prstGeom prst="rect">
            <a:avLst/>
          </a:prstGeom>
          <a:noFill/>
        </p:spPr>
        <p:txBody>
          <a:bodyPr wrap="none" lIns="0" rIns="0" tIns="0" bIns="0">
            <a:spAutoFit/>
          </a:bodyPr>
          <a:lstStyle/>
          <a:p>
            <a:r>
              <a:rPr sz="1150" b="0">
                <a:solidFill>
                  <a:srgbClr val="2E2E2E"/>
                </a:solidFill>
                <a:latin typeface="Calibri"/>
              </a:rPr>
              <a:t>share by 2036. The industrial / B2B processing</a:t>
            </a:r>
          </a:p>
        </p:txBody>
      </p:sp>
      <p:sp>
        <p:nvSpPr>
          <p:cNvPr id="30" name="TextBox 29"/>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1" name="Picture 30" descr="lock.png"/>
          <p:cNvPicPr>
            <a:picLocks noChangeAspect="1"/>
          </p:cNvPicPr>
          <p:nvPr/>
        </p:nvPicPr>
        <p:blipFill>
          <a:blip r:embed="rId4"/>
          <a:stretch>
            <a:fillRect/>
          </a:stretch>
        </p:blipFill>
        <p:spPr>
          <a:xfrm>
            <a:off x="1950917" y="4292409"/>
            <a:ext cx="134549" cy="195707"/>
          </a:xfrm>
          <a:prstGeom prst="rect">
            <a:avLst/>
          </a:prstGeom>
        </p:spPr>
      </p:pic>
      <p:sp>
        <p:nvSpPr>
          <p:cNvPr id="32" name="TextBox 31"/>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4713530" y="4292409"/>
            <a:ext cx="134549" cy="195707"/>
          </a:xfrm>
          <a:prstGeom prst="rect">
            <a:avLst/>
          </a:prstGeom>
        </p:spPr>
      </p:pic>
      <p:sp>
        <p:nvSpPr>
          <p:cNvPr id="34" name="TextBox 33"/>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Europe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9539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9063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144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 B2B processing</a:t>
            </a:r>
          </a:p>
        </p:txBody>
      </p:sp>
      <p:sp>
        <p:nvSpPr>
          <p:cNvPr id="18" name="BPS Value 1"/>
          <p:cNvSpPr txBox="1"/>
          <p:nvPr/>
        </p:nvSpPr>
        <p:spPr>
          <a:xfrm>
            <a:off x="6896100" y="17763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06868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0639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9877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Travel Retail</a:t>
            </a:r>
          </a:p>
        </p:txBody>
      </p:sp>
      <p:sp>
        <p:nvSpPr>
          <p:cNvPr id="22" name="BPS Value 2"/>
          <p:cNvSpPr txBox="1"/>
          <p:nvPr/>
        </p:nvSpPr>
        <p:spPr>
          <a:xfrm>
            <a:off x="6896100" y="20496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93720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93243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8562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Service</a:t>
            </a:r>
          </a:p>
        </p:txBody>
      </p:sp>
      <p:sp>
        <p:nvSpPr>
          <p:cNvPr id="26" name="BPS Value 3"/>
          <p:cNvSpPr txBox="1"/>
          <p:nvPr/>
        </p:nvSpPr>
        <p:spPr>
          <a:xfrm>
            <a:off x="6896100" y="291815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95010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9453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8691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a:t>
            </a:r>
          </a:p>
        </p:txBody>
      </p:sp>
      <p:sp>
        <p:nvSpPr>
          <p:cNvPr id="30" name="BPS Value 4"/>
          <p:cNvSpPr txBox="1"/>
          <p:nvPr/>
        </p:nvSpPr>
        <p:spPr>
          <a:xfrm>
            <a:off x="6896100" y="49310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Europe Read-out, By Distribution Channel</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585964" cy="194310"/>
          </a:xfrm>
          <a:prstGeom prst="rect">
            <a:avLst/>
          </a:prstGeom>
          <a:noFill/>
        </p:spPr>
        <p:txBody>
          <a:bodyPr wrap="none" lIns="0" rIns="0" tIns="0" bIns="0">
            <a:spAutoFit/>
          </a:bodyPr>
          <a:lstStyle/>
          <a:p>
            <a:r>
              <a:rPr sz="1150" b="0">
                <a:solidFill>
                  <a:srgbClr val="2E2E2E"/>
                </a:solidFill>
                <a:latin typeface="Calibri"/>
              </a:rPr>
              <a:t>Among crab meat by distribution channel, retail segment is</a:t>
            </a:r>
          </a:p>
        </p:txBody>
      </p:sp>
      <p:sp>
        <p:nvSpPr>
          <p:cNvPr id="38" name="TextBox 3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9" name="Picture 38" descr="lock.png"/>
          <p:cNvPicPr>
            <a:picLocks noChangeAspect="1"/>
          </p:cNvPicPr>
          <p:nvPr/>
        </p:nvPicPr>
        <p:blipFill>
          <a:blip r:embed="rId5"/>
          <a:stretch>
            <a:fillRect/>
          </a:stretch>
        </p:blipFill>
        <p:spPr>
          <a:xfrm>
            <a:off x="10264711" y="1565211"/>
            <a:ext cx="134549" cy="195707"/>
          </a:xfrm>
          <a:prstGeom prst="rect">
            <a:avLst/>
          </a:prstGeom>
        </p:spPr>
      </p:pic>
      <p:sp>
        <p:nvSpPr>
          <p:cNvPr id="40" name="TextBox 3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1" name="TextBox 40"/>
          <p:cNvSpPr txBox="1"/>
          <p:nvPr/>
        </p:nvSpPr>
        <p:spPr>
          <a:xfrm>
            <a:off x="7829550" y="1750695"/>
            <a:ext cx="3907445" cy="194310"/>
          </a:xfrm>
          <a:prstGeom prst="rect">
            <a:avLst/>
          </a:prstGeom>
          <a:noFill/>
        </p:spPr>
        <p:txBody>
          <a:bodyPr wrap="none" lIns="0" rIns="0" tIns="0" bIns="0">
            <a:spAutoFit/>
          </a:bodyPr>
          <a:lstStyle/>
          <a:p>
            <a:r>
              <a:rPr sz="1150" b="0">
                <a:solidFill>
                  <a:srgbClr val="2E2E2E"/>
                </a:solidFill>
                <a:latin typeface="Calibri"/>
              </a:rPr>
              <a:t>period. In terms of value share by distribution channel, the retail</a:t>
            </a:r>
          </a:p>
        </p:txBody>
      </p:sp>
      <p:sp>
        <p:nvSpPr>
          <p:cNvPr id="42" name="TextBox 41"/>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3" name="Picture 42" descr="lock.png"/>
          <p:cNvPicPr>
            <a:picLocks noChangeAspect="1"/>
          </p:cNvPicPr>
          <p:nvPr/>
        </p:nvPicPr>
        <p:blipFill>
          <a:blip r:embed="rId5"/>
          <a:stretch>
            <a:fillRect/>
          </a:stretch>
        </p:blipFill>
        <p:spPr>
          <a:xfrm>
            <a:off x="11024645" y="1915731"/>
            <a:ext cx="134549" cy="195707"/>
          </a:xfrm>
          <a:prstGeom prst="rect">
            <a:avLst/>
          </a:prstGeom>
        </p:spPr>
      </p:pic>
      <p:sp>
        <p:nvSpPr>
          <p:cNvPr id="44" name="TextBox 43"/>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5" name="TextBox 4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6" name="Picture 45" descr="lock.png"/>
          <p:cNvPicPr>
            <a:picLocks noChangeAspect="1"/>
          </p:cNvPicPr>
          <p:nvPr/>
        </p:nvPicPr>
        <p:blipFill>
          <a:blip r:embed="rId5"/>
          <a:stretch>
            <a:fillRect/>
          </a:stretch>
        </p:blipFill>
        <p:spPr>
          <a:xfrm>
            <a:off x="8712947" y="2090991"/>
            <a:ext cx="134549" cy="195707"/>
          </a:xfrm>
          <a:prstGeom prst="rect">
            <a:avLst/>
          </a:prstGeom>
        </p:spPr>
      </p:pic>
      <p:sp>
        <p:nvSpPr>
          <p:cNvPr id="47" name="TextBox 4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TextBox 47"/>
          <p:cNvSpPr txBox="1"/>
          <p:nvPr/>
        </p:nvSpPr>
        <p:spPr>
          <a:xfrm>
            <a:off x="7829550" y="2329053"/>
            <a:ext cx="3592524" cy="194310"/>
          </a:xfrm>
          <a:prstGeom prst="rect">
            <a:avLst/>
          </a:prstGeom>
          <a:noFill/>
        </p:spPr>
        <p:txBody>
          <a:bodyPr wrap="none" lIns="0" rIns="0" tIns="0" bIns="0">
            <a:spAutoFit/>
          </a:bodyPr>
          <a:lstStyle/>
          <a:p>
            <a:r>
              <a:rPr sz="1150" b="0">
                <a:solidFill>
                  <a:srgbClr val="2E2E2E"/>
                </a:solidFill>
                <a:latin typeface="Calibri"/>
              </a:rPr>
              <a:t>The industrial / B2B processing segment is expected to lose</a:t>
            </a:r>
          </a:p>
        </p:txBody>
      </p:sp>
      <p:pic>
        <p:nvPicPr>
          <p:cNvPr id="49" name="Picture 48" descr="lock.png"/>
          <p:cNvPicPr>
            <a:picLocks noChangeAspect="1"/>
          </p:cNvPicPr>
          <p:nvPr/>
        </p:nvPicPr>
        <p:blipFill>
          <a:blip r:embed="rId5"/>
          <a:stretch>
            <a:fillRect/>
          </a:stretch>
        </p:blipFill>
        <p:spPr>
          <a:xfrm>
            <a:off x="11371228" y="2318829"/>
            <a:ext cx="134549" cy="195707"/>
          </a:xfrm>
          <a:prstGeom prst="rect">
            <a:avLst/>
          </a:prstGeom>
        </p:spPr>
      </p:pic>
      <p:sp>
        <p:nvSpPr>
          <p:cNvPr id="50" name="TextBox 49"/>
          <p:cNvSpPr txBox="1"/>
          <p:nvPr/>
        </p:nvSpPr>
        <p:spPr>
          <a:xfrm>
            <a:off x="11546338"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1" name="TextBox 50"/>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2" name="Picture 51" descr="lock.png"/>
          <p:cNvPicPr>
            <a:picLocks noChangeAspect="1"/>
          </p:cNvPicPr>
          <p:nvPr/>
        </p:nvPicPr>
        <p:blipFill>
          <a:blip r:embed="rId5"/>
          <a:stretch>
            <a:fillRect/>
          </a:stretch>
        </p:blipFill>
        <p:spPr>
          <a:xfrm>
            <a:off x="10161752" y="2494089"/>
            <a:ext cx="134549" cy="195707"/>
          </a:xfrm>
          <a:prstGeom prst="rect">
            <a:avLst/>
          </a:prstGeom>
        </p:spPr>
      </p:pic>
      <p:sp>
        <p:nvSpPr>
          <p:cNvPr id="53" name="TextBox 52"/>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7045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267525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380105"/>
            <a:ext cx="7124700" cy="25361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Crab Species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Meat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Claim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Volume Overview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Germany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Volume (MT),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008189"/>
                </a:solidFill>
                <a:latin typeface="Calibri"/>
              </a:rPr>
              <a:t> </a:t>
            </a:r>
          </a:p>
          <a:p>
            <a:pPr algn="ctr"/>
            <a:r>
              <a:rPr sz="1100" b="0">
                <a:solidFill>
                  <a:srgbClr val="6C7A89"/>
                </a:solidFill>
                <a:latin typeface="Calibri"/>
              </a:rPr>
              <a:t>vs Europe benchmark</a:t>
            </a:r>
          </a:p>
          <a:p>
            <a:pPr algn="ctr"/>
            <a:r>
              <a:rPr sz="1100" b="1">
                <a:solidFill>
                  <a:srgbClr val="2E7D32"/>
                </a:solidFill>
                <a:latin typeface="Calibri"/>
              </a:rPr>
              <a:t>▲ above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(MT)</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377702" cy="186689"/>
          </a:xfrm>
          <a:prstGeom prst="rect">
            <a:avLst/>
          </a:prstGeom>
          <a:noFill/>
        </p:spPr>
        <p:txBody>
          <a:bodyPr wrap="none" lIns="0" rIns="0" tIns="0" bIns="0">
            <a:spAutoFit/>
          </a:bodyPr>
          <a:lstStyle/>
          <a:p>
            <a:r>
              <a:rPr sz="1100" b="0">
                <a:solidFill>
                  <a:srgbClr val="2E2E2E"/>
                </a:solidFill>
                <a:latin typeface="Calibri"/>
              </a:rPr>
              <a:t>Germany's crab meat market expands at</a:t>
            </a:r>
          </a:p>
        </p:txBody>
      </p:sp>
      <p:pic>
        <p:nvPicPr>
          <p:cNvPr id="41" name="Picture 40" descr="lock.png"/>
          <p:cNvPicPr>
            <a:picLocks noChangeAspect="1"/>
          </p:cNvPicPr>
          <p:nvPr/>
        </p:nvPicPr>
        <p:blipFill>
          <a:blip r:embed="rId8"/>
          <a:stretch>
            <a:fillRect/>
          </a:stretch>
        </p:blipFill>
        <p:spPr>
          <a:xfrm>
            <a:off x="10397239" y="2866771"/>
            <a:ext cx="128699" cy="187198"/>
          </a:xfrm>
          <a:prstGeom prst="rect">
            <a:avLst/>
          </a:prstGeom>
        </p:spPr>
      </p:pic>
      <p:sp>
        <p:nvSpPr>
          <p:cNvPr id="42" name="TextBox 41"/>
          <p:cNvSpPr txBox="1"/>
          <p:nvPr/>
        </p:nvSpPr>
        <p:spPr>
          <a:xfrm>
            <a:off x="10564735" y="2876550"/>
            <a:ext cx="1232800" cy="186689"/>
          </a:xfrm>
          <a:prstGeom prst="rect">
            <a:avLst/>
          </a:prstGeom>
          <a:noFill/>
        </p:spPr>
        <p:txBody>
          <a:bodyPr wrap="none" lIns="0" rIns="0" tIns="0" bIns="0">
            <a:spAutoFit/>
          </a:bodyPr>
          <a:lstStyle/>
          <a:p>
            <a:r>
              <a:rPr sz="1100" b="0">
                <a:solidFill>
                  <a:srgbClr val="2E2E2E"/>
                </a:solidFill>
                <a:latin typeface="Calibri"/>
              </a:rPr>
              <a:t>CAGR through 2036,</a:t>
            </a:r>
          </a:p>
        </p:txBody>
      </p:sp>
      <p:sp>
        <p:nvSpPr>
          <p:cNvPr id="43" name="TextBox 42"/>
          <p:cNvSpPr txBox="1"/>
          <p:nvPr/>
        </p:nvSpPr>
        <p:spPr>
          <a:xfrm>
            <a:off x="8071485" y="3044190"/>
            <a:ext cx="2120676" cy="186689"/>
          </a:xfrm>
          <a:prstGeom prst="rect">
            <a:avLst/>
          </a:prstGeom>
          <a:noFill/>
        </p:spPr>
        <p:txBody>
          <a:bodyPr wrap="none" lIns="0" rIns="0" tIns="0" bIns="0">
            <a:spAutoFit/>
          </a:bodyPr>
          <a:lstStyle/>
          <a:p>
            <a:r>
              <a:rPr sz="1100" b="0">
                <a:solidFill>
                  <a:srgbClr val="2E2E2E"/>
                </a:solidFill>
                <a:latin typeface="Calibri"/>
              </a:rPr>
              <a:t>outpacing the Europe benchmark of</a:t>
            </a:r>
          </a:p>
        </p:txBody>
      </p:sp>
      <p:pic>
        <p:nvPicPr>
          <p:cNvPr id="44" name="Picture 43" descr="lock.png"/>
          <p:cNvPicPr>
            <a:picLocks noChangeAspect="1"/>
          </p:cNvPicPr>
          <p:nvPr/>
        </p:nvPicPr>
        <p:blipFill>
          <a:blip r:embed="rId8"/>
          <a:stretch>
            <a:fillRect/>
          </a:stretch>
        </p:blipFill>
        <p:spPr>
          <a:xfrm>
            <a:off x="10140213" y="3034411"/>
            <a:ext cx="128699" cy="187198"/>
          </a:xfrm>
          <a:prstGeom prst="rect">
            <a:avLst/>
          </a:prstGeom>
        </p:spPr>
      </p:pic>
      <p:sp>
        <p:nvSpPr>
          <p:cNvPr id="45" name="TextBox 44"/>
          <p:cNvSpPr txBox="1"/>
          <p:nvPr/>
        </p:nvSpPr>
        <p:spPr>
          <a:xfrm>
            <a:off x="10307709"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0468659" y="3034411"/>
            <a:ext cx="128699" cy="187198"/>
          </a:xfrm>
          <a:prstGeom prst="rect">
            <a:avLst/>
          </a:prstGeom>
        </p:spPr>
      </p:pic>
      <p:sp>
        <p:nvSpPr>
          <p:cNvPr id="47" name="TextBox 46"/>
          <p:cNvSpPr txBox="1"/>
          <p:nvPr/>
        </p:nvSpPr>
        <p:spPr>
          <a:xfrm>
            <a:off x="10636155"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936773" cy="186689"/>
          </a:xfrm>
          <a:prstGeom prst="rect">
            <a:avLst/>
          </a:prstGeom>
          <a:noFill/>
        </p:spPr>
        <p:txBody>
          <a:bodyPr wrap="none" lIns="0" rIns="0" tIns="0" bIns="0">
            <a:spAutoFit/>
          </a:bodyPr>
          <a:lstStyle/>
          <a:p>
            <a:r>
              <a:rPr sz="1100" b="0">
                <a:solidFill>
                  <a:srgbClr val="2E2E2E"/>
                </a:solidFill>
                <a:latin typeface="Calibri"/>
              </a:rPr>
              <a:t>Germany holds</a:t>
            </a:r>
          </a:p>
        </p:txBody>
      </p:sp>
      <p:pic>
        <p:nvPicPr>
          <p:cNvPr id="49" name="Picture 48" descr="lock.png"/>
          <p:cNvPicPr>
            <a:picLocks noChangeAspect="1"/>
          </p:cNvPicPr>
          <p:nvPr/>
        </p:nvPicPr>
        <p:blipFill>
          <a:blip r:embed="rId8"/>
          <a:stretch>
            <a:fillRect/>
          </a:stretch>
        </p:blipFill>
        <p:spPr>
          <a:xfrm>
            <a:off x="1142000" y="5956680"/>
            <a:ext cx="128699" cy="187198"/>
          </a:xfrm>
          <a:prstGeom prst="rect">
            <a:avLst/>
          </a:prstGeom>
        </p:spPr>
      </p:pic>
      <p:sp>
        <p:nvSpPr>
          <p:cNvPr id="50" name="TextBox 49"/>
          <p:cNvSpPr txBox="1"/>
          <p:nvPr/>
        </p:nvSpPr>
        <p:spPr>
          <a:xfrm>
            <a:off x="1309496"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2292548" y="5956680"/>
            <a:ext cx="128699" cy="187198"/>
          </a:xfrm>
          <a:prstGeom prst="rect">
            <a:avLst/>
          </a:prstGeom>
        </p:spPr>
      </p:pic>
      <p:sp>
        <p:nvSpPr>
          <p:cNvPr id="52" name="TextBox 51"/>
          <p:cNvSpPr txBox="1"/>
          <p:nvPr/>
        </p:nvSpPr>
        <p:spPr>
          <a:xfrm>
            <a:off x="2460044" y="5966460"/>
            <a:ext cx="3221905" cy="186689"/>
          </a:xfrm>
          <a:prstGeom prst="rect">
            <a:avLst/>
          </a:prstGeom>
          <a:noFill/>
        </p:spPr>
        <p:txBody>
          <a:bodyPr wrap="none" lIns="0" rIns="0" tIns="0" bIns="0">
            <a:spAutoFit/>
          </a:bodyPr>
          <a:lstStyle/>
          <a:p>
            <a:r>
              <a:rPr sz="1100" b="0">
                <a:solidFill>
                  <a:srgbClr val="2E2E2E"/>
                </a:solidFill>
                <a:latin typeface="Calibri"/>
              </a:rPr>
              <a:t>of the Europe crab meat market in 2026; by 2036 those</a:t>
            </a:r>
          </a:p>
        </p:txBody>
      </p:sp>
      <p:sp>
        <p:nvSpPr>
          <p:cNvPr id="53" name="TextBox 52"/>
          <p:cNvSpPr txBox="1"/>
          <p:nvPr/>
        </p:nvSpPr>
        <p:spPr>
          <a:xfrm>
            <a:off x="257175" y="6134100"/>
            <a:ext cx="945777" cy="186689"/>
          </a:xfrm>
          <a:prstGeom prst="rect">
            <a:avLst/>
          </a:prstGeom>
          <a:noFill/>
        </p:spPr>
        <p:txBody>
          <a:bodyPr wrap="none" lIns="0" rIns="0" tIns="0" bIns="0">
            <a:spAutoFit/>
          </a:bodyPr>
          <a:lstStyle/>
          <a:p>
            <a:r>
              <a:rPr sz="1100" b="0">
                <a:solidFill>
                  <a:srgbClr val="2E2E2E"/>
                </a:solidFill>
                <a:latin typeface="Calibri"/>
              </a:rPr>
              <a:t>shares move to</a:t>
            </a:r>
          </a:p>
        </p:txBody>
      </p:sp>
      <p:pic>
        <p:nvPicPr>
          <p:cNvPr id="54" name="Picture 53" descr="lock.png"/>
          <p:cNvPicPr>
            <a:picLocks noChangeAspect="1"/>
          </p:cNvPicPr>
          <p:nvPr/>
        </p:nvPicPr>
        <p:blipFill>
          <a:blip r:embed="rId8"/>
          <a:stretch>
            <a:fillRect/>
          </a:stretch>
        </p:blipFill>
        <p:spPr>
          <a:xfrm>
            <a:off x="1151004" y="6124320"/>
            <a:ext cx="128699" cy="187198"/>
          </a:xfrm>
          <a:prstGeom prst="rect">
            <a:avLst/>
          </a:prstGeom>
        </p:spPr>
      </p:pic>
      <p:sp>
        <p:nvSpPr>
          <p:cNvPr id="55" name="TextBox 54"/>
          <p:cNvSpPr txBox="1"/>
          <p:nvPr/>
        </p:nvSpPr>
        <p:spPr>
          <a:xfrm>
            <a:off x="1318500"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1556394" y="6124320"/>
            <a:ext cx="128699" cy="187198"/>
          </a:xfrm>
          <a:prstGeom prst="rect">
            <a:avLst/>
          </a:prstGeom>
        </p:spPr>
      </p:pic>
      <p:sp>
        <p:nvSpPr>
          <p:cNvPr id="57" name="TextBox 56"/>
          <p:cNvSpPr txBox="1"/>
          <p:nvPr/>
        </p:nvSpPr>
        <p:spPr>
          <a:xfrm>
            <a:off x="1723890"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414538" cy="186689"/>
          </a:xfrm>
          <a:prstGeom prst="rect">
            <a:avLst/>
          </a:prstGeom>
          <a:noFill/>
        </p:spPr>
        <p:txBody>
          <a:bodyPr wrap="none" lIns="0" rIns="0" tIns="0" bIns="0">
            <a:spAutoFit/>
          </a:bodyPr>
          <a:lstStyle/>
          <a:p>
            <a:r>
              <a:rPr sz="1100" b="0">
                <a:solidFill>
                  <a:srgbClr val="2E2E2E"/>
                </a:solidFill>
                <a:latin typeface="Calibri"/>
              </a:rPr>
              <a:t>MT between 2026 and 2036 the Germany market grows to</a:t>
            </a:r>
          </a:p>
        </p:txBody>
      </p:sp>
      <p:pic>
        <p:nvPicPr>
          <p:cNvPr id="61" name="Picture 60" descr="lock.png"/>
          <p:cNvPicPr>
            <a:picLocks noChangeAspect="1"/>
          </p:cNvPicPr>
          <p:nvPr/>
        </p:nvPicPr>
        <p:blipFill>
          <a:blip r:embed="rId8"/>
          <a:stretch>
            <a:fillRect/>
          </a:stretch>
        </p:blipFill>
        <p:spPr>
          <a:xfrm>
            <a:off x="11351616" y="5956680"/>
            <a:ext cx="128699" cy="187198"/>
          </a:xfrm>
          <a:prstGeom prst="rect">
            <a:avLst/>
          </a:prstGeom>
        </p:spPr>
      </p:pic>
      <p:sp>
        <p:nvSpPr>
          <p:cNvPr id="62" name="TextBox 61"/>
          <p:cNvSpPr txBox="1"/>
          <p:nvPr/>
        </p:nvSpPr>
        <p:spPr>
          <a:xfrm>
            <a:off x="11519112" y="5966460"/>
            <a:ext cx="14577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3" name="TextBox 62"/>
          <p:cNvSpPr txBox="1"/>
          <p:nvPr/>
        </p:nvSpPr>
        <p:spPr>
          <a:xfrm>
            <a:off x="6286500" y="6134100"/>
            <a:ext cx="1755601" cy="186689"/>
          </a:xfrm>
          <a:prstGeom prst="rect">
            <a:avLst/>
          </a:prstGeom>
          <a:noFill/>
        </p:spPr>
        <p:txBody>
          <a:bodyPr wrap="none" lIns="0" rIns="0" tIns="0" bIns="0">
            <a:spAutoFit/>
          </a:bodyPr>
          <a:lstStyle/>
          <a:p>
            <a:r>
              <a:rPr sz="1100" b="0">
                <a:solidFill>
                  <a:srgbClr val="2E2E2E"/>
                </a:solidFill>
                <a:latin typeface="Calibri"/>
              </a:rPr>
              <a:t>its 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Germany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008189"/>
                </a:solidFill>
                <a:latin typeface="Calibri"/>
              </a:rPr>
              <a:t> </a:t>
            </a:r>
          </a:p>
          <a:p>
            <a:pPr algn="ctr"/>
            <a:r>
              <a:rPr sz="1100" b="0">
                <a:solidFill>
                  <a:srgbClr val="6C7A89"/>
                </a:solidFill>
                <a:latin typeface="Calibri"/>
              </a:rPr>
              <a:t>vs Europe benchmark</a:t>
            </a:r>
          </a:p>
          <a:p>
            <a:pPr algn="ctr"/>
            <a:r>
              <a:rPr sz="1100" b="1">
                <a:solidFill>
                  <a:srgbClr val="2E7D32"/>
                </a:solidFill>
                <a:latin typeface="Calibri"/>
              </a:rPr>
              <a:t>▲ above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377702" cy="186689"/>
          </a:xfrm>
          <a:prstGeom prst="rect">
            <a:avLst/>
          </a:prstGeom>
          <a:noFill/>
        </p:spPr>
        <p:txBody>
          <a:bodyPr wrap="none" lIns="0" rIns="0" tIns="0" bIns="0">
            <a:spAutoFit/>
          </a:bodyPr>
          <a:lstStyle/>
          <a:p>
            <a:r>
              <a:rPr sz="1100" b="0">
                <a:solidFill>
                  <a:srgbClr val="2E2E2E"/>
                </a:solidFill>
                <a:latin typeface="Calibri"/>
              </a:rPr>
              <a:t>Germany's crab meat market expands at</a:t>
            </a:r>
          </a:p>
        </p:txBody>
      </p:sp>
      <p:pic>
        <p:nvPicPr>
          <p:cNvPr id="41" name="Picture 40" descr="lock.png"/>
          <p:cNvPicPr>
            <a:picLocks noChangeAspect="1"/>
          </p:cNvPicPr>
          <p:nvPr/>
        </p:nvPicPr>
        <p:blipFill>
          <a:blip r:embed="rId8"/>
          <a:stretch>
            <a:fillRect/>
          </a:stretch>
        </p:blipFill>
        <p:spPr>
          <a:xfrm>
            <a:off x="10397239" y="2866771"/>
            <a:ext cx="128699" cy="187198"/>
          </a:xfrm>
          <a:prstGeom prst="rect">
            <a:avLst/>
          </a:prstGeom>
        </p:spPr>
      </p:pic>
      <p:sp>
        <p:nvSpPr>
          <p:cNvPr id="42" name="TextBox 41"/>
          <p:cNvSpPr txBox="1"/>
          <p:nvPr/>
        </p:nvSpPr>
        <p:spPr>
          <a:xfrm>
            <a:off x="10564735" y="2876550"/>
            <a:ext cx="1232800" cy="186689"/>
          </a:xfrm>
          <a:prstGeom prst="rect">
            <a:avLst/>
          </a:prstGeom>
          <a:noFill/>
        </p:spPr>
        <p:txBody>
          <a:bodyPr wrap="none" lIns="0" rIns="0" tIns="0" bIns="0">
            <a:spAutoFit/>
          </a:bodyPr>
          <a:lstStyle/>
          <a:p>
            <a:r>
              <a:rPr sz="1100" b="0">
                <a:solidFill>
                  <a:srgbClr val="2E2E2E"/>
                </a:solidFill>
                <a:latin typeface="Calibri"/>
              </a:rPr>
              <a:t>CAGR through 2036,</a:t>
            </a:r>
          </a:p>
        </p:txBody>
      </p:sp>
      <p:sp>
        <p:nvSpPr>
          <p:cNvPr id="43" name="TextBox 42"/>
          <p:cNvSpPr txBox="1"/>
          <p:nvPr/>
        </p:nvSpPr>
        <p:spPr>
          <a:xfrm>
            <a:off x="8071485" y="3044190"/>
            <a:ext cx="2120676" cy="186689"/>
          </a:xfrm>
          <a:prstGeom prst="rect">
            <a:avLst/>
          </a:prstGeom>
          <a:noFill/>
        </p:spPr>
        <p:txBody>
          <a:bodyPr wrap="none" lIns="0" rIns="0" tIns="0" bIns="0">
            <a:spAutoFit/>
          </a:bodyPr>
          <a:lstStyle/>
          <a:p>
            <a:r>
              <a:rPr sz="1100" b="0">
                <a:solidFill>
                  <a:srgbClr val="2E2E2E"/>
                </a:solidFill>
                <a:latin typeface="Calibri"/>
              </a:rPr>
              <a:t>outpacing the Europe benchmark of</a:t>
            </a:r>
          </a:p>
        </p:txBody>
      </p:sp>
      <p:pic>
        <p:nvPicPr>
          <p:cNvPr id="44" name="Picture 43" descr="lock.png"/>
          <p:cNvPicPr>
            <a:picLocks noChangeAspect="1"/>
          </p:cNvPicPr>
          <p:nvPr/>
        </p:nvPicPr>
        <p:blipFill>
          <a:blip r:embed="rId8"/>
          <a:stretch>
            <a:fillRect/>
          </a:stretch>
        </p:blipFill>
        <p:spPr>
          <a:xfrm>
            <a:off x="10140213" y="3034411"/>
            <a:ext cx="128699" cy="187198"/>
          </a:xfrm>
          <a:prstGeom prst="rect">
            <a:avLst/>
          </a:prstGeom>
        </p:spPr>
      </p:pic>
      <p:sp>
        <p:nvSpPr>
          <p:cNvPr id="45" name="TextBox 44"/>
          <p:cNvSpPr txBox="1"/>
          <p:nvPr/>
        </p:nvSpPr>
        <p:spPr>
          <a:xfrm>
            <a:off x="10307709"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0468659" y="3034411"/>
            <a:ext cx="128699" cy="187198"/>
          </a:xfrm>
          <a:prstGeom prst="rect">
            <a:avLst/>
          </a:prstGeom>
        </p:spPr>
      </p:pic>
      <p:sp>
        <p:nvSpPr>
          <p:cNvPr id="47" name="TextBox 46"/>
          <p:cNvSpPr txBox="1"/>
          <p:nvPr/>
        </p:nvSpPr>
        <p:spPr>
          <a:xfrm>
            <a:off x="10636155"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936773" cy="186689"/>
          </a:xfrm>
          <a:prstGeom prst="rect">
            <a:avLst/>
          </a:prstGeom>
          <a:noFill/>
        </p:spPr>
        <p:txBody>
          <a:bodyPr wrap="none" lIns="0" rIns="0" tIns="0" bIns="0">
            <a:spAutoFit/>
          </a:bodyPr>
          <a:lstStyle/>
          <a:p>
            <a:r>
              <a:rPr sz="1100" b="0">
                <a:solidFill>
                  <a:srgbClr val="2E2E2E"/>
                </a:solidFill>
                <a:latin typeface="Calibri"/>
              </a:rPr>
              <a:t>Germany holds</a:t>
            </a:r>
          </a:p>
        </p:txBody>
      </p:sp>
      <p:pic>
        <p:nvPicPr>
          <p:cNvPr id="49" name="Picture 48" descr="lock.png"/>
          <p:cNvPicPr>
            <a:picLocks noChangeAspect="1"/>
          </p:cNvPicPr>
          <p:nvPr/>
        </p:nvPicPr>
        <p:blipFill>
          <a:blip r:embed="rId8"/>
          <a:stretch>
            <a:fillRect/>
          </a:stretch>
        </p:blipFill>
        <p:spPr>
          <a:xfrm>
            <a:off x="1142000" y="5956680"/>
            <a:ext cx="128699" cy="187198"/>
          </a:xfrm>
          <a:prstGeom prst="rect">
            <a:avLst/>
          </a:prstGeom>
        </p:spPr>
      </p:pic>
      <p:sp>
        <p:nvSpPr>
          <p:cNvPr id="50" name="TextBox 49"/>
          <p:cNvSpPr txBox="1"/>
          <p:nvPr/>
        </p:nvSpPr>
        <p:spPr>
          <a:xfrm>
            <a:off x="1309496"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2292548" y="5956680"/>
            <a:ext cx="128699" cy="187198"/>
          </a:xfrm>
          <a:prstGeom prst="rect">
            <a:avLst/>
          </a:prstGeom>
        </p:spPr>
      </p:pic>
      <p:sp>
        <p:nvSpPr>
          <p:cNvPr id="52" name="TextBox 51"/>
          <p:cNvSpPr txBox="1"/>
          <p:nvPr/>
        </p:nvSpPr>
        <p:spPr>
          <a:xfrm>
            <a:off x="2460044" y="5966460"/>
            <a:ext cx="3221905" cy="186689"/>
          </a:xfrm>
          <a:prstGeom prst="rect">
            <a:avLst/>
          </a:prstGeom>
          <a:noFill/>
        </p:spPr>
        <p:txBody>
          <a:bodyPr wrap="none" lIns="0" rIns="0" tIns="0" bIns="0">
            <a:spAutoFit/>
          </a:bodyPr>
          <a:lstStyle/>
          <a:p>
            <a:r>
              <a:rPr sz="1100" b="0">
                <a:solidFill>
                  <a:srgbClr val="2E2E2E"/>
                </a:solidFill>
                <a:latin typeface="Calibri"/>
              </a:rPr>
              <a:t>of the Europe crab meat market in 2026; by 2036 those</a:t>
            </a:r>
          </a:p>
        </p:txBody>
      </p:sp>
      <p:sp>
        <p:nvSpPr>
          <p:cNvPr id="53" name="TextBox 52"/>
          <p:cNvSpPr txBox="1"/>
          <p:nvPr/>
        </p:nvSpPr>
        <p:spPr>
          <a:xfrm>
            <a:off x="257175" y="6134100"/>
            <a:ext cx="945777" cy="186689"/>
          </a:xfrm>
          <a:prstGeom prst="rect">
            <a:avLst/>
          </a:prstGeom>
          <a:noFill/>
        </p:spPr>
        <p:txBody>
          <a:bodyPr wrap="none" lIns="0" rIns="0" tIns="0" bIns="0">
            <a:spAutoFit/>
          </a:bodyPr>
          <a:lstStyle/>
          <a:p>
            <a:r>
              <a:rPr sz="1100" b="0">
                <a:solidFill>
                  <a:srgbClr val="2E2E2E"/>
                </a:solidFill>
                <a:latin typeface="Calibri"/>
              </a:rPr>
              <a:t>shares move to</a:t>
            </a:r>
          </a:p>
        </p:txBody>
      </p:sp>
      <p:pic>
        <p:nvPicPr>
          <p:cNvPr id="54" name="Picture 53" descr="lock.png"/>
          <p:cNvPicPr>
            <a:picLocks noChangeAspect="1"/>
          </p:cNvPicPr>
          <p:nvPr/>
        </p:nvPicPr>
        <p:blipFill>
          <a:blip r:embed="rId8"/>
          <a:stretch>
            <a:fillRect/>
          </a:stretch>
        </p:blipFill>
        <p:spPr>
          <a:xfrm>
            <a:off x="1151004" y="6124320"/>
            <a:ext cx="128699" cy="187198"/>
          </a:xfrm>
          <a:prstGeom prst="rect">
            <a:avLst/>
          </a:prstGeom>
        </p:spPr>
      </p:pic>
      <p:sp>
        <p:nvSpPr>
          <p:cNvPr id="55" name="TextBox 54"/>
          <p:cNvSpPr txBox="1"/>
          <p:nvPr/>
        </p:nvSpPr>
        <p:spPr>
          <a:xfrm>
            <a:off x="1318500"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1556394" y="6124320"/>
            <a:ext cx="128699" cy="187198"/>
          </a:xfrm>
          <a:prstGeom prst="rect">
            <a:avLst/>
          </a:prstGeom>
        </p:spPr>
      </p:pic>
      <p:sp>
        <p:nvSpPr>
          <p:cNvPr id="57" name="TextBox 56"/>
          <p:cNvSpPr txBox="1"/>
          <p:nvPr/>
        </p:nvSpPr>
        <p:spPr>
          <a:xfrm>
            <a:off x="1723890"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79067" cy="186689"/>
          </a:xfrm>
          <a:prstGeom prst="rect">
            <a:avLst/>
          </a:prstGeom>
          <a:noFill/>
        </p:spPr>
        <p:txBody>
          <a:bodyPr wrap="none" lIns="0" rIns="0" tIns="0" bIns="0">
            <a:spAutoFit/>
          </a:bodyPr>
          <a:lstStyle/>
          <a:p>
            <a:r>
              <a:rPr sz="1100" b="0">
                <a:solidFill>
                  <a:srgbClr val="2E2E2E"/>
                </a:solidFill>
                <a:latin typeface="Calibri"/>
              </a:rPr>
              <a:t>The market in Germany is expected to account for US$</a:t>
            </a:r>
          </a:p>
        </p:txBody>
      </p:sp>
      <p:pic>
        <p:nvPicPr>
          <p:cNvPr id="59" name="Picture 58" descr="lock.png"/>
          <p:cNvPicPr>
            <a:picLocks noChangeAspect="1"/>
          </p:cNvPicPr>
          <p:nvPr/>
        </p:nvPicPr>
        <p:blipFill>
          <a:blip r:embed="rId8"/>
          <a:stretch>
            <a:fillRect/>
          </a:stretch>
        </p:blipFill>
        <p:spPr>
          <a:xfrm>
            <a:off x="9413619" y="5872860"/>
            <a:ext cx="128699" cy="187198"/>
          </a:xfrm>
          <a:prstGeom prst="rect">
            <a:avLst/>
          </a:prstGeom>
        </p:spPr>
      </p:pic>
      <p:sp>
        <p:nvSpPr>
          <p:cNvPr id="60" name="TextBox 59"/>
          <p:cNvSpPr txBox="1"/>
          <p:nvPr/>
        </p:nvSpPr>
        <p:spPr>
          <a:xfrm>
            <a:off x="9581115"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1024723" y="5872860"/>
            <a:ext cx="128699" cy="187198"/>
          </a:xfrm>
          <a:prstGeom prst="rect">
            <a:avLst/>
          </a:prstGeom>
        </p:spPr>
      </p:pic>
      <p:sp>
        <p:nvSpPr>
          <p:cNvPr id="62" name="TextBox 61"/>
          <p:cNvSpPr txBox="1"/>
          <p:nvPr/>
        </p:nvSpPr>
        <p:spPr>
          <a:xfrm>
            <a:off x="11192219"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749328" cy="186689"/>
          </a:xfrm>
          <a:prstGeom prst="rect">
            <a:avLst/>
          </a:prstGeom>
          <a:noFill/>
        </p:spPr>
        <p:txBody>
          <a:bodyPr wrap="none" lIns="0" rIns="0" tIns="0" bIns="0">
            <a:spAutoFit/>
          </a:bodyPr>
          <a:lstStyle/>
          <a:p>
            <a:r>
              <a:rPr sz="1100" b="0">
                <a:solidFill>
                  <a:srgbClr val="2E2E2E"/>
                </a:solidFill>
                <a:latin typeface="Calibri"/>
              </a:rPr>
              <a:t>forecast period. Germany is expected to create an incremental opportunity of US$</a:t>
            </a:r>
          </a:p>
        </p:txBody>
      </p:sp>
      <p:pic>
        <p:nvPicPr>
          <p:cNvPr id="64" name="Picture 63" descr="lock.png"/>
          <p:cNvPicPr>
            <a:picLocks noChangeAspect="1"/>
          </p:cNvPicPr>
          <p:nvPr/>
        </p:nvPicPr>
        <p:blipFill>
          <a:blip r:embed="rId8"/>
          <a:stretch>
            <a:fillRect/>
          </a:stretch>
        </p:blipFill>
        <p:spPr>
          <a:xfrm>
            <a:off x="10983880" y="6040501"/>
            <a:ext cx="128699" cy="187198"/>
          </a:xfrm>
          <a:prstGeom prst="rect">
            <a:avLst/>
          </a:prstGeom>
        </p:spPr>
      </p:pic>
      <p:sp>
        <p:nvSpPr>
          <p:cNvPr id="65" name="TextBox 64"/>
          <p:cNvSpPr txBox="1"/>
          <p:nvPr/>
        </p:nvSpPr>
        <p:spPr>
          <a:xfrm>
            <a:off x="11151376"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2634729" cy="186689"/>
          </a:xfrm>
          <a:prstGeom prst="rect">
            <a:avLst/>
          </a:prstGeom>
          <a:noFill/>
        </p:spPr>
        <p:txBody>
          <a:bodyPr wrap="none" lIns="0" rIns="0" tIns="0" bIns="0">
            <a:spAutoFit/>
          </a:bodyPr>
          <a:lstStyle/>
          <a:p>
            <a:r>
              <a:rPr sz="1100" b="0">
                <a:solidFill>
                  <a:srgbClr val="2E2E2E"/>
                </a:solidFill>
                <a:latin typeface="Calibri"/>
              </a:rPr>
              <a:t>overall crab meat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Germany's key segments by value, highlighting the leading sub-segment of every segmentation</a:t>
            </a:r>
          </a:p>
        </p:txBody>
      </p:sp>
      <p:sp>
        <p:nvSpPr>
          <p:cNvPr id="10" name="Rounded Rectangle 9"/>
          <p:cNvSpPr/>
          <p:nvPr/>
        </p:nvSpPr>
        <p:spPr>
          <a:xfrm>
            <a:off x="1428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Crab Species  (US$ Mn)</a:t>
            </a:r>
          </a:p>
        </p:txBody>
      </p:sp>
      <p:graphicFrame>
        <p:nvGraphicFramePr>
          <p:cNvPr id="12" name="Chart 11"/>
          <p:cNvGraphicFramePr>
            <a:graphicFrameLocks noGrp="1"/>
          </p:cNvGraphicFramePr>
          <p:nvPr/>
        </p:nvGraphicFramePr>
        <p:xfrm>
          <a:off x="238125" y="1266825"/>
          <a:ext cx="2667000" cy="13525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(US$ Mn)</a:t>
            </a:r>
          </a:p>
        </p:txBody>
      </p:sp>
      <p:graphicFrame>
        <p:nvGraphicFramePr>
          <p:cNvPr id="15" name="Chart 14"/>
          <p:cNvGraphicFramePr>
            <a:graphicFrameLocks noGrp="1"/>
          </p:cNvGraphicFramePr>
          <p:nvPr/>
        </p:nvGraphicFramePr>
        <p:xfrm>
          <a:off x="3248025" y="1266825"/>
          <a:ext cx="2667000" cy="13525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Meat Type  (US$ Mn)</a:t>
            </a:r>
          </a:p>
        </p:txBody>
      </p:sp>
      <p:graphicFrame>
        <p:nvGraphicFramePr>
          <p:cNvPr id="18" name="Chart 17"/>
          <p:cNvGraphicFramePr>
            <a:graphicFrameLocks noGrp="1"/>
          </p:cNvGraphicFramePr>
          <p:nvPr/>
        </p:nvGraphicFramePr>
        <p:xfrm>
          <a:off x="6257925" y="1266825"/>
          <a:ext cx="2667000" cy="13525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(US$ Mn)</a:t>
            </a:r>
          </a:p>
        </p:txBody>
      </p:sp>
      <p:graphicFrame>
        <p:nvGraphicFramePr>
          <p:cNvPr id="21" name="Chart 20"/>
          <p:cNvGraphicFramePr>
            <a:graphicFrameLocks noGrp="1"/>
          </p:cNvGraphicFramePr>
          <p:nvPr/>
        </p:nvGraphicFramePr>
        <p:xfrm>
          <a:off x="9267825" y="1266825"/>
          <a:ext cx="2667000" cy="13525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Claim  (US$ Mn)</a:t>
            </a:r>
          </a:p>
        </p:txBody>
      </p:sp>
      <p:graphicFrame>
        <p:nvGraphicFramePr>
          <p:cNvPr id="24" name="Chart 23"/>
          <p:cNvGraphicFramePr>
            <a:graphicFrameLocks noGrp="1"/>
          </p:cNvGraphicFramePr>
          <p:nvPr/>
        </p:nvGraphicFramePr>
        <p:xfrm>
          <a:off x="238125" y="3095625"/>
          <a:ext cx="2743200" cy="1352550"/>
        </p:xfrm>
        <a:graphic>
          <a:graphicData uri="http://schemas.openxmlformats.org/drawingml/2006/chart">
            <c:chart xmlns:c="http://schemas.openxmlformats.org/drawingml/2006/chart" r:id="rId7"/>
          </a:graphicData>
        </a:graphic>
      </p:graphicFrame>
      <p:sp>
        <p:nvSpPr>
          <p:cNvPr id="25" name="Rounded Rectangle 24"/>
          <p:cNvSpPr/>
          <p:nvPr/>
        </p:nvSpPr>
        <p:spPr>
          <a:xfrm>
            <a:off x="32289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42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(US$ Mn)</a:t>
            </a:r>
          </a:p>
        </p:txBody>
      </p:sp>
      <p:graphicFrame>
        <p:nvGraphicFramePr>
          <p:cNvPr id="27" name="Chart 26"/>
          <p:cNvGraphicFramePr>
            <a:graphicFrameLocks noGrp="1"/>
          </p:cNvGraphicFramePr>
          <p:nvPr/>
        </p:nvGraphicFramePr>
        <p:xfrm>
          <a:off x="3324225" y="3095625"/>
          <a:ext cx="2743200" cy="1352550"/>
        </p:xfrm>
        <a:graphic>
          <a:graphicData uri="http://schemas.openxmlformats.org/drawingml/2006/chart">
            <c:chart xmlns:c="http://schemas.openxmlformats.org/drawingml/2006/chart" r:id="rId8"/>
          </a:graphicData>
        </a:graphic>
      </p:graphicFrame>
      <p:sp>
        <p:nvSpPr>
          <p:cNvPr id="28" name="Rounded Rectangle 27"/>
          <p:cNvSpPr/>
          <p:nvPr/>
        </p:nvSpPr>
        <p:spPr>
          <a:xfrm>
            <a:off x="142875" y="46386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7244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0" name="Rectangle 29"/>
          <p:cNvSpPr/>
          <p:nvPr/>
        </p:nvSpPr>
        <p:spPr>
          <a:xfrm>
            <a:off x="276225" y="49625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5048250"/>
            <a:ext cx="11639550" cy="1495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10"/>
          <a:stretch>
            <a:fillRect/>
          </a:stretch>
        </p:blipFill>
        <p:spPr>
          <a:xfrm>
            <a:off x="1811655" y="1724025"/>
            <a:ext cx="183356" cy="266700"/>
          </a:xfrm>
          <a:prstGeom prst="rect">
            <a:avLst/>
          </a:prstGeom>
        </p:spPr>
      </p:pic>
      <p:pic>
        <p:nvPicPr>
          <p:cNvPr id="34" name="Picture 33" descr="lock.png"/>
          <p:cNvPicPr>
            <a:picLocks noChangeAspect="1"/>
          </p:cNvPicPr>
          <p:nvPr/>
        </p:nvPicPr>
        <p:blipFill>
          <a:blip r:embed="rId10"/>
          <a:stretch>
            <a:fillRect/>
          </a:stretch>
        </p:blipFill>
        <p:spPr>
          <a:xfrm>
            <a:off x="4821555" y="1724025"/>
            <a:ext cx="183356" cy="266700"/>
          </a:xfrm>
          <a:prstGeom prst="rect">
            <a:avLst/>
          </a:prstGeom>
        </p:spPr>
      </p:pic>
      <p:pic>
        <p:nvPicPr>
          <p:cNvPr id="35" name="Picture 34" descr="lock.png"/>
          <p:cNvPicPr>
            <a:picLocks noChangeAspect="1"/>
          </p:cNvPicPr>
          <p:nvPr/>
        </p:nvPicPr>
        <p:blipFill>
          <a:blip r:embed="rId10"/>
          <a:stretch>
            <a:fillRect/>
          </a:stretch>
        </p:blipFill>
        <p:spPr>
          <a:xfrm>
            <a:off x="7831455" y="1724025"/>
            <a:ext cx="183356" cy="266700"/>
          </a:xfrm>
          <a:prstGeom prst="rect">
            <a:avLst/>
          </a:prstGeom>
        </p:spPr>
      </p:pic>
      <p:pic>
        <p:nvPicPr>
          <p:cNvPr id="36" name="Picture 35" descr="lock.png"/>
          <p:cNvPicPr>
            <a:picLocks noChangeAspect="1"/>
          </p:cNvPicPr>
          <p:nvPr/>
        </p:nvPicPr>
        <p:blipFill>
          <a:blip r:embed="rId10"/>
          <a:stretch>
            <a:fillRect/>
          </a:stretch>
        </p:blipFill>
        <p:spPr>
          <a:xfrm>
            <a:off x="10841355" y="1724025"/>
            <a:ext cx="183356" cy="266700"/>
          </a:xfrm>
          <a:prstGeom prst="rect">
            <a:avLst/>
          </a:prstGeom>
        </p:spPr>
      </p:pic>
      <p:pic>
        <p:nvPicPr>
          <p:cNvPr id="37" name="Picture 36" descr="lock.png"/>
          <p:cNvPicPr>
            <a:picLocks noChangeAspect="1"/>
          </p:cNvPicPr>
          <p:nvPr/>
        </p:nvPicPr>
        <p:blipFill>
          <a:blip r:embed="rId10"/>
          <a:stretch>
            <a:fillRect/>
          </a:stretch>
        </p:blipFill>
        <p:spPr>
          <a:xfrm>
            <a:off x="1849755" y="3552825"/>
            <a:ext cx="183356" cy="266700"/>
          </a:xfrm>
          <a:prstGeom prst="rect">
            <a:avLst/>
          </a:prstGeom>
        </p:spPr>
      </p:pic>
      <p:pic>
        <p:nvPicPr>
          <p:cNvPr id="38" name="Picture 37" descr="lock.png"/>
          <p:cNvPicPr>
            <a:picLocks noChangeAspect="1"/>
          </p:cNvPicPr>
          <p:nvPr/>
        </p:nvPicPr>
        <p:blipFill>
          <a:blip r:embed="rId10"/>
          <a:stretch>
            <a:fillRect/>
          </a:stretch>
        </p:blipFill>
        <p:spPr>
          <a:xfrm>
            <a:off x="4935855" y="3552825"/>
            <a:ext cx="183356" cy="266700"/>
          </a:xfrm>
          <a:prstGeom prst="rect">
            <a:avLst/>
          </a:prstGeom>
        </p:spPr>
      </p:pic>
      <p:sp>
        <p:nvSpPr>
          <p:cNvPr id="39" name="TextBox 38"/>
          <p:cNvSpPr txBox="1"/>
          <p:nvPr/>
        </p:nvSpPr>
        <p:spPr>
          <a:xfrm>
            <a:off x="276225" y="47339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0" name="Picture 39" descr="lock.png"/>
          <p:cNvPicPr>
            <a:picLocks noChangeAspect="1"/>
          </p:cNvPicPr>
          <p:nvPr/>
        </p:nvPicPr>
        <p:blipFill>
          <a:blip r:embed="rId10"/>
          <a:stretch>
            <a:fillRect/>
          </a:stretch>
        </p:blipFill>
        <p:spPr>
          <a:xfrm>
            <a:off x="1688698" y="4725603"/>
            <a:ext cx="109510" cy="159288"/>
          </a:xfrm>
          <a:prstGeom prst="rect">
            <a:avLst/>
          </a:prstGeom>
        </p:spPr>
      </p:pic>
      <p:sp>
        <p:nvSpPr>
          <p:cNvPr id="41" name="TextBox 40"/>
          <p:cNvSpPr txBox="1"/>
          <p:nvPr/>
        </p:nvSpPr>
        <p:spPr>
          <a:xfrm>
            <a:off x="1831222" y="47339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42" name="TextBox 41"/>
          <p:cNvSpPr txBox="1"/>
          <p:nvPr/>
        </p:nvSpPr>
        <p:spPr>
          <a:xfrm>
            <a:off x="276225" y="5057775"/>
            <a:ext cx="2102789" cy="179984"/>
          </a:xfrm>
          <a:prstGeom prst="rect">
            <a:avLst/>
          </a:prstGeom>
          <a:noFill/>
        </p:spPr>
        <p:txBody>
          <a:bodyPr wrap="none" lIns="0" rIns="0" tIns="0" bIns="0">
            <a:spAutoFit/>
          </a:bodyPr>
          <a:lstStyle/>
          <a:p>
            <a:r>
              <a:rPr sz="1055" b="0">
                <a:solidFill>
                  <a:srgbClr val="2E2E2E"/>
                </a:solidFill>
                <a:latin typeface="Calibri"/>
              </a:rPr>
              <a:t>▪ By Crab Species, 'King Crab' leads at</a:t>
            </a:r>
          </a:p>
        </p:txBody>
      </p:sp>
      <p:pic>
        <p:nvPicPr>
          <p:cNvPr id="43" name="Picture 42" descr="lock.png"/>
          <p:cNvPicPr>
            <a:picLocks noChangeAspect="1"/>
          </p:cNvPicPr>
          <p:nvPr/>
        </p:nvPicPr>
        <p:blipFill>
          <a:blip r:embed="rId10"/>
          <a:stretch>
            <a:fillRect/>
          </a:stretch>
        </p:blipFill>
        <p:spPr>
          <a:xfrm>
            <a:off x="2326096" y="5048387"/>
            <a:ext cx="123551" cy="179710"/>
          </a:xfrm>
          <a:prstGeom prst="rect">
            <a:avLst/>
          </a:prstGeom>
        </p:spPr>
      </p:pic>
      <p:sp>
        <p:nvSpPr>
          <p:cNvPr id="44" name="TextBox 43"/>
          <p:cNvSpPr txBox="1"/>
          <p:nvPr/>
        </p:nvSpPr>
        <p:spPr>
          <a:xfrm>
            <a:off x="2486892" y="5057775"/>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45" name="Picture 44" descr="lock.png"/>
          <p:cNvPicPr>
            <a:picLocks noChangeAspect="1"/>
          </p:cNvPicPr>
          <p:nvPr/>
        </p:nvPicPr>
        <p:blipFill>
          <a:blip r:embed="rId10"/>
          <a:stretch>
            <a:fillRect/>
          </a:stretch>
        </p:blipFill>
        <p:spPr>
          <a:xfrm>
            <a:off x="3012570" y="5048387"/>
            <a:ext cx="123551" cy="179710"/>
          </a:xfrm>
          <a:prstGeom prst="rect">
            <a:avLst/>
          </a:prstGeom>
        </p:spPr>
      </p:pic>
      <p:sp>
        <p:nvSpPr>
          <p:cNvPr id="46" name="TextBox 45"/>
          <p:cNvSpPr txBox="1"/>
          <p:nvPr/>
        </p:nvSpPr>
        <p:spPr>
          <a:xfrm>
            <a:off x="3173366" y="5057775"/>
            <a:ext cx="1659088" cy="179984"/>
          </a:xfrm>
          <a:prstGeom prst="rect">
            <a:avLst/>
          </a:prstGeom>
          <a:noFill/>
        </p:spPr>
        <p:txBody>
          <a:bodyPr wrap="none" lIns="0" rIns="0" tIns="0" bIns="0">
            <a:spAutoFit/>
          </a:bodyPr>
          <a:lstStyle/>
          <a:p>
            <a:r>
              <a:rPr sz="1055" b="0">
                <a:solidFill>
                  <a:srgbClr val="2E2E2E"/>
                </a:solidFill>
                <a:latin typeface="Calibri"/>
              </a:rPr>
              <a:t>share), ahead of 'Mud Crab' (</a:t>
            </a:r>
          </a:p>
        </p:txBody>
      </p:sp>
      <p:pic>
        <p:nvPicPr>
          <p:cNvPr id="47" name="Picture 46" descr="lock.png"/>
          <p:cNvPicPr>
            <a:picLocks noChangeAspect="1"/>
          </p:cNvPicPr>
          <p:nvPr/>
        </p:nvPicPr>
        <p:blipFill>
          <a:blip r:embed="rId10"/>
          <a:stretch>
            <a:fillRect/>
          </a:stretch>
        </p:blipFill>
        <p:spPr>
          <a:xfrm>
            <a:off x="4779535" y="5048387"/>
            <a:ext cx="123551" cy="179710"/>
          </a:xfrm>
          <a:prstGeom prst="rect">
            <a:avLst/>
          </a:prstGeom>
        </p:spPr>
      </p:pic>
      <p:sp>
        <p:nvSpPr>
          <p:cNvPr id="48" name="TextBox 47"/>
          <p:cNvSpPr txBox="1"/>
          <p:nvPr/>
        </p:nvSpPr>
        <p:spPr>
          <a:xfrm>
            <a:off x="4940331" y="5057775"/>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49" name="TextBox 48"/>
          <p:cNvSpPr txBox="1"/>
          <p:nvPr/>
        </p:nvSpPr>
        <p:spPr>
          <a:xfrm>
            <a:off x="276225" y="5266989"/>
            <a:ext cx="2947014" cy="179984"/>
          </a:xfrm>
          <a:prstGeom prst="rect">
            <a:avLst/>
          </a:prstGeom>
          <a:noFill/>
        </p:spPr>
        <p:txBody>
          <a:bodyPr wrap="none" lIns="0" rIns="0" tIns="0" bIns="0">
            <a:spAutoFit/>
          </a:bodyPr>
          <a:lstStyle/>
          <a:p>
            <a:r>
              <a:rPr sz="1055" b="0">
                <a:solidFill>
                  <a:srgbClr val="2E2E2E"/>
                </a:solidFill>
                <a:latin typeface="Calibri"/>
              </a:rPr>
              <a:t>▪ By Source, 'Imported processed crab meat' leads at</a:t>
            </a:r>
          </a:p>
        </p:txBody>
      </p:sp>
      <p:pic>
        <p:nvPicPr>
          <p:cNvPr id="50" name="Picture 49" descr="lock.png"/>
          <p:cNvPicPr>
            <a:picLocks noChangeAspect="1"/>
          </p:cNvPicPr>
          <p:nvPr/>
        </p:nvPicPr>
        <p:blipFill>
          <a:blip r:embed="rId10"/>
          <a:stretch>
            <a:fillRect/>
          </a:stretch>
        </p:blipFill>
        <p:spPr>
          <a:xfrm>
            <a:off x="3170321" y="5257601"/>
            <a:ext cx="123551" cy="179710"/>
          </a:xfrm>
          <a:prstGeom prst="rect">
            <a:avLst/>
          </a:prstGeom>
        </p:spPr>
      </p:pic>
      <p:sp>
        <p:nvSpPr>
          <p:cNvPr id="51" name="TextBox 50"/>
          <p:cNvSpPr txBox="1"/>
          <p:nvPr/>
        </p:nvSpPr>
        <p:spPr>
          <a:xfrm>
            <a:off x="3331117" y="526698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2" name="Picture 51" descr="lock.png"/>
          <p:cNvPicPr>
            <a:picLocks noChangeAspect="1"/>
          </p:cNvPicPr>
          <p:nvPr/>
        </p:nvPicPr>
        <p:blipFill>
          <a:blip r:embed="rId10"/>
          <a:stretch>
            <a:fillRect/>
          </a:stretch>
        </p:blipFill>
        <p:spPr>
          <a:xfrm>
            <a:off x="3856794" y="5257601"/>
            <a:ext cx="123551" cy="179710"/>
          </a:xfrm>
          <a:prstGeom prst="rect">
            <a:avLst/>
          </a:prstGeom>
        </p:spPr>
      </p:pic>
      <p:sp>
        <p:nvSpPr>
          <p:cNvPr id="53" name="TextBox 52"/>
          <p:cNvSpPr txBox="1"/>
          <p:nvPr/>
        </p:nvSpPr>
        <p:spPr>
          <a:xfrm>
            <a:off x="4017590" y="5266989"/>
            <a:ext cx="1782984" cy="179984"/>
          </a:xfrm>
          <a:prstGeom prst="rect">
            <a:avLst/>
          </a:prstGeom>
          <a:noFill/>
        </p:spPr>
        <p:txBody>
          <a:bodyPr wrap="none" lIns="0" rIns="0" tIns="0" bIns="0">
            <a:spAutoFit/>
          </a:bodyPr>
          <a:lstStyle/>
          <a:p>
            <a:r>
              <a:rPr sz="1055" b="0">
                <a:solidFill>
                  <a:srgbClr val="2E2E2E"/>
                </a:solidFill>
                <a:latin typeface="Calibri"/>
              </a:rPr>
              <a:t>share), ahead of 'Wild-caught' (</a:t>
            </a:r>
          </a:p>
        </p:txBody>
      </p:sp>
      <p:pic>
        <p:nvPicPr>
          <p:cNvPr id="54" name="Picture 53" descr="lock.png"/>
          <p:cNvPicPr>
            <a:picLocks noChangeAspect="1"/>
          </p:cNvPicPr>
          <p:nvPr/>
        </p:nvPicPr>
        <p:blipFill>
          <a:blip r:embed="rId10"/>
          <a:stretch>
            <a:fillRect/>
          </a:stretch>
        </p:blipFill>
        <p:spPr>
          <a:xfrm>
            <a:off x="5747656" y="5257601"/>
            <a:ext cx="123551" cy="179710"/>
          </a:xfrm>
          <a:prstGeom prst="rect">
            <a:avLst/>
          </a:prstGeom>
        </p:spPr>
      </p:pic>
      <p:sp>
        <p:nvSpPr>
          <p:cNvPr id="55" name="TextBox 54"/>
          <p:cNvSpPr txBox="1"/>
          <p:nvPr/>
        </p:nvSpPr>
        <p:spPr>
          <a:xfrm>
            <a:off x="5908452" y="526698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6" name="TextBox 55"/>
          <p:cNvSpPr txBox="1"/>
          <p:nvPr/>
        </p:nvSpPr>
        <p:spPr>
          <a:xfrm>
            <a:off x="276225" y="5476204"/>
            <a:ext cx="2064285" cy="179984"/>
          </a:xfrm>
          <a:prstGeom prst="rect">
            <a:avLst/>
          </a:prstGeom>
          <a:noFill/>
        </p:spPr>
        <p:txBody>
          <a:bodyPr wrap="none" lIns="0" rIns="0" tIns="0" bIns="0">
            <a:spAutoFit/>
          </a:bodyPr>
          <a:lstStyle/>
          <a:p>
            <a:r>
              <a:rPr sz="1055" b="0">
                <a:solidFill>
                  <a:srgbClr val="2E2E2E"/>
                </a:solidFill>
                <a:latin typeface="Calibri"/>
              </a:rPr>
              <a:t>▪ By Meat Type, 'Claw Meat' leads at</a:t>
            </a:r>
          </a:p>
        </p:txBody>
      </p:sp>
      <p:pic>
        <p:nvPicPr>
          <p:cNvPr id="57" name="Picture 56" descr="lock.png"/>
          <p:cNvPicPr>
            <a:picLocks noChangeAspect="1"/>
          </p:cNvPicPr>
          <p:nvPr/>
        </p:nvPicPr>
        <p:blipFill>
          <a:blip r:embed="rId10"/>
          <a:stretch>
            <a:fillRect/>
          </a:stretch>
        </p:blipFill>
        <p:spPr>
          <a:xfrm>
            <a:off x="2287591" y="5466816"/>
            <a:ext cx="123551" cy="179710"/>
          </a:xfrm>
          <a:prstGeom prst="rect">
            <a:avLst/>
          </a:prstGeom>
        </p:spPr>
      </p:pic>
      <p:sp>
        <p:nvSpPr>
          <p:cNvPr id="58" name="TextBox 57"/>
          <p:cNvSpPr txBox="1"/>
          <p:nvPr/>
        </p:nvSpPr>
        <p:spPr>
          <a:xfrm>
            <a:off x="2448387" y="5476204"/>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9" name="Picture 58" descr="lock.png"/>
          <p:cNvPicPr>
            <a:picLocks noChangeAspect="1"/>
          </p:cNvPicPr>
          <p:nvPr/>
        </p:nvPicPr>
        <p:blipFill>
          <a:blip r:embed="rId10"/>
          <a:stretch>
            <a:fillRect/>
          </a:stretch>
        </p:blipFill>
        <p:spPr>
          <a:xfrm>
            <a:off x="2974065" y="5466816"/>
            <a:ext cx="123551" cy="179710"/>
          </a:xfrm>
          <a:prstGeom prst="rect">
            <a:avLst/>
          </a:prstGeom>
        </p:spPr>
      </p:pic>
      <p:sp>
        <p:nvSpPr>
          <p:cNvPr id="60" name="TextBox 59"/>
          <p:cNvSpPr txBox="1"/>
          <p:nvPr/>
        </p:nvSpPr>
        <p:spPr>
          <a:xfrm>
            <a:off x="3134861" y="5476204"/>
            <a:ext cx="1822799" cy="179984"/>
          </a:xfrm>
          <a:prstGeom prst="rect">
            <a:avLst/>
          </a:prstGeom>
          <a:noFill/>
        </p:spPr>
        <p:txBody>
          <a:bodyPr wrap="none" lIns="0" rIns="0" tIns="0" bIns="0">
            <a:spAutoFit/>
          </a:bodyPr>
          <a:lstStyle/>
          <a:p>
            <a:r>
              <a:rPr sz="1055" b="0">
                <a:solidFill>
                  <a:srgbClr val="2E2E2E"/>
                </a:solidFill>
                <a:latin typeface="Calibri"/>
              </a:rPr>
              <a:t>share), ahead of 'Special Meat' (</a:t>
            </a:r>
          </a:p>
        </p:txBody>
      </p:sp>
      <p:pic>
        <p:nvPicPr>
          <p:cNvPr id="61" name="Picture 60" descr="lock.png"/>
          <p:cNvPicPr>
            <a:picLocks noChangeAspect="1"/>
          </p:cNvPicPr>
          <p:nvPr/>
        </p:nvPicPr>
        <p:blipFill>
          <a:blip r:embed="rId10"/>
          <a:stretch>
            <a:fillRect/>
          </a:stretch>
        </p:blipFill>
        <p:spPr>
          <a:xfrm>
            <a:off x="4904742" y="5466816"/>
            <a:ext cx="123551" cy="179710"/>
          </a:xfrm>
          <a:prstGeom prst="rect">
            <a:avLst/>
          </a:prstGeom>
        </p:spPr>
      </p:pic>
      <p:sp>
        <p:nvSpPr>
          <p:cNvPr id="62" name="TextBox 61"/>
          <p:cNvSpPr txBox="1"/>
          <p:nvPr/>
        </p:nvSpPr>
        <p:spPr>
          <a:xfrm>
            <a:off x="5065538" y="5476204"/>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3" name="TextBox 62"/>
          <p:cNvSpPr txBox="1"/>
          <p:nvPr/>
        </p:nvSpPr>
        <p:spPr>
          <a:xfrm>
            <a:off x="276225" y="5685419"/>
            <a:ext cx="2049849" cy="179984"/>
          </a:xfrm>
          <a:prstGeom prst="rect">
            <a:avLst/>
          </a:prstGeom>
          <a:noFill/>
        </p:spPr>
        <p:txBody>
          <a:bodyPr wrap="none" lIns="0" rIns="0" tIns="0" bIns="0">
            <a:spAutoFit/>
          </a:bodyPr>
          <a:lstStyle/>
          <a:p>
            <a:r>
              <a:rPr sz="1055" b="0">
                <a:solidFill>
                  <a:srgbClr val="2E2E2E"/>
                </a:solidFill>
                <a:latin typeface="Calibri"/>
              </a:rPr>
              <a:t>▪ By Product Format, 'Fresh' leads at</a:t>
            </a:r>
          </a:p>
        </p:txBody>
      </p:sp>
      <p:pic>
        <p:nvPicPr>
          <p:cNvPr id="64" name="Picture 63" descr="lock.png"/>
          <p:cNvPicPr>
            <a:picLocks noChangeAspect="1"/>
          </p:cNvPicPr>
          <p:nvPr/>
        </p:nvPicPr>
        <p:blipFill>
          <a:blip r:embed="rId10"/>
          <a:stretch>
            <a:fillRect/>
          </a:stretch>
        </p:blipFill>
        <p:spPr>
          <a:xfrm>
            <a:off x="2273156" y="5676031"/>
            <a:ext cx="123551" cy="179710"/>
          </a:xfrm>
          <a:prstGeom prst="rect">
            <a:avLst/>
          </a:prstGeom>
        </p:spPr>
      </p:pic>
      <p:sp>
        <p:nvSpPr>
          <p:cNvPr id="65" name="TextBox 64"/>
          <p:cNvSpPr txBox="1"/>
          <p:nvPr/>
        </p:nvSpPr>
        <p:spPr>
          <a:xfrm>
            <a:off x="2433952" y="568541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6" name="Picture 65" descr="lock.png"/>
          <p:cNvPicPr>
            <a:picLocks noChangeAspect="1"/>
          </p:cNvPicPr>
          <p:nvPr/>
        </p:nvPicPr>
        <p:blipFill>
          <a:blip r:embed="rId10"/>
          <a:stretch>
            <a:fillRect/>
          </a:stretch>
        </p:blipFill>
        <p:spPr>
          <a:xfrm>
            <a:off x="2959630" y="5676031"/>
            <a:ext cx="123551" cy="179710"/>
          </a:xfrm>
          <a:prstGeom prst="rect">
            <a:avLst/>
          </a:prstGeom>
        </p:spPr>
      </p:pic>
      <p:sp>
        <p:nvSpPr>
          <p:cNvPr id="67" name="TextBox 66"/>
          <p:cNvSpPr txBox="1"/>
          <p:nvPr/>
        </p:nvSpPr>
        <p:spPr>
          <a:xfrm>
            <a:off x="3120426" y="5685419"/>
            <a:ext cx="1756267" cy="179984"/>
          </a:xfrm>
          <a:prstGeom prst="rect">
            <a:avLst/>
          </a:prstGeom>
          <a:noFill/>
        </p:spPr>
        <p:txBody>
          <a:bodyPr wrap="none" lIns="0" rIns="0" tIns="0" bIns="0">
            <a:spAutoFit/>
          </a:bodyPr>
          <a:lstStyle/>
          <a:p>
            <a:r>
              <a:rPr sz="1055" b="0">
                <a:solidFill>
                  <a:srgbClr val="2E2E2E"/>
                </a:solidFill>
                <a:latin typeface="Calibri"/>
              </a:rPr>
              <a:t>share), ahead of 'Pasteurized' (</a:t>
            </a:r>
          </a:p>
        </p:txBody>
      </p:sp>
      <p:pic>
        <p:nvPicPr>
          <p:cNvPr id="68" name="Picture 67" descr="lock.png"/>
          <p:cNvPicPr>
            <a:picLocks noChangeAspect="1"/>
          </p:cNvPicPr>
          <p:nvPr/>
        </p:nvPicPr>
        <p:blipFill>
          <a:blip r:embed="rId10"/>
          <a:stretch>
            <a:fillRect/>
          </a:stretch>
        </p:blipFill>
        <p:spPr>
          <a:xfrm>
            <a:off x="4823774" y="5676031"/>
            <a:ext cx="123551" cy="179710"/>
          </a:xfrm>
          <a:prstGeom prst="rect">
            <a:avLst/>
          </a:prstGeom>
        </p:spPr>
      </p:pic>
      <p:sp>
        <p:nvSpPr>
          <p:cNvPr id="69" name="TextBox 68"/>
          <p:cNvSpPr txBox="1"/>
          <p:nvPr/>
        </p:nvSpPr>
        <p:spPr>
          <a:xfrm>
            <a:off x="4984570" y="568541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0" name="TextBox 69"/>
          <p:cNvSpPr txBox="1"/>
          <p:nvPr/>
        </p:nvSpPr>
        <p:spPr>
          <a:xfrm>
            <a:off x="276225" y="5894633"/>
            <a:ext cx="2082096" cy="179984"/>
          </a:xfrm>
          <a:prstGeom prst="rect">
            <a:avLst/>
          </a:prstGeom>
          <a:noFill/>
        </p:spPr>
        <p:txBody>
          <a:bodyPr wrap="none" lIns="0" rIns="0" tIns="0" bIns="0">
            <a:spAutoFit/>
          </a:bodyPr>
          <a:lstStyle/>
          <a:p>
            <a:r>
              <a:rPr sz="1055" b="0">
                <a:solidFill>
                  <a:srgbClr val="2E2E2E"/>
                </a:solidFill>
                <a:latin typeface="Calibri"/>
              </a:rPr>
              <a:t>▪ By Product Claim, 'Organic' leads at</a:t>
            </a:r>
          </a:p>
        </p:txBody>
      </p:sp>
      <p:pic>
        <p:nvPicPr>
          <p:cNvPr id="71" name="Picture 70" descr="lock.png"/>
          <p:cNvPicPr>
            <a:picLocks noChangeAspect="1"/>
          </p:cNvPicPr>
          <p:nvPr/>
        </p:nvPicPr>
        <p:blipFill>
          <a:blip r:embed="rId10"/>
          <a:stretch>
            <a:fillRect/>
          </a:stretch>
        </p:blipFill>
        <p:spPr>
          <a:xfrm>
            <a:off x="2305403" y="5885246"/>
            <a:ext cx="123551" cy="179710"/>
          </a:xfrm>
          <a:prstGeom prst="rect">
            <a:avLst/>
          </a:prstGeom>
        </p:spPr>
      </p:pic>
      <p:sp>
        <p:nvSpPr>
          <p:cNvPr id="72" name="TextBox 71"/>
          <p:cNvSpPr txBox="1"/>
          <p:nvPr/>
        </p:nvSpPr>
        <p:spPr>
          <a:xfrm>
            <a:off x="2466199" y="5894633"/>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3" name="Picture 72" descr="lock.png"/>
          <p:cNvPicPr>
            <a:picLocks noChangeAspect="1"/>
          </p:cNvPicPr>
          <p:nvPr/>
        </p:nvPicPr>
        <p:blipFill>
          <a:blip r:embed="rId10"/>
          <a:stretch>
            <a:fillRect/>
          </a:stretch>
        </p:blipFill>
        <p:spPr>
          <a:xfrm>
            <a:off x="2991877" y="5885246"/>
            <a:ext cx="123551" cy="179710"/>
          </a:xfrm>
          <a:prstGeom prst="rect">
            <a:avLst/>
          </a:prstGeom>
        </p:spPr>
      </p:pic>
      <p:sp>
        <p:nvSpPr>
          <p:cNvPr id="74" name="TextBox 73"/>
          <p:cNvSpPr txBox="1"/>
          <p:nvPr/>
        </p:nvSpPr>
        <p:spPr>
          <a:xfrm>
            <a:off x="3152673" y="5894633"/>
            <a:ext cx="3435548" cy="179984"/>
          </a:xfrm>
          <a:prstGeom prst="rect">
            <a:avLst/>
          </a:prstGeom>
          <a:noFill/>
        </p:spPr>
        <p:txBody>
          <a:bodyPr wrap="none" lIns="0" rIns="0" tIns="0" bIns="0">
            <a:spAutoFit/>
          </a:bodyPr>
          <a:lstStyle/>
          <a:p>
            <a:r>
              <a:rPr sz="1055" b="0">
                <a:solidFill>
                  <a:srgbClr val="2E2E2E"/>
                </a:solidFill>
                <a:latin typeface="Calibri"/>
              </a:rPr>
              <a:t>share), ahead of 'Freshly Pasteurized for Extended Shelf Life' (</a:t>
            </a:r>
          </a:p>
        </p:txBody>
      </p:sp>
      <p:pic>
        <p:nvPicPr>
          <p:cNvPr id="75" name="Picture 74" descr="lock.png"/>
          <p:cNvPicPr>
            <a:picLocks noChangeAspect="1"/>
          </p:cNvPicPr>
          <p:nvPr/>
        </p:nvPicPr>
        <p:blipFill>
          <a:blip r:embed="rId10"/>
          <a:stretch>
            <a:fillRect/>
          </a:stretch>
        </p:blipFill>
        <p:spPr>
          <a:xfrm>
            <a:off x="6535303" y="5885246"/>
            <a:ext cx="123551" cy="179710"/>
          </a:xfrm>
          <a:prstGeom prst="rect">
            <a:avLst/>
          </a:prstGeom>
        </p:spPr>
      </p:pic>
      <p:sp>
        <p:nvSpPr>
          <p:cNvPr id="76" name="TextBox 75"/>
          <p:cNvSpPr txBox="1"/>
          <p:nvPr/>
        </p:nvSpPr>
        <p:spPr>
          <a:xfrm>
            <a:off x="6696099" y="5894633"/>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7" name="TextBox 76"/>
          <p:cNvSpPr txBox="1"/>
          <p:nvPr/>
        </p:nvSpPr>
        <p:spPr>
          <a:xfrm>
            <a:off x="276225" y="6103848"/>
            <a:ext cx="2328580" cy="179984"/>
          </a:xfrm>
          <a:prstGeom prst="rect">
            <a:avLst/>
          </a:prstGeom>
          <a:noFill/>
        </p:spPr>
        <p:txBody>
          <a:bodyPr wrap="none" lIns="0" rIns="0" tIns="0" bIns="0">
            <a:spAutoFit/>
          </a:bodyPr>
          <a:lstStyle/>
          <a:p>
            <a:r>
              <a:rPr sz="1055" b="0">
                <a:solidFill>
                  <a:srgbClr val="2E2E2E"/>
                </a:solidFill>
                <a:latin typeface="Calibri"/>
              </a:rPr>
              <a:t>▪ By Distribution Channel, 'Retail' leads at</a:t>
            </a:r>
          </a:p>
        </p:txBody>
      </p:sp>
      <p:pic>
        <p:nvPicPr>
          <p:cNvPr id="78" name="Picture 77" descr="lock.png"/>
          <p:cNvPicPr>
            <a:picLocks noChangeAspect="1"/>
          </p:cNvPicPr>
          <p:nvPr/>
        </p:nvPicPr>
        <p:blipFill>
          <a:blip r:embed="rId10"/>
          <a:stretch>
            <a:fillRect/>
          </a:stretch>
        </p:blipFill>
        <p:spPr>
          <a:xfrm>
            <a:off x="2551886" y="6094460"/>
            <a:ext cx="123551" cy="179710"/>
          </a:xfrm>
          <a:prstGeom prst="rect">
            <a:avLst/>
          </a:prstGeom>
        </p:spPr>
      </p:pic>
      <p:sp>
        <p:nvSpPr>
          <p:cNvPr id="79" name="TextBox 78"/>
          <p:cNvSpPr txBox="1"/>
          <p:nvPr/>
        </p:nvSpPr>
        <p:spPr>
          <a:xfrm>
            <a:off x="2712682" y="6103848"/>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80" name="Picture 79" descr="lock.png"/>
          <p:cNvPicPr>
            <a:picLocks noChangeAspect="1"/>
          </p:cNvPicPr>
          <p:nvPr/>
        </p:nvPicPr>
        <p:blipFill>
          <a:blip r:embed="rId10"/>
          <a:stretch>
            <a:fillRect/>
          </a:stretch>
        </p:blipFill>
        <p:spPr>
          <a:xfrm>
            <a:off x="3238360" y="6094460"/>
            <a:ext cx="123551" cy="179710"/>
          </a:xfrm>
          <a:prstGeom prst="rect">
            <a:avLst/>
          </a:prstGeom>
        </p:spPr>
      </p:pic>
      <p:sp>
        <p:nvSpPr>
          <p:cNvPr id="81" name="TextBox 80"/>
          <p:cNvSpPr txBox="1"/>
          <p:nvPr/>
        </p:nvSpPr>
        <p:spPr>
          <a:xfrm>
            <a:off x="3399156" y="6103848"/>
            <a:ext cx="1814126" cy="179984"/>
          </a:xfrm>
          <a:prstGeom prst="rect">
            <a:avLst/>
          </a:prstGeom>
          <a:noFill/>
        </p:spPr>
        <p:txBody>
          <a:bodyPr wrap="none" lIns="0" rIns="0" tIns="0" bIns="0">
            <a:spAutoFit/>
          </a:bodyPr>
          <a:lstStyle/>
          <a:p>
            <a:r>
              <a:rPr sz="1055" b="0">
                <a:solidFill>
                  <a:srgbClr val="2E2E2E"/>
                </a:solidFill>
                <a:latin typeface="Calibri"/>
              </a:rPr>
              <a:t>share), ahead of 'Food Service' (</a:t>
            </a:r>
          </a:p>
        </p:txBody>
      </p:sp>
      <p:pic>
        <p:nvPicPr>
          <p:cNvPr id="82" name="Picture 81" descr="lock.png"/>
          <p:cNvPicPr>
            <a:picLocks noChangeAspect="1"/>
          </p:cNvPicPr>
          <p:nvPr/>
        </p:nvPicPr>
        <p:blipFill>
          <a:blip r:embed="rId10"/>
          <a:stretch>
            <a:fillRect/>
          </a:stretch>
        </p:blipFill>
        <p:spPr>
          <a:xfrm>
            <a:off x="5160364" y="6094460"/>
            <a:ext cx="123551" cy="179710"/>
          </a:xfrm>
          <a:prstGeom prst="rect">
            <a:avLst/>
          </a:prstGeom>
        </p:spPr>
      </p:pic>
      <p:sp>
        <p:nvSpPr>
          <p:cNvPr id="83" name="TextBox 82"/>
          <p:cNvSpPr txBox="1"/>
          <p:nvPr/>
        </p:nvSpPr>
        <p:spPr>
          <a:xfrm>
            <a:off x="5321160" y="6103848"/>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84" name="TextBox 83"/>
          <p:cNvSpPr txBox="1"/>
          <p:nvPr/>
        </p:nvSpPr>
        <p:spPr>
          <a:xfrm>
            <a:off x="276225" y="6313063"/>
            <a:ext cx="6413777" cy="179984"/>
          </a:xfrm>
          <a:prstGeom prst="rect">
            <a:avLst/>
          </a:prstGeom>
          <a:noFill/>
        </p:spPr>
        <p:txBody>
          <a:bodyPr wrap="none" lIns="0" rIns="0" tIns="0" bIns="0">
            <a:spAutoFit/>
          </a:bodyPr>
          <a:lstStyle/>
          <a:p>
            <a:r>
              <a:rPr sz="1055" b="0">
                <a:solidFill>
                  <a:srgbClr val="2E2E2E"/>
                </a:solidFill>
                <a:latin typeface="Calibri"/>
              </a:rPr>
              <a:t>▪ Use the Country slicer in the top band to switch country the selection stays synced across every page of the report.</a:t>
            </a:r>
          </a:p>
        </p:txBody>
      </p:sp>
      <p:sp>
        <p:nvSpPr>
          <p:cNvPr id="85" name="lockshield_12"/>
          <p:cNvSpPr/>
          <p:nvPr/>
        </p:nvSpPr>
        <p:spPr>
          <a:xfrm>
            <a:off x="2381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ockshield_15"/>
          <p:cNvSpPr/>
          <p:nvPr/>
        </p:nvSpPr>
        <p:spPr>
          <a:xfrm>
            <a:off x="32480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ockshield_18"/>
          <p:cNvSpPr/>
          <p:nvPr/>
        </p:nvSpPr>
        <p:spPr>
          <a:xfrm>
            <a:off x="62579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ockshield_21"/>
          <p:cNvSpPr/>
          <p:nvPr/>
        </p:nvSpPr>
        <p:spPr>
          <a:xfrm>
            <a:off x="92678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ockshield_24"/>
          <p:cNvSpPr/>
          <p:nvPr/>
        </p:nvSpPr>
        <p:spPr>
          <a:xfrm>
            <a:off x="2381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ockshield_27"/>
          <p:cNvSpPr/>
          <p:nvPr/>
        </p:nvSpPr>
        <p:spPr>
          <a:xfrm>
            <a:off x="33242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Crab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Meat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Claim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Distribution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Crab Species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Crab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Crab Species: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Crab Species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Crab Species</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619305"/>
                <a:gridCol w="814165"/>
                <a:gridCol w="814165"/>
                <a:gridCol w="1028203"/>
                <a:gridCol w="582036"/>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Blue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King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Snow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Dungeness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Mud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Other commercially traded crab species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Crab Species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34098" y="2238290"/>
            <a:ext cx="365781" cy="532045"/>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Crab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Crab Species,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Crab Species (US$ Mn)</a:t>
            </a:r>
          </a:p>
        </p:txBody>
      </p:sp>
      <p:graphicFrame>
        <p:nvGraphicFramePr>
          <p:cNvPr id="16" name="Table 15"/>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2792387"/>
                <a:gridCol w="546312"/>
                <a:gridCol w="546312"/>
                <a:gridCol w="546312"/>
                <a:gridCol w="546312"/>
                <a:gridCol w="546312"/>
                <a:gridCol w="527067"/>
                <a:gridCol w="521569"/>
                <a:gridCol w="521569"/>
                <a:gridCol w="521569"/>
                <a:gridCol w="521569"/>
                <a:gridCol w="521569"/>
                <a:gridCol w="521569"/>
                <a:gridCol w="521569"/>
                <a:gridCol w="521569"/>
                <a:gridCol w="521569"/>
                <a:gridCol w="521569"/>
                <a:gridCol w="620496"/>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Blue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King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Snow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Dungeness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Mud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commercially traded crab species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05503" y="2080450"/>
            <a:ext cx="366712" cy="533400"/>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Source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Source: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Source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Source</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2654559"/>
                <a:gridCol w="805303"/>
                <a:gridCol w="805303"/>
                <a:gridCol w="1017011"/>
                <a:gridCol w="575700"/>
              </a:tblGrid>
              <a:tr h="246126">
                <a:tc>
                  <a:txBody>
                    <a:bodyPr wrap="none"/>
                    <a:lstStyle/>
                    <a:p>
                      <a:pPr algn="l"/>
                      <a:r>
                        <a:rPr sz="1100" b="1">
                          <a:solidFill>
                            <a:srgbClr val="0B2E4A"/>
                          </a:solidFill>
                          <a:latin typeface="Calibri"/>
                        </a:rPr>
                        <a:t>Source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Wild-caught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Aquaculture / fattened / cultured supply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Imported processed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Source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52742" y="2239742"/>
            <a:ext cx="363784" cy="529141"/>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Source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Source, 2021–2036</a:t>
            </a:r>
          </a:p>
        </p:txBody>
      </p:sp>
      <p:sp>
        <p:nvSpPr>
          <p:cNvPr id="14" name="Rounded Rectangle 13"/>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Source (US$ Mn)</a:t>
            </a:r>
          </a:p>
        </p:txBody>
      </p:sp>
      <p:graphicFrame>
        <p:nvGraphicFramePr>
          <p:cNvPr id="16" name="Table 15"/>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2844669"/>
                <a:gridCol w="543171"/>
                <a:gridCol w="543171"/>
                <a:gridCol w="543171"/>
                <a:gridCol w="543171"/>
                <a:gridCol w="543171"/>
                <a:gridCol w="524038"/>
                <a:gridCol w="518571"/>
                <a:gridCol w="518571"/>
                <a:gridCol w="518571"/>
                <a:gridCol w="518571"/>
                <a:gridCol w="518571"/>
                <a:gridCol w="518571"/>
                <a:gridCol w="518571"/>
                <a:gridCol w="518571"/>
                <a:gridCol w="518571"/>
                <a:gridCol w="518571"/>
                <a:gridCol w="616929"/>
              </a:tblGrid>
              <a:tr h="246126">
                <a:tc>
                  <a:txBody>
                    <a:bodyPr wrap="none"/>
                    <a:lstStyle/>
                    <a:p>
                      <a:pPr algn="l"/>
                      <a:r>
                        <a:rPr sz="1100" b="1">
                          <a:solidFill>
                            <a:srgbClr val="0B2E4A"/>
                          </a:solidFill>
                          <a:latin typeface="Calibri"/>
                        </a:rPr>
                        <a:t>Source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Wild-caught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Aquaculture / fattened / cultured supply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Imported processed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31645" y="1713737"/>
            <a:ext cx="366712" cy="5334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Meat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Meat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Meat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Meat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Meat Type</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1164512"/>
                <a:gridCol w="1173341"/>
                <a:gridCol w="1173341"/>
                <a:gridCol w="1173341"/>
                <a:gridCol w="1173341"/>
              </a:tblGrid>
              <a:tr h="246126">
                <a:tc>
                  <a:txBody>
                    <a:bodyPr wrap="none"/>
                    <a:lstStyle/>
                    <a:p>
                      <a:pPr algn="l"/>
                      <a:r>
                        <a:rPr sz="1100" b="1">
                          <a:solidFill>
                            <a:srgbClr val="0B2E4A"/>
                          </a:solidFill>
                          <a:latin typeface="Calibri"/>
                        </a:rPr>
                        <a:t>Meat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Jumbo Lump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Lump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Backfin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Special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Claw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Crab Leg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Meat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0622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Meat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Meat Type,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Meat Type (US$ Mn)</a:t>
            </a:r>
          </a:p>
        </p:txBody>
      </p:sp>
      <p:graphicFrame>
        <p:nvGraphicFramePr>
          <p:cNvPr id="16" name="Table 15"/>
          <p:cNvGraphicFramePr>
            <a:graphicFrameLocks noGrp="1"/>
          </p:cNvGraphicFramePr>
          <p:nvPr/>
        </p:nvGraphicFramePr>
        <p:xfrm>
          <a:off x="152400" y="1238250"/>
          <a:ext cx="11887193" cy="1971675"/>
        </p:xfrm>
        <a:graphic>
          <a:graphicData uri="http://schemas.openxmlformats.org/drawingml/2006/table">
            <a:tbl>
              <a:tblPr>
                <a:tableStyleId>{5C22544A-7EE6-4342-B048-85BDC9FD1C3A}</a:tableStyleId>
              </a:tblPr>
              <a:tblGrid>
                <a:gridCol w="1111352"/>
                <a:gridCol w="633873"/>
                <a:gridCol w="633873"/>
                <a:gridCol w="633873"/>
                <a:gridCol w="633873"/>
                <a:gridCol w="633873"/>
                <a:gridCol w="633873"/>
                <a:gridCol w="633873"/>
                <a:gridCol w="633873"/>
                <a:gridCol w="633873"/>
                <a:gridCol w="633873"/>
                <a:gridCol w="633873"/>
                <a:gridCol w="633873"/>
                <a:gridCol w="633873"/>
                <a:gridCol w="633873"/>
                <a:gridCol w="633873"/>
                <a:gridCol w="633873"/>
                <a:gridCol w="633873"/>
              </a:tblGrid>
              <a:tr h="246126">
                <a:tc>
                  <a:txBody>
                    <a:bodyPr wrap="none"/>
                    <a:lstStyle/>
                    <a:p>
                      <a:pPr algn="l"/>
                      <a:r>
                        <a:rPr sz="1100" b="1">
                          <a:solidFill>
                            <a:srgbClr val="0B2E4A"/>
                          </a:solidFill>
                          <a:latin typeface="Calibri"/>
                        </a:rPr>
                        <a:t>Meat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Jumbo Lump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Lump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Backfin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Claw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Crab Leg Meat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464982" y="2080450"/>
            <a:ext cx="366712" cy="533400"/>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Product Format: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Format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Format</a:t>
            </a:r>
          </a:p>
        </p:txBody>
      </p:sp>
      <p:graphicFrame>
        <p:nvGraphicFramePr>
          <p:cNvPr id="15" name="Table 14"/>
          <p:cNvGraphicFramePr>
            <a:graphicFrameLocks noGrp="1"/>
          </p:cNvGraphicFramePr>
          <p:nvPr/>
        </p:nvGraphicFramePr>
        <p:xfrm>
          <a:off x="6181725" y="1238250"/>
          <a:ext cx="5857876" cy="2285998"/>
        </p:xfrm>
        <a:graphic>
          <a:graphicData uri="http://schemas.openxmlformats.org/drawingml/2006/table">
            <a:tbl>
              <a:tblPr>
                <a:tableStyleId>{5C22544A-7EE6-4342-B048-85BDC9FD1C3A}</a:tableStyleId>
              </a:tblPr>
              <a:tblGrid>
                <a:gridCol w="1234160"/>
                <a:gridCol w="1155929"/>
                <a:gridCol w="1155929"/>
                <a:gridCol w="1155929"/>
                <a:gridCol w="1155929"/>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Fresh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Frozen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Canned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Pasteurized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Format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41053" y="2237612"/>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Product Format,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Product Format (US$ Mn)</a:t>
            </a:r>
          </a:p>
        </p:txBody>
      </p:sp>
      <p:graphicFrame>
        <p:nvGraphicFramePr>
          <p:cNvPr id="16" name="Table 15"/>
          <p:cNvGraphicFramePr>
            <a:graphicFrameLocks noGrp="1"/>
          </p:cNvGraphicFramePr>
          <p:nvPr/>
        </p:nvGraphicFramePr>
        <p:xfrm>
          <a:off x="152400" y="1238250"/>
          <a:ext cx="11887207" cy="1485896"/>
        </p:xfrm>
        <a:graphic>
          <a:graphicData uri="http://schemas.openxmlformats.org/drawingml/2006/table">
            <a:tbl>
              <a:tblPr>
                <a:tableStyleId>{5C22544A-7EE6-4342-B048-85BDC9FD1C3A}</a:tableStyleId>
              </a:tblPr>
              <a:tblGrid>
                <a:gridCol w="1187152"/>
                <a:gridCol w="629415"/>
                <a:gridCol w="629415"/>
                <a:gridCol w="629415"/>
                <a:gridCol w="629415"/>
                <a:gridCol w="629415"/>
                <a:gridCol w="629415"/>
                <a:gridCol w="629415"/>
                <a:gridCol w="629415"/>
                <a:gridCol w="629415"/>
                <a:gridCol w="629415"/>
                <a:gridCol w="629415"/>
                <a:gridCol w="629415"/>
                <a:gridCol w="629415"/>
                <a:gridCol w="629415"/>
                <a:gridCol w="629415"/>
                <a:gridCol w="629415"/>
                <a:gridCol w="62941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Fresh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Frozen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Canned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Pasteurized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02889" y="1837563"/>
            <a:ext cx="366712" cy="533400"/>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Claim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Product Claim</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Product Claim: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Claim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Claim</a:t>
            </a:r>
          </a:p>
        </p:txBody>
      </p:sp>
      <p:graphicFrame>
        <p:nvGraphicFramePr>
          <p:cNvPr id="15" name="Table 14"/>
          <p:cNvGraphicFramePr>
            <a:graphicFrameLocks noGrp="1"/>
          </p:cNvGraphicFramePr>
          <p:nvPr/>
        </p:nvGraphicFramePr>
        <p:xfrm>
          <a:off x="6181725" y="1238250"/>
          <a:ext cx="5857875" cy="2286001"/>
        </p:xfrm>
        <a:graphic>
          <a:graphicData uri="http://schemas.openxmlformats.org/drawingml/2006/table">
            <a:tbl>
              <a:tblPr>
                <a:tableStyleId>{5C22544A-7EE6-4342-B048-85BDC9FD1C3A}</a:tableStyleId>
              </a:tblPr>
              <a:tblGrid>
                <a:gridCol w="2714778"/>
                <a:gridCol w="790164"/>
                <a:gridCol w="790164"/>
                <a:gridCol w="997892"/>
                <a:gridCol w="564877"/>
              </a:tblGrid>
              <a:tr h="246126">
                <a:tc>
                  <a:txBody>
                    <a:bodyPr wrap="none"/>
                    <a:lstStyle/>
                    <a:p>
                      <a:pPr algn="l"/>
                      <a:r>
                        <a:rPr sz="1100" b="1">
                          <a:solidFill>
                            <a:srgbClr val="0B2E4A"/>
                          </a:solidFill>
                          <a:latin typeface="Calibri"/>
                        </a:rPr>
                        <a:t>Product Claim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Organic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Sustainably Sourced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100% Pure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High Protein / Omega-3 Rich</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Freshly Pasteurized for Extended Shelf Life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Claim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84600" y="2242241"/>
            <a:ext cx="360349" cy="524144"/>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Product Claim</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Product Claim,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Product Claim (US$ Mn)</a:t>
            </a:r>
          </a:p>
        </p:txBody>
      </p:sp>
      <p:graphicFrame>
        <p:nvGraphicFramePr>
          <p:cNvPr id="16" name="Table 15"/>
          <p:cNvGraphicFramePr>
            <a:graphicFrameLocks noGrp="1"/>
          </p:cNvGraphicFramePr>
          <p:nvPr/>
        </p:nvGraphicFramePr>
        <p:xfrm>
          <a:off x="152400" y="1238250"/>
          <a:ext cx="11887204" cy="1724022"/>
        </p:xfrm>
        <a:graphic>
          <a:graphicData uri="http://schemas.openxmlformats.org/drawingml/2006/table">
            <a:tbl>
              <a:tblPr>
                <a:tableStyleId>{5C22544A-7EE6-4342-B048-85BDC9FD1C3A}</a:tableStyleId>
              </a:tblPr>
              <a:tblGrid>
                <a:gridCol w="2935240"/>
                <a:gridCol w="537731"/>
                <a:gridCol w="537731"/>
                <a:gridCol w="537731"/>
                <a:gridCol w="537731"/>
                <a:gridCol w="537731"/>
                <a:gridCol w="518789"/>
                <a:gridCol w="513377"/>
                <a:gridCol w="513377"/>
                <a:gridCol w="513377"/>
                <a:gridCol w="513377"/>
                <a:gridCol w="513377"/>
                <a:gridCol w="513377"/>
                <a:gridCol w="513377"/>
                <a:gridCol w="513377"/>
                <a:gridCol w="513377"/>
                <a:gridCol w="513377"/>
                <a:gridCol w="610750"/>
              </a:tblGrid>
              <a:tr h="246126">
                <a:tc>
                  <a:txBody>
                    <a:bodyPr wrap="none"/>
                    <a:lstStyle/>
                    <a:p>
                      <a:pPr algn="l"/>
                      <a:r>
                        <a:rPr sz="1100" b="1">
                          <a:solidFill>
                            <a:srgbClr val="0B2E4A"/>
                          </a:solidFill>
                          <a:latin typeface="Calibri"/>
                        </a:rPr>
                        <a:t>Product Claim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Organic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Sustainably Sourced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100% Pure Crab Meat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High Protein / Omega-3 Rich</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Freshly Pasteurized for Extended Shelf Life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76932" y="1956623"/>
            <a:ext cx="366712" cy="533400"/>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Segmental Analysis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Distribution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Distribution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Distribution Channel</a:t>
            </a:r>
          </a:p>
        </p:txBody>
      </p:sp>
      <p:graphicFrame>
        <p:nvGraphicFramePr>
          <p:cNvPr id="15" name="Table 14"/>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1784539"/>
                <a:gridCol w="1018334"/>
                <a:gridCol w="1018334"/>
                <a:gridCol w="1018334"/>
                <a:gridCol w="1018334"/>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Industrial / B2B processing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Food Service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Travel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16242" y="2237612"/>
            <a:ext cx="366712" cy="533399"/>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Crab Meat Market Tables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Distribution Channel, 2021–2036</a:t>
            </a:r>
          </a:p>
        </p:txBody>
      </p:sp>
      <p:sp>
        <p:nvSpPr>
          <p:cNvPr id="10" name="Rounded Rectangle 9"/>
          <p:cNvSpPr/>
          <p:nvPr/>
        </p:nvSpPr>
        <p:spPr>
          <a:xfrm>
            <a:off x="142875" y="981075"/>
            <a:ext cx="11906250" cy="5143500"/>
          </a:xfrm>
          <a:prstGeom prst="roundRect">
            <a:avLst>
              <a:gd name="adj" fmla="val 14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Distribution Channel (US$ Mn)</a:t>
            </a:r>
          </a:p>
        </p:txBody>
      </p:sp>
      <p:graphicFrame>
        <p:nvGraphicFramePr>
          <p:cNvPr id="12" name="Table 11"/>
          <p:cNvGraphicFramePr>
            <a:graphicFrameLocks noGrp="1"/>
          </p:cNvGraphicFramePr>
          <p:nvPr/>
        </p:nvGraphicFramePr>
        <p:xfrm>
          <a:off x="152400" y="1238250"/>
          <a:ext cx="11887206" cy="4676772"/>
        </p:xfrm>
        <a:graphic>
          <a:graphicData uri="http://schemas.openxmlformats.org/drawingml/2006/table">
            <a:tbl>
              <a:tblPr>
                <a:tableStyleId>{5C22544A-7EE6-4342-B048-85BDC9FD1C3A}</a:tableStyleId>
              </a:tblPr>
              <a:tblGrid>
                <a:gridCol w="2005514"/>
                <a:gridCol w="581276"/>
                <a:gridCol w="581276"/>
                <a:gridCol w="581276"/>
                <a:gridCol w="581276"/>
                <a:gridCol w="581276"/>
                <a:gridCol w="581276"/>
                <a:gridCol w="581276"/>
                <a:gridCol w="581276"/>
                <a:gridCol w="581276"/>
                <a:gridCol w="581276"/>
                <a:gridCol w="581276"/>
                <a:gridCol w="581276"/>
                <a:gridCol w="581276"/>
                <a:gridCol w="581276"/>
                <a:gridCol w="581276"/>
                <a:gridCol w="581276"/>
                <a:gridCol w="58127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47">
                <a:tc>
                  <a:txBody>
                    <a:bodyPr wrap="none"/>
                    <a:lstStyle/>
                    <a:p>
                      <a:pPr algn="l"/>
                      <a:r>
                        <a:rPr sz="1100" b="1">
                          <a:solidFill>
                            <a:srgbClr val="2E2E2E"/>
                          </a:solidFill>
                          <a:latin typeface="Calibri"/>
                        </a:rPr>
                        <a:t>Industrial / B2B processing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Food Service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HoReCa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Quick service restaurants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Sandwicheries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Fast casual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Cafés and Coffee shops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Institutional / Hospitals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Hypermarket / Supermarket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Convenience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Departmental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Grocery Retailers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Specialty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Discount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Online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Travel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912070" y="3432998"/>
            <a:ext cx="366712" cy="533400"/>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2737.4</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4450.6</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6163.8</a:t>
            </a:r>
          </a:p>
        </p:txBody>
      </p:sp>
      <p:cxnSp>
        <p:nvCxnSpPr>
          <p:cNvPr id="16" name="Connector 15"/>
          <p:cNvCxnSpPr/>
          <p:nvPr/>
        </p:nvCxnSpPr>
        <p:spPr>
          <a:xfrm>
            <a:off x="1241425" y="2012422"/>
            <a:ext cx="0" cy="27903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022350" y="2012422"/>
            <a:ext cx="438150" cy="27903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1860022"/>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Blue Crab</a:t>
            </a:r>
          </a:p>
        </p:txBody>
      </p:sp>
      <p:cxnSp>
        <p:nvCxnSpPr>
          <p:cNvPr id="20" name="Connector 19"/>
          <p:cNvCxnSpPr/>
          <p:nvPr/>
        </p:nvCxnSpPr>
        <p:spPr>
          <a:xfrm>
            <a:off x="2409825" y="3163282"/>
            <a:ext cx="0" cy="16443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190750" y="3163282"/>
            <a:ext cx="438150" cy="16443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5625" y="3010882"/>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8256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King Crab</a:t>
            </a:r>
          </a:p>
        </p:txBody>
      </p:sp>
      <p:cxnSp>
        <p:nvCxnSpPr>
          <p:cNvPr id="24" name="Connector 23"/>
          <p:cNvCxnSpPr/>
          <p:nvPr/>
        </p:nvCxnSpPr>
        <p:spPr>
          <a:xfrm>
            <a:off x="3578225" y="1927636"/>
            <a:ext cx="0" cy="29221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359150" y="1927636"/>
            <a:ext cx="438150" cy="29221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94025" y="177523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9940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Snow Crab</a:t>
            </a:r>
          </a:p>
        </p:txBody>
      </p:sp>
      <p:cxnSp>
        <p:nvCxnSpPr>
          <p:cNvPr id="28" name="Connector 27"/>
          <p:cNvCxnSpPr/>
          <p:nvPr/>
        </p:nvCxnSpPr>
        <p:spPr>
          <a:xfrm>
            <a:off x="4746625" y="2650482"/>
            <a:ext cx="0" cy="21999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27550" y="2650482"/>
            <a:ext cx="438150" cy="21999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2425" y="2498082"/>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41624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Dungeness Crab</a:t>
            </a:r>
          </a:p>
        </p:txBody>
      </p:sp>
      <p:cxnSp>
        <p:nvCxnSpPr>
          <p:cNvPr id="32" name="Connector 31"/>
          <p:cNvCxnSpPr/>
          <p:nvPr/>
        </p:nvCxnSpPr>
        <p:spPr>
          <a:xfrm>
            <a:off x="5915025" y="2585537"/>
            <a:ext cx="0" cy="21528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95950" y="2585537"/>
            <a:ext cx="438150" cy="21528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30825" y="243313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53308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Mud Crab</a:t>
            </a:r>
          </a:p>
        </p:txBody>
      </p:sp>
      <p:cxnSp>
        <p:nvCxnSpPr>
          <p:cNvPr id="36" name="Connector 35"/>
          <p:cNvCxnSpPr/>
          <p:nvPr/>
        </p:nvCxnSpPr>
        <p:spPr>
          <a:xfrm>
            <a:off x="7083425" y="2671106"/>
            <a:ext cx="0" cy="22607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64350" y="2671106"/>
            <a:ext cx="438150" cy="22607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9225" y="251870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6499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Other commercially tr…</a:t>
            </a:r>
          </a:p>
        </p:txBody>
      </p:sp>
      <p:sp>
        <p:nvSpPr>
          <p:cNvPr id="40" name="Rounded Rectangle 39"/>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42" name="Connector 41"/>
          <p:cNvCxnSpPr/>
          <p:nvPr/>
        </p:nvCxnSpPr>
        <p:spPr>
          <a:xfrm>
            <a:off x="619125" y="452283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488606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61253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597576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522832"/>
            <a:ext cx="0" cy="145293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52283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488606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61253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597576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3" name="FMI Scale tick"/>
          <p:cNvSpPr txBox="1"/>
          <p:nvPr/>
        </p:nvSpPr>
        <p:spPr>
          <a:xfrm>
            <a:off x="219075" y="4456157"/>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54" name="FMI Scale tick"/>
          <p:cNvSpPr txBox="1"/>
          <p:nvPr/>
        </p:nvSpPr>
        <p:spPr>
          <a:xfrm>
            <a:off x="219075" y="4819390"/>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5"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56" name="FMI Scale tick"/>
          <p:cNvSpPr txBox="1"/>
          <p:nvPr/>
        </p:nvSpPr>
        <p:spPr>
          <a:xfrm>
            <a:off x="219075" y="5545856"/>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7" name="FMI Scale tick"/>
          <p:cNvSpPr txBox="1"/>
          <p:nvPr/>
        </p:nvSpPr>
        <p:spPr>
          <a:xfrm>
            <a:off x="219075" y="5909089"/>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58" name="Connector 57"/>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1" name="Rectangle 60"/>
          <p:cNvSpPr/>
          <p:nvPr/>
        </p:nvSpPr>
        <p:spPr>
          <a:xfrm>
            <a:off x="2152650" y="5205216"/>
            <a:ext cx="457200" cy="4408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1793875" y="506234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3" name="Rectangle 62"/>
          <p:cNvSpPr/>
          <p:nvPr/>
        </p:nvSpPr>
        <p:spPr>
          <a:xfrm>
            <a:off x="3327400" y="4769275"/>
            <a:ext cx="457200" cy="48002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2968625" y="462640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4502150" y="5249298"/>
            <a:ext cx="457200" cy="37973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4143375" y="563855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5676900" y="5249298"/>
            <a:ext cx="457200" cy="37897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5318125" y="563779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6851650" y="5249298"/>
            <a:ext cx="457200" cy="7662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6492875" y="533544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TextBox 70"/>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2" name="TextBox 71"/>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3" name="TextBox 72"/>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4" name="TextBox 73"/>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5" name="TextBox 74"/>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76" name="TextBox 75"/>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7" name="Rounded Rectangle 76"/>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9" name="Rectangle 7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2" name="Picture 81" descr="lock.png"/>
          <p:cNvPicPr>
            <a:picLocks noChangeAspect="1"/>
          </p:cNvPicPr>
          <p:nvPr/>
        </p:nvPicPr>
        <p:blipFill>
          <a:blip r:embed="rId4"/>
          <a:stretch>
            <a:fillRect/>
          </a:stretch>
        </p:blipFill>
        <p:spPr>
          <a:xfrm>
            <a:off x="1177075" y="1833098"/>
            <a:ext cx="128699" cy="187198"/>
          </a:xfrm>
          <a:prstGeom prst="rect">
            <a:avLst/>
          </a:prstGeom>
        </p:spPr>
      </p:pic>
      <p:pic>
        <p:nvPicPr>
          <p:cNvPr id="83" name="Picture 82" descr="lock.png"/>
          <p:cNvPicPr>
            <a:picLocks noChangeAspect="1"/>
          </p:cNvPicPr>
          <p:nvPr/>
        </p:nvPicPr>
        <p:blipFill>
          <a:blip r:embed="rId4"/>
          <a:stretch>
            <a:fillRect/>
          </a:stretch>
        </p:blipFill>
        <p:spPr>
          <a:xfrm>
            <a:off x="2345475" y="2983958"/>
            <a:ext cx="128699" cy="187198"/>
          </a:xfrm>
          <a:prstGeom prst="rect">
            <a:avLst/>
          </a:prstGeom>
        </p:spPr>
      </p:pic>
      <p:pic>
        <p:nvPicPr>
          <p:cNvPr id="84" name="Picture 83" descr="lock.png"/>
          <p:cNvPicPr>
            <a:picLocks noChangeAspect="1"/>
          </p:cNvPicPr>
          <p:nvPr/>
        </p:nvPicPr>
        <p:blipFill>
          <a:blip r:embed="rId4"/>
          <a:stretch>
            <a:fillRect/>
          </a:stretch>
        </p:blipFill>
        <p:spPr>
          <a:xfrm>
            <a:off x="3513875" y="1748312"/>
            <a:ext cx="128699" cy="187198"/>
          </a:xfrm>
          <a:prstGeom prst="rect">
            <a:avLst/>
          </a:prstGeom>
        </p:spPr>
      </p:pic>
      <p:pic>
        <p:nvPicPr>
          <p:cNvPr id="85" name="Picture 84" descr="lock.png"/>
          <p:cNvPicPr>
            <a:picLocks noChangeAspect="1"/>
          </p:cNvPicPr>
          <p:nvPr/>
        </p:nvPicPr>
        <p:blipFill>
          <a:blip r:embed="rId4"/>
          <a:stretch>
            <a:fillRect/>
          </a:stretch>
        </p:blipFill>
        <p:spPr>
          <a:xfrm>
            <a:off x="4682275" y="2471158"/>
            <a:ext cx="128699" cy="187198"/>
          </a:xfrm>
          <a:prstGeom prst="rect">
            <a:avLst/>
          </a:prstGeom>
        </p:spPr>
      </p:pic>
      <p:pic>
        <p:nvPicPr>
          <p:cNvPr id="86" name="Picture 85" descr="lock.png"/>
          <p:cNvPicPr>
            <a:picLocks noChangeAspect="1"/>
          </p:cNvPicPr>
          <p:nvPr/>
        </p:nvPicPr>
        <p:blipFill>
          <a:blip r:embed="rId4"/>
          <a:stretch>
            <a:fillRect/>
          </a:stretch>
        </p:blipFill>
        <p:spPr>
          <a:xfrm>
            <a:off x="5850675" y="2406212"/>
            <a:ext cx="128699" cy="187198"/>
          </a:xfrm>
          <a:prstGeom prst="rect">
            <a:avLst/>
          </a:prstGeom>
        </p:spPr>
      </p:pic>
      <p:pic>
        <p:nvPicPr>
          <p:cNvPr id="87" name="Picture 86" descr="lock.png"/>
          <p:cNvPicPr>
            <a:picLocks noChangeAspect="1"/>
          </p:cNvPicPr>
          <p:nvPr/>
        </p:nvPicPr>
        <p:blipFill>
          <a:blip r:embed="rId4"/>
          <a:stretch>
            <a:fillRect/>
          </a:stretch>
        </p:blipFill>
        <p:spPr>
          <a:xfrm>
            <a:off x="7019075" y="2491782"/>
            <a:ext cx="128699" cy="187198"/>
          </a:xfrm>
          <a:prstGeom prst="rect">
            <a:avLst/>
          </a:prstGeom>
        </p:spPr>
      </p:pic>
      <p:pic>
        <p:nvPicPr>
          <p:cNvPr id="88" name="Picture 87" descr="lock.png"/>
          <p:cNvPicPr>
            <a:picLocks noChangeAspect="1"/>
          </p:cNvPicPr>
          <p:nvPr/>
        </p:nvPicPr>
        <p:blipFill>
          <a:blip r:embed="rId4"/>
          <a:stretch>
            <a:fillRect/>
          </a:stretch>
        </p:blipFill>
        <p:spPr>
          <a:xfrm>
            <a:off x="1142150" y="4444308"/>
            <a:ext cx="128699" cy="187198"/>
          </a:xfrm>
          <a:prstGeom prst="rect">
            <a:avLst/>
          </a:prstGeom>
        </p:spPr>
      </p:pic>
      <p:pic>
        <p:nvPicPr>
          <p:cNvPr id="89" name="Picture 88" descr="lock.png"/>
          <p:cNvPicPr>
            <a:picLocks noChangeAspect="1"/>
          </p:cNvPicPr>
          <p:nvPr/>
        </p:nvPicPr>
        <p:blipFill>
          <a:blip r:embed="rId4"/>
          <a:stretch>
            <a:fillRect/>
          </a:stretch>
        </p:blipFill>
        <p:spPr>
          <a:xfrm>
            <a:off x="2316900" y="5035417"/>
            <a:ext cx="128699" cy="187198"/>
          </a:xfrm>
          <a:prstGeom prst="rect">
            <a:avLst/>
          </a:prstGeom>
        </p:spPr>
      </p:pic>
      <p:pic>
        <p:nvPicPr>
          <p:cNvPr id="90" name="Picture 89" descr="lock.png"/>
          <p:cNvPicPr>
            <a:picLocks noChangeAspect="1"/>
          </p:cNvPicPr>
          <p:nvPr/>
        </p:nvPicPr>
        <p:blipFill>
          <a:blip r:embed="rId4"/>
          <a:stretch>
            <a:fillRect/>
          </a:stretch>
        </p:blipFill>
        <p:spPr>
          <a:xfrm>
            <a:off x="3491650" y="4599476"/>
            <a:ext cx="128699" cy="187198"/>
          </a:xfrm>
          <a:prstGeom prst="rect">
            <a:avLst/>
          </a:prstGeom>
        </p:spPr>
      </p:pic>
      <p:pic>
        <p:nvPicPr>
          <p:cNvPr id="91" name="Picture 90" descr="lock.png"/>
          <p:cNvPicPr>
            <a:picLocks noChangeAspect="1"/>
          </p:cNvPicPr>
          <p:nvPr/>
        </p:nvPicPr>
        <p:blipFill>
          <a:blip r:embed="rId4"/>
          <a:stretch>
            <a:fillRect/>
          </a:stretch>
        </p:blipFill>
        <p:spPr>
          <a:xfrm>
            <a:off x="4666400" y="5611628"/>
            <a:ext cx="128699" cy="187198"/>
          </a:xfrm>
          <a:prstGeom prst="rect">
            <a:avLst/>
          </a:prstGeom>
        </p:spPr>
      </p:pic>
      <p:pic>
        <p:nvPicPr>
          <p:cNvPr id="92" name="Picture 91" descr="lock.png"/>
          <p:cNvPicPr>
            <a:picLocks noChangeAspect="1"/>
          </p:cNvPicPr>
          <p:nvPr/>
        </p:nvPicPr>
        <p:blipFill>
          <a:blip r:embed="rId4"/>
          <a:stretch>
            <a:fillRect/>
          </a:stretch>
        </p:blipFill>
        <p:spPr>
          <a:xfrm>
            <a:off x="5841150" y="5610869"/>
            <a:ext cx="128699" cy="187198"/>
          </a:xfrm>
          <a:prstGeom prst="rect">
            <a:avLst/>
          </a:prstGeom>
        </p:spPr>
      </p:pic>
      <p:pic>
        <p:nvPicPr>
          <p:cNvPr id="93" name="Picture 92" descr="lock.png"/>
          <p:cNvPicPr>
            <a:picLocks noChangeAspect="1"/>
          </p:cNvPicPr>
          <p:nvPr/>
        </p:nvPicPr>
        <p:blipFill>
          <a:blip r:embed="rId4"/>
          <a:stretch>
            <a:fillRect/>
          </a:stretch>
        </p:blipFill>
        <p:spPr>
          <a:xfrm>
            <a:off x="7015900" y="5308521"/>
            <a:ext cx="128699" cy="187198"/>
          </a:xfrm>
          <a:prstGeom prst="rect">
            <a:avLst/>
          </a:prstGeom>
        </p:spPr>
      </p:pic>
      <p:sp>
        <p:nvSpPr>
          <p:cNvPr id="94" name="TextBox 93"/>
          <p:cNvSpPr txBox="1"/>
          <p:nvPr/>
        </p:nvSpPr>
        <p:spPr>
          <a:xfrm>
            <a:off x="8048625" y="1736673"/>
            <a:ext cx="3611922"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crab species</a:t>
            </a:r>
          </a:p>
        </p:txBody>
      </p:sp>
      <p:sp>
        <p:nvSpPr>
          <p:cNvPr id="95" name="TextBox 94"/>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96" name="TextBox 95"/>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97" name="TextBox 96"/>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98" name="TextBox 97"/>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99" name="TextBox 98"/>
          <p:cNvSpPr txBox="1"/>
          <p:nvPr/>
        </p:nvSpPr>
        <p:spPr>
          <a:xfrm>
            <a:off x="8048625" y="2665551"/>
            <a:ext cx="3836987" cy="194310"/>
          </a:xfrm>
          <a:prstGeom prst="rect">
            <a:avLst/>
          </a:prstGeom>
          <a:noFill/>
        </p:spPr>
        <p:txBody>
          <a:bodyPr wrap="none" lIns="0" rIns="0" tIns="0" bIns="0">
            <a:spAutoFit/>
          </a:bodyPr>
          <a:lstStyle/>
          <a:p>
            <a:r>
              <a:rPr sz="1150" b="0">
                <a:solidFill>
                  <a:srgbClr val="2E2E2E"/>
                </a:solidFill>
                <a:latin typeface="Calibri"/>
              </a:rPr>
              <a:t>price levels 'Other commercially traded crab species' shows the</a:t>
            </a:r>
          </a:p>
        </p:txBody>
      </p:sp>
      <p:sp>
        <p:nvSpPr>
          <p:cNvPr id="100" name="TextBox 99"/>
          <p:cNvSpPr txBox="1"/>
          <p:nvPr/>
        </p:nvSpPr>
        <p:spPr>
          <a:xfrm>
            <a:off x="8048625" y="2840811"/>
            <a:ext cx="1206661" cy="194310"/>
          </a:xfrm>
          <a:prstGeom prst="rect">
            <a:avLst/>
          </a:prstGeom>
          <a:noFill/>
        </p:spPr>
        <p:txBody>
          <a:bodyPr wrap="none" lIns="0" rIns="0" tIns="0" bIns="0">
            <a:spAutoFit/>
          </a:bodyPr>
          <a:lstStyle/>
          <a:p>
            <a:r>
              <a:rPr sz="1150" b="0">
                <a:solidFill>
                  <a:srgbClr val="2E2E2E"/>
                </a:solidFill>
                <a:latin typeface="Calibri"/>
              </a:rPr>
              <a:t>most movement (+</a:t>
            </a:r>
          </a:p>
        </p:txBody>
      </p:sp>
      <p:pic>
        <p:nvPicPr>
          <p:cNvPr id="101" name="Picture 100" descr="lock.png"/>
          <p:cNvPicPr>
            <a:picLocks noChangeAspect="1"/>
          </p:cNvPicPr>
          <p:nvPr/>
        </p:nvPicPr>
        <p:blipFill>
          <a:blip r:embed="rId4"/>
          <a:stretch>
            <a:fillRect/>
          </a:stretch>
        </p:blipFill>
        <p:spPr>
          <a:xfrm>
            <a:off x="9204440" y="2830588"/>
            <a:ext cx="134549" cy="195707"/>
          </a:xfrm>
          <a:prstGeom prst="rect">
            <a:avLst/>
          </a:prstGeom>
        </p:spPr>
      </p:pic>
      <p:sp>
        <p:nvSpPr>
          <p:cNvPr id="102" name="TextBox 101"/>
          <p:cNvSpPr txBox="1"/>
          <p:nvPr/>
        </p:nvSpPr>
        <p:spPr>
          <a:xfrm>
            <a:off x="9379549" y="2840811"/>
            <a:ext cx="1758627" cy="194310"/>
          </a:xfrm>
          <a:prstGeom prst="rect">
            <a:avLst/>
          </a:prstGeom>
          <a:noFill/>
        </p:spPr>
        <p:txBody>
          <a:bodyPr wrap="none" lIns="0" rIns="0" tIns="0" bIns="0">
            <a:spAutoFit/>
          </a:bodyPr>
          <a:lstStyle/>
          <a:p>
            <a:r>
              <a:rPr sz="1150" b="0">
                <a:solidFill>
                  <a:srgbClr val="2E2E2E"/>
                </a:solidFill>
                <a:latin typeface="Calibri"/>
              </a:rPr>
              <a:t>) and 'Mud Crab' the least (+</a:t>
            </a:r>
          </a:p>
        </p:txBody>
      </p:sp>
      <p:pic>
        <p:nvPicPr>
          <p:cNvPr id="103" name="Picture 102" descr="lock.png"/>
          <p:cNvPicPr>
            <a:picLocks noChangeAspect="1"/>
          </p:cNvPicPr>
          <p:nvPr/>
        </p:nvPicPr>
        <p:blipFill>
          <a:blip r:embed="rId4"/>
          <a:stretch>
            <a:fillRect/>
          </a:stretch>
        </p:blipFill>
        <p:spPr>
          <a:xfrm>
            <a:off x="11087330" y="2830588"/>
            <a:ext cx="134549" cy="195707"/>
          </a:xfrm>
          <a:prstGeom prst="rect">
            <a:avLst/>
          </a:prstGeom>
        </p:spPr>
      </p:pic>
      <p:sp>
        <p:nvSpPr>
          <p:cNvPr id="104" name="TextBox 103"/>
          <p:cNvSpPr txBox="1"/>
          <p:nvPr/>
        </p:nvSpPr>
        <p:spPr>
          <a:xfrm>
            <a:off x="11262440" y="2840811"/>
            <a:ext cx="120414" cy="194310"/>
          </a:xfrm>
          <a:prstGeom prst="rect">
            <a:avLst/>
          </a:prstGeom>
          <a:noFill/>
        </p:spPr>
        <p:txBody>
          <a:bodyPr wrap="none" lIns="0" rIns="0" tIns="0" bIns="0">
            <a:spAutoFit/>
          </a:bodyPr>
          <a:lstStyle/>
          <a:p>
            <a:r>
              <a:rPr sz="1150" b="0">
                <a:solidFill>
                  <a:srgbClr val="2E2E2E"/>
                </a:solidFill>
                <a:latin typeface="Calibri"/>
              </a:rPr>
              <a:t>)</a:t>
            </a:r>
          </a:p>
        </p:txBody>
      </p:sp>
      <p:sp>
        <p:nvSpPr>
          <p:cNvPr id="105" name="TextBox 104"/>
          <p:cNvSpPr txBox="1"/>
          <p:nvPr/>
        </p:nvSpPr>
        <p:spPr>
          <a:xfrm>
            <a:off x="8048625" y="3016071"/>
            <a:ext cx="3307841" cy="194310"/>
          </a:xfrm>
          <a:prstGeom prst="rect">
            <a:avLst/>
          </a:prstGeom>
          <a:noFill/>
        </p:spPr>
        <p:txBody>
          <a:bodyPr wrap="none" lIns="0" rIns="0" tIns="0" bIns="0">
            <a:spAutoFit/>
          </a:bodyPr>
          <a:lstStyle/>
          <a:p>
            <a:r>
              <a:rPr sz="1150" b="0">
                <a:solidFill>
                  <a:srgbClr val="2E2E2E"/>
                </a:solidFill>
                <a:latin typeface="Calibri"/>
              </a:rPr>
              <a:t>variability stakeholders should monitor when planning</a:t>
            </a:r>
          </a:p>
        </p:txBody>
      </p:sp>
      <p:sp>
        <p:nvSpPr>
          <p:cNvPr id="106" name="TextBox 105"/>
          <p:cNvSpPr txBox="1"/>
          <p:nvPr/>
        </p:nvSpPr>
        <p:spPr>
          <a:xfrm>
            <a:off x="8048625" y="319133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107" name="TextBox 106"/>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8" name="TextBox 107"/>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09" name="TextBox 108"/>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10" name="TextBox 109"/>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11" name="TextBox 110"/>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12" name="Picture 111" descr="lock.png"/>
          <p:cNvPicPr>
            <a:picLocks noChangeAspect="1"/>
          </p:cNvPicPr>
          <p:nvPr/>
        </p:nvPicPr>
        <p:blipFill>
          <a:blip r:embed="rId4"/>
          <a:stretch>
            <a:fillRect/>
          </a:stretch>
        </p:blipFill>
        <p:spPr>
          <a:xfrm>
            <a:off x="10338039" y="4162564"/>
            <a:ext cx="134549" cy="195707"/>
          </a:xfrm>
          <a:prstGeom prst="rect">
            <a:avLst/>
          </a:prstGeom>
        </p:spPr>
      </p:pic>
      <p:sp>
        <p:nvSpPr>
          <p:cNvPr id="113" name="TextBox 112"/>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14" name="TextBox 113"/>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15" name="TextBox 114"/>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16" name="TextBox 115"/>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Pricing Assessment: By Crab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by crab species,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Crab Species, 2021 to 2036 (US$/MT)</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30886">
                <a:tc>
                  <a:txBody>
                    <a:bodyPr wrap="square"/>
                    <a:lstStyle/>
                    <a:p>
                      <a:pPr algn="l"/>
                      <a:r>
                        <a:rPr sz="850" b="1">
                          <a:solidFill>
                            <a:srgbClr val="FFFFFF"/>
                          </a:solidFill>
                          <a:latin typeface="Calibri"/>
                        </a:rPr>
                        <a:t>Crab Species</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30886">
                <a:tc>
                  <a:txBody>
                    <a:bodyPr wrap="square"/>
                    <a:lstStyle/>
                    <a:p>
                      <a:pPr algn="l"/>
                      <a:r>
                        <a:rPr sz="850" b="1">
                          <a:solidFill>
                            <a:srgbClr val="1F1F1F"/>
                          </a:solidFill>
                          <a:latin typeface="Calibri"/>
                        </a:rPr>
                        <a:t>Snow Crab</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Blue Crab</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Mud Crab</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Dungeness Crab</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7F7F7"/>
                    </a:solidFill>
                  </a:tcPr>
                </a:tc>
              </a:tr>
              <a:tr h="230886">
                <a:tc>
                  <a:txBody>
                    <a:bodyPr wrap="square"/>
                    <a:lstStyle/>
                    <a:p>
                      <a:pPr algn="l"/>
                      <a:r>
                        <a:rPr sz="850" b="1">
                          <a:solidFill>
                            <a:srgbClr val="1F1F1F"/>
                          </a:solidFill>
                          <a:latin typeface="Calibri"/>
                        </a:rPr>
                        <a:t>Other commercially traded crab species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7F7F7"/>
                    </a:solidFill>
                  </a:tcPr>
                </a:tc>
              </a:tr>
              <a:tr h="230886">
                <a:tc>
                  <a:txBody>
                    <a:bodyPr wrap="square"/>
                    <a:lstStyle/>
                    <a:p>
                      <a:pPr algn="l"/>
                      <a:r>
                        <a:rPr sz="850" b="1">
                          <a:solidFill>
                            <a:srgbClr val="1F1F1F"/>
                          </a:solidFill>
                          <a:latin typeface="Calibri"/>
                        </a:rPr>
                        <a:t>King Crab</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(MT).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02023"/>
            <a:ext cx="330041" cy="480060"/>
          </a:xfrm>
          <a:prstGeom prst="rect">
            <a:avLst/>
          </a:prstGeom>
        </p:spPr>
      </p:pic>
      <p:sp>
        <p:nvSpPr>
          <p:cNvPr id="34" name="TextBox 33"/>
          <p:cNvSpPr txBox="1"/>
          <p:nvPr/>
        </p:nvSpPr>
        <p:spPr>
          <a:xfrm>
            <a:off x="411480" y="1110615"/>
            <a:ext cx="4039244" cy="217169"/>
          </a:xfrm>
          <a:prstGeom prst="rect">
            <a:avLst/>
          </a:prstGeom>
          <a:noFill/>
        </p:spPr>
        <p:txBody>
          <a:bodyPr wrap="none" lIns="0" rIns="0" tIns="0" bIns="0">
            <a:spAutoFit/>
          </a:bodyPr>
          <a:lstStyle/>
          <a:p>
            <a:r>
              <a:rPr sz="1300" b="1">
                <a:solidFill>
                  <a:srgbClr val="FFFFFF"/>
                </a:solidFill>
                <a:latin typeface="Calibri"/>
              </a:rPr>
              <a:t>Snow Crab commands the highest 2026 price point at US$</a:t>
            </a:r>
          </a:p>
        </p:txBody>
      </p:sp>
      <p:pic>
        <p:nvPicPr>
          <p:cNvPr id="35" name="Picture 34" descr="lock.png"/>
          <p:cNvPicPr>
            <a:picLocks noChangeAspect="1"/>
          </p:cNvPicPr>
          <p:nvPr/>
        </p:nvPicPr>
        <p:blipFill>
          <a:blip r:embed="rId6"/>
          <a:stretch>
            <a:fillRect/>
          </a:stretch>
        </p:blipFill>
        <p:spPr>
          <a:xfrm>
            <a:off x="4403185" y="1099058"/>
            <a:ext cx="152098" cy="221234"/>
          </a:xfrm>
          <a:prstGeom prst="rect">
            <a:avLst/>
          </a:prstGeom>
        </p:spPr>
      </p:pic>
      <p:sp>
        <p:nvSpPr>
          <p:cNvPr id="36" name="TextBox 35"/>
          <p:cNvSpPr txBox="1"/>
          <p:nvPr/>
        </p:nvSpPr>
        <p:spPr>
          <a:xfrm>
            <a:off x="4601135" y="1110615"/>
            <a:ext cx="535061" cy="217169"/>
          </a:xfrm>
          <a:prstGeom prst="rect">
            <a:avLst/>
          </a:prstGeom>
          <a:noFill/>
        </p:spPr>
        <p:txBody>
          <a:bodyPr wrap="none" lIns="0" rIns="0" tIns="0" bIns="0">
            <a:spAutoFit/>
          </a:bodyPr>
          <a:lstStyle/>
          <a:p>
            <a:r>
              <a:rPr sz="1300" b="1">
                <a:solidFill>
                  <a:srgbClr val="FFFFFF"/>
                </a:solidFill>
                <a:latin typeface="Calibri"/>
              </a:rPr>
              <a:t>/MT, a</a:t>
            </a:r>
          </a:p>
        </p:txBody>
      </p:sp>
      <p:pic>
        <p:nvPicPr>
          <p:cNvPr id="37" name="Picture 36" descr="lock.png"/>
          <p:cNvPicPr>
            <a:picLocks noChangeAspect="1"/>
          </p:cNvPicPr>
          <p:nvPr/>
        </p:nvPicPr>
        <p:blipFill>
          <a:blip r:embed="rId6"/>
          <a:stretch>
            <a:fillRect/>
          </a:stretch>
        </p:blipFill>
        <p:spPr>
          <a:xfrm>
            <a:off x="5088658" y="1099058"/>
            <a:ext cx="152098" cy="221234"/>
          </a:xfrm>
          <a:prstGeom prst="rect">
            <a:avLst/>
          </a:prstGeom>
        </p:spPr>
      </p:pic>
      <p:sp>
        <p:nvSpPr>
          <p:cNvPr id="38" name="TextBox 37"/>
          <p:cNvSpPr txBox="1"/>
          <p:nvPr/>
        </p:nvSpPr>
        <p:spPr>
          <a:xfrm>
            <a:off x="5286608" y="1110615"/>
            <a:ext cx="1784275" cy="217169"/>
          </a:xfrm>
          <a:prstGeom prst="rect">
            <a:avLst/>
          </a:prstGeom>
          <a:noFill/>
        </p:spPr>
        <p:txBody>
          <a:bodyPr wrap="none" lIns="0" rIns="0" tIns="0" bIns="0">
            <a:spAutoFit/>
          </a:bodyPr>
          <a:lstStyle/>
          <a:p>
            <a:r>
              <a:rPr sz="1300" b="1">
                <a:solidFill>
                  <a:srgbClr val="FFFFFF"/>
                </a:solidFill>
                <a:latin typeface="Calibri"/>
              </a:rPr>
              <a:t>premium over King Crab.</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065636" cy="179069"/>
          </a:xfrm>
          <a:prstGeom prst="rect">
            <a:avLst/>
          </a:prstGeom>
          <a:noFill/>
        </p:spPr>
        <p:txBody>
          <a:bodyPr wrap="none" lIns="0" rIns="0" tIns="0" bIns="0">
            <a:spAutoFit/>
          </a:bodyPr>
          <a:lstStyle/>
          <a:p>
            <a:r>
              <a:rPr sz="1050" b="0">
                <a:solidFill>
                  <a:srgbClr val="1F1F1F"/>
                </a:solidFill>
                <a:latin typeface="Calibri"/>
              </a:rPr>
              <a:t>Snow Crab sits at the top of the 2026 price ladder at an</a:t>
            </a:r>
          </a:p>
        </p:txBody>
      </p:sp>
      <p:sp>
        <p:nvSpPr>
          <p:cNvPr id="43" name="TextBox 42"/>
          <p:cNvSpPr txBox="1"/>
          <p:nvPr/>
        </p:nvSpPr>
        <p:spPr>
          <a:xfrm>
            <a:off x="806576" y="5690996"/>
            <a:ext cx="512452" cy="179069"/>
          </a:xfrm>
          <a:prstGeom prst="rect">
            <a:avLst/>
          </a:prstGeom>
          <a:noFill/>
        </p:spPr>
        <p:txBody>
          <a:bodyPr wrap="none" lIns="0" rIns="0" tIns="0" bIns="0">
            <a:spAutoFit/>
          </a:bodyPr>
          <a:lstStyle/>
          <a:p>
            <a:r>
              <a:rPr sz="1050" b="0">
                <a:solidFill>
                  <a:srgbClr val="1F1F1F"/>
                </a:solidFill>
                <a:latin typeface="Calibri"/>
              </a:rPr>
              <a:t>index of</a:t>
            </a:r>
          </a:p>
        </p:txBody>
      </p:sp>
      <p:pic>
        <p:nvPicPr>
          <p:cNvPr id="44" name="Picture 43" descr="lock.png"/>
          <p:cNvPicPr>
            <a:picLocks noChangeAspect="1"/>
          </p:cNvPicPr>
          <p:nvPr/>
        </p:nvPicPr>
        <p:blipFill>
          <a:blip r:embed="rId6"/>
          <a:stretch>
            <a:fillRect/>
          </a:stretch>
        </p:blipFill>
        <p:spPr>
          <a:xfrm>
            <a:off x="1265978" y="5681662"/>
            <a:ext cx="122849" cy="178689"/>
          </a:xfrm>
          <a:prstGeom prst="rect">
            <a:avLst/>
          </a:prstGeom>
        </p:spPr>
      </p:pic>
      <p:sp>
        <p:nvSpPr>
          <p:cNvPr id="45" name="TextBox 44"/>
          <p:cNvSpPr txBox="1"/>
          <p:nvPr/>
        </p:nvSpPr>
        <p:spPr>
          <a:xfrm>
            <a:off x="1425861" y="5690996"/>
            <a:ext cx="1490699" cy="179069"/>
          </a:xfrm>
          <a:prstGeom prst="rect">
            <a:avLst/>
          </a:prstGeom>
          <a:noFill/>
        </p:spPr>
        <p:txBody>
          <a:bodyPr wrap="none" lIns="0" rIns="0" tIns="0" bIns="0">
            <a:spAutoFit/>
          </a:bodyPr>
          <a:lstStyle/>
          <a:p>
            <a:r>
              <a:rPr sz="1050" b="0">
                <a:solidFill>
                  <a:srgbClr val="1F1F1F"/>
                </a:solidFill>
                <a:latin typeface="Calibri"/>
              </a:rPr>
              <a:t>, while King Crab trades at</a:t>
            </a:r>
          </a:p>
        </p:txBody>
      </p:sp>
      <p:pic>
        <p:nvPicPr>
          <p:cNvPr id="46" name="Picture 45" descr="lock.png"/>
          <p:cNvPicPr>
            <a:picLocks noChangeAspect="1"/>
          </p:cNvPicPr>
          <p:nvPr/>
        </p:nvPicPr>
        <p:blipFill>
          <a:blip r:embed="rId6"/>
          <a:stretch>
            <a:fillRect/>
          </a:stretch>
        </p:blipFill>
        <p:spPr>
          <a:xfrm>
            <a:off x="2863510" y="5681662"/>
            <a:ext cx="122849" cy="178689"/>
          </a:xfrm>
          <a:prstGeom prst="rect">
            <a:avLst/>
          </a:prstGeom>
        </p:spPr>
      </p:pic>
      <p:sp>
        <p:nvSpPr>
          <p:cNvPr id="47" name="TextBox 46"/>
          <p:cNvSpPr txBox="1"/>
          <p:nvPr/>
        </p:nvSpPr>
        <p:spPr>
          <a:xfrm>
            <a:off x="3023392" y="5690996"/>
            <a:ext cx="808322" cy="179069"/>
          </a:xfrm>
          <a:prstGeom prst="rect">
            <a:avLst/>
          </a:prstGeom>
          <a:noFill/>
        </p:spPr>
        <p:txBody>
          <a:bodyPr wrap="none" lIns="0" rIns="0" tIns="0" bIns="0">
            <a:spAutoFit/>
          </a:bodyPr>
          <a:lstStyle/>
          <a:p>
            <a:r>
              <a:rPr sz="1050" b="0">
                <a:solidFill>
                  <a:srgbClr val="1F1F1F"/>
                </a:solidFill>
                <a:latin typeface="Calibri"/>
              </a:rPr>
              <a:t>, which keeps</a:t>
            </a:r>
          </a:p>
        </p:txBody>
      </p:sp>
      <p:sp>
        <p:nvSpPr>
          <p:cNvPr id="48" name="TextBox 47"/>
          <p:cNvSpPr txBox="1"/>
          <p:nvPr/>
        </p:nvSpPr>
        <p:spPr>
          <a:xfrm>
            <a:off x="806576" y="5851016"/>
            <a:ext cx="1922784" cy="179069"/>
          </a:xfrm>
          <a:prstGeom prst="rect">
            <a:avLst/>
          </a:prstGeom>
          <a:noFill/>
        </p:spPr>
        <p:txBody>
          <a:bodyPr wrap="none" lIns="0" rIns="0" tIns="0" bIns="0">
            <a:spAutoFit/>
          </a:bodyPr>
          <a:lstStyle/>
          <a:p>
            <a:r>
              <a:rPr sz="1050" b="0">
                <a:solidFill>
                  <a:srgbClr val="1F1F1F"/>
                </a:solidFill>
                <a:latin typeface="Calibri"/>
              </a:rPr>
              <a:t>the full crab species spread within</a:t>
            </a:r>
          </a:p>
        </p:txBody>
      </p:sp>
      <p:pic>
        <p:nvPicPr>
          <p:cNvPr id="49" name="Picture 48" descr="lock.png"/>
          <p:cNvPicPr>
            <a:picLocks noChangeAspect="1"/>
          </p:cNvPicPr>
          <p:nvPr/>
        </p:nvPicPr>
        <p:blipFill>
          <a:blip r:embed="rId6"/>
          <a:stretch>
            <a:fillRect/>
          </a:stretch>
        </p:blipFill>
        <p:spPr>
          <a:xfrm>
            <a:off x="2676311" y="5841682"/>
            <a:ext cx="122849" cy="178689"/>
          </a:xfrm>
          <a:prstGeom prst="rect">
            <a:avLst/>
          </a:prstGeom>
        </p:spPr>
      </p:pic>
      <p:sp>
        <p:nvSpPr>
          <p:cNvPr id="50" name="TextBox 49"/>
          <p:cNvSpPr txBox="1"/>
          <p:nvPr/>
        </p:nvSpPr>
        <p:spPr>
          <a:xfrm>
            <a:off x="2836193" y="585101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1" name="TextBox 50"/>
          <p:cNvSpPr txBox="1"/>
          <p:nvPr/>
        </p:nvSpPr>
        <p:spPr>
          <a:xfrm>
            <a:off x="4732401" y="5530976"/>
            <a:ext cx="3143249" cy="179069"/>
          </a:xfrm>
          <a:prstGeom prst="rect">
            <a:avLst/>
          </a:prstGeom>
          <a:noFill/>
        </p:spPr>
        <p:txBody>
          <a:bodyPr wrap="none" lIns="0" rIns="0" tIns="0" bIns="0">
            <a:spAutoFit/>
          </a:bodyPr>
          <a:lstStyle/>
          <a:p>
            <a:r>
              <a:rPr sz="1050" b="0">
                <a:solidFill>
                  <a:srgbClr val="1F1F1F"/>
                </a:solidFill>
                <a:latin typeface="Calibri"/>
              </a:rPr>
              <a:t>Other commercially traded crab species posts the fastest</a:t>
            </a:r>
          </a:p>
        </p:txBody>
      </p:sp>
      <p:sp>
        <p:nvSpPr>
          <p:cNvPr id="52" name="TextBox 51"/>
          <p:cNvSpPr txBox="1"/>
          <p:nvPr/>
        </p:nvSpPr>
        <p:spPr>
          <a:xfrm>
            <a:off x="4732401" y="5690996"/>
            <a:ext cx="999492" cy="179069"/>
          </a:xfrm>
          <a:prstGeom prst="rect">
            <a:avLst/>
          </a:prstGeom>
          <a:noFill/>
        </p:spPr>
        <p:txBody>
          <a:bodyPr wrap="none" lIns="0" rIns="0" tIns="0" bIns="0">
            <a:spAutoFit/>
          </a:bodyPr>
          <a:lstStyle/>
          <a:p>
            <a:r>
              <a:rPr sz="1050" b="0">
                <a:solidFill>
                  <a:srgbClr val="1F1F1F"/>
                </a:solidFill>
                <a:latin typeface="Calibri"/>
              </a:rPr>
              <a:t>price growth at a</a:t>
            </a:r>
          </a:p>
        </p:txBody>
      </p:sp>
      <p:pic>
        <p:nvPicPr>
          <p:cNvPr id="53" name="Picture 52" descr="lock.png"/>
          <p:cNvPicPr>
            <a:picLocks noChangeAspect="1"/>
          </p:cNvPicPr>
          <p:nvPr/>
        </p:nvPicPr>
        <p:blipFill>
          <a:blip r:embed="rId6"/>
          <a:stretch>
            <a:fillRect/>
          </a:stretch>
        </p:blipFill>
        <p:spPr>
          <a:xfrm>
            <a:off x="5678842" y="5681662"/>
            <a:ext cx="122849" cy="178689"/>
          </a:xfrm>
          <a:prstGeom prst="rect">
            <a:avLst/>
          </a:prstGeom>
        </p:spPr>
      </p:pic>
      <p:sp>
        <p:nvSpPr>
          <p:cNvPr id="54" name="TextBox 53"/>
          <p:cNvSpPr txBox="1"/>
          <p:nvPr/>
        </p:nvSpPr>
        <p:spPr>
          <a:xfrm>
            <a:off x="5838725"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5" name="TextBox 54"/>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6" name="Picture 55" descr="lock.png"/>
          <p:cNvPicPr>
            <a:picLocks noChangeAspect="1"/>
          </p:cNvPicPr>
          <p:nvPr/>
        </p:nvPicPr>
        <p:blipFill>
          <a:blip r:embed="rId6"/>
          <a:stretch>
            <a:fillRect/>
          </a:stretch>
        </p:blipFill>
        <p:spPr>
          <a:xfrm>
            <a:off x="5577007" y="5841682"/>
            <a:ext cx="122849" cy="178689"/>
          </a:xfrm>
          <a:prstGeom prst="rect">
            <a:avLst/>
          </a:prstGeom>
        </p:spPr>
      </p:pic>
      <p:sp>
        <p:nvSpPr>
          <p:cNvPr id="57" name="TextBox 56"/>
          <p:cNvSpPr txBox="1"/>
          <p:nvPr/>
        </p:nvSpPr>
        <p:spPr>
          <a:xfrm>
            <a:off x="5736889" y="5851016"/>
            <a:ext cx="833586" cy="179069"/>
          </a:xfrm>
          <a:prstGeom prst="rect">
            <a:avLst/>
          </a:prstGeom>
          <a:noFill/>
        </p:spPr>
        <p:txBody>
          <a:bodyPr wrap="none" lIns="0" rIns="0" tIns="0" bIns="0">
            <a:spAutoFit/>
          </a:bodyPr>
          <a:lstStyle/>
          <a:p>
            <a:r>
              <a:rPr sz="1050" b="0">
                <a:solidFill>
                  <a:srgbClr val="1F1F1F"/>
                </a:solidFill>
                <a:latin typeface="Calibri"/>
              </a:rPr>
              <a:t>for Mud Crab.</a:t>
            </a:r>
          </a:p>
        </p:txBody>
      </p:sp>
      <p:sp>
        <p:nvSpPr>
          <p:cNvPr id="58" name="TextBox 57"/>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9" name="Picture 58" descr="lock.png"/>
          <p:cNvPicPr>
            <a:picLocks noChangeAspect="1"/>
          </p:cNvPicPr>
          <p:nvPr/>
        </p:nvPicPr>
        <p:blipFill>
          <a:blip r:embed="rId6"/>
          <a:stretch>
            <a:fillRect/>
          </a:stretch>
        </p:blipFill>
        <p:spPr>
          <a:xfrm>
            <a:off x="10841019" y="5521642"/>
            <a:ext cx="122849" cy="178689"/>
          </a:xfrm>
          <a:prstGeom prst="rect">
            <a:avLst/>
          </a:prstGeom>
        </p:spPr>
      </p:pic>
      <p:sp>
        <p:nvSpPr>
          <p:cNvPr id="60" name="TextBox 59"/>
          <p:cNvSpPr txBox="1"/>
          <p:nvPr/>
        </p:nvSpPr>
        <p:spPr>
          <a:xfrm>
            <a:off x="11000901" y="5530976"/>
            <a:ext cx="739043" cy="179069"/>
          </a:xfrm>
          <a:prstGeom prst="rect">
            <a:avLst/>
          </a:prstGeom>
          <a:noFill/>
        </p:spPr>
        <p:txBody>
          <a:bodyPr wrap="none" lIns="0" rIns="0" tIns="0" bIns="0">
            <a:spAutoFit/>
          </a:bodyPr>
          <a:lstStyle/>
          <a:p>
            <a:r>
              <a:rPr sz="1050" b="0">
                <a:solidFill>
                  <a:srgbClr val="1F1F1F"/>
                </a:solidFill>
                <a:latin typeface="Calibri"/>
              </a:rPr>
              <a:t>/MT in 2026</a:t>
            </a:r>
          </a:p>
        </p:txBody>
      </p:sp>
      <p:sp>
        <p:nvSpPr>
          <p:cNvPr id="61" name="TextBox 60"/>
          <p:cNvSpPr txBox="1"/>
          <p:nvPr/>
        </p:nvSpPr>
        <p:spPr>
          <a:xfrm>
            <a:off x="8658225" y="5690996"/>
            <a:ext cx="436140" cy="179069"/>
          </a:xfrm>
          <a:prstGeom prst="rect">
            <a:avLst/>
          </a:prstGeom>
          <a:noFill/>
        </p:spPr>
        <p:txBody>
          <a:bodyPr wrap="none" lIns="0" rIns="0" tIns="0" bIns="0">
            <a:spAutoFit/>
          </a:bodyPr>
          <a:lstStyle/>
          <a:p>
            <a:r>
              <a:rPr sz="1050" b="0">
                <a:solidFill>
                  <a:srgbClr val="1F1F1F"/>
                </a:solidFill>
                <a:latin typeface="Calibri"/>
              </a:rPr>
              <a:t>to US$</a:t>
            </a:r>
          </a:p>
        </p:txBody>
      </p:sp>
      <p:pic>
        <p:nvPicPr>
          <p:cNvPr id="62" name="Picture 61" descr="lock.png"/>
          <p:cNvPicPr>
            <a:picLocks noChangeAspect="1"/>
          </p:cNvPicPr>
          <p:nvPr/>
        </p:nvPicPr>
        <p:blipFill>
          <a:blip r:embed="rId6"/>
          <a:stretch>
            <a:fillRect/>
          </a:stretch>
        </p:blipFill>
        <p:spPr>
          <a:xfrm>
            <a:off x="9041315" y="5681662"/>
            <a:ext cx="122849" cy="178689"/>
          </a:xfrm>
          <a:prstGeom prst="rect">
            <a:avLst/>
          </a:prstGeom>
        </p:spPr>
      </p:pic>
      <p:sp>
        <p:nvSpPr>
          <p:cNvPr id="63" name="TextBox 62"/>
          <p:cNvSpPr txBox="1"/>
          <p:nvPr/>
        </p:nvSpPr>
        <p:spPr>
          <a:xfrm>
            <a:off x="9201197" y="5690996"/>
            <a:ext cx="2593181" cy="179069"/>
          </a:xfrm>
          <a:prstGeom prst="rect">
            <a:avLst/>
          </a:prstGeom>
          <a:noFill/>
        </p:spPr>
        <p:txBody>
          <a:bodyPr wrap="none" lIns="0" rIns="0" tIns="0" bIns="0">
            <a:spAutoFit/>
          </a:bodyPr>
          <a:lstStyle/>
          <a:p>
            <a:r>
              <a:rPr sz="1050" b="0">
                <a:solidFill>
                  <a:srgbClr val="1F1F1F"/>
                </a:solidFill>
                <a:latin typeface="Calibri"/>
              </a:rPr>
              <a:t>/MT in 2036, and the gap between the highest</a:t>
            </a:r>
          </a:p>
        </p:txBody>
      </p:sp>
      <p:sp>
        <p:nvSpPr>
          <p:cNvPr id="64" name="TextBox 63"/>
          <p:cNvSpPr txBox="1"/>
          <p:nvPr/>
        </p:nvSpPr>
        <p:spPr>
          <a:xfrm>
            <a:off x="8658225" y="5851016"/>
            <a:ext cx="2412429" cy="179069"/>
          </a:xfrm>
          <a:prstGeom prst="rect">
            <a:avLst/>
          </a:prstGeom>
          <a:noFill/>
        </p:spPr>
        <p:txBody>
          <a:bodyPr wrap="none" lIns="0" rIns="0" tIns="0" bIns="0">
            <a:spAutoFit/>
          </a:bodyPr>
          <a:lstStyle/>
          <a:p>
            <a:r>
              <a:rPr sz="1050" b="0">
                <a:solidFill>
                  <a:srgbClr val="1F1F1F"/>
                </a:solidFill>
                <a:latin typeface="Calibri"/>
              </a:rPr>
              <a:t>and lowest priced crab species moves from</a:t>
            </a:r>
          </a:p>
        </p:txBody>
      </p:sp>
      <p:pic>
        <p:nvPicPr>
          <p:cNvPr id="65" name="Picture 64" descr="lock.png"/>
          <p:cNvPicPr>
            <a:picLocks noChangeAspect="1"/>
          </p:cNvPicPr>
          <p:nvPr/>
        </p:nvPicPr>
        <p:blipFill>
          <a:blip r:embed="rId6"/>
          <a:stretch>
            <a:fillRect/>
          </a:stretch>
        </p:blipFill>
        <p:spPr>
          <a:xfrm>
            <a:off x="11017603" y="5841682"/>
            <a:ext cx="122849" cy="178689"/>
          </a:xfrm>
          <a:prstGeom prst="rect">
            <a:avLst/>
          </a:prstGeom>
        </p:spPr>
      </p:pic>
      <p:sp>
        <p:nvSpPr>
          <p:cNvPr id="66" name="TextBox 65"/>
          <p:cNvSpPr txBox="1"/>
          <p:nvPr/>
        </p:nvSpPr>
        <p:spPr>
          <a:xfrm>
            <a:off x="11177486" y="5851016"/>
            <a:ext cx="478073" cy="179069"/>
          </a:xfrm>
          <a:prstGeom prst="rect">
            <a:avLst/>
          </a:prstGeom>
          <a:noFill/>
        </p:spPr>
        <p:txBody>
          <a:bodyPr wrap="none" lIns="0" rIns="0" tIns="0" bIns="0">
            <a:spAutoFit/>
          </a:bodyPr>
          <a:lstStyle/>
          <a:p>
            <a:r>
              <a:rPr sz="1050" b="0">
                <a:solidFill>
                  <a:srgbClr val="1F1F1F"/>
                </a:solidFill>
                <a:latin typeface="Calibri"/>
              </a:rPr>
              <a:t>in 2021</a:t>
            </a:r>
          </a:p>
        </p:txBody>
      </p:sp>
      <p:sp>
        <p:nvSpPr>
          <p:cNvPr id="67" name="TextBox 66"/>
          <p:cNvSpPr txBox="1"/>
          <p:nvPr/>
        </p:nvSpPr>
        <p:spPr>
          <a:xfrm>
            <a:off x="8658225" y="6011036"/>
            <a:ext cx="191318" cy="179069"/>
          </a:xfrm>
          <a:prstGeom prst="rect">
            <a:avLst/>
          </a:prstGeom>
          <a:noFill/>
        </p:spPr>
        <p:txBody>
          <a:bodyPr wrap="none" lIns="0" rIns="0" tIns="0" bIns="0">
            <a:spAutoFit/>
          </a:bodyPr>
          <a:lstStyle/>
          <a:p>
            <a:r>
              <a:rPr sz="1050" b="0">
                <a:solidFill>
                  <a:srgbClr val="1F1F1F"/>
                </a:solidFill>
                <a:latin typeface="Calibri"/>
              </a:rPr>
              <a:t>to</a:t>
            </a:r>
          </a:p>
        </p:txBody>
      </p:sp>
      <p:pic>
        <p:nvPicPr>
          <p:cNvPr id="68" name="Picture 67" descr="lock.png"/>
          <p:cNvPicPr>
            <a:picLocks noChangeAspect="1"/>
          </p:cNvPicPr>
          <p:nvPr/>
        </p:nvPicPr>
        <p:blipFill>
          <a:blip r:embed="rId6"/>
          <a:stretch>
            <a:fillRect/>
          </a:stretch>
        </p:blipFill>
        <p:spPr>
          <a:xfrm>
            <a:off x="8796492" y="6001702"/>
            <a:ext cx="122849" cy="178689"/>
          </a:xfrm>
          <a:prstGeom prst="rect">
            <a:avLst/>
          </a:prstGeom>
        </p:spPr>
      </p:pic>
      <p:sp>
        <p:nvSpPr>
          <p:cNvPr id="69" name="TextBox 68"/>
          <p:cNvSpPr txBox="1"/>
          <p:nvPr/>
        </p:nvSpPr>
        <p:spPr>
          <a:xfrm>
            <a:off x="8956375"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70" name="Picture 69" descr="lock.png"/>
          <p:cNvPicPr>
            <a:picLocks noChangeAspect="1"/>
          </p:cNvPicPr>
          <p:nvPr/>
        </p:nvPicPr>
        <p:blipFill>
          <a:blip r:embed="rId6"/>
          <a:stretch>
            <a:fillRect/>
          </a:stretch>
        </p:blipFill>
        <p:spPr>
          <a:xfrm>
            <a:off x="3418190" y="3048804"/>
            <a:ext cx="454926" cy="661711"/>
          </a:xfrm>
          <a:prstGeom prst="rect">
            <a:avLst/>
          </a:prstGeom>
        </p:spPr>
      </p:pic>
      <p:pic>
        <p:nvPicPr>
          <p:cNvPr id="71" name="Picture 70" descr="lock.png"/>
          <p:cNvPicPr>
            <a:picLocks noChangeAspect="1"/>
          </p:cNvPicPr>
          <p:nvPr/>
        </p:nvPicPr>
        <p:blipFill>
          <a:blip r:embed="rId6"/>
          <a:stretch>
            <a:fillRect/>
          </a:stretch>
        </p:blipFill>
        <p:spPr>
          <a:xfrm>
            <a:off x="9403270" y="2219134"/>
            <a:ext cx="256698" cy="373379"/>
          </a:xfrm>
          <a:prstGeom prst="rect">
            <a:avLst/>
          </a:prstGeom>
        </p:spPr>
      </p:pic>
      <p:sp>
        <p:nvSpPr>
          <p:cNvPr id="72"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crab species, 2026 (US$/MT)</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Crab Species by Region (US$/MT),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crab species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075183" cy="217169"/>
          </a:xfrm>
          <a:prstGeom prst="rect">
            <a:avLst/>
          </a:prstGeom>
          <a:noFill/>
        </p:spPr>
        <p:txBody>
          <a:bodyPr wrap="none" lIns="0" rIns="0" tIns="0" bIns="0">
            <a:spAutoFit/>
          </a:bodyPr>
          <a:lstStyle/>
          <a:p>
            <a:r>
              <a:rPr sz="1300" b="1">
                <a:solidFill>
                  <a:srgbClr val="FFFFFF"/>
                </a:solidFill>
                <a:latin typeface="Calibri"/>
              </a:rPr>
              <a:t>/MT in 2026, +</a:t>
            </a:r>
          </a:p>
        </p:txBody>
      </p:sp>
      <p:pic>
        <p:nvPicPr>
          <p:cNvPr id="36" name="Picture 35" descr="lock.png"/>
          <p:cNvPicPr>
            <a:picLocks noChangeAspect="1"/>
          </p:cNvPicPr>
          <p:nvPr/>
        </p:nvPicPr>
        <p:blipFill>
          <a:blip r:embed="rId5"/>
          <a:stretch>
            <a:fillRect/>
          </a:stretch>
        </p:blipFill>
        <p:spPr>
          <a:xfrm>
            <a:off x="5574929" y="1099058"/>
            <a:ext cx="152098" cy="221234"/>
          </a:xfrm>
          <a:prstGeom prst="rect">
            <a:avLst/>
          </a:prstGeom>
        </p:spPr>
      </p:pic>
      <p:sp>
        <p:nvSpPr>
          <p:cNvPr id="37" name="TextBox 36"/>
          <p:cNvSpPr txBox="1"/>
          <p:nvPr/>
        </p:nvSpPr>
        <p:spPr>
          <a:xfrm>
            <a:off x="5772879"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943859" cy="148589"/>
          </a:xfrm>
          <a:prstGeom prst="rect">
            <a:avLst/>
          </a:prstGeom>
          <a:noFill/>
        </p:spPr>
        <p:txBody>
          <a:bodyPr wrap="none" lIns="0" rIns="0" tIns="0" bIns="0">
            <a:spAutoFit/>
          </a:bodyPr>
          <a:lstStyle/>
          <a:p>
            <a:r>
              <a:rPr sz="850" b="0">
                <a:solidFill>
                  <a:srgbClr val="59636E"/>
                </a:solidFill>
                <a:latin typeface="Calibri"/>
              </a:rPr>
              <a:t>Bar spans the lowest to highest crab species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297879" y="1823910"/>
            <a:ext cx="99449" cy="144653"/>
          </a:xfrm>
          <a:prstGeom prst="rect">
            <a:avLst/>
          </a:prstGeom>
        </p:spPr>
      </p:pic>
      <p:sp>
        <p:nvSpPr>
          <p:cNvPr id="40" name="TextBox 39"/>
          <p:cNvSpPr txBox="1"/>
          <p:nvPr/>
        </p:nvSpPr>
        <p:spPr>
          <a:xfrm>
            <a:off x="5427307"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1927993" cy="179069"/>
          </a:xfrm>
          <a:prstGeom prst="rect">
            <a:avLst/>
          </a:prstGeom>
          <a:noFill/>
        </p:spPr>
        <p:txBody>
          <a:bodyPr wrap="none" lIns="0" rIns="0" tIns="0" bIns="0">
            <a:spAutoFit/>
          </a:bodyPr>
          <a:lstStyle/>
          <a:p>
            <a:r>
              <a:rPr sz="1050" b="0">
                <a:solidFill>
                  <a:srgbClr val="1F1F1F"/>
                </a:solidFill>
                <a:latin typeface="Calibri"/>
              </a:rPr>
              <a:t>/MT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297706" cy="179069"/>
          </a:xfrm>
          <a:prstGeom prst="rect">
            <a:avLst/>
          </a:prstGeom>
          <a:noFill/>
        </p:spPr>
        <p:txBody>
          <a:bodyPr wrap="none" lIns="0" rIns="0" tIns="0" bIns="0">
            <a:spAutoFit/>
          </a:bodyPr>
          <a:lstStyle/>
          <a:p>
            <a:r>
              <a:rPr sz="1050" b="0">
                <a:solidFill>
                  <a:srgbClr val="1F1F1F"/>
                </a:solidFill>
                <a:latin typeface="Calibri"/>
              </a:rPr>
              <a:t>/MT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East Asia shows the widest gap between its cheapest and</a:t>
            </a:r>
          </a:p>
        </p:txBody>
      </p:sp>
      <p:sp>
        <p:nvSpPr>
          <p:cNvPr id="57" name="TextBox 56"/>
          <p:cNvSpPr txBox="1"/>
          <p:nvPr/>
        </p:nvSpPr>
        <p:spPr>
          <a:xfrm>
            <a:off x="8658225" y="5690996"/>
            <a:ext cx="1750888" cy="179069"/>
          </a:xfrm>
          <a:prstGeom prst="rect">
            <a:avLst/>
          </a:prstGeom>
          <a:noFill/>
        </p:spPr>
        <p:txBody>
          <a:bodyPr wrap="none" lIns="0" rIns="0" tIns="0" bIns="0">
            <a:spAutoFit/>
          </a:bodyPr>
          <a:lstStyle/>
          <a:p>
            <a:r>
              <a:rPr sz="1050" b="0">
                <a:solidFill>
                  <a:srgbClr val="1F1F1F"/>
                </a:solidFill>
                <a:latin typeface="Calibri"/>
              </a:rPr>
              <a:t>most expensive crab species at</a:t>
            </a:r>
          </a:p>
        </p:txBody>
      </p:sp>
      <p:pic>
        <p:nvPicPr>
          <p:cNvPr id="58" name="Picture 57" descr="lock.png"/>
          <p:cNvPicPr>
            <a:picLocks noChangeAspect="1"/>
          </p:cNvPicPr>
          <p:nvPr/>
        </p:nvPicPr>
        <p:blipFill>
          <a:blip r:embed="rId5"/>
          <a:stretch>
            <a:fillRect/>
          </a:stretch>
        </p:blipFill>
        <p:spPr>
          <a:xfrm>
            <a:off x="10356062" y="5681662"/>
            <a:ext cx="122849" cy="178689"/>
          </a:xfrm>
          <a:prstGeom prst="rect">
            <a:avLst/>
          </a:prstGeom>
        </p:spPr>
      </p:pic>
      <p:sp>
        <p:nvSpPr>
          <p:cNvPr id="59" name="TextBox 58"/>
          <p:cNvSpPr txBox="1"/>
          <p:nvPr/>
        </p:nvSpPr>
        <p:spPr>
          <a:xfrm>
            <a:off x="10515945" y="5690996"/>
            <a:ext cx="1266713" cy="179069"/>
          </a:xfrm>
          <a:prstGeom prst="rect">
            <a:avLst/>
          </a:prstGeom>
          <a:noFill/>
        </p:spPr>
        <p:txBody>
          <a:bodyPr wrap="none" lIns="0" rIns="0" tIns="0" bIns="0">
            <a:spAutoFit/>
          </a:bodyPr>
          <a:lstStyle/>
          <a:p>
            <a:r>
              <a:rPr sz="1050" b="0">
                <a:solidFill>
                  <a:srgbClr val="1F1F1F"/>
                </a:solidFill>
                <a:latin typeface="Calibri"/>
              </a:rPr>
              <a:t>, so product mix shifts</a:t>
            </a:r>
          </a:p>
        </p:txBody>
      </p:sp>
      <p:sp>
        <p:nvSpPr>
          <p:cNvPr id="60" name="TextBox 59"/>
          <p:cNvSpPr txBox="1"/>
          <p:nvPr/>
        </p:nvSpPr>
        <p:spPr>
          <a:xfrm>
            <a:off x="8658225" y="5851016"/>
            <a:ext cx="1847254" cy="179069"/>
          </a:xfrm>
          <a:prstGeom prst="rect">
            <a:avLst/>
          </a:prstGeom>
          <a:noFill/>
        </p:spPr>
        <p:txBody>
          <a:bodyPr wrap="none" lIns="0" rIns="0" tIns="0" bIns="0">
            <a:spAutoFit/>
          </a:bodyPr>
          <a:lstStyle/>
          <a:p>
            <a:r>
              <a:rPr sz="1050" b="0">
                <a:solidFill>
                  <a:srgbClr val="1F1F1F"/>
                </a:solidFill>
                <a:latin typeface="Calibri"/>
              </a:rPr>
              <a:t>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(US$/MT).</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1,300</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2,630</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3,961</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5,291</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6,622</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7,953</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4333866" y="2100912"/>
            <a:ext cx="259319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29973"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3122300" y="2824823"/>
            <a:ext cx="184491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27510"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3949099" y="3548733"/>
            <a:ext cx="234882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2820"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372902" y="4272643"/>
            <a:ext cx="140779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49584"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118145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606448"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3024799" y="5720463"/>
            <a:ext cx="177901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901325"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431071" cy="194310"/>
          </a:xfrm>
          <a:prstGeom prst="rect">
            <a:avLst/>
          </a:prstGeom>
          <a:noFill/>
        </p:spPr>
        <p:txBody>
          <a:bodyPr wrap="none" lIns="0" rIns="0" tIns="0" bIns="0">
            <a:spAutoFit/>
          </a:bodyPr>
          <a:lstStyle/>
          <a:p>
            <a:r>
              <a:rPr sz="1150" b="0">
                <a:solidFill>
                  <a:srgbClr val="2E2E2E"/>
                </a:solidFill>
                <a:latin typeface="Calibri"/>
              </a:rPr>
              <a:t>Snow crab segment is expected to command the highest</a:t>
            </a:r>
          </a:p>
        </p:txBody>
      </p:sp>
      <p:sp>
        <p:nvSpPr>
          <p:cNvPr id="54" name="TextBox 53"/>
          <p:cNvSpPr txBox="1"/>
          <p:nvPr/>
        </p:nvSpPr>
        <p:spPr>
          <a:xfrm>
            <a:off x="8048625" y="1911934"/>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55" name="Picture 54" descr="lock.png"/>
          <p:cNvPicPr>
            <a:picLocks noChangeAspect="1"/>
          </p:cNvPicPr>
          <p:nvPr/>
        </p:nvPicPr>
        <p:blipFill>
          <a:blip r:embed="rId4"/>
          <a:stretch>
            <a:fillRect/>
          </a:stretch>
        </p:blipFill>
        <p:spPr>
          <a:xfrm>
            <a:off x="9296862" y="1901710"/>
            <a:ext cx="134549" cy="195707"/>
          </a:xfrm>
          <a:prstGeom prst="rect">
            <a:avLst/>
          </a:prstGeom>
        </p:spPr>
      </p:pic>
      <p:sp>
        <p:nvSpPr>
          <p:cNvPr id="56" name="TextBox 55"/>
          <p:cNvSpPr txBox="1"/>
          <p:nvPr/>
        </p:nvSpPr>
        <p:spPr>
          <a:xfrm>
            <a:off x="9471971" y="1911934"/>
            <a:ext cx="2273185" cy="194310"/>
          </a:xfrm>
          <a:prstGeom prst="rect">
            <a:avLst/>
          </a:prstGeom>
          <a:noFill/>
        </p:spPr>
        <p:txBody>
          <a:bodyPr wrap="none" lIns="0" rIns="0" tIns="0" bIns="0">
            <a:spAutoFit/>
          </a:bodyPr>
          <a:lstStyle/>
          <a:p>
            <a:r>
              <a:rPr sz="1150" b="0">
                <a:solidFill>
                  <a:srgbClr val="2E2E2E"/>
                </a:solidFill>
                <a:latin typeface="Calibri"/>
              </a:rPr>
              <a:t>per MT in 2036. Average selling price</a:t>
            </a:r>
          </a:p>
        </p:txBody>
      </p:sp>
      <p:sp>
        <p:nvSpPr>
          <p:cNvPr id="57" name="TextBox 56"/>
          <p:cNvSpPr txBox="1"/>
          <p:nvPr/>
        </p:nvSpPr>
        <p:spPr>
          <a:xfrm>
            <a:off x="8048625" y="2087194"/>
            <a:ext cx="2006513" cy="194310"/>
          </a:xfrm>
          <a:prstGeom prst="rect">
            <a:avLst/>
          </a:prstGeom>
          <a:noFill/>
        </p:spPr>
        <p:txBody>
          <a:bodyPr wrap="none" lIns="0" rIns="0" tIns="0" bIns="0">
            <a:spAutoFit/>
          </a:bodyPr>
          <a:lstStyle/>
          <a:p>
            <a:r>
              <a:rPr sz="1150" b="0">
                <a:solidFill>
                  <a:srgbClr val="2E2E2E"/>
                </a:solidFill>
                <a:latin typeface="Calibri"/>
              </a:rPr>
              <a:t>of crab meat is estimated at US$</a:t>
            </a:r>
          </a:p>
        </p:txBody>
      </p:sp>
      <p:pic>
        <p:nvPicPr>
          <p:cNvPr id="58" name="Picture 57" descr="lock.png"/>
          <p:cNvPicPr>
            <a:picLocks noChangeAspect="1"/>
          </p:cNvPicPr>
          <p:nvPr/>
        </p:nvPicPr>
        <p:blipFill>
          <a:blip r:embed="rId4"/>
          <a:stretch>
            <a:fillRect/>
          </a:stretch>
        </p:blipFill>
        <p:spPr>
          <a:xfrm>
            <a:off x="10004292" y="2076970"/>
            <a:ext cx="134549" cy="195707"/>
          </a:xfrm>
          <a:prstGeom prst="rect">
            <a:avLst/>
          </a:prstGeom>
        </p:spPr>
      </p:pic>
      <p:sp>
        <p:nvSpPr>
          <p:cNvPr id="59" name="TextBox 58"/>
          <p:cNvSpPr txBox="1"/>
          <p:nvPr/>
        </p:nvSpPr>
        <p:spPr>
          <a:xfrm>
            <a:off x="10179401" y="2087194"/>
            <a:ext cx="1359557" cy="194310"/>
          </a:xfrm>
          <a:prstGeom prst="rect">
            <a:avLst/>
          </a:prstGeom>
          <a:noFill/>
        </p:spPr>
        <p:txBody>
          <a:bodyPr wrap="none" lIns="0" rIns="0" tIns="0" bIns="0">
            <a:spAutoFit/>
          </a:bodyPr>
          <a:lstStyle/>
          <a:p>
            <a:r>
              <a:rPr sz="1150" b="0">
                <a:solidFill>
                  <a:srgbClr val="2E2E2E"/>
                </a:solidFill>
                <a:latin typeface="Calibri"/>
              </a:rPr>
              <a:t>per MT in 2025 and is</a:t>
            </a:r>
          </a:p>
        </p:txBody>
      </p:sp>
      <p:sp>
        <p:nvSpPr>
          <p:cNvPr id="60" name="TextBox 59"/>
          <p:cNvSpPr txBox="1"/>
          <p:nvPr/>
        </p:nvSpPr>
        <p:spPr>
          <a:xfrm>
            <a:off x="8048625" y="2262454"/>
            <a:ext cx="1764617" cy="194310"/>
          </a:xfrm>
          <a:prstGeom prst="rect">
            <a:avLst/>
          </a:prstGeom>
          <a:noFill/>
        </p:spPr>
        <p:txBody>
          <a:bodyPr wrap="none" lIns="0" rIns="0" tIns="0" bIns="0">
            <a:spAutoFit/>
          </a:bodyPr>
          <a:lstStyle/>
          <a:p>
            <a:r>
              <a:rPr sz="1150" b="0">
                <a:solidFill>
                  <a:srgbClr val="2E2E2E"/>
                </a:solidFill>
                <a:latin typeface="Calibri"/>
              </a:rPr>
              <a:t>projected to increase to US$</a:t>
            </a:r>
          </a:p>
        </p:txBody>
      </p:sp>
      <p:pic>
        <p:nvPicPr>
          <p:cNvPr id="61" name="Picture 60" descr="lock.png"/>
          <p:cNvPicPr>
            <a:picLocks noChangeAspect="1"/>
          </p:cNvPicPr>
          <p:nvPr/>
        </p:nvPicPr>
        <p:blipFill>
          <a:blip r:embed="rId4"/>
          <a:stretch>
            <a:fillRect/>
          </a:stretch>
        </p:blipFill>
        <p:spPr>
          <a:xfrm>
            <a:off x="9762396" y="2252230"/>
            <a:ext cx="134549" cy="195707"/>
          </a:xfrm>
          <a:prstGeom prst="rect">
            <a:avLst/>
          </a:prstGeom>
        </p:spPr>
      </p:pic>
      <p:sp>
        <p:nvSpPr>
          <p:cNvPr id="62" name="TextBox 61"/>
          <p:cNvSpPr txBox="1"/>
          <p:nvPr/>
        </p:nvSpPr>
        <p:spPr>
          <a:xfrm>
            <a:off x="9937506" y="2262454"/>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63" name="TextBox 62"/>
          <p:cNvSpPr txBox="1"/>
          <p:nvPr/>
        </p:nvSpPr>
        <p:spPr>
          <a:xfrm>
            <a:off x="8048625" y="2490292"/>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4" name="TextBox 63"/>
          <p:cNvSpPr txBox="1"/>
          <p:nvPr/>
        </p:nvSpPr>
        <p:spPr>
          <a:xfrm>
            <a:off x="8048625" y="266555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5" name="TextBox 64"/>
          <p:cNvSpPr txBox="1"/>
          <p:nvPr/>
        </p:nvSpPr>
        <p:spPr>
          <a:xfrm>
            <a:off x="8048625" y="284081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6" name="TextBox 65"/>
          <p:cNvSpPr txBox="1"/>
          <p:nvPr/>
        </p:nvSpPr>
        <p:spPr>
          <a:xfrm>
            <a:off x="8048625" y="301607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7" name="TextBox 66"/>
          <p:cNvSpPr txBox="1"/>
          <p:nvPr/>
        </p:nvSpPr>
        <p:spPr>
          <a:xfrm>
            <a:off x="8048625" y="324390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8" name="TextBox 67"/>
          <p:cNvSpPr txBox="1"/>
          <p:nvPr/>
        </p:nvSpPr>
        <p:spPr>
          <a:xfrm>
            <a:off x="8048625" y="341916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69" name="TextBox 68"/>
          <p:cNvSpPr txBox="1"/>
          <p:nvPr/>
        </p:nvSpPr>
        <p:spPr>
          <a:xfrm>
            <a:off x="8048625" y="359442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Crab Meat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2199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0294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39090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03847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67652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31457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96215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75285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75285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5285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5285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5285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5285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64406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95879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95879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4406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59080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1951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9566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88564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6505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6198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1951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05424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3278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5337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2055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142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78142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78142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78142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78142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9562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32758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508897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508897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32758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9562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86366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10227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10227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86366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439025" y="1354081"/>
            <a:ext cx="46101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72375" y="1439806"/>
            <a:ext cx="43434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572375" y="1677931"/>
            <a:ext cx="4343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72375" y="1763656"/>
            <a:ext cx="43434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Crab Meat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Crab Meat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439025" y="4943046"/>
            <a:ext cx="46101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72375" y="5028771"/>
            <a:ext cx="43434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572375" y="5266896"/>
            <a:ext cx="4343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72375" y="5352621"/>
            <a:ext cx="43434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38402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991902" y="1889132"/>
            <a:ext cx="128699" cy="187198"/>
          </a:xfrm>
          <a:prstGeom prst="rect">
            <a:avLst/>
          </a:prstGeom>
        </p:spPr>
      </p:pic>
      <p:sp>
        <p:nvSpPr>
          <p:cNvPr id="65" name="TextBox 64"/>
          <p:cNvSpPr txBox="1"/>
          <p:nvPr/>
        </p:nvSpPr>
        <p:spPr>
          <a:xfrm>
            <a:off x="440993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466238" y="2315626"/>
            <a:ext cx="92663" cy="134782"/>
          </a:xfrm>
          <a:prstGeom prst="rect">
            <a:avLst/>
          </a:prstGeom>
        </p:spPr>
      </p:pic>
      <p:sp>
        <p:nvSpPr>
          <p:cNvPr id="67" name="TextBox 66"/>
          <p:cNvSpPr txBox="1"/>
          <p:nvPr/>
        </p:nvSpPr>
        <p:spPr>
          <a:xfrm>
            <a:off x="517859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220361" y="3363591"/>
            <a:ext cx="92663" cy="134782"/>
          </a:xfrm>
          <a:prstGeom prst="rect">
            <a:avLst/>
          </a:prstGeom>
        </p:spPr>
      </p:pic>
      <p:sp>
        <p:nvSpPr>
          <p:cNvPr id="69" name="TextBox 68"/>
          <p:cNvSpPr txBox="1"/>
          <p:nvPr/>
        </p:nvSpPr>
        <p:spPr>
          <a:xfrm>
            <a:off x="516779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225966" y="4655202"/>
            <a:ext cx="97811" cy="142270"/>
          </a:xfrm>
          <a:prstGeom prst="rect">
            <a:avLst/>
          </a:prstGeom>
        </p:spPr>
      </p:pic>
      <p:sp>
        <p:nvSpPr>
          <p:cNvPr id="71" name="TextBox 70"/>
          <p:cNvSpPr txBox="1"/>
          <p:nvPr/>
        </p:nvSpPr>
        <p:spPr>
          <a:xfrm>
            <a:off x="437491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933238" y="5767261"/>
            <a:ext cx="92663" cy="134782"/>
          </a:xfrm>
          <a:prstGeom prst="rect">
            <a:avLst/>
          </a:prstGeom>
        </p:spPr>
      </p:pic>
      <p:sp>
        <p:nvSpPr>
          <p:cNvPr id="73" name="TextBox 72"/>
          <p:cNvSpPr txBox="1"/>
          <p:nvPr/>
        </p:nvSpPr>
        <p:spPr>
          <a:xfrm>
            <a:off x="319228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214786" y="6103453"/>
            <a:ext cx="97811" cy="142270"/>
          </a:xfrm>
          <a:prstGeom prst="rect">
            <a:avLst/>
          </a:prstGeom>
        </p:spPr>
      </p:pic>
      <p:sp>
        <p:nvSpPr>
          <p:cNvPr id="75" name="TextBox 74"/>
          <p:cNvSpPr txBox="1"/>
          <p:nvPr/>
        </p:nvSpPr>
        <p:spPr>
          <a:xfrm>
            <a:off x="200196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35592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592427" y="5767261"/>
            <a:ext cx="92663" cy="134782"/>
          </a:xfrm>
          <a:prstGeom prst="rect">
            <a:avLst/>
          </a:prstGeom>
        </p:spPr>
      </p:pic>
      <p:sp>
        <p:nvSpPr>
          <p:cNvPr id="78" name="TextBox 77"/>
          <p:cNvSpPr txBox="1"/>
          <p:nvPr/>
        </p:nvSpPr>
        <p:spPr>
          <a:xfrm>
            <a:off x="119244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707935" y="4719297"/>
            <a:ext cx="92663" cy="134782"/>
          </a:xfrm>
          <a:prstGeom prst="rect">
            <a:avLst/>
          </a:prstGeom>
        </p:spPr>
      </p:pic>
      <p:sp>
        <p:nvSpPr>
          <p:cNvPr id="80" name="TextBox 79"/>
          <p:cNvSpPr txBox="1"/>
          <p:nvPr/>
        </p:nvSpPr>
        <p:spPr>
          <a:xfrm>
            <a:off x="117510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250463" y="3363591"/>
            <a:ext cx="92663" cy="134782"/>
          </a:xfrm>
          <a:prstGeom prst="rect">
            <a:avLst/>
          </a:prstGeom>
        </p:spPr>
      </p:pic>
      <p:sp>
        <p:nvSpPr>
          <p:cNvPr id="82" name="TextBox 81"/>
          <p:cNvSpPr txBox="1"/>
          <p:nvPr/>
        </p:nvSpPr>
        <p:spPr>
          <a:xfrm>
            <a:off x="194597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469326" y="2375977"/>
            <a:ext cx="92663" cy="134782"/>
          </a:xfrm>
          <a:prstGeom prst="rect">
            <a:avLst/>
          </a:prstGeom>
        </p:spPr>
      </p:pic>
      <p:sp>
        <p:nvSpPr>
          <p:cNvPr id="84" name="TextBox 83"/>
          <p:cNvSpPr txBox="1"/>
          <p:nvPr/>
        </p:nvSpPr>
        <p:spPr>
          <a:xfrm>
            <a:off x="75723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261293" y="5352366"/>
            <a:ext cx="128699" cy="187198"/>
          </a:xfrm>
          <a:prstGeom prst="rect">
            <a:avLst/>
          </a:prstGeom>
        </p:spPr>
      </p:pic>
      <p:sp>
        <p:nvSpPr>
          <p:cNvPr id="86" name="TextBox 85"/>
          <p:cNvSpPr txBox="1"/>
          <p:nvPr/>
        </p:nvSpPr>
        <p:spPr>
          <a:xfrm>
            <a:off x="84287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5723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371798" y="5570298"/>
            <a:ext cx="128699" cy="187198"/>
          </a:xfrm>
          <a:prstGeom prst="rect">
            <a:avLst/>
          </a:prstGeom>
        </p:spPr>
      </p:pic>
      <p:sp>
        <p:nvSpPr>
          <p:cNvPr id="89" name="TextBox 88"/>
          <p:cNvSpPr txBox="1"/>
          <p:nvPr/>
        </p:nvSpPr>
        <p:spPr>
          <a:xfrm>
            <a:off x="95392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5723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998810" y="5788230"/>
            <a:ext cx="128699" cy="187198"/>
          </a:xfrm>
          <a:prstGeom prst="rect">
            <a:avLst/>
          </a:prstGeom>
        </p:spPr>
      </p:pic>
      <p:sp>
        <p:nvSpPr>
          <p:cNvPr id="92" name="TextBox 91"/>
          <p:cNvSpPr txBox="1"/>
          <p:nvPr/>
        </p:nvSpPr>
        <p:spPr>
          <a:xfrm>
            <a:off x="91663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5723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9045741" y="6006162"/>
            <a:ext cx="128699" cy="187198"/>
          </a:xfrm>
          <a:prstGeom prst="rect">
            <a:avLst/>
          </a:prstGeom>
        </p:spPr>
      </p:pic>
      <p:sp>
        <p:nvSpPr>
          <p:cNvPr id="95" name="TextBox 94"/>
          <p:cNvSpPr txBox="1"/>
          <p:nvPr/>
        </p:nvSpPr>
        <p:spPr>
          <a:xfrm>
            <a:off x="92132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5723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9120502" y="6224094"/>
            <a:ext cx="128699" cy="187198"/>
          </a:xfrm>
          <a:prstGeom prst="rect">
            <a:avLst/>
          </a:prstGeom>
        </p:spPr>
      </p:pic>
      <p:sp>
        <p:nvSpPr>
          <p:cNvPr id="98" name="TextBox 97"/>
          <p:cNvSpPr txBox="1"/>
          <p:nvPr/>
        </p:nvSpPr>
        <p:spPr>
          <a:xfrm>
            <a:off x="92879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(US$/MT)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(US$/MT)</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crab species type and region (US$/MT).</a:t>
            </a:r>
          </a:p>
        </p:txBody>
      </p:sp>
      <p:sp>
        <p:nvSpPr>
          <p:cNvPr id="11" name="Rounded Rectangle 10"/>
          <p:cNvSpPr/>
          <p:nvPr/>
        </p:nvSpPr>
        <p:spPr>
          <a:xfrm>
            <a:off x="142875" y="1314450"/>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Crab Species (US$/MT)</a:t>
            </a:r>
          </a:p>
        </p:txBody>
      </p:sp>
      <p:graphicFrame>
        <p:nvGraphicFramePr>
          <p:cNvPr id="13" name="Table 12"/>
          <p:cNvGraphicFramePr>
            <a:graphicFrameLocks noGrp="1"/>
          </p:cNvGraphicFramePr>
          <p:nvPr/>
        </p:nvGraphicFramePr>
        <p:xfrm>
          <a:off x="152400" y="1571625"/>
          <a:ext cx="11887201" cy="2409822"/>
        </p:xfrm>
        <a:graphic>
          <a:graphicData uri="http://schemas.openxmlformats.org/drawingml/2006/table">
            <a:tbl>
              <a:tblPr>
                <a:tableStyleId>{5C22544A-7EE6-4342-B048-85BDC9FD1C3A}</a:tableStyleId>
              </a:tblPr>
              <a:tblGrid>
                <a:gridCol w="1467315"/>
                <a:gridCol w="1327022"/>
                <a:gridCol w="1327022"/>
                <a:gridCol w="1327022"/>
                <a:gridCol w="1327022"/>
                <a:gridCol w="1327022"/>
                <a:gridCol w="2741164"/>
                <a:gridCol w="1043612"/>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Blue Crab</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King Crab</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Snow Crab</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Dungeness Crab</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Mud Crab</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Other commercially traded 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338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42968" y="2632899"/>
            <a:ext cx="366712" cy="533400"/>
          </a:xfrm>
          <a:prstGeom prst="rect">
            <a:avLst/>
          </a:prstGeom>
        </p:spPr>
      </p:pic>
      <p:sp>
        <p:nvSpPr>
          <p:cNvPr id="21" name="TextBox 20"/>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742751"/>
            <a:ext cx="134549" cy="195707"/>
          </a:xfrm>
          <a:prstGeom prst="rect">
            <a:avLst/>
          </a:prstGeom>
        </p:spPr>
      </p:pic>
      <p:sp>
        <p:nvSpPr>
          <p:cNvPr id="23" name="TextBox 22"/>
          <p:cNvSpPr txBox="1"/>
          <p:nvPr/>
        </p:nvSpPr>
        <p:spPr>
          <a:xfrm>
            <a:off x="5042176" y="4752975"/>
            <a:ext cx="3590528" cy="194310"/>
          </a:xfrm>
          <a:prstGeom prst="rect">
            <a:avLst/>
          </a:prstGeom>
          <a:noFill/>
        </p:spPr>
        <p:txBody>
          <a:bodyPr wrap="none" lIns="0" rIns="0" tIns="0" bIns="0">
            <a:spAutoFit/>
          </a:bodyPr>
          <a:lstStyle/>
          <a:p>
            <a:r>
              <a:rPr sz="1150" b="0">
                <a:solidFill>
                  <a:srgbClr val="2E2E2E"/>
                </a:solidFill>
                <a:latin typeface="Calibri"/>
              </a:rPr>
              <a:t>US$/MT) and 'South Asia &amp; Pacific' the most competitive (~</a:t>
            </a:r>
          </a:p>
        </p:txBody>
      </p:sp>
      <p:pic>
        <p:nvPicPr>
          <p:cNvPr id="24" name="Picture 23" descr="lock.png"/>
          <p:cNvPicPr>
            <a:picLocks noChangeAspect="1"/>
          </p:cNvPicPr>
          <p:nvPr/>
        </p:nvPicPr>
        <p:blipFill>
          <a:blip r:embed="rId4"/>
          <a:stretch>
            <a:fillRect/>
          </a:stretch>
        </p:blipFill>
        <p:spPr>
          <a:xfrm>
            <a:off x="8581859" y="4742751"/>
            <a:ext cx="134549" cy="195707"/>
          </a:xfrm>
          <a:prstGeom prst="rect">
            <a:avLst/>
          </a:prstGeom>
        </p:spPr>
      </p:pic>
      <p:sp>
        <p:nvSpPr>
          <p:cNvPr id="25" name="TextBox 24"/>
          <p:cNvSpPr txBox="1"/>
          <p:nvPr/>
        </p:nvSpPr>
        <p:spPr>
          <a:xfrm>
            <a:off x="8756968" y="4752975"/>
            <a:ext cx="644996" cy="194310"/>
          </a:xfrm>
          <a:prstGeom prst="rect">
            <a:avLst/>
          </a:prstGeom>
          <a:noFill/>
        </p:spPr>
        <p:txBody>
          <a:bodyPr wrap="none" lIns="0" rIns="0" tIns="0" bIns="0">
            <a:spAutoFit/>
          </a:bodyPr>
          <a:lstStyle/>
          <a:p>
            <a:r>
              <a:rPr sz="1150" b="0">
                <a:solidFill>
                  <a:srgbClr val="2E2E2E"/>
                </a:solidFill>
                <a:latin typeface="Calibri"/>
              </a:rPr>
              <a:t>US$/MT).</a:t>
            </a:r>
          </a:p>
        </p:txBody>
      </p:sp>
      <p:sp>
        <p:nvSpPr>
          <p:cNvPr id="26" name="TextBox 25"/>
          <p:cNvSpPr txBox="1"/>
          <p:nvPr/>
        </p:nvSpPr>
        <p:spPr>
          <a:xfrm>
            <a:off x="276225" y="4980813"/>
            <a:ext cx="5887107" cy="194310"/>
          </a:xfrm>
          <a:prstGeom prst="rect">
            <a:avLst/>
          </a:prstGeom>
          <a:noFill/>
        </p:spPr>
        <p:txBody>
          <a:bodyPr wrap="none" lIns="0" rIns="0" tIns="0" bIns="0">
            <a:spAutoFit/>
          </a:bodyPr>
          <a:lstStyle/>
          <a:p>
            <a:r>
              <a:rPr sz="1150" b="0">
                <a:solidFill>
                  <a:srgbClr val="2E2E2E"/>
                </a:solidFill>
                <a:latin typeface="Calibri"/>
              </a:rPr>
              <a:t>▪ Price ranges are benchmarked per crab species type at 2026, derived as Value ÷ Volume with a ±</a:t>
            </a:r>
          </a:p>
        </p:txBody>
      </p:sp>
      <p:pic>
        <p:nvPicPr>
          <p:cNvPr id="27" name="Picture 26" descr="lock.png"/>
          <p:cNvPicPr>
            <a:picLocks noChangeAspect="1"/>
          </p:cNvPicPr>
          <p:nvPr/>
        </p:nvPicPr>
        <p:blipFill>
          <a:blip r:embed="rId4"/>
          <a:stretch>
            <a:fillRect/>
          </a:stretch>
        </p:blipFill>
        <p:spPr>
          <a:xfrm>
            <a:off x="6112486" y="4970589"/>
            <a:ext cx="134549" cy="195707"/>
          </a:xfrm>
          <a:prstGeom prst="rect">
            <a:avLst/>
          </a:prstGeom>
        </p:spPr>
      </p:pic>
      <p:sp>
        <p:nvSpPr>
          <p:cNvPr id="28" name="TextBox 27"/>
          <p:cNvSpPr txBox="1"/>
          <p:nvPr/>
        </p:nvSpPr>
        <p:spPr>
          <a:xfrm>
            <a:off x="6287595"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198427"/>
            <a:ext cx="134549" cy="195707"/>
          </a:xfrm>
          <a:prstGeom prst="rect">
            <a:avLst/>
          </a:prstGeom>
        </p:spPr>
      </p:pic>
      <p:sp>
        <p:nvSpPr>
          <p:cNvPr id="31" name="TextBox 30"/>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crab species type and the structural factors shaping it (US$/MT).</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Crab Species (US$/MT)</a:t>
            </a:r>
          </a:p>
        </p:txBody>
      </p:sp>
      <p:graphicFrame>
        <p:nvGraphicFramePr>
          <p:cNvPr id="13" name="Table 12"/>
          <p:cNvGraphicFramePr>
            <a:graphicFrameLocks noGrp="1"/>
          </p:cNvGraphicFramePr>
          <p:nvPr/>
        </p:nvGraphicFramePr>
        <p:xfrm>
          <a:off x="152400" y="1574749"/>
          <a:ext cx="11887198" cy="1504674"/>
        </p:xfrm>
        <a:graphic>
          <a:graphicData uri="http://schemas.openxmlformats.org/drawingml/2006/table">
            <a:tbl>
              <a:tblPr>
                <a:tableStyleId>{5C22544A-7EE6-4342-B048-85BDC9FD1C3A}</a:tableStyleId>
              </a:tblPr>
              <a:tblGrid>
                <a:gridCol w="2238160"/>
                <a:gridCol w="1608173"/>
                <a:gridCol w="1608173"/>
                <a:gridCol w="1608173"/>
                <a:gridCol w="1608173"/>
                <a:gridCol w="1608173"/>
                <a:gridCol w="1608173"/>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1258548">
                <a:tc>
                  <a:txBody>
                    <a:bodyPr wrap="none"/>
                    <a:lstStyle/>
                    <a:p>
                      <a:pPr algn="l"/>
                      <a:r>
                        <a:rPr sz="1100" b="1">
                          <a:solidFill>
                            <a:srgbClr val="2E2E2E"/>
                          </a:solidFill>
                          <a:latin typeface="Calibri"/>
                        </a:rPr>
                        <a:t>Blue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7028388" y="2183449"/>
            <a:ext cx="366712" cy="533400"/>
          </a:xfrm>
          <a:prstGeom prst="rect">
            <a:avLst/>
          </a:prstGeom>
        </p:spPr>
      </p:pic>
      <p:sp>
        <p:nvSpPr>
          <p:cNvPr id="25" name="TextBox 24"/>
          <p:cNvSpPr txBox="1"/>
          <p:nvPr/>
        </p:nvSpPr>
        <p:spPr>
          <a:xfrm>
            <a:off x="6334125" y="3817595"/>
            <a:ext cx="3298102" cy="194310"/>
          </a:xfrm>
          <a:prstGeom prst="rect">
            <a:avLst/>
          </a:prstGeom>
          <a:noFill/>
        </p:spPr>
        <p:txBody>
          <a:bodyPr wrap="none" lIns="0" rIns="0" tIns="0" bIns="0">
            <a:spAutoFit/>
          </a:bodyPr>
          <a:lstStyle/>
          <a:p>
            <a:r>
              <a:rPr sz="1150" b="0">
                <a:solidFill>
                  <a:srgbClr val="2E2E2E"/>
                </a:solidFill>
                <a:latin typeface="Calibri"/>
              </a:rPr>
              <a:t>▪ Average crab species price is projected to rise from ~</a:t>
            </a:r>
          </a:p>
        </p:txBody>
      </p:sp>
      <p:pic>
        <p:nvPicPr>
          <p:cNvPr id="26" name="Picture 25" descr="lock.png"/>
          <p:cNvPicPr>
            <a:picLocks noChangeAspect="1"/>
          </p:cNvPicPr>
          <p:nvPr/>
        </p:nvPicPr>
        <p:blipFill>
          <a:blip r:embed="rId4"/>
          <a:stretch>
            <a:fillRect/>
          </a:stretch>
        </p:blipFill>
        <p:spPr>
          <a:xfrm>
            <a:off x="9581381" y="3807371"/>
            <a:ext cx="134549" cy="195707"/>
          </a:xfrm>
          <a:prstGeom prst="rect">
            <a:avLst/>
          </a:prstGeom>
        </p:spPr>
      </p:pic>
      <p:sp>
        <p:nvSpPr>
          <p:cNvPr id="27" name="TextBox 26"/>
          <p:cNvSpPr txBox="1"/>
          <p:nvPr/>
        </p:nvSpPr>
        <p:spPr>
          <a:xfrm>
            <a:off x="9756490"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013756" y="3807371"/>
            <a:ext cx="134549" cy="195707"/>
          </a:xfrm>
          <a:prstGeom prst="rect">
            <a:avLst/>
          </a:prstGeom>
        </p:spPr>
      </p:pic>
      <p:sp>
        <p:nvSpPr>
          <p:cNvPr id="29" name="TextBox 28"/>
          <p:cNvSpPr txBox="1"/>
          <p:nvPr/>
        </p:nvSpPr>
        <p:spPr>
          <a:xfrm>
            <a:off x="10188865" y="3817595"/>
            <a:ext cx="1278545" cy="194310"/>
          </a:xfrm>
          <a:prstGeom prst="rect">
            <a:avLst/>
          </a:prstGeom>
          <a:noFill/>
        </p:spPr>
        <p:txBody>
          <a:bodyPr wrap="none" lIns="0" rIns="0" tIns="0" bIns="0">
            <a:spAutoFit/>
          </a:bodyPr>
          <a:lstStyle/>
          <a:p>
            <a:r>
              <a:rPr sz="1150" b="0">
                <a:solidFill>
                  <a:srgbClr val="2E2E2E"/>
                </a:solidFill>
                <a:latin typeface="Calibri"/>
              </a:rPr>
              <a:t>US$/MT by 2036 a +</a:t>
            </a:r>
          </a:p>
        </p:txBody>
      </p:sp>
      <p:pic>
        <p:nvPicPr>
          <p:cNvPr id="30" name="Picture 29" descr="lock.png"/>
          <p:cNvPicPr>
            <a:picLocks noChangeAspect="1"/>
          </p:cNvPicPr>
          <p:nvPr/>
        </p:nvPicPr>
        <p:blipFill>
          <a:blip r:embed="rId4"/>
          <a:stretch>
            <a:fillRect/>
          </a:stretch>
        </p:blipFill>
        <p:spPr>
          <a:xfrm>
            <a:off x="11416564" y="3807371"/>
            <a:ext cx="134549" cy="195707"/>
          </a:xfrm>
          <a:prstGeom prst="rect">
            <a:avLst/>
          </a:prstGeom>
        </p:spPr>
      </p:pic>
      <p:sp>
        <p:nvSpPr>
          <p:cNvPr id="31" name="TextBox 30"/>
          <p:cNvSpPr txBox="1"/>
          <p:nvPr/>
        </p:nvSpPr>
        <p:spPr>
          <a:xfrm>
            <a:off x="6334125"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2" name="TextBox 31"/>
          <p:cNvSpPr txBox="1"/>
          <p:nvPr/>
        </p:nvSpPr>
        <p:spPr>
          <a:xfrm>
            <a:off x="6334125" y="4220692"/>
            <a:ext cx="5152293" cy="194310"/>
          </a:xfrm>
          <a:prstGeom prst="rect">
            <a:avLst/>
          </a:prstGeom>
          <a:noFill/>
        </p:spPr>
        <p:txBody>
          <a:bodyPr wrap="none" lIns="0" rIns="0" tIns="0" bIns="0">
            <a:spAutoFit/>
          </a:bodyPr>
          <a:lstStyle/>
          <a:p>
            <a:r>
              <a:rPr sz="1150" b="0">
                <a:solidFill>
                  <a:srgbClr val="2E2E2E"/>
                </a:solidFill>
                <a:latin typeface="Calibri"/>
              </a:rPr>
              <a:t>▪ 'Other commercially traded cra…' shows the strongest forecast price appreciation (+</a:t>
            </a:r>
          </a:p>
        </p:txBody>
      </p:sp>
      <p:pic>
        <p:nvPicPr>
          <p:cNvPr id="33" name="Picture 32" descr="lock.png"/>
          <p:cNvPicPr>
            <a:picLocks noChangeAspect="1"/>
          </p:cNvPicPr>
          <p:nvPr/>
        </p:nvPicPr>
        <p:blipFill>
          <a:blip r:embed="rId4"/>
          <a:stretch>
            <a:fillRect/>
          </a:stretch>
        </p:blipFill>
        <p:spPr>
          <a:xfrm>
            <a:off x="11435572" y="4210469"/>
            <a:ext cx="134549" cy="195707"/>
          </a:xfrm>
          <a:prstGeom prst="rect">
            <a:avLst/>
          </a:prstGeom>
        </p:spPr>
      </p:pic>
      <p:sp>
        <p:nvSpPr>
          <p:cNvPr id="34" name="TextBox 33"/>
          <p:cNvSpPr txBox="1"/>
          <p:nvPr/>
        </p:nvSpPr>
        <p:spPr>
          <a:xfrm>
            <a:off x="11610681" y="4220692"/>
            <a:ext cx="120414"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6334125" y="4395952"/>
            <a:ext cx="1094271" cy="194310"/>
          </a:xfrm>
          <a:prstGeom prst="rect">
            <a:avLst/>
          </a:prstGeom>
          <a:noFill/>
        </p:spPr>
        <p:txBody>
          <a:bodyPr wrap="none" lIns="0" rIns="0" tIns="0" bIns="0">
            <a:spAutoFit/>
          </a:bodyPr>
          <a:lstStyle/>
          <a:p>
            <a:r>
              <a:rPr sz="1150" b="0">
                <a:solidFill>
                  <a:srgbClr val="2E2E2E"/>
                </a:solidFill>
                <a:latin typeface="Calibri"/>
              </a:rPr>
              <a:t>over the horizon.</a:t>
            </a:r>
          </a:p>
        </p:txBody>
      </p:sp>
      <p:sp>
        <p:nvSpPr>
          <p:cNvPr id="36" name="TextBox 35"/>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7" name="TextBox 36"/>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8" name="TextBox 37"/>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9" name="TextBox 38"/>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Crab Species (US$/MT)</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4217215"/>
                <a:gridCol w="1278331"/>
                <a:gridCol w="1278331"/>
                <a:gridCol w="1278331"/>
                <a:gridCol w="1278331"/>
                <a:gridCol w="1278331"/>
                <a:gridCol w="1278331"/>
              </a:tblGrid>
              <a:tr h="246126">
                <a:tc>
                  <a:txBody>
                    <a:bodyPr wrap="none"/>
                    <a:lstStyle/>
                    <a:p>
                      <a:pPr algn="l"/>
                      <a:r>
                        <a:rPr sz="1100" b="1">
                          <a:solidFill>
                            <a:srgbClr val="0B2E4A"/>
                          </a:solidFill>
                          <a:latin typeface="Calibri"/>
                        </a:rPr>
                        <a:t>Crab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King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Snow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Dungeness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Mud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Other commercially traded cra…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017917" y="1837563"/>
            <a:ext cx="366712" cy="5334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2450084"/>
                <a:gridCol w="529015"/>
                <a:gridCol w="1112144"/>
                <a:gridCol w="1041102"/>
                <a:gridCol w="2544805"/>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Phillips Foods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Phillips Foods, Inc.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Graham &amp; Rollins, Inc.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Supreme Crab and Seafood, Inc.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North Coast Seafoods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Heron Point Seafood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596173" y="3086680"/>
            <a:ext cx="330041" cy="480060"/>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105128" cy="153161"/>
          </a:xfrm>
          <a:prstGeom prst="rect">
            <a:avLst/>
          </a:prstGeom>
          <a:noFill/>
        </p:spPr>
        <p:txBody>
          <a:bodyPr wrap="none" lIns="0" rIns="0" tIns="0" bIns="0">
            <a:spAutoFit/>
          </a:bodyPr>
          <a:lstStyle/>
          <a:p>
            <a:r>
              <a:rPr sz="879" b="0">
                <a:solidFill>
                  <a:srgbClr val="2E2E2E"/>
                </a:solidFill>
                <a:latin typeface="Calibri"/>
              </a:rPr>
              <a:t>▪ The Crab Meat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Crab Meat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Crab Meat Market Buyers / End-User Assessment</a:t>
            </a:r>
          </a:p>
        </p:txBody>
      </p:sp>
      <p:graphicFrame>
        <p:nvGraphicFramePr>
          <p:cNvPr id="12" name="Table 11"/>
          <p:cNvGraphicFramePr>
            <a:graphicFrameLocks noGrp="1"/>
          </p:cNvGraphicFramePr>
          <p:nvPr/>
        </p:nvGraphicFramePr>
        <p:xfrm>
          <a:off x="152400" y="1238250"/>
          <a:ext cx="11887200" cy="2714626"/>
        </p:xfrm>
        <a:graphic>
          <a:graphicData uri="http://schemas.openxmlformats.org/drawingml/2006/table">
            <a:tbl>
              <a:tblPr>
                <a:tableStyleId>{5C22544A-7EE6-4342-B048-85BDC9FD1C3A}</a:tableStyleId>
              </a:tblPr>
              <a:tblGrid>
                <a:gridCol w="2109210"/>
                <a:gridCol w="998277"/>
                <a:gridCol w="1001011"/>
                <a:gridCol w="1061876"/>
                <a:gridCol w="1508214"/>
                <a:gridCol w="1203892"/>
                <a:gridCol w="1320509"/>
                <a:gridCol w="1269829"/>
                <a:gridCol w="1414382"/>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(US$/MT)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Phillips Foods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Phillips Foods, Inc.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Graham &amp; Rollins, Inc.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Supreme Crab and Seafood, Inc.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North Coast Seafoods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Rest of LATAM</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Heron Point Seafood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Phil-Union Frozen Foods, Inc.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Aqua Star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Chicken of the Sea Frozen Foods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The Crab Place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Spain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541413" y="2451926"/>
            <a:ext cx="366712" cy="53340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029468"/>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30" name="TextBox 29"/>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051675"/>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073882"/>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3" name="TextBox 42"/>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4584986"/>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4603240"/>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4858791"/>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4895299"/>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132597"/>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187358"/>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6062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596497"/>
            <a:ext cx="128699" cy="187198"/>
          </a:xfrm>
          <a:prstGeom prst="rect">
            <a:avLst/>
          </a:prstGeom>
        </p:spPr>
      </p:pic>
      <p:sp>
        <p:nvSpPr>
          <p:cNvPr id="55" name="TextBox 54"/>
          <p:cNvSpPr txBox="1"/>
          <p:nvPr/>
        </p:nvSpPr>
        <p:spPr>
          <a:xfrm>
            <a:off x="2606285" y="1606276"/>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596497"/>
            <a:ext cx="128699" cy="187198"/>
          </a:xfrm>
          <a:prstGeom prst="rect">
            <a:avLst/>
          </a:prstGeom>
        </p:spPr>
      </p:pic>
      <p:sp>
        <p:nvSpPr>
          <p:cNvPr id="57" name="TextBox 56"/>
          <p:cNvSpPr txBox="1"/>
          <p:nvPr/>
        </p:nvSpPr>
        <p:spPr>
          <a:xfrm>
            <a:off x="4278252" y="1606276"/>
            <a:ext cx="901831" cy="186689"/>
          </a:xfrm>
          <a:prstGeom prst="rect">
            <a:avLst/>
          </a:prstGeom>
          <a:noFill/>
        </p:spPr>
        <p:txBody>
          <a:bodyPr wrap="none" lIns="0" rIns="0" tIns="0" bIns="0">
            <a:spAutoFit/>
          </a:bodyPr>
          <a:lstStyle/>
          <a:p>
            <a:r>
              <a:rPr sz="1100" b="0">
                <a:solidFill>
                  <a:srgbClr val="2E2E2E"/>
                </a:solidFill>
                <a:latin typeface="Calibri"/>
              </a:rPr>
              <a:t>CAGR), Special</a:t>
            </a:r>
          </a:p>
        </p:txBody>
      </p:sp>
      <p:sp>
        <p:nvSpPr>
          <p:cNvPr id="58" name="TextBox 57"/>
          <p:cNvSpPr txBox="1"/>
          <p:nvPr/>
        </p:nvSpPr>
        <p:spPr>
          <a:xfrm>
            <a:off x="1752600" y="1773915"/>
            <a:ext cx="2259012" cy="186689"/>
          </a:xfrm>
          <a:prstGeom prst="rect">
            <a:avLst/>
          </a:prstGeom>
          <a:noFill/>
        </p:spPr>
        <p:txBody>
          <a:bodyPr wrap="none" lIns="0" rIns="0" tIns="0" bIns="0">
            <a:spAutoFit/>
          </a:bodyPr>
          <a:lstStyle/>
          <a:p>
            <a:r>
              <a:rPr sz="1100" b="0">
                <a:solidFill>
                  <a:srgbClr val="2E2E2E"/>
                </a:solidFill>
                <a:latin typeface="Calibri"/>
              </a:rPr>
              <a:t>Meat demand, Accelerating vs history.</a:t>
            </a:r>
          </a:p>
        </p:txBody>
      </p:sp>
      <p:sp>
        <p:nvSpPr>
          <p:cNvPr id="59" name="TextBox 58"/>
          <p:cNvSpPr txBox="1"/>
          <p:nvPr/>
        </p:nvSpPr>
        <p:spPr>
          <a:xfrm>
            <a:off x="5562600" y="1606276"/>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596497"/>
            <a:ext cx="128699" cy="187198"/>
          </a:xfrm>
          <a:prstGeom prst="rect">
            <a:avLst/>
          </a:prstGeom>
        </p:spPr>
      </p:pic>
      <p:sp>
        <p:nvSpPr>
          <p:cNvPr id="61" name="TextBox 60"/>
          <p:cNvSpPr txBox="1"/>
          <p:nvPr/>
        </p:nvSpPr>
        <p:spPr>
          <a:xfrm>
            <a:off x="6965262" y="1606276"/>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773915"/>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764137"/>
            <a:ext cx="128699" cy="187198"/>
          </a:xfrm>
          <a:prstGeom prst="rect">
            <a:avLst/>
          </a:prstGeom>
        </p:spPr>
      </p:pic>
      <p:sp>
        <p:nvSpPr>
          <p:cNvPr id="64" name="TextBox 63"/>
          <p:cNvSpPr txBox="1"/>
          <p:nvPr/>
        </p:nvSpPr>
        <p:spPr>
          <a:xfrm>
            <a:off x="6425562" y="17739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5" name="TextBox 64"/>
          <p:cNvSpPr txBox="1"/>
          <p:nvPr/>
        </p:nvSpPr>
        <p:spPr>
          <a:xfrm>
            <a:off x="8420100" y="1606276"/>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66" name="Picture 65" descr="lock.png"/>
          <p:cNvPicPr>
            <a:picLocks noChangeAspect="1"/>
          </p:cNvPicPr>
          <p:nvPr/>
        </p:nvPicPr>
        <p:blipFill>
          <a:blip r:embed="rId4"/>
          <a:stretch>
            <a:fillRect/>
          </a:stretch>
        </p:blipFill>
        <p:spPr>
          <a:xfrm>
            <a:off x="9665635" y="1596497"/>
            <a:ext cx="128699" cy="187198"/>
          </a:xfrm>
          <a:prstGeom prst="rect">
            <a:avLst/>
          </a:prstGeom>
        </p:spPr>
      </p:pic>
      <p:sp>
        <p:nvSpPr>
          <p:cNvPr id="67" name="TextBox 66"/>
          <p:cNvSpPr txBox="1"/>
          <p:nvPr/>
        </p:nvSpPr>
        <p:spPr>
          <a:xfrm>
            <a:off x="9833131" y="1606276"/>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68" name="Picture 67" descr="lock.png"/>
          <p:cNvPicPr>
            <a:picLocks noChangeAspect="1"/>
          </p:cNvPicPr>
          <p:nvPr/>
        </p:nvPicPr>
        <p:blipFill>
          <a:blip r:embed="rId4"/>
          <a:stretch>
            <a:fillRect/>
          </a:stretch>
        </p:blipFill>
        <p:spPr>
          <a:xfrm>
            <a:off x="11410726" y="1596497"/>
            <a:ext cx="128699" cy="187198"/>
          </a:xfrm>
          <a:prstGeom prst="rect">
            <a:avLst/>
          </a:prstGeom>
        </p:spPr>
      </p:pic>
      <p:sp>
        <p:nvSpPr>
          <p:cNvPr id="69" name="TextBox 68"/>
          <p:cNvSpPr txBox="1"/>
          <p:nvPr/>
        </p:nvSpPr>
        <p:spPr>
          <a:xfrm>
            <a:off x="8420100" y="1773915"/>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0" name="TextBox 69"/>
          <p:cNvSpPr txBox="1"/>
          <p:nvPr/>
        </p:nvSpPr>
        <p:spPr>
          <a:xfrm>
            <a:off x="1752600" y="2117380"/>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1" name="Picture 70" descr="lock.png"/>
          <p:cNvPicPr>
            <a:picLocks noChangeAspect="1"/>
          </p:cNvPicPr>
          <p:nvPr/>
        </p:nvPicPr>
        <p:blipFill>
          <a:blip r:embed="rId4"/>
          <a:stretch>
            <a:fillRect/>
          </a:stretch>
        </p:blipFill>
        <p:spPr>
          <a:xfrm>
            <a:off x="2438789" y="2107601"/>
            <a:ext cx="128699" cy="187198"/>
          </a:xfrm>
          <a:prstGeom prst="rect">
            <a:avLst/>
          </a:prstGeom>
        </p:spPr>
      </p:pic>
      <p:sp>
        <p:nvSpPr>
          <p:cNvPr id="72" name="TextBox 71"/>
          <p:cNvSpPr txBox="1"/>
          <p:nvPr/>
        </p:nvSpPr>
        <p:spPr>
          <a:xfrm>
            <a:off x="2606285" y="2117380"/>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3" name="Picture 72" descr="lock.png"/>
          <p:cNvPicPr>
            <a:picLocks noChangeAspect="1"/>
          </p:cNvPicPr>
          <p:nvPr/>
        </p:nvPicPr>
        <p:blipFill>
          <a:blip r:embed="rId4"/>
          <a:stretch>
            <a:fillRect/>
          </a:stretch>
        </p:blipFill>
        <p:spPr>
          <a:xfrm>
            <a:off x="4237905" y="2107601"/>
            <a:ext cx="128699" cy="187198"/>
          </a:xfrm>
          <a:prstGeom prst="rect">
            <a:avLst/>
          </a:prstGeom>
        </p:spPr>
      </p:pic>
      <p:sp>
        <p:nvSpPr>
          <p:cNvPr id="74" name="TextBox 73"/>
          <p:cNvSpPr txBox="1"/>
          <p:nvPr/>
        </p:nvSpPr>
        <p:spPr>
          <a:xfrm>
            <a:off x="4405401" y="2117380"/>
            <a:ext cx="582612" cy="186689"/>
          </a:xfrm>
          <a:prstGeom prst="rect">
            <a:avLst/>
          </a:prstGeom>
          <a:noFill/>
        </p:spPr>
        <p:txBody>
          <a:bodyPr wrap="none" lIns="0" rIns="0" tIns="0" bIns="0">
            <a:spAutoFit/>
          </a:bodyPr>
          <a:lstStyle/>
          <a:p>
            <a:r>
              <a:rPr sz="1100" b="0">
                <a:solidFill>
                  <a:srgbClr val="2E2E2E"/>
                </a:solidFill>
                <a:latin typeface="Calibri"/>
              </a:rPr>
              <a:t>), Special</a:t>
            </a:r>
          </a:p>
        </p:txBody>
      </p:sp>
      <p:sp>
        <p:nvSpPr>
          <p:cNvPr id="75" name="TextBox 74"/>
          <p:cNvSpPr txBox="1"/>
          <p:nvPr/>
        </p:nvSpPr>
        <p:spPr>
          <a:xfrm>
            <a:off x="1752600" y="2285020"/>
            <a:ext cx="2259012" cy="186689"/>
          </a:xfrm>
          <a:prstGeom prst="rect">
            <a:avLst/>
          </a:prstGeom>
          <a:noFill/>
        </p:spPr>
        <p:txBody>
          <a:bodyPr wrap="none" lIns="0" rIns="0" tIns="0" bIns="0">
            <a:spAutoFit/>
          </a:bodyPr>
          <a:lstStyle/>
          <a:p>
            <a:r>
              <a:rPr sz="1100" b="0">
                <a:solidFill>
                  <a:srgbClr val="2E2E2E"/>
                </a:solidFill>
                <a:latin typeface="Calibri"/>
              </a:rPr>
              <a:t>Meat demand, Accelerating vs history.</a:t>
            </a:r>
          </a:p>
        </p:txBody>
      </p:sp>
      <p:sp>
        <p:nvSpPr>
          <p:cNvPr id="76" name="TextBox 75"/>
          <p:cNvSpPr txBox="1"/>
          <p:nvPr/>
        </p:nvSpPr>
        <p:spPr>
          <a:xfrm>
            <a:off x="5562600" y="220120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7" name="Picture 76" descr="lock.png"/>
          <p:cNvPicPr>
            <a:picLocks noChangeAspect="1"/>
          </p:cNvPicPr>
          <p:nvPr/>
        </p:nvPicPr>
        <p:blipFill>
          <a:blip r:embed="rId4"/>
          <a:stretch>
            <a:fillRect/>
          </a:stretch>
        </p:blipFill>
        <p:spPr>
          <a:xfrm>
            <a:off x="6623687" y="2191421"/>
            <a:ext cx="128699" cy="187198"/>
          </a:xfrm>
          <a:prstGeom prst="rect">
            <a:avLst/>
          </a:prstGeom>
        </p:spPr>
      </p:pic>
      <p:sp>
        <p:nvSpPr>
          <p:cNvPr id="78" name="TextBox 77"/>
          <p:cNvSpPr txBox="1"/>
          <p:nvPr/>
        </p:nvSpPr>
        <p:spPr>
          <a:xfrm>
            <a:off x="6791183" y="22012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79" name="TextBox 78"/>
          <p:cNvSpPr txBox="1"/>
          <p:nvPr/>
        </p:nvSpPr>
        <p:spPr>
          <a:xfrm>
            <a:off x="8420100" y="2117380"/>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80" name="Picture 79" descr="lock.png"/>
          <p:cNvPicPr>
            <a:picLocks noChangeAspect="1"/>
          </p:cNvPicPr>
          <p:nvPr/>
        </p:nvPicPr>
        <p:blipFill>
          <a:blip r:embed="rId4"/>
          <a:stretch>
            <a:fillRect/>
          </a:stretch>
        </p:blipFill>
        <p:spPr>
          <a:xfrm>
            <a:off x="9665635" y="2107601"/>
            <a:ext cx="128699" cy="187198"/>
          </a:xfrm>
          <a:prstGeom prst="rect">
            <a:avLst/>
          </a:prstGeom>
        </p:spPr>
      </p:pic>
      <p:sp>
        <p:nvSpPr>
          <p:cNvPr id="81" name="TextBox 80"/>
          <p:cNvSpPr txBox="1"/>
          <p:nvPr/>
        </p:nvSpPr>
        <p:spPr>
          <a:xfrm>
            <a:off x="9833131" y="2117380"/>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82" name="Picture 81" descr="lock.png"/>
          <p:cNvPicPr>
            <a:picLocks noChangeAspect="1"/>
          </p:cNvPicPr>
          <p:nvPr/>
        </p:nvPicPr>
        <p:blipFill>
          <a:blip r:embed="rId4"/>
          <a:stretch>
            <a:fillRect/>
          </a:stretch>
        </p:blipFill>
        <p:spPr>
          <a:xfrm>
            <a:off x="11410726" y="2107601"/>
            <a:ext cx="128699" cy="187198"/>
          </a:xfrm>
          <a:prstGeom prst="rect">
            <a:avLst/>
          </a:prstGeom>
        </p:spPr>
      </p:pic>
      <p:sp>
        <p:nvSpPr>
          <p:cNvPr id="83" name="TextBox 82"/>
          <p:cNvSpPr txBox="1"/>
          <p:nvPr/>
        </p:nvSpPr>
        <p:spPr>
          <a:xfrm>
            <a:off x="8420100" y="228502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4" name="TextBox 83"/>
          <p:cNvSpPr txBox="1"/>
          <p:nvPr/>
        </p:nvSpPr>
        <p:spPr>
          <a:xfrm>
            <a:off x="1752600" y="262848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2618704"/>
            <a:ext cx="128699" cy="187198"/>
          </a:xfrm>
          <a:prstGeom prst="rect">
            <a:avLst/>
          </a:prstGeom>
        </p:spPr>
      </p:pic>
      <p:sp>
        <p:nvSpPr>
          <p:cNvPr id="86" name="TextBox 85"/>
          <p:cNvSpPr txBox="1"/>
          <p:nvPr/>
        </p:nvSpPr>
        <p:spPr>
          <a:xfrm>
            <a:off x="2606285" y="262848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7" name="Picture 86" descr="lock.png"/>
          <p:cNvPicPr>
            <a:picLocks noChangeAspect="1"/>
          </p:cNvPicPr>
          <p:nvPr/>
        </p:nvPicPr>
        <p:blipFill>
          <a:blip r:embed="rId4"/>
          <a:stretch>
            <a:fillRect/>
          </a:stretch>
        </p:blipFill>
        <p:spPr>
          <a:xfrm>
            <a:off x="4237905" y="2618704"/>
            <a:ext cx="128699" cy="187198"/>
          </a:xfrm>
          <a:prstGeom prst="rect">
            <a:avLst/>
          </a:prstGeom>
        </p:spPr>
      </p:pic>
      <p:sp>
        <p:nvSpPr>
          <p:cNvPr id="88" name="TextBox 87"/>
          <p:cNvSpPr txBox="1"/>
          <p:nvPr/>
        </p:nvSpPr>
        <p:spPr>
          <a:xfrm>
            <a:off x="4405401" y="2628483"/>
            <a:ext cx="582612" cy="186689"/>
          </a:xfrm>
          <a:prstGeom prst="rect">
            <a:avLst/>
          </a:prstGeom>
          <a:noFill/>
        </p:spPr>
        <p:txBody>
          <a:bodyPr wrap="none" lIns="0" rIns="0" tIns="0" bIns="0">
            <a:spAutoFit/>
          </a:bodyPr>
          <a:lstStyle/>
          <a:p>
            <a:r>
              <a:rPr sz="1100" b="0">
                <a:solidFill>
                  <a:srgbClr val="2E2E2E"/>
                </a:solidFill>
                <a:latin typeface="Calibri"/>
              </a:rPr>
              <a:t>), Special</a:t>
            </a:r>
          </a:p>
        </p:txBody>
      </p:sp>
      <p:sp>
        <p:nvSpPr>
          <p:cNvPr id="89" name="TextBox 88"/>
          <p:cNvSpPr txBox="1"/>
          <p:nvPr/>
        </p:nvSpPr>
        <p:spPr>
          <a:xfrm>
            <a:off x="1752600" y="2796123"/>
            <a:ext cx="2259012" cy="186689"/>
          </a:xfrm>
          <a:prstGeom prst="rect">
            <a:avLst/>
          </a:prstGeom>
          <a:noFill/>
        </p:spPr>
        <p:txBody>
          <a:bodyPr wrap="none" lIns="0" rIns="0" tIns="0" bIns="0">
            <a:spAutoFit/>
          </a:bodyPr>
          <a:lstStyle/>
          <a:p>
            <a:r>
              <a:rPr sz="1100" b="0">
                <a:solidFill>
                  <a:srgbClr val="2E2E2E"/>
                </a:solidFill>
                <a:latin typeface="Calibri"/>
              </a:rPr>
              <a:t>Meat demand, Accelerating vs history.</a:t>
            </a:r>
          </a:p>
        </p:txBody>
      </p:sp>
      <p:sp>
        <p:nvSpPr>
          <p:cNvPr id="90" name="TextBox 89"/>
          <p:cNvSpPr txBox="1"/>
          <p:nvPr/>
        </p:nvSpPr>
        <p:spPr>
          <a:xfrm>
            <a:off x="8420100" y="2628483"/>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91" name="Picture 90" descr="lock.png"/>
          <p:cNvPicPr>
            <a:picLocks noChangeAspect="1"/>
          </p:cNvPicPr>
          <p:nvPr/>
        </p:nvPicPr>
        <p:blipFill>
          <a:blip r:embed="rId4"/>
          <a:stretch>
            <a:fillRect/>
          </a:stretch>
        </p:blipFill>
        <p:spPr>
          <a:xfrm>
            <a:off x="9665635" y="2618704"/>
            <a:ext cx="128699" cy="187198"/>
          </a:xfrm>
          <a:prstGeom prst="rect">
            <a:avLst/>
          </a:prstGeom>
        </p:spPr>
      </p:pic>
      <p:sp>
        <p:nvSpPr>
          <p:cNvPr id="92" name="TextBox 91"/>
          <p:cNvSpPr txBox="1"/>
          <p:nvPr/>
        </p:nvSpPr>
        <p:spPr>
          <a:xfrm>
            <a:off x="9833131" y="2628483"/>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93" name="Picture 92" descr="lock.png"/>
          <p:cNvPicPr>
            <a:picLocks noChangeAspect="1"/>
          </p:cNvPicPr>
          <p:nvPr/>
        </p:nvPicPr>
        <p:blipFill>
          <a:blip r:embed="rId4"/>
          <a:stretch>
            <a:fillRect/>
          </a:stretch>
        </p:blipFill>
        <p:spPr>
          <a:xfrm>
            <a:off x="11410726" y="2618704"/>
            <a:ext cx="128699" cy="187198"/>
          </a:xfrm>
          <a:prstGeom prst="rect">
            <a:avLst/>
          </a:prstGeom>
        </p:spPr>
      </p:pic>
      <p:sp>
        <p:nvSpPr>
          <p:cNvPr id="94" name="TextBox 93"/>
          <p:cNvSpPr txBox="1"/>
          <p:nvPr/>
        </p:nvSpPr>
        <p:spPr>
          <a:xfrm>
            <a:off x="8420100" y="2796123"/>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95" name="TextBox 94"/>
          <p:cNvSpPr txBox="1"/>
          <p:nvPr/>
        </p:nvSpPr>
        <p:spPr>
          <a:xfrm>
            <a:off x="1752600" y="3139587"/>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6" name="Picture 95" descr="lock.png"/>
          <p:cNvPicPr>
            <a:picLocks noChangeAspect="1"/>
          </p:cNvPicPr>
          <p:nvPr/>
        </p:nvPicPr>
        <p:blipFill>
          <a:blip r:embed="rId4"/>
          <a:stretch>
            <a:fillRect/>
          </a:stretch>
        </p:blipFill>
        <p:spPr>
          <a:xfrm>
            <a:off x="2834969" y="3129808"/>
            <a:ext cx="128699" cy="187198"/>
          </a:xfrm>
          <a:prstGeom prst="rect">
            <a:avLst/>
          </a:prstGeom>
        </p:spPr>
      </p:pic>
      <p:sp>
        <p:nvSpPr>
          <p:cNvPr id="97" name="TextBox 96"/>
          <p:cNvSpPr txBox="1"/>
          <p:nvPr/>
        </p:nvSpPr>
        <p:spPr>
          <a:xfrm>
            <a:off x="3002465" y="3139587"/>
            <a:ext cx="1771136" cy="186689"/>
          </a:xfrm>
          <a:prstGeom prst="rect">
            <a:avLst/>
          </a:prstGeom>
          <a:noFill/>
        </p:spPr>
        <p:txBody>
          <a:bodyPr wrap="none" lIns="0" rIns="0" tIns="0" bIns="0">
            <a:spAutoFit/>
          </a:bodyPr>
          <a:lstStyle/>
          <a:p>
            <a:r>
              <a:rPr sz="1100" b="0">
                <a:solidFill>
                  <a:srgbClr val="2E2E2E"/>
                </a:solidFill>
                <a:latin typeface="Calibri"/>
              </a:rPr>
              <a:t>CAGR), Special Meat demand,</a:t>
            </a:r>
          </a:p>
        </p:txBody>
      </p:sp>
      <p:sp>
        <p:nvSpPr>
          <p:cNvPr id="98" name="TextBox 97"/>
          <p:cNvSpPr txBox="1"/>
          <p:nvPr/>
        </p:nvSpPr>
        <p:spPr>
          <a:xfrm>
            <a:off x="1752600" y="3307227"/>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99" name="TextBox 98"/>
          <p:cNvSpPr txBox="1"/>
          <p:nvPr/>
        </p:nvSpPr>
        <p:spPr>
          <a:xfrm>
            <a:off x="5562600" y="32234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0" name="Picture 99" descr="lock.png"/>
          <p:cNvPicPr>
            <a:picLocks noChangeAspect="1"/>
          </p:cNvPicPr>
          <p:nvPr/>
        </p:nvPicPr>
        <p:blipFill>
          <a:blip r:embed="rId4"/>
          <a:stretch>
            <a:fillRect/>
          </a:stretch>
        </p:blipFill>
        <p:spPr>
          <a:xfrm>
            <a:off x="6797766" y="3213628"/>
            <a:ext cx="128699" cy="187198"/>
          </a:xfrm>
          <a:prstGeom prst="rect">
            <a:avLst/>
          </a:prstGeom>
        </p:spPr>
      </p:pic>
      <p:sp>
        <p:nvSpPr>
          <p:cNvPr id="101" name="TextBox 100"/>
          <p:cNvSpPr txBox="1"/>
          <p:nvPr/>
        </p:nvSpPr>
        <p:spPr>
          <a:xfrm>
            <a:off x="6965262" y="3223407"/>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2" name="TextBox 101"/>
          <p:cNvSpPr txBox="1"/>
          <p:nvPr/>
        </p:nvSpPr>
        <p:spPr>
          <a:xfrm>
            <a:off x="8420100" y="3139587"/>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103" name="Picture 102" descr="lock.png"/>
          <p:cNvPicPr>
            <a:picLocks noChangeAspect="1"/>
          </p:cNvPicPr>
          <p:nvPr/>
        </p:nvPicPr>
        <p:blipFill>
          <a:blip r:embed="rId4"/>
          <a:stretch>
            <a:fillRect/>
          </a:stretch>
        </p:blipFill>
        <p:spPr>
          <a:xfrm>
            <a:off x="9665635" y="3129808"/>
            <a:ext cx="128699" cy="187198"/>
          </a:xfrm>
          <a:prstGeom prst="rect">
            <a:avLst/>
          </a:prstGeom>
        </p:spPr>
      </p:pic>
      <p:sp>
        <p:nvSpPr>
          <p:cNvPr id="104" name="TextBox 103"/>
          <p:cNvSpPr txBox="1"/>
          <p:nvPr/>
        </p:nvSpPr>
        <p:spPr>
          <a:xfrm>
            <a:off x="9833131" y="3139587"/>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105" name="Picture 104" descr="lock.png"/>
          <p:cNvPicPr>
            <a:picLocks noChangeAspect="1"/>
          </p:cNvPicPr>
          <p:nvPr/>
        </p:nvPicPr>
        <p:blipFill>
          <a:blip r:embed="rId4"/>
          <a:stretch>
            <a:fillRect/>
          </a:stretch>
        </p:blipFill>
        <p:spPr>
          <a:xfrm>
            <a:off x="11410726" y="3129808"/>
            <a:ext cx="128699" cy="187198"/>
          </a:xfrm>
          <a:prstGeom prst="rect">
            <a:avLst/>
          </a:prstGeom>
        </p:spPr>
      </p:pic>
      <p:sp>
        <p:nvSpPr>
          <p:cNvPr id="106" name="TextBox 105"/>
          <p:cNvSpPr txBox="1"/>
          <p:nvPr/>
        </p:nvSpPr>
        <p:spPr>
          <a:xfrm>
            <a:off x="8420100" y="330722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07" name="TextBox 106"/>
          <p:cNvSpPr txBox="1"/>
          <p:nvPr/>
        </p:nvSpPr>
        <p:spPr>
          <a:xfrm>
            <a:off x="1752600" y="3650690"/>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08" name="Picture 107" descr="lock.png"/>
          <p:cNvPicPr>
            <a:picLocks noChangeAspect="1"/>
          </p:cNvPicPr>
          <p:nvPr/>
        </p:nvPicPr>
        <p:blipFill>
          <a:blip r:embed="rId4"/>
          <a:stretch>
            <a:fillRect/>
          </a:stretch>
        </p:blipFill>
        <p:spPr>
          <a:xfrm>
            <a:off x="2962118" y="3640911"/>
            <a:ext cx="128699" cy="187198"/>
          </a:xfrm>
          <a:prstGeom prst="rect">
            <a:avLst/>
          </a:prstGeom>
        </p:spPr>
      </p:pic>
      <p:sp>
        <p:nvSpPr>
          <p:cNvPr id="109" name="TextBox 108"/>
          <p:cNvSpPr txBox="1"/>
          <p:nvPr/>
        </p:nvSpPr>
        <p:spPr>
          <a:xfrm>
            <a:off x="3129614" y="3650690"/>
            <a:ext cx="2188071" cy="186689"/>
          </a:xfrm>
          <a:prstGeom prst="rect">
            <a:avLst/>
          </a:prstGeom>
          <a:noFill/>
        </p:spPr>
        <p:txBody>
          <a:bodyPr wrap="none" lIns="0" rIns="0" tIns="0" bIns="0">
            <a:spAutoFit/>
          </a:bodyPr>
          <a:lstStyle/>
          <a:p>
            <a:r>
              <a:rPr sz="1100" b="0">
                <a:solidFill>
                  <a:srgbClr val="2E2E2E"/>
                </a:solidFill>
                <a:latin typeface="Calibri"/>
              </a:rPr>
              <a:t>), Special Meat demand, Accelerating</a:t>
            </a:r>
          </a:p>
        </p:txBody>
      </p:sp>
      <p:sp>
        <p:nvSpPr>
          <p:cNvPr id="110" name="TextBox 109"/>
          <p:cNvSpPr txBox="1"/>
          <p:nvPr/>
        </p:nvSpPr>
        <p:spPr>
          <a:xfrm>
            <a:off x="1752600" y="3818330"/>
            <a:ext cx="653553" cy="186689"/>
          </a:xfrm>
          <a:prstGeom prst="rect">
            <a:avLst/>
          </a:prstGeom>
          <a:noFill/>
        </p:spPr>
        <p:txBody>
          <a:bodyPr wrap="none" lIns="0" rIns="0" tIns="0" bIns="0">
            <a:spAutoFit/>
          </a:bodyPr>
          <a:lstStyle/>
          <a:p>
            <a:r>
              <a:rPr sz="1100" b="0">
                <a:solidFill>
                  <a:srgbClr val="2E2E2E"/>
                </a:solidFill>
                <a:latin typeface="Calibri"/>
              </a:rPr>
              <a:t>vs history.</a:t>
            </a:r>
          </a:p>
        </p:txBody>
      </p:sp>
      <p:sp>
        <p:nvSpPr>
          <p:cNvPr id="111" name="TextBox 110"/>
          <p:cNvSpPr txBox="1"/>
          <p:nvPr/>
        </p:nvSpPr>
        <p:spPr>
          <a:xfrm>
            <a:off x="5562600" y="373451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2" name="Picture 111" descr="lock.png"/>
          <p:cNvPicPr>
            <a:picLocks noChangeAspect="1"/>
          </p:cNvPicPr>
          <p:nvPr/>
        </p:nvPicPr>
        <p:blipFill>
          <a:blip r:embed="rId4"/>
          <a:stretch>
            <a:fillRect/>
          </a:stretch>
        </p:blipFill>
        <p:spPr>
          <a:xfrm>
            <a:off x="6623687" y="3724731"/>
            <a:ext cx="128699" cy="187198"/>
          </a:xfrm>
          <a:prstGeom prst="rect">
            <a:avLst/>
          </a:prstGeom>
        </p:spPr>
      </p:pic>
      <p:sp>
        <p:nvSpPr>
          <p:cNvPr id="113" name="TextBox 112"/>
          <p:cNvSpPr txBox="1"/>
          <p:nvPr/>
        </p:nvSpPr>
        <p:spPr>
          <a:xfrm>
            <a:off x="6791183" y="373451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4" name="TextBox 113"/>
          <p:cNvSpPr txBox="1"/>
          <p:nvPr/>
        </p:nvSpPr>
        <p:spPr>
          <a:xfrm>
            <a:off x="8420100" y="3650690"/>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115" name="Picture 114" descr="lock.png"/>
          <p:cNvPicPr>
            <a:picLocks noChangeAspect="1"/>
          </p:cNvPicPr>
          <p:nvPr/>
        </p:nvPicPr>
        <p:blipFill>
          <a:blip r:embed="rId4"/>
          <a:stretch>
            <a:fillRect/>
          </a:stretch>
        </p:blipFill>
        <p:spPr>
          <a:xfrm>
            <a:off x="9665635" y="3640911"/>
            <a:ext cx="128699" cy="187198"/>
          </a:xfrm>
          <a:prstGeom prst="rect">
            <a:avLst/>
          </a:prstGeom>
        </p:spPr>
      </p:pic>
      <p:sp>
        <p:nvSpPr>
          <p:cNvPr id="116" name="TextBox 115"/>
          <p:cNvSpPr txBox="1"/>
          <p:nvPr/>
        </p:nvSpPr>
        <p:spPr>
          <a:xfrm>
            <a:off x="9833131" y="3650690"/>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117" name="Picture 116" descr="lock.png"/>
          <p:cNvPicPr>
            <a:picLocks noChangeAspect="1"/>
          </p:cNvPicPr>
          <p:nvPr/>
        </p:nvPicPr>
        <p:blipFill>
          <a:blip r:embed="rId4"/>
          <a:stretch>
            <a:fillRect/>
          </a:stretch>
        </p:blipFill>
        <p:spPr>
          <a:xfrm>
            <a:off x="11410726" y="3640911"/>
            <a:ext cx="128699" cy="187198"/>
          </a:xfrm>
          <a:prstGeom prst="rect">
            <a:avLst/>
          </a:prstGeom>
        </p:spPr>
      </p:pic>
      <p:sp>
        <p:nvSpPr>
          <p:cNvPr id="118" name="TextBox 117"/>
          <p:cNvSpPr txBox="1"/>
          <p:nvPr/>
        </p:nvSpPr>
        <p:spPr>
          <a:xfrm>
            <a:off x="8420100" y="381833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19" name="TextBox 118"/>
          <p:cNvSpPr txBox="1"/>
          <p:nvPr/>
        </p:nvSpPr>
        <p:spPr>
          <a:xfrm>
            <a:off x="1752600" y="4161794"/>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0" name="Picture 119" descr="lock.png"/>
          <p:cNvPicPr>
            <a:picLocks noChangeAspect="1"/>
          </p:cNvPicPr>
          <p:nvPr/>
        </p:nvPicPr>
        <p:blipFill>
          <a:blip r:embed="rId4"/>
          <a:stretch>
            <a:fillRect/>
          </a:stretch>
        </p:blipFill>
        <p:spPr>
          <a:xfrm>
            <a:off x="2834969" y="4152015"/>
            <a:ext cx="128699" cy="187198"/>
          </a:xfrm>
          <a:prstGeom prst="rect">
            <a:avLst/>
          </a:prstGeom>
        </p:spPr>
      </p:pic>
      <p:sp>
        <p:nvSpPr>
          <p:cNvPr id="121" name="TextBox 120"/>
          <p:cNvSpPr txBox="1"/>
          <p:nvPr/>
        </p:nvSpPr>
        <p:spPr>
          <a:xfrm>
            <a:off x="3002465" y="4161794"/>
            <a:ext cx="1771136" cy="186689"/>
          </a:xfrm>
          <a:prstGeom prst="rect">
            <a:avLst/>
          </a:prstGeom>
          <a:noFill/>
        </p:spPr>
        <p:txBody>
          <a:bodyPr wrap="none" lIns="0" rIns="0" tIns="0" bIns="0">
            <a:spAutoFit/>
          </a:bodyPr>
          <a:lstStyle/>
          <a:p>
            <a:r>
              <a:rPr sz="1100" b="0">
                <a:solidFill>
                  <a:srgbClr val="2E2E2E"/>
                </a:solidFill>
                <a:latin typeface="Calibri"/>
              </a:rPr>
              <a:t>CAGR), Special Meat demand,</a:t>
            </a:r>
          </a:p>
        </p:txBody>
      </p:sp>
      <p:sp>
        <p:nvSpPr>
          <p:cNvPr id="122" name="TextBox 121"/>
          <p:cNvSpPr txBox="1"/>
          <p:nvPr/>
        </p:nvSpPr>
        <p:spPr>
          <a:xfrm>
            <a:off x="1752600" y="4329434"/>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23" name="TextBox 122"/>
          <p:cNvSpPr txBox="1"/>
          <p:nvPr/>
        </p:nvSpPr>
        <p:spPr>
          <a:xfrm>
            <a:off x="5562600" y="4245614"/>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4" name="Picture 123" descr="lock.png"/>
          <p:cNvPicPr>
            <a:picLocks noChangeAspect="1"/>
          </p:cNvPicPr>
          <p:nvPr/>
        </p:nvPicPr>
        <p:blipFill>
          <a:blip r:embed="rId4"/>
          <a:stretch>
            <a:fillRect/>
          </a:stretch>
        </p:blipFill>
        <p:spPr>
          <a:xfrm>
            <a:off x="6797766" y="4235835"/>
            <a:ext cx="128699" cy="187198"/>
          </a:xfrm>
          <a:prstGeom prst="rect">
            <a:avLst/>
          </a:prstGeom>
        </p:spPr>
      </p:pic>
      <p:sp>
        <p:nvSpPr>
          <p:cNvPr id="125" name="TextBox 124"/>
          <p:cNvSpPr txBox="1"/>
          <p:nvPr/>
        </p:nvSpPr>
        <p:spPr>
          <a:xfrm>
            <a:off x="6965262" y="4245614"/>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6" name="TextBox 125"/>
          <p:cNvSpPr txBox="1"/>
          <p:nvPr/>
        </p:nvSpPr>
        <p:spPr>
          <a:xfrm>
            <a:off x="8420100" y="4161794"/>
            <a:ext cx="1297483" cy="186689"/>
          </a:xfrm>
          <a:prstGeom prst="rect">
            <a:avLst/>
          </a:prstGeom>
          <a:noFill/>
        </p:spPr>
        <p:txBody>
          <a:bodyPr wrap="none" lIns="0" rIns="0" tIns="0" bIns="0">
            <a:spAutoFit/>
          </a:bodyPr>
          <a:lstStyle/>
          <a:p>
            <a:r>
              <a:rPr sz="1100" b="0">
                <a:solidFill>
                  <a:srgbClr val="2E2E2E"/>
                </a:solidFill>
                <a:latin typeface="Calibri"/>
              </a:rPr>
              <a:t>Scale Crab Leg Meat (</a:t>
            </a:r>
          </a:p>
        </p:txBody>
      </p:sp>
      <p:pic>
        <p:nvPicPr>
          <p:cNvPr id="127" name="Picture 126" descr="lock.png"/>
          <p:cNvPicPr>
            <a:picLocks noChangeAspect="1"/>
          </p:cNvPicPr>
          <p:nvPr/>
        </p:nvPicPr>
        <p:blipFill>
          <a:blip r:embed="rId4"/>
          <a:stretch>
            <a:fillRect/>
          </a:stretch>
        </p:blipFill>
        <p:spPr>
          <a:xfrm>
            <a:off x="9665635" y="4152015"/>
            <a:ext cx="128699" cy="187198"/>
          </a:xfrm>
          <a:prstGeom prst="rect">
            <a:avLst/>
          </a:prstGeom>
        </p:spPr>
      </p:pic>
      <p:sp>
        <p:nvSpPr>
          <p:cNvPr id="128" name="TextBox 127"/>
          <p:cNvSpPr txBox="1"/>
          <p:nvPr/>
        </p:nvSpPr>
        <p:spPr>
          <a:xfrm>
            <a:off x="9833131" y="4161794"/>
            <a:ext cx="1629543" cy="186689"/>
          </a:xfrm>
          <a:prstGeom prst="rect">
            <a:avLst/>
          </a:prstGeom>
          <a:noFill/>
        </p:spPr>
        <p:txBody>
          <a:bodyPr wrap="none" lIns="0" rIns="0" tIns="0" bIns="0">
            <a:spAutoFit/>
          </a:bodyPr>
          <a:lstStyle/>
          <a:p>
            <a:r>
              <a:rPr sz="1100" b="0">
                <a:solidFill>
                  <a:srgbClr val="2E2E2E"/>
                </a:solidFill>
                <a:latin typeface="Calibri"/>
              </a:rPr>
              <a:t>), Mix shift to Special Meat,</a:t>
            </a:r>
          </a:p>
        </p:txBody>
      </p:sp>
      <p:pic>
        <p:nvPicPr>
          <p:cNvPr id="129" name="Picture 128" descr="lock.png"/>
          <p:cNvPicPr>
            <a:picLocks noChangeAspect="1"/>
          </p:cNvPicPr>
          <p:nvPr/>
        </p:nvPicPr>
        <p:blipFill>
          <a:blip r:embed="rId4"/>
          <a:stretch>
            <a:fillRect/>
          </a:stretch>
        </p:blipFill>
        <p:spPr>
          <a:xfrm>
            <a:off x="11410726" y="4152015"/>
            <a:ext cx="128699" cy="187198"/>
          </a:xfrm>
          <a:prstGeom prst="rect">
            <a:avLst/>
          </a:prstGeom>
        </p:spPr>
      </p:pic>
      <p:sp>
        <p:nvSpPr>
          <p:cNvPr id="130" name="TextBox 129"/>
          <p:cNvSpPr txBox="1"/>
          <p:nvPr/>
        </p:nvSpPr>
        <p:spPr>
          <a:xfrm>
            <a:off x="8420100" y="432943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1" name="TextBox 130"/>
          <p:cNvSpPr txBox="1"/>
          <p:nvPr/>
        </p:nvSpPr>
        <p:spPr>
          <a:xfrm>
            <a:off x="304800" y="5232520"/>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2" name="Picture 131" descr="lock.png"/>
          <p:cNvPicPr>
            <a:picLocks noChangeAspect="1"/>
          </p:cNvPicPr>
          <p:nvPr/>
        </p:nvPicPr>
        <p:blipFill>
          <a:blip r:embed="rId4"/>
          <a:stretch>
            <a:fillRect/>
          </a:stretch>
        </p:blipFill>
        <p:spPr>
          <a:xfrm>
            <a:off x="4626463" y="5222741"/>
            <a:ext cx="128699" cy="187198"/>
          </a:xfrm>
          <a:prstGeom prst="rect">
            <a:avLst/>
          </a:prstGeom>
        </p:spPr>
      </p:pic>
      <p:sp>
        <p:nvSpPr>
          <p:cNvPr id="133" name="TextBox 132"/>
          <p:cNvSpPr txBox="1"/>
          <p:nvPr/>
        </p:nvSpPr>
        <p:spPr>
          <a:xfrm>
            <a:off x="4793959" y="5232520"/>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4" name="Picture 133" descr="lock.png"/>
          <p:cNvPicPr>
            <a:picLocks noChangeAspect="1"/>
          </p:cNvPicPr>
          <p:nvPr/>
        </p:nvPicPr>
        <p:blipFill>
          <a:blip r:embed="rId4"/>
          <a:stretch>
            <a:fillRect/>
          </a:stretch>
        </p:blipFill>
        <p:spPr>
          <a:xfrm>
            <a:off x="9365009" y="5222741"/>
            <a:ext cx="128699" cy="187198"/>
          </a:xfrm>
          <a:prstGeom prst="rect">
            <a:avLst/>
          </a:prstGeom>
        </p:spPr>
      </p:pic>
      <p:sp>
        <p:nvSpPr>
          <p:cNvPr id="135" name="TextBox 134"/>
          <p:cNvSpPr txBox="1"/>
          <p:nvPr/>
        </p:nvSpPr>
        <p:spPr>
          <a:xfrm>
            <a:off x="9532505" y="5232520"/>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36" name="Picture 135" descr="lock.png"/>
          <p:cNvPicPr>
            <a:picLocks noChangeAspect="1"/>
          </p:cNvPicPr>
          <p:nvPr/>
        </p:nvPicPr>
        <p:blipFill>
          <a:blip r:embed="rId4"/>
          <a:stretch>
            <a:fillRect/>
          </a:stretch>
        </p:blipFill>
        <p:spPr>
          <a:xfrm>
            <a:off x="291332" y="5390381"/>
            <a:ext cx="128699" cy="187198"/>
          </a:xfrm>
          <a:prstGeom prst="rect">
            <a:avLst/>
          </a:prstGeom>
        </p:spPr>
      </p:pic>
      <p:sp>
        <p:nvSpPr>
          <p:cNvPr id="137" name="TextBox 136"/>
          <p:cNvSpPr txBox="1"/>
          <p:nvPr/>
        </p:nvSpPr>
        <p:spPr>
          <a:xfrm>
            <a:off x="458828" y="5400160"/>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38" name="TextBox 137"/>
          <p:cNvSpPr txBox="1"/>
          <p:nvPr/>
        </p:nvSpPr>
        <p:spPr>
          <a:xfrm>
            <a:off x="304800" y="5567800"/>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668348"/>
            <a:ext cx="2324100" cy="2445995"/>
          </a:xfrm>
          <a:custGeom>
            <a:avLst/>
            <a:gdLst/>
            <a:ahLst/>
            <a:cxnLst/>
            <a:rect l="l" t="t" r="r" b="b"/>
            <a:pathLst>
              <a:path w="244" h="268">
                <a:moveTo>
                  <a:pt x="244" y="2"/>
                </a:moveTo>
                <a:lnTo>
                  <a:pt x="180" y="0"/>
                </a:lnTo>
                <a:lnTo>
                  <a:pt x="119" y="34"/>
                </a:lnTo>
                <a:lnTo>
                  <a:pt x="97" y="100"/>
                </a:lnTo>
                <a:lnTo>
                  <a:pt x="0" y="190"/>
                </a:lnTo>
                <a:lnTo>
                  <a:pt x="76" y="268"/>
                </a:lnTo>
                <a:lnTo>
                  <a:pt x="203" y="218"/>
                </a:lnTo>
                <a:lnTo>
                  <a:pt x="244" y="233"/>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6 meat type lines and 4 distribution channel routes, giving producers wide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6" name="Picture 85" descr="lock.png"/>
          <p:cNvPicPr>
            <a:picLocks noChangeAspect="1"/>
          </p:cNvPicPr>
          <p:nvPr/>
        </p:nvPicPr>
        <p:blipFill>
          <a:blip r:embed="rId4"/>
          <a:stretch>
            <a:fillRect/>
          </a:stretch>
        </p:blipFill>
        <p:spPr>
          <a:xfrm>
            <a:off x="9712399" y="1486975"/>
            <a:ext cx="128699" cy="187198"/>
          </a:xfrm>
          <a:prstGeom prst="rect">
            <a:avLst/>
          </a:prstGeom>
        </p:spPr>
      </p:pic>
      <p:sp>
        <p:nvSpPr>
          <p:cNvPr id="87" name="TextBox 86"/>
          <p:cNvSpPr txBox="1"/>
          <p:nvPr/>
        </p:nvSpPr>
        <p:spPr>
          <a:xfrm>
            <a:off x="9879895"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8" name="Picture 87" descr="lock.png"/>
          <p:cNvPicPr>
            <a:picLocks noChangeAspect="1"/>
          </p:cNvPicPr>
          <p:nvPr/>
        </p:nvPicPr>
        <p:blipFill>
          <a:blip r:embed="rId4"/>
          <a:stretch>
            <a:fillRect/>
          </a:stretch>
        </p:blipFill>
        <p:spPr>
          <a:xfrm>
            <a:off x="11025293" y="1486975"/>
            <a:ext cx="128699" cy="187198"/>
          </a:xfrm>
          <a:prstGeom prst="rect">
            <a:avLst/>
          </a:prstGeom>
        </p:spPr>
      </p:pic>
      <p:sp>
        <p:nvSpPr>
          <p:cNvPr id="89" name="TextBox 88"/>
          <p:cNvSpPr txBox="1"/>
          <p:nvPr/>
        </p:nvSpPr>
        <p:spPr>
          <a:xfrm>
            <a:off x="11192789"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659221"/>
            <a:ext cx="1457325" cy="2601152"/>
          </a:xfrm>
          <a:custGeom>
            <a:avLst/>
            <a:gdLst/>
            <a:ahLst/>
            <a:cxnLst/>
            <a:rect l="l" t="t" r="r" b="b"/>
            <a:pathLst>
              <a:path w="153" h="285">
                <a:moveTo>
                  <a:pt x="0" y="15"/>
                </a:moveTo>
                <a:lnTo>
                  <a:pt x="65" y="0"/>
                </a:lnTo>
                <a:lnTo>
                  <a:pt x="73" y="77"/>
                </a:lnTo>
                <a:lnTo>
                  <a:pt x="97" y="113"/>
                </a:lnTo>
                <a:lnTo>
                  <a:pt x="153" y="170"/>
                </a:lnTo>
                <a:lnTo>
                  <a:pt x="100" y="215"/>
                </a:lnTo>
                <a:lnTo>
                  <a:pt x="46" y="230"/>
                </a:lnTo>
                <a:lnTo>
                  <a:pt x="0" y="28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431050"/>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2887392"/>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34373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383706" cy="186689"/>
          </a:xfrm>
          <a:prstGeom prst="rect">
            <a:avLst/>
          </a:prstGeom>
          <a:noFill/>
        </p:spPr>
        <p:txBody>
          <a:bodyPr wrap="none" lIns="0" rIns="0" tIns="0" bIns="0">
            <a:spAutoFit/>
          </a:bodyPr>
          <a:lstStyle/>
          <a:p>
            <a:r>
              <a:rPr sz="1100" b="0">
                <a:solidFill>
                  <a:srgbClr val="2E2E2E"/>
                </a:solidFill>
                <a:latin typeface="Calibri"/>
              </a:rPr>
              <a:t>▪ Demand-side conditions are led by Volume Momentum (</a:t>
            </a:r>
          </a:p>
        </p:txBody>
      </p:sp>
      <p:pic>
        <p:nvPicPr>
          <p:cNvPr id="84" name="Picture 83" descr="lock.png"/>
          <p:cNvPicPr>
            <a:picLocks noChangeAspect="1"/>
          </p:cNvPicPr>
          <p:nvPr/>
        </p:nvPicPr>
        <p:blipFill>
          <a:blip r:embed="rId4"/>
          <a:stretch>
            <a:fillRect/>
          </a:stretch>
        </p:blipFill>
        <p:spPr>
          <a:xfrm>
            <a:off x="3541308" y="1486975"/>
            <a:ext cx="128699" cy="187198"/>
          </a:xfrm>
          <a:prstGeom prst="rect">
            <a:avLst/>
          </a:prstGeom>
        </p:spPr>
      </p:pic>
      <p:sp>
        <p:nvSpPr>
          <p:cNvPr id="85" name="TextBox 84"/>
          <p:cNvSpPr txBox="1"/>
          <p:nvPr/>
        </p:nvSpPr>
        <p:spPr>
          <a:xfrm>
            <a:off x="3708804" y="1496754"/>
            <a:ext cx="1410989" cy="186689"/>
          </a:xfrm>
          <a:prstGeom prst="rect">
            <a:avLst/>
          </a:prstGeom>
          <a:noFill/>
        </p:spPr>
        <p:txBody>
          <a:bodyPr wrap="none" lIns="0" rIns="0" tIns="0" bIns="0">
            <a:spAutoFit/>
          </a:bodyPr>
          <a:lstStyle/>
          <a:p>
            <a:r>
              <a:rPr sz="1100" b="0">
                <a:solidFill>
                  <a:srgbClr val="2E2E2E"/>
                </a:solidFill>
                <a:latin typeface="Calibri"/>
              </a:rPr>
              <a:t>/10), Consumer Reach (</a:t>
            </a:r>
          </a:p>
        </p:txBody>
      </p:sp>
      <p:pic>
        <p:nvPicPr>
          <p:cNvPr id="86" name="Picture 85" descr="lock.png"/>
          <p:cNvPicPr>
            <a:picLocks noChangeAspect="1"/>
          </p:cNvPicPr>
          <p:nvPr/>
        </p:nvPicPr>
        <p:blipFill>
          <a:blip r:embed="rId4"/>
          <a:stretch>
            <a:fillRect/>
          </a:stretch>
        </p:blipFill>
        <p:spPr>
          <a:xfrm>
            <a:off x="5067845" y="1486975"/>
            <a:ext cx="128699" cy="187198"/>
          </a:xfrm>
          <a:prstGeom prst="rect">
            <a:avLst/>
          </a:prstGeom>
        </p:spPr>
      </p:pic>
      <p:sp>
        <p:nvSpPr>
          <p:cNvPr id="87" name="TextBox 86"/>
          <p:cNvSpPr txBox="1"/>
          <p:nvPr/>
        </p:nvSpPr>
        <p:spPr>
          <a:xfrm>
            <a:off x="5235341" y="1496754"/>
            <a:ext cx="1354236" cy="186689"/>
          </a:xfrm>
          <a:prstGeom prst="rect">
            <a:avLst/>
          </a:prstGeom>
          <a:noFill/>
        </p:spPr>
        <p:txBody>
          <a:bodyPr wrap="none" lIns="0" rIns="0" tIns="0" bIns="0">
            <a:spAutoFit/>
          </a:bodyPr>
          <a:lstStyle/>
          <a:p>
            <a:r>
              <a:rPr sz="1100" b="0">
                <a:solidFill>
                  <a:srgbClr val="2E2E2E"/>
                </a:solidFill>
                <a:latin typeface="Calibri"/>
              </a:rPr>
              <a:t>/10), Premiumisation (</a:t>
            </a:r>
          </a:p>
        </p:txBody>
      </p:sp>
      <p:pic>
        <p:nvPicPr>
          <p:cNvPr id="88" name="Picture 87" descr="lock.png"/>
          <p:cNvPicPr>
            <a:picLocks noChangeAspect="1"/>
          </p:cNvPicPr>
          <p:nvPr/>
        </p:nvPicPr>
        <p:blipFill>
          <a:blip r:embed="rId4"/>
          <a:stretch>
            <a:fillRect/>
          </a:stretch>
        </p:blipFill>
        <p:spPr>
          <a:xfrm>
            <a:off x="6537629" y="1486975"/>
            <a:ext cx="128699" cy="187198"/>
          </a:xfrm>
          <a:prstGeom prst="rect">
            <a:avLst/>
          </a:prstGeom>
        </p:spPr>
      </p:pic>
      <p:sp>
        <p:nvSpPr>
          <p:cNvPr id="89" name="TextBox 88"/>
          <p:cNvSpPr txBox="1"/>
          <p:nvPr/>
        </p:nvSpPr>
        <p:spPr>
          <a:xfrm>
            <a:off x="6705125" y="1496754"/>
            <a:ext cx="314399" cy="186689"/>
          </a:xfrm>
          <a:prstGeom prst="rect">
            <a:avLst/>
          </a:prstGeom>
          <a:noFill/>
        </p:spPr>
        <p:txBody>
          <a:bodyPr wrap="none" lIns="0" rIns="0" tIns="0" bIns="0">
            <a:spAutoFit/>
          </a:bodyPr>
          <a:lstStyle/>
          <a:p>
            <a:r>
              <a:rPr sz="1100" b="0">
                <a:solidFill>
                  <a:srgbClr val="2E2E2E"/>
                </a:solidFill>
                <a:latin typeface="Calibri"/>
              </a:rPr>
              <a:t>/10)</a:t>
            </a:r>
          </a:p>
        </p:txBody>
      </p:sp>
      <p:sp>
        <p:nvSpPr>
          <p:cNvPr id="90" name="TextBox 89"/>
          <p:cNvSpPr txBox="1"/>
          <p:nvPr/>
        </p:nvSpPr>
        <p:spPr>
          <a:xfrm>
            <a:off x="209550" y="1664394"/>
            <a:ext cx="3041277" cy="186689"/>
          </a:xfrm>
          <a:prstGeom prst="rect">
            <a:avLst/>
          </a:prstGeom>
          <a:noFill/>
        </p:spPr>
        <p:txBody>
          <a:bodyPr wrap="none" lIns="0" rIns="0" tIns="0" bIns="0">
            <a:spAutoFit/>
          </a:bodyPr>
          <a:lstStyle/>
          <a:p>
            <a:r>
              <a:rPr sz="1100" b="0">
                <a:solidFill>
                  <a:srgbClr val="2E2E2E"/>
                </a:solidFill>
                <a:latin typeface="Calibri"/>
              </a:rPr>
              <a:t>on 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19453"/>
            <a:ext cx="1362695" cy="186689"/>
          </a:xfrm>
          <a:prstGeom prst="rect">
            <a:avLst/>
          </a:prstGeom>
          <a:noFill/>
        </p:spPr>
        <p:txBody>
          <a:bodyPr wrap="none" lIns="0" rIns="0" tIns="0" bIns="0">
            <a:spAutoFit/>
          </a:bodyPr>
          <a:lstStyle/>
          <a:p>
            <a:r>
              <a:rPr sz="1100" b="0">
                <a:solidFill>
                  <a:srgbClr val="2E2E2E"/>
                </a:solidFill>
                <a:latin typeface="Calibri"/>
              </a:rPr>
              <a:t>▪ 'Special Meat' carries</a:t>
            </a:r>
          </a:p>
        </p:txBody>
      </p:sp>
      <p:pic>
        <p:nvPicPr>
          <p:cNvPr id="97" name="Picture 96" descr="lock.png"/>
          <p:cNvPicPr>
            <a:picLocks noChangeAspect="1"/>
          </p:cNvPicPr>
          <p:nvPr/>
        </p:nvPicPr>
        <p:blipFill>
          <a:blip r:embed="rId4"/>
          <a:stretch>
            <a:fillRect/>
          </a:stretch>
        </p:blipFill>
        <p:spPr>
          <a:xfrm>
            <a:off x="1520296" y="2209674"/>
            <a:ext cx="128699" cy="187198"/>
          </a:xfrm>
          <a:prstGeom prst="rect">
            <a:avLst/>
          </a:prstGeom>
        </p:spPr>
      </p:pic>
      <p:sp>
        <p:nvSpPr>
          <p:cNvPr id="98" name="TextBox 97"/>
          <p:cNvSpPr txBox="1"/>
          <p:nvPr/>
        </p:nvSpPr>
        <p:spPr>
          <a:xfrm>
            <a:off x="1687792" y="2219453"/>
            <a:ext cx="3816722" cy="186689"/>
          </a:xfrm>
          <a:prstGeom prst="rect">
            <a:avLst/>
          </a:prstGeom>
          <a:noFill/>
        </p:spPr>
        <p:txBody>
          <a:bodyPr wrap="none" lIns="0" rIns="0" tIns="0" bIns="0">
            <a:spAutoFit/>
          </a:bodyPr>
          <a:lstStyle/>
          <a:p>
            <a:r>
              <a:rPr sz="1100" b="0">
                <a:solidFill>
                  <a:srgbClr val="2E2E2E"/>
                </a:solidFill>
                <a:latin typeface="Calibri"/>
              </a:rPr>
              <a:t>of meat type demand while 'Crab Leg Meat' compounds fastest at</a:t>
            </a:r>
          </a:p>
        </p:txBody>
      </p:sp>
      <p:pic>
        <p:nvPicPr>
          <p:cNvPr id="99" name="Picture 98" descr="lock.png"/>
          <p:cNvPicPr>
            <a:picLocks noChangeAspect="1"/>
          </p:cNvPicPr>
          <p:nvPr/>
        </p:nvPicPr>
        <p:blipFill>
          <a:blip r:embed="rId4"/>
          <a:stretch>
            <a:fillRect/>
          </a:stretch>
        </p:blipFill>
        <p:spPr>
          <a:xfrm>
            <a:off x="5452566" y="2209674"/>
            <a:ext cx="128699" cy="187198"/>
          </a:xfrm>
          <a:prstGeom prst="rect">
            <a:avLst/>
          </a:prstGeom>
        </p:spPr>
      </p:pic>
      <p:sp>
        <p:nvSpPr>
          <p:cNvPr id="100" name="TextBox 99"/>
          <p:cNvSpPr txBox="1"/>
          <p:nvPr/>
        </p:nvSpPr>
        <p:spPr>
          <a:xfrm>
            <a:off x="5620062" y="2219453"/>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1" name="TextBox 100"/>
          <p:cNvSpPr txBox="1"/>
          <p:nvPr/>
        </p:nvSpPr>
        <p:spPr>
          <a:xfrm>
            <a:off x="209550" y="2584528"/>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2" name="Picture 101" descr="lock.png"/>
          <p:cNvPicPr>
            <a:picLocks noChangeAspect="1"/>
          </p:cNvPicPr>
          <p:nvPr/>
        </p:nvPicPr>
        <p:blipFill>
          <a:blip r:embed="rId4"/>
          <a:stretch>
            <a:fillRect/>
          </a:stretch>
        </p:blipFill>
        <p:spPr>
          <a:xfrm>
            <a:off x="2634349" y="2574749"/>
            <a:ext cx="128699" cy="187198"/>
          </a:xfrm>
          <a:prstGeom prst="rect">
            <a:avLst/>
          </a:prstGeom>
        </p:spPr>
      </p:pic>
      <p:sp>
        <p:nvSpPr>
          <p:cNvPr id="103" name="TextBox 102"/>
          <p:cNvSpPr txBox="1"/>
          <p:nvPr/>
        </p:nvSpPr>
        <p:spPr>
          <a:xfrm>
            <a:off x="2801845" y="2584528"/>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4" name="Picture 103" descr="lock.png"/>
          <p:cNvPicPr>
            <a:picLocks noChangeAspect="1"/>
          </p:cNvPicPr>
          <p:nvPr/>
        </p:nvPicPr>
        <p:blipFill>
          <a:blip r:embed="rId4"/>
          <a:stretch>
            <a:fillRect/>
          </a:stretch>
        </p:blipFill>
        <p:spPr>
          <a:xfrm>
            <a:off x="3281469" y="2574749"/>
            <a:ext cx="128699" cy="187198"/>
          </a:xfrm>
          <a:prstGeom prst="rect">
            <a:avLst/>
          </a:prstGeom>
        </p:spPr>
      </p:pic>
      <p:sp>
        <p:nvSpPr>
          <p:cNvPr id="105" name="TextBox 104"/>
          <p:cNvSpPr txBox="1"/>
          <p:nvPr/>
        </p:nvSpPr>
        <p:spPr>
          <a:xfrm>
            <a:off x="3448965" y="2584528"/>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6" name="TextBox 105"/>
          <p:cNvSpPr txBox="1"/>
          <p:nvPr/>
        </p:nvSpPr>
        <p:spPr>
          <a:xfrm>
            <a:off x="209550" y="3040870"/>
            <a:ext cx="3917131" cy="186689"/>
          </a:xfrm>
          <a:prstGeom prst="rect">
            <a:avLst/>
          </a:prstGeom>
          <a:noFill/>
        </p:spPr>
        <p:txBody>
          <a:bodyPr wrap="none" lIns="0" rIns="0" tIns="0" bIns="0">
            <a:spAutoFit/>
          </a:bodyPr>
          <a:lstStyle/>
          <a:p>
            <a:r>
              <a:rPr sz="1100" b="0">
                <a:solidFill>
                  <a:srgbClr val="2E2E2E"/>
                </a:solidFill>
                <a:latin typeface="Calibri"/>
              </a:rPr>
              <a:t>▪ Reach runs through 4 distribution channel routes, led by 'Retail' at</a:t>
            </a:r>
          </a:p>
        </p:txBody>
      </p:sp>
      <p:pic>
        <p:nvPicPr>
          <p:cNvPr id="107" name="Picture 106" descr="lock.png"/>
          <p:cNvPicPr>
            <a:picLocks noChangeAspect="1"/>
          </p:cNvPicPr>
          <p:nvPr/>
        </p:nvPicPr>
        <p:blipFill>
          <a:blip r:embed="rId4"/>
          <a:stretch>
            <a:fillRect/>
          </a:stretch>
        </p:blipFill>
        <p:spPr>
          <a:xfrm>
            <a:off x="4074733" y="3031091"/>
            <a:ext cx="128699" cy="187198"/>
          </a:xfrm>
          <a:prstGeom prst="rect">
            <a:avLst/>
          </a:prstGeom>
        </p:spPr>
      </p:pic>
      <p:sp>
        <p:nvSpPr>
          <p:cNvPr id="108" name="TextBox 107"/>
          <p:cNvSpPr txBox="1"/>
          <p:nvPr/>
        </p:nvSpPr>
        <p:spPr>
          <a:xfrm>
            <a:off x="4242228" y="3040870"/>
            <a:ext cx="2041004" cy="186689"/>
          </a:xfrm>
          <a:prstGeom prst="rect">
            <a:avLst/>
          </a:prstGeom>
          <a:noFill/>
        </p:spPr>
        <p:txBody>
          <a:bodyPr wrap="none" lIns="0" rIns="0" tIns="0" bIns="0">
            <a:spAutoFit/>
          </a:bodyPr>
          <a:lstStyle/>
          <a:p>
            <a:r>
              <a:rPr sz="1100" b="0">
                <a:solidFill>
                  <a:srgbClr val="2E2E2E"/>
                </a:solidFill>
                <a:latin typeface="Calibri"/>
              </a:rPr>
              <a:t>and with 'Retail' growing fastest at</a:t>
            </a:r>
          </a:p>
        </p:txBody>
      </p:sp>
      <p:pic>
        <p:nvPicPr>
          <p:cNvPr id="109" name="Picture 108" descr="lock.png"/>
          <p:cNvPicPr>
            <a:picLocks noChangeAspect="1"/>
          </p:cNvPicPr>
          <p:nvPr/>
        </p:nvPicPr>
        <p:blipFill>
          <a:blip r:embed="rId4"/>
          <a:stretch>
            <a:fillRect/>
          </a:stretch>
        </p:blipFill>
        <p:spPr>
          <a:xfrm>
            <a:off x="6231284" y="3031091"/>
            <a:ext cx="128699" cy="187198"/>
          </a:xfrm>
          <a:prstGeom prst="rect">
            <a:avLst/>
          </a:prstGeom>
        </p:spPr>
      </p:pic>
      <p:sp>
        <p:nvSpPr>
          <p:cNvPr id="110" name="TextBox 109"/>
          <p:cNvSpPr txBox="1"/>
          <p:nvPr/>
        </p:nvSpPr>
        <p:spPr>
          <a:xfrm>
            <a:off x="6398780" y="3040870"/>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Lump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837332"/>
            <a:ext cx="1248916" cy="186689"/>
          </a:xfrm>
          <a:prstGeom prst="rect">
            <a:avLst/>
          </a:prstGeom>
          <a:noFill/>
        </p:spPr>
        <p:txBody>
          <a:bodyPr wrap="none" lIns="0" rIns="0" tIns="0" bIns="0">
            <a:spAutoFit/>
          </a:bodyPr>
          <a:lstStyle/>
          <a:p>
            <a:r>
              <a:rPr sz="1100" b="0">
                <a:solidFill>
                  <a:srgbClr val="2E2E2E"/>
                </a:solidFill>
                <a:latin typeface="Calibri"/>
              </a:rPr>
              <a:t>'Lump' grows at only</a:t>
            </a:r>
          </a:p>
        </p:txBody>
      </p:sp>
      <p:pic>
        <p:nvPicPr>
          <p:cNvPr id="64" name="Picture 63" descr="lock.png"/>
          <p:cNvPicPr>
            <a:picLocks noChangeAspect="1"/>
          </p:cNvPicPr>
          <p:nvPr/>
        </p:nvPicPr>
        <p:blipFill>
          <a:blip r:embed="rId4"/>
          <a:stretch>
            <a:fillRect/>
          </a:stretch>
        </p:blipFill>
        <p:spPr>
          <a:xfrm>
            <a:off x="1387467" y="1827554"/>
            <a:ext cx="128699" cy="187198"/>
          </a:xfrm>
          <a:prstGeom prst="rect">
            <a:avLst/>
          </a:prstGeom>
        </p:spPr>
      </p:pic>
      <p:sp>
        <p:nvSpPr>
          <p:cNvPr id="65" name="TextBox 64"/>
          <p:cNvSpPr txBox="1"/>
          <p:nvPr/>
        </p:nvSpPr>
        <p:spPr>
          <a:xfrm>
            <a:off x="1554963"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3082610" y="1827554"/>
            <a:ext cx="128699" cy="187198"/>
          </a:xfrm>
          <a:prstGeom prst="rect">
            <a:avLst/>
          </a:prstGeom>
        </p:spPr>
      </p:pic>
      <p:sp>
        <p:nvSpPr>
          <p:cNvPr id="67" name="TextBox 66"/>
          <p:cNvSpPr txBox="1"/>
          <p:nvPr/>
        </p:nvSpPr>
        <p:spPr>
          <a:xfrm>
            <a:off x="3250105"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3482270" y="1827554"/>
            <a:ext cx="128699" cy="187198"/>
          </a:xfrm>
          <a:prstGeom prst="rect">
            <a:avLst/>
          </a:prstGeom>
        </p:spPr>
      </p:pic>
      <p:sp>
        <p:nvSpPr>
          <p:cNvPr id="69" name="TextBox 68"/>
          <p:cNvSpPr txBox="1"/>
          <p:nvPr/>
        </p:nvSpPr>
        <p:spPr>
          <a:xfrm>
            <a:off x="3649766" y="1837332"/>
            <a:ext cx="2154510" cy="186689"/>
          </a:xfrm>
          <a:prstGeom prst="rect">
            <a:avLst/>
          </a:prstGeom>
          <a:noFill/>
        </p:spPr>
        <p:txBody>
          <a:bodyPr wrap="none" lIns="0" rIns="0" tIns="0" bIns="0">
            <a:spAutoFit/>
          </a:bodyPr>
          <a:lstStyle/>
          <a:p>
            <a:r>
              <a:rPr sz="1100" b="0">
                <a:solidFill>
                  <a:srgbClr val="2E2E2E"/>
                </a:solidFill>
                <a:latin typeface="Calibri"/>
              </a:rPr>
              <a:t>BPS gap, and 'Claw Meat' surrenders</a:t>
            </a:r>
          </a:p>
        </p:txBody>
      </p:sp>
      <p:pic>
        <p:nvPicPr>
          <p:cNvPr id="70" name="Picture 69" descr="lock.png"/>
          <p:cNvPicPr>
            <a:picLocks noChangeAspect="1"/>
          </p:cNvPicPr>
          <p:nvPr/>
        </p:nvPicPr>
        <p:blipFill>
          <a:blip r:embed="rId4"/>
          <a:stretch>
            <a:fillRect/>
          </a:stretch>
        </p:blipFill>
        <p:spPr>
          <a:xfrm>
            <a:off x="5752328" y="1827554"/>
            <a:ext cx="128699" cy="187198"/>
          </a:xfrm>
          <a:prstGeom prst="rect">
            <a:avLst/>
          </a:prstGeom>
        </p:spPr>
      </p:pic>
      <p:sp>
        <p:nvSpPr>
          <p:cNvPr id="71" name="TextBox 70"/>
          <p:cNvSpPr txBox="1"/>
          <p:nvPr/>
        </p:nvSpPr>
        <p:spPr>
          <a:xfrm>
            <a:off x="5919823" y="1837332"/>
            <a:ext cx="3339231" cy="186689"/>
          </a:xfrm>
          <a:prstGeom prst="rect">
            <a:avLst/>
          </a:prstGeom>
          <a:noFill/>
        </p:spPr>
        <p:txBody>
          <a:bodyPr wrap="none" lIns="0" rIns="0" tIns="0" bIns="0">
            <a:spAutoFit/>
          </a:bodyPr>
          <a:lstStyle/>
          <a:p>
            <a:r>
              <a:rPr sz="1100" b="0">
                <a:solidFill>
                  <a:srgbClr val="2E2E2E"/>
                </a:solidFill>
                <a:latin typeface="Calibri"/>
              </a:rPr>
              <a:t>BPS of meat type share between 2026 and 2036. Because</a:t>
            </a:r>
          </a:p>
        </p:txBody>
      </p:sp>
      <p:sp>
        <p:nvSpPr>
          <p:cNvPr id="72" name="TextBox 71"/>
          <p:cNvSpPr txBox="1"/>
          <p:nvPr/>
        </p:nvSpPr>
        <p:spPr>
          <a:xfrm>
            <a:off x="190500" y="2004972"/>
            <a:ext cx="8996536" cy="186689"/>
          </a:xfrm>
          <a:prstGeom prst="rect">
            <a:avLst/>
          </a:prstGeom>
          <a:noFill/>
        </p:spPr>
        <p:txBody>
          <a:bodyPr wrap="none" lIns="0" rIns="0" tIns="0" bIns="0">
            <a:spAutoFit/>
          </a:bodyPr>
          <a:lstStyle/>
          <a:p>
            <a:r>
              <a:rPr sz="1100" b="0">
                <a:solidFill>
                  <a:srgbClr val="2E2E2E"/>
                </a:solidFill>
                <a:latin typeface="Calibri"/>
              </a:rPr>
              <a:t>these lines still carry meaningful volume, the drag is absorbed by the whole category: blended growth sits below what the leading lines achieve on their own.</a:t>
            </a:r>
          </a:p>
        </p:txBody>
      </p:sp>
      <p:sp>
        <p:nvSpPr>
          <p:cNvPr id="73" name="TextBox 72"/>
          <p:cNvSpPr txBox="1"/>
          <p:nvPr/>
        </p:nvSpPr>
        <p:spPr>
          <a:xfrm>
            <a:off x="190500" y="2172613"/>
            <a:ext cx="7298853" cy="186689"/>
          </a:xfrm>
          <a:prstGeom prst="rect">
            <a:avLst/>
          </a:prstGeom>
          <a:noFill/>
        </p:spPr>
        <p:txBody>
          <a:bodyPr wrap="none" lIns="0" rIns="0" tIns="0" bIns="0">
            <a:spAutoFit/>
          </a:bodyPr>
          <a:lstStyle/>
          <a:p>
            <a:r>
              <a:rPr sz="1100" b="0">
                <a:solidFill>
                  <a:srgbClr val="2E2E2E"/>
                </a:solidFill>
                <a:latin typeface="Calibri"/>
              </a:rPr>
              <a:t>Rationalising or repositioning the lagging end of a 6-line portfolio is therefore a precondition for realising the 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240995"/>
            <a:ext cx="128699" cy="187198"/>
          </a:xfrm>
          <a:prstGeom prst="rect">
            <a:avLst/>
          </a:prstGeom>
        </p:spPr>
      </p:pic>
      <p:sp>
        <p:nvSpPr>
          <p:cNvPr id="85" name="TextBox 84"/>
          <p:cNvSpPr txBox="1"/>
          <p:nvPr/>
        </p:nvSpPr>
        <p:spPr>
          <a:xfrm>
            <a:off x="3643642" y="5250774"/>
            <a:ext cx="2803624" cy="186689"/>
          </a:xfrm>
          <a:prstGeom prst="rect">
            <a:avLst/>
          </a:prstGeom>
          <a:noFill/>
        </p:spPr>
        <p:txBody>
          <a:bodyPr wrap="none" lIns="0" rIns="0" tIns="0" bIns="0">
            <a:spAutoFit/>
          </a:bodyPr>
          <a:lstStyle/>
          <a:p>
            <a:r>
              <a:rPr sz="1100" b="0">
                <a:solidFill>
                  <a:srgbClr val="2E2E2E"/>
                </a:solidFill>
                <a:latin typeface="Calibri"/>
              </a:rPr>
              <a:t>of 2036 value and the leading meat type line for</a:t>
            </a:r>
          </a:p>
        </p:txBody>
      </p:sp>
      <p:pic>
        <p:nvPicPr>
          <p:cNvPr id="86" name="Picture 85" descr="lock.png"/>
          <p:cNvPicPr>
            <a:picLocks noChangeAspect="1"/>
          </p:cNvPicPr>
          <p:nvPr/>
        </p:nvPicPr>
        <p:blipFill>
          <a:blip r:embed="rId4"/>
          <a:stretch>
            <a:fillRect/>
          </a:stretch>
        </p:blipFill>
        <p:spPr>
          <a:xfrm>
            <a:off x="6395317" y="5240995"/>
            <a:ext cx="128699" cy="187198"/>
          </a:xfrm>
          <a:prstGeom prst="rect">
            <a:avLst/>
          </a:prstGeom>
        </p:spPr>
      </p:pic>
      <p:sp>
        <p:nvSpPr>
          <p:cNvPr id="87" name="TextBox 86"/>
          <p:cNvSpPr txBox="1"/>
          <p:nvPr/>
        </p:nvSpPr>
        <p:spPr>
          <a:xfrm>
            <a:off x="6562813"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8" name="Picture 87" descr="lock.png"/>
          <p:cNvPicPr>
            <a:picLocks noChangeAspect="1"/>
          </p:cNvPicPr>
          <p:nvPr/>
        </p:nvPicPr>
        <p:blipFill>
          <a:blip r:embed="rId4"/>
          <a:stretch>
            <a:fillRect/>
          </a:stretch>
        </p:blipFill>
        <p:spPr>
          <a:xfrm>
            <a:off x="8955924" y="5240995"/>
            <a:ext cx="128699" cy="187198"/>
          </a:xfrm>
          <a:prstGeom prst="rect">
            <a:avLst/>
          </a:prstGeom>
        </p:spPr>
      </p:pic>
      <p:sp>
        <p:nvSpPr>
          <p:cNvPr id="89" name="TextBox 88"/>
          <p:cNvSpPr txBox="1"/>
          <p:nvPr/>
        </p:nvSpPr>
        <p:spPr>
          <a:xfrm>
            <a:off x="9123420" y="5250774"/>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90" name="TextBox 89"/>
          <p:cNvSpPr txBox="1"/>
          <p:nvPr/>
        </p:nvSpPr>
        <p:spPr>
          <a:xfrm>
            <a:off x="190500" y="5418414"/>
            <a:ext cx="9277846" cy="186689"/>
          </a:xfrm>
          <a:prstGeom prst="rect">
            <a:avLst/>
          </a:prstGeom>
          <a:noFill/>
        </p:spPr>
        <p:txBody>
          <a:bodyPr wrap="none" lIns="0" rIns="0" tIns="0" bIns="0">
            <a:spAutoFit/>
          </a:bodyPr>
          <a:lstStyle/>
          <a:p>
            <a:r>
              <a:rPr sz="1100" b="0">
                <a:solidFill>
                  <a:srgbClr val="2E2E2E"/>
                </a:solidFill>
                <a:latin typeface="Calibri"/>
              </a:rPr>
              <a:t>year, so cost movements cannot be passed on evenly across 6 regions. The practical constraint is the same in either case commercial terms set for the market as a</a:t>
            </a:r>
          </a:p>
        </p:txBody>
      </p:sp>
      <p:sp>
        <p:nvSpPr>
          <p:cNvPr id="91" name="TextBox 90"/>
          <p:cNvSpPr txBox="1"/>
          <p:nvPr/>
        </p:nvSpPr>
        <p:spPr>
          <a:xfrm>
            <a:off x="190500" y="5586054"/>
            <a:ext cx="5940325" cy="186689"/>
          </a:xfrm>
          <a:prstGeom prst="rect">
            <a:avLst/>
          </a:prstGeom>
          <a:noFill/>
        </p:spPr>
        <p:txBody>
          <a:bodyPr wrap="none" lIns="0" rIns="0" tIns="0" bIns="0">
            <a:spAutoFit/>
          </a:bodyPr>
          <a:lstStyle/>
          <a:p>
            <a:r>
              <a:rPr sz="1100" b="0">
                <a:solidFill>
                  <a:srgbClr val="2E2E2E"/>
                </a:solidFill>
                <a:latin typeface="Calibri"/>
              </a:rPr>
              <a:t>whole underserve part of it, and margin is lost in the mismatch rather than in the headline growth rate.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Netherlands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Retail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80294" cy="186689"/>
          </a:xfrm>
          <a:prstGeom prst="rect">
            <a:avLst/>
          </a:prstGeom>
          <a:noFill/>
        </p:spPr>
        <p:txBody>
          <a:bodyPr wrap="none" lIns="0" rIns="0" tIns="0" bIns="0">
            <a:spAutoFit/>
          </a:bodyPr>
          <a:lstStyle/>
          <a:p>
            <a:r>
              <a:rPr sz="1100" b="0">
                <a:solidFill>
                  <a:srgbClr val="2E2E2E"/>
                </a:solidFill>
                <a:latin typeface="Calibri"/>
              </a:rPr>
              <a:t>'Netherlands' compounds at</a:t>
            </a:r>
          </a:p>
        </p:txBody>
      </p:sp>
      <p:pic>
        <p:nvPicPr>
          <p:cNvPr id="73" name="Picture 72" descr="lock.png"/>
          <p:cNvPicPr>
            <a:picLocks noChangeAspect="1"/>
          </p:cNvPicPr>
          <p:nvPr/>
        </p:nvPicPr>
        <p:blipFill>
          <a:blip r:embed="rId4"/>
          <a:stretch>
            <a:fillRect/>
          </a:stretch>
        </p:blipFill>
        <p:spPr>
          <a:xfrm>
            <a:off x="1818845" y="3488640"/>
            <a:ext cx="128699" cy="187198"/>
          </a:xfrm>
          <a:prstGeom prst="rect">
            <a:avLst/>
          </a:prstGeom>
        </p:spPr>
      </p:pic>
      <p:sp>
        <p:nvSpPr>
          <p:cNvPr id="74" name="TextBox 73"/>
          <p:cNvSpPr txBox="1"/>
          <p:nvPr/>
        </p:nvSpPr>
        <p:spPr>
          <a:xfrm>
            <a:off x="198634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7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981248" cy="186689"/>
          </a:xfrm>
          <a:prstGeom prst="rect">
            <a:avLst/>
          </a:prstGeom>
          <a:noFill/>
        </p:spPr>
        <p:txBody>
          <a:bodyPr wrap="none" lIns="0" rIns="0" tIns="0" bIns="0">
            <a:spAutoFit/>
          </a:bodyPr>
          <a:lstStyle/>
          <a:p>
            <a:r>
              <a:rPr sz="1100" b="0">
                <a:solidFill>
                  <a:srgbClr val="2E2E2E"/>
                </a:solidFill>
                <a:latin typeface="Calibri"/>
              </a:rPr>
              <a:t>'Retail' grows at</a:t>
            </a:r>
          </a:p>
        </p:txBody>
      </p:sp>
      <p:pic>
        <p:nvPicPr>
          <p:cNvPr id="82" name="Picture 81" descr="lock.png"/>
          <p:cNvPicPr>
            <a:picLocks noChangeAspect="1"/>
          </p:cNvPicPr>
          <p:nvPr/>
        </p:nvPicPr>
        <p:blipFill>
          <a:blip r:embed="rId4"/>
          <a:stretch>
            <a:fillRect/>
          </a:stretch>
        </p:blipFill>
        <p:spPr>
          <a:xfrm>
            <a:off x="1119800" y="5240995"/>
            <a:ext cx="128699" cy="187198"/>
          </a:xfrm>
          <a:prstGeom prst="rect">
            <a:avLst/>
          </a:prstGeom>
        </p:spPr>
      </p:pic>
      <p:sp>
        <p:nvSpPr>
          <p:cNvPr id="83" name="TextBox 82"/>
          <p:cNvSpPr txBox="1"/>
          <p:nvPr/>
        </p:nvSpPr>
        <p:spPr>
          <a:xfrm>
            <a:off x="1287296" y="5250774"/>
            <a:ext cx="3467182" cy="186689"/>
          </a:xfrm>
          <a:prstGeom prst="rect">
            <a:avLst/>
          </a:prstGeom>
          <a:noFill/>
        </p:spPr>
        <p:txBody>
          <a:bodyPr wrap="none" lIns="0" rIns="0" tIns="0" bIns="0">
            <a:spAutoFit/>
          </a:bodyPr>
          <a:lstStyle/>
          <a:p>
            <a:r>
              <a:rPr sz="1100" b="0">
                <a:solidFill>
                  <a:srgbClr val="2E2E2E"/>
                </a:solidFill>
                <a:latin typeface="Calibri"/>
              </a:rPr>
              <a:t>CAGR, the fastest of 4 distribution channel routes, and adds</a:t>
            </a:r>
          </a:p>
        </p:txBody>
      </p:sp>
      <p:pic>
        <p:nvPicPr>
          <p:cNvPr id="84" name="Picture 83" descr="lock.png"/>
          <p:cNvPicPr>
            <a:picLocks noChangeAspect="1"/>
          </p:cNvPicPr>
          <p:nvPr/>
        </p:nvPicPr>
        <p:blipFill>
          <a:blip r:embed="rId4"/>
          <a:stretch>
            <a:fillRect/>
          </a:stretch>
        </p:blipFill>
        <p:spPr>
          <a:xfrm>
            <a:off x="4702529" y="5240995"/>
            <a:ext cx="128699" cy="187198"/>
          </a:xfrm>
          <a:prstGeom prst="rect">
            <a:avLst/>
          </a:prstGeom>
        </p:spPr>
      </p:pic>
      <p:sp>
        <p:nvSpPr>
          <p:cNvPr id="85" name="TextBox 84"/>
          <p:cNvSpPr txBox="1"/>
          <p:nvPr/>
        </p:nvSpPr>
        <p:spPr>
          <a:xfrm>
            <a:off x="4870025" y="5250774"/>
            <a:ext cx="3327772" cy="186689"/>
          </a:xfrm>
          <a:prstGeom prst="rect">
            <a:avLst/>
          </a:prstGeom>
          <a:noFill/>
        </p:spPr>
        <p:txBody>
          <a:bodyPr wrap="none" lIns="0" rIns="0" tIns="0" bIns="0">
            <a:spAutoFit/>
          </a:bodyPr>
          <a:lstStyle/>
          <a:p>
            <a:r>
              <a:rPr sz="1100" b="0">
                <a:solidFill>
                  <a:srgbClr val="2E2E2E"/>
                </a:solidFill>
                <a:latin typeface="Calibri"/>
              </a:rPr>
              <a:t>US$ Mn over the forecast period while 'Retail' still carries</a:t>
            </a:r>
          </a:p>
        </p:txBody>
      </p:sp>
      <p:pic>
        <p:nvPicPr>
          <p:cNvPr id="86" name="Picture 85" descr="lock.png"/>
          <p:cNvPicPr>
            <a:picLocks noChangeAspect="1"/>
          </p:cNvPicPr>
          <p:nvPr/>
        </p:nvPicPr>
        <p:blipFill>
          <a:blip r:embed="rId4"/>
          <a:stretch>
            <a:fillRect/>
          </a:stretch>
        </p:blipFill>
        <p:spPr>
          <a:xfrm>
            <a:off x="8145849" y="5240995"/>
            <a:ext cx="128699" cy="187198"/>
          </a:xfrm>
          <a:prstGeom prst="rect">
            <a:avLst/>
          </a:prstGeom>
        </p:spPr>
      </p:pic>
      <p:sp>
        <p:nvSpPr>
          <p:cNvPr id="87" name="TextBox 86"/>
          <p:cNvSpPr txBox="1"/>
          <p:nvPr/>
        </p:nvSpPr>
        <p:spPr>
          <a:xfrm>
            <a:off x="8313345" y="5250774"/>
            <a:ext cx="692298" cy="186689"/>
          </a:xfrm>
          <a:prstGeom prst="rect">
            <a:avLst/>
          </a:prstGeom>
          <a:noFill/>
        </p:spPr>
        <p:txBody>
          <a:bodyPr wrap="none" lIns="0" rIns="0" tIns="0" bIns="0">
            <a:spAutoFit/>
          </a:bodyPr>
          <a:lstStyle/>
          <a:p>
            <a:r>
              <a:rPr sz="1100" b="0">
                <a:solidFill>
                  <a:srgbClr val="2E2E2E"/>
                </a:solidFill>
                <a:latin typeface="Calibri"/>
              </a:rPr>
              <a:t>of demand</a:t>
            </a:r>
          </a:p>
        </p:txBody>
      </p:sp>
      <p:sp>
        <p:nvSpPr>
          <p:cNvPr id="88" name="TextBox 87"/>
          <p:cNvSpPr txBox="1"/>
          <p:nvPr/>
        </p:nvSpPr>
        <p:spPr>
          <a:xfrm>
            <a:off x="190500" y="5418414"/>
            <a:ext cx="6657925" cy="186689"/>
          </a:xfrm>
          <a:prstGeom prst="rect">
            <a:avLst/>
          </a:prstGeom>
          <a:noFill/>
        </p:spPr>
        <p:txBody>
          <a:bodyPr wrap="none" lIns="0" rIns="0" tIns="0" bIns="0">
            <a:spAutoFit/>
          </a:bodyPr>
          <a:lstStyle/>
          <a:p>
            <a:r>
              <a:rPr sz="1100" b="0">
                <a:solidFill>
                  <a:srgbClr val="2E2E2E"/>
                </a:solidFill>
                <a:latin typeface="Calibri"/>
              </a:rPr>
              <a:t>today. Pairing the incumbent route for volume with the fastest route for growth and leading with 'Crab Leg Meat' at</a:t>
            </a:r>
          </a:p>
        </p:txBody>
      </p:sp>
      <p:pic>
        <p:nvPicPr>
          <p:cNvPr id="89" name="Picture 88" descr="lock.png"/>
          <p:cNvPicPr>
            <a:picLocks noChangeAspect="1"/>
          </p:cNvPicPr>
          <p:nvPr/>
        </p:nvPicPr>
        <p:blipFill>
          <a:blip r:embed="rId4"/>
          <a:stretch>
            <a:fillRect/>
          </a:stretch>
        </p:blipFill>
        <p:spPr>
          <a:xfrm>
            <a:off x="6796476" y="5408635"/>
            <a:ext cx="128699" cy="187198"/>
          </a:xfrm>
          <a:prstGeom prst="rect">
            <a:avLst/>
          </a:prstGeom>
        </p:spPr>
      </p:pic>
      <p:sp>
        <p:nvSpPr>
          <p:cNvPr id="90" name="TextBox 89"/>
          <p:cNvSpPr txBox="1"/>
          <p:nvPr/>
        </p:nvSpPr>
        <p:spPr>
          <a:xfrm>
            <a:off x="6963972" y="5418414"/>
            <a:ext cx="2571973" cy="186689"/>
          </a:xfrm>
          <a:prstGeom prst="rect">
            <a:avLst/>
          </a:prstGeom>
          <a:noFill/>
        </p:spPr>
        <p:txBody>
          <a:bodyPr wrap="none" lIns="0" rIns="0" tIns="0" bIns="0">
            <a:spAutoFit/>
          </a:bodyPr>
          <a:lstStyle/>
          <a:p>
            <a:r>
              <a:rPr sz="1100" b="0">
                <a:solidFill>
                  <a:srgbClr val="2E2E2E"/>
                </a:solidFill>
                <a:latin typeface="Calibri"/>
              </a:rPr>
              <a:t>is the highest-yield combination the dataset</a:t>
            </a:r>
          </a:p>
        </p:txBody>
      </p:sp>
      <p:sp>
        <p:nvSpPr>
          <p:cNvPr id="91" name="TextBox 90"/>
          <p:cNvSpPr txBox="1"/>
          <p:nvPr/>
        </p:nvSpPr>
        <p:spPr>
          <a:xfrm>
            <a:off x="190500" y="5586054"/>
            <a:ext cx="610170" cy="186689"/>
          </a:xfrm>
          <a:prstGeom prst="rect">
            <a:avLst/>
          </a:prstGeom>
          <a:noFill/>
        </p:spPr>
        <p:txBody>
          <a:bodyPr wrap="none" lIns="0" rIns="0" tIns="0" bIns="0">
            <a:spAutoFit/>
          </a:bodyPr>
          <a:lstStyle/>
          <a:p>
            <a:r>
              <a:rPr sz="1100" b="0">
                <a:solidFill>
                  <a:srgbClr val="2E2E2E"/>
                </a:solidFill>
                <a:latin typeface="Calibri"/>
              </a:rPr>
              <a:t>supports.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Crab Meat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309765"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'Special Meat'</a:t>
            </a:r>
          </a:p>
        </p:txBody>
      </p:sp>
      <p:pic>
        <p:nvPicPr>
          <p:cNvPr id="39" name="Picture 38" descr="lock.png"/>
          <p:cNvPicPr>
            <a:picLocks noChangeAspect="1"/>
          </p:cNvPicPr>
          <p:nvPr/>
        </p:nvPicPr>
        <p:blipFill>
          <a:blip r:embed="rId4"/>
          <a:stretch>
            <a:fillRect/>
          </a:stretch>
        </p:blipFill>
        <p:spPr>
          <a:xfrm>
            <a:off x="1729607" y="1955800"/>
            <a:ext cx="128699" cy="187198"/>
          </a:xfrm>
          <a:prstGeom prst="rect">
            <a:avLst/>
          </a:prstGeom>
        </p:spPr>
      </p:pic>
      <p:sp>
        <p:nvSpPr>
          <p:cNvPr id="40" name="TextBox 39"/>
          <p:cNvSpPr txBox="1"/>
          <p:nvPr/>
        </p:nvSpPr>
        <p:spPr>
          <a:xfrm>
            <a:off x="1897103" y="1965579"/>
            <a:ext cx="7350422" cy="186689"/>
          </a:xfrm>
          <a:prstGeom prst="rect">
            <a:avLst/>
          </a:prstGeom>
          <a:noFill/>
        </p:spPr>
        <p:txBody>
          <a:bodyPr wrap="none" lIns="0" rIns="0" tIns="0" bIns="0">
            <a:spAutoFit/>
          </a:bodyPr>
          <a:lstStyle/>
          <a:p>
            <a:r>
              <a:rPr sz="1100" b="0">
                <a:solidFill>
                  <a:srgbClr val="2E2E2E"/>
                </a:solidFill>
                <a:latin typeface="Calibri"/>
              </a:rPr>
              <a:t>of meat type value by 2036 set the pace, and the 4 distribution channel routes tracked here all carried volume through the year.</a:t>
            </a:r>
          </a:p>
        </p:txBody>
      </p:sp>
      <p:sp>
        <p:nvSpPr>
          <p:cNvPr id="41" name="TextBox 40"/>
          <p:cNvSpPr txBox="1"/>
          <p:nvPr/>
        </p:nvSpPr>
        <p:spPr>
          <a:xfrm>
            <a:off x="1743075" y="2945502"/>
            <a:ext cx="5524761"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 14,500 US$ Mn, having compounded at</a:t>
            </a:r>
          </a:p>
        </p:txBody>
      </p:sp>
      <p:pic>
        <p:nvPicPr>
          <p:cNvPr id="42" name="Picture 41" descr="lock.png"/>
          <p:cNvPicPr>
            <a:picLocks noChangeAspect="1"/>
          </p:cNvPicPr>
          <p:nvPr/>
        </p:nvPicPr>
        <p:blipFill>
          <a:blip r:embed="rId4"/>
          <a:stretch>
            <a:fillRect/>
          </a:stretch>
        </p:blipFill>
        <p:spPr>
          <a:xfrm>
            <a:off x="7214918" y="2936114"/>
            <a:ext cx="123551" cy="179710"/>
          </a:xfrm>
          <a:prstGeom prst="rect">
            <a:avLst/>
          </a:prstGeom>
        </p:spPr>
      </p:pic>
      <p:sp>
        <p:nvSpPr>
          <p:cNvPr id="43" name="TextBox 42"/>
          <p:cNvSpPr txBox="1"/>
          <p:nvPr/>
        </p:nvSpPr>
        <p:spPr>
          <a:xfrm>
            <a:off x="7375714"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4" name="Picture 43" descr="lock.png"/>
          <p:cNvPicPr>
            <a:picLocks noChangeAspect="1"/>
          </p:cNvPicPr>
          <p:nvPr/>
        </p:nvPicPr>
        <p:blipFill>
          <a:blip r:embed="rId4"/>
          <a:stretch>
            <a:fillRect/>
          </a:stretch>
        </p:blipFill>
        <p:spPr>
          <a:xfrm>
            <a:off x="9633584" y="2936114"/>
            <a:ext cx="123551" cy="179710"/>
          </a:xfrm>
          <a:prstGeom prst="rect">
            <a:avLst/>
          </a:prstGeom>
        </p:spPr>
      </p:pic>
      <p:sp>
        <p:nvSpPr>
          <p:cNvPr id="45" name="TextBox 44"/>
          <p:cNvSpPr txBox="1"/>
          <p:nvPr/>
        </p:nvSpPr>
        <p:spPr>
          <a:xfrm>
            <a:off x="9794380"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6" name="TextBox 45"/>
          <p:cNvSpPr txBox="1"/>
          <p:nvPr/>
        </p:nvSpPr>
        <p:spPr>
          <a:xfrm>
            <a:off x="1743075" y="3106436"/>
            <a:ext cx="4005786" cy="179984"/>
          </a:xfrm>
          <a:prstGeom prst="rect">
            <a:avLst/>
          </a:prstGeom>
          <a:noFill/>
        </p:spPr>
        <p:txBody>
          <a:bodyPr wrap="none" lIns="0" rIns="0" tIns="0" bIns="0">
            <a:spAutoFit/>
          </a:bodyPr>
          <a:lstStyle/>
          <a:p>
            <a:r>
              <a:rPr sz="1055" b="0">
                <a:solidFill>
                  <a:srgbClr val="2E2E2E"/>
                </a:solidFill>
                <a:latin typeface="Calibri"/>
              </a:rPr>
              <a:t>forecast is built from 6 segment breakdowns covering 6 meat type lines.</a:t>
            </a:r>
          </a:p>
        </p:txBody>
      </p:sp>
      <p:sp>
        <p:nvSpPr>
          <p:cNvPr id="47" name="TextBox 46"/>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8" name="Picture 47" descr="lock.png"/>
          <p:cNvPicPr>
            <a:picLocks noChangeAspect="1"/>
          </p:cNvPicPr>
          <p:nvPr/>
        </p:nvPicPr>
        <p:blipFill>
          <a:blip r:embed="rId4"/>
          <a:stretch>
            <a:fillRect/>
          </a:stretch>
        </p:blipFill>
        <p:spPr>
          <a:xfrm>
            <a:off x="2779530" y="3921813"/>
            <a:ext cx="123551" cy="179710"/>
          </a:xfrm>
          <a:prstGeom prst="rect">
            <a:avLst/>
          </a:prstGeom>
        </p:spPr>
      </p:pic>
      <p:sp>
        <p:nvSpPr>
          <p:cNvPr id="49" name="TextBox 48"/>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0" name="Picture 49" descr="lock.png"/>
          <p:cNvPicPr>
            <a:picLocks noChangeAspect="1"/>
          </p:cNvPicPr>
          <p:nvPr/>
        </p:nvPicPr>
        <p:blipFill>
          <a:blip r:embed="rId4"/>
          <a:stretch>
            <a:fillRect/>
          </a:stretch>
        </p:blipFill>
        <p:spPr>
          <a:xfrm>
            <a:off x="5832609" y="3921813"/>
            <a:ext cx="123551" cy="179710"/>
          </a:xfrm>
          <a:prstGeom prst="rect">
            <a:avLst/>
          </a:prstGeom>
        </p:spPr>
      </p:pic>
      <p:sp>
        <p:nvSpPr>
          <p:cNvPr id="51" name="TextBox 50"/>
          <p:cNvSpPr txBox="1"/>
          <p:nvPr/>
        </p:nvSpPr>
        <p:spPr>
          <a:xfrm>
            <a:off x="5993405" y="3931201"/>
            <a:ext cx="3188017" cy="179984"/>
          </a:xfrm>
          <a:prstGeom prst="rect">
            <a:avLst/>
          </a:prstGeom>
          <a:noFill/>
        </p:spPr>
        <p:txBody>
          <a:bodyPr wrap="none" lIns="0" rIns="0" tIns="0" bIns="0">
            <a:spAutoFit/>
          </a:bodyPr>
          <a:lstStyle/>
          <a:p>
            <a:r>
              <a:rPr sz="1055" b="0">
                <a:solidFill>
                  <a:srgbClr val="2E2E2E"/>
                </a:solidFill>
                <a:latin typeface="Calibri"/>
              </a:rPr>
              <a:t>US$ Mn. Growth by this point is led by 'Crab Leg Meat' at</a:t>
            </a:r>
          </a:p>
        </p:txBody>
      </p:sp>
      <p:pic>
        <p:nvPicPr>
          <p:cNvPr id="52" name="Picture 51" descr="lock.png"/>
          <p:cNvPicPr>
            <a:picLocks noChangeAspect="1"/>
          </p:cNvPicPr>
          <p:nvPr/>
        </p:nvPicPr>
        <p:blipFill>
          <a:blip r:embed="rId4"/>
          <a:stretch>
            <a:fillRect/>
          </a:stretch>
        </p:blipFill>
        <p:spPr>
          <a:xfrm>
            <a:off x="9128504" y="3921813"/>
            <a:ext cx="123551" cy="179710"/>
          </a:xfrm>
          <a:prstGeom prst="rect">
            <a:avLst/>
          </a:prstGeom>
        </p:spPr>
      </p:pic>
      <p:sp>
        <p:nvSpPr>
          <p:cNvPr id="53" name="TextBox 52"/>
          <p:cNvSpPr txBox="1"/>
          <p:nvPr/>
        </p:nvSpPr>
        <p:spPr>
          <a:xfrm>
            <a:off x="9289300" y="3931201"/>
            <a:ext cx="2351110" cy="179984"/>
          </a:xfrm>
          <a:prstGeom prst="rect">
            <a:avLst/>
          </a:prstGeom>
          <a:noFill/>
        </p:spPr>
        <p:txBody>
          <a:bodyPr wrap="none" lIns="0" rIns="0" tIns="0" bIns="0">
            <a:spAutoFit/>
          </a:bodyPr>
          <a:lstStyle/>
          <a:p>
            <a:r>
              <a:rPr sz="1055" b="0">
                <a:solidFill>
                  <a:srgbClr val="2E2E2E"/>
                </a:solidFill>
                <a:latin typeface="Calibri"/>
              </a:rPr>
              <a:t>CAGR and by 'South Asia &amp; Pacific' among</a:t>
            </a:r>
          </a:p>
        </p:txBody>
      </p:sp>
      <p:sp>
        <p:nvSpPr>
          <p:cNvPr id="54" name="TextBox 53"/>
          <p:cNvSpPr txBox="1"/>
          <p:nvPr/>
        </p:nvSpPr>
        <p:spPr>
          <a:xfrm>
            <a:off x="1743075" y="4092135"/>
            <a:ext cx="617100" cy="179984"/>
          </a:xfrm>
          <a:prstGeom prst="rect">
            <a:avLst/>
          </a:prstGeom>
          <a:noFill/>
        </p:spPr>
        <p:txBody>
          <a:bodyPr wrap="none" lIns="0" rIns="0" tIns="0" bIns="0">
            <a:spAutoFit/>
          </a:bodyPr>
          <a:lstStyle/>
          <a:p>
            <a:r>
              <a:rPr sz="1055" b="0">
                <a:solidFill>
                  <a:srgbClr val="2E2E2E"/>
                </a:solidFill>
                <a:latin typeface="Calibri"/>
              </a:rPr>
              <a:t>regions at</a:t>
            </a:r>
          </a:p>
        </p:txBody>
      </p:sp>
      <p:pic>
        <p:nvPicPr>
          <p:cNvPr id="55" name="Picture 54" descr="lock.png"/>
          <p:cNvPicPr>
            <a:picLocks noChangeAspect="1"/>
          </p:cNvPicPr>
          <p:nvPr/>
        </p:nvPicPr>
        <p:blipFill>
          <a:blip r:embed="rId4"/>
          <a:stretch>
            <a:fillRect/>
          </a:stretch>
        </p:blipFill>
        <p:spPr>
          <a:xfrm>
            <a:off x="2307257" y="4082747"/>
            <a:ext cx="123551" cy="179710"/>
          </a:xfrm>
          <a:prstGeom prst="rect">
            <a:avLst/>
          </a:prstGeom>
        </p:spPr>
      </p:pic>
      <p:sp>
        <p:nvSpPr>
          <p:cNvPr id="56" name="TextBox 55"/>
          <p:cNvSpPr txBox="1"/>
          <p:nvPr/>
        </p:nvSpPr>
        <p:spPr>
          <a:xfrm>
            <a:off x="2468053"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57" name="TextBox 56"/>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8" name="Picture 57" descr="lock.png"/>
          <p:cNvPicPr>
            <a:picLocks noChangeAspect="1"/>
          </p:cNvPicPr>
          <p:nvPr/>
        </p:nvPicPr>
        <p:blipFill>
          <a:blip r:embed="rId4"/>
          <a:stretch>
            <a:fillRect/>
          </a:stretch>
        </p:blipFill>
        <p:spPr>
          <a:xfrm>
            <a:off x="3880454" y="4907513"/>
            <a:ext cx="123551" cy="179710"/>
          </a:xfrm>
          <a:prstGeom prst="rect">
            <a:avLst/>
          </a:prstGeom>
        </p:spPr>
      </p:pic>
      <p:sp>
        <p:nvSpPr>
          <p:cNvPr id="59" name="TextBox 58"/>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0" name="Picture 59" descr="lock.png"/>
          <p:cNvPicPr>
            <a:picLocks noChangeAspect="1"/>
          </p:cNvPicPr>
          <p:nvPr/>
        </p:nvPicPr>
        <p:blipFill>
          <a:blip r:embed="rId4"/>
          <a:stretch>
            <a:fillRect/>
          </a:stretch>
        </p:blipFill>
        <p:spPr>
          <a:xfrm>
            <a:off x="4529470" y="4907513"/>
            <a:ext cx="123551" cy="179710"/>
          </a:xfrm>
          <a:prstGeom prst="rect">
            <a:avLst/>
          </a:prstGeom>
        </p:spPr>
      </p:pic>
      <p:sp>
        <p:nvSpPr>
          <p:cNvPr id="61" name="TextBox 60"/>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2" name="Picture 61" descr="lock.png"/>
          <p:cNvPicPr>
            <a:picLocks noChangeAspect="1"/>
          </p:cNvPicPr>
          <p:nvPr/>
        </p:nvPicPr>
        <p:blipFill>
          <a:blip r:embed="rId4"/>
          <a:stretch>
            <a:fillRect/>
          </a:stretch>
        </p:blipFill>
        <p:spPr>
          <a:xfrm>
            <a:off x="7218681" y="4907513"/>
            <a:ext cx="123551" cy="179710"/>
          </a:xfrm>
          <a:prstGeom prst="rect">
            <a:avLst/>
          </a:prstGeom>
        </p:spPr>
      </p:pic>
      <p:sp>
        <p:nvSpPr>
          <p:cNvPr id="63" name="TextBox 62"/>
          <p:cNvSpPr txBox="1"/>
          <p:nvPr/>
        </p:nvSpPr>
        <p:spPr>
          <a:xfrm>
            <a:off x="7379477" y="4916901"/>
            <a:ext cx="1740288" cy="179984"/>
          </a:xfrm>
          <a:prstGeom prst="rect">
            <a:avLst/>
          </a:prstGeom>
          <a:noFill/>
        </p:spPr>
        <p:txBody>
          <a:bodyPr wrap="none" lIns="0" rIns="0" tIns="0" bIns="0">
            <a:spAutoFit/>
          </a:bodyPr>
          <a:lstStyle/>
          <a:p>
            <a:r>
              <a:rPr sz="1055" b="0">
                <a:solidFill>
                  <a:srgbClr val="2E2E2E"/>
                </a:solidFill>
                <a:latin typeface="Calibri"/>
              </a:rPr>
              <a:t>US$/MT, and mix has moved +</a:t>
            </a:r>
          </a:p>
        </p:txBody>
      </p:sp>
      <p:pic>
        <p:nvPicPr>
          <p:cNvPr id="64" name="Picture 63" descr="lock.png"/>
          <p:cNvPicPr>
            <a:picLocks noChangeAspect="1"/>
          </p:cNvPicPr>
          <p:nvPr/>
        </p:nvPicPr>
        <p:blipFill>
          <a:blip r:embed="rId4"/>
          <a:stretch>
            <a:fillRect/>
          </a:stretch>
        </p:blipFill>
        <p:spPr>
          <a:xfrm>
            <a:off x="9066848" y="4907513"/>
            <a:ext cx="123551" cy="179710"/>
          </a:xfrm>
          <a:prstGeom prst="rect">
            <a:avLst/>
          </a:prstGeom>
        </p:spPr>
      </p:pic>
      <p:sp>
        <p:nvSpPr>
          <p:cNvPr id="65" name="TextBox 64"/>
          <p:cNvSpPr txBox="1"/>
          <p:nvPr/>
        </p:nvSpPr>
        <p:spPr>
          <a:xfrm>
            <a:off x="9227644" y="4916901"/>
            <a:ext cx="2143934" cy="179984"/>
          </a:xfrm>
          <a:prstGeom prst="rect">
            <a:avLst/>
          </a:prstGeom>
          <a:noFill/>
        </p:spPr>
        <p:txBody>
          <a:bodyPr wrap="none" lIns="0" rIns="0" tIns="0" bIns="0">
            <a:spAutoFit/>
          </a:bodyPr>
          <a:lstStyle/>
          <a:p>
            <a:r>
              <a:rPr sz="1055" b="0">
                <a:solidFill>
                  <a:srgbClr val="2E2E2E"/>
                </a:solidFill>
                <a:latin typeface="Calibri"/>
              </a:rPr>
              <a:t>BPS toward 'Special Meat' while 'Claw</a:t>
            </a:r>
          </a:p>
        </p:txBody>
      </p:sp>
      <p:sp>
        <p:nvSpPr>
          <p:cNvPr id="66" name="TextBox 65"/>
          <p:cNvSpPr txBox="1"/>
          <p:nvPr/>
        </p:nvSpPr>
        <p:spPr>
          <a:xfrm>
            <a:off x="1743075" y="5077835"/>
            <a:ext cx="871966" cy="179984"/>
          </a:xfrm>
          <a:prstGeom prst="rect">
            <a:avLst/>
          </a:prstGeom>
          <a:noFill/>
        </p:spPr>
        <p:txBody>
          <a:bodyPr wrap="none" lIns="0" rIns="0" tIns="0" bIns="0">
            <a:spAutoFit/>
          </a:bodyPr>
          <a:lstStyle/>
          <a:p>
            <a:r>
              <a:rPr sz="1055" b="0">
                <a:solidFill>
                  <a:srgbClr val="2E2E2E"/>
                </a:solidFill>
                <a:latin typeface="Calibri"/>
              </a:rPr>
              <a:t>Meat' gives up</a:t>
            </a:r>
          </a:p>
        </p:txBody>
      </p:sp>
      <p:pic>
        <p:nvPicPr>
          <p:cNvPr id="67" name="Picture 66" descr="lock.png"/>
          <p:cNvPicPr>
            <a:picLocks noChangeAspect="1"/>
          </p:cNvPicPr>
          <p:nvPr/>
        </p:nvPicPr>
        <p:blipFill>
          <a:blip r:embed="rId4"/>
          <a:stretch>
            <a:fillRect/>
          </a:stretch>
        </p:blipFill>
        <p:spPr>
          <a:xfrm>
            <a:off x="2562122" y="5068447"/>
            <a:ext cx="123551" cy="179710"/>
          </a:xfrm>
          <a:prstGeom prst="rect">
            <a:avLst/>
          </a:prstGeom>
        </p:spPr>
      </p:pic>
      <p:sp>
        <p:nvSpPr>
          <p:cNvPr id="68" name="TextBox 67"/>
          <p:cNvSpPr txBox="1"/>
          <p:nvPr/>
        </p:nvSpPr>
        <p:spPr>
          <a:xfrm>
            <a:off x="2722918"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69" name="TextBox 68"/>
          <p:cNvSpPr txBox="1"/>
          <p:nvPr/>
        </p:nvSpPr>
        <p:spPr>
          <a:xfrm>
            <a:off x="1743075" y="5902601"/>
            <a:ext cx="3538461" cy="179984"/>
          </a:xfrm>
          <a:prstGeom prst="rect">
            <a:avLst/>
          </a:prstGeom>
          <a:noFill/>
        </p:spPr>
        <p:txBody>
          <a:bodyPr wrap="none" lIns="0" rIns="0" tIns="0" bIns="0">
            <a:spAutoFit/>
          </a:bodyPr>
          <a:lstStyle/>
          <a:p>
            <a:r>
              <a:rPr sz="1055" b="0">
                <a:solidFill>
                  <a:srgbClr val="2E2E2E"/>
                </a:solidFill>
                <a:latin typeface="Calibri"/>
              </a:rPr>
              <a:t>Forecast outcome: the global market reaches 23,200 US$ Mn, a</a:t>
            </a:r>
          </a:p>
        </p:txBody>
      </p:sp>
      <p:pic>
        <p:nvPicPr>
          <p:cNvPr id="70" name="Picture 69" descr="lock.png"/>
          <p:cNvPicPr>
            <a:picLocks noChangeAspect="1"/>
          </p:cNvPicPr>
          <p:nvPr/>
        </p:nvPicPr>
        <p:blipFill>
          <a:blip r:embed="rId4"/>
          <a:stretch>
            <a:fillRect/>
          </a:stretch>
        </p:blipFill>
        <p:spPr>
          <a:xfrm>
            <a:off x="5228617" y="5893213"/>
            <a:ext cx="123551" cy="179710"/>
          </a:xfrm>
          <a:prstGeom prst="rect">
            <a:avLst/>
          </a:prstGeom>
        </p:spPr>
      </p:pic>
      <p:sp>
        <p:nvSpPr>
          <p:cNvPr id="71" name="TextBox 70"/>
          <p:cNvSpPr txBox="1"/>
          <p:nvPr/>
        </p:nvSpPr>
        <p:spPr>
          <a:xfrm>
            <a:off x="5389413"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2" name="Picture 71" descr="lock.png"/>
          <p:cNvPicPr>
            <a:picLocks noChangeAspect="1"/>
          </p:cNvPicPr>
          <p:nvPr/>
        </p:nvPicPr>
        <p:blipFill>
          <a:blip r:embed="rId4"/>
          <a:stretch>
            <a:fillRect/>
          </a:stretch>
        </p:blipFill>
        <p:spPr>
          <a:xfrm>
            <a:off x="6774246" y="5893213"/>
            <a:ext cx="123551" cy="179710"/>
          </a:xfrm>
          <a:prstGeom prst="rect">
            <a:avLst/>
          </a:prstGeom>
        </p:spPr>
      </p:pic>
      <p:sp>
        <p:nvSpPr>
          <p:cNvPr id="73" name="TextBox 72"/>
          <p:cNvSpPr txBox="1"/>
          <p:nvPr/>
        </p:nvSpPr>
        <p:spPr>
          <a:xfrm>
            <a:off x="6935042" y="5902601"/>
            <a:ext cx="3728378" cy="179984"/>
          </a:xfrm>
          <a:prstGeom prst="rect">
            <a:avLst/>
          </a:prstGeom>
          <a:noFill/>
        </p:spPr>
        <p:txBody>
          <a:bodyPr wrap="none" lIns="0" rIns="0" tIns="0" bIns="0">
            <a:spAutoFit/>
          </a:bodyPr>
          <a:lstStyle/>
          <a:p>
            <a:r>
              <a:rPr sz="1055" b="0">
                <a:solidFill>
                  <a:srgbClr val="2E2E2E"/>
                </a:solidFill>
                <a:latin typeface="Calibri"/>
              </a:rPr>
              <a:t>US$ Mn of incremental value at 4.8% CAGR. Volume compounds at</a:t>
            </a:r>
          </a:p>
        </p:txBody>
      </p:sp>
      <p:pic>
        <p:nvPicPr>
          <p:cNvPr id="74" name="Picture 73" descr="lock.png"/>
          <p:cNvPicPr>
            <a:picLocks noChangeAspect="1"/>
          </p:cNvPicPr>
          <p:nvPr/>
        </p:nvPicPr>
        <p:blipFill>
          <a:blip r:embed="rId4"/>
          <a:stretch>
            <a:fillRect/>
          </a:stretch>
        </p:blipFill>
        <p:spPr>
          <a:xfrm>
            <a:off x="10610502" y="5893213"/>
            <a:ext cx="123551" cy="179710"/>
          </a:xfrm>
          <a:prstGeom prst="rect">
            <a:avLst/>
          </a:prstGeom>
        </p:spPr>
      </p:pic>
      <p:sp>
        <p:nvSpPr>
          <p:cNvPr id="75" name="TextBox 74"/>
          <p:cNvSpPr txBox="1"/>
          <p:nvPr/>
        </p:nvSpPr>
        <p:spPr>
          <a:xfrm>
            <a:off x="10771298"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76" name="TextBox 75"/>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77" name="Picture 76" descr="lock.png"/>
          <p:cNvPicPr>
            <a:picLocks noChangeAspect="1"/>
          </p:cNvPicPr>
          <p:nvPr/>
        </p:nvPicPr>
        <p:blipFill>
          <a:blip r:embed="rId4"/>
          <a:stretch>
            <a:fillRect/>
          </a:stretch>
        </p:blipFill>
        <p:spPr>
          <a:xfrm>
            <a:off x="3255209" y="6054147"/>
            <a:ext cx="123551" cy="179710"/>
          </a:xfrm>
          <a:prstGeom prst="rect">
            <a:avLst/>
          </a:prstGeom>
        </p:spPr>
      </p:pic>
      <p:sp>
        <p:nvSpPr>
          <p:cNvPr id="78" name="TextBox 77"/>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Crab Meat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Supplier power, buyer power, competitive intensity, substitution and entry barriers scored from the global dataset 6 meat type lines, 4 distribution channel routes and 6 regions at 4.8% CAGR.</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6 meat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6 comparable meat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165151"/>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8" name="TextBox 57"/>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59" name="Picture 58" descr="lock.png"/>
          <p:cNvPicPr>
            <a:picLocks noChangeAspect="1"/>
          </p:cNvPicPr>
          <p:nvPr/>
        </p:nvPicPr>
        <p:blipFill>
          <a:blip r:embed="rId4"/>
          <a:stretch>
            <a:fillRect/>
          </a:stretch>
        </p:blipFill>
        <p:spPr>
          <a:xfrm>
            <a:off x="1295293" y="3006595"/>
            <a:ext cx="128699" cy="187198"/>
          </a:xfrm>
          <a:prstGeom prst="rect">
            <a:avLst/>
          </a:prstGeom>
        </p:spPr>
      </p:pic>
      <p:sp>
        <p:nvSpPr>
          <p:cNvPr id="60" name="TextBox 59"/>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1" name="TextBox 60"/>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2" name="TextBox 61"/>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3" name="TextBox 62"/>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4" name="Picture 63" descr="lock.png"/>
          <p:cNvPicPr>
            <a:picLocks noChangeAspect="1"/>
          </p:cNvPicPr>
          <p:nvPr/>
        </p:nvPicPr>
        <p:blipFill>
          <a:blip r:embed="rId4"/>
          <a:stretch>
            <a:fillRect/>
          </a:stretch>
        </p:blipFill>
        <p:spPr>
          <a:xfrm>
            <a:off x="1900439" y="3789826"/>
            <a:ext cx="128699" cy="187198"/>
          </a:xfrm>
          <a:prstGeom prst="rect">
            <a:avLst/>
          </a:prstGeom>
        </p:spPr>
      </p:pic>
      <p:sp>
        <p:nvSpPr>
          <p:cNvPr id="65" name="TextBox 64"/>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6" name="TextBox 65"/>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7" name="TextBox 66"/>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8" name="TextBox 67"/>
          <p:cNvSpPr txBox="1"/>
          <p:nvPr/>
        </p:nvSpPr>
        <p:spPr>
          <a:xfrm>
            <a:off x="2657475" y="2848734"/>
            <a:ext cx="1830089" cy="186689"/>
          </a:xfrm>
          <a:prstGeom prst="rect">
            <a:avLst/>
          </a:prstGeom>
          <a:noFill/>
        </p:spPr>
        <p:txBody>
          <a:bodyPr wrap="none" lIns="0" rIns="0" tIns="0" bIns="0">
            <a:spAutoFit/>
          </a:bodyPr>
          <a:lstStyle/>
          <a:p>
            <a:r>
              <a:rPr sz="1100" b="0">
                <a:solidFill>
                  <a:srgbClr val="2E2E2E"/>
                </a:solidFill>
                <a:latin typeface="Calibri"/>
              </a:rPr>
              <a:t>▸ Assessed moderate. Demand</a:t>
            </a:r>
          </a:p>
        </p:txBody>
      </p:sp>
      <p:sp>
        <p:nvSpPr>
          <p:cNvPr id="69" name="TextBox 68"/>
          <p:cNvSpPr txBox="1"/>
          <p:nvPr/>
        </p:nvSpPr>
        <p:spPr>
          <a:xfrm>
            <a:off x="2657475" y="3016374"/>
            <a:ext cx="1725587" cy="186689"/>
          </a:xfrm>
          <a:prstGeom prst="rect">
            <a:avLst/>
          </a:prstGeom>
          <a:noFill/>
        </p:spPr>
        <p:txBody>
          <a:bodyPr wrap="none" lIns="0" rIns="0" tIns="0" bIns="0">
            <a:spAutoFit/>
          </a:bodyPr>
          <a:lstStyle/>
          <a:p>
            <a:r>
              <a:rPr sz="1100" b="0">
                <a:solidFill>
                  <a:srgbClr val="2E2E2E"/>
                </a:solidFill>
                <a:latin typeface="Calibri"/>
              </a:rPr>
              <a:t>routes through 4 distribution</a:t>
            </a:r>
          </a:p>
        </p:txBody>
      </p:sp>
      <p:sp>
        <p:nvSpPr>
          <p:cNvPr id="70" name="TextBox 69"/>
          <p:cNvSpPr txBox="1"/>
          <p:nvPr/>
        </p:nvSpPr>
        <p:spPr>
          <a:xfrm>
            <a:off x="2657475" y="3184014"/>
            <a:ext cx="1995983" cy="186689"/>
          </a:xfrm>
          <a:prstGeom prst="rect">
            <a:avLst/>
          </a:prstGeom>
          <a:noFill/>
        </p:spPr>
        <p:txBody>
          <a:bodyPr wrap="none" lIns="0" rIns="0" tIns="0" bIns="0">
            <a:spAutoFit/>
          </a:bodyPr>
          <a:lstStyle/>
          <a:p>
            <a:r>
              <a:rPr sz="1100" b="0">
                <a:solidFill>
                  <a:srgbClr val="2E2E2E"/>
                </a:solidFill>
                <a:latin typeface="Calibri"/>
              </a:rPr>
              <a:t>channel channels led by 'Retail' at</a:t>
            </a:r>
          </a:p>
        </p:txBody>
      </p:sp>
      <p:pic>
        <p:nvPicPr>
          <p:cNvPr id="71" name="Picture 70" descr="lock.png"/>
          <p:cNvPicPr>
            <a:picLocks noChangeAspect="1"/>
          </p:cNvPicPr>
          <p:nvPr/>
        </p:nvPicPr>
        <p:blipFill>
          <a:blip r:embed="rId4"/>
          <a:stretch>
            <a:fillRect/>
          </a:stretch>
        </p:blipFill>
        <p:spPr>
          <a:xfrm>
            <a:off x="2644007" y="3341875"/>
            <a:ext cx="128699" cy="187198"/>
          </a:xfrm>
          <a:prstGeom prst="rect">
            <a:avLst/>
          </a:prstGeom>
        </p:spPr>
      </p:pic>
      <p:sp>
        <p:nvSpPr>
          <p:cNvPr id="72" name="TextBox 71"/>
          <p:cNvSpPr txBox="1"/>
          <p:nvPr/>
        </p:nvSpPr>
        <p:spPr>
          <a:xfrm>
            <a:off x="2811503" y="3351654"/>
            <a:ext cx="1553964" cy="186689"/>
          </a:xfrm>
          <a:prstGeom prst="rect">
            <a:avLst/>
          </a:prstGeom>
          <a:noFill/>
        </p:spPr>
        <p:txBody>
          <a:bodyPr wrap="none" lIns="0" rIns="0" tIns="0" bIns="0">
            <a:spAutoFit/>
          </a:bodyPr>
          <a:lstStyle/>
          <a:p>
            <a:r>
              <a:rPr sz="1100" b="0">
                <a:solidFill>
                  <a:srgbClr val="2E2E2E"/>
                </a:solidFill>
                <a:latin typeface="Calibri"/>
              </a:rPr>
              <a:t>, giving large buyers scale.</a:t>
            </a:r>
          </a:p>
        </p:txBody>
      </p:sp>
      <p:sp>
        <p:nvSpPr>
          <p:cNvPr id="73" name="TextBox 72"/>
          <p:cNvSpPr txBox="1"/>
          <p:nvPr/>
        </p:nvSpPr>
        <p:spPr>
          <a:xfrm>
            <a:off x="2657475" y="3708336"/>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4" name="TextBox 73"/>
          <p:cNvSpPr txBox="1"/>
          <p:nvPr/>
        </p:nvSpPr>
        <p:spPr>
          <a:xfrm>
            <a:off x="2657475" y="3875976"/>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5" name="Picture 74" descr="lock.png"/>
          <p:cNvPicPr>
            <a:picLocks noChangeAspect="1"/>
          </p:cNvPicPr>
          <p:nvPr/>
        </p:nvPicPr>
        <p:blipFill>
          <a:blip r:embed="rId4"/>
          <a:stretch>
            <a:fillRect/>
          </a:stretch>
        </p:blipFill>
        <p:spPr>
          <a:xfrm>
            <a:off x="3101372" y="3866197"/>
            <a:ext cx="128699" cy="187198"/>
          </a:xfrm>
          <a:prstGeom prst="rect">
            <a:avLst/>
          </a:prstGeom>
        </p:spPr>
      </p:pic>
      <p:sp>
        <p:nvSpPr>
          <p:cNvPr id="76" name="TextBox 75"/>
          <p:cNvSpPr txBox="1"/>
          <p:nvPr/>
        </p:nvSpPr>
        <p:spPr>
          <a:xfrm>
            <a:off x="3268868" y="3875976"/>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77" name="TextBox 76"/>
          <p:cNvSpPr txBox="1"/>
          <p:nvPr/>
        </p:nvSpPr>
        <p:spPr>
          <a:xfrm>
            <a:off x="2657475" y="4043616"/>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78" name="Picture 77" descr="lock.png"/>
          <p:cNvPicPr>
            <a:picLocks noChangeAspect="1"/>
          </p:cNvPicPr>
          <p:nvPr/>
        </p:nvPicPr>
        <p:blipFill>
          <a:blip r:embed="rId4"/>
          <a:stretch>
            <a:fillRect/>
          </a:stretch>
        </p:blipFill>
        <p:spPr>
          <a:xfrm>
            <a:off x="3238070" y="4033837"/>
            <a:ext cx="128699" cy="187198"/>
          </a:xfrm>
          <a:prstGeom prst="rect">
            <a:avLst/>
          </a:prstGeom>
        </p:spPr>
      </p:pic>
      <p:sp>
        <p:nvSpPr>
          <p:cNvPr id="79" name="TextBox 78"/>
          <p:cNvSpPr txBox="1"/>
          <p:nvPr/>
        </p:nvSpPr>
        <p:spPr>
          <a:xfrm>
            <a:off x="3405566" y="4043616"/>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5038725" y="2841285"/>
            <a:ext cx="2009626" cy="186689"/>
          </a:xfrm>
          <a:prstGeom prst="rect">
            <a:avLst/>
          </a:prstGeom>
          <a:noFill/>
        </p:spPr>
        <p:txBody>
          <a:bodyPr wrap="none" lIns="0" rIns="0" tIns="0" bIns="0">
            <a:spAutoFit/>
          </a:bodyPr>
          <a:lstStyle/>
          <a:p>
            <a:r>
              <a:rPr sz="1100" b="0">
                <a:solidFill>
                  <a:srgbClr val="2E2E2E"/>
                </a:solidFill>
                <a:latin typeface="Calibri"/>
              </a:rPr>
              <a:t>▸ Assessed high. 6 meat type lines</a:t>
            </a:r>
          </a:p>
        </p:txBody>
      </p:sp>
      <p:sp>
        <p:nvSpPr>
          <p:cNvPr id="81" name="TextBox 80"/>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2" name="TextBox 81"/>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3" name="Picture 82" descr="lock.png"/>
          <p:cNvPicPr>
            <a:picLocks noChangeAspect="1"/>
          </p:cNvPicPr>
          <p:nvPr/>
        </p:nvPicPr>
        <p:blipFill>
          <a:blip r:embed="rId4"/>
          <a:stretch>
            <a:fillRect/>
          </a:stretch>
        </p:blipFill>
        <p:spPr>
          <a:xfrm>
            <a:off x="5762295" y="3166786"/>
            <a:ext cx="128699" cy="187198"/>
          </a:xfrm>
          <a:prstGeom prst="rect">
            <a:avLst/>
          </a:prstGeom>
        </p:spPr>
      </p:pic>
      <p:sp>
        <p:nvSpPr>
          <p:cNvPr id="84" name="TextBox 83"/>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5" name="TextBox 84"/>
          <p:cNvSpPr txBox="1"/>
          <p:nvPr/>
        </p:nvSpPr>
        <p:spPr>
          <a:xfrm>
            <a:off x="5038725" y="3525799"/>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6" name="TextBox 85"/>
          <p:cNvSpPr txBox="1"/>
          <p:nvPr/>
        </p:nvSpPr>
        <p:spPr>
          <a:xfrm>
            <a:off x="5038725" y="3693439"/>
            <a:ext cx="1107033" cy="186689"/>
          </a:xfrm>
          <a:prstGeom prst="rect">
            <a:avLst/>
          </a:prstGeom>
          <a:noFill/>
        </p:spPr>
        <p:txBody>
          <a:bodyPr wrap="none" lIns="0" rIns="0" tIns="0" bIns="0">
            <a:spAutoFit/>
          </a:bodyPr>
          <a:lstStyle/>
          <a:p>
            <a:r>
              <a:rPr sz="1100" b="0">
                <a:solidFill>
                  <a:srgbClr val="2E2E2E"/>
                </a:solidFill>
                <a:latin typeface="Calibri"/>
              </a:rPr>
              <a:t>'Crab Leg Meat' at</a:t>
            </a:r>
          </a:p>
        </p:txBody>
      </p:sp>
      <p:pic>
        <p:nvPicPr>
          <p:cNvPr id="87" name="Picture 86" descr="lock.png"/>
          <p:cNvPicPr>
            <a:picLocks noChangeAspect="1"/>
          </p:cNvPicPr>
          <p:nvPr/>
        </p:nvPicPr>
        <p:blipFill>
          <a:blip r:embed="rId4"/>
          <a:stretch>
            <a:fillRect/>
          </a:stretch>
        </p:blipFill>
        <p:spPr>
          <a:xfrm>
            <a:off x="6093809" y="3683660"/>
            <a:ext cx="128699" cy="187198"/>
          </a:xfrm>
          <a:prstGeom prst="rect">
            <a:avLst/>
          </a:prstGeom>
        </p:spPr>
      </p:pic>
      <p:sp>
        <p:nvSpPr>
          <p:cNvPr id="88" name="TextBox 87"/>
          <p:cNvSpPr txBox="1"/>
          <p:nvPr/>
        </p:nvSpPr>
        <p:spPr>
          <a:xfrm>
            <a:off x="6261305" y="3693439"/>
            <a:ext cx="482748" cy="186689"/>
          </a:xfrm>
          <a:prstGeom prst="rect">
            <a:avLst/>
          </a:prstGeom>
          <a:noFill/>
        </p:spPr>
        <p:txBody>
          <a:bodyPr wrap="none" lIns="0" rIns="0" tIns="0" bIns="0">
            <a:spAutoFit/>
          </a:bodyPr>
          <a:lstStyle/>
          <a:p>
            <a:r>
              <a:rPr sz="1100" b="0">
                <a:solidFill>
                  <a:srgbClr val="2E2E2E"/>
                </a:solidFill>
                <a:latin typeface="Calibri"/>
              </a:rPr>
              <a:t>against</a:t>
            </a:r>
          </a:p>
        </p:txBody>
      </p:sp>
      <p:sp>
        <p:nvSpPr>
          <p:cNvPr id="89" name="TextBox 88"/>
          <p:cNvSpPr txBox="1"/>
          <p:nvPr/>
        </p:nvSpPr>
        <p:spPr>
          <a:xfrm>
            <a:off x="5038725" y="3861079"/>
            <a:ext cx="600347" cy="186689"/>
          </a:xfrm>
          <a:prstGeom prst="rect">
            <a:avLst/>
          </a:prstGeom>
          <a:noFill/>
        </p:spPr>
        <p:txBody>
          <a:bodyPr wrap="none" lIns="0" rIns="0" tIns="0" bIns="0">
            <a:spAutoFit/>
          </a:bodyPr>
          <a:lstStyle/>
          <a:p>
            <a:r>
              <a:rPr sz="1100" b="0">
                <a:solidFill>
                  <a:srgbClr val="2E2E2E"/>
                </a:solidFill>
                <a:latin typeface="Calibri"/>
              </a:rPr>
              <a:t>'Lump' at</a:t>
            </a:r>
          </a:p>
        </p:txBody>
      </p:sp>
      <p:pic>
        <p:nvPicPr>
          <p:cNvPr id="90" name="Picture 89" descr="lock.png"/>
          <p:cNvPicPr>
            <a:picLocks noChangeAspect="1"/>
          </p:cNvPicPr>
          <p:nvPr/>
        </p:nvPicPr>
        <p:blipFill>
          <a:blip r:embed="rId4"/>
          <a:stretch>
            <a:fillRect/>
          </a:stretch>
        </p:blipFill>
        <p:spPr>
          <a:xfrm>
            <a:off x="5587124" y="3851300"/>
            <a:ext cx="128699" cy="187198"/>
          </a:xfrm>
          <a:prstGeom prst="rect">
            <a:avLst/>
          </a:prstGeom>
        </p:spPr>
      </p:pic>
      <p:sp>
        <p:nvSpPr>
          <p:cNvPr id="91" name="TextBox 90"/>
          <p:cNvSpPr txBox="1"/>
          <p:nvPr/>
        </p:nvSpPr>
        <p:spPr>
          <a:xfrm>
            <a:off x="5754620" y="3861079"/>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2" name="TextBox 91"/>
          <p:cNvSpPr txBox="1"/>
          <p:nvPr/>
        </p:nvSpPr>
        <p:spPr>
          <a:xfrm>
            <a:off x="5038725" y="4210313"/>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3" name="Picture 92" descr="lock.png"/>
          <p:cNvPicPr>
            <a:picLocks noChangeAspect="1"/>
          </p:cNvPicPr>
          <p:nvPr/>
        </p:nvPicPr>
        <p:blipFill>
          <a:blip r:embed="rId4"/>
          <a:stretch>
            <a:fillRect/>
          </a:stretch>
        </p:blipFill>
        <p:spPr>
          <a:xfrm>
            <a:off x="5025257" y="4368174"/>
            <a:ext cx="128699" cy="187198"/>
          </a:xfrm>
          <a:prstGeom prst="rect">
            <a:avLst/>
          </a:prstGeom>
        </p:spPr>
      </p:pic>
      <p:sp>
        <p:nvSpPr>
          <p:cNvPr id="94" name="TextBox 93"/>
          <p:cNvSpPr txBox="1"/>
          <p:nvPr/>
        </p:nvSpPr>
        <p:spPr>
          <a:xfrm>
            <a:off x="5192753" y="4377953"/>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5" name="TextBox 94"/>
          <p:cNvSpPr txBox="1"/>
          <p:nvPr/>
        </p:nvSpPr>
        <p:spPr>
          <a:xfrm>
            <a:off x="5038725" y="4545593"/>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6" name="TextBox 95"/>
          <p:cNvSpPr txBox="1"/>
          <p:nvPr/>
        </p:nvSpPr>
        <p:spPr>
          <a:xfrm>
            <a:off x="7419975" y="2944566"/>
            <a:ext cx="2019448" cy="186689"/>
          </a:xfrm>
          <a:prstGeom prst="rect">
            <a:avLst/>
          </a:prstGeom>
          <a:noFill/>
        </p:spPr>
        <p:txBody>
          <a:bodyPr wrap="none" lIns="0" rIns="0" tIns="0" bIns="0">
            <a:spAutoFit/>
          </a:bodyPr>
          <a:lstStyle/>
          <a:p>
            <a:r>
              <a:rPr sz="1100" b="0">
                <a:solidFill>
                  <a:srgbClr val="2E2E2E"/>
                </a:solidFill>
                <a:latin typeface="Calibri"/>
              </a:rPr>
              <a:t>▸ Assessed high. 'Claw Meat' loses</a:t>
            </a:r>
          </a:p>
        </p:txBody>
      </p:sp>
      <p:pic>
        <p:nvPicPr>
          <p:cNvPr id="97" name="Picture 96" descr="lock.png"/>
          <p:cNvPicPr>
            <a:picLocks noChangeAspect="1"/>
          </p:cNvPicPr>
          <p:nvPr/>
        </p:nvPicPr>
        <p:blipFill>
          <a:blip r:embed="rId4"/>
          <a:stretch>
            <a:fillRect/>
          </a:stretch>
        </p:blipFill>
        <p:spPr>
          <a:xfrm>
            <a:off x="7406507" y="3102427"/>
            <a:ext cx="128699" cy="187198"/>
          </a:xfrm>
          <a:prstGeom prst="rect">
            <a:avLst/>
          </a:prstGeom>
        </p:spPr>
      </p:pic>
      <p:sp>
        <p:nvSpPr>
          <p:cNvPr id="98" name="TextBox 97"/>
          <p:cNvSpPr txBox="1"/>
          <p:nvPr/>
        </p:nvSpPr>
        <p:spPr>
          <a:xfrm>
            <a:off x="7574003" y="3112206"/>
            <a:ext cx="1759148" cy="186689"/>
          </a:xfrm>
          <a:prstGeom prst="rect">
            <a:avLst/>
          </a:prstGeom>
          <a:noFill/>
        </p:spPr>
        <p:txBody>
          <a:bodyPr wrap="none" lIns="0" rIns="0" tIns="0" bIns="0">
            <a:spAutoFit/>
          </a:bodyPr>
          <a:lstStyle/>
          <a:p>
            <a:r>
              <a:rPr sz="1100" b="0">
                <a:solidFill>
                  <a:srgbClr val="2E2E2E"/>
                </a:solidFill>
                <a:latin typeface="Calibri"/>
              </a:rPr>
              <a:t>BPS of share to 'Special Meat'</a:t>
            </a:r>
          </a:p>
        </p:txBody>
      </p:sp>
      <p:sp>
        <p:nvSpPr>
          <p:cNvPr id="99" name="TextBox 98"/>
          <p:cNvSpPr txBox="1"/>
          <p:nvPr/>
        </p:nvSpPr>
        <p:spPr>
          <a:xfrm>
            <a:off x="7419975" y="3279846"/>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0" name="Picture 99" descr="lock.png"/>
          <p:cNvPicPr>
            <a:picLocks noChangeAspect="1"/>
          </p:cNvPicPr>
          <p:nvPr/>
        </p:nvPicPr>
        <p:blipFill>
          <a:blip r:embed="rId4"/>
          <a:stretch>
            <a:fillRect/>
          </a:stretch>
        </p:blipFill>
        <p:spPr>
          <a:xfrm>
            <a:off x="7556095" y="3270067"/>
            <a:ext cx="128699" cy="187198"/>
          </a:xfrm>
          <a:prstGeom prst="rect">
            <a:avLst/>
          </a:prstGeom>
        </p:spPr>
      </p:pic>
      <p:sp>
        <p:nvSpPr>
          <p:cNvPr id="101" name="TextBox 100"/>
          <p:cNvSpPr txBox="1"/>
          <p:nvPr/>
        </p:nvSpPr>
        <p:spPr>
          <a:xfrm>
            <a:off x="7723591" y="3279846"/>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2" name="TextBox 101"/>
          <p:cNvSpPr txBox="1"/>
          <p:nvPr/>
        </p:nvSpPr>
        <p:spPr>
          <a:xfrm>
            <a:off x="7419975" y="3447486"/>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3" name="TextBox 102"/>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4" name="Picture 103" descr="lock.png"/>
          <p:cNvPicPr>
            <a:picLocks noChangeAspect="1"/>
          </p:cNvPicPr>
          <p:nvPr/>
        </p:nvPicPr>
        <p:blipFill>
          <a:blip r:embed="rId4"/>
          <a:stretch>
            <a:fillRect/>
          </a:stretch>
        </p:blipFill>
        <p:spPr>
          <a:xfrm>
            <a:off x="8917440" y="3885306"/>
            <a:ext cx="123551" cy="179710"/>
          </a:xfrm>
          <a:prstGeom prst="rect">
            <a:avLst/>
          </a:prstGeom>
        </p:spPr>
      </p:pic>
      <p:sp>
        <p:nvSpPr>
          <p:cNvPr id="105" name="TextBox 104"/>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06" name="Picture 105" descr="lock.png"/>
          <p:cNvPicPr>
            <a:picLocks noChangeAspect="1"/>
          </p:cNvPicPr>
          <p:nvPr/>
        </p:nvPicPr>
        <p:blipFill>
          <a:blip r:embed="rId4"/>
          <a:stretch>
            <a:fillRect/>
          </a:stretch>
        </p:blipFill>
        <p:spPr>
          <a:xfrm>
            <a:off x="9206555" y="3885306"/>
            <a:ext cx="123551" cy="179710"/>
          </a:xfrm>
          <a:prstGeom prst="rect">
            <a:avLst/>
          </a:prstGeom>
        </p:spPr>
      </p:pic>
      <p:sp>
        <p:nvSpPr>
          <p:cNvPr id="107" name="TextBox 106"/>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08" name="TextBox 107"/>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09" name="Picture 108" descr="lock.png"/>
          <p:cNvPicPr>
            <a:picLocks noChangeAspect="1"/>
          </p:cNvPicPr>
          <p:nvPr/>
        </p:nvPicPr>
        <p:blipFill>
          <a:blip r:embed="rId4"/>
          <a:stretch>
            <a:fillRect/>
          </a:stretch>
        </p:blipFill>
        <p:spPr>
          <a:xfrm>
            <a:off x="8622399" y="4383071"/>
            <a:ext cx="128699" cy="187198"/>
          </a:xfrm>
          <a:prstGeom prst="rect">
            <a:avLst/>
          </a:prstGeom>
        </p:spPr>
      </p:pic>
      <p:sp>
        <p:nvSpPr>
          <p:cNvPr id="110" name="TextBox 109"/>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1" name="TextBox 110"/>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2" name="TextBox 111"/>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3" name="TextBox 112"/>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4" name="TextBox 113"/>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15" name="Picture 114" descr="lock.png"/>
          <p:cNvPicPr>
            <a:picLocks noChangeAspect="1"/>
          </p:cNvPicPr>
          <p:nvPr/>
        </p:nvPicPr>
        <p:blipFill>
          <a:blip r:embed="rId4"/>
          <a:stretch>
            <a:fillRect/>
          </a:stretch>
        </p:blipFill>
        <p:spPr>
          <a:xfrm>
            <a:off x="10752626" y="3006595"/>
            <a:ext cx="128699" cy="187198"/>
          </a:xfrm>
          <a:prstGeom prst="rect">
            <a:avLst/>
          </a:prstGeom>
        </p:spPr>
      </p:pic>
      <p:sp>
        <p:nvSpPr>
          <p:cNvPr id="116" name="TextBox 115"/>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17" name="Picture 116" descr="lock.png"/>
          <p:cNvPicPr>
            <a:picLocks noChangeAspect="1"/>
          </p:cNvPicPr>
          <p:nvPr/>
        </p:nvPicPr>
        <p:blipFill>
          <a:blip r:embed="rId4"/>
          <a:stretch>
            <a:fillRect/>
          </a:stretch>
        </p:blipFill>
        <p:spPr>
          <a:xfrm>
            <a:off x="9787757" y="3174235"/>
            <a:ext cx="128699" cy="187198"/>
          </a:xfrm>
          <a:prstGeom prst="rect">
            <a:avLst/>
          </a:prstGeom>
        </p:spPr>
      </p:pic>
      <p:sp>
        <p:nvSpPr>
          <p:cNvPr id="118" name="TextBox 117"/>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19" name="TextBox 118"/>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0" name="TextBox 119"/>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1" name="TextBox 120"/>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2" name="Picture 121" descr="lock.png"/>
          <p:cNvPicPr>
            <a:picLocks noChangeAspect="1"/>
          </p:cNvPicPr>
          <p:nvPr/>
        </p:nvPicPr>
        <p:blipFill>
          <a:blip r:embed="rId4"/>
          <a:stretch>
            <a:fillRect/>
          </a:stretch>
        </p:blipFill>
        <p:spPr>
          <a:xfrm>
            <a:off x="11242394" y="3866197"/>
            <a:ext cx="128699" cy="187198"/>
          </a:xfrm>
          <a:prstGeom prst="rect">
            <a:avLst/>
          </a:prstGeom>
        </p:spPr>
      </p:pic>
      <p:sp>
        <p:nvSpPr>
          <p:cNvPr id="123" name="TextBox 122"/>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4" name="TextBox 123"/>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25" name="TextBox 124"/>
          <p:cNvSpPr txBox="1"/>
          <p:nvPr/>
        </p:nvSpPr>
        <p:spPr>
          <a:xfrm>
            <a:off x="9801225" y="448411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26" name="TextBox 125"/>
          <p:cNvSpPr txBox="1"/>
          <p:nvPr/>
        </p:nvSpPr>
        <p:spPr>
          <a:xfrm>
            <a:off x="9801225" y="4651759"/>
            <a:ext cx="1189161" cy="186689"/>
          </a:xfrm>
          <a:prstGeom prst="rect">
            <a:avLst/>
          </a:prstGeom>
          <a:noFill/>
        </p:spPr>
        <p:txBody>
          <a:bodyPr wrap="none" lIns="0" rIns="0" tIns="0" bIns="0">
            <a:spAutoFit/>
          </a:bodyPr>
          <a:lstStyle/>
          <a:p>
            <a:r>
              <a:rPr sz="1100" b="0">
                <a:solidFill>
                  <a:srgbClr val="2E2E2E"/>
                </a:solidFill>
                <a:latin typeface="Calibri"/>
              </a:rPr>
              <a:t>and 'Special Meat' (</a:t>
            </a:r>
          </a:p>
        </p:txBody>
      </p:sp>
      <p:pic>
        <p:nvPicPr>
          <p:cNvPr id="127" name="Picture 126" descr="lock.png"/>
          <p:cNvPicPr>
            <a:picLocks noChangeAspect="1"/>
          </p:cNvPicPr>
          <p:nvPr/>
        </p:nvPicPr>
        <p:blipFill>
          <a:blip r:embed="rId4"/>
          <a:stretch>
            <a:fillRect/>
          </a:stretch>
        </p:blipFill>
        <p:spPr>
          <a:xfrm>
            <a:off x="10938438" y="4641980"/>
            <a:ext cx="128699" cy="187198"/>
          </a:xfrm>
          <a:prstGeom prst="rect">
            <a:avLst/>
          </a:prstGeom>
        </p:spPr>
      </p:pic>
      <p:sp>
        <p:nvSpPr>
          <p:cNvPr id="128" name="TextBox 127"/>
          <p:cNvSpPr txBox="1"/>
          <p:nvPr/>
        </p:nvSpPr>
        <p:spPr>
          <a:xfrm>
            <a:off x="11105933" y="4651759"/>
            <a:ext cx="757783" cy="186689"/>
          </a:xfrm>
          <a:prstGeom prst="rect">
            <a:avLst/>
          </a:prstGeom>
          <a:noFill/>
        </p:spPr>
        <p:txBody>
          <a:bodyPr wrap="none" lIns="0" rIns="0" tIns="0" bIns="0">
            <a:spAutoFit/>
          </a:bodyPr>
          <a:lstStyle/>
          <a:p>
            <a:r>
              <a:rPr sz="1100" b="0">
                <a:solidFill>
                  <a:srgbClr val="2E2E2E"/>
                </a:solidFill>
                <a:latin typeface="Calibri"/>
              </a:rPr>
              <a:t>of segment)</a:t>
            </a:r>
          </a:p>
        </p:txBody>
      </p:sp>
      <p:sp>
        <p:nvSpPr>
          <p:cNvPr id="129" name="TextBox 128"/>
          <p:cNvSpPr txBox="1"/>
          <p:nvPr/>
        </p:nvSpPr>
        <p:spPr>
          <a:xfrm>
            <a:off x="9801225" y="4819399"/>
            <a:ext cx="1733500" cy="186689"/>
          </a:xfrm>
          <a:prstGeom prst="rect">
            <a:avLst/>
          </a:prstGeom>
          <a:noFill/>
        </p:spPr>
        <p:txBody>
          <a:bodyPr wrap="none" lIns="0" rIns="0" tIns="0" bIns="0">
            <a:spAutoFit/>
          </a:bodyPr>
          <a:lstStyle/>
          <a:p>
            <a:r>
              <a:rPr sz="1100" b="0">
                <a:solidFill>
                  <a:srgbClr val="2E2E2E"/>
                </a:solidFill>
                <a:latin typeface="Calibri"/>
              </a:rPr>
              <a:t>remains the principal barrier.</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Crab Meat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Crab Meat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311464"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'Mud Crab') to lift blended ASP and</a:t>
            </a:r>
          </a:p>
        </p:txBody>
      </p:sp>
      <p:sp>
        <p:nvSpPr>
          <p:cNvPr id="33" name="TextBox 32"/>
          <p:cNvSpPr txBox="1"/>
          <p:nvPr/>
        </p:nvSpPr>
        <p:spPr>
          <a:xfrm>
            <a:off x="276225" y="2351539"/>
            <a:ext cx="2189646" cy="194310"/>
          </a:xfrm>
          <a:prstGeom prst="rect">
            <a:avLst/>
          </a:prstGeom>
          <a:noFill/>
        </p:spPr>
        <p:txBody>
          <a:bodyPr wrap="none" lIns="0" rIns="0" tIns="0" bIns="0">
            <a:spAutoFit/>
          </a:bodyPr>
          <a:lstStyle/>
          <a:p>
            <a:r>
              <a:rPr sz="1150" b="0">
                <a:solidFill>
                  <a:srgbClr val="2E2E2E"/>
                </a:solidFill>
                <a:latin typeface="Calibri"/>
              </a:rPr>
              <a:t>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056501" cy="194310"/>
          </a:xfrm>
          <a:prstGeom prst="rect">
            <a:avLst/>
          </a:prstGeom>
          <a:noFill/>
        </p:spPr>
        <p:txBody>
          <a:bodyPr wrap="none" lIns="0" rIns="0" tIns="0" bIns="0">
            <a:spAutoFit/>
          </a:bodyPr>
          <a:lstStyle/>
          <a:p>
            <a:r>
              <a:rPr sz="1150" b="0">
                <a:solidFill>
                  <a:srgbClr val="2E2E2E"/>
                </a:solidFill>
                <a:latin typeface="Calibri"/>
              </a:rPr>
              <a:t>▪ Benchmark relentlessly against 'Phillips Foods' (~</a:t>
            </a:r>
          </a:p>
        </p:txBody>
      </p:sp>
      <p:pic>
        <p:nvPicPr>
          <p:cNvPr id="43" name="Picture 42" descr="lock.png"/>
          <p:cNvPicPr>
            <a:picLocks noChangeAspect="1"/>
          </p:cNvPicPr>
          <p:nvPr/>
        </p:nvPicPr>
        <p:blipFill>
          <a:blip r:embed="rId4"/>
          <a:stretch>
            <a:fillRect/>
          </a:stretch>
        </p:blipFill>
        <p:spPr>
          <a:xfrm>
            <a:off x="9330255" y="4455378"/>
            <a:ext cx="134549" cy="195707"/>
          </a:xfrm>
          <a:prstGeom prst="rect">
            <a:avLst/>
          </a:prstGeom>
        </p:spPr>
      </p:pic>
      <p:sp>
        <p:nvSpPr>
          <p:cNvPr id="44" name="TextBox 43"/>
          <p:cNvSpPr txBox="1"/>
          <p:nvPr/>
        </p:nvSpPr>
        <p:spPr>
          <a:xfrm>
            <a:off x="9505364"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100% =</a:t>
            </a:r>
          </a:p>
          <a:p>
            <a:pPr algn="ctr"/>
            <a:r>
              <a:rPr sz="1300" b="1">
                <a:solidFill>
                  <a:srgbClr val="2E2E2E"/>
                </a:solidFill>
                <a:latin typeface="Calibri"/>
              </a:rPr>
              <a:t>14,500 US$ Mn</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7934325" y="1773181"/>
            <a:ext cx="3845513" cy="194310"/>
          </a:xfrm>
          <a:prstGeom prst="rect">
            <a:avLst/>
          </a:prstGeom>
          <a:noFill/>
        </p:spPr>
        <p:txBody>
          <a:bodyPr wrap="none" lIns="0" rIns="0" tIns="0" bIns="0">
            <a:spAutoFit/>
          </a:bodyPr>
          <a:lstStyle/>
          <a:p>
            <a:r>
              <a:rPr sz="1150" b="0">
                <a:solidFill>
                  <a:srgbClr val="2E2E2E"/>
                </a:solidFill>
                <a:latin typeface="Calibri"/>
              </a:rPr>
              <a:t>Phillips Foods accounted for the largest share of the global crab</a:t>
            </a:r>
          </a:p>
        </p:txBody>
      </p:sp>
      <p:sp>
        <p:nvSpPr>
          <p:cNvPr id="22" name="TextBox 21"/>
          <p:cNvSpPr txBox="1"/>
          <p:nvPr/>
        </p:nvSpPr>
        <p:spPr>
          <a:xfrm>
            <a:off x="7934325" y="1948441"/>
            <a:ext cx="3962400" cy="194310"/>
          </a:xfrm>
          <a:prstGeom prst="rect">
            <a:avLst/>
          </a:prstGeom>
          <a:noFill/>
        </p:spPr>
        <p:txBody>
          <a:bodyPr wrap="none" lIns="0" rIns="0" tIns="0" bIns="0">
            <a:spAutoFit/>
          </a:bodyPr>
          <a:lstStyle/>
          <a:p>
            <a:r>
              <a:rPr sz="1150" b="0">
                <a:solidFill>
                  <a:srgbClr val="2E2E2E"/>
                </a:solidFill>
                <a:latin typeface="Calibri"/>
              </a:rPr>
              <a:t>meat market in 2026. The global crab meat market is fragmented,</a:t>
            </a:r>
          </a:p>
        </p:txBody>
      </p:sp>
      <p:sp>
        <p:nvSpPr>
          <p:cNvPr id="23" name="TextBox 22"/>
          <p:cNvSpPr txBox="1"/>
          <p:nvPr/>
        </p:nvSpPr>
        <p:spPr>
          <a:xfrm>
            <a:off x="7934325" y="2123701"/>
            <a:ext cx="3324956" cy="194310"/>
          </a:xfrm>
          <a:prstGeom prst="rect">
            <a:avLst/>
          </a:prstGeom>
          <a:noFill/>
        </p:spPr>
        <p:txBody>
          <a:bodyPr wrap="none" lIns="0" rIns="0" tIns="0" bIns="0">
            <a:spAutoFit/>
          </a:bodyPr>
          <a:lstStyle/>
          <a:p>
            <a:r>
              <a:rPr sz="1150" b="0">
                <a:solidFill>
                  <a:srgbClr val="2E2E2E"/>
                </a:solidFill>
                <a:latin typeface="Calibri"/>
              </a:rPr>
              <a:t>with the top three players accounting for an estimated</a:t>
            </a:r>
          </a:p>
        </p:txBody>
      </p:sp>
      <p:pic>
        <p:nvPicPr>
          <p:cNvPr id="24" name="Picture 23" descr="lock.png"/>
          <p:cNvPicPr>
            <a:picLocks noChangeAspect="1"/>
          </p:cNvPicPr>
          <p:nvPr/>
        </p:nvPicPr>
        <p:blipFill>
          <a:blip r:embed="rId5"/>
          <a:stretch>
            <a:fillRect/>
          </a:stretch>
        </p:blipFill>
        <p:spPr>
          <a:xfrm>
            <a:off x="11208435" y="2113477"/>
            <a:ext cx="134549" cy="195707"/>
          </a:xfrm>
          <a:prstGeom prst="rect">
            <a:avLst/>
          </a:prstGeom>
        </p:spPr>
      </p:pic>
      <p:sp>
        <p:nvSpPr>
          <p:cNvPr id="25" name="TextBox 24"/>
          <p:cNvSpPr txBox="1"/>
          <p:nvPr/>
        </p:nvSpPr>
        <p:spPr>
          <a:xfrm>
            <a:off x="11383544" y="2123701"/>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26" name="TextBox 25"/>
          <p:cNvSpPr txBox="1"/>
          <p:nvPr/>
        </p:nvSpPr>
        <p:spPr>
          <a:xfrm>
            <a:off x="7934325" y="2298961"/>
            <a:ext cx="1398351" cy="194310"/>
          </a:xfrm>
          <a:prstGeom prst="rect">
            <a:avLst/>
          </a:prstGeom>
          <a:noFill/>
        </p:spPr>
        <p:txBody>
          <a:bodyPr wrap="none" lIns="0" rIns="0" tIns="0" bIns="0">
            <a:spAutoFit/>
          </a:bodyPr>
          <a:lstStyle/>
          <a:p>
            <a:r>
              <a:rPr sz="1150" b="0">
                <a:solidFill>
                  <a:srgbClr val="2E2E2E"/>
                </a:solidFill>
                <a:latin typeface="Calibri"/>
              </a:rPr>
              <a:t>of the market in 2026.</a:t>
            </a:r>
          </a:p>
        </p:txBody>
      </p:sp>
      <p:sp>
        <p:nvSpPr>
          <p:cNvPr id="27" name="TextBox 26"/>
          <p:cNvSpPr txBox="1"/>
          <p:nvPr/>
        </p:nvSpPr>
        <p:spPr>
          <a:xfrm>
            <a:off x="7934325" y="2526799"/>
            <a:ext cx="2556736" cy="194310"/>
          </a:xfrm>
          <a:prstGeom prst="rect">
            <a:avLst/>
          </a:prstGeom>
          <a:noFill/>
        </p:spPr>
        <p:txBody>
          <a:bodyPr wrap="none" lIns="0" rIns="0" tIns="0" bIns="0">
            <a:spAutoFit/>
          </a:bodyPr>
          <a:lstStyle/>
          <a:p>
            <a:r>
              <a:rPr sz="1150" b="0">
                <a:solidFill>
                  <a:srgbClr val="2E2E2E"/>
                </a:solidFill>
                <a:latin typeface="Calibri"/>
              </a:rPr>
              <a:t>Phillips Foods accounted for an estimated</a:t>
            </a:r>
          </a:p>
        </p:txBody>
      </p:sp>
      <p:pic>
        <p:nvPicPr>
          <p:cNvPr id="28" name="Picture 27" descr="lock.png"/>
          <p:cNvPicPr>
            <a:picLocks noChangeAspect="1"/>
          </p:cNvPicPr>
          <p:nvPr/>
        </p:nvPicPr>
        <p:blipFill>
          <a:blip r:embed="rId5"/>
          <a:stretch>
            <a:fillRect/>
          </a:stretch>
        </p:blipFill>
        <p:spPr>
          <a:xfrm>
            <a:off x="10440215" y="2516575"/>
            <a:ext cx="134549" cy="195707"/>
          </a:xfrm>
          <a:prstGeom prst="rect">
            <a:avLst/>
          </a:prstGeom>
        </p:spPr>
      </p:pic>
      <p:sp>
        <p:nvSpPr>
          <p:cNvPr id="29" name="TextBox 28"/>
          <p:cNvSpPr txBox="1"/>
          <p:nvPr/>
        </p:nvSpPr>
        <p:spPr>
          <a:xfrm>
            <a:off x="10615324" y="2526799"/>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0" name="TextBox 29"/>
          <p:cNvSpPr txBox="1"/>
          <p:nvPr/>
        </p:nvSpPr>
        <p:spPr>
          <a:xfrm>
            <a:off x="7934325" y="2702058"/>
            <a:ext cx="2687953" cy="194310"/>
          </a:xfrm>
          <a:prstGeom prst="rect">
            <a:avLst/>
          </a:prstGeom>
          <a:noFill/>
        </p:spPr>
        <p:txBody>
          <a:bodyPr wrap="none" lIns="0" rIns="0" tIns="0" bIns="0">
            <a:spAutoFit/>
          </a:bodyPr>
          <a:lstStyle/>
          <a:p>
            <a:r>
              <a:rPr sz="1150" b="0">
                <a:solidFill>
                  <a:srgbClr val="2E2E2E"/>
                </a:solidFill>
                <a:latin typeface="Calibri"/>
              </a:rPr>
              <a:t>market, followed by Phillips Foods, Inc. with</a:t>
            </a:r>
          </a:p>
        </p:txBody>
      </p:sp>
      <p:pic>
        <p:nvPicPr>
          <p:cNvPr id="31" name="Picture 30" descr="lock.png"/>
          <p:cNvPicPr>
            <a:picLocks noChangeAspect="1"/>
          </p:cNvPicPr>
          <p:nvPr/>
        </p:nvPicPr>
        <p:blipFill>
          <a:blip r:embed="rId5"/>
          <a:stretch>
            <a:fillRect/>
          </a:stretch>
        </p:blipFill>
        <p:spPr>
          <a:xfrm>
            <a:off x="10571432" y="2691835"/>
            <a:ext cx="134549" cy="195707"/>
          </a:xfrm>
          <a:prstGeom prst="rect">
            <a:avLst/>
          </a:prstGeom>
        </p:spPr>
      </p:pic>
      <p:sp>
        <p:nvSpPr>
          <p:cNvPr id="32" name="TextBox 31"/>
          <p:cNvSpPr txBox="1"/>
          <p:nvPr/>
        </p:nvSpPr>
        <p:spPr>
          <a:xfrm>
            <a:off x="10746541" y="2702058"/>
            <a:ext cx="1048019" cy="194310"/>
          </a:xfrm>
          <a:prstGeom prst="rect">
            <a:avLst/>
          </a:prstGeom>
          <a:noFill/>
        </p:spPr>
        <p:txBody>
          <a:bodyPr wrap="none" lIns="0" rIns="0" tIns="0" bIns="0">
            <a:spAutoFit/>
          </a:bodyPr>
          <a:lstStyle/>
          <a:p>
            <a:r>
              <a:rPr sz="1150" b="0">
                <a:solidFill>
                  <a:srgbClr val="2E2E2E"/>
                </a:solidFill>
                <a:latin typeface="Calibri"/>
              </a:rPr>
              <a:t>. Key players are</a:t>
            </a:r>
          </a:p>
        </p:txBody>
      </p:sp>
      <p:sp>
        <p:nvSpPr>
          <p:cNvPr id="33" name="TextBox 32"/>
          <p:cNvSpPr txBox="1"/>
          <p:nvPr/>
        </p:nvSpPr>
        <p:spPr>
          <a:xfrm>
            <a:off x="7934325" y="2877318"/>
            <a:ext cx="3551448" cy="194310"/>
          </a:xfrm>
          <a:prstGeom prst="rect">
            <a:avLst/>
          </a:prstGeom>
          <a:noFill/>
        </p:spPr>
        <p:txBody>
          <a:bodyPr wrap="none" lIns="0" rIns="0" tIns="0" bIns="0">
            <a:spAutoFit/>
          </a:bodyPr>
          <a:lstStyle/>
          <a:p>
            <a:r>
              <a:rPr sz="1150" b="0">
                <a:solidFill>
                  <a:srgbClr val="2E2E2E"/>
                </a:solidFill>
                <a:latin typeface="Calibri"/>
              </a:rPr>
              <a:t>focusing on product innovation, geographic expansion and</a:t>
            </a:r>
          </a:p>
        </p:txBody>
      </p:sp>
      <p:sp>
        <p:nvSpPr>
          <p:cNvPr id="34" name="TextBox 33"/>
          <p:cNvSpPr txBox="1"/>
          <p:nvPr/>
        </p:nvSpPr>
        <p:spPr>
          <a:xfrm>
            <a:off x="7934325" y="3052578"/>
            <a:ext cx="3540038" cy="194310"/>
          </a:xfrm>
          <a:prstGeom prst="rect">
            <a:avLst/>
          </a:prstGeom>
          <a:noFill/>
        </p:spPr>
        <p:txBody>
          <a:bodyPr wrap="none" lIns="0" rIns="0" tIns="0" bIns="0">
            <a:spAutoFit/>
          </a:bodyPr>
          <a:lstStyle/>
          <a:p>
            <a:r>
              <a:rPr sz="1150" b="0">
                <a:solidFill>
                  <a:srgbClr val="2E2E2E"/>
                </a:solidFill>
                <a:latin typeface="Calibri"/>
              </a:rPr>
              <a:t>strategic partnerships to strengthen their market position.</a:t>
            </a:r>
          </a:p>
        </p:txBody>
      </p:sp>
      <p:sp>
        <p:nvSpPr>
          <p:cNvPr id="35" name="TextBox 34"/>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6" name="TextBox 35"/>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7"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crab species,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Mud Crab</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King Crab</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Other commercially traded crab species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294303" cy="194310"/>
          </a:xfrm>
          <a:prstGeom prst="rect">
            <a:avLst/>
          </a:prstGeom>
          <a:noFill/>
        </p:spPr>
        <p:txBody>
          <a:bodyPr wrap="none" lIns="0" rIns="0" tIns="0" bIns="0">
            <a:spAutoFit/>
          </a:bodyPr>
          <a:lstStyle/>
          <a:p>
            <a:r>
              <a:rPr sz="1150" b="0">
                <a:solidFill>
                  <a:srgbClr val="2E2E2E"/>
                </a:solidFill>
                <a:latin typeface="Calibri"/>
              </a:rPr>
              <a:t>▪ Mud Crab: 'Phillips Foods' leads at ~</a:t>
            </a:r>
          </a:p>
        </p:txBody>
      </p:sp>
      <p:pic>
        <p:nvPicPr>
          <p:cNvPr id="29" name="Picture 28" descr="lock.png"/>
          <p:cNvPicPr>
            <a:picLocks noChangeAspect="1"/>
          </p:cNvPicPr>
          <p:nvPr/>
        </p:nvPicPr>
        <p:blipFill>
          <a:blip r:embed="rId7"/>
          <a:stretch>
            <a:fillRect/>
          </a:stretch>
        </p:blipFill>
        <p:spPr>
          <a:xfrm>
            <a:off x="2519682" y="5012116"/>
            <a:ext cx="134549" cy="195707"/>
          </a:xfrm>
          <a:prstGeom prst="rect">
            <a:avLst/>
          </a:prstGeom>
        </p:spPr>
      </p:pic>
      <p:sp>
        <p:nvSpPr>
          <p:cNvPr id="30" name="TextBox 29"/>
          <p:cNvSpPr txBox="1"/>
          <p:nvPr/>
        </p:nvSpPr>
        <p:spPr>
          <a:xfrm>
            <a:off x="2694791" y="5022340"/>
            <a:ext cx="2812640" cy="194310"/>
          </a:xfrm>
          <a:prstGeom prst="rect">
            <a:avLst/>
          </a:prstGeom>
          <a:noFill/>
        </p:spPr>
        <p:txBody>
          <a:bodyPr wrap="none" lIns="0" rIns="0" tIns="0" bIns="0">
            <a:spAutoFit/>
          </a:bodyPr>
          <a:lstStyle/>
          <a:p>
            <a:r>
              <a:rPr sz="1150" b="0">
                <a:solidFill>
                  <a:srgbClr val="2E2E2E"/>
                </a:solidFill>
                <a:latin typeface="Calibri"/>
              </a:rPr>
              <a:t>, ahead of 'Supreme Crab and Seafood, Inc.' (~</a:t>
            </a:r>
          </a:p>
        </p:txBody>
      </p:sp>
      <p:pic>
        <p:nvPicPr>
          <p:cNvPr id="31" name="Picture 30" descr="lock.png"/>
          <p:cNvPicPr>
            <a:picLocks noChangeAspect="1"/>
          </p:cNvPicPr>
          <p:nvPr/>
        </p:nvPicPr>
        <p:blipFill>
          <a:blip r:embed="rId7"/>
          <a:stretch>
            <a:fillRect/>
          </a:stretch>
        </p:blipFill>
        <p:spPr>
          <a:xfrm>
            <a:off x="5456586" y="5012116"/>
            <a:ext cx="134549" cy="195707"/>
          </a:xfrm>
          <a:prstGeom prst="rect">
            <a:avLst/>
          </a:prstGeom>
        </p:spPr>
      </p:pic>
      <p:sp>
        <p:nvSpPr>
          <p:cNvPr id="32" name="TextBox 31"/>
          <p:cNvSpPr txBox="1"/>
          <p:nvPr/>
        </p:nvSpPr>
        <p:spPr>
          <a:xfrm>
            <a:off x="563169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966364" y="5012116"/>
            <a:ext cx="134549" cy="195707"/>
          </a:xfrm>
          <a:prstGeom prst="rect">
            <a:avLst/>
          </a:prstGeom>
        </p:spPr>
      </p:pic>
      <p:sp>
        <p:nvSpPr>
          <p:cNvPr id="34" name="TextBox 33"/>
          <p:cNvSpPr txBox="1"/>
          <p:nvPr/>
        </p:nvSpPr>
        <p:spPr>
          <a:xfrm>
            <a:off x="7141473"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696929" y="5012116"/>
            <a:ext cx="134549" cy="195707"/>
          </a:xfrm>
          <a:prstGeom prst="rect">
            <a:avLst/>
          </a:prstGeom>
        </p:spPr>
      </p:pic>
      <p:sp>
        <p:nvSpPr>
          <p:cNvPr id="36" name="TextBox 35"/>
          <p:cNvSpPr txBox="1"/>
          <p:nvPr/>
        </p:nvSpPr>
        <p:spPr>
          <a:xfrm>
            <a:off x="887203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777269" cy="194310"/>
          </a:xfrm>
          <a:prstGeom prst="rect">
            <a:avLst/>
          </a:prstGeom>
          <a:noFill/>
        </p:spPr>
        <p:txBody>
          <a:bodyPr wrap="none" lIns="0" rIns="0" tIns="0" bIns="0">
            <a:spAutoFit/>
          </a:bodyPr>
          <a:lstStyle/>
          <a:p>
            <a:r>
              <a:rPr sz="1150" b="0">
                <a:solidFill>
                  <a:srgbClr val="2E2E2E"/>
                </a:solidFill>
                <a:latin typeface="Calibri"/>
              </a:rPr>
              <a:t>▪ King Crab: 'Graham &amp; Rollins, Inc.' leads at ~</a:t>
            </a:r>
          </a:p>
        </p:txBody>
      </p:sp>
      <p:pic>
        <p:nvPicPr>
          <p:cNvPr id="38" name="Picture 37" descr="lock.png"/>
          <p:cNvPicPr>
            <a:picLocks noChangeAspect="1"/>
          </p:cNvPicPr>
          <p:nvPr/>
        </p:nvPicPr>
        <p:blipFill>
          <a:blip r:embed="rId7"/>
          <a:stretch>
            <a:fillRect/>
          </a:stretch>
        </p:blipFill>
        <p:spPr>
          <a:xfrm>
            <a:off x="3002648" y="5239954"/>
            <a:ext cx="134549" cy="195707"/>
          </a:xfrm>
          <a:prstGeom prst="rect">
            <a:avLst/>
          </a:prstGeom>
        </p:spPr>
      </p:pic>
      <p:sp>
        <p:nvSpPr>
          <p:cNvPr id="39" name="TextBox 38"/>
          <p:cNvSpPr txBox="1"/>
          <p:nvPr/>
        </p:nvSpPr>
        <p:spPr>
          <a:xfrm>
            <a:off x="3177757" y="5250177"/>
            <a:ext cx="2004485" cy="194310"/>
          </a:xfrm>
          <a:prstGeom prst="rect">
            <a:avLst/>
          </a:prstGeom>
          <a:noFill/>
        </p:spPr>
        <p:txBody>
          <a:bodyPr wrap="none" lIns="0" rIns="0" tIns="0" bIns="0">
            <a:spAutoFit/>
          </a:bodyPr>
          <a:lstStyle/>
          <a:p>
            <a:r>
              <a:rPr sz="1150" b="0">
                <a:solidFill>
                  <a:srgbClr val="2E2E2E"/>
                </a:solidFill>
                <a:latin typeface="Calibri"/>
              </a:rPr>
              <a:t>, ahead of 'Phillips Foods, Inc.' (~</a:t>
            </a:r>
          </a:p>
        </p:txBody>
      </p:sp>
      <p:pic>
        <p:nvPicPr>
          <p:cNvPr id="40" name="Picture 39" descr="lock.png"/>
          <p:cNvPicPr>
            <a:picLocks noChangeAspect="1"/>
          </p:cNvPicPr>
          <p:nvPr/>
        </p:nvPicPr>
        <p:blipFill>
          <a:blip r:embed="rId7"/>
          <a:stretch>
            <a:fillRect/>
          </a:stretch>
        </p:blipFill>
        <p:spPr>
          <a:xfrm>
            <a:off x="5131396" y="5239954"/>
            <a:ext cx="134549" cy="195707"/>
          </a:xfrm>
          <a:prstGeom prst="rect">
            <a:avLst/>
          </a:prstGeom>
        </p:spPr>
      </p:pic>
      <p:sp>
        <p:nvSpPr>
          <p:cNvPr id="41" name="TextBox 40"/>
          <p:cNvSpPr txBox="1"/>
          <p:nvPr/>
        </p:nvSpPr>
        <p:spPr>
          <a:xfrm>
            <a:off x="5306505"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641175" y="5239954"/>
            <a:ext cx="134549" cy="195707"/>
          </a:xfrm>
          <a:prstGeom prst="rect">
            <a:avLst/>
          </a:prstGeom>
        </p:spPr>
      </p:pic>
      <p:sp>
        <p:nvSpPr>
          <p:cNvPr id="43" name="TextBox 42"/>
          <p:cNvSpPr txBox="1"/>
          <p:nvPr/>
        </p:nvSpPr>
        <p:spPr>
          <a:xfrm>
            <a:off x="6816284"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371740" y="5239954"/>
            <a:ext cx="134549" cy="195707"/>
          </a:xfrm>
          <a:prstGeom prst="rect">
            <a:avLst/>
          </a:prstGeom>
        </p:spPr>
      </p:pic>
      <p:sp>
        <p:nvSpPr>
          <p:cNvPr id="45" name="TextBox 44"/>
          <p:cNvSpPr txBox="1"/>
          <p:nvPr/>
        </p:nvSpPr>
        <p:spPr>
          <a:xfrm>
            <a:off x="8546849"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4068582" cy="194310"/>
          </a:xfrm>
          <a:prstGeom prst="rect">
            <a:avLst/>
          </a:prstGeom>
          <a:noFill/>
        </p:spPr>
        <p:txBody>
          <a:bodyPr wrap="none" lIns="0" rIns="0" tIns="0" bIns="0">
            <a:spAutoFit/>
          </a:bodyPr>
          <a:lstStyle/>
          <a:p>
            <a:r>
              <a:rPr sz="1150" b="0">
                <a:solidFill>
                  <a:srgbClr val="2E2E2E"/>
                </a:solidFill>
                <a:latin typeface="Calibri"/>
              </a:rPr>
              <a:t>▪ Other commercially traded crab species: 'Phillips Foods' leads at ~</a:t>
            </a:r>
          </a:p>
        </p:txBody>
      </p:sp>
      <p:pic>
        <p:nvPicPr>
          <p:cNvPr id="47" name="Picture 46" descr="lock.png"/>
          <p:cNvPicPr>
            <a:picLocks noChangeAspect="1"/>
          </p:cNvPicPr>
          <p:nvPr/>
        </p:nvPicPr>
        <p:blipFill>
          <a:blip r:embed="rId7"/>
          <a:stretch>
            <a:fillRect/>
          </a:stretch>
        </p:blipFill>
        <p:spPr>
          <a:xfrm>
            <a:off x="4293961" y="5467792"/>
            <a:ext cx="134549" cy="195707"/>
          </a:xfrm>
          <a:prstGeom prst="rect">
            <a:avLst/>
          </a:prstGeom>
        </p:spPr>
      </p:pic>
      <p:sp>
        <p:nvSpPr>
          <p:cNvPr id="48" name="TextBox 47"/>
          <p:cNvSpPr txBox="1"/>
          <p:nvPr/>
        </p:nvSpPr>
        <p:spPr>
          <a:xfrm>
            <a:off x="4469070" y="5478015"/>
            <a:ext cx="2004485" cy="194310"/>
          </a:xfrm>
          <a:prstGeom prst="rect">
            <a:avLst/>
          </a:prstGeom>
          <a:noFill/>
        </p:spPr>
        <p:txBody>
          <a:bodyPr wrap="none" lIns="0" rIns="0" tIns="0" bIns="0">
            <a:spAutoFit/>
          </a:bodyPr>
          <a:lstStyle/>
          <a:p>
            <a:r>
              <a:rPr sz="1150" b="0">
                <a:solidFill>
                  <a:srgbClr val="2E2E2E"/>
                </a:solidFill>
                <a:latin typeface="Calibri"/>
              </a:rPr>
              <a:t>, ahead of 'Phillips Foods, Inc.' (~</a:t>
            </a:r>
          </a:p>
        </p:txBody>
      </p:sp>
      <p:pic>
        <p:nvPicPr>
          <p:cNvPr id="49" name="Picture 48" descr="lock.png"/>
          <p:cNvPicPr>
            <a:picLocks noChangeAspect="1"/>
          </p:cNvPicPr>
          <p:nvPr/>
        </p:nvPicPr>
        <p:blipFill>
          <a:blip r:embed="rId7"/>
          <a:stretch>
            <a:fillRect/>
          </a:stretch>
        </p:blipFill>
        <p:spPr>
          <a:xfrm>
            <a:off x="6422709" y="5467792"/>
            <a:ext cx="134549" cy="195707"/>
          </a:xfrm>
          <a:prstGeom prst="rect">
            <a:avLst/>
          </a:prstGeom>
        </p:spPr>
      </p:pic>
      <p:sp>
        <p:nvSpPr>
          <p:cNvPr id="50" name="TextBox 49"/>
          <p:cNvSpPr txBox="1"/>
          <p:nvPr/>
        </p:nvSpPr>
        <p:spPr>
          <a:xfrm>
            <a:off x="6597819"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932488" y="5467792"/>
            <a:ext cx="134549" cy="195707"/>
          </a:xfrm>
          <a:prstGeom prst="rect">
            <a:avLst/>
          </a:prstGeom>
        </p:spPr>
      </p:pic>
      <p:sp>
        <p:nvSpPr>
          <p:cNvPr id="52" name="TextBox 51"/>
          <p:cNvSpPr txBox="1"/>
          <p:nvPr/>
        </p:nvSpPr>
        <p:spPr>
          <a:xfrm>
            <a:off x="8107597"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9663053" y="5467792"/>
            <a:ext cx="134549" cy="195707"/>
          </a:xfrm>
          <a:prstGeom prst="rect">
            <a:avLst/>
          </a:prstGeom>
        </p:spPr>
      </p:pic>
      <p:sp>
        <p:nvSpPr>
          <p:cNvPr id="54" name="TextBox 53"/>
          <p:cNvSpPr txBox="1"/>
          <p:nvPr/>
        </p:nvSpPr>
        <p:spPr>
          <a:xfrm>
            <a:off x="9838162"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578986" cy="194310"/>
          </a:xfrm>
          <a:prstGeom prst="rect">
            <a:avLst/>
          </a:prstGeom>
          <a:noFill/>
        </p:spPr>
        <p:txBody>
          <a:bodyPr wrap="none" lIns="0" rIns="0" tIns="0" bIns="0">
            <a:spAutoFit/>
          </a:bodyPr>
          <a:lstStyle/>
          <a:p>
            <a:r>
              <a:rPr sz="1150" b="0">
                <a:solidFill>
                  <a:srgbClr val="2E2E2E"/>
                </a:solidFill>
                <a:latin typeface="Calibri"/>
              </a:rPr>
              <a:t>▪ North America: 'Phillips Foods' leads at ~</a:t>
            </a:r>
          </a:p>
        </p:txBody>
      </p:sp>
      <p:pic>
        <p:nvPicPr>
          <p:cNvPr id="29" name="Picture 28" descr="lock.png"/>
          <p:cNvPicPr>
            <a:picLocks noChangeAspect="1"/>
          </p:cNvPicPr>
          <p:nvPr/>
        </p:nvPicPr>
        <p:blipFill>
          <a:blip r:embed="rId7"/>
          <a:stretch>
            <a:fillRect/>
          </a:stretch>
        </p:blipFill>
        <p:spPr>
          <a:xfrm>
            <a:off x="2804365" y="5012116"/>
            <a:ext cx="134549" cy="195707"/>
          </a:xfrm>
          <a:prstGeom prst="rect">
            <a:avLst/>
          </a:prstGeom>
        </p:spPr>
      </p:pic>
      <p:sp>
        <p:nvSpPr>
          <p:cNvPr id="30" name="TextBox 29"/>
          <p:cNvSpPr txBox="1"/>
          <p:nvPr/>
        </p:nvSpPr>
        <p:spPr>
          <a:xfrm>
            <a:off x="2979474" y="5022340"/>
            <a:ext cx="2004485" cy="194310"/>
          </a:xfrm>
          <a:prstGeom prst="rect">
            <a:avLst/>
          </a:prstGeom>
          <a:noFill/>
        </p:spPr>
        <p:txBody>
          <a:bodyPr wrap="none" lIns="0" rIns="0" tIns="0" bIns="0">
            <a:spAutoFit/>
          </a:bodyPr>
          <a:lstStyle/>
          <a:p>
            <a:r>
              <a:rPr sz="1150" b="0">
                <a:solidFill>
                  <a:srgbClr val="2E2E2E"/>
                </a:solidFill>
                <a:latin typeface="Calibri"/>
              </a:rPr>
              <a:t>, ahead of 'Phillips Foods, Inc.' (~</a:t>
            </a:r>
          </a:p>
        </p:txBody>
      </p:sp>
      <p:pic>
        <p:nvPicPr>
          <p:cNvPr id="31" name="Picture 30" descr="lock.png"/>
          <p:cNvPicPr>
            <a:picLocks noChangeAspect="1"/>
          </p:cNvPicPr>
          <p:nvPr/>
        </p:nvPicPr>
        <p:blipFill>
          <a:blip r:embed="rId7"/>
          <a:stretch>
            <a:fillRect/>
          </a:stretch>
        </p:blipFill>
        <p:spPr>
          <a:xfrm>
            <a:off x="4933113" y="5012116"/>
            <a:ext cx="134549" cy="195707"/>
          </a:xfrm>
          <a:prstGeom prst="rect">
            <a:avLst/>
          </a:prstGeom>
        </p:spPr>
      </p:pic>
      <p:sp>
        <p:nvSpPr>
          <p:cNvPr id="32" name="TextBox 31"/>
          <p:cNvSpPr txBox="1"/>
          <p:nvPr/>
        </p:nvSpPr>
        <p:spPr>
          <a:xfrm>
            <a:off x="5108223"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442892" y="5012116"/>
            <a:ext cx="134549" cy="195707"/>
          </a:xfrm>
          <a:prstGeom prst="rect">
            <a:avLst/>
          </a:prstGeom>
        </p:spPr>
      </p:pic>
      <p:sp>
        <p:nvSpPr>
          <p:cNvPr id="34" name="TextBox 33"/>
          <p:cNvSpPr txBox="1"/>
          <p:nvPr/>
        </p:nvSpPr>
        <p:spPr>
          <a:xfrm>
            <a:off x="6618001"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173457" y="5012116"/>
            <a:ext cx="134549" cy="195707"/>
          </a:xfrm>
          <a:prstGeom prst="rect">
            <a:avLst/>
          </a:prstGeom>
        </p:spPr>
      </p:pic>
      <p:sp>
        <p:nvSpPr>
          <p:cNvPr id="36" name="TextBox 35"/>
          <p:cNvSpPr txBox="1"/>
          <p:nvPr/>
        </p:nvSpPr>
        <p:spPr>
          <a:xfrm>
            <a:off x="8348566"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132849" cy="194310"/>
          </a:xfrm>
          <a:prstGeom prst="rect">
            <a:avLst/>
          </a:prstGeom>
          <a:noFill/>
        </p:spPr>
        <p:txBody>
          <a:bodyPr wrap="none" lIns="0" rIns="0" tIns="0" bIns="0">
            <a:spAutoFit/>
          </a:bodyPr>
          <a:lstStyle/>
          <a:p>
            <a:r>
              <a:rPr sz="1150" b="0">
                <a:solidFill>
                  <a:srgbClr val="2E2E2E"/>
                </a:solidFill>
                <a:latin typeface="Calibri"/>
              </a:rPr>
              <a:t>▪ Europe: 'Phillips Foods' leads at ~</a:t>
            </a:r>
          </a:p>
        </p:txBody>
      </p:sp>
      <p:pic>
        <p:nvPicPr>
          <p:cNvPr id="38" name="Picture 37" descr="lock.png"/>
          <p:cNvPicPr>
            <a:picLocks noChangeAspect="1"/>
          </p:cNvPicPr>
          <p:nvPr/>
        </p:nvPicPr>
        <p:blipFill>
          <a:blip r:embed="rId7"/>
          <a:stretch>
            <a:fillRect/>
          </a:stretch>
        </p:blipFill>
        <p:spPr>
          <a:xfrm>
            <a:off x="2358228" y="5239954"/>
            <a:ext cx="134549" cy="195707"/>
          </a:xfrm>
          <a:prstGeom prst="rect">
            <a:avLst/>
          </a:prstGeom>
        </p:spPr>
      </p:pic>
      <p:sp>
        <p:nvSpPr>
          <p:cNvPr id="39" name="TextBox 38"/>
          <p:cNvSpPr txBox="1"/>
          <p:nvPr/>
        </p:nvSpPr>
        <p:spPr>
          <a:xfrm>
            <a:off x="2533337" y="5250177"/>
            <a:ext cx="2812640" cy="194310"/>
          </a:xfrm>
          <a:prstGeom prst="rect">
            <a:avLst/>
          </a:prstGeom>
          <a:noFill/>
        </p:spPr>
        <p:txBody>
          <a:bodyPr wrap="none" lIns="0" rIns="0" tIns="0" bIns="0">
            <a:spAutoFit/>
          </a:bodyPr>
          <a:lstStyle/>
          <a:p>
            <a:r>
              <a:rPr sz="1150" b="0">
                <a:solidFill>
                  <a:srgbClr val="2E2E2E"/>
                </a:solidFill>
                <a:latin typeface="Calibri"/>
              </a:rPr>
              <a:t>, ahead of 'Supreme Crab and Seafood, Inc.' (~</a:t>
            </a:r>
          </a:p>
        </p:txBody>
      </p:sp>
      <p:pic>
        <p:nvPicPr>
          <p:cNvPr id="40" name="Picture 39" descr="lock.png"/>
          <p:cNvPicPr>
            <a:picLocks noChangeAspect="1"/>
          </p:cNvPicPr>
          <p:nvPr/>
        </p:nvPicPr>
        <p:blipFill>
          <a:blip r:embed="rId7"/>
          <a:stretch>
            <a:fillRect/>
          </a:stretch>
        </p:blipFill>
        <p:spPr>
          <a:xfrm>
            <a:off x="5295132" y="5239954"/>
            <a:ext cx="134549" cy="195707"/>
          </a:xfrm>
          <a:prstGeom prst="rect">
            <a:avLst/>
          </a:prstGeom>
        </p:spPr>
      </p:pic>
      <p:sp>
        <p:nvSpPr>
          <p:cNvPr id="41" name="TextBox 40"/>
          <p:cNvSpPr txBox="1"/>
          <p:nvPr/>
        </p:nvSpPr>
        <p:spPr>
          <a:xfrm>
            <a:off x="5470241"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804910" y="5239954"/>
            <a:ext cx="134549" cy="195707"/>
          </a:xfrm>
          <a:prstGeom prst="rect">
            <a:avLst/>
          </a:prstGeom>
        </p:spPr>
      </p:pic>
      <p:sp>
        <p:nvSpPr>
          <p:cNvPr id="43" name="TextBox 42"/>
          <p:cNvSpPr txBox="1"/>
          <p:nvPr/>
        </p:nvSpPr>
        <p:spPr>
          <a:xfrm>
            <a:off x="6980020"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535476" y="5239954"/>
            <a:ext cx="134549" cy="195707"/>
          </a:xfrm>
          <a:prstGeom prst="rect">
            <a:avLst/>
          </a:prstGeom>
        </p:spPr>
      </p:pic>
      <p:sp>
        <p:nvSpPr>
          <p:cNvPr id="45" name="TextBox 44"/>
          <p:cNvSpPr txBox="1"/>
          <p:nvPr/>
        </p:nvSpPr>
        <p:spPr>
          <a:xfrm>
            <a:off x="8710585"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385145" cy="194310"/>
          </a:xfrm>
          <a:prstGeom prst="rect">
            <a:avLst/>
          </a:prstGeom>
          <a:noFill/>
        </p:spPr>
        <p:txBody>
          <a:bodyPr wrap="none" lIns="0" rIns="0" tIns="0" bIns="0">
            <a:spAutoFit/>
          </a:bodyPr>
          <a:lstStyle/>
          <a:p>
            <a:r>
              <a:rPr sz="1150" b="0">
                <a:solidFill>
                  <a:srgbClr val="2E2E2E"/>
                </a:solidFill>
                <a:latin typeface="Calibri"/>
              </a:rPr>
              <a:t>▪ South Asia &amp; Pacific: 'Graham &amp; Rollins, Inc.' leads at ~</a:t>
            </a:r>
          </a:p>
        </p:txBody>
      </p:sp>
      <p:pic>
        <p:nvPicPr>
          <p:cNvPr id="47" name="Picture 46" descr="lock.png"/>
          <p:cNvPicPr>
            <a:picLocks noChangeAspect="1"/>
          </p:cNvPicPr>
          <p:nvPr/>
        </p:nvPicPr>
        <p:blipFill>
          <a:blip r:embed="rId7"/>
          <a:stretch>
            <a:fillRect/>
          </a:stretch>
        </p:blipFill>
        <p:spPr>
          <a:xfrm>
            <a:off x="3610524" y="5467792"/>
            <a:ext cx="134549" cy="195707"/>
          </a:xfrm>
          <a:prstGeom prst="rect">
            <a:avLst/>
          </a:prstGeom>
        </p:spPr>
      </p:pic>
      <p:sp>
        <p:nvSpPr>
          <p:cNvPr id="48" name="TextBox 47"/>
          <p:cNvSpPr txBox="1"/>
          <p:nvPr/>
        </p:nvSpPr>
        <p:spPr>
          <a:xfrm>
            <a:off x="3785633" y="5478015"/>
            <a:ext cx="2004485" cy="194310"/>
          </a:xfrm>
          <a:prstGeom prst="rect">
            <a:avLst/>
          </a:prstGeom>
          <a:noFill/>
        </p:spPr>
        <p:txBody>
          <a:bodyPr wrap="none" lIns="0" rIns="0" tIns="0" bIns="0">
            <a:spAutoFit/>
          </a:bodyPr>
          <a:lstStyle/>
          <a:p>
            <a:r>
              <a:rPr sz="1150" b="0">
                <a:solidFill>
                  <a:srgbClr val="2E2E2E"/>
                </a:solidFill>
                <a:latin typeface="Calibri"/>
              </a:rPr>
              <a:t>, ahead of 'Phillips Foods, Inc.' (~</a:t>
            </a:r>
          </a:p>
        </p:txBody>
      </p:sp>
      <p:pic>
        <p:nvPicPr>
          <p:cNvPr id="49" name="Picture 48" descr="lock.png"/>
          <p:cNvPicPr>
            <a:picLocks noChangeAspect="1"/>
          </p:cNvPicPr>
          <p:nvPr/>
        </p:nvPicPr>
        <p:blipFill>
          <a:blip r:embed="rId7"/>
          <a:stretch>
            <a:fillRect/>
          </a:stretch>
        </p:blipFill>
        <p:spPr>
          <a:xfrm>
            <a:off x="5739272" y="5467792"/>
            <a:ext cx="134549" cy="195707"/>
          </a:xfrm>
          <a:prstGeom prst="rect">
            <a:avLst/>
          </a:prstGeom>
        </p:spPr>
      </p:pic>
      <p:sp>
        <p:nvSpPr>
          <p:cNvPr id="50" name="TextBox 49"/>
          <p:cNvSpPr txBox="1"/>
          <p:nvPr/>
        </p:nvSpPr>
        <p:spPr>
          <a:xfrm>
            <a:off x="5914381"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249051" y="5467792"/>
            <a:ext cx="134549" cy="195707"/>
          </a:xfrm>
          <a:prstGeom prst="rect">
            <a:avLst/>
          </a:prstGeom>
        </p:spPr>
      </p:pic>
      <p:sp>
        <p:nvSpPr>
          <p:cNvPr id="52" name="TextBox 51"/>
          <p:cNvSpPr txBox="1"/>
          <p:nvPr/>
        </p:nvSpPr>
        <p:spPr>
          <a:xfrm>
            <a:off x="7424160"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979616" y="5467792"/>
            <a:ext cx="134549" cy="195707"/>
          </a:xfrm>
          <a:prstGeom prst="rect">
            <a:avLst/>
          </a:prstGeom>
        </p:spPr>
      </p:pic>
      <p:sp>
        <p:nvSpPr>
          <p:cNvPr id="54" name="TextBox 53"/>
          <p:cNvSpPr txBox="1"/>
          <p:nvPr/>
        </p:nvSpPr>
        <p:spPr>
          <a:xfrm>
            <a:off x="9154725"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Crab Meat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Phillips Foods</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Phillips Foods, Inc.</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Graham &amp; Rollins, Inc.</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Supreme Crab and Seafood, Inc.</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North Coast Seafoods</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Phillips Foods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Phillips Foods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Phillips Foods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Phillips Foods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Phillips Foods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Phillips Foods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Phillips Foods: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23,200</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36028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8412956"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10822781"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210462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608607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9278088" y="3145920"/>
            <a:ext cx="444576" cy="646656"/>
          </a:xfrm>
          <a:prstGeom prst="rect">
            <a:avLst/>
          </a:prstGeom>
        </p:spPr>
      </p:pic>
      <p:sp>
        <p:nvSpPr>
          <p:cNvPr id="36" name="TextBox 35"/>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7" name="Picture 36" descr="lock.png"/>
          <p:cNvPicPr>
            <a:picLocks noChangeAspect="1"/>
          </p:cNvPicPr>
          <p:nvPr/>
        </p:nvPicPr>
        <p:blipFill>
          <a:blip r:embed="rId7"/>
          <a:stretch>
            <a:fillRect/>
          </a:stretch>
        </p:blipFill>
        <p:spPr>
          <a:xfrm>
            <a:off x="6017010" y="1533061"/>
            <a:ext cx="133378" cy="194005"/>
          </a:xfrm>
          <a:prstGeom prst="rect">
            <a:avLst/>
          </a:prstGeom>
        </p:spPr>
      </p:pic>
      <p:pic>
        <p:nvPicPr>
          <p:cNvPr id="38" name="Picture 37" descr="lock.png"/>
          <p:cNvPicPr>
            <a:picLocks noChangeAspect="1"/>
          </p:cNvPicPr>
          <p:nvPr/>
        </p:nvPicPr>
        <p:blipFill>
          <a:blip r:embed="rId7"/>
          <a:stretch>
            <a:fillRect/>
          </a:stretch>
        </p:blipFill>
        <p:spPr>
          <a:xfrm>
            <a:off x="5865805" y="1761621"/>
            <a:ext cx="97811" cy="142270"/>
          </a:xfrm>
          <a:prstGeom prst="rect">
            <a:avLst/>
          </a:prstGeom>
        </p:spPr>
      </p:pic>
      <p:sp>
        <p:nvSpPr>
          <p:cNvPr id="39" name="TextBox 38"/>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0" name="TextBox 39"/>
          <p:cNvSpPr txBox="1"/>
          <p:nvPr/>
        </p:nvSpPr>
        <p:spPr>
          <a:xfrm>
            <a:off x="276225" y="5204877"/>
            <a:ext cx="2642883" cy="194310"/>
          </a:xfrm>
          <a:prstGeom prst="rect">
            <a:avLst/>
          </a:prstGeom>
          <a:noFill/>
        </p:spPr>
        <p:txBody>
          <a:bodyPr wrap="none" lIns="0" rIns="0" tIns="0" bIns="0">
            <a:spAutoFit/>
          </a:bodyPr>
          <a:lstStyle/>
          <a:p>
            <a:r>
              <a:rPr sz="1150" b="0">
                <a:solidFill>
                  <a:srgbClr val="2E2E2E"/>
                </a:solidFill>
                <a:latin typeface="Calibri"/>
              </a:rPr>
              <a:t>▪ Market Position: Phillips Foods captures ~</a:t>
            </a:r>
          </a:p>
        </p:txBody>
      </p:sp>
      <p:pic>
        <p:nvPicPr>
          <p:cNvPr id="41" name="Picture 40" descr="lock.png"/>
          <p:cNvPicPr>
            <a:picLocks noChangeAspect="1"/>
          </p:cNvPicPr>
          <p:nvPr/>
        </p:nvPicPr>
        <p:blipFill>
          <a:blip r:embed="rId7"/>
          <a:stretch>
            <a:fillRect/>
          </a:stretch>
        </p:blipFill>
        <p:spPr>
          <a:xfrm>
            <a:off x="2868262" y="5194653"/>
            <a:ext cx="134549" cy="195707"/>
          </a:xfrm>
          <a:prstGeom prst="rect">
            <a:avLst/>
          </a:prstGeom>
        </p:spPr>
      </p:pic>
      <p:sp>
        <p:nvSpPr>
          <p:cNvPr id="42" name="TextBox 41"/>
          <p:cNvSpPr txBox="1"/>
          <p:nvPr/>
        </p:nvSpPr>
        <p:spPr>
          <a:xfrm>
            <a:off x="3043371" y="5204877"/>
            <a:ext cx="3954797"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'Travel Retail'.</a:t>
            </a:r>
          </a:p>
        </p:txBody>
      </p:sp>
      <p:sp>
        <p:nvSpPr>
          <p:cNvPr id="43" name="TextBox 42"/>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4" name="Picture 43" descr="lock.png"/>
          <p:cNvPicPr>
            <a:picLocks noChangeAspect="1"/>
          </p:cNvPicPr>
          <p:nvPr/>
        </p:nvPicPr>
        <p:blipFill>
          <a:blip r:embed="rId7"/>
          <a:stretch>
            <a:fillRect/>
          </a:stretch>
        </p:blipFill>
        <p:spPr>
          <a:xfrm>
            <a:off x="7583825" y="5422491"/>
            <a:ext cx="134549" cy="195707"/>
          </a:xfrm>
          <a:prstGeom prst="rect">
            <a:avLst/>
          </a:prstGeom>
        </p:spPr>
      </p:pic>
      <p:sp>
        <p:nvSpPr>
          <p:cNvPr id="45" name="TextBox 44"/>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7" name="Picture 46" descr="lock.png"/>
          <p:cNvPicPr>
            <a:picLocks noChangeAspect="1"/>
          </p:cNvPicPr>
          <p:nvPr/>
        </p:nvPicPr>
        <p:blipFill>
          <a:blip r:embed="rId7"/>
          <a:stretch>
            <a:fillRect/>
          </a:stretch>
        </p:blipFill>
        <p:spPr>
          <a:xfrm>
            <a:off x="1617169" y="5650329"/>
            <a:ext cx="134549" cy="195707"/>
          </a:xfrm>
          <a:prstGeom prst="rect">
            <a:avLst/>
          </a:prstGeom>
        </p:spPr>
      </p:pic>
      <p:sp>
        <p:nvSpPr>
          <p:cNvPr id="48" name="TextBox 47"/>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9" name="Picture 48" descr="lock.png"/>
          <p:cNvPicPr>
            <a:picLocks noChangeAspect="1"/>
          </p:cNvPicPr>
          <p:nvPr/>
        </p:nvPicPr>
        <p:blipFill>
          <a:blip r:embed="rId7"/>
          <a:stretch>
            <a:fillRect/>
          </a:stretch>
        </p:blipFill>
        <p:spPr>
          <a:xfrm>
            <a:off x="2870505" y="5650329"/>
            <a:ext cx="134549" cy="195707"/>
          </a:xfrm>
          <a:prstGeom prst="rect">
            <a:avLst/>
          </a:prstGeom>
        </p:spPr>
      </p:pic>
      <p:sp>
        <p:nvSpPr>
          <p:cNvPr id="50" name="TextBox 49"/>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1" name="TextBox 50"/>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2" name="Picture 51" descr="lock.png"/>
          <p:cNvPicPr>
            <a:picLocks noChangeAspect="1"/>
          </p:cNvPicPr>
          <p:nvPr/>
        </p:nvPicPr>
        <p:blipFill>
          <a:blip r:embed="rId7"/>
          <a:stretch>
            <a:fillRect/>
          </a:stretch>
        </p:blipFill>
        <p:spPr>
          <a:xfrm>
            <a:off x="1578914" y="5878167"/>
            <a:ext cx="134549" cy="195707"/>
          </a:xfrm>
          <a:prstGeom prst="rect">
            <a:avLst/>
          </a:prstGeom>
        </p:spPr>
      </p:pic>
      <p:sp>
        <p:nvSpPr>
          <p:cNvPr id="53" name="TextBox 52"/>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4" name="Picture 53" descr="lock.png"/>
          <p:cNvPicPr>
            <a:picLocks noChangeAspect="1"/>
          </p:cNvPicPr>
          <p:nvPr/>
        </p:nvPicPr>
        <p:blipFill>
          <a:blip r:embed="rId7"/>
          <a:stretch>
            <a:fillRect/>
          </a:stretch>
        </p:blipFill>
        <p:spPr>
          <a:xfrm>
            <a:off x="2775769" y="5878167"/>
            <a:ext cx="134549" cy="195707"/>
          </a:xfrm>
          <a:prstGeom prst="rect">
            <a:avLst/>
          </a:prstGeom>
        </p:spPr>
      </p:pic>
      <p:sp>
        <p:nvSpPr>
          <p:cNvPr id="55" name="TextBox 54"/>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6" name="Picture 55" descr="lock.png"/>
          <p:cNvPicPr>
            <a:picLocks noChangeAspect="1"/>
          </p:cNvPicPr>
          <p:nvPr/>
        </p:nvPicPr>
        <p:blipFill>
          <a:blip r:embed="rId7"/>
          <a:stretch>
            <a:fillRect/>
          </a:stretch>
        </p:blipFill>
        <p:spPr>
          <a:xfrm>
            <a:off x="4037092" y="5878167"/>
            <a:ext cx="134549" cy="195707"/>
          </a:xfrm>
          <a:prstGeom prst="rect">
            <a:avLst/>
          </a:prstGeom>
        </p:spPr>
      </p:pic>
      <p:sp>
        <p:nvSpPr>
          <p:cNvPr id="57" name="TextBox 56"/>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8"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Phillips Foods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Phillips Foods: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Phillips Foods</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23,200 US$ Mn</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7" name="Picture 56" descr="lock.png"/>
          <p:cNvPicPr>
            <a:picLocks noChangeAspect="1"/>
          </p:cNvPicPr>
          <p:nvPr/>
        </p:nvPicPr>
        <p:blipFill>
          <a:blip r:embed="rId5"/>
          <a:stretch>
            <a:fillRect/>
          </a:stretch>
        </p:blipFill>
        <p:spPr>
          <a:xfrm>
            <a:off x="735202" y="4482783"/>
            <a:ext cx="134549" cy="195707"/>
          </a:xfrm>
          <a:prstGeom prst="rect">
            <a:avLst/>
          </a:prstGeom>
        </p:spPr>
      </p:pic>
      <p:sp>
        <p:nvSpPr>
          <p:cNvPr id="58" name="TextBox 57"/>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59" name="Picture 58" descr="lock.png"/>
          <p:cNvPicPr>
            <a:picLocks noChangeAspect="1"/>
          </p:cNvPicPr>
          <p:nvPr/>
        </p:nvPicPr>
        <p:blipFill>
          <a:blip r:embed="rId5"/>
          <a:stretch>
            <a:fillRect/>
          </a:stretch>
        </p:blipFill>
        <p:spPr>
          <a:xfrm>
            <a:off x="1454256" y="4482783"/>
            <a:ext cx="134549" cy="195707"/>
          </a:xfrm>
          <a:prstGeom prst="rect">
            <a:avLst/>
          </a:prstGeom>
        </p:spPr>
      </p:pic>
      <p:sp>
        <p:nvSpPr>
          <p:cNvPr id="60" name="TextBox 59"/>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1" name="TextBox 60"/>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2" name="Picture 61" descr="lock.png"/>
          <p:cNvPicPr>
            <a:picLocks noChangeAspect="1"/>
          </p:cNvPicPr>
          <p:nvPr/>
        </p:nvPicPr>
        <p:blipFill>
          <a:blip r:embed="rId5"/>
          <a:stretch>
            <a:fillRect/>
          </a:stretch>
        </p:blipFill>
        <p:spPr>
          <a:xfrm>
            <a:off x="745471" y="4960279"/>
            <a:ext cx="134549" cy="195707"/>
          </a:xfrm>
          <a:prstGeom prst="rect">
            <a:avLst/>
          </a:prstGeom>
        </p:spPr>
      </p:pic>
      <p:sp>
        <p:nvSpPr>
          <p:cNvPr id="63" name="TextBox 62"/>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4" name="Picture 63" descr="lock.png"/>
          <p:cNvPicPr>
            <a:picLocks noChangeAspect="1"/>
          </p:cNvPicPr>
          <p:nvPr/>
        </p:nvPicPr>
        <p:blipFill>
          <a:blip r:embed="rId5"/>
          <a:stretch>
            <a:fillRect/>
          </a:stretch>
        </p:blipFill>
        <p:spPr>
          <a:xfrm>
            <a:off x="1461102" y="4960279"/>
            <a:ext cx="134549" cy="195707"/>
          </a:xfrm>
          <a:prstGeom prst="rect">
            <a:avLst/>
          </a:prstGeom>
        </p:spPr>
      </p:pic>
      <p:sp>
        <p:nvSpPr>
          <p:cNvPr id="65" name="TextBox 64"/>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6" name="TextBox 65"/>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7" name="TextBox 66"/>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8" name="Picture 67" descr="lock.png"/>
          <p:cNvPicPr>
            <a:picLocks noChangeAspect="1"/>
          </p:cNvPicPr>
          <p:nvPr/>
        </p:nvPicPr>
        <p:blipFill>
          <a:blip r:embed="rId5"/>
          <a:stretch>
            <a:fillRect/>
          </a:stretch>
        </p:blipFill>
        <p:spPr>
          <a:xfrm>
            <a:off x="1522276" y="5997147"/>
            <a:ext cx="128699" cy="187198"/>
          </a:xfrm>
          <a:prstGeom prst="rect">
            <a:avLst/>
          </a:prstGeom>
        </p:spPr>
      </p:pic>
      <p:sp>
        <p:nvSpPr>
          <p:cNvPr id="69" name="TextBox 68"/>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0" name="Picture 69" descr="lock.png"/>
          <p:cNvPicPr>
            <a:picLocks noChangeAspect="1"/>
          </p:cNvPicPr>
          <p:nvPr/>
        </p:nvPicPr>
        <p:blipFill>
          <a:blip r:embed="rId5"/>
          <a:stretch>
            <a:fillRect/>
          </a:stretch>
        </p:blipFill>
        <p:spPr>
          <a:xfrm>
            <a:off x="2667093" y="5997147"/>
            <a:ext cx="128699" cy="187198"/>
          </a:xfrm>
          <a:prstGeom prst="rect">
            <a:avLst/>
          </a:prstGeom>
        </p:spPr>
      </p:pic>
      <p:sp>
        <p:nvSpPr>
          <p:cNvPr id="71" name="TextBox 70"/>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2" name="Picture 71" descr="lock.png"/>
          <p:cNvPicPr>
            <a:picLocks noChangeAspect="1"/>
          </p:cNvPicPr>
          <p:nvPr/>
        </p:nvPicPr>
        <p:blipFill>
          <a:blip r:embed="rId5"/>
          <a:stretch>
            <a:fillRect/>
          </a:stretch>
        </p:blipFill>
        <p:spPr>
          <a:xfrm>
            <a:off x="5094041" y="5997147"/>
            <a:ext cx="128699" cy="187198"/>
          </a:xfrm>
          <a:prstGeom prst="rect">
            <a:avLst/>
          </a:prstGeom>
        </p:spPr>
      </p:pic>
      <p:sp>
        <p:nvSpPr>
          <p:cNvPr id="73" name="TextBox 72"/>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4" name="TextBox 73"/>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5" name="Picture 74" descr="lock.png"/>
          <p:cNvPicPr>
            <a:picLocks noChangeAspect="1"/>
          </p:cNvPicPr>
          <p:nvPr/>
        </p:nvPicPr>
        <p:blipFill>
          <a:blip r:embed="rId5"/>
          <a:stretch>
            <a:fillRect/>
          </a:stretch>
        </p:blipFill>
        <p:spPr>
          <a:xfrm>
            <a:off x="2839292" y="6215079"/>
            <a:ext cx="128699" cy="187198"/>
          </a:xfrm>
          <a:prstGeom prst="rect">
            <a:avLst/>
          </a:prstGeom>
        </p:spPr>
      </p:pic>
      <p:sp>
        <p:nvSpPr>
          <p:cNvPr id="76" name="TextBox 75"/>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7"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Phillips Foods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Phillips Foods: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Phillips Foods: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'Mud Crab'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Phillips Foods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Phillips Foods's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Phillips Foods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Phillips Foods Financial Performance</a:t>
            </a:r>
          </a:p>
        </p:txBody>
      </p:sp>
      <p:graphicFrame>
        <p:nvGraphicFramePr>
          <p:cNvPr id="13" name="Table 12"/>
          <p:cNvGraphicFramePr>
            <a:graphicFrameLocks noGrp="1"/>
          </p:cNvGraphicFramePr>
          <p:nvPr/>
        </p:nvGraphicFramePr>
        <p:xfrm>
          <a:off x="152400" y="1611256"/>
          <a:ext cx="5886451" cy="1449914"/>
        </p:xfrm>
        <a:graphic>
          <a:graphicData uri="http://schemas.openxmlformats.org/drawingml/2006/table">
            <a:tbl>
              <a:tblPr>
                <a:tableStyleId>{5C22544A-7EE6-4342-B048-85BDC9FD1C3A}</a:tableStyleId>
              </a:tblPr>
              <a:tblGrid>
                <a:gridCol w="2383566"/>
                <a:gridCol w="700577"/>
                <a:gridCol w="700577"/>
                <a:gridCol w="700577"/>
                <a:gridCol w="700577"/>
                <a:gridCol w="700577"/>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Phillips Foods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Phillips Foods Pricing Analysis (US$/MT)</a:t>
            </a:r>
          </a:p>
        </p:txBody>
      </p:sp>
      <p:graphicFrame>
        <p:nvGraphicFramePr>
          <p:cNvPr id="21" name="Table 20"/>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4189863"/>
                <a:gridCol w="819718"/>
                <a:gridCol w="819718"/>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Mud Crab</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King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Other commercially traded crab species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Snow Crab</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19387" y="2219245"/>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1033191" y="3853662"/>
            <a:ext cx="366712" cy="533400"/>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Phillips Foods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Phillips Foods's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Phillips Foods: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533076" cy="194310"/>
          </a:xfrm>
          <a:prstGeom prst="rect">
            <a:avLst/>
          </a:prstGeom>
          <a:noFill/>
        </p:spPr>
        <p:txBody>
          <a:bodyPr wrap="none" lIns="0" rIns="0" tIns="0" bIns="0">
            <a:spAutoFit/>
          </a:bodyPr>
          <a:lstStyle/>
          <a:p>
            <a:r>
              <a:rPr sz="1150" b="0">
                <a:solidFill>
                  <a:srgbClr val="2E2E2E"/>
                </a:solidFill>
                <a:latin typeface="Calibri"/>
              </a:rPr>
              <a:t>▪ Defend and extend leadership in 'Travel Retail' Phillips Foods's strongest end-market while</a:t>
            </a:r>
          </a:p>
        </p:txBody>
      </p:sp>
      <p:sp>
        <p:nvSpPr>
          <p:cNvPr id="31" name="TextBox 30"/>
          <p:cNvSpPr txBox="1"/>
          <p:nvPr/>
        </p:nvSpPr>
        <p:spPr>
          <a:xfrm>
            <a:off x="276225" y="2678589"/>
            <a:ext cx="2090663" cy="194310"/>
          </a:xfrm>
          <a:prstGeom prst="rect">
            <a:avLst/>
          </a:prstGeom>
          <a:noFill/>
        </p:spPr>
        <p:txBody>
          <a:bodyPr wrap="none" lIns="0" rIns="0" tIns="0" bIns="0">
            <a:spAutoFit/>
          </a:bodyPr>
          <a:lstStyle/>
          <a:p>
            <a:r>
              <a:rPr sz="1150" b="0">
                <a:solidFill>
                  <a:srgbClr val="2E2E2E"/>
                </a:solidFill>
                <a:latin typeface="Calibri"/>
              </a:rPr>
              <a:t>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431271" cy="194310"/>
          </a:xfrm>
          <a:prstGeom prst="rect">
            <a:avLst/>
          </a:prstGeom>
          <a:noFill/>
        </p:spPr>
        <p:txBody>
          <a:bodyPr wrap="none" lIns="0" rIns="0" tIns="0" bIns="0">
            <a:spAutoFit/>
          </a:bodyPr>
          <a:lstStyle/>
          <a:p>
            <a:r>
              <a:rPr sz="1150" b="0">
                <a:solidFill>
                  <a:srgbClr val="2E2E2E"/>
                </a:solidFill>
                <a:latin typeface="Calibri"/>
              </a:rPr>
              <a:t>▪ Premiumise the portfolio around 'Mud Crab' and adjacent high-value lines to lift blended</a:t>
            </a:r>
          </a:p>
        </p:txBody>
      </p:sp>
      <p:sp>
        <p:nvSpPr>
          <p:cNvPr id="46" name="TextBox 45"/>
          <p:cNvSpPr txBox="1"/>
          <p:nvPr/>
        </p:nvSpPr>
        <p:spPr>
          <a:xfrm>
            <a:off x="6334125" y="2678589"/>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Crab Meat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Phillips Foods</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Phillips Foods, Inc., Phillips Foods, Graham &amp; Rollins, Inc..</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447550" cy="186689"/>
          </a:xfrm>
          <a:prstGeom prst="rect">
            <a:avLst/>
          </a:prstGeom>
          <a:noFill/>
        </p:spPr>
        <p:txBody>
          <a:bodyPr wrap="none" lIns="0" rIns="0" tIns="0" bIns="0">
            <a:spAutoFit/>
          </a:bodyPr>
          <a:lstStyle/>
          <a:p>
            <a:r>
              <a:rPr sz="1100" b="1">
                <a:solidFill>
                  <a:srgbClr val="0F2D52"/>
                </a:solidFill>
                <a:latin typeface="Calibri"/>
              </a:rPr>
              <a:t>Retail,</a:t>
            </a:r>
          </a:p>
        </p:txBody>
      </p:sp>
      <p:pic>
        <p:nvPicPr>
          <p:cNvPr id="68" name="Picture 67" descr="lock.png"/>
          <p:cNvPicPr>
            <a:picLocks noChangeAspect="1"/>
          </p:cNvPicPr>
          <p:nvPr/>
        </p:nvPicPr>
        <p:blipFill>
          <a:blip r:embed="rId4"/>
          <a:stretch>
            <a:fillRect/>
          </a:stretch>
        </p:blipFill>
        <p:spPr>
          <a:xfrm>
            <a:off x="5100952"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3644007" cy="186689"/>
          </a:xfrm>
          <a:prstGeom prst="rect">
            <a:avLst/>
          </a:prstGeom>
          <a:noFill/>
        </p:spPr>
        <p:txBody>
          <a:bodyPr wrap="none" lIns="0" rIns="0" tIns="0" bIns="0">
            <a:spAutoFit/>
          </a:bodyPr>
          <a:lstStyle/>
          <a:p>
            <a:r>
              <a:rPr sz="1100" b="0">
                <a:solidFill>
                  <a:srgbClr val="1F2933"/>
                </a:solidFill>
                <a:latin typeface="Calibri"/>
              </a:rPr>
              <a:t>'Mud Crab' is the largest line; 'Mud Crab' compounds fastest at</a:t>
            </a:r>
          </a:p>
        </p:txBody>
      </p:sp>
      <p:pic>
        <p:nvPicPr>
          <p:cNvPr id="79" name="Picture 78" descr="lock.png"/>
          <p:cNvPicPr>
            <a:picLocks noChangeAspect="1"/>
          </p:cNvPicPr>
          <p:nvPr/>
        </p:nvPicPr>
        <p:blipFill>
          <a:blip r:embed="rId4"/>
          <a:stretch>
            <a:fillRect/>
          </a:stretch>
        </p:blipFill>
        <p:spPr>
          <a:xfrm>
            <a:off x="4115933" y="4324096"/>
            <a:ext cx="128699" cy="187198"/>
          </a:xfrm>
          <a:prstGeom prst="rect">
            <a:avLst/>
          </a:prstGeom>
        </p:spPr>
      </p:pic>
      <p:sp>
        <p:nvSpPr>
          <p:cNvPr id="80" name="TextBox 79"/>
          <p:cNvSpPr txBox="1"/>
          <p:nvPr/>
        </p:nvSpPr>
        <p:spPr>
          <a:xfrm>
            <a:off x="4283429" y="433387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Phillips Foods, Phillips Foods, Inc., Graham &amp; Rollins, Inc.</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Supreme Crab and Seafood, Inc., North Coast Seafoods</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Heron Point Seafood, Phil-Union Frozen Foods, Inc., Aqua Star, Chicken of the Sea Frozen Foods, The Crab Place</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576110"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Mud Crab</a:t>
            </a:r>
          </a:p>
        </p:txBody>
      </p:sp>
      <p:sp>
        <p:nvSpPr>
          <p:cNvPr id="30" name="TextBox 29"/>
          <p:cNvSpPr txBox="1"/>
          <p:nvPr/>
        </p:nvSpPr>
        <p:spPr>
          <a:xfrm>
            <a:off x="3756665"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King Crab</a:t>
            </a:r>
          </a:p>
        </p:txBody>
      </p:sp>
      <p:sp>
        <p:nvSpPr>
          <p:cNvPr id="31" name="TextBox 30"/>
          <p:cNvSpPr txBox="1"/>
          <p:nvPr/>
        </p:nvSpPr>
        <p:spPr>
          <a:xfrm>
            <a:off x="4937220"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 commercially traded crab species</a:t>
            </a:r>
          </a:p>
        </p:txBody>
      </p:sp>
      <p:sp>
        <p:nvSpPr>
          <p:cNvPr id="32" name="TextBox 31"/>
          <p:cNvSpPr txBox="1"/>
          <p:nvPr/>
        </p:nvSpPr>
        <p:spPr>
          <a:xfrm>
            <a:off x="6117775"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Snow Crab</a:t>
            </a:r>
          </a:p>
        </p:txBody>
      </p:sp>
      <p:sp>
        <p:nvSpPr>
          <p:cNvPr id="33" name="TextBox 32"/>
          <p:cNvSpPr txBox="1"/>
          <p:nvPr/>
        </p:nvSpPr>
        <p:spPr>
          <a:xfrm>
            <a:off x="7298330"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Retail</a:t>
            </a:r>
          </a:p>
        </p:txBody>
      </p:sp>
      <p:sp>
        <p:nvSpPr>
          <p:cNvPr id="34" name="TextBox 33"/>
          <p:cNvSpPr txBox="1"/>
          <p:nvPr/>
        </p:nvSpPr>
        <p:spPr>
          <a:xfrm>
            <a:off x="8478885"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Food Service</a:t>
            </a:r>
          </a:p>
        </p:txBody>
      </p:sp>
      <p:sp>
        <p:nvSpPr>
          <p:cNvPr id="35" name="TextBox 34"/>
          <p:cNvSpPr txBox="1"/>
          <p:nvPr/>
        </p:nvSpPr>
        <p:spPr>
          <a:xfrm>
            <a:off x="9659440"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Industrial / B2B processing</a:t>
            </a:r>
          </a:p>
        </p:txBody>
      </p:sp>
      <p:sp>
        <p:nvSpPr>
          <p:cNvPr id="36" name="TextBox 35"/>
          <p:cNvSpPr txBox="1"/>
          <p:nvPr/>
        </p:nvSpPr>
        <p:spPr>
          <a:xfrm>
            <a:off x="10839995" y="2114550"/>
            <a:ext cx="1142455"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Travel Retail</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a:t>
            </a:r>
          </a:p>
        </p:txBody>
      </p:sp>
      <p:sp>
        <p:nvSpPr>
          <p:cNvPr id="40" name="TextBox 39"/>
          <p:cNvSpPr txBox="1"/>
          <p:nvPr/>
        </p:nvSpPr>
        <p:spPr>
          <a:xfrm>
            <a:off x="285750" y="27908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3071137"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3143250" y="2705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25169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3224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61280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793357"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8676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973912"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0487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5446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3502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 Inc.</a:t>
            </a:r>
          </a:p>
        </p:txBody>
      </p:sp>
      <p:sp>
        <p:nvSpPr>
          <p:cNvPr id="55" name="TextBox 54"/>
          <p:cNvSpPr txBox="1"/>
          <p:nvPr/>
        </p:nvSpPr>
        <p:spPr>
          <a:xfrm>
            <a:off x="285750" y="31337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307113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314325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25169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432435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43224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61280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668655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79335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86765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973912"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15446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22985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3502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41095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Graham &amp; Rollins, Inc.</a:t>
            </a:r>
          </a:p>
        </p:txBody>
      </p:sp>
      <p:sp>
        <p:nvSpPr>
          <p:cNvPr id="73" name="TextBox 72"/>
          <p:cNvSpPr txBox="1"/>
          <p:nvPr/>
        </p:nvSpPr>
        <p:spPr>
          <a:xfrm>
            <a:off x="285750" y="34766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3071137"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25169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543224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550545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61280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793357"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97391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904875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15446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022985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33502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41095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36576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Supreme Crab and Seafood, Inc.</a:t>
            </a:r>
          </a:p>
        </p:txBody>
      </p:sp>
      <p:sp>
        <p:nvSpPr>
          <p:cNvPr id="89" name="TextBox 88"/>
          <p:cNvSpPr txBox="1"/>
          <p:nvPr/>
        </p:nvSpPr>
        <p:spPr>
          <a:xfrm>
            <a:off x="285750" y="38195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0" name="Oval 89"/>
          <p:cNvSpPr/>
          <p:nvPr/>
        </p:nvSpPr>
        <p:spPr>
          <a:xfrm>
            <a:off x="307113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25169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4324350"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43224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55054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61280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66865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79335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8676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97391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90487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15446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33502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0005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North Coast Seafoods</a:t>
            </a:r>
          </a:p>
        </p:txBody>
      </p:sp>
      <p:sp>
        <p:nvSpPr>
          <p:cNvPr id="106" name="TextBox 105"/>
          <p:cNvSpPr txBox="1"/>
          <p:nvPr/>
        </p:nvSpPr>
        <p:spPr>
          <a:xfrm>
            <a:off x="285750" y="41624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307113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14325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5169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432435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543224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550545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61280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79335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786765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97391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15446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22985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33502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3434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Heron Point Seafood</a:t>
            </a:r>
          </a:p>
        </p:txBody>
      </p:sp>
      <p:sp>
        <p:nvSpPr>
          <p:cNvPr id="123" name="TextBox 122"/>
          <p:cNvSpPr txBox="1"/>
          <p:nvPr/>
        </p:nvSpPr>
        <p:spPr>
          <a:xfrm>
            <a:off x="285750" y="45053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4" name="Oval 123"/>
          <p:cNvSpPr/>
          <p:nvPr/>
        </p:nvSpPr>
        <p:spPr>
          <a:xfrm>
            <a:off x="307113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3143250"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25169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4324350"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43224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61280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79335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97391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904875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15446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1022985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3502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85750" y="46863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Phil-Union Frozen Foods, Inc.</a:t>
            </a:r>
          </a:p>
        </p:txBody>
      </p:sp>
      <p:sp>
        <p:nvSpPr>
          <p:cNvPr id="139" name="TextBox 138"/>
          <p:cNvSpPr txBox="1"/>
          <p:nvPr/>
        </p:nvSpPr>
        <p:spPr>
          <a:xfrm>
            <a:off x="285750" y="48482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0" name="Oval 139"/>
          <p:cNvSpPr/>
          <p:nvPr/>
        </p:nvSpPr>
        <p:spPr>
          <a:xfrm>
            <a:off x="307113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3143250"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25169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43224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55054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661280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79335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676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97391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90487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15446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33502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0292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Aqua Star</a:t>
            </a:r>
          </a:p>
        </p:txBody>
      </p:sp>
      <p:sp>
        <p:nvSpPr>
          <p:cNvPr id="155" name="TextBox 154"/>
          <p:cNvSpPr txBox="1"/>
          <p:nvPr/>
        </p:nvSpPr>
        <p:spPr>
          <a:xfrm>
            <a:off x="285750" y="51911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307113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25169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4324350"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543224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550545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661280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79335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786765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897391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15446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229850"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33502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3721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Chicken of the Sea Frozen Foods</a:t>
            </a:r>
          </a:p>
        </p:txBody>
      </p:sp>
      <p:sp>
        <p:nvSpPr>
          <p:cNvPr id="171" name="TextBox 170"/>
          <p:cNvSpPr txBox="1"/>
          <p:nvPr/>
        </p:nvSpPr>
        <p:spPr>
          <a:xfrm>
            <a:off x="285750" y="55340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2" name="Oval 171"/>
          <p:cNvSpPr/>
          <p:nvPr/>
        </p:nvSpPr>
        <p:spPr>
          <a:xfrm>
            <a:off x="307113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3143250"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25169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4324350"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543224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550545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661280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79335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897391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904875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15446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Freeform 182"/>
          <p:cNvSpPr/>
          <p:nvPr/>
        </p:nvSpPr>
        <p:spPr>
          <a:xfrm>
            <a:off x="1022985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33502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85750" y="57150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The Crab Place</a:t>
            </a:r>
          </a:p>
        </p:txBody>
      </p:sp>
      <p:sp>
        <p:nvSpPr>
          <p:cNvPr id="188" name="TextBox 187"/>
          <p:cNvSpPr txBox="1"/>
          <p:nvPr/>
        </p:nvSpPr>
        <p:spPr>
          <a:xfrm>
            <a:off x="285750" y="58769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9" name="Oval 188"/>
          <p:cNvSpPr/>
          <p:nvPr/>
        </p:nvSpPr>
        <p:spPr>
          <a:xfrm>
            <a:off x="307113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Freeform 189"/>
          <p:cNvSpPr/>
          <p:nvPr/>
        </p:nvSpPr>
        <p:spPr>
          <a:xfrm>
            <a:off x="3143250"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25169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Freeform 191"/>
          <p:cNvSpPr/>
          <p:nvPr/>
        </p:nvSpPr>
        <p:spPr>
          <a:xfrm>
            <a:off x="4324350"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543224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661280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779335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786765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97391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904875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15446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1133502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Connector 20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4" name="Rectangle 20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6" name="Rectangle 20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8" name="TextBox 207"/>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9" name="TextBox 208"/>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'Mud Crab' is the most contested column (8 players active); 'Snow Crab' is the most open (3).</a:t>
            </a:r>
          </a:p>
        </p:txBody>
      </p:sp>
      <p:sp>
        <p:nvSpPr>
          <p:cNvPr id="210" name="TextBox 20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11" name="TextBox 210"/>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2" name="Picture 211" descr="lock.png"/>
          <p:cNvPicPr>
            <a:picLocks noChangeAspect="1"/>
          </p:cNvPicPr>
          <p:nvPr/>
        </p:nvPicPr>
        <p:blipFill>
          <a:blip r:embed="rId4"/>
          <a:stretch>
            <a:fillRect/>
          </a:stretch>
        </p:blipFill>
        <p:spPr>
          <a:xfrm>
            <a:off x="622441" y="1297051"/>
            <a:ext cx="128699" cy="187198"/>
          </a:xfrm>
          <a:prstGeom prst="rect">
            <a:avLst/>
          </a:prstGeom>
        </p:spPr>
      </p:pic>
      <p:sp>
        <p:nvSpPr>
          <p:cNvPr id="213" name="TextBox 212"/>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4" name="Picture 213" descr="lock.png"/>
          <p:cNvPicPr>
            <a:picLocks noChangeAspect="1"/>
          </p:cNvPicPr>
          <p:nvPr/>
        </p:nvPicPr>
        <p:blipFill>
          <a:blip r:embed="rId4"/>
          <a:stretch>
            <a:fillRect/>
          </a:stretch>
        </p:blipFill>
        <p:spPr>
          <a:xfrm>
            <a:off x="5547332" y="1297051"/>
            <a:ext cx="128699" cy="187198"/>
          </a:xfrm>
          <a:prstGeom prst="rect">
            <a:avLst/>
          </a:prstGeom>
        </p:spPr>
      </p:pic>
      <p:sp>
        <p:nvSpPr>
          <p:cNvPr id="215" name="TextBox 214"/>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6" name="Picture 215" descr="lock.png"/>
          <p:cNvPicPr>
            <a:picLocks noChangeAspect="1"/>
          </p:cNvPicPr>
          <p:nvPr/>
        </p:nvPicPr>
        <p:blipFill>
          <a:blip r:embed="rId4"/>
          <a:stretch>
            <a:fillRect/>
          </a:stretch>
        </p:blipFill>
        <p:spPr>
          <a:xfrm>
            <a:off x="6890588" y="1297051"/>
            <a:ext cx="128699" cy="187198"/>
          </a:xfrm>
          <a:prstGeom prst="rect">
            <a:avLst/>
          </a:prstGeom>
        </p:spPr>
      </p:pic>
      <p:sp>
        <p:nvSpPr>
          <p:cNvPr id="217" name="TextBox 216"/>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8" name="Picture 21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Mud Crab,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King Crab,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Other commercially traded crab species,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28%</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Graham &amp; Rollins, Inc.</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Phillips Foods</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Phillips Foods, Inc.</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North Coast Seafoods</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Heron Point Seafood</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23%</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Phillips Foods</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Phillips Foods, Inc.</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Supreme Crab and Seafood, Inc.</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North Coast Seafoods</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Heron Point Seafood</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Other commercially traded crab species</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18%</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Phillips Foods</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Graham &amp; Rollins, Inc.</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Supreme Crab and Seafood, Inc.</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North Coast Seafoods</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Phil-Union Frozen Foods, Inc.</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Distribution Channel</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Food Service</a:t>
            </a:r>
          </a:p>
        </p:txBody>
      </p:sp>
      <p:sp>
        <p:nvSpPr>
          <p:cNvPr id="95" name="Rectangle 94"/>
          <p:cNvSpPr/>
          <p:nvPr/>
        </p:nvSpPr>
        <p:spPr>
          <a:xfrm>
            <a:off x="10682288" y="2847975"/>
            <a:ext cx="45107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17146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 B2B processing</a:t>
            </a:r>
          </a:p>
        </p:txBody>
      </p:sp>
      <p:sp>
        <p:nvSpPr>
          <p:cNvPr id="98" name="Rectangle 97"/>
          <p:cNvSpPr/>
          <p:nvPr/>
        </p:nvSpPr>
        <p:spPr>
          <a:xfrm>
            <a:off x="10682288" y="3171825"/>
            <a:ext cx="10145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21839"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Travel Retail</a:t>
            </a:r>
          </a:p>
        </p:txBody>
      </p:sp>
      <p:sp>
        <p:nvSpPr>
          <p:cNvPr id="101" name="Rectangle 100"/>
          <p:cNvSpPr/>
          <p:nvPr/>
        </p:nvSpPr>
        <p:spPr>
          <a:xfrm>
            <a:off x="10682288" y="3495675"/>
            <a:ext cx="89383"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809770"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3" name="Connector 102"/>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5" name="TextBox 104"/>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6" name="Rectangle 105"/>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09" name="TextBox 108"/>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Crab Leg Meat Compounds Fastest Across the Meat Type Mix  |  South Asia &amp; Pacific Emerges as the Growth Engine Among Regions  |  Premiumisation Lifts Average Realisation</a:t>
            </a:r>
          </a:p>
        </p:txBody>
      </p:sp>
      <p:sp>
        <p:nvSpPr>
          <p:cNvPr id="110" name="Rectangle 109"/>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3" name="TextBox 112"/>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Lump Lags the Category and Dilutes Blended Growth  |  Uneven Region Performance Caps the Blended Rate  |  Concentration Risk Limits Pricing and Sourcing Flexibility</a:t>
            </a:r>
          </a:p>
        </p:txBody>
      </p:sp>
      <p:sp>
        <p:nvSpPr>
          <p:cNvPr id="114" name="TextBox 1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5" name="Picture 114" descr="lock.png"/>
          <p:cNvPicPr>
            <a:picLocks noChangeAspect="1"/>
          </p:cNvPicPr>
          <p:nvPr/>
        </p:nvPicPr>
        <p:blipFill>
          <a:blip r:embed="rId4"/>
          <a:stretch>
            <a:fillRect/>
          </a:stretch>
        </p:blipFill>
        <p:spPr>
          <a:xfrm>
            <a:off x="13167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36789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60411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84033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107655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1509656" y="1725676"/>
            <a:ext cx="128699" cy="187198"/>
          </a:xfrm>
          <a:prstGeom prst="rect">
            <a:avLst/>
          </a:prstGeom>
        </p:spPr>
      </p:pic>
      <p:pic>
        <p:nvPicPr>
          <p:cNvPr id="121" name="Picture 120" descr="lock.png"/>
          <p:cNvPicPr>
            <a:picLocks noChangeAspect="1"/>
          </p:cNvPicPr>
          <p:nvPr/>
        </p:nvPicPr>
        <p:blipFill>
          <a:blip r:embed="rId4"/>
          <a:stretch>
            <a:fillRect/>
          </a:stretch>
        </p:blipFill>
        <p:spPr>
          <a:xfrm>
            <a:off x="554775" y="2135251"/>
            <a:ext cx="128699" cy="187198"/>
          </a:xfrm>
          <a:prstGeom prst="rect">
            <a:avLst/>
          </a:prstGeom>
        </p:spPr>
      </p:pic>
      <p:pic>
        <p:nvPicPr>
          <p:cNvPr id="122" name="Picture 121" descr="lock.png"/>
          <p:cNvPicPr>
            <a:picLocks noChangeAspect="1"/>
          </p:cNvPicPr>
          <p:nvPr/>
        </p:nvPicPr>
        <p:blipFill>
          <a:blip r:embed="rId4"/>
          <a:stretch>
            <a:fillRect/>
          </a:stretch>
        </p:blipFill>
        <p:spPr>
          <a:xfrm>
            <a:off x="4524318" y="1725676"/>
            <a:ext cx="128699" cy="187198"/>
          </a:xfrm>
          <a:prstGeom prst="rect">
            <a:avLst/>
          </a:prstGeom>
        </p:spPr>
      </p:pic>
      <p:pic>
        <p:nvPicPr>
          <p:cNvPr id="123" name="Picture 122" descr="lock.png"/>
          <p:cNvPicPr>
            <a:picLocks noChangeAspect="1"/>
          </p:cNvPicPr>
          <p:nvPr/>
        </p:nvPicPr>
        <p:blipFill>
          <a:blip r:embed="rId4"/>
          <a:stretch>
            <a:fillRect/>
          </a:stretch>
        </p:blipFill>
        <p:spPr>
          <a:xfrm>
            <a:off x="3569437" y="2135251"/>
            <a:ext cx="128699" cy="187198"/>
          </a:xfrm>
          <a:prstGeom prst="rect">
            <a:avLst/>
          </a:prstGeom>
        </p:spPr>
      </p:pic>
      <p:pic>
        <p:nvPicPr>
          <p:cNvPr id="124" name="Picture 123" descr="lock.png"/>
          <p:cNvPicPr>
            <a:picLocks noChangeAspect="1"/>
          </p:cNvPicPr>
          <p:nvPr/>
        </p:nvPicPr>
        <p:blipFill>
          <a:blip r:embed="rId4"/>
          <a:stretch>
            <a:fillRect/>
          </a:stretch>
        </p:blipFill>
        <p:spPr>
          <a:xfrm>
            <a:off x="6584100"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11660925" y="2487676"/>
            <a:ext cx="128699" cy="187198"/>
          </a:xfrm>
          <a:prstGeom prst="rect">
            <a:avLst/>
          </a:prstGeom>
        </p:spPr>
      </p:pic>
      <p:pic>
        <p:nvPicPr>
          <p:cNvPr id="126" name="Picture 125" descr="lock.png"/>
          <p:cNvPicPr>
            <a:picLocks noChangeAspect="1"/>
          </p:cNvPicPr>
          <p:nvPr/>
        </p:nvPicPr>
        <p:blipFill>
          <a:blip r:embed="rId4"/>
          <a:stretch>
            <a:fillRect/>
          </a:stretch>
        </p:blipFill>
        <p:spPr>
          <a:xfrm>
            <a:off x="11345238" y="2811526"/>
            <a:ext cx="128699" cy="187198"/>
          </a:xfrm>
          <a:prstGeom prst="rect">
            <a:avLst/>
          </a:prstGeom>
        </p:spPr>
      </p:pic>
      <p:pic>
        <p:nvPicPr>
          <p:cNvPr id="127" name="Picture 126" descr="lock.png"/>
          <p:cNvPicPr>
            <a:picLocks noChangeAspect="1"/>
          </p:cNvPicPr>
          <p:nvPr/>
        </p:nvPicPr>
        <p:blipFill>
          <a:blip r:embed="rId4"/>
          <a:stretch>
            <a:fillRect/>
          </a:stretch>
        </p:blipFill>
        <p:spPr>
          <a:xfrm>
            <a:off x="10995614" y="31353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0983545" y="3459226"/>
            <a:ext cx="128699" cy="187198"/>
          </a:xfrm>
          <a:prstGeom prst="rect">
            <a:avLst/>
          </a:prstGeom>
        </p:spPr>
      </p:pic>
      <p:sp>
        <p:nvSpPr>
          <p:cNvPr id="129" name="TextBox 128"/>
          <p:cNvSpPr txBox="1"/>
          <p:nvPr/>
        </p:nvSpPr>
        <p:spPr>
          <a:xfrm>
            <a:off x="314325"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'Mud Crab'</a:t>
            </a:r>
          </a:p>
        </p:txBody>
      </p:sp>
      <p:sp>
        <p:nvSpPr>
          <p:cNvPr id="130" name="TextBox 129"/>
          <p:cNvSpPr txBox="1"/>
          <p:nvPr/>
        </p:nvSpPr>
        <p:spPr>
          <a:xfrm>
            <a:off x="314325"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31" name="Picture 130" descr="lock.png"/>
          <p:cNvPicPr>
            <a:picLocks noChangeAspect="1"/>
          </p:cNvPicPr>
          <p:nvPr/>
        </p:nvPicPr>
        <p:blipFill>
          <a:blip r:embed="rId4"/>
          <a:stretch>
            <a:fillRect/>
          </a:stretch>
        </p:blipFill>
        <p:spPr>
          <a:xfrm>
            <a:off x="606789" y="4834636"/>
            <a:ext cx="128699" cy="187198"/>
          </a:xfrm>
          <a:prstGeom prst="rect">
            <a:avLst/>
          </a:prstGeom>
        </p:spPr>
      </p:pic>
      <p:sp>
        <p:nvSpPr>
          <p:cNvPr id="132" name="TextBox 131"/>
          <p:cNvSpPr txBox="1"/>
          <p:nvPr/>
        </p:nvSpPr>
        <p:spPr>
          <a:xfrm>
            <a:off x="774285"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3" name="TextBox 132"/>
          <p:cNvSpPr txBox="1"/>
          <p:nvPr/>
        </p:nvSpPr>
        <p:spPr>
          <a:xfrm>
            <a:off x="3328987" y="4676775"/>
            <a:ext cx="2512491" cy="186689"/>
          </a:xfrm>
          <a:prstGeom prst="rect">
            <a:avLst/>
          </a:prstGeom>
          <a:noFill/>
        </p:spPr>
        <p:txBody>
          <a:bodyPr wrap="none" lIns="0" rIns="0" tIns="0" bIns="0">
            <a:spAutoFit/>
          </a:bodyPr>
          <a:lstStyle/>
          <a:p>
            <a:r>
              <a:rPr sz="1100" b="0">
                <a:solidFill>
                  <a:srgbClr val="1F2933"/>
                </a:solidFill>
                <a:latin typeface="Calibri"/>
              </a:rPr>
              <a:t>5 named players compete here; 'King Crab'</a:t>
            </a:r>
          </a:p>
        </p:txBody>
      </p:sp>
      <p:sp>
        <p:nvSpPr>
          <p:cNvPr id="134" name="TextBox 133"/>
          <p:cNvSpPr txBox="1"/>
          <p:nvPr/>
        </p:nvSpPr>
        <p:spPr>
          <a:xfrm>
            <a:off x="3328987"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35" name="Picture 134" descr="lock.png"/>
          <p:cNvPicPr>
            <a:picLocks noChangeAspect="1"/>
          </p:cNvPicPr>
          <p:nvPr/>
        </p:nvPicPr>
        <p:blipFill>
          <a:blip r:embed="rId4"/>
          <a:stretch>
            <a:fillRect/>
          </a:stretch>
        </p:blipFill>
        <p:spPr>
          <a:xfrm>
            <a:off x="3621451" y="4834636"/>
            <a:ext cx="128699" cy="187198"/>
          </a:xfrm>
          <a:prstGeom prst="rect">
            <a:avLst/>
          </a:prstGeom>
        </p:spPr>
      </p:pic>
      <p:sp>
        <p:nvSpPr>
          <p:cNvPr id="136" name="TextBox 135"/>
          <p:cNvSpPr txBox="1"/>
          <p:nvPr/>
        </p:nvSpPr>
        <p:spPr>
          <a:xfrm>
            <a:off x="3788947"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7" name="TextBox 136"/>
          <p:cNvSpPr txBox="1"/>
          <p:nvPr/>
        </p:nvSpPr>
        <p:spPr>
          <a:xfrm>
            <a:off x="6343650" y="4676775"/>
            <a:ext cx="2273746" cy="186689"/>
          </a:xfrm>
          <a:prstGeom prst="rect">
            <a:avLst/>
          </a:prstGeom>
          <a:noFill/>
        </p:spPr>
        <p:txBody>
          <a:bodyPr wrap="none" lIns="0" rIns="0" tIns="0" bIns="0">
            <a:spAutoFit/>
          </a:bodyPr>
          <a:lstStyle/>
          <a:p>
            <a:r>
              <a:rPr sz="1100" b="0">
                <a:solidFill>
                  <a:srgbClr val="1F2933"/>
                </a:solidFill>
                <a:latin typeface="Calibri"/>
              </a:rPr>
              <a:t>5 named players compete here; 'Other</a:t>
            </a:r>
          </a:p>
        </p:txBody>
      </p:sp>
      <p:sp>
        <p:nvSpPr>
          <p:cNvPr id="138" name="TextBox 137"/>
          <p:cNvSpPr txBox="1"/>
          <p:nvPr/>
        </p:nvSpPr>
        <p:spPr>
          <a:xfrm>
            <a:off x="6343650" y="4844415"/>
            <a:ext cx="2302668" cy="186689"/>
          </a:xfrm>
          <a:prstGeom prst="rect">
            <a:avLst/>
          </a:prstGeom>
          <a:noFill/>
        </p:spPr>
        <p:txBody>
          <a:bodyPr wrap="none" lIns="0" rIns="0" tIns="0" bIns="0">
            <a:spAutoFit/>
          </a:bodyPr>
          <a:lstStyle/>
          <a:p>
            <a:r>
              <a:rPr sz="1100" b="0">
                <a:solidFill>
                  <a:srgbClr val="1F2933"/>
                </a:solidFill>
                <a:latin typeface="Calibri"/>
              </a:rPr>
              <a:t>commercially traded crab species' adds</a:t>
            </a:r>
          </a:p>
        </p:txBody>
      </p:sp>
      <p:pic>
        <p:nvPicPr>
          <p:cNvPr id="139" name="Picture 138" descr="lock.png"/>
          <p:cNvPicPr>
            <a:picLocks noChangeAspect="1"/>
          </p:cNvPicPr>
          <p:nvPr/>
        </p:nvPicPr>
        <p:blipFill>
          <a:blip r:embed="rId4"/>
          <a:stretch>
            <a:fillRect/>
          </a:stretch>
        </p:blipFill>
        <p:spPr>
          <a:xfrm>
            <a:off x="8594370" y="4834636"/>
            <a:ext cx="128699" cy="187198"/>
          </a:xfrm>
          <a:prstGeom prst="rect">
            <a:avLst/>
          </a:prstGeom>
        </p:spPr>
      </p:pic>
      <p:sp>
        <p:nvSpPr>
          <p:cNvPr id="140" name="TextBox 139"/>
          <p:cNvSpPr txBox="1"/>
          <p:nvPr/>
        </p:nvSpPr>
        <p:spPr>
          <a:xfrm>
            <a:off x="6343650" y="501205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1" name="TextBox 140"/>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2" name="Picture 141" descr="lock.png"/>
          <p:cNvPicPr>
            <a:picLocks noChangeAspect="1"/>
          </p:cNvPicPr>
          <p:nvPr/>
        </p:nvPicPr>
        <p:blipFill>
          <a:blip r:embed="rId4"/>
          <a:stretch>
            <a:fillRect/>
          </a:stretch>
        </p:blipFill>
        <p:spPr>
          <a:xfrm>
            <a:off x="11035226" y="4666996"/>
            <a:ext cx="128699" cy="187198"/>
          </a:xfrm>
          <a:prstGeom prst="rect">
            <a:avLst/>
          </a:prstGeom>
        </p:spPr>
      </p:pic>
      <p:sp>
        <p:nvSpPr>
          <p:cNvPr id="143" name="TextBox 142"/>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44" name="TextBox 143"/>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45" name="TextBox 144"/>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 Inc.</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Graham &amp; Rollins, Inc.</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Supreme Crab and Seafood, Inc.</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North Coast Seafoods</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Heron Point Seafood</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Phil-Union Frozen Foods, Inc.</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Aqua Star</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Chicken of the Sea Frozen Foods</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The Crab Place</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1343736" y="5867145"/>
            <a:ext cx="128699" cy="187198"/>
          </a:xfrm>
          <a:prstGeom prst="rect">
            <a:avLst/>
          </a:prstGeom>
        </p:spPr>
      </p:pic>
      <p:sp>
        <p:nvSpPr>
          <p:cNvPr id="100" name="TextBox 99"/>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2" name="Picture 101" descr="lock.png"/>
          <p:cNvPicPr>
            <a:picLocks noChangeAspect="1"/>
          </p:cNvPicPr>
          <p:nvPr/>
        </p:nvPicPr>
        <p:blipFill>
          <a:blip r:embed="rId4"/>
          <a:stretch>
            <a:fillRect/>
          </a:stretch>
        </p:blipFill>
        <p:spPr>
          <a:xfrm>
            <a:off x="4344111" y="5867145"/>
            <a:ext cx="128699" cy="187198"/>
          </a:xfrm>
          <a:prstGeom prst="rect">
            <a:avLst/>
          </a:prstGeom>
        </p:spPr>
      </p:pic>
      <p:sp>
        <p:nvSpPr>
          <p:cNvPr id="103" name="TextBox 102"/>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5" name="Picture 104" descr="lock.png"/>
          <p:cNvPicPr>
            <a:picLocks noChangeAspect="1"/>
          </p:cNvPicPr>
          <p:nvPr/>
        </p:nvPicPr>
        <p:blipFill>
          <a:blip r:embed="rId4"/>
          <a:stretch>
            <a:fillRect/>
          </a:stretch>
        </p:blipFill>
        <p:spPr>
          <a:xfrm>
            <a:off x="7344486" y="5867145"/>
            <a:ext cx="128699" cy="187198"/>
          </a:xfrm>
          <a:prstGeom prst="rect">
            <a:avLst/>
          </a:prstGeom>
        </p:spPr>
      </p:pic>
      <p:sp>
        <p:nvSpPr>
          <p:cNvPr id="106" name="TextBox 105"/>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595160" y="1295400"/>
            <a:ext cx="217247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595160" y="1657350"/>
            <a:ext cx="217247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843836" y="1295400"/>
            <a:ext cx="112309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843836" y="1657350"/>
            <a:ext cx="112309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6043130"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6043130"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7042542"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7042542"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8041953"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8041953"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9041365"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9041365"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10040777"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10040777"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40188" y="1295400"/>
            <a:ext cx="92321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40188" y="1657350"/>
            <a:ext cx="92321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a:t>
            </a:r>
          </a:p>
        </p:txBody>
      </p:sp>
      <p:sp>
        <p:nvSpPr>
          <p:cNvPr id="31" name="TextBox 30"/>
          <p:cNvSpPr txBox="1"/>
          <p:nvPr/>
        </p:nvSpPr>
        <p:spPr>
          <a:xfrm>
            <a:off x="285750" y="24098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557060" y="22288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843836" y="22288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4285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42794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2735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42677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02677" y="22288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1002088" y="22288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 Inc.</a:t>
            </a:r>
          </a:p>
        </p:txBody>
      </p:sp>
      <p:sp>
        <p:nvSpPr>
          <p:cNvPr id="43" name="TextBox 42"/>
          <p:cNvSpPr txBox="1"/>
          <p:nvPr/>
        </p:nvSpPr>
        <p:spPr>
          <a:xfrm>
            <a:off x="285750" y="27527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557060" y="25717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843836" y="25717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42853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42794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2735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42677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02677" y="25717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1002088" y="25717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Graham &amp; Rollins, Inc.</a:t>
            </a:r>
          </a:p>
        </p:txBody>
      </p:sp>
      <p:sp>
        <p:nvSpPr>
          <p:cNvPr id="55" name="TextBox 54"/>
          <p:cNvSpPr txBox="1"/>
          <p:nvPr/>
        </p:nvSpPr>
        <p:spPr>
          <a:xfrm>
            <a:off x="285750" y="30956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2557060" y="29146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4843836" y="29146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428536"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42794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42735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426771"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5059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02677" y="29146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1002088" y="29146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Supreme Crab and Seafood, Inc.</a:t>
            </a:r>
          </a:p>
        </p:txBody>
      </p:sp>
      <p:sp>
        <p:nvSpPr>
          <p:cNvPr id="68" name="TextBox 67"/>
          <p:cNvSpPr txBox="1"/>
          <p:nvPr/>
        </p:nvSpPr>
        <p:spPr>
          <a:xfrm>
            <a:off x="285750" y="34385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2557060" y="32575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4843836" y="32575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4285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50557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42794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42735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426771"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505950"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02677" y="32575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1002088" y="32575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North Coast Seafoods</a:t>
            </a:r>
          </a:p>
        </p:txBody>
      </p:sp>
      <p:sp>
        <p:nvSpPr>
          <p:cNvPr id="82" name="TextBox 81"/>
          <p:cNvSpPr txBox="1"/>
          <p:nvPr/>
        </p:nvSpPr>
        <p:spPr>
          <a:xfrm>
            <a:off x="285750" y="37814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2557060" y="36004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4843836" y="36004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428536"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5055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42794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5057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42735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5058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42677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5059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02677" y="36004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1002088" y="36004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Heron Point Seafood</a:t>
            </a:r>
          </a:p>
        </p:txBody>
      </p:sp>
      <p:sp>
        <p:nvSpPr>
          <p:cNvPr id="98" name="TextBox 97"/>
          <p:cNvSpPr txBox="1"/>
          <p:nvPr/>
        </p:nvSpPr>
        <p:spPr>
          <a:xfrm>
            <a:off x="285750" y="41243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2557060" y="39433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4843836" y="39433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4285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5055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42794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5057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42735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50582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2677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50595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002677" y="39433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1002088" y="39433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Phil-Union Frozen Foods, Inc.</a:t>
            </a:r>
          </a:p>
        </p:txBody>
      </p:sp>
      <p:sp>
        <p:nvSpPr>
          <p:cNvPr id="114" name="TextBox 113"/>
          <p:cNvSpPr txBox="1"/>
          <p:nvPr/>
        </p:nvSpPr>
        <p:spPr>
          <a:xfrm>
            <a:off x="285750" y="44672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2557060" y="42862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4843836" y="42862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4285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5055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42794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5057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42735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505825"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42677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5059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002677" y="42862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1002088" y="42862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Aqua Star</a:t>
            </a:r>
          </a:p>
        </p:txBody>
      </p:sp>
      <p:sp>
        <p:nvSpPr>
          <p:cNvPr id="130" name="TextBox 129"/>
          <p:cNvSpPr txBox="1"/>
          <p:nvPr/>
        </p:nvSpPr>
        <p:spPr>
          <a:xfrm>
            <a:off x="285750" y="48101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2557060" y="46291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4843836" y="46291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4285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5055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42794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5057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42735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50582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42677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505950"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002677" y="46291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1002088" y="46291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49911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Chicken of the Sea Frozen Foods</a:t>
            </a:r>
          </a:p>
        </p:txBody>
      </p:sp>
      <p:sp>
        <p:nvSpPr>
          <p:cNvPr id="146" name="TextBox 145"/>
          <p:cNvSpPr txBox="1"/>
          <p:nvPr/>
        </p:nvSpPr>
        <p:spPr>
          <a:xfrm>
            <a:off x="285750" y="51530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7" name="TextBox 146"/>
          <p:cNvSpPr txBox="1"/>
          <p:nvPr/>
        </p:nvSpPr>
        <p:spPr>
          <a:xfrm>
            <a:off x="2557060" y="49720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8" name="TextBox 147"/>
          <p:cNvSpPr txBox="1"/>
          <p:nvPr/>
        </p:nvSpPr>
        <p:spPr>
          <a:xfrm>
            <a:off x="4843836" y="49720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9" name="Oval 148"/>
          <p:cNvSpPr/>
          <p:nvPr/>
        </p:nvSpPr>
        <p:spPr>
          <a:xfrm>
            <a:off x="6428536"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65055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42794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75057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42735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8505825"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42677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9505950"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002677" y="49720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8" name="TextBox 157"/>
          <p:cNvSpPr txBox="1"/>
          <p:nvPr/>
        </p:nvSpPr>
        <p:spPr>
          <a:xfrm>
            <a:off x="11002088" y="49720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85750" y="53340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The Crab Place</a:t>
            </a:r>
          </a:p>
        </p:txBody>
      </p:sp>
      <p:sp>
        <p:nvSpPr>
          <p:cNvPr id="162" name="TextBox 161"/>
          <p:cNvSpPr txBox="1"/>
          <p:nvPr/>
        </p:nvSpPr>
        <p:spPr>
          <a:xfrm>
            <a:off x="285750" y="54959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3" name="TextBox 162"/>
          <p:cNvSpPr txBox="1"/>
          <p:nvPr/>
        </p:nvSpPr>
        <p:spPr>
          <a:xfrm>
            <a:off x="2557060" y="5314950"/>
            <a:ext cx="2248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4" name="TextBox 163"/>
          <p:cNvSpPr txBox="1"/>
          <p:nvPr/>
        </p:nvSpPr>
        <p:spPr>
          <a:xfrm>
            <a:off x="4843836" y="5314950"/>
            <a:ext cx="112309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5" name="Oval 164"/>
          <p:cNvSpPr/>
          <p:nvPr/>
        </p:nvSpPr>
        <p:spPr>
          <a:xfrm>
            <a:off x="64285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5055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42794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5057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42735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8505825"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42677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9505950"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002677" y="53149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4" name="TextBox 173"/>
          <p:cNvSpPr txBox="1"/>
          <p:nvPr/>
        </p:nvSpPr>
        <p:spPr>
          <a:xfrm>
            <a:off x="11002088" y="5314950"/>
            <a:ext cx="99941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6" name="TextBox 185"/>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7" name="TextBox 186"/>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8" name="TextBox 1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89" name="TextBox 188"/>
          <p:cNvSpPr txBox="1"/>
          <p:nvPr/>
        </p:nvSpPr>
        <p:spPr>
          <a:xfrm>
            <a:off x="9069940" y="1666875"/>
            <a:ext cx="386072" cy="179984"/>
          </a:xfrm>
          <a:prstGeom prst="rect">
            <a:avLst/>
          </a:prstGeom>
          <a:noFill/>
        </p:spPr>
        <p:txBody>
          <a:bodyPr wrap="none" lIns="0" rIns="0" tIns="0" bIns="0">
            <a:spAutoFit/>
          </a:bodyPr>
          <a:lstStyle/>
          <a:p>
            <a:r>
              <a:rPr sz="1055" b="0">
                <a:solidFill>
                  <a:srgbClr val="5F6B7A"/>
                </a:solidFill>
                <a:latin typeface="Calibri"/>
              </a:rPr>
              <a:t>Share</a:t>
            </a:r>
          </a:p>
        </p:txBody>
      </p:sp>
      <p:pic>
        <p:nvPicPr>
          <p:cNvPr id="190" name="Picture 189" descr="lock.png"/>
          <p:cNvPicPr>
            <a:picLocks noChangeAspect="1"/>
          </p:cNvPicPr>
          <p:nvPr/>
        </p:nvPicPr>
        <p:blipFill>
          <a:blip r:embed="rId4"/>
          <a:stretch>
            <a:fillRect/>
          </a:stretch>
        </p:blipFill>
        <p:spPr>
          <a:xfrm>
            <a:off x="9403093" y="1657487"/>
            <a:ext cx="123551" cy="179710"/>
          </a:xfrm>
          <a:prstGeom prst="rect">
            <a:avLst/>
          </a:prstGeom>
        </p:spPr>
      </p:pic>
      <p:sp>
        <p:nvSpPr>
          <p:cNvPr id="191" name="TextBox 190"/>
          <p:cNvSpPr txBox="1"/>
          <p:nvPr/>
        </p:nvSpPr>
        <p:spPr>
          <a:xfrm>
            <a:off x="9563889" y="1666875"/>
            <a:ext cx="372112" cy="179984"/>
          </a:xfrm>
          <a:prstGeom prst="rect">
            <a:avLst/>
          </a:prstGeom>
          <a:noFill/>
        </p:spPr>
        <p:txBody>
          <a:bodyPr wrap="none" lIns="0" rIns="0" tIns="0" bIns="0">
            <a:spAutoFit/>
          </a:bodyPr>
          <a:lstStyle/>
          <a:p>
            <a:r>
              <a:rPr sz="1055" b="0">
                <a:solidFill>
                  <a:srgbClr val="5F6B7A"/>
                </a:solidFill>
                <a:latin typeface="Calibri"/>
              </a:rPr>
              <a:t>+ = 3,</a:t>
            </a:r>
          </a:p>
        </p:txBody>
      </p:sp>
      <p:pic>
        <p:nvPicPr>
          <p:cNvPr id="192" name="Picture 191" descr="lock.png"/>
          <p:cNvPicPr>
            <a:picLocks noChangeAspect="1"/>
          </p:cNvPicPr>
          <p:nvPr/>
        </p:nvPicPr>
        <p:blipFill>
          <a:blip r:embed="rId4"/>
          <a:stretch>
            <a:fillRect/>
          </a:stretch>
        </p:blipFill>
        <p:spPr>
          <a:xfrm>
            <a:off x="9057011" y="1818421"/>
            <a:ext cx="123551" cy="179710"/>
          </a:xfrm>
          <a:prstGeom prst="rect">
            <a:avLst/>
          </a:prstGeom>
        </p:spPr>
      </p:pic>
      <p:sp>
        <p:nvSpPr>
          <p:cNvPr id="193" name="TextBox 192"/>
          <p:cNvSpPr txBox="1"/>
          <p:nvPr/>
        </p:nvSpPr>
        <p:spPr>
          <a:xfrm>
            <a:off x="9217807" y="1827809"/>
            <a:ext cx="620768" cy="179984"/>
          </a:xfrm>
          <a:prstGeom prst="rect">
            <a:avLst/>
          </a:prstGeom>
          <a:noFill/>
        </p:spPr>
        <p:txBody>
          <a:bodyPr wrap="none" lIns="0" rIns="0" tIns="0" bIns="0">
            <a:spAutoFit/>
          </a:bodyPr>
          <a:lstStyle/>
          <a:p>
            <a:r>
              <a:rPr sz="1055" b="0">
                <a:solidFill>
                  <a:srgbClr val="5F6B7A"/>
                </a:solidFill>
                <a:latin typeface="Calibri"/>
              </a:rPr>
              <a:t>= 2, else 1</a:t>
            </a:r>
          </a:p>
        </p:txBody>
      </p:sp>
      <p:pic>
        <p:nvPicPr>
          <p:cNvPr id="194" name="Picture 193" descr="lock.png"/>
          <p:cNvPicPr>
            <a:picLocks noChangeAspect="1"/>
          </p:cNvPicPr>
          <p:nvPr/>
        </p:nvPicPr>
        <p:blipFill>
          <a:blip r:embed="rId4"/>
          <a:stretch>
            <a:fillRect/>
          </a:stretch>
        </p:blipFill>
        <p:spPr>
          <a:xfrm>
            <a:off x="3617048"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438033"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3744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3617048"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438033"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3744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617048"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438033"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3744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617048"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438033"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3744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617048"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438033"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3744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617048"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438033"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3744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617048"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438033"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3744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617048"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438033"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3744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617048"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438033"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3744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617048"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438033"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37444" y="5392801"/>
            <a:ext cx="128699" cy="187198"/>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595160" y="1295400"/>
            <a:ext cx="131268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595160" y="1657350"/>
            <a:ext cx="131268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984048" y="1295400"/>
            <a:ext cx="131268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984048" y="1657350"/>
            <a:ext cx="131268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372936"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372936"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7039602"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7039602"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706268"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706268"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372934"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372934"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a:t>
            </a:r>
          </a:p>
        </p:txBody>
      </p:sp>
      <p:sp>
        <p:nvSpPr>
          <p:cNvPr id="27" name="TextBox 26"/>
          <p:cNvSpPr txBox="1"/>
          <p:nvPr/>
        </p:nvSpPr>
        <p:spPr>
          <a:xfrm>
            <a:off x="285750" y="24098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317530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64192"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638675" y="2324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2936" y="22288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7039602" y="22288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Food Service</a:t>
            </a:r>
          </a:p>
        </p:txBody>
      </p:sp>
      <p:sp>
        <p:nvSpPr>
          <p:cNvPr id="33" name="TextBox 32"/>
          <p:cNvSpPr txBox="1"/>
          <p:nvPr/>
        </p:nvSpPr>
        <p:spPr>
          <a:xfrm>
            <a:off x="8668168" y="22288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334834" y="22288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 Inc.</a:t>
            </a:r>
          </a:p>
        </p:txBody>
      </p:sp>
      <p:sp>
        <p:nvSpPr>
          <p:cNvPr id="38" name="TextBox 37"/>
          <p:cNvSpPr txBox="1"/>
          <p:nvPr/>
        </p:nvSpPr>
        <p:spPr>
          <a:xfrm>
            <a:off x="285750" y="27527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3175304"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248025" y="26670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6419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72936" y="25717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7039602" y="25717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Industrial / B2B processing</a:t>
            </a:r>
          </a:p>
        </p:txBody>
      </p:sp>
      <p:sp>
        <p:nvSpPr>
          <p:cNvPr id="44" name="TextBox 43"/>
          <p:cNvSpPr txBox="1"/>
          <p:nvPr/>
        </p:nvSpPr>
        <p:spPr>
          <a:xfrm>
            <a:off x="8668168" y="25717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334834" y="25717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Graham &amp; Rollins, Inc.</a:t>
            </a:r>
          </a:p>
        </p:txBody>
      </p:sp>
      <p:sp>
        <p:nvSpPr>
          <p:cNvPr id="49" name="TextBox 48"/>
          <p:cNvSpPr txBox="1"/>
          <p:nvPr/>
        </p:nvSpPr>
        <p:spPr>
          <a:xfrm>
            <a:off x="285750" y="30956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175304"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248025" y="30099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6419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638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72936" y="29146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7039602" y="29146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Food Service, Industrial / B2B processing</a:t>
            </a:r>
          </a:p>
        </p:txBody>
      </p:sp>
      <p:sp>
        <p:nvSpPr>
          <p:cNvPr id="56" name="TextBox 55"/>
          <p:cNvSpPr txBox="1"/>
          <p:nvPr/>
        </p:nvSpPr>
        <p:spPr>
          <a:xfrm>
            <a:off x="8668168" y="29146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334834" y="29146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Supreme Crab and Seafood, Inc.</a:t>
            </a:r>
          </a:p>
        </p:txBody>
      </p:sp>
      <p:sp>
        <p:nvSpPr>
          <p:cNvPr id="61" name="TextBox 60"/>
          <p:cNvSpPr txBox="1"/>
          <p:nvPr/>
        </p:nvSpPr>
        <p:spPr>
          <a:xfrm>
            <a:off x="285750" y="34385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3175304"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248025" y="33528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64192"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372936" y="32575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7039602" y="32575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Food Service</a:t>
            </a:r>
          </a:p>
        </p:txBody>
      </p:sp>
      <p:sp>
        <p:nvSpPr>
          <p:cNvPr id="67" name="TextBox 66"/>
          <p:cNvSpPr txBox="1"/>
          <p:nvPr/>
        </p:nvSpPr>
        <p:spPr>
          <a:xfrm>
            <a:off x="8668168" y="32575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334834" y="32575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North Coast Seafoods</a:t>
            </a:r>
          </a:p>
        </p:txBody>
      </p:sp>
      <p:sp>
        <p:nvSpPr>
          <p:cNvPr id="72" name="TextBox 71"/>
          <p:cNvSpPr txBox="1"/>
          <p:nvPr/>
        </p:nvSpPr>
        <p:spPr>
          <a:xfrm>
            <a:off x="285750" y="37814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3175304"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56419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6386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72936" y="36004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7039602" y="36004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Industrial / B2B processing</a:t>
            </a:r>
          </a:p>
        </p:txBody>
      </p:sp>
      <p:sp>
        <p:nvSpPr>
          <p:cNvPr id="78" name="TextBox 77"/>
          <p:cNvSpPr txBox="1"/>
          <p:nvPr/>
        </p:nvSpPr>
        <p:spPr>
          <a:xfrm>
            <a:off x="8668168" y="36004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334834" y="36004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Heron Point Seafood</a:t>
            </a:r>
          </a:p>
        </p:txBody>
      </p:sp>
      <p:sp>
        <p:nvSpPr>
          <p:cNvPr id="83" name="TextBox 82"/>
          <p:cNvSpPr txBox="1"/>
          <p:nvPr/>
        </p:nvSpPr>
        <p:spPr>
          <a:xfrm>
            <a:off x="285750" y="41243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317530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3248025" y="40386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564192"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372936" y="39433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7039602" y="39433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Food Service, Industrial / B2B processing</a:t>
            </a:r>
          </a:p>
        </p:txBody>
      </p:sp>
      <p:sp>
        <p:nvSpPr>
          <p:cNvPr id="89" name="TextBox 88"/>
          <p:cNvSpPr txBox="1"/>
          <p:nvPr/>
        </p:nvSpPr>
        <p:spPr>
          <a:xfrm>
            <a:off x="8668168" y="39433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334834" y="39433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Phil-Union Frozen Foods, Inc.</a:t>
            </a:r>
          </a:p>
        </p:txBody>
      </p:sp>
      <p:sp>
        <p:nvSpPr>
          <p:cNvPr id="94" name="TextBox 93"/>
          <p:cNvSpPr txBox="1"/>
          <p:nvPr/>
        </p:nvSpPr>
        <p:spPr>
          <a:xfrm>
            <a:off x="285750" y="44672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317530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248025" y="43815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56419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638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372936" y="42862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7039602" y="42862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Food Service</a:t>
            </a:r>
          </a:p>
        </p:txBody>
      </p:sp>
      <p:sp>
        <p:nvSpPr>
          <p:cNvPr id="101" name="TextBox 100"/>
          <p:cNvSpPr txBox="1"/>
          <p:nvPr/>
        </p:nvSpPr>
        <p:spPr>
          <a:xfrm>
            <a:off x="8668168" y="42862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334834" y="42862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Aqua Star</a:t>
            </a:r>
          </a:p>
        </p:txBody>
      </p:sp>
      <p:sp>
        <p:nvSpPr>
          <p:cNvPr id="106" name="TextBox 105"/>
          <p:cNvSpPr txBox="1"/>
          <p:nvPr/>
        </p:nvSpPr>
        <p:spPr>
          <a:xfrm>
            <a:off x="285750" y="48101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317530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248025" y="47244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564192"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372936" y="46291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7039602" y="46291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Industrial / B2B processing</a:t>
            </a:r>
          </a:p>
        </p:txBody>
      </p:sp>
      <p:sp>
        <p:nvSpPr>
          <p:cNvPr id="112" name="TextBox 111"/>
          <p:cNvSpPr txBox="1"/>
          <p:nvPr/>
        </p:nvSpPr>
        <p:spPr>
          <a:xfrm>
            <a:off x="8668168" y="46291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334834" y="46291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Chicken of the Sea Frozen Foods</a:t>
            </a:r>
          </a:p>
        </p:txBody>
      </p:sp>
      <p:sp>
        <p:nvSpPr>
          <p:cNvPr id="117" name="TextBox 116"/>
          <p:cNvSpPr txBox="1"/>
          <p:nvPr/>
        </p:nvSpPr>
        <p:spPr>
          <a:xfrm>
            <a:off x="285750" y="51530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3175304"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56419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638675"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372936" y="49720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7039602" y="49720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Food Service, Industrial / B2B processing</a:t>
            </a:r>
          </a:p>
        </p:txBody>
      </p:sp>
      <p:sp>
        <p:nvSpPr>
          <p:cNvPr id="123" name="TextBox 122"/>
          <p:cNvSpPr txBox="1"/>
          <p:nvPr/>
        </p:nvSpPr>
        <p:spPr>
          <a:xfrm>
            <a:off x="8668168" y="49720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334834" y="49720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The Crab Place</a:t>
            </a:r>
          </a:p>
        </p:txBody>
      </p:sp>
      <p:sp>
        <p:nvSpPr>
          <p:cNvPr id="128" name="TextBox 127"/>
          <p:cNvSpPr txBox="1"/>
          <p:nvPr/>
        </p:nvSpPr>
        <p:spPr>
          <a:xfrm>
            <a:off x="285750" y="54959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317530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3248025" y="54102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564192"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372936" y="53149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7039602" y="53149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Food Service</a:t>
            </a:r>
          </a:p>
        </p:txBody>
      </p:sp>
      <p:sp>
        <p:nvSpPr>
          <p:cNvPr id="134" name="TextBox 133"/>
          <p:cNvSpPr txBox="1"/>
          <p:nvPr/>
        </p:nvSpPr>
        <p:spPr>
          <a:xfrm>
            <a:off x="8668168" y="53149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334834" y="53149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437151"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03817"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437151"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03817"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437151"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03817"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437151"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03817"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437151"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03817"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437151"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03817"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437151"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03817"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437151"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03817"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437151"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03817"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437151"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103817" y="5392801"/>
            <a:ext cx="128699" cy="187198"/>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595160"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595160"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4261826"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4261826"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928491" y="1295400"/>
            <a:ext cx="131268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928491" y="1657350"/>
            <a:ext cx="131268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317380"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317380"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984046" y="1295400"/>
            <a:ext cx="159046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984046" y="1657350"/>
            <a:ext cx="159046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650712" y="1295400"/>
            <a:ext cx="131268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650712" y="1657350"/>
            <a:ext cx="131268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a:t>
            </a:r>
          </a:p>
        </p:txBody>
      </p:sp>
      <p:sp>
        <p:nvSpPr>
          <p:cNvPr id="27" name="TextBox 26"/>
          <p:cNvSpPr txBox="1"/>
          <p:nvPr/>
        </p:nvSpPr>
        <p:spPr>
          <a:xfrm>
            <a:off x="285750" y="24098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595160" y="22288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4223726" y="22288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5086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79280" y="22288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945946" y="22288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3085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Phillips Foods, Inc.</a:t>
            </a:r>
          </a:p>
        </p:txBody>
      </p:sp>
      <p:sp>
        <p:nvSpPr>
          <p:cNvPr id="37" name="TextBox 36"/>
          <p:cNvSpPr txBox="1"/>
          <p:nvPr/>
        </p:nvSpPr>
        <p:spPr>
          <a:xfrm>
            <a:off x="285750" y="27527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595160" y="25717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4223726" y="25717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50863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7380" y="25717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945946" y="25717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3085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Graham &amp; Rollins, Inc.</a:t>
            </a:r>
          </a:p>
        </p:txBody>
      </p:sp>
      <p:sp>
        <p:nvSpPr>
          <p:cNvPr id="47" name="TextBox 46"/>
          <p:cNvSpPr txBox="1"/>
          <p:nvPr/>
        </p:nvSpPr>
        <p:spPr>
          <a:xfrm>
            <a:off x="285750" y="30956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595160" y="29146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4223726" y="29146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508636"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9280" y="29146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945946" y="29146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30856"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Supreme Crab and Seafood, Inc.</a:t>
            </a:r>
          </a:p>
        </p:txBody>
      </p:sp>
      <p:sp>
        <p:nvSpPr>
          <p:cNvPr id="57" name="TextBox 56"/>
          <p:cNvSpPr txBox="1"/>
          <p:nvPr/>
        </p:nvSpPr>
        <p:spPr>
          <a:xfrm>
            <a:off x="285750" y="34385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595160" y="32575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4223726" y="32575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508636"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7380" y="32575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945946" y="32575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30856"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North Coast Seafoods</a:t>
            </a:r>
          </a:p>
        </p:txBody>
      </p:sp>
      <p:sp>
        <p:nvSpPr>
          <p:cNvPr id="67" name="TextBox 66"/>
          <p:cNvSpPr txBox="1"/>
          <p:nvPr/>
        </p:nvSpPr>
        <p:spPr>
          <a:xfrm>
            <a:off x="285750" y="37814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595160" y="36004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4223726" y="36004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5086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79280" y="36004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945946" y="36004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30856"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3061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Heron Point Seafood</a:t>
            </a:r>
          </a:p>
        </p:txBody>
      </p:sp>
      <p:sp>
        <p:nvSpPr>
          <p:cNvPr id="78" name="TextBox 77"/>
          <p:cNvSpPr txBox="1"/>
          <p:nvPr/>
        </p:nvSpPr>
        <p:spPr>
          <a:xfrm>
            <a:off x="285750" y="41243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595160" y="39433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4223726" y="39433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508636"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17380" y="39433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945946" y="39433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3085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061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Phil-Union Frozen Foods, Inc.</a:t>
            </a:r>
          </a:p>
        </p:txBody>
      </p:sp>
      <p:sp>
        <p:nvSpPr>
          <p:cNvPr id="89" name="TextBox 88"/>
          <p:cNvSpPr txBox="1"/>
          <p:nvPr/>
        </p:nvSpPr>
        <p:spPr>
          <a:xfrm>
            <a:off x="285750" y="44672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595160" y="42862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4223726" y="42862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508636"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279280" y="42862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945946" y="42862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3085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3061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Aqua Star</a:t>
            </a:r>
          </a:p>
        </p:txBody>
      </p:sp>
      <p:sp>
        <p:nvSpPr>
          <p:cNvPr id="100" name="TextBox 99"/>
          <p:cNvSpPr txBox="1"/>
          <p:nvPr/>
        </p:nvSpPr>
        <p:spPr>
          <a:xfrm>
            <a:off x="285750" y="48101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595160" y="46291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4223726" y="46291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508636"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317380" y="46291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945946" y="46291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3085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3061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Chicken of the Sea Frozen Foods</a:t>
            </a:r>
          </a:p>
        </p:txBody>
      </p:sp>
      <p:sp>
        <p:nvSpPr>
          <p:cNvPr id="111" name="TextBox 110"/>
          <p:cNvSpPr txBox="1"/>
          <p:nvPr/>
        </p:nvSpPr>
        <p:spPr>
          <a:xfrm>
            <a:off x="285750" y="51530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595160" y="49720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4223726" y="49720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50863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279280" y="49720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8945946" y="49720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30856"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3061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2252260" cy="171450"/>
          </a:xfrm>
          <a:prstGeom prst="rect">
            <a:avLst/>
          </a:prstGeom>
          <a:noFill/>
        </p:spPr>
        <p:txBody>
          <a:bodyPr wrap="square" lIns="28575" rIns="28575" tIns="9525" bIns="9525" anchor="t">
            <a:spAutoFit/>
          </a:bodyPr>
          <a:lstStyle/>
          <a:p>
            <a:pPr algn="l"/>
            <a:r>
              <a:rPr sz="1100" b="1">
                <a:solidFill>
                  <a:srgbClr val="1F2933"/>
                </a:solidFill>
                <a:latin typeface="Calibri"/>
              </a:rPr>
              <a:t>The Crab Place</a:t>
            </a:r>
          </a:p>
        </p:txBody>
      </p:sp>
      <p:sp>
        <p:nvSpPr>
          <p:cNvPr id="122" name="TextBox 121"/>
          <p:cNvSpPr txBox="1"/>
          <p:nvPr/>
        </p:nvSpPr>
        <p:spPr>
          <a:xfrm>
            <a:off x="285750" y="5495925"/>
            <a:ext cx="225226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595160" y="53149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4223726" y="53149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508636"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317380" y="5314950"/>
            <a:ext cx="159046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945946" y="5314950"/>
            <a:ext cx="166666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3085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3061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4992709"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8048263"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714929"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992709"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714929"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992709"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8048263"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714929"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992709"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714929"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992709"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8048263"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714929"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992709"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714929"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4992709"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8048263"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714929"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992709"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714929"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4992709"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8048263"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714929"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4992709"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714929" y="5392801"/>
            <a:ext cx="128699" cy="187198"/>
          </a:xfrm>
          <a:prstGeom prst="rect">
            <a:avLst/>
          </a:prstGeom>
        </p:spPr>
      </p:pic>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Phillips Foods, Inc.</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Phillips Foods</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Graham &amp; Rollins, Inc.</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Supreme Crab and Seafood, Inc.</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Heron Point Seafood</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North Coast Seafoods</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Aqua Star</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The Crab Place</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Phil-Union Frozen Foods, Inc.</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Chicken of the Sea Frozen Foods</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2" name="TextBox 161"/>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5" name="TextBox 164"/>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Phillips Foods, Inc., Phillips Foods, Graham &amp; Rollins, Inc., Supreme Crab and Seafood, Inc.</a:t>
            </a:r>
          </a:p>
        </p:txBody>
      </p:sp>
      <p:sp>
        <p:nvSpPr>
          <p:cNvPr id="166" name="TextBox 165"/>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9" name="TextBox 168"/>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Heron Point Seafood, North Coast Seafoods</a:t>
            </a:r>
          </a:p>
        </p:txBody>
      </p:sp>
      <p:sp>
        <p:nvSpPr>
          <p:cNvPr id="170" name="TextBox 169"/>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3" name="TextBox 172"/>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Aqua Star, The Crab Place, Phil-Union Frozen Foods, Inc., Chicken of the Sea Frozen Foods</a:t>
            </a:r>
          </a:p>
        </p:txBody>
      </p:sp>
      <p:sp>
        <p:nvSpPr>
          <p:cNvPr id="174" name="TextBox 173"/>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5" name="TextBox 1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6" name="Picture 175" descr="lock.png"/>
          <p:cNvPicPr>
            <a:picLocks noChangeAspect="1"/>
          </p:cNvPicPr>
          <p:nvPr/>
        </p:nvPicPr>
        <p:blipFill>
          <a:blip r:embed="rId4"/>
          <a:stretch>
            <a:fillRect/>
          </a:stretch>
        </p:blipFill>
        <p:spPr>
          <a:xfrm>
            <a:off x="1174665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8950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8950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2482959" y="1212159"/>
            <a:ext cx="92663" cy="134782"/>
          </a:xfrm>
          <a:prstGeom prst="rect">
            <a:avLst/>
          </a:prstGeom>
        </p:spPr>
      </p:pic>
      <p:sp>
        <p:nvSpPr>
          <p:cNvPr id="188" name="TextBox 187"/>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4140309" y="1212159"/>
            <a:ext cx="92663" cy="134782"/>
          </a:xfrm>
          <a:prstGeom prst="rect">
            <a:avLst/>
          </a:prstGeom>
        </p:spPr>
      </p:pic>
      <p:sp>
        <p:nvSpPr>
          <p:cNvPr id="190" name="TextBox 189"/>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5797659" y="1212159"/>
            <a:ext cx="92663" cy="134782"/>
          </a:xfrm>
          <a:prstGeom prst="rect">
            <a:avLst/>
          </a:prstGeom>
        </p:spPr>
      </p:pic>
      <p:sp>
        <p:nvSpPr>
          <p:cNvPr id="192" name="TextBox 191"/>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7455009" y="1212159"/>
            <a:ext cx="92663" cy="134782"/>
          </a:xfrm>
          <a:prstGeom prst="rect">
            <a:avLst/>
          </a:prstGeom>
        </p:spPr>
      </p:pic>
      <p:sp>
        <p:nvSpPr>
          <p:cNvPr id="194" name="TextBox 193"/>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Phillips Foods</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Phillips Foods, Inc.</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Mud Crab</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Graham &amp; Rollins, Inc.</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Supreme Crab and Seafood, Inc.</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King Crab</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North Coast Seafoods</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Heron Point Seafood</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Mud Crab</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Phil-Union Frozen Foods, Inc.</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Aqua Star</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King Crab</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Chicken of the Sea Frozen Foods</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The Crab Place</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Mud Crab</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Phillips Foods</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Phillips Foods, Inc.</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Graham &amp; Rollins, Inc.</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Supreme Crab and Seafood, Inc.</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North Coast Seafoods</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Heron Point Seafood</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Phil-Union Frozen Foods, Inc.</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Aqua Star</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Chicken of the Sea Frozen Foods</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The Crab Place</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Crab Meat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Phillips Foods · Phillips Foods, Inc. · Graham &amp; Rollins, Inc. · Supreme Crab and Seafood, Inc.</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North Coast Seafoods · Heron Point Seafood</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Phil-Union Frozen Foods, Inc. · Aqua Star · Chicken of the Sea Frozen Foods · The Crab Place</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14,500</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160488"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989162"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9817838"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10646512"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160488"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989162"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9817838"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10646512"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160487"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989163"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9817837"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10646513"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160487"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989163"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9817837"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0646513"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1475187"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160488"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989163"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9817838"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8160488"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8989162"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9817838"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10646512" y="3478276"/>
            <a:ext cx="128699" cy="187198"/>
          </a:xfrm>
          <a:prstGeom prst="rect">
            <a:avLst/>
          </a:prstGeom>
        </p:spPr>
      </p:pic>
      <p:sp>
        <p:nvSpPr>
          <p:cNvPr id="269" name="TextBox 268"/>
          <p:cNvSpPr txBox="1"/>
          <p:nvPr/>
        </p:nvSpPr>
        <p:spPr>
          <a:xfrm>
            <a:off x="266700" y="1344930"/>
            <a:ext cx="2158603" cy="186689"/>
          </a:xfrm>
          <a:prstGeom prst="rect">
            <a:avLst/>
          </a:prstGeom>
          <a:noFill/>
        </p:spPr>
        <p:txBody>
          <a:bodyPr wrap="none" lIns="0" rIns="0" tIns="0" bIns="0">
            <a:spAutoFit/>
          </a:bodyPr>
          <a:lstStyle/>
          <a:p>
            <a:r>
              <a:rPr sz="1100" b="0">
                <a:solidFill>
                  <a:srgbClr val="6B7280"/>
                </a:solidFill>
                <a:latin typeface="Calibri"/>
              </a:rPr>
              <a:t>Market 14,500 US$ Mn · Tier 1 share</a:t>
            </a:r>
          </a:p>
        </p:txBody>
      </p:sp>
      <p:pic>
        <p:nvPicPr>
          <p:cNvPr id="270" name="Picture 269" descr="lock.png"/>
          <p:cNvPicPr>
            <a:picLocks noChangeAspect="1"/>
          </p:cNvPicPr>
          <p:nvPr/>
        </p:nvPicPr>
        <p:blipFill>
          <a:blip r:embed="rId4"/>
          <a:stretch>
            <a:fillRect/>
          </a:stretch>
        </p:blipFill>
        <p:spPr>
          <a:xfrm>
            <a:off x="2373354" y="1335151"/>
            <a:ext cx="128699" cy="187198"/>
          </a:xfrm>
          <a:prstGeom prst="rect">
            <a:avLst/>
          </a:prstGeom>
        </p:spPr>
      </p:pic>
      <p:sp>
        <p:nvSpPr>
          <p:cNvPr id="271" name="TextBox 270"/>
          <p:cNvSpPr txBox="1"/>
          <p:nvPr/>
        </p:nvSpPr>
        <p:spPr>
          <a:xfrm>
            <a:off x="2540850"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2" name="Picture 271" descr="lock.png"/>
          <p:cNvPicPr>
            <a:picLocks noChangeAspect="1"/>
          </p:cNvPicPr>
          <p:nvPr/>
        </p:nvPicPr>
        <p:blipFill>
          <a:blip r:embed="rId4"/>
          <a:stretch>
            <a:fillRect/>
          </a:stretch>
        </p:blipFill>
        <p:spPr>
          <a:xfrm>
            <a:off x="2691705" y="1335151"/>
            <a:ext cx="128699" cy="187198"/>
          </a:xfrm>
          <a:prstGeom prst="rect">
            <a:avLst/>
          </a:prstGeom>
        </p:spPr>
      </p:pic>
      <p:sp>
        <p:nvSpPr>
          <p:cNvPr id="273" name="TextBox 272"/>
          <p:cNvSpPr txBox="1"/>
          <p:nvPr/>
        </p:nvSpPr>
        <p:spPr>
          <a:xfrm>
            <a:off x="2859201"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4" name="Picture 273" descr="lock.png"/>
          <p:cNvPicPr>
            <a:picLocks noChangeAspect="1"/>
          </p:cNvPicPr>
          <p:nvPr/>
        </p:nvPicPr>
        <p:blipFill>
          <a:blip r:embed="rId4"/>
          <a:stretch>
            <a:fillRect/>
          </a:stretch>
        </p:blipFill>
        <p:spPr>
          <a:xfrm>
            <a:off x="1377182" y="1839976"/>
            <a:ext cx="128699" cy="187198"/>
          </a:xfrm>
          <a:prstGeom prst="rect">
            <a:avLst/>
          </a:prstGeom>
        </p:spPr>
      </p:pic>
      <p:sp>
        <p:nvSpPr>
          <p:cNvPr id="275" name="TextBox 274"/>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6" name="Picture 275" descr="lock.png"/>
          <p:cNvPicPr>
            <a:picLocks noChangeAspect="1"/>
          </p:cNvPicPr>
          <p:nvPr/>
        </p:nvPicPr>
        <p:blipFill>
          <a:blip r:embed="rId4"/>
          <a:stretch>
            <a:fillRect/>
          </a:stretch>
        </p:blipFill>
        <p:spPr>
          <a:xfrm>
            <a:off x="2922273" y="1839976"/>
            <a:ext cx="128699" cy="187198"/>
          </a:xfrm>
          <a:prstGeom prst="rect">
            <a:avLst/>
          </a:prstGeom>
        </p:spPr>
      </p:pic>
      <p:sp>
        <p:nvSpPr>
          <p:cNvPr id="277" name="TextBox 276"/>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8" name="Picture 277" descr="lock.png"/>
          <p:cNvPicPr>
            <a:picLocks noChangeAspect="1"/>
          </p:cNvPicPr>
          <p:nvPr/>
        </p:nvPicPr>
        <p:blipFill>
          <a:blip r:embed="rId4"/>
          <a:stretch>
            <a:fillRect/>
          </a:stretch>
        </p:blipFill>
        <p:spPr>
          <a:xfrm>
            <a:off x="1377182" y="2697226"/>
            <a:ext cx="128699" cy="187198"/>
          </a:xfrm>
          <a:prstGeom prst="rect">
            <a:avLst/>
          </a:prstGeom>
        </p:spPr>
      </p:pic>
      <p:sp>
        <p:nvSpPr>
          <p:cNvPr id="279" name="TextBox 278"/>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0" name="Picture 279" descr="lock.png"/>
          <p:cNvPicPr>
            <a:picLocks noChangeAspect="1"/>
          </p:cNvPicPr>
          <p:nvPr/>
        </p:nvPicPr>
        <p:blipFill>
          <a:blip r:embed="rId4"/>
          <a:stretch>
            <a:fillRect/>
          </a:stretch>
        </p:blipFill>
        <p:spPr>
          <a:xfrm>
            <a:off x="2922273" y="2697226"/>
            <a:ext cx="128699" cy="187198"/>
          </a:xfrm>
          <a:prstGeom prst="rect">
            <a:avLst/>
          </a:prstGeom>
        </p:spPr>
      </p:pic>
      <p:sp>
        <p:nvSpPr>
          <p:cNvPr id="281" name="TextBox 280"/>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2" name="Picture 281" descr="lock.png"/>
          <p:cNvPicPr>
            <a:picLocks noChangeAspect="1"/>
          </p:cNvPicPr>
          <p:nvPr/>
        </p:nvPicPr>
        <p:blipFill>
          <a:blip r:embed="rId4"/>
          <a:stretch>
            <a:fillRect/>
          </a:stretch>
        </p:blipFill>
        <p:spPr>
          <a:xfrm>
            <a:off x="1377182" y="3554476"/>
            <a:ext cx="128699" cy="187198"/>
          </a:xfrm>
          <a:prstGeom prst="rect">
            <a:avLst/>
          </a:prstGeom>
        </p:spPr>
      </p:pic>
      <p:sp>
        <p:nvSpPr>
          <p:cNvPr id="283" name="TextBox 282"/>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4" name="Picture 283" descr="lock.png"/>
          <p:cNvPicPr>
            <a:picLocks noChangeAspect="1"/>
          </p:cNvPicPr>
          <p:nvPr/>
        </p:nvPicPr>
        <p:blipFill>
          <a:blip r:embed="rId4"/>
          <a:stretch>
            <a:fillRect/>
          </a:stretch>
        </p:blipFill>
        <p:spPr>
          <a:xfrm>
            <a:off x="2922273" y="3554476"/>
            <a:ext cx="128699" cy="187198"/>
          </a:xfrm>
          <a:prstGeom prst="rect">
            <a:avLst/>
          </a:prstGeom>
        </p:spPr>
      </p:pic>
      <p:sp>
        <p:nvSpPr>
          <p:cNvPr id="285" name="TextBox 284"/>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6" name="Picture 285" descr="lock.png"/>
          <p:cNvPicPr>
            <a:picLocks noChangeAspect="1"/>
          </p:cNvPicPr>
          <p:nvPr/>
        </p:nvPicPr>
        <p:blipFill>
          <a:blip r:embed="rId4"/>
          <a:stretch>
            <a:fillRect/>
          </a:stretch>
        </p:blipFill>
        <p:spPr>
          <a:xfrm>
            <a:off x="1377182" y="4411726"/>
            <a:ext cx="128699" cy="187198"/>
          </a:xfrm>
          <a:prstGeom prst="rect">
            <a:avLst/>
          </a:prstGeom>
        </p:spPr>
      </p:pic>
      <p:sp>
        <p:nvSpPr>
          <p:cNvPr id="287" name="TextBox 286"/>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8" name="TextBox 287"/>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89" name="Picture 288" descr="lock.png"/>
          <p:cNvPicPr>
            <a:picLocks noChangeAspect="1"/>
          </p:cNvPicPr>
          <p:nvPr/>
        </p:nvPicPr>
        <p:blipFill>
          <a:blip r:embed="rId4"/>
          <a:stretch>
            <a:fillRect/>
          </a:stretch>
        </p:blipFill>
        <p:spPr>
          <a:xfrm>
            <a:off x="1682883" y="5792851"/>
            <a:ext cx="128699" cy="187198"/>
          </a:xfrm>
          <a:prstGeom prst="rect">
            <a:avLst/>
          </a:prstGeom>
        </p:spPr>
      </p:pic>
      <p:sp>
        <p:nvSpPr>
          <p:cNvPr id="290" name="TextBox 289"/>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1" name="Picture 290" descr="lock.png"/>
          <p:cNvPicPr>
            <a:picLocks noChangeAspect="1"/>
          </p:cNvPicPr>
          <p:nvPr/>
        </p:nvPicPr>
        <p:blipFill>
          <a:blip r:embed="rId4"/>
          <a:stretch>
            <a:fillRect/>
          </a:stretch>
        </p:blipFill>
        <p:spPr>
          <a:xfrm>
            <a:off x="1225147" y="6097651"/>
            <a:ext cx="128699" cy="187198"/>
          </a:xfrm>
          <a:prstGeom prst="rect">
            <a:avLst/>
          </a:prstGeom>
        </p:spPr>
      </p:pic>
      <p:sp>
        <p:nvSpPr>
          <p:cNvPr id="292" name="TextBox 291"/>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3" name="Picture 292" descr="lock.png"/>
          <p:cNvPicPr>
            <a:picLocks noChangeAspect="1"/>
          </p:cNvPicPr>
          <p:nvPr/>
        </p:nvPicPr>
        <p:blipFill>
          <a:blip r:embed="rId4"/>
          <a:stretch>
            <a:fillRect/>
          </a:stretch>
        </p:blipFill>
        <p:spPr>
          <a:xfrm>
            <a:off x="2408983" y="6097651"/>
            <a:ext cx="128699" cy="187198"/>
          </a:xfrm>
          <a:prstGeom prst="rect">
            <a:avLst/>
          </a:prstGeom>
        </p:spPr>
      </p:pic>
      <p:sp>
        <p:nvSpPr>
          <p:cNvPr id="294" name="TextBox 293"/>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5" name="Picture 294" descr="lock.png"/>
          <p:cNvPicPr>
            <a:picLocks noChangeAspect="1"/>
          </p:cNvPicPr>
          <p:nvPr/>
        </p:nvPicPr>
        <p:blipFill>
          <a:blip r:embed="rId4"/>
          <a:stretch>
            <a:fillRect/>
          </a:stretch>
        </p:blipFill>
        <p:spPr>
          <a:xfrm>
            <a:off x="3922150" y="6097651"/>
            <a:ext cx="128699" cy="187198"/>
          </a:xfrm>
          <a:prstGeom prst="rect">
            <a:avLst/>
          </a:prstGeom>
        </p:spPr>
      </p:pic>
      <p:sp>
        <p:nvSpPr>
          <p:cNvPr id="296" name="TextBox 295"/>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7" name="TextBox 296"/>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8" name="Picture 297" descr="lock.png"/>
          <p:cNvPicPr>
            <a:picLocks noChangeAspect="1"/>
          </p:cNvPicPr>
          <p:nvPr/>
        </p:nvPicPr>
        <p:blipFill>
          <a:blip r:embed="rId4"/>
          <a:stretch>
            <a:fillRect/>
          </a:stretch>
        </p:blipFill>
        <p:spPr>
          <a:xfrm>
            <a:off x="6791838" y="5467095"/>
            <a:ext cx="128699" cy="187198"/>
          </a:xfrm>
          <a:prstGeom prst="rect">
            <a:avLst/>
          </a:prstGeom>
        </p:spPr>
      </p:pic>
      <p:sp>
        <p:nvSpPr>
          <p:cNvPr id="299" name="TextBox 298"/>
          <p:cNvSpPr txBox="1"/>
          <p:nvPr/>
        </p:nvSpPr>
        <p:spPr>
          <a:xfrm>
            <a:off x="6959334" y="5476875"/>
            <a:ext cx="4186708"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 14,500 US$ Mn base; CR4 of</a:t>
            </a:r>
          </a:p>
        </p:txBody>
      </p:sp>
      <p:pic>
        <p:nvPicPr>
          <p:cNvPr id="300" name="Picture 299" descr="lock.png"/>
          <p:cNvPicPr>
            <a:picLocks noChangeAspect="1"/>
          </p:cNvPicPr>
          <p:nvPr/>
        </p:nvPicPr>
        <p:blipFill>
          <a:blip r:embed="rId4"/>
          <a:stretch>
            <a:fillRect/>
          </a:stretch>
        </p:blipFill>
        <p:spPr>
          <a:xfrm>
            <a:off x="11094094" y="5467095"/>
            <a:ext cx="128699" cy="187198"/>
          </a:xfrm>
          <a:prstGeom prst="rect">
            <a:avLst/>
          </a:prstGeom>
        </p:spPr>
      </p:pic>
      <p:sp>
        <p:nvSpPr>
          <p:cNvPr id="301" name="TextBox 300"/>
          <p:cNvSpPr txBox="1"/>
          <p:nvPr/>
        </p:nvSpPr>
        <p:spPr>
          <a:xfrm>
            <a:off x="11261590" y="5476875"/>
            <a:ext cx="530770" cy="186689"/>
          </a:xfrm>
          <a:prstGeom prst="rect">
            <a:avLst/>
          </a:prstGeom>
          <a:noFill/>
        </p:spPr>
        <p:txBody>
          <a:bodyPr wrap="none" lIns="0" rIns="0" tIns="0" bIns="0">
            <a:spAutoFit/>
          </a:bodyPr>
          <a:lstStyle/>
          <a:p>
            <a:r>
              <a:rPr sz="1100" b="0">
                <a:solidFill>
                  <a:srgbClr val="14213D"/>
                </a:solidFill>
                <a:latin typeface="Calibri"/>
              </a:rPr>
              <a:t>and HHI</a:t>
            </a:r>
          </a:p>
        </p:txBody>
      </p:sp>
      <p:sp>
        <p:nvSpPr>
          <p:cNvPr id="302" name="TextBox 301"/>
          <p:cNvSpPr txBox="1"/>
          <p:nvPr/>
        </p:nvSpPr>
        <p:spPr>
          <a:xfrm>
            <a:off x="6372225" y="5644515"/>
            <a:ext cx="192434" cy="186689"/>
          </a:xfrm>
          <a:prstGeom prst="rect">
            <a:avLst/>
          </a:prstGeom>
          <a:noFill/>
        </p:spPr>
        <p:txBody>
          <a:bodyPr wrap="none" lIns="0" rIns="0" tIns="0" bIns="0">
            <a:spAutoFit/>
          </a:bodyPr>
          <a:lstStyle/>
          <a:p>
            <a:r>
              <a:rPr sz="1100" b="0">
                <a:solidFill>
                  <a:srgbClr val="14213D"/>
                </a:solidFill>
                <a:latin typeface="Calibri"/>
              </a:rPr>
              <a:t>of</a:t>
            </a:r>
          </a:p>
        </p:txBody>
      </p:sp>
      <p:pic>
        <p:nvPicPr>
          <p:cNvPr id="303" name="Picture 302" descr="lock.png"/>
          <p:cNvPicPr>
            <a:picLocks noChangeAspect="1"/>
          </p:cNvPicPr>
          <p:nvPr/>
        </p:nvPicPr>
        <p:blipFill>
          <a:blip r:embed="rId4"/>
          <a:stretch>
            <a:fillRect/>
          </a:stretch>
        </p:blipFill>
        <p:spPr>
          <a:xfrm>
            <a:off x="6512711" y="5634735"/>
            <a:ext cx="128699" cy="187198"/>
          </a:xfrm>
          <a:prstGeom prst="rect">
            <a:avLst/>
          </a:prstGeom>
        </p:spPr>
      </p:pic>
      <p:sp>
        <p:nvSpPr>
          <p:cNvPr id="304" name="TextBox 303"/>
          <p:cNvSpPr txBox="1"/>
          <p:nvPr/>
        </p:nvSpPr>
        <p:spPr>
          <a:xfrm>
            <a:off x="6680207"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5" name="TextBox 304"/>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6" name="Picture 305" descr="lock.png"/>
          <p:cNvPicPr>
            <a:picLocks noChangeAspect="1"/>
          </p:cNvPicPr>
          <p:nvPr/>
        </p:nvPicPr>
        <p:blipFill>
          <a:blip r:embed="rId4"/>
          <a:stretch>
            <a:fillRect/>
          </a:stretch>
        </p:blipFill>
        <p:spPr>
          <a:xfrm>
            <a:off x="7651320" y="5848095"/>
            <a:ext cx="128699" cy="187198"/>
          </a:xfrm>
          <a:prstGeom prst="rect">
            <a:avLst/>
          </a:prstGeom>
        </p:spPr>
      </p:pic>
      <p:sp>
        <p:nvSpPr>
          <p:cNvPr id="307" name="TextBox 306"/>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08" name="Picture 307" descr="lock.png"/>
          <p:cNvPicPr>
            <a:picLocks noChangeAspect="1"/>
          </p:cNvPicPr>
          <p:nvPr/>
        </p:nvPicPr>
        <p:blipFill>
          <a:blip r:embed="rId4"/>
          <a:stretch>
            <a:fillRect/>
          </a:stretch>
        </p:blipFill>
        <p:spPr>
          <a:xfrm>
            <a:off x="8749737" y="5848095"/>
            <a:ext cx="128699" cy="187198"/>
          </a:xfrm>
          <a:prstGeom prst="rect">
            <a:avLst/>
          </a:prstGeom>
        </p:spPr>
      </p:pic>
      <p:sp>
        <p:nvSpPr>
          <p:cNvPr id="309" name="TextBox 308"/>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0" name="TextBox 309"/>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1" name="Picture 310" descr="lock.png"/>
          <p:cNvPicPr>
            <a:picLocks noChangeAspect="1"/>
          </p:cNvPicPr>
          <p:nvPr/>
        </p:nvPicPr>
        <p:blipFill>
          <a:blip r:embed="rId4"/>
          <a:stretch>
            <a:fillRect/>
          </a:stretch>
        </p:blipFill>
        <p:spPr>
          <a:xfrm>
            <a:off x="8481881" y="6067170"/>
            <a:ext cx="128699" cy="187198"/>
          </a:xfrm>
          <a:prstGeom prst="rect">
            <a:avLst/>
          </a:prstGeom>
        </p:spPr>
      </p:pic>
      <p:sp>
        <p:nvSpPr>
          <p:cNvPr id="312" name="TextBox 311"/>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3" name="Picture 312" descr="lock.png"/>
          <p:cNvPicPr>
            <a:picLocks noChangeAspect="1"/>
          </p:cNvPicPr>
          <p:nvPr/>
        </p:nvPicPr>
        <p:blipFill>
          <a:blip r:embed="rId4"/>
          <a:stretch>
            <a:fillRect/>
          </a:stretch>
        </p:blipFill>
        <p:spPr>
          <a:xfrm>
            <a:off x="10724926" y="6067170"/>
            <a:ext cx="128699" cy="187198"/>
          </a:xfrm>
          <a:prstGeom prst="rect">
            <a:avLst/>
          </a:prstGeom>
        </p:spPr>
      </p:pic>
      <p:sp>
        <p:nvSpPr>
          <p:cNvPr id="314" name="TextBox 313"/>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5" name="TextBox 314"/>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Crab Meat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Technology substitution (4 / 5) and buyer power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Crab Meat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Phillips Foods</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Phillips Foods, Inc.</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Graham &amp; Rollins, Inc.</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Supreme Crab and Seafood, Inc.</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North Coast Seafoods</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Heron Point Seafood</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Phil-Union Frozen Foods, Inc.</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Aqua Star</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Chicken of the Sea Frozen Foods</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The Crab Place</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638175" cy="164283"/>
          </a:xfrm>
          <a:prstGeom prst="rect">
            <a:avLst/>
          </a:prstGeom>
          <a:noFill/>
        </p:spPr>
        <p:txBody>
          <a:bodyPr wrap="square" lIns="0" rIns="0" tIns="0" bIns="0" anchor="ctr">
            <a:spAutoFit/>
          </a:bodyPr>
          <a:lstStyle/>
          <a:p>
            <a:pPr algn="l"/>
            <a:r>
              <a:rPr sz="1100" b="0">
                <a:solidFill>
                  <a:srgbClr val="2E2E2E"/>
                </a:solidFill>
                <a:latin typeface="Calibri"/>
              </a:rPr>
              <a:t>Mud Crab</a:t>
            </a:r>
          </a:p>
        </p:txBody>
      </p:sp>
      <p:sp>
        <p:nvSpPr>
          <p:cNvPr id="335" name="Rectangle 334"/>
          <p:cNvSpPr/>
          <p:nvPr/>
        </p:nvSpPr>
        <p:spPr>
          <a:xfrm>
            <a:off x="223123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2383631" y="5716715"/>
            <a:ext cx="619125" cy="164283"/>
          </a:xfrm>
          <a:prstGeom prst="rect">
            <a:avLst/>
          </a:prstGeom>
          <a:noFill/>
        </p:spPr>
        <p:txBody>
          <a:bodyPr wrap="square" lIns="0" rIns="0" tIns="0" bIns="0" anchor="ctr">
            <a:spAutoFit/>
          </a:bodyPr>
          <a:lstStyle/>
          <a:p>
            <a:pPr algn="l"/>
            <a:r>
              <a:rPr sz="1100" b="0">
                <a:solidFill>
                  <a:srgbClr val="2E2E2E"/>
                </a:solidFill>
                <a:latin typeface="Calibri"/>
              </a:rPr>
              <a:t>King Crab</a:t>
            </a:r>
          </a:p>
        </p:txBody>
      </p:sp>
      <p:sp>
        <p:nvSpPr>
          <p:cNvPr id="337" name="Rectangle 336"/>
          <p:cNvSpPr/>
          <p:nvPr/>
        </p:nvSpPr>
        <p:spPr>
          <a:xfrm>
            <a:off x="3059906"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3212306" y="5716715"/>
            <a:ext cx="2345531" cy="164283"/>
          </a:xfrm>
          <a:prstGeom prst="rect">
            <a:avLst/>
          </a:prstGeom>
          <a:noFill/>
        </p:spPr>
        <p:txBody>
          <a:bodyPr wrap="square" lIns="0" rIns="0" tIns="0" bIns="0" anchor="ctr">
            <a:spAutoFit/>
          </a:bodyPr>
          <a:lstStyle/>
          <a:p>
            <a:pPr algn="l"/>
            <a:r>
              <a:rPr sz="1100" b="0">
                <a:solidFill>
                  <a:srgbClr val="2E2E2E"/>
                </a:solidFill>
                <a:latin typeface="Calibri"/>
              </a:rPr>
              <a:t>Other commercially traded crab species</a:t>
            </a:r>
          </a:p>
        </p:txBody>
      </p:sp>
      <p:sp>
        <p:nvSpPr>
          <p:cNvPr id="339" name="Rectangle 338"/>
          <p:cNvSpPr/>
          <p:nvPr/>
        </p:nvSpPr>
        <p:spPr>
          <a:xfrm>
            <a:off x="5614988"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5767388"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